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89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8979C-FCF8-430A-9419-C3602821BC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CFDBE6-67A3-4B2E-A32B-D06F9E236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88B63D-CFF5-457B-A274-8BD307910CA1}"/>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5" name="Footer Placeholder 4">
            <a:extLst>
              <a:ext uri="{FF2B5EF4-FFF2-40B4-BE49-F238E27FC236}">
                <a16:creationId xmlns:a16="http://schemas.microsoft.com/office/drawing/2014/main" id="{A4521C50-5DCE-4B76-AF18-60F01ACB50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33DC20-E658-4F1F-96A8-3E5E31A19D66}"/>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247157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4BA5A-ADDC-421F-88F0-608FB7DABC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E76645-669A-4EF8-B0C5-DC8785FB06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0192DC-4BD4-420A-8E1A-DDAB7A1217FD}"/>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5" name="Footer Placeholder 4">
            <a:extLst>
              <a:ext uri="{FF2B5EF4-FFF2-40B4-BE49-F238E27FC236}">
                <a16:creationId xmlns:a16="http://schemas.microsoft.com/office/drawing/2014/main" id="{199EFFFD-30A5-47BA-AD3E-51C4AD368B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991A7-EFF7-4D5D-AA6A-11E2501BFB3D}"/>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2372561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3A69F-46EC-4201-9319-FC7E6E8B0E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6027F9-BE02-4934-98B7-BFC81D3CC6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D42715-A867-4E6D-B97A-EE2914837935}"/>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5" name="Footer Placeholder 4">
            <a:extLst>
              <a:ext uri="{FF2B5EF4-FFF2-40B4-BE49-F238E27FC236}">
                <a16:creationId xmlns:a16="http://schemas.microsoft.com/office/drawing/2014/main" id="{7235ACB1-FC64-4D56-8603-0E2ADE801A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8798F4-169E-4F76-AD94-44F935C7EF64}"/>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507865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52999-9508-4C74-9E1D-B6C808FF49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241003-CA1A-45D7-B0FD-C6BC3CFE63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D0C880-5989-4D37-B025-0FD3936B6B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AF99D0-F9BB-4AF5-AAD7-9E36D88C8879}"/>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6" name="Footer Placeholder 5">
            <a:extLst>
              <a:ext uri="{FF2B5EF4-FFF2-40B4-BE49-F238E27FC236}">
                <a16:creationId xmlns:a16="http://schemas.microsoft.com/office/drawing/2014/main" id="{DDBA05DF-5F18-47A0-A652-EC8DC17396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7B78C-207F-4419-A69E-579E79194A1A}"/>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935380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0C5D9-2917-4B9C-AB84-7C7EA7E88F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F4E5B0-04E7-4F31-A174-A93201EB7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0A011B-9D9E-4360-9FC2-9DD68B28F9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03E354-7A4D-43AC-A310-120C329580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F4A6-4201-47FB-8EE4-C4CDE03D84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19531E-BCB9-489D-807B-8EEAD91B50A5}"/>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8" name="Footer Placeholder 7">
            <a:extLst>
              <a:ext uri="{FF2B5EF4-FFF2-40B4-BE49-F238E27FC236}">
                <a16:creationId xmlns:a16="http://schemas.microsoft.com/office/drawing/2014/main" id="{03C5E1AD-5CB2-40A9-9631-8E4F453170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0E8F1D-04E2-4820-90EC-9A70323C0F8A}"/>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3080779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A5F7D-FA5C-48F1-BFB4-3F0139901B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86D652-03D8-448A-8A1E-90D1D8A47EA6}"/>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4" name="Footer Placeholder 3">
            <a:extLst>
              <a:ext uri="{FF2B5EF4-FFF2-40B4-BE49-F238E27FC236}">
                <a16:creationId xmlns:a16="http://schemas.microsoft.com/office/drawing/2014/main" id="{B2E693C8-E595-4AF1-8624-DCF18ED416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F132E8-3B3D-4EC1-A3A1-6D62E4BA5F8B}"/>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243350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30315F-938E-4AF1-A6A6-41966CA735D4}"/>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3" name="Footer Placeholder 2">
            <a:extLst>
              <a:ext uri="{FF2B5EF4-FFF2-40B4-BE49-F238E27FC236}">
                <a16:creationId xmlns:a16="http://schemas.microsoft.com/office/drawing/2014/main" id="{04FB1339-9082-4FAC-9D96-2F38303AB0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CDE0A3-D835-4D5F-8757-478A723C5DEA}"/>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1033191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1595-F5BC-41CC-952B-1CBA02E0AB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532B31-3797-457A-95CA-067D1B9AA6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E84200-6983-4085-B28B-2AE19E9F6A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99FFD2-552E-4933-98F5-B018548464E1}"/>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6" name="Footer Placeholder 5">
            <a:extLst>
              <a:ext uri="{FF2B5EF4-FFF2-40B4-BE49-F238E27FC236}">
                <a16:creationId xmlns:a16="http://schemas.microsoft.com/office/drawing/2014/main" id="{806491F2-E19E-4387-BDC9-E8637EED97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028A53-A551-4F4F-8119-D887043AEB43}"/>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2453981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8468C-752C-4635-9067-3861ABB1E2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FBD933-0032-495A-A211-D76DF73E21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D94E22-C490-420E-BAF5-CDC4247E3F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FF23AB-A692-44C0-B63D-7B60318ED6BA}"/>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6" name="Footer Placeholder 5">
            <a:extLst>
              <a:ext uri="{FF2B5EF4-FFF2-40B4-BE49-F238E27FC236}">
                <a16:creationId xmlns:a16="http://schemas.microsoft.com/office/drawing/2014/main" id="{3537B174-17A2-40EE-BDF4-A175BB476D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778152-C3DC-464C-B1D8-E0D93542F070}"/>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3695634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1BC56-834C-43F4-B713-80F67646F4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D614E7-01BB-4CC6-8D1B-A9B7D91398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3B39EB-3312-46DD-B07E-596519245990}"/>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5" name="Footer Placeholder 4">
            <a:extLst>
              <a:ext uri="{FF2B5EF4-FFF2-40B4-BE49-F238E27FC236}">
                <a16:creationId xmlns:a16="http://schemas.microsoft.com/office/drawing/2014/main" id="{ABAFC8FD-6D63-498C-9F96-1F604F8879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624F25-6FB4-4374-B354-FF1BA8432F66}"/>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3549287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7CEA5-14AB-4004-8CE4-222EE4937D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22A639-A7BC-477F-896D-4E9BEB49FB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971921-4981-49A5-B04C-56F0BB70F01F}"/>
              </a:ext>
            </a:extLst>
          </p:cNvPr>
          <p:cNvSpPr>
            <a:spLocks noGrp="1"/>
          </p:cNvSpPr>
          <p:nvPr>
            <p:ph type="dt" sz="half" idx="10"/>
          </p:nvPr>
        </p:nvSpPr>
        <p:spPr/>
        <p:txBody>
          <a:bodyPr/>
          <a:lstStyle/>
          <a:p>
            <a:fld id="{77B4C009-B282-4B77-B20C-B8ABDEF49FF9}" type="datetimeFigureOut">
              <a:rPr lang="en-US" smtClean="0"/>
              <a:t>5/6/2021</a:t>
            </a:fld>
            <a:endParaRPr lang="en-US"/>
          </a:p>
        </p:txBody>
      </p:sp>
      <p:sp>
        <p:nvSpPr>
          <p:cNvPr id="5" name="Footer Placeholder 4">
            <a:extLst>
              <a:ext uri="{FF2B5EF4-FFF2-40B4-BE49-F238E27FC236}">
                <a16:creationId xmlns:a16="http://schemas.microsoft.com/office/drawing/2014/main" id="{D1A56759-1B14-483F-AA1F-09405E601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F5017-4425-4AAC-9912-E02509C7C37F}"/>
              </a:ext>
            </a:extLst>
          </p:cNvPr>
          <p:cNvSpPr>
            <a:spLocks noGrp="1"/>
          </p:cNvSpPr>
          <p:nvPr>
            <p:ph type="sldNum" sz="quarter" idx="12"/>
          </p:nvPr>
        </p:nvSpPr>
        <p:spPr/>
        <p:txBody>
          <a:bodyPr/>
          <a:lstStyle/>
          <a:p>
            <a:fld id="{63B760AA-22C2-44F5-BDC2-DC9C41AF5C45}" type="slidenum">
              <a:rPr lang="en-US" smtClean="0"/>
              <a:t>‹#›</a:t>
            </a:fld>
            <a:endParaRPr lang="en-US"/>
          </a:p>
        </p:txBody>
      </p:sp>
    </p:spTree>
    <p:extLst>
      <p:ext uri="{BB962C8B-B14F-4D97-AF65-F5344CB8AC3E}">
        <p14:creationId xmlns:p14="http://schemas.microsoft.com/office/powerpoint/2010/main" val="16161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50B17-76DE-4184-A6AE-0EC234CAE7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712CE9-4576-4877-BBA2-017BD7A19E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6C6D7-28C5-4264-AC99-B18A109676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B4C009-B282-4B77-B20C-B8ABDEF49FF9}" type="datetimeFigureOut">
              <a:rPr lang="en-US" smtClean="0"/>
              <a:t>5/6/2021</a:t>
            </a:fld>
            <a:endParaRPr lang="en-US"/>
          </a:p>
        </p:txBody>
      </p:sp>
      <p:sp>
        <p:nvSpPr>
          <p:cNvPr id="5" name="Footer Placeholder 4">
            <a:extLst>
              <a:ext uri="{FF2B5EF4-FFF2-40B4-BE49-F238E27FC236}">
                <a16:creationId xmlns:a16="http://schemas.microsoft.com/office/drawing/2014/main" id="{607F4EB1-CCF6-47A1-A9FF-0A670638E6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E8A763-AA8D-4CFE-AEE8-475264B62E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B760AA-22C2-44F5-BDC2-DC9C41AF5C45}" type="slidenum">
              <a:rPr lang="en-US" smtClean="0"/>
              <a:t>‹#›</a:t>
            </a:fld>
            <a:endParaRPr lang="en-US"/>
          </a:p>
        </p:txBody>
      </p:sp>
    </p:spTree>
    <p:extLst>
      <p:ext uri="{BB962C8B-B14F-4D97-AF65-F5344CB8AC3E}">
        <p14:creationId xmlns:p14="http://schemas.microsoft.com/office/powerpoint/2010/main" val="1649877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D9E36-1ADA-42D6-8655-8FBE761CAC29}"/>
              </a:ext>
            </a:extLst>
          </p:cNvPr>
          <p:cNvSpPr>
            <a:spLocks noGrp="1"/>
          </p:cNvSpPr>
          <p:nvPr>
            <p:ph type="ctrTitle"/>
          </p:nvPr>
        </p:nvSpPr>
        <p:spPr/>
        <p:txBody>
          <a:bodyPr/>
          <a:lstStyle/>
          <a:p>
            <a:r>
              <a:rPr lang="en-US" altLang="en-US" dirty="0"/>
              <a:t>Virtual Machines</a:t>
            </a:r>
            <a:endParaRPr lang="en-US" dirty="0"/>
          </a:p>
        </p:txBody>
      </p:sp>
      <p:sp>
        <p:nvSpPr>
          <p:cNvPr id="3" name="Subtitle 2">
            <a:extLst>
              <a:ext uri="{FF2B5EF4-FFF2-40B4-BE49-F238E27FC236}">
                <a16:creationId xmlns:a16="http://schemas.microsoft.com/office/drawing/2014/main" id="{470D34EE-B9F4-458B-AB7E-99B3333174C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45341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0DFA0-284C-42DE-A63E-21F57B8839EF}"/>
              </a:ext>
            </a:extLst>
          </p:cNvPr>
          <p:cNvSpPr>
            <a:spLocks noGrp="1"/>
          </p:cNvSpPr>
          <p:nvPr>
            <p:ph type="title"/>
          </p:nvPr>
        </p:nvSpPr>
        <p:spPr/>
        <p:txBody>
          <a:bodyPr/>
          <a:lstStyle/>
          <a:p>
            <a:r>
              <a:rPr lang="en-US" altLang="en-US" dirty="0"/>
              <a:t>Virtual Machines</a:t>
            </a:r>
            <a:endParaRPr lang="en-US" dirty="0"/>
          </a:p>
        </p:txBody>
      </p:sp>
      <p:pic>
        <p:nvPicPr>
          <p:cNvPr id="14" name="Picture 1">
            <a:extLst>
              <a:ext uri="{FF2B5EF4-FFF2-40B4-BE49-F238E27FC236}">
                <a16:creationId xmlns:a16="http://schemas.microsoft.com/office/drawing/2014/main" id="{4F1DD076-EE70-4D14-BFC2-48BEAE0BBF3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0841" b="40102"/>
          <a:stretch>
            <a:fillRect/>
          </a:stretch>
        </p:blipFill>
        <p:spPr bwMode="auto">
          <a:xfrm>
            <a:off x="838200" y="1690688"/>
            <a:ext cx="10515600" cy="2900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a:extLst>
              <a:ext uri="{FF2B5EF4-FFF2-40B4-BE49-F238E27FC236}">
                <a16:creationId xmlns:a16="http://schemas.microsoft.com/office/drawing/2014/main" id="{77E86BB2-E13D-4A46-BA4E-4239AFBCFA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88" t="34653" r="13065" b="26907"/>
          <a:stretch>
            <a:fillRect/>
          </a:stretch>
        </p:blipFill>
        <p:spPr bwMode="auto">
          <a:xfrm>
            <a:off x="2638802" y="4516437"/>
            <a:ext cx="7183438" cy="197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6822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AAF59-C6D3-4148-B994-18FD48427BA2}"/>
              </a:ext>
            </a:extLst>
          </p:cNvPr>
          <p:cNvSpPr>
            <a:spLocks noGrp="1"/>
          </p:cNvSpPr>
          <p:nvPr>
            <p:ph type="title"/>
          </p:nvPr>
        </p:nvSpPr>
        <p:spPr/>
        <p:txBody>
          <a:bodyPr/>
          <a:lstStyle/>
          <a:p>
            <a:r>
              <a:rPr lang="en-US" altLang="en-US" dirty="0"/>
              <a:t>Overview</a:t>
            </a:r>
            <a:endParaRPr lang="en-US" dirty="0"/>
          </a:p>
        </p:txBody>
      </p:sp>
      <p:sp>
        <p:nvSpPr>
          <p:cNvPr id="3" name="Content Placeholder 2">
            <a:extLst>
              <a:ext uri="{FF2B5EF4-FFF2-40B4-BE49-F238E27FC236}">
                <a16:creationId xmlns:a16="http://schemas.microsoft.com/office/drawing/2014/main" id="{87D72909-E0B3-471A-B8AD-B1D9B4BCBC8E}"/>
              </a:ext>
            </a:extLst>
          </p:cNvPr>
          <p:cNvSpPr>
            <a:spLocks noGrp="1"/>
          </p:cNvSpPr>
          <p:nvPr>
            <p:ph idx="1"/>
          </p:nvPr>
        </p:nvSpPr>
        <p:spPr/>
        <p:txBody>
          <a:bodyPr>
            <a:normAutofit fontScale="92500" lnSpcReduction="10000"/>
          </a:bodyPr>
          <a:lstStyle/>
          <a:p>
            <a:pPr>
              <a:defRPr/>
            </a:pPr>
            <a:r>
              <a:rPr lang="en-US" altLang="en-US" sz="2000" dirty="0"/>
              <a:t>Fundamental idea – abstract hardware of a single computer into several different execution environments</a:t>
            </a:r>
          </a:p>
          <a:p>
            <a:pPr lvl="1">
              <a:defRPr/>
            </a:pPr>
            <a:r>
              <a:rPr lang="en-US" altLang="en-US" sz="2000" dirty="0"/>
              <a:t>Similar to layered approach</a:t>
            </a:r>
          </a:p>
          <a:p>
            <a:pPr lvl="1">
              <a:defRPr/>
            </a:pPr>
            <a:r>
              <a:rPr lang="en-US" altLang="en-US" sz="2000" dirty="0"/>
              <a:t>But layer creates virtual system (</a:t>
            </a:r>
            <a:r>
              <a:rPr lang="en-US" altLang="en-US" sz="2000" b="1" dirty="0">
                <a:solidFill>
                  <a:srgbClr val="3366FF"/>
                </a:solidFill>
              </a:rPr>
              <a:t>virtual machine</a:t>
            </a:r>
            <a:r>
              <a:rPr lang="en-US" altLang="en-US" sz="2000" dirty="0"/>
              <a:t>, or </a:t>
            </a:r>
            <a:r>
              <a:rPr lang="en-US" altLang="en-US" sz="2000" b="1" dirty="0">
                <a:solidFill>
                  <a:srgbClr val="3366FF"/>
                </a:solidFill>
              </a:rPr>
              <a:t>VM</a:t>
            </a:r>
            <a:r>
              <a:rPr lang="en-US" altLang="en-US" sz="2000" dirty="0"/>
              <a:t>) on which operation systems or applications can run</a:t>
            </a:r>
          </a:p>
          <a:p>
            <a:pPr>
              <a:defRPr/>
            </a:pPr>
            <a:r>
              <a:rPr lang="en-US" altLang="en-US" sz="2000" dirty="0"/>
              <a:t>Several components</a:t>
            </a:r>
          </a:p>
          <a:p>
            <a:pPr lvl="1">
              <a:defRPr/>
            </a:pPr>
            <a:r>
              <a:rPr lang="en-US" altLang="en-US" sz="2000" b="1" dirty="0">
                <a:solidFill>
                  <a:srgbClr val="3366FF"/>
                </a:solidFill>
              </a:rPr>
              <a:t>Host</a:t>
            </a:r>
            <a:r>
              <a:rPr lang="en-US" altLang="en-US" sz="2000" dirty="0"/>
              <a:t> – underlying hardware system</a:t>
            </a:r>
          </a:p>
          <a:p>
            <a:pPr lvl="1">
              <a:defRPr/>
            </a:pPr>
            <a:r>
              <a:rPr lang="en-US" altLang="en-US" sz="2000" b="1" dirty="0">
                <a:solidFill>
                  <a:srgbClr val="3366FF"/>
                </a:solidFill>
              </a:rPr>
              <a:t>Virtual machine manager </a:t>
            </a:r>
            <a:r>
              <a:rPr lang="en-US" altLang="en-US" sz="2000" dirty="0"/>
              <a:t>(</a:t>
            </a:r>
            <a:r>
              <a:rPr lang="en-US" altLang="en-US" sz="2000" b="1" dirty="0">
                <a:solidFill>
                  <a:srgbClr val="3366FF"/>
                </a:solidFill>
              </a:rPr>
              <a:t>VMM</a:t>
            </a:r>
            <a:r>
              <a:rPr lang="en-US" altLang="en-US" sz="2000" dirty="0"/>
              <a:t>) or </a:t>
            </a:r>
            <a:r>
              <a:rPr lang="en-US" altLang="en-US" sz="2000" b="1" dirty="0">
                <a:solidFill>
                  <a:srgbClr val="3366FF"/>
                </a:solidFill>
              </a:rPr>
              <a:t>hypervisor</a:t>
            </a:r>
            <a:r>
              <a:rPr lang="en-US" altLang="en-US" sz="2000" dirty="0"/>
              <a:t> – creates and runs virtual machines by providing interface that is </a:t>
            </a:r>
            <a:r>
              <a:rPr lang="en-US" altLang="en-US" sz="2000" b="1" i="1" dirty="0"/>
              <a:t>identical</a:t>
            </a:r>
            <a:r>
              <a:rPr lang="en-US" altLang="en-US" sz="2000" dirty="0"/>
              <a:t> to the host</a:t>
            </a:r>
          </a:p>
          <a:p>
            <a:pPr marL="857250" lvl="2" indent="0">
              <a:buFont typeface="Webdings" panose="05030102010509060703" pitchFamily="18" charset="2"/>
              <a:buNone/>
              <a:defRPr/>
            </a:pPr>
            <a:endParaRPr lang="en-US" altLang="en-US" dirty="0"/>
          </a:p>
          <a:p>
            <a:pPr lvl="1">
              <a:defRPr/>
            </a:pPr>
            <a:r>
              <a:rPr lang="en-US" altLang="en-US" sz="2000" b="1" dirty="0">
                <a:solidFill>
                  <a:srgbClr val="3366FF"/>
                </a:solidFill>
              </a:rPr>
              <a:t>Guest</a:t>
            </a:r>
            <a:r>
              <a:rPr lang="en-US" altLang="en-US" sz="2000" dirty="0"/>
              <a:t> – process provided with virtual copy of the host</a:t>
            </a:r>
          </a:p>
          <a:p>
            <a:pPr lvl="2">
              <a:defRPr/>
            </a:pPr>
            <a:r>
              <a:rPr lang="en-US" altLang="en-US" dirty="0"/>
              <a:t>Usually an operating system</a:t>
            </a:r>
          </a:p>
          <a:p>
            <a:pPr>
              <a:defRPr/>
            </a:pPr>
            <a:r>
              <a:rPr lang="en-US" altLang="en-US" sz="2000" dirty="0"/>
              <a:t>Single physical machine can run multiple operating systems concurrently, each in its own virtual machine</a:t>
            </a:r>
          </a:p>
          <a:p>
            <a:pPr lvl="2">
              <a:buFont typeface="Webdings" panose="05030102010509060703" pitchFamily="18" charset="2"/>
              <a:buNone/>
              <a:defRPr/>
            </a:pPr>
            <a:r>
              <a:rPr lang="en-US" altLang="en-US" dirty="0"/>
              <a:t>	</a:t>
            </a:r>
          </a:p>
          <a:p>
            <a:endParaRPr lang="en-US" sz="3200" dirty="0"/>
          </a:p>
        </p:txBody>
      </p:sp>
    </p:spTree>
    <p:extLst>
      <p:ext uri="{BB962C8B-B14F-4D97-AF65-F5344CB8AC3E}">
        <p14:creationId xmlns:p14="http://schemas.microsoft.com/office/powerpoint/2010/main" val="3795303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0B31C-E8FB-454F-BE3C-DB49302FED29}"/>
              </a:ext>
            </a:extLst>
          </p:cNvPr>
          <p:cNvSpPr>
            <a:spLocks noGrp="1"/>
          </p:cNvSpPr>
          <p:nvPr>
            <p:ph type="title"/>
          </p:nvPr>
        </p:nvSpPr>
        <p:spPr/>
        <p:txBody>
          <a:bodyPr/>
          <a:lstStyle/>
          <a:p>
            <a:r>
              <a:rPr lang="en-US" altLang="en-US" dirty="0"/>
              <a:t>System Models</a:t>
            </a:r>
            <a:endParaRPr lang="en-US" dirty="0"/>
          </a:p>
        </p:txBody>
      </p:sp>
      <p:pic>
        <p:nvPicPr>
          <p:cNvPr id="4" name="Content Placeholder 3" descr="16_01.pdf">
            <a:extLst>
              <a:ext uri="{FF2B5EF4-FFF2-40B4-BE49-F238E27FC236}">
                <a16:creationId xmlns:a16="http://schemas.microsoft.com/office/drawing/2014/main" id="{4B8A87B2-DFD0-4186-8717-31781C2561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9419" b="9419"/>
          <a:stretch>
            <a:fillRect/>
          </a:stretch>
        </p:blipFill>
        <p:spPr>
          <a:xfrm>
            <a:off x="1540789" y="2261398"/>
            <a:ext cx="9613995" cy="4025102"/>
          </a:xfrm>
        </p:spPr>
      </p:pic>
    </p:spTree>
    <p:extLst>
      <p:ext uri="{BB962C8B-B14F-4D97-AF65-F5344CB8AC3E}">
        <p14:creationId xmlns:p14="http://schemas.microsoft.com/office/powerpoint/2010/main" val="1583864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88CEF-D5FC-4792-8337-D342957C99BE}"/>
              </a:ext>
            </a:extLst>
          </p:cNvPr>
          <p:cNvSpPr>
            <a:spLocks noGrp="1"/>
          </p:cNvSpPr>
          <p:nvPr>
            <p:ph type="title"/>
          </p:nvPr>
        </p:nvSpPr>
        <p:spPr/>
        <p:txBody>
          <a:bodyPr/>
          <a:lstStyle/>
          <a:p>
            <a:r>
              <a:rPr lang="en-US" altLang="en-US" dirty="0"/>
              <a:t>TYPE1 vs TYPE2 hypervisors</a:t>
            </a:r>
            <a:endParaRPr lang="en-US" dirty="0"/>
          </a:p>
        </p:txBody>
      </p:sp>
      <p:sp>
        <p:nvSpPr>
          <p:cNvPr id="3" name="Content Placeholder 2">
            <a:extLst>
              <a:ext uri="{FF2B5EF4-FFF2-40B4-BE49-F238E27FC236}">
                <a16:creationId xmlns:a16="http://schemas.microsoft.com/office/drawing/2014/main" id="{05323A14-E7D6-4CFB-B1BE-D59EBE631412}"/>
              </a:ext>
            </a:extLst>
          </p:cNvPr>
          <p:cNvSpPr>
            <a:spLocks noGrp="1"/>
          </p:cNvSpPr>
          <p:nvPr>
            <p:ph idx="1"/>
          </p:nvPr>
        </p:nvSpPr>
        <p:spPr/>
        <p:txBody>
          <a:bodyPr>
            <a:normAutofit fontScale="92500" lnSpcReduction="10000"/>
          </a:bodyPr>
          <a:lstStyle/>
          <a:p>
            <a:pPr algn="just">
              <a:defRPr/>
            </a:pPr>
            <a:r>
              <a:rPr lang="en-US" b="1" dirty="0">
                <a:solidFill>
                  <a:srgbClr val="000000"/>
                </a:solidFill>
              </a:rPr>
              <a:t>Type 1 hypervisors:</a:t>
            </a:r>
            <a:endParaRPr lang="en-US" dirty="0">
              <a:solidFill>
                <a:srgbClr val="000000"/>
              </a:solidFill>
            </a:endParaRPr>
          </a:p>
          <a:p>
            <a:pPr algn="just">
              <a:defRPr/>
            </a:pPr>
            <a:r>
              <a:rPr lang="en-US" dirty="0">
                <a:solidFill>
                  <a:srgbClr val="000000"/>
                </a:solidFill>
              </a:rPr>
              <a:t>It works directly on the hardware of the host and can monitor operating systems that run above the  hypervisor.</a:t>
            </a:r>
          </a:p>
          <a:p>
            <a:pPr algn="just">
              <a:defRPr/>
            </a:pPr>
            <a:r>
              <a:rPr lang="en-US" dirty="0">
                <a:solidFill>
                  <a:srgbClr val="000000"/>
                </a:solidFill>
              </a:rPr>
              <a:t>Completely independent from the Operating System. </a:t>
            </a:r>
          </a:p>
          <a:p>
            <a:pPr algn="just">
              <a:defRPr/>
            </a:pPr>
            <a:r>
              <a:rPr lang="en-US" dirty="0">
                <a:solidFill>
                  <a:srgbClr val="000000"/>
                </a:solidFill>
              </a:rPr>
              <a:t>A major advantage is that any problems in one virtual machine or guest operating system do not affect the other guest operating systems running on the hypervisor.</a:t>
            </a:r>
          </a:p>
          <a:p>
            <a:pPr>
              <a:defRPr/>
            </a:pPr>
            <a:r>
              <a:rPr lang="en-US" b="1" dirty="0">
                <a:solidFill>
                  <a:srgbClr val="000000"/>
                </a:solidFill>
              </a:rPr>
              <a:t>Examples:</a:t>
            </a:r>
            <a:endParaRPr lang="en-US" dirty="0">
              <a:solidFill>
                <a:srgbClr val="000000"/>
              </a:solidFill>
            </a:endParaRPr>
          </a:p>
          <a:p>
            <a:pPr marL="0" indent="0">
              <a:buFont typeface="Monotype Sorts" pitchFamily="-84" charset="2"/>
              <a:buNone/>
              <a:defRPr/>
            </a:pPr>
            <a:r>
              <a:rPr lang="en-US" dirty="0">
                <a:solidFill>
                  <a:srgbClr val="000000"/>
                </a:solidFill>
              </a:rPr>
              <a:t>          VMware </a:t>
            </a:r>
            <a:r>
              <a:rPr lang="en-US" dirty="0" err="1">
                <a:solidFill>
                  <a:srgbClr val="000000"/>
                </a:solidFill>
              </a:rPr>
              <a:t>ESXi</a:t>
            </a:r>
            <a:r>
              <a:rPr lang="en-US" dirty="0">
                <a:solidFill>
                  <a:srgbClr val="000000"/>
                </a:solidFill>
              </a:rPr>
              <a:t> Server</a:t>
            </a:r>
            <a:br>
              <a:rPr lang="en-US" dirty="0">
                <a:solidFill>
                  <a:srgbClr val="000000"/>
                </a:solidFill>
              </a:rPr>
            </a:br>
            <a:r>
              <a:rPr lang="en-US" dirty="0">
                <a:solidFill>
                  <a:srgbClr val="000000"/>
                </a:solidFill>
              </a:rPr>
              <a:t>          Microsoft Hyper-V</a:t>
            </a:r>
            <a:br>
              <a:rPr lang="en-US" dirty="0">
                <a:solidFill>
                  <a:srgbClr val="000000"/>
                </a:solidFill>
              </a:rPr>
            </a:br>
            <a:r>
              <a:rPr lang="en-US" dirty="0">
                <a:solidFill>
                  <a:srgbClr val="000000"/>
                </a:solidFill>
              </a:rPr>
              <a:t>          Citrix/Xen Server</a:t>
            </a:r>
          </a:p>
          <a:p>
            <a:endParaRPr lang="en-US" dirty="0"/>
          </a:p>
        </p:txBody>
      </p:sp>
    </p:spTree>
    <p:extLst>
      <p:ext uri="{BB962C8B-B14F-4D97-AF65-F5344CB8AC3E}">
        <p14:creationId xmlns:p14="http://schemas.microsoft.com/office/powerpoint/2010/main" val="3718453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EBE57-7F07-4478-B953-583E190BC07A}"/>
              </a:ext>
            </a:extLst>
          </p:cNvPr>
          <p:cNvSpPr>
            <a:spLocks noGrp="1"/>
          </p:cNvSpPr>
          <p:nvPr>
            <p:ph type="title"/>
          </p:nvPr>
        </p:nvSpPr>
        <p:spPr/>
        <p:txBody>
          <a:bodyPr/>
          <a:lstStyle/>
          <a:p>
            <a:r>
              <a:rPr lang="en-US" altLang="en-US" dirty="0"/>
              <a:t>TYPE1 vs TYPE2 hypervisors</a:t>
            </a:r>
            <a:endParaRPr lang="en-US" dirty="0"/>
          </a:p>
        </p:txBody>
      </p:sp>
      <p:sp>
        <p:nvSpPr>
          <p:cNvPr id="3" name="Content Placeholder 2">
            <a:extLst>
              <a:ext uri="{FF2B5EF4-FFF2-40B4-BE49-F238E27FC236}">
                <a16:creationId xmlns:a16="http://schemas.microsoft.com/office/drawing/2014/main" id="{91C08DC5-2DCE-4E52-984B-CC6E57FF2D6F}"/>
              </a:ext>
            </a:extLst>
          </p:cNvPr>
          <p:cNvSpPr>
            <a:spLocks noGrp="1"/>
          </p:cNvSpPr>
          <p:nvPr>
            <p:ph idx="1"/>
          </p:nvPr>
        </p:nvSpPr>
        <p:spPr/>
        <p:txBody>
          <a:bodyPr>
            <a:normAutofit fontScale="92500"/>
          </a:bodyPr>
          <a:lstStyle/>
          <a:p>
            <a:pPr algn="just"/>
            <a:r>
              <a:rPr lang="en-US" altLang="en-US" b="1" dirty="0">
                <a:solidFill>
                  <a:srgbClr val="000000"/>
                </a:solidFill>
              </a:rPr>
              <a:t>Type 2 hypervisors:</a:t>
            </a:r>
            <a:endParaRPr lang="en-US" altLang="en-US" dirty="0">
              <a:solidFill>
                <a:srgbClr val="000000"/>
              </a:solidFill>
            </a:endParaRPr>
          </a:p>
          <a:p>
            <a:pPr algn="just"/>
            <a:r>
              <a:rPr lang="en-US" altLang="en-US" dirty="0">
                <a:solidFill>
                  <a:srgbClr val="000000"/>
                </a:solidFill>
              </a:rPr>
              <a:t>Hypervisor is installed on an operating system and then supports other operating systems above it.</a:t>
            </a:r>
          </a:p>
          <a:p>
            <a:pPr algn="just"/>
            <a:r>
              <a:rPr lang="en-US" altLang="en-US" dirty="0">
                <a:solidFill>
                  <a:srgbClr val="000000"/>
                </a:solidFill>
              </a:rPr>
              <a:t>It is completely dependent on host Operating System for its operations.</a:t>
            </a:r>
          </a:p>
          <a:p>
            <a:pPr algn="just"/>
            <a:r>
              <a:rPr lang="en-US" altLang="en-US" dirty="0">
                <a:solidFill>
                  <a:srgbClr val="000000"/>
                </a:solidFill>
              </a:rPr>
              <a:t>While having a base operating system allows better specification of policies, any problems in the base operating system affects the entire system as well even if the hypervisor running above the base OS is secure.</a:t>
            </a:r>
          </a:p>
          <a:p>
            <a:pPr algn="just"/>
            <a:r>
              <a:rPr lang="en-US" altLang="en-US" dirty="0">
                <a:solidFill>
                  <a:srgbClr val="000000"/>
                </a:solidFill>
              </a:rPr>
              <a:t>Examples: </a:t>
            </a:r>
          </a:p>
          <a:p>
            <a:pPr marL="0" indent="0" algn="just">
              <a:buNone/>
            </a:pPr>
            <a:r>
              <a:rPr lang="en-US" altLang="en-US" dirty="0">
                <a:solidFill>
                  <a:srgbClr val="000000"/>
                </a:solidFill>
              </a:rPr>
              <a:t>   </a:t>
            </a:r>
            <a:r>
              <a:rPr lang="en-US" altLang="en-US" dirty="0" err="1">
                <a:solidFill>
                  <a:srgbClr val="000000"/>
                </a:solidFill>
              </a:rPr>
              <a:t>Vmware</a:t>
            </a:r>
            <a:r>
              <a:rPr lang="en-US" altLang="en-US" dirty="0">
                <a:solidFill>
                  <a:srgbClr val="000000"/>
                </a:solidFill>
              </a:rPr>
              <a:t>, Virtual Box.</a:t>
            </a:r>
          </a:p>
          <a:p>
            <a:endParaRPr lang="en-US" dirty="0"/>
          </a:p>
        </p:txBody>
      </p:sp>
    </p:spTree>
    <p:extLst>
      <p:ext uri="{BB962C8B-B14F-4D97-AF65-F5344CB8AC3E}">
        <p14:creationId xmlns:p14="http://schemas.microsoft.com/office/powerpoint/2010/main" val="1230629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AD30F-4170-482C-9F66-77ADA0753A3D}"/>
              </a:ext>
            </a:extLst>
          </p:cNvPr>
          <p:cNvSpPr>
            <a:spLocks noGrp="1"/>
          </p:cNvSpPr>
          <p:nvPr>
            <p:ph type="title"/>
          </p:nvPr>
        </p:nvSpPr>
        <p:spPr/>
        <p:txBody>
          <a:bodyPr/>
          <a:lstStyle/>
          <a:p>
            <a:r>
              <a:rPr lang="en-US" altLang="en-US" dirty="0"/>
              <a:t>TYPE1 vs TYPE2 hypervisors</a:t>
            </a:r>
            <a:endParaRPr lang="en-US" dirty="0"/>
          </a:p>
        </p:txBody>
      </p:sp>
      <p:pic>
        <p:nvPicPr>
          <p:cNvPr id="4" name="Picture 2" descr="figure2">
            <a:extLst>
              <a:ext uri="{FF2B5EF4-FFF2-40B4-BE49-F238E27FC236}">
                <a16:creationId xmlns:a16="http://schemas.microsoft.com/office/drawing/2014/main" id="{E3A85DEC-D467-4E7F-9DEF-DF876801967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67327" y="1954672"/>
            <a:ext cx="9657346" cy="3879734"/>
          </a:xfrm>
          <a:noFill/>
        </p:spPr>
      </p:pic>
    </p:spTree>
    <p:extLst>
      <p:ext uri="{BB962C8B-B14F-4D97-AF65-F5344CB8AC3E}">
        <p14:creationId xmlns:p14="http://schemas.microsoft.com/office/powerpoint/2010/main" val="2651645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6DD37-8879-4386-945F-C8DAD46EA091}"/>
              </a:ext>
            </a:extLst>
          </p:cNvPr>
          <p:cNvSpPr>
            <a:spLocks noGrp="1"/>
          </p:cNvSpPr>
          <p:nvPr>
            <p:ph type="title"/>
          </p:nvPr>
        </p:nvSpPr>
        <p:spPr/>
        <p:txBody>
          <a:bodyPr/>
          <a:lstStyle/>
          <a:p>
            <a:r>
              <a:rPr lang="en-US" altLang="en-US" dirty="0"/>
              <a:t>TYPE1 vs TYPE2 hypervisors</a:t>
            </a:r>
            <a:endParaRPr lang="en-US" dirty="0"/>
          </a:p>
        </p:txBody>
      </p:sp>
      <p:pic>
        <p:nvPicPr>
          <p:cNvPr id="4" name="Picture 2">
            <a:extLst>
              <a:ext uri="{FF2B5EF4-FFF2-40B4-BE49-F238E27FC236}">
                <a16:creationId xmlns:a16="http://schemas.microsoft.com/office/drawing/2014/main" id="{E3FE2B8D-DEC6-49EF-AC38-A9849FDD7B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311" t="3575" r="53940"/>
          <a:stretch>
            <a:fillRect/>
          </a:stretch>
        </p:blipFill>
        <p:spPr>
          <a:xfrm>
            <a:off x="1167980" y="1977839"/>
            <a:ext cx="2970883" cy="4052056"/>
          </a:xfrm>
        </p:spPr>
      </p:pic>
      <p:pic>
        <p:nvPicPr>
          <p:cNvPr id="5" name="Picture 2">
            <a:extLst>
              <a:ext uri="{FF2B5EF4-FFF2-40B4-BE49-F238E27FC236}">
                <a16:creationId xmlns:a16="http://schemas.microsoft.com/office/drawing/2014/main" id="{66CD9CEB-45CE-4D7B-A4D4-A8066FB250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2907" t="4839" r="2876"/>
          <a:stretch>
            <a:fillRect/>
          </a:stretch>
        </p:blipFill>
        <p:spPr bwMode="auto">
          <a:xfrm>
            <a:off x="5860414" y="1929049"/>
            <a:ext cx="3407745" cy="4100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781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1B4C0-02E6-4869-81AB-3502385A2209}"/>
              </a:ext>
            </a:extLst>
          </p:cNvPr>
          <p:cNvSpPr>
            <a:spLocks noGrp="1"/>
          </p:cNvSpPr>
          <p:nvPr>
            <p:ph type="title"/>
          </p:nvPr>
        </p:nvSpPr>
        <p:spPr/>
        <p:txBody>
          <a:bodyPr/>
          <a:lstStyle/>
          <a:p>
            <a:r>
              <a:rPr lang="en-US" altLang="en-US" dirty="0"/>
              <a:t>Benefits and Features</a:t>
            </a:r>
            <a:endParaRPr lang="en-US" dirty="0"/>
          </a:p>
        </p:txBody>
      </p:sp>
      <p:sp>
        <p:nvSpPr>
          <p:cNvPr id="3" name="Content Placeholder 2">
            <a:extLst>
              <a:ext uri="{FF2B5EF4-FFF2-40B4-BE49-F238E27FC236}">
                <a16:creationId xmlns:a16="http://schemas.microsoft.com/office/drawing/2014/main" id="{1A2A44A2-EE00-442B-BDBE-2A482C9B2040}"/>
              </a:ext>
            </a:extLst>
          </p:cNvPr>
          <p:cNvSpPr>
            <a:spLocks noGrp="1"/>
          </p:cNvSpPr>
          <p:nvPr>
            <p:ph idx="1"/>
          </p:nvPr>
        </p:nvSpPr>
        <p:spPr/>
        <p:txBody>
          <a:bodyPr>
            <a:normAutofit fontScale="92500"/>
          </a:bodyPr>
          <a:lstStyle/>
          <a:p>
            <a:r>
              <a:rPr lang="en-US" altLang="en-US" sz="2400" dirty="0"/>
              <a:t>Host system protected from VMs, VMs protected from each other</a:t>
            </a:r>
          </a:p>
          <a:p>
            <a:pPr lvl="1"/>
            <a:r>
              <a:rPr lang="en-US" altLang="en-US" dirty="0"/>
              <a:t>i.e. A virus less likely to spread</a:t>
            </a:r>
          </a:p>
          <a:p>
            <a:pPr lvl="1"/>
            <a:r>
              <a:rPr lang="en-US" altLang="en-US" dirty="0"/>
              <a:t>Sharing is provided though via shared file system volume, network communication</a:t>
            </a:r>
          </a:p>
          <a:p>
            <a:r>
              <a:rPr lang="en-US" altLang="en-US" sz="2400" dirty="0"/>
              <a:t>Freeze, </a:t>
            </a:r>
            <a:r>
              <a:rPr lang="en-US" altLang="en-US" sz="2400" b="1" dirty="0">
                <a:solidFill>
                  <a:srgbClr val="3366FF"/>
                </a:solidFill>
              </a:rPr>
              <a:t>suspend</a:t>
            </a:r>
            <a:r>
              <a:rPr lang="en-US" altLang="en-US" sz="2400" dirty="0"/>
              <a:t>, running VM</a:t>
            </a:r>
          </a:p>
          <a:p>
            <a:pPr lvl="1"/>
            <a:r>
              <a:rPr lang="en-US" altLang="en-US" dirty="0"/>
              <a:t>Then can move or copy somewhere else and </a:t>
            </a:r>
            <a:r>
              <a:rPr lang="en-US" altLang="en-US" b="1" dirty="0">
                <a:solidFill>
                  <a:srgbClr val="3366FF"/>
                </a:solidFill>
              </a:rPr>
              <a:t>resume</a:t>
            </a:r>
          </a:p>
          <a:p>
            <a:pPr lvl="1"/>
            <a:r>
              <a:rPr lang="en-US" altLang="en-US" dirty="0"/>
              <a:t>Snapshot of a given state, able to restore back to that state</a:t>
            </a:r>
          </a:p>
          <a:p>
            <a:pPr lvl="2"/>
            <a:r>
              <a:rPr lang="en-US" altLang="en-US" sz="2400" dirty="0"/>
              <a:t>Some VMMs allow multiple snapshots per VM</a:t>
            </a:r>
          </a:p>
          <a:p>
            <a:pPr lvl="1"/>
            <a:r>
              <a:rPr lang="en-US" altLang="en-US" b="1" dirty="0">
                <a:solidFill>
                  <a:srgbClr val="3366FF"/>
                </a:solidFill>
              </a:rPr>
              <a:t>Clone</a:t>
            </a:r>
            <a:r>
              <a:rPr lang="en-US" altLang="en-US" dirty="0"/>
              <a:t> by creating copy and running both original and copy</a:t>
            </a:r>
          </a:p>
          <a:p>
            <a:r>
              <a:rPr lang="en-US" altLang="en-US" sz="2400" dirty="0"/>
              <a:t>Great for OS research, better system development efficiency</a:t>
            </a:r>
          </a:p>
          <a:p>
            <a:r>
              <a:rPr lang="en-US" altLang="en-US" sz="2400" dirty="0"/>
              <a:t>Run multiple, different OS on a single machine</a:t>
            </a:r>
          </a:p>
          <a:p>
            <a:pPr lvl="1"/>
            <a:r>
              <a:rPr lang="en-US" altLang="en-US" b="1" dirty="0">
                <a:solidFill>
                  <a:srgbClr val="3366FF"/>
                </a:solidFill>
              </a:rPr>
              <a:t>Consolidation</a:t>
            </a:r>
            <a:r>
              <a:rPr lang="en-US" altLang="en-US" dirty="0"/>
              <a:t>, app dev, …</a:t>
            </a:r>
          </a:p>
          <a:p>
            <a:endParaRPr lang="en-US" sz="3600" dirty="0"/>
          </a:p>
        </p:txBody>
      </p:sp>
    </p:spTree>
    <p:extLst>
      <p:ext uri="{BB962C8B-B14F-4D97-AF65-F5344CB8AC3E}">
        <p14:creationId xmlns:p14="http://schemas.microsoft.com/office/powerpoint/2010/main" val="15279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7FB67-97FA-44A1-BF90-E334837CFF4F}"/>
              </a:ext>
            </a:extLst>
          </p:cNvPr>
          <p:cNvSpPr>
            <a:spLocks noGrp="1"/>
          </p:cNvSpPr>
          <p:nvPr>
            <p:ph type="title"/>
          </p:nvPr>
        </p:nvSpPr>
        <p:spPr/>
        <p:txBody>
          <a:bodyPr/>
          <a:lstStyle/>
          <a:p>
            <a:r>
              <a:rPr lang="en-US" altLang="en-US" dirty="0"/>
              <a:t>Benefits and Features (cont.)</a:t>
            </a:r>
            <a:endParaRPr lang="en-US" dirty="0"/>
          </a:p>
        </p:txBody>
      </p:sp>
      <p:sp>
        <p:nvSpPr>
          <p:cNvPr id="3" name="Content Placeholder 2">
            <a:extLst>
              <a:ext uri="{FF2B5EF4-FFF2-40B4-BE49-F238E27FC236}">
                <a16:creationId xmlns:a16="http://schemas.microsoft.com/office/drawing/2014/main" id="{E67087E2-B383-4E98-B871-AAB5EB850AB7}"/>
              </a:ext>
            </a:extLst>
          </p:cNvPr>
          <p:cNvSpPr>
            <a:spLocks noGrp="1"/>
          </p:cNvSpPr>
          <p:nvPr>
            <p:ph idx="1"/>
          </p:nvPr>
        </p:nvSpPr>
        <p:spPr/>
        <p:txBody>
          <a:bodyPr>
            <a:normAutofit/>
          </a:bodyPr>
          <a:lstStyle/>
          <a:p>
            <a:r>
              <a:rPr lang="en-US" altLang="en-US" b="1" dirty="0">
                <a:solidFill>
                  <a:srgbClr val="3366FF"/>
                </a:solidFill>
              </a:rPr>
              <a:t>Templating</a:t>
            </a:r>
            <a:r>
              <a:rPr lang="en-US" altLang="en-US" dirty="0"/>
              <a:t> – create an OS + application VM, provide it to customers, use it to create multiple instances of that combination</a:t>
            </a:r>
          </a:p>
          <a:p>
            <a:r>
              <a:rPr lang="en-US" altLang="en-US" b="1" dirty="0">
                <a:solidFill>
                  <a:srgbClr val="3366FF"/>
                </a:solidFill>
              </a:rPr>
              <a:t>Live migration </a:t>
            </a:r>
            <a:r>
              <a:rPr lang="en-US" altLang="en-US" dirty="0"/>
              <a:t>– move a running VM from one host to another!</a:t>
            </a:r>
          </a:p>
          <a:p>
            <a:pPr lvl="1"/>
            <a:r>
              <a:rPr lang="en-US" altLang="en-US" sz="2800" dirty="0"/>
              <a:t>No interruption of user access</a:t>
            </a:r>
          </a:p>
          <a:p>
            <a:r>
              <a:rPr lang="en-US" altLang="en-US" dirty="0"/>
              <a:t>All those features taken together -&gt; </a:t>
            </a:r>
            <a:r>
              <a:rPr lang="en-US" altLang="en-US" b="1" dirty="0">
                <a:solidFill>
                  <a:srgbClr val="3366FF"/>
                </a:solidFill>
              </a:rPr>
              <a:t>cloud computing</a:t>
            </a:r>
          </a:p>
          <a:p>
            <a:pPr lvl="1"/>
            <a:r>
              <a:rPr lang="en-US" altLang="en-US" sz="2800" dirty="0"/>
              <a:t>Using APIs, programs tell cloud infrastructure (servers, networking, storage) to create new guests, VMs, virtual desktops</a:t>
            </a:r>
          </a:p>
          <a:p>
            <a:endParaRPr lang="en-US" sz="4000" dirty="0"/>
          </a:p>
        </p:txBody>
      </p:sp>
    </p:spTree>
    <p:extLst>
      <p:ext uri="{BB962C8B-B14F-4D97-AF65-F5344CB8AC3E}">
        <p14:creationId xmlns:p14="http://schemas.microsoft.com/office/powerpoint/2010/main" val="2991044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EBF4-1FB9-445B-A746-E6692D5E86C3}"/>
              </a:ext>
            </a:extLst>
          </p:cNvPr>
          <p:cNvSpPr>
            <a:spLocks noGrp="1"/>
          </p:cNvSpPr>
          <p:nvPr>
            <p:ph type="title"/>
          </p:nvPr>
        </p:nvSpPr>
        <p:spPr/>
        <p:txBody>
          <a:bodyPr/>
          <a:lstStyle/>
          <a:p>
            <a:r>
              <a:rPr lang="en-US" altLang="en-US" dirty="0"/>
              <a:t>Building Blocks</a:t>
            </a:r>
            <a:endParaRPr lang="en-US" dirty="0"/>
          </a:p>
        </p:txBody>
      </p:sp>
      <p:sp>
        <p:nvSpPr>
          <p:cNvPr id="3" name="Content Placeholder 2">
            <a:extLst>
              <a:ext uri="{FF2B5EF4-FFF2-40B4-BE49-F238E27FC236}">
                <a16:creationId xmlns:a16="http://schemas.microsoft.com/office/drawing/2014/main" id="{5CD8BF28-B3BC-42B4-8005-543B43FA1A62}"/>
              </a:ext>
            </a:extLst>
          </p:cNvPr>
          <p:cNvSpPr>
            <a:spLocks noGrp="1"/>
          </p:cNvSpPr>
          <p:nvPr>
            <p:ph idx="1"/>
          </p:nvPr>
        </p:nvSpPr>
        <p:spPr/>
        <p:txBody>
          <a:bodyPr>
            <a:normAutofit/>
          </a:bodyPr>
          <a:lstStyle/>
          <a:p>
            <a:pPr>
              <a:defRPr/>
            </a:pPr>
            <a:r>
              <a:rPr lang="en-US" dirty="0">
                <a:ea typeface="ＭＳ Ｐゴシック" charset="0"/>
              </a:rPr>
              <a:t>Generally difficult to provide an </a:t>
            </a:r>
            <a:r>
              <a:rPr lang="en-US" b="1" i="1" dirty="0">
                <a:ea typeface="ＭＳ Ｐゴシック" charset="0"/>
              </a:rPr>
              <a:t>exact</a:t>
            </a:r>
            <a:r>
              <a:rPr lang="en-US" dirty="0">
                <a:ea typeface="ＭＳ Ｐゴシック" charset="0"/>
              </a:rPr>
              <a:t> duplicate of underlying machine</a:t>
            </a:r>
          </a:p>
          <a:p>
            <a:pPr lvl="1">
              <a:defRPr/>
            </a:pPr>
            <a:r>
              <a:rPr lang="en-US" sz="2800" dirty="0">
                <a:ea typeface="ＭＳ Ｐゴシック" charset="0"/>
              </a:rPr>
              <a:t>Especially if only dual-mode operation available on CPU</a:t>
            </a:r>
          </a:p>
          <a:p>
            <a:pPr lvl="1">
              <a:defRPr/>
            </a:pPr>
            <a:r>
              <a:rPr lang="en-US" sz="2800" dirty="0">
                <a:ea typeface="ＭＳ Ｐゴシック" charset="0"/>
              </a:rPr>
              <a:t>But getting easier over time as CPU features and support for VMM improves</a:t>
            </a:r>
          </a:p>
          <a:p>
            <a:pPr lvl="1">
              <a:defRPr/>
            </a:pPr>
            <a:r>
              <a:rPr lang="en-US" sz="2800" dirty="0">
                <a:ea typeface="ＭＳ Ｐゴシック" charset="0"/>
              </a:rPr>
              <a:t>Most VMMs implement </a:t>
            </a:r>
            <a:r>
              <a:rPr lang="en-US" sz="2800" b="1" dirty="0">
                <a:solidFill>
                  <a:srgbClr val="3366FF"/>
                </a:solidFill>
                <a:ea typeface="ＭＳ Ｐゴシック" charset="0"/>
                <a:cs typeface="ＭＳ Ｐゴシック" charset="0"/>
              </a:rPr>
              <a:t>virtual CPU </a:t>
            </a:r>
            <a:r>
              <a:rPr lang="en-US" sz="2800" dirty="0">
                <a:ea typeface="ＭＳ Ｐゴシック" charset="0"/>
              </a:rPr>
              <a:t>(</a:t>
            </a:r>
            <a:r>
              <a:rPr lang="en-US" sz="2800" b="1" dirty="0">
                <a:solidFill>
                  <a:srgbClr val="3366FF"/>
                </a:solidFill>
                <a:ea typeface="ＭＳ Ｐゴシック" charset="0"/>
                <a:cs typeface="ＭＳ Ｐゴシック" charset="0"/>
              </a:rPr>
              <a:t>VCPU</a:t>
            </a:r>
            <a:r>
              <a:rPr lang="en-US" sz="2800" dirty="0">
                <a:ea typeface="ＭＳ Ｐゴシック" charset="0"/>
              </a:rPr>
              <a:t>) to represent state of CPU per guest as guest believes it to be</a:t>
            </a:r>
          </a:p>
          <a:p>
            <a:pPr lvl="2">
              <a:buFont typeface="Webdings" charset="0"/>
              <a:buChar char="4"/>
              <a:defRPr/>
            </a:pPr>
            <a:r>
              <a:rPr lang="en-US" sz="2800" dirty="0">
                <a:ea typeface="ＭＳ Ｐゴシック" charset="0"/>
              </a:rPr>
              <a:t>When guest context switched onto CPU by VMM, information from VCPU loaded and stored</a:t>
            </a:r>
          </a:p>
          <a:p>
            <a:pPr marL="457200" lvl="1" indent="0">
              <a:buFont typeface="Monotype Sorts" pitchFamily="-84" charset="2"/>
              <a:buNone/>
              <a:defRPr/>
            </a:pPr>
            <a:endParaRPr lang="en-US" sz="2800" dirty="0">
              <a:ea typeface="ＭＳ Ｐゴシック" charset="0"/>
            </a:endParaRPr>
          </a:p>
          <a:p>
            <a:pPr marL="0" indent="0">
              <a:buFont typeface="Monotype Sorts" charset="0"/>
              <a:buNone/>
              <a:defRPr/>
            </a:pPr>
            <a:endParaRPr lang="en-US" dirty="0">
              <a:ea typeface="ＭＳ Ｐゴシック" charset="0"/>
            </a:endParaRPr>
          </a:p>
          <a:p>
            <a:endParaRPr lang="en-US" sz="4000" dirty="0"/>
          </a:p>
        </p:txBody>
      </p:sp>
    </p:spTree>
    <p:extLst>
      <p:ext uri="{BB962C8B-B14F-4D97-AF65-F5344CB8AC3E}">
        <p14:creationId xmlns:p14="http://schemas.microsoft.com/office/powerpoint/2010/main" val="2972501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AE3A-7485-4725-9FB4-BE501C3ED6A9}"/>
              </a:ext>
            </a:extLst>
          </p:cNvPr>
          <p:cNvSpPr>
            <a:spLocks noGrp="1"/>
          </p:cNvSpPr>
          <p:nvPr>
            <p:ph type="title"/>
          </p:nvPr>
        </p:nvSpPr>
        <p:spPr/>
        <p:txBody>
          <a:bodyPr/>
          <a:lstStyle/>
          <a:p>
            <a:r>
              <a:rPr lang="en-US" altLang="en-US" dirty="0"/>
              <a:t>Building Block – Trap and Emulate</a:t>
            </a:r>
            <a:endParaRPr lang="en-US" dirty="0"/>
          </a:p>
        </p:txBody>
      </p:sp>
      <p:sp>
        <p:nvSpPr>
          <p:cNvPr id="3" name="Content Placeholder 2">
            <a:extLst>
              <a:ext uri="{FF2B5EF4-FFF2-40B4-BE49-F238E27FC236}">
                <a16:creationId xmlns:a16="http://schemas.microsoft.com/office/drawing/2014/main" id="{53B95AB3-6921-45E8-86EC-FC9C2DA8379B}"/>
              </a:ext>
            </a:extLst>
          </p:cNvPr>
          <p:cNvSpPr>
            <a:spLocks noGrp="1"/>
          </p:cNvSpPr>
          <p:nvPr>
            <p:ph idx="1"/>
          </p:nvPr>
        </p:nvSpPr>
        <p:spPr/>
        <p:txBody>
          <a:bodyPr>
            <a:normAutofit/>
          </a:bodyPr>
          <a:lstStyle/>
          <a:p>
            <a:r>
              <a:rPr lang="en-US" altLang="en-US" dirty="0"/>
              <a:t>Dual mode CPU means guest executes in user mode</a:t>
            </a:r>
          </a:p>
          <a:p>
            <a:pPr lvl="1"/>
            <a:r>
              <a:rPr lang="en-US" altLang="en-US" sz="2800" dirty="0"/>
              <a:t>Kernel runs in kernel mode</a:t>
            </a:r>
          </a:p>
          <a:p>
            <a:pPr lvl="1"/>
            <a:r>
              <a:rPr lang="en-US" altLang="en-US" sz="2800" dirty="0"/>
              <a:t>Not safe to let guest kernel run in kernel mode too</a:t>
            </a:r>
          </a:p>
          <a:p>
            <a:pPr lvl="1"/>
            <a:r>
              <a:rPr lang="en-US" altLang="en-US" sz="2800" dirty="0"/>
              <a:t>So VM needs two modes – virtual user mode and virtual kernel mode</a:t>
            </a:r>
          </a:p>
          <a:p>
            <a:pPr lvl="2"/>
            <a:r>
              <a:rPr lang="en-US" altLang="en-US" sz="2800" dirty="0"/>
              <a:t>Both of which run in real user mode</a:t>
            </a:r>
          </a:p>
          <a:p>
            <a:pPr lvl="1"/>
            <a:r>
              <a:rPr lang="en-US" altLang="en-US" sz="2800" dirty="0"/>
              <a:t>Actions in guest that usually cause switch to kernel mode must cause switch to virtual kernel mode</a:t>
            </a:r>
          </a:p>
          <a:p>
            <a:pPr>
              <a:buFont typeface="Monotype Sorts" pitchFamily="-84" charset="2"/>
              <a:buNone/>
            </a:pPr>
            <a:endParaRPr lang="en-US" altLang="en-US" dirty="0"/>
          </a:p>
          <a:p>
            <a:endParaRPr lang="en-US" sz="4000" dirty="0"/>
          </a:p>
        </p:txBody>
      </p:sp>
    </p:spTree>
    <p:extLst>
      <p:ext uri="{BB962C8B-B14F-4D97-AF65-F5344CB8AC3E}">
        <p14:creationId xmlns:p14="http://schemas.microsoft.com/office/powerpoint/2010/main" val="1280107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8C8BC-5C9C-4151-A18F-8694571C05F8}"/>
              </a:ext>
            </a:extLst>
          </p:cNvPr>
          <p:cNvSpPr>
            <a:spLocks noGrp="1"/>
          </p:cNvSpPr>
          <p:nvPr>
            <p:ph type="title"/>
          </p:nvPr>
        </p:nvSpPr>
        <p:spPr/>
        <p:txBody>
          <a:bodyPr/>
          <a:lstStyle/>
          <a:p>
            <a:r>
              <a:rPr lang="en-US" altLang="en-US" dirty="0"/>
              <a:t>Trap-and-Emulate (cont.)</a:t>
            </a:r>
            <a:endParaRPr lang="en-US" dirty="0"/>
          </a:p>
        </p:txBody>
      </p:sp>
      <p:sp>
        <p:nvSpPr>
          <p:cNvPr id="3" name="Content Placeholder 2">
            <a:extLst>
              <a:ext uri="{FF2B5EF4-FFF2-40B4-BE49-F238E27FC236}">
                <a16:creationId xmlns:a16="http://schemas.microsoft.com/office/drawing/2014/main" id="{18D49AC5-E588-4811-A117-8E992C5BE554}"/>
              </a:ext>
            </a:extLst>
          </p:cNvPr>
          <p:cNvSpPr>
            <a:spLocks noGrp="1"/>
          </p:cNvSpPr>
          <p:nvPr>
            <p:ph idx="1"/>
          </p:nvPr>
        </p:nvSpPr>
        <p:spPr/>
        <p:txBody>
          <a:bodyPr>
            <a:normAutofit fontScale="92500"/>
          </a:bodyPr>
          <a:lstStyle/>
          <a:p>
            <a:r>
              <a:rPr lang="en-US" altLang="en-US" sz="2400" dirty="0"/>
              <a:t>How does switch from virtual user mode to virtual kernel mode occur?</a:t>
            </a:r>
          </a:p>
          <a:p>
            <a:pPr lvl="1"/>
            <a:r>
              <a:rPr lang="en-US" altLang="en-US" dirty="0"/>
              <a:t>Attempting a privileged instruction in user mode causes an error -&gt; trap</a:t>
            </a:r>
          </a:p>
          <a:p>
            <a:pPr lvl="1"/>
            <a:r>
              <a:rPr lang="en-US" altLang="en-US" dirty="0"/>
              <a:t>VMM gains control, analyzes error, executes operation as attempted by guest</a:t>
            </a:r>
          </a:p>
          <a:p>
            <a:pPr lvl="1"/>
            <a:r>
              <a:rPr lang="en-US" altLang="en-US" dirty="0"/>
              <a:t>Returns control to guest in user mode</a:t>
            </a:r>
          </a:p>
          <a:p>
            <a:pPr lvl="1"/>
            <a:r>
              <a:rPr lang="en-US" altLang="en-US" dirty="0"/>
              <a:t>Known as</a:t>
            </a:r>
            <a:r>
              <a:rPr lang="en-US" altLang="en-US" b="1" dirty="0">
                <a:solidFill>
                  <a:srgbClr val="3366FF"/>
                </a:solidFill>
              </a:rPr>
              <a:t> trap-and-emulate</a:t>
            </a:r>
          </a:p>
          <a:p>
            <a:pPr lvl="1"/>
            <a:r>
              <a:rPr lang="en-US" altLang="en-US" dirty="0"/>
              <a:t>Most virtualization products use this at least in part</a:t>
            </a:r>
          </a:p>
          <a:p>
            <a:r>
              <a:rPr lang="en-US" altLang="en-US" sz="2400" dirty="0"/>
              <a:t>User mode code in guest runs at same speed as if not a guest</a:t>
            </a:r>
          </a:p>
          <a:p>
            <a:r>
              <a:rPr lang="en-US" altLang="en-US" sz="2400" dirty="0"/>
              <a:t>But kernel mode privilege mode code runs slower due to trap-and-emulate</a:t>
            </a:r>
          </a:p>
          <a:p>
            <a:pPr lvl="1"/>
            <a:r>
              <a:rPr lang="en-US" altLang="en-US" dirty="0"/>
              <a:t>Especially a problem when multiple guests running, each needing trap-and-emulate</a:t>
            </a:r>
          </a:p>
          <a:p>
            <a:r>
              <a:rPr lang="en-US" altLang="en-US" sz="2400" dirty="0"/>
              <a:t>CPUs adding hardware support, mode CPU modes to improve virtualization performance</a:t>
            </a:r>
          </a:p>
          <a:p>
            <a:endParaRPr lang="en-US" altLang="en-US" sz="2400" dirty="0"/>
          </a:p>
          <a:p>
            <a:endParaRPr lang="en-US" sz="3600" dirty="0"/>
          </a:p>
        </p:txBody>
      </p:sp>
    </p:spTree>
    <p:extLst>
      <p:ext uri="{BB962C8B-B14F-4D97-AF65-F5344CB8AC3E}">
        <p14:creationId xmlns:p14="http://schemas.microsoft.com/office/powerpoint/2010/main" val="2521215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EAE47-408B-4814-B118-0E1D7F9F3338}"/>
              </a:ext>
            </a:extLst>
          </p:cNvPr>
          <p:cNvSpPr>
            <a:spLocks noGrp="1"/>
          </p:cNvSpPr>
          <p:nvPr>
            <p:ph type="title"/>
          </p:nvPr>
        </p:nvSpPr>
        <p:spPr/>
        <p:txBody>
          <a:bodyPr/>
          <a:lstStyle/>
          <a:p>
            <a:r>
              <a:rPr lang="en-US" altLang="en-US" dirty="0"/>
              <a:t>Trap-and-Emulate (cont.)</a:t>
            </a:r>
            <a:endParaRPr lang="en-US" dirty="0"/>
          </a:p>
        </p:txBody>
      </p:sp>
      <p:pic>
        <p:nvPicPr>
          <p:cNvPr id="4" name="Content Placeholder 3" descr="16_02.pdf">
            <a:extLst>
              <a:ext uri="{FF2B5EF4-FFF2-40B4-BE49-F238E27FC236}">
                <a16:creationId xmlns:a16="http://schemas.microsoft.com/office/drawing/2014/main" id="{37F7274A-E3F0-4A80-BC0B-5E1AEC846D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546" r="-987"/>
          <a:stretch>
            <a:fillRect/>
          </a:stretch>
        </p:blipFill>
        <p:spPr bwMode="auto">
          <a:xfrm>
            <a:off x="2639576" y="1690689"/>
            <a:ext cx="7183567" cy="4802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3221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735</Words>
  <Application>Microsoft Office PowerPoint</Application>
  <PresentationFormat>Widescreen</PresentationFormat>
  <Paragraphs>75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Monotype Sorts</vt:lpstr>
      <vt:lpstr>Webdings</vt:lpstr>
      <vt:lpstr>Office Theme</vt:lpstr>
      <vt:lpstr>Virtual Machines</vt:lpstr>
      <vt:lpstr>Virtual Machines</vt:lpstr>
      <vt:lpstr>Overview</vt:lpstr>
      <vt:lpstr>System Models</vt:lpstr>
      <vt:lpstr>TYPE1 vs TYPE2 hypervisors</vt:lpstr>
      <vt:lpstr>TYPE1 vs TYPE2 hypervisors</vt:lpstr>
      <vt:lpstr>TYPE1 vs TYPE2 hypervisors</vt:lpstr>
      <vt:lpstr>TYPE1 vs TYPE2 hypervisors</vt:lpstr>
      <vt:lpstr>Benefits and Features</vt:lpstr>
      <vt:lpstr>Benefits and Features (cont.)</vt:lpstr>
      <vt:lpstr>Building Blocks</vt:lpstr>
      <vt:lpstr>Building Block – Trap and Emulate</vt:lpstr>
      <vt:lpstr>Trap-and-Emulate (cont.)</vt:lpstr>
      <vt:lpstr>Trap-and-Emulate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Machines</dc:title>
  <dc:creator>syedhassan180@outlook.com</dc:creator>
  <cp:lastModifiedBy>syedhassan180@outlook.com</cp:lastModifiedBy>
  <cp:revision>3</cp:revision>
  <dcterms:created xsi:type="dcterms:W3CDTF">2021-05-05T20:07:16Z</dcterms:created>
  <dcterms:modified xsi:type="dcterms:W3CDTF">2021-05-05T20:19:50Z</dcterms:modified>
</cp:coreProperties>
</file>