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jpg" ContentType="image/jp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Default Extension="png" ContentType="image/png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785618" y="2298903"/>
            <a:ext cx="3572763" cy="848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939571" y="3902709"/>
            <a:ext cx="7264857" cy="696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81D5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81D5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81D5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81D5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81D5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81D5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81D5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81D5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81D5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81D5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81D5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81D5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81D5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81D5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81D5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6669" y="1372361"/>
            <a:ext cx="7975600" cy="0"/>
          </a:xfrm>
          <a:custGeom>
            <a:avLst/>
            <a:gdLst/>
            <a:ahLst/>
            <a:cxnLst/>
            <a:rect l="l" t="t" r="r" b="b"/>
            <a:pathLst>
              <a:path w="7975600" h="0">
                <a:moveTo>
                  <a:pt x="0" y="0"/>
                </a:moveTo>
                <a:lnTo>
                  <a:pt x="7975091" y="0"/>
                </a:lnTo>
              </a:path>
            </a:pathLst>
          </a:custGeom>
          <a:ln w="50800">
            <a:solidFill>
              <a:srgbClr val="FB00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0530" y="686815"/>
            <a:ext cx="8522335" cy="680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9130" y="1699641"/>
            <a:ext cx="8221345" cy="4036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46582" y="6568371"/>
            <a:ext cx="150812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081D5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399282" y="6568371"/>
            <a:ext cx="2846704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081D5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988934" y="6568371"/>
            <a:ext cx="56832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081D57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dirty="0" sz="5400"/>
              <a:t>Chapter</a:t>
            </a:r>
            <a:r>
              <a:rPr dirty="0" sz="5400" spc="-30"/>
              <a:t> </a:t>
            </a:r>
            <a:r>
              <a:rPr dirty="0" sz="5400" spc="-25"/>
              <a:t>25</a:t>
            </a:r>
            <a:endParaRPr sz="5400"/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00"/>
              </a:spcBef>
            </a:pPr>
            <a:r>
              <a:rPr dirty="0" sz="4400" b="1">
                <a:latin typeface="Arial"/>
                <a:cs typeface="Arial"/>
              </a:rPr>
              <a:t>Configuration</a:t>
            </a:r>
            <a:r>
              <a:rPr dirty="0" sz="4400" spc="-35" b="1">
                <a:latin typeface="Arial"/>
                <a:cs typeface="Arial"/>
              </a:rPr>
              <a:t> </a:t>
            </a:r>
            <a:r>
              <a:rPr dirty="0" sz="4400" spc="-10" b="1">
                <a:latin typeface="Arial"/>
                <a:cs typeface="Arial"/>
              </a:rPr>
              <a:t>Management</a:t>
            </a:r>
            <a:endParaRPr sz="4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/>
              <a:t>Configuration</a:t>
            </a:r>
            <a:r>
              <a:rPr dirty="0" spc="-135"/>
              <a:t> </a:t>
            </a:r>
            <a:r>
              <a:rPr dirty="0" spc="-10"/>
              <a:t>management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1069035" y="2155012"/>
            <a:ext cx="7225030" cy="1123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8790" marR="5080" indent="-466725">
              <a:lnSpc>
                <a:spcPct val="100000"/>
              </a:lnSpc>
              <a:spcBef>
                <a:spcPts val="100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3600">
                <a:latin typeface="Arial MT"/>
                <a:cs typeface="Arial MT"/>
              </a:rPr>
              <a:t>Managing</a:t>
            </a:r>
            <a:r>
              <a:rPr dirty="0" sz="3600" spc="-35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the</a:t>
            </a:r>
            <a:r>
              <a:rPr dirty="0" sz="3600" spc="-1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products</a:t>
            </a:r>
            <a:r>
              <a:rPr dirty="0" sz="3600" spc="-40">
                <a:latin typeface="Arial MT"/>
                <a:cs typeface="Arial MT"/>
              </a:rPr>
              <a:t> </a:t>
            </a:r>
            <a:r>
              <a:rPr dirty="0" sz="3600">
                <a:latin typeface="Arial MT"/>
                <a:cs typeface="Arial MT"/>
              </a:rPr>
              <a:t>of</a:t>
            </a:r>
            <a:r>
              <a:rPr dirty="0" sz="3600" spc="-10">
                <a:latin typeface="Arial MT"/>
                <a:cs typeface="Arial MT"/>
              </a:rPr>
              <a:t> system change</a:t>
            </a:r>
            <a:endParaRPr sz="3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Objectives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59130" y="1699641"/>
            <a:ext cx="7410450" cy="31832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8790" marR="1026794" indent="-466725">
              <a:lnSpc>
                <a:spcPct val="100000"/>
              </a:lnSpc>
              <a:spcBef>
                <a:spcPts val="9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 spc="-150">
                <a:latin typeface="Arial MT"/>
                <a:cs typeface="Arial MT"/>
              </a:rPr>
              <a:t>To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explain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importance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software </a:t>
            </a:r>
            <a:r>
              <a:rPr dirty="0" sz="2800">
                <a:latin typeface="Arial MT"/>
                <a:cs typeface="Arial MT"/>
              </a:rPr>
              <a:t>configuration</a:t>
            </a:r>
            <a:r>
              <a:rPr dirty="0" sz="2800" spc="-1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management</a:t>
            </a:r>
            <a:r>
              <a:rPr dirty="0" sz="2800" spc="-14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(CM)</a:t>
            </a:r>
            <a:endParaRPr sz="2800">
              <a:latin typeface="Arial MT"/>
              <a:cs typeface="Arial MT"/>
            </a:endParaRPr>
          </a:p>
          <a:p>
            <a:pPr marL="478790" marR="436880" indent="-466725">
              <a:lnSpc>
                <a:spcPct val="100000"/>
              </a:lnSpc>
              <a:spcBef>
                <a:spcPts val="670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 spc="-155">
                <a:latin typeface="Arial MT"/>
                <a:cs typeface="Arial MT"/>
              </a:rPr>
              <a:t>To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describe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key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CM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activities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namely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CM </a:t>
            </a:r>
            <a:r>
              <a:rPr dirty="0" sz="2800">
                <a:latin typeface="Arial MT"/>
                <a:cs typeface="Arial MT"/>
              </a:rPr>
              <a:t>planning,</a:t>
            </a:r>
            <a:r>
              <a:rPr dirty="0" sz="2800" spc="-1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change</a:t>
            </a:r>
            <a:r>
              <a:rPr dirty="0" sz="2800" spc="-1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management,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version </a:t>
            </a:r>
            <a:r>
              <a:rPr dirty="0" sz="2800">
                <a:latin typeface="Arial MT"/>
                <a:cs typeface="Arial MT"/>
              </a:rPr>
              <a:t>management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system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building</a:t>
            </a:r>
            <a:endParaRPr sz="2800">
              <a:latin typeface="Arial MT"/>
              <a:cs typeface="Arial MT"/>
            </a:endParaRPr>
          </a:p>
          <a:p>
            <a:pPr marL="478790" marR="5080" indent="-466725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 spc="-150">
                <a:latin typeface="Arial MT"/>
                <a:cs typeface="Arial MT"/>
              </a:rPr>
              <a:t>To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discuss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use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CASE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tools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support </a:t>
            </a:r>
            <a:r>
              <a:rPr dirty="0" sz="2800">
                <a:latin typeface="Arial MT"/>
                <a:cs typeface="Arial MT"/>
              </a:rPr>
              <a:t>configuration</a:t>
            </a:r>
            <a:r>
              <a:rPr dirty="0" sz="2800" spc="-1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management</a:t>
            </a:r>
            <a:r>
              <a:rPr dirty="0" sz="2800" spc="-14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processes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Topics</a:t>
            </a:r>
            <a:r>
              <a:rPr dirty="0" spc="-240"/>
              <a:t> </a:t>
            </a:r>
            <a:r>
              <a:rPr dirty="0" spc="-10"/>
              <a:t>covered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59130" y="1613687"/>
            <a:ext cx="7134225" cy="258635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478790" indent="-466090">
              <a:lnSpc>
                <a:spcPct val="100000"/>
              </a:lnSpc>
              <a:spcBef>
                <a:spcPts val="770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Configuration</a:t>
            </a:r>
            <a:r>
              <a:rPr dirty="0" sz="2800" spc="-1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management</a:t>
            </a:r>
            <a:r>
              <a:rPr dirty="0" sz="2800" spc="-14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planning</a:t>
            </a:r>
            <a:endParaRPr sz="2800">
              <a:latin typeface="Arial MT"/>
              <a:cs typeface="Arial MT"/>
            </a:endParaRPr>
          </a:p>
          <a:p>
            <a:pPr marL="478790" indent="-466090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Change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management</a:t>
            </a:r>
            <a:endParaRPr sz="2800">
              <a:latin typeface="Arial MT"/>
              <a:cs typeface="Arial MT"/>
            </a:endParaRPr>
          </a:p>
          <a:p>
            <a:pPr marL="478790" indent="-466090">
              <a:lnSpc>
                <a:spcPct val="100000"/>
              </a:lnSpc>
              <a:spcBef>
                <a:spcPts val="670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 spc="-10">
                <a:latin typeface="Arial MT"/>
                <a:cs typeface="Arial MT"/>
              </a:rPr>
              <a:t>Version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release</a:t>
            </a:r>
            <a:r>
              <a:rPr dirty="0" sz="2800" spc="-11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management</a:t>
            </a:r>
            <a:endParaRPr sz="2800">
              <a:latin typeface="Arial MT"/>
              <a:cs typeface="Arial MT"/>
            </a:endParaRPr>
          </a:p>
          <a:p>
            <a:pPr marL="478790" indent="-466090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System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building</a:t>
            </a:r>
            <a:endParaRPr sz="2800">
              <a:latin typeface="Arial MT"/>
              <a:cs typeface="Arial MT"/>
            </a:endParaRPr>
          </a:p>
          <a:p>
            <a:pPr marL="478790" indent="-466090">
              <a:lnSpc>
                <a:spcPct val="100000"/>
              </a:lnSpc>
              <a:spcBef>
                <a:spcPts val="670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CASE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tools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for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configuration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management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78790" marR="5080" indent="-466725">
              <a:lnSpc>
                <a:spcPct val="100000"/>
              </a:lnSpc>
              <a:spcBef>
                <a:spcPts val="9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/>
              <a:t>New</a:t>
            </a:r>
            <a:r>
              <a:rPr dirty="0" spc="-65"/>
              <a:t> </a:t>
            </a:r>
            <a:r>
              <a:rPr dirty="0"/>
              <a:t>versions</a:t>
            </a:r>
            <a:r>
              <a:rPr dirty="0" spc="-65"/>
              <a:t> </a:t>
            </a:r>
            <a:r>
              <a:rPr dirty="0"/>
              <a:t>of</a:t>
            </a:r>
            <a:r>
              <a:rPr dirty="0" spc="-75"/>
              <a:t> </a:t>
            </a:r>
            <a:r>
              <a:rPr dirty="0"/>
              <a:t>software</a:t>
            </a:r>
            <a:r>
              <a:rPr dirty="0" spc="-75"/>
              <a:t> </a:t>
            </a:r>
            <a:r>
              <a:rPr dirty="0"/>
              <a:t>systems</a:t>
            </a:r>
            <a:r>
              <a:rPr dirty="0" spc="-70"/>
              <a:t> </a:t>
            </a:r>
            <a:r>
              <a:rPr dirty="0"/>
              <a:t>are</a:t>
            </a:r>
            <a:r>
              <a:rPr dirty="0" spc="-75"/>
              <a:t> </a:t>
            </a:r>
            <a:r>
              <a:rPr dirty="0"/>
              <a:t>created</a:t>
            </a:r>
            <a:r>
              <a:rPr dirty="0" spc="-75"/>
              <a:t> </a:t>
            </a:r>
            <a:r>
              <a:rPr dirty="0" spc="-25"/>
              <a:t>as </a:t>
            </a:r>
            <a:r>
              <a:rPr dirty="0"/>
              <a:t>they</a:t>
            </a:r>
            <a:r>
              <a:rPr dirty="0" spc="-60"/>
              <a:t> </a:t>
            </a:r>
            <a:r>
              <a:rPr dirty="0" spc="-10"/>
              <a:t>change</a:t>
            </a:r>
          </a:p>
          <a:p>
            <a:pPr lvl="1" marL="1053465" indent="-460375">
              <a:lnSpc>
                <a:spcPct val="100000"/>
              </a:lnSpc>
              <a:spcBef>
                <a:spcPts val="500"/>
              </a:spcBef>
              <a:buChar char="•"/>
              <a:tabLst>
                <a:tab pos="1053465" algn="l"/>
              </a:tabLst>
            </a:pPr>
            <a:r>
              <a:rPr dirty="0" sz="2000">
                <a:latin typeface="Arial MT"/>
                <a:cs typeface="Arial MT"/>
              </a:rPr>
              <a:t>For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different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machines/OS</a:t>
            </a:r>
            <a:endParaRPr sz="2000">
              <a:latin typeface="Arial MT"/>
              <a:cs typeface="Arial MT"/>
            </a:endParaRPr>
          </a:p>
          <a:p>
            <a:pPr lvl="1" marL="1053465" indent="-460375">
              <a:lnSpc>
                <a:spcPct val="100000"/>
              </a:lnSpc>
              <a:spcBef>
                <a:spcPts val="480"/>
              </a:spcBef>
              <a:buChar char="•"/>
              <a:tabLst>
                <a:tab pos="1053465" algn="l"/>
              </a:tabLst>
            </a:pPr>
            <a:r>
              <a:rPr dirty="0" sz="2000">
                <a:latin typeface="Arial MT"/>
                <a:cs typeface="Arial MT"/>
              </a:rPr>
              <a:t>Offering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different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functionality</a:t>
            </a:r>
            <a:endParaRPr sz="2000">
              <a:latin typeface="Arial MT"/>
              <a:cs typeface="Arial MT"/>
            </a:endParaRPr>
          </a:p>
          <a:p>
            <a:pPr lvl="1" marL="1053465" indent="-460375">
              <a:lnSpc>
                <a:spcPct val="100000"/>
              </a:lnSpc>
              <a:spcBef>
                <a:spcPts val="480"/>
              </a:spcBef>
              <a:buChar char="•"/>
              <a:tabLst>
                <a:tab pos="1053465" algn="l"/>
              </a:tabLst>
            </a:pPr>
            <a:r>
              <a:rPr dirty="0" sz="2000" spc="-30">
                <a:latin typeface="Arial MT"/>
                <a:cs typeface="Arial MT"/>
              </a:rPr>
              <a:t>Tailored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particular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user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requirements</a:t>
            </a:r>
            <a:endParaRPr sz="2000">
              <a:latin typeface="Arial MT"/>
              <a:cs typeface="Arial MT"/>
            </a:endParaRPr>
          </a:p>
          <a:p>
            <a:pPr marL="478790" marR="614045" indent="-466725">
              <a:lnSpc>
                <a:spcPct val="100000"/>
              </a:lnSpc>
              <a:spcBef>
                <a:spcPts val="65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/>
              <a:t>Configuration</a:t>
            </a:r>
            <a:r>
              <a:rPr dirty="0" spc="-110"/>
              <a:t> </a:t>
            </a:r>
            <a:r>
              <a:rPr dirty="0"/>
              <a:t>management</a:t>
            </a:r>
            <a:r>
              <a:rPr dirty="0" spc="-95"/>
              <a:t> </a:t>
            </a:r>
            <a:r>
              <a:rPr dirty="0"/>
              <a:t>is</a:t>
            </a:r>
            <a:r>
              <a:rPr dirty="0" spc="-120"/>
              <a:t> </a:t>
            </a:r>
            <a:r>
              <a:rPr dirty="0"/>
              <a:t>concerned</a:t>
            </a:r>
            <a:r>
              <a:rPr dirty="0" spc="-114"/>
              <a:t> </a:t>
            </a:r>
            <a:r>
              <a:rPr dirty="0" spc="-20"/>
              <a:t>with </a:t>
            </a:r>
            <a:r>
              <a:rPr dirty="0"/>
              <a:t>managing</a:t>
            </a:r>
            <a:r>
              <a:rPr dirty="0" spc="-105"/>
              <a:t> </a:t>
            </a:r>
            <a:r>
              <a:rPr dirty="0"/>
              <a:t>evolving</a:t>
            </a:r>
            <a:r>
              <a:rPr dirty="0" spc="-114"/>
              <a:t> </a:t>
            </a:r>
            <a:r>
              <a:rPr dirty="0"/>
              <a:t>software</a:t>
            </a:r>
            <a:r>
              <a:rPr dirty="0" spc="-120"/>
              <a:t> </a:t>
            </a:r>
            <a:r>
              <a:rPr dirty="0" spc="-10"/>
              <a:t>systems</a:t>
            </a:r>
          </a:p>
          <a:p>
            <a:pPr lvl="1" marL="1053465" indent="-460375">
              <a:lnSpc>
                <a:spcPct val="100000"/>
              </a:lnSpc>
              <a:spcBef>
                <a:spcPts val="500"/>
              </a:spcBef>
              <a:buChar char="•"/>
              <a:tabLst>
                <a:tab pos="1053465" algn="l"/>
              </a:tabLst>
            </a:pPr>
            <a:r>
              <a:rPr dirty="0" sz="2000">
                <a:latin typeface="Arial MT"/>
                <a:cs typeface="Arial MT"/>
              </a:rPr>
              <a:t>System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change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team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activity</a:t>
            </a:r>
            <a:endParaRPr sz="2000">
              <a:latin typeface="Arial MT"/>
              <a:cs typeface="Arial MT"/>
            </a:endParaRPr>
          </a:p>
          <a:p>
            <a:pPr lvl="1" marL="1053465" marR="687070" indent="-460375">
              <a:lnSpc>
                <a:spcPct val="100000"/>
              </a:lnSpc>
              <a:spcBef>
                <a:spcPts val="480"/>
              </a:spcBef>
              <a:buChar char="•"/>
              <a:tabLst>
                <a:tab pos="1053465" algn="l"/>
              </a:tabLst>
            </a:pPr>
            <a:r>
              <a:rPr dirty="0" sz="2000">
                <a:latin typeface="Arial MT"/>
                <a:cs typeface="Arial MT"/>
              </a:rPr>
              <a:t>CM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aims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control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costs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effort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involved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making </a:t>
            </a:r>
            <a:r>
              <a:rPr dirty="0" sz="2000">
                <a:latin typeface="Arial MT"/>
                <a:cs typeface="Arial MT"/>
              </a:rPr>
              <a:t>changes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system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/>
              <a:t>Configuration</a:t>
            </a:r>
            <a:r>
              <a:rPr dirty="0" spc="-135"/>
              <a:t> </a:t>
            </a:r>
            <a:r>
              <a:rPr dirty="0" spc="-10"/>
              <a:t>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/>
              <a:t>Configuration</a:t>
            </a:r>
            <a:r>
              <a:rPr dirty="0" spc="-135"/>
              <a:t> </a:t>
            </a:r>
            <a:r>
              <a:rPr dirty="0" spc="-10"/>
              <a:t>management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59130" y="1699641"/>
            <a:ext cx="7733665" cy="36099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8790" marR="320040" indent="-466725">
              <a:lnSpc>
                <a:spcPct val="100000"/>
              </a:lnSpc>
              <a:spcBef>
                <a:spcPts val="9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Involves</a:t>
            </a:r>
            <a:r>
              <a:rPr dirty="0" sz="2800" spc="-10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development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application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of </a:t>
            </a:r>
            <a:r>
              <a:rPr dirty="0" sz="2800">
                <a:latin typeface="Arial MT"/>
                <a:cs typeface="Arial MT"/>
              </a:rPr>
              <a:t>procedures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standards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manage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an </a:t>
            </a:r>
            <a:r>
              <a:rPr dirty="0" sz="2800">
                <a:latin typeface="Arial MT"/>
                <a:cs typeface="Arial MT"/>
              </a:rPr>
              <a:t>evolving</a:t>
            </a:r>
            <a:r>
              <a:rPr dirty="0" sz="2800" spc="-114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software</a:t>
            </a:r>
            <a:r>
              <a:rPr dirty="0" sz="2800" spc="-11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product</a:t>
            </a:r>
            <a:endParaRPr sz="2800">
              <a:latin typeface="Arial MT"/>
              <a:cs typeface="Arial MT"/>
            </a:endParaRPr>
          </a:p>
          <a:p>
            <a:pPr marL="478790" marR="5080" indent="-466725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May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be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seen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as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part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more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general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quality </a:t>
            </a:r>
            <a:r>
              <a:rPr dirty="0" sz="2800">
                <a:latin typeface="Arial MT"/>
                <a:cs typeface="Arial MT"/>
              </a:rPr>
              <a:t>management</a:t>
            </a:r>
            <a:r>
              <a:rPr dirty="0" sz="2800" spc="-14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process</a:t>
            </a:r>
            <a:endParaRPr sz="2800">
              <a:latin typeface="Arial MT"/>
              <a:cs typeface="Arial MT"/>
            </a:endParaRPr>
          </a:p>
          <a:p>
            <a:pPr marL="478790" marR="247015" indent="-466725">
              <a:lnSpc>
                <a:spcPct val="100000"/>
              </a:lnSpc>
              <a:spcBef>
                <a:spcPts val="670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When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released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CM,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software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systems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are </a:t>
            </a:r>
            <a:r>
              <a:rPr dirty="0" sz="2800">
                <a:latin typeface="Arial MT"/>
                <a:cs typeface="Arial MT"/>
              </a:rPr>
              <a:t>sometimes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called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i="1">
                <a:latin typeface="Arial"/>
                <a:cs typeface="Arial"/>
              </a:rPr>
              <a:t>baselines</a:t>
            </a:r>
            <a:r>
              <a:rPr dirty="0" sz="2800" spc="-60" i="1">
                <a:latin typeface="Arial"/>
                <a:cs typeface="Arial"/>
              </a:rPr>
              <a:t> </a:t>
            </a:r>
            <a:r>
              <a:rPr dirty="0" sz="2800">
                <a:latin typeface="Arial MT"/>
                <a:cs typeface="Arial MT"/>
              </a:rPr>
              <a:t>as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they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are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 spc="-60">
                <a:latin typeface="Arial MT"/>
                <a:cs typeface="Arial MT"/>
              </a:rPr>
              <a:t>a </a:t>
            </a:r>
            <a:r>
              <a:rPr dirty="0" sz="2800">
                <a:latin typeface="Arial MT"/>
                <a:cs typeface="Arial MT"/>
              </a:rPr>
              <a:t>starting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point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for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further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development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/>
              <a:t>System</a:t>
            </a:r>
            <a:r>
              <a:rPr dirty="0" spc="-160"/>
              <a:t> </a:t>
            </a:r>
            <a:r>
              <a:rPr dirty="0" spc="-10"/>
              <a:t>families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551" y="2163979"/>
            <a:ext cx="8441651" cy="3080154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/>
              <a:t>CM</a:t>
            </a:r>
            <a:r>
              <a:rPr dirty="0" spc="-65"/>
              <a:t> </a:t>
            </a:r>
            <a:r>
              <a:rPr dirty="0" spc="-10"/>
              <a:t>standards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59130" y="1699641"/>
            <a:ext cx="8064500" cy="42271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78790" marR="260350" indent="-466725">
              <a:lnSpc>
                <a:spcPct val="100000"/>
              </a:lnSpc>
              <a:spcBef>
                <a:spcPts val="10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600">
                <a:latin typeface="Arial MT"/>
                <a:cs typeface="Arial MT"/>
              </a:rPr>
              <a:t>CM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should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always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be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based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on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set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of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standards </a:t>
            </a:r>
            <a:r>
              <a:rPr dirty="0" sz="2600">
                <a:latin typeface="Arial MT"/>
                <a:cs typeface="Arial MT"/>
              </a:rPr>
              <a:t>which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are</a:t>
            </a:r>
            <a:r>
              <a:rPr dirty="0" sz="2600" spc="-2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applied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within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organisation</a:t>
            </a:r>
            <a:endParaRPr sz="2600">
              <a:latin typeface="Arial MT"/>
              <a:cs typeface="Arial MT"/>
            </a:endParaRPr>
          </a:p>
          <a:p>
            <a:pPr marL="478790" marR="169545" indent="-466725">
              <a:lnSpc>
                <a:spcPct val="100000"/>
              </a:lnSpc>
              <a:spcBef>
                <a:spcPts val="620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600">
                <a:latin typeface="Arial MT"/>
                <a:cs typeface="Arial MT"/>
              </a:rPr>
              <a:t>Standards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should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define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how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items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are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identified, </a:t>
            </a:r>
            <a:r>
              <a:rPr dirty="0" sz="2600">
                <a:latin typeface="Arial MT"/>
                <a:cs typeface="Arial MT"/>
              </a:rPr>
              <a:t>how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changes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are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controlled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and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how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new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versions </a:t>
            </a:r>
            <a:r>
              <a:rPr dirty="0" sz="2600">
                <a:latin typeface="Arial MT"/>
                <a:cs typeface="Arial MT"/>
              </a:rPr>
              <a:t>are</a:t>
            </a:r>
            <a:r>
              <a:rPr dirty="0" sz="2600" spc="-10">
                <a:latin typeface="Arial MT"/>
                <a:cs typeface="Arial MT"/>
              </a:rPr>
              <a:t> managed</a:t>
            </a:r>
            <a:endParaRPr sz="2600">
              <a:latin typeface="Arial MT"/>
              <a:cs typeface="Arial MT"/>
            </a:endParaRPr>
          </a:p>
          <a:p>
            <a:pPr marL="478790" marR="22860" indent="-466725">
              <a:lnSpc>
                <a:spcPct val="100000"/>
              </a:lnSpc>
              <a:spcBef>
                <a:spcPts val="630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600">
                <a:latin typeface="Arial MT"/>
                <a:cs typeface="Arial MT"/>
              </a:rPr>
              <a:t>Standards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may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based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on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external</a:t>
            </a:r>
            <a:r>
              <a:rPr dirty="0" sz="2600" spc="-6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CM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standards </a:t>
            </a:r>
            <a:r>
              <a:rPr dirty="0" sz="2600">
                <a:latin typeface="Arial MT"/>
                <a:cs typeface="Arial MT"/>
              </a:rPr>
              <a:t>(e.g.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IEEE</a:t>
            </a:r>
            <a:r>
              <a:rPr dirty="0" sz="2600" spc="-1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standard</a:t>
            </a:r>
            <a:r>
              <a:rPr dirty="0" sz="2600" spc="-2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-5">
                <a:latin typeface="Arial MT"/>
                <a:cs typeface="Arial MT"/>
              </a:rPr>
              <a:t> </a:t>
            </a:r>
            <a:r>
              <a:rPr dirty="0" sz="2600" spc="-25">
                <a:latin typeface="Arial MT"/>
                <a:cs typeface="Arial MT"/>
              </a:rPr>
              <a:t>CM)</a:t>
            </a:r>
            <a:endParaRPr sz="2600">
              <a:latin typeface="Arial MT"/>
              <a:cs typeface="Arial MT"/>
            </a:endParaRPr>
          </a:p>
          <a:p>
            <a:pPr marL="478790" marR="5080" indent="-466725">
              <a:lnSpc>
                <a:spcPct val="100000"/>
              </a:lnSpc>
              <a:spcBef>
                <a:spcPts val="62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600">
                <a:latin typeface="Arial MT"/>
                <a:cs typeface="Arial MT"/>
              </a:rPr>
              <a:t>Existing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standards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are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based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on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</a:t>
            </a:r>
            <a:r>
              <a:rPr dirty="0" sz="2600" spc="-3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waterfall</a:t>
            </a:r>
            <a:r>
              <a:rPr dirty="0" sz="2600" spc="-6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process </a:t>
            </a:r>
            <a:r>
              <a:rPr dirty="0" sz="2600">
                <a:latin typeface="Arial MT"/>
                <a:cs typeface="Arial MT"/>
              </a:rPr>
              <a:t>model</a:t>
            </a:r>
            <a:r>
              <a:rPr dirty="0" sz="2600" spc="-5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-</a:t>
            </a:r>
            <a:r>
              <a:rPr dirty="0" sz="2600" spc="-4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new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standards</a:t>
            </a:r>
            <a:r>
              <a:rPr dirty="0" sz="2600" spc="-55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are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needed</a:t>
            </a:r>
            <a:r>
              <a:rPr dirty="0" sz="2600" spc="-30">
                <a:latin typeface="Arial MT"/>
                <a:cs typeface="Arial MT"/>
              </a:rPr>
              <a:t> </a:t>
            </a:r>
            <a:r>
              <a:rPr dirty="0" sz="2600">
                <a:latin typeface="Arial MT"/>
                <a:cs typeface="Arial MT"/>
              </a:rPr>
              <a:t>for</a:t>
            </a:r>
            <a:r>
              <a:rPr dirty="0" sz="2600" spc="-40">
                <a:latin typeface="Arial MT"/>
                <a:cs typeface="Arial MT"/>
              </a:rPr>
              <a:t> </a:t>
            </a:r>
            <a:r>
              <a:rPr dirty="0" sz="2600" spc="-10">
                <a:latin typeface="Arial MT"/>
                <a:cs typeface="Arial MT"/>
              </a:rPr>
              <a:t>evolutionary development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197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Concurrent</a:t>
            </a:r>
            <a:r>
              <a:rPr dirty="0" sz="3600" spc="-20"/>
              <a:t> </a:t>
            </a:r>
            <a:r>
              <a:rPr dirty="0" sz="3600"/>
              <a:t>development</a:t>
            </a:r>
            <a:r>
              <a:rPr dirty="0" sz="3600" spc="-20"/>
              <a:t> </a:t>
            </a:r>
            <a:r>
              <a:rPr dirty="0" sz="3600"/>
              <a:t>and</a:t>
            </a:r>
            <a:r>
              <a:rPr dirty="0" sz="3600" spc="-35"/>
              <a:t> </a:t>
            </a:r>
            <a:r>
              <a:rPr dirty="0" sz="3600" spc="-10"/>
              <a:t>testing</a:t>
            </a:r>
            <a:endParaRPr sz="3600"/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59130" y="1699641"/>
            <a:ext cx="7672705" cy="4122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8790" marR="344170" indent="-466725">
              <a:lnSpc>
                <a:spcPct val="100000"/>
              </a:lnSpc>
              <a:spcBef>
                <a:spcPts val="9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1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time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for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delivery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system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components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is </a:t>
            </a:r>
            <a:r>
              <a:rPr dirty="0" sz="2800" spc="-10">
                <a:latin typeface="Arial MT"/>
                <a:cs typeface="Arial MT"/>
              </a:rPr>
              <a:t>agreed</a:t>
            </a:r>
            <a:endParaRPr sz="2800">
              <a:latin typeface="Arial MT"/>
              <a:cs typeface="Arial MT"/>
            </a:endParaRPr>
          </a:p>
          <a:p>
            <a:pPr marL="478790" marR="165735" indent="-466725">
              <a:lnSpc>
                <a:spcPct val="100000"/>
              </a:lnSpc>
              <a:spcBef>
                <a:spcPts val="670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1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new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version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system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is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built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from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these </a:t>
            </a:r>
            <a:r>
              <a:rPr dirty="0" sz="2800">
                <a:latin typeface="Arial MT"/>
                <a:cs typeface="Arial MT"/>
              </a:rPr>
              <a:t>components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by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compiling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linking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them</a:t>
            </a:r>
            <a:endParaRPr sz="2800">
              <a:latin typeface="Arial MT"/>
              <a:cs typeface="Arial MT"/>
            </a:endParaRPr>
          </a:p>
          <a:p>
            <a:pPr marL="478790" marR="5080" indent="-466725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This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new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version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delivered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for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testing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using pre-</a:t>
            </a:r>
            <a:r>
              <a:rPr dirty="0" sz="2800">
                <a:latin typeface="Arial MT"/>
                <a:cs typeface="Arial MT"/>
              </a:rPr>
              <a:t>defined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tests</a:t>
            </a:r>
            <a:endParaRPr sz="2800">
              <a:latin typeface="Arial MT"/>
              <a:cs typeface="Arial MT"/>
            </a:endParaRPr>
          </a:p>
          <a:p>
            <a:pPr marL="478790" marR="241300" indent="-466725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Faults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that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are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discovered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during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testing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are </a:t>
            </a:r>
            <a:r>
              <a:rPr dirty="0" sz="2800">
                <a:latin typeface="Arial MT"/>
                <a:cs typeface="Arial MT"/>
              </a:rPr>
              <a:t>documented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returned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system developers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/>
              <a:t>Daily</a:t>
            </a:r>
            <a:r>
              <a:rPr dirty="0" spc="-135"/>
              <a:t> </a:t>
            </a:r>
            <a:r>
              <a:rPr dirty="0"/>
              <a:t>system</a:t>
            </a:r>
            <a:r>
              <a:rPr dirty="0" spc="-130"/>
              <a:t> </a:t>
            </a:r>
            <a:r>
              <a:rPr dirty="0" spc="-10"/>
              <a:t>building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59130" y="1699641"/>
            <a:ext cx="7993380" cy="36099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8790" marR="640080" indent="-466725">
              <a:lnSpc>
                <a:spcPct val="100000"/>
              </a:lnSpc>
              <a:spcBef>
                <a:spcPts val="9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It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is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easier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find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problems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that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stem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from </a:t>
            </a:r>
            <a:r>
              <a:rPr dirty="0" sz="2800">
                <a:latin typeface="Arial MT"/>
                <a:cs typeface="Arial MT"/>
              </a:rPr>
              <a:t>component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interactions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early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process</a:t>
            </a:r>
            <a:endParaRPr sz="2800">
              <a:latin typeface="Arial MT"/>
              <a:cs typeface="Arial MT"/>
            </a:endParaRPr>
          </a:p>
          <a:p>
            <a:pPr marL="478790" marR="5080" indent="-466725">
              <a:lnSpc>
                <a:spcPct val="100000"/>
              </a:lnSpc>
              <a:spcBef>
                <a:spcPts val="670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This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encourages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thorough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unit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testing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50">
                <a:latin typeface="Arial MT"/>
                <a:cs typeface="Arial MT"/>
              </a:rPr>
              <a:t>- </a:t>
            </a:r>
            <a:r>
              <a:rPr dirty="0" sz="2800">
                <a:latin typeface="Arial MT"/>
                <a:cs typeface="Arial MT"/>
              </a:rPr>
              <a:t>developers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are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under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pressure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not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‘break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the </a:t>
            </a:r>
            <a:r>
              <a:rPr dirty="0" sz="2800" spc="-10">
                <a:latin typeface="Arial MT"/>
                <a:cs typeface="Arial MT"/>
              </a:rPr>
              <a:t>build’</a:t>
            </a:r>
            <a:endParaRPr sz="2800">
              <a:latin typeface="Arial MT"/>
              <a:cs typeface="Arial MT"/>
            </a:endParaRPr>
          </a:p>
          <a:p>
            <a:pPr marL="478790" marR="539750" indent="-466725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1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stringent</a:t>
            </a:r>
            <a:r>
              <a:rPr dirty="0" sz="2800" spc="-1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change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management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process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is </a:t>
            </a:r>
            <a:r>
              <a:rPr dirty="0" sz="2800">
                <a:latin typeface="Arial MT"/>
                <a:cs typeface="Arial MT"/>
              </a:rPr>
              <a:t>required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keep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track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problems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that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have </a:t>
            </a:r>
            <a:r>
              <a:rPr dirty="0" sz="2800">
                <a:latin typeface="Arial MT"/>
                <a:cs typeface="Arial MT"/>
              </a:rPr>
              <a:t>been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discovered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repaired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59130" y="1699641"/>
            <a:ext cx="7769225" cy="364680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8790" marR="5080" indent="-466725">
              <a:lnSpc>
                <a:spcPct val="100000"/>
              </a:lnSpc>
              <a:spcBef>
                <a:spcPts val="9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All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products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software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process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may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have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be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managed</a:t>
            </a:r>
            <a:endParaRPr sz="2800">
              <a:latin typeface="Arial MT"/>
              <a:cs typeface="Arial MT"/>
            </a:endParaRPr>
          </a:p>
          <a:p>
            <a:pPr lvl="1" marL="1053465" indent="-460375">
              <a:lnSpc>
                <a:spcPct val="100000"/>
              </a:lnSpc>
              <a:spcBef>
                <a:spcPts val="500"/>
              </a:spcBef>
              <a:buChar char="•"/>
              <a:tabLst>
                <a:tab pos="1053465" algn="l"/>
              </a:tabLst>
            </a:pPr>
            <a:r>
              <a:rPr dirty="0" sz="2000" spc="-10">
                <a:latin typeface="Arial MT"/>
                <a:cs typeface="Arial MT"/>
              </a:rPr>
              <a:t>Specifications</a:t>
            </a:r>
            <a:endParaRPr sz="2000">
              <a:latin typeface="Arial MT"/>
              <a:cs typeface="Arial MT"/>
            </a:endParaRPr>
          </a:p>
          <a:p>
            <a:pPr lvl="1" marL="1053465" indent="-460375">
              <a:lnSpc>
                <a:spcPct val="100000"/>
              </a:lnSpc>
              <a:spcBef>
                <a:spcPts val="480"/>
              </a:spcBef>
              <a:buChar char="•"/>
              <a:tabLst>
                <a:tab pos="1053465" algn="l"/>
              </a:tabLst>
            </a:pPr>
            <a:r>
              <a:rPr dirty="0" sz="2000" spc="-10">
                <a:latin typeface="Arial MT"/>
                <a:cs typeface="Arial MT"/>
              </a:rPr>
              <a:t>Designs</a:t>
            </a:r>
            <a:endParaRPr sz="2000">
              <a:latin typeface="Arial MT"/>
              <a:cs typeface="Arial MT"/>
            </a:endParaRPr>
          </a:p>
          <a:p>
            <a:pPr lvl="1" marL="1053465" indent="-460375">
              <a:lnSpc>
                <a:spcPct val="100000"/>
              </a:lnSpc>
              <a:spcBef>
                <a:spcPts val="480"/>
              </a:spcBef>
              <a:buChar char="•"/>
              <a:tabLst>
                <a:tab pos="1053465" algn="l"/>
              </a:tabLst>
            </a:pPr>
            <a:r>
              <a:rPr dirty="0" sz="2000" spc="-10">
                <a:latin typeface="Arial MT"/>
                <a:cs typeface="Arial MT"/>
              </a:rPr>
              <a:t>Programs</a:t>
            </a:r>
            <a:endParaRPr sz="2000">
              <a:latin typeface="Arial MT"/>
              <a:cs typeface="Arial MT"/>
            </a:endParaRPr>
          </a:p>
          <a:p>
            <a:pPr lvl="1" marL="1053465" indent="-460375">
              <a:lnSpc>
                <a:spcPct val="100000"/>
              </a:lnSpc>
              <a:spcBef>
                <a:spcPts val="480"/>
              </a:spcBef>
              <a:buChar char="•"/>
              <a:tabLst>
                <a:tab pos="1053465" algn="l"/>
              </a:tabLst>
            </a:pPr>
            <a:r>
              <a:rPr dirty="0" sz="2000" spc="-45">
                <a:latin typeface="Arial MT"/>
                <a:cs typeface="Arial MT"/>
              </a:rPr>
              <a:t>Test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data</a:t>
            </a:r>
            <a:endParaRPr sz="2000">
              <a:latin typeface="Arial MT"/>
              <a:cs typeface="Arial MT"/>
            </a:endParaRPr>
          </a:p>
          <a:p>
            <a:pPr lvl="1" marL="1053465" indent="-460375">
              <a:lnSpc>
                <a:spcPct val="100000"/>
              </a:lnSpc>
              <a:spcBef>
                <a:spcPts val="480"/>
              </a:spcBef>
              <a:buChar char="•"/>
              <a:tabLst>
                <a:tab pos="1053465" algn="l"/>
              </a:tabLst>
            </a:pPr>
            <a:r>
              <a:rPr dirty="0" sz="2000">
                <a:latin typeface="Arial MT"/>
                <a:cs typeface="Arial MT"/>
              </a:rPr>
              <a:t>User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manuals</a:t>
            </a:r>
            <a:endParaRPr sz="2000">
              <a:latin typeface="Arial MT"/>
              <a:cs typeface="Arial MT"/>
            </a:endParaRPr>
          </a:p>
          <a:p>
            <a:pPr marL="478790" marR="1187450" indent="-466725">
              <a:lnSpc>
                <a:spcPct val="100000"/>
              </a:lnSpc>
              <a:spcBef>
                <a:spcPts val="65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Thousands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1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separate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documents</a:t>
            </a:r>
            <a:r>
              <a:rPr dirty="0" sz="2800" spc="-10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are </a:t>
            </a:r>
            <a:r>
              <a:rPr dirty="0" sz="2800">
                <a:latin typeface="Arial MT"/>
                <a:cs typeface="Arial MT"/>
              </a:rPr>
              <a:t>generated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for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large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software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system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105"/>
              </a:spcBef>
            </a:pPr>
            <a:r>
              <a:rPr dirty="0" sz="3800"/>
              <a:t>Configuration</a:t>
            </a:r>
            <a:r>
              <a:rPr dirty="0" sz="3800" spc="-80"/>
              <a:t> </a:t>
            </a:r>
            <a:r>
              <a:rPr dirty="0" sz="3800"/>
              <a:t>management</a:t>
            </a:r>
            <a:r>
              <a:rPr dirty="0" sz="3800" spc="-85"/>
              <a:t> </a:t>
            </a:r>
            <a:r>
              <a:rPr dirty="0" sz="3800" spc="-10"/>
              <a:t>planning</a:t>
            </a:r>
            <a:endParaRPr sz="3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59130" y="1613687"/>
            <a:ext cx="7694930" cy="326961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478790" indent="-466090">
              <a:lnSpc>
                <a:spcPct val="100000"/>
              </a:lnSpc>
              <a:spcBef>
                <a:spcPts val="770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Starts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during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early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phases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project</a:t>
            </a:r>
            <a:endParaRPr sz="2800">
              <a:latin typeface="Arial MT"/>
              <a:cs typeface="Arial MT"/>
            </a:endParaRPr>
          </a:p>
          <a:p>
            <a:pPr marL="478790" marR="601980" indent="-466725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Must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define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documents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or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document </a:t>
            </a:r>
            <a:r>
              <a:rPr dirty="0" sz="2800">
                <a:latin typeface="Arial MT"/>
                <a:cs typeface="Arial MT"/>
              </a:rPr>
              <a:t>classes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which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are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managed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(Formal documents)</a:t>
            </a:r>
            <a:endParaRPr sz="2800">
              <a:latin typeface="Arial MT"/>
              <a:cs typeface="Arial MT"/>
            </a:endParaRPr>
          </a:p>
          <a:p>
            <a:pPr algn="just" marL="478790" marR="5080" indent="-466725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Documents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which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might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required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for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future </a:t>
            </a:r>
            <a:r>
              <a:rPr dirty="0" sz="2800">
                <a:latin typeface="Arial MT"/>
                <a:cs typeface="Arial MT"/>
              </a:rPr>
              <a:t>system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maintenance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should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be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identified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and </a:t>
            </a:r>
            <a:r>
              <a:rPr dirty="0" sz="2800">
                <a:latin typeface="Arial MT"/>
                <a:cs typeface="Arial MT"/>
              </a:rPr>
              <a:t>specified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as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managed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documents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/>
              <a:t>CM</a:t>
            </a:r>
            <a:r>
              <a:rPr dirty="0" spc="-65"/>
              <a:t> </a:t>
            </a:r>
            <a:r>
              <a:rPr dirty="0" spc="-10"/>
              <a:t>planning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59130" y="1699641"/>
            <a:ext cx="7947025" cy="3695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8790" marR="5080" indent="-466725">
              <a:lnSpc>
                <a:spcPct val="100000"/>
              </a:lnSpc>
              <a:spcBef>
                <a:spcPts val="9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Defines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types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documents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managed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document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naming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scheme</a:t>
            </a:r>
            <a:endParaRPr sz="2800">
              <a:latin typeface="Arial MT"/>
              <a:cs typeface="Arial MT"/>
            </a:endParaRPr>
          </a:p>
          <a:p>
            <a:pPr marL="478790" marR="635000" indent="-466725">
              <a:lnSpc>
                <a:spcPct val="100000"/>
              </a:lnSpc>
              <a:spcBef>
                <a:spcPts val="670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Defines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who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takes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responsibility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for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CM </a:t>
            </a:r>
            <a:r>
              <a:rPr dirty="0" sz="2800">
                <a:latin typeface="Arial MT"/>
                <a:cs typeface="Arial MT"/>
              </a:rPr>
              <a:t>procedures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creation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baselines</a:t>
            </a:r>
            <a:endParaRPr sz="2800">
              <a:latin typeface="Arial MT"/>
              <a:cs typeface="Arial MT"/>
            </a:endParaRPr>
          </a:p>
          <a:p>
            <a:pPr marL="478790" marR="79375" indent="-466725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Defines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policies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for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change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control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version management</a:t>
            </a:r>
            <a:endParaRPr sz="2800">
              <a:latin typeface="Arial MT"/>
              <a:cs typeface="Arial MT"/>
            </a:endParaRPr>
          </a:p>
          <a:p>
            <a:pPr marL="478790" marR="1350010" indent="-466725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Defines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CM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records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which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must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be </a:t>
            </a:r>
            <a:r>
              <a:rPr dirty="0" sz="2800" spc="-10">
                <a:latin typeface="Arial MT"/>
                <a:cs typeface="Arial MT"/>
              </a:rPr>
              <a:t>maintained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dirty="0" spc="-60"/>
              <a:t> </a:t>
            </a:r>
            <a:r>
              <a:rPr dirty="0"/>
              <a:t>CM</a:t>
            </a:r>
            <a:r>
              <a:rPr dirty="0" spc="-40"/>
              <a:t> </a:t>
            </a:r>
            <a:r>
              <a:rPr dirty="0" spc="-20"/>
              <a:t>plan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dirty="0" spc="-60"/>
              <a:t> </a:t>
            </a:r>
            <a:r>
              <a:rPr dirty="0"/>
              <a:t>CM</a:t>
            </a:r>
            <a:r>
              <a:rPr dirty="0" spc="-40"/>
              <a:t> </a:t>
            </a:r>
            <a:r>
              <a:rPr dirty="0" spc="-20"/>
              <a:t>plan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59130" y="1699641"/>
            <a:ext cx="7531734" cy="3695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478790" marR="5080" indent="-466725">
              <a:lnSpc>
                <a:spcPct val="100000"/>
              </a:lnSpc>
              <a:spcBef>
                <a:spcPts val="9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Describes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tools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which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should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be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used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to </a:t>
            </a:r>
            <a:r>
              <a:rPr dirty="0" sz="2800">
                <a:latin typeface="Arial MT"/>
                <a:cs typeface="Arial MT"/>
              </a:rPr>
              <a:t>assist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CM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process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any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limitations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on </a:t>
            </a:r>
            <a:r>
              <a:rPr dirty="0" sz="2800">
                <a:latin typeface="Arial MT"/>
                <a:cs typeface="Arial MT"/>
              </a:rPr>
              <a:t>their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use</a:t>
            </a:r>
            <a:endParaRPr sz="2800">
              <a:latin typeface="Arial MT"/>
              <a:cs typeface="Arial MT"/>
            </a:endParaRPr>
          </a:p>
          <a:p>
            <a:pPr algn="just" marL="478790" indent="-466090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Defines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process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tool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use</a:t>
            </a:r>
            <a:endParaRPr sz="2800">
              <a:latin typeface="Arial MT"/>
              <a:cs typeface="Arial MT"/>
            </a:endParaRPr>
          </a:p>
          <a:p>
            <a:pPr marL="478790" marR="655320" indent="-466725">
              <a:lnSpc>
                <a:spcPct val="100000"/>
              </a:lnSpc>
              <a:spcBef>
                <a:spcPts val="670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Defines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CM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database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used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record </a:t>
            </a:r>
            <a:r>
              <a:rPr dirty="0" sz="2800">
                <a:latin typeface="Arial MT"/>
                <a:cs typeface="Arial MT"/>
              </a:rPr>
              <a:t>configuration</a:t>
            </a:r>
            <a:r>
              <a:rPr dirty="0" sz="2800" spc="-18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information</a:t>
            </a:r>
            <a:endParaRPr sz="2800">
              <a:latin typeface="Arial MT"/>
              <a:cs typeface="Arial MT"/>
            </a:endParaRPr>
          </a:p>
          <a:p>
            <a:pPr marL="478790" marR="318770" indent="-466725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May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include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information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such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CM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of </a:t>
            </a:r>
            <a:r>
              <a:rPr dirty="0" sz="2800">
                <a:latin typeface="Arial MT"/>
                <a:cs typeface="Arial MT"/>
              </a:rPr>
              <a:t>external</a:t>
            </a:r>
            <a:r>
              <a:rPr dirty="0" sz="2800" spc="-10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software,</a:t>
            </a:r>
            <a:r>
              <a:rPr dirty="0" sz="2800" spc="-10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process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auditing,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etc.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59130" y="1699641"/>
            <a:ext cx="7934325" cy="3695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8790" marR="303530" indent="-466725">
              <a:lnSpc>
                <a:spcPct val="100000"/>
              </a:lnSpc>
              <a:spcBef>
                <a:spcPts val="9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Large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projects</a:t>
            </a:r>
            <a:r>
              <a:rPr dirty="0" sz="2800" spc="-10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typically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produce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thousands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of </a:t>
            </a:r>
            <a:r>
              <a:rPr dirty="0" sz="2800">
                <a:latin typeface="Arial MT"/>
                <a:cs typeface="Arial MT"/>
              </a:rPr>
              <a:t>documents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which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must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be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uniquely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identified</a:t>
            </a:r>
            <a:endParaRPr sz="2800">
              <a:latin typeface="Arial MT"/>
              <a:cs typeface="Arial MT"/>
            </a:endParaRPr>
          </a:p>
          <a:p>
            <a:pPr marL="478790" marR="107314" indent="-466725">
              <a:lnSpc>
                <a:spcPct val="100000"/>
              </a:lnSpc>
              <a:spcBef>
                <a:spcPts val="670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Some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these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documents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must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maintained </a:t>
            </a:r>
            <a:r>
              <a:rPr dirty="0" sz="2800">
                <a:latin typeface="Arial MT"/>
                <a:cs typeface="Arial MT"/>
              </a:rPr>
              <a:t>for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lifetime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software</a:t>
            </a:r>
            <a:endParaRPr sz="2800">
              <a:latin typeface="Arial MT"/>
              <a:cs typeface="Arial MT"/>
            </a:endParaRPr>
          </a:p>
          <a:p>
            <a:pPr marL="478790" marR="27940" indent="-466725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Document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naming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scheme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should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be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defined </a:t>
            </a:r>
            <a:r>
              <a:rPr dirty="0" sz="2800">
                <a:latin typeface="Arial MT"/>
                <a:cs typeface="Arial MT"/>
              </a:rPr>
              <a:t>so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that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related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documents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have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related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names.</a:t>
            </a:r>
            <a:endParaRPr sz="2800">
              <a:latin typeface="Arial MT"/>
              <a:cs typeface="Arial MT"/>
            </a:endParaRPr>
          </a:p>
          <a:p>
            <a:pPr marL="478790" marR="5080" indent="-466725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1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hierarchical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scheme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with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multi-</a:t>
            </a:r>
            <a:r>
              <a:rPr dirty="0" sz="2800">
                <a:latin typeface="Arial MT"/>
                <a:cs typeface="Arial MT"/>
              </a:rPr>
              <a:t>level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names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is </a:t>
            </a:r>
            <a:r>
              <a:rPr dirty="0" sz="2800">
                <a:latin typeface="Arial MT"/>
                <a:cs typeface="Arial MT"/>
              </a:rPr>
              <a:t>probably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most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flexible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approach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/>
              <a:t>Configuration</a:t>
            </a:r>
            <a:r>
              <a:rPr dirty="0" spc="-110"/>
              <a:t> </a:t>
            </a:r>
            <a:r>
              <a:rPr dirty="0"/>
              <a:t>item</a:t>
            </a:r>
            <a:r>
              <a:rPr dirty="0" spc="-105"/>
              <a:t> </a:t>
            </a:r>
            <a:r>
              <a:rPr dirty="0" spc="-10"/>
              <a:t>identification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/>
              <a:t>Configuration</a:t>
            </a:r>
            <a:r>
              <a:rPr dirty="0" spc="-135"/>
              <a:t> </a:t>
            </a:r>
            <a:r>
              <a:rPr dirty="0" spc="-10"/>
              <a:t>hierarchy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790" y="1491517"/>
            <a:ext cx="7913557" cy="4863519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59130" y="1699641"/>
            <a:ext cx="8193405" cy="46462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8790" marR="641985" indent="-466725">
              <a:lnSpc>
                <a:spcPct val="100000"/>
              </a:lnSpc>
              <a:spcBef>
                <a:spcPts val="9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All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CM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information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should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maintained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 spc="-50">
                <a:latin typeface="Arial MT"/>
                <a:cs typeface="Arial MT"/>
              </a:rPr>
              <a:t>a </a:t>
            </a:r>
            <a:r>
              <a:rPr dirty="0" sz="2800">
                <a:latin typeface="Arial MT"/>
                <a:cs typeface="Arial MT"/>
              </a:rPr>
              <a:t>configuration</a:t>
            </a:r>
            <a:r>
              <a:rPr dirty="0" sz="2800" spc="-18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database</a:t>
            </a:r>
            <a:endParaRPr sz="2800">
              <a:latin typeface="Arial MT"/>
              <a:cs typeface="Arial MT"/>
            </a:endParaRPr>
          </a:p>
          <a:p>
            <a:pPr marL="478790" marR="5080" indent="-466725">
              <a:lnSpc>
                <a:spcPct val="100000"/>
              </a:lnSpc>
              <a:spcBef>
                <a:spcPts val="670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This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should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allow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queries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about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configurations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to be</a:t>
            </a:r>
            <a:endParaRPr sz="2800">
              <a:latin typeface="Arial MT"/>
              <a:cs typeface="Arial MT"/>
            </a:endParaRPr>
          </a:p>
          <a:p>
            <a:pPr marL="478790">
              <a:lnSpc>
                <a:spcPct val="100000"/>
              </a:lnSpc>
              <a:spcBef>
                <a:spcPts val="5"/>
              </a:spcBef>
            </a:pPr>
            <a:r>
              <a:rPr dirty="0" sz="2800" spc="-10">
                <a:latin typeface="Arial MT"/>
                <a:cs typeface="Arial MT"/>
              </a:rPr>
              <a:t>answered</a:t>
            </a:r>
            <a:endParaRPr sz="2800">
              <a:latin typeface="Arial MT"/>
              <a:cs typeface="Arial MT"/>
            </a:endParaRPr>
          </a:p>
          <a:p>
            <a:pPr lvl="1" marL="1053465" indent="-460375">
              <a:lnSpc>
                <a:spcPct val="100000"/>
              </a:lnSpc>
              <a:spcBef>
                <a:spcPts val="500"/>
              </a:spcBef>
              <a:buChar char="•"/>
              <a:tabLst>
                <a:tab pos="1053465" algn="l"/>
              </a:tabLst>
            </a:pPr>
            <a:r>
              <a:rPr dirty="0" sz="2000">
                <a:latin typeface="Arial MT"/>
                <a:cs typeface="Arial MT"/>
              </a:rPr>
              <a:t>Who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has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particular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system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version?</a:t>
            </a:r>
            <a:endParaRPr sz="2000">
              <a:latin typeface="Arial MT"/>
              <a:cs typeface="Arial MT"/>
            </a:endParaRPr>
          </a:p>
          <a:p>
            <a:pPr lvl="1" marL="1053465" indent="-460375">
              <a:lnSpc>
                <a:spcPct val="100000"/>
              </a:lnSpc>
              <a:spcBef>
                <a:spcPts val="480"/>
              </a:spcBef>
              <a:buChar char="•"/>
              <a:tabLst>
                <a:tab pos="1053465" algn="l"/>
              </a:tabLst>
            </a:pPr>
            <a:r>
              <a:rPr dirty="0" sz="2000">
                <a:latin typeface="Arial MT"/>
                <a:cs typeface="Arial MT"/>
              </a:rPr>
              <a:t>What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platform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required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particular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version?</a:t>
            </a:r>
            <a:endParaRPr sz="2000">
              <a:latin typeface="Arial MT"/>
              <a:cs typeface="Arial MT"/>
            </a:endParaRPr>
          </a:p>
          <a:p>
            <a:pPr lvl="1" marL="1053465" indent="-460375">
              <a:lnSpc>
                <a:spcPct val="100000"/>
              </a:lnSpc>
              <a:spcBef>
                <a:spcPts val="480"/>
              </a:spcBef>
              <a:buChar char="•"/>
              <a:tabLst>
                <a:tab pos="1053465" algn="l"/>
              </a:tabLst>
            </a:pPr>
            <a:r>
              <a:rPr dirty="0" sz="2000">
                <a:latin typeface="Arial MT"/>
                <a:cs typeface="Arial MT"/>
              </a:rPr>
              <a:t>What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versions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are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affected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by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change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component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X?</a:t>
            </a:r>
            <a:endParaRPr sz="2000">
              <a:latin typeface="Arial MT"/>
              <a:cs typeface="Arial MT"/>
            </a:endParaRPr>
          </a:p>
          <a:p>
            <a:pPr lvl="1" marL="1053465" indent="-460375">
              <a:lnSpc>
                <a:spcPct val="100000"/>
              </a:lnSpc>
              <a:spcBef>
                <a:spcPts val="480"/>
              </a:spcBef>
              <a:buChar char="•"/>
              <a:tabLst>
                <a:tab pos="1053465" algn="l"/>
              </a:tabLst>
            </a:pPr>
            <a:r>
              <a:rPr dirty="0" sz="2000">
                <a:latin typeface="Arial MT"/>
                <a:cs typeface="Arial MT"/>
              </a:rPr>
              <a:t>How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many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reported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faults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version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T?</a:t>
            </a:r>
            <a:endParaRPr sz="2000">
              <a:latin typeface="Arial MT"/>
              <a:cs typeface="Arial MT"/>
            </a:endParaRPr>
          </a:p>
          <a:p>
            <a:pPr marL="478790" marR="126364" indent="-466725">
              <a:lnSpc>
                <a:spcPct val="100000"/>
              </a:lnSpc>
              <a:spcBef>
                <a:spcPts val="65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CM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database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should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preferably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linked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to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software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being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managed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82905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dirty="0" spc="-130"/>
              <a:t> </a:t>
            </a:r>
            <a:r>
              <a:rPr dirty="0"/>
              <a:t>configuration</a:t>
            </a:r>
            <a:r>
              <a:rPr dirty="0" spc="-120"/>
              <a:t> </a:t>
            </a:r>
            <a:r>
              <a:rPr dirty="0" spc="-10"/>
              <a:t>database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/>
              <a:t>CM</a:t>
            </a:r>
            <a:r>
              <a:rPr dirty="0" spc="-110"/>
              <a:t> </a:t>
            </a:r>
            <a:r>
              <a:rPr dirty="0"/>
              <a:t>database</a:t>
            </a:r>
            <a:r>
              <a:rPr dirty="0" spc="-85"/>
              <a:t> </a:t>
            </a:r>
            <a:r>
              <a:rPr dirty="0" spc="-10"/>
              <a:t>implementation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59130" y="1699641"/>
            <a:ext cx="8101330" cy="40366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8790" marR="368300" indent="-466725">
              <a:lnSpc>
                <a:spcPct val="100000"/>
              </a:lnSpc>
              <a:spcBef>
                <a:spcPts val="9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May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part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integrated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environment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to </a:t>
            </a:r>
            <a:r>
              <a:rPr dirty="0" sz="2800">
                <a:latin typeface="Arial MT"/>
                <a:cs typeface="Arial MT"/>
              </a:rPr>
              <a:t>support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software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development.</a:t>
            </a:r>
            <a:r>
              <a:rPr dirty="0" sz="2800" spc="-11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CM </a:t>
            </a:r>
            <a:r>
              <a:rPr dirty="0" sz="2800">
                <a:latin typeface="Arial MT"/>
                <a:cs typeface="Arial MT"/>
              </a:rPr>
              <a:t>database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managed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documents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are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all </a:t>
            </a:r>
            <a:r>
              <a:rPr dirty="0" sz="2800">
                <a:latin typeface="Arial MT"/>
                <a:cs typeface="Arial MT"/>
              </a:rPr>
              <a:t>maintained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on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same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system</a:t>
            </a:r>
            <a:endParaRPr sz="2800">
              <a:latin typeface="Arial MT"/>
              <a:cs typeface="Arial MT"/>
            </a:endParaRPr>
          </a:p>
          <a:p>
            <a:pPr algn="just" marL="478790" marR="198755" indent="-466725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CASE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tools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may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be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integrated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with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this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so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that </a:t>
            </a:r>
            <a:r>
              <a:rPr dirty="0" sz="2800">
                <a:latin typeface="Arial MT"/>
                <a:cs typeface="Arial MT"/>
              </a:rPr>
              <a:t>there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is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close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relationship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between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CASE </a:t>
            </a:r>
            <a:r>
              <a:rPr dirty="0" sz="2800">
                <a:latin typeface="Arial MT"/>
                <a:cs typeface="Arial MT"/>
              </a:rPr>
              <a:t>tools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CM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tools</a:t>
            </a:r>
            <a:endParaRPr sz="2800">
              <a:latin typeface="Arial MT"/>
              <a:cs typeface="Arial MT"/>
            </a:endParaRPr>
          </a:p>
          <a:p>
            <a:pPr algn="just" marL="478790" marR="5080" indent="-466725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More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commonly,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CM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database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is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maintained </a:t>
            </a:r>
            <a:r>
              <a:rPr dirty="0" sz="2800">
                <a:latin typeface="Arial MT"/>
                <a:cs typeface="Arial MT"/>
              </a:rPr>
              <a:t>separately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this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is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cheaper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more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flexible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59130" y="1699641"/>
            <a:ext cx="8209915" cy="3768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8790" marR="1158240" indent="-466725">
              <a:lnSpc>
                <a:spcPct val="100000"/>
              </a:lnSpc>
              <a:spcBef>
                <a:spcPts val="9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Software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systems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are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subject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continual </a:t>
            </a:r>
            <a:r>
              <a:rPr dirty="0" sz="2800">
                <a:latin typeface="Arial MT"/>
                <a:cs typeface="Arial MT"/>
              </a:rPr>
              <a:t>change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requests</a:t>
            </a:r>
            <a:endParaRPr sz="2800">
              <a:latin typeface="Arial MT"/>
              <a:cs typeface="Arial MT"/>
            </a:endParaRPr>
          </a:p>
          <a:p>
            <a:pPr lvl="1" marL="1053465" indent="-460375">
              <a:lnSpc>
                <a:spcPct val="100000"/>
              </a:lnSpc>
              <a:spcBef>
                <a:spcPts val="500"/>
              </a:spcBef>
              <a:buChar char="•"/>
              <a:tabLst>
                <a:tab pos="1053465" algn="l"/>
              </a:tabLst>
            </a:pPr>
            <a:r>
              <a:rPr dirty="0" sz="2000">
                <a:latin typeface="Arial MT"/>
                <a:cs typeface="Arial MT"/>
              </a:rPr>
              <a:t>From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users</a:t>
            </a:r>
            <a:endParaRPr sz="2000">
              <a:latin typeface="Arial MT"/>
              <a:cs typeface="Arial MT"/>
            </a:endParaRPr>
          </a:p>
          <a:p>
            <a:pPr lvl="1" marL="1053465" indent="-460375">
              <a:lnSpc>
                <a:spcPct val="100000"/>
              </a:lnSpc>
              <a:spcBef>
                <a:spcPts val="480"/>
              </a:spcBef>
              <a:buChar char="•"/>
              <a:tabLst>
                <a:tab pos="1053465" algn="l"/>
              </a:tabLst>
            </a:pPr>
            <a:r>
              <a:rPr dirty="0" sz="2000">
                <a:latin typeface="Arial MT"/>
                <a:cs typeface="Arial MT"/>
              </a:rPr>
              <a:t>From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developers</a:t>
            </a:r>
            <a:endParaRPr sz="2000">
              <a:latin typeface="Arial MT"/>
              <a:cs typeface="Arial MT"/>
            </a:endParaRPr>
          </a:p>
          <a:p>
            <a:pPr lvl="1" marL="1053465" indent="-460375">
              <a:lnSpc>
                <a:spcPct val="100000"/>
              </a:lnSpc>
              <a:spcBef>
                <a:spcPts val="480"/>
              </a:spcBef>
              <a:buChar char="•"/>
              <a:tabLst>
                <a:tab pos="1053465" algn="l"/>
              </a:tabLst>
            </a:pPr>
            <a:r>
              <a:rPr dirty="0" sz="2000">
                <a:latin typeface="Arial MT"/>
                <a:cs typeface="Arial MT"/>
              </a:rPr>
              <a:t>From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market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forces</a:t>
            </a:r>
            <a:endParaRPr sz="2000">
              <a:latin typeface="Arial MT"/>
              <a:cs typeface="Arial MT"/>
            </a:endParaRPr>
          </a:p>
          <a:p>
            <a:pPr marL="478790" marR="5080" indent="-466725">
              <a:lnSpc>
                <a:spcPct val="100000"/>
              </a:lnSpc>
              <a:spcBef>
                <a:spcPts val="65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  <a:tab pos="4102100" algn="l"/>
              </a:tabLst>
            </a:pPr>
            <a:r>
              <a:rPr dirty="0" sz="2800">
                <a:latin typeface="Arial MT"/>
                <a:cs typeface="Arial MT"/>
              </a:rPr>
              <a:t>Change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management</a:t>
            </a:r>
            <a:r>
              <a:rPr dirty="0" sz="2800">
                <a:latin typeface="Arial MT"/>
                <a:cs typeface="Arial MT"/>
              </a:rPr>
              <a:t>	is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concerned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with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keeping </a:t>
            </a:r>
            <a:r>
              <a:rPr dirty="0" sz="2800">
                <a:latin typeface="Arial MT"/>
                <a:cs typeface="Arial MT"/>
              </a:rPr>
              <a:t>managing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these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changes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ensuring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that </a:t>
            </a:r>
            <a:r>
              <a:rPr dirty="0" sz="2800">
                <a:latin typeface="Arial MT"/>
                <a:cs typeface="Arial MT"/>
              </a:rPr>
              <a:t>they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are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implemented</a:t>
            </a:r>
            <a:r>
              <a:rPr dirty="0" sz="2800" spc="-2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most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cost-</a:t>
            </a:r>
            <a:r>
              <a:rPr dirty="0" sz="2800" spc="-10">
                <a:latin typeface="Arial MT"/>
                <a:cs typeface="Arial MT"/>
              </a:rPr>
              <a:t>effective </a:t>
            </a:r>
            <a:r>
              <a:rPr dirty="0" sz="2800" spc="-25">
                <a:latin typeface="Arial MT"/>
                <a:cs typeface="Arial MT"/>
              </a:rPr>
              <a:t>way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/>
              <a:t>Change</a:t>
            </a:r>
            <a:r>
              <a:rPr dirty="0" spc="-45"/>
              <a:t> </a:t>
            </a:r>
            <a:r>
              <a:rPr dirty="0" spc="-10"/>
              <a:t>management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dirty="0" spc="-130"/>
              <a:t> </a:t>
            </a:r>
            <a:r>
              <a:rPr dirty="0"/>
              <a:t>change</a:t>
            </a:r>
            <a:r>
              <a:rPr dirty="0" spc="-110"/>
              <a:t> </a:t>
            </a:r>
            <a:r>
              <a:rPr dirty="0"/>
              <a:t>management</a:t>
            </a:r>
            <a:r>
              <a:rPr dirty="0" spc="-85"/>
              <a:t> </a:t>
            </a:r>
            <a:r>
              <a:rPr dirty="0" spc="-10"/>
              <a:t>process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4616" y="1480882"/>
            <a:ext cx="5734085" cy="4808031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59130" y="1699641"/>
            <a:ext cx="8013065" cy="40366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8790" marR="226695" indent="-466725">
              <a:lnSpc>
                <a:spcPct val="100000"/>
              </a:lnSpc>
              <a:spcBef>
                <a:spcPts val="9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Definition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change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request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form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is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part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the </a:t>
            </a:r>
            <a:r>
              <a:rPr dirty="0" sz="2800">
                <a:latin typeface="Arial MT"/>
                <a:cs typeface="Arial MT"/>
              </a:rPr>
              <a:t>CM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planning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process</a:t>
            </a:r>
            <a:endParaRPr sz="2800">
              <a:latin typeface="Arial MT"/>
              <a:cs typeface="Arial MT"/>
            </a:endParaRPr>
          </a:p>
          <a:p>
            <a:pPr marL="478790" marR="5080" indent="-466725">
              <a:lnSpc>
                <a:spcPct val="100000"/>
              </a:lnSpc>
              <a:spcBef>
                <a:spcPts val="670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Records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change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required,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suggestor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change, </a:t>
            </a:r>
            <a:r>
              <a:rPr dirty="0" sz="2800">
                <a:latin typeface="Arial MT"/>
                <a:cs typeface="Arial MT"/>
              </a:rPr>
              <a:t>reason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why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change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was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suggested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and </a:t>
            </a:r>
            <a:r>
              <a:rPr dirty="0" sz="2800">
                <a:latin typeface="Arial MT"/>
                <a:cs typeface="Arial MT"/>
              </a:rPr>
              <a:t>urgency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change(from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requestor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the </a:t>
            </a:r>
            <a:r>
              <a:rPr dirty="0" sz="2800" spc="-10">
                <a:latin typeface="Arial MT"/>
                <a:cs typeface="Arial MT"/>
              </a:rPr>
              <a:t>change)</a:t>
            </a:r>
            <a:endParaRPr sz="2800">
              <a:latin typeface="Arial MT"/>
              <a:cs typeface="Arial MT"/>
            </a:endParaRPr>
          </a:p>
          <a:p>
            <a:pPr algn="just" marL="478790" marR="480695" indent="-466725">
              <a:lnSpc>
                <a:spcPct val="100000"/>
              </a:lnSpc>
              <a:spcBef>
                <a:spcPts val="680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Records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change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evaluation,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impact</a:t>
            </a:r>
            <a:r>
              <a:rPr dirty="0" sz="2800" spc="-10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analysis, </a:t>
            </a:r>
            <a:r>
              <a:rPr dirty="0" sz="2800">
                <a:latin typeface="Arial MT"/>
                <a:cs typeface="Arial MT"/>
              </a:rPr>
              <a:t>change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cost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recommendations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(System </a:t>
            </a:r>
            <a:r>
              <a:rPr dirty="0" sz="2800">
                <a:latin typeface="Arial MT"/>
                <a:cs typeface="Arial MT"/>
              </a:rPr>
              <a:t>maintenance</a:t>
            </a:r>
            <a:r>
              <a:rPr dirty="0" sz="2800" spc="-16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staff)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/>
              <a:t>Change</a:t>
            </a:r>
            <a:r>
              <a:rPr dirty="0" spc="-55"/>
              <a:t> </a:t>
            </a:r>
            <a:r>
              <a:rPr dirty="0"/>
              <a:t>request</a:t>
            </a:r>
            <a:r>
              <a:rPr dirty="0" spc="-65"/>
              <a:t> </a:t>
            </a:r>
            <a:r>
              <a:rPr dirty="0" spc="-20"/>
              <a:t>form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/>
              <a:t>Change</a:t>
            </a:r>
            <a:r>
              <a:rPr dirty="0" spc="-55"/>
              <a:t> </a:t>
            </a:r>
            <a:r>
              <a:rPr dirty="0"/>
              <a:t>request</a:t>
            </a:r>
            <a:r>
              <a:rPr dirty="0" spc="-65"/>
              <a:t> </a:t>
            </a:r>
            <a:r>
              <a:rPr dirty="0" spc="-20"/>
              <a:t>form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4203" y="1490200"/>
            <a:ext cx="5130595" cy="4929090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59130" y="1699641"/>
            <a:ext cx="7873365" cy="36099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8790" marR="617220" indent="-466725">
              <a:lnSpc>
                <a:spcPct val="100000"/>
              </a:lnSpc>
              <a:spcBef>
                <a:spcPts val="9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1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major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problem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change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management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is </a:t>
            </a:r>
            <a:r>
              <a:rPr dirty="0" sz="2800">
                <a:latin typeface="Arial MT"/>
                <a:cs typeface="Arial MT"/>
              </a:rPr>
              <a:t>tracking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change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status</a:t>
            </a:r>
            <a:endParaRPr sz="2800">
              <a:latin typeface="Arial MT"/>
              <a:cs typeface="Arial MT"/>
            </a:endParaRPr>
          </a:p>
          <a:p>
            <a:pPr marL="478790" marR="5080" indent="-466725">
              <a:lnSpc>
                <a:spcPct val="100000"/>
              </a:lnSpc>
              <a:spcBef>
                <a:spcPts val="670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Change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tracking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tools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keep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track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status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of </a:t>
            </a:r>
            <a:r>
              <a:rPr dirty="0" sz="2800">
                <a:latin typeface="Arial MT"/>
                <a:cs typeface="Arial MT"/>
              </a:rPr>
              <a:t>each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change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request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automatically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ensure </a:t>
            </a:r>
            <a:r>
              <a:rPr dirty="0" sz="2800">
                <a:latin typeface="Arial MT"/>
                <a:cs typeface="Arial MT"/>
              </a:rPr>
              <a:t>that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change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requests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are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sent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right </a:t>
            </a:r>
            <a:r>
              <a:rPr dirty="0" sz="2800">
                <a:latin typeface="Arial MT"/>
                <a:cs typeface="Arial MT"/>
              </a:rPr>
              <a:t>people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at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right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time.</a:t>
            </a:r>
            <a:endParaRPr sz="2800">
              <a:latin typeface="Arial MT"/>
              <a:cs typeface="Arial MT"/>
            </a:endParaRPr>
          </a:p>
          <a:p>
            <a:pPr marL="478790" marR="1156335" indent="-466725">
              <a:lnSpc>
                <a:spcPct val="100000"/>
              </a:lnSpc>
              <a:spcBef>
                <a:spcPts val="680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Integrated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with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E-mail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systems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allowing </a:t>
            </a:r>
            <a:r>
              <a:rPr dirty="0" sz="2800">
                <a:latin typeface="Arial MT"/>
                <a:cs typeface="Arial MT"/>
              </a:rPr>
              <a:t>electronic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change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request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distribution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/>
              <a:t>Change</a:t>
            </a:r>
            <a:r>
              <a:rPr dirty="0" spc="-95"/>
              <a:t> </a:t>
            </a:r>
            <a:r>
              <a:rPr dirty="0"/>
              <a:t>tracking</a:t>
            </a:r>
            <a:r>
              <a:rPr dirty="0" spc="-105"/>
              <a:t> </a:t>
            </a:r>
            <a:r>
              <a:rPr dirty="0" spc="-10"/>
              <a:t>tools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59130" y="1699641"/>
            <a:ext cx="7940675" cy="40366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8790" marR="5080" indent="-466725">
              <a:lnSpc>
                <a:spcPct val="100000"/>
              </a:lnSpc>
              <a:spcBef>
                <a:spcPts val="9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Changes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should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reviewed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by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external </a:t>
            </a:r>
            <a:r>
              <a:rPr dirty="0" sz="2800">
                <a:latin typeface="Arial MT"/>
                <a:cs typeface="Arial MT"/>
              </a:rPr>
              <a:t>group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who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decide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whether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or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not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they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are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cost- </a:t>
            </a:r>
            <a:r>
              <a:rPr dirty="0" sz="2800">
                <a:latin typeface="Arial MT"/>
                <a:cs typeface="Arial MT"/>
              </a:rPr>
              <a:t>effective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from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strategic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organizational </a:t>
            </a:r>
            <a:r>
              <a:rPr dirty="0" sz="2800">
                <a:latin typeface="Arial MT"/>
                <a:cs typeface="Arial MT"/>
              </a:rPr>
              <a:t>viewpoint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rather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than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technical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viewpoint</a:t>
            </a:r>
            <a:endParaRPr sz="2800">
              <a:latin typeface="Arial MT"/>
              <a:cs typeface="Arial MT"/>
            </a:endParaRPr>
          </a:p>
          <a:p>
            <a:pPr marL="478790" marR="307975" indent="-466725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Should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independent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project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responsible </a:t>
            </a:r>
            <a:r>
              <a:rPr dirty="0" sz="2800">
                <a:latin typeface="Arial MT"/>
                <a:cs typeface="Arial MT"/>
              </a:rPr>
              <a:t>for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system.</a:t>
            </a:r>
            <a:r>
              <a:rPr dirty="0" sz="2800" spc="-1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group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sometimes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called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50">
                <a:latin typeface="Arial MT"/>
                <a:cs typeface="Arial MT"/>
              </a:rPr>
              <a:t>a </a:t>
            </a:r>
            <a:r>
              <a:rPr dirty="0" sz="2800">
                <a:latin typeface="Arial MT"/>
                <a:cs typeface="Arial MT"/>
              </a:rPr>
              <a:t>change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control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board</a:t>
            </a:r>
            <a:endParaRPr sz="2800">
              <a:latin typeface="Arial MT"/>
              <a:cs typeface="Arial MT"/>
            </a:endParaRPr>
          </a:p>
          <a:p>
            <a:pPr marL="478790" marR="587375" indent="-466725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May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include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representatives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from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client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and </a:t>
            </a:r>
            <a:r>
              <a:rPr dirty="0" sz="2800">
                <a:latin typeface="Arial MT"/>
                <a:cs typeface="Arial MT"/>
              </a:rPr>
              <a:t>contractor</a:t>
            </a:r>
            <a:r>
              <a:rPr dirty="0" sz="2800" spc="-110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staff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/>
              <a:t>Change</a:t>
            </a:r>
            <a:r>
              <a:rPr dirty="0" spc="-60"/>
              <a:t> </a:t>
            </a:r>
            <a:r>
              <a:rPr dirty="0"/>
              <a:t>control</a:t>
            </a:r>
            <a:r>
              <a:rPr dirty="0" spc="-70"/>
              <a:t> </a:t>
            </a:r>
            <a:r>
              <a:rPr dirty="0" spc="-10"/>
              <a:t>board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/>
              <a:t>Component</a:t>
            </a:r>
            <a:r>
              <a:rPr dirty="0" spc="-50"/>
              <a:t> </a:t>
            </a:r>
            <a:r>
              <a:rPr dirty="0"/>
              <a:t>header</a:t>
            </a:r>
            <a:r>
              <a:rPr dirty="0" spc="-90"/>
              <a:t> </a:t>
            </a:r>
            <a:r>
              <a:rPr dirty="0" spc="-10"/>
              <a:t>information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395" y="1736152"/>
            <a:ext cx="8507567" cy="4230474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59130" y="1699641"/>
            <a:ext cx="7614920" cy="32689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8790" marR="998219" indent="-466725">
              <a:lnSpc>
                <a:spcPct val="100000"/>
              </a:lnSpc>
              <a:spcBef>
                <a:spcPts val="9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Invent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identification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scheme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for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system versions</a:t>
            </a:r>
            <a:endParaRPr sz="2800">
              <a:latin typeface="Arial MT"/>
              <a:cs typeface="Arial MT"/>
            </a:endParaRPr>
          </a:p>
          <a:p>
            <a:pPr marL="478790" marR="996950" indent="-466725">
              <a:lnSpc>
                <a:spcPct val="100000"/>
              </a:lnSpc>
              <a:spcBef>
                <a:spcPts val="670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Plan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when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new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system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version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is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be </a:t>
            </a:r>
            <a:r>
              <a:rPr dirty="0" sz="2800" spc="-10">
                <a:latin typeface="Arial MT"/>
                <a:cs typeface="Arial MT"/>
              </a:rPr>
              <a:t>produced</a:t>
            </a:r>
            <a:endParaRPr sz="2800">
              <a:latin typeface="Arial MT"/>
              <a:cs typeface="Arial MT"/>
            </a:endParaRPr>
          </a:p>
          <a:p>
            <a:pPr marL="478790" marR="5080" indent="-466725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Ensure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that</a:t>
            </a:r>
            <a:r>
              <a:rPr dirty="0" sz="2800" spc="-10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version</a:t>
            </a:r>
            <a:r>
              <a:rPr dirty="0" sz="2800" spc="-10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management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procedures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tools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are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properly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applied</a:t>
            </a:r>
            <a:endParaRPr sz="2800">
              <a:latin typeface="Arial MT"/>
              <a:cs typeface="Arial MT"/>
            </a:endParaRPr>
          </a:p>
          <a:p>
            <a:pPr marL="478790" indent="-466090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  <a:tab pos="3624579" algn="l"/>
              </a:tabLst>
            </a:pPr>
            <a:r>
              <a:rPr dirty="0" sz="2800">
                <a:latin typeface="Arial MT"/>
                <a:cs typeface="Arial MT"/>
              </a:rPr>
              <a:t>Plan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distribute</a:t>
            </a:r>
            <a:r>
              <a:rPr dirty="0" sz="2800">
                <a:latin typeface="Arial MT"/>
                <a:cs typeface="Arial MT"/>
              </a:rPr>
              <a:t>	new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system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releases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Version</a:t>
            </a:r>
            <a:r>
              <a:rPr dirty="0" spc="-140"/>
              <a:t> </a:t>
            </a:r>
            <a:r>
              <a:rPr dirty="0"/>
              <a:t>and</a:t>
            </a:r>
            <a:r>
              <a:rPr dirty="0" spc="-125"/>
              <a:t> </a:t>
            </a:r>
            <a:r>
              <a:rPr dirty="0"/>
              <a:t>release</a:t>
            </a:r>
            <a:r>
              <a:rPr dirty="0" spc="-125"/>
              <a:t> </a:t>
            </a:r>
            <a:r>
              <a:rPr dirty="0" spc="-10"/>
              <a:t>management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59130" y="1699641"/>
            <a:ext cx="7869555" cy="40366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8790" marR="599440" indent="-466725">
              <a:lnSpc>
                <a:spcPct val="100000"/>
              </a:lnSpc>
              <a:spcBef>
                <a:spcPts val="9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  <a:tab pos="1850389" algn="l"/>
              </a:tabLst>
            </a:pPr>
            <a:r>
              <a:rPr dirty="0" sz="2800" spc="-10" i="1">
                <a:latin typeface="Arial"/>
                <a:cs typeface="Arial"/>
              </a:rPr>
              <a:t>Version</a:t>
            </a:r>
            <a:r>
              <a:rPr dirty="0" sz="2800" i="1">
                <a:latin typeface="Arial"/>
                <a:cs typeface="Arial"/>
              </a:rPr>
              <a:t>	</a:t>
            </a:r>
            <a:r>
              <a:rPr dirty="0" sz="2800">
                <a:latin typeface="Arial MT"/>
                <a:cs typeface="Arial MT"/>
              </a:rPr>
              <a:t>An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instance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system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which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is </a:t>
            </a:r>
            <a:r>
              <a:rPr dirty="0" sz="2800">
                <a:latin typeface="Arial MT"/>
                <a:cs typeface="Arial MT"/>
              </a:rPr>
              <a:t>functionally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distinct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some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way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from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other </a:t>
            </a:r>
            <a:r>
              <a:rPr dirty="0" sz="2800">
                <a:latin typeface="Arial MT"/>
                <a:cs typeface="Arial MT"/>
              </a:rPr>
              <a:t>system</a:t>
            </a:r>
            <a:r>
              <a:rPr dirty="0" sz="2800" spc="-10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instances</a:t>
            </a:r>
            <a:endParaRPr sz="2800">
              <a:latin typeface="Arial MT"/>
              <a:cs typeface="Arial MT"/>
            </a:endParaRPr>
          </a:p>
          <a:p>
            <a:pPr algn="just" marL="478790" marR="948690" indent="-466725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 i="1">
                <a:latin typeface="Arial"/>
                <a:cs typeface="Arial"/>
              </a:rPr>
              <a:t>Variant</a:t>
            </a:r>
            <a:r>
              <a:rPr dirty="0" sz="2800" spc="509" i="1">
                <a:latin typeface="Arial"/>
                <a:cs typeface="Arial"/>
              </a:rPr>
              <a:t> </a:t>
            </a:r>
            <a:r>
              <a:rPr dirty="0" sz="2800">
                <a:latin typeface="Arial MT"/>
                <a:cs typeface="Arial MT"/>
              </a:rPr>
              <a:t>An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instance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system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which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is </a:t>
            </a:r>
            <a:r>
              <a:rPr dirty="0" sz="2800">
                <a:latin typeface="Arial MT"/>
                <a:cs typeface="Arial MT"/>
              </a:rPr>
              <a:t>functionally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identical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but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non-functionally </a:t>
            </a:r>
            <a:r>
              <a:rPr dirty="0" sz="2800">
                <a:latin typeface="Arial MT"/>
                <a:cs typeface="Arial MT"/>
              </a:rPr>
              <a:t>distinct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from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other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instances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system</a:t>
            </a:r>
            <a:endParaRPr sz="2800">
              <a:latin typeface="Arial MT"/>
              <a:cs typeface="Arial MT"/>
            </a:endParaRPr>
          </a:p>
          <a:p>
            <a:pPr marL="478790" marR="5080" indent="-466725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  <a:tab pos="1964689" algn="l"/>
              </a:tabLst>
            </a:pPr>
            <a:r>
              <a:rPr dirty="0" sz="2800" spc="-10" i="1">
                <a:latin typeface="Arial"/>
                <a:cs typeface="Arial"/>
              </a:rPr>
              <a:t>Release</a:t>
            </a:r>
            <a:r>
              <a:rPr dirty="0" sz="2800" i="1">
                <a:latin typeface="Arial"/>
                <a:cs typeface="Arial"/>
              </a:rPr>
              <a:t>	</a:t>
            </a:r>
            <a:r>
              <a:rPr dirty="0" sz="2800">
                <a:latin typeface="Arial MT"/>
                <a:cs typeface="Arial MT"/>
              </a:rPr>
              <a:t>An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instance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system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which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 spc="-35">
                <a:latin typeface="Arial MT"/>
                <a:cs typeface="Arial MT"/>
              </a:rPr>
              <a:t>is </a:t>
            </a:r>
            <a:r>
              <a:rPr dirty="0" sz="2800">
                <a:latin typeface="Arial MT"/>
                <a:cs typeface="Arial MT"/>
              </a:rPr>
              <a:t>distributed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users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outside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development </a:t>
            </a:r>
            <a:r>
              <a:rPr dirty="0" sz="2800" spc="-20">
                <a:latin typeface="Arial MT"/>
                <a:cs typeface="Arial MT"/>
              </a:rPr>
              <a:t>team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9130" y="690829"/>
            <a:ext cx="640207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Versions/variants/releases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Version</a:t>
            </a:r>
            <a:r>
              <a:rPr dirty="0" spc="-215"/>
              <a:t> </a:t>
            </a:r>
            <a:r>
              <a:rPr dirty="0" spc="-10"/>
              <a:t>identification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59130" y="1699641"/>
            <a:ext cx="7298055" cy="3344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8790" marR="5080" indent="-466725">
              <a:lnSpc>
                <a:spcPct val="100000"/>
              </a:lnSpc>
              <a:spcBef>
                <a:spcPts val="9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Procedures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for</a:t>
            </a:r>
            <a:r>
              <a:rPr dirty="0" sz="2800" spc="-10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version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identification</a:t>
            </a:r>
            <a:r>
              <a:rPr dirty="0" sz="2800" spc="-10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should </a:t>
            </a:r>
            <a:r>
              <a:rPr dirty="0" sz="2800">
                <a:latin typeface="Arial MT"/>
                <a:cs typeface="Arial MT"/>
              </a:rPr>
              <a:t>define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unambiguous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way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identifying </a:t>
            </a:r>
            <a:r>
              <a:rPr dirty="0" sz="2800">
                <a:latin typeface="Arial MT"/>
                <a:cs typeface="Arial MT"/>
              </a:rPr>
              <a:t>component</a:t>
            </a:r>
            <a:r>
              <a:rPr dirty="0" sz="2800" spc="-13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versions</a:t>
            </a:r>
            <a:endParaRPr sz="2800">
              <a:latin typeface="Arial MT"/>
              <a:cs typeface="Arial MT"/>
            </a:endParaRPr>
          </a:p>
          <a:p>
            <a:pPr marL="478790" marR="756285" indent="-466725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Three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basic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techniques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for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component identification</a:t>
            </a:r>
            <a:endParaRPr sz="2800">
              <a:latin typeface="Arial MT"/>
              <a:cs typeface="Arial MT"/>
            </a:endParaRPr>
          </a:p>
          <a:p>
            <a:pPr lvl="1" marL="1053465" indent="-460375">
              <a:lnSpc>
                <a:spcPct val="100000"/>
              </a:lnSpc>
              <a:spcBef>
                <a:spcPts val="500"/>
              </a:spcBef>
              <a:buChar char="•"/>
              <a:tabLst>
                <a:tab pos="1053465" algn="l"/>
              </a:tabLst>
            </a:pPr>
            <a:r>
              <a:rPr dirty="0" sz="2000" spc="-10">
                <a:latin typeface="Arial MT"/>
                <a:cs typeface="Arial MT"/>
              </a:rPr>
              <a:t>Version</a:t>
            </a:r>
            <a:r>
              <a:rPr dirty="0" sz="2000" spc="-1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numbering</a:t>
            </a:r>
            <a:endParaRPr sz="2000">
              <a:latin typeface="Arial MT"/>
              <a:cs typeface="Arial MT"/>
            </a:endParaRPr>
          </a:p>
          <a:p>
            <a:pPr lvl="1" marL="1053465" indent="-460375">
              <a:lnSpc>
                <a:spcPct val="100000"/>
              </a:lnSpc>
              <a:spcBef>
                <a:spcPts val="480"/>
              </a:spcBef>
              <a:buChar char="•"/>
              <a:tabLst>
                <a:tab pos="1053465" algn="l"/>
              </a:tabLst>
            </a:pPr>
            <a:r>
              <a:rPr dirty="0" sz="2000" spc="-10">
                <a:latin typeface="Arial MT"/>
                <a:cs typeface="Arial MT"/>
              </a:rPr>
              <a:t>Attribute-</a:t>
            </a:r>
            <a:r>
              <a:rPr dirty="0" sz="2000">
                <a:latin typeface="Arial MT"/>
                <a:cs typeface="Arial MT"/>
              </a:rPr>
              <a:t>based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identification</a:t>
            </a:r>
            <a:endParaRPr sz="2000">
              <a:latin typeface="Arial MT"/>
              <a:cs typeface="Arial MT"/>
            </a:endParaRPr>
          </a:p>
          <a:p>
            <a:pPr lvl="1" marL="1053465" indent="-460375">
              <a:lnSpc>
                <a:spcPct val="100000"/>
              </a:lnSpc>
              <a:spcBef>
                <a:spcPts val="480"/>
              </a:spcBef>
              <a:buChar char="•"/>
              <a:tabLst>
                <a:tab pos="1053465" algn="l"/>
              </a:tabLst>
            </a:pPr>
            <a:r>
              <a:rPr dirty="0" sz="2000" spc="-10">
                <a:latin typeface="Arial MT"/>
                <a:cs typeface="Arial MT"/>
              </a:rPr>
              <a:t>Change-</a:t>
            </a:r>
            <a:r>
              <a:rPr dirty="0" sz="2000">
                <a:latin typeface="Arial MT"/>
                <a:cs typeface="Arial MT"/>
              </a:rPr>
              <a:t>oriented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identification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59130" y="1699641"/>
            <a:ext cx="7950834" cy="28416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8790" indent="-466090">
              <a:lnSpc>
                <a:spcPct val="100000"/>
              </a:lnSpc>
              <a:spcBef>
                <a:spcPts val="9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Simple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naming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scheme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uses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linear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derivation</a:t>
            </a:r>
            <a:endParaRPr sz="2800">
              <a:latin typeface="Arial MT"/>
              <a:cs typeface="Arial MT"/>
            </a:endParaRPr>
          </a:p>
          <a:p>
            <a:pPr marL="478790">
              <a:lnSpc>
                <a:spcPct val="100000"/>
              </a:lnSpc>
            </a:pPr>
            <a:r>
              <a:rPr dirty="0" sz="2800">
                <a:latin typeface="Arial MT"/>
                <a:cs typeface="Arial MT"/>
              </a:rPr>
              <a:t>e.g.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V1,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V1.1,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V1.2,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V2.1,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V2.2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etc.</a:t>
            </a:r>
            <a:endParaRPr sz="2800">
              <a:latin typeface="Arial MT"/>
              <a:cs typeface="Arial MT"/>
            </a:endParaRPr>
          </a:p>
          <a:p>
            <a:pPr marL="478790" marR="1272540" indent="-466725">
              <a:lnSpc>
                <a:spcPct val="100000"/>
              </a:lnSpc>
              <a:spcBef>
                <a:spcPts val="670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Actual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derivation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structure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tree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or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50">
                <a:latin typeface="Arial MT"/>
                <a:cs typeface="Arial MT"/>
              </a:rPr>
              <a:t>a </a:t>
            </a:r>
            <a:r>
              <a:rPr dirty="0" sz="2800">
                <a:latin typeface="Arial MT"/>
                <a:cs typeface="Arial MT"/>
              </a:rPr>
              <a:t>network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rather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than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sequence</a:t>
            </a:r>
            <a:endParaRPr sz="2800">
              <a:latin typeface="Arial MT"/>
              <a:cs typeface="Arial MT"/>
            </a:endParaRPr>
          </a:p>
          <a:p>
            <a:pPr marL="478790" indent="-466090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Names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are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not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meaningful.</a:t>
            </a:r>
            <a:endParaRPr sz="2800">
              <a:latin typeface="Arial MT"/>
              <a:cs typeface="Arial MT"/>
            </a:endParaRPr>
          </a:p>
          <a:p>
            <a:pPr marL="478790" indent="-466090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Hierarchical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naming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scheme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may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be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better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Version</a:t>
            </a:r>
            <a:r>
              <a:rPr dirty="0" spc="-215"/>
              <a:t> </a:t>
            </a:r>
            <a:r>
              <a:rPr dirty="0" spc="-10"/>
              <a:t>numbering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Version</a:t>
            </a:r>
            <a:r>
              <a:rPr dirty="0" spc="-204"/>
              <a:t> </a:t>
            </a:r>
            <a:r>
              <a:rPr dirty="0"/>
              <a:t>derivation</a:t>
            </a:r>
            <a:r>
              <a:rPr dirty="0" spc="-175"/>
              <a:t> </a:t>
            </a:r>
            <a:r>
              <a:rPr dirty="0" spc="-10"/>
              <a:t>structure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4145" y="2020012"/>
            <a:ext cx="8454967" cy="3314348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59130" y="1699641"/>
            <a:ext cx="7966075" cy="4122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8790" marR="5080" indent="-466725">
              <a:lnSpc>
                <a:spcPct val="100000"/>
              </a:lnSpc>
              <a:spcBef>
                <a:spcPts val="9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Attributes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can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be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associated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with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version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with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combination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attributes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identifying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that </a:t>
            </a:r>
            <a:r>
              <a:rPr dirty="0" sz="2800" spc="-10">
                <a:latin typeface="Arial MT"/>
                <a:cs typeface="Arial MT"/>
              </a:rPr>
              <a:t>version</a:t>
            </a:r>
            <a:endParaRPr sz="2800">
              <a:latin typeface="Arial MT"/>
              <a:cs typeface="Arial MT"/>
            </a:endParaRPr>
          </a:p>
          <a:p>
            <a:pPr marL="478790" marR="59690" indent="-466725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Examples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attributes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are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Date,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Creator, </a:t>
            </a:r>
            <a:r>
              <a:rPr dirty="0" sz="2800">
                <a:latin typeface="Arial MT"/>
                <a:cs typeface="Arial MT"/>
              </a:rPr>
              <a:t>Programming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Language,</a:t>
            </a:r>
            <a:r>
              <a:rPr dirty="0" sz="2800" spc="-114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Customer,</a:t>
            </a:r>
            <a:r>
              <a:rPr dirty="0" sz="2800" spc="-1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Status</a:t>
            </a:r>
            <a:r>
              <a:rPr dirty="0" sz="2800" spc="-12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etc.</a:t>
            </a:r>
            <a:endParaRPr sz="2800">
              <a:latin typeface="Arial MT"/>
              <a:cs typeface="Arial MT"/>
            </a:endParaRPr>
          </a:p>
          <a:p>
            <a:pPr marL="478790" marR="259079" indent="-466725">
              <a:lnSpc>
                <a:spcPct val="100000"/>
              </a:lnSpc>
              <a:spcBef>
                <a:spcPts val="670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More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flexible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than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explicit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naming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scheme </a:t>
            </a:r>
            <a:r>
              <a:rPr dirty="0" sz="2800">
                <a:latin typeface="Arial MT"/>
                <a:cs typeface="Arial MT"/>
              </a:rPr>
              <a:t>for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version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retrieval;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Can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cause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problems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with </a:t>
            </a:r>
            <a:r>
              <a:rPr dirty="0" sz="2800" spc="-10">
                <a:latin typeface="Arial MT"/>
                <a:cs typeface="Arial MT"/>
              </a:rPr>
              <a:t>uniqueness</a:t>
            </a:r>
            <a:endParaRPr sz="2800">
              <a:latin typeface="Arial MT"/>
              <a:cs typeface="Arial MT"/>
            </a:endParaRPr>
          </a:p>
          <a:p>
            <a:pPr marL="478790" indent="-466090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Needs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associated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name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for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easy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reference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 spc="-30"/>
              <a:t>Attribute-</a:t>
            </a:r>
            <a:r>
              <a:rPr dirty="0"/>
              <a:t>based</a:t>
            </a:r>
            <a:r>
              <a:rPr dirty="0" spc="100"/>
              <a:t> </a:t>
            </a:r>
            <a:r>
              <a:rPr dirty="0" spc="-10"/>
              <a:t>identification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 spc="-30"/>
              <a:t>Attribute-</a:t>
            </a:r>
            <a:r>
              <a:rPr dirty="0"/>
              <a:t>based</a:t>
            </a:r>
            <a:r>
              <a:rPr dirty="0" spc="100"/>
              <a:t> </a:t>
            </a:r>
            <a:r>
              <a:rPr dirty="0" spc="-10"/>
              <a:t>queries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59130" y="1699641"/>
            <a:ext cx="8187055" cy="26130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8790" marR="5080" indent="-466725">
              <a:lnSpc>
                <a:spcPct val="100000"/>
              </a:lnSpc>
              <a:spcBef>
                <a:spcPts val="9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An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important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advantage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attribute-based </a:t>
            </a:r>
            <a:r>
              <a:rPr dirty="0" sz="2800">
                <a:latin typeface="Arial MT"/>
                <a:cs typeface="Arial MT"/>
              </a:rPr>
              <a:t>identification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that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it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can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support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queries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so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that </a:t>
            </a:r>
            <a:r>
              <a:rPr dirty="0" sz="2800">
                <a:latin typeface="Arial MT"/>
                <a:cs typeface="Arial MT"/>
              </a:rPr>
              <a:t>you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can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find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‘the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most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recent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version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Java’</a:t>
            </a:r>
            <a:r>
              <a:rPr dirty="0" sz="2800" spc="700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etc.</a:t>
            </a:r>
            <a:endParaRPr sz="2800">
              <a:latin typeface="Arial MT"/>
              <a:cs typeface="Arial MT"/>
            </a:endParaRPr>
          </a:p>
          <a:p>
            <a:pPr marL="478790" indent="-466090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 spc="-10">
                <a:latin typeface="Arial MT"/>
                <a:cs typeface="Arial MT"/>
              </a:rPr>
              <a:t>Example</a:t>
            </a:r>
            <a:endParaRPr sz="2800">
              <a:latin typeface="Arial MT"/>
              <a:cs typeface="Arial MT"/>
            </a:endParaRPr>
          </a:p>
          <a:p>
            <a:pPr lvl="1" marL="1053465" indent="-460375">
              <a:lnSpc>
                <a:spcPct val="100000"/>
              </a:lnSpc>
              <a:spcBef>
                <a:spcPts val="500"/>
              </a:spcBef>
              <a:buChar char="•"/>
              <a:tabLst>
                <a:tab pos="1053465" algn="l"/>
              </a:tabLst>
            </a:pPr>
            <a:r>
              <a:rPr dirty="0" sz="2000">
                <a:latin typeface="Arial MT"/>
                <a:cs typeface="Arial MT"/>
              </a:rPr>
              <a:t>AC3D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(language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=Java,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platform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=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NT4,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date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=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Jan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1999)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Change-</a:t>
            </a:r>
            <a:r>
              <a:rPr dirty="0"/>
              <a:t>oriented</a:t>
            </a:r>
            <a:r>
              <a:rPr dirty="0" spc="-70"/>
              <a:t> </a:t>
            </a:r>
            <a:r>
              <a:rPr dirty="0" spc="-10"/>
              <a:t>identification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59130" y="1699641"/>
            <a:ext cx="8030209" cy="45491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8790" marR="420370" indent="-466725">
              <a:lnSpc>
                <a:spcPct val="100000"/>
              </a:lnSpc>
              <a:spcBef>
                <a:spcPts val="9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Integrates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versions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changes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made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to </a:t>
            </a:r>
            <a:r>
              <a:rPr dirty="0" sz="2800">
                <a:latin typeface="Arial MT"/>
                <a:cs typeface="Arial MT"/>
              </a:rPr>
              <a:t>create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these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versions</a:t>
            </a:r>
            <a:endParaRPr sz="2800">
              <a:latin typeface="Arial MT"/>
              <a:cs typeface="Arial MT"/>
            </a:endParaRPr>
          </a:p>
          <a:p>
            <a:pPr marL="478790" indent="-466090">
              <a:lnSpc>
                <a:spcPct val="100000"/>
              </a:lnSpc>
              <a:spcBef>
                <a:spcPts val="670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Used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for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systems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rather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than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components</a:t>
            </a:r>
            <a:endParaRPr sz="2800">
              <a:latin typeface="Arial MT"/>
              <a:cs typeface="Arial MT"/>
            </a:endParaRPr>
          </a:p>
          <a:p>
            <a:pPr marL="478790" marR="378460" indent="-466725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Each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proposed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change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has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change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set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that </a:t>
            </a:r>
            <a:r>
              <a:rPr dirty="0" sz="2800">
                <a:latin typeface="Arial MT"/>
                <a:cs typeface="Arial MT"/>
              </a:rPr>
              <a:t>describes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changes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made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implement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that </a:t>
            </a:r>
            <a:r>
              <a:rPr dirty="0" sz="2800" spc="-10">
                <a:latin typeface="Arial MT"/>
                <a:cs typeface="Arial MT"/>
              </a:rPr>
              <a:t>change</a:t>
            </a:r>
            <a:endParaRPr sz="2800">
              <a:latin typeface="Arial MT"/>
              <a:cs typeface="Arial MT"/>
            </a:endParaRPr>
          </a:p>
          <a:p>
            <a:pPr marL="478790" marR="5080" indent="-466725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Change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sets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are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applied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sequence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so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that,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in </a:t>
            </a:r>
            <a:r>
              <a:rPr dirty="0" sz="2800">
                <a:latin typeface="Arial MT"/>
                <a:cs typeface="Arial MT"/>
              </a:rPr>
              <a:t>principle,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version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system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that </a:t>
            </a:r>
            <a:r>
              <a:rPr dirty="0" sz="2800">
                <a:latin typeface="Arial MT"/>
                <a:cs typeface="Arial MT"/>
              </a:rPr>
              <a:t>incorporates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arbitrary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set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changes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may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be </a:t>
            </a:r>
            <a:r>
              <a:rPr dirty="0" sz="2800" spc="-10">
                <a:latin typeface="Arial MT"/>
                <a:cs typeface="Arial MT"/>
              </a:rPr>
              <a:t>created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59130" y="1699641"/>
            <a:ext cx="7753984" cy="31832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478790" marR="5080" indent="-466725">
              <a:lnSpc>
                <a:spcPct val="100000"/>
              </a:lnSpc>
              <a:spcBef>
                <a:spcPts val="9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Releases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must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incorporate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changes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forced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on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system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by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errors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discovered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by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users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and </a:t>
            </a:r>
            <a:r>
              <a:rPr dirty="0" sz="2800">
                <a:latin typeface="Arial MT"/>
                <a:cs typeface="Arial MT"/>
              </a:rPr>
              <a:t>by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hardware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changes</a:t>
            </a:r>
            <a:endParaRPr sz="2800">
              <a:latin typeface="Arial MT"/>
              <a:cs typeface="Arial MT"/>
            </a:endParaRPr>
          </a:p>
          <a:p>
            <a:pPr marL="478790" marR="995680" indent="-466725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They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must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also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incorporate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new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system functionality</a:t>
            </a:r>
            <a:endParaRPr sz="2800">
              <a:latin typeface="Arial MT"/>
              <a:cs typeface="Arial MT"/>
            </a:endParaRPr>
          </a:p>
          <a:p>
            <a:pPr marL="478790" marR="319405" indent="-466725">
              <a:lnSpc>
                <a:spcPct val="100000"/>
              </a:lnSpc>
              <a:spcBef>
                <a:spcPts val="670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Release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planning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is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concerned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with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when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to </a:t>
            </a:r>
            <a:r>
              <a:rPr dirty="0" sz="2800">
                <a:latin typeface="Arial MT"/>
                <a:cs typeface="Arial MT"/>
              </a:rPr>
              <a:t>issue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system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version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as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release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/>
              <a:t>Release</a:t>
            </a:r>
            <a:r>
              <a:rPr dirty="0" spc="-185"/>
              <a:t> </a:t>
            </a:r>
            <a:r>
              <a:rPr dirty="0" spc="-10"/>
              <a:t>management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7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Release</a:t>
            </a:r>
            <a:r>
              <a:rPr dirty="0" spc="-60"/>
              <a:t> </a:t>
            </a:r>
            <a:r>
              <a:rPr dirty="0"/>
              <a:t>Plan</a:t>
            </a:r>
            <a:r>
              <a:rPr dirty="0" spc="-65"/>
              <a:t> </a:t>
            </a:r>
            <a:r>
              <a:rPr dirty="0"/>
              <a:t>for</a:t>
            </a:r>
            <a:r>
              <a:rPr dirty="0" spc="-70"/>
              <a:t> </a:t>
            </a:r>
            <a:r>
              <a:rPr dirty="0"/>
              <a:t>4</a:t>
            </a:r>
            <a:r>
              <a:rPr dirty="0" spc="-55"/>
              <a:t> </a:t>
            </a:r>
            <a:r>
              <a:rPr dirty="0" spc="-10"/>
              <a:t>Sprints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59130" y="1701164"/>
            <a:ext cx="8260715" cy="1855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478790" marR="5080" indent="-466725">
              <a:lnSpc>
                <a:spcPct val="100000"/>
              </a:lnSpc>
              <a:spcBef>
                <a:spcPts val="10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000">
                <a:latin typeface="Arial MT"/>
                <a:cs typeface="Arial MT"/>
              </a:rPr>
              <a:t>XYZTECH</a:t>
            </a:r>
            <a:r>
              <a:rPr dirty="0" sz="2000" spc="4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4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updating</a:t>
            </a:r>
            <a:r>
              <a:rPr dirty="0" sz="2000" spc="4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its</a:t>
            </a:r>
            <a:r>
              <a:rPr dirty="0" sz="2000" spc="4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software</a:t>
            </a:r>
            <a:r>
              <a:rPr dirty="0" sz="2000" spc="459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application</a:t>
            </a:r>
            <a:r>
              <a:rPr dirty="0" sz="2000" spc="4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through</a:t>
            </a:r>
            <a:r>
              <a:rPr dirty="0" sz="2000" spc="4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4</a:t>
            </a:r>
            <a:r>
              <a:rPr dirty="0" sz="2000" spc="46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planned </a:t>
            </a:r>
            <a:r>
              <a:rPr dirty="0" sz="2000">
                <a:latin typeface="Arial MT"/>
                <a:cs typeface="Arial MT"/>
              </a:rPr>
              <a:t>sprints,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focusing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on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most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important</a:t>
            </a:r>
            <a:r>
              <a:rPr dirty="0" sz="2000" spc="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tasks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first.</a:t>
            </a:r>
            <a:r>
              <a:rPr dirty="0" sz="2000" spc="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9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new</a:t>
            </a:r>
            <a:r>
              <a:rPr dirty="0" sz="2000" spc="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app</a:t>
            </a:r>
            <a:r>
              <a:rPr dirty="0" sz="2000" spc="1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version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2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delivered</a:t>
            </a:r>
            <a:r>
              <a:rPr dirty="0" sz="2000" spc="2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at</a:t>
            </a:r>
            <a:r>
              <a:rPr dirty="0" sz="2000" spc="2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2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end</a:t>
            </a:r>
            <a:r>
              <a:rPr dirty="0" sz="2000" spc="2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254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each</a:t>
            </a:r>
            <a:r>
              <a:rPr dirty="0" sz="2000" spc="2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sprint,</a:t>
            </a:r>
            <a:r>
              <a:rPr dirty="0" sz="2000" spc="254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but</a:t>
            </a:r>
            <a:r>
              <a:rPr dirty="0" sz="2000" spc="2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updates</a:t>
            </a:r>
            <a:r>
              <a:rPr dirty="0" sz="2000" spc="2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are</a:t>
            </a:r>
            <a:r>
              <a:rPr dirty="0" sz="2000" spc="2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released</a:t>
            </a:r>
            <a:r>
              <a:rPr dirty="0" sz="2000" spc="26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to </a:t>
            </a:r>
            <a:r>
              <a:rPr dirty="0" sz="2000">
                <a:latin typeface="Arial MT"/>
                <a:cs typeface="Arial MT"/>
              </a:rPr>
              <a:t>users</a:t>
            </a:r>
            <a:r>
              <a:rPr dirty="0" sz="2000" spc="-10">
                <a:latin typeface="Arial MT"/>
                <a:cs typeface="Arial MT"/>
              </a:rPr>
              <a:t>  </a:t>
            </a:r>
            <a:r>
              <a:rPr dirty="0" sz="2000">
                <a:latin typeface="Arial MT"/>
                <a:cs typeface="Arial MT"/>
              </a:rPr>
              <a:t>after</a:t>
            </a:r>
            <a:r>
              <a:rPr dirty="0" sz="2000" spc="-10">
                <a:latin typeface="Arial MT"/>
                <a:cs typeface="Arial MT"/>
              </a:rPr>
              <a:t>  </a:t>
            </a:r>
            <a:r>
              <a:rPr dirty="0" sz="2000">
                <a:latin typeface="Arial MT"/>
                <a:cs typeface="Arial MT"/>
              </a:rPr>
              <a:t>every</a:t>
            </a:r>
            <a:r>
              <a:rPr dirty="0" sz="2000" spc="-15">
                <a:latin typeface="Arial MT"/>
                <a:cs typeface="Arial MT"/>
              </a:rPr>
              <a:t>  </a:t>
            </a:r>
            <a:r>
              <a:rPr dirty="0" sz="2000">
                <a:latin typeface="Arial MT"/>
                <a:cs typeface="Arial MT"/>
              </a:rPr>
              <a:t>2</a:t>
            </a:r>
            <a:r>
              <a:rPr dirty="0" sz="2000" spc="-20">
                <a:latin typeface="Arial MT"/>
                <a:cs typeface="Arial MT"/>
              </a:rPr>
              <a:t>  </a:t>
            </a:r>
            <a:r>
              <a:rPr dirty="0" sz="2000">
                <a:latin typeface="Arial MT"/>
                <a:cs typeface="Arial MT"/>
              </a:rPr>
              <a:t>sprints.</a:t>
            </a:r>
            <a:r>
              <a:rPr dirty="0" sz="2000" spc="-15">
                <a:latin typeface="Arial MT"/>
                <a:cs typeface="Arial MT"/>
              </a:rPr>
              <a:t>  </a:t>
            </a:r>
            <a:r>
              <a:rPr dirty="0" sz="2000">
                <a:latin typeface="Arial MT"/>
                <a:cs typeface="Arial MT"/>
              </a:rPr>
              <a:t>Prepare</a:t>
            </a:r>
            <a:r>
              <a:rPr dirty="0" sz="2000" spc="-15">
                <a:latin typeface="Arial MT"/>
                <a:cs typeface="Arial MT"/>
              </a:rPr>
              <a:t> 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15">
                <a:latin typeface="Arial MT"/>
                <a:cs typeface="Arial MT"/>
              </a:rPr>
              <a:t>  </a:t>
            </a:r>
            <a:r>
              <a:rPr dirty="0" sz="2000">
                <a:latin typeface="Arial MT"/>
                <a:cs typeface="Arial MT"/>
              </a:rPr>
              <a:t>release</a:t>
            </a:r>
            <a:r>
              <a:rPr dirty="0" sz="2000" spc="-15">
                <a:latin typeface="Arial MT"/>
                <a:cs typeface="Arial MT"/>
              </a:rPr>
              <a:t>  </a:t>
            </a:r>
            <a:r>
              <a:rPr dirty="0" sz="2000">
                <a:latin typeface="Arial MT"/>
                <a:cs typeface="Arial MT"/>
              </a:rPr>
              <a:t>plan</a:t>
            </a:r>
            <a:r>
              <a:rPr dirty="0" sz="2000" spc="-15">
                <a:latin typeface="Arial MT"/>
                <a:cs typeface="Arial MT"/>
              </a:rPr>
              <a:t>  </a:t>
            </a:r>
            <a:r>
              <a:rPr dirty="0" sz="2000">
                <a:latin typeface="Arial MT"/>
                <a:cs typeface="Arial MT"/>
              </a:rPr>
              <a:t>showing</a:t>
            </a:r>
            <a:r>
              <a:rPr dirty="0" sz="2000" spc="-15">
                <a:latin typeface="Arial MT"/>
                <a:cs typeface="Arial MT"/>
              </a:rPr>
              <a:t>  </a:t>
            </a:r>
            <a:r>
              <a:rPr dirty="0" sz="2000" spc="-25">
                <a:latin typeface="Arial MT"/>
                <a:cs typeface="Arial MT"/>
              </a:rPr>
              <a:t>the </a:t>
            </a:r>
            <a:r>
              <a:rPr dirty="0" sz="2000">
                <a:latin typeface="Arial MT"/>
                <a:cs typeface="Arial MT"/>
              </a:rPr>
              <a:t>number</a:t>
            </a:r>
            <a:r>
              <a:rPr dirty="0" sz="2000" spc="2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2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app</a:t>
            </a:r>
            <a:r>
              <a:rPr dirty="0" sz="2000" spc="2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versions</a:t>
            </a:r>
            <a:r>
              <a:rPr dirty="0" sz="2000" spc="2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2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releases</a:t>
            </a:r>
            <a:r>
              <a:rPr dirty="0" sz="2000" spc="2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by</a:t>
            </a:r>
            <a:r>
              <a:rPr dirty="0" sz="2000" spc="2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2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end</a:t>
            </a:r>
            <a:r>
              <a:rPr dirty="0" sz="2000" spc="254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2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2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4th</a:t>
            </a:r>
            <a:r>
              <a:rPr dirty="0" sz="2000" spc="26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sprint, </a:t>
            </a:r>
            <a:r>
              <a:rPr dirty="0" sz="2000">
                <a:latin typeface="Arial MT"/>
                <a:cs typeface="Arial MT"/>
              </a:rPr>
              <a:t>detailing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work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included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each.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477000"/>
          </a:xfrm>
          <a:prstGeom prst="rect">
            <a:avLst/>
          </a:prstGeom>
        </p:spPr>
      </p:pic>
      <p:sp>
        <p:nvSpPr>
          <p:cNvPr id="3" name="object 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/>
              <a:t>System</a:t>
            </a:r>
            <a:r>
              <a:rPr dirty="0" spc="-160"/>
              <a:t> </a:t>
            </a:r>
            <a:r>
              <a:rPr dirty="0" spc="-10"/>
              <a:t>releases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59130" y="1613687"/>
            <a:ext cx="8249284" cy="442785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478790" indent="-466090">
              <a:lnSpc>
                <a:spcPct val="100000"/>
              </a:lnSpc>
              <a:spcBef>
                <a:spcPts val="770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Not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just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set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executable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programs</a:t>
            </a:r>
            <a:endParaRPr sz="2800">
              <a:latin typeface="Arial MT"/>
              <a:cs typeface="Arial MT"/>
            </a:endParaRPr>
          </a:p>
          <a:p>
            <a:pPr marL="478790" indent="-466090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May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also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include</a:t>
            </a:r>
            <a:endParaRPr sz="2800">
              <a:latin typeface="Arial MT"/>
              <a:cs typeface="Arial MT"/>
            </a:endParaRPr>
          </a:p>
          <a:p>
            <a:pPr lvl="1" marL="1053465" indent="-460375">
              <a:lnSpc>
                <a:spcPct val="100000"/>
              </a:lnSpc>
              <a:spcBef>
                <a:spcPts val="500"/>
              </a:spcBef>
              <a:buChar char="•"/>
              <a:tabLst>
                <a:tab pos="1053465" algn="l"/>
              </a:tabLst>
            </a:pPr>
            <a:r>
              <a:rPr dirty="0" sz="2000">
                <a:latin typeface="Arial MT"/>
                <a:cs typeface="Arial MT"/>
              </a:rPr>
              <a:t>Configuration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files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defining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how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release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configured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50"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  <a:p>
            <a:pPr marL="1053465">
              <a:lnSpc>
                <a:spcPct val="100000"/>
              </a:lnSpc>
            </a:pPr>
            <a:r>
              <a:rPr dirty="0" sz="2000">
                <a:latin typeface="Arial MT"/>
                <a:cs typeface="Arial MT"/>
              </a:rPr>
              <a:t>particular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installation</a:t>
            </a:r>
            <a:endParaRPr sz="2000">
              <a:latin typeface="Arial MT"/>
              <a:cs typeface="Arial MT"/>
            </a:endParaRPr>
          </a:p>
          <a:p>
            <a:pPr lvl="1" marL="1053465" indent="-460375">
              <a:lnSpc>
                <a:spcPct val="100000"/>
              </a:lnSpc>
              <a:spcBef>
                <a:spcPts val="480"/>
              </a:spcBef>
              <a:buChar char="•"/>
              <a:tabLst>
                <a:tab pos="1053465" algn="l"/>
              </a:tabLst>
            </a:pPr>
            <a:r>
              <a:rPr dirty="0" sz="2000">
                <a:latin typeface="Arial MT"/>
                <a:cs typeface="Arial MT"/>
              </a:rPr>
              <a:t>Data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files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needed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system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operation</a:t>
            </a:r>
            <a:endParaRPr sz="2000">
              <a:latin typeface="Arial MT"/>
              <a:cs typeface="Arial MT"/>
            </a:endParaRPr>
          </a:p>
          <a:p>
            <a:pPr lvl="1" marL="1053465" marR="376555" indent="-460375">
              <a:lnSpc>
                <a:spcPct val="100000"/>
              </a:lnSpc>
              <a:spcBef>
                <a:spcPts val="480"/>
              </a:spcBef>
              <a:buChar char="•"/>
              <a:tabLst>
                <a:tab pos="1053465" algn="l"/>
              </a:tabLst>
            </a:pPr>
            <a:r>
              <a:rPr dirty="0" sz="2000">
                <a:latin typeface="Arial MT"/>
                <a:cs typeface="Arial MT"/>
              </a:rPr>
              <a:t>An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installation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program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or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shell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script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install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system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on </a:t>
            </a:r>
            <a:r>
              <a:rPr dirty="0" sz="2000">
                <a:latin typeface="Arial MT"/>
                <a:cs typeface="Arial MT"/>
              </a:rPr>
              <a:t>target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hardware</a:t>
            </a:r>
            <a:endParaRPr sz="2000">
              <a:latin typeface="Arial MT"/>
              <a:cs typeface="Arial MT"/>
            </a:endParaRPr>
          </a:p>
          <a:p>
            <a:pPr lvl="1" marL="1053465" indent="-460375">
              <a:lnSpc>
                <a:spcPct val="100000"/>
              </a:lnSpc>
              <a:spcBef>
                <a:spcPts val="480"/>
              </a:spcBef>
              <a:buChar char="•"/>
              <a:tabLst>
                <a:tab pos="1053465" algn="l"/>
              </a:tabLst>
            </a:pPr>
            <a:r>
              <a:rPr dirty="0" sz="2000">
                <a:latin typeface="Arial MT"/>
                <a:cs typeface="Arial MT"/>
              </a:rPr>
              <a:t>Electronic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paper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documentation</a:t>
            </a:r>
            <a:endParaRPr sz="2000">
              <a:latin typeface="Arial MT"/>
              <a:cs typeface="Arial MT"/>
            </a:endParaRPr>
          </a:p>
          <a:p>
            <a:pPr lvl="1" marL="1053465" indent="-460375">
              <a:lnSpc>
                <a:spcPct val="100000"/>
              </a:lnSpc>
              <a:spcBef>
                <a:spcPts val="484"/>
              </a:spcBef>
              <a:buChar char="•"/>
              <a:tabLst>
                <a:tab pos="1053465" algn="l"/>
              </a:tabLst>
            </a:pPr>
            <a:r>
              <a:rPr dirty="0" sz="2000">
                <a:latin typeface="Arial MT"/>
                <a:cs typeface="Arial MT"/>
              </a:rPr>
              <a:t>Packaging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associated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publicity</a:t>
            </a:r>
            <a:endParaRPr sz="2000">
              <a:latin typeface="Arial MT"/>
              <a:cs typeface="Arial MT"/>
            </a:endParaRPr>
          </a:p>
          <a:p>
            <a:pPr marL="478790" marR="5080" indent="-466725">
              <a:lnSpc>
                <a:spcPct val="100000"/>
              </a:lnSpc>
              <a:spcBef>
                <a:spcPts val="650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Systems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are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now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normally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released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on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CD-</a:t>
            </a:r>
            <a:r>
              <a:rPr dirty="0" sz="2800" spc="-25">
                <a:latin typeface="Arial MT"/>
                <a:cs typeface="Arial MT"/>
              </a:rPr>
              <a:t>ROM </a:t>
            </a:r>
            <a:r>
              <a:rPr dirty="0" sz="2800">
                <a:latin typeface="Arial MT"/>
                <a:cs typeface="Arial MT"/>
              </a:rPr>
              <a:t>or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as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downloadable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installation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files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from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web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59130" y="1699641"/>
            <a:ext cx="8197850" cy="334200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8790" marR="647700" indent="-466725">
              <a:lnSpc>
                <a:spcPct val="100000"/>
              </a:lnSpc>
              <a:spcBef>
                <a:spcPts val="9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Customer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may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not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want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new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release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the </a:t>
            </a:r>
            <a:r>
              <a:rPr dirty="0" sz="2800" spc="-10">
                <a:latin typeface="Arial MT"/>
                <a:cs typeface="Arial MT"/>
              </a:rPr>
              <a:t>system</a:t>
            </a:r>
            <a:endParaRPr sz="2800">
              <a:latin typeface="Arial MT"/>
              <a:cs typeface="Arial MT"/>
            </a:endParaRPr>
          </a:p>
          <a:p>
            <a:pPr lvl="1" marL="1053465" indent="-460375">
              <a:lnSpc>
                <a:spcPct val="100000"/>
              </a:lnSpc>
              <a:spcBef>
                <a:spcPts val="500"/>
              </a:spcBef>
              <a:buChar char="•"/>
              <a:tabLst>
                <a:tab pos="1053465" algn="l"/>
              </a:tabLst>
            </a:pPr>
            <a:r>
              <a:rPr dirty="0" sz="2000">
                <a:latin typeface="Arial MT"/>
                <a:cs typeface="Arial MT"/>
              </a:rPr>
              <a:t>They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may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be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happy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with their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current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system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as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new</a:t>
            </a:r>
            <a:endParaRPr sz="2000">
              <a:latin typeface="Arial MT"/>
              <a:cs typeface="Arial MT"/>
            </a:endParaRPr>
          </a:p>
          <a:p>
            <a:pPr marL="1053465">
              <a:lnSpc>
                <a:spcPct val="100000"/>
              </a:lnSpc>
            </a:pPr>
            <a:r>
              <a:rPr dirty="0" sz="2000">
                <a:latin typeface="Arial MT"/>
                <a:cs typeface="Arial MT"/>
              </a:rPr>
              <a:t>version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may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provide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unwanted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functionality</a:t>
            </a:r>
            <a:endParaRPr sz="2000">
              <a:latin typeface="Arial MT"/>
              <a:cs typeface="Arial MT"/>
            </a:endParaRPr>
          </a:p>
          <a:p>
            <a:pPr marL="478790" marR="5080" indent="-466725">
              <a:lnSpc>
                <a:spcPct val="100000"/>
              </a:lnSpc>
              <a:spcBef>
                <a:spcPts val="65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Release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management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must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not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assume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that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all </a:t>
            </a:r>
            <a:r>
              <a:rPr dirty="0" sz="2800">
                <a:latin typeface="Arial MT"/>
                <a:cs typeface="Arial MT"/>
              </a:rPr>
              <a:t>previous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releases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have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been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accepted.</a:t>
            </a:r>
            <a:r>
              <a:rPr dirty="0" sz="2800" spc="-1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All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files </a:t>
            </a:r>
            <a:r>
              <a:rPr dirty="0" sz="2800">
                <a:latin typeface="Arial MT"/>
                <a:cs typeface="Arial MT"/>
              </a:rPr>
              <a:t>required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for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release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should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re-created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20">
                <a:latin typeface="Arial MT"/>
                <a:cs typeface="Arial MT"/>
              </a:rPr>
              <a:t>when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new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release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is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installed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/>
              <a:t>Release</a:t>
            </a:r>
            <a:r>
              <a:rPr dirty="0" spc="-185"/>
              <a:t> </a:t>
            </a:r>
            <a:r>
              <a:rPr dirty="0" spc="-10"/>
              <a:t>problems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/>
              <a:t>Release</a:t>
            </a:r>
            <a:r>
              <a:rPr dirty="0" spc="-100"/>
              <a:t> </a:t>
            </a:r>
            <a:r>
              <a:rPr dirty="0"/>
              <a:t>decision</a:t>
            </a:r>
            <a:r>
              <a:rPr dirty="0" spc="-110"/>
              <a:t> </a:t>
            </a:r>
            <a:r>
              <a:rPr dirty="0" spc="-10"/>
              <a:t>making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59130" y="1699641"/>
            <a:ext cx="8187690" cy="3098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8790" marR="5080" indent="-466725">
              <a:lnSpc>
                <a:spcPct val="100000"/>
              </a:lnSpc>
              <a:spcBef>
                <a:spcPts val="9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Preparing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distributing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system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release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is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an </a:t>
            </a:r>
            <a:r>
              <a:rPr dirty="0" sz="2800">
                <a:latin typeface="Arial MT"/>
                <a:cs typeface="Arial MT"/>
              </a:rPr>
              <a:t>expensive</a:t>
            </a:r>
            <a:r>
              <a:rPr dirty="0" sz="2800" spc="-12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process</a:t>
            </a:r>
            <a:endParaRPr sz="2800">
              <a:latin typeface="Arial MT"/>
              <a:cs typeface="Arial MT"/>
            </a:endParaRPr>
          </a:p>
          <a:p>
            <a:pPr marL="478790" marR="559435" indent="-466725">
              <a:lnSpc>
                <a:spcPct val="100000"/>
              </a:lnSpc>
              <a:spcBef>
                <a:spcPts val="670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Factors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such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technical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quality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the </a:t>
            </a:r>
            <a:r>
              <a:rPr dirty="0" sz="2800">
                <a:latin typeface="Arial MT"/>
                <a:cs typeface="Arial MT"/>
              </a:rPr>
              <a:t>system,</a:t>
            </a:r>
            <a:r>
              <a:rPr dirty="0" sz="2800" spc="-12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competition,</a:t>
            </a:r>
            <a:r>
              <a:rPr dirty="0" sz="2800" spc="-12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marketing</a:t>
            </a:r>
            <a:r>
              <a:rPr dirty="0" sz="2800" spc="-12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requirements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customer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change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requests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should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all </a:t>
            </a:r>
            <a:r>
              <a:rPr dirty="0" sz="2800">
                <a:latin typeface="Arial MT"/>
                <a:cs typeface="Arial MT"/>
              </a:rPr>
              <a:t>influence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decision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when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issue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new </a:t>
            </a:r>
            <a:r>
              <a:rPr dirty="0" sz="2800">
                <a:latin typeface="Arial MT"/>
                <a:cs typeface="Arial MT"/>
              </a:rPr>
              <a:t>system</a:t>
            </a:r>
            <a:r>
              <a:rPr dirty="0" sz="2800" spc="-10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release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/>
              <a:t>System</a:t>
            </a:r>
            <a:r>
              <a:rPr dirty="0" spc="-160"/>
              <a:t> </a:t>
            </a:r>
            <a:r>
              <a:rPr dirty="0"/>
              <a:t>release</a:t>
            </a:r>
            <a:r>
              <a:rPr dirty="0" spc="-155"/>
              <a:t> </a:t>
            </a:r>
            <a:r>
              <a:rPr dirty="0" spc="-10"/>
              <a:t>strategy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314" y="1583820"/>
            <a:ext cx="8455130" cy="4510497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/>
              <a:t>Release</a:t>
            </a:r>
            <a:r>
              <a:rPr dirty="0" spc="-185"/>
              <a:t> </a:t>
            </a:r>
            <a:r>
              <a:rPr dirty="0" spc="-10"/>
              <a:t>creation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78790" marR="216535" indent="-466725">
              <a:lnSpc>
                <a:spcPct val="100000"/>
              </a:lnSpc>
              <a:spcBef>
                <a:spcPts val="9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/>
              <a:t>Release</a:t>
            </a:r>
            <a:r>
              <a:rPr dirty="0" spc="-70"/>
              <a:t> </a:t>
            </a:r>
            <a:r>
              <a:rPr dirty="0"/>
              <a:t>creation</a:t>
            </a:r>
            <a:r>
              <a:rPr dirty="0" spc="-90"/>
              <a:t> </a:t>
            </a:r>
            <a:r>
              <a:rPr dirty="0"/>
              <a:t>involves</a:t>
            </a:r>
            <a:r>
              <a:rPr dirty="0" spc="-85"/>
              <a:t> </a:t>
            </a:r>
            <a:r>
              <a:rPr dirty="0"/>
              <a:t>collecting</a:t>
            </a:r>
            <a:r>
              <a:rPr dirty="0" spc="-85"/>
              <a:t> </a:t>
            </a:r>
            <a:r>
              <a:rPr dirty="0"/>
              <a:t>all</a:t>
            </a:r>
            <a:r>
              <a:rPr dirty="0" spc="-85"/>
              <a:t> </a:t>
            </a:r>
            <a:r>
              <a:rPr dirty="0"/>
              <a:t>files</a:t>
            </a:r>
            <a:r>
              <a:rPr dirty="0" spc="-85"/>
              <a:t> </a:t>
            </a:r>
            <a:r>
              <a:rPr dirty="0" spc="-25"/>
              <a:t>and </a:t>
            </a:r>
            <a:r>
              <a:rPr dirty="0"/>
              <a:t>documentation</a:t>
            </a:r>
            <a:r>
              <a:rPr dirty="0" spc="-70"/>
              <a:t> </a:t>
            </a:r>
            <a:r>
              <a:rPr dirty="0"/>
              <a:t>required</a:t>
            </a:r>
            <a:r>
              <a:rPr dirty="0" spc="-70"/>
              <a:t> </a:t>
            </a:r>
            <a:r>
              <a:rPr dirty="0"/>
              <a:t>to</a:t>
            </a:r>
            <a:r>
              <a:rPr dirty="0" spc="-85"/>
              <a:t> </a:t>
            </a:r>
            <a:r>
              <a:rPr dirty="0"/>
              <a:t>create</a:t>
            </a:r>
            <a:r>
              <a:rPr dirty="0" spc="-75"/>
              <a:t> </a:t>
            </a:r>
            <a:r>
              <a:rPr dirty="0"/>
              <a:t>a</a:t>
            </a:r>
            <a:r>
              <a:rPr dirty="0" spc="-85"/>
              <a:t> </a:t>
            </a:r>
            <a:r>
              <a:rPr dirty="0" spc="-10"/>
              <a:t>system release</a:t>
            </a:r>
          </a:p>
          <a:p>
            <a:pPr marL="478790" marR="5080" indent="-466725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/>
              <a:t>Configuration</a:t>
            </a:r>
            <a:r>
              <a:rPr dirty="0" spc="-75"/>
              <a:t> </a:t>
            </a:r>
            <a:r>
              <a:rPr dirty="0"/>
              <a:t>descriptions</a:t>
            </a:r>
            <a:r>
              <a:rPr dirty="0" spc="-85"/>
              <a:t> </a:t>
            </a:r>
            <a:r>
              <a:rPr dirty="0"/>
              <a:t>have</a:t>
            </a:r>
            <a:r>
              <a:rPr dirty="0" spc="-85"/>
              <a:t> </a:t>
            </a:r>
            <a:r>
              <a:rPr dirty="0"/>
              <a:t>to</a:t>
            </a:r>
            <a:r>
              <a:rPr dirty="0" spc="-90"/>
              <a:t> </a:t>
            </a:r>
            <a:r>
              <a:rPr dirty="0"/>
              <a:t>be</a:t>
            </a:r>
            <a:r>
              <a:rPr dirty="0" spc="-85"/>
              <a:t> </a:t>
            </a:r>
            <a:r>
              <a:rPr dirty="0"/>
              <a:t>written</a:t>
            </a:r>
            <a:r>
              <a:rPr dirty="0" spc="-75"/>
              <a:t> </a:t>
            </a:r>
            <a:r>
              <a:rPr dirty="0" spc="-25"/>
              <a:t>for </a:t>
            </a:r>
            <a:r>
              <a:rPr dirty="0"/>
              <a:t>different</a:t>
            </a:r>
            <a:r>
              <a:rPr dirty="0" spc="-95"/>
              <a:t> </a:t>
            </a:r>
            <a:r>
              <a:rPr dirty="0"/>
              <a:t>hardware</a:t>
            </a:r>
            <a:r>
              <a:rPr dirty="0" spc="-70"/>
              <a:t> </a:t>
            </a:r>
            <a:r>
              <a:rPr dirty="0"/>
              <a:t>and</a:t>
            </a:r>
            <a:r>
              <a:rPr dirty="0" spc="-90"/>
              <a:t> </a:t>
            </a:r>
            <a:r>
              <a:rPr dirty="0"/>
              <a:t>installation</a:t>
            </a:r>
            <a:r>
              <a:rPr dirty="0" spc="-95"/>
              <a:t> </a:t>
            </a:r>
            <a:r>
              <a:rPr dirty="0"/>
              <a:t>scripts</a:t>
            </a:r>
            <a:r>
              <a:rPr dirty="0" spc="-114"/>
              <a:t> </a:t>
            </a:r>
            <a:r>
              <a:rPr dirty="0"/>
              <a:t>have</a:t>
            </a:r>
            <a:r>
              <a:rPr dirty="0" spc="-85"/>
              <a:t> </a:t>
            </a:r>
            <a:r>
              <a:rPr dirty="0" spc="-25"/>
              <a:t>to </a:t>
            </a:r>
            <a:r>
              <a:rPr dirty="0"/>
              <a:t>be</a:t>
            </a:r>
            <a:r>
              <a:rPr dirty="0" spc="-35"/>
              <a:t> </a:t>
            </a:r>
            <a:r>
              <a:rPr dirty="0" spc="-10"/>
              <a:t>written</a:t>
            </a:r>
          </a:p>
          <a:p>
            <a:pPr marL="478790" marR="337185" indent="-466725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/>
              <a:t>The</a:t>
            </a:r>
            <a:r>
              <a:rPr dirty="0" spc="-65"/>
              <a:t> </a:t>
            </a:r>
            <a:r>
              <a:rPr dirty="0"/>
              <a:t>specific</a:t>
            </a:r>
            <a:r>
              <a:rPr dirty="0" spc="-90"/>
              <a:t> </a:t>
            </a:r>
            <a:r>
              <a:rPr dirty="0"/>
              <a:t>release</a:t>
            </a:r>
            <a:r>
              <a:rPr dirty="0" spc="-60"/>
              <a:t> </a:t>
            </a:r>
            <a:r>
              <a:rPr dirty="0"/>
              <a:t>must</a:t>
            </a:r>
            <a:r>
              <a:rPr dirty="0" spc="-80"/>
              <a:t> </a:t>
            </a:r>
            <a:r>
              <a:rPr dirty="0"/>
              <a:t>be</a:t>
            </a:r>
            <a:r>
              <a:rPr dirty="0" spc="-85"/>
              <a:t> </a:t>
            </a:r>
            <a:r>
              <a:rPr dirty="0"/>
              <a:t>documented</a:t>
            </a:r>
            <a:r>
              <a:rPr dirty="0" spc="-60"/>
              <a:t> </a:t>
            </a:r>
            <a:r>
              <a:rPr dirty="0" spc="-25"/>
              <a:t>to </a:t>
            </a:r>
            <a:r>
              <a:rPr dirty="0"/>
              <a:t>record</a:t>
            </a:r>
            <a:r>
              <a:rPr dirty="0" spc="-60"/>
              <a:t> </a:t>
            </a:r>
            <a:r>
              <a:rPr dirty="0"/>
              <a:t>exactly</a:t>
            </a:r>
            <a:r>
              <a:rPr dirty="0" spc="-70"/>
              <a:t> </a:t>
            </a:r>
            <a:r>
              <a:rPr dirty="0"/>
              <a:t>what</a:t>
            </a:r>
            <a:r>
              <a:rPr dirty="0" spc="-60"/>
              <a:t> </a:t>
            </a:r>
            <a:r>
              <a:rPr dirty="0"/>
              <a:t>files</a:t>
            </a:r>
            <a:r>
              <a:rPr dirty="0" spc="-65"/>
              <a:t> </a:t>
            </a:r>
            <a:r>
              <a:rPr dirty="0"/>
              <a:t>were</a:t>
            </a:r>
            <a:r>
              <a:rPr dirty="0" spc="-50"/>
              <a:t> </a:t>
            </a:r>
            <a:r>
              <a:rPr dirty="0"/>
              <a:t>used</a:t>
            </a:r>
            <a:r>
              <a:rPr dirty="0" spc="-60"/>
              <a:t> </a:t>
            </a:r>
            <a:r>
              <a:rPr dirty="0"/>
              <a:t>to</a:t>
            </a:r>
            <a:r>
              <a:rPr dirty="0" spc="-70"/>
              <a:t> </a:t>
            </a:r>
            <a:r>
              <a:rPr dirty="0"/>
              <a:t>create</a:t>
            </a:r>
            <a:r>
              <a:rPr dirty="0" spc="-55"/>
              <a:t> </a:t>
            </a:r>
            <a:r>
              <a:rPr dirty="0" spc="-25"/>
              <a:t>it. </a:t>
            </a:r>
            <a:r>
              <a:rPr dirty="0"/>
              <a:t>This</a:t>
            </a:r>
            <a:r>
              <a:rPr dirty="0" spc="-40"/>
              <a:t> </a:t>
            </a:r>
            <a:r>
              <a:rPr dirty="0"/>
              <a:t>allows</a:t>
            </a:r>
            <a:r>
              <a:rPr dirty="0" spc="-35"/>
              <a:t> </a:t>
            </a:r>
            <a:r>
              <a:rPr dirty="0"/>
              <a:t>it</a:t>
            </a:r>
            <a:r>
              <a:rPr dirty="0" spc="-50"/>
              <a:t> </a:t>
            </a:r>
            <a:r>
              <a:rPr dirty="0"/>
              <a:t>to</a:t>
            </a:r>
            <a:r>
              <a:rPr dirty="0" spc="-45"/>
              <a:t> </a:t>
            </a:r>
            <a:r>
              <a:rPr dirty="0"/>
              <a:t>be</a:t>
            </a:r>
            <a:r>
              <a:rPr dirty="0" spc="-45"/>
              <a:t> </a:t>
            </a:r>
            <a:r>
              <a:rPr dirty="0" spc="-10"/>
              <a:t>re-</a:t>
            </a:r>
            <a:r>
              <a:rPr dirty="0"/>
              <a:t>created</a:t>
            </a:r>
            <a:r>
              <a:rPr dirty="0" spc="-25"/>
              <a:t> </a:t>
            </a:r>
            <a:r>
              <a:rPr dirty="0"/>
              <a:t>if</a:t>
            </a:r>
            <a:r>
              <a:rPr dirty="0" spc="-50"/>
              <a:t> </a:t>
            </a:r>
            <a:r>
              <a:rPr dirty="0" spc="-10"/>
              <a:t>necessary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59130" y="1699641"/>
            <a:ext cx="8108950" cy="27565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8790" marR="419100" indent="-466725">
              <a:lnSpc>
                <a:spcPct val="100000"/>
              </a:lnSpc>
              <a:spcBef>
                <a:spcPts val="9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process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compiling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linking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software </a:t>
            </a:r>
            <a:r>
              <a:rPr dirty="0" sz="2800">
                <a:latin typeface="Arial MT"/>
                <a:cs typeface="Arial MT"/>
              </a:rPr>
              <a:t>components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into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executable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system</a:t>
            </a:r>
            <a:endParaRPr sz="2800">
              <a:latin typeface="Arial MT"/>
              <a:cs typeface="Arial MT"/>
            </a:endParaRPr>
          </a:p>
          <a:p>
            <a:pPr marL="478790" marR="1322705" indent="-466725">
              <a:lnSpc>
                <a:spcPct val="100000"/>
              </a:lnSpc>
              <a:spcBef>
                <a:spcPts val="670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Different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systems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are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built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from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different </a:t>
            </a:r>
            <a:r>
              <a:rPr dirty="0" sz="2800">
                <a:latin typeface="Arial MT"/>
                <a:cs typeface="Arial MT"/>
              </a:rPr>
              <a:t>combinations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components</a:t>
            </a:r>
            <a:endParaRPr sz="2800">
              <a:latin typeface="Arial MT"/>
              <a:cs typeface="Arial MT"/>
            </a:endParaRPr>
          </a:p>
          <a:p>
            <a:pPr marL="478790" marR="5080" indent="-466725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Invariably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supported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by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automated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tools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that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 spc="-25">
                <a:latin typeface="Arial MT"/>
                <a:cs typeface="Arial MT"/>
              </a:rPr>
              <a:t>are </a:t>
            </a:r>
            <a:r>
              <a:rPr dirty="0" sz="2800">
                <a:latin typeface="Arial MT"/>
                <a:cs typeface="Arial MT"/>
              </a:rPr>
              <a:t>driven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by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‘build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scripts’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/>
              <a:t>System</a:t>
            </a:r>
            <a:r>
              <a:rPr dirty="0" spc="-160"/>
              <a:t> </a:t>
            </a:r>
            <a:r>
              <a:rPr dirty="0" spc="-10"/>
              <a:t>building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38606" y="1547241"/>
            <a:ext cx="7726045" cy="4649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8790" marR="340995" indent="-466725">
              <a:lnSpc>
                <a:spcPct val="100000"/>
              </a:lnSpc>
              <a:spcBef>
                <a:spcPts val="9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Do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build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instructions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include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all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required components?</a:t>
            </a:r>
            <a:endParaRPr sz="2800">
              <a:latin typeface="Arial MT"/>
              <a:cs typeface="Arial MT"/>
            </a:endParaRPr>
          </a:p>
          <a:p>
            <a:pPr lvl="1" marL="1053465" marR="123825" indent="-460375">
              <a:lnSpc>
                <a:spcPct val="100000"/>
              </a:lnSpc>
              <a:spcBef>
                <a:spcPts val="500"/>
              </a:spcBef>
              <a:buChar char="•"/>
              <a:tabLst>
                <a:tab pos="1053465" algn="l"/>
              </a:tabLst>
            </a:pPr>
            <a:r>
              <a:rPr dirty="0" sz="2000">
                <a:latin typeface="Arial MT"/>
                <a:cs typeface="Arial MT"/>
              </a:rPr>
              <a:t>When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there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are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many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hundreds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components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making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35">
                <a:latin typeface="Arial MT"/>
                <a:cs typeface="Arial MT"/>
              </a:rPr>
              <a:t>up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system,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it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easy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miss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one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out.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This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should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normally </a:t>
            </a:r>
            <a:r>
              <a:rPr dirty="0" sz="2000">
                <a:latin typeface="Arial MT"/>
                <a:cs typeface="Arial MT"/>
              </a:rPr>
              <a:t>be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detected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by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linker</a:t>
            </a:r>
            <a:endParaRPr sz="2000">
              <a:latin typeface="Arial MT"/>
              <a:cs typeface="Arial MT"/>
            </a:endParaRPr>
          </a:p>
          <a:p>
            <a:pPr marL="478790" marR="1351915" indent="-466725">
              <a:lnSpc>
                <a:spcPct val="100000"/>
              </a:lnSpc>
              <a:spcBef>
                <a:spcPts val="65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Is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appropriate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component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version specified?</a:t>
            </a:r>
            <a:endParaRPr sz="2800">
              <a:latin typeface="Arial MT"/>
              <a:cs typeface="Arial MT"/>
            </a:endParaRPr>
          </a:p>
          <a:p>
            <a:pPr lvl="1" marL="1053465" indent="-460375">
              <a:lnSpc>
                <a:spcPct val="100000"/>
              </a:lnSpc>
              <a:spcBef>
                <a:spcPts val="500"/>
              </a:spcBef>
              <a:buChar char="•"/>
              <a:tabLst>
                <a:tab pos="1053465" algn="l"/>
              </a:tabLst>
            </a:pP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1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more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significant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problem.</a:t>
            </a:r>
            <a:r>
              <a:rPr dirty="0" sz="2000" spc="-1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1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system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built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with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wrong</a:t>
            </a:r>
            <a:endParaRPr sz="2000">
              <a:latin typeface="Arial MT"/>
              <a:cs typeface="Arial MT"/>
            </a:endParaRPr>
          </a:p>
          <a:p>
            <a:pPr marL="1053465">
              <a:lnSpc>
                <a:spcPct val="100000"/>
              </a:lnSpc>
            </a:pPr>
            <a:r>
              <a:rPr dirty="0" sz="2000">
                <a:latin typeface="Arial MT"/>
                <a:cs typeface="Arial MT"/>
              </a:rPr>
              <a:t>version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may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work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initially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but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fail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after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delivery</a:t>
            </a:r>
            <a:endParaRPr sz="2000">
              <a:latin typeface="Arial MT"/>
              <a:cs typeface="Arial MT"/>
            </a:endParaRPr>
          </a:p>
          <a:p>
            <a:pPr marL="478790" indent="-466090">
              <a:lnSpc>
                <a:spcPct val="100000"/>
              </a:lnSpc>
              <a:spcBef>
                <a:spcPts val="65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Are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all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data</a:t>
            </a:r>
            <a:r>
              <a:rPr dirty="0" sz="2800" spc="-3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files</a:t>
            </a:r>
            <a:r>
              <a:rPr dirty="0" sz="2800" spc="-3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available?</a:t>
            </a:r>
            <a:endParaRPr sz="2800">
              <a:latin typeface="Arial MT"/>
              <a:cs typeface="Arial MT"/>
            </a:endParaRPr>
          </a:p>
          <a:p>
            <a:pPr lvl="1" marL="1053465" indent="-460375">
              <a:lnSpc>
                <a:spcPct val="100000"/>
              </a:lnSpc>
              <a:spcBef>
                <a:spcPts val="500"/>
              </a:spcBef>
              <a:buChar char="•"/>
              <a:tabLst>
                <a:tab pos="1053465" algn="l"/>
              </a:tabLst>
            </a:pP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build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should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not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rely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on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'standard'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data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files.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Standards</a:t>
            </a:r>
            <a:endParaRPr sz="2000">
              <a:latin typeface="Arial MT"/>
              <a:cs typeface="Arial MT"/>
            </a:endParaRPr>
          </a:p>
          <a:p>
            <a:pPr marL="1053465">
              <a:lnSpc>
                <a:spcPct val="100000"/>
              </a:lnSpc>
            </a:pPr>
            <a:r>
              <a:rPr dirty="0" sz="2000">
                <a:latin typeface="Arial MT"/>
                <a:cs typeface="Arial MT"/>
              </a:rPr>
              <a:t>vary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from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place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place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/>
              <a:t>System</a:t>
            </a:r>
            <a:r>
              <a:rPr dirty="0" spc="-85"/>
              <a:t> </a:t>
            </a:r>
            <a:r>
              <a:rPr dirty="0"/>
              <a:t>building</a:t>
            </a:r>
            <a:r>
              <a:rPr dirty="0" spc="-95"/>
              <a:t> </a:t>
            </a:r>
            <a:r>
              <a:rPr dirty="0" spc="-10"/>
              <a:t>problems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32282" y="1623441"/>
            <a:ext cx="7809865" cy="4649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8790" marR="598805" indent="-466725">
              <a:lnSpc>
                <a:spcPct val="100000"/>
              </a:lnSpc>
              <a:spcBef>
                <a:spcPts val="9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Are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data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file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references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within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components correct?</a:t>
            </a:r>
            <a:endParaRPr sz="2800">
              <a:latin typeface="Arial MT"/>
              <a:cs typeface="Arial MT"/>
            </a:endParaRPr>
          </a:p>
          <a:p>
            <a:pPr algn="r" lvl="1" marL="459740" marR="168275" indent="-459740">
              <a:lnSpc>
                <a:spcPct val="100000"/>
              </a:lnSpc>
              <a:spcBef>
                <a:spcPts val="500"/>
              </a:spcBef>
              <a:buChar char="•"/>
              <a:tabLst>
                <a:tab pos="459740" algn="l"/>
              </a:tabLst>
            </a:pPr>
            <a:r>
              <a:rPr dirty="0" sz="2000">
                <a:latin typeface="Arial MT"/>
                <a:cs typeface="Arial MT"/>
              </a:rPr>
              <a:t>Embedding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absolute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names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code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almost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always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causes</a:t>
            </a:r>
            <a:endParaRPr sz="2000">
              <a:latin typeface="Arial MT"/>
              <a:cs typeface="Arial MT"/>
            </a:endParaRPr>
          </a:p>
          <a:p>
            <a:pPr algn="r" marR="193040">
              <a:lnSpc>
                <a:spcPct val="100000"/>
              </a:lnSpc>
            </a:pPr>
            <a:r>
              <a:rPr dirty="0" sz="2000">
                <a:latin typeface="Arial MT"/>
                <a:cs typeface="Arial MT"/>
              </a:rPr>
              <a:t>problems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as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naming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conventions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differ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from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place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place</a:t>
            </a:r>
            <a:endParaRPr sz="2000">
              <a:latin typeface="Arial MT"/>
              <a:cs typeface="Arial MT"/>
            </a:endParaRPr>
          </a:p>
          <a:p>
            <a:pPr marL="478790" indent="-466090">
              <a:lnSpc>
                <a:spcPct val="100000"/>
              </a:lnSpc>
              <a:spcBef>
                <a:spcPts val="65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Is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system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being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built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for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right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platform</a:t>
            </a:r>
            <a:endParaRPr sz="2800">
              <a:latin typeface="Arial MT"/>
              <a:cs typeface="Arial MT"/>
            </a:endParaRPr>
          </a:p>
          <a:p>
            <a:pPr lvl="1" marL="1053465" marR="5080" indent="-460375">
              <a:lnSpc>
                <a:spcPct val="100000"/>
              </a:lnSpc>
              <a:spcBef>
                <a:spcPts val="500"/>
              </a:spcBef>
              <a:buChar char="•"/>
              <a:tabLst>
                <a:tab pos="1053465" algn="l"/>
              </a:tabLst>
            </a:pPr>
            <a:r>
              <a:rPr dirty="0" sz="2000">
                <a:latin typeface="Arial MT"/>
                <a:cs typeface="Arial MT"/>
              </a:rPr>
              <a:t>Sometimes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must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build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specific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OS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version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or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hardware configuration</a:t>
            </a:r>
            <a:endParaRPr sz="2000">
              <a:latin typeface="Arial MT"/>
              <a:cs typeface="Arial MT"/>
            </a:endParaRPr>
          </a:p>
          <a:p>
            <a:pPr marL="478790" marR="379730" indent="-466725">
              <a:lnSpc>
                <a:spcPct val="100000"/>
              </a:lnSpc>
              <a:spcBef>
                <a:spcPts val="65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Is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right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version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compiler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other </a:t>
            </a:r>
            <a:r>
              <a:rPr dirty="0" sz="2800">
                <a:latin typeface="Arial MT"/>
                <a:cs typeface="Arial MT"/>
              </a:rPr>
              <a:t>software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tools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specified?</a:t>
            </a:r>
            <a:endParaRPr sz="2800">
              <a:latin typeface="Arial MT"/>
              <a:cs typeface="Arial MT"/>
            </a:endParaRPr>
          </a:p>
          <a:p>
            <a:pPr lvl="1" marL="1053465" marR="210185" indent="-460375">
              <a:lnSpc>
                <a:spcPct val="100000"/>
              </a:lnSpc>
              <a:spcBef>
                <a:spcPts val="500"/>
              </a:spcBef>
              <a:buChar char="•"/>
              <a:tabLst>
                <a:tab pos="1053465" algn="l"/>
              </a:tabLst>
            </a:pPr>
            <a:r>
              <a:rPr dirty="0" sz="2000">
                <a:latin typeface="Arial MT"/>
                <a:cs typeface="Arial MT"/>
              </a:rPr>
              <a:t>Different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compiler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versions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may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actually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generate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different </a:t>
            </a:r>
            <a:r>
              <a:rPr dirty="0" sz="2000">
                <a:latin typeface="Arial MT"/>
                <a:cs typeface="Arial MT"/>
              </a:rPr>
              <a:t>code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compiled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component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will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exhibit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different behaviour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/>
              <a:t>System</a:t>
            </a:r>
            <a:r>
              <a:rPr dirty="0" spc="-85"/>
              <a:t> </a:t>
            </a:r>
            <a:r>
              <a:rPr dirty="0"/>
              <a:t>building</a:t>
            </a:r>
            <a:r>
              <a:rPr dirty="0" spc="-95"/>
              <a:t> </a:t>
            </a:r>
            <a:r>
              <a:rPr dirty="0" spc="-10"/>
              <a:t>problems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/>
              <a:t>System</a:t>
            </a:r>
            <a:r>
              <a:rPr dirty="0" spc="-160"/>
              <a:t> </a:t>
            </a:r>
            <a:r>
              <a:rPr dirty="0" spc="-10"/>
              <a:t>building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814" y="2309481"/>
            <a:ext cx="8674663" cy="2594750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/>
              <a:t>System</a:t>
            </a:r>
            <a:r>
              <a:rPr dirty="0" spc="-160"/>
              <a:t> </a:t>
            </a:r>
            <a:r>
              <a:rPr dirty="0" spc="-10"/>
              <a:t>representation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78790" marR="5080" indent="-466725">
              <a:lnSpc>
                <a:spcPct val="100000"/>
              </a:lnSpc>
              <a:spcBef>
                <a:spcPts val="9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/>
              <a:t>Systems</a:t>
            </a:r>
            <a:r>
              <a:rPr dirty="0" spc="-85"/>
              <a:t> </a:t>
            </a:r>
            <a:r>
              <a:rPr dirty="0"/>
              <a:t>are</a:t>
            </a:r>
            <a:r>
              <a:rPr dirty="0" spc="-65"/>
              <a:t> </a:t>
            </a:r>
            <a:r>
              <a:rPr dirty="0"/>
              <a:t>normally</a:t>
            </a:r>
            <a:r>
              <a:rPr dirty="0" spc="-70"/>
              <a:t> </a:t>
            </a:r>
            <a:r>
              <a:rPr dirty="0"/>
              <a:t>represented</a:t>
            </a:r>
            <a:r>
              <a:rPr dirty="0" spc="-60"/>
              <a:t> </a:t>
            </a:r>
            <a:r>
              <a:rPr dirty="0"/>
              <a:t>for</a:t>
            </a:r>
            <a:r>
              <a:rPr dirty="0" spc="-70"/>
              <a:t> </a:t>
            </a:r>
            <a:r>
              <a:rPr dirty="0"/>
              <a:t>building</a:t>
            </a:r>
            <a:r>
              <a:rPr dirty="0" spc="-80"/>
              <a:t> </a:t>
            </a:r>
            <a:r>
              <a:rPr dirty="0" spc="-25"/>
              <a:t>by </a:t>
            </a:r>
            <a:r>
              <a:rPr dirty="0"/>
              <a:t>specifying</a:t>
            </a:r>
            <a:r>
              <a:rPr dirty="0" spc="-70"/>
              <a:t> </a:t>
            </a:r>
            <a:r>
              <a:rPr dirty="0"/>
              <a:t>the</a:t>
            </a:r>
            <a:r>
              <a:rPr dirty="0" spc="-65"/>
              <a:t> </a:t>
            </a:r>
            <a:r>
              <a:rPr dirty="0"/>
              <a:t>file</a:t>
            </a:r>
            <a:r>
              <a:rPr dirty="0" spc="-70"/>
              <a:t> </a:t>
            </a:r>
            <a:r>
              <a:rPr dirty="0"/>
              <a:t>name</a:t>
            </a:r>
            <a:r>
              <a:rPr dirty="0" spc="-50"/>
              <a:t> </a:t>
            </a:r>
            <a:r>
              <a:rPr dirty="0"/>
              <a:t>to</a:t>
            </a:r>
            <a:r>
              <a:rPr dirty="0" spc="-60"/>
              <a:t> </a:t>
            </a:r>
            <a:r>
              <a:rPr dirty="0"/>
              <a:t>be</a:t>
            </a:r>
            <a:r>
              <a:rPr dirty="0" spc="-60"/>
              <a:t> </a:t>
            </a:r>
            <a:r>
              <a:rPr dirty="0"/>
              <a:t>processed</a:t>
            </a:r>
            <a:r>
              <a:rPr dirty="0" spc="-70"/>
              <a:t> </a:t>
            </a:r>
            <a:r>
              <a:rPr dirty="0" spc="-25"/>
              <a:t>by </a:t>
            </a:r>
            <a:r>
              <a:rPr dirty="0"/>
              <a:t>building</a:t>
            </a:r>
            <a:r>
              <a:rPr dirty="0" spc="-105"/>
              <a:t> </a:t>
            </a:r>
            <a:r>
              <a:rPr dirty="0"/>
              <a:t>tools.</a:t>
            </a:r>
            <a:r>
              <a:rPr dirty="0" spc="-125"/>
              <a:t> </a:t>
            </a:r>
            <a:r>
              <a:rPr dirty="0"/>
              <a:t>Dependencies</a:t>
            </a:r>
            <a:r>
              <a:rPr dirty="0" spc="-100"/>
              <a:t> </a:t>
            </a:r>
            <a:r>
              <a:rPr dirty="0"/>
              <a:t>between</a:t>
            </a:r>
            <a:r>
              <a:rPr dirty="0" spc="-105"/>
              <a:t> </a:t>
            </a:r>
            <a:r>
              <a:rPr dirty="0"/>
              <a:t>these</a:t>
            </a:r>
            <a:r>
              <a:rPr dirty="0" spc="-110"/>
              <a:t> </a:t>
            </a:r>
            <a:r>
              <a:rPr dirty="0" spc="-25"/>
              <a:t>are </a:t>
            </a:r>
            <a:r>
              <a:rPr dirty="0"/>
              <a:t>described</a:t>
            </a:r>
            <a:r>
              <a:rPr dirty="0" spc="-70"/>
              <a:t> </a:t>
            </a:r>
            <a:r>
              <a:rPr dirty="0"/>
              <a:t>to</a:t>
            </a:r>
            <a:r>
              <a:rPr dirty="0" spc="-70"/>
              <a:t> </a:t>
            </a:r>
            <a:r>
              <a:rPr dirty="0"/>
              <a:t>the</a:t>
            </a:r>
            <a:r>
              <a:rPr dirty="0" spc="-75"/>
              <a:t> </a:t>
            </a:r>
            <a:r>
              <a:rPr dirty="0"/>
              <a:t>building</a:t>
            </a:r>
            <a:r>
              <a:rPr dirty="0" spc="-60"/>
              <a:t> </a:t>
            </a:r>
            <a:r>
              <a:rPr dirty="0" spc="-10"/>
              <a:t>tools</a:t>
            </a:r>
          </a:p>
          <a:p>
            <a:pPr marL="478790" marR="720090" indent="-466725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/>
              <a:t>Mistakes</a:t>
            </a:r>
            <a:r>
              <a:rPr dirty="0" spc="-60"/>
              <a:t> </a:t>
            </a:r>
            <a:r>
              <a:rPr dirty="0"/>
              <a:t>can</a:t>
            </a:r>
            <a:r>
              <a:rPr dirty="0" spc="-55"/>
              <a:t> </a:t>
            </a:r>
            <a:r>
              <a:rPr dirty="0"/>
              <a:t>be</a:t>
            </a:r>
            <a:r>
              <a:rPr dirty="0" spc="-60"/>
              <a:t> </a:t>
            </a:r>
            <a:r>
              <a:rPr dirty="0"/>
              <a:t>made</a:t>
            </a:r>
            <a:r>
              <a:rPr dirty="0" spc="-40"/>
              <a:t> </a:t>
            </a:r>
            <a:r>
              <a:rPr dirty="0"/>
              <a:t>as</a:t>
            </a:r>
            <a:r>
              <a:rPr dirty="0" spc="-45"/>
              <a:t> </a:t>
            </a:r>
            <a:r>
              <a:rPr dirty="0"/>
              <a:t>users</a:t>
            </a:r>
            <a:r>
              <a:rPr dirty="0" spc="-60"/>
              <a:t> </a:t>
            </a:r>
            <a:r>
              <a:rPr dirty="0"/>
              <a:t>lose</a:t>
            </a:r>
            <a:r>
              <a:rPr dirty="0" spc="-55"/>
              <a:t> </a:t>
            </a:r>
            <a:r>
              <a:rPr dirty="0"/>
              <a:t>track</a:t>
            </a:r>
            <a:r>
              <a:rPr dirty="0" spc="-60"/>
              <a:t> </a:t>
            </a:r>
            <a:r>
              <a:rPr dirty="0" spc="-25"/>
              <a:t>of </a:t>
            </a:r>
            <a:r>
              <a:rPr dirty="0"/>
              <a:t>which</a:t>
            </a:r>
            <a:r>
              <a:rPr dirty="0" spc="-65"/>
              <a:t> </a:t>
            </a:r>
            <a:r>
              <a:rPr dirty="0"/>
              <a:t>objects</a:t>
            </a:r>
            <a:r>
              <a:rPr dirty="0" spc="-60"/>
              <a:t> </a:t>
            </a:r>
            <a:r>
              <a:rPr dirty="0"/>
              <a:t>are</a:t>
            </a:r>
            <a:r>
              <a:rPr dirty="0" spc="-60"/>
              <a:t> </a:t>
            </a:r>
            <a:r>
              <a:rPr dirty="0"/>
              <a:t>stored</a:t>
            </a:r>
            <a:r>
              <a:rPr dirty="0" spc="-65"/>
              <a:t> </a:t>
            </a:r>
            <a:r>
              <a:rPr dirty="0"/>
              <a:t>in</a:t>
            </a:r>
            <a:r>
              <a:rPr dirty="0" spc="-55"/>
              <a:t> </a:t>
            </a:r>
            <a:r>
              <a:rPr dirty="0"/>
              <a:t>which</a:t>
            </a:r>
            <a:r>
              <a:rPr dirty="0" spc="-45"/>
              <a:t> </a:t>
            </a:r>
            <a:r>
              <a:rPr dirty="0" spc="-10"/>
              <a:t>files</a:t>
            </a:r>
          </a:p>
          <a:p>
            <a:pPr marL="478790" marR="123189" indent="-466725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/>
              <a:t>A</a:t>
            </a:r>
            <a:r>
              <a:rPr dirty="0" spc="-195"/>
              <a:t> </a:t>
            </a:r>
            <a:r>
              <a:rPr dirty="0"/>
              <a:t>system</a:t>
            </a:r>
            <a:r>
              <a:rPr dirty="0" spc="-145"/>
              <a:t> </a:t>
            </a:r>
            <a:r>
              <a:rPr dirty="0"/>
              <a:t>modelling</a:t>
            </a:r>
            <a:r>
              <a:rPr dirty="0" spc="-65"/>
              <a:t> </a:t>
            </a:r>
            <a:r>
              <a:rPr dirty="0"/>
              <a:t>language</a:t>
            </a:r>
            <a:r>
              <a:rPr dirty="0" spc="-80"/>
              <a:t> </a:t>
            </a:r>
            <a:r>
              <a:rPr dirty="0"/>
              <a:t>addresses</a:t>
            </a:r>
            <a:r>
              <a:rPr dirty="0" spc="-90"/>
              <a:t> </a:t>
            </a:r>
            <a:r>
              <a:rPr dirty="0" spc="-20"/>
              <a:t>this </a:t>
            </a:r>
            <a:r>
              <a:rPr dirty="0"/>
              <a:t>problem</a:t>
            </a:r>
            <a:r>
              <a:rPr dirty="0" spc="-45"/>
              <a:t> </a:t>
            </a:r>
            <a:r>
              <a:rPr dirty="0"/>
              <a:t>by</a:t>
            </a:r>
            <a:r>
              <a:rPr dirty="0" spc="-50"/>
              <a:t> </a:t>
            </a:r>
            <a:r>
              <a:rPr dirty="0"/>
              <a:t>using</a:t>
            </a:r>
            <a:r>
              <a:rPr dirty="0" spc="-55"/>
              <a:t> </a:t>
            </a:r>
            <a:r>
              <a:rPr dirty="0"/>
              <a:t>a</a:t>
            </a:r>
            <a:r>
              <a:rPr dirty="0" spc="-45"/>
              <a:t> </a:t>
            </a:r>
            <a:r>
              <a:rPr dirty="0"/>
              <a:t>logical</a:t>
            </a:r>
            <a:r>
              <a:rPr dirty="0" spc="-55"/>
              <a:t> </a:t>
            </a:r>
            <a:r>
              <a:rPr dirty="0"/>
              <a:t>rather</a:t>
            </a:r>
            <a:r>
              <a:rPr dirty="0" spc="-50"/>
              <a:t> </a:t>
            </a:r>
            <a:r>
              <a:rPr dirty="0"/>
              <a:t>than</a:t>
            </a:r>
            <a:r>
              <a:rPr dirty="0" spc="-45"/>
              <a:t> </a:t>
            </a:r>
            <a:r>
              <a:rPr dirty="0"/>
              <a:t>a</a:t>
            </a:r>
            <a:r>
              <a:rPr dirty="0" spc="-60"/>
              <a:t> </a:t>
            </a:r>
            <a:r>
              <a:rPr dirty="0" spc="-10"/>
              <a:t>physical </a:t>
            </a:r>
            <a:r>
              <a:rPr dirty="0"/>
              <a:t>system</a:t>
            </a:r>
            <a:r>
              <a:rPr dirty="0" spc="-85"/>
              <a:t> </a:t>
            </a:r>
            <a:r>
              <a:rPr dirty="0" spc="-10"/>
              <a:t>representation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6299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105"/>
              </a:spcBef>
            </a:pPr>
            <a:r>
              <a:rPr dirty="0" sz="3200"/>
              <a:t>CASE</a:t>
            </a:r>
            <a:r>
              <a:rPr dirty="0" sz="3200" spc="-25"/>
              <a:t> </a:t>
            </a:r>
            <a:r>
              <a:rPr dirty="0" sz="3200"/>
              <a:t>tools</a:t>
            </a:r>
            <a:r>
              <a:rPr dirty="0" sz="3200" spc="-50"/>
              <a:t> </a:t>
            </a:r>
            <a:r>
              <a:rPr dirty="0" sz="3200"/>
              <a:t>for</a:t>
            </a:r>
            <a:r>
              <a:rPr dirty="0" sz="3200" spc="-25"/>
              <a:t> </a:t>
            </a:r>
            <a:r>
              <a:rPr dirty="0" sz="3200"/>
              <a:t>configuration</a:t>
            </a:r>
            <a:r>
              <a:rPr dirty="0" sz="3200" spc="-60"/>
              <a:t> </a:t>
            </a:r>
            <a:r>
              <a:rPr dirty="0" sz="3200" spc="-10"/>
              <a:t>management</a:t>
            </a:r>
            <a:endParaRPr sz="3200"/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59130" y="1699641"/>
            <a:ext cx="7966709" cy="32689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8790" marR="553720" indent="-466725">
              <a:lnSpc>
                <a:spcPct val="100000"/>
              </a:lnSpc>
              <a:spcBef>
                <a:spcPts val="9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CM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processes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are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standardised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involve </a:t>
            </a:r>
            <a:r>
              <a:rPr dirty="0" sz="2800">
                <a:latin typeface="Arial MT"/>
                <a:cs typeface="Arial MT"/>
              </a:rPr>
              <a:t>applying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pre-</a:t>
            </a:r>
            <a:r>
              <a:rPr dirty="0" sz="2800">
                <a:latin typeface="Arial MT"/>
                <a:cs typeface="Arial MT"/>
              </a:rPr>
              <a:t>defined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procedures</a:t>
            </a:r>
            <a:endParaRPr sz="2800">
              <a:latin typeface="Arial MT"/>
              <a:cs typeface="Arial MT"/>
            </a:endParaRPr>
          </a:p>
          <a:p>
            <a:pPr marL="478790" indent="-466090">
              <a:lnSpc>
                <a:spcPct val="100000"/>
              </a:lnSpc>
              <a:spcBef>
                <a:spcPts val="670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Large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amounts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data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must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be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managed</a:t>
            </a:r>
            <a:endParaRPr sz="2800">
              <a:latin typeface="Arial MT"/>
              <a:cs typeface="Arial MT"/>
            </a:endParaRPr>
          </a:p>
          <a:p>
            <a:pPr marL="478790" indent="-466090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CASE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tool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support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for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CM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is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therefore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essential</a:t>
            </a:r>
            <a:endParaRPr sz="2800">
              <a:latin typeface="Arial MT"/>
              <a:cs typeface="Arial MT"/>
            </a:endParaRPr>
          </a:p>
          <a:p>
            <a:pPr marL="478790" marR="86995" indent="-466725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Mature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CASE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tools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support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configuration </a:t>
            </a:r>
            <a:r>
              <a:rPr dirty="0" sz="2800">
                <a:latin typeface="Arial MT"/>
                <a:cs typeface="Arial MT"/>
              </a:rPr>
              <a:t>management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are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available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ranging</a:t>
            </a:r>
            <a:r>
              <a:rPr dirty="0" sz="2800" spc="-9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from</a:t>
            </a:r>
            <a:r>
              <a:rPr dirty="0" sz="2800" spc="-10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stand- </a:t>
            </a:r>
            <a:r>
              <a:rPr dirty="0" sz="2800">
                <a:latin typeface="Arial MT"/>
                <a:cs typeface="Arial MT"/>
              </a:rPr>
              <a:t>alone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tools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</a:t>
            </a:r>
            <a:r>
              <a:rPr dirty="0" sz="2800" spc="-7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integrated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CM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workbenches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/>
              <a:t>Change</a:t>
            </a:r>
            <a:r>
              <a:rPr dirty="0" spc="-165"/>
              <a:t> </a:t>
            </a:r>
            <a:r>
              <a:rPr dirty="0"/>
              <a:t>management</a:t>
            </a:r>
            <a:r>
              <a:rPr dirty="0" spc="-145"/>
              <a:t> </a:t>
            </a:r>
            <a:r>
              <a:rPr dirty="0" spc="-10"/>
              <a:t>tools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478790" marR="67310" indent="-466725">
              <a:lnSpc>
                <a:spcPct val="100000"/>
              </a:lnSpc>
              <a:spcBef>
                <a:spcPts val="9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/>
              <a:t>Change</a:t>
            </a:r>
            <a:r>
              <a:rPr dirty="0" spc="-75"/>
              <a:t> </a:t>
            </a:r>
            <a:r>
              <a:rPr dirty="0"/>
              <a:t>management</a:t>
            </a:r>
            <a:r>
              <a:rPr dirty="0" spc="-50"/>
              <a:t> </a:t>
            </a:r>
            <a:r>
              <a:rPr dirty="0"/>
              <a:t>is</a:t>
            </a:r>
            <a:r>
              <a:rPr dirty="0" spc="-90"/>
              <a:t> </a:t>
            </a:r>
            <a:r>
              <a:rPr dirty="0"/>
              <a:t>a</a:t>
            </a:r>
            <a:r>
              <a:rPr dirty="0" spc="-95"/>
              <a:t> </a:t>
            </a:r>
            <a:r>
              <a:rPr dirty="0"/>
              <a:t>procedural</a:t>
            </a:r>
            <a:r>
              <a:rPr dirty="0" spc="-75"/>
              <a:t> </a:t>
            </a:r>
            <a:r>
              <a:rPr dirty="0"/>
              <a:t>process</a:t>
            </a:r>
            <a:r>
              <a:rPr dirty="0" spc="-90"/>
              <a:t> </a:t>
            </a:r>
            <a:r>
              <a:rPr dirty="0" spc="-25"/>
              <a:t>so </a:t>
            </a:r>
            <a:r>
              <a:rPr dirty="0"/>
              <a:t>it</a:t>
            </a:r>
            <a:r>
              <a:rPr dirty="0" spc="-65"/>
              <a:t> </a:t>
            </a:r>
            <a:r>
              <a:rPr dirty="0"/>
              <a:t>can</a:t>
            </a:r>
            <a:r>
              <a:rPr dirty="0" spc="-45"/>
              <a:t> </a:t>
            </a:r>
            <a:r>
              <a:rPr dirty="0"/>
              <a:t>be</a:t>
            </a:r>
            <a:r>
              <a:rPr dirty="0" spc="-50"/>
              <a:t> </a:t>
            </a:r>
            <a:r>
              <a:rPr dirty="0"/>
              <a:t>modelled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60"/>
              <a:t> </a:t>
            </a:r>
            <a:r>
              <a:rPr dirty="0"/>
              <a:t>integrated</a:t>
            </a:r>
            <a:r>
              <a:rPr dirty="0" spc="-60"/>
              <a:t> </a:t>
            </a:r>
            <a:r>
              <a:rPr dirty="0"/>
              <a:t>with</a:t>
            </a:r>
            <a:r>
              <a:rPr dirty="0" spc="-55"/>
              <a:t> </a:t>
            </a:r>
            <a:r>
              <a:rPr dirty="0"/>
              <a:t>a</a:t>
            </a:r>
            <a:r>
              <a:rPr dirty="0" spc="-60"/>
              <a:t> </a:t>
            </a:r>
            <a:r>
              <a:rPr dirty="0" spc="-10"/>
              <a:t>version </a:t>
            </a:r>
            <a:r>
              <a:rPr dirty="0"/>
              <a:t>management</a:t>
            </a:r>
            <a:r>
              <a:rPr dirty="0" spc="-160"/>
              <a:t> </a:t>
            </a:r>
            <a:r>
              <a:rPr dirty="0" spc="-10"/>
              <a:t>system</a:t>
            </a:r>
          </a:p>
          <a:p>
            <a:pPr marL="478790" indent="-466090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/>
              <a:t>Change</a:t>
            </a:r>
            <a:r>
              <a:rPr dirty="0" spc="-125"/>
              <a:t> </a:t>
            </a:r>
            <a:r>
              <a:rPr dirty="0"/>
              <a:t>management</a:t>
            </a:r>
            <a:r>
              <a:rPr dirty="0" spc="-105"/>
              <a:t> </a:t>
            </a:r>
            <a:r>
              <a:rPr dirty="0" spc="-10"/>
              <a:t>tools</a:t>
            </a:r>
          </a:p>
          <a:p>
            <a:pPr lvl="1" marL="1053465" indent="-460375">
              <a:lnSpc>
                <a:spcPct val="100000"/>
              </a:lnSpc>
              <a:spcBef>
                <a:spcPts val="500"/>
              </a:spcBef>
              <a:buChar char="•"/>
              <a:tabLst>
                <a:tab pos="1053465" algn="l"/>
              </a:tabLst>
            </a:pPr>
            <a:r>
              <a:rPr dirty="0" sz="2000">
                <a:latin typeface="Arial MT"/>
                <a:cs typeface="Arial MT"/>
              </a:rPr>
              <a:t>Form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editor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support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processing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change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request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forms</a:t>
            </a:r>
            <a:endParaRPr sz="2000">
              <a:latin typeface="Arial MT"/>
              <a:cs typeface="Arial MT"/>
            </a:endParaRPr>
          </a:p>
          <a:p>
            <a:pPr lvl="1" marL="1053465" indent="-460375">
              <a:lnSpc>
                <a:spcPct val="100000"/>
              </a:lnSpc>
              <a:spcBef>
                <a:spcPts val="480"/>
              </a:spcBef>
              <a:buChar char="•"/>
              <a:tabLst>
                <a:tab pos="1053465" algn="l"/>
              </a:tabLst>
            </a:pPr>
            <a:r>
              <a:rPr dirty="0" sz="2000">
                <a:latin typeface="Arial MT"/>
                <a:cs typeface="Arial MT"/>
              </a:rPr>
              <a:t>Workflow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system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define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who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does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what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automate</a:t>
            </a:r>
            <a:endParaRPr sz="2000">
              <a:latin typeface="Arial MT"/>
              <a:cs typeface="Arial MT"/>
            </a:endParaRPr>
          </a:p>
          <a:p>
            <a:pPr marL="1053465">
              <a:lnSpc>
                <a:spcPct val="100000"/>
              </a:lnSpc>
            </a:pPr>
            <a:r>
              <a:rPr dirty="0" sz="2000"/>
              <a:t>information</a:t>
            </a:r>
            <a:r>
              <a:rPr dirty="0" sz="2000" spc="-80"/>
              <a:t> </a:t>
            </a:r>
            <a:r>
              <a:rPr dirty="0" sz="2000" spc="-10"/>
              <a:t>transfer</a:t>
            </a:r>
            <a:endParaRPr sz="2000"/>
          </a:p>
          <a:p>
            <a:pPr lvl="1" marL="1053465" marR="5080" indent="-460375">
              <a:lnSpc>
                <a:spcPct val="100000"/>
              </a:lnSpc>
              <a:spcBef>
                <a:spcPts val="480"/>
              </a:spcBef>
              <a:buChar char="•"/>
              <a:tabLst>
                <a:tab pos="1053465" algn="l"/>
              </a:tabLst>
            </a:pPr>
            <a:r>
              <a:rPr dirty="0" sz="2000">
                <a:latin typeface="Arial MT"/>
                <a:cs typeface="Arial MT"/>
              </a:rPr>
              <a:t>Change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database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that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manages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change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proposals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linked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VM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system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 spc="-20"/>
              <a:t>Version</a:t>
            </a:r>
            <a:r>
              <a:rPr dirty="0" spc="-220"/>
              <a:t> </a:t>
            </a:r>
            <a:r>
              <a:rPr dirty="0"/>
              <a:t>management</a:t>
            </a:r>
            <a:r>
              <a:rPr dirty="0" spc="-175"/>
              <a:t> </a:t>
            </a:r>
            <a:r>
              <a:rPr dirty="0" spc="-20"/>
              <a:t>tools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59130" y="1611612"/>
            <a:ext cx="8192134" cy="4457065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478790" indent="-466090">
              <a:lnSpc>
                <a:spcPct val="100000"/>
              </a:lnSpc>
              <a:spcBef>
                <a:spcPts val="790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 spc="-10">
                <a:latin typeface="Arial MT"/>
                <a:cs typeface="Arial MT"/>
              </a:rPr>
              <a:t>Version</a:t>
            </a:r>
            <a:r>
              <a:rPr dirty="0" sz="2800" spc="-10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release</a:t>
            </a:r>
            <a:r>
              <a:rPr dirty="0" sz="2800" spc="-10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identification</a:t>
            </a:r>
            <a:endParaRPr sz="2800">
              <a:latin typeface="Arial MT"/>
              <a:cs typeface="Arial MT"/>
            </a:endParaRPr>
          </a:p>
          <a:p>
            <a:pPr lvl="1" marL="1053465" marR="5080" indent="-460375">
              <a:lnSpc>
                <a:spcPct val="100000"/>
              </a:lnSpc>
              <a:spcBef>
                <a:spcPts val="500"/>
              </a:spcBef>
              <a:buChar char="•"/>
              <a:tabLst>
                <a:tab pos="1053465" algn="l"/>
                <a:tab pos="2166620" algn="l"/>
              </a:tabLst>
            </a:pPr>
            <a:r>
              <a:rPr dirty="0" sz="2000" spc="-10">
                <a:latin typeface="Arial MT"/>
                <a:cs typeface="Arial MT"/>
              </a:rPr>
              <a:t>Systems</a:t>
            </a:r>
            <a:r>
              <a:rPr dirty="0" sz="2000">
                <a:latin typeface="Arial MT"/>
                <a:cs typeface="Arial MT"/>
              </a:rPr>
              <a:t>	assign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identifiers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automatically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when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new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version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is </a:t>
            </a:r>
            <a:r>
              <a:rPr dirty="0" sz="2000">
                <a:latin typeface="Arial MT"/>
                <a:cs typeface="Arial MT"/>
              </a:rPr>
              <a:t>submitted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system</a:t>
            </a:r>
            <a:endParaRPr sz="2000">
              <a:latin typeface="Arial MT"/>
              <a:cs typeface="Arial MT"/>
            </a:endParaRPr>
          </a:p>
          <a:p>
            <a:pPr marL="478790" indent="-466090">
              <a:lnSpc>
                <a:spcPct val="100000"/>
              </a:lnSpc>
              <a:spcBef>
                <a:spcPts val="65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Storage</a:t>
            </a:r>
            <a:r>
              <a:rPr dirty="0" sz="2800" spc="-11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management.</a:t>
            </a:r>
            <a:endParaRPr sz="2800">
              <a:latin typeface="Arial MT"/>
              <a:cs typeface="Arial MT"/>
            </a:endParaRPr>
          </a:p>
          <a:p>
            <a:pPr lvl="1" marL="1053465" marR="130810" indent="-460375">
              <a:lnSpc>
                <a:spcPct val="100000"/>
              </a:lnSpc>
              <a:spcBef>
                <a:spcPts val="500"/>
              </a:spcBef>
              <a:buChar char="•"/>
              <a:tabLst>
                <a:tab pos="1053465" algn="l"/>
              </a:tabLst>
            </a:pPr>
            <a:r>
              <a:rPr dirty="0" sz="2000">
                <a:latin typeface="Arial MT"/>
                <a:cs typeface="Arial MT"/>
              </a:rPr>
              <a:t>System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stores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differences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between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versions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rather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than</a:t>
            </a:r>
            <a:r>
              <a:rPr dirty="0" sz="2000" spc="-25">
                <a:latin typeface="Arial MT"/>
                <a:cs typeface="Arial MT"/>
              </a:rPr>
              <a:t> all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version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code</a:t>
            </a:r>
            <a:endParaRPr sz="2000">
              <a:latin typeface="Arial MT"/>
              <a:cs typeface="Arial MT"/>
            </a:endParaRPr>
          </a:p>
          <a:p>
            <a:pPr marL="478790" indent="-466090">
              <a:lnSpc>
                <a:spcPct val="100000"/>
              </a:lnSpc>
              <a:spcBef>
                <a:spcPts val="650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Change</a:t>
            </a:r>
            <a:r>
              <a:rPr dirty="0" sz="2800" spc="-8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history</a:t>
            </a:r>
            <a:r>
              <a:rPr dirty="0" sz="2800" spc="-9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recording</a:t>
            </a:r>
            <a:endParaRPr sz="2800">
              <a:latin typeface="Arial MT"/>
              <a:cs typeface="Arial MT"/>
            </a:endParaRPr>
          </a:p>
          <a:p>
            <a:pPr lvl="1" marL="1053465" indent="-460375">
              <a:lnSpc>
                <a:spcPct val="100000"/>
              </a:lnSpc>
              <a:spcBef>
                <a:spcPts val="500"/>
              </a:spcBef>
              <a:buChar char="•"/>
              <a:tabLst>
                <a:tab pos="1053465" algn="l"/>
              </a:tabLst>
            </a:pPr>
            <a:r>
              <a:rPr dirty="0" sz="2000">
                <a:latin typeface="Arial MT"/>
                <a:cs typeface="Arial MT"/>
              </a:rPr>
              <a:t>Record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reasons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version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creation</a:t>
            </a:r>
            <a:endParaRPr sz="2000">
              <a:latin typeface="Arial MT"/>
              <a:cs typeface="Arial MT"/>
            </a:endParaRPr>
          </a:p>
          <a:p>
            <a:pPr marL="478790" indent="-466090">
              <a:lnSpc>
                <a:spcPct val="100000"/>
              </a:lnSpc>
              <a:spcBef>
                <a:spcPts val="65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Independent</a:t>
            </a:r>
            <a:r>
              <a:rPr dirty="0" sz="2800" spc="-14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development</a:t>
            </a:r>
            <a:endParaRPr sz="2800">
              <a:latin typeface="Arial MT"/>
              <a:cs typeface="Arial MT"/>
            </a:endParaRPr>
          </a:p>
          <a:p>
            <a:pPr lvl="1" marL="1053465" marR="502284" indent="-460375">
              <a:lnSpc>
                <a:spcPct val="100000"/>
              </a:lnSpc>
              <a:spcBef>
                <a:spcPts val="500"/>
              </a:spcBef>
              <a:buChar char="•"/>
              <a:tabLst>
                <a:tab pos="1053465" algn="l"/>
              </a:tabLst>
            </a:pPr>
            <a:r>
              <a:rPr dirty="0" sz="2000">
                <a:latin typeface="Arial MT"/>
                <a:cs typeface="Arial MT"/>
              </a:rPr>
              <a:t>Only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one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version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at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time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may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be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checked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out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change. </a:t>
            </a:r>
            <a:r>
              <a:rPr dirty="0" sz="2000">
                <a:latin typeface="Arial MT"/>
                <a:cs typeface="Arial MT"/>
              </a:rPr>
              <a:t>Parallel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working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on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different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versions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 spc="-30"/>
              <a:t>Delta-</a:t>
            </a:r>
            <a:r>
              <a:rPr dirty="0"/>
              <a:t>based</a:t>
            </a:r>
            <a:r>
              <a:rPr dirty="0" spc="40"/>
              <a:t> </a:t>
            </a:r>
            <a:r>
              <a:rPr dirty="0" spc="-10"/>
              <a:t>versioning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34" y="2572797"/>
            <a:ext cx="9039297" cy="2793473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/>
              <a:t>System</a:t>
            </a:r>
            <a:r>
              <a:rPr dirty="0" spc="-160"/>
              <a:t> </a:t>
            </a:r>
            <a:r>
              <a:rPr dirty="0" spc="-10"/>
              <a:t>building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59130" y="1699641"/>
            <a:ext cx="7098030" cy="33693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8790" marR="5080" indent="-466725">
              <a:lnSpc>
                <a:spcPct val="100000"/>
              </a:lnSpc>
              <a:spcBef>
                <a:spcPts val="9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Building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large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system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is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computationally </a:t>
            </a:r>
            <a:r>
              <a:rPr dirty="0" sz="2800">
                <a:latin typeface="Arial MT"/>
                <a:cs typeface="Arial MT"/>
              </a:rPr>
              <a:t>expensive</a:t>
            </a:r>
            <a:r>
              <a:rPr dirty="0" sz="2800" spc="-8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and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may</a:t>
            </a:r>
            <a:r>
              <a:rPr dirty="0" sz="2800" spc="-6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take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several</a:t>
            </a:r>
            <a:r>
              <a:rPr dirty="0" sz="2800" spc="-7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hours</a:t>
            </a:r>
            <a:endParaRPr sz="2800">
              <a:latin typeface="Arial MT"/>
              <a:cs typeface="Arial MT"/>
            </a:endParaRPr>
          </a:p>
          <a:p>
            <a:pPr marL="478790" indent="-466090">
              <a:lnSpc>
                <a:spcPct val="100000"/>
              </a:lnSpc>
              <a:spcBef>
                <a:spcPts val="670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Hundreds</a:t>
            </a:r>
            <a:r>
              <a:rPr dirty="0" sz="2800" spc="-4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of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files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may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be</a:t>
            </a:r>
            <a:r>
              <a:rPr dirty="0" sz="2800" spc="-50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involved</a:t>
            </a:r>
            <a:endParaRPr sz="2800">
              <a:latin typeface="Arial MT"/>
              <a:cs typeface="Arial MT"/>
            </a:endParaRPr>
          </a:p>
          <a:p>
            <a:pPr marL="478790" indent="-466090">
              <a:lnSpc>
                <a:spcPct val="100000"/>
              </a:lnSpc>
              <a:spcBef>
                <a:spcPts val="675"/>
              </a:spcBef>
              <a:buClr>
                <a:srgbClr val="081D57"/>
              </a:buClr>
              <a:buSzPct val="50000"/>
              <a:buFont typeface="Wingdings"/>
              <a:buChar char=""/>
              <a:tabLst>
                <a:tab pos="478790" algn="l"/>
              </a:tabLst>
            </a:pPr>
            <a:r>
              <a:rPr dirty="0" sz="2800">
                <a:latin typeface="Arial MT"/>
                <a:cs typeface="Arial MT"/>
              </a:rPr>
              <a:t>System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building</a:t>
            </a:r>
            <a:r>
              <a:rPr dirty="0" sz="2800" spc="-4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tools</a:t>
            </a:r>
            <a:r>
              <a:rPr dirty="0" sz="2800" spc="-65">
                <a:latin typeface="Arial MT"/>
                <a:cs typeface="Arial MT"/>
              </a:rPr>
              <a:t> </a:t>
            </a:r>
            <a:r>
              <a:rPr dirty="0" sz="2800">
                <a:latin typeface="Arial MT"/>
                <a:cs typeface="Arial MT"/>
              </a:rPr>
              <a:t>may</a:t>
            </a:r>
            <a:r>
              <a:rPr dirty="0" sz="2800" spc="-55">
                <a:latin typeface="Arial MT"/>
                <a:cs typeface="Arial MT"/>
              </a:rPr>
              <a:t> </a:t>
            </a:r>
            <a:r>
              <a:rPr dirty="0" sz="2800" spc="-10">
                <a:latin typeface="Arial MT"/>
                <a:cs typeface="Arial MT"/>
              </a:rPr>
              <a:t>provide</a:t>
            </a:r>
            <a:endParaRPr sz="2800">
              <a:latin typeface="Arial MT"/>
              <a:cs typeface="Arial MT"/>
            </a:endParaRPr>
          </a:p>
          <a:p>
            <a:pPr lvl="1" marL="1053465" indent="-460375">
              <a:lnSpc>
                <a:spcPct val="100000"/>
              </a:lnSpc>
              <a:spcBef>
                <a:spcPts val="500"/>
              </a:spcBef>
              <a:buChar char="•"/>
              <a:tabLst>
                <a:tab pos="1053465" algn="l"/>
              </a:tabLst>
            </a:pP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1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dependency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specification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language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interpreter</a:t>
            </a:r>
            <a:endParaRPr sz="2000">
              <a:latin typeface="Arial MT"/>
              <a:cs typeface="Arial MT"/>
            </a:endParaRPr>
          </a:p>
          <a:p>
            <a:pPr lvl="1" marL="1053465" indent="-460375">
              <a:lnSpc>
                <a:spcPct val="100000"/>
              </a:lnSpc>
              <a:spcBef>
                <a:spcPts val="480"/>
              </a:spcBef>
              <a:buChar char="•"/>
              <a:tabLst>
                <a:tab pos="1053465" algn="l"/>
              </a:tabLst>
            </a:pPr>
            <a:r>
              <a:rPr dirty="0" sz="2000" spc="-55">
                <a:latin typeface="Arial MT"/>
                <a:cs typeface="Arial MT"/>
              </a:rPr>
              <a:t>Tool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selection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instantiation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support</a:t>
            </a:r>
            <a:endParaRPr sz="2000">
              <a:latin typeface="Arial MT"/>
              <a:cs typeface="Arial MT"/>
            </a:endParaRPr>
          </a:p>
          <a:p>
            <a:pPr lvl="1" marL="1053465" indent="-460375">
              <a:lnSpc>
                <a:spcPct val="100000"/>
              </a:lnSpc>
              <a:spcBef>
                <a:spcPts val="480"/>
              </a:spcBef>
              <a:buChar char="•"/>
              <a:tabLst>
                <a:tab pos="1053465" algn="l"/>
              </a:tabLst>
            </a:pPr>
            <a:r>
              <a:rPr dirty="0" sz="2000">
                <a:latin typeface="Arial MT"/>
                <a:cs typeface="Arial MT"/>
              </a:rPr>
              <a:t>Distributed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compilation</a:t>
            </a:r>
            <a:endParaRPr sz="2000">
              <a:latin typeface="Arial MT"/>
              <a:cs typeface="Arial MT"/>
            </a:endParaRPr>
          </a:p>
          <a:p>
            <a:pPr lvl="1" marL="1053465" indent="-460375">
              <a:lnSpc>
                <a:spcPct val="100000"/>
              </a:lnSpc>
              <a:spcBef>
                <a:spcPts val="484"/>
              </a:spcBef>
              <a:buChar char="•"/>
              <a:tabLst>
                <a:tab pos="1053465" algn="l"/>
              </a:tabLst>
            </a:pPr>
            <a:r>
              <a:rPr dirty="0" sz="2000">
                <a:latin typeface="Arial MT"/>
                <a:cs typeface="Arial MT"/>
              </a:rPr>
              <a:t>Derived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object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management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dirty="0"/>
              <a:t>Component</a:t>
            </a:r>
            <a:r>
              <a:rPr dirty="0" spc="-35"/>
              <a:t> </a:t>
            </a:r>
            <a:r>
              <a:rPr dirty="0" spc="-10"/>
              <a:t>dependencies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4715" y="1501123"/>
            <a:ext cx="6079295" cy="4863116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©Ian</a:t>
            </a:r>
            <a:r>
              <a:rPr dirty="0" spc="-30"/>
              <a:t> </a:t>
            </a:r>
            <a:r>
              <a:rPr dirty="0"/>
              <a:t>Sommerville</a:t>
            </a:r>
            <a:r>
              <a:rPr dirty="0" spc="-35"/>
              <a:t> </a:t>
            </a:r>
            <a:r>
              <a:rPr dirty="0" spc="-20"/>
              <a:t>2000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Software</a:t>
            </a:r>
            <a:r>
              <a:rPr dirty="0" spc="-45"/>
              <a:t> </a:t>
            </a:r>
            <a:r>
              <a:rPr dirty="0"/>
              <a:t>Engineering, 6th</a:t>
            </a:r>
            <a:r>
              <a:rPr dirty="0" spc="-45"/>
              <a:t> </a:t>
            </a:r>
            <a:r>
              <a:rPr dirty="0"/>
              <a:t>edition.</a:t>
            </a:r>
            <a:r>
              <a:rPr dirty="0" spc="-35"/>
              <a:t> </a:t>
            </a:r>
            <a:r>
              <a:rPr dirty="0"/>
              <a:t>Chapter</a:t>
            </a:r>
            <a:r>
              <a:rPr dirty="0" spc="-30"/>
              <a:t> </a:t>
            </a:r>
            <a:r>
              <a:rPr dirty="0" spc="-25"/>
              <a:t>29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Slide</a:t>
            </a:r>
            <a:r>
              <a:rPr dirty="0" spc="-30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haris ahmed</dc:creator>
  <dc:title>Configuration management</dc:title>
  <dcterms:created xsi:type="dcterms:W3CDTF">2024-07-25T18:04:26Z</dcterms:created>
  <dcterms:modified xsi:type="dcterms:W3CDTF">2024-07-25T18:04:26Z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2024-07-15T00:00:00Z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2024-07-25T00:00:00Z</vt:filetime>
  </property>
  <property fmtid="{D5CDD505-2E9C-101B-9397-08002B2CF9AE}" pid="5" name="Producer">
    <vt:lpwstr>Microsoft® PowerPoint® LTSC</vt:lpwstr>
  </property>
</Properties>
</file>