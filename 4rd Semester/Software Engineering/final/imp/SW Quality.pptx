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51063" y="288036"/>
            <a:ext cx="923544" cy="1142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4527" y="1383791"/>
            <a:ext cx="7391400" cy="1127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961" y="1419605"/>
            <a:ext cx="7305675" cy="1270"/>
          </a:xfrm>
          <a:custGeom>
            <a:avLst/>
            <a:gdLst/>
            <a:ahLst/>
            <a:cxnLst/>
            <a:rect l="l" t="t" r="r" b="b"/>
            <a:pathLst>
              <a:path w="7305675" h="1269">
                <a:moveTo>
                  <a:pt x="0" y="0"/>
                </a:moveTo>
                <a:lnTo>
                  <a:pt x="7305548" y="1270"/>
                </a:lnTo>
              </a:path>
            </a:pathLst>
          </a:custGeom>
          <a:ln w="2540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3443" y="623061"/>
            <a:ext cx="6946391" cy="403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635" y="1618615"/>
            <a:ext cx="7966075" cy="4613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02701" y="6453632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235" y="2655823"/>
            <a:ext cx="48367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dirty="0" spc="-80"/>
              <a:t> </a:t>
            </a:r>
            <a:r>
              <a:rPr dirty="0"/>
              <a:t>24</a:t>
            </a:r>
            <a:r>
              <a:rPr dirty="0" spc="-55"/>
              <a:t> </a:t>
            </a:r>
            <a:r>
              <a:rPr dirty="0"/>
              <a:t>-</a:t>
            </a:r>
            <a:r>
              <a:rPr dirty="0" spc="-55"/>
              <a:t> </a:t>
            </a:r>
            <a:r>
              <a:rPr dirty="0"/>
              <a:t>Quality</a:t>
            </a:r>
            <a:r>
              <a:rPr dirty="0" spc="-12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635" y="635889"/>
            <a:ext cx="4769485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0" b="1">
                <a:solidFill>
                  <a:srgbClr val="46424D"/>
                </a:solidFill>
                <a:latin typeface="Arial"/>
                <a:cs typeface="Arial"/>
              </a:rPr>
              <a:t>Topics</a:t>
            </a:r>
            <a:r>
              <a:rPr dirty="0" sz="2400" spc="-5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covered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80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inspections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40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r>
              <a:rPr dirty="0" sz="2400" spc="-555">
                <a:solidFill>
                  <a:srgbClr val="46424D"/>
                </a:solidFill>
                <a:latin typeface="Arial MT"/>
                <a:cs typeface="Arial MT"/>
              </a:rPr>
              <a:t>e</a:t>
            </a:r>
            <a:r>
              <a:rPr dirty="0" sz="2400" spc="-535">
                <a:solidFill>
                  <a:srgbClr val="46424D"/>
                </a:solidFill>
                <a:latin typeface="Arial MT"/>
                <a:cs typeface="Arial MT"/>
              </a:rPr>
              <a:t>tr</a:t>
            </a:r>
            <a:r>
              <a:rPr dirty="0" sz="2400" spc="-555">
                <a:solidFill>
                  <a:srgbClr val="46424D"/>
                </a:solidFill>
                <a:latin typeface="Arial MT"/>
                <a:cs typeface="Arial MT"/>
              </a:rPr>
              <a:t>i</a:t>
            </a:r>
            <a:r>
              <a:rPr dirty="0" sz="2400" spc="-540">
                <a:solidFill>
                  <a:srgbClr val="46424D"/>
                </a:solidFill>
                <a:latin typeface="Arial MT"/>
                <a:cs typeface="Arial MT"/>
              </a:rPr>
              <a:t>c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65"/>
              <a:t> </a:t>
            </a:r>
            <a:r>
              <a:rPr dirty="0"/>
              <a:t>quality</a:t>
            </a:r>
            <a:r>
              <a:rPr dirty="0" spc="-155"/>
              <a:t> </a:t>
            </a:r>
            <a:r>
              <a:rPr dirty="0" spc="-10"/>
              <a:t>management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18615"/>
            <a:ext cx="7959090" cy="4591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6383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Concerned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ensuring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level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65">
                <a:solidFill>
                  <a:srgbClr val="46424D"/>
                </a:solidFill>
                <a:latin typeface="Arial MT"/>
                <a:cs typeface="Arial MT"/>
              </a:rPr>
              <a:t>qua</a:t>
            </a:r>
            <a:r>
              <a:rPr dirty="0" sz="2400" spc="-555">
                <a:solidFill>
                  <a:srgbClr val="46424D"/>
                </a:solidFill>
                <a:latin typeface="Arial MT"/>
                <a:cs typeface="Arial MT"/>
              </a:rPr>
              <a:t>li</a:t>
            </a:r>
            <a:r>
              <a:rPr dirty="0" sz="2400" spc="-545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430">
                <a:solidFill>
                  <a:srgbClr val="46424D"/>
                </a:solidFill>
                <a:latin typeface="Arial MT"/>
                <a:cs typeface="Arial MT"/>
              </a:rPr>
              <a:t>y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achieved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product.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Three</a:t>
            </a:r>
            <a:r>
              <a:rPr dirty="0" sz="2400" spc="-1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principal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concerns:</a:t>
            </a:r>
            <a:endParaRPr sz="2400">
              <a:latin typeface="Arial MT"/>
              <a:cs typeface="Arial MT"/>
            </a:endParaRPr>
          </a:p>
          <a:p>
            <a:pPr lvl="1" marL="756285" marR="22923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level,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concerned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establishing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framework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000" spc="-1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lead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high-quality</a:t>
            </a:r>
            <a:r>
              <a:rPr dirty="0" sz="2000" spc="-1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software.</a:t>
            </a:r>
            <a:endParaRPr sz="20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level,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involves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application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specific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checking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planned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0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followed.</a:t>
            </a:r>
            <a:endParaRPr sz="2000">
              <a:latin typeface="Arial MT"/>
              <a:cs typeface="Arial MT"/>
            </a:endParaRPr>
          </a:p>
          <a:p>
            <a:pPr lvl="1" marL="756285" marR="13906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level,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 management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also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concerned</a:t>
            </a:r>
            <a:r>
              <a:rPr dirty="0" sz="2000" spc="-2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with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establishing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project.</a:t>
            </a:r>
            <a:r>
              <a:rPr dirty="0" sz="20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000" spc="-2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should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set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goals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what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1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used.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dirty="0" spc="-75"/>
              <a:t> </a:t>
            </a:r>
            <a:r>
              <a:rPr dirty="0" spc="-10"/>
              <a:t>management</a:t>
            </a:r>
            <a:r>
              <a:rPr dirty="0" spc="-105"/>
              <a:t> </a:t>
            </a:r>
            <a:r>
              <a:rPr dirty="0" spc="-10"/>
              <a:t>activities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41424"/>
            <a:ext cx="7824470" cy="398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provides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independent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check</a:t>
            </a:r>
            <a:r>
              <a:rPr dirty="0" sz="2400" spc="-1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  <a:p>
            <a:pPr marL="355600" marR="62801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checks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65">
                <a:solidFill>
                  <a:srgbClr val="46424D"/>
                </a:solidFill>
                <a:latin typeface="Arial MT"/>
                <a:cs typeface="Arial MT"/>
              </a:rPr>
              <a:t>p</a:t>
            </a:r>
            <a:r>
              <a:rPr dirty="0" sz="2400" spc="-560">
                <a:solidFill>
                  <a:srgbClr val="46424D"/>
                </a:solidFill>
                <a:latin typeface="Arial MT"/>
                <a:cs typeface="Arial MT"/>
              </a:rPr>
              <a:t>r</a:t>
            </a:r>
            <a:r>
              <a:rPr dirty="0" sz="2400" spc="-565">
                <a:solidFill>
                  <a:srgbClr val="46424D"/>
                </a:solidFill>
                <a:latin typeface="Arial MT"/>
                <a:cs typeface="Arial MT"/>
              </a:rPr>
              <a:t>o</a:t>
            </a:r>
            <a:r>
              <a:rPr dirty="0" sz="2400" spc="-555">
                <a:solidFill>
                  <a:srgbClr val="46424D"/>
                </a:solidFill>
                <a:latin typeface="Arial MT"/>
                <a:cs typeface="Arial MT"/>
              </a:rPr>
              <a:t>j</a:t>
            </a:r>
            <a:r>
              <a:rPr dirty="0" sz="2400" spc="-565">
                <a:solidFill>
                  <a:srgbClr val="46424D"/>
                </a:solidFill>
                <a:latin typeface="Arial MT"/>
                <a:cs typeface="Arial MT"/>
              </a:rPr>
              <a:t>e</a:t>
            </a:r>
            <a:r>
              <a:rPr dirty="0" sz="2400" spc="-550">
                <a:solidFill>
                  <a:srgbClr val="46424D"/>
                </a:solidFill>
                <a:latin typeface="Arial MT"/>
                <a:cs typeface="Arial MT"/>
              </a:rPr>
              <a:t>c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 deliverables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ensure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consistent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with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  <a:p>
            <a:pPr marL="355600" marR="35496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independent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take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objective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view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software.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allows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them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report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without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being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influenced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software development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issues.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dirty="0" spc="-70"/>
              <a:t> </a:t>
            </a:r>
            <a:r>
              <a:rPr dirty="0" spc="-10"/>
              <a:t>management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software</a:t>
            </a:r>
            <a:r>
              <a:rPr dirty="0" spc="-130"/>
              <a:t> </a:t>
            </a:r>
            <a:r>
              <a:rPr dirty="0" spc="-10"/>
              <a:t>development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88" y="2386583"/>
            <a:ext cx="7266431" cy="248716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dirty="0" spc="-100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41424"/>
            <a:ext cx="7995920" cy="3257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sets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desired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qualities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81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how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assessed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significant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attributes.</a:t>
            </a:r>
            <a:endParaRPr sz="2400">
              <a:latin typeface="Arial MT"/>
              <a:cs typeface="Arial MT"/>
            </a:endParaRPr>
          </a:p>
          <a:p>
            <a:pPr marL="355600" marR="839469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55">
                <a:solidFill>
                  <a:srgbClr val="46424D"/>
                </a:solidFill>
                <a:latin typeface="Arial MT"/>
                <a:cs typeface="Arial MT"/>
              </a:rPr>
              <a:t>assessment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  <a:p>
            <a:pPr algn="just" marL="355600" marR="246379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organisational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55">
                <a:solidFill>
                  <a:srgbClr val="46424D"/>
                </a:solidFill>
                <a:latin typeface="Arial MT"/>
                <a:cs typeface="Arial MT"/>
              </a:rPr>
              <a:t>shouldbe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applied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and,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necessary,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used.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Quality</a:t>
            </a:r>
            <a:r>
              <a:rPr dirty="0" spc="-160"/>
              <a:t> </a:t>
            </a:r>
            <a:r>
              <a:rPr dirty="0" spc="-10"/>
              <a:t>plans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481347"/>
            <a:ext cx="6720205" cy="337185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introduction;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0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plans;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0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descriptions;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goals;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Risks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r>
              <a:rPr dirty="0" sz="20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management.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short,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succinct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85">
                <a:solidFill>
                  <a:srgbClr val="46424D"/>
                </a:solidFill>
                <a:latin typeface="Arial MT"/>
                <a:cs typeface="Arial MT"/>
              </a:rPr>
              <a:t>documents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long,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no-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0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read</a:t>
            </a:r>
            <a:r>
              <a:rPr dirty="0" sz="2000" spc="-1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them.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155"/>
              <a:t> </a:t>
            </a:r>
            <a:r>
              <a:rPr dirty="0" spc="-10"/>
              <a:t>quality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18615"/>
            <a:ext cx="7820659" cy="452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Quality,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simplistically,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means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885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r>
              <a:rPr dirty="0" sz="2400" spc="-894">
                <a:solidFill>
                  <a:srgbClr val="46424D"/>
                </a:solidFill>
                <a:latin typeface="Arial MT"/>
                <a:cs typeface="Arial MT"/>
              </a:rPr>
              <a:t>ee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its</a:t>
            </a:r>
            <a:r>
              <a:rPr dirty="0" sz="2400" spc="-3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specification.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problematical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endParaRPr sz="2400">
              <a:latin typeface="Arial MT"/>
              <a:cs typeface="Arial MT"/>
            </a:endParaRPr>
          </a:p>
          <a:p>
            <a:pPr lvl="1" marL="756285" marR="21590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tension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between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requirements 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(efficiency,</a:t>
            </a:r>
            <a:r>
              <a:rPr dirty="0" sz="20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reliability,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etc.)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developer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requirements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(maintainability,</a:t>
            </a:r>
            <a:r>
              <a:rPr dirty="0" sz="2000" spc="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reusability,</a:t>
            </a:r>
            <a:r>
              <a:rPr dirty="0" sz="20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etc.);</a:t>
            </a:r>
            <a:endParaRPr sz="2000">
              <a:latin typeface="Arial MT"/>
              <a:cs typeface="Arial MT"/>
            </a:endParaRPr>
          </a:p>
          <a:p>
            <a:pPr lvl="1" marL="756285" marR="1010919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difficult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specify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an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unambiguous</a:t>
            </a:r>
            <a:r>
              <a:rPr dirty="0" sz="20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way;</a:t>
            </a:r>
            <a:endParaRPr sz="2000">
              <a:latin typeface="Arial MT"/>
              <a:cs typeface="Arial MT"/>
            </a:endParaRPr>
          </a:p>
          <a:p>
            <a:pPr lvl="1" marL="756285" marR="753110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specifications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incomplete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often inconsistent.</a:t>
            </a:r>
            <a:endParaRPr sz="2000">
              <a:latin typeface="Arial MT"/>
              <a:cs typeface="Arial MT"/>
            </a:endParaRPr>
          </a:p>
          <a:p>
            <a:pPr marL="355600" marR="78486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focus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‘fitness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purpose’</a:t>
            </a:r>
            <a:r>
              <a:rPr dirty="0" sz="2400" spc="-1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rather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than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specification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conformance.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85"/>
              <a:t> </a:t>
            </a:r>
            <a:r>
              <a:rPr dirty="0"/>
              <a:t>fitness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135"/>
              <a:t> </a:t>
            </a:r>
            <a:r>
              <a:rPr dirty="0" spc="-10"/>
              <a:t>purpose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41424"/>
            <a:ext cx="7609205" cy="408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documentation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98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followed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process?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properly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tested?</a:t>
            </a:r>
            <a:endParaRPr sz="2400">
              <a:latin typeface="Arial MT"/>
              <a:cs typeface="Arial MT"/>
            </a:endParaRPr>
          </a:p>
          <a:p>
            <a:pPr marL="355600" marR="51689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sufficiently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dependable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put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80">
                <a:solidFill>
                  <a:srgbClr val="46424D"/>
                </a:solidFill>
                <a:latin typeface="Arial MT"/>
                <a:cs typeface="Arial MT"/>
              </a:rPr>
              <a:t>i</a:t>
            </a:r>
            <a:r>
              <a:rPr dirty="0" sz="2400" spc="-819">
                <a:solidFill>
                  <a:srgbClr val="46424D"/>
                </a:solidFill>
                <a:latin typeface="Arial MT"/>
                <a:cs typeface="Arial MT"/>
              </a:rPr>
              <a:t>n</a:t>
            </a:r>
            <a:r>
              <a:rPr dirty="0" sz="2400" spc="-705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o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use?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performance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acceptable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635">
                <a:solidFill>
                  <a:srgbClr val="46424D"/>
                </a:solidFill>
                <a:latin typeface="Arial MT"/>
                <a:cs typeface="Arial MT"/>
              </a:rPr>
              <a:t>no</a:t>
            </a:r>
            <a:r>
              <a:rPr dirty="0" sz="2400" spc="-630">
                <a:solidFill>
                  <a:srgbClr val="46424D"/>
                </a:solidFill>
                <a:latin typeface="Arial MT"/>
                <a:cs typeface="Arial MT"/>
              </a:rPr>
              <a:t>rm</a:t>
            </a:r>
            <a:r>
              <a:rPr dirty="0" sz="2400" spc="-635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l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use?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usable?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well-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structured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understandable?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25"/>
              <a:t> </a:t>
            </a:r>
            <a:r>
              <a:rPr dirty="0" spc="-10"/>
              <a:t>quality</a:t>
            </a:r>
            <a:r>
              <a:rPr dirty="0" spc="-150"/>
              <a:t> </a:t>
            </a:r>
            <a:r>
              <a:rPr dirty="0" spc="-10"/>
              <a:t>attributes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44500" y="2270505"/>
          <a:ext cx="8318500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Safety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28575">
                      <a:solidFill>
                        <a:srgbClr val="4F81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Understandability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28575">
                      <a:solidFill>
                        <a:srgbClr val="4F81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Portability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28575">
                      <a:solidFill>
                        <a:srgbClr val="4F81BB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Security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28575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  <a:solidFill>
                      <a:srgbClr val="DBE4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Testability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28575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  <a:solidFill>
                      <a:srgbClr val="DBE4F0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Usability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28575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  <a:solidFill>
                      <a:srgbClr val="DBE4F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Reliability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Adaptability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Reusability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Resilience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  <a:solidFill>
                      <a:srgbClr val="DBE4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Modularity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  <a:solidFill>
                      <a:srgbClr val="DBE4F0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Efficiency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  <a:solidFill>
                      <a:srgbClr val="DBE4F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Robustness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Complexity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Learnability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4F81BB"/>
                      </a:solidFill>
                      <a:prstDash val="solid"/>
                    </a:lnL>
                    <a:lnR w="12700">
                      <a:solidFill>
                        <a:srgbClr val="4F81BB"/>
                      </a:solidFill>
                      <a:prstDash val="solid"/>
                    </a:lnR>
                    <a:lnT w="12700">
                      <a:solidFill>
                        <a:srgbClr val="4F81BB"/>
                      </a:solidFill>
                      <a:prstDash val="solid"/>
                    </a:lnT>
                    <a:lnB w="12700">
                      <a:solidFill>
                        <a:srgbClr val="4F81B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635" y="635889"/>
            <a:ext cx="7830184" cy="4994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Quality</a:t>
            </a:r>
            <a:r>
              <a:rPr dirty="0" sz="2400" spc="-10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conflicts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80"/>
              </a:spcBef>
            </a:pPr>
            <a:endParaRPr sz="2400">
              <a:latin typeface="Arial"/>
              <a:cs typeface="Arial"/>
            </a:endParaRPr>
          </a:p>
          <a:p>
            <a:pPr marL="355600" marR="9334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possible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any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optimized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alof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–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example,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improving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robustness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lead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loss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performance.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therefore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most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being developed.</a:t>
            </a:r>
            <a:endParaRPr sz="2400">
              <a:latin typeface="Arial MT"/>
              <a:cs typeface="Arial MT"/>
            </a:endParaRPr>
          </a:p>
          <a:p>
            <a:pPr marL="355600" marR="662305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include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definition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65">
                <a:solidFill>
                  <a:srgbClr val="46424D"/>
                </a:solidFill>
                <a:latin typeface="Arial MT"/>
                <a:cs typeface="Arial MT"/>
              </a:rPr>
              <a:t>qua</a:t>
            </a:r>
            <a:r>
              <a:rPr dirty="0" sz="2400" spc="-555">
                <a:solidFill>
                  <a:srgbClr val="46424D"/>
                </a:solidFill>
                <a:latin typeface="Arial MT"/>
                <a:cs typeface="Arial MT"/>
              </a:rPr>
              <a:t>li</a:t>
            </a:r>
            <a:r>
              <a:rPr dirty="0" sz="2400" spc="-545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y assessment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process,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agreed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way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assessing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whether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quality,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maintainability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robustness,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present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product.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product</a:t>
            </a:r>
            <a:r>
              <a:rPr dirty="0" spc="-120"/>
              <a:t> </a:t>
            </a:r>
            <a:r>
              <a:rPr dirty="0" spc="-10"/>
              <a:t>quality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18615"/>
            <a:ext cx="8018145" cy="460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9784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influenced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695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880">
                <a:solidFill>
                  <a:srgbClr val="46424D"/>
                </a:solidFill>
                <a:latin typeface="Arial MT"/>
                <a:cs typeface="Arial MT"/>
              </a:rPr>
              <a:t>h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quality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production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  <a:p>
            <a:pPr marL="355600" marR="11747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965">
                <a:solidFill>
                  <a:srgbClr val="46424D"/>
                </a:solidFill>
                <a:latin typeface="Arial MT"/>
                <a:cs typeface="Arial MT"/>
              </a:rPr>
              <a:t>s</a:t>
            </a:r>
            <a:r>
              <a:rPr dirty="0" sz="2400" spc="-975">
                <a:solidFill>
                  <a:srgbClr val="46424D"/>
                </a:solidFill>
                <a:latin typeface="Arial MT"/>
                <a:cs typeface="Arial MT"/>
              </a:rPr>
              <a:t>o</a:t>
            </a:r>
            <a:r>
              <a:rPr dirty="0" sz="2400" spc="-969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product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hard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assess.</a:t>
            </a:r>
            <a:endParaRPr sz="2400">
              <a:latin typeface="Arial MT"/>
              <a:cs typeface="Arial MT"/>
            </a:endParaRPr>
          </a:p>
          <a:p>
            <a:pPr algn="just" marL="355600" marR="4699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However,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very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complex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poorly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70">
                <a:solidFill>
                  <a:srgbClr val="46424D"/>
                </a:solidFill>
                <a:latin typeface="Arial MT"/>
                <a:cs typeface="Arial MT"/>
              </a:rPr>
              <a:t>understood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relationship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between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product quality.</a:t>
            </a:r>
            <a:endParaRPr sz="2400">
              <a:latin typeface="Arial MT"/>
              <a:cs typeface="Arial MT"/>
            </a:endParaRPr>
          </a:p>
          <a:p>
            <a:pPr lvl="1" marL="756285" marR="14287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individual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skills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particularly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development;</a:t>
            </a:r>
            <a:endParaRPr sz="20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External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factors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novelty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need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accelerated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impair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product quality.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155"/>
              <a:t> </a:t>
            </a:r>
            <a:r>
              <a:rPr dirty="0" spc="-10"/>
              <a:t>standards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18615"/>
            <a:ext cx="8078470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73709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45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400" spc="-2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important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role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quality management.</a:t>
            </a:r>
            <a:endParaRPr sz="2400">
              <a:latin typeface="Arial MT"/>
              <a:cs typeface="Arial MT"/>
            </a:endParaRPr>
          </a:p>
          <a:p>
            <a:pPr marL="355600" marR="37592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international,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national,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7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dirty="0" sz="2400" spc="-5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>
              <a:latin typeface="Arial MT"/>
              <a:cs typeface="Arial MT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400" spc="5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5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dirty="0" sz="2400" spc="5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characteristics</a:t>
            </a:r>
            <a:r>
              <a:rPr dirty="0" sz="2400" spc="5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5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400" spc="5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434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components should exhibit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e.g.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common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programming style.</a:t>
            </a:r>
            <a:endParaRPr sz="2400">
              <a:latin typeface="Arial MT"/>
              <a:cs typeface="Arial MT"/>
            </a:endParaRPr>
          </a:p>
          <a:p>
            <a:pPr algn="just" marL="355600" marR="65913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5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5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dirty="0" sz="2400" spc="5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5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5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5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70">
                <a:solidFill>
                  <a:srgbClr val="46424D"/>
                </a:solidFill>
                <a:latin typeface="Arial MT"/>
                <a:cs typeface="Arial MT"/>
              </a:rPr>
              <a:t>p</a:t>
            </a:r>
            <a:r>
              <a:rPr dirty="0" sz="2400" spc="-565">
                <a:solidFill>
                  <a:srgbClr val="46424D"/>
                </a:solidFill>
                <a:latin typeface="Arial MT"/>
                <a:cs typeface="Arial MT"/>
              </a:rPr>
              <a:t>r</a:t>
            </a:r>
            <a:r>
              <a:rPr dirty="0" sz="2400" spc="-570">
                <a:solidFill>
                  <a:srgbClr val="46424D"/>
                </a:solidFill>
                <a:latin typeface="Arial MT"/>
                <a:cs typeface="Arial MT"/>
              </a:rPr>
              <a:t>o</a:t>
            </a:r>
            <a:r>
              <a:rPr dirty="0" sz="2400" spc="-555">
                <a:solidFill>
                  <a:srgbClr val="46424D"/>
                </a:solidFill>
                <a:latin typeface="Arial MT"/>
                <a:cs typeface="Arial MT"/>
              </a:rPr>
              <a:t>c</a:t>
            </a:r>
            <a:r>
              <a:rPr dirty="0" sz="2400" spc="-570">
                <a:solidFill>
                  <a:srgbClr val="46424D"/>
                </a:solidFill>
                <a:latin typeface="Arial MT"/>
                <a:cs typeface="Arial MT"/>
              </a:rPr>
              <a:t>e</a:t>
            </a:r>
            <a:r>
              <a:rPr dirty="0" sz="2400" spc="-555">
                <a:solidFill>
                  <a:srgbClr val="46424D"/>
                </a:solidFill>
                <a:latin typeface="Arial MT"/>
                <a:cs typeface="Arial MT"/>
              </a:rPr>
              <a:t>s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s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should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enacted.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Product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75"/>
              <a:t> </a:t>
            </a:r>
            <a:r>
              <a:rPr dirty="0"/>
              <a:t>process</a:t>
            </a:r>
            <a:r>
              <a:rPr dirty="0" spc="-80"/>
              <a:t> </a:t>
            </a:r>
            <a:r>
              <a:rPr dirty="0" spc="-10"/>
              <a:t>standards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44500" y="1959736"/>
          <a:ext cx="8318500" cy="274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1600" spc="-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standards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Process</a:t>
                      </a:r>
                      <a:r>
                        <a:rPr dirty="0" sz="160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standards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Design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review</a:t>
                      </a:r>
                      <a:r>
                        <a:rPr dirty="0" sz="16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form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Design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review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conduct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Requirements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document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15925">
                        <a:lnSpc>
                          <a:spcPts val="1905"/>
                        </a:lnSpc>
                        <a:spcBef>
                          <a:spcPts val="27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structure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Submission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new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code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for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16559">
                        <a:lnSpc>
                          <a:spcPts val="1905"/>
                        </a:lnSpc>
                        <a:spcBef>
                          <a:spcPts val="27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60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building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Method</a:t>
                      </a:r>
                      <a:r>
                        <a:rPr dirty="0" sz="160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header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format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Version</a:t>
                      </a:r>
                      <a:r>
                        <a:rPr dirty="0" sz="16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release</a:t>
                      </a:r>
                      <a:r>
                        <a:rPr dirty="0" sz="160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process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Java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programming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style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plan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approval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process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415925">
                        <a:lnSpc>
                          <a:spcPts val="1864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plan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format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4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Change</a:t>
                      </a:r>
                      <a:r>
                        <a:rPr dirty="0" sz="16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6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process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415925">
                        <a:lnSpc>
                          <a:spcPts val="1864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Change</a:t>
                      </a:r>
                      <a:r>
                        <a:rPr dirty="0" sz="16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request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form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864"/>
                        </a:lnSpc>
                      </a:pPr>
                      <a:r>
                        <a:rPr dirty="0" sz="1600" spc="-45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160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recording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process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dirty="0" spc="-75"/>
              <a:t> </a:t>
            </a:r>
            <a:r>
              <a:rPr dirty="0"/>
              <a:t>with</a:t>
            </a:r>
            <a:r>
              <a:rPr dirty="0" spc="-110"/>
              <a:t> </a:t>
            </a:r>
            <a:r>
              <a:rPr dirty="0" spc="-10"/>
              <a:t>standards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41424"/>
            <a:ext cx="7412990" cy="2526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seen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relevant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up-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to-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date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engineers.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much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bureaucratic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form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filing.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unsupported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tools,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tedious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700">
                <a:solidFill>
                  <a:srgbClr val="46424D"/>
                </a:solidFill>
                <a:latin typeface="Arial MT"/>
                <a:cs typeface="Arial MT"/>
              </a:rPr>
              <a:t>f</a:t>
            </a:r>
            <a:r>
              <a:rPr dirty="0" sz="2400" spc="-885">
                <a:solidFill>
                  <a:srgbClr val="46424D"/>
                </a:solidFill>
                <a:latin typeface="Arial MT"/>
                <a:cs typeface="Arial MT"/>
              </a:rPr>
              <a:t>o</a:t>
            </a:r>
            <a:r>
              <a:rPr dirty="0" sz="2400" spc="-840">
                <a:solidFill>
                  <a:srgbClr val="46424D"/>
                </a:solidFill>
                <a:latin typeface="Arial MT"/>
                <a:cs typeface="Arial MT"/>
              </a:rPr>
              <a:t>r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filling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maintain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documentation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associated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Standards</a:t>
            </a:r>
            <a:r>
              <a:rPr dirty="0" spc="-165"/>
              <a:t> </a:t>
            </a:r>
            <a:r>
              <a:rPr dirty="0" spc="-10"/>
              <a:t>development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18615"/>
            <a:ext cx="7351395" cy="3676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  <a:tab pos="381317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practitioners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development.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Engineers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630">
                <a:solidFill>
                  <a:srgbClr val="46424D"/>
                </a:solidFill>
                <a:latin typeface="Arial MT"/>
                <a:cs typeface="Arial MT"/>
              </a:rPr>
              <a:t>s</a:t>
            </a:r>
            <a:r>
              <a:rPr dirty="0" sz="2400" spc="-640">
                <a:solidFill>
                  <a:srgbClr val="46424D"/>
                </a:solidFill>
                <a:latin typeface="Arial MT"/>
                <a:cs typeface="Arial MT"/>
              </a:rPr>
              <a:t>hou</a:t>
            </a:r>
            <a:r>
              <a:rPr dirty="0" sz="2400" spc="-560">
                <a:solidFill>
                  <a:srgbClr val="46424D"/>
                </a:solidFill>
                <a:latin typeface="Arial MT"/>
                <a:cs typeface="Arial MT"/>
              </a:rPr>
              <a:t>l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d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understand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rationale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underlying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standard.</a:t>
            </a:r>
            <a:endParaRPr sz="2400">
              <a:latin typeface="Arial MT"/>
              <a:cs typeface="Arial MT"/>
            </a:endParaRPr>
          </a:p>
          <a:p>
            <a:pPr marL="355600" marR="43434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usage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regularly. Standards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quickly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become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outdated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this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reduces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credibility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amongst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practitioners.</a:t>
            </a:r>
            <a:endParaRPr sz="2400">
              <a:latin typeface="Arial MT"/>
              <a:cs typeface="Arial MT"/>
            </a:endParaRPr>
          </a:p>
          <a:p>
            <a:pPr marL="355600" marR="85153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Detailed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specialized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695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819">
                <a:solidFill>
                  <a:srgbClr val="46424D"/>
                </a:solidFill>
                <a:latin typeface="Arial MT"/>
                <a:cs typeface="Arial MT"/>
              </a:rPr>
              <a:t>oo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l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support.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Excessive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clerical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most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significant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complaint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against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Web-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forms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good</a:t>
            </a:r>
            <a:r>
              <a:rPr dirty="0" sz="2000" spc="-1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enough.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dirty="0" spc="-30"/>
              <a:t> </a:t>
            </a:r>
            <a:r>
              <a:rPr dirty="0"/>
              <a:t>9001</a:t>
            </a:r>
            <a:r>
              <a:rPr dirty="0" spc="-25"/>
              <a:t> </a:t>
            </a:r>
            <a:r>
              <a:rPr dirty="0" spc="-20"/>
              <a:t>standards</a:t>
            </a:r>
            <a:r>
              <a:rPr dirty="0" spc="-105"/>
              <a:t> </a:t>
            </a:r>
            <a:r>
              <a:rPr dirty="0" spc="-10"/>
              <a:t>framework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486409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An</a:t>
            </a:r>
            <a:r>
              <a:rPr dirty="0" spc="-55"/>
              <a:t> </a:t>
            </a:r>
            <a:r>
              <a:rPr dirty="0" spc="-10"/>
              <a:t>international</a:t>
            </a:r>
            <a:r>
              <a:rPr dirty="0" spc="-75"/>
              <a:t> </a:t>
            </a:r>
            <a:r>
              <a:rPr dirty="0"/>
              <a:t>set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standards</a:t>
            </a:r>
            <a:r>
              <a:rPr dirty="0" spc="-75"/>
              <a:t> </a:t>
            </a:r>
            <a:r>
              <a:rPr dirty="0"/>
              <a:t>that</a:t>
            </a:r>
            <a:r>
              <a:rPr dirty="0" spc="-60"/>
              <a:t> </a:t>
            </a:r>
            <a:r>
              <a:rPr dirty="0"/>
              <a:t>can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65"/>
              <a:t> </a:t>
            </a:r>
            <a:r>
              <a:rPr dirty="0"/>
              <a:t>used</a:t>
            </a:r>
            <a:r>
              <a:rPr dirty="0" spc="-55"/>
              <a:t> </a:t>
            </a:r>
            <a:r>
              <a:rPr dirty="0" spc="-910"/>
              <a:t>a</a:t>
            </a:r>
            <a:r>
              <a:rPr dirty="0" spc="-240"/>
              <a:t>s</a:t>
            </a:r>
            <a:r>
              <a:rPr dirty="0" spc="-30"/>
              <a:t>a</a:t>
            </a:r>
            <a:r>
              <a:rPr dirty="0" spc="-395"/>
              <a:t> </a:t>
            </a:r>
            <a:r>
              <a:rPr dirty="0"/>
              <a:t>basis</a:t>
            </a:r>
            <a:r>
              <a:rPr dirty="0" spc="-95"/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 spc="-10"/>
              <a:t>developing</a:t>
            </a:r>
            <a:r>
              <a:rPr dirty="0" spc="-80"/>
              <a:t> </a:t>
            </a:r>
            <a:r>
              <a:rPr dirty="0"/>
              <a:t>quality</a:t>
            </a:r>
            <a:r>
              <a:rPr dirty="0" spc="-90"/>
              <a:t> </a:t>
            </a:r>
            <a:r>
              <a:rPr dirty="0"/>
              <a:t>management</a:t>
            </a:r>
            <a:r>
              <a:rPr dirty="0" spc="-35"/>
              <a:t> </a:t>
            </a:r>
            <a:r>
              <a:rPr dirty="0" spc="-10"/>
              <a:t>systems.</a:t>
            </a:r>
          </a:p>
          <a:p>
            <a:pPr marL="355600" marR="3810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ISO</a:t>
            </a:r>
            <a:r>
              <a:rPr dirty="0" spc="-65"/>
              <a:t> </a:t>
            </a:r>
            <a:r>
              <a:rPr dirty="0"/>
              <a:t>9001,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most</a:t>
            </a:r>
            <a:r>
              <a:rPr dirty="0" spc="-55"/>
              <a:t> </a:t>
            </a:r>
            <a:r>
              <a:rPr dirty="0"/>
              <a:t>general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these</a:t>
            </a:r>
            <a:r>
              <a:rPr dirty="0" spc="-75"/>
              <a:t> </a:t>
            </a:r>
            <a:r>
              <a:rPr dirty="0"/>
              <a:t>standards,</a:t>
            </a:r>
            <a:r>
              <a:rPr dirty="0" spc="-55"/>
              <a:t> </a:t>
            </a:r>
            <a:r>
              <a:rPr dirty="0" spc="-565"/>
              <a:t>app</a:t>
            </a:r>
            <a:r>
              <a:rPr dirty="0" spc="-555"/>
              <a:t>li</a:t>
            </a:r>
            <a:r>
              <a:rPr dirty="0" spc="-565"/>
              <a:t>e</a:t>
            </a:r>
            <a:r>
              <a:rPr dirty="0" spc="-409"/>
              <a:t>s</a:t>
            </a:r>
            <a:r>
              <a:rPr dirty="0" spc="-15"/>
              <a:t>to</a:t>
            </a:r>
            <a:r>
              <a:rPr dirty="0" spc="-425"/>
              <a:t> </a:t>
            </a:r>
            <a:r>
              <a:rPr dirty="0" spc="-10"/>
              <a:t>organizations</a:t>
            </a:r>
            <a:r>
              <a:rPr dirty="0" spc="-105"/>
              <a:t> </a:t>
            </a:r>
            <a:r>
              <a:rPr dirty="0"/>
              <a:t>that</a:t>
            </a:r>
            <a:r>
              <a:rPr dirty="0" spc="-70"/>
              <a:t> </a:t>
            </a:r>
            <a:r>
              <a:rPr dirty="0"/>
              <a:t>design,</a:t>
            </a:r>
            <a:r>
              <a:rPr dirty="0" spc="-100"/>
              <a:t> </a:t>
            </a:r>
            <a:r>
              <a:rPr dirty="0"/>
              <a:t>develop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75"/>
              <a:t> </a:t>
            </a:r>
            <a:r>
              <a:rPr dirty="0" spc="-10"/>
              <a:t>maintain </a:t>
            </a:r>
            <a:r>
              <a:rPr dirty="0"/>
              <a:t>products,</a:t>
            </a:r>
            <a:r>
              <a:rPr dirty="0" spc="-170"/>
              <a:t> </a:t>
            </a:r>
            <a:r>
              <a:rPr dirty="0"/>
              <a:t>including</a:t>
            </a:r>
            <a:r>
              <a:rPr dirty="0" spc="-105"/>
              <a:t> </a:t>
            </a:r>
            <a:r>
              <a:rPr dirty="0" spc="-10"/>
              <a:t>software.</a:t>
            </a: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ISO</a:t>
            </a:r>
            <a:r>
              <a:rPr dirty="0" spc="-45"/>
              <a:t> </a:t>
            </a:r>
            <a:r>
              <a:rPr dirty="0"/>
              <a:t>9001</a:t>
            </a:r>
            <a:r>
              <a:rPr dirty="0" spc="-45"/>
              <a:t> </a:t>
            </a:r>
            <a:r>
              <a:rPr dirty="0"/>
              <a:t>standard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framework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 spc="-10"/>
              <a:t>developing</a:t>
            </a: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/>
              <a:t>software</a:t>
            </a:r>
            <a:r>
              <a:rPr dirty="0" spc="-135"/>
              <a:t> </a:t>
            </a:r>
            <a:r>
              <a:rPr dirty="0" spc="-10"/>
              <a:t>standards.</a:t>
            </a:r>
          </a:p>
          <a:p>
            <a:pPr lvl="1" marL="756285" marR="5080" indent="-28702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sets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general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principles,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describes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processes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general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lays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procedures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defined.</a:t>
            </a:r>
            <a:r>
              <a:rPr dirty="0" sz="20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documented</a:t>
            </a:r>
            <a:r>
              <a:rPr dirty="0" sz="20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manual.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dirty="0" spc="-60"/>
              <a:t> </a:t>
            </a:r>
            <a:r>
              <a:rPr dirty="0"/>
              <a:t>9001</a:t>
            </a:r>
            <a:r>
              <a:rPr dirty="0" spc="-55"/>
              <a:t> </a:t>
            </a:r>
            <a:r>
              <a:rPr dirty="0"/>
              <a:t>core</a:t>
            </a:r>
            <a:r>
              <a:rPr dirty="0" spc="-125"/>
              <a:t> </a:t>
            </a:r>
            <a:r>
              <a:rPr dirty="0" spc="-10"/>
              <a:t>processes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8276" y="1623060"/>
            <a:ext cx="4727448" cy="450342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dirty="0" spc="-45"/>
              <a:t> </a:t>
            </a:r>
            <a:r>
              <a:rPr dirty="0"/>
              <a:t>9001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quality</a:t>
            </a:r>
            <a:r>
              <a:rPr dirty="0" spc="-145"/>
              <a:t> </a:t>
            </a:r>
            <a:r>
              <a:rPr dirty="0" spc="-10"/>
              <a:t>management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1600200"/>
            <a:ext cx="7559040" cy="452628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ISO</a:t>
            </a:r>
            <a:r>
              <a:rPr dirty="0" spc="-50"/>
              <a:t> </a:t>
            </a:r>
            <a:r>
              <a:rPr dirty="0"/>
              <a:t>9001</a:t>
            </a:r>
            <a:r>
              <a:rPr dirty="0" spc="-70"/>
              <a:t> </a:t>
            </a:r>
            <a:r>
              <a:rPr dirty="0" spc="-10"/>
              <a:t>certification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41424"/>
            <a:ext cx="6906895" cy="2891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procedures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endParaRPr sz="2400">
              <a:latin typeface="Arial MT"/>
              <a:cs typeface="Arial MT"/>
            </a:endParaRPr>
          </a:p>
          <a:p>
            <a:pPr algn="just" marL="355600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documented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organisational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manual.</a:t>
            </a:r>
            <a:endParaRPr sz="2400">
              <a:latin typeface="Arial MT"/>
              <a:cs typeface="Arial MT"/>
            </a:endParaRPr>
          </a:p>
          <a:p>
            <a:pPr algn="just" marL="355600" marR="3556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external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body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certify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85">
                <a:solidFill>
                  <a:srgbClr val="46424D"/>
                </a:solidFill>
                <a:latin typeface="Arial MT"/>
                <a:cs typeface="Arial MT"/>
              </a:rPr>
              <a:t>organisation’s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manual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conforms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ISO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9000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400">
              <a:latin typeface="Arial MT"/>
              <a:cs typeface="Arial MT"/>
            </a:endParaRPr>
          </a:p>
          <a:p>
            <a:pPr algn="just" marL="355600" marR="27559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suppliers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ISO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975">
                <a:solidFill>
                  <a:srgbClr val="46424D"/>
                </a:solidFill>
                <a:latin typeface="Arial MT"/>
                <a:cs typeface="Arial MT"/>
              </a:rPr>
              <a:t>9000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certified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although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need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flexibility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here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increasingly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recognised.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Reviews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inspections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618615"/>
            <a:ext cx="7794625" cy="443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group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examines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part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29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590">
                <a:solidFill>
                  <a:srgbClr val="46424D"/>
                </a:solidFill>
                <a:latin typeface="Arial MT"/>
                <a:cs typeface="Arial MT"/>
              </a:rPr>
              <a:t>d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its documentation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find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potential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problems.</a:t>
            </a:r>
            <a:endParaRPr sz="2400">
              <a:latin typeface="Arial MT"/>
              <a:cs typeface="Arial MT"/>
            </a:endParaRPr>
          </a:p>
          <a:p>
            <a:pPr marL="355600" marR="115125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documents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'signed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off'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815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3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signifies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next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stage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approved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by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  <a:p>
            <a:pPr marL="355600" marR="1468755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types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75">
                <a:solidFill>
                  <a:srgbClr val="46424D"/>
                </a:solidFill>
                <a:latin typeface="Arial MT"/>
                <a:cs typeface="Arial MT"/>
              </a:rPr>
              <a:t>diferent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objectives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Inspections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defect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removal</a:t>
            </a:r>
            <a:r>
              <a:rPr dirty="0" sz="2000" spc="-1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(product);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assessment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(product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process);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(product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standards).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635" y="635889"/>
            <a:ext cx="6647815" cy="462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Quality</a:t>
            </a:r>
            <a:r>
              <a:rPr dirty="0" sz="2400" spc="-10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reviews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80"/>
              </a:spcBef>
            </a:pPr>
            <a:endParaRPr sz="2400">
              <a:latin typeface="Arial"/>
              <a:cs typeface="Arial"/>
            </a:endParaRPr>
          </a:p>
          <a:p>
            <a:pPr marL="355600" marR="230504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group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carefully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examine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part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orall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its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associated documentation.</a:t>
            </a:r>
            <a:endParaRPr sz="2400">
              <a:latin typeface="Arial MT"/>
              <a:cs typeface="Arial MT"/>
            </a:endParaRPr>
          </a:p>
          <a:p>
            <a:pPr marL="355600" marR="117538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Code,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designs,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specifications,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test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635">
                <a:solidFill>
                  <a:srgbClr val="46424D"/>
                </a:solidFill>
                <a:latin typeface="Arial MT"/>
                <a:cs typeface="Arial MT"/>
              </a:rPr>
              <a:t>p</a:t>
            </a:r>
            <a:r>
              <a:rPr dirty="0" sz="2400" spc="-555">
                <a:solidFill>
                  <a:srgbClr val="46424D"/>
                </a:solidFill>
                <a:latin typeface="Arial MT"/>
                <a:cs typeface="Arial MT"/>
              </a:rPr>
              <a:t>l</a:t>
            </a:r>
            <a:r>
              <a:rPr dirty="0" sz="2400" spc="-635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625">
                <a:solidFill>
                  <a:srgbClr val="46424D"/>
                </a:solidFill>
                <a:latin typeface="Arial MT"/>
                <a:cs typeface="Arial MT"/>
              </a:rPr>
              <a:t>s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,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standards,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etc.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reviewed.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documents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'signed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off'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8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3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signifies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next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stage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approved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by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software</a:t>
            </a:r>
            <a:r>
              <a:rPr dirty="0" spc="-55"/>
              <a:t> </a:t>
            </a:r>
            <a:r>
              <a:rPr dirty="0" spc="-10"/>
              <a:t>review</a:t>
            </a:r>
            <a:r>
              <a:rPr dirty="0" spc="-95"/>
              <a:t> </a:t>
            </a:r>
            <a:r>
              <a:rPr dirty="0" spc="-10"/>
              <a:t>process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961132"/>
            <a:ext cx="8229600" cy="1804416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Reviews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agile</a:t>
            </a:r>
            <a:r>
              <a:rPr dirty="0" spc="-150"/>
              <a:t> </a:t>
            </a:r>
            <a:r>
              <a:rPr dirty="0" spc="-10"/>
              <a:t>methods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736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The</a:t>
            </a:r>
            <a:r>
              <a:rPr dirty="0" spc="-85"/>
              <a:t> </a:t>
            </a:r>
            <a:r>
              <a:rPr dirty="0"/>
              <a:t>review</a:t>
            </a:r>
            <a:r>
              <a:rPr dirty="0" spc="-80"/>
              <a:t> </a:t>
            </a:r>
            <a:r>
              <a:rPr dirty="0"/>
              <a:t>process</a:t>
            </a:r>
            <a:r>
              <a:rPr dirty="0" spc="-80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agile</a:t>
            </a:r>
            <a:r>
              <a:rPr dirty="0" spc="-60"/>
              <a:t> </a:t>
            </a:r>
            <a:r>
              <a:rPr dirty="0"/>
              <a:t>software</a:t>
            </a:r>
            <a:r>
              <a:rPr dirty="0" spc="-50"/>
              <a:t> </a:t>
            </a:r>
            <a:r>
              <a:rPr dirty="0" spc="-130"/>
              <a:t>development</a:t>
            </a:r>
            <a:r>
              <a:rPr dirty="0" spc="-265"/>
              <a:t> </a:t>
            </a:r>
            <a:r>
              <a:rPr dirty="0" spc="-25"/>
              <a:t>is </a:t>
            </a:r>
            <a:r>
              <a:rPr dirty="0"/>
              <a:t>usually</a:t>
            </a:r>
            <a:r>
              <a:rPr dirty="0" spc="-125"/>
              <a:t> </a:t>
            </a:r>
            <a:r>
              <a:rPr dirty="0" spc="-10"/>
              <a:t>informal.</a:t>
            </a:r>
          </a:p>
          <a:p>
            <a:pPr lvl="1" marL="756285" marR="292735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Scrum,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example,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meeting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after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each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iteration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completed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(a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sprint</a:t>
            </a:r>
            <a:r>
              <a:rPr dirty="0" sz="2000" spc="-2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review),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issues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1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discussed.</a:t>
            </a:r>
            <a:endParaRPr sz="2000">
              <a:latin typeface="Arial MT"/>
              <a:cs typeface="Arial MT"/>
            </a:endParaRPr>
          </a:p>
          <a:p>
            <a:pPr marL="355600" marR="274955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In</a:t>
            </a:r>
            <a:r>
              <a:rPr dirty="0" spc="-65"/>
              <a:t> </a:t>
            </a:r>
            <a:r>
              <a:rPr dirty="0"/>
              <a:t>extreme</a:t>
            </a:r>
            <a:r>
              <a:rPr dirty="0" spc="-90"/>
              <a:t> </a:t>
            </a:r>
            <a:r>
              <a:rPr dirty="0" spc="-10"/>
              <a:t>programming,</a:t>
            </a:r>
            <a:r>
              <a:rPr dirty="0" spc="-105"/>
              <a:t> </a:t>
            </a:r>
            <a:r>
              <a:rPr dirty="0"/>
              <a:t>pair</a:t>
            </a:r>
            <a:r>
              <a:rPr dirty="0" spc="-70"/>
              <a:t> </a:t>
            </a:r>
            <a:r>
              <a:rPr dirty="0" spc="-10"/>
              <a:t>programming</a:t>
            </a:r>
            <a:r>
              <a:rPr dirty="0" spc="-90"/>
              <a:t> </a:t>
            </a:r>
            <a:r>
              <a:rPr dirty="0"/>
              <a:t>ensures</a:t>
            </a:r>
            <a:r>
              <a:rPr dirty="0" spc="-75"/>
              <a:t> </a:t>
            </a:r>
            <a:r>
              <a:rPr dirty="0" spc="-690"/>
              <a:t>t</a:t>
            </a:r>
            <a:r>
              <a:rPr dirty="0" spc="-840"/>
              <a:t>ha</a:t>
            </a:r>
            <a:r>
              <a:rPr dirty="0" spc="-20"/>
              <a:t>t</a:t>
            </a:r>
            <a:r>
              <a:rPr dirty="0"/>
              <a:t> code</a:t>
            </a:r>
            <a:r>
              <a:rPr dirty="0" spc="-120"/>
              <a:t> </a:t>
            </a:r>
            <a:r>
              <a:rPr dirty="0"/>
              <a:t>is</a:t>
            </a:r>
            <a:r>
              <a:rPr dirty="0" spc="-100"/>
              <a:t> </a:t>
            </a:r>
            <a:r>
              <a:rPr dirty="0"/>
              <a:t>constantly</a:t>
            </a:r>
            <a:r>
              <a:rPr dirty="0" spc="-80"/>
              <a:t> </a:t>
            </a:r>
            <a:r>
              <a:rPr dirty="0"/>
              <a:t>being</a:t>
            </a:r>
            <a:r>
              <a:rPr dirty="0" spc="-100"/>
              <a:t> </a:t>
            </a:r>
            <a:r>
              <a:rPr dirty="0"/>
              <a:t>examined</a:t>
            </a:r>
            <a:r>
              <a:rPr dirty="0" spc="-100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/>
              <a:t>reviewed</a:t>
            </a:r>
            <a:r>
              <a:rPr dirty="0" spc="-105"/>
              <a:t> </a:t>
            </a:r>
            <a:r>
              <a:rPr dirty="0" spc="-25"/>
              <a:t>by </a:t>
            </a:r>
            <a:r>
              <a:rPr dirty="0"/>
              <a:t>another</a:t>
            </a:r>
            <a:r>
              <a:rPr dirty="0" spc="-110"/>
              <a:t> </a:t>
            </a:r>
            <a:r>
              <a:rPr dirty="0"/>
              <a:t>team</a:t>
            </a:r>
            <a:r>
              <a:rPr dirty="0" spc="-100"/>
              <a:t> </a:t>
            </a:r>
            <a:r>
              <a:rPr dirty="0" spc="-10"/>
              <a:t>member.</a:t>
            </a: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XP</a:t>
            </a:r>
            <a:r>
              <a:rPr dirty="0" spc="-110"/>
              <a:t> </a:t>
            </a:r>
            <a:r>
              <a:rPr dirty="0"/>
              <a:t>relies</a:t>
            </a:r>
            <a:r>
              <a:rPr dirty="0" spc="-70"/>
              <a:t> </a:t>
            </a:r>
            <a:r>
              <a:rPr dirty="0"/>
              <a:t>on</a:t>
            </a:r>
            <a:r>
              <a:rPr dirty="0" spc="-70"/>
              <a:t> </a:t>
            </a:r>
            <a:r>
              <a:rPr dirty="0" spc="-10"/>
              <a:t>individuals</a:t>
            </a:r>
            <a:r>
              <a:rPr dirty="0" spc="-70"/>
              <a:t> </a:t>
            </a:r>
            <a:r>
              <a:rPr dirty="0"/>
              <a:t>taking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initiative</a:t>
            </a:r>
            <a:r>
              <a:rPr dirty="0" spc="-8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 spc="-10"/>
              <a:t>improve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refactor</a:t>
            </a:r>
            <a:r>
              <a:rPr dirty="0" spc="-45"/>
              <a:t> </a:t>
            </a:r>
            <a:r>
              <a:rPr dirty="0" spc="-20"/>
              <a:t>code.</a:t>
            </a:r>
            <a:r>
              <a:rPr dirty="0" spc="-155"/>
              <a:t> </a:t>
            </a:r>
            <a:r>
              <a:rPr dirty="0"/>
              <a:t>Agile</a:t>
            </a:r>
            <a:r>
              <a:rPr dirty="0" spc="-45"/>
              <a:t> </a:t>
            </a:r>
            <a:r>
              <a:rPr dirty="0" spc="-10"/>
              <a:t>approaches</a:t>
            </a:r>
            <a:r>
              <a:rPr dirty="0" spc="-55"/>
              <a:t> </a:t>
            </a:r>
            <a:r>
              <a:rPr dirty="0"/>
              <a:t>are</a:t>
            </a:r>
            <a:r>
              <a:rPr dirty="0" spc="-45"/>
              <a:t> </a:t>
            </a:r>
            <a:r>
              <a:rPr dirty="0"/>
              <a:t>not</a:t>
            </a:r>
            <a:r>
              <a:rPr dirty="0" spc="-20"/>
              <a:t> </a:t>
            </a:r>
            <a:r>
              <a:rPr dirty="0" spc="-10"/>
              <a:t>usually </a:t>
            </a:r>
            <a:r>
              <a:rPr dirty="0" spc="-20"/>
              <a:t>standards-</a:t>
            </a:r>
            <a:r>
              <a:rPr dirty="0"/>
              <a:t>driven,</a:t>
            </a:r>
            <a:r>
              <a:rPr dirty="0" spc="-95"/>
              <a:t> </a:t>
            </a:r>
            <a:r>
              <a:rPr dirty="0"/>
              <a:t>so</a:t>
            </a:r>
            <a:r>
              <a:rPr dirty="0" spc="-65"/>
              <a:t> </a:t>
            </a:r>
            <a:r>
              <a:rPr dirty="0"/>
              <a:t>issues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standards</a:t>
            </a:r>
            <a:r>
              <a:rPr dirty="0" spc="-95"/>
              <a:t> </a:t>
            </a:r>
            <a:r>
              <a:rPr dirty="0" spc="-10"/>
              <a:t>compliance</a:t>
            </a:r>
            <a:r>
              <a:rPr dirty="0" spc="-80"/>
              <a:t> </a:t>
            </a:r>
            <a:r>
              <a:rPr dirty="0" spc="-25"/>
              <a:t>are </a:t>
            </a:r>
            <a:r>
              <a:rPr dirty="0"/>
              <a:t>not</a:t>
            </a:r>
            <a:r>
              <a:rPr dirty="0" spc="-95"/>
              <a:t> </a:t>
            </a:r>
            <a:r>
              <a:rPr dirty="0"/>
              <a:t>usually</a:t>
            </a:r>
            <a:r>
              <a:rPr dirty="0" spc="-85"/>
              <a:t> </a:t>
            </a:r>
            <a:r>
              <a:rPr dirty="0" spc="-10"/>
              <a:t>considered.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60"/>
              <a:t> </a:t>
            </a:r>
            <a:r>
              <a:rPr dirty="0"/>
              <a:t>Quality</a:t>
            </a:r>
            <a:r>
              <a:rPr dirty="0" spc="-50"/>
              <a:t> </a:t>
            </a:r>
            <a:r>
              <a:rPr dirty="0"/>
              <a:t>Review</a:t>
            </a:r>
            <a:r>
              <a:rPr dirty="0" spc="-20"/>
              <a:t> </a:t>
            </a:r>
            <a:r>
              <a:rPr dirty="0" spc="-10"/>
              <a:t>Items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61899" y="2267458"/>
            <a:ext cx="4347210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9554" indent="-236854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49554" algn="l"/>
              </a:tabLst>
            </a:pPr>
            <a:r>
              <a:rPr dirty="0" sz="1800">
                <a:latin typeface="Calibri"/>
                <a:cs typeface="Calibri"/>
              </a:rPr>
              <a:t>Static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analysis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2160"/>
              </a:spcBef>
              <a:buAutoNum type="arabicParenR"/>
              <a:tabLst>
                <a:tab pos="249554" algn="l"/>
              </a:tabLst>
            </a:pP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Refactoring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2160"/>
              </a:spcBef>
              <a:buAutoNum type="arabicParenR"/>
              <a:tabLst>
                <a:tab pos="249554" algn="l"/>
              </a:tabLst>
            </a:pPr>
            <a:r>
              <a:rPr dirty="0" sz="1800">
                <a:latin typeface="Calibri"/>
                <a:cs typeface="Calibri"/>
              </a:rPr>
              <a:t>Algorithm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analysis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Logical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Implementation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2160"/>
              </a:spcBef>
              <a:buAutoNum type="arabicParenR"/>
              <a:tabLst>
                <a:tab pos="249554" algn="l"/>
              </a:tabLst>
            </a:pPr>
            <a:r>
              <a:rPr dirty="0" sz="1800">
                <a:latin typeface="Calibri"/>
                <a:cs typeface="Calibri"/>
              </a:rPr>
              <a:t>Application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Architecture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2160"/>
              </a:spcBef>
              <a:buAutoNum type="arabicParenR"/>
              <a:tabLst>
                <a:tab pos="249554" algn="l"/>
              </a:tabLst>
            </a:pP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2165"/>
              </a:spcBef>
              <a:buAutoNum type="arabicParenR"/>
              <a:tabLst>
                <a:tab pos="249554" algn="l"/>
              </a:tabLst>
            </a:pPr>
            <a:r>
              <a:rPr dirty="0" sz="1800" spc="-10">
                <a:latin typeface="Calibri"/>
                <a:cs typeface="Calibri"/>
              </a:rPr>
              <a:t>Documentation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2160"/>
              </a:spcBef>
              <a:buAutoNum type="arabicParenR"/>
              <a:tabLst>
                <a:tab pos="249554" algn="l"/>
              </a:tabLst>
            </a:pPr>
            <a:r>
              <a:rPr dirty="0" sz="1800">
                <a:latin typeface="Calibri"/>
                <a:cs typeface="Calibri"/>
              </a:rPr>
              <a:t>Versioning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Deployment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Strategy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spcBef>
                <a:spcPts val="2160"/>
              </a:spcBef>
              <a:buAutoNum type="arabicParenR"/>
              <a:tabLst>
                <a:tab pos="249554" algn="l"/>
              </a:tabLst>
            </a:pPr>
            <a:r>
              <a:rPr dirty="0" sz="1800">
                <a:latin typeface="Calibri"/>
                <a:cs typeface="Calibri"/>
              </a:rPr>
              <a:t>Performance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</a:t>
            </a:r>
            <a:r>
              <a:rPr dirty="0" spc="-120"/>
              <a:t> </a:t>
            </a:r>
            <a:r>
              <a:rPr dirty="0" spc="-10"/>
              <a:t>inspections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8229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These</a:t>
            </a:r>
            <a:r>
              <a:rPr dirty="0" spc="-120"/>
              <a:t> </a:t>
            </a:r>
            <a:r>
              <a:rPr dirty="0"/>
              <a:t>are</a:t>
            </a:r>
            <a:r>
              <a:rPr dirty="0" spc="-114"/>
              <a:t> </a:t>
            </a:r>
            <a:r>
              <a:rPr dirty="0"/>
              <a:t>peer</a:t>
            </a:r>
            <a:r>
              <a:rPr dirty="0" spc="-110"/>
              <a:t> </a:t>
            </a:r>
            <a:r>
              <a:rPr dirty="0"/>
              <a:t>reviews</a:t>
            </a:r>
            <a:r>
              <a:rPr dirty="0" spc="-114"/>
              <a:t> </a:t>
            </a:r>
            <a:r>
              <a:rPr dirty="0"/>
              <a:t>where</a:t>
            </a:r>
            <a:r>
              <a:rPr dirty="0" spc="-110"/>
              <a:t> </a:t>
            </a:r>
            <a:r>
              <a:rPr dirty="0"/>
              <a:t>engineers</a:t>
            </a:r>
            <a:r>
              <a:rPr dirty="0" spc="-110"/>
              <a:t> </a:t>
            </a:r>
            <a:r>
              <a:rPr dirty="0"/>
              <a:t>examine</a:t>
            </a:r>
            <a:r>
              <a:rPr dirty="0" spc="-110"/>
              <a:t> </a:t>
            </a:r>
            <a:r>
              <a:rPr dirty="0" spc="-695"/>
              <a:t>t</a:t>
            </a:r>
            <a:r>
              <a:rPr dirty="0" spc="-880"/>
              <a:t>h</a:t>
            </a:r>
            <a:r>
              <a:rPr dirty="0" spc="-25"/>
              <a:t>e</a:t>
            </a:r>
            <a:r>
              <a:rPr dirty="0"/>
              <a:t> source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system</a:t>
            </a:r>
            <a:r>
              <a:rPr dirty="0" spc="-45"/>
              <a:t> </a:t>
            </a:r>
            <a:r>
              <a:rPr dirty="0"/>
              <a:t>with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aim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10"/>
              <a:t>discovering </a:t>
            </a:r>
            <a:r>
              <a:rPr dirty="0"/>
              <a:t>anomalies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defects.</a:t>
            </a:r>
          </a:p>
          <a:p>
            <a:pPr marL="355600" marR="9842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pc="-10"/>
              <a:t>Inspections</a:t>
            </a:r>
            <a:r>
              <a:rPr dirty="0" spc="-85"/>
              <a:t> </a:t>
            </a:r>
            <a:r>
              <a:rPr dirty="0"/>
              <a:t>do</a:t>
            </a:r>
            <a:r>
              <a:rPr dirty="0" spc="-45"/>
              <a:t> </a:t>
            </a:r>
            <a:r>
              <a:rPr dirty="0"/>
              <a:t>not</a:t>
            </a:r>
            <a:r>
              <a:rPr dirty="0" spc="-40"/>
              <a:t> </a:t>
            </a:r>
            <a:r>
              <a:rPr dirty="0"/>
              <a:t>require</a:t>
            </a:r>
            <a:r>
              <a:rPr dirty="0" spc="-55"/>
              <a:t> </a:t>
            </a:r>
            <a:r>
              <a:rPr dirty="0" spc="-10"/>
              <a:t>execution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system</a:t>
            </a:r>
            <a:r>
              <a:rPr dirty="0" spc="-75"/>
              <a:t> </a:t>
            </a:r>
            <a:r>
              <a:rPr dirty="0"/>
              <a:t>so</a:t>
            </a:r>
            <a:r>
              <a:rPr dirty="0" spc="-45"/>
              <a:t> </a:t>
            </a:r>
            <a:r>
              <a:rPr dirty="0" spc="-1265"/>
              <a:t>m</a:t>
            </a:r>
            <a:r>
              <a:rPr dirty="0" spc="-1270"/>
              <a:t>a</a:t>
            </a:r>
            <a:r>
              <a:rPr dirty="0" spc="-545"/>
              <a:t>y</a:t>
            </a:r>
            <a:r>
              <a:rPr dirty="0" spc="-25"/>
              <a:t>be</a:t>
            </a:r>
            <a:r>
              <a:rPr dirty="0"/>
              <a:t> used</a:t>
            </a:r>
            <a:r>
              <a:rPr dirty="0" spc="-110"/>
              <a:t> </a:t>
            </a:r>
            <a:r>
              <a:rPr dirty="0"/>
              <a:t>before</a:t>
            </a:r>
            <a:r>
              <a:rPr dirty="0" spc="-90"/>
              <a:t> </a:t>
            </a:r>
            <a:r>
              <a:rPr dirty="0" spc="-10"/>
              <a:t>implementation.</a:t>
            </a: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They</a:t>
            </a:r>
            <a:r>
              <a:rPr dirty="0" spc="-70"/>
              <a:t> </a:t>
            </a:r>
            <a:r>
              <a:rPr dirty="0"/>
              <a:t>may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40"/>
              <a:t> </a:t>
            </a:r>
            <a:r>
              <a:rPr dirty="0"/>
              <a:t>applied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any</a:t>
            </a:r>
            <a:r>
              <a:rPr dirty="0" spc="-55"/>
              <a:t> </a:t>
            </a:r>
            <a:r>
              <a:rPr dirty="0" spc="-10"/>
              <a:t>representation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620"/>
              <a:t>sys</a:t>
            </a:r>
            <a:r>
              <a:rPr dirty="0" spc="-615"/>
              <a:t>t</a:t>
            </a:r>
            <a:r>
              <a:rPr dirty="0" spc="-630"/>
              <a:t>e</a:t>
            </a:r>
            <a:r>
              <a:rPr dirty="0" spc="-15"/>
              <a:t>m</a:t>
            </a: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(requirements,</a:t>
            </a:r>
            <a:r>
              <a:rPr dirty="0" spc="-40"/>
              <a:t> </a:t>
            </a:r>
            <a:r>
              <a:rPr dirty="0" spc="-20"/>
              <a:t>design,configuration</a:t>
            </a:r>
            <a:r>
              <a:rPr dirty="0" spc="-35"/>
              <a:t> </a:t>
            </a:r>
            <a:r>
              <a:rPr dirty="0"/>
              <a:t>data,</a:t>
            </a:r>
            <a:r>
              <a:rPr dirty="0" spc="15"/>
              <a:t> </a:t>
            </a:r>
            <a:r>
              <a:rPr dirty="0"/>
              <a:t>test</a:t>
            </a:r>
            <a:r>
              <a:rPr dirty="0" spc="-10"/>
              <a:t> </a:t>
            </a:r>
            <a:r>
              <a:rPr dirty="0"/>
              <a:t>data,</a:t>
            </a:r>
            <a:r>
              <a:rPr dirty="0" spc="80"/>
              <a:t> </a:t>
            </a:r>
            <a:r>
              <a:rPr dirty="0" spc="-10"/>
              <a:t>etc.).</a:t>
            </a:r>
          </a:p>
          <a:p>
            <a:pPr marL="355600" marR="30289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They</a:t>
            </a:r>
            <a:r>
              <a:rPr dirty="0" spc="-80"/>
              <a:t> </a:t>
            </a:r>
            <a:r>
              <a:rPr dirty="0"/>
              <a:t>have</a:t>
            </a:r>
            <a:r>
              <a:rPr dirty="0" spc="-90"/>
              <a:t> </a:t>
            </a:r>
            <a:r>
              <a:rPr dirty="0"/>
              <a:t>been</a:t>
            </a:r>
            <a:r>
              <a:rPr dirty="0" spc="-70"/>
              <a:t> </a:t>
            </a:r>
            <a:r>
              <a:rPr dirty="0"/>
              <a:t>shown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be</a:t>
            </a:r>
            <a:r>
              <a:rPr dirty="0" spc="-70"/>
              <a:t> </a:t>
            </a:r>
            <a:r>
              <a:rPr dirty="0"/>
              <a:t>an</a:t>
            </a:r>
            <a:r>
              <a:rPr dirty="0" spc="-75"/>
              <a:t> </a:t>
            </a:r>
            <a:r>
              <a:rPr dirty="0"/>
              <a:t>effective</a:t>
            </a:r>
            <a:r>
              <a:rPr dirty="0" spc="-100"/>
              <a:t> </a:t>
            </a:r>
            <a:r>
              <a:rPr dirty="0" spc="-40"/>
              <a:t>technique</a:t>
            </a:r>
            <a:r>
              <a:rPr dirty="0" spc="-95"/>
              <a:t> </a:t>
            </a:r>
            <a:r>
              <a:rPr dirty="0" spc="-25"/>
              <a:t>for </a:t>
            </a:r>
            <a:r>
              <a:rPr dirty="0" spc="-10"/>
              <a:t>discovering</a:t>
            </a:r>
            <a:r>
              <a:rPr dirty="0" spc="-110"/>
              <a:t> </a:t>
            </a:r>
            <a:r>
              <a:rPr dirty="0"/>
              <a:t>program</a:t>
            </a:r>
            <a:r>
              <a:rPr dirty="0" spc="-80"/>
              <a:t> </a:t>
            </a:r>
            <a:r>
              <a:rPr dirty="0" spc="-10"/>
              <a:t>errors.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025" y="635889"/>
            <a:ext cx="7713980" cy="4756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Inspection</a:t>
            </a:r>
            <a:r>
              <a:rPr dirty="0" sz="2400" spc="-16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checklists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2400">
              <a:latin typeface="Arial"/>
              <a:cs typeface="Arial"/>
            </a:endParaRPr>
          </a:p>
          <a:p>
            <a:pPr marL="355600" marR="115506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Checklist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common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errors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drive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inspection.</a:t>
            </a:r>
            <a:endParaRPr sz="2400">
              <a:latin typeface="Arial MT"/>
              <a:cs typeface="Arial MT"/>
            </a:endParaRPr>
          </a:p>
          <a:p>
            <a:pPr marL="355600" marR="46355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Error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checklists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language</a:t>
            </a:r>
            <a:r>
              <a:rPr dirty="0" sz="2400" spc="6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dependent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reflect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characteristic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errors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likely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arise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language.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general,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'weaker'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type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checking,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larger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695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880">
                <a:solidFill>
                  <a:srgbClr val="46424D"/>
                </a:solidFill>
                <a:latin typeface="Arial MT"/>
                <a:cs typeface="Arial MT"/>
              </a:rPr>
              <a:t>h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checklist.</a:t>
            </a:r>
            <a:endParaRPr sz="2400">
              <a:latin typeface="Arial MT"/>
              <a:cs typeface="Arial MT"/>
            </a:endParaRPr>
          </a:p>
          <a:p>
            <a:pPr marL="355600" marR="104394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Examples: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Initialisation,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Constant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naming,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loop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termination,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array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bounds,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dirty="0" spc="-70"/>
              <a:t> </a:t>
            </a:r>
            <a:r>
              <a:rPr dirty="0"/>
              <a:t>inspection</a:t>
            </a:r>
            <a:r>
              <a:rPr dirty="0" spc="-110"/>
              <a:t> </a:t>
            </a:r>
            <a:r>
              <a:rPr dirty="0" spc="-10"/>
              <a:t>checklist</a:t>
            </a:r>
            <a:r>
              <a:rPr dirty="0" spc="-110"/>
              <a:t> </a:t>
            </a:r>
            <a:r>
              <a:rPr dirty="0" spc="-25"/>
              <a:t>(a)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362200" y="2462783"/>
            <a:ext cx="6324600" cy="3938270"/>
            <a:chOff x="2362200" y="2462783"/>
            <a:chExt cx="6324600" cy="3938270"/>
          </a:xfrm>
        </p:grpSpPr>
        <p:sp>
          <p:nvSpPr>
            <p:cNvPr id="4" name="object 4" descr=""/>
            <p:cNvSpPr/>
            <p:nvPr/>
          </p:nvSpPr>
          <p:spPr>
            <a:xfrm>
              <a:off x="2362200" y="2468879"/>
              <a:ext cx="6324600" cy="1554480"/>
            </a:xfrm>
            <a:custGeom>
              <a:avLst/>
              <a:gdLst/>
              <a:ahLst/>
              <a:cxnLst/>
              <a:rect l="l" t="t" r="r" b="b"/>
              <a:pathLst>
                <a:path w="6324600" h="1554479">
                  <a:moveTo>
                    <a:pt x="6324600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6324600" y="1554480"/>
                  </a:lnTo>
                  <a:lnTo>
                    <a:pt x="6324600" y="0"/>
                  </a:lnTo>
                  <a:close/>
                </a:path>
              </a:pathLst>
            </a:custGeom>
            <a:solidFill>
              <a:srgbClr val="D0D6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362200" y="4023359"/>
              <a:ext cx="6324600" cy="1554480"/>
            </a:xfrm>
            <a:custGeom>
              <a:avLst/>
              <a:gdLst/>
              <a:ahLst/>
              <a:cxnLst/>
              <a:rect l="l" t="t" r="r" b="b"/>
              <a:pathLst>
                <a:path w="6324600" h="1554479">
                  <a:moveTo>
                    <a:pt x="6324600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6324600" y="1554480"/>
                  </a:lnTo>
                  <a:lnTo>
                    <a:pt x="6324600" y="0"/>
                  </a:lnTo>
                  <a:close/>
                </a:path>
              </a:pathLst>
            </a:custGeom>
            <a:solidFill>
              <a:srgbClr val="E9EB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362200" y="5577839"/>
              <a:ext cx="6324600" cy="822960"/>
            </a:xfrm>
            <a:custGeom>
              <a:avLst/>
              <a:gdLst/>
              <a:ahLst/>
              <a:cxnLst/>
              <a:rect l="l" t="t" r="r" b="b"/>
              <a:pathLst>
                <a:path w="6324600" h="822960">
                  <a:moveTo>
                    <a:pt x="632460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6324600" y="822960"/>
                  </a:lnTo>
                  <a:lnTo>
                    <a:pt x="6324600" y="0"/>
                  </a:lnTo>
                  <a:close/>
                </a:path>
              </a:pathLst>
            </a:custGeom>
            <a:solidFill>
              <a:srgbClr val="D0D6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7064" y="2462783"/>
              <a:ext cx="185927" cy="73609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7064" y="3438144"/>
              <a:ext cx="185927" cy="49377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7064" y="4018787"/>
              <a:ext cx="185927" cy="122377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7064" y="5573267"/>
              <a:ext cx="185927" cy="736091"/>
            </a:xfrm>
            <a:prstGeom prst="rect">
              <a:avLst/>
            </a:prstGeom>
          </p:spPr>
        </p:pic>
      </p:grp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44500" y="2029460"/>
          <a:ext cx="8318500" cy="4358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/>
                <a:gridCol w="6324600"/>
              </a:tblGrid>
              <a:tr h="426084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Fault</a:t>
                      </a:r>
                      <a:r>
                        <a:rPr dirty="0" sz="16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class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Inspection</a:t>
                      </a:r>
                      <a:r>
                        <a:rPr dirty="0" sz="160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check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marL="52705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program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variables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initialized</a:t>
                      </a:r>
                      <a:r>
                        <a:rPr dirty="0" sz="16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before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their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values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used?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>
                        <a:lnSpc>
                          <a:spcPts val="190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constants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been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named?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 marR="549275">
                        <a:lnSpc>
                          <a:spcPts val="1900"/>
                        </a:lnSpc>
                        <a:spcBef>
                          <a:spcPts val="7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Should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upper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bound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arrays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equal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size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array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Size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-1?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>
                        <a:lnSpc>
                          <a:spcPts val="183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strings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used,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delimiter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explicitly</a:t>
                      </a:r>
                      <a:r>
                        <a:rPr dirty="0" sz="16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assigned?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there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any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possibility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buffer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overflow?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marL="52705">
                        <a:lnSpc>
                          <a:spcPts val="1864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ts val="188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each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conditional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statement,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condition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correct?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>
                        <a:lnSpc>
                          <a:spcPts val="190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each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loop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certain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terminate?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>
                        <a:lnSpc>
                          <a:spcPts val="1914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compound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statements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correctly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bracketed?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case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statements,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possible</a:t>
                      </a:r>
                      <a:r>
                        <a:rPr dirty="0" sz="16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cases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accounted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for?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 marR="61594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break</a:t>
                      </a:r>
                      <a:r>
                        <a:rPr dirty="0" sz="16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required</a:t>
                      </a:r>
                      <a:r>
                        <a:rPr dirty="0" sz="16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after</a:t>
                      </a:r>
                      <a:r>
                        <a:rPr dirty="0" sz="16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each</a:t>
                      </a:r>
                      <a:r>
                        <a:rPr dirty="0" sz="16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case</a:t>
                      </a:r>
                      <a:r>
                        <a:rPr dirty="0" sz="16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case</a:t>
                      </a:r>
                      <a:r>
                        <a:rPr dirty="0" sz="16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statements,</a:t>
                      </a:r>
                      <a:r>
                        <a:rPr dirty="0" sz="16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16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it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been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included?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52705">
                        <a:lnSpc>
                          <a:spcPts val="1864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Input/output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ts val="1864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input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variables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used?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8145" marR="15303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output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variables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assigned</a:t>
                      </a:r>
                      <a:r>
                        <a:rPr dirty="0" sz="16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value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before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output?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unexpected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inputs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cause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corruption?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dirty="0" spc="-70"/>
              <a:t> </a:t>
            </a:r>
            <a:r>
              <a:rPr dirty="0"/>
              <a:t>inspection</a:t>
            </a:r>
            <a:r>
              <a:rPr dirty="0" spc="-110"/>
              <a:t> </a:t>
            </a:r>
            <a:r>
              <a:rPr dirty="0" spc="-10"/>
              <a:t>checklist</a:t>
            </a:r>
            <a:r>
              <a:rPr dirty="0" spc="-110"/>
              <a:t> </a:t>
            </a:r>
            <a:r>
              <a:rPr dirty="0" spc="-25"/>
              <a:t>(b)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923032" y="2218944"/>
            <a:ext cx="5687060" cy="3694429"/>
            <a:chOff x="2923032" y="2218944"/>
            <a:chExt cx="5687060" cy="3694429"/>
          </a:xfrm>
        </p:grpSpPr>
        <p:sp>
          <p:nvSpPr>
            <p:cNvPr id="4" name="object 4" descr=""/>
            <p:cNvSpPr/>
            <p:nvPr/>
          </p:nvSpPr>
          <p:spPr>
            <a:xfrm>
              <a:off x="2923032" y="2225040"/>
              <a:ext cx="5687060" cy="1554480"/>
            </a:xfrm>
            <a:custGeom>
              <a:avLst/>
              <a:gdLst/>
              <a:ahLst/>
              <a:cxnLst/>
              <a:rect l="l" t="t" r="r" b="b"/>
              <a:pathLst>
                <a:path w="5687059" h="1554479">
                  <a:moveTo>
                    <a:pt x="5687060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5687060" y="1554480"/>
                  </a:lnTo>
                  <a:lnTo>
                    <a:pt x="5687060" y="0"/>
                  </a:lnTo>
                  <a:close/>
                </a:path>
              </a:pathLst>
            </a:custGeom>
            <a:solidFill>
              <a:srgbClr val="D0D6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923032" y="3779519"/>
              <a:ext cx="5687060" cy="1554480"/>
            </a:xfrm>
            <a:custGeom>
              <a:avLst/>
              <a:gdLst/>
              <a:ahLst/>
              <a:cxnLst/>
              <a:rect l="l" t="t" r="r" b="b"/>
              <a:pathLst>
                <a:path w="5687059" h="1554479">
                  <a:moveTo>
                    <a:pt x="5687060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5687060" y="1554479"/>
                  </a:lnTo>
                  <a:lnTo>
                    <a:pt x="5687060" y="0"/>
                  </a:lnTo>
                  <a:close/>
                </a:path>
              </a:pathLst>
            </a:custGeom>
            <a:solidFill>
              <a:srgbClr val="E9EB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923032" y="5334000"/>
              <a:ext cx="5687060" cy="579120"/>
            </a:xfrm>
            <a:custGeom>
              <a:avLst/>
              <a:gdLst/>
              <a:ahLst/>
              <a:cxnLst/>
              <a:rect l="l" t="t" r="r" b="b"/>
              <a:pathLst>
                <a:path w="5687059" h="579120">
                  <a:moveTo>
                    <a:pt x="5687060" y="0"/>
                  </a:moveTo>
                  <a:lnTo>
                    <a:pt x="0" y="0"/>
                  </a:lnTo>
                  <a:lnTo>
                    <a:pt x="0" y="579119"/>
                  </a:lnTo>
                  <a:lnTo>
                    <a:pt x="5687060" y="579119"/>
                  </a:lnTo>
                  <a:lnTo>
                    <a:pt x="5687060" y="0"/>
                  </a:lnTo>
                  <a:close/>
                </a:path>
              </a:pathLst>
            </a:custGeom>
            <a:solidFill>
              <a:srgbClr val="D0D6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7896" y="2218944"/>
              <a:ext cx="185928" cy="24841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7896" y="2706624"/>
              <a:ext cx="185928" cy="73609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7896" y="3773424"/>
              <a:ext cx="185928" cy="24993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7896" y="5329427"/>
              <a:ext cx="185928" cy="248412"/>
            </a:xfrm>
            <a:prstGeom prst="rect">
              <a:avLst/>
            </a:prstGeom>
          </p:spPr>
        </p:pic>
      </p:grp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368300" y="1816100"/>
          <a:ext cx="8315325" cy="4083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5855"/>
                <a:gridCol w="1416050"/>
                <a:gridCol w="1330959"/>
                <a:gridCol w="913130"/>
                <a:gridCol w="598170"/>
                <a:gridCol w="1084579"/>
                <a:gridCol w="620395"/>
                <a:gridCol w="669925"/>
                <a:gridCol w="464820"/>
              </a:tblGrid>
              <a:tr h="395605">
                <a:tc gridSpan="2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Fault</a:t>
                      </a:r>
                      <a:r>
                        <a:rPr dirty="0" sz="14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class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7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Inspection</a:t>
                      </a:r>
                      <a:r>
                        <a:rPr dirty="0" sz="1400" spc="-1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check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54480">
                <a:tc gridSpan="2">
                  <a:txBody>
                    <a:bodyPr/>
                    <a:lstStyle/>
                    <a:p>
                      <a:pPr marL="52705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Interface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7">
                  <a:txBody>
                    <a:bodyPr/>
                    <a:lstStyle/>
                    <a:p>
                      <a:pPr marL="397510" marR="62230">
                        <a:lnSpc>
                          <a:spcPts val="192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16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16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6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method</a:t>
                      </a:r>
                      <a:r>
                        <a:rPr dirty="0" sz="16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calls</a:t>
                      </a:r>
                      <a:r>
                        <a:rPr dirty="0" sz="16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correct</a:t>
                      </a:r>
                      <a:r>
                        <a:rPr dirty="0" sz="16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number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parameters?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marR="1181735">
                        <a:lnSpc>
                          <a:spcPts val="192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formal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actual</a:t>
                      </a:r>
                      <a:r>
                        <a:rPr dirty="0" sz="16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parameter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types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match?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parameters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right</a:t>
                      </a:r>
                      <a:r>
                        <a:rPr dirty="0" sz="16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order?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marR="271145">
                        <a:lnSpc>
                          <a:spcPts val="192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components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access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shared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memory,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same</a:t>
                      </a:r>
                      <a:r>
                        <a:rPr dirty="0" sz="16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shared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structure?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54480">
                <a:tc>
                  <a:txBody>
                    <a:bodyPr/>
                    <a:lstStyle/>
                    <a:p>
                      <a:pPr marL="52705" marR="354965">
                        <a:lnSpc>
                          <a:spcPts val="1920"/>
                        </a:lnSpc>
                        <a:spcBef>
                          <a:spcPts val="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Storage 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005">
                        <a:lnSpc>
                          <a:spcPts val="1864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management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397510" marR="50165">
                        <a:lnSpc>
                          <a:spcPts val="1920"/>
                        </a:lnSpc>
                        <a:spcBef>
                          <a:spcPts val="5"/>
                        </a:spcBef>
                        <a:tabLst>
                          <a:tab pos="646430" algn="l"/>
                          <a:tab pos="894715" algn="l"/>
                          <a:tab pos="1560830" algn="l"/>
                          <a:tab pos="2486025" algn="l"/>
                          <a:tab pos="2767965" algn="l"/>
                          <a:tab pos="3726815" algn="l"/>
                          <a:tab pos="4302760" algn="l"/>
                          <a:tab pos="4641215" algn="l"/>
                          <a:tab pos="5180965" algn="l"/>
                        </a:tabLst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linked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structure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modified,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links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been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correctly</a:t>
                      </a:r>
                      <a:r>
                        <a:rPr dirty="0" sz="160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reassigned?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marR="521334">
                        <a:lnSpc>
                          <a:spcPts val="192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dynamic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storage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used,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space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been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allocated correctly?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97510" marR="768985">
                        <a:lnSpc>
                          <a:spcPts val="1920"/>
                        </a:lnSpc>
                        <a:tabLst>
                          <a:tab pos="716280" algn="l"/>
                          <a:tab pos="1419225" algn="l"/>
                          <a:tab pos="2344420" algn="l"/>
                          <a:tab pos="3542665" algn="l"/>
                          <a:tab pos="4112260" algn="l"/>
                          <a:tab pos="4373245" algn="l"/>
                          <a:tab pos="4680585" algn="l"/>
                        </a:tabLst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space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explicitly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deallocated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after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no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longer</a:t>
                      </a:r>
                      <a:r>
                        <a:rPr dirty="0" sz="16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required?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78485">
                <a:tc>
                  <a:txBody>
                    <a:bodyPr/>
                    <a:lstStyle/>
                    <a:p>
                      <a:pPr marL="52705" marR="174625">
                        <a:lnSpc>
                          <a:spcPts val="1920"/>
                        </a:lnSpc>
                        <a:spcBef>
                          <a:spcPts val="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Exception faults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005">
                        <a:lnSpc>
                          <a:spcPts val="1864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management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397510" marR="76835">
                        <a:lnSpc>
                          <a:spcPts val="1920"/>
                        </a:lnSpc>
                        <a:spcBef>
                          <a:spcPts val="5"/>
                        </a:spcBef>
                        <a:tabLst>
                          <a:tab pos="1042669" algn="l"/>
                        </a:tabLst>
                      </a:pPr>
                      <a:r>
                        <a:rPr dirty="0" sz="1600" spc="-2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all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account?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864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possible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864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error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64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conditions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864"/>
                        </a:lnSpc>
                      </a:pPr>
                      <a:r>
                        <a:rPr dirty="0" sz="1600" spc="-20">
                          <a:latin typeface="Arial MT"/>
                          <a:cs typeface="Arial MT"/>
                        </a:rPr>
                        <a:t>been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864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taken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864"/>
                        </a:lnSpc>
                      </a:pPr>
                      <a:r>
                        <a:rPr dirty="0" sz="1600" spc="-20">
                          <a:latin typeface="Arial MT"/>
                          <a:cs typeface="Arial MT"/>
                        </a:rPr>
                        <a:t>into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</a:tr>
            </a:tbl>
          </a:graphicData>
        </a:graphic>
      </p:graphicFrame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5" y="4262628"/>
            <a:ext cx="185928" cy="24841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5" y="4750308"/>
            <a:ext cx="185928" cy="248412"/>
          </a:xfrm>
          <a:prstGeom prst="rect">
            <a:avLst/>
          </a:prstGeom>
        </p:spPr>
      </p:pic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635" y="635889"/>
            <a:ext cx="8007350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Software</a:t>
            </a:r>
            <a:r>
              <a:rPr dirty="0" sz="2400" spc="-6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measurement</a:t>
            </a:r>
            <a:r>
              <a:rPr dirty="0" sz="2400" spc="-7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and</a:t>
            </a:r>
            <a:r>
              <a:rPr dirty="0" sz="2400" spc="-7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metrics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80"/>
              </a:spcBef>
            </a:pPr>
            <a:endParaRPr sz="2400">
              <a:latin typeface="Arial"/>
              <a:cs typeface="Arial"/>
            </a:endParaRPr>
          </a:p>
          <a:p>
            <a:pPr marL="355600" marR="420370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dirty="0" sz="24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concerned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deriving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numeric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value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  <a:p>
            <a:pPr marL="355600" marR="178752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allows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objective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comparisons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7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50">
                <a:solidFill>
                  <a:srgbClr val="46424D"/>
                </a:solidFill>
                <a:latin typeface="Arial MT"/>
                <a:cs typeface="Arial MT"/>
              </a:rPr>
              <a:t>t</a:t>
            </a:r>
            <a:r>
              <a:rPr dirty="0" sz="2400" spc="-575">
                <a:solidFill>
                  <a:srgbClr val="46424D"/>
                </a:solidFill>
                <a:latin typeface="Arial MT"/>
                <a:cs typeface="Arial MT"/>
              </a:rPr>
              <a:t>w</a:t>
            </a:r>
            <a:r>
              <a:rPr dirty="0" sz="2400" spc="-570">
                <a:solidFill>
                  <a:srgbClr val="46424D"/>
                </a:solidFill>
                <a:latin typeface="Arial MT"/>
                <a:cs typeface="Arial MT"/>
              </a:rPr>
              <a:t>ee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n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 techniques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processes.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Although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companies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introduced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measurement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programmes,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organisations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still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don’t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systematic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measurement.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few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established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standards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area.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measurements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481347"/>
            <a:ext cx="8026400" cy="434721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 spc="-215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2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assign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value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endParaRPr sz="24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measuring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characteristics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components,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000" spc="-2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as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cyclomatic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complexity,</a:t>
            </a:r>
            <a:r>
              <a:rPr dirty="0" sz="20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then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aggregating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these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measurements,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assess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attributes,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such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maintainability.</a:t>
            </a:r>
            <a:endParaRPr sz="2000">
              <a:latin typeface="Arial MT"/>
              <a:cs typeface="Arial MT"/>
            </a:endParaRPr>
          </a:p>
          <a:p>
            <a:pPr marL="355600" marR="49530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215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2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identify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whose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925">
                <a:solidFill>
                  <a:srgbClr val="46424D"/>
                </a:solidFill>
                <a:latin typeface="Arial MT"/>
                <a:cs typeface="Arial MT"/>
              </a:rPr>
              <a:t>s</a:t>
            </a:r>
            <a:r>
              <a:rPr dirty="0" sz="2400" spc="-940">
                <a:solidFill>
                  <a:srgbClr val="46424D"/>
                </a:solidFill>
                <a:latin typeface="Arial MT"/>
                <a:cs typeface="Arial MT"/>
              </a:rPr>
              <a:t>ub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standard</a:t>
            </a:r>
            <a:endParaRPr sz="2400">
              <a:latin typeface="Arial MT"/>
              <a:cs typeface="Arial MT"/>
            </a:endParaRPr>
          </a:p>
          <a:p>
            <a:pPr lvl="1" marL="756285" marR="6223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Measurements</a:t>
            </a:r>
            <a:r>
              <a:rPr dirty="0" sz="20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identify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individual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dirty="0" sz="20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with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characteristics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deviate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norm.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example,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000" spc="-229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can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measure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discover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those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with the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highest 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complexity.</a:t>
            </a:r>
            <a:r>
              <a:rPr dirty="0" sz="20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likely to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contain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bugs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because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complexity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makes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them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harder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understand.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Metrics</a:t>
            </a:r>
            <a:r>
              <a:rPr dirty="0" spc="-105"/>
              <a:t> </a:t>
            </a:r>
            <a:r>
              <a:rPr dirty="0" spc="-10"/>
              <a:t>assumptions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465565"/>
            <a:ext cx="7957820" cy="3928745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property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1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measured.</a:t>
            </a:r>
            <a:endParaRPr sz="2400">
              <a:latin typeface="Arial MT"/>
              <a:cs typeface="Arial MT"/>
            </a:endParaRPr>
          </a:p>
          <a:p>
            <a:pPr marL="355600" marR="97472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relationship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exists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between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we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can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measure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want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know.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We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only</a:t>
            </a:r>
            <a:endParaRPr sz="2400">
              <a:latin typeface="Arial MT"/>
              <a:cs typeface="Arial MT"/>
            </a:endParaRPr>
          </a:p>
          <a:p>
            <a:pPr marL="355600" marR="5080">
              <a:lnSpc>
                <a:spcPct val="100000"/>
              </a:lnSpc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measure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internal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interested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external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attributes.</a:t>
            </a:r>
            <a:endParaRPr sz="2400">
              <a:latin typeface="Arial MT"/>
              <a:cs typeface="Arial MT"/>
            </a:endParaRPr>
          </a:p>
          <a:p>
            <a:pPr marL="355600" marR="196215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relationship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formalised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validated.</a:t>
            </a:r>
            <a:endParaRPr sz="2400">
              <a:latin typeface="Arial MT"/>
              <a:cs typeface="Arial MT"/>
            </a:endParaRPr>
          </a:p>
          <a:p>
            <a:pPr marL="355600" marR="8051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difficult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relate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40">
                <a:solidFill>
                  <a:srgbClr val="46424D"/>
                </a:solidFill>
                <a:latin typeface="Arial MT"/>
                <a:cs typeface="Arial MT"/>
              </a:rPr>
              <a:t>measured</a:t>
            </a:r>
            <a:r>
              <a:rPr dirty="0" sz="2400" spc="-2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desirable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external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attributes.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Saqib</dc:creator>
  <dc:title>PowerPoint Presentation</dc:title>
  <dcterms:created xsi:type="dcterms:W3CDTF">2024-07-25T18:04:49Z</dcterms:created>
  <dcterms:modified xsi:type="dcterms:W3CDTF">2024-07-25T18:04:49Z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2024-07-25T00:00:00Z</vt:filetime>
  </property>
  <property fmtid="{D5CDD505-2E9C-101B-9397-08002B2CF9AE}" pid="5" name="Producer">
    <vt:lpwstr>Microsoft® PowerPoint® LTSC</vt:lpwstr>
  </property>
</Properties>
</file>