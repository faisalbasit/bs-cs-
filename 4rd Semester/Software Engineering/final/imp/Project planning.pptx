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46424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6424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6424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6424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6424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6424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jpg"/><Relationship Id="rId9" Type="http://schemas.openxmlformats.org/officeDocument/2006/relationships/image" Target="../media/image3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3664" y="1392798"/>
            <a:ext cx="7363998" cy="9006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57961" y="1419606"/>
            <a:ext cx="7306309" cy="1905"/>
          </a:xfrm>
          <a:custGeom>
            <a:avLst/>
            <a:gdLst/>
            <a:ahLst/>
            <a:cxnLst/>
            <a:rect l="l" t="t" r="r" b="b"/>
            <a:pathLst>
              <a:path w="7306309" h="1905">
                <a:moveTo>
                  <a:pt x="0" y="0"/>
                </a:moveTo>
                <a:lnTo>
                  <a:pt x="7305802" y="1651"/>
                </a:lnTo>
              </a:path>
            </a:pathLst>
          </a:custGeom>
          <a:ln w="2540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51063" y="213359"/>
            <a:ext cx="923544" cy="12192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14527" y="1382268"/>
            <a:ext cx="8311896" cy="108076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457961" y="1418081"/>
            <a:ext cx="8217534" cy="1905"/>
          </a:xfrm>
          <a:custGeom>
            <a:avLst/>
            <a:gdLst/>
            <a:ahLst/>
            <a:cxnLst/>
            <a:rect l="l" t="t" r="r" b="b"/>
            <a:pathLst>
              <a:path w="8217534" h="1905">
                <a:moveTo>
                  <a:pt x="0" y="1650"/>
                </a:moveTo>
                <a:lnTo>
                  <a:pt x="8217027" y="0"/>
                </a:lnTo>
              </a:path>
            </a:pathLst>
          </a:custGeom>
          <a:ln w="2540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330" y="417068"/>
            <a:ext cx="6966559" cy="805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46424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625853"/>
            <a:ext cx="8057515" cy="443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6424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96461" y="6464680"/>
            <a:ext cx="1748789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401557" y="6464680"/>
            <a:ext cx="2444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28.png"/><Relationship Id="rId17" Type="http://schemas.openxmlformats.org/officeDocument/2006/relationships/image" Target="../media/image29.png"/><Relationship Id="rId18" Type="http://schemas.openxmlformats.org/officeDocument/2006/relationships/image" Target="../media/image30.png"/><Relationship Id="rId19" Type="http://schemas.openxmlformats.org/officeDocument/2006/relationships/image" Target="../media/image31.png"/><Relationship Id="rId20" Type="http://schemas.openxmlformats.org/officeDocument/2006/relationships/image" Target="../media/image32.png"/><Relationship Id="rId21" Type="http://schemas.openxmlformats.org/officeDocument/2006/relationships/image" Target="../media/image33.png"/><Relationship Id="rId22" Type="http://schemas.openxmlformats.org/officeDocument/2006/relationships/image" Target="../media/image34.png"/><Relationship Id="rId23" Type="http://schemas.openxmlformats.org/officeDocument/2006/relationships/image" Target="../media/image35.png"/><Relationship Id="rId24" Type="http://schemas.openxmlformats.org/officeDocument/2006/relationships/image" Target="../media/image36.png"/><Relationship Id="rId25" Type="http://schemas.openxmlformats.org/officeDocument/2006/relationships/image" Target="../media/image37.png"/><Relationship Id="rId26" Type="http://schemas.openxmlformats.org/officeDocument/2006/relationships/image" Target="../media/image38.png"/><Relationship Id="rId27" Type="http://schemas.openxmlformats.org/officeDocument/2006/relationships/image" Target="../media/image39.png"/><Relationship Id="rId28" Type="http://schemas.openxmlformats.org/officeDocument/2006/relationships/image" Target="../media/image40.png"/><Relationship Id="rId29" Type="http://schemas.openxmlformats.org/officeDocument/2006/relationships/image" Target="../media/image41.png"/><Relationship Id="rId30" Type="http://schemas.openxmlformats.org/officeDocument/2006/relationships/image" Target="../media/image42.png"/><Relationship Id="rId31" Type="http://schemas.openxmlformats.org/officeDocument/2006/relationships/image" Target="../media/image43.png"/><Relationship Id="rId32" Type="http://schemas.openxmlformats.org/officeDocument/2006/relationships/image" Target="../media/image44.png"/><Relationship Id="rId33" Type="http://schemas.openxmlformats.org/officeDocument/2006/relationships/image" Target="../media/image45.png"/><Relationship Id="rId34" Type="http://schemas.openxmlformats.org/officeDocument/2006/relationships/image" Target="../media/image46.png"/><Relationship Id="rId35" Type="http://schemas.openxmlformats.org/officeDocument/2006/relationships/image" Target="../media/image47.png"/><Relationship Id="rId36" Type="http://schemas.openxmlformats.org/officeDocument/2006/relationships/image" Target="../media/image48.png"/><Relationship Id="rId37" Type="http://schemas.openxmlformats.org/officeDocument/2006/relationships/image" Target="../media/image49.png"/><Relationship Id="rId38" Type="http://schemas.openxmlformats.org/officeDocument/2006/relationships/image" Target="../media/image50.png"/><Relationship Id="rId39" Type="http://schemas.openxmlformats.org/officeDocument/2006/relationships/image" Target="../media/image51.png"/><Relationship Id="rId40" Type="http://schemas.openxmlformats.org/officeDocument/2006/relationships/image" Target="../media/image52.png"/><Relationship Id="rId41" Type="http://schemas.openxmlformats.org/officeDocument/2006/relationships/image" Target="../media/image53.png"/><Relationship Id="rId42" Type="http://schemas.openxmlformats.org/officeDocument/2006/relationships/image" Target="../media/image54.png"/><Relationship Id="rId43" Type="http://schemas.openxmlformats.org/officeDocument/2006/relationships/image" Target="../media/image55.png"/><Relationship Id="rId44" Type="http://schemas.openxmlformats.org/officeDocument/2006/relationships/image" Target="../media/image56.png"/><Relationship Id="rId45" Type="http://schemas.openxmlformats.org/officeDocument/2006/relationships/image" Target="../media/image57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Relationship Id="rId14" Type="http://schemas.openxmlformats.org/officeDocument/2006/relationships/image" Target="../media/image70.png"/><Relationship Id="rId15" Type="http://schemas.openxmlformats.org/officeDocument/2006/relationships/image" Target="../media/image71.png"/><Relationship Id="rId16" Type="http://schemas.openxmlformats.org/officeDocument/2006/relationships/image" Target="../media/image72.png"/><Relationship Id="rId17" Type="http://schemas.openxmlformats.org/officeDocument/2006/relationships/image" Target="../media/image73.png"/><Relationship Id="rId18" Type="http://schemas.openxmlformats.org/officeDocument/2006/relationships/image" Target="../media/image74.png"/><Relationship Id="rId19" Type="http://schemas.openxmlformats.org/officeDocument/2006/relationships/image" Target="../media/image75.png"/><Relationship Id="rId20" Type="http://schemas.openxmlformats.org/officeDocument/2006/relationships/image" Target="../media/image76.png"/><Relationship Id="rId21" Type="http://schemas.openxmlformats.org/officeDocument/2006/relationships/image" Target="../media/image77.png"/><Relationship Id="rId22" Type="http://schemas.openxmlformats.org/officeDocument/2006/relationships/image" Target="../media/image78.png"/><Relationship Id="rId23" Type="http://schemas.openxmlformats.org/officeDocument/2006/relationships/image" Target="../media/image79.png"/><Relationship Id="rId24" Type="http://schemas.openxmlformats.org/officeDocument/2006/relationships/image" Target="../media/image80.png"/><Relationship Id="rId25" Type="http://schemas.openxmlformats.org/officeDocument/2006/relationships/image" Target="../media/image81.png"/><Relationship Id="rId26" Type="http://schemas.openxmlformats.org/officeDocument/2006/relationships/image" Target="../media/image82.png"/><Relationship Id="rId27" Type="http://schemas.openxmlformats.org/officeDocument/2006/relationships/image" Target="../media/image83.png"/><Relationship Id="rId28" Type="http://schemas.openxmlformats.org/officeDocument/2006/relationships/image" Target="../media/image84.png"/><Relationship Id="rId29" Type="http://schemas.openxmlformats.org/officeDocument/2006/relationships/image" Target="../media/image85.png"/><Relationship Id="rId30" Type="http://schemas.openxmlformats.org/officeDocument/2006/relationships/image" Target="../media/image86.png"/><Relationship Id="rId31" Type="http://schemas.openxmlformats.org/officeDocument/2006/relationships/image" Target="../media/image87.png"/><Relationship Id="rId32" Type="http://schemas.openxmlformats.org/officeDocument/2006/relationships/image" Target="../media/image88.png"/><Relationship Id="rId33" Type="http://schemas.openxmlformats.org/officeDocument/2006/relationships/image" Target="../media/image89.png"/><Relationship Id="rId34" Type="http://schemas.openxmlformats.org/officeDocument/2006/relationships/image" Target="../media/image90.png"/><Relationship Id="rId35" Type="http://schemas.openxmlformats.org/officeDocument/2006/relationships/image" Target="../media/image91.png"/><Relationship Id="rId36" Type="http://schemas.openxmlformats.org/officeDocument/2006/relationships/image" Target="../media/image92.png"/><Relationship Id="rId37" Type="http://schemas.openxmlformats.org/officeDocument/2006/relationships/image" Target="../media/image93.png"/><Relationship Id="rId38" Type="http://schemas.openxmlformats.org/officeDocument/2006/relationships/image" Target="../media/image94.png"/><Relationship Id="rId39" Type="http://schemas.openxmlformats.org/officeDocument/2006/relationships/image" Target="../media/image95.png"/><Relationship Id="rId40" Type="http://schemas.openxmlformats.org/officeDocument/2006/relationships/image" Target="../media/image96.png"/><Relationship Id="rId41" Type="http://schemas.openxmlformats.org/officeDocument/2006/relationships/image" Target="../media/image97.png"/><Relationship Id="rId42" Type="http://schemas.openxmlformats.org/officeDocument/2006/relationships/image" Target="../media/image98.png"/><Relationship Id="rId43" Type="http://schemas.openxmlformats.org/officeDocument/2006/relationships/image" Target="../media/image99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9" Type="http://schemas.openxmlformats.org/officeDocument/2006/relationships/image" Target="../media/image107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2662809"/>
            <a:ext cx="43281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Chapter</a:t>
            </a:r>
            <a:r>
              <a:rPr dirty="0" spc="-55"/>
              <a:t> </a:t>
            </a:r>
            <a:r>
              <a:rPr dirty="0"/>
              <a:t>23</a:t>
            </a:r>
            <a:r>
              <a:rPr dirty="0" spc="-50"/>
              <a:t> </a:t>
            </a:r>
            <a:r>
              <a:rPr dirty="0"/>
              <a:t>–</a:t>
            </a:r>
            <a:r>
              <a:rPr dirty="0" spc="-65"/>
              <a:t> </a:t>
            </a:r>
            <a:r>
              <a:rPr dirty="0"/>
              <a:t>Project</a:t>
            </a:r>
            <a:r>
              <a:rPr dirty="0" spc="-60"/>
              <a:t> </a:t>
            </a:r>
            <a:r>
              <a:rPr dirty="0" spc="-10"/>
              <a:t>planning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940" y="643254"/>
            <a:ext cx="3824604" cy="396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46424D"/>
                </a:solidFill>
                <a:latin typeface="Arial"/>
                <a:cs typeface="Arial"/>
              </a:rPr>
              <a:t>Topics</a:t>
            </a:r>
            <a:r>
              <a:rPr dirty="0" sz="2400" spc="-11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46424D"/>
                </a:solidFill>
                <a:latin typeface="Arial"/>
                <a:cs typeface="Arial"/>
              </a:rPr>
              <a:t>covered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pricing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Plan-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driven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scheduling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Agile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planning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Estimation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techniques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  <a:tab pos="1930400" algn="l"/>
              </a:tabLst>
            </a:pP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COCOMO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	cost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modeling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940" y="643254"/>
            <a:ext cx="7640320" cy="408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Project</a:t>
            </a:r>
            <a:r>
              <a:rPr dirty="0" sz="2400" spc="-8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46424D"/>
                </a:solidFill>
                <a:latin typeface="Arial"/>
                <a:cs typeface="Arial"/>
              </a:rPr>
              <a:t>planning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planning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involves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breaking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down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into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parts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assign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team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members,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anticipate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problems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might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arise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prepare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tentative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solutions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those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problems.</a:t>
            </a:r>
            <a:endParaRPr sz="2400">
              <a:latin typeface="Arial MT"/>
              <a:cs typeface="Arial MT"/>
            </a:endParaRPr>
          </a:p>
          <a:p>
            <a:pPr marL="355600" marR="161925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plan,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created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at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start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a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project,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communicate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how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will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be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done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team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customers,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help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assess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progress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project.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940" y="643254"/>
            <a:ext cx="7939405" cy="4605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Planning</a:t>
            </a:r>
            <a:r>
              <a:rPr dirty="0" sz="2400" spc="-3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46424D"/>
                </a:solidFill>
                <a:latin typeface="Arial"/>
                <a:cs typeface="Arial"/>
              </a:rPr>
              <a:t>stages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2400">
              <a:latin typeface="Arial"/>
              <a:cs typeface="Arial"/>
            </a:endParaRPr>
          </a:p>
          <a:p>
            <a:pPr marL="355600" marR="918844" indent="-342900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proposal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stage,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when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bidding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a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contract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provide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system.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During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startup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phase,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when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plan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who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will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project,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how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will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be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broken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down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into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increments,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how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resources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will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be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allocated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across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your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company,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etc.</a:t>
            </a:r>
            <a:endParaRPr sz="2400">
              <a:latin typeface="Arial MT"/>
              <a:cs typeface="Arial MT"/>
            </a:endParaRPr>
          </a:p>
          <a:p>
            <a:pPr marL="355600" marR="4114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Periodically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throughout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project,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when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modify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your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light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experience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gained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information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from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monitoring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progress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work.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940" y="643254"/>
            <a:ext cx="7952105" cy="423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Proposal</a:t>
            </a:r>
            <a:r>
              <a:rPr dirty="0" sz="2400" spc="-7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46424D"/>
                </a:solidFill>
                <a:latin typeface="Arial"/>
                <a:cs typeface="Arial"/>
              </a:rPr>
              <a:t>planning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2400">
              <a:latin typeface="Arial"/>
              <a:cs typeface="Arial"/>
            </a:endParaRPr>
          </a:p>
          <a:p>
            <a:pPr marL="355600" marR="334645" indent="-342900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Planning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necessary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only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outline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software requirements.</a:t>
            </a:r>
            <a:endParaRPr sz="2400">
              <a:latin typeface="Arial MT"/>
              <a:cs typeface="Arial MT"/>
            </a:endParaRPr>
          </a:p>
          <a:p>
            <a:pPr marL="355600" marR="54102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aim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planning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stage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provide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information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will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setting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price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customers.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pricing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involves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estimating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how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much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will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cost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develop,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taking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factors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such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staff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costs,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hardware costs,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costs,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etc.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into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account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70"/>
              <a:t> </a:t>
            </a:r>
            <a:r>
              <a:rPr dirty="0"/>
              <a:t>startup</a:t>
            </a:r>
            <a:r>
              <a:rPr dirty="0" spc="-70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625853"/>
            <a:ext cx="7839075" cy="4156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At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stage,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know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more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about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system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but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design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implementation information</a:t>
            </a:r>
            <a:endParaRPr sz="2400">
              <a:latin typeface="Arial MT"/>
              <a:cs typeface="Arial MT"/>
            </a:endParaRPr>
          </a:p>
          <a:p>
            <a:pPr marL="355600" marR="56515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Create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enough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detail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make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decisions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about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budget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staffing.</a:t>
            </a:r>
            <a:endParaRPr sz="24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91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basis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resource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allocation</a:t>
            </a:r>
            <a:endParaRPr sz="2000">
              <a:latin typeface="Arial MT"/>
              <a:cs typeface="Arial MT"/>
            </a:endParaRPr>
          </a:p>
          <a:p>
            <a:pPr marL="355600" marR="207645" indent="-342900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startup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also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define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monitoring mechanisms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1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startup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still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needed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agile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allow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resources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allocated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940" y="643254"/>
            <a:ext cx="7993380" cy="2990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Development</a:t>
            </a:r>
            <a:r>
              <a:rPr dirty="0" sz="2400" spc="-6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46424D"/>
                </a:solidFill>
                <a:latin typeface="Arial"/>
                <a:cs typeface="Arial"/>
              </a:rPr>
              <a:t>planning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2400">
              <a:latin typeface="Arial"/>
              <a:cs typeface="Arial"/>
            </a:endParaRPr>
          </a:p>
          <a:p>
            <a:pPr marL="355600" marR="494665" indent="-342900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regularly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amended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progresses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know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more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about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its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schedule,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cost-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risks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be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regularly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revised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5753" y="2752420"/>
            <a:ext cx="241427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dirty="0" spc="-80"/>
              <a:t> </a:t>
            </a:r>
            <a:r>
              <a:rPr dirty="0" spc="-10"/>
              <a:t>pricing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dirty="0" spc="-60"/>
              <a:t> </a:t>
            </a:r>
            <a:r>
              <a:rPr dirty="0" spc="-10"/>
              <a:t>pricing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4965" marR="1334135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/>
              <a:t>Estimates</a:t>
            </a:r>
            <a:r>
              <a:rPr dirty="0" sz="2400" spc="-40"/>
              <a:t> </a:t>
            </a:r>
            <a:r>
              <a:rPr dirty="0" sz="2400"/>
              <a:t>are</a:t>
            </a:r>
            <a:r>
              <a:rPr dirty="0" sz="2400" spc="-30"/>
              <a:t> </a:t>
            </a:r>
            <a:r>
              <a:rPr dirty="0" sz="2400"/>
              <a:t>made</a:t>
            </a:r>
            <a:r>
              <a:rPr dirty="0" sz="2400" spc="-35"/>
              <a:t> </a:t>
            </a:r>
            <a:r>
              <a:rPr dirty="0" sz="2400"/>
              <a:t>to</a:t>
            </a:r>
            <a:r>
              <a:rPr dirty="0" sz="2400" spc="-40"/>
              <a:t> </a:t>
            </a:r>
            <a:r>
              <a:rPr dirty="0" sz="2400"/>
              <a:t>discover</a:t>
            </a:r>
            <a:r>
              <a:rPr dirty="0" sz="2400" spc="-15"/>
              <a:t> </a:t>
            </a:r>
            <a:r>
              <a:rPr dirty="0" sz="2400"/>
              <a:t>the</a:t>
            </a:r>
            <a:r>
              <a:rPr dirty="0" sz="2400" spc="-40"/>
              <a:t> </a:t>
            </a:r>
            <a:r>
              <a:rPr dirty="0" sz="2400"/>
              <a:t>cost,</a:t>
            </a:r>
            <a:r>
              <a:rPr dirty="0" sz="2400" spc="-45"/>
              <a:t> </a:t>
            </a:r>
            <a:r>
              <a:rPr dirty="0" sz="2400"/>
              <a:t>to</a:t>
            </a:r>
            <a:r>
              <a:rPr dirty="0" sz="2400" spc="-35"/>
              <a:t> </a:t>
            </a:r>
            <a:r>
              <a:rPr dirty="0" sz="2400" spc="-25"/>
              <a:t>the </a:t>
            </a:r>
            <a:r>
              <a:rPr dirty="0" sz="2400" spc="-10"/>
              <a:t>developer,</a:t>
            </a:r>
            <a:r>
              <a:rPr dirty="0" sz="2400" spc="-35"/>
              <a:t> </a:t>
            </a:r>
            <a:r>
              <a:rPr dirty="0" sz="2400"/>
              <a:t>of</a:t>
            </a:r>
            <a:r>
              <a:rPr dirty="0" sz="2400" spc="-80"/>
              <a:t> </a:t>
            </a:r>
            <a:r>
              <a:rPr dirty="0" sz="2400"/>
              <a:t>producing</a:t>
            </a:r>
            <a:r>
              <a:rPr dirty="0" sz="2400" spc="-30"/>
              <a:t> </a:t>
            </a:r>
            <a:r>
              <a:rPr dirty="0" sz="2400"/>
              <a:t>a</a:t>
            </a:r>
            <a:r>
              <a:rPr dirty="0" sz="2400" spc="-65"/>
              <a:t> </a:t>
            </a:r>
            <a:r>
              <a:rPr dirty="0" sz="2400"/>
              <a:t>software</a:t>
            </a:r>
            <a:r>
              <a:rPr dirty="0" sz="2400" spc="-65"/>
              <a:t> </a:t>
            </a:r>
            <a:r>
              <a:rPr dirty="0" sz="2400" spc="-10"/>
              <a:t>system.</a:t>
            </a:r>
            <a:endParaRPr sz="2400"/>
          </a:p>
          <a:p>
            <a:pPr lvl="1" marL="755650" indent="-286385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755650" algn="l"/>
              </a:tabLst>
            </a:pP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take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into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account,</a:t>
            </a:r>
            <a:r>
              <a:rPr dirty="0" sz="20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hardware,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software,</a:t>
            </a:r>
            <a:r>
              <a:rPr dirty="0" sz="20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travel,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training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endParaRPr sz="2000">
              <a:latin typeface="Arial MT"/>
              <a:cs typeface="Arial MT"/>
            </a:endParaRPr>
          </a:p>
          <a:p>
            <a:pPr marL="755650">
              <a:lnSpc>
                <a:spcPct val="100000"/>
              </a:lnSpc>
            </a:pPr>
            <a:r>
              <a:rPr dirty="0"/>
              <a:t>effort</a:t>
            </a:r>
            <a:r>
              <a:rPr dirty="0" spc="-85"/>
              <a:t> </a:t>
            </a:r>
            <a:r>
              <a:rPr dirty="0" spc="-10"/>
              <a:t>costs.</a:t>
            </a:r>
          </a:p>
          <a:p>
            <a:pPr marL="354965" marR="5080" indent="-342900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/>
              <a:t>There</a:t>
            </a:r>
            <a:r>
              <a:rPr dirty="0" sz="2400" spc="-65"/>
              <a:t> </a:t>
            </a:r>
            <a:r>
              <a:rPr dirty="0" sz="2400"/>
              <a:t>is</a:t>
            </a:r>
            <a:r>
              <a:rPr dirty="0" sz="2400" spc="-60"/>
              <a:t> </a:t>
            </a:r>
            <a:r>
              <a:rPr dirty="0" sz="2400"/>
              <a:t>not</a:t>
            </a:r>
            <a:r>
              <a:rPr dirty="0" sz="2400" spc="-55"/>
              <a:t> </a:t>
            </a:r>
            <a:r>
              <a:rPr dirty="0" sz="2400"/>
              <a:t>a</a:t>
            </a:r>
            <a:r>
              <a:rPr dirty="0" sz="2400" spc="-65"/>
              <a:t> </a:t>
            </a:r>
            <a:r>
              <a:rPr dirty="0" sz="2400"/>
              <a:t>simple</a:t>
            </a:r>
            <a:r>
              <a:rPr dirty="0" sz="2400" spc="-40"/>
              <a:t> </a:t>
            </a:r>
            <a:r>
              <a:rPr dirty="0" sz="2400"/>
              <a:t>relationship</a:t>
            </a:r>
            <a:r>
              <a:rPr dirty="0" sz="2400" spc="-30"/>
              <a:t> </a:t>
            </a:r>
            <a:r>
              <a:rPr dirty="0" sz="2400"/>
              <a:t>between</a:t>
            </a:r>
            <a:r>
              <a:rPr dirty="0" sz="2400" spc="-55"/>
              <a:t> </a:t>
            </a:r>
            <a:r>
              <a:rPr dirty="0" sz="2400" spc="-25"/>
              <a:t>the </a:t>
            </a:r>
            <a:r>
              <a:rPr dirty="0" sz="2400"/>
              <a:t>development</a:t>
            </a:r>
            <a:r>
              <a:rPr dirty="0" sz="2400" spc="-30"/>
              <a:t> </a:t>
            </a:r>
            <a:r>
              <a:rPr dirty="0" sz="2400"/>
              <a:t>cost</a:t>
            </a:r>
            <a:r>
              <a:rPr dirty="0" sz="2400" spc="-45"/>
              <a:t> </a:t>
            </a:r>
            <a:r>
              <a:rPr dirty="0" sz="2400"/>
              <a:t>and</a:t>
            </a:r>
            <a:r>
              <a:rPr dirty="0" sz="2400" spc="-45"/>
              <a:t> </a:t>
            </a:r>
            <a:r>
              <a:rPr dirty="0" sz="2400"/>
              <a:t>the</a:t>
            </a:r>
            <a:r>
              <a:rPr dirty="0" sz="2400" spc="-55"/>
              <a:t> </a:t>
            </a:r>
            <a:r>
              <a:rPr dirty="0" sz="2400"/>
              <a:t>price</a:t>
            </a:r>
            <a:r>
              <a:rPr dirty="0" sz="2400" spc="-45"/>
              <a:t> </a:t>
            </a:r>
            <a:r>
              <a:rPr dirty="0" sz="2400"/>
              <a:t>charged</a:t>
            </a:r>
            <a:r>
              <a:rPr dirty="0" sz="2400" spc="-35"/>
              <a:t> </a:t>
            </a:r>
            <a:r>
              <a:rPr dirty="0" sz="2400"/>
              <a:t>to</a:t>
            </a:r>
            <a:r>
              <a:rPr dirty="0" sz="2400" spc="-50"/>
              <a:t> </a:t>
            </a:r>
            <a:r>
              <a:rPr dirty="0" sz="2400"/>
              <a:t>the</a:t>
            </a:r>
            <a:r>
              <a:rPr dirty="0" sz="2400" spc="-55"/>
              <a:t> </a:t>
            </a:r>
            <a:r>
              <a:rPr dirty="0" sz="2400" spc="-10"/>
              <a:t>customer.</a:t>
            </a:r>
            <a:endParaRPr sz="2400"/>
          </a:p>
          <a:p>
            <a:pPr marL="354965" marR="6985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/>
              <a:t>Broader</a:t>
            </a:r>
            <a:r>
              <a:rPr dirty="0" sz="2400" spc="-75"/>
              <a:t> </a:t>
            </a:r>
            <a:r>
              <a:rPr dirty="0" sz="2400"/>
              <a:t>organisational,</a:t>
            </a:r>
            <a:r>
              <a:rPr dirty="0" sz="2400" spc="-65"/>
              <a:t> </a:t>
            </a:r>
            <a:r>
              <a:rPr dirty="0" sz="2400"/>
              <a:t>economic,</a:t>
            </a:r>
            <a:r>
              <a:rPr dirty="0" sz="2400" spc="-80"/>
              <a:t> </a:t>
            </a:r>
            <a:r>
              <a:rPr dirty="0" sz="2400"/>
              <a:t>political</a:t>
            </a:r>
            <a:r>
              <a:rPr dirty="0" sz="2400" spc="-60"/>
              <a:t> </a:t>
            </a:r>
            <a:r>
              <a:rPr dirty="0" sz="2400"/>
              <a:t>and</a:t>
            </a:r>
            <a:r>
              <a:rPr dirty="0" sz="2400" spc="-95"/>
              <a:t> </a:t>
            </a:r>
            <a:r>
              <a:rPr dirty="0" sz="2400" spc="-10"/>
              <a:t>business </a:t>
            </a:r>
            <a:r>
              <a:rPr dirty="0" sz="2400"/>
              <a:t>considerations</a:t>
            </a:r>
            <a:r>
              <a:rPr dirty="0" sz="2400" spc="-60"/>
              <a:t> </a:t>
            </a:r>
            <a:r>
              <a:rPr dirty="0" sz="2400"/>
              <a:t>influence</a:t>
            </a:r>
            <a:r>
              <a:rPr dirty="0" sz="2400" spc="-75"/>
              <a:t> </a:t>
            </a:r>
            <a:r>
              <a:rPr dirty="0" sz="2400"/>
              <a:t>the</a:t>
            </a:r>
            <a:r>
              <a:rPr dirty="0" sz="2400" spc="-85"/>
              <a:t> </a:t>
            </a:r>
            <a:r>
              <a:rPr dirty="0" sz="2400"/>
              <a:t>price</a:t>
            </a:r>
            <a:r>
              <a:rPr dirty="0" sz="2400" spc="-85"/>
              <a:t> </a:t>
            </a:r>
            <a:r>
              <a:rPr dirty="0" sz="2400" spc="-10"/>
              <a:t>charged.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Factors</a:t>
            </a:r>
            <a:r>
              <a:rPr dirty="0" spc="-60"/>
              <a:t> </a:t>
            </a:r>
            <a:r>
              <a:rPr dirty="0"/>
              <a:t>affecting</a:t>
            </a:r>
            <a:r>
              <a:rPr dirty="0" spc="-65"/>
              <a:t> </a:t>
            </a:r>
            <a:r>
              <a:rPr dirty="0"/>
              <a:t>software</a:t>
            </a:r>
            <a:r>
              <a:rPr dirty="0" spc="-100"/>
              <a:t> </a:t>
            </a:r>
            <a:r>
              <a:rPr dirty="0" spc="-10"/>
              <a:t>pricing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50850" y="1817497"/>
          <a:ext cx="7874000" cy="3352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9810"/>
                <a:gridCol w="5494655"/>
              </a:tblGrid>
              <a:tr h="395605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Factor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Description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Contractual</a:t>
                      </a:r>
                      <a:r>
                        <a:rPr dirty="0" sz="16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terms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54610" marR="46990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customer</a:t>
                      </a:r>
                      <a:r>
                        <a:rPr dirty="0" sz="1600" spc="1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600" spc="1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600" spc="1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willing</a:t>
                      </a:r>
                      <a:r>
                        <a:rPr dirty="0" sz="1600" spc="1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1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allow</a:t>
                      </a:r>
                      <a:r>
                        <a:rPr dirty="0" sz="1600" spc="1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1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developer</a:t>
                      </a:r>
                      <a:r>
                        <a:rPr dirty="0" sz="1600" spc="1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1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retain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ownership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source</a:t>
                      </a:r>
                      <a:r>
                        <a:rPr dirty="0" sz="16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code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reuse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it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other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projects.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2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price</a:t>
                      </a:r>
                      <a:r>
                        <a:rPr dirty="0" sz="1600" spc="2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charged</a:t>
                      </a:r>
                      <a:r>
                        <a:rPr dirty="0" sz="1600" spc="2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600" spc="2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then</a:t>
                      </a:r>
                      <a:r>
                        <a:rPr dirty="0" sz="1600" spc="2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600" spc="2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less</a:t>
                      </a:r>
                      <a:r>
                        <a:rPr dirty="0" sz="1600" spc="2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than</a:t>
                      </a:r>
                      <a:r>
                        <a:rPr dirty="0" sz="1600" spc="2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1600" spc="2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2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software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algn="just" marL="54610">
                        <a:lnSpc>
                          <a:spcPts val="186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source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code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handed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over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customer.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53975" marR="984885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Cost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estimate uncertainty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54610" marR="46355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1600" spc="4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an</a:t>
                      </a:r>
                      <a:r>
                        <a:rPr dirty="0" sz="1600" spc="409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organization</a:t>
                      </a:r>
                      <a:r>
                        <a:rPr dirty="0" sz="1600" spc="4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600" spc="4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unsure</a:t>
                      </a:r>
                      <a:r>
                        <a:rPr dirty="0" sz="1600" spc="4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409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its</a:t>
                      </a:r>
                      <a:r>
                        <a:rPr dirty="0" sz="1600" spc="4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cost</a:t>
                      </a:r>
                      <a:r>
                        <a:rPr dirty="0" sz="1600" spc="4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estimate,</a:t>
                      </a:r>
                      <a:r>
                        <a:rPr dirty="0" sz="1600" spc="4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it</a:t>
                      </a:r>
                      <a:r>
                        <a:rPr dirty="0" sz="1600" spc="4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may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increase</a:t>
                      </a:r>
                      <a:r>
                        <a:rPr dirty="0" sz="1600" spc="4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its</a:t>
                      </a:r>
                      <a:r>
                        <a:rPr dirty="0" sz="1600" spc="4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price</a:t>
                      </a:r>
                      <a:r>
                        <a:rPr dirty="0" sz="1600" spc="4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600" spc="459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459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contingency</a:t>
                      </a:r>
                      <a:r>
                        <a:rPr dirty="0" sz="1600" spc="459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over</a:t>
                      </a:r>
                      <a:r>
                        <a:rPr dirty="0" sz="1600" spc="4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600" spc="4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above</a:t>
                      </a:r>
                      <a:r>
                        <a:rPr dirty="0" sz="1600" spc="4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its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normal</a:t>
                      </a:r>
                      <a:r>
                        <a:rPr dirty="0" sz="16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profit.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marL="53975">
                        <a:lnSpc>
                          <a:spcPts val="1889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Financial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health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54610" marR="46990">
                        <a:lnSpc>
                          <a:spcPts val="1920"/>
                        </a:lnSpc>
                        <a:spcBef>
                          <a:spcPts val="3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Developers</a:t>
                      </a:r>
                      <a:r>
                        <a:rPr dirty="0" sz="1600" spc="3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600" spc="3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financial</a:t>
                      </a:r>
                      <a:r>
                        <a:rPr dirty="0" sz="1600" spc="3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difficulty</a:t>
                      </a:r>
                      <a:r>
                        <a:rPr dirty="0" sz="1600" spc="3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600" spc="3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lower</a:t>
                      </a:r>
                      <a:r>
                        <a:rPr dirty="0" sz="1600" spc="3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their</a:t>
                      </a:r>
                      <a:r>
                        <a:rPr dirty="0" sz="1600" spc="3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price</a:t>
                      </a:r>
                      <a:r>
                        <a:rPr dirty="0" sz="1600" spc="3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gain</a:t>
                      </a:r>
                      <a:r>
                        <a:rPr dirty="0" sz="1600" spc="1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1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contract.</a:t>
                      </a:r>
                      <a:r>
                        <a:rPr dirty="0" sz="1600" spc="1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It</a:t>
                      </a:r>
                      <a:r>
                        <a:rPr dirty="0" sz="1600" spc="1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600" spc="1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better</a:t>
                      </a:r>
                      <a:r>
                        <a:rPr dirty="0" sz="1600" spc="1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1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make</a:t>
                      </a:r>
                      <a:r>
                        <a:rPr dirty="0" sz="1600" spc="1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1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smaller</a:t>
                      </a:r>
                      <a:r>
                        <a:rPr dirty="0" sz="1600" spc="1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than</a:t>
                      </a:r>
                      <a:r>
                        <a:rPr dirty="0" sz="1600" spc="1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normal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profit or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break even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than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go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out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business. Cash flow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is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more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important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than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profit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difficult</a:t>
                      </a:r>
                      <a:r>
                        <a:rPr dirty="0" sz="16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economic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times.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Factors</a:t>
            </a:r>
            <a:r>
              <a:rPr dirty="0" spc="-60"/>
              <a:t> </a:t>
            </a:r>
            <a:r>
              <a:rPr dirty="0"/>
              <a:t>affecting</a:t>
            </a:r>
            <a:r>
              <a:rPr dirty="0" spc="-65"/>
              <a:t> </a:t>
            </a:r>
            <a:r>
              <a:rPr dirty="0"/>
              <a:t>software</a:t>
            </a:r>
            <a:r>
              <a:rPr dirty="0" spc="-100"/>
              <a:t> </a:t>
            </a:r>
            <a:r>
              <a:rPr dirty="0" spc="-10"/>
              <a:t>pricing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50850" y="2128266"/>
          <a:ext cx="7861300" cy="3016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9975"/>
                <a:gridCol w="5433059"/>
              </a:tblGrid>
              <a:tr h="395605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Factor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Description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Market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opportunity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54610" marR="44450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165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development</a:t>
                      </a:r>
                      <a:r>
                        <a:rPr dirty="0" sz="1600" spc="204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organization</a:t>
                      </a:r>
                      <a:r>
                        <a:rPr dirty="0" sz="1600" spc="200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600" spc="200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quote</a:t>
                      </a:r>
                      <a:r>
                        <a:rPr dirty="0" sz="1600" spc="204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204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low</a:t>
                      </a:r>
                      <a:r>
                        <a:rPr dirty="0" sz="1600" spc="200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price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because</a:t>
                      </a:r>
                      <a:r>
                        <a:rPr dirty="0" sz="1600" spc="409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it</a:t>
                      </a:r>
                      <a:r>
                        <a:rPr dirty="0" sz="1600" spc="409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wishes</a:t>
                      </a:r>
                      <a:r>
                        <a:rPr dirty="0" sz="1600" spc="4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4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move</a:t>
                      </a:r>
                      <a:r>
                        <a:rPr dirty="0" sz="1600" spc="4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into</a:t>
                      </a:r>
                      <a:r>
                        <a:rPr dirty="0" sz="1600" spc="4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4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new</a:t>
                      </a:r>
                      <a:r>
                        <a:rPr dirty="0" sz="1600" spc="409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segment</a:t>
                      </a:r>
                      <a:r>
                        <a:rPr dirty="0" sz="1600" spc="4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4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the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software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market.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Accepting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low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profit</a:t>
                      </a:r>
                      <a:r>
                        <a:rPr dirty="0" sz="16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one</a:t>
                      </a:r>
                      <a:r>
                        <a:rPr dirty="0" sz="16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project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may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give</a:t>
                      </a:r>
                      <a:r>
                        <a:rPr dirty="0" sz="1600" spc="3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3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organization</a:t>
                      </a:r>
                      <a:r>
                        <a:rPr dirty="0" sz="1600" spc="3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3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opportunity</a:t>
                      </a:r>
                      <a:r>
                        <a:rPr dirty="0" sz="1600" spc="3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3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make</a:t>
                      </a:r>
                      <a:r>
                        <a:rPr dirty="0" sz="1600" spc="3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3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greater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algn="just" marL="54610" marR="44450">
                        <a:lnSpc>
                          <a:spcPts val="1920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profit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later.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experience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gained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also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help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it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develop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new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products.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Requirements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volatility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54610" marR="45720">
                        <a:lnSpc>
                          <a:spcPts val="1920"/>
                        </a:lnSpc>
                        <a:spcBef>
                          <a:spcPts val="3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1600" spc="2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2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requirements</a:t>
                      </a:r>
                      <a:r>
                        <a:rPr dirty="0" sz="1600" spc="2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are</a:t>
                      </a:r>
                      <a:r>
                        <a:rPr dirty="0" sz="1600" spc="2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likely</a:t>
                      </a:r>
                      <a:r>
                        <a:rPr dirty="0" sz="1600" spc="2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2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change,</a:t>
                      </a:r>
                      <a:r>
                        <a:rPr dirty="0" sz="1600" spc="2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an</a:t>
                      </a:r>
                      <a:r>
                        <a:rPr dirty="0" sz="1600" spc="2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organization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600" spc="1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lower</a:t>
                      </a:r>
                      <a:r>
                        <a:rPr dirty="0" sz="1600" spc="1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its</a:t>
                      </a:r>
                      <a:r>
                        <a:rPr dirty="0" sz="1600" spc="1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price</a:t>
                      </a:r>
                      <a:r>
                        <a:rPr dirty="0" sz="1600" spc="1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1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win</a:t>
                      </a:r>
                      <a:r>
                        <a:rPr dirty="0" sz="1600" spc="1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1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contract.</a:t>
                      </a:r>
                      <a:r>
                        <a:rPr dirty="0" sz="1600" spc="1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After</a:t>
                      </a:r>
                      <a:r>
                        <a:rPr dirty="0" sz="1600" spc="1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1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contract</a:t>
                      </a:r>
                      <a:r>
                        <a:rPr dirty="0" sz="1600" spc="1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is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awarded,</a:t>
                      </a:r>
                      <a:r>
                        <a:rPr dirty="0" sz="1600" spc="2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high</a:t>
                      </a:r>
                      <a:r>
                        <a:rPr dirty="0" sz="1600" spc="2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prices</a:t>
                      </a:r>
                      <a:r>
                        <a:rPr dirty="0" sz="1600" spc="2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can</a:t>
                      </a:r>
                      <a:r>
                        <a:rPr dirty="0" sz="1600" spc="2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600" spc="2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charged</a:t>
                      </a:r>
                      <a:r>
                        <a:rPr dirty="0" sz="1600" spc="25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600" spc="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changes</a:t>
                      </a:r>
                      <a:r>
                        <a:rPr dirty="0" sz="1600" spc="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25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the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requirements.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Pricing</a:t>
            </a:r>
            <a:r>
              <a:rPr dirty="0" spc="-20"/>
              <a:t> </a:t>
            </a:r>
            <a:r>
              <a:rPr dirty="0" spc="-10"/>
              <a:t>strategies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488510"/>
            <a:ext cx="7877809" cy="344868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Under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pricing</a:t>
            </a:r>
            <a:endParaRPr sz="2400">
              <a:latin typeface="Arial MT"/>
              <a:cs typeface="Arial MT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1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company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underprice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order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gain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contract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allows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them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retain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staff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future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opportunities</a:t>
            </a:r>
            <a:endParaRPr sz="2000">
              <a:latin typeface="Arial MT"/>
              <a:cs typeface="Arial MT"/>
            </a:endParaRPr>
          </a:p>
          <a:p>
            <a:pPr lvl="1" marL="756285" marR="233045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1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company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underprice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gain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access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new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market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area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Increased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pricing</a:t>
            </a:r>
            <a:endParaRPr sz="2400">
              <a:latin typeface="Arial MT"/>
              <a:cs typeface="Arial MT"/>
            </a:endParaRPr>
          </a:p>
          <a:p>
            <a:pPr lvl="1" marL="756285" marR="82550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price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increased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when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buyer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wishes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fixed-price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contract</a:t>
            </a:r>
            <a:r>
              <a:rPr dirty="0" sz="20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seller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increases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price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allow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for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unexpected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risks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Pricing</a:t>
            </a:r>
            <a:r>
              <a:rPr dirty="0" spc="-20"/>
              <a:t> </a:t>
            </a:r>
            <a:r>
              <a:rPr dirty="0"/>
              <a:t>to </a:t>
            </a:r>
            <a:r>
              <a:rPr dirty="0" spc="-25"/>
              <a:t>win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625853"/>
            <a:ext cx="7807325" cy="3256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228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priced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according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what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software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developer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believes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buyer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willing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pay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If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less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development costs,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software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functionality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reduced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accordingly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view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extra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functionality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being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added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later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release</a:t>
            </a:r>
            <a:endParaRPr sz="2400">
              <a:latin typeface="Arial MT"/>
              <a:cs typeface="Arial MT"/>
            </a:endParaRPr>
          </a:p>
          <a:p>
            <a:pPr algn="just" marL="355600" marR="429259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Additional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costs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added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requirements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change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priced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higher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level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make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up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shortfall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original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price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Ethical</a:t>
            </a:r>
            <a:r>
              <a:rPr dirty="0" spc="-45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Implications</a:t>
            </a:r>
            <a:r>
              <a:rPr dirty="0" spc="-6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dirty="0" spc="-4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Quoting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Low</a:t>
            </a:r>
            <a:r>
              <a:rPr dirty="0" spc="-7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Prices</a:t>
            </a:r>
            <a:r>
              <a:rPr dirty="0" spc="-6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dirty="0" spc="-50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Software Contracts</a:t>
            </a:r>
            <a:r>
              <a:rPr dirty="0" spc="-6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dirty="0" spc="-6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Ambiguous</a:t>
            </a:r>
            <a:r>
              <a:rPr dirty="0" spc="-65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Requirements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625853"/>
            <a:ext cx="8074659" cy="4781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No,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 is generally unethical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company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quote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low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price</a:t>
            </a:r>
            <a:r>
              <a:rPr dirty="0" sz="2400" spc="3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3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3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3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contract</a:t>
            </a:r>
            <a:r>
              <a:rPr dirty="0" sz="2400" spc="3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knowing</a:t>
            </a:r>
            <a:r>
              <a:rPr dirty="0" sz="2400" spc="3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3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requirements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409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ambiguous</a:t>
            </a:r>
            <a:r>
              <a:rPr dirty="0" sz="2400" spc="4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4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planning</a:t>
            </a:r>
            <a:r>
              <a:rPr dirty="0" sz="2400" spc="4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4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charge</a:t>
            </a:r>
            <a:r>
              <a:rPr dirty="0" sz="2400" spc="4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high</a:t>
            </a:r>
            <a:r>
              <a:rPr dirty="0" sz="2400" spc="4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prices</a:t>
            </a:r>
            <a:r>
              <a:rPr dirty="0" sz="2400" spc="4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for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subsequent</a:t>
            </a:r>
            <a:r>
              <a:rPr dirty="0" sz="2400" spc="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changes.</a:t>
            </a:r>
            <a:r>
              <a:rPr dirty="0" sz="2400" spc="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 spc="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practice</a:t>
            </a:r>
            <a:r>
              <a:rPr dirty="0" sz="2400" spc="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misleads</a:t>
            </a:r>
            <a:r>
              <a:rPr dirty="0" sz="2400" spc="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customers,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undermines</a:t>
            </a:r>
            <a:r>
              <a:rPr dirty="0" sz="2400" spc="15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trust,</a:t>
            </a:r>
            <a:r>
              <a:rPr dirty="0" sz="2400" spc="170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160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violates</a:t>
            </a:r>
            <a:r>
              <a:rPr dirty="0" sz="2400" spc="170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professional</a:t>
            </a:r>
            <a:r>
              <a:rPr dirty="0" sz="2400" spc="170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integrity.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Instead,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companies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provide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realistic 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estimates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310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reflect</a:t>
            </a:r>
            <a:r>
              <a:rPr dirty="0" sz="2400" spc="310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310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true</a:t>
            </a:r>
            <a:r>
              <a:rPr dirty="0" sz="2400" spc="31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scope</a:t>
            </a:r>
            <a:r>
              <a:rPr dirty="0" sz="2400" spc="31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310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320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project,</a:t>
            </a:r>
            <a:r>
              <a:rPr dirty="0" sz="2400" spc="31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clearly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communicate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any</a:t>
            </a:r>
            <a:r>
              <a:rPr dirty="0" sz="2400" spc="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uncertainties,</a:t>
            </a:r>
            <a:r>
              <a:rPr dirty="0" sz="2400" spc="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dirty="0" sz="2400" spc="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collaboratively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customers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clarify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dirty="0" sz="2400" spc="20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2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anticipate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potential</a:t>
            </a:r>
            <a:r>
              <a:rPr dirty="0" sz="2400" spc="22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costs.</a:t>
            </a:r>
            <a:r>
              <a:rPr dirty="0" sz="2400" spc="22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 spc="240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approach</a:t>
            </a:r>
            <a:r>
              <a:rPr dirty="0" sz="2400" spc="229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fosters</a:t>
            </a:r>
            <a:r>
              <a:rPr dirty="0" sz="2400" spc="22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transparency,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fairness,</a:t>
            </a:r>
            <a:r>
              <a:rPr dirty="0" sz="2400" spc="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trust-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based</a:t>
            </a:r>
            <a:r>
              <a:rPr dirty="0" sz="2400" spc="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relationship,</a:t>
            </a:r>
            <a:r>
              <a:rPr dirty="0" sz="2400" spc="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dirty="0" sz="2400" spc="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ultimately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benefits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both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customer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company.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Ethical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practices</a:t>
            </a:r>
            <a:r>
              <a:rPr dirty="0" sz="2400" spc="3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ensure</a:t>
            </a:r>
            <a:r>
              <a:rPr dirty="0" sz="2400" spc="3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long-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term</a:t>
            </a:r>
            <a:r>
              <a:rPr dirty="0" sz="2400" spc="3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customer</a:t>
            </a:r>
            <a:r>
              <a:rPr dirty="0" sz="2400" spc="3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satisfaction</a:t>
            </a:r>
            <a:r>
              <a:rPr dirty="0" sz="2400" spc="3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3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78839" y="6381394"/>
            <a:ext cx="38741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positive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business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reputation.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426957" y="6426504"/>
            <a:ext cx="18097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8152" y="2741803"/>
            <a:ext cx="36487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Plan-</a:t>
            </a:r>
            <a:r>
              <a:rPr dirty="0"/>
              <a:t>driven</a:t>
            </a:r>
            <a:r>
              <a:rPr dirty="0" spc="25"/>
              <a:t> </a:t>
            </a:r>
            <a:r>
              <a:rPr dirty="0" spc="-10"/>
              <a:t>development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Plan-</a:t>
            </a:r>
            <a:r>
              <a:rPr dirty="0"/>
              <a:t>driven</a:t>
            </a:r>
            <a:r>
              <a:rPr dirty="0" spc="25"/>
              <a:t> </a:t>
            </a:r>
            <a:r>
              <a:rPr dirty="0" spc="-10"/>
              <a:t>development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625853"/>
            <a:ext cx="8056245" cy="4248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99695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Plan-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driven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plan-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based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approach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engineering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process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planned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detail.</a:t>
            </a:r>
            <a:endParaRPr sz="2400">
              <a:latin typeface="Arial MT"/>
              <a:cs typeface="Arial MT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2378710" algn="l"/>
              </a:tabLst>
            </a:pP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Plan-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driven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based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engineering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project management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	techniques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‘traditional’</a:t>
            </a:r>
            <a:r>
              <a:rPr dirty="0" sz="20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way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managing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large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projects.</a:t>
            </a:r>
            <a:endParaRPr sz="2000">
              <a:latin typeface="Arial MT"/>
              <a:cs typeface="Arial MT"/>
            </a:endParaRPr>
          </a:p>
          <a:p>
            <a:pPr marL="355600" marR="268605" indent="-342900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1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created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records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be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done,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who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will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do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it,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schedule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products.</a:t>
            </a:r>
            <a:endParaRPr sz="2400">
              <a:latin typeface="Arial MT"/>
              <a:cs typeface="Arial MT"/>
            </a:endParaRPr>
          </a:p>
          <a:p>
            <a:pPr marL="355600" marR="93662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Managers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use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support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decision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making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way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measuring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progress.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Plan-</a:t>
            </a:r>
            <a:r>
              <a:rPr dirty="0"/>
              <a:t>driven</a:t>
            </a:r>
            <a:r>
              <a:rPr dirty="0" spc="-25"/>
              <a:t> </a:t>
            </a:r>
            <a:r>
              <a:rPr dirty="0"/>
              <a:t>development</a:t>
            </a:r>
            <a:r>
              <a:rPr dirty="0" spc="-15"/>
              <a:t> </a:t>
            </a:r>
            <a:r>
              <a:rPr dirty="0"/>
              <a:t>–</a:t>
            </a:r>
            <a:r>
              <a:rPr dirty="0" spc="-10"/>
              <a:t> </a:t>
            </a:r>
            <a:r>
              <a:rPr dirty="0"/>
              <a:t>pros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20"/>
              <a:t>cons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625853"/>
            <a:ext cx="8060055" cy="3836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3225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arguments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favor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plan-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driven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approach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are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early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planning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allows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organizational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issues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(availability</a:t>
            </a:r>
            <a:r>
              <a:rPr dirty="0" sz="24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staff,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other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projects,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etc.)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closely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taken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into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account,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potential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problems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dependencies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discovered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before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starts,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rather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than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once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underway.</a:t>
            </a:r>
            <a:endParaRPr sz="2400">
              <a:latin typeface="Arial MT"/>
              <a:cs typeface="Arial MT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principal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argument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against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plan-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driven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development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many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early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decisions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revised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because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changes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environment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developed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used.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85"/>
              <a:t> </a:t>
            </a:r>
            <a:r>
              <a:rPr dirty="0" spc="-10"/>
              <a:t>plans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856359"/>
            <a:ext cx="7945755" cy="4347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plan-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driven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project,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sets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out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resources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available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project,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work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breakdown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schedule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carrying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out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work.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sections</a:t>
            </a:r>
            <a:endParaRPr sz="24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Introduction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organization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Risk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analysis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Hardware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resource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dirty="0" sz="20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breakdown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schedule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Monitoring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reporting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mechanisms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50"/>
              <a:t> </a:t>
            </a:r>
            <a:r>
              <a:rPr dirty="0"/>
              <a:t>plan</a:t>
            </a:r>
            <a:r>
              <a:rPr dirty="0" spc="-50"/>
              <a:t> </a:t>
            </a:r>
            <a:r>
              <a:rPr dirty="0" spc="-10"/>
              <a:t>supplements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50850" y="1952625"/>
          <a:ext cx="8318500" cy="3808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96260"/>
                <a:gridCol w="5133340"/>
              </a:tblGrid>
              <a:tr h="426720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600" spc="-20" b="1">
                          <a:latin typeface="Arial"/>
                          <a:cs typeface="Arial"/>
                        </a:rPr>
                        <a:t>Plan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600" spc="-10" b="1">
                          <a:latin typeface="Arial"/>
                          <a:cs typeface="Arial"/>
                        </a:rPr>
                        <a:t>Description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Configuration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management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plan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55244" marR="48895">
                        <a:lnSpc>
                          <a:spcPts val="192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Describes</a:t>
                      </a:r>
                      <a:r>
                        <a:rPr dirty="0" sz="1600" spc="4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4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configuration</a:t>
                      </a:r>
                      <a:r>
                        <a:rPr dirty="0" sz="1600" spc="4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management</a:t>
                      </a:r>
                      <a:r>
                        <a:rPr dirty="0" sz="1600" spc="4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procedures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structures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used.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Deployment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plan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55244" marR="45720">
                        <a:lnSpc>
                          <a:spcPts val="1920"/>
                        </a:lnSpc>
                        <a:spcBef>
                          <a:spcPts val="3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Describes</a:t>
                      </a:r>
                      <a:r>
                        <a:rPr dirty="0" sz="1600" spc="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how</a:t>
                      </a:r>
                      <a:r>
                        <a:rPr dirty="0" sz="1600" spc="2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2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software</a:t>
                      </a:r>
                      <a:r>
                        <a:rPr dirty="0" sz="1600" spc="2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600" spc="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associated</a:t>
                      </a:r>
                      <a:r>
                        <a:rPr dirty="0" sz="1600" spc="2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hardware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(if</a:t>
                      </a:r>
                      <a:r>
                        <a:rPr dirty="0" sz="1600" spc="270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required)</a:t>
                      </a:r>
                      <a:r>
                        <a:rPr dirty="0" sz="1600" spc="275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600" spc="270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600" spc="265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deployed</a:t>
                      </a:r>
                      <a:r>
                        <a:rPr dirty="0" sz="1600" spc="275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600" spc="265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270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customer’s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environment.</a:t>
                      </a:r>
                      <a:r>
                        <a:rPr dirty="0" sz="1600" spc="2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This</a:t>
                      </a:r>
                      <a:r>
                        <a:rPr dirty="0" sz="1600" spc="2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should</a:t>
                      </a:r>
                      <a:r>
                        <a:rPr dirty="0" sz="1600" spc="2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include</a:t>
                      </a:r>
                      <a:r>
                        <a:rPr dirty="0" sz="1600" spc="2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2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plan</a:t>
                      </a:r>
                      <a:r>
                        <a:rPr dirty="0" sz="1600" spc="2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600" spc="2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migrating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algn="just" marL="55244">
                        <a:lnSpc>
                          <a:spcPts val="186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from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existing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systems.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Maintenance</a:t>
                      </a:r>
                      <a:r>
                        <a:rPr dirty="0" sz="16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plan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55244" marR="46355">
                        <a:lnSpc>
                          <a:spcPts val="1920"/>
                        </a:lnSpc>
                        <a:spcBef>
                          <a:spcPts val="30"/>
                        </a:spcBef>
                        <a:tabLst>
                          <a:tab pos="935990" algn="l"/>
                          <a:tab pos="1363980" algn="l"/>
                          <a:tab pos="2673350" algn="l"/>
                          <a:tab pos="4060825" algn="l"/>
                          <a:tab pos="4740275" algn="l"/>
                        </a:tabLst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Predicts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maintenance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requirements,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costs,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effort.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Quality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plan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55244" marR="48260">
                        <a:lnSpc>
                          <a:spcPts val="1920"/>
                        </a:lnSpc>
                        <a:spcBef>
                          <a:spcPts val="3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Describes</a:t>
                      </a:r>
                      <a:r>
                        <a:rPr dirty="0" sz="1600" spc="3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3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quality</a:t>
                      </a:r>
                      <a:r>
                        <a:rPr dirty="0" sz="1600" spc="3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procedures</a:t>
                      </a:r>
                      <a:r>
                        <a:rPr dirty="0" sz="1600" spc="4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600" spc="3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standards</a:t>
                      </a:r>
                      <a:r>
                        <a:rPr dirty="0" sz="1600" spc="4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that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used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project.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Validation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plan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1885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Describes</a:t>
                      </a:r>
                      <a:r>
                        <a:rPr dirty="0" sz="16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approach,</a:t>
                      </a:r>
                      <a:r>
                        <a:rPr dirty="0" sz="16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resources,</a:t>
                      </a:r>
                      <a:r>
                        <a:rPr dirty="0" sz="16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6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schedule</a:t>
                      </a:r>
                      <a:r>
                        <a:rPr dirty="0" sz="16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used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system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validation.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20"/>
              <a:t> </a:t>
            </a:r>
            <a:r>
              <a:rPr dirty="0"/>
              <a:t>planning</a:t>
            </a:r>
            <a:r>
              <a:rPr dirty="0" spc="-30"/>
              <a:t> </a:t>
            </a:r>
            <a:r>
              <a:rPr dirty="0" spc="-10"/>
              <a:t>process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5600" marR="23241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/>
              <a:t>Project</a:t>
            </a:r>
            <a:r>
              <a:rPr dirty="0" sz="2400" spc="-45"/>
              <a:t> </a:t>
            </a:r>
            <a:r>
              <a:rPr dirty="0" sz="2400"/>
              <a:t>planning is</a:t>
            </a:r>
            <a:r>
              <a:rPr dirty="0" sz="2400" spc="-45"/>
              <a:t> </a:t>
            </a:r>
            <a:r>
              <a:rPr dirty="0" sz="2400"/>
              <a:t>an</a:t>
            </a:r>
            <a:r>
              <a:rPr dirty="0" sz="2400" spc="-45"/>
              <a:t> </a:t>
            </a:r>
            <a:r>
              <a:rPr dirty="0" sz="2400"/>
              <a:t>iterative</a:t>
            </a:r>
            <a:r>
              <a:rPr dirty="0" sz="2400" spc="-50"/>
              <a:t> </a:t>
            </a:r>
            <a:r>
              <a:rPr dirty="0" sz="2400"/>
              <a:t>process</a:t>
            </a:r>
            <a:r>
              <a:rPr dirty="0" sz="2400" spc="-40"/>
              <a:t> </a:t>
            </a:r>
            <a:r>
              <a:rPr dirty="0" sz="2400"/>
              <a:t>that</a:t>
            </a:r>
            <a:r>
              <a:rPr dirty="0" sz="2400" spc="-40"/>
              <a:t> </a:t>
            </a:r>
            <a:r>
              <a:rPr dirty="0" sz="2400"/>
              <a:t>starts</a:t>
            </a:r>
            <a:r>
              <a:rPr dirty="0" sz="2400" spc="-60"/>
              <a:t> </a:t>
            </a:r>
            <a:r>
              <a:rPr dirty="0" sz="2400" spc="-20"/>
              <a:t>when </a:t>
            </a:r>
            <a:r>
              <a:rPr dirty="0" sz="2400"/>
              <a:t>you</a:t>
            </a:r>
            <a:r>
              <a:rPr dirty="0" sz="2400" spc="-50"/>
              <a:t> </a:t>
            </a:r>
            <a:r>
              <a:rPr dirty="0" sz="2400"/>
              <a:t>create</a:t>
            </a:r>
            <a:r>
              <a:rPr dirty="0" sz="2400" spc="-55"/>
              <a:t> </a:t>
            </a:r>
            <a:r>
              <a:rPr dirty="0" sz="2400"/>
              <a:t>an</a:t>
            </a:r>
            <a:r>
              <a:rPr dirty="0" sz="2400" spc="-50"/>
              <a:t> </a:t>
            </a:r>
            <a:r>
              <a:rPr dirty="0" sz="2400"/>
              <a:t>initial</a:t>
            </a:r>
            <a:r>
              <a:rPr dirty="0" sz="2400" spc="-30"/>
              <a:t> </a:t>
            </a:r>
            <a:r>
              <a:rPr dirty="0" sz="2400"/>
              <a:t>project</a:t>
            </a:r>
            <a:r>
              <a:rPr dirty="0" sz="2400" spc="-50"/>
              <a:t> </a:t>
            </a:r>
            <a:r>
              <a:rPr dirty="0" sz="2400"/>
              <a:t>plan</a:t>
            </a:r>
            <a:r>
              <a:rPr dirty="0" sz="2400" spc="-30"/>
              <a:t> </a:t>
            </a:r>
            <a:r>
              <a:rPr dirty="0" sz="2400"/>
              <a:t>during</a:t>
            </a:r>
            <a:r>
              <a:rPr dirty="0" sz="2400" spc="-45"/>
              <a:t> </a:t>
            </a:r>
            <a:r>
              <a:rPr dirty="0" sz="2400"/>
              <a:t>the</a:t>
            </a:r>
            <a:r>
              <a:rPr dirty="0" sz="2400" spc="-50"/>
              <a:t> </a:t>
            </a:r>
            <a:r>
              <a:rPr dirty="0" sz="2400" spc="-10"/>
              <a:t>project </a:t>
            </a:r>
            <a:r>
              <a:rPr dirty="0" sz="2400"/>
              <a:t>startup</a:t>
            </a:r>
            <a:r>
              <a:rPr dirty="0" sz="2400" spc="-20"/>
              <a:t> </a:t>
            </a:r>
            <a:r>
              <a:rPr dirty="0" sz="2400" spc="-10"/>
              <a:t>phase.</a:t>
            </a:r>
            <a:endParaRPr sz="2400"/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/>
              <a:t>Plan</a:t>
            </a:r>
            <a:r>
              <a:rPr dirty="0" sz="2400" spc="-60"/>
              <a:t> </a:t>
            </a:r>
            <a:r>
              <a:rPr dirty="0" sz="2400"/>
              <a:t>changes</a:t>
            </a:r>
            <a:r>
              <a:rPr dirty="0" sz="2400" spc="-35"/>
              <a:t> </a:t>
            </a:r>
            <a:r>
              <a:rPr dirty="0" sz="2400"/>
              <a:t>are</a:t>
            </a:r>
            <a:r>
              <a:rPr dirty="0" sz="2400" spc="-65"/>
              <a:t> </a:t>
            </a:r>
            <a:r>
              <a:rPr dirty="0" sz="2400" spc="-10"/>
              <a:t>inevitable.</a:t>
            </a:r>
            <a:endParaRPr sz="2400"/>
          </a:p>
          <a:p>
            <a:pPr lvl="1" marL="756285" marR="5080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more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information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about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team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becomes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available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during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project,</a:t>
            </a:r>
            <a:r>
              <a:rPr dirty="0" sz="20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regularly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revise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reflect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requirements,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schedule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risk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changes.</a:t>
            </a:r>
            <a:endParaRPr sz="2000">
              <a:latin typeface="Arial MT"/>
              <a:cs typeface="Arial MT"/>
            </a:endParaRPr>
          </a:p>
          <a:p>
            <a:pPr lvl="1" marL="756285" marR="86360" indent="-287020">
              <a:lnSpc>
                <a:spcPct val="100000"/>
              </a:lnSpc>
              <a:spcBef>
                <a:spcPts val="6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Changing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business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goals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also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leads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changes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plans.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business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goals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change,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could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affect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all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projects,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which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then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re-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planned.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20"/>
              <a:t> </a:t>
            </a:r>
            <a:r>
              <a:rPr dirty="0"/>
              <a:t>project</a:t>
            </a:r>
            <a:r>
              <a:rPr dirty="0" spc="-5"/>
              <a:t> </a:t>
            </a:r>
            <a:r>
              <a:rPr dirty="0"/>
              <a:t>planning</a:t>
            </a:r>
            <a:r>
              <a:rPr dirty="0" spc="-25"/>
              <a:t> </a:t>
            </a:r>
            <a:r>
              <a:rPr dirty="0" spc="-10"/>
              <a:t>process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37623" y="1982309"/>
            <a:ext cx="7863840" cy="3340100"/>
            <a:chOff x="737623" y="1982309"/>
            <a:chExt cx="7863840" cy="33401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0097" y="2289279"/>
              <a:ext cx="195732" cy="19491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7818239" y="2242079"/>
              <a:ext cx="282575" cy="283210"/>
            </a:xfrm>
            <a:custGeom>
              <a:avLst/>
              <a:gdLst/>
              <a:ahLst/>
              <a:cxnLst/>
              <a:rect l="l" t="t" r="r" b="b"/>
              <a:pathLst>
                <a:path w="282575" h="283210">
                  <a:moveTo>
                    <a:pt x="0" y="141430"/>
                  </a:moveTo>
                  <a:lnTo>
                    <a:pt x="7228" y="96861"/>
                  </a:lnTo>
                  <a:lnTo>
                    <a:pt x="27326" y="58054"/>
                  </a:lnTo>
                  <a:lnTo>
                    <a:pt x="57908" y="27388"/>
                  </a:lnTo>
                  <a:lnTo>
                    <a:pt x="96592" y="7243"/>
                  </a:lnTo>
                  <a:lnTo>
                    <a:pt x="140995" y="0"/>
                  </a:lnTo>
                  <a:lnTo>
                    <a:pt x="185480" y="7243"/>
                  </a:lnTo>
                  <a:lnTo>
                    <a:pt x="224215" y="27388"/>
                  </a:lnTo>
                  <a:lnTo>
                    <a:pt x="254823" y="58054"/>
                  </a:lnTo>
                  <a:lnTo>
                    <a:pt x="274930" y="96861"/>
                  </a:lnTo>
                  <a:lnTo>
                    <a:pt x="282160" y="141430"/>
                  </a:lnTo>
                  <a:lnTo>
                    <a:pt x="274930" y="185999"/>
                  </a:lnTo>
                  <a:lnTo>
                    <a:pt x="254823" y="224807"/>
                  </a:lnTo>
                  <a:lnTo>
                    <a:pt x="224215" y="255472"/>
                  </a:lnTo>
                  <a:lnTo>
                    <a:pt x="185480" y="275617"/>
                  </a:lnTo>
                  <a:lnTo>
                    <a:pt x="140995" y="282861"/>
                  </a:lnTo>
                  <a:lnTo>
                    <a:pt x="96592" y="275617"/>
                  </a:lnTo>
                  <a:lnTo>
                    <a:pt x="57908" y="255472"/>
                  </a:lnTo>
                  <a:lnTo>
                    <a:pt x="27326" y="224807"/>
                  </a:lnTo>
                  <a:lnTo>
                    <a:pt x="7228" y="185999"/>
                  </a:lnTo>
                  <a:lnTo>
                    <a:pt x="0" y="141430"/>
                  </a:lnTo>
                  <a:close/>
                </a:path>
              </a:pathLst>
            </a:custGeom>
            <a:ln w="16542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7623" y="2080446"/>
              <a:ext cx="6936909" cy="234093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873585" y="3598659"/>
              <a:ext cx="2842895" cy="433070"/>
            </a:xfrm>
            <a:custGeom>
              <a:avLst/>
              <a:gdLst/>
              <a:ahLst/>
              <a:cxnLst/>
              <a:rect l="l" t="t" r="r" b="b"/>
              <a:pathLst>
                <a:path w="2842895" h="433070">
                  <a:moveTo>
                    <a:pt x="2842449" y="430437"/>
                  </a:moveTo>
                  <a:lnTo>
                    <a:pt x="2842449" y="430437"/>
                  </a:lnTo>
                  <a:lnTo>
                    <a:pt x="7625" y="430438"/>
                  </a:lnTo>
                </a:path>
                <a:path w="2842895" h="433070">
                  <a:moveTo>
                    <a:pt x="0" y="432984"/>
                  </a:moveTo>
                  <a:lnTo>
                    <a:pt x="0" y="432984"/>
                  </a:lnTo>
                  <a:lnTo>
                    <a:pt x="0" y="0"/>
                  </a:lnTo>
                </a:path>
              </a:pathLst>
            </a:custGeom>
            <a:ln w="7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54605" y="3592207"/>
              <a:ext cx="38735" cy="55244"/>
            </a:xfrm>
            <a:custGeom>
              <a:avLst/>
              <a:gdLst/>
              <a:ahLst/>
              <a:cxnLst/>
              <a:rect l="l" t="t" r="r" b="b"/>
              <a:pathLst>
                <a:path w="38735" h="55245">
                  <a:moveTo>
                    <a:pt x="0" y="54789"/>
                  </a:moveTo>
                  <a:lnTo>
                    <a:pt x="18980" y="0"/>
                  </a:lnTo>
                  <a:lnTo>
                    <a:pt x="38129" y="54789"/>
                  </a:lnTo>
                </a:path>
              </a:pathLst>
            </a:custGeom>
            <a:ln w="76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75388" y="4119524"/>
              <a:ext cx="1896660" cy="14137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80033" y="1982309"/>
              <a:ext cx="1231856" cy="54390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24490" y="2158036"/>
              <a:ext cx="695317" cy="13752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60188" y="3482614"/>
              <a:ext cx="2540997" cy="183925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10166" y="3808750"/>
              <a:ext cx="592282" cy="306953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Planning</a:t>
            </a:r>
            <a:r>
              <a:rPr dirty="0" spc="-30"/>
              <a:t> </a:t>
            </a:r>
            <a:r>
              <a:rPr dirty="0" spc="-10"/>
              <a:t>assumptions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625853"/>
            <a:ext cx="7988300" cy="3775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84074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make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realistic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rather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than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optimistic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assumptions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when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defining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1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plan.</a:t>
            </a:r>
            <a:endParaRPr sz="2400">
              <a:latin typeface="Arial MT"/>
              <a:cs typeface="Arial MT"/>
            </a:endParaRPr>
          </a:p>
          <a:p>
            <a:pPr marL="355600" marR="65786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Problems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some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description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always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arise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during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a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project,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lead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delays.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Your</a:t>
            </a:r>
            <a:r>
              <a:rPr dirty="0" sz="24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initial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assumptions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scheduling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therefore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take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unexpected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problems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into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account.</a:t>
            </a:r>
            <a:endParaRPr sz="2400">
              <a:latin typeface="Arial MT"/>
              <a:cs typeface="Arial MT"/>
            </a:endParaRPr>
          </a:p>
          <a:p>
            <a:pPr marL="355600" marR="46482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include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contingency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your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if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things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go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wrong,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then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your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delivery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schedule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not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seriously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disrupted.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Risk</a:t>
            </a:r>
            <a:r>
              <a:rPr dirty="0" spc="-70"/>
              <a:t> </a:t>
            </a:r>
            <a:r>
              <a:rPr dirty="0" spc="-10"/>
              <a:t>mitigation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625853"/>
            <a:ext cx="7957820" cy="3989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If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serious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problems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work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likely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lead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significant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delays,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need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initiate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risk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mitigation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actions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reduce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risks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of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failure.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conjunction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actions,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also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re-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project.</a:t>
            </a:r>
            <a:endParaRPr sz="2400">
              <a:latin typeface="Arial MT"/>
              <a:cs typeface="Arial MT"/>
            </a:endParaRPr>
          </a:p>
          <a:p>
            <a:pPr marL="355600" marR="27305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involve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renegotiating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constraints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deliverables</a:t>
            </a:r>
            <a:r>
              <a:rPr dirty="0" sz="24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customer.</a:t>
            </a:r>
            <a:r>
              <a:rPr dirty="0" sz="2400" spc="-1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1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schedule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of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when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completed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also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be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established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agreed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customer.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6589" y="2752420"/>
            <a:ext cx="275145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10"/>
              <a:t> scheduling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85"/>
              <a:t> </a:t>
            </a:r>
            <a:r>
              <a:rPr dirty="0" spc="-10"/>
              <a:t>scheduling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625853"/>
            <a:ext cx="8066405" cy="3989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517525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scheduling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deciding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how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will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organized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separate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tasks,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when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how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tasks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will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executed.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calendar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time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needed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complete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each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task,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required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who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will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tasks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identified.</a:t>
            </a:r>
            <a:endParaRPr sz="2400">
              <a:latin typeface="Arial MT"/>
              <a:cs typeface="Arial MT"/>
            </a:endParaRPr>
          </a:p>
          <a:p>
            <a:pPr marL="355600" marR="1828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also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resources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needed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complete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each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task,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such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disk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space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on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server,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time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specialized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hardware,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such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simulator,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what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travel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budget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will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be.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75"/>
              <a:t> </a:t>
            </a:r>
            <a:r>
              <a:rPr dirty="0"/>
              <a:t>scheduling</a:t>
            </a:r>
            <a:r>
              <a:rPr dirty="0" spc="-85"/>
              <a:t> </a:t>
            </a:r>
            <a:r>
              <a:rPr dirty="0" spc="-10"/>
              <a:t>activities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330" y="1624965"/>
            <a:ext cx="7853680" cy="3409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Split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into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tasks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time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resources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required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complete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each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task.</a:t>
            </a:r>
            <a:endParaRPr sz="2400">
              <a:latin typeface="Arial MT"/>
              <a:cs typeface="Arial MT"/>
            </a:endParaRPr>
          </a:p>
          <a:p>
            <a:pPr marL="355600" marR="146685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Organize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tasks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concurrently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make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optimal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use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workforce.</a:t>
            </a:r>
            <a:endParaRPr sz="2400">
              <a:latin typeface="Arial MT"/>
              <a:cs typeface="Arial MT"/>
            </a:endParaRPr>
          </a:p>
          <a:p>
            <a:pPr marL="355600" marR="513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Minimize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task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dependencies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avoid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delays</a:t>
            </a:r>
            <a:r>
              <a:rPr dirty="0" sz="2400" spc="6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caused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task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waiting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another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complete.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Dependent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managers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intuition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experience.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45"/>
              <a:t> </a:t>
            </a:r>
            <a:r>
              <a:rPr dirty="0"/>
              <a:t>project</a:t>
            </a:r>
            <a:r>
              <a:rPr dirty="0" spc="-30"/>
              <a:t> </a:t>
            </a:r>
            <a:r>
              <a:rPr dirty="0"/>
              <a:t>scheduling</a:t>
            </a:r>
            <a:r>
              <a:rPr dirty="0" spc="-30"/>
              <a:t> </a:t>
            </a:r>
            <a:r>
              <a:rPr dirty="0" spc="-10"/>
              <a:t>process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69618" y="2640894"/>
            <a:ext cx="7402830" cy="1438275"/>
            <a:chOff x="769618" y="2640894"/>
            <a:chExt cx="7402830" cy="14382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9618" y="2868735"/>
              <a:ext cx="7402347" cy="121005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385934" y="2644756"/>
              <a:ext cx="3768090" cy="535940"/>
            </a:xfrm>
            <a:custGeom>
              <a:avLst/>
              <a:gdLst/>
              <a:ahLst/>
              <a:cxnLst/>
              <a:rect l="l" t="t" r="r" b="b"/>
              <a:pathLst>
                <a:path w="3768090" h="535939">
                  <a:moveTo>
                    <a:pt x="3621391" y="535511"/>
                  </a:moveTo>
                  <a:lnTo>
                    <a:pt x="3768024" y="535511"/>
                  </a:lnTo>
                  <a:lnTo>
                    <a:pt x="3768024" y="0"/>
                  </a:lnTo>
                  <a:lnTo>
                    <a:pt x="0" y="0"/>
                  </a:lnTo>
                  <a:lnTo>
                    <a:pt x="0" y="169922"/>
                  </a:lnTo>
                </a:path>
              </a:pathLst>
            </a:custGeom>
            <a:ln w="77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9830" y="2754164"/>
              <a:ext cx="70835" cy="11586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83839" y="2891907"/>
              <a:ext cx="1247845" cy="587011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Scheduling</a:t>
            </a:r>
            <a:r>
              <a:rPr dirty="0" spc="-75"/>
              <a:t> </a:t>
            </a:r>
            <a:r>
              <a:rPr dirty="0" spc="-10"/>
              <a:t>problems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330" y="1624965"/>
            <a:ext cx="7977505" cy="3409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14986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Estimating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difficulty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problems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hence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cost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developing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solution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hard.</a:t>
            </a:r>
            <a:endParaRPr sz="2400">
              <a:latin typeface="Arial MT"/>
              <a:cs typeface="Arial MT"/>
            </a:endParaRPr>
          </a:p>
          <a:p>
            <a:pPr marL="355600" marR="21209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Productivity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proportional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number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people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working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task.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Adding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people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late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makes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later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because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of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communication</a:t>
            </a:r>
            <a:r>
              <a:rPr dirty="0" sz="2400" spc="-1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overheads.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unexpected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always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happens.</a:t>
            </a:r>
            <a:r>
              <a:rPr dirty="0" sz="2400" spc="-1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Always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allow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contingency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planning.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Schedule</a:t>
            </a:r>
            <a:r>
              <a:rPr dirty="0" spc="-60"/>
              <a:t> </a:t>
            </a:r>
            <a:r>
              <a:rPr dirty="0" spc="-10"/>
              <a:t>presentation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330" y="1624965"/>
            <a:ext cx="7901940" cy="4453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33274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Graphical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notations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normally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illustrate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schedule.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show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breakdown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into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tasks.</a:t>
            </a:r>
            <a:r>
              <a:rPr dirty="0" sz="2400" spc="-1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Tasks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too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small.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take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about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week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two.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Calendar-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based</a:t>
            </a:r>
            <a:endParaRPr sz="2400">
              <a:latin typeface="Arial MT"/>
              <a:cs typeface="Arial MT"/>
            </a:endParaRPr>
          </a:p>
          <a:p>
            <a:pPr algn="just" lvl="1" marL="755015" marR="596900" indent="-28575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Bar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charts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most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commonly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representation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for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schedules.</a:t>
            </a:r>
            <a:r>
              <a:rPr dirty="0" sz="20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show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schedule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activities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or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resources</a:t>
            </a:r>
            <a:r>
              <a:rPr dirty="0" sz="20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against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time.</a:t>
            </a:r>
            <a:endParaRPr sz="2000">
              <a:latin typeface="Arial MT"/>
              <a:cs typeface="Arial MT"/>
            </a:endParaRPr>
          </a:p>
          <a:p>
            <a:pPr algn="just" marL="354965" indent="-342265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Activity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networks</a:t>
            </a:r>
            <a:endParaRPr sz="2400">
              <a:latin typeface="Arial MT"/>
              <a:cs typeface="Arial MT"/>
            </a:endParaRPr>
          </a:p>
          <a:p>
            <a:pPr algn="just" lvl="1" marL="755650" indent="-285750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75565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Show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task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dependencies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90"/>
              <a:t> </a:t>
            </a:r>
            <a:r>
              <a:rPr dirty="0" spc="-10"/>
              <a:t>activites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5600" marR="16891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/>
              <a:t>Project</a:t>
            </a:r>
            <a:r>
              <a:rPr dirty="0" sz="2400" spc="-85"/>
              <a:t> </a:t>
            </a:r>
            <a:r>
              <a:rPr dirty="0" sz="2400"/>
              <a:t>activities</a:t>
            </a:r>
            <a:r>
              <a:rPr dirty="0" sz="2400" spc="-55"/>
              <a:t> </a:t>
            </a:r>
            <a:r>
              <a:rPr dirty="0" sz="2400"/>
              <a:t>(tasks)</a:t>
            </a:r>
            <a:r>
              <a:rPr dirty="0" sz="2400" spc="-95"/>
              <a:t> </a:t>
            </a:r>
            <a:r>
              <a:rPr dirty="0" sz="2400"/>
              <a:t>are</a:t>
            </a:r>
            <a:r>
              <a:rPr dirty="0" sz="2400" spc="-70"/>
              <a:t> </a:t>
            </a:r>
            <a:r>
              <a:rPr dirty="0" sz="2400"/>
              <a:t>the</a:t>
            </a:r>
            <a:r>
              <a:rPr dirty="0" sz="2400" spc="-75"/>
              <a:t> </a:t>
            </a:r>
            <a:r>
              <a:rPr dirty="0" sz="2400"/>
              <a:t>basic</a:t>
            </a:r>
            <a:r>
              <a:rPr dirty="0" sz="2400" spc="-70"/>
              <a:t> </a:t>
            </a:r>
            <a:r>
              <a:rPr dirty="0" sz="2400"/>
              <a:t>planning</a:t>
            </a:r>
            <a:r>
              <a:rPr dirty="0" sz="2400" spc="-35"/>
              <a:t> </a:t>
            </a:r>
            <a:r>
              <a:rPr dirty="0" sz="2400" spc="-10"/>
              <a:t>element. </a:t>
            </a:r>
            <a:r>
              <a:rPr dirty="0" sz="2400"/>
              <a:t>Each</a:t>
            </a:r>
            <a:r>
              <a:rPr dirty="0" sz="2400" spc="-45"/>
              <a:t> </a:t>
            </a:r>
            <a:r>
              <a:rPr dirty="0" sz="2400"/>
              <a:t>activity</a:t>
            </a:r>
            <a:r>
              <a:rPr dirty="0" sz="2400" spc="-45"/>
              <a:t> </a:t>
            </a:r>
            <a:r>
              <a:rPr dirty="0" sz="2400" spc="-20"/>
              <a:t>has:</a:t>
            </a:r>
            <a:endParaRPr sz="2400"/>
          </a:p>
          <a:p>
            <a:pPr lvl="1" marL="756285" indent="-286385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duration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calendar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days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months,</a:t>
            </a:r>
            <a:endParaRPr sz="2000">
              <a:latin typeface="Arial MT"/>
              <a:cs typeface="Arial MT"/>
            </a:endParaRPr>
          </a:p>
          <a:p>
            <a:pPr lvl="1" marL="756285" marR="361315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estimate,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shows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number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person-days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or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person-months</a:t>
            </a:r>
            <a:r>
              <a:rPr dirty="0" sz="20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complete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work,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deadline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activity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complete,</a:t>
            </a:r>
            <a:endParaRPr sz="2000">
              <a:latin typeface="Arial MT"/>
              <a:cs typeface="Arial MT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6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defined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end-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point,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might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document,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holding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a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review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meeting,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successful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execution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all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tests,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etc.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940" y="643254"/>
            <a:ext cx="7922895" cy="2990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Milestones</a:t>
            </a:r>
            <a:r>
              <a:rPr dirty="0" sz="2400" spc="-9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and</a:t>
            </a:r>
            <a:r>
              <a:rPr dirty="0" sz="2400" spc="-7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46424D"/>
                </a:solidFill>
                <a:latin typeface="Arial"/>
                <a:cs typeface="Arial"/>
              </a:rPr>
              <a:t>deliverables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2400">
              <a:latin typeface="Arial"/>
              <a:cs typeface="Arial"/>
            </a:endParaRPr>
          </a:p>
          <a:p>
            <a:pPr marL="355600" marR="17145" indent="-342900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Milestones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points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schedule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against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you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assess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progress,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example,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handover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testing.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Deliverables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products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delivered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customer,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e.g.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document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system.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Tasks,</a:t>
            </a:r>
            <a:r>
              <a:rPr dirty="0" spc="-35"/>
              <a:t> </a:t>
            </a:r>
            <a:r>
              <a:rPr dirty="0"/>
              <a:t>durations,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 spc="-10"/>
              <a:t>dependencies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50850" y="1593850"/>
          <a:ext cx="8355330" cy="50247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1135"/>
                <a:gridCol w="1955165"/>
                <a:gridCol w="1958975"/>
                <a:gridCol w="2889885"/>
              </a:tblGrid>
              <a:tr h="579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20" b="1">
                          <a:latin typeface="Arial"/>
                          <a:cs typeface="Arial"/>
                        </a:rPr>
                        <a:t>Task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97230" marR="283210" indent="-4438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Effort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(person- days)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Duration</a:t>
                      </a:r>
                      <a:r>
                        <a:rPr dirty="0" sz="1600" spc="-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(days)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10" b="1">
                          <a:latin typeface="Arial"/>
                          <a:cs typeface="Arial"/>
                        </a:rPr>
                        <a:t>Dependencies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T1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1885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885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T2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1885"/>
                        </a:lnSpc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8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885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T3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1885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20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885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885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T1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(M1)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T4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1885"/>
                        </a:lnSpc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885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T5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1885"/>
                        </a:lnSpc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885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T2,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T4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(M3)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T6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1885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885"/>
                        </a:lnSpc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T1,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T2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(M4)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T7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1885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25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885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20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885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T1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(M1)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T8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1889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75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889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25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889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T4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(M2)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T9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1889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889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T3,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T6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(M5)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T10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1889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20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889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T7,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T8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(M6)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T11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1889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889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889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T9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(M7)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T12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1660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20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algn="r">
                        <a:lnSpc>
                          <a:spcPts val="1160"/>
                        </a:lnSpc>
                      </a:pPr>
                      <a:r>
                        <a:rPr dirty="0" sz="1200" spc="-25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Ch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660"/>
                        </a:lnSpc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10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3020">
                        <a:lnSpc>
                          <a:spcPts val="1160"/>
                        </a:lnSpc>
                      </a:pPr>
                      <a:r>
                        <a:rPr dirty="0" sz="120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apter</a:t>
                      </a:r>
                      <a:r>
                        <a:rPr dirty="0" sz="1200" spc="-7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23</a:t>
                      </a:r>
                      <a:r>
                        <a:rPr dirty="0" sz="1200" spc="-25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dirty="0" sz="1200" spc="-2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Planning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811530">
                        <a:lnSpc>
                          <a:spcPts val="1660"/>
                        </a:lnSpc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T10,</a:t>
                      </a:r>
                      <a:r>
                        <a:rPr dirty="0" sz="16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T11</a:t>
                      </a:r>
                      <a:r>
                        <a:rPr dirty="0" sz="16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(M8)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algn="r" marR="83820">
                        <a:lnSpc>
                          <a:spcPts val="1160"/>
                        </a:lnSpc>
                      </a:pPr>
                      <a:r>
                        <a:rPr dirty="0" sz="1200" spc="-25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32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Activity</a:t>
            </a:r>
            <a:r>
              <a:rPr dirty="0" spc="-60"/>
              <a:t> </a:t>
            </a:r>
            <a:r>
              <a:rPr dirty="0"/>
              <a:t>bar</a:t>
            </a:r>
            <a:r>
              <a:rPr dirty="0" spc="-50"/>
              <a:t> </a:t>
            </a:r>
            <a:r>
              <a:rPr dirty="0" spc="-10"/>
              <a:t>chart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544105" y="1600085"/>
            <a:ext cx="6107430" cy="5012690"/>
            <a:chOff x="1544105" y="1600085"/>
            <a:chExt cx="6107430" cy="5012690"/>
          </a:xfrm>
        </p:grpSpPr>
        <p:sp>
          <p:nvSpPr>
            <p:cNvPr id="4" name="object 4" descr=""/>
            <p:cNvSpPr/>
            <p:nvPr/>
          </p:nvSpPr>
          <p:spPr>
            <a:xfrm>
              <a:off x="1596177" y="1652346"/>
              <a:ext cx="6043930" cy="4955540"/>
            </a:xfrm>
            <a:custGeom>
              <a:avLst/>
              <a:gdLst/>
              <a:ahLst/>
              <a:cxnLst/>
              <a:rect l="l" t="t" r="r" b="b"/>
              <a:pathLst>
                <a:path w="6043930" h="4955540">
                  <a:moveTo>
                    <a:pt x="6043735" y="0"/>
                  </a:moveTo>
                  <a:lnTo>
                    <a:pt x="0" y="0"/>
                  </a:lnTo>
                  <a:lnTo>
                    <a:pt x="0" y="4955356"/>
                  </a:lnTo>
                  <a:lnTo>
                    <a:pt x="6043735" y="4955356"/>
                  </a:lnTo>
                  <a:lnTo>
                    <a:pt x="6043735" y="0"/>
                  </a:lnTo>
                  <a:close/>
                </a:path>
              </a:pathLst>
            </a:custGeom>
            <a:solidFill>
              <a:srgbClr val="7ED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96177" y="1652346"/>
              <a:ext cx="6043930" cy="4955540"/>
            </a:xfrm>
            <a:custGeom>
              <a:avLst/>
              <a:gdLst/>
              <a:ahLst/>
              <a:cxnLst/>
              <a:rect l="l" t="t" r="r" b="b"/>
              <a:pathLst>
                <a:path w="6043930" h="4955540">
                  <a:moveTo>
                    <a:pt x="0" y="4955356"/>
                  </a:moveTo>
                  <a:lnTo>
                    <a:pt x="6043735" y="4955356"/>
                  </a:lnTo>
                  <a:lnTo>
                    <a:pt x="6043735" y="0"/>
                  </a:lnTo>
                  <a:lnTo>
                    <a:pt x="0" y="0"/>
                  </a:lnTo>
                  <a:lnTo>
                    <a:pt x="0" y="4955356"/>
                  </a:lnTo>
                  <a:close/>
                </a:path>
              </a:pathLst>
            </a:custGeom>
            <a:ln w="9923">
              <a:solidFill>
                <a:srgbClr val="7ED5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49067" y="1605047"/>
              <a:ext cx="6043930" cy="4955540"/>
            </a:xfrm>
            <a:custGeom>
              <a:avLst/>
              <a:gdLst/>
              <a:ahLst/>
              <a:cxnLst/>
              <a:rect l="l" t="t" r="r" b="b"/>
              <a:pathLst>
                <a:path w="6043930" h="4955540">
                  <a:moveTo>
                    <a:pt x="6043742" y="0"/>
                  </a:moveTo>
                  <a:lnTo>
                    <a:pt x="0" y="0"/>
                  </a:lnTo>
                  <a:lnTo>
                    <a:pt x="0" y="4955507"/>
                  </a:lnTo>
                  <a:lnTo>
                    <a:pt x="6043742" y="4955507"/>
                  </a:lnTo>
                  <a:lnTo>
                    <a:pt x="604374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49067" y="1605047"/>
              <a:ext cx="6043930" cy="4955540"/>
            </a:xfrm>
            <a:custGeom>
              <a:avLst/>
              <a:gdLst/>
              <a:ahLst/>
              <a:cxnLst/>
              <a:rect l="l" t="t" r="r" b="b"/>
              <a:pathLst>
                <a:path w="6043930" h="4955540">
                  <a:moveTo>
                    <a:pt x="0" y="4955507"/>
                  </a:moveTo>
                  <a:lnTo>
                    <a:pt x="6043742" y="4955507"/>
                  </a:lnTo>
                  <a:lnTo>
                    <a:pt x="6043742" y="0"/>
                  </a:lnTo>
                  <a:lnTo>
                    <a:pt x="0" y="0"/>
                  </a:lnTo>
                  <a:lnTo>
                    <a:pt x="0" y="4955507"/>
                  </a:lnTo>
                  <a:close/>
                </a:path>
              </a:pathLst>
            </a:custGeom>
            <a:ln w="99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461514" y="1917781"/>
              <a:ext cx="0" cy="4643120"/>
            </a:xfrm>
            <a:custGeom>
              <a:avLst/>
              <a:gdLst/>
              <a:ahLst/>
              <a:cxnLst/>
              <a:rect l="l" t="t" r="r" b="b"/>
              <a:pathLst>
                <a:path w="0" h="4643120">
                  <a:moveTo>
                    <a:pt x="0" y="1296579"/>
                  </a:moveTo>
                  <a:lnTo>
                    <a:pt x="0" y="4642773"/>
                  </a:lnTo>
                </a:path>
                <a:path w="0" h="4643120">
                  <a:moveTo>
                    <a:pt x="0" y="718410"/>
                  </a:moveTo>
                  <a:lnTo>
                    <a:pt x="0" y="1138972"/>
                  </a:lnTo>
                </a:path>
                <a:path w="0" h="4643120">
                  <a:moveTo>
                    <a:pt x="0" y="663835"/>
                  </a:moveTo>
                  <a:lnTo>
                    <a:pt x="0" y="894540"/>
                  </a:lnTo>
                </a:path>
                <a:path w="0" h="4643120">
                  <a:moveTo>
                    <a:pt x="0" y="384674"/>
                  </a:moveTo>
                  <a:lnTo>
                    <a:pt x="0" y="507385"/>
                  </a:lnTo>
                </a:path>
                <a:path w="0" h="4643120">
                  <a:moveTo>
                    <a:pt x="0" y="0"/>
                  </a:moveTo>
                  <a:lnTo>
                    <a:pt x="0" y="228224"/>
                  </a:lnTo>
                </a:path>
              </a:pathLst>
            </a:custGeom>
            <a:ln w="7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337284" y="4845834"/>
              <a:ext cx="0" cy="257175"/>
            </a:xfrm>
            <a:custGeom>
              <a:avLst/>
              <a:gdLst/>
              <a:ahLst/>
              <a:cxnLst/>
              <a:rect l="l" t="t" r="r" b="b"/>
              <a:pathLst>
                <a:path w="0" h="257175">
                  <a:moveTo>
                    <a:pt x="0" y="0"/>
                  </a:moveTo>
                  <a:lnTo>
                    <a:pt x="0" y="0"/>
                  </a:lnTo>
                  <a:lnTo>
                    <a:pt x="0" y="256884"/>
                  </a:lnTo>
                </a:path>
              </a:pathLst>
            </a:custGeom>
            <a:ln w="7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337284" y="1917781"/>
              <a:ext cx="0" cy="2771775"/>
            </a:xfrm>
            <a:custGeom>
              <a:avLst/>
              <a:gdLst/>
              <a:ahLst/>
              <a:cxnLst/>
              <a:rect l="l" t="t" r="r" b="b"/>
              <a:pathLst>
                <a:path w="0" h="2771775">
                  <a:moveTo>
                    <a:pt x="0" y="2688583"/>
                  </a:moveTo>
                  <a:lnTo>
                    <a:pt x="0" y="2771769"/>
                  </a:lnTo>
                </a:path>
                <a:path w="0" h="2771775">
                  <a:moveTo>
                    <a:pt x="0" y="2256941"/>
                  </a:moveTo>
                  <a:lnTo>
                    <a:pt x="0" y="2532299"/>
                  </a:lnTo>
                </a:path>
                <a:path w="0" h="2771775">
                  <a:moveTo>
                    <a:pt x="0" y="0"/>
                  </a:moveTo>
                  <a:lnTo>
                    <a:pt x="0" y="2100491"/>
                  </a:lnTo>
                </a:path>
              </a:pathLst>
            </a:custGeom>
            <a:ln w="7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337284" y="4597764"/>
              <a:ext cx="938530" cy="1962785"/>
            </a:xfrm>
            <a:custGeom>
              <a:avLst/>
              <a:gdLst/>
              <a:ahLst/>
              <a:cxnLst/>
              <a:rect l="l" t="t" r="r" b="b"/>
              <a:pathLst>
                <a:path w="938529" h="1962784">
                  <a:moveTo>
                    <a:pt x="0" y="0"/>
                  </a:moveTo>
                  <a:lnTo>
                    <a:pt x="0" y="0"/>
                  </a:lnTo>
                  <a:lnTo>
                    <a:pt x="0" y="1962789"/>
                  </a:lnTo>
                </a:path>
                <a:path w="938529" h="1962784">
                  <a:moveTo>
                    <a:pt x="938413" y="1066998"/>
                  </a:moveTo>
                  <a:lnTo>
                    <a:pt x="938413" y="1066998"/>
                  </a:lnTo>
                  <a:lnTo>
                    <a:pt x="938413" y="1962789"/>
                  </a:lnTo>
                </a:path>
              </a:pathLst>
            </a:custGeom>
            <a:ln w="74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275698" y="1917781"/>
              <a:ext cx="469900" cy="4643120"/>
            </a:xfrm>
            <a:custGeom>
              <a:avLst/>
              <a:gdLst/>
              <a:ahLst/>
              <a:cxnLst/>
              <a:rect l="l" t="t" r="r" b="b"/>
              <a:pathLst>
                <a:path w="469900" h="4643120">
                  <a:moveTo>
                    <a:pt x="469867" y="3560863"/>
                  </a:moveTo>
                  <a:lnTo>
                    <a:pt x="469867" y="4642773"/>
                  </a:lnTo>
                </a:path>
                <a:path w="469900" h="4643120">
                  <a:moveTo>
                    <a:pt x="0" y="3136548"/>
                  </a:moveTo>
                  <a:lnTo>
                    <a:pt x="0" y="3805295"/>
                  </a:lnTo>
                </a:path>
                <a:path w="469900" h="4643120">
                  <a:moveTo>
                    <a:pt x="0" y="0"/>
                  </a:moveTo>
                  <a:lnTo>
                    <a:pt x="0" y="2978990"/>
                  </a:lnTo>
                </a:path>
                <a:path w="469900" h="4643120">
                  <a:moveTo>
                    <a:pt x="469867" y="3560863"/>
                  </a:moveTo>
                  <a:lnTo>
                    <a:pt x="469867" y="3606773"/>
                  </a:lnTo>
                </a:path>
                <a:path w="469900" h="4643120">
                  <a:moveTo>
                    <a:pt x="469867" y="3378482"/>
                  </a:moveTo>
                  <a:lnTo>
                    <a:pt x="469867" y="3404530"/>
                  </a:lnTo>
                </a:path>
                <a:path w="469900" h="4643120">
                  <a:moveTo>
                    <a:pt x="469867" y="0"/>
                  </a:moveTo>
                  <a:lnTo>
                    <a:pt x="469867" y="3210985"/>
                  </a:lnTo>
                </a:path>
              </a:pathLst>
            </a:custGeom>
            <a:ln w="7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991646" y="1917781"/>
              <a:ext cx="0" cy="4643120"/>
            </a:xfrm>
            <a:custGeom>
              <a:avLst/>
              <a:gdLst/>
              <a:ahLst/>
              <a:cxnLst/>
              <a:rect l="l" t="t" r="r" b="b"/>
              <a:pathLst>
                <a:path w="0" h="4643120">
                  <a:moveTo>
                    <a:pt x="0" y="0"/>
                  </a:moveTo>
                  <a:lnTo>
                    <a:pt x="0" y="0"/>
                  </a:lnTo>
                  <a:lnTo>
                    <a:pt x="0" y="4642773"/>
                  </a:lnTo>
                </a:path>
              </a:pathLst>
            </a:custGeom>
            <a:ln w="7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930142" y="1917781"/>
              <a:ext cx="3284220" cy="4643120"/>
            </a:xfrm>
            <a:custGeom>
              <a:avLst/>
              <a:gdLst/>
              <a:ahLst/>
              <a:cxnLst/>
              <a:rect l="l" t="t" r="r" b="b"/>
              <a:pathLst>
                <a:path w="3284220" h="4643120">
                  <a:moveTo>
                    <a:pt x="0" y="1296579"/>
                  </a:moveTo>
                  <a:lnTo>
                    <a:pt x="0" y="4642773"/>
                  </a:lnTo>
                </a:path>
                <a:path w="3284220" h="4643120">
                  <a:moveTo>
                    <a:pt x="0" y="663835"/>
                  </a:moveTo>
                  <a:lnTo>
                    <a:pt x="0" y="1138972"/>
                  </a:lnTo>
                </a:path>
                <a:path w="3284220" h="4643120">
                  <a:moveTo>
                    <a:pt x="0" y="0"/>
                  </a:moveTo>
                  <a:lnTo>
                    <a:pt x="0" y="507385"/>
                  </a:lnTo>
                </a:path>
                <a:path w="3284220" h="4643120">
                  <a:moveTo>
                    <a:pt x="469884" y="2688583"/>
                  </a:moveTo>
                  <a:lnTo>
                    <a:pt x="469884" y="4642773"/>
                  </a:lnTo>
                </a:path>
                <a:path w="3284220" h="4643120">
                  <a:moveTo>
                    <a:pt x="469884" y="2503853"/>
                  </a:moveTo>
                  <a:lnTo>
                    <a:pt x="469884" y="2532299"/>
                  </a:lnTo>
                </a:path>
                <a:path w="3284220" h="4643120">
                  <a:moveTo>
                    <a:pt x="469884" y="2256941"/>
                  </a:moveTo>
                  <a:lnTo>
                    <a:pt x="469884" y="2336323"/>
                  </a:lnTo>
                </a:path>
                <a:path w="3284220" h="4643120">
                  <a:moveTo>
                    <a:pt x="469884" y="1050824"/>
                  </a:moveTo>
                  <a:lnTo>
                    <a:pt x="469884" y="2100491"/>
                  </a:lnTo>
                </a:path>
                <a:path w="3284220" h="4643120">
                  <a:moveTo>
                    <a:pt x="469884" y="862291"/>
                  </a:moveTo>
                  <a:lnTo>
                    <a:pt x="469884" y="894540"/>
                  </a:lnTo>
                </a:path>
                <a:path w="3284220" h="4643120">
                  <a:moveTo>
                    <a:pt x="469884" y="0"/>
                  </a:moveTo>
                  <a:lnTo>
                    <a:pt x="469884" y="694761"/>
                  </a:lnTo>
                </a:path>
                <a:path w="3284220" h="4643120">
                  <a:moveTo>
                    <a:pt x="938430" y="2688583"/>
                  </a:moveTo>
                  <a:lnTo>
                    <a:pt x="938430" y="4642773"/>
                  </a:lnTo>
                </a:path>
                <a:path w="3284220" h="4643120">
                  <a:moveTo>
                    <a:pt x="938430" y="2256941"/>
                  </a:moveTo>
                  <a:lnTo>
                    <a:pt x="938430" y="2532299"/>
                  </a:lnTo>
                </a:path>
                <a:path w="3284220" h="4643120">
                  <a:moveTo>
                    <a:pt x="938430" y="1823811"/>
                  </a:moveTo>
                  <a:lnTo>
                    <a:pt x="938430" y="2100491"/>
                  </a:lnTo>
                </a:path>
                <a:path w="3284220" h="4643120">
                  <a:moveTo>
                    <a:pt x="938430" y="1550934"/>
                  </a:moveTo>
                  <a:lnTo>
                    <a:pt x="938430" y="1656446"/>
                  </a:lnTo>
                </a:path>
                <a:path w="3284220" h="4643120">
                  <a:moveTo>
                    <a:pt x="938430" y="1372323"/>
                  </a:moveTo>
                  <a:lnTo>
                    <a:pt x="938430" y="1394649"/>
                  </a:lnTo>
                </a:path>
                <a:path w="3284220" h="4643120">
                  <a:moveTo>
                    <a:pt x="938430" y="1050824"/>
                  </a:moveTo>
                  <a:lnTo>
                    <a:pt x="938430" y="1204793"/>
                  </a:lnTo>
                </a:path>
                <a:path w="3284220" h="4643120">
                  <a:moveTo>
                    <a:pt x="938430" y="0"/>
                  </a:moveTo>
                  <a:lnTo>
                    <a:pt x="938430" y="894540"/>
                  </a:lnTo>
                </a:path>
                <a:path w="3284220" h="4643120">
                  <a:moveTo>
                    <a:pt x="1877009" y="3136548"/>
                  </a:moveTo>
                  <a:lnTo>
                    <a:pt x="1877009" y="4642773"/>
                  </a:lnTo>
                </a:path>
                <a:path w="3284220" h="4643120">
                  <a:moveTo>
                    <a:pt x="1877009" y="2942937"/>
                  </a:moveTo>
                  <a:lnTo>
                    <a:pt x="1877009" y="2978990"/>
                  </a:lnTo>
                </a:path>
                <a:path w="3284220" h="4643120">
                  <a:moveTo>
                    <a:pt x="1877009" y="2688583"/>
                  </a:moveTo>
                  <a:lnTo>
                    <a:pt x="1877009" y="2775573"/>
                  </a:lnTo>
                </a:path>
                <a:path w="3284220" h="4643120">
                  <a:moveTo>
                    <a:pt x="1877009" y="2256941"/>
                  </a:moveTo>
                  <a:lnTo>
                    <a:pt x="1877009" y="2532299"/>
                  </a:lnTo>
                </a:path>
                <a:path w="3284220" h="4643120">
                  <a:moveTo>
                    <a:pt x="1877009" y="0"/>
                  </a:moveTo>
                  <a:lnTo>
                    <a:pt x="1877009" y="2100491"/>
                  </a:lnTo>
                </a:path>
                <a:path w="3284220" h="4643120">
                  <a:moveTo>
                    <a:pt x="3284134" y="3947968"/>
                  </a:moveTo>
                  <a:lnTo>
                    <a:pt x="3284134" y="4642773"/>
                  </a:lnTo>
                </a:path>
                <a:path w="3284220" h="4643120">
                  <a:moveTo>
                    <a:pt x="3284134" y="3770549"/>
                  </a:moveTo>
                  <a:lnTo>
                    <a:pt x="3284134" y="3791635"/>
                  </a:lnTo>
                </a:path>
                <a:path w="3284220" h="4643120">
                  <a:moveTo>
                    <a:pt x="3284134" y="3560863"/>
                  </a:moveTo>
                  <a:lnTo>
                    <a:pt x="3284134" y="3603052"/>
                  </a:lnTo>
                </a:path>
                <a:path w="3284220" h="4643120">
                  <a:moveTo>
                    <a:pt x="3284134" y="0"/>
                  </a:moveTo>
                  <a:lnTo>
                    <a:pt x="3284134" y="3404530"/>
                  </a:lnTo>
                </a:path>
              </a:pathLst>
            </a:custGeom>
            <a:ln w="7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682822" y="1917781"/>
              <a:ext cx="0" cy="4643120"/>
            </a:xfrm>
            <a:custGeom>
              <a:avLst/>
              <a:gdLst/>
              <a:ahLst/>
              <a:cxnLst/>
              <a:rect l="l" t="t" r="r" b="b"/>
              <a:pathLst>
                <a:path w="0" h="4643120">
                  <a:moveTo>
                    <a:pt x="0" y="0"/>
                  </a:moveTo>
                  <a:lnTo>
                    <a:pt x="0" y="0"/>
                  </a:lnTo>
                  <a:lnTo>
                    <a:pt x="0" y="4642773"/>
                  </a:lnTo>
                </a:path>
              </a:pathLst>
            </a:custGeom>
            <a:ln w="7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152691" y="1917781"/>
              <a:ext cx="0" cy="4643120"/>
            </a:xfrm>
            <a:custGeom>
              <a:avLst/>
              <a:gdLst/>
              <a:ahLst/>
              <a:cxnLst/>
              <a:rect l="l" t="t" r="r" b="b"/>
              <a:pathLst>
                <a:path w="0" h="4643120">
                  <a:moveTo>
                    <a:pt x="0" y="4372301"/>
                  </a:moveTo>
                  <a:lnTo>
                    <a:pt x="0" y="4642773"/>
                  </a:lnTo>
                </a:path>
                <a:path w="0" h="4643120">
                  <a:moveTo>
                    <a:pt x="0" y="4192400"/>
                  </a:moveTo>
                  <a:lnTo>
                    <a:pt x="0" y="4214727"/>
                  </a:lnTo>
                </a:path>
                <a:path w="0" h="4643120">
                  <a:moveTo>
                    <a:pt x="0" y="0"/>
                  </a:moveTo>
                  <a:lnTo>
                    <a:pt x="0" y="4024903"/>
                  </a:lnTo>
                </a:path>
              </a:pathLst>
            </a:custGeom>
            <a:ln w="7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49067" y="1917781"/>
              <a:ext cx="6043930" cy="0"/>
            </a:xfrm>
            <a:custGeom>
              <a:avLst/>
              <a:gdLst/>
              <a:ahLst/>
              <a:cxnLst/>
              <a:rect l="l" t="t" r="r" b="b"/>
              <a:pathLst>
                <a:path w="6043930" h="0">
                  <a:moveTo>
                    <a:pt x="0" y="0"/>
                  </a:moveTo>
                  <a:lnTo>
                    <a:pt x="0" y="0"/>
                  </a:lnTo>
                  <a:lnTo>
                    <a:pt x="6043742" y="0"/>
                  </a:lnTo>
                </a:path>
              </a:pathLst>
            </a:custGeom>
            <a:ln w="9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994142" y="3056753"/>
              <a:ext cx="942340" cy="158115"/>
            </a:xfrm>
            <a:custGeom>
              <a:avLst/>
              <a:gdLst/>
              <a:ahLst/>
              <a:cxnLst/>
              <a:rect l="l" t="t" r="r" b="b"/>
              <a:pathLst>
                <a:path w="942339" h="158114">
                  <a:moveTo>
                    <a:pt x="942198" y="0"/>
                  </a:moveTo>
                  <a:lnTo>
                    <a:pt x="0" y="0"/>
                  </a:lnTo>
                  <a:lnTo>
                    <a:pt x="0" y="157607"/>
                  </a:lnTo>
                  <a:lnTo>
                    <a:pt x="942198" y="157607"/>
                  </a:lnTo>
                  <a:lnTo>
                    <a:pt x="942198" y="0"/>
                  </a:lnTo>
                  <a:close/>
                </a:path>
              </a:pathLst>
            </a:custGeom>
            <a:solidFill>
              <a:srgbClr val="B1E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994142" y="3056753"/>
              <a:ext cx="942340" cy="158115"/>
            </a:xfrm>
            <a:custGeom>
              <a:avLst/>
              <a:gdLst/>
              <a:ahLst/>
              <a:cxnLst/>
              <a:rect l="l" t="t" r="r" b="b"/>
              <a:pathLst>
                <a:path w="942339" h="158114">
                  <a:moveTo>
                    <a:pt x="0" y="157607"/>
                  </a:moveTo>
                  <a:lnTo>
                    <a:pt x="942198" y="157607"/>
                  </a:lnTo>
                  <a:lnTo>
                    <a:pt x="942198" y="0"/>
                  </a:lnTo>
                  <a:lnTo>
                    <a:pt x="0" y="0"/>
                  </a:lnTo>
                  <a:lnTo>
                    <a:pt x="0" y="157607"/>
                  </a:lnTo>
                  <a:close/>
                </a:path>
              </a:pathLst>
            </a:custGeom>
            <a:ln w="14888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337284" y="4896771"/>
              <a:ext cx="1405255" cy="158115"/>
            </a:xfrm>
            <a:custGeom>
              <a:avLst/>
              <a:gdLst/>
              <a:ahLst/>
              <a:cxnLst/>
              <a:rect l="l" t="t" r="r" b="b"/>
              <a:pathLst>
                <a:path w="1405254" h="158114">
                  <a:moveTo>
                    <a:pt x="1404645" y="0"/>
                  </a:moveTo>
                  <a:lnTo>
                    <a:pt x="0" y="0"/>
                  </a:lnTo>
                  <a:lnTo>
                    <a:pt x="0" y="157557"/>
                  </a:lnTo>
                  <a:lnTo>
                    <a:pt x="1404645" y="157557"/>
                  </a:lnTo>
                  <a:lnTo>
                    <a:pt x="1404645" y="0"/>
                  </a:lnTo>
                  <a:close/>
                </a:path>
              </a:pathLst>
            </a:custGeom>
            <a:solidFill>
              <a:srgbClr val="B1E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337284" y="4896771"/>
              <a:ext cx="1405255" cy="158115"/>
            </a:xfrm>
            <a:custGeom>
              <a:avLst/>
              <a:gdLst/>
              <a:ahLst/>
              <a:cxnLst/>
              <a:rect l="l" t="t" r="r" b="b"/>
              <a:pathLst>
                <a:path w="1405254" h="158114">
                  <a:moveTo>
                    <a:pt x="0" y="157557"/>
                  </a:moveTo>
                  <a:lnTo>
                    <a:pt x="1404645" y="157557"/>
                  </a:lnTo>
                  <a:lnTo>
                    <a:pt x="1404645" y="0"/>
                  </a:lnTo>
                  <a:lnTo>
                    <a:pt x="0" y="0"/>
                  </a:lnTo>
                  <a:lnTo>
                    <a:pt x="0" y="157557"/>
                  </a:lnTo>
                  <a:close/>
                </a:path>
              </a:pathLst>
            </a:custGeom>
            <a:ln w="14888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686624" y="6132508"/>
              <a:ext cx="908685" cy="158115"/>
            </a:xfrm>
            <a:custGeom>
              <a:avLst/>
              <a:gdLst/>
              <a:ahLst/>
              <a:cxnLst/>
              <a:rect l="l" t="t" r="r" b="b"/>
              <a:pathLst>
                <a:path w="908684" h="158114">
                  <a:moveTo>
                    <a:pt x="908664" y="0"/>
                  </a:moveTo>
                  <a:lnTo>
                    <a:pt x="0" y="0"/>
                  </a:lnTo>
                  <a:lnTo>
                    <a:pt x="0" y="157574"/>
                  </a:lnTo>
                  <a:lnTo>
                    <a:pt x="908664" y="157574"/>
                  </a:lnTo>
                  <a:lnTo>
                    <a:pt x="908664" y="0"/>
                  </a:lnTo>
                  <a:close/>
                </a:path>
              </a:pathLst>
            </a:custGeom>
            <a:solidFill>
              <a:srgbClr val="B1E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686624" y="6132508"/>
              <a:ext cx="908685" cy="158115"/>
            </a:xfrm>
            <a:custGeom>
              <a:avLst/>
              <a:gdLst/>
              <a:ahLst/>
              <a:cxnLst/>
              <a:rect l="l" t="t" r="r" b="b"/>
              <a:pathLst>
                <a:path w="908684" h="158114">
                  <a:moveTo>
                    <a:pt x="0" y="157574"/>
                  </a:moveTo>
                  <a:lnTo>
                    <a:pt x="908664" y="157574"/>
                  </a:lnTo>
                  <a:lnTo>
                    <a:pt x="908664" y="0"/>
                  </a:lnTo>
                  <a:lnTo>
                    <a:pt x="0" y="0"/>
                  </a:lnTo>
                  <a:lnTo>
                    <a:pt x="0" y="157574"/>
                  </a:lnTo>
                  <a:close/>
                </a:path>
              </a:pathLst>
            </a:custGeom>
            <a:ln w="14888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284457" y="5322311"/>
              <a:ext cx="1401445" cy="156845"/>
            </a:xfrm>
            <a:custGeom>
              <a:avLst/>
              <a:gdLst/>
              <a:ahLst/>
              <a:cxnLst/>
              <a:rect l="l" t="t" r="r" b="b"/>
              <a:pathLst>
                <a:path w="1401445" h="156845">
                  <a:moveTo>
                    <a:pt x="1400844" y="0"/>
                  </a:moveTo>
                  <a:lnTo>
                    <a:pt x="0" y="0"/>
                  </a:lnTo>
                  <a:lnTo>
                    <a:pt x="0" y="156333"/>
                  </a:lnTo>
                  <a:lnTo>
                    <a:pt x="1400844" y="156333"/>
                  </a:lnTo>
                  <a:lnTo>
                    <a:pt x="1400844" y="0"/>
                  </a:lnTo>
                  <a:close/>
                </a:path>
              </a:pathLst>
            </a:custGeom>
            <a:solidFill>
              <a:srgbClr val="B1E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284457" y="5322311"/>
              <a:ext cx="1401445" cy="156845"/>
            </a:xfrm>
            <a:custGeom>
              <a:avLst/>
              <a:gdLst/>
              <a:ahLst/>
              <a:cxnLst/>
              <a:rect l="l" t="t" r="r" b="b"/>
              <a:pathLst>
                <a:path w="1401445" h="156845">
                  <a:moveTo>
                    <a:pt x="0" y="156333"/>
                  </a:moveTo>
                  <a:lnTo>
                    <a:pt x="1400844" y="156333"/>
                  </a:lnTo>
                  <a:lnTo>
                    <a:pt x="1400844" y="0"/>
                  </a:lnTo>
                  <a:lnTo>
                    <a:pt x="0" y="0"/>
                  </a:lnTo>
                  <a:lnTo>
                    <a:pt x="0" y="156333"/>
                  </a:lnTo>
                  <a:close/>
                </a:path>
              </a:pathLst>
            </a:custGeom>
            <a:ln w="14888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6259" y="1705598"/>
              <a:ext cx="322338" cy="105512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1981" y="1719325"/>
              <a:ext cx="66951" cy="91785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2450358" y="1719325"/>
              <a:ext cx="29845" cy="90805"/>
            </a:xfrm>
            <a:custGeom>
              <a:avLst/>
              <a:gdLst/>
              <a:ahLst/>
              <a:cxnLst/>
              <a:rect l="l" t="t" r="r" b="b"/>
              <a:pathLst>
                <a:path w="29844" h="90805">
                  <a:moveTo>
                    <a:pt x="28787" y="12403"/>
                  </a:moveTo>
                  <a:lnTo>
                    <a:pt x="13634" y="12403"/>
                  </a:lnTo>
                  <a:lnTo>
                    <a:pt x="13634" y="90462"/>
                  </a:lnTo>
                  <a:lnTo>
                    <a:pt x="28509" y="90462"/>
                  </a:lnTo>
                  <a:lnTo>
                    <a:pt x="28528" y="29251"/>
                  </a:lnTo>
                  <a:lnTo>
                    <a:pt x="28664" y="15297"/>
                  </a:lnTo>
                  <a:lnTo>
                    <a:pt x="28787" y="12403"/>
                  </a:lnTo>
                  <a:close/>
                </a:path>
                <a:path w="29844" h="90805">
                  <a:moveTo>
                    <a:pt x="28509" y="0"/>
                  </a:moveTo>
                  <a:lnTo>
                    <a:pt x="20587" y="1452"/>
                  </a:lnTo>
                  <a:lnTo>
                    <a:pt x="14409" y="2315"/>
                  </a:lnTo>
                  <a:lnTo>
                    <a:pt x="1239" y="3638"/>
                  </a:lnTo>
                  <a:lnTo>
                    <a:pt x="1239" y="8599"/>
                  </a:lnTo>
                  <a:lnTo>
                    <a:pt x="0" y="9922"/>
                  </a:lnTo>
                  <a:lnTo>
                    <a:pt x="0" y="13561"/>
                  </a:lnTo>
                  <a:lnTo>
                    <a:pt x="1239" y="14884"/>
                  </a:lnTo>
                  <a:lnTo>
                    <a:pt x="6197" y="13561"/>
                  </a:lnTo>
                  <a:lnTo>
                    <a:pt x="7437" y="13561"/>
                  </a:lnTo>
                  <a:lnTo>
                    <a:pt x="13634" y="12403"/>
                  </a:lnTo>
                  <a:lnTo>
                    <a:pt x="28787" y="12403"/>
                  </a:lnTo>
                  <a:lnTo>
                    <a:pt x="29032" y="6677"/>
                  </a:lnTo>
                  <a:lnTo>
                    <a:pt x="29748" y="1157"/>
                  </a:lnTo>
                  <a:lnTo>
                    <a:pt x="285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31382" y="1719325"/>
              <a:ext cx="64456" cy="90462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3387632" y="1720482"/>
              <a:ext cx="60960" cy="90805"/>
            </a:xfrm>
            <a:custGeom>
              <a:avLst/>
              <a:gdLst/>
              <a:ahLst/>
              <a:cxnLst/>
              <a:rect l="l" t="t" r="r" b="b"/>
              <a:pathLst>
                <a:path w="60960" h="90805">
                  <a:moveTo>
                    <a:pt x="58175" y="0"/>
                  </a:moveTo>
                  <a:lnTo>
                    <a:pt x="2479" y="0"/>
                  </a:lnTo>
                  <a:lnTo>
                    <a:pt x="2479" y="1323"/>
                  </a:lnTo>
                  <a:lnTo>
                    <a:pt x="2479" y="6284"/>
                  </a:lnTo>
                  <a:lnTo>
                    <a:pt x="1156" y="11245"/>
                  </a:lnTo>
                  <a:lnTo>
                    <a:pt x="37186" y="11245"/>
                  </a:lnTo>
                  <a:lnTo>
                    <a:pt x="31360" y="19974"/>
                  </a:lnTo>
                  <a:lnTo>
                    <a:pt x="24294" y="29975"/>
                  </a:lnTo>
                  <a:lnTo>
                    <a:pt x="12395" y="45975"/>
                  </a:lnTo>
                  <a:lnTo>
                    <a:pt x="16031" y="45975"/>
                  </a:lnTo>
                  <a:lnTo>
                    <a:pt x="19832" y="44652"/>
                  </a:lnTo>
                  <a:lnTo>
                    <a:pt x="34707" y="44652"/>
                  </a:lnTo>
                  <a:lnTo>
                    <a:pt x="39665" y="49614"/>
                  </a:lnTo>
                  <a:lnTo>
                    <a:pt x="43301" y="52094"/>
                  </a:lnTo>
                  <a:lnTo>
                    <a:pt x="45780" y="57056"/>
                  </a:lnTo>
                  <a:lnTo>
                    <a:pt x="45780" y="62017"/>
                  </a:lnTo>
                  <a:lnTo>
                    <a:pt x="44223" y="69681"/>
                  </a:lnTo>
                  <a:lnTo>
                    <a:pt x="39768" y="75578"/>
                  </a:lnTo>
                  <a:lnTo>
                    <a:pt x="32741" y="79366"/>
                  </a:lnTo>
                  <a:lnTo>
                    <a:pt x="23468" y="80705"/>
                  </a:lnTo>
                  <a:lnTo>
                    <a:pt x="11073" y="80705"/>
                  </a:lnTo>
                  <a:lnTo>
                    <a:pt x="3635" y="74421"/>
                  </a:lnTo>
                  <a:lnTo>
                    <a:pt x="1156" y="73263"/>
                  </a:lnTo>
                  <a:lnTo>
                    <a:pt x="0" y="73263"/>
                  </a:lnTo>
                  <a:lnTo>
                    <a:pt x="0" y="85666"/>
                  </a:lnTo>
                  <a:lnTo>
                    <a:pt x="7437" y="89305"/>
                  </a:lnTo>
                  <a:lnTo>
                    <a:pt x="16031" y="90628"/>
                  </a:lnTo>
                  <a:lnTo>
                    <a:pt x="23468" y="90628"/>
                  </a:lnTo>
                  <a:lnTo>
                    <a:pt x="58175" y="73263"/>
                  </a:lnTo>
                  <a:lnTo>
                    <a:pt x="60654" y="65821"/>
                  </a:lnTo>
                  <a:lnTo>
                    <a:pt x="60654" y="60859"/>
                  </a:lnTo>
                  <a:lnTo>
                    <a:pt x="59389" y="53285"/>
                  </a:lnTo>
                  <a:lnTo>
                    <a:pt x="55118" y="45169"/>
                  </a:lnTo>
                  <a:lnTo>
                    <a:pt x="47128" y="38696"/>
                  </a:lnTo>
                  <a:lnTo>
                    <a:pt x="34707" y="36052"/>
                  </a:lnTo>
                  <a:lnTo>
                    <a:pt x="39396" y="28672"/>
                  </a:lnTo>
                  <a:lnTo>
                    <a:pt x="53486" y="7958"/>
                  </a:lnTo>
                  <a:lnTo>
                    <a:pt x="58175" y="1323"/>
                  </a:lnTo>
                  <a:lnTo>
                    <a:pt x="581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36345" y="1720482"/>
              <a:ext cx="68257" cy="89305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4308692" y="1720482"/>
              <a:ext cx="59690" cy="90805"/>
            </a:xfrm>
            <a:custGeom>
              <a:avLst/>
              <a:gdLst/>
              <a:ahLst/>
              <a:cxnLst/>
              <a:rect l="l" t="t" r="r" b="b"/>
              <a:pathLst>
                <a:path w="59689" h="90805">
                  <a:moveTo>
                    <a:pt x="53382" y="0"/>
                  </a:moveTo>
                  <a:lnTo>
                    <a:pt x="6280" y="0"/>
                  </a:lnTo>
                  <a:lnTo>
                    <a:pt x="4958" y="1323"/>
                  </a:lnTo>
                  <a:lnTo>
                    <a:pt x="4777" y="12814"/>
                  </a:lnTo>
                  <a:lnTo>
                    <a:pt x="3982" y="35300"/>
                  </a:lnTo>
                  <a:lnTo>
                    <a:pt x="3801" y="45975"/>
                  </a:lnTo>
                  <a:lnTo>
                    <a:pt x="7437" y="43494"/>
                  </a:lnTo>
                  <a:lnTo>
                    <a:pt x="13717" y="41014"/>
                  </a:lnTo>
                  <a:lnTo>
                    <a:pt x="23633" y="41014"/>
                  </a:lnTo>
                  <a:lnTo>
                    <a:pt x="32837" y="42533"/>
                  </a:lnTo>
                  <a:lnTo>
                    <a:pt x="39871" y="46719"/>
                  </a:lnTo>
                  <a:lnTo>
                    <a:pt x="44365" y="53014"/>
                  </a:lnTo>
                  <a:lnTo>
                    <a:pt x="45945" y="60859"/>
                  </a:lnTo>
                  <a:lnTo>
                    <a:pt x="44344" y="68146"/>
                  </a:lnTo>
                  <a:lnTo>
                    <a:pt x="39706" y="74503"/>
                  </a:lnTo>
                  <a:lnTo>
                    <a:pt x="32279" y="78999"/>
                  </a:lnTo>
                  <a:lnTo>
                    <a:pt x="22311" y="80705"/>
                  </a:lnTo>
                  <a:lnTo>
                    <a:pt x="11238" y="80705"/>
                  </a:lnTo>
                  <a:lnTo>
                    <a:pt x="4958" y="75744"/>
                  </a:lnTo>
                  <a:lnTo>
                    <a:pt x="2479" y="74421"/>
                  </a:lnTo>
                  <a:lnTo>
                    <a:pt x="1322" y="74421"/>
                  </a:lnTo>
                  <a:lnTo>
                    <a:pt x="0" y="85666"/>
                  </a:lnTo>
                  <a:lnTo>
                    <a:pt x="1322" y="86824"/>
                  </a:lnTo>
                  <a:lnTo>
                    <a:pt x="2479" y="86824"/>
                  </a:lnTo>
                  <a:lnTo>
                    <a:pt x="8759" y="89305"/>
                  </a:lnTo>
                  <a:lnTo>
                    <a:pt x="16196" y="90628"/>
                  </a:lnTo>
                  <a:lnTo>
                    <a:pt x="22311" y="90628"/>
                  </a:lnTo>
                  <a:lnTo>
                    <a:pt x="39626" y="87863"/>
                  </a:lnTo>
                  <a:lnTo>
                    <a:pt x="51130" y="80664"/>
                  </a:lnTo>
                  <a:lnTo>
                    <a:pt x="57522" y="70674"/>
                  </a:lnTo>
                  <a:lnTo>
                    <a:pt x="59497" y="59536"/>
                  </a:lnTo>
                  <a:lnTo>
                    <a:pt x="58813" y="52378"/>
                  </a:lnTo>
                  <a:lnTo>
                    <a:pt x="34707" y="29768"/>
                  </a:lnTo>
                  <a:lnTo>
                    <a:pt x="18675" y="29768"/>
                  </a:lnTo>
                  <a:lnTo>
                    <a:pt x="17353" y="31091"/>
                  </a:lnTo>
                  <a:lnTo>
                    <a:pt x="17353" y="11245"/>
                  </a:lnTo>
                  <a:lnTo>
                    <a:pt x="53382" y="11245"/>
                  </a:lnTo>
                  <a:lnTo>
                    <a:pt x="533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10788" y="1719325"/>
              <a:ext cx="64456" cy="91785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80656" y="1720482"/>
              <a:ext cx="64456" cy="89305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49367" y="1719325"/>
              <a:ext cx="65612" cy="91785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83206" y="1719325"/>
              <a:ext cx="64456" cy="91785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6646959" y="1719325"/>
              <a:ext cx="29845" cy="90805"/>
            </a:xfrm>
            <a:custGeom>
              <a:avLst/>
              <a:gdLst/>
              <a:ahLst/>
              <a:cxnLst/>
              <a:rect l="l" t="t" r="r" b="b"/>
              <a:pathLst>
                <a:path w="29845" h="90805">
                  <a:moveTo>
                    <a:pt x="28426" y="0"/>
                  </a:moveTo>
                  <a:lnTo>
                    <a:pt x="21258" y="1452"/>
                  </a:lnTo>
                  <a:lnTo>
                    <a:pt x="15452" y="2315"/>
                  </a:lnTo>
                  <a:lnTo>
                    <a:pt x="2479" y="3638"/>
                  </a:lnTo>
                  <a:lnTo>
                    <a:pt x="1156" y="4961"/>
                  </a:lnTo>
                  <a:lnTo>
                    <a:pt x="1156" y="9922"/>
                  </a:lnTo>
                  <a:lnTo>
                    <a:pt x="0" y="13561"/>
                  </a:lnTo>
                  <a:lnTo>
                    <a:pt x="1156" y="14884"/>
                  </a:lnTo>
                  <a:lnTo>
                    <a:pt x="7437" y="13561"/>
                  </a:lnTo>
                  <a:lnTo>
                    <a:pt x="8594" y="13561"/>
                  </a:lnTo>
                  <a:lnTo>
                    <a:pt x="14874" y="12403"/>
                  </a:lnTo>
                  <a:lnTo>
                    <a:pt x="14874" y="39691"/>
                  </a:lnTo>
                  <a:lnTo>
                    <a:pt x="14110" y="55136"/>
                  </a:lnTo>
                  <a:lnTo>
                    <a:pt x="13717" y="66503"/>
                  </a:lnTo>
                  <a:lnTo>
                    <a:pt x="13552" y="90462"/>
                  </a:lnTo>
                  <a:lnTo>
                    <a:pt x="29748" y="90462"/>
                  </a:lnTo>
                  <a:lnTo>
                    <a:pt x="28984" y="82563"/>
                  </a:lnTo>
                  <a:lnTo>
                    <a:pt x="28592" y="74400"/>
                  </a:lnTo>
                  <a:lnTo>
                    <a:pt x="28447" y="29251"/>
                  </a:lnTo>
                  <a:lnTo>
                    <a:pt x="28592" y="15297"/>
                  </a:lnTo>
                  <a:lnTo>
                    <a:pt x="28984" y="6677"/>
                  </a:lnTo>
                  <a:lnTo>
                    <a:pt x="29748" y="1157"/>
                  </a:lnTo>
                  <a:lnTo>
                    <a:pt x="284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05135" y="1719325"/>
              <a:ext cx="66935" cy="91785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7116661" y="1719325"/>
              <a:ext cx="100965" cy="90805"/>
            </a:xfrm>
            <a:custGeom>
              <a:avLst/>
              <a:gdLst/>
              <a:ahLst/>
              <a:cxnLst/>
              <a:rect l="l" t="t" r="r" b="b"/>
              <a:pathLst>
                <a:path w="100965" h="90805">
                  <a:moveTo>
                    <a:pt x="28587" y="1168"/>
                  </a:moveTo>
                  <a:lnTo>
                    <a:pt x="27432" y="0"/>
                  </a:lnTo>
                  <a:lnTo>
                    <a:pt x="20167" y="1460"/>
                  </a:lnTo>
                  <a:lnTo>
                    <a:pt x="14312" y="2324"/>
                  </a:lnTo>
                  <a:lnTo>
                    <a:pt x="1320" y="3644"/>
                  </a:lnTo>
                  <a:lnTo>
                    <a:pt x="0" y="4965"/>
                  </a:lnTo>
                  <a:lnTo>
                    <a:pt x="0" y="14884"/>
                  </a:lnTo>
                  <a:lnTo>
                    <a:pt x="6273" y="13563"/>
                  </a:lnTo>
                  <a:lnTo>
                    <a:pt x="7429" y="13563"/>
                  </a:lnTo>
                  <a:lnTo>
                    <a:pt x="13716" y="12407"/>
                  </a:lnTo>
                  <a:lnTo>
                    <a:pt x="13690" y="55143"/>
                  </a:lnTo>
                  <a:lnTo>
                    <a:pt x="13550" y="66509"/>
                  </a:lnTo>
                  <a:lnTo>
                    <a:pt x="13157" y="77165"/>
                  </a:lnTo>
                  <a:lnTo>
                    <a:pt x="12395" y="90462"/>
                  </a:lnTo>
                  <a:lnTo>
                    <a:pt x="28587" y="90462"/>
                  </a:lnTo>
                  <a:lnTo>
                    <a:pt x="27914" y="82562"/>
                  </a:lnTo>
                  <a:lnTo>
                    <a:pt x="27571" y="74409"/>
                  </a:lnTo>
                  <a:lnTo>
                    <a:pt x="27432" y="50774"/>
                  </a:lnTo>
                  <a:lnTo>
                    <a:pt x="27609" y="29260"/>
                  </a:lnTo>
                  <a:lnTo>
                    <a:pt x="28003" y="15303"/>
                  </a:lnTo>
                  <a:lnTo>
                    <a:pt x="28587" y="1168"/>
                  </a:lnTo>
                  <a:close/>
                </a:path>
                <a:path w="100965" h="90805">
                  <a:moveTo>
                    <a:pt x="100482" y="1168"/>
                  </a:moveTo>
                  <a:lnTo>
                    <a:pt x="99326" y="0"/>
                  </a:lnTo>
                  <a:lnTo>
                    <a:pt x="92087" y="1460"/>
                  </a:lnTo>
                  <a:lnTo>
                    <a:pt x="86271" y="2324"/>
                  </a:lnTo>
                  <a:lnTo>
                    <a:pt x="73215" y="3644"/>
                  </a:lnTo>
                  <a:lnTo>
                    <a:pt x="72047" y="4965"/>
                  </a:lnTo>
                  <a:lnTo>
                    <a:pt x="72047" y="9931"/>
                  </a:lnTo>
                  <a:lnTo>
                    <a:pt x="70726" y="13563"/>
                  </a:lnTo>
                  <a:lnTo>
                    <a:pt x="72047" y="14884"/>
                  </a:lnTo>
                  <a:lnTo>
                    <a:pt x="78168" y="13563"/>
                  </a:lnTo>
                  <a:lnTo>
                    <a:pt x="79489" y="13563"/>
                  </a:lnTo>
                  <a:lnTo>
                    <a:pt x="85610" y="12407"/>
                  </a:lnTo>
                  <a:lnTo>
                    <a:pt x="85610" y="39700"/>
                  </a:lnTo>
                  <a:lnTo>
                    <a:pt x="84594" y="66509"/>
                  </a:lnTo>
                  <a:lnTo>
                    <a:pt x="84442" y="90462"/>
                  </a:lnTo>
                  <a:lnTo>
                    <a:pt x="100482" y="90462"/>
                  </a:lnTo>
                  <a:lnTo>
                    <a:pt x="99809" y="82562"/>
                  </a:lnTo>
                  <a:lnTo>
                    <a:pt x="99466" y="74409"/>
                  </a:lnTo>
                  <a:lnTo>
                    <a:pt x="99339" y="29260"/>
                  </a:lnTo>
                  <a:lnTo>
                    <a:pt x="99466" y="15303"/>
                  </a:lnTo>
                  <a:lnTo>
                    <a:pt x="99809" y="6680"/>
                  </a:lnTo>
                  <a:lnTo>
                    <a:pt x="100482" y="1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991646" y="2146005"/>
              <a:ext cx="938530" cy="156845"/>
            </a:xfrm>
            <a:custGeom>
              <a:avLst/>
              <a:gdLst/>
              <a:ahLst/>
              <a:cxnLst/>
              <a:rect l="l" t="t" r="r" b="b"/>
              <a:pathLst>
                <a:path w="938530" h="156844">
                  <a:moveTo>
                    <a:pt x="0" y="0"/>
                  </a:moveTo>
                  <a:lnTo>
                    <a:pt x="938496" y="0"/>
                  </a:lnTo>
                  <a:lnTo>
                    <a:pt x="938496" y="156449"/>
                  </a:lnTo>
                  <a:lnTo>
                    <a:pt x="0" y="156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E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991646" y="2146005"/>
              <a:ext cx="938530" cy="156845"/>
            </a:xfrm>
            <a:custGeom>
              <a:avLst/>
              <a:gdLst/>
              <a:ahLst/>
              <a:cxnLst/>
              <a:rect l="l" t="t" r="r" b="b"/>
              <a:pathLst>
                <a:path w="938530" h="156844">
                  <a:moveTo>
                    <a:pt x="0" y="0"/>
                  </a:moveTo>
                  <a:lnTo>
                    <a:pt x="938496" y="0"/>
                  </a:lnTo>
                  <a:lnTo>
                    <a:pt x="938496" y="156449"/>
                  </a:lnTo>
                  <a:lnTo>
                    <a:pt x="0" y="156449"/>
                  </a:lnTo>
                  <a:lnTo>
                    <a:pt x="0" y="0"/>
                  </a:lnTo>
                  <a:close/>
                </a:path>
              </a:pathLst>
            </a:custGeom>
            <a:ln w="14888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994142" y="2425167"/>
              <a:ext cx="1407160" cy="156845"/>
            </a:xfrm>
            <a:custGeom>
              <a:avLst/>
              <a:gdLst/>
              <a:ahLst/>
              <a:cxnLst/>
              <a:rect l="l" t="t" r="r" b="b"/>
              <a:pathLst>
                <a:path w="1407160" h="156844">
                  <a:moveTo>
                    <a:pt x="1407042" y="0"/>
                  </a:moveTo>
                  <a:lnTo>
                    <a:pt x="0" y="0"/>
                  </a:lnTo>
                  <a:lnTo>
                    <a:pt x="0" y="156449"/>
                  </a:lnTo>
                  <a:lnTo>
                    <a:pt x="1407042" y="156449"/>
                  </a:lnTo>
                  <a:lnTo>
                    <a:pt x="1407042" y="0"/>
                  </a:lnTo>
                  <a:close/>
                </a:path>
              </a:pathLst>
            </a:custGeom>
            <a:solidFill>
              <a:srgbClr val="B1E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994142" y="2425167"/>
              <a:ext cx="1407160" cy="156845"/>
            </a:xfrm>
            <a:custGeom>
              <a:avLst/>
              <a:gdLst/>
              <a:ahLst/>
              <a:cxnLst/>
              <a:rect l="l" t="t" r="r" b="b"/>
              <a:pathLst>
                <a:path w="1407160" h="156844">
                  <a:moveTo>
                    <a:pt x="0" y="156449"/>
                  </a:moveTo>
                  <a:lnTo>
                    <a:pt x="1407042" y="156449"/>
                  </a:lnTo>
                  <a:lnTo>
                    <a:pt x="1407042" y="0"/>
                  </a:lnTo>
                  <a:lnTo>
                    <a:pt x="0" y="0"/>
                  </a:lnTo>
                  <a:lnTo>
                    <a:pt x="0" y="156449"/>
                  </a:lnTo>
                  <a:close/>
                </a:path>
              </a:pathLst>
            </a:custGeom>
            <a:ln w="14888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931382" y="4450080"/>
              <a:ext cx="2343785" cy="156845"/>
            </a:xfrm>
            <a:custGeom>
              <a:avLst/>
              <a:gdLst/>
              <a:ahLst/>
              <a:cxnLst/>
              <a:rect l="l" t="t" r="r" b="b"/>
              <a:pathLst>
                <a:path w="2343785" h="156845">
                  <a:moveTo>
                    <a:pt x="2343158" y="0"/>
                  </a:moveTo>
                  <a:lnTo>
                    <a:pt x="0" y="0"/>
                  </a:lnTo>
                  <a:lnTo>
                    <a:pt x="0" y="156284"/>
                  </a:lnTo>
                  <a:lnTo>
                    <a:pt x="2343158" y="156284"/>
                  </a:lnTo>
                  <a:lnTo>
                    <a:pt x="2343158" y="0"/>
                  </a:lnTo>
                  <a:close/>
                </a:path>
              </a:pathLst>
            </a:custGeom>
            <a:solidFill>
              <a:srgbClr val="B1E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931382" y="4450080"/>
              <a:ext cx="2343785" cy="156845"/>
            </a:xfrm>
            <a:custGeom>
              <a:avLst/>
              <a:gdLst/>
              <a:ahLst/>
              <a:cxnLst/>
              <a:rect l="l" t="t" r="r" b="b"/>
              <a:pathLst>
                <a:path w="2343785" h="156845">
                  <a:moveTo>
                    <a:pt x="0" y="156284"/>
                  </a:moveTo>
                  <a:lnTo>
                    <a:pt x="2343158" y="156284"/>
                  </a:lnTo>
                  <a:lnTo>
                    <a:pt x="2343158" y="0"/>
                  </a:lnTo>
                  <a:lnTo>
                    <a:pt x="0" y="0"/>
                  </a:lnTo>
                  <a:lnTo>
                    <a:pt x="0" y="156284"/>
                  </a:lnTo>
                  <a:close/>
                </a:path>
              </a:pathLst>
            </a:custGeom>
            <a:ln w="14888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931382" y="2812321"/>
              <a:ext cx="1404620" cy="156845"/>
            </a:xfrm>
            <a:custGeom>
              <a:avLst/>
              <a:gdLst/>
              <a:ahLst/>
              <a:cxnLst/>
              <a:rect l="l" t="t" r="r" b="b"/>
              <a:pathLst>
                <a:path w="1404620" h="156844">
                  <a:moveTo>
                    <a:pt x="1404579" y="0"/>
                  </a:moveTo>
                  <a:lnTo>
                    <a:pt x="0" y="0"/>
                  </a:lnTo>
                  <a:lnTo>
                    <a:pt x="0" y="156284"/>
                  </a:lnTo>
                  <a:lnTo>
                    <a:pt x="1404579" y="156284"/>
                  </a:lnTo>
                  <a:lnTo>
                    <a:pt x="1404579" y="0"/>
                  </a:lnTo>
                  <a:close/>
                </a:path>
              </a:pathLst>
            </a:custGeom>
            <a:solidFill>
              <a:srgbClr val="B1E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931382" y="2812321"/>
              <a:ext cx="1404620" cy="156845"/>
            </a:xfrm>
            <a:custGeom>
              <a:avLst/>
              <a:gdLst/>
              <a:ahLst/>
              <a:cxnLst/>
              <a:rect l="l" t="t" r="r" b="b"/>
              <a:pathLst>
                <a:path w="1404620" h="156844">
                  <a:moveTo>
                    <a:pt x="0" y="156284"/>
                  </a:moveTo>
                  <a:lnTo>
                    <a:pt x="1404579" y="156284"/>
                  </a:lnTo>
                  <a:lnTo>
                    <a:pt x="1404579" y="0"/>
                  </a:lnTo>
                  <a:lnTo>
                    <a:pt x="0" y="0"/>
                  </a:lnTo>
                  <a:lnTo>
                    <a:pt x="0" y="156284"/>
                  </a:lnTo>
                  <a:close/>
                </a:path>
              </a:pathLst>
            </a:custGeom>
            <a:ln w="14888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400027" y="3768880"/>
              <a:ext cx="468630" cy="156845"/>
            </a:xfrm>
            <a:custGeom>
              <a:avLst/>
              <a:gdLst/>
              <a:ahLst/>
              <a:cxnLst/>
              <a:rect l="l" t="t" r="r" b="b"/>
              <a:pathLst>
                <a:path w="468629" h="156845">
                  <a:moveTo>
                    <a:pt x="468545" y="0"/>
                  </a:moveTo>
                  <a:lnTo>
                    <a:pt x="0" y="0"/>
                  </a:lnTo>
                  <a:lnTo>
                    <a:pt x="0" y="156449"/>
                  </a:lnTo>
                  <a:lnTo>
                    <a:pt x="468545" y="156449"/>
                  </a:lnTo>
                  <a:lnTo>
                    <a:pt x="468545" y="0"/>
                  </a:lnTo>
                  <a:close/>
                </a:path>
              </a:pathLst>
            </a:custGeom>
            <a:solidFill>
              <a:srgbClr val="B1E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400027" y="3768880"/>
              <a:ext cx="468630" cy="156845"/>
            </a:xfrm>
            <a:custGeom>
              <a:avLst/>
              <a:gdLst/>
              <a:ahLst/>
              <a:cxnLst/>
              <a:rect l="l" t="t" r="r" b="b"/>
              <a:pathLst>
                <a:path w="468629" h="156845">
                  <a:moveTo>
                    <a:pt x="0" y="156449"/>
                  </a:moveTo>
                  <a:lnTo>
                    <a:pt x="468545" y="156449"/>
                  </a:lnTo>
                  <a:lnTo>
                    <a:pt x="468545" y="0"/>
                  </a:lnTo>
                  <a:lnTo>
                    <a:pt x="0" y="0"/>
                  </a:lnTo>
                  <a:lnTo>
                    <a:pt x="0" y="156449"/>
                  </a:lnTo>
                  <a:close/>
                </a:path>
              </a:pathLst>
            </a:custGeom>
            <a:ln w="14887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931382" y="4018273"/>
              <a:ext cx="1882139" cy="156845"/>
            </a:xfrm>
            <a:custGeom>
              <a:avLst/>
              <a:gdLst/>
              <a:ahLst/>
              <a:cxnLst/>
              <a:rect l="l" t="t" r="r" b="b"/>
              <a:pathLst>
                <a:path w="1882139" h="156845">
                  <a:moveTo>
                    <a:pt x="1881884" y="0"/>
                  </a:moveTo>
                  <a:lnTo>
                    <a:pt x="0" y="0"/>
                  </a:lnTo>
                  <a:lnTo>
                    <a:pt x="0" y="156449"/>
                  </a:lnTo>
                  <a:lnTo>
                    <a:pt x="1881884" y="156449"/>
                  </a:lnTo>
                  <a:lnTo>
                    <a:pt x="1881884" y="0"/>
                  </a:lnTo>
                  <a:close/>
                </a:path>
              </a:pathLst>
            </a:custGeom>
            <a:solidFill>
              <a:srgbClr val="B1E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931382" y="4018273"/>
              <a:ext cx="1882139" cy="156845"/>
            </a:xfrm>
            <a:custGeom>
              <a:avLst/>
              <a:gdLst/>
              <a:ahLst/>
              <a:cxnLst/>
              <a:rect l="l" t="t" r="r" b="b"/>
              <a:pathLst>
                <a:path w="1882139" h="156845">
                  <a:moveTo>
                    <a:pt x="0" y="156449"/>
                  </a:moveTo>
                  <a:lnTo>
                    <a:pt x="1881884" y="156449"/>
                  </a:lnTo>
                  <a:lnTo>
                    <a:pt x="1881884" y="0"/>
                  </a:lnTo>
                  <a:lnTo>
                    <a:pt x="0" y="0"/>
                  </a:lnTo>
                  <a:lnTo>
                    <a:pt x="0" y="156449"/>
                  </a:lnTo>
                  <a:close/>
                </a:path>
              </a:pathLst>
            </a:custGeom>
            <a:ln w="14888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400027" y="3312430"/>
              <a:ext cx="937260" cy="156845"/>
            </a:xfrm>
            <a:custGeom>
              <a:avLst/>
              <a:gdLst/>
              <a:ahLst/>
              <a:cxnLst/>
              <a:rect l="l" t="t" r="r" b="b"/>
              <a:pathLst>
                <a:path w="937260" h="156845">
                  <a:moveTo>
                    <a:pt x="937256" y="0"/>
                  </a:moveTo>
                  <a:lnTo>
                    <a:pt x="0" y="0"/>
                  </a:lnTo>
                  <a:lnTo>
                    <a:pt x="0" y="156284"/>
                  </a:lnTo>
                  <a:lnTo>
                    <a:pt x="937256" y="156284"/>
                  </a:lnTo>
                  <a:lnTo>
                    <a:pt x="937256" y="0"/>
                  </a:lnTo>
                  <a:close/>
                </a:path>
              </a:pathLst>
            </a:custGeom>
            <a:solidFill>
              <a:srgbClr val="B1E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400027" y="3312430"/>
              <a:ext cx="937260" cy="156845"/>
            </a:xfrm>
            <a:custGeom>
              <a:avLst/>
              <a:gdLst/>
              <a:ahLst/>
              <a:cxnLst/>
              <a:rect l="l" t="t" r="r" b="b"/>
              <a:pathLst>
                <a:path w="937260" h="156845">
                  <a:moveTo>
                    <a:pt x="0" y="156284"/>
                  </a:moveTo>
                  <a:lnTo>
                    <a:pt x="937256" y="156284"/>
                  </a:lnTo>
                  <a:lnTo>
                    <a:pt x="937256" y="0"/>
                  </a:lnTo>
                  <a:lnTo>
                    <a:pt x="0" y="0"/>
                  </a:lnTo>
                  <a:lnTo>
                    <a:pt x="0" y="156284"/>
                  </a:lnTo>
                  <a:close/>
                </a:path>
              </a:pathLst>
            </a:custGeom>
            <a:ln w="14888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75933" y="3091483"/>
              <a:ext cx="138861" cy="94266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75933" y="2201904"/>
              <a:ext cx="115293" cy="94266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75933" y="2436413"/>
              <a:ext cx="135142" cy="94266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28083" y="2652233"/>
              <a:ext cx="127689" cy="114277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3179323" y="2662156"/>
              <a:ext cx="26034" cy="80010"/>
            </a:xfrm>
            <a:custGeom>
              <a:avLst/>
              <a:gdLst/>
              <a:ahLst/>
              <a:cxnLst/>
              <a:rect l="l" t="t" r="r" b="b"/>
              <a:pathLst>
                <a:path w="26035" h="80010">
                  <a:moveTo>
                    <a:pt x="26013" y="0"/>
                  </a:moveTo>
                  <a:lnTo>
                    <a:pt x="24856" y="0"/>
                  </a:lnTo>
                  <a:lnTo>
                    <a:pt x="14940" y="1323"/>
                  </a:lnTo>
                  <a:lnTo>
                    <a:pt x="11139" y="1323"/>
                  </a:lnTo>
                  <a:lnTo>
                    <a:pt x="1239" y="2480"/>
                  </a:lnTo>
                  <a:lnTo>
                    <a:pt x="1239" y="7442"/>
                  </a:lnTo>
                  <a:lnTo>
                    <a:pt x="0" y="11245"/>
                  </a:lnTo>
                  <a:lnTo>
                    <a:pt x="1239" y="12403"/>
                  </a:lnTo>
                  <a:lnTo>
                    <a:pt x="6197" y="11245"/>
                  </a:lnTo>
                  <a:lnTo>
                    <a:pt x="7437" y="11245"/>
                  </a:lnTo>
                  <a:lnTo>
                    <a:pt x="12461" y="9922"/>
                  </a:lnTo>
                  <a:lnTo>
                    <a:pt x="12461" y="79547"/>
                  </a:lnTo>
                  <a:lnTo>
                    <a:pt x="18576" y="78224"/>
                  </a:lnTo>
                  <a:lnTo>
                    <a:pt x="26013" y="78224"/>
                  </a:lnTo>
                  <a:lnTo>
                    <a:pt x="25344" y="71774"/>
                  </a:lnTo>
                  <a:lnTo>
                    <a:pt x="25001" y="64580"/>
                  </a:lnTo>
                  <a:lnTo>
                    <a:pt x="24874" y="25024"/>
                  </a:lnTo>
                  <a:lnTo>
                    <a:pt x="25001" y="12940"/>
                  </a:lnTo>
                  <a:lnTo>
                    <a:pt x="25344" y="5261"/>
                  </a:lnTo>
                  <a:lnTo>
                    <a:pt x="260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28971" y="2652233"/>
              <a:ext cx="154859" cy="105512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3407464" y="2652233"/>
              <a:ext cx="37465" cy="114300"/>
            </a:xfrm>
            <a:custGeom>
              <a:avLst/>
              <a:gdLst/>
              <a:ahLst/>
              <a:cxnLst/>
              <a:rect l="l" t="t" r="r" b="b"/>
              <a:pathLst>
                <a:path w="37464" h="114300">
                  <a:moveTo>
                    <a:pt x="9916" y="0"/>
                  </a:moveTo>
                  <a:lnTo>
                    <a:pt x="6115" y="0"/>
                  </a:lnTo>
                  <a:lnTo>
                    <a:pt x="4958" y="1323"/>
                  </a:lnTo>
                  <a:lnTo>
                    <a:pt x="1156" y="1323"/>
                  </a:lnTo>
                  <a:lnTo>
                    <a:pt x="12170" y="14897"/>
                  </a:lnTo>
                  <a:lnTo>
                    <a:pt x="19481" y="29044"/>
                  </a:lnTo>
                  <a:lnTo>
                    <a:pt x="23538" y="42975"/>
                  </a:lnTo>
                  <a:lnTo>
                    <a:pt x="24790" y="55898"/>
                  </a:lnTo>
                  <a:lnTo>
                    <a:pt x="22474" y="74930"/>
                  </a:lnTo>
                  <a:lnTo>
                    <a:pt x="16547" y="90938"/>
                  </a:lnTo>
                  <a:lnTo>
                    <a:pt x="8545" y="103690"/>
                  </a:lnTo>
                  <a:lnTo>
                    <a:pt x="0" y="112954"/>
                  </a:lnTo>
                  <a:lnTo>
                    <a:pt x="1156" y="114277"/>
                  </a:lnTo>
                  <a:lnTo>
                    <a:pt x="8594" y="114277"/>
                  </a:lnTo>
                  <a:lnTo>
                    <a:pt x="9916" y="112954"/>
                  </a:lnTo>
                  <a:lnTo>
                    <a:pt x="19406" y="102662"/>
                  </a:lnTo>
                  <a:lnTo>
                    <a:pt x="28199" y="90152"/>
                  </a:lnTo>
                  <a:lnTo>
                    <a:pt x="34668" y="75069"/>
                  </a:lnTo>
                  <a:lnTo>
                    <a:pt x="37186" y="57056"/>
                  </a:lnTo>
                  <a:lnTo>
                    <a:pt x="35907" y="44047"/>
                  </a:lnTo>
                  <a:lnTo>
                    <a:pt x="17353" y="7442"/>
                  </a:lnTo>
                  <a:lnTo>
                    <a:pt x="9916" y="1323"/>
                  </a:lnTo>
                  <a:lnTo>
                    <a:pt x="99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44179" y="4044403"/>
              <a:ext cx="136365" cy="94266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73508" y="2845893"/>
              <a:ext cx="133886" cy="95424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4400410" y="4733048"/>
              <a:ext cx="373380" cy="113030"/>
            </a:xfrm>
            <a:custGeom>
              <a:avLst/>
              <a:gdLst/>
              <a:ahLst/>
              <a:cxnLst/>
              <a:rect l="l" t="t" r="r" b="b"/>
              <a:pathLst>
                <a:path w="373379" h="113029">
                  <a:moveTo>
                    <a:pt x="37185" y="1155"/>
                  </a:moveTo>
                  <a:lnTo>
                    <a:pt x="36029" y="0"/>
                  </a:lnTo>
                  <a:lnTo>
                    <a:pt x="27266" y="0"/>
                  </a:lnTo>
                  <a:lnTo>
                    <a:pt x="17780" y="10477"/>
                  </a:lnTo>
                  <a:lnTo>
                    <a:pt x="8991" y="23380"/>
                  </a:lnTo>
                  <a:lnTo>
                    <a:pt x="2514" y="38862"/>
                  </a:lnTo>
                  <a:lnTo>
                    <a:pt x="0" y="57061"/>
                  </a:lnTo>
                  <a:lnTo>
                    <a:pt x="1282" y="69392"/>
                  </a:lnTo>
                  <a:lnTo>
                    <a:pt x="19837" y="106667"/>
                  </a:lnTo>
                  <a:lnTo>
                    <a:pt x="23634" y="109156"/>
                  </a:lnTo>
                  <a:lnTo>
                    <a:pt x="26111" y="112788"/>
                  </a:lnTo>
                  <a:lnTo>
                    <a:pt x="36029" y="112788"/>
                  </a:lnTo>
                  <a:lnTo>
                    <a:pt x="36029" y="111633"/>
                  </a:lnTo>
                  <a:lnTo>
                    <a:pt x="25019" y="98221"/>
                  </a:lnTo>
                  <a:lnTo>
                    <a:pt x="17703" y="84353"/>
                  </a:lnTo>
                  <a:lnTo>
                    <a:pt x="13652" y="70472"/>
                  </a:lnTo>
                  <a:lnTo>
                    <a:pt x="12395" y="57061"/>
                  </a:lnTo>
                  <a:lnTo>
                    <a:pt x="14719" y="38696"/>
                  </a:lnTo>
                  <a:lnTo>
                    <a:pt x="20637" y="23037"/>
                  </a:lnTo>
                  <a:lnTo>
                    <a:pt x="28638" y="10401"/>
                  </a:lnTo>
                  <a:lnTo>
                    <a:pt x="37185" y="1155"/>
                  </a:lnTo>
                  <a:close/>
                </a:path>
                <a:path w="373379" h="113029">
                  <a:moveTo>
                    <a:pt x="127762" y="87985"/>
                  </a:moveTo>
                  <a:lnTo>
                    <a:pt x="127698" y="85509"/>
                  </a:lnTo>
                  <a:lnTo>
                    <a:pt x="126809" y="67056"/>
                  </a:lnTo>
                  <a:lnTo>
                    <a:pt x="126022" y="47078"/>
                  </a:lnTo>
                  <a:lnTo>
                    <a:pt x="125476" y="27114"/>
                  </a:lnTo>
                  <a:lnTo>
                    <a:pt x="125349" y="14884"/>
                  </a:lnTo>
                  <a:lnTo>
                    <a:pt x="125272" y="7442"/>
                  </a:lnTo>
                  <a:lnTo>
                    <a:pt x="123952" y="6121"/>
                  </a:lnTo>
                  <a:lnTo>
                    <a:pt x="106603" y="6121"/>
                  </a:lnTo>
                  <a:lnTo>
                    <a:pt x="105448" y="7442"/>
                  </a:lnTo>
                  <a:lnTo>
                    <a:pt x="104127" y="13563"/>
                  </a:lnTo>
                  <a:lnTo>
                    <a:pt x="99161" y="28448"/>
                  </a:lnTo>
                  <a:lnTo>
                    <a:pt x="84289" y="76898"/>
                  </a:lnTo>
                  <a:lnTo>
                    <a:pt x="71894" y="30924"/>
                  </a:lnTo>
                  <a:lnTo>
                    <a:pt x="69418" y="22326"/>
                  </a:lnTo>
                  <a:lnTo>
                    <a:pt x="68262" y="16040"/>
                  </a:lnTo>
                  <a:lnTo>
                    <a:pt x="67919" y="14884"/>
                  </a:lnTo>
                  <a:lnTo>
                    <a:pt x="65786" y="7442"/>
                  </a:lnTo>
                  <a:lnTo>
                    <a:pt x="64452" y="6121"/>
                  </a:lnTo>
                  <a:lnTo>
                    <a:pt x="47104" y="6121"/>
                  </a:lnTo>
                  <a:lnTo>
                    <a:pt x="47104" y="7442"/>
                  </a:lnTo>
                  <a:lnTo>
                    <a:pt x="46901" y="13563"/>
                  </a:lnTo>
                  <a:lnTo>
                    <a:pt x="46253" y="20396"/>
                  </a:lnTo>
                  <a:lnTo>
                    <a:pt x="45567" y="27114"/>
                  </a:lnTo>
                  <a:lnTo>
                    <a:pt x="44627" y="39700"/>
                  </a:lnTo>
                  <a:lnTo>
                    <a:pt x="44450" y="49885"/>
                  </a:lnTo>
                  <a:lnTo>
                    <a:pt x="43649" y="70345"/>
                  </a:lnTo>
                  <a:lnTo>
                    <a:pt x="43472" y="80543"/>
                  </a:lnTo>
                  <a:lnTo>
                    <a:pt x="42151" y="83019"/>
                  </a:lnTo>
                  <a:lnTo>
                    <a:pt x="42151" y="87985"/>
                  </a:lnTo>
                  <a:lnTo>
                    <a:pt x="53390" y="87985"/>
                  </a:lnTo>
                  <a:lnTo>
                    <a:pt x="54546" y="86829"/>
                  </a:lnTo>
                  <a:lnTo>
                    <a:pt x="54622" y="60693"/>
                  </a:lnTo>
                  <a:lnTo>
                    <a:pt x="55867" y="40855"/>
                  </a:lnTo>
                  <a:lnTo>
                    <a:pt x="55867" y="14884"/>
                  </a:lnTo>
                  <a:lnTo>
                    <a:pt x="57378" y="19824"/>
                  </a:lnTo>
                  <a:lnTo>
                    <a:pt x="60401" y="31076"/>
                  </a:lnTo>
                  <a:lnTo>
                    <a:pt x="63296" y="40855"/>
                  </a:lnTo>
                  <a:lnTo>
                    <a:pt x="68262" y="57061"/>
                  </a:lnTo>
                  <a:lnTo>
                    <a:pt x="69240" y="62026"/>
                  </a:lnTo>
                  <a:lnTo>
                    <a:pt x="73418" y="76911"/>
                  </a:lnTo>
                  <a:lnTo>
                    <a:pt x="74371" y="81864"/>
                  </a:lnTo>
                  <a:lnTo>
                    <a:pt x="75692" y="83019"/>
                  </a:lnTo>
                  <a:lnTo>
                    <a:pt x="75692" y="85509"/>
                  </a:lnTo>
                  <a:lnTo>
                    <a:pt x="76847" y="86829"/>
                  </a:lnTo>
                  <a:lnTo>
                    <a:pt x="76847" y="87985"/>
                  </a:lnTo>
                  <a:lnTo>
                    <a:pt x="90576" y="87985"/>
                  </a:lnTo>
                  <a:lnTo>
                    <a:pt x="91732" y="86829"/>
                  </a:lnTo>
                  <a:lnTo>
                    <a:pt x="94513" y="76911"/>
                  </a:lnTo>
                  <a:lnTo>
                    <a:pt x="89395" y="76911"/>
                  </a:lnTo>
                  <a:lnTo>
                    <a:pt x="94513" y="76898"/>
                  </a:lnTo>
                  <a:lnTo>
                    <a:pt x="96812" y="68783"/>
                  </a:lnTo>
                  <a:lnTo>
                    <a:pt x="99161" y="60693"/>
                  </a:lnTo>
                  <a:lnTo>
                    <a:pt x="105448" y="44653"/>
                  </a:lnTo>
                  <a:lnTo>
                    <a:pt x="107950" y="34213"/>
                  </a:lnTo>
                  <a:lnTo>
                    <a:pt x="111671" y="20396"/>
                  </a:lnTo>
                  <a:lnTo>
                    <a:pt x="112877" y="14884"/>
                  </a:lnTo>
                  <a:lnTo>
                    <a:pt x="112877" y="45808"/>
                  </a:lnTo>
                  <a:lnTo>
                    <a:pt x="114033" y="57061"/>
                  </a:lnTo>
                  <a:lnTo>
                    <a:pt x="114033" y="87985"/>
                  </a:lnTo>
                  <a:lnTo>
                    <a:pt x="127762" y="87985"/>
                  </a:lnTo>
                  <a:close/>
                </a:path>
                <a:path w="373379" h="113029">
                  <a:moveTo>
                    <a:pt x="194691" y="53251"/>
                  </a:moveTo>
                  <a:lnTo>
                    <a:pt x="190893" y="45808"/>
                  </a:lnTo>
                  <a:lnTo>
                    <a:pt x="189458" y="44653"/>
                  </a:lnTo>
                  <a:lnTo>
                    <a:pt x="184772" y="40855"/>
                  </a:lnTo>
                  <a:lnTo>
                    <a:pt x="178498" y="37211"/>
                  </a:lnTo>
                  <a:lnTo>
                    <a:pt x="174523" y="35890"/>
                  </a:lnTo>
                  <a:lnTo>
                    <a:pt x="171056" y="34734"/>
                  </a:lnTo>
                  <a:lnTo>
                    <a:pt x="161137" y="34734"/>
                  </a:lnTo>
                  <a:lnTo>
                    <a:pt x="158661" y="35890"/>
                  </a:lnTo>
                  <a:lnTo>
                    <a:pt x="156184" y="35890"/>
                  </a:lnTo>
                  <a:lnTo>
                    <a:pt x="157505" y="18529"/>
                  </a:lnTo>
                  <a:lnTo>
                    <a:pt x="183451" y="18529"/>
                  </a:lnTo>
                  <a:lnTo>
                    <a:pt x="187248" y="19850"/>
                  </a:lnTo>
                  <a:lnTo>
                    <a:pt x="188417" y="18529"/>
                  </a:lnTo>
                  <a:lnTo>
                    <a:pt x="188417" y="9931"/>
                  </a:lnTo>
                  <a:lnTo>
                    <a:pt x="146265" y="9931"/>
                  </a:lnTo>
                  <a:lnTo>
                    <a:pt x="146062" y="20243"/>
                  </a:lnTo>
                  <a:lnTo>
                    <a:pt x="145529" y="30480"/>
                  </a:lnTo>
                  <a:lnTo>
                    <a:pt x="144729" y="40017"/>
                  </a:lnTo>
                  <a:lnTo>
                    <a:pt x="143789" y="48298"/>
                  </a:lnTo>
                  <a:lnTo>
                    <a:pt x="145110" y="49618"/>
                  </a:lnTo>
                  <a:lnTo>
                    <a:pt x="147586" y="48298"/>
                  </a:lnTo>
                  <a:lnTo>
                    <a:pt x="153708" y="44653"/>
                  </a:lnTo>
                  <a:lnTo>
                    <a:pt x="162458" y="44653"/>
                  </a:lnTo>
                  <a:lnTo>
                    <a:pt x="170789" y="45974"/>
                  </a:lnTo>
                  <a:lnTo>
                    <a:pt x="177025" y="49618"/>
                  </a:lnTo>
                  <a:lnTo>
                    <a:pt x="180936" y="55118"/>
                  </a:lnTo>
                  <a:lnTo>
                    <a:pt x="182295" y="62026"/>
                  </a:lnTo>
                  <a:lnTo>
                    <a:pt x="180924" y="68922"/>
                  </a:lnTo>
                  <a:lnTo>
                    <a:pt x="176860" y="74422"/>
                  </a:lnTo>
                  <a:lnTo>
                    <a:pt x="170230" y="78066"/>
                  </a:lnTo>
                  <a:lnTo>
                    <a:pt x="161137" y="79387"/>
                  </a:lnTo>
                  <a:lnTo>
                    <a:pt x="151231" y="79387"/>
                  </a:lnTo>
                  <a:lnTo>
                    <a:pt x="145110" y="75577"/>
                  </a:lnTo>
                  <a:lnTo>
                    <a:pt x="143789" y="74422"/>
                  </a:lnTo>
                  <a:lnTo>
                    <a:pt x="142633" y="74422"/>
                  </a:lnTo>
                  <a:lnTo>
                    <a:pt x="141312" y="84353"/>
                  </a:lnTo>
                  <a:lnTo>
                    <a:pt x="142633" y="85509"/>
                  </a:lnTo>
                  <a:lnTo>
                    <a:pt x="143789" y="85509"/>
                  </a:lnTo>
                  <a:lnTo>
                    <a:pt x="148742" y="87985"/>
                  </a:lnTo>
                  <a:lnTo>
                    <a:pt x="155028" y="89306"/>
                  </a:lnTo>
                  <a:lnTo>
                    <a:pt x="161137" y="89306"/>
                  </a:lnTo>
                  <a:lnTo>
                    <a:pt x="176352" y="86766"/>
                  </a:lnTo>
                  <a:lnTo>
                    <a:pt x="186778" y="80149"/>
                  </a:lnTo>
                  <a:lnTo>
                    <a:pt x="187274" y="79387"/>
                  </a:lnTo>
                  <a:lnTo>
                    <a:pt x="192773" y="70954"/>
                  </a:lnTo>
                  <a:lnTo>
                    <a:pt x="194691" y="60693"/>
                  </a:lnTo>
                  <a:lnTo>
                    <a:pt x="194691" y="53251"/>
                  </a:lnTo>
                  <a:close/>
                </a:path>
                <a:path w="373379" h="113029">
                  <a:moveTo>
                    <a:pt x="255511" y="0"/>
                  </a:moveTo>
                  <a:lnTo>
                    <a:pt x="244271" y="0"/>
                  </a:lnTo>
                  <a:lnTo>
                    <a:pt x="238582" y="15303"/>
                  </a:lnTo>
                  <a:lnTo>
                    <a:pt x="231914" y="32207"/>
                  </a:lnTo>
                  <a:lnTo>
                    <a:pt x="226187" y="46329"/>
                  </a:lnTo>
                  <a:lnTo>
                    <a:pt x="223278" y="53251"/>
                  </a:lnTo>
                  <a:lnTo>
                    <a:pt x="220535" y="59397"/>
                  </a:lnTo>
                  <a:lnTo>
                    <a:pt x="214299" y="73456"/>
                  </a:lnTo>
                  <a:lnTo>
                    <a:pt x="207594" y="88912"/>
                  </a:lnTo>
                  <a:lnTo>
                    <a:pt x="203454" y="99225"/>
                  </a:lnTo>
                  <a:lnTo>
                    <a:pt x="202133" y="100393"/>
                  </a:lnTo>
                  <a:lnTo>
                    <a:pt x="202133" y="101714"/>
                  </a:lnTo>
                  <a:lnTo>
                    <a:pt x="200977" y="102870"/>
                  </a:lnTo>
                  <a:lnTo>
                    <a:pt x="202133" y="104190"/>
                  </a:lnTo>
                  <a:lnTo>
                    <a:pt x="212051" y="104190"/>
                  </a:lnTo>
                  <a:lnTo>
                    <a:pt x="213372" y="102870"/>
                  </a:lnTo>
                  <a:lnTo>
                    <a:pt x="228384" y="65074"/>
                  </a:lnTo>
                  <a:lnTo>
                    <a:pt x="236169" y="46075"/>
                  </a:lnTo>
                  <a:lnTo>
                    <a:pt x="244271" y="27292"/>
                  </a:lnTo>
                  <a:lnTo>
                    <a:pt x="246888" y="21932"/>
                  </a:lnTo>
                  <a:lnTo>
                    <a:pt x="250329" y="13589"/>
                  </a:lnTo>
                  <a:lnTo>
                    <a:pt x="253542" y="5270"/>
                  </a:lnTo>
                  <a:lnTo>
                    <a:pt x="255511" y="0"/>
                  </a:lnTo>
                  <a:close/>
                </a:path>
                <a:path w="373379" h="113029">
                  <a:moveTo>
                    <a:pt x="313690" y="7442"/>
                  </a:moveTo>
                  <a:lnTo>
                    <a:pt x="312534" y="6121"/>
                  </a:lnTo>
                  <a:lnTo>
                    <a:pt x="256667" y="6121"/>
                  </a:lnTo>
                  <a:lnTo>
                    <a:pt x="255511" y="7442"/>
                  </a:lnTo>
                  <a:lnTo>
                    <a:pt x="255511" y="16040"/>
                  </a:lnTo>
                  <a:lnTo>
                    <a:pt x="277825" y="16040"/>
                  </a:lnTo>
                  <a:lnTo>
                    <a:pt x="277710" y="58178"/>
                  </a:lnTo>
                  <a:lnTo>
                    <a:pt x="277660" y="62598"/>
                  </a:lnTo>
                  <a:lnTo>
                    <a:pt x="277266" y="74701"/>
                  </a:lnTo>
                  <a:lnTo>
                    <a:pt x="276504" y="86829"/>
                  </a:lnTo>
                  <a:lnTo>
                    <a:pt x="277825" y="87985"/>
                  </a:lnTo>
                  <a:lnTo>
                    <a:pt x="291376" y="87985"/>
                  </a:lnTo>
                  <a:lnTo>
                    <a:pt x="291376" y="86829"/>
                  </a:lnTo>
                  <a:lnTo>
                    <a:pt x="291198" y="80810"/>
                  </a:lnTo>
                  <a:lnTo>
                    <a:pt x="290791" y="71577"/>
                  </a:lnTo>
                  <a:lnTo>
                    <a:pt x="290398" y="58178"/>
                  </a:lnTo>
                  <a:lnTo>
                    <a:pt x="290322" y="50495"/>
                  </a:lnTo>
                  <a:lnTo>
                    <a:pt x="290220" y="27292"/>
                  </a:lnTo>
                  <a:lnTo>
                    <a:pt x="291376" y="16040"/>
                  </a:lnTo>
                  <a:lnTo>
                    <a:pt x="312534" y="16040"/>
                  </a:lnTo>
                  <a:lnTo>
                    <a:pt x="312534" y="11087"/>
                  </a:lnTo>
                  <a:lnTo>
                    <a:pt x="313690" y="7442"/>
                  </a:lnTo>
                  <a:close/>
                </a:path>
                <a:path w="373379" h="113029">
                  <a:moveTo>
                    <a:pt x="373189" y="63182"/>
                  </a:moveTo>
                  <a:lnTo>
                    <a:pt x="349719" y="40855"/>
                  </a:lnTo>
                  <a:lnTo>
                    <a:pt x="354177" y="34620"/>
                  </a:lnTo>
                  <a:lnTo>
                    <a:pt x="360641" y="25387"/>
                  </a:lnTo>
                  <a:lnTo>
                    <a:pt x="365290" y="18529"/>
                  </a:lnTo>
                  <a:lnTo>
                    <a:pt x="366890" y="16154"/>
                  </a:lnTo>
                  <a:lnTo>
                    <a:pt x="370713" y="9931"/>
                  </a:lnTo>
                  <a:lnTo>
                    <a:pt x="321119" y="9931"/>
                  </a:lnTo>
                  <a:lnTo>
                    <a:pt x="321119" y="19850"/>
                  </a:lnTo>
                  <a:lnTo>
                    <a:pt x="329285" y="19088"/>
                  </a:lnTo>
                  <a:lnTo>
                    <a:pt x="336169" y="18694"/>
                  </a:lnTo>
                  <a:lnTo>
                    <a:pt x="343293" y="18542"/>
                  </a:lnTo>
                  <a:lnTo>
                    <a:pt x="352183" y="18542"/>
                  </a:lnTo>
                  <a:lnTo>
                    <a:pt x="347332" y="26200"/>
                  </a:lnTo>
                  <a:lnTo>
                    <a:pt x="341185" y="35001"/>
                  </a:lnTo>
                  <a:lnTo>
                    <a:pt x="335254" y="43345"/>
                  </a:lnTo>
                  <a:lnTo>
                    <a:pt x="331038" y="49618"/>
                  </a:lnTo>
                  <a:lnTo>
                    <a:pt x="333514" y="49618"/>
                  </a:lnTo>
                  <a:lnTo>
                    <a:pt x="336003" y="48298"/>
                  </a:lnTo>
                  <a:lnTo>
                    <a:pt x="349719" y="48298"/>
                  </a:lnTo>
                  <a:lnTo>
                    <a:pt x="354672" y="52095"/>
                  </a:lnTo>
                  <a:lnTo>
                    <a:pt x="358305" y="54584"/>
                  </a:lnTo>
                  <a:lnTo>
                    <a:pt x="359638" y="59537"/>
                  </a:lnTo>
                  <a:lnTo>
                    <a:pt x="359638" y="63182"/>
                  </a:lnTo>
                  <a:lnTo>
                    <a:pt x="358279" y="70078"/>
                  </a:lnTo>
                  <a:lnTo>
                    <a:pt x="354368" y="75577"/>
                  </a:lnTo>
                  <a:lnTo>
                    <a:pt x="348132" y="79222"/>
                  </a:lnTo>
                  <a:lnTo>
                    <a:pt x="339801" y="80543"/>
                  </a:lnTo>
                  <a:lnTo>
                    <a:pt x="329882" y="80543"/>
                  </a:lnTo>
                  <a:lnTo>
                    <a:pt x="323608" y="74422"/>
                  </a:lnTo>
                  <a:lnTo>
                    <a:pt x="321119" y="73101"/>
                  </a:lnTo>
                  <a:lnTo>
                    <a:pt x="319963" y="73101"/>
                  </a:lnTo>
                  <a:lnTo>
                    <a:pt x="319963" y="84353"/>
                  </a:lnTo>
                  <a:lnTo>
                    <a:pt x="326085" y="87985"/>
                  </a:lnTo>
                  <a:lnTo>
                    <a:pt x="333514" y="89306"/>
                  </a:lnTo>
                  <a:lnTo>
                    <a:pt x="340956" y="89306"/>
                  </a:lnTo>
                  <a:lnTo>
                    <a:pt x="349973" y="88353"/>
                  </a:lnTo>
                  <a:lnTo>
                    <a:pt x="358190" y="85420"/>
                  </a:lnTo>
                  <a:lnTo>
                    <a:pt x="364985" y="80543"/>
                  </a:lnTo>
                  <a:lnTo>
                    <a:pt x="365226" y="80378"/>
                  </a:lnTo>
                  <a:lnTo>
                    <a:pt x="370713" y="73101"/>
                  </a:lnTo>
                  <a:lnTo>
                    <a:pt x="372033" y="70624"/>
                  </a:lnTo>
                  <a:lnTo>
                    <a:pt x="373189" y="66979"/>
                  </a:lnTo>
                  <a:lnTo>
                    <a:pt x="373189" y="631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819547" y="4741645"/>
              <a:ext cx="64456" cy="80705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918711" y="4733045"/>
              <a:ext cx="161139" cy="112789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720627" y="4468768"/>
              <a:ext cx="137605" cy="94266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486795" y="3613918"/>
              <a:ext cx="355830" cy="114112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872374" y="3622518"/>
              <a:ext cx="64456" cy="80705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971537" y="3613918"/>
              <a:ext cx="161140" cy="114112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189305" y="3796167"/>
              <a:ext cx="137506" cy="95589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189305" y="3347160"/>
              <a:ext cx="133870" cy="94266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010713" y="4293796"/>
              <a:ext cx="417741" cy="114112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126562" y="4925217"/>
              <a:ext cx="136349" cy="94365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822417" y="5560541"/>
              <a:ext cx="303769" cy="112904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164695" y="5560541"/>
              <a:ext cx="99163" cy="112904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043821" y="5339692"/>
              <a:ext cx="65778" cy="94283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5129432" y="5343413"/>
              <a:ext cx="29209" cy="90805"/>
            </a:xfrm>
            <a:custGeom>
              <a:avLst/>
              <a:gdLst/>
              <a:ahLst/>
              <a:cxnLst/>
              <a:rect l="l" t="t" r="r" b="b"/>
              <a:pathLst>
                <a:path w="29210" h="90804">
                  <a:moveTo>
                    <a:pt x="28592" y="0"/>
                  </a:moveTo>
                  <a:lnTo>
                    <a:pt x="27269" y="0"/>
                  </a:lnTo>
                  <a:lnTo>
                    <a:pt x="14296" y="1395"/>
                  </a:lnTo>
                  <a:lnTo>
                    <a:pt x="8490" y="2267"/>
                  </a:lnTo>
                  <a:lnTo>
                    <a:pt x="1322" y="3721"/>
                  </a:lnTo>
                  <a:lnTo>
                    <a:pt x="0" y="3721"/>
                  </a:lnTo>
                  <a:lnTo>
                    <a:pt x="0" y="13643"/>
                  </a:lnTo>
                  <a:lnTo>
                    <a:pt x="1322" y="13643"/>
                  </a:lnTo>
                  <a:lnTo>
                    <a:pt x="6280" y="12403"/>
                  </a:lnTo>
                  <a:lnTo>
                    <a:pt x="7437" y="12403"/>
                  </a:lnTo>
                  <a:lnTo>
                    <a:pt x="13717" y="11163"/>
                  </a:lnTo>
                  <a:lnTo>
                    <a:pt x="13696" y="54436"/>
                  </a:lnTo>
                  <a:lnTo>
                    <a:pt x="13552" y="65755"/>
                  </a:lnTo>
                  <a:lnTo>
                    <a:pt x="13159" y="76143"/>
                  </a:lnTo>
                  <a:lnTo>
                    <a:pt x="12395" y="89321"/>
                  </a:lnTo>
                  <a:lnTo>
                    <a:pt x="13717" y="90562"/>
                  </a:lnTo>
                  <a:lnTo>
                    <a:pt x="27269" y="90562"/>
                  </a:lnTo>
                  <a:lnTo>
                    <a:pt x="28592" y="89321"/>
                  </a:lnTo>
                  <a:lnTo>
                    <a:pt x="27827" y="81899"/>
                  </a:lnTo>
                  <a:lnTo>
                    <a:pt x="27435" y="73662"/>
                  </a:lnTo>
                  <a:lnTo>
                    <a:pt x="27269" y="49630"/>
                  </a:lnTo>
                  <a:lnTo>
                    <a:pt x="27476" y="28786"/>
                  </a:lnTo>
                  <a:lnTo>
                    <a:pt x="27930" y="15041"/>
                  </a:lnTo>
                  <a:lnTo>
                    <a:pt x="285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186451" y="5343413"/>
              <a:ext cx="66935" cy="91802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377340" y="5168474"/>
              <a:ext cx="375662" cy="112904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796469" y="5177157"/>
              <a:ext cx="64456" cy="80639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895633" y="5168474"/>
              <a:ext cx="161140" cy="112904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485262" y="5732999"/>
              <a:ext cx="65612" cy="94283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5570702" y="5735484"/>
              <a:ext cx="100965" cy="92075"/>
            </a:xfrm>
            <a:custGeom>
              <a:avLst/>
              <a:gdLst/>
              <a:ahLst/>
              <a:cxnLst/>
              <a:rect l="l" t="t" r="r" b="b"/>
              <a:pathLst>
                <a:path w="100964" h="92075">
                  <a:moveTo>
                    <a:pt x="28587" y="1244"/>
                  </a:moveTo>
                  <a:lnTo>
                    <a:pt x="27266" y="0"/>
                  </a:lnTo>
                  <a:lnTo>
                    <a:pt x="20104" y="1460"/>
                  </a:lnTo>
                  <a:lnTo>
                    <a:pt x="14300" y="2324"/>
                  </a:lnTo>
                  <a:lnTo>
                    <a:pt x="1320" y="3721"/>
                  </a:lnTo>
                  <a:lnTo>
                    <a:pt x="0" y="4965"/>
                  </a:lnTo>
                  <a:lnTo>
                    <a:pt x="0" y="14884"/>
                  </a:lnTo>
                  <a:lnTo>
                    <a:pt x="6273" y="13639"/>
                  </a:lnTo>
                  <a:lnTo>
                    <a:pt x="7442" y="13639"/>
                  </a:lnTo>
                  <a:lnTo>
                    <a:pt x="13716" y="12407"/>
                  </a:lnTo>
                  <a:lnTo>
                    <a:pt x="13690" y="55156"/>
                  </a:lnTo>
                  <a:lnTo>
                    <a:pt x="13550" y="66535"/>
                  </a:lnTo>
                  <a:lnTo>
                    <a:pt x="13157" y="77216"/>
                  </a:lnTo>
                  <a:lnTo>
                    <a:pt x="12395" y="90563"/>
                  </a:lnTo>
                  <a:lnTo>
                    <a:pt x="13716" y="91808"/>
                  </a:lnTo>
                  <a:lnTo>
                    <a:pt x="19837" y="90563"/>
                  </a:lnTo>
                  <a:lnTo>
                    <a:pt x="28587" y="90563"/>
                  </a:lnTo>
                  <a:lnTo>
                    <a:pt x="27825" y="83146"/>
                  </a:lnTo>
                  <a:lnTo>
                    <a:pt x="27432" y="74904"/>
                  </a:lnTo>
                  <a:lnTo>
                    <a:pt x="27266" y="50876"/>
                  </a:lnTo>
                  <a:lnTo>
                    <a:pt x="27470" y="29502"/>
                  </a:lnTo>
                  <a:lnTo>
                    <a:pt x="27927" y="15824"/>
                  </a:lnTo>
                  <a:lnTo>
                    <a:pt x="28587" y="1244"/>
                  </a:lnTo>
                  <a:close/>
                </a:path>
                <a:path w="100964" h="92075">
                  <a:moveTo>
                    <a:pt x="100482" y="1244"/>
                  </a:moveTo>
                  <a:lnTo>
                    <a:pt x="99326" y="0"/>
                  </a:lnTo>
                  <a:lnTo>
                    <a:pt x="92087" y="1460"/>
                  </a:lnTo>
                  <a:lnTo>
                    <a:pt x="86271" y="2324"/>
                  </a:lnTo>
                  <a:lnTo>
                    <a:pt x="73215" y="3721"/>
                  </a:lnTo>
                  <a:lnTo>
                    <a:pt x="72059" y="4965"/>
                  </a:lnTo>
                  <a:lnTo>
                    <a:pt x="72059" y="9918"/>
                  </a:lnTo>
                  <a:lnTo>
                    <a:pt x="70739" y="13639"/>
                  </a:lnTo>
                  <a:lnTo>
                    <a:pt x="72059" y="14884"/>
                  </a:lnTo>
                  <a:lnTo>
                    <a:pt x="78168" y="13639"/>
                  </a:lnTo>
                  <a:lnTo>
                    <a:pt x="79489" y="13639"/>
                  </a:lnTo>
                  <a:lnTo>
                    <a:pt x="85610" y="12407"/>
                  </a:lnTo>
                  <a:lnTo>
                    <a:pt x="85610" y="39712"/>
                  </a:lnTo>
                  <a:lnTo>
                    <a:pt x="84594" y="66535"/>
                  </a:lnTo>
                  <a:lnTo>
                    <a:pt x="84455" y="90563"/>
                  </a:lnTo>
                  <a:lnTo>
                    <a:pt x="85610" y="91808"/>
                  </a:lnTo>
                  <a:lnTo>
                    <a:pt x="91884" y="90563"/>
                  </a:lnTo>
                  <a:lnTo>
                    <a:pt x="100482" y="90563"/>
                  </a:lnTo>
                  <a:lnTo>
                    <a:pt x="99822" y="83146"/>
                  </a:lnTo>
                  <a:lnTo>
                    <a:pt x="99466" y="74904"/>
                  </a:lnTo>
                  <a:lnTo>
                    <a:pt x="99352" y="29502"/>
                  </a:lnTo>
                  <a:lnTo>
                    <a:pt x="99466" y="15824"/>
                  </a:lnTo>
                  <a:lnTo>
                    <a:pt x="99822" y="7251"/>
                  </a:lnTo>
                  <a:lnTo>
                    <a:pt x="100482" y="1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759674" y="5982376"/>
              <a:ext cx="355830" cy="112904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7140295" y="5991058"/>
              <a:ext cx="58419" cy="81280"/>
            </a:xfrm>
            <a:custGeom>
              <a:avLst/>
              <a:gdLst/>
              <a:ahLst/>
              <a:cxnLst/>
              <a:rect l="l" t="t" r="r" b="b"/>
              <a:pathLst>
                <a:path w="58420" h="81279">
                  <a:moveTo>
                    <a:pt x="36029" y="0"/>
                  </a:moveTo>
                  <a:lnTo>
                    <a:pt x="29748" y="0"/>
                  </a:lnTo>
                  <a:lnTo>
                    <a:pt x="22371" y="952"/>
                  </a:lnTo>
                  <a:lnTo>
                    <a:pt x="15349" y="3884"/>
                  </a:lnTo>
                  <a:lnTo>
                    <a:pt x="9040" y="8909"/>
                  </a:lnTo>
                  <a:lnTo>
                    <a:pt x="3801" y="16141"/>
                  </a:lnTo>
                  <a:lnTo>
                    <a:pt x="0" y="23583"/>
                  </a:lnTo>
                  <a:lnTo>
                    <a:pt x="0" y="40948"/>
                  </a:lnTo>
                  <a:lnTo>
                    <a:pt x="671" y="51900"/>
                  </a:lnTo>
                  <a:lnTo>
                    <a:pt x="2520" y="60646"/>
                  </a:lnTo>
                  <a:lnTo>
                    <a:pt x="5299" y="67300"/>
                  </a:lnTo>
                  <a:lnTo>
                    <a:pt x="8759" y="71973"/>
                  </a:lnTo>
                  <a:lnTo>
                    <a:pt x="14874" y="80655"/>
                  </a:lnTo>
                  <a:lnTo>
                    <a:pt x="34707" y="80655"/>
                  </a:lnTo>
                  <a:lnTo>
                    <a:pt x="43466" y="79415"/>
                  </a:lnTo>
                  <a:lnTo>
                    <a:pt x="49566" y="71973"/>
                  </a:lnTo>
                  <a:lnTo>
                    <a:pt x="17353" y="71973"/>
                  </a:lnTo>
                  <a:lnTo>
                    <a:pt x="14874" y="60810"/>
                  </a:lnTo>
                  <a:lnTo>
                    <a:pt x="13717" y="57072"/>
                  </a:lnTo>
                  <a:lnTo>
                    <a:pt x="12395" y="52111"/>
                  </a:lnTo>
                  <a:lnTo>
                    <a:pt x="12395" y="29784"/>
                  </a:lnTo>
                  <a:lnTo>
                    <a:pt x="14874" y="22342"/>
                  </a:lnTo>
                  <a:lnTo>
                    <a:pt x="14874" y="19862"/>
                  </a:lnTo>
                  <a:lnTo>
                    <a:pt x="18675" y="8698"/>
                  </a:lnTo>
                  <a:lnTo>
                    <a:pt x="49643" y="8698"/>
                  </a:lnTo>
                  <a:lnTo>
                    <a:pt x="49416" y="8304"/>
                  </a:lnTo>
                  <a:lnTo>
                    <a:pt x="38508" y="1240"/>
                  </a:lnTo>
                  <a:lnTo>
                    <a:pt x="36029" y="0"/>
                  </a:lnTo>
                  <a:close/>
                </a:path>
                <a:path w="58420" h="81279">
                  <a:moveTo>
                    <a:pt x="49643" y="8698"/>
                  </a:moveTo>
                  <a:lnTo>
                    <a:pt x="34707" y="8698"/>
                  </a:lnTo>
                  <a:lnTo>
                    <a:pt x="38508" y="12420"/>
                  </a:lnTo>
                  <a:lnTo>
                    <a:pt x="40987" y="14900"/>
                  </a:lnTo>
                  <a:lnTo>
                    <a:pt x="43466" y="18621"/>
                  </a:lnTo>
                  <a:lnTo>
                    <a:pt x="44623" y="24823"/>
                  </a:lnTo>
                  <a:lnTo>
                    <a:pt x="45945" y="31025"/>
                  </a:lnTo>
                  <a:lnTo>
                    <a:pt x="45945" y="47149"/>
                  </a:lnTo>
                  <a:lnTo>
                    <a:pt x="44623" y="57072"/>
                  </a:lnTo>
                  <a:lnTo>
                    <a:pt x="42144" y="62050"/>
                  </a:lnTo>
                  <a:lnTo>
                    <a:pt x="40987" y="65771"/>
                  </a:lnTo>
                  <a:lnTo>
                    <a:pt x="37186" y="71973"/>
                  </a:lnTo>
                  <a:lnTo>
                    <a:pt x="49566" y="71973"/>
                  </a:lnTo>
                  <a:lnTo>
                    <a:pt x="52553" y="68329"/>
                  </a:lnTo>
                  <a:lnTo>
                    <a:pt x="55386" y="62358"/>
                  </a:lnTo>
                  <a:lnTo>
                    <a:pt x="57506" y="53128"/>
                  </a:lnTo>
                  <a:lnTo>
                    <a:pt x="58340" y="39707"/>
                  </a:lnTo>
                  <a:lnTo>
                    <a:pt x="57828" y="29784"/>
                  </a:lnTo>
                  <a:lnTo>
                    <a:pt x="55366" y="18619"/>
                  </a:lnTo>
                  <a:lnTo>
                    <a:pt x="49643" y="86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240780" y="5991058"/>
              <a:ext cx="65612" cy="80655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339943" y="5988577"/>
              <a:ext cx="100320" cy="81896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7477442" y="5982385"/>
              <a:ext cx="88265" cy="113030"/>
            </a:xfrm>
            <a:custGeom>
              <a:avLst/>
              <a:gdLst/>
              <a:ahLst/>
              <a:cxnLst/>
              <a:rect l="l" t="t" r="r" b="b"/>
              <a:pathLst>
                <a:path w="88265" h="113029">
                  <a:moveTo>
                    <a:pt x="26111" y="8674"/>
                  </a:moveTo>
                  <a:lnTo>
                    <a:pt x="24790" y="8674"/>
                  </a:lnTo>
                  <a:lnTo>
                    <a:pt x="14871" y="9918"/>
                  </a:lnTo>
                  <a:lnTo>
                    <a:pt x="11239" y="11163"/>
                  </a:lnTo>
                  <a:lnTo>
                    <a:pt x="2476" y="11163"/>
                  </a:lnTo>
                  <a:lnTo>
                    <a:pt x="1320" y="12420"/>
                  </a:lnTo>
                  <a:lnTo>
                    <a:pt x="1320" y="17373"/>
                  </a:lnTo>
                  <a:lnTo>
                    <a:pt x="0" y="21094"/>
                  </a:lnTo>
                  <a:lnTo>
                    <a:pt x="1320" y="21094"/>
                  </a:lnTo>
                  <a:lnTo>
                    <a:pt x="6286" y="19862"/>
                  </a:lnTo>
                  <a:lnTo>
                    <a:pt x="12395" y="19862"/>
                  </a:lnTo>
                  <a:lnTo>
                    <a:pt x="12395" y="88099"/>
                  </a:lnTo>
                  <a:lnTo>
                    <a:pt x="24790" y="88099"/>
                  </a:lnTo>
                  <a:lnTo>
                    <a:pt x="26111" y="86855"/>
                  </a:lnTo>
                  <a:lnTo>
                    <a:pt x="25349" y="80568"/>
                  </a:lnTo>
                  <a:lnTo>
                    <a:pt x="24955" y="73825"/>
                  </a:lnTo>
                  <a:lnTo>
                    <a:pt x="24815" y="65214"/>
                  </a:lnTo>
                  <a:lnTo>
                    <a:pt x="24790" y="53352"/>
                  </a:lnTo>
                  <a:lnTo>
                    <a:pt x="24993" y="34683"/>
                  </a:lnTo>
                  <a:lnTo>
                    <a:pt x="25450" y="22186"/>
                  </a:lnTo>
                  <a:lnTo>
                    <a:pt x="25590" y="19862"/>
                  </a:lnTo>
                  <a:lnTo>
                    <a:pt x="25908" y="14097"/>
                  </a:lnTo>
                  <a:lnTo>
                    <a:pt x="26111" y="8674"/>
                  </a:lnTo>
                  <a:close/>
                </a:path>
                <a:path w="88265" h="113029">
                  <a:moveTo>
                    <a:pt x="88087" y="55829"/>
                  </a:moveTo>
                  <a:lnTo>
                    <a:pt x="73215" y="13652"/>
                  </a:lnTo>
                  <a:lnTo>
                    <a:pt x="60820" y="0"/>
                  </a:lnTo>
                  <a:lnTo>
                    <a:pt x="52057" y="0"/>
                  </a:lnTo>
                  <a:lnTo>
                    <a:pt x="50901" y="1231"/>
                  </a:lnTo>
                  <a:lnTo>
                    <a:pt x="62382" y="14655"/>
                  </a:lnTo>
                  <a:lnTo>
                    <a:pt x="69583" y="28536"/>
                  </a:lnTo>
                  <a:lnTo>
                    <a:pt x="73304" y="42418"/>
                  </a:lnTo>
                  <a:lnTo>
                    <a:pt x="74371" y="55829"/>
                  </a:lnTo>
                  <a:lnTo>
                    <a:pt x="72097" y="74155"/>
                  </a:lnTo>
                  <a:lnTo>
                    <a:pt x="66357" y="89801"/>
                  </a:lnTo>
                  <a:lnTo>
                    <a:pt x="58750" y="102412"/>
                  </a:lnTo>
                  <a:lnTo>
                    <a:pt x="50901" y="111658"/>
                  </a:lnTo>
                  <a:lnTo>
                    <a:pt x="50901" y="112903"/>
                  </a:lnTo>
                  <a:lnTo>
                    <a:pt x="59499" y="112903"/>
                  </a:lnTo>
                  <a:lnTo>
                    <a:pt x="69748" y="101892"/>
                  </a:lnTo>
                  <a:lnTo>
                    <a:pt x="78943" y="89027"/>
                  </a:lnTo>
                  <a:lnTo>
                    <a:pt x="85547" y="73825"/>
                  </a:lnTo>
                  <a:lnTo>
                    <a:pt x="88087" y="558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421197" y="6167254"/>
              <a:ext cx="66935" cy="94283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6507965" y="6170975"/>
              <a:ext cx="29209" cy="90805"/>
            </a:xfrm>
            <a:custGeom>
              <a:avLst/>
              <a:gdLst/>
              <a:ahLst/>
              <a:cxnLst/>
              <a:rect l="l" t="t" r="r" b="b"/>
              <a:pathLst>
                <a:path w="29209" h="90804">
                  <a:moveTo>
                    <a:pt x="28129" y="11163"/>
                  </a:moveTo>
                  <a:lnTo>
                    <a:pt x="13717" y="11163"/>
                  </a:lnTo>
                  <a:lnTo>
                    <a:pt x="13702" y="49630"/>
                  </a:lnTo>
                  <a:lnTo>
                    <a:pt x="13552" y="65287"/>
                  </a:lnTo>
                  <a:lnTo>
                    <a:pt x="13159" y="75968"/>
                  </a:lnTo>
                  <a:lnTo>
                    <a:pt x="12395" y="89321"/>
                  </a:lnTo>
                  <a:lnTo>
                    <a:pt x="13717" y="90562"/>
                  </a:lnTo>
                  <a:lnTo>
                    <a:pt x="19832" y="89321"/>
                  </a:lnTo>
                  <a:lnTo>
                    <a:pt x="28592" y="89321"/>
                  </a:lnTo>
                  <a:lnTo>
                    <a:pt x="27827" y="81899"/>
                  </a:lnTo>
                  <a:lnTo>
                    <a:pt x="27435" y="73662"/>
                  </a:lnTo>
                  <a:lnTo>
                    <a:pt x="27317" y="65287"/>
                  </a:lnTo>
                  <a:lnTo>
                    <a:pt x="27380" y="38450"/>
                  </a:lnTo>
                  <a:lnTo>
                    <a:pt x="27476" y="28786"/>
                  </a:lnTo>
                  <a:lnTo>
                    <a:pt x="27930" y="15041"/>
                  </a:lnTo>
                  <a:lnTo>
                    <a:pt x="28129" y="11163"/>
                  </a:lnTo>
                  <a:close/>
                </a:path>
                <a:path w="29209" h="90804">
                  <a:moveTo>
                    <a:pt x="28592" y="0"/>
                  </a:moveTo>
                  <a:lnTo>
                    <a:pt x="27269" y="0"/>
                  </a:lnTo>
                  <a:lnTo>
                    <a:pt x="20101" y="736"/>
                  </a:lnTo>
                  <a:lnTo>
                    <a:pt x="8490" y="1744"/>
                  </a:lnTo>
                  <a:lnTo>
                    <a:pt x="1322" y="2480"/>
                  </a:lnTo>
                  <a:lnTo>
                    <a:pt x="0" y="3721"/>
                  </a:lnTo>
                  <a:lnTo>
                    <a:pt x="0" y="13643"/>
                  </a:lnTo>
                  <a:lnTo>
                    <a:pt x="6280" y="12403"/>
                  </a:lnTo>
                  <a:lnTo>
                    <a:pt x="7437" y="12403"/>
                  </a:lnTo>
                  <a:lnTo>
                    <a:pt x="13717" y="11163"/>
                  </a:lnTo>
                  <a:lnTo>
                    <a:pt x="28129" y="11163"/>
                  </a:lnTo>
                  <a:lnTo>
                    <a:pt x="28385" y="6182"/>
                  </a:lnTo>
                  <a:lnTo>
                    <a:pt x="285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563827" y="6170975"/>
              <a:ext cx="65612" cy="90562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1939582" y="1969884"/>
              <a:ext cx="3402329" cy="3337560"/>
            </a:xfrm>
            <a:custGeom>
              <a:avLst/>
              <a:gdLst/>
              <a:ahLst/>
              <a:cxnLst/>
              <a:rect l="l" t="t" r="r" b="b"/>
              <a:pathLst>
                <a:path w="3402329" h="3337560">
                  <a:moveTo>
                    <a:pt x="104140" y="78219"/>
                  </a:moveTo>
                  <a:lnTo>
                    <a:pt x="52057" y="0"/>
                  </a:lnTo>
                  <a:lnTo>
                    <a:pt x="0" y="78219"/>
                  </a:lnTo>
                  <a:lnTo>
                    <a:pt x="52057" y="156286"/>
                  </a:lnTo>
                  <a:lnTo>
                    <a:pt x="104140" y="78219"/>
                  </a:lnTo>
                  <a:close/>
                </a:path>
                <a:path w="3402329" h="3337560">
                  <a:moveTo>
                    <a:pt x="1048816" y="2371052"/>
                  </a:moveTo>
                  <a:lnTo>
                    <a:pt x="996746" y="2292832"/>
                  </a:lnTo>
                  <a:lnTo>
                    <a:pt x="944676" y="2371052"/>
                  </a:lnTo>
                  <a:lnTo>
                    <a:pt x="996746" y="2449271"/>
                  </a:lnTo>
                  <a:lnTo>
                    <a:pt x="1048816" y="2371052"/>
                  </a:lnTo>
                  <a:close/>
                </a:path>
                <a:path w="3402329" h="3337560">
                  <a:moveTo>
                    <a:pt x="1048816" y="741895"/>
                  </a:moveTo>
                  <a:lnTo>
                    <a:pt x="996746" y="663829"/>
                  </a:lnTo>
                  <a:lnTo>
                    <a:pt x="944676" y="741895"/>
                  </a:lnTo>
                  <a:lnTo>
                    <a:pt x="996746" y="820115"/>
                  </a:lnTo>
                  <a:lnTo>
                    <a:pt x="1048816" y="741895"/>
                  </a:lnTo>
                  <a:close/>
                </a:path>
                <a:path w="3402329" h="3337560">
                  <a:moveTo>
                    <a:pt x="2454719" y="2815259"/>
                  </a:moveTo>
                  <a:lnTo>
                    <a:pt x="2402649" y="2737040"/>
                  </a:lnTo>
                  <a:lnTo>
                    <a:pt x="2350592" y="2815259"/>
                  </a:lnTo>
                  <a:lnTo>
                    <a:pt x="2402649" y="2893326"/>
                  </a:lnTo>
                  <a:lnTo>
                    <a:pt x="2454719" y="2815259"/>
                  </a:lnTo>
                  <a:close/>
                </a:path>
                <a:path w="3402329" h="3337560">
                  <a:moveTo>
                    <a:pt x="3401885" y="3259391"/>
                  </a:moveTo>
                  <a:lnTo>
                    <a:pt x="3349828" y="3181210"/>
                  </a:lnTo>
                  <a:lnTo>
                    <a:pt x="3297771" y="3259391"/>
                  </a:lnTo>
                  <a:lnTo>
                    <a:pt x="3349828" y="3337547"/>
                  </a:lnTo>
                  <a:lnTo>
                    <a:pt x="3401885" y="32593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100758" y="2005928"/>
              <a:ext cx="262815" cy="96747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244417" y="6376923"/>
              <a:ext cx="271541" cy="106708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7546864" y="6357077"/>
              <a:ext cx="104775" cy="158115"/>
            </a:xfrm>
            <a:custGeom>
              <a:avLst/>
              <a:gdLst/>
              <a:ahLst/>
              <a:cxnLst/>
              <a:rect l="l" t="t" r="r" b="b"/>
              <a:pathLst>
                <a:path w="104775" h="158115">
                  <a:moveTo>
                    <a:pt x="52060" y="0"/>
                  </a:moveTo>
                  <a:lnTo>
                    <a:pt x="0" y="79398"/>
                  </a:lnTo>
                  <a:lnTo>
                    <a:pt x="52060" y="157570"/>
                  </a:lnTo>
                  <a:lnTo>
                    <a:pt x="104286" y="79398"/>
                  </a:lnTo>
                  <a:lnTo>
                    <a:pt x="520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479358" y="3162265"/>
              <a:ext cx="374340" cy="112789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898322" y="3170865"/>
              <a:ext cx="64456" cy="80705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997485" y="3162265"/>
              <a:ext cx="162462" cy="112789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3352914" y="3146069"/>
              <a:ext cx="104139" cy="601980"/>
            </a:xfrm>
            <a:custGeom>
              <a:avLst/>
              <a:gdLst/>
              <a:ahLst/>
              <a:cxnLst/>
              <a:rect l="l" t="t" r="r" b="b"/>
              <a:pathLst>
                <a:path w="104139" h="601979">
                  <a:moveTo>
                    <a:pt x="104127" y="523582"/>
                  </a:moveTo>
                  <a:lnTo>
                    <a:pt x="52070" y="445528"/>
                  </a:lnTo>
                  <a:lnTo>
                    <a:pt x="0" y="523582"/>
                  </a:lnTo>
                  <a:lnTo>
                    <a:pt x="52070" y="601814"/>
                  </a:lnTo>
                  <a:lnTo>
                    <a:pt x="104127" y="523582"/>
                  </a:lnTo>
                  <a:close/>
                </a:path>
                <a:path w="104139" h="601979">
                  <a:moveTo>
                    <a:pt x="104127" y="78219"/>
                  </a:moveTo>
                  <a:lnTo>
                    <a:pt x="52070" y="0"/>
                  </a:lnTo>
                  <a:lnTo>
                    <a:pt x="0" y="78219"/>
                  </a:lnTo>
                  <a:lnTo>
                    <a:pt x="52070" y="156451"/>
                  </a:lnTo>
                  <a:lnTo>
                    <a:pt x="104127" y="782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5741930" y="5709416"/>
              <a:ext cx="938530" cy="156845"/>
            </a:xfrm>
            <a:custGeom>
              <a:avLst/>
              <a:gdLst/>
              <a:ahLst/>
              <a:cxnLst/>
              <a:rect l="l" t="t" r="r" b="b"/>
              <a:pathLst>
                <a:path w="938529" h="156845">
                  <a:moveTo>
                    <a:pt x="938413" y="0"/>
                  </a:moveTo>
                  <a:lnTo>
                    <a:pt x="0" y="0"/>
                  </a:lnTo>
                  <a:lnTo>
                    <a:pt x="0" y="156333"/>
                  </a:lnTo>
                  <a:lnTo>
                    <a:pt x="938413" y="156333"/>
                  </a:lnTo>
                  <a:lnTo>
                    <a:pt x="938413" y="0"/>
                  </a:lnTo>
                  <a:close/>
                </a:path>
              </a:pathLst>
            </a:custGeom>
            <a:solidFill>
              <a:srgbClr val="B1E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5741930" y="5709416"/>
              <a:ext cx="938530" cy="156845"/>
            </a:xfrm>
            <a:custGeom>
              <a:avLst/>
              <a:gdLst/>
              <a:ahLst/>
              <a:cxnLst/>
              <a:rect l="l" t="t" r="r" b="b"/>
              <a:pathLst>
                <a:path w="938529" h="156845">
                  <a:moveTo>
                    <a:pt x="0" y="156333"/>
                  </a:moveTo>
                  <a:lnTo>
                    <a:pt x="938413" y="156333"/>
                  </a:lnTo>
                  <a:lnTo>
                    <a:pt x="938413" y="0"/>
                  </a:lnTo>
                  <a:lnTo>
                    <a:pt x="0" y="0"/>
                  </a:lnTo>
                  <a:lnTo>
                    <a:pt x="0" y="156333"/>
                  </a:lnTo>
                  <a:close/>
                </a:path>
              </a:pathLst>
            </a:custGeom>
            <a:ln w="14888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5688546" y="5536958"/>
              <a:ext cx="1049020" cy="583565"/>
            </a:xfrm>
            <a:custGeom>
              <a:avLst/>
              <a:gdLst/>
              <a:ahLst/>
              <a:cxnLst/>
              <a:rect l="l" t="t" r="r" b="b"/>
              <a:pathLst>
                <a:path w="1049020" h="583564">
                  <a:moveTo>
                    <a:pt x="104114" y="78181"/>
                  </a:moveTo>
                  <a:lnTo>
                    <a:pt x="52057" y="0"/>
                  </a:lnTo>
                  <a:lnTo>
                    <a:pt x="0" y="78181"/>
                  </a:lnTo>
                  <a:lnTo>
                    <a:pt x="52057" y="156337"/>
                  </a:lnTo>
                  <a:lnTo>
                    <a:pt x="104114" y="78181"/>
                  </a:lnTo>
                  <a:close/>
                </a:path>
                <a:path w="1049020" h="583564">
                  <a:moveTo>
                    <a:pt x="1048816" y="504977"/>
                  </a:moveTo>
                  <a:lnTo>
                    <a:pt x="996746" y="426821"/>
                  </a:lnTo>
                  <a:lnTo>
                    <a:pt x="944689" y="504977"/>
                  </a:lnTo>
                  <a:lnTo>
                    <a:pt x="996746" y="583158"/>
                  </a:lnTo>
                  <a:lnTo>
                    <a:pt x="1048816" y="5049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3" name="object 10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104" name="object 10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Staff</a:t>
            </a:r>
            <a:r>
              <a:rPr dirty="0" spc="-55"/>
              <a:t> </a:t>
            </a:r>
            <a:r>
              <a:rPr dirty="0"/>
              <a:t>allocation</a:t>
            </a:r>
            <a:r>
              <a:rPr dirty="0" spc="-75"/>
              <a:t> </a:t>
            </a:r>
            <a:r>
              <a:rPr dirty="0" spc="-20"/>
              <a:t>chart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615477" y="2063146"/>
            <a:ext cx="6125210" cy="4281805"/>
            <a:chOff x="1615477" y="2063146"/>
            <a:chExt cx="6125210" cy="4281805"/>
          </a:xfrm>
        </p:grpSpPr>
        <p:sp>
          <p:nvSpPr>
            <p:cNvPr id="4" name="object 4" descr=""/>
            <p:cNvSpPr/>
            <p:nvPr/>
          </p:nvSpPr>
          <p:spPr>
            <a:xfrm>
              <a:off x="1620981" y="2068650"/>
              <a:ext cx="6113780" cy="4271010"/>
            </a:xfrm>
            <a:custGeom>
              <a:avLst/>
              <a:gdLst/>
              <a:ahLst/>
              <a:cxnLst/>
              <a:rect l="l" t="t" r="r" b="b"/>
              <a:pathLst>
                <a:path w="6113780" h="4271010">
                  <a:moveTo>
                    <a:pt x="6113704" y="0"/>
                  </a:moveTo>
                  <a:lnTo>
                    <a:pt x="184426" y="275252"/>
                  </a:lnTo>
                  <a:lnTo>
                    <a:pt x="0" y="4270413"/>
                  </a:lnTo>
                  <a:lnTo>
                    <a:pt x="6113704" y="4270413"/>
                  </a:lnTo>
                  <a:lnTo>
                    <a:pt x="6113704" y="0"/>
                  </a:lnTo>
                  <a:close/>
                </a:path>
              </a:pathLst>
            </a:custGeom>
            <a:solidFill>
              <a:srgbClr val="7ED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620981" y="2068650"/>
              <a:ext cx="6113780" cy="4271010"/>
            </a:xfrm>
            <a:custGeom>
              <a:avLst/>
              <a:gdLst/>
              <a:ahLst/>
              <a:cxnLst/>
              <a:rect l="l" t="t" r="r" b="b"/>
              <a:pathLst>
                <a:path w="6113780" h="4271010">
                  <a:moveTo>
                    <a:pt x="184426" y="275252"/>
                  </a:moveTo>
                  <a:lnTo>
                    <a:pt x="6113704" y="0"/>
                  </a:lnTo>
                  <a:lnTo>
                    <a:pt x="6113704" y="4270413"/>
                  </a:lnTo>
                  <a:lnTo>
                    <a:pt x="0" y="4270413"/>
                  </a:lnTo>
                  <a:lnTo>
                    <a:pt x="184426" y="275252"/>
                  </a:lnTo>
                  <a:close/>
                </a:path>
              </a:pathLst>
            </a:custGeom>
            <a:ln w="11007">
              <a:solidFill>
                <a:srgbClr val="7ED5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1532895" y="1998599"/>
            <a:ext cx="6162040" cy="4288790"/>
            <a:chOff x="1532895" y="1998599"/>
            <a:chExt cx="6162040" cy="4288790"/>
          </a:xfrm>
        </p:grpSpPr>
        <p:sp>
          <p:nvSpPr>
            <p:cNvPr id="7" name="object 7" descr=""/>
            <p:cNvSpPr/>
            <p:nvPr/>
          </p:nvSpPr>
          <p:spPr>
            <a:xfrm>
              <a:off x="1532895" y="1998599"/>
              <a:ext cx="6149975" cy="4288790"/>
            </a:xfrm>
            <a:custGeom>
              <a:avLst/>
              <a:gdLst/>
              <a:ahLst/>
              <a:cxnLst/>
              <a:rect l="l" t="t" r="r" b="b"/>
              <a:pathLst>
                <a:path w="6149975" h="4288790">
                  <a:moveTo>
                    <a:pt x="6149503" y="0"/>
                  </a:moveTo>
                  <a:lnTo>
                    <a:pt x="0" y="0"/>
                  </a:lnTo>
                  <a:lnTo>
                    <a:pt x="0" y="4288186"/>
                  </a:lnTo>
                  <a:lnTo>
                    <a:pt x="6149503" y="4288186"/>
                  </a:lnTo>
                  <a:lnTo>
                    <a:pt x="6149503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56373" y="2251662"/>
              <a:ext cx="74320" cy="10452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251352" y="2254413"/>
              <a:ext cx="33020" cy="102235"/>
            </a:xfrm>
            <a:custGeom>
              <a:avLst/>
              <a:gdLst/>
              <a:ahLst/>
              <a:cxnLst/>
              <a:rect l="l" t="t" r="r" b="b"/>
              <a:pathLst>
                <a:path w="33019" h="102235">
                  <a:moveTo>
                    <a:pt x="31986" y="13753"/>
                  </a:moveTo>
                  <a:lnTo>
                    <a:pt x="15135" y="13753"/>
                  </a:lnTo>
                  <a:lnTo>
                    <a:pt x="15135" y="101775"/>
                  </a:lnTo>
                  <a:lnTo>
                    <a:pt x="23391" y="100491"/>
                  </a:lnTo>
                  <a:lnTo>
                    <a:pt x="31647" y="100491"/>
                  </a:lnTo>
                  <a:lnTo>
                    <a:pt x="31668" y="32799"/>
                  </a:lnTo>
                  <a:lnTo>
                    <a:pt x="31819" y="17627"/>
                  </a:lnTo>
                  <a:lnTo>
                    <a:pt x="31986" y="13753"/>
                  </a:lnTo>
                  <a:close/>
                </a:path>
                <a:path w="33019" h="102235">
                  <a:moveTo>
                    <a:pt x="31647" y="0"/>
                  </a:moveTo>
                  <a:lnTo>
                    <a:pt x="22854" y="1613"/>
                  </a:lnTo>
                  <a:lnTo>
                    <a:pt x="15995" y="2590"/>
                  </a:lnTo>
                  <a:lnTo>
                    <a:pt x="1375" y="4217"/>
                  </a:lnTo>
                  <a:lnTo>
                    <a:pt x="1375" y="9719"/>
                  </a:lnTo>
                  <a:lnTo>
                    <a:pt x="0" y="11002"/>
                  </a:lnTo>
                  <a:lnTo>
                    <a:pt x="0" y="15220"/>
                  </a:lnTo>
                  <a:lnTo>
                    <a:pt x="1375" y="16504"/>
                  </a:lnTo>
                  <a:lnTo>
                    <a:pt x="6879" y="15220"/>
                  </a:lnTo>
                  <a:lnTo>
                    <a:pt x="9631" y="15220"/>
                  </a:lnTo>
                  <a:lnTo>
                    <a:pt x="15135" y="13753"/>
                  </a:lnTo>
                  <a:lnTo>
                    <a:pt x="31986" y="13753"/>
                  </a:lnTo>
                  <a:lnTo>
                    <a:pt x="32227" y="8128"/>
                  </a:lnTo>
                  <a:lnTo>
                    <a:pt x="33023" y="1467"/>
                  </a:lnTo>
                  <a:lnTo>
                    <a:pt x="316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3572" y="2251662"/>
              <a:ext cx="148641" cy="10452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8754" y="2269634"/>
              <a:ext cx="151540" cy="10580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6120" y="2247628"/>
              <a:ext cx="250488" cy="104525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89541" y="3643876"/>
              <a:ext cx="148641" cy="10470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19745" y="3375776"/>
              <a:ext cx="72834" cy="103059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5514596" y="3378527"/>
              <a:ext cx="31750" cy="100330"/>
            </a:xfrm>
            <a:custGeom>
              <a:avLst/>
              <a:gdLst/>
              <a:ahLst/>
              <a:cxnLst/>
              <a:rect l="l" t="t" r="r" b="b"/>
              <a:pathLst>
                <a:path w="31750" h="100329">
                  <a:moveTo>
                    <a:pt x="31739" y="13753"/>
                  </a:moveTo>
                  <a:lnTo>
                    <a:pt x="15227" y="13753"/>
                  </a:lnTo>
                  <a:lnTo>
                    <a:pt x="15227" y="100308"/>
                  </a:lnTo>
                  <a:lnTo>
                    <a:pt x="31739" y="100308"/>
                  </a:lnTo>
                  <a:lnTo>
                    <a:pt x="31739" y="13753"/>
                  </a:lnTo>
                  <a:close/>
                </a:path>
                <a:path w="31750" h="100329">
                  <a:moveTo>
                    <a:pt x="31739" y="0"/>
                  </a:moveTo>
                  <a:lnTo>
                    <a:pt x="22932" y="991"/>
                  </a:lnTo>
                  <a:lnTo>
                    <a:pt x="9448" y="3042"/>
                  </a:lnTo>
                  <a:lnTo>
                    <a:pt x="1467" y="4034"/>
                  </a:lnTo>
                  <a:lnTo>
                    <a:pt x="0" y="8252"/>
                  </a:lnTo>
                  <a:lnTo>
                    <a:pt x="0" y="15037"/>
                  </a:lnTo>
                  <a:lnTo>
                    <a:pt x="6971" y="15037"/>
                  </a:lnTo>
                  <a:lnTo>
                    <a:pt x="8255" y="13753"/>
                  </a:lnTo>
                  <a:lnTo>
                    <a:pt x="31739" y="13753"/>
                  </a:lnTo>
                  <a:lnTo>
                    <a:pt x="317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25316" y="5619548"/>
              <a:ext cx="151393" cy="10456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61629" y="5149034"/>
              <a:ext cx="148605" cy="104562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56373" y="4595981"/>
              <a:ext cx="154145" cy="103187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26692" y="4576726"/>
              <a:ext cx="152769" cy="105938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56373" y="2817203"/>
              <a:ext cx="74320" cy="104526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2251352" y="2819954"/>
              <a:ext cx="33020" cy="102235"/>
            </a:xfrm>
            <a:custGeom>
              <a:avLst/>
              <a:gdLst/>
              <a:ahLst/>
              <a:cxnLst/>
              <a:rect l="l" t="t" r="r" b="b"/>
              <a:pathLst>
                <a:path w="33019" h="102235">
                  <a:moveTo>
                    <a:pt x="31995" y="13753"/>
                  </a:moveTo>
                  <a:lnTo>
                    <a:pt x="15135" y="13753"/>
                  </a:lnTo>
                  <a:lnTo>
                    <a:pt x="15135" y="101775"/>
                  </a:lnTo>
                  <a:lnTo>
                    <a:pt x="23391" y="100308"/>
                  </a:lnTo>
                  <a:lnTo>
                    <a:pt x="31647" y="100308"/>
                  </a:lnTo>
                  <a:lnTo>
                    <a:pt x="31668" y="33234"/>
                  </a:lnTo>
                  <a:lnTo>
                    <a:pt x="31819" y="17994"/>
                  </a:lnTo>
                  <a:lnTo>
                    <a:pt x="31995" y="13753"/>
                  </a:lnTo>
                  <a:close/>
                </a:path>
                <a:path w="33019" h="102235">
                  <a:moveTo>
                    <a:pt x="31647" y="0"/>
                  </a:moveTo>
                  <a:lnTo>
                    <a:pt x="22854" y="1610"/>
                  </a:lnTo>
                  <a:lnTo>
                    <a:pt x="15995" y="2567"/>
                  </a:lnTo>
                  <a:lnTo>
                    <a:pt x="1375" y="4034"/>
                  </a:lnTo>
                  <a:lnTo>
                    <a:pt x="1375" y="9535"/>
                  </a:lnTo>
                  <a:lnTo>
                    <a:pt x="0" y="11002"/>
                  </a:lnTo>
                  <a:lnTo>
                    <a:pt x="0" y="15037"/>
                  </a:lnTo>
                  <a:lnTo>
                    <a:pt x="1375" y="16504"/>
                  </a:lnTo>
                  <a:lnTo>
                    <a:pt x="6879" y="15037"/>
                  </a:lnTo>
                  <a:lnTo>
                    <a:pt x="9631" y="15037"/>
                  </a:lnTo>
                  <a:lnTo>
                    <a:pt x="15135" y="13753"/>
                  </a:lnTo>
                  <a:lnTo>
                    <a:pt x="31995" y="13753"/>
                  </a:lnTo>
                  <a:lnTo>
                    <a:pt x="32227" y="8151"/>
                  </a:lnTo>
                  <a:lnTo>
                    <a:pt x="33023" y="1283"/>
                  </a:lnTo>
                  <a:lnTo>
                    <a:pt x="316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796087" y="2185646"/>
              <a:ext cx="899160" cy="260350"/>
            </a:xfrm>
            <a:custGeom>
              <a:avLst/>
              <a:gdLst/>
              <a:ahLst/>
              <a:cxnLst/>
              <a:rect l="l" t="t" r="r" b="b"/>
              <a:pathLst>
                <a:path w="899159" h="260350">
                  <a:moveTo>
                    <a:pt x="898603" y="0"/>
                  </a:moveTo>
                  <a:lnTo>
                    <a:pt x="0" y="0"/>
                  </a:lnTo>
                  <a:lnTo>
                    <a:pt x="0" y="260031"/>
                  </a:lnTo>
                  <a:lnTo>
                    <a:pt x="898603" y="260031"/>
                  </a:lnTo>
                  <a:lnTo>
                    <a:pt x="898603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38651" y="2242127"/>
              <a:ext cx="73018" cy="103059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6933685" y="2244877"/>
              <a:ext cx="31750" cy="100330"/>
            </a:xfrm>
            <a:custGeom>
              <a:avLst/>
              <a:gdLst/>
              <a:ahLst/>
              <a:cxnLst/>
              <a:rect l="l" t="t" r="r" b="b"/>
              <a:pathLst>
                <a:path w="31750" h="100330">
                  <a:moveTo>
                    <a:pt x="30271" y="0"/>
                  </a:moveTo>
                  <a:lnTo>
                    <a:pt x="22233" y="991"/>
                  </a:lnTo>
                  <a:lnTo>
                    <a:pt x="9322" y="3042"/>
                  </a:lnTo>
                  <a:lnTo>
                    <a:pt x="1284" y="4034"/>
                  </a:lnTo>
                  <a:lnTo>
                    <a:pt x="0" y="5501"/>
                  </a:lnTo>
                  <a:lnTo>
                    <a:pt x="0" y="16504"/>
                  </a:lnTo>
                  <a:lnTo>
                    <a:pt x="6788" y="15037"/>
                  </a:lnTo>
                  <a:lnTo>
                    <a:pt x="8255" y="15037"/>
                  </a:lnTo>
                  <a:lnTo>
                    <a:pt x="15043" y="13753"/>
                  </a:lnTo>
                  <a:lnTo>
                    <a:pt x="15023" y="61136"/>
                  </a:lnTo>
                  <a:lnTo>
                    <a:pt x="14883" y="73741"/>
                  </a:lnTo>
                  <a:lnTo>
                    <a:pt x="14502" y="85554"/>
                  </a:lnTo>
                  <a:lnTo>
                    <a:pt x="13759" y="100308"/>
                  </a:lnTo>
                  <a:lnTo>
                    <a:pt x="30271" y="100308"/>
                  </a:lnTo>
                  <a:lnTo>
                    <a:pt x="31555" y="99024"/>
                  </a:lnTo>
                  <a:lnTo>
                    <a:pt x="30813" y="91007"/>
                  </a:lnTo>
                  <a:lnTo>
                    <a:pt x="30431" y="82337"/>
                  </a:lnTo>
                  <a:lnTo>
                    <a:pt x="30271" y="56297"/>
                  </a:lnTo>
                  <a:lnTo>
                    <a:pt x="30472" y="32435"/>
                  </a:lnTo>
                  <a:lnTo>
                    <a:pt x="30913" y="16962"/>
                  </a:lnTo>
                  <a:lnTo>
                    <a:pt x="31555" y="1283"/>
                  </a:lnTo>
                  <a:lnTo>
                    <a:pt x="30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105444" y="3312327"/>
              <a:ext cx="2809240" cy="260350"/>
            </a:xfrm>
            <a:custGeom>
              <a:avLst/>
              <a:gdLst/>
              <a:ahLst/>
              <a:cxnLst/>
              <a:rect l="l" t="t" r="r" b="b"/>
              <a:pathLst>
                <a:path w="2809240" h="260350">
                  <a:moveTo>
                    <a:pt x="2809043" y="0"/>
                  </a:moveTo>
                  <a:lnTo>
                    <a:pt x="0" y="0"/>
                  </a:lnTo>
                  <a:lnTo>
                    <a:pt x="0" y="260031"/>
                  </a:lnTo>
                  <a:lnTo>
                    <a:pt x="2809043" y="260031"/>
                  </a:lnTo>
                  <a:lnTo>
                    <a:pt x="2809043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56373" y="3399065"/>
              <a:ext cx="150017" cy="103242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86396" y="5875435"/>
              <a:ext cx="154109" cy="104562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29444" y="4075918"/>
              <a:ext cx="152769" cy="104526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928856" y="2242127"/>
              <a:ext cx="73018" cy="104526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6023890" y="2246161"/>
              <a:ext cx="31750" cy="100965"/>
            </a:xfrm>
            <a:custGeom>
              <a:avLst/>
              <a:gdLst/>
              <a:ahLst/>
              <a:cxnLst/>
              <a:rect l="l" t="t" r="r" b="b"/>
              <a:pathLst>
                <a:path w="31750" h="100964">
                  <a:moveTo>
                    <a:pt x="31739" y="0"/>
                  </a:moveTo>
                  <a:lnTo>
                    <a:pt x="1467" y="2750"/>
                  </a:lnTo>
                  <a:lnTo>
                    <a:pt x="1467" y="4217"/>
                  </a:lnTo>
                  <a:lnTo>
                    <a:pt x="0" y="8252"/>
                  </a:lnTo>
                  <a:lnTo>
                    <a:pt x="0" y="15220"/>
                  </a:lnTo>
                  <a:lnTo>
                    <a:pt x="1467" y="15220"/>
                  </a:lnTo>
                  <a:lnTo>
                    <a:pt x="6971" y="13753"/>
                  </a:lnTo>
                  <a:lnTo>
                    <a:pt x="8255" y="13753"/>
                  </a:lnTo>
                  <a:lnTo>
                    <a:pt x="15227" y="12469"/>
                  </a:lnTo>
                  <a:lnTo>
                    <a:pt x="15227" y="100491"/>
                  </a:lnTo>
                  <a:lnTo>
                    <a:pt x="31739" y="100491"/>
                  </a:lnTo>
                  <a:lnTo>
                    <a:pt x="31739" y="99024"/>
                  </a:lnTo>
                  <a:lnTo>
                    <a:pt x="317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61629" y="3375776"/>
              <a:ext cx="152825" cy="104525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5854553" y="4502457"/>
              <a:ext cx="1831975" cy="260350"/>
            </a:xfrm>
            <a:custGeom>
              <a:avLst/>
              <a:gdLst/>
              <a:ahLst/>
              <a:cxnLst/>
              <a:rect l="l" t="t" r="r" b="b"/>
              <a:pathLst>
                <a:path w="1831975" h="260350">
                  <a:moveTo>
                    <a:pt x="1831881" y="0"/>
                  </a:moveTo>
                  <a:lnTo>
                    <a:pt x="0" y="0"/>
                  </a:lnTo>
                  <a:lnTo>
                    <a:pt x="0" y="259994"/>
                  </a:lnTo>
                  <a:lnTo>
                    <a:pt x="1831881" y="259994"/>
                  </a:lnTo>
                  <a:lnTo>
                    <a:pt x="1831881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887577" y="4568474"/>
              <a:ext cx="74302" cy="103169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5982601" y="4571225"/>
              <a:ext cx="113030" cy="100965"/>
            </a:xfrm>
            <a:custGeom>
              <a:avLst/>
              <a:gdLst/>
              <a:ahLst/>
              <a:cxnLst/>
              <a:rect l="l" t="t" r="r" b="b"/>
              <a:pathLst>
                <a:path w="113029" h="100964">
                  <a:moveTo>
                    <a:pt x="33032" y="0"/>
                  </a:moveTo>
                  <a:lnTo>
                    <a:pt x="31559" y="0"/>
                  </a:lnTo>
                  <a:lnTo>
                    <a:pt x="10096" y="3098"/>
                  </a:lnTo>
                  <a:lnTo>
                    <a:pt x="1282" y="4127"/>
                  </a:lnTo>
                  <a:lnTo>
                    <a:pt x="1282" y="11010"/>
                  </a:lnTo>
                  <a:lnTo>
                    <a:pt x="0" y="15138"/>
                  </a:lnTo>
                  <a:lnTo>
                    <a:pt x="1282" y="16510"/>
                  </a:lnTo>
                  <a:lnTo>
                    <a:pt x="8255" y="15138"/>
                  </a:lnTo>
                  <a:lnTo>
                    <a:pt x="9537" y="15138"/>
                  </a:lnTo>
                  <a:lnTo>
                    <a:pt x="16510" y="13754"/>
                  </a:lnTo>
                  <a:lnTo>
                    <a:pt x="16510" y="44030"/>
                  </a:lnTo>
                  <a:lnTo>
                    <a:pt x="15671" y="60947"/>
                  </a:lnTo>
                  <a:lnTo>
                    <a:pt x="15227" y="73088"/>
                  </a:lnTo>
                  <a:lnTo>
                    <a:pt x="15049" y="99047"/>
                  </a:lnTo>
                  <a:lnTo>
                    <a:pt x="16510" y="100418"/>
                  </a:lnTo>
                  <a:lnTo>
                    <a:pt x="31559" y="100418"/>
                  </a:lnTo>
                  <a:lnTo>
                    <a:pt x="33032" y="99047"/>
                  </a:lnTo>
                  <a:lnTo>
                    <a:pt x="32181" y="91033"/>
                  </a:lnTo>
                  <a:lnTo>
                    <a:pt x="31737" y="82372"/>
                  </a:lnTo>
                  <a:lnTo>
                    <a:pt x="31584" y="32512"/>
                  </a:lnTo>
                  <a:lnTo>
                    <a:pt x="31737" y="16852"/>
                  </a:lnTo>
                  <a:lnTo>
                    <a:pt x="32181" y="6883"/>
                  </a:lnTo>
                  <a:lnTo>
                    <a:pt x="33032" y="0"/>
                  </a:lnTo>
                  <a:close/>
                </a:path>
                <a:path w="113029" h="100964">
                  <a:moveTo>
                    <a:pt x="112839" y="0"/>
                  </a:moveTo>
                  <a:lnTo>
                    <a:pt x="111544" y="0"/>
                  </a:lnTo>
                  <a:lnTo>
                    <a:pt x="102743" y="1041"/>
                  </a:lnTo>
                  <a:lnTo>
                    <a:pt x="89255" y="3098"/>
                  </a:lnTo>
                  <a:lnTo>
                    <a:pt x="81280" y="4127"/>
                  </a:lnTo>
                  <a:lnTo>
                    <a:pt x="81280" y="9639"/>
                  </a:lnTo>
                  <a:lnTo>
                    <a:pt x="79806" y="11010"/>
                  </a:lnTo>
                  <a:lnTo>
                    <a:pt x="79806" y="15138"/>
                  </a:lnTo>
                  <a:lnTo>
                    <a:pt x="81280" y="16510"/>
                  </a:lnTo>
                  <a:lnTo>
                    <a:pt x="86779" y="15138"/>
                  </a:lnTo>
                  <a:lnTo>
                    <a:pt x="89535" y="15138"/>
                  </a:lnTo>
                  <a:lnTo>
                    <a:pt x="95034" y="13754"/>
                  </a:lnTo>
                  <a:lnTo>
                    <a:pt x="95034" y="100418"/>
                  </a:lnTo>
                  <a:lnTo>
                    <a:pt x="111544" y="100418"/>
                  </a:lnTo>
                  <a:lnTo>
                    <a:pt x="111544" y="99047"/>
                  </a:lnTo>
                  <a:lnTo>
                    <a:pt x="111569" y="32512"/>
                  </a:lnTo>
                  <a:lnTo>
                    <a:pt x="111709" y="16852"/>
                  </a:lnTo>
                  <a:lnTo>
                    <a:pt x="112090" y="6883"/>
                  </a:lnTo>
                  <a:lnTo>
                    <a:pt x="1128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14030" y="4553345"/>
              <a:ext cx="72834" cy="103169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7208880" y="4556096"/>
              <a:ext cx="31750" cy="100965"/>
            </a:xfrm>
            <a:custGeom>
              <a:avLst/>
              <a:gdLst/>
              <a:ahLst/>
              <a:cxnLst/>
              <a:rect l="l" t="t" r="r" b="b"/>
              <a:pathLst>
                <a:path w="31750" h="100964">
                  <a:moveTo>
                    <a:pt x="31739" y="0"/>
                  </a:moveTo>
                  <a:lnTo>
                    <a:pt x="30271" y="0"/>
                  </a:lnTo>
                  <a:lnTo>
                    <a:pt x="22313" y="1031"/>
                  </a:lnTo>
                  <a:lnTo>
                    <a:pt x="9425" y="3094"/>
                  </a:lnTo>
                  <a:lnTo>
                    <a:pt x="1467" y="4126"/>
                  </a:lnTo>
                  <a:lnTo>
                    <a:pt x="0" y="5501"/>
                  </a:lnTo>
                  <a:lnTo>
                    <a:pt x="0" y="16504"/>
                  </a:lnTo>
                  <a:lnTo>
                    <a:pt x="6971" y="15128"/>
                  </a:lnTo>
                  <a:lnTo>
                    <a:pt x="8255" y="15128"/>
                  </a:lnTo>
                  <a:lnTo>
                    <a:pt x="15227" y="13753"/>
                  </a:lnTo>
                  <a:lnTo>
                    <a:pt x="15204" y="60934"/>
                  </a:lnTo>
                  <a:lnTo>
                    <a:pt x="15043" y="73081"/>
                  </a:lnTo>
                  <a:lnTo>
                    <a:pt x="14608" y="84451"/>
                  </a:lnTo>
                  <a:lnTo>
                    <a:pt x="13759" y="99043"/>
                  </a:lnTo>
                  <a:lnTo>
                    <a:pt x="15227" y="100418"/>
                  </a:lnTo>
                  <a:lnTo>
                    <a:pt x="30271" y="100418"/>
                  </a:lnTo>
                  <a:lnTo>
                    <a:pt x="31739" y="99043"/>
                  </a:lnTo>
                  <a:lnTo>
                    <a:pt x="30890" y="91027"/>
                  </a:lnTo>
                  <a:lnTo>
                    <a:pt x="30454" y="82364"/>
                  </a:lnTo>
                  <a:lnTo>
                    <a:pt x="30271" y="56389"/>
                  </a:lnTo>
                  <a:lnTo>
                    <a:pt x="30500" y="32492"/>
                  </a:lnTo>
                  <a:lnTo>
                    <a:pt x="31005" y="16847"/>
                  </a:lnTo>
                  <a:lnTo>
                    <a:pt x="317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101925" y="2817203"/>
              <a:ext cx="152769" cy="104526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2102692" y="2182895"/>
              <a:ext cx="3743960" cy="3587115"/>
            </a:xfrm>
            <a:custGeom>
              <a:avLst/>
              <a:gdLst/>
              <a:ahLst/>
              <a:cxnLst/>
              <a:rect l="l" t="t" r="r" b="b"/>
              <a:pathLst>
                <a:path w="3743960" h="3587115">
                  <a:moveTo>
                    <a:pt x="2330204" y="0"/>
                  </a:moveTo>
                  <a:lnTo>
                    <a:pt x="2330204" y="0"/>
                  </a:lnTo>
                  <a:lnTo>
                    <a:pt x="3743606" y="239309"/>
                  </a:lnTo>
                </a:path>
                <a:path w="3743960" h="3587115">
                  <a:moveTo>
                    <a:pt x="1403898" y="2880848"/>
                  </a:moveTo>
                  <a:lnTo>
                    <a:pt x="1403898" y="2880848"/>
                  </a:lnTo>
                  <a:lnTo>
                    <a:pt x="2339744" y="3118856"/>
                  </a:lnTo>
                </a:path>
                <a:path w="3743960" h="3587115">
                  <a:moveTo>
                    <a:pt x="9650" y="2330564"/>
                  </a:moveTo>
                  <a:lnTo>
                    <a:pt x="9650" y="2330564"/>
                  </a:lnTo>
                  <a:lnTo>
                    <a:pt x="945551" y="2558926"/>
                  </a:lnTo>
                </a:path>
                <a:path w="3743960" h="3587115">
                  <a:moveTo>
                    <a:pt x="0" y="1119896"/>
                  </a:moveTo>
                  <a:lnTo>
                    <a:pt x="0" y="1119896"/>
                  </a:lnTo>
                  <a:lnTo>
                    <a:pt x="1403898" y="1375709"/>
                  </a:lnTo>
                </a:path>
                <a:path w="3743960" h="3587115">
                  <a:moveTo>
                    <a:pt x="945551" y="3348594"/>
                  </a:moveTo>
                  <a:lnTo>
                    <a:pt x="945551" y="3348594"/>
                  </a:lnTo>
                  <a:lnTo>
                    <a:pt x="2798036" y="3586601"/>
                  </a:lnTo>
                </a:path>
              </a:pathLst>
            </a:custGeom>
            <a:ln w="17888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9" name="object 39" descr=""/>
          <p:cNvGraphicFramePr>
            <a:graphicFrameLocks noGrp="1"/>
          </p:cNvGraphicFramePr>
          <p:nvPr/>
        </p:nvGraphicFramePr>
        <p:xfrm>
          <a:off x="1519870" y="1993095"/>
          <a:ext cx="6252210" cy="4281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/>
                <a:gridCol w="467995"/>
                <a:gridCol w="467995"/>
                <a:gridCol w="469900"/>
                <a:gridCol w="465455"/>
                <a:gridCol w="467994"/>
                <a:gridCol w="467360"/>
                <a:gridCol w="471170"/>
                <a:gridCol w="465454"/>
                <a:gridCol w="467360"/>
                <a:gridCol w="467360"/>
                <a:gridCol w="467360"/>
                <a:gridCol w="427354"/>
              </a:tblGrid>
              <a:tr h="180975">
                <a:tc rowSpan="1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</a:tr>
              <a:tr h="2597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ACED"/>
                      </a:solidFill>
                      <a:prstDash val="solid"/>
                    </a:lnL>
                    <a:lnR w="28575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09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</a:tr>
              <a:tr h="2597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</a:tr>
              <a:tr h="3105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</a:tr>
              <a:tr h="2597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</a:tr>
              <a:tr h="2540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</a:tr>
              <a:tr h="1866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</a:tr>
              <a:tr h="2597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</a:tr>
              <a:tr h="2279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</a:tr>
              <a:tr h="2597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65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ACED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</a:tr>
              <a:tr h="2597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ACED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</a:tr>
              <a:tr h="2006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ACED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</a:tr>
              <a:tr h="2597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</a:tr>
              <a:tr h="2597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ACED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9050">
                      <a:solidFill>
                        <a:srgbClr val="00ACED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</a:tr>
              <a:tr h="2457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ACED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ACED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pic>
        <p:nvPicPr>
          <p:cNvPr id="40" name="object 40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577891" y="3378527"/>
            <a:ext cx="74302" cy="101775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643002" y="3381278"/>
            <a:ext cx="406026" cy="118279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645756" y="5587897"/>
            <a:ext cx="305541" cy="138964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643002" y="5125653"/>
            <a:ext cx="280775" cy="138946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645756" y="4573975"/>
            <a:ext cx="228468" cy="118316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36120" y="2807484"/>
            <a:ext cx="137639" cy="116995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995512" y="2244877"/>
            <a:ext cx="73018" cy="100308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643002" y="4085637"/>
            <a:ext cx="295911" cy="138817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087185" y="2246161"/>
            <a:ext cx="74302" cy="101775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7270891" y="4556096"/>
            <a:ext cx="72834" cy="100418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662271" y="1774327"/>
            <a:ext cx="359219" cy="118279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069668" y="1790830"/>
            <a:ext cx="74320" cy="101775"/>
          </a:xfrm>
          <a:prstGeom prst="rect">
            <a:avLst/>
          </a:prstGeom>
        </p:spPr>
      </p:pic>
      <p:sp>
        <p:nvSpPr>
          <p:cNvPr id="52" name="object 52" descr=""/>
          <p:cNvSpPr/>
          <p:nvPr/>
        </p:nvSpPr>
        <p:spPr>
          <a:xfrm>
            <a:off x="2548636" y="1790830"/>
            <a:ext cx="33020" cy="100965"/>
          </a:xfrm>
          <a:custGeom>
            <a:avLst/>
            <a:gdLst/>
            <a:ahLst/>
            <a:cxnLst/>
            <a:rect l="l" t="t" r="r" b="b"/>
            <a:pathLst>
              <a:path w="33019" h="100964">
                <a:moveTo>
                  <a:pt x="31942" y="13753"/>
                </a:moveTo>
                <a:lnTo>
                  <a:pt x="16511" y="13753"/>
                </a:lnTo>
                <a:lnTo>
                  <a:pt x="16511" y="42727"/>
                </a:lnTo>
                <a:lnTo>
                  <a:pt x="15716" y="60394"/>
                </a:lnTo>
                <a:lnTo>
                  <a:pt x="15307" y="72939"/>
                </a:lnTo>
                <a:lnTo>
                  <a:pt x="15193" y="81695"/>
                </a:lnTo>
                <a:lnTo>
                  <a:pt x="15135" y="99024"/>
                </a:lnTo>
                <a:lnTo>
                  <a:pt x="16511" y="100491"/>
                </a:lnTo>
                <a:lnTo>
                  <a:pt x="31647" y="100491"/>
                </a:lnTo>
                <a:lnTo>
                  <a:pt x="33023" y="99024"/>
                </a:lnTo>
                <a:lnTo>
                  <a:pt x="32227" y="90807"/>
                </a:lnTo>
                <a:lnTo>
                  <a:pt x="31819" y="81695"/>
                </a:lnTo>
                <a:lnTo>
                  <a:pt x="31704" y="72939"/>
                </a:lnTo>
                <a:lnTo>
                  <a:pt x="31668" y="31950"/>
                </a:lnTo>
                <a:lnTo>
                  <a:pt x="31819" y="16710"/>
                </a:lnTo>
                <a:lnTo>
                  <a:pt x="31942" y="13753"/>
                </a:lnTo>
                <a:close/>
              </a:path>
              <a:path w="33019" h="100964">
                <a:moveTo>
                  <a:pt x="33023" y="0"/>
                </a:moveTo>
                <a:lnTo>
                  <a:pt x="31647" y="0"/>
                </a:lnTo>
                <a:lnTo>
                  <a:pt x="23434" y="991"/>
                </a:lnTo>
                <a:lnTo>
                  <a:pt x="9588" y="3042"/>
                </a:lnTo>
                <a:lnTo>
                  <a:pt x="1375" y="4034"/>
                </a:lnTo>
                <a:lnTo>
                  <a:pt x="1375" y="11002"/>
                </a:lnTo>
                <a:lnTo>
                  <a:pt x="0" y="15037"/>
                </a:lnTo>
                <a:lnTo>
                  <a:pt x="8255" y="15037"/>
                </a:lnTo>
                <a:lnTo>
                  <a:pt x="9631" y="13753"/>
                </a:lnTo>
                <a:lnTo>
                  <a:pt x="31942" y="13753"/>
                </a:lnTo>
                <a:lnTo>
                  <a:pt x="32227" y="6868"/>
                </a:lnTo>
                <a:lnTo>
                  <a:pt x="330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3" name="object 53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991810" y="1790831"/>
            <a:ext cx="71569" cy="100491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3479070" y="1792114"/>
            <a:ext cx="67331" cy="100491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940114" y="1792114"/>
            <a:ext cx="75770" cy="99208"/>
          </a:xfrm>
          <a:prstGeom prst="rect">
            <a:avLst/>
          </a:prstGeom>
        </p:spPr>
      </p:pic>
      <p:pic>
        <p:nvPicPr>
          <p:cNvPr id="56" name="object 56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4428676" y="1792114"/>
            <a:ext cx="66046" cy="100491"/>
          </a:xfrm>
          <a:prstGeom prst="rect">
            <a:avLst/>
          </a:prstGeom>
        </p:spPr>
      </p:pic>
      <p:pic>
        <p:nvPicPr>
          <p:cNvPr id="57" name="object 57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4893940" y="1790830"/>
            <a:ext cx="71550" cy="101775"/>
          </a:xfrm>
          <a:prstGeom prst="rect">
            <a:avLst/>
          </a:prstGeom>
        </p:spPr>
      </p:pic>
      <p:pic>
        <p:nvPicPr>
          <p:cNvPr id="58" name="object 58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5360487" y="1792114"/>
            <a:ext cx="71550" cy="99208"/>
          </a:xfrm>
          <a:prstGeom prst="rect">
            <a:avLst/>
          </a:prstGeom>
        </p:spPr>
      </p:pic>
      <p:pic>
        <p:nvPicPr>
          <p:cNvPr id="59" name="object 59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5825750" y="1790830"/>
            <a:ext cx="72834" cy="101775"/>
          </a:xfrm>
          <a:prstGeom prst="rect">
            <a:avLst/>
          </a:prstGeom>
        </p:spPr>
      </p:pic>
      <p:pic>
        <p:nvPicPr>
          <p:cNvPr id="60" name="object 60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6289545" y="1790830"/>
            <a:ext cx="71550" cy="101775"/>
          </a:xfrm>
          <a:prstGeom prst="rect">
            <a:avLst/>
          </a:prstGeom>
        </p:spPr>
      </p:pic>
      <p:grpSp>
        <p:nvGrpSpPr>
          <p:cNvPr id="61" name="object 61" descr=""/>
          <p:cNvGrpSpPr/>
          <p:nvPr/>
        </p:nvGrpSpPr>
        <p:grpSpPr>
          <a:xfrm>
            <a:off x="6731324" y="1790830"/>
            <a:ext cx="137795" cy="102235"/>
            <a:chOff x="6731324" y="1790830"/>
            <a:chExt cx="137795" cy="102235"/>
          </a:xfrm>
        </p:grpSpPr>
        <p:sp>
          <p:nvSpPr>
            <p:cNvPr id="62" name="object 62" descr=""/>
            <p:cNvSpPr/>
            <p:nvPr/>
          </p:nvSpPr>
          <p:spPr>
            <a:xfrm>
              <a:off x="6731324" y="1790831"/>
              <a:ext cx="31750" cy="100965"/>
            </a:xfrm>
            <a:custGeom>
              <a:avLst/>
              <a:gdLst/>
              <a:ahLst/>
              <a:cxnLst/>
              <a:rect l="l" t="t" r="r" b="b"/>
              <a:pathLst>
                <a:path w="31750" h="100964">
                  <a:moveTo>
                    <a:pt x="31739" y="0"/>
                  </a:moveTo>
                  <a:lnTo>
                    <a:pt x="30271" y="0"/>
                  </a:lnTo>
                  <a:lnTo>
                    <a:pt x="22313" y="991"/>
                  </a:lnTo>
                  <a:lnTo>
                    <a:pt x="9425" y="3042"/>
                  </a:lnTo>
                  <a:lnTo>
                    <a:pt x="1467" y="4034"/>
                  </a:lnTo>
                  <a:lnTo>
                    <a:pt x="0" y="4034"/>
                  </a:lnTo>
                  <a:lnTo>
                    <a:pt x="0" y="15037"/>
                  </a:lnTo>
                  <a:lnTo>
                    <a:pt x="6971" y="15037"/>
                  </a:lnTo>
                  <a:lnTo>
                    <a:pt x="8255" y="13753"/>
                  </a:lnTo>
                  <a:lnTo>
                    <a:pt x="15227" y="13753"/>
                  </a:lnTo>
                  <a:lnTo>
                    <a:pt x="15227" y="100491"/>
                  </a:lnTo>
                  <a:lnTo>
                    <a:pt x="31739" y="100491"/>
                  </a:lnTo>
                  <a:lnTo>
                    <a:pt x="31739" y="99024"/>
                  </a:lnTo>
                  <a:lnTo>
                    <a:pt x="31509" y="90807"/>
                  </a:lnTo>
                  <a:lnTo>
                    <a:pt x="30500" y="70245"/>
                  </a:lnTo>
                  <a:lnTo>
                    <a:pt x="30271" y="55013"/>
                  </a:lnTo>
                  <a:lnTo>
                    <a:pt x="30500" y="31950"/>
                  </a:lnTo>
                  <a:lnTo>
                    <a:pt x="31005" y="16710"/>
                  </a:lnTo>
                  <a:lnTo>
                    <a:pt x="317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794619" y="1790830"/>
              <a:ext cx="74302" cy="101775"/>
            </a:xfrm>
            <a:prstGeom prst="rect">
              <a:avLst/>
            </a:prstGeom>
          </p:spPr>
        </p:pic>
      </p:grpSp>
      <p:sp>
        <p:nvSpPr>
          <p:cNvPr id="64" name="object 64" descr=""/>
          <p:cNvSpPr/>
          <p:nvPr/>
        </p:nvSpPr>
        <p:spPr>
          <a:xfrm>
            <a:off x="7196588" y="1790830"/>
            <a:ext cx="33020" cy="100965"/>
          </a:xfrm>
          <a:custGeom>
            <a:avLst/>
            <a:gdLst/>
            <a:ahLst/>
            <a:cxnLst/>
            <a:rect l="l" t="t" r="r" b="b"/>
            <a:pathLst>
              <a:path w="33020" h="100964">
                <a:moveTo>
                  <a:pt x="31870" y="13753"/>
                </a:moveTo>
                <a:lnTo>
                  <a:pt x="15043" y="13753"/>
                </a:lnTo>
                <a:lnTo>
                  <a:pt x="15043" y="100491"/>
                </a:lnTo>
                <a:lnTo>
                  <a:pt x="31555" y="100491"/>
                </a:lnTo>
                <a:lnTo>
                  <a:pt x="31578" y="31950"/>
                </a:lnTo>
                <a:lnTo>
                  <a:pt x="31739" y="16710"/>
                </a:lnTo>
                <a:lnTo>
                  <a:pt x="31870" y="13753"/>
                </a:lnTo>
                <a:close/>
              </a:path>
              <a:path w="33020" h="100964">
                <a:moveTo>
                  <a:pt x="33023" y="0"/>
                </a:moveTo>
                <a:lnTo>
                  <a:pt x="31555" y="0"/>
                </a:lnTo>
                <a:lnTo>
                  <a:pt x="22775" y="991"/>
                </a:lnTo>
                <a:lnTo>
                  <a:pt x="9342" y="3042"/>
                </a:lnTo>
                <a:lnTo>
                  <a:pt x="1284" y="4034"/>
                </a:lnTo>
                <a:lnTo>
                  <a:pt x="1284" y="8252"/>
                </a:lnTo>
                <a:lnTo>
                  <a:pt x="0" y="11002"/>
                </a:lnTo>
                <a:lnTo>
                  <a:pt x="0" y="15037"/>
                </a:lnTo>
                <a:lnTo>
                  <a:pt x="6788" y="15037"/>
                </a:lnTo>
                <a:lnTo>
                  <a:pt x="8255" y="13753"/>
                </a:lnTo>
                <a:lnTo>
                  <a:pt x="31870" y="13753"/>
                </a:lnTo>
                <a:lnTo>
                  <a:pt x="32174" y="6868"/>
                </a:lnTo>
                <a:lnTo>
                  <a:pt x="330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7276394" y="1790831"/>
            <a:ext cx="31750" cy="100965"/>
          </a:xfrm>
          <a:custGeom>
            <a:avLst/>
            <a:gdLst/>
            <a:ahLst/>
            <a:cxnLst/>
            <a:rect l="l" t="t" r="r" b="b"/>
            <a:pathLst>
              <a:path w="31750" h="100964">
                <a:moveTo>
                  <a:pt x="31555" y="0"/>
                </a:moveTo>
                <a:lnTo>
                  <a:pt x="30271" y="0"/>
                </a:lnTo>
                <a:lnTo>
                  <a:pt x="22233" y="991"/>
                </a:lnTo>
                <a:lnTo>
                  <a:pt x="9322" y="3042"/>
                </a:lnTo>
                <a:lnTo>
                  <a:pt x="1284" y="4034"/>
                </a:lnTo>
                <a:lnTo>
                  <a:pt x="0" y="4034"/>
                </a:lnTo>
                <a:lnTo>
                  <a:pt x="0" y="15037"/>
                </a:lnTo>
                <a:lnTo>
                  <a:pt x="6788" y="15037"/>
                </a:lnTo>
                <a:lnTo>
                  <a:pt x="8255" y="13753"/>
                </a:lnTo>
                <a:lnTo>
                  <a:pt x="15043" y="13753"/>
                </a:lnTo>
                <a:lnTo>
                  <a:pt x="15043" y="100491"/>
                </a:lnTo>
                <a:lnTo>
                  <a:pt x="31555" y="100491"/>
                </a:lnTo>
                <a:lnTo>
                  <a:pt x="31555" y="99024"/>
                </a:lnTo>
                <a:lnTo>
                  <a:pt x="31355" y="90807"/>
                </a:lnTo>
                <a:lnTo>
                  <a:pt x="30472" y="70245"/>
                </a:lnTo>
                <a:lnTo>
                  <a:pt x="30271" y="55013"/>
                </a:lnTo>
                <a:lnTo>
                  <a:pt x="30472" y="31950"/>
                </a:lnTo>
                <a:lnTo>
                  <a:pt x="315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6" name="object 66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4014416" y="3385312"/>
            <a:ext cx="151357" cy="103242"/>
          </a:xfrm>
          <a:prstGeom prst="rect">
            <a:avLst/>
          </a:prstGeom>
        </p:spPr>
      </p:pic>
      <p:sp>
        <p:nvSpPr>
          <p:cNvPr id="67" name="object 6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68" name="object 6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0534" y="2785998"/>
            <a:ext cx="21247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Agile</a:t>
            </a:r>
            <a:r>
              <a:rPr dirty="0" spc="-65"/>
              <a:t> </a:t>
            </a:r>
            <a:r>
              <a:rPr dirty="0" spc="-10"/>
              <a:t>planning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Agile</a:t>
            </a:r>
            <a:r>
              <a:rPr dirty="0" spc="-6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625853"/>
            <a:ext cx="7947025" cy="4309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5372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Agile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methods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iterative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approaches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developed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delivered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customers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increments.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Unlike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plan-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driven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approaches,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functionality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these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increments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planned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advance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but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decided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during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development.</a:t>
            </a:r>
            <a:endParaRPr sz="2400">
              <a:latin typeface="Arial MT"/>
              <a:cs typeface="Arial MT"/>
            </a:endParaRPr>
          </a:p>
          <a:p>
            <a:pPr lvl="1" marL="756285" marR="423545" indent="-287020">
              <a:lnSpc>
                <a:spcPct val="100000"/>
              </a:lnSpc>
              <a:spcBef>
                <a:spcPts val="91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decision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what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include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increment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depends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on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progress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customer’s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priorities.</a:t>
            </a:r>
            <a:endParaRPr sz="2000">
              <a:latin typeface="Arial MT"/>
              <a:cs typeface="Arial MT"/>
            </a:endParaRPr>
          </a:p>
          <a:p>
            <a:pPr marL="355600" marR="53340" indent="-342900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customer’s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priorities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change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it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makes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sense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flexible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can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accommodate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changes.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Agile</a:t>
            </a:r>
            <a:r>
              <a:rPr dirty="0" spc="-40"/>
              <a:t> </a:t>
            </a:r>
            <a:r>
              <a:rPr dirty="0"/>
              <a:t>planning</a:t>
            </a:r>
            <a:r>
              <a:rPr dirty="0" spc="-65"/>
              <a:t> </a:t>
            </a:r>
            <a:r>
              <a:rPr dirty="0" spc="-10"/>
              <a:t>stages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625853"/>
            <a:ext cx="8069580" cy="2372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60325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Release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planning,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looks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ahead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several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months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decides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features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included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a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release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system.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Iteration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planning,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shorter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term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outlook,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focuses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planning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next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increment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system.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This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typically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2-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4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weeks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team.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Approaches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agile</a:t>
            </a:r>
            <a:r>
              <a:rPr dirty="0" spc="-4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488510"/>
            <a:ext cx="7378700" cy="3418204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Planning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Scrum</a:t>
            </a:r>
            <a:endParaRPr sz="24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Covered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Chapter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3</a:t>
            </a:r>
            <a:endParaRPr sz="2000">
              <a:latin typeface="Arial MT"/>
              <a:cs typeface="Arial MT"/>
            </a:endParaRPr>
          </a:p>
          <a:p>
            <a:pPr marL="355600" marR="137160" indent="-342900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Based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managing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backlog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(things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be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done)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daily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reviews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progress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problems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planning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game</a:t>
            </a:r>
            <a:endParaRPr sz="24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Developed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originally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part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Extreme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Programming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(XP)</a:t>
            </a:r>
            <a:endParaRPr sz="2000">
              <a:latin typeface="Arial MT"/>
              <a:cs typeface="Arial MT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Dependent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user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stories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measure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progress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>
                <a:solidFill>
                  <a:srgbClr val="000000"/>
                </a:solidFill>
              </a:rPr>
              <a:t>Story-</a:t>
            </a:r>
            <a:r>
              <a:rPr dirty="0">
                <a:solidFill>
                  <a:srgbClr val="000000"/>
                </a:solidFill>
              </a:rPr>
              <a:t>based</a:t>
            </a:r>
            <a:r>
              <a:rPr dirty="0" spc="-10">
                <a:solidFill>
                  <a:srgbClr val="000000"/>
                </a:solidFill>
              </a:rPr>
              <a:t> 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625854"/>
            <a:ext cx="8047990" cy="39897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planning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game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based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user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stories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reflect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features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included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system.</a:t>
            </a:r>
            <a:endParaRPr sz="2000">
              <a:latin typeface="Arial MT"/>
              <a:cs typeface="Arial MT"/>
            </a:endParaRPr>
          </a:p>
          <a:p>
            <a:pPr marL="355600" marR="35369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team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read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discuss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stories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rank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them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in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order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amount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time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think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will take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implement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story.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Stories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assigned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‘effort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points’</a:t>
            </a:r>
            <a:r>
              <a:rPr dirty="0" sz="20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reflecting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their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size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difficulty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implementation</a:t>
            </a:r>
            <a:endParaRPr sz="20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number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points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implemented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per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day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measured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giving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estimate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team’s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‘velocity’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allows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total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required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implement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estimated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20"/>
              <a:t> </a:t>
            </a:r>
            <a:r>
              <a:rPr dirty="0"/>
              <a:t>planning</a:t>
            </a:r>
            <a:r>
              <a:rPr dirty="0" spc="-30"/>
              <a:t> </a:t>
            </a:r>
            <a:r>
              <a:rPr dirty="0" spc="-20"/>
              <a:t>game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51754" y="2712578"/>
            <a:ext cx="8206105" cy="1029335"/>
            <a:chOff x="551754" y="2712578"/>
            <a:chExt cx="8206105" cy="10293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754" y="2988459"/>
              <a:ext cx="7995617" cy="75329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6178220" y="2717532"/>
              <a:ext cx="2574925" cy="593090"/>
            </a:xfrm>
            <a:custGeom>
              <a:avLst/>
              <a:gdLst/>
              <a:ahLst/>
              <a:cxnLst/>
              <a:rect l="l" t="t" r="r" b="b"/>
              <a:pathLst>
                <a:path w="2574925" h="593089">
                  <a:moveTo>
                    <a:pt x="2295343" y="593061"/>
                  </a:moveTo>
                  <a:lnTo>
                    <a:pt x="2574382" y="593061"/>
                  </a:lnTo>
                  <a:lnTo>
                    <a:pt x="2574382" y="0"/>
                  </a:lnTo>
                  <a:lnTo>
                    <a:pt x="0" y="0"/>
                  </a:lnTo>
                  <a:lnTo>
                    <a:pt x="0" y="204827"/>
                  </a:lnTo>
                </a:path>
              </a:pathLst>
            </a:custGeom>
            <a:ln w="99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2356" y="2844740"/>
              <a:ext cx="90196" cy="14699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47608" y="3092528"/>
              <a:ext cx="330032" cy="14041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85218" y="3358491"/>
              <a:ext cx="82070" cy="13711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86986" y="3312244"/>
              <a:ext cx="111615" cy="14206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1581" y="3358491"/>
              <a:ext cx="78787" cy="9416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23348" y="3358491"/>
              <a:ext cx="80538" cy="9416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7925115" y="3315542"/>
              <a:ext cx="23495" cy="137160"/>
            </a:xfrm>
            <a:custGeom>
              <a:avLst/>
              <a:gdLst/>
              <a:ahLst/>
              <a:cxnLst/>
              <a:rect l="l" t="t" r="r" b="b"/>
              <a:pathLst>
                <a:path w="23495" h="137160">
                  <a:moveTo>
                    <a:pt x="21447" y="44598"/>
                  </a:moveTo>
                  <a:lnTo>
                    <a:pt x="19696" y="44598"/>
                  </a:lnTo>
                  <a:lnTo>
                    <a:pt x="11599" y="46269"/>
                  </a:lnTo>
                  <a:lnTo>
                    <a:pt x="8316" y="46269"/>
                  </a:lnTo>
                  <a:lnTo>
                    <a:pt x="1750" y="47919"/>
                  </a:lnTo>
                  <a:lnTo>
                    <a:pt x="0" y="47919"/>
                  </a:lnTo>
                  <a:lnTo>
                    <a:pt x="1012" y="56144"/>
                  </a:lnTo>
                  <a:lnTo>
                    <a:pt x="1531" y="65459"/>
                  </a:lnTo>
                  <a:lnTo>
                    <a:pt x="1723" y="78804"/>
                  </a:lnTo>
                  <a:lnTo>
                    <a:pt x="1750" y="137115"/>
                  </a:lnTo>
                  <a:lnTo>
                    <a:pt x="9848" y="135466"/>
                  </a:lnTo>
                  <a:lnTo>
                    <a:pt x="21447" y="135466"/>
                  </a:lnTo>
                  <a:lnTo>
                    <a:pt x="21447" y="44598"/>
                  </a:lnTo>
                  <a:close/>
                </a:path>
                <a:path w="23495" h="137160">
                  <a:moveTo>
                    <a:pt x="21447" y="0"/>
                  </a:moveTo>
                  <a:lnTo>
                    <a:pt x="13131" y="1649"/>
                  </a:lnTo>
                  <a:lnTo>
                    <a:pt x="11599" y="1649"/>
                  </a:lnTo>
                  <a:lnTo>
                    <a:pt x="1750" y="3298"/>
                  </a:lnTo>
                  <a:lnTo>
                    <a:pt x="0" y="3298"/>
                  </a:lnTo>
                  <a:lnTo>
                    <a:pt x="1750" y="6619"/>
                  </a:lnTo>
                  <a:lnTo>
                    <a:pt x="1750" y="21485"/>
                  </a:lnTo>
                  <a:lnTo>
                    <a:pt x="9848" y="19836"/>
                  </a:lnTo>
                  <a:lnTo>
                    <a:pt x="21447" y="19836"/>
                  </a:lnTo>
                  <a:lnTo>
                    <a:pt x="22979" y="18164"/>
                  </a:lnTo>
                  <a:lnTo>
                    <a:pt x="21447" y="9918"/>
                  </a:lnTo>
                  <a:lnTo>
                    <a:pt x="21447" y="8268"/>
                  </a:lnTo>
                  <a:lnTo>
                    <a:pt x="22979" y="1649"/>
                  </a:lnTo>
                  <a:lnTo>
                    <a:pt x="214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69543" y="3358491"/>
              <a:ext cx="178803" cy="13711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940" y="643254"/>
            <a:ext cx="8001000" cy="4605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Release</a:t>
            </a:r>
            <a:r>
              <a:rPr dirty="0" sz="2400" spc="-5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and</a:t>
            </a:r>
            <a:r>
              <a:rPr dirty="0" sz="2400" spc="-7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iteration</a:t>
            </a:r>
            <a:r>
              <a:rPr dirty="0" sz="2400" spc="-7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46424D"/>
                </a:solidFill>
                <a:latin typeface="Arial"/>
                <a:cs typeface="Arial"/>
              </a:rPr>
              <a:t>planning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2400">
              <a:latin typeface="Arial"/>
              <a:cs typeface="Arial"/>
            </a:endParaRPr>
          </a:p>
          <a:p>
            <a:pPr marL="355600" marR="99060" indent="-342900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Release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planning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involves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selecting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refining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stories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will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reflect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features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implemented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in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release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order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stories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implemented.</a:t>
            </a:r>
            <a:endParaRPr sz="2400">
              <a:latin typeface="Arial MT"/>
              <a:cs typeface="Arial MT"/>
            </a:endParaRPr>
          </a:p>
          <a:p>
            <a:pPr marL="355600" marR="16510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Stories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implemented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each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iteration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chosen,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number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stories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reflecting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time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deliver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iteration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(usually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2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3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weeks).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team’s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velocity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guide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choice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stories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delivered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within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iteration.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Task</a:t>
            </a:r>
            <a:r>
              <a:rPr dirty="0" spc="-135"/>
              <a:t> </a:t>
            </a:r>
            <a:r>
              <a:rPr dirty="0" spc="-10"/>
              <a:t>allocation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5600" marR="555625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/>
              <a:t>During</a:t>
            </a:r>
            <a:r>
              <a:rPr dirty="0" sz="2400" spc="-40"/>
              <a:t> </a:t>
            </a:r>
            <a:r>
              <a:rPr dirty="0" sz="2400"/>
              <a:t>the</a:t>
            </a:r>
            <a:r>
              <a:rPr dirty="0" sz="2400" spc="-65"/>
              <a:t> </a:t>
            </a:r>
            <a:r>
              <a:rPr dirty="0" sz="2400"/>
              <a:t>task</a:t>
            </a:r>
            <a:r>
              <a:rPr dirty="0" sz="2400" spc="-85"/>
              <a:t> </a:t>
            </a:r>
            <a:r>
              <a:rPr dirty="0" sz="2400"/>
              <a:t>planning</a:t>
            </a:r>
            <a:r>
              <a:rPr dirty="0" sz="2400" spc="-20"/>
              <a:t> </a:t>
            </a:r>
            <a:r>
              <a:rPr dirty="0" sz="2400"/>
              <a:t>stage,</a:t>
            </a:r>
            <a:r>
              <a:rPr dirty="0" sz="2400" spc="-65"/>
              <a:t> </a:t>
            </a:r>
            <a:r>
              <a:rPr dirty="0" sz="2400"/>
              <a:t>the</a:t>
            </a:r>
            <a:r>
              <a:rPr dirty="0" sz="2400" spc="-70"/>
              <a:t> </a:t>
            </a:r>
            <a:r>
              <a:rPr dirty="0" sz="2400"/>
              <a:t>developers</a:t>
            </a:r>
            <a:r>
              <a:rPr dirty="0" sz="2400" spc="-45"/>
              <a:t> </a:t>
            </a:r>
            <a:r>
              <a:rPr dirty="0" sz="2400" spc="-10"/>
              <a:t>break </a:t>
            </a:r>
            <a:r>
              <a:rPr dirty="0" sz="2400"/>
              <a:t>down</a:t>
            </a:r>
            <a:r>
              <a:rPr dirty="0" sz="2400" spc="-75"/>
              <a:t> </a:t>
            </a:r>
            <a:r>
              <a:rPr dirty="0" sz="2400"/>
              <a:t>stories</a:t>
            </a:r>
            <a:r>
              <a:rPr dirty="0" sz="2400" spc="-70"/>
              <a:t> </a:t>
            </a:r>
            <a:r>
              <a:rPr dirty="0" sz="2400"/>
              <a:t>into</a:t>
            </a:r>
            <a:r>
              <a:rPr dirty="0" sz="2400" spc="-80"/>
              <a:t> </a:t>
            </a:r>
            <a:r>
              <a:rPr dirty="0" sz="2400"/>
              <a:t>development</a:t>
            </a:r>
            <a:r>
              <a:rPr dirty="0" sz="2400" spc="-55"/>
              <a:t> </a:t>
            </a:r>
            <a:r>
              <a:rPr dirty="0" sz="2400" spc="-10"/>
              <a:t>tasks.</a:t>
            </a:r>
            <a:endParaRPr sz="2400"/>
          </a:p>
          <a:p>
            <a:pPr lvl="1" marL="756285" indent="-286385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1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task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take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4–16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hours.</a:t>
            </a:r>
            <a:endParaRPr sz="2000">
              <a:latin typeface="Arial MT"/>
              <a:cs typeface="Arial MT"/>
            </a:endParaRPr>
          </a:p>
          <a:p>
            <a:pPr lvl="1" marL="756285" marR="386715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All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tasks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must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completed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implement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all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stories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iteration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listed.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individual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developers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then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sign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up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specific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tasks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dirty="0"/>
              <a:t>they</a:t>
            </a:r>
            <a:r>
              <a:rPr dirty="0" spc="-50"/>
              <a:t> </a:t>
            </a:r>
            <a:r>
              <a:rPr dirty="0"/>
              <a:t>will </a:t>
            </a:r>
            <a:r>
              <a:rPr dirty="0" spc="-10"/>
              <a:t>implement.</a:t>
            </a:r>
          </a:p>
          <a:p>
            <a:pPr marL="354965" indent="-342265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/>
              <a:t>Benefits</a:t>
            </a:r>
            <a:r>
              <a:rPr dirty="0" sz="2400" spc="-35"/>
              <a:t> </a:t>
            </a:r>
            <a:r>
              <a:rPr dirty="0" sz="2400"/>
              <a:t>of</a:t>
            </a:r>
            <a:r>
              <a:rPr dirty="0" sz="2400" spc="-30"/>
              <a:t> </a:t>
            </a:r>
            <a:r>
              <a:rPr dirty="0" sz="2400"/>
              <a:t>this</a:t>
            </a:r>
            <a:r>
              <a:rPr dirty="0" sz="2400" spc="-30"/>
              <a:t> </a:t>
            </a:r>
            <a:r>
              <a:rPr dirty="0" sz="2400" spc="-10"/>
              <a:t>approach:</a:t>
            </a:r>
            <a:endParaRPr sz="2400"/>
          </a:p>
          <a:p>
            <a:pPr lvl="1" marL="756285" indent="-286385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whole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team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gets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overview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tasks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completed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</a:pPr>
            <a:r>
              <a:rPr dirty="0"/>
              <a:t>an</a:t>
            </a:r>
            <a:r>
              <a:rPr dirty="0" spc="-20"/>
              <a:t> </a:t>
            </a:r>
            <a:r>
              <a:rPr dirty="0" spc="-10"/>
              <a:t>iteration.</a:t>
            </a:r>
          </a:p>
          <a:p>
            <a:pPr lvl="1" marL="756285" marR="86360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Developers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sense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ownership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tasks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is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likely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motivate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them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complete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task.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940" y="643254"/>
            <a:ext cx="7892415" cy="3508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Software</a:t>
            </a:r>
            <a:r>
              <a:rPr dirty="0" sz="2400" spc="-6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46424D"/>
                </a:solidFill>
                <a:latin typeface="Arial"/>
                <a:cs typeface="Arial"/>
              </a:rPr>
              <a:t>delivery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2400">
              <a:latin typeface="Arial"/>
              <a:cs typeface="Arial"/>
            </a:endParaRPr>
          </a:p>
          <a:p>
            <a:pPr marL="355600" marR="256540" indent="-342900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1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increment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always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delivered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end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of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each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iteration.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If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features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included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increment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cannot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be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completed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time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allowed,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scope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is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reduced.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delivery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schedule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never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extended.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Agile</a:t>
            </a:r>
            <a:r>
              <a:rPr dirty="0" spc="-40"/>
              <a:t> </a:t>
            </a:r>
            <a:r>
              <a:rPr dirty="0"/>
              <a:t>planning</a:t>
            </a:r>
            <a:r>
              <a:rPr dirty="0" spc="-65"/>
              <a:t> </a:t>
            </a:r>
            <a:r>
              <a:rPr dirty="0" spc="-10"/>
              <a:t>difficulties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625853"/>
            <a:ext cx="8054340" cy="3256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482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Agile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planning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reliant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customer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involvement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availability.</a:t>
            </a:r>
            <a:endParaRPr sz="2400">
              <a:latin typeface="Arial MT"/>
              <a:cs typeface="Arial MT"/>
            </a:endParaRPr>
          </a:p>
          <a:p>
            <a:pPr marL="355600" marR="205104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difficult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arrange,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customer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representatives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sometimes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prioritize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other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work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available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planning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game.</a:t>
            </a:r>
            <a:endParaRPr sz="2400">
              <a:latin typeface="Arial MT"/>
              <a:cs typeface="Arial MT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Furthermore,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some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customers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more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familiar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with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traditional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find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difficult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engage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agile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planning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process.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62230">
              <a:lnSpc>
                <a:spcPct val="100000"/>
              </a:lnSpc>
              <a:spcBef>
                <a:spcPts val="100"/>
              </a:spcBef>
            </a:pPr>
            <a:r>
              <a:rPr dirty="0"/>
              <a:t>Agile</a:t>
            </a:r>
            <a:r>
              <a:rPr dirty="0" spc="-40"/>
              <a:t> </a:t>
            </a:r>
            <a:r>
              <a:rPr dirty="0"/>
              <a:t>planning</a:t>
            </a:r>
            <a:r>
              <a:rPr dirty="0" spc="-65"/>
              <a:t> </a:t>
            </a:r>
            <a:r>
              <a:rPr dirty="0" spc="-10"/>
              <a:t>applicability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625853"/>
            <a:ext cx="8039734" cy="3104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Agile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planning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well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small,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stable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development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teams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get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together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discuss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stories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be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implemented.</a:t>
            </a:r>
            <a:endParaRPr sz="2400">
              <a:latin typeface="Arial MT"/>
              <a:cs typeface="Arial MT"/>
            </a:endParaRPr>
          </a:p>
          <a:p>
            <a:pPr marL="355600" marR="4445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However,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teams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large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and/or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geographically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distributed,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when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team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membership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changes frequently,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practically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impossible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everyone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be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involved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collaborative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planning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essential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for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agile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management.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4461" y="2819146"/>
            <a:ext cx="32740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Estimation</a:t>
            </a:r>
            <a:r>
              <a:rPr dirty="0" spc="-110"/>
              <a:t> </a:t>
            </a:r>
            <a:r>
              <a:rPr dirty="0" spc="-10"/>
              <a:t>techniques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Estimation</a:t>
            </a:r>
            <a:r>
              <a:rPr dirty="0" spc="-110"/>
              <a:t> </a:t>
            </a:r>
            <a:r>
              <a:rPr dirty="0" spc="-10"/>
              <a:t>techniques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625853"/>
            <a:ext cx="8052434" cy="4058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177165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Organizations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need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make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cost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estimates.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two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types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technique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be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do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this:</a:t>
            </a:r>
            <a:endParaRPr sz="2400">
              <a:latin typeface="Arial MT"/>
              <a:cs typeface="Arial MT"/>
            </a:endParaRPr>
          </a:p>
          <a:p>
            <a:pPr lvl="1" marL="756285" marR="76200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 i="1">
                <a:solidFill>
                  <a:srgbClr val="46424D"/>
                </a:solidFill>
                <a:latin typeface="Arial"/>
                <a:cs typeface="Arial"/>
              </a:rPr>
              <a:t>Experience-based</a:t>
            </a:r>
            <a:r>
              <a:rPr dirty="0" sz="2000" spc="-70" i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46424D"/>
                </a:solidFill>
                <a:latin typeface="Arial"/>
                <a:cs typeface="Arial"/>
              </a:rPr>
              <a:t>techniques</a:t>
            </a:r>
            <a:r>
              <a:rPr dirty="0" sz="2000" spc="-70" i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estimate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future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effort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based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manager’s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experience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past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projects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application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domain.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Essentially,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manager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makes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informed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judgment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what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dirty="0" sz="20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are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likely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be.</a:t>
            </a:r>
            <a:endParaRPr sz="2000">
              <a:latin typeface="Arial MT"/>
              <a:cs typeface="Arial MT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6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 i="1">
                <a:solidFill>
                  <a:srgbClr val="46424D"/>
                </a:solidFill>
                <a:latin typeface="Arial"/>
                <a:cs typeface="Arial"/>
              </a:rPr>
              <a:t>Algorithmic</a:t>
            </a:r>
            <a:r>
              <a:rPr dirty="0" sz="2000" spc="-10" i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46424D"/>
                </a:solidFill>
                <a:latin typeface="Arial"/>
                <a:cs typeface="Arial"/>
              </a:rPr>
              <a:t>cost</a:t>
            </a:r>
            <a:r>
              <a:rPr dirty="0" sz="2000" spc="-40" i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46424D"/>
                </a:solidFill>
                <a:latin typeface="Arial"/>
                <a:cs typeface="Arial"/>
              </a:rPr>
              <a:t>modeling</a:t>
            </a:r>
            <a:r>
              <a:rPr dirty="0" sz="2000" spc="-5" i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approach,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formulaic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approach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compute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based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estimates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of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attributes,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such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size,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characteristics,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such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experience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staff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involved.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Estimate</a:t>
            </a:r>
            <a:r>
              <a:rPr dirty="0" spc="-114"/>
              <a:t> </a:t>
            </a:r>
            <a:r>
              <a:rPr dirty="0" spc="-10"/>
              <a:t>uncertainty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237419" y="1587680"/>
            <a:ext cx="7420609" cy="4551680"/>
            <a:chOff x="1237419" y="1587680"/>
            <a:chExt cx="7420609" cy="4551680"/>
          </a:xfrm>
        </p:grpSpPr>
        <p:sp>
          <p:nvSpPr>
            <p:cNvPr id="4" name="object 4" descr=""/>
            <p:cNvSpPr/>
            <p:nvPr/>
          </p:nvSpPr>
          <p:spPr>
            <a:xfrm>
              <a:off x="1245766" y="1600200"/>
              <a:ext cx="7095490" cy="4526280"/>
            </a:xfrm>
            <a:custGeom>
              <a:avLst/>
              <a:gdLst/>
              <a:ahLst/>
              <a:cxnLst/>
              <a:rect l="l" t="t" r="r" b="b"/>
              <a:pathLst>
                <a:path w="7095490" h="4526280">
                  <a:moveTo>
                    <a:pt x="0" y="0"/>
                  </a:moveTo>
                  <a:lnTo>
                    <a:pt x="0" y="4526279"/>
                  </a:lnTo>
                </a:path>
                <a:path w="7095490" h="4526280">
                  <a:moveTo>
                    <a:pt x="0" y="2241666"/>
                  </a:moveTo>
                  <a:lnTo>
                    <a:pt x="7095152" y="2241666"/>
                  </a:lnTo>
                </a:path>
              </a:pathLst>
            </a:custGeom>
            <a:ln w="166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9658" y="1587680"/>
              <a:ext cx="7318312" cy="4551319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059" y="3804295"/>
            <a:ext cx="123093" cy="11685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9766" y="2596052"/>
            <a:ext cx="244073" cy="152396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628265" y="4941485"/>
            <a:ext cx="408940" cy="154940"/>
            <a:chOff x="628265" y="4941485"/>
            <a:chExt cx="408940" cy="15494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8265" y="4941485"/>
              <a:ext cx="112667" cy="154426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761791" y="506668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4">
                  <a:moveTo>
                    <a:pt x="27116" y="0"/>
                  </a:moveTo>
                  <a:lnTo>
                    <a:pt x="2085" y="0"/>
                  </a:lnTo>
                  <a:lnTo>
                    <a:pt x="0" y="2085"/>
                  </a:lnTo>
                  <a:lnTo>
                    <a:pt x="0" y="25056"/>
                  </a:lnTo>
                  <a:lnTo>
                    <a:pt x="2085" y="27142"/>
                  </a:lnTo>
                  <a:lnTo>
                    <a:pt x="27116" y="27142"/>
                  </a:lnTo>
                  <a:lnTo>
                    <a:pt x="271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6023" y="4943571"/>
              <a:ext cx="221129" cy="152340"/>
            </a:xfrm>
            <a:prstGeom prst="rect">
              <a:avLst/>
            </a:prstGeom>
          </p:spPr>
        </p:pic>
      </p:grpSp>
      <p:sp>
        <p:nvSpPr>
          <p:cNvPr id="12" name="object 12" descr=""/>
          <p:cNvSpPr/>
          <p:nvPr/>
        </p:nvSpPr>
        <p:spPr>
          <a:xfrm>
            <a:off x="526630" y="6114159"/>
            <a:ext cx="64769" cy="12700"/>
          </a:xfrm>
          <a:custGeom>
            <a:avLst/>
            <a:gdLst/>
            <a:ahLst/>
            <a:cxnLst/>
            <a:rect l="l" t="t" r="r" b="b"/>
            <a:pathLst>
              <a:path w="64770" h="12700">
                <a:moveTo>
                  <a:pt x="41137" y="0"/>
                </a:moveTo>
                <a:lnTo>
                  <a:pt x="34879" y="0"/>
                </a:lnTo>
                <a:lnTo>
                  <a:pt x="20602" y="1662"/>
                </a:lnTo>
                <a:lnTo>
                  <a:pt x="6716" y="7042"/>
                </a:lnTo>
                <a:lnTo>
                  <a:pt x="0" y="12320"/>
                </a:lnTo>
                <a:lnTo>
                  <a:pt x="64746" y="12320"/>
                </a:lnTo>
                <a:lnTo>
                  <a:pt x="51569" y="4172"/>
                </a:lnTo>
                <a:lnTo>
                  <a:pt x="47394" y="2086"/>
                </a:lnTo>
                <a:lnTo>
                  <a:pt x="411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95223" y="6114159"/>
            <a:ext cx="74930" cy="12700"/>
          </a:xfrm>
          <a:custGeom>
            <a:avLst/>
            <a:gdLst/>
            <a:ahLst/>
            <a:cxnLst/>
            <a:rect l="l" t="t" r="r" b="b"/>
            <a:pathLst>
              <a:path w="74929" h="12700">
                <a:moveTo>
                  <a:pt x="39437" y="0"/>
                </a:moveTo>
                <a:lnTo>
                  <a:pt x="33180" y="0"/>
                </a:lnTo>
                <a:lnTo>
                  <a:pt x="24834" y="2086"/>
                </a:lnTo>
                <a:lnTo>
                  <a:pt x="18576" y="4172"/>
                </a:lnTo>
                <a:lnTo>
                  <a:pt x="6058" y="6259"/>
                </a:lnTo>
                <a:lnTo>
                  <a:pt x="0" y="12320"/>
                </a:lnTo>
                <a:lnTo>
                  <a:pt x="74851" y="12320"/>
                </a:lnTo>
                <a:lnTo>
                  <a:pt x="61673" y="3944"/>
                </a:lnTo>
                <a:lnTo>
                  <a:pt x="39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823845" y="6116246"/>
            <a:ext cx="81915" cy="10795"/>
          </a:xfrm>
          <a:custGeom>
            <a:avLst/>
            <a:gdLst/>
            <a:ahLst/>
            <a:cxnLst/>
            <a:rect l="l" t="t" r="r" b="b"/>
            <a:pathLst>
              <a:path w="81915" h="10795">
                <a:moveTo>
                  <a:pt x="79784" y="0"/>
                </a:moveTo>
                <a:lnTo>
                  <a:pt x="521" y="0"/>
                </a:lnTo>
                <a:lnTo>
                  <a:pt x="521" y="2086"/>
                </a:lnTo>
                <a:lnTo>
                  <a:pt x="0" y="10233"/>
                </a:lnTo>
                <a:lnTo>
                  <a:pt x="79784" y="10233"/>
                </a:lnTo>
                <a:lnTo>
                  <a:pt x="79784" y="8346"/>
                </a:lnTo>
                <a:lnTo>
                  <a:pt x="81870" y="2086"/>
                </a:lnTo>
                <a:lnTo>
                  <a:pt x="797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940" y="643254"/>
            <a:ext cx="8071484" cy="5489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46424D"/>
                </a:solidFill>
                <a:latin typeface="Arial"/>
                <a:cs typeface="Arial"/>
              </a:rPr>
              <a:t>Experience-</a:t>
            </a: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based</a:t>
            </a:r>
            <a:r>
              <a:rPr dirty="0" sz="2400" spc="4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46424D"/>
                </a:solidFill>
                <a:latin typeface="Arial"/>
                <a:cs typeface="Arial"/>
              </a:rPr>
              <a:t>approaches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Experience-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based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techniques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rely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judgments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based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experience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past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expended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in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activities.</a:t>
            </a:r>
            <a:endParaRPr sz="2400">
              <a:latin typeface="Arial MT"/>
              <a:cs typeface="Arial MT"/>
            </a:endParaRPr>
          </a:p>
          <a:p>
            <a:pPr marL="355600" marR="170815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Typically,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identify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deliverables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produced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in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different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components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or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systems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developed.</a:t>
            </a:r>
            <a:endParaRPr sz="2400">
              <a:latin typeface="Arial MT"/>
              <a:cs typeface="Arial MT"/>
            </a:endParaRPr>
          </a:p>
          <a:p>
            <a:pPr marL="355600" marR="50419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document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spreadsheet,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them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individually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compute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total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required.</a:t>
            </a:r>
            <a:endParaRPr sz="2400">
              <a:latin typeface="Arial MT"/>
              <a:cs typeface="Arial MT"/>
            </a:endParaRPr>
          </a:p>
          <a:p>
            <a:pPr marL="355600" marR="4191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usually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helps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get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group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people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involved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estimation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ask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each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member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group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explain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their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estimate.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940" y="643254"/>
            <a:ext cx="7923530" cy="4971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Problem</a:t>
            </a:r>
            <a:r>
              <a:rPr dirty="0" sz="2400" spc="-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with</a:t>
            </a:r>
            <a:r>
              <a:rPr dirty="0" sz="2400" spc="-5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46424D"/>
                </a:solidFill>
                <a:latin typeface="Arial"/>
                <a:cs typeface="Arial"/>
              </a:rPr>
              <a:t>experience-</a:t>
            </a: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based</a:t>
            </a:r>
            <a:r>
              <a:rPr dirty="0" sz="2400" spc="2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46424D"/>
                </a:solidFill>
                <a:latin typeface="Arial"/>
                <a:cs typeface="Arial"/>
              </a:rPr>
              <a:t>approaches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difficulty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experience-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based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techniques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a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much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common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previous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projects.</a:t>
            </a:r>
            <a:endParaRPr sz="2400">
              <a:latin typeface="Arial MT"/>
              <a:cs typeface="Arial MT"/>
            </a:endParaRPr>
          </a:p>
          <a:p>
            <a:pPr marL="355600" marR="3429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changes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very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quickly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a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will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often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use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unfamiliar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techniques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such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web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services,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application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configuration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HTML5.</a:t>
            </a:r>
            <a:endParaRPr sz="2400">
              <a:latin typeface="Arial MT"/>
              <a:cs typeface="Arial MT"/>
            </a:endParaRPr>
          </a:p>
          <a:p>
            <a:pPr marL="355600" marR="32639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If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worked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techniques,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your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previous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experience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help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you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required,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making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more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difficult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produce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accurate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costs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schedule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estimates.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Algorithmic</a:t>
            </a:r>
            <a:r>
              <a:rPr dirty="0" spc="-65"/>
              <a:t> </a:t>
            </a:r>
            <a:r>
              <a:rPr dirty="0"/>
              <a:t>cost</a:t>
            </a:r>
            <a:r>
              <a:rPr dirty="0" spc="-40"/>
              <a:t> </a:t>
            </a:r>
            <a:r>
              <a:rPr dirty="0" spc="-10"/>
              <a:t>modelling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09930" y="1588389"/>
            <a:ext cx="8163559" cy="407416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81000" marR="1375410" indent="-342900">
              <a:lnSpc>
                <a:spcPts val="2590"/>
              </a:lnSpc>
              <a:spcBef>
                <a:spcPts val="425"/>
              </a:spcBef>
              <a:buFont typeface="Wingdings"/>
              <a:buChar char=""/>
              <a:tabLst>
                <a:tab pos="3810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Cost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estimated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mathematical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function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of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product,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whose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values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estimated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managers:</a:t>
            </a:r>
            <a:endParaRPr sz="2400">
              <a:latin typeface="Arial MT"/>
              <a:cs typeface="Arial MT"/>
            </a:endParaRPr>
          </a:p>
          <a:p>
            <a:pPr lvl="1" marL="781685" indent="-286385">
              <a:lnSpc>
                <a:spcPct val="100000"/>
              </a:lnSpc>
              <a:spcBef>
                <a:spcPts val="955"/>
              </a:spcBef>
              <a:buFont typeface="Wingdings"/>
              <a:buChar char=""/>
              <a:tabLst>
                <a:tab pos="7816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=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4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MS PGothic"/>
                <a:cs typeface="MS PGothic"/>
              </a:rPr>
              <a:t>´</a:t>
            </a:r>
            <a:r>
              <a:rPr dirty="0" sz="2000" spc="-70">
                <a:solidFill>
                  <a:srgbClr val="46424D"/>
                </a:solidFill>
                <a:latin typeface="MS PGothic"/>
                <a:cs typeface="MS PGothic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Size</a:t>
            </a:r>
            <a:r>
              <a:rPr dirty="0" baseline="25641" sz="1950">
                <a:solidFill>
                  <a:srgbClr val="46424D"/>
                </a:solidFill>
                <a:latin typeface="Arial MT"/>
                <a:cs typeface="Arial MT"/>
              </a:rPr>
              <a:t>B</a:t>
            </a:r>
            <a:r>
              <a:rPr dirty="0" baseline="25641" sz="1950" spc="577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MS PGothic"/>
                <a:cs typeface="MS PGothic"/>
              </a:rPr>
              <a:t>´</a:t>
            </a:r>
            <a:r>
              <a:rPr dirty="0" sz="2000" spc="-70">
                <a:solidFill>
                  <a:srgbClr val="46424D"/>
                </a:solidFill>
                <a:latin typeface="MS PGothic"/>
                <a:cs typeface="MS PGothic"/>
              </a:rPr>
              <a:t> 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M</a:t>
            </a:r>
            <a:endParaRPr sz="2000">
              <a:latin typeface="Arial MT"/>
              <a:cs typeface="Arial MT"/>
            </a:endParaRPr>
          </a:p>
          <a:p>
            <a:pPr algn="just" lvl="1" marL="780415" marR="68580" indent="-285750">
              <a:lnSpc>
                <a:spcPts val="2160"/>
              </a:lnSpc>
              <a:spcBef>
                <a:spcPts val="1210"/>
              </a:spcBef>
              <a:buFont typeface="Wingdings"/>
              <a:buChar char=""/>
              <a:tabLst>
                <a:tab pos="7816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300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360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000" spc="360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organisation-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dependent</a:t>
            </a:r>
            <a:r>
              <a:rPr dirty="0" sz="2000" spc="35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constant,</a:t>
            </a:r>
            <a:r>
              <a:rPr dirty="0" sz="2000" spc="35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</a:t>
            </a:r>
            <a:r>
              <a:rPr dirty="0" sz="2000" spc="35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reflects</a:t>
            </a:r>
            <a:r>
              <a:rPr dirty="0" sz="2000" spc="365">
                <a:solidFill>
                  <a:srgbClr val="46424D"/>
                </a:solidFill>
                <a:latin typeface="Arial MT"/>
                <a:cs typeface="Arial MT"/>
              </a:rPr>
              <a:t> 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disproportionate</a:t>
            </a:r>
            <a:r>
              <a:rPr dirty="0" sz="2000" spc="4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000" spc="4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43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large</a:t>
            </a:r>
            <a:r>
              <a:rPr dirty="0" sz="2000" spc="4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projects</a:t>
            </a:r>
            <a:r>
              <a:rPr dirty="0" sz="2000" spc="4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43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</a:t>
            </a:r>
            <a:r>
              <a:rPr dirty="0" sz="2000" spc="43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4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4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multiplier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reflecting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product,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people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attributes.</a:t>
            </a:r>
            <a:endParaRPr sz="2000">
              <a:latin typeface="Arial MT"/>
              <a:cs typeface="Arial MT"/>
            </a:endParaRPr>
          </a:p>
          <a:p>
            <a:pPr marL="381000" marR="902335" indent="-342900">
              <a:lnSpc>
                <a:spcPts val="2590"/>
              </a:lnSpc>
              <a:spcBef>
                <a:spcPts val="1205"/>
              </a:spcBef>
              <a:buFont typeface="Wingdings"/>
              <a:buChar char=""/>
              <a:tabLst>
                <a:tab pos="3810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most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commonly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attribute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cost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estimation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size.</a:t>
            </a:r>
            <a:endParaRPr sz="2400">
              <a:latin typeface="Arial MT"/>
              <a:cs typeface="Arial MT"/>
            </a:endParaRPr>
          </a:p>
          <a:p>
            <a:pPr marL="381000" marR="207645" indent="-342900">
              <a:lnSpc>
                <a:spcPts val="2590"/>
              </a:lnSpc>
              <a:spcBef>
                <a:spcPts val="1205"/>
              </a:spcBef>
              <a:buFont typeface="Wingdings"/>
              <a:buChar char=""/>
              <a:tabLst>
                <a:tab pos="3810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Most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models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similar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but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use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different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values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for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A,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M.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Estimation</a:t>
            </a:r>
            <a:r>
              <a:rPr dirty="0" spc="-110"/>
              <a:t> </a:t>
            </a:r>
            <a:r>
              <a:rPr dirty="0" spc="-10"/>
              <a:t>accuracy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589278"/>
            <a:ext cx="7884159" cy="420560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55600" marR="869950" indent="-342900">
              <a:lnSpc>
                <a:spcPts val="2590"/>
              </a:lnSpc>
              <a:spcBef>
                <a:spcPts val="42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size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only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known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accurately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when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finished.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88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Several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factors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influence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final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size</a:t>
            </a:r>
            <a:endParaRPr sz="24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6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Use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reused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systems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components;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36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Programming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language;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36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Distribution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system.</a:t>
            </a:r>
            <a:endParaRPr sz="2000">
              <a:latin typeface="Arial MT"/>
              <a:cs typeface="Arial MT"/>
            </a:endParaRPr>
          </a:p>
          <a:p>
            <a:pPr marL="355600" marR="255270" indent="-342900">
              <a:lnSpc>
                <a:spcPts val="2590"/>
              </a:lnSpc>
              <a:spcBef>
                <a:spcPts val="93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progresses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then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size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becomes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more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accurate.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90000"/>
              </a:lnSpc>
              <a:spcBef>
                <a:spcPts val="116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estimates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factors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contributing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are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subjective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vary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according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judgment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estimator.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940" y="643254"/>
            <a:ext cx="8011159" cy="4605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Effectiveness</a:t>
            </a:r>
            <a:r>
              <a:rPr dirty="0" sz="2400" spc="-6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of</a:t>
            </a:r>
            <a:r>
              <a:rPr dirty="0" sz="2400" spc="-6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algorithmic</a:t>
            </a:r>
            <a:r>
              <a:rPr dirty="0" sz="2400" spc="-90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46424D"/>
                </a:solidFill>
                <a:latin typeface="Arial"/>
                <a:cs typeface="Arial"/>
              </a:rPr>
              <a:t>models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2400">
              <a:latin typeface="Arial"/>
              <a:cs typeface="Arial"/>
            </a:endParaRPr>
          </a:p>
          <a:p>
            <a:pPr marL="355600" marR="97155" indent="-342900">
              <a:lnSpc>
                <a:spcPct val="100000"/>
              </a:lnSpc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Algorithmic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cost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models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systematic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way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system. However,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models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complex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difficult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use.</a:t>
            </a:r>
            <a:endParaRPr sz="2400">
              <a:latin typeface="Arial MT"/>
              <a:cs typeface="Arial MT"/>
            </a:endParaRPr>
          </a:p>
          <a:p>
            <a:pPr marL="355600" marR="40894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many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considerable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scope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for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uncertainty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estimating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their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values.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complexity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means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practical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application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of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algorithmic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cost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modeling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limited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relatively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small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number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large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companies,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mostly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working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in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defense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aerospace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systems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engineering.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1680" y="2696083"/>
            <a:ext cx="35852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COCOMO</a:t>
            </a:r>
            <a:r>
              <a:rPr dirty="0" spc="-45"/>
              <a:t> </a:t>
            </a:r>
            <a:r>
              <a:rPr dirty="0"/>
              <a:t>cost</a:t>
            </a:r>
            <a:r>
              <a:rPr dirty="0" spc="-25"/>
              <a:t> </a:t>
            </a:r>
            <a:r>
              <a:rPr dirty="0" spc="-10"/>
              <a:t>modeling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COCOMO</a:t>
            </a:r>
            <a:r>
              <a:rPr dirty="0" spc="-50"/>
              <a:t> </a:t>
            </a:r>
            <a:r>
              <a:rPr dirty="0"/>
              <a:t>cost</a:t>
            </a:r>
            <a:r>
              <a:rPr dirty="0" spc="-30"/>
              <a:t> </a:t>
            </a:r>
            <a:r>
              <a:rPr dirty="0" spc="-10"/>
              <a:t>modeling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330" y="1472565"/>
            <a:ext cx="7880984" cy="356171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empirical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model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based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experience.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Well-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documented,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‘independent’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model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tied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specific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vendor.</a:t>
            </a:r>
            <a:endParaRPr sz="2400">
              <a:latin typeface="Arial MT"/>
              <a:cs typeface="Arial MT"/>
            </a:endParaRPr>
          </a:p>
          <a:p>
            <a:pPr marL="355600" marR="823594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Long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history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from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initial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version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published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1981 (COCOMO-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81)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through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various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instantiations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COCOMO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2.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COCOMO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2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takes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into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account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different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approaches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to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development,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reuse,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etc.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COCOMO</a:t>
            </a:r>
            <a:r>
              <a:rPr dirty="0" spc="-25"/>
              <a:t> </a:t>
            </a:r>
            <a:r>
              <a:rPr dirty="0"/>
              <a:t>2</a:t>
            </a:r>
            <a:r>
              <a:rPr dirty="0" spc="-5"/>
              <a:t> </a:t>
            </a:r>
            <a:r>
              <a:rPr dirty="0" spc="-10"/>
              <a:t>models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589278"/>
            <a:ext cx="7973695" cy="401574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55600" marR="473709" indent="-342900">
              <a:lnSpc>
                <a:spcPts val="2590"/>
              </a:lnSpc>
              <a:spcBef>
                <a:spcPts val="42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COCOMO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2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incorporates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range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sub-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models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that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produce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increasingly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detailed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estimates.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88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sub-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models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COCOMO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2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are:</a:t>
            </a:r>
            <a:endParaRPr sz="2400">
              <a:latin typeface="Arial MT"/>
              <a:cs typeface="Arial MT"/>
            </a:endParaRPr>
          </a:p>
          <a:p>
            <a:pPr lvl="1" marL="756285" marR="1083945" indent="-287020">
              <a:lnSpc>
                <a:spcPts val="2160"/>
              </a:lnSpc>
              <a:spcBef>
                <a:spcPts val="93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F81BC"/>
                </a:solidFill>
                <a:latin typeface="Arial MT"/>
                <a:cs typeface="Arial MT"/>
              </a:rPr>
              <a:t>Application</a:t>
            </a:r>
            <a:r>
              <a:rPr dirty="0" sz="2000" spc="-50">
                <a:solidFill>
                  <a:srgbClr val="4F81B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F81BC"/>
                </a:solidFill>
                <a:latin typeface="Arial MT"/>
                <a:cs typeface="Arial MT"/>
              </a:rPr>
              <a:t>composition</a:t>
            </a:r>
            <a:r>
              <a:rPr dirty="0" sz="2000" spc="-55">
                <a:solidFill>
                  <a:srgbClr val="4F81B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F81BC"/>
                </a:solidFill>
                <a:latin typeface="Arial MT"/>
                <a:cs typeface="Arial MT"/>
              </a:rPr>
              <a:t>model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.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when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0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is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composed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from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existing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parts.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ts val="2280"/>
              </a:lnSpc>
              <a:spcBef>
                <a:spcPts val="33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F81BC"/>
                </a:solidFill>
                <a:latin typeface="Arial MT"/>
                <a:cs typeface="Arial MT"/>
              </a:rPr>
              <a:t>Early</a:t>
            </a:r>
            <a:r>
              <a:rPr dirty="0" sz="2000" spc="-30">
                <a:solidFill>
                  <a:srgbClr val="4F81B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F81BC"/>
                </a:solidFill>
                <a:latin typeface="Arial MT"/>
                <a:cs typeface="Arial MT"/>
              </a:rPr>
              <a:t>design</a:t>
            </a:r>
            <a:r>
              <a:rPr dirty="0" sz="2000" spc="-35">
                <a:solidFill>
                  <a:srgbClr val="4F81B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F81BC"/>
                </a:solidFill>
                <a:latin typeface="Arial MT"/>
                <a:cs typeface="Arial MT"/>
              </a:rPr>
              <a:t>model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.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when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dirty="0" sz="20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available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but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ts val="2280"/>
              </a:lnSpc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design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yet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started.</a:t>
            </a:r>
            <a:endParaRPr sz="2000">
              <a:latin typeface="Arial MT"/>
              <a:cs typeface="Arial MT"/>
            </a:endParaRPr>
          </a:p>
          <a:p>
            <a:pPr lvl="1" marL="756285" marR="5715" indent="-287020">
              <a:lnSpc>
                <a:spcPts val="2160"/>
              </a:lnSpc>
              <a:spcBef>
                <a:spcPts val="63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F81BC"/>
                </a:solidFill>
                <a:latin typeface="Arial MT"/>
                <a:cs typeface="Arial MT"/>
              </a:rPr>
              <a:t>Reuse</a:t>
            </a:r>
            <a:r>
              <a:rPr dirty="0" sz="2000" spc="-50">
                <a:solidFill>
                  <a:srgbClr val="4F81B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F81BC"/>
                </a:solidFill>
                <a:latin typeface="Arial MT"/>
                <a:cs typeface="Arial MT"/>
              </a:rPr>
              <a:t>model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.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compute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integrating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reusable components.</a:t>
            </a:r>
            <a:endParaRPr sz="2000">
              <a:latin typeface="Arial MT"/>
              <a:cs typeface="Arial MT"/>
            </a:endParaRPr>
          </a:p>
          <a:p>
            <a:pPr lvl="1" marL="756285" marR="5080" indent="-287020">
              <a:lnSpc>
                <a:spcPct val="90100"/>
              </a:lnSpc>
              <a:spcBef>
                <a:spcPts val="56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 spc="-10">
                <a:solidFill>
                  <a:srgbClr val="4F81BC"/>
                </a:solidFill>
                <a:latin typeface="Arial MT"/>
                <a:cs typeface="Arial MT"/>
              </a:rPr>
              <a:t>Post-</a:t>
            </a:r>
            <a:r>
              <a:rPr dirty="0" sz="2000">
                <a:solidFill>
                  <a:srgbClr val="4F81BC"/>
                </a:solidFill>
                <a:latin typeface="Arial MT"/>
                <a:cs typeface="Arial MT"/>
              </a:rPr>
              <a:t>architecture</a:t>
            </a:r>
            <a:r>
              <a:rPr dirty="0" sz="2000" spc="-50">
                <a:solidFill>
                  <a:srgbClr val="4F81B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F81BC"/>
                </a:solidFill>
                <a:latin typeface="Arial MT"/>
                <a:cs typeface="Arial MT"/>
              </a:rPr>
              <a:t>model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.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once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architecture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has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designed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more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information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about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is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available.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COCOMO</a:t>
            </a:r>
            <a:r>
              <a:rPr dirty="0" spc="-55"/>
              <a:t> </a:t>
            </a:r>
            <a:r>
              <a:rPr dirty="0"/>
              <a:t>estimation</a:t>
            </a:r>
            <a:r>
              <a:rPr dirty="0" spc="-60"/>
              <a:t> </a:t>
            </a:r>
            <a:r>
              <a:rPr dirty="0" spc="-10"/>
              <a:t>models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44203" y="3013956"/>
            <a:ext cx="7437120" cy="1000760"/>
            <a:chOff x="844203" y="3013956"/>
            <a:chExt cx="7437120" cy="100076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203" y="3131597"/>
              <a:ext cx="5562002" cy="63404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7371" y="3013956"/>
              <a:ext cx="1843695" cy="1000258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844204" y="4224105"/>
            <a:ext cx="7564755" cy="1000760"/>
            <a:chOff x="844204" y="4224105"/>
            <a:chExt cx="7564755" cy="100076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204" y="4234421"/>
              <a:ext cx="5562001" cy="81276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7371" y="4224105"/>
              <a:ext cx="1971425" cy="1000199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844203" y="5455025"/>
            <a:ext cx="7458075" cy="838200"/>
            <a:chOff x="844203" y="5455025"/>
            <a:chExt cx="7458075" cy="838200"/>
          </a:xfrm>
        </p:grpSpPr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4203" y="5554753"/>
              <a:ext cx="5582795" cy="622191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7370" y="5455025"/>
              <a:ext cx="1864473" cy="838020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4203" y="1833565"/>
            <a:ext cx="7436863" cy="1000258"/>
          </a:xfrm>
          <a:prstGeom prst="rect">
            <a:avLst/>
          </a:prstGeom>
        </p:spPr>
      </p:pic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Application</a:t>
            </a:r>
            <a:r>
              <a:rPr dirty="0" spc="-50"/>
              <a:t> </a:t>
            </a:r>
            <a:r>
              <a:rPr dirty="0"/>
              <a:t>composition</a:t>
            </a:r>
            <a:r>
              <a:rPr dirty="0" spc="-60"/>
              <a:t> </a:t>
            </a:r>
            <a:r>
              <a:rPr dirty="0" spc="-10"/>
              <a:t>model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625853"/>
            <a:ext cx="8044180" cy="2677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260985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Supports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prototyping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there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extensive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reuse.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Based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standard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estimates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developer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productivity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in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application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(object)</a:t>
            </a:r>
            <a:r>
              <a:rPr dirty="0" sz="2400" spc="-1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points/month.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Takes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tool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use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into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account.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Formula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93444" y="4323491"/>
            <a:ext cx="5674995" cy="1162685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69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PM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=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(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NAP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MS PGothic"/>
                <a:cs typeface="MS PGothic"/>
              </a:rPr>
              <a:t>´</a:t>
            </a:r>
            <a:r>
              <a:rPr dirty="0" sz="2000" spc="-70">
                <a:solidFill>
                  <a:srgbClr val="46424D"/>
                </a:solidFill>
                <a:latin typeface="MS PGothic"/>
                <a:cs typeface="MS PGothic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(1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%reuse/100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)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)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/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PROD</a:t>
            </a:r>
            <a:endParaRPr sz="2000">
              <a:latin typeface="Arial MT"/>
              <a:cs typeface="Arial MT"/>
            </a:endParaRPr>
          </a:p>
          <a:p>
            <a:pPr algn="r" marL="286385" marR="5080" indent="-286385">
              <a:lnSpc>
                <a:spcPct val="100000"/>
              </a:lnSpc>
              <a:spcBef>
                <a:spcPts val="875"/>
              </a:spcBef>
              <a:buFont typeface="Wingdings"/>
              <a:buChar char=""/>
              <a:tabLst>
                <a:tab pos="286385" algn="l"/>
                <a:tab pos="839469" algn="l"/>
                <a:tab pos="1195705" algn="l"/>
                <a:tab pos="1720214" algn="l"/>
                <a:tab pos="2465705" algn="l"/>
                <a:tab pos="2835910" algn="l"/>
                <a:tab pos="4770120" algn="l"/>
                <a:tab pos="5465445" algn="l"/>
              </a:tabLst>
            </a:pP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PM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person-months,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NAP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endParaRPr sz="2000">
              <a:latin typeface="Arial MT"/>
              <a:cs typeface="Arial MT"/>
            </a:endParaRPr>
          </a:p>
          <a:p>
            <a:pPr algn="r" marR="2032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application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points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PROD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productivity.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815708" y="4849444"/>
            <a:ext cx="1793239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38480" algn="l"/>
                <a:tab pos="1570355" algn="l"/>
              </a:tabLst>
            </a:pP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number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Application-</a:t>
            </a:r>
            <a:r>
              <a:rPr dirty="0"/>
              <a:t>point</a:t>
            </a:r>
            <a:r>
              <a:rPr dirty="0" spc="25"/>
              <a:t> </a:t>
            </a:r>
            <a:r>
              <a:rPr dirty="0" spc="-10"/>
              <a:t>productivity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50850" y="2523489"/>
          <a:ext cx="8318500" cy="1858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822960">
                <a:tc>
                  <a:txBody>
                    <a:bodyPr/>
                    <a:lstStyle/>
                    <a:p>
                      <a:pPr marL="73025" marR="10604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Developer’s experience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capability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Very</a:t>
                      </a:r>
                      <a:r>
                        <a:rPr dirty="0" sz="14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latin typeface="Arial"/>
                          <a:cs typeface="Arial"/>
                        </a:rPr>
                        <a:t>low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Low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Nominal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20" b="1">
                          <a:latin typeface="Arial"/>
                          <a:cs typeface="Arial"/>
                        </a:rPr>
                        <a:t>High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Very</a:t>
                      </a:r>
                      <a:r>
                        <a:rPr dirty="0" sz="14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high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73025">
                        <a:lnSpc>
                          <a:spcPts val="1639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ICASE</a:t>
                      </a:r>
                      <a:r>
                        <a:rPr dirty="0" sz="14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maturity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capability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639"/>
                        </a:lnSpc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Very</a:t>
                      </a:r>
                      <a:r>
                        <a:rPr dirty="0" sz="14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low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639"/>
                        </a:lnSpc>
                      </a:pPr>
                      <a:r>
                        <a:rPr dirty="0" sz="1400" spc="-25">
                          <a:latin typeface="Arial MT"/>
                          <a:cs typeface="Arial MT"/>
                        </a:rPr>
                        <a:t>Low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639"/>
                        </a:lnSpc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Nominal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639"/>
                        </a:lnSpc>
                      </a:pPr>
                      <a:r>
                        <a:rPr dirty="0" sz="1400" spc="-20">
                          <a:latin typeface="Arial MT"/>
                          <a:cs typeface="Arial MT"/>
                        </a:rPr>
                        <a:t>High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639"/>
                        </a:lnSpc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Very</a:t>
                      </a:r>
                      <a:r>
                        <a:rPr dirty="0" sz="14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high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73025">
                        <a:lnSpc>
                          <a:spcPts val="1645"/>
                        </a:lnSpc>
                      </a:pPr>
                      <a:r>
                        <a:rPr dirty="0" sz="1400" spc="-20">
                          <a:latin typeface="Arial MT"/>
                          <a:cs typeface="Arial MT"/>
                        </a:rPr>
                        <a:t>PROD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(NAP/month)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645"/>
                        </a:lnSpc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645"/>
                        </a:lnSpc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645"/>
                        </a:lnSpc>
                      </a:pPr>
                      <a:r>
                        <a:rPr dirty="0" sz="1400" spc="-25">
                          <a:latin typeface="Arial MT"/>
                          <a:cs typeface="Arial MT"/>
                        </a:rPr>
                        <a:t>13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645"/>
                        </a:lnSpc>
                      </a:pPr>
                      <a:r>
                        <a:rPr dirty="0" sz="1400" spc="-25">
                          <a:latin typeface="Arial MT"/>
                          <a:cs typeface="Arial MT"/>
                        </a:rPr>
                        <a:t>25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645"/>
                        </a:lnSpc>
                      </a:pPr>
                      <a:r>
                        <a:rPr dirty="0" sz="1400" spc="-25">
                          <a:latin typeface="Arial MT"/>
                          <a:cs typeface="Arial MT"/>
                        </a:rPr>
                        <a:t>50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Early</a:t>
            </a:r>
            <a:r>
              <a:rPr dirty="0" spc="-70"/>
              <a:t> </a:t>
            </a:r>
            <a:r>
              <a:rPr dirty="0"/>
              <a:t>design</a:t>
            </a:r>
            <a:r>
              <a:rPr dirty="0" spc="-85"/>
              <a:t> </a:t>
            </a:r>
            <a:r>
              <a:rPr dirty="0" spc="-10"/>
              <a:t>model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97230" y="1588389"/>
            <a:ext cx="8126730" cy="367411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93700" marR="716280" indent="-342900">
              <a:lnSpc>
                <a:spcPts val="2590"/>
              </a:lnSpc>
              <a:spcBef>
                <a:spcPts val="425"/>
              </a:spcBef>
              <a:buFont typeface="Wingdings"/>
              <a:buChar char=""/>
              <a:tabLst>
                <a:tab pos="3937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Estimates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made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after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have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agreed.</a:t>
            </a:r>
            <a:endParaRPr sz="2400">
              <a:latin typeface="Arial MT"/>
              <a:cs typeface="Arial MT"/>
            </a:endParaRPr>
          </a:p>
          <a:p>
            <a:pPr marL="393065" indent="-342265">
              <a:lnSpc>
                <a:spcPct val="100000"/>
              </a:lnSpc>
              <a:spcBef>
                <a:spcPts val="875"/>
              </a:spcBef>
              <a:buFont typeface="Wingdings"/>
              <a:buChar char=""/>
              <a:tabLst>
                <a:tab pos="3930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Based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standard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formula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algorithmic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models</a:t>
            </a:r>
            <a:endParaRPr sz="2400">
              <a:latin typeface="Arial MT"/>
              <a:cs typeface="Arial MT"/>
            </a:endParaRPr>
          </a:p>
          <a:p>
            <a:pPr marL="393065" indent="-342265">
              <a:lnSpc>
                <a:spcPct val="100000"/>
              </a:lnSpc>
              <a:spcBef>
                <a:spcPts val="940"/>
              </a:spcBef>
              <a:buFont typeface="Wingdings"/>
              <a:buChar char=""/>
              <a:tabLst>
                <a:tab pos="3930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PM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=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MS PGothic"/>
                <a:cs typeface="MS PGothic"/>
              </a:rPr>
              <a:t>´</a:t>
            </a:r>
            <a:r>
              <a:rPr dirty="0" sz="2400" spc="-85">
                <a:solidFill>
                  <a:srgbClr val="46424D"/>
                </a:solidFill>
                <a:latin typeface="MS PGothic"/>
                <a:cs typeface="MS PGothic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Size</a:t>
            </a:r>
            <a:r>
              <a:rPr dirty="0" baseline="24305" sz="2400">
                <a:solidFill>
                  <a:srgbClr val="46424D"/>
                </a:solidFill>
                <a:latin typeface="Arial MT"/>
                <a:cs typeface="Arial MT"/>
              </a:rPr>
              <a:t>B</a:t>
            </a:r>
            <a:r>
              <a:rPr dirty="0" baseline="24305" sz="2400" spc="7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MS PGothic"/>
                <a:cs typeface="MS PGothic"/>
              </a:rPr>
              <a:t>´</a:t>
            </a:r>
            <a:r>
              <a:rPr dirty="0" sz="2400" spc="-75">
                <a:solidFill>
                  <a:srgbClr val="46424D"/>
                </a:solidFill>
                <a:latin typeface="MS PGothic"/>
                <a:cs typeface="MS PGothic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endParaRPr sz="2400">
              <a:latin typeface="Arial MT"/>
              <a:cs typeface="Arial MT"/>
            </a:endParaRPr>
          </a:p>
          <a:p>
            <a:pPr lvl="1" marL="794385" indent="-286385">
              <a:lnSpc>
                <a:spcPct val="100000"/>
              </a:lnSpc>
              <a:spcBef>
                <a:spcPts val="665"/>
              </a:spcBef>
              <a:buFont typeface="Wingdings"/>
              <a:buChar char=""/>
              <a:tabLst>
                <a:tab pos="7943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=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PERS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MS PGothic"/>
                <a:cs typeface="MS PGothic"/>
              </a:rPr>
              <a:t>´</a:t>
            </a:r>
            <a:r>
              <a:rPr dirty="0" sz="2000" spc="-80">
                <a:solidFill>
                  <a:srgbClr val="46424D"/>
                </a:solidFill>
                <a:latin typeface="MS PGothic"/>
                <a:cs typeface="MS PGothic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RCPX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MS PGothic"/>
                <a:cs typeface="MS PGothic"/>
              </a:rPr>
              <a:t>´</a:t>
            </a:r>
            <a:r>
              <a:rPr dirty="0" sz="2000" spc="-85">
                <a:solidFill>
                  <a:srgbClr val="46424D"/>
                </a:solidFill>
                <a:latin typeface="MS PGothic"/>
                <a:cs typeface="MS PGothic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RUSE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MS PGothic"/>
                <a:cs typeface="MS PGothic"/>
              </a:rPr>
              <a:t>´</a:t>
            </a:r>
            <a:r>
              <a:rPr dirty="0" sz="2000" spc="-80">
                <a:solidFill>
                  <a:srgbClr val="46424D"/>
                </a:solidFill>
                <a:latin typeface="MS PGothic"/>
                <a:cs typeface="MS PGothic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PDIF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MS PGothic"/>
                <a:cs typeface="MS PGothic"/>
              </a:rPr>
              <a:t>´</a:t>
            </a:r>
            <a:r>
              <a:rPr dirty="0" sz="2000" spc="-80">
                <a:solidFill>
                  <a:srgbClr val="46424D"/>
                </a:solidFill>
                <a:latin typeface="MS PGothic"/>
                <a:cs typeface="MS PGothic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PREX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MS PGothic"/>
                <a:cs typeface="MS PGothic"/>
              </a:rPr>
              <a:t>´</a:t>
            </a:r>
            <a:r>
              <a:rPr dirty="0" sz="2000" spc="-80">
                <a:solidFill>
                  <a:srgbClr val="46424D"/>
                </a:solidFill>
                <a:latin typeface="MS PGothic"/>
                <a:cs typeface="MS PGothic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FCIL</a:t>
            </a:r>
            <a:r>
              <a:rPr dirty="0" sz="20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MS PGothic"/>
                <a:cs typeface="MS PGothic"/>
              </a:rPr>
              <a:t>´</a:t>
            </a:r>
            <a:r>
              <a:rPr dirty="0" sz="2000" spc="-85">
                <a:solidFill>
                  <a:srgbClr val="46424D"/>
                </a:solidFill>
                <a:latin typeface="MS PGothic"/>
                <a:cs typeface="MS PGothic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SCED;</a:t>
            </a:r>
            <a:endParaRPr sz="2000">
              <a:latin typeface="Arial MT"/>
              <a:cs typeface="Arial MT"/>
            </a:endParaRPr>
          </a:p>
          <a:p>
            <a:pPr lvl="1" marL="794385" indent="-286385">
              <a:lnSpc>
                <a:spcPct val="100000"/>
              </a:lnSpc>
              <a:spcBef>
                <a:spcPts val="335"/>
              </a:spcBef>
              <a:buFont typeface="Wingdings"/>
              <a:buChar char=""/>
              <a:tabLst>
                <a:tab pos="7943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1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=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2.94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initial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calibration,</a:t>
            </a:r>
            <a:endParaRPr sz="2000">
              <a:latin typeface="Arial MT"/>
              <a:cs typeface="Arial MT"/>
            </a:endParaRPr>
          </a:p>
          <a:p>
            <a:pPr lvl="1" marL="794385" indent="-286385">
              <a:lnSpc>
                <a:spcPct val="100000"/>
              </a:lnSpc>
              <a:spcBef>
                <a:spcPts val="360"/>
              </a:spcBef>
              <a:buFont typeface="Wingdings"/>
              <a:buChar char=""/>
              <a:tabLst>
                <a:tab pos="7943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Size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KLOC,</a:t>
            </a:r>
            <a:endParaRPr sz="2000">
              <a:latin typeface="Arial MT"/>
              <a:cs typeface="Arial MT"/>
            </a:endParaRPr>
          </a:p>
          <a:p>
            <a:pPr algn="just" lvl="1" marL="793115" marR="17780" indent="-285750">
              <a:lnSpc>
                <a:spcPts val="2160"/>
              </a:lnSpc>
              <a:spcBef>
                <a:spcPts val="635"/>
              </a:spcBef>
              <a:buFont typeface="Wingdings"/>
              <a:buChar char=""/>
              <a:tabLst>
                <a:tab pos="7943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</a:t>
            </a:r>
            <a:r>
              <a:rPr dirty="0" sz="2000" spc="2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varies</a:t>
            </a:r>
            <a:r>
              <a:rPr dirty="0" sz="2000" spc="3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from</a:t>
            </a:r>
            <a:r>
              <a:rPr dirty="0" sz="2000" spc="2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1.1</a:t>
            </a:r>
            <a:r>
              <a:rPr dirty="0" sz="2000" spc="2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3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1.24</a:t>
            </a:r>
            <a:r>
              <a:rPr dirty="0" sz="2000" spc="3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depending</a:t>
            </a:r>
            <a:r>
              <a:rPr dirty="0" sz="2000" spc="2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000" spc="2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novelty</a:t>
            </a:r>
            <a:r>
              <a:rPr dirty="0" sz="2000" spc="2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2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2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project,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000" spc="48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flexibility,</a:t>
            </a:r>
            <a:r>
              <a:rPr dirty="0" sz="2000" spc="48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risk</a:t>
            </a:r>
            <a:r>
              <a:rPr dirty="0" sz="2000" spc="4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management</a:t>
            </a:r>
            <a:r>
              <a:rPr dirty="0" sz="2000" spc="4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approaches</a:t>
            </a:r>
            <a:r>
              <a:rPr dirty="0" sz="2000" spc="4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4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maturity.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Multipliers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767892" y="1595754"/>
            <a:ext cx="7538084" cy="354266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55600" marR="5080" indent="-342900">
              <a:lnSpc>
                <a:spcPts val="2590"/>
              </a:lnSpc>
              <a:spcBef>
                <a:spcPts val="42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Multipliers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reflect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capability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developers,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non-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functional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requirements,</a:t>
            </a:r>
            <a:r>
              <a:rPr dirty="0" sz="2400" spc="-8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familiarity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-10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platform,</a:t>
            </a:r>
            <a:r>
              <a:rPr dirty="0" sz="2400" spc="-1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etc.</a:t>
            </a:r>
            <a:endParaRPr sz="24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3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RCPX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reliability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complexity;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359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RUSE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reuse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required;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359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PDIF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platform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difficulty;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36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PREX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personnel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experience;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36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PERS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personnel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capability;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36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SCED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required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schedule;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36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FCIL</a:t>
            </a:r>
            <a:r>
              <a:rPr dirty="0" sz="2000" spc="-9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team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support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facilities.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65"/>
              <a:t> </a:t>
            </a:r>
            <a:r>
              <a:rPr dirty="0"/>
              <a:t>reuse</a:t>
            </a:r>
            <a:r>
              <a:rPr dirty="0" spc="-40"/>
              <a:t> </a:t>
            </a:r>
            <a:r>
              <a:rPr dirty="0" spc="-10"/>
              <a:t>model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589278"/>
            <a:ext cx="7994650" cy="309499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355600" marR="5080" indent="-342900">
              <a:lnSpc>
                <a:spcPct val="90100"/>
              </a:lnSpc>
              <a:spcBef>
                <a:spcPts val="38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Takes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into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account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black-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box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reused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without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change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adapted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integrate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it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code.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91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two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versions:</a:t>
            </a:r>
            <a:endParaRPr sz="2400">
              <a:latin typeface="Arial MT"/>
              <a:cs typeface="Arial MT"/>
            </a:endParaRPr>
          </a:p>
          <a:p>
            <a:pPr lvl="1" marL="756285" indent="-286385">
              <a:lnSpc>
                <a:spcPts val="2280"/>
              </a:lnSpc>
              <a:spcBef>
                <a:spcPts val="66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Black-box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reuse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modified.</a:t>
            </a:r>
            <a:r>
              <a:rPr dirty="0" sz="2000" spc="-1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estimate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ts val="2280"/>
              </a:lnSpc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(PM)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computed.</a:t>
            </a:r>
            <a:endParaRPr sz="2000">
              <a:latin typeface="Arial MT"/>
              <a:cs typeface="Arial MT"/>
            </a:endParaRPr>
          </a:p>
          <a:p>
            <a:pPr lvl="1" marL="756285" marR="494030" indent="-287020">
              <a:lnSpc>
                <a:spcPts val="2160"/>
              </a:lnSpc>
              <a:spcBef>
                <a:spcPts val="63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White-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box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reuse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modified.</a:t>
            </a:r>
            <a:r>
              <a:rPr dirty="0" sz="2000" spc="-1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1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size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estimate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equivalent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number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lines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source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is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computed.</a:t>
            </a:r>
            <a:r>
              <a:rPr dirty="0" sz="2000" spc="-9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then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adjusts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size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estimate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code.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Reuse</a:t>
            </a:r>
            <a:r>
              <a:rPr dirty="0" spc="-80"/>
              <a:t> </a:t>
            </a:r>
            <a:r>
              <a:rPr dirty="0"/>
              <a:t>model</a:t>
            </a:r>
            <a:r>
              <a:rPr dirty="0" spc="-80"/>
              <a:t> </a:t>
            </a:r>
            <a:r>
              <a:rPr dirty="0"/>
              <a:t>estimates</a:t>
            </a:r>
            <a:r>
              <a:rPr dirty="0" spc="-80"/>
              <a:t> </a:t>
            </a:r>
            <a:r>
              <a:rPr dirty="0" spc="-50"/>
              <a:t>1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473072"/>
            <a:ext cx="7990840" cy="224472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generated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code: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PM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=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(ASLOC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*</a:t>
            </a:r>
            <a:r>
              <a:rPr dirty="0" sz="2400" spc="-1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AT/100)/ATPROD</a:t>
            </a:r>
            <a:endParaRPr sz="24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ASLOC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number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lines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generated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 spc="-80">
                <a:solidFill>
                  <a:srgbClr val="46424D"/>
                </a:solidFill>
                <a:latin typeface="Arial MT"/>
                <a:cs typeface="Arial MT"/>
              </a:rPr>
              <a:t>AT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percentage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automatically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generated.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ATPROD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productivity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engineers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integrating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code.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Reuse</a:t>
            </a:r>
            <a:r>
              <a:rPr dirty="0" spc="-80"/>
              <a:t> </a:t>
            </a:r>
            <a:r>
              <a:rPr dirty="0"/>
              <a:t>model</a:t>
            </a:r>
            <a:r>
              <a:rPr dirty="0" spc="-80"/>
              <a:t> </a:t>
            </a:r>
            <a:r>
              <a:rPr dirty="0"/>
              <a:t>estimates</a:t>
            </a:r>
            <a:r>
              <a:rPr dirty="0" spc="-80"/>
              <a:t> </a:t>
            </a:r>
            <a:r>
              <a:rPr dirty="0" spc="-50"/>
              <a:t>2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473072"/>
            <a:ext cx="7834630" cy="277812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When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understood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integrated: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ESLOC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=</a:t>
            </a:r>
            <a:r>
              <a:rPr dirty="0" sz="2400" spc="-1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ASLOC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*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(1-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AT/100)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*</a:t>
            </a:r>
            <a:r>
              <a:rPr dirty="0" sz="2400" spc="-1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AAM.</a:t>
            </a:r>
            <a:endParaRPr sz="24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ASLOC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1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80">
                <a:solidFill>
                  <a:srgbClr val="46424D"/>
                </a:solidFill>
                <a:latin typeface="Arial MT"/>
                <a:cs typeface="Arial MT"/>
              </a:rPr>
              <a:t>AT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before.</a:t>
            </a:r>
            <a:endParaRPr sz="2000">
              <a:latin typeface="Arial MT"/>
              <a:cs typeface="Arial MT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AAM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adaptation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adjustment</a:t>
            </a:r>
            <a:r>
              <a:rPr dirty="0" sz="20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multiplier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computed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from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costs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changing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reused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code,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costs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understanding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how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integrate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costs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reuse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decision making.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Post-architecture</a:t>
            </a:r>
            <a:r>
              <a:rPr dirty="0" spc="-55"/>
              <a:t> </a:t>
            </a:r>
            <a:r>
              <a:rPr dirty="0" spc="-10"/>
              <a:t>level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91692" y="1556130"/>
            <a:ext cx="7698740" cy="3067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132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Uses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same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formula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early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design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model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but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17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rather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than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7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associated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multipliers.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8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size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estimated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as:</a:t>
            </a:r>
            <a:endParaRPr sz="24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Number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lines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developed;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Estimate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equivalent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number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lines of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computed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using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reuse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model;</a:t>
            </a:r>
            <a:endParaRPr sz="2000">
              <a:latin typeface="Arial MT"/>
              <a:cs typeface="Arial MT"/>
            </a:endParaRPr>
          </a:p>
          <a:p>
            <a:pPr lvl="1" marL="756285" marR="438150" indent="-287020">
              <a:lnSpc>
                <a:spcPct val="100000"/>
              </a:lnSpc>
              <a:spcBef>
                <a:spcPts val="60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estimate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number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lines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code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be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modified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according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dirty="0" sz="20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changes.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55"/>
              <a:t> </a:t>
            </a:r>
            <a:r>
              <a:rPr dirty="0"/>
              <a:t>exponent</a:t>
            </a:r>
            <a:r>
              <a:rPr dirty="0" spc="-35"/>
              <a:t> </a:t>
            </a:r>
            <a:r>
              <a:rPr dirty="0" spc="-20"/>
              <a:t>term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330" y="1588389"/>
            <a:ext cx="7695565" cy="442468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55600" marR="5080" indent="-342900">
              <a:lnSpc>
                <a:spcPts val="2590"/>
              </a:lnSpc>
              <a:spcBef>
                <a:spcPts val="42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depends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5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scale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factors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(see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next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slide).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Their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sum/100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added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1.01</a:t>
            </a:r>
            <a:endParaRPr sz="2400">
              <a:latin typeface="Arial MT"/>
              <a:cs typeface="Arial MT"/>
            </a:endParaRPr>
          </a:p>
          <a:p>
            <a:pPr marL="355600" marR="85725" indent="-342900">
              <a:lnSpc>
                <a:spcPct val="90000"/>
              </a:lnSpc>
              <a:spcBef>
                <a:spcPts val="116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1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company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takes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domain.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client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defined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has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allowed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time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risk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analysis.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company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a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CMM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level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2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rating.</a:t>
            </a:r>
            <a:endParaRPr sz="24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6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Precedenteness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(4)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36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0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flexibility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no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client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involvement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Very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high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(1)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36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Architecture/risk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resolution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No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risk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analysis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75">
                <a:solidFill>
                  <a:srgbClr val="46424D"/>
                </a:solidFill>
                <a:latin typeface="Arial MT"/>
                <a:cs typeface="Arial MT"/>
              </a:rPr>
              <a:t>V.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Low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.(5)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36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Team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cohesion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team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nominal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(3)</a:t>
            </a:r>
            <a:endParaRPr sz="20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36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maturity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some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control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-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nominal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(3)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1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Scale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factor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therefore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1.17.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006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Scale</a:t>
            </a:r>
            <a:r>
              <a:rPr dirty="0" spc="-45"/>
              <a:t> </a:t>
            </a:r>
            <a:r>
              <a:rPr dirty="0"/>
              <a:t>factors</a:t>
            </a:r>
            <a:r>
              <a:rPr dirty="0" spc="-45"/>
              <a:t> </a:t>
            </a:r>
            <a:r>
              <a:rPr dirty="0"/>
              <a:t>used</a:t>
            </a:r>
            <a:r>
              <a:rPr dirty="0" spc="-45"/>
              <a:t> </a:t>
            </a:r>
            <a:r>
              <a:rPr dirty="0"/>
              <a:t>in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exponent</a:t>
            </a:r>
            <a:r>
              <a:rPr dirty="0" spc="-40"/>
              <a:t> </a:t>
            </a:r>
            <a:r>
              <a:rPr dirty="0" spc="-10"/>
              <a:t>computation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 spc="-10"/>
              <a:t>post-architecture</a:t>
            </a:r>
            <a:r>
              <a:rPr dirty="0" spc="-15"/>
              <a:t> </a:t>
            </a:r>
            <a:r>
              <a:rPr dirty="0" spc="-10"/>
              <a:t>model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50850" y="1593850"/>
          <a:ext cx="8318500" cy="4052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1900"/>
                <a:gridCol w="5727700"/>
              </a:tblGrid>
              <a:tr h="39560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Scale</a:t>
                      </a:r>
                      <a:r>
                        <a:rPr dirty="0" sz="14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factor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Explanation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73025">
                        <a:lnSpc>
                          <a:spcPts val="1639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Architecture/risk</a:t>
                      </a:r>
                      <a:r>
                        <a:rPr dirty="0" sz="1400" spc="-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resolution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639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Reflects</a:t>
                      </a:r>
                      <a:r>
                        <a:rPr dirty="0" sz="1400" spc="1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400" spc="1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extent</a:t>
                      </a:r>
                      <a:r>
                        <a:rPr dirty="0" sz="1400" spc="1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400" spc="1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risk</a:t>
                      </a:r>
                      <a:r>
                        <a:rPr dirty="0" sz="1400" spc="1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analysis</a:t>
                      </a:r>
                      <a:r>
                        <a:rPr dirty="0" sz="1400" spc="1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carried</a:t>
                      </a:r>
                      <a:r>
                        <a:rPr dirty="0" sz="1400" spc="1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out.</a:t>
                      </a:r>
                      <a:r>
                        <a:rPr dirty="0" sz="1400" spc="1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Very</a:t>
                      </a:r>
                      <a:r>
                        <a:rPr dirty="0" sz="1400" spc="1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low</a:t>
                      </a:r>
                      <a:r>
                        <a:rPr dirty="0" sz="1400" spc="1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means</a:t>
                      </a:r>
                      <a:r>
                        <a:rPr dirty="0" sz="1400" spc="1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little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analysis;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extra-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high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means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complete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thorough</a:t>
                      </a:r>
                      <a:r>
                        <a:rPr dirty="0" sz="14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risk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analysis.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73025">
                        <a:lnSpc>
                          <a:spcPts val="1639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Development</a:t>
                      </a:r>
                      <a:r>
                        <a:rPr dirty="0" sz="14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flexibility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73025" marR="62230">
                        <a:lnSpc>
                          <a:spcPts val="1680"/>
                        </a:lnSpc>
                        <a:spcBef>
                          <a:spcPts val="1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Reflects</a:t>
                      </a:r>
                      <a:r>
                        <a:rPr dirty="0" sz="1400" spc="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400" spc="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degree</a:t>
                      </a:r>
                      <a:r>
                        <a:rPr dirty="0" sz="1400" spc="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400" spc="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flexibility</a:t>
                      </a:r>
                      <a:r>
                        <a:rPr dirty="0" sz="140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400" spc="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400" spc="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development</a:t>
                      </a:r>
                      <a:r>
                        <a:rPr dirty="0" sz="1400" spc="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process.</a:t>
                      </a:r>
                      <a:r>
                        <a:rPr dirty="0" sz="1400" spc="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Very</a:t>
                      </a:r>
                      <a:r>
                        <a:rPr dirty="0" sz="1400" spc="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low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means</a:t>
                      </a:r>
                      <a:r>
                        <a:rPr dirty="0" sz="14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4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prescribed</a:t>
                      </a:r>
                      <a:r>
                        <a:rPr dirty="0" sz="14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process</a:t>
                      </a:r>
                      <a:r>
                        <a:rPr dirty="0" sz="14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4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used;</a:t>
                      </a:r>
                      <a:r>
                        <a:rPr dirty="0" sz="14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extra-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high</a:t>
                      </a:r>
                      <a:r>
                        <a:rPr dirty="0" sz="140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means</a:t>
                      </a:r>
                      <a:r>
                        <a:rPr dirty="0" sz="14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that</a:t>
                      </a:r>
                      <a:r>
                        <a:rPr dirty="0" sz="14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40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client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sets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only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general</a:t>
                      </a:r>
                      <a:r>
                        <a:rPr dirty="0" sz="14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goals.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730885">
                <a:tc>
                  <a:txBody>
                    <a:bodyPr/>
                    <a:lstStyle/>
                    <a:p>
                      <a:pPr marL="73025">
                        <a:lnSpc>
                          <a:spcPts val="1639"/>
                        </a:lnSpc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Precedentedness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62230">
                        <a:lnSpc>
                          <a:spcPts val="1680"/>
                        </a:lnSpc>
                        <a:spcBef>
                          <a:spcPts val="1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Reflects</a:t>
                      </a:r>
                      <a:r>
                        <a:rPr dirty="0" sz="1400" spc="1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400" spc="1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previous</a:t>
                      </a:r>
                      <a:r>
                        <a:rPr dirty="0" sz="1400" spc="1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experience</a:t>
                      </a:r>
                      <a:r>
                        <a:rPr dirty="0" sz="1400" spc="1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400" spc="1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400" spc="1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organization</a:t>
                      </a:r>
                      <a:r>
                        <a:rPr dirty="0" sz="1400" spc="1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1400" spc="1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this</a:t>
                      </a:r>
                      <a:r>
                        <a:rPr dirty="0" sz="1400" spc="1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type</a:t>
                      </a:r>
                      <a:r>
                        <a:rPr dirty="0" sz="1400" spc="1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of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project.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Very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low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means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no</a:t>
                      </a:r>
                      <a:r>
                        <a:rPr dirty="0" sz="1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previous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experience;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extra-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high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means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that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73025">
                        <a:lnSpc>
                          <a:spcPts val="1625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organization</a:t>
                      </a:r>
                      <a:r>
                        <a:rPr dirty="0" sz="14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completely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familiar</a:t>
                      </a:r>
                      <a:r>
                        <a:rPr dirty="0" sz="1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1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this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application</a:t>
                      </a:r>
                      <a:r>
                        <a:rPr dirty="0" sz="14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domain.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 marL="73025">
                        <a:lnSpc>
                          <a:spcPts val="1645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Process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maturity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73025" marR="60960">
                        <a:lnSpc>
                          <a:spcPts val="1680"/>
                        </a:lnSpc>
                        <a:spcBef>
                          <a:spcPts val="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Reflects</a:t>
                      </a:r>
                      <a:r>
                        <a:rPr dirty="0" sz="140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4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process</a:t>
                      </a:r>
                      <a:r>
                        <a:rPr dirty="0" sz="14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maturity</a:t>
                      </a:r>
                      <a:r>
                        <a:rPr dirty="0" sz="1400" spc="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4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4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organization.</a:t>
                      </a:r>
                      <a:r>
                        <a:rPr dirty="0" sz="14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40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computation</a:t>
                      </a:r>
                      <a:r>
                        <a:rPr dirty="0" sz="14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of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this</a:t>
                      </a:r>
                      <a:r>
                        <a:rPr dirty="0" sz="1400" spc="80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value</a:t>
                      </a:r>
                      <a:r>
                        <a:rPr dirty="0" sz="1400" spc="75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depends</a:t>
                      </a:r>
                      <a:r>
                        <a:rPr dirty="0" sz="1400" spc="85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1400" spc="75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400" spc="75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CMM</a:t>
                      </a:r>
                      <a:r>
                        <a:rPr dirty="0" sz="1400" spc="70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Maturity</a:t>
                      </a:r>
                      <a:r>
                        <a:rPr dirty="0" sz="1400" spc="75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Questionnaire,</a:t>
                      </a:r>
                      <a:r>
                        <a:rPr dirty="0" sz="1400" spc="75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but</a:t>
                      </a:r>
                      <a:r>
                        <a:rPr dirty="0" sz="1400" spc="75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an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estimate</a:t>
                      </a:r>
                      <a:r>
                        <a:rPr dirty="0" sz="1400" spc="2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can</a:t>
                      </a:r>
                      <a:r>
                        <a:rPr dirty="0" sz="1400" spc="2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400" spc="2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achieved</a:t>
                      </a:r>
                      <a:r>
                        <a:rPr dirty="0" sz="1400" spc="2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400" spc="2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subtracting</a:t>
                      </a:r>
                      <a:r>
                        <a:rPr dirty="0" sz="1400" spc="2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400" spc="2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CMM</a:t>
                      </a:r>
                      <a:r>
                        <a:rPr dirty="0" sz="1400" spc="2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process</a:t>
                      </a:r>
                      <a:r>
                        <a:rPr dirty="0" sz="1400" spc="229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maturity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level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from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5.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73025">
                        <a:lnSpc>
                          <a:spcPts val="1645"/>
                        </a:lnSpc>
                      </a:pPr>
                      <a:r>
                        <a:rPr dirty="0" sz="1400" spc="-40">
                          <a:latin typeface="Arial MT"/>
                          <a:cs typeface="Arial MT"/>
                        </a:rPr>
                        <a:t>Team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cohesion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645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Reflects</a:t>
                      </a:r>
                      <a:r>
                        <a:rPr dirty="0" sz="1400" spc="1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how</a:t>
                      </a:r>
                      <a:r>
                        <a:rPr dirty="0" sz="1400" spc="1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well</a:t>
                      </a:r>
                      <a:r>
                        <a:rPr dirty="0" sz="1400" spc="1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400" spc="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development</a:t>
                      </a:r>
                      <a:r>
                        <a:rPr dirty="0" sz="1400" spc="1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team</a:t>
                      </a:r>
                      <a:r>
                        <a:rPr dirty="0" sz="1400" spc="11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knows</a:t>
                      </a:r>
                      <a:r>
                        <a:rPr dirty="0" sz="1400" spc="1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each</a:t>
                      </a:r>
                      <a:r>
                        <a:rPr dirty="0" sz="1400" spc="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other</a:t>
                      </a:r>
                      <a:r>
                        <a:rPr dirty="0" sz="1400" spc="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400" spc="1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work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together.</a:t>
                      </a:r>
                      <a:r>
                        <a:rPr dirty="0" sz="1400" spc="1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Very</a:t>
                      </a:r>
                      <a:r>
                        <a:rPr dirty="0" sz="14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low</a:t>
                      </a:r>
                      <a:r>
                        <a:rPr dirty="0" sz="1400" spc="1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means</a:t>
                      </a:r>
                      <a:r>
                        <a:rPr dirty="0" sz="1400" spc="1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very</a:t>
                      </a:r>
                      <a:r>
                        <a:rPr dirty="0" sz="1400" spc="11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difficult</a:t>
                      </a:r>
                      <a:r>
                        <a:rPr dirty="0" sz="1400" spc="1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interactions;</a:t>
                      </a:r>
                      <a:r>
                        <a:rPr dirty="0" sz="1400" spc="1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extra-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high</a:t>
                      </a:r>
                      <a:r>
                        <a:rPr dirty="0" sz="1400" spc="1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means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an</a:t>
                      </a:r>
                      <a:r>
                        <a:rPr dirty="0" sz="14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integrated</a:t>
                      </a:r>
                      <a:r>
                        <a:rPr dirty="0" sz="14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effective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team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no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communication</a:t>
                      </a:r>
                      <a:r>
                        <a:rPr dirty="0" sz="14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problems.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Multipliers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330" y="1488005"/>
            <a:ext cx="8074659" cy="427736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endParaRPr sz="2400">
              <a:latin typeface="Arial MT"/>
              <a:cs typeface="Arial MT"/>
            </a:endParaRPr>
          </a:p>
          <a:p>
            <a:pPr lvl="1" marL="756285" marR="201295" indent="-287020">
              <a:lnSpc>
                <a:spcPts val="2160"/>
              </a:lnSpc>
              <a:spcBef>
                <a:spcPts val="93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Concerned</a:t>
            </a:r>
            <a:r>
              <a:rPr dirty="0" sz="20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required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characteristics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product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being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developed.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Computer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endParaRPr sz="2400">
              <a:latin typeface="Arial MT"/>
              <a:cs typeface="Arial MT"/>
            </a:endParaRPr>
          </a:p>
          <a:p>
            <a:pPr lvl="1" marL="756285" indent="-28638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Constraints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imposed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hardware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platform.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905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Personnel</a:t>
            </a:r>
            <a:r>
              <a:rPr dirty="0" sz="2400" spc="-1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endParaRPr sz="2400">
              <a:latin typeface="Arial MT"/>
              <a:cs typeface="Arial MT"/>
            </a:endParaRPr>
          </a:p>
          <a:p>
            <a:pPr lvl="1" marL="756285" indent="-286385">
              <a:lnSpc>
                <a:spcPts val="2280"/>
              </a:lnSpc>
              <a:spcBef>
                <a:spcPts val="665"/>
              </a:spcBef>
              <a:buFont typeface="Wingdings"/>
              <a:buChar char=""/>
              <a:tabLst>
                <a:tab pos="7562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Multipliers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take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experience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capabilities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people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ts val="2280"/>
              </a:lnSpc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working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into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account.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91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endParaRPr sz="2400">
              <a:latin typeface="Arial MT"/>
              <a:cs typeface="Arial MT"/>
            </a:endParaRPr>
          </a:p>
          <a:p>
            <a:pPr lvl="1" marL="756285" marR="5080" indent="-287020">
              <a:lnSpc>
                <a:spcPts val="2160"/>
              </a:lnSpc>
              <a:spcBef>
                <a:spcPts val="935"/>
              </a:spcBef>
              <a:buFont typeface="Wingdings"/>
              <a:buChar char=""/>
              <a:tabLst>
                <a:tab pos="756285" algn="l"/>
                <a:tab pos="2152650" algn="l"/>
                <a:tab pos="2757805" algn="l"/>
                <a:tab pos="3263900" algn="l"/>
                <a:tab pos="4460240" algn="l"/>
                <a:tab pos="6235700" algn="l"/>
                <a:tab pos="6600190" algn="l"/>
                <a:tab pos="7105015" algn="l"/>
              </a:tabLst>
            </a:pP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Concerned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particular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characteristics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	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software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project.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2122" rIns="0" bIns="0" rtlCol="0" vert="horz">
            <a:spAutoFit/>
          </a:bodyPr>
          <a:lstStyle/>
          <a:p>
            <a:pPr marL="17335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50"/>
              <a:t> </a:t>
            </a:r>
            <a:r>
              <a:rPr dirty="0"/>
              <a:t>effect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cost</a:t>
            </a:r>
            <a:r>
              <a:rPr dirty="0" spc="-50"/>
              <a:t> </a:t>
            </a:r>
            <a:r>
              <a:rPr dirty="0"/>
              <a:t>drivers</a:t>
            </a:r>
            <a:r>
              <a:rPr dirty="0" spc="-40"/>
              <a:t> </a:t>
            </a:r>
            <a:r>
              <a:rPr dirty="0"/>
              <a:t>on</a:t>
            </a:r>
            <a:r>
              <a:rPr dirty="0" spc="-35"/>
              <a:t> </a:t>
            </a:r>
            <a:r>
              <a:rPr dirty="0"/>
              <a:t>effort</a:t>
            </a:r>
            <a:r>
              <a:rPr dirty="0" spc="-40"/>
              <a:t> </a:t>
            </a:r>
            <a:r>
              <a:rPr dirty="0" spc="-10"/>
              <a:t>estimates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873123" y="1950211"/>
          <a:ext cx="5843905" cy="3807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3305"/>
                <a:gridCol w="3441700"/>
              </a:tblGrid>
              <a:tr h="370205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Exponent</a:t>
                      </a:r>
                      <a:r>
                        <a:rPr dirty="0" sz="14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value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20" b="1">
                          <a:latin typeface="Arial"/>
                          <a:cs typeface="Arial"/>
                        </a:rPr>
                        <a:t>1.17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54610">
                        <a:lnSpc>
                          <a:spcPts val="1639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System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size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(including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54610" marR="47815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factors</a:t>
                      </a:r>
                      <a:r>
                        <a:rPr dirty="0" sz="14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reuse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requirements</a:t>
                      </a:r>
                      <a:r>
                        <a:rPr dirty="0" sz="140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volatility)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39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128,000</a:t>
                      </a:r>
                      <a:r>
                        <a:rPr dirty="0" sz="14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DSI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54610" marR="147955">
                        <a:lnSpc>
                          <a:spcPts val="1680"/>
                        </a:lnSpc>
                        <a:spcBef>
                          <a:spcPts val="1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Initial</a:t>
                      </a:r>
                      <a:r>
                        <a:rPr dirty="0" sz="14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COCOMO</a:t>
                      </a:r>
                      <a:r>
                        <a:rPr dirty="0" sz="14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estimate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without</a:t>
                      </a:r>
                      <a:r>
                        <a:rPr dirty="0" sz="14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cost</a:t>
                      </a:r>
                      <a:r>
                        <a:rPr dirty="0" sz="14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drivers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39"/>
                        </a:lnSpc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730</a:t>
                      </a:r>
                      <a:r>
                        <a:rPr dirty="0" sz="14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person-months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54610">
                        <a:lnSpc>
                          <a:spcPts val="1639"/>
                        </a:lnSpc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Reliability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39"/>
                        </a:lnSpc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Very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high,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multiplier</a:t>
                      </a:r>
                      <a:r>
                        <a:rPr dirty="0" sz="14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=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1.39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54610">
                        <a:lnSpc>
                          <a:spcPts val="1639"/>
                        </a:lnSpc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Complexity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39"/>
                        </a:lnSpc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Very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high,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multiplier</a:t>
                      </a:r>
                      <a:r>
                        <a:rPr dirty="0" sz="14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=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1.3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54610">
                        <a:lnSpc>
                          <a:spcPts val="1645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Memory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constraint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45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High,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multiplier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=</a:t>
                      </a:r>
                      <a:r>
                        <a:rPr dirty="0" sz="1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1.21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54610">
                        <a:lnSpc>
                          <a:spcPts val="1645"/>
                        </a:lnSpc>
                      </a:pPr>
                      <a:r>
                        <a:rPr dirty="0" sz="1400" spc="-40">
                          <a:latin typeface="Arial MT"/>
                          <a:cs typeface="Arial MT"/>
                        </a:rPr>
                        <a:t>Tool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use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45"/>
                        </a:lnSpc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Low,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multiplier</a:t>
                      </a:r>
                      <a:r>
                        <a:rPr dirty="0" sz="14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=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1.12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54610">
                        <a:lnSpc>
                          <a:spcPts val="1645"/>
                        </a:lnSpc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Schedule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45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Accelerated,</a:t>
                      </a:r>
                      <a:r>
                        <a:rPr dirty="0" sz="14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multiplier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=</a:t>
                      </a:r>
                      <a:r>
                        <a:rPr dirty="0" sz="1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1.29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54610" marR="621665">
                        <a:lnSpc>
                          <a:spcPts val="1680"/>
                        </a:lnSpc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Adjusted</a:t>
                      </a:r>
                      <a:r>
                        <a:rPr dirty="0" sz="14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COCOMO estimate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45"/>
                        </a:lnSpc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2,306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person-months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23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50"/>
              <a:t> </a:t>
            </a:r>
            <a:r>
              <a:rPr dirty="0"/>
              <a:t>effect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cost</a:t>
            </a:r>
            <a:r>
              <a:rPr dirty="0" spc="-50"/>
              <a:t> </a:t>
            </a:r>
            <a:r>
              <a:rPr dirty="0"/>
              <a:t>drivers</a:t>
            </a:r>
            <a:r>
              <a:rPr dirty="0" spc="-40"/>
              <a:t> </a:t>
            </a:r>
            <a:r>
              <a:rPr dirty="0"/>
              <a:t>on</a:t>
            </a:r>
            <a:r>
              <a:rPr dirty="0" spc="-35"/>
              <a:t> </a:t>
            </a:r>
            <a:r>
              <a:rPr dirty="0"/>
              <a:t>effort</a:t>
            </a:r>
            <a:r>
              <a:rPr dirty="0" spc="-40"/>
              <a:t> </a:t>
            </a:r>
            <a:r>
              <a:rPr dirty="0" spc="-10"/>
              <a:t>estimates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426972" y="2628138"/>
          <a:ext cx="5843905" cy="2740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2670"/>
                <a:gridCol w="3441700"/>
              </a:tblGrid>
              <a:tr h="370205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Exponent</a:t>
                      </a:r>
                      <a:r>
                        <a:rPr dirty="0" sz="14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value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20" b="1">
                          <a:latin typeface="Arial"/>
                          <a:cs typeface="Arial"/>
                        </a:rPr>
                        <a:t>1.17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Reliability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Very</a:t>
                      </a:r>
                      <a:r>
                        <a:rPr dirty="0" sz="14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low,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multiplier</a:t>
                      </a:r>
                      <a:r>
                        <a:rPr dirty="0" sz="14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=</a:t>
                      </a:r>
                      <a:r>
                        <a:rPr dirty="0" sz="14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0.75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54610">
                        <a:lnSpc>
                          <a:spcPts val="1639"/>
                        </a:lnSpc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Complexity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39"/>
                        </a:lnSpc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Very</a:t>
                      </a:r>
                      <a:r>
                        <a:rPr dirty="0" sz="14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low,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multiplier</a:t>
                      </a:r>
                      <a:r>
                        <a:rPr dirty="0" sz="14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=</a:t>
                      </a:r>
                      <a:r>
                        <a:rPr dirty="0" sz="14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0.75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54610">
                        <a:lnSpc>
                          <a:spcPts val="1639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Memory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constraint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39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None,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multiplier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=</a:t>
                      </a:r>
                      <a:r>
                        <a:rPr dirty="0" sz="1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5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54610">
                        <a:lnSpc>
                          <a:spcPts val="1645"/>
                        </a:lnSpc>
                      </a:pPr>
                      <a:r>
                        <a:rPr dirty="0" sz="1400" spc="-40">
                          <a:latin typeface="Arial MT"/>
                          <a:cs typeface="Arial MT"/>
                        </a:rPr>
                        <a:t>Tool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use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45"/>
                        </a:lnSpc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Very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high,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multiplier</a:t>
                      </a:r>
                      <a:r>
                        <a:rPr dirty="0" sz="14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=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0.72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54610">
                        <a:lnSpc>
                          <a:spcPts val="1645"/>
                        </a:lnSpc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Schedule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45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Normal,</a:t>
                      </a:r>
                      <a:r>
                        <a:rPr dirty="0" sz="1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multiplier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=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5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54610">
                        <a:lnSpc>
                          <a:spcPts val="1639"/>
                        </a:lnSpc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Adjusted</a:t>
                      </a:r>
                      <a:r>
                        <a:rPr dirty="0" sz="14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COCOMO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estimate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39"/>
                        </a:lnSpc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295</a:t>
                      </a:r>
                      <a:r>
                        <a:rPr dirty="0" sz="1400" spc="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person-months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30"/>
              <a:t> </a:t>
            </a:r>
            <a:r>
              <a:rPr dirty="0"/>
              <a:t>duration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 spc="-10"/>
              <a:t>staffing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589278"/>
            <a:ext cx="8017509" cy="186118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355600" marR="5080" indent="-342900">
              <a:lnSpc>
                <a:spcPct val="90100"/>
              </a:lnSpc>
              <a:spcBef>
                <a:spcPts val="38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well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estimation,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managers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must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calendar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time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required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complete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when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staff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will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required.</a:t>
            </a:r>
            <a:endParaRPr sz="2400">
              <a:latin typeface="Arial MT"/>
              <a:cs typeface="Arial MT"/>
            </a:endParaRPr>
          </a:p>
          <a:p>
            <a:pPr marL="355600" marR="524510" indent="-342900">
              <a:lnSpc>
                <a:spcPts val="2590"/>
              </a:lnSpc>
              <a:spcBef>
                <a:spcPts val="124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Calendar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time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estimated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using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COCOMO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2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formula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8044" y="3316275"/>
            <a:ext cx="7574280" cy="1498600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324485" indent="-286385">
              <a:lnSpc>
                <a:spcPct val="100000"/>
              </a:lnSpc>
              <a:spcBef>
                <a:spcPts val="1340"/>
              </a:spcBef>
              <a:buFont typeface="Wingdings"/>
              <a:buChar char=""/>
              <a:tabLst>
                <a:tab pos="324485" algn="l"/>
              </a:tabLst>
            </a:pPr>
            <a:r>
              <a:rPr dirty="0" baseline="-16666" sz="3000">
                <a:solidFill>
                  <a:srgbClr val="46424D"/>
                </a:solidFill>
                <a:latin typeface="Arial MT"/>
                <a:cs typeface="Arial MT"/>
              </a:rPr>
              <a:t>TDEV</a:t>
            </a:r>
            <a:r>
              <a:rPr dirty="0" baseline="-16666" sz="3000" spc="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baseline="-16666" sz="3000">
                <a:solidFill>
                  <a:srgbClr val="46424D"/>
                </a:solidFill>
                <a:latin typeface="Arial MT"/>
                <a:cs typeface="Arial MT"/>
              </a:rPr>
              <a:t>=</a:t>
            </a:r>
            <a:r>
              <a:rPr dirty="0" baseline="-16666" sz="3000" spc="7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baseline="-16666" sz="3000">
                <a:solidFill>
                  <a:srgbClr val="46424D"/>
                </a:solidFill>
                <a:latin typeface="Arial MT"/>
                <a:cs typeface="Arial MT"/>
              </a:rPr>
              <a:t>3</a:t>
            </a:r>
            <a:r>
              <a:rPr dirty="0" baseline="-16666" sz="3000" spc="37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baseline="-16666" sz="3000">
                <a:solidFill>
                  <a:srgbClr val="46424D"/>
                </a:solidFill>
                <a:latin typeface="MS PGothic"/>
                <a:cs typeface="MS PGothic"/>
              </a:rPr>
              <a:t>´</a:t>
            </a:r>
            <a:r>
              <a:rPr dirty="0" baseline="-16666" sz="3000" spc="-52">
                <a:solidFill>
                  <a:srgbClr val="46424D"/>
                </a:solidFill>
                <a:latin typeface="MS PGothic"/>
                <a:cs typeface="MS PGothic"/>
              </a:rPr>
              <a:t> </a:t>
            </a:r>
            <a:r>
              <a:rPr dirty="0" baseline="-16666" sz="3000">
                <a:solidFill>
                  <a:srgbClr val="46424D"/>
                </a:solidFill>
                <a:latin typeface="Arial MT"/>
                <a:cs typeface="Arial MT"/>
              </a:rPr>
              <a:t>(PM)</a:t>
            </a:r>
            <a:r>
              <a:rPr dirty="0" sz="1300">
                <a:solidFill>
                  <a:srgbClr val="46424D"/>
                </a:solidFill>
                <a:latin typeface="Arial MT"/>
                <a:cs typeface="Arial MT"/>
              </a:rPr>
              <a:t>(0.33+0.2*(B-</a:t>
            </a:r>
            <a:r>
              <a:rPr dirty="0" sz="1300" spc="-10">
                <a:solidFill>
                  <a:srgbClr val="46424D"/>
                </a:solidFill>
                <a:latin typeface="Arial MT"/>
                <a:cs typeface="Arial MT"/>
              </a:rPr>
              <a:t>1.01))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"/>
            </a:pPr>
            <a:endParaRPr sz="1300">
              <a:latin typeface="Arial MT"/>
              <a:cs typeface="Arial MT"/>
            </a:endParaRPr>
          </a:p>
          <a:p>
            <a:pPr marL="324485" marR="43180" indent="-287020">
              <a:lnSpc>
                <a:spcPts val="2160"/>
              </a:lnSpc>
              <a:buFont typeface="Wingdings"/>
              <a:buChar char=""/>
              <a:tabLst>
                <a:tab pos="324485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PM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computation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exponent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computed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as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discussed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above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(B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1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early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prototyping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model).</a:t>
            </a:r>
            <a:r>
              <a:rPr dirty="0" sz="20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This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computation</a:t>
            </a:r>
            <a:r>
              <a:rPr dirty="0" sz="20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predicts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nominal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schedule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project.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5940" y="4866208"/>
            <a:ext cx="7146290" cy="721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ts val="2735"/>
              </a:lnSpc>
              <a:spcBef>
                <a:spcPts val="1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time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required</a:t>
            </a:r>
            <a:r>
              <a:rPr dirty="0" sz="24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independent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number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ts val="2735"/>
              </a:lnSpc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people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working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project.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330" y="643254"/>
            <a:ext cx="8025130" cy="4098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46424D"/>
                </a:solidFill>
                <a:latin typeface="Arial"/>
                <a:cs typeface="Arial"/>
              </a:rPr>
              <a:t>Staffing</a:t>
            </a:r>
            <a:r>
              <a:rPr dirty="0" sz="2400" spc="-75" b="1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46424D"/>
                </a:solidFill>
                <a:latin typeface="Arial"/>
                <a:cs typeface="Arial"/>
              </a:rPr>
              <a:t>requirements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30"/>
              </a:spcBef>
            </a:pPr>
            <a:endParaRPr sz="2400">
              <a:latin typeface="Arial"/>
              <a:cs typeface="Arial"/>
            </a:endParaRPr>
          </a:p>
          <a:p>
            <a:pPr marL="355600" marR="1451610" indent="-342900">
              <a:lnSpc>
                <a:spcPts val="2590"/>
              </a:lnSpc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Staff</a:t>
            </a:r>
            <a:r>
              <a:rPr dirty="0" sz="24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can’t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computed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diving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time</a:t>
            </a:r>
            <a:r>
              <a:rPr dirty="0" sz="24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required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schedule.</a:t>
            </a:r>
            <a:endParaRPr sz="2400">
              <a:latin typeface="Arial MT"/>
              <a:cs typeface="Arial MT"/>
            </a:endParaRPr>
          </a:p>
          <a:p>
            <a:pPr marL="355600" marR="955040" indent="-342900">
              <a:lnSpc>
                <a:spcPts val="259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number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people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working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varies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depending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phase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project.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ts val="259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more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people</a:t>
            </a:r>
            <a:r>
              <a:rPr dirty="0" sz="24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who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project,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more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total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4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usually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required.</a:t>
            </a:r>
            <a:endParaRPr sz="2400">
              <a:latin typeface="Arial MT"/>
              <a:cs typeface="Arial MT"/>
            </a:endParaRPr>
          </a:p>
          <a:p>
            <a:pPr marL="355600" marR="728980" indent="-342900">
              <a:lnSpc>
                <a:spcPts val="259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400" spc="-1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very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rapid</a:t>
            </a:r>
            <a:r>
              <a:rPr dirty="0" sz="24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46424D"/>
                </a:solidFill>
                <a:latin typeface="Arial MT"/>
                <a:cs typeface="Arial MT"/>
              </a:rPr>
              <a:t>build-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up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people</a:t>
            </a:r>
            <a:r>
              <a:rPr dirty="0" sz="24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often</a:t>
            </a:r>
            <a:r>
              <a:rPr dirty="0" sz="2400" spc="-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correlates</a:t>
            </a:r>
            <a:r>
              <a:rPr dirty="0" sz="24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6424D"/>
                </a:solidFill>
                <a:latin typeface="Arial MT"/>
                <a:cs typeface="Arial MT"/>
              </a:rPr>
              <a:t>with </a:t>
            </a:r>
            <a:r>
              <a:rPr dirty="0" sz="2400">
                <a:solidFill>
                  <a:srgbClr val="46424D"/>
                </a:solidFill>
                <a:latin typeface="Arial MT"/>
                <a:cs typeface="Arial MT"/>
              </a:rPr>
              <a:t>schedule</a:t>
            </a:r>
            <a:r>
              <a:rPr dirty="0" sz="2400" spc="-114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24D"/>
                </a:solidFill>
                <a:latin typeface="Arial MT"/>
                <a:cs typeface="Arial MT"/>
              </a:rPr>
              <a:t>slippage.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dirty="0" spc="-50"/>
              <a:t> </a:t>
            </a:r>
            <a:r>
              <a:rPr dirty="0" spc="-10"/>
              <a:t>points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55600" marR="162560" indent="-342900">
              <a:lnSpc>
                <a:spcPct val="100000"/>
              </a:lnSpc>
              <a:spcBef>
                <a:spcPts val="1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/>
              <a:t>The</a:t>
            </a:r>
            <a:r>
              <a:rPr dirty="0" spc="-15"/>
              <a:t> </a:t>
            </a:r>
            <a:r>
              <a:rPr dirty="0"/>
              <a:t>price</a:t>
            </a:r>
            <a:r>
              <a:rPr dirty="0" spc="-10"/>
              <a:t> </a:t>
            </a:r>
            <a:r>
              <a:rPr dirty="0"/>
              <a:t>charged</a:t>
            </a:r>
            <a:r>
              <a:rPr dirty="0" spc="-40"/>
              <a:t> </a:t>
            </a:r>
            <a:r>
              <a:rPr dirty="0"/>
              <a:t>for</a:t>
            </a:r>
            <a:r>
              <a:rPr dirty="0" spc="-20"/>
              <a:t> </a:t>
            </a:r>
            <a:r>
              <a:rPr dirty="0"/>
              <a:t>a system</a:t>
            </a:r>
            <a:r>
              <a:rPr dirty="0" spc="-30"/>
              <a:t> </a:t>
            </a:r>
            <a:r>
              <a:rPr dirty="0"/>
              <a:t>does</a:t>
            </a:r>
            <a:r>
              <a:rPr dirty="0" spc="-15"/>
              <a:t> </a:t>
            </a:r>
            <a:r>
              <a:rPr dirty="0"/>
              <a:t>not</a:t>
            </a:r>
            <a:r>
              <a:rPr dirty="0" spc="-20"/>
              <a:t> </a:t>
            </a:r>
            <a:r>
              <a:rPr dirty="0"/>
              <a:t>just</a:t>
            </a:r>
            <a:r>
              <a:rPr dirty="0" spc="-25"/>
              <a:t> </a:t>
            </a:r>
            <a:r>
              <a:rPr dirty="0"/>
              <a:t>depend</a:t>
            </a:r>
            <a:r>
              <a:rPr dirty="0" spc="-20"/>
              <a:t> </a:t>
            </a:r>
            <a:r>
              <a:rPr dirty="0"/>
              <a:t>on</a:t>
            </a:r>
            <a:r>
              <a:rPr dirty="0" spc="5"/>
              <a:t> </a:t>
            </a:r>
            <a:r>
              <a:rPr dirty="0" spc="-25"/>
              <a:t>its </a:t>
            </a:r>
            <a:r>
              <a:rPr dirty="0"/>
              <a:t>estimated</a:t>
            </a:r>
            <a:r>
              <a:rPr dirty="0" spc="-45"/>
              <a:t> </a:t>
            </a:r>
            <a:r>
              <a:rPr dirty="0"/>
              <a:t>development</a:t>
            </a:r>
            <a:r>
              <a:rPr dirty="0" spc="-30"/>
              <a:t> </a:t>
            </a:r>
            <a:r>
              <a:rPr dirty="0"/>
              <a:t>costs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profit</a:t>
            </a:r>
            <a:r>
              <a:rPr dirty="0" spc="-25"/>
              <a:t> </a:t>
            </a:r>
            <a:r>
              <a:rPr dirty="0"/>
              <a:t>required</a:t>
            </a:r>
            <a:r>
              <a:rPr dirty="0" spc="-40"/>
              <a:t> </a:t>
            </a:r>
            <a:r>
              <a:rPr dirty="0"/>
              <a:t>by</a:t>
            </a:r>
            <a:r>
              <a:rPr dirty="0" spc="-5"/>
              <a:t> </a:t>
            </a:r>
            <a:r>
              <a:rPr dirty="0" spc="-25"/>
              <a:t>the </a:t>
            </a:r>
            <a:r>
              <a:rPr dirty="0"/>
              <a:t>development</a:t>
            </a:r>
            <a:r>
              <a:rPr dirty="0" spc="-50"/>
              <a:t> </a:t>
            </a:r>
            <a:r>
              <a:rPr dirty="0" spc="-10"/>
              <a:t>company.</a:t>
            </a:r>
            <a:r>
              <a:rPr dirty="0" spc="-60"/>
              <a:t> </a:t>
            </a:r>
            <a:r>
              <a:rPr dirty="0"/>
              <a:t>Organizational</a:t>
            </a:r>
            <a:r>
              <a:rPr dirty="0" spc="-55"/>
              <a:t> </a:t>
            </a:r>
            <a:r>
              <a:rPr dirty="0"/>
              <a:t>factors</a:t>
            </a:r>
            <a:r>
              <a:rPr dirty="0" spc="-50"/>
              <a:t> </a:t>
            </a:r>
            <a:r>
              <a:rPr dirty="0"/>
              <a:t>may</a:t>
            </a:r>
            <a:r>
              <a:rPr dirty="0" spc="-30"/>
              <a:t> </a:t>
            </a:r>
            <a:r>
              <a:rPr dirty="0"/>
              <a:t>mean</a:t>
            </a:r>
            <a:r>
              <a:rPr dirty="0" spc="-30"/>
              <a:t> </a:t>
            </a:r>
            <a:r>
              <a:rPr dirty="0"/>
              <a:t>that</a:t>
            </a:r>
            <a:r>
              <a:rPr dirty="0" spc="-35"/>
              <a:t> </a:t>
            </a:r>
            <a:r>
              <a:rPr dirty="0" spc="-25"/>
              <a:t>the </a:t>
            </a:r>
            <a:r>
              <a:rPr dirty="0"/>
              <a:t>price</a:t>
            </a:r>
            <a:r>
              <a:rPr dirty="0" spc="-35"/>
              <a:t> </a:t>
            </a:r>
            <a:r>
              <a:rPr dirty="0"/>
              <a:t>is increased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/>
              <a:t>compensate</a:t>
            </a:r>
            <a:r>
              <a:rPr dirty="0" spc="-50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/>
              <a:t>increased</a:t>
            </a:r>
            <a:r>
              <a:rPr dirty="0" spc="-40"/>
              <a:t> </a:t>
            </a:r>
            <a:r>
              <a:rPr dirty="0"/>
              <a:t>risk</a:t>
            </a:r>
            <a:r>
              <a:rPr dirty="0" spc="-25"/>
              <a:t> </a:t>
            </a:r>
            <a:r>
              <a:rPr dirty="0"/>
              <a:t>or</a:t>
            </a:r>
            <a:r>
              <a:rPr dirty="0" spc="-10"/>
              <a:t> </a:t>
            </a:r>
            <a:r>
              <a:rPr dirty="0"/>
              <a:t>decreased</a:t>
            </a:r>
            <a:r>
              <a:rPr dirty="0" spc="-55"/>
              <a:t> </a:t>
            </a:r>
            <a:r>
              <a:rPr dirty="0" spc="-25"/>
              <a:t>to </a:t>
            </a:r>
            <a:r>
              <a:rPr dirty="0"/>
              <a:t>gain</a:t>
            </a:r>
            <a:r>
              <a:rPr dirty="0" spc="-35"/>
              <a:t> </a:t>
            </a:r>
            <a:r>
              <a:rPr dirty="0"/>
              <a:t>competitive</a:t>
            </a:r>
            <a:r>
              <a:rPr dirty="0" spc="-25"/>
              <a:t> </a:t>
            </a:r>
            <a:r>
              <a:rPr dirty="0" spc="-10"/>
              <a:t>advantage.</a:t>
            </a: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4965" algn="l"/>
              </a:tabLst>
            </a:pPr>
            <a:r>
              <a:rPr dirty="0"/>
              <a:t>Software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5"/>
              <a:t> </a:t>
            </a:r>
            <a:r>
              <a:rPr dirty="0"/>
              <a:t>often</a:t>
            </a:r>
            <a:r>
              <a:rPr dirty="0" spc="-30"/>
              <a:t> </a:t>
            </a:r>
            <a:r>
              <a:rPr dirty="0"/>
              <a:t>priced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5"/>
              <a:t> </a:t>
            </a:r>
            <a:r>
              <a:rPr dirty="0"/>
              <a:t>gain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/>
              <a:t>contract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functionality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the</a:t>
            </a: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/>
              <a:t>system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10"/>
              <a:t> </a:t>
            </a:r>
            <a:r>
              <a:rPr dirty="0"/>
              <a:t>then</a:t>
            </a:r>
            <a:r>
              <a:rPr dirty="0" spc="-30"/>
              <a:t> </a:t>
            </a:r>
            <a:r>
              <a:rPr dirty="0"/>
              <a:t>adjusted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meet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estimated</a:t>
            </a:r>
            <a:r>
              <a:rPr dirty="0" spc="-45"/>
              <a:t> </a:t>
            </a:r>
            <a:r>
              <a:rPr dirty="0" spc="-10"/>
              <a:t>price.</a:t>
            </a:r>
          </a:p>
          <a:p>
            <a:pPr marL="355600" marR="9525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pc="-20"/>
              <a:t>Plan-</a:t>
            </a:r>
            <a:r>
              <a:rPr dirty="0"/>
              <a:t>driven</a:t>
            </a:r>
            <a:r>
              <a:rPr dirty="0" spc="-25"/>
              <a:t> </a:t>
            </a:r>
            <a:r>
              <a:rPr dirty="0"/>
              <a:t>development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/>
              <a:t>organized</a:t>
            </a:r>
            <a:r>
              <a:rPr dirty="0" spc="-45"/>
              <a:t> </a:t>
            </a:r>
            <a:r>
              <a:rPr dirty="0"/>
              <a:t>around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complete</a:t>
            </a:r>
            <a:r>
              <a:rPr dirty="0" spc="-45"/>
              <a:t> </a:t>
            </a:r>
            <a:r>
              <a:rPr dirty="0" spc="-10"/>
              <a:t>project </a:t>
            </a:r>
            <a:r>
              <a:rPr dirty="0"/>
              <a:t>plan</a:t>
            </a:r>
            <a:r>
              <a:rPr dirty="0" spc="-25"/>
              <a:t> </a:t>
            </a:r>
            <a:r>
              <a:rPr dirty="0"/>
              <a:t>that</a:t>
            </a:r>
            <a:r>
              <a:rPr dirty="0" spc="-25"/>
              <a:t> </a:t>
            </a:r>
            <a:r>
              <a:rPr dirty="0"/>
              <a:t>defines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project</a:t>
            </a:r>
            <a:r>
              <a:rPr dirty="0" spc="-40"/>
              <a:t> </a:t>
            </a:r>
            <a:r>
              <a:rPr dirty="0"/>
              <a:t>activities,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planned</a:t>
            </a:r>
            <a:r>
              <a:rPr dirty="0" spc="-25"/>
              <a:t> </a:t>
            </a:r>
            <a:r>
              <a:rPr dirty="0"/>
              <a:t>effort,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 spc="-10"/>
              <a:t>activity </a:t>
            </a:r>
            <a:r>
              <a:rPr dirty="0"/>
              <a:t>schedule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who</a:t>
            </a:r>
            <a:r>
              <a:rPr dirty="0" spc="-15"/>
              <a:t> </a:t>
            </a:r>
            <a:r>
              <a:rPr dirty="0"/>
              <a:t>is</a:t>
            </a:r>
            <a:r>
              <a:rPr dirty="0" spc="-20"/>
              <a:t> </a:t>
            </a:r>
            <a:r>
              <a:rPr dirty="0"/>
              <a:t>responsible</a:t>
            </a:r>
            <a:r>
              <a:rPr dirty="0" spc="-40"/>
              <a:t> </a:t>
            </a:r>
            <a:r>
              <a:rPr dirty="0"/>
              <a:t>for</a:t>
            </a:r>
            <a:r>
              <a:rPr dirty="0" spc="-20"/>
              <a:t> </a:t>
            </a:r>
            <a:r>
              <a:rPr dirty="0"/>
              <a:t>each</a:t>
            </a:r>
            <a:r>
              <a:rPr dirty="0" spc="-35"/>
              <a:t> </a:t>
            </a:r>
            <a:r>
              <a:rPr dirty="0" spc="-10"/>
              <a:t>activity.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dirty="0" spc="-50"/>
              <a:t> </a:t>
            </a:r>
            <a:r>
              <a:rPr dirty="0" spc="-10"/>
              <a:t>points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625854"/>
            <a:ext cx="7888605" cy="39897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97155" indent="-342900">
              <a:lnSpc>
                <a:spcPct val="100000"/>
              </a:lnSpc>
              <a:spcBef>
                <a:spcPts val="1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scheduling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involves 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creation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various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graphical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representations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part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plan.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Bar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charts,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which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show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activity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duration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staffing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timelines,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most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commonly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schedule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representations.</a:t>
            </a:r>
            <a:endParaRPr sz="2000">
              <a:latin typeface="Arial MT"/>
              <a:cs typeface="Arial MT"/>
            </a:endParaRPr>
          </a:p>
          <a:p>
            <a:pPr marL="355600" marR="7937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1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milestone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predictable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outcome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activity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set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of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activities.</a:t>
            </a:r>
            <a:r>
              <a:rPr dirty="0" sz="2000" spc="-1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At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each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milestone,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formal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report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progress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be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presented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management.</a:t>
            </a:r>
            <a:r>
              <a:rPr dirty="0" sz="2000" spc="-16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10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deliverable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work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is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delivered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customer.</a:t>
            </a:r>
            <a:endParaRPr sz="20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agile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planning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game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involves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whole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team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project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planning.</a:t>
            </a:r>
            <a:r>
              <a:rPr dirty="0" sz="2000" spc="-7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plan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developed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incrementally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and,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if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problems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arise,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 adjusted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functionality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 reduced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instead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delaying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delivery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increment.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8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dirty="0" spc="-50"/>
              <a:t> </a:t>
            </a:r>
            <a:r>
              <a:rPr dirty="0" spc="-10"/>
              <a:t>points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dirty="0" spc="-70"/>
              <a:t> </a:t>
            </a:r>
            <a:r>
              <a:rPr dirty="0"/>
              <a:t>23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Planning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625854"/>
            <a:ext cx="8074659" cy="2007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Estimation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techniques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experience-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based,</a:t>
            </a:r>
            <a:r>
              <a:rPr dirty="0" sz="2000" spc="-5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where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managers</a:t>
            </a:r>
            <a:r>
              <a:rPr dirty="0" sz="2000" spc="-7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judge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effort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required,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algorithmic,</a:t>
            </a:r>
            <a:r>
              <a:rPr dirty="0" sz="2000" spc="-5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effort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required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computed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from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other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estimated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parameters.</a:t>
            </a:r>
            <a:endParaRPr sz="2000">
              <a:latin typeface="Arial MT"/>
              <a:cs typeface="Arial MT"/>
            </a:endParaRPr>
          </a:p>
          <a:p>
            <a:pPr algn="just" marL="355600" marR="252729" indent="-342900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5600" algn="l"/>
              </a:tabLst>
            </a:pP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COCOMO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II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costing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model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is a</a:t>
            </a:r>
            <a:r>
              <a:rPr dirty="0" sz="2000" spc="-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mature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algorithmic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cost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model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takes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project,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product,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hardware</a:t>
            </a:r>
            <a:r>
              <a:rPr dirty="0" sz="2000" spc="-3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personnel</a:t>
            </a:r>
            <a:r>
              <a:rPr dirty="0" sz="2000" spc="-4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attributes</a:t>
            </a:r>
            <a:r>
              <a:rPr dirty="0" sz="2000" spc="-2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into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account</a:t>
            </a:r>
            <a:r>
              <a:rPr dirty="0" sz="2000" spc="-4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when</a:t>
            </a:r>
            <a:r>
              <a:rPr dirty="0" sz="2000" spc="-15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formulating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dirty="0" sz="2000" spc="-2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24D"/>
                </a:solidFill>
                <a:latin typeface="Arial MT"/>
                <a:cs typeface="Arial MT"/>
              </a:rPr>
              <a:t>cost</a:t>
            </a:r>
            <a:r>
              <a:rPr dirty="0" sz="2000" spc="-3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24D"/>
                </a:solidFill>
                <a:latin typeface="Arial MT"/>
                <a:cs typeface="Arial MT"/>
              </a:rPr>
              <a:t>estimate.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Ian Sommerville</dc:creator>
  <dc:title>Figures – Chapter 23</dc:title>
  <dcterms:created xsi:type="dcterms:W3CDTF">2024-07-25T18:03:57Z</dcterms:created>
  <dcterms:modified xsi:type="dcterms:W3CDTF">2024-07-25T18:03:57Z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2024-07-15T00:00:00Z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2024-07-25T00:00:00Z</vt:filetime>
  </property>
  <property fmtid="{D5CDD505-2E9C-101B-9397-08002B2CF9AE}" pid="5" name="Producer">
    <vt:lpwstr>Microsoft® PowerPoint® LTSC</vt:lpwstr>
  </property>
</Properties>
</file>