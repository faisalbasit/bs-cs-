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5"/>
              <a:t>Chapter</a:t>
            </a:r>
            <a:r>
              <a:rPr dirty="0" spc="-55"/>
              <a:t> </a:t>
            </a:r>
            <a:r>
              <a:rPr dirty="0"/>
              <a:t>9</a:t>
            </a:r>
            <a:r>
              <a:rPr dirty="0" spc="-10"/>
              <a:t> </a:t>
            </a:r>
            <a:r>
              <a:rPr dirty="0" spc="-5"/>
              <a:t>Software</a:t>
            </a:r>
            <a:r>
              <a:rPr dirty="0" spc="-30"/>
              <a:t> </a:t>
            </a:r>
            <a:r>
              <a:rPr dirty="0" spc="-5"/>
              <a:t>evolution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46424D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5"/>
              <a:t>Chapter</a:t>
            </a:r>
            <a:r>
              <a:rPr dirty="0" spc="-55"/>
              <a:t> </a:t>
            </a:r>
            <a:r>
              <a:rPr dirty="0"/>
              <a:t>9</a:t>
            </a:r>
            <a:r>
              <a:rPr dirty="0" spc="-10"/>
              <a:t> </a:t>
            </a:r>
            <a:r>
              <a:rPr dirty="0" spc="-5"/>
              <a:t>Software</a:t>
            </a:r>
            <a:r>
              <a:rPr dirty="0" spc="-30"/>
              <a:t> </a:t>
            </a:r>
            <a:r>
              <a:rPr dirty="0" spc="-5"/>
              <a:t>evolution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46424D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5"/>
              <a:t>Chapter</a:t>
            </a:r>
            <a:r>
              <a:rPr dirty="0" spc="-55"/>
              <a:t> </a:t>
            </a:r>
            <a:r>
              <a:rPr dirty="0"/>
              <a:t>9</a:t>
            </a:r>
            <a:r>
              <a:rPr dirty="0" spc="-10"/>
              <a:t> </a:t>
            </a:r>
            <a:r>
              <a:rPr dirty="0" spc="-5"/>
              <a:t>Software</a:t>
            </a:r>
            <a:r>
              <a:rPr dirty="0" spc="-30"/>
              <a:t> </a:t>
            </a:r>
            <a:r>
              <a:rPr dirty="0" spc="-5"/>
              <a:t>evolution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46424D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5"/>
              <a:t>Chapter</a:t>
            </a:r>
            <a:r>
              <a:rPr dirty="0" spc="-55"/>
              <a:t> </a:t>
            </a:r>
            <a:r>
              <a:rPr dirty="0"/>
              <a:t>9</a:t>
            </a:r>
            <a:r>
              <a:rPr dirty="0" spc="-10"/>
              <a:t> </a:t>
            </a:r>
            <a:r>
              <a:rPr dirty="0" spc="-5"/>
              <a:t>Software</a:t>
            </a:r>
            <a:r>
              <a:rPr dirty="0" spc="-30"/>
              <a:t> </a:t>
            </a:r>
            <a:r>
              <a:rPr dirty="0" spc="-5"/>
              <a:t>evolution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5"/>
              <a:t>Chapter</a:t>
            </a:r>
            <a:r>
              <a:rPr dirty="0" spc="-55"/>
              <a:t> </a:t>
            </a:r>
            <a:r>
              <a:rPr dirty="0"/>
              <a:t>9</a:t>
            </a:r>
            <a:r>
              <a:rPr dirty="0" spc="-10"/>
              <a:t> </a:t>
            </a:r>
            <a:r>
              <a:rPr dirty="0" spc="-5"/>
              <a:t>Software</a:t>
            </a:r>
            <a:r>
              <a:rPr dirty="0" spc="-30"/>
              <a:t> </a:t>
            </a:r>
            <a:r>
              <a:rPr dirty="0" spc="-5"/>
              <a:t>evolution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751063" y="286511"/>
            <a:ext cx="923544" cy="1143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4527" y="1383792"/>
            <a:ext cx="7400544" cy="108076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57961" y="1419606"/>
            <a:ext cx="7306309" cy="1905"/>
          </a:xfrm>
          <a:custGeom>
            <a:avLst/>
            <a:gdLst/>
            <a:ahLst/>
            <a:cxnLst/>
            <a:rect l="l" t="t" r="r" b="b"/>
            <a:pathLst>
              <a:path w="7306309" h="1905">
                <a:moveTo>
                  <a:pt x="0" y="0"/>
                </a:moveTo>
                <a:lnTo>
                  <a:pt x="7305802" y="1651"/>
                </a:lnTo>
              </a:path>
            </a:pathLst>
          </a:custGeom>
          <a:ln w="25400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643254"/>
            <a:ext cx="8072119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46424D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0850" y="1885060"/>
            <a:ext cx="8248650" cy="287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52265" y="6464680"/>
            <a:ext cx="1838960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5"/>
              <a:t>Chapter</a:t>
            </a:r>
            <a:r>
              <a:rPr dirty="0" spc="-55"/>
              <a:t> </a:t>
            </a:r>
            <a:r>
              <a:rPr dirty="0"/>
              <a:t>9</a:t>
            </a:r>
            <a:r>
              <a:rPr dirty="0" spc="-10"/>
              <a:t> </a:t>
            </a:r>
            <a:r>
              <a:rPr dirty="0" spc="-5"/>
              <a:t>Software</a:t>
            </a:r>
            <a:r>
              <a:rPr dirty="0" spc="-30"/>
              <a:t> </a:t>
            </a:r>
            <a:r>
              <a:rPr dirty="0" spc="-5"/>
              <a:t>evolution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401557" y="6464680"/>
            <a:ext cx="23177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2662809"/>
            <a:ext cx="453072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Chapter</a:t>
            </a:r>
            <a:r>
              <a:rPr dirty="0"/>
              <a:t> </a:t>
            </a:r>
            <a:r>
              <a:rPr dirty="0" spc="-5"/>
              <a:t>9</a:t>
            </a:r>
            <a:r>
              <a:rPr dirty="0"/>
              <a:t> – Software</a:t>
            </a:r>
            <a:r>
              <a:rPr dirty="0" spc="-35"/>
              <a:t> </a:t>
            </a:r>
            <a:r>
              <a:rPr dirty="0" spc="-5"/>
              <a:t>Evolution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5"/>
              <a:t>Chapter</a:t>
            </a:r>
            <a:r>
              <a:rPr dirty="0" spc="-55"/>
              <a:t> </a:t>
            </a:r>
            <a:r>
              <a:rPr dirty="0"/>
              <a:t>9</a:t>
            </a:r>
            <a:r>
              <a:rPr dirty="0" spc="-10"/>
              <a:t> </a:t>
            </a:r>
            <a:r>
              <a:rPr dirty="0" spc="-5"/>
              <a:t>Software</a:t>
            </a:r>
            <a:r>
              <a:rPr dirty="0" spc="-30"/>
              <a:t> </a:t>
            </a:r>
            <a:r>
              <a:rPr dirty="0" spc="-5"/>
              <a:t>evolution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23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43254"/>
            <a:ext cx="223583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5"/>
              <a:t>Topics</a:t>
            </a:r>
            <a:r>
              <a:rPr dirty="0" spc="-60"/>
              <a:t> </a:t>
            </a:r>
            <a:r>
              <a:rPr dirty="0" spc="-5"/>
              <a:t>covered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5"/>
              <a:t>Chapter</a:t>
            </a:r>
            <a:r>
              <a:rPr dirty="0" spc="-55"/>
              <a:t> </a:t>
            </a:r>
            <a:r>
              <a:rPr dirty="0"/>
              <a:t>9</a:t>
            </a:r>
            <a:r>
              <a:rPr dirty="0" spc="-10"/>
              <a:t> </a:t>
            </a:r>
            <a:r>
              <a:rPr dirty="0" spc="-5"/>
              <a:t>Software</a:t>
            </a:r>
            <a:r>
              <a:rPr dirty="0" spc="-30"/>
              <a:t> </a:t>
            </a:r>
            <a:r>
              <a:rPr dirty="0" spc="-5"/>
              <a:t>evolution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23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535940" y="1488510"/>
            <a:ext cx="6257925" cy="3646804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8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Evolution</a:t>
            </a:r>
            <a:r>
              <a:rPr dirty="0" sz="2400" spc="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processes</a:t>
            </a:r>
            <a:endParaRPr sz="2400">
              <a:latin typeface="Arial MT"/>
              <a:cs typeface="Arial MT"/>
            </a:endParaRPr>
          </a:p>
          <a:p>
            <a:pPr lvl="1" marL="756285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Change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processes</a:t>
            </a:r>
            <a:r>
              <a:rPr dirty="0" sz="20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systems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9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Program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evolution</a:t>
            </a:r>
            <a:r>
              <a:rPr dirty="0" sz="2400" spc="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dynamics</a:t>
            </a:r>
            <a:endParaRPr sz="2400">
              <a:latin typeface="Arial MT"/>
              <a:cs typeface="Arial MT"/>
            </a:endParaRPr>
          </a:p>
          <a:p>
            <a:pPr lvl="1" marL="756285" indent="-287020">
              <a:lnSpc>
                <a:spcPct val="100000"/>
              </a:lnSpc>
              <a:spcBef>
                <a:spcPts val="90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Understanding</a:t>
            </a:r>
            <a:r>
              <a:rPr dirty="0" sz="20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0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evolution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9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maintenance</a:t>
            </a:r>
            <a:endParaRPr sz="2400">
              <a:latin typeface="Arial MT"/>
              <a:cs typeface="Arial MT"/>
            </a:endParaRPr>
          </a:p>
          <a:p>
            <a:pPr lvl="1" marL="756285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Making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changes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operational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systems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Legacy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management</a:t>
            </a:r>
            <a:endParaRPr sz="2400">
              <a:latin typeface="Arial MT"/>
              <a:cs typeface="Arial MT"/>
            </a:endParaRPr>
          </a:p>
          <a:p>
            <a:pPr lvl="1" marL="756285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Making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decisions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about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change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43254"/>
            <a:ext cx="246316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Software</a:t>
            </a:r>
            <a:r>
              <a:rPr dirty="0" spc="-85"/>
              <a:t> </a:t>
            </a:r>
            <a:r>
              <a:rPr dirty="0" spc="-5"/>
              <a:t>change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5"/>
              <a:t>Chapter</a:t>
            </a:r>
            <a:r>
              <a:rPr dirty="0" spc="-55"/>
              <a:t> </a:t>
            </a:r>
            <a:r>
              <a:rPr dirty="0"/>
              <a:t>9</a:t>
            </a:r>
            <a:r>
              <a:rPr dirty="0" spc="-10"/>
              <a:t> </a:t>
            </a:r>
            <a:r>
              <a:rPr dirty="0" spc="-5"/>
              <a:t>Software</a:t>
            </a:r>
            <a:r>
              <a:rPr dirty="0" spc="-30"/>
              <a:t> </a:t>
            </a:r>
            <a:r>
              <a:rPr dirty="0" spc="-5"/>
              <a:t>evolution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23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535940" y="1488510"/>
            <a:ext cx="7830184" cy="3623310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8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change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inevitable</a:t>
            </a:r>
            <a:endParaRPr sz="2400">
              <a:latin typeface="Arial MT"/>
              <a:cs typeface="Arial MT"/>
            </a:endParaRPr>
          </a:p>
          <a:p>
            <a:pPr lvl="1" marL="756285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New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requirements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emerge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when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is used;</a:t>
            </a:r>
            <a:endParaRPr sz="2000">
              <a:latin typeface="Arial MT"/>
              <a:cs typeface="Arial MT"/>
            </a:endParaRPr>
          </a:p>
          <a:p>
            <a:pPr lvl="1" marL="756285" indent="-28702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business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environment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changes;</a:t>
            </a:r>
            <a:endParaRPr sz="2000">
              <a:latin typeface="Arial MT"/>
              <a:cs typeface="Arial MT"/>
            </a:endParaRPr>
          </a:p>
          <a:p>
            <a:pPr lvl="1" marL="756285" indent="-28702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Errors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must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repaired;</a:t>
            </a:r>
            <a:endParaRPr sz="2000">
              <a:latin typeface="Arial MT"/>
              <a:cs typeface="Arial MT"/>
            </a:endParaRPr>
          </a:p>
          <a:p>
            <a:pPr lvl="1" marL="756285" indent="-28702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New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computers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equipment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is added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system;</a:t>
            </a:r>
            <a:endParaRPr sz="2000">
              <a:latin typeface="Arial MT"/>
              <a:cs typeface="Arial MT"/>
            </a:endParaRPr>
          </a:p>
          <a:p>
            <a:pPr lvl="1" marL="756285" marR="398145" indent="-287020">
              <a:lnSpc>
                <a:spcPct val="100000"/>
              </a:lnSpc>
              <a:spcBef>
                <a:spcPts val="60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performance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or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reliability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have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be </a:t>
            </a:r>
            <a:r>
              <a:rPr dirty="0" sz="2000" spc="-5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improved.</a:t>
            </a:r>
            <a:endParaRPr sz="20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894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 key problem for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all organizations is implementing and </a:t>
            </a:r>
            <a:r>
              <a:rPr dirty="0" sz="2400" spc="-6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managing</a:t>
            </a:r>
            <a:r>
              <a:rPr dirty="0" sz="2400" spc="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change</a:t>
            </a:r>
            <a:r>
              <a:rPr dirty="0" sz="2400" spc="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their</a:t>
            </a:r>
            <a:r>
              <a:rPr dirty="0" sz="2400" spc="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existing</a:t>
            </a:r>
            <a:r>
              <a:rPr dirty="0" sz="2400" spc="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 systems.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643254"/>
            <a:ext cx="7802245" cy="36182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46424D"/>
                </a:solidFill>
                <a:latin typeface="Arial"/>
                <a:cs typeface="Arial"/>
              </a:rPr>
              <a:t>Importance</a:t>
            </a:r>
            <a:r>
              <a:rPr dirty="0" sz="2400" spc="-15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46424D"/>
                </a:solidFill>
                <a:latin typeface="Arial"/>
                <a:cs typeface="Arial"/>
              </a:rPr>
              <a:t>of</a:t>
            </a:r>
            <a:r>
              <a:rPr dirty="0" sz="2400" spc="-5" b="1">
                <a:solidFill>
                  <a:srgbClr val="46424D"/>
                </a:solidFill>
                <a:latin typeface="Arial"/>
                <a:cs typeface="Arial"/>
              </a:rPr>
              <a:t> evolution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700">
              <a:latin typeface="Arial"/>
              <a:cs typeface="Arial"/>
            </a:endParaRPr>
          </a:p>
          <a:p>
            <a:pPr marL="355600" marR="98425" indent="-342900">
              <a:lnSpc>
                <a:spcPts val="2590"/>
              </a:lnSpc>
              <a:spcBef>
                <a:spcPts val="1789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Organisations</a:t>
            </a:r>
            <a:r>
              <a:rPr dirty="0" sz="2400" spc="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have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huge</a:t>
            </a:r>
            <a:r>
              <a:rPr dirty="0" sz="2400" spc="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investments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 spc="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their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software </a:t>
            </a:r>
            <a:r>
              <a:rPr dirty="0" sz="2400" spc="-6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systems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-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they are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critical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business</a:t>
            </a:r>
            <a:r>
              <a:rPr dirty="0" sz="2400" spc="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assets.</a:t>
            </a:r>
            <a:endParaRPr sz="2400">
              <a:latin typeface="Arial MT"/>
              <a:cs typeface="Arial MT"/>
            </a:endParaRPr>
          </a:p>
          <a:p>
            <a:pPr marL="355600" marR="193675" indent="-342900">
              <a:lnSpc>
                <a:spcPts val="2590"/>
              </a:lnSpc>
              <a:spcBef>
                <a:spcPts val="121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 spc="-135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maintain</a:t>
            </a:r>
            <a:r>
              <a:rPr dirty="0" sz="2400" spc="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value</a:t>
            </a:r>
            <a:r>
              <a:rPr dirty="0" sz="2400" spc="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these</a:t>
            </a:r>
            <a:r>
              <a:rPr dirty="0" sz="2400" spc="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assets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 the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business, </a:t>
            </a:r>
            <a:r>
              <a:rPr dirty="0" sz="2400" spc="-6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they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must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changed</a:t>
            </a:r>
            <a:r>
              <a:rPr dirty="0" sz="2400" spc="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updated.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ts val="259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 majority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 the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software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budget</a:t>
            </a:r>
            <a:r>
              <a:rPr dirty="0" sz="2400" spc="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large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companies </a:t>
            </a:r>
            <a:r>
              <a:rPr dirty="0" sz="2400" spc="-6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devoted</a:t>
            </a:r>
            <a:r>
              <a:rPr dirty="0" sz="2400" spc="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changing</a:t>
            </a:r>
            <a:r>
              <a:rPr dirty="0" sz="2400" spc="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evolving</a:t>
            </a:r>
            <a:r>
              <a:rPr dirty="0" sz="2400" spc="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existing</a:t>
            </a:r>
            <a:r>
              <a:rPr dirty="0" sz="2400" spc="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software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rather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than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developing</a:t>
            </a:r>
            <a:r>
              <a:rPr dirty="0" sz="2400" spc="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new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5"/>
              <a:t>Chapter</a:t>
            </a:r>
            <a:r>
              <a:rPr dirty="0" spc="-55"/>
              <a:t> </a:t>
            </a:r>
            <a:r>
              <a:rPr dirty="0"/>
              <a:t>9</a:t>
            </a:r>
            <a:r>
              <a:rPr dirty="0" spc="-10"/>
              <a:t> </a:t>
            </a:r>
            <a:r>
              <a:rPr dirty="0" spc="-5"/>
              <a:t>Software</a:t>
            </a:r>
            <a:r>
              <a:rPr dirty="0" spc="-30"/>
              <a:t> </a:t>
            </a:r>
            <a:r>
              <a:rPr dirty="0" spc="-5"/>
              <a:t>evolution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23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43254"/>
            <a:ext cx="300228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Evolution</a:t>
            </a:r>
            <a:r>
              <a:rPr dirty="0" spc="-55"/>
              <a:t> </a:t>
            </a:r>
            <a:r>
              <a:rPr dirty="0" spc="-5"/>
              <a:t>processes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5"/>
              <a:t>Chapter</a:t>
            </a:r>
            <a:r>
              <a:rPr dirty="0" spc="-55"/>
              <a:t> </a:t>
            </a:r>
            <a:r>
              <a:rPr dirty="0"/>
              <a:t>9</a:t>
            </a:r>
            <a:r>
              <a:rPr dirty="0" spc="-10"/>
              <a:t> </a:t>
            </a:r>
            <a:r>
              <a:rPr dirty="0" spc="-5"/>
              <a:t>Software</a:t>
            </a:r>
            <a:r>
              <a:rPr dirty="0" spc="-30"/>
              <a:t> </a:t>
            </a:r>
            <a:r>
              <a:rPr dirty="0" spc="-5"/>
              <a:t>evolution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23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535940" y="1488510"/>
            <a:ext cx="8054340" cy="4065270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8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evolution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processes</a:t>
            </a:r>
            <a:r>
              <a:rPr dirty="0" sz="2400" spc="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depend</a:t>
            </a:r>
            <a:r>
              <a:rPr dirty="0" sz="2400" spc="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endParaRPr sz="2400">
              <a:latin typeface="Arial MT"/>
              <a:cs typeface="Arial MT"/>
            </a:endParaRPr>
          </a:p>
          <a:p>
            <a:pPr lvl="1" marL="756285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type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being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maintained;</a:t>
            </a:r>
            <a:endParaRPr sz="2000">
              <a:latin typeface="Arial MT"/>
              <a:cs typeface="Arial MT"/>
            </a:endParaRPr>
          </a:p>
          <a:p>
            <a:pPr lvl="1" marL="756285" indent="-28702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development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processes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used;</a:t>
            </a:r>
            <a:endParaRPr sz="2000">
              <a:latin typeface="Arial MT"/>
              <a:cs typeface="Arial MT"/>
            </a:endParaRPr>
          </a:p>
          <a:p>
            <a:pPr lvl="1" marL="756285" indent="-28702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skills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experience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people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involved.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9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Proposals</a:t>
            </a:r>
            <a:r>
              <a:rPr dirty="0" sz="2400" spc="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change</a:t>
            </a:r>
            <a:r>
              <a:rPr dirty="0" sz="2400" spc="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are the driver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dirty="0" sz="2400" spc="-10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evolution.</a:t>
            </a:r>
            <a:endParaRPr sz="2400">
              <a:latin typeface="Arial MT"/>
              <a:cs typeface="Arial MT"/>
            </a:endParaRPr>
          </a:p>
          <a:p>
            <a:pPr lvl="1" marL="756285" marR="338455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Should be linked with components that are 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affected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by the </a:t>
            </a:r>
            <a:r>
              <a:rPr dirty="0" sz="20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change,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thus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allowing</a:t>
            </a:r>
            <a:r>
              <a:rPr dirty="0" sz="20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cost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impact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change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be </a:t>
            </a:r>
            <a:r>
              <a:rPr dirty="0" sz="2000" spc="-5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estimated.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Change</a:t>
            </a:r>
            <a:r>
              <a:rPr dirty="0" sz="2400" spc="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identification</a:t>
            </a:r>
            <a:r>
              <a:rPr dirty="0" sz="2400" spc="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evolution</a:t>
            </a:r>
            <a:r>
              <a:rPr dirty="0" sz="2400" spc="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continues</a:t>
            </a:r>
            <a:r>
              <a:rPr dirty="0" sz="2400" spc="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throughout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lifetime.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43254"/>
            <a:ext cx="677354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Change</a:t>
            </a:r>
            <a:r>
              <a:rPr dirty="0" spc="15"/>
              <a:t> </a:t>
            </a:r>
            <a:r>
              <a:rPr dirty="0" spc="-5"/>
              <a:t>identification</a:t>
            </a:r>
            <a:r>
              <a:rPr dirty="0" spc="-50"/>
              <a:t> </a:t>
            </a:r>
            <a:r>
              <a:rPr dirty="0"/>
              <a:t>and</a:t>
            </a:r>
            <a:r>
              <a:rPr dirty="0" spc="-5"/>
              <a:t> </a:t>
            </a:r>
            <a:r>
              <a:rPr dirty="0"/>
              <a:t>evolution</a:t>
            </a:r>
            <a:r>
              <a:rPr dirty="0" spc="-25"/>
              <a:t> </a:t>
            </a:r>
            <a:r>
              <a:rPr dirty="0" spc="-5"/>
              <a:t>processes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5027" y="1965960"/>
            <a:ext cx="5463703" cy="349300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5"/>
              <a:t>Chapter</a:t>
            </a:r>
            <a:r>
              <a:rPr dirty="0" spc="-55"/>
              <a:t> </a:t>
            </a:r>
            <a:r>
              <a:rPr dirty="0"/>
              <a:t>9</a:t>
            </a:r>
            <a:r>
              <a:rPr dirty="0" spc="-10"/>
              <a:t> </a:t>
            </a:r>
            <a:r>
              <a:rPr dirty="0" spc="-5"/>
              <a:t>Software</a:t>
            </a:r>
            <a:r>
              <a:rPr dirty="0" spc="-30"/>
              <a:t> </a:t>
            </a:r>
            <a:r>
              <a:rPr dirty="0" spc="-5"/>
              <a:t>evolution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23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43254"/>
            <a:ext cx="459359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The</a:t>
            </a:r>
            <a:r>
              <a:rPr dirty="0" spc="-15"/>
              <a:t> </a:t>
            </a:r>
            <a:r>
              <a:rPr dirty="0"/>
              <a:t>software</a:t>
            </a:r>
            <a:r>
              <a:rPr dirty="0" spc="-25"/>
              <a:t> </a:t>
            </a:r>
            <a:r>
              <a:rPr dirty="0" spc="-5"/>
              <a:t>evolution</a:t>
            </a:r>
            <a:r>
              <a:rPr dirty="0" spc="-35"/>
              <a:t> </a:t>
            </a:r>
            <a:r>
              <a:rPr dirty="0" spc="-5"/>
              <a:t>process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2741041"/>
            <a:ext cx="8229600" cy="224459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5"/>
              <a:t>Chapter</a:t>
            </a:r>
            <a:r>
              <a:rPr dirty="0" spc="-55"/>
              <a:t> </a:t>
            </a:r>
            <a:r>
              <a:rPr dirty="0"/>
              <a:t>9</a:t>
            </a:r>
            <a:r>
              <a:rPr dirty="0" spc="-10"/>
              <a:t> </a:t>
            </a:r>
            <a:r>
              <a:rPr dirty="0" spc="-5"/>
              <a:t>Software</a:t>
            </a:r>
            <a:r>
              <a:rPr dirty="0" spc="-30"/>
              <a:t> </a:t>
            </a:r>
            <a:r>
              <a:rPr dirty="0" spc="-5"/>
              <a:t>evolution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23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43254"/>
            <a:ext cx="348234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Change</a:t>
            </a:r>
            <a:r>
              <a:rPr dirty="0" spc="-60"/>
              <a:t> </a:t>
            </a:r>
            <a:r>
              <a:rPr dirty="0"/>
              <a:t>implementation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2939072"/>
            <a:ext cx="6957059" cy="11475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5"/>
              <a:t>Chapter</a:t>
            </a:r>
            <a:r>
              <a:rPr dirty="0" spc="-55"/>
              <a:t> </a:t>
            </a:r>
            <a:r>
              <a:rPr dirty="0"/>
              <a:t>9</a:t>
            </a:r>
            <a:r>
              <a:rPr dirty="0" spc="-10"/>
              <a:t> </a:t>
            </a:r>
            <a:r>
              <a:rPr dirty="0" spc="-5"/>
              <a:t>Software</a:t>
            </a:r>
            <a:r>
              <a:rPr dirty="0" spc="-30"/>
              <a:t> </a:t>
            </a:r>
            <a:r>
              <a:rPr dirty="0" spc="-5"/>
              <a:t>evolution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23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643254"/>
            <a:ext cx="8023859" cy="4971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46424D"/>
                </a:solidFill>
                <a:latin typeface="Arial"/>
                <a:cs typeface="Arial"/>
              </a:rPr>
              <a:t>Change</a:t>
            </a:r>
            <a:r>
              <a:rPr dirty="0" sz="2400" spc="-30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46424D"/>
                </a:solidFill>
                <a:latin typeface="Arial"/>
                <a:cs typeface="Arial"/>
              </a:rPr>
              <a:t>implementation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7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175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Iteration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development</a:t>
            </a:r>
            <a:r>
              <a:rPr dirty="0" sz="2400" spc="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process</a:t>
            </a:r>
            <a:r>
              <a:rPr dirty="0" sz="2400" spc="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where</a:t>
            </a:r>
            <a:r>
              <a:rPr dirty="0" sz="2400" spc="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revisions </a:t>
            </a:r>
            <a:r>
              <a:rPr dirty="0" sz="2400" spc="-6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system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designed,</a:t>
            </a:r>
            <a:r>
              <a:rPr dirty="0" sz="2400" spc="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implemented</a:t>
            </a:r>
            <a:r>
              <a:rPr dirty="0" sz="2400" spc="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tested.</a:t>
            </a:r>
            <a:endParaRPr sz="2400">
              <a:latin typeface="Arial MT"/>
              <a:cs typeface="Arial MT"/>
            </a:endParaRPr>
          </a:p>
          <a:p>
            <a:pPr marL="355600" marR="563880" indent="-342900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  <a:tab pos="253111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 critical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difference is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that the first stage of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change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implementation</a:t>
            </a:r>
            <a:r>
              <a:rPr dirty="0" sz="2400" spc="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may involve</a:t>
            </a:r>
            <a:r>
              <a:rPr dirty="0" sz="2400" spc="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program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understanding, </a:t>
            </a:r>
            <a:r>
              <a:rPr dirty="0" sz="2400" spc="-6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especially</a:t>
            </a:r>
            <a:r>
              <a:rPr dirty="0" sz="2400" spc="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if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original</a:t>
            </a:r>
            <a:r>
              <a:rPr dirty="0" sz="2400" spc="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developers</a:t>
            </a:r>
            <a:r>
              <a:rPr dirty="0" sz="2400" spc="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not 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responsible</a:t>
            </a:r>
            <a:r>
              <a:rPr dirty="0" sz="2400" spc="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for	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change</a:t>
            </a:r>
            <a:r>
              <a:rPr dirty="0" sz="2400" spc="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implementation.</a:t>
            </a:r>
            <a:endParaRPr sz="2400">
              <a:latin typeface="Arial MT"/>
              <a:cs typeface="Arial MT"/>
            </a:endParaRPr>
          </a:p>
          <a:p>
            <a:pPr marL="355600" marR="339725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During</a:t>
            </a:r>
            <a:r>
              <a:rPr dirty="0" sz="2400" spc="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program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understanding</a:t>
            </a:r>
            <a:r>
              <a:rPr dirty="0" sz="2400" spc="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phase,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you</a:t>
            </a:r>
            <a:r>
              <a:rPr dirty="0" sz="2400" spc="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have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 </a:t>
            </a:r>
            <a:r>
              <a:rPr dirty="0" sz="2400" spc="-6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understand</a:t>
            </a:r>
            <a:r>
              <a:rPr dirty="0" sz="2400" spc="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how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program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structured,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how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it 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delivers</a:t>
            </a:r>
            <a:r>
              <a:rPr dirty="0" sz="2400" spc="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functionality</a:t>
            </a:r>
            <a:r>
              <a:rPr dirty="0" sz="2400" spc="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how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proposed</a:t>
            </a:r>
            <a:r>
              <a:rPr dirty="0" sz="2400" spc="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change 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might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affect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program.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5"/>
              <a:t>Chapter</a:t>
            </a:r>
            <a:r>
              <a:rPr dirty="0" spc="-55"/>
              <a:t> </a:t>
            </a:r>
            <a:r>
              <a:rPr dirty="0"/>
              <a:t>9</a:t>
            </a:r>
            <a:r>
              <a:rPr dirty="0" spc="-10"/>
              <a:t> </a:t>
            </a:r>
            <a:r>
              <a:rPr dirty="0" spc="-5"/>
              <a:t>Software</a:t>
            </a:r>
            <a:r>
              <a:rPr dirty="0" spc="-30"/>
              <a:t> </a:t>
            </a:r>
            <a:r>
              <a:rPr dirty="0" spc="-5"/>
              <a:t>evolution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23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43254"/>
            <a:ext cx="351218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Urgent</a:t>
            </a:r>
            <a:r>
              <a:rPr dirty="0" spc="-10"/>
              <a:t> </a:t>
            </a:r>
            <a:r>
              <a:rPr dirty="0" spc="-5"/>
              <a:t>change</a:t>
            </a:r>
            <a:r>
              <a:rPr dirty="0" spc="-15"/>
              <a:t> </a:t>
            </a:r>
            <a:r>
              <a:rPr dirty="0" spc="-5"/>
              <a:t>requests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5"/>
              <a:t>Chapter</a:t>
            </a:r>
            <a:r>
              <a:rPr dirty="0" spc="-55"/>
              <a:t> </a:t>
            </a:r>
            <a:r>
              <a:rPr dirty="0"/>
              <a:t>9</a:t>
            </a:r>
            <a:r>
              <a:rPr dirty="0" spc="-10"/>
              <a:t> </a:t>
            </a:r>
            <a:r>
              <a:rPr dirty="0" spc="-5"/>
              <a:t>Software</a:t>
            </a:r>
            <a:r>
              <a:rPr dirty="0" spc="-30"/>
              <a:t> </a:t>
            </a:r>
            <a:r>
              <a:rPr dirty="0" spc="-5"/>
              <a:t>evolution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23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535940" y="1625853"/>
            <a:ext cx="7960995" cy="3219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382270" indent="-342900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Urgent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changes</a:t>
            </a:r>
            <a:r>
              <a:rPr dirty="0" sz="2400" spc="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have</a:t>
            </a:r>
            <a:r>
              <a:rPr dirty="0" sz="2400" spc="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implemented</a:t>
            </a:r>
            <a:r>
              <a:rPr dirty="0" sz="2400" spc="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without </a:t>
            </a:r>
            <a:r>
              <a:rPr dirty="0" sz="2400" spc="-6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going</a:t>
            </a:r>
            <a:r>
              <a:rPr dirty="0" sz="2400" spc="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through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all</a:t>
            </a:r>
            <a:r>
              <a:rPr dirty="0" sz="2400" spc="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stages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engineering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process</a:t>
            </a:r>
            <a:endParaRPr sz="2400">
              <a:latin typeface="Arial MT"/>
              <a:cs typeface="Arial MT"/>
            </a:endParaRPr>
          </a:p>
          <a:p>
            <a:pPr lvl="1" marL="756285" marR="638810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If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 serious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fault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has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repaired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allow</a:t>
            </a:r>
            <a:r>
              <a:rPr dirty="0" sz="20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normal </a:t>
            </a:r>
            <a:r>
              <a:rPr dirty="0" sz="2000" spc="-5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operation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continue;</a:t>
            </a:r>
            <a:endParaRPr sz="2000">
              <a:latin typeface="Arial MT"/>
              <a:cs typeface="Arial MT"/>
            </a:endParaRPr>
          </a:p>
          <a:p>
            <a:pPr lvl="1" marL="756285" indent="-28702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If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changes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system’s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environment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(e.g.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 OS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upgrade)</a:t>
            </a:r>
            <a:endParaRPr sz="2000">
              <a:latin typeface="Arial MT"/>
              <a:cs typeface="Arial MT"/>
            </a:endParaRPr>
          </a:p>
          <a:p>
            <a:pPr marL="756285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have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unexpected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effects;</a:t>
            </a:r>
            <a:endParaRPr sz="2000">
              <a:latin typeface="Arial MT"/>
              <a:cs typeface="Arial MT"/>
            </a:endParaRPr>
          </a:p>
          <a:p>
            <a:pPr lvl="1" marL="756285" marR="5080" indent="-28702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If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there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business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changes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require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very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rapid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response </a:t>
            </a:r>
            <a:r>
              <a:rPr dirty="0" sz="2000" spc="-5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(e.g.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release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 competing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product).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43254"/>
            <a:ext cx="444627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The</a:t>
            </a:r>
            <a:r>
              <a:rPr dirty="0" spc="-15"/>
              <a:t> </a:t>
            </a:r>
            <a:r>
              <a:rPr dirty="0" spc="-5"/>
              <a:t>emergency</a:t>
            </a:r>
            <a:r>
              <a:rPr dirty="0" spc="20"/>
              <a:t> </a:t>
            </a:r>
            <a:r>
              <a:rPr dirty="0" spc="-5"/>
              <a:t>repair process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1683" y="3293452"/>
            <a:ext cx="6269736" cy="65675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5"/>
              <a:t>Chapter</a:t>
            </a:r>
            <a:r>
              <a:rPr dirty="0" spc="-55"/>
              <a:t> </a:t>
            </a:r>
            <a:r>
              <a:rPr dirty="0"/>
              <a:t>9</a:t>
            </a:r>
            <a:r>
              <a:rPr dirty="0" spc="-10"/>
              <a:t> </a:t>
            </a:r>
            <a:r>
              <a:rPr dirty="0" spc="-5"/>
              <a:t>Software</a:t>
            </a:r>
            <a:r>
              <a:rPr dirty="0" spc="-30"/>
              <a:t> </a:t>
            </a:r>
            <a:r>
              <a:rPr dirty="0" spc="-5"/>
              <a:t>evolution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23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330" y="1588389"/>
            <a:ext cx="7816850" cy="366458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355600" marR="1130935" indent="-342900">
              <a:lnSpc>
                <a:spcPts val="2590"/>
              </a:lnSpc>
              <a:spcBef>
                <a:spcPts val="42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 i="1">
                <a:solidFill>
                  <a:srgbClr val="943735"/>
                </a:solidFill>
                <a:latin typeface="Arial"/>
                <a:cs typeface="Arial"/>
              </a:rPr>
              <a:t>Program</a:t>
            </a:r>
            <a:r>
              <a:rPr dirty="0" sz="2400" spc="5" i="1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dirty="0" sz="2400" spc="-5" i="1">
                <a:solidFill>
                  <a:srgbClr val="943735"/>
                </a:solidFill>
                <a:latin typeface="Arial"/>
                <a:cs typeface="Arial"/>
              </a:rPr>
              <a:t>evolution</a:t>
            </a:r>
            <a:r>
              <a:rPr dirty="0" sz="2400" spc="25" i="1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dirty="0" sz="2400" spc="-5" i="1">
                <a:solidFill>
                  <a:srgbClr val="943735"/>
                </a:solidFill>
                <a:latin typeface="Arial"/>
                <a:cs typeface="Arial"/>
              </a:rPr>
              <a:t>dynamics</a:t>
            </a:r>
            <a:r>
              <a:rPr dirty="0" sz="2400" spc="-10" i="1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the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study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dirty="0" sz="2400" spc="-6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processes</a:t>
            </a:r>
            <a:r>
              <a:rPr dirty="0" sz="2400" spc="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change.</a:t>
            </a:r>
            <a:endParaRPr sz="2400">
              <a:latin typeface="Arial MT"/>
              <a:cs typeface="Arial MT"/>
            </a:endParaRPr>
          </a:p>
          <a:p>
            <a:pPr marL="355600" marR="505459" indent="-342900">
              <a:lnSpc>
                <a:spcPct val="90100"/>
              </a:lnSpc>
              <a:spcBef>
                <a:spcPts val="116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After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several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major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empirical</a:t>
            </a:r>
            <a:r>
              <a:rPr dirty="0" sz="2400" spc="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studies,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 Lehman</a:t>
            </a:r>
            <a:r>
              <a:rPr dirty="0" sz="2400" spc="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and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Belady</a:t>
            </a:r>
            <a:r>
              <a:rPr dirty="0" sz="2400" spc="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proposed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there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were</a:t>
            </a:r>
            <a:r>
              <a:rPr dirty="0" sz="2400" spc="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number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‘laws’ </a:t>
            </a:r>
            <a:r>
              <a:rPr dirty="0" sz="2400" spc="-6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which</a:t>
            </a:r>
            <a:r>
              <a:rPr dirty="0" sz="2400" spc="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applied</a:t>
            </a:r>
            <a:r>
              <a:rPr dirty="0" sz="2400" spc="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all</a:t>
            </a:r>
            <a:r>
              <a:rPr dirty="0" sz="2400" spc="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systems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as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they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evolved.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ts val="2590"/>
              </a:lnSpc>
              <a:spcBef>
                <a:spcPts val="124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There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sensible</a:t>
            </a:r>
            <a:r>
              <a:rPr dirty="0" sz="2400" spc="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observations</a:t>
            </a:r>
            <a:r>
              <a:rPr dirty="0" sz="2400" spc="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rather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than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laws.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They </a:t>
            </a:r>
            <a:r>
              <a:rPr dirty="0" sz="2400" spc="-6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applicable</a:t>
            </a:r>
            <a:r>
              <a:rPr dirty="0" sz="2400" spc="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large</a:t>
            </a:r>
            <a:r>
              <a:rPr dirty="0" sz="2400" spc="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systems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developed</a:t>
            </a:r>
            <a:r>
              <a:rPr dirty="0" sz="2400" spc="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by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large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organisations.</a:t>
            </a:r>
            <a:endParaRPr sz="2400">
              <a:latin typeface="Arial MT"/>
              <a:cs typeface="Arial MT"/>
            </a:endParaRPr>
          </a:p>
          <a:p>
            <a:pPr lvl="1" marL="756285" marR="159385" indent="-287020">
              <a:lnSpc>
                <a:spcPts val="2160"/>
              </a:lnSpc>
              <a:spcBef>
                <a:spcPts val="90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It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is not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clear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if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these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applicable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other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types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software </a:t>
            </a:r>
            <a:r>
              <a:rPr dirty="0" sz="2000" spc="-5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system.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5"/>
              <a:t>Chapter</a:t>
            </a:r>
            <a:r>
              <a:rPr dirty="0" spc="-55"/>
              <a:t> </a:t>
            </a:r>
            <a:r>
              <a:rPr dirty="0"/>
              <a:t>9</a:t>
            </a:r>
            <a:r>
              <a:rPr dirty="0" spc="-10"/>
              <a:t> </a:t>
            </a:r>
            <a:r>
              <a:rPr dirty="0" spc="-5"/>
              <a:t>Software</a:t>
            </a:r>
            <a:r>
              <a:rPr dirty="0" spc="-30"/>
              <a:t> </a:t>
            </a:r>
            <a:r>
              <a:rPr dirty="0" spc="-5"/>
              <a:t>evolution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23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330" y="643254"/>
            <a:ext cx="420243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Program</a:t>
            </a:r>
            <a:r>
              <a:rPr dirty="0" spc="-10"/>
              <a:t> </a:t>
            </a:r>
            <a:r>
              <a:rPr dirty="0" spc="-5"/>
              <a:t>evolution</a:t>
            </a:r>
            <a:r>
              <a:rPr dirty="0" spc="-35"/>
              <a:t> </a:t>
            </a:r>
            <a:r>
              <a:rPr dirty="0" spc="-5"/>
              <a:t>dynamics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330" y="1624965"/>
            <a:ext cx="7259320" cy="398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710565" indent="-342900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requirements</a:t>
            </a:r>
            <a:r>
              <a:rPr dirty="0" sz="2400" spc="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likely</a:t>
            </a:r>
            <a:r>
              <a:rPr dirty="0" sz="2400" spc="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change </a:t>
            </a:r>
            <a:r>
              <a:rPr dirty="0" sz="2400" spc="-6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while</a:t>
            </a:r>
            <a:r>
              <a:rPr dirty="0" sz="2400" spc="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being</a:t>
            </a:r>
            <a:r>
              <a:rPr dirty="0" sz="2400" spc="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developed</a:t>
            </a:r>
            <a:r>
              <a:rPr dirty="0" sz="2400" spc="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because </a:t>
            </a:r>
            <a:r>
              <a:rPr dirty="0" sz="2400" spc="-6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environment</a:t>
            </a:r>
            <a:r>
              <a:rPr dirty="0" sz="2400" spc="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changing. Therefore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delivered</a:t>
            </a:r>
            <a:r>
              <a:rPr dirty="0" sz="2400" spc="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won't</a:t>
            </a:r>
            <a:r>
              <a:rPr dirty="0" sz="2400" spc="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meet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its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requirements!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Systems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tightly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coupled</a:t>
            </a:r>
            <a:r>
              <a:rPr dirty="0" sz="2400" spc="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with</a:t>
            </a:r>
            <a:r>
              <a:rPr dirty="0" sz="2400" spc="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their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environment.</a:t>
            </a:r>
            <a:endParaRPr sz="2400">
              <a:latin typeface="Arial MT"/>
              <a:cs typeface="Arial MT"/>
            </a:endParaRPr>
          </a:p>
          <a:p>
            <a:pPr marL="355600" marR="783590">
              <a:lnSpc>
                <a:spcPct val="100000"/>
              </a:lnSpc>
            </a:pP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When</a:t>
            </a:r>
            <a:r>
              <a:rPr dirty="0" sz="2400" spc="1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1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dirty="0" sz="2400" spc="10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1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installed</a:t>
            </a:r>
            <a:r>
              <a:rPr dirty="0" sz="2400" spc="1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 spc="1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an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environment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it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changes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that environment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and </a:t>
            </a:r>
            <a:r>
              <a:rPr dirty="0" sz="2400" spc="-6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therefore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 changes</a:t>
            </a:r>
            <a:r>
              <a:rPr dirty="0" sz="2400" spc="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system requirements.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Systems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MUST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changed</a:t>
            </a:r>
            <a:r>
              <a:rPr dirty="0" sz="2400" spc="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if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they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remain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 useful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in an</a:t>
            </a:r>
            <a:r>
              <a:rPr dirty="0" sz="2400" spc="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environment.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5"/>
              <a:t>Chapter</a:t>
            </a:r>
            <a:r>
              <a:rPr dirty="0" spc="-55"/>
              <a:t> </a:t>
            </a:r>
            <a:r>
              <a:rPr dirty="0"/>
              <a:t>9</a:t>
            </a:r>
            <a:r>
              <a:rPr dirty="0" spc="-10"/>
              <a:t> </a:t>
            </a:r>
            <a:r>
              <a:rPr dirty="0" spc="-5"/>
              <a:t>Software</a:t>
            </a:r>
            <a:r>
              <a:rPr dirty="0" spc="-30"/>
              <a:t> </a:t>
            </a:r>
            <a:r>
              <a:rPr dirty="0" spc="-5"/>
              <a:t>evolution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23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330" y="643254"/>
            <a:ext cx="297180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Change</a:t>
            </a:r>
            <a:r>
              <a:rPr dirty="0" spc="-35"/>
              <a:t> </a:t>
            </a:r>
            <a:r>
              <a:rPr dirty="0"/>
              <a:t>is</a:t>
            </a:r>
            <a:r>
              <a:rPr dirty="0" spc="-55"/>
              <a:t> </a:t>
            </a:r>
            <a:r>
              <a:rPr dirty="0"/>
              <a:t>inevitable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43254"/>
            <a:ext cx="218567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"/>
              <a:t>Lehman’s</a:t>
            </a:r>
            <a:r>
              <a:rPr dirty="0" spc="-85"/>
              <a:t> </a:t>
            </a:r>
            <a:r>
              <a:rPr dirty="0" spc="5"/>
              <a:t>laws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5"/>
              <a:t>Chapter</a:t>
            </a:r>
            <a:r>
              <a:rPr dirty="0" spc="-55"/>
              <a:t> </a:t>
            </a:r>
            <a:r>
              <a:rPr dirty="0"/>
              <a:t>9</a:t>
            </a:r>
            <a:r>
              <a:rPr dirty="0" spc="-10"/>
              <a:t> </a:t>
            </a:r>
            <a:r>
              <a:rPr dirty="0" spc="-5"/>
              <a:t>Software</a:t>
            </a:r>
            <a:r>
              <a:rPr dirty="0" spc="-30"/>
              <a:t> </a:t>
            </a:r>
            <a:r>
              <a:rPr dirty="0" spc="-5"/>
              <a:t>evolution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23</a:t>
            </a:fld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39534" y="1844548"/>
          <a:ext cx="8260080" cy="3620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8335"/>
                <a:gridCol w="6322060"/>
              </a:tblGrid>
              <a:tr h="389889"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600" spc="-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Law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679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600" spc="-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679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</a:tr>
              <a:tr h="804545">
                <a:tc>
                  <a:txBody>
                    <a:bodyPr/>
                    <a:lstStyle/>
                    <a:p>
                      <a:pPr marL="53975">
                        <a:lnSpc>
                          <a:spcPts val="1885"/>
                        </a:lnSpc>
                      </a:pPr>
                      <a:r>
                        <a:rPr dirty="0" sz="1600" spc="-5">
                          <a:latin typeface="Arial MT"/>
                          <a:cs typeface="Arial MT"/>
                        </a:rPr>
                        <a:t>Continuing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change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54610" marR="140335">
                        <a:lnSpc>
                          <a:spcPts val="1920"/>
                        </a:lnSpc>
                        <a:spcBef>
                          <a:spcPts val="25"/>
                        </a:spcBef>
                      </a:pPr>
                      <a:r>
                        <a:rPr dirty="0" sz="1600" spc="-5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600" spc="-8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program</a:t>
                      </a:r>
                      <a:r>
                        <a:rPr dirty="0" sz="16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that</a:t>
                      </a:r>
                      <a:r>
                        <a:rPr dirty="0" sz="16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6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used</a:t>
                      </a:r>
                      <a:r>
                        <a:rPr dirty="0" sz="16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 a</a:t>
                      </a:r>
                      <a:r>
                        <a:rPr dirty="0" sz="16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real-world</a:t>
                      </a:r>
                      <a:r>
                        <a:rPr dirty="0" sz="16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environment</a:t>
                      </a:r>
                      <a:r>
                        <a:rPr dirty="0" sz="16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must</a:t>
                      </a:r>
                      <a:r>
                        <a:rPr dirty="0" sz="16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necessarily </a:t>
                      </a:r>
                      <a:r>
                        <a:rPr dirty="0" sz="1600" spc="-4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change, or</a:t>
                      </a:r>
                      <a:r>
                        <a:rPr dirty="0" sz="16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else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become progressively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less useful</a:t>
                      </a:r>
                      <a:r>
                        <a:rPr dirty="0" sz="16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in that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environment.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804544">
                <a:tc>
                  <a:txBody>
                    <a:bodyPr/>
                    <a:lstStyle/>
                    <a:p>
                      <a:pPr marL="53975">
                        <a:lnSpc>
                          <a:spcPts val="1885"/>
                        </a:lnSpc>
                      </a:pPr>
                      <a:r>
                        <a:rPr dirty="0" sz="1600" spc="-5">
                          <a:latin typeface="Arial MT"/>
                          <a:cs typeface="Arial MT"/>
                        </a:rPr>
                        <a:t>Increasing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53975">
                        <a:lnSpc>
                          <a:spcPct val="100000"/>
                        </a:lnSpc>
                      </a:pPr>
                      <a:r>
                        <a:rPr dirty="0" sz="1600" spc="-5">
                          <a:latin typeface="Arial MT"/>
                          <a:cs typeface="Arial MT"/>
                        </a:rPr>
                        <a:t>complexity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885"/>
                        </a:lnSpc>
                      </a:pPr>
                      <a:r>
                        <a:rPr dirty="0" sz="1600" spc="-5">
                          <a:latin typeface="Arial MT"/>
                          <a:cs typeface="Arial MT"/>
                        </a:rPr>
                        <a:t>As</a:t>
                      </a:r>
                      <a:r>
                        <a:rPr dirty="0" sz="16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an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evolving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program</a:t>
                      </a:r>
                      <a:r>
                        <a:rPr dirty="0" sz="1600" spc="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changes,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its structure</a:t>
                      </a:r>
                      <a:r>
                        <a:rPr dirty="0" sz="1600" spc="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tends</a:t>
                      </a:r>
                      <a:r>
                        <a:rPr dirty="0" sz="16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6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become</a:t>
                      </a:r>
                      <a:r>
                        <a:rPr dirty="0" sz="16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more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dirty="0" sz="1600" spc="-5">
                          <a:latin typeface="Arial MT"/>
                          <a:cs typeface="Arial MT"/>
                        </a:rPr>
                        <a:t>complex.</a:t>
                      </a:r>
                      <a:r>
                        <a:rPr dirty="0" sz="16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Extra</a:t>
                      </a:r>
                      <a:r>
                        <a:rPr dirty="0" sz="16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resources</a:t>
                      </a:r>
                      <a:r>
                        <a:rPr dirty="0" sz="16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must</a:t>
                      </a:r>
                      <a:r>
                        <a:rPr dirty="0" sz="16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be</a:t>
                      </a:r>
                      <a:r>
                        <a:rPr dirty="0" sz="16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devoted</a:t>
                      </a:r>
                      <a:r>
                        <a:rPr dirty="0" sz="16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6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preserving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and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dirty="0" sz="1600" spc="-5">
                          <a:latin typeface="Arial MT"/>
                          <a:cs typeface="Arial MT"/>
                        </a:rPr>
                        <a:t>simplifying</a:t>
                      </a:r>
                      <a:r>
                        <a:rPr dirty="0"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structure.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804545">
                <a:tc>
                  <a:txBody>
                    <a:bodyPr/>
                    <a:lstStyle/>
                    <a:p>
                      <a:pPr marL="53975" marR="526415">
                        <a:lnSpc>
                          <a:spcPts val="1920"/>
                        </a:lnSpc>
                        <a:spcBef>
                          <a:spcPts val="25"/>
                        </a:spcBef>
                      </a:pPr>
                      <a:r>
                        <a:rPr dirty="0" sz="1600" spc="-5">
                          <a:latin typeface="Arial MT"/>
                          <a:cs typeface="Arial MT"/>
                        </a:rPr>
                        <a:t>Large</a:t>
                      </a:r>
                      <a:r>
                        <a:rPr dirty="0" sz="16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program </a:t>
                      </a:r>
                      <a:r>
                        <a:rPr dirty="0" sz="1600" spc="-4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evolution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885"/>
                        </a:lnSpc>
                      </a:pPr>
                      <a:r>
                        <a:rPr dirty="0" sz="1600" spc="-5">
                          <a:latin typeface="Arial MT"/>
                          <a:cs typeface="Arial MT"/>
                        </a:rPr>
                        <a:t>Program</a:t>
                      </a:r>
                      <a:r>
                        <a:rPr dirty="0" sz="16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evolution is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6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self-regulating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process.</a:t>
                      </a:r>
                      <a:r>
                        <a:rPr dirty="0" sz="16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System</a:t>
                      </a:r>
                      <a:r>
                        <a:rPr dirty="0" sz="16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attributes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54610" marR="421005">
                        <a:lnSpc>
                          <a:spcPct val="100000"/>
                        </a:lnSpc>
                      </a:pPr>
                      <a:r>
                        <a:rPr dirty="0" sz="1600" spc="-5">
                          <a:latin typeface="Arial MT"/>
                          <a:cs typeface="Arial MT"/>
                        </a:rPr>
                        <a:t>such as</a:t>
                      </a:r>
                      <a:r>
                        <a:rPr dirty="0" sz="16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size,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time</a:t>
                      </a:r>
                      <a:r>
                        <a:rPr dirty="0" sz="16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between</a:t>
                      </a:r>
                      <a:r>
                        <a:rPr dirty="0" sz="16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releases,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6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number</a:t>
                      </a:r>
                      <a:r>
                        <a:rPr dirty="0" sz="16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6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reported </a:t>
                      </a:r>
                      <a:r>
                        <a:rPr dirty="0" sz="1600" spc="-4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errors</a:t>
                      </a:r>
                      <a:r>
                        <a:rPr dirty="0" sz="16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6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approximately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invariant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16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each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system</a:t>
                      </a:r>
                      <a:r>
                        <a:rPr dirty="0" sz="16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release.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804544">
                <a:tc>
                  <a:txBody>
                    <a:bodyPr/>
                    <a:lstStyle/>
                    <a:p>
                      <a:pPr marL="53975">
                        <a:lnSpc>
                          <a:spcPts val="1885"/>
                        </a:lnSpc>
                      </a:pPr>
                      <a:r>
                        <a:rPr dirty="0" sz="1600" spc="-5">
                          <a:latin typeface="Arial MT"/>
                          <a:cs typeface="Arial MT"/>
                        </a:rPr>
                        <a:t>Organizational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53975">
                        <a:lnSpc>
                          <a:spcPct val="100000"/>
                        </a:lnSpc>
                      </a:pPr>
                      <a:r>
                        <a:rPr dirty="0" sz="1600" spc="-5">
                          <a:latin typeface="Arial MT"/>
                          <a:cs typeface="Arial MT"/>
                        </a:rPr>
                        <a:t>stability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885"/>
                        </a:lnSpc>
                      </a:pPr>
                      <a:r>
                        <a:rPr dirty="0" sz="1600" spc="-5">
                          <a:latin typeface="Arial MT"/>
                          <a:cs typeface="Arial MT"/>
                        </a:rPr>
                        <a:t>Over</a:t>
                      </a:r>
                      <a:r>
                        <a:rPr dirty="0" sz="16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6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program’s</a:t>
                      </a:r>
                      <a:r>
                        <a:rPr dirty="0" sz="16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lifetime,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 its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rate</a:t>
                      </a:r>
                      <a:r>
                        <a:rPr dirty="0" sz="16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6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development is approximately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54610" marR="704215">
                        <a:lnSpc>
                          <a:spcPct val="100000"/>
                        </a:lnSpc>
                      </a:pPr>
                      <a:r>
                        <a:rPr dirty="0" sz="1600" spc="-5">
                          <a:latin typeface="Arial MT"/>
                          <a:cs typeface="Arial MT"/>
                        </a:rPr>
                        <a:t>constant</a:t>
                      </a:r>
                      <a:r>
                        <a:rPr dirty="0" sz="16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6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independent</a:t>
                      </a:r>
                      <a:r>
                        <a:rPr dirty="0" sz="16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6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6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resources</a:t>
                      </a:r>
                      <a:r>
                        <a:rPr dirty="0" sz="16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devoted</a:t>
                      </a:r>
                      <a:r>
                        <a:rPr dirty="0" sz="16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6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system </a:t>
                      </a:r>
                      <a:r>
                        <a:rPr dirty="0" sz="1600" spc="-4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development.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43254"/>
            <a:ext cx="218503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"/>
              <a:t>Lehman’s</a:t>
            </a:r>
            <a:r>
              <a:rPr dirty="0" spc="-85"/>
              <a:t> </a:t>
            </a:r>
            <a:r>
              <a:rPr dirty="0" spc="5"/>
              <a:t>laws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5"/>
              <a:t>Chapter</a:t>
            </a:r>
            <a:r>
              <a:rPr dirty="0" spc="-55"/>
              <a:t> </a:t>
            </a:r>
            <a:r>
              <a:rPr dirty="0"/>
              <a:t>9</a:t>
            </a:r>
            <a:r>
              <a:rPr dirty="0" spc="-10"/>
              <a:t> </a:t>
            </a:r>
            <a:r>
              <a:rPr dirty="0" spc="-5"/>
              <a:t>Software</a:t>
            </a:r>
            <a:r>
              <a:rPr dirty="0" spc="-30"/>
              <a:t> </a:t>
            </a:r>
            <a:r>
              <a:rPr dirty="0" spc="-5"/>
              <a:t>evolution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23</a:t>
            </a:fld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0850" y="1885060"/>
          <a:ext cx="8248650" cy="2870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01900"/>
                <a:gridCol w="5727700"/>
              </a:tblGrid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600" spc="-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Law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600" spc="-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</a:tr>
              <a:tr h="560704">
                <a:tc>
                  <a:txBody>
                    <a:bodyPr/>
                    <a:lstStyle/>
                    <a:p>
                      <a:pPr marL="53975">
                        <a:lnSpc>
                          <a:spcPts val="1885"/>
                        </a:lnSpc>
                      </a:pPr>
                      <a:r>
                        <a:rPr dirty="0" sz="1600" spc="-5">
                          <a:latin typeface="Arial MT"/>
                          <a:cs typeface="Arial MT"/>
                        </a:rPr>
                        <a:t>Conservation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6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familiarity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54610" marR="151130">
                        <a:lnSpc>
                          <a:spcPts val="1920"/>
                        </a:lnSpc>
                        <a:spcBef>
                          <a:spcPts val="25"/>
                        </a:spcBef>
                      </a:pPr>
                      <a:r>
                        <a:rPr dirty="0" sz="1600" spc="-5">
                          <a:latin typeface="Arial MT"/>
                          <a:cs typeface="Arial MT"/>
                        </a:rPr>
                        <a:t>Over</a:t>
                      </a:r>
                      <a:r>
                        <a:rPr dirty="0" sz="16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6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lifetime of</a:t>
                      </a:r>
                      <a:r>
                        <a:rPr dirty="0" sz="16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6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system,</a:t>
                      </a:r>
                      <a:r>
                        <a:rPr dirty="0" sz="16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6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incremental</a:t>
                      </a:r>
                      <a:r>
                        <a:rPr dirty="0" sz="16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change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each </a:t>
                      </a:r>
                      <a:r>
                        <a:rPr dirty="0" sz="1600" spc="-4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release is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approximately</a:t>
                      </a:r>
                      <a:r>
                        <a:rPr dirty="0" sz="16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constant.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560705">
                <a:tc>
                  <a:txBody>
                    <a:bodyPr/>
                    <a:lstStyle/>
                    <a:p>
                      <a:pPr marL="53975">
                        <a:lnSpc>
                          <a:spcPts val="1885"/>
                        </a:lnSpc>
                      </a:pPr>
                      <a:r>
                        <a:rPr dirty="0" sz="1600" spc="-5">
                          <a:latin typeface="Arial MT"/>
                          <a:cs typeface="Arial MT"/>
                        </a:rPr>
                        <a:t>Continuing</a:t>
                      </a:r>
                      <a:r>
                        <a:rPr dirty="0" sz="16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growth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54610" marR="798830">
                        <a:lnSpc>
                          <a:spcPts val="1920"/>
                        </a:lnSpc>
                        <a:spcBef>
                          <a:spcPts val="30"/>
                        </a:spcBef>
                      </a:pPr>
                      <a:r>
                        <a:rPr dirty="0" sz="1600" spc="-5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6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functionality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 offered</a:t>
                      </a:r>
                      <a:r>
                        <a:rPr dirty="0" sz="16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by</a:t>
                      </a:r>
                      <a:r>
                        <a:rPr dirty="0" sz="16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systems</a:t>
                      </a:r>
                      <a:r>
                        <a:rPr dirty="0" sz="16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has</a:t>
                      </a:r>
                      <a:r>
                        <a:rPr dirty="0" sz="16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6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continually </a:t>
                      </a:r>
                      <a:r>
                        <a:rPr dirty="0" sz="1600" spc="-4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increase to</a:t>
                      </a:r>
                      <a:r>
                        <a:rPr dirty="0" sz="16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maintain</a:t>
                      </a:r>
                      <a:r>
                        <a:rPr dirty="0" sz="16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user</a:t>
                      </a:r>
                      <a:r>
                        <a:rPr dirty="0" sz="16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satisfaction.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560705">
                <a:tc>
                  <a:txBody>
                    <a:bodyPr/>
                    <a:lstStyle/>
                    <a:p>
                      <a:pPr marL="53975">
                        <a:lnSpc>
                          <a:spcPts val="1885"/>
                        </a:lnSpc>
                      </a:pPr>
                      <a:r>
                        <a:rPr dirty="0" sz="1600" spc="-5">
                          <a:latin typeface="Arial MT"/>
                          <a:cs typeface="Arial MT"/>
                        </a:rPr>
                        <a:t>Declining</a:t>
                      </a:r>
                      <a:r>
                        <a:rPr dirty="0" sz="16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quality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54610" marR="125730">
                        <a:lnSpc>
                          <a:spcPts val="1920"/>
                        </a:lnSpc>
                        <a:spcBef>
                          <a:spcPts val="30"/>
                        </a:spcBef>
                      </a:pPr>
                      <a:r>
                        <a:rPr dirty="0" sz="1600" spc="-5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6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quality of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systems</a:t>
                      </a:r>
                      <a:r>
                        <a:rPr dirty="0" sz="1600" spc="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will</a:t>
                      </a:r>
                      <a:r>
                        <a:rPr dirty="0" sz="16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decline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unless they</a:t>
                      </a:r>
                      <a:r>
                        <a:rPr dirty="0" sz="16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are</a:t>
                      </a:r>
                      <a:r>
                        <a:rPr dirty="0" sz="16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modified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to </a:t>
                      </a:r>
                      <a:r>
                        <a:rPr dirty="0" sz="1600" spc="-4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reflect</a:t>
                      </a:r>
                      <a:r>
                        <a:rPr dirty="0" sz="16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changes</a:t>
                      </a:r>
                      <a:r>
                        <a:rPr dirty="0" sz="16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their</a:t>
                      </a:r>
                      <a:r>
                        <a:rPr dirty="0" sz="16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operational</a:t>
                      </a:r>
                      <a:r>
                        <a:rPr dirty="0" sz="16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environment.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804544">
                <a:tc>
                  <a:txBody>
                    <a:bodyPr/>
                    <a:lstStyle/>
                    <a:p>
                      <a:pPr marL="53975">
                        <a:lnSpc>
                          <a:spcPts val="1885"/>
                        </a:lnSpc>
                      </a:pPr>
                      <a:r>
                        <a:rPr dirty="0" sz="1600" spc="-5">
                          <a:latin typeface="Arial MT"/>
                          <a:cs typeface="Arial MT"/>
                        </a:rPr>
                        <a:t>Feedback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system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885"/>
                        </a:lnSpc>
                      </a:pPr>
                      <a:r>
                        <a:rPr dirty="0" sz="1600" spc="-5">
                          <a:latin typeface="Arial MT"/>
                          <a:cs typeface="Arial MT"/>
                        </a:rPr>
                        <a:t>Evolution</a:t>
                      </a:r>
                      <a:r>
                        <a:rPr dirty="0" sz="16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processes</a:t>
                      </a:r>
                      <a:r>
                        <a:rPr dirty="0" sz="16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incorporate</a:t>
                      </a:r>
                      <a:r>
                        <a:rPr dirty="0" sz="16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multiagent,</a:t>
                      </a:r>
                      <a:r>
                        <a:rPr dirty="0" sz="16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multiloop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54610" marR="410209">
                        <a:lnSpc>
                          <a:spcPct val="100000"/>
                        </a:lnSpc>
                      </a:pPr>
                      <a:r>
                        <a:rPr dirty="0" sz="1600" spc="-5">
                          <a:latin typeface="Arial MT"/>
                          <a:cs typeface="Arial MT"/>
                        </a:rPr>
                        <a:t>feedback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systems</a:t>
                      </a:r>
                      <a:r>
                        <a:rPr dirty="0" sz="16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6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you</a:t>
                      </a:r>
                      <a:r>
                        <a:rPr dirty="0" sz="16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have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6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treat</a:t>
                      </a:r>
                      <a:r>
                        <a:rPr dirty="0" sz="16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them</a:t>
                      </a:r>
                      <a:r>
                        <a:rPr dirty="0" sz="16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as</a:t>
                      </a:r>
                      <a:r>
                        <a:rPr dirty="0" sz="16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feedback </a:t>
                      </a:r>
                      <a:r>
                        <a:rPr dirty="0" sz="1600" spc="-4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systems</a:t>
                      </a:r>
                      <a:r>
                        <a:rPr dirty="0" sz="16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6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achieve</a:t>
                      </a:r>
                      <a:r>
                        <a:rPr dirty="0" sz="16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significant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product</a:t>
                      </a:r>
                      <a:r>
                        <a:rPr dirty="0" sz="16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improvement.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330" y="1472565"/>
            <a:ext cx="8079740" cy="3561715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algn="just" marL="355600" indent="-342900">
              <a:lnSpc>
                <a:spcPct val="100000"/>
              </a:lnSpc>
              <a:spcBef>
                <a:spcPts val="13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Modifying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program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after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it</a:t>
            </a:r>
            <a:r>
              <a:rPr dirty="0" sz="2400" spc="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has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been</a:t>
            </a:r>
            <a:r>
              <a:rPr dirty="0" sz="2400" spc="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put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into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use.</a:t>
            </a:r>
            <a:endParaRPr sz="2400">
              <a:latin typeface="Arial MT"/>
              <a:cs typeface="Arial MT"/>
            </a:endParaRPr>
          </a:p>
          <a:p>
            <a:pPr algn="just" marL="355600" marR="31877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 term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is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mostly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used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for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changing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custom software. </a:t>
            </a:r>
            <a:r>
              <a:rPr dirty="0" sz="2400" spc="-6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Generic software products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are said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evolve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 create 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new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versions.</a:t>
            </a:r>
            <a:endParaRPr sz="2400">
              <a:latin typeface="Arial MT"/>
              <a:cs typeface="Arial MT"/>
            </a:endParaRPr>
          </a:p>
          <a:p>
            <a:pPr algn="just" marL="355600" marR="508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Maintenance does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not normally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involve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major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changes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 </a:t>
            </a:r>
            <a:r>
              <a:rPr dirty="0" sz="2400" spc="-6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system’s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architecture.</a:t>
            </a:r>
            <a:endParaRPr sz="2400">
              <a:latin typeface="Arial MT"/>
              <a:cs typeface="Arial MT"/>
            </a:endParaRPr>
          </a:p>
          <a:p>
            <a:pPr algn="just" marL="35560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Changes</a:t>
            </a:r>
            <a:r>
              <a:rPr dirty="0" sz="2400" spc="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implemented</a:t>
            </a:r>
            <a:r>
              <a:rPr dirty="0" sz="2400" spc="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by modifying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existing</a:t>
            </a:r>
            <a:endParaRPr sz="2400">
              <a:latin typeface="Arial MT"/>
              <a:cs typeface="Arial MT"/>
            </a:endParaRPr>
          </a:p>
          <a:p>
            <a:pPr algn="just" marL="355600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components</a:t>
            </a:r>
            <a:r>
              <a:rPr dirty="0" sz="2400" spc="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adding</a:t>
            </a:r>
            <a:r>
              <a:rPr dirty="0" sz="2400" spc="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new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components 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 system.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5"/>
              <a:t>Chapter</a:t>
            </a:r>
            <a:r>
              <a:rPr dirty="0" spc="-55"/>
              <a:t> </a:t>
            </a:r>
            <a:r>
              <a:rPr dirty="0"/>
              <a:t>9</a:t>
            </a:r>
            <a:r>
              <a:rPr dirty="0" spc="-10"/>
              <a:t> </a:t>
            </a:r>
            <a:r>
              <a:rPr dirty="0" spc="-5"/>
              <a:t>Software</a:t>
            </a:r>
            <a:r>
              <a:rPr dirty="0" spc="-30"/>
              <a:t> </a:t>
            </a:r>
            <a:r>
              <a:rPr dirty="0" spc="-5"/>
              <a:t>evolution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23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330" y="643254"/>
            <a:ext cx="326009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Software</a:t>
            </a:r>
            <a:r>
              <a:rPr dirty="0" spc="-65"/>
              <a:t> </a:t>
            </a:r>
            <a:r>
              <a:rPr dirty="0" spc="-5"/>
              <a:t>maintenance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330" y="1488078"/>
            <a:ext cx="7957184" cy="4088129"/>
          </a:xfrm>
          <a:prstGeom prst="rect">
            <a:avLst/>
          </a:prstGeom>
        </p:spPr>
        <p:txBody>
          <a:bodyPr wrap="square" lIns="0" tIns="14922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7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Maintenance</a:t>
            </a:r>
            <a:r>
              <a:rPr dirty="0" sz="2400" spc="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repair</a:t>
            </a:r>
            <a:r>
              <a:rPr dirty="0" sz="2400" spc="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 faults</a:t>
            </a:r>
            <a:endParaRPr sz="2400">
              <a:latin typeface="Arial MT"/>
              <a:cs typeface="Arial MT"/>
            </a:endParaRPr>
          </a:p>
          <a:p>
            <a:pPr lvl="1" marL="756285" marR="200025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Changing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 system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correct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deficiencies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 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way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meets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its </a:t>
            </a:r>
            <a:r>
              <a:rPr dirty="0" sz="2000" spc="-5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requirements.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Maintenance</a:t>
            </a:r>
            <a:r>
              <a:rPr dirty="0" sz="2400" spc="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adapt software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different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operating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environment</a:t>
            </a:r>
            <a:endParaRPr sz="2400">
              <a:latin typeface="Arial MT"/>
              <a:cs typeface="Arial MT"/>
            </a:endParaRPr>
          </a:p>
          <a:p>
            <a:pPr lvl="1" marL="756285" marR="5080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Changing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 system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so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it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operates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 a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different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environment </a:t>
            </a:r>
            <a:r>
              <a:rPr dirty="0" sz="2000" spc="-5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(computer,</a:t>
            </a:r>
            <a:r>
              <a:rPr dirty="0" sz="20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OS,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etc.)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from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its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initial implementation.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Maintenance</a:t>
            </a:r>
            <a:r>
              <a:rPr dirty="0" sz="2400" spc="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 add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or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modify the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system’s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functionality</a:t>
            </a:r>
            <a:endParaRPr sz="2400">
              <a:latin typeface="Arial MT"/>
              <a:cs typeface="Arial MT"/>
            </a:endParaRPr>
          </a:p>
          <a:p>
            <a:pPr lvl="1" marL="756285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Modifying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satisfy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new requirements.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5"/>
              <a:t>Chapter</a:t>
            </a:r>
            <a:r>
              <a:rPr dirty="0" spc="-55"/>
              <a:t> </a:t>
            </a:r>
            <a:r>
              <a:rPr dirty="0"/>
              <a:t>9</a:t>
            </a:r>
            <a:r>
              <a:rPr dirty="0" spc="-10"/>
              <a:t> </a:t>
            </a:r>
            <a:r>
              <a:rPr dirty="0" spc="-5"/>
              <a:t>Software</a:t>
            </a:r>
            <a:r>
              <a:rPr dirty="0" spc="-30"/>
              <a:t> </a:t>
            </a:r>
            <a:r>
              <a:rPr dirty="0" spc="-5"/>
              <a:t>evolution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23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330" y="643254"/>
            <a:ext cx="320230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5"/>
              <a:t>Types</a:t>
            </a:r>
            <a:r>
              <a:rPr dirty="0" spc="-1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 spc="-5"/>
              <a:t>maintenance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43254"/>
            <a:ext cx="610489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20520" algn="l"/>
              </a:tabLst>
            </a:pPr>
            <a:r>
              <a:rPr dirty="0"/>
              <a:t>Figure</a:t>
            </a:r>
            <a:r>
              <a:rPr dirty="0" spc="-10"/>
              <a:t> </a:t>
            </a:r>
            <a:r>
              <a:rPr dirty="0"/>
              <a:t>9.8	</a:t>
            </a:r>
            <a:r>
              <a:rPr dirty="0" spc="-5"/>
              <a:t>Maintenance</a:t>
            </a:r>
            <a:r>
              <a:rPr dirty="0" spc="-20"/>
              <a:t> </a:t>
            </a:r>
            <a:r>
              <a:rPr dirty="0" spc="-5"/>
              <a:t>effort</a:t>
            </a:r>
            <a:r>
              <a:rPr dirty="0" spc="-10"/>
              <a:t> </a:t>
            </a:r>
            <a:r>
              <a:rPr dirty="0"/>
              <a:t>distribution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4295" y="1988820"/>
            <a:ext cx="3316478" cy="33162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5"/>
              <a:t>Chapter</a:t>
            </a:r>
            <a:r>
              <a:rPr dirty="0" spc="-55"/>
              <a:t> </a:t>
            </a:r>
            <a:r>
              <a:rPr dirty="0"/>
              <a:t>9</a:t>
            </a:r>
            <a:r>
              <a:rPr dirty="0" spc="-10"/>
              <a:t> </a:t>
            </a:r>
            <a:r>
              <a:rPr dirty="0" spc="-5"/>
              <a:t>Software</a:t>
            </a:r>
            <a:r>
              <a:rPr dirty="0" spc="-30"/>
              <a:t> </a:t>
            </a:r>
            <a:r>
              <a:rPr dirty="0" spc="-5"/>
              <a:t>evolution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23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330" y="643254"/>
            <a:ext cx="6732270" cy="4756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46424D"/>
                </a:solidFill>
                <a:latin typeface="Arial"/>
                <a:cs typeface="Arial"/>
              </a:rPr>
              <a:t>Maintenance</a:t>
            </a:r>
            <a:r>
              <a:rPr dirty="0" sz="2400" spc="-20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46424D"/>
                </a:solidFill>
                <a:latin typeface="Arial"/>
                <a:cs typeface="Arial"/>
              </a:rPr>
              <a:t>costs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700">
              <a:latin typeface="Arial"/>
              <a:cs typeface="Arial"/>
            </a:endParaRPr>
          </a:p>
          <a:p>
            <a:pPr marL="355600" marR="187960" indent="-342900">
              <a:lnSpc>
                <a:spcPct val="100000"/>
              </a:lnSpc>
              <a:spcBef>
                <a:spcPts val="174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Usually</a:t>
            </a:r>
            <a:r>
              <a:rPr dirty="0" sz="2400" spc="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greater</a:t>
            </a:r>
            <a:r>
              <a:rPr dirty="0" sz="2400" spc="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than</a:t>
            </a:r>
            <a:r>
              <a:rPr dirty="0" sz="2400" spc="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development</a:t>
            </a:r>
            <a:r>
              <a:rPr dirty="0" sz="2400" spc="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costs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(2*</a:t>
            </a:r>
            <a:r>
              <a:rPr dirty="0" sz="2400" spc="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 </a:t>
            </a:r>
            <a:r>
              <a:rPr dirty="0" sz="2400" spc="-6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100*</a:t>
            </a:r>
            <a:r>
              <a:rPr dirty="0" sz="2400" spc="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depending</a:t>
            </a:r>
            <a:r>
              <a:rPr dirty="0" sz="2400" spc="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dirty="0" sz="2400" spc="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application).</a:t>
            </a:r>
            <a:endParaRPr sz="2400">
              <a:latin typeface="Arial MT"/>
              <a:cs typeface="Arial MT"/>
            </a:endParaRPr>
          </a:p>
          <a:p>
            <a:pPr marL="355600" marR="39243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Affected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by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both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technical</a:t>
            </a:r>
            <a:r>
              <a:rPr dirty="0" sz="2400" spc="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non-technical </a:t>
            </a:r>
            <a:r>
              <a:rPr dirty="0" sz="2400" spc="-6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factors.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Increases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as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maintained.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Maintenance</a:t>
            </a:r>
            <a:r>
              <a:rPr dirty="0" sz="2400" spc="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corrupts the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structure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so </a:t>
            </a:r>
            <a:r>
              <a:rPr dirty="0" sz="2400" spc="-6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makes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further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maintenance</a:t>
            </a:r>
            <a:r>
              <a:rPr dirty="0" sz="2400" spc="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more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difficult.</a:t>
            </a:r>
            <a:endParaRPr sz="2400">
              <a:latin typeface="Arial MT"/>
              <a:cs typeface="Arial MT"/>
            </a:endParaRPr>
          </a:p>
          <a:p>
            <a:pPr marL="355600" marR="288290" indent="-342900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Ageing</a:t>
            </a:r>
            <a:r>
              <a:rPr dirty="0" sz="2400" spc="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can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have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high</a:t>
            </a:r>
            <a:r>
              <a:rPr dirty="0" sz="2400" spc="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support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costs </a:t>
            </a:r>
            <a:r>
              <a:rPr dirty="0" sz="2400" spc="-6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(e.g.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old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languages,</a:t>
            </a:r>
            <a:r>
              <a:rPr dirty="0" sz="2400" spc="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compilers</a:t>
            </a:r>
            <a:r>
              <a:rPr dirty="0" sz="2400" spc="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etc.).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5"/>
              <a:t>Chapter</a:t>
            </a:r>
            <a:r>
              <a:rPr dirty="0" spc="-55"/>
              <a:t> </a:t>
            </a:r>
            <a:r>
              <a:rPr dirty="0"/>
              <a:t>9</a:t>
            </a:r>
            <a:r>
              <a:rPr dirty="0" spc="-10"/>
              <a:t> </a:t>
            </a:r>
            <a:r>
              <a:rPr dirty="0" spc="-5"/>
              <a:t>Software</a:t>
            </a:r>
            <a:r>
              <a:rPr dirty="0" spc="-30"/>
              <a:t> </a:t>
            </a:r>
            <a:r>
              <a:rPr dirty="0" spc="-5"/>
              <a:t>evolution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23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43254"/>
            <a:ext cx="699960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20520" algn="l"/>
              </a:tabLst>
            </a:pPr>
            <a:r>
              <a:rPr dirty="0"/>
              <a:t>Figure</a:t>
            </a:r>
            <a:r>
              <a:rPr dirty="0" spc="-10"/>
              <a:t> </a:t>
            </a:r>
            <a:r>
              <a:rPr dirty="0"/>
              <a:t>9.9	</a:t>
            </a:r>
            <a:r>
              <a:rPr dirty="0" spc="-5"/>
              <a:t>Development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-10"/>
              <a:t> </a:t>
            </a:r>
            <a:r>
              <a:rPr dirty="0" spc="-5"/>
              <a:t>maintenance</a:t>
            </a:r>
            <a:r>
              <a:rPr dirty="0" spc="-15"/>
              <a:t> </a:t>
            </a:r>
            <a:r>
              <a:rPr dirty="0" spc="-5"/>
              <a:t>costs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5038" y="2425778"/>
            <a:ext cx="6511048" cy="265409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5"/>
              <a:t>Chapter</a:t>
            </a:r>
            <a:r>
              <a:rPr dirty="0" spc="-55"/>
              <a:t> </a:t>
            </a:r>
            <a:r>
              <a:rPr dirty="0"/>
              <a:t>9</a:t>
            </a:r>
            <a:r>
              <a:rPr dirty="0" spc="-10"/>
              <a:t> </a:t>
            </a:r>
            <a:r>
              <a:rPr dirty="0" spc="-5"/>
              <a:t>Software</a:t>
            </a:r>
            <a:r>
              <a:rPr dirty="0" spc="-30"/>
              <a:t> </a:t>
            </a:r>
            <a:r>
              <a:rPr dirty="0" spc="-5"/>
              <a:t>evolution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23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3359" y="1417112"/>
            <a:ext cx="7893684" cy="4750435"/>
          </a:xfrm>
          <a:prstGeom prst="rect">
            <a:avLst/>
          </a:prstGeom>
        </p:spPr>
        <p:txBody>
          <a:bodyPr wrap="square" lIns="0" tIns="113664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Team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stability</a:t>
            </a:r>
            <a:endParaRPr sz="2400">
              <a:latin typeface="Arial MT"/>
              <a:cs typeface="Arial MT"/>
            </a:endParaRPr>
          </a:p>
          <a:p>
            <a:pPr lvl="1" marL="756285" marR="299720" indent="-287020">
              <a:lnSpc>
                <a:spcPts val="2160"/>
              </a:lnSpc>
              <a:spcBef>
                <a:spcPts val="94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Maintenance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costs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reduced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if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same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staff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involved </a:t>
            </a:r>
            <a:r>
              <a:rPr dirty="0" sz="2000" spc="-5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with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 them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some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time.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Contractual responsibility</a:t>
            </a:r>
            <a:endParaRPr sz="2400">
              <a:latin typeface="Arial MT"/>
              <a:cs typeface="Arial MT"/>
            </a:endParaRPr>
          </a:p>
          <a:p>
            <a:pPr lvl="1" marL="756285" marR="5080" indent="-287020">
              <a:lnSpc>
                <a:spcPts val="2160"/>
              </a:lnSpc>
              <a:spcBef>
                <a:spcPts val="93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 developers of a system may have no contractual </a:t>
            </a:r>
            <a:r>
              <a:rPr dirty="0" sz="20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responsibility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maintenance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so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there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is no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incentive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design </a:t>
            </a:r>
            <a:r>
              <a:rPr dirty="0" sz="2000" spc="-5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future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change.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Staff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skills</a:t>
            </a:r>
            <a:endParaRPr sz="2400">
              <a:latin typeface="Arial MT"/>
              <a:cs typeface="Arial MT"/>
            </a:endParaRPr>
          </a:p>
          <a:p>
            <a:pPr lvl="1" marL="756285" indent="-287020">
              <a:lnSpc>
                <a:spcPts val="2280"/>
              </a:lnSpc>
              <a:spcBef>
                <a:spcPts val="66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Maintenance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staff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often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inexperienced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have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limited</a:t>
            </a:r>
            <a:endParaRPr sz="2000">
              <a:latin typeface="Arial MT"/>
              <a:cs typeface="Arial MT"/>
            </a:endParaRPr>
          </a:p>
          <a:p>
            <a:pPr marL="756285">
              <a:lnSpc>
                <a:spcPts val="2280"/>
              </a:lnSpc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domain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knowledge.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1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Program age and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structure</a:t>
            </a:r>
            <a:endParaRPr sz="2400">
              <a:latin typeface="Arial MT"/>
              <a:cs typeface="Arial MT"/>
            </a:endParaRPr>
          </a:p>
          <a:p>
            <a:pPr lvl="1" marL="756285" marR="92710" indent="-287020">
              <a:lnSpc>
                <a:spcPts val="2160"/>
              </a:lnSpc>
              <a:spcBef>
                <a:spcPts val="93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As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programs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age,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their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structure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is degraded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they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become </a:t>
            </a:r>
            <a:r>
              <a:rPr dirty="0" sz="2000" spc="-5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harder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understand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change.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5"/>
              <a:t>Chapter</a:t>
            </a:r>
            <a:r>
              <a:rPr dirty="0" spc="-55"/>
              <a:t> </a:t>
            </a:r>
            <a:r>
              <a:rPr dirty="0"/>
              <a:t>9</a:t>
            </a:r>
            <a:r>
              <a:rPr dirty="0" spc="-10"/>
              <a:t> </a:t>
            </a:r>
            <a:r>
              <a:rPr dirty="0" spc="-5"/>
              <a:t>Software</a:t>
            </a:r>
            <a:r>
              <a:rPr dirty="0" spc="-30"/>
              <a:t> </a:t>
            </a:r>
            <a:r>
              <a:rPr dirty="0" spc="-5"/>
              <a:t>evolution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23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330" y="643254"/>
            <a:ext cx="368300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Maintenance</a:t>
            </a:r>
            <a:r>
              <a:rPr dirty="0" spc="-10"/>
              <a:t> </a:t>
            </a:r>
            <a:r>
              <a:rPr dirty="0" spc="-5"/>
              <a:t>cost factors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643254"/>
            <a:ext cx="6818630" cy="4605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46424D"/>
                </a:solidFill>
                <a:latin typeface="Arial"/>
                <a:cs typeface="Arial"/>
              </a:rPr>
              <a:t>System</a:t>
            </a:r>
            <a:r>
              <a:rPr dirty="0" sz="2400" spc="30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46424D"/>
                </a:solidFill>
                <a:latin typeface="Arial"/>
                <a:cs typeface="Arial"/>
              </a:rPr>
              <a:t>re-engineering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700">
              <a:latin typeface="Arial"/>
              <a:cs typeface="Arial"/>
            </a:endParaRPr>
          </a:p>
          <a:p>
            <a:pPr marL="355600" marR="896619" indent="-342900">
              <a:lnSpc>
                <a:spcPct val="100000"/>
              </a:lnSpc>
              <a:spcBef>
                <a:spcPts val="175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Re-structuring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or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re-writing</a:t>
            </a:r>
            <a:r>
              <a:rPr dirty="0" sz="2400" spc="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part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or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all</a:t>
            </a:r>
            <a:r>
              <a:rPr dirty="0" sz="2400" spc="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 </a:t>
            </a:r>
            <a:r>
              <a:rPr dirty="0" sz="2400" spc="-6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legacy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without</a:t>
            </a:r>
            <a:r>
              <a:rPr dirty="0" sz="2400" spc="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changing</a:t>
            </a:r>
            <a:r>
              <a:rPr dirty="0" sz="2400" spc="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its 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functionality.</a:t>
            </a:r>
            <a:endParaRPr sz="2400">
              <a:latin typeface="Arial MT"/>
              <a:cs typeface="Arial MT"/>
            </a:endParaRPr>
          </a:p>
          <a:p>
            <a:pPr marL="355600" marR="96520" indent="-342900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Applicable</a:t>
            </a:r>
            <a:r>
              <a:rPr dirty="0" sz="2400" spc="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where</a:t>
            </a:r>
            <a:r>
              <a:rPr dirty="0" sz="2400" spc="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some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but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not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all</a:t>
            </a:r>
            <a:r>
              <a:rPr dirty="0" sz="2400" spc="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sub-systems </a:t>
            </a:r>
            <a:r>
              <a:rPr dirty="0" sz="2400" spc="-6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 larger system require</a:t>
            </a:r>
            <a:r>
              <a:rPr dirty="0" sz="2400" spc="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frequent 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maintenance.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Re-engineering</a:t>
            </a:r>
            <a:r>
              <a:rPr dirty="0" sz="2400" spc="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involves</a:t>
            </a:r>
            <a:r>
              <a:rPr dirty="0" sz="2400" spc="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adding</a:t>
            </a:r>
            <a:r>
              <a:rPr dirty="0" sz="2400" spc="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effort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 make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them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easier</a:t>
            </a:r>
            <a:r>
              <a:rPr dirty="0" sz="2400" spc="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maintain.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may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re- </a:t>
            </a:r>
            <a:r>
              <a:rPr dirty="0" sz="2400" spc="-6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structured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re-documented.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5"/>
              <a:t>Chapter</a:t>
            </a:r>
            <a:r>
              <a:rPr dirty="0" spc="-55"/>
              <a:t> </a:t>
            </a:r>
            <a:r>
              <a:rPr dirty="0"/>
              <a:t>9</a:t>
            </a:r>
            <a:r>
              <a:rPr dirty="0" spc="-10"/>
              <a:t> </a:t>
            </a:r>
            <a:r>
              <a:rPr dirty="0" spc="-5"/>
              <a:t>Software</a:t>
            </a:r>
            <a:r>
              <a:rPr dirty="0" spc="-30"/>
              <a:t> </a:t>
            </a:r>
            <a:r>
              <a:rPr dirty="0" spc="-5"/>
              <a:t>evolution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23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460375"/>
            <a:ext cx="8072755" cy="6038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199005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46424D"/>
                </a:solidFill>
                <a:latin typeface="Arial"/>
                <a:cs typeface="Arial"/>
              </a:rPr>
              <a:t>Activities</a:t>
            </a:r>
            <a:r>
              <a:rPr dirty="0" sz="2400" spc="5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46424D"/>
                </a:solidFill>
                <a:latin typeface="Arial"/>
                <a:cs typeface="Arial"/>
              </a:rPr>
              <a:t>Involved</a:t>
            </a:r>
            <a:r>
              <a:rPr dirty="0" sz="2400" spc="-20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46424D"/>
                </a:solidFill>
                <a:latin typeface="Arial"/>
                <a:cs typeface="Arial"/>
              </a:rPr>
              <a:t>In</a:t>
            </a:r>
            <a:r>
              <a:rPr dirty="0" sz="2400" spc="5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46424D"/>
                </a:solidFill>
                <a:latin typeface="Arial"/>
                <a:cs typeface="Arial"/>
              </a:rPr>
              <a:t>The Reengineering </a:t>
            </a:r>
            <a:r>
              <a:rPr dirty="0" sz="2400" spc="-655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46424D"/>
                </a:solidFill>
                <a:latin typeface="Arial"/>
                <a:cs typeface="Arial"/>
              </a:rPr>
              <a:t>Process: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950">
              <a:latin typeface="Arial"/>
              <a:cs typeface="Arial"/>
            </a:endParaRPr>
          </a:p>
          <a:p>
            <a:pPr algn="just" marL="355600" marR="5080" indent="-342900">
              <a:lnSpc>
                <a:spcPct val="100000"/>
              </a:lnSpc>
              <a:spcBef>
                <a:spcPts val="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 spc="-135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1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make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legacy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systems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easier</a:t>
            </a:r>
            <a:r>
              <a:rPr dirty="0" sz="2400" spc="6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6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maintain, </a:t>
            </a:r>
            <a:r>
              <a:rPr dirty="0" sz="2400" spc="-6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you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can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reengineer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these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systems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to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improve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their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structure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understandability</a:t>
            </a:r>
            <a:endParaRPr sz="2400">
              <a:latin typeface="Arial MT"/>
              <a:cs typeface="Arial MT"/>
            </a:endParaRPr>
          </a:p>
          <a:p>
            <a:pPr algn="just" marL="35560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activities</a:t>
            </a:r>
            <a:r>
              <a:rPr dirty="0" sz="2400" spc="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reengineering</a:t>
            </a:r>
            <a:r>
              <a:rPr dirty="0" sz="2400" spc="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process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are:</a:t>
            </a:r>
            <a:endParaRPr sz="2400">
              <a:latin typeface="Arial MT"/>
              <a:cs typeface="Arial MT"/>
            </a:endParaRPr>
          </a:p>
          <a:p>
            <a:pPr marL="12700" marR="223520">
              <a:lnSpc>
                <a:spcPct val="100000"/>
              </a:lnSpc>
              <a:spcBef>
                <a:spcPts val="1200"/>
              </a:spcBef>
              <a:buFont typeface="Arial MT"/>
              <a:buAutoNum type="arabicPeriod"/>
              <a:tabLst>
                <a:tab pos="351155" algn="l"/>
              </a:tabLst>
            </a:pPr>
            <a:r>
              <a:rPr dirty="0" sz="2400" b="1">
                <a:solidFill>
                  <a:srgbClr val="46424D"/>
                </a:solidFill>
                <a:latin typeface="Arial"/>
                <a:cs typeface="Arial"/>
              </a:rPr>
              <a:t>Source code translation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Using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translation tool, you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can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convert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program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from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old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programming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language</a:t>
            </a:r>
            <a:r>
              <a:rPr dirty="0" sz="2400" spc="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more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 modern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version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same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language </a:t>
            </a:r>
            <a:r>
              <a:rPr dirty="0" sz="2400" spc="-6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or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different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language.</a:t>
            </a:r>
            <a:endParaRPr sz="2400">
              <a:latin typeface="Arial MT"/>
              <a:cs typeface="Arial MT"/>
            </a:endParaRPr>
          </a:p>
          <a:p>
            <a:pPr marL="12700" marR="60325">
              <a:lnSpc>
                <a:spcPct val="100000"/>
              </a:lnSpc>
              <a:spcBef>
                <a:spcPts val="1205"/>
              </a:spcBef>
              <a:buFont typeface="Arial MT"/>
              <a:buAutoNum type="arabicPeriod"/>
              <a:tabLst>
                <a:tab pos="351155" algn="l"/>
              </a:tabLst>
            </a:pPr>
            <a:r>
              <a:rPr dirty="0" sz="2400" spc="-5" b="1">
                <a:solidFill>
                  <a:srgbClr val="46424D"/>
                </a:solidFill>
                <a:latin typeface="Arial"/>
                <a:cs typeface="Arial"/>
              </a:rPr>
              <a:t>Reverse </a:t>
            </a:r>
            <a:r>
              <a:rPr dirty="0" sz="2400" b="1">
                <a:solidFill>
                  <a:srgbClr val="46424D"/>
                </a:solidFill>
                <a:latin typeface="Arial"/>
                <a:cs typeface="Arial"/>
              </a:rPr>
              <a:t>engineering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program is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analyzed and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information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extracted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from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it.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This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helps</a:t>
            </a:r>
            <a:r>
              <a:rPr dirty="0" sz="2400" spc="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document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its 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organization</a:t>
            </a:r>
            <a:r>
              <a:rPr dirty="0" sz="2400" spc="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functionality.</a:t>
            </a:r>
            <a:r>
              <a:rPr dirty="0" sz="2400" spc="-1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Again,</a:t>
            </a:r>
            <a:r>
              <a:rPr dirty="0" sz="2400" spc="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this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process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usually </a:t>
            </a:r>
            <a:r>
              <a:rPr dirty="0" sz="2400" spc="-6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completely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automated.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5"/>
              <a:t>Chapter</a:t>
            </a:r>
            <a:r>
              <a:rPr dirty="0" spc="-55"/>
              <a:t> </a:t>
            </a:r>
            <a:r>
              <a:rPr dirty="0"/>
              <a:t>9</a:t>
            </a:r>
            <a:r>
              <a:rPr dirty="0" spc="-10"/>
              <a:t> </a:t>
            </a:r>
            <a:r>
              <a:rPr dirty="0" spc="-5"/>
              <a:t>Software</a:t>
            </a:r>
            <a:r>
              <a:rPr dirty="0" spc="-30"/>
              <a:t> </a:t>
            </a:r>
            <a:r>
              <a:rPr dirty="0" spc="-5"/>
              <a:t>evolution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23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460375"/>
            <a:ext cx="7923530" cy="5544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049145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46424D"/>
                </a:solidFill>
                <a:latin typeface="Arial"/>
                <a:cs typeface="Arial"/>
              </a:rPr>
              <a:t>Activities</a:t>
            </a:r>
            <a:r>
              <a:rPr dirty="0" sz="2400" spc="5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46424D"/>
                </a:solidFill>
                <a:latin typeface="Arial"/>
                <a:cs typeface="Arial"/>
              </a:rPr>
              <a:t>Involved</a:t>
            </a:r>
            <a:r>
              <a:rPr dirty="0" sz="2400" spc="-20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46424D"/>
                </a:solidFill>
                <a:latin typeface="Arial"/>
                <a:cs typeface="Arial"/>
              </a:rPr>
              <a:t>In</a:t>
            </a:r>
            <a:r>
              <a:rPr dirty="0" sz="2400" spc="5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46424D"/>
                </a:solidFill>
                <a:latin typeface="Arial"/>
                <a:cs typeface="Arial"/>
              </a:rPr>
              <a:t>The Reengineering </a:t>
            </a:r>
            <a:r>
              <a:rPr dirty="0" sz="2400" spc="-655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46424D"/>
                </a:solidFill>
                <a:latin typeface="Arial"/>
                <a:cs typeface="Arial"/>
              </a:rPr>
              <a:t>Process: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100">
              <a:latin typeface="Arial"/>
              <a:cs typeface="Arial"/>
            </a:endParaRPr>
          </a:p>
          <a:p>
            <a:pPr marL="12700" marR="23495">
              <a:lnSpc>
                <a:spcPct val="100000"/>
              </a:lnSpc>
              <a:buAutoNum type="arabicPeriod" startAt="3"/>
              <a:tabLst>
                <a:tab pos="351155" algn="l"/>
              </a:tabLst>
            </a:pPr>
            <a:r>
              <a:rPr dirty="0" sz="2400" spc="-5" b="1">
                <a:solidFill>
                  <a:srgbClr val="46424D"/>
                </a:solidFill>
                <a:latin typeface="Arial"/>
                <a:cs typeface="Arial"/>
              </a:rPr>
              <a:t>Program</a:t>
            </a:r>
            <a:r>
              <a:rPr dirty="0" sz="2400" spc="15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46424D"/>
                </a:solidFill>
                <a:latin typeface="Arial"/>
                <a:cs typeface="Arial"/>
              </a:rPr>
              <a:t>structure</a:t>
            </a:r>
            <a:r>
              <a:rPr dirty="0" sz="2400" spc="15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46424D"/>
                </a:solidFill>
                <a:latin typeface="Arial"/>
                <a:cs typeface="Arial"/>
              </a:rPr>
              <a:t>improvement</a:t>
            </a:r>
            <a:r>
              <a:rPr dirty="0" sz="2400" spc="15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control</a:t>
            </a:r>
            <a:r>
              <a:rPr dirty="0" sz="2400" spc="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structure </a:t>
            </a:r>
            <a:r>
              <a:rPr dirty="0" sz="2400" spc="-6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program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analyzed</a:t>
            </a:r>
            <a:r>
              <a:rPr dirty="0" sz="2400" spc="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and modified</a:t>
            </a:r>
            <a:r>
              <a:rPr dirty="0" sz="2400" spc="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make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it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easier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to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read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understand.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This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can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partially</a:t>
            </a:r>
            <a:r>
              <a:rPr dirty="0" sz="2400" spc="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automated, 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but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some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manual</a:t>
            </a:r>
            <a:r>
              <a:rPr dirty="0" sz="2400" spc="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intervention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usually</a:t>
            </a:r>
            <a:r>
              <a:rPr dirty="0" sz="2400" spc="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required.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46424D"/>
              </a:buClr>
              <a:buFont typeface="Arial"/>
              <a:buAutoNum type="arabicPeriod" startAt="3"/>
            </a:pPr>
            <a:endParaRPr sz="27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2180"/>
              </a:spcBef>
              <a:buAutoNum type="arabicPeriod" startAt="3"/>
              <a:tabLst>
                <a:tab pos="351790" algn="l"/>
              </a:tabLst>
            </a:pPr>
            <a:r>
              <a:rPr dirty="0" sz="2400" spc="-5" b="1">
                <a:solidFill>
                  <a:srgbClr val="46424D"/>
                </a:solidFill>
                <a:latin typeface="Arial"/>
                <a:cs typeface="Arial"/>
              </a:rPr>
              <a:t>Program </a:t>
            </a:r>
            <a:r>
              <a:rPr dirty="0" sz="2400" b="1">
                <a:solidFill>
                  <a:srgbClr val="46424D"/>
                </a:solidFill>
                <a:latin typeface="Arial"/>
                <a:cs typeface="Arial"/>
              </a:rPr>
              <a:t>modularization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Related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parts of the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program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grouped</a:t>
            </a:r>
            <a:r>
              <a:rPr dirty="0" sz="2400" spc="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together,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and,</a:t>
            </a:r>
            <a:r>
              <a:rPr dirty="0" sz="2400" spc="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where</a:t>
            </a:r>
            <a:r>
              <a:rPr dirty="0" sz="2400" spc="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appropriate,</a:t>
            </a:r>
            <a:r>
              <a:rPr dirty="0" sz="2400" spc="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redundancy </a:t>
            </a:r>
            <a:r>
              <a:rPr dirty="0" sz="2400" spc="-6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is removed.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some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cases, this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stage may involve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architectural refactoring (e.g., a system that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uses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several 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different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data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stores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refactored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use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single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repository).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This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manual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process.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5"/>
              <a:t>Chapter</a:t>
            </a:r>
            <a:r>
              <a:rPr dirty="0" spc="-55"/>
              <a:t> </a:t>
            </a:r>
            <a:r>
              <a:rPr dirty="0"/>
              <a:t>9</a:t>
            </a:r>
            <a:r>
              <a:rPr dirty="0" spc="-10"/>
              <a:t> </a:t>
            </a:r>
            <a:r>
              <a:rPr dirty="0" spc="-5"/>
              <a:t>Software</a:t>
            </a:r>
            <a:r>
              <a:rPr dirty="0" spc="-30"/>
              <a:t> </a:t>
            </a:r>
            <a:r>
              <a:rPr dirty="0" spc="-5"/>
              <a:t>evolution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23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460375"/>
            <a:ext cx="8038465" cy="3752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164715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46424D"/>
                </a:solidFill>
                <a:latin typeface="Arial"/>
                <a:cs typeface="Arial"/>
              </a:rPr>
              <a:t>Activities</a:t>
            </a:r>
            <a:r>
              <a:rPr dirty="0" sz="2400" spc="5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46424D"/>
                </a:solidFill>
                <a:latin typeface="Arial"/>
                <a:cs typeface="Arial"/>
              </a:rPr>
              <a:t>Involved</a:t>
            </a:r>
            <a:r>
              <a:rPr dirty="0" sz="2400" spc="-20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46424D"/>
                </a:solidFill>
                <a:latin typeface="Arial"/>
                <a:cs typeface="Arial"/>
              </a:rPr>
              <a:t>In</a:t>
            </a:r>
            <a:r>
              <a:rPr dirty="0" sz="2400" spc="5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46424D"/>
                </a:solidFill>
                <a:latin typeface="Arial"/>
                <a:cs typeface="Arial"/>
              </a:rPr>
              <a:t>The Reengineering </a:t>
            </a:r>
            <a:r>
              <a:rPr dirty="0" sz="2400" spc="-655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46424D"/>
                </a:solidFill>
                <a:latin typeface="Arial"/>
                <a:cs typeface="Arial"/>
              </a:rPr>
              <a:t>Process: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9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2400" b="1">
                <a:solidFill>
                  <a:srgbClr val="46424D"/>
                </a:solidFill>
                <a:latin typeface="Arial"/>
                <a:cs typeface="Arial"/>
              </a:rPr>
              <a:t>5. </a:t>
            </a:r>
            <a:r>
              <a:rPr dirty="0" sz="2400" spc="-5" b="1">
                <a:solidFill>
                  <a:srgbClr val="46424D"/>
                </a:solidFill>
                <a:latin typeface="Arial"/>
                <a:cs typeface="Arial"/>
              </a:rPr>
              <a:t>Data</a:t>
            </a:r>
            <a:r>
              <a:rPr dirty="0" sz="2400" b="1">
                <a:solidFill>
                  <a:srgbClr val="46424D"/>
                </a:solidFill>
                <a:latin typeface="Arial"/>
                <a:cs typeface="Arial"/>
              </a:rPr>
              <a:t> reengineering</a:t>
            </a:r>
            <a:r>
              <a:rPr dirty="0" sz="2400" spc="5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data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processed</a:t>
            </a:r>
            <a:r>
              <a:rPr dirty="0" sz="2400" spc="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by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program </a:t>
            </a:r>
            <a:r>
              <a:rPr dirty="0" sz="2400" spc="-6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changed</a:t>
            </a:r>
            <a:r>
              <a:rPr dirty="0" sz="2400" spc="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reflect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program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changes.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This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may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mean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redefining</a:t>
            </a:r>
            <a:r>
              <a:rPr dirty="0" sz="2400" spc="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database</a:t>
            </a:r>
            <a:r>
              <a:rPr dirty="0" sz="2400" spc="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schemas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converting</a:t>
            </a:r>
            <a:r>
              <a:rPr dirty="0" sz="2400" spc="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existing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databases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 the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new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structure.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You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dirty="0" sz="2400" spc="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usually</a:t>
            </a:r>
            <a:r>
              <a:rPr dirty="0" sz="2400" spc="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also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clean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up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the data.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This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involves</a:t>
            </a:r>
            <a:r>
              <a:rPr dirty="0" sz="2400" spc="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finding</a:t>
            </a:r>
            <a:r>
              <a:rPr dirty="0" sz="2400" spc="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correcting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mistakes,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removing duplicate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records, and so on.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This can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be a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very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expensive</a:t>
            </a:r>
            <a:r>
              <a:rPr dirty="0" sz="2400" spc="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prolonged</a:t>
            </a:r>
            <a:r>
              <a:rPr dirty="0" sz="2400" spc="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process.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5"/>
              <a:t>Chapter</a:t>
            </a:r>
            <a:r>
              <a:rPr dirty="0" spc="-55"/>
              <a:t> </a:t>
            </a:r>
            <a:r>
              <a:rPr dirty="0"/>
              <a:t>9</a:t>
            </a:r>
            <a:r>
              <a:rPr dirty="0" spc="-10"/>
              <a:t> </a:t>
            </a:r>
            <a:r>
              <a:rPr dirty="0" spc="-5"/>
              <a:t>Software</a:t>
            </a:r>
            <a:r>
              <a:rPr dirty="0" spc="-30"/>
              <a:t> </a:t>
            </a:r>
            <a:r>
              <a:rPr dirty="0" spc="-5"/>
              <a:t>evolution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23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43254"/>
            <a:ext cx="422402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Advantages</a:t>
            </a:r>
            <a:r>
              <a:rPr dirty="0" spc="10"/>
              <a:t> </a:t>
            </a:r>
            <a:r>
              <a:rPr dirty="0"/>
              <a:t>of</a:t>
            </a:r>
            <a:r>
              <a:rPr dirty="0" spc="-25"/>
              <a:t> </a:t>
            </a:r>
            <a:r>
              <a:rPr dirty="0" spc="-5"/>
              <a:t>reengineering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5"/>
              <a:t>Chapter</a:t>
            </a:r>
            <a:r>
              <a:rPr dirty="0" spc="-55"/>
              <a:t> </a:t>
            </a:r>
            <a:r>
              <a:rPr dirty="0"/>
              <a:t>9</a:t>
            </a:r>
            <a:r>
              <a:rPr dirty="0" spc="-10"/>
              <a:t> </a:t>
            </a:r>
            <a:r>
              <a:rPr dirty="0" spc="-5"/>
              <a:t>Software</a:t>
            </a:r>
            <a:r>
              <a:rPr dirty="0" spc="-30"/>
              <a:t> </a:t>
            </a:r>
            <a:r>
              <a:rPr dirty="0" spc="-5"/>
              <a:t>evolution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23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535940" y="1488510"/>
            <a:ext cx="7971790" cy="2762885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8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Reduced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risk</a:t>
            </a:r>
            <a:endParaRPr sz="2400">
              <a:latin typeface="Arial MT"/>
              <a:cs typeface="Arial MT"/>
            </a:endParaRPr>
          </a:p>
          <a:p>
            <a:pPr lvl="1" marL="756285" marR="5080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There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is a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high risk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 new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development.</a:t>
            </a:r>
            <a:r>
              <a:rPr dirty="0" sz="20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There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be </a:t>
            </a:r>
            <a:r>
              <a:rPr dirty="0" sz="2000" spc="-5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development problems, 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staffing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problems and specification </a:t>
            </a:r>
            <a:r>
              <a:rPr dirty="0" sz="20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problems.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9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Reduced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cost</a:t>
            </a:r>
            <a:endParaRPr sz="2400">
              <a:latin typeface="Arial MT"/>
              <a:cs typeface="Arial MT"/>
            </a:endParaRPr>
          </a:p>
          <a:p>
            <a:pPr lvl="1" marL="756285" marR="453390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cost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re-engineering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often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significantly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less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than the </a:t>
            </a:r>
            <a:r>
              <a:rPr dirty="0" sz="2000" spc="-5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costs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developing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new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software.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43254"/>
            <a:ext cx="391922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The</a:t>
            </a:r>
            <a:r>
              <a:rPr dirty="0" spc="-15"/>
              <a:t> </a:t>
            </a:r>
            <a:r>
              <a:rPr dirty="0" spc="-5"/>
              <a:t>reengineering</a:t>
            </a:r>
            <a:r>
              <a:rPr dirty="0"/>
              <a:t> </a:t>
            </a:r>
            <a:r>
              <a:rPr dirty="0" spc="-5"/>
              <a:t>process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2058466"/>
            <a:ext cx="8229600" cy="360972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5"/>
              <a:t>Chapter</a:t>
            </a:r>
            <a:r>
              <a:rPr dirty="0" spc="-55"/>
              <a:t> </a:t>
            </a:r>
            <a:r>
              <a:rPr dirty="0"/>
              <a:t>9</a:t>
            </a:r>
            <a:r>
              <a:rPr dirty="0" spc="-10"/>
              <a:t> </a:t>
            </a:r>
            <a:r>
              <a:rPr dirty="0" spc="-5"/>
              <a:t>Software</a:t>
            </a:r>
            <a:r>
              <a:rPr dirty="0" spc="-30"/>
              <a:t> </a:t>
            </a:r>
            <a:r>
              <a:rPr dirty="0" spc="-5"/>
              <a:t>evolution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23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43254"/>
            <a:ext cx="478663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Reengineering</a:t>
            </a:r>
            <a:r>
              <a:rPr dirty="0" spc="-10"/>
              <a:t> </a:t>
            </a:r>
            <a:r>
              <a:rPr dirty="0" spc="-5"/>
              <a:t>process</a:t>
            </a:r>
            <a:r>
              <a:rPr dirty="0"/>
              <a:t> activities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5"/>
              <a:t>Chapter</a:t>
            </a:r>
            <a:r>
              <a:rPr dirty="0" spc="-55"/>
              <a:t> </a:t>
            </a:r>
            <a:r>
              <a:rPr dirty="0"/>
              <a:t>9</a:t>
            </a:r>
            <a:r>
              <a:rPr dirty="0" spc="-10"/>
              <a:t> </a:t>
            </a:r>
            <a:r>
              <a:rPr dirty="0" spc="-5"/>
              <a:t>Software</a:t>
            </a:r>
            <a:r>
              <a:rPr dirty="0" spc="-30"/>
              <a:t> </a:t>
            </a:r>
            <a:r>
              <a:rPr dirty="0" spc="-5"/>
              <a:t>evolution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23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535940" y="1488510"/>
            <a:ext cx="6061710" cy="4545965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8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Source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code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translation</a:t>
            </a:r>
            <a:endParaRPr sz="2400">
              <a:latin typeface="Arial MT"/>
              <a:cs typeface="Arial MT"/>
            </a:endParaRPr>
          </a:p>
          <a:p>
            <a:pPr lvl="1" marL="756285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Convert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code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new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language.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9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Reverse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engineering</a:t>
            </a:r>
            <a:endParaRPr sz="2400">
              <a:latin typeface="Arial MT"/>
              <a:cs typeface="Arial MT"/>
            </a:endParaRPr>
          </a:p>
          <a:p>
            <a:pPr lvl="1" marL="756285" indent="-287020">
              <a:lnSpc>
                <a:spcPct val="100000"/>
              </a:lnSpc>
              <a:spcBef>
                <a:spcPts val="90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Analyse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 the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program</a:t>
            </a:r>
            <a:r>
              <a:rPr dirty="0" sz="20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understand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it;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9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Program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structure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improvement</a:t>
            </a:r>
            <a:endParaRPr sz="2400">
              <a:latin typeface="Arial MT"/>
              <a:cs typeface="Arial MT"/>
            </a:endParaRPr>
          </a:p>
          <a:p>
            <a:pPr lvl="1" marL="756285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Restructure</a:t>
            </a:r>
            <a:r>
              <a:rPr dirty="0" sz="20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automatically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understandability;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Program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modularisation</a:t>
            </a:r>
            <a:endParaRPr sz="2400">
              <a:latin typeface="Arial MT"/>
              <a:cs typeface="Arial MT"/>
            </a:endParaRPr>
          </a:p>
          <a:p>
            <a:pPr lvl="1" marL="756285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Reorganise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program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structure;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9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Data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reengineering</a:t>
            </a:r>
            <a:endParaRPr sz="2400">
              <a:latin typeface="Arial MT"/>
              <a:cs typeface="Arial MT"/>
            </a:endParaRPr>
          </a:p>
          <a:p>
            <a:pPr lvl="1" marL="756285" indent="-287020">
              <a:lnSpc>
                <a:spcPct val="100000"/>
              </a:lnSpc>
              <a:spcBef>
                <a:spcPts val="90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Clean-up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restructure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data.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Ian Sommerville</dc:creator>
  <dc:title>Figures – Chapter 9</dc:title>
  <dcterms:created xsi:type="dcterms:W3CDTF">2024-07-25T18:03:22Z</dcterms:created>
  <dcterms:modified xsi:type="dcterms:W3CDTF">2024-07-25T18:03:22Z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2024-07-15T00:00:00Z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2024-07-25T00:00:00Z</vt:filetime>
  </property>
</Properties>
</file>