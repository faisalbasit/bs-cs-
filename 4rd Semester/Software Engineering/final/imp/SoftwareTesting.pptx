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Default Extension="jpg" ContentType="image/jpg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47800"/>
            <a:ext cx="7315200" cy="5029200"/>
          </a:xfrm>
          <a:custGeom>
            <a:avLst/>
            <a:gdLst/>
            <a:ahLst/>
            <a:cxnLst/>
            <a:rect l="l" t="t" r="r" b="b"/>
            <a:pathLst>
              <a:path w="7315200" h="5029200">
                <a:moveTo>
                  <a:pt x="7315200" y="0"/>
                </a:moveTo>
                <a:lnTo>
                  <a:pt x="0" y="0"/>
                </a:lnTo>
                <a:lnTo>
                  <a:pt x="0" y="5029200"/>
                </a:lnTo>
                <a:lnTo>
                  <a:pt x="7315200" y="5029200"/>
                </a:lnTo>
                <a:lnTo>
                  <a:pt x="7315200" y="0"/>
                </a:lnTo>
                <a:close/>
              </a:path>
            </a:pathLst>
          </a:custGeom>
          <a:solidFill>
            <a:srgbClr val="9CBC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306056" y="1447800"/>
            <a:ext cx="1835150" cy="5029200"/>
          </a:xfrm>
          <a:custGeom>
            <a:avLst/>
            <a:gdLst/>
            <a:ahLst/>
            <a:cxnLst/>
            <a:rect l="l" t="t" r="r" b="b"/>
            <a:pathLst>
              <a:path w="1835150" h="5029200">
                <a:moveTo>
                  <a:pt x="1834896" y="0"/>
                </a:moveTo>
                <a:lnTo>
                  <a:pt x="0" y="0"/>
                </a:lnTo>
                <a:lnTo>
                  <a:pt x="0" y="5029200"/>
                </a:lnTo>
                <a:lnTo>
                  <a:pt x="1834896" y="5029200"/>
                </a:lnTo>
                <a:lnTo>
                  <a:pt x="1834896" y="0"/>
                </a:lnTo>
                <a:close/>
              </a:path>
            </a:pathLst>
          </a:custGeom>
          <a:solidFill>
            <a:srgbClr val="B3CC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0427" y="2843860"/>
            <a:ext cx="7883144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447800"/>
          </a:xfrm>
          <a:custGeom>
            <a:avLst/>
            <a:gdLst/>
            <a:ahLst/>
            <a:cxnLst/>
            <a:rect l="l" t="t" r="r" b="b"/>
            <a:pathLst>
              <a:path w="9144000" h="1447800">
                <a:moveTo>
                  <a:pt x="9144000" y="0"/>
                </a:moveTo>
                <a:lnTo>
                  <a:pt x="0" y="0"/>
                </a:lnTo>
                <a:lnTo>
                  <a:pt x="0" y="1447800"/>
                </a:lnTo>
                <a:lnTo>
                  <a:pt x="9144000" y="1447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438655"/>
            <a:ext cx="9144000" cy="85725"/>
          </a:xfrm>
          <a:custGeom>
            <a:avLst/>
            <a:gdLst/>
            <a:ahLst/>
            <a:cxnLst/>
            <a:rect l="l" t="t" r="r" b="b"/>
            <a:pathLst>
              <a:path w="9144000" h="85725">
                <a:moveTo>
                  <a:pt x="9144000" y="0"/>
                </a:moveTo>
                <a:lnTo>
                  <a:pt x="0" y="0"/>
                </a:lnTo>
                <a:lnTo>
                  <a:pt x="0" y="85344"/>
                </a:lnTo>
                <a:lnTo>
                  <a:pt x="9144000" y="85344"/>
                </a:lnTo>
                <a:lnTo>
                  <a:pt x="9144000" y="0"/>
                </a:lnTo>
                <a:close/>
              </a:path>
            </a:pathLst>
          </a:custGeom>
          <a:solidFill>
            <a:srgbClr val="9CBC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100" y="486232"/>
            <a:ext cx="8089798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74" y="1555448"/>
            <a:ext cx="8109051" cy="314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427" y="2843860"/>
            <a:ext cx="1585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540E85"/>
                </a:solidFill>
                <a:latin typeface="Times New Roman"/>
                <a:cs typeface="Times New Roman"/>
              </a:rPr>
              <a:t>Chapter-8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427" y="3620261"/>
            <a:ext cx="3065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252573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-30" b="1" i="1">
                <a:solidFill>
                  <a:srgbClr val="252573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252573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26238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080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Testing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-5">
                <a:latin typeface="Times New Roman"/>
                <a:cs typeface="Times New Roman"/>
              </a:rPr>
              <a:t>intended </a:t>
            </a:r>
            <a:r>
              <a:rPr dirty="0" sz="2400">
                <a:latin typeface="Times New Roman"/>
                <a:cs typeface="Times New Roman"/>
              </a:rPr>
              <a:t>to show that a program does what </a:t>
            </a:r>
            <a:r>
              <a:rPr dirty="0" sz="2400" spc="-5">
                <a:latin typeface="Times New Roman"/>
                <a:cs typeface="Times New Roman"/>
              </a:rPr>
              <a:t>it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intended </a:t>
            </a:r>
            <a:r>
              <a:rPr dirty="0" sz="2400">
                <a:latin typeface="Times New Roman"/>
                <a:cs typeface="Times New Roman"/>
              </a:rPr>
              <a:t>to do and to </a:t>
            </a:r>
            <a:r>
              <a:rPr dirty="0" sz="2400" spc="-5">
                <a:latin typeface="Times New Roman"/>
                <a:cs typeface="Times New Roman"/>
              </a:rPr>
              <a:t>discover program </a:t>
            </a:r>
            <a:r>
              <a:rPr dirty="0" sz="2400">
                <a:latin typeface="Times New Roman"/>
                <a:cs typeface="Times New Roman"/>
              </a:rPr>
              <a:t>defects </a:t>
            </a:r>
            <a:r>
              <a:rPr dirty="0" sz="2400" spc="-5">
                <a:latin typeface="Times New Roman"/>
                <a:cs typeface="Times New Roman"/>
              </a:rPr>
              <a:t>before it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-5">
                <a:latin typeface="Times New Roman"/>
                <a:cs typeface="Times New Roman"/>
              </a:rPr>
              <a:t>put </a:t>
            </a:r>
            <a:r>
              <a:rPr dirty="0" sz="2400">
                <a:latin typeface="Times New Roman"/>
                <a:cs typeface="Times New Roman"/>
              </a:rPr>
              <a:t> into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  <a:p>
            <a:pPr algn="just" marL="431800" marR="635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When</a:t>
            </a:r>
            <a:r>
              <a:rPr dirty="0" sz="2400">
                <a:latin typeface="Times New Roman"/>
                <a:cs typeface="Times New Roman"/>
              </a:rPr>
              <a:t> you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</a:t>
            </a:r>
            <a:r>
              <a:rPr dirty="0" sz="2400">
                <a:latin typeface="Times New Roman"/>
                <a:cs typeface="Times New Roman"/>
              </a:rPr>
              <a:t> software,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execute</a:t>
            </a:r>
            <a:r>
              <a:rPr dirty="0" sz="2400">
                <a:latin typeface="Times New Roman"/>
                <a:cs typeface="Times New Roman"/>
              </a:rPr>
              <a:t> a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program</a:t>
            </a:r>
            <a:r>
              <a:rPr dirty="0" sz="2400" spc="5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artificial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algn="just" marL="431800" marR="5715" indent="-419100">
              <a:lnSpc>
                <a:spcPts val="2740"/>
              </a:lnSpc>
              <a:spcBef>
                <a:spcPts val="5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You check the </a:t>
            </a:r>
            <a:r>
              <a:rPr dirty="0" sz="2400" spc="-5">
                <a:latin typeface="Times New Roman"/>
                <a:cs typeface="Times New Roman"/>
              </a:rPr>
              <a:t>results </a:t>
            </a:r>
            <a:r>
              <a:rPr dirty="0" sz="2400">
                <a:latin typeface="Times New Roman"/>
                <a:cs typeface="Times New Roman"/>
              </a:rPr>
              <a:t>of the </a:t>
            </a:r>
            <a:r>
              <a:rPr dirty="0" sz="2400" spc="-5">
                <a:latin typeface="Times New Roman"/>
                <a:cs typeface="Times New Roman"/>
              </a:rPr>
              <a:t>test </a:t>
            </a:r>
            <a:r>
              <a:rPr dirty="0" sz="2400">
                <a:latin typeface="Times New Roman"/>
                <a:cs typeface="Times New Roman"/>
              </a:rPr>
              <a:t>run for errors, </a:t>
            </a:r>
            <a:r>
              <a:rPr dirty="0" sz="2400" spc="-5">
                <a:latin typeface="Times New Roman"/>
                <a:cs typeface="Times New Roman"/>
              </a:rPr>
              <a:t>anomalies </a:t>
            </a:r>
            <a:r>
              <a:rPr dirty="0" sz="2400" spc="-15">
                <a:latin typeface="Times New Roman"/>
                <a:cs typeface="Times New Roman"/>
              </a:rPr>
              <a:t>or 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information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about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program’s</a:t>
            </a:r>
            <a:r>
              <a:rPr dirty="0" sz="2400">
                <a:latin typeface="Times New Roman"/>
                <a:cs typeface="Times New Roman"/>
              </a:rPr>
              <a:t> non-functional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015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Software</a:t>
            </a:r>
            <a:r>
              <a:rPr dirty="0" spc="-4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441325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</a:tabLst>
            </a:pPr>
            <a:r>
              <a:rPr dirty="0"/>
              <a:t>Validation</a:t>
            </a:r>
            <a:r>
              <a:rPr dirty="0" spc="-65"/>
              <a:t> </a:t>
            </a:r>
            <a:r>
              <a:rPr dirty="0"/>
              <a:t>testing</a:t>
            </a:r>
          </a:p>
          <a:p>
            <a:pPr lvl="1" marL="860425" marR="698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61060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4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demonstrate</a:t>
            </a:r>
            <a:r>
              <a:rPr dirty="0" sz="2000" spc="4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4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developer</a:t>
            </a:r>
            <a:r>
              <a:rPr dirty="0" sz="2000" spc="4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45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4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customer</a:t>
            </a:r>
            <a:r>
              <a:rPr dirty="0" sz="2000" spc="4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4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meets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  <a:p>
            <a:pPr lvl="1" marL="860425" indent="-381635">
              <a:lnSpc>
                <a:spcPct val="100000"/>
              </a:lnSpc>
              <a:spcBef>
                <a:spcPts val="305"/>
              </a:spcBef>
              <a:buFont typeface="Arial MT"/>
              <a:buChar char="—"/>
              <a:tabLst>
                <a:tab pos="861060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successful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shows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operates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intended.</a:t>
            </a:r>
            <a:endParaRPr sz="2000">
              <a:latin typeface="Times New Roman"/>
              <a:cs typeface="Times New Roman"/>
            </a:endParaRPr>
          </a:p>
          <a:p>
            <a:pPr marL="441325" indent="-419100">
              <a:lnSpc>
                <a:spcPct val="100000"/>
              </a:lnSpc>
              <a:spcBef>
                <a:spcPts val="41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</a:tabLst>
            </a:pPr>
            <a:r>
              <a:rPr dirty="0" spc="-5"/>
              <a:t>Defect</a:t>
            </a:r>
            <a:r>
              <a:rPr dirty="0" spc="-35"/>
              <a:t> </a:t>
            </a:r>
            <a:r>
              <a:rPr dirty="0"/>
              <a:t>testing</a:t>
            </a:r>
          </a:p>
          <a:p>
            <a:pPr lvl="1" marL="860425" indent="-381635">
              <a:lnSpc>
                <a:spcPts val="2340"/>
              </a:lnSpc>
              <a:spcBef>
                <a:spcPts val="375"/>
              </a:spcBef>
              <a:buFont typeface="Arial MT"/>
              <a:buChar char="—"/>
              <a:tabLst>
                <a:tab pos="861060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4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discover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faults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defects</a:t>
            </a:r>
            <a:r>
              <a:rPr dirty="0" sz="2000" spc="4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4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where</a:t>
            </a:r>
            <a:r>
              <a:rPr dirty="0" sz="2000" spc="4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its</a:t>
            </a:r>
            <a:r>
              <a:rPr dirty="0" sz="2000" spc="4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behavior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860425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</a:rPr>
              <a:t>incorrect</a:t>
            </a:r>
            <a:r>
              <a:rPr dirty="0" sz="2000" spc="-55">
                <a:solidFill>
                  <a:srgbClr val="09007E"/>
                </a:solidFill>
              </a:rPr>
              <a:t> </a:t>
            </a:r>
            <a:r>
              <a:rPr dirty="0" sz="2000">
                <a:solidFill>
                  <a:srgbClr val="09007E"/>
                </a:solidFill>
              </a:rPr>
              <a:t>or</a:t>
            </a:r>
            <a:r>
              <a:rPr dirty="0" sz="2000" spc="-25">
                <a:solidFill>
                  <a:srgbClr val="09007E"/>
                </a:solidFill>
              </a:rPr>
              <a:t> </a:t>
            </a:r>
            <a:r>
              <a:rPr dirty="0" sz="2000" spc="5">
                <a:solidFill>
                  <a:srgbClr val="09007E"/>
                </a:solidFill>
              </a:rPr>
              <a:t>not</a:t>
            </a:r>
            <a:r>
              <a:rPr dirty="0" sz="2000" spc="-20">
                <a:solidFill>
                  <a:srgbClr val="09007E"/>
                </a:solidFill>
              </a:rPr>
              <a:t> </a:t>
            </a:r>
            <a:r>
              <a:rPr dirty="0" sz="2000" spc="-5">
                <a:solidFill>
                  <a:srgbClr val="09007E"/>
                </a:solidFill>
              </a:rPr>
              <a:t>in</a:t>
            </a:r>
            <a:r>
              <a:rPr dirty="0" sz="2000" spc="-10">
                <a:solidFill>
                  <a:srgbClr val="09007E"/>
                </a:solidFill>
              </a:rPr>
              <a:t> </a:t>
            </a:r>
            <a:r>
              <a:rPr dirty="0" sz="2000">
                <a:solidFill>
                  <a:srgbClr val="09007E"/>
                </a:solidFill>
              </a:rPr>
              <a:t>conformance</a:t>
            </a:r>
            <a:r>
              <a:rPr dirty="0" sz="2000" spc="-50">
                <a:solidFill>
                  <a:srgbClr val="09007E"/>
                </a:solidFill>
              </a:rPr>
              <a:t> </a:t>
            </a:r>
            <a:r>
              <a:rPr dirty="0" sz="2000">
                <a:solidFill>
                  <a:srgbClr val="09007E"/>
                </a:solidFill>
              </a:rPr>
              <a:t>with</a:t>
            </a:r>
            <a:r>
              <a:rPr dirty="0" sz="2000" spc="-25">
                <a:solidFill>
                  <a:srgbClr val="09007E"/>
                </a:solidFill>
              </a:rPr>
              <a:t> </a:t>
            </a:r>
            <a:r>
              <a:rPr dirty="0" sz="2000" spc="-5">
                <a:solidFill>
                  <a:srgbClr val="09007E"/>
                </a:solidFill>
              </a:rPr>
              <a:t>its</a:t>
            </a:r>
            <a:r>
              <a:rPr dirty="0" sz="2000" spc="-10">
                <a:solidFill>
                  <a:srgbClr val="09007E"/>
                </a:solidFill>
              </a:rPr>
              <a:t> </a:t>
            </a:r>
            <a:r>
              <a:rPr dirty="0" sz="2000">
                <a:solidFill>
                  <a:srgbClr val="09007E"/>
                </a:solidFill>
              </a:rPr>
              <a:t>specification</a:t>
            </a:r>
            <a:endParaRPr sz="2000"/>
          </a:p>
          <a:p>
            <a:pPr lvl="1" marL="860425" marR="5080" indent="-381635">
              <a:lnSpc>
                <a:spcPts val="2280"/>
              </a:lnSpc>
              <a:spcBef>
                <a:spcPts val="535"/>
              </a:spcBef>
              <a:buFont typeface="Arial MT"/>
              <a:buChar char="—"/>
              <a:tabLst>
                <a:tab pos="861060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2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successful</a:t>
            </a:r>
            <a:r>
              <a:rPr dirty="0" sz="2000" spc="2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2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2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25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2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makes</a:t>
            </a:r>
            <a:r>
              <a:rPr dirty="0" sz="2000" spc="2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2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system</a:t>
            </a:r>
            <a:r>
              <a:rPr dirty="0" sz="2000" spc="2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perform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incorrectly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exposes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defect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223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Testing</a:t>
            </a:r>
            <a:r>
              <a:rPr dirty="0" spc="-25"/>
              <a:t> </a:t>
            </a:r>
            <a:r>
              <a:rPr dirty="0" spc="-5"/>
              <a:t>process</a:t>
            </a:r>
            <a:r>
              <a:rPr dirty="0" spc="-35"/>
              <a:t> </a:t>
            </a:r>
            <a:r>
              <a:rPr dirty="0"/>
              <a:t>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64433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An </a:t>
            </a:r>
            <a:r>
              <a:rPr dirty="0"/>
              <a:t>input-output</a:t>
            </a:r>
            <a:r>
              <a:rPr dirty="0" spc="25"/>
              <a:t> </a:t>
            </a:r>
            <a:r>
              <a:rPr dirty="0" spc="-5"/>
              <a:t>model</a:t>
            </a:r>
            <a:r>
              <a:rPr dirty="0"/>
              <a:t> </a:t>
            </a:r>
            <a:r>
              <a:rPr dirty="0" spc="-5"/>
              <a:t>of</a:t>
            </a:r>
            <a:r>
              <a:rPr dirty="0"/>
              <a:t> </a:t>
            </a:r>
            <a:r>
              <a:rPr dirty="0" spc="-5"/>
              <a:t>program</a:t>
            </a:r>
            <a:r>
              <a:rPr dirty="0" spc="5"/>
              <a:t> </a:t>
            </a:r>
            <a:r>
              <a:rPr dirty="0" spc="-5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295" y="2276855"/>
            <a:ext cx="470721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185547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715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5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59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inspections   </a:t>
            </a:r>
            <a:r>
              <a:rPr dirty="0" sz="2400" spc="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Concerned</a:t>
            </a:r>
            <a:r>
              <a:rPr dirty="0" sz="2400" spc="885">
                <a:latin typeface="Times New Roman"/>
                <a:cs typeface="Times New Roman"/>
              </a:rPr>
              <a:t> </a:t>
            </a:r>
            <a:r>
              <a:rPr dirty="0" sz="2400" spc="8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with</a:t>
            </a:r>
            <a:r>
              <a:rPr dirty="0" sz="2400" spc="885">
                <a:latin typeface="Times New Roman"/>
                <a:cs typeface="Times New Roman"/>
              </a:rPr>
              <a:t> </a:t>
            </a:r>
            <a:r>
              <a:rPr dirty="0" sz="2400" spc="8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analysis</a:t>
            </a:r>
            <a:r>
              <a:rPr dirty="0" sz="2400" spc="885">
                <a:latin typeface="Times New Roman"/>
                <a:cs typeface="Times New Roman"/>
              </a:rPr>
              <a:t> </a:t>
            </a:r>
            <a:r>
              <a:rPr dirty="0" sz="2400" spc="8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 </a:t>
            </a:r>
            <a:r>
              <a:rPr dirty="0" sz="2400">
                <a:latin typeface="Times New Roman"/>
                <a:cs typeface="Times New Roman"/>
              </a:rPr>
              <a:t> the </a:t>
            </a:r>
            <a:r>
              <a:rPr dirty="0" sz="2400" spc="-5">
                <a:latin typeface="Times New Roman"/>
                <a:cs typeface="Times New Roman"/>
              </a:rPr>
              <a:t>static system representation </a:t>
            </a:r>
            <a:r>
              <a:rPr dirty="0" sz="2400">
                <a:latin typeface="Times New Roman"/>
                <a:cs typeface="Times New Roman"/>
              </a:rPr>
              <a:t>to discover </a:t>
            </a:r>
            <a:r>
              <a:rPr dirty="0" sz="2400" spc="-5">
                <a:latin typeface="Times New Roman"/>
                <a:cs typeface="Times New Roman"/>
              </a:rPr>
              <a:t>problems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(</a:t>
            </a:r>
            <a:r>
              <a:rPr dirty="0" sz="2400" spc="-5">
                <a:latin typeface="Times New Roman"/>
                <a:cs typeface="Times New Roman"/>
              </a:rPr>
              <a:t>static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verification)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59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dirty="0" sz="2400" spc="11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Concerned</a:t>
            </a:r>
            <a:r>
              <a:rPr dirty="0" sz="2400" spc="1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 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exercising</a:t>
            </a:r>
            <a:r>
              <a:rPr dirty="0" sz="2400" spc="11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 observing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behaviour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(dynamic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verification)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5045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Inspections</a:t>
            </a:r>
            <a:r>
              <a:rPr dirty="0" spc="-10"/>
              <a:t> </a:t>
            </a:r>
            <a:r>
              <a:rPr dirty="0" spc="-5"/>
              <a:t>and</a:t>
            </a:r>
            <a:r>
              <a:rPr dirty="0" spc="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719" rIns="0" bIns="0" rtlCol="0" vert="horz">
            <a:spAutoFit/>
          </a:bodyPr>
          <a:lstStyle/>
          <a:p>
            <a:pPr marL="441325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  <a:tab pos="1339215" algn="l"/>
                <a:tab pos="2423795" algn="l"/>
                <a:tab pos="3405504" algn="l"/>
                <a:tab pos="4860925" algn="l"/>
                <a:tab pos="5403850" algn="l"/>
                <a:tab pos="6370320" algn="l"/>
              </a:tabLst>
            </a:pPr>
            <a:r>
              <a:rPr dirty="0"/>
              <a:t>These	</a:t>
            </a:r>
            <a:r>
              <a:rPr dirty="0" spc="-5"/>
              <a:t>involve	people	examining	</a:t>
            </a:r>
            <a:r>
              <a:rPr dirty="0"/>
              <a:t>the	source	</a:t>
            </a:r>
            <a:r>
              <a:rPr dirty="0" spc="-5"/>
              <a:t>representation</a:t>
            </a:r>
          </a:p>
          <a:p>
            <a:pPr marL="441325">
              <a:lnSpc>
                <a:spcPts val="2810"/>
              </a:lnSpc>
            </a:pPr>
            <a:r>
              <a:rPr dirty="0" spc="-5"/>
              <a:t>with</a:t>
            </a:r>
            <a:r>
              <a:rPr dirty="0" spc="-10"/>
              <a:t> </a:t>
            </a:r>
            <a:r>
              <a:rPr dirty="0" spc="-5"/>
              <a:t>the aim</a:t>
            </a:r>
            <a:r>
              <a:rPr dirty="0" spc="-15"/>
              <a:t> </a:t>
            </a:r>
            <a:r>
              <a:rPr dirty="0" spc="-5"/>
              <a:t>of</a:t>
            </a:r>
            <a:r>
              <a:rPr dirty="0"/>
              <a:t> discovering</a:t>
            </a:r>
            <a:r>
              <a:rPr dirty="0" spc="-25"/>
              <a:t> </a:t>
            </a:r>
            <a:r>
              <a:rPr dirty="0" spc="-5"/>
              <a:t>anomalies</a:t>
            </a:r>
            <a:r>
              <a:rPr dirty="0" spc="-15"/>
              <a:t> </a:t>
            </a:r>
            <a:r>
              <a:rPr dirty="0"/>
              <a:t>and defects.</a:t>
            </a:r>
          </a:p>
          <a:p>
            <a:pPr marL="441325" marR="635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</a:tabLst>
            </a:pPr>
            <a:r>
              <a:rPr dirty="0" spc="-5"/>
              <a:t>Inspections</a:t>
            </a:r>
            <a:r>
              <a:rPr dirty="0" spc="145"/>
              <a:t> </a:t>
            </a:r>
            <a:r>
              <a:rPr dirty="0"/>
              <a:t>not</a:t>
            </a:r>
            <a:r>
              <a:rPr dirty="0" spc="150"/>
              <a:t> </a:t>
            </a:r>
            <a:r>
              <a:rPr dirty="0" spc="-5"/>
              <a:t>require</a:t>
            </a:r>
            <a:r>
              <a:rPr dirty="0" spc="150"/>
              <a:t> </a:t>
            </a:r>
            <a:r>
              <a:rPr dirty="0" spc="-5"/>
              <a:t>execution</a:t>
            </a:r>
            <a:r>
              <a:rPr dirty="0" spc="165"/>
              <a:t> </a:t>
            </a:r>
            <a:r>
              <a:rPr dirty="0"/>
              <a:t>of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160"/>
              <a:t> </a:t>
            </a:r>
            <a:r>
              <a:rPr dirty="0" spc="-5"/>
              <a:t>system</a:t>
            </a:r>
            <a:r>
              <a:rPr dirty="0" spc="140"/>
              <a:t> </a:t>
            </a:r>
            <a:r>
              <a:rPr dirty="0" spc="-5"/>
              <a:t>so</a:t>
            </a:r>
            <a:r>
              <a:rPr dirty="0" spc="160"/>
              <a:t> </a:t>
            </a:r>
            <a:r>
              <a:rPr dirty="0" spc="-10"/>
              <a:t>may</a:t>
            </a:r>
            <a:r>
              <a:rPr dirty="0" spc="165"/>
              <a:t> </a:t>
            </a:r>
            <a:r>
              <a:rPr dirty="0"/>
              <a:t>be</a:t>
            </a:r>
            <a:r>
              <a:rPr dirty="0" spc="160"/>
              <a:t> </a:t>
            </a:r>
            <a:r>
              <a:rPr dirty="0" spc="-5"/>
              <a:t>used </a:t>
            </a:r>
            <a:r>
              <a:rPr dirty="0" spc="-585"/>
              <a:t> </a:t>
            </a:r>
            <a:r>
              <a:rPr dirty="0"/>
              <a:t>before</a:t>
            </a:r>
            <a:r>
              <a:rPr dirty="0" spc="-15"/>
              <a:t> </a:t>
            </a:r>
            <a:r>
              <a:rPr dirty="0" spc="-5"/>
              <a:t>implementation.</a:t>
            </a:r>
          </a:p>
          <a:p>
            <a:pPr marL="441325" indent="-419100">
              <a:lnSpc>
                <a:spcPts val="281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  <a:tab pos="1229360" algn="l"/>
                <a:tab pos="1911985" algn="l"/>
                <a:tab pos="2361565" algn="l"/>
                <a:tab pos="3416300" algn="l"/>
                <a:tab pos="3814445" algn="l"/>
                <a:tab pos="4414520" algn="l"/>
                <a:tab pos="6301740" algn="l"/>
                <a:tab pos="6714490" algn="l"/>
                <a:tab pos="7248525" algn="l"/>
              </a:tabLst>
            </a:pPr>
            <a:r>
              <a:rPr dirty="0"/>
              <a:t>They</a:t>
            </a:r>
            <a:r>
              <a:rPr dirty="0"/>
              <a:t>	</a:t>
            </a:r>
            <a:r>
              <a:rPr dirty="0" spc="-25"/>
              <a:t>m</a:t>
            </a:r>
            <a:r>
              <a:rPr dirty="0"/>
              <a:t>ay</a:t>
            </a:r>
            <a:r>
              <a:rPr dirty="0"/>
              <a:t>	</a:t>
            </a:r>
            <a:r>
              <a:rPr dirty="0" spc="-5"/>
              <a:t>b</a:t>
            </a:r>
            <a:r>
              <a:rPr dirty="0"/>
              <a:t>e</a:t>
            </a:r>
            <a:r>
              <a:rPr dirty="0"/>
              <a:t>	</a:t>
            </a:r>
            <a:r>
              <a:rPr dirty="0"/>
              <a:t>ap</a:t>
            </a:r>
            <a:r>
              <a:rPr dirty="0" spc="-15"/>
              <a:t>p</a:t>
            </a:r>
            <a:r>
              <a:rPr dirty="0" spc="-10"/>
              <a:t>l</a:t>
            </a:r>
            <a:r>
              <a:rPr dirty="0"/>
              <a:t>ied</a:t>
            </a:r>
            <a:r>
              <a:rPr dirty="0"/>
              <a:t>	</a:t>
            </a:r>
            <a:r>
              <a:rPr dirty="0"/>
              <a:t>to</a:t>
            </a:r>
            <a:r>
              <a:rPr dirty="0"/>
              <a:t>	</a:t>
            </a:r>
            <a:r>
              <a:rPr dirty="0"/>
              <a:t>any</a:t>
            </a:r>
            <a:r>
              <a:rPr dirty="0"/>
              <a:t>	</a:t>
            </a:r>
            <a:r>
              <a:rPr dirty="0"/>
              <a:t>represe</a:t>
            </a:r>
            <a:r>
              <a:rPr dirty="0" spc="-15"/>
              <a:t>n</a:t>
            </a:r>
            <a:r>
              <a:rPr dirty="0"/>
              <a:t>ta</a:t>
            </a:r>
            <a:r>
              <a:rPr dirty="0" spc="-15"/>
              <a:t>t</a:t>
            </a:r>
            <a:r>
              <a:rPr dirty="0"/>
              <a:t>ion</a:t>
            </a:r>
            <a:r>
              <a:rPr dirty="0"/>
              <a:t>	</a:t>
            </a:r>
            <a:r>
              <a:rPr dirty="0" spc="-15"/>
              <a:t>o</a:t>
            </a:r>
            <a:r>
              <a:rPr dirty="0"/>
              <a:t>f</a:t>
            </a:r>
            <a:r>
              <a:rPr dirty="0"/>
              <a:t>	</a:t>
            </a:r>
            <a:r>
              <a:rPr dirty="0"/>
              <a:t>the</a:t>
            </a:r>
            <a:r>
              <a:rPr dirty="0"/>
              <a:t>	</a:t>
            </a:r>
            <a:r>
              <a:rPr dirty="0"/>
              <a:t>system</a:t>
            </a:r>
          </a:p>
          <a:p>
            <a:pPr marL="441325">
              <a:lnSpc>
                <a:spcPts val="2810"/>
              </a:lnSpc>
            </a:pPr>
            <a:r>
              <a:rPr dirty="0" spc="-5"/>
              <a:t>(requirements,</a:t>
            </a:r>
            <a:r>
              <a:rPr dirty="0" spc="-30"/>
              <a:t> </a:t>
            </a:r>
            <a:r>
              <a:rPr dirty="0"/>
              <a:t>design,</a:t>
            </a:r>
            <a:r>
              <a:rPr dirty="0" spc="-10"/>
              <a:t> </a:t>
            </a:r>
            <a:r>
              <a:rPr dirty="0"/>
              <a:t>configuration</a:t>
            </a:r>
            <a:r>
              <a:rPr dirty="0" spc="-30"/>
              <a:t> </a:t>
            </a:r>
            <a:r>
              <a:rPr dirty="0"/>
              <a:t>data,</a:t>
            </a:r>
            <a:r>
              <a:rPr dirty="0" spc="-10"/>
              <a:t> </a:t>
            </a:r>
            <a:r>
              <a:rPr dirty="0"/>
              <a:t>test</a:t>
            </a:r>
            <a:r>
              <a:rPr dirty="0" spc="-20"/>
              <a:t> </a:t>
            </a:r>
            <a:r>
              <a:rPr dirty="0"/>
              <a:t>data,</a:t>
            </a:r>
            <a:r>
              <a:rPr dirty="0" spc="-25"/>
              <a:t> </a:t>
            </a:r>
            <a:r>
              <a:rPr dirty="0"/>
              <a:t>etc.).</a:t>
            </a:r>
          </a:p>
          <a:p>
            <a:pPr marL="441325" marR="762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  <a:tab pos="1253490" algn="l"/>
                <a:tab pos="2012314" algn="l"/>
                <a:tab pos="2773045" algn="l"/>
                <a:tab pos="3753485" algn="l"/>
                <a:tab pos="4177029" algn="l"/>
                <a:tab pos="4647565" algn="l"/>
                <a:tab pos="5120640" algn="l"/>
                <a:tab pos="6369050" algn="l"/>
                <a:tab pos="7737475" algn="l"/>
              </a:tabLst>
            </a:pPr>
            <a:r>
              <a:rPr dirty="0"/>
              <a:t>They	</a:t>
            </a:r>
            <a:r>
              <a:rPr dirty="0" spc="-15"/>
              <a:t>h</a:t>
            </a:r>
            <a:r>
              <a:rPr dirty="0"/>
              <a:t>ave	been	</a:t>
            </a:r>
            <a:r>
              <a:rPr dirty="0" spc="-5"/>
              <a:t>shown</a:t>
            </a:r>
            <a:r>
              <a:rPr dirty="0"/>
              <a:t>	</a:t>
            </a:r>
            <a:r>
              <a:rPr dirty="0" spc="5"/>
              <a:t>t</a:t>
            </a:r>
            <a:r>
              <a:rPr dirty="0"/>
              <a:t>o	be	an	ef</a:t>
            </a:r>
            <a:r>
              <a:rPr dirty="0" spc="-15"/>
              <a:t>f</a:t>
            </a:r>
            <a:r>
              <a:rPr dirty="0"/>
              <a:t>ective	te</a:t>
            </a:r>
            <a:r>
              <a:rPr dirty="0" spc="5"/>
              <a:t>c</a:t>
            </a:r>
            <a:r>
              <a:rPr dirty="0"/>
              <a:t>h</a:t>
            </a:r>
            <a:r>
              <a:rPr dirty="0" spc="-15"/>
              <a:t>n</a:t>
            </a:r>
            <a:r>
              <a:rPr dirty="0"/>
              <a:t>ique	for  </a:t>
            </a:r>
            <a:r>
              <a:rPr dirty="0"/>
              <a:t>discovering</a:t>
            </a:r>
            <a:r>
              <a:rPr dirty="0" spc="-30"/>
              <a:t> </a:t>
            </a:r>
            <a:r>
              <a:rPr dirty="0"/>
              <a:t>program</a:t>
            </a:r>
            <a:r>
              <a:rPr dirty="0" spc="-15"/>
              <a:t> </a:t>
            </a:r>
            <a:r>
              <a:rPr dirty="0"/>
              <a:t>errors.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1565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Software</a:t>
            </a:r>
            <a:r>
              <a:rPr dirty="0" spc="-15"/>
              <a:t> </a:t>
            </a:r>
            <a:r>
              <a:rPr dirty="0" spc="-5"/>
              <a:t>inspections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1565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Software</a:t>
            </a:r>
            <a:r>
              <a:rPr dirty="0" spc="-15"/>
              <a:t> </a:t>
            </a:r>
            <a:r>
              <a:rPr dirty="0" spc="-5"/>
              <a:t>inspections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744" y="2383535"/>
            <a:ext cx="7150608" cy="2997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719" rIns="0" bIns="0" rtlCol="0" vert="horz">
            <a:spAutoFit/>
          </a:bodyPr>
          <a:lstStyle/>
          <a:p>
            <a:pPr marL="441325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  <a:tab pos="2289810" algn="l"/>
                <a:tab pos="3384550" algn="l"/>
                <a:tab pos="4337050" algn="l"/>
                <a:tab pos="4916170" algn="l"/>
                <a:tab pos="5969635" algn="l"/>
                <a:tab pos="6381115" algn="l"/>
                <a:tab pos="7298690" algn="l"/>
              </a:tabLst>
            </a:pPr>
            <a:r>
              <a:rPr dirty="0" spc="-5"/>
              <a:t>Development	testing,	where	</a:t>
            </a:r>
            <a:r>
              <a:rPr dirty="0"/>
              <a:t>the	system	is	</a:t>
            </a:r>
            <a:r>
              <a:rPr dirty="0" spc="-5"/>
              <a:t>tested	during</a:t>
            </a:r>
          </a:p>
          <a:p>
            <a:pPr marL="441325">
              <a:lnSpc>
                <a:spcPts val="2810"/>
              </a:lnSpc>
            </a:pPr>
            <a:r>
              <a:rPr dirty="0" spc="-5"/>
              <a:t>development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discover</a:t>
            </a:r>
            <a:r>
              <a:rPr dirty="0" spc="-5"/>
              <a:t> </a:t>
            </a:r>
            <a:r>
              <a:rPr dirty="0"/>
              <a:t>bugs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defects.</a:t>
            </a:r>
          </a:p>
          <a:p>
            <a:pPr marL="9525">
              <a:lnSpc>
                <a:spcPct val="100000"/>
              </a:lnSpc>
              <a:spcBef>
                <a:spcPts val="40"/>
              </a:spcBef>
            </a:pPr>
            <a:endParaRPr sz="3400"/>
          </a:p>
          <a:p>
            <a:pPr marL="441325" marR="5080" indent="-4191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</a:tabLst>
            </a:pPr>
            <a:r>
              <a:rPr dirty="0" spc="-5"/>
              <a:t>Release</a:t>
            </a:r>
            <a:r>
              <a:rPr dirty="0" spc="155"/>
              <a:t> </a:t>
            </a:r>
            <a:r>
              <a:rPr dirty="0" spc="-5"/>
              <a:t>testing,</a:t>
            </a:r>
            <a:r>
              <a:rPr dirty="0" spc="155"/>
              <a:t> </a:t>
            </a:r>
            <a:r>
              <a:rPr dirty="0"/>
              <a:t>where</a:t>
            </a:r>
            <a:r>
              <a:rPr dirty="0" spc="160"/>
              <a:t> </a:t>
            </a:r>
            <a:r>
              <a:rPr dirty="0"/>
              <a:t>a</a:t>
            </a:r>
            <a:r>
              <a:rPr dirty="0" spc="155"/>
              <a:t> </a:t>
            </a:r>
            <a:r>
              <a:rPr dirty="0"/>
              <a:t>separate</a:t>
            </a:r>
            <a:r>
              <a:rPr dirty="0" spc="155"/>
              <a:t> </a:t>
            </a:r>
            <a:r>
              <a:rPr dirty="0" spc="-5"/>
              <a:t>testing</a:t>
            </a:r>
            <a:r>
              <a:rPr dirty="0" spc="165"/>
              <a:t> </a:t>
            </a:r>
            <a:r>
              <a:rPr dirty="0"/>
              <a:t>team</a:t>
            </a:r>
            <a:r>
              <a:rPr dirty="0" spc="135"/>
              <a:t> </a:t>
            </a:r>
            <a:r>
              <a:rPr dirty="0" spc="-5"/>
              <a:t>test</a:t>
            </a:r>
            <a:r>
              <a:rPr dirty="0" spc="155"/>
              <a:t> </a:t>
            </a:r>
            <a:r>
              <a:rPr dirty="0"/>
              <a:t>a</a:t>
            </a:r>
            <a:r>
              <a:rPr dirty="0" spc="160"/>
              <a:t> </a:t>
            </a:r>
            <a:r>
              <a:rPr dirty="0" spc="-5"/>
              <a:t>complete </a:t>
            </a:r>
            <a:r>
              <a:rPr dirty="0" spc="-585"/>
              <a:t> </a:t>
            </a:r>
            <a:r>
              <a:rPr dirty="0"/>
              <a:t>version</a:t>
            </a:r>
            <a:r>
              <a:rPr dirty="0" spc="-15"/>
              <a:t> </a:t>
            </a:r>
            <a:r>
              <a:rPr dirty="0" spc="-5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system</a:t>
            </a:r>
            <a:r>
              <a:rPr dirty="0" spc="-15"/>
              <a:t> </a:t>
            </a:r>
            <a:r>
              <a:rPr dirty="0" spc="-5"/>
              <a:t>before</a:t>
            </a:r>
            <a:r>
              <a:rPr dirty="0"/>
              <a:t> it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/>
              <a:t>released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users.</a:t>
            </a:r>
          </a:p>
          <a:p>
            <a:pPr marL="9525">
              <a:lnSpc>
                <a:spcPct val="100000"/>
              </a:lnSpc>
              <a:spcBef>
                <a:spcPts val="25"/>
              </a:spcBef>
              <a:buClr>
                <a:srgbClr val="009999"/>
              </a:buClr>
              <a:buFont typeface="Wingdings"/>
              <a:buChar char=""/>
            </a:pPr>
            <a:endParaRPr sz="3350"/>
          </a:p>
          <a:p>
            <a:pPr marL="441325" marR="5080" indent="-4191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690" algn="l"/>
                <a:tab pos="441325" algn="l"/>
              </a:tabLst>
            </a:pPr>
            <a:r>
              <a:rPr dirty="0" spc="-5"/>
              <a:t>User </a:t>
            </a:r>
            <a:r>
              <a:rPr dirty="0"/>
              <a:t>testing, where users or </a:t>
            </a:r>
            <a:r>
              <a:rPr dirty="0" spc="-5"/>
              <a:t>potential </a:t>
            </a:r>
            <a:r>
              <a:rPr dirty="0"/>
              <a:t>users of a system </a:t>
            </a:r>
            <a:r>
              <a:rPr dirty="0" spc="-5"/>
              <a:t>test the </a:t>
            </a:r>
            <a:r>
              <a:rPr dirty="0" spc="-585"/>
              <a:t> </a:t>
            </a:r>
            <a:r>
              <a:rPr dirty="0"/>
              <a:t>system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their</a:t>
            </a:r>
            <a:r>
              <a:rPr dirty="0" spc="-20"/>
              <a:t> </a:t>
            </a:r>
            <a:r>
              <a:rPr dirty="0"/>
              <a:t>own</a:t>
            </a:r>
            <a:r>
              <a:rPr dirty="0" spc="5"/>
              <a:t> </a:t>
            </a:r>
            <a:r>
              <a:rPr dirty="0" spc="-5"/>
              <a:t>environment.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758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Stages</a:t>
            </a:r>
            <a:r>
              <a:rPr dirty="0" spc="-30"/>
              <a:t> </a:t>
            </a:r>
            <a:r>
              <a:rPr dirty="0" spc="-5"/>
              <a:t>of</a:t>
            </a:r>
            <a:r>
              <a:rPr dirty="0" spc="-3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059" cy="423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Development</a:t>
            </a:r>
            <a:r>
              <a:rPr dirty="0" sz="2400" spc="6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 spc="6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includes</a:t>
            </a:r>
            <a:r>
              <a:rPr dirty="0" sz="2400" spc="7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all</a:t>
            </a:r>
            <a:r>
              <a:rPr dirty="0" sz="2400" spc="6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r>
              <a:rPr dirty="0" sz="2400" spc="6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activities</a:t>
            </a:r>
            <a:r>
              <a:rPr dirty="0" sz="2400" spc="6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that</a:t>
            </a:r>
            <a:r>
              <a:rPr dirty="0" sz="2400" spc="6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  <a:p>
            <a:pPr algn="just"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carried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out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team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71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C00000"/>
                </a:solidFill>
                <a:latin typeface="Times New Roman"/>
                <a:cs typeface="Times New Roman"/>
              </a:rPr>
              <a:t>Unit</a:t>
            </a:r>
            <a:r>
              <a:rPr dirty="0" sz="2000" spc="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,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where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individual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program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units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object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classes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tested.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Unit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 should focus on testing the functionality of objects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or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methods.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Arial MT"/>
              <a:buChar char="—"/>
            </a:pPr>
            <a:endParaRPr sz="2800">
              <a:latin typeface="Times New Roman"/>
              <a:cs typeface="Times New Roman"/>
            </a:endParaRPr>
          </a:p>
          <a:p>
            <a:pPr algn="just" lvl="1" marL="850900" marR="8255" indent="-381635">
              <a:lnSpc>
                <a:spcPts val="2280"/>
              </a:lnSpc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C00000"/>
                </a:solidFill>
                <a:latin typeface="Times New Roman"/>
                <a:cs typeface="Times New Roman"/>
              </a:rPr>
              <a:t>Component testing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, where several individual units are integrated 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create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composite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components.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Component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focus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on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testing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interfaces.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Arial MT"/>
              <a:buChar char="—"/>
            </a:pPr>
            <a:endParaRPr sz="2800">
              <a:latin typeface="Times New Roman"/>
              <a:cs typeface="Times New Roman"/>
            </a:endParaRPr>
          </a:p>
          <a:p>
            <a:pPr algn="just" lvl="1" marL="850900" marR="6350" indent="-381635">
              <a:lnSpc>
                <a:spcPts val="2280"/>
              </a:lnSpc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C00000"/>
                </a:solidFill>
                <a:latin typeface="Times New Roman"/>
                <a:cs typeface="Times New Roman"/>
              </a:rPr>
              <a:t>System testing,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where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some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 components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system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integrated and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system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tested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as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whole.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 should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focus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on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interactions.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2353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Development</a:t>
            </a:r>
            <a:r>
              <a:rPr dirty="0" spc="-1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7978775" cy="4104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Unit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 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 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individual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components</a:t>
            </a:r>
            <a:r>
              <a:rPr dirty="0" sz="2400">
                <a:latin typeface="Times New Roman"/>
                <a:cs typeface="Times New Roman"/>
              </a:rPr>
              <a:t> in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isolation.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Units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 </a:t>
            </a:r>
            <a:r>
              <a:rPr dirty="0" sz="2400">
                <a:latin typeface="Times New Roman"/>
                <a:cs typeface="Times New Roman"/>
              </a:rPr>
              <a:t>be: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7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Individual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functions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methods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within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object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Object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classes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several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attributes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marL="431800" marR="487045" indent="-419100">
              <a:lnSpc>
                <a:spcPts val="2740"/>
              </a:lnSpc>
              <a:spcBef>
                <a:spcPts val="62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4006850" algn="l"/>
              </a:tabLst>
            </a:pPr>
            <a:r>
              <a:rPr dirty="0" sz="2400" spc="-5">
                <a:latin typeface="Times New Roman"/>
                <a:cs typeface="Times New Roman"/>
              </a:rPr>
              <a:t>Tests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call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these	</a:t>
            </a:r>
            <a:r>
              <a:rPr dirty="0" sz="2400" spc="-5">
                <a:latin typeface="Times New Roman"/>
                <a:cs typeface="Times New Roman"/>
              </a:rPr>
              <a:t>methods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parameters</a:t>
            </a:r>
            <a:endParaRPr sz="2400">
              <a:latin typeface="Times New Roman"/>
              <a:cs typeface="Times New Roman"/>
            </a:endParaRPr>
          </a:p>
          <a:p>
            <a:pPr algn="r" marL="418465" marR="2364105" indent="-418465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184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Complete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coverage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involves</a:t>
            </a:r>
            <a:endParaRPr sz="2400">
              <a:latin typeface="Times New Roman"/>
              <a:cs typeface="Times New Roman"/>
            </a:endParaRPr>
          </a:p>
          <a:p>
            <a:pPr algn="r" lvl="1" marL="381635" marR="2313940" indent="-381635">
              <a:lnSpc>
                <a:spcPct val="100000"/>
              </a:lnSpc>
              <a:spcBef>
                <a:spcPts val="375"/>
              </a:spcBef>
              <a:buFont typeface="Arial MT"/>
              <a:buChar char="—"/>
              <a:tabLst>
                <a:tab pos="3816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operations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associated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 object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Setting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interrogating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object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attributes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Exercising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object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possible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states.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17951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Unit</a:t>
            </a:r>
            <a:r>
              <a:rPr dirty="0" spc="-3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4940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 </a:t>
            </a:r>
            <a:r>
              <a:rPr dirty="0" spc="-10"/>
              <a:t>weather</a:t>
            </a:r>
            <a:r>
              <a:rPr dirty="0" spc="20"/>
              <a:t> </a:t>
            </a:r>
            <a:r>
              <a:rPr dirty="0"/>
              <a:t>station</a:t>
            </a:r>
            <a:r>
              <a:rPr dirty="0" spc="-5"/>
              <a:t> object interface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661" y="2708148"/>
            <a:ext cx="4063111" cy="3457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3272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define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cases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for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reportWeather,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test,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startup</a:t>
            </a:r>
            <a:r>
              <a:rPr dirty="0" sz="2400" spc="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shutdown.</a:t>
            </a:r>
            <a:endParaRPr sz="2400">
              <a:latin typeface="Times New Roman"/>
              <a:cs typeface="Times New Roman"/>
            </a:endParaRPr>
          </a:p>
          <a:p>
            <a:pPr marL="431800" marR="5715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Using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state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model,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identify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transitions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to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event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cause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these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transitions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8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Shutdown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-&gt;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Running-&gt;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Shutdown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Configuring-&gt;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Running-&gt;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-&gt;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Transmitting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-&gt;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Running</a:t>
            </a:r>
            <a:endParaRPr sz="20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280"/>
              </a:lnSpc>
              <a:spcBef>
                <a:spcPts val="53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Running-&gt;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Collecting-&gt;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Running-&gt;</a:t>
            </a:r>
            <a:r>
              <a:rPr dirty="0" sz="2000" spc="3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Summarizing</a:t>
            </a:r>
            <a:r>
              <a:rPr dirty="0" sz="2000" spc="3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-&gt;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Transmitting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-&gt;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Running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5604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Weather</a:t>
            </a:r>
            <a:r>
              <a:rPr dirty="0" spc="-25"/>
              <a:t> </a:t>
            </a:r>
            <a:r>
              <a:rPr dirty="0"/>
              <a:t>station</a:t>
            </a:r>
            <a:r>
              <a:rPr dirty="0" spc="-3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098790" cy="202120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leads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case: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first of these should reflect normal operation of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program and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should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show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expected.</a:t>
            </a:r>
            <a:endParaRPr sz="20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ts val="2280"/>
              </a:lnSpc>
              <a:spcBef>
                <a:spcPts val="48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other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kind of test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case should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based on testing experience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of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where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common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problems arise.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It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use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abnormal inputs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check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that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these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properly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processed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not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crash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component.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3020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Unit test</a:t>
            </a:r>
            <a:r>
              <a:rPr dirty="0" spc="-15"/>
              <a:t> </a:t>
            </a:r>
            <a:r>
              <a:rPr dirty="0" spc="-5"/>
              <a:t>effectiveness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790" cy="227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data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and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output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results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often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fall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into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classes</a:t>
            </a:r>
            <a:endParaRPr sz="2400">
              <a:latin typeface="Times New Roman"/>
              <a:cs typeface="Times New Roman"/>
            </a:endParaRPr>
          </a:p>
          <a:p>
            <a:pPr algn="just"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where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all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members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class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related.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Each of </a:t>
            </a:r>
            <a:r>
              <a:rPr dirty="0" sz="2400" spc="-5">
                <a:latin typeface="Times New Roman"/>
                <a:cs typeface="Times New Roman"/>
              </a:rPr>
              <a:t>these classes </a:t>
            </a:r>
            <a:r>
              <a:rPr dirty="0" sz="2400" spc="-10">
                <a:latin typeface="Times New Roman"/>
                <a:cs typeface="Times New Roman"/>
              </a:rPr>
              <a:t>is </a:t>
            </a:r>
            <a:r>
              <a:rPr dirty="0" sz="2400">
                <a:latin typeface="Times New Roman"/>
                <a:cs typeface="Times New Roman"/>
              </a:rPr>
              <a:t>an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equivalence partition </a:t>
            </a:r>
            <a:r>
              <a:rPr dirty="0" sz="2400">
                <a:latin typeface="Times New Roman"/>
                <a:cs typeface="Times New Roman"/>
              </a:rPr>
              <a:t>or </a:t>
            </a:r>
            <a:r>
              <a:rPr dirty="0" sz="2400" spc="-5">
                <a:latin typeface="Times New Roman"/>
                <a:cs typeface="Times New Roman"/>
              </a:rPr>
              <a:t>domain </a:t>
            </a:r>
            <a:r>
              <a:rPr dirty="0" sz="2400">
                <a:latin typeface="Times New Roman"/>
                <a:cs typeface="Times New Roman"/>
              </a:rPr>
              <a:t> where the </a:t>
            </a:r>
            <a:r>
              <a:rPr dirty="0" sz="2400" spc="-5">
                <a:latin typeface="Times New Roman"/>
                <a:cs typeface="Times New Roman"/>
              </a:rPr>
              <a:t>program behaves </a:t>
            </a:r>
            <a:r>
              <a:rPr dirty="0" sz="2400">
                <a:latin typeface="Times New Roman"/>
                <a:cs typeface="Times New Roman"/>
              </a:rPr>
              <a:t>in an </a:t>
            </a:r>
            <a:r>
              <a:rPr dirty="0" sz="2400" spc="-5">
                <a:latin typeface="Times New Roman"/>
                <a:cs typeface="Times New Roman"/>
              </a:rPr>
              <a:t>equivalent way</a:t>
            </a:r>
            <a:r>
              <a:rPr dirty="0" sz="2400" spc="5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 </a:t>
            </a:r>
            <a:r>
              <a:rPr dirty="0" sz="2400" spc="-5">
                <a:latin typeface="Times New Roman"/>
                <a:cs typeface="Times New Roman"/>
              </a:rPr>
              <a:t>each </a:t>
            </a:r>
            <a:r>
              <a:rPr dirty="0" sz="2400">
                <a:latin typeface="Times New Roman"/>
                <a:cs typeface="Times New Roman"/>
              </a:rPr>
              <a:t> class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member.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cases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chosen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85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Partition</a:t>
            </a:r>
            <a:r>
              <a:rPr dirty="0" spc="-2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85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Partition</a:t>
            </a:r>
            <a:r>
              <a:rPr dirty="0" spc="-25"/>
              <a:t> </a:t>
            </a:r>
            <a:r>
              <a:rPr dirty="0" spc="-5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700" y="2391874"/>
            <a:ext cx="5192918" cy="36004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178181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431800" marR="5080" indent="-419100">
              <a:lnSpc>
                <a:spcPct val="95000"/>
              </a:lnSpc>
              <a:spcBef>
                <a:spcPts val="24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Equivalence Partitioning </a:t>
            </a:r>
            <a:r>
              <a:rPr dirty="0" sz="2400">
                <a:latin typeface="Times New Roman"/>
                <a:cs typeface="Times New Roman"/>
              </a:rPr>
              <a:t>– It is a </a:t>
            </a:r>
            <a:r>
              <a:rPr dirty="0" sz="2400" spc="-5">
                <a:latin typeface="Times New Roman"/>
                <a:cs typeface="Times New Roman"/>
              </a:rPr>
              <a:t>black box technique (code </a:t>
            </a:r>
            <a:r>
              <a:rPr dirty="0" sz="2400">
                <a:latin typeface="Times New Roman"/>
                <a:cs typeface="Times New Roman"/>
              </a:rPr>
              <a:t> is not </a:t>
            </a:r>
            <a:r>
              <a:rPr dirty="0" sz="2400" spc="-5">
                <a:latin typeface="Times New Roman"/>
                <a:cs typeface="Times New Roman"/>
              </a:rPr>
              <a:t>visible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5">
                <a:latin typeface="Times New Roman"/>
                <a:cs typeface="Times New Roman"/>
              </a:rPr>
              <a:t>tester) </a:t>
            </a:r>
            <a:r>
              <a:rPr dirty="0" sz="2400">
                <a:latin typeface="Times New Roman"/>
                <a:cs typeface="Times New Roman"/>
              </a:rPr>
              <a:t>which can be applied to all </a:t>
            </a:r>
            <a:r>
              <a:rPr dirty="0" sz="2400" spc="-5">
                <a:latin typeface="Times New Roman"/>
                <a:cs typeface="Times New Roman"/>
              </a:rPr>
              <a:t>levels 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 like unit, integration, system etc. </a:t>
            </a:r>
            <a:r>
              <a:rPr dirty="0" sz="2400">
                <a:latin typeface="Times New Roman"/>
                <a:cs typeface="Times New Roman"/>
              </a:rPr>
              <a:t>In this </a:t>
            </a:r>
            <a:r>
              <a:rPr dirty="0" sz="2400" spc="-5">
                <a:latin typeface="Times New Roman"/>
                <a:cs typeface="Times New Roman"/>
              </a:rPr>
              <a:t>technique, you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divide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set</a:t>
            </a:r>
            <a:r>
              <a:rPr dirty="0" sz="2400">
                <a:latin typeface="Times New Roman"/>
                <a:cs typeface="Times New Roman"/>
              </a:rPr>
              <a:t> 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condition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into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partition</a:t>
            </a:r>
            <a:r>
              <a:rPr dirty="0" sz="2400">
                <a:latin typeface="Times New Roman"/>
                <a:cs typeface="Times New Roman"/>
              </a:rPr>
              <a:t> that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can</a:t>
            </a:r>
            <a:r>
              <a:rPr dirty="0" sz="2400" spc="5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considered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85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Partition</a:t>
            </a:r>
            <a:r>
              <a:rPr dirty="0" spc="-2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271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Equivalence</a:t>
            </a:r>
            <a:r>
              <a:rPr dirty="0" spc="-45"/>
              <a:t> </a:t>
            </a:r>
            <a:r>
              <a:rPr dirty="0"/>
              <a:t>Partitioning-Example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632204"/>
            <a:ext cx="7127748" cy="51252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271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Equivalence</a:t>
            </a:r>
            <a:r>
              <a:rPr dirty="0" spc="-50"/>
              <a:t> </a:t>
            </a:r>
            <a:r>
              <a:rPr dirty="0"/>
              <a:t>Partitioning-Example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629155"/>
            <a:ext cx="6734508" cy="49209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097520" cy="21431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 b="1">
                <a:latin typeface="Times New Roman"/>
                <a:cs typeface="Times New Roman"/>
              </a:rPr>
              <a:t>Here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test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condition</a:t>
            </a:r>
            <a:endParaRPr sz="240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280"/>
              </a:lnSpc>
              <a:spcBef>
                <a:spcPts val="55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 spc="5">
                <a:latin typeface="Times New Roman"/>
                <a:cs typeface="Times New Roman"/>
              </a:rPr>
              <a:t>Any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Number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greater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than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10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entered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reservation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column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(let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say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11) </a:t>
            </a:r>
            <a:r>
              <a:rPr dirty="0" sz="2000" spc="-484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considered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invalid.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0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 spc="5">
                <a:latin typeface="Times New Roman"/>
                <a:cs typeface="Times New Roman"/>
              </a:rPr>
              <a:t>Any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Number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less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 that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0 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below,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is</a:t>
            </a:r>
            <a:r>
              <a:rPr dirty="0" sz="2000">
                <a:latin typeface="Times New Roman"/>
                <a:cs typeface="Times New Roman"/>
              </a:rPr>
              <a:t> considered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invalid.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>
                <a:latin typeface="Times New Roman"/>
                <a:cs typeface="Times New Roman"/>
              </a:rPr>
              <a:t>Numbers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10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considered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 spc="5">
                <a:latin typeface="Times New Roman"/>
                <a:cs typeface="Times New Roman"/>
              </a:rPr>
              <a:t>Any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Digit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-100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is </a:t>
            </a:r>
            <a:r>
              <a:rPr dirty="0" sz="2000">
                <a:latin typeface="Times New Roman"/>
                <a:cs typeface="Times New Roman"/>
              </a:rPr>
              <a:t>invalid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271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Equivalence</a:t>
            </a:r>
            <a:r>
              <a:rPr dirty="0" spc="-50"/>
              <a:t> </a:t>
            </a:r>
            <a:r>
              <a:rPr dirty="0"/>
              <a:t>Partitioning-Example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271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Equivalence</a:t>
            </a:r>
            <a:r>
              <a:rPr dirty="0" spc="-50"/>
              <a:t> </a:t>
            </a:r>
            <a:r>
              <a:rPr dirty="0"/>
              <a:t>Partitioning-Example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2205227"/>
            <a:ext cx="6841235" cy="13685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9740" y="4031056"/>
            <a:ext cx="8232140" cy="1551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divided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sets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are</a:t>
            </a:r>
            <a:r>
              <a:rPr dirty="0" sz="2000">
                <a:latin typeface="Arial MT"/>
                <a:cs typeface="Arial MT"/>
              </a:rPr>
              <a:t> called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Equivalence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Partitions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</a:t>
            </a:r>
            <a:r>
              <a:rPr dirty="0" sz="2000">
                <a:latin typeface="Arial MT"/>
                <a:cs typeface="Arial MT"/>
              </a:rPr>
              <a:t> Equivalence 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Classes. </a:t>
            </a:r>
            <a:r>
              <a:rPr dirty="0" sz="2000" spc="-5">
                <a:latin typeface="Arial MT"/>
                <a:cs typeface="Arial MT"/>
              </a:rPr>
              <a:t>Then </a:t>
            </a:r>
            <a:r>
              <a:rPr dirty="0" sz="2000">
                <a:latin typeface="Arial MT"/>
                <a:cs typeface="Arial MT"/>
              </a:rPr>
              <a:t>we pick </a:t>
            </a:r>
            <a:r>
              <a:rPr dirty="0" sz="2000" spc="-5">
                <a:latin typeface="Arial MT"/>
                <a:cs typeface="Arial MT"/>
              </a:rPr>
              <a:t>only </a:t>
            </a:r>
            <a:r>
              <a:rPr dirty="0" sz="2000">
                <a:latin typeface="Arial MT"/>
                <a:cs typeface="Arial MT"/>
              </a:rPr>
              <a:t>one value </a:t>
            </a:r>
            <a:r>
              <a:rPr dirty="0" sz="2000" spc="-5">
                <a:latin typeface="Arial MT"/>
                <a:cs typeface="Arial MT"/>
              </a:rPr>
              <a:t>from each partition </a:t>
            </a:r>
            <a:r>
              <a:rPr dirty="0" sz="2000">
                <a:latin typeface="Arial MT"/>
                <a:cs typeface="Arial MT"/>
              </a:rPr>
              <a:t>for </a:t>
            </a:r>
            <a:r>
              <a:rPr dirty="0" sz="2000" spc="-5">
                <a:latin typeface="Arial MT"/>
                <a:cs typeface="Arial MT"/>
              </a:rPr>
              <a:t>testing. </a:t>
            </a:r>
            <a:r>
              <a:rPr dirty="0" sz="2000">
                <a:latin typeface="Arial MT"/>
                <a:cs typeface="Arial MT"/>
              </a:rPr>
              <a:t>The </a:t>
            </a:r>
            <a:r>
              <a:rPr dirty="0" sz="2000" spc="-5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hypothesis behind </a:t>
            </a:r>
            <a:r>
              <a:rPr dirty="0" sz="2000" spc="-5">
                <a:latin typeface="Arial MT"/>
                <a:cs typeface="Arial MT"/>
              </a:rPr>
              <a:t>this technique is </a:t>
            </a:r>
            <a:r>
              <a:rPr dirty="0" sz="2000" spc="-5" b="1" i="1">
                <a:latin typeface="Arial"/>
                <a:cs typeface="Arial"/>
              </a:rPr>
              <a:t>that if one condition/value in </a:t>
            </a:r>
            <a:r>
              <a:rPr dirty="0" sz="2000" b="1" i="1">
                <a:latin typeface="Arial"/>
                <a:cs typeface="Arial"/>
              </a:rPr>
              <a:t>a </a:t>
            </a:r>
            <a:r>
              <a:rPr dirty="0" sz="2000" spc="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partition</a:t>
            </a:r>
            <a:r>
              <a:rPr dirty="0" sz="2000" spc="16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passes</a:t>
            </a:r>
            <a:r>
              <a:rPr dirty="0" sz="2000" spc="17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all</a:t>
            </a:r>
            <a:r>
              <a:rPr dirty="0" sz="2000" spc="16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others</a:t>
            </a:r>
            <a:r>
              <a:rPr dirty="0" sz="2000" spc="16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will</a:t>
            </a:r>
            <a:r>
              <a:rPr dirty="0" sz="2000" spc="17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also</a:t>
            </a:r>
            <a:r>
              <a:rPr dirty="0" sz="2000" spc="16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pass</a:t>
            </a:r>
            <a:r>
              <a:rPr dirty="0" sz="2000" spc="-5">
                <a:latin typeface="Arial MT"/>
                <a:cs typeface="Arial MT"/>
              </a:rPr>
              <a:t>.</a:t>
            </a:r>
            <a:r>
              <a:rPr dirty="0" sz="2000" spc="1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Likewise</a:t>
            </a:r>
            <a:r>
              <a:rPr dirty="0" sz="2000" b="1" i="1">
                <a:latin typeface="Arial"/>
                <a:cs typeface="Arial"/>
              </a:rPr>
              <a:t>,</a:t>
            </a:r>
            <a:r>
              <a:rPr dirty="0" sz="2000" spc="160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if</a:t>
            </a:r>
            <a:r>
              <a:rPr dirty="0" sz="2000" spc="17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one</a:t>
            </a:r>
            <a:r>
              <a:rPr dirty="0" sz="2000" spc="17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condition </a:t>
            </a:r>
            <a:r>
              <a:rPr dirty="0" sz="2000" spc="-54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in </a:t>
            </a:r>
            <a:r>
              <a:rPr dirty="0" sz="2000" b="1" i="1">
                <a:latin typeface="Arial"/>
                <a:cs typeface="Arial"/>
              </a:rPr>
              <a:t>a</a:t>
            </a:r>
            <a:r>
              <a:rPr dirty="0" sz="2000" spc="-1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partition</a:t>
            </a:r>
            <a:r>
              <a:rPr dirty="0" sz="2000" spc="-3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fails,</a:t>
            </a:r>
            <a:r>
              <a:rPr dirty="0" sz="2000" spc="-3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all</a:t>
            </a:r>
            <a:r>
              <a:rPr dirty="0" sz="2000" spc="-2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other</a:t>
            </a:r>
            <a:r>
              <a:rPr dirty="0" sz="2000" spc="-2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conditions</a:t>
            </a:r>
            <a:r>
              <a:rPr dirty="0" sz="2000" spc="-2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in</a:t>
            </a:r>
            <a:r>
              <a:rPr dirty="0" sz="2000" b="1" i="1">
                <a:latin typeface="Arial"/>
                <a:cs typeface="Arial"/>
              </a:rPr>
              <a:t> that</a:t>
            </a:r>
            <a:r>
              <a:rPr dirty="0" sz="2000" spc="-2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partition</a:t>
            </a:r>
            <a:r>
              <a:rPr dirty="0" sz="2000" spc="-4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will</a:t>
            </a:r>
            <a:r>
              <a:rPr dirty="0" sz="2000" spc="-3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fail</a:t>
            </a:r>
            <a:r>
              <a:rPr dirty="0" sz="2000" spc="-5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90080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Boundary</a:t>
            </a:r>
            <a:r>
              <a:rPr dirty="0" spc="-25"/>
              <a:t> </a:t>
            </a:r>
            <a:r>
              <a:rPr dirty="0" spc="-5"/>
              <a:t>Value</a:t>
            </a:r>
            <a:r>
              <a:rPr dirty="0" spc="-1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100" y="1612468"/>
            <a:ext cx="8096884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Boundary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Value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Analysis</a:t>
            </a:r>
            <a:r>
              <a:rPr dirty="0" sz="2400" spc="-5">
                <a:latin typeface="Times New Roman"/>
                <a:cs typeface="Times New Roman"/>
              </a:rPr>
              <a:t>-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Boundary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Value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Analysis,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you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boundaries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equivalence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partitions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708148"/>
            <a:ext cx="7037832" cy="28175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67370" cy="220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ts val="2810"/>
              </a:lnSpc>
              <a:spcBef>
                <a:spcPts val="100"/>
              </a:spcBef>
              <a:tabLst>
                <a:tab pos="6935470" algn="l"/>
              </a:tabLst>
            </a:pPr>
            <a:r>
              <a:rPr dirty="0" sz="2400" spc="-5">
                <a:latin typeface="Times New Roman"/>
                <a:cs typeface="Times New Roman"/>
              </a:rPr>
              <a:t>When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 use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	test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cases,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called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‘</a:t>
            </a:r>
            <a:r>
              <a:rPr dirty="0" sz="2400" b="1">
                <a:solidFill>
                  <a:srgbClr val="333399"/>
                </a:solidFill>
                <a:latin typeface="Times New Roman"/>
                <a:cs typeface="Times New Roman"/>
              </a:rPr>
              <a:t>black-box</a:t>
            </a:r>
            <a:r>
              <a:rPr dirty="0" sz="2400" spc="-4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333399"/>
                </a:solidFill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’.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latin typeface="Times New Roman"/>
                <a:cs typeface="Times New Roman"/>
              </a:rPr>
              <a:t>Here,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 don’t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how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works.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Times New Roman"/>
              <a:cs typeface="Times New Roman"/>
            </a:endParaRPr>
          </a:p>
          <a:p>
            <a:pPr marL="431800" marR="488315" indent="-419100">
              <a:lnSpc>
                <a:spcPts val="2740"/>
              </a:lnSpc>
              <a:tabLst>
                <a:tab pos="6325235" algn="l"/>
              </a:tabLst>
            </a:pPr>
            <a:r>
              <a:rPr dirty="0" sz="2400">
                <a:latin typeface="Times New Roman"/>
                <a:cs typeface="Times New Roman"/>
              </a:rPr>
              <a:t>In </a:t>
            </a:r>
            <a:r>
              <a:rPr dirty="0" sz="2400" spc="-5">
                <a:latin typeface="Times New Roman"/>
                <a:cs typeface="Times New Roman"/>
              </a:rPr>
              <a:t>‘</a:t>
            </a:r>
            <a:r>
              <a:rPr dirty="0" sz="2400" spc="-5" b="1">
                <a:solidFill>
                  <a:srgbClr val="333399"/>
                </a:solidFill>
                <a:latin typeface="Times New Roman"/>
                <a:cs typeface="Times New Roman"/>
              </a:rPr>
              <a:t>white-box</a:t>
            </a:r>
            <a:r>
              <a:rPr dirty="0" sz="2400" spc="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333399"/>
                </a:solidFill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’,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look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code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	program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find</a:t>
            </a:r>
            <a:r>
              <a:rPr dirty="0" sz="2400" spc="-5">
                <a:latin typeface="Times New Roman"/>
                <a:cs typeface="Times New Roman"/>
              </a:rPr>
              <a:t> possible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9193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Black-box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white-box</a:t>
            </a:r>
            <a:r>
              <a:rPr dirty="0" spc="2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8098790" cy="2056764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 sequences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which </a:t>
            </a:r>
            <a:r>
              <a:rPr dirty="0" sz="2400">
                <a:latin typeface="Times New Roman"/>
                <a:cs typeface="Times New Roman"/>
              </a:rPr>
              <a:t>have only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single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Use</a:t>
            </a:r>
            <a:r>
              <a:rPr dirty="0" sz="2400">
                <a:latin typeface="Times New Roman"/>
                <a:cs typeface="Times New Roman"/>
              </a:rPr>
              <a:t> sequences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sizes 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tests.</a:t>
            </a:r>
            <a:endParaRPr sz="240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Derive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tests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that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first,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middle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last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elements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accessed.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zero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length.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5847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Testing</a:t>
            </a:r>
            <a:r>
              <a:rPr dirty="0" spc="5"/>
              <a:t> </a:t>
            </a:r>
            <a:r>
              <a:rPr dirty="0" spc="-5"/>
              <a:t>guidelines</a:t>
            </a:r>
            <a:r>
              <a:rPr dirty="0" spc="-20"/>
              <a:t> </a:t>
            </a:r>
            <a:r>
              <a:rPr dirty="0" spc="-5"/>
              <a:t>(sequences)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242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1517015" algn="l"/>
                <a:tab pos="2431415" algn="l"/>
                <a:tab pos="3059430" algn="l"/>
                <a:tab pos="3853179" algn="l"/>
                <a:tab pos="4396105" algn="l"/>
                <a:tab pos="5411470" algn="l"/>
                <a:tab pos="5819775" algn="l"/>
                <a:tab pos="7019290" algn="l"/>
                <a:tab pos="7493634" algn="l"/>
              </a:tabLst>
            </a:pP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1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oose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p</a:t>
            </a:r>
            <a:r>
              <a:rPr dirty="0" sz="2400">
                <a:latin typeface="Times New Roman"/>
                <a:cs typeface="Times New Roman"/>
              </a:rPr>
              <a:t>uts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</a:t>
            </a:r>
            <a:r>
              <a:rPr dirty="0" sz="2400" spc="-1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10">
                <a:latin typeface="Times New Roman"/>
                <a:cs typeface="Times New Roman"/>
              </a:rPr>
              <a:t>r</a:t>
            </a:r>
            <a:r>
              <a:rPr dirty="0" sz="2400">
                <a:latin typeface="Times New Roman"/>
                <a:cs typeface="Times New Roman"/>
              </a:rPr>
              <a:t>ce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ge</a:t>
            </a:r>
            <a:r>
              <a:rPr dirty="0" sz="2400" spc="-15">
                <a:latin typeface="Times New Roman"/>
                <a:cs typeface="Times New Roman"/>
              </a:rPr>
              <a:t>n</a:t>
            </a:r>
            <a:r>
              <a:rPr dirty="0" sz="2400" spc="-1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rate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ll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rror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messages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Design</a:t>
            </a:r>
            <a:r>
              <a:rPr dirty="0" sz="2400">
                <a:latin typeface="Times New Roman"/>
                <a:cs typeface="Times New Roman"/>
              </a:rPr>
              <a:t> inputs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cause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buffers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overflow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Repeat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same </a:t>
            </a: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series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numerous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times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Force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invalid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outputs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generated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Force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computation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results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 too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large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 too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small.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95477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General</a:t>
            </a:r>
            <a:r>
              <a:rPr dirty="0" spc="-15"/>
              <a:t> </a:t>
            </a:r>
            <a:r>
              <a:rPr dirty="0" spc="-5"/>
              <a:t>testing</a:t>
            </a:r>
            <a:r>
              <a:rPr dirty="0"/>
              <a:t> </a:t>
            </a:r>
            <a:r>
              <a:rPr dirty="0" spc="-5"/>
              <a:t>guidelines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025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Interface</a:t>
            </a:r>
            <a:r>
              <a:rPr dirty="0" spc="-40"/>
              <a:t> </a:t>
            </a:r>
            <a:r>
              <a:rPr dirty="0" spc="-5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546" y="1642872"/>
            <a:ext cx="6886062" cy="45920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7040"/>
            <a:ext cx="8347709" cy="3953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340"/>
              </a:lnSpc>
              <a:spcBef>
                <a:spcPts val="105"/>
              </a:spcBef>
            </a:pPr>
            <a:r>
              <a:rPr dirty="0" sz="2000" spc="-5">
                <a:latin typeface="Times New Roman"/>
                <a:cs typeface="Times New Roman"/>
              </a:rPr>
              <a:t>Objectives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are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detect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faults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due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interface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errors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or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invalid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assumptions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about</a:t>
            </a:r>
            <a:endParaRPr sz="2000">
              <a:latin typeface="Times New Roman"/>
              <a:cs typeface="Times New Roman"/>
            </a:endParaRPr>
          </a:p>
          <a:p>
            <a:pPr marL="431800">
              <a:lnSpc>
                <a:spcPts val="2340"/>
              </a:lnSpc>
            </a:pPr>
            <a:r>
              <a:rPr dirty="0" sz="2000">
                <a:latin typeface="Times New Roman"/>
                <a:cs typeface="Times New Roman"/>
              </a:rPr>
              <a:t>interfaces.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7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 b="1">
                <a:solidFill>
                  <a:srgbClr val="333399"/>
                </a:solidFill>
                <a:latin typeface="Times New Roman"/>
                <a:cs typeface="Times New Roman"/>
              </a:rPr>
              <a:t>Parameter</a:t>
            </a:r>
            <a:r>
              <a:rPr dirty="0" sz="2000" spc="-30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333399"/>
                </a:solidFill>
                <a:latin typeface="Times New Roman"/>
                <a:cs typeface="Times New Roman"/>
              </a:rPr>
              <a:t>interfaces</a:t>
            </a:r>
            <a:r>
              <a:rPr dirty="0" sz="2000" spc="-40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 passed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one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method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procedure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to</a:t>
            </a:r>
            <a:r>
              <a:rPr dirty="0" sz="2000">
                <a:latin typeface="Times New Roman"/>
                <a:cs typeface="Times New Roman"/>
              </a:rPr>
              <a:t> another.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ts val="2340"/>
              </a:lnSpc>
              <a:spcBef>
                <a:spcPts val="360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000" b="1">
                <a:solidFill>
                  <a:srgbClr val="333399"/>
                </a:solidFill>
                <a:latin typeface="Times New Roman"/>
                <a:cs typeface="Times New Roman"/>
              </a:rPr>
              <a:t>Shared</a:t>
            </a:r>
            <a:r>
              <a:rPr dirty="0" sz="2000" spc="12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333399"/>
                </a:solidFill>
                <a:latin typeface="Times New Roman"/>
                <a:cs typeface="Times New Roman"/>
              </a:rPr>
              <a:t>memory</a:t>
            </a:r>
            <a:r>
              <a:rPr dirty="0" sz="2000" spc="130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333399"/>
                </a:solidFill>
                <a:latin typeface="Times New Roman"/>
                <a:cs typeface="Times New Roman"/>
              </a:rPr>
              <a:t>interfaces</a:t>
            </a:r>
            <a:r>
              <a:rPr dirty="0" sz="2000" spc="114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Block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memory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is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shared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procedures</a:t>
            </a:r>
            <a:endParaRPr sz="2000">
              <a:latin typeface="Times New Roman"/>
              <a:cs typeface="Times New Roman"/>
            </a:endParaRPr>
          </a:p>
          <a:p>
            <a:pPr marL="431800">
              <a:lnSpc>
                <a:spcPts val="2340"/>
              </a:lnSpc>
            </a:pP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functions.</a:t>
            </a:r>
            <a:endParaRPr sz="20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280"/>
              </a:lnSpc>
              <a:spcBef>
                <a:spcPts val="53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95934" algn="l"/>
              </a:tabLst>
            </a:pPr>
            <a:r>
              <a:rPr dirty="0"/>
              <a:t>	</a:t>
            </a:r>
            <a:r>
              <a:rPr dirty="0" sz="2000" b="1">
                <a:solidFill>
                  <a:srgbClr val="333399"/>
                </a:solidFill>
                <a:latin typeface="Times New Roman"/>
                <a:cs typeface="Times New Roman"/>
              </a:rPr>
              <a:t>Procedural </a:t>
            </a:r>
            <a:r>
              <a:rPr dirty="0" sz="2000" spc="-5" b="1">
                <a:solidFill>
                  <a:srgbClr val="333399"/>
                </a:solidFill>
                <a:latin typeface="Times New Roman"/>
                <a:cs typeface="Times New Roman"/>
              </a:rPr>
              <a:t>interfaces </a:t>
            </a:r>
            <a:r>
              <a:rPr dirty="0" sz="2000" spc="-5">
                <a:latin typeface="Times New Roman"/>
                <a:cs typeface="Times New Roman"/>
              </a:rPr>
              <a:t>Sub-system encapsulates </a:t>
            </a:r>
            <a:r>
              <a:rPr dirty="0" sz="2000">
                <a:latin typeface="Times New Roman"/>
                <a:cs typeface="Times New Roman"/>
              </a:rPr>
              <a:t>a set </a:t>
            </a:r>
            <a:r>
              <a:rPr dirty="0" sz="2000" spc="-5">
                <a:latin typeface="Times New Roman"/>
                <a:cs typeface="Times New Roman"/>
              </a:rPr>
              <a:t>of procedures </a:t>
            </a:r>
            <a:r>
              <a:rPr dirty="0" sz="2000" spc="-10">
                <a:latin typeface="Times New Roman"/>
                <a:cs typeface="Times New Roman"/>
              </a:rPr>
              <a:t>to </a:t>
            </a:r>
            <a:r>
              <a:rPr dirty="0" sz="2000" spc="5">
                <a:latin typeface="Times New Roman"/>
                <a:cs typeface="Times New Roman"/>
              </a:rPr>
              <a:t>be 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called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sub-systems</a:t>
            </a:r>
            <a:endParaRPr sz="2000">
              <a:latin typeface="Times New Roman"/>
              <a:cs typeface="Times New Roman"/>
            </a:endParaRPr>
          </a:p>
          <a:p>
            <a:pPr algn="just" marL="431800" marR="5715" indent="-419100">
              <a:lnSpc>
                <a:spcPct val="95000"/>
              </a:lnSpc>
              <a:spcBef>
                <a:spcPts val="42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800" algn="l"/>
              </a:tabLst>
            </a:pPr>
            <a:r>
              <a:rPr dirty="0" sz="2000" b="1">
                <a:solidFill>
                  <a:srgbClr val="333399"/>
                </a:solidFill>
                <a:latin typeface="Times New Roman"/>
                <a:cs typeface="Times New Roman"/>
              </a:rPr>
              <a:t>Message</a:t>
            </a:r>
            <a:r>
              <a:rPr dirty="0" sz="2000" spc="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333399"/>
                </a:solidFill>
                <a:latin typeface="Times New Roman"/>
                <a:cs typeface="Times New Roman"/>
              </a:rPr>
              <a:t>passing</a:t>
            </a:r>
            <a:r>
              <a:rPr dirty="0" sz="2000" spc="495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333399"/>
                </a:solidFill>
                <a:latin typeface="Times New Roman"/>
                <a:cs typeface="Times New Roman"/>
              </a:rPr>
              <a:t>interfaces</a:t>
            </a:r>
            <a:r>
              <a:rPr dirty="0" sz="2000" spc="490" b="1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These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are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interfaces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in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which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 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 </a:t>
            </a:r>
            <a:r>
              <a:rPr dirty="0" sz="2000" spc="-5">
                <a:latin typeface="Times New Roman"/>
                <a:cs typeface="Times New Roman"/>
              </a:rPr>
              <a:t>requests </a:t>
            </a:r>
            <a:r>
              <a:rPr dirty="0" sz="2000">
                <a:latin typeface="Times New Roman"/>
                <a:cs typeface="Times New Roman"/>
              </a:rPr>
              <a:t>a service from </a:t>
            </a:r>
            <a:r>
              <a:rPr dirty="0" sz="2000" spc="-5">
                <a:latin typeface="Times New Roman"/>
                <a:cs typeface="Times New Roman"/>
              </a:rPr>
              <a:t>another </a:t>
            </a:r>
            <a:r>
              <a:rPr dirty="0" sz="2000">
                <a:latin typeface="Times New Roman"/>
                <a:cs typeface="Times New Roman"/>
              </a:rPr>
              <a:t>component by </a:t>
            </a:r>
            <a:r>
              <a:rPr dirty="0" sz="2000" spc="-5">
                <a:latin typeface="Times New Roman"/>
                <a:cs typeface="Times New Roman"/>
              </a:rPr>
              <a:t>passing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-5">
                <a:latin typeface="Times New Roman"/>
                <a:cs typeface="Times New Roman"/>
              </a:rPr>
              <a:t>message 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025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Interface</a:t>
            </a:r>
            <a:r>
              <a:rPr dirty="0" spc="-4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790" cy="381254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715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during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development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involves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integrating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components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5">
                <a:latin typeface="Times New Roman"/>
                <a:cs typeface="Times New Roman"/>
              </a:rPr>
              <a:t>create </a:t>
            </a:r>
            <a:r>
              <a:rPr dirty="0" sz="2400">
                <a:latin typeface="Times New Roman"/>
                <a:cs typeface="Times New Roman"/>
              </a:rPr>
              <a:t>a version of </a:t>
            </a:r>
            <a:r>
              <a:rPr dirty="0" sz="2400" spc="-5">
                <a:latin typeface="Times New Roman"/>
                <a:cs typeface="Times New Roman"/>
              </a:rPr>
              <a:t>the system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5">
                <a:latin typeface="Times New Roman"/>
                <a:cs typeface="Times New Roman"/>
              </a:rPr>
              <a:t>then testing </a:t>
            </a:r>
            <a:r>
              <a:rPr dirty="0" sz="2400">
                <a:latin typeface="Times New Roman"/>
                <a:cs typeface="Times New Roman"/>
              </a:rPr>
              <a:t>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integrated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9999"/>
              </a:buClr>
              <a:buFont typeface="Wingdings"/>
              <a:buChar char=""/>
            </a:pPr>
            <a:endParaRPr sz="3250">
              <a:latin typeface="Times New Roman"/>
              <a:cs typeface="Times New Roman"/>
            </a:endParaRPr>
          </a:p>
          <a:p>
            <a:pPr marL="431800" indent="-419100">
              <a:lnSpc>
                <a:spcPts val="281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focus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interactions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between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 testing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checks</a:t>
            </a:r>
            <a:r>
              <a:rPr dirty="0" sz="2400">
                <a:latin typeface="Times New Roman"/>
                <a:cs typeface="Times New Roman"/>
              </a:rPr>
              <a:t> that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components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6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compatible,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interact correctly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5">
                <a:latin typeface="Times New Roman"/>
                <a:cs typeface="Times New Roman"/>
              </a:rPr>
              <a:t>transfer </a:t>
            </a:r>
            <a:r>
              <a:rPr dirty="0" sz="2400">
                <a:latin typeface="Times New Roman"/>
                <a:cs typeface="Times New Roman"/>
              </a:rPr>
              <a:t>the right </a:t>
            </a:r>
            <a:r>
              <a:rPr dirty="0" sz="2400" spc="-5">
                <a:latin typeface="Times New Roman"/>
                <a:cs typeface="Times New Roman"/>
              </a:rPr>
              <a:t>data </a:t>
            </a:r>
            <a:r>
              <a:rPr dirty="0" sz="2400" spc="-10">
                <a:latin typeface="Times New Roman"/>
                <a:cs typeface="Times New Roman"/>
              </a:rPr>
              <a:t>at </a:t>
            </a:r>
            <a:r>
              <a:rPr dirty="0" sz="2400" spc="-5">
                <a:latin typeface="Times New Roman"/>
                <a:cs typeface="Times New Roman"/>
              </a:rPr>
              <a:t>the right time </a:t>
            </a:r>
            <a:r>
              <a:rPr dirty="0" sz="2400">
                <a:latin typeface="Times New Roman"/>
                <a:cs typeface="Times New Roman"/>
              </a:rPr>
              <a:t> across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660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System</a:t>
            </a:r>
            <a:r>
              <a:rPr dirty="0" spc="-20"/>
              <a:t> </a:t>
            </a:r>
            <a:r>
              <a:rPr dirty="0" spc="-5"/>
              <a:t>testing…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695" cy="36131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431800" marR="5080" indent="-419100">
              <a:lnSpc>
                <a:spcPct val="95000"/>
              </a:lnSpc>
              <a:spcBef>
                <a:spcPts val="24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During </a:t>
            </a:r>
            <a:r>
              <a:rPr dirty="0" sz="2400">
                <a:latin typeface="Times New Roman"/>
                <a:cs typeface="Times New Roman"/>
              </a:rPr>
              <a:t>system testing, reusable </a:t>
            </a:r>
            <a:r>
              <a:rPr dirty="0" sz="2400" spc="-5">
                <a:latin typeface="Times New Roman"/>
                <a:cs typeface="Times New Roman"/>
              </a:rPr>
              <a:t>components </a:t>
            </a:r>
            <a:r>
              <a:rPr dirty="0" sz="2400">
                <a:latin typeface="Times New Roman"/>
                <a:cs typeface="Times New Roman"/>
              </a:rPr>
              <a:t>that </a:t>
            </a:r>
            <a:r>
              <a:rPr dirty="0" sz="2400" spc="-5">
                <a:latin typeface="Times New Roman"/>
                <a:cs typeface="Times New Roman"/>
              </a:rPr>
              <a:t>have been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separately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developed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 off-the-shelf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10">
                <a:latin typeface="Times New Roman"/>
                <a:cs typeface="Times New Roman"/>
              </a:rPr>
              <a:t>be 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integrated </a:t>
            </a:r>
            <a:r>
              <a:rPr dirty="0" sz="2400">
                <a:latin typeface="Times New Roman"/>
                <a:cs typeface="Times New Roman"/>
              </a:rPr>
              <a:t>with newly </a:t>
            </a:r>
            <a:r>
              <a:rPr dirty="0" sz="2400" spc="-5">
                <a:latin typeface="Times New Roman"/>
                <a:cs typeface="Times New Roman"/>
              </a:rPr>
              <a:t>developed components.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complete </a:t>
            </a:r>
            <a:r>
              <a:rPr dirty="0" sz="2400">
                <a:latin typeface="Times New Roman"/>
                <a:cs typeface="Times New Roman"/>
              </a:rPr>
              <a:t> 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 then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9999"/>
              </a:buClr>
              <a:buFont typeface="Wingdings"/>
              <a:buChar char=""/>
            </a:pPr>
            <a:endParaRPr sz="3400">
              <a:latin typeface="Times New Roman"/>
              <a:cs typeface="Times New Roman"/>
            </a:endParaRPr>
          </a:p>
          <a:p>
            <a:pPr algn="just" marL="431800" marR="9525" indent="-419100">
              <a:lnSpc>
                <a:spcPts val="274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Components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developed </a:t>
            </a:r>
            <a:r>
              <a:rPr dirty="0" sz="2400">
                <a:latin typeface="Times New Roman"/>
                <a:cs typeface="Times New Roman"/>
              </a:rPr>
              <a:t>by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>
                <a:latin typeface="Times New Roman"/>
                <a:cs typeface="Times New Roman"/>
              </a:rPr>
              <a:t> team </a:t>
            </a:r>
            <a:r>
              <a:rPr dirty="0" sz="2400" spc="-5">
                <a:latin typeface="Times New Roman"/>
                <a:cs typeface="Times New Roman"/>
              </a:rPr>
              <a:t>members</a:t>
            </a:r>
            <a:r>
              <a:rPr dirty="0" sz="2400">
                <a:latin typeface="Times New Roman"/>
                <a:cs typeface="Times New Roman"/>
              </a:rPr>
              <a:t> or </a:t>
            </a:r>
            <a:r>
              <a:rPr dirty="0" sz="2400" spc="-5">
                <a:latin typeface="Times New Roman"/>
                <a:cs typeface="Times New Roman"/>
              </a:rPr>
              <a:t>sub-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teams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integrated</a:t>
            </a:r>
            <a:r>
              <a:rPr dirty="0" sz="2400">
                <a:latin typeface="Times New Roman"/>
                <a:cs typeface="Times New Roman"/>
              </a:rPr>
              <a:t> at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this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stage.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 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collective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rather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 individual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algn="just" marL="469900">
              <a:lnSpc>
                <a:spcPts val="2340"/>
              </a:lnSpc>
              <a:spcBef>
                <a:spcPts val="300"/>
              </a:spcBef>
            </a:pPr>
            <a:r>
              <a:rPr dirty="0" sz="2000">
                <a:solidFill>
                  <a:srgbClr val="09007E"/>
                </a:solidFill>
                <a:latin typeface="Arial MT"/>
                <a:cs typeface="Arial MT"/>
              </a:rPr>
              <a:t>—</a:t>
            </a:r>
            <a:r>
              <a:rPr dirty="0" sz="2000" spc="450">
                <a:solidFill>
                  <a:srgbClr val="09007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some</a:t>
            </a:r>
            <a:r>
              <a:rPr dirty="0" sz="2000" spc="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companies,</a:t>
            </a:r>
            <a:r>
              <a:rPr dirty="0" sz="2000" spc="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testing</a:t>
            </a:r>
            <a:r>
              <a:rPr dirty="0" sz="2000" spc="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may</a:t>
            </a:r>
            <a:r>
              <a:rPr dirty="0" sz="2000" spc="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involve</a:t>
            </a:r>
            <a:r>
              <a:rPr dirty="0" sz="2000" spc="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separate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endParaRPr sz="2000">
              <a:latin typeface="Times New Roman"/>
              <a:cs typeface="Times New Roman"/>
            </a:endParaRPr>
          </a:p>
          <a:p>
            <a:pPr algn="just" marL="850900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involvement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from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designers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programmers.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647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…System</a:t>
            </a:r>
            <a:r>
              <a:rPr dirty="0" spc="-4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8061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Test-driven</a:t>
            </a:r>
            <a:r>
              <a:rPr dirty="0" spc="-20"/>
              <a:t> </a:t>
            </a:r>
            <a:r>
              <a:rPr dirty="0" spc="-5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113" y="3312990"/>
            <a:ext cx="7642202" cy="22177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100059" cy="427418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Code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coverage</a:t>
            </a:r>
            <a:endParaRPr sz="2400">
              <a:latin typeface="Times New Roman"/>
              <a:cs typeface="Times New Roman"/>
            </a:endParaRPr>
          </a:p>
          <a:p>
            <a:pPr lvl="1" marL="850900" marR="8890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Every</a:t>
            </a:r>
            <a:r>
              <a:rPr dirty="0" sz="2000" spc="1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code</a:t>
            </a:r>
            <a:r>
              <a:rPr dirty="0" sz="2000" spc="1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segment</a:t>
            </a:r>
            <a:r>
              <a:rPr dirty="0" sz="2000" spc="1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2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you</a:t>
            </a:r>
            <a:r>
              <a:rPr dirty="0" sz="2000" spc="2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write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has</a:t>
            </a:r>
            <a:r>
              <a:rPr dirty="0" sz="2000" spc="1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at</a:t>
            </a:r>
            <a:r>
              <a:rPr dirty="0" sz="2000" spc="1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least</a:t>
            </a:r>
            <a:r>
              <a:rPr dirty="0" sz="2000" spc="1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one</a:t>
            </a:r>
            <a:r>
              <a:rPr dirty="0" sz="2000" spc="1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associated</a:t>
            </a:r>
            <a:r>
              <a:rPr dirty="0" sz="2000" spc="1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1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so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code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written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has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at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least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one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Regression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ts val="2340"/>
              </a:lnSpc>
              <a:spcBef>
                <a:spcPts val="37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4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regression</a:t>
            </a:r>
            <a:r>
              <a:rPr dirty="0" sz="2000" spc="4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45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suite</a:t>
            </a:r>
            <a:r>
              <a:rPr dirty="0" sz="2000" spc="4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4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developed</a:t>
            </a:r>
            <a:r>
              <a:rPr dirty="0" sz="2000" spc="4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incrementally</a:t>
            </a:r>
            <a:r>
              <a:rPr dirty="0" sz="2000" spc="4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</a:t>
            </a:r>
            <a:r>
              <a:rPr dirty="0" sz="2000" spc="4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4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program</a:t>
            </a:r>
            <a:r>
              <a:rPr dirty="0" sz="2000" spc="4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850900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developed.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2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Simplified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debugging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280"/>
              </a:lnSpc>
              <a:spcBef>
                <a:spcPts val="55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When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2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</a:t>
            </a:r>
            <a:r>
              <a:rPr dirty="0" sz="2000" spc="2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fails,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2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obvious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where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problem</a:t>
            </a:r>
            <a:r>
              <a:rPr dirty="0" sz="2000" spc="2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lies.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newly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written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code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needs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checked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modified.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2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tests</a:t>
            </a:r>
            <a:r>
              <a:rPr dirty="0" sz="2000" spc="2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themselves</a:t>
            </a:r>
            <a:r>
              <a:rPr dirty="0" sz="2000" spc="2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2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2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form</a:t>
            </a:r>
            <a:r>
              <a:rPr dirty="0" sz="2000" spc="2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2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documentation</a:t>
            </a:r>
            <a:r>
              <a:rPr dirty="0" sz="2000" spc="2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2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describe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what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code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387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Benefits of</a:t>
            </a:r>
            <a:r>
              <a:rPr dirty="0" spc="5"/>
              <a:t> </a:t>
            </a:r>
            <a:r>
              <a:rPr dirty="0"/>
              <a:t>test-driven</a:t>
            </a:r>
            <a:r>
              <a:rPr dirty="0" spc="-15"/>
              <a:t> </a:t>
            </a:r>
            <a:r>
              <a:rPr dirty="0" spc="-5"/>
              <a:t>development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059" cy="35534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6350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Release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process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particular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release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 spc="-15">
                <a:latin typeface="Times New Roman"/>
                <a:cs typeface="Times New Roman"/>
              </a:rPr>
              <a:t>of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system that is </a:t>
            </a:r>
            <a:r>
              <a:rPr dirty="0" sz="2400" spc="-5">
                <a:latin typeface="Times New Roman"/>
                <a:cs typeface="Times New Roman"/>
              </a:rPr>
              <a:t>intended </a:t>
            </a:r>
            <a:r>
              <a:rPr dirty="0" sz="2400">
                <a:latin typeface="Times New Roman"/>
                <a:cs typeface="Times New Roman"/>
              </a:rPr>
              <a:t>for </a:t>
            </a:r>
            <a:r>
              <a:rPr dirty="0" sz="2400" spc="-5">
                <a:latin typeface="Times New Roman"/>
                <a:cs typeface="Times New Roman"/>
              </a:rPr>
              <a:t>use outside 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-5">
                <a:latin typeface="Times New Roman"/>
                <a:cs typeface="Times New Roman"/>
              </a:rPr>
              <a:t>the development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team.</a:t>
            </a:r>
            <a:endParaRPr sz="2400">
              <a:latin typeface="Times New Roman"/>
              <a:cs typeface="Times New Roman"/>
            </a:endParaRPr>
          </a:p>
          <a:p>
            <a:pPr algn="just" marL="431800" marR="889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primary </a:t>
            </a:r>
            <a:r>
              <a:rPr dirty="0" sz="2400">
                <a:latin typeface="Times New Roman"/>
                <a:cs typeface="Times New Roman"/>
              </a:rPr>
              <a:t>goal of the </a:t>
            </a:r>
            <a:r>
              <a:rPr dirty="0" sz="2400" spc="-5">
                <a:latin typeface="Times New Roman"/>
                <a:cs typeface="Times New Roman"/>
              </a:rPr>
              <a:t>release testing process </a:t>
            </a:r>
            <a:r>
              <a:rPr dirty="0" sz="2400" spc="-10">
                <a:latin typeface="Times New Roman"/>
                <a:cs typeface="Times New Roman"/>
              </a:rPr>
              <a:t>is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5">
                <a:latin typeface="Times New Roman"/>
                <a:cs typeface="Times New Roman"/>
              </a:rPr>
              <a:t>convince </a:t>
            </a:r>
            <a:r>
              <a:rPr dirty="0" sz="2400">
                <a:latin typeface="Times New Roman"/>
                <a:cs typeface="Times New Roman"/>
              </a:rPr>
              <a:t>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supplier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good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enough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 use.</a:t>
            </a:r>
            <a:endParaRPr sz="2400">
              <a:latin typeface="Times New Roman"/>
              <a:cs typeface="Times New Roman"/>
            </a:endParaRPr>
          </a:p>
          <a:p>
            <a:pPr algn="just" marL="850900" marR="5080" indent="-381635">
              <a:lnSpc>
                <a:spcPts val="2280"/>
              </a:lnSpc>
              <a:spcBef>
                <a:spcPts val="484"/>
              </a:spcBef>
            </a:pPr>
            <a:r>
              <a:rPr dirty="0" sz="2000">
                <a:solidFill>
                  <a:srgbClr val="09007E"/>
                </a:solidFill>
                <a:latin typeface="Arial MT"/>
                <a:cs typeface="Arial MT"/>
              </a:rPr>
              <a:t>—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Release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testing,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therefore,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has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show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the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system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delivers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its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specified functionality, performance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dependability, and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does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not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fail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during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normal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 algn="just" marL="431800" marR="5715" indent="-419100">
              <a:lnSpc>
                <a:spcPts val="2740"/>
              </a:lnSpc>
              <a:spcBef>
                <a:spcPts val="56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Release testing </a:t>
            </a:r>
            <a:r>
              <a:rPr dirty="0" sz="2400">
                <a:latin typeface="Times New Roman"/>
                <a:cs typeface="Times New Roman"/>
              </a:rPr>
              <a:t>is usually a </a:t>
            </a:r>
            <a:r>
              <a:rPr dirty="0" sz="2400" spc="-5">
                <a:latin typeface="Times New Roman"/>
                <a:cs typeface="Times New Roman"/>
              </a:rPr>
              <a:t>black-box testing process where </a:t>
            </a:r>
            <a:r>
              <a:rPr dirty="0" sz="2400">
                <a:latin typeface="Times New Roman"/>
                <a:cs typeface="Times New Roman"/>
              </a:rPr>
              <a:t> tests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derived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from</a:t>
            </a:r>
            <a:r>
              <a:rPr dirty="0" sz="2400">
                <a:latin typeface="Times New Roman"/>
                <a:cs typeface="Times New Roman"/>
              </a:rPr>
              <a:t> 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 specification.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206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Release</a:t>
            </a:r>
            <a:r>
              <a:rPr dirty="0" spc="-60"/>
              <a:t> </a:t>
            </a:r>
            <a:r>
              <a:rPr dirty="0" spc="-5"/>
              <a:t>testing…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8100059" cy="272986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Release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form</a:t>
            </a:r>
            <a:r>
              <a:rPr dirty="0" sz="2400" spc="-5">
                <a:latin typeface="Times New Roman"/>
                <a:cs typeface="Times New Roman"/>
              </a:rPr>
              <a:t> 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Important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differences: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6350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separate team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 has not been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involved in the system development,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responsible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for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release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testing.</a:t>
            </a:r>
            <a:endParaRPr sz="20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ct val="95000"/>
              </a:lnSpc>
              <a:spcBef>
                <a:spcPts val="42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by 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development team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should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focus on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discovering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bugs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1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system</a:t>
            </a:r>
            <a:r>
              <a:rPr dirty="0" sz="2000" spc="1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(defect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testing).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objective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release</a:t>
            </a:r>
            <a:r>
              <a:rPr dirty="0" sz="2000" spc="1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1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 spc="-4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check that the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system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meets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its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requirements and is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good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enough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for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external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use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(validation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testing).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219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…Release</a:t>
            </a:r>
            <a:r>
              <a:rPr dirty="0" spc="-70"/>
              <a:t> </a:t>
            </a:r>
            <a:r>
              <a:rPr dirty="0"/>
              <a:t>testing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9425" cy="304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8465" indent="-418465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18465" algn="l"/>
                <a:tab pos="431800" algn="l"/>
                <a:tab pos="1098550" algn="l"/>
                <a:tab pos="1539240" algn="l"/>
                <a:tab pos="2571115" algn="l"/>
                <a:tab pos="3569335" algn="l"/>
                <a:tab pos="4279900" algn="l"/>
                <a:tab pos="5381625" algn="l"/>
                <a:tab pos="6379845" algn="l"/>
                <a:tab pos="6939915" algn="l"/>
              </a:tabLst>
            </a:pPr>
            <a:r>
              <a:rPr dirty="0" sz="2400">
                <a:latin typeface="Times New Roman"/>
                <a:cs typeface="Times New Roman"/>
              </a:rPr>
              <a:t>Part	</a:t>
            </a:r>
            <a:r>
              <a:rPr dirty="0" sz="2400" spc="-5">
                <a:latin typeface="Times New Roman"/>
                <a:cs typeface="Times New Roman"/>
              </a:rPr>
              <a:t>of	release	testing	</a:t>
            </a:r>
            <a:r>
              <a:rPr dirty="0" sz="2400" spc="-10">
                <a:latin typeface="Times New Roman"/>
                <a:cs typeface="Times New Roman"/>
              </a:rPr>
              <a:t>may	</a:t>
            </a:r>
            <a:r>
              <a:rPr dirty="0" sz="2400" spc="-5">
                <a:latin typeface="Times New Roman"/>
                <a:cs typeface="Times New Roman"/>
              </a:rPr>
              <a:t>involve	testing	the	emergent</a:t>
            </a:r>
            <a:endParaRPr sz="2400">
              <a:latin typeface="Times New Roman"/>
              <a:cs typeface="Times New Roman"/>
            </a:endParaRPr>
          </a:p>
          <a:p>
            <a:pPr algn="ctr" marR="34925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properties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a</a:t>
            </a:r>
            <a:r>
              <a:rPr dirty="0" sz="2400" spc="-5">
                <a:latin typeface="Times New Roman"/>
                <a:cs typeface="Times New Roman"/>
              </a:rPr>
              <a:t> system,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performance</a:t>
            </a:r>
            <a:r>
              <a:rPr dirty="0" sz="2400">
                <a:latin typeface="Times New Roman"/>
                <a:cs typeface="Times New Roman"/>
              </a:rPr>
              <a:t> 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reliability.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Tests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reflect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profile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use</a:t>
            </a:r>
            <a:r>
              <a:rPr dirty="0" sz="2400">
                <a:latin typeface="Times New Roman"/>
                <a:cs typeface="Times New Roman"/>
              </a:rPr>
              <a:t> of 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Performance tests usually involve planning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series of tests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where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load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steadily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increased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until</a:t>
            </a:r>
            <a:r>
              <a:rPr dirty="0" sz="2400" spc="-5">
                <a:latin typeface="Times New Roman"/>
                <a:cs typeface="Times New Roman"/>
              </a:rPr>
              <a:t> the</a:t>
            </a:r>
            <a:r>
              <a:rPr dirty="0" sz="2400">
                <a:latin typeface="Times New Roman"/>
                <a:cs typeface="Times New Roman"/>
              </a:rPr>
              <a:t> system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performance becomes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unacceptable.</a:t>
            </a:r>
            <a:endParaRPr sz="2400">
              <a:latin typeface="Times New Roman"/>
              <a:cs typeface="Times New Roman"/>
            </a:endParaRPr>
          </a:p>
          <a:p>
            <a:pPr algn="just" marL="431800" marR="6985" indent="-419100">
              <a:lnSpc>
                <a:spcPts val="2740"/>
              </a:lnSpc>
              <a:spcBef>
                <a:spcPts val="56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Stress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 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form</a:t>
            </a:r>
            <a:r>
              <a:rPr dirty="0" sz="2400">
                <a:latin typeface="Times New Roman"/>
                <a:cs typeface="Times New Roman"/>
              </a:rPr>
              <a:t> 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performance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where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 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-5">
                <a:latin typeface="Times New Roman"/>
                <a:cs typeface="Times New Roman"/>
              </a:rPr>
              <a:t>deliberately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overloaded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failure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behavior.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0949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Performance</a:t>
            </a:r>
            <a:r>
              <a:rPr dirty="0" spc="-2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059" cy="307657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715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User </a:t>
            </a:r>
            <a:r>
              <a:rPr dirty="0" sz="2400" spc="-5">
                <a:latin typeface="Times New Roman"/>
                <a:cs typeface="Times New Roman"/>
              </a:rPr>
              <a:t>or customer testing </a:t>
            </a:r>
            <a:r>
              <a:rPr dirty="0" sz="2400">
                <a:latin typeface="Times New Roman"/>
                <a:cs typeface="Times New Roman"/>
              </a:rPr>
              <a:t>is a stage in </a:t>
            </a:r>
            <a:r>
              <a:rPr dirty="0" sz="2400" spc="-5">
                <a:latin typeface="Times New Roman"/>
                <a:cs typeface="Times New Roman"/>
              </a:rPr>
              <a:t>the testing </a:t>
            </a:r>
            <a:r>
              <a:rPr dirty="0" sz="2400">
                <a:latin typeface="Times New Roman"/>
                <a:cs typeface="Times New Roman"/>
              </a:rPr>
              <a:t>process </a:t>
            </a:r>
            <a:r>
              <a:rPr dirty="0" sz="2400" spc="-10">
                <a:latin typeface="Times New Roman"/>
                <a:cs typeface="Times New Roman"/>
              </a:rPr>
              <a:t>in </a:t>
            </a:r>
            <a:r>
              <a:rPr dirty="0" sz="2400" spc="-5">
                <a:latin typeface="Times New Roman"/>
                <a:cs typeface="Times New Roman"/>
              </a:rPr>
              <a:t> which </a:t>
            </a:r>
            <a:r>
              <a:rPr dirty="0" sz="2400">
                <a:latin typeface="Times New Roman"/>
                <a:cs typeface="Times New Roman"/>
              </a:rPr>
              <a:t>users or </a:t>
            </a:r>
            <a:r>
              <a:rPr dirty="0" sz="2400" spc="-5">
                <a:latin typeface="Times New Roman"/>
                <a:cs typeface="Times New Roman"/>
              </a:rPr>
              <a:t>customers </a:t>
            </a:r>
            <a:r>
              <a:rPr dirty="0" sz="2400">
                <a:latin typeface="Times New Roman"/>
                <a:cs typeface="Times New Roman"/>
              </a:rPr>
              <a:t>provide </a:t>
            </a:r>
            <a:r>
              <a:rPr dirty="0" sz="2400" spc="-5">
                <a:latin typeface="Times New Roman"/>
                <a:cs typeface="Times New Roman"/>
              </a:rPr>
              <a:t>input </a:t>
            </a:r>
            <a:r>
              <a:rPr dirty="0" sz="2400">
                <a:latin typeface="Times New Roman"/>
                <a:cs typeface="Times New Roman"/>
              </a:rPr>
              <a:t>and advice on </a:t>
            </a:r>
            <a:r>
              <a:rPr dirty="0" sz="2400" spc="-5">
                <a:latin typeface="Times New Roman"/>
                <a:cs typeface="Times New Roman"/>
              </a:rPr>
              <a:t>system </a:t>
            </a:r>
            <a:r>
              <a:rPr dirty="0" sz="2400">
                <a:latin typeface="Times New Roman"/>
                <a:cs typeface="Times New Roman"/>
              </a:rPr>
              <a:t> testing.</a:t>
            </a:r>
            <a:endParaRPr sz="2400">
              <a:latin typeface="Times New Roman"/>
              <a:cs typeface="Times New Roman"/>
            </a:endParaRPr>
          </a:p>
          <a:p>
            <a:pPr algn="just" marL="431800" marR="635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User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testing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-5">
                <a:latin typeface="Times New Roman"/>
                <a:cs typeface="Times New Roman"/>
              </a:rPr>
              <a:t>essential, </a:t>
            </a:r>
            <a:r>
              <a:rPr dirty="0" sz="2400">
                <a:latin typeface="Times New Roman"/>
                <a:cs typeface="Times New Roman"/>
              </a:rPr>
              <a:t>even </a:t>
            </a:r>
            <a:r>
              <a:rPr dirty="0" sz="2400" spc="-5">
                <a:latin typeface="Times New Roman"/>
                <a:cs typeface="Times New Roman"/>
              </a:rPr>
              <a:t>when comprehensive</a:t>
            </a:r>
            <a:r>
              <a:rPr dirty="0" sz="2400" spc="5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 </a:t>
            </a:r>
            <a:r>
              <a:rPr dirty="0" sz="2400">
                <a:latin typeface="Times New Roman"/>
                <a:cs typeface="Times New Roman"/>
              </a:rPr>
              <a:t> and release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been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carried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out.</a:t>
            </a:r>
            <a:endParaRPr sz="2400">
              <a:latin typeface="Times New Roman"/>
              <a:cs typeface="Times New Roman"/>
            </a:endParaRPr>
          </a:p>
          <a:p>
            <a:pPr algn="just" marL="850900" marR="5080" indent="-381635">
              <a:lnSpc>
                <a:spcPts val="2280"/>
              </a:lnSpc>
              <a:spcBef>
                <a:spcPts val="484"/>
              </a:spcBef>
            </a:pPr>
            <a:r>
              <a:rPr dirty="0" sz="2000">
                <a:latin typeface="Arial MT"/>
                <a:cs typeface="Arial MT"/>
              </a:rPr>
              <a:t>—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reason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for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this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that</a:t>
            </a:r>
            <a:r>
              <a:rPr dirty="0" sz="2000" spc="-5">
                <a:latin typeface="Times New Roman"/>
                <a:cs typeface="Times New Roman"/>
              </a:rPr>
              <a:t> influences</a:t>
            </a:r>
            <a:r>
              <a:rPr dirty="0" sz="2000">
                <a:latin typeface="Times New Roman"/>
                <a:cs typeface="Times New Roman"/>
              </a:rPr>
              <a:t> from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user’s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working 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environment</a:t>
            </a:r>
            <a:r>
              <a:rPr dirty="0" sz="2000">
                <a:latin typeface="Times New Roman"/>
                <a:cs typeface="Times New Roman"/>
              </a:rPr>
              <a:t> have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major</a:t>
            </a:r>
            <a:r>
              <a:rPr dirty="0" sz="2000" spc="-5">
                <a:latin typeface="Times New Roman"/>
                <a:cs typeface="Times New Roman"/>
              </a:rPr>
              <a:t> effect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on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reliability,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performance, 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usability and robustness of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-5">
                <a:latin typeface="Times New Roman"/>
                <a:cs typeface="Times New Roman"/>
              </a:rPr>
              <a:t>system. </a:t>
            </a:r>
            <a:r>
              <a:rPr dirty="0" sz="2000">
                <a:latin typeface="Times New Roman"/>
                <a:cs typeface="Times New Roman"/>
              </a:rPr>
              <a:t>These cannot be </a:t>
            </a:r>
            <a:r>
              <a:rPr dirty="0" sz="2000" spc="-5">
                <a:latin typeface="Times New Roman"/>
                <a:cs typeface="Times New Roman"/>
              </a:rPr>
              <a:t>replicated in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testing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183133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User</a:t>
            </a:r>
            <a:r>
              <a:rPr dirty="0" spc="-55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430591"/>
            <a:ext cx="8100059" cy="5030470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167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three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testing:</a:t>
            </a:r>
            <a:endParaRPr sz="2400">
              <a:latin typeface="Times New Roman"/>
              <a:cs typeface="Times New Roman"/>
            </a:endParaRPr>
          </a:p>
          <a:p>
            <a:pPr algn="just" marL="431800" marR="6985" indent="-419100">
              <a:lnSpc>
                <a:spcPct val="107100"/>
              </a:lnSpc>
              <a:spcBef>
                <a:spcPts val="137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1. </a:t>
            </a:r>
            <a:r>
              <a:rPr dirty="0" sz="2400" spc="-5" b="1">
                <a:latin typeface="Times New Roman"/>
                <a:cs typeface="Times New Roman"/>
              </a:rPr>
              <a:t>Alpha </a:t>
            </a:r>
            <a:r>
              <a:rPr dirty="0" sz="2400" b="1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, where a </a:t>
            </a:r>
            <a:r>
              <a:rPr dirty="0" sz="2400" spc="-5">
                <a:latin typeface="Times New Roman"/>
                <a:cs typeface="Times New Roman"/>
              </a:rPr>
              <a:t>selected </a:t>
            </a:r>
            <a:r>
              <a:rPr dirty="0" sz="2400">
                <a:latin typeface="Times New Roman"/>
                <a:cs typeface="Times New Roman"/>
              </a:rPr>
              <a:t>group of </a:t>
            </a:r>
            <a:r>
              <a:rPr dirty="0" sz="2400" spc="-5">
                <a:latin typeface="Times New Roman"/>
                <a:cs typeface="Times New Roman"/>
              </a:rPr>
              <a:t>software </a:t>
            </a:r>
            <a:r>
              <a:rPr dirty="0" sz="2400">
                <a:latin typeface="Times New Roman"/>
                <a:cs typeface="Times New Roman"/>
              </a:rPr>
              <a:t>users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work </a:t>
            </a:r>
            <a:r>
              <a:rPr dirty="0" sz="2400">
                <a:latin typeface="Times New Roman"/>
                <a:cs typeface="Times New Roman"/>
              </a:rPr>
              <a:t>closely </a:t>
            </a:r>
            <a:r>
              <a:rPr dirty="0" sz="2400" spc="-5">
                <a:latin typeface="Times New Roman"/>
                <a:cs typeface="Times New Roman"/>
              </a:rPr>
              <a:t>with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development team </a:t>
            </a:r>
            <a:r>
              <a:rPr dirty="0" sz="2400">
                <a:latin typeface="Times New Roman"/>
                <a:cs typeface="Times New Roman"/>
              </a:rPr>
              <a:t>to test </a:t>
            </a:r>
            <a:r>
              <a:rPr dirty="0" sz="2400" spc="-5">
                <a:latin typeface="Times New Roman"/>
                <a:cs typeface="Times New Roman"/>
              </a:rPr>
              <a:t>early releases </a:t>
            </a:r>
            <a:r>
              <a:rPr dirty="0" sz="2400">
                <a:latin typeface="Times New Roman"/>
                <a:cs typeface="Times New Roman"/>
              </a:rPr>
              <a:t> 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  <a:p>
            <a:pPr algn="just" marL="431800" marR="6985" indent="-419100">
              <a:lnSpc>
                <a:spcPct val="107100"/>
              </a:lnSpc>
              <a:spcBef>
                <a:spcPts val="136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Beta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testing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release</a:t>
            </a:r>
            <a:r>
              <a:rPr dirty="0" sz="2400">
                <a:latin typeface="Times New Roman"/>
                <a:cs typeface="Times New Roman"/>
              </a:rPr>
              <a:t> 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</a:t>
            </a:r>
            <a:r>
              <a:rPr dirty="0" sz="2400">
                <a:latin typeface="Times New Roman"/>
                <a:cs typeface="Times New Roman"/>
              </a:rPr>
              <a:t> 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made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available</a:t>
            </a:r>
            <a:r>
              <a:rPr dirty="0" sz="2400">
                <a:latin typeface="Times New Roman"/>
                <a:cs typeface="Times New Roman"/>
              </a:rPr>
              <a:t> 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larger</a:t>
            </a:r>
            <a:r>
              <a:rPr dirty="0" sz="2400">
                <a:latin typeface="Times New Roman"/>
                <a:cs typeface="Times New Roman"/>
              </a:rPr>
              <a:t> group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allow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them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 spc="15">
                <a:latin typeface="Times New Roman"/>
                <a:cs typeface="Times New Roman"/>
              </a:rPr>
              <a:t>to 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experiment </a:t>
            </a:r>
            <a:r>
              <a:rPr dirty="0" sz="2400">
                <a:latin typeface="Times New Roman"/>
                <a:cs typeface="Times New Roman"/>
              </a:rPr>
              <a:t>and to raise </a:t>
            </a:r>
            <a:r>
              <a:rPr dirty="0" sz="2400" spc="-5">
                <a:latin typeface="Times New Roman"/>
                <a:cs typeface="Times New Roman"/>
              </a:rPr>
              <a:t>problems </a:t>
            </a:r>
            <a:r>
              <a:rPr dirty="0" sz="2400">
                <a:latin typeface="Times New Roman"/>
                <a:cs typeface="Times New Roman"/>
              </a:rPr>
              <a:t>that they </a:t>
            </a:r>
            <a:r>
              <a:rPr dirty="0" sz="2400" spc="-5">
                <a:latin typeface="Times New Roman"/>
                <a:cs typeface="Times New Roman"/>
              </a:rPr>
              <a:t>discover with the </a:t>
            </a:r>
            <a:r>
              <a:rPr dirty="0" sz="2400">
                <a:latin typeface="Times New Roman"/>
                <a:cs typeface="Times New Roman"/>
              </a:rPr>
              <a:t> 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developers.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ct val="107100"/>
              </a:lnSpc>
              <a:spcBef>
                <a:spcPts val="13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Acceptance</a:t>
            </a:r>
            <a:r>
              <a:rPr dirty="0" sz="2400" b="1">
                <a:latin typeface="Times New Roman"/>
                <a:cs typeface="Times New Roman"/>
              </a:rPr>
              <a:t> testing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customers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test</a:t>
            </a:r>
            <a:r>
              <a:rPr dirty="0" sz="2400">
                <a:latin typeface="Times New Roman"/>
                <a:cs typeface="Times New Roman"/>
              </a:rPr>
              <a:t> 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5">
                <a:latin typeface="Times New Roman"/>
                <a:cs typeface="Times New Roman"/>
              </a:rPr>
              <a:t>to 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decide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whether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not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it</a:t>
            </a:r>
            <a:r>
              <a:rPr dirty="0" sz="2400">
                <a:latin typeface="Times New Roman"/>
                <a:cs typeface="Times New Roman"/>
              </a:rPr>
              <a:t> 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ready 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accepted</a:t>
            </a:r>
            <a:r>
              <a:rPr dirty="0" sz="2400">
                <a:latin typeface="Times New Roman"/>
                <a:cs typeface="Times New Roman"/>
              </a:rPr>
              <a:t> from the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developers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deployed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customer environment.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1553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Types</a:t>
            </a:r>
            <a:r>
              <a:rPr dirty="0" spc="-20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/>
              <a:t>user</a:t>
            </a:r>
            <a:r>
              <a:rPr dirty="0" spc="-20"/>
              <a:t> </a:t>
            </a:r>
            <a:r>
              <a:rPr dirty="0" spc="-5"/>
              <a:t>testing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6729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 acceptance testing 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612" y="3148583"/>
            <a:ext cx="8861379" cy="15712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3627120" cy="255079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Define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acceptance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criteria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Plan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acceptance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Derive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acceptance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Run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acceptance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Negotiate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results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Reject/accept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9963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Stages</a:t>
            </a:r>
            <a:r>
              <a:rPr dirty="0" spc="-5"/>
              <a:t> in</a:t>
            </a:r>
            <a:r>
              <a:rPr dirty="0"/>
              <a:t> the </a:t>
            </a:r>
            <a:r>
              <a:rPr dirty="0" spc="-5"/>
              <a:t>acceptance testing</a:t>
            </a:r>
            <a:r>
              <a:rPr dirty="0" spc="-15"/>
              <a:t> </a:t>
            </a:r>
            <a:r>
              <a:rPr dirty="0" spc="-5"/>
              <a:t>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Oscar Nierstrasz</dc:creator>
  <dc:title>PowerPoint Presentation</dc:title>
  <dcterms:created xsi:type="dcterms:W3CDTF">2024-07-25T18:00:45Z</dcterms:created>
  <dcterms:modified xsi:type="dcterms:W3CDTF">2024-07-25T18:00:45Z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</Properties>
</file>