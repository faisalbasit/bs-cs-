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png" ContentType="image/pn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9007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9007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9007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1447800"/>
          </a:xfrm>
          <a:custGeom>
            <a:avLst/>
            <a:gdLst/>
            <a:ahLst/>
            <a:cxnLst/>
            <a:rect l="l" t="t" r="r" b="b"/>
            <a:pathLst>
              <a:path w="9144000" h="1447800">
                <a:moveTo>
                  <a:pt x="9144000" y="0"/>
                </a:moveTo>
                <a:lnTo>
                  <a:pt x="0" y="0"/>
                </a:lnTo>
                <a:lnTo>
                  <a:pt x="0" y="1447800"/>
                </a:lnTo>
                <a:lnTo>
                  <a:pt x="9144000" y="1447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438655"/>
            <a:ext cx="9144000" cy="85725"/>
          </a:xfrm>
          <a:custGeom>
            <a:avLst/>
            <a:gdLst/>
            <a:ahLst/>
            <a:cxnLst/>
            <a:rect l="l" t="t" r="r" b="b"/>
            <a:pathLst>
              <a:path w="9144000" h="85725">
                <a:moveTo>
                  <a:pt x="9144000" y="0"/>
                </a:moveTo>
                <a:lnTo>
                  <a:pt x="0" y="0"/>
                </a:lnTo>
                <a:lnTo>
                  <a:pt x="0" y="85344"/>
                </a:lnTo>
                <a:lnTo>
                  <a:pt x="9144000" y="85344"/>
                </a:lnTo>
                <a:lnTo>
                  <a:pt x="9144000" y="0"/>
                </a:lnTo>
                <a:close/>
              </a:path>
            </a:pathLst>
          </a:custGeom>
          <a:solidFill>
            <a:srgbClr val="9CBC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7100" y="486232"/>
            <a:ext cx="8089798" cy="8362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9007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8109" y="1594180"/>
            <a:ext cx="8107781" cy="3411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47800"/>
            <a:ext cx="9141460" cy="5029200"/>
            <a:chOff x="0" y="1447800"/>
            <a:chExt cx="9141460" cy="5029200"/>
          </a:xfrm>
        </p:grpSpPr>
        <p:sp>
          <p:nvSpPr>
            <p:cNvPr id="3" name="object 3"/>
            <p:cNvSpPr/>
            <p:nvPr/>
          </p:nvSpPr>
          <p:spPr>
            <a:xfrm>
              <a:off x="0" y="1447800"/>
              <a:ext cx="7315200" cy="5029200"/>
            </a:xfrm>
            <a:custGeom>
              <a:avLst/>
              <a:gdLst/>
              <a:ahLst/>
              <a:cxnLst/>
              <a:rect l="l" t="t" r="r" b="b"/>
              <a:pathLst>
                <a:path w="7315200" h="5029200">
                  <a:moveTo>
                    <a:pt x="7315200" y="0"/>
                  </a:moveTo>
                  <a:lnTo>
                    <a:pt x="0" y="0"/>
                  </a:lnTo>
                  <a:lnTo>
                    <a:pt x="0" y="5029200"/>
                  </a:lnTo>
                  <a:lnTo>
                    <a:pt x="7315200" y="5029200"/>
                  </a:lnTo>
                  <a:lnTo>
                    <a:pt x="7315200" y="0"/>
                  </a:lnTo>
                  <a:close/>
                </a:path>
              </a:pathLst>
            </a:custGeom>
            <a:solidFill>
              <a:srgbClr val="9CBC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306056" y="1447800"/>
              <a:ext cx="1835150" cy="5029200"/>
            </a:xfrm>
            <a:custGeom>
              <a:avLst/>
              <a:gdLst/>
              <a:ahLst/>
              <a:cxnLst/>
              <a:rect l="l" t="t" r="r" b="b"/>
              <a:pathLst>
                <a:path w="1835150" h="5029200">
                  <a:moveTo>
                    <a:pt x="1834896" y="0"/>
                  </a:moveTo>
                  <a:lnTo>
                    <a:pt x="0" y="0"/>
                  </a:lnTo>
                  <a:lnTo>
                    <a:pt x="0" y="5029200"/>
                  </a:lnTo>
                  <a:lnTo>
                    <a:pt x="1834896" y="5029200"/>
                  </a:lnTo>
                  <a:lnTo>
                    <a:pt x="1834896" y="0"/>
                  </a:lnTo>
                  <a:close/>
                </a:path>
              </a:pathLst>
            </a:custGeom>
            <a:solidFill>
              <a:srgbClr val="B3CC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0427" y="2843860"/>
            <a:ext cx="158559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>
                <a:solidFill>
                  <a:srgbClr val="540E85"/>
                </a:solidFill>
              </a:rPr>
              <a:t>Chapter-5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0427" y="3612641"/>
            <a:ext cx="30930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252573"/>
                </a:solidFill>
                <a:latin typeface="Times New Roman"/>
                <a:cs typeface="Times New Roman"/>
              </a:rPr>
              <a:t>Project</a:t>
            </a:r>
            <a:r>
              <a:rPr dirty="0" sz="2800" spc="-60" b="1" i="1">
                <a:solidFill>
                  <a:srgbClr val="252573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252573"/>
                </a:solidFill>
                <a:latin typeface="Times New Roman"/>
                <a:cs typeface="Times New Roman"/>
              </a:rPr>
              <a:t>Management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7228"/>
            <a:ext cx="2633980" cy="128841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53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Risk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management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Managing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people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Teamwork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3037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Topics</a:t>
            </a:r>
            <a:r>
              <a:rPr dirty="0" spc="-65"/>
              <a:t> </a:t>
            </a:r>
            <a:r>
              <a:rPr dirty="0" spc="-5"/>
              <a:t>covered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9425" cy="450723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just" marL="431800" marR="5080" indent="-419100">
              <a:lnSpc>
                <a:spcPct val="95000"/>
              </a:lnSpc>
              <a:spcBef>
                <a:spcPts val="24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Concerned with </a:t>
            </a:r>
            <a:r>
              <a:rPr dirty="0" sz="2400" spc="-5">
                <a:latin typeface="Times New Roman"/>
                <a:cs typeface="Times New Roman"/>
              </a:rPr>
              <a:t>activities involved </a:t>
            </a:r>
            <a:r>
              <a:rPr dirty="0" sz="2400">
                <a:latin typeface="Times New Roman"/>
                <a:cs typeface="Times New Roman"/>
              </a:rPr>
              <a:t>in </a:t>
            </a:r>
            <a:r>
              <a:rPr dirty="0" sz="2400" spc="-5">
                <a:latin typeface="Times New Roman"/>
                <a:cs typeface="Times New Roman"/>
              </a:rPr>
              <a:t>ensuring that software </a:t>
            </a:r>
            <a:r>
              <a:rPr dirty="0" sz="2400">
                <a:latin typeface="Times New Roman"/>
                <a:cs typeface="Times New Roman"/>
              </a:rPr>
              <a:t>is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delivered </a:t>
            </a:r>
            <a:r>
              <a:rPr dirty="0" sz="2400">
                <a:latin typeface="Times New Roman"/>
                <a:cs typeface="Times New Roman"/>
              </a:rPr>
              <a:t>on </a:t>
            </a:r>
            <a:r>
              <a:rPr dirty="0" sz="2400" spc="-10">
                <a:latin typeface="Times New Roman"/>
                <a:cs typeface="Times New Roman"/>
              </a:rPr>
              <a:t>time </a:t>
            </a:r>
            <a:r>
              <a:rPr dirty="0" sz="2400">
                <a:latin typeface="Times New Roman"/>
                <a:cs typeface="Times New Roman"/>
              </a:rPr>
              <a:t>and on schedule and in </a:t>
            </a:r>
            <a:r>
              <a:rPr dirty="0" sz="2400" spc="-5">
                <a:latin typeface="Times New Roman"/>
                <a:cs typeface="Times New Roman"/>
              </a:rPr>
              <a:t>accordance with the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requirements</a:t>
            </a:r>
            <a:r>
              <a:rPr dirty="0" sz="2400" spc="5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4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0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organisations</a:t>
            </a:r>
            <a:r>
              <a:rPr dirty="0" sz="2400" spc="49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developing</a:t>
            </a:r>
            <a:r>
              <a:rPr dirty="0" sz="2400" spc="48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4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procuring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9999"/>
              </a:buClr>
              <a:buFont typeface="Wingdings"/>
              <a:buChar char=""/>
            </a:pPr>
            <a:endParaRPr sz="3400">
              <a:latin typeface="Times New Roman"/>
              <a:cs typeface="Times New Roman"/>
            </a:endParaRPr>
          </a:p>
          <a:p>
            <a:pPr algn="just" marL="431800" marR="5715" indent="-419100">
              <a:lnSpc>
                <a:spcPts val="2740"/>
              </a:lnSpc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Project management </a:t>
            </a:r>
            <a:r>
              <a:rPr dirty="0" sz="2400">
                <a:latin typeface="Times New Roman"/>
                <a:cs typeface="Times New Roman"/>
              </a:rPr>
              <a:t>is needed </a:t>
            </a:r>
            <a:r>
              <a:rPr dirty="0" sz="2400" spc="-10">
                <a:latin typeface="Times New Roman"/>
                <a:cs typeface="Times New Roman"/>
              </a:rPr>
              <a:t>because </a:t>
            </a:r>
            <a:r>
              <a:rPr dirty="0" sz="2400">
                <a:latin typeface="Times New Roman"/>
                <a:cs typeface="Times New Roman"/>
              </a:rPr>
              <a:t>software </a:t>
            </a:r>
            <a:r>
              <a:rPr dirty="0" sz="2400" spc="-5">
                <a:latin typeface="Times New Roman"/>
                <a:cs typeface="Times New Roman"/>
              </a:rPr>
              <a:t>development </a:t>
            </a:r>
            <a:r>
              <a:rPr dirty="0" sz="2400">
                <a:latin typeface="Times New Roman"/>
                <a:cs typeface="Times New Roman"/>
              </a:rPr>
              <a:t> is</a:t>
            </a:r>
            <a:r>
              <a:rPr dirty="0" sz="2400" spc="2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always</a:t>
            </a:r>
            <a:r>
              <a:rPr dirty="0" sz="2400" spc="3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subject</a:t>
            </a:r>
            <a:r>
              <a:rPr dirty="0" sz="2400" spc="2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30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budget</a:t>
            </a:r>
            <a:r>
              <a:rPr dirty="0" sz="2400" spc="2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3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schedule</a:t>
            </a:r>
            <a:r>
              <a:rPr dirty="0" sz="2400" spc="29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constraints</a:t>
            </a:r>
            <a:r>
              <a:rPr dirty="0" sz="2400" spc="29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that</a:t>
            </a:r>
            <a:r>
              <a:rPr dirty="0" sz="2400" spc="2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set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 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organisation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developing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9999"/>
              </a:buClr>
              <a:buFont typeface="Wingdings"/>
              <a:buChar char=""/>
            </a:pPr>
            <a:endParaRPr sz="3350">
              <a:latin typeface="Times New Roman"/>
              <a:cs typeface="Times New Roman"/>
            </a:endParaRPr>
          </a:p>
          <a:p>
            <a:pPr algn="just" marL="431800" marR="6985" indent="-419100">
              <a:lnSpc>
                <a:spcPts val="2740"/>
              </a:lnSpc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project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manager’s</a:t>
            </a:r>
            <a:r>
              <a:rPr dirty="0" sz="2400">
                <a:latin typeface="Times New Roman"/>
                <a:cs typeface="Times New Roman"/>
              </a:rPr>
              <a:t> job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ensure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6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software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project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meets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overcomes</a:t>
            </a:r>
            <a:r>
              <a:rPr dirty="0" sz="2400">
                <a:latin typeface="Times New Roman"/>
                <a:cs typeface="Times New Roman"/>
              </a:rPr>
              <a:t> these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constraints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well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5">
                <a:latin typeface="Times New Roman"/>
                <a:cs typeface="Times New Roman"/>
              </a:rPr>
              <a:t>as 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delivering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high-quality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6062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Software</a:t>
            </a:r>
            <a:r>
              <a:rPr dirty="0" spc="10"/>
              <a:t> </a:t>
            </a:r>
            <a:r>
              <a:rPr dirty="0" spc="-5"/>
              <a:t>project</a:t>
            </a:r>
            <a:r>
              <a:rPr dirty="0" spc="-10"/>
              <a:t> </a:t>
            </a:r>
            <a:r>
              <a:rPr dirty="0" spc="-5"/>
              <a:t>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7228"/>
            <a:ext cx="7586980" cy="170942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53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Deliver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software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customer</a:t>
            </a:r>
            <a:r>
              <a:rPr dirty="0" sz="2400">
                <a:latin typeface="Times New Roman"/>
                <a:cs typeface="Times New Roman"/>
              </a:rPr>
              <a:t> 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agreed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Keep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overall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costs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within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budget.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Deliver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software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meets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customer’s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expectations.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3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Maintain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happy 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well-functioning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development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team.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3818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Success</a:t>
            </a:r>
            <a:r>
              <a:rPr dirty="0" spc="-60"/>
              <a:t> </a:t>
            </a:r>
            <a:r>
              <a:rPr dirty="0" spc="-5"/>
              <a:t>criteria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5448"/>
            <a:ext cx="8101330" cy="420370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just" marL="431800" indent="-419100">
              <a:lnSpc>
                <a:spcPct val="100000"/>
              </a:lnSpc>
              <a:spcBef>
                <a:spcPts val="55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product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intangible.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5715" indent="-381635">
              <a:lnSpc>
                <a:spcPts val="2280"/>
              </a:lnSpc>
              <a:spcBef>
                <a:spcPts val="55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Software cannot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seen or touched. Software project managers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cannot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see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progress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by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simply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looking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at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artifact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is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being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constructed.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09007E"/>
              </a:buClr>
              <a:buFont typeface="Arial MT"/>
              <a:buChar char="—"/>
            </a:pPr>
            <a:endParaRPr sz="27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Many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projects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'one-off'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projects.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5080" indent="-381635">
              <a:lnSpc>
                <a:spcPct val="95000"/>
              </a:lnSpc>
              <a:spcBef>
                <a:spcPts val="49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Large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software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projects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are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usually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different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some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ways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from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previous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projects.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Even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managers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who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have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lots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of</a:t>
            </a:r>
            <a:r>
              <a:rPr dirty="0" sz="2000" spc="4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previous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experience</a:t>
            </a:r>
            <a:r>
              <a:rPr dirty="0" sz="2000" spc="-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may</a:t>
            </a:r>
            <a:r>
              <a:rPr dirty="0" sz="2000" spc="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find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it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difficult</a:t>
            </a:r>
            <a:r>
              <a:rPr dirty="0" sz="2000" spc="-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anticipate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problems.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09007E"/>
              </a:buClr>
              <a:buFont typeface="Arial MT"/>
              <a:buChar char="—"/>
            </a:pPr>
            <a:endParaRPr sz="275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Software</a:t>
            </a:r>
            <a:r>
              <a:rPr dirty="0" sz="2400">
                <a:latin typeface="Times New Roman"/>
                <a:cs typeface="Times New Roman"/>
              </a:rPr>
              <a:t> processes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variable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organization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specific.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8255" indent="-381635">
              <a:lnSpc>
                <a:spcPts val="2280"/>
              </a:lnSpc>
              <a:spcBef>
                <a:spcPts val="55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still cannot reliably predict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when a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particular software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process 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is 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likely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 lead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development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problems.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526351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Software management</a:t>
            </a:r>
            <a:r>
              <a:rPr dirty="0"/>
              <a:t> distinctions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5448"/>
            <a:ext cx="8100059" cy="350266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just" marL="431800" indent="-419100">
              <a:lnSpc>
                <a:spcPct val="100000"/>
              </a:lnSpc>
              <a:spcBef>
                <a:spcPts val="55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i="1">
                <a:latin typeface="Times New Roman"/>
                <a:cs typeface="Times New Roman"/>
              </a:rPr>
              <a:t>Project</a:t>
            </a:r>
            <a:r>
              <a:rPr dirty="0" sz="2400" spc="-7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planning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6985" indent="-381635">
              <a:lnSpc>
                <a:spcPts val="2280"/>
              </a:lnSpc>
              <a:spcBef>
                <a:spcPts val="55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Project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managers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are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responsible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for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planning.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estimating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and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scheduling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project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development</a:t>
            </a:r>
            <a:r>
              <a:rPr dirty="0" sz="2000" spc="-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assigning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people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 tasks.</a:t>
            </a:r>
            <a:endParaRPr sz="20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36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i="1">
                <a:latin typeface="Times New Roman"/>
                <a:cs typeface="Times New Roman"/>
              </a:rPr>
              <a:t>Reporting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5080" indent="-381635">
              <a:lnSpc>
                <a:spcPct val="95000"/>
              </a:lnSpc>
              <a:spcBef>
                <a:spcPts val="49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Project managers are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usually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responsible for reporting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on the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progress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of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project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customers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and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the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managers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company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developing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software.</a:t>
            </a:r>
            <a:endParaRPr sz="20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41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i="1">
                <a:latin typeface="Times New Roman"/>
                <a:cs typeface="Times New Roman"/>
              </a:rPr>
              <a:t>Risk</a:t>
            </a:r>
            <a:r>
              <a:rPr dirty="0" sz="2400" spc="-35" i="1">
                <a:latin typeface="Times New Roman"/>
                <a:cs typeface="Times New Roman"/>
              </a:rPr>
              <a:t> </a:t>
            </a:r>
            <a:r>
              <a:rPr dirty="0" sz="2400" spc="-5" i="1">
                <a:latin typeface="Times New Roman"/>
                <a:cs typeface="Times New Roman"/>
              </a:rPr>
              <a:t>management</a:t>
            </a:r>
            <a:endParaRPr sz="2400">
              <a:latin typeface="Times New Roman"/>
              <a:cs typeface="Times New Roman"/>
            </a:endParaRPr>
          </a:p>
          <a:p>
            <a:pPr algn="just" lvl="1" marL="915035" indent="-445770">
              <a:lnSpc>
                <a:spcPts val="2340"/>
              </a:lnSpc>
              <a:spcBef>
                <a:spcPts val="380"/>
              </a:spcBef>
              <a:buFont typeface="Arial MT"/>
              <a:buChar char="—"/>
              <a:tabLst>
                <a:tab pos="915669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Project</a:t>
            </a:r>
            <a:r>
              <a:rPr dirty="0" sz="2000" spc="2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managers</a:t>
            </a:r>
            <a:r>
              <a:rPr dirty="0" sz="2000" spc="28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assess</a:t>
            </a:r>
            <a:r>
              <a:rPr dirty="0" sz="2000" spc="27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29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risks</a:t>
            </a:r>
            <a:r>
              <a:rPr dirty="0" sz="2000" spc="29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30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may</a:t>
            </a:r>
            <a:r>
              <a:rPr dirty="0" sz="2000" spc="29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affect</a:t>
            </a:r>
            <a:r>
              <a:rPr dirty="0" sz="2000" spc="28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28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project,</a:t>
            </a:r>
            <a:r>
              <a:rPr dirty="0" sz="2000" spc="30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monitor</a:t>
            </a:r>
            <a:endParaRPr sz="2000">
              <a:latin typeface="Times New Roman"/>
              <a:cs typeface="Times New Roman"/>
            </a:endParaRPr>
          </a:p>
          <a:p>
            <a:pPr algn="just" marL="850900">
              <a:lnSpc>
                <a:spcPts val="2340"/>
              </a:lnSpc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these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risks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take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action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when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problems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arise.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45249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activities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5448"/>
            <a:ext cx="8099425" cy="279273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just" marL="431800" indent="-419100">
              <a:lnSpc>
                <a:spcPct val="100000"/>
              </a:lnSpc>
              <a:spcBef>
                <a:spcPts val="55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i="1">
                <a:latin typeface="Times New Roman"/>
                <a:cs typeface="Times New Roman"/>
              </a:rPr>
              <a:t>People</a:t>
            </a:r>
            <a:r>
              <a:rPr dirty="0" sz="2400" spc="-50" i="1">
                <a:latin typeface="Times New Roman"/>
                <a:cs typeface="Times New Roman"/>
              </a:rPr>
              <a:t> </a:t>
            </a:r>
            <a:r>
              <a:rPr dirty="0" sz="2400" spc="-5" i="1">
                <a:latin typeface="Times New Roman"/>
                <a:cs typeface="Times New Roman"/>
              </a:rPr>
              <a:t>management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6985" indent="-381635">
              <a:lnSpc>
                <a:spcPts val="2280"/>
              </a:lnSpc>
              <a:spcBef>
                <a:spcPts val="55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Project managers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have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to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choose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people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for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their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team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establish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ways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working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leads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effective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team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performance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09007E"/>
              </a:buClr>
              <a:buFont typeface="Arial MT"/>
              <a:buChar char="—"/>
            </a:pPr>
            <a:endParaRPr sz="27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i="1">
                <a:latin typeface="Times New Roman"/>
                <a:cs typeface="Times New Roman"/>
              </a:rPr>
              <a:t>Proposal</a:t>
            </a:r>
            <a:r>
              <a:rPr dirty="0" sz="2400" spc="-5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writing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5080" indent="-381635">
              <a:lnSpc>
                <a:spcPct val="95000"/>
              </a:lnSpc>
              <a:spcBef>
                <a:spcPts val="49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first stage in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software project may involve writing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proposal 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to 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win a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contract to carry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out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an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item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 work. The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proposal describes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objectives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project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how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it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will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carried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out.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45249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Management</a:t>
            </a:r>
            <a:r>
              <a:rPr dirty="0" spc="-10"/>
              <a:t> </a:t>
            </a:r>
            <a:r>
              <a:rPr dirty="0" spc="-5"/>
              <a:t>activities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40690" indent="-419100">
              <a:lnSpc>
                <a:spcPts val="274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055" algn="l"/>
                <a:tab pos="440690" algn="l"/>
                <a:tab pos="1170940" algn="l"/>
                <a:tab pos="2894330" algn="l"/>
                <a:tab pos="3269615" algn="l"/>
                <a:tab pos="4691380" algn="l"/>
                <a:tab pos="5401945" algn="l"/>
                <a:tab pos="6907530" algn="l"/>
                <a:tab pos="7654925" algn="l"/>
              </a:tabLst>
            </a:pPr>
            <a:r>
              <a:rPr dirty="0" sz="2400"/>
              <a:t>Risk</a:t>
            </a:r>
            <a:r>
              <a:rPr dirty="0" sz="2400"/>
              <a:t>	</a:t>
            </a:r>
            <a:r>
              <a:rPr dirty="0" sz="2400" spc="-25"/>
              <a:t>m</a:t>
            </a:r>
            <a:r>
              <a:rPr dirty="0" sz="2400"/>
              <a:t>anage</a:t>
            </a:r>
            <a:r>
              <a:rPr dirty="0" sz="2400" spc="-20"/>
              <a:t>m</a:t>
            </a:r>
            <a:r>
              <a:rPr dirty="0" sz="2400"/>
              <a:t>ent</a:t>
            </a:r>
            <a:r>
              <a:rPr dirty="0" sz="2400"/>
              <a:t>	</a:t>
            </a:r>
            <a:r>
              <a:rPr dirty="0" sz="2400"/>
              <a:t>is</a:t>
            </a:r>
            <a:r>
              <a:rPr dirty="0" sz="2400"/>
              <a:t>	</a:t>
            </a:r>
            <a:r>
              <a:rPr dirty="0" sz="2400" spc="-10"/>
              <a:t>c</a:t>
            </a:r>
            <a:r>
              <a:rPr dirty="0" sz="2400"/>
              <a:t>oncer</a:t>
            </a:r>
            <a:r>
              <a:rPr dirty="0" sz="2400" spc="-10"/>
              <a:t>n</a:t>
            </a:r>
            <a:r>
              <a:rPr dirty="0" sz="2400"/>
              <a:t>ed</a:t>
            </a:r>
            <a:r>
              <a:rPr dirty="0" sz="2400"/>
              <a:t>	</a:t>
            </a:r>
            <a:r>
              <a:rPr dirty="0" sz="2400"/>
              <a:t>w</a:t>
            </a:r>
            <a:r>
              <a:rPr dirty="0" sz="2400" spc="-15"/>
              <a:t>i</a:t>
            </a:r>
            <a:r>
              <a:rPr dirty="0" sz="2400"/>
              <a:t>th</a:t>
            </a:r>
            <a:r>
              <a:rPr dirty="0" sz="2400"/>
              <a:t>	</a:t>
            </a:r>
            <a:r>
              <a:rPr dirty="0" sz="2400"/>
              <a:t>ide</a:t>
            </a:r>
            <a:r>
              <a:rPr dirty="0" sz="2400" spc="-10"/>
              <a:t>nt</a:t>
            </a:r>
            <a:r>
              <a:rPr dirty="0" sz="2400"/>
              <a:t>ify</a:t>
            </a:r>
            <a:r>
              <a:rPr dirty="0" sz="2400" spc="-15"/>
              <a:t>i</a:t>
            </a:r>
            <a:r>
              <a:rPr dirty="0" sz="2400"/>
              <a:t>ng</a:t>
            </a:r>
            <a:r>
              <a:rPr dirty="0" sz="2400"/>
              <a:t>	</a:t>
            </a:r>
            <a:r>
              <a:rPr dirty="0" sz="2400"/>
              <a:t>r</a:t>
            </a:r>
            <a:r>
              <a:rPr dirty="0" sz="2400" spc="5"/>
              <a:t>i</a:t>
            </a:r>
            <a:r>
              <a:rPr dirty="0" sz="2400"/>
              <a:t>sks</a:t>
            </a:r>
            <a:r>
              <a:rPr dirty="0" sz="2400"/>
              <a:t>	</a:t>
            </a:r>
            <a:r>
              <a:rPr dirty="0" sz="2400"/>
              <a:t>a</a:t>
            </a:r>
            <a:r>
              <a:rPr dirty="0" sz="2400" spc="-15"/>
              <a:t>n</a:t>
            </a:r>
            <a:r>
              <a:rPr dirty="0" sz="2400"/>
              <a:t>d</a:t>
            </a:r>
            <a:endParaRPr sz="2400"/>
          </a:p>
          <a:p>
            <a:pPr marL="440690">
              <a:lnSpc>
                <a:spcPts val="2740"/>
              </a:lnSpc>
            </a:pPr>
            <a:r>
              <a:rPr dirty="0" sz="2400"/>
              <a:t>drawing</a:t>
            </a:r>
            <a:r>
              <a:rPr dirty="0" sz="2400" spc="-15"/>
              <a:t> </a:t>
            </a:r>
            <a:r>
              <a:rPr dirty="0" sz="2400"/>
              <a:t>up</a:t>
            </a:r>
            <a:r>
              <a:rPr dirty="0" sz="2400" spc="-5"/>
              <a:t> </a:t>
            </a:r>
            <a:r>
              <a:rPr dirty="0" sz="2400"/>
              <a:t>plans</a:t>
            </a:r>
            <a:r>
              <a:rPr dirty="0" sz="2400" spc="-10"/>
              <a:t> </a:t>
            </a:r>
            <a:r>
              <a:rPr dirty="0" sz="2400"/>
              <a:t>to</a:t>
            </a:r>
            <a:r>
              <a:rPr dirty="0" sz="2400" spc="-15"/>
              <a:t> </a:t>
            </a:r>
            <a:r>
              <a:rPr dirty="0" sz="2400" spc="-5"/>
              <a:t>minimise</a:t>
            </a:r>
            <a:r>
              <a:rPr dirty="0" sz="2400" spc="5"/>
              <a:t> </a:t>
            </a:r>
            <a:r>
              <a:rPr dirty="0" sz="2400"/>
              <a:t>their</a:t>
            </a:r>
            <a:r>
              <a:rPr dirty="0" sz="2400" spc="-25"/>
              <a:t> </a:t>
            </a:r>
            <a:r>
              <a:rPr dirty="0" sz="2400" spc="-5"/>
              <a:t>effect </a:t>
            </a:r>
            <a:r>
              <a:rPr dirty="0" sz="2400"/>
              <a:t>on</a:t>
            </a:r>
            <a:r>
              <a:rPr dirty="0" sz="2400" spc="-5"/>
              <a:t> </a:t>
            </a:r>
            <a:r>
              <a:rPr dirty="0" sz="2400"/>
              <a:t>a</a:t>
            </a:r>
            <a:r>
              <a:rPr dirty="0" sz="2400" spc="-15"/>
              <a:t> </a:t>
            </a:r>
            <a:r>
              <a:rPr dirty="0" sz="2400"/>
              <a:t>project.</a:t>
            </a:r>
            <a:endParaRPr sz="2400"/>
          </a:p>
          <a:p>
            <a:pPr marL="8890">
              <a:lnSpc>
                <a:spcPct val="100000"/>
              </a:lnSpc>
              <a:spcBef>
                <a:spcPts val="45"/>
              </a:spcBef>
            </a:pPr>
            <a:endParaRPr sz="3250"/>
          </a:p>
          <a:p>
            <a:pPr marL="440690" marR="5080" indent="-419100">
              <a:lnSpc>
                <a:spcPts val="2590"/>
              </a:lnSpc>
              <a:spcBef>
                <a:spcPts val="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055" algn="l"/>
                <a:tab pos="440690" algn="l"/>
                <a:tab pos="792480" algn="l"/>
                <a:tab pos="1384300" algn="l"/>
                <a:tab pos="1720850" algn="l"/>
                <a:tab pos="1987550" algn="l"/>
                <a:tab pos="3455670" algn="l"/>
                <a:tab pos="4044950" algn="l"/>
                <a:tab pos="4819650" algn="l"/>
                <a:tab pos="5882005" algn="l"/>
                <a:tab pos="7621270" algn="l"/>
              </a:tabLst>
            </a:pPr>
            <a:r>
              <a:rPr dirty="0" sz="2400" spc="-5"/>
              <a:t>A</a:t>
            </a:r>
            <a:r>
              <a:rPr dirty="0" sz="2400" spc="-5"/>
              <a:t>	r</a:t>
            </a:r>
            <a:r>
              <a:rPr dirty="0" sz="2400" spc="5"/>
              <a:t>i</a:t>
            </a:r>
            <a:r>
              <a:rPr dirty="0" sz="2400" spc="-5"/>
              <a:t>sk</a:t>
            </a:r>
            <a:r>
              <a:rPr dirty="0" sz="2400"/>
              <a:t>	</a:t>
            </a:r>
            <a:r>
              <a:rPr dirty="0" sz="2400"/>
              <a:t>i</a:t>
            </a:r>
            <a:r>
              <a:rPr dirty="0" sz="2400" spc="-5"/>
              <a:t>s</a:t>
            </a:r>
            <a:r>
              <a:rPr dirty="0" sz="2400"/>
              <a:t>	a	proba</a:t>
            </a:r>
            <a:r>
              <a:rPr dirty="0" sz="2400" spc="-15"/>
              <a:t>b</a:t>
            </a:r>
            <a:r>
              <a:rPr dirty="0" sz="2400"/>
              <a:t>il</a:t>
            </a:r>
            <a:r>
              <a:rPr dirty="0" sz="2400" spc="-10"/>
              <a:t>i</a:t>
            </a:r>
            <a:r>
              <a:rPr dirty="0" sz="2400"/>
              <a:t>ty	t</a:t>
            </a:r>
            <a:r>
              <a:rPr dirty="0" sz="2400" spc="-10"/>
              <a:t>h</a:t>
            </a:r>
            <a:r>
              <a:rPr dirty="0" sz="2400"/>
              <a:t>at	so</a:t>
            </a:r>
            <a:r>
              <a:rPr dirty="0" sz="2400" spc="-20"/>
              <a:t>m</a:t>
            </a:r>
            <a:r>
              <a:rPr dirty="0" sz="2400"/>
              <a:t>e	</a:t>
            </a:r>
            <a:r>
              <a:rPr dirty="0" sz="2400" spc="-10"/>
              <a:t>a</a:t>
            </a:r>
            <a:r>
              <a:rPr dirty="0" sz="2400"/>
              <a:t>dv</a:t>
            </a:r>
            <a:r>
              <a:rPr dirty="0" sz="2400" spc="5"/>
              <a:t>e</a:t>
            </a:r>
            <a:r>
              <a:rPr dirty="0" sz="2400" spc="-5"/>
              <a:t>r</a:t>
            </a:r>
            <a:r>
              <a:rPr dirty="0" sz="2400"/>
              <a:t>s</a:t>
            </a:r>
            <a:r>
              <a:rPr dirty="0" sz="2400"/>
              <a:t>e	circ</a:t>
            </a:r>
            <a:r>
              <a:rPr dirty="0" sz="2400" spc="-10"/>
              <a:t>u</a:t>
            </a:r>
            <a:r>
              <a:rPr dirty="0" sz="2400" spc="-20"/>
              <a:t>m</a:t>
            </a:r>
            <a:r>
              <a:rPr dirty="0" sz="2400" spc="-5"/>
              <a:t>st</a:t>
            </a:r>
            <a:r>
              <a:rPr dirty="0" sz="2400"/>
              <a:t>a</a:t>
            </a:r>
            <a:r>
              <a:rPr dirty="0" sz="2400"/>
              <a:t>nce	</a:t>
            </a:r>
            <a:r>
              <a:rPr dirty="0" sz="2400" spc="-5"/>
              <a:t>w</a:t>
            </a:r>
            <a:r>
              <a:rPr dirty="0" sz="2400" spc="-20"/>
              <a:t>i</a:t>
            </a:r>
            <a:r>
              <a:rPr dirty="0" sz="2400"/>
              <a:t>ll  </a:t>
            </a:r>
            <a:r>
              <a:rPr dirty="0" sz="2400"/>
              <a:t>occur</a:t>
            </a:r>
            <a:endParaRPr sz="2400"/>
          </a:p>
          <a:p>
            <a:pPr lvl="1" marL="859790" indent="-381635">
              <a:lnSpc>
                <a:spcPct val="100000"/>
              </a:lnSpc>
              <a:spcBef>
                <a:spcPts val="220"/>
              </a:spcBef>
              <a:buFont typeface="Arial MT"/>
              <a:buChar char="—"/>
              <a:tabLst>
                <a:tab pos="86042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Project</a:t>
            </a:r>
            <a:r>
              <a:rPr dirty="0" sz="2000" spc="-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risks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affect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schedule</a:t>
            </a:r>
            <a:r>
              <a:rPr dirty="0" sz="2000" spc="-6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or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resources;</a:t>
            </a:r>
            <a:endParaRPr sz="2000">
              <a:latin typeface="Times New Roman"/>
              <a:cs typeface="Times New Roman"/>
            </a:endParaRPr>
          </a:p>
          <a:p>
            <a:pPr lvl="1" marL="859790" marR="5715" indent="-381635">
              <a:lnSpc>
                <a:spcPts val="2160"/>
              </a:lnSpc>
              <a:spcBef>
                <a:spcPts val="509"/>
              </a:spcBef>
              <a:buFont typeface="Arial MT"/>
              <a:buChar char="—"/>
              <a:tabLst>
                <a:tab pos="86042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Product</a:t>
            </a:r>
            <a:r>
              <a:rPr dirty="0" sz="2000" spc="2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risks</a:t>
            </a:r>
            <a:r>
              <a:rPr dirty="0" sz="2000" spc="229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affect</a:t>
            </a:r>
            <a:r>
              <a:rPr dirty="0" sz="2000" spc="2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2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quality</a:t>
            </a:r>
            <a:r>
              <a:rPr dirty="0" sz="2000" spc="229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or</a:t>
            </a:r>
            <a:r>
              <a:rPr dirty="0" sz="2000" spc="2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performance</a:t>
            </a:r>
            <a:r>
              <a:rPr dirty="0" sz="2000" spc="229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 spc="2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2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software</a:t>
            </a:r>
            <a:r>
              <a:rPr dirty="0" sz="2000" spc="229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being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developed;</a:t>
            </a:r>
            <a:endParaRPr sz="2000">
              <a:latin typeface="Times New Roman"/>
              <a:cs typeface="Times New Roman"/>
            </a:endParaRPr>
          </a:p>
          <a:p>
            <a:pPr lvl="1" marL="859790" marR="5080" indent="-381635">
              <a:lnSpc>
                <a:spcPts val="2160"/>
              </a:lnSpc>
              <a:spcBef>
                <a:spcPts val="480"/>
              </a:spcBef>
              <a:buFont typeface="Arial MT"/>
              <a:buChar char="—"/>
              <a:tabLst>
                <a:tab pos="860425" algn="l"/>
                <a:tab pos="1897380" algn="l"/>
                <a:tab pos="2510155" algn="l"/>
                <a:tab pos="3221990" algn="l"/>
                <a:tab pos="3667125" algn="l"/>
                <a:tab pos="5054600" algn="l"/>
                <a:tab pos="6317615" algn="l"/>
                <a:tab pos="6663690" algn="l"/>
                <a:tab pos="7785734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Busi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n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ess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r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ks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f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fect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r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gan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i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sa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i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on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deve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l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opi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n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o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r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ocur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i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ng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t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he 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software.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7590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Risk</a:t>
            </a:r>
            <a:r>
              <a:rPr dirty="0" spc="-55"/>
              <a:t> </a:t>
            </a:r>
            <a:r>
              <a:rPr dirty="0" spc="-5"/>
              <a:t>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pc="-5"/>
              <a:t>Examples</a:t>
            </a:r>
            <a:r>
              <a:rPr dirty="0"/>
              <a:t> </a:t>
            </a:r>
            <a:r>
              <a:rPr dirty="0" spc="-5"/>
              <a:t>of</a:t>
            </a:r>
            <a:r>
              <a:rPr dirty="0" spc="15"/>
              <a:t> </a:t>
            </a:r>
            <a:r>
              <a:rPr dirty="0" spc="-5"/>
              <a:t>common</a:t>
            </a:r>
            <a:r>
              <a:rPr dirty="0" spc="30"/>
              <a:t> </a:t>
            </a:r>
            <a:r>
              <a:rPr dirty="0" spc="-5"/>
              <a:t>project,</a:t>
            </a:r>
            <a:r>
              <a:rPr dirty="0" spc="5"/>
              <a:t> </a:t>
            </a:r>
            <a:r>
              <a:rPr dirty="0" spc="-5"/>
              <a:t>product,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20"/>
              <a:t> </a:t>
            </a:r>
            <a:r>
              <a:rPr dirty="0" spc="-5"/>
              <a:t>business </a:t>
            </a:r>
            <a:r>
              <a:rPr dirty="0" spc="-685"/>
              <a:t> </a:t>
            </a:r>
            <a:r>
              <a:rPr dirty="0" spc="-10"/>
              <a:t>risks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34170"/>
            <a:ext cx="8929115" cy="51811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5429"/>
            <a:ext cx="6786880" cy="298132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0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Risk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identification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6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Identify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project,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product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business</a:t>
            </a:r>
            <a:r>
              <a:rPr dirty="0" sz="2000" spc="-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risks;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7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Risk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analysis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59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Assess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likelihood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consequences</a:t>
            </a:r>
            <a:r>
              <a:rPr dirty="0" sz="2000" spc="-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these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risks;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7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Risk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planning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59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Draw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up plans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avoid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or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minimise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effects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risk;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7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Risk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monitoring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54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Monitor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risks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throughout</a:t>
            </a:r>
            <a:r>
              <a:rPr dirty="0" sz="2000" spc="-6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project;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5554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The</a:t>
            </a:r>
            <a:r>
              <a:rPr dirty="0" spc="-15"/>
              <a:t> </a:t>
            </a:r>
            <a:r>
              <a:rPr dirty="0" spc="-5"/>
              <a:t>risk</a:t>
            </a:r>
            <a:r>
              <a:rPr dirty="0" spc="-15"/>
              <a:t> </a:t>
            </a:r>
            <a:r>
              <a:rPr dirty="0" spc="-5"/>
              <a:t>management</a:t>
            </a:r>
            <a:r>
              <a:rPr dirty="0"/>
              <a:t> </a:t>
            </a:r>
            <a:r>
              <a:rPr dirty="0" spc="-5"/>
              <a:t>process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5554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The</a:t>
            </a:r>
            <a:r>
              <a:rPr dirty="0" spc="-15"/>
              <a:t> </a:t>
            </a:r>
            <a:r>
              <a:rPr dirty="0" spc="-5"/>
              <a:t>risk</a:t>
            </a:r>
            <a:r>
              <a:rPr dirty="0" spc="-15"/>
              <a:t> </a:t>
            </a:r>
            <a:r>
              <a:rPr dirty="0" spc="-5"/>
              <a:t>management</a:t>
            </a:r>
            <a:r>
              <a:rPr dirty="0"/>
              <a:t> </a:t>
            </a:r>
            <a:r>
              <a:rPr dirty="0" spc="-5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84" y="2558414"/>
            <a:ext cx="8433816" cy="2532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7520" cy="32626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0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  <a:tab pos="1118870" algn="l"/>
                <a:tab pos="1535430" algn="l"/>
                <a:tab pos="3740785" algn="l"/>
                <a:tab pos="4123054" algn="l"/>
                <a:tab pos="4944745" algn="l"/>
                <a:tab pos="5377815" algn="l"/>
                <a:tab pos="5877560" algn="l"/>
                <a:tab pos="7240270" algn="l"/>
              </a:tabLst>
            </a:pPr>
            <a:r>
              <a:rPr dirty="0" sz="2400">
                <a:latin typeface="Times New Roman"/>
                <a:cs typeface="Times New Roman"/>
              </a:rPr>
              <a:t>May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">
                <a:latin typeface="Times New Roman"/>
                <a:cs typeface="Times New Roman"/>
              </a:rPr>
              <a:t>b</a:t>
            </a:r>
            <a:r>
              <a:rPr dirty="0" sz="2400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204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eam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acti</a:t>
            </a:r>
            <a:r>
              <a:rPr dirty="0" sz="2400" spc="-15">
                <a:latin typeface="Times New Roman"/>
                <a:cs typeface="Times New Roman"/>
              </a:rPr>
              <a:t>v</a:t>
            </a:r>
            <a:r>
              <a:rPr dirty="0" sz="2400" spc="-10">
                <a:latin typeface="Times New Roman"/>
                <a:cs typeface="Times New Roman"/>
              </a:rPr>
              <a:t>iti</a:t>
            </a:r>
            <a:r>
              <a:rPr dirty="0" sz="2400">
                <a:latin typeface="Times New Roman"/>
                <a:cs typeface="Times New Roman"/>
              </a:rPr>
              <a:t>es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">
                <a:latin typeface="Times New Roman"/>
                <a:cs typeface="Times New Roman"/>
              </a:rPr>
              <a:t>o</a:t>
            </a:r>
            <a:r>
              <a:rPr dirty="0" sz="2400">
                <a:latin typeface="Times New Roman"/>
                <a:cs typeface="Times New Roman"/>
              </a:rPr>
              <a:t>r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">
                <a:latin typeface="Times New Roman"/>
                <a:cs typeface="Times New Roman"/>
              </a:rPr>
              <a:t>o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di</a:t>
            </a:r>
            <a:r>
              <a:rPr dirty="0" sz="2400">
                <a:latin typeface="Times New Roman"/>
                <a:cs typeface="Times New Roman"/>
              </a:rPr>
              <a:t>vidu</a:t>
            </a:r>
            <a:r>
              <a:rPr dirty="0" sz="2400" spc="-1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l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pr</a:t>
            </a:r>
            <a:r>
              <a:rPr dirty="0" sz="2400" spc="-10">
                <a:latin typeface="Times New Roman"/>
                <a:cs typeface="Times New Roman"/>
              </a:rPr>
              <a:t>oje</a:t>
            </a:r>
            <a:r>
              <a:rPr dirty="0" sz="2400">
                <a:latin typeface="Times New Roman"/>
                <a:cs typeface="Times New Roman"/>
              </a:rPr>
              <a:t>ct</a:t>
            </a:r>
            <a:endParaRPr sz="2400">
              <a:latin typeface="Times New Roman"/>
              <a:cs typeface="Times New Roman"/>
            </a:endParaRPr>
          </a:p>
          <a:p>
            <a:pPr marL="431800">
              <a:lnSpc>
                <a:spcPts val="2810"/>
              </a:lnSpc>
            </a:pPr>
            <a:r>
              <a:rPr dirty="0" sz="2400" spc="-5">
                <a:latin typeface="Times New Roman"/>
                <a:cs typeface="Times New Roman"/>
              </a:rPr>
              <a:t>manager’s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experience.</a:t>
            </a:r>
            <a:endParaRPr sz="2400">
              <a:latin typeface="Times New Roman"/>
              <a:cs typeface="Times New Roman"/>
            </a:endParaRPr>
          </a:p>
          <a:p>
            <a:pPr marL="431800" marR="508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checklist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common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risks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may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used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identify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risks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project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0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Technology</a:t>
            </a:r>
            <a:r>
              <a:rPr dirty="0" sz="2000" spc="-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risks.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6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People</a:t>
            </a:r>
            <a:r>
              <a:rPr dirty="0" sz="2000" spc="-5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risks.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6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Organisational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risks.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6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Requirements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risks.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6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Estimation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82130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Risk</a:t>
            </a:r>
            <a:r>
              <a:rPr dirty="0" spc="-80"/>
              <a:t> </a:t>
            </a:r>
            <a:r>
              <a:rPr dirty="0"/>
              <a:t>identification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1447800"/>
          </a:xfrm>
          <a:custGeom>
            <a:avLst/>
            <a:gdLst/>
            <a:ahLst/>
            <a:cxnLst/>
            <a:rect l="l" t="t" r="r" b="b"/>
            <a:pathLst>
              <a:path w="9144000" h="1447800">
                <a:moveTo>
                  <a:pt x="9144000" y="0"/>
                </a:moveTo>
                <a:lnTo>
                  <a:pt x="0" y="0"/>
                </a:lnTo>
                <a:lnTo>
                  <a:pt x="0" y="1447800"/>
                </a:lnTo>
                <a:lnTo>
                  <a:pt x="9144000" y="1447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B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8641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Examples</a:t>
            </a:r>
            <a:r>
              <a:rPr dirty="0" spc="-10"/>
              <a:t> </a:t>
            </a:r>
            <a:r>
              <a:rPr dirty="0" spc="-5"/>
              <a:t>of</a:t>
            </a:r>
            <a:r>
              <a:rPr dirty="0"/>
              <a:t> </a:t>
            </a:r>
            <a:r>
              <a:rPr dirty="0" spc="-5"/>
              <a:t>different</a:t>
            </a:r>
            <a:r>
              <a:rPr dirty="0" spc="5"/>
              <a:t> </a:t>
            </a:r>
            <a:r>
              <a:rPr dirty="0" spc="-5"/>
              <a:t>risk</a:t>
            </a:r>
            <a:r>
              <a:rPr dirty="0" spc="-10"/>
              <a:t> </a:t>
            </a:r>
            <a:r>
              <a:rPr dirty="0"/>
              <a:t>types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38655"/>
            <a:ext cx="9144000" cy="52044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440690" indent="-419100">
              <a:lnSpc>
                <a:spcPct val="100000"/>
              </a:lnSpc>
              <a:spcBef>
                <a:spcPts val="53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055" algn="l"/>
                <a:tab pos="440690" algn="l"/>
              </a:tabLst>
            </a:pPr>
            <a:r>
              <a:rPr dirty="0" sz="2400"/>
              <a:t>Assess</a:t>
            </a:r>
            <a:r>
              <a:rPr dirty="0" sz="2400" spc="5"/>
              <a:t> </a:t>
            </a:r>
            <a:r>
              <a:rPr dirty="0" sz="2400"/>
              <a:t>probability</a:t>
            </a:r>
            <a:r>
              <a:rPr dirty="0" sz="2400" spc="-45"/>
              <a:t> </a:t>
            </a:r>
            <a:r>
              <a:rPr dirty="0" sz="2400"/>
              <a:t>and</a:t>
            </a:r>
            <a:r>
              <a:rPr dirty="0" sz="2400" spc="-20"/>
              <a:t> </a:t>
            </a:r>
            <a:r>
              <a:rPr dirty="0" sz="2400"/>
              <a:t>seriousness</a:t>
            </a:r>
            <a:r>
              <a:rPr dirty="0" sz="2400" spc="-20"/>
              <a:t> </a:t>
            </a:r>
            <a:r>
              <a:rPr dirty="0" sz="2400" spc="-5"/>
              <a:t>of</a:t>
            </a:r>
            <a:r>
              <a:rPr dirty="0" sz="2400"/>
              <a:t> each</a:t>
            </a:r>
            <a:r>
              <a:rPr dirty="0" sz="2400" spc="-30"/>
              <a:t> </a:t>
            </a:r>
            <a:r>
              <a:rPr dirty="0" sz="2400"/>
              <a:t>risk.</a:t>
            </a:r>
            <a:endParaRPr sz="2400"/>
          </a:p>
          <a:p>
            <a:pPr marL="440690" marR="5080" indent="-419100">
              <a:lnSpc>
                <a:spcPts val="2740"/>
              </a:lnSpc>
              <a:spcBef>
                <a:spcPts val="64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055" algn="l"/>
                <a:tab pos="440690" algn="l"/>
                <a:tab pos="1941830" algn="l"/>
                <a:tab pos="2612390" algn="l"/>
                <a:tab pos="3048635" algn="l"/>
                <a:tab pos="3738879" algn="l"/>
                <a:tab pos="4420235" algn="l"/>
                <a:tab pos="5104765" algn="l"/>
                <a:tab pos="6459855" algn="l"/>
                <a:tab pos="7150100" algn="l"/>
                <a:tab pos="7552690" algn="l"/>
              </a:tabLst>
            </a:pPr>
            <a:r>
              <a:rPr dirty="0" sz="2400"/>
              <a:t>Probabi</a:t>
            </a:r>
            <a:r>
              <a:rPr dirty="0" sz="2400" spc="-10"/>
              <a:t>l</a:t>
            </a:r>
            <a:r>
              <a:rPr dirty="0" sz="2400"/>
              <a:t>ity	</a:t>
            </a:r>
            <a:r>
              <a:rPr dirty="0" sz="2400" spc="-20"/>
              <a:t>m</a:t>
            </a:r>
            <a:r>
              <a:rPr dirty="0" sz="2400"/>
              <a:t>ay	be	very	low,	low,	</a:t>
            </a:r>
            <a:r>
              <a:rPr dirty="0" sz="2400" spc="-20"/>
              <a:t>m</a:t>
            </a:r>
            <a:r>
              <a:rPr dirty="0" sz="2400"/>
              <a:t>oder</a:t>
            </a:r>
            <a:r>
              <a:rPr dirty="0" sz="2400" spc="-10"/>
              <a:t>a</a:t>
            </a:r>
            <a:r>
              <a:rPr dirty="0" sz="2400"/>
              <a:t>te,	high	or	very  </a:t>
            </a:r>
            <a:r>
              <a:rPr dirty="0" sz="2400"/>
              <a:t>high.</a:t>
            </a:r>
            <a:endParaRPr sz="2400"/>
          </a:p>
          <a:p>
            <a:pPr marL="440690" marR="7620" indent="-419100">
              <a:lnSpc>
                <a:spcPts val="2740"/>
              </a:lnSpc>
              <a:spcBef>
                <a:spcPts val="56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055" algn="l"/>
                <a:tab pos="440690" algn="l"/>
              </a:tabLst>
            </a:pPr>
            <a:r>
              <a:rPr dirty="0" sz="2400"/>
              <a:t>Risk</a:t>
            </a:r>
            <a:r>
              <a:rPr dirty="0" sz="2400" spc="105"/>
              <a:t> </a:t>
            </a:r>
            <a:r>
              <a:rPr dirty="0" sz="2400" spc="-5"/>
              <a:t>consequences</a:t>
            </a:r>
            <a:r>
              <a:rPr dirty="0" sz="2400" spc="120"/>
              <a:t> </a:t>
            </a:r>
            <a:r>
              <a:rPr dirty="0" sz="2400" spc="-10"/>
              <a:t>might</a:t>
            </a:r>
            <a:r>
              <a:rPr dirty="0" sz="2400" spc="110"/>
              <a:t> </a:t>
            </a:r>
            <a:r>
              <a:rPr dirty="0" sz="2400"/>
              <a:t>be</a:t>
            </a:r>
            <a:r>
              <a:rPr dirty="0" sz="2400" spc="95"/>
              <a:t> </a:t>
            </a:r>
            <a:r>
              <a:rPr dirty="0" sz="2400" spc="-5"/>
              <a:t>catastrophic,</a:t>
            </a:r>
            <a:r>
              <a:rPr dirty="0" sz="2400" spc="110"/>
              <a:t> </a:t>
            </a:r>
            <a:r>
              <a:rPr dirty="0" sz="2400" spc="-5"/>
              <a:t>serious,</a:t>
            </a:r>
            <a:r>
              <a:rPr dirty="0" sz="2400" spc="105"/>
              <a:t> </a:t>
            </a:r>
            <a:r>
              <a:rPr dirty="0" sz="2400" spc="-5"/>
              <a:t>tolerable</a:t>
            </a:r>
            <a:r>
              <a:rPr dirty="0" sz="2400" spc="114"/>
              <a:t> </a:t>
            </a:r>
            <a:r>
              <a:rPr dirty="0" sz="2400" spc="-20"/>
              <a:t>or </a:t>
            </a:r>
            <a:r>
              <a:rPr dirty="0" sz="2400" spc="-585"/>
              <a:t> </a:t>
            </a:r>
            <a:r>
              <a:rPr dirty="0" sz="2400"/>
              <a:t>insignificant.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0116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Risk</a:t>
            </a:r>
            <a:r>
              <a:rPr dirty="0" spc="-80"/>
              <a:t> </a:t>
            </a:r>
            <a:r>
              <a:rPr dirty="0"/>
              <a:t>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749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Risk</a:t>
            </a:r>
            <a:r>
              <a:rPr dirty="0" spc="-25"/>
              <a:t> </a:t>
            </a:r>
            <a:r>
              <a:rPr dirty="0"/>
              <a:t>types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5"/>
              <a:t>examples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92" y="1499616"/>
            <a:ext cx="897940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749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Risk</a:t>
            </a:r>
            <a:r>
              <a:rPr dirty="0" spc="-25"/>
              <a:t> </a:t>
            </a:r>
            <a:r>
              <a:rPr dirty="0"/>
              <a:t>types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5"/>
              <a:t>examples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022" y="2248155"/>
            <a:ext cx="8666769" cy="36780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7246"/>
            <a:ext cx="7997825" cy="264414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39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Consider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each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risk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develop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 strategy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manage</a:t>
            </a:r>
            <a:r>
              <a:rPr dirty="0" sz="2400">
                <a:latin typeface="Times New Roman"/>
                <a:cs typeface="Times New Roman"/>
              </a:rPr>
              <a:t> that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risk.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9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Avoidance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strategies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54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probability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will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arise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reduced;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7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Minimisation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strategies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54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impact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on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project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or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product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will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reduced;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7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Contingency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plans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54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If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arises,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contingency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plans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plans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deal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with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risk;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1507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Risk</a:t>
            </a:r>
            <a:r>
              <a:rPr dirty="0" spc="-80"/>
              <a:t> </a:t>
            </a:r>
            <a:r>
              <a:rPr dirty="0"/>
              <a:t>planning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6075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Strategies</a:t>
            </a:r>
            <a:r>
              <a:rPr dirty="0"/>
              <a:t> </a:t>
            </a:r>
            <a:r>
              <a:rPr dirty="0" spc="-5"/>
              <a:t>to</a:t>
            </a:r>
            <a:r>
              <a:rPr dirty="0"/>
              <a:t> </a:t>
            </a:r>
            <a:r>
              <a:rPr dirty="0" spc="-5"/>
              <a:t>help</a:t>
            </a:r>
            <a:r>
              <a:rPr dirty="0"/>
              <a:t> </a:t>
            </a:r>
            <a:r>
              <a:rPr dirty="0" spc="-5"/>
              <a:t>manage</a:t>
            </a:r>
            <a:r>
              <a:rPr dirty="0"/>
              <a:t> </a:t>
            </a:r>
            <a:r>
              <a:rPr dirty="0" spc="-5"/>
              <a:t>risk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548" y="1669639"/>
            <a:ext cx="8633037" cy="47229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6075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Strategies</a:t>
            </a:r>
            <a:r>
              <a:rPr dirty="0"/>
              <a:t> </a:t>
            </a:r>
            <a:r>
              <a:rPr dirty="0" spc="-5"/>
              <a:t>to</a:t>
            </a:r>
            <a:r>
              <a:rPr dirty="0"/>
              <a:t> </a:t>
            </a:r>
            <a:r>
              <a:rPr dirty="0" spc="-5"/>
              <a:t>help</a:t>
            </a:r>
            <a:r>
              <a:rPr dirty="0"/>
              <a:t> </a:t>
            </a:r>
            <a:r>
              <a:rPr dirty="0" spc="-5"/>
              <a:t>manage</a:t>
            </a:r>
            <a:r>
              <a:rPr dirty="0"/>
              <a:t> </a:t>
            </a:r>
            <a:r>
              <a:rPr dirty="0" spc="-5"/>
              <a:t>risk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765" y="2189988"/>
            <a:ext cx="8399614" cy="26929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40690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055" algn="l"/>
                <a:tab pos="440690" algn="l"/>
              </a:tabLst>
            </a:pPr>
            <a:r>
              <a:rPr dirty="0" sz="2400"/>
              <a:t>Assess</a:t>
            </a:r>
            <a:r>
              <a:rPr dirty="0" sz="2400" spc="80"/>
              <a:t> </a:t>
            </a:r>
            <a:r>
              <a:rPr dirty="0" sz="2400"/>
              <a:t>each</a:t>
            </a:r>
            <a:r>
              <a:rPr dirty="0" sz="2400" spc="60"/>
              <a:t> </a:t>
            </a:r>
            <a:r>
              <a:rPr dirty="0" sz="2400" spc="-5"/>
              <a:t>identified</a:t>
            </a:r>
            <a:r>
              <a:rPr dirty="0" sz="2400" spc="65"/>
              <a:t> </a:t>
            </a:r>
            <a:r>
              <a:rPr dirty="0" sz="2400" spc="-5"/>
              <a:t>risks</a:t>
            </a:r>
            <a:r>
              <a:rPr dirty="0" sz="2400" spc="80"/>
              <a:t> </a:t>
            </a:r>
            <a:r>
              <a:rPr dirty="0" sz="2400" spc="-5"/>
              <a:t>regularly</a:t>
            </a:r>
            <a:r>
              <a:rPr dirty="0" sz="2400" spc="70"/>
              <a:t> </a:t>
            </a:r>
            <a:r>
              <a:rPr dirty="0" sz="2400"/>
              <a:t>to</a:t>
            </a:r>
            <a:r>
              <a:rPr dirty="0" sz="2400" spc="75"/>
              <a:t> </a:t>
            </a:r>
            <a:r>
              <a:rPr dirty="0" sz="2400" spc="-5"/>
              <a:t>decide</a:t>
            </a:r>
            <a:r>
              <a:rPr dirty="0" sz="2400" spc="75"/>
              <a:t> </a:t>
            </a:r>
            <a:r>
              <a:rPr dirty="0" sz="2400" spc="-5"/>
              <a:t>whether</a:t>
            </a:r>
            <a:r>
              <a:rPr dirty="0" sz="2400" spc="80"/>
              <a:t> </a:t>
            </a:r>
            <a:r>
              <a:rPr dirty="0" sz="2400" spc="-5"/>
              <a:t>or</a:t>
            </a:r>
            <a:r>
              <a:rPr dirty="0" sz="2400" spc="80"/>
              <a:t> </a:t>
            </a:r>
            <a:r>
              <a:rPr dirty="0" sz="2400" spc="-5"/>
              <a:t>not</a:t>
            </a:r>
            <a:endParaRPr sz="2400"/>
          </a:p>
          <a:p>
            <a:pPr marL="440690">
              <a:lnSpc>
                <a:spcPts val="2810"/>
              </a:lnSpc>
            </a:pPr>
            <a:r>
              <a:rPr dirty="0" sz="2400"/>
              <a:t>it</a:t>
            </a:r>
            <a:r>
              <a:rPr dirty="0" sz="2400" spc="-30"/>
              <a:t> </a:t>
            </a:r>
            <a:r>
              <a:rPr dirty="0" sz="2400"/>
              <a:t>is</a:t>
            </a:r>
            <a:r>
              <a:rPr dirty="0" sz="2400" spc="-5"/>
              <a:t> becoming</a:t>
            </a:r>
            <a:r>
              <a:rPr dirty="0" sz="2400" spc="-20"/>
              <a:t> </a:t>
            </a:r>
            <a:r>
              <a:rPr dirty="0" sz="2400"/>
              <a:t>less</a:t>
            </a:r>
            <a:r>
              <a:rPr dirty="0" sz="2400" spc="-15"/>
              <a:t> </a:t>
            </a:r>
            <a:r>
              <a:rPr dirty="0" sz="2400"/>
              <a:t>or</a:t>
            </a:r>
            <a:r>
              <a:rPr dirty="0" sz="2400" spc="-5"/>
              <a:t> more </a:t>
            </a:r>
            <a:r>
              <a:rPr dirty="0" sz="2400"/>
              <a:t>probable.</a:t>
            </a:r>
            <a:endParaRPr sz="2400"/>
          </a:p>
          <a:p>
            <a:pPr marL="44069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055" algn="l"/>
                <a:tab pos="440690" algn="l"/>
              </a:tabLst>
            </a:pPr>
            <a:r>
              <a:rPr dirty="0" sz="2400" spc="-5"/>
              <a:t>Also</a:t>
            </a:r>
            <a:r>
              <a:rPr dirty="0" sz="2400"/>
              <a:t> </a:t>
            </a:r>
            <a:r>
              <a:rPr dirty="0" sz="2400" spc="-5"/>
              <a:t>assess</a:t>
            </a:r>
            <a:r>
              <a:rPr dirty="0" sz="2400"/>
              <a:t> whether</a:t>
            </a:r>
            <a:r>
              <a:rPr dirty="0" sz="2400" spc="-20"/>
              <a:t> </a:t>
            </a:r>
            <a:r>
              <a:rPr dirty="0" sz="2400"/>
              <a:t>the</a:t>
            </a:r>
            <a:r>
              <a:rPr dirty="0" sz="2400" spc="-5"/>
              <a:t> effects</a:t>
            </a:r>
            <a:r>
              <a:rPr dirty="0" sz="2400" spc="5"/>
              <a:t> </a:t>
            </a:r>
            <a:r>
              <a:rPr dirty="0" sz="2400"/>
              <a:t>of</a:t>
            </a:r>
            <a:r>
              <a:rPr dirty="0" sz="2400" spc="-15"/>
              <a:t> </a:t>
            </a:r>
            <a:r>
              <a:rPr dirty="0" sz="2400"/>
              <a:t>the</a:t>
            </a:r>
            <a:r>
              <a:rPr dirty="0" sz="2400" spc="-5"/>
              <a:t> </a:t>
            </a:r>
            <a:r>
              <a:rPr dirty="0" sz="2400"/>
              <a:t>risk</a:t>
            </a:r>
            <a:r>
              <a:rPr dirty="0" sz="2400" spc="-10"/>
              <a:t> </a:t>
            </a:r>
            <a:r>
              <a:rPr dirty="0" sz="2400"/>
              <a:t>have</a:t>
            </a:r>
            <a:r>
              <a:rPr dirty="0" sz="2400" spc="-15"/>
              <a:t> </a:t>
            </a:r>
            <a:r>
              <a:rPr dirty="0" sz="2400"/>
              <a:t>changed.</a:t>
            </a:r>
            <a:endParaRPr sz="2400"/>
          </a:p>
          <a:p>
            <a:pPr marL="440690" marR="8255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055" algn="l"/>
                <a:tab pos="440690" algn="l"/>
                <a:tab pos="1184275" algn="l"/>
                <a:tab pos="1757680" algn="l"/>
                <a:tab pos="2346960" algn="l"/>
                <a:tab pos="3295650" algn="l"/>
                <a:tab pos="3716020" algn="l"/>
                <a:tab pos="5017770" algn="l"/>
                <a:tab pos="5372735" algn="l"/>
                <a:tab pos="7058659" algn="l"/>
              </a:tabLst>
            </a:pPr>
            <a:r>
              <a:rPr dirty="0" sz="2400"/>
              <a:t>Each	</a:t>
            </a:r>
            <a:r>
              <a:rPr dirty="0" sz="2400" spc="-15"/>
              <a:t>k</a:t>
            </a:r>
            <a:r>
              <a:rPr dirty="0" sz="2400"/>
              <a:t>ey	r</a:t>
            </a:r>
            <a:r>
              <a:rPr dirty="0" sz="2400" spc="-15"/>
              <a:t>i</a:t>
            </a:r>
            <a:r>
              <a:rPr dirty="0" sz="2400" spc="-5"/>
              <a:t>sk</a:t>
            </a:r>
            <a:r>
              <a:rPr dirty="0" sz="2400"/>
              <a:t>	should	</a:t>
            </a:r>
            <a:r>
              <a:rPr dirty="0" sz="2400" spc="-15"/>
              <a:t>b</a:t>
            </a:r>
            <a:r>
              <a:rPr dirty="0" sz="2400"/>
              <a:t>e	</a:t>
            </a:r>
            <a:r>
              <a:rPr dirty="0" sz="2400" spc="-5"/>
              <a:t>discussed</a:t>
            </a:r>
            <a:r>
              <a:rPr dirty="0" sz="2400"/>
              <a:t>	at	</a:t>
            </a:r>
            <a:r>
              <a:rPr dirty="0" sz="2400" spc="-20"/>
              <a:t>m</a:t>
            </a:r>
            <a:r>
              <a:rPr dirty="0" sz="2400"/>
              <a:t>ana</a:t>
            </a:r>
            <a:r>
              <a:rPr dirty="0" sz="2400" spc="-10"/>
              <a:t>ge</a:t>
            </a:r>
            <a:r>
              <a:rPr dirty="0" sz="2400" spc="-20"/>
              <a:t>m</a:t>
            </a:r>
            <a:r>
              <a:rPr dirty="0" sz="2400"/>
              <a:t>ent	prog</a:t>
            </a:r>
            <a:r>
              <a:rPr dirty="0" sz="2400" spc="5"/>
              <a:t>r</a:t>
            </a:r>
            <a:r>
              <a:rPr dirty="0" sz="2400" spc="-10"/>
              <a:t>e</a:t>
            </a:r>
            <a:r>
              <a:rPr dirty="0" sz="2400" spc="-5"/>
              <a:t>ss  </a:t>
            </a:r>
            <a:r>
              <a:rPr dirty="0" sz="2400" spc="-5"/>
              <a:t>meetings.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50444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Risk</a:t>
            </a:r>
            <a:r>
              <a:rPr dirty="0" spc="-40"/>
              <a:t> </a:t>
            </a:r>
            <a:r>
              <a:rPr dirty="0" spc="-5"/>
              <a:t>monitoring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32791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Risk</a:t>
            </a:r>
            <a:r>
              <a:rPr dirty="0" spc="-80"/>
              <a:t> </a:t>
            </a:r>
            <a:r>
              <a:rPr dirty="0"/>
              <a:t>indicators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215" y="2000190"/>
            <a:ext cx="8694706" cy="358966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7228"/>
            <a:ext cx="8097520" cy="233108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algn="just" marL="431800" indent="-419100">
              <a:lnSpc>
                <a:spcPct val="100000"/>
              </a:lnSpc>
              <a:spcBef>
                <a:spcPts val="53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People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organisation’s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most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important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assets.</a:t>
            </a:r>
            <a:endParaRPr sz="2400">
              <a:latin typeface="Times New Roman"/>
              <a:cs typeface="Times New Roman"/>
            </a:endParaRPr>
          </a:p>
          <a:p>
            <a:pPr algn="just" marL="431800" marR="5080" indent="-419100">
              <a:lnSpc>
                <a:spcPts val="2740"/>
              </a:lnSpc>
              <a:spcBef>
                <a:spcPts val="64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The </a:t>
            </a:r>
            <a:r>
              <a:rPr dirty="0" sz="2400" spc="-5">
                <a:latin typeface="Times New Roman"/>
                <a:cs typeface="Times New Roman"/>
              </a:rPr>
              <a:t>tasks </a:t>
            </a:r>
            <a:r>
              <a:rPr dirty="0" sz="2400">
                <a:latin typeface="Times New Roman"/>
                <a:cs typeface="Times New Roman"/>
              </a:rPr>
              <a:t>of a </a:t>
            </a:r>
            <a:r>
              <a:rPr dirty="0" sz="2400" spc="-5">
                <a:latin typeface="Times New Roman"/>
                <a:cs typeface="Times New Roman"/>
              </a:rPr>
              <a:t>manager </a:t>
            </a:r>
            <a:r>
              <a:rPr dirty="0" sz="2400">
                <a:latin typeface="Times New Roman"/>
                <a:cs typeface="Times New Roman"/>
              </a:rPr>
              <a:t>are </a:t>
            </a:r>
            <a:r>
              <a:rPr dirty="0" sz="2400" spc="-5">
                <a:latin typeface="Times New Roman"/>
                <a:cs typeface="Times New Roman"/>
              </a:rPr>
              <a:t>essentially people-oriented. Unless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there is </a:t>
            </a:r>
            <a:r>
              <a:rPr dirty="0" sz="2400" spc="-5">
                <a:latin typeface="Times New Roman"/>
                <a:cs typeface="Times New Roman"/>
              </a:rPr>
              <a:t>some </a:t>
            </a:r>
            <a:r>
              <a:rPr dirty="0" sz="2400">
                <a:latin typeface="Times New Roman"/>
                <a:cs typeface="Times New Roman"/>
              </a:rPr>
              <a:t>understanding of people, </a:t>
            </a:r>
            <a:r>
              <a:rPr dirty="0" sz="2400" spc="-5">
                <a:latin typeface="Times New Roman"/>
                <a:cs typeface="Times New Roman"/>
              </a:rPr>
              <a:t>management will </a:t>
            </a:r>
            <a:r>
              <a:rPr dirty="0" sz="2400">
                <a:latin typeface="Times New Roman"/>
                <a:cs typeface="Times New Roman"/>
              </a:rPr>
              <a:t>be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unsuccessful.</a:t>
            </a:r>
            <a:endParaRPr sz="2400">
              <a:latin typeface="Times New Roman"/>
              <a:cs typeface="Times New Roman"/>
            </a:endParaRPr>
          </a:p>
          <a:p>
            <a:pPr algn="just" marL="431800" indent="-419100">
              <a:lnSpc>
                <a:spcPts val="2810"/>
              </a:lnSpc>
              <a:spcBef>
                <a:spcPts val="35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Poor</a:t>
            </a:r>
            <a:r>
              <a:rPr dirty="0" sz="2400" spc="103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people</a:t>
            </a:r>
            <a:r>
              <a:rPr dirty="0" sz="2400" spc="103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management</a:t>
            </a:r>
            <a:r>
              <a:rPr dirty="0" sz="2400" spc="10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10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10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important</a:t>
            </a:r>
            <a:r>
              <a:rPr dirty="0" sz="2400" spc="101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contributor</a:t>
            </a:r>
            <a:r>
              <a:rPr dirty="0" sz="2400" spc="10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  <a:p>
            <a:pPr algn="just" marL="431800">
              <a:lnSpc>
                <a:spcPts val="2810"/>
              </a:lnSpc>
            </a:pPr>
            <a:r>
              <a:rPr dirty="0" sz="2400">
                <a:latin typeface="Times New Roman"/>
                <a:cs typeface="Times New Roman"/>
              </a:rPr>
              <a:t>project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failure.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64350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Managing</a:t>
            </a:r>
            <a:r>
              <a:rPr dirty="0" spc="-100"/>
              <a:t> </a:t>
            </a:r>
            <a:r>
              <a:rPr dirty="0"/>
              <a:t>people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5429"/>
            <a:ext cx="8099425" cy="407924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0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Consistency</a:t>
            </a:r>
            <a:endParaRPr sz="2400">
              <a:latin typeface="Times New Roman"/>
              <a:cs typeface="Times New Roman"/>
            </a:endParaRPr>
          </a:p>
          <a:p>
            <a:pPr lvl="1" marL="850900" marR="5080" indent="-381635">
              <a:lnSpc>
                <a:spcPts val="2160"/>
              </a:lnSpc>
              <a:spcBef>
                <a:spcPts val="53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Team</a:t>
            </a:r>
            <a:r>
              <a:rPr dirty="0" sz="2000" spc="4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members</a:t>
            </a:r>
            <a:r>
              <a:rPr dirty="0" sz="2000" spc="4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should</a:t>
            </a:r>
            <a:r>
              <a:rPr dirty="0" sz="2000" spc="4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all</a:t>
            </a:r>
            <a:r>
              <a:rPr dirty="0" sz="2000" spc="409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4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treated</a:t>
            </a:r>
            <a:r>
              <a:rPr dirty="0" sz="2000" spc="4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</a:t>
            </a:r>
            <a:r>
              <a:rPr dirty="0" sz="2000" spc="43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4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comparable</a:t>
            </a:r>
            <a:r>
              <a:rPr dirty="0" sz="2000" spc="4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way</a:t>
            </a:r>
            <a:r>
              <a:rPr dirty="0" sz="2000" spc="43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without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favourites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or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discrimination.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Respect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ts val="2280"/>
              </a:lnSpc>
              <a:spcBef>
                <a:spcPts val="259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Different</a:t>
            </a:r>
            <a:r>
              <a:rPr dirty="0" sz="2000" spc="47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team</a:t>
            </a:r>
            <a:r>
              <a:rPr dirty="0" sz="2000" spc="45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members</a:t>
            </a:r>
            <a:r>
              <a:rPr dirty="0" sz="2000" spc="48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have</a:t>
            </a:r>
            <a:r>
              <a:rPr dirty="0" sz="2000" spc="47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different</a:t>
            </a:r>
            <a:r>
              <a:rPr dirty="0" sz="2000" spc="47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skills</a:t>
            </a:r>
            <a:r>
              <a:rPr dirty="0" sz="2000" spc="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48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these</a:t>
            </a:r>
            <a:r>
              <a:rPr dirty="0" sz="2000" spc="4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differences</a:t>
            </a:r>
            <a:endParaRPr sz="2000">
              <a:latin typeface="Times New Roman"/>
              <a:cs typeface="Times New Roman"/>
            </a:endParaRPr>
          </a:p>
          <a:p>
            <a:pPr marL="850900">
              <a:lnSpc>
                <a:spcPts val="2280"/>
              </a:lnSpc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should</a:t>
            </a:r>
            <a:r>
              <a:rPr dirty="0" sz="2000" spc="-5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respected.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7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Inclusion</a:t>
            </a:r>
            <a:endParaRPr sz="2400">
              <a:latin typeface="Times New Roman"/>
              <a:cs typeface="Times New Roman"/>
            </a:endParaRPr>
          </a:p>
          <a:p>
            <a:pPr lvl="1" marL="850900" marR="5080" indent="-381635">
              <a:lnSpc>
                <a:spcPts val="2160"/>
              </a:lnSpc>
              <a:spcBef>
                <a:spcPts val="530"/>
              </a:spcBef>
              <a:buFont typeface="Arial MT"/>
              <a:buChar char="—"/>
              <a:tabLst>
                <a:tab pos="851535" algn="l"/>
                <a:tab pos="1757680" algn="l"/>
                <a:tab pos="2139950" algn="l"/>
                <a:tab pos="2762250" algn="l"/>
                <a:tab pos="3821429" algn="l"/>
                <a:tab pos="4319905" algn="l"/>
                <a:tab pos="4999990" algn="l"/>
                <a:tab pos="5553075" algn="l"/>
                <a:tab pos="6063615" algn="l"/>
                <a:tab pos="7052945" algn="l"/>
                <a:tab pos="777557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In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v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l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ve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l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l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am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m</a:t>
            </a:r>
            <a:r>
              <a:rPr dirty="0" sz="2000" spc="10">
                <a:solidFill>
                  <a:srgbClr val="09007E"/>
                </a:solidFill>
                <a:latin typeface="Times New Roman"/>
                <a:cs typeface="Times New Roman"/>
              </a:rPr>
              <a:t>e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m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b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r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m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ake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ure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opl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’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v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i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ews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are 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considered.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Honesty</a:t>
            </a:r>
            <a:endParaRPr sz="2400">
              <a:latin typeface="Times New Roman"/>
              <a:cs typeface="Times New Roman"/>
            </a:endParaRPr>
          </a:p>
          <a:p>
            <a:pPr lvl="1" marL="850900" marR="5080" indent="-381635">
              <a:lnSpc>
                <a:spcPts val="2160"/>
              </a:lnSpc>
              <a:spcBef>
                <a:spcPts val="53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You</a:t>
            </a:r>
            <a:r>
              <a:rPr dirty="0" sz="2000" spc="3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should</a:t>
            </a:r>
            <a:r>
              <a:rPr dirty="0" sz="2000" spc="3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always</a:t>
            </a:r>
            <a:r>
              <a:rPr dirty="0" sz="2000" spc="3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30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honest</a:t>
            </a:r>
            <a:r>
              <a:rPr dirty="0" sz="2000" spc="3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about</a:t>
            </a:r>
            <a:r>
              <a:rPr dirty="0" sz="2000" spc="3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what</a:t>
            </a:r>
            <a:r>
              <a:rPr dirty="0" sz="2000" spc="3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is</a:t>
            </a:r>
            <a:r>
              <a:rPr dirty="0" sz="2000" spc="3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going</a:t>
            </a:r>
            <a:r>
              <a:rPr dirty="0" sz="2000" spc="3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well</a:t>
            </a:r>
            <a:r>
              <a:rPr dirty="0" sz="2000" spc="3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3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what</a:t>
            </a:r>
            <a:r>
              <a:rPr dirty="0" sz="2000" spc="3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is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going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badly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project.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21195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People</a:t>
            </a:r>
            <a:r>
              <a:rPr dirty="0" spc="-25"/>
              <a:t> </a:t>
            </a:r>
            <a:r>
              <a:rPr dirty="0" spc="-5"/>
              <a:t>management</a:t>
            </a:r>
            <a:r>
              <a:rPr dirty="0" spc="-15"/>
              <a:t> </a:t>
            </a:r>
            <a:r>
              <a:rPr dirty="0"/>
              <a:t>factors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94180"/>
            <a:ext cx="8098155" cy="4076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31800" indent="-419100">
              <a:lnSpc>
                <a:spcPts val="274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An</a:t>
            </a:r>
            <a:r>
              <a:rPr dirty="0" sz="2400" spc="57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important</a:t>
            </a:r>
            <a:r>
              <a:rPr dirty="0" sz="2400" spc="57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role</a:t>
            </a:r>
            <a:r>
              <a:rPr dirty="0" sz="2400" spc="5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of</a:t>
            </a:r>
            <a:r>
              <a:rPr dirty="0" sz="2400" spc="5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5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manager</a:t>
            </a:r>
            <a:r>
              <a:rPr dirty="0" sz="2400" spc="5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5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5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motivate</a:t>
            </a:r>
            <a:r>
              <a:rPr dirty="0" sz="2400" spc="5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5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people</a:t>
            </a:r>
            <a:endParaRPr sz="2400">
              <a:latin typeface="Times New Roman"/>
              <a:cs typeface="Times New Roman"/>
            </a:endParaRPr>
          </a:p>
          <a:p>
            <a:pPr algn="just" marL="431800">
              <a:lnSpc>
                <a:spcPts val="2740"/>
              </a:lnSpc>
            </a:pPr>
            <a:r>
              <a:rPr dirty="0" sz="2400" spc="-5">
                <a:latin typeface="Times New Roman"/>
                <a:cs typeface="Times New Roman"/>
              </a:rPr>
              <a:t>working on 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project.</a:t>
            </a:r>
            <a:endParaRPr sz="2400">
              <a:latin typeface="Times New Roman"/>
              <a:cs typeface="Times New Roman"/>
            </a:endParaRPr>
          </a:p>
          <a:p>
            <a:pPr algn="just" marL="431800" marR="5715" indent="-419100">
              <a:lnSpc>
                <a:spcPts val="2590"/>
              </a:lnSpc>
              <a:spcBef>
                <a:spcPts val="61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Motivation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means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organizing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work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working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environment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 encourage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people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work effectively.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5715" indent="-381635">
              <a:lnSpc>
                <a:spcPts val="2160"/>
              </a:lnSpc>
              <a:spcBef>
                <a:spcPts val="49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If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people are not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motivated, they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will not be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interested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in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 work they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doing. They will work slowly,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more likely to make mistakes and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will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not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contribute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broader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goals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team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or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organization.</a:t>
            </a:r>
            <a:endParaRPr sz="2000">
              <a:latin typeface="Times New Roman"/>
              <a:cs typeface="Times New Roman"/>
            </a:endParaRPr>
          </a:p>
          <a:p>
            <a:pPr algn="just" marL="431800" marR="5080" indent="-419100">
              <a:lnSpc>
                <a:spcPts val="2590"/>
              </a:lnSpc>
              <a:spcBef>
                <a:spcPts val="57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Motivation </a:t>
            </a:r>
            <a:r>
              <a:rPr dirty="0" sz="2400">
                <a:latin typeface="Times New Roman"/>
                <a:cs typeface="Times New Roman"/>
              </a:rPr>
              <a:t>is a </a:t>
            </a:r>
            <a:r>
              <a:rPr dirty="0" sz="2400" spc="-5">
                <a:latin typeface="Times New Roman"/>
                <a:cs typeface="Times New Roman"/>
              </a:rPr>
              <a:t>complex </a:t>
            </a:r>
            <a:r>
              <a:rPr dirty="0" sz="2400">
                <a:latin typeface="Times New Roman"/>
                <a:cs typeface="Times New Roman"/>
              </a:rPr>
              <a:t>issue </a:t>
            </a:r>
            <a:r>
              <a:rPr dirty="0" sz="2400" spc="-5">
                <a:latin typeface="Times New Roman"/>
                <a:cs typeface="Times New Roman"/>
              </a:rPr>
              <a:t>but it appears </a:t>
            </a:r>
            <a:r>
              <a:rPr dirty="0" sz="2400">
                <a:latin typeface="Times New Roman"/>
                <a:cs typeface="Times New Roman"/>
              </a:rPr>
              <a:t>that their are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different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types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 </a:t>
            </a:r>
            <a:r>
              <a:rPr dirty="0" sz="2400" spc="-5">
                <a:latin typeface="Times New Roman"/>
                <a:cs typeface="Times New Roman"/>
              </a:rPr>
              <a:t>motivation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on: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2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Basic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needs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(e.g.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food,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sleep,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etc.);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4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Personal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needs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(e.g.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respect,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self-esteem);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4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Social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needs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(e.g.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accepted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part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group).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7800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Motivating</a:t>
            </a:r>
            <a:r>
              <a:rPr dirty="0" spc="-110"/>
              <a:t> </a:t>
            </a:r>
            <a:r>
              <a:rPr dirty="0"/>
              <a:t>people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94180"/>
            <a:ext cx="8098155" cy="394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0" indent="-419100">
              <a:lnSpc>
                <a:spcPts val="274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  <a:tab pos="880110" algn="l"/>
                <a:tab pos="2123440" algn="l"/>
                <a:tab pos="3890010" algn="l"/>
                <a:tab pos="4990465" algn="l"/>
                <a:tab pos="5810885" algn="l"/>
                <a:tab pos="7646034" algn="l"/>
              </a:tabLst>
            </a:pP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so</a:t>
            </a:r>
            <a:r>
              <a:rPr dirty="0" sz="2400" spc="-10">
                <a:latin typeface="Times New Roman"/>
                <a:cs typeface="Times New Roman"/>
              </a:rPr>
              <a:t>f</a:t>
            </a:r>
            <a:r>
              <a:rPr dirty="0" sz="2400">
                <a:latin typeface="Times New Roman"/>
                <a:cs typeface="Times New Roman"/>
              </a:rPr>
              <a:t>tware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develop</a:t>
            </a:r>
            <a:r>
              <a:rPr dirty="0" sz="2400" spc="-20">
                <a:latin typeface="Times New Roman"/>
                <a:cs typeface="Times New Roman"/>
              </a:rPr>
              <a:t>m</a:t>
            </a:r>
            <a:r>
              <a:rPr dirty="0" sz="2400" spc="-10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nt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groups,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basic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phys</a:t>
            </a:r>
            <a:r>
              <a:rPr dirty="0" sz="2400" spc="-10">
                <a:latin typeface="Times New Roman"/>
                <a:cs typeface="Times New Roman"/>
              </a:rPr>
              <a:t>i</a:t>
            </a:r>
            <a:r>
              <a:rPr dirty="0" sz="2400">
                <a:latin typeface="Times New Roman"/>
                <a:cs typeface="Times New Roman"/>
              </a:rPr>
              <a:t>olo</a:t>
            </a:r>
            <a:r>
              <a:rPr dirty="0" sz="2400" spc="-15">
                <a:latin typeface="Times New Roman"/>
                <a:cs typeface="Times New Roman"/>
              </a:rPr>
              <a:t>g</a:t>
            </a:r>
            <a:r>
              <a:rPr dirty="0" sz="2400">
                <a:latin typeface="Times New Roman"/>
                <a:cs typeface="Times New Roman"/>
              </a:rPr>
              <a:t>ical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n</a:t>
            </a:r>
            <a:r>
              <a:rPr dirty="0" sz="240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431800">
              <a:lnSpc>
                <a:spcPts val="2740"/>
              </a:lnSpc>
            </a:pPr>
            <a:r>
              <a:rPr dirty="0" sz="2400" spc="-5">
                <a:latin typeface="Times New Roman"/>
                <a:cs typeface="Times New Roman"/>
              </a:rPr>
              <a:t>safety needs are not an</a:t>
            </a:r>
            <a:r>
              <a:rPr dirty="0" sz="2400">
                <a:latin typeface="Times New Roman"/>
                <a:cs typeface="Times New Roman"/>
              </a:rPr>
              <a:t> issue.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9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Social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54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Provide</a:t>
            </a:r>
            <a:r>
              <a:rPr dirty="0" sz="2000" spc="-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communal facilities;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4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Allow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informal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communications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e.g.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via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social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networking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7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Esteem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54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Recognition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achievements;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4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Appropriate</a:t>
            </a:r>
            <a:r>
              <a:rPr dirty="0" sz="2000" spc="-6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rewards.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7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Self-realization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59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-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people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want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learn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more;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4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Responsibility.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6047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Need</a:t>
            </a:r>
            <a:r>
              <a:rPr dirty="0" spc="-75"/>
              <a:t> </a:t>
            </a:r>
            <a:r>
              <a:rPr dirty="0"/>
              <a:t>satisfaction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000" y="1681098"/>
            <a:ext cx="7717790" cy="418528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just" marL="48895" marR="5080" indent="2540">
              <a:lnSpc>
                <a:spcPct val="96600"/>
              </a:lnSpc>
              <a:spcBef>
                <a:spcPts val="170"/>
              </a:spcBef>
            </a:pPr>
            <a:r>
              <a:rPr dirty="0" sz="1800" spc="-5">
                <a:latin typeface="Arial MT"/>
                <a:cs typeface="Arial MT"/>
              </a:rPr>
              <a:t>Alice is a software project manager working in a company </a:t>
            </a:r>
            <a:r>
              <a:rPr dirty="0" sz="1800">
                <a:latin typeface="Arial MT"/>
                <a:cs typeface="Arial MT"/>
              </a:rPr>
              <a:t>that </a:t>
            </a:r>
            <a:r>
              <a:rPr dirty="0" sz="1800" spc="-5">
                <a:latin typeface="Arial MT"/>
                <a:cs typeface="Arial MT"/>
              </a:rPr>
              <a:t>develops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alarm</a:t>
            </a:r>
            <a:r>
              <a:rPr dirty="0" sz="1800">
                <a:latin typeface="Arial MT"/>
                <a:cs typeface="Arial MT"/>
              </a:rPr>
              <a:t> systems.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This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company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wishes</a:t>
            </a:r>
            <a:r>
              <a:rPr dirty="0" sz="1800">
                <a:latin typeface="Arial MT"/>
                <a:cs typeface="Arial MT"/>
              </a:rPr>
              <a:t> 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enter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growing</a:t>
            </a:r>
            <a:r>
              <a:rPr dirty="0" sz="1800">
                <a:latin typeface="Arial MT"/>
                <a:cs typeface="Arial MT"/>
              </a:rPr>
              <a:t> market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assistive technology </a:t>
            </a:r>
            <a:r>
              <a:rPr dirty="0" sz="1800">
                <a:latin typeface="Arial MT"/>
                <a:cs typeface="Arial MT"/>
              </a:rPr>
              <a:t>to </a:t>
            </a:r>
            <a:r>
              <a:rPr dirty="0" sz="1800" spc="-5">
                <a:latin typeface="Arial MT"/>
                <a:cs typeface="Arial MT"/>
              </a:rPr>
              <a:t>help </a:t>
            </a:r>
            <a:r>
              <a:rPr dirty="0" sz="1800">
                <a:latin typeface="Arial MT"/>
                <a:cs typeface="Arial MT"/>
              </a:rPr>
              <a:t>elderly </a:t>
            </a:r>
            <a:r>
              <a:rPr dirty="0" sz="1800" spc="-5">
                <a:latin typeface="Arial MT"/>
                <a:cs typeface="Arial MT"/>
              </a:rPr>
              <a:t>and disabled people </a:t>
            </a:r>
            <a:r>
              <a:rPr dirty="0" sz="1800">
                <a:latin typeface="Arial MT"/>
                <a:cs typeface="Arial MT"/>
              </a:rPr>
              <a:t>live </a:t>
            </a:r>
            <a:r>
              <a:rPr dirty="0" sz="1800" spc="-5">
                <a:latin typeface="Arial MT"/>
                <a:cs typeface="Arial MT"/>
              </a:rPr>
              <a:t>independently.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Alice </a:t>
            </a:r>
            <a:r>
              <a:rPr dirty="0" sz="1800" spc="-10">
                <a:latin typeface="Arial MT"/>
                <a:cs typeface="Arial MT"/>
              </a:rPr>
              <a:t>has </a:t>
            </a:r>
            <a:r>
              <a:rPr dirty="0" sz="1800" spc="-5">
                <a:latin typeface="Arial MT"/>
                <a:cs typeface="Arial MT"/>
              </a:rPr>
              <a:t>been asked </a:t>
            </a:r>
            <a:r>
              <a:rPr dirty="0" sz="1800">
                <a:latin typeface="Arial MT"/>
                <a:cs typeface="Arial MT"/>
              </a:rPr>
              <a:t>to </a:t>
            </a:r>
            <a:r>
              <a:rPr dirty="0" sz="1800" spc="-10">
                <a:latin typeface="Arial MT"/>
                <a:cs typeface="Arial MT"/>
              </a:rPr>
              <a:t>lead </a:t>
            </a:r>
            <a:r>
              <a:rPr dirty="0" sz="1800">
                <a:latin typeface="Arial MT"/>
                <a:cs typeface="Arial MT"/>
              </a:rPr>
              <a:t>a </a:t>
            </a:r>
            <a:r>
              <a:rPr dirty="0" sz="1800" spc="-5">
                <a:latin typeface="Arial MT"/>
                <a:cs typeface="Arial MT"/>
              </a:rPr>
              <a:t>team of </a:t>
            </a:r>
            <a:r>
              <a:rPr dirty="0" sz="1800">
                <a:latin typeface="Arial MT"/>
                <a:cs typeface="Arial MT"/>
              </a:rPr>
              <a:t>6 </a:t>
            </a:r>
            <a:r>
              <a:rPr dirty="0" sz="1800" spc="-5">
                <a:latin typeface="Arial MT"/>
                <a:cs typeface="Arial MT"/>
              </a:rPr>
              <a:t>developers than can develop </a:t>
            </a:r>
            <a:r>
              <a:rPr dirty="0" sz="1800">
                <a:latin typeface="Arial MT"/>
                <a:cs typeface="Arial MT"/>
              </a:rPr>
              <a:t>new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products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based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around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">
                <a:latin typeface="Arial MT"/>
                <a:cs typeface="Arial MT"/>
              </a:rPr>
              <a:t> company’s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alarm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technology.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50">
              <a:latin typeface="Arial MT"/>
              <a:cs typeface="Arial MT"/>
            </a:endParaRPr>
          </a:p>
          <a:p>
            <a:pPr algn="just" marL="48895" marR="6985" indent="-36830">
              <a:lnSpc>
                <a:spcPts val="2050"/>
              </a:lnSpc>
              <a:spcBef>
                <a:spcPts val="5"/>
              </a:spcBef>
            </a:pPr>
            <a:r>
              <a:rPr dirty="0" sz="1800" spc="-5">
                <a:latin typeface="Arial MT"/>
                <a:cs typeface="Arial MT"/>
              </a:rPr>
              <a:t>Alice’s </a:t>
            </a:r>
            <a:r>
              <a:rPr dirty="0" sz="1800">
                <a:latin typeface="Arial MT"/>
                <a:cs typeface="Arial MT"/>
              </a:rPr>
              <a:t>assistive </a:t>
            </a:r>
            <a:r>
              <a:rPr dirty="0" sz="1800" spc="-5">
                <a:latin typeface="Arial MT"/>
                <a:cs typeface="Arial MT"/>
              </a:rPr>
              <a:t>technology project </a:t>
            </a:r>
            <a:r>
              <a:rPr dirty="0" sz="1800">
                <a:latin typeface="Arial MT"/>
                <a:cs typeface="Arial MT"/>
              </a:rPr>
              <a:t>starts </a:t>
            </a:r>
            <a:r>
              <a:rPr dirty="0" sz="1800" spc="-10">
                <a:latin typeface="Arial MT"/>
                <a:cs typeface="Arial MT"/>
              </a:rPr>
              <a:t>well. </a:t>
            </a:r>
            <a:r>
              <a:rPr dirty="0" sz="1800" spc="-5">
                <a:latin typeface="Arial MT"/>
                <a:cs typeface="Arial MT"/>
              </a:rPr>
              <a:t>Good working relationships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develop </a:t>
            </a:r>
            <a:r>
              <a:rPr dirty="0" sz="1800" spc="-10">
                <a:latin typeface="Arial MT"/>
                <a:cs typeface="Arial MT"/>
              </a:rPr>
              <a:t>within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-5">
                <a:latin typeface="Arial MT"/>
                <a:cs typeface="Arial MT"/>
              </a:rPr>
              <a:t>team and creative </a:t>
            </a:r>
            <a:r>
              <a:rPr dirty="0" sz="1800">
                <a:latin typeface="Arial MT"/>
                <a:cs typeface="Arial MT"/>
              </a:rPr>
              <a:t>new </a:t>
            </a:r>
            <a:r>
              <a:rPr dirty="0" sz="1800" spc="-5">
                <a:latin typeface="Arial MT"/>
                <a:cs typeface="Arial MT"/>
              </a:rPr>
              <a:t>ideas are developed.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-5">
                <a:latin typeface="Arial MT"/>
                <a:cs typeface="Arial MT"/>
              </a:rPr>
              <a:t>team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decides</a:t>
            </a:r>
            <a:r>
              <a:rPr dirty="0" sz="1800">
                <a:latin typeface="Arial MT"/>
                <a:cs typeface="Arial MT"/>
              </a:rPr>
              <a:t> 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develop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peer-to-peer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messaging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system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using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digital </a:t>
            </a:r>
            <a:r>
              <a:rPr dirty="0" sz="1800" spc="-49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televisions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linked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alarm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network</a:t>
            </a:r>
            <a:r>
              <a:rPr dirty="0" sz="1800" spc="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 </a:t>
            </a:r>
            <a:r>
              <a:rPr dirty="0" sz="1800" spc="-5">
                <a:latin typeface="Arial MT"/>
                <a:cs typeface="Arial MT"/>
              </a:rPr>
              <a:t>communications.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Arial MT"/>
              <a:cs typeface="Arial MT"/>
            </a:endParaRPr>
          </a:p>
          <a:p>
            <a:pPr algn="just" marL="48895" marR="6985" indent="27305">
              <a:lnSpc>
                <a:spcPts val="2050"/>
              </a:lnSpc>
            </a:pPr>
            <a:r>
              <a:rPr dirty="0" sz="1800" spc="-5">
                <a:latin typeface="Arial MT"/>
                <a:cs typeface="Arial MT"/>
              </a:rPr>
              <a:t>However,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some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months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into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project,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Alice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notices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that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Dorothy,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hardware </a:t>
            </a:r>
            <a:r>
              <a:rPr dirty="0" sz="1800">
                <a:latin typeface="Arial MT"/>
                <a:cs typeface="Arial MT"/>
              </a:rPr>
              <a:t>design </a:t>
            </a:r>
            <a:r>
              <a:rPr dirty="0" sz="1800" spc="-5">
                <a:latin typeface="Arial MT"/>
                <a:cs typeface="Arial MT"/>
              </a:rPr>
              <a:t>expert, </a:t>
            </a:r>
            <a:r>
              <a:rPr dirty="0" sz="1800">
                <a:latin typeface="Arial MT"/>
                <a:cs typeface="Arial MT"/>
              </a:rPr>
              <a:t>starts </a:t>
            </a:r>
            <a:r>
              <a:rPr dirty="0" sz="1800" spc="-5">
                <a:latin typeface="Arial MT"/>
                <a:cs typeface="Arial MT"/>
              </a:rPr>
              <a:t>coming into work late,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-5">
                <a:latin typeface="Arial MT"/>
                <a:cs typeface="Arial MT"/>
              </a:rPr>
              <a:t>quality of </a:t>
            </a:r>
            <a:r>
              <a:rPr dirty="0" sz="1800">
                <a:latin typeface="Arial MT"/>
                <a:cs typeface="Arial MT"/>
              </a:rPr>
              <a:t>her </a:t>
            </a:r>
            <a:r>
              <a:rPr dirty="0" sz="1800" spc="-10">
                <a:latin typeface="Arial MT"/>
                <a:cs typeface="Arial MT"/>
              </a:rPr>
              <a:t>work </a:t>
            </a:r>
            <a:r>
              <a:rPr dirty="0" sz="1800" spc="-49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deteriorates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and,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increasingly,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that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she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does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not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appear</a:t>
            </a:r>
            <a:r>
              <a:rPr dirty="0" sz="1800">
                <a:latin typeface="Arial MT"/>
                <a:cs typeface="Arial MT"/>
              </a:rPr>
              <a:t> 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be </a:t>
            </a:r>
            <a:r>
              <a:rPr dirty="0" sz="1800" spc="-5">
                <a:latin typeface="Arial MT"/>
                <a:cs typeface="Arial MT"/>
              </a:rPr>
              <a:t> communicating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5">
                <a:latin typeface="Arial MT"/>
                <a:cs typeface="Arial MT"/>
              </a:rPr>
              <a:t>with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other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members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team.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58464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Individual</a:t>
            </a:r>
            <a:r>
              <a:rPr dirty="0" spc="-40"/>
              <a:t> </a:t>
            </a:r>
            <a:r>
              <a:rPr dirty="0"/>
              <a:t>motivation</a:t>
            </a:r>
            <a:r>
              <a:rPr dirty="0" spc="-10"/>
              <a:t> </a:t>
            </a:r>
            <a:r>
              <a:rPr dirty="0" spc="-5"/>
              <a:t>–CASE</a:t>
            </a:r>
            <a:r>
              <a:rPr dirty="0" spc="-15"/>
              <a:t> </a:t>
            </a:r>
            <a:r>
              <a:rPr dirty="0" spc="-5"/>
              <a:t>STUDY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200" y="1692021"/>
            <a:ext cx="7680325" cy="4706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just" marL="12700" marR="6985" indent="2540">
              <a:lnSpc>
                <a:spcPct val="97100"/>
              </a:lnSpc>
              <a:spcBef>
                <a:spcPts val="160"/>
              </a:spcBef>
            </a:pPr>
            <a:r>
              <a:rPr dirty="0" sz="1800" spc="-5">
                <a:latin typeface="Arial MT"/>
                <a:cs typeface="Arial MT"/>
              </a:rPr>
              <a:t>Alice </a:t>
            </a:r>
            <a:r>
              <a:rPr dirty="0" sz="1800">
                <a:latin typeface="Arial MT"/>
                <a:cs typeface="Arial MT"/>
              </a:rPr>
              <a:t>talks </a:t>
            </a:r>
            <a:r>
              <a:rPr dirty="0" sz="1800" spc="-5">
                <a:latin typeface="Arial MT"/>
                <a:cs typeface="Arial MT"/>
              </a:rPr>
              <a:t>about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-5">
                <a:latin typeface="Arial MT"/>
                <a:cs typeface="Arial MT"/>
              </a:rPr>
              <a:t>problem informally with other </a:t>
            </a:r>
            <a:r>
              <a:rPr dirty="0" sz="1800">
                <a:latin typeface="Arial MT"/>
                <a:cs typeface="Arial MT"/>
              </a:rPr>
              <a:t>team </a:t>
            </a:r>
            <a:r>
              <a:rPr dirty="0" sz="1800" spc="-5">
                <a:latin typeface="Arial MT"/>
                <a:cs typeface="Arial MT"/>
              </a:rPr>
              <a:t>members </a:t>
            </a:r>
            <a:r>
              <a:rPr dirty="0" sz="1800">
                <a:latin typeface="Arial MT"/>
                <a:cs typeface="Arial MT"/>
              </a:rPr>
              <a:t>to try to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find out if Dorothy’s personal circumstances </a:t>
            </a:r>
            <a:r>
              <a:rPr dirty="0" sz="1800">
                <a:latin typeface="Arial MT"/>
                <a:cs typeface="Arial MT"/>
              </a:rPr>
              <a:t>have </a:t>
            </a:r>
            <a:r>
              <a:rPr dirty="0" sz="1800" spc="-5">
                <a:latin typeface="Arial MT"/>
                <a:cs typeface="Arial MT"/>
              </a:rPr>
              <a:t>changed, and if </a:t>
            </a:r>
            <a:r>
              <a:rPr dirty="0" sz="1800">
                <a:latin typeface="Arial MT"/>
                <a:cs typeface="Arial MT"/>
              </a:rPr>
              <a:t>this might </a:t>
            </a:r>
            <a:r>
              <a:rPr dirty="0" sz="1800" spc="-49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be affecting her work. </a:t>
            </a:r>
            <a:r>
              <a:rPr dirty="0" sz="1800">
                <a:latin typeface="Arial MT"/>
                <a:cs typeface="Arial MT"/>
              </a:rPr>
              <a:t>They </a:t>
            </a:r>
            <a:r>
              <a:rPr dirty="0" sz="1800" spc="-5">
                <a:latin typeface="Arial MT"/>
                <a:cs typeface="Arial MT"/>
              </a:rPr>
              <a:t>don’t </a:t>
            </a:r>
            <a:r>
              <a:rPr dirty="0" sz="1800">
                <a:latin typeface="Arial MT"/>
                <a:cs typeface="Arial MT"/>
              </a:rPr>
              <a:t>know </a:t>
            </a:r>
            <a:r>
              <a:rPr dirty="0" sz="1800" spc="-5">
                <a:latin typeface="Arial MT"/>
                <a:cs typeface="Arial MT"/>
              </a:rPr>
              <a:t>of anything, so Alice decides </a:t>
            </a:r>
            <a:r>
              <a:rPr dirty="0" sz="1800">
                <a:latin typeface="Arial MT"/>
                <a:cs typeface="Arial MT"/>
              </a:rPr>
              <a:t>to talk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5">
                <a:latin typeface="Arial MT"/>
                <a:cs typeface="Arial MT"/>
              </a:rPr>
              <a:t>with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Dorothy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to </a:t>
            </a:r>
            <a:r>
              <a:rPr dirty="0" sz="1800">
                <a:latin typeface="Arial MT"/>
                <a:cs typeface="Arial MT"/>
              </a:rPr>
              <a:t>try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5">
                <a:latin typeface="Arial MT"/>
                <a:cs typeface="Arial MT"/>
              </a:rPr>
              <a:t> understand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">
                <a:latin typeface="Arial MT"/>
                <a:cs typeface="Arial MT"/>
              </a:rPr>
              <a:t> problem.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Arial MT"/>
              <a:cs typeface="Arial MT"/>
            </a:endParaRPr>
          </a:p>
          <a:p>
            <a:pPr algn="just" marL="12700" marR="5080" indent="27305">
              <a:lnSpc>
                <a:spcPct val="95000"/>
              </a:lnSpc>
            </a:pPr>
            <a:r>
              <a:rPr dirty="0" sz="1800" spc="-5">
                <a:latin typeface="Arial MT"/>
                <a:cs typeface="Arial MT"/>
              </a:rPr>
              <a:t>After </a:t>
            </a:r>
            <a:r>
              <a:rPr dirty="0" sz="1800" spc="-10">
                <a:latin typeface="Arial MT"/>
                <a:cs typeface="Arial MT"/>
              </a:rPr>
              <a:t>some </a:t>
            </a:r>
            <a:r>
              <a:rPr dirty="0" sz="1800" spc="-5">
                <a:latin typeface="Arial MT"/>
                <a:cs typeface="Arial MT"/>
              </a:rPr>
              <a:t>initial denials that there is a problem, </a:t>
            </a:r>
            <a:r>
              <a:rPr dirty="0" sz="1800">
                <a:latin typeface="Arial MT"/>
                <a:cs typeface="Arial MT"/>
              </a:rPr>
              <a:t>Dorothy </a:t>
            </a:r>
            <a:r>
              <a:rPr dirty="0" sz="1800" spc="-5">
                <a:latin typeface="Arial MT"/>
                <a:cs typeface="Arial MT"/>
              </a:rPr>
              <a:t>admits that she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has </a:t>
            </a:r>
            <a:r>
              <a:rPr dirty="0" sz="1800" spc="-5">
                <a:latin typeface="Arial MT"/>
                <a:cs typeface="Arial MT"/>
              </a:rPr>
              <a:t>lost interest in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-5">
                <a:latin typeface="Arial MT"/>
                <a:cs typeface="Arial MT"/>
              </a:rPr>
              <a:t>job. </a:t>
            </a:r>
            <a:r>
              <a:rPr dirty="0" sz="1800">
                <a:latin typeface="Arial MT"/>
                <a:cs typeface="Arial MT"/>
              </a:rPr>
              <a:t>She </a:t>
            </a:r>
            <a:r>
              <a:rPr dirty="0" sz="1800" spc="-5">
                <a:latin typeface="Arial MT"/>
                <a:cs typeface="Arial MT"/>
              </a:rPr>
              <a:t>expected </a:t>
            </a:r>
            <a:r>
              <a:rPr dirty="0" sz="1800">
                <a:latin typeface="Arial MT"/>
                <a:cs typeface="Arial MT"/>
              </a:rPr>
              <a:t>that </a:t>
            </a:r>
            <a:r>
              <a:rPr dirty="0" sz="1800" spc="-5">
                <a:latin typeface="Arial MT"/>
                <a:cs typeface="Arial MT"/>
              </a:rPr>
              <a:t>she </a:t>
            </a:r>
            <a:r>
              <a:rPr dirty="0" sz="1800" spc="-10">
                <a:latin typeface="Arial MT"/>
                <a:cs typeface="Arial MT"/>
              </a:rPr>
              <a:t>would </a:t>
            </a:r>
            <a:r>
              <a:rPr dirty="0" sz="1800">
                <a:latin typeface="Arial MT"/>
                <a:cs typeface="Arial MT"/>
              </a:rPr>
              <a:t>be </a:t>
            </a:r>
            <a:r>
              <a:rPr dirty="0" sz="1800" spc="-5">
                <a:latin typeface="Arial MT"/>
                <a:cs typeface="Arial MT"/>
              </a:rPr>
              <a:t>able </a:t>
            </a:r>
            <a:r>
              <a:rPr dirty="0" sz="1800">
                <a:latin typeface="Arial MT"/>
                <a:cs typeface="Arial MT"/>
              </a:rPr>
              <a:t>to </a:t>
            </a:r>
            <a:r>
              <a:rPr dirty="0" sz="1800" spc="-5">
                <a:latin typeface="Arial MT"/>
                <a:cs typeface="Arial MT"/>
              </a:rPr>
              <a:t>develop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and use her hardware interfacing skills. However, because of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-5">
                <a:latin typeface="Arial MT"/>
                <a:cs typeface="Arial MT"/>
              </a:rPr>
              <a:t>product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direction that </a:t>
            </a:r>
            <a:r>
              <a:rPr dirty="0" sz="1800">
                <a:latin typeface="Arial MT"/>
                <a:cs typeface="Arial MT"/>
              </a:rPr>
              <a:t>has </a:t>
            </a:r>
            <a:r>
              <a:rPr dirty="0" sz="1800" spc="-5">
                <a:latin typeface="Arial MT"/>
                <a:cs typeface="Arial MT"/>
              </a:rPr>
              <a:t>been </a:t>
            </a:r>
            <a:r>
              <a:rPr dirty="0" sz="1800">
                <a:latin typeface="Arial MT"/>
                <a:cs typeface="Arial MT"/>
              </a:rPr>
              <a:t>chosen, </a:t>
            </a:r>
            <a:r>
              <a:rPr dirty="0" sz="1800" spc="-5">
                <a:latin typeface="Arial MT"/>
                <a:cs typeface="Arial MT"/>
              </a:rPr>
              <a:t>she </a:t>
            </a:r>
            <a:r>
              <a:rPr dirty="0" sz="1800">
                <a:latin typeface="Arial MT"/>
                <a:cs typeface="Arial MT"/>
              </a:rPr>
              <a:t>has </a:t>
            </a:r>
            <a:r>
              <a:rPr dirty="0" sz="1800" spc="-5">
                <a:latin typeface="Arial MT"/>
                <a:cs typeface="Arial MT"/>
              </a:rPr>
              <a:t>little opportunity </a:t>
            </a:r>
            <a:r>
              <a:rPr dirty="0" sz="1800">
                <a:latin typeface="Arial MT"/>
                <a:cs typeface="Arial MT"/>
              </a:rPr>
              <a:t>for </a:t>
            </a:r>
            <a:r>
              <a:rPr dirty="0" sz="1800" spc="-5">
                <a:latin typeface="Arial MT"/>
                <a:cs typeface="Arial MT"/>
              </a:rPr>
              <a:t>this. Basically,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she is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working</a:t>
            </a:r>
            <a:r>
              <a:rPr dirty="0" sz="1800" spc="5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 C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programmer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5">
                <a:latin typeface="Arial MT"/>
                <a:cs typeface="Arial MT"/>
              </a:rPr>
              <a:t>with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other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team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members.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Arial MT"/>
              <a:cs typeface="Arial MT"/>
            </a:endParaRPr>
          </a:p>
          <a:p>
            <a:pPr algn="just" marL="12700" marR="5080" indent="27305">
              <a:lnSpc>
                <a:spcPct val="95000"/>
              </a:lnSpc>
            </a:pPr>
            <a:r>
              <a:rPr dirty="0" sz="1800" spc="-5">
                <a:latin typeface="Arial MT"/>
                <a:cs typeface="Arial MT"/>
              </a:rPr>
              <a:t>Although she admits that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-10">
                <a:latin typeface="Arial MT"/>
                <a:cs typeface="Arial MT"/>
              </a:rPr>
              <a:t>work </a:t>
            </a:r>
            <a:r>
              <a:rPr dirty="0" sz="1800" spc="-5">
                <a:latin typeface="Arial MT"/>
                <a:cs typeface="Arial MT"/>
              </a:rPr>
              <a:t>is challenging, she is concerned </a:t>
            </a:r>
            <a:r>
              <a:rPr dirty="0" sz="1800">
                <a:latin typeface="Arial MT"/>
                <a:cs typeface="Arial MT"/>
              </a:rPr>
              <a:t>that she </a:t>
            </a:r>
            <a:r>
              <a:rPr dirty="0" sz="1800" spc="-49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is not developing her interfacing skills. She </a:t>
            </a:r>
            <a:r>
              <a:rPr dirty="0" sz="1800">
                <a:latin typeface="Arial MT"/>
                <a:cs typeface="Arial MT"/>
              </a:rPr>
              <a:t>is </a:t>
            </a:r>
            <a:r>
              <a:rPr dirty="0" sz="1800" spc="-5">
                <a:latin typeface="Arial MT"/>
                <a:cs typeface="Arial MT"/>
              </a:rPr>
              <a:t>worried that finding a job </a:t>
            </a:r>
            <a:r>
              <a:rPr dirty="0" sz="1800">
                <a:latin typeface="Arial MT"/>
                <a:cs typeface="Arial MT"/>
              </a:rPr>
              <a:t>that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involves hardware interfacing will be difficult </a:t>
            </a:r>
            <a:r>
              <a:rPr dirty="0" sz="1800">
                <a:latin typeface="Arial MT"/>
                <a:cs typeface="Arial MT"/>
              </a:rPr>
              <a:t>after this project. </a:t>
            </a:r>
            <a:r>
              <a:rPr dirty="0" sz="1800" spc="-5">
                <a:latin typeface="Arial MT"/>
                <a:cs typeface="Arial MT"/>
              </a:rPr>
              <a:t>Because </a:t>
            </a:r>
            <a:r>
              <a:rPr dirty="0" sz="1800">
                <a:latin typeface="Arial MT"/>
                <a:cs typeface="Arial MT"/>
              </a:rPr>
              <a:t>she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does </a:t>
            </a:r>
            <a:r>
              <a:rPr dirty="0" sz="1800">
                <a:latin typeface="Arial MT"/>
                <a:cs typeface="Arial MT"/>
              </a:rPr>
              <a:t>not </a:t>
            </a:r>
            <a:r>
              <a:rPr dirty="0" sz="1800" spc="-10">
                <a:latin typeface="Arial MT"/>
                <a:cs typeface="Arial MT"/>
              </a:rPr>
              <a:t>want </a:t>
            </a:r>
            <a:r>
              <a:rPr dirty="0" sz="1800">
                <a:latin typeface="Arial MT"/>
                <a:cs typeface="Arial MT"/>
              </a:rPr>
              <a:t>to </a:t>
            </a:r>
            <a:r>
              <a:rPr dirty="0" sz="1800" spc="-5">
                <a:latin typeface="Arial MT"/>
                <a:cs typeface="Arial MT"/>
              </a:rPr>
              <a:t>upset the </a:t>
            </a:r>
            <a:r>
              <a:rPr dirty="0" sz="1800">
                <a:latin typeface="Arial MT"/>
                <a:cs typeface="Arial MT"/>
              </a:rPr>
              <a:t>team by </a:t>
            </a:r>
            <a:r>
              <a:rPr dirty="0" sz="1800" spc="-5">
                <a:latin typeface="Arial MT"/>
                <a:cs typeface="Arial MT"/>
              </a:rPr>
              <a:t>revealing that she is thinking about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next project, she has decided that it is </a:t>
            </a:r>
            <a:r>
              <a:rPr dirty="0" sz="1800" spc="-10">
                <a:latin typeface="Arial MT"/>
                <a:cs typeface="Arial MT"/>
              </a:rPr>
              <a:t>best </a:t>
            </a:r>
            <a:r>
              <a:rPr dirty="0" sz="1800">
                <a:latin typeface="Arial MT"/>
                <a:cs typeface="Arial MT"/>
              </a:rPr>
              <a:t>to </a:t>
            </a:r>
            <a:r>
              <a:rPr dirty="0" sz="1800" spc="-5">
                <a:latin typeface="Arial MT"/>
                <a:cs typeface="Arial MT"/>
              </a:rPr>
              <a:t>minimize conversation </a:t>
            </a:r>
            <a:r>
              <a:rPr dirty="0" sz="1800" spc="-10">
                <a:latin typeface="Arial MT"/>
                <a:cs typeface="Arial MT"/>
              </a:rPr>
              <a:t>with </a:t>
            </a:r>
            <a:r>
              <a:rPr dirty="0" sz="1800" spc="-5">
                <a:latin typeface="Arial MT"/>
                <a:cs typeface="Arial MT"/>
              </a:rPr>
              <a:t> them.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58464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Individual</a:t>
            </a:r>
            <a:r>
              <a:rPr dirty="0" spc="-40"/>
              <a:t> </a:t>
            </a:r>
            <a:r>
              <a:rPr dirty="0"/>
              <a:t>motivation</a:t>
            </a:r>
            <a:r>
              <a:rPr dirty="0" spc="-10"/>
              <a:t> </a:t>
            </a:r>
            <a:r>
              <a:rPr dirty="0" spc="-5"/>
              <a:t>–CASE</a:t>
            </a:r>
            <a:r>
              <a:rPr dirty="0" spc="-15"/>
              <a:t> </a:t>
            </a:r>
            <a:r>
              <a:rPr dirty="0" spc="-5"/>
              <a:t>STUDY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5448"/>
            <a:ext cx="8099425" cy="321310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just" marL="431800" indent="-419100">
              <a:lnSpc>
                <a:spcPct val="100000"/>
              </a:lnSpc>
              <a:spcBef>
                <a:spcPts val="55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Task-oriented.</a:t>
            </a:r>
            <a:endParaRPr sz="2400">
              <a:latin typeface="Times New Roman"/>
              <a:cs typeface="Times New Roman"/>
            </a:endParaRPr>
          </a:p>
          <a:p>
            <a:pPr algn="just" lvl="1" marL="850900" indent="-381635">
              <a:lnSpc>
                <a:spcPct val="100000"/>
              </a:lnSpc>
              <a:spcBef>
                <a:spcPts val="38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motivation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for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doing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work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is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work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itself;</a:t>
            </a:r>
            <a:endParaRPr sz="20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41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Self-oriented.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5080" indent="-381635">
              <a:lnSpc>
                <a:spcPts val="2280"/>
              </a:lnSpc>
              <a:spcBef>
                <a:spcPts val="55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work is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means to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an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end which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is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 achievement of individual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goals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-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e.g.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get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rich,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play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tennis,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travel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etc.;</a:t>
            </a:r>
            <a:endParaRPr sz="20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36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Interaction-oriented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6985" indent="-381635">
              <a:lnSpc>
                <a:spcPts val="2280"/>
              </a:lnSpc>
              <a:spcBef>
                <a:spcPts val="55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50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principal</a:t>
            </a:r>
            <a:r>
              <a:rPr dirty="0" sz="2000" spc="4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motivation</a:t>
            </a:r>
            <a:r>
              <a:rPr dirty="0" sz="2000" spc="4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is</a:t>
            </a:r>
            <a:r>
              <a:rPr dirty="0" sz="2000" spc="4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4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presence</a:t>
            </a:r>
            <a:r>
              <a:rPr dirty="0" sz="2000" spc="4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4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actions</a:t>
            </a:r>
            <a:r>
              <a:rPr dirty="0" sz="2000" spc="50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of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co-workers.</a:t>
            </a:r>
            <a:r>
              <a:rPr dirty="0" sz="2000" spc="4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People</a:t>
            </a:r>
            <a:r>
              <a:rPr dirty="0" sz="2000" spc="4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go</a:t>
            </a:r>
            <a:r>
              <a:rPr dirty="0" sz="2000" spc="50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work</a:t>
            </a:r>
            <a:r>
              <a:rPr dirty="0" sz="2000" spc="4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because  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they</a:t>
            </a:r>
            <a:r>
              <a:rPr dirty="0" sz="2000" spc="98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like</a:t>
            </a:r>
            <a:r>
              <a:rPr dirty="0" sz="2000" spc="98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98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go</a:t>
            </a:r>
            <a:r>
              <a:rPr dirty="0" sz="2000" spc="98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work.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6212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Personality</a:t>
            </a:r>
            <a:r>
              <a:rPr dirty="0" spc="-65"/>
              <a:t> </a:t>
            </a:r>
            <a:r>
              <a:rPr dirty="0"/>
              <a:t>types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16967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Individual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0258" y="1612468"/>
            <a:ext cx="604393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0705" algn="l"/>
                <a:tab pos="2585085" algn="l"/>
                <a:tab pos="3626485" algn="l"/>
                <a:tab pos="4313555" algn="l"/>
                <a:tab pos="4949190" algn="l"/>
              </a:tabLst>
            </a:pPr>
            <a:r>
              <a:rPr dirty="0" sz="2400" spc="-25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otiva</a:t>
            </a:r>
            <a:r>
              <a:rPr dirty="0" sz="2400" spc="-15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 spc="-10">
                <a:latin typeface="Times New Roman"/>
                <a:cs typeface="Times New Roman"/>
              </a:rPr>
              <a:t>o</a:t>
            </a:r>
            <a:r>
              <a:rPr dirty="0" sz="2400">
                <a:latin typeface="Times New Roman"/>
                <a:cs typeface="Times New Roman"/>
              </a:rPr>
              <a:t>ns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ade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">
                <a:latin typeface="Times New Roman"/>
                <a:cs typeface="Times New Roman"/>
              </a:rPr>
              <a:t>u</a:t>
            </a:r>
            <a:r>
              <a:rPr dirty="0" sz="2400">
                <a:latin typeface="Times New Roman"/>
                <a:cs typeface="Times New Roman"/>
              </a:rPr>
              <a:t>p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">
                <a:latin typeface="Times New Roman"/>
                <a:cs typeface="Times New Roman"/>
              </a:rPr>
              <a:t>o</a:t>
            </a:r>
            <a:r>
              <a:rPr dirty="0" sz="2400">
                <a:latin typeface="Times New Roman"/>
                <a:cs typeface="Times New Roman"/>
              </a:rPr>
              <a:t>f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ele</a:t>
            </a:r>
            <a:r>
              <a:rPr dirty="0" sz="2400" spc="-30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ents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78892" rIns="0" bIns="0" rtlCol="0" vert="horz">
            <a:spAutoFit/>
          </a:bodyPr>
          <a:lstStyle/>
          <a:p>
            <a:pPr marL="440690">
              <a:lnSpc>
                <a:spcPct val="100000"/>
              </a:lnSpc>
              <a:spcBef>
                <a:spcPts val="530"/>
              </a:spcBef>
            </a:pPr>
            <a:r>
              <a:rPr dirty="0" sz="2400"/>
              <a:t>of</a:t>
            </a:r>
            <a:r>
              <a:rPr dirty="0" sz="2400" spc="-25"/>
              <a:t> </a:t>
            </a:r>
            <a:r>
              <a:rPr dirty="0" sz="2400"/>
              <a:t>each</a:t>
            </a:r>
            <a:r>
              <a:rPr dirty="0" sz="2400" spc="-55"/>
              <a:t> </a:t>
            </a:r>
            <a:r>
              <a:rPr dirty="0" sz="2400"/>
              <a:t>class.</a:t>
            </a:r>
            <a:endParaRPr sz="2400"/>
          </a:p>
          <a:p>
            <a:pPr marL="440690" marR="635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055" algn="l"/>
                <a:tab pos="440690" algn="l"/>
                <a:tab pos="1308100" algn="l"/>
                <a:tab pos="2630805" algn="l"/>
                <a:tab pos="3444875" algn="l"/>
                <a:tab pos="4702175" algn="l"/>
                <a:tab pos="6363335" algn="l"/>
                <a:tab pos="7060565" algn="l"/>
              </a:tabLst>
            </a:pPr>
            <a:r>
              <a:rPr dirty="0" sz="2400"/>
              <a:t>The	b</a:t>
            </a:r>
            <a:r>
              <a:rPr dirty="0" sz="2400" spc="-10"/>
              <a:t>a</a:t>
            </a:r>
            <a:r>
              <a:rPr dirty="0" sz="2400"/>
              <a:t>lance	</a:t>
            </a:r>
            <a:r>
              <a:rPr dirty="0" sz="2400" spc="-10"/>
              <a:t>c</a:t>
            </a:r>
            <a:r>
              <a:rPr dirty="0" sz="2400"/>
              <a:t>an	change	</a:t>
            </a:r>
            <a:r>
              <a:rPr dirty="0" sz="2400" spc="-15"/>
              <a:t>d</a:t>
            </a:r>
            <a:r>
              <a:rPr dirty="0" sz="2400" spc="-10"/>
              <a:t>e</a:t>
            </a:r>
            <a:r>
              <a:rPr dirty="0" sz="2400"/>
              <a:t>pending	</a:t>
            </a:r>
            <a:r>
              <a:rPr dirty="0" sz="2400" spc="-15"/>
              <a:t>o</a:t>
            </a:r>
            <a:r>
              <a:rPr dirty="0" sz="2400"/>
              <a:t>n	person</a:t>
            </a:r>
            <a:r>
              <a:rPr dirty="0" sz="2400" spc="-10"/>
              <a:t>a</a:t>
            </a:r>
            <a:r>
              <a:rPr dirty="0" sz="2400"/>
              <a:t>l  </a:t>
            </a:r>
            <a:r>
              <a:rPr dirty="0" sz="2400" spc="-5"/>
              <a:t>circumstances</a:t>
            </a:r>
            <a:r>
              <a:rPr dirty="0" sz="2400" spc="-25"/>
              <a:t> </a:t>
            </a:r>
            <a:r>
              <a:rPr dirty="0" sz="2400"/>
              <a:t>and external</a:t>
            </a:r>
            <a:r>
              <a:rPr dirty="0" sz="2400" spc="-35"/>
              <a:t> </a:t>
            </a:r>
            <a:r>
              <a:rPr dirty="0" sz="2400"/>
              <a:t>events.</a:t>
            </a:r>
            <a:endParaRPr sz="2400"/>
          </a:p>
          <a:p>
            <a:pPr marL="440690" indent="-419100">
              <a:lnSpc>
                <a:spcPts val="2810"/>
              </a:lnSpc>
              <a:spcBef>
                <a:spcPts val="36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055" algn="l"/>
                <a:tab pos="440690" algn="l"/>
                <a:tab pos="1767839" algn="l"/>
                <a:tab pos="2712720" algn="l"/>
                <a:tab pos="3217545" algn="l"/>
                <a:tab pos="3740150" algn="l"/>
                <a:tab pos="4313555" algn="l"/>
                <a:tab pos="5662295" algn="l"/>
                <a:tab pos="6099810" algn="l"/>
                <a:tab pos="7267575" algn="l"/>
              </a:tabLst>
            </a:pPr>
            <a:r>
              <a:rPr dirty="0" sz="2400"/>
              <a:t>However,</a:t>
            </a:r>
            <a:r>
              <a:rPr dirty="0" sz="2400"/>
              <a:t>	</a:t>
            </a:r>
            <a:r>
              <a:rPr dirty="0" sz="2400"/>
              <a:t>peop</a:t>
            </a:r>
            <a:r>
              <a:rPr dirty="0" sz="2400" spc="-10"/>
              <a:t>l</a:t>
            </a:r>
            <a:r>
              <a:rPr dirty="0" sz="2400"/>
              <a:t>e</a:t>
            </a:r>
            <a:r>
              <a:rPr dirty="0" sz="2400"/>
              <a:t>	</a:t>
            </a:r>
            <a:r>
              <a:rPr dirty="0" sz="2400"/>
              <a:t>are</a:t>
            </a:r>
            <a:r>
              <a:rPr dirty="0" sz="2400"/>
              <a:t>	</a:t>
            </a:r>
            <a:r>
              <a:rPr dirty="0" sz="2400" spc="-5"/>
              <a:t>no</a:t>
            </a:r>
            <a:r>
              <a:rPr dirty="0" sz="2400"/>
              <a:t>t</a:t>
            </a:r>
            <a:r>
              <a:rPr dirty="0" sz="2400"/>
              <a:t>	</a:t>
            </a:r>
            <a:r>
              <a:rPr dirty="0" sz="2400"/>
              <a:t>ju</a:t>
            </a:r>
            <a:r>
              <a:rPr dirty="0" sz="2400" spc="-10"/>
              <a:t>s</a:t>
            </a:r>
            <a:r>
              <a:rPr dirty="0" sz="2400"/>
              <a:t>t</a:t>
            </a:r>
            <a:r>
              <a:rPr dirty="0" sz="2400"/>
              <a:t>	</a:t>
            </a:r>
            <a:r>
              <a:rPr dirty="0" sz="2400" spc="-25"/>
              <a:t>m</a:t>
            </a:r>
            <a:r>
              <a:rPr dirty="0" sz="2400"/>
              <a:t>otiva</a:t>
            </a:r>
            <a:r>
              <a:rPr dirty="0" sz="2400" spc="-15"/>
              <a:t>t</a:t>
            </a:r>
            <a:r>
              <a:rPr dirty="0" sz="2400"/>
              <a:t>ed</a:t>
            </a:r>
            <a:r>
              <a:rPr dirty="0" sz="2400"/>
              <a:t>	</a:t>
            </a:r>
            <a:r>
              <a:rPr dirty="0" sz="2400" spc="-5"/>
              <a:t>b</a:t>
            </a:r>
            <a:r>
              <a:rPr dirty="0" sz="2400"/>
              <a:t>y</a:t>
            </a:r>
            <a:r>
              <a:rPr dirty="0" sz="2400"/>
              <a:t>	</a:t>
            </a:r>
            <a:r>
              <a:rPr dirty="0" sz="2400"/>
              <a:t>personal</a:t>
            </a:r>
            <a:r>
              <a:rPr dirty="0" sz="2400"/>
              <a:t>	</a:t>
            </a:r>
            <a:r>
              <a:rPr dirty="0" sz="2400" spc="-10"/>
              <a:t>f</a:t>
            </a:r>
            <a:r>
              <a:rPr dirty="0" sz="2400"/>
              <a:t>a</a:t>
            </a:r>
            <a:r>
              <a:rPr dirty="0" sz="2400" spc="-10"/>
              <a:t>c</a:t>
            </a:r>
            <a:r>
              <a:rPr dirty="0" sz="2400"/>
              <a:t>t</a:t>
            </a:r>
            <a:r>
              <a:rPr dirty="0" sz="2400" spc="-10"/>
              <a:t>o</a:t>
            </a:r>
            <a:r>
              <a:rPr dirty="0" sz="2400"/>
              <a:t>rs</a:t>
            </a:r>
            <a:endParaRPr sz="2400"/>
          </a:p>
          <a:p>
            <a:pPr marL="440690">
              <a:lnSpc>
                <a:spcPts val="2810"/>
              </a:lnSpc>
            </a:pPr>
            <a:r>
              <a:rPr dirty="0" sz="2400"/>
              <a:t>but</a:t>
            </a:r>
            <a:r>
              <a:rPr dirty="0" sz="2400" spc="-15"/>
              <a:t> </a:t>
            </a:r>
            <a:r>
              <a:rPr dirty="0" sz="2400"/>
              <a:t>also</a:t>
            </a:r>
            <a:r>
              <a:rPr dirty="0" sz="2400" spc="-20"/>
              <a:t> </a:t>
            </a:r>
            <a:r>
              <a:rPr dirty="0" sz="2400"/>
              <a:t>by</a:t>
            </a:r>
            <a:r>
              <a:rPr dirty="0" sz="2400" spc="-5"/>
              <a:t> </a:t>
            </a:r>
            <a:r>
              <a:rPr dirty="0" sz="2400"/>
              <a:t>being</a:t>
            </a:r>
            <a:r>
              <a:rPr dirty="0" sz="2400" spc="-15"/>
              <a:t> </a:t>
            </a:r>
            <a:r>
              <a:rPr dirty="0" sz="2400"/>
              <a:t>part</a:t>
            </a:r>
            <a:r>
              <a:rPr dirty="0" sz="2400" spc="-20"/>
              <a:t> </a:t>
            </a:r>
            <a:r>
              <a:rPr dirty="0" sz="2400"/>
              <a:t>of</a:t>
            </a:r>
            <a:r>
              <a:rPr dirty="0" sz="2400" spc="-10"/>
              <a:t> </a:t>
            </a:r>
            <a:r>
              <a:rPr dirty="0" sz="2400"/>
              <a:t>a</a:t>
            </a:r>
            <a:r>
              <a:rPr dirty="0" sz="2400" spc="-15"/>
              <a:t> </a:t>
            </a:r>
            <a:r>
              <a:rPr dirty="0" sz="2400"/>
              <a:t>group</a:t>
            </a:r>
            <a:r>
              <a:rPr dirty="0" sz="2400" spc="-10"/>
              <a:t> </a:t>
            </a:r>
            <a:r>
              <a:rPr dirty="0" sz="2400"/>
              <a:t>and culture.</a:t>
            </a:r>
            <a:endParaRPr sz="2400"/>
          </a:p>
          <a:p>
            <a:pPr marL="440690" marR="635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40055" algn="l"/>
                <a:tab pos="440690" algn="l"/>
              </a:tabLst>
            </a:pPr>
            <a:r>
              <a:rPr dirty="0" sz="2400"/>
              <a:t>People</a:t>
            </a:r>
            <a:r>
              <a:rPr dirty="0" sz="2400" spc="254"/>
              <a:t> </a:t>
            </a:r>
            <a:r>
              <a:rPr dirty="0" sz="2400"/>
              <a:t>go</a:t>
            </a:r>
            <a:r>
              <a:rPr dirty="0" sz="2400" spc="245"/>
              <a:t> </a:t>
            </a:r>
            <a:r>
              <a:rPr dirty="0" sz="2400" spc="-5"/>
              <a:t>to</a:t>
            </a:r>
            <a:r>
              <a:rPr dirty="0" sz="2400" spc="260"/>
              <a:t> </a:t>
            </a:r>
            <a:r>
              <a:rPr dirty="0" sz="2400"/>
              <a:t>work</a:t>
            </a:r>
            <a:r>
              <a:rPr dirty="0" sz="2400" spc="260"/>
              <a:t> </a:t>
            </a:r>
            <a:r>
              <a:rPr dirty="0" sz="2400" spc="-5"/>
              <a:t>because</a:t>
            </a:r>
            <a:r>
              <a:rPr dirty="0" sz="2400" spc="265"/>
              <a:t> </a:t>
            </a:r>
            <a:r>
              <a:rPr dirty="0" sz="2400" spc="-5"/>
              <a:t>they</a:t>
            </a:r>
            <a:r>
              <a:rPr dirty="0" sz="2400" spc="250"/>
              <a:t> </a:t>
            </a:r>
            <a:r>
              <a:rPr dirty="0" sz="2400"/>
              <a:t>are</a:t>
            </a:r>
            <a:r>
              <a:rPr dirty="0" sz="2400" spc="245"/>
              <a:t> </a:t>
            </a:r>
            <a:r>
              <a:rPr dirty="0" sz="2400" spc="-5"/>
              <a:t>motivated</a:t>
            </a:r>
            <a:r>
              <a:rPr dirty="0" sz="2400" spc="250"/>
              <a:t> </a:t>
            </a:r>
            <a:r>
              <a:rPr dirty="0" sz="2400"/>
              <a:t>by</a:t>
            </a:r>
            <a:r>
              <a:rPr dirty="0" sz="2400" spc="254"/>
              <a:t> </a:t>
            </a:r>
            <a:r>
              <a:rPr dirty="0" sz="2400" spc="-5"/>
              <a:t>the</a:t>
            </a:r>
            <a:r>
              <a:rPr dirty="0" sz="2400" spc="260"/>
              <a:t> </a:t>
            </a:r>
            <a:r>
              <a:rPr dirty="0" sz="2400" spc="-5"/>
              <a:t>people </a:t>
            </a:r>
            <a:r>
              <a:rPr dirty="0" sz="2400" spc="-585"/>
              <a:t> </a:t>
            </a:r>
            <a:r>
              <a:rPr dirty="0" sz="2400"/>
              <a:t>that</a:t>
            </a:r>
            <a:r>
              <a:rPr dirty="0" sz="2400" spc="-15"/>
              <a:t> </a:t>
            </a:r>
            <a:r>
              <a:rPr dirty="0" sz="2400"/>
              <a:t>they</a:t>
            </a:r>
            <a:r>
              <a:rPr dirty="0" sz="2400" spc="-5"/>
              <a:t> </a:t>
            </a:r>
            <a:r>
              <a:rPr dirty="0" sz="2400"/>
              <a:t>work with.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9591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Motivation</a:t>
            </a:r>
            <a:r>
              <a:rPr dirty="0" spc="-105"/>
              <a:t> </a:t>
            </a:r>
            <a:r>
              <a:rPr dirty="0"/>
              <a:t>balance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5429"/>
            <a:ext cx="8100059" cy="324358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just" marL="431800" indent="-419100">
              <a:lnSpc>
                <a:spcPct val="100000"/>
              </a:lnSpc>
              <a:spcBef>
                <a:spcPts val="40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Most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software </a:t>
            </a:r>
            <a:r>
              <a:rPr dirty="0" sz="2400">
                <a:latin typeface="Times New Roman"/>
                <a:cs typeface="Times New Roman"/>
              </a:rPr>
              <a:t>engineering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activity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5715" indent="-381635">
              <a:lnSpc>
                <a:spcPts val="2160"/>
              </a:lnSpc>
              <a:spcBef>
                <a:spcPts val="53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development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schedule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for most non-trivial software projects is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such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they cannot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completed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by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one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person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working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alone.</a:t>
            </a:r>
            <a:endParaRPr sz="2000">
              <a:latin typeface="Times New Roman"/>
              <a:cs typeface="Times New Roman"/>
            </a:endParaRPr>
          </a:p>
          <a:p>
            <a:pPr algn="just" marL="431800" marR="5080" indent="-419100">
              <a:lnSpc>
                <a:spcPts val="2590"/>
              </a:lnSpc>
              <a:spcBef>
                <a:spcPts val="57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508000" algn="l"/>
              </a:tabLst>
            </a:pPr>
            <a:r>
              <a:rPr dirty="0"/>
              <a:t>	</a:t>
            </a:r>
            <a:r>
              <a:rPr dirty="0" sz="2400" spc="-5">
                <a:latin typeface="Times New Roman"/>
                <a:cs typeface="Times New Roman"/>
              </a:rPr>
              <a:t>A </a:t>
            </a:r>
            <a:r>
              <a:rPr dirty="0" sz="2400">
                <a:latin typeface="Times New Roman"/>
                <a:cs typeface="Times New Roman"/>
              </a:rPr>
              <a:t>good group is </a:t>
            </a:r>
            <a:r>
              <a:rPr dirty="0" sz="2400" spc="-5">
                <a:latin typeface="Times New Roman"/>
                <a:cs typeface="Times New Roman"/>
              </a:rPr>
              <a:t>cohesive </a:t>
            </a:r>
            <a:r>
              <a:rPr dirty="0" sz="2400">
                <a:latin typeface="Times New Roman"/>
                <a:cs typeface="Times New Roman"/>
              </a:rPr>
              <a:t>and </a:t>
            </a:r>
            <a:r>
              <a:rPr dirty="0" sz="2400" spc="-5">
                <a:latin typeface="Times New Roman"/>
                <a:cs typeface="Times New Roman"/>
              </a:rPr>
              <a:t>has </a:t>
            </a:r>
            <a:r>
              <a:rPr dirty="0" sz="2400">
                <a:latin typeface="Times New Roman"/>
                <a:cs typeface="Times New Roman"/>
              </a:rPr>
              <a:t>a team </a:t>
            </a:r>
            <a:r>
              <a:rPr dirty="0" sz="2400" spc="-5">
                <a:latin typeface="Times New Roman"/>
                <a:cs typeface="Times New Roman"/>
              </a:rPr>
              <a:t>spirit. </a:t>
            </a:r>
            <a:r>
              <a:rPr dirty="0" sz="2400">
                <a:latin typeface="Times New Roman"/>
                <a:cs typeface="Times New Roman"/>
              </a:rPr>
              <a:t>The </a:t>
            </a:r>
            <a:r>
              <a:rPr dirty="0" sz="2400" spc="-5">
                <a:latin typeface="Times New Roman"/>
                <a:cs typeface="Times New Roman"/>
              </a:rPr>
              <a:t>people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involved </a:t>
            </a:r>
            <a:r>
              <a:rPr dirty="0" sz="2400">
                <a:latin typeface="Times New Roman"/>
                <a:cs typeface="Times New Roman"/>
              </a:rPr>
              <a:t>are </a:t>
            </a:r>
            <a:r>
              <a:rPr dirty="0" sz="2400" spc="-5">
                <a:latin typeface="Times New Roman"/>
                <a:cs typeface="Times New Roman"/>
              </a:rPr>
              <a:t>motivated </a:t>
            </a:r>
            <a:r>
              <a:rPr dirty="0" sz="2400" spc="-10">
                <a:latin typeface="Times New Roman"/>
                <a:cs typeface="Times New Roman"/>
              </a:rPr>
              <a:t>by </a:t>
            </a:r>
            <a:r>
              <a:rPr dirty="0" sz="2400">
                <a:latin typeface="Times New Roman"/>
                <a:cs typeface="Times New Roman"/>
              </a:rPr>
              <a:t>the </a:t>
            </a:r>
            <a:r>
              <a:rPr dirty="0" sz="2400" spc="-5">
                <a:latin typeface="Times New Roman"/>
                <a:cs typeface="Times New Roman"/>
              </a:rPr>
              <a:t>success </a:t>
            </a:r>
            <a:r>
              <a:rPr dirty="0" sz="2400">
                <a:latin typeface="Times New Roman"/>
                <a:cs typeface="Times New Roman"/>
              </a:rPr>
              <a:t>of the group as </a:t>
            </a:r>
            <a:r>
              <a:rPr dirty="0" sz="2400" spc="-5">
                <a:latin typeface="Times New Roman"/>
                <a:cs typeface="Times New Roman"/>
              </a:rPr>
              <a:t>well </a:t>
            </a:r>
            <a:r>
              <a:rPr dirty="0" sz="2400" spc="-15">
                <a:latin typeface="Times New Roman"/>
                <a:cs typeface="Times New Roman"/>
              </a:rPr>
              <a:t>as 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by </a:t>
            </a:r>
            <a:r>
              <a:rPr dirty="0" sz="2400">
                <a:latin typeface="Times New Roman"/>
                <a:cs typeface="Times New Roman"/>
              </a:rPr>
              <a:t>their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own </a:t>
            </a:r>
            <a:r>
              <a:rPr dirty="0" sz="2400">
                <a:latin typeface="Times New Roman"/>
                <a:cs typeface="Times New Roman"/>
              </a:rPr>
              <a:t>personal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goals.</a:t>
            </a:r>
            <a:endParaRPr sz="24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25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Group interaction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key </a:t>
            </a:r>
            <a:r>
              <a:rPr dirty="0" sz="2400" spc="-5">
                <a:latin typeface="Times New Roman"/>
                <a:cs typeface="Times New Roman"/>
              </a:rPr>
              <a:t>determinant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 group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performance.</a:t>
            </a:r>
            <a:endParaRPr sz="24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29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Flexibility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composition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limited</a:t>
            </a:r>
            <a:endParaRPr sz="2400">
              <a:latin typeface="Times New Roman"/>
              <a:cs typeface="Times New Roman"/>
            </a:endParaRPr>
          </a:p>
          <a:p>
            <a:pPr algn="just" lvl="1" marL="850900" indent="-381635">
              <a:lnSpc>
                <a:spcPct val="100000"/>
              </a:lnSpc>
              <a:spcBef>
                <a:spcPts val="254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Managers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must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do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best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they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can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with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available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people.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16795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Teamwork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94180"/>
            <a:ext cx="8100059" cy="3839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31800" indent="-419100">
              <a:lnSpc>
                <a:spcPts val="274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cohesive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group,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members</a:t>
            </a:r>
            <a:r>
              <a:rPr dirty="0" sz="2400" spc="2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consider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group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be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more</a:t>
            </a:r>
            <a:endParaRPr sz="2400">
              <a:latin typeface="Times New Roman"/>
              <a:cs typeface="Times New Roman"/>
            </a:endParaRPr>
          </a:p>
          <a:p>
            <a:pPr algn="just" marL="431800">
              <a:lnSpc>
                <a:spcPts val="2740"/>
              </a:lnSpc>
            </a:pPr>
            <a:r>
              <a:rPr dirty="0" sz="2400" spc="-5">
                <a:latin typeface="Times New Roman"/>
                <a:cs typeface="Times New Roman"/>
              </a:rPr>
              <a:t>important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individual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it.</a:t>
            </a:r>
            <a:endParaRPr sz="24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29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advantages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cohesive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are:</a:t>
            </a:r>
            <a:endParaRPr sz="2400">
              <a:latin typeface="Times New Roman"/>
              <a:cs typeface="Times New Roman"/>
            </a:endParaRPr>
          </a:p>
          <a:p>
            <a:pPr algn="just" lvl="1" marL="850900" indent="-381635">
              <a:lnSpc>
                <a:spcPct val="100000"/>
              </a:lnSpc>
              <a:spcBef>
                <a:spcPts val="254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Group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quality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standards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can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be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developed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by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group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members.</a:t>
            </a:r>
            <a:endParaRPr sz="2000">
              <a:latin typeface="Times New Roman"/>
              <a:cs typeface="Times New Roman"/>
            </a:endParaRPr>
          </a:p>
          <a:p>
            <a:pPr algn="just" lvl="1" marL="850900" indent="-381635">
              <a:lnSpc>
                <a:spcPts val="2280"/>
              </a:lnSpc>
              <a:spcBef>
                <a:spcPts val="24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Team</a:t>
            </a:r>
            <a:r>
              <a:rPr dirty="0" sz="2000" spc="2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members</a:t>
            </a:r>
            <a:r>
              <a:rPr dirty="0" sz="2000" spc="99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learn</a:t>
            </a:r>
            <a:r>
              <a:rPr dirty="0" sz="2000" spc="2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from</a:t>
            </a:r>
            <a:r>
              <a:rPr dirty="0" sz="2000" spc="2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each</a:t>
            </a:r>
            <a:r>
              <a:rPr dirty="0" sz="2000" spc="2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other</a:t>
            </a:r>
            <a:r>
              <a:rPr dirty="0" sz="2000" spc="2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2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get</a:t>
            </a:r>
            <a:r>
              <a:rPr dirty="0" sz="2000" spc="2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2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know</a:t>
            </a:r>
            <a:r>
              <a:rPr dirty="0" sz="2000" spc="229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each</a:t>
            </a:r>
            <a:r>
              <a:rPr dirty="0" sz="2000" spc="25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other’s</a:t>
            </a:r>
            <a:endParaRPr sz="2000">
              <a:latin typeface="Times New Roman"/>
              <a:cs typeface="Times New Roman"/>
            </a:endParaRPr>
          </a:p>
          <a:p>
            <a:pPr algn="just" marL="850900">
              <a:lnSpc>
                <a:spcPts val="2280"/>
              </a:lnSpc>
            </a:pP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work;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Inhibitions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caused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by ignorance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reduced.</a:t>
            </a:r>
            <a:endParaRPr sz="2000">
              <a:latin typeface="Times New Roman"/>
              <a:cs typeface="Times New Roman"/>
            </a:endParaRPr>
          </a:p>
          <a:p>
            <a:pPr algn="just" lvl="1" marL="850900" marR="6985" indent="-381635">
              <a:lnSpc>
                <a:spcPts val="2160"/>
              </a:lnSpc>
              <a:spcBef>
                <a:spcPts val="51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Knowledge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is shared. Continuity can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maintained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if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group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member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leaves.</a:t>
            </a:r>
            <a:endParaRPr sz="2000">
              <a:latin typeface="Times New Roman"/>
              <a:cs typeface="Times New Roman"/>
            </a:endParaRPr>
          </a:p>
          <a:p>
            <a:pPr algn="just" lvl="1" marL="850900" marR="5080" indent="-381635">
              <a:lnSpc>
                <a:spcPct val="90000"/>
              </a:lnSpc>
              <a:spcBef>
                <a:spcPts val="44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Refactoring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continual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improvement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encouraged.</a:t>
            </a:r>
            <a:r>
              <a:rPr dirty="0" sz="2000" spc="49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Group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members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work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collectively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deliver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high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quality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results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fix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problems, irrespective of the individuals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who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originally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created the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design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or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program.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0175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Group</a:t>
            </a:r>
            <a:r>
              <a:rPr dirty="0" spc="-35"/>
              <a:t> </a:t>
            </a:r>
            <a:r>
              <a:rPr dirty="0" spc="-5"/>
              <a:t>cohesiveness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21916"/>
            <a:ext cx="8099425" cy="442976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just" marL="431800" marR="5080" indent="-36830">
              <a:lnSpc>
                <a:spcPct val="95000"/>
              </a:lnSpc>
              <a:spcBef>
                <a:spcPts val="204"/>
              </a:spcBef>
            </a:pPr>
            <a:r>
              <a:rPr dirty="0" sz="1800" spc="-5">
                <a:latin typeface="Arial MT"/>
                <a:cs typeface="Arial MT"/>
              </a:rPr>
              <a:t>Alice,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an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experienced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project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manager,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understands</a:t>
            </a:r>
            <a:r>
              <a:rPr dirty="0" sz="1800">
                <a:latin typeface="Arial MT"/>
                <a:cs typeface="Arial MT"/>
              </a:rPr>
              <a:t> 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importance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creating</a:t>
            </a:r>
            <a:r>
              <a:rPr dirty="0" sz="1800">
                <a:latin typeface="Arial MT"/>
                <a:cs typeface="Arial MT"/>
              </a:rPr>
              <a:t> a </a:t>
            </a:r>
            <a:r>
              <a:rPr dirty="0" sz="1800" spc="-5">
                <a:latin typeface="Arial MT"/>
                <a:cs typeface="Arial MT"/>
              </a:rPr>
              <a:t>cohesive group.</a:t>
            </a:r>
            <a:r>
              <a:rPr dirty="0" sz="1800" spc="49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As </a:t>
            </a:r>
            <a:r>
              <a:rPr dirty="0" sz="1800">
                <a:latin typeface="Arial MT"/>
                <a:cs typeface="Arial MT"/>
              </a:rPr>
              <a:t>they are developing a </a:t>
            </a:r>
            <a:r>
              <a:rPr dirty="0" sz="1800" spc="5">
                <a:latin typeface="Arial MT"/>
                <a:cs typeface="Arial MT"/>
              </a:rPr>
              <a:t>new </a:t>
            </a:r>
            <a:r>
              <a:rPr dirty="0" sz="1800" spc="-5">
                <a:latin typeface="Arial MT"/>
                <a:cs typeface="Arial MT"/>
              </a:rPr>
              <a:t>product,</a:t>
            </a:r>
            <a:r>
              <a:rPr dirty="0" sz="1800" spc="49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she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takes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opportunity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involving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all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group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members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</a:t>
            </a:r>
            <a:r>
              <a:rPr dirty="0" sz="1800">
                <a:latin typeface="Arial MT"/>
                <a:cs typeface="Arial MT"/>
              </a:rPr>
              <a:t> 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product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specification</a:t>
            </a:r>
            <a:r>
              <a:rPr dirty="0" sz="1800">
                <a:latin typeface="Arial MT"/>
                <a:cs typeface="Arial MT"/>
              </a:rPr>
              <a:t> and </a:t>
            </a:r>
            <a:r>
              <a:rPr dirty="0" sz="1800" spc="-5">
                <a:latin typeface="Arial MT"/>
                <a:cs typeface="Arial MT"/>
              </a:rPr>
              <a:t>design</a:t>
            </a:r>
            <a:r>
              <a:rPr dirty="0" sz="1800">
                <a:latin typeface="Arial MT"/>
                <a:cs typeface="Arial MT"/>
              </a:rPr>
              <a:t> by </a:t>
            </a:r>
            <a:r>
              <a:rPr dirty="0" sz="1800" spc="-5">
                <a:latin typeface="Arial MT"/>
                <a:cs typeface="Arial MT"/>
              </a:rPr>
              <a:t>getting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them</a:t>
            </a:r>
            <a:r>
              <a:rPr dirty="0" sz="1800">
                <a:latin typeface="Arial MT"/>
                <a:cs typeface="Arial MT"/>
              </a:rPr>
              <a:t> to </a:t>
            </a:r>
            <a:r>
              <a:rPr dirty="0" sz="1800" spc="-5">
                <a:latin typeface="Arial MT"/>
                <a:cs typeface="Arial MT"/>
              </a:rPr>
              <a:t>discuss</a:t>
            </a:r>
            <a:r>
              <a:rPr dirty="0" sz="1800" spc="49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possible</a:t>
            </a:r>
            <a:r>
              <a:rPr dirty="0" sz="1800" spc="4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technology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with elderly members of their families. She also encourages them </a:t>
            </a:r>
            <a:r>
              <a:rPr dirty="0" sz="1800">
                <a:latin typeface="Arial MT"/>
                <a:cs typeface="Arial MT"/>
              </a:rPr>
              <a:t>to bring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these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family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members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 </a:t>
            </a:r>
            <a:r>
              <a:rPr dirty="0" sz="1800" spc="-5">
                <a:latin typeface="Arial MT"/>
                <a:cs typeface="Arial MT"/>
              </a:rPr>
              <a:t>meet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other members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of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-5">
                <a:latin typeface="Arial MT"/>
                <a:cs typeface="Arial MT"/>
              </a:rPr>
              <a:t>development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group.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Arial MT"/>
              <a:cs typeface="Arial MT"/>
            </a:endParaRPr>
          </a:p>
          <a:p>
            <a:pPr algn="just" marL="431800" marR="5080" indent="-36830">
              <a:lnSpc>
                <a:spcPct val="95000"/>
              </a:lnSpc>
            </a:pPr>
            <a:r>
              <a:rPr dirty="0" sz="1800" spc="-5">
                <a:latin typeface="Arial MT"/>
                <a:cs typeface="Arial MT"/>
              </a:rPr>
              <a:t>Alice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also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arranges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monthly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lunches</a:t>
            </a:r>
            <a:r>
              <a:rPr dirty="0" sz="1800">
                <a:latin typeface="Arial MT"/>
                <a:cs typeface="Arial MT"/>
              </a:rPr>
              <a:t> for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everyone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</a:t>
            </a:r>
            <a:r>
              <a:rPr dirty="0" sz="1800">
                <a:latin typeface="Arial MT"/>
                <a:cs typeface="Arial MT"/>
              </a:rPr>
              <a:t> 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group.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These </a:t>
            </a:r>
            <a:r>
              <a:rPr dirty="0" sz="1800" spc="-49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lunches are </a:t>
            </a:r>
            <a:r>
              <a:rPr dirty="0" sz="1800">
                <a:latin typeface="Arial MT"/>
                <a:cs typeface="Arial MT"/>
              </a:rPr>
              <a:t>an </a:t>
            </a:r>
            <a:r>
              <a:rPr dirty="0" sz="1800" spc="-5">
                <a:latin typeface="Arial MT"/>
                <a:cs typeface="Arial MT"/>
              </a:rPr>
              <a:t>opportunity </a:t>
            </a:r>
            <a:r>
              <a:rPr dirty="0" sz="1800">
                <a:latin typeface="Arial MT"/>
                <a:cs typeface="Arial MT"/>
              </a:rPr>
              <a:t>for </a:t>
            </a:r>
            <a:r>
              <a:rPr dirty="0" sz="1800" spc="-5">
                <a:latin typeface="Arial MT"/>
                <a:cs typeface="Arial MT"/>
              </a:rPr>
              <a:t>all team members </a:t>
            </a:r>
            <a:r>
              <a:rPr dirty="0" sz="1800">
                <a:latin typeface="Arial MT"/>
                <a:cs typeface="Arial MT"/>
              </a:rPr>
              <a:t>to </a:t>
            </a:r>
            <a:r>
              <a:rPr dirty="0" sz="1800" spc="-5">
                <a:latin typeface="Arial MT"/>
                <a:cs typeface="Arial MT"/>
              </a:rPr>
              <a:t>meet informally, </a:t>
            </a:r>
            <a:r>
              <a:rPr dirty="0" sz="1800">
                <a:latin typeface="Arial MT"/>
                <a:cs typeface="Arial MT"/>
              </a:rPr>
              <a:t>talk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around issues of concern, and get </a:t>
            </a:r>
            <a:r>
              <a:rPr dirty="0" sz="1800">
                <a:latin typeface="Arial MT"/>
                <a:cs typeface="Arial MT"/>
              </a:rPr>
              <a:t>to know </a:t>
            </a:r>
            <a:r>
              <a:rPr dirty="0" sz="1800" spc="-5">
                <a:latin typeface="Arial MT"/>
                <a:cs typeface="Arial MT"/>
              </a:rPr>
              <a:t>each other. At </a:t>
            </a:r>
            <a:r>
              <a:rPr dirty="0" sz="1800">
                <a:latin typeface="Arial MT"/>
                <a:cs typeface="Arial MT"/>
              </a:rPr>
              <a:t>the </a:t>
            </a:r>
            <a:r>
              <a:rPr dirty="0" sz="1800" spc="-5">
                <a:latin typeface="Arial MT"/>
                <a:cs typeface="Arial MT"/>
              </a:rPr>
              <a:t>lunch, </a:t>
            </a:r>
            <a:r>
              <a:rPr dirty="0" sz="1800">
                <a:latin typeface="Arial MT"/>
                <a:cs typeface="Arial MT"/>
              </a:rPr>
              <a:t>Alice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tells</a:t>
            </a:r>
            <a:r>
              <a:rPr dirty="0" sz="1800">
                <a:latin typeface="Arial MT"/>
                <a:cs typeface="Arial MT"/>
              </a:rPr>
              <a:t> 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group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15">
                <a:latin typeface="Arial MT"/>
                <a:cs typeface="Arial MT"/>
              </a:rPr>
              <a:t>what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knows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about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organizational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news,</a:t>
            </a:r>
            <a:r>
              <a:rPr dirty="0" sz="1800">
                <a:latin typeface="Arial MT"/>
                <a:cs typeface="Arial MT"/>
              </a:rPr>
              <a:t> policies,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strategies, and so forth. Each team member then briefly summarizes </a:t>
            </a:r>
            <a:r>
              <a:rPr dirty="0" sz="1800" spc="-10">
                <a:latin typeface="Arial MT"/>
                <a:cs typeface="Arial MT"/>
              </a:rPr>
              <a:t>what 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they</a:t>
            </a:r>
            <a:r>
              <a:rPr dirty="0" sz="1800" spc="28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have</a:t>
            </a:r>
            <a:r>
              <a:rPr dirty="0" sz="1800" spc="29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been</a:t>
            </a:r>
            <a:r>
              <a:rPr dirty="0" sz="1800" spc="29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doing</a:t>
            </a:r>
            <a:r>
              <a:rPr dirty="0" sz="1800" spc="2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3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29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group</a:t>
            </a:r>
            <a:r>
              <a:rPr dirty="0" sz="1800" spc="29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discusses</a:t>
            </a:r>
            <a:r>
              <a:rPr dirty="0" sz="1800" spc="3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3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general</a:t>
            </a:r>
            <a:r>
              <a:rPr dirty="0" sz="1800" spc="29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topic,</a:t>
            </a:r>
            <a:r>
              <a:rPr dirty="0" sz="1800" spc="3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such</a:t>
            </a:r>
            <a:r>
              <a:rPr dirty="0" sz="1800" spc="29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as </a:t>
            </a:r>
            <a:r>
              <a:rPr dirty="0" sz="1800" spc="-484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new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product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ideas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elderly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relatives.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5"/>
              </a:spcBef>
              <a:buClr>
                <a:srgbClr val="009999"/>
              </a:buClr>
              <a:buSzPct val="83333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180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30085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Team</a:t>
            </a:r>
            <a:r>
              <a:rPr dirty="0" spc="-25"/>
              <a:t> </a:t>
            </a:r>
            <a:r>
              <a:rPr dirty="0"/>
              <a:t>spirit</a:t>
            </a:r>
            <a:r>
              <a:rPr dirty="0" spc="-20"/>
              <a:t> </a:t>
            </a:r>
            <a:r>
              <a:rPr dirty="0" spc="-5"/>
              <a:t>–CASE</a:t>
            </a:r>
            <a:r>
              <a:rPr dirty="0" spc="-20"/>
              <a:t> </a:t>
            </a:r>
            <a:r>
              <a:rPr dirty="0" spc="-5"/>
              <a:t>STUDY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7620" y="1618564"/>
            <a:ext cx="7748905" cy="148844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algn="just" marL="81280" marR="5080" indent="-68580">
              <a:lnSpc>
                <a:spcPct val="94900"/>
              </a:lnSpc>
              <a:spcBef>
                <a:spcPts val="225"/>
              </a:spcBef>
            </a:pPr>
            <a:r>
              <a:rPr dirty="0" sz="2000" spc="-5">
                <a:latin typeface="Arial MT"/>
                <a:cs typeface="Arial MT"/>
              </a:rPr>
              <a:t>Every</a:t>
            </a:r>
            <a:r>
              <a:rPr dirty="0" sz="2000">
                <a:latin typeface="Arial MT"/>
                <a:cs typeface="Arial MT"/>
              </a:rPr>
              <a:t> few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months,</a:t>
            </a:r>
            <a:r>
              <a:rPr dirty="0" sz="2000">
                <a:latin typeface="Arial MT"/>
                <a:cs typeface="Arial MT"/>
              </a:rPr>
              <a:t> Alice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organizes</a:t>
            </a:r>
            <a:r>
              <a:rPr dirty="0" sz="2000">
                <a:latin typeface="Arial MT"/>
                <a:cs typeface="Arial MT"/>
              </a:rPr>
              <a:t> an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‘away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day’</a:t>
            </a:r>
            <a:r>
              <a:rPr dirty="0" sz="2000">
                <a:latin typeface="Arial MT"/>
                <a:cs typeface="Arial MT"/>
              </a:rPr>
              <a:t> for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</a:t>
            </a:r>
            <a:r>
              <a:rPr dirty="0" sz="2000" spc="54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group </a:t>
            </a:r>
            <a:r>
              <a:rPr dirty="0" sz="2000" spc="-54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where the team spends two </a:t>
            </a:r>
            <a:r>
              <a:rPr dirty="0" sz="2000">
                <a:latin typeface="Arial MT"/>
                <a:cs typeface="Arial MT"/>
              </a:rPr>
              <a:t>days on </a:t>
            </a:r>
            <a:r>
              <a:rPr dirty="0" sz="2000" spc="-5">
                <a:latin typeface="Arial MT"/>
                <a:cs typeface="Arial MT"/>
              </a:rPr>
              <a:t>‘technology updating’. Each </a:t>
            </a:r>
            <a:r>
              <a:rPr dirty="0" sz="2000">
                <a:latin typeface="Arial MT"/>
                <a:cs typeface="Arial MT"/>
              </a:rPr>
              <a:t> team </a:t>
            </a:r>
            <a:r>
              <a:rPr dirty="0" sz="2000" spc="-5">
                <a:latin typeface="Arial MT"/>
                <a:cs typeface="Arial MT"/>
              </a:rPr>
              <a:t>member prepares </a:t>
            </a:r>
            <a:r>
              <a:rPr dirty="0" sz="2000" spc="-10">
                <a:latin typeface="Arial MT"/>
                <a:cs typeface="Arial MT"/>
              </a:rPr>
              <a:t>an </a:t>
            </a:r>
            <a:r>
              <a:rPr dirty="0" sz="2000">
                <a:latin typeface="Arial MT"/>
                <a:cs typeface="Arial MT"/>
              </a:rPr>
              <a:t>update </a:t>
            </a:r>
            <a:r>
              <a:rPr dirty="0" sz="2000" spc="-10">
                <a:latin typeface="Arial MT"/>
                <a:cs typeface="Arial MT"/>
              </a:rPr>
              <a:t>on </a:t>
            </a:r>
            <a:r>
              <a:rPr dirty="0" sz="2000">
                <a:latin typeface="Arial MT"/>
                <a:cs typeface="Arial MT"/>
              </a:rPr>
              <a:t>a </a:t>
            </a:r>
            <a:r>
              <a:rPr dirty="0" sz="2000" spc="-5">
                <a:latin typeface="Arial MT"/>
                <a:cs typeface="Arial MT"/>
              </a:rPr>
              <a:t>relevant technology and </a:t>
            </a:r>
            <a:r>
              <a:rPr dirty="0" sz="200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presents it to </a:t>
            </a:r>
            <a:r>
              <a:rPr dirty="0" sz="2000">
                <a:latin typeface="Arial MT"/>
                <a:cs typeface="Arial MT"/>
              </a:rPr>
              <a:t>the </a:t>
            </a:r>
            <a:r>
              <a:rPr dirty="0" sz="2000" spc="-5">
                <a:latin typeface="Arial MT"/>
                <a:cs typeface="Arial MT"/>
              </a:rPr>
              <a:t>group. This is </a:t>
            </a:r>
            <a:r>
              <a:rPr dirty="0" sz="2000">
                <a:latin typeface="Arial MT"/>
                <a:cs typeface="Arial MT"/>
              </a:rPr>
              <a:t>an </a:t>
            </a:r>
            <a:r>
              <a:rPr dirty="0" sz="2000" spc="-5">
                <a:latin typeface="Arial MT"/>
                <a:cs typeface="Arial MT"/>
              </a:rPr>
              <a:t>off-site meeting in </a:t>
            </a:r>
            <a:r>
              <a:rPr dirty="0" sz="2000">
                <a:latin typeface="Arial MT"/>
                <a:cs typeface="Arial MT"/>
              </a:rPr>
              <a:t>a good </a:t>
            </a:r>
            <a:r>
              <a:rPr dirty="0" sz="2000" spc="-5">
                <a:latin typeface="Arial MT"/>
                <a:cs typeface="Arial MT"/>
              </a:rPr>
              <a:t>hotel </a:t>
            </a:r>
            <a:r>
              <a:rPr dirty="0" sz="2000">
                <a:latin typeface="Arial MT"/>
                <a:cs typeface="Arial MT"/>
              </a:rPr>
              <a:t> and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plenty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time is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scheduled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discussion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social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interaction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30085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Team</a:t>
            </a:r>
            <a:r>
              <a:rPr dirty="0" spc="-25"/>
              <a:t> </a:t>
            </a:r>
            <a:r>
              <a:rPr dirty="0"/>
              <a:t>spirit</a:t>
            </a:r>
            <a:r>
              <a:rPr dirty="0" spc="-20"/>
              <a:t> </a:t>
            </a:r>
            <a:r>
              <a:rPr dirty="0" spc="-5"/>
              <a:t>–CASE</a:t>
            </a:r>
            <a:r>
              <a:rPr dirty="0" spc="-20"/>
              <a:t> </a:t>
            </a:r>
            <a:r>
              <a:rPr dirty="0" spc="-5"/>
              <a:t>STUDY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5448"/>
            <a:ext cx="8099425" cy="350266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just" marL="431800" indent="-419100">
              <a:lnSpc>
                <a:spcPct val="100000"/>
              </a:lnSpc>
              <a:spcBef>
                <a:spcPts val="55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people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endParaRPr sz="2400">
              <a:latin typeface="Times New Roman"/>
              <a:cs typeface="Times New Roman"/>
            </a:endParaRPr>
          </a:p>
          <a:p>
            <a:pPr algn="just" lvl="1" marL="850900" marR="5080" indent="-381635">
              <a:lnSpc>
                <a:spcPts val="2280"/>
              </a:lnSpc>
              <a:spcBef>
                <a:spcPts val="55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You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need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mix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of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people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in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project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group 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as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software development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involves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diverse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activities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such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as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negotiating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with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clients,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programming,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testing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documentation.</a:t>
            </a:r>
            <a:endParaRPr sz="20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36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organization</a:t>
            </a:r>
            <a:endParaRPr sz="2400">
              <a:latin typeface="Times New Roman"/>
              <a:cs typeface="Times New Roman"/>
            </a:endParaRPr>
          </a:p>
          <a:p>
            <a:pPr algn="just" lvl="1" marL="850900" indent="-381635">
              <a:lnSpc>
                <a:spcPts val="2340"/>
              </a:lnSpc>
              <a:spcBef>
                <a:spcPts val="37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000" spc="16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group</a:t>
            </a:r>
            <a:r>
              <a:rPr dirty="0" sz="2000" spc="1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should</a:t>
            </a:r>
            <a:r>
              <a:rPr dirty="0" sz="2000" spc="1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1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organized</a:t>
            </a:r>
            <a:r>
              <a:rPr dirty="0" sz="2000" spc="16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so</a:t>
            </a:r>
            <a:r>
              <a:rPr dirty="0" sz="2000" spc="16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that</a:t>
            </a:r>
            <a:r>
              <a:rPr dirty="0" sz="2000" spc="15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individuals</a:t>
            </a:r>
            <a:r>
              <a:rPr dirty="0" sz="2000" spc="16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can</a:t>
            </a:r>
            <a:r>
              <a:rPr dirty="0" sz="2000" spc="1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contribute</a:t>
            </a:r>
            <a:r>
              <a:rPr dirty="0" sz="2000" spc="16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1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algn="just" marL="850900">
              <a:lnSpc>
                <a:spcPts val="2340"/>
              </a:lnSpc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best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their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abilities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tasks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can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be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completed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as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expected.</a:t>
            </a:r>
            <a:endParaRPr sz="20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41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Technical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managerial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communications</a:t>
            </a:r>
            <a:endParaRPr sz="2400">
              <a:latin typeface="Times New Roman"/>
              <a:cs typeface="Times New Roman"/>
            </a:endParaRPr>
          </a:p>
          <a:p>
            <a:pPr algn="just" lvl="1" marL="850900" indent="-381635">
              <a:lnSpc>
                <a:spcPts val="2340"/>
              </a:lnSpc>
              <a:spcBef>
                <a:spcPts val="38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Good</a:t>
            </a:r>
            <a:r>
              <a:rPr dirty="0" sz="2000" spc="67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communications</a:t>
            </a:r>
            <a:r>
              <a:rPr dirty="0" sz="2000" spc="66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between</a:t>
            </a:r>
            <a:r>
              <a:rPr dirty="0" sz="2000" spc="66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group</a:t>
            </a:r>
            <a:r>
              <a:rPr dirty="0" sz="2000" spc="67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members,</a:t>
            </a:r>
            <a:r>
              <a:rPr dirty="0" sz="2000" spc="6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67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between</a:t>
            </a:r>
            <a:r>
              <a:rPr dirty="0" sz="2000" spc="66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algn="just" marL="850900">
              <a:lnSpc>
                <a:spcPts val="2340"/>
              </a:lnSpc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software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engineering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team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other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project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stakeholders,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is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essential.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40906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The</a:t>
            </a:r>
            <a:r>
              <a:rPr dirty="0" spc="-15"/>
              <a:t> </a:t>
            </a:r>
            <a:r>
              <a:rPr dirty="0" spc="-5"/>
              <a:t>effectiveness</a:t>
            </a:r>
            <a:r>
              <a:rPr dirty="0" spc="-10"/>
              <a:t> </a:t>
            </a:r>
            <a:r>
              <a:rPr dirty="0" spc="-5"/>
              <a:t>of</a:t>
            </a:r>
            <a:r>
              <a:rPr dirty="0"/>
              <a:t> </a:t>
            </a:r>
            <a:r>
              <a:rPr dirty="0" spc="-5"/>
              <a:t>a</a:t>
            </a:r>
            <a:r>
              <a:rPr dirty="0" spc="-10"/>
              <a:t> </a:t>
            </a:r>
            <a:r>
              <a:rPr dirty="0" spc="-5"/>
              <a:t>team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8155" cy="220281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431800" marR="5080" indent="-419100">
              <a:lnSpc>
                <a:spcPct val="95100"/>
              </a:lnSpc>
              <a:spcBef>
                <a:spcPts val="2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5">
                <a:latin typeface="Times New Roman"/>
                <a:cs typeface="Times New Roman"/>
              </a:rPr>
              <a:t>manager or </a:t>
            </a:r>
            <a:r>
              <a:rPr dirty="0" sz="2400">
                <a:latin typeface="Times New Roman"/>
                <a:cs typeface="Times New Roman"/>
              </a:rPr>
              <a:t>team leader’s job is </a:t>
            </a:r>
            <a:r>
              <a:rPr dirty="0" sz="2400" spc="-5">
                <a:latin typeface="Times New Roman"/>
                <a:cs typeface="Times New Roman"/>
              </a:rPr>
              <a:t>to create 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5">
                <a:latin typeface="Times New Roman"/>
                <a:cs typeface="Times New Roman"/>
              </a:rPr>
              <a:t>cohesive group </a:t>
            </a:r>
            <a:r>
              <a:rPr dirty="0" sz="2400">
                <a:latin typeface="Times New Roman"/>
                <a:cs typeface="Times New Roman"/>
              </a:rPr>
              <a:t> and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organize</a:t>
            </a:r>
            <a:r>
              <a:rPr dirty="0" sz="2400">
                <a:latin typeface="Times New Roman"/>
                <a:cs typeface="Times New Roman"/>
              </a:rPr>
              <a:t> their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so</a:t>
            </a:r>
            <a:r>
              <a:rPr dirty="0" sz="2400">
                <a:latin typeface="Times New Roman"/>
                <a:cs typeface="Times New Roman"/>
              </a:rPr>
              <a:t> that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they</a:t>
            </a:r>
            <a:r>
              <a:rPr dirty="0" sz="2400">
                <a:latin typeface="Times New Roman"/>
                <a:cs typeface="Times New Roman"/>
              </a:rPr>
              <a:t> can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work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together </a:t>
            </a:r>
            <a:r>
              <a:rPr dirty="0" sz="2400">
                <a:latin typeface="Times New Roman"/>
                <a:cs typeface="Times New Roman"/>
              </a:rPr>
              <a:t> effectively.</a:t>
            </a:r>
            <a:endParaRPr sz="2400">
              <a:latin typeface="Times New Roman"/>
              <a:cs typeface="Times New Roman"/>
            </a:endParaRPr>
          </a:p>
          <a:p>
            <a:pPr algn="just" marL="431800" marR="508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involves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creating</a:t>
            </a:r>
            <a:r>
              <a:rPr dirty="0" sz="2400">
                <a:latin typeface="Times New Roman"/>
                <a:cs typeface="Times New Roman"/>
              </a:rPr>
              <a:t> a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with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right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balance</a:t>
            </a:r>
            <a:r>
              <a:rPr dirty="0" sz="2400">
                <a:latin typeface="Times New Roman"/>
                <a:cs typeface="Times New Roman"/>
              </a:rPr>
              <a:t> of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technical skills </a:t>
            </a:r>
            <a:r>
              <a:rPr dirty="0" sz="2400">
                <a:latin typeface="Times New Roman"/>
                <a:cs typeface="Times New Roman"/>
              </a:rPr>
              <a:t>and </a:t>
            </a:r>
            <a:r>
              <a:rPr dirty="0" sz="2400" spc="-5">
                <a:latin typeface="Times New Roman"/>
                <a:cs typeface="Times New Roman"/>
              </a:rPr>
              <a:t>personalities, </a:t>
            </a:r>
            <a:r>
              <a:rPr dirty="0" sz="2400">
                <a:latin typeface="Times New Roman"/>
                <a:cs typeface="Times New Roman"/>
              </a:rPr>
              <a:t>and </a:t>
            </a:r>
            <a:r>
              <a:rPr dirty="0" sz="2400" spc="-5">
                <a:latin typeface="Times New Roman"/>
                <a:cs typeface="Times New Roman"/>
              </a:rPr>
              <a:t>organizing that </a:t>
            </a:r>
            <a:r>
              <a:rPr dirty="0" sz="2400">
                <a:latin typeface="Times New Roman"/>
                <a:cs typeface="Times New Roman"/>
              </a:rPr>
              <a:t>group </a:t>
            </a:r>
            <a:r>
              <a:rPr dirty="0" sz="2400" spc="-15">
                <a:latin typeface="Times New Roman"/>
                <a:cs typeface="Times New Roman"/>
              </a:rPr>
              <a:t>so 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members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work together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effectively.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872229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Selecting</a:t>
            </a:r>
            <a:r>
              <a:rPr dirty="0" spc="-40"/>
              <a:t> </a:t>
            </a:r>
            <a:r>
              <a:rPr dirty="0"/>
              <a:t>group</a:t>
            </a:r>
            <a:r>
              <a:rPr dirty="0" spc="-35"/>
              <a:t> </a:t>
            </a:r>
            <a:r>
              <a:rPr dirty="0" spc="-5"/>
              <a:t>members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40690" indent="-419100">
              <a:lnSpc>
                <a:spcPts val="2690"/>
              </a:lnSpc>
              <a:spcBef>
                <a:spcPts val="105"/>
              </a:spcBef>
              <a:buClr>
                <a:srgbClr val="009999"/>
              </a:buClr>
              <a:buSzPct val="84782"/>
              <a:buFont typeface="Wingdings"/>
              <a:buChar char=""/>
              <a:tabLst>
                <a:tab pos="440055" algn="l"/>
                <a:tab pos="440690" algn="l"/>
              </a:tabLst>
            </a:pPr>
            <a:r>
              <a:rPr dirty="0" sz="2300"/>
              <a:t>May</a:t>
            </a:r>
            <a:r>
              <a:rPr dirty="0" sz="2300" spc="375"/>
              <a:t> </a:t>
            </a:r>
            <a:r>
              <a:rPr dirty="0" sz="2300" spc="-5"/>
              <a:t>not</a:t>
            </a:r>
            <a:r>
              <a:rPr dirty="0" sz="2300" spc="365"/>
              <a:t> </a:t>
            </a:r>
            <a:r>
              <a:rPr dirty="0" sz="2300"/>
              <a:t>be</a:t>
            </a:r>
            <a:r>
              <a:rPr dirty="0" sz="2300" spc="365"/>
              <a:t> </a:t>
            </a:r>
            <a:r>
              <a:rPr dirty="0" sz="2300"/>
              <a:t>possible</a:t>
            </a:r>
            <a:r>
              <a:rPr dirty="0" sz="2300" spc="370"/>
              <a:t> </a:t>
            </a:r>
            <a:r>
              <a:rPr dirty="0" sz="2300"/>
              <a:t>to</a:t>
            </a:r>
            <a:r>
              <a:rPr dirty="0" sz="2300" spc="370"/>
              <a:t> </a:t>
            </a:r>
            <a:r>
              <a:rPr dirty="0" sz="2300"/>
              <a:t>appoint</a:t>
            </a:r>
            <a:r>
              <a:rPr dirty="0" sz="2300" spc="370"/>
              <a:t> </a:t>
            </a:r>
            <a:r>
              <a:rPr dirty="0" sz="2300"/>
              <a:t>the</a:t>
            </a:r>
            <a:r>
              <a:rPr dirty="0" sz="2300" spc="360"/>
              <a:t> </a:t>
            </a:r>
            <a:r>
              <a:rPr dirty="0" sz="2300"/>
              <a:t>ideal</a:t>
            </a:r>
            <a:r>
              <a:rPr dirty="0" sz="2300" spc="360"/>
              <a:t> </a:t>
            </a:r>
            <a:r>
              <a:rPr dirty="0" sz="2300"/>
              <a:t>people</a:t>
            </a:r>
            <a:r>
              <a:rPr dirty="0" sz="2300" spc="385"/>
              <a:t> </a:t>
            </a:r>
            <a:r>
              <a:rPr dirty="0" sz="2300"/>
              <a:t>to</a:t>
            </a:r>
            <a:r>
              <a:rPr dirty="0" sz="2300" spc="370"/>
              <a:t> </a:t>
            </a:r>
            <a:r>
              <a:rPr dirty="0" sz="2300"/>
              <a:t>work</a:t>
            </a:r>
            <a:r>
              <a:rPr dirty="0" sz="2300" spc="370"/>
              <a:t> </a:t>
            </a:r>
            <a:r>
              <a:rPr dirty="0" sz="2300"/>
              <a:t>on</a:t>
            </a:r>
            <a:r>
              <a:rPr dirty="0" sz="2300" spc="355"/>
              <a:t> </a:t>
            </a:r>
            <a:r>
              <a:rPr dirty="0" sz="2300"/>
              <a:t>a</a:t>
            </a:r>
            <a:endParaRPr sz="2300"/>
          </a:p>
          <a:p>
            <a:pPr marL="440690">
              <a:lnSpc>
                <a:spcPts val="2690"/>
              </a:lnSpc>
            </a:pPr>
            <a:r>
              <a:rPr dirty="0" sz="2300"/>
              <a:t>project</a:t>
            </a:r>
            <a:endParaRPr sz="2300"/>
          </a:p>
          <a:p>
            <a:pPr lvl="1" marL="859790" indent="-381635">
              <a:lnSpc>
                <a:spcPct val="100000"/>
              </a:lnSpc>
              <a:spcBef>
                <a:spcPts val="390"/>
              </a:spcBef>
              <a:buFont typeface="Arial MT"/>
              <a:buChar char="—"/>
              <a:tabLst>
                <a:tab pos="860425" algn="l"/>
              </a:tabLst>
            </a:pPr>
            <a:r>
              <a:rPr dirty="0" sz="2100" spc="-5">
                <a:solidFill>
                  <a:srgbClr val="09007E"/>
                </a:solidFill>
                <a:latin typeface="Times New Roman"/>
                <a:cs typeface="Times New Roman"/>
              </a:rPr>
              <a:t>Project</a:t>
            </a:r>
            <a:r>
              <a:rPr dirty="0" sz="2100" spc="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budget</a:t>
            </a:r>
            <a:r>
              <a:rPr dirty="0" sz="21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09007E"/>
                </a:solidFill>
                <a:latin typeface="Times New Roman"/>
                <a:cs typeface="Times New Roman"/>
              </a:rPr>
              <a:t>may</a:t>
            </a:r>
            <a:r>
              <a:rPr dirty="0" sz="2100" spc="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not allow</a:t>
            </a:r>
            <a:r>
              <a:rPr dirty="0" sz="21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for</a:t>
            </a:r>
            <a:r>
              <a:rPr dirty="0" sz="21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100" spc="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use</a:t>
            </a:r>
            <a:r>
              <a:rPr dirty="0" sz="21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of</a:t>
            </a:r>
            <a:r>
              <a:rPr dirty="0" sz="21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highly-paid</a:t>
            </a:r>
            <a:r>
              <a:rPr dirty="0" sz="21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 spc="-5">
                <a:solidFill>
                  <a:srgbClr val="09007E"/>
                </a:solidFill>
                <a:latin typeface="Times New Roman"/>
                <a:cs typeface="Times New Roman"/>
              </a:rPr>
              <a:t>staff;</a:t>
            </a:r>
            <a:endParaRPr sz="2100">
              <a:latin typeface="Times New Roman"/>
              <a:cs typeface="Times New Roman"/>
            </a:endParaRPr>
          </a:p>
          <a:p>
            <a:pPr lvl="1" marL="859790" indent="-381635">
              <a:lnSpc>
                <a:spcPct val="100000"/>
              </a:lnSpc>
              <a:spcBef>
                <a:spcPts val="375"/>
              </a:spcBef>
              <a:buFont typeface="Arial MT"/>
              <a:buChar char="—"/>
              <a:tabLst>
                <a:tab pos="860425" algn="l"/>
              </a:tabLst>
            </a:pP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Staff</a:t>
            </a:r>
            <a:r>
              <a:rPr dirty="0" sz="21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with</a:t>
            </a:r>
            <a:r>
              <a:rPr dirty="0" sz="2100" spc="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1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appropriate experience </a:t>
            </a:r>
            <a:r>
              <a:rPr dirty="0" sz="2100" spc="-10">
                <a:solidFill>
                  <a:srgbClr val="09007E"/>
                </a:solidFill>
                <a:latin typeface="Times New Roman"/>
                <a:cs typeface="Times New Roman"/>
              </a:rPr>
              <a:t>may</a:t>
            </a:r>
            <a:r>
              <a:rPr dirty="0" sz="2100" spc="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not</a:t>
            </a:r>
            <a:r>
              <a:rPr dirty="0" sz="21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1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available;</a:t>
            </a:r>
            <a:endParaRPr sz="2100">
              <a:latin typeface="Times New Roman"/>
              <a:cs typeface="Times New Roman"/>
            </a:endParaRPr>
          </a:p>
          <a:p>
            <a:pPr lvl="1" marL="859790" indent="-381635">
              <a:lnSpc>
                <a:spcPts val="2455"/>
              </a:lnSpc>
              <a:spcBef>
                <a:spcPts val="384"/>
              </a:spcBef>
              <a:buFont typeface="Arial MT"/>
              <a:buChar char="—"/>
              <a:tabLst>
                <a:tab pos="860425" algn="l"/>
                <a:tab pos="1361440" algn="l"/>
                <a:tab pos="2859405" algn="l"/>
                <a:tab pos="3490595" algn="l"/>
                <a:tab pos="4171950" algn="l"/>
                <a:tab pos="4555490" algn="l"/>
                <a:tab pos="5575935" algn="l"/>
                <a:tab pos="6790055" algn="l"/>
                <a:tab pos="7531100" algn="l"/>
                <a:tab pos="7973059" algn="l"/>
              </a:tabLst>
            </a:pPr>
            <a:r>
              <a:rPr dirty="0" sz="2100" spc="-1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100" spc="-5">
                <a:solidFill>
                  <a:srgbClr val="09007E"/>
                </a:solidFill>
                <a:latin typeface="Times New Roman"/>
                <a:cs typeface="Times New Roman"/>
              </a:rPr>
              <a:t>n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	or</a:t>
            </a:r>
            <a:r>
              <a:rPr dirty="0" sz="2100" spc="5">
                <a:solidFill>
                  <a:srgbClr val="09007E"/>
                </a:solidFill>
                <a:latin typeface="Times New Roman"/>
                <a:cs typeface="Times New Roman"/>
              </a:rPr>
              <a:t>g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a</a:t>
            </a:r>
            <a:r>
              <a:rPr dirty="0" sz="2100" spc="5">
                <a:solidFill>
                  <a:srgbClr val="09007E"/>
                </a:solidFill>
                <a:latin typeface="Times New Roman"/>
                <a:cs typeface="Times New Roman"/>
              </a:rPr>
              <a:t>n</a:t>
            </a:r>
            <a:r>
              <a:rPr dirty="0" sz="2100" spc="-10">
                <a:solidFill>
                  <a:srgbClr val="09007E"/>
                </a:solidFill>
                <a:latin typeface="Times New Roman"/>
                <a:cs typeface="Times New Roman"/>
              </a:rPr>
              <a:t>i</a:t>
            </a:r>
            <a:r>
              <a:rPr dirty="0" sz="2100" spc="-5">
                <a:solidFill>
                  <a:srgbClr val="09007E"/>
                </a:solidFill>
                <a:latin typeface="Times New Roman"/>
                <a:cs typeface="Times New Roman"/>
              </a:rPr>
              <a:t>sat</a:t>
            </a:r>
            <a:r>
              <a:rPr dirty="0" sz="2100" spc="-10">
                <a:solidFill>
                  <a:srgbClr val="09007E"/>
                </a:solidFill>
                <a:latin typeface="Times New Roman"/>
                <a:cs typeface="Times New Roman"/>
              </a:rPr>
              <a:t>i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on	</a:t>
            </a:r>
            <a:r>
              <a:rPr dirty="0" sz="2100" spc="-25">
                <a:solidFill>
                  <a:srgbClr val="09007E"/>
                </a:solidFill>
                <a:latin typeface="Times New Roman"/>
                <a:cs typeface="Times New Roman"/>
              </a:rPr>
              <a:t>m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ay	</a:t>
            </a:r>
            <a:r>
              <a:rPr dirty="0" sz="2100" spc="-5">
                <a:solidFill>
                  <a:srgbClr val="09007E"/>
                </a:solidFill>
                <a:latin typeface="Times New Roman"/>
                <a:cs typeface="Times New Roman"/>
              </a:rPr>
              <a:t>wi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s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h	to	develop	</a:t>
            </a:r>
            <a:r>
              <a:rPr dirty="0" sz="2100" spc="10">
                <a:solidFill>
                  <a:srgbClr val="09007E"/>
                </a:solidFill>
                <a:latin typeface="Times New Roman"/>
                <a:cs typeface="Times New Roman"/>
              </a:rPr>
              <a:t>e</a:t>
            </a:r>
            <a:r>
              <a:rPr dirty="0" sz="2100" spc="-25">
                <a:solidFill>
                  <a:srgbClr val="09007E"/>
                </a:solidFill>
                <a:latin typeface="Times New Roman"/>
                <a:cs typeface="Times New Roman"/>
              </a:rPr>
              <a:t>m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p</a:t>
            </a:r>
            <a:r>
              <a:rPr dirty="0" sz="2100" spc="5">
                <a:solidFill>
                  <a:srgbClr val="09007E"/>
                </a:solidFill>
                <a:latin typeface="Times New Roman"/>
                <a:cs typeface="Times New Roman"/>
              </a:rPr>
              <a:t>l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oyee	</a:t>
            </a:r>
            <a:r>
              <a:rPr dirty="0" sz="2100" spc="-5">
                <a:solidFill>
                  <a:srgbClr val="09007E"/>
                </a:solidFill>
                <a:latin typeface="Times New Roman"/>
                <a:cs typeface="Times New Roman"/>
              </a:rPr>
              <a:t>sk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i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l</a:t>
            </a:r>
            <a:r>
              <a:rPr dirty="0" sz="2100" spc="5">
                <a:solidFill>
                  <a:srgbClr val="09007E"/>
                </a:solidFill>
                <a:latin typeface="Times New Roman"/>
                <a:cs typeface="Times New Roman"/>
              </a:rPr>
              <a:t>l</a:t>
            </a:r>
            <a:r>
              <a:rPr dirty="0" sz="2100" spc="-5">
                <a:solidFill>
                  <a:srgbClr val="09007E"/>
                </a:solidFill>
                <a:latin typeface="Times New Roman"/>
                <a:cs typeface="Times New Roman"/>
              </a:rPr>
              <a:t>s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	</a:t>
            </a:r>
            <a:r>
              <a:rPr dirty="0" sz="2100" spc="-10">
                <a:solidFill>
                  <a:srgbClr val="09007E"/>
                </a:solidFill>
                <a:latin typeface="Times New Roman"/>
                <a:cs typeface="Times New Roman"/>
              </a:rPr>
              <a:t>o</a:t>
            </a:r>
            <a:r>
              <a:rPr dirty="0" sz="2100">
                <a:solidFill>
                  <a:srgbClr val="09007E"/>
                </a:solidFill>
                <a:latin typeface="Times New Roman"/>
                <a:cs typeface="Times New Roman"/>
              </a:rPr>
              <a:t>n	a</a:t>
            </a:r>
            <a:endParaRPr sz="2100">
              <a:latin typeface="Times New Roman"/>
              <a:cs typeface="Times New Roman"/>
            </a:endParaRPr>
          </a:p>
          <a:p>
            <a:pPr marL="859790">
              <a:lnSpc>
                <a:spcPts val="2455"/>
              </a:lnSpc>
            </a:pPr>
            <a:r>
              <a:rPr dirty="0" sz="2100">
                <a:solidFill>
                  <a:srgbClr val="09007E"/>
                </a:solidFill>
              </a:rPr>
              <a:t>software</a:t>
            </a:r>
            <a:r>
              <a:rPr dirty="0" sz="2100" spc="-35">
                <a:solidFill>
                  <a:srgbClr val="09007E"/>
                </a:solidFill>
              </a:rPr>
              <a:t> </a:t>
            </a:r>
            <a:r>
              <a:rPr dirty="0" sz="2100">
                <a:solidFill>
                  <a:srgbClr val="09007E"/>
                </a:solidFill>
              </a:rPr>
              <a:t>project.</a:t>
            </a:r>
            <a:endParaRPr sz="2100"/>
          </a:p>
          <a:p>
            <a:pPr marL="440690" marR="6350" indent="-419100">
              <a:lnSpc>
                <a:spcPts val="2620"/>
              </a:lnSpc>
              <a:spcBef>
                <a:spcPts val="615"/>
              </a:spcBef>
              <a:buClr>
                <a:srgbClr val="009999"/>
              </a:buClr>
              <a:buSzPct val="84782"/>
              <a:buFont typeface="Wingdings"/>
              <a:buChar char=""/>
              <a:tabLst>
                <a:tab pos="440055" algn="l"/>
                <a:tab pos="440690" algn="l"/>
              </a:tabLst>
            </a:pPr>
            <a:r>
              <a:rPr dirty="0" sz="2300"/>
              <a:t>Managers</a:t>
            </a:r>
            <a:r>
              <a:rPr dirty="0" sz="2300" spc="110"/>
              <a:t> </a:t>
            </a:r>
            <a:r>
              <a:rPr dirty="0" sz="2300"/>
              <a:t>have</a:t>
            </a:r>
            <a:r>
              <a:rPr dirty="0" sz="2300" spc="105"/>
              <a:t> </a:t>
            </a:r>
            <a:r>
              <a:rPr dirty="0" sz="2300" spc="-5"/>
              <a:t>to</a:t>
            </a:r>
            <a:r>
              <a:rPr dirty="0" sz="2300" spc="105"/>
              <a:t> </a:t>
            </a:r>
            <a:r>
              <a:rPr dirty="0" sz="2300"/>
              <a:t>work</a:t>
            </a:r>
            <a:r>
              <a:rPr dirty="0" sz="2300" spc="110"/>
              <a:t> </a:t>
            </a:r>
            <a:r>
              <a:rPr dirty="0" sz="2300"/>
              <a:t>within</a:t>
            </a:r>
            <a:r>
              <a:rPr dirty="0" sz="2300" spc="110"/>
              <a:t> </a:t>
            </a:r>
            <a:r>
              <a:rPr dirty="0" sz="2300" spc="-5"/>
              <a:t>these</a:t>
            </a:r>
            <a:r>
              <a:rPr dirty="0" sz="2300" spc="125"/>
              <a:t> </a:t>
            </a:r>
            <a:r>
              <a:rPr dirty="0" sz="2300"/>
              <a:t>constraints</a:t>
            </a:r>
            <a:r>
              <a:rPr dirty="0" sz="2300" spc="90"/>
              <a:t> </a:t>
            </a:r>
            <a:r>
              <a:rPr dirty="0" sz="2300"/>
              <a:t>especially</a:t>
            </a:r>
            <a:r>
              <a:rPr dirty="0" sz="2300" spc="135"/>
              <a:t> </a:t>
            </a:r>
            <a:r>
              <a:rPr dirty="0" sz="2300" spc="-5"/>
              <a:t>when </a:t>
            </a:r>
            <a:r>
              <a:rPr dirty="0" sz="2300" spc="-560"/>
              <a:t> </a:t>
            </a:r>
            <a:r>
              <a:rPr dirty="0" sz="2300" spc="-5"/>
              <a:t>there </a:t>
            </a:r>
            <a:r>
              <a:rPr dirty="0" sz="2300"/>
              <a:t>are</a:t>
            </a:r>
            <a:r>
              <a:rPr dirty="0" sz="2300" spc="5"/>
              <a:t> </a:t>
            </a:r>
            <a:r>
              <a:rPr dirty="0" sz="2300"/>
              <a:t>shortages</a:t>
            </a:r>
            <a:r>
              <a:rPr dirty="0" sz="2300" spc="-15"/>
              <a:t> </a:t>
            </a:r>
            <a:r>
              <a:rPr dirty="0" sz="2300"/>
              <a:t>of </a:t>
            </a:r>
            <a:r>
              <a:rPr dirty="0" sz="2300" spc="-5"/>
              <a:t>trained </a:t>
            </a:r>
            <a:r>
              <a:rPr dirty="0" sz="2300"/>
              <a:t>staff.</a:t>
            </a:r>
            <a:endParaRPr sz="23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8898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>
                <a:solidFill>
                  <a:srgbClr val="000000"/>
                </a:solidFill>
              </a:rPr>
              <a:t>Assembling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a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team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9425" cy="37484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0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  <a:tab pos="1664970" algn="l"/>
                <a:tab pos="3353435" algn="l"/>
                <a:tab pos="4064000" algn="l"/>
                <a:tab pos="5633720" algn="l"/>
                <a:tab pos="6613525" algn="l"/>
                <a:tab pos="7711440" algn="l"/>
              </a:tabLst>
            </a:pP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co</a:t>
            </a:r>
            <a:r>
              <a:rPr dirty="0" sz="2400" spc="-25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posed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10">
                <a:latin typeface="Times New Roman"/>
                <a:cs typeface="Times New Roman"/>
              </a:rPr>
              <a:t>o</a:t>
            </a:r>
            <a:r>
              <a:rPr dirty="0" sz="2400">
                <a:latin typeface="Times New Roman"/>
                <a:cs typeface="Times New Roman"/>
              </a:rPr>
              <a:t>f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m</a:t>
            </a:r>
            <a:r>
              <a:rPr dirty="0" sz="2400" spc="10">
                <a:latin typeface="Times New Roman"/>
                <a:cs typeface="Times New Roman"/>
              </a:rPr>
              <a:t>e</a:t>
            </a:r>
            <a:r>
              <a:rPr dirty="0" sz="2400" spc="-25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bers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w</a:t>
            </a:r>
            <a:r>
              <a:rPr dirty="0" sz="2400" spc="-10">
                <a:latin typeface="Times New Roman"/>
                <a:cs typeface="Times New Roman"/>
              </a:rPr>
              <a:t>h</a:t>
            </a:r>
            <a:r>
              <a:rPr dirty="0" sz="2400">
                <a:latin typeface="Times New Roman"/>
                <a:cs typeface="Times New Roman"/>
              </a:rPr>
              <a:t>o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share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431800">
              <a:lnSpc>
                <a:spcPts val="2810"/>
              </a:lnSpc>
            </a:pPr>
            <a:r>
              <a:rPr dirty="0" sz="2400" spc="-5">
                <a:latin typeface="Times New Roman"/>
                <a:cs typeface="Times New Roman"/>
              </a:rPr>
              <a:t>same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motivation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 </a:t>
            </a:r>
            <a:r>
              <a:rPr dirty="0" sz="2400" spc="-5">
                <a:latin typeface="Times New Roman"/>
                <a:cs typeface="Times New Roman"/>
              </a:rPr>
              <a:t>problematic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75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Task-oriented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-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everyone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wants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do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their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own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thing;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6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Self-oriented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- everyone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wants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boss;</a:t>
            </a:r>
            <a:endParaRPr sz="20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36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Interaction-oriented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-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too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much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chatting,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not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enough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work.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42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An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effective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has</a:t>
            </a:r>
            <a:r>
              <a:rPr dirty="0" sz="2400">
                <a:latin typeface="Times New Roman"/>
                <a:cs typeface="Times New Roman"/>
              </a:rPr>
              <a:t> 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balance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types.</a:t>
            </a:r>
            <a:endParaRPr sz="2400">
              <a:latin typeface="Times New Roman"/>
              <a:cs typeface="Times New Roman"/>
            </a:endParaRPr>
          </a:p>
          <a:p>
            <a:pPr marL="431800" marR="5080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3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can</a:t>
            </a:r>
            <a:r>
              <a:rPr dirty="0" sz="2400" spc="3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29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difficult</a:t>
            </a:r>
            <a:r>
              <a:rPr dirty="0" sz="2400" spc="3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29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achieve</a:t>
            </a:r>
            <a:r>
              <a:rPr dirty="0" sz="2400" spc="3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software</a:t>
            </a:r>
            <a:r>
              <a:rPr dirty="0" sz="2400" spc="3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engineers</a:t>
            </a:r>
            <a:r>
              <a:rPr dirty="0" sz="2400" spc="3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3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often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task-oriented.</a:t>
            </a:r>
            <a:endParaRPr sz="2400">
              <a:latin typeface="Times New Roman"/>
              <a:cs typeface="Times New Roman"/>
            </a:endParaRPr>
          </a:p>
          <a:p>
            <a:pPr marL="431800" marR="5080" indent="-419100">
              <a:lnSpc>
                <a:spcPts val="2740"/>
              </a:lnSpc>
              <a:spcBef>
                <a:spcPts val="57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  <a:tab pos="3010535" algn="l"/>
                <a:tab pos="3982720" algn="l"/>
                <a:tab pos="4516120" algn="l"/>
                <a:tab pos="5219065" algn="l"/>
                <a:tab pos="6563359" algn="l"/>
                <a:tab pos="6978015" algn="l"/>
                <a:tab pos="7663815" algn="l"/>
              </a:tabLst>
            </a:pPr>
            <a:r>
              <a:rPr dirty="0" sz="2400">
                <a:latin typeface="Times New Roman"/>
                <a:cs typeface="Times New Roman"/>
              </a:rPr>
              <a:t>Intera</a:t>
            </a:r>
            <a:r>
              <a:rPr dirty="0" sz="2400" spc="-15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t</a:t>
            </a:r>
            <a:r>
              <a:rPr dirty="0" sz="2400" spc="5">
                <a:latin typeface="Times New Roman"/>
                <a:cs typeface="Times New Roman"/>
              </a:rPr>
              <a:t>i</a:t>
            </a:r>
            <a:r>
              <a:rPr dirty="0" sz="2400">
                <a:latin typeface="Times New Roman"/>
                <a:cs typeface="Times New Roman"/>
              </a:rPr>
              <a:t>o</a:t>
            </a:r>
            <a:r>
              <a:rPr dirty="0" sz="2400" spc="-10">
                <a:latin typeface="Times New Roman"/>
                <a:cs typeface="Times New Roman"/>
              </a:rPr>
              <a:t>n-</a:t>
            </a:r>
            <a:r>
              <a:rPr dirty="0" sz="2400">
                <a:latin typeface="Times New Roman"/>
                <a:cs typeface="Times New Roman"/>
              </a:rPr>
              <a:t>orien</a:t>
            </a:r>
            <a:r>
              <a:rPr dirty="0" sz="2400" spc="-10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ed	p</a:t>
            </a:r>
            <a:r>
              <a:rPr dirty="0" sz="2400" spc="-10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ople	are	v</a:t>
            </a:r>
            <a:r>
              <a:rPr dirty="0" sz="2400" spc="-10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ry	i</a:t>
            </a:r>
            <a:r>
              <a:rPr dirty="0" sz="2400" spc="-15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porta</a:t>
            </a:r>
            <a:r>
              <a:rPr dirty="0" sz="2400" spc="-15">
                <a:latin typeface="Times New Roman"/>
                <a:cs typeface="Times New Roman"/>
              </a:rPr>
              <a:t>n</a:t>
            </a:r>
            <a:r>
              <a:rPr dirty="0" sz="2400">
                <a:latin typeface="Times New Roman"/>
                <a:cs typeface="Times New Roman"/>
              </a:rPr>
              <a:t>t	</a:t>
            </a:r>
            <a:r>
              <a:rPr dirty="0" sz="2400" spc="-5">
                <a:latin typeface="Times New Roman"/>
                <a:cs typeface="Times New Roman"/>
              </a:rPr>
              <a:t>as</a:t>
            </a:r>
            <a:r>
              <a:rPr dirty="0" sz="2400">
                <a:latin typeface="Times New Roman"/>
                <a:cs typeface="Times New Roman"/>
              </a:rPr>
              <a:t>	t</a:t>
            </a:r>
            <a:r>
              <a:rPr dirty="0" sz="2400" spc="-10">
                <a:latin typeface="Times New Roman"/>
                <a:cs typeface="Times New Roman"/>
              </a:rPr>
              <a:t>h</a:t>
            </a:r>
            <a:r>
              <a:rPr dirty="0" sz="2400">
                <a:latin typeface="Times New Roman"/>
                <a:cs typeface="Times New Roman"/>
              </a:rPr>
              <a:t>ey	</a:t>
            </a:r>
            <a:r>
              <a:rPr dirty="0" sz="2400" spc="-10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an  </a:t>
            </a:r>
            <a:r>
              <a:rPr dirty="0" sz="2400">
                <a:latin typeface="Times New Roman"/>
                <a:cs typeface="Times New Roman"/>
              </a:rPr>
              <a:t>detect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 defuse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tensions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arise.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9603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Group</a:t>
            </a:r>
            <a:r>
              <a:rPr dirty="0" spc="-75"/>
              <a:t> </a:t>
            </a:r>
            <a:r>
              <a:rPr dirty="0"/>
              <a:t>composition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200" y="1621916"/>
            <a:ext cx="7680325" cy="275399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just" marL="12700" marR="5080" indent="25400">
              <a:lnSpc>
                <a:spcPct val="95000"/>
              </a:lnSpc>
              <a:spcBef>
                <a:spcPts val="204"/>
              </a:spcBef>
            </a:pPr>
            <a:r>
              <a:rPr dirty="0" sz="1800">
                <a:latin typeface="Arial MT"/>
                <a:cs typeface="Arial MT"/>
              </a:rPr>
              <a:t>In </a:t>
            </a:r>
            <a:r>
              <a:rPr dirty="0" sz="1800" spc="-5">
                <a:latin typeface="Arial MT"/>
                <a:cs typeface="Arial MT"/>
              </a:rPr>
              <a:t>creating a group </a:t>
            </a:r>
            <a:r>
              <a:rPr dirty="0" sz="1800">
                <a:latin typeface="Arial MT"/>
                <a:cs typeface="Arial MT"/>
              </a:rPr>
              <a:t>for assistive </a:t>
            </a:r>
            <a:r>
              <a:rPr dirty="0" sz="1800" spc="-5">
                <a:latin typeface="Arial MT"/>
                <a:cs typeface="Arial MT"/>
              </a:rPr>
              <a:t>technology development, Alice is </a:t>
            </a:r>
            <a:r>
              <a:rPr dirty="0" sz="1800">
                <a:latin typeface="Arial MT"/>
                <a:cs typeface="Arial MT"/>
              </a:rPr>
              <a:t>aware </a:t>
            </a:r>
            <a:r>
              <a:rPr dirty="0" sz="1800" spc="-5">
                <a:latin typeface="Arial MT"/>
                <a:cs typeface="Arial MT"/>
              </a:rPr>
              <a:t>of </a:t>
            </a:r>
            <a:r>
              <a:rPr dirty="0" sz="1800">
                <a:latin typeface="Arial MT"/>
                <a:cs typeface="Arial MT"/>
              </a:rPr>
              <a:t> the </a:t>
            </a:r>
            <a:r>
              <a:rPr dirty="0" sz="1800" spc="-5">
                <a:latin typeface="Arial MT"/>
                <a:cs typeface="Arial MT"/>
              </a:rPr>
              <a:t>importance of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selecting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members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with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complementary personalities.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When interviewing potential group </a:t>
            </a:r>
            <a:r>
              <a:rPr dirty="0" sz="1800">
                <a:latin typeface="Arial MT"/>
                <a:cs typeface="Arial MT"/>
              </a:rPr>
              <a:t>members, </a:t>
            </a:r>
            <a:r>
              <a:rPr dirty="0" sz="1800" spc="-5">
                <a:latin typeface="Arial MT"/>
                <a:cs typeface="Arial MT"/>
              </a:rPr>
              <a:t>she tried </a:t>
            </a:r>
            <a:r>
              <a:rPr dirty="0" sz="1800">
                <a:latin typeface="Arial MT"/>
                <a:cs typeface="Arial MT"/>
              </a:rPr>
              <a:t>to </a:t>
            </a:r>
            <a:r>
              <a:rPr dirty="0" sz="1800" spc="-5">
                <a:latin typeface="Arial MT"/>
                <a:cs typeface="Arial MT"/>
              </a:rPr>
              <a:t>assess whether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they </a:t>
            </a:r>
            <a:r>
              <a:rPr dirty="0" sz="1800" spc="-10">
                <a:latin typeface="Arial MT"/>
                <a:cs typeface="Arial MT"/>
              </a:rPr>
              <a:t>were </a:t>
            </a:r>
            <a:r>
              <a:rPr dirty="0" sz="1800" spc="-5">
                <a:latin typeface="Arial MT"/>
                <a:cs typeface="Arial MT"/>
              </a:rPr>
              <a:t>task-oriented, self-oriented, or interaction-oriented. She </a:t>
            </a:r>
            <a:r>
              <a:rPr dirty="0" sz="1800">
                <a:latin typeface="Arial MT"/>
                <a:cs typeface="Arial MT"/>
              </a:rPr>
              <a:t>felt </a:t>
            </a:r>
            <a:r>
              <a:rPr dirty="0" sz="1800" spc="-5">
                <a:latin typeface="Arial MT"/>
                <a:cs typeface="Arial MT"/>
              </a:rPr>
              <a:t>that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she</a:t>
            </a:r>
            <a:r>
              <a:rPr dirty="0" sz="1800" spc="18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was</a:t>
            </a:r>
            <a:r>
              <a:rPr dirty="0" sz="1800" spc="18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primarily</a:t>
            </a:r>
            <a:r>
              <a:rPr dirty="0" sz="1800" spc="16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</a:t>
            </a:r>
            <a:r>
              <a:rPr dirty="0" sz="1800" spc="18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self-oriented</a:t>
            </a:r>
            <a:r>
              <a:rPr dirty="0" sz="1800" spc="18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type</a:t>
            </a:r>
            <a:r>
              <a:rPr dirty="0" sz="1800" spc="17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because</a:t>
            </a:r>
            <a:r>
              <a:rPr dirty="0" sz="1800" spc="18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she</a:t>
            </a:r>
            <a:r>
              <a:rPr dirty="0" sz="1800" spc="17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considered</a:t>
            </a:r>
            <a:r>
              <a:rPr dirty="0" sz="1800" spc="1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17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project </a:t>
            </a:r>
            <a:r>
              <a:rPr dirty="0" sz="1800" spc="-48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way</a:t>
            </a:r>
            <a:r>
              <a:rPr dirty="0" sz="1800" spc="-5">
                <a:latin typeface="Arial MT"/>
                <a:cs typeface="Arial MT"/>
              </a:rPr>
              <a:t> of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getting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noticed</a:t>
            </a:r>
            <a:r>
              <a:rPr dirty="0" sz="1800">
                <a:latin typeface="Arial MT"/>
                <a:cs typeface="Arial MT"/>
              </a:rPr>
              <a:t> by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senior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management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and</a:t>
            </a:r>
            <a:r>
              <a:rPr dirty="0" sz="1800">
                <a:latin typeface="Arial MT"/>
                <a:cs typeface="Arial MT"/>
              </a:rPr>
              <a:t> possibly 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promoted.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Arial MT"/>
              <a:cs typeface="Arial MT"/>
            </a:endParaRPr>
          </a:p>
          <a:p>
            <a:pPr algn="just" marL="12700" marR="6985" indent="27305">
              <a:lnSpc>
                <a:spcPts val="2039"/>
              </a:lnSpc>
            </a:pPr>
            <a:r>
              <a:rPr dirty="0" sz="1800" spc="-5">
                <a:latin typeface="Arial MT"/>
                <a:cs typeface="Arial MT"/>
              </a:rPr>
              <a:t>She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therefore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looked</a:t>
            </a:r>
            <a:r>
              <a:rPr dirty="0" sz="1800">
                <a:latin typeface="Arial MT"/>
                <a:cs typeface="Arial MT"/>
              </a:rPr>
              <a:t> for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one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or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perhaps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two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interaction-oriented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personalities,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spc="-15">
                <a:latin typeface="Arial MT"/>
                <a:cs typeface="Arial MT"/>
              </a:rPr>
              <a:t>with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task-oriented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individuals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complete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the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team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54108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Group</a:t>
            </a:r>
            <a:r>
              <a:rPr dirty="0" spc="-20"/>
              <a:t> </a:t>
            </a:r>
            <a:r>
              <a:rPr dirty="0"/>
              <a:t>composition</a:t>
            </a:r>
            <a:r>
              <a:rPr dirty="0" spc="-20"/>
              <a:t> </a:t>
            </a:r>
            <a:r>
              <a:rPr dirty="0" spc="-5"/>
              <a:t>-CASE</a:t>
            </a:r>
            <a:r>
              <a:rPr dirty="0"/>
              <a:t> </a:t>
            </a:r>
            <a:r>
              <a:rPr dirty="0" spc="-5"/>
              <a:t>STUDY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21916"/>
            <a:ext cx="4605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final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assessment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that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she arrived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at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5">
                <a:latin typeface="Arial MT"/>
                <a:cs typeface="Arial MT"/>
              </a:rPr>
              <a:t>was: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7100" y="2205380"/>
            <a:ext cx="180975" cy="223393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500" spc="25">
                <a:solidFill>
                  <a:srgbClr val="009999"/>
                </a:solidFill>
                <a:latin typeface="Wingdings"/>
                <a:cs typeface="Wingdings"/>
              </a:rPr>
              <a:t></a:t>
            </a:r>
            <a:endParaRPr sz="15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500" spc="25">
                <a:solidFill>
                  <a:srgbClr val="009999"/>
                </a:solidFill>
                <a:latin typeface="Wingdings"/>
                <a:cs typeface="Wingdings"/>
              </a:rPr>
              <a:t></a:t>
            </a:r>
            <a:endParaRPr sz="15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500" spc="25">
                <a:solidFill>
                  <a:srgbClr val="009999"/>
                </a:solidFill>
                <a:latin typeface="Wingdings"/>
                <a:cs typeface="Wingdings"/>
              </a:rPr>
              <a:t></a:t>
            </a:r>
            <a:endParaRPr sz="15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500" spc="25">
                <a:solidFill>
                  <a:srgbClr val="009999"/>
                </a:solidFill>
                <a:latin typeface="Wingdings"/>
                <a:cs typeface="Wingdings"/>
              </a:rPr>
              <a:t></a:t>
            </a:r>
            <a:endParaRPr sz="15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500" spc="25">
                <a:solidFill>
                  <a:srgbClr val="009999"/>
                </a:solidFill>
                <a:latin typeface="Wingdings"/>
                <a:cs typeface="Wingdings"/>
              </a:rPr>
              <a:t></a:t>
            </a:r>
            <a:endParaRPr sz="15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500" spc="25">
                <a:solidFill>
                  <a:srgbClr val="009999"/>
                </a:solidFill>
                <a:latin typeface="Wingdings"/>
                <a:cs typeface="Wingdings"/>
              </a:rPr>
              <a:t></a:t>
            </a:r>
            <a:endParaRPr sz="15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500" spc="25">
                <a:solidFill>
                  <a:srgbClr val="009999"/>
                </a:solidFill>
                <a:latin typeface="Wingdings"/>
                <a:cs typeface="Wingdings"/>
              </a:rPr>
              <a:t></a:t>
            </a:r>
            <a:endParaRPr sz="15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1830" y="2212086"/>
            <a:ext cx="2751455" cy="223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5">
                <a:latin typeface="Arial MT"/>
                <a:cs typeface="Arial MT"/>
              </a:rPr>
              <a:t>Alice—self-oriented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Brian—task-oriented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Bob—task-oriented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C</a:t>
            </a:r>
            <a:r>
              <a:rPr dirty="0" sz="1800" spc="-15">
                <a:latin typeface="Arial MT"/>
                <a:cs typeface="Arial MT"/>
              </a:rPr>
              <a:t>a</a:t>
            </a:r>
            <a:r>
              <a:rPr dirty="0" sz="1800" spc="-5">
                <a:latin typeface="Arial MT"/>
                <a:cs typeface="Arial MT"/>
              </a:rPr>
              <a:t>ro</a:t>
            </a:r>
            <a:r>
              <a:rPr dirty="0" sz="1800" spc="-15">
                <a:latin typeface="Arial MT"/>
                <a:cs typeface="Arial MT"/>
              </a:rPr>
              <a:t>l</a:t>
            </a:r>
            <a:r>
              <a:rPr dirty="0" sz="1800">
                <a:latin typeface="Arial MT"/>
                <a:cs typeface="Arial MT"/>
              </a:rPr>
              <a:t>—</a:t>
            </a:r>
            <a:r>
              <a:rPr dirty="0" sz="1800" spc="-5">
                <a:latin typeface="Arial MT"/>
                <a:cs typeface="Arial MT"/>
              </a:rPr>
              <a:t>i</a:t>
            </a:r>
            <a:r>
              <a:rPr dirty="0" sz="1800" spc="-15">
                <a:latin typeface="Arial MT"/>
                <a:cs typeface="Arial MT"/>
              </a:rPr>
              <a:t>n</a:t>
            </a:r>
            <a:r>
              <a:rPr dirty="0" sz="1800" spc="-5">
                <a:latin typeface="Arial MT"/>
                <a:cs typeface="Arial MT"/>
              </a:rPr>
              <a:t>ter</a:t>
            </a:r>
            <a:r>
              <a:rPr dirty="0" sz="1800" spc="-15">
                <a:latin typeface="Arial MT"/>
                <a:cs typeface="Arial MT"/>
              </a:rPr>
              <a:t>a</a:t>
            </a:r>
            <a:r>
              <a:rPr dirty="0" sz="1800" spc="-5">
                <a:latin typeface="Arial MT"/>
                <a:cs typeface="Arial MT"/>
              </a:rPr>
              <a:t>ctio</a:t>
            </a:r>
            <a:r>
              <a:rPr dirty="0" sz="1800" spc="-15">
                <a:latin typeface="Arial MT"/>
                <a:cs typeface="Arial MT"/>
              </a:rPr>
              <a:t>n</a:t>
            </a:r>
            <a:r>
              <a:rPr dirty="0" sz="1800">
                <a:latin typeface="Arial MT"/>
                <a:cs typeface="Arial MT"/>
              </a:rPr>
              <a:t>-</a:t>
            </a:r>
            <a:r>
              <a:rPr dirty="0" sz="1800" spc="-5">
                <a:latin typeface="Arial MT"/>
                <a:cs typeface="Arial MT"/>
              </a:rPr>
              <a:t>ori</a:t>
            </a:r>
            <a:r>
              <a:rPr dirty="0" sz="1800" spc="-15">
                <a:latin typeface="Arial MT"/>
                <a:cs typeface="Arial MT"/>
              </a:rPr>
              <a:t>e</a:t>
            </a:r>
            <a:r>
              <a:rPr dirty="0" sz="1800" spc="-5">
                <a:latin typeface="Arial MT"/>
                <a:cs typeface="Arial MT"/>
              </a:rPr>
              <a:t>nted  </a:t>
            </a:r>
            <a:r>
              <a:rPr dirty="0" sz="1800" spc="-5">
                <a:latin typeface="Arial MT"/>
                <a:cs typeface="Arial MT"/>
              </a:rPr>
              <a:t>Dorothy—self-oriented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Ed—interaction-oriented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Fred—task-oriented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54108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Group</a:t>
            </a:r>
            <a:r>
              <a:rPr dirty="0" spc="-15"/>
              <a:t> </a:t>
            </a:r>
            <a:r>
              <a:rPr dirty="0"/>
              <a:t>composition-</a:t>
            </a:r>
            <a:r>
              <a:rPr dirty="0" spc="-20"/>
              <a:t> </a:t>
            </a:r>
            <a:r>
              <a:rPr dirty="0" spc="-5"/>
              <a:t>CASE</a:t>
            </a:r>
            <a:r>
              <a:rPr dirty="0" spc="-10"/>
              <a:t> </a:t>
            </a:r>
            <a:r>
              <a:rPr dirty="0" spc="-5"/>
              <a:t>STUDY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7040"/>
            <a:ext cx="8100695" cy="475297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algn="just" marL="431800" marR="5080" indent="-419100">
              <a:lnSpc>
                <a:spcPct val="95100"/>
              </a:lnSpc>
              <a:spcBef>
                <a:spcPts val="225"/>
              </a:spcBef>
              <a:buClr>
                <a:srgbClr val="009999"/>
              </a:buClr>
              <a:buSzPct val="85000"/>
              <a:buFont typeface="Wingdings"/>
              <a:buChar char=""/>
              <a:tabLst>
                <a:tab pos="431800" algn="l"/>
              </a:tabLst>
            </a:pPr>
            <a:r>
              <a:rPr dirty="0" sz="2000">
                <a:latin typeface="Times New Roman"/>
                <a:cs typeface="Times New Roman"/>
              </a:rPr>
              <a:t>The way that a </a:t>
            </a:r>
            <a:r>
              <a:rPr dirty="0" sz="2000" spc="-5">
                <a:latin typeface="Times New Roman"/>
                <a:cs typeface="Times New Roman"/>
              </a:rPr>
              <a:t>group is organized affects </a:t>
            </a:r>
            <a:r>
              <a:rPr dirty="0" sz="2000">
                <a:latin typeface="Times New Roman"/>
                <a:cs typeface="Times New Roman"/>
              </a:rPr>
              <a:t>the </a:t>
            </a:r>
            <a:r>
              <a:rPr dirty="0" sz="2000" spc="-5">
                <a:latin typeface="Times New Roman"/>
                <a:cs typeface="Times New Roman"/>
              </a:rPr>
              <a:t>decisions that are made </a:t>
            </a:r>
            <a:r>
              <a:rPr dirty="0" sz="2000">
                <a:latin typeface="Times New Roman"/>
                <a:cs typeface="Times New Roman"/>
              </a:rPr>
              <a:t>by 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 group, </a:t>
            </a:r>
            <a:r>
              <a:rPr dirty="0" sz="2000" spc="-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ways that </a:t>
            </a:r>
            <a:r>
              <a:rPr dirty="0" sz="2000" spc="-10">
                <a:latin typeface="Times New Roman"/>
                <a:cs typeface="Times New Roman"/>
              </a:rPr>
              <a:t>information </a:t>
            </a:r>
            <a:r>
              <a:rPr dirty="0" sz="2000" spc="-5">
                <a:latin typeface="Times New Roman"/>
                <a:cs typeface="Times New Roman"/>
              </a:rPr>
              <a:t>is exchanged and </a:t>
            </a:r>
            <a:r>
              <a:rPr dirty="0" sz="2000">
                <a:latin typeface="Times New Roman"/>
                <a:cs typeface="Times New Roman"/>
              </a:rPr>
              <a:t>the </a:t>
            </a:r>
            <a:r>
              <a:rPr dirty="0" sz="2000" spc="-5">
                <a:latin typeface="Times New Roman"/>
                <a:cs typeface="Times New Roman"/>
              </a:rPr>
              <a:t>interactions </a:t>
            </a:r>
            <a:r>
              <a:rPr dirty="0" sz="2000">
                <a:latin typeface="Times New Roman"/>
                <a:cs typeface="Times New Roman"/>
              </a:rPr>
              <a:t> between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development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group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external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stakeholders.</a:t>
            </a:r>
            <a:endParaRPr sz="2000">
              <a:latin typeface="Times New Roman"/>
              <a:cs typeface="Times New Roman"/>
            </a:endParaRPr>
          </a:p>
          <a:p>
            <a:pPr algn="just" lvl="1" marL="850900" indent="-381635">
              <a:lnSpc>
                <a:spcPct val="100000"/>
              </a:lnSpc>
              <a:spcBef>
                <a:spcPts val="359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Key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questions</a:t>
            </a:r>
            <a:r>
              <a:rPr dirty="0" sz="2000" spc="-6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include:</a:t>
            </a:r>
            <a:endParaRPr sz="2000">
              <a:latin typeface="Times New Roman"/>
              <a:cs typeface="Times New Roman"/>
            </a:endParaRPr>
          </a:p>
          <a:p>
            <a:pPr lvl="2" marL="1308100" marR="8255" indent="-381000">
              <a:lnSpc>
                <a:spcPts val="2740"/>
              </a:lnSpc>
              <a:spcBef>
                <a:spcPts val="620"/>
              </a:spcBef>
              <a:buSzPct val="85416"/>
              <a:buFont typeface="Arial MT"/>
              <a:buChar char="–"/>
              <a:tabLst>
                <a:tab pos="1308100" algn="l"/>
                <a:tab pos="1308735" algn="l"/>
              </a:tabLst>
            </a:pP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Should</a:t>
            </a:r>
            <a:r>
              <a:rPr dirty="0" sz="2400" spc="19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the</a:t>
            </a:r>
            <a:r>
              <a:rPr dirty="0" sz="2400" spc="200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project</a:t>
            </a:r>
            <a:r>
              <a:rPr dirty="0" sz="2400" spc="190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manager</a:t>
            </a:r>
            <a:r>
              <a:rPr dirty="0" sz="2400" spc="210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be</a:t>
            </a:r>
            <a:r>
              <a:rPr dirty="0" sz="2400" spc="200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the</a:t>
            </a:r>
            <a:r>
              <a:rPr dirty="0" sz="2400" spc="19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technical</a:t>
            </a:r>
            <a:r>
              <a:rPr dirty="0" sz="2400" spc="200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leader</a:t>
            </a:r>
            <a:r>
              <a:rPr dirty="0" sz="2400" spc="210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spc="-15" i="1">
                <a:solidFill>
                  <a:srgbClr val="7E0000"/>
                </a:solidFill>
                <a:latin typeface="Times New Roman"/>
                <a:cs typeface="Times New Roman"/>
              </a:rPr>
              <a:t>of </a:t>
            </a:r>
            <a:r>
              <a:rPr dirty="0" sz="2400" spc="-58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the</a:t>
            </a:r>
            <a:r>
              <a:rPr dirty="0" sz="2400" spc="-1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group?</a:t>
            </a:r>
            <a:endParaRPr sz="2400">
              <a:latin typeface="Times New Roman"/>
              <a:cs typeface="Times New Roman"/>
            </a:endParaRPr>
          </a:p>
          <a:p>
            <a:pPr lvl="2" marL="1308100" marR="6985" indent="-381000">
              <a:lnSpc>
                <a:spcPts val="2740"/>
              </a:lnSpc>
              <a:spcBef>
                <a:spcPts val="570"/>
              </a:spcBef>
              <a:buSzPct val="85416"/>
              <a:buFont typeface="Arial MT"/>
              <a:buChar char="–"/>
              <a:tabLst>
                <a:tab pos="1308100" algn="l"/>
                <a:tab pos="1308735" algn="l"/>
                <a:tab pos="2056130" algn="l"/>
                <a:tab pos="2701290" algn="l"/>
                <a:tab pos="3175000" algn="l"/>
                <a:tab pos="4394200" algn="l"/>
                <a:tab pos="4819650" algn="l"/>
                <a:tab pos="5904865" algn="l"/>
                <a:tab pos="6972300" algn="l"/>
              </a:tabLst>
            </a:pP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Who	w</a:t>
            </a:r>
            <a:r>
              <a:rPr dirty="0" sz="2400" spc="-15" i="1">
                <a:solidFill>
                  <a:srgbClr val="7E0000"/>
                </a:solidFill>
                <a:latin typeface="Times New Roman"/>
                <a:cs typeface="Times New Roman"/>
              </a:rPr>
              <a:t>i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ll	</a:t>
            </a:r>
            <a:r>
              <a:rPr dirty="0" sz="2400" spc="-15" i="1">
                <a:solidFill>
                  <a:srgbClr val="7E0000"/>
                </a:solidFill>
                <a:latin typeface="Times New Roman"/>
                <a:cs typeface="Times New Roman"/>
              </a:rPr>
              <a:t>b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e	invol</a:t>
            </a:r>
            <a:r>
              <a:rPr dirty="0" sz="2400" spc="-10" i="1">
                <a:solidFill>
                  <a:srgbClr val="7E0000"/>
                </a:solidFill>
                <a:latin typeface="Times New Roman"/>
                <a:cs typeface="Times New Roman"/>
              </a:rPr>
              <a:t>v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ed	</a:t>
            </a:r>
            <a:r>
              <a:rPr dirty="0" sz="2400" spc="5" i="1">
                <a:solidFill>
                  <a:srgbClr val="7E0000"/>
                </a:solidFill>
                <a:latin typeface="Times New Roman"/>
                <a:cs typeface="Times New Roman"/>
              </a:rPr>
              <a:t>i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n	mak</a:t>
            </a:r>
            <a:r>
              <a:rPr dirty="0" sz="2400" spc="5" i="1">
                <a:solidFill>
                  <a:srgbClr val="7E0000"/>
                </a:solidFill>
                <a:latin typeface="Times New Roman"/>
                <a:cs typeface="Times New Roman"/>
              </a:rPr>
              <a:t>i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ng	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cri</a:t>
            </a:r>
            <a:r>
              <a:rPr dirty="0" sz="2400" spc="-15" i="1">
                <a:solidFill>
                  <a:srgbClr val="7E0000"/>
                </a:solidFill>
                <a:latin typeface="Times New Roman"/>
                <a:cs typeface="Times New Roman"/>
              </a:rPr>
              <a:t>t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ical	te</a:t>
            </a:r>
            <a:r>
              <a:rPr dirty="0" sz="2400" spc="-15" i="1">
                <a:solidFill>
                  <a:srgbClr val="7E0000"/>
                </a:solidFill>
                <a:latin typeface="Times New Roman"/>
                <a:cs typeface="Times New Roman"/>
              </a:rPr>
              <a:t>c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hnic</a:t>
            </a:r>
            <a:r>
              <a:rPr dirty="0" sz="2400" spc="-20" i="1">
                <a:solidFill>
                  <a:srgbClr val="7E0000"/>
                </a:solidFill>
                <a:latin typeface="Times New Roman"/>
                <a:cs typeface="Times New Roman"/>
              </a:rPr>
              <a:t>a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l 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decisions,</a:t>
            </a:r>
            <a:r>
              <a:rPr dirty="0" sz="2400" spc="-2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and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how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will</a:t>
            </a:r>
            <a:r>
              <a:rPr dirty="0" sz="2400" spc="-20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these</a:t>
            </a:r>
            <a:r>
              <a:rPr dirty="0" sz="2400" spc="-20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be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made?</a:t>
            </a:r>
            <a:endParaRPr sz="2400">
              <a:latin typeface="Times New Roman"/>
              <a:cs typeface="Times New Roman"/>
            </a:endParaRPr>
          </a:p>
          <a:p>
            <a:pPr lvl="2" marL="1308100" marR="7620" indent="-381000">
              <a:lnSpc>
                <a:spcPts val="2740"/>
              </a:lnSpc>
              <a:spcBef>
                <a:spcPts val="570"/>
              </a:spcBef>
              <a:buSzPct val="85416"/>
              <a:buFont typeface="Arial MT"/>
              <a:buChar char="–"/>
              <a:tabLst>
                <a:tab pos="1308100" algn="l"/>
                <a:tab pos="1308735" algn="l"/>
                <a:tab pos="2012314" algn="l"/>
                <a:tab pos="2597150" algn="l"/>
                <a:tab pos="4180840" algn="l"/>
                <a:tab pos="4833620" algn="l"/>
                <a:tab pos="7627620" algn="l"/>
              </a:tabLst>
            </a:pP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How	wi</a:t>
            </a:r>
            <a:r>
              <a:rPr dirty="0" sz="2400" spc="-10" i="1">
                <a:solidFill>
                  <a:srgbClr val="7E0000"/>
                </a:solidFill>
                <a:latin typeface="Times New Roman"/>
                <a:cs typeface="Times New Roman"/>
              </a:rPr>
              <a:t>l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l	i</a:t>
            </a:r>
            <a:r>
              <a:rPr dirty="0" sz="2400" spc="-10" i="1">
                <a:solidFill>
                  <a:srgbClr val="7E0000"/>
                </a:solidFill>
                <a:latin typeface="Times New Roman"/>
                <a:cs typeface="Times New Roman"/>
              </a:rPr>
              <a:t>n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te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r</a:t>
            </a:r>
            <a:r>
              <a:rPr dirty="0" sz="2400" spc="-15" i="1">
                <a:solidFill>
                  <a:srgbClr val="7E0000"/>
                </a:solidFill>
                <a:latin typeface="Times New Roman"/>
                <a:cs typeface="Times New Roman"/>
              </a:rPr>
              <a:t>a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ctions	w</a:t>
            </a:r>
            <a:r>
              <a:rPr dirty="0" sz="2400" spc="-15" i="1">
                <a:solidFill>
                  <a:srgbClr val="7E0000"/>
                </a:solidFill>
                <a:latin typeface="Times New Roman"/>
                <a:cs typeface="Times New Roman"/>
              </a:rPr>
              <a:t>i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th	ext</a:t>
            </a:r>
            <a:r>
              <a:rPr dirty="0" sz="2400" spc="5" i="1">
                <a:solidFill>
                  <a:srgbClr val="7E0000"/>
                </a:solidFill>
                <a:latin typeface="Times New Roman"/>
                <a:cs typeface="Times New Roman"/>
              </a:rPr>
              <a:t>e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rnal </a:t>
            </a:r>
            <a:r>
              <a:rPr dirty="0" sz="2400" spc="-21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sta</a:t>
            </a:r>
            <a:r>
              <a:rPr dirty="0" sz="2400" spc="5" i="1">
                <a:solidFill>
                  <a:srgbClr val="7E0000"/>
                </a:solidFill>
                <a:latin typeface="Times New Roman"/>
                <a:cs typeface="Times New Roman"/>
              </a:rPr>
              <a:t>k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eh</a:t>
            </a:r>
            <a:r>
              <a:rPr dirty="0" sz="2400" spc="-10" i="1">
                <a:solidFill>
                  <a:srgbClr val="7E0000"/>
                </a:solidFill>
                <a:latin typeface="Times New Roman"/>
                <a:cs typeface="Times New Roman"/>
              </a:rPr>
              <a:t>o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lders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	and 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senior</a:t>
            </a:r>
            <a:r>
              <a:rPr dirty="0" sz="2400" spc="-1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company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management</a:t>
            </a:r>
            <a:r>
              <a:rPr dirty="0" sz="2400" spc="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be</a:t>
            </a:r>
            <a:r>
              <a:rPr dirty="0" sz="2400" spc="-1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handled?</a:t>
            </a:r>
            <a:endParaRPr sz="2400">
              <a:latin typeface="Times New Roman"/>
              <a:cs typeface="Times New Roman"/>
            </a:endParaRPr>
          </a:p>
          <a:p>
            <a:pPr lvl="2" marL="1308100" marR="5080" indent="-381000">
              <a:lnSpc>
                <a:spcPts val="2740"/>
              </a:lnSpc>
              <a:spcBef>
                <a:spcPts val="570"/>
              </a:spcBef>
              <a:buSzPct val="85416"/>
              <a:buFont typeface="Arial MT"/>
              <a:buChar char="–"/>
              <a:tabLst>
                <a:tab pos="1308100" algn="l"/>
                <a:tab pos="1308735" algn="l"/>
                <a:tab pos="2047239" algn="l"/>
                <a:tab pos="2650490" algn="l"/>
                <a:tab pos="3662679" algn="l"/>
                <a:tab pos="4928235" algn="l"/>
                <a:tab pos="5902325" algn="l"/>
                <a:tab pos="6572884" algn="l"/>
                <a:tab pos="7143115" algn="l"/>
                <a:tab pos="7697470" algn="l"/>
              </a:tabLst>
            </a:pP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How	can	</a:t>
            </a:r>
            <a:r>
              <a:rPr dirty="0" sz="2400" spc="5" i="1">
                <a:solidFill>
                  <a:srgbClr val="7E0000"/>
                </a:solidFill>
                <a:latin typeface="Times New Roman"/>
                <a:cs typeface="Times New Roman"/>
              </a:rPr>
              <a:t>g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roups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	in</a:t>
            </a:r>
            <a:r>
              <a:rPr dirty="0" sz="2400" spc="5" i="1">
                <a:solidFill>
                  <a:srgbClr val="7E0000"/>
                </a:solidFill>
                <a:latin typeface="Times New Roman"/>
                <a:cs typeface="Times New Roman"/>
              </a:rPr>
              <a:t>t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e</a:t>
            </a:r>
            <a:r>
              <a:rPr dirty="0" sz="2400" spc="-10" i="1">
                <a:solidFill>
                  <a:srgbClr val="7E0000"/>
                </a:solidFill>
                <a:latin typeface="Times New Roman"/>
                <a:cs typeface="Times New Roman"/>
              </a:rPr>
              <a:t>g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rate	peo</a:t>
            </a:r>
            <a:r>
              <a:rPr dirty="0" sz="2400" spc="-10" i="1">
                <a:solidFill>
                  <a:srgbClr val="7E0000"/>
                </a:solidFill>
                <a:latin typeface="Times New Roman"/>
                <a:cs typeface="Times New Roman"/>
              </a:rPr>
              <a:t>p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le	who	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are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	</a:t>
            </a:r>
            <a:r>
              <a:rPr dirty="0" sz="2400" spc="5" i="1">
                <a:solidFill>
                  <a:srgbClr val="7E0000"/>
                </a:solidFill>
                <a:latin typeface="Times New Roman"/>
                <a:cs typeface="Times New Roman"/>
              </a:rPr>
              <a:t>n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ot	co- 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located?</a:t>
            </a:r>
            <a:endParaRPr sz="2400">
              <a:latin typeface="Times New Roman"/>
              <a:cs typeface="Times New Roman"/>
            </a:endParaRPr>
          </a:p>
          <a:p>
            <a:pPr lvl="2" marL="1308100" indent="-381635">
              <a:lnSpc>
                <a:spcPct val="100000"/>
              </a:lnSpc>
              <a:spcBef>
                <a:spcPts val="360"/>
              </a:spcBef>
              <a:buSzPct val="85416"/>
              <a:buFont typeface="Arial MT"/>
              <a:buChar char="–"/>
              <a:tabLst>
                <a:tab pos="1308100" algn="l"/>
                <a:tab pos="1308735" algn="l"/>
              </a:tabLst>
            </a:pP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How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can</a:t>
            </a:r>
            <a:r>
              <a:rPr dirty="0" sz="2400" spc="-10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knowledge</a:t>
            </a:r>
            <a:r>
              <a:rPr dirty="0" sz="2400" spc="-1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be</a:t>
            </a:r>
            <a:r>
              <a:rPr dirty="0" sz="2400" spc="-15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i="1">
                <a:solidFill>
                  <a:srgbClr val="7E0000"/>
                </a:solidFill>
                <a:latin typeface="Times New Roman"/>
                <a:cs typeface="Times New Roman"/>
              </a:rPr>
              <a:t>shared across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 the</a:t>
            </a:r>
            <a:r>
              <a:rPr dirty="0" sz="2400" spc="-10" i="1">
                <a:solidFill>
                  <a:srgbClr val="7E0000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7E0000"/>
                </a:solidFill>
                <a:latin typeface="Times New Roman"/>
                <a:cs typeface="Times New Roman"/>
              </a:rPr>
              <a:t>group?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0353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Group</a:t>
            </a:r>
            <a:r>
              <a:rPr dirty="0" spc="-50"/>
              <a:t> </a:t>
            </a:r>
            <a:r>
              <a:rPr dirty="0" spc="-5"/>
              <a:t>organization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40690" indent="-419100">
              <a:lnSpc>
                <a:spcPts val="2340"/>
              </a:lnSpc>
              <a:spcBef>
                <a:spcPts val="105"/>
              </a:spcBef>
              <a:buClr>
                <a:srgbClr val="009999"/>
              </a:buClr>
              <a:buSzPct val="85000"/>
              <a:buFont typeface="Wingdings"/>
              <a:buChar char=""/>
              <a:tabLst>
                <a:tab pos="440055" algn="l"/>
                <a:tab pos="440690" algn="l"/>
                <a:tab pos="1202690" algn="l"/>
                <a:tab pos="2247900" algn="l"/>
                <a:tab pos="3616960" algn="l"/>
                <a:tab pos="4481195" algn="l"/>
                <a:tab pos="4961255" algn="l"/>
                <a:tab pos="5865495" algn="l"/>
                <a:tab pos="7025005" algn="l"/>
              </a:tabLst>
            </a:pPr>
            <a:r>
              <a:rPr dirty="0"/>
              <a:t>S</a:t>
            </a:r>
            <a:r>
              <a:rPr dirty="0" spc="-25"/>
              <a:t>m</a:t>
            </a:r>
            <a:r>
              <a:rPr dirty="0"/>
              <a:t>a</a:t>
            </a:r>
            <a:r>
              <a:rPr dirty="0" spc="-10"/>
              <a:t>l</a:t>
            </a:r>
            <a:r>
              <a:rPr dirty="0"/>
              <a:t>l</a:t>
            </a:r>
            <a:r>
              <a:rPr dirty="0"/>
              <a:t>	</a:t>
            </a:r>
            <a:r>
              <a:rPr dirty="0"/>
              <a:t>sof</a:t>
            </a:r>
            <a:r>
              <a:rPr dirty="0" spc="-10"/>
              <a:t>t</a:t>
            </a:r>
            <a:r>
              <a:rPr dirty="0"/>
              <a:t>w</a:t>
            </a:r>
            <a:r>
              <a:rPr dirty="0" spc="-15"/>
              <a:t>a</a:t>
            </a:r>
            <a:r>
              <a:rPr dirty="0" spc="-10"/>
              <a:t>r</a:t>
            </a:r>
            <a:r>
              <a:rPr dirty="0"/>
              <a:t>e</a:t>
            </a:r>
            <a:r>
              <a:rPr dirty="0"/>
              <a:t>	</a:t>
            </a:r>
            <a:r>
              <a:rPr dirty="0"/>
              <a:t>eng</a:t>
            </a:r>
            <a:r>
              <a:rPr dirty="0" spc="-10"/>
              <a:t>i</a:t>
            </a:r>
            <a:r>
              <a:rPr dirty="0"/>
              <a:t>ne</a:t>
            </a:r>
            <a:r>
              <a:rPr dirty="0" spc="-15"/>
              <a:t>e</a:t>
            </a:r>
            <a:r>
              <a:rPr dirty="0"/>
              <a:t>r</a:t>
            </a:r>
            <a:r>
              <a:rPr dirty="0" spc="-15"/>
              <a:t>i</a:t>
            </a:r>
            <a:r>
              <a:rPr dirty="0" spc="-10"/>
              <a:t>n</a:t>
            </a:r>
            <a:r>
              <a:rPr dirty="0"/>
              <a:t>g</a:t>
            </a:r>
            <a:r>
              <a:rPr dirty="0"/>
              <a:t>	</a:t>
            </a:r>
            <a:r>
              <a:rPr dirty="0" spc="-10"/>
              <a:t>g</a:t>
            </a:r>
            <a:r>
              <a:rPr dirty="0"/>
              <a:t>ro</a:t>
            </a:r>
            <a:r>
              <a:rPr dirty="0" spc="-10"/>
              <a:t>u</a:t>
            </a:r>
            <a:r>
              <a:rPr dirty="0"/>
              <a:t>ps</a:t>
            </a:r>
            <a:r>
              <a:rPr dirty="0"/>
              <a:t>	</a:t>
            </a:r>
            <a:r>
              <a:rPr dirty="0" spc="-15"/>
              <a:t>a</a:t>
            </a:r>
            <a:r>
              <a:rPr dirty="0"/>
              <a:t>re</a:t>
            </a:r>
            <a:r>
              <a:rPr dirty="0"/>
              <a:t>	</a:t>
            </a:r>
            <a:r>
              <a:rPr dirty="0"/>
              <a:t>u</a:t>
            </a:r>
            <a:r>
              <a:rPr dirty="0" spc="-10"/>
              <a:t>s</a:t>
            </a:r>
            <a:r>
              <a:rPr dirty="0"/>
              <a:t>ual</a:t>
            </a:r>
            <a:r>
              <a:rPr dirty="0" spc="-10"/>
              <a:t>l</a:t>
            </a:r>
            <a:r>
              <a:rPr dirty="0"/>
              <a:t>y</a:t>
            </a:r>
            <a:r>
              <a:rPr dirty="0"/>
              <a:t>	</a:t>
            </a:r>
            <a:r>
              <a:rPr dirty="0"/>
              <a:t>org</a:t>
            </a:r>
            <a:r>
              <a:rPr dirty="0" spc="-15"/>
              <a:t>a</a:t>
            </a:r>
            <a:r>
              <a:rPr dirty="0"/>
              <a:t>n</a:t>
            </a:r>
            <a:r>
              <a:rPr dirty="0" spc="-15"/>
              <a:t>i</a:t>
            </a:r>
            <a:r>
              <a:rPr dirty="0"/>
              <a:t>sed</a:t>
            </a:r>
            <a:r>
              <a:rPr dirty="0"/>
              <a:t>	</a:t>
            </a:r>
            <a:r>
              <a:rPr dirty="0" spc="-20"/>
              <a:t>i</a:t>
            </a:r>
            <a:r>
              <a:rPr dirty="0" spc="-10"/>
              <a:t>nf</a:t>
            </a:r>
            <a:r>
              <a:rPr dirty="0"/>
              <a:t>o</a:t>
            </a:r>
            <a:r>
              <a:rPr dirty="0" spc="5"/>
              <a:t>r</a:t>
            </a:r>
            <a:r>
              <a:rPr dirty="0" spc="-20"/>
              <a:t>m</a:t>
            </a:r>
            <a:r>
              <a:rPr dirty="0"/>
              <a:t>a</a:t>
            </a:r>
            <a:r>
              <a:rPr dirty="0" spc="-10"/>
              <a:t>l</a:t>
            </a:r>
            <a:r>
              <a:rPr dirty="0"/>
              <a:t>ly</a:t>
            </a:r>
          </a:p>
          <a:p>
            <a:pPr marL="440690">
              <a:lnSpc>
                <a:spcPts val="2340"/>
              </a:lnSpc>
            </a:pPr>
            <a:r>
              <a:rPr dirty="0"/>
              <a:t>without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/>
              <a:t>rigid</a:t>
            </a:r>
            <a:r>
              <a:rPr dirty="0" spc="-40"/>
              <a:t> </a:t>
            </a:r>
            <a:r>
              <a:rPr dirty="0"/>
              <a:t>structure.</a:t>
            </a:r>
          </a:p>
          <a:p>
            <a:pPr marL="8890">
              <a:lnSpc>
                <a:spcPct val="100000"/>
              </a:lnSpc>
              <a:spcBef>
                <a:spcPts val="20"/>
              </a:spcBef>
            </a:pPr>
            <a:endParaRPr sz="2850"/>
          </a:p>
          <a:p>
            <a:pPr marL="440690" marR="6350" indent="-419100">
              <a:lnSpc>
                <a:spcPts val="2280"/>
              </a:lnSpc>
              <a:buClr>
                <a:srgbClr val="009999"/>
              </a:buClr>
              <a:buSzPct val="85000"/>
              <a:buFont typeface="Wingdings"/>
              <a:buChar char=""/>
              <a:tabLst>
                <a:tab pos="440055" algn="l"/>
                <a:tab pos="440690" algn="l"/>
              </a:tabLst>
            </a:pPr>
            <a:r>
              <a:rPr dirty="0"/>
              <a:t>For</a:t>
            </a:r>
            <a:r>
              <a:rPr dirty="0" spc="340"/>
              <a:t> </a:t>
            </a:r>
            <a:r>
              <a:rPr dirty="0" spc="-5"/>
              <a:t>large</a:t>
            </a:r>
            <a:r>
              <a:rPr dirty="0" spc="335"/>
              <a:t> </a:t>
            </a:r>
            <a:r>
              <a:rPr dirty="0" spc="-5"/>
              <a:t>projects,</a:t>
            </a:r>
            <a:r>
              <a:rPr dirty="0" spc="335"/>
              <a:t> </a:t>
            </a:r>
            <a:r>
              <a:rPr dirty="0" spc="-5"/>
              <a:t>there</a:t>
            </a:r>
            <a:r>
              <a:rPr dirty="0" spc="335"/>
              <a:t> </a:t>
            </a:r>
            <a:r>
              <a:rPr dirty="0" spc="-10"/>
              <a:t>may</a:t>
            </a:r>
            <a:r>
              <a:rPr dirty="0" spc="335"/>
              <a:t> </a:t>
            </a:r>
            <a:r>
              <a:rPr dirty="0"/>
              <a:t>be</a:t>
            </a:r>
            <a:r>
              <a:rPr dirty="0" spc="340"/>
              <a:t> </a:t>
            </a:r>
            <a:r>
              <a:rPr dirty="0"/>
              <a:t>a</a:t>
            </a:r>
            <a:r>
              <a:rPr dirty="0" spc="315"/>
              <a:t> </a:t>
            </a:r>
            <a:r>
              <a:rPr dirty="0" spc="-5"/>
              <a:t>hierarchical</a:t>
            </a:r>
            <a:r>
              <a:rPr dirty="0" spc="325"/>
              <a:t> </a:t>
            </a:r>
            <a:r>
              <a:rPr dirty="0" spc="-5"/>
              <a:t>structure</a:t>
            </a:r>
            <a:r>
              <a:rPr dirty="0" spc="330"/>
              <a:t> </a:t>
            </a:r>
            <a:r>
              <a:rPr dirty="0"/>
              <a:t>where</a:t>
            </a:r>
            <a:r>
              <a:rPr dirty="0" spc="335"/>
              <a:t> </a:t>
            </a:r>
            <a:r>
              <a:rPr dirty="0" spc="-5"/>
              <a:t>different </a:t>
            </a:r>
            <a:r>
              <a:rPr dirty="0" spc="-484"/>
              <a:t> </a:t>
            </a:r>
            <a:r>
              <a:rPr dirty="0"/>
              <a:t>groups</a:t>
            </a:r>
            <a:r>
              <a:rPr dirty="0" spc="-35"/>
              <a:t> </a:t>
            </a:r>
            <a:r>
              <a:rPr dirty="0"/>
              <a:t>are</a:t>
            </a:r>
            <a:r>
              <a:rPr dirty="0" spc="-10"/>
              <a:t> </a:t>
            </a:r>
            <a:r>
              <a:rPr dirty="0"/>
              <a:t>responsible</a:t>
            </a:r>
            <a:r>
              <a:rPr dirty="0" spc="-40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/>
              <a:t>different</a:t>
            </a:r>
            <a:r>
              <a:rPr dirty="0" spc="-40"/>
              <a:t> </a:t>
            </a:r>
            <a:r>
              <a:rPr dirty="0" spc="-5"/>
              <a:t>sub-projects.</a:t>
            </a:r>
          </a:p>
          <a:p>
            <a:pPr marL="8890">
              <a:lnSpc>
                <a:spcPct val="100000"/>
              </a:lnSpc>
              <a:spcBef>
                <a:spcPts val="20"/>
              </a:spcBef>
              <a:buClr>
                <a:srgbClr val="009999"/>
              </a:buClr>
              <a:buFont typeface="Wingdings"/>
              <a:buChar char=""/>
            </a:pPr>
            <a:endParaRPr sz="2800"/>
          </a:p>
          <a:p>
            <a:pPr marL="440690" marR="5080" indent="-419100">
              <a:lnSpc>
                <a:spcPts val="2280"/>
              </a:lnSpc>
              <a:buClr>
                <a:srgbClr val="009999"/>
              </a:buClr>
              <a:buSzPct val="85000"/>
              <a:buFont typeface="Wingdings"/>
              <a:buChar char=""/>
              <a:tabLst>
                <a:tab pos="440055" algn="l"/>
                <a:tab pos="440690" algn="l"/>
                <a:tab pos="1140460" algn="l"/>
                <a:tab pos="2585085" algn="l"/>
                <a:tab pos="2889885" algn="l"/>
                <a:tab pos="3731260" algn="l"/>
                <a:tab pos="4446270" algn="l"/>
                <a:tab pos="5286375" algn="l"/>
                <a:tab pos="5661025" algn="l"/>
                <a:tab pos="6666865" algn="l"/>
                <a:tab pos="7395845" algn="l"/>
                <a:tab pos="7785734" algn="l"/>
              </a:tabLst>
            </a:pPr>
            <a:r>
              <a:rPr dirty="0"/>
              <a:t>A</a:t>
            </a:r>
            <a:r>
              <a:rPr dirty="0" spc="10"/>
              <a:t>g</a:t>
            </a:r>
            <a:r>
              <a:rPr dirty="0"/>
              <a:t>i</a:t>
            </a:r>
            <a:r>
              <a:rPr dirty="0" spc="-10"/>
              <a:t>l</a:t>
            </a:r>
            <a:r>
              <a:rPr dirty="0"/>
              <a:t>e</a:t>
            </a:r>
            <a:r>
              <a:rPr dirty="0"/>
              <a:t>	</a:t>
            </a:r>
            <a:r>
              <a:rPr dirty="0"/>
              <a:t>d</a:t>
            </a:r>
            <a:r>
              <a:rPr dirty="0" spc="-10"/>
              <a:t>e</a:t>
            </a:r>
            <a:r>
              <a:rPr dirty="0"/>
              <a:t>ve</a:t>
            </a:r>
            <a:r>
              <a:rPr dirty="0" spc="-15"/>
              <a:t>l</a:t>
            </a:r>
            <a:r>
              <a:rPr dirty="0"/>
              <a:t>op</a:t>
            </a:r>
            <a:r>
              <a:rPr dirty="0" spc="-25"/>
              <a:t>m</a:t>
            </a:r>
            <a:r>
              <a:rPr dirty="0"/>
              <a:t>ent</a:t>
            </a:r>
            <a:r>
              <a:rPr dirty="0"/>
              <a:t>	</a:t>
            </a:r>
            <a:r>
              <a:rPr dirty="0" spc="-5"/>
              <a:t>i</a:t>
            </a:r>
            <a:r>
              <a:rPr dirty="0"/>
              <a:t>s</a:t>
            </a:r>
            <a:r>
              <a:rPr dirty="0"/>
              <a:t>	</a:t>
            </a:r>
            <a:r>
              <a:rPr dirty="0"/>
              <a:t>a</a:t>
            </a:r>
            <a:r>
              <a:rPr dirty="0" spc="-10"/>
              <a:t>l</a:t>
            </a:r>
            <a:r>
              <a:rPr dirty="0"/>
              <a:t>ways</a:t>
            </a:r>
            <a:r>
              <a:rPr dirty="0"/>
              <a:t>	</a:t>
            </a:r>
            <a:r>
              <a:rPr dirty="0"/>
              <a:t>b</a:t>
            </a:r>
            <a:r>
              <a:rPr dirty="0" spc="-10"/>
              <a:t>a</a:t>
            </a:r>
            <a:r>
              <a:rPr dirty="0"/>
              <a:t>sed</a:t>
            </a:r>
            <a:r>
              <a:rPr dirty="0"/>
              <a:t>	</a:t>
            </a:r>
            <a:r>
              <a:rPr dirty="0" spc="-15"/>
              <a:t>a</a:t>
            </a:r>
            <a:r>
              <a:rPr dirty="0" spc="-10"/>
              <a:t>r</a:t>
            </a:r>
            <a:r>
              <a:rPr dirty="0"/>
              <a:t>ound</a:t>
            </a:r>
            <a:r>
              <a:rPr dirty="0"/>
              <a:t>	</a:t>
            </a:r>
            <a:r>
              <a:rPr dirty="0" spc="-5"/>
              <a:t>a</a:t>
            </a:r>
            <a:r>
              <a:rPr dirty="0"/>
              <a:t>n</a:t>
            </a:r>
            <a:r>
              <a:rPr dirty="0"/>
              <a:t>	</a:t>
            </a:r>
            <a:r>
              <a:rPr dirty="0"/>
              <a:t>i</a:t>
            </a:r>
            <a:r>
              <a:rPr dirty="0" spc="-15"/>
              <a:t>n</a:t>
            </a:r>
            <a:r>
              <a:rPr dirty="0" spc="-10"/>
              <a:t>f</a:t>
            </a:r>
            <a:r>
              <a:rPr dirty="0"/>
              <a:t>or</a:t>
            </a:r>
            <a:r>
              <a:rPr dirty="0" spc="-25"/>
              <a:t>m</a:t>
            </a:r>
            <a:r>
              <a:rPr dirty="0"/>
              <a:t>al</a:t>
            </a:r>
            <a:r>
              <a:rPr dirty="0"/>
              <a:t>	</a:t>
            </a:r>
            <a:r>
              <a:rPr dirty="0"/>
              <a:t>gr</a:t>
            </a:r>
            <a:r>
              <a:rPr dirty="0" spc="-10"/>
              <a:t>o</a:t>
            </a:r>
            <a:r>
              <a:rPr dirty="0"/>
              <a:t>up</a:t>
            </a:r>
            <a:r>
              <a:rPr dirty="0"/>
              <a:t>	</a:t>
            </a:r>
            <a:r>
              <a:rPr dirty="0" spc="-10"/>
              <a:t>o</a:t>
            </a:r>
            <a:r>
              <a:rPr dirty="0"/>
              <a:t>n</a:t>
            </a:r>
            <a:r>
              <a:rPr dirty="0"/>
              <a:t>	</a:t>
            </a:r>
            <a:r>
              <a:rPr dirty="0" spc="-20"/>
              <a:t>t</a:t>
            </a:r>
            <a:r>
              <a:rPr dirty="0"/>
              <a:t>he  </a:t>
            </a:r>
            <a:r>
              <a:rPr dirty="0"/>
              <a:t>principle</a:t>
            </a:r>
            <a:r>
              <a:rPr dirty="0" spc="-45"/>
              <a:t> </a:t>
            </a:r>
            <a:r>
              <a:rPr dirty="0"/>
              <a:t>that</a:t>
            </a:r>
            <a:r>
              <a:rPr dirty="0" spc="-15"/>
              <a:t> </a:t>
            </a:r>
            <a:r>
              <a:rPr dirty="0" spc="-5"/>
              <a:t>formal</a:t>
            </a:r>
            <a:r>
              <a:rPr dirty="0" spc="-25"/>
              <a:t> </a:t>
            </a:r>
            <a:r>
              <a:rPr dirty="0"/>
              <a:t>structure</a:t>
            </a:r>
            <a:r>
              <a:rPr dirty="0" spc="-40"/>
              <a:t> </a:t>
            </a:r>
            <a:r>
              <a:rPr dirty="0"/>
              <a:t>inhibits</a:t>
            </a:r>
            <a:r>
              <a:rPr dirty="0" spc="-30"/>
              <a:t> </a:t>
            </a:r>
            <a:r>
              <a:rPr dirty="0" spc="-5"/>
              <a:t>information</a:t>
            </a:r>
            <a:r>
              <a:rPr dirty="0" spc="-35"/>
              <a:t> </a:t>
            </a:r>
            <a:r>
              <a:rPr dirty="0"/>
              <a:t>exchange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0353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Group</a:t>
            </a:r>
            <a:r>
              <a:rPr dirty="0" spc="-50"/>
              <a:t> </a:t>
            </a:r>
            <a:r>
              <a:rPr dirty="0" spc="-5"/>
              <a:t>organization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100059" cy="4306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0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  <a:tab pos="1062990" algn="l"/>
                <a:tab pos="1931670" algn="l"/>
                <a:tab pos="2562225" algn="l"/>
                <a:tab pos="2974340" algn="l"/>
                <a:tab pos="3266440" algn="l"/>
                <a:tab pos="4167504" algn="l"/>
                <a:tab pos="4765040" algn="l"/>
                <a:tab pos="5697855" algn="l"/>
                <a:tab pos="6092825" algn="l"/>
                <a:tab pos="6384925" algn="l"/>
                <a:tab pos="778002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ts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w</a:t>
            </a:r>
            <a:r>
              <a:rPr dirty="0" sz="2400" spc="-10">
                <a:latin typeface="Times New Roman"/>
                <a:cs typeface="Times New Roman"/>
              </a:rPr>
              <a:t>h</a:t>
            </a:r>
            <a:r>
              <a:rPr dirty="0" sz="2400">
                <a:latin typeface="Times New Roman"/>
                <a:cs typeface="Times New Roman"/>
              </a:rPr>
              <a:t>ole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o</a:t>
            </a:r>
            <a:r>
              <a:rPr dirty="0" sz="2400" spc="-20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es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consensus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431800">
              <a:lnSpc>
                <a:spcPts val="2810"/>
              </a:lnSpc>
            </a:pPr>
            <a:r>
              <a:rPr dirty="0" sz="2400">
                <a:latin typeface="Times New Roman"/>
                <a:cs typeface="Times New Roman"/>
              </a:rPr>
              <a:t>decisions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affecting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>
              <a:latin typeface="Times New Roman"/>
              <a:cs typeface="Times New Roman"/>
            </a:endParaRPr>
          </a:p>
          <a:p>
            <a:pPr marL="431800" marR="5715" indent="-419100">
              <a:lnSpc>
                <a:spcPts val="2740"/>
              </a:lnSpc>
              <a:spcBef>
                <a:spcPts val="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leader</a:t>
            </a:r>
            <a:r>
              <a:rPr dirty="0" sz="2400" spc="16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serves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as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external</a:t>
            </a:r>
            <a:r>
              <a:rPr dirty="0" sz="2400" spc="15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interface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but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does </a:t>
            </a:r>
            <a:r>
              <a:rPr dirty="0" sz="2400" spc="-5">
                <a:latin typeface="Times New Roman"/>
                <a:cs typeface="Times New Roman"/>
              </a:rPr>
              <a:t>not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allocate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specific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work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items.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9999"/>
              </a:buClr>
              <a:buFont typeface="Wingdings"/>
              <a:buChar char=""/>
            </a:pPr>
            <a:endParaRPr sz="3350">
              <a:latin typeface="Times New Roman"/>
              <a:cs typeface="Times New Roman"/>
            </a:endParaRPr>
          </a:p>
          <a:p>
            <a:pPr marL="431800" marR="6985" indent="-419100">
              <a:lnSpc>
                <a:spcPts val="2740"/>
              </a:lnSpc>
              <a:spcBef>
                <a:spcPts val="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Rather,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work</a:t>
            </a:r>
            <a:r>
              <a:rPr dirty="0" sz="2400" spc="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25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discussed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2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as</a:t>
            </a:r>
            <a:r>
              <a:rPr dirty="0" sz="2400" spc="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whole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24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tasks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allocated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according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ability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experience.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9999"/>
              </a:buClr>
              <a:buFont typeface="Wingdings"/>
              <a:buChar char=""/>
            </a:pPr>
            <a:endParaRPr sz="3350">
              <a:latin typeface="Times New Roman"/>
              <a:cs typeface="Times New Roman"/>
            </a:endParaRPr>
          </a:p>
          <a:p>
            <a:pPr marL="431800" marR="5080" indent="-419100">
              <a:lnSpc>
                <a:spcPts val="2740"/>
              </a:lnSpc>
              <a:spcBef>
                <a:spcPts val="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approach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successful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114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groups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where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all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members</a:t>
            </a:r>
            <a:r>
              <a:rPr dirty="0" sz="2400" spc="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experienced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competent.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5247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Informal</a:t>
            </a:r>
            <a:r>
              <a:rPr dirty="0" spc="-35"/>
              <a:t> </a:t>
            </a:r>
            <a:r>
              <a:rPr dirty="0" spc="-5"/>
              <a:t>groups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100695" cy="45072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431800" marR="5080" indent="-419100">
              <a:lnSpc>
                <a:spcPct val="95100"/>
              </a:lnSpc>
              <a:spcBef>
                <a:spcPts val="2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Cohesive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groups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prioritize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collective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goals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over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individual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interests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under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strong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leadership,</a:t>
            </a:r>
            <a:r>
              <a:rPr dirty="0" sz="2400">
                <a:latin typeface="Times New Roman"/>
                <a:cs typeface="Times New Roman"/>
              </a:rPr>
              <a:t> fostering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loyalty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and </a:t>
            </a:r>
            <a:r>
              <a:rPr dirty="0" sz="2400">
                <a:latin typeface="Times New Roman"/>
                <a:cs typeface="Times New Roman"/>
              </a:rPr>
              <a:t> resilience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tackle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challenges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effectively:</a:t>
            </a:r>
            <a:endParaRPr sz="2400">
              <a:latin typeface="Times New Roman"/>
              <a:cs typeface="Times New Roman"/>
            </a:endParaRPr>
          </a:p>
          <a:p>
            <a:pPr algn="just" marL="431800" indent="-419100">
              <a:lnSpc>
                <a:spcPct val="100000"/>
              </a:lnSpc>
              <a:spcBef>
                <a:spcPts val="434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benefits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creating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cohesive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>
              <a:latin typeface="Times New Roman"/>
              <a:cs typeface="Times New Roman"/>
            </a:endParaRPr>
          </a:p>
          <a:p>
            <a:pPr algn="just" marL="469900" marR="6350" indent="-457200">
              <a:lnSpc>
                <a:spcPts val="2740"/>
              </a:lnSpc>
              <a:spcBef>
                <a:spcPts val="5"/>
              </a:spcBef>
              <a:buClr>
                <a:srgbClr val="009999"/>
              </a:buClr>
              <a:buSzPct val="85416"/>
              <a:buAutoNum type="arabicPeriod"/>
              <a:tabLst>
                <a:tab pos="469900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The group can establish </a:t>
            </a:r>
            <a:r>
              <a:rPr dirty="0" sz="2400" b="1">
                <a:latin typeface="Times New Roman"/>
                <a:cs typeface="Times New Roman"/>
              </a:rPr>
              <a:t>its </a:t>
            </a:r>
            <a:r>
              <a:rPr dirty="0" sz="2400" spc="-10" b="1">
                <a:latin typeface="Times New Roman"/>
                <a:cs typeface="Times New Roman"/>
              </a:rPr>
              <a:t>own </a:t>
            </a:r>
            <a:r>
              <a:rPr dirty="0" sz="2400" b="1">
                <a:latin typeface="Times New Roman"/>
                <a:cs typeface="Times New Roman"/>
              </a:rPr>
              <a:t>quality </a:t>
            </a:r>
            <a:r>
              <a:rPr dirty="0" sz="2400" spc="-5" b="1">
                <a:latin typeface="Times New Roman"/>
                <a:cs typeface="Times New Roman"/>
              </a:rPr>
              <a:t>standards </a:t>
            </a:r>
            <a:r>
              <a:rPr dirty="0" sz="2400" spc="-5">
                <a:latin typeface="Times New Roman"/>
                <a:cs typeface="Times New Roman"/>
              </a:rPr>
              <a:t>Because </a:t>
            </a:r>
            <a:r>
              <a:rPr dirty="0" sz="2400">
                <a:latin typeface="Times New Roman"/>
                <a:cs typeface="Times New Roman"/>
              </a:rPr>
              <a:t> these </a:t>
            </a:r>
            <a:r>
              <a:rPr dirty="0" sz="2400" spc="-5">
                <a:latin typeface="Times New Roman"/>
                <a:cs typeface="Times New Roman"/>
              </a:rPr>
              <a:t>standards </a:t>
            </a:r>
            <a:r>
              <a:rPr dirty="0" sz="2400">
                <a:latin typeface="Times New Roman"/>
                <a:cs typeface="Times New Roman"/>
              </a:rPr>
              <a:t>are </a:t>
            </a:r>
            <a:r>
              <a:rPr dirty="0" sz="2400" spc="-5">
                <a:latin typeface="Times New Roman"/>
                <a:cs typeface="Times New Roman"/>
              </a:rPr>
              <a:t>established </a:t>
            </a:r>
            <a:r>
              <a:rPr dirty="0" sz="2400">
                <a:latin typeface="Times New Roman"/>
                <a:cs typeface="Times New Roman"/>
              </a:rPr>
              <a:t>by consensus, </a:t>
            </a:r>
            <a:r>
              <a:rPr dirty="0" sz="2400" spc="-5">
                <a:latin typeface="Times New Roman"/>
                <a:cs typeface="Times New Roman"/>
              </a:rPr>
              <a:t>they </a:t>
            </a:r>
            <a:r>
              <a:rPr dirty="0" sz="2400">
                <a:latin typeface="Times New Roman"/>
                <a:cs typeface="Times New Roman"/>
              </a:rPr>
              <a:t>are </a:t>
            </a:r>
            <a:r>
              <a:rPr dirty="0" sz="2400" spc="-5">
                <a:latin typeface="Times New Roman"/>
                <a:cs typeface="Times New Roman"/>
              </a:rPr>
              <a:t>more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likely </a:t>
            </a:r>
            <a:r>
              <a:rPr dirty="0" sz="2400">
                <a:latin typeface="Times New Roman"/>
                <a:cs typeface="Times New Roman"/>
              </a:rPr>
              <a:t>to </a:t>
            </a:r>
            <a:r>
              <a:rPr dirty="0" sz="2400" spc="-10">
                <a:latin typeface="Times New Roman"/>
                <a:cs typeface="Times New Roman"/>
              </a:rPr>
              <a:t>be </a:t>
            </a:r>
            <a:r>
              <a:rPr dirty="0" sz="2400">
                <a:latin typeface="Times New Roman"/>
                <a:cs typeface="Times New Roman"/>
              </a:rPr>
              <a:t>observed </a:t>
            </a:r>
            <a:r>
              <a:rPr dirty="0" sz="2400" spc="-5">
                <a:latin typeface="Times New Roman"/>
                <a:cs typeface="Times New Roman"/>
              </a:rPr>
              <a:t>than external standards imposed </a:t>
            </a:r>
            <a:r>
              <a:rPr dirty="0" sz="2400">
                <a:latin typeface="Times New Roman"/>
                <a:cs typeface="Times New Roman"/>
              </a:rPr>
              <a:t>on the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group.</a:t>
            </a:r>
            <a:endParaRPr sz="2400">
              <a:latin typeface="Times New Roman"/>
              <a:cs typeface="Times New Roman"/>
            </a:endParaRPr>
          </a:p>
          <a:p>
            <a:pPr algn="just" marL="469900" marR="8890" indent="-457200">
              <a:lnSpc>
                <a:spcPts val="2740"/>
              </a:lnSpc>
              <a:spcBef>
                <a:spcPts val="560"/>
              </a:spcBef>
              <a:buClr>
                <a:srgbClr val="009999"/>
              </a:buClr>
              <a:buSzPct val="85416"/>
              <a:buAutoNum type="arabicPeriod"/>
              <a:tabLst>
                <a:tab pos="469900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Individuals</a:t>
            </a:r>
            <a:r>
              <a:rPr dirty="0" sz="2400" b="1">
                <a:latin typeface="Times New Roman"/>
                <a:cs typeface="Times New Roman"/>
              </a:rPr>
              <a:t> learn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from</a:t>
            </a:r>
            <a:r>
              <a:rPr dirty="0" sz="240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and</a:t>
            </a:r>
            <a:r>
              <a:rPr dirty="0" sz="240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support</a:t>
            </a:r>
            <a:r>
              <a:rPr dirty="0" sz="2400" b="1">
                <a:latin typeface="Times New Roman"/>
                <a:cs typeface="Times New Roman"/>
              </a:rPr>
              <a:t> each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other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Group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members</a:t>
            </a:r>
            <a:r>
              <a:rPr dirty="0" sz="2400" spc="5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learn</a:t>
            </a:r>
            <a:r>
              <a:rPr dirty="0" sz="2400" spc="5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57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working</a:t>
            </a:r>
            <a:r>
              <a:rPr dirty="0" sz="2400" spc="56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together.</a:t>
            </a:r>
            <a:r>
              <a:rPr dirty="0" sz="2400" spc="57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Inhibitions</a:t>
            </a:r>
            <a:r>
              <a:rPr dirty="0" sz="2400" spc="5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caused</a:t>
            </a:r>
            <a:r>
              <a:rPr dirty="0" sz="2400" spc="560">
                <a:latin typeface="Times New Roman"/>
                <a:cs typeface="Times New Roman"/>
              </a:rPr>
              <a:t> </a:t>
            </a:r>
            <a:r>
              <a:rPr dirty="0" sz="2400" spc="-15">
                <a:latin typeface="Times New Roman"/>
                <a:cs typeface="Times New Roman"/>
              </a:rPr>
              <a:t>by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ignorance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5">
                <a:latin typeface="Times New Roman"/>
                <a:cs typeface="Times New Roman"/>
              </a:rPr>
              <a:t> minimized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mutual </a:t>
            </a:r>
            <a:r>
              <a:rPr dirty="0" sz="2400">
                <a:latin typeface="Times New Roman"/>
                <a:cs typeface="Times New Roman"/>
              </a:rPr>
              <a:t>learning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encouraged.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48285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Cohesive</a:t>
            </a:r>
            <a:r>
              <a:rPr dirty="0" spc="-55"/>
              <a:t> </a:t>
            </a:r>
            <a:r>
              <a:rPr dirty="0" spc="-5"/>
              <a:t>Group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9425" cy="29711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12700" marR="5715">
              <a:lnSpc>
                <a:spcPct val="95100"/>
              </a:lnSpc>
              <a:spcBef>
                <a:spcPts val="240"/>
              </a:spcBef>
              <a:buFont typeface="Times New Roman"/>
              <a:buAutoNum type="arabicPeriod" startAt="3"/>
              <a:tabLst>
                <a:tab pos="332740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Knowledge </a:t>
            </a:r>
            <a:r>
              <a:rPr dirty="0" sz="2400" b="1">
                <a:latin typeface="Times New Roman"/>
                <a:cs typeface="Times New Roman"/>
              </a:rPr>
              <a:t>is shared </a:t>
            </a:r>
            <a:r>
              <a:rPr dirty="0" sz="2400" spc="-5">
                <a:latin typeface="Times New Roman"/>
                <a:cs typeface="Times New Roman"/>
              </a:rPr>
              <a:t>Continuity </a:t>
            </a:r>
            <a:r>
              <a:rPr dirty="0" sz="2400">
                <a:latin typeface="Times New Roman"/>
                <a:cs typeface="Times New Roman"/>
              </a:rPr>
              <a:t>can </a:t>
            </a:r>
            <a:r>
              <a:rPr dirty="0" sz="2400" spc="-10">
                <a:latin typeface="Times New Roman"/>
                <a:cs typeface="Times New Roman"/>
              </a:rPr>
              <a:t>be </a:t>
            </a:r>
            <a:r>
              <a:rPr dirty="0" sz="2400" spc="-5">
                <a:latin typeface="Times New Roman"/>
                <a:cs typeface="Times New Roman"/>
              </a:rPr>
              <a:t>maintained </a:t>
            </a:r>
            <a:r>
              <a:rPr dirty="0" sz="2400">
                <a:latin typeface="Times New Roman"/>
                <a:cs typeface="Times New Roman"/>
              </a:rPr>
              <a:t>if a </a:t>
            </a:r>
            <a:r>
              <a:rPr dirty="0" sz="2400" spc="-5">
                <a:latin typeface="Times New Roman"/>
                <a:cs typeface="Times New Roman"/>
              </a:rPr>
              <a:t>group 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member</a:t>
            </a:r>
            <a:r>
              <a:rPr dirty="0" sz="2400" spc="59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leaves. Others </a:t>
            </a:r>
            <a:r>
              <a:rPr dirty="0" sz="2400">
                <a:latin typeface="Times New Roman"/>
                <a:cs typeface="Times New Roman"/>
              </a:rPr>
              <a:t>in the group can take </a:t>
            </a:r>
            <a:r>
              <a:rPr dirty="0" sz="2400" spc="-5">
                <a:latin typeface="Times New Roman"/>
                <a:cs typeface="Times New Roman"/>
              </a:rPr>
              <a:t>over critical tasks </a:t>
            </a:r>
            <a:r>
              <a:rPr dirty="0" sz="2400">
                <a:latin typeface="Times New Roman"/>
                <a:cs typeface="Times New Roman"/>
              </a:rPr>
              <a:t> 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ensure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project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 not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unduly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disrupted.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AutoNum type="arabicPeriod" startAt="3"/>
            </a:pPr>
            <a:endParaRPr sz="3350">
              <a:latin typeface="Times New Roman"/>
              <a:cs typeface="Times New Roman"/>
            </a:endParaRPr>
          </a:p>
          <a:p>
            <a:pPr algn="just" marL="12700" marR="5080">
              <a:lnSpc>
                <a:spcPct val="95000"/>
              </a:lnSpc>
              <a:spcBef>
                <a:spcPts val="5"/>
              </a:spcBef>
              <a:buFont typeface="Times New Roman"/>
              <a:buAutoNum type="arabicPeriod" startAt="3"/>
              <a:tabLst>
                <a:tab pos="430530" algn="l"/>
              </a:tabLst>
            </a:pPr>
            <a:r>
              <a:rPr dirty="0" sz="2400" b="1">
                <a:latin typeface="Times New Roman"/>
                <a:cs typeface="Times New Roman"/>
              </a:rPr>
              <a:t>Refactoring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continual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improvement</a:t>
            </a:r>
            <a:r>
              <a:rPr dirty="0" sz="2400" b="1">
                <a:latin typeface="Times New Roman"/>
                <a:cs typeface="Times New Roman"/>
              </a:rPr>
              <a:t> is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encouraged 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Group members work collectively </a:t>
            </a:r>
            <a:r>
              <a:rPr dirty="0" sz="2400" spc="-10">
                <a:latin typeface="Times New Roman"/>
                <a:cs typeface="Times New Roman"/>
              </a:rPr>
              <a:t>to </a:t>
            </a:r>
            <a:r>
              <a:rPr dirty="0" sz="2400" spc="-5">
                <a:latin typeface="Times New Roman"/>
                <a:cs typeface="Times New Roman"/>
              </a:rPr>
              <a:t>deliver high-quality results </a:t>
            </a:r>
            <a:r>
              <a:rPr dirty="0" sz="2400">
                <a:latin typeface="Times New Roman"/>
                <a:cs typeface="Times New Roman"/>
              </a:rPr>
              <a:t> and fix </a:t>
            </a:r>
            <a:r>
              <a:rPr dirty="0" sz="2400" spc="-5">
                <a:latin typeface="Times New Roman"/>
                <a:cs typeface="Times New Roman"/>
              </a:rPr>
              <a:t>problems, irrespective </a:t>
            </a:r>
            <a:r>
              <a:rPr dirty="0" sz="2400">
                <a:latin typeface="Times New Roman"/>
                <a:cs typeface="Times New Roman"/>
              </a:rPr>
              <a:t>of </a:t>
            </a:r>
            <a:r>
              <a:rPr dirty="0" sz="2400" spc="-5">
                <a:latin typeface="Times New Roman"/>
                <a:cs typeface="Times New Roman"/>
              </a:rPr>
              <a:t>the </a:t>
            </a:r>
            <a:r>
              <a:rPr dirty="0" sz="2400">
                <a:latin typeface="Times New Roman"/>
                <a:cs typeface="Times New Roman"/>
              </a:rPr>
              <a:t>individuals who originally 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created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design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program.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248285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Cohesive</a:t>
            </a:r>
            <a:r>
              <a:rPr dirty="0" spc="-55"/>
              <a:t> </a:t>
            </a:r>
            <a:r>
              <a:rPr dirty="0" spc="-5"/>
              <a:t>Group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612468"/>
            <a:ext cx="8099425" cy="2275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0" indent="-419100">
              <a:lnSpc>
                <a:spcPts val="2810"/>
              </a:lnSpc>
              <a:spcBef>
                <a:spcPts val="10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  <a:tab pos="1344930" algn="l"/>
                <a:tab pos="3592829" algn="l"/>
                <a:tab pos="4199255" algn="l"/>
                <a:tab pos="5483225" algn="l"/>
                <a:tab pos="6072505" algn="l"/>
                <a:tab pos="7372984" algn="l"/>
              </a:tabLst>
            </a:pPr>
            <a:r>
              <a:rPr dirty="0" sz="2400" spc="-5">
                <a:latin typeface="Times New Roman"/>
                <a:cs typeface="Times New Roman"/>
              </a:rPr>
              <a:t>Good	communications	</a:t>
            </a:r>
            <a:r>
              <a:rPr dirty="0" sz="2400">
                <a:latin typeface="Times New Roman"/>
                <a:cs typeface="Times New Roman"/>
              </a:rPr>
              <a:t>are	</a:t>
            </a:r>
            <a:r>
              <a:rPr dirty="0" sz="2400" spc="-5">
                <a:latin typeface="Times New Roman"/>
                <a:cs typeface="Times New Roman"/>
              </a:rPr>
              <a:t>essential	for	effective	group</a:t>
            </a:r>
            <a:endParaRPr sz="2400">
              <a:latin typeface="Times New Roman"/>
              <a:cs typeface="Times New Roman"/>
            </a:endParaRPr>
          </a:p>
          <a:p>
            <a:pPr marL="431800">
              <a:lnSpc>
                <a:spcPts val="2810"/>
              </a:lnSpc>
            </a:pPr>
            <a:r>
              <a:rPr dirty="0" sz="2400">
                <a:latin typeface="Times New Roman"/>
                <a:cs typeface="Times New Roman"/>
              </a:rPr>
              <a:t>working.</a:t>
            </a:r>
            <a:endParaRPr sz="2400">
              <a:latin typeface="Times New Roman"/>
              <a:cs typeface="Times New Roman"/>
            </a:endParaRPr>
          </a:p>
          <a:p>
            <a:pPr marL="431800" marR="8255" indent="-419100">
              <a:lnSpc>
                <a:spcPts val="2740"/>
              </a:lnSpc>
              <a:spcBef>
                <a:spcPts val="6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Information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must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exchanged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status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work,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design </a:t>
            </a:r>
            <a:r>
              <a:rPr dirty="0" sz="2400" spc="-5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decisions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changes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previous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decisions.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lnSpc>
                <a:spcPts val="2810"/>
              </a:lnSpc>
              <a:spcBef>
                <a:spcPts val="36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 spc="-5">
                <a:latin typeface="Times New Roman"/>
                <a:cs typeface="Times New Roman"/>
              </a:rPr>
              <a:t>Good</a:t>
            </a:r>
            <a:r>
              <a:rPr dirty="0" sz="2400" spc="37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communications</a:t>
            </a:r>
            <a:r>
              <a:rPr dirty="0" sz="2400" spc="3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also</a:t>
            </a:r>
            <a:r>
              <a:rPr dirty="0" sz="2400" spc="3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strengthens</a:t>
            </a:r>
            <a:r>
              <a:rPr dirty="0" sz="2400" spc="3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3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cohesion</a:t>
            </a:r>
            <a:r>
              <a:rPr dirty="0" sz="2400" spc="38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as</a:t>
            </a:r>
            <a:r>
              <a:rPr dirty="0" sz="2400" spc="3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endParaRPr sz="2400">
              <a:latin typeface="Times New Roman"/>
              <a:cs typeface="Times New Roman"/>
            </a:endParaRPr>
          </a:p>
          <a:p>
            <a:pPr marL="431800">
              <a:lnSpc>
                <a:spcPts val="2810"/>
              </a:lnSpc>
            </a:pPr>
            <a:r>
              <a:rPr dirty="0" sz="2400" spc="-5">
                <a:latin typeface="Times New Roman"/>
                <a:cs typeface="Times New Roman"/>
              </a:rPr>
              <a:t>promotes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understanding.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6112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Group</a:t>
            </a:r>
            <a:r>
              <a:rPr dirty="0" spc="-20"/>
              <a:t> </a:t>
            </a:r>
            <a:r>
              <a:rPr dirty="0" spc="-5"/>
              <a:t>communications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555429"/>
            <a:ext cx="8084820" cy="380492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05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size</a:t>
            </a:r>
            <a:endParaRPr sz="2400">
              <a:latin typeface="Times New Roman"/>
              <a:cs typeface="Times New Roman"/>
            </a:endParaRPr>
          </a:p>
          <a:p>
            <a:pPr lvl="1" marL="850900" marR="264160" indent="-381635">
              <a:lnSpc>
                <a:spcPts val="2160"/>
              </a:lnSpc>
              <a:spcBef>
                <a:spcPts val="53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 larger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group,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harder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it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is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for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people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to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communicate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with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other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group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members.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structure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ts val="2280"/>
              </a:lnSpc>
              <a:spcBef>
                <a:spcPts val="259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Communication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is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better</a:t>
            </a:r>
            <a:r>
              <a:rPr dirty="0" sz="2000" spc="-2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in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informally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structured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groups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than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850900">
              <a:lnSpc>
                <a:spcPts val="2280"/>
              </a:lnSpc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hierarchically</a:t>
            </a:r>
            <a:r>
              <a:rPr dirty="0" sz="2000" spc="-6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structured</a:t>
            </a:r>
            <a:r>
              <a:rPr dirty="0" sz="2000" spc="-6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groups.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7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Group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composition</a:t>
            </a:r>
            <a:endParaRPr sz="2400">
              <a:latin typeface="Times New Roman"/>
              <a:cs typeface="Times New Roman"/>
            </a:endParaRPr>
          </a:p>
          <a:p>
            <a:pPr lvl="1" marL="850900" marR="5080" indent="-381635">
              <a:lnSpc>
                <a:spcPts val="2160"/>
              </a:lnSpc>
              <a:spcBef>
                <a:spcPts val="530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Communication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 is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 better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when</a:t>
            </a:r>
            <a:r>
              <a:rPr dirty="0" sz="2000" spc="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there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are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different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personality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types</a:t>
            </a:r>
            <a:r>
              <a:rPr dirty="0" sz="2000" spc="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in</a:t>
            </a:r>
            <a:r>
              <a:rPr dirty="0" sz="2000" spc="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 </a:t>
            </a:r>
            <a:r>
              <a:rPr dirty="0" sz="2000" spc="-484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group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and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when groups</a:t>
            </a:r>
            <a:r>
              <a:rPr dirty="0" sz="2000" spc="-4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are</a:t>
            </a:r>
            <a:r>
              <a:rPr dirty="0" sz="2000" spc="-1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mixed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rather</a:t>
            </a:r>
            <a:r>
              <a:rPr dirty="0" sz="2000" spc="-3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than</a:t>
            </a:r>
            <a:r>
              <a:rPr dirty="0" sz="2000" spc="-1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single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sex.</a:t>
            </a:r>
            <a:endParaRPr sz="2000">
              <a:latin typeface="Times New Roman"/>
              <a:cs typeface="Times New Roman"/>
            </a:endParaRPr>
          </a:p>
          <a:p>
            <a:pPr marL="431800" indent="-419100">
              <a:lnSpc>
                <a:spcPct val="100000"/>
              </a:lnSpc>
              <a:spcBef>
                <a:spcPts val="240"/>
              </a:spcBef>
              <a:buClr>
                <a:srgbClr val="009999"/>
              </a:buClr>
              <a:buSzPct val="85416"/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physical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work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environment</a:t>
            </a:r>
            <a:endParaRPr sz="2400">
              <a:latin typeface="Times New Roman"/>
              <a:cs typeface="Times New Roman"/>
            </a:endParaRPr>
          </a:p>
          <a:p>
            <a:pPr lvl="1" marL="850900" indent="-381635">
              <a:lnSpc>
                <a:spcPct val="100000"/>
              </a:lnSpc>
              <a:spcBef>
                <a:spcPts val="259"/>
              </a:spcBef>
              <a:buFont typeface="Arial MT"/>
              <a:buChar char="—"/>
              <a:tabLst>
                <a:tab pos="851535" algn="l"/>
              </a:tabLst>
            </a:pP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Good</a:t>
            </a:r>
            <a:r>
              <a:rPr dirty="0" sz="2000" spc="-2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workplace</a:t>
            </a:r>
            <a:r>
              <a:rPr dirty="0" sz="2000" spc="-3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organisation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can help</a:t>
            </a:r>
            <a:r>
              <a:rPr dirty="0" sz="2000" spc="5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9007E"/>
                </a:solidFill>
                <a:latin typeface="Times New Roman"/>
                <a:cs typeface="Times New Roman"/>
              </a:rPr>
              <a:t>encourage</a:t>
            </a:r>
            <a:r>
              <a:rPr dirty="0" sz="2000" spc="-40">
                <a:solidFill>
                  <a:srgbClr val="09007E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09007E"/>
                </a:solidFill>
                <a:latin typeface="Times New Roman"/>
                <a:cs typeface="Times New Roman"/>
              </a:rPr>
              <a:t>communications.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100" y="486232"/>
            <a:ext cx="36112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Group</a:t>
            </a:r>
            <a:r>
              <a:rPr dirty="0" spc="-20"/>
              <a:t> </a:t>
            </a:r>
            <a:r>
              <a:rPr dirty="0" spc="-5"/>
              <a:t>communications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Oscar Nierstrasz</dc:creator>
  <dc:title>PowerPoint Presentation</dc:title>
  <dcterms:created xsi:type="dcterms:W3CDTF">2024-07-25T18:01:43Z</dcterms:created>
  <dcterms:modified xsi:type="dcterms:W3CDTF">2024-07-25T18:01:43Z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2024-07-15T00:00:00Z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2024-07-25T00:00:00Z</vt:filetime>
  </property>
</Properties>
</file>