
<file path=[Content_Types].xml><?xml version="1.0" encoding="utf-8"?>
<Types xmlns="http://schemas.openxmlformats.org/package/2006/content-types">
  <Default Extension="jpg" ContentType="image/jpeg"/>
  <Default Extension="pdf" ContentType="application/pdf"/>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entation.xml" ContentType="application/vnd.openxmlformats-officedocument.presentationml.presentation.main+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30.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8" r:id="rId2"/>
    <p:sldMasterId id="2147483690" r:id="rId3"/>
    <p:sldMasterId id="2147483702" r:id="rId4"/>
    <p:sldMasterId id="2147483714" r:id="rId5"/>
  </p:sldMasterIdLst>
  <p:notesMasterIdLst>
    <p:notesMasterId r:id="rId40"/>
  </p:notesMasterIdLst>
  <p:handoutMasterIdLst>
    <p:handoutMasterId r:id="rId41"/>
  </p:handoutMasterIdLst>
  <p:sldIdLst>
    <p:sldId id="256" r:id="rId6"/>
    <p:sldId id="288" r:id="rId7"/>
    <p:sldId id="328" r:id="rId8"/>
    <p:sldId id="329" r:id="rId9"/>
    <p:sldId id="284" r:id="rId10"/>
    <p:sldId id="285" r:id="rId11"/>
    <p:sldId id="266" r:id="rId12"/>
    <p:sldId id="267" r:id="rId13"/>
    <p:sldId id="268" r:id="rId14"/>
    <p:sldId id="300" r:id="rId15"/>
    <p:sldId id="289" r:id="rId16"/>
    <p:sldId id="290" r:id="rId17"/>
    <p:sldId id="292" r:id="rId18"/>
    <p:sldId id="293" r:id="rId19"/>
    <p:sldId id="291" r:id="rId20"/>
    <p:sldId id="301" r:id="rId21"/>
    <p:sldId id="302" r:id="rId22"/>
    <p:sldId id="303" r:id="rId23"/>
    <p:sldId id="304"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 id="325" r:id="rId37"/>
    <p:sldId id="326" r:id="rId38"/>
    <p:sldId id="327" r:id="rId3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2" autoAdjust="0"/>
    <p:restoredTop sz="94660"/>
  </p:normalViewPr>
  <p:slideViewPr>
    <p:cSldViewPr snapToGrid="0" snapToObjects="1">
      <p:cViewPr varScale="1">
        <p:scale>
          <a:sx n="75" d="100"/>
          <a:sy n="75" d="100"/>
        </p:scale>
        <p:origin x="1766" y="48"/>
      </p:cViewPr>
      <p:guideLst>
        <p:guide orient="horz" pos="2160"/>
        <p:guide pos="2880"/>
      </p:guideLst>
    </p:cSldViewPr>
  </p:slideViewPr>
  <p:notesTextViewPr>
    <p:cViewPr>
      <p:scale>
        <a:sx n="200" d="100"/>
        <a:sy n="2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customXml" Target="../customXml/item1.xml"/><Relationship Id="rId20" Type="http://schemas.openxmlformats.org/officeDocument/2006/relationships/slide" Target="slides/slide15.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FE14BF-BB0A-CE41-86BB-F7FC0A4FC638}" type="datetimeFigureOut">
              <a:rPr lang="en-US" smtClean="0"/>
              <a:t>6/10/2024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B69FD77-E09D-C542-B7B5-4D4345C3E158}" type="slidenum">
              <a:rPr lang="en-US" smtClean="0"/>
              <a:t>‹#›</a:t>
            </a:fld>
            <a:endParaRPr lang="en-US"/>
          </a:p>
        </p:txBody>
      </p:sp>
    </p:spTree>
    <p:extLst>
      <p:ext uri="{BB962C8B-B14F-4D97-AF65-F5344CB8AC3E}">
        <p14:creationId xmlns:p14="http://schemas.microsoft.com/office/powerpoint/2010/main" val="31126468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B3F966-EB11-714A-9149-E802AF9D57B9}" type="datetimeFigureOut">
              <a:rPr lang="en-US" smtClean="0"/>
              <a:pPr/>
              <a:t>6/10/2024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FCBF73-0733-5145-9EF1-194A2E62BF21}" type="slidenum">
              <a:rPr lang="en-US" smtClean="0"/>
              <a:pPr/>
              <a:t>‹#›</a:t>
            </a:fld>
            <a:endParaRPr lang="en-US"/>
          </a:p>
        </p:txBody>
      </p:sp>
    </p:spTree>
    <p:extLst>
      <p:ext uri="{BB962C8B-B14F-4D97-AF65-F5344CB8AC3E}">
        <p14:creationId xmlns:p14="http://schemas.microsoft.com/office/powerpoint/2010/main" val="407368905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77FCBF73-0733-5145-9EF1-194A2E62BF21}" type="slidenum">
              <a:rPr lang="en-US" smtClean="0"/>
              <a:pPr/>
              <a:t>23</a:t>
            </a:fld>
            <a:endParaRPr lang="en-US"/>
          </a:p>
        </p:txBody>
      </p:sp>
    </p:spTree>
    <p:extLst>
      <p:ext uri="{BB962C8B-B14F-4D97-AF65-F5344CB8AC3E}">
        <p14:creationId xmlns:p14="http://schemas.microsoft.com/office/powerpoint/2010/main" val="2370772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1447800"/>
            <a:ext cx="7315200" cy="5029200"/>
          </a:xfrm>
          <a:prstGeom prst="rect">
            <a:avLst/>
          </a:prstGeom>
          <a:solidFill>
            <a:srgbClr val="9CBDD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endParaRPr lang="de-DE" altLang="en-US">
              <a:latin typeface="Times" panose="02020603050405020304" pitchFamily="18" charset="0"/>
            </a:endParaRPr>
          </a:p>
        </p:txBody>
      </p:sp>
      <p:sp>
        <p:nvSpPr>
          <p:cNvPr id="5" name="Rectangle 2"/>
          <p:cNvSpPr>
            <a:spLocks noChangeArrowheads="1"/>
          </p:cNvSpPr>
          <p:nvPr/>
        </p:nvSpPr>
        <p:spPr bwMode="auto">
          <a:xfrm>
            <a:off x="7305675" y="1447800"/>
            <a:ext cx="1835150" cy="5029200"/>
          </a:xfrm>
          <a:prstGeom prst="rect">
            <a:avLst/>
          </a:prstGeom>
          <a:solidFill>
            <a:srgbClr val="B3CCE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endParaRPr lang="de-DE" altLang="en-US">
              <a:solidFill>
                <a:srgbClr val="BED3EA"/>
              </a:solidFill>
              <a:latin typeface="Times" panose="02020603050405020304" pitchFamily="18" charset="0"/>
            </a:endParaRPr>
          </a:p>
        </p:txBody>
      </p:sp>
      <p:sp>
        <p:nvSpPr>
          <p:cNvPr id="218117" name="Rectangle 5"/>
          <p:cNvSpPr>
            <a:spLocks noGrp="1" noChangeArrowheads="1"/>
          </p:cNvSpPr>
          <p:nvPr>
            <p:ph type="ctrTitle"/>
          </p:nvPr>
        </p:nvSpPr>
        <p:spPr>
          <a:xfrm>
            <a:off x="539750" y="1654175"/>
            <a:ext cx="6621463" cy="1143000"/>
          </a:xfrm>
        </p:spPr>
        <p:txBody>
          <a:bodyPr/>
          <a:lstStyle>
            <a:lvl1pPr>
              <a:defRPr>
                <a:solidFill>
                  <a:srgbClr val="550F85"/>
                </a:solidFill>
              </a:defRPr>
            </a:lvl1pPr>
          </a:lstStyle>
          <a:p>
            <a:r>
              <a:rPr lang="en-US"/>
              <a:t>Click to edit Master title style</a:t>
            </a:r>
            <a:endParaRPr lang="de-CH"/>
          </a:p>
        </p:txBody>
      </p:sp>
      <p:sp>
        <p:nvSpPr>
          <p:cNvPr id="218118" name="Rectangle 6"/>
          <p:cNvSpPr>
            <a:spLocks noGrp="1" noChangeArrowheads="1"/>
          </p:cNvSpPr>
          <p:nvPr>
            <p:ph type="subTitle" idx="1"/>
          </p:nvPr>
        </p:nvSpPr>
        <p:spPr>
          <a:xfrm>
            <a:off x="539750" y="3022600"/>
            <a:ext cx="6621463" cy="1752600"/>
          </a:xfrm>
        </p:spPr>
        <p:txBody>
          <a:bodyPr anchor="t"/>
          <a:lstStyle>
            <a:lvl1pPr marL="0" indent="0">
              <a:buFontTx/>
              <a:buNone/>
              <a:defRPr/>
            </a:lvl1pPr>
          </a:lstStyle>
          <a:p>
            <a:r>
              <a:rPr lang="en-US"/>
              <a:t>Click to edit Master subtitle style</a:t>
            </a:r>
            <a:endParaRPr lang="de-CH"/>
          </a:p>
        </p:txBody>
      </p:sp>
    </p:spTree>
    <p:extLst>
      <p:ext uri="{BB962C8B-B14F-4D97-AF65-F5344CB8AC3E}">
        <p14:creationId xmlns:p14="http://schemas.microsoft.com/office/powerpoint/2010/main" val="1527856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lvl1pPr>
              <a:buFont typeface="Wingdings" pitchFamily="2" charset="2"/>
              <a:buChar char="Ø"/>
              <a:defRPr>
                <a:solidFill>
                  <a:schemeClr val="tx2"/>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a:lstStyle>
            <a:lvl1pPr>
              <a:defRPr>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626236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9750" y="1654175"/>
            <a:ext cx="395922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1375" y="1654175"/>
            <a:ext cx="395922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946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2086246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581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D61E10E-A035-404E-82DF-EFB0BCE9E630}"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0AB3CB6-2A8C-4E46-AB22-6F9FB02908B8}" type="slidenum">
              <a:rPr lang="en-US" altLang="en-PK"/>
              <a:pPr/>
              <a:t>‹#›</a:t>
            </a:fld>
            <a:endParaRPr lang="en-US" altLang="en-PK"/>
          </a:p>
        </p:txBody>
      </p:sp>
    </p:spTree>
    <p:extLst>
      <p:ext uri="{BB962C8B-B14F-4D97-AF65-F5344CB8AC3E}">
        <p14:creationId xmlns:p14="http://schemas.microsoft.com/office/powerpoint/2010/main" val="120119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F176922-6E75-489B-8678-CD4D1D90B9DF}"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D994E7A-351C-4C48-89F6-7B5197EC739C}" type="slidenum">
              <a:rPr lang="en-US" altLang="en-PK"/>
              <a:pPr/>
              <a:t>‹#›</a:t>
            </a:fld>
            <a:endParaRPr lang="en-US" altLang="en-PK"/>
          </a:p>
        </p:txBody>
      </p:sp>
    </p:spTree>
    <p:extLst>
      <p:ext uri="{BB962C8B-B14F-4D97-AF65-F5344CB8AC3E}">
        <p14:creationId xmlns:p14="http://schemas.microsoft.com/office/powerpoint/2010/main" val="3769201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AEB54956-479B-42E4-B64E-2932CC5098C1}"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538B082-0A81-4B14-BA61-9F7ADC0E8A29}" type="slidenum">
              <a:rPr lang="en-US" altLang="en-PK"/>
              <a:pPr/>
              <a:t>‹#›</a:t>
            </a:fld>
            <a:endParaRPr lang="en-US" altLang="en-PK"/>
          </a:p>
        </p:txBody>
      </p:sp>
    </p:spTree>
    <p:extLst>
      <p:ext uri="{BB962C8B-B14F-4D97-AF65-F5344CB8AC3E}">
        <p14:creationId xmlns:p14="http://schemas.microsoft.com/office/powerpoint/2010/main" val="360602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47A8B7E-9A18-42A0-9621-C2464EEDFBA8}"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EE6E90E-9209-4378-84A1-F6D0885ED5F4}" type="slidenum">
              <a:rPr lang="en-US" altLang="en-PK"/>
              <a:pPr/>
              <a:t>‹#›</a:t>
            </a:fld>
            <a:endParaRPr lang="en-US" altLang="en-PK"/>
          </a:p>
        </p:txBody>
      </p:sp>
    </p:spTree>
    <p:extLst>
      <p:ext uri="{BB962C8B-B14F-4D97-AF65-F5344CB8AC3E}">
        <p14:creationId xmlns:p14="http://schemas.microsoft.com/office/powerpoint/2010/main" val="918747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C9160F0-6237-4233-9D2C-29AD55D13452}" type="datetimeFigureOut">
              <a:rPr lang="en-US"/>
              <a:pPr>
                <a:defRPr/>
              </a:pPr>
              <a:t>6/10/2024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235503DB-19A2-4103-B0FB-249D0DD2FAAE}" type="slidenum">
              <a:rPr lang="en-US" altLang="en-PK"/>
              <a:pPr/>
              <a:t>‹#›</a:t>
            </a:fld>
            <a:endParaRPr lang="en-US" altLang="en-PK"/>
          </a:p>
        </p:txBody>
      </p:sp>
    </p:spTree>
    <p:extLst>
      <p:ext uri="{BB962C8B-B14F-4D97-AF65-F5344CB8AC3E}">
        <p14:creationId xmlns:p14="http://schemas.microsoft.com/office/powerpoint/2010/main" val="230828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8B3E54-7D45-4EBC-87C4-BF28444984F7}" type="datetimeFigureOut">
              <a:rPr lang="en-US"/>
              <a:pPr>
                <a:defRPr/>
              </a:pPr>
              <a:t>6/10/2024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E7A25C7B-5FE8-4E74-B4A6-5F1435F256DE}" type="slidenum">
              <a:rPr lang="en-US" altLang="en-PK"/>
              <a:pPr/>
              <a:t>‹#›</a:t>
            </a:fld>
            <a:endParaRPr lang="en-US" altLang="en-PK"/>
          </a:p>
        </p:txBody>
      </p:sp>
    </p:spTree>
    <p:extLst>
      <p:ext uri="{BB962C8B-B14F-4D97-AF65-F5344CB8AC3E}">
        <p14:creationId xmlns:p14="http://schemas.microsoft.com/office/powerpoint/2010/main" val="3485278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05F697B-90CD-40D6-86E1-37A95D266550}" type="datetimeFigureOut">
              <a:rPr lang="en-US"/>
              <a:pPr>
                <a:defRPr/>
              </a:pPr>
              <a:t>6/10/2024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6834802B-FA7A-458D-8C48-04837E5F413F}" type="slidenum">
              <a:rPr lang="en-US" altLang="en-PK"/>
              <a:pPr/>
              <a:t>‹#›</a:t>
            </a:fld>
            <a:endParaRPr lang="en-US" altLang="en-PK"/>
          </a:p>
        </p:txBody>
      </p:sp>
    </p:spTree>
    <p:extLst>
      <p:ext uri="{BB962C8B-B14F-4D97-AF65-F5344CB8AC3E}">
        <p14:creationId xmlns:p14="http://schemas.microsoft.com/office/powerpoint/2010/main" val="2695906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60E0C0-1D18-448A-82DE-A0E99754619B}"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E54F222-CFB1-4E42-91D1-EEC00A16936B}" type="slidenum">
              <a:rPr lang="en-US" altLang="en-PK"/>
              <a:pPr/>
              <a:t>‹#›</a:t>
            </a:fld>
            <a:endParaRPr lang="en-US" altLang="en-PK"/>
          </a:p>
        </p:txBody>
      </p:sp>
    </p:spTree>
    <p:extLst>
      <p:ext uri="{BB962C8B-B14F-4D97-AF65-F5344CB8AC3E}">
        <p14:creationId xmlns:p14="http://schemas.microsoft.com/office/powerpoint/2010/main" val="176861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FCAD283-173B-4053-9C91-ACFD3950F95E}"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968196C-21EB-46BB-A254-AA1E89A64083}" type="slidenum">
              <a:rPr lang="en-US" altLang="en-PK"/>
              <a:pPr/>
              <a:t>‹#›</a:t>
            </a:fld>
            <a:endParaRPr lang="en-US" altLang="en-PK"/>
          </a:p>
        </p:txBody>
      </p:sp>
    </p:spTree>
    <p:extLst>
      <p:ext uri="{BB962C8B-B14F-4D97-AF65-F5344CB8AC3E}">
        <p14:creationId xmlns:p14="http://schemas.microsoft.com/office/powerpoint/2010/main" val="1567076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76A38A9-EF37-4891-9C8C-DFFB4BF418F9}"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97F1AB0-97B4-43FC-80EE-C08CC954304F}" type="slidenum">
              <a:rPr lang="en-US" altLang="en-PK"/>
              <a:pPr/>
              <a:t>‹#›</a:t>
            </a:fld>
            <a:endParaRPr lang="en-US" altLang="en-PK"/>
          </a:p>
        </p:txBody>
      </p:sp>
    </p:spTree>
    <p:extLst>
      <p:ext uri="{BB962C8B-B14F-4D97-AF65-F5344CB8AC3E}">
        <p14:creationId xmlns:p14="http://schemas.microsoft.com/office/powerpoint/2010/main" val="2607145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63228C-44A9-4852-81CC-C6B65B4D5467}"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43D5FD9-D20D-43E2-944D-111C1F11806C}" type="slidenum">
              <a:rPr lang="en-US" altLang="en-PK"/>
              <a:pPr/>
              <a:t>‹#›</a:t>
            </a:fld>
            <a:endParaRPr lang="en-US" altLang="en-PK"/>
          </a:p>
        </p:txBody>
      </p:sp>
    </p:spTree>
    <p:extLst>
      <p:ext uri="{BB962C8B-B14F-4D97-AF65-F5344CB8AC3E}">
        <p14:creationId xmlns:p14="http://schemas.microsoft.com/office/powerpoint/2010/main" val="993207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A052A66D-3920-4A04-8F8B-00336BEF1957}"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4056483-BC8A-4201-8149-BA15B8D3E184}" type="slidenum">
              <a:rPr lang="en-US" altLang="en-PK"/>
              <a:pPr/>
              <a:t>‹#›</a:t>
            </a:fld>
            <a:endParaRPr lang="en-US" altLang="en-PK"/>
          </a:p>
        </p:txBody>
      </p:sp>
    </p:spTree>
    <p:extLst>
      <p:ext uri="{BB962C8B-B14F-4D97-AF65-F5344CB8AC3E}">
        <p14:creationId xmlns:p14="http://schemas.microsoft.com/office/powerpoint/2010/main" val="24914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D7F95-8E81-43B4-85A2-909DDD2979F2}"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8535964-F472-42C1-B0FD-AE1C11BC6E9B}" type="slidenum">
              <a:rPr lang="en-US" altLang="en-PK"/>
              <a:pPr/>
              <a:t>‹#›</a:t>
            </a:fld>
            <a:endParaRPr lang="en-US" altLang="en-PK"/>
          </a:p>
        </p:txBody>
      </p:sp>
    </p:spTree>
    <p:extLst>
      <p:ext uri="{BB962C8B-B14F-4D97-AF65-F5344CB8AC3E}">
        <p14:creationId xmlns:p14="http://schemas.microsoft.com/office/powerpoint/2010/main" val="523349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72C6F8F9-9C1B-432C-99BE-AC41F1AA1C83}"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1DC894-1460-4C6A-A25B-C67357E5993E}" type="slidenum">
              <a:rPr lang="en-US" altLang="en-PK"/>
              <a:pPr/>
              <a:t>‹#›</a:t>
            </a:fld>
            <a:endParaRPr lang="en-US" altLang="en-PK"/>
          </a:p>
        </p:txBody>
      </p:sp>
    </p:spTree>
    <p:extLst>
      <p:ext uri="{BB962C8B-B14F-4D97-AF65-F5344CB8AC3E}">
        <p14:creationId xmlns:p14="http://schemas.microsoft.com/office/powerpoint/2010/main" val="1410049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8FF748-B038-4896-8C6A-3936BC4AE5CC}"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CD90983-867A-4A76-B849-81C9E280AA59}" type="slidenum">
              <a:rPr lang="en-US" altLang="en-PK"/>
              <a:pPr/>
              <a:t>‹#›</a:t>
            </a:fld>
            <a:endParaRPr lang="en-US" altLang="en-PK"/>
          </a:p>
        </p:txBody>
      </p:sp>
    </p:spTree>
    <p:extLst>
      <p:ext uri="{BB962C8B-B14F-4D97-AF65-F5344CB8AC3E}">
        <p14:creationId xmlns:p14="http://schemas.microsoft.com/office/powerpoint/2010/main" val="38770084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59C8E0B-1747-41DC-B111-F35DF03A2460}" type="datetimeFigureOut">
              <a:rPr lang="en-US"/>
              <a:pPr>
                <a:defRPr/>
              </a:pPr>
              <a:t>6/10/2024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F783EED0-EFA9-4516-8E1D-EECD5878FF3A}" type="slidenum">
              <a:rPr lang="en-US" altLang="en-PK"/>
              <a:pPr/>
              <a:t>‹#›</a:t>
            </a:fld>
            <a:endParaRPr lang="en-US" altLang="en-PK"/>
          </a:p>
        </p:txBody>
      </p:sp>
    </p:spTree>
    <p:extLst>
      <p:ext uri="{BB962C8B-B14F-4D97-AF65-F5344CB8AC3E}">
        <p14:creationId xmlns:p14="http://schemas.microsoft.com/office/powerpoint/2010/main" val="1847277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C8D03CC-D31B-4978-82D9-E852EBA0B0A1}" type="datetimeFigureOut">
              <a:rPr lang="en-US"/>
              <a:pPr>
                <a:defRPr/>
              </a:pPr>
              <a:t>6/10/2024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328AAF06-537C-4F86-AAAB-A8E7F2D96A63}" type="slidenum">
              <a:rPr lang="en-US" altLang="en-PK"/>
              <a:pPr/>
              <a:t>‹#›</a:t>
            </a:fld>
            <a:endParaRPr lang="en-US" altLang="en-PK"/>
          </a:p>
        </p:txBody>
      </p:sp>
    </p:spTree>
    <p:extLst>
      <p:ext uri="{BB962C8B-B14F-4D97-AF65-F5344CB8AC3E}">
        <p14:creationId xmlns:p14="http://schemas.microsoft.com/office/powerpoint/2010/main" val="270412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3D3B4-B8C3-4705-BE9B-BC89FDA0254D}" type="datetimeFigureOut">
              <a:rPr lang="en-US"/>
              <a:pPr>
                <a:defRPr/>
              </a:pPr>
              <a:t>6/10/2024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02F686AF-20AE-4D9E-9E78-3BE36A6D753C}" type="slidenum">
              <a:rPr lang="en-US" altLang="en-PK"/>
              <a:pPr/>
              <a:t>‹#›</a:t>
            </a:fld>
            <a:endParaRPr lang="en-US" altLang="en-PK"/>
          </a:p>
        </p:txBody>
      </p:sp>
    </p:spTree>
    <p:extLst>
      <p:ext uri="{BB962C8B-B14F-4D97-AF65-F5344CB8AC3E}">
        <p14:creationId xmlns:p14="http://schemas.microsoft.com/office/powerpoint/2010/main" val="10061631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265D6D2-742E-49D6-B855-3D178373C980}"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C0B9DC0-AC27-44B7-840C-CDDABA894D66}" type="slidenum">
              <a:rPr lang="en-US" altLang="en-PK"/>
              <a:pPr/>
              <a:t>‹#›</a:t>
            </a:fld>
            <a:endParaRPr lang="en-US" altLang="en-PK"/>
          </a:p>
        </p:txBody>
      </p:sp>
    </p:spTree>
    <p:extLst>
      <p:ext uri="{BB962C8B-B14F-4D97-AF65-F5344CB8AC3E}">
        <p14:creationId xmlns:p14="http://schemas.microsoft.com/office/powerpoint/2010/main" val="8389522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6659D22-5C7C-463E-9CBB-01B6270CB1FC}"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7EF6E96-6767-4178-BD8A-1BDDC2EE5ABD}" type="slidenum">
              <a:rPr lang="en-US" altLang="en-PK"/>
              <a:pPr/>
              <a:t>‹#›</a:t>
            </a:fld>
            <a:endParaRPr lang="en-US" altLang="en-PK"/>
          </a:p>
        </p:txBody>
      </p:sp>
    </p:spTree>
    <p:extLst>
      <p:ext uri="{BB962C8B-B14F-4D97-AF65-F5344CB8AC3E}">
        <p14:creationId xmlns:p14="http://schemas.microsoft.com/office/powerpoint/2010/main" val="1161936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655585A-5A93-4D01-8CE5-6D5749FAD3BC}"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F28F44C5-9C07-4869-B515-B9EFF1EC3BA8}" type="slidenum">
              <a:rPr lang="en-US" altLang="en-PK"/>
              <a:pPr/>
              <a:t>‹#›</a:t>
            </a:fld>
            <a:endParaRPr lang="en-US" altLang="en-PK"/>
          </a:p>
        </p:txBody>
      </p:sp>
    </p:spTree>
    <p:extLst>
      <p:ext uri="{BB962C8B-B14F-4D97-AF65-F5344CB8AC3E}">
        <p14:creationId xmlns:p14="http://schemas.microsoft.com/office/powerpoint/2010/main" val="3579330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7DB8A95-652B-4337-A74C-976916518675}"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0F93BE0-0232-4674-ABC2-5CFCAA2A57AE}" type="slidenum">
              <a:rPr lang="en-US" altLang="en-PK"/>
              <a:pPr/>
              <a:t>‹#›</a:t>
            </a:fld>
            <a:endParaRPr lang="en-US" altLang="en-PK"/>
          </a:p>
        </p:txBody>
      </p:sp>
    </p:spTree>
    <p:extLst>
      <p:ext uri="{BB962C8B-B14F-4D97-AF65-F5344CB8AC3E}">
        <p14:creationId xmlns:p14="http://schemas.microsoft.com/office/powerpoint/2010/main" val="42276010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BCF2E28D-1713-4657-A731-B6FC8D91638F}" type="datetimeFigureOut">
              <a:rPr lang="en-US"/>
              <a:pPr>
                <a:defRPr/>
              </a:pPr>
              <a:t>6/10/2024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2150ACAD-D888-453D-BF66-6D89A779C0D8}" type="slidenum">
              <a:rPr lang="en-US" altLang="en-PK"/>
              <a:pPr/>
              <a:t>‹#›</a:t>
            </a:fld>
            <a:endParaRPr lang="en-US" altLang="en-PK"/>
          </a:p>
        </p:txBody>
      </p:sp>
    </p:spTree>
    <p:extLst>
      <p:ext uri="{BB962C8B-B14F-4D97-AF65-F5344CB8AC3E}">
        <p14:creationId xmlns:p14="http://schemas.microsoft.com/office/powerpoint/2010/main" val="3510773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DE42354B-D7F0-4E57-A292-F5023B1405BB}" type="datetimeFigureOut">
              <a:rPr lang="en-US"/>
              <a:pPr>
                <a:defRPr/>
              </a:pPr>
              <a:t>6/10/2024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62D8BC62-F9EC-455F-9842-935EFCE9ADCF}" type="slidenum">
              <a:rPr lang="en-US" altLang="en-PK"/>
              <a:pPr/>
              <a:t>‹#›</a:t>
            </a:fld>
            <a:endParaRPr lang="en-US" altLang="en-PK"/>
          </a:p>
        </p:txBody>
      </p:sp>
    </p:spTree>
    <p:extLst>
      <p:ext uri="{BB962C8B-B14F-4D97-AF65-F5344CB8AC3E}">
        <p14:creationId xmlns:p14="http://schemas.microsoft.com/office/powerpoint/2010/main" val="2338829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2434AD49-82D0-473E-905E-FA168507EE66}" type="datetimeFigureOut">
              <a:rPr lang="en-US"/>
              <a:pPr>
                <a:defRPr/>
              </a:pPr>
              <a:t>6/10/2024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EF306D3E-264D-4C00-B226-AEDFA2040CA0}" type="slidenum">
              <a:rPr lang="en-US" altLang="en-PK"/>
              <a:pPr/>
              <a:t>‹#›</a:t>
            </a:fld>
            <a:endParaRPr lang="en-US" altLang="en-PK"/>
          </a:p>
        </p:txBody>
      </p:sp>
    </p:spTree>
    <p:extLst>
      <p:ext uri="{BB962C8B-B14F-4D97-AF65-F5344CB8AC3E}">
        <p14:creationId xmlns:p14="http://schemas.microsoft.com/office/powerpoint/2010/main" val="38015874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7B4242C6-9207-4BD9-9013-A9B72F292CFC}" type="datetimeFigureOut">
              <a:rPr lang="en-US"/>
              <a:pPr>
                <a:defRPr/>
              </a:pPr>
              <a:t>6/10/2024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85272FEB-4196-4DF5-88DE-E7C88DBC8A17}" type="slidenum">
              <a:rPr lang="en-US" altLang="en-PK"/>
              <a:pPr/>
              <a:t>‹#›</a:t>
            </a:fld>
            <a:endParaRPr lang="en-US" altLang="en-PK"/>
          </a:p>
        </p:txBody>
      </p:sp>
    </p:spTree>
    <p:extLst>
      <p:ext uri="{BB962C8B-B14F-4D97-AF65-F5344CB8AC3E}">
        <p14:creationId xmlns:p14="http://schemas.microsoft.com/office/powerpoint/2010/main" val="18035729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4BFD0D16-F9B6-4E24-AE1A-D5F5714DD296}" type="datetimeFigureOut">
              <a:rPr lang="en-US"/>
              <a:pPr>
                <a:defRPr/>
              </a:pPr>
              <a:t>6/10/2024</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885CDE17-6164-4C21-9F1A-FAF997DDCDDB}" type="slidenum">
              <a:rPr lang="en-US" altLang="en-PK"/>
              <a:pPr/>
              <a:t>‹#›</a:t>
            </a:fld>
            <a:endParaRPr lang="en-US" altLang="en-PK"/>
          </a:p>
        </p:txBody>
      </p:sp>
    </p:spTree>
    <p:extLst>
      <p:ext uri="{BB962C8B-B14F-4D97-AF65-F5344CB8AC3E}">
        <p14:creationId xmlns:p14="http://schemas.microsoft.com/office/powerpoint/2010/main" val="26262696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CC450E74-7510-440B-80DB-887E2F00CE72}" type="datetimeFigureOut">
              <a:rPr lang="en-US"/>
              <a:pPr>
                <a:defRPr/>
              </a:pPr>
              <a:t>6/10/2024</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D4F61FA3-31A8-4D45-878F-010DE85AE236}" type="slidenum">
              <a:rPr lang="en-US" altLang="en-PK"/>
              <a:pPr/>
              <a:t>‹#›</a:t>
            </a:fld>
            <a:endParaRPr lang="en-US" altLang="en-PK"/>
          </a:p>
        </p:txBody>
      </p:sp>
    </p:spTree>
    <p:extLst>
      <p:ext uri="{BB962C8B-B14F-4D97-AF65-F5344CB8AC3E}">
        <p14:creationId xmlns:p14="http://schemas.microsoft.com/office/powerpoint/2010/main" val="12607662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69CF3067-12D3-4B78-87AD-34DE88DE9365}" type="datetimeFigureOut">
              <a:rPr lang="en-US"/>
              <a:pPr>
                <a:defRPr/>
              </a:pPr>
              <a:t>6/10/2024</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BDB765A0-022A-472D-8AB5-15EC40237AC6}" type="slidenum">
              <a:rPr lang="en-US" altLang="en-PK"/>
              <a:pPr/>
              <a:t>‹#›</a:t>
            </a:fld>
            <a:endParaRPr lang="en-US" altLang="en-PK"/>
          </a:p>
        </p:txBody>
      </p:sp>
    </p:spTree>
    <p:extLst>
      <p:ext uri="{BB962C8B-B14F-4D97-AF65-F5344CB8AC3E}">
        <p14:creationId xmlns:p14="http://schemas.microsoft.com/office/powerpoint/2010/main" val="3561707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5E4A1790-437F-4340-811B-E25075C4A317}" type="datetimeFigureOut">
              <a:rPr lang="en-US"/>
              <a:pPr>
                <a:defRPr/>
              </a:pPr>
              <a:t>6/10/2024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C95A0184-72C4-4F90-AA06-F7437E7246F8}" type="slidenum">
              <a:rPr lang="en-US" altLang="en-PK"/>
              <a:pPr/>
              <a:t>‹#›</a:t>
            </a:fld>
            <a:endParaRPr lang="en-US" altLang="en-PK"/>
          </a:p>
        </p:txBody>
      </p:sp>
    </p:spTree>
    <p:extLst>
      <p:ext uri="{BB962C8B-B14F-4D97-AF65-F5344CB8AC3E}">
        <p14:creationId xmlns:p14="http://schemas.microsoft.com/office/powerpoint/2010/main" val="40477734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8599879D-0408-4BCD-9BC4-E93DCE008AFE}" type="datetimeFigureOut">
              <a:rPr lang="en-US"/>
              <a:pPr>
                <a:defRPr/>
              </a:pPr>
              <a:t>6/10/2024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CF63130A-8F82-495D-B85D-6CC09E388760}" type="slidenum">
              <a:rPr lang="en-US" altLang="en-PK"/>
              <a:pPr/>
              <a:t>‹#›</a:t>
            </a:fld>
            <a:endParaRPr lang="en-US" altLang="en-PK"/>
          </a:p>
        </p:txBody>
      </p:sp>
    </p:spTree>
    <p:extLst>
      <p:ext uri="{BB962C8B-B14F-4D97-AF65-F5344CB8AC3E}">
        <p14:creationId xmlns:p14="http://schemas.microsoft.com/office/powerpoint/2010/main" val="15725328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1843BB7D-B8C7-4755-9EF3-D5D4A3AB93E1}" type="datetimeFigureOut">
              <a:rPr lang="en-US"/>
              <a:pPr>
                <a:defRPr/>
              </a:pPr>
              <a:t>6/10/2024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BCAD4851-C5E4-4BFC-92B3-F002B55D9719}" type="slidenum">
              <a:rPr lang="en-US" altLang="en-PK"/>
              <a:pPr/>
              <a:t>‹#›</a:t>
            </a:fld>
            <a:endParaRPr lang="en-US" altLang="en-PK"/>
          </a:p>
        </p:txBody>
      </p:sp>
    </p:spTree>
    <p:extLst>
      <p:ext uri="{BB962C8B-B14F-4D97-AF65-F5344CB8AC3E}">
        <p14:creationId xmlns:p14="http://schemas.microsoft.com/office/powerpoint/2010/main" val="13581329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Helvetica" pitchFamily="-110" charset="0"/>
                <a:ea typeface="MS PGothic" pitchFamily="34" charset="-128"/>
              </a:defRPr>
            </a:lvl1pPr>
          </a:lstStyle>
          <a:p>
            <a:pPr>
              <a:defRPr/>
            </a:pPr>
            <a:fld id="{78A5477B-EFB1-4594-9A0D-FD90C674A777}" type="datetimeFigureOut">
              <a:rPr lang="en-US"/>
              <a:pPr>
                <a:defRPr/>
              </a:pPr>
              <a:t>6/10/2024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996911F7-37EA-4ACD-9BB0-7D202ADEBF98}" type="slidenum">
              <a:rPr lang="en-US" altLang="en-PK"/>
              <a:pPr/>
              <a:t>‹#›</a:t>
            </a:fld>
            <a:endParaRPr lang="en-US" altLang="en-PK"/>
          </a:p>
        </p:txBody>
      </p:sp>
    </p:spTree>
    <p:extLst>
      <p:ext uri="{BB962C8B-B14F-4D97-AF65-F5344CB8AC3E}">
        <p14:creationId xmlns:p14="http://schemas.microsoft.com/office/powerpoint/2010/main" val="19402437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7427B1F-B76C-4DF3-B9B4-C13DF39144C9}"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30D1A31-BC02-46F8-84E0-9DFDA13FAEAC}" type="slidenum">
              <a:rPr lang="en-US" altLang="en-PK"/>
              <a:pPr/>
              <a:t>‹#›</a:t>
            </a:fld>
            <a:endParaRPr lang="en-US" altLang="en-PK"/>
          </a:p>
        </p:txBody>
      </p:sp>
    </p:spTree>
    <p:extLst>
      <p:ext uri="{BB962C8B-B14F-4D97-AF65-F5344CB8AC3E}">
        <p14:creationId xmlns:p14="http://schemas.microsoft.com/office/powerpoint/2010/main" val="34767713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8723B1F-58FA-44AC-AE54-7C5F1E287486}"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16343E7-5D55-4A47-9F61-4FF7486C1572}" type="slidenum">
              <a:rPr lang="en-US" altLang="en-PK"/>
              <a:pPr/>
              <a:t>‹#›</a:t>
            </a:fld>
            <a:endParaRPr lang="en-US" altLang="en-PK"/>
          </a:p>
        </p:txBody>
      </p:sp>
    </p:spTree>
    <p:extLst>
      <p:ext uri="{BB962C8B-B14F-4D97-AF65-F5344CB8AC3E}">
        <p14:creationId xmlns:p14="http://schemas.microsoft.com/office/powerpoint/2010/main" val="22473383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3F2D4F90-D880-4B61-83C5-7838FB0885A1}"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FAB78F9F-B1AD-4A0B-B764-9601E8EEBFC7}" type="slidenum">
              <a:rPr lang="en-US" altLang="en-PK"/>
              <a:pPr/>
              <a:t>‹#›</a:t>
            </a:fld>
            <a:endParaRPr lang="en-US" altLang="en-PK"/>
          </a:p>
        </p:txBody>
      </p:sp>
    </p:spTree>
    <p:extLst>
      <p:ext uri="{BB962C8B-B14F-4D97-AF65-F5344CB8AC3E}">
        <p14:creationId xmlns:p14="http://schemas.microsoft.com/office/powerpoint/2010/main" val="2667110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8172355-F187-4720-B258-DB06C0191219}"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1110EE2-8104-4735-B855-3AE055FE4D25}" type="slidenum">
              <a:rPr lang="en-US" altLang="en-PK"/>
              <a:pPr/>
              <a:t>‹#›</a:t>
            </a:fld>
            <a:endParaRPr lang="en-US" altLang="en-PK"/>
          </a:p>
        </p:txBody>
      </p:sp>
    </p:spTree>
    <p:extLst>
      <p:ext uri="{BB962C8B-B14F-4D97-AF65-F5344CB8AC3E}">
        <p14:creationId xmlns:p14="http://schemas.microsoft.com/office/powerpoint/2010/main" val="10528269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74B874B-1B2F-41A8-B707-EBBBE7364E99}" type="datetimeFigureOut">
              <a:rPr lang="en-US"/>
              <a:pPr>
                <a:defRPr/>
              </a:pPr>
              <a:t>6/10/2024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B74EFA94-E80C-4ED3-B78F-D4CB7B672E23}" type="slidenum">
              <a:rPr lang="en-US" altLang="en-PK"/>
              <a:pPr/>
              <a:t>‹#›</a:t>
            </a:fld>
            <a:endParaRPr lang="en-US" altLang="en-PK"/>
          </a:p>
        </p:txBody>
      </p:sp>
    </p:spTree>
    <p:extLst>
      <p:ext uri="{BB962C8B-B14F-4D97-AF65-F5344CB8AC3E}">
        <p14:creationId xmlns:p14="http://schemas.microsoft.com/office/powerpoint/2010/main" val="5066823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405538F0-665B-4E2E-814C-909ED3F33FC6}" type="datetimeFigureOut">
              <a:rPr lang="en-US"/>
              <a:pPr>
                <a:defRPr/>
              </a:pPr>
              <a:t>6/10/2024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C48F47B6-03AA-410C-9377-3515715B41E5}" type="slidenum">
              <a:rPr lang="en-US" altLang="en-PK"/>
              <a:pPr/>
              <a:t>‹#›</a:t>
            </a:fld>
            <a:endParaRPr lang="en-US" altLang="en-PK"/>
          </a:p>
        </p:txBody>
      </p:sp>
    </p:spTree>
    <p:extLst>
      <p:ext uri="{BB962C8B-B14F-4D97-AF65-F5344CB8AC3E}">
        <p14:creationId xmlns:p14="http://schemas.microsoft.com/office/powerpoint/2010/main" val="4937000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3C03C9B-2AFE-42E3-AB57-0919076E399A}" type="datetimeFigureOut">
              <a:rPr lang="en-US"/>
              <a:pPr>
                <a:defRPr/>
              </a:pPr>
              <a:t>6/10/2024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28150721-E863-4E32-8035-2DB361C1779F}" type="slidenum">
              <a:rPr lang="en-US" altLang="en-PK"/>
              <a:pPr/>
              <a:t>‹#›</a:t>
            </a:fld>
            <a:endParaRPr lang="en-US" altLang="en-PK"/>
          </a:p>
        </p:txBody>
      </p:sp>
    </p:spTree>
    <p:extLst>
      <p:ext uri="{BB962C8B-B14F-4D97-AF65-F5344CB8AC3E}">
        <p14:creationId xmlns:p14="http://schemas.microsoft.com/office/powerpoint/2010/main" val="1228590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BF521DD-3A8F-4BF0-A471-A22AC860F391}"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36FB01C-D8DD-4684-95F4-D190894975EF}" type="slidenum">
              <a:rPr lang="en-US" altLang="en-PK"/>
              <a:pPr/>
              <a:t>‹#›</a:t>
            </a:fld>
            <a:endParaRPr lang="en-US" altLang="en-PK"/>
          </a:p>
        </p:txBody>
      </p:sp>
    </p:spTree>
    <p:extLst>
      <p:ext uri="{BB962C8B-B14F-4D97-AF65-F5344CB8AC3E}">
        <p14:creationId xmlns:p14="http://schemas.microsoft.com/office/powerpoint/2010/main" val="24961274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70E4C20-CE2C-4CF2-A670-E8D06A67C8F7}" type="datetimeFigureOut">
              <a:rPr lang="en-US"/>
              <a:pPr>
                <a:defRPr/>
              </a:pPr>
              <a:t>6/10/2024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9D3290D-6B7E-4ECC-9BC8-DD2880FC81CD}" type="slidenum">
              <a:rPr lang="en-US" altLang="en-PK"/>
              <a:pPr/>
              <a:t>‹#›</a:t>
            </a:fld>
            <a:endParaRPr lang="en-US" altLang="en-PK"/>
          </a:p>
        </p:txBody>
      </p:sp>
    </p:spTree>
    <p:extLst>
      <p:ext uri="{BB962C8B-B14F-4D97-AF65-F5344CB8AC3E}">
        <p14:creationId xmlns:p14="http://schemas.microsoft.com/office/powerpoint/2010/main" val="33882370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7BC996E-157D-40B6-8AE5-34E8B5CE3F3F}"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B00939A-8FDD-4EDD-B00D-9A6611061643}" type="slidenum">
              <a:rPr lang="en-US" altLang="en-PK"/>
              <a:pPr/>
              <a:t>‹#›</a:t>
            </a:fld>
            <a:endParaRPr lang="en-US" altLang="en-PK"/>
          </a:p>
        </p:txBody>
      </p:sp>
    </p:spTree>
    <p:extLst>
      <p:ext uri="{BB962C8B-B14F-4D97-AF65-F5344CB8AC3E}">
        <p14:creationId xmlns:p14="http://schemas.microsoft.com/office/powerpoint/2010/main" val="39024567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4138597-0D7C-4072-BF59-4C44A5F99C69}" type="datetimeFigureOut">
              <a:rPr lang="en-US"/>
              <a:pPr>
                <a:defRPr/>
              </a:pPr>
              <a:t>6/10/2024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46DDEDD-DF95-49C6-8F20-26F1F1D67CEA}" type="slidenum">
              <a:rPr lang="en-US" altLang="en-PK"/>
              <a:pPr/>
              <a:t>‹#›</a:t>
            </a:fld>
            <a:endParaRPr lang="en-US" altLang="en-PK"/>
          </a:p>
        </p:txBody>
      </p:sp>
    </p:spTree>
    <p:extLst>
      <p:ext uri="{BB962C8B-B14F-4D97-AF65-F5344CB8AC3E}">
        <p14:creationId xmlns:p14="http://schemas.microsoft.com/office/powerpoint/2010/main" val="24752888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ChangeArrowheads="1"/>
          </p:cNvSpPr>
          <p:nvPr/>
        </p:nvSpPr>
        <p:spPr bwMode="auto">
          <a:xfrm>
            <a:off x="0" y="0"/>
            <a:ext cx="9144000" cy="14478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027" name="Rectangle 3"/>
          <p:cNvSpPr>
            <a:spLocks noChangeArrowheads="1"/>
          </p:cNvSpPr>
          <p:nvPr/>
        </p:nvSpPr>
        <p:spPr bwMode="auto">
          <a:xfrm>
            <a:off x="0" y="1438275"/>
            <a:ext cx="9144000" cy="85725"/>
          </a:xfrm>
          <a:prstGeom prst="rect">
            <a:avLst/>
          </a:prstGeom>
          <a:solidFill>
            <a:srgbClr val="9CBDD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endParaRPr lang="de-DE" altLang="en-US">
              <a:latin typeface="Times" panose="02020603050405020304" pitchFamily="18" charset="0"/>
            </a:endParaRPr>
          </a:p>
        </p:txBody>
      </p:sp>
      <p:sp>
        <p:nvSpPr>
          <p:cNvPr id="1028" name="Rectangle 4"/>
          <p:cNvSpPr>
            <a:spLocks noGrp="1" noChangeArrowheads="1"/>
          </p:cNvSpPr>
          <p:nvPr>
            <p:ph type="title"/>
          </p:nvPr>
        </p:nvSpPr>
        <p:spPr bwMode="auto">
          <a:xfrm>
            <a:off x="539750" y="554038"/>
            <a:ext cx="807085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PK"/>
              <a:t>Click to edit Master title style</a:t>
            </a:r>
            <a:endParaRPr lang="de-CH" altLang="en-PK"/>
          </a:p>
        </p:txBody>
      </p:sp>
      <p:sp>
        <p:nvSpPr>
          <p:cNvPr id="1029" name="Rectangle 5"/>
          <p:cNvSpPr>
            <a:spLocks noGrp="1" noChangeArrowheads="1"/>
          </p:cNvSpPr>
          <p:nvPr>
            <p:ph type="body" idx="1"/>
          </p:nvPr>
        </p:nvSpPr>
        <p:spPr bwMode="auto">
          <a:xfrm>
            <a:off x="539750" y="1654175"/>
            <a:ext cx="80708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endParaRPr lang="de-CH" altLang="en-PK"/>
          </a:p>
        </p:txBody>
      </p:sp>
      <p:sp>
        <p:nvSpPr>
          <p:cNvPr id="217094" name="Rectangle 6"/>
          <p:cNvSpPr>
            <a:spLocks noGrp="1" noChangeArrowheads="1"/>
          </p:cNvSpPr>
          <p:nvPr>
            <p:ph type="dt" sz="half" idx="2"/>
          </p:nvPr>
        </p:nvSpPr>
        <p:spPr bwMode="auto">
          <a:xfrm>
            <a:off x="539750" y="6548438"/>
            <a:ext cx="3811588" cy="179387"/>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200">
                <a:solidFill>
                  <a:srgbClr val="A7A7A7"/>
                </a:solidFill>
                <a:latin typeface="Helvetica" pitchFamily="-110" charset="0"/>
                <a:ea typeface="MS PGothic" pitchFamily="34" charset="-128"/>
              </a:defRPr>
            </a:lvl1pPr>
          </a:lstStyle>
          <a:p>
            <a:fld id="{CB0AF135-8D6E-5E4E-8608-D220A6DCBE87}" type="datetime1">
              <a:rPr lang="en-US" smtClean="0"/>
              <a:t>6/10/2024</a:t>
            </a:fld>
            <a:endParaRPr lang="en-US"/>
          </a:p>
        </p:txBody>
      </p:sp>
      <p:sp>
        <p:nvSpPr>
          <p:cNvPr id="217095" name="Rectangle 7"/>
          <p:cNvSpPr>
            <a:spLocks noGrp="1" noChangeArrowheads="1"/>
          </p:cNvSpPr>
          <p:nvPr>
            <p:ph type="ftr" sz="quarter" idx="3"/>
          </p:nvPr>
        </p:nvSpPr>
        <p:spPr bwMode="auto">
          <a:xfrm>
            <a:off x="107950" y="179388"/>
            <a:ext cx="5399088" cy="252412"/>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defRPr sz="1000">
                <a:solidFill>
                  <a:srgbClr val="A7A7A7"/>
                </a:solidFill>
                <a:latin typeface="Helvetica" pitchFamily="-110" charset="0"/>
                <a:ea typeface="MS PGothic" pitchFamily="34" charset="-128"/>
              </a:defRPr>
            </a:lvl1pPr>
          </a:lstStyle>
          <a:p>
            <a:r>
              <a:rPr lang="en-US"/>
              <a:t>Chapter 7 Design and implementation</a:t>
            </a:r>
          </a:p>
        </p:txBody>
      </p:sp>
      <p:sp>
        <p:nvSpPr>
          <p:cNvPr id="217096" name="Rectangle 8"/>
          <p:cNvSpPr>
            <a:spLocks noGrp="1" noChangeArrowheads="1"/>
          </p:cNvSpPr>
          <p:nvPr>
            <p:ph type="sldNum" sz="quarter" idx="4"/>
          </p:nvPr>
        </p:nvSpPr>
        <p:spPr bwMode="auto">
          <a:xfrm>
            <a:off x="7543800" y="6553200"/>
            <a:ext cx="1350963" cy="17938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a:defRPr sz="1200">
                <a:solidFill>
                  <a:srgbClr val="A7A7A7"/>
                </a:solidFill>
              </a:defRPr>
            </a:lvl1pPr>
          </a:lstStyle>
          <a:p>
            <a:fld id="{EC83099C-5FA5-B04A-B819-64718E2A253A}" type="slidenum">
              <a:rPr lang="en-US" smtClean="0"/>
              <a:pPr/>
              <a:t>‹#›</a:t>
            </a:fld>
            <a:endParaRPr lang="en-US"/>
          </a:p>
        </p:txBody>
      </p:sp>
    </p:spTree>
    <p:extLst>
      <p:ext uri="{BB962C8B-B14F-4D97-AF65-F5344CB8AC3E}">
        <p14:creationId xmlns:p14="http://schemas.microsoft.com/office/powerpoint/2010/main" val="7199685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dt="0"/>
  <p:txStyles>
    <p:titleStyle>
      <a:lvl1pPr algn="l" rtl="0" eaLnBrk="1" fontAlgn="base" hangingPunct="1">
        <a:lnSpc>
          <a:spcPct val="90000"/>
        </a:lnSpc>
        <a:spcBef>
          <a:spcPct val="0"/>
        </a:spcBef>
        <a:spcAft>
          <a:spcPct val="0"/>
        </a:spcAft>
        <a:defRPr sz="2800" b="1">
          <a:solidFill>
            <a:srgbClr val="0A017F"/>
          </a:solidFill>
          <a:latin typeface="+mj-lt"/>
          <a:ea typeface="MS PGothic" pitchFamily="34" charset="-128"/>
          <a:cs typeface="ＭＳ Ｐゴシック" charset="-128"/>
        </a:defRPr>
      </a:lvl1pPr>
      <a:lvl2pPr algn="l" rtl="0" eaLnBrk="1" fontAlgn="base" hangingPunct="1">
        <a:lnSpc>
          <a:spcPct val="90000"/>
        </a:lnSpc>
        <a:spcBef>
          <a:spcPct val="0"/>
        </a:spcBef>
        <a:spcAft>
          <a:spcPct val="0"/>
        </a:spcAft>
        <a:defRPr sz="2800" b="1">
          <a:solidFill>
            <a:srgbClr val="0A017F"/>
          </a:solidFill>
          <a:latin typeface="Arial" charset="0"/>
          <a:ea typeface="MS PGothic" pitchFamily="34" charset="-128"/>
          <a:cs typeface="ＭＳ Ｐゴシック" charset="-128"/>
        </a:defRPr>
      </a:lvl2pPr>
      <a:lvl3pPr algn="l" rtl="0" eaLnBrk="1" fontAlgn="base" hangingPunct="1">
        <a:lnSpc>
          <a:spcPct val="90000"/>
        </a:lnSpc>
        <a:spcBef>
          <a:spcPct val="0"/>
        </a:spcBef>
        <a:spcAft>
          <a:spcPct val="0"/>
        </a:spcAft>
        <a:defRPr sz="2800" b="1">
          <a:solidFill>
            <a:srgbClr val="0A017F"/>
          </a:solidFill>
          <a:latin typeface="Arial" charset="0"/>
          <a:ea typeface="MS PGothic" pitchFamily="34" charset="-128"/>
          <a:cs typeface="ＭＳ Ｐゴシック" charset="-128"/>
        </a:defRPr>
      </a:lvl3pPr>
      <a:lvl4pPr algn="l" rtl="0" eaLnBrk="1" fontAlgn="base" hangingPunct="1">
        <a:lnSpc>
          <a:spcPct val="90000"/>
        </a:lnSpc>
        <a:spcBef>
          <a:spcPct val="0"/>
        </a:spcBef>
        <a:spcAft>
          <a:spcPct val="0"/>
        </a:spcAft>
        <a:defRPr sz="2800" b="1">
          <a:solidFill>
            <a:srgbClr val="0A017F"/>
          </a:solidFill>
          <a:latin typeface="Arial" charset="0"/>
          <a:ea typeface="MS PGothic" pitchFamily="34" charset="-128"/>
          <a:cs typeface="ＭＳ Ｐゴシック" charset="-128"/>
        </a:defRPr>
      </a:lvl4pPr>
      <a:lvl5pPr algn="l" rtl="0" eaLnBrk="1" fontAlgn="base" hangingPunct="1">
        <a:lnSpc>
          <a:spcPct val="90000"/>
        </a:lnSpc>
        <a:spcBef>
          <a:spcPct val="0"/>
        </a:spcBef>
        <a:spcAft>
          <a:spcPct val="0"/>
        </a:spcAft>
        <a:defRPr sz="2800" b="1">
          <a:solidFill>
            <a:srgbClr val="0A017F"/>
          </a:solidFill>
          <a:latin typeface="Arial" charset="0"/>
          <a:ea typeface="MS PGothic" pitchFamily="34" charset="-128"/>
          <a:cs typeface="ＭＳ Ｐゴシック" charset="-128"/>
        </a:defRPr>
      </a:lvl5pPr>
      <a:lvl6pPr marL="457200" algn="l" rtl="0" eaLnBrk="1" fontAlgn="base" hangingPunct="1">
        <a:lnSpc>
          <a:spcPct val="90000"/>
        </a:lnSpc>
        <a:spcBef>
          <a:spcPct val="0"/>
        </a:spcBef>
        <a:spcAft>
          <a:spcPct val="0"/>
        </a:spcAft>
        <a:defRPr sz="2800" b="1">
          <a:solidFill>
            <a:srgbClr val="0A017F"/>
          </a:solidFill>
          <a:latin typeface="Helvetica" charset="0"/>
        </a:defRPr>
      </a:lvl6pPr>
      <a:lvl7pPr marL="914400" algn="l" rtl="0" eaLnBrk="1" fontAlgn="base" hangingPunct="1">
        <a:lnSpc>
          <a:spcPct val="90000"/>
        </a:lnSpc>
        <a:spcBef>
          <a:spcPct val="0"/>
        </a:spcBef>
        <a:spcAft>
          <a:spcPct val="0"/>
        </a:spcAft>
        <a:defRPr sz="2800" b="1">
          <a:solidFill>
            <a:srgbClr val="0A017F"/>
          </a:solidFill>
          <a:latin typeface="Helvetica" charset="0"/>
        </a:defRPr>
      </a:lvl7pPr>
      <a:lvl8pPr marL="1371600" algn="l" rtl="0" eaLnBrk="1" fontAlgn="base" hangingPunct="1">
        <a:lnSpc>
          <a:spcPct val="90000"/>
        </a:lnSpc>
        <a:spcBef>
          <a:spcPct val="0"/>
        </a:spcBef>
        <a:spcAft>
          <a:spcPct val="0"/>
        </a:spcAft>
        <a:defRPr sz="2800" b="1">
          <a:solidFill>
            <a:srgbClr val="0A017F"/>
          </a:solidFill>
          <a:latin typeface="Helvetica" charset="0"/>
        </a:defRPr>
      </a:lvl8pPr>
      <a:lvl9pPr marL="1828800" algn="l" rtl="0" eaLnBrk="1" fontAlgn="base" hangingPunct="1">
        <a:lnSpc>
          <a:spcPct val="90000"/>
        </a:lnSpc>
        <a:spcBef>
          <a:spcPct val="0"/>
        </a:spcBef>
        <a:spcAft>
          <a:spcPct val="0"/>
        </a:spcAft>
        <a:defRPr sz="2800" b="1">
          <a:solidFill>
            <a:srgbClr val="0A017F"/>
          </a:solidFill>
          <a:latin typeface="Helvetica" charset="0"/>
        </a:defRPr>
      </a:lvl9pPr>
    </p:titleStyle>
    <p:bodyStyle>
      <a:lvl1pPr marL="419100" indent="-419100" algn="l" rtl="0" eaLnBrk="1" fontAlgn="base" hangingPunct="1">
        <a:lnSpc>
          <a:spcPct val="95000"/>
        </a:lnSpc>
        <a:spcBef>
          <a:spcPct val="20000"/>
        </a:spcBef>
        <a:spcAft>
          <a:spcPct val="0"/>
        </a:spcAft>
        <a:buClr>
          <a:schemeClr val="hlink"/>
        </a:buClr>
        <a:buSzPct val="85000"/>
        <a:buFont typeface="Helvetica CE" pitchFamily="-110" charset="-18"/>
        <a:buChar char="&gt;"/>
        <a:defRPr sz="2400">
          <a:solidFill>
            <a:srgbClr val="0A017F"/>
          </a:solidFill>
          <a:latin typeface="+mn-lt"/>
          <a:ea typeface="MS PGothic" pitchFamily="34" charset="-128"/>
          <a:cs typeface="ＭＳ Ｐゴシック" charset="-128"/>
        </a:defRPr>
      </a:lvl1pPr>
      <a:lvl2pPr marL="838200" indent="-381000" algn="l" rtl="0" eaLnBrk="1" fontAlgn="base" hangingPunct="1">
        <a:lnSpc>
          <a:spcPct val="95000"/>
        </a:lnSpc>
        <a:spcBef>
          <a:spcPct val="20000"/>
        </a:spcBef>
        <a:spcAft>
          <a:spcPct val="0"/>
        </a:spcAft>
        <a:buFont typeface="Helvetica CE" pitchFamily="-110" charset="-18"/>
        <a:buChar char="—"/>
        <a:defRPr sz="2000">
          <a:solidFill>
            <a:srgbClr val="0A017F"/>
          </a:solidFill>
          <a:latin typeface="+mn-lt"/>
          <a:ea typeface="MS PGothic" pitchFamily="34" charset="-128"/>
        </a:defRPr>
      </a:lvl2pPr>
      <a:lvl3pPr marL="1295400" indent="-381000" algn="l" rtl="0" eaLnBrk="1" fontAlgn="base" hangingPunct="1">
        <a:lnSpc>
          <a:spcPct val="95000"/>
        </a:lnSpc>
        <a:spcBef>
          <a:spcPct val="20000"/>
        </a:spcBef>
        <a:spcAft>
          <a:spcPct val="0"/>
        </a:spcAft>
        <a:buSzPct val="85000"/>
        <a:buFont typeface="Helvetica CE" pitchFamily="-110" charset="-18"/>
        <a:buChar char="–"/>
        <a:defRPr sz="2400" i="1">
          <a:solidFill>
            <a:srgbClr val="7F0101"/>
          </a:solidFill>
          <a:latin typeface="+mn-lt"/>
          <a:ea typeface="MS PGothic" pitchFamily="34" charset="-128"/>
        </a:defRPr>
      </a:lvl3pPr>
      <a:lvl4pPr marL="1714500" indent="-381000" algn="l" rtl="0" eaLnBrk="1" fontAlgn="base" hangingPunct="1">
        <a:lnSpc>
          <a:spcPct val="95000"/>
        </a:lnSpc>
        <a:spcBef>
          <a:spcPct val="20000"/>
        </a:spcBef>
        <a:spcAft>
          <a:spcPct val="0"/>
        </a:spcAft>
        <a:buSzPct val="85000"/>
        <a:buFont typeface="Helvetica CE" pitchFamily="-110" charset="-18"/>
        <a:buChar char="–"/>
        <a:defRPr sz="2000">
          <a:solidFill>
            <a:srgbClr val="0A017F"/>
          </a:solidFill>
          <a:latin typeface="+mn-lt"/>
          <a:ea typeface="MS PGothic" pitchFamily="34" charset="-128"/>
        </a:defRPr>
      </a:lvl4pPr>
      <a:lvl5pPr marL="2286000" indent="-381000" algn="l" rtl="0" eaLnBrk="1" fontAlgn="base" hangingPunct="1">
        <a:lnSpc>
          <a:spcPct val="95000"/>
        </a:lnSpc>
        <a:spcBef>
          <a:spcPct val="20000"/>
        </a:spcBef>
        <a:spcAft>
          <a:spcPct val="0"/>
        </a:spcAft>
        <a:buClr>
          <a:schemeClr val="tx1"/>
        </a:buClr>
        <a:buSzPct val="85000"/>
        <a:buFont typeface="Helvetica CE" pitchFamily="-110" charset="-18"/>
        <a:buChar char="–"/>
        <a:defRPr sz="2000">
          <a:solidFill>
            <a:srgbClr val="0A017F"/>
          </a:solidFill>
          <a:latin typeface="+mn-lt"/>
          <a:ea typeface="MS PGothic" pitchFamily="34" charset="-128"/>
        </a:defRPr>
      </a:lvl5pPr>
      <a:lvl6pPr marL="2743200" indent="-381000" algn="l" rtl="0" eaLnBrk="1" fontAlgn="base" hangingPunct="1">
        <a:lnSpc>
          <a:spcPct val="95000"/>
        </a:lnSpc>
        <a:spcBef>
          <a:spcPct val="20000"/>
        </a:spcBef>
        <a:spcAft>
          <a:spcPct val="0"/>
        </a:spcAft>
        <a:buClr>
          <a:schemeClr val="tx1"/>
        </a:buClr>
        <a:buSzPct val="85000"/>
        <a:buFont typeface="Helvetica CE" charset="-18"/>
        <a:buChar char="–"/>
        <a:defRPr>
          <a:solidFill>
            <a:srgbClr val="0A017F"/>
          </a:solidFill>
          <a:latin typeface="+mn-lt"/>
          <a:ea typeface="ＭＳ Ｐゴシック" charset="-128"/>
        </a:defRPr>
      </a:lvl6pPr>
      <a:lvl7pPr marL="3200400" indent="-381000" algn="l" rtl="0" eaLnBrk="1" fontAlgn="base" hangingPunct="1">
        <a:lnSpc>
          <a:spcPct val="95000"/>
        </a:lnSpc>
        <a:spcBef>
          <a:spcPct val="20000"/>
        </a:spcBef>
        <a:spcAft>
          <a:spcPct val="0"/>
        </a:spcAft>
        <a:buClr>
          <a:schemeClr val="tx1"/>
        </a:buClr>
        <a:buSzPct val="85000"/>
        <a:buFont typeface="Helvetica CE" charset="-18"/>
        <a:buChar char="–"/>
        <a:defRPr>
          <a:solidFill>
            <a:srgbClr val="0A017F"/>
          </a:solidFill>
          <a:latin typeface="+mn-lt"/>
          <a:ea typeface="ＭＳ Ｐゴシック" charset="-128"/>
        </a:defRPr>
      </a:lvl7pPr>
      <a:lvl8pPr marL="3657600" indent="-381000" algn="l" rtl="0" eaLnBrk="1" fontAlgn="base" hangingPunct="1">
        <a:lnSpc>
          <a:spcPct val="95000"/>
        </a:lnSpc>
        <a:spcBef>
          <a:spcPct val="20000"/>
        </a:spcBef>
        <a:spcAft>
          <a:spcPct val="0"/>
        </a:spcAft>
        <a:buClr>
          <a:schemeClr val="tx1"/>
        </a:buClr>
        <a:buSzPct val="85000"/>
        <a:buFont typeface="Helvetica CE" charset="-18"/>
        <a:buChar char="–"/>
        <a:defRPr>
          <a:solidFill>
            <a:srgbClr val="0A017F"/>
          </a:solidFill>
          <a:latin typeface="+mn-lt"/>
          <a:ea typeface="ＭＳ Ｐゴシック" charset="-128"/>
        </a:defRPr>
      </a:lvl8pPr>
      <a:lvl9pPr marL="4114800" indent="-381000" algn="l" rtl="0" eaLnBrk="1" fontAlgn="base" hangingPunct="1">
        <a:lnSpc>
          <a:spcPct val="95000"/>
        </a:lnSpc>
        <a:spcBef>
          <a:spcPct val="20000"/>
        </a:spcBef>
        <a:spcAft>
          <a:spcPct val="0"/>
        </a:spcAft>
        <a:buClr>
          <a:schemeClr val="tx1"/>
        </a:buClr>
        <a:buSzPct val="85000"/>
        <a:buFont typeface="Helvetica CE" charset="-18"/>
        <a:buChar char="–"/>
        <a:defRPr>
          <a:solidFill>
            <a:srgbClr val="0A017F"/>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PK"/>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Helvetica" pitchFamily="-110" charset="0"/>
                <a:ea typeface="MS PGothic" pitchFamily="34" charset="-128"/>
              </a:defRPr>
            </a:lvl1pPr>
          </a:lstStyle>
          <a:p>
            <a:pPr>
              <a:defRPr/>
            </a:pPr>
            <a:fld id="{1D9FD966-45F3-4A40-9468-AB81710139BF}" type="datetimeFigureOut">
              <a:rPr lang="en-US"/>
              <a:pPr>
                <a:defRPr/>
              </a:pPr>
              <a:t>6/10/2024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9D587B54-1294-4B38-B57B-87A57DB5AE05}" type="slidenum">
              <a:rPr lang="en-US" altLang="en-PK"/>
              <a:pPr/>
              <a:t>‹#›</a:t>
            </a:fld>
            <a:endParaRPr lang="en-US" altLang="en-PK"/>
          </a:p>
        </p:txBody>
      </p:sp>
    </p:spTree>
    <p:extLst>
      <p:ext uri="{BB962C8B-B14F-4D97-AF65-F5344CB8AC3E}">
        <p14:creationId xmlns:p14="http://schemas.microsoft.com/office/powerpoint/2010/main" val="335442230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PK"/>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Helvetica" pitchFamily="-110" charset="0"/>
                <a:ea typeface="MS PGothic" pitchFamily="34" charset="-128"/>
              </a:defRPr>
            </a:lvl1pPr>
          </a:lstStyle>
          <a:p>
            <a:pPr>
              <a:defRPr/>
            </a:pPr>
            <a:fld id="{546AC2A1-9C16-4113-A360-932E7620D053}" type="datetimeFigureOut">
              <a:rPr lang="en-US"/>
              <a:pPr>
                <a:defRPr/>
              </a:pPr>
              <a:t>6/10/2024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D4302011-CE6B-4CE3-B9FF-8B72DA6FA030}" type="slidenum">
              <a:rPr lang="en-US" altLang="en-PK"/>
              <a:pPr/>
              <a:t>‹#›</a:t>
            </a:fld>
            <a:endParaRPr lang="en-US" altLang="en-PK"/>
          </a:p>
        </p:txBody>
      </p:sp>
    </p:spTree>
    <p:extLst>
      <p:ext uri="{BB962C8B-B14F-4D97-AF65-F5344CB8AC3E}">
        <p14:creationId xmlns:p14="http://schemas.microsoft.com/office/powerpoint/2010/main" val="245862961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PK"/>
              <a:t>Click to edit Master title style</a:t>
            </a:r>
          </a:p>
        </p:txBody>
      </p:sp>
      <p:sp>
        <p:nvSpPr>
          <p:cNvPr id="4099"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Tree>
    <p:extLst>
      <p:ext uri="{BB962C8B-B14F-4D97-AF65-F5344CB8AC3E}">
        <p14:creationId xmlns:p14="http://schemas.microsoft.com/office/powerpoint/2010/main" val="119627020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PK"/>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Helvetica" pitchFamily="-110" charset="0"/>
                <a:ea typeface="MS PGothic" pitchFamily="34" charset="-128"/>
              </a:defRPr>
            </a:lvl1pPr>
          </a:lstStyle>
          <a:p>
            <a:pPr>
              <a:defRPr/>
            </a:pPr>
            <a:fld id="{1189DEE7-8122-4E96-ACE3-74C64887203D}" type="datetimeFigureOut">
              <a:rPr lang="en-US"/>
              <a:pPr>
                <a:defRPr/>
              </a:pPr>
              <a:t>6/10/2024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Helvetica" pitchFamily="-110" charset="0"/>
                <a:ea typeface="MS PGothic" pitchFamily="34" charset="-128"/>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DC0C4E82-31CE-4016-945B-57E99BE7DE6D}" type="slidenum">
              <a:rPr lang="en-US" altLang="en-PK"/>
              <a:pPr/>
              <a:t>‹#›</a:t>
            </a:fld>
            <a:endParaRPr lang="en-US" altLang="en-PK"/>
          </a:p>
        </p:txBody>
      </p:sp>
    </p:spTree>
    <p:extLst>
      <p:ext uri="{BB962C8B-B14F-4D97-AF65-F5344CB8AC3E}">
        <p14:creationId xmlns:p14="http://schemas.microsoft.com/office/powerpoint/2010/main" val="386970658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sourcemaking.com/design_patterns/abstract_factory" TargetMode="External"/><Relationship Id="rId2" Type="http://schemas.openxmlformats.org/officeDocument/2006/relationships/hyperlink" Target="https://sourcemaking.com/design_patterns/creational_patterns"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hyperlink" Target="https://sourcemaking.com/design_patterns/builder" TargetMode="External"/><Relationship Id="rId7" Type="http://schemas.openxmlformats.org/officeDocument/2006/relationships/hyperlink" Target="https://sourcemaking.com/design_patterns/singleton" TargetMode="External"/><Relationship Id="rId2" Type="http://schemas.openxmlformats.org/officeDocument/2006/relationships/hyperlink" Target="https://sourcemaking.com/design_patterns/abstract_factory" TargetMode="External"/><Relationship Id="rId1" Type="http://schemas.openxmlformats.org/officeDocument/2006/relationships/slideLayout" Target="../slideLayouts/slideLayout2.xml"/><Relationship Id="rId6" Type="http://schemas.openxmlformats.org/officeDocument/2006/relationships/hyperlink" Target="https://sourcemaking.com/design_patterns/prototype" TargetMode="External"/><Relationship Id="rId5" Type="http://schemas.openxmlformats.org/officeDocument/2006/relationships/hyperlink" Target="https://sourcemaking.com/design_patterns/object_pool" TargetMode="External"/><Relationship Id="rId4" Type="http://schemas.openxmlformats.org/officeDocument/2006/relationships/hyperlink" Target="https://sourcemaking.com/design_patterns/factory_method"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sourcemaking.com/design_patterns/decorator" TargetMode="External"/><Relationship Id="rId2" Type="http://schemas.openxmlformats.org/officeDocument/2006/relationships/hyperlink" Target="https://sourcemaking.com/design_patterns/structural_patterns"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hyperlink" Target="https://sourcemaking.com/design_patterns/bridge" TargetMode="External"/><Relationship Id="rId7" Type="http://schemas.openxmlformats.org/officeDocument/2006/relationships/hyperlink" Target="https://sourcemaking.com/design_patterns/flyweight" TargetMode="External"/><Relationship Id="rId2" Type="http://schemas.openxmlformats.org/officeDocument/2006/relationships/hyperlink" Target="https://sourcemaking.com/design_patterns/adapter" TargetMode="External"/><Relationship Id="rId1" Type="http://schemas.openxmlformats.org/officeDocument/2006/relationships/slideLayout" Target="../slideLayouts/slideLayout2.xml"/><Relationship Id="rId6" Type="http://schemas.openxmlformats.org/officeDocument/2006/relationships/hyperlink" Target="https://sourcemaking.com/design_patterns/facade" TargetMode="External"/><Relationship Id="rId5" Type="http://schemas.openxmlformats.org/officeDocument/2006/relationships/hyperlink" Target="https://sourcemaking.com/design_patterns/decorator" TargetMode="External"/><Relationship Id="rId4" Type="http://schemas.openxmlformats.org/officeDocument/2006/relationships/hyperlink" Target="https://sourcemaking.com/design_patterns/composit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sourcemaking.com/design_patterns/proxy" TargetMode="External"/><Relationship Id="rId2" Type="http://schemas.openxmlformats.org/officeDocument/2006/relationships/hyperlink" Target="https://sourcemaking.com/design_patterns/private_class_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sourcemaking.com/design_patterns/interpreter" TargetMode="External"/><Relationship Id="rId2" Type="http://schemas.openxmlformats.org/officeDocument/2006/relationships/hyperlink" Target="https://sourcemaking.com/design_patterns/behavioral_patterns"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hyperlink" Target="https://sourcemaking.com/design_patterns/command" TargetMode="External"/><Relationship Id="rId2" Type="http://schemas.openxmlformats.org/officeDocument/2006/relationships/hyperlink" Target="https://sourcemaking.com/design_patterns/chain_of_responsibility" TargetMode="External"/><Relationship Id="rId1" Type="http://schemas.openxmlformats.org/officeDocument/2006/relationships/slideLayout" Target="../slideLayouts/slideLayout2.xml"/><Relationship Id="rId5" Type="http://schemas.openxmlformats.org/officeDocument/2006/relationships/hyperlink" Target="https://sourcemaking.com/design_patterns/iterator" TargetMode="External"/><Relationship Id="rId4" Type="http://schemas.openxmlformats.org/officeDocument/2006/relationships/hyperlink" Target="https://sourcemaking.com/design_patterns/interpreter"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sourcemaking.com/design_patterns/memento" TargetMode="External"/><Relationship Id="rId2" Type="http://schemas.openxmlformats.org/officeDocument/2006/relationships/hyperlink" Target="https://sourcemaking.com/design_patterns/mediator" TargetMode="External"/><Relationship Id="rId1" Type="http://schemas.openxmlformats.org/officeDocument/2006/relationships/slideLayout" Target="../slideLayouts/slideLayout2.xml"/><Relationship Id="rId5" Type="http://schemas.openxmlformats.org/officeDocument/2006/relationships/hyperlink" Target="https://sourcemaking.com/design_patterns/observer" TargetMode="External"/><Relationship Id="rId4" Type="http://schemas.openxmlformats.org/officeDocument/2006/relationships/hyperlink" Target="https://sourcemaking.com/design_patterns/null_object"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sourcemaking.com/design_patterns/strategy" TargetMode="External"/><Relationship Id="rId2" Type="http://schemas.openxmlformats.org/officeDocument/2006/relationships/hyperlink" Target="https://sourcemaking.com/design_patterns/state"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hyperlink" Target="https://sourcemaking.com/design_patterns/visitor" TargetMode="External"/><Relationship Id="rId2" Type="http://schemas.openxmlformats.org/officeDocument/2006/relationships/hyperlink" Target="https://sourcemaking.com/design_patterns/template_metho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400" dirty="0"/>
              <a:t>Chapter 7 – </a:t>
            </a:r>
          </a:p>
        </p:txBody>
      </p:sp>
      <p:sp>
        <p:nvSpPr>
          <p:cNvPr id="3" name="Subtitle 2"/>
          <p:cNvSpPr>
            <a:spLocks noGrp="1"/>
          </p:cNvSpPr>
          <p:nvPr>
            <p:ph type="subTitle" idx="1"/>
          </p:nvPr>
        </p:nvSpPr>
        <p:spPr/>
        <p:txBody>
          <a:bodyPr/>
          <a:lstStyle/>
          <a:p>
            <a:r>
              <a:rPr lang="en-US" sz="4000" dirty="0"/>
              <a:t>Design and Implementation</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Software design and implementation is the stage in the software engineering process at which </a:t>
            </a:r>
            <a:r>
              <a:rPr lang="en-US" u="sng" dirty="0">
                <a:solidFill>
                  <a:schemeClr val="tx1"/>
                </a:solidFill>
              </a:rPr>
              <a:t>an executable software system is developed</a:t>
            </a:r>
            <a:r>
              <a:rPr lang="en-US" dirty="0">
                <a:solidFill>
                  <a:schemeClr val="tx1"/>
                </a:solidFill>
              </a:rPr>
              <a:t>. </a:t>
            </a:r>
          </a:p>
          <a:p>
            <a:r>
              <a:rPr lang="en-US" dirty="0">
                <a:solidFill>
                  <a:schemeClr val="tx1"/>
                </a:solidFill>
              </a:rPr>
              <a:t>Software design and implementation activities are invariably inter-leaved. </a:t>
            </a:r>
          </a:p>
          <a:p>
            <a:pPr lvl="1"/>
            <a:r>
              <a:rPr lang="en-US" dirty="0">
                <a:solidFill>
                  <a:schemeClr val="tx1"/>
                </a:solidFill>
              </a:rPr>
              <a:t>Software design is a creative activity in which you </a:t>
            </a:r>
            <a:r>
              <a:rPr lang="en-US" u="sng" dirty="0">
                <a:solidFill>
                  <a:schemeClr val="tx1"/>
                </a:solidFill>
              </a:rPr>
              <a:t>identify software components and their relationships</a:t>
            </a:r>
            <a:r>
              <a:rPr lang="en-US" dirty="0">
                <a:solidFill>
                  <a:schemeClr val="tx1"/>
                </a:solidFill>
              </a:rPr>
              <a:t>, based on a customer’s requirements. </a:t>
            </a:r>
          </a:p>
          <a:p>
            <a:pPr lvl="1"/>
            <a:r>
              <a:rPr lang="en-US" dirty="0">
                <a:solidFill>
                  <a:schemeClr val="tx1"/>
                </a:solidFill>
              </a:rPr>
              <a:t>Implementation is the process of realizing the design as a program. </a:t>
            </a:r>
          </a:p>
        </p:txBody>
      </p:sp>
      <p:sp>
        <p:nvSpPr>
          <p:cNvPr id="2" name="Title 1"/>
          <p:cNvSpPr>
            <a:spLocks noGrp="1"/>
          </p:cNvSpPr>
          <p:nvPr>
            <p:ph type="title"/>
          </p:nvPr>
        </p:nvSpPr>
        <p:spPr/>
        <p:txBody>
          <a:bodyPr/>
          <a:lstStyle/>
          <a:p>
            <a:r>
              <a:rPr lang="en-US" dirty="0"/>
              <a:t>Design and implementation</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2</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E8424F-2C78-83BB-FE22-69E91E24FB39}"/>
              </a:ext>
            </a:extLst>
          </p:cNvPr>
          <p:cNvPicPr>
            <a:picLocks noGrp="1" noChangeAspect="1"/>
          </p:cNvPicPr>
          <p:nvPr>
            <p:ph idx="1"/>
          </p:nvPr>
        </p:nvPicPr>
        <p:blipFill>
          <a:blip r:embed="rId2"/>
          <a:stretch>
            <a:fillRect/>
          </a:stretch>
        </p:blipFill>
        <p:spPr>
          <a:xfrm>
            <a:off x="981533" y="1127760"/>
            <a:ext cx="7180934" cy="5730240"/>
          </a:xfrm>
        </p:spPr>
      </p:pic>
      <p:sp>
        <p:nvSpPr>
          <p:cNvPr id="3" name="Title 2">
            <a:extLst>
              <a:ext uri="{FF2B5EF4-FFF2-40B4-BE49-F238E27FC236}">
                <a16:creationId xmlns:a16="http://schemas.microsoft.com/office/drawing/2014/main" id="{C5AA3657-1E7B-FC5D-EBC4-CD0FA6250535}"/>
              </a:ext>
            </a:extLst>
          </p:cNvPr>
          <p:cNvSpPr>
            <a:spLocks noGrp="1"/>
          </p:cNvSpPr>
          <p:nvPr>
            <p:ph type="title"/>
          </p:nvPr>
        </p:nvSpPr>
        <p:spPr/>
        <p:txBody>
          <a:bodyPr/>
          <a:lstStyle/>
          <a:p>
            <a:r>
              <a:rPr lang="en-US" dirty="0"/>
              <a:t>Architecture Example 1</a:t>
            </a:r>
            <a:br>
              <a:rPr lang="en-US" dirty="0"/>
            </a:br>
            <a:endParaRPr lang="en-US" dirty="0"/>
          </a:p>
        </p:txBody>
      </p:sp>
    </p:spTree>
    <p:extLst>
      <p:ext uri="{BB962C8B-B14F-4D97-AF65-F5344CB8AC3E}">
        <p14:creationId xmlns:p14="http://schemas.microsoft.com/office/powerpoint/2010/main" val="54082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EDE80B-A3A0-FE74-7411-F2081B7255BA}"/>
              </a:ext>
            </a:extLst>
          </p:cNvPr>
          <p:cNvPicPr>
            <a:picLocks noGrp="1" noChangeAspect="1"/>
          </p:cNvPicPr>
          <p:nvPr>
            <p:ph idx="1"/>
          </p:nvPr>
        </p:nvPicPr>
        <p:blipFill>
          <a:blip r:embed="rId2"/>
          <a:stretch>
            <a:fillRect/>
          </a:stretch>
        </p:blipFill>
        <p:spPr>
          <a:xfrm>
            <a:off x="386969" y="1188720"/>
            <a:ext cx="8370062" cy="5669280"/>
          </a:xfrm>
        </p:spPr>
      </p:pic>
      <p:sp>
        <p:nvSpPr>
          <p:cNvPr id="3" name="Title 2">
            <a:extLst>
              <a:ext uri="{FF2B5EF4-FFF2-40B4-BE49-F238E27FC236}">
                <a16:creationId xmlns:a16="http://schemas.microsoft.com/office/drawing/2014/main" id="{D32475D8-16B0-5D81-F64E-A022643D3FB4}"/>
              </a:ext>
            </a:extLst>
          </p:cNvPr>
          <p:cNvSpPr>
            <a:spLocks noGrp="1"/>
          </p:cNvSpPr>
          <p:nvPr>
            <p:ph type="title"/>
          </p:nvPr>
        </p:nvSpPr>
        <p:spPr/>
        <p:txBody>
          <a:bodyPr/>
          <a:lstStyle/>
          <a:p>
            <a:r>
              <a:rPr lang="en-US" dirty="0"/>
              <a:t>Architecture </a:t>
            </a:r>
            <a:r>
              <a:rPr lang="en-US"/>
              <a:t>Example 2</a:t>
            </a:r>
            <a:br>
              <a:rPr lang="en-US"/>
            </a:br>
            <a:endParaRPr lang="en-US" dirty="0"/>
          </a:p>
        </p:txBody>
      </p:sp>
    </p:spTree>
    <p:extLst>
      <p:ext uri="{BB962C8B-B14F-4D97-AF65-F5344CB8AC3E}">
        <p14:creationId xmlns:p14="http://schemas.microsoft.com/office/powerpoint/2010/main" val="198037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noChangeArrowheads="1"/>
          </p:cNvSpPr>
          <p:nvPr>
            <p:ph idx="1"/>
          </p:nvPr>
        </p:nvSpPr>
        <p:spPr/>
        <p:txBody>
          <a:bodyPr lIns="91797" tIns="45898" rIns="91797" bIns="45898"/>
          <a:lstStyle/>
          <a:p>
            <a:r>
              <a:rPr lang="en-GB" dirty="0">
                <a:solidFill>
                  <a:schemeClr val="tx1"/>
                </a:solidFill>
              </a:rPr>
              <a:t>A design pattern is a way of </a:t>
            </a:r>
            <a:r>
              <a:rPr lang="en-GB" u="sng" dirty="0">
                <a:solidFill>
                  <a:schemeClr val="tx1"/>
                </a:solidFill>
              </a:rPr>
              <a:t>reusing abstract knowledge </a:t>
            </a:r>
            <a:r>
              <a:rPr lang="en-GB" dirty="0">
                <a:solidFill>
                  <a:schemeClr val="tx1"/>
                </a:solidFill>
              </a:rPr>
              <a:t>about a problem and its solution.</a:t>
            </a:r>
          </a:p>
          <a:p>
            <a:r>
              <a:rPr lang="en-GB" dirty="0">
                <a:solidFill>
                  <a:schemeClr val="tx1"/>
                </a:solidFill>
              </a:rPr>
              <a:t>A pattern is a description of the problem and the essence of its solution.</a:t>
            </a:r>
          </a:p>
          <a:p>
            <a:r>
              <a:rPr lang="en-GB" dirty="0">
                <a:solidFill>
                  <a:schemeClr val="tx1"/>
                </a:solidFill>
              </a:rPr>
              <a:t>It should be sufficiently abstract to be reused in different settings.</a:t>
            </a:r>
          </a:p>
          <a:p>
            <a:r>
              <a:rPr lang="en-GB" dirty="0">
                <a:solidFill>
                  <a:schemeClr val="tx1"/>
                </a:solidFill>
              </a:rPr>
              <a:t>Pattern descriptions usually make use of object-oriented characteristics such as inheritance and polymorphism.</a:t>
            </a:r>
          </a:p>
        </p:txBody>
      </p:sp>
      <p:sp>
        <p:nvSpPr>
          <p:cNvPr id="145410" name="Rectangle 2"/>
          <p:cNvSpPr>
            <a:spLocks noGrp="1" noChangeArrowheads="1"/>
          </p:cNvSpPr>
          <p:nvPr>
            <p:ph type="title"/>
          </p:nvPr>
        </p:nvSpPr>
        <p:spPr/>
        <p:txBody>
          <a:bodyPr/>
          <a:lstStyle/>
          <a:p>
            <a:r>
              <a:rPr lang="en-GB" dirty="0"/>
              <a:t>7.2 Design patterns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5</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idx="1"/>
          </p:nvPr>
        </p:nvSpPr>
        <p:spPr>
          <a:xfrm>
            <a:off x="457200" y="1600200"/>
            <a:ext cx="3617650" cy="4525963"/>
          </a:xfrm>
        </p:spPr>
        <p:txBody>
          <a:bodyPr lIns="91797" tIns="45898" rIns="91797" bIns="45898">
            <a:normAutofit lnSpcReduction="10000"/>
          </a:bodyPr>
          <a:lstStyle/>
          <a:p>
            <a:r>
              <a:rPr lang="en-GB" dirty="0">
                <a:solidFill>
                  <a:schemeClr val="tx1"/>
                </a:solidFill>
              </a:rPr>
              <a:t>Name</a:t>
            </a:r>
          </a:p>
          <a:p>
            <a:pPr lvl="1"/>
            <a:r>
              <a:rPr lang="en-GB" dirty="0">
                <a:solidFill>
                  <a:schemeClr val="tx1"/>
                </a:solidFill>
              </a:rPr>
              <a:t>A meaningful pattern identifier.</a:t>
            </a:r>
          </a:p>
          <a:p>
            <a:r>
              <a:rPr lang="en-GB" dirty="0">
                <a:solidFill>
                  <a:schemeClr val="tx1"/>
                </a:solidFill>
              </a:rPr>
              <a:t>Problem description.</a:t>
            </a:r>
          </a:p>
          <a:p>
            <a:r>
              <a:rPr lang="en-GB" dirty="0">
                <a:solidFill>
                  <a:schemeClr val="tx1"/>
                </a:solidFill>
              </a:rPr>
              <a:t>Solution description.</a:t>
            </a:r>
          </a:p>
          <a:p>
            <a:pPr lvl="1"/>
            <a:r>
              <a:rPr lang="en-GB" dirty="0">
                <a:solidFill>
                  <a:schemeClr val="tx1"/>
                </a:solidFill>
              </a:rPr>
              <a:t>Not a concrete design but a template for a design solution that can be instantiated in different ways.</a:t>
            </a:r>
          </a:p>
          <a:p>
            <a:r>
              <a:rPr lang="en-GB" dirty="0">
                <a:solidFill>
                  <a:schemeClr val="tx1"/>
                </a:solidFill>
              </a:rPr>
              <a:t>Consequences</a:t>
            </a:r>
          </a:p>
          <a:p>
            <a:pPr lvl="1"/>
            <a:r>
              <a:rPr lang="en-GB" dirty="0">
                <a:solidFill>
                  <a:schemeClr val="tx1"/>
                </a:solidFill>
              </a:rPr>
              <a:t>The results and trade-offs of applying the pattern.</a:t>
            </a:r>
          </a:p>
        </p:txBody>
      </p:sp>
      <p:sp>
        <p:nvSpPr>
          <p:cNvPr id="146434" name="Rectangle 2"/>
          <p:cNvSpPr>
            <a:spLocks noGrp="1" noChangeArrowheads="1"/>
          </p:cNvSpPr>
          <p:nvPr>
            <p:ph type="title"/>
          </p:nvPr>
        </p:nvSpPr>
        <p:spPr/>
        <p:txBody>
          <a:bodyPr/>
          <a:lstStyle/>
          <a:p>
            <a:r>
              <a:rPr lang="en-GB" dirty="0"/>
              <a:t>7.2 Pattern elements (continued)</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6</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
        <p:nvSpPr>
          <p:cNvPr id="6" name="Rectangle 3"/>
          <p:cNvSpPr txBox="1">
            <a:spLocks noChangeArrowheads="1"/>
          </p:cNvSpPr>
          <p:nvPr/>
        </p:nvSpPr>
        <p:spPr>
          <a:xfrm>
            <a:off x="4421080" y="1600201"/>
            <a:ext cx="4265720" cy="4756150"/>
          </a:xfrm>
          <a:prstGeom prst="rect">
            <a:avLst/>
          </a:prstGeom>
        </p:spPr>
        <p:txBody>
          <a:bodyPr lIns="91797" tIns="45898" rIns="91797" bIns="45898">
            <a:normAutofit fontScale="92500" lnSpcReduction="10000"/>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90000"/>
              </a:lnSpc>
              <a:buNone/>
            </a:pPr>
            <a:r>
              <a:rPr lang="en-GB" sz="2100" b="1" dirty="0">
                <a:solidFill>
                  <a:schemeClr val="tx1"/>
                </a:solidFill>
              </a:rPr>
              <a:t>An Observer pattern</a:t>
            </a:r>
          </a:p>
          <a:p>
            <a:pPr>
              <a:lnSpc>
                <a:spcPct val="90000"/>
              </a:lnSpc>
            </a:pPr>
            <a:r>
              <a:rPr lang="en-GB" sz="2100" dirty="0">
                <a:solidFill>
                  <a:schemeClr val="tx1"/>
                </a:solidFill>
              </a:rPr>
              <a:t>Name</a:t>
            </a:r>
          </a:p>
          <a:p>
            <a:pPr lvl="1">
              <a:lnSpc>
                <a:spcPct val="90000"/>
              </a:lnSpc>
            </a:pPr>
            <a:r>
              <a:rPr lang="en-GB" sz="1900" b="1" dirty="0">
                <a:solidFill>
                  <a:schemeClr val="tx1"/>
                </a:solidFill>
              </a:rPr>
              <a:t>Observer.</a:t>
            </a:r>
          </a:p>
          <a:p>
            <a:pPr>
              <a:lnSpc>
                <a:spcPct val="90000"/>
              </a:lnSpc>
            </a:pPr>
            <a:r>
              <a:rPr lang="en-GB" sz="2100" dirty="0">
                <a:solidFill>
                  <a:schemeClr val="tx1"/>
                </a:solidFill>
              </a:rPr>
              <a:t>Description</a:t>
            </a:r>
          </a:p>
          <a:p>
            <a:pPr lvl="1">
              <a:lnSpc>
                <a:spcPct val="90000"/>
              </a:lnSpc>
            </a:pPr>
            <a:r>
              <a:rPr lang="en-GB" sz="1900" dirty="0">
                <a:solidFill>
                  <a:schemeClr val="tx1"/>
                </a:solidFill>
              </a:rPr>
              <a:t>Separates the display of object state from the object itself.</a:t>
            </a:r>
          </a:p>
          <a:p>
            <a:pPr>
              <a:lnSpc>
                <a:spcPct val="90000"/>
              </a:lnSpc>
            </a:pPr>
            <a:r>
              <a:rPr lang="en-GB" sz="2100" dirty="0">
                <a:solidFill>
                  <a:schemeClr val="tx1"/>
                </a:solidFill>
              </a:rPr>
              <a:t>Problem description</a:t>
            </a:r>
          </a:p>
          <a:p>
            <a:pPr lvl="1">
              <a:lnSpc>
                <a:spcPct val="90000"/>
              </a:lnSpc>
            </a:pPr>
            <a:r>
              <a:rPr lang="en-GB" sz="1900" dirty="0">
                <a:solidFill>
                  <a:schemeClr val="tx1"/>
                </a:solidFill>
              </a:rPr>
              <a:t>Used when multiple displays of state are needed.</a:t>
            </a:r>
          </a:p>
          <a:p>
            <a:pPr>
              <a:lnSpc>
                <a:spcPct val="90000"/>
              </a:lnSpc>
            </a:pPr>
            <a:r>
              <a:rPr lang="en-GB" sz="2100" dirty="0">
                <a:solidFill>
                  <a:schemeClr val="tx1"/>
                </a:solidFill>
              </a:rPr>
              <a:t>Solution description</a:t>
            </a:r>
          </a:p>
          <a:p>
            <a:pPr lvl="1">
              <a:lnSpc>
                <a:spcPct val="90000"/>
              </a:lnSpc>
            </a:pPr>
            <a:r>
              <a:rPr lang="en-GB" sz="1900" dirty="0">
                <a:solidFill>
                  <a:schemeClr val="tx1"/>
                </a:solidFill>
              </a:rPr>
              <a:t>See slide with UML description.</a:t>
            </a:r>
          </a:p>
          <a:p>
            <a:pPr>
              <a:lnSpc>
                <a:spcPct val="90000"/>
              </a:lnSpc>
            </a:pPr>
            <a:r>
              <a:rPr lang="en-GB" sz="2100" dirty="0">
                <a:solidFill>
                  <a:schemeClr val="tx1"/>
                </a:solidFill>
              </a:rPr>
              <a:t>Consequences</a:t>
            </a:r>
          </a:p>
          <a:p>
            <a:pPr lvl="1">
              <a:lnSpc>
                <a:spcPct val="90000"/>
              </a:lnSpc>
            </a:pPr>
            <a:r>
              <a:rPr lang="en-GB" sz="1900" dirty="0">
                <a:solidFill>
                  <a:schemeClr val="tx1"/>
                </a:solidFill>
              </a:rPr>
              <a:t>Optimisations to enhance display performance are impractical.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4813408"/>
              </p:ext>
            </p:extLst>
          </p:nvPr>
        </p:nvGraphicFramePr>
        <p:xfrm>
          <a:off x="457200" y="1222420"/>
          <a:ext cx="8229600" cy="5026276"/>
        </p:xfrm>
        <a:graphic>
          <a:graphicData uri="http://schemas.openxmlformats.org/drawingml/2006/table">
            <a:tbl>
              <a:tblPr firstRow="1" bandRow="1">
                <a:tableStyleId>{5C22544A-7EE6-4342-B048-85BDC9FD1C3A}</a:tableStyleId>
              </a:tblPr>
              <a:tblGrid>
                <a:gridCol w="1460270">
                  <a:extLst>
                    <a:ext uri="{9D8B030D-6E8A-4147-A177-3AD203B41FA5}">
                      <a16:colId xmlns:a16="http://schemas.microsoft.com/office/drawing/2014/main" val="20000"/>
                    </a:ext>
                  </a:extLst>
                </a:gridCol>
                <a:gridCol w="6769330">
                  <a:extLst>
                    <a:ext uri="{9D8B030D-6E8A-4147-A177-3AD203B41FA5}">
                      <a16:colId xmlns:a16="http://schemas.microsoft.com/office/drawing/2014/main" val="20001"/>
                    </a:ext>
                  </a:extLst>
                </a:gridCol>
              </a:tblGrid>
              <a:tr h="393316">
                <a:tc>
                  <a:txBody>
                    <a:bodyPr/>
                    <a:lstStyle/>
                    <a:p>
                      <a:r>
                        <a:rPr lang="en-US" sz="1400" dirty="0">
                          <a:latin typeface="Arial"/>
                          <a:cs typeface="Arial"/>
                        </a:rPr>
                        <a:t>Pattern name</a:t>
                      </a:r>
                    </a:p>
                  </a:txBody>
                  <a:tcPr/>
                </a:tc>
                <a:tc>
                  <a:txBody>
                    <a:bodyPr/>
                    <a:lstStyle/>
                    <a:p>
                      <a:r>
                        <a:rPr lang="en-US" sz="1400" dirty="0">
                          <a:latin typeface="Arial"/>
                          <a:cs typeface="Arial"/>
                        </a:rPr>
                        <a:t>Observer</a:t>
                      </a:r>
                    </a:p>
                  </a:txBody>
                  <a:tcPr/>
                </a:tc>
                <a:extLst>
                  <a:ext uri="{0D108BD9-81ED-4DB2-BD59-A6C34878D82A}">
                    <a16:rowId xmlns:a16="http://schemas.microsoft.com/office/drawing/2014/main" val="10000"/>
                  </a:ext>
                </a:extLst>
              </a:tr>
              <a:tr h="370840">
                <a:tc>
                  <a:txBody>
                    <a:bodyPr/>
                    <a:lstStyle/>
                    <a:p>
                      <a:r>
                        <a:rPr lang="en-US" sz="1400" dirty="0">
                          <a:latin typeface="Arial"/>
                          <a:cs typeface="Arial"/>
                        </a:rPr>
                        <a:t>Description</a:t>
                      </a:r>
                    </a:p>
                  </a:txBody>
                  <a:tcPr/>
                </a:tc>
                <a:tc>
                  <a:txBody>
                    <a:bodyPr/>
                    <a:lstStyle/>
                    <a:p>
                      <a:r>
                        <a:rPr lang="en-US" sz="1400" kern="1200" dirty="0">
                          <a:solidFill>
                            <a:schemeClr val="dk1"/>
                          </a:solidFill>
                          <a:latin typeface="Arial"/>
                          <a:ea typeface="+mn-ea"/>
                          <a:cs typeface="Arial"/>
                        </a:rPr>
                        <a:t>Separates the display of the state of an object from the object itself and allows alternative displays to be provided. When the object state changes, all displays are automatically notified and updated to reflect the change.</a:t>
                      </a:r>
                      <a:r>
                        <a:rPr lang="en-GB" sz="1400" dirty="0">
                          <a:latin typeface="Arial"/>
                          <a:cs typeface="Arial"/>
                        </a:rPr>
                        <a:t> </a:t>
                      </a:r>
                      <a:endParaRPr lang="en-US" sz="1400" dirty="0">
                        <a:latin typeface="Arial"/>
                        <a:cs typeface="Arial"/>
                      </a:endParaRPr>
                    </a:p>
                  </a:txBody>
                  <a:tcPr/>
                </a:tc>
                <a:extLst>
                  <a:ext uri="{0D108BD9-81ED-4DB2-BD59-A6C34878D82A}">
                    <a16:rowId xmlns:a16="http://schemas.microsoft.com/office/drawing/2014/main" val="10001"/>
                  </a:ext>
                </a:extLst>
              </a:tr>
              <a:tr h="370840">
                <a:tc>
                  <a:txBody>
                    <a:bodyPr/>
                    <a:lstStyle/>
                    <a:p>
                      <a:r>
                        <a:rPr lang="en-US" sz="1400" dirty="0">
                          <a:latin typeface="Arial"/>
                          <a:cs typeface="Arial"/>
                        </a:rPr>
                        <a:t>Problem description</a:t>
                      </a:r>
                    </a:p>
                  </a:txBody>
                  <a:tcPr/>
                </a:tc>
                <a:tc>
                  <a:txBody>
                    <a:bodyPr/>
                    <a:lstStyle/>
                    <a:p>
                      <a:r>
                        <a:rPr lang="en-US" sz="1400" kern="1200" dirty="0">
                          <a:solidFill>
                            <a:schemeClr val="dk1"/>
                          </a:solidFill>
                          <a:latin typeface="Arial"/>
                          <a:ea typeface="+mn-ea"/>
                          <a:cs typeface="Arial"/>
                        </a:rPr>
                        <a:t>In many situations, you have to provide multiple displays of state information, such as a graphical display and a tabular display. This pattern may be used in all situations where more than one display format for state information is required and where it is not necessary for the object that maintains the state information to know about the specific display formats used.</a:t>
                      </a:r>
                      <a:endParaRPr lang="en-GB" sz="1400" kern="1200" dirty="0">
                        <a:solidFill>
                          <a:schemeClr val="dk1"/>
                        </a:solidFill>
                        <a:latin typeface="Arial"/>
                        <a:ea typeface="+mn-ea"/>
                        <a:cs typeface="Arial"/>
                      </a:endParaRPr>
                    </a:p>
                    <a:p>
                      <a:endParaRPr lang="en-US" sz="1400" dirty="0">
                        <a:latin typeface="Arial"/>
                        <a:cs typeface="Arial"/>
                      </a:endParaRPr>
                    </a:p>
                  </a:txBody>
                  <a:tcPr/>
                </a:tc>
                <a:extLst>
                  <a:ext uri="{0D108BD9-81ED-4DB2-BD59-A6C34878D82A}">
                    <a16:rowId xmlns:a16="http://schemas.microsoft.com/office/drawing/2014/main" val="10002"/>
                  </a:ext>
                </a:extLst>
              </a:tr>
              <a:tr h="370840">
                <a:tc>
                  <a:txBody>
                    <a:bodyPr/>
                    <a:lstStyle/>
                    <a:p>
                      <a:r>
                        <a:rPr lang="en-US" sz="1400" dirty="0">
                          <a:latin typeface="Arial"/>
                          <a:cs typeface="Arial"/>
                        </a:rPr>
                        <a:t>Solution description</a:t>
                      </a:r>
                    </a:p>
                  </a:txBody>
                  <a:tcPr/>
                </a:tc>
                <a:tc>
                  <a:txBody>
                    <a:bodyPr/>
                    <a:lstStyle/>
                    <a:p>
                      <a:r>
                        <a:rPr lang="en-US" sz="1400" kern="1200" dirty="0">
                          <a:solidFill>
                            <a:schemeClr val="dk1"/>
                          </a:solidFill>
                          <a:latin typeface="Arial"/>
                          <a:ea typeface="+mn-ea"/>
                          <a:cs typeface="Arial"/>
                        </a:rPr>
                        <a:t>This involves two abstract objects, Subject and Observer, and two concrete objects,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and </a:t>
                      </a:r>
                      <a:r>
                        <a:rPr lang="en-US" sz="1400" kern="1200" dirty="0" err="1">
                          <a:solidFill>
                            <a:schemeClr val="dk1"/>
                          </a:solidFill>
                          <a:latin typeface="Arial"/>
                          <a:ea typeface="+mn-ea"/>
                          <a:cs typeface="Arial"/>
                        </a:rPr>
                        <a:t>ConcreteObject</a:t>
                      </a:r>
                      <a:r>
                        <a:rPr lang="en-US" sz="1400" kern="1200" dirty="0">
                          <a:solidFill>
                            <a:schemeClr val="dk1"/>
                          </a:solidFill>
                          <a:latin typeface="Arial"/>
                          <a:ea typeface="+mn-ea"/>
                          <a:cs typeface="Arial"/>
                        </a:rPr>
                        <a:t>, which inherit the attributes of the related abstract objects. The abstract objects include general operations that are applicable in all situations. The state to be displayed is maintained in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which inherits operations from Subject allowing it to add and remove Observers (each observer corresponds to a display) and to issue a notification when the state has changed. The </a:t>
                      </a:r>
                      <a:r>
                        <a:rPr lang="en-US" sz="1400" kern="1200" dirty="0" err="1">
                          <a:solidFill>
                            <a:schemeClr val="dk1"/>
                          </a:solidFill>
                          <a:latin typeface="Arial"/>
                          <a:ea typeface="+mn-ea"/>
                          <a:cs typeface="Arial"/>
                        </a:rPr>
                        <a:t>ConcreteObserver</a:t>
                      </a:r>
                      <a:r>
                        <a:rPr lang="en-US" sz="1400" kern="1200" dirty="0">
                          <a:solidFill>
                            <a:schemeClr val="dk1"/>
                          </a:solidFill>
                          <a:latin typeface="Arial"/>
                          <a:ea typeface="+mn-ea"/>
                          <a:cs typeface="Arial"/>
                        </a:rPr>
                        <a:t> maintains a copy of the state of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and implements the Update() interface of Observer that allows these copies to be kept in step. </a:t>
                      </a:r>
                      <a:endParaRPr lang="en-GB" sz="1400" kern="1200" dirty="0">
                        <a:solidFill>
                          <a:schemeClr val="dk1"/>
                        </a:solidFill>
                        <a:latin typeface="Arial"/>
                        <a:ea typeface="+mn-ea"/>
                        <a:cs typeface="Arial"/>
                      </a:endParaRPr>
                    </a:p>
                  </a:txBody>
                  <a:tcPr/>
                </a:tc>
                <a:extLst>
                  <a:ext uri="{0D108BD9-81ED-4DB2-BD59-A6C34878D82A}">
                    <a16:rowId xmlns:a16="http://schemas.microsoft.com/office/drawing/2014/main" val="10003"/>
                  </a:ext>
                </a:extLst>
              </a:tr>
              <a:tr h="370840">
                <a:tc>
                  <a:txBody>
                    <a:bodyPr/>
                    <a:lstStyle/>
                    <a:p>
                      <a:r>
                        <a:rPr lang="en-US" sz="1400" dirty="0">
                          <a:latin typeface="Arial"/>
                          <a:cs typeface="Arial"/>
                        </a:rPr>
                        <a:t>Consequences</a:t>
                      </a:r>
                    </a:p>
                  </a:txBody>
                  <a:tcPr/>
                </a:tc>
                <a:tc>
                  <a:txBody>
                    <a:bodyPr/>
                    <a:lstStyle/>
                    <a:p>
                      <a:r>
                        <a:rPr lang="en-US" sz="1400" kern="1200" dirty="0">
                          <a:solidFill>
                            <a:schemeClr val="dk1"/>
                          </a:solidFill>
                          <a:latin typeface="Arial"/>
                          <a:ea typeface="+mn-ea"/>
                          <a:cs typeface="Arial"/>
                        </a:rPr>
                        <a:t>The subject only knows the abstract Observer and does not know details of the concrete class. Therefore there is minimal coupling between these objects. </a:t>
                      </a:r>
                      <a:endParaRPr lang="en-US" sz="1400" dirty="0">
                        <a:latin typeface="Arial"/>
                        <a:cs typeface="Arial"/>
                      </a:endParaRPr>
                    </a:p>
                  </a:txBody>
                  <a:tcPr/>
                </a:tc>
                <a:extLst>
                  <a:ext uri="{0D108BD9-81ED-4DB2-BD59-A6C34878D82A}">
                    <a16:rowId xmlns:a16="http://schemas.microsoft.com/office/drawing/2014/main" val="10004"/>
                  </a:ext>
                </a:extLst>
              </a:tr>
            </a:tbl>
          </a:graphicData>
        </a:graphic>
      </p:graphicFrame>
      <p:sp>
        <p:nvSpPr>
          <p:cNvPr id="2" name="Title 1"/>
          <p:cNvSpPr>
            <a:spLocks noGrp="1"/>
          </p:cNvSpPr>
          <p:nvPr>
            <p:ph type="title"/>
          </p:nvPr>
        </p:nvSpPr>
        <p:spPr>
          <a:xfrm>
            <a:off x="457200" y="355107"/>
            <a:ext cx="8229600" cy="805932"/>
          </a:xfrm>
        </p:spPr>
        <p:txBody>
          <a:bodyPr/>
          <a:lstStyle/>
          <a:p>
            <a:r>
              <a:rPr lang="en-US" dirty="0"/>
              <a:t>7.2 The Observer pattern (continued)</a:t>
            </a:r>
            <a:r>
              <a:rPr lang="en-GB" dirty="0"/>
              <a:t> </a:t>
            </a:r>
            <a:endParaRPr lang="en-US" dirty="0"/>
          </a:p>
        </p:txBody>
      </p:sp>
      <p:sp>
        <p:nvSpPr>
          <p:cNvPr id="5" name="Slide Number Placeholder 4"/>
          <p:cNvSpPr>
            <a:spLocks noGrp="1"/>
          </p:cNvSpPr>
          <p:nvPr>
            <p:ph type="sldNum" sz="quarter" idx="4294967295"/>
          </p:nvPr>
        </p:nvSpPr>
        <p:spPr>
          <a:xfrm>
            <a:off x="7010400" y="6356350"/>
            <a:ext cx="2133600" cy="365125"/>
          </a:xfrm>
        </p:spPr>
        <p:txBody>
          <a:bodyPr/>
          <a:lstStyle/>
          <a:p>
            <a:fld id="{EC83099C-5FA5-B04A-B819-64718E2A253A}"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11 MultipleDisplays.eps"/>
          <p:cNvPicPr>
            <a:picLocks noGrp="1" noChangeAspect="1"/>
          </p:cNvPicPr>
          <p:nvPr>
            <p:ph idx="1"/>
          </p:nvPr>
        </p:nvPicPr>
        <mc:AlternateContent xmlns:mc="http://schemas.openxmlformats.org/markup-compatibility/2006">
          <mc:Choice xmlns:ma="http://schemas.microsoft.com/office/mac/drawingml/2008/main" xmlns:mv="urn:schemas-microsoft-com:mac:vml" xmlns="" Requires="ma">
            <p:blipFill>
              <a:blip r:embed="rId2"/>
              <a:srcRect l="-7712" r="-7712"/>
              <a:stretch>
                <a:fillRect/>
              </a:stretch>
            </p:blipFill>
          </mc:Choice>
          <mc:Fallback>
            <p:blipFill>
              <a:blip r:embed="rId3"/>
              <a:srcRect l="-7712" r="-7712"/>
              <a:stretch>
                <a:fillRect/>
              </a:stretch>
            </p:blipFill>
          </mc:Fallback>
        </mc:AlternateContent>
        <p:spPr>
          <a:xfrm>
            <a:off x="1566951" y="2149413"/>
            <a:ext cx="6018251" cy="3309806"/>
          </a:xfrm>
        </p:spPr>
      </p:pic>
      <p:sp>
        <p:nvSpPr>
          <p:cNvPr id="2" name="Title 1"/>
          <p:cNvSpPr>
            <a:spLocks noGrp="1"/>
          </p:cNvSpPr>
          <p:nvPr>
            <p:ph type="title"/>
          </p:nvPr>
        </p:nvSpPr>
        <p:spPr/>
        <p:txBody>
          <a:bodyPr/>
          <a:lstStyle/>
          <a:p>
            <a:r>
              <a:rPr lang="en-US" dirty="0"/>
              <a:t>7.2 Multiple displays using the Observer pattern (continued)</a:t>
            </a:r>
            <a:r>
              <a:rPr lang="en-GB" dirty="0"/>
              <a:t>  </a:t>
            </a:r>
            <a:endParaRPr lang="en-US" dirty="0"/>
          </a:p>
        </p:txBody>
      </p:sp>
      <p:sp>
        <p:nvSpPr>
          <p:cNvPr id="5" name="Slide Number Placeholder 4"/>
          <p:cNvSpPr>
            <a:spLocks noGrp="1"/>
          </p:cNvSpPr>
          <p:nvPr>
            <p:ph type="sldNum" sz="quarter" idx="4294967295"/>
          </p:nvPr>
        </p:nvSpPr>
        <p:spPr>
          <a:xfrm>
            <a:off x="7010400" y="6356350"/>
            <a:ext cx="2133600" cy="365125"/>
          </a:xfrm>
        </p:spPr>
        <p:txBody>
          <a:bodyPr/>
          <a:lstStyle/>
          <a:p>
            <a:fld id="{EC83099C-5FA5-B04A-B819-64718E2A253A}" type="slidenum">
              <a:rPr lang="en-US" smtClean="0"/>
              <a:pPr/>
              <a:t>8</a:t>
            </a:fld>
            <a:endParaRPr lang="en-US"/>
          </a:p>
        </p:txBody>
      </p:sp>
      <p:sp>
        <p:nvSpPr>
          <p:cNvPr id="6" name="Footer Placeholder 5"/>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12 ObserverPatternUML.eps"/>
          <p:cNvPicPr>
            <a:picLocks noGrp="1" noChangeAspect="1"/>
          </p:cNvPicPr>
          <p:nvPr>
            <p:ph idx="1"/>
          </p:nvPr>
        </p:nvPicPr>
        <p:blipFill>
          <a:blip r:embed="rId2"/>
          <a:stretch>
            <a:fillRect/>
          </a:stretch>
        </p:blipFill>
        <p:spPr>
          <a:xfrm>
            <a:off x="2143429" y="2938583"/>
            <a:ext cx="4863492" cy="1930159"/>
          </a:xfrm>
        </p:spPr>
      </p:pic>
      <p:sp>
        <p:nvSpPr>
          <p:cNvPr id="2" name="Title 1"/>
          <p:cNvSpPr>
            <a:spLocks noGrp="1"/>
          </p:cNvSpPr>
          <p:nvPr>
            <p:ph type="title"/>
          </p:nvPr>
        </p:nvSpPr>
        <p:spPr/>
        <p:txBody>
          <a:bodyPr/>
          <a:lstStyle/>
          <a:p>
            <a:r>
              <a:rPr lang="en-US" dirty="0"/>
              <a:t>7.2 A UML model of the Observer pattern</a:t>
            </a:r>
            <a:r>
              <a:rPr lang="en-GB" dirty="0"/>
              <a:t> </a:t>
            </a:r>
            <a:r>
              <a:rPr lang="en-US" dirty="0"/>
              <a:t>(continued)</a:t>
            </a:r>
            <a:r>
              <a:rPr lang="en-GB" dirty="0"/>
              <a:t> </a:t>
            </a:r>
            <a:endParaRPr lang="en-US" dirty="0"/>
          </a:p>
        </p:txBody>
      </p:sp>
      <p:sp>
        <p:nvSpPr>
          <p:cNvPr id="5" name="Slide Number Placeholder 4"/>
          <p:cNvSpPr>
            <a:spLocks noGrp="1"/>
          </p:cNvSpPr>
          <p:nvPr>
            <p:ph type="sldNum" sz="quarter" idx="4294967295"/>
          </p:nvPr>
        </p:nvSpPr>
        <p:spPr>
          <a:xfrm>
            <a:off x="7010400" y="6356350"/>
            <a:ext cx="2133600" cy="365125"/>
          </a:xfrm>
        </p:spPr>
        <p:txBody>
          <a:bodyPr/>
          <a:lstStyle/>
          <a:p>
            <a:fld id="{EC83099C-5FA5-B04A-B819-64718E2A253A}" type="slidenum">
              <a:rPr lang="en-US" smtClean="0"/>
              <a:pPr/>
              <a:t>9</a:t>
            </a:fld>
            <a:endParaRPr lang="en-US"/>
          </a:p>
        </p:txBody>
      </p:sp>
      <p:sp>
        <p:nvSpPr>
          <p:cNvPr id="6" name="Footer Placeholder 5"/>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To use patterns in your design, you need to recognize that any design problem you are facing may have an associated pattern that can be applied. </a:t>
            </a:r>
          </a:p>
          <a:p>
            <a:pPr lvl="1"/>
            <a:r>
              <a:rPr lang="en-US" dirty="0">
                <a:solidFill>
                  <a:schemeClr val="tx1"/>
                </a:solidFill>
              </a:rPr>
              <a:t>Tell several objects that the state of some other object has changed (Observer pattern).</a:t>
            </a:r>
            <a:endParaRPr lang="en-GB" dirty="0">
              <a:solidFill>
                <a:schemeClr val="tx1"/>
              </a:solidFill>
            </a:endParaRPr>
          </a:p>
          <a:p>
            <a:pPr lvl="1"/>
            <a:r>
              <a:rPr lang="en-US" dirty="0">
                <a:solidFill>
                  <a:schemeClr val="tx1"/>
                </a:solidFill>
              </a:rPr>
              <a:t>Tidy up the interfaces to a number of related objects that have often been developed incrementally (Façade pattern).</a:t>
            </a:r>
            <a:endParaRPr lang="en-GB" dirty="0">
              <a:solidFill>
                <a:schemeClr val="tx1"/>
              </a:solidFill>
            </a:endParaRPr>
          </a:p>
          <a:p>
            <a:pPr lvl="1"/>
            <a:r>
              <a:rPr lang="en-US" dirty="0">
                <a:solidFill>
                  <a:schemeClr val="tx1"/>
                </a:solidFill>
              </a:rPr>
              <a:t>Provide a standard way of accessing the elements in a collection, irrespective of how that collection is implemented (</a:t>
            </a:r>
            <a:r>
              <a:rPr lang="en-US" dirty="0" err="1">
                <a:solidFill>
                  <a:schemeClr val="tx1"/>
                </a:solidFill>
              </a:rPr>
              <a:t>Iterator</a:t>
            </a:r>
            <a:r>
              <a:rPr lang="en-US" dirty="0">
                <a:solidFill>
                  <a:schemeClr val="tx1"/>
                </a:solidFill>
              </a:rPr>
              <a:t> pattern).</a:t>
            </a:r>
            <a:endParaRPr lang="en-GB" dirty="0">
              <a:solidFill>
                <a:schemeClr val="tx1"/>
              </a:solidFill>
            </a:endParaRPr>
          </a:p>
          <a:p>
            <a:pPr lvl="1"/>
            <a:r>
              <a:rPr lang="en-US" dirty="0">
                <a:solidFill>
                  <a:schemeClr val="tx1"/>
                </a:solidFill>
              </a:rPr>
              <a:t>Allow for the possibility of extending the functionality of an existing class at run-time (Decorator pattern).</a:t>
            </a:r>
            <a:endParaRPr lang="en-GB" dirty="0">
              <a:solidFill>
                <a:schemeClr val="tx1"/>
              </a:solidFill>
            </a:endParaRPr>
          </a:p>
          <a:p>
            <a:endParaRPr lang="en-US" dirty="0">
              <a:solidFill>
                <a:schemeClr val="tx1"/>
              </a:solidFill>
            </a:endParaRPr>
          </a:p>
        </p:txBody>
      </p:sp>
      <p:sp>
        <p:nvSpPr>
          <p:cNvPr id="2" name="Title 1"/>
          <p:cNvSpPr>
            <a:spLocks noGrp="1"/>
          </p:cNvSpPr>
          <p:nvPr>
            <p:ph type="title"/>
          </p:nvPr>
        </p:nvSpPr>
        <p:spPr/>
        <p:txBody>
          <a:bodyPr/>
          <a:lstStyle/>
          <a:p>
            <a:r>
              <a:rPr lang="en-US" dirty="0"/>
              <a:t>7.2 Design problems (continued)</a:t>
            </a:r>
            <a:r>
              <a:rPr lang="en-GB" dirty="0"/>
              <a:t> </a:t>
            </a:r>
            <a:endParaRPr lang="en-US" dirty="0"/>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10</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56150"/>
          </a:xfrm>
        </p:spPr>
        <p:txBody>
          <a:bodyPr/>
          <a:lstStyle/>
          <a:p>
            <a:r>
              <a:rPr lang="en-US" dirty="0">
                <a:solidFill>
                  <a:schemeClr val="tx1"/>
                </a:solidFill>
              </a:rPr>
              <a:t>Focus here is not on programming, although this is obviously important, but on other implementation issues that are often not covered in programming texts:</a:t>
            </a:r>
          </a:p>
          <a:p>
            <a:pPr lvl="1"/>
            <a:r>
              <a:rPr lang="en-US" dirty="0">
                <a:solidFill>
                  <a:srgbClr val="FF0000"/>
                </a:solidFill>
              </a:rPr>
              <a:t>Reuse </a:t>
            </a:r>
            <a:r>
              <a:rPr lang="en-US" dirty="0"/>
              <a:t>Most modern software is constructed by reusing existing components or systems. When you are developing software, you should make as much use as possible of existing code.</a:t>
            </a:r>
            <a:endParaRPr lang="en-GB" dirty="0"/>
          </a:p>
          <a:p>
            <a:pPr lvl="1"/>
            <a:r>
              <a:rPr lang="en-US" dirty="0">
                <a:solidFill>
                  <a:srgbClr val="FF0000"/>
                </a:solidFill>
              </a:rPr>
              <a:t>Configuration management </a:t>
            </a:r>
            <a:r>
              <a:rPr lang="en-US" dirty="0"/>
              <a:t>During the development process, you have to keep track of the many different versions of each software component in a configuration management system.</a:t>
            </a:r>
            <a:endParaRPr lang="en-GB" dirty="0"/>
          </a:p>
          <a:p>
            <a:pPr lvl="1"/>
            <a:r>
              <a:rPr lang="en-US" dirty="0">
                <a:solidFill>
                  <a:srgbClr val="FF0000"/>
                </a:solidFill>
              </a:rPr>
              <a:t>Host-target development </a:t>
            </a:r>
            <a:r>
              <a:rPr lang="en-US" dirty="0"/>
              <a:t>Production software does not usually execute on the same computer as the software development environment. Rather, you develop it on one computer (the host system) and execute it on a separate computer (the target system).</a:t>
            </a:r>
            <a:r>
              <a:rPr lang="en-GB" dirty="0"/>
              <a:t> </a:t>
            </a:r>
            <a:endParaRPr lang="en-US" dirty="0"/>
          </a:p>
        </p:txBody>
      </p:sp>
      <p:sp>
        <p:nvSpPr>
          <p:cNvPr id="2" name="Title 1"/>
          <p:cNvSpPr>
            <a:spLocks noGrp="1"/>
          </p:cNvSpPr>
          <p:nvPr>
            <p:ph type="title"/>
          </p:nvPr>
        </p:nvSpPr>
        <p:spPr/>
        <p:txBody>
          <a:bodyPr/>
          <a:lstStyle/>
          <a:p>
            <a:r>
              <a:rPr lang="en-US" dirty="0"/>
              <a:t>7.3 Implementation issues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11</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From the 1960s to the 1990s, most new software was developed </a:t>
            </a:r>
            <a:r>
              <a:rPr lang="en-US" u="sng" dirty="0">
                <a:solidFill>
                  <a:schemeClr val="tx1"/>
                </a:solidFill>
              </a:rPr>
              <a:t>from scratch</a:t>
            </a:r>
            <a:r>
              <a:rPr lang="en-US" dirty="0">
                <a:solidFill>
                  <a:schemeClr val="tx1"/>
                </a:solidFill>
              </a:rPr>
              <a:t>, by writing all code in a high-level programming language. </a:t>
            </a:r>
          </a:p>
          <a:p>
            <a:pPr lvl="1"/>
            <a:r>
              <a:rPr lang="en-US" dirty="0">
                <a:solidFill>
                  <a:schemeClr val="tx1"/>
                </a:solidFill>
              </a:rPr>
              <a:t>The only significant reuse or software was the reuse of functions and objects in programming language libraries. </a:t>
            </a:r>
          </a:p>
          <a:p>
            <a:r>
              <a:rPr lang="en-US" dirty="0">
                <a:solidFill>
                  <a:schemeClr val="tx1"/>
                </a:solidFill>
              </a:rPr>
              <a:t>Costs and schedule pressure mean that this approach became increasingly </a:t>
            </a:r>
            <a:r>
              <a:rPr lang="en-US" u="sng" dirty="0">
                <a:solidFill>
                  <a:schemeClr val="tx1"/>
                </a:solidFill>
              </a:rPr>
              <a:t>unviable</a:t>
            </a:r>
            <a:r>
              <a:rPr lang="en-US" dirty="0">
                <a:solidFill>
                  <a:schemeClr val="tx1"/>
                </a:solidFill>
              </a:rPr>
              <a:t>, especially for commercial and Internet-based systems. </a:t>
            </a:r>
          </a:p>
          <a:p>
            <a:r>
              <a:rPr lang="en-US" dirty="0">
                <a:solidFill>
                  <a:schemeClr val="tx1"/>
                </a:solidFill>
              </a:rPr>
              <a:t>An approach to development </a:t>
            </a:r>
            <a:r>
              <a:rPr lang="en-US" u="sng" dirty="0">
                <a:solidFill>
                  <a:schemeClr val="tx1"/>
                </a:solidFill>
              </a:rPr>
              <a:t>based around the reuse of existing software</a:t>
            </a:r>
            <a:r>
              <a:rPr lang="en-US" dirty="0">
                <a:solidFill>
                  <a:schemeClr val="tx1"/>
                </a:solidFill>
              </a:rPr>
              <a:t> emerged and is now generally used for business and scientific software. </a:t>
            </a:r>
            <a:endParaRPr lang="en-GB" dirty="0">
              <a:solidFill>
                <a:schemeClr val="tx1"/>
              </a:solidFill>
            </a:endParaRPr>
          </a:p>
          <a:p>
            <a:endParaRPr lang="en-US" dirty="0">
              <a:solidFill>
                <a:schemeClr val="tx1"/>
              </a:solidFill>
            </a:endParaRPr>
          </a:p>
        </p:txBody>
      </p:sp>
      <p:sp>
        <p:nvSpPr>
          <p:cNvPr id="2" name="Title 1"/>
          <p:cNvSpPr>
            <a:spLocks noGrp="1"/>
          </p:cNvSpPr>
          <p:nvPr>
            <p:ph type="title"/>
          </p:nvPr>
        </p:nvSpPr>
        <p:spPr/>
        <p:txBody>
          <a:bodyPr/>
          <a:lstStyle/>
          <a:p>
            <a:r>
              <a:rPr lang="en-US" dirty="0"/>
              <a:t>7.3.1 Reuse</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12</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The abstraction level </a:t>
            </a:r>
          </a:p>
          <a:p>
            <a:pPr lvl="1"/>
            <a:r>
              <a:rPr lang="en-US" dirty="0">
                <a:solidFill>
                  <a:schemeClr val="tx1"/>
                </a:solidFill>
              </a:rPr>
              <a:t>At this level, you don’t reuse software directly but use knowledge of successful abstractions in the design of your software. </a:t>
            </a:r>
            <a:endParaRPr lang="en-GB" dirty="0">
              <a:solidFill>
                <a:schemeClr val="tx1"/>
              </a:solidFill>
            </a:endParaRPr>
          </a:p>
          <a:p>
            <a:r>
              <a:rPr lang="en-US" dirty="0">
                <a:solidFill>
                  <a:schemeClr val="tx1"/>
                </a:solidFill>
              </a:rPr>
              <a:t>The object level </a:t>
            </a:r>
          </a:p>
          <a:p>
            <a:pPr lvl="1"/>
            <a:r>
              <a:rPr lang="en-US" dirty="0">
                <a:solidFill>
                  <a:schemeClr val="tx1"/>
                </a:solidFill>
              </a:rPr>
              <a:t>At this level, you directly reuse objects from a library rather than writing the code yourself. </a:t>
            </a:r>
            <a:endParaRPr lang="en-GB" dirty="0">
              <a:solidFill>
                <a:schemeClr val="tx1"/>
              </a:solidFill>
            </a:endParaRPr>
          </a:p>
          <a:p>
            <a:r>
              <a:rPr lang="en-US" dirty="0">
                <a:solidFill>
                  <a:schemeClr val="tx1"/>
                </a:solidFill>
              </a:rPr>
              <a:t>The component level </a:t>
            </a:r>
          </a:p>
          <a:p>
            <a:pPr lvl="1"/>
            <a:r>
              <a:rPr lang="en-US" dirty="0">
                <a:solidFill>
                  <a:schemeClr val="tx1"/>
                </a:solidFill>
              </a:rPr>
              <a:t>Components are collections of objects and object classes that you reuse in application systems. </a:t>
            </a:r>
            <a:endParaRPr lang="en-GB" dirty="0">
              <a:solidFill>
                <a:schemeClr val="tx1"/>
              </a:solidFill>
            </a:endParaRPr>
          </a:p>
          <a:p>
            <a:r>
              <a:rPr lang="en-US" dirty="0">
                <a:solidFill>
                  <a:schemeClr val="tx1"/>
                </a:solidFill>
              </a:rPr>
              <a:t>The system level </a:t>
            </a:r>
          </a:p>
          <a:p>
            <a:pPr lvl="1"/>
            <a:r>
              <a:rPr lang="en-US" dirty="0">
                <a:solidFill>
                  <a:schemeClr val="tx1"/>
                </a:solidFill>
              </a:rPr>
              <a:t>At this level, you reuse entire application systems. </a:t>
            </a:r>
          </a:p>
        </p:txBody>
      </p:sp>
      <p:sp>
        <p:nvSpPr>
          <p:cNvPr id="2" name="Title 1"/>
          <p:cNvSpPr>
            <a:spLocks noGrp="1"/>
          </p:cNvSpPr>
          <p:nvPr>
            <p:ph type="title"/>
          </p:nvPr>
        </p:nvSpPr>
        <p:spPr/>
        <p:txBody>
          <a:bodyPr/>
          <a:lstStyle/>
          <a:p>
            <a:r>
              <a:rPr lang="en-US" dirty="0"/>
              <a:t>7.3.1 Reuse levels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13</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solidFill>
                  <a:schemeClr val="tx1"/>
                </a:solidFill>
              </a:rPr>
              <a:t>The costs of the time spent in </a:t>
            </a:r>
            <a:r>
              <a:rPr lang="en-US" u="sng" dirty="0">
                <a:solidFill>
                  <a:schemeClr val="tx1"/>
                </a:solidFill>
              </a:rPr>
              <a:t>looking for software </a:t>
            </a:r>
            <a:r>
              <a:rPr lang="en-US" dirty="0">
                <a:solidFill>
                  <a:schemeClr val="tx1"/>
                </a:solidFill>
              </a:rPr>
              <a:t>to reuse and assessing whether or not it meets your needs. </a:t>
            </a:r>
            <a:endParaRPr lang="en-GB" dirty="0">
              <a:solidFill>
                <a:schemeClr val="tx1"/>
              </a:solidFill>
            </a:endParaRPr>
          </a:p>
          <a:p>
            <a:r>
              <a:rPr lang="en-US" dirty="0">
                <a:solidFill>
                  <a:schemeClr val="tx1"/>
                </a:solidFill>
              </a:rPr>
              <a:t>Where applicable, the costs of </a:t>
            </a:r>
            <a:r>
              <a:rPr lang="en-US" u="sng" dirty="0">
                <a:solidFill>
                  <a:schemeClr val="tx1"/>
                </a:solidFill>
              </a:rPr>
              <a:t>buying the reusable software</a:t>
            </a:r>
            <a:r>
              <a:rPr lang="en-US" dirty="0">
                <a:solidFill>
                  <a:schemeClr val="tx1"/>
                </a:solidFill>
              </a:rPr>
              <a:t>. For large off-the-shelf systems, these costs can be very high.</a:t>
            </a:r>
            <a:endParaRPr lang="en-GB" dirty="0">
              <a:solidFill>
                <a:schemeClr val="tx1"/>
              </a:solidFill>
            </a:endParaRPr>
          </a:p>
          <a:p>
            <a:r>
              <a:rPr lang="en-US" dirty="0">
                <a:solidFill>
                  <a:schemeClr val="tx1"/>
                </a:solidFill>
              </a:rPr>
              <a:t>The costs of </a:t>
            </a:r>
            <a:r>
              <a:rPr lang="en-US" u="sng" dirty="0">
                <a:solidFill>
                  <a:schemeClr val="tx1"/>
                </a:solidFill>
              </a:rPr>
              <a:t>adapting and configuring the reusable software components</a:t>
            </a:r>
            <a:r>
              <a:rPr lang="en-US" dirty="0">
                <a:solidFill>
                  <a:schemeClr val="tx1"/>
                </a:solidFill>
              </a:rPr>
              <a:t> or systems to reflect the requirements of the system that you are developing.</a:t>
            </a:r>
            <a:endParaRPr lang="en-GB" dirty="0">
              <a:solidFill>
                <a:schemeClr val="tx1"/>
              </a:solidFill>
            </a:endParaRPr>
          </a:p>
          <a:p>
            <a:r>
              <a:rPr lang="en-US" dirty="0">
                <a:solidFill>
                  <a:schemeClr val="tx1"/>
                </a:solidFill>
              </a:rPr>
              <a:t>The costs of i</a:t>
            </a:r>
            <a:r>
              <a:rPr lang="en-US" u="sng" dirty="0">
                <a:solidFill>
                  <a:schemeClr val="tx1"/>
                </a:solidFill>
              </a:rPr>
              <a:t>ntegrating reusable software elements with each other</a:t>
            </a:r>
            <a:r>
              <a:rPr lang="en-US" dirty="0">
                <a:solidFill>
                  <a:schemeClr val="tx1"/>
                </a:solidFill>
              </a:rPr>
              <a:t> (if you are using software from different sources) and with the new code that you have developed. </a:t>
            </a:r>
          </a:p>
        </p:txBody>
      </p:sp>
      <p:sp>
        <p:nvSpPr>
          <p:cNvPr id="2" name="Title 1"/>
          <p:cNvSpPr>
            <a:spLocks noGrp="1"/>
          </p:cNvSpPr>
          <p:nvPr>
            <p:ph type="title"/>
          </p:nvPr>
        </p:nvSpPr>
        <p:spPr/>
        <p:txBody>
          <a:bodyPr/>
          <a:lstStyle/>
          <a:p>
            <a:r>
              <a:rPr lang="en-US" dirty="0"/>
              <a:t>7.3.1 Reuse costs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14</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Configuration management is the name given to the general process of managing a changing software system. </a:t>
            </a:r>
          </a:p>
          <a:p>
            <a:r>
              <a:rPr lang="en-US" dirty="0">
                <a:solidFill>
                  <a:schemeClr val="tx1"/>
                </a:solidFill>
              </a:rPr>
              <a:t>The aim of configuration management is to support the system integration process so that </a:t>
            </a:r>
            <a:r>
              <a:rPr lang="en-US" u="sng" dirty="0">
                <a:solidFill>
                  <a:schemeClr val="tx1"/>
                </a:solidFill>
              </a:rPr>
              <a:t>all developers can access the project code and documents in a controlled way</a:t>
            </a:r>
            <a:r>
              <a:rPr lang="en-US" dirty="0">
                <a:solidFill>
                  <a:schemeClr val="tx1"/>
                </a:solidFill>
              </a:rPr>
              <a:t>, find out what changes have been made, and compile and link components to create a system. </a:t>
            </a:r>
          </a:p>
          <a:p>
            <a:r>
              <a:rPr lang="en-US" dirty="0">
                <a:solidFill>
                  <a:schemeClr val="tx1"/>
                </a:solidFill>
              </a:rPr>
              <a:t>See also Chapter 25.</a:t>
            </a:r>
          </a:p>
        </p:txBody>
      </p:sp>
      <p:sp>
        <p:nvSpPr>
          <p:cNvPr id="2" name="Title 1"/>
          <p:cNvSpPr>
            <a:spLocks noGrp="1"/>
          </p:cNvSpPr>
          <p:nvPr>
            <p:ph type="title"/>
          </p:nvPr>
        </p:nvSpPr>
        <p:spPr/>
        <p:txBody>
          <a:bodyPr/>
          <a:lstStyle/>
          <a:p>
            <a:r>
              <a:rPr lang="en-US" dirty="0"/>
              <a:t>7.3.2 Configuration management</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15</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200" dirty="0">
                <a:solidFill>
                  <a:schemeClr val="tx1"/>
                </a:solidFill>
              </a:rPr>
              <a:t>Version management, where support is provided to keep track of the different versions of software components. Version management systems include facilities to coordinate development by several programmers. </a:t>
            </a:r>
            <a:endParaRPr lang="en-GB" sz="2200" dirty="0">
              <a:solidFill>
                <a:schemeClr val="tx1"/>
              </a:solidFill>
            </a:endParaRPr>
          </a:p>
          <a:p>
            <a:r>
              <a:rPr lang="en-US" sz="2200" dirty="0">
                <a:solidFill>
                  <a:schemeClr val="tx1"/>
                </a:solidFill>
              </a:rPr>
              <a:t>System integration, where support is provided to help developers define what versions of components are used to create each version of a system. This description is then used to build a system automatically by compiling and linking the required components.</a:t>
            </a:r>
            <a:endParaRPr lang="en-GB" sz="2200" dirty="0">
              <a:solidFill>
                <a:schemeClr val="tx1"/>
              </a:solidFill>
            </a:endParaRPr>
          </a:p>
          <a:p>
            <a:r>
              <a:rPr lang="en-US" sz="2200" dirty="0">
                <a:solidFill>
                  <a:schemeClr val="tx1"/>
                </a:solidFill>
              </a:rPr>
              <a:t>Problem tracking, where support is provided to allow users to report bugs and other problems, and to allow all developers to see who is working on these problems and when they are fixed.</a:t>
            </a:r>
            <a:r>
              <a:rPr lang="en-GB" sz="2200" dirty="0">
                <a:solidFill>
                  <a:schemeClr val="tx1"/>
                </a:solidFill>
              </a:rPr>
              <a:t> </a:t>
            </a:r>
            <a:endParaRPr lang="en-US" sz="2200" dirty="0">
              <a:solidFill>
                <a:schemeClr val="tx1"/>
              </a:solidFill>
            </a:endParaRPr>
          </a:p>
        </p:txBody>
      </p:sp>
      <p:sp>
        <p:nvSpPr>
          <p:cNvPr id="2" name="Title 1"/>
          <p:cNvSpPr>
            <a:spLocks noGrp="1"/>
          </p:cNvSpPr>
          <p:nvPr>
            <p:ph type="title"/>
          </p:nvPr>
        </p:nvSpPr>
        <p:spPr/>
        <p:txBody>
          <a:bodyPr/>
          <a:lstStyle/>
          <a:p>
            <a:r>
              <a:rPr lang="en-US" dirty="0"/>
              <a:t>7.3.2 Configuration management activities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16</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Most software is </a:t>
            </a:r>
            <a:r>
              <a:rPr lang="en-US" u="sng" dirty="0">
                <a:solidFill>
                  <a:schemeClr val="tx1"/>
                </a:solidFill>
              </a:rPr>
              <a:t>developed on one computer </a:t>
            </a:r>
            <a:r>
              <a:rPr lang="en-US" dirty="0">
                <a:solidFill>
                  <a:schemeClr val="tx1"/>
                </a:solidFill>
              </a:rPr>
              <a:t>(the host), </a:t>
            </a:r>
            <a:r>
              <a:rPr lang="en-US" u="sng" dirty="0">
                <a:solidFill>
                  <a:schemeClr val="tx1"/>
                </a:solidFill>
              </a:rPr>
              <a:t>but runs on a separate machine </a:t>
            </a:r>
            <a:r>
              <a:rPr lang="en-US" dirty="0">
                <a:solidFill>
                  <a:schemeClr val="tx1"/>
                </a:solidFill>
              </a:rPr>
              <a:t>(the target). </a:t>
            </a:r>
          </a:p>
          <a:p>
            <a:r>
              <a:rPr lang="en-US" dirty="0">
                <a:solidFill>
                  <a:schemeClr val="tx1"/>
                </a:solidFill>
              </a:rPr>
              <a:t>More generally, we can talk about a development platform and an execution platform. </a:t>
            </a:r>
          </a:p>
          <a:p>
            <a:pPr lvl="1"/>
            <a:r>
              <a:rPr lang="en-US" dirty="0">
                <a:solidFill>
                  <a:schemeClr val="tx1"/>
                </a:solidFill>
              </a:rPr>
              <a:t>A platform is more than just hardware. </a:t>
            </a:r>
          </a:p>
          <a:p>
            <a:pPr lvl="1"/>
            <a:r>
              <a:rPr lang="en-US" dirty="0">
                <a:solidFill>
                  <a:schemeClr val="tx1"/>
                </a:solidFill>
              </a:rPr>
              <a:t>It includes the installed operating system plus other supporting software such as a database management system or, for development platforms, an interactive development environment.</a:t>
            </a:r>
          </a:p>
          <a:p>
            <a:r>
              <a:rPr lang="en-US" dirty="0">
                <a:solidFill>
                  <a:schemeClr val="tx1"/>
                </a:solidFill>
              </a:rPr>
              <a:t>Development platform usually has different installed software than execution platform;</a:t>
            </a:r>
            <a:r>
              <a:rPr lang="en-GB" dirty="0">
                <a:solidFill>
                  <a:schemeClr val="tx1"/>
                </a:solidFill>
              </a:rPr>
              <a:t> these platforms may have different architectures.</a:t>
            </a:r>
            <a:endParaRPr lang="en-US" dirty="0">
              <a:solidFill>
                <a:schemeClr val="tx1"/>
              </a:solidFill>
            </a:endParaRPr>
          </a:p>
        </p:txBody>
      </p:sp>
      <p:sp>
        <p:nvSpPr>
          <p:cNvPr id="2" name="Title 1"/>
          <p:cNvSpPr>
            <a:spLocks noGrp="1"/>
          </p:cNvSpPr>
          <p:nvPr>
            <p:ph type="title"/>
          </p:nvPr>
        </p:nvSpPr>
        <p:spPr/>
        <p:txBody>
          <a:bodyPr/>
          <a:lstStyle/>
          <a:p>
            <a:r>
              <a:rPr lang="en-US" dirty="0"/>
              <a:t>7.3.3 Host-target development</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17</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An integrated compiler and syntax-directed editing system that allows you to create, edit and compile code.</a:t>
            </a:r>
            <a:endParaRPr lang="en-GB" dirty="0">
              <a:solidFill>
                <a:schemeClr val="tx1"/>
              </a:solidFill>
            </a:endParaRPr>
          </a:p>
          <a:p>
            <a:r>
              <a:rPr lang="en-US" dirty="0">
                <a:solidFill>
                  <a:schemeClr val="tx1"/>
                </a:solidFill>
              </a:rPr>
              <a:t>A language debugging system.</a:t>
            </a:r>
            <a:endParaRPr lang="en-GB" dirty="0">
              <a:solidFill>
                <a:schemeClr val="tx1"/>
              </a:solidFill>
            </a:endParaRPr>
          </a:p>
          <a:p>
            <a:r>
              <a:rPr lang="en-US" dirty="0">
                <a:solidFill>
                  <a:schemeClr val="tx1"/>
                </a:solidFill>
              </a:rPr>
              <a:t>Graphical editing tools, such as tools to edit UML models.</a:t>
            </a:r>
            <a:endParaRPr lang="en-GB" dirty="0">
              <a:solidFill>
                <a:schemeClr val="tx1"/>
              </a:solidFill>
            </a:endParaRPr>
          </a:p>
          <a:p>
            <a:r>
              <a:rPr lang="en-US" dirty="0">
                <a:solidFill>
                  <a:schemeClr val="tx1"/>
                </a:solidFill>
              </a:rPr>
              <a:t>Testing tools, such as </a:t>
            </a:r>
            <a:r>
              <a:rPr lang="en-US" dirty="0" err="1">
                <a:solidFill>
                  <a:schemeClr val="tx1"/>
                </a:solidFill>
              </a:rPr>
              <a:t>Junit</a:t>
            </a:r>
            <a:r>
              <a:rPr lang="en-US" dirty="0">
                <a:solidFill>
                  <a:schemeClr val="tx1"/>
                </a:solidFill>
              </a:rPr>
              <a:t> that can automatically run a set of tests on a new version of a program.</a:t>
            </a:r>
            <a:endParaRPr lang="en-GB" dirty="0">
              <a:solidFill>
                <a:schemeClr val="tx1"/>
              </a:solidFill>
            </a:endParaRPr>
          </a:p>
          <a:p>
            <a:r>
              <a:rPr lang="en-US" dirty="0">
                <a:solidFill>
                  <a:schemeClr val="tx1"/>
                </a:solidFill>
              </a:rPr>
              <a:t>Project support tools that help you organize the code for different development projects.</a:t>
            </a:r>
            <a:endParaRPr lang="en-GB" dirty="0">
              <a:solidFill>
                <a:schemeClr val="tx1"/>
              </a:solidFill>
            </a:endParaRPr>
          </a:p>
          <a:p>
            <a:endParaRPr lang="en-US" dirty="0">
              <a:solidFill>
                <a:schemeClr val="tx1"/>
              </a:solidFill>
            </a:endParaRPr>
          </a:p>
        </p:txBody>
      </p:sp>
      <p:sp>
        <p:nvSpPr>
          <p:cNvPr id="2" name="Title 1"/>
          <p:cNvSpPr>
            <a:spLocks noGrp="1"/>
          </p:cNvSpPr>
          <p:nvPr>
            <p:ph type="title"/>
          </p:nvPr>
        </p:nvSpPr>
        <p:spPr/>
        <p:txBody>
          <a:bodyPr/>
          <a:lstStyle/>
          <a:p>
            <a:r>
              <a:rPr lang="en-US" dirty="0"/>
              <a:t>7.3.3 Development platform tools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18</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1"/>
                </a:solidFill>
              </a:rPr>
              <a:t>Software development tools are often grouped to create an integrated development environment (IDE). </a:t>
            </a:r>
          </a:p>
          <a:p>
            <a:r>
              <a:rPr lang="en-US" dirty="0">
                <a:solidFill>
                  <a:schemeClr val="tx1"/>
                </a:solidFill>
              </a:rPr>
              <a:t>An IDE is a set of software tools that supports different aspects of software development, within some common framework and user interface. </a:t>
            </a:r>
          </a:p>
          <a:p>
            <a:r>
              <a:rPr lang="en-US" dirty="0" err="1">
                <a:solidFill>
                  <a:schemeClr val="tx1"/>
                </a:solidFill>
              </a:rPr>
              <a:t>IDEs</a:t>
            </a:r>
            <a:r>
              <a:rPr lang="en-US" dirty="0">
                <a:solidFill>
                  <a:schemeClr val="tx1"/>
                </a:solidFill>
              </a:rPr>
              <a:t> are created to support development in a specific programming language such as Java. The language IDE may be developed specially, or may be an instantiation of a general-purpose IDE, with specific language-support tools.</a:t>
            </a:r>
            <a:endParaRPr lang="en-GB" dirty="0">
              <a:solidFill>
                <a:schemeClr val="tx1"/>
              </a:solidFill>
            </a:endParaRPr>
          </a:p>
          <a:p>
            <a:endParaRPr lang="en-US" dirty="0">
              <a:solidFill>
                <a:schemeClr val="tx1"/>
              </a:solidFill>
            </a:endParaRPr>
          </a:p>
        </p:txBody>
      </p:sp>
      <p:sp>
        <p:nvSpPr>
          <p:cNvPr id="2" name="Title 1"/>
          <p:cNvSpPr>
            <a:spLocks noGrp="1"/>
          </p:cNvSpPr>
          <p:nvPr>
            <p:ph type="title"/>
          </p:nvPr>
        </p:nvSpPr>
        <p:spPr/>
        <p:txBody>
          <a:bodyPr/>
          <a:lstStyle/>
          <a:p>
            <a:r>
              <a:rPr lang="en-US" dirty="0"/>
              <a:t>7.3.3 Integrated development environments (IDEs)</a:t>
            </a:r>
          </a:p>
        </p:txBody>
      </p:sp>
      <p:sp>
        <p:nvSpPr>
          <p:cNvPr id="4" name="Slide Number Placeholder 3"/>
          <p:cNvSpPr>
            <a:spLocks noGrp="1"/>
          </p:cNvSpPr>
          <p:nvPr>
            <p:ph type="sldNum" sz="quarter" idx="4294967295"/>
          </p:nvPr>
        </p:nvSpPr>
        <p:spPr>
          <a:xfrm>
            <a:off x="7010400" y="6356350"/>
            <a:ext cx="2133600" cy="365125"/>
          </a:xfrm>
        </p:spPr>
        <p:txBody>
          <a:bodyPr/>
          <a:lstStyle/>
          <a:p>
            <a:fld id="{EC83099C-5FA5-B04A-B819-64718E2A253A}" type="slidenum">
              <a:rPr lang="en-US" smtClean="0"/>
              <a:pPr/>
              <a:t>19</a:t>
            </a:fld>
            <a:endParaRPr lang="en-US"/>
          </a:p>
        </p:txBody>
      </p:sp>
      <p:sp>
        <p:nvSpPr>
          <p:cNvPr id="5" name="Footer Placeholder 4"/>
          <p:cNvSpPr>
            <a:spLocks noGrp="1"/>
          </p:cNvSpPr>
          <p:nvPr>
            <p:ph type="ftr" sz="quarter" idx="4294967295"/>
          </p:nvPr>
        </p:nvSpPr>
        <p:spPr>
          <a:xfrm>
            <a:off x="0" y="6356350"/>
            <a:ext cx="2895600" cy="365125"/>
          </a:xfrm>
        </p:spPr>
        <p:txBody>
          <a:bodyPr/>
          <a:lstStyle/>
          <a:p>
            <a:r>
              <a:rPr lang="en-US"/>
              <a:t>Chapter 7 Design and implementation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Design patterns represent the best practices used by experienced object-oriented software developers. Design patterns are solutions to general problems that software developers faced during software development. These solutions were obtained by trial and error by numerous software developers over quite a substantial period of time</a:t>
            </a:r>
          </a:p>
        </p:txBody>
      </p:sp>
      <p:sp>
        <p:nvSpPr>
          <p:cNvPr id="3" name="Title 2"/>
          <p:cNvSpPr>
            <a:spLocks noGrp="1"/>
          </p:cNvSpPr>
          <p:nvPr>
            <p:ph type="title"/>
          </p:nvPr>
        </p:nvSpPr>
        <p:spPr/>
        <p:txBody>
          <a:bodyPr/>
          <a:lstStyle/>
          <a:p>
            <a:r>
              <a:rPr lang="en-US" dirty="0"/>
              <a:t>Design patterns(Cont..)</a:t>
            </a:r>
          </a:p>
        </p:txBody>
      </p:sp>
    </p:spTree>
    <p:extLst>
      <p:ext uri="{BB962C8B-B14F-4D97-AF65-F5344CB8AC3E}">
        <p14:creationId xmlns:p14="http://schemas.microsoft.com/office/powerpoint/2010/main" val="1869350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 1994, four authors Erich Gamma, Richard Helm, Ralph Johnson and John </a:t>
            </a:r>
            <a:r>
              <a:rPr lang="en-US" dirty="0" err="1"/>
              <a:t>Vlissides</a:t>
            </a:r>
            <a:r>
              <a:rPr lang="en-US" dirty="0"/>
              <a:t> published a book titled </a:t>
            </a:r>
            <a:r>
              <a:rPr lang="en-US" b="1" dirty="0"/>
              <a:t>Design Patterns - Elements of Reusable Object-Oriented Software</a:t>
            </a:r>
            <a:r>
              <a:rPr lang="en-US" dirty="0"/>
              <a:t> which initiated the concept of Design Pattern in Software development.</a:t>
            </a:r>
          </a:p>
          <a:p>
            <a:r>
              <a:rPr lang="en-US" dirty="0"/>
              <a:t>These authors are collectively known as </a:t>
            </a:r>
            <a:r>
              <a:rPr lang="en-US" b="1" dirty="0"/>
              <a:t>Gang of Four (GOF)</a:t>
            </a:r>
            <a:r>
              <a:rPr lang="en-US" dirty="0"/>
              <a:t>. According to these authors design patterns are primarily based on the following principles of object orientated design.</a:t>
            </a:r>
          </a:p>
          <a:p>
            <a:r>
              <a:rPr lang="en-US" dirty="0"/>
              <a:t>Program to an interface not an implementation</a:t>
            </a:r>
          </a:p>
          <a:p>
            <a:r>
              <a:rPr lang="en-US" dirty="0"/>
              <a:t>Favor object composition over inheritance</a:t>
            </a:r>
          </a:p>
          <a:p>
            <a:endParaRPr lang="en-US" dirty="0"/>
          </a:p>
        </p:txBody>
      </p:sp>
      <p:sp>
        <p:nvSpPr>
          <p:cNvPr id="3" name="Title 2"/>
          <p:cNvSpPr>
            <a:spLocks noGrp="1"/>
          </p:cNvSpPr>
          <p:nvPr>
            <p:ph type="title"/>
          </p:nvPr>
        </p:nvSpPr>
        <p:spPr/>
        <p:txBody>
          <a:bodyPr/>
          <a:lstStyle/>
          <a:p>
            <a:r>
              <a:rPr lang="en-US" dirty="0"/>
              <a:t>What is Gang of Four (GOF)?</a:t>
            </a:r>
          </a:p>
        </p:txBody>
      </p:sp>
    </p:spTree>
    <p:extLst>
      <p:ext uri="{BB962C8B-B14F-4D97-AF65-F5344CB8AC3E}">
        <p14:creationId xmlns:p14="http://schemas.microsoft.com/office/powerpoint/2010/main" val="3981892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Design Patterns have two main usages in software development.</a:t>
            </a:r>
          </a:p>
          <a:p>
            <a:r>
              <a:rPr lang="en-US" dirty="0"/>
              <a:t>Common platform for developers</a:t>
            </a:r>
          </a:p>
          <a:p>
            <a:r>
              <a:rPr lang="en-US" dirty="0"/>
              <a:t>Best Practices</a:t>
            </a:r>
          </a:p>
          <a:p>
            <a:endParaRPr lang="en-US" dirty="0"/>
          </a:p>
        </p:txBody>
      </p:sp>
      <p:sp>
        <p:nvSpPr>
          <p:cNvPr id="3" name="Title 2"/>
          <p:cNvSpPr>
            <a:spLocks noGrp="1"/>
          </p:cNvSpPr>
          <p:nvPr>
            <p:ph type="title"/>
          </p:nvPr>
        </p:nvSpPr>
        <p:spPr/>
        <p:txBody>
          <a:bodyPr/>
          <a:lstStyle/>
          <a:p>
            <a:r>
              <a:rPr lang="en-US" dirty="0"/>
              <a:t>Usage of Design Pattern</a:t>
            </a:r>
          </a:p>
        </p:txBody>
      </p:sp>
    </p:spTree>
    <p:extLst>
      <p:ext uri="{BB962C8B-B14F-4D97-AF65-F5344CB8AC3E}">
        <p14:creationId xmlns:p14="http://schemas.microsoft.com/office/powerpoint/2010/main" val="2200186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As per the design pattern reference book </a:t>
            </a:r>
            <a:r>
              <a:rPr lang="en-US" b="1" dirty="0"/>
              <a:t>Design Patterns - Elements of Reusable Object-Oriented Software</a:t>
            </a:r>
            <a:r>
              <a:rPr lang="en-US" dirty="0"/>
              <a:t> , there are 23 design patterns which can be classified in three categories:</a:t>
            </a:r>
          </a:p>
          <a:p>
            <a:r>
              <a:rPr lang="en-US"/>
              <a:t>Creational</a:t>
            </a:r>
            <a:endParaRPr lang="en-US" dirty="0"/>
          </a:p>
          <a:p>
            <a:r>
              <a:rPr lang="en-US" dirty="0"/>
              <a:t>Structural </a:t>
            </a:r>
          </a:p>
          <a:p>
            <a:r>
              <a:rPr lang="en-US" dirty="0"/>
              <a:t>and Behavioral patterns. </a:t>
            </a:r>
          </a:p>
        </p:txBody>
      </p:sp>
      <p:sp>
        <p:nvSpPr>
          <p:cNvPr id="3" name="Title 2"/>
          <p:cNvSpPr>
            <a:spLocks noGrp="1"/>
          </p:cNvSpPr>
          <p:nvPr>
            <p:ph type="title"/>
          </p:nvPr>
        </p:nvSpPr>
        <p:spPr/>
        <p:txBody>
          <a:bodyPr/>
          <a:lstStyle/>
          <a:p>
            <a:r>
              <a:rPr lang="en-US" dirty="0"/>
              <a:t>Types of Design Patterns</a:t>
            </a:r>
            <a:br>
              <a:rPr lang="en-US" dirty="0"/>
            </a:br>
            <a:endParaRPr lang="en-US" dirty="0"/>
          </a:p>
        </p:txBody>
      </p:sp>
    </p:spTree>
    <p:extLst>
      <p:ext uri="{BB962C8B-B14F-4D97-AF65-F5344CB8AC3E}">
        <p14:creationId xmlns:p14="http://schemas.microsoft.com/office/powerpoint/2010/main" val="1074962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5121" t="11162" r="25715" b="43032"/>
          <a:stretch/>
        </p:blipFill>
        <p:spPr>
          <a:xfrm>
            <a:off x="539750" y="1678675"/>
            <a:ext cx="7771737" cy="4408226"/>
          </a:xfrm>
          <a:prstGeom prst="rect">
            <a:avLst/>
          </a:prstGeom>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344314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These design patterns are all about class instantiation. This pattern can be further divided into class-creation patterns and object-creational patterns. While class-creation patterns use inheritance effectively in the instantiation process, object-creation patterns use delegation effectively to get the job done.</a:t>
            </a:r>
          </a:p>
          <a:p>
            <a:endParaRPr lang="en-US" dirty="0"/>
          </a:p>
        </p:txBody>
      </p:sp>
      <p:sp>
        <p:nvSpPr>
          <p:cNvPr id="3" name="Title 2"/>
          <p:cNvSpPr>
            <a:spLocks noGrp="1"/>
          </p:cNvSpPr>
          <p:nvPr>
            <p:ph type="title"/>
          </p:nvPr>
        </p:nvSpPr>
        <p:spPr/>
        <p:txBody>
          <a:bodyPr/>
          <a:lstStyle/>
          <a:p>
            <a:r>
              <a:rPr lang="en-US" u="sng" dirty="0">
                <a:solidFill>
                  <a:schemeClr val="accent2"/>
                </a:solidFill>
                <a:hlinkClick r:id="rId2"/>
              </a:rPr>
              <a:t>Creational design patterns</a:t>
            </a:r>
            <a:br>
              <a:rPr lang="en-US" dirty="0"/>
            </a:br>
            <a:endParaRPr lang="en-US" dirty="0"/>
          </a:p>
        </p:txBody>
      </p:sp>
      <p:pic>
        <p:nvPicPr>
          <p:cNvPr id="7" name="Picture 6" descr="Example of Abstract Factory">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1596788" y="3684896"/>
            <a:ext cx="5049672" cy="2750829"/>
          </a:xfrm>
          <a:prstGeom prst="rect">
            <a:avLst/>
          </a:prstGeom>
          <a:noFill/>
          <a:ln>
            <a:noFill/>
          </a:ln>
        </p:spPr>
      </p:pic>
    </p:spTree>
    <p:extLst>
      <p:ext uri="{BB962C8B-B14F-4D97-AF65-F5344CB8AC3E}">
        <p14:creationId xmlns:p14="http://schemas.microsoft.com/office/powerpoint/2010/main" val="3401736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b="1" dirty="0">
                <a:hlinkClick r:id="rId2" tooltip="Provides a way to encapsulate a group of individual factories that have a common theme."/>
              </a:rPr>
              <a:t>Abstract Factory</a:t>
            </a:r>
            <a:br>
              <a:rPr lang="en-US" dirty="0"/>
            </a:br>
            <a:r>
              <a:rPr lang="en-US" dirty="0"/>
              <a:t>Creates an instance of several families of classes</a:t>
            </a:r>
          </a:p>
          <a:p>
            <a:pPr lvl="0"/>
            <a:r>
              <a:rPr lang="en-US" b="1" dirty="0">
                <a:hlinkClick r:id="rId3" tooltip="Separate the construction of a complex object from its representation so that the same construction process can create different representations."/>
              </a:rPr>
              <a:t>Builder</a:t>
            </a:r>
            <a:br>
              <a:rPr lang="en-US" dirty="0"/>
            </a:br>
            <a:r>
              <a:rPr lang="en-US" dirty="0"/>
              <a:t>Separates object construction from its representation</a:t>
            </a:r>
          </a:p>
          <a:p>
            <a:pPr lvl="0"/>
            <a:r>
              <a:rPr lang="en-US" b="1" dirty="0">
                <a:hlinkClick r:id="rId4" tooltip="Defines a separate method for creating the objects, which subclasses can then override to specify the derived type of product that will be created."/>
              </a:rPr>
              <a:t>Factory Method</a:t>
            </a:r>
            <a:br>
              <a:rPr lang="en-US" dirty="0"/>
            </a:br>
            <a:r>
              <a:rPr lang="en-US" dirty="0"/>
              <a:t>Creates an instance of several derived classes</a:t>
            </a:r>
          </a:p>
          <a:p>
            <a:pPr lvl="0"/>
            <a:r>
              <a:rPr lang="en-US" b="1" dirty="0">
                <a:hlinkClick r:id="rId5" tooltip="Avoid expensive acquisition and release of resources by recycling objects that are no longer in use"/>
              </a:rPr>
              <a:t>Object Pool</a:t>
            </a:r>
            <a:br>
              <a:rPr lang="en-US" dirty="0"/>
            </a:br>
            <a:r>
              <a:rPr lang="en-US" dirty="0"/>
              <a:t>Avoid expensive acquisition and release of resources by recycling objects that are no longer in use</a:t>
            </a:r>
          </a:p>
          <a:p>
            <a:pPr lvl="0"/>
            <a:r>
              <a:rPr lang="en-US" b="1" dirty="0">
                <a:hlinkClick r:id="rId6" tooltip="Being cloned to produce new objects."/>
              </a:rPr>
              <a:t>Prototype</a:t>
            </a:r>
            <a:br>
              <a:rPr lang="en-US" dirty="0"/>
            </a:br>
            <a:r>
              <a:rPr lang="en-US" dirty="0"/>
              <a:t>A fully initialized instance to be copied or cloned</a:t>
            </a:r>
          </a:p>
          <a:p>
            <a:pPr lvl="0"/>
            <a:r>
              <a:rPr lang="en-US" b="1" dirty="0">
                <a:hlinkClick r:id="rId7" tooltip="Restricts instantiation of a class to one object."/>
              </a:rPr>
              <a:t>Singleton</a:t>
            </a:r>
            <a:br>
              <a:rPr lang="en-US" dirty="0"/>
            </a:br>
            <a:r>
              <a:rPr lang="en-US" dirty="0"/>
              <a:t>A class of which only a single instance can exist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221230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These design patterns are all about Class and Object composition. Structural class-creation patterns use inheritance to compose interfaces. Structural object-patterns define ways to compose objects to obtain new functionality.</a:t>
            </a:r>
          </a:p>
          <a:p>
            <a:endParaRPr lang="en-US" dirty="0"/>
          </a:p>
        </p:txBody>
      </p:sp>
      <p:sp>
        <p:nvSpPr>
          <p:cNvPr id="3" name="Title 2"/>
          <p:cNvSpPr>
            <a:spLocks noGrp="1"/>
          </p:cNvSpPr>
          <p:nvPr>
            <p:ph type="title"/>
          </p:nvPr>
        </p:nvSpPr>
        <p:spPr/>
        <p:txBody>
          <a:bodyPr/>
          <a:lstStyle/>
          <a:p>
            <a:r>
              <a:rPr lang="en-US" dirty="0">
                <a:hlinkClick r:id="rId2"/>
              </a:rPr>
              <a:t>Structural design patterns</a:t>
            </a:r>
            <a:br>
              <a:rPr lang="en-US" dirty="0"/>
            </a:br>
            <a:endParaRPr lang="en-US" dirty="0"/>
          </a:p>
        </p:txBody>
      </p:sp>
      <p:pic>
        <p:nvPicPr>
          <p:cNvPr id="7" name="Picture 6" descr="https://sourcemaking.com/files/v2/content/patterns/Decorator-preview.png">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1730327" y="3165231"/>
            <a:ext cx="5190978" cy="3502855"/>
          </a:xfrm>
          <a:prstGeom prst="rect">
            <a:avLst/>
          </a:prstGeom>
          <a:noFill/>
          <a:ln>
            <a:noFill/>
          </a:ln>
        </p:spPr>
      </p:pic>
    </p:spTree>
    <p:extLst>
      <p:ext uri="{BB962C8B-B14F-4D97-AF65-F5344CB8AC3E}">
        <p14:creationId xmlns:p14="http://schemas.microsoft.com/office/powerpoint/2010/main" val="4280951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b="1" dirty="0">
                <a:hlinkClick r:id="rId2" tooltip="Adapts one interface for a class into one that a client expects."/>
              </a:rPr>
              <a:t>Adapter</a:t>
            </a:r>
            <a:br>
              <a:rPr lang="en-US" dirty="0"/>
            </a:br>
            <a:r>
              <a:rPr lang="en-US" dirty="0"/>
              <a:t>Match interfaces of different classes</a:t>
            </a:r>
          </a:p>
          <a:p>
            <a:pPr lvl="0"/>
            <a:r>
              <a:rPr lang="en-US" b="1" dirty="0">
                <a:hlinkClick r:id="rId3" tooltip="Decouples an abstraction from its implementation so that the two can vary independently."/>
              </a:rPr>
              <a:t>Bridge</a:t>
            </a:r>
            <a:br>
              <a:rPr lang="en-US" dirty="0"/>
            </a:br>
            <a:r>
              <a:rPr lang="en-US" dirty="0"/>
              <a:t>Separates an object’s interface from its implementation</a:t>
            </a:r>
          </a:p>
          <a:p>
            <a:pPr lvl="0"/>
            <a:r>
              <a:rPr lang="en-US" b="1" dirty="0">
                <a:hlinkClick r:id="rId4" tooltip="Designed as a composition of one-or-more similar objects, all exhibiting similar functionality."/>
              </a:rPr>
              <a:t>Composite</a:t>
            </a:r>
            <a:br>
              <a:rPr lang="en-US" dirty="0"/>
            </a:br>
            <a:r>
              <a:rPr lang="en-US" dirty="0"/>
              <a:t>A tree structure of simple and composite objects</a:t>
            </a:r>
          </a:p>
          <a:p>
            <a:pPr lvl="0"/>
            <a:r>
              <a:rPr lang="en-US" b="1" dirty="0">
                <a:hlinkClick r:id="rId5" tooltip="Allows new/additional behavior to be added to an existing method of an object dynamically."/>
              </a:rPr>
              <a:t>Decorator</a:t>
            </a:r>
            <a:br>
              <a:rPr lang="en-US" dirty="0"/>
            </a:br>
            <a:r>
              <a:rPr lang="en-US" dirty="0"/>
              <a:t>Add responsibilities to objects dynamically</a:t>
            </a:r>
          </a:p>
          <a:p>
            <a:pPr lvl="0"/>
            <a:r>
              <a:rPr lang="en-US" b="1" dirty="0">
                <a:hlinkClick r:id="rId6" tooltip="Provides a simplified interface to a larger body of code."/>
              </a:rPr>
              <a:t>Facade</a:t>
            </a:r>
            <a:br>
              <a:rPr lang="en-US" dirty="0"/>
            </a:br>
            <a:r>
              <a:rPr lang="en-US" dirty="0"/>
              <a:t>A single class that represents an entire subsystem</a:t>
            </a:r>
          </a:p>
          <a:p>
            <a:pPr lvl="0"/>
            <a:r>
              <a:rPr lang="en-US" b="1" dirty="0">
                <a:hlinkClick r:id="rId7" tooltip="When many objects must be manipulated and these cannot afford to have extraneous data, flyweight is appropriate."/>
              </a:rPr>
              <a:t>Flyweight</a:t>
            </a:r>
            <a:br>
              <a:rPr lang="en-US" dirty="0"/>
            </a:br>
            <a:r>
              <a:rPr lang="en-US" dirty="0"/>
              <a:t>A fine-grained instance used for efficient sharing</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494664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hlinkClick r:id="rId2" tooltip="Restricts accessor/mutator access"/>
              </a:rPr>
              <a:t>Private Class Data</a:t>
            </a:r>
            <a:br>
              <a:rPr lang="en-US" dirty="0"/>
            </a:br>
            <a:r>
              <a:rPr lang="en-US" dirty="0"/>
              <a:t>Restricts </a:t>
            </a:r>
            <a:r>
              <a:rPr lang="en-US" dirty="0" err="1"/>
              <a:t>accessor</a:t>
            </a:r>
            <a:r>
              <a:rPr lang="en-US" dirty="0"/>
              <a:t>/</a:t>
            </a:r>
            <a:r>
              <a:rPr lang="en-US" dirty="0" err="1"/>
              <a:t>mutator</a:t>
            </a:r>
            <a:r>
              <a:rPr lang="en-US" dirty="0"/>
              <a:t> access</a:t>
            </a:r>
          </a:p>
          <a:p>
            <a:pPr lvl="0"/>
            <a:r>
              <a:rPr lang="en-US" b="1" dirty="0">
                <a:hlinkClick r:id="rId3" tooltip="Class functioning as an interface to another thing."/>
              </a:rPr>
              <a:t>Proxy</a:t>
            </a:r>
            <a:br>
              <a:rPr lang="en-US" dirty="0"/>
            </a:br>
            <a:r>
              <a:rPr lang="en-US" dirty="0"/>
              <a:t>An object representing another object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85159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These design patterns are all about Class's objects communication. Behavioral patterns are those patterns that are most specifically concerned with communication between objects.</a:t>
            </a:r>
          </a:p>
          <a:p>
            <a:endParaRPr lang="en-US" dirty="0"/>
          </a:p>
        </p:txBody>
      </p:sp>
      <p:sp>
        <p:nvSpPr>
          <p:cNvPr id="3" name="Title 2"/>
          <p:cNvSpPr>
            <a:spLocks noGrp="1"/>
          </p:cNvSpPr>
          <p:nvPr>
            <p:ph type="title"/>
          </p:nvPr>
        </p:nvSpPr>
        <p:spPr/>
        <p:txBody>
          <a:bodyPr/>
          <a:lstStyle/>
          <a:p>
            <a:r>
              <a:rPr lang="en-US" dirty="0">
                <a:hlinkClick r:id="rId2"/>
              </a:rPr>
              <a:t>Behavioral design patterns</a:t>
            </a:r>
            <a:br>
              <a:rPr lang="en-US" dirty="0"/>
            </a:br>
            <a:endParaRPr lang="en-US" dirty="0"/>
          </a:p>
        </p:txBody>
      </p:sp>
      <p:pic>
        <p:nvPicPr>
          <p:cNvPr id="4" name="Picture 3" descr="https://sourcemaking.com/files/v2/content/patterns/Interpreter-preview.png">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2483893" y="2811440"/>
            <a:ext cx="3807725" cy="3624286"/>
          </a:xfrm>
          <a:prstGeom prst="rect">
            <a:avLst/>
          </a:prstGeom>
          <a:noFill/>
          <a:ln>
            <a:noFill/>
          </a:ln>
        </p:spPr>
      </p:pic>
    </p:spTree>
    <p:extLst>
      <p:ext uri="{BB962C8B-B14F-4D97-AF65-F5344CB8AC3E}">
        <p14:creationId xmlns:p14="http://schemas.microsoft.com/office/powerpoint/2010/main" val="4267115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b="1" dirty="0">
                <a:hlinkClick r:id="rId2" tooltip="Source of command objects and a series of processing objects."/>
              </a:rPr>
              <a:t>Chain of responsibility</a:t>
            </a:r>
            <a:br>
              <a:rPr lang="en-US" dirty="0"/>
            </a:br>
            <a:r>
              <a:rPr lang="en-US" dirty="0"/>
              <a:t>A way of passing a request between a chain of objects</a:t>
            </a:r>
          </a:p>
          <a:p>
            <a:pPr lvl="0"/>
            <a:r>
              <a:rPr lang="en-US" b="1" dirty="0">
                <a:hlinkClick r:id="rId3" tooltip="Objects are used to represent actions."/>
              </a:rPr>
              <a:t>Command</a:t>
            </a:r>
            <a:br>
              <a:rPr lang="en-US" dirty="0"/>
            </a:br>
            <a:r>
              <a:rPr lang="en-US" dirty="0"/>
              <a:t>Encapsulate a command request as an object</a:t>
            </a:r>
          </a:p>
          <a:p>
            <a:pPr lvl="0"/>
            <a:r>
              <a:rPr lang="en-US" b="1" dirty="0">
                <a:hlinkClick r:id="rId4" tooltip="The basic idea is to implement a specialized computer language to rapidly solve a defined class of problems."/>
              </a:rPr>
              <a:t>Interpreter</a:t>
            </a:r>
            <a:br>
              <a:rPr lang="en-US" dirty="0"/>
            </a:br>
            <a:r>
              <a:rPr lang="en-US" dirty="0"/>
              <a:t>A way to include language elements in a program</a:t>
            </a:r>
          </a:p>
          <a:p>
            <a:pPr lvl="0"/>
            <a:r>
              <a:rPr lang="en-US" b="1" dirty="0">
                <a:hlinkClick r:id="rId5" tooltip="Used to access the elements of an aggregate object sequentially without exposing its underlying representation."/>
              </a:rPr>
              <a:t>Iterator</a:t>
            </a:r>
            <a:br>
              <a:rPr lang="en-US" dirty="0"/>
            </a:br>
            <a:r>
              <a:rPr lang="en-US" dirty="0"/>
              <a:t>Sequentially access the elements of a collection</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412579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b="1" dirty="0">
                <a:hlinkClick r:id="rId2" tooltip="Provides a unified interface to a set of interfaces in a subsystem."/>
              </a:rPr>
              <a:t>Mediator</a:t>
            </a:r>
            <a:br>
              <a:rPr lang="en-US" dirty="0"/>
            </a:br>
            <a:r>
              <a:rPr lang="en-US" dirty="0"/>
              <a:t>Defines simplified communication between classes</a:t>
            </a:r>
          </a:p>
          <a:p>
            <a:pPr lvl="0"/>
            <a:r>
              <a:rPr lang="en-US" b="1" dirty="0">
                <a:hlinkClick r:id="rId3" tooltip="Provides the ability to restore an object to its previous state."/>
              </a:rPr>
              <a:t>Memento</a:t>
            </a:r>
            <a:br>
              <a:rPr lang="en-US" dirty="0"/>
            </a:br>
            <a:r>
              <a:rPr lang="en-US" dirty="0"/>
              <a:t>Capture and restore an object's internal state</a:t>
            </a:r>
          </a:p>
          <a:p>
            <a:pPr lvl="0"/>
            <a:r>
              <a:rPr lang="en-US" b="1" dirty="0">
                <a:hlinkClick r:id="rId4" tooltip="Designed to act as a default value of an object."/>
              </a:rPr>
              <a:t>Null Object</a:t>
            </a:r>
            <a:br>
              <a:rPr lang="en-US" dirty="0"/>
            </a:br>
            <a:r>
              <a:rPr lang="en-US" dirty="0"/>
              <a:t>Designed to act as a default value of an object</a:t>
            </a:r>
          </a:p>
          <a:p>
            <a:pPr lvl="0"/>
            <a:r>
              <a:rPr lang="en-US" b="1" dirty="0">
                <a:hlinkClick r:id="rId5" tooltip="Observes the state of an object in a program."/>
              </a:rPr>
              <a:t>Observer</a:t>
            </a:r>
            <a:br>
              <a:rPr lang="en-US" dirty="0"/>
            </a:br>
            <a:r>
              <a:rPr lang="en-US" dirty="0"/>
              <a:t>A way of notifying change to a number of classes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080408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a:hlinkClick r:id="rId2" tooltip="Represent the state of an object."/>
            </a:endParaRPr>
          </a:p>
          <a:p>
            <a:endParaRPr lang="en-US" b="1" dirty="0">
              <a:hlinkClick r:id="rId2" tooltip="Represent the state of an object."/>
            </a:endParaRPr>
          </a:p>
          <a:p>
            <a:endParaRPr lang="en-US" b="1" dirty="0">
              <a:hlinkClick r:id="rId2" tooltip="Represent the state of an object."/>
            </a:endParaRPr>
          </a:p>
          <a:p>
            <a:endParaRPr lang="en-US" b="1" dirty="0">
              <a:hlinkClick r:id="rId2" tooltip="Represent the state of an object."/>
            </a:endParaRPr>
          </a:p>
          <a:p>
            <a:endParaRPr lang="en-US" b="1" dirty="0">
              <a:hlinkClick r:id="rId2" tooltip="Represent the state of an object."/>
            </a:endParaRPr>
          </a:p>
          <a:p>
            <a:r>
              <a:rPr lang="en-US" b="1" dirty="0">
                <a:hlinkClick r:id="rId2" tooltip="Represent the state of an object."/>
              </a:rPr>
              <a:t>State</a:t>
            </a:r>
            <a:br>
              <a:rPr lang="en-US" dirty="0"/>
            </a:br>
            <a:r>
              <a:rPr lang="en-US" dirty="0"/>
              <a:t>Alter an object's behavior when its state changes</a:t>
            </a:r>
          </a:p>
          <a:p>
            <a:pPr lvl="0"/>
            <a:r>
              <a:rPr lang="en-US" b="1" dirty="0">
                <a:hlinkClick r:id="rId3" tooltip="Algorithms can be selected on-the-fly at runtime."/>
              </a:rPr>
              <a:t>Strategy</a:t>
            </a:r>
            <a:br>
              <a:rPr lang="en-US" dirty="0"/>
            </a:br>
            <a:r>
              <a:rPr lang="en-US" dirty="0"/>
              <a:t>Encapsulates an algorithm inside a class</a:t>
            </a:r>
          </a:p>
        </p:txBody>
      </p:sp>
      <p:sp>
        <p:nvSpPr>
          <p:cNvPr id="3" name="Title 2"/>
          <p:cNvSpPr>
            <a:spLocks noGrp="1"/>
          </p:cNvSpPr>
          <p:nvPr>
            <p:ph type="title"/>
          </p:nvPr>
        </p:nvSpPr>
        <p:spPr/>
        <p:txBody>
          <a:bodyPr/>
          <a:lstStyle/>
          <a:p>
            <a:endParaRPr lang="en-US"/>
          </a:p>
        </p:txBody>
      </p:sp>
      <p:pic>
        <p:nvPicPr>
          <p:cNvPr id="4" name="Picture 3" descr="https://sourcemaking.com/files/v2/content/patterns/State-preview.png">
            <a:hlinkClick r:id="rId2"/>
          </p:cNvPr>
          <p:cNvPicPr/>
          <p:nvPr/>
        </p:nvPicPr>
        <p:blipFill>
          <a:blip r:embed="rId4">
            <a:extLst>
              <a:ext uri="{28A0092B-C50C-407E-A947-70E740481C1C}">
                <a14:useLocalDpi xmlns:a14="http://schemas.microsoft.com/office/drawing/2010/main" val="0"/>
              </a:ext>
            </a:extLst>
          </a:blip>
          <a:srcRect/>
          <a:stretch>
            <a:fillRect/>
          </a:stretch>
        </p:blipFill>
        <p:spPr bwMode="auto">
          <a:xfrm>
            <a:off x="1392072" y="1614487"/>
            <a:ext cx="6059606" cy="2138647"/>
          </a:xfrm>
          <a:prstGeom prst="rect">
            <a:avLst/>
          </a:prstGeom>
          <a:noFill/>
          <a:ln>
            <a:noFill/>
          </a:ln>
        </p:spPr>
      </p:pic>
    </p:spTree>
    <p:extLst>
      <p:ext uri="{BB962C8B-B14F-4D97-AF65-F5344CB8AC3E}">
        <p14:creationId xmlns:p14="http://schemas.microsoft.com/office/powerpoint/2010/main" val="2860033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b="1" dirty="0">
                <a:hlinkClick r:id="rId2" tooltip="A template method defines the skeleton of an algorithm."/>
              </a:rPr>
              <a:t>Template method</a:t>
            </a:r>
            <a:br>
              <a:rPr lang="en-US" dirty="0"/>
            </a:br>
            <a:r>
              <a:rPr lang="en-US" dirty="0"/>
              <a:t>Defer the exact steps of an algorithm to a subclass</a:t>
            </a:r>
          </a:p>
          <a:p>
            <a:pPr lvl="0"/>
            <a:r>
              <a:rPr lang="en-US" b="1" dirty="0">
                <a:hlinkClick r:id="rId3" tooltip="A way of separating an algorithm from an object structure."/>
              </a:rPr>
              <a:t>Visitor</a:t>
            </a:r>
            <a:br>
              <a:rPr lang="en-US" dirty="0"/>
            </a:br>
            <a:r>
              <a:rPr lang="en-US" dirty="0"/>
              <a:t>Defines a new operation to a class without change</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307940160"/>
      </p:ext>
    </p:extLst>
  </p:cSld>
  <p:clrMapOvr>
    <a:masterClrMapping/>
  </p:clrMapOvr>
</p:sld>
</file>

<file path=ppt/theme/theme1.xml><?xml version="1.0" encoding="utf-8"?>
<a:theme xmlns:a="http://schemas.openxmlformats.org/drawingml/2006/main" name="UB_Screen">
  <a:themeElements>
    <a:clrScheme name="UB_Sc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lnDef>
  </a:objectDefaults>
  <a:extraClrSchemeLst>
    <a:extraClrScheme>
      <a:clrScheme name="UB_Sc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B_Screen 2">
        <a:dk1>
          <a:srgbClr val="000000"/>
        </a:dk1>
        <a:lt1>
          <a:srgbClr val="FFFFFF"/>
        </a:lt1>
        <a:dk2>
          <a:srgbClr val="000000"/>
        </a:dk2>
        <a:lt2>
          <a:srgbClr val="F6F6F6"/>
        </a:lt2>
        <a:accent1>
          <a:srgbClr val="E1EBF5"/>
        </a:accent1>
        <a:accent2>
          <a:srgbClr val="9CBDDE"/>
        </a:accent2>
        <a:accent3>
          <a:srgbClr val="FFFFFF"/>
        </a:accent3>
        <a:accent4>
          <a:srgbClr val="000000"/>
        </a:accent4>
        <a:accent5>
          <a:srgbClr val="EEF3F9"/>
        </a:accent5>
        <a:accent6>
          <a:srgbClr val="8DABC9"/>
        </a:accent6>
        <a:hlink>
          <a:srgbClr val="0005DF"/>
        </a:hlink>
        <a:folHlink>
          <a:srgbClr val="7E7781"/>
        </a:folHlink>
      </a:clrScheme>
      <a:clrMap bg1="lt1" tx1="dk1" bg2="lt2" tx2="dk2" accent1="accent1" accent2="accent2" accent3="accent3" accent4="accent4" accent5="accent5" accent6="accent6" hlink="hlink" folHlink="folHlink"/>
    </a:extraClrScheme>
    <a:extraClrScheme>
      <a:clrScheme name="UB_Screen 3">
        <a:dk1>
          <a:srgbClr val="000000"/>
        </a:dk1>
        <a:lt1>
          <a:srgbClr val="FFFFFF"/>
        </a:lt1>
        <a:dk2>
          <a:srgbClr val="000000"/>
        </a:dk2>
        <a:lt2>
          <a:srgbClr val="F6F6F6"/>
        </a:lt2>
        <a:accent1>
          <a:srgbClr val="E1EBF5"/>
        </a:accent1>
        <a:accent2>
          <a:srgbClr val="9CBDDE"/>
        </a:accent2>
        <a:accent3>
          <a:srgbClr val="FFFFFF"/>
        </a:accent3>
        <a:accent4>
          <a:srgbClr val="000000"/>
        </a:accent4>
        <a:accent5>
          <a:srgbClr val="EEF3F9"/>
        </a:accent5>
        <a:accent6>
          <a:srgbClr val="8DABC9"/>
        </a:accent6>
        <a:hlink>
          <a:srgbClr val="0005DF"/>
        </a:hlink>
        <a:folHlink>
          <a:srgbClr val="46438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62B15F-AB48-4103-A959-C1D95095BC49}"/>
</file>

<file path=customXml/itemProps2.xml><?xml version="1.0" encoding="utf-8"?>
<ds:datastoreItem xmlns:ds="http://schemas.openxmlformats.org/officeDocument/2006/customXml" ds:itemID="{A684C09E-8906-4F5A-B8C6-FED993F79DFA}"/>
</file>

<file path=customXml/itemProps3.xml><?xml version="1.0" encoding="utf-8"?>
<ds:datastoreItem xmlns:ds="http://schemas.openxmlformats.org/officeDocument/2006/customXml" ds:itemID="{754B2265-71A6-4783-BCB0-88E227B4ADC0}"/>
</file>

<file path=docProps/app.xml><?xml version="1.0" encoding="utf-8"?>
<Properties xmlns="http://schemas.openxmlformats.org/officeDocument/2006/extended-properties" xmlns:vt="http://schemas.openxmlformats.org/officeDocument/2006/docPropsVTypes">
  <Template>Ch4-Requirement Engg</Template>
  <TotalTime>2436</TotalTime>
  <Words>2139</Words>
  <Application>Microsoft Office PowerPoint</Application>
  <PresentationFormat>On-screen Show (4:3)</PresentationFormat>
  <Paragraphs>188</Paragraphs>
  <Slides>34</Slides>
  <Notes>1</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34</vt:i4>
      </vt:variant>
    </vt:vector>
  </HeadingPairs>
  <TitlesOfParts>
    <vt:vector size="46" baseType="lpstr">
      <vt:lpstr>Arial</vt:lpstr>
      <vt:lpstr>Calibri</vt:lpstr>
      <vt:lpstr>Helvetica</vt:lpstr>
      <vt:lpstr>Helvetica CE</vt:lpstr>
      <vt:lpstr>Times</vt:lpstr>
      <vt:lpstr>Times New Roman</vt:lpstr>
      <vt:lpstr>Wingdings</vt:lpstr>
      <vt:lpstr>UB_Screen</vt:lpstr>
      <vt:lpstr>1_Custom Design</vt:lpstr>
      <vt:lpstr>2_Custom Design</vt:lpstr>
      <vt:lpstr>3_Custom Design</vt:lpstr>
      <vt:lpstr>Custom Design</vt:lpstr>
      <vt:lpstr>Chapter 7 – </vt:lpstr>
      <vt:lpstr>Design and implementation</vt:lpstr>
      <vt:lpstr>Architecture Example 1 </vt:lpstr>
      <vt:lpstr>Architecture Example 2 </vt:lpstr>
      <vt:lpstr>7.2 Design patterns</vt:lpstr>
      <vt:lpstr>7.2 Pattern elements (continued)</vt:lpstr>
      <vt:lpstr>7.2 The Observer pattern (continued) </vt:lpstr>
      <vt:lpstr>7.2 Multiple displays using the Observer pattern (continued)  </vt:lpstr>
      <vt:lpstr>7.2 A UML model of the Observer pattern (continued) </vt:lpstr>
      <vt:lpstr>7.2 Design problems (continued) </vt:lpstr>
      <vt:lpstr>7.3 Implementation issues</vt:lpstr>
      <vt:lpstr>7.3.1 Reuse</vt:lpstr>
      <vt:lpstr>7.3.1 Reuse levels</vt:lpstr>
      <vt:lpstr>7.3.1 Reuse costs</vt:lpstr>
      <vt:lpstr>7.3.2 Configuration management</vt:lpstr>
      <vt:lpstr>7.3.2 Configuration management activities</vt:lpstr>
      <vt:lpstr>7.3.3 Host-target development</vt:lpstr>
      <vt:lpstr>7.3.3 Development platform tools</vt:lpstr>
      <vt:lpstr>7.3.3 Integrated development environments (IDEs)</vt:lpstr>
      <vt:lpstr>Design patterns(Cont..)</vt:lpstr>
      <vt:lpstr>What is Gang of Four (GOF)?</vt:lpstr>
      <vt:lpstr>Usage of Design Pattern</vt:lpstr>
      <vt:lpstr>Types of Design Patterns </vt:lpstr>
      <vt:lpstr>PowerPoint Presentation</vt:lpstr>
      <vt:lpstr>Creational design patterns </vt:lpstr>
      <vt:lpstr>PowerPoint Presentation</vt:lpstr>
      <vt:lpstr>Structural design patterns </vt:lpstr>
      <vt:lpstr>PowerPoint Presentation</vt:lpstr>
      <vt:lpstr>PowerPoint Presentation</vt:lpstr>
      <vt:lpstr>Behavioral design patterns </vt:lpstr>
      <vt:lpstr>PowerPoint Presentation</vt:lpstr>
      <vt:lpstr>PowerPoint Presentation</vt:lpstr>
      <vt:lpstr>PowerPoint Presentation</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7</dc:title>
  <dc:creator>Ian Sommerville</dc:creator>
  <cp:lastModifiedBy>Umair Khan</cp:lastModifiedBy>
  <cp:revision>53</cp:revision>
  <dcterms:created xsi:type="dcterms:W3CDTF">2010-01-21T17:21:03Z</dcterms:created>
  <dcterms:modified xsi:type="dcterms:W3CDTF">2024-06-10T03:08:22Z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y fmtid="{D5CDD505-2E9C-101B-9397-08002B2CF9AE}" pid="3" name="Order">
    <vt:r8>1100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