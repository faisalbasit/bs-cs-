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21"/>
  </p:notesMasterIdLst>
  <p:handoutMasterIdLst>
    <p:handoutMasterId r:id="rId22"/>
  </p:handoutMasterIdLst>
  <p:sldIdLst>
    <p:sldId id="256" r:id="rId2"/>
    <p:sldId id="263" r:id="rId3"/>
    <p:sldId id="264" r:id="rId4"/>
    <p:sldId id="265" r:id="rId5"/>
    <p:sldId id="258" r:id="rId6"/>
    <p:sldId id="257" r:id="rId7"/>
    <p:sldId id="259" r:id="rId8"/>
    <p:sldId id="260" r:id="rId9"/>
    <p:sldId id="261" r:id="rId10"/>
    <p:sldId id="262" r:id="rId11"/>
    <p:sldId id="266" r:id="rId12"/>
    <p:sldId id="267" r:id="rId13"/>
    <p:sldId id="268" r:id="rId14"/>
    <p:sldId id="275" r:id="rId15"/>
    <p:sldId id="270" r:id="rId16"/>
    <p:sldId id="271" r:id="rId17"/>
    <p:sldId id="272" r:id="rId18"/>
    <p:sldId id="273" r:id="rId19"/>
    <p:sldId id="274" r:id="rId20"/>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4660"/>
  </p:normalViewPr>
  <p:slideViewPr>
    <p:cSldViewPr snapToGrid="0" snapToObjects="1">
      <p:cViewPr varScale="1">
        <p:scale>
          <a:sx n="86" d="100"/>
          <a:sy n="86" d="100"/>
        </p:scale>
        <p:origin x="1800" y="11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2083BB4-0A16-5245-9E06-FF8135372772}" type="datetimeFigureOut">
              <a:rPr lang="en-US" smtClean="0"/>
              <a:pPr/>
              <a:t>5/9/2024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57F50E6-3C15-004E-9EE0-94B9FD5DD24C}" type="slidenum">
              <a:rPr lang="en-US" smtClean="0"/>
              <a:pPr/>
              <a:t>‹#›</a:t>
            </a:fld>
            <a:endParaRPr lang="en-US"/>
          </a:p>
        </p:txBody>
      </p:sp>
    </p:spTree>
    <p:extLst>
      <p:ext uri="{BB962C8B-B14F-4D97-AF65-F5344CB8AC3E}">
        <p14:creationId xmlns:p14="http://schemas.microsoft.com/office/powerpoint/2010/main" val="29297319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F69228-E2B9-114B-84AC-2DD0140A52E6}" type="datetimeFigureOut">
              <a:rPr lang="en-US" smtClean="0"/>
              <a:pPr/>
              <a:t>5/9/2024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1D5A050-7306-7B4E-867E-A3663FBCD5C6}" type="slidenum">
              <a:rPr lang="en-US" smtClean="0"/>
              <a:pPr/>
              <a:t>‹#›</a:t>
            </a:fld>
            <a:endParaRPr lang="en-US"/>
          </a:p>
        </p:txBody>
      </p:sp>
    </p:spTree>
    <p:extLst>
      <p:ext uri="{BB962C8B-B14F-4D97-AF65-F5344CB8AC3E}">
        <p14:creationId xmlns:p14="http://schemas.microsoft.com/office/powerpoint/2010/main" val="3058697123"/>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6" name="Slide Number Placeholder 5"/>
          <p:cNvSpPr>
            <a:spLocks noGrp="1"/>
          </p:cNvSpPr>
          <p:nvPr>
            <p:ph type="sldNum" sz="quarter" idx="12"/>
          </p:nvPr>
        </p:nvSpPr>
        <p:spPr/>
        <p:txBody>
          <a:bodyPr/>
          <a:lstStyle>
            <a:lvl1pPr>
              <a:defRPr/>
            </a:lvl1pPr>
          </a:lstStyle>
          <a:p>
            <a:pPr>
              <a:defRPr/>
            </a:pPr>
            <a:fld id="{399B40A3-8C98-7643-999B-D2E4C4DFCA87}" type="slidenum">
              <a:rPr lang="en-US" smtClean="0"/>
              <a:pPr>
                <a:defRPr/>
              </a:pPr>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6" name="Slide Number Placeholder 5"/>
          <p:cNvSpPr>
            <a:spLocks noGrp="1"/>
          </p:cNvSpPr>
          <p:nvPr>
            <p:ph type="sldNum" sz="quarter" idx="12"/>
          </p:nvPr>
        </p:nvSpPr>
        <p:spPr/>
        <p:txBody>
          <a:bodyPr/>
          <a:lstStyle>
            <a:lvl1pPr>
              <a:defRPr/>
            </a:lvl1pPr>
          </a:lstStyle>
          <a:p>
            <a:pPr>
              <a:defRPr/>
            </a:pPr>
            <a:fld id="{AFD720AD-0A16-4141-82CA-5619F80A2BC8}" type="slidenum">
              <a:rPr lang="en-US" smtClean="0"/>
              <a:pPr>
                <a:defRPr/>
              </a:pPr>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6" name="Slide Number Placeholder 5"/>
          <p:cNvSpPr>
            <a:spLocks noGrp="1"/>
          </p:cNvSpPr>
          <p:nvPr>
            <p:ph type="sldNum" sz="quarter" idx="12"/>
          </p:nvPr>
        </p:nvSpPr>
        <p:spPr/>
        <p:txBody>
          <a:bodyPr/>
          <a:lstStyle>
            <a:lvl1pPr>
              <a:defRPr/>
            </a:lvl1pPr>
          </a:lstStyle>
          <a:p>
            <a:pPr>
              <a:defRPr/>
            </a:pPr>
            <a:fld id="{2F37AF1E-9B18-0243-8AD1-50A6A8AC0ACC}" type="slidenum">
              <a:rPr lang="en-US" smtClean="0"/>
              <a:pPr>
                <a:defRPr/>
              </a:pPr>
              <a:t>‹#›</a:t>
            </a:fld>
            <a:endParaRPr lang="en-US"/>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7" name="Slide Number Placeholder 5"/>
          <p:cNvSpPr>
            <a:spLocks noGrp="1"/>
          </p:cNvSpPr>
          <p:nvPr>
            <p:ph type="sldNum" sz="quarter" idx="12"/>
          </p:nvPr>
        </p:nvSpPr>
        <p:spPr/>
        <p:txBody>
          <a:bodyPr/>
          <a:lstStyle>
            <a:lvl1pPr>
              <a:defRPr/>
            </a:lvl1pPr>
          </a:lstStyle>
          <a:p>
            <a:pPr>
              <a:defRPr/>
            </a:pPr>
            <a:fld id="{28F8BC69-CB41-DD44-A638-C4F95AA9426A}" type="slidenum">
              <a:rPr lang="en-US" smtClean="0"/>
              <a:pPr>
                <a:defRPr/>
              </a:pPr>
              <a:t>‹#›</a:t>
            </a:fld>
            <a:endParaRPr 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9" name="Slide Number Placeholder 5"/>
          <p:cNvSpPr>
            <a:spLocks noGrp="1"/>
          </p:cNvSpPr>
          <p:nvPr>
            <p:ph type="sldNum" sz="quarter" idx="12"/>
          </p:nvPr>
        </p:nvSpPr>
        <p:spPr/>
        <p:txBody>
          <a:bodyPr/>
          <a:lstStyle>
            <a:lvl1pPr>
              <a:defRPr/>
            </a:lvl1pPr>
          </a:lstStyle>
          <a:p>
            <a:pPr>
              <a:defRPr/>
            </a:pPr>
            <a:fld id="{1B43444D-6BBE-FA46-910D-A293AF635EDB}" type="slidenum">
              <a:rPr lang="en-US" smtClean="0"/>
              <a:pPr>
                <a:defRPr/>
              </a:pPr>
              <a:t>‹#›</a:t>
            </a:fld>
            <a:endParaRPr 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5" name="Slide Number Placeholder 5"/>
          <p:cNvSpPr>
            <a:spLocks noGrp="1"/>
          </p:cNvSpPr>
          <p:nvPr>
            <p:ph type="sldNum" sz="quarter" idx="12"/>
          </p:nvPr>
        </p:nvSpPr>
        <p:spPr/>
        <p:txBody>
          <a:bodyPr/>
          <a:lstStyle>
            <a:lvl1pPr>
              <a:defRPr/>
            </a:lvl1pPr>
          </a:lstStyle>
          <a:p>
            <a:pPr>
              <a:defRPr/>
            </a:pPr>
            <a:fld id="{EEFDD7DD-CC47-414C-BF78-C5251FE0B060}" type="slidenum">
              <a:rPr lang="en-US" smtClean="0"/>
              <a:pPr>
                <a:defRPr/>
              </a:pPr>
              <a:t>‹#›</a:t>
            </a:fld>
            <a:endParaRPr 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4" name="Slide Number Placeholder 5"/>
          <p:cNvSpPr>
            <a:spLocks noGrp="1"/>
          </p:cNvSpPr>
          <p:nvPr>
            <p:ph type="sldNum" sz="quarter" idx="12"/>
          </p:nvPr>
        </p:nvSpPr>
        <p:spPr/>
        <p:txBody>
          <a:bodyPr/>
          <a:lstStyle>
            <a:lvl1pPr>
              <a:defRPr/>
            </a:lvl1pPr>
          </a:lstStyle>
          <a:p>
            <a:pPr>
              <a:defRPr/>
            </a:pPr>
            <a:fld id="{78B78AD6-5F3D-BA44-875A-31E2927FBE4B}" type="slidenum">
              <a:rPr lang="en-US" smtClean="0"/>
              <a:pPr>
                <a:defRPr/>
              </a:pPr>
              <a:t>‹#›</a:t>
            </a:fld>
            <a:endParaRPr lang="en-US"/>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7" name="Slide Number Placeholder 5"/>
          <p:cNvSpPr>
            <a:spLocks noGrp="1"/>
          </p:cNvSpPr>
          <p:nvPr>
            <p:ph type="sldNum" sz="quarter" idx="12"/>
          </p:nvPr>
        </p:nvSpPr>
        <p:spPr/>
        <p:txBody>
          <a:bodyPr/>
          <a:lstStyle>
            <a:lvl1pPr>
              <a:defRPr/>
            </a:lvl1pPr>
          </a:lstStyle>
          <a:p>
            <a:pPr>
              <a:defRPr/>
            </a:pPr>
            <a:fld id="{95E9686C-6E28-9A40-BAFE-97DC9D1AE64A}" type="slidenum">
              <a:rPr lang="en-US" smtClean="0"/>
              <a:pPr>
                <a:defRPr/>
              </a:pPr>
              <a:t>‹#›</a:t>
            </a:fld>
            <a:endParaRPr lang="en-US"/>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7" name="Slide Number Placeholder 5"/>
          <p:cNvSpPr>
            <a:spLocks noGrp="1"/>
          </p:cNvSpPr>
          <p:nvPr>
            <p:ph type="sldNum" sz="quarter" idx="12"/>
          </p:nvPr>
        </p:nvSpPr>
        <p:spPr/>
        <p:txBody>
          <a:bodyPr/>
          <a:lstStyle>
            <a:lvl1pPr>
              <a:defRPr/>
            </a:lvl1pPr>
          </a:lstStyle>
          <a:p>
            <a:pPr>
              <a:defRPr/>
            </a:pPr>
            <a:fld id="{C225899C-C9DE-4C43-812F-DCCD705BC8B7}" type="slidenum">
              <a:rPr lang="en-US" smtClean="0"/>
              <a:pPr>
                <a:defRPr/>
              </a:pPr>
              <a:t>‹#›</a:t>
            </a:fld>
            <a:endParaRPr lang="en-US"/>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6" name="Slide Number Placeholder 5"/>
          <p:cNvSpPr>
            <a:spLocks noGrp="1"/>
          </p:cNvSpPr>
          <p:nvPr>
            <p:ph type="sldNum" sz="quarter" idx="12"/>
          </p:nvPr>
        </p:nvSpPr>
        <p:spPr/>
        <p:txBody>
          <a:bodyPr/>
          <a:lstStyle>
            <a:lvl1pPr>
              <a:defRPr/>
            </a:lvl1pPr>
          </a:lstStyle>
          <a:p>
            <a:pPr>
              <a:defRPr/>
            </a:pPr>
            <a:fld id="{F16ACDAE-E963-2B45-BB51-53CEBFE15BA1}" type="slidenum">
              <a:rPr lang="en-US" smtClean="0"/>
              <a:pPr>
                <a:defRPr/>
              </a:pPr>
              <a:t>‹#›</a:t>
            </a:fld>
            <a:endParaRPr 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6" name="Slide Number Placeholder 5"/>
          <p:cNvSpPr>
            <a:spLocks noGrp="1"/>
          </p:cNvSpPr>
          <p:nvPr>
            <p:ph type="sldNum" sz="quarter" idx="12"/>
          </p:nvPr>
        </p:nvSpPr>
        <p:spPr/>
        <p:txBody>
          <a:bodyPr/>
          <a:lstStyle>
            <a:lvl1pPr>
              <a:defRPr/>
            </a:lvl1pPr>
          </a:lstStyle>
          <a:p>
            <a:pPr>
              <a:defRPr/>
            </a:pPr>
            <a:fld id="{274D119D-3673-024B-9609-A7D547222293}" type="slidenum">
              <a:rPr lang="en-US" smtClean="0"/>
              <a:pPr>
                <a:defRPr/>
              </a:pPr>
              <a:t>‹#›</a:t>
            </a:fld>
            <a:endParaRPr lang="en-US"/>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r>
              <a:rPr lang="en-GB"/>
              <a:t>30/10/2014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2 Software Processes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D3E67C1E-A116-FA4E-B295-2EE9C41BDD30}" type="slidenum">
              <a:rPr lang="en-US" smtClean="0"/>
              <a:pPr>
                <a:defRPr/>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dirty="0" smtClean="0"/>
              <a:t>Last Lecture Before Mid Term.</a:t>
            </a:r>
            <a:endParaRPr lang="en-US" dirty="0"/>
          </a:p>
        </p:txBody>
      </p:sp>
      <p:sp>
        <p:nvSpPr>
          <p:cNvPr id="5" name="Footer Placeholder 4"/>
          <p:cNvSpPr>
            <a:spLocks noGrp="1"/>
          </p:cNvSpPr>
          <p:nvPr>
            <p:ph type="ftr" sz="quarter" idx="11"/>
          </p:nvPr>
        </p:nvSpPr>
        <p:spPr/>
        <p:txBody>
          <a:bodyPr/>
          <a:lstStyle/>
          <a:p>
            <a:pPr>
              <a:defRPr/>
            </a:pPr>
            <a:r>
              <a:rPr lang="en-US"/>
              <a:t>Chapter 2 Software Processes</a:t>
            </a:r>
          </a:p>
        </p:txBody>
      </p:sp>
      <p:sp>
        <p:nvSpPr>
          <p:cNvPr id="4" name="Slide Number Placeholder 3"/>
          <p:cNvSpPr>
            <a:spLocks noGrp="1"/>
          </p:cNvSpPr>
          <p:nvPr>
            <p:ph type="sldNum" sz="quarter" idx="12"/>
          </p:nvPr>
        </p:nvSpPr>
        <p:spPr/>
        <p:txBody>
          <a:bodyPr/>
          <a:lstStyle/>
          <a:p>
            <a:pPr>
              <a:defRPr/>
            </a:pPr>
            <a:fld id="{399B40A3-8C98-7643-999B-D2E4C4DFCA87}" type="slidenum">
              <a:rPr lang="en-US" smtClean="0"/>
              <a:pPr>
                <a:defRPr/>
              </a:pPr>
              <a:t>1</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Grp="1" noChangeArrowheads="1"/>
          </p:cNvSpPr>
          <p:nvPr>
            <p:ph type="title"/>
          </p:nvPr>
        </p:nvSpPr>
        <p:spPr>
          <a:xfrm>
            <a:off x="474785" y="304801"/>
            <a:ext cx="8192966" cy="917575"/>
          </a:xfrm>
          <a:noFill/>
        </p:spPr>
        <p:txBody>
          <a:bodyPr anchor="ctr"/>
          <a:lstStyle/>
          <a:p>
            <a:r>
              <a:rPr lang="en-GB" dirty="0" smtClean="0"/>
              <a:t>Software engineering ethics</a:t>
            </a:r>
            <a:endParaRPr lang="en-GB" dirty="0"/>
          </a:p>
        </p:txBody>
      </p:sp>
      <p:sp>
        <p:nvSpPr>
          <p:cNvPr id="80901" name="Rectangle 5"/>
          <p:cNvSpPr>
            <a:spLocks noGrp="1" noChangeArrowheads="1"/>
          </p:cNvSpPr>
          <p:nvPr>
            <p:ph idx="1"/>
          </p:nvPr>
        </p:nvSpPr>
        <p:spPr/>
        <p:txBody>
          <a:bodyPr/>
          <a:lstStyle/>
          <a:p>
            <a:r>
              <a:rPr lang="en-GB" dirty="0"/>
              <a:t>Software engineering involves wider responsibilities than simply the application of technical skills.</a:t>
            </a:r>
          </a:p>
          <a:p>
            <a:r>
              <a:rPr lang="en-GB" dirty="0"/>
              <a:t>Software engineers must behave in an honest and ethically responsible way if they are to be respected as professionals.</a:t>
            </a:r>
          </a:p>
          <a:p>
            <a:r>
              <a:rPr lang="en-GB" dirty="0"/>
              <a:t>Ethical behaviour is more than simply upholding the </a:t>
            </a:r>
            <a:r>
              <a:rPr lang="en-GB" dirty="0" smtClean="0"/>
              <a:t>law but involves following a set of principles that are morally correct.</a:t>
            </a:r>
            <a:endParaRPr lang="en-GB" dirty="0"/>
          </a:p>
        </p:txBody>
      </p:sp>
      <p:sp>
        <p:nvSpPr>
          <p:cNvPr id="5" name="Footer Placeholder 4"/>
          <p:cNvSpPr>
            <a:spLocks noGrp="1"/>
          </p:cNvSpPr>
          <p:nvPr>
            <p:ph type="ftr" sz="quarter" idx="10"/>
          </p:nvPr>
        </p:nvSpPr>
        <p:spPr/>
        <p:txBody>
          <a:bodyPr/>
          <a:lstStyle/>
          <a:p>
            <a:r>
              <a:rPr lang="en-US" smtClean="0"/>
              <a:t>Chapter 1 Introduction</a:t>
            </a:r>
            <a:endParaRPr lang="en-US" dirty="0"/>
          </a:p>
        </p:txBody>
      </p:sp>
      <p:sp>
        <p:nvSpPr>
          <p:cNvPr id="6" name="Date Placeholder 5"/>
          <p:cNvSpPr>
            <a:spLocks noGrp="1"/>
          </p:cNvSpPr>
          <p:nvPr>
            <p:ph type="dt" sz="half" idx="11"/>
          </p:nvPr>
        </p:nvSpPr>
        <p:spPr/>
        <p:txBody>
          <a:bodyPr/>
          <a:lstStyle/>
          <a:p>
            <a:r>
              <a:rPr lang="en-GB" smtClean="0"/>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a:t>
            </a:fld>
            <a:endParaRPr lang="en-US"/>
          </a:p>
        </p:txBody>
      </p:sp>
    </p:spTree>
    <p:extLst>
      <p:ext uri="{BB962C8B-B14F-4D97-AF65-F5344CB8AC3E}">
        <p14:creationId xmlns:p14="http://schemas.microsoft.com/office/powerpoint/2010/main" val="556465616"/>
      </p:ext>
    </p:extLst>
  </p:cSld>
  <p:clrMapOvr>
    <a:masterClrMapping/>
  </p:clrMapOvr>
  <p:transition spd="med">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4"/>
          <p:cNvSpPr>
            <a:spLocks noGrp="1" noChangeArrowheads="1"/>
          </p:cNvSpPr>
          <p:nvPr>
            <p:ph type="title"/>
          </p:nvPr>
        </p:nvSpPr>
        <p:spPr>
          <a:noFill/>
        </p:spPr>
        <p:txBody>
          <a:bodyPr anchor="ctr"/>
          <a:lstStyle/>
          <a:p>
            <a:r>
              <a:rPr lang="en-GB"/>
              <a:t>Issues of professional responsibility</a:t>
            </a:r>
          </a:p>
        </p:txBody>
      </p:sp>
      <p:sp>
        <p:nvSpPr>
          <p:cNvPr id="81925" name="Rectangle 5"/>
          <p:cNvSpPr>
            <a:spLocks noGrp="1" noChangeArrowheads="1"/>
          </p:cNvSpPr>
          <p:nvPr>
            <p:ph idx="1"/>
          </p:nvPr>
        </p:nvSpPr>
        <p:spPr/>
        <p:txBody>
          <a:bodyPr/>
          <a:lstStyle/>
          <a:p>
            <a:pPr>
              <a:lnSpc>
                <a:spcPct val="90000"/>
              </a:lnSpc>
            </a:pPr>
            <a:r>
              <a:rPr lang="en-GB"/>
              <a:t>Confidentiality </a:t>
            </a:r>
          </a:p>
          <a:p>
            <a:pPr lvl="1">
              <a:lnSpc>
                <a:spcPct val="90000"/>
              </a:lnSpc>
            </a:pPr>
            <a:r>
              <a:rPr lang="en-GB"/>
              <a:t>Engineers should normally respect the confidentiality of their employers or clients irrespective of whether or not a formal confidentiality agreement has been signed.</a:t>
            </a:r>
          </a:p>
          <a:p>
            <a:pPr>
              <a:lnSpc>
                <a:spcPct val="90000"/>
              </a:lnSpc>
            </a:pPr>
            <a:r>
              <a:rPr lang="en-GB"/>
              <a:t>Competence </a:t>
            </a:r>
          </a:p>
          <a:p>
            <a:pPr lvl="1">
              <a:lnSpc>
                <a:spcPct val="90000"/>
              </a:lnSpc>
            </a:pPr>
            <a:r>
              <a:rPr lang="en-GB"/>
              <a:t>Engineers should not misrepresent their level of competence. They should not knowingly accept work which is outwith their competence.</a:t>
            </a:r>
          </a:p>
          <a:p>
            <a:pPr>
              <a:lnSpc>
                <a:spcPct val="90000"/>
              </a:lnSpc>
            </a:pPr>
            <a:endParaRPr lang="en-GB"/>
          </a:p>
        </p:txBody>
      </p:sp>
      <p:sp>
        <p:nvSpPr>
          <p:cNvPr id="5" name="Footer Placeholder 4"/>
          <p:cNvSpPr>
            <a:spLocks noGrp="1"/>
          </p:cNvSpPr>
          <p:nvPr>
            <p:ph type="ftr" sz="quarter" idx="10"/>
          </p:nvPr>
        </p:nvSpPr>
        <p:spPr/>
        <p:txBody>
          <a:bodyPr/>
          <a:lstStyle/>
          <a:p>
            <a:r>
              <a:rPr lang="en-US" smtClean="0"/>
              <a:t>Chapter 1 Introduction</a:t>
            </a:r>
            <a:endParaRPr lang="en-US" dirty="0"/>
          </a:p>
        </p:txBody>
      </p:sp>
      <p:sp>
        <p:nvSpPr>
          <p:cNvPr id="6" name="Date Placeholder 5"/>
          <p:cNvSpPr>
            <a:spLocks noGrp="1"/>
          </p:cNvSpPr>
          <p:nvPr>
            <p:ph type="dt" sz="half" idx="11"/>
          </p:nvPr>
        </p:nvSpPr>
        <p:spPr/>
        <p:txBody>
          <a:bodyPr/>
          <a:lstStyle/>
          <a:p>
            <a:r>
              <a:rPr lang="en-GB" smtClean="0"/>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3</a:t>
            </a:fld>
            <a:endParaRPr lang="en-US"/>
          </a:p>
        </p:txBody>
      </p:sp>
    </p:spTree>
    <p:extLst>
      <p:ext uri="{BB962C8B-B14F-4D97-AF65-F5344CB8AC3E}">
        <p14:creationId xmlns:p14="http://schemas.microsoft.com/office/powerpoint/2010/main" val="3078699979"/>
      </p:ext>
    </p:extLst>
  </p:cSld>
  <p:clrMapOvr>
    <a:masterClrMapping/>
  </p:clrMapOvr>
  <p:transition spd="med">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4"/>
          <p:cNvSpPr>
            <a:spLocks noGrp="1" noChangeArrowheads="1"/>
          </p:cNvSpPr>
          <p:nvPr>
            <p:ph type="title"/>
          </p:nvPr>
        </p:nvSpPr>
        <p:spPr/>
        <p:txBody>
          <a:bodyPr/>
          <a:lstStyle/>
          <a:p>
            <a:r>
              <a:rPr lang="en-GB"/>
              <a:t>Issues of professional responsibility</a:t>
            </a:r>
          </a:p>
        </p:txBody>
      </p:sp>
      <p:sp>
        <p:nvSpPr>
          <p:cNvPr id="83973" name="Rectangle 5"/>
          <p:cNvSpPr>
            <a:spLocks noGrp="1" noChangeArrowheads="1"/>
          </p:cNvSpPr>
          <p:nvPr>
            <p:ph idx="1"/>
          </p:nvPr>
        </p:nvSpPr>
        <p:spPr/>
        <p:txBody>
          <a:bodyPr/>
          <a:lstStyle/>
          <a:p>
            <a:r>
              <a:rPr lang="en-GB" sz="2400"/>
              <a:t>Intellectual property rights </a:t>
            </a:r>
          </a:p>
          <a:p>
            <a:pPr lvl="1"/>
            <a:r>
              <a:rPr lang="en-GB" sz="2000"/>
              <a:t>Engineers should be aware of local laws governing the use of intellectual property such as patents, copyright, etc. They should be careful to ensure that the intellectual property of employers and clients is protected.</a:t>
            </a:r>
          </a:p>
          <a:p>
            <a:r>
              <a:rPr lang="en-GB" sz="2400"/>
              <a:t>Computer misuse </a:t>
            </a:r>
          </a:p>
          <a:p>
            <a:pPr lvl="1"/>
            <a:r>
              <a:rPr lang="en-GB" sz="2000"/>
              <a:t>Software engineers should not use their technical skills to misuse other people’s computers. Computer misuse ranges from relatively trivial (game playing on an employer’s machine, say) to extremely serious (dissemination of viruses). </a:t>
            </a:r>
          </a:p>
        </p:txBody>
      </p:sp>
      <p:sp>
        <p:nvSpPr>
          <p:cNvPr id="5" name="Footer Placeholder 4"/>
          <p:cNvSpPr>
            <a:spLocks noGrp="1"/>
          </p:cNvSpPr>
          <p:nvPr>
            <p:ph type="ftr" sz="quarter" idx="10"/>
          </p:nvPr>
        </p:nvSpPr>
        <p:spPr/>
        <p:txBody>
          <a:bodyPr/>
          <a:lstStyle/>
          <a:p>
            <a:r>
              <a:rPr lang="en-US" smtClean="0"/>
              <a:t>Chapter 1 Introduction</a:t>
            </a:r>
            <a:endParaRPr lang="en-US" dirty="0"/>
          </a:p>
        </p:txBody>
      </p:sp>
      <p:sp>
        <p:nvSpPr>
          <p:cNvPr id="6" name="Date Placeholder 5"/>
          <p:cNvSpPr>
            <a:spLocks noGrp="1"/>
          </p:cNvSpPr>
          <p:nvPr>
            <p:ph type="dt" sz="half" idx="11"/>
          </p:nvPr>
        </p:nvSpPr>
        <p:spPr/>
        <p:txBody>
          <a:bodyPr/>
          <a:lstStyle/>
          <a:p>
            <a:r>
              <a:rPr lang="en-GB" smtClean="0"/>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4</a:t>
            </a:fld>
            <a:endParaRPr lang="en-US"/>
          </a:p>
        </p:txBody>
      </p:sp>
    </p:spTree>
    <p:extLst>
      <p:ext uri="{BB962C8B-B14F-4D97-AF65-F5344CB8AC3E}">
        <p14:creationId xmlns:p14="http://schemas.microsoft.com/office/powerpoint/2010/main" val="2945058795"/>
      </p:ext>
    </p:extLst>
  </p:cSld>
  <p:clrMapOvr>
    <a:masterClrMapping/>
  </p:clrMapOvr>
  <p:transition spd="med">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33400" y="304800"/>
            <a:ext cx="8915400" cy="1104900"/>
          </a:xfrm>
          <a:noFill/>
          <a:ln/>
        </p:spPr>
        <p:txBody>
          <a:bodyPr lIns="90487" tIns="44450" rIns="90487" bIns="44450"/>
          <a:lstStyle/>
          <a:p>
            <a:r>
              <a:rPr lang="en-GB"/>
              <a:t>Types of requirement</a:t>
            </a:r>
          </a:p>
        </p:txBody>
      </p:sp>
      <p:sp>
        <p:nvSpPr>
          <p:cNvPr id="9219" name="Rectangle 3"/>
          <p:cNvSpPr>
            <a:spLocks noGrp="1" noChangeArrowheads="1"/>
          </p:cNvSpPr>
          <p:nvPr>
            <p:ph idx="1"/>
          </p:nvPr>
        </p:nvSpPr>
        <p:spPr>
          <a:noFill/>
          <a:ln/>
        </p:spPr>
        <p:txBody>
          <a:bodyPr lIns="90487" tIns="44450" rIns="90487" bIns="44450"/>
          <a:lstStyle/>
          <a:p>
            <a:r>
              <a:rPr lang="en-GB"/>
              <a:t>User requirements</a:t>
            </a:r>
          </a:p>
          <a:p>
            <a:pPr lvl="1"/>
            <a:r>
              <a:rPr lang="en-GB"/>
              <a:t>Statements in natural language plus diagrams of the services the system provides and its operational constraints. Written for customers.</a:t>
            </a:r>
          </a:p>
          <a:p>
            <a:r>
              <a:rPr lang="en-GB"/>
              <a:t>System requirements</a:t>
            </a:r>
          </a:p>
          <a:p>
            <a:pPr lvl="1"/>
            <a:r>
              <a:rPr lang="en-GB"/>
              <a:t>A structured document setting out detailed descriptions of the system’s functions, services and operational constraints. Defines what should be implemented so may be part of a contract between client and contractor.</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049508315"/>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pPr>
              <a:defRPr/>
            </a:pPr>
            <a:r>
              <a:rPr lang="en-GB" smtClean="0"/>
              <a:t>30/10/2014</a:t>
            </a:r>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6</a:t>
            </a:fld>
            <a:endParaRPr lang="en-US"/>
          </a:p>
        </p:txBody>
      </p:sp>
    </p:spTree>
    <p:extLst>
      <p:ext uri="{BB962C8B-B14F-4D97-AF65-F5344CB8AC3E}">
        <p14:creationId xmlns:p14="http://schemas.microsoft.com/office/powerpoint/2010/main" val="3992664948"/>
      </p:ext>
    </p:extLst>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81000" y="266700"/>
            <a:ext cx="8382000" cy="1104900"/>
          </a:xfrm>
        </p:spPr>
        <p:txBody>
          <a:bodyPr/>
          <a:lstStyle/>
          <a:p>
            <a:r>
              <a:rPr lang="en-GB" dirty="0"/>
              <a:t>Functional and non-functional requirements</a:t>
            </a:r>
          </a:p>
        </p:txBody>
      </p:sp>
      <p:sp>
        <p:nvSpPr>
          <p:cNvPr id="34819" name="Rectangle 3"/>
          <p:cNvSpPr>
            <a:spLocks noGrp="1" noChangeArrowheads="1"/>
          </p:cNvSpPr>
          <p:nvPr>
            <p:ph idx="1"/>
          </p:nvPr>
        </p:nvSpPr>
        <p:spPr>
          <a:xfrm>
            <a:off x="457200" y="1798637"/>
            <a:ext cx="8229600" cy="4525963"/>
          </a:xfrm>
        </p:spPr>
        <p:txBody>
          <a:bodyPr/>
          <a:lstStyle/>
          <a:p>
            <a:pPr>
              <a:lnSpc>
                <a:spcPct val="90000"/>
              </a:lnSpc>
            </a:pPr>
            <a:r>
              <a:rPr lang="en-GB" sz="2400" dirty="0"/>
              <a:t>Functional requirements</a:t>
            </a:r>
          </a:p>
          <a:p>
            <a:pPr lvl="1">
              <a:lnSpc>
                <a:spcPct val="90000"/>
              </a:lnSpc>
            </a:pPr>
            <a:r>
              <a:rPr lang="en-GB" sz="2000" dirty="0"/>
              <a:t>Statements of services the system should provide, how the system should react to particular inputs and how the system should behave in particular situations</a:t>
            </a:r>
            <a:r>
              <a:rPr lang="en-GB" sz="2000" dirty="0" smtClean="0"/>
              <a:t>.</a:t>
            </a:r>
          </a:p>
          <a:p>
            <a:pPr lvl="1">
              <a:lnSpc>
                <a:spcPct val="90000"/>
              </a:lnSpc>
            </a:pPr>
            <a:r>
              <a:rPr lang="en-GB" dirty="0" smtClean="0"/>
              <a:t>May state what the system should not do.</a:t>
            </a:r>
            <a:endParaRPr lang="en-GB" sz="2000" dirty="0" smtClean="0"/>
          </a:p>
          <a:p>
            <a:pPr>
              <a:lnSpc>
                <a:spcPct val="90000"/>
              </a:lnSpc>
            </a:pPr>
            <a:r>
              <a:rPr lang="en-GB" sz="2400" dirty="0"/>
              <a:t>Non-functional requirements</a:t>
            </a:r>
            <a:endParaRPr lang="en-GB" sz="2400" dirty="0" smtClean="0"/>
          </a:p>
          <a:p>
            <a:pPr lvl="1">
              <a:lnSpc>
                <a:spcPct val="90000"/>
              </a:lnSpc>
            </a:pPr>
            <a:r>
              <a:rPr lang="en-GB" dirty="0"/>
              <a:t>C</a:t>
            </a:r>
            <a:r>
              <a:rPr lang="en-GB" sz="2000" dirty="0" smtClean="0"/>
              <a:t>onstraints </a:t>
            </a:r>
            <a:r>
              <a:rPr lang="en-GB" sz="2000" dirty="0"/>
              <a:t>on the services or functions offered by the system such as timing constraints, constraints on the development process, standards, etc</a:t>
            </a:r>
            <a:r>
              <a:rPr lang="en-GB" sz="2000" dirty="0" smtClean="0"/>
              <a:t>.</a:t>
            </a:r>
          </a:p>
          <a:p>
            <a:pPr lvl="1">
              <a:lnSpc>
                <a:spcPct val="90000"/>
              </a:lnSpc>
            </a:pPr>
            <a:r>
              <a:rPr lang="en-GB" dirty="0" smtClean="0"/>
              <a:t>Often apply to the system as a whole rather than individual features or services.</a:t>
            </a:r>
          </a:p>
          <a:p>
            <a:pPr>
              <a:lnSpc>
                <a:spcPct val="90000"/>
              </a:lnSpc>
            </a:pPr>
            <a:r>
              <a:rPr lang="en-GB" sz="2400" dirty="0" smtClean="0"/>
              <a:t>Domain requirements</a:t>
            </a:r>
          </a:p>
          <a:p>
            <a:pPr lvl="1">
              <a:lnSpc>
                <a:spcPct val="90000"/>
              </a:lnSpc>
            </a:pPr>
            <a:r>
              <a:rPr lang="en-GB" sz="2000" dirty="0" smtClean="0"/>
              <a:t>Constraints on the system from the domain </a:t>
            </a:r>
            <a:r>
              <a:rPr lang="en-GB" dirty="0" smtClean="0"/>
              <a:t>of operation</a:t>
            </a:r>
            <a:endParaRPr lang="en-GB" sz="2000" dirty="0" smtClean="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790280691"/>
      </p:ext>
    </p:extLst>
  </p:cSld>
  <p:clrMapOvr>
    <a:masterClrMapping/>
  </p:clrMapOvr>
  <p:transition spd="med">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GB"/>
              <a:t>Functional requirements</a:t>
            </a:r>
          </a:p>
        </p:txBody>
      </p:sp>
      <p:sp>
        <p:nvSpPr>
          <p:cNvPr id="39939" name="Rectangle 3"/>
          <p:cNvSpPr>
            <a:spLocks noGrp="1" noChangeArrowheads="1"/>
          </p:cNvSpPr>
          <p:nvPr>
            <p:ph idx="1"/>
          </p:nvPr>
        </p:nvSpPr>
        <p:spPr/>
        <p:txBody>
          <a:bodyPr/>
          <a:lstStyle/>
          <a:p>
            <a:r>
              <a:rPr lang="en-GB" dirty="0"/>
              <a:t>Describe functionality or system services.</a:t>
            </a:r>
          </a:p>
          <a:p>
            <a:r>
              <a:rPr lang="en-GB" dirty="0"/>
              <a:t>Depend on the type of software, expected users and the type of system where the software is used.</a:t>
            </a:r>
          </a:p>
          <a:p>
            <a:r>
              <a:rPr lang="en-GB" dirty="0"/>
              <a:t>Functional user requirements may be high-level statements of what the system should </a:t>
            </a:r>
            <a:r>
              <a:rPr lang="en-GB" dirty="0" smtClean="0"/>
              <a:t>do.</a:t>
            </a:r>
          </a:p>
          <a:p>
            <a:r>
              <a:rPr lang="en-GB" dirty="0" smtClean="0"/>
              <a:t>Functional </a:t>
            </a:r>
            <a:r>
              <a:rPr lang="en-GB" dirty="0"/>
              <a:t>system requirements should describe the system services in detail.</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8</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45684105"/>
      </p:ext>
    </p:extLst>
  </p:cSld>
  <p:clrMapOvr>
    <a:masterClrMapping/>
  </p:clrMapOvr>
  <p:transition spd="med">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lIns="90487" tIns="44450" rIns="90487" bIns="44450"/>
          <a:lstStyle/>
          <a:p>
            <a:r>
              <a:rPr lang="en-GB"/>
              <a:t>Non-functional requirements</a:t>
            </a:r>
          </a:p>
        </p:txBody>
      </p:sp>
      <p:sp>
        <p:nvSpPr>
          <p:cNvPr id="35843" name="Rectangle 3"/>
          <p:cNvSpPr>
            <a:spLocks noGrp="1" noChangeArrowheads="1"/>
          </p:cNvSpPr>
          <p:nvPr>
            <p:ph idx="1"/>
          </p:nvPr>
        </p:nvSpPr>
        <p:spPr>
          <a:noFill/>
          <a:ln/>
        </p:spPr>
        <p:txBody>
          <a:bodyPr lIns="90487" tIns="44450" rIns="90487" bIns="44450"/>
          <a:lstStyle/>
          <a:p>
            <a:pPr>
              <a:lnSpc>
                <a:spcPct val="90000"/>
              </a:lnSpc>
            </a:pPr>
            <a:r>
              <a:rPr lang="en-GB" dirty="0"/>
              <a:t>These define system properties and constraints e.g. reliability, response time and storage requirements. Constraints are I/O device capability, system representations, etc.</a:t>
            </a:r>
          </a:p>
          <a:p>
            <a:pPr>
              <a:lnSpc>
                <a:spcPct val="90000"/>
              </a:lnSpc>
            </a:pPr>
            <a:r>
              <a:rPr lang="en-GB" dirty="0"/>
              <a:t>Process requirements may also be specified mandating a particular</a:t>
            </a:r>
            <a:r>
              <a:rPr lang="en-GB" dirty="0" smtClean="0"/>
              <a:t> IDE, </a:t>
            </a:r>
            <a:r>
              <a:rPr lang="en-GB" dirty="0"/>
              <a:t>programming language or development method.</a:t>
            </a:r>
          </a:p>
          <a:p>
            <a:pPr>
              <a:lnSpc>
                <a:spcPct val="90000"/>
              </a:lnSpc>
            </a:pPr>
            <a:r>
              <a:rPr lang="en-GB" dirty="0"/>
              <a:t>Non-functional requirements may be more critical than functional requirements. If these are not met, the system</a:t>
            </a:r>
            <a:r>
              <a:rPr lang="en-GB" dirty="0" smtClean="0"/>
              <a:t> may be useless</a:t>
            </a:r>
            <a:r>
              <a:rPr lang="en-GB" dirty="0"/>
              <a:t>.</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9</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4185143199"/>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dirty="0" smtClean="0"/>
              <a:t>Metrics for specifying nonfunctional requirements</a:t>
            </a:r>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10</a:t>
            </a:fld>
            <a:endParaRPr lang="en-US"/>
          </a:p>
        </p:txBody>
      </p:sp>
      <p:graphicFrame>
        <p:nvGraphicFramePr>
          <p:cNvPr id="4" name="Table 3"/>
          <p:cNvGraphicFramePr>
            <a:graphicFrameLocks noGrp="1"/>
          </p:cNvGraphicFramePr>
          <p:nvPr/>
        </p:nvGraphicFramePr>
        <p:xfrm>
          <a:off x="990600" y="1600200"/>
          <a:ext cx="7620000" cy="4876800"/>
        </p:xfrm>
        <a:graphic>
          <a:graphicData uri="http://schemas.openxmlformats.org/drawingml/2006/table">
            <a:tbl>
              <a:tblPr/>
              <a:tblGrid>
                <a:gridCol w="2952750">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tblGrid>
              <a:tr h="39741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Property</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Measure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a:ea typeface="Times New Roman" charset="0"/>
                          <a:cs typeface="Arial"/>
                        </a:rPr>
                        <a:t>Speed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Processed transactions/second</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User/event response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Screen refresh time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Size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Mbytes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ROM chips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Ease of use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Training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help frames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880433">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Reliability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Mean time to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unavailability</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Rate of failure occurrence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Availability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Robustness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Time to restart after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events causing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data corruption on failure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Portability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target dependent statements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target systems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488783650"/>
      </p:ext>
    </p:extLst>
  </p:cSld>
  <p:clrMapOvr>
    <a:masterClrMapping/>
  </p:clrMapOvr>
  <p:transition spd="med">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development</a:t>
            </a:r>
            <a:endParaRPr lang="en-US" dirty="0"/>
          </a:p>
        </p:txBody>
      </p:sp>
      <p:sp>
        <p:nvSpPr>
          <p:cNvPr id="3" name="Content Placeholder 2"/>
          <p:cNvSpPr>
            <a:spLocks noGrp="1"/>
          </p:cNvSpPr>
          <p:nvPr>
            <p:ph idx="1"/>
          </p:nvPr>
        </p:nvSpPr>
        <p:spPr/>
        <p:txBody>
          <a:bodyPr/>
          <a:lstStyle/>
          <a:p>
            <a:r>
              <a:rPr lang="en-US" dirty="0" smtClean="0"/>
              <a:t>Program specification</a:t>
            </a:r>
            <a:r>
              <a:rPr lang="en-US" dirty="0"/>
              <a:t>, design and implementation are inter-leaved</a:t>
            </a:r>
          </a:p>
          <a:p>
            <a:r>
              <a:rPr lang="en-US" dirty="0" smtClean="0"/>
              <a:t>The system </a:t>
            </a:r>
            <a:r>
              <a:rPr lang="en-US" dirty="0"/>
              <a:t>is developed as a series of versions </a:t>
            </a:r>
            <a:r>
              <a:rPr lang="en-US" dirty="0" smtClean="0"/>
              <a:t>or increments with </a:t>
            </a:r>
            <a:r>
              <a:rPr lang="en-US" dirty="0"/>
              <a:t>stakeholders involved in </a:t>
            </a:r>
            <a:r>
              <a:rPr lang="en-US" dirty="0" smtClean="0"/>
              <a:t>version specification and evaluation</a:t>
            </a:r>
          </a:p>
          <a:p>
            <a:r>
              <a:rPr lang="en-US" dirty="0" smtClean="0"/>
              <a:t>Frequent delivery of new versions for evaluation</a:t>
            </a:r>
            <a:endParaRPr lang="en-US" dirty="0"/>
          </a:p>
          <a:p>
            <a:r>
              <a:rPr lang="en-US" dirty="0" smtClean="0"/>
              <a:t>Extensive tool support (e.g. automated testing tools) used to support development.</a:t>
            </a:r>
          </a:p>
          <a:p>
            <a:r>
              <a:rPr lang="en-US" dirty="0" smtClean="0"/>
              <a:t>Minimal documentation – focus on working code</a:t>
            </a:r>
            <a:endParaRPr lang="en-US" dirty="0"/>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11</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4168507407"/>
      </p:ext>
    </p:extLst>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smtClean="0"/>
              <a:t>Plan-driven and agile development</a:t>
            </a:r>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12</a:t>
            </a:fld>
            <a:endParaRPr lang="en-US"/>
          </a:p>
        </p:txBody>
      </p:sp>
      <p:pic>
        <p:nvPicPr>
          <p:cNvPr id="4" name="Picture 3" descr="3.2 PlanBasedAgile.eps"/>
          <p:cNvPicPr>
            <a:picLocks noChangeAspect="1"/>
          </p:cNvPicPr>
          <p:nvPr/>
        </p:nvPicPr>
        <p:blipFill>
          <a:blip r:embed="rId2"/>
          <a:stretch>
            <a:fillRect/>
          </a:stretch>
        </p:blipFill>
        <p:spPr>
          <a:xfrm>
            <a:off x="1734750" y="1785249"/>
            <a:ext cx="5731937" cy="4357990"/>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913797881"/>
      </p:ext>
    </p:extLst>
  </p:cSld>
  <p:clrMapOvr>
    <a:masterClrMapping/>
  </p:clrMapOvr>
  <p:transition spd="med">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Plan-driven and agile development</a:t>
            </a:r>
            <a:endParaRPr lang="en-US" dirty="0"/>
          </a:p>
        </p:txBody>
      </p:sp>
      <p:sp>
        <p:nvSpPr>
          <p:cNvPr id="3" name="Content Placeholder 2"/>
          <p:cNvSpPr>
            <a:spLocks noGrp="1"/>
          </p:cNvSpPr>
          <p:nvPr>
            <p:ph idx="1"/>
          </p:nvPr>
        </p:nvSpPr>
        <p:spPr/>
        <p:txBody>
          <a:bodyPr/>
          <a:lstStyle/>
          <a:p>
            <a:r>
              <a:rPr lang="en-US" dirty="0" smtClean="0"/>
              <a:t>Plan-driven development</a:t>
            </a:r>
          </a:p>
          <a:p>
            <a:pPr lvl="1"/>
            <a:r>
              <a:rPr lang="en-US" dirty="0" smtClean="0"/>
              <a:t>A plan-driven approach to software engineering is based around separate development stages with the outputs to be produced at each of these stages planned in advance.</a:t>
            </a:r>
          </a:p>
          <a:p>
            <a:pPr lvl="1"/>
            <a:r>
              <a:rPr lang="en-US" dirty="0" smtClean="0"/>
              <a:t>Not necessarily waterfall model – plan-driven, incremental development is possible</a:t>
            </a:r>
          </a:p>
          <a:p>
            <a:pPr lvl="1"/>
            <a:r>
              <a:rPr lang="en-US" dirty="0" smtClean="0"/>
              <a:t>Iteration occurs within activities. </a:t>
            </a:r>
          </a:p>
          <a:p>
            <a:r>
              <a:rPr lang="en-US" dirty="0" smtClean="0"/>
              <a:t>Agile development</a:t>
            </a:r>
          </a:p>
          <a:p>
            <a:pPr lvl="1"/>
            <a:r>
              <a:rPr lang="en-US" dirty="0" smtClean="0"/>
              <a:t>Specification, design, implementation and testing are inter-leaved and the outputs from the development process are decided through a process of negotiation during the software development process.</a:t>
            </a:r>
            <a:endParaRPr lang="en-US"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13</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252317177"/>
      </p:ext>
    </p:extLst>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Plan vs Agile</a:t>
            </a:r>
            <a:endParaRPr lang="en-US" dirty="0"/>
          </a:p>
        </p:txBody>
      </p:sp>
      <p:sp>
        <p:nvSpPr>
          <p:cNvPr id="4" name="Date Placeholder 3"/>
          <p:cNvSpPr>
            <a:spLocks noGrp="1"/>
          </p:cNvSpPr>
          <p:nvPr>
            <p:ph type="dt" sz="half" idx="10"/>
          </p:nvPr>
        </p:nvSpPr>
        <p:spPr/>
        <p:txBody>
          <a:bodyPr/>
          <a:lstStyle/>
          <a:p>
            <a:pPr>
              <a:defRPr/>
            </a:pPr>
            <a:r>
              <a:rPr lang="en-GB" smtClean="0"/>
              <a:t>30/10/2014</a:t>
            </a:r>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14</a:t>
            </a:fld>
            <a:endParaRPr lang="en-US"/>
          </a:p>
        </p:txBody>
      </p:sp>
      <p:sp>
        <p:nvSpPr>
          <p:cNvPr id="7" name="AutoShape 2" descr="Agile-andPlan Driven Home Ground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p:cNvPicPr>
            <a:picLocks noChangeAspect="1"/>
          </p:cNvPicPr>
          <p:nvPr/>
        </p:nvPicPr>
        <p:blipFill>
          <a:blip r:embed="rId2"/>
          <a:stretch>
            <a:fillRect/>
          </a:stretch>
        </p:blipFill>
        <p:spPr>
          <a:xfrm>
            <a:off x="914400" y="2320848"/>
            <a:ext cx="7315200" cy="3086100"/>
          </a:xfrm>
          <a:prstGeom prst="rect">
            <a:avLst/>
          </a:prstGeom>
        </p:spPr>
      </p:pic>
    </p:spTree>
    <p:extLst>
      <p:ext uri="{BB962C8B-B14F-4D97-AF65-F5344CB8AC3E}">
        <p14:creationId xmlns:p14="http://schemas.microsoft.com/office/powerpoint/2010/main" val="2599416360"/>
      </p:ext>
    </p:extLst>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GB"/>
              <a:t>Context models</a:t>
            </a:r>
          </a:p>
        </p:txBody>
      </p:sp>
      <p:sp>
        <p:nvSpPr>
          <p:cNvPr id="35843" name="Rectangle 3"/>
          <p:cNvSpPr>
            <a:spLocks noGrp="1" noChangeArrowheads="1"/>
          </p:cNvSpPr>
          <p:nvPr>
            <p:ph idx="1"/>
          </p:nvPr>
        </p:nvSpPr>
        <p:spPr/>
        <p:txBody>
          <a:bodyPr/>
          <a:lstStyle/>
          <a:p>
            <a:r>
              <a:rPr lang="en-GB"/>
              <a:t>Context models are used to illustrate the operational context of a system - they show what lies outside the system boundaries.</a:t>
            </a:r>
          </a:p>
          <a:p>
            <a:r>
              <a:rPr lang="en-GB"/>
              <a:t>Social and organisational concerns may affect the decision on where to position system boundaries.</a:t>
            </a:r>
          </a:p>
          <a:p>
            <a:r>
              <a:rPr lang="en-GB"/>
              <a:t>Architectural models show the system and its relationship with other systems.</a:t>
            </a:r>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15</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686199809"/>
      </p:ext>
    </p:extLst>
  </p:cSld>
  <p:clrMapOvr>
    <a:masterClrMapping/>
  </p:clrMapOvr>
  <p:transition spd="med">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boundaries</a:t>
            </a:r>
            <a:endParaRPr lang="en-US" dirty="0"/>
          </a:p>
        </p:txBody>
      </p:sp>
      <p:sp>
        <p:nvSpPr>
          <p:cNvPr id="3" name="Content Placeholder 2"/>
          <p:cNvSpPr>
            <a:spLocks noGrp="1"/>
          </p:cNvSpPr>
          <p:nvPr>
            <p:ph idx="1"/>
          </p:nvPr>
        </p:nvSpPr>
        <p:spPr/>
        <p:txBody>
          <a:bodyPr/>
          <a:lstStyle/>
          <a:p>
            <a:r>
              <a:rPr lang="en-US" dirty="0" smtClean="0"/>
              <a:t>System boundaries are established to define what is inside and what is outside the system.</a:t>
            </a:r>
          </a:p>
          <a:p>
            <a:pPr lvl="1"/>
            <a:r>
              <a:rPr lang="en-US" dirty="0" smtClean="0"/>
              <a:t>They show other systems that are used or depend on the system being developed.</a:t>
            </a:r>
          </a:p>
          <a:p>
            <a:r>
              <a:rPr lang="en-US" dirty="0" smtClean="0"/>
              <a:t>The position of the system boundary has a profound effect on the system requirements. </a:t>
            </a:r>
          </a:p>
          <a:p>
            <a:r>
              <a:rPr lang="en-US" dirty="0" smtClean="0"/>
              <a:t>Defining a system boundary is a political judgment</a:t>
            </a:r>
          </a:p>
          <a:p>
            <a:pPr lvl="1"/>
            <a:r>
              <a:rPr lang="en-US" dirty="0" smtClean="0"/>
              <a:t>There may be pressures to develop system boundaries that increase / decrease the influence or workload of different parts of an organization.</a:t>
            </a:r>
            <a:endParaRPr lang="en-US" dirty="0"/>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16</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234945947"/>
      </p:ext>
    </p:extLst>
  </p:cSld>
  <p:clrMapOvr>
    <a:masterClrMapping/>
  </p:clrMapOvr>
  <p:transition spd="med">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smtClean="0"/>
              <a:t>The context of the </a:t>
            </a:r>
            <a:r>
              <a:rPr lang="en-GB" dirty="0" err="1" smtClean="0"/>
              <a:t>Mentcare</a:t>
            </a:r>
            <a:r>
              <a:rPr lang="en-GB" dirty="0" smtClean="0"/>
              <a:t> system</a:t>
            </a:r>
            <a:endParaRPr lang="en-US" dirty="0" smtClean="0"/>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17</a:t>
            </a:fld>
            <a:endParaRPr lang="en-US"/>
          </a:p>
        </p:txBody>
      </p:sp>
      <p:pic>
        <p:nvPicPr>
          <p:cNvPr id="2" name="Picture 1" descr="5.1 Mentcare context.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5600" y="2057400"/>
            <a:ext cx="5645150" cy="3556000"/>
          </a:xfrm>
          <a:prstGeom prst="rect">
            <a:avLst/>
          </a:prstGeom>
        </p:spPr>
      </p:pic>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751484754"/>
      </p:ext>
    </p:extLst>
  </p:cSld>
  <p:clrMapOvr>
    <a:masterClrMapping/>
  </p:clrMapOvr>
  <p:transition spd="med">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diagrams</a:t>
            </a:r>
            <a:endParaRPr lang="en-US" dirty="0"/>
          </a:p>
        </p:txBody>
      </p:sp>
      <p:sp>
        <p:nvSpPr>
          <p:cNvPr id="3" name="Content Placeholder 2"/>
          <p:cNvSpPr>
            <a:spLocks noGrp="1"/>
          </p:cNvSpPr>
          <p:nvPr>
            <p:ph idx="1"/>
          </p:nvPr>
        </p:nvSpPr>
        <p:spPr/>
        <p:txBody>
          <a:bodyPr/>
          <a:lstStyle/>
          <a:p>
            <a:r>
              <a:rPr lang="en-US" dirty="0" smtClean="0"/>
              <a:t>Sequence diagrams are part of the UML and are used to model the interactions between the actors and the objects within a system.</a:t>
            </a:r>
          </a:p>
          <a:p>
            <a:r>
              <a:rPr lang="en-US" dirty="0" smtClean="0"/>
              <a:t>A sequence diagram shows the sequence of interactions that take place during a particular use case or use case instance.</a:t>
            </a:r>
          </a:p>
          <a:p>
            <a:r>
              <a:rPr lang="en-US" dirty="0" smtClean="0"/>
              <a:t>The objects and actors involved are listed along the top of the diagram, with a dotted line drawn vertically from these. </a:t>
            </a:r>
          </a:p>
          <a:p>
            <a:r>
              <a:rPr lang="en-US" dirty="0" smtClean="0"/>
              <a:t>Interactions between objects are indicated by annotated arrows.  </a:t>
            </a:r>
            <a:endParaRPr lang="en-US" dirty="0"/>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18</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121270213"/>
      </p:ext>
    </p:extLst>
  </p:cSld>
  <p:clrMapOvr>
    <a:masterClrMapping/>
  </p:clrMapOvr>
  <p:transition spd="med">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smtClean="0"/>
              <a:t>Sequence diagram for View patient information</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19</a:t>
            </a:fld>
            <a:endParaRPr lang="en-US"/>
          </a:p>
        </p:txBody>
      </p:sp>
      <p:pic>
        <p:nvPicPr>
          <p:cNvPr id="2" name="Picture 1" descr="5.6 ViewInfo Seq Diag.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9400" y="1663698"/>
            <a:ext cx="6201032" cy="4724597"/>
          </a:xfrm>
          <a:prstGeom prst="rect">
            <a:avLst/>
          </a:prstGeom>
        </p:spPr>
      </p:pic>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834651820"/>
      </p:ext>
    </p:extLst>
  </p:cSld>
  <p:clrMapOvr>
    <a:masterClrMapping/>
  </p:clrMapOvr>
  <p:transition spd="med">
    <p:wipe dir="r"/>
  </p:transition>
  <p:timing>
    <p:tnLst>
      <p:par>
        <p:cTn id="1" dur="indefinite" restart="never" nodeType="tmRoot"/>
      </p:par>
    </p:tnLst>
  </p:timing>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9124</TotalTime>
  <Words>1027</Words>
  <Application>Microsoft Office PowerPoint</Application>
  <PresentationFormat>On-screen Show (4:3)</PresentationFormat>
  <Paragraphs>152</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ＭＳ Ｐゴシック</vt:lpstr>
      <vt:lpstr>Arial</vt:lpstr>
      <vt:lpstr>Calibri</vt:lpstr>
      <vt:lpstr>Times New Roman</vt:lpstr>
      <vt:lpstr>Wingdings</vt:lpstr>
      <vt:lpstr>SE10 slides</vt:lpstr>
      <vt:lpstr>Last Lecture Before Mid Term.</vt:lpstr>
      <vt:lpstr>Software engineering ethics</vt:lpstr>
      <vt:lpstr>Issues of professional responsibility</vt:lpstr>
      <vt:lpstr>Issues of professional responsibility</vt:lpstr>
      <vt:lpstr>Types of requirement</vt:lpstr>
      <vt:lpstr>PowerPoint Presentation</vt:lpstr>
      <vt:lpstr>Functional and non-functional requirements</vt:lpstr>
      <vt:lpstr>Functional requirements</vt:lpstr>
      <vt:lpstr>Non-functional requirements</vt:lpstr>
      <vt:lpstr>Metrics for specifying nonfunctional requirements</vt:lpstr>
      <vt:lpstr>Agile development</vt:lpstr>
      <vt:lpstr>Plan-driven and agile development</vt:lpstr>
      <vt:lpstr>Plan-driven and agile development</vt:lpstr>
      <vt:lpstr>Plan vs Agile</vt:lpstr>
      <vt:lpstr>Context models</vt:lpstr>
      <vt:lpstr>System boundaries</vt:lpstr>
      <vt:lpstr>The context of the Mentcare system</vt:lpstr>
      <vt:lpstr>Sequence diagrams</vt:lpstr>
      <vt:lpstr>Sequence diagram for View patient information </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Figures-Chapter</dc:title>
  <dc:creator>Ian Sommerville</dc:creator>
  <cp:lastModifiedBy>Umair Khan</cp:lastModifiedBy>
  <cp:revision>38</cp:revision>
  <dcterms:created xsi:type="dcterms:W3CDTF">2010-01-06T19:57:16Z</dcterms:created>
  <dcterms:modified xsi:type="dcterms:W3CDTF">2024-05-09T06:50:05Z</dcterms:modified>
</cp:coreProperties>
</file>