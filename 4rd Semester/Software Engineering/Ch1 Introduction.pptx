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Lst>
  <p:notesMasterIdLst>
    <p:notesMasterId r:id="rId55"/>
  </p:notesMasterIdLst>
  <p:handoutMasterIdLst>
    <p:handoutMasterId r:id="rId56"/>
  </p:handoutMasterIdLst>
  <p:sldIdLst>
    <p:sldId id="256" r:id="rId5"/>
    <p:sldId id="295" r:id="rId6"/>
    <p:sldId id="267" r:id="rId7"/>
    <p:sldId id="268" r:id="rId8"/>
    <p:sldId id="329" r:id="rId9"/>
    <p:sldId id="328" r:id="rId10"/>
    <p:sldId id="257" r:id="rId11"/>
    <p:sldId id="296" r:id="rId12"/>
    <p:sldId id="297" r:id="rId13"/>
    <p:sldId id="298" r:id="rId14"/>
    <p:sldId id="258" r:id="rId15"/>
    <p:sldId id="299" r:id="rId16"/>
    <p:sldId id="303" r:id="rId17"/>
    <p:sldId id="304" r:id="rId18"/>
    <p:sldId id="305" r:id="rId19"/>
    <p:sldId id="330" r:id="rId20"/>
    <p:sldId id="300" r:id="rId21"/>
    <p:sldId id="306" r:id="rId22"/>
    <p:sldId id="307" r:id="rId23"/>
    <p:sldId id="308" r:id="rId24"/>
    <p:sldId id="309" r:id="rId25"/>
    <p:sldId id="301" r:id="rId26"/>
    <p:sldId id="311" r:id="rId27"/>
    <p:sldId id="310" r:id="rId28"/>
    <p:sldId id="331" r:id="rId29"/>
    <p:sldId id="335" r:id="rId30"/>
    <p:sldId id="284" r:id="rId31"/>
    <p:sldId id="285" r:id="rId32"/>
    <p:sldId id="286" r:id="rId33"/>
    <p:sldId id="287" r:id="rId34"/>
    <p:sldId id="316" r:id="rId35"/>
    <p:sldId id="334" r:id="rId36"/>
    <p:sldId id="292" r:id="rId37"/>
    <p:sldId id="302" r:id="rId38"/>
    <p:sldId id="317" r:id="rId39"/>
    <p:sldId id="260" r:id="rId40"/>
    <p:sldId id="261" r:id="rId41"/>
    <p:sldId id="318" r:id="rId42"/>
    <p:sldId id="319" r:id="rId43"/>
    <p:sldId id="322" r:id="rId44"/>
    <p:sldId id="263" r:id="rId45"/>
    <p:sldId id="325" r:id="rId46"/>
    <p:sldId id="326" r:id="rId47"/>
    <p:sldId id="327" r:id="rId48"/>
    <p:sldId id="339" r:id="rId49"/>
    <p:sldId id="337" r:id="rId50"/>
    <p:sldId id="336" r:id="rId51"/>
    <p:sldId id="338" r:id="rId52"/>
    <p:sldId id="332" r:id="rId53"/>
    <p:sldId id="333" r:id="rId5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9" d="100"/>
          <a:sy n="89" d="100"/>
        </p:scale>
        <p:origin x="1282" y="82"/>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slide" Target="slides/slide35.xml" /><Relationship Id="rId21" Type="http://schemas.openxmlformats.org/officeDocument/2006/relationships/slide" Target="slides/slide17.xml" /><Relationship Id="rId34" Type="http://schemas.openxmlformats.org/officeDocument/2006/relationships/slide" Target="slides/slide30.xml" /><Relationship Id="rId42" Type="http://schemas.openxmlformats.org/officeDocument/2006/relationships/slide" Target="slides/slide38.xml" /><Relationship Id="rId47" Type="http://schemas.openxmlformats.org/officeDocument/2006/relationships/slide" Target="slides/slide43.xml" /><Relationship Id="rId50" Type="http://schemas.openxmlformats.org/officeDocument/2006/relationships/slide" Target="slides/slide46.xml" /><Relationship Id="rId55" Type="http://schemas.openxmlformats.org/officeDocument/2006/relationships/notesMaster" Target="notesMasters/notesMaster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slide" Target="slides/slide34.xml" /><Relationship Id="rId46" Type="http://schemas.openxmlformats.org/officeDocument/2006/relationships/slide" Target="slides/slide42.xml" /><Relationship Id="rId59" Type="http://schemas.openxmlformats.org/officeDocument/2006/relationships/theme" Target="theme/theme1.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slide" Target="slides/slide16.xml" /><Relationship Id="rId29" Type="http://schemas.openxmlformats.org/officeDocument/2006/relationships/slide" Target="slides/slide25.xml" /><Relationship Id="rId41" Type="http://schemas.openxmlformats.org/officeDocument/2006/relationships/slide" Target="slides/slide37.xml" /><Relationship Id="rId54" Type="http://schemas.openxmlformats.org/officeDocument/2006/relationships/slide" Target="slides/slide50.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slide" Target="slides/slide33.xml" /><Relationship Id="rId40" Type="http://schemas.openxmlformats.org/officeDocument/2006/relationships/slide" Target="slides/slide36.xml" /><Relationship Id="rId45" Type="http://schemas.openxmlformats.org/officeDocument/2006/relationships/slide" Target="slides/slide41.xml" /><Relationship Id="rId53" Type="http://schemas.openxmlformats.org/officeDocument/2006/relationships/slide" Target="slides/slide49.xml" /><Relationship Id="rId58" Type="http://schemas.openxmlformats.org/officeDocument/2006/relationships/viewProps" Target="viewProps.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slide" Target="slides/slide32.xml" /><Relationship Id="rId49" Type="http://schemas.openxmlformats.org/officeDocument/2006/relationships/slide" Target="slides/slide45.xml" /><Relationship Id="rId57" Type="http://schemas.openxmlformats.org/officeDocument/2006/relationships/presProps" Target="presProps.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4" Type="http://schemas.openxmlformats.org/officeDocument/2006/relationships/slide" Target="slides/slide40.xml" /><Relationship Id="rId52" Type="http://schemas.openxmlformats.org/officeDocument/2006/relationships/slide" Target="slides/slide48.xml" /><Relationship Id="rId60" Type="http://schemas.openxmlformats.org/officeDocument/2006/relationships/tableStyles" Target="tableStyle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slide" Target="slides/slide31.xml" /><Relationship Id="rId43" Type="http://schemas.openxmlformats.org/officeDocument/2006/relationships/slide" Target="slides/slide39.xml" /><Relationship Id="rId48" Type="http://schemas.openxmlformats.org/officeDocument/2006/relationships/slide" Target="slides/slide44.xml" /><Relationship Id="rId56" Type="http://schemas.openxmlformats.org/officeDocument/2006/relationships/handoutMaster" Target="handoutMasters/handoutMaster1.xml" /><Relationship Id="rId8" Type="http://schemas.openxmlformats.org/officeDocument/2006/relationships/slide" Target="slides/slide4.xml" /><Relationship Id="rId51" Type="http://schemas.openxmlformats.org/officeDocument/2006/relationships/slide" Target="slides/slide47.xml" /><Relationship Id="rId3" Type="http://schemas.openxmlformats.org/officeDocument/2006/relationships/customXml" Target="../customXml/item3.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3/17/2024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3/17/2024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2.emf"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3.emf"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image" Target="../media/image4.emf"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5.emf"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a:p>
            <a:r>
              <a:rPr lang="en-US" dirty="0"/>
              <a:t>Case studies</a:t>
            </a:r>
          </a:p>
          <a:p>
            <a:pPr lvl="1"/>
            <a:r>
              <a:rPr lang="en-US" dirty="0"/>
              <a:t>An introduction to three examples that are used in later chapters in the book.</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project failure</a:t>
            </a:r>
          </a:p>
        </p:txBody>
      </p:sp>
      <p:sp>
        <p:nvSpPr>
          <p:cNvPr id="3" name="Content Placeholder 2"/>
          <p:cNvSpPr>
            <a:spLocks noGrp="1"/>
          </p:cNvSpPr>
          <p:nvPr>
            <p:ph idx="1"/>
          </p:nvPr>
        </p:nvSpPr>
        <p:spPr/>
        <p:txBody>
          <a:bodyPr/>
          <a:lstStyle/>
          <a:p>
            <a:r>
              <a:rPr lang="en-GB" i="1" dirty="0"/>
              <a:t>Increasing system complexity</a:t>
            </a:r>
            <a:r>
              <a:rPr lang="en-GB" dirty="0"/>
              <a:t> </a:t>
            </a:r>
          </a:p>
          <a:p>
            <a:pPr lvl="1"/>
            <a:r>
              <a:rPr lang="en-GB" dirty="0"/>
              <a:t>As 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a:t>Failure to use software engineering methods</a:t>
            </a:r>
            <a:r>
              <a:rPr lang="en-GB" dirty="0"/>
              <a:t> </a:t>
            </a:r>
          </a:p>
          <a:p>
            <a:pPr lvl="1"/>
            <a:r>
              <a:rPr lang="en-GB" dirty="0"/>
              <a:t>It 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49"/>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39"/>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0"/>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dirty="0"/>
              <a:t>Software specification, where customers and engineers define the software that is to be produced and the constraints on its operation.</a:t>
            </a:r>
          </a:p>
          <a:p>
            <a:r>
              <a:rPr lang="en-GB" dirty="0"/>
              <a:t>Software development, where the software is designed and programmed.</a:t>
            </a:r>
          </a:p>
          <a:p>
            <a:r>
              <a:rPr lang="en-GB" dirty="0"/>
              <a:t>Software validation, where the software is checked to ensure that it is what the customer requires.</a:t>
            </a:r>
          </a:p>
          <a:p>
            <a:r>
              <a:rPr lang="en-GB" dirty="0"/>
              <a:t>Software evolution,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r>
              <a:rPr lang="en-US" dirty="0"/>
              <a:t>The software engineering methods and tools used depend on the type of application being developed, the requirements of the customer and the background of the development team.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a:t>
            </a:r>
            <a:r>
              <a:rPr lang="en-GB" dirty="0" err="1"/>
              <a:t>modeling</a:t>
            </a:r>
            <a:r>
              <a:rPr lang="en-GB" dirty="0"/>
              <a:t> and simulation </a:t>
            </a:r>
          </a:p>
          <a:p>
            <a:pPr lvl="1"/>
            <a:r>
              <a:rPr lang="en-GB" dirty="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based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but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t>Web-based systems are complex distributed systems but the fundamental principles of software engineering discussed previously are as applicable to them as they are to any other types of system.</a:t>
            </a:r>
          </a:p>
          <a:p>
            <a:r>
              <a:rPr lang="en-GB" dirty="0"/>
              <a:t>The fundamental ideas of software engineering 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based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a:t>
            </a:r>
          </a:p>
          <a:p>
            <a:pPr lvl="1"/>
            <a:r>
              <a:rPr lang="en-GB" dirty="0"/>
              <a:t>Software reuse is the dominant approach for constructing web-based systems. 	When building these systems, you think about how you can assemble them from pre-existing software components and systems.</a:t>
            </a:r>
          </a:p>
          <a:p>
            <a:r>
              <a:rPr lang="en-GB" dirty="0"/>
              <a:t>Incremental and agile development</a:t>
            </a:r>
          </a:p>
          <a:p>
            <a:pPr lvl="1"/>
            <a:r>
              <a:rPr lang="en-GB" dirty="0"/>
              <a:t>Web-based systems should be developed and delivered incrementally.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based software engineering</a:t>
            </a:r>
          </a:p>
        </p:txBody>
      </p:sp>
      <p:sp>
        <p:nvSpPr>
          <p:cNvPr id="3" name="Content Placeholder 2"/>
          <p:cNvSpPr>
            <a:spLocks noGrp="1"/>
          </p:cNvSpPr>
          <p:nvPr>
            <p:ph idx="1"/>
          </p:nvPr>
        </p:nvSpPr>
        <p:spPr/>
        <p:txBody>
          <a:bodyPr/>
          <a:lstStyle/>
          <a:p>
            <a:r>
              <a:rPr lang="en-GB" dirty="0"/>
              <a:t>Service-oriented systems</a:t>
            </a:r>
          </a:p>
          <a:p>
            <a:pPr lvl="1"/>
            <a:r>
              <a:rPr lang="en-GB" dirty="0"/>
              <a:t>Software may be implemented using service-oriented software engineering, where the software components are stand-alone web services.  </a:t>
            </a:r>
          </a:p>
          <a:p>
            <a:r>
              <a:rPr lang="en-GB" dirty="0"/>
              <a:t>Rich interfaces</a:t>
            </a:r>
          </a:p>
          <a:p>
            <a:pPr lvl="1"/>
            <a:r>
              <a:rPr lang="en-GB" dirty="0"/>
              <a:t>Interface development technologies such as AJAX and HTML5 have 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30</a:t>
            </a:fld>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0722"/>
            <a:ext cx="8229600" cy="1143000"/>
          </a:xfrm>
        </p:spPr>
        <p:txBody>
          <a:bodyPr/>
          <a:lstStyle/>
          <a:p>
            <a:pPr algn="ctr"/>
            <a:r>
              <a:rPr lang="en-US" dirty="0"/>
              <a:t>Case studies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32</a:t>
            </a:fld>
            <a:endParaRPr lang="en-US"/>
          </a:p>
        </p:txBody>
      </p:sp>
    </p:spTree>
    <p:extLst>
      <p:ext uri="{BB962C8B-B14F-4D97-AF65-F5344CB8AC3E}">
        <p14:creationId xmlns:p14="http://schemas.microsoft.com/office/powerpoint/2010/main" val="3981197308"/>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a:t>
            </a:r>
          </a:p>
          <a:p>
            <a:endParaRPr lang="en-GB" dirty="0"/>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dirty="0"/>
              <a:t>An embedded system in an insulin pump used by diabetics to maintain blood glucose control.</a:t>
            </a:r>
          </a:p>
          <a:p>
            <a:r>
              <a:rPr lang="en-US"/>
              <a:t>A </a:t>
            </a:r>
            <a:r>
              <a:rPr lang="en-US" dirty="0"/>
              <a:t>wilderness weather station</a:t>
            </a:r>
          </a:p>
          <a:p>
            <a:pPr lvl="1"/>
            <a:r>
              <a:rPr lang="en-US" dirty="0"/>
              <a:t>A data collection system that collects data about weather conditions in remote areas.</a:t>
            </a:r>
          </a:p>
          <a:p>
            <a:r>
              <a:rPr lang="en-US" dirty="0" err="1"/>
              <a:t>iLearn</a:t>
            </a:r>
            <a:r>
              <a:rPr lang="en-US" dirty="0"/>
              <a:t>: a digital learning environment</a:t>
            </a:r>
          </a:p>
          <a:p>
            <a:pPr lvl="1"/>
            <a:r>
              <a:rPr lang="en-US" dirty="0"/>
              <a:t>A system to support learning in schools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34</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35</a:t>
            </a:fld>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pic>
        <p:nvPicPr>
          <p:cNvPr id="4" name="Picture 3" descr="1.4 InsulinPumpHW.eps"/>
          <p:cNvPicPr>
            <a:picLocks noChangeAspect="1"/>
          </p:cNvPicPr>
          <p:nvPr/>
        </p:nvPicPr>
        <p:blipFill>
          <a:blip r:embed="rId2"/>
          <a:stretch>
            <a:fillRect/>
          </a:stretch>
        </p:blipFill>
        <p:spPr>
          <a:xfrm>
            <a:off x="1911696" y="2068286"/>
            <a:ext cx="5345447" cy="340164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36</a:t>
            </a:fld>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pic>
        <p:nvPicPr>
          <p:cNvPr id="4" name="Picture 3" descr="1.5 InsulinPumpActDiag.eps"/>
          <p:cNvPicPr>
            <a:picLocks noChangeAspect="1"/>
          </p:cNvPicPr>
          <p:nvPr/>
        </p:nvPicPr>
        <p:blipFill>
          <a:blip r:embed="rId2"/>
          <a:stretch>
            <a:fillRect/>
          </a:stretch>
        </p:blipFill>
        <p:spPr>
          <a:xfrm>
            <a:off x="1522043" y="2497946"/>
            <a:ext cx="6537900" cy="2239007"/>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37</a:t>
            </a:fld>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high-level requirements</a:t>
            </a:r>
          </a:p>
        </p:txBody>
      </p:sp>
      <p:sp>
        <p:nvSpPr>
          <p:cNvPr id="3" name="Content Placeholder 2"/>
          <p:cNvSpPr>
            <a:spLocks noGrp="1"/>
          </p:cNvSpPr>
          <p:nvPr>
            <p:ph idx="1"/>
          </p:nvPr>
        </p:nvSpPr>
        <p:spPr/>
        <p:txBody>
          <a:bodyPr/>
          <a:lstStyle/>
          <a:p>
            <a:r>
              <a:rPr lang="en-GB" dirty="0"/>
              <a:t>The system shall be available to deliver insulin when required. </a:t>
            </a:r>
          </a:p>
          <a:p>
            <a:r>
              <a:rPr lang="en-GB" dirty="0"/>
              <a:t>The system shall perform reliably and deliver the correct amount of insulin to counteract the current level of blood sugar.</a:t>
            </a:r>
          </a:p>
          <a:p>
            <a:r>
              <a:rPr lang="en-GB" dirty="0"/>
              <a:t>The system must therefore be designed and implemented to ensure that the system always meets these requirements.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38</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A patient information system for mental health care</a:t>
            </a:r>
          </a:p>
        </p:txBody>
      </p:sp>
      <p:sp>
        <p:nvSpPr>
          <p:cNvPr id="3" name="Content Placeholder 2"/>
          <p:cNvSpPr>
            <a:spLocks noGrp="1"/>
          </p:cNvSpPr>
          <p:nvPr>
            <p:ph idx="1"/>
          </p:nvPr>
        </p:nvSpPr>
        <p:spPr/>
        <p:txBody>
          <a:bodyPr/>
          <a:lstStyle/>
          <a:p>
            <a:r>
              <a:rPr lang="en-GB" dirty="0"/>
              <a:t>A patient information system to support mental health care is a medical information system that maintains information about patients suffering from mental health problems and the treatments that they have received.</a:t>
            </a:r>
          </a:p>
          <a:p>
            <a:r>
              <a:rPr lang="en-GB" dirty="0"/>
              <a:t>Most mental health patients do not require dedicated hospital treatment but need to attend specialist clinics regularly where they can meet a doctor who has detailed knowledge of their problems. </a:t>
            </a:r>
          </a:p>
          <a:p>
            <a:r>
              <a:rPr lang="en-GB" dirty="0"/>
              <a:t>To make it easier for patients to attend, these clinics are not just run in hospitals. They may also be held in local medical practices or community centres.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39</a:t>
            </a:fld>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Wilderness weather station</a:t>
            </a:r>
          </a:p>
        </p:txBody>
      </p:sp>
      <p:sp>
        <p:nvSpPr>
          <p:cNvPr id="3" name="Content Placeholder 2"/>
          <p:cNvSpPr>
            <a:spLocks noGrp="1"/>
          </p:cNvSpPr>
          <p:nvPr>
            <p:ph idx="1"/>
          </p:nvPr>
        </p:nvSpPr>
        <p:spPr/>
        <p:txBody>
          <a:bodyPr/>
          <a:lstStyle/>
          <a:p>
            <a:r>
              <a:rPr lang="en-GB" dirty="0"/>
              <a:t>The government of a country with large areas of wilderness decides to deploy several hundred weather stations in remote areas. </a:t>
            </a:r>
          </a:p>
          <a:p>
            <a:r>
              <a:rPr lang="en-GB" dirty="0"/>
              <a:t>Weather stations collect data from a set of instruments that measure temperature and pressure, sunshine, rainfall, wind speed and wind direction.</a:t>
            </a:r>
          </a:p>
          <a:p>
            <a:pPr lvl="1"/>
            <a:r>
              <a:rPr lang="en-GB" dirty="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a:t>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40</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pic>
        <p:nvPicPr>
          <p:cNvPr id="4" name="Picture 3" descr="1.7 WeatherStationEnv.eps"/>
          <p:cNvPicPr>
            <a:picLocks noChangeAspect="1"/>
          </p:cNvPicPr>
          <p:nvPr/>
        </p:nvPicPr>
        <p:blipFill>
          <a:blip r:embed="rId2"/>
          <a:stretch>
            <a:fillRect/>
          </a:stretch>
        </p:blipFill>
        <p:spPr>
          <a:xfrm>
            <a:off x="1932944" y="2314698"/>
            <a:ext cx="5159738" cy="2490908"/>
          </a:xfrm>
          <a:prstGeom prst="rect">
            <a:avLst/>
          </a:prstGeom>
        </p:spPr>
      </p:pic>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41</a:t>
            </a:fld>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283745" y="1600200"/>
            <a:ext cx="8606912" cy="4525963"/>
          </a:xfrm>
        </p:spPr>
        <p:txBody>
          <a:bodyPr/>
          <a:lstStyle/>
          <a:p>
            <a:r>
              <a:rPr lang="en-GB" dirty="0"/>
              <a:t>	The weather station system </a:t>
            </a:r>
          </a:p>
          <a:p>
            <a:pPr lvl="1"/>
            <a:r>
              <a:rPr lang="en-GB" dirty="0"/>
              <a:t>This is responsible for collecting weather data, carrying out some initial data processing and transmitting it to the data management system.</a:t>
            </a:r>
          </a:p>
          <a:p>
            <a:r>
              <a:rPr lang="en-GB" dirty="0"/>
              <a:t>The data management and archiving system </a:t>
            </a:r>
          </a:p>
          <a:p>
            <a:pPr lvl="1"/>
            <a:r>
              <a:rPr lang="en-GB" dirty="0"/>
              <a:t>This system collects the data from all of the wilderness weather stations, carries out data processing and analysis and archives the data.</a:t>
            </a:r>
          </a:p>
          <a:p>
            <a:r>
              <a:rPr lang="en-GB" dirty="0"/>
              <a:t>The station maintenance system </a:t>
            </a:r>
          </a:p>
          <a:p>
            <a:pPr lvl="1"/>
            <a:r>
              <a:rPr lang="en-GB" dirty="0"/>
              <a:t>This system can communicate by satellite with all wilderness weather stations to monitor the health of these systems and provide reports of problems.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42</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r>
              <a:rPr lang="en-GB" dirty="0"/>
              <a:t>Monitor the instruments, power and communication hardware and report faults to the management system.</a:t>
            </a:r>
          </a:p>
          <a:p>
            <a:r>
              <a:rPr lang="en-GB" dirty="0"/>
              <a:t>Manage the system power, ensuring that batteries are charged whenever the environmental conditions permit but also that generators are shut down in potentially damaging weather conditions, such as high wind.</a:t>
            </a:r>
          </a:p>
          <a:p>
            <a:r>
              <a:rPr lang="en-GB" dirty="0"/>
              <a:t>Support dynamic reconfiguration where parts of the software are replaced with new versions and where backup instruments are switched into the system in the event of system failure.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43</a:t>
            </a:fld>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 digital learning environment</a:t>
            </a:r>
          </a:p>
        </p:txBody>
      </p:sp>
      <p:sp>
        <p:nvSpPr>
          <p:cNvPr id="3" name="Content Placeholder 2"/>
          <p:cNvSpPr>
            <a:spLocks noGrp="1"/>
          </p:cNvSpPr>
          <p:nvPr>
            <p:ph idx="1"/>
          </p:nvPr>
        </p:nvSpPr>
        <p:spPr/>
        <p:txBody>
          <a:bodyPr/>
          <a:lstStyle/>
          <a:p>
            <a:r>
              <a:rPr lang="en-GB" dirty="0"/>
              <a:t>A digital learning environment is a framework in which a set of general-purpose and specially designed tools for learning may be embedded plus a set of applications that are geared to the needs of the learners using the system. </a:t>
            </a:r>
          </a:p>
          <a:p>
            <a:r>
              <a:rPr lang="en-GB" dirty="0"/>
              <a:t>The tools included in each version of the environment are chosen by teachers and learners to suit their specific needs. </a:t>
            </a:r>
          </a:p>
          <a:p>
            <a:pPr lvl="1"/>
            <a:r>
              <a:rPr lang="en-GB" dirty="0"/>
              <a:t>These can be general applications such as </a:t>
            </a:r>
            <a:r>
              <a:rPr lang="en-GB" dirty="0" err="1"/>
              <a:t>spreadsheets</a:t>
            </a:r>
            <a:r>
              <a:rPr lang="en-GB" dirty="0"/>
              <a:t>, learning management applications such as a Virtual Learning Environment (VLE) to manage homework submission and assessment, games and simulations.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44</a:t>
            </a:fld>
            <a:endParaRPr lang="en-US"/>
          </a:p>
        </p:txBody>
      </p:sp>
    </p:spTree>
    <p:extLst>
      <p:ext uri="{BB962C8B-B14F-4D97-AF65-F5344CB8AC3E}">
        <p14:creationId xmlns:p14="http://schemas.microsoft.com/office/powerpoint/2010/main" val="3735641553"/>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Service-oriented systems</a:t>
            </a:r>
          </a:p>
        </p:txBody>
      </p:sp>
      <p:sp>
        <p:nvSpPr>
          <p:cNvPr id="3" name="Content Placeholder 2"/>
          <p:cNvSpPr>
            <a:spLocks noGrp="1"/>
          </p:cNvSpPr>
          <p:nvPr>
            <p:ph idx="1"/>
          </p:nvPr>
        </p:nvSpPr>
        <p:spPr/>
        <p:txBody>
          <a:bodyPr/>
          <a:lstStyle/>
          <a:p>
            <a:r>
              <a:rPr lang="en-GB" dirty="0"/>
              <a:t>The system is a service-oriented system with all system components considered to be a replaceable service.</a:t>
            </a:r>
          </a:p>
          <a:p>
            <a:r>
              <a:rPr lang="en-GB" dirty="0"/>
              <a:t>This allows the system to be updated incrementally as new services become available.</a:t>
            </a:r>
          </a:p>
          <a:p>
            <a:r>
              <a:rPr lang="en-GB" dirty="0"/>
              <a:t>It also makes it possible to rapidly configure the system to create versions of the environment for different groups such as very young children who cannot read, senior students, etc.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45</a:t>
            </a:fld>
            <a:endParaRPr lang="en-US"/>
          </a:p>
        </p:txBody>
      </p:sp>
    </p:spTree>
    <p:extLst>
      <p:ext uri="{BB962C8B-B14F-4D97-AF65-F5344CB8AC3E}">
        <p14:creationId xmlns:p14="http://schemas.microsoft.com/office/powerpoint/2010/main" val="910177017"/>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services</a:t>
            </a:r>
          </a:p>
        </p:txBody>
      </p:sp>
      <p:sp>
        <p:nvSpPr>
          <p:cNvPr id="3" name="Content Placeholder 2"/>
          <p:cNvSpPr>
            <a:spLocks noGrp="1"/>
          </p:cNvSpPr>
          <p:nvPr>
            <p:ph idx="1"/>
          </p:nvPr>
        </p:nvSpPr>
        <p:spPr/>
        <p:txBody>
          <a:bodyPr/>
          <a:lstStyle/>
          <a:p>
            <a:r>
              <a:rPr lang="en-GB" i="1" dirty="0"/>
              <a:t>Utility services</a:t>
            </a:r>
            <a:r>
              <a:rPr lang="en-GB" dirty="0"/>
              <a:t> that provide basic application-independent functionality and which may be used by other services in the system. </a:t>
            </a:r>
          </a:p>
          <a:p>
            <a:r>
              <a:rPr lang="en-GB" i="1" dirty="0"/>
              <a:t>Application services</a:t>
            </a:r>
            <a:r>
              <a:rPr lang="en-GB" dirty="0"/>
              <a:t> that provide specific applications such as email, conferencing, photo sharing etc. and access to specific educational content such as scientific films or historical resources. </a:t>
            </a:r>
          </a:p>
          <a:p>
            <a:r>
              <a:rPr lang="en-GB" i="1" dirty="0"/>
              <a:t>Configuration services</a:t>
            </a:r>
            <a:r>
              <a:rPr lang="en-GB" dirty="0"/>
              <a:t> that are used to adapt the environment with a specific set of application services and do define how services are shared between students, teachers and their parents.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46</a:t>
            </a:fld>
            <a:endParaRPr lang="en-US"/>
          </a:p>
        </p:txBody>
      </p:sp>
    </p:spTree>
    <p:extLst>
      <p:ext uri="{BB962C8B-B14F-4D97-AF65-F5344CB8AC3E}">
        <p14:creationId xmlns:p14="http://schemas.microsoft.com/office/powerpoint/2010/main" val="2155081538"/>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architecture</a:t>
            </a:r>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701" y="1538798"/>
            <a:ext cx="5866216" cy="4881050"/>
          </a:xfrm>
          <a:prstGeom prst="rect">
            <a:avLst/>
          </a:prstGeom>
        </p:spPr>
      </p:pic>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47</a:t>
            </a:fld>
            <a:endParaRPr lang="en-US"/>
          </a:p>
        </p:txBody>
      </p:sp>
    </p:spTree>
    <p:extLst>
      <p:ext uri="{BB962C8B-B14F-4D97-AF65-F5344CB8AC3E}">
        <p14:creationId xmlns:p14="http://schemas.microsoft.com/office/powerpoint/2010/main" val="2004859144"/>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 integration</a:t>
            </a:r>
          </a:p>
        </p:txBody>
      </p:sp>
      <p:sp>
        <p:nvSpPr>
          <p:cNvPr id="3" name="Content Placeholder 2"/>
          <p:cNvSpPr>
            <a:spLocks noGrp="1"/>
          </p:cNvSpPr>
          <p:nvPr>
            <p:ph idx="1"/>
          </p:nvPr>
        </p:nvSpPr>
        <p:spPr/>
        <p:txBody>
          <a:bodyPr/>
          <a:lstStyle/>
          <a:p>
            <a:r>
              <a:rPr lang="en-US" i="1" dirty="0"/>
              <a:t>Integrated services </a:t>
            </a:r>
            <a:r>
              <a:rPr lang="en-US" dirty="0"/>
              <a:t>are services which offer an API (application programming interface) and which can be accessed by other services through that API.  Direct service-to-service communication is therefore possible. </a:t>
            </a:r>
          </a:p>
          <a:p>
            <a:r>
              <a:rPr lang="en-US" i="1" dirty="0"/>
              <a:t>Independent services</a:t>
            </a:r>
            <a:r>
              <a:rPr lang="en-US" dirty="0"/>
              <a:t> are services which are simply accessed through a browser interface and which operate independently of other services. Information can only be shared with other services through explicit user actions such as copy and paste; re-authentication may be required for each independent service.</a:t>
            </a:r>
            <a:r>
              <a:rPr lang="en-GB" dirty="0"/>
              <a:t>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48</a:t>
            </a:fld>
            <a:endParaRPr lang="en-US"/>
          </a:p>
        </p:txBody>
      </p:sp>
    </p:spTree>
    <p:extLst>
      <p:ext uri="{BB962C8B-B14F-4D97-AF65-F5344CB8AC3E}">
        <p14:creationId xmlns:p14="http://schemas.microsoft.com/office/powerpoint/2010/main" val="307688726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49</a:t>
            </a:fld>
            <a:endParaRPr lang="en-US"/>
          </a:p>
        </p:txBody>
      </p:sp>
    </p:spTree>
    <p:extLst>
      <p:ext uri="{BB962C8B-B14F-4D97-AF65-F5344CB8AC3E}">
        <p14:creationId xmlns:p14="http://schemas.microsoft.com/office/powerpoint/2010/main" val="1610917383"/>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p>
          <a:p>
            <a:r>
              <a:rPr lang="en-GB" dirty="0"/>
              <a:t>Software engineers have responsibilities to the engineering profession and society. They should not simply be concerned with technical issues.</a:t>
            </a:r>
          </a:p>
          <a:p>
            <a:r>
              <a:rPr lang="en-GB" dirty="0"/>
              <a:t>Professional societies publish codes of conduct which set out the standards of behaviour expected of their members.</a:t>
            </a:r>
          </a:p>
          <a:p>
            <a:endParaRPr lang="en-US" dirty="0"/>
          </a:p>
          <a:p>
            <a:pPr>
              <a:buNone/>
            </a:pP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50</a:t>
            </a:fld>
            <a:endParaRPr lang="en-US"/>
          </a:p>
        </p:txBody>
      </p:sp>
    </p:spTree>
    <p:extLst>
      <p:ext uri="{BB962C8B-B14F-4D97-AF65-F5344CB8AC3E}">
        <p14:creationId xmlns:p14="http://schemas.microsoft.com/office/powerpoint/2010/main" val="2137521757"/>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A1400550C8A7F40B8B4A016FED0B662" ma:contentTypeVersion="0" ma:contentTypeDescription="Create a new document." ma:contentTypeScope="" ma:versionID="cfc22c2f22a1093fad9043dd52ebfe41">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425F01-F90E-4DB5-8BC2-578C84AF29C0}">
  <ds:schemaRefs>
    <ds:schemaRef ds:uri="http://schemas.microsoft.com/sharepoint/v3/contenttype/forms"/>
  </ds:schemaRefs>
</ds:datastoreItem>
</file>

<file path=customXml/itemProps2.xml><?xml version="1.0" encoding="utf-8"?>
<ds:datastoreItem xmlns:ds="http://schemas.openxmlformats.org/officeDocument/2006/customXml" ds:itemID="{1B33E5BB-08CE-4EBF-8302-CB6C162955B7}">
  <ds:schemaRefs>
    <ds:schemaRef ds:uri="http://schemas.microsoft.com/office/2006/metadata/contentType"/>
    <ds:schemaRef ds:uri="http://schemas.microsoft.com/office/2006/metadata/properties/metaAttributes"/>
    <ds:schemaRef ds:uri="http://www.w3.org/2000/xmlns/"/>
    <ds:schemaRef ds:uri="http://www.w3.org/2001/XMLSchema"/>
  </ds:schemaRefs>
</ds:datastoreItem>
</file>

<file path=customXml/itemProps3.xml><?xml version="1.0" encoding="utf-8"?>
<ds:datastoreItem xmlns:ds="http://schemas.openxmlformats.org/officeDocument/2006/customXml" ds:itemID="{1CE3A7B2-B4AE-4F35-BCB4-5D59656B7870}">
  <ds:schemaRefs>
    <ds:schemaRef ds:uri="http://schemas.microsoft.com/office/2006/metadata/properties"/>
    <ds:schemaRef ds:uri="http://www.w3.org/2000/xmlns/"/>
  </ds:schemaRefs>
</ds:datastoreItem>
</file>

<file path=docProps/app.xml><?xml version="1.0" encoding="utf-8"?>
<Properties xmlns="http://schemas.openxmlformats.org/officeDocument/2006/extended-properties" xmlns:vt="http://schemas.openxmlformats.org/officeDocument/2006/docPropsVTypes">
  <Template>SE10 slides.thmx</Template>
  <TotalTime>1950</TotalTime>
  <Words>3740</Words>
  <Application>Microsoft Office PowerPoint</Application>
  <PresentationFormat>On-screen Show (4:3)</PresentationFormat>
  <Paragraphs>391</Paragraphs>
  <Slides>50</Slides>
  <Notes>2</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SE10 slides</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Web based software engineering</vt:lpstr>
      <vt:lpstr>Web-based software engineering</vt:lpstr>
      <vt:lpstr>Web based software engineering</vt:lpstr>
      <vt:lpstr>Web based software engineering</vt:lpstr>
      <vt:lpstr>Software engineering ethics</vt:lpstr>
      <vt:lpstr>Software engineering ethics</vt:lpstr>
      <vt:lpstr>Issues of professional responsibility</vt:lpstr>
      <vt:lpstr>Issues of professional responsibility</vt:lpstr>
      <vt:lpstr>ACM/IEEE Code of Ethics</vt:lpstr>
      <vt:lpstr>Ethical principles</vt:lpstr>
      <vt:lpstr>Case studies</vt:lpstr>
      <vt:lpstr>Ethical dilemmas</vt:lpstr>
      <vt:lpstr>Case studies</vt:lpstr>
      <vt:lpstr>Insulin pump control system</vt:lpstr>
      <vt:lpstr>Insulin pump hardware architecture</vt:lpstr>
      <vt:lpstr>Activity model of the insulin pump</vt:lpstr>
      <vt:lpstr>Essential high-level requirements</vt:lpstr>
      <vt:lpstr>Mentcare: A patient information system for mental health care</vt:lpstr>
      <vt:lpstr>Wilderness weather station</vt:lpstr>
      <vt:lpstr>The weather station’s environment </vt:lpstr>
      <vt:lpstr>Weather information system</vt:lpstr>
      <vt:lpstr>Additional software functionality</vt:lpstr>
      <vt:lpstr>iLearn: A digital learning environment</vt:lpstr>
      <vt:lpstr>Service-oriented systems</vt:lpstr>
      <vt:lpstr>iLearn services</vt:lpstr>
      <vt:lpstr>iLearn architecture</vt:lpstr>
      <vt:lpstr>iLearn service integration</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Muhammad Faisal</cp:lastModifiedBy>
  <cp:revision>30</cp:revision>
  <dcterms:created xsi:type="dcterms:W3CDTF">2009-12-29T10:39:27Z</dcterms:created>
  <dcterms:modified xsi:type="dcterms:W3CDTF">2024-03-17T17:33:12Z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0x0101002A1400550C8A7F40B8B4A016FED0B662</vt:lpwstr>
  </property>
  <property fmtid="{D5CDD505-2E9C-101B-9397-08002B2CF9AE}" pid="3" name="Order">
    <vt:r8>300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