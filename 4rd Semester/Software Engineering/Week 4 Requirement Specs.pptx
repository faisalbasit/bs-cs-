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notesMasterIdLst>
    <p:notesMasterId r:id="rId62"/>
  </p:notesMasterIdLst>
  <p:handoutMasterIdLst>
    <p:handoutMasterId r:id="rId63"/>
  </p:handoutMasterIdLst>
  <p:sldIdLst>
    <p:sldId id="256" r:id="rId2"/>
    <p:sldId id="276" r:id="rId3"/>
    <p:sldId id="278" r:id="rId4"/>
    <p:sldId id="280" r:id="rId5"/>
    <p:sldId id="257" r:id="rId6"/>
    <p:sldId id="258" r:id="rId7"/>
    <p:sldId id="378" r:id="rId8"/>
    <p:sldId id="379" r:id="rId9"/>
    <p:sldId id="380" r:id="rId10"/>
    <p:sldId id="381" r:id="rId11"/>
    <p:sldId id="351" r:id="rId12"/>
    <p:sldId id="281" r:id="rId13"/>
    <p:sldId id="282" r:id="rId14"/>
    <p:sldId id="283" r:id="rId15"/>
    <p:sldId id="285" r:id="rId16"/>
    <p:sldId id="286" r:id="rId17"/>
    <p:sldId id="287" r:id="rId18"/>
    <p:sldId id="259" r:id="rId19"/>
    <p:sldId id="310" r:id="rId20"/>
    <p:sldId id="288" r:id="rId21"/>
    <p:sldId id="260" r:id="rId22"/>
    <p:sldId id="311" r:id="rId23"/>
    <p:sldId id="261" r:id="rId24"/>
    <p:sldId id="353" r:id="rId25"/>
    <p:sldId id="302" r:id="rId26"/>
    <p:sldId id="404" r:id="rId27"/>
    <p:sldId id="405" r:id="rId28"/>
    <p:sldId id="406" r:id="rId29"/>
    <p:sldId id="367" r:id="rId30"/>
    <p:sldId id="368" r:id="rId31"/>
    <p:sldId id="369" r:id="rId32"/>
    <p:sldId id="370" r:id="rId33"/>
    <p:sldId id="371" r:id="rId34"/>
    <p:sldId id="372" r:id="rId35"/>
    <p:sldId id="373" r:id="rId36"/>
    <p:sldId id="374" r:id="rId37"/>
    <p:sldId id="375" r:id="rId38"/>
    <p:sldId id="376" r:id="rId39"/>
    <p:sldId id="377" r:id="rId40"/>
    <p:sldId id="382" r:id="rId41"/>
    <p:sldId id="384" r:id="rId42"/>
    <p:sldId id="386" r:id="rId43"/>
    <p:sldId id="385" r:id="rId44"/>
    <p:sldId id="383" r:id="rId45"/>
    <p:sldId id="387" r:id="rId46"/>
    <p:sldId id="388" r:id="rId47"/>
    <p:sldId id="389" r:id="rId48"/>
    <p:sldId id="390" r:id="rId49"/>
    <p:sldId id="391" r:id="rId50"/>
    <p:sldId id="392" r:id="rId51"/>
    <p:sldId id="393" r:id="rId52"/>
    <p:sldId id="394" r:id="rId53"/>
    <p:sldId id="395" r:id="rId54"/>
    <p:sldId id="396" r:id="rId55"/>
    <p:sldId id="397" r:id="rId56"/>
    <p:sldId id="398" r:id="rId57"/>
    <p:sldId id="399" r:id="rId58"/>
    <p:sldId id="400" r:id="rId59"/>
    <p:sldId id="401" r:id="rId60"/>
    <p:sldId id="402" r:id="rId61"/>
  </p:sldIdLst>
  <p:sldSz cx="9144000" cy="6858000" type="screen4x3"/>
  <p:notesSz cx="6858000" cy="9144000"/>
  <p:defaultTextStyle>
    <a:defPPr>
      <a:defRPr lang="en-US"/>
    </a:defPPr>
    <a:lvl1pPr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5pPr>
    <a:lvl6pPr marL="2286000" algn="l" defTabSz="457200" rtl="0" eaLnBrk="1" latinLnBrk="0" hangingPunct="1">
      <a:defRPr sz="2400" kern="1200">
        <a:solidFill>
          <a:schemeClr val="tx1"/>
        </a:solidFill>
        <a:latin typeface="Arial" charset="0"/>
        <a:ea typeface="ＭＳ Ｐゴシック" charset="-128"/>
        <a:cs typeface="ＭＳ Ｐゴシック" charset="-128"/>
      </a:defRPr>
    </a:lvl6pPr>
    <a:lvl7pPr marL="2743200" algn="l" defTabSz="457200" rtl="0" eaLnBrk="1" latinLnBrk="0" hangingPunct="1">
      <a:defRPr sz="2400" kern="1200">
        <a:solidFill>
          <a:schemeClr val="tx1"/>
        </a:solidFill>
        <a:latin typeface="Arial" charset="0"/>
        <a:ea typeface="ＭＳ Ｐゴシック" charset="-128"/>
        <a:cs typeface="ＭＳ Ｐゴシック" charset="-128"/>
      </a:defRPr>
    </a:lvl7pPr>
    <a:lvl8pPr marL="3200400" algn="l" defTabSz="457200" rtl="0" eaLnBrk="1" latinLnBrk="0" hangingPunct="1">
      <a:defRPr sz="2400" kern="1200">
        <a:solidFill>
          <a:schemeClr val="tx1"/>
        </a:solidFill>
        <a:latin typeface="Arial" charset="0"/>
        <a:ea typeface="ＭＳ Ｐゴシック" charset="-128"/>
        <a:cs typeface="ＭＳ Ｐゴシック" charset="-128"/>
      </a:defRPr>
    </a:lvl8pPr>
    <a:lvl9pPr marL="3657600" algn="l" defTabSz="457200" rtl="0" eaLnBrk="1" latinLnBrk="0" hangingPunct="1">
      <a:defRPr sz="2400"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clrMode="bw" scaleToFitPaper="1" frameSlides="1"/>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Objects="1">
      <p:cViewPr varScale="1">
        <p:scale>
          <a:sx n="75" d="100"/>
          <a:sy n="75" d="100"/>
        </p:scale>
        <p:origin x="1666" y="48"/>
      </p:cViewPr>
      <p:guideLst>
        <p:guide orient="horz" pos="2160"/>
        <p:guide pos="2880"/>
      </p:guideLst>
    </p:cSldViewPr>
  </p:slideViewPr>
  <p:notesTextViewPr>
    <p:cViewPr>
      <p:scale>
        <a:sx n="100" d="100"/>
        <a:sy n="100" d="100"/>
      </p:scale>
      <p:origin x="0" y="0"/>
    </p:cViewPr>
  </p:notesTextViewPr>
  <p:sorterViewPr>
    <p:cViewPr>
      <p:scale>
        <a:sx n="150" d="100"/>
        <a:sy n="15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handoutMaster" Target="handoutMasters/handoutMaster1.xml"/><Relationship Id="rId68"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69" Type="http://schemas.openxmlformats.org/officeDocument/2006/relationships/customXml" Target="../customXml/item2.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70"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F13E72A6-F1CE-9A44-92E1-BCD7317752E8}" type="datetime1">
              <a:rPr lang="en-US"/>
              <a:pPr>
                <a:defRPr/>
              </a:pPr>
              <a:t>4/15/2024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03440264-03AB-7A44-911E-26A2AEFC15F4}" type="slidenum">
              <a:rPr lang="en-US"/>
              <a:pPr>
                <a:defRPr/>
              </a:pPr>
              <a:t>‹#›</a:t>
            </a:fld>
            <a:endParaRPr lang="en-US"/>
          </a:p>
        </p:txBody>
      </p:sp>
    </p:spTree>
    <p:extLst>
      <p:ext uri="{BB962C8B-B14F-4D97-AF65-F5344CB8AC3E}">
        <p14:creationId xmlns:p14="http://schemas.microsoft.com/office/powerpoint/2010/main" val="25121048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EB352ED9-E653-9A47-B7A3-C5AB53D5C0B6}" type="datetime1">
              <a:rPr lang="en-US"/>
              <a:pPr>
                <a:defRPr/>
              </a:pPr>
              <a:t>4/15/2024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460DBBD1-181E-744E-89E7-45F0EE4D9123}" type="slidenum">
              <a:rPr lang="en-US"/>
              <a:pPr>
                <a:defRPr/>
              </a:pPr>
              <a:t>‹#›</a:t>
            </a:fld>
            <a:endParaRPr lang="en-US"/>
          </a:p>
        </p:txBody>
      </p:sp>
    </p:spTree>
    <p:extLst>
      <p:ext uri="{BB962C8B-B14F-4D97-AF65-F5344CB8AC3E}">
        <p14:creationId xmlns:p14="http://schemas.microsoft.com/office/powerpoint/2010/main" val="557350352"/>
      </p:ext>
    </p:extLst>
  </p:cSld>
  <p:clrMap bg1="lt1" tx1="dk1" bg2="lt2" tx2="dk2" accent1="accent1" accent2="accent2" accent3="accent3" accent4="accent4" accent5="accent5" accent6="accent6" hlink="hlink" folHlink="folHlink"/>
  <p:hf hdr="0" ftr="0" dt="0"/>
  <p:notesStyle>
    <a:lvl1pPr algn="l" defTabSz="457200" rtl="0" fontAlgn="base">
      <a:spcBef>
        <a:spcPct val="30000"/>
      </a:spcBef>
      <a:spcAft>
        <a:spcPct val="0"/>
      </a:spcAft>
      <a:defRPr sz="1200" kern="1200">
        <a:solidFill>
          <a:schemeClr val="tx1"/>
        </a:solidFill>
        <a:latin typeface="+mn-lt"/>
        <a:ea typeface="ＭＳ Ｐゴシック" charset="-128"/>
        <a:cs typeface="ＭＳ Ｐゴシック" charset="-128"/>
      </a:defRPr>
    </a:lvl1pPr>
    <a:lvl2pPr marL="457200" algn="l" defTabSz="457200" rtl="0" fontAlgn="base">
      <a:spcBef>
        <a:spcPct val="30000"/>
      </a:spcBef>
      <a:spcAft>
        <a:spcPct val="0"/>
      </a:spcAft>
      <a:defRPr sz="1200" kern="1200">
        <a:solidFill>
          <a:schemeClr val="tx1"/>
        </a:solidFill>
        <a:latin typeface="+mn-lt"/>
        <a:ea typeface="ＭＳ Ｐゴシック" charset="-128"/>
        <a:cs typeface="+mn-cs"/>
      </a:defRPr>
    </a:lvl2pPr>
    <a:lvl3pPr marL="914400" algn="l" defTabSz="457200" rtl="0" fontAlgn="base">
      <a:spcBef>
        <a:spcPct val="30000"/>
      </a:spcBef>
      <a:spcAft>
        <a:spcPct val="0"/>
      </a:spcAft>
      <a:defRPr sz="1200" kern="1200">
        <a:solidFill>
          <a:schemeClr val="tx1"/>
        </a:solidFill>
        <a:latin typeface="+mn-lt"/>
        <a:ea typeface="ＭＳ Ｐゴシック" charset="-128"/>
        <a:cs typeface="+mn-cs"/>
      </a:defRPr>
    </a:lvl3pPr>
    <a:lvl4pPr marL="1371600" algn="l" defTabSz="457200" rtl="0" fontAlgn="base">
      <a:spcBef>
        <a:spcPct val="30000"/>
      </a:spcBef>
      <a:spcAft>
        <a:spcPct val="0"/>
      </a:spcAft>
      <a:defRPr sz="1200" kern="1200">
        <a:solidFill>
          <a:schemeClr val="tx1"/>
        </a:solidFill>
        <a:latin typeface="+mn-lt"/>
        <a:ea typeface="ＭＳ Ｐゴシック" charset="-128"/>
        <a:cs typeface="+mn-cs"/>
      </a:defRPr>
    </a:lvl4pPr>
    <a:lvl5pPr marL="1828800" algn="l" defTabSz="457200" rtl="0" fontAlgn="base">
      <a:spcBef>
        <a:spcPct val="30000"/>
      </a:spcBef>
      <a:spcAft>
        <a:spcPct val="0"/>
      </a:spcAft>
      <a:defRPr sz="1200" kern="1200">
        <a:solidFill>
          <a:schemeClr val="tx1"/>
        </a:solidFill>
        <a:latin typeface="+mn-lt"/>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49</a:t>
            </a:fld>
            <a:endParaRPr lang="en-US"/>
          </a:p>
        </p:txBody>
      </p:sp>
    </p:spTree>
    <p:extLst>
      <p:ext uri="{BB962C8B-B14F-4D97-AF65-F5344CB8AC3E}">
        <p14:creationId xmlns:p14="http://schemas.microsoft.com/office/powerpoint/2010/main" val="69480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54</a:t>
            </a:fld>
            <a:endParaRPr lang="en-US"/>
          </a:p>
        </p:txBody>
      </p:sp>
    </p:spTree>
    <p:extLst>
      <p:ext uri="{BB962C8B-B14F-4D97-AF65-F5344CB8AC3E}">
        <p14:creationId xmlns:p14="http://schemas.microsoft.com/office/powerpoint/2010/main" val="37330873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B0C4763A-EFD4-7742-8F31-9C2F9300C28A}" type="slidenum">
              <a:rPr lang="en-US" smtClean="0"/>
              <a:pPr>
                <a:defRPr/>
              </a:pPr>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825F70CE-84E9-D04C-9B15-10C693AA0F2A}" type="slidenum">
              <a:rPr lang="en-US" smtClean="0"/>
              <a:pPr>
                <a:defRPr/>
              </a:pPr>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87BA459C-C1F9-AB4D-8E61-68C53B56A064}" type="slidenum">
              <a:rPr lang="en-US" smtClean="0"/>
              <a:pPr>
                <a:defRPr/>
              </a:pPr>
              <a:t>‹#›</a:t>
            </a:fld>
            <a:endParaRPr lang="en-US"/>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7" name="Slide Number Placeholder 5"/>
          <p:cNvSpPr>
            <a:spLocks noGrp="1"/>
          </p:cNvSpPr>
          <p:nvPr>
            <p:ph type="sldNum" sz="quarter" idx="12"/>
          </p:nvPr>
        </p:nvSpPr>
        <p:spPr/>
        <p:txBody>
          <a:bodyPr/>
          <a:lstStyle>
            <a:lvl1pPr>
              <a:defRPr/>
            </a:lvl1pPr>
          </a:lstStyle>
          <a:p>
            <a:pPr>
              <a:defRPr/>
            </a:pPr>
            <a:fld id="{9AFB4A4D-A64F-7740-9E0E-188E9BA474F0}" type="slidenum">
              <a:rPr lang="en-US" smtClean="0"/>
              <a:pPr>
                <a:defRPr/>
              </a:pPr>
              <a:t>‹#›</a:t>
            </a:fld>
            <a:endParaRPr lang="en-US"/>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9" name="Slide Number Placeholder 5"/>
          <p:cNvSpPr>
            <a:spLocks noGrp="1"/>
          </p:cNvSpPr>
          <p:nvPr>
            <p:ph type="sldNum" sz="quarter" idx="12"/>
          </p:nvPr>
        </p:nvSpPr>
        <p:spPr/>
        <p:txBody>
          <a:bodyPr/>
          <a:lstStyle>
            <a:lvl1pPr>
              <a:defRPr/>
            </a:lvl1pPr>
          </a:lstStyle>
          <a:p>
            <a:pPr>
              <a:defRPr/>
            </a:pPr>
            <a:fld id="{8DAA6009-9928-FF4C-9FC0-9A5BA7AB80BB}" type="slidenum">
              <a:rPr lang="en-US" smtClean="0"/>
              <a:pPr>
                <a:defRPr/>
              </a:pPr>
              <a:t>‹#›</a:t>
            </a:fld>
            <a:endParaRPr lang="en-US"/>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5" name="Slide Number Placeholder 5"/>
          <p:cNvSpPr>
            <a:spLocks noGrp="1"/>
          </p:cNvSpPr>
          <p:nvPr>
            <p:ph type="sldNum" sz="quarter" idx="12"/>
          </p:nvPr>
        </p:nvSpPr>
        <p:spPr/>
        <p:txBody>
          <a:bodyPr/>
          <a:lstStyle>
            <a:lvl1pPr>
              <a:defRPr/>
            </a:lvl1pPr>
          </a:lstStyle>
          <a:p>
            <a:pPr>
              <a:defRPr/>
            </a:pPr>
            <a:fld id="{7DCDB1BE-A08E-2A4A-80F9-ED5208CC2745}" type="slidenum">
              <a:rPr lang="en-US" smtClean="0"/>
              <a:pPr>
                <a:defRPr/>
              </a:pPr>
              <a:t>‹#›</a:t>
            </a:fld>
            <a:endParaRPr lang="en-US"/>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4" name="Slide Number Placeholder 5"/>
          <p:cNvSpPr>
            <a:spLocks noGrp="1"/>
          </p:cNvSpPr>
          <p:nvPr>
            <p:ph type="sldNum" sz="quarter" idx="12"/>
          </p:nvPr>
        </p:nvSpPr>
        <p:spPr/>
        <p:txBody>
          <a:bodyPr/>
          <a:lstStyle>
            <a:lvl1pPr>
              <a:defRPr/>
            </a:lvl1pPr>
          </a:lstStyle>
          <a:p>
            <a:pPr>
              <a:defRPr/>
            </a:pPr>
            <a:fld id="{2CA09BA1-70B4-4A48-A4C4-6DB291E465CB}" type="slidenum">
              <a:rPr lang="en-US" smtClean="0"/>
              <a:pPr>
                <a:defRPr/>
              </a:pPr>
              <a:t>‹#›</a:t>
            </a:fld>
            <a:endParaRPr lang="en-US"/>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7" name="Slide Number Placeholder 5"/>
          <p:cNvSpPr>
            <a:spLocks noGrp="1"/>
          </p:cNvSpPr>
          <p:nvPr>
            <p:ph type="sldNum" sz="quarter" idx="12"/>
          </p:nvPr>
        </p:nvSpPr>
        <p:spPr/>
        <p:txBody>
          <a:bodyPr/>
          <a:lstStyle>
            <a:lvl1pPr>
              <a:defRPr/>
            </a:lvl1pPr>
          </a:lstStyle>
          <a:p>
            <a:pPr>
              <a:defRPr/>
            </a:pPr>
            <a:fld id="{AC48FB37-48D1-0F43-9835-C4ADFC9E29C1}" type="slidenum">
              <a:rPr lang="en-US" smtClean="0"/>
              <a:pPr>
                <a:defRPr/>
              </a:pPr>
              <a:t>‹#›</a:t>
            </a:fld>
            <a:endParaRPr lang="en-US"/>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7" name="Slide Number Placeholder 5"/>
          <p:cNvSpPr>
            <a:spLocks noGrp="1"/>
          </p:cNvSpPr>
          <p:nvPr>
            <p:ph type="sldNum" sz="quarter" idx="12"/>
          </p:nvPr>
        </p:nvSpPr>
        <p:spPr/>
        <p:txBody>
          <a:bodyPr/>
          <a:lstStyle>
            <a:lvl1pPr>
              <a:defRPr/>
            </a:lvl1pPr>
          </a:lstStyle>
          <a:p>
            <a:pPr>
              <a:defRPr/>
            </a:pPr>
            <a:fld id="{32B5C7A3-6224-2444-BEEE-16F152F7EB8A}" type="slidenum">
              <a:rPr lang="en-US" smtClean="0"/>
              <a:pPr>
                <a:defRPr/>
              </a:pPr>
              <a:t>‹#›</a:t>
            </a:fld>
            <a:endParaRPr lang="en-US"/>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44887004-E5E5-6642-9C91-F2E102A03E8F}" type="slidenum">
              <a:rPr lang="en-US" smtClean="0"/>
              <a:pPr>
                <a:defRPr/>
              </a:pPr>
              <a:t>‹#›</a:t>
            </a:fld>
            <a:endParaRPr lang="en-US"/>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76C17DF0-9E2E-E045-840A-782E3E137E64}" type="slidenum">
              <a:rPr lang="en-US" smtClean="0"/>
              <a:pPr>
                <a:defRPr/>
              </a:pPr>
              <a:t>‹#›</a:t>
            </a:fld>
            <a:endParaRPr lang="en-US"/>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r>
              <a:rPr lang="en-GB"/>
              <a:t>30/10/2014</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a:t>Chapter 4 Requirements Engineering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4606AE16-8D53-A649-9482-7C8DBD7175B3}" type="slidenum">
              <a:rPr lang="en-US" smtClean="0"/>
              <a:pPr>
                <a:defRPr/>
              </a:pPr>
              <a:t>‹#›</a:t>
            </a:fld>
            <a:endParaRPr lang="en-US"/>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package" Target="../embeddings/Microsoft_Word_Document.docx"/><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package" Target="../embeddings/Microsoft_Word_Document1.docx"/><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ctrTitle"/>
          </p:nvPr>
        </p:nvSpPr>
        <p:spPr/>
        <p:txBody>
          <a:bodyPr/>
          <a:lstStyle/>
          <a:p>
            <a:pPr algn="ctr" eaLnBrk="1" hangingPunct="1"/>
            <a:r>
              <a:rPr lang="en-US" dirty="0"/>
              <a:t>Software Engineering</a:t>
            </a:r>
            <a:br>
              <a:rPr lang="en-US" dirty="0"/>
            </a:br>
            <a:r>
              <a:rPr lang="en-US" dirty="0"/>
              <a:t>Week 4</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r>
              <a:rPr lang="en-US" dirty="0"/>
              <a:t>Requirements and Requirements Specification.</a:t>
            </a:r>
            <a:endParaRPr lang="en-US" dirty="0">
              <a:ea typeface="+mn-ea"/>
              <a:cs typeface="+mn-cs"/>
            </a:endParaRP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B0C4763A-EFD4-7742-8F31-9C2F9300C28A}" type="slidenum">
              <a:rPr lang="en-US" smtClean="0"/>
              <a:pPr>
                <a:defRPr/>
              </a:pPr>
              <a:t>1</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Functional and non-functional requirements</a:t>
            </a:r>
            <a:endParaRPr lang="en-GB"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noFill/>
          <a:ln/>
        </p:spPr>
        <p:txBody>
          <a:bodyPr lIns="90487" tIns="44450" rIns="90487" bIns="44450"/>
          <a:lstStyle/>
          <a:p>
            <a:r>
              <a:rPr lang="en-GB"/>
              <a:t>What is a requirement?</a:t>
            </a:r>
          </a:p>
        </p:txBody>
      </p:sp>
      <p:sp>
        <p:nvSpPr>
          <p:cNvPr id="8195" name="Rectangle 3"/>
          <p:cNvSpPr>
            <a:spLocks noGrp="1" noChangeArrowheads="1"/>
          </p:cNvSpPr>
          <p:nvPr>
            <p:ph idx="1"/>
          </p:nvPr>
        </p:nvSpPr>
        <p:spPr>
          <a:noFill/>
          <a:ln/>
        </p:spPr>
        <p:txBody>
          <a:bodyPr lIns="90487" tIns="44450" rIns="90487" bIns="44450"/>
          <a:lstStyle/>
          <a:p>
            <a:pPr>
              <a:lnSpc>
                <a:spcPct val="90000"/>
              </a:lnSpc>
            </a:pPr>
            <a:r>
              <a:rPr lang="en-GB" dirty="0"/>
              <a:t>It may range from a high-level abstract statement of a service or of a system constraint to a detailed mathematical functional specification.</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533400" y="304800"/>
            <a:ext cx="8915400" cy="1104900"/>
          </a:xfrm>
          <a:noFill/>
          <a:ln/>
        </p:spPr>
        <p:txBody>
          <a:bodyPr lIns="90487" tIns="44450" rIns="90487" bIns="44450"/>
          <a:lstStyle/>
          <a:p>
            <a:r>
              <a:rPr lang="en-GB"/>
              <a:t>Types of requirement</a:t>
            </a:r>
          </a:p>
        </p:txBody>
      </p:sp>
      <p:sp>
        <p:nvSpPr>
          <p:cNvPr id="9219" name="Rectangle 3"/>
          <p:cNvSpPr>
            <a:spLocks noGrp="1" noChangeArrowheads="1"/>
          </p:cNvSpPr>
          <p:nvPr>
            <p:ph idx="1"/>
          </p:nvPr>
        </p:nvSpPr>
        <p:spPr>
          <a:noFill/>
          <a:ln/>
        </p:spPr>
        <p:txBody>
          <a:bodyPr lIns="90487" tIns="44450" rIns="90487" bIns="44450"/>
          <a:lstStyle/>
          <a:p>
            <a:r>
              <a:rPr lang="en-GB"/>
              <a:t>User requirements</a:t>
            </a:r>
          </a:p>
          <a:p>
            <a:pPr lvl="1"/>
            <a:r>
              <a:rPr lang="en-GB"/>
              <a:t>Statements in natural language plus diagrams of the services the system provides and its operational constraints. Written for customers.</a:t>
            </a:r>
          </a:p>
          <a:p>
            <a:r>
              <a:rPr lang="en-GB"/>
              <a:t>System requirements</a:t>
            </a:r>
          </a:p>
          <a:p>
            <a:pPr lvl="1"/>
            <a:r>
              <a:rPr lang="en-GB"/>
              <a:t>A structured document setting out detailed descriptions of the system’s functions, services and operational constraints. Defines what should be implemented so may be part of a contract between client and contractor.</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dirty="0"/>
              <a:t>User and system requirements</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a:t>
            </a:fld>
            <a:endParaRPr lang="en-US"/>
          </a:p>
        </p:txBody>
      </p:sp>
      <p:pic>
        <p:nvPicPr>
          <p:cNvPr id="2" name="Picture 1" descr="4.1 UserSysReq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2120" y="1556791"/>
            <a:ext cx="6262207" cy="4830845"/>
          </a:xfrm>
          <a:prstGeom prst="rect">
            <a:avLst/>
          </a:prstGeom>
        </p:spPr>
      </p:pic>
      <p:sp>
        <p:nvSpPr>
          <p:cNvPr id="3" name="Date Placeholder 2"/>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dirty="0"/>
              <a:t>Readers of different types of requirements specification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a:t>
            </a:fld>
            <a:endParaRPr lang="en-US"/>
          </a:p>
        </p:txBody>
      </p:sp>
      <p:pic>
        <p:nvPicPr>
          <p:cNvPr id="4" name="Picture 3" descr="4.2 ReqReaders.eps"/>
          <p:cNvPicPr>
            <a:picLocks noChangeAspect="1"/>
          </p:cNvPicPr>
          <p:nvPr/>
        </p:nvPicPr>
        <p:blipFill>
          <a:blip r:embed="rId2"/>
          <a:stretch>
            <a:fillRect/>
          </a:stretch>
        </p:blipFill>
        <p:spPr>
          <a:xfrm>
            <a:off x="1219200" y="2057400"/>
            <a:ext cx="6531232" cy="3651553"/>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stakeholders</a:t>
            </a:r>
          </a:p>
        </p:txBody>
      </p:sp>
      <p:sp>
        <p:nvSpPr>
          <p:cNvPr id="3" name="Content Placeholder 2"/>
          <p:cNvSpPr>
            <a:spLocks noGrp="1"/>
          </p:cNvSpPr>
          <p:nvPr>
            <p:ph idx="1"/>
          </p:nvPr>
        </p:nvSpPr>
        <p:spPr/>
        <p:txBody>
          <a:bodyPr/>
          <a:lstStyle/>
          <a:p>
            <a:r>
              <a:rPr lang="en-US" dirty="0"/>
              <a:t>Any person or organization who is affected by the system in some way and so who has a legitimate interest</a:t>
            </a:r>
          </a:p>
          <a:p>
            <a:r>
              <a:rPr lang="en-US" dirty="0"/>
              <a:t>Stakeholder types</a:t>
            </a:r>
          </a:p>
          <a:p>
            <a:pPr lvl="1"/>
            <a:r>
              <a:rPr lang="en-US" dirty="0"/>
              <a:t>End users</a:t>
            </a:r>
          </a:p>
          <a:p>
            <a:pPr lvl="1"/>
            <a:r>
              <a:rPr lang="en-US" dirty="0"/>
              <a:t>System managers</a:t>
            </a:r>
          </a:p>
          <a:p>
            <a:pPr lvl="1"/>
            <a:r>
              <a:rPr lang="en-US" dirty="0"/>
              <a:t>System owners</a:t>
            </a:r>
          </a:p>
          <a:p>
            <a:pPr lvl="1"/>
            <a:r>
              <a:rPr lang="en-US" dirty="0"/>
              <a:t>External stakeholders</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670292469"/>
      </p:ext>
    </p:extLst>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Stakeholders in the Mentcare system</a:t>
            </a:r>
          </a:p>
        </p:txBody>
      </p:sp>
      <p:sp>
        <p:nvSpPr>
          <p:cNvPr id="3" name="Content Placeholder 2"/>
          <p:cNvSpPr>
            <a:spLocks noGrp="1"/>
          </p:cNvSpPr>
          <p:nvPr>
            <p:ph idx="1"/>
          </p:nvPr>
        </p:nvSpPr>
        <p:spPr/>
        <p:txBody>
          <a:bodyPr/>
          <a:lstStyle/>
          <a:p>
            <a:r>
              <a:rPr lang="en-US" dirty="0"/>
              <a:t>Patients</a:t>
            </a:r>
            <a:r>
              <a:rPr lang="en-US" i="1" dirty="0"/>
              <a:t> </a:t>
            </a:r>
            <a:r>
              <a:rPr lang="en-US" dirty="0"/>
              <a:t>whose information is recorded in the system.</a:t>
            </a:r>
            <a:endParaRPr lang="en-GB" dirty="0"/>
          </a:p>
          <a:p>
            <a:r>
              <a:rPr lang="en-US" dirty="0"/>
              <a:t>Doctors</a:t>
            </a:r>
            <a:r>
              <a:rPr lang="en-US" i="1" dirty="0"/>
              <a:t> </a:t>
            </a:r>
            <a:r>
              <a:rPr lang="en-US" dirty="0"/>
              <a:t>who are responsible for assessing and treating patients.</a:t>
            </a:r>
            <a:endParaRPr lang="en-GB" dirty="0"/>
          </a:p>
          <a:p>
            <a:r>
              <a:rPr lang="en-US" dirty="0"/>
              <a:t>Nurses who coordinate the consultations with doctors and administer some treatments.</a:t>
            </a:r>
            <a:endParaRPr lang="en-GB" dirty="0"/>
          </a:p>
          <a:p>
            <a:r>
              <a:rPr lang="en-US" dirty="0"/>
              <a:t>Medical receptionists</a:t>
            </a:r>
            <a:r>
              <a:rPr lang="en-US" i="1" dirty="0"/>
              <a:t> </a:t>
            </a:r>
            <a:r>
              <a:rPr lang="en-US" dirty="0"/>
              <a:t>who manage patients’ appointments.</a:t>
            </a:r>
            <a:endParaRPr lang="en-GB" dirty="0"/>
          </a:p>
          <a:p>
            <a:r>
              <a:rPr lang="en-US" dirty="0"/>
              <a:t>IT staff who are responsible for installing and maintaining the system.</a:t>
            </a:r>
            <a:endParaRPr lang="en-GB" dirty="0"/>
          </a:p>
          <a:p>
            <a:pPr>
              <a:buNone/>
            </a:pPr>
            <a:r>
              <a:rPr lang="en-US" dirty="0"/>
              <a:t>	</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453475377"/>
      </p:ext>
    </p:extLst>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Stakeholders in the Mentcare system</a:t>
            </a:r>
          </a:p>
        </p:txBody>
      </p:sp>
      <p:sp>
        <p:nvSpPr>
          <p:cNvPr id="3" name="Content Placeholder 2"/>
          <p:cNvSpPr>
            <a:spLocks noGrp="1"/>
          </p:cNvSpPr>
          <p:nvPr>
            <p:ph idx="1"/>
          </p:nvPr>
        </p:nvSpPr>
        <p:spPr/>
        <p:txBody>
          <a:bodyPr/>
          <a:lstStyle/>
          <a:p>
            <a:r>
              <a:rPr lang="en-US" dirty="0"/>
              <a:t>A medical ethics manager who must ensure that the system meets current ethical guidelines for patient care.</a:t>
            </a:r>
            <a:endParaRPr lang="en-GB" dirty="0"/>
          </a:p>
          <a:p>
            <a:r>
              <a:rPr lang="en-US" dirty="0"/>
              <a:t>Health care managers</a:t>
            </a:r>
            <a:r>
              <a:rPr lang="en-US" i="1" dirty="0"/>
              <a:t> </a:t>
            </a:r>
            <a:r>
              <a:rPr lang="en-US" dirty="0"/>
              <a:t>who obtain management information from the system.</a:t>
            </a:r>
            <a:endParaRPr lang="en-GB" dirty="0"/>
          </a:p>
          <a:p>
            <a:r>
              <a:rPr lang="en-US" dirty="0"/>
              <a:t>Medical records staff</a:t>
            </a:r>
            <a:r>
              <a:rPr lang="en-US" i="1" dirty="0"/>
              <a:t> </a:t>
            </a:r>
            <a:r>
              <a:rPr lang="en-US" dirty="0"/>
              <a:t>who are responsible for ensuring that system information can be maintained and preserved, and that record keeping procedures have been properly implemented.</a:t>
            </a:r>
            <a:endParaRPr lang="en-GB" dirty="0"/>
          </a:p>
          <a:p>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9</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743196010"/>
      </p:ext>
    </p:extLst>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methods and requirements</a:t>
            </a:r>
          </a:p>
        </p:txBody>
      </p:sp>
      <p:sp>
        <p:nvSpPr>
          <p:cNvPr id="3" name="Content Placeholder 2"/>
          <p:cNvSpPr>
            <a:spLocks noGrp="1"/>
          </p:cNvSpPr>
          <p:nvPr>
            <p:ph idx="1"/>
          </p:nvPr>
        </p:nvSpPr>
        <p:spPr/>
        <p:txBody>
          <a:bodyPr/>
          <a:lstStyle/>
          <a:p>
            <a:r>
              <a:rPr lang="en-US" dirty="0"/>
              <a:t>Many agile methods argue that producing detailed system requirements is a waste of time as requirements change so quickly.</a:t>
            </a:r>
          </a:p>
          <a:p>
            <a:r>
              <a:rPr lang="en-US" dirty="0"/>
              <a:t>The requirements document is therefore always out of date.</a:t>
            </a:r>
          </a:p>
          <a:p>
            <a:r>
              <a:rPr lang="en-US" dirty="0"/>
              <a:t>Agile methods usually use incremental requirements engineering and may express requirements as ‘user stories’ (discussed in Chapter 3).</a:t>
            </a:r>
          </a:p>
          <a:p>
            <a:r>
              <a:rPr lang="en-US" dirty="0"/>
              <a:t>This is practical for business systems but problematic for systems that require pre-delivery analysis (e.g. critical systems) or systems developed by several teams.</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10</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036408685"/>
      </p:ext>
    </p:extLst>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a:t>Functional and non-functional requirements</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11</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304085576"/>
      </p:ext>
    </p:extLst>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81000" y="266700"/>
            <a:ext cx="8382000" cy="1104900"/>
          </a:xfrm>
        </p:spPr>
        <p:txBody>
          <a:bodyPr/>
          <a:lstStyle/>
          <a:p>
            <a:r>
              <a:rPr lang="en-GB" dirty="0"/>
              <a:t>Functional and non-functional requirements</a:t>
            </a:r>
          </a:p>
        </p:txBody>
      </p:sp>
      <p:sp>
        <p:nvSpPr>
          <p:cNvPr id="34819" name="Rectangle 3"/>
          <p:cNvSpPr>
            <a:spLocks noGrp="1" noChangeArrowheads="1"/>
          </p:cNvSpPr>
          <p:nvPr>
            <p:ph idx="1"/>
          </p:nvPr>
        </p:nvSpPr>
        <p:spPr>
          <a:xfrm>
            <a:off x="457200" y="1798637"/>
            <a:ext cx="8229600" cy="4525963"/>
          </a:xfrm>
        </p:spPr>
        <p:txBody>
          <a:bodyPr/>
          <a:lstStyle/>
          <a:p>
            <a:pPr>
              <a:lnSpc>
                <a:spcPct val="90000"/>
              </a:lnSpc>
            </a:pPr>
            <a:r>
              <a:rPr lang="en-GB" sz="2400" dirty="0"/>
              <a:t>Functional requirements</a:t>
            </a:r>
          </a:p>
          <a:p>
            <a:pPr lvl="1">
              <a:lnSpc>
                <a:spcPct val="90000"/>
              </a:lnSpc>
            </a:pPr>
            <a:r>
              <a:rPr lang="en-GB" sz="2000" dirty="0"/>
              <a:t>Statements of services the system should provide, how the system should react to particular inputs and how the system should behave in particular situations.</a:t>
            </a:r>
          </a:p>
          <a:p>
            <a:pPr lvl="1">
              <a:lnSpc>
                <a:spcPct val="90000"/>
              </a:lnSpc>
            </a:pPr>
            <a:r>
              <a:rPr lang="en-GB" dirty="0"/>
              <a:t>May state what the system should not do.</a:t>
            </a:r>
            <a:endParaRPr lang="en-GB" sz="2000" dirty="0"/>
          </a:p>
          <a:p>
            <a:pPr>
              <a:lnSpc>
                <a:spcPct val="90000"/>
              </a:lnSpc>
            </a:pPr>
            <a:r>
              <a:rPr lang="en-GB" sz="2400" dirty="0"/>
              <a:t>Non-functional requirements</a:t>
            </a:r>
          </a:p>
          <a:p>
            <a:pPr lvl="1">
              <a:lnSpc>
                <a:spcPct val="90000"/>
              </a:lnSpc>
            </a:pPr>
            <a:r>
              <a:rPr lang="en-GB" dirty="0"/>
              <a:t>C</a:t>
            </a:r>
            <a:r>
              <a:rPr lang="en-GB" sz="2000" dirty="0"/>
              <a:t>onstraints on the services or functions offered by the system such as timing constraints, constraints on the development process, standards, etc.</a:t>
            </a:r>
          </a:p>
          <a:p>
            <a:pPr lvl="1">
              <a:lnSpc>
                <a:spcPct val="90000"/>
              </a:lnSpc>
            </a:pPr>
            <a:r>
              <a:rPr lang="en-GB" dirty="0"/>
              <a:t>Often apply to the system as a whole rather than individual features or services.</a:t>
            </a:r>
          </a:p>
          <a:p>
            <a:pPr>
              <a:lnSpc>
                <a:spcPct val="90000"/>
              </a:lnSpc>
            </a:pPr>
            <a:r>
              <a:rPr lang="en-GB" sz="2400" dirty="0"/>
              <a:t>Domain requirements</a:t>
            </a:r>
          </a:p>
          <a:p>
            <a:pPr lvl="1">
              <a:lnSpc>
                <a:spcPct val="90000"/>
              </a:lnSpc>
            </a:pPr>
            <a:r>
              <a:rPr lang="en-GB" sz="2000" dirty="0"/>
              <a:t>Constraints on the system from the domain </a:t>
            </a:r>
            <a:r>
              <a:rPr lang="en-GB" dirty="0"/>
              <a:t>of operation</a:t>
            </a:r>
            <a:endParaRPr lang="en-GB" sz="2000"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12</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GB"/>
              <a:t>Functional requirements</a:t>
            </a:r>
          </a:p>
        </p:txBody>
      </p:sp>
      <p:sp>
        <p:nvSpPr>
          <p:cNvPr id="39939" name="Rectangle 3"/>
          <p:cNvSpPr>
            <a:spLocks noGrp="1" noChangeArrowheads="1"/>
          </p:cNvSpPr>
          <p:nvPr>
            <p:ph idx="1"/>
          </p:nvPr>
        </p:nvSpPr>
        <p:spPr/>
        <p:txBody>
          <a:bodyPr/>
          <a:lstStyle/>
          <a:p>
            <a:r>
              <a:rPr lang="en-GB" dirty="0"/>
              <a:t>Describe functionality or system services.</a:t>
            </a:r>
          </a:p>
          <a:p>
            <a:r>
              <a:rPr lang="en-GB" dirty="0"/>
              <a:t>Depend on the type of software, expected users and the type of system where the software is used.</a:t>
            </a:r>
          </a:p>
          <a:p>
            <a:r>
              <a:rPr lang="en-GB" dirty="0"/>
              <a:t>Functional user requirements may be high-level statements of what the system should do.</a:t>
            </a:r>
          </a:p>
          <a:p>
            <a:r>
              <a:rPr lang="en-GB" dirty="0"/>
              <a:t>Functional system requirements should describe the system services in detail.</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13</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US" dirty="0"/>
              <a:t>Mentcare system: functional requirements</a:t>
            </a:r>
          </a:p>
        </p:txBody>
      </p:sp>
      <p:sp>
        <p:nvSpPr>
          <p:cNvPr id="77827" name="Rectangle 3"/>
          <p:cNvSpPr>
            <a:spLocks noGrp="1" noChangeArrowheads="1"/>
          </p:cNvSpPr>
          <p:nvPr>
            <p:ph idx="1"/>
          </p:nvPr>
        </p:nvSpPr>
        <p:spPr/>
        <p:txBody>
          <a:bodyPr/>
          <a:lstStyle/>
          <a:p>
            <a:r>
              <a:rPr lang="en-US" dirty="0"/>
              <a:t>A user shall be able to search the appointments lists for all clinics.</a:t>
            </a:r>
            <a:endParaRPr lang="en-GB" dirty="0"/>
          </a:p>
          <a:p>
            <a:r>
              <a:rPr lang="en-US" dirty="0"/>
              <a:t>The system shall generate each day, for each clinic, a list of patients who are expected to attend appointments that day. </a:t>
            </a:r>
            <a:endParaRPr lang="en-GB" dirty="0"/>
          </a:p>
          <a:p>
            <a:r>
              <a:rPr lang="en-US" dirty="0"/>
              <a:t>Each staff member using the system shall be uniquely identified by his or her 8-digit employee number.</a:t>
            </a:r>
            <a:r>
              <a:rPr lang="en-GB" dirty="0"/>
              <a:t> </a:t>
            </a:r>
            <a:endParaRPr lang="en-US"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14</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GB" dirty="0"/>
              <a:t>Requirements imprecision</a:t>
            </a:r>
          </a:p>
        </p:txBody>
      </p:sp>
      <p:sp>
        <p:nvSpPr>
          <p:cNvPr id="41987" name="Rectangle 3"/>
          <p:cNvSpPr>
            <a:spLocks noGrp="1" noChangeArrowheads="1"/>
          </p:cNvSpPr>
          <p:nvPr>
            <p:ph idx="1"/>
          </p:nvPr>
        </p:nvSpPr>
        <p:spPr/>
        <p:txBody>
          <a:bodyPr/>
          <a:lstStyle/>
          <a:p>
            <a:r>
              <a:rPr lang="en-GB" dirty="0"/>
              <a:t>Problems arise when functional requirements are not precisely stated.</a:t>
            </a:r>
          </a:p>
          <a:p>
            <a:r>
              <a:rPr lang="en-GB" dirty="0"/>
              <a:t>Ambiguous requirements may be interpreted in different ways by developers and users.</a:t>
            </a:r>
          </a:p>
          <a:p>
            <a:r>
              <a:rPr lang="en-GB" dirty="0"/>
              <a:t>Consider the term ‘search’ in requirement 1</a:t>
            </a:r>
          </a:p>
          <a:p>
            <a:pPr lvl="1"/>
            <a:r>
              <a:rPr lang="en-GB" dirty="0"/>
              <a:t>User intention – search for a patient name across all appointments in all clinics;</a:t>
            </a:r>
          </a:p>
          <a:p>
            <a:pPr lvl="1"/>
            <a:r>
              <a:rPr lang="en-GB" dirty="0"/>
              <a:t>Developer interpretation – search for a patient name in an individual clinic. User chooses clinic then search.</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15</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GB" dirty="0"/>
              <a:t>Requirements completeness and consistency</a:t>
            </a:r>
          </a:p>
        </p:txBody>
      </p:sp>
      <p:sp>
        <p:nvSpPr>
          <p:cNvPr id="43011" name="Rectangle 3"/>
          <p:cNvSpPr>
            <a:spLocks noGrp="1" noChangeArrowheads="1"/>
          </p:cNvSpPr>
          <p:nvPr>
            <p:ph idx="1"/>
          </p:nvPr>
        </p:nvSpPr>
        <p:spPr/>
        <p:txBody>
          <a:bodyPr/>
          <a:lstStyle/>
          <a:p>
            <a:r>
              <a:rPr lang="en-GB" sz="2400" dirty="0"/>
              <a:t>In principle, requirements should be both complete and consistent.</a:t>
            </a:r>
          </a:p>
          <a:p>
            <a:r>
              <a:rPr lang="en-GB" sz="2400" dirty="0"/>
              <a:t>Complete</a:t>
            </a:r>
          </a:p>
          <a:p>
            <a:pPr lvl="1"/>
            <a:r>
              <a:rPr lang="en-GB" dirty="0"/>
              <a:t>They should include descriptions of all facilities required.</a:t>
            </a:r>
          </a:p>
          <a:p>
            <a:r>
              <a:rPr lang="en-GB" sz="2400" dirty="0"/>
              <a:t>Consistent</a:t>
            </a:r>
          </a:p>
          <a:p>
            <a:pPr lvl="1"/>
            <a:r>
              <a:rPr lang="en-GB" dirty="0"/>
              <a:t>There should be no conflicts or contradictions in the descriptions of the system facilities.</a:t>
            </a:r>
          </a:p>
          <a:p>
            <a:r>
              <a:rPr lang="en-GB" sz="2400" dirty="0"/>
              <a:t>In practice, because of system and environmental complexity, it is impossible to produce a complete and consistent requirements document.</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16</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a:ln/>
        </p:spPr>
        <p:txBody>
          <a:bodyPr lIns="90487" tIns="44450" rIns="90487" bIns="44450"/>
          <a:lstStyle/>
          <a:p>
            <a:r>
              <a:rPr lang="en-GB"/>
              <a:t>Non-functional requirements</a:t>
            </a:r>
          </a:p>
        </p:txBody>
      </p:sp>
      <p:sp>
        <p:nvSpPr>
          <p:cNvPr id="35843" name="Rectangle 3"/>
          <p:cNvSpPr>
            <a:spLocks noGrp="1" noChangeArrowheads="1"/>
          </p:cNvSpPr>
          <p:nvPr>
            <p:ph idx="1"/>
          </p:nvPr>
        </p:nvSpPr>
        <p:spPr>
          <a:noFill/>
          <a:ln/>
        </p:spPr>
        <p:txBody>
          <a:bodyPr lIns="90487" tIns="44450" rIns="90487" bIns="44450"/>
          <a:lstStyle/>
          <a:p>
            <a:pPr>
              <a:lnSpc>
                <a:spcPct val="90000"/>
              </a:lnSpc>
            </a:pPr>
            <a:r>
              <a:rPr lang="en-GB" dirty="0"/>
              <a:t>These define system properties and constraints e.g. reliability, response time and storage requirements. Constraints are I/O device capability, system representations, etc.</a:t>
            </a:r>
          </a:p>
          <a:p>
            <a:pPr>
              <a:lnSpc>
                <a:spcPct val="90000"/>
              </a:lnSpc>
            </a:pPr>
            <a:r>
              <a:rPr lang="en-GB" dirty="0"/>
              <a:t>Process requirements may also be specified mandating a particular IDE, programming language or development method.</a:t>
            </a:r>
          </a:p>
          <a:p>
            <a:pPr>
              <a:lnSpc>
                <a:spcPct val="90000"/>
              </a:lnSpc>
            </a:pPr>
            <a:r>
              <a:rPr lang="en-GB" dirty="0"/>
              <a:t>Non-functional requirements may be more critical than functional requirements. If these are not met, the system may be useless.</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17</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US" dirty="0"/>
              <a:t>Types of nonfunctional requirement</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18</a:t>
            </a:fld>
            <a:endParaRPr lang="en-US"/>
          </a:p>
        </p:txBody>
      </p:sp>
      <p:pic>
        <p:nvPicPr>
          <p:cNvPr id="4" name="Picture 3" descr="4.3 Non-functionalReq.eps"/>
          <p:cNvPicPr>
            <a:picLocks noChangeAspect="1"/>
          </p:cNvPicPr>
          <p:nvPr/>
        </p:nvPicPr>
        <p:blipFill>
          <a:blip r:embed="rId2"/>
          <a:stretch>
            <a:fillRect/>
          </a:stretch>
        </p:blipFill>
        <p:spPr>
          <a:xfrm>
            <a:off x="990600" y="1911350"/>
            <a:ext cx="6915549" cy="387985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Non-functional requirements implementation</a:t>
            </a:r>
          </a:p>
        </p:txBody>
      </p:sp>
      <p:sp>
        <p:nvSpPr>
          <p:cNvPr id="3" name="Content Placeholder 2"/>
          <p:cNvSpPr>
            <a:spLocks noGrp="1"/>
          </p:cNvSpPr>
          <p:nvPr>
            <p:ph idx="1"/>
          </p:nvPr>
        </p:nvSpPr>
        <p:spPr/>
        <p:txBody>
          <a:bodyPr/>
          <a:lstStyle/>
          <a:p>
            <a:r>
              <a:rPr lang="en-US" dirty="0"/>
              <a:t>Non-functional requirements may affect the overall architecture of a system rather than the individual components. </a:t>
            </a:r>
          </a:p>
          <a:p>
            <a:pPr lvl="1"/>
            <a:r>
              <a:rPr lang="en-US" dirty="0"/>
              <a:t>For example, to ensure that performance requirements are met, you may have to organize the system to minimize communications between components.</a:t>
            </a:r>
            <a:endParaRPr lang="en-GB" dirty="0"/>
          </a:p>
          <a:p>
            <a:r>
              <a:rPr lang="en-US" dirty="0"/>
              <a:t>A single non-functional requirement, such as a security requirement, may generate a number of related functional requirements that define system services that are required. </a:t>
            </a:r>
          </a:p>
          <a:p>
            <a:pPr lvl="1"/>
            <a:r>
              <a:rPr lang="en-US" dirty="0"/>
              <a:t>It may also generate requirements that restrict existing requirements. </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19</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a:ln/>
        </p:spPr>
        <p:txBody>
          <a:bodyPr lIns="90487" tIns="44450" rIns="90487" bIns="44450"/>
          <a:lstStyle/>
          <a:p>
            <a:r>
              <a:rPr lang="en-GB"/>
              <a:t>Non-functional classifications</a:t>
            </a:r>
          </a:p>
        </p:txBody>
      </p:sp>
      <p:sp>
        <p:nvSpPr>
          <p:cNvPr id="36867" name="Rectangle 3"/>
          <p:cNvSpPr>
            <a:spLocks noGrp="1" noChangeArrowheads="1"/>
          </p:cNvSpPr>
          <p:nvPr>
            <p:ph idx="1"/>
          </p:nvPr>
        </p:nvSpPr>
        <p:spPr>
          <a:noFill/>
          <a:ln/>
        </p:spPr>
        <p:txBody>
          <a:bodyPr lIns="90487" tIns="44450" rIns="90487" bIns="44450"/>
          <a:lstStyle/>
          <a:p>
            <a:r>
              <a:rPr lang="en-GB" sz="2400"/>
              <a:t>Product requirements</a:t>
            </a:r>
          </a:p>
          <a:p>
            <a:pPr lvl="1"/>
            <a:r>
              <a:rPr lang="en-GB" sz="2000"/>
              <a:t>Requirements which specify that the delivered product must behave in a particular way e.g. execution speed, reliability, etc.</a:t>
            </a:r>
          </a:p>
          <a:p>
            <a:r>
              <a:rPr lang="en-GB" sz="2400"/>
              <a:t>Organisational requirements</a:t>
            </a:r>
          </a:p>
          <a:p>
            <a:pPr lvl="1"/>
            <a:r>
              <a:rPr lang="en-GB" sz="2000"/>
              <a:t>Requirements which are a consequence of organisational policies and procedures e.g. process standards used, implementation requirements, etc.</a:t>
            </a:r>
          </a:p>
          <a:p>
            <a:r>
              <a:rPr lang="en-GB" sz="2400"/>
              <a:t>External requirements</a:t>
            </a:r>
          </a:p>
          <a:p>
            <a:pPr lvl="1"/>
            <a:r>
              <a:rPr lang="en-GB" sz="2000"/>
              <a:t>Requirements which arise from factors which are external to the system and its development process e.g. interoperability requirements, legislative requirements, etc.</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20</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Title 1"/>
          <p:cNvSpPr>
            <a:spLocks noGrp="1"/>
          </p:cNvSpPr>
          <p:nvPr>
            <p:ph type="title"/>
          </p:nvPr>
        </p:nvSpPr>
        <p:spPr/>
        <p:txBody>
          <a:bodyPr/>
          <a:lstStyle/>
          <a:p>
            <a:pPr eaLnBrk="1" hangingPunct="1"/>
            <a:r>
              <a:rPr lang="en-US" dirty="0"/>
              <a:t>Examples of nonfunctional requirements in the </a:t>
            </a:r>
            <a:r>
              <a:rPr lang="en-GB" dirty="0"/>
              <a:t>Mentcare system</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21</a:t>
            </a:fld>
            <a:endParaRPr lang="en-US"/>
          </a:p>
        </p:txBody>
      </p:sp>
      <p:graphicFrame>
        <p:nvGraphicFramePr>
          <p:cNvPr id="4" name="Table 3"/>
          <p:cNvGraphicFramePr>
            <a:graphicFrameLocks noGrp="1"/>
          </p:cNvGraphicFramePr>
          <p:nvPr>
            <p:extLst>
              <p:ext uri="{D42A27DB-BD31-4B8C-83A1-F6EECF244321}">
                <p14:modId xmlns:p14="http://schemas.microsoft.com/office/powerpoint/2010/main" val="608666529"/>
              </p:ext>
            </p:extLst>
          </p:nvPr>
        </p:nvGraphicFramePr>
        <p:xfrm>
          <a:off x="968632" y="1905000"/>
          <a:ext cx="6781800" cy="4495800"/>
        </p:xfrm>
        <a:graphic>
          <a:graphicData uri="http://schemas.openxmlformats.org/drawingml/2006/table">
            <a:tbl>
              <a:tblPr firstRow="1" bandRow="1">
                <a:tableStyleId>{69CF1AB2-1976-4502-BF36-3FF5EA218861}</a:tableStyleId>
              </a:tblPr>
              <a:tblGrid>
                <a:gridCol w="6781800">
                  <a:extLst>
                    <a:ext uri="{9D8B030D-6E8A-4147-A177-3AD203B41FA5}">
                      <a16:colId xmlns:a16="http://schemas.microsoft.com/office/drawing/2014/main" val="20000"/>
                    </a:ext>
                  </a:extLst>
                </a:gridCol>
              </a:tblGrid>
              <a:tr h="4495800">
                <a:tc>
                  <a:txBody>
                    <a:bodyPr/>
                    <a:lstStyle/>
                    <a:p>
                      <a:r>
                        <a:rPr lang="en-GB" sz="1800" b="1" kern="1200" dirty="0"/>
                        <a:t>Product requirement</a:t>
                      </a:r>
                    </a:p>
                    <a:p>
                      <a:r>
                        <a:rPr lang="en-GB" sz="1800" b="0" kern="1200" dirty="0"/>
                        <a:t>The Mentcare system shall be available to all clinics during normal working hours (Mon–Fri, 0830–17.30). Downtime within normal working hours shall not exceed five seconds in any one day.</a:t>
                      </a:r>
                    </a:p>
                    <a:p>
                      <a:endParaRPr lang="en-GB" sz="1800" b="0" kern="1200" dirty="0"/>
                    </a:p>
                    <a:p>
                      <a:r>
                        <a:rPr lang="en-GB" sz="1800" b="1" kern="1200" dirty="0"/>
                        <a:t>Organizational requirement</a:t>
                      </a:r>
                      <a:br>
                        <a:rPr lang="en-GB" sz="1800" b="0" kern="1200" dirty="0"/>
                      </a:br>
                      <a:r>
                        <a:rPr lang="en-GB" sz="1800" b="0" kern="1200" dirty="0"/>
                        <a:t>Users of the Mentcare system shall authenticate themselves using their health authority identity card.</a:t>
                      </a:r>
                    </a:p>
                    <a:p>
                      <a:endParaRPr lang="en-GB" sz="1800" b="0" kern="1200" dirty="0"/>
                    </a:p>
                    <a:p>
                      <a:r>
                        <a:rPr lang="en-GB" sz="1800" b="1" kern="1200" dirty="0"/>
                        <a:t>External requirement</a:t>
                      </a:r>
                      <a:br>
                        <a:rPr lang="en-GB" sz="1800" b="0" kern="1200" dirty="0"/>
                      </a:br>
                      <a:r>
                        <a:rPr lang="en-GB" sz="1800" b="0" kern="1200" dirty="0"/>
                        <a:t>The system shall implement patient privacy provisions as set out in HStan-03-2006-priv. </a:t>
                      </a:r>
                    </a:p>
                    <a:p>
                      <a:endParaRPr lang="en-US" b="0" dirty="0"/>
                    </a:p>
                  </a:txBody>
                  <a:tcPr/>
                </a:tc>
                <a:extLst>
                  <a:ext uri="{0D108BD9-81ED-4DB2-BD59-A6C34878D82A}">
                    <a16:rowId xmlns:a16="http://schemas.microsoft.com/office/drawing/2014/main" val="10000"/>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Usability requirements</a:t>
            </a:r>
          </a:p>
        </p:txBody>
      </p:sp>
      <p:sp>
        <p:nvSpPr>
          <p:cNvPr id="3" name="Content Placeholder 2"/>
          <p:cNvSpPr>
            <a:spLocks noGrp="1"/>
          </p:cNvSpPr>
          <p:nvPr>
            <p:ph idx="1"/>
          </p:nvPr>
        </p:nvSpPr>
        <p:spPr/>
        <p:txBody>
          <a:bodyPr/>
          <a:lstStyle/>
          <a:p>
            <a:r>
              <a:rPr lang="en-US" dirty="0"/>
              <a:t>The system should be easy to use by medical staff and should be organized in such a way that user errors are minimized. (Goal)</a:t>
            </a:r>
          </a:p>
          <a:p>
            <a:r>
              <a:rPr lang="en-US" dirty="0"/>
              <a:t>Medical staff shall be able to use all the system functions after four hours of training. After this training, the average number of errors made by experienced users shall not exceed two per hour of system use. (Testable non-functional requirement)</a:t>
            </a:r>
            <a:endParaRPr lang="en-GB" dirty="0"/>
          </a:p>
          <a:p>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22</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dirty="0"/>
              <a:t>Metrics for specifying nonfunctional requirements</a:t>
            </a:r>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23</a:t>
            </a:fld>
            <a:endParaRPr lang="en-US"/>
          </a:p>
        </p:txBody>
      </p:sp>
      <p:graphicFrame>
        <p:nvGraphicFramePr>
          <p:cNvPr id="4" name="Table 3"/>
          <p:cNvGraphicFramePr>
            <a:graphicFrameLocks noGrp="1"/>
          </p:cNvGraphicFramePr>
          <p:nvPr/>
        </p:nvGraphicFramePr>
        <p:xfrm>
          <a:off x="990600" y="1600200"/>
          <a:ext cx="7620000" cy="4876800"/>
        </p:xfrm>
        <a:graphic>
          <a:graphicData uri="http://schemas.openxmlformats.org/drawingml/2006/table">
            <a:tbl>
              <a:tblPr/>
              <a:tblGrid>
                <a:gridCol w="2952750">
                  <a:extLst>
                    <a:ext uri="{9D8B030D-6E8A-4147-A177-3AD203B41FA5}">
                      <a16:colId xmlns:a16="http://schemas.microsoft.com/office/drawing/2014/main" val="20000"/>
                    </a:ext>
                  </a:extLst>
                </a:gridCol>
                <a:gridCol w="4667250">
                  <a:extLst>
                    <a:ext uri="{9D8B030D-6E8A-4147-A177-3AD203B41FA5}">
                      <a16:colId xmlns:a16="http://schemas.microsoft.com/office/drawing/2014/main" val="20001"/>
                    </a:ext>
                  </a:extLst>
                </a:gridCol>
              </a:tblGrid>
              <a:tr h="397418">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Property</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Measure</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Speed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Processed transactions/second</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User/event response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Screen refresh time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Size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Mbytes</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ROM chips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Ease of use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Training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help frames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880433">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Reliability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Mean time to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unavailability</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Rate of failure occurrence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Availability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Robustness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Time to restart after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events causing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data corruption on failure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Portability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target dependent statements</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target systems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6"/>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a:t>Documenting Requirements to a Standard</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24</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668724760"/>
      </p:ext>
    </p:extLst>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dirty="0"/>
              <a:t>Documentation Elements</a:t>
            </a:r>
          </a:p>
        </p:txBody>
      </p:sp>
      <p:sp>
        <p:nvSpPr>
          <p:cNvPr id="44035" name="Rectangle 3"/>
          <p:cNvSpPr>
            <a:spLocks noGrp="1" noChangeArrowheads="1"/>
          </p:cNvSpPr>
          <p:nvPr>
            <p:ph idx="1"/>
          </p:nvPr>
        </p:nvSpPr>
        <p:spPr/>
        <p:txBody>
          <a:bodyPr/>
          <a:lstStyle/>
          <a:p>
            <a:pPr>
              <a:lnSpc>
                <a:spcPct val="90000"/>
              </a:lnSpc>
            </a:pPr>
            <a:r>
              <a:rPr lang="en-US" dirty="0"/>
              <a:t>A Software Requirement Specification (SRS) document contains both User and System Requirements.</a:t>
            </a:r>
          </a:p>
          <a:p>
            <a:pPr lvl="1">
              <a:lnSpc>
                <a:spcPct val="90000"/>
              </a:lnSpc>
            </a:pPr>
            <a:r>
              <a:rPr lang="en-US" dirty="0"/>
              <a:t>In Agile, the requirement may not be complete for the majority of the lifetime of the project. But SRS needs to be as much comprehensive as possible at any stage.</a:t>
            </a:r>
          </a:p>
          <a:p>
            <a:pPr>
              <a:lnSpc>
                <a:spcPct val="90000"/>
              </a:lnSpc>
            </a:pPr>
            <a:r>
              <a:rPr lang="en-US" dirty="0"/>
              <a:t>Requirements are ‘engineered’ using various methods such interviews, one-to-one and group discussions.</a:t>
            </a:r>
          </a:p>
          <a:p>
            <a:pPr>
              <a:lnSpc>
                <a:spcPct val="90000"/>
              </a:lnSpc>
            </a:pPr>
            <a:r>
              <a:rPr lang="en-US" dirty="0"/>
              <a:t>Gathered information is documented using various formats/templates:</a:t>
            </a:r>
          </a:p>
          <a:p>
            <a:pPr lvl="1">
              <a:lnSpc>
                <a:spcPct val="90000"/>
              </a:lnSpc>
            </a:pPr>
            <a:r>
              <a:rPr lang="en-US" dirty="0"/>
              <a:t>Personas</a:t>
            </a:r>
          </a:p>
          <a:p>
            <a:pPr lvl="1">
              <a:lnSpc>
                <a:spcPct val="90000"/>
              </a:lnSpc>
            </a:pPr>
            <a:r>
              <a:rPr lang="en-US" dirty="0"/>
              <a:t>Scenarios</a:t>
            </a:r>
          </a:p>
          <a:p>
            <a:pPr lvl="1">
              <a:lnSpc>
                <a:spcPct val="90000"/>
              </a:lnSpc>
            </a:pPr>
            <a:r>
              <a:rPr lang="en-US" dirty="0"/>
              <a:t>User Stories</a:t>
            </a:r>
          </a:p>
          <a:p>
            <a:pPr lvl="1">
              <a:lnSpc>
                <a:spcPct val="90000"/>
              </a:lnSpc>
            </a:pPr>
            <a:r>
              <a:rPr lang="en-US" dirty="0"/>
              <a:t>Features</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25</a:t>
            </a:fld>
            <a:endParaRPr lang="en-US"/>
          </a:p>
        </p:txBody>
      </p:sp>
      <p:sp>
        <p:nvSpPr>
          <p:cNvPr id="2" name="Date Placeholder 1"/>
          <p:cNvSpPr>
            <a:spLocks noGrp="1"/>
          </p:cNvSpPr>
          <p:nvPr>
            <p:ph type="dt" sz="half" idx="10"/>
          </p:nvPr>
        </p:nvSpPr>
        <p:spPr/>
        <p:txBody>
          <a:bodyPr/>
          <a:lstStyle/>
          <a:p>
            <a:pPr>
              <a:defRPr/>
            </a:pPr>
            <a:r>
              <a:rPr lang="en-GB" dirty="0"/>
              <a:t>30/10/2014</a:t>
            </a:r>
            <a:endParaRPr lang="en-US" dirty="0"/>
          </a:p>
        </p:txBody>
      </p:sp>
    </p:spTree>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document variability</a:t>
            </a:r>
          </a:p>
        </p:txBody>
      </p:sp>
      <p:sp>
        <p:nvSpPr>
          <p:cNvPr id="3" name="Content Placeholder 2"/>
          <p:cNvSpPr>
            <a:spLocks noGrp="1"/>
          </p:cNvSpPr>
          <p:nvPr>
            <p:ph idx="1"/>
          </p:nvPr>
        </p:nvSpPr>
        <p:spPr/>
        <p:txBody>
          <a:bodyPr/>
          <a:lstStyle/>
          <a:p>
            <a:r>
              <a:rPr lang="en-US" dirty="0"/>
              <a:t>Information in requirements document depends on type of system and the approach to development used.</a:t>
            </a:r>
          </a:p>
          <a:p>
            <a:r>
              <a:rPr lang="en-US" dirty="0"/>
              <a:t>Systems developed incrementally will, typically, have less detail in the requirements document.</a:t>
            </a:r>
          </a:p>
          <a:p>
            <a:r>
              <a:rPr lang="en-US" dirty="0"/>
              <a:t>Requirements documents standards have been designed e.g. IEEE standard. These are mostly applicable to the requirements for large systems engineering projects.</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26</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902827572"/>
      </p:ext>
    </p:extLst>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176213" y="206375"/>
            <a:ext cx="7367587" cy="1089025"/>
          </a:xfrm>
        </p:spPr>
        <p:txBody>
          <a:bodyPr/>
          <a:lstStyle/>
          <a:p>
            <a:pPr eaLnBrk="1" hangingPunct="1"/>
            <a:r>
              <a:rPr lang="en-US" dirty="0"/>
              <a:t>The structure of a requirements</a:t>
            </a:r>
            <a:r>
              <a:rPr lang="en-US" b="1" dirty="0"/>
              <a:t> </a:t>
            </a:r>
            <a:r>
              <a:rPr lang="en-US" dirty="0"/>
              <a:t>document</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27</a:t>
            </a:fld>
            <a:endParaRPr lang="en-US"/>
          </a:p>
        </p:txBody>
      </p:sp>
      <p:graphicFrame>
        <p:nvGraphicFramePr>
          <p:cNvPr id="4" name="Table 3"/>
          <p:cNvGraphicFramePr>
            <a:graphicFrameLocks noGrp="1"/>
          </p:cNvGraphicFramePr>
          <p:nvPr/>
        </p:nvGraphicFramePr>
        <p:xfrm>
          <a:off x="762000" y="1828800"/>
          <a:ext cx="7924800" cy="4480560"/>
        </p:xfrm>
        <a:graphic>
          <a:graphicData uri="http://schemas.openxmlformats.org/drawingml/2006/table">
            <a:tbl>
              <a:tblPr/>
              <a:tblGrid>
                <a:gridCol w="1905000">
                  <a:extLst>
                    <a:ext uri="{9D8B030D-6E8A-4147-A177-3AD203B41FA5}">
                      <a16:colId xmlns:a16="http://schemas.microsoft.com/office/drawing/2014/main" val="20000"/>
                    </a:ext>
                  </a:extLst>
                </a:gridCol>
                <a:gridCol w="6019800">
                  <a:extLst>
                    <a:ext uri="{9D8B030D-6E8A-4147-A177-3AD203B41FA5}">
                      <a16:colId xmlns:a16="http://schemas.microsoft.com/office/drawing/2014/main" val="20001"/>
                    </a:ext>
                  </a:extLst>
                </a:gridCol>
              </a:tblGrid>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rgbClr val="000000"/>
                          </a:solidFill>
                          <a:effectLst/>
                          <a:latin typeface="Arial" charset="0"/>
                          <a:ea typeface="Times New Roman" charset="0"/>
                          <a:cs typeface="Times New Roman" charset="0"/>
                        </a:rPr>
                        <a:t>Chapter</a:t>
                      </a:r>
                      <a:endParaRPr kumimoji="0" lang="en-GB" sz="1400" b="1"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rgbClr val="000000"/>
                          </a:solidFill>
                          <a:effectLst/>
                          <a:latin typeface="Arial" charset="0"/>
                          <a:ea typeface="Times New Roman" charset="0"/>
                          <a:cs typeface="Times New Roman" charset="0"/>
                        </a:rPr>
                        <a:t>Description</a:t>
                      </a:r>
                      <a:endParaRPr kumimoji="0" lang="en-GB" sz="1400" b="1" i="0" u="none" strike="noStrike" cap="none" normalizeH="0" baseline="0" dirty="0">
                        <a:ln>
                          <a:noFill/>
                        </a:ln>
                        <a:solidFill>
                          <a:srgbClr val="000000"/>
                        </a:solidFill>
                        <a:effectLst/>
                        <a:latin typeface="Arial" charset="0"/>
                        <a:ea typeface="Times New Roman" charset="0"/>
                        <a:cs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Preface</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This should define the expected readership of the document and describe its version history, including a rationale for the creation of a new version and a summary of the changes made in each version. </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Introduction</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This should describe the need for the system. It should briefly describe the system’s functions and explain how it will work with other systems. It should also describe how the system fits into the overall business or strategic objectives of the organization commissioning the software.</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Glossary</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This should define the technical terms used in the document. You should not make assumptions about the experience or expertise of the reader.</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User requirements definition</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Here, you describe the services provided for the user. The nonfunctional system requirements should also be described in this section. This description may use natural language, diagrams, or other notations that are understandable to customers. Product and process standards that must be followed should be specified.</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System architecture</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charset="0"/>
                          <a:ea typeface="Times New Roman" charset="0"/>
                          <a:cs typeface="Times New Roman" charset="0"/>
                        </a:rPr>
                        <a:t>This chapter should present a high-level overview of the anticipated system architecture, showing the distribution of functions across system modules. Architectural components that are reused should be highlighted.</a:t>
                      </a:r>
                      <a:endParaRPr kumimoji="0" lang="en-GB" sz="1400" b="0" i="0" u="none" strike="noStrike" cap="none" normalizeH="0" baseline="0" dirty="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52194109"/>
      </p:ext>
    </p:extLst>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structure of a requirements document</a:t>
            </a:r>
            <a:r>
              <a:rPr lang="en-GB" dirty="0"/>
              <a:t> </a:t>
            </a:r>
            <a:endParaRPr lang="en-US" dirty="0"/>
          </a:p>
        </p:txBody>
      </p:sp>
      <p:graphicFrame>
        <p:nvGraphicFramePr>
          <p:cNvPr id="4" name="Content Placeholder 3"/>
          <p:cNvGraphicFramePr>
            <a:graphicFrameLocks noGrp="1"/>
          </p:cNvGraphicFramePr>
          <p:nvPr>
            <p:ph idx="1"/>
          </p:nvPr>
        </p:nvGraphicFramePr>
        <p:xfrm>
          <a:off x="457200" y="1676400"/>
          <a:ext cx="8229600" cy="4680813"/>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6553200">
                  <a:extLst>
                    <a:ext uri="{9D8B030D-6E8A-4147-A177-3AD203B41FA5}">
                      <a16:colId xmlns:a16="http://schemas.microsoft.com/office/drawing/2014/main" val="20001"/>
                    </a:ext>
                  </a:extLst>
                </a:gridCol>
              </a:tblGrid>
              <a:tr h="319976">
                <a:tc>
                  <a:txBody>
                    <a:bodyPr/>
                    <a:lstStyle/>
                    <a:p>
                      <a:r>
                        <a:rPr lang="en-US" sz="1400" dirty="0">
                          <a:solidFill>
                            <a:schemeClr val="tx1"/>
                          </a:solidFill>
                          <a:latin typeface="Arial"/>
                          <a:cs typeface="Arial"/>
                        </a:rPr>
                        <a:t>Chapter</a:t>
                      </a:r>
                    </a:p>
                  </a:txBody>
                  <a:tcPr/>
                </a:tc>
                <a:tc>
                  <a:txBody>
                    <a:bodyPr/>
                    <a:lstStyle/>
                    <a:p>
                      <a:r>
                        <a:rPr lang="en-US" sz="1400" dirty="0">
                          <a:solidFill>
                            <a:schemeClr val="tx1"/>
                          </a:solidFill>
                          <a:latin typeface="Arial"/>
                          <a:cs typeface="Arial"/>
                        </a:rPr>
                        <a:t>Description</a:t>
                      </a:r>
                    </a:p>
                  </a:txBody>
                  <a:tcPr/>
                </a:tc>
                <a:extLst>
                  <a:ext uri="{0D108BD9-81ED-4DB2-BD59-A6C34878D82A}">
                    <a16:rowId xmlns:a16="http://schemas.microsoft.com/office/drawing/2014/main" val="10000"/>
                  </a:ext>
                </a:extLst>
              </a:tr>
              <a:tr h="69890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a:ea typeface="Times New Roman" charset="0"/>
                          <a:cs typeface="Arial"/>
                        </a:rPr>
                        <a:t>System requirements specification</a:t>
                      </a:r>
                      <a:endParaRPr kumimoji="0" lang="en-GB" sz="1400" b="0" i="0" u="none" strike="noStrike" cap="none" normalizeH="0" baseline="0" dirty="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This should describe the functional and nonfunctional requirements in more detail. If necessary, further detail may also be added to the nonfunctional requirements. Interfaces to other systems may be defined.</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extLst>
                  <a:ext uri="{0D108BD9-81ED-4DB2-BD59-A6C34878D82A}">
                    <a16:rowId xmlns:a16="http://schemas.microsoft.com/office/drawing/2014/main" val="10001"/>
                  </a:ext>
                </a:extLst>
              </a:tr>
              <a:tr h="8152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System models</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This might include graphical system models showing the relationships between the system components and the system and its environment. Examples of possible models are object models, data-flow models, or semantic data models. </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extLst>
                  <a:ext uri="{0D108BD9-81ED-4DB2-BD59-A6C34878D82A}">
                    <a16:rowId xmlns:a16="http://schemas.microsoft.com/office/drawing/2014/main" val="10002"/>
                  </a:ext>
                </a:extLst>
              </a:tr>
              <a:tr h="99937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System evolution</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This should describe the fundamental assumptions on which the system is based, and any anticipated changes due to hardware evolution, changing user needs, and so on. This section is useful for system designers as it may help them avoid design decisions that would constrain likely future changes to the system.</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extLst>
                  <a:ext uri="{0D108BD9-81ED-4DB2-BD59-A6C34878D82A}">
                    <a16:rowId xmlns:a16="http://schemas.microsoft.com/office/drawing/2014/main" val="10003"/>
                  </a:ext>
                </a:extLst>
              </a:tr>
              <a:tr h="118347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Appendices</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These should provide detailed, specific information that is related to the application being developed; for example, hardware and database descriptions. Hardware requirements define the minimal and optimal configurations for the system. Database requirements define the logical organization of the data used by the system and the relationships between data. </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extLst>
                  <a:ext uri="{0D108BD9-81ED-4DB2-BD59-A6C34878D82A}">
                    <a16:rowId xmlns:a16="http://schemas.microsoft.com/office/drawing/2014/main" val="10004"/>
                  </a:ext>
                </a:extLst>
              </a:tr>
              <a:tr h="631186">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Index</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a:ea typeface="Times New Roman" charset="0"/>
                          <a:cs typeface="Arial"/>
                        </a:rPr>
                        <a:t>Several indexes to the document may be included. As well as a normal alphabetic index, there may be an index of diagrams, an index of functions, and so on.</a:t>
                      </a:r>
                      <a:endParaRPr kumimoji="0" lang="en-GB" sz="1400" b="0" i="0" u="none" strike="noStrike" cap="none" normalizeH="0" baseline="0" dirty="0">
                        <a:ln>
                          <a:noFill/>
                        </a:ln>
                        <a:solidFill>
                          <a:srgbClr val="000000"/>
                        </a:solidFill>
                        <a:effectLst/>
                        <a:latin typeface="Arial"/>
                        <a:ea typeface="Times New Roman" charset="0"/>
                        <a:cs typeface="Arial"/>
                      </a:endParaRPr>
                    </a:p>
                  </a:txBody>
                  <a:tcPr marL="54610" marR="54610" marT="0" marB="91440" horzOverflow="overflow"/>
                </a:tc>
                <a:extLst>
                  <a:ext uri="{0D108BD9-81ED-4DB2-BD59-A6C34878D82A}">
                    <a16:rowId xmlns:a16="http://schemas.microsoft.com/office/drawing/2014/main" val="10005"/>
                  </a:ext>
                </a:extLst>
              </a:tr>
            </a:tbl>
          </a:graphicData>
        </a:graphic>
      </p:graphicFrame>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28</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26900112"/>
      </p:ext>
    </p:extLst>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GB"/>
              <a:t>Requirements and design</a:t>
            </a:r>
          </a:p>
        </p:txBody>
      </p:sp>
      <p:sp>
        <p:nvSpPr>
          <p:cNvPr id="63491" name="Rectangle 3"/>
          <p:cNvSpPr>
            <a:spLocks noGrp="1" noChangeArrowheads="1"/>
          </p:cNvSpPr>
          <p:nvPr>
            <p:ph idx="1"/>
          </p:nvPr>
        </p:nvSpPr>
        <p:spPr/>
        <p:txBody>
          <a:bodyPr/>
          <a:lstStyle/>
          <a:p>
            <a:pPr>
              <a:lnSpc>
                <a:spcPct val="90000"/>
              </a:lnSpc>
            </a:pPr>
            <a:r>
              <a:rPr lang="en-GB" dirty="0"/>
              <a:t>In principle, requirements should state what the system should do and the design should describe how it does this.</a:t>
            </a:r>
          </a:p>
          <a:p>
            <a:pPr>
              <a:lnSpc>
                <a:spcPct val="90000"/>
              </a:lnSpc>
            </a:pPr>
            <a:r>
              <a:rPr lang="en-GB" dirty="0"/>
              <a:t>In practice, requirements and design are inseparable</a:t>
            </a:r>
          </a:p>
          <a:p>
            <a:pPr lvl="1">
              <a:lnSpc>
                <a:spcPct val="90000"/>
              </a:lnSpc>
            </a:pPr>
            <a:r>
              <a:rPr lang="en-GB" dirty="0"/>
              <a:t>A system architecture may be designed to structure the requirements;</a:t>
            </a:r>
          </a:p>
          <a:p>
            <a:pPr lvl="1">
              <a:lnSpc>
                <a:spcPct val="90000"/>
              </a:lnSpc>
            </a:pPr>
            <a:r>
              <a:rPr lang="en-GB" dirty="0"/>
              <a:t>The system may inter-operate with other systems that generate design requirements;</a:t>
            </a:r>
          </a:p>
          <a:p>
            <a:pPr lvl="1">
              <a:lnSpc>
                <a:spcPct val="90000"/>
              </a:lnSpc>
            </a:pPr>
            <a:r>
              <a:rPr lang="en-GB" dirty="0"/>
              <a:t>The use of a specific architecture to satisfy non-functional requirements may be a domain requirement.</a:t>
            </a:r>
            <a:endParaRPr lang="en-GB" sz="1800" dirty="0"/>
          </a:p>
          <a:p>
            <a:pPr lvl="1">
              <a:lnSpc>
                <a:spcPct val="90000"/>
              </a:lnSpc>
            </a:pPr>
            <a:r>
              <a:rPr lang="en-GB" sz="1800" dirty="0"/>
              <a:t>This may be the consequence of a regulatory requirement.</a:t>
            </a:r>
            <a:endParaRPr lang="en-GB" dirty="0"/>
          </a:p>
        </p:txBody>
      </p:sp>
      <p:sp>
        <p:nvSpPr>
          <p:cNvPr id="2" name="Date Placeholder 1"/>
          <p:cNvSpPr>
            <a:spLocks noGrp="1"/>
          </p:cNvSpPr>
          <p:nvPr>
            <p:ph type="dt" sz="half" idx="10"/>
          </p:nvPr>
        </p:nvSpPr>
        <p:spPr/>
        <p:txBody>
          <a:bodyPr/>
          <a:lstStyle/>
          <a:p>
            <a:pPr>
              <a:defRPr/>
            </a:pPr>
            <a:r>
              <a:rPr lang="en-GB"/>
              <a:t>30/10/2014</a:t>
            </a:r>
            <a:endParaRPr lang="en-US"/>
          </a:p>
        </p:txBody>
      </p:sp>
      <p:sp>
        <p:nvSpPr>
          <p:cNvPr id="3" name="Footer Placeholder 2"/>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29</a:t>
            </a:fld>
            <a:endParaRPr lang="en-US"/>
          </a:p>
        </p:txBody>
      </p:sp>
    </p:spTree>
    <p:extLst>
      <p:ext uri="{BB962C8B-B14F-4D97-AF65-F5344CB8AC3E}">
        <p14:creationId xmlns:p14="http://schemas.microsoft.com/office/powerpoint/2010/main" val="2042262479"/>
      </p:ext>
    </p:extLst>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Natural language specification</a:t>
            </a:r>
          </a:p>
        </p:txBody>
      </p:sp>
      <p:sp>
        <p:nvSpPr>
          <p:cNvPr id="3" name="Content Placeholder 2"/>
          <p:cNvSpPr>
            <a:spLocks noGrp="1"/>
          </p:cNvSpPr>
          <p:nvPr>
            <p:ph idx="1"/>
          </p:nvPr>
        </p:nvSpPr>
        <p:spPr/>
        <p:txBody>
          <a:bodyPr/>
          <a:lstStyle/>
          <a:p>
            <a:r>
              <a:rPr lang="en-US" dirty="0"/>
              <a:t>Requirements are written as natural language sentences supplemented by diagrams and tables.</a:t>
            </a:r>
          </a:p>
          <a:p>
            <a:r>
              <a:rPr lang="en-US" dirty="0"/>
              <a:t>Used for writing requirements because it is expressive, intuitive and universal. This means that the requirements  can be understood by users and customers.</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30</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726076218"/>
      </p:ext>
    </p:extLst>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381000" y="266700"/>
            <a:ext cx="8229600" cy="1104900"/>
          </a:xfrm>
        </p:spPr>
        <p:txBody>
          <a:bodyPr/>
          <a:lstStyle/>
          <a:p>
            <a:r>
              <a:rPr lang="en-GB"/>
              <a:t>Guidelines for writing requirements</a:t>
            </a:r>
          </a:p>
        </p:txBody>
      </p:sp>
      <p:sp>
        <p:nvSpPr>
          <p:cNvPr id="61443" name="Rectangle 3"/>
          <p:cNvSpPr>
            <a:spLocks noGrp="1" noChangeArrowheads="1"/>
          </p:cNvSpPr>
          <p:nvPr>
            <p:ph idx="1"/>
          </p:nvPr>
        </p:nvSpPr>
        <p:spPr/>
        <p:txBody>
          <a:bodyPr/>
          <a:lstStyle/>
          <a:p>
            <a:r>
              <a:rPr lang="en-GB" dirty="0"/>
              <a:t>Invent a standard format and use it for all requirements.</a:t>
            </a:r>
          </a:p>
          <a:p>
            <a:r>
              <a:rPr lang="en-GB" dirty="0"/>
              <a:t>Use language in a consistent way. Use shall for mandatory requirements, should for desirable requirements.</a:t>
            </a:r>
          </a:p>
          <a:p>
            <a:r>
              <a:rPr lang="en-GB" dirty="0"/>
              <a:t>Use text highlighting to identify key parts of the requirement.</a:t>
            </a:r>
          </a:p>
          <a:p>
            <a:r>
              <a:rPr lang="en-GB" dirty="0"/>
              <a:t>Avoid the use of computer jargon.</a:t>
            </a:r>
          </a:p>
          <a:p>
            <a:r>
              <a:rPr lang="en-GB" dirty="0"/>
              <a:t>Include an explanation (rationale) of why a requirement is necessary.</a:t>
            </a:r>
          </a:p>
        </p:txBody>
      </p:sp>
      <p:sp>
        <p:nvSpPr>
          <p:cNvPr id="2" name="Date Placeholder 1"/>
          <p:cNvSpPr>
            <a:spLocks noGrp="1"/>
          </p:cNvSpPr>
          <p:nvPr>
            <p:ph type="dt" sz="half" idx="10"/>
          </p:nvPr>
        </p:nvSpPr>
        <p:spPr/>
        <p:txBody>
          <a:bodyPr/>
          <a:lstStyle/>
          <a:p>
            <a:pPr>
              <a:defRPr/>
            </a:pPr>
            <a:r>
              <a:rPr lang="en-GB"/>
              <a:t>30/10/2014</a:t>
            </a:r>
            <a:endParaRPr lang="en-US"/>
          </a:p>
        </p:txBody>
      </p:sp>
      <p:sp>
        <p:nvSpPr>
          <p:cNvPr id="3" name="Footer Placeholder 2"/>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31</a:t>
            </a:fld>
            <a:endParaRPr lang="en-US"/>
          </a:p>
        </p:txBody>
      </p:sp>
    </p:spTree>
    <p:extLst>
      <p:ext uri="{BB962C8B-B14F-4D97-AF65-F5344CB8AC3E}">
        <p14:creationId xmlns:p14="http://schemas.microsoft.com/office/powerpoint/2010/main" val="2790173008"/>
      </p:ext>
    </p:extLst>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Problems with natural language</a:t>
            </a:r>
          </a:p>
        </p:txBody>
      </p:sp>
      <p:sp>
        <p:nvSpPr>
          <p:cNvPr id="55299" name="Rectangle 3"/>
          <p:cNvSpPr>
            <a:spLocks noGrp="1" noChangeArrowheads="1"/>
          </p:cNvSpPr>
          <p:nvPr>
            <p:ph idx="1"/>
          </p:nvPr>
        </p:nvSpPr>
        <p:spPr/>
        <p:txBody>
          <a:bodyPr/>
          <a:lstStyle/>
          <a:p>
            <a:r>
              <a:rPr lang="en-GB"/>
              <a:t>Lack of clarity </a:t>
            </a:r>
          </a:p>
          <a:p>
            <a:pPr lvl="1"/>
            <a:r>
              <a:rPr lang="en-GB"/>
              <a:t>Precision is difficult without making the document difficult to read.</a:t>
            </a:r>
          </a:p>
          <a:p>
            <a:r>
              <a:rPr lang="en-GB"/>
              <a:t>Requirements confusion</a:t>
            </a:r>
          </a:p>
          <a:p>
            <a:pPr lvl="1"/>
            <a:r>
              <a:rPr lang="en-GB"/>
              <a:t>Functional and non-functional requirements tend to be mixed-up.</a:t>
            </a:r>
          </a:p>
          <a:p>
            <a:r>
              <a:rPr lang="en-GB"/>
              <a:t>Requirements amalgamation</a:t>
            </a:r>
          </a:p>
          <a:p>
            <a:pPr lvl="1"/>
            <a:r>
              <a:rPr lang="en-GB"/>
              <a:t>Several different requirements may be expressed together.</a:t>
            </a:r>
          </a:p>
        </p:txBody>
      </p:sp>
      <p:sp>
        <p:nvSpPr>
          <p:cNvPr id="2" name="Date Placeholder 1"/>
          <p:cNvSpPr>
            <a:spLocks noGrp="1"/>
          </p:cNvSpPr>
          <p:nvPr>
            <p:ph type="dt" sz="half" idx="10"/>
          </p:nvPr>
        </p:nvSpPr>
        <p:spPr/>
        <p:txBody>
          <a:bodyPr/>
          <a:lstStyle/>
          <a:p>
            <a:pPr>
              <a:defRPr/>
            </a:pPr>
            <a:r>
              <a:rPr lang="en-GB"/>
              <a:t>30/10/2014</a:t>
            </a:r>
            <a:endParaRPr lang="en-US"/>
          </a:p>
        </p:txBody>
      </p:sp>
      <p:sp>
        <p:nvSpPr>
          <p:cNvPr id="3" name="Footer Placeholder 2"/>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32</a:t>
            </a:fld>
            <a:endParaRPr lang="en-US"/>
          </a:p>
        </p:txBody>
      </p:sp>
    </p:spTree>
    <p:extLst>
      <p:ext uri="{BB962C8B-B14F-4D97-AF65-F5344CB8AC3E}">
        <p14:creationId xmlns:p14="http://schemas.microsoft.com/office/powerpoint/2010/main" val="1186723185"/>
      </p:ext>
    </p:extLst>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itle 1"/>
          <p:cNvSpPr>
            <a:spLocks noGrp="1"/>
          </p:cNvSpPr>
          <p:nvPr>
            <p:ph type="title"/>
          </p:nvPr>
        </p:nvSpPr>
        <p:spPr/>
        <p:txBody>
          <a:bodyPr/>
          <a:lstStyle/>
          <a:p>
            <a:pPr eaLnBrk="1" hangingPunct="1"/>
            <a:r>
              <a:rPr lang="en-US" dirty="0"/>
              <a:t>Example requirements for the insulin pump software system</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33</a:t>
            </a:fld>
            <a:endParaRPr lang="en-US"/>
          </a:p>
        </p:txBody>
      </p:sp>
      <p:graphicFrame>
        <p:nvGraphicFramePr>
          <p:cNvPr id="4" name="Table 3"/>
          <p:cNvGraphicFramePr>
            <a:graphicFrameLocks noGrp="1"/>
          </p:cNvGraphicFramePr>
          <p:nvPr/>
        </p:nvGraphicFramePr>
        <p:xfrm>
          <a:off x="1524000" y="2209800"/>
          <a:ext cx="6096000" cy="3383280"/>
        </p:xfrm>
        <a:graphic>
          <a:graphicData uri="http://schemas.openxmlformats.org/drawingml/2006/table">
            <a:tbl>
              <a:tblPr firstRow="1" bandRow="1">
                <a:tableStyleId>{69CF1AB2-1976-4502-BF36-3FF5EA218861}</a:tableStyleId>
              </a:tblPr>
              <a:tblGrid>
                <a:gridCol w="6096000">
                  <a:extLst>
                    <a:ext uri="{9D8B030D-6E8A-4147-A177-3AD203B41FA5}">
                      <a16:colId xmlns:a16="http://schemas.microsoft.com/office/drawing/2014/main" val="20000"/>
                    </a:ext>
                  </a:extLst>
                </a:gridCol>
              </a:tblGrid>
              <a:tr h="370840">
                <a:tc>
                  <a:txBody>
                    <a:bodyPr/>
                    <a:lstStyle/>
                    <a:p>
                      <a:r>
                        <a:rPr lang="en-GB" sz="1800" b="0" kern="1200" dirty="0"/>
                        <a:t>3.2 The system shall measure the blood sugar and deliver insulin, if required, every 10 minutes.</a:t>
                      </a:r>
                      <a:r>
                        <a:rPr lang="en-GB" sz="1800" b="0" i="1" kern="1200" dirty="0"/>
                        <a:t> (Changes in blood sugar are relatively slow so more frequent measurement is unnecessary; less frequent measurement could lead to unnecessarily high sugar levels.)</a:t>
                      </a:r>
                    </a:p>
                    <a:p>
                      <a:endParaRPr lang="en-GB" sz="1800" b="0" kern="1200" dirty="0"/>
                    </a:p>
                    <a:p>
                      <a:r>
                        <a:rPr lang="en-GB" sz="1800" b="0" kern="1200" dirty="0"/>
                        <a:t>3.6 The system shall run a self-test routine every minute with the conditions to be tested and the associated actions defined in Table 1.</a:t>
                      </a:r>
                      <a:r>
                        <a:rPr lang="en-GB" sz="1800" b="0" i="1" kern="1200" dirty="0"/>
                        <a:t> (A self-test routine can discover hardware and software problems and alert the user to the fact the normal operation may be impossible.)</a:t>
                      </a:r>
                    </a:p>
                    <a:p>
                      <a:endParaRPr lang="en-US" dirty="0"/>
                    </a:p>
                  </a:txBody>
                  <a:tcPr/>
                </a:tc>
                <a:extLst>
                  <a:ext uri="{0D108BD9-81ED-4DB2-BD59-A6C34878D82A}">
                    <a16:rowId xmlns:a16="http://schemas.microsoft.com/office/drawing/2014/main" val="10000"/>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598877174"/>
      </p:ext>
    </p:extLst>
  </p:cSld>
  <p:clrMapOvr>
    <a:masterClrMapping/>
  </p:clrMapOvr>
  <p:transition spd="med">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Structured specifications</a:t>
            </a:r>
          </a:p>
        </p:txBody>
      </p:sp>
      <p:sp>
        <p:nvSpPr>
          <p:cNvPr id="3" name="Content Placeholder 2"/>
          <p:cNvSpPr>
            <a:spLocks noGrp="1"/>
          </p:cNvSpPr>
          <p:nvPr>
            <p:ph idx="1"/>
          </p:nvPr>
        </p:nvSpPr>
        <p:spPr/>
        <p:txBody>
          <a:bodyPr/>
          <a:lstStyle/>
          <a:p>
            <a:r>
              <a:rPr lang="en-US" dirty="0"/>
              <a:t>An approach to writing requirements where the freedom of the requirements writer is limited and requirements are written in a standard way.</a:t>
            </a:r>
          </a:p>
          <a:p>
            <a:r>
              <a:rPr lang="en-US" dirty="0"/>
              <a:t>This works well for some types of requirements e.g. requirements for embedded control system but is sometimes too rigid for writing business system requirements.</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34</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830475239"/>
      </p:ext>
    </p:extLst>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noFill/>
          <a:ln/>
        </p:spPr>
        <p:txBody>
          <a:bodyPr lIns="90487" tIns="44450" rIns="90487" bIns="44450"/>
          <a:lstStyle/>
          <a:p>
            <a:r>
              <a:rPr lang="en-GB"/>
              <a:t>Form-based specifications</a:t>
            </a:r>
          </a:p>
        </p:txBody>
      </p:sp>
      <p:sp>
        <p:nvSpPr>
          <p:cNvPr id="67587" name="Rectangle 3"/>
          <p:cNvSpPr>
            <a:spLocks noGrp="1" noChangeArrowheads="1"/>
          </p:cNvSpPr>
          <p:nvPr>
            <p:ph idx="1"/>
          </p:nvPr>
        </p:nvSpPr>
        <p:spPr>
          <a:noFill/>
          <a:ln/>
        </p:spPr>
        <p:txBody>
          <a:bodyPr lIns="90487" tIns="44450" rIns="90487" bIns="44450"/>
          <a:lstStyle/>
          <a:p>
            <a:r>
              <a:rPr lang="en-GB" dirty="0"/>
              <a:t>Definition of the function or entity.</a:t>
            </a:r>
          </a:p>
          <a:p>
            <a:r>
              <a:rPr lang="en-GB" dirty="0"/>
              <a:t>Description of inputs and where they come from.</a:t>
            </a:r>
          </a:p>
          <a:p>
            <a:r>
              <a:rPr lang="en-GB" dirty="0"/>
              <a:t>Description of outputs and where they go to.</a:t>
            </a:r>
          </a:p>
          <a:p>
            <a:r>
              <a:rPr lang="en-GB" dirty="0"/>
              <a:t>Information about the information needed for the computation and other entities used.</a:t>
            </a:r>
          </a:p>
          <a:p>
            <a:r>
              <a:rPr lang="en-GB" dirty="0"/>
              <a:t>Description of the action to be taken.</a:t>
            </a:r>
          </a:p>
          <a:p>
            <a:r>
              <a:rPr lang="en-GB" dirty="0"/>
              <a:t>Pre and post conditions (if appropriate).</a:t>
            </a:r>
          </a:p>
          <a:p>
            <a:r>
              <a:rPr lang="en-GB" dirty="0"/>
              <a:t>The side effects (if any) of the function.</a:t>
            </a:r>
          </a:p>
        </p:txBody>
      </p:sp>
      <p:sp>
        <p:nvSpPr>
          <p:cNvPr id="2" name="Date Placeholder 1"/>
          <p:cNvSpPr>
            <a:spLocks noGrp="1"/>
          </p:cNvSpPr>
          <p:nvPr>
            <p:ph type="dt" sz="half" idx="10"/>
          </p:nvPr>
        </p:nvSpPr>
        <p:spPr/>
        <p:txBody>
          <a:bodyPr/>
          <a:lstStyle/>
          <a:p>
            <a:pPr>
              <a:defRPr/>
            </a:pPr>
            <a:r>
              <a:rPr lang="en-GB"/>
              <a:t>30/10/2014</a:t>
            </a:r>
            <a:endParaRPr lang="en-US"/>
          </a:p>
        </p:txBody>
      </p:sp>
      <p:sp>
        <p:nvSpPr>
          <p:cNvPr id="3" name="Footer Placeholder 2"/>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35</a:t>
            </a:fld>
            <a:endParaRPr lang="en-US"/>
          </a:p>
        </p:txBody>
      </p:sp>
    </p:spTree>
    <p:extLst>
      <p:ext uri="{BB962C8B-B14F-4D97-AF65-F5344CB8AC3E}">
        <p14:creationId xmlns:p14="http://schemas.microsoft.com/office/powerpoint/2010/main" val="2423206850"/>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itle 1"/>
          <p:cNvSpPr>
            <a:spLocks noGrp="1"/>
          </p:cNvSpPr>
          <p:nvPr>
            <p:ph type="title"/>
          </p:nvPr>
        </p:nvSpPr>
        <p:spPr/>
        <p:txBody>
          <a:bodyPr/>
          <a:lstStyle/>
          <a:p>
            <a:pPr eaLnBrk="1" hangingPunct="1"/>
            <a:r>
              <a:rPr lang="en-US" dirty="0"/>
              <a:t>A structured specification of a requirement for an insulin pump</a:t>
            </a:r>
            <a:r>
              <a:rPr lang="en-GB" dirty="0"/>
              <a:t> </a:t>
            </a:r>
            <a:endParaRPr lang="en-US"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36</a:t>
            </a:fld>
            <a:endParaRPr lang="en-US"/>
          </a:p>
        </p:txBody>
      </p:sp>
      <p:graphicFrame>
        <p:nvGraphicFramePr>
          <p:cNvPr id="27650" name="Object 2"/>
          <p:cNvGraphicFramePr>
            <a:graphicFrameLocks noChangeAspect="1"/>
          </p:cNvGraphicFramePr>
          <p:nvPr/>
        </p:nvGraphicFramePr>
        <p:xfrm>
          <a:off x="1143000" y="2057400"/>
          <a:ext cx="5943600" cy="3314700"/>
        </p:xfrm>
        <a:graphic>
          <a:graphicData uri="http://schemas.openxmlformats.org/presentationml/2006/ole">
            <mc:AlternateContent xmlns:mc="http://schemas.openxmlformats.org/markup-compatibility/2006">
              <mc:Choice xmlns:v="urn:schemas-microsoft-com:vml" Requires="v">
                <p:oleObj name="Document" r:id="rId2" imgW="5943600" imgH="3314700" progId="Word.Document.12">
                  <p:embed/>
                </p:oleObj>
              </mc:Choice>
              <mc:Fallback>
                <p:oleObj name="Document" r:id="rId2" imgW="5943600" imgH="3314700" progId="Word.Document.12">
                  <p:embed/>
                  <p:pic>
                    <p:nvPicPr>
                      <p:cNvPr id="2765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057400"/>
                        <a:ext cx="5943600" cy="33147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oleObj>
              </mc:Fallback>
            </mc:AlternateContent>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577089289"/>
      </p:ext>
    </p:extLst>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itle 1"/>
          <p:cNvSpPr>
            <a:spLocks noGrp="1"/>
          </p:cNvSpPr>
          <p:nvPr>
            <p:ph type="title"/>
          </p:nvPr>
        </p:nvSpPr>
        <p:spPr/>
        <p:txBody>
          <a:bodyPr/>
          <a:lstStyle/>
          <a:p>
            <a:pPr eaLnBrk="1" hangingPunct="1"/>
            <a:r>
              <a:rPr lang="en-US" dirty="0"/>
              <a:t>A structured specification of a requirement for an insulin pump</a:t>
            </a:r>
            <a:r>
              <a:rPr lang="en-GB" dirty="0"/>
              <a:t> </a:t>
            </a:r>
            <a:endParaRPr lang="en-US"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37</a:t>
            </a:fld>
            <a:endParaRPr lang="en-US"/>
          </a:p>
        </p:txBody>
      </p:sp>
      <p:graphicFrame>
        <p:nvGraphicFramePr>
          <p:cNvPr id="27650" name="Object 2"/>
          <p:cNvGraphicFramePr>
            <a:graphicFrameLocks noChangeAspect="1"/>
          </p:cNvGraphicFramePr>
          <p:nvPr/>
        </p:nvGraphicFramePr>
        <p:xfrm>
          <a:off x="1295400" y="1690688"/>
          <a:ext cx="5943600" cy="4445000"/>
        </p:xfrm>
        <a:graphic>
          <a:graphicData uri="http://schemas.openxmlformats.org/presentationml/2006/ole">
            <mc:AlternateContent xmlns:mc="http://schemas.openxmlformats.org/markup-compatibility/2006">
              <mc:Choice xmlns:v="urn:schemas-microsoft-com:vml" Requires="v">
                <p:oleObj name="Document" r:id="rId2" imgW="5943600" imgH="4445000" progId="Word.Document.12">
                  <p:embed/>
                </p:oleObj>
              </mc:Choice>
              <mc:Fallback>
                <p:oleObj name="Document" r:id="rId2" imgW="5943600" imgH="4445000" progId="Word.Document.12">
                  <p:embed/>
                  <p:pic>
                    <p:nvPicPr>
                      <p:cNvPr id="2765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690688"/>
                        <a:ext cx="5943600" cy="44450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oleObj>
              </mc:Fallback>
            </mc:AlternateContent>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240694350"/>
      </p:ext>
    </p:extLst>
  </p:cSld>
  <p:clrMapOvr>
    <a:masterClrMapping/>
  </p:clrMapOvr>
  <p:transition spd="med">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a:t>Tabular specification</a:t>
            </a:r>
          </a:p>
        </p:txBody>
      </p:sp>
      <p:sp>
        <p:nvSpPr>
          <p:cNvPr id="82947" name="Rectangle 3"/>
          <p:cNvSpPr>
            <a:spLocks noGrp="1" noChangeArrowheads="1"/>
          </p:cNvSpPr>
          <p:nvPr>
            <p:ph idx="1"/>
          </p:nvPr>
        </p:nvSpPr>
        <p:spPr/>
        <p:txBody>
          <a:bodyPr/>
          <a:lstStyle/>
          <a:p>
            <a:r>
              <a:rPr lang="en-US" dirty="0"/>
              <a:t>Used to supplement natural language.</a:t>
            </a:r>
          </a:p>
          <a:p>
            <a:r>
              <a:rPr lang="en-US" dirty="0"/>
              <a:t>Particularly useful when you have to define a number of possible alternative courses of action.</a:t>
            </a:r>
          </a:p>
          <a:p>
            <a:r>
              <a:rPr lang="en-US" dirty="0"/>
              <a:t>For example, the insulin pump systems bases its computations on the rate of change of blood sugar level and the tabular specification explains how to calculate the insulin requirement for different scenarios.</a:t>
            </a:r>
          </a:p>
        </p:txBody>
      </p:sp>
      <p:sp>
        <p:nvSpPr>
          <p:cNvPr id="2" name="Date Placeholder 1"/>
          <p:cNvSpPr>
            <a:spLocks noGrp="1"/>
          </p:cNvSpPr>
          <p:nvPr>
            <p:ph type="dt" sz="half" idx="10"/>
          </p:nvPr>
        </p:nvSpPr>
        <p:spPr/>
        <p:txBody>
          <a:bodyPr/>
          <a:lstStyle/>
          <a:p>
            <a:pPr>
              <a:defRPr/>
            </a:pPr>
            <a:r>
              <a:rPr lang="en-GB"/>
              <a:t>30/10/2014</a:t>
            </a:r>
            <a:endParaRPr lang="en-US"/>
          </a:p>
        </p:txBody>
      </p:sp>
      <p:sp>
        <p:nvSpPr>
          <p:cNvPr id="3" name="Footer Placeholder 2"/>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38</a:t>
            </a:fld>
            <a:endParaRPr lang="en-US"/>
          </a:p>
        </p:txBody>
      </p:sp>
    </p:spTree>
    <p:extLst>
      <p:ext uri="{BB962C8B-B14F-4D97-AF65-F5344CB8AC3E}">
        <p14:creationId xmlns:p14="http://schemas.microsoft.com/office/powerpoint/2010/main" val="2030395543"/>
      </p:ext>
    </p:extLst>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pPr eaLnBrk="1" hangingPunct="1"/>
            <a:r>
              <a:rPr lang="en-US" dirty="0"/>
              <a:t>Tabular specification of computation for an insulin pump</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39</a:t>
            </a:fld>
            <a:endParaRPr lang="en-US"/>
          </a:p>
        </p:txBody>
      </p:sp>
      <p:graphicFrame>
        <p:nvGraphicFramePr>
          <p:cNvPr id="4" name="Table 3"/>
          <p:cNvGraphicFramePr>
            <a:graphicFrameLocks noGrp="1"/>
          </p:cNvGraphicFramePr>
          <p:nvPr/>
        </p:nvGraphicFramePr>
        <p:xfrm>
          <a:off x="685800" y="1981200"/>
          <a:ext cx="6461125" cy="3481389"/>
        </p:xfrm>
        <a:graphic>
          <a:graphicData uri="http://schemas.openxmlformats.org/drawingml/2006/table">
            <a:tbl>
              <a:tblPr/>
              <a:tblGrid>
                <a:gridCol w="3810000">
                  <a:extLst>
                    <a:ext uri="{9D8B030D-6E8A-4147-A177-3AD203B41FA5}">
                      <a16:colId xmlns:a16="http://schemas.microsoft.com/office/drawing/2014/main" val="20000"/>
                    </a:ext>
                  </a:extLst>
                </a:gridCol>
                <a:gridCol w="2651125">
                  <a:extLst>
                    <a:ext uri="{9D8B030D-6E8A-4147-A177-3AD203B41FA5}">
                      <a16:colId xmlns:a16="http://schemas.microsoft.com/office/drawing/2014/main" val="20001"/>
                    </a:ext>
                  </a:extLst>
                </a:gridCol>
              </a:tblGrid>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Condition</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Action</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falling (r2 &lt; r1)</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stable (r2 = r1)</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increasing and rate of increase decreasing </a:t>
                      </a:r>
                      <a:br>
                        <a:rPr kumimoji="0" lang="en-GB" sz="1600" b="0" i="0" u="none" strike="noStrike" cap="none" normalizeH="0" baseline="0" dirty="0">
                          <a:ln>
                            <a:noFill/>
                          </a:ln>
                          <a:solidFill>
                            <a:srgbClr val="000000"/>
                          </a:solidFill>
                          <a:effectLst/>
                          <a:latin typeface="Arial"/>
                          <a:ea typeface="Times New Roman" charset="0"/>
                          <a:cs typeface="Arial"/>
                        </a:rPr>
                      </a:br>
                      <a:r>
                        <a:rPr kumimoji="0" lang="en-GB" sz="1600" b="0" i="0" u="none" strike="noStrike" cap="none" normalizeH="0" baseline="0" dirty="0">
                          <a:ln>
                            <a:noFill/>
                          </a:ln>
                          <a:solidFill>
                            <a:srgbClr val="000000"/>
                          </a:solidFill>
                          <a:effectLst/>
                          <a:latin typeface="Arial"/>
                          <a:ea typeface="Times New Roman" charset="0"/>
                          <a:cs typeface="Arial"/>
                        </a:rPr>
                        <a:t>((r2 – r1) &lt; (r1 – r0))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6096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increasing and rate of increase stable or increasing </a:t>
                      </a:r>
                      <a:br>
                        <a:rPr kumimoji="0" lang="en-GB" sz="1600" b="0" i="0" u="none" strike="noStrike" cap="none" normalizeH="0" baseline="0" dirty="0">
                          <a:ln>
                            <a:noFill/>
                          </a:ln>
                          <a:solidFill>
                            <a:srgbClr val="000000"/>
                          </a:solidFill>
                          <a:effectLst/>
                          <a:latin typeface="Arial"/>
                          <a:ea typeface="Times New Roman" charset="0"/>
                          <a:cs typeface="Arial"/>
                        </a:rPr>
                      </a:br>
                      <a:r>
                        <a:rPr kumimoji="0" lang="en-GB" sz="1600" b="0" i="0" u="none" strike="noStrike" cap="none" normalizeH="0" baseline="0" dirty="0">
                          <a:ln>
                            <a:noFill/>
                          </a:ln>
                          <a:solidFill>
                            <a:srgbClr val="000000"/>
                          </a:solidFill>
                          <a:effectLst/>
                          <a:latin typeface="Arial"/>
                          <a:ea typeface="Times New Roman" charset="0"/>
                          <a:cs typeface="Arial"/>
                        </a:rPr>
                        <a:t>((r2 – r1) ≥ (r1 – r0))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a:t>
                      </a:r>
                      <a:br>
                        <a:rPr kumimoji="0" lang="en-GB" sz="1600" b="0" i="0" u="none" strike="noStrike" cap="none" normalizeH="0" baseline="0" dirty="0">
                          <a:ln>
                            <a:noFill/>
                          </a:ln>
                          <a:solidFill>
                            <a:srgbClr val="000000"/>
                          </a:solidFill>
                          <a:effectLst/>
                          <a:latin typeface="Arial"/>
                          <a:ea typeface="Times New Roman" charset="0"/>
                          <a:cs typeface="Arial"/>
                        </a:rPr>
                      </a:br>
                      <a:r>
                        <a:rPr kumimoji="0" lang="en-GB" sz="1600" b="0" i="0" u="none" strike="noStrike" cap="none" normalizeH="0" baseline="0" dirty="0">
                          <a:ln>
                            <a:noFill/>
                          </a:ln>
                          <a:solidFill>
                            <a:srgbClr val="000000"/>
                          </a:solidFill>
                          <a:effectLst/>
                          <a:latin typeface="Arial"/>
                          <a:ea typeface="Times New Roman" charset="0"/>
                          <a:cs typeface="Arial"/>
                        </a:rPr>
                        <a:t>      round ((r2 – r1)/4)</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If rounded result = 0 then </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a:t>
                      </a:r>
                      <a:r>
                        <a:rPr kumimoji="0" lang="en-GB" sz="1600" b="0" i="0" u="none" strike="noStrike" cap="none" normalizeH="0" baseline="0" dirty="0" err="1">
                          <a:ln>
                            <a:noFill/>
                          </a:ln>
                          <a:solidFill>
                            <a:srgbClr val="000000"/>
                          </a:solidFill>
                          <a:effectLst/>
                          <a:latin typeface="Arial"/>
                          <a:ea typeface="Times New Roman" charset="0"/>
                          <a:cs typeface="Arial"/>
                        </a:rPr>
                        <a:t>MinimumDose</a:t>
                      </a:r>
                      <a:endParaRPr kumimoji="0" lang="en-GB" sz="1600" b="0" i="0" u="none" strike="noStrike" cap="none" normalizeH="0" baseline="0" dirty="0">
                        <a:ln>
                          <a:noFill/>
                        </a:ln>
                        <a:solidFill>
                          <a:srgbClr val="000000"/>
                        </a:solidFill>
                        <a:effectLst/>
                        <a:latin typeface="Arial"/>
                        <a:ea typeface="Times New Roman" charset="0"/>
                        <a:cs typeface="Arial"/>
                      </a:endParaRP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532808645"/>
      </p:ext>
    </p:extLst>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CABBA-23E1-926B-9384-F7A35551E39E}"/>
              </a:ext>
            </a:extLst>
          </p:cNvPr>
          <p:cNvSpPr>
            <a:spLocks noGrp="1"/>
          </p:cNvSpPr>
          <p:nvPr>
            <p:ph type="title"/>
          </p:nvPr>
        </p:nvSpPr>
        <p:spPr/>
        <p:txBody>
          <a:bodyPr/>
          <a:lstStyle/>
          <a:p>
            <a:r>
              <a:rPr lang="en-US" dirty="0"/>
              <a:t>Personas</a:t>
            </a:r>
          </a:p>
        </p:txBody>
      </p:sp>
      <p:sp>
        <p:nvSpPr>
          <p:cNvPr id="3" name="Content Placeholder 2">
            <a:extLst>
              <a:ext uri="{FF2B5EF4-FFF2-40B4-BE49-F238E27FC236}">
                <a16:creationId xmlns:a16="http://schemas.microsoft.com/office/drawing/2014/main" id="{6D4A201C-A9A9-DF97-B1D9-BDFD744F7BD5}"/>
              </a:ext>
            </a:extLst>
          </p:cNvPr>
          <p:cNvSpPr>
            <a:spLocks noGrp="1"/>
          </p:cNvSpPr>
          <p:nvPr>
            <p:ph idx="1"/>
          </p:nvPr>
        </p:nvSpPr>
        <p:spPr/>
        <p:txBody>
          <a:bodyPr/>
          <a:lstStyle/>
          <a:p>
            <a:pPr>
              <a:lnSpc>
                <a:spcPct val="90000"/>
              </a:lnSpc>
            </a:pPr>
            <a:r>
              <a:rPr lang="en-US" dirty="0"/>
              <a:t>Personas are used to build an understanding of potential users to design features that they are likely to find useful and to design a user interface that is suited to them.</a:t>
            </a:r>
          </a:p>
          <a:p>
            <a:r>
              <a:rPr lang="en-US" dirty="0"/>
              <a:t>Personas are ‘imagined users’ where you create a character portrait of a type of user that you think might use your product. </a:t>
            </a:r>
          </a:p>
          <a:p>
            <a:pPr lvl="1"/>
            <a:r>
              <a:rPr lang="en-US" dirty="0"/>
              <a:t>For example, if your product is aimed at managing appointments for dentists, you might create a dentist persona, a receptionist persona and a patient persona. </a:t>
            </a:r>
          </a:p>
          <a:p>
            <a:r>
              <a:rPr lang="en-US" dirty="0"/>
              <a:t>Personas of different types of user help you imagine what these users may want to do with your software and how it might be used. </a:t>
            </a:r>
          </a:p>
          <a:p>
            <a:endParaRPr lang="en-US" dirty="0"/>
          </a:p>
          <a:p>
            <a:pPr>
              <a:lnSpc>
                <a:spcPct val="90000"/>
              </a:lnSpc>
            </a:pPr>
            <a:endParaRPr lang="en-US" dirty="0"/>
          </a:p>
        </p:txBody>
      </p:sp>
      <p:sp>
        <p:nvSpPr>
          <p:cNvPr id="4" name="Date Placeholder 3">
            <a:extLst>
              <a:ext uri="{FF2B5EF4-FFF2-40B4-BE49-F238E27FC236}">
                <a16:creationId xmlns:a16="http://schemas.microsoft.com/office/drawing/2014/main" id="{ED924D15-30F8-38CB-5DBB-F238C36353C5}"/>
              </a:ext>
            </a:extLst>
          </p:cNvPr>
          <p:cNvSpPr>
            <a:spLocks noGrp="1"/>
          </p:cNvSpPr>
          <p:nvPr>
            <p:ph type="dt" sz="half" idx="10"/>
          </p:nvPr>
        </p:nvSpPr>
        <p:spPr/>
        <p:txBody>
          <a:bodyPr/>
          <a:lstStyle/>
          <a:p>
            <a:pPr>
              <a:defRPr/>
            </a:pPr>
            <a:r>
              <a:rPr lang="en-GB"/>
              <a:t>30/10/2014</a:t>
            </a:r>
            <a:endParaRPr lang="en-US"/>
          </a:p>
        </p:txBody>
      </p:sp>
      <p:sp>
        <p:nvSpPr>
          <p:cNvPr id="5" name="Footer Placeholder 4">
            <a:extLst>
              <a:ext uri="{FF2B5EF4-FFF2-40B4-BE49-F238E27FC236}">
                <a16:creationId xmlns:a16="http://schemas.microsoft.com/office/drawing/2014/main" id="{661DC31E-247D-7C0A-8237-104C11C5148D}"/>
              </a:ext>
            </a:extLst>
          </p:cNvPr>
          <p:cNvSpPr>
            <a:spLocks noGrp="1"/>
          </p:cNvSpPr>
          <p:nvPr>
            <p:ph type="ftr" sz="quarter" idx="11"/>
          </p:nvPr>
        </p:nvSpPr>
        <p:spPr/>
        <p:txBody>
          <a:bodyPr/>
          <a:lstStyle/>
          <a:p>
            <a:pPr>
              <a:defRPr/>
            </a:pPr>
            <a:r>
              <a:rPr lang="en-US"/>
              <a:t>Chapter 4 Requirements Engineering</a:t>
            </a:r>
          </a:p>
        </p:txBody>
      </p:sp>
      <p:sp>
        <p:nvSpPr>
          <p:cNvPr id="6" name="Slide Number Placeholder 5">
            <a:extLst>
              <a:ext uri="{FF2B5EF4-FFF2-40B4-BE49-F238E27FC236}">
                <a16:creationId xmlns:a16="http://schemas.microsoft.com/office/drawing/2014/main" id="{6BD15567-F4A7-345D-462B-6610EEF1011E}"/>
              </a:ext>
            </a:extLst>
          </p:cNvPr>
          <p:cNvSpPr>
            <a:spLocks noGrp="1"/>
          </p:cNvSpPr>
          <p:nvPr>
            <p:ph type="sldNum" sz="quarter" idx="12"/>
          </p:nvPr>
        </p:nvSpPr>
        <p:spPr/>
        <p:txBody>
          <a:bodyPr/>
          <a:lstStyle/>
          <a:p>
            <a:pPr>
              <a:defRPr/>
            </a:pPr>
            <a:fld id="{825F70CE-84E9-D04C-9B15-10C693AA0F2A}" type="slidenum">
              <a:rPr lang="en-US" smtClean="0"/>
              <a:pPr>
                <a:defRPr/>
              </a:pPr>
              <a:t>40</a:t>
            </a:fld>
            <a:endParaRPr lang="en-US"/>
          </a:p>
        </p:txBody>
      </p:sp>
    </p:spTree>
    <p:extLst>
      <p:ext uri="{BB962C8B-B14F-4D97-AF65-F5344CB8AC3E}">
        <p14:creationId xmlns:p14="http://schemas.microsoft.com/office/powerpoint/2010/main" val="3193996650"/>
      </p:ext>
    </p:extLst>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38C5B-3E2A-EE0D-552E-F024D4D2111E}"/>
              </a:ext>
            </a:extLst>
          </p:cNvPr>
          <p:cNvSpPr>
            <a:spLocks noGrp="1"/>
          </p:cNvSpPr>
          <p:nvPr>
            <p:ph type="title"/>
          </p:nvPr>
        </p:nvSpPr>
        <p:spPr/>
        <p:txBody>
          <a:bodyPr/>
          <a:lstStyle/>
          <a:p>
            <a:r>
              <a:rPr lang="en-US" dirty="0"/>
              <a:t>Personas Description</a:t>
            </a:r>
          </a:p>
        </p:txBody>
      </p:sp>
      <p:sp>
        <p:nvSpPr>
          <p:cNvPr id="3" name="Content Placeholder 2">
            <a:extLst>
              <a:ext uri="{FF2B5EF4-FFF2-40B4-BE49-F238E27FC236}">
                <a16:creationId xmlns:a16="http://schemas.microsoft.com/office/drawing/2014/main" id="{25041470-2997-826E-261A-CE5A2EAE221E}"/>
              </a:ext>
            </a:extLst>
          </p:cNvPr>
          <p:cNvSpPr>
            <a:spLocks noGrp="1"/>
          </p:cNvSpPr>
          <p:nvPr>
            <p:ph idx="1"/>
          </p:nvPr>
        </p:nvSpPr>
        <p:spPr/>
        <p:txBody>
          <a:bodyPr/>
          <a:lstStyle/>
          <a:p>
            <a:r>
              <a:rPr lang="en-US" dirty="0"/>
              <a:t>A persona should ‘paint a picture’ of a type of product user. They should be relatively short and easy-to-read.</a:t>
            </a:r>
          </a:p>
          <a:p>
            <a:r>
              <a:rPr lang="en-US" dirty="0"/>
              <a:t>You should describe their background and why they might want to use your product. </a:t>
            </a:r>
          </a:p>
          <a:p>
            <a:r>
              <a:rPr lang="en-US" dirty="0"/>
              <a:t>You should also say something about their educational background and technical skills. </a:t>
            </a:r>
          </a:p>
          <a:p>
            <a:r>
              <a:rPr lang="en-US" dirty="0"/>
              <a:t>These help you assess whether or not a software feature is likely to be useful, understandable and usable by typical product users</a:t>
            </a:r>
          </a:p>
        </p:txBody>
      </p:sp>
      <p:sp>
        <p:nvSpPr>
          <p:cNvPr id="4" name="Date Placeholder 3">
            <a:extLst>
              <a:ext uri="{FF2B5EF4-FFF2-40B4-BE49-F238E27FC236}">
                <a16:creationId xmlns:a16="http://schemas.microsoft.com/office/drawing/2014/main" id="{D0999EBA-7F49-6BAE-10C2-FB6FDF90CF4F}"/>
              </a:ext>
            </a:extLst>
          </p:cNvPr>
          <p:cNvSpPr>
            <a:spLocks noGrp="1"/>
          </p:cNvSpPr>
          <p:nvPr>
            <p:ph type="dt" sz="half" idx="10"/>
          </p:nvPr>
        </p:nvSpPr>
        <p:spPr/>
        <p:txBody>
          <a:bodyPr/>
          <a:lstStyle/>
          <a:p>
            <a:pPr>
              <a:defRPr/>
            </a:pPr>
            <a:r>
              <a:rPr lang="en-GB"/>
              <a:t>30/10/2014</a:t>
            </a:r>
            <a:endParaRPr lang="en-US"/>
          </a:p>
        </p:txBody>
      </p:sp>
      <p:sp>
        <p:nvSpPr>
          <p:cNvPr id="5" name="Footer Placeholder 4">
            <a:extLst>
              <a:ext uri="{FF2B5EF4-FFF2-40B4-BE49-F238E27FC236}">
                <a16:creationId xmlns:a16="http://schemas.microsoft.com/office/drawing/2014/main" id="{8A7FAB70-93A4-928E-ECB0-67A2A5BE9CFB}"/>
              </a:ext>
            </a:extLst>
          </p:cNvPr>
          <p:cNvSpPr>
            <a:spLocks noGrp="1"/>
          </p:cNvSpPr>
          <p:nvPr>
            <p:ph type="ftr" sz="quarter" idx="11"/>
          </p:nvPr>
        </p:nvSpPr>
        <p:spPr/>
        <p:txBody>
          <a:bodyPr/>
          <a:lstStyle/>
          <a:p>
            <a:pPr>
              <a:defRPr/>
            </a:pPr>
            <a:r>
              <a:rPr lang="en-US"/>
              <a:t>Chapter 4 Requirements Engineering</a:t>
            </a:r>
          </a:p>
        </p:txBody>
      </p:sp>
      <p:sp>
        <p:nvSpPr>
          <p:cNvPr id="6" name="Slide Number Placeholder 5">
            <a:extLst>
              <a:ext uri="{FF2B5EF4-FFF2-40B4-BE49-F238E27FC236}">
                <a16:creationId xmlns:a16="http://schemas.microsoft.com/office/drawing/2014/main" id="{C9425D7E-4C56-4DEA-DF68-DE38C166D834}"/>
              </a:ext>
            </a:extLst>
          </p:cNvPr>
          <p:cNvSpPr>
            <a:spLocks noGrp="1"/>
          </p:cNvSpPr>
          <p:nvPr>
            <p:ph type="sldNum" sz="quarter" idx="12"/>
          </p:nvPr>
        </p:nvSpPr>
        <p:spPr/>
        <p:txBody>
          <a:bodyPr/>
          <a:lstStyle/>
          <a:p>
            <a:pPr>
              <a:defRPr/>
            </a:pPr>
            <a:fld id="{825F70CE-84E9-D04C-9B15-10C693AA0F2A}" type="slidenum">
              <a:rPr lang="en-US" smtClean="0"/>
              <a:pPr>
                <a:defRPr/>
              </a:pPr>
              <a:t>41</a:t>
            </a:fld>
            <a:endParaRPr lang="en-US"/>
          </a:p>
        </p:txBody>
      </p:sp>
    </p:spTree>
    <p:extLst>
      <p:ext uri="{BB962C8B-B14F-4D97-AF65-F5344CB8AC3E}">
        <p14:creationId xmlns:p14="http://schemas.microsoft.com/office/powerpoint/2010/main" val="3371778476"/>
      </p:ext>
    </p:extLst>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D7022-478F-E420-1647-CEE84290BD6F}"/>
              </a:ext>
            </a:extLst>
          </p:cNvPr>
          <p:cNvSpPr>
            <a:spLocks noGrp="1"/>
          </p:cNvSpPr>
          <p:nvPr>
            <p:ph type="title"/>
          </p:nvPr>
        </p:nvSpPr>
        <p:spPr/>
        <p:txBody>
          <a:bodyPr/>
          <a:lstStyle/>
          <a:p>
            <a:r>
              <a:rPr lang="en-US" dirty="0"/>
              <a:t>Personas Description</a:t>
            </a:r>
          </a:p>
        </p:txBody>
      </p:sp>
      <p:sp>
        <p:nvSpPr>
          <p:cNvPr id="4" name="Date Placeholder 3">
            <a:extLst>
              <a:ext uri="{FF2B5EF4-FFF2-40B4-BE49-F238E27FC236}">
                <a16:creationId xmlns:a16="http://schemas.microsoft.com/office/drawing/2014/main" id="{22FF5197-B25C-D600-1F16-8412D84469A3}"/>
              </a:ext>
            </a:extLst>
          </p:cNvPr>
          <p:cNvSpPr>
            <a:spLocks noGrp="1"/>
          </p:cNvSpPr>
          <p:nvPr>
            <p:ph type="dt" sz="half" idx="10"/>
          </p:nvPr>
        </p:nvSpPr>
        <p:spPr/>
        <p:txBody>
          <a:bodyPr/>
          <a:lstStyle/>
          <a:p>
            <a:pPr>
              <a:defRPr/>
            </a:pPr>
            <a:r>
              <a:rPr lang="en-GB"/>
              <a:t>30/10/2014</a:t>
            </a:r>
            <a:endParaRPr lang="en-US"/>
          </a:p>
        </p:txBody>
      </p:sp>
      <p:sp>
        <p:nvSpPr>
          <p:cNvPr id="5" name="Footer Placeholder 4">
            <a:extLst>
              <a:ext uri="{FF2B5EF4-FFF2-40B4-BE49-F238E27FC236}">
                <a16:creationId xmlns:a16="http://schemas.microsoft.com/office/drawing/2014/main" id="{59202408-9480-DCE7-A807-10B21E4A503C}"/>
              </a:ext>
            </a:extLst>
          </p:cNvPr>
          <p:cNvSpPr>
            <a:spLocks noGrp="1"/>
          </p:cNvSpPr>
          <p:nvPr>
            <p:ph type="ftr" sz="quarter" idx="11"/>
          </p:nvPr>
        </p:nvSpPr>
        <p:spPr/>
        <p:txBody>
          <a:bodyPr/>
          <a:lstStyle/>
          <a:p>
            <a:pPr>
              <a:defRPr/>
            </a:pPr>
            <a:r>
              <a:rPr lang="en-US"/>
              <a:t>Chapter 4 Requirements Engineering</a:t>
            </a:r>
          </a:p>
        </p:txBody>
      </p:sp>
      <p:sp>
        <p:nvSpPr>
          <p:cNvPr id="6" name="Slide Number Placeholder 5">
            <a:extLst>
              <a:ext uri="{FF2B5EF4-FFF2-40B4-BE49-F238E27FC236}">
                <a16:creationId xmlns:a16="http://schemas.microsoft.com/office/drawing/2014/main" id="{0F4969C1-3DAD-4CDE-2445-E1C090858D2A}"/>
              </a:ext>
            </a:extLst>
          </p:cNvPr>
          <p:cNvSpPr>
            <a:spLocks noGrp="1"/>
          </p:cNvSpPr>
          <p:nvPr>
            <p:ph type="sldNum" sz="quarter" idx="12"/>
          </p:nvPr>
        </p:nvSpPr>
        <p:spPr/>
        <p:txBody>
          <a:bodyPr/>
          <a:lstStyle/>
          <a:p>
            <a:pPr>
              <a:defRPr/>
            </a:pPr>
            <a:fld id="{825F70CE-84E9-D04C-9B15-10C693AA0F2A}" type="slidenum">
              <a:rPr lang="en-US" smtClean="0"/>
              <a:pPr>
                <a:defRPr/>
              </a:pPr>
              <a:t>42</a:t>
            </a:fld>
            <a:endParaRPr lang="en-US"/>
          </a:p>
        </p:txBody>
      </p:sp>
      <p:pic>
        <p:nvPicPr>
          <p:cNvPr id="7" name="Picture 6">
            <a:extLst>
              <a:ext uri="{FF2B5EF4-FFF2-40B4-BE49-F238E27FC236}">
                <a16:creationId xmlns:a16="http://schemas.microsoft.com/office/drawing/2014/main" id="{270B7934-2836-9445-81DF-A6FF973A7E04}"/>
              </a:ext>
            </a:extLst>
          </p:cNvPr>
          <p:cNvPicPr>
            <a:picLocks noChangeAspect="1"/>
          </p:cNvPicPr>
          <p:nvPr/>
        </p:nvPicPr>
        <p:blipFill rotWithShape="1">
          <a:blip r:embed="rId2">
            <a:extLst>
              <a:ext uri="{28A0092B-C50C-407E-A947-70E740481C1C}">
                <a14:useLocalDpi xmlns:a14="http://schemas.microsoft.com/office/drawing/2010/main" val="0"/>
              </a:ext>
            </a:extLst>
          </a:blip>
          <a:srcRect l="12288" t="8515" r="18058" b="54045"/>
          <a:stretch/>
        </p:blipFill>
        <p:spPr>
          <a:xfrm>
            <a:off x="1187624" y="1352222"/>
            <a:ext cx="6994160" cy="5369253"/>
          </a:xfrm>
          <a:prstGeom prst="rect">
            <a:avLst/>
          </a:prstGeom>
        </p:spPr>
      </p:pic>
    </p:spTree>
    <p:extLst>
      <p:ext uri="{BB962C8B-B14F-4D97-AF65-F5344CB8AC3E}">
        <p14:creationId xmlns:p14="http://schemas.microsoft.com/office/powerpoint/2010/main" val="3932588085"/>
      </p:ext>
    </p:extLst>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F0417-442F-F5EF-E9D1-93DF49FA339D}"/>
              </a:ext>
            </a:extLst>
          </p:cNvPr>
          <p:cNvSpPr>
            <a:spLocks noGrp="1"/>
          </p:cNvSpPr>
          <p:nvPr>
            <p:ph type="title"/>
          </p:nvPr>
        </p:nvSpPr>
        <p:spPr/>
        <p:txBody>
          <a:bodyPr/>
          <a:lstStyle/>
          <a:p>
            <a:r>
              <a:rPr lang="en-US" dirty="0"/>
              <a:t>Persona (Example)</a:t>
            </a:r>
          </a:p>
        </p:txBody>
      </p:sp>
      <p:sp>
        <p:nvSpPr>
          <p:cNvPr id="3" name="Content Placeholder 2">
            <a:extLst>
              <a:ext uri="{FF2B5EF4-FFF2-40B4-BE49-F238E27FC236}">
                <a16:creationId xmlns:a16="http://schemas.microsoft.com/office/drawing/2014/main" id="{2CCF69B5-029B-FDE4-FAA5-EE5E83F07EB7}"/>
              </a:ext>
            </a:extLst>
          </p:cNvPr>
          <p:cNvSpPr>
            <a:spLocks noGrp="1"/>
          </p:cNvSpPr>
          <p:nvPr>
            <p:ph idx="1"/>
          </p:nvPr>
        </p:nvSpPr>
        <p:spPr/>
        <p:txBody>
          <a:bodyPr/>
          <a:lstStyle/>
          <a:p>
            <a:pPr marL="0" indent="0" algn="l">
              <a:buNone/>
              <a:defRPr sz="2400" b="1" i="1"/>
            </a:pPr>
            <a:r>
              <a:rPr lang="en-US" sz="1800" dirty="0"/>
              <a:t>Jack, a primary school teacher</a:t>
            </a:r>
          </a:p>
          <a:p>
            <a:pPr marL="0" indent="0" algn="l">
              <a:buNone/>
              <a:defRPr sz="2400"/>
            </a:pPr>
            <a:r>
              <a:rPr lang="en-US" sz="1800" dirty="0"/>
              <a:t>Jack, age 32, is a primary school (elementary school) teacher in Ullapool, a large coastal village in the Scottish Highlands. He teaches children from ages 9-12. He was born in a fishing community north of Ullapool, where his father runs a marine fuels supply business and his mother is a community nurse. He has a degree in English from Glasgow University and retrained as a teacher after several years working as a web content author for a large leisure group.  </a:t>
            </a:r>
          </a:p>
          <a:p>
            <a:pPr marL="0" indent="0" algn="l">
              <a:buNone/>
              <a:defRPr sz="2400"/>
            </a:pPr>
            <a:r>
              <a:rPr lang="en-US" sz="1800" dirty="0"/>
              <a:t>Jack’s experience as a web developer means that he is confident in all aspects of digital technology. He passionately believes that the effective use of digital technologies, blended with face to face teaching, can enhance the learning experience for children. He is particularly interested in using the </a:t>
            </a:r>
            <a:r>
              <a:rPr lang="en-US" sz="1800" dirty="0" err="1"/>
              <a:t>iLearn</a:t>
            </a:r>
            <a:r>
              <a:rPr lang="en-US" sz="1800" dirty="0"/>
              <a:t> system for project-based teaching, where students work together across subject areas on a challenging topic.</a:t>
            </a:r>
          </a:p>
          <a:p>
            <a:pPr marL="0" indent="0">
              <a:buNone/>
            </a:pPr>
            <a:endParaRPr lang="en-US" sz="1800" dirty="0"/>
          </a:p>
        </p:txBody>
      </p:sp>
      <p:sp>
        <p:nvSpPr>
          <p:cNvPr id="4" name="Date Placeholder 3">
            <a:extLst>
              <a:ext uri="{FF2B5EF4-FFF2-40B4-BE49-F238E27FC236}">
                <a16:creationId xmlns:a16="http://schemas.microsoft.com/office/drawing/2014/main" id="{B6276FA3-82AA-913F-E38D-D17B596548C6}"/>
              </a:ext>
            </a:extLst>
          </p:cNvPr>
          <p:cNvSpPr>
            <a:spLocks noGrp="1"/>
          </p:cNvSpPr>
          <p:nvPr>
            <p:ph type="dt" sz="half" idx="10"/>
          </p:nvPr>
        </p:nvSpPr>
        <p:spPr/>
        <p:txBody>
          <a:bodyPr/>
          <a:lstStyle/>
          <a:p>
            <a:pPr>
              <a:defRPr/>
            </a:pPr>
            <a:r>
              <a:rPr lang="en-GB"/>
              <a:t>30/10/2014</a:t>
            </a:r>
            <a:endParaRPr lang="en-US"/>
          </a:p>
        </p:txBody>
      </p:sp>
      <p:sp>
        <p:nvSpPr>
          <p:cNvPr id="5" name="Footer Placeholder 4">
            <a:extLst>
              <a:ext uri="{FF2B5EF4-FFF2-40B4-BE49-F238E27FC236}">
                <a16:creationId xmlns:a16="http://schemas.microsoft.com/office/drawing/2014/main" id="{BC84194C-D628-45B1-B9BC-F267ABEE9B2C}"/>
              </a:ext>
            </a:extLst>
          </p:cNvPr>
          <p:cNvSpPr>
            <a:spLocks noGrp="1"/>
          </p:cNvSpPr>
          <p:nvPr>
            <p:ph type="ftr" sz="quarter" idx="11"/>
          </p:nvPr>
        </p:nvSpPr>
        <p:spPr/>
        <p:txBody>
          <a:bodyPr/>
          <a:lstStyle/>
          <a:p>
            <a:pPr>
              <a:defRPr/>
            </a:pPr>
            <a:r>
              <a:rPr lang="en-US"/>
              <a:t>Chapter 4 Requirements Engineering</a:t>
            </a:r>
          </a:p>
        </p:txBody>
      </p:sp>
      <p:sp>
        <p:nvSpPr>
          <p:cNvPr id="6" name="Slide Number Placeholder 5">
            <a:extLst>
              <a:ext uri="{FF2B5EF4-FFF2-40B4-BE49-F238E27FC236}">
                <a16:creationId xmlns:a16="http://schemas.microsoft.com/office/drawing/2014/main" id="{6EE5E22E-0CB1-8CEA-201F-7CB61F6E8FB8}"/>
              </a:ext>
            </a:extLst>
          </p:cNvPr>
          <p:cNvSpPr>
            <a:spLocks noGrp="1"/>
          </p:cNvSpPr>
          <p:nvPr>
            <p:ph type="sldNum" sz="quarter" idx="12"/>
          </p:nvPr>
        </p:nvSpPr>
        <p:spPr/>
        <p:txBody>
          <a:bodyPr/>
          <a:lstStyle/>
          <a:p>
            <a:pPr>
              <a:defRPr/>
            </a:pPr>
            <a:fld id="{825F70CE-84E9-D04C-9B15-10C693AA0F2A}" type="slidenum">
              <a:rPr lang="en-US" smtClean="0"/>
              <a:pPr>
                <a:defRPr/>
              </a:pPr>
              <a:t>43</a:t>
            </a:fld>
            <a:endParaRPr lang="en-US"/>
          </a:p>
        </p:txBody>
      </p:sp>
    </p:spTree>
    <p:extLst>
      <p:ext uri="{BB962C8B-B14F-4D97-AF65-F5344CB8AC3E}">
        <p14:creationId xmlns:p14="http://schemas.microsoft.com/office/powerpoint/2010/main" val="2038360331"/>
      </p:ext>
    </p:extLst>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CABBA-23E1-926B-9384-F7A35551E39E}"/>
              </a:ext>
            </a:extLst>
          </p:cNvPr>
          <p:cNvSpPr>
            <a:spLocks noGrp="1"/>
          </p:cNvSpPr>
          <p:nvPr>
            <p:ph type="title"/>
          </p:nvPr>
        </p:nvSpPr>
        <p:spPr/>
        <p:txBody>
          <a:bodyPr/>
          <a:lstStyle/>
          <a:p>
            <a:r>
              <a:rPr lang="en-US" dirty="0"/>
              <a:t>Scenarios and User Stories</a:t>
            </a:r>
          </a:p>
        </p:txBody>
      </p:sp>
      <p:sp>
        <p:nvSpPr>
          <p:cNvPr id="3" name="Content Placeholder 2">
            <a:extLst>
              <a:ext uri="{FF2B5EF4-FFF2-40B4-BE49-F238E27FC236}">
                <a16:creationId xmlns:a16="http://schemas.microsoft.com/office/drawing/2014/main" id="{6D4A201C-A9A9-DF97-B1D9-BDFD744F7BD5}"/>
              </a:ext>
            </a:extLst>
          </p:cNvPr>
          <p:cNvSpPr>
            <a:spLocks noGrp="1"/>
          </p:cNvSpPr>
          <p:nvPr>
            <p:ph idx="1"/>
          </p:nvPr>
        </p:nvSpPr>
        <p:spPr/>
        <p:txBody>
          <a:bodyPr/>
          <a:lstStyle/>
          <a:p>
            <a:pPr>
              <a:lnSpc>
                <a:spcPct val="90000"/>
              </a:lnSpc>
            </a:pPr>
            <a:r>
              <a:rPr lang="en-US" dirty="0"/>
              <a:t>People find it easier to relate to real-life examples than abstract descriptions. They are not good at telling you the system requirements. However, they may be able to describe how they handle particular situations or imagine things that they might do in a new way of working.</a:t>
            </a:r>
          </a:p>
          <a:p>
            <a:pPr>
              <a:lnSpc>
                <a:spcPct val="90000"/>
              </a:lnSpc>
            </a:pPr>
            <a:r>
              <a:rPr lang="en-US" dirty="0"/>
              <a:t> Stories and scenarios are ways of capturing this kind of information.</a:t>
            </a:r>
          </a:p>
        </p:txBody>
      </p:sp>
      <p:sp>
        <p:nvSpPr>
          <p:cNvPr id="4" name="Date Placeholder 3">
            <a:extLst>
              <a:ext uri="{FF2B5EF4-FFF2-40B4-BE49-F238E27FC236}">
                <a16:creationId xmlns:a16="http://schemas.microsoft.com/office/drawing/2014/main" id="{ED924D15-30F8-38CB-5DBB-F238C36353C5}"/>
              </a:ext>
            </a:extLst>
          </p:cNvPr>
          <p:cNvSpPr>
            <a:spLocks noGrp="1"/>
          </p:cNvSpPr>
          <p:nvPr>
            <p:ph type="dt" sz="half" idx="10"/>
          </p:nvPr>
        </p:nvSpPr>
        <p:spPr/>
        <p:txBody>
          <a:bodyPr/>
          <a:lstStyle/>
          <a:p>
            <a:pPr>
              <a:defRPr/>
            </a:pPr>
            <a:r>
              <a:rPr lang="en-GB"/>
              <a:t>30/10/2014</a:t>
            </a:r>
            <a:endParaRPr lang="en-US"/>
          </a:p>
        </p:txBody>
      </p:sp>
      <p:sp>
        <p:nvSpPr>
          <p:cNvPr id="5" name="Footer Placeholder 4">
            <a:extLst>
              <a:ext uri="{FF2B5EF4-FFF2-40B4-BE49-F238E27FC236}">
                <a16:creationId xmlns:a16="http://schemas.microsoft.com/office/drawing/2014/main" id="{661DC31E-247D-7C0A-8237-104C11C5148D}"/>
              </a:ext>
            </a:extLst>
          </p:cNvPr>
          <p:cNvSpPr>
            <a:spLocks noGrp="1"/>
          </p:cNvSpPr>
          <p:nvPr>
            <p:ph type="ftr" sz="quarter" idx="11"/>
          </p:nvPr>
        </p:nvSpPr>
        <p:spPr/>
        <p:txBody>
          <a:bodyPr/>
          <a:lstStyle/>
          <a:p>
            <a:pPr>
              <a:defRPr/>
            </a:pPr>
            <a:r>
              <a:rPr lang="en-US"/>
              <a:t>Chapter 4 Requirements Engineering</a:t>
            </a:r>
          </a:p>
        </p:txBody>
      </p:sp>
      <p:sp>
        <p:nvSpPr>
          <p:cNvPr id="6" name="Slide Number Placeholder 5">
            <a:extLst>
              <a:ext uri="{FF2B5EF4-FFF2-40B4-BE49-F238E27FC236}">
                <a16:creationId xmlns:a16="http://schemas.microsoft.com/office/drawing/2014/main" id="{6BD15567-F4A7-345D-462B-6610EEF1011E}"/>
              </a:ext>
            </a:extLst>
          </p:cNvPr>
          <p:cNvSpPr>
            <a:spLocks noGrp="1"/>
          </p:cNvSpPr>
          <p:nvPr>
            <p:ph type="sldNum" sz="quarter" idx="12"/>
          </p:nvPr>
        </p:nvSpPr>
        <p:spPr/>
        <p:txBody>
          <a:bodyPr/>
          <a:lstStyle/>
          <a:p>
            <a:pPr>
              <a:defRPr/>
            </a:pPr>
            <a:fld id="{825F70CE-84E9-D04C-9B15-10C693AA0F2A}" type="slidenum">
              <a:rPr lang="en-US" smtClean="0"/>
              <a:pPr>
                <a:defRPr/>
              </a:pPr>
              <a:t>44</a:t>
            </a:fld>
            <a:endParaRPr lang="en-US"/>
          </a:p>
        </p:txBody>
      </p:sp>
    </p:spTree>
    <p:extLst>
      <p:ext uri="{BB962C8B-B14F-4D97-AF65-F5344CB8AC3E}">
        <p14:creationId xmlns:p14="http://schemas.microsoft.com/office/powerpoint/2010/main" val="3029799625"/>
      </p:ext>
    </p:extLst>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C24B6-460D-5929-CA26-3A6246F778C4}"/>
              </a:ext>
            </a:extLst>
          </p:cNvPr>
          <p:cNvSpPr>
            <a:spLocks noGrp="1"/>
          </p:cNvSpPr>
          <p:nvPr>
            <p:ph type="title"/>
          </p:nvPr>
        </p:nvSpPr>
        <p:spPr/>
        <p:txBody>
          <a:bodyPr/>
          <a:lstStyle/>
          <a:p>
            <a:r>
              <a:rPr lang="en-US" dirty="0"/>
              <a:t>Scenario</a:t>
            </a:r>
          </a:p>
        </p:txBody>
      </p:sp>
      <p:sp>
        <p:nvSpPr>
          <p:cNvPr id="3" name="Content Placeholder 2">
            <a:extLst>
              <a:ext uri="{FF2B5EF4-FFF2-40B4-BE49-F238E27FC236}">
                <a16:creationId xmlns:a16="http://schemas.microsoft.com/office/drawing/2014/main" id="{F1BD8468-6FC2-1D2A-8B06-CB77EB68FDD2}"/>
              </a:ext>
            </a:extLst>
          </p:cNvPr>
          <p:cNvSpPr>
            <a:spLocks noGrp="1"/>
          </p:cNvSpPr>
          <p:nvPr>
            <p:ph idx="1"/>
          </p:nvPr>
        </p:nvSpPr>
        <p:spPr/>
        <p:txBody>
          <a:bodyPr/>
          <a:lstStyle/>
          <a:p>
            <a:r>
              <a:rPr lang="en-US" dirty="0"/>
              <a:t>A scenario is a narrative that describes how a user, or a group of users, might use your system. </a:t>
            </a:r>
          </a:p>
          <a:p>
            <a:r>
              <a:rPr lang="en-US" dirty="0"/>
              <a:t>There is no need to include everything in a scenario – the scenario isn’t a system specification. </a:t>
            </a:r>
          </a:p>
          <a:p>
            <a:r>
              <a:rPr lang="en-US" dirty="0"/>
              <a:t>It is simply a description of a situation where a user is using your product’s features to do something that they want to do.</a:t>
            </a:r>
          </a:p>
          <a:p>
            <a:r>
              <a:rPr lang="en-US" dirty="0"/>
              <a:t>Scenario descriptions may vary in length from two to three paragraphs up to a page of text.</a:t>
            </a:r>
          </a:p>
        </p:txBody>
      </p:sp>
      <p:sp>
        <p:nvSpPr>
          <p:cNvPr id="4" name="Date Placeholder 3">
            <a:extLst>
              <a:ext uri="{FF2B5EF4-FFF2-40B4-BE49-F238E27FC236}">
                <a16:creationId xmlns:a16="http://schemas.microsoft.com/office/drawing/2014/main" id="{3ECE57DE-F2B1-397D-A85E-DE0BF70A4D11}"/>
              </a:ext>
            </a:extLst>
          </p:cNvPr>
          <p:cNvSpPr>
            <a:spLocks noGrp="1"/>
          </p:cNvSpPr>
          <p:nvPr>
            <p:ph type="dt" sz="half" idx="10"/>
          </p:nvPr>
        </p:nvSpPr>
        <p:spPr/>
        <p:txBody>
          <a:bodyPr/>
          <a:lstStyle/>
          <a:p>
            <a:pPr>
              <a:defRPr/>
            </a:pPr>
            <a:r>
              <a:rPr lang="en-GB"/>
              <a:t>30/10/2014</a:t>
            </a:r>
            <a:endParaRPr lang="en-US"/>
          </a:p>
        </p:txBody>
      </p:sp>
      <p:sp>
        <p:nvSpPr>
          <p:cNvPr id="5" name="Footer Placeholder 4">
            <a:extLst>
              <a:ext uri="{FF2B5EF4-FFF2-40B4-BE49-F238E27FC236}">
                <a16:creationId xmlns:a16="http://schemas.microsoft.com/office/drawing/2014/main" id="{92F387E3-E577-5C92-D924-778496B1F286}"/>
              </a:ext>
            </a:extLst>
          </p:cNvPr>
          <p:cNvSpPr>
            <a:spLocks noGrp="1"/>
          </p:cNvSpPr>
          <p:nvPr>
            <p:ph type="ftr" sz="quarter" idx="11"/>
          </p:nvPr>
        </p:nvSpPr>
        <p:spPr/>
        <p:txBody>
          <a:bodyPr/>
          <a:lstStyle/>
          <a:p>
            <a:pPr>
              <a:defRPr/>
            </a:pPr>
            <a:r>
              <a:rPr lang="en-US"/>
              <a:t>Chapter 4 Requirements Engineering</a:t>
            </a:r>
          </a:p>
        </p:txBody>
      </p:sp>
      <p:sp>
        <p:nvSpPr>
          <p:cNvPr id="6" name="Slide Number Placeholder 5">
            <a:extLst>
              <a:ext uri="{FF2B5EF4-FFF2-40B4-BE49-F238E27FC236}">
                <a16:creationId xmlns:a16="http://schemas.microsoft.com/office/drawing/2014/main" id="{F2347A9B-86DC-5FBD-4378-D3ED9683BB68}"/>
              </a:ext>
            </a:extLst>
          </p:cNvPr>
          <p:cNvSpPr>
            <a:spLocks noGrp="1"/>
          </p:cNvSpPr>
          <p:nvPr>
            <p:ph type="sldNum" sz="quarter" idx="12"/>
          </p:nvPr>
        </p:nvSpPr>
        <p:spPr/>
        <p:txBody>
          <a:bodyPr/>
          <a:lstStyle/>
          <a:p>
            <a:pPr>
              <a:defRPr/>
            </a:pPr>
            <a:fld id="{825F70CE-84E9-D04C-9B15-10C693AA0F2A}" type="slidenum">
              <a:rPr lang="en-US" smtClean="0"/>
              <a:pPr>
                <a:defRPr/>
              </a:pPr>
              <a:t>45</a:t>
            </a:fld>
            <a:endParaRPr lang="en-US"/>
          </a:p>
        </p:txBody>
      </p:sp>
    </p:spTree>
    <p:extLst>
      <p:ext uri="{BB962C8B-B14F-4D97-AF65-F5344CB8AC3E}">
        <p14:creationId xmlns:p14="http://schemas.microsoft.com/office/powerpoint/2010/main" val="1580002638"/>
      </p:ext>
    </p:extLst>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45A45-F320-BE7A-DFF3-AD6904255273}"/>
              </a:ext>
            </a:extLst>
          </p:cNvPr>
          <p:cNvSpPr>
            <a:spLocks noGrp="1"/>
          </p:cNvSpPr>
          <p:nvPr>
            <p:ph type="title"/>
          </p:nvPr>
        </p:nvSpPr>
        <p:spPr/>
        <p:txBody>
          <a:bodyPr/>
          <a:lstStyle/>
          <a:p>
            <a:r>
              <a:rPr lang="en-US" dirty="0"/>
              <a:t>Scenarios Description</a:t>
            </a:r>
          </a:p>
        </p:txBody>
      </p:sp>
      <p:sp>
        <p:nvSpPr>
          <p:cNvPr id="4" name="Date Placeholder 3">
            <a:extLst>
              <a:ext uri="{FF2B5EF4-FFF2-40B4-BE49-F238E27FC236}">
                <a16:creationId xmlns:a16="http://schemas.microsoft.com/office/drawing/2014/main" id="{F4449B36-6297-6787-A7F6-8C252E6FEA5D}"/>
              </a:ext>
            </a:extLst>
          </p:cNvPr>
          <p:cNvSpPr>
            <a:spLocks noGrp="1"/>
          </p:cNvSpPr>
          <p:nvPr>
            <p:ph type="dt" sz="half" idx="10"/>
          </p:nvPr>
        </p:nvSpPr>
        <p:spPr/>
        <p:txBody>
          <a:bodyPr/>
          <a:lstStyle/>
          <a:p>
            <a:pPr>
              <a:defRPr/>
            </a:pPr>
            <a:r>
              <a:rPr lang="en-GB"/>
              <a:t>30/10/2014</a:t>
            </a:r>
            <a:endParaRPr lang="en-US"/>
          </a:p>
        </p:txBody>
      </p:sp>
      <p:sp>
        <p:nvSpPr>
          <p:cNvPr id="5" name="Footer Placeholder 4">
            <a:extLst>
              <a:ext uri="{FF2B5EF4-FFF2-40B4-BE49-F238E27FC236}">
                <a16:creationId xmlns:a16="http://schemas.microsoft.com/office/drawing/2014/main" id="{612AF135-4085-F219-E0EC-08577A68182C}"/>
              </a:ext>
            </a:extLst>
          </p:cNvPr>
          <p:cNvSpPr>
            <a:spLocks noGrp="1"/>
          </p:cNvSpPr>
          <p:nvPr>
            <p:ph type="ftr" sz="quarter" idx="11"/>
          </p:nvPr>
        </p:nvSpPr>
        <p:spPr/>
        <p:txBody>
          <a:bodyPr/>
          <a:lstStyle/>
          <a:p>
            <a:pPr>
              <a:defRPr/>
            </a:pPr>
            <a:r>
              <a:rPr lang="en-US"/>
              <a:t>Chapter 4 Requirements Engineering</a:t>
            </a:r>
          </a:p>
        </p:txBody>
      </p:sp>
      <p:sp>
        <p:nvSpPr>
          <p:cNvPr id="6" name="Slide Number Placeholder 5">
            <a:extLst>
              <a:ext uri="{FF2B5EF4-FFF2-40B4-BE49-F238E27FC236}">
                <a16:creationId xmlns:a16="http://schemas.microsoft.com/office/drawing/2014/main" id="{8D826E68-D87D-E2E4-ECFF-CD0E32E693E4}"/>
              </a:ext>
            </a:extLst>
          </p:cNvPr>
          <p:cNvSpPr>
            <a:spLocks noGrp="1"/>
          </p:cNvSpPr>
          <p:nvPr>
            <p:ph type="sldNum" sz="quarter" idx="12"/>
          </p:nvPr>
        </p:nvSpPr>
        <p:spPr/>
        <p:txBody>
          <a:bodyPr/>
          <a:lstStyle/>
          <a:p>
            <a:pPr>
              <a:defRPr/>
            </a:pPr>
            <a:fld id="{825F70CE-84E9-D04C-9B15-10C693AA0F2A}" type="slidenum">
              <a:rPr lang="en-US" smtClean="0"/>
              <a:pPr>
                <a:defRPr/>
              </a:pPr>
              <a:t>46</a:t>
            </a:fld>
            <a:endParaRPr lang="en-US"/>
          </a:p>
        </p:txBody>
      </p:sp>
      <p:pic>
        <p:nvPicPr>
          <p:cNvPr id="7" name="Picture 6">
            <a:extLst>
              <a:ext uri="{FF2B5EF4-FFF2-40B4-BE49-F238E27FC236}">
                <a16:creationId xmlns:a16="http://schemas.microsoft.com/office/drawing/2014/main" id="{765AC105-DDDF-8941-8C1F-51AAB9DC38CD}"/>
              </a:ext>
            </a:extLst>
          </p:cNvPr>
          <p:cNvPicPr>
            <a:picLocks noChangeAspect="1"/>
          </p:cNvPicPr>
          <p:nvPr/>
        </p:nvPicPr>
        <p:blipFill rotWithShape="1">
          <a:blip r:embed="rId2">
            <a:extLst>
              <a:ext uri="{28A0092B-C50C-407E-A947-70E740481C1C}">
                <a14:useLocalDpi xmlns:a14="http://schemas.microsoft.com/office/drawing/2010/main" val="0"/>
              </a:ext>
            </a:extLst>
          </a:blip>
          <a:srcRect l="6980" t="25574" b="46531"/>
          <a:stretch/>
        </p:blipFill>
        <p:spPr>
          <a:xfrm>
            <a:off x="457200" y="1701636"/>
            <a:ext cx="8933201" cy="4661723"/>
          </a:xfrm>
          <a:prstGeom prst="rect">
            <a:avLst/>
          </a:prstGeom>
        </p:spPr>
      </p:pic>
    </p:spTree>
    <p:extLst>
      <p:ext uri="{BB962C8B-B14F-4D97-AF65-F5344CB8AC3E}">
        <p14:creationId xmlns:p14="http://schemas.microsoft.com/office/powerpoint/2010/main" val="1133979423"/>
      </p:ext>
    </p:extLst>
  </p:cSld>
  <p:clrMapOvr>
    <a:masterClrMapping/>
  </p:clrMapOvr>
  <p:transition spd="med">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CA09F-F45B-64A2-D172-2D10F8CFC522}"/>
              </a:ext>
            </a:extLst>
          </p:cNvPr>
          <p:cNvSpPr>
            <a:spLocks noGrp="1"/>
          </p:cNvSpPr>
          <p:nvPr>
            <p:ph type="title"/>
          </p:nvPr>
        </p:nvSpPr>
        <p:spPr/>
        <p:txBody>
          <a:bodyPr/>
          <a:lstStyle/>
          <a:p>
            <a:r>
              <a:rPr lang="en-US" dirty="0"/>
              <a:t>Scenarios (Example)</a:t>
            </a:r>
          </a:p>
        </p:txBody>
      </p:sp>
      <p:sp>
        <p:nvSpPr>
          <p:cNvPr id="4" name="Date Placeholder 3">
            <a:extLst>
              <a:ext uri="{FF2B5EF4-FFF2-40B4-BE49-F238E27FC236}">
                <a16:creationId xmlns:a16="http://schemas.microsoft.com/office/drawing/2014/main" id="{7F56EFFC-F833-C6DB-0917-65E068860662}"/>
              </a:ext>
            </a:extLst>
          </p:cNvPr>
          <p:cNvSpPr>
            <a:spLocks noGrp="1"/>
          </p:cNvSpPr>
          <p:nvPr>
            <p:ph type="dt" sz="half" idx="10"/>
          </p:nvPr>
        </p:nvSpPr>
        <p:spPr/>
        <p:txBody>
          <a:bodyPr/>
          <a:lstStyle/>
          <a:p>
            <a:pPr>
              <a:defRPr/>
            </a:pPr>
            <a:r>
              <a:rPr lang="en-GB"/>
              <a:t>30/10/2014</a:t>
            </a:r>
            <a:endParaRPr lang="en-US"/>
          </a:p>
        </p:txBody>
      </p:sp>
      <p:sp>
        <p:nvSpPr>
          <p:cNvPr id="5" name="Footer Placeholder 4">
            <a:extLst>
              <a:ext uri="{FF2B5EF4-FFF2-40B4-BE49-F238E27FC236}">
                <a16:creationId xmlns:a16="http://schemas.microsoft.com/office/drawing/2014/main" id="{AA01A900-0F28-4A64-867E-8918FB7EE949}"/>
              </a:ext>
            </a:extLst>
          </p:cNvPr>
          <p:cNvSpPr>
            <a:spLocks noGrp="1"/>
          </p:cNvSpPr>
          <p:nvPr>
            <p:ph type="ftr" sz="quarter" idx="11"/>
          </p:nvPr>
        </p:nvSpPr>
        <p:spPr/>
        <p:txBody>
          <a:bodyPr/>
          <a:lstStyle/>
          <a:p>
            <a:pPr>
              <a:defRPr/>
            </a:pPr>
            <a:r>
              <a:rPr lang="en-US"/>
              <a:t>Chapter 4 Requirements Engineering</a:t>
            </a:r>
          </a:p>
        </p:txBody>
      </p:sp>
      <p:sp>
        <p:nvSpPr>
          <p:cNvPr id="6" name="Slide Number Placeholder 5">
            <a:extLst>
              <a:ext uri="{FF2B5EF4-FFF2-40B4-BE49-F238E27FC236}">
                <a16:creationId xmlns:a16="http://schemas.microsoft.com/office/drawing/2014/main" id="{05AD42A7-D9BB-8278-3014-5758BA133669}"/>
              </a:ext>
            </a:extLst>
          </p:cNvPr>
          <p:cNvSpPr>
            <a:spLocks noGrp="1"/>
          </p:cNvSpPr>
          <p:nvPr>
            <p:ph type="sldNum" sz="quarter" idx="12"/>
          </p:nvPr>
        </p:nvSpPr>
        <p:spPr/>
        <p:txBody>
          <a:bodyPr/>
          <a:lstStyle/>
          <a:p>
            <a:pPr>
              <a:defRPr/>
            </a:pPr>
            <a:fld id="{825F70CE-84E9-D04C-9B15-10C693AA0F2A}" type="slidenum">
              <a:rPr lang="en-US" smtClean="0"/>
              <a:pPr>
                <a:defRPr/>
              </a:pPr>
              <a:t>47</a:t>
            </a:fld>
            <a:endParaRPr lang="en-US"/>
          </a:p>
        </p:txBody>
      </p:sp>
      <p:sp>
        <p:nvSpPr>
          <p:cNvPr id="8" name="TextBox 7">
            <a:extLst>
              <a:ext uri="{FF2B5EF4-FFF2-40B4-BE49-F238E27FC236}">
                <a16:creationId xmlns:a16="http://schemas.microsoft.com/office/drawing/2014/main" id="{84CB7EDE-1732-0426-355C-47C79B27BEA4}"/>
              </a:ext>
            </a:extLst>
          </p:cNvPr>
          <p:cNvSpPr txBox="1"/>
          <p:nvPr/>
        </p:nvSpPr>
        <p:spPr>
          <a:xfrm>
            <a:off x="323528" y="1628800"/>
            <a:ext cx="8363272" cy="4616648"/>
          </a:xfrm>
          <a:prstGeom prst="rect">
            <a:avLst/>
          </a:prstGeom>
          <a:noFill/>
        </p:spPr>
        <p:txBody>
          <a:bodyPr wrap="square">
            <a:spAutoFit/>
          </a:bodyPr>
          <a:lstStyle/>
          <a:p>
            <a:pPr algn="l">
              <a:defRPr sz="2000"/>
            </a:pPr>
            <a:r>
              <a:rPr lang="en-US" sz="1400" b="1" i="1" dirty="0"/>
              <a:t>Fishing in Ullapool</a:t>
            </a:r>
            <a:br>
              <a:rPr lang="en-US" sz="1400" b="1" i="1" dirty="0"/>
            </a:br>
            <a:r>
              <a:rPr lang="en-US" sz="1400" dirty="0"/>
              <a:t>Jack is a primary school teacher in Ullapool, teaching P6 pupils. He has decided that a class project should be focused around the fishing industry in the area, looking at the history, development and economic impact of fishing.</a:t>
            </a:r>
          </a:p>
          <a:p>
            <a:pPr algn="l">
              <a:defRPr sz="2000"/>
            </a:pPr>
            <a:endParaRPr lang="en-US" sz="1400" dirty="0"/>
          </a:p>
          <a:p>
            <a:pPr algn="l">
              <a:defRPr sz="2000"/>
            </a:pPr>
            <a:r>
              <a:rPr lang="en-US" sz="1400" dirty="0"/>
              <a:t>As part of this, students are asked to gather and share reminiscences from relatives, use newspaper archives and collect old photographs related to fishing and fishing communities in the area. Pupils use an </a:t>
            </a:r>
            <a:r>
              <a:rPr lang="en-US" sz="1400" dirty="0" err="1"/>
              <a:t>iLearn</a:t>
            </a:r>
            <a:r>
              <a:rPr lang="en-US" sz="1400" dirty="0"/>
              <a:t> wiki to gather together fishing stories and SCRAN (a history archive site) to access newspaper archives and photographs. However, Jack also needs a photo-sharing site as he wants students to take and comment on each others’ photos and to upload scans of old photographs that they may have in their families. He needs to be able to moderate posts with photos before they are shared, because pre-teen children can’t understand copyright and privacy issues.</a:t>
            </a:r>
          </a:p>
          <a:p>
            <a:pPr algn="l">
              <a:defRPr sz="2000"/>
            </a:pPr>
            <a:endParaRPr lang="en-US" sz="1400" dirty="0"/>
          </a:p>
          <a:p>
            <a:pPr algn="l">
              <a:defRPr sz="2000"/>
            </a:pPr>
            <a:r>
              <a:rPr lang="en-US" sz="1400" dirty="0"/>
              <a:t>Jack sends an email to a primary school teachers’ group to see if anyone can recommend an appropriate system. Two teachers reply and both suggest that he uses </a:t>
            </a:r>
            <a:r>
              <a:rPr lang="en-US" sz="1400" dirty="0" err="1"/>
              <a:t>KidsTakePics</a:t>
            </a:r>
            <a:r>
              <a:rPr lang="en-US" sz="1400" dirty="0"/>
              <a:t>, a photo-sharing site that allows teachers to check and moderate content. As </a:t>
            </a:r>
            <a:r>
              <a:rPr lang="en-US" sz="1400" dirty="0" err="1"/>
              <a:t>KidsTakePics</a:t>
            </a:r>
            <a:r>
              <a:rPr lang="en-US" sz="1400" dirty="0"/>
              <a:t> is not integrated with the </a:t>
            </a:r>
            <a:r>
              <a:rPr lang="en-US" sz="1400" dirty="0" err="1"/>
              <a:t>iLearn</a:t>
            </a:r>
            <a:r>
              <a:rPr lang="en-US" sz="1400" dirty="0"/>
              <a:t> authentication service, he sets up a teacher and a class account with </a:t>
            </a:r>
            <a:r>
              <a:rPr lang="en-US" sz="1400" dirty="0" err="1"/>
              <a:t>KidsTakePics</a:t>
            </a:r>
            <a:r>
              <a:rPr lang="en-US" sz="1400" dirty="0"/>
              <a:t>.</a:t>
            </a:r>
          </a:p>
          <a:p>
            <a:pPr algn="l">
              <a:defRPr sz="2000"/>
            </a:pPr>
            <a:endParaRPr lang="en-US" sz="1400" dirty="0"/>
          </a:p>
          <a:p>
            <a:pPr algn="l">
              <a:defRPr sz="2000"/>
            </a:pPr>
            <a:r>
              <a:rPr lang="en-US" sz="1400" dirty="0"/>
              <a:t>He uses the  </a:t>
            </a:r>
            <a:r>
              <a:rPr lang="en-US" sz="1400" dirty="0" err="1"/>
              <a:t>the</a:t>
            </a:r>
            <a:r>
              <a:rPr lang="en-US" sz="1400" dirty="0"/>
              <a:t> </a:t>
            </a:r>
            <a:r>
              <a:rPr lang="en-US" sz="1400" dirty="0" err="1"/>
              <a:t>iLearn</a:t>
            </a:r>
            <a:r>
              <a:rPr lang="en-US" sz="1400" dirty="0"/>
              <a:t> setup service to add </a:t>
            </a:r>
            <a:r>
              <a:rPr lang="en-US" sz="1400" dirty="0" err="1"/>
              <a:t>KidsTakePics</a:t>
            </a:r>
            <a:r>
              <a:rPr lang="en-US" sz="1400" dirty="0"/>
              <a:t> to the services seen by the students in his class so that, when they log in, they can immediately use the system to upload photos from their phones and class computers.</a:t>
            </a:r>
          </a:p>
        </p:txBody>
      </p:sp>
    </p:spTree>
    <p:extLst>
      <p:ext uri="{BB962C8B-B14F-4D97-AF65-F5344CB8AC3E}">
        <p14:creationId xmlns:p14="http://schemas.microsoft.com/office/powerpoint/2010/main" val="2564890062"/>
      </p:ext>
    </p:extLst>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8D1FE-2611-ADDE-55B7-C97CBFA799B9}"/>
              </a:ext>
            </a:extLst>
          </p:cNvPr>
          <p:cNvSpPr>
            <a:spLocks noGrp="1"/>
          </p:cNvSpPr>
          <p:nvPr>
            <p:ph type="title"/>
          </p:nvPr>
        </p:nvSpPr>
        <p:spPr/>
        <p:txBody>
          <a:bodyPr/>
          <a:lstStyle/>
          <a:p>
            <a:r>
              <a:rPr lang="en-US" dirty="0"/>
              <a:t>Scenarios (Elements of the Example)</a:t>
            </a:r>
          </a:p>
        </p:txBody>
      </p:sp>
      <p:sp>
        <p:nvSpPr>
          <p:cNvPr id="3" name="Content Placeholder 2">
            <a:extLst>
              <a:ext uri="{FF2B5EF4-FFF2-40B4-BE49-F238E27FC236}">
                <a16:creationId xmlns:a16="http://schemas.microsoft.com/office/drawing/2014/main" id="{6FA526B9-1CD5-09A8-21EF-45EB5B012342}"/>
              </a:ext>
            </a:extLst>
          </p:cNvPr>
          <p:cNvSpPr>
            <a:spLocks noGrp="1"/>
          </p:cNvSpPr>
          <p:nvPr>
            <p:ph idx="1"/>
          </p:nvPr>
        </p:nvSpPr>
        <p:spPr/>
        <p:txBody>
          <a:bodyPr/>
          <a:lstStyle/>
          <a:p>
            <a:pPr marL="208798" indent="-208798" defTabSz="496570">
              <a:spcBef>
                <a:spcPts val="0"/>
              </a:spcBef>
              <a:defRPr sz="2380"/>
            </a:pPr>
            <a:r>
              <a:rPr lang="en-US" sz="1800" dirty="0"/>
              <a:t>A brief statement of the overall objective. </a:t>
            </a:r>
          </a:p>
          <a:p>
            <a:pPr marL="608848" lvl="1" indent="-208798" defTabSz="496570">
              <a:spcBef>
                <a:spcPts val="0"/>
              </a:spcBef>
              <a:defRPr sz="2380"/>
            </a:pPr>
            <a:r>
              <a:rPr lang="en-US" sz="1400" dirty="0"/>
              <a:t>In Jack’s scenario, this is to support a class project on the fishing industry. </a:t>
            </a:r>
          </a:p>
          <a:p>
            <a:pPr marL="208798" indent="-208798" defTabSz="496570">
              <a:spcBef>
                <a:spcPts val="0"/>
              </a:spcBef>
              <a:defRPr sz="2380"/>
            </a:pPr>
            <a:r>
              <a:rPr lang="en-US" sz="1800" dirty="0"/>
              <a:t>References to the personas involved (Jack) so that you can get information about the capabilities and motivation of that user.</a:t>
            </a:r>
          </a:p>
          <a:p>
            <a:pPr marL="208798" indent="-208798" defTabSz="496570">
              <a:spcBef>
                <a:spcPts val="0"/>
              </a:spcBef>
              <a:defRPr sz="2380"/>
            </a:pPr>
            <a:r>
              <a:rPr lang="en-US" sz="1800" dirty="0"/>
              <a:t>Information about what is involved in doing the activity. For example, in Jack’s scenario this involves gathering reminiscences from relatives, accessing newspaper archives, etc.</a:t>
            </a:r>
          </a:p>
          <a:p>
            <a:pPr marL="208798" indent="-208798" defTabSz="496570">
              <a:spcBef>
                <a:spcPts val="0"/>
              </a:spcBef>
              <a:defRPr sz="2380"/>
            </a:pPr>
            <a:r>
              <a:rPr lang="en-US" sz="1800" dirty="0"/>
              <a:t>An explanation of problems that can’t be readily addressed using the existing system. </a:t>
            </a:r>
          </a:p>
          <a:p>
            <a:pPr marL="608848" lvl="1" indent="-208798" defTabSz="496570">
              <a:spcBef>
                <a:spcPts val="0"/>
              </a:spcBef>
              <a:defRPr sz="2380"/>
            </a:pPr>
            <a:r>
              <a:rPr lang="en-US" sz="1400" dirty="0"/>
              <a:t>Young children don’t understand issues such as copyright and privacy, so photo sharing requires a site that a teacher can moderate to make sure that published images are legal and acceptable.</a:t>
            </a:r>
          </a:p>
          <a:p>
            <a:pPr marL="208798" indent="-208798" defTabSz="496570">
              <a:spcBef>
                <a:spcPts val="0"/>
              </a:spcBef>
              <a:defRPr sz="2380"/>
            </a:pPr>
            <a:r>
              <a:rPr lang="en-US" sz="1800" dirty="0"/>
              <a:t>A description of one way that the identified problem might be addressed. </a:t>
            </a:r>
          </a:p>
          <a:p>
            <a:pPr marL="608848" lvl="1" indent="-208798" defTabSz="496570">
              <a:spcBef>
                <a:spcPts val="0"/>
              </a:spcBef>
              <a:defRPr sz="2380"/>
            </a:pPr>
            <a:r>
              <a:rPr lang="en-US" sz="1400" dirty="0"/>
              <a:t>In Jack’s scenario, the preferred approach is to use an external tool designed for school students. </a:t>
            </a:r>
          </a:p>
          <a:p>
            <a:endParaRPr lang="en-US" sz="1800" dirty="0"/>
          </a:p>
        </p:txBody>
      </p:sp>
      <p:sp>
        <p:nvSpPr>
          <p:cNvPr id="4" name="Date Placeholder 3">
            <a:extLst>
              <a:ext uri="{FF2B5EF4-FFF2-40B4-BE49-F238E27FC236}">
                <a16:creationId xmlns:a16="http://schemas.microsoft.com/office/drawing/2014/main" id="{BB49AFB0-E338-8472-F90E-60808F108EF7}"/>
              </a:ext>
            </a:extLst>
          </p:cNvPr>
          <p:cNvSpPr>
            <a:spLocks noGrp="1"/>
          </p:cNvSpPr>
          <p:nvPr>
            <p:ph type="dt" sz="half" idx="10"/>
          </p:nvPr>
        </p:nvSpPr>
        <p:spPr/>
        <p:txBody>
          <a:bodyPr/>
          <a:lstStyle/>
          <a:p>
            <a:pPr>
              <a:defRPr/>
            </a:pPr>
            <a:r>
              <a:rPr lang="en-GB"/>
              <a:t>30/10/2014</a:t>
            </a:r>
            <a:endParaRPr lang="en-US"/>
          </a:p>
        </p:txBody>
      </p:sp>
      <p:sp>
        <p:nvSpPr>
          <p:cNvPr id="5" name="Footer Placeholder 4">
            <a:extLst>
              <a:ext uri="{FF2B5EF4-FFF2-40B4-BE49-F238E27FC236}">
                <a16:creationId xmlns:a16="http://schemas.microsoft.com/office/drawing/2014/main" id="{276AC2F3-8E2A-9AC6-3F7F-5BFE6A1D1D09}"/>
              </a:ext>
            </a:extLst>
          </p:cNvPr>
          <p:cNvSpPr>
            <a:spLocks noGrp="1"/>
          </p:cNvSpPr>
          <p:nvPr>
            <p:ph type="ftr" sz="quarter" idx="11"/>
          </p:nvPr>
        </p:nvSpPr>
        <p:spPr/>
        <p:txBody>
          <a:bodyPr/>
          <a:lstStyle/>
          <a:p>
            <a:pPr>
              <a:defRPr/>
            </a:pPr>
            <a:r>
              <a:rPr lang="en-US"/>
              <a:t>Chapter 4 Requirements Engineering</a:t>
            </a:r>
          </a:p>
        </p:txBody>
      </p:sp>
      <p:sp>
        <p:nvSpPr>
          <p:cNvPr id="6" name="Slide Number Placeholder 5">
            <a:extLst>
              <a:ext uri="{FF2B5EF4-FFF2-40B4-BE49-F238E27FC236}">
                <a16:creationId xmlns:a16="http://schemas.microsoft.com/office/drawing/2014/main" id="{3E606160-5C8B-DF52-5DF2-7EFEE1DC8E7F}"/>
              </a:ext>
            </a:extLst>
          </p:cNvPr>
          <p:cNvSpPr>
            <a:spLocks noGrp="1"/>
          </p:cNvSpPr>
          <p:nvPr>
            <p:ph type="sldNum" sz="quarter" idx="12"/>
          </p:nvPr>
        </p:nvSpPr>
        <p:spPr/>
        <p:txBody>
          <a:bodyPr/>
          <a:lstStyle/>
          <a:p>
            <a:pPr>
              <a:defRPr/>
            </a:pPr>
            <a:fld id="{825F70CE-84E9-D04C-9B15-10C693AA0F2A}" type="slidenum">
              <a:rPr lang="en-US" smtClean="0"/>
              <a:pPr>
                <a:defRPr/>
              </a:pPr>
              <a:t>48</a:t>
            </a:fld>
            <a:endParaRPr lang="en-US"/>
          </a:p>
        </p:txBody>
      </p:sp>
    </p:spTree>
    <p:extLst>
      <p:ext uri="{BB962C8B-B14F-4D97-AF65-F5344CB8AC3E}">
        <p14:creationId xmlns:p14="http://schemas.microsoft.com/office/powerpoint/2010/main" val="2068012500"/>
      </p:ext>
    </p:extLst>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B0FCF-7773-223C-637E-7EF38518D53C}"/>
              </a:ext>
            </a:extLst>
          </p:cNvPr>
          <p:cNvSpPr>
            <a:spLocks noGrp="1"/>
          </p:cNvSpPr>
          <p:nvPr>
            <p:ph type="title"/>
          </p:nvPr>
        </p:nvSpPr>
        <p:spPr/>
        <p:txBody>
          <a:bodyPr/>
          <a:lstStyle/>
          <a:p>
            <a:r>
              <a:rPr lang="en-US" dirty="0"/>
              <a:t>User Stories</a:t>
            </a:r>
          </a:p>
        </p:txBody>
      </p:sp>
      <p:sp>
        <p:nvSpPr>
          <p:cNvPr id="3" name="Content Placeholder 2">
            <a:extLst>
              <a:ext uri="{FF2B5EF4-FFF2-40B4-BE49-F238E27FC236}">
                <a16:creationId xmlns:a16="http://schemas.microsoft.com/office/drawing/2014/main" id="{BBE5E055-51C3-E872-D9E7-DB50D9C68C6C}"/>
              </a:ext>
            </a:extLst>
          </p:cNvPr>
          <p:cNvSpPr>
            <a:spLocks noGrp="1"/>
          </p:cNvSpPr>
          <p:nvPr>
            <p:ph idx="1"/>
          </p:nvPr>
        </p:nvSpPr>
        <p:spPr/>
        <p:txBody>
          <a:bodyPr/>
          <a:lstStyle/>
          <a:p>
            <a:pPr marL="206341" indent="-206341" defTabSz="490727">
              <a:spcBef>
                <a:spcPts val="0"/>
              </a:spcBef>
              <a:defRPr sz="2351"/>
            </a:pPr>
            <a:r>
              <a:rPr lang="en-US" sz="2000" dirty="0"/>
              <a:t>Scenarios are high-level stories of system use. They should describe a sequence of interactions with the system but should not include details of these interactions.</a:t>
            </a:r>
          </a:p>
          <a:p>
            <a:pPr marL="206341" indent="-206341" defTabSz="490727">
              <a:spcBef>
                <a:spcPts val="0"/>
              </a:spcBef>
              <a:defRPr sz="2351"/>
            </a:pPr>
            <a:r>
              <a:rPr lang="en-US" sz="2000" dirty="0"/>
              <a:t>User stories are finer-grain narratives that set out in a more detailed and structured way a single thing that a user wants from a software system. </a:t>
            </a:r>
          </a:p>
          <a:p>
            <a:pPr marL="768095" lvl="1" indent="-384047" defTabSz="490727">
              <a:spcBef>
                <a:spcPts val="0"/>
              </a:spcBef>
              <a:defRPr sz="2016"/>
            </a:pPr>
            <a:r>
              <a:rPr lang="en-US" sz="1800" i="1" dirty="0"/>
              <a:t>As an author, I need a way to organize the book that I’m writing into chapters and sections. </a:t>
            </a:r>
          </a:p>
          <a:p>
            <a:pPr marL="206341" indent="-206341" defTabSz="490727">
              <a:spcBef>
                <a:spcPts val="0"/>
              </a:spcBef>
              <a:defRPr sz="2351"/>
            </a:pPr>
            <a:r>
              <a:rPr lang="en-US" sz="2000" dirty="0"/>
              <a:t>This story reflects what has become the standard format of a user story:</a:t>
            </a:r>
          </a:p>
          <a:p>
            <a:pPr marL="606391" lvl="1" indent="-206341" defTabSz="490727">
              <a:spcBef>
                <a:spcPts val="0"/>
              </a:spcBef>
              <a:defRPr sz="2351"/>
            </a:pPr>
            <a:r>
              <a:rPr lang="en-US" sz="1600" b="1" i="1" dirty="0"/>
              <a:t>As a</a:t>
            </a:r>
            <a:r>
              <a:rPr lang="en-US" sz="1600" i="1" dirty="0"/>
              <a:t> &lt;role&gt;, I &lt;want | need&gt; </a:t>
            </a:r>
            <a:r>
              <a:rPr lang="en-US" sz="1600" b="1" i="1" dirty="0"/>
              <a:t>to</a:t>
            </a:r>
            <a:r>
              <a:rPr lang="en-US" sz="1600" i="1" dirty="0"/>
              <a:t> &lt;do something&gt;</a:t>
            </a:r>
          </a:p>
          <a:p>
            <a:pPr marL="1216151" lvl="2" indent="-448055" defTabSz="490727">
              <a:spcBef>
                <a:spcPts val="0"/>
              </a:spcBef>
              <a:defRPr sz="2351"/>
            </a:pPr>
            <a:r>
              <a:rPr lang="en-US" sz="1600" i="1" dirty="0"/>
              <a:t>As a teacher, I want to tell all members of my group when new information is available</a:t>
            </a:r>
          </a:p>
        </p:txBody>
      </p:sp>
      <p:sp>
        <p:nvSpPr>
          <p:cNvPr id="4" name="Date Placeholder 3">
            <a:extLst>
              <a:ext uri="{FF2B5EF4-FFF2-40B4-BE49-F238E27FC236}">
                <a16:creationId xmlns:a16="http://schemas.microsoft.com/office/drawing/2014/main" id="{66C7913F-EEFF-96A6-129D-DF1190E40E19}"/>
              </a:ext>
            </a:extLst>
          </p:cNvPr>
          <p:cNvSpPr>
            <a:spLocks noGrp="1"/>
          </p:cNvSpPr>
          <p:nvPr>
            <p:ph type="dt" sz="half" idx="10"/>
          </p:nvPr>
        </p:nvSpPr>
        <p:spPr/>
        <p:txBody>
          <a:bodyPr/>
          <a:lstStyle/>
          <a:p>
            <a:pPr>
              <a:defRPr/>
            </a:pPr>
            <a:r>
              <a:rPr lang="en-GB" dirty="0"/>
              <a:t>30/10/2014</a:t>
            </a:r>
            <a:endParaRPr lang="en-US" dirty="0"/>
          </a:p>
        </p:txBody>
      </p:sp>
      <p:sp>
        <p:nvSpPr>
          <p:cNvPr id="5" name="Footer Placeholder 4">
            <a:extLst>
              <a:ext uri="{FF2B5EF4-FFF2-40B4-BE49-F238E27FC236}">
                <a16:creationId xmlns:a16="http://schemas.microsoft.com/office/drawing/2014/main" id="{DEACA293-E378-7861-4BCA-00C159BC41CB}"/>
              </a:ext>
            </a:extLst>
          </p:cNvPr>
          <p:cNvSpPr>
            <a:spLocks noGrp="1"/>
          </p:cNvSpPr>
          <p:nvPr>
            <p:ph type="ftr" sz="quarter" idx="11"/>
          </p:nvPr>
        </p:nvSpPr>
        <p:spPr/>
        <p:txBody>
          <a:bodyPr/>
          <a:lstStyle/>
          <a:p>
            <a:pPr>
              <a:defRPr/>
            </a:pPr>
            <a:r>
              <a:rPr lang="en-US"/>
              <a:t>Chapter 4 Requirements Engineering</a:t>
            </a:r>
          </a:p>
        </p:txBody>
      </p:sp>
      <p:sp>
        <p:nvSpPr>
          <p:cNvPr id="6" name="Slide Number Placeholder 5">
            <a:extLst>
              <a:ext uri="{FF2B5EF4-FFF2-40B4-BE49-F238E27FC236}">
                <a16:creationId xmlns:a16="http://schemas.microsoft.com/office/drawing/2014/main" id="{C9DF8640-F17F-D9A8-4111-7D64FF756AAF}"/>
              </a:ext>
            </a:extLst>
          </p:cNvPr>
          <p:cNvSpPr>
            <a:spLocks noGrp="1"/>
          </p:cNvSpPr>
          <p:nvPr>
            <p:ph type="sldNum" sz="quarter" idx="12"/>
          </p:nvPr>
        </p:nvSpPr>
        <p:spPr/>
        <p:txBody>
          <a:bodyPr/>
          <a:lstStyle/>
          <a:p>
            <a:pPr>
              <a:defRPr/>
            </a:pPr>
            <a:fld id="{825F70CE-84E9-D04C-9B15-10C693AA0F2A}" type="slidenum">
              <a:rPr lang="en-US" smtClean="0"/>
              <a:pPr>
                <a:defRPr/>
              </a:pPr>
              <a:t>49</a:t>
            </a:fld>
            <a:endParaRPr lang="en-US"/>
          </a:p>
        </p:txBody>
      </p:sp>
    </p:spTree>
    <p:extLst>
      <p:ext uri="{BB962C8B-B14F-4D97-AF65-F5344CB8AC3E}">
        <p14:creationId xmlns:p14="http://schemas.microsoft.com/office/powerpoint/2010/main" val="2337910990"/>
      </p:ext>
    </p:extLst>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2AAB9-88AD-326C-3FDE-712E2EAEF7AE}"/>
              </a:ext>
            </a:extLst>
          </p:cNvPr>
          <p:cNvSpPr>
            <a:spLocks noGrp="1"/>
          </p:cNvSpPr>
          <p:nvPr>
            <p:ph type="title"/>
          </p:nvPr>
        </p:nvSpPr>
        <p:spPr/>
        <p:txBody>
          <a:bodyPr/>
          <a:lstStyle/>
          <a:p>
            <a:r>
              <a:rPr lang="en-US" dirty="0"/>
              <a:t>User Stories</a:t>
            </a:r>
          </a:p>
        </p:txBody>
      </p:sp>
      <p:sp>
        <p:nvSpPr>
          <p:cNvPr id="3" name="Content Placeholder 2">
            <a:extLst>
              <a:ext uri="{FF2B5EF4-FFF2-40B4-BE49-F238E27FC236}">
                <a16:creationId xmlns:a16="http://schemas.microsoft.com/office/drawing/2014/main" id="{737BA37D-06BC-1DFA-DFE7-BF0137F3E7AA}"/>
              </a:ext>
            </a:extLst>
          </p:cNvPr>
          <p:cNvSpPr>
            <a:spLocks noGrp="1"/>
          </p:cNvSpPr>
          <p:nvPr>
            <p:ph idx="1"/>
          </p:nvPr>
        </p:nvSpPr>
        <p:spPr/>
        <p:txBody>
          <a:bodyPr/>
          <a:lstStyle/>
          <a:p>
            <a:r>
              <a:rPr lang="en-US" dirty="0"/>
              <a:t>An important use of user stories is in planning.</a:t>
            </a:r>
          </a:p>
          <a:p>
            <a:pPr lvl="1"/>
            <a:r>
              <a:rPr lang="en-US" dirty="0"/>
              <a:t>Many users of the Scrum method represent the product backlog as a set of user stories. </a:t>
            </a:r>
          </a:p>
          <a:p>
            <a:r>
              <a:rPr lang="en-US" dirty="0"/>
              <a:t>User stories should focus on a clearly defined system feature or aspect of a feature that can be implemented within a single sprint. </a:t>
            </a:r>
          </a:p>
          <a:p>
            <a:r>
              <a:rPr lang="en-US" dirty="0"/>
              <a:t>If the story is about a more complex feature that might take several sprints to implement, then it is called an epic.</a:t>
            </a:r>
          </a:p>
          <a:p>
            <a:pPr lvl="1"/>
            <a:r>
              <a:rPr lang="en-US" dirty="0"/>
              <a:t>As a system manager, I need a way to backup the system and restore either individual applications, files, directories or the whole system.</a:t>
            </a:r>
          </a:p>
          <a:p>
            <a:endParaRPr lang="en-US" dirty="0"/>
          </a:p>
        </p:txBody>
      </p:sp>
      <p:sp>
        <p:nvSpPr>
          <p:cNvPr id="4" name="Date Placeholder 3">
            <a:extLst>
              <a:ext uri="{FF2B5EF4-FFF2-40B4-BE49-F238E27FC236}">
                <a16:creationId xmlns:a16="http://schemas.microsoft.com/office/drawing/2014/main" id="{DCA98616-8C0E-932D-90A2-EB3CEED1F59A}"/>
              </a:ext>
            </a:extLst>
          </p:cNvPr>
          <p:cNvSpPr>
            <a:spLocks noGrp="1"/>
          </p:cNvSpPr>
          <p:nvPr>
            <p:ph type="dt" sz="half" idx="10"/>
          </p:nvPr>
        </p:nvSpPr>
        <p:spPr/>
        <p:txBody>
          <a:bodyPr/>
          <a:lstStyle/>
          <a:p>
            <a:pPr>
              <a:defRPr/>
            </a:pPr>
            <a:r>
              <a:rPr lang="en-GB"/>
              <a:t>30/10/2014</a:t>
            </a:r>
            <a:endParaRPr lang="en-US"/>
          </a:p>
        </p:txBody>
      </p:sp>
      <p:sp>
        <p:nvSpPr>
          <p:cNvPr id="5" name="Footer Placeholder 4">
            <a:extLst>
              <a:ext uri="{FF2B5EF4-FFF2-40B4-BE49-F238E27FC236}">
                <a16:creationId xmlns:a16="http://schemas.microsoft.com/office/drawing/2014/main" id="{FCE83959-7B82-F40E-E1F5-EC758E487133}"/>
              </a:ext>
            </a:extLst>
          </p:cNvPr>
          <p:cNvSpPr>
            <a:spLocks noGrp="1"/>
          </p:cNvSpPr>
          <p:nvPr>
            <p:ph type="ftr" sz="quarter" idx="11"/>
          </p:nvPr>
        </p:nvSpPr>
        <p:spPr/>
        <p:txBody>
          <a:bodyPr/>
          <a:lstStyle/>
          <a:p>
            <a:pPr>
              <a:defRPr/>
            </a:pPr>
            <a:r>
              <a:rPr lang="en-US"/>
              <a:t>Chapter 4 Requirements Engineering</a:t>
            </a:r>
          </a:p>
        </p:txBody>
      </p:sp>
      <p:sp>
        <p:nvSpPr>
          <p:cNvPr id="6" name="Slide Number Placeholder 5">
            <a:extLst>
              <a:ext uri="{FF2B5EF4-FFF2-40B4-BE49-F238E27FC236}">
                <a16:creationId xmlns:a16="http://schemas.microsoft.com/office/drawing/2014/main" id="{DF431CB9-A0A3-3CC9-F6B6-8955885CA0B7}"/>
              </a:ext>
            </a:extLst>
          </p:cNvPr>
          <p:cNvSpPr>
            <a:spLocks noGrp="1"/>
          </p:cNvSpPr>
          <p:nvPr>
            <p:ph type="sldNum" sz="quarter" idx="12"/>
          </p:nvPr>
        </p:nvSpPr>
        <p:spPr/>
        <p:txBody>
          <a:bodyPr/>
          <a:lstStyle/>
          <a:p>
            <a:pPr>
              <a:defRPr/>
            </a:pPr>
            <a:fld id="{825F70CE-84E9-D04C-9B15-10C693AA0F2A}" type="slidenum">
              <a:rPr lang="en-US" smtClean="0"/>
              <a:pPr>
                <a:defRPr/>
              </a:pPr>
              <a:t>50</a:t>
            </a:fld>
            <a:endParaRPr lang="en-US"/>
          </a:p>
        </p:txBody>
      </p:sp>
    </p:spTree>
    <p:extLst>
      <p:ext uri="{BB962C8B-B14F-4D97-AF65-F5344CB8AC3E}">
        <p14:creationId xmlns:p14="http://schemas.microsoft.com/office/powerpoint/2010/main" val="3300030100"/>
      </p:ext>
    </p:extLst>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AEE27-F3EF-5BA3-A0BC-EF820AD27A58}"/>
              </a:ext>
            </a:extLst>
          </p:cNvPr>
          <p:cNvSpPr>
            <a:spLocks noGrp="1"/>
          </p:cNvSpPr>
          <p:nvPr>
            <p:ph type="title"/>
          </p:nvPr>
        </p:nvSpPr>
        <p:spPr/>
        <p:txBody>
          <a:bodyPr/>
          <a:lstStyle/>
          <a:p>
            <a:r>
              <a:rPr lang="en-US" dirty="0"/>
              <a:t>User Stories (Example)</a:t>
            </a:r>
          </a:p>
        </p:txBody>
      </p:sp>
      <p:sp>
        <p:nvSpPr>
          <p:cNvPr id="4" name="Date Placeholder 3">
            <a:extLst>
              <a:ext uri="{FF2B5EF4-FFF2-40B4-BE49-F238E27FC236}">
                <a16:creationId xmlns:a16="http://schemas.microsoft.com/office/drawing/2014/main" id="{F392FC92-8F26-E236-7EFC-C59B333D92AC}"/>
              </a:ext>
            </a:extLst>
          </p:cNvPr>
          <p:cNvSpPr>
            <a:spLocks noGrp="1"/>
          </p:cNvSpPr>
          <p:nvPr>
            <p:ph type="dt" sz="half" idx="10"/>
          </p:nvPr>
        </p:nvSpPr>
        <p:spPr/>
        <p:txBody>
          <a:bodyPr/>
          <a:lstStyle/>
          <a:p>
            <a:pPr>
              <a:defRPr/>
            </a:pPr>
            <a:r>
              <a:rPr lang="en-GB"/>
              <a:t>30/10/2014</a:t>
            </a:r>
            <a:endParaRPr lang="en-US"/>
          </a:p>
        </p:txBody>
      </p:sp>
      <p:sp>
        <p:nvSpPr>
          <p:cNvPr id="5" name="Footer Placeholder 4">
            <a:extLst>
              <a:ext uri="{FF2B5EF4-FFF2-40B4-BE49-F238E27FC236}">
                <a16:creationId xmlns:a16="http://schemas.microsoft.com/office/drawing/2014/main" id="{3FFF44B3-3BD6-EB10-8957-86E6D8FD5E7D}"/>
              </a:ext>
            </a:extLst>
          </p:cNvPr>
          <p:cNvSpPr>
            <a:spLocks noGrp="1"/>
          </p:cNvSpPr>
          <p:nvPr>
            <p:ph type="ftr" sz="quarter" idx="11"/>
          </p:nvPr>
        </p:nvSpPr>
        <p:spPr/>
        <p:txBody>
          <a:bodyPr/>
          <a:lstStyle/>
          <a:p>
            <a:pPr>
              <a:defRPr/>
            </a:pPr>
            <a:r>
              <a:rPr lang="en-US"/>
              <a:t>Chapter 4 Requirements Engineering</a:t>
            </a:r>
          </a:p>
        </p:txBody>
      </p:sp>
      <p:sp>
        <p:nvSpPr>
          <p:cNvPr id="6" name="Slide Number Placeholder 5">
            <a:extLst>
              <a:ext uri="{FF2B5EF4-FFF2-40B4-BE49-F238E27FC236}">
                <a16:creationId xmlns:a16="http://schemas.microsoft.com/office/drawing/2014/main" id="{F9861564-D7EC-1306-D19B-76DBD69EFF98}"/>
              </a:ext>
            </a:extLst>
          </p:cNvPr>
          <p:cNvSpPr>
            <a:spLocks noGrp="1"/>
          </p:cNvSpPr>
          <p:nvPr>
            <p:ph type="sldNum" sz="quarter" idx="12"/>
          </p:nvPr>
        </p:nvSpPr>
        <p:spPr/>
        <p:txBody>
          <a:bodyPr/>
          <a:lstStyle/>
          <a:p>
            <a:pPr>
              <a:defRPr/>
            </a:pPr>
            <a:fld id="{825F70CE-84E9-D04C-9B15-10C693AA0F2A}" type="slidenum">
              <a:rPr lang="en-US" smtClean="0"/>
              <a:pPr>
                <a:defRPr/>
              </a:pPr>
              <a:t>51</a:t>
            </a:fld>
            <a:endParaRPr lang="en-US"/>
          </a:p>
        </p:txBody>
      </p:sp>
      <p:pic>
        <p:nvPicPr>
          <p:cNvPr id="7" name="Content Placeholder 6">
            <a:extLst>
              <a:ext uri="{FF2B5EF4-FFF2-40B4-BE49-F238E27FC236}">
                <a16:creationId xmlns:a16="http://schemas.microsoft.com/office/drawing/2014/main" id="{B0FD93B4-6272-7E4D-B6C1-88136B20FF44}"/>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9129" b="52359"/>
          <a:stretch/>
        </p:blipFill>
        <p:spPr>
          <a:xfrm>
            <a:off x="640925" y="1700808"/>
            <a:ext cx="8045875" cy="4425808"/>
          </a:xfrm>
          <a:prstGeom prst="rect">
            <a:avLst/>
          </a:prstGeom>
        </p:spPr>
      </p:pic>
    </p:spTree>
    <p:extLst>
      <p:ext uri="{BB962C8B-B14F-4D97-AF65-F5344CB8AC3E}">
        <p14:creationId xmlns:p14="http://schemas.microsoft.com/office/powerpoint/2010/main" val="3126458247"/>
      </p:ext>
    </p:extLst>
  </p:cSld>
  <p:clrMapOvr>
    <a:masterClrMapping/>
  </p:clrMapOvr>
  <p:transition spd="med">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1C383-2FE8-3200-7D0E-00BB50C5D725}"/>
              </a:ext>
            </a:extLst>
          </p:cNvPr>
          <p:cNvSpPr>
            <a:spLocks noGrp="1"/>
          </p:cNvSpPr>
          <p:nvPr>
            <p:ph type="title"/>
          </p:nvPr>
        </p:nvSpPr>
        <p:spPr/>
        <p:txBody>
          <a:bodyPr/>
          <a:lstStyle/>
          <a:p>
            <a:r>
              <a:rPr lang="en-US" dirty="0"/>
              <a:t>User Stories</a:t>
            </a:r>
          </a:p>
        </p:txBody>
      </p:sp>
      <p:sp>
        <p:nvSpPr>
          <p:cNvPr id="3" name="Content Placeholder 2">
            <a:extLst>
              <a:ext uri="{FF2B5EF4-FFF2-40B4-BE49-F238E27FC236}">
                <a16:creationId xmlns:a16="http://schemas.microsoft.com/office/drawing/2014/main" id="{65382A1C-6CE8-0FF9-46E7-4EA2AB3156E2}"/>
              </a:ext>
            </a:extLst>
          </p:cNvPr>
          <p:cNvSpPr>
            <a:spLocks noGrp="1"/>
          </p:cNvSpPr>
          <p:nvPr>
            <p:ph idx="1"/>
          </p:nvPr>
        </p:nvSpPr>
        <p:spPr/>
        <p:txBody>
          <a:bodyPr/>
          <a:lstStyle/>
          <a:p>
            <a:r>
              <a:rPr lang="en-US" dirty="0"/>
              <a:t>Stories can be used to describe features in your product that should be implemented.</a:t>
            </a:r>
          </a:p>
          <a:p>
            <a:r>
              <a:rPr lang="en-US" dirty="0"/>
              <a:t>Each feature can have a set of associated stories that describe how that feature is used.</a:t>
            </a:r>
          </a:p>
          <a:p>
            <a:pPr marL="0" indent="0">
              <a:buNone/>
            </a:pPr>
            <a:endParaRPr lang="en-US" dirty="0"/>
          </a:p>
        </p:txBody>
      </p:sp>
      <p:sp>
        <p:nvSpPr>
          <p:cNvPr id="4" name="Date Placeholder 3">
            <a:extLst>
              <a:ext uri="{FF2B5EF4-FFF2-40B4-BE49-F238E27FC236}">
                <a16:creationId xmlns:a16="http://schemas.microsoft.com/office/drawing/2014/main" id="{9DA0FE42-251A-E6D5-8AB4-5919878F7D3E}"/>
              </a:ext>
            </a:extLst>
          </p:cNvPr>
          <p:cNvSpPr>
            <a:spLocks noGrp="1"/>
          </p:cNvSpPr>
          <p:nvPr>
            <p:ph type="dt" sz="half" idx="10"/>
          </p:nvPr>
        </p:nvSpPr>
        <p:spPr/>
        <p:txBody>
          <a:bodyPr/>
          <a:lstStyle/>
          <a:p>
            <a:pPr>
              <a:defRPr/>
            </a:pPr>
            <a:r>
              <a:rPr lang="en-GB"/>
              <a:t>30/10/2014</a:t>
            </a:r>
            <a:endParaRPr lang="en-US"/>
          </a:p>
        </p:txBody>
      </p:sp>
      <p:sp>
        <p:nvSpPr>
          <p:cNvPr id="5" name="Footer Placeholder 4">
            <a:extLst>
              <a:ext uri="{FF2B5EF4-FFF2-40B4-BE49-F238E27FC236}">
                <a16:creationId xmlns:a16="http://schemas.microsoft.com/office/drawing/2014/main" id="{FC66B3B4-A552-7393-1C50-D491484EFC74}"/>
              </a:ext>
            </a:extLst>
          </p:cNvPr>
          <p:cNvSpPr>
            <a:spLocks noGrp="1"/>
          </p:cNvSpPr>
          <p:nvPr>
            <p:ph type="ftr" sz="quarter" idx="11"/>
          </p:nvPr>
        </p:nvSpPr>
        <p:spPr/>
        <p:txBody>
          <a:bodyPr/>
          <a:lstStyle/>
          <a:p>
            <a:pPr>
              <a:defRPr/>
            </a:pPr>
            <a:r>
              <a:rPr lang="en-US"/>
              <a:t>Chapter 4 Requirements Engineering</a:t>
            </a:r>
          </a:p>
        </p:txBody>
      </p:sp>
      <p:sp>
        <p:nvSpPr>
          <p:cNvPr id="6" name="Slide Number Placeholder 5">
            <a:extLst>
              <a:ext uri="{FF2B5EF4-FFF2-40B4-BE49-F238E27FC236}">
                <a16:creationId xmlns:a16="http://schemas.microsoft.com/office/drawing/2014/main" id="{F837F35C-A6E0-3ED3-F236-60A7003E51E8}"/>
              </a:ext>
            </a:extLst>
          </p:cNvPr>
          <p:cNvSpPr>
            <a:spLocks noGrp="1"/>
          </p:cNvSpPr>
          <p:nvPr>
            <p:ph type="sldNum" sz="quarter" idx="12"/>
          </p:nvPr>
        </p:nvSpPr>
        <p:spPr/>
        <p:txBody>
          <a:bodyPr/>
          <a:lstStyle/>
          <a:p>
            <a:pPr>
              <a:defRPr/>
            </a:pPr>
            <a:fld id="{825F70CE-84E9-D04C-9B15-10C693AA0F2A}" type="slidenum">
              <a:rPr lang="en-US" smtClean="0"/>
              <a:pPr>
                <a:defRPr/>
              </a:pPr>
              <a:t>52</a:t>
            </a:fld>
            <a:endParaRPr lang="en-US"/>
          </a:p>
        </p:txBody>
      </p:sp>
      <p:pic>
        <p:nvPicPr>
          <p:cNvPr id="7" name="Picture 6">
            <a:extLst>
              <a:ext uri="{FF2B5EF4-FFF2-40B4-BE49-F238E27FC236}">
                <a16:creationId xmlns:a16="http://schemas.microsoft.com/office/drawing/2014/main" id="{AB8667E9-E4D0-844C-9DD4-2D4BC87B61A5}"/>
              </a:ext>
            </a:extLst>
          </p:cNvPr>
          <p:cNvPicPr>
            <a:picLocks noChangeAspect="1"/>
          </p:cNvPicPr>
          <p:nvPr/>
        </p:nvPicPr>
        <p:blipFill rotWithShape="1">
          <a:blip r:embed="rId2">
            <a:extLst>
              <a:ext uri="{28A0092B-C50C-407E-A947-70E740481C1C}">
                <a14:useLocalDpi xmlns:a14="http://schemas.microsoft.com/office/drawing/2010/main" val="0"/>
              </a:ext>
            </a:extLst>
          </a:blip>
          <a:srcRect t="9754" b="49653"/>
          <a:stretch/>
        </p:blipFill>
        <p:spPr>
          <a:xfrm>
            <a:off x="202955" y="3284984"/>
            <a:ext cx="7961837" cy="4615939"/>
          </a:xfrm>
          <a:prstGeom prst="rect">
            <a:avLst/>
          </a:prstGeom>
        </p:spPr>
      </p:pic>
    </p:spTree>
    <p:extLst>
      <p:ext uri="{BB962C8B-B14F-4D97-AF65-F5344CB8AC3E}">
        <p14:creationId xmlns:p14="http://schemas.microsoft.com/office/powerpoint/2010/main" val="3629302113"/>
      </p:ext>
    </p:extLst>
  </p:cSld>
  <p:clrMapOvr>
    <a:masterClrMapping/>
  </p:clrMapOvr>
  <p:transition spd="med">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C88CF-5F60-9884-3E99-3D659AE9B2D0}"/>
              </a:ext>
            </a:extLst>
          </p:cNvPr>
          <p:cNvSpPr>
            <a:spLocks noGrp="1"/>
          </p:cNvSpPr>
          <p:nvPr>
            <p:ph type="title"/>
          </p:nvPr>
        </p:nvSpPr>
        <p:spPr/>
        <p:txBody>
          <a:bodyPr/>
          <a:lstStyle/>
          <a:p>
            <a:r>
              <a:rPr lang="en-US" dirty="0"/>
              <a:t>Scenarios vs User Stories</a:t>
            </a:r>
          </a:p>
        </p:txBody>
      </p:sp>
      <p:sp>
        <p:nvSpPr>
          <p:cNvPr id="3" name="Content Placeholder 2">
            <a:extLst>
              <a:ext uri="{FF2B5EF4-FFF2-40B4-BE49-F238E27FC236}">
                <a16:creationId xmlns:a16="http://schemas.microsoft.com/office/drawing/2014/main" id="{81809980-9AE6-BD2F-B632-5100F8E782A8}"/>
              </a:ext>
            </a:extLst>
          </p:cNvPr>
          <p:cNvSpPr>
            <a:spLocks noGrp="1"/>
          </p:cNvSpPr>
          <p:nvPr>
            <p:ph idx="1"/>
          </p:nvPr>
        </p:nvSpPr>
        <p:spPr/>
        <p:txBody>
          <a:bodyPr/>
          <a:lstStyle/>
          <a:p>
            <a:pPr marL="896111" lvl="1" indent="-448055" defTabSz="572516">
              <a:spcBef>
                <a:spcPts val="2900"/>
              </a:spcBef>
              <a:defRPr sz="2352"/>
            </a:pPr>
            <a:r>
              <a:rPr lang="en-US" dirty="0"/>
              <a:t>Scenarios read more naturally because they describe what a user of a system is actually doing with that system. People often find it easier to relate to this specific information rather than the statement of wants or needs set out in a set of user stories.</a:t>
            </a:r>
          </a:p>
          <a:p>
            <a:pPr marL="896111" lvl="1" indent="-448055" defTabSz="572516">
              <a:spcBef>
                <a:spcPts val="2900"/>
              </a:spcBef>
              <a:defRPr sz="2352"/>
            </a:pPr>
            <a:r>
              <a:rPr lang="en-US" dirty="0"/>
              <a:t>If you are interviewing real users or are checking a scenario with real users, they don’t talk in the stylized way that is used in user stories. People relate better to the more natural narrative in scenarios.</a:t>
            </a:r>
          </a:p>
          <a:p>
            <a:pPr marL="896111" lvl="1" indent="-448055" defTabSz="572516">
              <a:spcBef>
                <a:spcPts val="2900"/>
              </a:spcBef>
              <a:defRPr sz="2352"/>
            </a:pPr>
            <a:r>
              <a:rPr lang="en-US" dirty="0"/>
              <a:t>In some situation, scenarios can provide more context that user stories.</a:t>
            </a:r>
          </a:p>
          <a:p>
            <a:endParaRPr lang="en-US" dirty="0"/>
          </a:p>
        </p:txBody>
      </p:sp>
      <p:sp>
        <p:nvSpPr>
          <p:cNvPr id="4" name="Date Placeholder 3">
            <a:extLst>
              <a:ext uri="{FF2B5EF4-FFF2-40B4-BE49-F238E27FC236}">
                <a16:creationId xmlns:a16="http://schemas.microsoft.com/office/drawing/2014/main" id="{F190EDB4-C7C2-163C-7F17-4ACAF0FE005D}"/>
              </a:ext>
            </a:extLst>
          </p:cNvPr>
          <p:cNvSpPr>
            <a:spLocks noGrp="1"/>
          </p:cNvSpPr>
          <p:nvPr>
            <p:ph type="dt" sz="half" idx="10"/>
          </p:nvPr>
        </p:nvSpPr>
        <p:spPr/>
        <p:txBody>
          <a:bodyPr/>
          <a:lstStyle/>
          <a:p>
            <a:pPr>
              <a:defRPr/>
            </a:pPr>
            <a:r>
              <a:rPr lang="en-GB"/>
              <a:t>30/10/2014</a:t>
            </a:r>
            <a:endParaRPr lang="en-US"/>
          </a:p>
        </p:txBody>
      </p:sp>
      <p:sp>
        <p:nvSpPr>
          <p:cNvPr id="5" name="Footer Placeholder 4">
            <a:extLst>
              <a:ext uri="{FF2B5EF4-FFF2-40B4-BE49-F238E27FC236}">
                <a16:creationId xmlns:a16="http://schemas.microsoft.com/office/drawing/2014/main" id="{6915451A-0117-23F7-A89E-DB247F6FA453}"/>
              </a:ext>
            </a:extLst>
          </p:cNvPr>
          <p:cNvSpPr>
            <a:spLocks noGrp="1"/>
          </p:cNvSpPr>
          <p:nvPr>
            <p:ph type="ftr" sz="quarter" idx="11"/>
          </p:nvPr>
        </p:nvSpPr>
        <p:spPr/>
        <p:txBody>
          <a:bodyPr/>
          <a:lstStyle/>
          <a:p>
            <a:pPr>
              <a:defRPr/>
            </a:pPr>
            <a:r>
              <a:rPr lang="en-US"/>
              <a:t>Chapter 4 Requirements Engineering</a:t>
            </a:r>
          </a:p>
        </p:txBody>
      </p:sp>
      <p:sp>
        <p:nvSpPr>
          <p:cNvPr id="6" name="Slide Number Placeholder 5">
            <a:extLst>
              <a:ext uri="{FF2B5EF4-FFF2-40B4-BE49-F238E27FC236}">
                <a16:creationId xmlns:a16="http://schemas.microsoft.com/office/drawing/2014/main" id="{463C78B3-9D12-93F9-BBAB-6EBB7809388C}"/>
              </a:ext>
            </a:extLst>
          </p:cNvPr>
          <p:cNvSpPr>
            <a:spLocks noGrp="1"/>
          </p:cNvSpPr>
          <p:nvPr>
            <p:ph type="sldNum" sz="quarter" idx="12"/>
          </p:nvPr>
        </p:nvSpPr>
        <p:spPr/>
        <p:txBody>
          <a:bodyPr/>
          <a:lstStyle/>
          <a:p>
            <a:pPr>
              <a:defRPr/>
            </a:pPr>
            <a:fld id="{825F70CE-84E9-D04C-9B15-10C693AA0F2A}" type="slidenum">
              <a:rPr lang="en-US" smtClean="0"/>
              <a:pPr>
                <a:defRPr/>
              </a:pPr>
              <a:t>53</a:t>
            </a:fld>
            <a:endParaRPr lang="en-US"/>
          </a:p>
        </p:txBody>
      </p:sp>
    </p:spTree>
    <p:extLst>
      <p:ext uri="{BB962C8B-B14F-4D97-AF65-F5344CB8AC3E}">
        <p14:creationId xmlns:p14="http://schemas.microsoft.com/office/powerpoint/2010/main" val="2839234227"/>
      </p:ext>
    </p:extLst>
  </p:cSld>
  <p:clrMapOvr>
    <a:masterClrMapping/>
  </p:clrMapOvr>
  <p:transition spd="med">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56452-CC1B-E971-0CB7-C23A77A25C29}"/>
              </a:ext>
            </a:extLst>
          </p:cNvPr>
          <p:cNvSpPr>
            <a:spLocks noGrp="1"/>
          </p:cNvSpPr>
          <p:nvPr>
            <p:ph type="title"/>
          </p:nvPr>
        </p:nvSpPr>
        <p:spPr/>
        <p:txBody>
          <a:bodyPr/>
          <a:lstStyle/>
          <a:p>
            <a:r>
              <a:rPr lang="en-US" dirty="0"/>
              <a:t>Features</a:t>
            </a:r>
          </a:p>
        </p:txBody>
      </p:sp>
      <p:sp>
        <p:nvSpPr>
          <p:cNvPr id="3" name="Content Placeholder 2">
            <a:extLst>
              <a:ext uri="{FF2B5EF4-FFF2-40B4-BE49-F238E27FC236}">
                <a16:creationId xmlns:a16="http://schemas.microsoft.com/office/drawing/2014/main" id="{9F28230D-F41B-013D-994B-28DA6B461C7E}"/>
              </a:ext>
            </a:extLst>
          </p:cNvPr>
          <p:cNvSpPr>
            <a:spLocks noGrp="1"/>
          </p:cNvSpPr>
          <p:nvPr>
            <p:ph idx="1"/>
          </p:nvPr>
        </p:nvSpPr>
        <p:spPr>
          <a:xfrm>
            <a:off x="408972" y="1600200"/>
            <a:ext cx="8579296" cy="4525963"/>
          </a:xfrm>
        </p:spPr>
        <p:txBody>
          <a:bodyPr/>
          <a:lstStyle/>
          <a:p>
            <a:pPr marL="235818" indent="-235818" defTabSz="560831">
              <a:spcBef>
                <a:spcPts val="0"/>
              </a:spcBef>
              <a:defRPr sz="2688"/>
            </a:pPr>
            <a:r>
              <a:rPr lang="en-US" dirty="0"/>
              <a:t>A feature is a way of allowing users to access and use your product’s functionality so the feature list defines the overall functionality of the system.</a:t>
            </a:r>
          </a:p>
          <a:p>
            <a:pPr marL="235818" indent="-235818" defTabSz="560831">
              <a:spcBef>
                <a:spcPts val="0"/>
              </a:spcBef>
              <a:defRPr sz="2688"/>
            </a:pPr>
            <a:r>
              <a:rPr lang="en-US" dirty="0"/>
              <a:t>Features should be independent, coherent and relevant:</a:t>
            </a:r>
          </a:p>
          <a:p>
            <a:pPr marL="877823" lvl="1" indent="-438911" defTabSz="560831">
              <a:spcBef>
                <a:spcPts val="0"/>
              </a:spcBef>
              <a:defRPr sz="2304"/>
            </a:pPr>
            <a:r>
              <a:rPr lang="en-US" i="1" dirty="0"/>
              <a:t>Independence</a:t>
            </a:r>
            <a:r>
              <a:rPr lang="en-US" dirty="0"/>
              <a:t> </a:t>
            </a:r>
            <a:br>
              <a:rPr lang="en-US" dirty="0"/>
            </a:br>
            <a:r>
              <a:rPr lang="en-US" dirty="0"/>
              <a:t>Features should not depend on how other system features are implemented.</a:t>
            </a:r>
          </a:p>
          <a:p>
            <a:pPr marL="877823" lvl="1" indent="-438911" defTabSz="560831">
              <a:spcBef>
                <a:spcPts val="0"/>
              </a:spcBef>
              <a:defRPr sz="2304"/>
            </a:pPr>
            <a:r>
              <a:rPr lang="en-US" i="1" dirty="0"/>
              <a:t>Coherence</a:t>
            </a:r>
            <a:r>
              <a:rPr lang="en-US" dirty="0"/>
              <a:t> </a:t>
            </a:r>
            <a:br>
              <a:rPr lang="en-US" dirty="0"/>
            </a:br>
            <a:r>
              <a:rPr lang="en-US" dirty="0"/>
              <a:t>Features should be linked to a single item of functionality..</a:t>
            </a:r>
          </a:p>
          <a:p>
            <a:pPr marL="877823" lvl="1" indent="-438911" defTabSz="560831">
              <a:spcBef>
                <a:spcPts val="0"/>
              </a:spcBef>
              <a:defRPr sz="2304"/>
            </a:pPr>
            <a:r>
              <a:rPr lang="en-US" i="1" dirty="0"/>
              <a:t>Relevance</a:t>
            </a:r>
            <a:r>
              <a:rPr lang="en-US" dirty="0"/>
              <a:t> </a:t>
            </a:r>
            <a:br>
              <a:rPr lang="en-US" dirty="0"/>
            </a:br>
            <a:r>
              <a:rPr lang="en-US" dirty="0"/>
              <a:t>Features should reflect the way that users normally carry out some task. </a:t>
            </a:r>
          </a:p>
        </p:txBody>
      </p:sp>
      <p:sp>
        <p:nvSpPr>
          <p:cNvPr id="4" name="Date Placeholder 3">
            <a:extLst>
              <a:ext uri="{FF2B5EF4-FFF2-40B4-BE49-F238E27FC236}">
                <a16:creationId xmlns:a16="http://schemas.microsoft.com/office/drawing/2014/main" id="{D2B484EB-330C-B3DD-5444-0F9451A13D3E}"/>
              </a:ext>
            </a:extLst>
          </p:cNvPr>
          <p:cNvSpPr>
            <a:spLocks noGrp="1"/>
          </p:cNvSpPr>
          <p:nvPr>
            <p:ph type="dt" sz="half" idx="10"/>
          </p:nvPr>
        </p:nvSpPr>
        <p:spPr/>
        <p:txBody>
          <a:bodyPr/>
          <a:lstStyle/>
          <a:p>
            <a:pPr>
              <a:defRPr/>
            </a:pPr>
            <a:r>
              <a:rPr lang="en-GB"/>
              <a:t>30/10/2014</a:t>
            </a:r>
            <a:endParaRPr lang="en-US"/>
          </a:p>
        </p:txBody>
      </p:sp>
      <p:sp>
        <p:nvSpPr>
          <p:cNvPr id="5" name="Footer Placeholder 4">
            <a:extLst>
              <a:ext uri="{FF2B5EF4-FFF2-40B4-BE49-F238E27FC236}">
                <a16:creationId xmlns:a16="http://schemas.microsoft.com/office/drawing/2014/main" id="{2B2D90B9-EAC2-550C-0803-C552E6A6D056}"/>
              </a:ext>
            </a:extLst>
          </p:cNvPr>
          <p:cNvSpPr>
            <a:spLocks noGrp="1"/>
          </p:cNvSpPr>
          <p:nvPr>
            <p:ph type="ftr" sz="quarter" idx="11"/>
          </p:nvPr>
        </p:nvSpPr>
        <p:spPr/>
        <p:txBody>
          <a:bodyPr/>
          <a:lstStyle/>
          <a:p>
            <a:pPr>
              <a:defRPr/>
            </a:pPr>
            <a:r>
              <a:rPr lang="en-US"/>
              <a:t>Chapter 4 Requirements Engineering</a:t>
            </a:r>
          </a:p>
        </p:txBody>
      </p:sp>
      <p:sp>
        <p:nvSpPr>
          <p:cNvPr id="6" name="Slide Number Placeholder 5">
            <a:extLst>
              <a:ext uri="{FF2B5EF4-FFF2-40B4-BE49-F238E27FC236}">
                <a16:creationId xmlns:a16="http://schemas.microsoft.com/office/drawing/2014/main" id="{921256CF-26C0-90A5-1DE8-2F68F8F5CFF9}"/>
              </a:ext>
            </a:extLst>
          </p:cNvPr>
          <p:cNvSpPr>
            <a:spLocks noGrp="1"/>
          </p:cNvSpPr>
          <p:nvPr>
            <p:ph type="sldNum" sz="quarter" idx="12"/>
          </p:nvPr>
        </p:nvSpPr>
        <p:spPr/>
        <p:txBody>
          <a:bodyPr/>
          <a:lstStyle/>
          <a:p>
            <a:pPr>
              <a:defRPr/>
            </a:pPr>
            <a:fld id="{825F70CE-84E9-D04C-9B15-10C693AA0F2A}" type="slidenum">
              <a:rPr lang="en-US" smtClean="0"/>
              <a:pPr>
                <a:defRPr/>
              </a:pPr>
              <a:t>54</a:t>
            </a:fld>
            <a:endParaRPr lang="en-US"/>
          </a:p>
        </p:txBody>
      </p:sp>
    </p:spTree>
    <p:extLst>
      <p:ext uri="{BB962C8B-B14F-4D97-AF65-F5344CB8AC3E}">
        <p14:creationId xmlns:p14="http://schemas.microsoft.com/office/powerpoint/2010/main" val="2066684746"/>
      </p:ext>
    </p:extLst>
  </p:cSld>
  <p:clrMapOvr>
    <a:masterClrMapping/>
  </p:clrMapOvr>
  <p:transition spd="med">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954E8-AC02-F042-8C22-F7DA823FDD37}"/>
              </a:ext>
            </a:extLst>
          </p:cNvPr>
          <p:cNvSpPr>
            <a:spLocks noGrp="1"/>
          </p:cNvSpPr>
          <p:nvPr>
            <p:ph type="title"/>
          </p:nvPr>
        </p:nvSpPr>
        <p:spPr/>
        <p:txBody>
          <a:bodyPr/>
          <a:lstStyle/>
          <a:p>
            <a:r>
              <a:rPr lang="en-US" dirty="0"/>
              <a:t>Knowledge Required for Feature Design</a:t>
            </a:r>
          </a:p>
        </p:txBody>
      </p:sp>
      <p:sp>
        <p:nvSpPr>
          <p:cNvPr id="4" name="Date Placeholder 3">
            <a:extLst>
              <a:ext uri="{FF2B5EF4-FFF2-40B4-BE49-F238E27FC236}">
                <a16:creationId xmlns:a16="http://schemas.microsoft.com/office/drawing/2014/main" id="{3DED122A-0162-1A94-45AD-9A8EFBFA083F}"/>
              </a:ext>
            </a:extLst>
          </p:cNvPr>
          <p:cNvSpPr>
            <a:spLocks noGrp="1"/>
          </p:cNvSpPr>
          <p:nvPr>
            <p:ph type="dt" sz="half" idx="10"/>
          </p:nvPr>
        </p:nvSpPr>
        <p:spPr/>
        <p:txBody>
          <a:bodyPr/>
          <a:lstStyle/>
          <a:p>
            <a:pPr>
              <a:defRPr/>
            </a:pPr>
            <a:r>
              <a:rPr lang="en-GB"/>
              <a:t>30/10/2014</a:t>
            </a:r>
            <a:endParaRPr lang="en-US"/>
          </a:p>
        </p:txBody>
      </p:sp>
      <p:sp>
        <p:nvSpPr>
          <p:cNvPr id="5" name="Footer Placeholder 4">
            <a:extLst>
              <a:ext uri="{FF2B5EF4-FFF2-40B4-BE49-F238E27FC236}">
                <a16:creationId xmlns:a16="http://schemas.microsoft.com/office/drawing/2014/main" id="{36CD85C8-C498-2EBB-8A33-DED4F1818350}"/>
              </a:ext>
            </a:extLst>
          </p:cNvPr>
          <p:cNvSpPr>
            <a:spLocks noGrp="1"/>
          </p:cNvSpPr>
          <p:nvPr>
            <p:ph type="ftr" sz="quarter" idx="11"/>
          </p:nvPr>
        </p:nvSpPr>
        <p:spPr/>
        <p:txBody>
          <a:bodyPr/>
          <a:lstStyle/>
          <a:p>
            <a:pPr>
              <a:defRPr/>
            </a:pPr>
            <a:r>
              <a:rPr lang="en-US"/>
              <a:t>Chapter 4 Requirements Engineering</a:t>
            </a:r>
          </a:p>
        </p:txBody>
      </p:sp>
      <p:sp>
        <p:nvSpPr>
          <p:cNvPr id="6" name="Slide Number Placeholder 5">
            <a:extLst>
              <a:ext uri="{FF2B5EF4-FFF2-40B4-BE49-F238E27FC236}">
                <a16:creationId xmlns:a16="http://schemas.microsoft.com/office/drawing/2014/main" id="{279BB93A-6091-67D1-5E4C-6C5B26FA63DB}"/>
              </a:ext>
            </a:extLst>
          </p:cNvPr>
          <p:cNvSpPr>
            <a:spLocks noGrp="1"/>
          </p:cNvSpPr>
          <p:nvPr>
            <p:ph type="sldNum" sz="quarter" idx="12"/>
          </p:nvPr>
        </p:nvSpPr>
        <p:spPr/>
        <p:txBody>
          <a:bodyPr/>
          <a:lstStyle/>
          <a:p>
            <a:pPr>
              <a:defRPr/>
            </a:pPr>
            <a:fld id="{825F70CE-84E9-D04C-9B15-10C693AA0F2A}" type="slidenum">
              <a:rPr lang="en-US" smtClean="0"/>
              <a:pPr>
                <a:defRPr/>
              </a:pPr>
              <a:t>55</a:t>
            </a:fld>
            <a:endParaRPr lang="en-US"/>
          </a:p>
        </p:txBody>
      </p:sp>
      <p:pic>
        <p:nvPicPr>
          <p:cNvPr id="7" name="Picture 6">
            <a:extLst>
              <a:ext uri="{FF2B5EF4-FFF2-40B4-BE49-F238E27FC236}">
                <a16:creationId xmlns:a16="http://schemas.microsoft.com/office/drawing/2014/main" id="{F308856F-CE71-CC41-AED1-63013FE2B92A}"/>
              </a:ext>
            </a:extLst>
          </p:cNvPr>
          <p:cNvPicPr>
            <a:picLocks noChangeAspect="1"/>
          </p:cNvPicPr>
          <p:nvPr/>
        </p:nvPicPr>
        <p:blipFill rotWithShape="1">
          <a:blip r:embed="rId2">
            <a:extLst>
              <a:ext uri="{28A0092B-C50C-407E-A947-70E740481C1C}">
                <a14:useLocalDpi xmlns:a14="http://schemas.microsoft.com/office/drawing/2010/main" val="0"/>
              </a:ext>
            </a:extLst>
          </a:blip>
          <a:srcRect l="15280" t="6840" r="16041" b="54648"/>
          <a:stretch/>
        </p:blipFill>
        <p:spPr>
          <a:xfrm>
            <a:off x="971600" y="1484994"/>
            <a:ext cx="6538521" cy="5236481"/>
          </a:xfrm>
          <a:prstGeom prst="rect">
            <a:avLst/>
          </a:prstGeom>
        </p:spPr>
      </p:pic>
    </p:spTree>
    <p:extLst>
      <p:ext uri="{BB962C8B-B14F-4D97-AF65-F5344CB8AC3E}">
        <p14:creationId xmlns:p14="http://schemas.microsoft.com/office/powerpoint/2010/main" val="1613937100"/>
      </p:ext>
    </p:extLst>
  </p:cSld>
  <p:clrMapOvr>
    <a:masterClrMapping/>
  </p:clrMapOvr>
  <p:transition spd="med">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8A44D-F782-76C4-1404-3BD11D7F10B2}"/>
              </a:ext>
            </a:extLst>
          </p:cNvPr>
          <p:cNvSpPr>
            <a:spLocks noGrp="1"/>
          </p:cNvSpPr>
          <p:nvPr>
            <p:ph type="title"/>
          </p:nvPr>
        </p:nvSpPr>
        <p:spPr/>
        <p:txBody>
          <a:bodyPr/>
          <a:lstStyle/>
          <a:p>
            <a:r>
              <a:rPr lang="en-US" dirty="0"/>
              <a:t>Knowledge Required for Feature Design</a:t>
            </a:r>
          </a:p>
        </p:txBody>
      </p:sp>
      <p:sp>
        <p:nvSpPr>
          <p:cNvPr id="3" name="Content Placeholder 2">
            <a:extLst>
              <a:ext uri="{FF2B5EF4-FFF2-40B4-BE49-F238E27FC236}">
                <a16:creationId xmlns:a16="http://schemas.microsoft.com/office/drawing/2014/main" id="{2C49050C-A82D-BF93-D759-951F0B4EF559}"/>
              </a:ext>
            </a:extLst>
          </p:cNvPr>
          <p:cNvSpPr>
            <a:spLocks noGrp="1"/>
          </p:cNvSpPr>
          <p:nvPr>
            <p:ph idx="1"/>
          </p:nvPr>
        </p:nvSpPr>
        <p:spPr/>
        <p:txBody>
          <a:bodyPr/>
          <a:lstStyle/>
          <a:p>
            <a:r>
              <a:rPr lang="en-US" sz="1800" b="1" i="1" dirty="0"/>
              <a:t>User knowledge</a:t>
            </a:r>
            <a:br>
              <a:rPr lang="en-US" sz="1800" dirty="0"/>
            </a:br>
            <a:r>
              <a:rPr lang="en-US" sz="1800" dirty="0"/>
              <a:t>You can use user scenarios and user stories to inform the team of what users want and how they might use it the software features.</a:t>
            </a:r>
          </a:p>
          <a:p>
            <a:r>
              <a:rPr lang="en-US" sz="1800" b="1" i="1" dirty="0"/>
              <a:t>Product knowledge</a:t>
            </a:r>
            <a:br>
              <a:rPr lang="en-US" sz="1800" dirty="0"/>
            </a:br>
            <a:r>
              <a:rPr lang="en-US" sz="1800" dirty="0"/>
              <a:t>You may have experience of existing products or decide to research what these products do as part of your development process. Sometimes, your features have to replicate existing features in these products because they provide fundamental functionality that is always required.</a:t>
            </a:r>
          </a:p>
          <a:p>
            <a:r>
              <a:rPr lang="en-US" sz="1800" b="1" i="1" dirty="0"/>
              <a:t>Domain knowledge</a:t>
            </a:r>
            <a:br>
              <a:rPr lang="en-US" sz="1800" dirty="0"/>
            </a:br>
            <a:r>
              <a:rPr lang="en-US" sz="1800" dirty="0"/>
              <a:t>This is knowledge of the domain or work area(e.g. finance, event booking) that your product aims to support. By understanding the domain, you can think of new innovative ways of helping users do what they want to do.</a:t>
            </a:r>
          </a:p>
          <a:p>
            <a:r>
              <a:rPr lang="en-US" sz="1800" b="1" i="1" dirty="0"/>
              <a:t>Technology knowledge</a:t>
            </a:r>
            <a:br>
              <a:rPr lang="en-US" sz="1800" dirty="0"/>
            </a:br>
            <a:r>
              <a:rPr lang="en-US" sz="1800" dirty="0"/>
              <a:t>New products often emerge to take advantage of technological developments since their competitors were launched.  If you understand the latest technology, you can design features to make use of it.</a:t>
            </a:r>
          </a:p>
          <a:p>
            <a:endParaRPr lang="en-US" dirty="0"/>
          </a:p>
        </p:txBody>
      </p:sp>
      <p:sp>
        <p:nvSpPr>
          <p:cNvPr id="4" name="Date Placeholder 3">
            <a:extLst>
              <a:ext uri="{FF2B5EF4-FFF2-40B4-BE49-F238E27FC236}">
                <a16:creationId xmlns:a16="http://schemas.microsoft.com/office/drawing/2014/main" id="{DDDB6A69-5723-E599-F311-CDA07EB7A97A}"/>
              </a:ext>
            </a:extLst>
          </p:cNvPr>
          <p:cNvSpPr>
            <a:spLocks noGrp="1"/>
          </p:cNvSpPr>
          <p:nvPr>
            <p:ph type="dt" sz="half" idx="10"/>
          </p:nvPr>
        </p:nvSpPr>
        <p:spPr/>
        <p:txBody>
          <a:bodyPr/>
          <a:lstStyle/>
          <a:p>
            <a:pPr>
              <a:defRPr/>
            </a:pPr>
            <a:r>
              <a:rPr lang="en-GB"/>
              <a:t>30/10/2014</a:t>
            </a:r>
            <a:endParaRPr lang="en-US"/>
          </a:p>
        </p:txBody>
      </p:sp>
      <p:sp>
        <p:nvSpPr>
          <p:cNvPr id="5" name="Footer Placeholder 4">
            <a:extLst>
              <a:ext uri="{FF2B5EF4-FFF2-40B4-BE49-F238E27FC236}">
                <a16:creationId xmlns:a16="http://schemas.microsoft.com/office/drawing/2014/main" id="{20D6C957-97BF-C922-F9CA-ECACA82BC405}"/>
              </a:ext>
            </a:extLst>
          </p:cNvPr>
          <p:cNvSpPr>
            <a:spLocks noGrp="1"/>
          </p:cNvSpPr>
          <p:nvPr>
            <p:ph type="ftr" sz="quarter" idx="11"/>
          </p:nvPr>
        </p:nvSpPr>
        <p:spPr/>
        <p:txBody>
          <a:bodyPr/>
          <a:lstStyle/>
          <a:p>
            <a:pPr>
              <a:defRPr/>
            </a:pPr>
            <a:r>
              <a:rPr lang="en-US"/>
              <a:t>Chapter 4 Requirements Engineering</a:t>
            </a:r>
          </a:p>
        </p:txBody>
      </p:sp>
      <p:sp>
        <p:nvSpPr>
          <p:cNvPr id="6" name="Slide Number Placeholder 5">
            <a:extLst>
              <a:ext uri="{FF2B5EF4-FFF2-40B4-BE49-F238E27FC236}">
                <a16:creationId xmlns:a16="http://schemas.microsoft.com/office/drawing/2014/main" id="{F33CA4B5-27A7-8E13-FA03-1B249B8317D0}"/>
              </a:ext>
            </a:extLst>
          </p:cNvPr>
          <p:cNvSpPr>
            <a:spLocks noGrp="1"/>
          </p:cNvSpPr>
          <p:nvPr>
            <p:ph type="sldNum" sz="quarter" idx="12"/>
          </p:nvPr>
        </p:nvSpPr>
        <p:spPr/>
        <p:txBody>
          <a:bodyPr/>
          <a:lstStyle/>
          <a:p>
            <a:pPr>
              <a:defRPr/>
            </a:pPr>
            <a:fld id="{825F70CE-84E9-D04C-9B15-10C693AA0F2A}" type="slidenum">
              <a:rPr lang="en-US" smtClean="0"/>
              <a:pPr>
                <a:defRPr/>
              </a:pPr>
              <a:t>56</a:t>
            </a:fld>
            <a:endParaRPr lang="en-US"/>
          </a:p>
        </p:txBody>
      </p:sp>
    </p:spTree>
    <p:extLst>
      <p:ext uri="{BB962C8B-B14F-4D97-AF65-F5344CB8AC3E}">
        <p14:creationId xmlns:p14="http://schemas.microsoft.com/office/powerpoint/2010/main" val="3587268086"/>
      </p:ext>
    </p:extLst>
  </p:cSld>
  <p:clrMapOvr>
    <a:masterClrMapping/>
  </p:clrMapOvr>
  <p:transition spd="med">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A6A10-2B20-EADE-0EA4-20E852067EAE}"/>
              </a:ext>
            </a:extLst>
          </p:cNvPr>
          <p:cNvSpPr>
            <a:spLocks noGrp="1"/>
          </p:cNvSpPr>
          <p:nvPr>
            <p:ph type="title"/>
          </p:nvPr>
        </p:nvSpPr>
        <p:spPr/>
        <p:txBody>
          <a:bodyPr/>
          <a:lstStyle/>
          <a:p>
            <a:r>
              <a:rPr lang="en-US" dirty="0"/>
              <a:t>Factors in Feature Design</a:t>
            </a:r>
          </a:p>
        </p:txBody>
      </p:sp>
      <p:sp>
        <p:nvSpPr>
          <p:cNvPr id="4" name="Date Placeholder 3">
            <a:extLst>
              <a:ext uri="{FF2B5EF4-FFF2-40B4-BE49-F238E27FC236}">
                <a16:creationId xmlns:a16="http://schemas.microsoft.com/office/drawing/2014/main" id="{62E87EB5-DC60-11FD-3C71-54181CEE4FB6}"/>
              </a:ext>
            </a:extLst>
          </p:cNvPr>
          <p:cNvSpPr>
            <a:spLocks noGrp="1"/>
          </p:cNvSpPr>
          <p:nvPr>
            <p:ph type="dt" sz="half" idx="10"/>
          </p:nvPr>
        </p:nvSpPr>
        <p:spPr/>
        <p:txBody>
          <a:bodyPr/>
          <a:lstStyle/>
          <a:p>
            <a:pPr>
              <a:defRPr/>
            </a:pPr>
            <a:r>
              <a:rPr lang="en-GB"/>
              <a:t>30/10/2014</a:t>
            </a:r>
            <a:endParaRPr lang="en-US"/>
          </a:p>
        </p:txBody>
      </p:sp>
      <p:sp>
        <p:nvSpPr>
          <p:cNvPr id="5" name="Footer Placeholder 4">
            <a:extLst>
              <a:ext uri="{FF2B5EF4-FFF2-40B4-BE49-F238E27FC236}">
                <a16:creationId xmlns:a16="http://schemas.microsoft.com/office/drawing/2014/main" id="{2641CD9D-9C3C-824F-11AA-1FC956F0854B}"/>
              </a:ext>
            </a:extLst>
          </p:cNvPr>
          <p:cNvSpPr>
            <a:spLocks noGrp="1"/>
          </p:cNvSpPr>
          <p:nvPr>
            <p:ph type="ftr" sz="quarter" idx="11"/>
          </p:nvPr>
        </p:nvSpPr>
        <p:spPr/>
        <p:txBody>
          <a:bodyPr/>
          <a:lstStyle/>
          <a:p>
            <a:pPr>
              <a:defRPr/>
            </a:pPr>
            <a:r>
              <a:rPr lang="en-US"/>
              <a:t>Chapter 4 Requirements Engineering</a:t>
            </a:r>
          </a:p>
        </p:txBody>
      </p:sp>
      <p:sp>
        <p:nvSpPr>
          <p:cNvPr id="6" name="Slide Number Placeholder 5">
            <a:extLst>
              <a:ext uri="{FF2B5EF4-FFF2-40B4-BE49-F238E27FC236}">
                <a16:creationId xmlns:a16="http://schemas.microsoft.com/office/drawing/2014/main" id="{5E850AC2-590F-3C72-FA12-93DAF96052B2}"/>
              </a:ext>
            </a:extLst>
          </p:cNvPr>
          <p:cNvSpPr>
            <a:spLocks noGrp="1"/>
          </p:cNvSpPr>
          <p:nvPr>
            <p:ph type="sldNum" sz="quarter" idx="12"/>
          </p:nvPr>
        </p:nvSpPr>
        <p:spPr/>
        <p:txBody>
          <a:bodyPr/>
          <a:lstStyle/>
          <a:p>
            <a:pPr>
              <a:defRPr/>
            </a:pPr>
            <a:fld id="{825F70CE-84E9-D04C-9B15-10C693AA0F2A}" type="slidenum">
              <a:rPr lang="en-US" smtClean="0"/>
              <a:pPr>
                <a:defRPr/>
              </a:pPr>
              <a:t>57</a:t>
            </a:fld>
            <a:endParaRPr lang="en-US"/>
          </a:p>
        </p:txBody>
      </p:sp>
      <p:pic>
        <p:nvPicPr>
          <p:cNvPr id="7" name="Picture 6">
            <a:extLst>
              <a:ext uri="{FF2B5EF4-FFF2-40B4-BE49-F238E27FC236}">
                <a16:creationId xmlns:a16="http://schemas.microsoft.com/office/drawing/2014/main" id="{51DF513F-DDCC-B045-8395-AEE6517A1D81}"/>
              </a:ext>
            </a:extLst>
          </p:cNvPr>
          <p:cNvPicPr>
            <a:picLocks noChangeAspect="1"/>
          </p:cNvPicPr>
          <p:nvPr/>
        </p:nvPicPr>
        <p:blipFill rotWithShape="1">
          <a:blip r:embed="rId2">
            <a:extLst>
              <a:ext uri="{28A0092B-C50C-407E-A947-70E740481C1C}">
                <a14:useLocalDpi xmlns:a14="http://schemas.microsoft.com/office/drawing/2010/main" val="0"/>
              </a:ext>
            </a:extLst>
          </a:blip>
          <a:srcRect l="16172" t="13576" r="21095" b="51168"/>
          <a:stretch/>
        </p:blipFill>
        <p:spPr>
          <a:xfrm>
            <a:off x="1102032" y="1510414"/>
            <a:ext cx="6648400" cy="5072948"/>
          </a:xfrm>
          <a:prstGeom prst="rect">
            <a:avLst/>
          </a:prstGeom>
        </p:spPr>
      </p:pic>
    </p:spTree>
    <p:extLst>
      <p:ext uri="{BB962C8B-B14F-4D97-AF65-F5344CB8AC3E}">
        <p14:creationId xmlns:p14="http://schemas.microsoft.com/office/powerpoint/2010/main" val="1914071554"/>
      </p:ext>
    </p:extLst>
  </p:cSld>
  <p:clrMapOvr>
    <a:masterClrMapping/>
  </p:clrMapOvr>
  <p:transition spd="med">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1FC67-C139-4EC8-872D-D7D28D73CDD6}"/>
              </a:ext>
            </a:extLst>
          </p:cNvPr>
          <p:cNvSpPr>
            <a:spLocks noGrp="1"/>
          </p:cNvSpPr>
          <p:nvPr>
            <p:ph type="title"/>
          </p:nvPr>
        </p:nvSpPr>
        <p:spPr/>
        <p:txBody>
          <a:bodyPr/>
          <a:lstStyle/>
          <a:p>
            <a:r>
              <a:rPr lang="en-US" dirty="0"/>
              <a:t>Feature Tradeoff and Creep</a:t>
            </a:r>
          </a:p>
        </p:txBody>
      </p:sp>
      <p:sp>
        <p:nvSpPr>
          <p:cNvPr id="3" name="Content Placeholder 2">
            <a:extLst>
              <a:ext uri="{FF2B5EF4-FFF2-40B4-BE49-F238E27FC236}">
                <a16:creationId xmlns:a16="http://schemas.microsoft.com/office/drawing/2014/main" id="{F18D2BC6-0341-52E8-1FD6-164F5284BE2C}"/>
              </a:ext>
            </a:extLst>
          </p:cNvPr>
          <p:cNvSpPr>
            <a:spLocks noGrp="1"/>
          </p:cNvSpPr>
          <p:nvPr>
            <p:ph idx="1"/>
          </p:nvPr>
        </p:nvSpPr>
        <p:spPr>
          <a:xfrm>
            <a:off x="457200" y="1478405"/>
            <a:ext cx="8229600" cy="4525963"/>
          </a:xfrm>
        </p:spPr>
        <p:txBody>
          <a:bodyPr/>
          <a:lstStyle/>
          <a:p>
            <a:r>
              <a:rPr lang="en-US" sz="2000" dirty="0"/>
              <a:t>Simplicity and functionality </a:t>
            </a:r>
          </a:p>
          <a:p>
            <a:pPr lvl="1"/>
            <a:r>
              <a:rPr lang="en-US" sz="1800" dirty="0"/>
              <a:t>There should be balance between providing a simple, easy-to-use system and including enough functionality to attract users with a variety of needs.</a:t>
            </a:r>
          </a:p>
          <a:p>
            <a:r>
              <a:rPr lang="en-US" sz="2000" dirty="0"/>
              <a:t>Familiarity and novelty</a:t>
            </a:r>
          </a:p>
          <a:p>
            <a:pPr lvl="1"/>
            <a:r>
              <a:rPr lang="en-US" sz="1800" dirty="0"/>
              <a:t>Users prefer that new software should support the familiar everyday tasks that are part of their work or life. There should be a balance between familiar features and new features.</a:t>
            </a:r>
          </a:p>
          <a:p>
            <a:r>
              <a:rPr lang="en-US" sz="2200" dirty="0"/>
              <a:t>Automation and control</a:t>
            </a:r>
          </a:p>
          <a:p>
            <a:pPr lvl="1"/>
            <a:r>
              <a:rPr lang="en-US" sz="1800" dirty="0"/>
              <a:t>There need to be a balance between automation and manual tasks. The system should be tailored to the customers needs. </a:t>
            </a:r>
          </a:p>
          <a:p>
            <a:r>
              <a:rPr lang="en-US" sz="2000" dirty="0"/>
              <a:t>Feature Creep</a:t>
            </a:r>
          </a:p>
          <a:p>
            <a:pPr lvl="1"/>
            <a:r>
              <a:rPr lang="en-US" dirty="0"/>
              <a:t>Feature creep occurs when new features are added in response to user requests without considering if these features are generally useful or  can be implemented in some other way.</a:t>
            </a:r>
          </a:p>
          <a:p>
            <a:pPr lvl="1"/>
            <a:endParaRPr lang="en-US" dirty="0"/>
          </a:p>
        </p:txBody>
      </p:sp>
      <p:sp>
        <p:nvSpPr>
          <p:cNvPr id="4" name="Date Placeholder 3">
            <a:extLst>
              <a:ext uri="{FF2B5EF4-FFF2-40B4-BE49-F238E27FC236}">
                <a16:creationId xmlns:a16="http://schemas.microsoft.com/office/drawing/2014/main" id="{4733A5AE-5017-D312-D7C3-6199026E3154}"/>
              </a:ext>
            </a:extLst>
          </p:cNvPr>
          <p:cNvSpPr>
            <a:spLocks noGrp="1"/>
          </p:cNvSpPr>
          <p:nvPr>
            <p:ph type="dt" sz="half" idx="10"/>
          </p:nvPr>
        </p:nvSpPr>
        <p:spPr/>
        <p:txBody>
          <a:bodyPr/>
          <a:lstStyle/>
          <a:p>
            <a:pPr>
              <a:defRPr/>
            </a:pPr>
            <a:r>
              <a:rPr lang="en-GB"/>
              <a:t>30/10/2014</a:t>
            </a:r>
            <a:endParaRPr lang="en-US"/>
          </a:p>
        </p:txBody>
      </p:sp>
      <p:sp>
        <p:nvSpPr>
          <p:cNvPr id="5" name="Footer Placeholder 4">
            <a:extLst>
              <a:ext uri="{FF2B5EF4-FFF2-40B4-BE49-F238E27FC236}">
                <a16:creationId xmlns:a16="http://schemas.microsoft.com/office/drawing/2014/main" id="{E43BCF68-7F5B-B2A6-15A5-E7A52FD01E35}"/>
              </a:ext>
            </a:extLst>
          </p:cNvPr>
          <p:cNvSpPr>
            <a:spLocks noGrp="1"/>
          </p:cNvSpPr>
          <p:nvPr>
            <p:ph type="ftr" sz="quarter" idx="11"/>
          </p:nvPr>
        </p:nvSpPr>
        <p:spPr/>
        <p:txBody>
          <a:bodyPr/>
          <a:lstStyle/>
          <a:p>
            <a:pPr>
              <a:defRPr/>
            </a:pPr>
            <a:r>
              <a:rPr lang="en-US" dirty="0"/>
              <a:t>Chapter 4 Requirements Engineering</a:t>
            </a:r>
          </a:p>
        </p:txBody>
      </p:sp>
      <p:sp>
        <p:nvSpPr>
          <p:cNvPr id="6" name="Slide Number Placeholder 5">
            <a:extLst>
              <a:ext uri="{FF2B5EF4-FFF2-40B4-BE49-F238E27FC236}">
                <a16:creationId xmlns:a16="http://schemas.microsoft.com/office/drawing/2014/main" id="{9C77F04E-D3F2-5594-8ADC-EEA3AFAE216B}"/>
              </a:ext>
            </a:extLst>
          </p:cNvPr>
          <p:cNvSpPr>
            <a:spLocks noGrp="1"/>
          </p:cNvSpPr>
          <p:nvPr>
            <p:ph type="sldNum" sz="quarter" idx="12"/>
          </p:nvPr>
        </p:nvSpPr>
        <p:spPr/>
        <p:txBody>
          <a:bodyPr/>
          <a:lstStyle/>
          <a:p>
            <a:pPr>
              <a:defRPr/>
            </a:pPr>
            <a:fld id="{825F70CE-84E9-D04C-9B15-10C693AA0F2A}" type="slidenum">
              <a:rPr lang="en-US" smtClean="0"/>
              <a:pPr>
                <a:defRPr/>
              </a:pPr>
              <a:t>58</a:t>
            </a:fld>
            <a:endParaRPr lang="en-US"/>
          </a:p>
        </p:txBody>
      </p:sp>
    </p:spTree>
    <p:extLst>
      <p:ext uri="{BB962C8B-B14F-4D97-AF65-F5344CB8AC3E}">
        <p14:creationId xmlns:p14="http://schemas.microsoft.com/office/powerpoint/2010/main" val="2276820294"/>
      </p:ext>
    </p:extLst>
  </p:cSld>
  <p:clrMapOvr>
    <a:masterClrMapping/>
  </p:clrMapOvr>
  <p:transition spd="med">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F21CB-E009-441B-9CE9-8595E6547865}"/>
              </a:ext>
            </a:extLst>
          </p:cNvPr>
          <p:cNvSpPr>
            <a:spLocks noGrp="1"/>
          </p:cNvSpPr>
          <p:nvPr>
            <p:ph type="title"/>
          </p:nvPr>
        </p:nvSpPr>
        <p:spPr/>
        <p:txBody>
          <a:bodyPr/>
          <a:lstStyle/>
          <a:p>
            <a:r>
              <a:rPr lang="en-US" dirty="0"/>
              <a:t>Features Identification</a:t>
            </a:r>
          </a:p>
        </p:txBody>
      </p:sp>
      <p:sp>
        <p:nvSpPr>
          <p:cNvPr id="3" name="Content Placeholder 2">
            <a:extLst>
              <a:ext uri="{FF2B5EF4-FFF2-40B4-BE49-F238E27FC236}">
                <a16:creationId xmlns:a16="http://schemas.microsoft.com/office/drawing/2014/main" id="{ACD924F0-93D8-6614-6B97-CCAC7B3A58EE}"/>
              </a:ext>
            </a:extLst>
          </p:cNvPr>
          <p:cNvSpPr>
            <a:spLocks noGrp="1"/>
          </p:cNvSpPr>
          <p:nvPr>
            <p:ph idx="1"/>
          </p:nvPr>
        </p:nvSpPr>
        <p:spPr/>
        <p:txBody>
          <a:bodyPr/>
          <a:lstStyle/>
          <a:p>
            <a:r>
              <a:rPr lang="en-US" dirty="0"/>
              <a:t>Features can be identified directly from the product vision or from scenarios.</a:t>
            </a:r>
          </a:p>
          <a:p>
            <a:pPr lvl="1"/>
            <a:r>
              <a:rPr lang="en-US" dirty="0"/>
              <a:t>You should think about the features needed to support user actions, identified by active verbs, such as use and choose.</a:t>
            </a:r>
          </a:p>
          <a:p>
            <a:r>
              <a:rPr lang="en-US" dirty="0"/>
              <a:t>Features in Jack’s Scenario:</a:t>
            </a:r>
          </a:p>
          <a:p>
            <a:pPr lvl="1"/>
            <a:r>
              <a:rPr lang="en-US" i="1" dirty="0"/>
              <a:t>A wiki for group writing.</a:t>
            </a:r>
          </a:p>
          <a:p>
            <a:pPr lvl="1"/>
            <a:r>
              <a:rPr lang="en-US" i="1" dirty="0"/>
              <a:t>Access to the SCRAN history archive. This is a shared national resource that provides access to historical newspaper and magazine articles for schools and universities. </a:t>
            </a:r>
          </a:p>
          <a:p>
            <a:pPr lvl="1"/>
            <a:r>
              <a:rPr lang="en-US" i="1" dirty="0"/>
              <a:t>Features to set up and access an email group.</a:t>
            </a:r>
          </a:p>
          <a:p>
            <a:pPr lvl="1"/>
            <a:r>
              <a:rPr lang="en-US" i="1" dirty="0"/>
              <a:t>A feature to integrate applications with the </a:t>
            </a:r>
            <a:r>
              <a:rPr lang="en-US" i="1" dirty="0" err="1"/>
              <a:t>iLearn</a:t>
            </a:r>
            <a:r>
              <a:rPr lang="en-US" i="1" dirty="0"/>
              <a:t> authentication service.</a:t>
            </a:r>
          </a:p>
          <a:p>
            <a:pPr marL="457200" lvl="1" indent="0">
              <a:buNone/>
            </a:pPr>
            <a:endParaRPr lang="en-US" dirty="0"/>
          </a:p>
        </p:txBody>
      </p:sp>
      <p:sp>
        <p:nvSpPr>
          <p:cNvPr id="4" name="Date Placeholder 3">
            <a:extLst>
              <a:ext uri="{FF2B5EF4-FFF2-40B4-BE49-F238E27FC236}">
                <a16:creationId xmlns:a16="http://schemas.microsoft.com/office/drawing/2014/main" id="{1FF354D0-4B8B-DCFE-46F8-6D39A73EAED8}"/>
              </a:ext>
            </a:extLst>
          </p:cNvPr>
          <p:cNvSpPr>
            <a:spLocks noGrp="1"/>
          </p:cNvSpPr>
          <p:nvPr>
            <p:ph type="dt" sz="half" idx="10"/>
          </p:nvPr>
        </p:nvSpPr>
        <p:spPr/>
        <p:txBody>
          <a:bodyPr/>
          <a:lstStyle/>
          <a:p>
            <a:pPr>
              <a:defRPr/>
            </a:pPr>
            <a:r>
              <a:rPr lang="en-GB"/>
              <a:t>30/10/2014</a:t>
            </a:r>
            <a:endParaRPr lang="en-US"/>
          </a:p>
        </p:txBody>
      </p:sp>
      <p:sp>
        <p:nvSpPr>
          <p:cNvPr id="5" name="Footer Placeholder 4">
            <a:extLst>
              <a:ext uri="{FF2B5EF4-FFF2-40B4-BE49-F238E27FC236}">
                <a16:creationId xmlns:a16="http://schemas.microsoft.com/office/drawing/2014/main" id="{58C07184-CC77-F4D6-B5A8-C7B32621D75A}"/>
              </a:ext>
            </a:extLst>
          </p:cNvPr>
          <p:cNvSpPr>
            <a:spLocks noGrp="1"/>
          </p:cNvSpPr>
          <p:nvPr>
            <p:ph type="ftr" sz="quarter" idx="11"/>
          </p:nvPr>
        </p:nvSpPr>
        <p:spPr/>
        <p:txBody>
          <a:bodyPr/>
          <a:lstStyle/>
          <a:p>
            <a:pPr>
              <a:defRPr/>
            </a:pPr>
            <a:r>
              <a:rPr lang="en-US"/>
              <a:t>Chapter 4 Requirements Engineering</a:t>
            </a:r>
          </a:p>
        </p:txBody>
      </p:sp>
      <p:sp>
        <p:nvSpPr>
          <p:cNvPr id="6" name="Slide Number Placeholder 5">
            <a:extLst>
              <a:ext uri="{FF2B5EF4-FFF2-40B4-BE49-F238E27FC236}">
                <a16:creationId xmlns:a16="http://schemas.microsoft.com/office/drawing/2014/main" id="{9A6CDCB8-C74A-2275-A56F-05A838FD38D6}"/>
              </a:ext>
            </a:extLst>
          </p:cNvPr>
          <p:cNvSpPr>
            <a:spLocks noGrp="1"/>
          </p:cNvSpPr>
          <p:nvPr>
            <p:ph type="sldNum" sz="quarter" idx="12"/>
          </p:nvPr>
        </p:nvSpPr>
        <p:spPr/>
        <p:txBody>
          <a:bodyPr/>
          <a:lstStyle/>
          <a:p>
            <a:pPr>
              <a:defRPr/>
            </a:pPr>
            <a:fld id="{825F70CE-84E9-D04C-9B15-10C693AA0F2A}" type="slidenum">
              <a:rPr lang="en-US" smtClean="0"/>
              <a:pPr>
                <a:defRPr/>
              </a:pPr>
              <a:t>59</a:t>
            </a:fld>
            <a:endParaRPr lang="en-US"/>
          </a:p>
        </p:txBody>
      </p:sp>
    </p:spTree>
    <p:extLst>
      <p:ext uri="{BB962C8B-B14F-4D97-AF65-F5344CB8AC3E}">
        <p14:creationId xmlns:p14="http://schemas.microsoft.com/office/powerpoint/2010/main" val="1038835166"/>
      </p:ext>
    </p:extLst>
  </p:cSld>
  <p:clrMapOvr>
    <a:masterClrMapping/>
  </p:clrMapOvr>
  <p:transition spd="med">
    <p:wipe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C009D-6EC2-0683-E01B-D3099E95AEA0}"/>
              </a:ext>
            </a:extLst>
          </p:cNvPr>
          <p:cNvSpPr>
            <a:spLocks noGrp="1"/>
          </p:cNvSpPr>
          <p:nvPr>
            <p:ph type="title"/>
          </p:nvPr>
        </p:nvSpPr>
        <p:spPr/>
        <p:txBody>
          <a:bodyPr/>
          <a:lstStyle/>
          <a:p>
            <a:r>
              <a:rPr lang="en-US" dirty="0"/>
              <a:t>Feature List</a:t>
            </a:r>
          </a:p>
        </p:txBody>
      </p:sp>
      <p:sp>
        <p:nvSpPr>
          <p:cNvPr id="3" name="Content Placeholder 2">
            <a:extLst>
              <a:ext uri="{FF2B5EF4-FFF2-40B4-BE49-F238E27FC236}">
                <a16:creationId xmlns:a16="http://schemas.microsoft.com/office/drawing/2014/main" id="{E342B52E-6B80-C70E-78EA-DA125912EC13}"/>
              </a:ext>
            </a:extLst>
          </p:cNvPr>
          <p:cNvSpPr>
            <a:spLocks noGrp="1"/>
          </p:cNvSpPr>
          <p:nvPr>
            <p:ph idx="1"/>
          </p:nvPr>
        </p:nvSpPr>
        <p:spPr/>
        <p:txBody>
          <a:bodyPr/>
          <a:lstStyle/>
          <a:p>
            <a:r>
              <a:rPr lang="en-US" dirty="0"/>
              <a:t>The output of the feature identification process should be a list of features that you use for designing and implementing in the software.</a:t>
            </a:r>
          </a:p>
          <a:p>
            <a:r>
              <a:rPr lang="en-US" dirty="0"/>
              <a:t>You can describe features using a standard input-action-output template by using scenarios and user stories.</a:t>
            </a:r>
          </a:p>
          <a:p>
            <a:pPr lvl="1"/>
            <a:r>
              <a:rPr lang="en-US" dirty="0"/>
              <a:t>Scenarios tell you how users work at the moment. They don’t show how they might change their way of working if they had the right software to support them. </a:t>
            </a:r>
          </a:p>
          <a:p>
            <a:pPr lvl="1"/>
            <a:r>
              <a:rPr lang="en-US" dirty="0"/>
              <a:t>Stories and scenarios are ‘tools for thinking’ and they help you gain an understanding of how your software might be used. You can identify a feature set from stories and scenarios.</a:t>
            </a:r>
          </a:p>
          <a:p>
            <a:pPr lvl="1"/>
            <a:endParaRPr lang="en-US" dirty="0"/>
          </a:p>
          <a:p>
            <a:endParaRPr lang="en-US" dirty="0"/>
          </a:p>
        </p:txBody>
      </p:sp>
      <p:sp>
        <p:nvSpPr>
          <p:cNvPr id="4" name="Date Placeholder 3">
            <a:extLst>
              <a:ext uri="{FF2B5EF4-FFF2-40B4-BE49-F238E27FC236}">
                <a16:creationId xmlns:a16="http://schemas.microsoft.com/office/drawing/2014/main" id="{F2963B05-ECE3-39D6-35EC-FC619A1A57C0}"/>
              </a:ext>
            </a:extLst>
          </p:cNvPr>
          <p:cNvSpPr>
            <a:spLocks noGrp="1"/>
          </p:cNvSpPr>
          <p:nvPr>
            <p:ph type="dt" sz="half" idx="10"/>
          </p:nvPr>
        </p:nvSpPr>
        <p:spPr/>
        <p:txBody>
          <a:bodyPr/>
          <a:lstStyle/>
          <a:p>
            <a:pPr>
              <a:defRPr/>
            </a:pPr>
            <a:r>
              <a:rPr lang="en-GB"/>
              <a:t>30/10/2014</a:t>
            </a:r>
            <a:endParaRPr lang="en-US"/>
          </a:p>
        </p:txBody>
      </p:sp>
      <p:sp>
        <p:nvSpPr>
          <p:cNvPr id="5" name="Footer Placeholder 4">
            <a:extLst>
              <a:ext uri="{FF2B5EF4-FFF2-40B4-BE49-F238E27FC236}">
                <a16:creationId xmlns:a16="http://schemas.microsoft.com/office/drawing/2014/main" id="{2CDD4963-8A1C-4FFD-4C79-5967C763337F}"/>
              </a:ext>
            </a:extLst>
          </p:cNvPr>
          <p:cNvSpPr>
            <a:spLocks noGrp="1"/>
          </p:cNvSpPr>
          <p:nvPr>
            <p:ph type="ftr" sz="quarter" idx="11"/>
          </p:nvPr>
        </p:nvSpPr>
        <p:spPr/>
        <p:txBody>
          <a:bodyPr/>
          <a:lstStyle/>
          <a:p>
            <a:pPr>
              <a:defRPr/>
            </a:pPr>
            <a:r>
              <a:rPr lang="en-US"/>
              <a:t>Chapter 4 Requirements Engineering</a:t>
            </a:r>
          </a:p>
        </p:txBody>
      </p:sp>
      <p:sp>
        <p:nvSpPr>
          <p:cNvPr id="6" name="Slide Number Placeholder 5">
            <a:extLst>
              <a:ext uri="{FF2B5EF4-FFF2-40B4-BE49-F238E27FC236}">
                <a16:creationId xmlns:a16="http://schemas.microsoft.com/office/drawing/2014/main" id="{C7683516-2269-6223-7B89-A9E14F40F0FF}"/>
              </a:ext>
            </a:extLst>
          </p:cNvPr>
          <p:cNvSpPr>
            <a:spLocks noGrp="1"/>
          </p:cNvSpPr>
          <p:nvPr>
            <p:ph type="sldNum" sz="quarter" idx="12"/>
          </p:nvPr>
        </p:nvSpPr>
        <p:spPr/>
        <p:txBody>
          <a:bodyPr/>
          <a:lstStyle/>
          <a:p>
            <a:pPr>
              <a:defRPr/>
            </a:pPr>
            <a:fld id="{825F70CE-84E9-D04C-9B15-10C693AA0F2A}" type="slidenum">
              <a:rPr lang="en-US" smtClean="0"/>
              <a:pPr>
                <a:defRPr/>
              </a:pPr>
              <a:t>60</a:t>
            </a:fld>
            <a:endParaRPr lang="en-US"/>
          </a:p>
        </p:txBody>
      </p:sp>
    </p:spTree>
    <p:extLst>
      <p:ext uri="{BB962C8B-B14F-4D97-AF65-F5344CB8AC3E}">
        <p14:creationId xmlns:p14="http://schemas.microsoft.com/office/powerpoint/2010/main" val="384497405"/>
      </p:ext>
    </p:extLst>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A1400550C8A7F40B8B4A016FED0B662" ma:contentTypeVersion="4" ma:contentTypeDescription="Create a new document." ma:contentTypeScope="" ma:versionID="e81348234f824454bee5ff4e1163a581">
  <xsd:schema xmlns:xsd="http://www.w3.org/2001/XMLSchema" xmlns:xs="http://www.w3.org/2001/XMLSchema" xmlns:p="http://schemas.microsoft.com/office/2006/metadata/properties" xmlns:ns2="40a13437-5c9a-41df-9085-f05539ee4fdd" targetNamespace="http://schemas.microsoft.com/office/2006/metadata/properties" ma:root="true" ma:fieldsID="57f9d12a761af35035b5fe40efe9ccc5" ns2:_="">
    <xsd:import namespace="40a13437-5c9a-41df-9085-f05539ee4fd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0a13437-5c9a-41df-9085-f05539ee4fd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08DB853-08CA-4B9A-A82F-51412BCB7619}"/>
</file>

<file path=customXml/itemProps2.xml><?xml version="1.0" encoding="utf-8"?>
<ds:datastoreItem xmlns:ds="http://schemas.openxmlformats.org/officeDocument/2006/customXml" ds:itemID="{9E492749-ABA8-4C02-AF5B-D2AD81956CA0}"/>
</file>

<file path=customXml/itemProps3.xml><?xml version="1.0" encoding="utf-8"?>
<ds:datastoreItem xmlns:ds="http://schemas.openxmlformats.org/officeDocument/2006/customXml" ds:itemID="{233A067D-9F23-4BCA-9D7A-F74F8080CD9A}"/>
</file>

<file path=docProps/app.xml><?xml version="1.0" encoding="utf-8"?>
<Properties xmlns="http://schemas.openxmlformats.org/officeDocument/2006/extended-properties" xmlns:vt="http://schemas.openxmlformats.org/officeDocument/2006/docPropsVTypes">
  <Template>SE10 slides.thmx</Template>
  <TotalTime>5215</TotalTime>
  <Words>4645</Words>
  <Application>Microsoft Office PowerPoint</Application>
  <PresentationFormat>On-screen Show (4:3)</PresentationFormat>
  <Paragraphs>496</Paragraphs>
  <Slides>60</Slides>
  <Notes>2</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60</vt:i4>
      </vt:variant>
    </vt:vector>
  </HeadingPairs>
  <TitlesOfParts>
    <vt:vector size="65" baseType="lpstr">
      <vt:lpstr>Arial</vt:lpstr>
      <vt:lpstr>Calibri</vt:lpstr>
      <vt:lpstr>Wingdings</vt:lpstr>
      <vt:lpstr>SE10 slides</vt:lpstr>
      <vt:lpstr>Document</vt:lpstr>
      <vt:lpstr>Software Engineering Week 4</vt:lpstr>
      <vt:lpstr>Topics covered</vt:lpstr>
      <vt:lpstr>What is a requirement?</vt:lpstr>
      <vt:lpstr>Types of requirement</vt:lpstr>
      <vt:lpstr>User and system requirements </vt:lpstr>
      <vt:lpstr>Readers of different types of requirements specification </vt:lpstr>
      <vt:lpstr>System stakeholders</vt:lpstr>
      <vt:lpstr>Stakeholders in the Mentcare system</vt:lpstr>
      <vt:lpstr>Stakeholders in the Mentcare system</vt:lpstr>
      <vt:lpstr>Agile methods and requirements</vt:lpstr>
      <vt:lpstr>Functional and non-functional requirements</vt:lpstr>
      <vt:lpstr>Functional and non-functional requirements</vt:lpstr>
      <vt:lpstr>Functional requirements</vt:lpstr>
      <vt:lpstr>Mentcare system: functional requirements</vt:lpstr>
      <vt:lpstr>Requirements imprecision</vt:lpstr>
      <vt:lpstr>Requirements completeness and consistency</vt:lpstr>
      <vt:lpstr>Non-functional requirements</vt:lpstr>
      <vt:lpstr>Types of nonfunctional requirement </vt:lpstr>
      <vt:lpstr>Non-functional requirements implementation</vt:lpstr>
      <vt:lpstr>Non-functional classifications</vt:lpstr>
      <vt:lpstr>Examples of nonfunctional requirements in the Mentcare system</vt:lpstr>
      <vt:lpstr>Usability requirements</vt:lpstr>
      <vt:lpstr>Metrics for specifying nonfunctional requirements</vt:lpstr>
      <vt:lpstr>Documenting Requirements to a Standard</vt:lpstr>
      <vt:lpstr>Documentation Elements</vt:lpstr>
      <vt:lpstr>Requirements document variability</vt:lpstr>
      <vt:lpstr>The structure of a requirements document </vt:lpstr>
      <vt:lpstr>The structure of a requirements document </vt:lpstr>
      <vt:lpstr>Requirements and design</vt:lpstr>
      <vt:lpstr>Natural language specification</vt:lpstr>
      <vt:lpstr>Guidelines for writing requirements</vt:lpstr>
      <vt:lpstr>Problems with natural language</vt:lpstr>
      <vt:lpstr>Example requirements for the insulin pump software system </vt:lpstr>
      <vt:lpstr>Structured specifications</vt:lpstr>
      <vt:lpstr>Form-based specifications</vt:lpstr>
      <vt:lpstr>A structured specification of a requirement for an insulin pump </vt:lpstr>
      <vt:lpstr>A structured specification of a requirement for an insulin pump </vt:lpstr>
      <vt:lpstr>Tabular specification</vt:lpstr>
      <vt:lpstr>Tabular specification of computation for an insulin pump </vt:lpstr>
      <vt:lpstr>Personas</vt:lpstr>
      <vt:lpstr>Personas Description</vt:lpstr>
      <vt:lpstr>Personas Description</vt:lpstr>
      <vt:lpstr>Persona (Example)</vt:lpstr>
      <vt:lpstr>Scenarios and User Stories</vt:lpstr>
      <vt:lpstr>Scenario</vt:lpstr>
      <vt:lpstr>Scenarios Description</vt:lpstr>
      <vt:lpstr>Scenarios (Example)</vt:lpstr>
      <vt:lpstr>Scenarios (Elements of the Example)</vt:lpstr>
      <vt:lpstr>User Stories</vt:lpstr>
      <vt:lpstr>User Stories</vt:lpstr>
      <vt:lpstr>User Stories (Example)</vt:lpstr>
      <vt:lpstr>User Stories</vt:lpstr>
      <vt:lpstr>Scenarios vs User Stories</vt:lpstr>
      <vt:lpstr>Features</vt:lpstr>
      <vt:lpstr>Knowledge Required for Feature Design</vt:lpstr>
      <vt:lpstr>Knowledge Required for Feature Design</vt:lpstr>
      <vt:lpstr>Factors in Feature Design</vt:lpstr>
      <vt:lpstr>Feature Tradeoff and Creep</vt:lpstr>
      <vt:lpstr>Features Identification</vt:lpstr>
      <vt:lpstr>Feature List</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4</dc:title>
  <dc:creator>Ian Sommerville</dc:creator>
  <cp:lastModifiedBy>Umair Khan</cp:lastModifiedBy>
  <cp:revision>32</cp:revision>
  <cp:lastPrinted>2010-01-11T10:54:43Z</cp:lastPrinted>
  <dcterms:created xsi:type="dcterms:W3CDTF">2010-01-08T19:43:52Z</dcterms:created>
  <dcterms:modified xsi:type="dcterms:W3CDTF">2024-04-15T18:30:33Z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0x0101002A1400550C8A7F40B8B4A016FED0B662</vt:lpwstr>
  </property>
  <property fmtid="{D5CDD505-2E9C-101B-9397-08002B2CF9AE}" pid="3" name="Order">
    <vt:r8>700</vt:r8>
  </property>
  <property fmtid="{D5CDD505-2E9C-101B-9397-08002B2CF9AE}" pid="4" name="xd_Signature">
    <vt:bool>false</vt:bool>
  </property>
  <property fmtid="{D5CDD505-2E9C-101B-9397-08002B2CF9AE}" pid="5" name="xd_ProgID">
    <vt:lpwstr/>
  </property>
  <property fmtid="{D5CDD505-2E9C-101B-9397-08002B2CF9AE}" pid="6" name="TriggerFlowInfo">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ies>
</file>