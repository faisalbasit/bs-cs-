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57"/>
  </p:notesMasterIdLst>
  <p:handoutMasterIdLst>
    <p:handoutMasterId r:id="rId58"/>
  </p:handoutMasterIdLst>
  <p:sldIdLst>
    <p:sldId id="256" r:id="rId5"/>
    <p:sldId id="270" r:id="rId6"/>
    <p:sldId id="281" r:id="rId7"/>
    <p:sldId id="318" r:id="rId8"/>
    <p:sldId id="319" r:id="rId9"/>
    <p:sldId id="333" r:id="rId10"/>
    <p:sldId id="282" r:id="rId11"/>
    <p:sldId id="257" r:id="rId12"/>
    <p:sldId id="284" r:id="rId13"/>
    <p:sldId id="285" r:id="rId14"/>
    <p:sldId id="258" r:id="rId15"/>
    <p:sldId id="288" r:id="rId16"/>
    <p:sldId id="320" r:id="rId17"/>
    <p:sldId id="289" r:id="rId18"/>
    <p:sldId id="322" r:id="rId19"/>
    <p:sldId id="259" r:id="rId20"/>
    <p:sldId id="346" r:id="rId21"/>
    <p:sldId id="347" r:id="rId22"/>
    <p:sldId id="334" r:id="rId23"/>
    <p:sldId id="272" r:id="rId24"/>
    <p:sldId id="260" r:id="rId25"/>
    <p:sldId id="291" r:id="rId26"/>
    <p:sldId id="293" r:id="rId27"/>
    <p:sldId id="261" r:id="rId28"/>
    <p:sldId id="323" r:id="rId29"/>
    <p:sldId id="348" r:id="rId30"/>
    <p:sldId id="299" r:id="rId31"/>
    <p:sldId id="262" r:id="rId32"/>
    <p:sldId id="301" r:id="rId33"/>
    <p:sldId id="263" r:id="rId34"/>
    <p:sldId id="303" r:id="rId35"/>
    <p:sldId id="264" r:id="rId36"/>
    <p:sldId id="337" r:id="rId37"/>
    <p:sldId id="273" r:id="rId38"/>
    <p:sldId id="349" r:id="rId39"/>
    <p:sldId id="312" r:id="rId40"/>
    <p:sldId id="313" r:id="rId41"/>
    <p:sldId id="265" r:id="rId42"/>
    <p:sldId id="328" r:id="rId43"/>
    <p:sldId id="316" r:id="rId44"/>
    <p:sldId id="305" r:id="rId45"/>
    <p:sldId id="329" r:id="rId46"/>
    <p:sldId id="266" r:id="rId47"/>
    <p:sldId id="307" r:id="rId48"/>
    <p:sldId id="326" r:id="rId49"/>
    <p:sldId id="338" r:id="rId50"/>
    <p:sldId id="339" r:id="rId51"/>
    <p:sldId id="340" r:id="rId52"/>
    <p:sldId id="341" r:id="rId53"/>
    <p:sldId id="350" r:id="rId54"/>
    <p:sldId id="336" r:id="rId55"/>
    <p:sldId id="280" r:id="rId56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54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9" Type="http://schemas.openxmlformats.org/officeDocument/2006/relationships/slide" Target="slides/slide35.xml" /><Relationship Id="rId21" Type="http://schemas.openxmlformats.org/officeDocument/2006/relationships/slide" Target="slides/slide17.xml" /><Relationship Id="rId34" Type="http://schemas.openxmlformats.org/officeDocument/2006/relationships/slide" Target="slides/slide30.xml" /><Relationship Id="rId42" Type="http://schemas.openxmlformats.org/officeDocument/2006/relationships/slide" Target="slides/slide38.xml" /><Relationship Id="rId47" Type="http://schemas.openxmlformats.org/officeDocument/2006/relationships/slide" Target="slides/slide43.xml" /><Relationship Id="rId50" Type="http://schemas.openxmlformats.org/officeDocument/2006/relationships/slide" Target="slides/slide46.xml" /><Relationship Id="rId55" Type="http://schemas.openxmlformats.org/officeDocument/2006/relationships/slide" Target="slides/slide51.xml" /><Relationship Id="rId7" Type="http://schemas.openxmlformats.org/officeDocument/2006/relationships/slide" Target="slides/slide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slide" Target="slides/slide25.xml" /><Relationship Id="rId41" Type="http://schemas.openxmlformats.org/officeDocument/2006/relationships/slide" Target="slides/slide37.xml" /><Relationship Id="rId54" Type="http://schemas.openxmlformats.org/officeDocument/2006/relationships/slide" Target="slides/slide50.xml" /><Relationship Id="rId62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slide" Target="slides/slide28.xml" /><Relationship Id="rId37" Type="http://schemas.openxmlformats.org/officeDocument/2006/relationships/slide" Target="slides/slide33.xml" /><Relationship Id="rId40" Type="http://schemas.openxmlformats.org/officeDocument/2006/relationships/slide" Target="slides/slide36.xml" /><Relationship Id="rId45" Type="http://schemas.openxmlformats.org/officeDocument/2006/relationships/slide" Target="slides/slide41.xml" /><Relationship Id="rId53" Type="http://schemas.openxmlformats.org/officeDocument/2006/relationships/slide" Target="slides/slide49.xml" /><Relationship Id="rId58" Type="http://schemas.openxmlformats.org/officeDocument/2006/relationships/handoutMaster" Target="handoutMasters/handoutMaster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slide" Target="slides/slide32.xml" /><Relationship Id="rId49" Type="http://schemas.openxmlformats.org/officeDocument/2006/relationships/slide" Target="slides/slide45.xml" /><Relationship Id="rId57" Type="http://schemas.openxmlformats.org/officeDocument/2006/relationships/notesMaster" Target="notesMasters/notesMaster1.xml" /><Relationship Id="rId61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slide" Target="slides/slide27.xml" /><Relationship Id="rId44" Type="http://schemas.openxmlformats.org/officeDocument/2006/relationships/slide" Target="slides/slide40.xml" /><Relationship Id="rId52" Type="http://schemas.openxmlformats.org/officeDocument/2006/relationships/slide" Target="slides/slide48.xml" /><Relationship Id="rId60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30" Type="http://schemas.openxmlformats.org/officeDocument/2006/relationships/slide" Target="slides/slide26.xml" /><Relationship Id="rId35" Type="http://schemas.openxmlformats.org/officeDocument/2006/relationships/slide" Target="slides/slide31.xml" /><Relationship Id="rId43" Type="http://schemas.openxmlformats.org/officeDocument/2006/relationships/slide" Target="slides/slide39.xml" /><Relationship Id="rId48" Type="http://schemas.openxmlformats.org/officeDocument/2006/relationships/slide" Target="slides/slide44.xml" /><Relationship Id="rId56" Type="http://schemas.openxmlformats.org/officeDocument/2006/relationships/slide" Target="slides/slide52.xml" /><Relationship Id="rId8" Type="http://schemas.openxmlformats.org/officeDocument/2006/relationships/slide" Target="slides/slide4.xml" /><Relationship Id="rId51" Type="http://schemas.openxmlformats.org/officeDocument/2006/relationships/slide" Target="slides/slide47.xml" /><Relationship Id="rId3" Type="http://schemas.openxmlformats.org/officeDocument/2006/relationships/customXml" Target="../customXml/item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33" Type="http://schemas.openxmlformats.org/officeDocument/2006/relationships/slide" Target="slides/slide29.xml" /><Relationship Id="rId38" Type="http://schemas.openxmlformats.org/officeDocument/2006/relationships/slide" Target="slides/slide34.xml" /><Relationship Id="rId46" Type="http://schemas.openxmlformats.org/officeDocument/2006/relationships/slide" Target="slides/slide42.xml" /><Relationship Id="rId59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3/17/2024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3/17/2024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 /><Relationship Id="rId1" Type="http://schemas.openxmlformats.org/officeDocument/2006/relationships/slideLayout" Target="../slideLayouts/slideLayout2.xml" 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  <a:p>
            <a:r>
              <a:rPr lang="en-GB" dirty="0"/>
              <a:t>Coping with change</a:t>
            </a:r>
          </a:p>
          <a:p>
            <a:r>
              <a:rPr lang="en-GB" dirty="0"/>
              <a:t>Process improvement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 structured set of activities required to develop a </a:t>
            </a:r>
            <a:br>
              <a:rPr lang="en-GB"/>
            </a:br>
            <a:r>
              <a:rPr lang="en-GB"/>
              <a:t>software system. </a:t>
            </a:r>
          </a:p>
          <a:p>
            <a:r>
              <a:rPr lang="en-GB"/>
              <a:t>Many different software processes but all involve:</a:t>
            </a:r>
          </a:p>
          <a:p>
            <a:pPr lvl="1"/>
            <a:r>
              <a:rPr lang="en-GB"/>
              <a:t>Specification – defining what the system should do;</a:t>
            </a:r>
          </a:p>
          <a:p>
            <a:pPr lvl="1"/>
            <a:r>
              <a:rPr lang="en-GB"/>
              <a:t>Design and implementation – defining the organization of the system and implementing the system;</a:t>
            </a:r>
          </a:p>
          <a:p>
            <a:pPr lvl="1"/>
            <a:r>
              <a:rPr lang="en-GB"/>
              <a:t>Validation – checking that it does what the customer wants;</a:t>
            </a:r>
          </a:p>
          <a:p>
            <a:pPr lvl="1"/>
            <a:r>
              <a:rPr lang="en-GB"/>
              <a:t>Evolution – changing the system in response to changing customer needs.</a:t>
            </a:r>
          </a:p>
          <a:p>
            <a:r>
              <a:rPr lang="en-GB"/>
              <a:t>A software process model is an abstract representation of a process. It presents a description of a process from some particular perspective.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/>
              <a:t>Process descriptions may also include:</a:t>
            </a:r>
          </a:p>
          <a:p>
            <a:pPr lvl="1"/>
            <a:r>
              <a:rPr lang="en-GB"/>
              <a:t>Products, which are the outcomes of a process activity; </a:t>
            </a:r>
          </a:p>
          <a:p>
            <a:pPr lvl="1"/>
            <a:r>
              <a:rPr lang="en-GB"/>
              <a:t>Roles, which reflect the responsibilities of the people involved in the process;</a:t>
            </a:r>
          </a:p>
          <a:p>
            <a:pPr lvl="1"/>
            <a:r>
              <a:rPr lang="en-GB"/>
              <a:t>Pre- and post-conditions,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/>
              <a:t>In agile processes,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no right or wrong software processes.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/>
              <a:t>Incremental development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/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components. May be plan-driven or agile.</a:t>
            </a:r>
          </a:p>
          <a:p>
            <a:r>
              <a:rPr lang="en-GB" dirty="0"/>
              <a:t>In practice, most large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main drawback 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used for large systems engineering projects where a system is developed at several sites.</a:t>
            </a:r>
          </a:p>
          <a:p>
            <a:pPr lvl="1"/>
            <a:r>
              <a:rPr lang="en-GB" dirty="0"/>
              <a:t>In those circumstances, the plan-driven nature of the waterfall model helps coordinate the work.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cost of accommodating changing customer requirements is reduced.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tends to degrade as new increments are added</a:t>
            </a:r>
            <a:r>
              <a:rPr lang="en-GB" i="1" dirty="0"/>
              <a:t>. 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software reuse where systems are integrated from existing components or application systems (</a:t>
            </a:r>
            <a:r>
              <a:rPr lang="en-GB"/>
              <a:t>sometimes called COTS </a:t>
            </a:r>
            <a:r>
              <a:rPr lang="en-GB" dirty="0"/>
              <a:t>-</a:t>
            </a:r>
            <a:r>
              <a:rPr lang="en-GB"/>
              <a:t>Commercial</a:t>
            </a:r>
            <a:r>
              <a:rPr lang="en-GB" dirty="0"/>
              <a:t>-off-the-shelf</a:t>
            </a:r>
            <a:r>
              <a:rPr lang="en-GB"/>
              <a:t>) systems).</a:t>
            </a:r>
            <a:endParaRPr lang="en-GB" dirty="0"/>
          </a:p>
          <a:p>
            <a:r>
              <a:rPr lang="en-GB" dirty="0"/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pPr lvl="1"/>
            <a:r>
              <a:rPr lang="en-GB" dirty="0"/>
              <a:t>Reuse covered in more depth in Chapter 15.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reusable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Stand-alone application systems (sometimes called COTS) that are configured for use in a particular environment.</a:t>
            </a:r>
          </a:p>
          <a:p>
            <a:r>
              <a:rPr lang="en-GB" dirty="0"/>
              <a:t>Collections of objects that are developed as a package to be integrated with a component framework such as .NET or J2EE.</a:t>
            </a:r>
          </a:p>
          <a:p>
            <a:r>
              <a:rPr lang="en-GB" dirty="0"/>
              <a:t>Web services that are developed according to service standards and which are available for remote invocation. 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Reuse-oriented software engineering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0" y="2326734"/>
            <a:ext cx="8793575" cy="36546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process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  <a:p>
            <a:r>
              <a:rPr lang="en-US" dirty="0"/>
              <a:t>Software discovery and evaluation</a:t>
            </a:r>
          </a:p>
          <a:p>
            <a:r>
              <a:rPr lang="en-US" dirty="0"/>
              <a:t>Requirements refinement</a:t>
            </a:r>
          </a:p>
          <a:p>
            <a:r>
              <a:rPr lang="en-US" dirty="0"/>
              <a:t>Application system configuration</a:t>
            </a:r>
          </a:p>
          <a:p>
            <a:r>
              <a:rPr lang="en-US" dirty="0"/>
              <a:t>Component adaptation and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costs and risks as less software is developed from scratch</a:t>
            </a:r>
          </a:p>
          <a:p>
            <a:r>
              <a:rPr lang="en-US" dirty="0"/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dirty="0"/>
              <a:t>The four basic process activities of specification, development, validation and evolution are organized differently in different development processes. </a:t>
            </a:r>
          </a:p>
          <a:p>
            <a:r>
              <a:rPr lang="en-GB" dirty="0"/>
              <a:t>For example, in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process of converting the system specification into an executable system.</a:t>
            </a:r>
          </a:p>
          <a:p>
            <a:r>
              <a:rPr lang="en-GB"/>
              <a:t>Software design</a:t>
            </a:r>
          </a:p>
          <a:p>
            <a:pPr lvl="1"/>
            <a:r>
              <a:rPr lang="en-GB"/>
              <a:t>Design a software structure that realises the specification;</a:t>
            </a:r>
          </a:p>
          <a:p>
            <a:r>
              <a:rPr lang="en-GB"/>
              <a:t>Implementation</a:t>
            </a:r>
          </a:p>
          <a:p>
            <a:pPr lvl="1"/>
            <a:r>
              <a:rPr lang="en-GB"/>
              <a:t>Translate this structure into an executable program;</a:t>
            </a:r>
          </a:p>
          <a:p>
            <a:r>
              <a:rPr lang="en-GB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is implemented either by developing a program or programs or by configuring an application system.</a:t>
            </a:r>
          </a:p>
          <a:p>
            <a:r>
              <a:rPr lang="en-US" dirty="0"/>
              <a:t>Design and implementation are interleaved activities for most types of software system.</a:t>
            </a:r>
          </a:p>
          <a:p>
            <a:r>
              <a:rPr lang="en-US" dirty="0"/>
              <a:t>Programming is an individual activity with no standard process.</a:t>
            </a:r>
          </a:p>
          <a:p>
            <a:r>
              <a:rPr lang="en-US" dirty="0"/>
              <a:t>Debugging 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/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phases in a plan-driven software process (V-model)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Software is inherently flexible and can change. </a:t>
            </a:r>
          </a:p>
          <a:p>
            <a:r>
              <a:rPr lang="en-GB"/>
              <a:t>As requirements change through changing business circumstances, the software that supports the business must also evolve and change.</a:t>
            </a:r>
          </a:p>
          <a:p>
            <a:r>
              <a:rPr lang="en-GB"/>
              <a:t>Although there has been a demarcation between development and evolution (maintenance) this is increasingly irrelevant as fewer and fewer systems are completely new.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Coping with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Coping with change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inevitable in all large software projects.</a:t>
            </a:r>
          </a:p>
          <a:p>
            <a:pPr lvl="1"/>
            <a:r>
              <a:rPr lang="en-US" dirty="0"/>
              <a:t>Business changes lead to new and changed system requirements</a:t>
            </a:r>
          </a:p>
          <a:p>
            <a:pPr lvl="1"/>
            <a:r>
              <a:rPr lang="en-US" dirty="0"/>
              <a:t>New technologies open up new possibilities for improving implementations</a:t>
            </a:r>
          </a:p>
          <a:p>
            <a:pPr lvl="1"/>
            <a:r>
              <a:rPr lang="en-US" dirty="0"/>
              <a:t>Changing platforms require application changes</a:t>
            </a:r>
          </a:p>
          <a:p>
            <a:r>
              <a:rPr lang="en-US" dirty="0"/>
              <a:t>Change leads to rework so the costs of change include both rework (e.g. re-</a:t>
            </a:r>
            <a:r>
              <a:rPr lang="en-US" dirty="0" err="1"/>
              <a:t>analysing</a:t>
            </a:r>
            <a:r>
              <a:rPr lang="en-US" dirty="0"/>
              <a:t> requirements) as well as the costs of implementing new functionality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prototyping, where a version of the system or part of the system is developed quickly to check the customer’s requirements and the feasibility of design decisions. This approach supports change anticipation. </a:t>
            </a:r>
          </a:p>
          <a:p>
            <a:r>
              <a:rPr lang="en-GB" dirty="0"/>
              <a:t>Incremental delivery, where system increments are delivered to the customer for comment and experimentation. This supports both change avoidance and change tolerance.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prototyping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prototype is an initial version of a system used to demonstrate concepts and try out design options.</a:t>
            </a:r>
          </a:p>
          <a:p>
            <a:r>
              <a:rPr lang="en-US"/>
              <a:t>A prototype can be used in:</a:t>
            </a:r>
          </a:p>
          <a:p>
            <a:pPr lvl="1"/>
            <a:r>
              <a:rPr lang="en-US"/>
              <a:t>The requirements engineering process to help with requirements elicitation and validation;</a:t>
            </a:r>
          </a:p>
          <a:p>
            <a:pPr lvl="1"/>
            <a:r>
              <a:rPr lang="en-US"/>
              <a:t>In design processes to explore options and develop a UI design;</a:t>
            </a:r>
          </a:p>
          <a:p>
            <a:pPr lvl="1"/>
            <a:r>
              <a:rPr lang="en-US"/>
              <a:t>In the testing process to run back-to-back tests.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prototyping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Improved system usability.</a:t>
            </a:r>
          </a:p>
          <a:p>
            <a:r>
              <a:rPr lang="en-US"/>
              <a:t>A closer match to users’ real needs.</a:t>
            </a:r>
          </a:p>
          <a:p>
            <a:r>
              <a:rPr lang="en-US"/>
              <a:t>Improved design quality.</a:t>
            </a:r>
          </a:p>
          <a:p>
            <a:r>
              <a:rPr lang="en-US"/>
              <a:t>Improved maintainability.</a:t>
            </a:r>
          </a:p>
          <a:p>
            <a:r>
              <a:rPr lang="en-US"/>
              <a:t>Reduced development effort.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process of prototype development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75" y="2608352"/>
            <a:ext cx="7627164" cy="216292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be based on rapid prototyping languages 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/>
              <a:t>Error checking and recovery may not be included in the prototype;</a:t>
            </a:r>
          </a:p>
          <a:p>
            <a:pPr lvl="1"/>
            <a:r>
              <a:rPr lang="en-US" dirty="0"/>
              <a:t>Focus on functional rather than non-functional requirements such as reliability and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prototypes</a:t>
            </a:r>
          </a:p>
        </p:txBody>
      </p:sp>
      <p:sp>
        <p:nvSpPr>
          <p:cNvPr id="118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Prototypes should be discarded after development as they are not a good basis for a production system:</a:t>
            </a:r>
          </a:p>
          <a:p>
            <a:pPr lvl="1"/>
            <a:r>
              <a:rPr lang="en-US"/>
              <a:t>It may be impossible to tune the system to meet non-functional requirements;</a:t>
            </a:r>
          </a:p>
          <a:p>
            <a:pPr lvl="1"/>
            <a:r>
              <a:rPr lang="en-US"/>
              <a:t>Prototypes are normally undocumented;</a:t>
            </a:r>
          </a:p>
          <a:p>
            <a:pPr lvl="1"/>
            <a:r>
              <a:rPr lang="en-US"/>
              <a:t>The prototype structure is usually degraded through rapid change;</a:t>
            </a:r>
          </a:p>
          <a:p>
            <a:pPr lvl="1"/>
            <a:r>
              <a:rPr lang="en-US"/>
              <a:t>The prototype probably will not meet normal organisational quality standards.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Incremental delivery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Rather than deliver the system as a single delivery, the development and delivery is broken down into increments with each increment delivering part of the required functionality.</a:t>
            </a:r>
          </a:p>
          <a:p>
            <a:r>
              <a:rPr lang="en-GB"/>
              <a:t>User requirements are prioritised and the highest priority requirements are included in early increments.</a:t>
            </a:r>
          </a:p>
          <a:p>
            <a:r>
              <a:rPr lang="en-GB"/>
              <a:t>Once the development of an increment is started, the requirements are frozen though requirements for later increments can continue to evolve.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  <a:p>
            <a:pPr lvl="1"/>
            <a:r>
              <a:rPr lang="en-US" dirty="0"/>
              <a:t>Develop the system in increments and evaluate each increment before proceeding to the development of the next increment;</a:t>
            </a:r>
          </a:p>
          <a:p>
            <a:pPr lvl="1"/>
            <a:r>
              <a:rPr lang="en-US" dirty="0"/>
              <a:t>Normal approach used in agile methods;</a:t>
            </a:r>
          </a:p>
          <a:p>
            <a:pPr lvl="1"/>
            <a:r>
              <a:rPr lang="en-US" dirty="0"/>
              <a:t>Evaluation done by user/customer proxy.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Deploy an increment for use by end-users;</a:t>
            </a:r>
          </a:p>
          <a:p>
            <a:pPr lvl="1"/>
            <a:r>
              <a:rPr lang="en-US" dirty="0"/>
              <a:t>More realistic evaluation about practical use of software;</a:t>
            </a:r>
          </a:p>
          <a:p>
            <a:pPr lvl="1"/>
            <a:r>
              <a:rPr lang="en-US" dirty="0"/>
              <a:t>Difficult to implement for replacement systems as increments have less functionality than the system being replaced.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3036"/>
            <a:ext cx="8172017" cy="276724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Customer value can be delivered with each increment so system functionality is available earlier.</a:t>
            </a:r>
          </a:p>
          <a:p>
            <a:r>
              <a:rPr lang="en-GB"/>
              <a:t>Early increments act as a prototype to help elicit requirements for later increments.</a:t>
            </a:r>
          </a:p>
          <a:p>
            <a:r>
              <a:rPr lang="en-GB"/>
              <a:t>Lower risk of overall project failure.</a:t>
            </a:r>
          </a:p>
          <a:p>
            <a:r>
              <a:rPr lang="en-GB"/>
              <a:t>The highest priority system services tend to receive the most testing.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/>
              <a:t>Most systems require a set of basic facilities that are used by different parts of the system.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specification is developed in conjunction with the software. </a:t>
            </a:r>
          </a:p>
          <a:p>
            <a:pPr lvl="1"/>
            <a:r>
              <a:rPr lang="en-GB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7804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improvement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7055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software companies have turned to software process improvement as a way of enhancing the quality of their software, reducing costs or accelerating their development processes. </a:t>
            </a:r>
          </a:p>
          <a:p>
            <a:r>
              <a:rPr lang="en-US" dirty="0"/>
              <a:t>Process improvement means understanding existing processes and changing these processes to increase product quality and/or reduce costs and development time. 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42665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maturity approach, which focuses on improving process  and project management and introducing good software engineering practice. </a:t>
            </a:r>
          </a:p>
          <a:p>
            <a:pPr lvl="1"/>
            <a:r>
              <a:rPr lang="en-US" dirty="0"/>
              <a:t>The level of process maturity reflects the extent to which good technical and management practice has been adopted in organizational software development processes. </a:t>
            </a:r>
            <a:endParaRPr lang="en-GB" dirty="0"/>
          </a:p>
          <a:p>
            <a:r>
              <a:rPr lang="en-US" dirty="0"/>
              <a:t>The agile approach, which focuses on iterative development and the reduction of overheads in the software process. </a:t>
            </a:r>
          </a:p>
          <a:p>
            <a:pPr lvl="1"/>
            <a:r>
              <a:rPr lang="en-US" dirty="0"/>
              <a:t>The primary characteristics of agile methods are rapid delivery of functionality and responsiveness to changing customer requirements.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36099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improvement cycle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26.3 Process improvement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976" b="-2227"/>
          <a:stretch/>
        </p:blipFill>
        <p:spPr>
          <a:xfrm>
            <a:off x="1760331" y="1698510"/>
            <a:ext cx="4876799" cy="4110668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2720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Process measurement </a:t>
            </a:r>
          </a:p>
          <a:p>
            <a:pPr lvl="1"/>
            <a:r>
              <a:rPr lang="en-US" dirty="0"/>
              <a:t>You measure one or more attributes of the software process or product. These measurements forms a baseline that helps you decide if process improvements have been effective. </a:t>
            </a:r>
            <a:r>
              <a:rPr lang="en-GB" dirty="0"/>
              <a:t> </a:t>
            </a:r>
          </a:p>
          <a:p>
            <a:r>
              <a:rPr lang="en-US" i="1" dirty="0"/>
              <a:t>Process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current process is assessed, and process weaknesses and bottlenecks are identified. Process models (sometimes called process maps) that describe the process may be developed. </a:t>
            </a:r>
            <a:r>
              <a:rPr lang="en-GB" dirty="0"/>
              <a:t> </a:t>
            </a:r>
          </a:p>
          <a:p>
            <a:r>
              <a:rPr lang="en-US" i="1" dirty="0"/>
              <a:t>Process change </a:t>
            </a:r>
          </a:p>
          <a:p>
            <a:pPr lvl="1"/>
            <a:r>
              <a:rPr lang="en-US" dirty="0"/>
              <a:t>Process changes are proposed to address some of the identified process weaknesses. These are introduced and the cycle resumes to collect data about the effectiveness of the changes.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08528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and implementation processes are concerned with transforming a requirements specification into an executable software system. </a:t>
            </a:r>
          </a:p>
          <a:p>
            <a:r>
              <a:rPr lang="en-GB" dirty="0"/>
              <a:t>Software validation is the process of checking that the system conforms to its specification and that it meets the real needs of the users of the system.</a:t>
            </a:r>
          </a:p>
          <a:p>
            <a:r>
              <a:rPr lang="en-GB" dirty="0"/>
              <a:t>Software evolution takes place when you change existing software systems to meet new requirements. The software must evolve to remain useful.</a:t>
            </a:r>
          </a:p>
          <a:p>
            <a:r>
              <a:rPr lang="en-GB" dirty="0"/>
              <a:t>Processes should include activities such as prototyping and incremental delivery to cope with change.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0701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Processes may be structured for iterative development and delivery so that changes may be made without disrupting the system as a whole.</a:t>
            </a:r>
          </a:p>
          <a:p>
            <a:r>
              <a:rPr lang="en-GB" dirty="0"/>
              <a:t> The principal approaches to process improvement are agile approaches, geared to reducing process overheads, and maturity-based approaches based on better process management and the use of good software engineering practice.</a:t>
            </a:r>
          </a:p>
          <a:p>
            <a:r>
              <a:rPr lang="en-GB" dirty="0"/>
              <a:t>The SEI process maturity framework identifies maturity levels that essentially correspond to the use of good software engineering practice.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1400550C8A7F40B8B4A016FED0B662" ma:contentTypeVersion="0" ma:contentTypeDescription="Create a new document." ma:contentTypeScope="" ma:versionID="cfc22c2f22a1093fad9043dd52ebfe4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24E5B1-1478-4F93-82BF-CCAF7E061CA7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9E36DCF2-D7F5-4C9E-9493-4F62F69816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2D84A0-61C1-45E0-8B29-1386F16AD1D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9022</TotalTime>
  <Words>2770</Words>
  <Application>Microsoft Office PowerPoint</Application>
  <PresentationFormat>On-screen Show (4:3)</PresentationFormat>
  <Paragraphs>377</Paragraphs>
  <Slides>52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  <vt:lpstr>Coping with change</vt:lpstr>
      <vt:lpstr>Coping with change</vt:lpstr>
      <vt:lpstr>Coping with changing requirements</vt:lpstr>
      <vt:lpstr>Software prototyping</vt:lpstr>
      <vt:lpstr>Benefits of prototyping</vt:lpstr>
      <vt:lpstr>The process of prototype development 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Process improvement</vt:lpstr>
      <vt:lpstr>Process improvement</vt:lpstr>
      <vt:lpstr>Approaches to improvement</vt:lpstr>
      <vt:lpstr>The process improvement cycle </vt:lpstr>
      <vt:lpstr>Process improvement activities</vt:lpstr>
      <vt:lpstr>Key points</vt:lpstr>
      <vt:lpstr>Key points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Muhammad Faisal</cp:lastModifiedBy>
  <cp:revision>30</cp:revision>
  <dcterms:created xsi:type="dcterms:W3CDTF">2010-01-06T19:57:16Z</dcterms:created>
  <dcterms:modified xsi:type="dcterms:W3CDTF">2024-03-17T17:30:24Z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0x0101002A1400550C8A7F40B8B4A016FED0B662</vt:lpwstr>
  </property>
  <property fmtid="{D5CDD505-2E9C-101B-9397-08002B2CF9AE}" pid="3" name="Order">
    <vt:r8>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