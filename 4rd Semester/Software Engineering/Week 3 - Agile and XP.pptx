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63"/>
  </p:notesMasterIdLst>
  <p:handoutMasterIdLst>
    <p:handoutMasterId r:id="rId64"/>
  </p:handoutMasterIdLst>
  <p:sldIdLst>
    <p:sldId id="256" r:id="rId5"/>
    <p:sldId id="266" r:id="rId6"/>
    <p:sldId id="323" r:id="rId7"/>
    <p:sldId id="297" r:id="rId8"/>
    <p:sldId id="339" r:id="rId9"/>
    <p:sldId id="340" r:id="rId10"/>
    <p:sldId id="335" r:id="rId11"/>
    <p:sldId id="336" r:id="rId12"/>
    <p:sldId id="298" r:id="rId13"/>
    <p:sldId id="320" r:id="rId14"/>
    <p:sldId id="271" r:id="rId15"/>
    <p:sldId id="330" r:id="rId16"/>
    <p:sldId id="276" r:id="rId17"/>
    <p:sldId id="261" r:id="rId18"/>
    <p:sldId id="262" r:id="rId19"/>
    <p:sldId id="301" r:id="rId20"/>
    <p:sldId id="303" r:id="rId21"/>
    <p:sldId id="279" r:id="rId22"/>
    <p:sldId id="282" r:id="rId23"/>
    <p:sldId id="305" r:id="rId24"/>
    <p:sldId id="263" r:id="rId25"/>
    <p:sldId id="306" r:id="rId26"/>
    <p:sldId id="307" r:id="rId27"/>
    <p:sldId id="283" r:id="rId28"/>
    <p:sldId id="295" r:id="rId29"/>
    <p:sldId id="318" r:id="rId30"/>
    <p:sldId id="287" r:id="rId31"/>
    <p:sldId id="309" r:id="rId32"/>
    <p:sldId id="341" r:id="rId33"/>
    <p:sldId id="331" r:id="rId34"/>
    <p:sldId id="332" r:id="rId35"/>
    <p:sldId id="346" r:id="rId36"/>
    <p:sldId id="293" r:id="rId37"/>
    <p:sldId id="294" r:id="rId38"/>
    <p:sldId id="314" r:id="rId39"/>
    <p:sldId id="315" r:id="rId40"/>
    <p:sldId id="316" r:id="rId41"/>
    <p:sldId id="312" r:id="rId42"/>
    <p:sldId id="317" r:id="rId43"/>
    <p:sldId id="342" r:id="rId44"/>
    <p:sldId id="343" r:id="rId45"/>
    <p:sldId id="344" r:id="rId46"/>
    <p:sldId id="345" r:id="rId47"/>
    <p:sldId id="319" r:id="rId48"/>
    <p:sldId id="349" r:id="rId49"/>
    <p:sldId id="321" r:id="rId50"/>
    <p:sldId id="350" r:id="rId51"/>
    <p:sldId id="322" r:id="rId52"/>
    <p:sldId id="351" r:id="rId53"/>
    <p:sldId id="324" r:id="rId54"/>
    <p:sldId id="352" r:id="rId55"/>
    <p:sldId id="353" r:id="rId56"/>
    <p:sldId id="354" r:id="rId57"/>
    <p:sldId id="326" r:id="rId58"/>
    <p:sldId id="359" r:id="rId59"/>
    <p:sldId id="360" r:id="rId60"/>
    <p:sldId id="329" r:id="rId61"/>
    <p:sldId id="327" r:id="rId62"/>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969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6019BD-5A9C-D247-A352-90D6F932FC39}" type="datetimeFigureOut">
              <a:rPr lang="en-US" smtClean="0"/>
              <a:t>4/19/2024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B8A5312-93A2-4C41-AFD8-B93FA8A91C33}" type="slidenum">
              <a:rPr lang="en-US" smtClean="0"/>
              <a:t>‹#›</a:t>
            </a:fld>
            <a:endParaRPr lang="en-US"/>
          </a:p>
        </p:txBody>
      </p:sp>
    </p:spTree>
    <p:extLst>
      <p:ext uri="{BB962C8B-B14F-4D97-AF65-F5344CB8AC3E}">
        <p14:creationId xmlns:p14="http://schemas.microsoft.com/office/powerpoint/2010/main" val="1802515577"/>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8T08:38:41.668"/>
    </inkml:context>
    <inkml:brush xml:id="br0">
      <inkml:brushProperty name="width" value="0.035" units="cm"/>
      <inkml:brushProperty name="height" value="0.035" units="cm"/>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4F9F3-EF58-DB4F-B0ED-0B6B850DA2DF}" type="datetimeFigureOut">
              <a:rPr lang="en-US" smtClean="0"/>
              <a:t>4/19/2024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ED926C-2523-DB4E-AA42-7803F6FA2B59}" type="slidenum">
              <a:rPr lang="en-US" smtClean="0"/>
              <a:t>‹#›</a:t>
            </a:fld>
            <a:endParaRPr lang="en-US"/>
          </a:p>
        </p:txBody>
      </p:sp>
    </p:spTree>
    <p:extLst>
      <p:ext uri="{BB962C8B-B14F-4D97-AF65-F5344CB8AC3E}">
        <p14:creationId xmlns:p14="http://schemas.microsoft.com/office/powerpoint/2010/main" val="142351068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640CB4A7-20E6-B4C5-884C-6C95AFEC524E}"/>
              </a:ext>
            </a:extLst>
          </p:cNvPr>
          <p:cNvSpPr>
            <a:spLocks noGrp="1" noRot="1" noChangeAspect="1" noTextEdit="1"/>
          </p:cNvSpPr>
          <p:nvPr>
            <p:ph type="sldImg"/>
          </p:nvPr>
        </p:nvSpPr>
        <p:spPr>
          <a:ln/>
        </p:spPr>
      </p:sp>
      <p:sp>
        <p:nvSpPr>
          <p:cNvPr id="56323" name="Notes Placeholder 2">
            <a:extLst>
              <a:ext uri="{FF2B5EF4-FFF2-40B4-BE49-F238E27FC236}">
                <a16:creationId xmlns:a16="http://schemas.microsoft.com/office/drawing/2014/main" id="{57E1D457-4467-EA28-9D38-657504F273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
        <p:nvSpPr>
          <p:cNvPr id="56324" name="Slide Number Placeholder 3">
            <a:extLst>
              <a:ext uri="{FF2B5EF4-FFF2-40B4-BE49-F238E27FC236}">
                <a16:creationId xmlns:a16="http://schemas.microsoft.com/office/drawing/2014/main" id="{B90B22C7-373A-96F9-D128-7A4AEF2314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Helvetica" panose="020B0604020202020204" pitchFamily="34" charset="0"/>
                <a:ea typeface="MS PGothic" panose="020B0600070205080204" pitchFamily="34" charset="-128"/>
              </a:defRPr>
            </a:lvl1pPr>
            <a:lvl2pPr marL="742950" indent="-285750">
              <a:defRPr sz="2400">
                <a:solidFill>
                  <a:schemeClr val="tx1"/>
                </a:solidFill>
                <a:latin typeface="Helvetica" panose="020B0604020202020204" pitchFamily="34" charset="0"/>
                <a:ea typeface="MS PGothic" panose="020B0600070205080204" pitchFamily="34" charset="-128"/>
              </a:defRPr>
            </a:lvl2pPr>
            <a:lvl3pPr marL="1143000" indent="-228600">
              <a:defRPr sz="2400">
                <a:solidFill>
                  <a:schemeClr val="tx1"/>
                </a:solidFill>
                <a:latin typeface="Helvetica" panose="020B0604020202020204" pitchFamily="34" charset="0"/>
                <a:ea typeface="MS PGothic" panose="020B0600070205080204" pitchFamily="34" charset="-128"/>
              </a:defRPr>
            </a:lvl3pPr>
            <a:lvl4pPr marL="1600200" indent="-228600">
              <a:defRPr sz="2400">
                <a:solidFill>
                  <a:schemeClr val="tx1"/>
                </a:solidFill>
                <a:latin typeface="Helvetica" panose="020B0604020202020204" pitchFamily="34" charset="0"/>
                <a:ea typeface="MS PGothic" panose="020B0600070205080204" pitchFamily="34" charset="-128"/>
              </a:defRPr>
            </a:lvl4pPr>
            <a:lvl5pPr marL="2057400" indent="-22860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5BFA4014-9E60-45DA-B4E1-1E543585B16E}" type="slidenum">
              <a:rPr lang="en-US" altLang="en-US" sz="1200">
                <a:latin typeface="Times" panose="02020603050405020304" pitchFamily="18" charset="0"/>
              </a:rPr>
              <a:pPr/>
              <a:t>50</a:t>
            </a:fld>
            <a:endParaRPr lang="en-US" altLang="en-US" sz="1200">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973D278-956A-2946-9CE2-9D3773855556}"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AB5BBF0-B782-3644-AFE1-10103AC25370}"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E6C4D99-7786-3A47-A0D2-BD20D34577F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8EFBBB66-3A15-F64E-87CC-B8CCF7F3E7AA}"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9" name="Slide Number Placeholder 5"/>
          <p:cNvSpPr>
            <a:spLocks noGrp="1"/>
          </p:cNvSpPr>
          <p:nvPr>
            <p:ph type="sldNum" sz="quarter" idx="12"/>
          </p:nvPr>
        </p:nvSpPr>
        <p:spPr/>
        <p:txBody>
          <a:bodyPr/>
          <a:lstStyle>
            <a:lvl1pPr>
              <a:defRPr/>
            </a:lvl1pPr>
          </a:lstStyle>
          <a:p>
            <a:pPr>
              <a:defRPr/>
            </a:pPr>
            <a:fld id="{EE97BCC1-1E15-814C-B2E6-5124192EA274}"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5" name="Slide Number Placeholder 5"/>
          <p:cNvSpPr>
            <a:spLocks noGrp="1"/>
          </p:cNvSpPr>
          <p:nvPr>
            <p:ph type="sldNum" sz="quarter" idx="12"/>
          </p:nvPr>
        </p:nvSpPr>
        <p:spPr/>
        <p:txBody>
          <a:bodyPr/>
          <a:lstStyle>
            <a:lvl1pPr>
              <a:defRPr/>
            </a:lvl1pPr>
          </a:lstStyle>
          <a:p>
            <a:pPr>
              <a:defRPr/>
            </a:pPr>
            <a:fld id="{4EEF6B7E-89C5-FC4F-92F9-AFC105C69812}"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4" name="Slide Number Placeholder 5"/>
          <p:cNvSpPr>
            <a:spLocks noGrp="1"/>
          </p:cNvSpPr>
          <p:nvPr>
            <p:ph type="sldNum" sz="quarter" idx="12"/>
          </p:nvPr>
        </p:nvSpPr>
        <p:spPr/>
        <p:txBody>
          <a:bodyPr/>
          <a:lstStyle>
            <a:lvl1pPr>
              <a:defRPr/>
            </a:lvl1pPr>
          </a:lstStyle>
          <a:p>
            <a:pPr>
              <a:defRPr/>
            </a:pPr>
            <a:fld id="{39D8CD3A-6A10-3249-A17B-90B73EF037C9}"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DD50B603-B29B-9F4A-8449-859DA19F67EF}"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1F23E2BA-5D4B-814E-BBF4-D418023BB2FC}"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EAA3012-213F-D34C-8A21-808A5790DE6C}"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050F93C5-4D62-2844-B9B8-045E9E31D9CE}" type="slidenum">
              <a:rPr lang="en-US" smtClean="0"/>
              <a:pPr>
                <a:defRPr/>
              </a:pPr>
              <a:t>‹#›</a:t>
            </a:fld>
            <a:endParaRPr lang="en-US"/>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Title Text"/>
          <p:cNvSpPr txBox="1">
            <a:spLocks noGrp="1"/>
          </p:cNvSpPr>
          <p:nvPr>
            <p:ph type="title"/>
          </p:nvPr>
        </p:nvSpPr>
        <p:spPr>
          <a:prstGeom prst="rect">
            <a:avLst/>
          </a:prstGeom>
        </p:spPr>
        <p:txBody>
          <a:bodyPr/>
          <a:lstStyle/>
          <a:p>
            <a:r>
              <a:t>Title Text</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1115093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3 Agile Software Development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B3575804-F645-DB44-9DC0-C97E27A6600F}"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algn="ctr"/>
            <a:r>
              <a:rPr lang="en-US" altLang="en-US" sz="2400" dirty="0"/>
              <a:t>Software Engineering (CS226)</a:t>
            </a:r>
            <a:br>
              <a:rPr lang="en-US" altLang="en-US" sz="2400" dirty="0"/>
            </a:br>
            <a:r>
              <a:rPr lang="en-US" dirty="0"/>
              <a:t>Week 3</a:t>
            </a:r>
          </a:p>
        </p:txBody>
      </p:sp>
      <p:sp>
        <p:nvSpPr>
          <p:cNvPr id="3" name="Subtitle 2"/>
          <p:cNvSpPr>
            <a:spLocks noGrp="1"/>
          </p:cNvSpPr>
          <p:nvPr>
            <p:ph type="subTitle" idx="1"/>
          </p:nvPr>
        </p:nvSpPr>
        <p:spPr/>
        <p:txBody>
          <a:bodyPr/>
          <a:lstStyle/>
          <a:p>
            <a:pPr fontAlgn="auto">
              <a:spcAft>
                <a:spcPts val="0"/>
              </a:spcAft>
              <a:buFont typeface="Arial"/>
              <a:buNone/>
              <a:defRPr/>
            </a:pPr>
            <a:r>
              <a:rPr lang="en-US" dirty="0">
                <a:ea typeface="+mn-ea"/>
                <a:cs typeface="+mn-cs"/>
              </a:rPr>
              <a:t>Agile, XP </a:t>
            </a:r>
            <a:r>
              <a:rPr lang="en-US">
                <a:ea typeface="+mn-ea"/>
                <a:cs typeface="+mn-cs"/>
              </a:rPr>
              <a:t>and Scrum</a:t>
            </a: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1</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Agile methods</a:t>
            </a:r>
          </a:p>
          <a:p>
            <a:r>
              <a:rPr lang="en-US" dirty="0"/>
              <a:t>Agile development techniques</a:t>
            </a:r>
          </a:p>
          <a:p>
            <a:r>
              <a:rPr lang="en-US" dirty="0"/>
              <a:t>Agile project management</a:t>
            </a:r>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development</a:t>
            </a:r>
          </a:p>
        </p:txBody>
      </p:sp>
      <p:sp>
        <p:nvSpPr>
          <p:cNvPr id="3" name="Content Placeholder 2"/>
          <p:cNvSpPr>
            <a:spLocks noGrp="1"/>
          </p:cNvSpPr>
          <p:nvPr>
            <p:ph idx="1"/>
          </p:nvPr>
        </p:nvSpPr>
        <p:spPr/>
        <p:txBody>
          <a:bodyPr/>
          <a:lstStyle/>
          <a:p>
            <a:r>
              <a:rPr lang="en-US" dirty="0"/>
              <a:t>Program specification, design and implementation are inter-leaved</a:t>
            </a:r>
          </a:p>
          <a:p>
            <a:r>
              <a:rPr lang="en-US" dirty="0"/>
              <a:t>The system is developed as a series of versions or increments with stakeholders involved in version specification and evaluation</a:t>
            </a:r>
          </a:p>
          <a:p>
            <a:r>
              <a:rPr lang="en-US" dirty="0"/>
              <a:t>Frequent delivery of new versions for evaluation</a:t>
            </a:r>
          </a:p>
          <a:p>
            <a:r>
              <a:rPr lang="en-US" dirty="0"/>
              <a:t>Extensive tool support (e.g. automated testing tools) used to support development.</a:t>
            </a:r>
          </a:p>
          <a:p>
            <a:r>
              <a:rPr lang="en-US" dirty="0"/>
              <a:t>Minimal documentation – focus on working code</a:t>
            </a:r>
          </a:p>
          <a:p>
            <a:endParaRPr lang="en-US" dirty="0"/>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1082643685"/>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Manifesto – Core Values</a:t>
            </a:r>
          </a:p>
        </p:txBody>
      </p:sp>
      <p:sp>
        <p:nvSpPr>
          <p:cNvPr id="3" name="Content Placeholder 2"/>
          <p:cNvSpPr>
            <a:spLocks noGrp="1"/>
          </p:cNvSpPr>
          <p:nvPr>
            <p:ph idx="1"/>
          </p:nvPr>
        </p:nvSpPr>
        <p:spPr/>
        <p:txBody>
          <a:bodyPr/>
          <a:lstStyle/>
          <a:p>
            <a:r>
              <a:rPr lang="en-US" dirty="0"/>
              <a:t>Individuals and interactions over processes and tools</a:t>
            </a:r>
          </a:p>
          <a:p>
            <a:r>
              <a:rPr lang="en-US" dirty="0"/>
              <a:t>Working software over comprehensive documentation </a:t>
            </a:r>
          </a:p>
          <a:p>
            <a:r>
              <a:rPr lang="en-US" dirty="0"/>
              <a:t>Customer collaboration over contract negotiation </a:t>
            </a:r>
          </a:p>
          <a:p>
            <a:r>
              <a:rPr lang="en-US" dirty="0"/>
              <a:t>Responding to change over following a plan </a:t>
            </a:r>
          </a:p>
          <a:p>
            <a:endParaRPr lang="en-US" dirty="0"/>
          </a:p>
          <a:p>
            <a:pPr marL="0" indent="0">
              <a:buNone/>
            </a:pPr>
            <a:r>
              <a:rPr lang="en-US" sz="2000" i="1" dirty="0"/>
              <a:t>(That is, while there is value in the items on the right, we value the items on the left more.)</a:t>
            </a:r>
            <a:r>
              <a:rPr lang="en-GB" sz="2000" i="1" dirty="0"/>
              <a:t> </a:t>
            </a:r>
            <a:endParaRPr lang="en-US" sz="2000" i="1" dirty="0"/>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52FC-692A-CF98-5D57-EFDEAB4A8D6D}"/>
              </a:ext>
            </a:extLst>
          </p:cNvPr>
          <p:cNvSpPr>
            <a:spLocks noGrp="1"/>
          </p:cNvSpPr>
          <p:nvPr>
            <p:ph type="title"/>
          </p:nvPr>
        </p:nvSpPr>
        <p:spPr/>
        <p:txBody>
          <a:bodyPr/>
          <a:lstStyle/>
          <a:p>
            <a:r>
              <a:rPr lang="en-US" dirty="0"/>
              <a:t>Agile Manifesto – 12 Principles</a:t>
            </a:r>
          </a:p>
        </p:txBody>
      </p:sp>
      <p:sp>
        <p:nvSpPr>
          <p:cNvPr id="3" name="Content Placeholder 2">
            <a:extLst>
              <a:ext uri="{FF2B5EF4-FFF2-40B4-BE49-F238E27FC236}">
                <a16:creationId xmlns:a16="http://schemas.microsoft.com/office/drawing/2014/main" id="{F7D4C2DC-9CB3-8204-6022-D9F5F89D2806}"/>
              </a:ext>
            </a:extLst>
          </p:cNvPr>
          <p:cNvSpPr>
            <a:spLocks noGrp="1"/>
          </p:cNvSpPr>
          <p:nvPr>
            <p:ph idx="1"/>
          </p:nvPr>
        </p:nvSpPr>
        <p:spPr/>
        <p:txBody>
          <a:bodyPr/>
          <a:lstStyle/>
          <a:p>
            <a:pPr marL="0" indent="0">
              <a:buNone/>
            </a:pPr>
            <a:r>
              <a:rPr lang="en-US" dirty="0"/>
              <a:t>The agile manifesto also identifies 12 principles:</a:t>
            </a:r>
          </a:p>
          <a:p>
            <a:pPr marL="0" indent="0">
              <a:buNone/>
            </a:pPr>
            <a:endParaRPr lang="en-US" sz="1000" dirty="0"/>
          </a:p>
          <a:p>
            <a:pPr marL="457200" indent="-457200">
              <a:spcBef>
                <a:spcPts val="0"/>
              </a:spcBef>
              <a:buFont typeface="+mj-lt"/>
              <a:buAutoNum type="arabicPeriod"/>
            </a:pPr>
            <a:r>
              <a:rPr lang="en-US" sz="2200" i="1" dirty="0"/>
              <a:t>Customer satisfaction by early and continuous delivery of valuable software.</a:t>
            </a:r>
          </a:p>
          <a:p>
            <a:pPr marL="457200" indent="-457200">
              <a:spcBef>
                <a:spcPts val="0"/>
              </a:spcBef>
              <a:buFont typeface="+mj-lt"/>
              <a:buAutoNum type="arabicPeriod"/>
            </a:pPr>
            <a:r>
              <a:rPr lang="en-US" sz="2200" i="1" dirty="0"/>
              <a:t>Welcome changing requirements, even in late development.</a:t>
            </a:r>
          </a:p>
          <a:p>
            <a:pPr marL="457200" indent="-457200">
              <a:spcBef>
                <a:spcPts val="0"/>
              </a:spcBef>
              <a:buFont typeface="+mj-lt"/>
              <a:buAutoNum type="arabicPeriod"/>
            </a:pPr>
            <a:r>
              <a:rPr lang="en-US" sz="2200" i="1" dirty="0"/>
              <a:t>Deliver working software frequently (weeks rather than months).</a:t>
            </a:r>
          </a:p>
          <a:p>
            <a:pPr marL="457200" indent="-457200">
              <a:spcBef>
                <a:spcPts val="0"/>
              </a:spcBef>
              <a:buFont typeface="+mj-lt"/>
              <a:buAutoNum type="arabicPeriod"/>
            </a:pPr>
            <a:r>
              <a:rPr lang="en-US" sz="2200" i="1" dirty="0"/>
              <a:t>Close, daily cooperation between business people and developers.</a:t>
            </a:r>
          </a:p>
          <a:p>
            <a:pPr marL="457200" indent="-457200">
              <a:spcBef>
                <a:spcPts val="0"/>
              </a:spcBef>
              <a:buFont typeface="+mj-lt"/>
              <a:buAutoNum type="arabicPeriod"/>
            </a:pPr>
            <a:r>
              <a:rPr lang="en-US" sz="2200" i="1" dirty="0"/>
              <a:t>Projects are built around motivated individuals, who should be trusted.</a:t>
            </a:r>
          </a:p>
        </p:txBody>
      </p:sp>
      <p:sp>
        <p:nvSpPr>
          <p:cNvPr id="4" name="Date Placeholder 3">
            <a:extLst>
              <a:ext uri="{FF2B5EF4-FFF2-40B4-BE49-F238E27FC236}">
                <a16:creationId xmlns:a16="http://schemas.microsoft.com/office/drawing/2014/main" id="{2074CDE8-C577-21CA-1E8B-4EE9D717C99C}"/>
              </a:ext>
            </a:extLst>
          </p:cNvPr>
          <p:cNvSpPr>
            <a:spLocks noGrp="1"/>
          </p:cNvSpPr>
          <p:nvPr>
            <p:ph type="dt" sz="half" idx="10"/>
          </p:nvPr>
        </p:nvSpPr>
        <p:spPr/>
        <p:txBody>
          <a:bodyPr/>
          <a:lstStyle/>
          <a:p>
            <a:pPr>
              <a:defRPr/>
            </a:pPr>
            <a:r>
              <a:rPr lang="en-GB" dirty="0"/>
              <a:t>30/10/2014</a:t>
            </a:r>
            <a:endParaRPr lang="en-US" dirty="0"/>
          </a:p>
        </p:txBody>
      </p:sp>
      <p:sp>
        <p:nvSpPr>
          <p:cNvPr id="5" name="Footer Placeholder 4">
            <a:extLst>
              <a:ext uri="{FF2B5EF4-FFF2-40B4-BE49-F238E27FC236}">
                <a16:creationId xmlns:a16="http://schemas.microsoft.com/office/drawing/2014/main" id="{86206714-E198-4AD6-FD40-EF7313697D88}"/>
              </a:ext>
            </a:extLst>
          </p:cNvPr>
          <p:cNvSpPr>
            <a:spLocks noGrp="1"/>
          </p:cNvSpPr>
          <p:nvPr>
            <p:ph type="ftr" sz="quarter" idx="11"/>
          </p:nvPr>
        </p:nvSpPr>
        <p:spPr/>
        <p:txBody>
          <a:bodyPr/>
          <a:lstStyle/>
          <a:p>
            <a:pPr>
              <a:defRPr/>
            </a:pPr>
            <a:r>
              <a:rPr lang="en-US" dirty="0"/>
              <a:t>Chapter 3 Agile Software Development</a:t>
            </a:r>
          </a:p>
        </p:txBody>
      </p:sp>
      <p:sp>
        <p:nvSpPr>
          <p:cNvPr id="6" name="Slide Number Placeholder 5">
            <a:extLst>
              <a:ext uri="{FF2B5EF4-FFF2-40B4-BE49-F238E27FC236}">
                <a16:creationId xmlns:a16="http://schemas.microsoft.com/office/drawing/2014/main" id="{37D0D6A8-39F0-D2DF-C989-EDF6A0885984}"/>
              </a:ext>
            </a:extLst>
          </p:cNvPr>
          <p:cNvSpPr>
            <a:spLocks noGrp="1"/>
          </p:cNvSpPr>
          <p:nvPr>
            <p:ph type="sldNum" sz="quarter" idx="12"/>
          </p:nvPr>
        </p:nvSpPr>
        <p:spPr/>
        <p:txBody>
          <a:bodyPr/>
          <a:lstStyle/>
          <a:p>
            <a:pPr>
              <a:defRPr/>
            </a:pPr>
            <a:fld id="{EAB5BBF0-B782-3644-AFE1-10103AC25370}" type="slidenum">
              <a:rPr lang="en-US" smtClean="0"/>
              <a:pPr>
                <a:defRPr/>
              </a:pPr>
              <a:t>5</a:t>
            </a:fld>
            <a:endParaRPr lang="en-US" dirty="0"/>
          </a:p>
        </p:txBody>
      </p:sp>
    </p:spTree>
    <p:extLst>
      <p:ext uri="{BB962C8B-B14F-4D97-AF65-F5344CB8AC3E}">
        <p14:creationId xmlns:p14="http://schemas.microsoft.com/office/powerpoint/2010/main" val="670627925"/>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63F7-46F5-83A7-875E-FD5D2FA2BFD8}"/>
              </a:ext>
            </a:extLst>
          </p:cNvPr>
          <p:cNvSpPr>
            <a:spLocks noGrp="1"/>
          </p:cNvSpPr>
          <p:nvPr>
            <p:ph type="title"/>
          </p:nvPr>
        </p:nvSpPr>
        <p:spPr/>
        <p:txBody>
          <a:bodyPr/>
          <a:lstStyle/>
          <a:p>
            <a:r>
              <a:rPr lang="en-US" dirty="0"/>
              <a:t>Agile Manifesto – 12 Principles</a:t>
            </a:r>
          </a:p>
        </p:txBody>
      </p:sp>
      <p:sp>
        <p:nvSpPr>
          <p:cNvPr id="3" name="Content Placeholder 2">
            <a:extLst>
              <a:ext uri="{FF2B5EF4-FFF2-40B4-BE49-F238E27FC236}">
                <a16:creationId xmlns:a16="http://schemas.microsoft.com/office/drawing/2014/main" id="{B4866A72-D826-3676-0340-EE6179F1F32D}"/>
              </a:ext>
            </a:extLst>
          </p:cNvPr>
          <p:cNvSpPr>
            <a:spLocks noGrp="1"/>
          </p:cNvSpPr>
          <p:nvPr>
            <p:ph idx="1"/>
          </p:nvPr>
        </p:nvSpPr>
        <p:spPr/>
        <p:txBody>
          <a:bodyPr/>
          <a:lstStyle/>
          <a:p>
            <a:pPr marL="457200" indent="-457200">
              <a:spcBef>
                <a:spcPts val="0"/>
              </a:spcBef>
              <a:buFont typeface="+mj-lt"/>
              <a:buAutoNum type="arabicPeriod" startAt="6"/>
            </a:pPr>
            <a:r>
              <a:rPr lang="en-US" sz="2200" i="1" dirty="0"/>
              <a:t>Face-to-face conversation is the best form of communication (co-location).</a:t>
            </a:r>
          </a:p>
          <a:p>
            <a:pPr marL="457200" indent="-457200">
              <a:spcBef>
                <a:spcPts val="0"/>
              </a:spcBef>
              <a:buFont typeface="+mj-lt"/>
              <a:buAutoNum type="arabicPeriod" startAt="6"/>
            </a:pPr>
            <a:r>
              <a:rPr lang="en-US" sz="2200" i="1" dirty="0"/>
              <a:t>Working software is the primary measure of progress.</a:t>
            </a:r>
          </a:p>
          <a:p>
            <a:pPr marL="457200" indent="-457200">
              <a:spcBef>
                <a:spcPts val="0"/>
              </a:spcBef>
              <a:buFont typeface="+mj-lt"/>
              <a:buAutoNum type="arabicPeriod" startAt="6"/>
            </a:pPr>
            <a:r>
              <a:rPr lang="en-US" sz="2200" i="1" dirty="0"/>
              <a:t>Sustainable development, able to maintain a constant pace.</a:t>
            </a:r>
          </a:p>
          <a:p>
            <a:pPr marL="457200" indent="-457200">
              <a:spcBef>
                <a:spcPts val="0"/>
              </a:spcBef>
              <a:buFont typeface="+mj-lt"/>
              <a:buAutoNum type="arabicPeriod" startAt="6"/>
            </a:pPr>
            <a:r>
              <a:rPr lang="en-US" sz="2200" i="1" dirty="0"/>
              <a:t>Continuous attention to technical excellence and good design.</a:t>
            </a:r>
          </a:p>
          <a:p>
            <a:pPr marL="457200" indent="-457200">
              <a:spcBef>
                <a:spcPts val="0"/>
              </a:spcBef>
              <a:buFont typeface="+mj-lt"/>
              <a:buAutoNum type="arabicPeriod" startAt="6"/>
            </a:pPr>
            <a:r>
              <a:rPr lang="en-US" sz="2200" i="1" dirty="0"/>
              <a:t>Simplicity - the art of maximizing the amount of work not done - is essential.</a:t>
            </a:r>
          </a:p>
          <a:p>
            <a:pPr marL="457200" indent="-457200">
              <a:spcBef>
                <a:spcPts val="0"/>
              </a:spcBef>
              <a:buFont typeface="+mj-lt"/>
              <a:buAutoNum type="arabicPeriod" startAt="6"/>
            </a:pPr>
            <a:r>
              <a:rPr lang="en-US" sz="2200" i="1" dirty="0"/>
              <a:t>Best architectures, requirements, and designs emerge from self-organizing teams.</a:t>
            </a:r>
          </a:p>
          <a:p>
            <a:pPr marL="457200" indent="-457200">
              <a:spcBef>
                <a:spcPts val="0"/>
              </a:spcBef>
              <a:buFont typeface="+mj-lt"/>
              <a:buAutoNum type="arabicPeriod" startAt="6"/>
            </a:pPr>
            <a:r>
              <a:rPr lang="en-US" sz="2200" i="1" dirty="0"/>
              <a:t>Regularly,  the  team  reflects  on  how  to  become  more  effective,  and  adjusts accordingly.</a:t>
            </a:r>
          </a:p>
          <a:p>
            <a:endParaRPr lang="en-US" dirty="0"/>
          </a:p>
        </p:txBody>
      </p:sp>
      <p:sp>
        <p:nvSpPr>
          <p:cNvPr id="4" name="Date Placeholder 3">
            <a:extLst>
              <a:ext uri="{FF2B5EF4-FFF2-40B4-BE49-F238E27FC236}">
                <a16:creationId xmlns:a16="http://schemas.microsoft.com/office/drawing/2014/main" id="{3670F057-2CF7-A6DB-472E-2456AB1430BE}"/>
              </a:ext>
            </a:extLst>
          </p:cNvPr>
          <p:cNvSpPr>
            <a:spLocks noGrp="1"/>
          </p:cNvSpPr>
          <p:nvPr>
            <p:ph type="dt" sz="half" idx="10"/>
          </p:nvPr>
        </p:nvSpPr>
        <p:spPr/>
        <p:txBody>
          <a:bodyPr/>
          <a:lstStyle/>
          <a:p>
            <a:pPr>
              <a:defRPr/>
            </a:pPr>
            <a:r>
              <a:rPr lang="en-GB" dirty="0"/>
              <a:t>30/10/2014</a:t>
            </a:r>
            <a:endParaRPr lang="en-US" dirty="0"/>
          </a:p>
        </p:txBody>
      </p:sp>
      <p:sp>
        <p:nvSpPr>
          <p:cNvPr id="5" name="Footer Placeholder 4">
            <a:extLst>
              <a:ext uri="{FF2B5EF4-FFF2-40B4-BE49-F238E27FC236}">
                <a16:creationId xmlns:a16="http://schemas.microsoft.com/office/drawing/2014/main" id="{27598E84-B274-7413-B062-B7C1DD7091A0}"/>
              </a:ext>
            </a:extLst>
          </p:cNvPr>
          <p:cNvSpPr>
            <a:spLocks noGrp="1"/>
          </p:cNvSpPr>
          <p:nvPr>
            <p:ph type="ftr" sz="quarter" idx="11"/>
          </p:nvPr>
        </p:nvSpPr>
        <p:spPr/>
        <p:txBody>
          <a:bodyPr/>
          <a:lstStyle/>
          <a:p>
            <a:pPr>
              <a:defRPr/>
            </a:pPr>
            <a:r>
              <a:rPr lang="en-US" dirty="0"/>
              <a:t>Chapter 3 Agile Software Development</a:t>
            </a:r>
          </a:p>
        </p:txBody>
      </p:sp>
      <p:sp>
        <p:nvSpPr>
          <p:cNvPr id="6" name="Slide Number Placeholder 5">
            <a:extLst>
              <a:ext uri="{FF2B5EF4-FFF2-40B4-BE49-F238E27FC236}">
                <a16:creationId xmlns:a16="http://schemas.microsoft.com/office/drawing/2014/main" id="{437EE94B-4D6C-5B69-943D-03EBCAAABCDC}"/>
              </a:ext>
            </a:extLst>
          </p:cNvPr>
          <p:cNvSpPr>
            <a:spLocks noGrp="1"/>
          </p:cNvSpPr>
          <p:nvPr>
            <p:ph type="sldNum" sz="quarter" idx="12"/>
          </p:nvPr>
        </p:nvSpPr>
        <p:spPr/>
        <p:txBody>
          <a:bodyPr/>
          <a:lstStyle/>
          <a:p>
            <a:pPr>
              <a:defRPr/>
            </a:pPr>
            <a:fld id="{EAB5BBF0-B782-3644-AFE1-10103AC25370}" type="slidenum">
              <a:rPr lang="en-US" smtClean="0"/>
              <a:pPr>
                <a:defRPr/>
              </a:pPr>
              <a:t>6</a:t>
            </a:fld>
            <a:endParaRPr lang="en-US" dirty="0"/>
          </a:p>
        </p:txBody>
      </p:sp>
    </p:spTree>
    <p:extLst>
      <p:ext uri="{BB962C8B-B14F-4D97-AF65-F5344CB8AC3E}">
        <p14:creationId xmlns:p14="http://schemas.microsoft.com/office/powerpoint/2010/main" val="645779284"/>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principles and organizational practice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84079289"/>
              </p:ext>
            </p:extLst>
          </p:nvPr>
        </p:nvGraphicFramePr>
        <p:xfrm>
          <a:off x="457200" y="1600200"/>
          <a:ext cx="8229600" cy="399796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5308600">
                  <a:extLst>
                    <a:ext uri="{9D8B030D-6E8A-4147-A177-3AD203B41FA5}">
                      <a16:colId xmlns:a16="http://schemas.microsoft.com/office/drawing/2014/main" val="20001"/>
                    </a:ext>
                  </a:extLst>
                </a:gridCol>
              </a:tblGrid>
              <a:tr h="370840">
                <a:tc>
                  <a:txBody>
                    <a:bodyPr/>
                    <a:lstStyle/>
                    <a:p>
                      <a:r>
                        <a:rPr lang="en-US" dirty="0"/>
                        <a:t>Principle</a:t>
                      </a:r>
                    </a:p>
                  </a:txBody>
                  <a:tcPr/>
                </a:tc>
                <a:tc>
                  <a:txBody>
                    <a:bodyPr/>
                    <a:lstStyle/>
                    <a:p>
                      <a:r>
                        <a:rPr lang="en-US" dirty="0"/>
                        <a:t>Practice</a:t>
                      </a:r>
                    </a:p>
                  </a:txBody>
                  <a:tcPr/>
                </a:tc>
                <a:extLst>
                  <a:ext uri="{0D108BD9-81ED-4DB2-BD59-A6C34878D82A}">
                    <a16:rowId xmlns:a16="http://schemas.microsoft.com/office/drawing/2014/main" val="10000"/>
                  </a:ext>
                </a:extLst>
              </a:tr>
              <a:tr h="370840">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Customer involvement</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depends on having a customer who is willing and able to spend time with the development team and who can represent all system stakeholders. Often, customer representatives have other demands on their time and cannot play a full part in the software development. </a:t>
                      </a:r>
                    </a:p>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Where there are external stakeholders, such as regulators, it is difficult to represent their views to the agile team.</a:t>
                      </a:r>
                    </a:p>
                    <a:p>
                      <a:pPr indent="0" algn="l">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Embrace change</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Prioritizing changes can be extremely difficult, especially in systems for which there are many stakeholders. Typically, each stakeholder gives different priorities to different changes.</a:t>
                      </a:r>
                    </a:p>
                    <a:p>
                      <a:pPr indent="0" algn="l">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0" algn="l">
                        <a:spcAft>
                          <a:spcPts val="0"/>
                        </a:spcAft>
                        <a:tabLst>
                          <a:tab pos="342900" algn="l"/>
                          <a:tab pos="685800" algn="l"/>
                          <a:tab pos="1028700" algn="l"/>
                        </a:tabLst>
                      </a:pPr>
                      <a:r>
                        <a:rPr lang="en-GB" sz="1400">
                          <a:solidFill>
                            <a:srgbClr val="000000"/>
                          </a:solidFill>
                          <a:effectLst/>
                          <a:latin typeface="Arial"/>
                          <a:ea typeface="Times New Roman"/>
                          <a:cs typeface="Times New Roman"/>
                        </a:rPr>
                        <a:t>Incremental delivery</a:t>
                      </a:r>
                    </a:p>
                  </a:txBody>
                  <a:tcPr marL="68580" marR="68580" marT="0" marB="0"/>
                </a:tc>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Rapid iterations and short-term planning for development does not always fit in with the longer-term planning cycles of business planning and marketing. Marketing managers may need to know what product features several months in advance to prepare an effective marketing campaign.</a:t>
                      </a:r>
                    </a:p>
                  </a:txBody>
                  <a:tcPr marL="68580" marR="68580" marT="0" marB="0"/>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7</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67616883"/>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principles and organizational practice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59443455"/>
              </p:ext>
            </p:extLst>
          </p:nvPr>
        </p:nvGraphicFramePr>
        <p:xfrm>
          <a:off x="457200" y="2197100"/>
          <a:ext cx="8229600" cy="186436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000"/>
                    </a:ext>
                  </a:extLst>
                </a:gridCol>
                <a:gridCol w="5740400">
                  <a:extLst>
                    <a:ext uri="{9D8B030D-6E8A-4147-A177-3AD203B41FA5}">
                      <a16:colId xmlns:a16="http://schemas.microsoft.com/office/drawing/2014/main" val="20001"/>
                    </a:ext>
                  </a:extLst>
                </a:gridCol>
              </a:tblGrid>
              <a:tr h="370840">
                <a:tc>
                  <a:txBody>
                    <a:bodyPr/>
                    <a:lstStyle/>
                    <a:p>
                      <a:r>
                        <a:rPr lang="en-US" dirty="0"/>
                        <a:t>Principle</a:t>
                      </a:r>
                    </a:p>
                  </a:txBody>
                  <a:tcPr/>
                </a:tc>
                <a:tc>
                  <a:txBody>
                    <a:bodyPr/>
                    <a:lstStyle/>
                    <a:p>
                      <a:r>
                        <a:rPr lang="en-US" dirty="0"/>
                        <a:t>Practice</a:t>
                      </a:r>
                    </a:p>
                  </a:txBody>
                  <a:tcPr/>
                </a:tc>
                <a:extLst>
                  <a:ext uri="{0D108BD9-81ED-4DB2-BD59-A6C34878D82A}">
                    <a16:rowId xmlns:a16="http://schemas.microsoft.com/office/drawing/2014/main" val="10000"/>
                  </a:ext>
                </a:extLst>
              </a:tr>
              <a:tr h="370840">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Maintain simplicity</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Under pressure from delivery schedules, team members may not have time to carry out desirable system simplifications.</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0" algn="l">
                        <a:spcAft>
                          <a:spcPts val="0"/>
                        </a:spcAft>
                        <a:tabLst>
                          <a:tab pos="342900" algn="l"/>
                          <a:tab pos="685800" algn="l"/>
                          <a:tab pos="1028700" algn="l"/>
                        </a:tabLst>
                      </a:pPr>
                      <a:r>
                        <a:rPr lang="en-GB" sz="1400" baseline="0">
                          <a:solidFill>
                            <a:srgbClr val="000000"/>
                          </a:solidFill>
                          <a:effectLst/>
                          <a:latin typeface="Arial"/>
                          <a:ea typeface="Times New Roman"/>
                          <a:cs typeface="Times New Roman"/>
                        </a:rPr>
                        <a:t>People not process</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Individual team members may not have suitable personalities for the intense involvement that is typical of agile methods, and therefore may not interact well with other team members.</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bl>
          </a:graphicData>
        </a:graphic>
      </p:graphicFrame>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933068761"/>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 applicability</a:t>
            </a:r>
          </a:p>
        </p:txBody>
      </p:sp>
      <p:sp>
        <p:nvSpPr>
          <p:cNvPr id="3" name="Content Placeholder 2"/>
          <p:cNvSpPr>
            <a:spLocks noGrp="1"/>
          </p:cNvSpPr>
          <p:nvPr>
            <p:ph idx="1"/>
          </p:nvPr>
        </p:nvSpPr>
        <p:spPr/>
        <p:txBody>
          <a:bodyPr/>
          <a:lstStyle/>
          <a:p>
            <a:r>
              <a:rPr lang="en-GB" dirty="0"/>
              <a:t>Product development where a software company is developing a small or medium-sized product for sale. </a:t>
            </a:r>
          </a:p>
          <a:p>
            <a:pPr lvl="1"/>
            <a:r>
              <a:rPr lang="en-GB" dirty="0"/>
              <a:t>Virtually all software products and apps are now developed using an agile approach</a:t>
            </a:r>
          </a:p>
          <a:p>
            <a:r>
              <a:rPr lang="en-GB" dirty="0"/>
              <a:t>Custom system development within an organization, where there is a clear commitment from the customer to become involved in the development process and where there are few external rules and regulations that affect the software.</a:t>
            </a:r>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9</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4238"/>
            <a:ext cx="8229600" cy="1143000"/>
          </a:xfrm>
        </p:spPr>
        <p:txBody>
          <a:bodyPr/>
          <a:lstStyle/>
          <a:p>
            <a:pPr algn="ctr"/>
            <a:r>
              <a:rPr lang="en-US" dirty="0"/>
              <a:t>Agile </a:t>
            </a:r>
            <a:r>
              <a:rPr lang="en-US" dirty="0">
                <a:solidFill>
                  <a:srgbClr val="00B0F0"/>
                </a:solidFill>
              </a:rPr>
              <a:t>Development</a:t>
            </a:r>
            <a:r>
              <a:rPr lang="en-US" dirty="0"/>
              <a:t> Practices</a:t>
            </a:r>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10</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013893865"/>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Rectangle 2"/>
          <p:cNvSpPr>
            <a:spLocks noGrp="1" noChangeArrowheads="1"/>
          </p:cNvSpPr>
          <p:nvPr>
            <p:ph type="title"/>
          </p:nvPr>
        </p:nvSpPr>
        <p:spPr/>
        <p:txBody>
          <a:bodyPr/>
          <a:lstStyle/>
          <a:p>
            <a:r>
              <a:rPr lang="en-US" dirty="0"/>
              <a:t>Extreme programming</a:t>
            </a:r>
          </a:p>
        </p:txBody>
      </p:sp>
      <p:sp>
        <p:nvSpPr>
          <p:cNvPr id="1168387" name="Rectangle 3"/>
          <p:cNvSpPr>
            <a:spLocks noGrp="1" noChangeArrowheads="1"/>
          </p:cNvSpPr>
          <p:nvPr>
            <p:ph idx="1"/>
          </p:nvPr>
        </p:nvSpPr>
        <p:spPr/>
        <p:txBody>
          <a:bodyPr/>
          <a:lstStyle/>
          <a:p>
            <a:pPr>
              <a:lnSpc>
                <a:spcPct val="90000"/>
              </a:lnSpc>
            </a:pPr>
            <a:r>
              <a:rPr lang="en-US" dirty="0"/>
              <a:t>A very influential agile method, developed in the late 1990s, that introduced a range of agile development techniques.</a:t>
            </a:r>
          </a:p>
          <a:p>
            <a:pPr>
              <a:lnSpc>
                <a:spcPct val="90000"/>
              </a:lnSpc>
            </a:pPr>
            <a:r>
              <a:rPr lang="en-US" dirty="0"/>
              <a:t>Extreme Programming (XP) takes an ‘extreme’ approach to iterative development. </a:t>
            </a:r>
          </a:p>
          <a:p>
            <a:pPr lvl="1">
              <a:lnSpc>
                <a:spcPct val="90000"/>
              </a:lnSpc>
            </a:pPr>
            <a:r>
              <a:rPr lang="en-US" dirty="0"/>
              <a:t>New versions may be built several times per day;</a:t>
            </a:r>
          </a:p>
          <a:p>
            <a:pPr lvl="1">
              <a:lnSpc>
                <a:spcPct val="90000"/>
              </a:lnSpc>
            </a:pPr>
            <a:r>
              <a:rPr lang="en-US" dirty="0"/>
              <a:t>Increments are delivered to customers every 2 weeks;</a:t>
            </a:r>
          </a:p>
          <a:p>
            <a:pPr lvl="1">
              <a:lnSpc>
                <a:spcPct val="90000"/>
              </a:lnSpc>
            </a:pPr>
            <a:r>
              <a:rPr lang="en-US" dirty="0"/>
              <a:t>All tests must be run for every build and the build is only accepted if tests run successfully.</a:t>
            </a:r>
          </a:p>
          <a:p>
            <a:pPr>
              <a:lnSpc>
                <a:spcPct val="90000"/>
              </a:lnSpc>
            </a:pPr>
            <a:endParaRPr lang="en-US" dirty="0"/>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11</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Influential XP practices</a:t>
            </a:r>
          </a:p>
        </p:txBody>
      </p:sp>
      <p:sp>
        <p:nvSpPr>
          <p:cNvPr id="3" name="Content Placeholder 2"/>
          <p:cNvSpPr>
            <a:spLocks noGrp="1"/>
          </p:cNvSpPr>
          <p:nvPr>
            <p:ph idx="1"/>
          </p:nvPr>
        </p:nvSpPr>
        <p:spPr/>
        <p:txBody>
          <a:bodyPr/>
          <a:lstStyle/>
          <a:p>
            <a:r>
              <a:rPr lang="en-US" dirty="0"/>
              <a:t>Extreme programming has a technical focus and is not easy to integrate with management practice in most organizations.</a:t>
            </a:r>
          </a:p>
          <a:p>
            <a:r>
              <a:rPr lang="en-US" dirty="0"/>
              <a:t>Consequently, while agile development uses practices from XP, the method as originally defined is not widely used.</a:t>
            </a:r>
          </a:p>
          <a:p>
            <a:r>
              <a:rPr lang="en-US" dirty="0"/>
              <a:t>Key practices</a:t>
            </a:r>
          </a:p>
          <a:p>
            <a:pPr lvl="1"/>
            <a:r>
              <a:rPr lang="en-US" dirty="0"/>
              <a:t>User stories for specification</a:t>
            </a:r>
          </a:p>
          <a:p>
            <a:pPr lvl="1"/>
            <a:r>
              <a:rPr lang="en-US" dirty="0"/>
              <a:t>Refactoring</a:t>
            </a:r>
          </a:p>
          <a:p>
            <a:pPr lvl="1"/>
            <a:r>
              <a:rPr lang="en-US" dirty="0"/>
              <a:t>Test-first development</a:t>
            </a:r>
          </a:p>
          <a:p>
            <a:pPr lvl="1"/>
            <a:r>
              <a:rPr lang="en-US" dirty="0"/>
              <a:t>Pair programming</a:t>
            </a:r>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12</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324664539"/>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p:txBody>
          <a:bodyPr/>
          <a:lstStyle/>
          <a:p>
            <a:r>
              <a:rPr lang="en-US" dirty="0"/>
              <a:t>User stories for requirements</a:t>
            </a:r>
          </a:p>
        </p:txBody>
      </p:sp>
      <p:sp>
        <p:nvSpPr>
          <p:cNvPr id="1170435" name="Rectangle 3"/>
          <p:cNvSpPr>
            <a:spLocks noGrp="1" noChangeArrowheads="1"/>
          </p:cNvSpPr>
          <p:nvPr>
            <p:ph idx="1"/>
          </p:nvPr>
        </p:nvSpPr>
        <p:spPr/>
        <p:txBody>
          <a:bodyPr/>
          <a:lstStyle/>
          <a:p>
            <a:r>
              <a:rPr lang="en-US" dirty="0"/>
              <a:t>In XP, a customer or user is part of the XP team and is responsible for making decisions on requirements.</a:t>
            </a:r>
          </a:p>
          <a:p>
            <a:r>
              <a:rPr lang="en-US" dirty="0"/>
              <a:t>User requirements are expressed as user stories or scenarios.</a:t>
            </a:r>
          </a:p>
          <a:p>
            <a:r>
              <a:rPr lang="en-US" dirty="0"/>
              <a:t>These are written on cards and the development team break them down into implementation tasks. These tasks are the basis of schedule and cost estimates.</a:t>
            </a:r>
          </a:p>
          <a:p>
            <a:r>
              <a:rPr lang="en-US" dirty="0"/>
              <a:t>The customer chooses the stories for inclusion in the next release based on their priorities and the schedule estimates.</a:t>
            </a:r>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13</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A ‘prescribing medication’ story</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14</a:t>
            </a:fld>
            <a:endParaRPr lang="en-US" dirty="0"/>
          </a:p>
        </p:txBody>
      </p:sp>
      <p:pic>
        <p:nvPicPr>
          <p:cNvPr id="4" name="Picture 3" descr="3.5 StoryCard.eps"/>
          <p:cNvPicPr>
            <a:picLocks noChangeAspect="1"/>
          </p:cNvPicPr>
          <p:nvPr/>
        </p:nvPicPr>
        <p:blipFill>
          <a:blip r:embed="rId2"/>
          <a:stretch>
            <a:fillRect/>
          </a:stretch>
        </p:blipFill>
        <p:spPr>
          <a:xfrm>
            <a:off x="1440914" y="1566747"/>
            <a:ext cx="5968294" cy="4789603"/>
          </a:xfrm>
          <a:prstGeom prst="rect">
            <a:avLst/>
          </a:prstGeom>
        </p:spPr>
      </p:pic>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Examples of task cards for prescribing medication </a:t>
            </a:r>
          </a:p>
        </p:txBody>
      </p:sp>
      <p:sp>
        <p:nvSpPr>
          <p:cNvPr id="6" name="Footer Placeholder 5"/>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15</a:t>
            </a:fld>
            <a:endParaRPr lang="en-US" dirty="0"/>
          </a:p>
        </p:txBody>
      </p:sp>
      <p:pic>
        <p:nvPicPr>
          <p:cNvPr id="4" name="Picture 3" descr="3.6 TaskCards.eps"/>
          <p:cNvPicPr>
            <a:picLocks noChangeAspect="1"/>
          </p:cNvPicPr>
          <p:nvPr/>
        </p:nvPicPr>
        <p:blipFill>
          <a:blip r:embed="rId2"/>
          <a:stretch>
            <a:fillRect/>
          </a:stretch>
        </p:blipFill>
        <p:spPr>
          <a:xfrm>
            <a:off x="1333382" y="1760870"/>
            <a:ext cx="6417050" cy="4518673"/>
          </a:xfrm>
          <a:prstGeom prst="rect">
            <a:avLst/>
          </a:prstGeom>
        </p:spPr>
      </p:pic>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Refactoring</a:t>
            </a:r>
          </a:p>
        </p:txBody>
      </p:sp>
      <p:sp>
        <p:nvSpPr>
          <p:cNvPr id="3" name="Content Placeholder 2"/>
          <p:cNvSpPr>
            <a:spLocks noGrp="1"/>
          </p:cNvSpPr>
          <p:nvPr>
            <p:ph idx="1"/>
          </p:nvPr>
        </p:nvSpPr>
        <p:spPr/>
        <p:txBody>
          <a:bodyPr/>
          <a:lstStyle/>
          <a:p>
            <a:r>
              <a:rPr lang="en-US" dirty="0"/>
              <a:t>Programming team look for possible software improvements and make these improvements even where there is no immediate need for them.</a:t>
            </a:r>
          </a:p>
          <a:p>
            <a:r>
              <a:rPr lang="en-US" dirty="0"/>
              <a:t>This improves the understandability of the software and so reduces the need for documentation.</a:t>
            </a:r>
          </a:p>
          <a:p>
            <a:r>
              <a:rPr lang="en-US" dirty="0"/>
              <a:t>Changes are easier to make because the code is well-structured and clear.</a:t>
            </a:r>
          </a:p>
          <a:p>
            <a:r>
              <a:rPr lang="en-US" dirty="0"/>
              <a:t>However, some changes requires architecture refactoring and this is much more expensive.</a:t>
            </a:r>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16</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refactoring</a:t>
            </a:r>
          </a:p>
        </p:txBody>
      </p:sp>
      <p:sp>
        <p:nvSpPr>
          <p:cNvPr id="3" name="Content Placeholder 2"/>
          <p:cNvSpPr>
            <a:spLocks noGrp="1"/>
          </p:cNvSpPr>
          <p:nvPr>
            <p:ph idx="1"/>
          </p:nvPr>
        </p:nvSpPr>
        <p:spPr/>
        <p:txBody>
          <a:bodyPr/>
          <a:lstStyle/>
          <a:p>
            <a:r>
              <a:rPr lang="en-US" dirty="0"/>
              <a:t>Re-organization of a class hierarchy to remove duplicate code.</a:t>
            </a:r>
          </a:p>
          <a:p>
            <a:r>
              <a:rPr lang="en-US" dirty="0"/>
              <a:t>Tidying up and renaming attributes and methods to make them easier to understand.</a:t>
            </a:r>
          </a:p>
          <a:p>
            <a:r>
              <a:rPr lang="en-US" dirty="0"/>
              <a:t>The replacement of inline code with calls to methods that have been included in a program library.</a:t>
            </a:r>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17</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482" name="Rectangle 2"/>
          <p:cNvSpPr>
            <a:spLocks noGrp="1" noChangeArrowheads="1"/>
          </p:cNvSpPr>
          <p:nvPr>
            <p:ph type="title"/>
          </p:nvPr>
        </p:nvSpPr>
        <p:spPr/>
        <p:txBody>
          <a:bodyPr/>
          <a:lstStyle/>
          <a:p>
            <a:r>
              <a:rPr lang="en-US" dirty="0"/>
              <a:t>Test-first development</a:t>
            </a:r>
          </a:p>
        </p:txBody>
      </p:sp>
      <p:sp>
        <p:nvSpPr>
          <p:cNvPr id="1172483" name="Rectangle 3"/>
          <p:cNvSpPr>
            <a:spLocks noGrp="1" noChangeArrowheads="1"/>
          </p:cNvSpPr>
          <p:nvPr>
            <p:ph idx="1"/>
          </p:nvPr>
        </p:nvSpPr>
        <p:spPr/>
        <p:txBody>
          <a:bodyPr/>
          <a:lstStyle/>
          <a:p>
            <a:r>
              <a:rPr lang="en-US" dirty="0"/>
              <a:t>Testing is central to XP and XP has developed an approach where the program is tested after every change has been made.</a:t>
            </a:r>
          </a:p>
          <a:p>
            <a:r>
              <a:rPr lang="en-US" dirty="0"/>
              <a:t>XP testing features:</a:t>
            </a:r>
          </a:p>
          <a:p>
            <a:pPr lvl="1"/>
            <a:r>
              <a:rPr lang="en-US" dirty="0"/>
              <a:t>Test-first development.</a:t>
            </a:r>
          </a:p>
          <a:p>
            <a:pPr lvl="1"/>
            <a:r>
              <a:rPr lang="en-US" dirty="0"/>
              <a:t>Incremental test development from scenarios.</a:t>
            </a:r>
          </a:p>
          <a:p>
            <a:pPr lvl="1"/>
            <a:r>
              <a:rPr lang="en-US" dirty="0"/>
              <a:t>User involvement in test development and validation.</a:t>
            </a:r>
          </a:p>
          <a:p>
            <a:pPr lvl="1"/>
            <a:r>
              <a:rPr lang="en-US" dirty="0"/>
              <a:t>Automated test harnesses are used to run all component tests each time that a new release is built.</a:t>
            </a:r>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18</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506" name="Rectangle 2"/>
          <p:cNvSpPr>
            <a:spLocks noGrp="1" noChangeArrowheads="1"/>
          </p:cNvSpPr>
          <p:nvPr>
            <p:ph type="title"/>
          </p:nvPr>
        </p:nvSpPr>
        <p:spPr/>
        <p:txBody>
          <a:bodyPr/>
          <a:lstStyle/>
          <a:p>
            <a:r>
              <a:rPr lang="en-US" dirty="0"/>
              <a:t>Test-driven development</a:t>
            </a:r>
          </a:p>
        </p:txBody>
      </p:sp>
      <p:sp>
        <p:nvSpPr>
          <p:cNvPr id="1173507" name="Rectangle 3"/>
          <p:cNvSpPr>
            <a:spLocks noGrp="1" noChangeArrowheads="1"/>
          </p:cNvSpPr>
          <p:nvPr>
            <p:ph idx="1"/>
          </p:nvPr>
        </p:nvSpPr>
        <p:spPr/>
        <p:txBody>
          <a:bodyPr/>
          <a:lstStyle/>
          <a:p>
            <a:pPr>
              <a:lnSpc>
                <a:spcPct val="90000"/>
              </a:lnSpc>
            </a:pPr>
            <a:r>
              <a:rPr lang="en-US" dirty="0"/>
              <a:t>Writing tests before code clarifies the requirements to be implemented.</a:t>
            </a:r>
          </a:p>
          <a:p>
            <a:pPr>
              <a:lnSpc>
                <a:spcPct val="90000"/>
              </a:lnSpc>
            </a:pPr>
            <a:r>
              <a:rPr lang="en-US" dirty="0"/>
              <a:t>Tests are written as programs rather than data so that they can be executed automatically. The test includes a check that it has executed correctly.</a:t>
            </a:r>
          </a:p>
          <a:p>
            <a:pPr lvl="1">
              <a:lnSpc>
                <a:spcPct val="90000"/>
              </a:lnSpc>
            </a:pPr>
            <a:r>
              <a:rPr lang="en-US" dirty="0"/>
              <a:t>Usually relies on a testing framework such as Junit.</a:t>
            </a:r>
          </a:p>
          <a:p>
            <a:pPr>
              <a:lnSpc>
                <a:spcPct val="90000"/>
              </a:lnSpc>
            </a:pPr>
            <a:r>
              <a:rPr lang="en-US" dirty="0"/>
              <a:t>All previous and new tests are run automatically when new functionality is added, thus checking that the new functionality has not introduced errors.</a:t>
            </a:r>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19</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involvement</a:t>
            </a:r>
          </a:p>
        </p:txBody>
      </p:sp>
      <p:sp>
        <p:nvSpPr>
          <p:cNvPr id="3" name="Content Placeholder 2"/>
          <p:cNvSpPr>
            <a:spLocks noGrp="1"/>
          </p:cNvSpPr>
          <p:nvPr>
            <p:ph idx="1"/>
          </p:nvPr>
        </p:nvSpPr>
        <p:spPr/>
        <p:txBody>
          <a:bodyPr/>
          <a:lstStyle/>
          <a:p>
            <a:r>
              <a:rPr lang="en-GB" dirty="0"/>
              <a:t>The role of the customer in the testing process is to help develop acceptance tests for the stories that are to be implemented in the next release of the system. </a:t>
            </a:r>
          </a:p>
          <a:p>
            <a:r>
              <a:rPr lang="en-GB" dirty="0"/>
              <a:t>The customer who is part of the team writes tests as development proceeds. All new code is therefore validated to ensure that it is what the customer needs. </a:t>
            </a:r>
          </a:p>
          <a:p>
            <a:r>
              <a:rPr lang="en-GB" dirty="0"/>
              <a:t>However, people adopting the customer role have limited time available and so cannot work full-time with the development team. They may feel that providing the requirements was enough of a contribution and so may be reluctant to get involved in the testing process. </a:t>
            </a:r>
            <a:endParaRPr lang="en-US" dirty="0"/>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20</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Test case description for dose checking</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21</a:t>
            </a:fld>
            <a:endParaRPr lang="en-US" dirty="0"/>
          </a:p>
        </p:txBody>
      </p:sp>
      <p:pic>
        <p:nvPicPr>
          <p:cNvPr id="4" name="Picture 3" descr="3.7 DoseChecking.eps"/>
          <p:cNvPicPr>
            <a:picLocks noChangeAspect="1"/>
          </p:cNvPicPr>
          <p:nvPr/>
        </p:nvPicPr>
        <p:blipFill>
          <a:blip r:embed="rId2"/>
          <a:stretch>
            <a:fillRect/>
          </a:stretch>
        </p:blipFill>
        <p:spPr>
          <a:xfrm>
            <a:off x="805735" y="1950230"/>
            <a:ext cx="7436363" cy="4049252"/>
          </a:xfrm>
          <a:prstGeom prst="rect">
            <a:avLst/>
          </a:prstGeom>
        </p:spPr>
      </p:pic>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automation</a:t>
            </a:r>
          </a:p>
        </p:txBody>
      </p:sp>
      <p:sp>
        <p:nvSpPr>
          <p:cNvPr id="3" name="Content Placeholder 2"/>
          <p:cNvSpPr>
            <a:spLocks noGrp="1"/>
          </p:cNvSpPr>
          <p:nvPr>
            <p:ph idx="1"/>
          </p:nvPr>
        </p:nvSpPr>
        <p:spPr/>
        <p:txBody>
          <a:bodyPr/>
          <a:lstStyle/>
          <a:p>
            <a:r>
              <a:rPr lang="en-GB" dirty="0"/>
              <a:t>Test automation means that tests are written as executable components before the task is implemented </a:t>
            </a:r>
          </a:p>
          <a:p>
            <a:pPr lvl="1"/>
            <a:r>
              <a:rPr lang="en-GB" dirty="0"/>
              <a:t>These testing components should be stand-alone, should simulate the submission of input to be tested and should check that the result meets the output specification. An automated test framework (e.g. Junit) is a system that makes it easy to write executable tests and submit a set of tests for execution. </a:t>
            </a:r>
          </a:p>
          <a:p>
            <a:r>
              <a:rPr lang="en-GB" dirty="0"/>
              <a:t>As testing is automated, there is always a set of tests that can be quickly and easily executed</a:t>
            </a:r>
          </a:p>
          <a:p>
            <a:pPr lvl="1"/>
            <a:r>
              <a:rPr lang="en-GB" dirty="0"/>
              <a:t>Whenever any functionality is added to the system, the tests can be run and problems that the new code has introduced can be caught immediately.  </a:t>
            </a:r>
          </a:p>
          <a:p>
            <a:endParaRPr lang="en-US" dirty="0"/>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22</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test-first development</a:t>
            </a:r>
          </a:p>
        </p:txBody>
      </p:sp>
      <p:sp>
        <p:nvSpPr>
          <p:cNvPr id="3" name="Content Placeholder 2"/>
          <p:cNvSpPr>
            <a:spLocks noGrp="1"/>
          </p:cNvSpPr>
          <p:nvPr>
            <p:ph idx="1"/>
          </p:nvPr>
        </p:nvSpPr>
        <p:spPr/>
        <p:txBody>
          <a:bodyPr/>
          <a:lstStyle/>
          <a:p>
            <a:r>
              <a:rPr lang="en-GB" dirty="0"/>
              <a:t>Programmers prefer programming to testing and sometimes they take short cuts when writing tests. For example, they may write incomplete tests that do not check for all possible exceptions that may occur. </a:t>
            </a:r>
          </a:p>
          <a:p>
            <a:r>
              <a:rPr lang="en-GB" dirty="0"/>
              <a:t>Some tests can be very difficult to write incrementally. For example, in a complex user interface, it is often difficult to write unit tests for the code that implements the ‘display logic’ and workflow between screens. </a:t>
            </a:r>
          </a:p>
          <a:p>
            <a:r>
              <a:rPr lang="en-GB" dirty="0"/>
              <a:t>It difficult to judge the completeness of a set of tests. Although you may have a lot of system tests, your test set may not provide complete coverage.  </a:t>
            </a:r>
          </a:p>
          <a:p>
            <a:endParaRPr lang="en-US" dirty="0"/>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23</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530" name="Rectangle 2"/>
          <p:cNvSpPr>
            <a:spLocks noGrp="1" noChangeArrowheads="1"/>
          </p:cNvSpPr>
          <p:nvPr>
            <p:ph type="title"/>
          </p:nvPr>
        </p:nvSpPr>
        <p:spPr/>
        <p:txBody>
          <a:bodyPr/>
          <a:lstStyle/>
          <a:p>
            <a:r>
              <a:rPr lang="en-US" dirty="0"/>
              <a:t>Pair programming</a:t>
            </a:r>
          </a:p>
        </p:txBody>
      </p:sp>
      <p:sp>
        <p:nvSpPr>
          <p:cNvPr id="1174531" name="Rectangle 3"/>
          <p:cNvSpPr>
            <a:spLocks noGrp="1" noChangeArrowheads="1"/>
          </p:cNvSpPr>
          <p:nvPr>
            <p:ph idx="1"/>
          </p:nvPr>
        </p:nvSpPr>
        <p:spPr/>
        <p:txBody>
          <a:bodyPr/>
          <a:lstStyle/>
          <a:p>
            <a:pPr>
              <a:lnSpc>
                <a:spcPct val="90000"/>
              </a:lnSpc>
            </a:pPr>
            <a:r>
              <a:rPr lang="en-US" sz="2400" dirty="0"/>
              <a:t>Pair </a:t>
            </a:r>
            <a:r>
              <a:rPr lang="en-US" dirty="0"/>
              <a:t>programming involves </a:t>
            </a:r>
            <a:r>
              <a:rPr lang="en-US" sz="2400" dirty="0"/>
              <a:t>programmers working in pairs, developing code together.</a:t>
            </a:r>
          </a:p>
          <a:p>
            <a:pPr>
              <a:lnSpc>
                <a:spcPct val="90000"/>
              </a:lnSpc>
            </a:pPr>
            <a:r>
              <a:rPr lang="en-US" sz="2400" dirty="0"/>
              <a:t>This helps develop common ownership of code and spreads knowledge across the team.</a:t>
            </a:r>
          </a:p>
          <a:p>
            <a:pPr>
              <a:lnSpc>
                <a:spcPct val="90000"/>
              </a:lnSpc>
            </a:pPr>
            <a:r>
              <a:rPr lang="en-US" sz="2400" dirty="0"/>
              <a:t>It serves as an informal review process as each line of code is looked at by more than 1 person.</a:t>
            </a:r>
          </a:p>
          <a:p>
            <a:pPr>
              <a:lnSpc>
                <a:spcPct val="90000"/>
              </a:lnSpc>
            </a:pPr>
            <a:r>
              <a:rPr lang="en-US" sz="2400" dirty="0"/>
              <a:t>It encourages refactoring as the whole team can benefit from </a:t>
            </a:r>
            <a:r>
              <a:rPr lang="en-US" dirty="0"/>
              <a:t>improving the system code.</a:t>
            </a:r>
            <a:endParaRPr lang="en-US" sz="2400" dirty="0"/>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24</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Pair programming</a:t>
            </a:r>
          </a:p>
        </p:txBody>
      </p:sp>
      <p:sp>
        <p:nvSpPr>
          <p:cNvPr id="3" name="Content Placeholder 2"/>
          <p:cNvSpPr>
            <a:spLocks noGrp="1"/>
          </p:cNvSpPr>
          <p:nvPr>
            <p:ph idx="1"/>
          </p:nvPr>
        </p:nvSpPr>
        <p:spPr/>
        <p:txBody>
          <a:bodyPr/>
          <a:lstStyle/>
          <a:p>
            <a:r>
              <a:rPr lang="en-GB" dirty="0"/>
              <a:t>In pair programming, programmers sit together at the same computer to develop the software.</a:t>
            </a:r>
          </a:p>
          <a:p>
            <a:r>
              <a:rPr lang="en-GB" dirty="0"/>
              <a:t>Pairs are created dynamically so that all team members work with each other during the development process.</a:t>
            </a:r>
          </a:p>
          <a:p>
            <a:r>
              <a:rPr lang="en-GB" dirty="0"/>
              <a:t>The sharing of knowledge that happens during pair programming is very important as it reduces the overall risks to a project when team members leave.</a:t>
            </a:r>
          </a:p>
          <a:p>
            <a:r>
              <a:rPr lang="en-GB" dirty="0"/>
              <a:t>Pair programming is not necessarily inefficient and there is some evidence that suggests that a pair working together is more efficient than 2 programmers working separately. </a:t>
            </a:r>
            <a:endParaRPr lang="en-US" dirty="0"/>
          </a:p>
          <a:p>
            <a:endParaRPr lang="en-GB" dirty="0"/>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25</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2338"/>
            <a:ext cx="8229600" cy="1143000"/>
          </a:xfrm>
        </p:spPr>
        <p:txBody>
          <a:bodyPr/>
          <a:lstStyle/>
          <a:p>
            <a:pPr algn="ctr"/>
            <a:r>
              <a:rPr lang="en-US" dirty="0"/>
              <a:t>Agile </a:t>
            </a:r>
            <a:r>
              <a:rPr lang="en-US" dirty="0">
                <a:solidFill>
                  <a:srgbClr val="00B050"/>
                </a:solidFill>
              </a:rPr>
              <a:t>Project Management</a:t>
            </a:r>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26</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982006760"/>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project management</a:t>
            </a:r>
          </a:p>
        </p:txBody>
      </p:sp>
      <p:sp>
        <p:nvSpPr>
          <p:cNvPr id="3" name="Content Placeholder 2"/>
          <p:cNvSpPr>
            <a:spLocks noGrp="1"/>
          </p:cNvSpPr>
          <p:nvPr>
            <p:ph idx="1"/>
          </p:nvPr>
        </p:nvSpPr>
        <p:spPr/>
        <p:txBody>
          <a:bodyPr/>
          <a:lstStyle/>
          <a:p>
            <a:r>
              <a:rPr lang="en-GB" dirty="0"/>
              <a:t>The principal responsibility of software project managers is to manage the project so that the software is delivered on time and within the planned budget for the project. </a:t>
            </a:r>
          </a:p>
          <a:p>
            <a:r>
              <a:rPr lang="en-GB" dirty="0"/>
              <a:t>The standard approach to project management is plan-driven. Managers draw up a plan for the project showing what should be delivered, when it should be delivered and who will work on the development of the project deliverables. </a:t>
            </a:r>
          </a:p>
          <a:p>
            <a:r>
              <a:rPr lang="en-GB" dirty="0"/>
              <a:t>Agile project management requires a different approach, which is adapted to incremental development and the practices used in agile methods. </a:t>
            </a:r>
            <a:endParaRPr lang="en-US" dirty="0"/>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27</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a:t>
            </a:r>
          </a:p>
        </p:txBody>
      </p:sp>
      <p:sp>
        <p:nvSpPr>
          <p:cNvPr id="3" name="Content Placeholder 2"/>
          <p:cNvSpPr>
            <a:spLocks noGrp="1"/>
          </p:cNvSpPr>
          <p:nvPr>
            <p:ph idx="1"/>
          </p:nvPr>
        </p:nvSpPr>
        <p:spPr/>
        <p:txBody>
          <a:bodyPr/>
          <a:lstStyle/>
          <a:p>
            <a:r>
              <a:rPr lang="en-GB" dirty="0"/>
              <a:t>Scrum is an agile method that focuses on managing iterative development rather than specific agile practices.</a:t>
            </a:r>
          </a:p>
          <a:p>
            <a:r>
              <a:rPr lang="en-GB" dirty="0"/>
              <a:t>There are three phases in Scrum. </a:t>
            </a:r>
          </a:p>
          <a:p>
            <a:pPr lvl="1"/>
            <a:r>
              <a:rPr lang="en-GB" dirty="0"/>
              <a:t>The initial phase is an outline planning phase where you establish the general objectives for the project and design the software architecture. </a:t>
            </a:r>
          </a:p>
          <a:p>
            <a:pPr lvl="1"/>
            <a:r>
              <a:rPr lang="en-GB" dirty="0"/>
              <a:t>This is followed by a series of sprint cycles, where each cycle develops an increment of the system. </a:t>
            </a:r>
          </a:p>
          <a:p>
            <a:pPr lvl="1"/>
            <a:r>
              <a:rPr lang="en-GB" dirty="0"/>
              <a:t>The project closure phase wraps up the project, completes required documentation such as system help frames and user manuals and assesses the lessons learned from the project.</a:t>
            </a:r>
          </a:p>
          <a:p>
            <a:r>
              <a:rPr lang="en-GB" dirty="0"/>
              <a:t> </a:t>
            </a:r>
          </a:p>
          <a:p>
            <a:endParaRPr lang="en-US" dirty="0"/>
          </a:p>
        </p:txBody>
      </p:sp>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28</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4CAEE-C0F3-08B4-5A4C-DB17B750F53D}"/>
              </a:ext>
            </a:extLst>
          </p:cNvPr>
          <p:cNvSpPr>
            <a:spLocks noGrp="1"/>
          </p:cNvSpPr>
          <p:nvPr>
            <p:ph type="title"/>
          </p:nvPr>
        </p:nvSpPr>
        <p:spPr/>
        <p:txBody>
          <a:bodyPr/>
          <a:lstStyle/>
          <a:p>
            <a:r>
              <a:rPr lang="en-US" dirty="0"/>
              <a:t>Scrum benefits</a:t>
            </a:r>
          </a:p>
        </p:txBody>
      </p:sp>
      <p:sp>
        <p:nvSpPr>
          <p:cNvPr id="4" name="Date Placeholder 3">
            <a:extLst>
              <a:ext uri="{FF2B5EF4-FFF2-40B4-BE49-F238E27FC236}">
                <a16:creationId xmlns:a16="http://schemas.microsoft.com/office/drawing/2014/main" id="{7F68FD13-D51D-5815-710E-1DB8C902B29E}"/>
              </a:ext>
            </a:extLst>
          </p:cNvPr>
          <p:cNvSpPr>
            <a:spLocks noGrp="1"/>
          </p:cNvSpPr>
          <p:nvPr>
            <p:ph type="dt" sz="half" idx="10"/>
          </p:nvPr>
        </p:nvSpPr>
        <p:spPr/>
        <p:txBody>
          <a:bodyPr/>
          <a:lstStyle/>
          <a:p>
            <a:pPr>
              <a:defRPr/>
            </a:pPr>
            <a:r>
              <a:rPr lang="en-GB" dirty="0"/>
              <a:t>30/10/2014</a:t>
            </a:r>
            <a:endParaRPr lang="en-US" dirty="0"/>
          </a:p>
        </p:txBody>
      </p:sp>
      <p:sp>
        <p:nvSpPr>
          <p:cNvPr id="5" name="Footer Placeholder 4">
            <a:extLst>
              <a:ext uri="{FF2B5EF4-FFF2-40B4-BE49-F238E27FC236}">
                <a16:creationId xmlns:a16="http://schemas.microsoft.com/office/drawing/2014/main" id="{A9D99BAE-BE7C-3E36-BF31-2E836166A75B}"/>
              </a:ext>
            </a:extLst>
          </p:cNvPr>
          <p:cNvSpPr>
            <a:spLocks noGrp="1"/>
          </p:cNvSpPr>
          <p:nvPr>
            <p:ph type="ftr" sz="quarter" idx="11"/>
          </p:nvPr>
        </p:nvSpPr>
        <p:spPr/>
        <p:txBody>
          <a:bodyPr/>
          <a:lstStyle/>
          <a:p>
            <a:pPr>
              <a:defRPr/>
            </a:pPr>
            <a:r>
              <a:rPr lang="en-US" dirty="0"/>
              <a:t>Chapter 3 Agile Software Development</a:t>
            </a:r>
          </a:p>
        </p:txBody>
      </p:sp>
      <p:sp>
        <p:nvSpPr>
          <p:cNvPr id="6" name="Slide Number Placeholder 5">
            <a:extLst>
              <a:ext uri="{FF2B5EF4-FFF2-40B4-BE49-F238E27FC236}">
                <a16:creationId xmlns:a16="http://schemas.microsoft.com/office/drawing/2014/main" id="{C6676F2B-D62B-C3C1-2274-9FE59E270D6B}"/>
              </a:ext>
            </a:extLst>
          </p:cNvPr>
          <p:cNvSpPr>
            <a:spLocks noGrp="1"/>
          </p:cNvSpPr>
          <p:nvPr>
            <p:ph type="sldNum" sz="quarter" idx="12"/>
          </p:nvPr>
        </p:nvSpPr>
        <p:spPr/>
        <p:txBody>
          <a:bodyPr/>
          <a:lstStyle/>
          <a:p>
            <a:pPr>
              <a:defRPr/>
            </a:pPr>
            <a:fld id="{EAB5BBF0-B782-3644-AFE1-10103AC25370}" type="slidenum">
              <a:rPr lang="en-US" smtClean="0"/>
              <a:pPr>
                <a:defRPr/>
              </a:pPr>
              <a:t>29</a:t>
            </a:fld>
            <a:endParaRPr lang="en-US" dirty="0"/>
          </a:p>
        </p:txBody>
      </p:sp>
      <p:pic>
        <p:nvPicPr>
          <p:cNvPr id="7" name="Picture 6">
            <a:extLst>
              <a:ext uri="{FF2B5EF4-FFF2-40B4-BE49-F238E27FC236}">
                <a16:creationId xmlns:a16="http://schemas.microsoft.com/office/drawing/2014/main" id="{D3C23387-05A9-5118-1BF1-C5F4A4A0B5F0}"/>
              </a:ext>
            </a:extLst>
          </p:cNvPr>
          <p:cNvPicPr>
            <a:picLocks noChangeAspect="1"/>
          </p:cNvPicPr>
          <p:nvPr/>
        </p:nvPicPr>
        <p:blipFill rotWithShape="1">
          <a:blip r:embed="rId2">
            <a:extLst>
              <a:ext uri="{28A0092B-C50C-407E-A947-70E740481C1C}">
                <a14:useLocalDpi xmlns:a14="http://schemas.microsoft.com/office/drawing/2010/main" val="0"/>
              </a:ext>
            </a:extLst>
          </a:blip>
          <a:srcRect t="26495" b="32335"/>
          <a:stretch/>
        </p:blipFill>
        <p:spPr>
          <a:xfrm>
            <a:off x="83459" y="1565656"/>
            <a:ext cx="8977081" cy="5017706"/>
          </a:xfrm>
          <a:prstGeom prst="rect">
            <a:avLst/>
          </a:prstGeom>
        </p:spPr>
      </p:pic>
    </p:spTree>
    <p:extLst>
      <p:ext uri="{BB962C8B-B14F-4D97-AF65-F5344CB8AC3E}">
        <p14:creationId xmlns:p14="http://schemas.microsoft.com/office/powerpoint/2010/main" val="1476085470"/>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terminology (a)</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30369511"/>
              </p:ext>
            </p:extLst>
          </p:nvPr>
        </p:nvGraphicFramePr>
        <p:xfrm>
          <a:off x="457200" y="1809750"/>
          <a:ext cx="8229600" cy="4554431"/>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571500">
                <a:tc>
                  <a:txBody>
                    <a:bodyPr/>
                    <a:lstStyle/>
                    <a:p>
                      <a:r>
                        <a:rPr lang="en-US" dirty="0"/>
                        <a:t>Scrum term</a:t>
                      </a:r>
                    </a:p>
                  </a:txBody>
                  <a:tcPr/>
                </a:tc>
                <a:tc>
                  <a:txBody>
                    <a:bodyPr/>
                    <a:lstStyle/>
                    <a:p>
                      <a:r>
                        <a:rPr lang="en-US" dirty="0"/>
                        <a:t>Definition</a:t>
                      </a:r>
                    </a:p>
                  </a:txBody>
                  <a:tcPr/>
                </a:tc>
                <a:extLst>
                  <a:ext uri="{0D108BD9-81ED-4DB2-BD59-A6C34878D82A}">
                    <a16:rowId xmlns:a16="http://schemas.microsoft.com/office/drawing/2014/main" val="10000"/>
                  </a:ext>
                </a:extLst>
              </a:tr>
              <a:tr h="745863">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Development team</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 self-organizing group of software developers, which should be no more than 7 people. They are responsible for developing the software and other essential project documents.</a:t>
                      </a:r>
                    </a:p>
                  </a:txBody>
                  <a:tcPr marL="68580" marR="68580" marT="0" marB="0"/>
                </a:tc>
                <a:extLst>
                  <a:ext uri="{0D108BD9-81ED-4DB2-BD59-A6C34878D82A}">
                    <a16:rowId xmlns:a16="http://schemas.microsoft.com/office/drawing/2014/main" val="10001"/>
                  </a:ext>
                </a:extLst>
              </a:tr>
              <a:tr h="827601">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Potentially shippable product increment</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The software increment that is delivered from a sprint. The idea is that this should be ‘potentially shippable’ which means that it is in a finished state and no further work, such as testing, is needed to  incorporate it into the final product. In practice, this is not always achievable.</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827601">
                <a:tc>
                  <a:txBody>
                    <a:bodyPr/>
                    <a:lstStyle/>
                    <a:p>
                      <a:pPr indent="0" algn="l">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Product backlog</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This is a list of ‘to do’ items which the Scrum team must tackle. They may be feature definitions for the software, software requirements, user stories or descriptions of supplementary tasks that are needed, such as architecture definition or user documentation.</a:t>
                      </a:r>
                    </a:p>
                    <a:p>
                      <a:pPr indent="0" algn="just">
                        <a:spcAft>
                          <a:spcPts val="0"/>
                        </a:spcAft>
                        <a:tabLst>
                          <a:tab pos="342900" algn="l"/>
                          <a:tab pos="685800" algn="l"/>
                          <a:tab pos="1028700" algn="l"/>
                        </a:tabLst>
                      </a:pPr>
                      <a:endParaRPr lang="en-GB" sz="140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3"/>
                  </a:ext>
                </a:extLst>
              </a:tr>
              <a:tr h="1103468">
                <a:tc>
                  <a:txBody>
                    <a:bodyPr/>
                    <a:lstStyle/>
                    <a:p>
                      <a:pPr indent="0" algn="l">
                        <a:spcAft>
                          <a:spcPts val="0"/>
                        </a:spcAft>
                        <a:tabLst>
                          <a:tab pos="342900" algn="l"/>
                          <a:tab pos="685800" algn="l"/>
                          <a:tab pos="1028700" algn="l"/>
                          <a:tab pos="1170305" algn="l"/>
                        </a:tabLst>
                      </a:pPr>
                      <a:r>
                        <a:rPr lang="en-GB" sz="1400" dirty="0">
                          <a:solidFill>
                            <a:srgbClr val="000000"/>
                          </a:solidFill>
                          <a:effectLst/>
                          <a:latin typeface="Arial"/>
                          <a:ea typeface="Times New Roman"/>
                          <a:cs typeface="Times New Roman"/>
                        </a:rPr>
                        <a:t>Product owner</a:t>
                      </a:r>
                    </a:p>
                  </a:txBody>
                  <a:tcPr marL="68580" marR="68580" marT="0" marB="0"/>
                </a:tc>
                <a:tc>
                  <a:txBody>
                    <a:bodyPr/>
                    <a:lstStyle/>
                    <a:p>
                      <a:pPr indent="0" algn="just">
                        <a:spcAft>
                          <a:spcPts val="0"/>
                        </a:spcAft>
                        <a:tabLst>
                          <a:tab pos="342900" algn="l"/>
                          <a:tab pos="685800" algn="l"/>
                          <a:tab pos="1028700" algn="l"/>
                        </a:tabLst>
                      </a:pPr>
                      <a:r>
                        <a:rPr lang="en-GB" sz="1400" dirty="0">
                          <a:solidFill>
                            <a:srgbClr val="000000"/>
                          </a:solidFill>
                          <a:effectLst/>
                          <a:latin typeface="Arial"/>
                          <a:ea typeface="Times New Roman"/>
                          <a:cs typeface="Times New Roman"/>
                        </a:rPr>
                        <a:t>An individual (or possibly a small group) whose job is to identify product features or requirements, prioritize these for development and continuously review the product backlog to ensure that the project continues to meet critical business needs. The Product Owner can be a customer but might also be a product manager in a software company or other stakeholder representative.</a:t>
                      </a:r>
                    </a:p>
                  </a:txBody>
                  <a:tcPr marL="68580" marR="68580" marT="0" marB="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30</a:t>
            </a:fld>
            <a:endParaRPr lang="en-US" dirty="0"/>
          </a:p>
        </p:txBody>
      </p:sp>
      <p:sp>
        <p:nvSpPr>
          <p:cNvPr id="3" name="Date Placeholder 2"/>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4279845486"/>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Scrum terminology (b)</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07260699"/>
              </p:ext>
            </p:extLst>
          </p:nvPr>
        </p:nvGraphicFramePr>
        <p:xfrm>
          <a:off x="342900" y="1778000"/>
          <a:ext cx="8229600" cy="4445000"/>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370840">
                <a:tc>
                  <a:txBody>
                    <a:bodyPr/>
                    <a:lstStyle/>
                    <a:p>
                      <a:r>
                        <a:rPr lang="en-US" dirty="0"/>
                        <a:t>Scrum term</a:t>
                      </a:r>
                    </a:p>
                  </a:txBody>
                  <a:tcPr/>
                </a:tc>
                <a:tc>
                  <a:txBody>
                    <a:bodyPr/>
                    <a:lstStyle/>
                    <a:p>
                      <a:r>
                        <a:rPr lang="en-US" dirty="0"/>
                        <a:t>Definition</a:t>
                      </a:r>
                    </a:p>
                  </a:txBody>
                  <a:tcPr/>
                </a:tc>
                <a:extLst>
                  <a:ext uri="{0D108BD9-81ED-4DB2-BD59-A6C34878D82A}">
                    <a16:rowId xmlns:a16="http://schemas.microsoft.com/office/drawing/2014/main" val="10000"/>
                  </a:ext>
                </a:extLst>
              </a:tr>
              <a:tr h="370840">
                <a:tc>
                  <a:txBody>
                    <a:bodyPr/>
                    <a:lstStyle/>
                    <a:p>
                      <a:pPr indent="347345" algn="l">
                        <a:spcAft>
                          <a:spcPts val="600"/>
                        </a:spcAft>
                        <a:tabLst>
                          <a:tab pos="342900" algn="l"/>
                          <a:tab pos="685800" algn="l"/>
                          <a:tab pos="1028700" algn="l"/>
                        </a:tabLst>
                      </a:pPr>
                      <a:r>
                        <a:rPr lang="en-GB" sz="1400" baseline="0" dirty="0">
                          <a:solidFill>
                            <a:srgbClr val="000000"/>
                          </a:solidFill>
                          <a:effectLst/>
                          <a:latin typeface="Arial"/>
                          <a:ea typeface="Times New Roman"/>
                          <a:cs typeface="Times New Roman"/>
                        </a:rPr>
                        <a:t>Scrum</a:t>
                      </a:r>
                    </a:p>
                  </a:txBody>
                  <a:tcPr marL="68580" marR="68580" marT="0" marB="0"/>
                </a:tc>
                <a:tc>
                  <a:txBody>
                    <a:bodyPr/>
                    <a:lstStyle/>
                    <a:p>
                      <a:pPr indent="0" algn="l">
                        <a:spcAft>
                          <a:spcPts val="600"/>
                        </a:spcAft>
                        <a:tabLst>
                          <a:tab pos="342900" algn="l"/>
                          <a:tab pos="685800" algn="l"/>
                          <a:tab pos="1028700" algn="l"/>
                        </a:tabLst>
                      </a:pPr>
                      <a:r>
                        <a:rPr lang="en-GB" sz="1400" baseline="0" dirty="0">
                          <a:solidFill>
                            <a:srgbClr val="000000"/>
                          </a:solidFill>
                          <a:effectLst/>
                          <a:latin typeface="Arial"/>
                          <a:ea typeface="Times New Roman"/>
                          <a:cs typeface="Times New Roman"/>
                        </a:rPr>
                        <a:t>A daily meeting of the Scrum team that reviews progress and prioritizes work to be done that day. Ideally, this should be a short face-to-face meeting that includes the whole team.</a:t>
                      </a:r>
                    </a:p>
                    <a:p>
                      <a:pPr indent="0" algn="l">
                        <a:spcAft>
                          <a:spcPts val="60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ScrumMaster</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The ScrumMaster is responsible for ensuring that the Scrum process is followed and guides the team in the effective use of Scrum. He or she is responsible for interfacing with the rest of the company and for ensuring that the Scrum team is not diverted by outside interference. The Scrum developers are adamant that the ScrumMaster should not be thought of as a project manager. Others, however, may not always find it easy to see the difference.</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Sprint</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 development iteration. Sprints are usually 2-4 weeks long.</a:t>
                      </a:r>
                    </a:p>
                  </a:txBody>
                  <a:tcPr marL="68580" marR="68580" marT="0" marB="0"/>
                </a:tc>
                <a:extLst>
                  <a:ext uri="{0D108BD9-81ED-4DB2-BD59-A6C34878D82A}">
                    <a16:rowId xmlns:a16="http://schemas.microsoft.com/office/drawing/2014/main" val="10003"/>
                  </a:ext>
                </a:extLst>
              </a:tr>
              <a:tr h="370840">
                <a:tc>
                  <a:txBody>
                    <a:bodyPr/>
                    <a:lstStyle/>
                    <a:p>
                      <a:pPr indent="347345"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Velocity</a:t>
                      </a:r>
                    </a:p>
                  </a:txBody>
                  <a:tcPr marL="68580" marR="68580" marT="0" marB="0"/>
                </a:tc>
                <a:tc>
                  <a:txBody>
                    <a:bodyPr/>
                    <a:lstStyle/>
                    <a:p>
                      <a:pPr indent="0" algn="l">
                        <a:spcAft>
                          <a:spcPts val="0"/>
                        </a:spcAft>
                        <a:tabLst>
                          <a:tab pos="342900" algn="l"/>
                          <a:tab pos="685800" algn="l"/>
                          <a:tab pos="1028700" algn="l"/>
                        </a:tabLst>
                      </a:pPr>
                      <a:r>
                        <a:rPr lang="en-GB" sz="1400" baseline="0" dirty="0">
                          <a:solidFill>
                            <a:srgbClr val="000000"/>
                          </a:solidFill>
                          <a:effectLst/>
                          <a:latin typeface="Arial"/>
                          <a:ea typeface="Times New Roman"/>
                          <a:cs typeface="Times New Roman"/>
                        </a:rPr>
                        <a:t>An estimate of how much product backlog effort that a team can cover in a single sprint.  Understanding a team’s velocity helps them estimate what can be covered in a sprint and provides a basis for measuring improving performance.</a:t>
                      </a:r>
                    </a:p>
                    <a:p>
                      <a:pPr indent="0" algn="l">
                        <a:spcAft>
                          <a:spcPts val="0"/>
                        </a:spcAft>
                        <a:tabLst>
                          <a:tab pos="342900" algn="l"/>
                          <a:tab pos="685800" algn="l"/>
                          <a:tab pos="1028700" algn="l"/>
                        </a:tabLst>
                      </a:pPr>
                      <a:endParaRPr lang="en-GB" sz="1400" baseline="0" dirty="0">
                        <a:solidFill>
                          <a:srgbClr val="000000"/>
                        </a:solidFill>
                        <a:effectLst/>
                        <a:latin typeface="Arial"/>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dirty="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31</a:t>
            </a:fld>
            <a:endParaRPr lang="en-US" dirty="0"/>
          </a:p>
        </p:txBody>
      </p:sp>
      <p:sp>
        <p:nvSpPr>
          <p:cNvPr id="3" name="Date Placeholder 2"/>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1815401261"/>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B5AF16-E795-2AD9-F321-D4BF8CA524AC}"/>
              </a:ext>
            </a:extLst>
          </p:cNvPr>
          <p:cNvSpPr>
            <a:spLocks noGrp="1"/>
          </p:cNvSpPr>
          <p:nvPr>
            <p:ph type="title"/>
          </p:nvPr>
        </p:nvSpPr>
        <p:spPr/>
        <p:txBody>
          <a:bodyPr/>
          <a:lstStyle/>
          <a:p>
            <a:pPr>
              <a:defRPr/>
            </a:pPr>
            <a:r>
              <a:rPr lang="en-US" dirty="0">
                <a:ea typeface="ＭＳ Ｐゴシック" pitchFamily="34" charset="-128"/>
              </a:rPr>
              <a:t> The Scrum Process</a:t>
            </a:r>
          </a:p>
        </p:txBody>
      </p:sp>
      <p:pic>
        <p:nvPicPr>
          <p:cNvPr id="25603" name="Picture 4">
            <a:extLst>
              <a:ext uri="{FF2B5EF4-FFF2-40B4-BE49-F238E27FC236}">
                <a16:creationId xmlns:a16="http://schemas.microsoft.com/office/drawing/2014/main" id="{79ABC05E-3E56-FB4D-933F-9000B71E42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312" t="10867" r="3609" b="11327"/>
          <a:stretch>
            <a:fillRect/>
          </a:stretch>
        </p:blipFill>
        <p:spPr>
          <a:xfrm>
            <a:off x="214313" y="1571625"/>
            <a:ext cx="8286750" cy="4714875"/>
          </a:xfrm>
          <a:noFill/>
        </p:spPr>
      </p:pic>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Scrum Sprint Cycle</a:t>
            </a:r>
          </a:p>
        </p:txBody>
      </p:sp>
      <p:sp>
        <p:nvSpPr>
          <p:cNvPr id="3" name="Content Placeholder 2"/>
          <p:cNvSpPr>
            <a:spLocks noGrp="1"/>
          </p:cNvSpPr>
          <p:nvPr>
            <p:ph idx="1"/>
          </p:nvPr>
        </p:nvSpPr>
        <p:spPr/>
        <p:txBody>
          <a:bodyPr/>
          <a:lstStyle/>
          <a:p>
            <a:r>
              <a:rPr lang="en-GB" dirty="0"/>
              <a:t>Sprints are fixed length, normally 2–4 weeks.  </a:t>
            </a:r>
          </a:p>
          <a:p>
            <a:r>
              <a:rPr lang="en-GB" dirty="0"/>
              <a:t>The starting point for planning is the product backlog, which is the list of work to be done on the project.</a:t>
            </a:r>
          </a:p>
          <a:p>
            <a:r>
              <a:rPr lang="en-GB" dirty="0"/>
              <a:t>The selection phase involves all of the project team who work with the customer to select the features and functionality from the product backlog to be developed during the sprint. </a:t>
            </a:r>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33</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Scrum Sprint Cycle</a:t>
            </a:r>
          </a:p>
        </p:txBody>
      </p:sp>
      <p:sp>
        <p:nvSpPr>
          <p:cNvPr id="3" name="Content Placeholder 2"/>
          <p:cNvSpPr>
            <a:spLocks noGrp="1"/>
          </p:cNvSpPr>
          <p:nvPr>
            <p:ph idx="1"/>
          </p:nvPr>
        </p:nvSpPr>
        <p:spPr/>
        <p:txBody>
          <a:bodyPr/>
          <a:lstStyle/>
          <a:p>
            <a:r>
              <a:rPr lang="en-GB" dirty="0"/>
              <a:t>Once these are agreed, the team organize themselves to develop the software. </a:t>
            </a:r>
          </a:p>
          <a:p>
            <a:r>
              <a:rPr lang="en-GB" dirty="0"/>
              <a:t>During this stage the team is isolated from the customer and the organization, with all communications channelled through the so-called ‘Scrum master’. </a:t>
            </a:r>
          </a:p>
          <a:p>
            <a:r>
              <a:rPr lang="en-GB" dirty="0"/>
              <a:t>The role of the Scrum master is to protect the development team from external distractions. </a:t>
            </a:r>
          </a:p>
          <a:p>
            <a:r>
              <a:rPr lang="en-GB" dirty="0"/>
              <a:t> At the end of the sprint, the work done is reviewed and presented to stakeholders. The next sprint cycle then begins.</a:t>
            </a:r>
            <a:endParaRPr lang="en-US" dirty="0"/>
          </a:p>
          <a:p>
            <a:endParaRPr lang="en-US" dirty="0"/>
          </a:p>
        </p:txBody>
      </p:sp>
      <p:sp>
        <p:nvSpPr>
          <p:cNvPr id="5" name="Footer Placeholder 4"/>
          <p:cNvSpPr>
            <a:spLocks noGrp="1"/>
          </p:cNvSpPr>
          <p:nvPr>
            <p:ph type="ftr" sz="quarter" idx="11"/>
          </p:nvPr>
        </p:nvSpPr>
        <p:spPr/>
        <p:txBody>
          <a:bodyPr/>
          <a:lstStyle/>
          <a:p>
            <a:pPr>
              <a:defRPr/>
            </a:pPr>
            <a:r>
              <a:rPr lang="en-US" dirty="0"/>
              <a:t>Chapter 3 Agile Software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34</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a:extLst>
              <a:ext uri="{FF2B5EF4-FFF2-40B4-BE49-F238E27FC236}">
                <a16:creationId xmlns:a16="http://schemas.microsoft.com/office/drawing/2014/main" id="{7B70C0CE-EBC1-2CC9-E552-E59E7A54A8F3}"/>
              </a:ext>
            </a:extLst>
          </p:cNvPr>
          <p:cNvSpPr>
            <a:spLocks noGrp="1"/>
          </p:cNvSpPr>
          <p:nvPr>
            <p:ph idx="1"/>
          </p:nvPr>
        </p:nvSpPr>
        <p:spPr/>
        <p:txBody>
          <a:bodyPr/>
          <a:lstStyle/>
          <a:p>
            <a:pPr algn="just" eaLnBrk="1" hangingPunct="1"/>
            <a:r>
              <a:rPr lang="en-US" altLang="en-US" sz="2000"/>
              <a:t>In Scrum, there are three primary roles: </a:t>
            </a:r>
          </a:p>
          <a:p>
            <a:pPr algn="just" eaLnBrk="1" hangingPunct="1"/>
            <a:r>
              <a:rPr lang="en-US" altLang="en-US" sz="2000"/>
              <a:t>1. The Product Owner </a:t>
            </a:r>
          </a:p>
          <a:p>
            <a:pPr algn="just" eaLnBrk="1" hangingPunct="1"/>
            <a:r>
              <a:rPr lang="en-US" altLang="en-US" sz="2000"/>
              <a:t>2. Team Members</a:t>
            </a:r>
          </a:p>
          <a:p>
            <a:pPr algn="just" eaLnBrk="1" hangingPunct="1"/>
            <a:r>
              <a:rPr lang="en-US" altLang="en-US" sz="2000"/>
              <a:t> 3. The ScrumMaster</a:t>
            </a:r>
          </a:p>
          <a:p>
            <a:pPr algn="just" eaLnBrk="1" hangingPunct="1"/>
            <a:endParaRPr lang="en-US" altLang="en-US" sz="2000">
              <a:cs typeface="Arial" panose="020B0604020202020204" pitchFamily="34" charset="0"/>
            </a:endParaRPr>
          </a:p>
          <a:p>
            <a:pPr algn="just"/>
            <a:endParaRPr lang="en-US" altLang="en-US" sz="2000"/>
          </a:p>
        </p:txBody>
      </p:sp>
      <p:sp>
        <p:nvSpPr>
          <p:cNvPr id="3" name="Title 2">
            <a:extLst>
              <a:ext uri="{FF2B5EF4-FFF2-40B4-BE49-F238E27FC236}">
                <a16:creationId xmlns:a16="http://schemas.microsoft.com/office/drawing/2014/main" id="{1E875AF4-79B1-3FB6-B1E8-5325A09C78BA}"/>
              </a:ext>
            </a:extLst>
          </p:cNvPr>
          <p:cNvSpPr>
            <a:spLocks noGrp="1"/>
          </p:cNvSpPr>
          <p:nvPr>
            <p:ph type="title"/>
          </p:nvPr>
        </p:nvSpPr>
        <p:spPr/>
        <p:txBody>
          <a:bodyPr/>
          <a:lstStyle/>
          <a:p>
            <a:pPr>
              <a:defRPr/>
            </a:pPr>
            <a:r>
              <a:rPr lang="en-US" dirty="0">
                <a:ea typeface="ＭＳ Ｐゴシック" pitchFamily="34" charset="-128"/>
                <a:cs typeface="Arial" charset="0"/>
              </a:rPr>
              <a:t>Scrum Roles</a:t>
            </a:r>
            <a:endParaRPr lang="en-US" dirty="0">
              <a:ea typeface="ＭＳ Ｐゴシック" pitchFamily="34" charset="-128"/>
            </a:endParaRPr>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EA064F91-2F8E-E032-028D-5A45F2C02D3A}"/>
              </a:ext>
            </a:extLst>
          </p:cNvPr>
          <p:cNvSpPr>
            <a:spLocks noGrp="1"/>
          </p:cNvSpPr>
          <p:nvPr>
            <p:ph idx="1"/>
          </p:nvPr>
        </p:nvSpPr>
        <p:spPr/>
        <p:txBody>
          <a:bodyPr/>
          <a:lstStyle/>
          <a:p>
            <a:pPr algn="just"/>
            <a:r>
              <a:rPr lang="en-US" altLang="en-US"/>
              <a:t>The Product Owner is responsible for taking all the inputs into what the product should be – from the customer or end-user of the product, as well as from Team Members and stakeholders – and translating them into a product vision. </a:t>
            </a:r>
          </a:p>
          <a:p>
            <a:pPr algn="just"/>
            <a:r>
              <a:rPr lang="en-US" altLang="en-US"/>
              <a:t>In some cases, the Product Owner and the customer are one and the same.</a:t>
            </a:r>
          </a:p>
          <a:p>
            <a:pPr algn="just"/>
            <a:r>
              <a:rPr lang="en-US" altLang="en-US"/>
              <a:t>Product owner is responsible for product backlog, manages release plan, adjusts priorities based on ROI and business value, accepts or rejects work results.</a:t>
            </a:r>
          </a:p>
        </p:txBody>
      </p:sp>
      <p:sp>
        <p:nvSpPr>
          <p:cNvPr id="3" name="Title 2">
            <a:extLst>
              <a:ext uri="{FF2B5EF4-FFF2-40B4-BE49-F238E27FC236}">
                <a16:creationId xmlns:a16="http://schemas.microsoft.com/office/drawing/2014/main" id="{82B30925-FF92-D85F-BDA9-F874716A6FE7}"/>
              </a:ext>
            </a:extLst>
          </p:cNvPr>
          <p:cNvSpPr>
            <a:spLocks noGrp="1"/>
          </p:cNvSpPr>
          <p:nvPr>
            <p:ph type="title"/>
          </p:nvPr>
        </p:nvSpPr>
        <p:spPr/>
        <p:txBody>
          <a:bodyPr/>
          <a:lstStyle/>
          <a:p>
            <a:pPr>
              <a:defRPr/>
            </a:pPr>
            <a:r>
              <a:rPr lang="en-US" dirty="0">
                <a:ea typeface="ＭＳ Ｐゴシック" pitchFamily="34" charset="-128"/>
              </a:rPr>
              <a:t>Product Owner</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3F13E82-3382-1923-9B37-49EEA25EB32B}"/>
                  </a:ext>
                </a:extLst>
              </p14:cNvPr>
              <p14:cNvContentPartPr/>
              <p14:nvPr/>
            </p14:nvContentPartPr>
            <p14:xfrm>
              <a:off x="-1376470" y="5928708"/>
              <a:ext cx="360" cy="360"/>
            </p14:xfrm>
          </p:contentPart>
        </mc:Choice>
        <mc:Fallback xmlns="">
          <p:pic>
            <p:nvPicPr>
              <p:cNvPr id="2" name="Ink 1">
                <a:extLst>
                  <a:ext uri="{FF2B5EF4-FFF2-40B4-BE49-F238E27FC236}">
                    <a16:creationId xmlns:a16="http://schemas.microsoft.com/office/drawing/2014/main" id="{23F13E82-3382-1923-9B37-49EEA25EB32B}"/>
                  </a:ext>
                </a:extLst>
              </p:cNvPr>
              <p:cNvPicPr/>
              <p:nvPr/>
            </p:nvPicPr>
            <p:blipFill>
              <a:blip r:embed="rId3"/>
              <a:stretch>
                <a:fillRect/>
              </a:stretch>
            </p:blipFill>
            <p:spPr>
              <a:xfrm>
                <a:off x="-1382590" y="5922588"/>
                <a:ext cx="12600" cy="12600"/>
              </a:xfrm>
              <a:prstGeom prst="rect">
                <a:avLst/>
              </a:prstGeom>
            </p:spPr>
          </p:pic>
        </mc:Fallback>
      </mc:AlternateContent>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050067-6F3E-601F-AEAA-68059593D9B4}"/>
              </a:ext>
            </a:extLst>
          </p:cNvPr>
          <p:cNvSpPr>
            <a:spLocks noGrp="1"/>
          </p:cNvSpPr>
          <p:nvPr>
            <p:ph type="title"/>
          </p:nvPr>
        </p:nvSpPr>
        <p:spPr/>
        <p:txBody>
          <a:bodyPr/>
          <a:lstStyle/>
          <a:p>
            <a:pPr>
              <a:defRPr/>
            </a:pPr>
            <a:r>
              <a:rPr lang="en-US" dirty="0">
                <a:ea typeface="ＭＳ Ｐゴシック" pitchFamily="34" charset="-128"/>
              </a:rPr>
              <a:t>Team Members</a:t>
            </a:r>
          </a:p>
        </p:txBody>
      </p:sp>
      <p:sp>
        <p:nvSpPr>
          <p:cNvPr id="30723" name="Content Placeholder 3">
            <a:extLst>
              <a:ext uri="{FF2B5EF4-FFF2-40B4-BE49-F238E27FC236}">
                <a16:creationId xmlns:a16="http://schemas.microsoft.com/office/drawing/2014/main" id="{B008A45D-7163-63F5-FF21-11E5562C1CE5}"/>
              </a:ext>
            </a:extLst>
          </p:cNvPr>
          <p:cNvSpPr>
            <a:spLocks noGrp="1"/>
          </p:cNvSpPr>
          <p:nvPr>
            <p:ph idx="1"/>
          </p:nvPr>
        </p:nvSpPr>
        <p:spPr/>
        <p:txBody>
          <a:bodyPr/>
          <a:lstStyle/>
          <a:p>
            <a:r>
              <a:rPr lang="en-US" altLang="en-US"/>
              <a:t>Team Members build the product that the customer is going to consume: the software, the website, or whatever it may be.</a:t>
            </a:r>
          </a:p>
          <a:p>
            <a:r>
              <a:rPr lang="en-US" altLang="en-US"/>
              <a:t>The team in Scrum is typically five to ten people, although teams as large as 15 and as small as 3 commonly report benefits. </a:t>
            </a:r>
          </a:p>
          <a:p>
            <a:r>
              <a:rPr lang="en-US" altLang="en-US"/>
              <a:t>The team should include all the expertise necessary to deliver the finished work – so, for example, the team for a software project might include roles ( programmers, interface designers, testers, marketers, and researchers).</a:t>
            </a:r>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A4ADE4-6549-F767-5326-A3D1EB955FB1}"/>
              </a:ext>
            </a:extLst>
          </p:cNvPr>
          <p:cNvSpPr>
            <a:spLocks noGrp="1"/>
          </p:cNvSpPr>
          <p:nvPr>
            <p:ph type="title"/>
          </p:nvPr>
        </p:nvSpPr>
        <p:spPr/>
        <p:txBody>
          <a:bodyPr/>
          <a:lstStyle/>
          <a:p>
            <a:pPr>
              <a:defRPr/>
            </a:pPr>
            <a:r>
              <a:rPr lang="en-US" dirty="0"/>
              <a:t>Scrum Master</a:t>
            </a:r>
            <a:endParaRPr lang="en-US" dirty="0">
              <a:ea typeface="ＭＳ Ｐゴシック" pitchFamily="34" charset="-128"/>
            </a:endParaRPr>
          </a:p>
        </p:txBody>
      </p:sp>
      <p:sp>
        <p:nvSpPr>
          <p:cNvPr id="31747" name="Content Placeholder 3">
            <a:extLst>
              <a:ext uri="{FF2B5EF4-FFF2-40B4-BE49-F238E27FC236}">
                <a16:creationId xmlns:a16="http://schemas.microsoft.com/office/drawing/2014/main" id="{261A45D0-3C80-864B-E207-77249582FFC6}"/>
              </a:ext>
            </a:extLst>
          </p:cNvPr>
          <p:cNvSpPr>
            <a:spLocks noGrp="1"/>
          </p:cNvSpPr>
          <p:nvPr>
            <p:ph idx="1"/>
          </p:nvPr>
        </p:nvSpPr>
        <p:spPr/>
        <p:txBody>
          <a:bodyPr/>
          <a:lstStyle/>
          <a:p>
            <a:r>
              <a:rPr lang="en-US" altLang="en-US"/>
              <a:t>The Scrum Master is tasked with doing whatever is necessary to help the team be successful.</a:t>
            </a:r>
          </a:p>
          <a:p>
            <a:r>
              <a:rPr lang="en-US" altLang="en-US"/>
              <a:t> The Scrum Master is not the manager of the team; he or she serves the team, by helping remove blocks to the team’s success, facilitating meetings, and supporting the practice of Scrum.</a:t>
            </a:r>
          </a:p>
          <a:p>
            <a:r>
              <a:rPr lang="en-US" altLang="en-US"/>
              <a:t> Some teams will have someone dedicated fully to the role of Scrum Master, while others will have a team member play this role (carrying a lighter load of regular work when they do so).</a:t>
            </a:r>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a:extLst>
              <a:ext uri="{FF2B5EF4-FFF2-40B4-BE49-F238E27FC236}">
                <a16:creationId xmlns:a16="http://schemas.microsoft.com/office/drawing/2014/main" id="{C948B03E-7710-1BA3-F9F6-DDE11C046CCD}"/>
              </a:ext>
            </a:extLst>
          </p:cNvPr>
          <p:cNvSpPr>
            <a:spLocks noGrp="1"/>
          </p:cNvSpPr>
          <p:nvPr>
            <p:ph idx="1"/>
          </p:nvPr>
        </p:nvSpPr>
        <p:spPr>
          <a:xfrm>
            <a:off x="539750" y="1654175"/>
            <a:ext cx="8175625" cy="4498975"/>
          </a:xfrm>
        </p:spPr>
        <p:txBody>
          <a:bodyPr/>
          <a:lstStyle/>
          <a:p>
            <a:pPr>
              <a:lnSpc>
                <a:spcPct val="90000"/>
              </a:lnSpc>
            </a:pPr>
            <a:r>
              <a:rPr lang="en-US" altLang="en-US"/>
              <a:t>Great Scrum Masters have come from all backgrounds and disciplines: Project Management, Engineering, Design, Testing. </a:t>
            </a:r>
          </a:p>
          <a:p>
            <a:pPr>
              <a:lnSpc>
                <a:spcPct val="90000"/>
              </a:lnSpc>
            </a:pPr>
            <a:r>
              <a:rPr lang="en-US" altLang="en-US"/>
              <a:t>The Scrum Master and the Product Owner probably shouldn’t be the same individual; at times, the Scrum Master may be called upon to push back on the Product Owner (for example, if they try to introduce new requirements in the middle of a Sprint). </a:t>
            </a:r>
          </a:p>
          <a:p>
            <a:pPr>
              <a:buFont typeface="Wingdings" pitchFamily="2" charset="2"/>
              <a:buNone/>
            </a:pPr>
            <a:endParaRPr lang="en-US" altLang="en-US"/>
          </a:p>
        </p:txBody>
      </p:sp>
      <p:sp>
        <p:nvSpPr>
          <p:cNvPr id="3" name="Title 2">
            <a:extLst>
              <a:ext uri="{FF2B5EF4-FFF2-40B4-BE49-F238E27FC236}">
                <a16:creationId xmlns:a16="http://schemas.microsoft.com/office/drawing/2014/main" id="{9142A09C-3221-EC21-DD52-CD51E0B4E35F}"/>
              </a:ext>
            </a:extLst>
          </p:cNvPr>
          <p:cNvSpPr>
            <a:spLocks noGrp="1"/>
          </p:cNvSpPr>
          <p:nvPr>
            <p:ph type="title"/>
          </p:nvPr>
        </p:nvSpPr>
        <p:spPr/>
        <p:txBody>
          <a:bodyPr/>
          <a:lstStyle/>
          <a:p>
            <a:pPr>
              <a:defRPr/>
            </a:pPr>
            <a:r>
              <a:rPr lang="en-US" dirty="0">
                <a:ea typeface="ＭＳ Ｐゴシック" pitchFamily="34" charset="-128"/>
              </a:rPr>
              <a:t>Scrum Master</a:t>
            </a:r>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147247-790E-A3E8-4ED7-EF9D8F9C5ED9}"/>
              </a:ext>
            </a:extLst>
          </p:cNvPr>
          <p:cNvSpPr>
            <a:spLocks noGrp="1"/>
          </p:cNvSpPr>
          <p:nvPr>
            <p:ph type="title"/>
          </p:nvPr>
        </p:nvSpPr>
        <p:spPr/>
        <p:txBody>
          <a:bodyPr/>
          <a:lstStyle/>
          <a:p>
            <a:r>
              <a:rPr lang="en-US" dirty="0"/>
              <a:t>Product Backlog</a:t>
            </a:r>
          </a:p>
        </p:txBody>
      </p:sp>
      <p:sp>
        <p:nvSpPr>
          <p:cNvPr id="4" name="Slide Number Placeholder 3">
            <a:extLst>
              <a:ext uri="{FF2B5EF4-FFF2-40B4-BE49-F238E27FC236}">
                <a16:creationId xmlns:a16="http://schemas.microsoft.com/office/drawing/2014/main" id="{DA66158F-CAC9-8440-075D-8496EB6C9D95}"/>
              </a:ext>
            </a:extLst>
          </p:cNvPr>
          <p:cNvSpPr>
            <a:spLocks noGrp="1"/>
          </p:cNvSpPr>
          <p:nvPr>
            <p:ph type="sldNum" sz="quarter" idx="2"/>
          </p:nvPr>
        </p:nvSpPr>
        <p:spPr/>
        <p:txBody>
          <a:bodyPr/>
          <a:lstStyle/>
          <a:p>
            <a:fld id="{86CB4B4D-7CA3-9044-876B-883B54F8677D}" type="slidenum">
              <a:rPr lang="en-US" smtClean="0"/>
              <a:t>40</a:t>
            </a:fld>
            <a:endParaRPr lang="en-US" dirty="0"/>
          </a:p>
        </p:txBody>
      </p:sp>
      <p:sp>
        <p:nvSpPr>
          <p:cNvPr id="11" name="TextBox 10">
            <a:extLst>
              <a:ext uri="{FF2B5EF4-FFF2-40B4-BE49-F238E27FC236}">
                <a16:creationId xmlns:a16="http://schemas.microsoft.com/office/drawing/2014/main" id="{EE34F9F7-46E7-4F2F-2E2B-51EC7E821D46}"/>
              </a:ext>
            </a:extLst>
          </p:cNvPr>
          <p:cNvSpPr txBox="1"/>
          <p:nvPr/>
        </p:nvSpPr>
        <p:spPr>
          <a:xfrm>
            <a:off x="457200" y="1582341"/>
            <a:ext cx="8229600" cy="4154984"/>
          </a:xfrm>
          <a:prstGeom prst="rect">
            <a:avLst/>
          </a:prstGeom>
          <a:noFill/>
        </p:spPr>
        <p:txBody>
          <a:bodyPr wrap="square">
            <a:spAutoFit/>
          </a:bodyPr>
          <a:lstStyle/>
          <a:p>
            <a:pPr marL="285750" indent="-285750">
              <a:buFont typeface="Arial" panose="020B0604020202020204" pitchFamily="34" charset="0"/>
              <a:buChar char="•"/>
            </a:pPr>
            <a:r>
              <a:rPr lang="en-US" sz="2400" dirty="0"/>
              <a:t>The product backlog is a list of what needs to be done to complete the development of the product. </a:t>
            </a:r>
          </a:p>
          <a:p>
            <a:pPr marL="285750" indent="-285750">
              <a:buFont typeface="Arial" panose="020B0604020202020204" pitchFamily="34" charset="0"/>
              <a:buChar char="•"/>
            </a:pPr>
            <a:r>
              <a:rPr lang="en-US" sz="2400" dirty="0"/>
              <a:t>The items on this list are called product backlog items (PBIs). </a:t>
            </a:r>
          </a:p>
          <a:p>
            <a:pPr marL="285750" indent="-285750">
              <a:buFont typeface="Arial" panose="020B0604020202020204" pitchFamily="34" charset="0"/>
              <a:buChar char="•"/>
            </a:pPr>
            <a:r>
              <a:rPr lang="en-US" sz="2400" dirty="0"/>
              <a:t>The product backlog may include a variety of different items such as product features to be implemented, user requests, essential development activities and desirable engineering improvements.  </a:t>
            </a:r>
          </a:p>
          <a:p>
            <a:pPr marL="285750" indent="-285750">
              <a:buFont typeface="Arial" panose="020B0604020202020204" pitchFamily="34" charset="0"/>
              <a:buChar char="•"/>
            </a:pPr>
            <a:r>
              <a:rPr lang="en-US" sz="2400" dirty="0"/>
              <a:t>The product backlog should always be prioritized so that the items that be implemented first are at the top of the list.  </a:t>
            </a:r>
          </a:p>
        </p:txBody>
      </p:sp>
    </p:spTree>
    <p:extLst>
      <p:ext uri="{BB962C8B-B14F-4D97-AF65-F5344CB8AC3E}">
        <p14:creationId xmlns:p14="http://schemas.microsoft.com/office/powerpoint/2010/main" val="477002171"/>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DFC30-FEFF-5963-D181-418C203A5196}"/>
              </a:ext>
            </a:extLst>
          </p:cNvPr>
          <p:cNvSpPr>
            <a:spLocks noGrp="1"/>
          </p:cNvSpPr>
          <p:nvPr>
            <p:ph type="title"/>
          </p:nvPr>
        </p:nvSpPr>
        <p:spPr/>
        <p:txBody>
          <a:bodyPr/>
          <a:lstStyle/>
          <a:p>
            <a:r>
              <a:rPr lang="en-US" dirty="0"/>
              <a:t>Product Backlogs Entries (Examples)</a:t>
            </a:r>
          </a:p>
        </p:txBody>
      </p:sp>
      <p:sp>
        <p:nvSpPr>
          <p:cNvPr id="3" name="Content Placeholder 2">
            <a:extLst>
              <a:ext uri="{FF2B5EF4-FFF2-40B4-BE49-F238E27FC236}">
                <a16:creationId xmlns:a16="http://schemas.microsoft.com/office/drawing/2014/main" id="{AE8B0516-AB00-6E6A-2253-8F50268BAEF3}"/>
              </a:ext>
            </a:extLst>
          </p:cNvPr>
          <p:cNvSpPr>
            <a:spLocks noGrp="1"/>
          </p:cNvSpPr>
          <p:nvPr>
            <p:ph idx="1"/>
          </p:nvPr>
        </p:nvSpPr>
        <p:spPr/>
        <p:txBody>
          <a:bodyPr/>
          <a:lstStyle/>
          <a:p>
            <a:r>
              <a:rPr lang="en-US" sz="2000" i="1" dirty="0"/>
              <a:t>As a teacher, I want to be able to configure the group of tools that are available to individual classes. (feature)</a:t>
            </a:r>
          </a:p>
          <a:p>
            <a:r>
              <a:rPr lang="en-US" sz="2000" i="1" dirty="0"/>
              <a:t>As a parent, I want to be able to view my </a:t>
            </a:r>
            <a:r>
              <a:rPr lang="en-US" sz="2000" i="1" dirty="0" err="1"/>
              <a:t>childrens’</a:t>
            </a:r>
            <a:r>
              <a:rPr lang="en-US" sz="2000" i="1" dirty="0"/>
              <a:t> work and the assessments made by their teachers. (feature)</a:t>
            </a:r>
          </a:p>
          <a:p>
            <a:r>
              <a:rPr lang="en-US" sz="2000" i="1" dirty="0"/>
              <a:t>Establish criteria for the assessment of open source software that might be used as a basis for parts of this system. (development activity)</a:t>
            </a:r>
          </a:p>
          <a:p>
            <a:r>
              <a:rPr lang="en-US" sz="2000" i="1" dirty="0"/>
              <a:t>Refactor user interface code to improve understandability and performance. (engineering improvement)</a:t>
            </a:r>
          </a:p>
          <a:p>
            <a:r>
              <a:rPr lang="en-US" sz="2000" i="1" dirty="0"/>
              <a:t>Implement encryption for all personal user data. (engineering improvement)</a:t>
            </a:r>
          </a:p>
          <a:p>
            <a:pPr marL="0" indent="0">
              <a:spcBef>
                <a:spcPts val="0"/>
              </a:spcBef>
              <a:buNone/>
            </a:pPr>
            <a:endParaRPr lang="en-US" sz="1200" dirty="0"/>
          </a:p>
        </p:txBody>
      </p:sp>
      <p:sp>
        <p:nvSpPr>
          <p:cNvPr id="4" name="Date Placeholder 3">
            <a:extLst>
              <a:ext uri="{FF2B5EF4-FFF2-40B4-BE49-F238E27FC236}">
                <a16:creationId xmlns:a16="http://schemas.microsoft.com/office/drawing/2014/main" id="{73E658A5-DC58-59CD-D3F0-1A02FFF9C383}"/>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EAD11202-2D41-9522-56F4-F28DBCED5FB0}"/>
              </a:ext>
            </a:extLst>
          </p:cNvPr>
          <p:cNvSpPr>
            <a:spLocks noGrp="1"/>
          </p:cNvSpPr>
          <p:nvPr>
            <p:ph type="ftr" sz="quarter" idx="11"/>
          </p:nvPr>
        </p:nvSpPr>
        <p:spPr/>
        <p:txBody>
          <a:bodyPr/>
          <a:lstStyle/>
          <a:p>
            <a:pPr>
              <a:defRPr/>
            </a:pPr>
            <a:r>
              <a:rPr lang="en-US"/>
              <a:t>Chapter 3 Agile Software Development</a:t>
            </a:r>
          </a:p>
        </p:txBody>
      </p:sp>
      <p:sp>
        <p:nvSpPr>
          <p:cNvPr id="6" name="Slide Number Placeholder 5">
            <a:extLst>
              <a:ext uri="{FF2B5EF4-FFF2-40B4-BE49-F238E27FC236}">
                <a16:creationId xmlns:a16="http://schemas.microsoft.com/office/drawing/2014/main" id="{35C56A71-2FA9-0B9B-9AAF-F1251F6699BB}"/>
              </a:ext>
            </a:extLst>
          </p:cNvPr>
          <p:cNvSpPr>
            <a:spLocks noGrp="1"/>
          </p:cNvSpPr>
          <p:nvPr>
            <p:ph type="sldNum" sz="quarter" idx="12"/>
          </p:nvPr>
        </p:nvSpPr>
        <p:spPr/>
        <p:txBody>
          <a:bodyPr/>
          <a:lstStyle/>
          <a:p>
            <a:pPr>
              <a:defRPr/>
            </a:pPr>
            <a:fld id="{EAB5BBF0-B782-3644-AFE1-10103AC25370}" type="slidenum">
              <a:rPr lang="en-US" smtClean="0"/>
              <a:pPr>
                <a:defRPr/>
              </a:pPr>
              <a:t>41</a:t>
            </a:fld>
            <a:endParaRPr lang="en-US"/>
          </a:p>
        </p:txBody>
      </p:sp>
    </p:spTree>
    <p:extLst>
      <p:ext uri="{BB962C8B-B14F-4D97-AF65-F5344CB8AC3E}">
        <p14:creationId xmlns:p14="http://schemas.microsoft.com/office/powerpoint/2010/main" val="1856137201"/>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8BC3F-6F48-35F8-6012-9A16D3837EBF}"/>
              </a:ext>
            </a:extLst>
          </p:cNvPr>
          <p:cNvSpPr>
            <a:spLocks noGrp="1"/>
          </p:cNvSpPr>
          <p:nvPr>
            <p:ph type="title"/>
          </p:nvPr>
        </p:nvSpPr>
        <p:spPr/>
        <p:txBody>
          <a:bodyPr/>
          <a:lstStyle/>
          <a:p>
            <a:r>
              <a:rPr lang="en-US" dirty="0"/>
              <a:t>Product Backlog Item States (Typical)</a:t>
            </a:r>
          </a:p>
        </p:txBody>
      </p:sp>
      <p:sp>
        <p:nvSpPr>
          <p:cNvPr id="3" name="Content Placeholder 2">
            <a:extLst>
              <a:ext uri="{FF2B5EF4-FFF2-40B4-BE49-F238E27FC236}">
                <a16:creationId xmlns:a16="http://schemas.microsoft.com/office/drawing/2014/main" id="{08FE2F63-D185-FBC2-E8F4-753FF4E73BCB}"/>
              </a:ext>
            </a:extLst>
          </p:cNvPr>
          <p:cNvSpPr>
            <a:spLocks noGrp="1"/>
          </p:cNvSpPr>
          <p:nvPr>
            <p:ph idx="1"/>
          </p:nvPr>
        </p:nvSpPr>
        <p:spPr/>
        <p:txBody>
          <a:bodyPr/>
          <a:lstStyle/>
          <a:p>
            <a:r>
              <a:rPr lang="en-US" sz="2000" b="1" i="1" dirty="0"/>
              <a:t>Ready for consideration</a:t>
            </a:r>
            <a:r>
              <a:rPr lang="en-US" sz="2000" dirty="0"/>
              <a:t>	</a:t>
            </a:r>
            <a:br>
              <a:rPr lang="en-US" sz="2000" dirty="0"/>
            </a:br>
            <a:r>
              <a:rPr lang="en-US" sz="2000" dirty="0"/>
              <a:t>These are high-level ideas and feature descriptions that will be 		considered for inclusion in the product. They are tentative so may radically change or may not be included in the final product.</a:t>
            </a:r>
          </a:p>
          <a:p>
            <a:r>
              <a:rPr lang="en-US" sz="2000" b="1" i="1" dirty="0"/>
              <a:t>Ready for refinement</a:t>
            </a:r>
            <a:r>
              <a:rPr lang="en-US" sz="2000" dirty="0"/>
              <a:t>	</a:t>
            </a:r>
            <a:br>
              <a:rPr lang="en-US" sz="2000" dirty="0"/>
            </a:br>
            <a:r>
              <a:rPr lang="en-US" sz="2000" dirty="0"/>
              <a:t>The team has agreed that this is an important item that should be 		implemented as part of the current development. There is a reasonably clear definition of what is required. However, work is needed to understand and refine the item.</a:t>
            </a:r>
          </a:p>
          <a:p>
            <a:r>
              <a:rPr lang="en-US" sz="2000" b="1" i="1" dirty="0"/>
              <a:t>Ready for implementation	</a:t>
            </a:r>
            <a:br>
              <a:rPr lang="en-US" sz="2000" dirty="0"/>
            </a:br>
            <a:r>
              <a:rPr lang="en-US" sz="2000" dirty="0"/>
              <a:t>The PBI has enough detail for the team to estimate the effort involved and to implement the item. Dependencies on other items have been identified.</a:t>
            </a:r>
          </a:p>
          <a:p>
            <a:pPr marL="0" indent="0">
              <a:buNone/>
            </a:pPr>
            <a:endParaRPr lang="en-US" sz="2000" dirty="0"/>
          </a:p>
        </p:txBody>
      </p:sp>
      <p:sp>
        <p:nvSpPr>
          <p:cNvPr id="4" name="Date Placeholder 3">
            <a:extLst>
              <a:ext uri="{FF2B5EF4-FFF2-40B4-BE49-F238E27FC236}">
                <a16:creationId xmlns:a16="http://schemas.microsoft.com/office/drawing/2014/main" id="{85C302FB-0B04-DE58-42A3-5B143D075494}"/>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BE8FFA0B-B6CD-83B2-35C9-2C3A68F6B363}"/>
              </a:ext>
            </a:extLst>
          </p:cNvPr>
          <p:cNvSpPr>
            <a:spLocks noGrp="1"/>
          </p:cNvSpPr>
          <p:nvPr>
            <p:ph type="ftr" sz="quarter" idx="11"/>
          </p:nvPr>
        </p:nvSpPr>
        <p:spPr/>
        <p:txBody>
          <a:bodyPr/>
          <a:lstStyle/>
          <a:p>
            <a:pPr>
              <a:defRPr/>
            </a:pPr>
            <a:r>
              <a:rPr lang="en-US"/>
              <a:t>Chapter 3 Agile Software Development</a:t>
            </a:r>
          </a:p>
        </p:txBody>
      </p:sp>
      <p:sp>
        <p:nvSpPr>
          <p:cNvPr id="6" name="Slide Number Placeholder 5">
            <a:extLst>
              <a:ext uri="{FF2B5EF4-FFF2-40B4-BE49-F238E27FC236}">
                <a16:creationId xmlns:a16="http://schemas.microsoft.com/office/drawing/2014/main" id="{9FE797D3-F203-C9FA-3D23-4843F165E09D}"/>
              </a:ext>
            </a:extLst>
          </p:cNvPr>
          <p:cNvSpPr>
            <a:spLocks noGrp="1"/>
          </p:cNvSpPr>
          <p:nvPr>
            <p:ph type="sldNum" sz="quarter" idx="12"/>
          </p:nvPr>
        </p:nvSpPr>
        <p:spPr/>
        <p:txBody>
          <a:bodyPr/>
          <a:lstStyle/>
          <a:p>
            <a:pPr>
              <a:defRPr/>
            </a:pPr>
            <a:fld id="{EAB5BBF0-B782-3644-AFE1-10103AC25370}" type="slidenum">
              <a:rPr lang="en-US" smtClean="0"/>
              <a:pPr>
                <a:defRPr/>
              </a:pPr>
              <a:t>42</a:t>
            </a:fld>
            <a:endParaRPr lang="en-US"/>
          </a:p>
        </p:txBody>
      </p:sp>
    </p:spTree>
    <p:extLst>
      <p:ext uri="{BB962C8B-B14F-4D97-AF65-F5344CB8AC3E}">
        <p14:creationId xmlns:p14="http://schemas.microsoft.com/office/powerpoint/2010/main" val="1917760522"/>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F6A8E-27BD-677A-CF55-7C54B3213D63}"/>
              </a:ext>
            </a:extLst>
          </p:cNvPr>
          <p:cNvSpPr>
            <a:spLocks noGrp="1"/>
          </p:cNvSpPr>
          <p:nvPr>
            <p:ph type="title"/>
          </p:nvPr>
        </p:nvSpPr>
        <p:spPr/>
        <p:txBody>
          <a:bodyPr/>
          <a:lstStyle/>
          <a:p>
            <a:r>
              <a:rPr lang="en-US" dirty="0"/>
              <a:t>Product Backlog Activities</a:t>
            </a:r>
          </a:p>
        </p:txBody>
      </p:sp>
      <p:sp>
        <p:nvSpPr>
          <p:cNvPr id="4" name="Date Placeholder 3">
            <a:extLst>
              <a:ext uri="{FF2B5EF4-FFF2-40B4-BE49-F238E27FC236}">
                <a16:creationId xmlns:a16="http://schemas.microsoft.com/office/drawing/2014/main" id="{DF70D38C-2634-9808-C88D-3096B05E3F2D}"/>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7B2A38B5-DFDC-7D21-C17F-74BA32A36A78}"/>
              </a:ext>
            </a:extLst>
          </p:cNvPr>
          <p:cNvSpPr>
            <a:spLocks noGrp="1"/>
          </p:cNvSpPr>
          <p:nvPr>
            <p:ph type="ftr" sz="quarter" idx="11"/>
          </p:nvPr>
        </p:nvSpPr>
        <p:spPr/>
        <p:txBody>
          <a:bodyPr/>
          <a:lstStyle/>
          <a:p>
            <a:pPr>
              <a:defRPr/>
            </a:pPr>
            <a:r>
              <a:rPr lang="en-US"/>
              <a:t>Chapter 3 Agile Software Development</a:t>
            </a:r>
          </a:p>
        </p:txBody>
      </p:sp>
      <p:sp>
        <p:nvSpPr>
          <p:cNvPr id="6" name="Slide Number Placeholder 5">
            <a:extLst>
              <a:ext uri="{FF2B5EF4-FFF2-40B4-BE49-F238E27FC236}">
                <a16:creationId xmlns:a16="http://schemas.microsoft.com/office/drawing/2014/main" id="{3CE86428-2120-A1BD-7275-105A4419338F}"/>
              </a:ext>
            </a:extLst>
          </p:cNvPr>
          <p:cNvSpPr>
            <a:spLocks noGrp="1"/>
          </p:cNvSpPr>
          <p:nvPr>
            <p:ph type="sldNum" sz="quarter" idx="12"/>
          </p:nvPr>
        </p:nvSpPr>
        <p:spPr/>
        <p:txBody>
          <a:bodyPr/>
          <a:lstStyle/>
          <a:p>
            <a:pPr>
              <a:defRPr/>
            </a:pPr>
            <a:fld id="{EAB5BBF0-B782-3644-AFE1-10103AC25370}" type="slidenum">
              <a:rPr lang="en-US" smtClean="0"/>
              <a:pPr>
                <a:defRPr/>
              </a:pPr>
              <a:t>43</a:t>
            </a:fld>
            <a:endParaRPr lang="en-US"/>
          </a:p>
        </p:txBody>
      </p:sp>
      <p:pic>
        <p:nvPicPr>
          <p:cNvPr id="7" name="Content Placeholder 6">
            <a:extLst>
              <a:ext uri="{FF2B5EF4-FFF2-40B4-BE49-F238E27FC236}">
                <a16:creationId xmlns:a16="http://schemas.microsoft.com/office/drawing/2014/main" id="{BCC25581-0210-B4B6-358F-347AE649E15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6470" t="8757" r="13959" b="50730"/>
          <a:stretch/>
        </p:blipFill>
        <p:spPr>
          <a:xfrm>
            <a:off x="1268353" y="1459109"/>
            <a:ext cx="6482079" cy="5124253"/>
          </a:xfrm>
          <a:prstGeom prst="rect">
            <a:avLst/>
          </a:prstGeom>
        </p:spPr>
      </p:pic>
    </p:spTree>
    <p:extLst>
      <p:ext uri="{BB962C8B-B14F-4D97-AF65-F5344CB8AC3E}">
        <p14:creationId xmlns:p14="http://schemas.microsoft.com/office/powerpoint/2010/main" val="420719712"/>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7CA22D-AF4C-B142-7CF0-07B2F229C5F3}"/>
              </a:ext>
            </a:extLst>
          </p:cNvPr>
          <p:cNvSpPr>
            <a:spLocks noGrp="1"/>
          </p:cNvSpPr>
          <p:nvPr>
            <p:ph type="title"/>
          </p:nvPr>
        </p:nvSpPr>
        <p:spPr/>
        <p:txBody>
          <a:bodyPr/>
          <a:lstStyle/>
          <a:p>
            <a:pPr>
              <a:defRPr/>
            </a:pPr>
            <a:r>
              <a:rPr lang="en-US" dirty="0">
                <a:ea typeface="ＭＳ Ｐゴシック" pitchFamily="34" charset="-128"/>
              </a:rPr>
              <a:t>Product Backlog (Example)</a:t>
            </a:r>
          </a:p>
        </p:txBody>
      </p:sp>
      <p:pic>
        <p:nvPicPr>
          <p:cNvPr id="34819" name="Picture 4">
            <a:extLst>
              <a:ext uri="{FF2B5EF4-FFF2-40B4-BE49-F238E27FC236}">
                <a16:creationId xmlns:a16="http://schemas.microsoft.com/office/drawing/2014/main" id="{465F4880-91F0-45B3-8982-D8882FF3EDD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7793" t="18806" r="20280" b="17677"/>
          <a:stretch>
            <a:fillRect/>
          </a:stretch>
        </p:blipFill>
        <p:spPr>
          <a:xfrm>
            <a:off x="714375" y="1714500"/>
            <a:ext cx="7143750" cy="4714875"/>
          </a:xfrm>
          <a:noFill/>
        </p:spPr>
      </p:pic>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A24192C8-5D22-BD5A-C7C6-ABAC1CD0A64A}"/>
              </a:ext>
            </a:extLst>
          </p:cNvPr>
          <p:cNvSpPr>
            <a:spLocks noGrp="1"/>
          </p:cNvSpPr>
          <p:nvPr>
            <p:ph idx="1"/>
          </p:nvPr>
        </p:nvSpPr>
        <p:spPr/>
        <p:txBody>
          <a:bodyPr/>
          <a:lstStyle/>
          <a:p>
            <a:pPr marL="457200" indent="-457200"/>
            <a:r>
              <a:rPr lang="en-US" altLang="en-US"/>
              <a:t> In the first part of the Sprint Planning Meeting, the Product Owner and Scrum Team (with facilitation from the Scrum Master) review the Product Backlog, discussing the goals and context for the items on the Backlog, and providing the Scrum Team with insight into the Product Owner’s thinking.</a:t>
            </a:r>
          </a:p>
          <a:p>
            <a:pPr marL="457200" indent="-457200"/>
            <a:r>
              <a:rPr lang="en-US" altLang="en-US"/>
              <a:t> In the second part of the meeting, the Scrum Team selects the items from the Product Backlog to commit to complete by the end of the Sprint, starting at the top of the Product Backlog (in others words, starting with the items that are the highest priority for the Product Owner) and working down the list in order. </a:t>
            </a:r>
          </a:p>
          <a:p>
            <a:pPr marL="457200" indent="-457200">
              <a:buFont typeface="Wingdings" pitchFamily="2" charset="2"/>
              <a:buNone/>
            </a:pPr>
            <a:r>
              <a:rPr lang="en-US" altLang="en-US"/>
              <a:t>; </a:t>
            </a:r>
          </a:p>
        </p:txBody>
      </p:sp>
      <p:sp>
        <p:nvSpPr>
          <p:cNvPr id="3" name="Title 2">
            <a:extLst>
              <a:ext uri="{FF2B5EF4-FFF2-40B4-BE49-F238E27FC236}">
                <a16:creationId xmlns:a16="http://schemas.microsoft.com/office/drawing/2014/main" id="{BDC1655A-7651-87B8-3081-B12C8610197F}"/>
              </a:ext>
            </a:extLst>
          </p:cNvPr>
          <p:cNvSpPr>
            <a:spLocks noGrp="1"/>
          </p:cNvSpPr>
          <p:nvPr>
            <p:ph type="title"/>
          </p:nvPr>
        </p:nvSpPr>
        <p:spPr/>
        <p:txBody>
          <a:bodyPr/>
          <a:lstStyle/>
          <a:p>
            <a:pPr>
              <a:defRPr/>
            </a:pPr>
            <a:r>
              <a:rPr lang="en-US" dirty="0"/>
              <a:t>Sprint Planning Meeting </a:t>
            </a:r>
            <a:endParaRPr lang="en-US" dirty="0">
              <a:ea typeface="ＭＳ Ｐゴシック" pitchFamily="34" charset="-128"/>
            </a:endParaRPr>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a:extLst>
              <a:ext uri="{FF2B5EF4-FFF2-40B4-BE49-F238E27FC236}">
                <a16:creationId xmlns:a16="http://schemas.microsoft.com/office/drawing/2014/main" id="{FED2C4ED-E44C-C6E9-8C68-591C3FF530AC}"/>
              </a:ext>
            </a:extLst>
          </p:cNvPr>
          <p:cNvSpPr>
            <a:spLocks noGrp="1"/>
          </p:cNvSpPr>
          <p:nvPr>
            <p:ph idx="1"/>
          </p:nvPr>
        </p:nvSpPr>
        <p:spPr/>
        <p:txBody>
          <a:bodyPr/>
          <a:lstStyle/>
          <a:p>
            <a:pPr marL="457200" indent="-457200"/>
            <a:r>
              <a:rPr lang="en-US" altLang="en-US"/>
              <a:t>This is one of the key practices in Scrum: the team decides how much work they will commit to complete, rather than having it assigned to them by the Product Owner. This makes for a much more reliable commitment</a:t>
            </a:r>
            <a:endParaRPr lang="en-US" altLang="en-US" b="1">
              <a:solidFill>
                <a:srgbClr val="C00000"/>
              </a:solidFill>
            </a:endParaRPr>
          </a:p>
          <a:p>
            <a:pPr marL="457200" indent="-457200"/>
            <a:r>
              <a:rPr lang="en-US" altLang="en-US"/>
              <a:t> The Sprint Planning meeting will often last a number of hours </a:t>
            </a:r>
          </a:p>
          <a:p>
            <a:pPr marL="457200" indent="-457200"/>
            <a:r>
              <a:rPr lang="en-US" altLang="en-US"/>
              <a:t> the team is making a very serious commitment to complete the work, and this commitment requires careful thought to be successful. </a:t>
            </a:r>
          </a:p>
          <a:p>
            <a:pPr marL="457200" indent="-457200">
              <a:buFont typeface="Wingdings" pitchFamily="2" charset="2"/>
              <a:buNone/>
            </a:pPr>
            <a:r>
              <a:rPr lang="en-US" altLang="en-US"/>
              <a:t>       </a:t>
            </a:r>
          </a:p>
        </p:txBody>
      </p:sp>
      <p:sp>
        <p:nvSpPr>
          <p:cNvPr id="3" name="Title 2">
            <a:extLst>
              <a:ext uri="{FF2B5EF4-FFF2-40B4-BE49-F238E27FC236}">
                <a16:creationId xmlns:a16="http://schemas.microsoft.com/office/drawing/2014/main" id="{98CB65C1-289E-512B-C43E-7C9DD5D4C978}"/>
              </a:ext>
            </a:extLst>
          </p:cNvPr>
          <p:cNvSpPr>
            <a:spLocks noGrp="1"/>
          </p:cNvSpPr>
          <p:nvPr>
            <p:ph type="title"/>
          </p:nvPr>
        </p:nvSpPr>
        <p:spPr/>
        <p:txBody>
          <a:bodyPr/>
          <a:lstStyle/>
          <a:p>
            <a:pPr>
              <a:defRPr/>
            </a:pPr>
            <a:r>
              <a:rPr lang="en-US" dirty="0"/>
              <a:t>Sprint Planning Meeting </a:t>
            </a:r>
            <a:endParaRPr lang="en-US" dirty="0">
              <a:ea typeface="ＭＳ Ｐゴシック" pitchFamily="34" charset="-128"/>
            </a:endParaRPr>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a:extLst>
              <a:ext uri="{FF2B5EF4-FFF2-40B4-BE49-F238E27FC236}">
                <a16:creationId xmlns:a16="http://schemas.microsoft.com/office/drawing/2014/main" id="{DD3F95CF-6957-1E94-9B18-D0CCF2D20858}"/>
              </a:ext>
            </a:extLst>
          </p:cNvPr>
          <p:cNvSpPr>
            <a:spLocks noGrp="1"/>
          </p:cNvSpPr>
          <p:nvPr>
            <p:ph idx="1"/>
          </p:nvPr>
        </p:nvSpPr>
        <p:spPr/>
        <p:txBody>
          <a:bodyPr/>
          <a:lstStyle/>
          <a:p>
            <a:r>
              <a:rPr lang="en-US" altLang="en-US"/>
              <a:t>The team will begin by estimating how much time each member has for Sprint-related work – in other words, their average workday minus the time they spend doing things like critical bug-fixes and other maintenance, attending meetings, doing email, taking lunch breaks, and so on. For most people this works out to 4-6 hours of time per day available for Sprint-related work. (Figure 3.)</a:t>
            </a:r>
          </a:p>
        </p:txBody>
      </p:sp>
      <p:sp>
        <p:nvSpPr>
          <p:cNvPr id="3" name="Title 2">
            <a:extLst>
              <a:ext uri="{FF2B5EF4-FFF2-40B4-BE49-F238E27FC236}">
                <a16:creationId xmlns:a16="http://schemas.microsoft.com/office/drawing/2014/main" id="{12CA72E6-FE44-9C2D-3918-843B3E1B8E70}"/>
              </a:ext>
            </a:extLst>
          </p:cNvPr>
          <p:cNvSpPr>
            <a:spLocks noGrp="1"/>
          </p:cNvSpPr>
          <p:nvPr>
            <p:ph type="title"/>
          </p:nvPr>
        </p:nvSpPr>
        <p:spPr/>
        <p:txBody>
          <a:bodyPr/>
          <a:lstStyle/>
          <a:p>
            <a:pPr>
              <a:defRPr/>
            </a:pPr>
            <a:r>
              <a:rPr lang="en-US" dirty="0"/>
              <a:t>Sprint Planning Meeting </a:t>
            </a:r>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1F014B-2C15-757D-65D1-94BEF4621A09}"/>
              </a:ext>
            </a:extLst>
          </p:cNvPr>
          <p:cNvSpPr>
            <a:spLocks noGrp="1"/>
          </p:cNvSpPr>
          <p:nvPr>
            <p:ph type="title"/>
          </p:nvPr>
        </p:nvSpPr>
        <p:spPr/>
        <p:txBody>
          <a:bodyPr/>
          <a:lstStyle/>
          <a:p>
            <a:pPr>
              <a:defRPr/>
            </a:pPr>
            <a:r>
              <a:rPr lang="en-US" dirty="0"/>
              <a:t>Sprint Planning Meeting </a:t>
            </a:r>
            <a:endParaRPr lang="en-US" dirty="0">
              <a:ea typeface="ＭＳ Ｐゴシック" pitchFamily="34" charset="-128"/>
            </a:endParaRPr>
          </a:p>
        </p:txBody>
      </p:sp>
      <p:pic>
        <p:nvPicPr>
          <p:cNvPr id="38915" name="Picture 4">
            <a:extLst>
              <a:ext uri="{FF2B5EF4-FFF2-40B4-BE49-F238E27FC236}">
                <a16:creationId xmlns:a16="http://schemas.microsoft.com/office/drawing/2014/main" id="{7517A00D-F49E-78EF-6CD4-8489369A882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3942" t="36275" r="15794" b="16090"/>
          <a:stretch>
            <a:fillRect/>
          </a:stretch>
        </p:blipFill>
        <p:spPr>
          <a:xfrm>
            <a:off x="642938" y="1643063"/>
            <a:ext cx="7715250" cy="3786187"/>
          </a:xfrm>
          <a:noFill/>
        </p:spPr>
      </p:pic>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1">
            <a:extLst>
              <a:ext uri="{FF2B5EF4-FFF2-40B4-BE49-F238E27FC236}">
                <a16:creationId xmlns:a16="http://schemas.microsoft.com/office/drawing/2014/main" id="{1E16864E-3A9B-70FC-9F22-B0F35CF08055}"/>
              </a:ext>
            </a:extLst>
          </p:cNvPr>
          <p:cNvSpPr>
            <a:spLocks noGrp="1"/>
          </p:cNvSpPr>
          <p:nvPr>
            <p:ph idx="1"/>
          </p:nvPr>
        </p:nvSpPr>
        <p:spPr/>
        <p:txBody>
          <a:bodyPr/>
          <a:lstStyle/>
          <a:p>
            <a:pPr marL="457200" indent="-457200"/>
            <a:r>
              <a:rPr lang="en-US" altLang="en-US" dirty="0"/>
              <a:t>Once the time available is determined, the team starts with the first item on the Product Backlog </a:t>
            </a:r>
          </a:p>
          <a:p>
            <a:pPr marL="457200" indent="-457200"/>
            <a:r>
              <a:rPr lang="en-US" altLang="en-US" dirty="0"/>
              <a:t>In other words, the Product Owner’s highest priority item – and working together, breaks it down into individual tasks, which are recorded in a document called the Sprint Backlog (Figure 4). </a:t>
            </a:r>
          </a:p>
          <a:p>
            <a:pPr marL="457200" indent="-457200"/>
            <a:r>
              <a:rPr lang="en-US" altLang="en-US" dirty="0"/>
              <a:t>At the end of the meeting, the team will have produced a list of all the tasks, and for each task who has signed up to complete it and how much time they estimate it will take (typically in hours or fractions of a day).</a:t>
            </a:r>
          </a:p>
        </p:txBody>
      </p:sp>
      <p:sp>
        <p:nvSpPr>
          <p:cNvPr id="3" name="Title 2">
            <a:extLst>
              <a:ext uri="{FF2B5EF4-FFF2-40B4-BE49-F238E27FC236}">
                <a16:creationId xmlns:a16="http://schemas.microsoft.com/office/drawing/2014/main" id="{89AC359A-F445-2D55-EB63-D7BAEADF8A25}"/>
              </a:ext>
            </a:extLst>
          </p:cNvPr>
          <p:cNvSpPr>
            <a:spLocks noGrp="1"/>
          </p:cNvSpPr>
          <p:nvPr>
            <p:ph type="title"/>
          </p:nvPr>
        </p:nvSpPr>
        <p:spPr/>
        <p:txBody>
          <a:bodyPr/>
          <a:lstStyle/>
          <a:p>
            <a:pPr>
              <a:defRPr/>
            </a:pPr>
            <a:r>
              <a:rPr lang="en-US" dirty="0"/>
              <a:t>Sprint backlog</a:t>
            </a:r>
            <a:endParaRPr lang="en-US" dirty="0">
              <a:ea typeface="ＭＳ Ｐゴシック" pitchFamily="34" charset="-128"/>
            </a:endParaRPr>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BA6328-90AE-3894-3654-BD909D1319C4}"/>
              </a:ext>
            </a:extLst>
          </p:cNvPr>
          <p:cNvSpPr>
            <a:spLocks noGrp="1"/>
          </p:cNvSpPr>
          <p:nvPr>
            <p:ph type="title"/>
          </p:nvPr>
        </p:nvSpPr>
        <p:spPr/>
        <p:txBody>
          <a:bodyPr/>
          <a:lstStyle/>
          <a:p>
            <a:pPr>
              <a:defRPr/>
            </a:pPr>
            <a:r>
              <a:rPr lang="en-US" dirty="0"/>
              <a:t>Sprint backlog</a:t>
            </a:r>
            <a:endParaRPr lang="en-US" dirty="0">
              <a:ea typeface="ＭＳ Ｐゴシック" pitchFamily="34" charset="-128"/>
            </a:endParaRPr>
          </a:p>
        </p:txBody>
      </p:sp>
      <p:pic>
        <p:nvPicPr>
          <p:cNvPr id="40963" name="Picture 4">
            <a:extLst>
              <a:ext uri="{FF2B5EF4-FFF2-40B4-BE49-F238E27FC236}">
                <a16:creationId xmlns:a16="http://schemas.microsoft.com/office/drawing/2014/main" id="{C0E69F4A-7210-A6C8-DE17-C44D441CDF8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8336" t="36275" r="10753" b="17677"/>
          <a:stretch>
            <a:fillRect/>
          </a:stretch>
        </p:blipFill>
        <p:spPr>
          <a:xfrm>
            <a:off x="642938" y="1785938"/>
            <a:ext cx="7643812" cy="4214812"/>
          </a:xfrm>
          <a:noFill/>
        </p:spPr>
      </p:pic>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8AA319-9CAC-F1A9-41C5-369DEBECACDB}"/>
              </a:ext>
            </a:extLst>
          </p:cNvPr>
          <p:cNvSpPr>
            <a:spLocks noGrp="1"/>
          </p:cNvSpPr>
          <p:nvPr>
            <p:ph type="title"/>
          </p:nvPr>
        </p:nvSpPr>
        <p:spPr/>
        <p:txBody>
          <a:bodyPr/>
          <a:lstStyle/>
          <a:p>
            <a:pPr>
              <a:defRPr/>
            </a:pPr>
            <a:r>
              <a:rPr lang="en-US" dirty="0"/>
              <a:t>Scrum Change</a:t>
            </a:r>
          </a:p>
        </p:txBody>
      </p:sp>
      <p:sp>
        <p:nvSpPr>
          <p:cNvPr id="41987" name="Content Placeholder 3">
            <a:extLst>
              <a:ext uri="{FF2B5EF4-FFF2-40B4-BE49-F238E27FC236}">
                <a16:creationId xmlns:a16="http://schemas.microsoft.com/office/drawing/2014/main" id="{EE933447-633D-D58C-B009-6D26028981A9}"/>
              </a:ext>
            </a:extLst>
          </p:cNvPr>
          <p:cNvSpPr>
            <a:spLocks noGrp="1"/>
          </p:cNvSpPr>
          <p:nvPr>
            <p:ph idx="1"/>
          </p:nvPr>
        </p:nvSpPr>
        <p:spPr/>
        <p:txBody>
          <a:bodyPr/>
          <a:lstStyle/>
          <a:p>
            <a:r>
              <a:rPr lang="en-US" altLang="en-US" dirty="0"/>
              <a:t>One of the key pillars of Scrum is that once the Scrum Team makes its commitment, the Product Owner cannot add new requests during the course of the Sprint. </a:t>
            </a:r>
          </a:p>
          <a:p>
            <a:pPr lvl="1"/>
            <a:r>
              <a:rPr lang="en-US" altLang="en-US" dirty="0"/>
              <a:t>This means that even if halfway through the Sprint the Product Owner decides that they want to add something new, he or she cannot make changes until the start of the next Sprint. </a:t>
            </a:r>
          </a:p>
          <a:p>
            <a:pPr lvl="1"/>
            <a:r>
              <a:rPr lang="en-US" altLang="en-US" dirty="0"/>
              <a:t> If an external circumstance appears that significantly changes priorities, and means the team would be wasting its time if it continued working, the Product Owner can terminate the Sprint.</a:t>
            </a:r>
          </a:p>
          <a:p>
            <a:pPr lvl="2"/>
            <a:r>
              <a:rPr lang="en-US" altLang="en-US" dirty="0"/>
              <a:t>This means the team stops all the work they are doing, and starts over with a Sprint Planning meeting, and so forth. </a:t>
            </a:r>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a:extLst>
              <a:ext uri="{FF2B5EF4-FFF2-40B4-BE49-F238E27FC236}">
                <a16:creationId xmlns:a16="http://schemas.microsoft.com/office/drawing/2014/main" id="{B85378F7-A674-1B53-C958-FFC5B3A96FFB}"/>
              </a:ext>
            </a:extLst>
          </p:cNvPr>
          <p:cNvSpPr>
            <a:spLocks noGrp="1"/>
          </p:cNvSpPr>
          <p:nvPr>
            <p:ph idx="1"/>
          </p:nvPr>
        </p:nvSpPr>
        <p:spPr/>
        <p:txBody>
          <a:bodyPr/>
          <a:lstStyle/>
          <a:p>
            <a:pPr algn="just"/>
            <a:r>
              <a:rPr lang="en-US" altLang="en-US"/>
              <a:t> Once the Sprint has started, the Scrum Team engages in another of the key Scrum practices: The Daily Stand-Up Meeting.</a:t>
            </a:r>
          </a:p>
          <a:p>
            <a:pPr algn="just"/>
            <a:r>
              <a:rPr lang="en-US" altLang="en-US"/>
              <a:t>This is a short (15 minute) meeting that happens every workday at an appointed time, and everyone on the Scrum Team attends; in order to ensure it stays brief, everyone stands (hence “Stand-Up Meeting”).</a:t>
            </a:r>
          </a:p>
          <a:p>
            <a:pPr algn="just"/>
            <a:r>
              <a:rPr lang="en-US" altLang="en-US"/>
              <a:t> It’s the team’s opportunity to report to itself on progress and obstacles. </a:t>
            </a:r>
          </a:p>
        </p:txBody>
      </p:sp>
      <p:sp>
        <p:nvSpPr>
          <p:cNvPr id="3" name="Title 2">
            <a:extLst>
              <a:ext uri="{FF2B5EF4-FFF2-40B4-BE49-F238E27FC236}">
                <a16:creationId xmlns:a16="http://schemas.microsoft.com/office/drawing/2014/main" id="{CC79FDA6-BF7C-109F-19D3-2CCE7FB6F8F6}"/>
              </a:ext>
            </a:extLst>
          </p:cNvPr>
          <p:cNvSpPr>
            <a:spLocks noGrp="1"/>
          </p:cNvSpPr>
          <p:nvPr>
            <p:ph type="title"/>
          </p:nvPr>
        </p:nvSpPr>
        <p:spPr/>
        <p:txBody>
          <a:bodyPr/>
          <a:lstStyle/>
          <a:p>
            <a:pPr>
              <a:defRPr/>
            </a:pPr>
            <a:r>
              <a:rPr lang="en-US" dirty="0"/>
              <a:t>Daily Standup Meeting </a:t>
            </a:r>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a:extLst>
              <a:ext uri="{FF2B5EF4-FFF2-40B4-BE49-F238E27FC236}">
                <a16:creationId xmlns:a16="http://schemas.microsoft.com/office/drawing/2014/main" id="{F6445380-4A36-50B4-7A34-13D94C31D973}"/>
              </a:ext>
            </a:extLst>
          </p:cNvPr>
          <p:cNvSpPr>
            <a:spLocks noGrp="1"/>
          </p:cNvSpPr>
          <p:nvPr>
            <p:ph idx="1"/>
          </p:nvPr>
        </p:nvSpPr>
        <p:spPr/>
        <p:txBody>
          <a:bodyPr/>
          <a:lstStyle/>
          <a:p>
            <a:r>
              <a:rPr lang="en-US" altLang="en-US" dirty="0"/>
              <a:t>One by one, each member of the team reports just three things to the other members of the team: </a:t>
            </a:r>
          </a:p>
          <a:p>
            <a:pPr marL="914400" lvl="1" indent="-457200">
              <a:buFont typeface="+mj-lt"/>
              <a:buAutoNum type="arabicPeriod"/>
            </a:pPr>
            <a:r>
              <a:rPr lang="en-US" altLang="en-US" b="1" dirty="0"/>
              <a:t>What they were able to get done since the last meeting. </a:t>
            </a:r>
          </a:p>
          <a:p>
            <a:pPr marL="914400" lvl="1" indent="-457200">
              <a:buFont typeface="+mj-lt"/>
              <a:buAutoNum type="arabicPeriod"/>
            </a:pPr>
            <a:r>
              <a:rPr lang="en-US" altLang="en-US" b="1" dirty="0"/>
              <a:t>What they’re aiming to get done by the next meeting. </a:t>
            </a:r>
          </a:p>
          <a:p>
            <a:pPr marL="914400" lvl="1" indent="-457200">
              <a:buFont typeface="+mj-lt"/>
              <a:buAutoNum type="arabicPeriod"/>
            </a:pPr>
            <a:r>
              <a:rPr lang="en-US" altLang="en-US" b="1" dirty="0"/>
              <a:t>Any blocks or obstacles that are in their way. </a:t>
            </a:r>
          </a:p>
          <a:p>
            <a:r>
              <a:rPr lang="en-US" altLang="en-US" dirty="0"/>
              <a:t>There’s no discussion during the Daily Stand-Up Meeting, just the reporting of the three key pieces of information; if discussion is required, it takes place right after the meeting.</a:t>
            </a:r>
          </a:p>
          <a:p>
            <a:r>
              <a:rPr lang="en-US" altLang="en-US" dirty="0"/>
              <a:t>The Scrum Master makes note of the blocks, and then helps team members to resolve them after the meeting. </a:t>
            </a:r>
          </a:p>
          <a:p>
            <a:endParaRPr lang="en-US" altLang="en-US" dirty="0"/>
          </a:p>
        </p:txBody>
      </p:sp>
      <p:sp>
        <p:nvSpPr>
          <p:cNvPr id="3" name="Title 2">
            <a:extLst>
              <a:ext uri="{FF2B5EF4-FFF2-40B4-BE49-F238E27FC236}">
                <a16:creationId xmlns:a16="http://schemas.microsoft.com/office/drawing/2014/main" id="{A70D2FCA-BE94-277F-0B7C-7532C373EB85}"/>
              </a:ext>
            </a:extLst>
          </p:cNvPr>
          <p:cNvSpPr>
            <a:spLocks noGrp="1"/>
          </p:cNvSpPr>
          <p:nvPr>
            <p:ph type="title"/>
          </p:nvPr>
        </p:nvSpPr>
        <p:spPr/>
        <p:txBody>
          <a:bodyPr/>
          <a:lstStyle/>
          <a:p>
            <a:pPr>
              <a:defRPr/>
            </a:pPr>
            <a:r>
              <a:rPr lang="en-US" dirty="0"/>
              <a:t>Daily Standup Meeting </a:t>
            </a:r>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1">
            <a:extLst>
              <a:ext uri="{FF2B5EF4-FFF2-40B4-BE49-F238E27FC236}">
                <a16:creationId xmlns:a16="http://schemas.microsoft.com/office/drawing/2014/main" id="{14ED5B25-0DF4-B401-A234-1584169A7BE7}"/>
              </a:ext>
            </a:extLst>
          </p:cNvPr>
          <p:cNvSpPr>
            <a:spLocks noGrp="1"/>
          </p:cNvSpPr>
          <p:nvPr>
            <p:ph idx="1"/>
          </p:nvPr>
        </p:nvSpPr>
        <p:spPr/>
        <p:txBody>
          <a:bodyPr/>
          <a:lstStyle/>
          <a:p>
            <a:r>
              <a:rPr lang="en-US" altLang="en-US" dirty="0"/>
              <a:t>One of the core tenets of Scrum is that the duration of the Sprint is never extended – it ends on the assigned date regardless of whether the team has completed the work it committed to or not.</a:t>
            </a:r>
          </a:p>
          <a:p>
            <a:r>
              <a:rPr lang="en-US" altLang="en-US" dirty="0"/>
              <a:t> If the team has not completed their Sprint Goal, the remaining tasks are re-prioritized and the issue is brought up the sprint review and retrospective meeting .</a:t>
            </a:r>
          </a:p>
          <a:p>
            <a:endParaRPr lang="en-US" altLang="en-US" dirty="0"/>
          </a:p>
        </p:txBody>
      </p:sp>
      <p:sp>
        <p:nvSpPr>
          <p:cNvPr id="3" name="Title 2">
            <a:extLst>
              <a:ext uri="{FF2B5EF4-FFF2-40B4-BE49-F238E27FC236}">
                <a16:creationId xmlns:a16="http://schemas.microsoft.com/office/drawing/2014/main" id="{1CEF7D76-1F3C-5397-5714-8C0D95C91D32}"/>
              </a:ext>
            </a:extLst>
          </p:cNvPr>
          <p:cNvSpPr>
            <a:spLocks noGrp="1"/>
          </p:cNvSpPr>
          <p:nvPr>
            <p:ph type="title"/>
          </p:nvPr>
        </p:nvSpPr>
        <p:spPr/>
        <p:txBody>
          <a:bodyPr/>
          <a:lstStyle/>
          <a:p>
            <a:pPr>
              <a:defRPr/>
            </a:pPr>
            <a:r>
              <a:rPr lang="en-US" dirty="0"/>
              <a:t>Sprint status </a:t>
            </a:r>
            <a:br>
              <a:rPr lang="en-US" dirty="0">
                <a:ea typeface="ＭＳ Ｐゴシック" pitchFamily="34" charset="-128"/>
              </a:rPr>
            </a:br>
            <a:endParaRPr lang="en-US" dirty="0">
              <a:ea typeface="ＭＳ Ｐゴシック" pitchFamily="34" charset="-128"/>
            </a:endParaRPr>
          </a:p>
        </p:txBody>
      </p:sp>
    </p:spTree>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a:extLst>
              <a:ext uri="{FF2B5EF4-FFF2-40B4-BE49-F238E27FC236}">
                <a16:creationId xmlns:a16="http://schemas.microsoft.com/office/drawing/2014/main" id="{E5EAF484-960E-4448-3AB3-E0405B27725B}"/>
              </a:ext>
            </a:extLst>
          </p:cNvPr>
          <p:cNvSpPr>
            <a:spLocks noGrp="1"/>
          </p:cNvSpPr>
          <p:nvPr>
            <p:ph idx="1"/>
          </p:nvPr>
        </p:nvSpPr>
        <p:spPr/>
        <p:txBody>
          <a:bodyPr/>
          <a:lstStyle/>
          <a:p>
            <a:r>
              <a:rPr lang="en-US" dirty="0"/>
              <a:t>At the end of each sprint, there is a review meeting, which involves the whole team. This meeting:</a:t>
            </a:r>
          </a:p>
          <a:p>
            <a:pPr lvl="1"/>
            <a:r>
              <a:rPr lang="en-US" dirty="0"/>
              <a:t>reviews whether or not the sprint has met its goal. </a:t>
            </a:r>
          </a:p>
          <a:p>
            <a:pPr lvl="1"/>
            <a:r>
              <a:rPr lang="en-US" dirty="0"/>
              <a:t>sets out any new problems and issues that have emerged during the sprint.</a:t>
            </a:r>
          </a:p>
          <a:p>
            <a:pPr lvl="1"/>
            <a:r>
              <a:rPr lang="en-US" dirty="0"/>
              <a:t>is a way for a team to reflect on how they can improve the way they work. </a:t>
            </a:r>
          </a:p>
          <a:p>
            <a:r>
              <a:rPr lang="en-US" dirty="0"/>
              <a:t>The product owner has the ultimate authority to decide whether or not the goal of the print has been achieved. They should confirm that the implementation of the selected product backlog items is complete. </a:t>
            </a:r>
          </a:p>
        </p:txBody>
      </p:sp>
      <p:sp>
        <p:nvSpPr>
          <p:cNvPr id="3" name="Title 2">
            <a:extLst>
              <a:ext uri="{FF2B5EF4-FFF2-40B4-BE49-F238E27FC236}">
                <a16:creationId xmlns:a16="http://schemas.microsoft.com/office/drawing/2014/main" id="{48578DC4-7300-BBD2-8C44-D7655A668A22}"/>
              </a:ext>
            </a:extLst>
          </p:cNvPr>
          <p:cNvSpPr>
            <a:spLocks noGrp="1"/>
          </p:cNvSpPr>
          <p:nvPr>
            <p:ph type="title"/>
          </p:nvPr>
        </p:nvSpPr>
        <p:spPr/>
        <p:txBody>
          <a:bodyPr/>
          <a:lstStyle/>
          <a:p>
            <a:pPr>
              <a:defRPr/>
            </a:pPr>
            <a:r>
              <a:rPr lang="en-US" dirty="0"/>
              <a:t>Sprint Review</a:t>
            </a:r>
          </a:p>
        </p:txBody>
      </p:sp>
    </p:spTree>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a:extLst>
              <a:ext uri="{FF2B5EF4-FFF2-40B4-BE49-F238E27FC236}">
                <a16:creationId xmlns:a16="http://schemas.microsoft.com/office/drawing/2014/main" id="{E5EAF484-960E-4448-3AB3-E0405B27725B}"/>
              </a:ext>
            </a:extLst>
          </p:cNvPr>
          <p:cNvSpPr>
            <a:spLocks noGrp="1"/>
          </p:cNvSpPr>
          <p:nvPr>
            <p:ph idx="1"/>
          </p:nvPr>
        </p:nvSpPr>
        <p:spPr/>
        <p:txBody>
          <a:bodyPr/>
          <a:lstStyle/>
          <a:p>
            <a:r>
              <a:rPr lang="en-US" dirty="0"/>
              <a:t>The sprint review should include a process review, in which the team reflects on its own way of working and how Scrum has been used.  </a:t>
            </a:r>
          </a:p>
          <a:p>
            <a:pPr lvl="1"/>
            <a:r>
              <a:rPr lang="en-US" dirty="0"/>
              <a:t>The aim is to identify ways to improve and to discuss how to use Scrum more productively. </a:t>
            </a:r>
          </a:p>
        </p:txBody>
      </p:sp>
      <p:sp>
        <p:nvSpPr>
          <p:cNvPr id="3" name="Title 2">
            <a:extLst>
              <a:ext uri="{FF2B5EF4-FFF2-40B4-BE49-F238E27FC236}">
                <a16:creationId xmlns:a16="http://schemas.microsoft.com/office/drawing/2014/main" id="{48578DC4-7300-BBD2-8C44-D7655A668A22}"/>
              </a:ext>
            </a:extLst>
          </p:cNvPr>
          <p:cNvSpPr>
            <a:spLocks noGrp="1"/>
          </p:cNvSpPr>
          <p:nvPr>
            <p:ph type="title"/>
          </p:nvPr>
        </p:nvSpPr>
        <p:spPr/>
        <p:txBody>
          <a:bodyPr/>
          <a:lstStyle/>
          <a:p>
            <a:pPr>
              <a:defRPr/>
            </a:pPr>
            <a:r>
              <a:rPr lang="en-US" dirty="0"/>
              <a:t>Sprint Review</a:t>
            </a:r>
          </a:p>
        </p:txBody>
      </p:sp>
    </p:spTree>
    <p:extLst>
      <p:ext uri="{BB962C8B-B14F-4D97-AF65-F5344CB8AC3E}">
        <p14:creationId xmlns:p14="http://schemas.microsoft.com/office/powerpoint/2010/main" val="1134190745"/>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6344B24E-E370-8966-0A84-FBB71E234F73}"/>
              </a:ext>
            </a:extLst>
          </p:cNvPr>
          <p:cNvSpPr>
            <a:spLocks noGrp="1"/>
          </p:cNvSpPr>
          <p:nvPr>
            <p:ph idx="1"/>
          </p:nvPr>
        </p:nvSpPr>
        <p:spPr/>
        <p:txBody>
          <a:bodyPr/>
          <a:lstStyle/>
          <a:p>
            <a:r>
              <a:rPr lang="en-US" altLang="en-US" dirty="0"/>
              <a:t>Following the Sprint Review, the team gets together for the Sprint Retrospective.</a:t>
            </a:r>
          </a:p>
          <a:p>
            <a:r>
              <a:rPr lang="en-US" altLang="en-US" dirty="0"/>
              <a:t>The focus of this meeting is process improvement rather than productivity improvement.</a:t>
            </a:r>
          </a:p>
          <a:p>
            <a:r>
              <a:rPr lang="en-US" altLang="en-US" dirty="0"/>
              <a:t>It’s an opportunity for the team to discuss what’s working and what’s not working, and agree on changes to try.</a:t>
            </a:r>
          </a:p>
          <a:p>
            <a:r>
              <a:rPr lang="en-US" altLang="en-US" dirty="0"/>
              <a:t>Three questions are asked off each participant:</a:t>
            </a:r>
          </a:p>
          <a:p>
            <a:pPr lvl="1"/>
            <a:r>
              <a:rPr lang="en-US" altLang="en-US" b="1" dirty="0"/>
              <a:t>What went well for you in this sprint?</a:t>
            </a:r>
          </a:p>
          <a:p>
            <a:pPr lvl="1"/>
            <a:r>
              <a:rPr lang="en-US" altLang="en-US" b="1" dirty="0"/>
              <a:t>What went bad?</a:t>
            </a:r>
          </a:p>
          <a:p>
            <a:pPr lvl="1"/>
            <a:r>
              <a:rPr lang="en-US" altLang="en-US" b="1" dirty="0"/>
              <a:t>What can be improved?</a:t>
            </a:r>
          </a:p>
          <a:p>
            <a:endParaRPr lang="en-US" altLang="en-US" dirty="0"/>
          </a:p>
        </p:txBody>
      </p:sp>
      <p:sp>
        <p:nvSpPr>
          <p:cNvPr id="3" name="Title 2">
            <a:extLst>
              <a:ext uri="{FF2B5EF4-FFF2-40B4-BE49-F238E27FC236}">
                <a16:creationId xmlns:a16="http://schemas.microsoft.com/office/drawing/2014/main" id="{76C0519B-C563-AB34-D2EE-034B55508CC2}"/>
              </a:ext>
            </a:extLst>
          </p:cNvPr>
          <p:cNvSpPr>
            <a:spLocks noGrp="1"/>
          </p:cNvSpPr>
          <p:nvPr>
            <p:ph type="title"/>
          </p:nvPr>
        </p:nvSpPr>
        <p:spPr/>
        <p:txBody>
          <a:bodyPr/>
          <a:lstStyle/>
          <a:p>
            <a:pPr>
              <a:defRPr/>
            </a:pPr>
            <a:r>
              <a:rPr lang="en-US" dirty="0"/>
              <a:t>Sprint Retrospective</a:t>
            </a:r>
            <a:endParaRPr lang="en-US" dirty="0">
              <a:ea typeface="ＭＳ Ｐゴシック" pitchFamily="34" charset="-128"/>
            </a:endParaRPr>
          </a:p>
        </p:txBody>
      </p:sp>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1">
            <a:extLst>
              <a:ext uri="{FF2B5EF4-FFF2-40B4-BE49-F238E27FC236}">
                <a16:creationId xmlns:a16="http://schemas.microsoft.com/office/drawing/2014/main" id="{CD6CF16F-101E-9BCB-D559-DE839CEE2167}"/>
              </a:ext>
            </a:extLst>
          </p:cNvPr>
          <p:cNvSpPr>
            <a:spLocks noGrp="1"/>
          </p:cNvSpPr>
          <p:nvPr>
            <p:ph idx="1"/>
          </p:nvPr>
        </p:nvSpPr>
        <p:spPr/>
        <p:txBody>
          <a:bodyPr/>
          <a:lstStyle/>
          <a:p>
            <a:pPr algn="just"/>
            <a:r>
              <a:rPr lang="en-US" altLang="en-US" dirty="0"/>
              <a:t>Following the Sprint Review Meeting, the Product Owner takes all the input, as well as all new priorities that have appeared during the Sprint, and incorporates them into the Product Backlog; new items are added, and existing ones are modified, reordered, or deleted. </a:t>
            </a:r>
          </a:p>
          <a:p>
            <a:pPr algn="just"/>
            <a:r>
              <a:rPr lang="en-US" altLang="en-US" dirty="0"/>
              <a:t>Once this updating of the Product Backlog is complete, the cycle is ready to begin all over again, with the next Sprint Planning Meeting. </a:t>
            </a:r>
          </a:p>
          <a:p>
            <a:pPr algn="just"/>
            <a:r>
              <a:rPr lang="en-US" altLang="en-US" dirty="0"/>
              <a:t>One practice many teams find useful is to hold a Prioritization Meeting toward the end of each Sprint, to review the Product Backlog for the upcoming Sprint with the Product Owner. </a:t>
            </a:r>
            <a:endParaRPr lang="en-US" altLang="en-US" sz="3200" dirty="0"/>
          </a:p>
        </p:txBody>
      </p:sp>
      <p:sp>
        <p:nvSpPr>
          <p:cNvPr id="3" name="Title 2">
            <a:extLst>
              <a:ext uri="{FF2B5EF4-FFF2-40B4-BE49-F238E27FC236}">
                <a16:creationId xmlns:a16="http://schemas.microsoft.com/office/drawing/2014/main" id="{7942A688-0EAE-CD55-AF01-E1CE215D13A0}"/>
              </a:ext>
            </a:extLst>
          </p:cNvPr>
          <p:cNvSpPr>
            <a:spLocks noGrp="1"/>
          </p:cNvSpPr>
          <p:nvPr>
            <p:ph type="title"/>
          </p:nvPr>
        </p:nvSpPr>
        <p:spPr/>
        <p:txBody>
          <a:bodyPr/>
          <a:lstStyle/>
          <a:p>
            <a:pPr>
              <a:defRPr/>
            </a:pPr>
            <a:r>
              <a:rPr lang="en-US" dirty="0"/>
              <a:t>Starting the Next Sprint</a:t>
            </a:r>
            <a:endParaRPr lang="en-US" dirty="0">
              <a:ea typeface="ＭＳ Ｐゴシック" pitchFamily="34" charset="-128"/>
            </a:endParaRPr>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4" ma:contentTypeDescription="Create a new document." ma:contentTypeScope="" ma:versionID="e81348234f824454bee5ff4e1163a581">
  <xsd:schema xmlns:xsd="http://www.w3.org/2001/XMLSchema" xmlns:xs="http://www.w3.org/2001/XMLSchema" xmlns:p="http://schemas.microsoft.com/office/2006/metadata/properties" xmlns:ns2="40a13437-5c9a-41df-9085-f05539ee4fdd" targetNamespace="http://schemas.microsoft.com/office/2006/metadata/properties" ma:root="true" ma:fieldsID="57f9d12a761af35035b5fe40efe9ccc5" ns2:_="">
    <xsd:import namespace="40a13437-5c9a-41df-9085-f05539ee4f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13437-5c9a-41df-9085-f05539ee4f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7C83C6-B6AD-4111-8B5F-74703980D41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E7D31C1-4945-4596-B53B-C3814EADE2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a13437-5c9a-41df-9085-f05539ee4f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C684A1B-0C25-4B84-82FD-E2BB4E8137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SE10 slides.thmx</Template>
  <TotalTime>1762</TotalTime>
  <Words>4387</Words>
  <Application>Microsoft Office PowerPoint</Application>
  <PresentationFormat>On-screen Show (4:3)</PresentationFormat>
  <Paragraphs>372</Paragraphs>
  <Slides>58</Slides>
  <Notes>1</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SE10 slides</vt:lpstr>
      <vt:lpstr>Software Engineering (CS226) Week 3</vt:lpstr>
      <vt:lpstr>Topics covered</vt:lpstr>
      <vt:lpstr>Agile development</vt:lpstr>
      <vt:lpstr>Agile Manifesto – Core Values</vt:lpstr>
      <vt:lpstr>Agile Manifesto – 12 Principles</vt:lpstr>
      <vt:lpstr>Agile Manifesto – 12 Principles</vt:lpstr>
      <vt:lpstr>Agile principles and organizational practice</vt:lpstr>
      <vt:lpstr>Agile principles and organizational practice</vt:lpstr>
      <vt:lpstr>Agile method applicability</vt:lpstr>
      <vt:lpstr>Agile Development Practices</vt:lpstr>
      <vt:lpstr>Extreme programming</vt:lpstr>
      <vt:lpstr>Influential XP practices</vt:lpstr>
      <vt:lpstr>User stories for requirements</vt:lpstr>
      <vt:lpstr>A ‘prescribing medication’ story </vt:lpstr>
      <vt:lpstr>Examples of task cards for prescribing medication </vt:lpstr>
      <vt:lpstr>Refactoring</vt:lpstr>
      <vt:lpstr>Examples of refactoring</vt:lpstr>
      <vt:lpstr>Test-first development</vt:lpstr>
      <vt:lpstr>Test-driven development</vt:lpstr>
      <vt:lpstr>Customer involvement</vt:lpstr>
      <vt:lpstr>Test case description for dose checking </vt:lpstr>
      <vt:lpstr>Test automation</vt:lpstr>
      <vt:lpstr>Problems with test-first development</vt:lpstr>
      <vt:lpstr>Pair programming</vt:lpstr>
      <vt:lpstr>Pair programming</vt:lpstr>
      <vt:lpstr>Agile Project Management</vt:lpstr>
      <vt:lpstr>Agile project management</vt:lpstr>
      <vt:lpstr>Scrum</vt:lpstr>
      <vt:lpstr>Scrum benefits</vt:lpstr>
      <vt:lpstr>Scrum terminology (a)</vt:lpstr>
      <vt:lpstr>Scrum terminology (b)</vt:lpstr>
      <vt:lpstr> The Scrum Process</vt:lpstr>
      <vt:lpstr>The Scrum Sprint Cycle</vt:lpstr>
      <vt:lpstr>The Scrum Sprint Cycle</vt:lpstr>
      <vt:lpstr>Scrum Roles</vt:lpstr>
      <vt:lpstr>Product Owner</vt:lpstr>
      <vt:lpstr>Team Members</vt:lpstr>
      <vt:lpstr>Scrum Master</vt:lpstr>
      <vt:lpstr>Scrum Master</vt:lpstr>
      <vt:lpstr>Product Backlog</vt:lpstr>
      <vt:lpstr>Product Backlogs Entries (Examples)</vt:lpstr>
      <vt:lpstr>Product Backlog Item States (Typical)</vt:lpstr>
      <vt:lpstr>Product Backlog Activities</vt:lpstr>
      <vt:lpstr>Product Backlog (Example)</vt:lpstr>
      <vt:lpstr>Sprint Planning Meeting </vt:lpstr>
      <vt:lpstr>Sprint Planning Meeting </vt:lpstr>
      <vt:lpstr>Sprint Planning Meeting </vt:lpstr>
      <vt:lpstr>Sprint Planning Meeting </vt:lpstr>
      <vt:lpstr>Sprint backlog</vt:lpstr>
      <vt:lpstr>Sprint backlog</vt:lpstr>
      <vt:lpstr>Scrum Change</vt:lpstr>
      <vt:lpstr>Daily Standup Meeting </vt:lpstr>
      <vt:lpstr>Daily Standup Meeting </vt:lpstr>
      <vt:lpstr>Sprint status  </vt:lpstr>
      <vt:lpstr>Sprint Review</vt:lpstr>
      <vt:lpstr>Sprint Review</vt:lpstr>
      <vt:lpstr>Sprint Retrospective</vt:lpstr>
      <vt:lpstr>Starting the Next Sprint</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3</dc:title>
  <dc:creator>Ian Sommerville</dc:creator>
  <cp:lastModifiedBy>Umair Khan</cp:lastModifiedBy>
  <cp:revision>49</cp:revision>
  <dcterms:created xsi:type="dcterms:W3CDTF">2010-01-06T20:28:26Z</dcterms:created>
  <dcterms:modified xsi:type="dcterms:W3CDTF">2024-04-20T05:50:43Z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0x0101002A1400550C8A7F40B8B4A016FED0B662</vt:lpwstr>
  </property>
  <property fmtid="{D5CDD505-2E9C-101B-9397-08002B2CF9AE}" pid="3" name="Order">
    <vt:r8>600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