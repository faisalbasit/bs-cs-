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059398"/>
              </p:ext>
            </p:extLst>
          </p:nvPr>
        </p:nvGraphicFramePr>
        <p:xfrm>
          <a:off x="1876424" y="2128359"/>
          <a:ext cx="5248694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49"/>
                <a:gridCol w="1647645"/>
                <a:gridCol w="18288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rgbClr val="FF0000"/>
                          </a:solidFill>
                        </a:rPr>
                        <a:t>StudentID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rgbClr val="FF0000"/>
                          </a:solidFill>
                        </a:rPr>
                        <a:t>StdName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Age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423" y="4364967"/>
            <a:ext cx="821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Row level Duplication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6423" y="897147"/>
            <a:ext cx="78282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</a:rPr>
              <a:t>Normalization is a technique to remove or reduce redundancy from a table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27540" y="293298"/>
            <a:ext cx="5788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 smtClean="0">
                <a:solidFill>
                  <a:srgbClr val="7030A0"/>
                </a:solidFill>
              </a:rPr>
              <a:t>NORMALIZATION</a:t>
            </a:r>
            <a:endParaRPr lang="en-US" sz="2400" b="1" u="sng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6423" y="5046453"/>
            <a:ext cx="7323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By setting Primary key ,duplication can be reduced </a:t>
            </a:r>
          </a:p>
          <a:p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565366" y="2191109"/>
            <a:ext cx="326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Example No.1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94957" y="6097271"/>
            <a:ext cx="598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https://www.youtube.com/watch?v=5GDTIUVlHB8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1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II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209063"/>
              </p:ext>
            </p:extLst>
          </p:nvPr>
        </p:nvGraphicFramePr>
        <p:xfrm>
          <a:off x="1141413" y="2249488"/>
          <a:ext cx="99060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143"/>
                <a:gridCol w="1415143"/>
                <a:gridCol w="1415143"/>
                <a:gridCol w="1415143"/>
                <a:gridCol w="1415143"/>
                <a:gridCol w="1415143"/>
                <a:gridCol w="141514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StdID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CourseName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FacID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FacName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Salary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Mr.A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Mr.B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Khalid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Mr.A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Rasheed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Mr.A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30000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1413" y="4347713"/>
            <a:ext cx="801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Column Level Duplication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93962" y="4961070"/>
            <a:ext cx="53311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Issues :</a:t>
            </a:r>
          </a:p>
          <a:p>
            <a:r>
              <a:rPr lang="en-US" dirty="0"/>
              <a:t> </a:t>
            </a:r>
            <a:r>
              <a:rPr lang="en-US" dirty="0" smtClean="0"/>
              <a:t>           (</a:t>
            </a:r>
            <a:r>
              <a:rPr lang="en-US" dirty="0" err="1" smtClean="0"/>
              <a:t>i</a:t>
            </a:r>
            <a:r>
              <a:rPr lang="en-US" dirty="0" smtClean="0"/>
              <a:t>) Insertion Anomaly</a:t>
            </a:r>
          </a:p>
          <a:p>
            <a:r>
              <a:rPr lang="en-US" dirty="0" smtClean="0"/>
              <a:t>            (ii) Deletion Anomaly</a:t>
            </a:r>
          </a:p>
          <a:p>
            <a:r>
              <a:rPr lang="en-US" dirty="0"/>
              <a:t>	 </a:t>
            </a:r>
            <a:r>
              <a:rPr lang="en-US" dirty="0" smtClean="0"/>
              <a:t>    (iii) </a:t>
            </a:r>
            <a:r>
              <a:rPr lang="en-US" dirty="0" err="1" smtClean="0"/>
              <a:t>Updation</a:t>
            </a:r>
            <a:r>
              <a:rPr lang="en-US" dirty="0" smtClean="0"/>
              <a:t> Anomaly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87396" y="4961070"/>
            <a:ext cx="4304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Solution :</a:t>
            </a:r>
          </a:p>
          <a:p>
            <a:r>
              <a:rPr lang="en-US" dirty="0" smtClean="0"/>
              <a:t>Separate tables such as 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 Student </a:t>
            </a:r>
          </a:p>
          <a:p>
            <a:r>
              <a:rPr lang="en-US" dirty="0" smtClean="0"/>
              <a:t>(ii) Course</a:t>
            </a:r>
          </a:p>
          <a:p>
            <a:r>
              <a:rPr lang="en-US" dirty="0" smtClean="0"/>
              <a:t>(iii) Faculty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27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238956"/>
            <a:ext cx="9905998" cy="753082"/>
          </a:xfrm>
        </p:spPr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Normal Formal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2016" y="1102174"/>
            <a:ext cx="9905999" cy="588604"/>
          </a:xfrm>
        </p:spPr>
        <p:txBody>
          <a:bodyPr/>
          <a:lstStyle/>
          <a:p>
            <a:r>
              <a:rPr lang="en-US" dirty="0" smtClean="0"/>
              <a:t>As per EF </a:t>
            </a:r>
            <a:r>
              <a:rPr lang="en-US" dirty="0" err="1" smtClean="0"/>
              <a:t>codd</a:t>
            </a:r>
            <a:r>
              <a:rPr lang="en-US" dirty="0" smtClean="0"/>
              <a:t> ,table should not contains multivalued attributes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289406"/>
              </p:ext>
            </p:extLst>
          </p:nvPr>
        </p:nvGraphicFramePr>
        <p:xfrm>
          <a:off x="1141412" y="1880559"/>
          <a:ext cx="625142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437"/>
                <a:gridCol w="2113471"/>
                <a:gridCol w="238951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Roll No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Course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Ahmed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C/C++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C/DBMS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219382"/>
              </p:ext>
            </p:extLst>
          </p:nvPr>
        </p:nvGraphicFramePr>
        <p:xfrm>
          <a:off x="1141412" y="4037162"/>
          <a:ext cx="625142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437"/>
                <a:gridCol w="2113471"/>
                <a:gridCol w="2389517"/>
              </a:tblGrid>
              <a:tr h="14367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Roll No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Course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Ahmed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Ahmed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1412" y="3438930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59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47973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Normal </a:t>
            </a:r>
            <a:r>
              <a:rPr lang="en-US" dirty="0" smtClean="0"/>
              <a:t>Formal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067064"/>
              </p:ext>
            </p:extLst>
          </p:nvPr>
        </p:nvGraphicFramePr>
        <p:xfrm>
          <a:off x="1219050" y="2249487"/>
          <a:ext cx="625142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437"/>
                <a:gridCol w="2113471"/>
                <a:gridCol w="1194759"/>
                <a:gridCol w="119475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Roll No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Course1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Course 2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Ahmed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Null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680919"/>
              </p:ext>
            </p:extLst>
          </p:nvPr>
        </p:nvGraphicFramePr>
        <p:xfrm>
          <a:off x="1141413" y="4502334"/>
          <a:ext cx="38619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437"/>
                <a:gridCol w="211347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Roll No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Name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Ahmed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Saleem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Asad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084766"/>
              </p:ext>
            </p:extLst>
          </p:nvPr>
        </p:nvGraphicFramePr>
        <p:xfrm>
          <a:off x="7661621" y="4427177"/>
          <a:ext cx="2759089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3"/>
                <a:gridCol w="182944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Roll No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Course</a:t>
                      </a:r>
                      <a:endParaRPr 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C++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Java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DBMS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80226" y="6340415"/>
            <a:ext cx="507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https://www.youtube.com/watch?v=NlgZy30Dv9A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050" y="1686944"/>
            <a:ext cx="197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71829" y="4094390"/>
            <a:ext cx="1972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Student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832785" y="3976777"/>
            <a:ext cx="1475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Course</a:t>
            </a:r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141413" y="3808004"/>
            <a:ext cx="10055674" cy="566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0893" y="1163724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 02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659231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 03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411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406106" y="6288657"/>
            <a:ext cx="7798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https://www.youtube.com/watch?v=xPzgK6sOCfg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74" y="79189"/>
            <a:ext cx="10848975" cy="857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728787"/>
            <a:ext cx="106870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93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370" y="1226388"/>
            <a:ext cx="6677025" cy="2438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74" y="79189"/>
            <a:ext cx="10848975" cy="857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246" y="3744119"/>
            <a:ext cx="1000125" cy="552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0593" y="3744119"/>
            <a:ext cx="1000125" cy="5524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064" y="3817187"/>
            <a:ext cx="3342693" cy="5228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3730" y="1226388"/>
            <a:ext cx="3086100" cy="150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8338" y="2848769"/>
            <a:ext cx="28956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9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24" y="1019714"/>
            <a:ext cx="9144000" cy="49911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6324" y="497556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78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201" y="156556"/>
            <a:ext cx="8467725" cy="771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00" y="1380914"/>
            <a:ext cx="7553325" cy="695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720" y="2884278"/>
            <a:ext cx="8239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66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98" y="1080480"/>
            <a:ext cx="5076825" cy="2466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201" y="156556"/>
            <a:ext cx="8467725" cy="771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759" y="3699854"/>
            <a:ext cx="914400" cy="571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2" y="4430305"/>
            <a:ext cx="7505700" cy="21208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682" y="1088518"/>
            <a:ext cx="3076575" cy="1933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136" y="3670381"/>
            <a:ext cx="21145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956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814" y="161318"/>
            <a:ext cx="5143500" cy="2857500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51" y="3625113"/>
            <a:ext cx="8886825" cy="2962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62811" y="3101893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01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618518"/>
            <a:ext cx="5076825" cy="2571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024" y="618518"/>
            <a:ext cx="2857500" cy="2000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010" y="3227476"/>
            <a:ext cx="2162175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2" y="4249737"/>
            <a:ext cx="8534400" cy="2581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19049" y="3726517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2423" y="77638"/>
            <a:ext cx="87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en-US" sz="2400" b="1" baseline="30000" dirty="0" smtClean="0">
                <a:solidFill>
                  <a:schemeClr val="accent3">
                    <a:lumMod val="75000"/>
                  </a:schemeClr>
                </a:solidFill>
              </a:rPr>
              <a:t>rd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 NF EXAMPLE NO.02 </a:t>
            </a:r>
            <a:endParaRPr lang="en-US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89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62" y="618518"/>
            <a:ext cx="51054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844" y="618518"/>
            <a:ext cx="3105150" cy="2038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2423" y="77638"/>
            <a:ext cx="87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en-US" sz="2400" b="1" baseline="30000" dirty="0" smtClean="0">
                <a:solidFill>
                  <a:schemeClr val="accent3">
                    <a:lumMod val="75000"/>
                  </a:schemeClr>
                </a:solidFill>
              </a:rPr>
              <a:t>rd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 NF EXAMPLE NO.03 </a:t>
            </a:r>
            <a:endParaRPr lang="en-US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2" y="3410995"/>
            <a:ext cx="3657600" cy="581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212" y="4171950"/>
            <a:ext cx="8848725" cy="24358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1412" y="4088922"/>
            <a:ext cx="2343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4">
                    <a:lumMod val="75000"/>
                  </a:schemeClr>
                </a:solidFill>
                <a:latin typeface="Algerian" panose="04020705040A02060702" pitchFamily="82" charset="0"/>
              </a:rPr>
              <a:t>Solution</a:t>
            </a:r>
            <a:endParaRPr lang="en-US" sz="2800" dirty="0">
              <a:solidFill>
                <a:schemeClr val="accent4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72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1341" y="874680"/>
            <a:ext cx="5285268" cy="2603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78174" y="3521547"/>
            <a:ext cx="6219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3">
                    <a:lumMod val="75000"/>
                  </a:schemeClr>
                </a:solidFill>
              </a:rPr>
              <a:t>Earning is depending on number of tickets sold </a:t>
            </a:r>
            <a:endParaRPr lang="en-US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209" y="4288554"/>
            <a:ext cx="548640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2423" y="77638"/>
            <a:ext cx="8798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en-US" sz="2400" b="1" baseline="30000" dirty="0" smtClean="0">
                <a:solidFill>
                  <a:schemeClr val="accent3">
                    <a:lumMod val="75000"/>
                  </a:schemeClr>
                </a:solidFill>
              </a:rPr>
              <a:t>rd</a:t>
            </a:r>
            <a:r>
              <a:rPr lang="en-US" sz="2400" b="1" dirty="0" smtClean="0">
                <a:solidFill>
                  <a:schemeClr val="accent3">
                    <a:lumMod val="75000"/>
                  </a:schemeClr>
                </a:solidFill>
              </a:rPr>
              <a:t> NF EXAMPLE NO.04 </a:t>
            </a:r>
            <a:endParaRPr lang="en-US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34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207</TotalTime>
  <Words>247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Trebuchet MS</vt:lpstr>
      <vt:lpstr>Tw Cen MT</vt:lpstr>
      <vt:lpstr>Circuit</vt:lpstr>
      <vt:lpstr>PowerPoint Presentation</vt:lpstr>
      <vt:lpstr>Example II</vt:lpstr>
      <vt:lpstr>1st Normal Formal</vt:lpstr>
      <vt:lpstr>1st Normal Formal Cont…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Shardha Nand</dc:creator>
  <cp:lastModifiedBy>Shardha Nand</cp:lastModifiedBy>
  <cp:revision>54</cp:revision>
  <dcterms:created xsi:type="dcterms:W3CDTF">2023-05-04T04:10:02Z</dcterms:created>
  <dcterms:modified xsi:type="dcterms:W3CDTF">2023-05-08T05:34:04Z</dcterms:modified>
</cp:coreProperties>
</file>