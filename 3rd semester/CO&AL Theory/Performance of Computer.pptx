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41"/>
  </p:notesMasterIdLst>
  <p:sldIdLst>
    <p:sldId id="256" r:id="rId2"/>
    <p:sldId id="257" r:id="rId3"/>
    <p:sldId id="318" r:id="rId4"/>
    <p:sldId id="319" r:id="rId5"/>
    <p:sldId id="320" r:id="rId6"/>
    <p:sldId id="321" r:id="rId7"/>
    <p:sldId id="322" r:id="rId8"/>
    <p:sldId id="331" r:id="rId9"/>
    <p:sldId id="323" r:id="rId10"/>
    <p:sldId id="324" r:id="rId11"/>
    <p:sldId id="325" r:id="rId12"/>
    <p:sldId id="327" r:id="rId13"/>
    <p:sldId id="326" r:id="rId14"/>
    <p:sldId id="328" r:id="rId15"/>
    <p:sldId id="329" r:id="rId16"/>
    <p:sldId id="330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612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15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6E00FA-99B1-4B7C-922C-91E3EACBCE5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149835-2AE8-48E9-A0A0-E4DE86389F87}">
      <dgm:prSet phldrT="[Text]" custT="1"/>
      <dgm:spPr/>
      <dgm:t>
        <a:bodyPr/>
        <a:lstStyle/>
        <a:p>
          <a:pPr algn="ctr"/>
          <a:r>
            <a:rPr lang="en-US" sz="3200" smtClean="0">
              <a:latin typeface="Verdana" pitchFamily="34" charset="0"/>
              <a:ea typeface="Verdana" pitchFamily="34" charset="0"/>
              <a:cs typeface="Verdana" pitchFamily="34" charset="0"/>
            </a:rPr>
            <a:t>Topic</a:t>
          </a:r>
          <a:endParaRPr lang="en-US" sz="32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8FF7A990-80C1-4403-A4A2-BF3BC217509C}" type="parTrans" cxnId="{427AA49F-E0AB-4E81-B5D4-FDFC97BAE268}">
      <dgm:prSet/>
      <dgm:spPr/>
      <dgm:t>
        <a:bodyPr/>
        <a:lstStyle/>
        <a:p>
          <a:pPr algn="ctr"/>
          <a:endParaRPr lang="en-US"/>
        </a:p>
      </dgm:t>
    </dgm:pt>
    <dgm:pt modelId="{9B42BD0A-AD4D-41DF-A6DC-E375AE9247E4}" type="sibTrans" cxnId="{427AA49F-E0AB-4E81-B5D4-FDFC97BAE268}">
      <dgm:prSet/>
      <dgm:spPr/>
      <dgm:t>
        <a:bodyPr/>
        <a:lstStyle/>
        <a:p>
          <a:pPr algn="ctr"/>
          <a:endParaRPr lang="en-US"/>
        </a:p>
      </dgm:t>
    </dgm:pt>
    <dgm:pt modelId="{834EDAEA-2DF4-4D2B-9DC1-395079347274}">
      <dgm:prSet phldrT="[Text]" custT="1"/>
      <dgm:spPr/>
      <dgm:t>
        <a:bodyPr/>
        <a:lstStyle/>
        <a:p>
          <a:pPr algn="ctr"/>
          <a:r>
            <a:rPr lang="en-US" sz="3200" dirty="0" smtClean="0">
              <a:latin typeface="Verdana" pitchFamily="34" charset="0"/>
              <a:ea typeface="Verdana" pitchFamily="34" charset="0"/>
              <a:cs typeface="Verdana" pitchFamily="34" charset="0"/>
            </a:rPr>
            <a:t>Performance Issues and Improvement Techniques</a:t>
          </a:r>
          <a:endParaRPr lang="en-US" sz="3200" dirty="0">
            <a:latin typeface="Verdana" pitchFamily="34" charset="0"/>
            <a:ea typeface="Verdana" pitchFamily="34" charset="0"/>
            <a:cs typeface="Verdana" pitchFamily="34" charset="0"/>
          </a:endParaRPr>
        </a:p>
      </dgm:t>
    </dgm:pt>
    <dgm:pt modelId="{297EBB0A-0D1C-4601-AF61-12A2A256BA78}" type="parTrans" cxnId="{FCD6D361-30F3-49CE-A192-B22942066955}">
      <dgm:prSet/>
      <dgm:spPr/>
      <dgm:t>
        <a:bodyPr/>
        <a:lstStyle/>
        <a:p>
          <a:pPr algn="ctr"/>
          <a:endParaRPr lang="en-US"/>
        </a:p>
      </dgm:t>
    </dgm:pt>
    <dgm:pt modelId="{C3A0AC08-E5E3-4C4A-AF06-7F003F1FDB3D}" type="sibTrans" cxnId="{FCD6D361-30F3-49CE-A192-B22942066955}">
      <dgm:prSet/>
      <dgm:spPr/>
      <dgm:t>
        <a:bodyPr/>
        <a:lstStyle/>
        <a:p>
          <a:pPr algn="ctr"/>
          <a:endParaRPr lang="en-US"/>
        </a:p>
      </dgm:t>
    </dgm:pt>
    <dgm:pt modelId="{6F930A2C-1140-489B-9989-5B8CE06387CA}" type="pres">
      <dgm:prSet presAssocID="{146E00FA-99B1-4B7C-922C-91E3EACBCE5E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FAFB407-0E63-44D8-8905-13D48608FCF8}" type="pres">
      <dgm:prSet presAssocID="{84149835-2AE8-48E9-A0A0-E4DE86389F87}" presName="horFlow" presStyleCnt="0"/>
      <dgm:spPr/>
    </dgm:pt>
    <dgm:pt modelId="{BB7BDF23-4663-405D-A24A-C6E41B57E9B6}" type="pres">
      <dgm:prSet presAssocID="{84149835-2AE8-48E9-A0A0-E4DE86389F87}" presName="bigChev" presStyleLbl="node1" presStyleIdx="0" presStyleCnt="1" custScaleX="52687" custScaleY="29388"/>
      <dgm:spPr/>
      <dgm:t>
        <a:bodyPr/>
        <a:lstStyle/>
        <a:p>
          <a:endParaRPr lang="en-US"/>
        </a:p>
      </dgm:t>
    </dgm:pt>
    <dgm:pt modelId="{94655F4F-175A-4E31-B316-19271C61E035}" type="pres">
      <dgm:prSet presAssocID="{297EBB0A-0D1C-4601-AF61-12A2A256BA78}" presName="parTrans" presStyleCnt="0"/>
      <dgm:spPr/>
    </dgm:pt>
    <dgm:pt modelId="{5207539B-76C0-4D01-B557-153DAFCD94F4}" type="pres">
      <dgm:prSet presAssocID="{834EDAEA-2DF4-4D2B-9DC1-395079347274}" presName="node" presStyleLbl="alignAccFollowNode1" presStyleIdx="0" presStyleCnt="1" custScaleX="103785" custScaleY="1000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85ED82-1503-4B2A-A307-72636C33AFC7}" type="presOf" srcId="{834EDAEA-2DF4-4D2B-9DC1-395079347274}" destId="{5207539B-76C0-4D01-B557-153DAFCD94F4}" srcOrd="0" destOrd="0" presId="urn:microsoft.com/office/officeart/2005/8/layout/lProcess3"/>
    <dgm:cxn modelId="{FCD6D361-30F3-49CE-A192-B22942066955}" srcId="{84149835-2AE8-48E9-A0A0-E4DE86389F87}" destId="{834EDAEA-2DF4-4D2B-9DC1-395079347274}" srcOrd="0" destOrd="0" parTransId="{297EBB0A-0D1C-4601-AF61-12A2A256BA78}" sibTransId="{C3A0AC08-E5E3-4C4A-AF06-7F003F1FDB3D}"/>
    <dgm:cxn modelId="{427AA49F-E0AB-4E81-B5D4-FDFC97BAE268}" srcId="{146E00FA-99B1-4B7C-922C-91E3EACBCE5E}" destId="{84149835-2AE8-48E9-A0A0-E4DE86389F87}" srcOrd="0" destOrd="0" parTransId="{8FF7A990-80C1-4403-A4A2-BF3BC217509C}" sibTransId="{9B42BD0A-AD4D-41DF-A6DC-E375AE9247E4}"/>
    <dgm:cxn modelId="{6D93409D-B9B3-47F4-9870-BE650D21B228}" type="presOf" srcId="{84149835-2AE8-48E9-A0A0-E4DE86389F87}" destId="{BB7BDF23-4663-405D-A24A-C6E41B57E9B6}" srcOrd="0" destOrd="0" presId="urn:microsoft.com/office/officeart/2005/8/layout/lProcess3"/>
    <dgm:cxn modelId="{ED214340-2EED-4FB6-84FF-1EA848187EC1}" type="presOf" srcId="{146E00FA-99B1-4B7C-922C-91E3EACBCE5E}" destId="{6F930A2C-1140-489B-9989-5B8CE06387CA}" srcOrd="0" destOrd="0" presId="urn:microsoft.com/office/officeart/2005/8/layout/lProcess3"/>
    <dgm:cxn modelId="{B05AFB5A-71D5-447F-AD5A-2C489E3B3769}" type="presParOf" srcId="{6F930A2C-1140-489B-9989-5B8CE06387CA}" destId="{7FAFB407-0E63-44D8-8905-13D48608FCF8}" srcOrd="0" destOrd="0" presId="urn:microsoft.com/office/officeart/2005/8/layout/lProcess3"/>
    <dgm:cxn modelId="{AC8F4AD4-A90D-4299-A859-A241288B7FCC}" type="presParOf" srcId="{7FAFB407-0E63-44D8-8905-13D48608FCF8}" destId="{BB7BDF23-4663-405D-A24A-C6E41B57E9B6}" srcOrd="0" destOrd="0" presId="urn:microsoft.com/office/officeart/2005/8/layout/lProcess3"/>
    <dgm:cxn modelId="{7AB1D3C0-6142-4DE3-B462-B4F3BFD17954}" type="presParOf" srcId="{7FAFB407-0E63-44D8-8905-13D48608FCF8}" destId="{94655F4F-175A-4E31-B316-19271C61E035}" srcOrd="1" destOrd="0" presId="urn:microsoft.com/office/officeart/2005/8/layout/lProcess3"/>
    <dgm:cxn modelId="{679C19BC-BA4B-4062-8431-5DBE5FF8FA4C}" type="presParOf" srcId="{7FAFB407-0E63-44D8-8905-13D48608FCF8}" destId="{5207539B-76C0-4D01-B557-153DAFCD94F4}" srcOrd="2" destOrd="0" presId="urn:microsoft.com/office/officeart/2005/8/layout/lProcess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94817-46F2-4756-B609-42995862EFEE}" type="datetimeFigureOut">
              <a:rPr lang="en-US" smtClean="0"/>
              <a:pPr/>
              <a:t>12/12/2023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DABB1-BB64-46D2-9F7F-CCD9F2759B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254A4-0981-4C7E-8CA0-36AE57DE0CA2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F290C9F2-EDB1-4692-922B-9D563E0575E3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E9288A8-CEBC-4287-BF49-D35FBB06B4F3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80AE009-4601-45E6-9FDD-27B34DE9A3AE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0385A-1274-49B0-90F6-20B94AEAC131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85EC5-826B-47F2-8F1B-CAF1C654FD77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8F2A515-3FF5-4B2C-BFE6-4AE036B632E9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278B-3C7D-4BAD-A684-F361939B12E5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2526117-17CC-44B2-BBE8-C69ECDD8E01A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FBCDD46-1F4E-4DC4-9B3E-65395105FE6B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53B5B-772B-4F9B-BF30-19E5250DBA80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67AAE-DA02-47A6-A117-CF4821E01DA6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FDB26F27-BEF4-4763-938B-F397247F9728}" type="datetime1">
              <a:rPr lang="en-US" smtClean="0"/>
              <a:pPr/>
              <a:t>12/12/2023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D11CB9A-3472-4509-B47F-F7B288954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905000"/>
            <a:ext cx="6172200" cy="12954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Organization &amp; Assembly Language(CS-215T)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343400"/>
            <a:ext cx="6248400" cy="1981200"/>
          </a:xfrm>
        </p:spPr>
        <p:txBody>
          <a:bodyPr>
            <a:noAutofit/>
          </a:bodyPr>
          <a:lstStyle/>
          <a:p>
            <a:pPr algn="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Lecture by:</a:t>
            </a:r>
          </a:p>
          <a:p>
            <a:pPr algn="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Mr. Shakir Karim</a:t>
            </a:r>
          </a:p>
          <a:p>
            <a:pPr algn="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Assistant Professor</a:t>
            </a:r>
          </a:p>
          <a:p>
            <a:pPr algn="r"/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DoCS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&amp;IT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SSUET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1722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Batch </a:t>
            </a:r>
            <a:r>
              <a:rPr lang="en-US" dirty="0" smtClean="0"/>
              <a:t>2022F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sz="quarter" idx="1"/>
          </p:nvPr>
        </p:nvGraphicFramePr>
        <p:xfrm>
          <a:off x="685800" y="2514600"/>
          <a:ext cx="7620000" cy="198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6962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We concluded that </a:t>
            </a: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computer consists of </a:t>
            </a: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Gates, </a:t>
            </a: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Memory Cells, </a:t>
            </a: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Interconnections among these elements </a:t>
            </a: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gates and memory cells are constructed of simple electronic components, such as transistors and capacitors.</a:t>
            </a: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integrated circuit exploits the fact that </a:t>
            </a: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such components as transistors, resistors, and conductors can be fabricated from a semiconductor such as silicon.</a:t>
            </a:r>
          </a:p>
          <a:p>
            <a:endParaRPr lang="en-US" sz="2000" dirty="0" smtClean="0"/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Many transistors can be produced at the same time on a single wafer of silicon</a:t>
            </a: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920085"/>
            <a:ext cx="2442929" cy="3099716"/>
          </a:xfrm>
          <a:prstGeom prst="rect">
            <a:avLst/>
          </a:prstGeom>
        </p:spPr>
      </p:pic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1447800"/>
            <a:ext cx="7772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Earlier, few gates and memory cells could be reliably manufactured and packed together – SSI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As time went on, it became possible to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Pack more and more components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on the same chip …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Hence the terms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LSI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VLSI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ULSI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2986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1524000"/>
            <a:ext cx="8001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Moore observed that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number of transistors that could be put on a single chip was doubling every year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pace continued year after year and decade after decade.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pace slowed to a doubling every 18 months in the 1970s but has sustained that rate ever since.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famous Moore’s law, propounded by Gordon Moore, cofounder of Intel, in 1965</a:t>
            </a:r>
            <a:endParaRPr lang="en-US" sz="2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Up Arrow 15"/>
          <p:cNvSpPr/>
          <p:nvPr/>
        </p:nvSpPr>
        <p:spPr>
          <a:xfrm>
            <a:off x="3581400" y="4114800"/>
            <a:ext cx="1371600" cy="685800"/>
          </a:xfrm>
          <a:prstGeom prst="upArrow">
            <a:avLst>
              <a:gd name="adj1" fmla="val 50000"/>
              <a:gd name="adj2" fmla="val 536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3429000"/>
            <a:ext cx="5577533" cy="2830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2986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1524000"/>
            <a:ext cx="77724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consequences of Moore’s law are profound: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1. The cost of a chip has remained virtually unchanged during this period of rapid growth in density. This means that the cost of computer logic and memory circuitry has fallen at a dramatic rate.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371600"/>
            <a:ext cx="80010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2. Because logic and memory elements are placed closer together on more densely packed chips, the electrical path length is shortened, increasing operating speed.</a:t>
            </a:r>
          </a:p>
          <a:p>
            <a:endParaRPr lang="en-US" sz="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3. The computer becomes smaller, making it more convenient to place in a variety of environments.</a:t>
            </a:r>
          </a:p>
          <a:p>
            <a:endParaRPr lang="en-US" sz="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4. There is a reduction in power requirements.</a:t>
            </a:r>
          </a:p>
          <a:p>
            <a:endParaRPr lang="en-US" sz="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5. The interconnections on the integrated circuit are much more reliable than solder connections. With more circuitry on each chip, there are fewer inter-chip Connections.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2986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Technology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1483816"/>
            <a:ext cx="77724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concept of family of compatible computers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Characteristics of family includes: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Similar / Identical Instruction Set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Similar / Identical Operating Systems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Increasing Speed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Increasing Number of IO Ports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Increasing Memory Size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Increasing Cost</a:t>
            </a: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298690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Microprocessor–the Speed Monster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Remember the ENIAC on a single chip!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Power of microprocessors seem virtually free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Providing the power requirements of desktop applications</a:t>
            </a:r>
          </a:p>
          <a:p>
            <a:pPr lvl="1"/>
            <a:endParaRPr lang="en-US" sz="21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95400" y="4034135"/>
            <a:ext cx="2930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Image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67535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3-D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3505200"/>
            <a:ext cx="2901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Speech</a:t>
            </a:r>
            <a:r>
              <a:rPr lang="en-US" sz="2400" dirty="0" smtClean="0">
                <a:solidFill>
                  <a:srgbClr val="002060"/>
                </a:solidFill>
              </a:rPr>
              <a:t>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505200"/>
            <a:ext cx="3020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Videoconferencing</a:t>
            </a:r>
            <a:endParaRPr lang="en-US" sz="2400" dirty="0">
              <a:solidFill>
                <a:srgbClr val="002060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34740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Multimedia authoring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5257800"/>
            <a:ext cx="5520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Voice and video annotation of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4038600"/>
            <a:ext cx="3363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Simulation modeling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0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endParaRPr lang="en-US" sz="2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buNone/>
            </a:pPr>
            <a:endParaRPr lang="en-US" sz="2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buNone/>
            </a:pPr>
            <a:endParaRPr lang="en-US" sz="2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buNone/>
            </a:pPr>
            <a:endParaRPr lang="en-US" sz="2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514350" indent="-514350">
              <a:buNone/>
            </a:pPr>
            <a:endParaRPr lang="en-US" sz="28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4" name="Picture 3" descr="LOGO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Isn’t it fascinating!</a:t>
            </a:r>
            <a:endParaRPr lang="en-US" sz="32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D11CB9A-3472-4509-B47F-F7B288954A4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0" y="1676400"/>
            <a:ext cx="7772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Same building blocks as 50 years before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BUT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Sophisticated technology for better performance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Then Why the speed monster?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Why The Speed Monster?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524000"/>
            <a:ext cx="7848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Evolution continues at a fast rate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Reducing the distances between circuits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Leading to improved performance 4-to-5 folds every three years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However,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other side of the coin is different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Seems cooking food on the candle flame!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Performance Imbalance</a:t>
            </a:r>
          </a:p>
        </p:txBody>
      </p:sp>
      <p:pic>
        <p:nvPicPr>
          <p:cNvPr id="14" name="Picture 13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2033823"/>
            <a:ext cx="5838825" cy="368117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200" y="1524000"/>
            <a:ext cx="3206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Track for McLaren?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7" name="Picture 16" descr="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4965959"/>
            <a:ext cx="1295400" cy="7490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Techniques To Feed The Monster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42672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Pipelining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Branch Prediction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Superscalar Execution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Data Flow Analysis</a:t>
            </a:r>
          </a:p>
          <a:p>
            <a:pPr marL="274320" lvl="1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Speculative Execution</a:t>
            </a: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14239" y="4114800"/>
            <a:ext cx="61581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Necessary to execute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many instructions per processor cycle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rather than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to take many cycles per instruction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3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3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3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3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Balancing the Imbalance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447800"/>
            <a:ext cx="7637585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Clr>
                <a:srgbClr val="FE8637"/>
              </a:buClr>
              <a:buSzPct val="90000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Retrieving more bits at one time </a:t>
            </a:r>
          </a:p>
          <a:p>
            <a:r>
              <a:rPr lang="en-US" dirty="0" smtClean="0"/>
              <a:t>	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by making DRAMs “wider” rather than “deeper” </a:t>
            </a: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by using wide bus data paths</a:t>
            </a:r>
          </a:p>
          <a:p>
            <a:endParaRPr lang="en-US" sz="5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Making the DRAM interface more efficient </a:t>
            </a:r>
          </a:p>
          <a:p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by including a cache on the DRAM chip</a:t>
            </a:r>
          </a:p>
          <a:p>
            <a:endParaRPr lang="en-US" sz="5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Reduce the frequency of memory access </a:t>
            </a:r>
          </a:p>
          <a:p>
            <a:r>
              <a:rPr lang="en-US" dirty="0" smtClean="0"/>
              <a:t>	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by incorporating efficient cache structures between 	the processor and main memory</a:t>
            </a:r>
          </a:p>
          <a:p>
            <a:endParaRPr lang="en-US" sz="500" dirty="0" smtClean="0"/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Increase the interconnect bandwidth between processors and memory </a:t>
            </a:r>
          </a:p>
          <a:p>
            <a:r>
              <a:rPr lang="en-US" dirty="0" smtClean="0"/>
              <a:t>	</a:t>
            </a:r>
            <a:r>
              <a:rPr lang="en-US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by using higher-speed buses and a hierarchy of 	buses to buffer and structure data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Improvement In </a:t>
            </a:r>
            <a:b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Chip Organization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447800"/>
            <a:ext cx="7637585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buClr>
                <a:srgbClr val="FE8637"/>
              </a:buClr>
              <a:buSzPct val="90000"/>
            </a:pPr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0" lvl="1">
              <a:buClr>
                <a:srgbClr val="FE8637"/>
              </a:buClr>
              <a:buSzPct val="90000"/>
            </a:pP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Increase in Hardware speed of processor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Increase the size &amp; speed of caches</a:t>
            </a:r>
          </a:p>
          <a:p>
            <a:endParaRPr lang="en-US" sz="5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Reduce the frequency of memory access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Use Parallelism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Obstacles In Improvement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447800"/>
            <a:ext cx="76375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Traditional dominant factors to performance gains are to increase 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Clock Speed &amp; Logic Density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However,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this comes with number of obstacles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Power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RC Delay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Memory Latency &amp; Throughput</a:t>
            </a:r>
          </a:p>
        </p:txBody>
      </p:sp>
      <p:pic>
        <p:nvPicPr>
          <p:cNvPr id="14" name="Picture 13" descr="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824" y="3352800"/>
            <a:ext cx="1107140" cy="990600"/>
          </a:xfrm>
          <a:prstGeom prst="rect">
            <a:avLst/>
          </a:prstGeom>
        </p:spPr>
      </p:pic>
      <p:pic>
        <p:nvPicPr>
          <p:cNvPr id="15" name="Picture 14" descr="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0" y="3784386"/>
            <a:ext cx="990600" cy="1054855"/>
          </a:xfrm>
          <a:prstGeom prst="rect">
            <a:avLst/>
          </a:prstGeom>
        </p:spPr>
      </p:pic>
      <p:pic>
        <p:nvPicPr>
          <p:cNvPr id="16" name="Picture 15" descr="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1" y="4884588"/>
            <a:ext cx="2209800" cy="12637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3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Power &amp; Energy in ICs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6962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Power is the biggest challenge at present.</a:t>
            </a:r>
          </a:p>
          <a:p>
            <a:r>
              <a:rPr lang="en-US" sz="32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Q</a:t>
            </a:r>
            <a:r>
              <a:rPr lang="en-US" sz="3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how should a system architect think about performance, power, and energy?</a:t>
            </a:r>
          </a:p>
          <a:p>
            <a:r>
              <a:rPr lang="en-US" sz="32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three primary concerns</a:t>
            </a:r>
          </a:p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1 - What is the maximum power a processor 	ever requires?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More power =&gt; more current =&gt; more voltage drop =&gt; device malfunction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Modern processors incorporate voltage indexing and regulate voltage as needed which will decrease performance.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Power &amp; Energy in ICs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2- What is the sustained power consumption?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This metric is called Thermal Design Power (TDP)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determines the cooling requirement.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manages heat by reducing clock rate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Thereby,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reduces power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and in worse case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activate the thermal overload trip to power down the chip.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Power &amp; Energy in ICs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924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3- Which metric should be used to compare processors – energy or power?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Energy is better metric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Why?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Since, it is tied to a specific task and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time required to complete that task.</a:t>
            </a:r>
          </a:p>
          <a:p>
            <a:pPr algn="ctr"/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energy to execute a workload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=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Power</a:t>
            </a:r>
            <a:r>
              <a:rPr lang="en-US" sz="2400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Avg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X the execution time for the workload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Energy consumption should be used for comparison instead of the power consumption.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Trends in Power &amp; Energy in ICs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924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Example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Processor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may have a 20% higher average power consumption than processor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but what happened if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executes the task in only 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70%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of the time needed by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 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energy consumption of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will be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	1.2 X 0.7 = 0.84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which is clearly better.</a:t>
            </a: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Dependability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9248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Module Reliability: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Mean Time To Failure (MTTF) - reliability measure.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reciprocal of MTTF is a 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rate of failures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, generally reported as failure per billion hours of operation, or FIT (failure in time)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MTTF of 1,000,000 hours equals 10</a:t>
            </a:r>
            <a:r>
              <a:rPr lang="en-US" sz="2400" baseline="30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9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/10</a:t>
            </a:r>
            <a:r>
              <a:rPr lang="en-US" sz="2400" baseline="30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6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or 1000 FIT.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Dependability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9248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Service interruption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measured as Mean Time To Repair (MTTR)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	MTBF  = MTTF + MTTR 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(MTBF = mean time between failures)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What if a collection of modules has exponentially distributed lifetimes (i.e., the age of a module is not important in probability of failure)?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Then, the overall failure rate of the collection is the sum of the failure rates of the modules.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Dependability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Example – MTTF &amp; FIT </a:t>
            </a:r>
          </a:p>
        </p:txBody>
      </p:sp>
      <p:pic>
        <p:nvPicPr>
          <p:cNvPr id="13" name="Picture 12" descr="14.jpg"/>
          <p:cNvPicPr>
            <a:picLocks noChangeAspect="1"/>
          </p:cNvPicPr>
          <p:nvPr/>
        </p:nvPicPr>
        <p:blipFill>
          <a:blip r:embed="rId4"/>
          <a:srcRect l="8780" r="11224" b="55579"/>
          <a:stretch>
            <a:fillRect/>
          </a:stretch>
        </p:blipFill>
        <p:spPr>
          <a:xfrm>
            <a:off x="381000" y="2209800"/>
            <a:ext cx="8033657" cy="3429000"/>
          </a:xfrm>
          <a:prstGeom prst="rect">
            <a:avLst/>
          </a:prstGeom>
        </p:spPr>
      </p:pic>
      <p:pic>
        <p:nvPicPr>
          <p:cNvPr id="15" name="Picture 14" descr="14.jpg"/>
          <p:cNvPicPr>
            <a:picLocks noChangeAspect="1"/>
          </p:cNvPicPr>
          <p:nvPr/>
        </p:nvPicPr>
        <p:blipFill>
          <a:blip r:embed="rId4"/>
          <a:srcRect l="8780" t="82449" r="6346"/>
          <a:stretch>
            <a:fillRect/>
          </a:stretch>
        </p:blipFill>
        <p:spPr>
          <a:xfrm>
            <a:off x="358723" y="4267200"/>
            <a:ext cx="8149907" cy="1295400"/>
          </a:xfrm>
          <a:prstGeom prst="rect">
            <a:avLst/>
          </a:prstGeom>
        </p:spPr>
      </p:pic>
      <p:pic>
        <p:nvPicPr>
          <p:cNvPr id="16" name="Picture 15" descr="14.jpg"/>
          <p:cNvPicPr>
            <a:picLocks noChangeAspect="1"/>
          </p:cNvPicPr>
          <p:nvPr/>
        </p:nvPicPr>
        <p:blipFill>
          <a:blip r:embed="rId4"/>
          <a:srcRect l="8780" t="54575" r="6346" b="17551"/>
          <a:stretch>
            <a:fillRect/>
          </a:stretch>
        </p:blipFill>
        <p:spPr>
          <a:xfrm>
            <a:off x="381000" y="2192215"/>
            <a:ext cx="8149907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Dependability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9248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Module Availability</a:t>
            </a:r>
          </a:p>
          <a:p>
            <a:r>
              <a:rPr lang="en-US" sz="2400" dirty="0" smtClean="0"/>
              <a:t>measure of the service accomplishment </a:t>
            </a:r>
          </a:p>
          <a:p>
            <a:r>
              <a:rPr lang="en-US" sz="2400" dirty="0" smtClean="0"/>
              <a:t>	w.r.t the alternation between the two states of </a:t>
            </a:r>
          </a:p>
          <a:p>
            <a:r>
              <a:rPr lang="en-US" sz="2400" dirty="0" smtClean="0"/>
              <a:t>	accomplishment and interruption.</a:t>
            </a:r>
          </a:p>
          <a:p>
            <a:endParaRPr lang="en-US" sz="2400" dirty="0" smtClean="0"/>
          </a:p>
          <a:p>
            <a:r>
              <a:rPr lang="en-US" sz="2400" dirty="0" smtClean="0"/>
              <a:t>For non-redundant systems with repair, </a:t>
            </a:r>
          </a:p>
          <a:p>
            <a:pPr algn="ctr"/>
            <a:endParaRPr lang="en-US" sz="2400" dirty="0" smtClean="0"/>
          </a:p>
          <a:p>
            <a:pPr algn="ctr"/>
            <a:r>
              <a:rPr lang="en-US" sz="2400" dirty="0" smtClean="0"/>
              <a:t>module availability = (MTTF) / (MTTF + MTTR)</a:t>
            </a: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Comparing Any Two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772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When a computer is faster than another?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Response time – also referred to as Execution time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-time between start and completion of an event.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Throughput – also referred to as Bandwidth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-the total amount of work done in a given time.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X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is faster than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Y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=&gt;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X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is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times faster than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Y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Execution-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Time</a:t>
            </a:r>
            <a:r>
              <a:rPr lang="en-US" sz="24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Y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/ Execution-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Time</a:t>
            </a:r>
            <a:r>
              <a:rPr lang="en-US" sz="24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X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 algn="ctr"/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algn="ctr"/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=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Performance</a:t>
            </a:r>
            <a:r>
              <a:rPr lang="en-US" sz="24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X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/ </a:t>
            </a:r>
            <a:r>
              <a:rPr lang="en-US" sz="24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Performance</a:t>
            </a:r>
            <a:r>
              <a:rPr lang="en-US" sz="2400" b="1" baseline="-250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Y</a:t>
            </a:r>
            <a:endParaRPr lang="en-US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1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Comparing Any Two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772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Bandwidth has outpaced latency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simple rule of thumb: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bandwidth grows by at least the square of the improvement in latency.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Wire delay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scales poorly compared to transistor performance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has become a major design limitation for large ICs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often more critical than transistor switching delay</a:t>
            </a:r>
          </a:p>
          <a:p>
            <a:endParaRPr lang="en-US" sz="24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Scalability – being able to expand memory, the number of processors, and disks</a:t>
            </a:r>
            <a:endParaRPr lang="en-US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2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Quantitative Principles of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772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Parallelism</a:t>
            </a:r>
            <a:endParaRPr lang="en-US" sz="24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Parallelism at the system level – Spreading workload of handling requests among the processors and disk.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Parallelism at the data level – spreading of data across many disks for parallel reads and writes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Parallelism at the individual level – parallelism among instructions through pipelining.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Parallelism at digital design level – </a:t>
            </a:r>
          </a:p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carry-</a:t>
            </a:r>
            <a:r>
              <a:rPr lang="en-US" sz="2400" i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lookahead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(used by ALU to speed up the process of computing sum) </a:t>
            </a:r>
          </a:p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set-associative caches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(multiple banks of memory typically searched in parallel)</a:t>
            </a:r>
            <a:endParaRPr lang="en-US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2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2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Quantitative Principles of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772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Principal of Locality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Programs tend to reuse data and instructions they have used recently.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Rule of thumb:</a:t>
            </a:r>
          </a:p>
          <a:p>
            <a:pPr algn="ctr"/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program spends 90% of its execution time in only 10% of the code.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Two types of locality:</a:t>
            </a:r>
          </a:p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Temporal Locality: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recently accessed items are likely to be accessed in the near future.</a:t>
            </a:r>
          </a:p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Spatial Locality: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items whose addresses are near one another tend to be referenced close together in time.</a:t>
            </a:r>
            <a:endParaRPr lang="en-US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2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2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Quantitative Principles of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772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Focus on the common cases: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 making a design trade-off,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favor the frequent case over the infrequent case.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This principle applies when determining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how to spend resources,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since the impact of the improvement is higher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if the occurrence is frequent.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Laws Governing Parallelism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772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 applying the simple principle of common cases,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million dollar question is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what the frequent case is and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how much performance can be improved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	by making that case faster?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Two fundamental laws can be helpful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Amdahl’s Law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and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Little’s Law</a:t>
            </a:r>
            <a:endParaRPr lang="en-US" sz="24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Amdahl’s 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6962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proposed by Gene Amdahl in 1967</a:t>
            </a:r>
          </a:p>
          <a:p>
            <a:r>
              <a:rPr lang="en-US" sz="2400" b="1" dirty="0" smtClean="0"/>
              <a:t>Statement: </a:t>
            </a:r>
          </a:p>
          <a:p>
            <a:endParaRPr lang="en-US" sz="2400" b="1" i="1" dirty="0" smtClean="0"/>
          </a:p>
          <a:p>
            <a:pPr algn="ctr"/>
            <a:r>
              <a:rPr lang="en-US" sz="2400" i="1" dirty="0" smtClean="0"/>
              <a:t>"the performance improvement to be gained </a:t>
            </a:r>
          </a:p>
          <a:p>
            <a:pPr algn="ctr"/>
            <a:r>
              <a:rPr lang="en-US" sz="2400" i="1" dirty="0" smtClean="0"/>
              <a:t>from using some faster mode of execution </a:t>
            </a:r>
          </a:p>
          <a:p>
            <a:pPr algn="ctr"/>
            <a:r>
              <a:rPr lang="en-US" sz="2400" i="1" u="sng" dirty="0" smtClean="0"/>
              <a:t>is limited by </a:t>
            </a:r>
            <a:r>
              <a:rPr lang="en-US" sz="2400" i="1" dirty="0" smtClean="0"/>
              <a:t>the fraction of the time</a:t>
            </a:r>
          </a:p>
          <a:p>
            <a:pPr algn="ctr"/>
            <a:r>
              <a:rPr lang="en-US" sz="2400" i="1" dirty="0" smtClean="0"/>
              <a:t>the faster mode can be used”. </a:t>
            </a:r>
          </a:p>
          <a:p>
            <a:endParaRPr lang="en-US" sz="2400" i="1" dirty="0" smtClean="0"/>
          </a:p>
          <a:p>
            <a:r>
              <a:rPr lang="en-US" sz="2400" dirty="0" smtClean="0"/>
              <a:t>Deals with the potential </a:t>
            </a:r>
            <a:r>
              <a:rPr lang="en-US" sz="2400" u="sng" dirty="0" smtClean="0"/>
              <a:t>speedup</a:t>
            </a:r>
            <a:r>
              <a:rPr lang="en-US" sz="2400" dirty="0" smtClean="0"/>
              <a:t> of a program using</a:t>
            </a:r>
          </a:p>
          <a:p>
            <a:r>
              <a:rPr lang="en-US" sz="2400" dirty="0" smtClean="0"/>
              <a:t>multiple processors compared to a single processor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2438400" y="4163033"/>
            <a:ext cx="632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      Performance with enhancement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Performance without enhancement</a:t>
            </a:r>
          </a:p>
        </p:txBody>
      </p:sp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Amdahl’s 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772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What is speedup?</a:t>
            </a:r>
          </a:p>
          <a:p>
            <a:endParaRPr lang="en-US" sz="2400" dirty="0" smtClean="0"/>
          </a:p>
          <a:p>
            <a:r>
              <a:rPr lang="en-US" sz="2400" dirty="0" smtClean="0"/>
              <a:t>Speedup is the ratio that tells </a:t>
            </a:r>
          </a:p>
          <a:p>
            <a:endParaRPr lang="en-US" sz="2400" dirty="0" smtClean="0"/>
          </a:p>
          <a:p>
            <a:r>
              <a:rPr lang="en-US" sz="2400" dirty="0" smtClean="0"/>
              <a:t>how much faster a task will run using the computer with the enhancement as opposed to the original computer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590800" y="4572000"/>
            <a:ext cx="52578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85800" y="3944815"/>
            <a:ext cx="1752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Speedup =</a:t>
            </a:r>
            <a:endParaRPr lang="en-US" sz="1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2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Amdahl’s 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80010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Example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Consider a program running on a single processor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such that a fraction </a:t>
            </a:r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(1 - </a:t>
            </a:r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f)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of the execution time involves code that is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inherently sequential,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and a fraction </a:t>
            </a:r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that involves code that is infinitely parallelizable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with no scheduling overhead.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Let </a:t>
            </a:r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be the total execution time of the program using a single processor.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Then what will be the speedup using a parallel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processor with </a:t>
            </a:r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Processors that fully exploits the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parallel portion of the program?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Amdahl’s 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371600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speedup using a parallel processor with </a:t>
            </a:r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Processors that fully exploits the parallel portion of the program will be: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2895600"/>
            <a:ext cx="7885196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 l="48726"/>
          <a:stretch>
            <a:fillRect/>
          </a:stretch>
        </p:blipFill>
        <p:spPr bwMode="auto">
          <a:xfrm>
            <a:off x="1828800" y="4972050"/>
            <a:ext cx="2824973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5"/>
          <a:srcRect r="51593"/>
          <a:stretch>
            <a:fillRect/>
          </a:stretch>
        </p:blipFill>
        <p:spPr bwMode="auto">
          <a:xfrm>
            <a:off x="1524000" y="3810000"/>
            <a:ext cx="26670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TextBox 15"/>
          <p:cNvSpPr txBox="1"/>
          <p:nvPr/>
        </p:nvSpPr>
        <p:spPr>
          <a:xfrm>
            <a:off x="4800600" y="4343400"/>
            <a:ext cx="350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Two conclusions: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1- What if 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 is small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2- What if 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 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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</a:t>
            </a:r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?</a:t>
            </a:r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4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 b="91859"/>
          <a:stretch>
            <a:fillRect/>
          </a:stretch>
        </p:blipFill>
        <p:spPr bwMode="auto">
          <a:xfrm>
            <a:off x="685800" y="1538628"/>
            <a:ext cx="7467600" cy="366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Illustration of Amdahl’s Law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 t="18625" b="72909"/>
          <a:stretch>
            <a:fillRect/>
          </a:stretch>
        </p:blipFill>
        <p:spPr bwMode="auto">
          <a:xfrm>
            <a:off x="685800" y="2362200"/>
            <a:ext cx="7467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/>
          <a:srcRect t="26699" b="19121"/>
          <a:stretch>
            <a:fillRect/>
          </a:stretch>
        </p:blipFill>
        <p:spPr bwMode="auto">
          <a:xfrm>
            <a:off x="685800" y="2743200"/>
            <a:ext cx="74676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/>
          <a:srcRect t="81270"/>
          <a:stretch>
            <a:fillRect/>
          </a:stretch>
        </p:blipFill>
        <p:spPr bwMode="auto">
          <a:xfrm>
            <a:off x="685800" y="5181600"/>
            <a:ext cx="7467600" cy="84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3370" y="1905000"/>
            <a:ext cx="7238999" cy="433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Example of Amdahl’s Law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 l="918" t="5245" r="1722" b="50000"/>
          <a:stretch>
            <a:fillRect/>
          </a:stretch>
        </p:blipFill>
        <p:spPr bwMode="auto">
          <a:xfrm>
            <a:off x="381000" y="1752600"/>
            <a:ext cx="8077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4"/>
          <a:srcRect l="918" t="50000" r="1722" b="2448"/>
          <a:stretch>
            <a:fillRect/>
          </a:stretch>
        </p:blipFill>
        <p:spPr bwMode="auto">
          <a:xfrm>
            <a:off x="381000" y="3657600"/>
            <a:ext cx="80772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Example of Amdahl’s Law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 t="90566"/>
          <a:stretch>
            <a:fillRect/>
          </a:stretch>
        </p:blipFill>
        <p:spPr bwMode="auto">
          <a:xfrm>
            <a:off x="229158" y="4876800"/>
            <a:ext cx="8447928" cy="594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/>
          <a:srcRect t="73635" b="11853"/>
          <a:stretch>
            <a:fillRect/>
          </a:stretch>
        </p:blipFill>
        <p:spPr bwMode="auto">
          <a:xfrm>
            <a:off x="228600" y="3810000"/>
            <a:ext cx="844792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/>
          <a:srcRect t="55495" b="29993"/>
          <a:stretch>
            <a:fillRect/>
          </a:stretch>
        </p:blipFill>
        <p:spPr bwMode="auto">
          <a:xfrm>
            <a:off x="228600" y="2667000"/>
            <a:ext cx="844792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/>
          <a:srcRect t="47029" b="45715"/>
          <a:stretch>
            <a:fillRect/>
          </a:stretch>
        </p:blipFill>
        <p:spPr bwMode="auto">
          <a:xfrm>
            <a:off x="228600" y="2362200"/>
            <a:ext cx="844792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 b="57491"/>
          <a:stretch>
            <a:fillRect/>
          </a:stretch>
        </p:blipFill>
        <p:spPr bwMode="auto">
          <a:xfrm>
            <a:off x="169985" y="2286000"/>
            <a:ext cx="8458200" cy="2681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Little’s 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371600"/>
            <a:ext cx="8001000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 fundamental and simple relation with broad applications is Little’s Law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Consider a steady state system to which </a:t>
            </a:r>
          </a:p>
          <a:p>
            <a:r>
              <a:rPr lang="en-US" sz="23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Items arrive at an average rate of </a:t>
            </a:r>
            <a:r>
              <a:rPr lang="en-US" sz="2300" b="1" i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</a:t>
            </a:r>
            <a:r>
              <a:rPr lang="en-US" sz="23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items per unit time. </a:t>
            </a:r>
          </a:p>
          <a:p>
            <a:r>
              <a:rPr lang="en-US" sz="23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Items stay in the system an average of </a:t>
            </a:r>
            <a:r>
              <a:rPr lang="en-US" sz="23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</a:t>
            </a:r>
            <a:r>
              <a:rPr lang="en-US" sz="23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units of time (i.e., average response time). </a:t>
            </a:r>
          </a:p>
          <a:p>
            <a:r>
              <a:rPr lang="en-US" sz="23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Finally, there is an average of </a:t>
            </a:r>
            <a:r>
              <a:rPr lang="en-US" sz="23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</a:t>
            </a:r>
            <a:r>
              <a:rPr lang="en-US" sz="23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units in the system at </a:t>
            </a:r>
            <a:r>
              <a:rPr lang="en-US" sz="23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any one time.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Little’s Law relates these three variables as</a:t>
            </a:r>
          </a:p>
          <a:p>
            <a:pPr algn="ctr"/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L = </a:t>
            </a:r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  <a:sym typeface="Symbol"/>
              </a:rPr>
              <a:t> </a:t>
            </a:r>
            <a:r>
              <a:rPr lang="en-US" sz="2400" b="1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</a:t>
            </a:r>
            <a:endParaRPr lang="en-US" sz="2400" b="1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20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47750" cy="104775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BE6DF13-91C9-40BF-82CF-6449B42E55FB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304002"/>
            <a:ext cx="46693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Computer Science  &amp; Information Technology Department</a:t>
            </a:r>
          </a:p>
          <a:p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Sir Syed University of </a:t>
            </a:r>
            <a:r>
              <a:rPr lang="en-US" sz="1200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Engg</a:t>
            </a:r>
            <a:r>
              <a:rPr lang="en-US" sz="12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 &amp; Tech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29000" y="6488668"/>
            <a:ext cx="2817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Lecture by: Mr. Shakir Karim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Little’s Law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371600"/>
            <a:ext cx="8001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Under steady state conditions,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average number of items in a queuing system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equals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average rate at which items arrive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multiplied by </a:t>
            </a:r>
          </a:p>
          <a:p>
            <a:pPr algn="ctr"/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The average time that an item spends in the system. </a:t>
            </a:r>
          </a:p>
          <a:p>
            <a:endParaRPr lang="en-US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This relationship requires very few assumptions. </a:t>
            </a:r>
          </a:p>
          <a:p>
            <a:r>
              <a:rPr lang="en-US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No need to know: </a:t>
            </a:r>
          </a:p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What the service time distribution is? </a:t>
            </a:r>
          </a:p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What the distribution of arrival times is? </a:t>
            </a:r>
          </a:p>
          <a:p>
            <a:r>
              <a:rPr lang="en-US" sz="2400" i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Which order (or priority) items are served in?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20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2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2000"/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1936</TotalTime>
  <Words>2434</Words>
  <Application>Microsoft Office PowerPoint</Application>
  <PresentationFormat>On-screen Show (4:3)</PresentationFormat>
  <Paragraphs>529</Paragraphs>
  <Slides>39</Slides>
  <Notes>35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Oriel</vt:lpstr>
      <vt:lpstr>Computer Organization &amp; Assembly Language(CS-215T)</vt:lpstr>
      <vt:lpstr>Slide 2</vt:lpstr>
      <vt:lpstr>Trends in Technology</vt:lpstr>
      <vt:lpstr>Trends in Technology</vt:lpstr>
      <vt:lpstr>Trends in Technology</vt:lpstr>
      <vt:lpstr>Trends in Technology</vt:lpstr>
      <vt:lpstr>Trends in Technology</vt:lpstr>
      <vt:lpstr>Trends in Technology</vt:lpstr>
      <vt:lpstr>Microprocessor–the Speed Monster</vt:lpstr>
      <vt:lpstr>Isn’t it fascinating!</vt:lpstr>
      <vt:lpstr>Why The Speed Monster?</vt:lpstr>
      <vt:lpstr>Performance Imbalance</vt:lpstr>
      <vt:lpstr>Techniques To Feed The Monster</vt:lpstr>
      <vt:lpstr>Balancing the Imbalance</vt:lpstr>
      <vt:lpstr>Improvement In  Chip Organization &amp; Architecture</vt:lpstr>
      <vt:lpstr>Obstacles In Improvement</vt:lpstr>
      <vt:lpstr>Trends in Power &amp; Energy in ICs </vt:lpstr>
      <vt:lpstr>Trends in Power &amp; Energy in ICs </vt:lpstr>
      <vt:lpstr>Trends in Power &amp; Energy in ICs </vt:lpstr>
      <vt:lpstr>Trends in Power &amp; Energy in ICs </vt:lpstr>
      <vt:lpstr>Dependability</vt:lpstr>
      <vt:lpstr>Dependability</vt:lpstr>
      <vt:lpstr>Dependability</vt:lpstr>
      <vt:lpstr>Dependability</vt:lpstr>
      <vt:lpstr>Comparing Any Two Systems</vt:lpstr>
      <vt:lpstr>Comparing Any Two Systems</vt:lpstr>
      <vt:lpstr>Quantitative Principles of Design</vt:lpstr>
      <vt:lpstr>Quantitative Principles of Design</vt:lpstr>
      <vt:lpstr>Quantitative Principles of Design</vt:lpstr>
      <vt:lpstr>Laws Governing Parallelism</vt:lpstr>
      <vt:lpstr>Amdahl’s Law</vt:lpstr>
      <vt:lpstr>Amdahl’s Law</vt:lpstr>
      <vt:lpstr>Amdahl’s Law</vt:lpstr>
      <vt:lpstr>Amdahl’s Law</vt:lpstr>
      <vt:lpstr>Illustration of Amdahl’s Law</vt:lpstr>
      <vt:lpstr>Example of Amdahl’s Law</vt:lpstr>
      <vt:lpstr>Example of Amdahl’s Law</vt:lpstr>
      <vt:lpstr>Little’s Law</vt:lpstr>
      <vt:lpstr>Little’s Law</vt:lpstr>
    </vt:vector>
  </TitlesOfParts>
  <Company>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SHAKIR KARIM BUKSH</dc:creator>
  <cp:lastModifiedBy>SHAKIR KARIM BUKSH</cp:lastModifiedBy>
  <cp:revision>432</cp:revision>
  <dcterms:created xsi:type="dcterms:W3CDTF">2020-06-10T17:52:00Z</dcterms:created>
  <dcterms:modified xsi:type="dcterms:W3CDTF">2023-12-12T12:41:04Z</dcterms:modified>
</cp:coreProperties>
</file>