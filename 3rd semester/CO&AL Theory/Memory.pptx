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3"/>
  </p:notesMasterIdLst>
  <p:sldIdLst>
    <p:sldId id="256" r:id="rId2"/>
    <p:sldId id="257" r:id="rId3"/>
    <p:sldId id="374" r:id="rId4"/>
    <p:sldId id="386" r:id="rId5"/>
    <p:sldId id="397" r:id="rId6"/>
    <p:sldId id="363" r:id="rId7"/>
    <p:sldId id="38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1" r:id="rId21"/>
    <p:sldId id="41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612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E00FA-99B1-4B7C-922C-91E3EACBCE5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149835-2AE8-48E9-A0A0-E4DE86389F87}">
      <dgm:prSet phldrT="[Text]" custT="1"/>
      <dgm:spPr/>
      <dgm:t>
        <a:bodyPr/>
        <a:lstStyle/>
        <a:p>
          <a:pPr algn="ctr"/>
          <a:r>
            <a:rPr lang="en-US" sz="3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Week 11</a:t>
          </a:r>
          <a:endParaRPr lang="en-US" sz="32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8FF7A990-80C1-4403-A4A2-BF3BC217509C}" type="parTrans" cxnId="{427AA49F-E0AB-4E81-B5D4-FDFC97BAE268}">
      <dgm:prSet/>
      <dgm:spPr/>
      <dgm:t>
        <a:bodyPr/>
        <a:lstStyle/>
        <a:p>
          <a:pPr algn="ctr"/>
          <a:endParaRPr lang="en-US"/>
        </a:p>
      </dgm:t>
    </dgm:pt>
    <dgm:pt modelId="{9B42BD0A-AD4D-41DF-A6DC-E375AE9247E4}" type="sibTrans" cxnId="{427AA49F-E0AB-4E81-B5D4-FDFC97BAE268}">
      <dgm:prSet/>
      <dgm:spPr/>
      <dgm:t>
        <a:bodyPr/>
        <a:lstStyle/>
        <a:p>
          <a:pPr algn="ctr"/>
          <a:endParaRPr lang="en-US"/>
        </a:p>
      </dgm:t>
    </dgm:pt>
    <dgm:pt modelId="{834EDAEA-2DF4-4D2B-9DC1-395079347274}">
      <dgm:prSet phldrT="[Text]" custT="1"/>
      <dgm:spPr/>
      <dgm:t>
        <a:bodyPr/>
        <a:lstStyle/>
        <a:p>
          <a:pPr algn="ctr"/>
          <a:r>
            <a:rPr lang="en-US" sz="3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Computer Memory Types &amp; Hierarchy,</a:t>
          </a:r>
        </a:p>
        <a:p>
          <a:pPr algn="ctr"/>
          <a:r>
            <a:rPr lang="en-US" sz="3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Cache Memory</a:t>
          </a:r>
          <a:endParaRPr lang="en-US" sz="32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297EBB0A-0D1C-4601-AF61-12A2A256BA78}" type="parTrans" cxnId="{FCD6D361-30F3-49CE-A192-B22942066955}">
      <dgm:prSet/>
      <dgm:spPr/>
      <dgm:t>
        <a:bodyPr/>
        <a:lstStyle/>
        <a:p>
          <a:pPr algn="ctr"/>
          <a:endParaRPr lang="en-US"/>
        </a:p>
      </dgm:t>
    </dgm:pt>
    <dgm:pt modelId="{C3A0AC08-E5E3-4C4A-AF06-7F003F1FDB3D}" type="sibTrans" cxnId="{FCD6D361-30F3-49CE-A192-B22942066955}">
      <dgm:prSet/>
      <dgm:spPr/>
      <dgm:t>
        <a:bodyPr/>
        <a:lstStyle/>
        <a:p>
          <a:pPr algn="ctr"/>
          <a:endParaRPr lang="en-US"/>
        </a:p>
      </dgm:t>
    </dgm:pt>
    <dgm:pt modelId="{6F930A2C-1140-489B-9989-5B8CE06387CA}" type="pres">
      <dgm:prSet presAssocID="{146E00FA-99B1-4B7C-922C-91E3EACBCE5E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FAFB407-0E63-44D8-8905-13D48608FCF8}" type="pres">
      <dgm:prSet presAssocID="{84149835-2AE8-48E9-A0A0-E4DE86389F87}" presName="horFlow" presStyleCnt="0"/>
      <dgm:spPr/>
    </dgm:pt>
    <dgm:pt modelId="{BB7BDF23-4663-405D-A24A-C6E41B57E9B6}" type="pres">
      <dgm:prSet presAssocID="{84149835-2AE8-48E9-A0A0-E4DE86389F87}" presName="bigChev" presStyleLbl="node1" presStyleIdx="0" presStyleCnt="1" custScaleX="49959" custScaleY="29388"/>
      <dgm:spPr/>
      <dgm:t>
        <a:bodyPr/>
        <a:lstStyle/>
        <a:p>
          <a:endParaRPr lang="en-US"/>
        </a:p>
      </dgm:t>
    </dgm:pt>
    <dgm:pt modelId="{94655F4F-175A-4E31-B316-19271C61E035}" type="pres">
      <dgm:prSet presAssocID="{297EBB0A-0D1C-4601-AF61-12A2A256BA78}" presName="parTrans" presStyleCnt="0"/>
      <dgm:spPr/>
    </dgm:pt>
    <dgm:pt modelId="{5207539B-76C0-4D01-B557-153DAFCD94F4}" type="pres">
      <dgm:prSet presAssocID="{834EDAEA-2DF4-4D2B-9DC1-395079347274}" presName="node" presStyleLbl="alignAccFollowNode1" presStyleIdx="0" presStyleCnt="1" custScaleX="120246" custScaleY="1000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85ED82-1503-4B2A-A307-72636C33AFC7}" type="presOf" srcId="{834EDAEA-2DF4-4D2B-9DC1-395079347274}" destId="{5207539B-76C0-4D01-B557-153DAFCD94F4}" srcOrd="0" destOrd="0" presId="urn:microsoft.com/office/officeart/2005/8/layout/lProcess3"/>
    <dgm:cxn modelId="{FCD6D361-30F3-49CE-A192-B22942066955}" srcId="{84149835-2AE8-48E9-A0A0-E4DE86389F87}" destId="{834EDAEA-2DF4-4D2B-9DC1-395079347274}" srcOrd="0" destOrd="0" parTransId="{297EBB0A-0D1C-4601-AF61-12A2A256BA78}" sibTransId="{C3A0AC08-E5E3-4C4A-AF06-7F003F1FDB3D}"/>
    <dgm:cxn modelId="{427AA49F-E0AB-4E81-B5D4-FDFC97BAE268}" srcId="{146E00FA-99B1-4B7C-922C-91E3EACBCE5E}" destId="{84149835-2AE8-48E9-A0A0-E4DE86389F87}" srcOrd="0" destOrd="0" parTransId="{8FF7A990-80C1-4403-A4A2-BF3BC217509C}" sibTransId="{9B42BD0A-AD4D-41DF-A6DC-E375AE9247E4}"/>
    <dgm:cxn modelId="{6D93409D-B9B3-47F4-9870-BE650D21B228}" type="presOf" srcId="{84149835-2AE8-48E9-A0A0-E4DE86389F87}" destId="{BB7BDF23-4663-405D-A24A-C6E41B57E9B6}" srcOrd="0" destOrd="0" presId="urn:microsoft.com/office/officeart/2005/8/layout/lProcess3"/>
    <dgm:cxn modelId="{ED214340-2EED-4FB6-84FF-1EA848187EC1}" type="presOf" srcId="{146E00FA-99B1-4B7C-922C-91E3EACBCE5E}" destId="{6F930A2C-1140-489B-9989-5B8CE06387CA}" srcOrd="0" destOrd="0" presId="urn:microsoft.com/office/officeart/2005/8/layout/lProcess3"/>
    <dgm:cxn modelId="{B05AFB5A-71D5-447F-AD5A-2C489E3B3769}" type="presParOf" srcId="{6F930A2C-1140-489B-9989-5B8CE06387CA}" destId="{7FAFB407-0E63-44D8-8905-13D48608FCF8}" srcOrd="0" destOrd="0" presId="urn:microsoft.com/office/officeart/2005/8/layout/lProcess3"/>
    <dgm:cxn modelId="{AC8F4AD4-A90D-4299-A859-A241288B7FCC}" type="presParOf" srcId="{7FAFB407-0E63-44D8-8905-13D48608FCF8}" destId="{BB7BDF23-4663-405D-A24A-C6E41B57E9B6}" srcOrd="0" destOrd="0" presId="urn:microsoft.com/office/officeart/2005/8/layout/lProcess3"/>
    <dgm:cxn modelId="{7AB1D3C0-6142-4DE3-B462-B4F3BFD17954}" type="presParOf" srcId="{7FAFB407-0E63-44D8-8905-13D48608FCF8}" destId="{94655F4F-175A-4E31-B316-19271C61E035}" srcOrd="1" destOrd="0" presId="urn:microsoft.com/office/officeart/2005/8/layout/lProcess3"/>
    <dgm:cxn modelId="{679C19BC-BA4B-4062-8431-5DBE5FF8FA4C}" type="presParOf" srcId="{7FAFB407-0E63-44D8-8905-13D48608FCF8}" destId="{5207539B-76C0-4D01-B557-153DAFCD94F4}" srcOrd="2" destOrd="0" presId="urn:microsoft.com/office/officeart/2005/8/layout/lProcess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94817-46F2-4756-B609-42995862EFEE}" type="datetimeFigureOut">
              <a:rPr lang="en-US" smtClean="0"/>
              <a:pPr/>
              <a:t>12/13/2023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DABB1-BB64-46D2-9F7F-CCD9F2759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DABB1-BB64-46D2-9F7F-CCD9F2759BC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290C9F2-EDB1-4692-922B-9D563E0575E3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E9288A8-CEBC-4287-BF49-D35FBB06B4F3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80AE009-4601-45E6-9FDD-27B34DE9A3AE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0385A-1274-49B0-90F6-20B94AEAC131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5EC5-826B-47F2-8F1B-CAF1C654FD77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2A515-3FF5-4B2C-BFE6-4AE036B632E9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278B-3C7D-4BAD-A684-F361939B12E5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2526117-17CC-44B2-BBE8-C69ECDD8E01A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FBCDD46-1F4E-4DC4-9B3E-65395105FE6B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3B5B-772B-4F9B-BF30-19E5250DBA80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7AAE-DA02-47A6-A117-CF4821E01DA6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DB26F27-BEF4-4763-938B-F397247F9728}" type="datetime1">
              <a:rPr lang="en-US" smtClean="0"/>
              <a:pPr/>
              <a:t>12/13/2023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905000"/>
            <a:ext cx="6172200" cy="12954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Organization &amp; Assembly language(CS-215T)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343400"/>
            <a:ext cx="6248400" cy="1981200"/>
          </a:xfrm>
        </p:spPr>
        <p:txBody>
          <a:bodyPr>
            <a:noAutofit/>
          </a:bodyPr>
          <a:lstStyle/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Lecture by:</a:t>
            </a:r>
          </a:p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Mr. Shakir Karim</a:t>
            </a:r>
          </a:p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Assistant Professor</a:t>
            </a:r>
          </a:p>
          <a:p>
            <a:pPr algn="r"/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DoCS&amp;IT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SSUET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1722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Batch </a:t>
            </a:r>
            <a:r>
              <a:rPr lang="en-US" dirty="0" smtClean="0"/>
              <a:t>2022F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</p:nvPr>
        </p:nvGraphicFramePr>
        <p:xfrm>
          <a:off x="304800" y="2514600"/>
          <a:ext cx="8305800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Contents To Be Covered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524000"/>
            <a:ext cx="8077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Memory Systems</a:t>
            </a: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Characteristics of Memory System</a:t>
            </a: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Why Computer Hierarchy?</a:t>
            </a: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Concept of Locality of Reference</a:t>
            </a: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AutoNum type="arabicPeriod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and Element of Cache Design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Memory System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81000" y="1374648"/>
            <a:ext cx="8077200" cy="4873752"/>
          </a:xfrm>
        </p:spPr>
        <p:txBody>
          <a:bodyPr/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is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logically structured – linear array of locations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Locations has addresses from 0 to maximum size a processor can address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Classification is based on distance from the processor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number of machine cycles required for access</a:t>
            </a:r>
          </a:p>
          <a:p>
            <a:endParaRPr lang="en-US" i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Closer to processor, Faster the memory</a:t>
            </a: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4648200" y="3124200"/>
            <a:ext cx="13716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62000" y="3997570"/>
            <a:ext cx="7162800" cy="381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Characteristics Of Memory System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t="31288" r="36730" b="50146"/>
          <a:stretch>
            <a:fillRect/>
          </a:stretch>
        </p:blipFill>
        <p:spPr bwMode="auto">
          <a:xfrm>
            <a:off x="454687" y="2819400"/>
            <a:ext cx="489689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 r="36990" b="67543"/>
          <a:stretch>
            <a:fillRect/>
          </a:stretch>
        </p:blipFill>
        <p:spPr bwMode="auto">
          <a:xfrm>
            <a:off x="457200" y="1430215"/>
            <a:ext cx="4876800" cy="14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 t="49854" r="36958" b="31581"/>
          <a:stretch>
            <a:fillRect/>
          </a:stretch>
        </p:blipFill>
        <p:spPr bwMode="auto">
          <a:xfrm>
            <a:off x="454687" y="3657600"/>
            <a:ext cx="48793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 t="68419" r="36730"/>
          <a:stretch>
            <a:fillRect/>
          </a:stretch>
        </p:blipFill>
        <p:spPr bwMode="auto">
          <a:xfrm>
            <a:off x="437102" y="4495800"/>
            <a:ext cx="4896898" cy="142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/>
          <a:srcRect l="63270" b="73775"/>
          <a:stretch>
            <a:fillRect/>
          </a:stretch>
        </p:blipFill>
        <p:spPr bwMode="auto">
          <a:xfrm>
            <a:off x="5334000" y="1424355"/>
            <a:ext cx="2842845" cy="1184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/>
          <a:srcRect l="62285" t="24537" b="43395"/>
          <a:stretch>
            <a:fillRect/>
          </a:stretch>
        </p:blipFill>
        <p:spPr bwMode="auto">
          <a:xfrm>
            <a:off x="5257800" y="2514600"/>
            <a:ext cx="291904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/>
          <a:srcRect l="63270" t="56216" b="26517"/>
          <a:stretch>
            <a:fillRect/>
          </a:stretch>
        </p:blipFill>
        <p:spPr bwMode="auto">
          <a:xfrm>
            <a:off x="5334000" y="3962400"/>
            <a:ext cx="2842845" cy="779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/>
          <a:srcRect l="62285" t="73483"/>
          <a:stretch>
            <a:fillRect/>
          </a:stretch>
        </p:blipFill>
        <p:spPr bwMode="auto">
          <a:xfrm>
            <a:off x="5257800" y="4724400"/>
            <a:ext cx="2919045" cy="119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848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Hierarchy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28600" y="1371600"/>
            <a:ext cx="8458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Why Hierarchy?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To cater for the trade-off among three characteristics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 much?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i.e., Capacity?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 Fast?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i.e., Access Time?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 Expensive?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i.e., Cost?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Possible trade-off relationships hold: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Access Time	Cost per bit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Capacity		Cost per bit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	Capacity		Access Time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Up Arrow 15"/>
          <p:cNvSpPr/>
          <p:nvPr/>
        </p:nvSpPr>
        <p:spPr>
          <a:xfrm flipH="1" flipV="1">
            <a:off x="914400" y="4800600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 flipH="1">
            <a:off x="3681045" y="4759570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Up Arrow 17"/>
          <p:cNvSpPr/>
          <p:nvPr/>
        </p:nvSpPr>
        <p:spPr>
          <a:xfrm flipH="1">
            <a:off x="1828800" y="5181600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Up Arrow 18"/>
          <p:cNvSpPr/>
          <p:nvPr/>
        </p:nvSpPr>
        <p:spPr>
          <a:xfrm flipH="1">
            <a:off x="2743200" y="5545015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Up Arrow 19"/>
          <p:cNvSpPr/>
          <p:nvPr/>
        </p:nvSpPr>
        <p:spPr>
          <a:xfrm flipH="1" flipV="1">
            <a:off x="4648200" y="5199185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 flipH="1">
            <a:off x="5562600" y="5486400"/>
            <a:ext cx="228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867400" y="3505200"/>
            <a:ext cx="281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Dilemma exists!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95400" y="5105400"/>
            <a:ext cx="5562600" cy="4572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miley Face 28"/>
          <p:cNvSpPr/>
          <p:nvPr/>
        </p:nvSpPr>
        <p:spPr>
          <a:xfrm>
            <a:off x="7010400" y="3886200"/>
            <a:ext cx="609600" cy="53340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667000" y="5486400"/>
            <a:ext cx="5105400" cy="4572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&quot;No&quot; Symbol 30"/>
          <p:cNvSpPr/>
          <p:nvPr/>
        </p:nvSpPr>
        <p:spPr>
          <a:xfrm>
            <a:off x="7115910" y="3950675"/>
            <a:ext cx="404445" cy="416170"/>
          </a:xfrm>
          <a:prstGeom prst="noSmoking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4800600"/>
            <a:ext cx="5257800" cy="381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miley Face 32"/>
          <p:cNvSpPr/>
          <p:nvPr/>
        </p:nvSpPr>
        <p:spPr>
          <a:xfrm>
            <a:off x="7010400" y="3886200"/>
            <a:ext cx="609600" cy="533400"/>
          </a:xfrm>
          <a:prstGeom prst="smileyF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&quot;No&quot; Symbol 33"/>
          <p:cNvSpPr/>
          <p:nvPr/>
        </p:nvSpPr>
        <p:spPr>
          <a:xfrm>
            <a:off x="7115910" y="3950675"/>
            <a:ext cx="404445" cy="416170"/>
          </a:xfrm>
          <a:prstGeom prst="noSmoking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04800" y="1447800"/>
            <a:ext cx="8382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 rot="19473810">
            <a:off x="149819" y="1150578"/>
            <a:ext cx="1489591" cy="4670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Solution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Round Single Corner Rectangle 39"/>
          <p:cNvSpPr/>
          <p:nvPr/>
        </p:nvSpPr>
        <p:spPr>
          <a:xfrm>
            <a:off x="2971800" y="1447800"/>
            <a:ext cx="152400" cy="381000"/>
          </a:xfrm>
          <a:prstGeom prst="round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5" grpId="0" animBg="1"/>
      <p:bldP spid="25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3" grpId="0" animBg="1"/>
      <p:bldP spid="34" grpId="0" animBg="1"/>
      <p:bldP spid="39" grpId="0" animBg="1"/>
      <p:bldP spid="35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848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Hierarchy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b="77493"/>
          <a:stretch>
            <a:fillRect/>
          </a:stretch>
        </p:blipFill>
        <p:spPr bwMode="auto">
          <a:xfrm>
            <a:off x="152400" y="1452561"/>
            <a:ext cx="8452816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 t="22507" b="50142"/>
          <a:stretch>
            <a:fillRect/>
          </a:stretch>
        </p:blipFill>
        <p:spPr bwMode="auto">
          <a:xfrm>
            <a:off x="152400" y="1828800"/>
            <a:ext cx="845281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rcRect t="45299" b="27350"/>
          <a:stretch>
            <a:fillRect/>
          </a:stretch>
        </p:blipFill>
        <p:spPr bwMode="auto">
          <a:xfrm>
            <a:off x="152400" y="2209800"/>
            <a:ext cx="845281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/>
          <a:srcRect t="77208"/>
          <a:stretch>
            <a:fillRect/>
          </a:stretch>
        </p:blipFill>
        <p:spPr bwMode="auto">
          <a:xfrm>
            <a:off x="152400" y="2743200"/>
            <a:ext cx="845281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Rectangle 22"/>
          <p:cNvSpPr/>
          <p:nvPr/>
        </p:nvSpPr>
        <p:spPr>
          <a:xfrm>
            <a:off x="650630" y="2667000"/>
            <a:ext cx="3886200" cy="4572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971800" y="30480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Important Item</a:t>
            </a:r>
            <a:endParaRPr lang="en-US" sz="2400" dirty="0">
              <a:solidFill>
                <a:schemeClr val="accent3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1295400"/>
            <a:ext cx="6096000" cy="503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2438400" y="388620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Terms Related To Memory Hierarchy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7848600" cy="4873752"/>
          </a:xfrm>
        </p:spPr>
        <p:txBody>
          <a:bodyPr>
            <a:normAutofit fontScale="92500"/>
          </a:bodyPr>
          <a:lstStyle/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Hit—requested data in a given level of memory (typically,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only for upper levels of memory).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Miss—requested data not in given level of memory.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Hit rate—percentage of memory accesses found in a given level of memory.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Miss rate— (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 –  Hit Rate)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Hit time—time required to access the requested information in a given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level of memory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Miss penalty—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time required to process a miss, </a:t>
            </a:r>
          </a:p>
          <a:p>
            <a:pPr lvl="1"/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that includes replacing a block in an upper level of memory,</a:t>
            </a:r>
          </a:p>
          <a:p>
            <a:pPr lvl="1"/>
            <a:r>
              <a:rPr lang="en-US" sz="22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plus</a:t>
            </a:r>
            <a:r>
              <a:rPr lang="en-US" sz="2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the additional time to deliver the requested data to the processor.</a:t>
            </a:r>
            <a:endParaRPr lang="en-US" sz="2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077200" cy="487375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If memory location </a:t>
            </a: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is accessed at time t, 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(assuming no branch instructions)</a:t>
            </a:r>
          </a:p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there is a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high probability that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location </a:t>
            </a: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 + 1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will also be accessed in the near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future.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clustering of memory references into groups is an example of </a:t>
            </a:r>
          </a:p>
          <a:p>
            <a:pPr algn="ctr">
              <a:buNone/>
            </a:pPr>
            <a:r>
              <a:rPr lang="en-US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</a:t>
            </a:r>
            <a:endParaRPr lang="en-US" sz="19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Types 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077200" cy="4873752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Temporal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Recently accessed items tend to be accessed again in the </a:t>
            </a:r>
            <a:r>
              <a:rPr lang="en-US" dirty="0" smtClean="0"/>
              <a:t>near future.</a:t>
            </a:r>
          </a:p>
          <a:p>
            <a:r>
              <a:rPr lang="en-US" b="1" i="1" dirty="0" smtClean="0"/>
              <a:t>Spatial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Accesses tend to be clustered in the address space </a:t>
            </a:r>
          </a:p>
          <a:p>
            <a:pPr>
              <a:buNone/>
            </a:pPr>
            <a:r>
              <a:rPr lang="en-US" i="1" dirty="0" smtClean="0"/>
              <a:t>	(for exam</a:t>
            </a:r>
            <a:r>
              <a:rPr lang="en-US" dirty="0" smtClean="0"/>
              <a:t>ple, as in arrays or loops).</a:t>
            </a:r>
          </a:p>
          <a:p>
            <a:r>
              <a:rPr lang="en-US" b="1" i="1" dirty="0" smtClean="0"/>
              <a:t>Sequential locality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i="1" dirty="0" smtClean="0"/>
              <a:t>Instructions tend to be accessed sequentially.</a:t>
            </a:r>
            <a:endParaRPr lang="en-US" sz="1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Benefit 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077200" cy="4873752"/>
          </a:xfrm>
        </p:spPr>
        <p:txBody>
          <a:bodyPr>
            <a:noAutofit/>
          </a:bodyPr>
          <a:lstStyle/>
          <a:p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small amount of very fast memory can be used to effectively accelerate the majority of memory accesses.</a:t>
            </a:r>
          </a:p>
          <a:p>
            <a:pPr>
              <a:buNone/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REASON: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only a small amount of the entire memory space is being accessed at any given time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in that space are being accessed repeatedly.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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from a slower memory can be copied to a smaller but faster memory that resides higher in the hierarchy.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Benefit 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153400" cy="4873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REASON:</a:t>
            </a:r>
          </a:p>
          <a:p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only a small amount of the entire memory space is being accessed at any given time </a:t>
            </a:r>
          </a:p>
          <a:p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in that space are being accessed repeatedly.</a:t>
            </a:r>
          </a:p>
          <a:p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</a:t>
            </a:r>
            <a:r>
              <a:rPr lang="en-US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values from a slower memory can be copied to a smaller but faster memory that resides higher in the hierarchy.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Results in a memory system that can store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large amount of information in a large, low cost memory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yet provide nearly the same access speeds that would result from using very fast but expensive memory.</a:t>
            </a:r>
          </a:p>
          <a:p>
            <a:endParaRPr lang="en-US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7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Locality Of Reference – Example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423" y="1524000"/>
            <a:ext cx="8430177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124200"/>
            <a:ext cx="3180516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 b="59388"/>
          <a:stretch>
            <a:fillRect/>
          </a:stretch>
        </p:blipFill>
        <p:spPr bwMode="auto">
          <a:xfrm>
            <a:off x="228600" y="3898518"/>
            <a:ext cx="8382000" cy="521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5"/>
          <a:srcRect t="40612" r="74545" b="23755"/>
          <a:stretch>
            <a:fillRect/>
          </a:stretch>
        </p:blipFill>
        <p:spPr bwMode="auto">
          <a:xfrm>
            <a:off x="228600" y="44196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5"/>
          <a:srcRect t="76245"/>
          <a:stretch>
            <a:fillRect/>
          </a:stretch>
        </p:blipFill>
        <p:spPr bwMode="auto">
          <a:xfrm>
            <a:off x="228600" y="4876800"/>
            <a:ext cx="838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5"/>
          <a:srcRect l="25455" t="40612" r="43636" b="23755"/>
          <a:stretch>
            <a:fillRect/>
          </a:stretch>
        </p:blipFill>
        <p:spPr bwMode="auto">
          <a:xfrm>
            <a:off x="2362200" y="441960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5"/>
          <a:srcRect l="56364" t="40612" r="20909" b="23755"/>
          <a:stretch>
            <a:fillRect/>
          </a:stretch>
        </p:blipFill>
        <p:spPr bwMode="auto">
          <a:xfrm>
            <a:off x="4953000" y="4419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5"/>
          <a:srcRect l="78182" t="40612" b="23755"/>
          <a:stretch>
            <a:fillRect/>
          </a:stretch>
        </p:blipFill>
        <p:spPr bwMode="auto">
          <a:xfrm>
            <a:off x="6781800" y="4419600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00045" y="3124201"/>
            <a:ext cx="289559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81000" y="1374648"/>
            <a:ext cx="8077200" cy="487375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is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relatively small, fast memory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Interposed between a larger, slower memory and </a:t>
            </a:r>
          </a:p>
          <a:p>
            <a:pPr>
              <a:buNone/>
            </a:pP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	the logic that accesses the larger memory.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holds recently accessed data 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designed to speed up subsequent access to the same data.</a:t>
            </a:r>
          </a:p>
          <a:p>
            <a:pPr algn="ctr">
              <a:buNone/>
            </a:pP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combines memory access time of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expensive,  high-speed memory with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the large memory size of </a:t>
            </a:r>
          </a:p>
          <a:p>
            <a:pPr algn="ctr">
              <a:buNone/>
            </a:pPr>
            <a:r>
              <a:rPr lang="en-US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less expensive,  lower-speed memory.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4"/>
          <a:srcRect t="41133" r="78971" b="15293"/>
          <a:stretch>
            <a:fillRect/>
          </a:stretch>
        </p:blipFill>
        <p:spPr bwMode="auto">
          <a:xfrm>
            <a:off x="642415" y="2743200"/>
            <a:ext cx="164358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Picture 1"/>
          <p:cNvPicPr>
            <a:picLocks noChangeAspect="1" noChangeArrowheads="1"/>
          </p:cNvPicPr>
          <p:nvPr/>
        </p:nvPicPr>
        <p:blipFill>
          <a:blip r:embed="rId4"/>
          <a:srcRect l="65877" t="24374"/>
          <a:stretch>
            <a:fillRect/>
          </a:stretch>
        </p:blipFill>
        <p:spPr bwMode="auto">
          <a:xfrm>
            <a:off x="5791200" y="2362200"/>
            <a:ext cx="2667000" cy="171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1"/>
          <p:cNvPicPr>
            <a:picLocks noChangeAspect="1" noChangeArrowheads="1"/>
          </p:cNvPicPr>
          <p:nvPr/>
        </p:nvPicPr>
        <p:blipFill>
          <a:blip r:embed="rId4"/>
          <a:srcRect l="33703" t="31078" r="46798" b="8589"/>
          <a:stretch>
            <a:fillRect/>
          </a:stretch>
        </p:blipFill>
        <p:spPr bwMode="auto">
          <a:xfrm>
            <a:off x="3276600" y="2514600"/>
            <a:ext cx="152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415" y="1808082"/>
            <a:ext cx="7815785" cy="227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Organization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1998272"/>
            <a:ext cx="7440666" cy="280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Structure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599" y="1371600"/>
            <a:ext cx="6009227" cy="486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2133600" y="4495800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 &lt;&lt;&lt;M</a:t>
            </a:r>
            <a:endParaRPr lang="en-US" sz="28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Read Operation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3000" y="1389185"/>
            <a:ext cx="6096000" cy="481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Cache Memory – Typical Organization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1489316"/>
            <a:ext cx="6781800" cy="470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Elements Of Cache Design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 r="49791" b="75439"/>
          <a:stretch>
            <a:fillRect/>
          </a:stretch>
        </p:blipFill>
        <p:spPr bwMode="auto">
          <a:xfrm>
            <a:off x="577690" y="1447800"/>
            <a:ext cx="384191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 t="24561" r="49792" b="68421"/>
          <a:stretch>
            <a:fillRect/>
          </a:stretch>
        </p:blipFill>
        <p:spPr bwMode="auto">
          <a:xfrm>
            <a:off x="577690" y="2514600"/>
            <a:ext cx="384191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 t="31579" r="49792" b="38596"/>
          <a:stretch>
            <a:fillRect/>
          </a:stretch>
        </p:blipFill>
        <p:spPr bwMode="auto">
          <a:xfrm>
            <a:off x="577690" y="2819400"/>
            <a:ext cx="384191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 r="47800"/>
          <a:stretch>
            <a:fillRect/>
          </a:stretch>
        </p:blipFill>
        <p:spPr bwMode="auto">
          <a:xfrm>
            <a:off x="577690" y="1447800"/>
            <a:ext cx="399431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 l="51204" b="75439"/>
          <a:stretch>
            <a:fillRect/>
          </a:stretch>
        </p:blipFill>
        <p:spPr bwMode="auto">
          <a:xfrm>
            <a:off x="4495800" y="1447800"/>
            <a:ext cx="3733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 l="51204" b="68421"/>
          <a:stretch>
            <a:fillRect/>
          </a:stretch>
        </p:blipFill>
        <p:spPr bwMode="auto">
          <a:xfrm>
            <a:off x="4495800" y="1447800"/>
            <a:ext cx="3733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/>
          <a:srcRect l="51204"/>
          <a:stretch>
            <a:fillRect/>
          </a:stretch>
        </p:blipFill>
        <p:spPr bwMode="auto">
          <a:xfrm>
            <a:off x="4495800" y="1447800"/>
            <a:ext cx="3733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148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 &amp; Information Technology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Elements Of Cache Design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 b="76040"/>
          <a:stretch>
            <a:fillRect/>
          </a:stretch>
        </p:blipFill>
        <p:spPr bwMode="auto">
          <a:xfrm>
            <a:off x="389602" y="2090737"/>
            <a:ext cx="806859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/>
          <a:srcRect b="60198"/>
          <a:stretch>
            <a:fillRect/>
          </a:stretch>
        </p:blipFill>
        <p:spPr bwMode="auto">
          <a:xfrm>
            <a:off x="389602" y="2090737"/>
            <a:ext cx="8068598" cy="9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/>
          <a:srcRect b="38020"/>
          <a:stretch>
            <a:fillRect/>
          </a:stretch>
        </p:blipFill>
        <p:spPr bwMode="auto">
          <a:xfrm>
            <a:off x="389602" y="2090737"/>
            <a:ext cx="8068598" cy="149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9602" y="2090737"/>
            <a:ext cx="8068598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3922</TotalTime>
  <Words>990</Words>
  <Application>Microsoft Office PowerPoint</Application>
  <PresentationFormat>On-screen Show (4:3)</PresentationFormat>
  <Paragraphs>196</Paragraphs>
  <Slides>21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Oriel</vt:lpstr>
      <vt:lpstr>Computer Organization &amp; Assembly language(CS-215T)</vt:lpstr>
      <vt:lpstr>Slide 2</vt:lpstr>
      <vt:lpstr>Contents To Be Covered</vt:lpstr>
      <vt:lpstr>Computer Memory System</vt:lpstr>
      <vt:lpstr>Characteristics Of Memory System</vt:lpstr>
      <vt:lpstr>Memory Hierarchy</vt:lpstr>
      <vt:lpstr>Memory Hierarchy</vt:lpstr>
      <vt:lpstr>Terms Related To Memory Hierarchy</vt:lpstr>
      <vt:lpstr>Locality Of Reference</vt:lpstr>
      <vt:lpstr>Locality Of Reference – Types </vt:lpstr>
      <vt:lpstr>Locality Of Reference – Benefit </vt:lpstr>
      <vt:lpstr>Locality Of Reference – Benefit </vt:lpstr>
      <vt:lpstr>Locality Of Reference – Example</vt:lpstr>
      <vt:lpstr>Cache Memory</vt:lpstr>
      <vt:lpstr>Cache Memory</vt:lpstr>
      <vt:lpstr>Cache Memory – Organization</vt:lpstr>
      <vt:lpstr>Cache Memory – Structure</vt:lpstr>
      <vt:lpstr>Cache Memory – Read Operation</vt:lpstr>
      <vt:lpstr>Cache Memory – Typical Organization</vt:lpstr>
      <vt:lpstr>Elements Of Cache Design</vt:lpstr>
      <vt:lpstr>Elements Of Cache Design</vt:lpstr>
    </vt:vector>
  </TitlesOfParts>
  <Company>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SHAKIR KARIM BUKSH</dc:creator>
  <cp:lastModifiedBy>SHAKIR KARIM BUKSH</cp:lastModifiedBy>
  <cp:revision>741</cp:revision>
  <dcterms:created xsi:type="dcterms:W3CDTF">2020-06-10T17:52:00Z</dcterms:created>
  <dcterms:modified xsi:type="dcterms:W3CDTF">2023-12-13T05:58:55Z</dcterms:modified>
</cp:coreProperties>
</file>