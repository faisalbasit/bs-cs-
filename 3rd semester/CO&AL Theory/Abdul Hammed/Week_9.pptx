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305" r:id="rId3"/>
    <p:sldId id="257" r:id="rId4"/>
    <p:sldId id="269" r:id="rId5"/>
    <p:sldId id="323" r:id="rId6"/>
    <p:sldId id="306" r:id="rId7"/>
    <p:sldId id="307" r:id="rId8"/>
    <p:sldId id="319" r:id="rId9"/>
    <p:sldId id="308" r:id="rId10"/>
    <p:sldId id="310" r:id="rId11"/>
    <p:sldId id="311" r:id="rId12"/>
    <p:sldId id="312" r:id="rId13"/>
    <p:sldId id="313" r:id="rId14"/>
    <p:sldId id="314" r:id="rId15"/>
    <p:sldId id="315" r:id="rId16"/>
    <p:sldId id="316" r:id="rId17"/>
    <p:sldId id="317" r:id="rId18"/>
    <p:sldId id="318" r:id="rId19"/>
    <p:sldId id="309" r:id="rId20"/>
    <p:sldId id="321" r:id="rId21"/>
    <p:sldId id="322" r:id="rId22"/>
    <p:sldId id="324" r:id="rId23"/>
    <p:sldId id="325" r:id="rId24"/>
    <p:sldId id="326" r:id="rId25"/>
    <p:sldId id="327" r:id="rId26"/>
    <p:sldId id="328" r:id="rId27"/>
    <p:sldId id="329" r:id="rId28"/>
    <p:sldId id="330" r:id="rId29"/>
    <p:sldId id="331" r:id="rId30"/>
    <p:sldId id="332" r:id="rId31"/>
    <p:sldId id="333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294" autoAdjust="0"/>
    <p:restoredTop sz="94660"/>
  </p:normalViewPr>
  <p:slideViewPr>
    <p:cSldViewPr snapToGrid="0">
      <p:cViewPr varScale="1">
        <p:scale>
          <a:sx n="74" d="100"/>
          <a:sy n="74" d="100"/>
        </p:scale>
        <p:origin x="36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8554145-8B2F-074A-B096-4987C5D81764}" type="doc">
      <dgm:prSet loTypeId="urn:microsoft.com/office/officeart/2005/8/layout/h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7CDE4F2-0B29-5340-B4CA-7903895738A3}">
      <dgm:prSet custT="1"/>
      <dgm:spPr/>
      <dgm:t>
        <a:bodyPr/>
        <a:lstStyle/>
        <a:p>
          <a:r>
            <a:rPr lang="en-GB" sz="2000" b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Direct</a:t>
          </a:r>
        </a:p>
      </dgm:t>
    </dgm:pt>
    <dgm:pt modelId="{6DA94CC3-93A7-6145-97D5-23326244C255}" type="parTrans" cxnId="{6DD83BD2-3806-4B4C-B69B-04476113A707}">
      <dgm:prSet/>
      <dgm:spPr/>
      <dgm:t>
        <a:bodyPr/>
        <a:lstStyle/>
        <a:p>
          <a:endParaRPr lang="en-US"/>
        </a:p>
      </dgm:t>
    </dgm:pt>
    <dgm:pt modelId="{7F68183D-C7C4-0744-8B7F-164B7F22AAE1}" type="sibTrans" cxnId="{6DD83BD2-3806-4B4C-B69B-04476113A707}">
      <dgm:prSet/>
      <dgm:spPr/>
      <dgm:t>
        <a:bodyPr/>
        <a:lstStyle/>
        <a:p>
          <a:endParaRPr lang="en-US"/>
        </a:p>
      </dgm:t>
    </dgm:pt>
    <dgm:pt modelId="{CE70BF09-602F-9649-8CD0-34EA655C874E}">
      <dgm:prSet custT="1"/>
      <dgm:spPr>
        <a:ln>
          <a:solidFill>
            <a:schemeClr val="accent3"/>
          </a:solidFill>
        </a:ln>
      </dgm:spPr>
      <dgm:t>
        <a:bodyPr/>
        <a:lstStyle/>
        <a:p>
          <a:pPr>
            <a:spcAft>
              <a:spcPts val="870"/>
            </a:spcAft>
          </a:pPr>
          <a:r>
            <a:rPr lang="en-GB" sz="1800" dirty="0" smtClean="0"/>
            <a:t>The simplest technique</a:t>
          </a:r>
        </a:p>
      </dgm:t>
    </dgm:pt>
    <dgm:pt modelId="{51F5F06F-23EF-F04F-A0D7-A1938E1EC98E}" type="parTrans" cxnId="{45234C71-A75A-4948-AA50-CA929298C2E4}">
      <dgm:prSet/>
      <dgm:spPr/>
      <dgm:t>
        <a:bodyPr/>
        <a:lstStyle/>
        <a:p>
          <a:endParaRPr lang="en-US"/>
        </a:p>
      </dgm:t>
    </dgm:pt>
    <dgm:pt modelId="{FA0F2068-8C99-5449-ACCA-D829BC1CF04F}" type="sibTrans" cxnId="{45234C71-A75A-4948-AA50-CA929298C2E4}">
      <dgm:prSet/>
      <dgm:spPr/>
      <dgm:t>
        <a:bodyPr/>
        <a:lstStyle/>
        <a:p>
          <a:endParaRPr lang="en-US"/>
        </a:p>
      </dgm:t>
    </dgm:pt>
    <dgm:pt modelId="{F7A3FECA-373A-A646-A287-98E0B2650607}">
      <dgm:prSet custT="1"/>
      <dgm:spPr>
        <a:ln>
          <a:solidFill>
            <a:schemeClr val="accent3"/>
          </a:solidFill>
        </a:ln>
      </dgm:spPr>
      <dgm:t>
        <a:bodyPr/>
        <a:lstStyle/>
        <a:p>
          <a:pPr>
            <a:spcAft>
              <a:spcPts val="870"/>
            </a:spcAft>
          </a:pPr>
          <a:r>
            <a:rPr lang="en-GB" sz="1800" dirty="0" smtClean="0"/>
            <a:t>Maps each block of main memory into only one possible cache line</a:t>
          </a:r>
        </a:p>
      </dgm:t>
    </dgm:pt>
    <dgm:pt modelId="{781EB878-8836-A74C-9250-B959FDD1A446}" type="parTrans" cxnId="{35B01054-9196-344C-B8F2-6375BCFAD3D4}">
      <dgm:prSet/>
      <dgm:spPr/>
      <dgm:t>
        <a:bodyPr/>
        <a:lstStyle/>
        <a:p>
          <a:endParaRPr lang="en-US"/>
        </a:p>
      </dgm:t>
    </dgm:pt>
    <dgm:pt modelId="{D06912E3-8B83-214C-A4A9-7E7651A7F062}" type="sibTrans" cxnId="{35B01054-9196-344C-B8F2-6375BCFAD3D4}">
      <dgm:prSet/>
      <dgm:spPr/>
      <dgm:t>
        <a:bodyPr/>
        <a:lstStyle/>
        <a:p>
          <a:endParaRPr lang="en-US"/>
        </a:p>
      </dgm:t>
    </dgm:pt>
    <dgm:pt modelId="{774F7563-D777-364A-9F75-45F9C7D60EC4}">
      <dgm:prSet custT="1"/>
      <dgm:spPr/>
      <dgm:t>
        <a:bodyPr/>
        <a:lstStyle/>
        <a:p>
          <a:r>
            <a:rPr lang="en-GB" sz="2000" b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Associative</a:t>
          </a:r>
        </a:p>
      </dgm:t>
    </dgm:pt>
    <dgm:pt modelId="{EC5A4339-55E9-3A42-8D7F-B8722BCD8BF7}" type="parTrans" cxnId="{613E4B5A-F04E-C64D-93AF-A975A80E6E43}">
      <dgm:prSet/>
      <dgm:spPr/>
      <dgm:t>
        <a:bodyPr/>
        <a:lstStyle/>
        <a:p>
          <a:endParaRPr lang="en-US"/>
        </a:p>
      </dgm:t>
    </dgm:pt>
    <dgm:pt modelId="{AB3AF520-248D-BF48-B1F9-978BCD1779B3}" type="sibTrans" cxnId="{613E4B5A-F04E-C64D-93AF-A975A80E6E43}">
      <dgm:prSet/>
      <dgm:spPr/>
      <dgm:t>
        <a:bodyPr/>
        <a:lstStyle/>
        <a:p>
          <a:endParaRPr lang="en-US"/>
        </a:p>
      </dgm:t>
    </dgm:pt>
    <dgm:pt modelId="{D4FAE11D-4D51-144C-9B47-0A24B52010D8}">
      <dgm:prSet/>
      <dgm:spPr>
        <a:ln>
          <a:solidFill>
            <a:schemeClr val="accent3"/>
          </a:solidFill>
        </a:ln>
      </dgm:spPr>
      <dgm:t>
        <a:bodyPr/>
        <a:lstStyle/>
        <a:p>
          <a:pPr>
            <a:spcAft>
              <a:spcPts val="870"/>
            </a:spcAft>
          </a:pPr>
          <a:r>
            <a:rPr lang="en-GB" baseline="0" dirty="0" smtClean="0"/>
            <a:t>Permits each main memory block to be loaded into any line of the cache</a:t>
          </a:r>
        </a:p>
      </dgm:t>
    </dgm:pt>
    <dgm:pt modelId="{158B2218-BF64-DD45-B97C-B84C578BEC96}" type="parTrans" cxnId="{032C7BCF-E259-6D47-A130-6EE43F533BEA}">
      <dgm:prSet/>
      <dgm:spPr/>
      <dgm:t>
        <a:bodyPr/>
        <a:lstStyle/>
        <a:p>
          <a:endParaRPr lang="en-US"/>
        </a:p>
      </dgm:t>
    </dgm:pt>
    <dgm:pt modelId="{50B34E17-D1CA-C842-8527-9F30C06D1817}" type="sibTrans" cxnId="{032C7BCF-E259-6D47-A130-6EE43F533BEA}">
      <dgm:prSet/>
      <dgm:spPr/>
      <dgm:t>
        <a:bodyPr/>
        <a:lstStyle/>
        <a:p>
          <a:endParaRPr lang="en-US"/>
        </a:p>
      </dgm:t>
    </dgm:pt>
    <dgm:pt modelId="{3B7C31DE-8A89-2F4A-B650-4D9BC2724207}">
      <dgm:prSet/>
      <dgm:spPr>
        <a:ln>
          <a:solidFill>
            <a:schemeClr val="accent3"/>
          </a:solidFill>
        </a:ln>
      </dgm:spPr>
      <dgm:t>
        <a:bodyPr/>
        <a:lstStyle/>
        <a:p>
          <a:pPr>
            <a:spcAft>
              <a:spcPts val="870"/>
            </a:spcAft>
          </a:pPr>
          <a:r>
            <a:rPr lang="en-GB" baseline="0" dirty="0" smtClean="0"/>
            <a:t>The cache control logic interprets a memory address simply as a Tag and a Word field</a:t>
          </a:r>
        </a:p>
      </dgm:t>
    </dgm:pt>
    <dgm:pt modelId="{7851C849-F575-894A-9B00-B44B79CA9B3A}" type="parTrans" cxnId="{3830FFB4-AA38-B04F-8B32-07B847AECF66}">
      <dgm:prSet/>
      <dgm:spPr/>
      <dgm:t>
        <a:bodyPr/>
        <a:lstStyle/>
        <a:p>
          <a:endParaRPr lang="en-US"/>
        </a:p>
      </dgm:t>
    </dgm:pt>
    <dgm:pt modelId="{072AF77D-5CAD-5641-9297-1B04354B8341}" type="sibTrans" cxnId="{3830FFB4-AA38-B04F-8B32-07B847AECF66}">
      <dgm:prSet/>
      <dgm:spPr/>
      <dgm:t>
        <a:bodyPr/>
        <a:lstStyle/>
        <a:p>
          <a:endParaRPr lang="en-US"/>
        </a:p>
      </dgm:t>
    </dgm:pt>
    <dgm:pt modelId="{4BA3F045-6A95-3C4D-A27E-380AA544C704}">
      <dgm:prSet/>
      <dgm:spPr>
        <a:ln>
          <a:solidFill>
            <a:schemeClr val="accent3"/>
          </a:solidFill>
        </a:ln>
      </dgm:spPr>
      <dgm:t>
        <a:bodyPr/>
        <a:lstStyle/>
        <a:p>
          <a:pPr>
            <a:spcAft>
              <a:spcPts val="870"/>
            </a:spcAft>
          </a:pPr>
          <a:r>
            <a:rPr lang="en-GB" baseline="0" dirty="0" smtClean="0"/>
            <a:t>To determine whether a block is in the cache, the cache control logic must simultaneously examine every line’s Tag for a match </a:t>
          </a:r>
        </a:p>
      </dgm:t>
    </dgm:pt>
    <dgm:pt modelId="{2A8F251F-A570-5345-BAC5-FDA4FE861646}" type="parTrans" cxnId="{F66FCCD0-D75D-2142-BE23-49CE8ECBCBDD}">
      <dgm:prSet/>
      <dgm:spPr/>
      <dgm:t>
        <a:bodyPr/>
        <a:lstStyle/>
        <a:p>
          <a:endParaRPr lang="en-US"/>
        </a:p>
      </dgm:t>
    </dgm:pt>
    <dgm:pt modelId="{F442362B-3A67-7A47-95DC-3E4F366E693B}" type="sibTrans" cxnId="{F66FCCD0-D75D-2142-BE23-49CE8ECBCBDD}">
      <dgm:prSet/>
      <dgm:spPr/>
      <dgm:t>
        <a:bodyPr/>
        <a:lstStyle/>
        <a:p>
          <a:endParaRPr lang="en-US"/>
        </a:p>
      </dgm:t>
    </dgm:pt>
    <dgm:pt modelId="{A99D3850-98F6-4E44-BEF7-9A02F984869B}">
      <dgm:prSet custT="1"/>
      <dgm:spPr/>
      <dgm:t>
        <a:bodyPr/>
        <a:lstStyle/>
        <a:p>
          <a:r>
            <a:rPr lang="en-GB" sz="2000" b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Set Associative</a:t>
          </a:r>
        </a:p>
      </dgm:t>
    </dgm:pt>
    <dgm:pt modelId="{951B9852-4730-834E-AC14-3E0184947864}" type="parTrans" cxnId="{6FBBA797-82F7-D54D-B530-618A1498298A}">
      <dgm:prSet/>
      <dgm:spPr/>
      <dgm:t>
        <a:bodyPr/>
        <a:lstStyle/>
        <a:p>
          <a:endParaRPr lang="en-US"/>
        </a:p>
      </dgm:t>
    </dgm:pt>
    <dgm:pt modelId="{7B35E651-A0B2-9E4E-A22B-ACC88F12945C}" type="sibTrans" cxnId="{6FBBA797-82F7-D54D-B530-618A1498298A}">
      <dgm:prSet/>
      <dgm:spPr/>
      <dgm:t>
        <a:bodyPr/>
        <a:lstStyle/>
        <a:p>
          <a:endParaRPr lang="en-US"/>
        </a:p>
      </dgm:t>
    </dgm:pt>
    <dgm:pt modelId="{B813EF2F-B021-CF49-99EE-AF28C0CEB44B}">
      <dgm:prSet custT="1"/>
      <dgm:spPr>
        <a:ln>
          <a:solidFill>
            <a:schemeClr val="accent3"/>
          </a:solidFill>
        </a:ln>
      </dgm:spPr>
      <dgm:t>
        <a:bodyPr/>
        <a:lstStyle/>
        <a:p>
          <a:r>
            <a:rPr lang="en-GB" sz="1800" dirty="0" smtClean="0"/>
            <a:t>A compromise that exhibits the strengths of both the direct and associative approaches while reducing their disadvantages</a:t>
          </a:r>
        </a:p>
      </dgm:t>
    </dgm:pt>
    <dgm:pt modelId="{CC6BA37D-3001-9A47-9536-FF0B64F74DB0}" type="parTrans" cxnId="{83F40A94-EC0F-874E-8848-9CD668E3DAC5}">
      <dgm:prSet/>
      <dgm:spPr/>
      <dgm:t>
        <a:bodyPr/>
        <a:lstStyle/>
        <a:p>
          <a:endParaRPr lang="en-US"/>
        </a:p>
      </dgm:t>
    </dgm:pt>
    <dgm:pt modelId="{A9D1BA43-18D0-DC49-B987-22B9CCB8372B}" type="sibTrans" cxnId="{83F40A94-EC0F-874E-8848-9CD668E3DAC5}">
      <dgm:prSet/>
      <dgm:spPr/>
      <dgm:t>
        <a:bodyPr/>
        <a:lstStyle/>
        <a:p>
          <a:endParaRPr lang="en-US"/>
        </a:p>
      </dgm:t>
    </dgm:pt>
    <dgm:pt modelId="{E6F1CDC0-3207-B746-8E96-D79FD36AF5BE}" type="pres">
      <dgm:prSet presAssocID="{C8554145-8B2F-074A-B096-4987C5D81764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0FF6AA7-3C77-6846-8C8C-BBD41B8BCF06}" type="pres">
      <dgm:prSet presAssocID="{D7CDE4F2-0B29-5340-B4CA-7903895738A3}" presName="composite" presStyleCnt="0"/>
      <dgm:spPr/>
    </dgm:pt>
    <dgm:pt modelId="{59B4F48F-6F74-9842-A164-78C65E62632D}" type="pres">
      <dgm:prSet presAssocID="{D7CDE4F2-0B29-5340-B4CA-7903895738A3}" presName="parTx" presStyleLbl="alignNode1" presStyleIdx="0" presStyleCnt="3" custScaleY="18260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E6AA0E8-B225-9D44-A86D-9767773C4003}" type="pres">
      <dgm:prSet presAssocID="{D7CDE4F2-0B29-5340-B4CA-7903895738A3}" presName="desTx" presStyleLbl="align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92114E3-B226-5E49-BD98-2AE7463D8722}" type="pres">
      <dgm:prSet presAssocID="{7F68183D-C7C4-0744-8B7F-164B7F22AAE1}" presName="space" presStyleCnt="0"/>
      <dgm:spPr/>
    </dgm:pt>
    <dgm:pt modelId="{5778BF55-7BDA-EA4A-B3F4-6A1D653C494D}" type="pres">
      <dgm:prSet presAssocID="{774F7563-D777-364A-9F75-45F9C7D60EC4}" presName="composite" presStyleCnt="0"/>
      <dgm:spPr/>
    </dgm:pt>
    <dgm:pt modelId="{B3F6D228-9039-A949-A88A-D4A04B9662CD}" type="pres">
      <dgm:prSet presAssocID="{774F7563-D777-364A-9F75-45F9C7D60EC4}" presName="parTx" presStyleLbl="alignNode1" presStyleIdx="1" presStyleCnt="3" custScaleY="20185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F9ABC03-ED5A-8C4F-ABBA-7702123255F3}" type="pres">
      <dgm:prSet presAssocID="{774F7563-D777-364A-9F75-45F9C7D60EC4}" presName="desTx" presStyleLbl="alignAccFollowNode1" presStyleIdx="1" presStyleCnt="3" custScaleX="116245" custScaleY="100000" custLinFactNeighborY="285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E44FD69-8EF1-1044-BD64-FA3251E6599F}" type="pres">
      <dgm:prSet presAssocID="{AB3AF520-248D-BF48-B1F9-978BCD1779B3}" presName="space" presStyleCnt="0"/>
      <dgm:spPr/>
    </dgm:pt>
    <dgm:pt modelId="{B4B3A9FF-1992-544C-BCB0-98655366645A}" type="pres">
      <dgm:prSet presAssocID="{A99D3850-98F6-4E44-BEF7-9A02F984869B}" presName="composite" presStyleCnt="0"/>
      <dgm:spPr/>
    </dgm:pt>
    <dgm:pt modelId="{F94948FC-FEE2-2A41-9A9E-9B62084D71F6}" type="pres">
      <dgm:prSet presAssocID="{A99D3850-98F6-4E44-BEF7-9A02F984869B}" presName="parTx" presStyleLbl="alignNode1" presStyleIdx="2" presStyleCnt="3" custScaleY="201857" custLinFactNeighborX="49837" custLinFactNeighborY="-1103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30E3304-D114-7743-A3EC-2445BAC10332}" type="pres">
      <dgm:prSet presAssocID="{A99D3850-98F6-4E44-BEF7-9A02F984869B}" presName="desTx" presStyleLbl="align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6684618-87D5-B54E-AB79-410FC7648805}" type="presOf" srcId="{D4FAE11D-4D51-144C-9B47-0A24B52010D8}" destId="{9F9ABC03-ED5A-8C4F-ABBA-7702123255F3}" srcOrd="0" destOrd="0" presId="urn:microsoft.com/office/officeart/2005/8/layout/hList1"/>
    <dgm:cxn modelId="{1AB26EF2-7B2B-F84A-AB75-1FAF1A9BDBA1}" type="presOf" srcId="{B813EF2F-B021-CF49-99EE-AF28C0CEB44B}" destId="{C30E3304-D114-7743-A3EC-2445BAC10332}" srcOrd="0" destOrd="0" presId="urn:microsoft.com/office/officeart/2005/8/layout/hList1"/>
    <dgm:cxn modelId="{83F40A94-EC0F-874E-8848-9CD668E3DAC5}" srcId="{A99D3850-98F6-4E44-BEF7-9A02F984869B}" destId="{B813EF2F-B021-CF49-99EE-AF28C0CEB44B}" srcOrd="0" destOrd="0" parTransId="{CC6BA37D-3001-9A47-9536-FF0B64F74DB0}" sibTransId="{A9D1BA43-18D0-DC49-B987-22B9CCB8372B}"/>
    <dgm:cxn modelId="{613E4B5A-F04E-C64D-93AF-A975A80E6E43}" srcId="{C8554145-8B2F-074A-B096-4987C5D81764}" destId="{774F7563-D777-364A-9F75-45F9C7D60EC4}" srcOrd="1" destOrd="0" parTransId="{EC5A4339-55E9-3A42-8D7F-B8722BCD8BF7}" sibTransId="{AB3AF520-248D-BF48-B1F9-978BCD1779B3}"/>
    <dgm:cxn modelId="{3830FFB4-AA38-B04F-8B32-07B847AECF66}" srcId="{774F7563-D777-364A-9F75-45F9C7D60EC4}" destId="{3B7C31DE-8A89-2F4A-B650-4D9BC2724207}" srcOrd="1" destOrd="0" parTransId="{7851C849-F575-894A-9B00-B44B79CA9B3A}" sibTransId="{072AF77D-5CAD-5641-9297-1B04354B8341}"/>
    <dgm:cxn modelId="{DA2DE9F0-BB96-EA42-BD49-378D8DED2465}" type="presOf" srcId="{4BA3F045-6A95-3C4D-A27E-380AA544C704}" destId="{9F9ABC03-ED5A-8C4F-ABBA-7702123255F3}" srcOrd="0" destOrd="2" presId="urn:microsoft.com/office/officeart/2005/8/layout/hList1"/>
    <dgm:cxn modelId="{A7AD2E9A-6BF5-484C-8E78-131CC23FBDB4}" type="presOf" srcId="{3B7C31DE-8A89-2F4A-B650-4D9BC2724207}" destId="{9F9ABC03-ED5A-8C4F-ABBA-7702123255F3}" srcOrd="0" destOrd="1" presId="urn:microsoft.com/office/officeart/2005/8/layout/hList1"/>
    <dgm:cxn modelId="{7A2A9762-9669-8747-A0DA-9756CF9435EA}" type="presOf" srcId="{774F7563-D777-364A-9F75-45F9C7D60EC4}" destId="{B3F6D228-9039-A949-A88A-D4A04B9662CD}" srcOrd="0" destOrd="0" presId="urn:microsoft.com/office/officeart/2005/8/layout/hList1"/>
    <dgm:cxn modelId="{6FBBA797-82F7-D54D-B530-618A1498298A}" srcId="{C8554145-8B2F-074A-B096-4987C5D81764}" destId="{A99D3850-98F6-4E44-BEF7-9A02F984869B}" srcOrd="2" destOrd="0" parTransId="{951B9852-4730-834E-AC14-3E0184947864}" sibTransId="{7B35E651-A0B2-9E4E-A22B-ACC88F12945C}"/>
    <dgm:cxn modelId="{45234C71-A75A-4948-AA50-CA929298C2E4}" srcId="{D7CDE4F2-0B29-5340-B4CA-7903895738A3}" destId="{CE70BF09-602F-9649-8CD0-34EA655C874E}" srcOrd="0" destOrd="0" parTransId="{51F5F06F-23EF-F04F-A0D7-A1938E1EC98E}" sibTransId="{FA0F2068-8C99-5449-ACCA-D829BC1CF04F}"/>
    <dgm:cxn modelId="{7FF6E75A-AE35-2E4E-B34E-45BF8A312452}" type="presOf" srcId="{C8554145-8B2F-074A-B096-4987C5D81764}" destId="{E6F1CDC0-3207-B746-8E96-D79FD36AF5BE}" srcOrd="0" destOrd="0" presId="urn:microsoft.com/office/officeart/2005/8/layout/hList1"/>
    <dgm:cxn modelId="{032C7BCF-E259-6D47-A130-6EE43F533BEA}" srcId="{774F7563-D777-364A-9F75-45F9C7D60EC4}" destId="{D4FAE11D-4D51-144C-9B47-0A24B52010D8}" srcOrd="0" destOrd="0" parTransId="{158B2218-BF64-DD45-B97C-B84C578BEC96}" sibTransId="{50B34E17-D1CA-C842-8527-9F30C06D1817}"/>
    <dgm:cxn modelId="{8D892A32-CCC2-0244-9C7C-71C7F64C96C1}" type="presOf" srcId="{F7A3FECA-373A-A646-A287-98E0B2650607}" destId="{5E6AA0E8-B225-9D44-A86D-9767773C4003}" srcOrd="0" destOrd="1" presId="urn:microsoft.com/office/officeart/2005/8/layout/hList1"/>
    <dgm:cxn modelId="{35B01054-9196-344C-B8F2-6375BCFAD3D4}" srcId="{D7CDE4F2-0B29-5340-B4CA-7903895738A3}" destId="{F7A3FECA-373A-A646-A287-98E0B2650607}" srcOrd="1" destOrd="0" parTransId="{781EB878-8836-A74C-9250-B959FDD1A446}" sibTransId="{D06912E3-8B83-214C-A4A9-7E7651A7F062}"/>
    <dgm:cxn modelId="{B702C06D-14E4-2B42-AB62-E42EFB05C477}" type="presOf" srcId="{D7CDE4F2-0B29-5340-B4CA-7903895738A3}" destId="{59B4F48F-6F74-9842-A164-78C65E62632D}" srcOrd="0" destOrd="0" presId="urn:microsoft.com/office/officeart/2005/8/layout/hList1"/>
    <dgm:cxn modelId="{FB790DFD-433A-4844-AE07-A364F1A45B29}" type="presOf" srcId="{CE70BF09-602F-9649-8CD0-34EA655C874E}" destId="{5E6AA0E8-B225-9D44-A86D-9767773C4003}" srcOrd="0" destOrd="0" presId="urn:microsoft.com/office/officeart/2005/8/layout/hList1"/>
    <dgm:cxn modelId="{F66FCCD0-D75D-2142-BE23-49CE8ECBCBDD}" srcId="{774F7563-D777-364A-9F75-45F9C7D60EC4}" destId="{4BA3F045-6A95-3C4D-A27E-380AA544C704}" srcOrd="2" destOrd="0" parTransId="{2A8F251F-A570-5345-BAC5-FDA4FE861646}" sibTransId="{F442362B-3A67-7A47-95DC-3E4F366E693B}"/>
    <dgm:cxn modelId="{6DD83BD2-3806-4B4C-B69B-04476113A707}" srcId="{C8554145-8B2F-074A-B096-4987C5D81764}" destId="{D7CDE4F2-0B29-5340-B4CA-7903895738A3}" srcOrd="0" destOrd="0" parTransId="{6DA94CC3-93A7-6145-97D5-23326244C255}" sibTransId="{7F68183D-C7C4-0744-8B7F-164B7F22AAE1}"/>
    <dgm:cxn modelId="{24CE816C-F52E-BC4C-B324-614A6E480F51}" type="presOf" srcId="{A99D3850-98F6-4E44-BEF7-9A02F984869B}" destId="{F94948FC-FEE2-2A41-9A9E-9B62084D71F6}" srcOrd="0" destOrd="0" presId="urn:microsoft.com/office/officeart/2005/8/layout/hList1"/>
    <dgm:cxn modelId="{083FFB63-F3A0-C441-85AD-22812D4B1624}" type="presParOf" srcId="{E6F1CDC0-3207-B746-8E96-D79FD36AF5BE}" destId="{00FF6AA7-3C77-6846-8C8C-BBD41B8BCF06}" srcOrd="0" destOrd="0" presId="urn:microsoft.com/office/officeart/2005/8/layout/hList1"/>
    <dgm:cxn modelId="{E921A864-D9EF-9042-BD78-685DDFABF256}" type="presParOf" srcId="{00FF6AA7-3C77-6846-8C8C-BBD41B8BCF06}" destId="{59B4F48F-6F74-9842-A164-78C65E62632D}" srcOrd="0" destOrd="0" presId="urn:microsoft.com/office/officeart/2005/8/layout/hList1"/>
    <dgm:cxn modelId="{71B9F754-E4D9-944A-8D87-DA14624C6869}" type="presParOf" srcId="{00FF6AA7-3C77-6846-8C8C-BBD41B8BCF06}" destId="{5E6AA0E8-B225-9D44-A86D-9767773C4003}" srcOrd="1" destOrd="0" presId="urn:microsoft.com/office/officeart/2005/8/layout/hList1"/>
    <dgm:cxn modelId="{1936C26B-903B-6740-9575-97D24F4B4F65}" type="presParOf" srcId="{E6F1CDC0-3207-B746-8E96-D79FD36AF5BE}" destId="{292114E3-B226-5E49-BD98-2AE7463D8722}" srcOrd="1" destOrd="0" presId="urn:microsoft.com/office/officeart/2005/8/layout/hList1"/>
    <dgm:cxn modelId="{D66D80C2-4499-EC41-94C4-20CE7D093DAF}" type="presParOf" srcId="{E6F1CDC0-3207-B746-8E96-D79FD36AF5BE}" destId="{5778BF55-7BDA-EA4A-B3F4-6A1D653C494D}" srcOrd="2" destOrd="0" presId="urn:microsoft.com/office/officeart/2005/8/layout/hList1"/>
    <dgm:cxn modelId="{A56D53B6-483A-7749-AAF8-259F11D1D628}" type="presParOf" srcId="{5778BF55-7BDA-EA4A-B3F4-6A1D653C494D}" destId="{B3F6D228-9039-A949-A88A-D4A04B9662CD}" srcOrd="0" destOrd="0" presId="urn:microsoft.com/office/officeart/2005/8/layout/hList1"/>
    <dgm:cxn modelId="{E495D2D8-0B80-764D-BB14-C573FB9BAE84}" type="presParOf" srcId="{5778BF55-7BDA-EA4A-B3F4-6A1D653C494D}" destId="{9F9ABC03-ED5A-8C4F-ABBA-7702123255F3}" srcOrd="1" destOrd="0" presId="urn:microsoft.com/office/officeart/2005/8/layout/hList1"/>
    <dgm:cxn modelId="{A73DBA6A-9710-B543-AE04-C1C39CF08076}" type="presParOf" srcId="{E6F1CDC0-3207-B746-8E96-D79FD36AF5BE}" destId="{2E44FD69-8EF1-1044-BD64-FA3251E6599F}" srcOrd="3" destOrd="0" presId="urn:microsoft.com/office/officeart/2005/8/layout/hList1"/>
    <dgm:cxn modelId="{FE813A26-CCF3-7144-AAB0-50A623174D91}" type="presParOf" srcId="{E6F1CDC0-3207-B746-8E96-D79FD36AF5BE}" destId="{B4B3A9FF-1992-544C-BCB0-98655366645A}" srcOrd="4" destOrd="0" presId="urn:microsoft.com/office/officeart/2005/8/layout/hList1"/>
    <dgm:cxn modelId="{DD4FFA8C-629A-A845-B901-48F9D3B63DB9}" type="presParOf" srcId="{B4B3A9FF-1992-544C-BCB0-98655366645A}" destId="{F94948FC-FEE2-2A41-9A9E-9B62084D71F6}" srcOrd="0" destOrd="0" presId="urn:microsoft.com/office/officeart/2005/8/layout/hList1"/>
    <dgm:cxn modelId="{A6856B1E-2CB4-B046-A1E2-A894F9ED01E6}" type="presParOf" srcId="{B4B3A9FF-1992-544C-BCB0-98655366645A}" destId="{C30E3304-D114-7743-A3EC-2445BAC1033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F6F716-7C45-4D0D-B6CC-3B53A1A02CE1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5ADA7C-EF30-4892-902F-17F594BDB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803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6B93A6-E508-E944-9E17-051C16D946C1}" type="slidenum">
              <a:rPr lang="en-US"/>
              <a:pPr/>
              <a:t>4</a:t>
            </a:fld>
            <a:endParaRPr lang="en-US" dirty="0"/>
          </a:p>
        </p:txBody>
      </p:sp>
      <p:sp>
        <p:nvSpPr>
          <p:cNvPr id="12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Because there are fewer cache lines than main memory blocks, an algorithm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needed for mapping main memory blocks into cache lines. Further, a means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needed for determining which main memory block currently occupies a cache line.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choice of the mapping function dictates how the cache is organized. Three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techniques can be used: direct, associative, and set associative.</a:t>
            </a:r>
            <a:endParaRPr kumimoji="1" lang="en-GB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endParaRPr kumimoji="1" lang="en-GB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1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Direct mapping: </a:t>
            </a:r>
            <a:r>
              <a:rPr kumimoji="1" lang="en-US" sz="1200" b="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simplest technique, known as </a:t>
            </a:r>
            <a:r>
              <a:rPr kumimoji="1" lang="en-US" sz="1200" b="1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direct mapping</a:t>
            </a:r>
            <a:r>
              <a:rPr kumimoji="1" lang="en-US" sz="1200" b="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, maps each</a:t>
            </a:r>
          </a:p>
          <a:p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block of main memory into only one possible cache line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1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Associative mapping: Associative mapping </a:t>
            </a:r>
            <a:r>
              <a:rPr kumimoji="1" lang="en-US" sz="1200" b="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overcomes the disadvantage of direct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mapping by permitting each main memory block to be loaded into any line of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cache.</a:t>
            </a:r>
          </a:p>
          <a:p>
            <a:endParaRPr kumimoji="1" lang="en-US" sz="1200" i="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1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Set-associative mapping</a:t>
            </a:r>
            <a:r>
              <a:rPr kumimoji="1" lang="en-US" sz="1200" b="1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: </a:t>
            </a:r>
            <a:r>
              <a:rPr kumimoji="1" lang="en-US" sz="1200" b="1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Set-associative </a:t>
            </a:r>
            <a:r>
              <a:rPr kumimoji="1" lang="en-US" sz="1200" b="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mapping is a compromise that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exhibits the strengths of both the direct and associative approaches while reducing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their disadvantages.</a:t>
            </a:r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© 2016 Pearson Education, Inc., Hoboken, NJ.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531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2965-5440-4DA8-ACA3-8B4B6E7515E2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E5EFE-4B40-4D4D-9AFD-A389108B3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441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2965-5440-4DA8-ACA3-8B4B6E7515E2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E5EFE-4B40-4D4D-9AFD-A389108B3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996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2965-5440-4DA8-ACA3-8B4B6E7515E2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E5EFE-4B40-4D4D-9AFD-A389108B3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375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2965-5440-4DA8-ACA3-8B4B6E7515E2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E5EFE-4B40-4D4D-9AFD-A389108B3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858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2965-5440-4DA8-ACA3-8B4B6E7515E2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E5EFE-4B40-4D4D-9AFD-A389108B3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412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2965-5440-4DA8-ACA3-8B4B6E7515E2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E5EFE-4B40-4D4D-9AFD-A389108B3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641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2965-5440-4DA8-ACA3-8B4B6E7515E2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E5EFE-4B40-4D4D-9AFD-A389108B3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132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2965-5440-4DA8-ACA3-8B4B6E7515E2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E5EFE-4B40-4D4D-9AFD-A389108B3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962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2965-5440-4DA8-ACA3-8B4B6E7515E2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E5EFE-4B40-4D4D-9AFD-A389108B3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931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2965-5440-4DA8-ACA3-8B4B6E7515E2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E5EFE-4B40-4D4D-9AFD-A389108B3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427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2965-5440-4DA8-ACA3-8B4B6E7515E2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E5EFE-4B40-4D4D-9AFD-A389108B3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828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BA2965-5440-4DA8-ACA3-8B4B6E7515E2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AE5EFE-4B40-4D4D-9AFD-A389108B3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296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Computer Architecture and Organization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Week_9</a:t>
            </a:r>
            <a:endParaRPr lang="en-US" dirty="0" smtClean="0"/>
          </a:p>
          <a:p>
            <a:r>
              <a:rPr lang="en-US" dirty="0" smtClean="0"/>
              <a:t>Memory-2</a:t>
            </a:r>
          </a:p>
          <a:p>
            <a:r>
              <a:rPr lang="en-US" dirty="0" smtClean="0"/>
              <a:t>Dr. Abdul Hameed Pitafi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115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85611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Cache Mapping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619" y="655862"/>
            <a:ext cx="10515600" cy="4351338"/>
          </a:xfrm>
        </p:spPr>
        <p:txBody>
          <a:bodyPr/>
          <a:lstStyle/>
          <a:p>
            <a:r>
              <a:rPr lang="en-US" dirty="0" smtClean="0"/>
              <a:t>CPU always generates the address of main memory.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19" y="1289564"/>
            <a:ext cx="11422488" cy="5124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600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Cache Memory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cache contains </a:t>
            </a:r>
            <a:r>
              <a:rPr lang="en-US" dirty="0" smtClean="0"/>
              <a:t>a copy </a:t>
            </a:r>
            <a:r>
              <a:rPr lang="en-US" dirty="0"/>
              <a:t>of portions of main memory. When the processor attempts to read a word </a:t>
            </a:r>
            <a:r>
              <a:rPr lang="en-US" dirty="0" smtClean="0"/>
              <a:t>of memory</a:t>
            </a:r>
            <a:r>
              <a:rPr lang="en-US" dirty="0"/>
              <a:t>, a check is made to determine if the word is in the cache. If so, the word </a:t>
            </a:r>
            <a:r>
              <a:rPr lang="en-US" dirty="0" smtClean="0"/>
              <a:t>is delivered </a:t>
            </a:r>
            <a:r>
              <a:rPr lang="en-US" dirty="0"/>
              <a:t>to the processor. If not, a block of main memory, consisting of some </a:t>
            </a:r>
            <a:r>
              <a:rPr lang="en-US" dirty="0" smtClean="0"/>
              <a:t>fixed number </a:t>
            </a:r>
            <a:r>
              <a:rPr lang="en-US" dirty="0"/>
              <a:t>of words, is read into the cache and then the word is delivered to the processor</a:t>
            </a:r>
            <a:r>
              <a:rPr lang="en-US" dirty="0" smtClean="0"/>
              <a:t>.</a:t>
            </a:r>
          </a:p>
          <a:p>
            <a:r>
              <a:rPr lang="en-US" dirty="0"/>
              <a:t>Because of the phenomenon of locality of reference, when a block of data </a:t>
            </a:r>
            <a:r>
              <a:rPr lang="en-US" dirty="0" smtClean="0"/>
              <a:t>is fetched </a:t>
            </a:r>
            <a:r>
              <a:rPr lang="en-US" dirty="0"/>
              <a:t>into the cache to satisfy a single memory reference, it is likely that there </a:t>
            </a:r>
            <a:r>
              <a:rPr lang="en-US" dirty="0" smtClean="0"/>
              <a:t>will be </a:t>
            </a:r>
            <a:r>
              <a:rPr lang="en-US" dirty="0"/>
              <a:t>future references to that same memory location or to other words in the block. </a:t>
            </a:r>
          </a:p>
        </p:txBody>
      </p:sp>
    </p:spTree>
    <p:extLst>
      <p:ext uri="{BB962C8B-B14F-4D97-AF65-F5344CB8AC3E}">
        <p14:creationId xmlns:p14="http://schemas.microsoft.com/office/powerpoint/2010/main" val="3812849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775520" y="188640"/>
            <a:ext cx="7556500" cy="963612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Mapping Function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050878" y="980728"/>
            <a:ext cx="9799092" cy="1512168"/>
          </a:xfrm>
        </p:spPr>
        <p:txBody>
          <a:bodyPr>
            <a:normAutofit fontScale="92500"/>
          </a:bodyPr>
          <a:lstStyle/>
          <a:p>
            <a:r>
              <a:rPr lang="en-GB" dirty="0" smtClean="0"/>
              <a:t>Because there are fewer cache lines than main memory blocks, an algorithm is needed for mapping main memory blocks into cache lines</a:t>
            </a:r>
          </a:p>
          <a:p>
            <a:r>
              <a:rPr lang="en-GB" dirty="0" smtClean="0"/>
              <a:t>Three techniques can be used:</a:t>
            </a:r>
          </a:p>
        </p:txBody>
      </p:sp>
      <p:graphicFrame>
        <p:nvGraphicFramePr>
          <p:cNvPr id="36" name="Diagram 35"/>
          <p:cNvGraphicFramePr/>
          <p:nvPr>
            <p:extLst>
              <p:ext uri="{D42A27DB-BD31-4B8C-83A1-F6EECF244321}">
                <p14:modId xmlns:p14="http://schemas.microsoft.com/office/powerpoint/2010/main" val="2297899584"/>
              </p:ext>
            </p:extLst>
          </p:nvPr>
        </p:nvGraphicFramePr>
        <p:xfrm>
          <a:off x="1847527" y="2492896"/>
          <a:ext cx="9384580" cy="3962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1775520" y="6502672"/>
            <a:ext cx="6122894" cy="365125"/>
          </a:xfrm>
        </p:spPr>
        <p:txBody>
          <a:bodyPr/>
          <a:lstStyle/>
          <a:p>
            <a:r>
              <a:rPr lang="en-US" dirty="0" smtClean="0"/>
              <a:t>© 2016 Pearson Education, Inc., Hoboken, NJ.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77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Direct Mapping: Pros and Cons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The direct mapping technique is simple and inexpensive to implement. </a:t>
            </a:r>
            <a:r>
              <a:rPr lang="en-US" sz="3200" dirty="0" smtClean="0"/>
              <a:t>Its main </a:t>
            </a:r>
            <a:r>
              <a:rPr lang="en-US" sz="3200" dirty="0"/>
              <a:t>disadvantage is that there is a fixed cache location for any given block. Thus</a:t>
            </a:r>
            <a:r>
              <a:rPr lang="en-US" sz="3200" dirty="0" smtClean="0"/>
              <a:t>, if </a:t>
            </a:r>
            <a:r>
              <a:rPr lang="en-US" sz="3200" dirty="0"/>
              <a:t>a program happens to reference words repeatedly from two different blocks </a:t>
            </a:r>
            <a:r>
              <a:rPr lang="en-US" sz="3200" dirty="0" smtClean="0"/>
              <a:t>that map </a:t>
            </a:r>
            <a:r>
              <a:rPr lang="en-US" sz="3200" dirty="0"/>
              <a:t>into the same line, then the blocks will be continually swapped in the cache</a:t>
            </a:r>
            <a:r>
              <a:rPr lang="en-US" sz="3200" dirty="0" smtClean="0"/>
              <a:t>, and </a:t>
            </a:r>
            <a:r>
              <a:rPr lang="en-US" sz="3200" dirty="0"/>
              <a:t>the hit ratio will be low (a phenomenon known as </a:t>
            </a:r>
            <a:r>
              <a:rPr lang="en-US" sz="3200" i="1" dirty="0"/>
              <a:t>thrashing</a:t>
            </a:r>
            <a:r>
              <a:rPr lang="en-US" sz="3200" dirty="0"/>
              <a:t>). </a:t>
            </a:r>
            <a:br>
              <a:rPr lang="en-US" sz="3200" dirty="0"/>
            </a:b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831722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252" y="410983"/>
            <a:ext cx="11120035" cy="601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243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183"/>
            <a:ext cx="12144375" cy="597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692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Direct Mapping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024" y="1690688"/>
            <a:ext cx="11245754" cy="4486275"/>
          </a:xfrm>
        </p:spPr>
        <p:txBody>
          <a:bodyPr>
            <a:normAutofit/>
          </a:bodyPr>
          <a:lstStyle/>
          <a:p>
            <a:r>
              <a:rPr kumimoji="1" lang="en-US" dirty="0">
                <a:latin typeface="Times New Roman" pitchFamily="33" charset="0"/>
              </a:rPr>
              <a:t>The mapping is expressed as</a:t>
            </a:r>
          </a:p>
          <a:p>
            <a:r>
              <a:rPr kumimoji="1" lang="en-US" i="1" dirty="0" err="1">
                <a:latin typeface="Times New Roman" pitchFamily="33" charset="0"/>
              </a:rPr>
              <a:t>i</a:t>
            </a:r>
            <a:r>
              <a:rPr kumimoji="1" lang="en-US" i="1" dirty="0">
                <a:latin typeface="Times New Roman" pitchFamily="33" charset="0"/>
              </a:rPr>
              <a:t> = j </a:t>
            </a:r>
            <a:r>
              <a:rPr kumimoji="1" lang="en-US" b="1" i="1" dirty="0">
                <a:latin typeface="Times New Roman" pitchFamily="33" charset="0"/>
              </a:rPr>
              <a:t>modulo</a:t>
            </a:r>
            <a:r>
              <a:rPr kumimoji="1" lang="en-US" i="1" dirty="0">
                <a:latin typeface="Times New Roman" pitchFamily="33" charset="0"/>
              </a:rPr>
              <a:t> m</a:t>
            </a:r>
          </a:p>
          <a:p>
            <a:pPr marL="0" indent="0">
              <a:buNone/>
            </a:pPr>
            <a:r>
              <a:rPr kumimoji="1" lang="en-US" dirty="0">
                <a:latin typeface="Times New Roman" pitchFamily="33" charset="0"/>
              </a:rPr>
              <a:t>where</a:t>
            </a:r>
          </a:p>
          <a:p>
            <a:r>
              <a:rPr kumimoji="1" lang="en-US" i="1" dirty="0" err="1">
                <a:latin typeface="Times New Roman" pitchFamily="33" charset="0"/>
              </a:rPr>
              <a:t>i</a:t>
            </a:r>
            <a:r>
              <a:rPr kumimoji="1" lang="en-US" i="1" dirty="0">
                <a:latin typeface="Times New Roman" pitchFamily="33" charset="0"/>
              </a:rPr>
              <a:t> = cache line number</a:t>
            </a:r>
          </a:p>
          <a:p>
            <a:r>
              <a:rPr kumimoji="1" lang="en-US" i="1" dirty="0">
                <a:latin typeface="Times New Roman" pitchFamily="33" charset="0"/>
              </a:rPr>
              <a:t>j = main memory block number</a:t>
            </a:r>
          </a:p>
          <a:p>
            <a:r>
              <a:rPr kumimoji="1" lang="en-US" i="1" dirty="0">
                <a:latin typeface="Times New Roman" pitchFamily="33" charset="0"/>
              </a:rPr>
              <a:t>m = number of lines in the cache</a:t>
            </a:r>
            <a:endParaRPr kumimoji="1" lang="en-US" dirty="0">
              <a:latin typeface="Times New Roman" pitchFamily="33" charset="0"/>
            </a:endParaRPr>
          </a:p>
          <a:p>
            <a:endParaRPr kumimoji="1" lang="en-US" dirty="0">
              <a:latin typeface="Times New Roman" pitchFamily="33" charset="0"/>
            </a:endParaRPr>
          </a:p>
          <a:p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817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075"/>
            <a:ext cx="12106275" cy="618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74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123"/>
            <a:ext cx="12087225" cy="602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820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77725" cy="593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087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406" y="120940"/>
            <a:ext cx="11344275" cy="597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0604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797048" cy="675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0314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599" y="162960"/>
            <a:ext cx="11153775" cy="589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0133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735" y="0"/>
            <a:ext cx="11630025" cy="585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1619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901"/>
            <a:ext cx="11668125" cy="545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3425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087225" cy="612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0983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09" y="198079"/>
            <a:ext cx="11552349" cy="641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9460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719"/>
            <a:ext cx="11833571" cy="608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4066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222"/>
            <a:ext cx="12030075" cy="53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8106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161723"/>
            <a:ext cx="12239625" cy="627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0805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15799"/>
            <a:ext cx="11972925" cy="16097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8338" y="592428"/>
            <a:ext cx="837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Q:1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9404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9264"/>
            <a:ext cx="12296775" cy="540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9524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593" y="193183"/>
            <a:ext cx="10331204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4002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" y="509587"/>
            <a:ext cx="12182475" cy="583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4046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4385"/>
            <a:ext cx="12258675" cy="593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7600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800" y="1400644"/>
            <a:ext cx="11344275" cy="52673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99245" y="218941"/>
            <a:ext cx="1300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Solution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0701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746" y="323783"/>
            <a:ext cx="8620125" cy="551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2303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12" y="595312"/>
            <a:ext cx="11915775" cy="566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1717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4739"/>
            <a:ext cx="11991975" cy="288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20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1329676"/>
            <a:ext cx="12030075" cy="479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048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6221</TotalTime>
  <Words>560</Words>
  <Application>Microsoft Office PowerPoint</Application>
  <PresentationFormat>Widescreen</PresentationFormat>
  <Paragraphs>52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Calibri Light</vt:lpstr>
      <vt:lpstr>Times New Roman</vt:lpstr>
      <vt:lpstr>Office Theme</vt:lpstr>
      <vt:lpstr>Computer Architecture and Organization</vt:lpstr>
      <vt:lpstr>Cache Mapping</vt:lpstr>
      <vt:lpstr>Cache Memory</vt:lpstr>
      <vt:lpstr>Mapping Function</vt:lpstr>
      <vt:lpstr>Direct Mapping: Pros and Cons</vt:lpstr>
      <vt:lpstr>PowerPoint Presentation</vt:lpstr>
      <vt:lpstr>PowerPoint Presentation</vt:lpstr>
      <vt:lpstr>Direct Mapping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snhasany@outlook.com</dc:creator>
  <cp:lastModifiedBy>HameedPitafi</cp:lastModifiedBy>
  <cp:revision>266</cp:revision>
  <dcterms:created xsi:type="dcterms:W3CDTF">2021-02-14T07:14:57Z</dcterms:created>
  <dcterms:modified xsi:type="dcterms:W3CDTF">2023-12-18T07:03:59Z</dcterms:modified>
</cp:coreProperties>
</file>