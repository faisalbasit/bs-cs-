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5854700" cy="3295650"/>
  <p:notesSz cx="5854700" cy="32956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65" autoAdjust="0"/>
    <p:restoredTop sz="94061" autoAdjust="0"/>
  </p:normalViewPr>
  <p:slideViewPr>
    <p:cSldViewPr>
      <p:cViewPr varScale="1">
        <p:scale>
          <a:sx n="132" d="100"/>
          <a:sy n="132" d="100"/>
        </p:scale>
        <p:origin x="720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9102" y="1021651"/>
            <a:ext cx="4976495" cy="6920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78205" y="1845564"/>
            <a:ext cx="4098290" cy="823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12" y="8"/>
            <a:ext cx="5845810" cy="3288029"/>
          </a:xfrm>
          <a:custGeom>
            <a:avLst/>
            <a:gdLst/>
            <a:ahLst/>
            <a:cxnLst/>
            <a:rect l="l" t="t" r="r" b="b"/>
            <a:pathLst>
              <a:path w="5845810" h="3288029">
                <a:moveTo>
                  <a:pt x="0" y="3287938"/>
                </a:moveTo>
                <a:lnTo>
                  <a:pt x="5845240" y="3287938"/>
                </a:lnTo>
                <a:lnTo>
                  <a:pt x="5845240" y="0"/>
                </a:lnTo>
                <a:lnTo>
                  <a:pt x="0" y="0"/>
                </a:lnTo>
                <a:lnTo>
                  <a:pt x="0" y="3287938"/>
                </a:lnTo>
                <a:close/>
              </a:path>
            </a:pathLst>
          </a:custGeom>
          <a:solidFill>
            <a:srgbClr val="2829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234726" y="893420"/>
            <a:ext cx="612140" cy="939800"/>
          </a:xfrm>
          <a:custGeom>
            <a:avLst/>
            <a:gdLst/>
            <a:ahLst/>
            <a:cxnLst/>
            <a:rect l="l" t="t" r="r" b="b"/>
            <a:pathLst>
              <a:path w="612139" h="939800">
                <a:moveTo>
                  <a:pt x="555985" y="0"/>
                </a:moveTo>
                <a:lnTo>
                  <a:pt x="0" y="555604"/>
                </a:lnTo>
                <a:lnTo>
                  <a:pt x="383987" y="939332"/>
                </a:lnTo>
                <a:lnTo>
                  <a:pt x="612022" y="711465"/>
                </a:lnTo>
                <a:lnTo>
                  <a:pt x="612022" y="55994"/>
                </a:lnTo>
                <a:lnTo>
                  <a:pt x="555985" y="0"/>
                </a:lnTo>
                <a:close/>
              </a:path>
            </a:pathLst>
          </a:custGeom>
          <a:solidFill>
            <a:srgbClr val="484C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41762" y="12"/>
            <a:ext cx="1805305" cy="1479550"/>
          </a:xfrm>
          <a:custGeom>
            <a:avLst/>
            <a:gdLst/>
            <a:ahLst/>
            <a:cxnLst/>
            <a:rect l="l" t="t" r="r" b="b"/>
            <a:pathLst>
              <a:path w="1805304" h="1479550">
                <a:moveTo>
                  <a:pt x="1779358" y="923798"/>
                </a:moveTo>
                <a:lnTo>
                  <a:pt x="1577733" y="721537"/>
                </a:lnTo>
                <a:lnTo>
                  <a:pt x="1021753" y="1277137"/>
                </a:lnTo>
                <a:lnTo>
                  <a:pt x="1223352" y="1479397"/>
                </a:lnTo>
                <a:lnTo>
                  <a:pt x="1779358" y="923798"/>
                </a:lnTo>
                <a:close/>
              </a:path>
              <a:path w="1805304" h="1479550">
                <a:moveTo>
                  <a:pt x="1804962" y="0"/>
                </a:moveTo>
                <a:lnTo>
                  <a:pt x="0" y="0"/>
                </a:lnTo>
                <a:lnTo>
                  <a:pt x="983132" y="983132"/>
                </a:lnTo>
                <a:lnTo>
                  <a:pt x="1804962" y="161290"/>
                </a:lnTo>
                <a:lnTo>
                  <a:pt x="1804962" y="0"/>
                </a:lnTo>
                <a:close/>
              </a:path>
            </a:pathLst>
          </a:custGeom>
          <a:solidFill>
            <a:srgbClr val="6FB0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815809" y="2133469"/>
            <a:ext cx="1031240" cy="1155065"/>
          </a:xfrm>
          <a:custGeom>
            <a:avLst/>
            <a:gdLst/>
            <a:ahLst/>
            <a:cxnLst/>
            <a:rect l="l" t="t" r="r" b="b"/>
            <a:pathLst>
              <a:path w="1031239" h="1155064">
                <a:moveTo>
                  <a:pt x="1030528" y="0"/>
                </a:moveTo>
                <a:lnTo>
                  <a:pt x="0" y="1030926"/>
                </a:lnTo>
                <a:lnTo>
                  <a:pt x="123599" y="1154477"/>
                </a:lnTo>
                <a:lnTo>
                  <a:pt x="1030936" y="1154477"/>
                </a:lnTo>
                <a:lnTo>
                  <a:pt x="1030936" y="408"/>
                </a:lnTo>
                <a:lnTo>
                  <a:pt x="1030528" y="0"/>
                </a:lnTo>
                <a:close/>
              </a:path>
            </a:pathLst>
          </a:custGeom>
          <a:solidFill>
            <a:srgbClr val="6FB0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069921" y="260676"/>
            <a:ext cx="777240" cy="838835"/>
          </a:xfrm>
          <a:custGeom>
            <a:avLst/>
            <a:gdLst/>
            <a:ahLst/>
            <a:cxnLst/>
            <a:rect l="l" t="t" r="r" b="b"/>
            <a:pathLst>
              <a:path w="777239" h="838835">
                <a:moveTo>
                  <a:pt x="776834" y="0"/>
                </a:moveTo>
                <a:lnTo>
                  <a:pt x="0" y="776847"/>
                </a:lnTo>
                <a:lnTo>
                  <a:pt x="62240" y="838295"/>
                </a:lnTo>
                <a:lnTo>
                  <a:pt x="776834" y="123688"/>
                </a:lnTo>
                <a:lnTo>
                  <a:pt x="776834" y="0"/>
                </a:lnTo>
                <a:close/>
              </a:path>
            </a:pathLst>
          </a:custGeom>
          <a:solidFill>
            <a:srgbClr val="6FB0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92735" y="757999"/>
            <a:ext cx="2546794" cy="2175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015170" y="757999"/>
            <a:ext cx="2546794" cy="2175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12" y="8"/>
            <a:ext cx="5845810" cy="3288029"/>
          </a:xfrm>
          <a:custGeom>
            <a:avLst/>
            <a:gdLst/>
            <a:ahLst/>
            <a:cxnLst/>
            <a:rect l="l" t="t" r="r" b="b"/>
            <a:pathLst>
              <a:path w="5845810" h="3288029">
                <a:moveTo>
                  <a:pt x="0" y="3287938"/>
                </a:moveTo>
                <a:lnTo>
                  <a:pt x="5845240" y="3287938"/>
                </a:lnTo>
                <a:lnTo>
                  <a:pt x="5845240" y="0"/>
                </a:lnTo>
                <a:lnTo>
                  <a:pt x="0" y="0"/>
                </a:lnTo>
                <a:lnTo>
                  <a:pt x="0" y="3287938"/>
                </a:lnTo>
                <a:close/>
              </a:path>
            </a:pathLst>
          </a:custGeom>
          <a:solidFill>
            <a:srgbClr val="2829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069098" y="1888166"/>
            <a:ext cx="777875" cy="1111250"/>
          </a:xfrm>
          <a:custGeom>
            <a:avLst/>
            <a:gdLst/>
            <a:ahLst/>
            <a:cxnLst/>
            <a:rect l="l" t="t" r="r" b="b"/>
            <a:pathLst>
              <a:path w="777875" h="1111250">
                <a:moveTo>
                  <a:pt x="555619" y="0"/>
                </a:moveTo>
                <a:lnTo>
                  <a:pt x="0" y="555604"/>
                </a:lnTo>
                <a:lnTo>
                  <a:pt x="555619" y="1111197"/>
                </a:lnTo>
                <a:lnTo>
                  <a:pt x="777632" y="889182"/>
                </a:lnTo>
                <a:lnTo>
                  <a:pt x="777632" y="222018"/>
                </a:lnTo>
                <a:lnTo>
                  <a:pt x="555619" y="0"/>
                </a:lnTo>
                <a:close/>
              </a:path>
            </a:pathLst>
          </a:custGeom>
          <a:solidFill>
            <a:srgbClr val="484C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787598" y="2747223"/>
            <a:ext cx="924560" cy="541020"/>
          </a:xfrm>
          <a:custGeom>
            <a:avLst/>
            <a:gdLst/>
            <a:ahLst/>
            <a:cxnLst/>
            <a:rect l="l" t="t" r="r" b="b"/>
            <a:pathLst>
              <a:path w="924560" h="541020">
                <a:moveTo>
                  <a:pt x="540695" y="0"/>
                </a:moveTo>
                <a:lnTo>
                  <a:pt x="0" y="540723"/>
                </a:lnTo>
                <a:lnTo>
                  <a:pt x="767438" y="540723"/>
                </a:lnTo>
                <a:lnTo>
                  <a:pt x="924435" y="383724"/>
                </a:lnTo>
                <a:lnTo>
                  <a:pt x="540695" y="0"/>
                </a:lnTo>
                <a:close/>
              </a:path>
            </a:pathLst>
          </a:custGeom>
          <a:solidFill>
            <a:srgbClr val="484C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600837" y="2575346"/>
            <a:ext cx="758190" cy="713105"/>
          </a:xfrm>
          <a:custGeom>
            <a:avLst/>
            <a:gdLst/>
            <a:ahLst/>
            <a:cxnLst/>
            <a:rect l="l" t="t" r="r" b="b"/>
            <a:pathLst>
              <a:path w="758189" h="713104">
                <a:moveTo>
                  <a:pt x="555580" y="0"/>
                </a:moveTo>
                <a:lnTo>
                  <a:pt x="0" y="556402"/>
                </a:lnTo>
                <a:lnTo>
                  <a:pt x="156815" y="712600"/>
                </a:lnTo>
                <a:lnTo>
                  <a:pt x="247504" y="712600"/>
                </a:lnTo>
                <a:lnTo>
                  <a:pt x="757845" y="202250"/>
                </a:lnTo>
                <a:lnTo>
                  <a:pt x="555580" y="0"/>
                </a:lnTo>
                <a:close/>
              </a:path>
            </a:pathLst>
          </a:custGeom>
          <a:solidFill>
            <a:srgbClr val="6FB0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805001" y="2205383"/>
            <a:ext cx="1845310" cy="1082675"/>
          </a:xfrm>
          <a:custGeom>
            <a:avLst/>
            <a:gdLst/>
            <a:ahLst/>
            <a:cxnLst/>
            <a:rect l="l" t="t" r="r" b="b"/>
            <a:pathLst>
              <a:path w="1845310" h="1082675">
                <a:moveTo>
                  <a:pt x="922842" y="0"/>
                </a:moveTo>
                <a:lnTo>
                  <a:pt x="0" y="922447"/>
                </a:lnTo>
                <a:lnTo>
                  <a:pt x="160181" y="1082563"/>
                </a:lnTo>
                <a:lnTo>
                  <a:pt x="1684849" y="1082563"/>
                </a:lnTo>
                <a:lnTo>
                  <a:pt x="1844893" y="922447"/>
                </a:lnTo>
                <a:lnTo>
                  <a:pt x="922842" y="0"/>
                </a:lnTo>
                <a:close/>
              </a:path>
            </a:pathLst>
          </a:custGeom>
          <a:solidFill>
            <a:srgbClr val="6FB0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512" y="0"/>
            <a:ext cx="749300" cy="801370"/>
          </a:xfrm>
          <a:custGeom>
            <a:avLst/>
            <a:gdLst/>
            <a:ahLst/>
            <a:cxnLst/>
            <a:rect l="l" t="t" r="r" b="b"/>
            <a:pathLst>
              <a:path w="749300" h="801370">
                <a:moveTo>
                  <a:pt x="610284" y="0"/>
                </a:moveTo>
                <a:lnTo>
                  <a:pt x="0" y="0"/>
                </a:lnTo>
                <a:lnTo>
                  <a:pt x="0" y="714296"/>
                </a:lnTo>
                <a:lnTo>
                  <a:pt x="86618" y="800968"/>
                </a:lnTo>
                <a:lnTo>
                  <a:pt x="749176" y="138805"/>
                </a:lnTo>
                <a:lnTo>
                  <a:pt x="610284" y="0"/>
                </a:lnTo>
                <a:close/>
              </a:path>
            </a:pathLst>
          </a:custGeom>
          <a:solidFill>
            <a:srgbClr val="6FB0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12" y="8"/>
            <a:ext cx="5845810" cy="3288029"/>
          </a:xfrm>
          <a:custGeom>
            <a:avLst/>
            <a:gdLst/>
            <a:ahLst/>
            <a:cxnLst/>
            <a:rect l="l" t="t" r="r" b="b"/>
            <a:pathLst>
              <a:path w="5845810" h="3288029">
                <a:moveTo>
                  <a:pt x="0" y="3287938"/>
                </a:moveTo>
                <a:lnTo>
                  <a:pt x="5845240" y="3287938"/>
                </a:lnTo>
                <a:lnTo>
                  <a:pt x="5845240" y="0"/>
                </a:lnTo>
                <a:lnTo>
                  <a:pt x="0" y="0"/>
                </a:lnTo>
                <a:lnTo>
                  <a:pt x="0" y="3287938"/>
                </a:lnTo>
                <a:close/>
              </a:path>
            </a:pathLst>
          </a:custGeom>
          <a:solidFill>
            <a:srgbClr val="2829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8132" y="551708"/>
            <a:ext cx="5618435" cy="421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2735" y="757999"/>
            <a:ext cx="5269230" cy="2175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90598" y="3064954"/>
            <a:ext cx="1873504" cy="1647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92735" y="3064954"/>
            <a:ext cx="1346581" cy="1647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15384" y="3064954"/>
            <a:ext cx="1346581" cy="1647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yourwebsite.com/" TargetMode="External"/><Relationship Id="rId5" Type="http://schemas.openxmlformats.org/officeDocument/2006/relationships/hyperlink" Target="mailto:youremail@email.com" TargetMode="Externa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236" y="855510"/>
            <a:ext cx="2734945" cy="144145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455"/>
              </a:spcBef>
            </a:pPr>
            <a:r>
              <a:rPr sz="1800" spc="65" dirty="0">
                <a:solidFill>
                  <a:srgbClr val="FFFFFF"/>
                </a:solidFill>
                <a:latin typeface="Cambria"/>
                <a:cs typeface="Cambria"/>
              </a:rPr>
              <a:t>Analyzing the </a:t>
            </a:r>
            <a:r>
              <a:rPr sz="1800" spc="80" dirty="0">
                <a:solidFill>
                  <a:srgbClr val="FFFFFF"/>
                </a:solidFill>
                <a:latin typeface="Cambria"/>
                <a:cs typeface="Cambria"/>
              </a:rPr>
              <a:t>Influence </a:t>
            </a:r>
            <a:r>
              <a:rPr sz="1800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1800" spc="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Cambria"/>
                <a:cs typeface="Cambria"/>
              </a:rPr>
              <a:t>National</a:t>
            </a:r>
            <a:r>
              <a:rPr sz="18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1800" spc="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Cambria"/>
                <a:cs typeface="Cambria"/>
              </a:rPr>
              <a:t>Individual</a:t>
            </a:r>
            <a:r>
              <a:rPr sz="1800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Cambria"/>
                <a:cs typeface="Cambria"/>
              </a:rPr>
              <a:t>Environmental </a:t>
            </a:r>
            <a:r>
              <a:rPr sz="1800" spc="-3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Cambria"/>
                <a:cs typeface="Cambria"/>
              </a:rPr>
              <a:t>Factors </a:t>
            </a:r>
            <a:r>
              <a:rPr sz="1800" spc="105" dirty="0">
                <a:solidFill>
                  <a:srgbClr val="FFFFFF"/>
                </a:solidFill>
                <a:latin typeface="Cambria"/>
                <a:cs typeface="Cambria"/>
              </a:rPr>
              <a:t>on </a:t>
            </a:r>
            <a:r>
              <a:rPr sz="1800" spc="55" dirty="0">
                <a:solidFill>
                  <a:srgbClr val="FFFFFF"/>
                </a:solidFill>
                <a:latin typeface="Cambria"/>
                <a:cs typeface="Cambria"/>
              </a:rPr>
              <a:t>Business </a:t>
            </a:r>
            <a:r>
              <a:rPr sz="1800" spc="85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1800" spc="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Cambria"/>
                <a:cs typeface="Cambria"/>
              </a:rPr>
              <a:t>Communication </a:t>
            </a:r>
            <a:r>
              <a:rPr sz="1800" spc="70" dirty="0">
                <a:solidFill>
                  <a:srgbClr val="FFFFFF"/>
                </a:solidFill>
                <a:latin typeface="Cambria"/>
                <a:cs typeface="Cambria"/>
              </a:rPr>
              <a:t>in </a:t>
            </a:r>
            <a:r>
              <a:rPr sz="1800" spc="75" dirty="0">
                <a:solidFill>
                  <a:srgbClr val="FFFFFF"/>
                </a:solidFill>
                <a:latin typeface="Cambria"/>
                <a:cs typeface="Cambria"/>
              </a:rPr>
              <a:t>Saudi </a:t>
            </a:r>
            <a:r>
              <a:rPr sz="1800" spc="-3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Cambria"/>
                <a:cs typeface="Cambria"/>
              </a:rPr>
              <a:t>Arabia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924293" y="0"/>
            <a:ext cx="2925445" cy="2998470"/>
            <a:chOff x="2924293" y="0"/>
            <a:chExt cx="2925445" cy="29984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4293" y="1296567"/>
              <a:ext cx="1701777" cy="17017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6136" y="0"/>
              <a:ext cx="2072975" cy="23675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12" y="0"/>
            <a:ext cx="820419" cy="853440"/>
          </a:xfrm>
          <a:custGeom>
            <a:avLst/>
            <a:gdLst/>
            <a:ahLst/>
            <a:cxnLst/>
            <a:rect l="l" t="t" r="r" b="b"/>
            <a:pathLst>
              <a:path w="820419" h="853440">
                <a:moveTo>
                  <a:pt x="522571" y="0"/>
                </a:moveTo>
                <a:lnTo>
                  <a:pt x="6352" y="0"/>
                </a:lnTo>
                <a:lnTo>
                  <a:pt x="0" y="6352"/>
                </a:lnTo>
                <a:lnTo>
                  <a:pt x="0" y="588633"/>
                </a:lnTo>
                <a:lnTo>
                  <a:pt x="264461" y="853095"/>
                </a:lnTo>
                <a:lnTo>
                  <a:pt x="820067" y="297490"/>
                </a:lnTo>
                <a:lnTo>
                  <a:pt x="522571" y="0"/>
                </a:lnTo>
                <a:close/>
              </a:path>
            </a:pathLst>
          </a:custGeom>
          <a:solidFill>
            <a:srgbClr val="484C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7647" y="2034374"/>
            <a:ext cx="2061210" cy="1254125"/>
          </a:xfrm>
          <a:custGeom>
            <a:avLst/>
            <a:gdLst/>
            <a:ahLst/>
            <a:cxnLst/>
            <a:rect l="l" t="t" r="r" b="b"/>
            <a:pathLst>
              <a:path w="2061210" h="1254125">
                <a:moveTo>
                  <a:pt x="1030922" y="0"/>
                </a:moveTo>
                <a:lnTo>
                  <a:pt x="0" y="1030520"/>
                </a:lnTo>
                <a:lnTo>
                  <a:pt x="223138" y="1253572"/>
                </a:lnTo>
                <a:lnTo>
                  <a:pt x="1838088" y="1253572"/>
                </a:lnTo>
                <a:lnTo>
                  <a:pt x="2061054" y="1030520"/>
                </a:lnTo>
                <a:lnTo>
                  <a:pt x="1030922" y="0"/>
                </a:lnTo>
                <a:close/>
              </a:path>
            </a:pathLst>
          </a:custGeom>
          <a:solidFill>
            <a:srgbClr val="484C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12" y="957239"/>
            <a:ext cx="1294765" cy="2061210"/>
          </a:xfrm>
          <a:custGeom>
            <a:avLst/>
            <a:gdLst/>
            <a:ahLst/>
            <a:cxnLst/>
            <a:rect l="l" t="t" r="r" b="b"/>
            <a:pathLst>
              <a:path w="1294765" h="2061210">
                <a:moveTo>
                  <a:pt x="263949" y="0"/>
                </a:moveTo>
                <a:lnTo>
                  <a:pt x="0" y="264053"/>
                </a:lnTo>
                <a:lnTo>
                  <a:pt x="0" y="1797205"/>
                </a:lnTo>
                <a:lnTo>
                  <a:pt x="263949" y="2061054"/>
                </a:lnTo>
                <a:lnTo>
                  <a:pt x="1294482" y="1030925"/>
                </a:lnTo>
                <a:lnTo>
                  <a:pt x="263949" y="0"/>
                </a:lnTo>
                <a:close/>
              </a:path>
            </a:pathLst>
          </a:custGeom>
          <a:solidFill>
            <a:srgbClr val="6FB0D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823" y="-9530"/>
            <a:ext cx="2036670" cy="193353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46542" y="353890"/>
            <a:ext cx="165100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90" dirty="0"/>
              <a:t>Introduction</a:t>
            </a:r>
            <a:endParaRPr sz="2150" dirty="0"/>
          </a:p>
        </p:txBody>
      </p:sp>
      <p:sp>
        <p:nvSpPr>
          <p:cNvPr id="11" name="object 11"/>
          <p:cNvSpPr txBox="1"/>
          <p:nvPr/>
        </p:nvSpPr>
        <p:spPr>
          <a:xfrm>
            <a:off x="2698750" y="1042329"/>
            <a:ext cx="2220595" cy="945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95"/>
              </a:spcBef>
            </a:pPr>
            <a:r>
              <a:rPr lang="en-US" sz="850" spc="15" dirty="0">
                <a:solidFill>
                  <a:schemeClr val="bg1"/>
                </a:solidFill>
                <a:latin typeface="Trebuchet MS"/>
                <a:cs typeface="Trebuchet MS"/>
              </a:rPr>
              <a:t>This</a:t>
            </a:r>
            <a:r>
              <a:rPr lang="en-US" sz="850" spc="-4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850" spc="25" dirty="0">
                <a:solidFill>
                  <a:schemeClr val="bg1"/>
                </a:solidFill>
                <a:latin typeface="Trebuchet MS"/>
                <a:cs typeface="Trebuchet MS"/>
              </a:rPr>
              <a:t>presentation</a:t>
            </a:r>
            <a:r>
              <a:rPr lang="en-US" sz="850" spc="-4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850" spc="-15" dirty="0">
                <a:solidFill>
                  <a:schemeClr val="bg1"/>
                </a:solidFill>
                <a:latin typeface="Trebuchet MS"/>
                <a:cs typeface="Trebuchet MS"/>
              </a:rPr>
              <a:t>will</a:t>
            </a:r>
            <a:r>
              <a:rPr lang="en-US" sz="850" spc="-4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850" spc="15" dirty="0">
                <a:solidFill>
                  <a:schemeClr val="bg1"/>
                </a:solidFill>
                <a:latin typeface="Trebuchet MS"/>
                <a:cs typeface="Trebuchet MS"/>
              </a:rPr>
              <a:t>analyze</a:t>
            </a:r>
            <a:r>
              <a:rPr lang="en-US" sz="850" spc="-4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850" spc="15" dirty="0">
                <a:solidFill>
                  <a:schemeClr val="bg1"/>
                </a:solidFill>
                <a:latin typeface="Trebuchet MS"/>
                <a:cs typeface="Trebuchet MS"/>
              </a:rPr>
              <a:t>the</a:t>
            </a:r>
            <a:r>
              <a:rPr lang="en-US" sz="850" spc="-4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850" spc="25" dirty="0">
                <a:solidFill>
                  <a:schemeClr val="bg1"/>
                </a:solidFill>
                <a:latin typeface="Trebuchet MS"/>
                <a:cs typeface="Trebuchet MS"/>
              </a:rPr>
              <a:t>inﬂuence </a:t>
            </a:r>
            <a:r>
              <a:rPr lang="en-US" sz="850" spc="-24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850" spc="20" dirty="0">
                <a:solidFill>
                  <a:schemeClr val="bg1"/>
                </a:solidFill>
                <a:latin typeface="Trebuchet MS"/>
                <a:cs typeface="Trebuchet MS"/>
              </a:rPr>
              <a:t>of national </a:t>
            </a:r>
            <a:r>
              <a:rPr lang="en-US" sz="850" spc="45" dirty="0">
                <a:solidFill>
                  <a:schemeClr val="bg1"/>
                </a:solidFill>
                <a:latin typeface="Trebuchet MS"/>
                <a:cs typeface="Trebuchet MS"/>
              </a:rPr>
              <a:t>and </a:t>
            </a:r>
            <a:r>
              <a:rPr lang="en-US" sz="850" spc="15" dirty="0">
                <a:solidFill>
                  <a:schemeClr val="bg1"/>
                </a:solidFill>
                <a:latin typeface="Trebuchet MS"/>
                <a:cs typeface="Trebuchet MS"/>
              </a:rPr>
              <a:t>individual </a:t>
            </a:r>
            <a:r>
              <a:rPr lang="en-US" sz="850" spc="25" dirty="0">
                <a:solidFill>
                  <a:schemeClr val="bg1"/>
                </a:solidFill>
                <a:latin typeface="Trebuchet MS"/>
                <a:cs typeface="Trebuchet MS"/>
              </a:rPr>
              <a:t>environmental </a:t>
            </a:r>
            <a:r>
              <a:rPr lang="en-US" sz="850" spc="3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850" spc="15" dirty="0">
                <a:solidFill>
                  <a:schemeClr val="bg1"/>
                </a:solidFill>
                <a:latin typeface="Trebuchet MS"/>
                <a:cs typeface="Trebuchet MS"/>
              </a:rPr>
              <a:t>factors</a:t>
            </a:r>
            <a:r>
              <a:rPr lang="en-US" sz="850" spc="-4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850" spc="65" dirty="0">
                <a:solidFill>
                  <a:schemeClr val="bg1"/>
                </a:solidFill>
                <a:latin typeface="Trebuchet MS"/>
                <a:cs typeface="Trebuchet MS"/>
              </a:rPr>
              <a:t>on</a:t>
            </a:r>
            <a:r>
              <a:rPr lang="en-US" sz="850" spc="-4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850" spc="45" dirty="0">
                <a:solidFill>
                  <a:schemeClr val="bg1"/>
                </a:solidFill>
                <a:latin typeface="Trebuchet MS"/>
                <a:cs typeface="Trebuchet MS"/>
              </a:rPr>
              <a:t>business</a:t>
            </a:r>
            <a:r>
              <a:rPr lang="en-US" sz="850" spc="-4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850" spc="45" dirty="0">
                <a:solidFill>
                  <a:schemeClr val="bg1"/>
                </a:solidFill>
                <a:latin typeface="Trebuchet MS"/>
                <a:cs typeface="Trebuchet MS"/>
              </a:rPr>
              <a:t>and</a:t>
            </a:r>
            <a:r>
              <a:rPr lang="en-US" sz="850" spc="-4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850" spc="30" dirty="0">
                <a:solidFill>
                  <a:schemeClr val="bg1"/>
                </a:solidFill>
                <a:latin typeface="Trebuchet MS"/>
                <a:cs typeface="Trebuchet MS"/>
              </a:rPr>
              <a:t>communication</a:t>
            </a:r>
            <a:r>
              <a:rPr lang="en-US" sz="850" spc="-4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850" spc="20" dirty="0">
                <a:solidFill>
                  <a:schemeClr val="bg1"/>
                </a:solidFill>
                <a:latin typeface="Trebuchet MS"/>
                <a:cs typeface="Trebuchet MS"/>
              </a:rPr>
              <a:t>in </a:t>
            </a:r>
            <a:r>
              <a:rPr lang="en-US" sz="850" spc="2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850" spc="35" dirty="0">
                <a:solidFill>
                  <a:schemeClr val="bg1"/>
                </a:solidFill>
                <a:latin typeface="Trebuchet MS"/>
                <a:cs typeface="Trebuchet MS"/>
              </a:rPr>
              <a:t>Saudi </a:t>
            </a:r>
            <a:r>
              <a:rPr lang="en-US" sz="850" spc="10" dirty="0">
                <a:solidFill>
                  <a:schemeClr val="bg1"/>
                </a:solidFill>
                <a:latin typeface="Trebuchet MS"/>
                <a:cs typeface="Trebuchet MS"/>
              </a:rPr>
              <a:t>Arabia. </a:t>
            </a:r>
            <a:r>
              <a:rPr lang="en-US" sz="850" spc="45" dirty="0">
                <a:solidFill>
                  <a:schemeClr val="bg1"/>
                </a:solidFill>
                <a:latin typeface="Trebuchet MS"/>
                <a:cs typeface="Trebuchet MS"/>
              </a:rPr>
              <a:t>We </a:t>
            </a:r>
            <a:r>
              <a:rPr lang="en-US" sz="850" spc="-15" dirty="0">
                <a:solidFill>
                  <a:schemeClr val="bg1"/>
                </a:solidFill>
                <a:latin typeface="Trebuchet MS"/>
                <a:cs typeface="Trebuchet MS"/>
              </a:rPr>
              <a:t>will </a:t>
            </a:r>
            <a:r>
              <a:rPr lang="en-US" sz="850" spc="20" dirty="0">
                <a:solidFill>
                  <a:schemeClr val="bg1"/>
                </a:solidFill>
                <a:latin typeface="Trebuchet MS"/>
                <a:cs typeface="Trebuchet MS"/>
              </a:rPr>
              <a:t>explore </a:t>
            </a:r>
            <a:r>
              <a:rPr lang="en-US" sz="850" spc="15" dirty="0">
                <a:solidFill>
                  <a:schemeClr val="bg1"/>
                </a:solidFill>
                <a:latin typeface="Trebuchet MS"/>
                <a:cs typeface="Trebuchet MS"/>
              </a:rPr>
              <a:t>the </a:t>
            </a:r>
            <a:r>
              <a:rPr lang="en-US" sz="850" spc="20" dirty="0">
                <a:solidFill>
                  <a:schemeClr val="bg1"/>
                </a:solidFill>
                <a:latin typeface="Trebuchet MS"/>
                <a:cs typeface="Trebuchet MS"/>
              </a:rPr>
              <a:t>key </a:t>
            </a:r>
            <a:r>
              <a:rPr lang="en-US" sz="850" spc="2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850" spc="20" dirty="0">
                <a:solidFill>
                  <a:schemeClr val="bg1"/>
                </a:solidFill>
                <a:latin typeface="Trebuchet MS"/>
                <a:cs typeface="Trebuchet MS"/>
              </a:rPr>
              <a:t>elements </a:t>
            </a:r>
            <a:r>
              <a:rPr lang="en-US" sz="850" spc="35" dirty="0">
                <a:solidFill>
                  <a:schemeClr val="bg1"/>
                </a:solidFill>
                <a:latin typeface="Trebuchet MS"/>
                <a:cs typeface="Trebuchet MS"/>
              </a:rPr>
              <a:t>shaping </a:t>
            </a:r>
            <a:r>
              <a:rPr lang="en-US" sz="850" spc="15" dirty="0">
                <a:solidFill>
                  <a:schemeClr val="bg1"/>
                </a:solidFill>
                <a:latin typeface="Trebuchet MS"/>
                <a:cs typeface="Trebuchet MS"/>
              </a:rPr>
              <a:t>the </a:t>
            </a:r>
            <a:r>
              <a:rPr lang="en-US" sz="850" spc="45" dirty="0">
                <a:solidFill>
                  <a:schemeClr val="bg1"/>
                </a:solidFill>
                <a:latin typeface="Trebuchet MS"/>
                <a:cs typeface="Trebuchet MS"/>
              </a:rPr>
              <a:t>business </a:t>
            </a:r>
            <a:r>
              <a:rPr lang="en-US" sz="850" spc="30" dirty="0">
                <a:solidFill>
                  <a:schemeClr val="bg1"/>
                </a:solidFill>
                <a:latin typeface="Trebuchet MS"/>
                <a:cs typeface="Trebuchet MS"/>
              </a:rPr>
              <a:t>landscape </a:t>
            </a:r>
            <a:r>
              <a:rPr lang="en-US" sz="850" spc="3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850" spc="45" dirty="0">
                <a:solidFill>
                  <a:schemeClr val="bg1"/>
                </a:solidFill>
                <a:latin typeface="Trebuchet MS"/>
                <a:cs typeface="Trebuchet MS"/>
              </a:rPr>
              <a:t>and </a:t>
            </a:r>
            <a:r>
              <a:rPr lang="en-US" sz="850" spc="30" dirty="0">
                <a:solidFill>
                  <a:schemeClr val="bg1"/>
                </a:solidFill>
                <a:latin typeface="Trebuchet MS"/>
                <a:cs typeface="Trebuchet MS"/>
              </a:rPr>
              <a:t>communication </a:t>
            </a:r>
            <a:r>
              <a:rPr lang="en-US" sz="850" spc="35" dirty="0">
                <a:solidFill>
                  <a:schemeClr val="bg1"/>
                </a:solidFill>
                <a:latin typeface="Trebuchet MS"/>
                <a:cs typeface="Trebuchet MS"/>
              </a:rPr>
              <a:t>dynamics </a:t>
            </a:r>
            <a:r>
              <a:rPr lang="en-US" sz="850" spc="20" dirty="0">
                <a:solidFill>
                  <a:schemeClr val="bg1"/>
                </a:solidFill>
                <a:latin typeface="Trebuchet MS"/>
                <a:cs typeface="Trebuchet MS"/>
              </a:rPr>
              <a:t>in </a:t>
            </a:r>
            <a:r>
              <a:rPr lang="en-US" sz="850" spc="15" dirty="0">
                <a:solidFill>
                  <a:schemeClr val="bg1"/>
                </a:solidFill>
                <a:latin typeface="Trebuchet MS"/>
                <a:cs typeface="Trebuchet MS"/>
              </a:rPr>
              <a:t>the </a:t>
            </a:r>
            <a:r>
              <a:rPr lang="en-US" sz="850" spc="2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850" spc="10" dirty="0">
                <a:solidFill>
                  <a:schemeClr val="bg1"/>
                </a:solidFill>
                <a:latin typeface="Trebuchet MS"/>
                <a:cs typeface="Trebuchet MS"/>
              </a:rPr>
              <a:t>region.</a:t>
            </a:r>
            <a:endParaRPr lang="en-US" sz="85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46578" y="877277"/>
            <a:ext cx="1141730" cy="30480"/>
          </a:xfrm>
          <a:custGeom>
            <a:avLst/>
            <a:gdLst/>
            <a:ahLst/>
            <a:cxnLst/>
            <a:rect l="l" t="t" r="r" b="b"/>
            <a:pathLst>
              <a:path w="1141729" h="30480">
                <a:moveTo>
                  <a:pt x="1141641" y="0"/>
                </a:moveTo>
                <a:lnTo>
                  <a:pt x="0" y="0"/>
                </a:lnTo>
                <a:lnTo>
                  <a:pt x="0" y="30454"/>
                </a:lnTo>
                <a:lnTo>
                  <a:pt x="1141641" y="30454"/>
                </a:lnTo>
                <a:lnTo>
                  <a:pt x="1141641" y="0"/>
                </a:lnTo>
                <a:close/>
              </a:path>
            </a:pathLst>
          </a:custGeom>
          <a:solidFill>
            <a:srgbClr val="6FB0D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10878" y="1043964"/>
            <a:ext cx="2036643" cy="2036682"/>
            <a:chOff x="3710878" y="1043964"/>
            <a:chExt cx="2036643" cy="203668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10878" y="1043964"/>
              <a:ext cx="2036643" cy="203667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8694" y="1215627"/>
              <a:ext cx="1838812" cy="186501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01966" y="327769"/>
            <a:ext cx="2020570" cy="4210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R="5080" algn="r">
              <a:lnSpc>
                <a:spcPts val="1545"/>
              </a:lnSpc>
              <a:spcBef>
                <a:spcPts val="115"/>
              </a:spcBef>
            </a:pPr>
            <a:r>
              <a:rPr spc="60" dirty="0"/>
              <a:t>National</a:t>
            </a:r>
            <a:r>
              <a:rPr spc="-20" dirty="0"/>
              <a:t> </a:t>
            </a:r>
            <a:r>
              <a:rPr spc="60" dirty="0"/>
              <a:t>Environmental</a:t>
            </a:r>
          </a:p>
          <a:p>
            <a:pPr marR="5080" algn="r">
              <a:lnSpc>
                <a:spcPts val="1545"/>
              </a:lnSpc>
            </a:pPr>
            <a:r>
              <a:rPr spc="45" dirty="0"/>
              <a:t>Factors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0894" y="927722"/>
            <a:ext cx="1970513" cy="2729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08501" y="890821"/>
            <a:ext cx="2010410" cy="1048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 marR="5080" indent="208915" algn="r">
              <a:lnSpc>
                <a:spcPct val="100899"/>
              </a:lnSpc>
              <a:spcBef>
                <a:spcPts val="95"/>
              </a:spcBef>
            </a:pPr>
            <a:r>
              <a:rPr sz="950" spc="1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9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-5" dirty="0">
                <a:latin typeface="Trebuchet MS"/>
                <a:cs typeface="Trebuchet MS"/>
              </a:rPr>
              <a:t>political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15" dirty="0">
                <a:latin typeface="Trebuchet MS"/>
                <a:cs typeface="Trebuchet MS"/>
              </a:rPr>
              <a:t>stability</a:t>
            </a:r>
            <a:r>
              <a:rPr sz="950" spc="-15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9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economic </a:t>
            </a:r>
            <a:r>
              <a:rPr sz="950" spc="-275" dirty="0">
                <a:latin typeface="Trebuchet MS"/>
                <a:cs typeface="Trebuchet MS"/>
              </a:rPr>
              <a:t> </a:t>
            </a:r>
            <a:r>
              <a:rPr sz="950" spc="-5" dirty="0">
                <a:latin typeface="Trebuchet MS"/>
                <a:cs typeface="Trebuchet MS"/>
              </a:rPr>
              <a:t>policies</a:t>
            </a:r>
            <a:r>
              <a:rPr sz="950" spc="-5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9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5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9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15" dirty="0">
                <a:latin typeface="Trebuchet MS"/>
                <a:cs typeface="Trebuchet MS"/>
              </a:rPr>
              <a:t>regulatory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framework </a:t>
            </a:r>
            <a:r>
              <a:rPr sz="950" spc="-270" dirty="0">
                <a:latin typeface="Trebuchet MS"/>
                <a:cs typeface="Trebuchet MS"/>
              </a:rPr>
              <a:t> </a:t>
            </a:r>
            <a:r>
              <a:rPr sz="950" spc="20" dirty="0">
                <a:solidFill>
                  <a:srgbClr val="FFFFFF"/>
                </a:solidFill>
                <a:latin typeface="Trebuchet MS"/>
                <a:cs typeface="Trebuchet MS"/>
              </a:rPr>
              <a:t>are </a:t>
            </a:r>
            <a:r>
              <a:rPr sz="950" dirty="0">
                <a:solidFill>
                  <a:srgbClr val="FFFFFF"/>
                </a:solidFill>
                <a:latin typeface="Trebuchet MS"/>
                <a:cs typeface="Trebuchet MS"/>
              </a:rPr>
              <a:t>crucial </a:t>
            </a:r>
            <a:r>
              <a:rPr sz="950" spc="20" dirty="0">
                <a:solidFill>
                  <a:srgbClr val="FFFFFF"/>
                </a:solidFill>
                <a:latin typeface="Trebuchet MS"/>
                <a:cs typeface="Trebuchet MS"/>
              </a:rPr>
              <a:t>national </a:t>
            </a:r>
            <a:r>
              <a:rPr sz="950" spc="25" dirty="0">
                <a:solidFill>
                  <a:srgbClr val="FFFFFF"/>
                </a:solidFill>
                <a:latin typeface="Trebuchet MS"/>
                <a:cs typeface="Trebuchet MS"/>
              </a:rPr>
              <a:t>environmental </a:t>
            </a:r>
            <a:r>
              <a:rPr sz="950" spc="-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15" dirty="0">
                <a:solidFill>
                  <a:srgbClr val="FFFFFF"/>
                </a:solidFill>
                <a:latin typeface="Trebuchet MS"/>
                <a:cs typeface="Trebuchet MS"/>
              </a:rPr>
              <a:t>factors </a:t>
            </a:r>
            <a:r>
              <a:rPr sz="950" spc="20" dirty="0">
                <a:solidFill>
                  <a:srgbClr val="FFFFFF"/>
                </a:solidFill>
                <a:latin typeface="Trebuchet MS"/>
                <a:cs typeface="Trebuchet MS"/>
              </a:rPr>
              <a:t>impacting </a:t>
            </a:r>
            <a:r>
              <a:rPr sz="950" spc="50" dirty="0">
                <a:solidFill>
                  <a:srgbClr val="FFFFFF"/>
                </a:solidFill>
                <a:latin typeface="Trebuchet MS"/>
                <a:cs typeface="Trebuchet MS"/>
              </a:rPr>
              <a:t>business </a:t>
            </a:r>
            <a:r>
              <a:rPr sz="950" spc="4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95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30" dirty="0">
                <a:solidFill>
                  <a:srgbClr val="FFFFFF"/>
                </a:solidFill>
                <a:latin typeface="Trebuchet MS"/>
                <a:cs typeface="Trebuchet MS"/>
              </a:rPr>
              <a:t>communication</a:t>
            </a:r>
            <a:r>
              <a:rPr sz="9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2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9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40" dirty="0">
                <a:solidFill>
                  <a:srgbClr val="FFFFFF"/>
                </a:solidFill>
                <a:latin typeface="Trebuchet MS"/>
                <a:cs typeface="Trebuchet MS"/>
              </a:rPr>
              <a:t>Saudi</a:t>
            </a:r>
            <a:r>
              <a:rPr sz="9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10" dirty="0">
                <a:solidFill>
                  <a:srgbClr val="FFFFFF"/>
                </a:solidFill>
                <a:latin typeface="Trebuchet MS"/>
                <a:cs typeface="Trebuchet MS"/>
              </a:rPr>
              <a:t>Arabia.</a:t>
            </a:r>
            <a:endParaRPr sz="950">
              <a:latin typeface="Trebuchet MS"/>
              <a:cs typeface="Trebuchet MS"/>
            </a:endParaRPr>
          </a:p>
          <a:p>
            <a:pPr marL="12700" marR="5080" indent="249554" algn="r">
              <a:lnSpc>
                <a:spcPct val="100899"/>
              </a:lnSpc>
            </a:pPr>
            <a:r>
              <a:rPr sz="950" spc="35" dirty="0">
                <a:solidFill>
                  <a:srgbClr val="FFFFFF"/>
                </a:solidFill>
                <a:latin typeface="Trebuchet MS"/>
                <a:cs typeface="Trebuchet MS"/>
              </a:rPr>
              <a:t>Understanding</a:t>
            </a:r>
            <a:r>
              <a:rPr sz="9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20" dirty="0">
                <a:solidFill>
                  <a:srgbClr val="FFFFFF"/>
                </a:solidFill>
                <a:latin typeface="Trebuchet MS"/>
                <a:cs typeface="Trebuchet MS"/>
              </a:rPr>
              <a:t>these</a:t>
            </a:r>
            <a:r>
              <a:rPr sz="9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15" dirty="0">
                <a:solidFill>
                  <a:srgbClr val="FFFFFF"/>
                </a:solidFill>
                <a:latin typeface="Trebuchet MS"/>
                <a:cs typeface="Trebuchet MS"/>
              </a:rPr>
              <a:t>factors</a:t>
            </a:r>
            <a:r>
              <a:rPr sz="9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20" dirty="0">
                <a:solidFill>
                  <a:srgbClr val="FFFFFF"/>
                </a:solidFill>
                <a:latin typeface="Trebuchet MS"/>
                <a:cs typeface="Trebuchet MS"/>
              </a:rPr>
              <a:t>is </a:t>
            </a:r>
            <a:r>
              <a:rPr sz="950" spc="-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15" dirty="0">
                <a:solidFill>
                  <a:srgbClr val="FFFFFF"/>
                </a:solidFill>
                <a:latin typeface="Trebuchet MS"/>
                <a:cs typeface="Trebuchet MS"/>
              </a:rPr>
              <a:t>essential</a:t>
            </a:r>
            <a:r>
              <a:rPr sz="95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2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95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-5" dirty="0">
                <a:solidFill>
                  <a:srgbClr val="FFFFFF"/>
                </a:solidFill>
                <a:latin typeface="Trebuchet MS"/>
                <a:cs typeface="Trebuchet MS"/>
              </a:rPr>
              <a:t>eﬀective</a:t>
            </a:r>
            <a:r>
              <a:rPr sz="95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25" dirty="0">
                <a:solidFill>
                  <a:srgbClr val="FFFFFF"/>
                </a:solidFill>
                <a:latin typeface="Trebuchet MS"/>
                <a:cs typeface="Trebuchet MS"/>
              </a:rPr>
              <a:t>engagement.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25624" y="818159"/>
            <a:ext cx="1294130" cy="30480"/>
          </a:xfrm>
          <a:custGeom>
            <a:avLst/>
            <a:gdLst/>
            <a:ahLst/>
            <a:cxnLst/>
            <a:rect l="l" t="t" r="r" b="b"/>
            <a:pathLst>
              <a:path w="1294129" h="30480">
                <a:moveTo>
                  <a:pt x="1293863" y="0"/>
                </a:moveTo>
                <a:lnTo>
                  <a:pt x="0" y="0"/>
                </a:lnTo>
                <a:lnTo>
                  <a:pt x="0" y="30441"/>
                </a:lnTo>
                <a:lnTo>
                  <a:pt x="1293863" y="30441"/>
                </a:lnTo>
                <a:lnTo>
                  <a:pt x="1293863" y="0"/>
                </a:lnTo>
                <a:close/>
              </a:path>
            </a:pathLst>
          </a:custGeom>
          <a:solidFill>
            <a:srgbClr val="6FB0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12" y="219283"/>
            <a:ext cx="936625" cy="1873250"/>
          </a:xfrm>
          <a:custGeom>
            <a:avLst/>
            <a:gdLst/>
            <a:ahLst/>
            <a:cxnLst/>
            <a:rect l="l" t="t" r="r" b="b"/>
            <a:pathLst>
              <a:path w="936625" h="1873250">
                <a:moveTo>
                  <a:pt x="0" y="0"/>
                </a:moveTo>
                <a:lnTo>
                  <a:pt x="0" y="1873071"/>
                </a:lnTo>
                <a:lnTo>
                  <a:pt x="936546" y="936170"/>
                </a:lnTo>
                <a:lnTo>
                  <a:pt x="0" y="0"/>
                </a:lnTo>
                <a:close/>
              </a:path>
            </a:pathLst>
          </a:custGeom>
          <a:solidFill>
            <a:srgbClr val="484C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12" y="1987070"/>
            <a:ext cx="1235075" cy="1301115"/>
          </a:xfrm>
          <a:custGeom>
            <a:avLst/>
            <a:gdLst/>
            <a:ahLst/>
            <a:cxnLst/>
            <a:rect l="l" t="t" r="r" b="b"/>
            <a:pathLst>
              <a:path w="1235075" h="1301114">
                <a:moveTo>
                  <a:pt x="204454" y="0"/>
                </a:moveTo>
                <a:lnTo>
                  <a:pt x="0" y="204451"/>
                </a:lnTo>
                <a:lnTo>
                  <a:pt x="0" y="1300876"/>
                </a:lnTo>
                <a:lnTo>
                  <a:pt x="964623" y="1300876"/>
                </a:lnTo>
                <a:lnTo>
                  <a:pt x="1234976" y="1030520"/>
                </a:lnTo>
                <a:lnTo>
                  <a:pt x="204454" y="0"/>
                </a:lnTo>
                <a:close/>
              </a:path>
            </a:pathLst>
          </a:custGeom>
          <a:solidFill>
            <a:srgbClr val="6FB0D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0878" y="1043964"/>
            <a:ext cx="2036643" cy="203667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03480" y="327769"/>
            <a:ext cx="1918970" cy="42100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indent="1045844">
              <a:lnSpc>
                <a:spcPts val="1410"/>
              </a:lnSpc>
              <a:spcBef>
                <a:spcPts val="385"/>
              </a:spcBef>
            </a:pPr>
            <a:r>
              <a:rPr spc="70" dirty="0"/>
              <a:t>In</a:t>
            </a:r>
            <a:r>
              <a:rPr spc="85" dirty="0"/>
              <a:t>d</a:t>
            </a:r>
            <a:r>
              <a:rPr spc="25" dirty="0"/>
              <a:t>ivi</a:t>
            </a:r>
            <a:r>
              <a:rPr spc="45" dirty="0"/>
              <a:t>dual  </a:t>
            </a:r>
            <a:r>
              <a:rPr spc="60" dirty="0"/>
              <a:t>Environmental</a:t>
            </a:r>
            <a:r>
              <a:rPr spc="-10" dirty="0"/>
              <a:t> </a:t>
            </a:r>
            <a:r>
              <a:rPr spc="45" dirty="0"/>
              <a:t>Factors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9024" y="927722"/>
            <a:ext cx="1875556" cy="2729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09485" y="890820"/>
            <a:ext cx="1909445" cy="1195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31140" algn="r">
              <a:lnSpc>
                <a:spcPct val="100899"/>
              </a:lnSpc>
              <a:spcBef>
                <a:spcPts val="95"/>
              </a:spcBef>
            </a:pPr>
            <a:r>
              <a:rPr sz="950" spc="1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95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cultural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spc="35" dirty="0">
                <a:latin typeface="Trebuchet MS"/>
                <a:cs typeface="Trebuchet MS"/>
              </a:rPr>
              <a:t>norms</a:t>
            </a:r>
            <a:r>
              <a:rPr sz="950" spc="35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9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35" dirty="0">
                <a:latin typeface="Trebuchet MS"/>
                <a:cs typeface="Trebuchet MS"/>
              </a:rPr>
              <a:t>language </a:t>
            </a:r>
            <a:r>
              <a:rPr sz="950" spc="-270" dirty="0">
                <a:latin typeface="Trebuchet MS"/>
                <a:cs typeface="Trebuchet MS"/>
              </a:rPr>
              <a:t> </a:t>
            </a:r>
            <a:r>
              <a:rPr sz="950" spc="-5" dirty="0">
                <a:latin typeface="Trebuchet MS"/>
                <a:cs typeface="Trebuchet MS"/>
              </a:rPr>
              <a:t>diversity</a:t>
            </a:r>
            <a:r>
              <a:rPr sz="950" spc="-5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9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5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95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15" dirty="0">
                <a:latin typeface="Trebuchet MS"/>
                <a:cs typeface="Trebuchet MS"/>
              </a:rPr>
              <a:t>religious</a:t>
            </a:r>
            <a:r>
              <a:rPr sz="950" spc="-4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inﬂuences </a:t>
            </a:r>
            <a:r>
              <a:rPr sz="950" spc="-270" dirty="0">
                <a:latin typeface="Trebuchet MS"/>
                <a:cs typeface="Trebuchet MS"/>
              </a:rPr>
              <a:t> </a:t>
            </a:r>
            <a:r>
              <a:rPr sz="950" spc="10" dirty="0">
                <a:solidFill>
                  <a:srgbClr val="FFFFFF"/>
                </a:solidFill>
                <a:latin typeface="Trebuchet MS"/>
                <a:cs typeface="Trebuchet MS"/>
              </a:rPr>
              <a:t>signiﬁcantly </a:t>
            </a:r>
            <a:r>
              <a:rPr sz="950" spc="45" dirty="0">
                <a:solidFill>
                  <a:srgbClr val="FFFFFF"/>
                </a:solidFill>
                <a:latin typeface="Trebuchet MS"/>
                <a:cs typeface="Trebuchet MS"/>
              </a:rPr>
              <a:t>shape </a:t>
            </a:r>
            <a:r>
              <a:rPr sz="950" spc="15" dirty="0">
                <a:solidFill>
                  <a:srgbClr val="FFFFFF"/>
                </a:solidFill>
                <a:latin typeface="Trebuchet MS"/>
                <a:cs typeface="Trebuchet MS"/>
              </a:rPr>
              <a:t>individual </a:t>
            </a:r>
            <a:r>
              <a:rPr sz="95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25" dirty="0">
                <a:solidFill>
                  <a:srgbClr val="FFFFFF"/>
                </a:solidFill>
                <a:latin typeface="Trebuchet MS"/>
                <a:cs typeface="Trebuchet MS"/>
              </a:rPr>
              <a:t>environmental </a:t>
            </a:r>
            <a:r>
              <a:rPr sz="950" spc="15" dirty="0">
                <a:solidFill>
                  <a:srgbClr val="FFFFFF"/>
                </a:solidFill>
                <a:latin typeface="Trebuchet MS"/>
                <a:cs typeface="Trebuchet MS"/>
              </a:rPr>
              <a:t>factors </a:t>
            </a:r>
            <a:r>
              <a:rPr sz="950" spc="5" dirty="0">
                <a:solidFill>
                  <a:srgbClr val="FFFFFF"/>
                </a:solidFill>
                <a:latin typeface="Trebuchet MS"/>
                <a:cs typeface="Trebuchet MS"/>
              </a:rPr>
              <a:t>aﬀecting </a:t>
            </a:r>
            <a:r>
              <a:rPr sz="95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50" dirty="0">
                <a:solidFill>
                  <a:srgbClr val="FFFFFF"/>
                </a:solidFill>
                <a:latin typeface="Trebuchet MS"/>
                <a:cs typeface="Trebuchet MS"/>
              </a:rPr>
              <a:t>business and </a:t>
            </a:r>
            <a:r>
              <a:rPr sz="950" spc="30" dirty="0">
                <a:solidFill>
                  <a:srgbClr val="FFFFFF"/>
                </a:solidFill>
                <a:latin typeface="Trebuchet MS"/>
                <a:cs typeface="Trebuchet MS"/>
              </a:rPr>
              <a:t>communication </a:t>
            </a:r>
            <a:r>
              <a:rPr sz="950" spc="20" dirty="0">
                <a:solidFill>
                  <a:srgbClr val="FFFFFF"/>
                </a:solidFill>
                <a:latin typeface="Trebuchet MS"/>
                <a:cs typeface="Trebuchet MS"/>
              </a:rPr>
              <a:t>in </a:t>
            </a:r>
            <a:r>
              <a:rPr sz="95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40" dirty="0">
                <a:solidFill>
                  <a:srgbClr val="FFFFFF"/>
                </a:solidFill>
                <a:latin typeface="Trebuchet MS"/>
                <a:cs typeface="Trebuchet MS"/>
              </a:rPr>
              <a:t>Saudi </a:t>
            </a:r>
            <a:r>
              <a:rPr sz="950" spc="10" dirty="0">
                <a:solidFill>
                  <a:srgbClr val="FFFFFF"/>
                </a:solidFill>
                <a:latin typeface="Trebuchet MS"/>
                <a:cs typeface="Trebuchet MS"/>
              </a:rPr>
              <a:t>Arabia. </a:t>
            </a:r>
            <a:r>
              <a:rPr sz="950" spc="25" dirty="0">
                <a:solidFill>
                  <a:srgbClr val="FFFFFF"/>
                </a:solidFill>
                <a:latin typeface="Trebuchet MS"/>
                <a:cs typeface="Trebuchet MS"/>
              </a:rPr>
              <a:t>Navigating these </a:t>
            </a:r>
            <a:r>
              <a:rPr sz="95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25" dirty="0">
                <a:solidFill>
                  <a:srgbClr val="FFFFFF"/>
                </a:solidFill>
                <a:latin typeface="Trebuchet MS"/>
                <a:cs typeface="Trebuchet MS"/>
              </a:rPr>
              <a:t>aspects</a:t>
            </a:r>
            <a:r>
              <a:rPr sz="95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2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95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15" dirty="0">
                <a:solidFill>
                  <a:srgbClr val="FFFFFF"/>
                </a:solidFill>
                <a:latin typeface="Trebuchet MS"/>
                <a:cs typeface="Trebuchet MS"/>
              </a:rPr>
              <a:t>key</a:t>
            </a:r>
            <a:r>
              <a:rPr sz="9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2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95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25" dirty="0">
                <a:solidFill>
                  <a:srgbClr val="FFFFFF"/>
                </a:solidFill>
                <a:latin typeface="Trebuchet MS"/>
                <a:cs typeface="Trebuchet MS"/>
              </a:rPr>
              <a:t>successful</a:t>
            </a:r>
            <a:endParaRPr sz="950">
              <a:latin typeface="Trebuchet MS"/>
              <a:cs typeface="Trebuchet MS"/>
            </a:endParaRPr>
          </a:p>
          <a:p>
            <a:pPr marR="5715" algn="r">
              <a:lnSpc>
                <a:spcPct val="100000"/>
              </a:lnSpc>
              <a:spcBef>
                <a:spcPts val="15"/>
              </a:spcBef>
            </a:pPr>
            <a:r>
              <a:rPr sz="950" spc="5" dirty="0">
                <a:solidFill>
                  <a:srgbClr val="FFFFFF"/>
                </a:solidFill>
                <a:latin typeface="Trebuchet MS"/>
                <a:cs typeface="Trebuchet MS"/>
              </a:rPr>
              <a:t>interactions.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25624" y="818159"/>
            <a:ext cx="1294130" cy="30480"/>
          </a:xfrm>
          <a:custGeom>
            <a:avLst/>
            <a:gdLst/>
            <a:ahLst/>
            <a:cxnLst/>
            <a:rect l="l" t="t" r="r" b="b"/>
            <a:pathLst>
              <a:path w="1294129" h="30480">
                <a:moveTo>
                  <a:pt x="1293863" y="0"/>
                </a:moveTo>
                <a:lnTo>
                  <a:pt x="0" y="0"/>
                </a:lnTo>
                <a:lnTo>
                  <a:pt x="0" y="30441"/>
                </a:lnTo>
                <a:lnTo>
                  <a:pt x="1293863" y="30441"/>
                </a:lnTo>
                <a:lnTo>
                  <a:pt x="1293863" y="0"/>
                </a:lnTo>
                <a:close/>
              </a:path>
            </a:pathLst>
          </a:custGeom>
          <a:solidFill>
            <a:srgbClr val="6FB0D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512" y="219283"/>
            <a:ext cx="1235075" cy="3068955"/>
            <a:chOff x="1512" y="219283"/>
            <a:chExt cx="1235075" cy="3068955"/>
          </a:xfrm>
        </p:grpSpPr>
        <p:sp>
          <p:nvSpPr>
            <p:cNvPr id="8" name="object 8"/>
            <p:cNvSpPr/>
            <p:nvPr/>
          </p:nvSpPr>
          <p:spPr>
            <a:xfrm>
              <a:off x="1512" y="219283"/>
              <a:ext cx="936625" cy="1873250"/>
            </a:xfrm>
            <a:custGeom>
              <a:avLst/>
              <a:gdLst/>
              <a:ahLst/>
              <a:cxnLst/>
              <a:rect l="l" t="t" r="r" b="b"/>
              <a:pathLst>
                <a:path w="936625" h="1873250">
                  <a:moveTo>
                    <a:pt x="0" y="0"/>
                  </a:moveTo>
                  <a:lnTo>
                    <a:pt x="0" y="1873071"/>
                  </a:lnTo>
                  <a:lnTo>
                    <a:pt x="936546" y="9361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4C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12" y="1987070"/>
              <a:ext cx="1235075" cy="1301115"/>
            </a:xfrm>
            <a:custGeom>
              <a:avLst/>
              <a:gdLst/>
              <a:ahLst/>
              <a:cxnLst/>
              <a:rect l="l" t="t" r="r" b="b"/>
              <a:pathLst>
                <a:path w="1235075" h="1301114">
                  <a:moveTo>
                    <a:pt x="204454" y="0"/>
                  </a:moveTo>
                  <a:lnTo>
                    <a:pt x="0" y="204451"/>
                  </a:lnTo>
                  <a:lnTo>
                    <a:pt x="0" y="1300876"/>
                  </a:lnTo>
                  <a:lnTo>
                    <a:pt x="964623" y="1300876"/>
                  </a:lnTo>
                  <a:lnTo>
                    <a:pt x="1234976" y="1030520"/>
                  </a:lnTo>
                  <a:lnTo>
                    <a:pt x="204454" y="0"/>
                  </a:lnTo>
                  <a:close/>
                </a:path>
              </a:pathLst>
            </a:custGeom>
            <a:solidFill>
              <a:srgbClr val="6FB0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0878" y="1043964"/>
            <a:ext cx="2036643" cy="203667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3728" y="321679"/>
            <a:ext cx="206883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55" dirty="0"/>
              <a:t>Business</a:t>
            </a:r>
            <a:r>
              <a:rPr sz="1800" spc="10" dirty="0"/>
              <a:t> </a:t>
            </a:r>
            <a:r>
              <a:rPr sz="1800" spc="100" dirty="0"/>
              <a:t>Dynamics</a:t>
            </a:r>
            <a:endParaRPr sz="18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6620" y="927722"/>
            <a:ext cx="1827327" cy="4190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27087" y="890820"/>
            <a:ext cx="1891664" cy="1195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92100" algn="r">
              <a:lnSpc>
                <a:spcPct val="100899"/>
              </a:lnSpc>
              <a:spcBef>
                <a:spcPts val="95"/>
              </a:spcBef>
            </a:pPr>
            <a:r>
              <a:rPr sz="950" spc="1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95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oil</a:t>
            </a:r>
            <a:r>
              <a:rPr sz="950" spc="-6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industry</a:t>
            </a:r>
            <a:r>
              <a:rPr sz="950" spc="-65" dirty="0">
                <a:latin typeface="Trebuchet MS"/>
                <a:cs typeface="Trebuchet MS"/>
              </a:rPr>
              <a:t> </a:t>
            </a:r>
            <a:r>
              <a:rPr sz="950" spc="25" dirty="0">
                <a:latin typeface="Trebuchet MS"/>
                <a:cs typeface="Trebuchet MS"/>
              </a:rPr>
              <a:t>dominance</a:t>
            </a:r>
            <a:r>
              <a:rPr sz="950" spc="25" dirty="0">
                <a:solidFill>
                  <a:srgbClr val="FFFFFF"/>
                </a:solidFill>
                <a:latin typeface="Trebuchet MS"/>
                <a:cs typeface="Trebuchet MS"/>
              </a:rPr>
              <a:t>, </a:t>
            </a:r>
            <a:r>
              <a:rPr sz="950" spc="-2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35" dirty="0">
                <a:latin typeface="Trebuchet MS"/>
                <a:cs typeface="Trebuchet MS"/>
              </a:rPr>
              <a:t>government </a:t>
            </a:r>
            <a:r>
              <a:rPr sz="950" spc="-10" dirty="0">
                <a:latin typeface="Trebuchet MS"/>
                <a:cs typeface="Trebuchet MS"/>
              </a:rPr>
              <a:t>initiatives</a:t>
            </a:r>
            <a:r>
              <a:rPr sz="950" spc="-10" dirty="0">
                <a:solidFill>
                  <a:srgbClr val="FFFFFF"/>
                </a:solidFill>
                <a:latin typeface="Trebuchet MS"/>
                <a:cs typeface="Trebuchet MS"/>
              </a:rPr>
              <a:t>, </a:t>
            </a:r>
            <a:r>
              <a:rPr sz="950" spc="4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95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15" dirty="0">
                <a:latin typeface="Trebuchet MS"/>
                <a:cs typeface="Trebuchet MS"/>
              </a:rPr>
              <a:t>entrepreneurial</a:t>
            </a:r>
            <a:r>
              <a:rPr sz="950" spc="-45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landscape</a:t>
            </a:r>
            <a:r>
              <a:rPr sz="950" spc="-45" dirty="0">
                <a:latin typeface="Trebuchet MS"/>
                <a:cs typeface="Trebuchet MS"/>
              </a:rPr>
              <a:t> </a:t>
            </a:r>
            <a:r>
              <a:rPr sz="950" spc="15" dirty="0">
                <a:solidFill>
                  <a:srgbClr val="FFFFFF"/>
                </a:solidFill>
                <a:latin typeface="Trebuchet MS"/>
                <a:cs typeface="Trebuchet MS"/>
              </a:rPr>
              <a:t>play</a:t>
            </a:r>
            <a:r>
              <a:rPr sz="95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3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950" spc="-2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10" dirty="0">
                <a:solidFill>
                  <a:srgbClr val="FFFFFF"/>
                </a:solidFill>
                <a:latin typeface="Trebuchet MS"/>
                <a:cs typeface="Trebuchet MS"/>
              </a:rPr>
              <a:t>pivotal role </a:t>
            </a:r>
            <a:r>
              <a:rPr sz="950" spc="20" dirty="0">
                <a:solidFill>
                  <a:srgbClr val="FFFFFF"/>
                </a:solidFill>
                <a:latin typeface="Trebuchet MS"/>
                <a:cs typeface="Trebuchet MS"/>
              </a:rPr>
              <a:t>in </a:t>
            </a:r>
            <a:r>
              <a:rPr sz="950" spc="40" dirty="0">
                <a:solidFill>
                  <a:srgbClr val="FFFFFF"/>
                </a:solidFill>
                <a:latin typeface="Trebuchet MS"/>
                <a:cs typeface="Trebuchet MS"/>
              </a:rPr>
              <a:t>shaping </a:t>
            </a:r>
            <a:r>
              <a:rPr sz="950" spc="50" dirty="0">
                <a:solidFill>
                  <a:srgbClr val="FFFFFF"/>
                </a:solidFill>
                <a:latin typeface="Trebuchet MS"/>
                <a:cs typeface="Trebuchet MS"/>
              </a:rPr>
              <a:t>business </a:t>
            </a:r>
            <a:r>
              <a:rPr sz="95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35" dirty="0">
                <a:solidFill>
                  <a:srgbClr val="FFFFFF"/>
                </a:solidFill>
                <a:latin typeface="Trebuchet MS"/>
                <a:cs typeface="Trebuchet MS"/>
              </a:rPr>
              <a:t>dynamics</a:t>
            </a:r>
            <a:r>
              <a:rPr sz="95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2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95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40" dirty="0">
                <a:solidFill>
                  <a:srgbClr val="FFFFFF"/>
                </a:solidFill>
                <a:latin typeface="Trebuchet MS"/>
                <a:cs typeface="Trebuchet MS"/>
              </a:rPr>
              <a:t>Saudi</a:t>
            </a:r>
            <a:r>
              <a:rPr sz="95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10" dirty="0">
                <a:solidFill>
                  <a:srgbClr val="FFFFFF"/>
                </a:solidFill>
                <a:latin typeface="Trebuchet MS"/>
                <a:cs typeface="Trebuchet MS"/>
              </a:rPr>
              <a:t>Arabia.</a:t>
            </a:r>
            <a:endParaRPr sz="950">
              <a:latin typeface="Trebuchet MS"/>
              <a:cs typeface="Trebuchet MS"/>
            </a:endParaRPr>
          </a:p>
          <a:p>
            <a:pPr marL="125095" marR="5715" indent="18415" algn="r">
              <a:lnSpc>
                <a:spcPct val="100899"/>
              </a:lnSpc>
            </a:pPr>
            <a:r>
              <a:rPr sz="950" spc="35" dirty="0">
                <a:solidFill>
                  <a:srgbClr val="FFFFFF"/>
                </a:solidFill>
                <a:latin typeface="Trebuchet MS"/>
                <a:cs typeface="Trebuchet MS"/>
              </a:rPr>
              <a:t>Understanding</a:t>
            </a:r>
            <a:r>
              <a:rPr sz="9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20" dirty="0">
                <a:solidFill>
                  <a:srgbClr val="FFFFFF"/>
                </a:solidFill>
                <a:latin typeface="Trebuchet MS"/>
                <a:cs typeface="Trebuchet MS"/>
              </a:rPr>
              <a:t>these</a:t>
            </a:r>
            <a:r>
              <a:rPr sz="9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15" dirty="0">
                <a:solidFill>
                  <a:srgbClr val="FFFFFF"/>
                </a:solidFill>
                <a:latin typeface="Trebuchet MS"/>
                <a:cs typeface="Trebuchet MS"/>
              </a:rPr>
              <a:t>factors</a:t>
            </a:r>
            <a:r>
              <a:rPr sz="9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20" dirty="0">
                <a:solidFill>
                  <a:srgbClr val="FFFFFF"/>
                </a:solidFill>
                <a:latin typeface="Trebuchet MS"/>
                <a:cs typeface="Trebuchet MS"/>
              </a:rPr>
              <a:t>is </a:t>
            </a:r>
            <a:r>
              <a:rPr sz="950" spc="-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15" dirty="0">
                <a:solidFill>
                  <a:srgbClr val="FFFFFF"/>
                </a:solidFill>
                <a:latin typeface="Trebuchet MS"/>
                <a:cs typeface="Trebuchet MS"/>
              </a:rPr>
              <a:t>essential</a:t>
            </a:r>
            <a:r>
              <a:rPr sz="95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2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9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FFFF"/>
                </a:solidFill>
                <a:latin typeface="Trebuchet MS"/>
                <a:cs typeface="Trebuchet MS"/>
              </a:rPr>
              <a:t>strategic</a:t>
            </a:r>
            <a:r>
              <a:rPr sz="9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15" dirty="0">
                <a:solidFill>
                  <a:srgbClr val="FFFFFF"/>
                </a:solidFill>
                <a:latin typeface="Trebuchet MS"/>
                <a:cs typeface="Trebuchet MS"/>
              </a:rPr>
              <a:t>decision-</a:t>
            </a:r>
            <a:endParaRPr sz="950">
              <a:latin typeface="Trebuchet MS"/>
              <a:cs typeface="Trebuchet MS"/>
            </a:endParaRPr>
          </a:p>
          <a:p>
            <a:pPr marR="5715" algn="r">
              <a:lnSpc>
                <a:spcPct val="100000"/>
              </a:lnSpc>
              <a:spcBef>
                <a:spcPts val="15"/>
              </a:spcBef>
            </a:pPr>
            <a:r>
              <a:rPr sz="950" spc="15" dirty="0">
                <a:solidFill>
                  <a:srgbClr val="FFFFFF"/>
                </a:solidFill>
                <a:latin typeface="Trebuchet MS"/>
                <a:cs typeface="Trebuchet MS"/>
              </a:rPr>
              <a:t>making.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25624" y="818159"/>
            <a:ext cx="1294130" cy="30480"/>
          </a:xfrm>
          <a:custGeom>
            <a:avLst/>
            <a:gdLst/>
            <a:ahLst/>
            <a:cxnLst/>
            <a:rect l="l" t="t" r="r" b="b"/>
            <a:pathLst>
              <a:path w="1294129" h="30480">
                <a:moveTo>
                  <a:pt x="1293863" y="0"/>
                </a:moveTo>
                <a:lnTo>
                  <a:pt x="0" y="0"/>
                </a:lnTo>
                <a:lnTo>
                  <a:pt x="0" y="30441"/>
                </a:lnTo>
                <a:lnTo>
                  <a:pt x="1293863" y="30441"/>
                </a:lnTo>
                <a:lnTo>
                  <a:pt x="1293863" y="0"/>
                </a:lnTo>
                <a:close/>
              </a:path>
            </a:pathLst>
          </a:custGeom>
          <a:solidFill>
            <a:srgbClr val="6FB0D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512" y="219283"/>
            <a:ext cx="1235075" cy="3068955"/>
            <a:chOff x="1512" y="219283"/>
            <a:chExt cx="1235075" cy="3068955"/>
          </a:xfrm>
        </p:grpSpPr>
        <p:sp>
          <p:nvSpPr>
            <p:cNvPr id="8" name="object 8"/>
            <p:cNvSpPr/>
            <p:nvPr/>
          </p:nvSpPr>
          <p:spPr>
            <a:xfrm>
              <a:off x="1512" y="219283"/>
              <a:ext cx="936625" cy="1873250"/>
            </a:xfrm>
            <a:custGeom>
              <a:avLst/>
              <a:gdLst/>
              <a:ahLst/>
              <a:cxnLst/>
              <a:rect l="l" t="t" r="r" b="b"/>
              <a:pathLst>
                <a:path w="936625" h="1873250">
                  <a:moveTo>
                    <a:pt x="0" y="0"/>
                  </a:moveTo>
                  <a:lnTo>
                    <a:pt x="0" y="1873071"/>
                  </a:lnTo>
                  <a:lnTo>
                    <a:pt x="936546" y="9361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4C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12" y="1987070"/>
              <a:ext cx="1235075" cy="1301115"/>
            </a:xfrm>
            <a:custGeom>
              <a:avLst/>
              <a:gdLst/>
              <a:ahLst/>
              <a:cxnLst/>
              <a:rect l="l" t="t" r="r" b="b"/>
              <a:pathLst>
                <a:path w="1235075" h="1301114">
                  <a:moveTo>
                    <a:pt x="204454" y="0"/>
                  </a:moveTo>
                  <a:lnTo>
                    <a:pt x="0" y="204451"/>
                  </a:lnTo>
                  <a:lnTo>
                    <a:pt x="0" y="1300876"/>
                  </a:lnTo>
                  <a:lnTo>
                    <a:pt x="964623" y="1300876"/>
                  </a:lnTo>
                  <a:lnTo>
                    <a:pt x="1234976" y="1030520"/>
                  </a:lnTo>
                  <a:lnTo>
                    <a:pt x="204454" y="0"/>
                  </a:lnTo>
                  <a:close/>
                </a:path>
              </a:pathLst>
            </a:custGeom>
            <a:solidFill>
              <a:srgbClr val="6FB0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02" y="0"/>
            <a:ext cx="5842635" cy="3288029"/>
            <a:chOff x="3202" y="0"/>
            <a:chExt cx="5842635" cy="328802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2" y="1867"/>
              <a:ext cx="5842192" cy="328607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49742" y="404704"/>
              <a:ext cx="2061210" cy="2061210"/>
            </a:xfrm>
            <a:custGeom>
              <a:avLst/>
              <a:gdLst/>
              <a:ahLst/>
              <a:cxnLst/>
              <a:rect l="l" t="t" r="r" b="b"/>
              <a:pathLst>
                <a:path w="2061210" h="2061210">
                  <a:moveTo>
                    <a:pt x="1030528" y="0"/>
                  </a:moveTo>
                  <a:lnTo>
                    <a:pt x="0" y="1030129"/>
                  </a:lnTo>
                  <a:lnTo>
                    <a:pt x="1030528" y="2061057"/>
                  </a:lnTo>
                  <a:lnTo>
                    <a:pt x="2061057" y="1030129"/>
                  </a:lnTo>
                  <a:lnTo>
                    <a:pt x="1030528" y="0"/>
                  </a:lnTo>
                  <a:close/>
                </a:path>
              </a:pathLst>
            </a:custGeom>
            <a:solidFill>
              <a:srgbClr val="484C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9761" y="0"/>
              <a:ext cx="2061210" cy="1175385"/>
            </a:xfrm>
            <a:custGeom>
              <a:avLst/>
              <a:gdLst/>
              <a:ahLst/>
              <a:cxnLst/>
              <a:rect l="l" t="t" r="r" b="b"/>
              <a:pathLst>
                <a:path w="2061210" h="1175385">
                  <a:moveTo>
                    <a:pt x="1916261" y="0"/>
                  </a:moveTo>
                  <a:lnTo>
                    <a:pt x="144782" y="0"/>
                  </a:lnTo>
                  <a:lnTo>
                    <a:pt x="0" y="144779"/>
                  </a:lnTo>
                  <a:lnTo>
                    <a:pt x="1030516" y="1175323"/>
                  </a:lnTo>
                  <a:lnTo>
                    <a:pt x="2061045" y="144779"/>
                  </a:lnTo>
                  <a:lnTo>
                    <a:pt x="1916261" y="0"/>
                  </a:lnTo>
                  <a:close/>
                </a:path>
              </a:pathLst>
            </a:custGeom>
            <a:solidFill>
              <a:srgbClr val="6FB0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82954" y="937"/>
              <a:ext cx="2262505" cy="3285490"/>
            </a:xfrm>
            <a:custGeom>
              <a:avLst/>
              <a:gdLst/>
              <a:ahLst/>
              <a:cxnLst/>
              <a:rect l="l" t="t" r="r" b="b"/>
              <a:pathLst>
                <a:path w="2262504" h="3285490">
                  <a:moveTo>
                    <a:pt x="2261984" y="0"/>
                  </a:moveTo>
                  <a:lnTo>
                    <a:pt x="0" y="0"/>
                  </a:lnTo>
                  <a:lnTo>
                    <a:pt x="0" y="3284890"/>
                  </a:lnTo>
                  <a:lnTo>
                    <a:pt x="2261984" y="3284890"/>
                  </a:lnTo>
                  <a:lnTo>
                    <a:pt x="2261984" y="0"/>
                  </a:lnTo>
                  <a:close/>
                </a:path>
              </a:pathLst>
            </a:custGeom>
            <a:solidFill>
              <a:srgbClr val="28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4225290" marR="5080" algn="r">
              <a:lnSpc>
                <a:spcPts val="1545"/>
              </a:lnSpc>
              <a:spcBef>
                <a:spcPts val="115"/>
              </a:spcBef>
            </a:pPr>
            <a:r>
              <a:rPr spc="95" dirty="0"/>
              <a:t>Communication</a:t>
            </a:r>
          </a:p>
          <a:p>
            <a:pPr marL="4225290" marR="5080" algn="r">
              <a:lnSpc>
                <a:spcPts val="1545"/>
              </a:lnSpc>
            </a:pPr>
            <a:r>
              <a:rPr spc="65" dirty="0"/>
              <a:t>Challenges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9486" y="1121782"/>
            <a:ext cx="1451213" cy="35071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803508" y="1087303"/>
            <a:ext cx="1936114" cy="1076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8905" marR="5080" indent="-116839" algn="r">
              <a:lnSpc>
                <a:spcPct val="101400"/>
              </a:lnSpc>
              <a:spcBef>
                <a:spcPts val="95"/>
              </a:spcBef>
            </a:pPr>
            <a:r>
              <a:rPr sz="850" spc="25" dirty="0">
                <a:solidFill>
                  <a:srgbClr val="FFFFFF"/>
                </a:solidFill>
                <a:latin typeface="Trebuchet MS"/>
                <a:cs typeface="Trebuchet MS"/>
              </a:rPr>
              <a:t>Navigating</a:t>
            </a:r>
            <a:r>
              <a:rPr sz="85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30" dirty="0">
                <a:latin typeface="Trebuchet MS"/>
                <a:cs typeface="Trebuchet MS"/>
              </a:rPr>
              <a:t>language</a:t>
            </a:r>
            <a:r>
              <a:rPr sz="850" spc="-30" dirty="0">
                <a:latin typeface="Trebuchet MS"/>
                <a:cs typeface="Trebuchet MS"/>
              </a:rPr>
              <a:t> </a:t>
            </a:r>
            <a:r>
              <a:rPr sz="850" spc="10" dirty="0">
                <a:latin typeface="Trebuchet MS"/>
                <a:cs typeface="Trebuchet MS"/>
              </a:rPr>
              <a:t>barriers</a:t>
            </a:r>
            <a:r>
              <a:rPr sz="850" spc="10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85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latin typeface="Trebuchet MS"/>
                <a:cs typeface="Trebuchet MS"/>
              </a:rPr>
              <a:t>cultural </a:t>
            </a:r>
            <a:r>
              <a:rPr sz="850" spc="-245" dirty="0">
                <a:latin typeface="Trebuchet MS"/>
                <a:cs typeface="Trebuchet MS"/>
              </a:rPr>
              <a:t> </a:t>
            </a:r>
            <a:r>
              <a:rPr sz="850" spc="25" dirty="0">
                <a:latin typeface="Trebuchet MS"/>
                <a:cs typeface="Trebuchet MS"/>
              </a:rPr>
              <a:t>nuances</a:t>
            </a:r>
            <a:r>
              <a:rPr sz="850" spc="25" dirty="0">
                <a:solidFill>
                  <a:srgbClr val="FFFFFF"/>
                </a:solidFill>
                <a:latin typeface="Trebuchet MS"/>
                <a:cs typeface="Trebuchet MS"/>
              </a:rPr>
              <a:t>, </a:t>
            </a:r>
            <a:r>
              <a:rPr sz="850" spc="4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850" spc="15" dirty="0">
                <a:latin typeface="Trebuchet MS"/>
                <a:cs typeface="Trebuchet MS"/>
              </a:rPr>
              <a:t>technological </a:t>
            </a:r>
            <a:r>
              <a:rPr sz="850" spc="20" dirty="0">
                <a:latin typeface="Trebuchet MS"/>
                <a:cs typeface="Trebuchet MS"/>
              </a:rPr>
              <a:t> </a:t>
            </a:r>
            <a:r>
              <a:rPr sz="850" spc="30" dirty="0">
                <a:latin typeface="Trebuchet MS"/>
                <a:cs typeface="Trebuchet MS"/>
              </a:rPr>
              <a:t>advancements </a:t>
            </a:r>
            <a:r>
              <a:rPr sz="850" spc="55" dirty="0">
                <a:solidFill>
                  <a:srgbClr val="FFFFFF"/>
                </a:solidFill>
                <a:latin typeface="Trebuchet MS"/>
                <a:cs typeface="Trebuchet MS"/>
              </a:rPr>
              <a:t>poses </a:t>
            </a:r>
            <a:r>
              <a:rPr sz="850" spc="40" dirty="0">
                <a:solidFill>
                  <a:srgbClr val="FFFFFF"/>
                </a:solidFill>
                <a:latin typeface="Trebuchet MS"/>
                <a:cs typeface="Trebuchet MS"/>
              </a:rPr>
              <a:t>unique </a:t>
            </a:r>
            <a:r>
              <a:rPr sz="85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30" dirty="0">
                <a:solidFill>
                  <a:srgbClr val="FFFFFF"/>
                </a:solidFill>
                <a:latin typeface="Trebuchet MS"/>
                <a:cs typeface="Trebuchet MS"/>
              </a:rPr>
              <a:t>communication </a:t>
            </a:r>
            <a:r>
              <a:rPr sz="850" spc="15" dirty="0">
                <a:solidFill>
                  <a:srgbClr val="FFFFFF"/>
                </a:solidFill>
                <a:latin typeface="Trebuchet MS"/>
                <a:cs typeface="Trebuchet MS"/>
              </a:rPr>
              <a:t>challenges </a:t>
            </a:r>
            <a:r>
              <a:rPr sz="850" spc="20" dirty="0">
                <a:solidFill>
                  <a:srgbClr val="FFFFFF"/>
                </a:solidFill>
                <a:latin typeface="Trebuchet MS"/>
                <a:cs typeface="Trebuchet MS"/>
              </a:rPr>
              <a:t>in </a:t>
            </a:r>
            <a:r>
              <a:rPr sz="850" spc="15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85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35" dirty="0">
                <a:solidFill>
                  <a:srgbClr val="FFFFFF"/>
                </a:solidFill>
                <a:latin typeface="Trebuchet MS"/>
                <a:cs typeface="Trebuchet MS"/>
              </a:rPr>
              <a:t>Saudi </a:t>
            </a:r>
            <a:r>
              <a:rPr sz="850" spc="30" dirty="0">
                <a:solidFill>
                  <a:srgbClr val="FFFFFF"/>
                </a:solidFill>
                <a:latin typeface="Trebuchet MS"/>
                <a:cs typeface="Trebuchet MS"/>
              </a:rPr>
              <a:t>Arabian </a:t>
            </a:r>
            <a:r>
              <a:rPr sz="850" spc="45" dirty="0">
                <a:solidFill>
                  <a:srgbClr val="FFFFFF"/>
                </a:solidFill>
                <a:latin typeface="Trebuchet MS"/>
                <a:cs typeface="Trebuchet MS"/>
              </a:rPr>
              <a:t>business </a:t>
            </a:r>
            <a:r>
              <a:rPr sz="850" spc="-5" dirty="0">
                <a:solidFill>
                  <a:srgbClr val="FFFFFF"/>
                </a:solidFill>
                <a:latin typeface="Trebuchet MS"/>
                <a:cs typeface="Trebuchet MS"/>
              </a:rPr>
              <a:t>context. </a:t>
            </a:r>
            <a:r>
              <a:rPr sz="8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40" dirty="0">
                <a:solidFill>
                  <a:srgbClr val="FFFFFF"/>
                </a:solidFill>
                <a:latin typeface="Trebuchet MS"/>
                <a:cs typeface="Trebuchet MS"/>
              </a:rPr>
              <a:t>Addressing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5" dirty="0">
                <a:solidFill>
                  <a:srgbClr val="FFFFFF"/>
                </a:solidFill>
                <a:latin typeface="Trebuchet MS"/>
                <a:cs typeface="Trebuchet MS"/>
              </a:rPr>
              <a:t>these</a:t>
            </a:r>
            <a:r>
              <a:rPr sz="8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15" dirty="0">
                <a:solidFill>
                  <a:srgbClr val="FFFFFF"/>
                </a:solidFill>
                <a:latin typeface="Trebuchet MS"/>
                <a:cs typeface="Trebuchet MS"/>
              </a:rPr>
              <a:t>challenges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Trebuchet MS"/>
                <a:cs typeface="Trebuchet MS"/>
              </a:rPr>
              <a:t>vital </a:t>
            </a:r>
            <a:r>
              <a:rPr sz="85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-5" dirty="0">
                <a:solidFill>
                  <a:srgbClr val="FFFFFF"/>
                </a:solidFill>
                <a:latin typeface="Trebuchet MS"/>
                <a:cs typeface="Trebuchet MS"/>
              </a:rPr>
              <a:t>eﬀective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5" dirty="0">
                <a:solidFill>
                  <a:srgbClr val="FFFFFF"/>
                </a:solidFill>
                <a:latin typeface="Trebuchet MS"/>
                <a:cs typeface="Trebuchet MS"/>
              </a:rPr>
              <a:t>communication</a:t>
            </a:r>
            <a:endParaRPr sz="850">
              <a:latin typeface="Trebuchet MS"/>
              <a:cs typeface="Trebuchet MS"/>
            </a:endParaRPr>
          </a:p>
          <a:p>
            <a:pPr marR="5715" algn="r">
              <a:lnSpc>
                <a:spcPct val="100000"/>
              </a:lnSpc>
              <a:spcBef>
                <a:spcPts val="15"/>
              </a:spcBef>
            </a:pPr>
            <a:r>
              <a:rPr sz="850" spc="5" dirty="0">
                <a:solidFill>
                  <a:srgbClr val="FFFFFF"/>
                </a:solidFill>
                <a:latin typeface="Trebuchet MS"/>
                <a:cs typeface="Trebuchet MS"/>
              </a:rPr>
              <a:t>strategies.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47032" y="1011605"/>
            <a:ext cx="1294130" cy="30480"/>
          </a:xfrm>
          <a:custGeom>
            <a:avLst/>
            <a:gdLst/>
            <a:ahLst/>
            <a:cxnLst/>
            <a:rect l="l" t="t" r="r" b="b"/>
            <a:pathLst>
              <a:path w="1294129" h="30480">
                <a:moveTo>
                  <a:pt x="1293863" y="0"/>
                </a:moveTo>
                <a:lnTo>
                  <a:pt x="0" y="0"/>
                </a:lnTo>
                <a:lnTo>
                  <a:pt x="0" y="30441"/>
                </a:lnTo>
                <a:lnTo>
                  <a:pt x="1293863" y="30441"/>
                </a:lnTo>
                <a:lnTo>
                  <a:pt x="1293863" y="0"/>
                </a:lnTo>
                <a:close/>
              </a:path>
            </a:pathLst>
          </a:custGeom>
          <a:solidFill>
            <a:srgbClr val="6FB0D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7044" y="0"/>
            <a:ext cx="5507990" cy="3288029"/>
            <a:chOff x="337044" y="0"/>
            <a:chExt cx="5507990" cy="328802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044" y="1867"/>
              <a:ext cx="3680580" cy="328607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49742" y="404704"/>
              <a:ext cx="2061210" cy="2061210"/>
            </a:xfrm>
            <a:custGeom>
              <a:avLst/>
              <a:gdLst/>
              <a:ahLst/>
              <a:cxnLst/>
              <a:rect l="l" t="t" r="r" b="b"/>
              <a:pathLst>
                <a:path w="2061210" h="2061210">
                  <a:moveTo>
                    <a:pt x="1030528" y="0"/>
                  </a:moveTo>
                  <a:lnTo>
                    <a:pt x="0" y="1030129"/>
                  </a:lnTo>
                  <a:lnTo>
                    <a:pt x="1030528" y="2061057"/>
                  </a:lnTo>
                  <a:lnTo>
                    <a:pt x="2061057" y="1030129"/>
                  </a:lnTo>
                  <a:lnTo>
                    <a:pt x="1030528" y="0"/>
                  </a:lnTo>
                  <a:close/>
                </a:path>
              </a:pathLst>
            </a:custGeom>
            <a:solidFill>
              <a:srgbClr val="484C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9761" y="0"/>
              <a:ext cx="2061210" cy="1175385"/>
            </a:xfrm>
            <a:custGeom>
              <a:avLst/>
              <a:gdLst/>
              <a:ahLst/>
              <a:cxnLst/>
              <a:rect l="l" t="t" r="r" b="b"/>
              <a:pathLst>
                <a:path w="2061210" h="1175385">
                  <a:moveTo>
                    <a:pt x="1916261" y="0"/>
                  </a:moveTo>
                  <a:lnTo>
                    <a:pt x="144782" y="0"/>
                  </a:lnTo>
                  <a:lnTo>
                    <a:pt x="0" y="144779"/>
                  </a:lnTo>
                  <a:lnTo>
                    <a:pt x="1030516" y="1175323"/>
                  </a:lnTo>
                  <a:lnTo>
                    <a:pt x="2061045" y="144779"/>
                  </a:lnTo>
                  <a:lnTo>
                    <a:pt x="1916261" y="0"/>
                  </a:lnTo>
                  <a:close/>
                </a:path>
              </a:pathLst>
            </a:custGeom>
            <a:solidFill>
              <a:srgbClr val="6FB0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82954" y="937"/>
              <a:ext cx="2262505" cy="3285490"/>
            </a:xfrm>
            <a:custGeom>
              <a:avLst/>
              <a:gdLst/>
              <a:ahLst/>
              <a:cxnLst/>
              <a:rect l="l" t="t" r="r" b="b"/>
              <a:pathLst>
                <a:path w="2262504" h="3285490">
                  <a:moveTo>
                    <a:pt x="2261984" y="0"/>
                  </a:moveTo>
                  <a:lnTo>
                    <a:pt x="0" y="0"/>
                  </a:lnTo>
                  <a:lnTo>
                    <a:pt x="0" y="3284890"/>
                  </a:lnTo>
                  <a:lnTo>
                    <a:pt x="2261984" y="3284890"/>
                  </a:lnTo>
                  <a:lnTo>
                    <a:pt x="2261984" y="0"/>
                  </a:lnTo>
                  <a:close/>
                </a:path>
              </a:pathLst>
            </a:custGeom>
            <a:solidFill>
              <a:srgbClr val="282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4129404" marR="5080" algn="r">
              <a:lnSpc>
                <a:spcPts val="1545"/>
              </a:lnSpc>
              <a:spcBef>
                <a:spcPts val="115"/>
              </a:spcBef>
            </a:pPr>
            <a:r>
              <a:rPr spc="65" dirty="0"/>
              <a:t>Opportunities</a:t>
            </a:r>
            <a:r>
              <a:rPr spc="-15" dirty="0"/>
              <a:t> </a:t>
            </a:r>
            <a:r>
              <a:rPr spc="55" dirty="0"/>
              <a:t>for</a:t>
            </a:r>
          </a:p>
          <a:p>
            <a:pPr marL="4129404" marR="5080" algn="r">
              <a:lnSpc>
                <a:spcPts val="1545"/>
              </a:lnSpc>
            </a:pPr>
            <a:r>
              <a:rPr spc="70" dirty="0"/>
              <a:t>Growth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5937" y="1252691"/>
            <a:ext cx="1379921" cy="37901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969591" y="1087306"/>
            <a:ext cx="1769110" cy="945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9535" algn="r">
              <a:lnSpc>
                <a:spcPct val="101800"/>
              </a:lnSpc>
              <a:spcBef>
                <a:spcPts val="95"/>
              </a:spcBef>
            </a:pPr>
            <a:r>
              <a:rPr sz="850" spc="30" dirty="0">
                <a:solidFill>
                  <a:srgbClr val="FFFFFF"/>
                </a:solidFill>
                <a:latin typeface="Trebuchet MS"/>
                <a:cs typeface="Trebuchet MS"/>
              </a:rPr>
              <a:t>Despite</a:t>
            </a:r>
            <a:r>
              <a:rPr sz="85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5" dirty="0">
                <a:solidFill>
                  <a:srgbClr val="FFFFFF"/>
                </a:solidFill>
                <a:latin typeface="Trebuchet MS"/>
                <a:cs typeface="Trebuchet MS"/>
              </a:rPr>
              <a:t>challenges,</a:t>
            </a:r>
            <a:r>
              <a:rPr sz="8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35" dirty="0">
                <a:solidFill>
                  <a:srgbClr val="FFFFFF"/>
                </a:solidFill>
                <a:latin typeface="Trebuchet MS"/>
                <a:cs typeface="Trebuchet MS"/>
              </a:rPr>
              <a:t>Saudi</a:t>
            </a:r>
            <a:r>
              <a:rPr sz="8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5" dirty="0">
                <a:solidFill>
                  <a:srgbClr val="FFFFFF"/>
                </a:solidFill>
                <a:latin typeface="Trebuchet MS"/>
                <a:cs typeface="Trebuchet MS"/>
              </a:rPr>
              <a:t>Arabia </a:t>
            </a:r>
            <a:r>
              <a:rPr sz="850" spc="-2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35" dirty="0">
                <a:solidFill>
                  <a:srgbClr val="FFFFFF"/>
                </a:solidFill>
                <a:latin typeface="Trebuchet MS"/>
                <a:cs typeface="Trebuchet MS"/>
              </a:rPr>
              <a:t>oﬀers</a:t>
            </a:r>
            <a:r>
              <a:rPr sz="85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5" dirty="0">
                <a:latin typeface="Trebuchet MS"/>
                <a:cs typeface="Trebuchet MS"/>
              </a:rPr>
              <a:t>expansive</a:t>
            </a:r>
            <a:r>
              <a:rPr sz="850" spc="-45" dirty="0">
                <a:latin typeface="Trebuchet MS"/>
                <a:cs typeface="Trebuchet MS"/>
              </a:rPr>
              <a:t> </a:t>
            </a:r>
            <a:r>
              <a:rPr sz="850" spc="20" dirty="0">
                <a:latin typeface="Trebuchet MS"/>
                <a:cs typeface="Trebuchet MS"/>
              </a:rPr>
              <a:t>market</a:t>
            </a:r>
            <a:r>
              <a:rPr sz="850" spc="-45" dirty="0">
                <a:latin typeface="Trebuchet MS"/>
                <a:cs typeface="Trebuchet MS"/>
              </a:rPr>
              <a:t> </a:t>
            </a:r>
            <a:r>
              <a:rPr sz="850" dirty="0">
                <a:latin typeface="Trebuchet MS"/>
                <a:cs typeface="Trebuchet MS"/>
              </a:rPr>
              <a:t>potential</a:t>
            </a:r>
            <a:r>
              <a:rPr sz="850" dirty="0">
                <a:solidFill>
                  <a:srgbClr val="FFFFFF"/>
                </a:solidFill>
                <a:latin typeface="Trebuchet MS"/>
                <a:cs typeface="Trebuchet MS"/>
              </a:rPr>
              <a:t>, </a:t>
            </a:r>
            <a:r>
              <a:rPr sz="85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5" dirty="0">
                <a:latin typeface="Trebuchet MS"/>
                <a:cs typeface="Trebuchet MS"/>
              </a:rPr>
              <a:t>strategic </a:t>
            </a:r>
            <a:r>
              <a:rPr sz="850" spc="20" dirty="0">
                <a:latin typeface="Trebuchet MS"/>
                <a:cs typeface="Trebuchet MS"/>
              </a:rPr>
              <a:t>partnerships</a:t>
            </a:r>
            <a:r>
              <a:rPr sz="850" spc="20" dirty="0">
                <a:solidFill>
                  <a:srgbClr val="FFFFFF"/>
                </a:solidFill>
                <a:latin typeface="Trebuchet MS"/>
                <a:cs typeface="Trebuchet MS"/>
              </a:rPr>
              <a:t>, </a:t>
            </a:r>
            <a:r>
              <a:rPr sz="850" spc="4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85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5" dirty="0">
                <a:latin typeface="Trebuchet MS"/>
                <a:cs typeface="Trebuchet MS"/>
              </a:rPr>
              <a:t>innovation</a:t>
            </a:r>
            <a:r>
              <a:rPr sz="850" spc="-40" dirty="0">
                <a:latin typeface="Trebuchet MS"/>
                <a:cs typeface="Trebuchet MS"/>
              </a:rPr>
              <a:t> </a:t>
            </a:r>
            <a:r>
              <a:rPr sz="850" spc="20" dirty="0">
                <a:latin typeface="Trebuchet MS"/>
                <a:cs typeface="Trebuchet MS"/>
              </a:rPr>
              <a:t>opportunities</a:t>
            </a:r>
            <a:r>
              <a:rPr sz="850" spc="20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sz="850">
              <a:latin typeface="Trebuchet MS"/>
              <a:cs typeface="Trebuchet MS"/>
            </a:endParaRPr>
          </a:p>
          <a:p>
            <a:pPr marL="184785" marR="5080" indent="260985" algn="r">
              <a:lnSpc>
                <a:spcPct val="101099"/>
              </a:lnSpc>
            </a:pPr>
            <a:r>
              <a:rPr sz="850" spc="20" dirty="0">
                <a:solidFill>
                  <a:srgbClr val="FFFFFF"/>
                </a:solidFill>
                <a:latin typeface="Trebuchet MS"/>
                <a:cs typeface="Trebuchet MS"/>
              </a:rPr>
              <a:t>Recognizing</a:t>
            </a:r>
            <a:r>
              <a:rPr sz="85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5" dirty="0">
                <a:solidFill>
                  <a:srgbClr val="FFFFFF"/>
                </a:solidFill>
                <a:latin typeface="Trebuchet MS"/>
                <a:cs typeface="Trebuchet MS"/>
              </a:rPr>
              <a:t>these</a:t>
            </a:r>
            <a:r>
              <a:rPr sz="8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30" dirty="0">
                <a:solidFill>
                  <a:srgbClr val="FFFFFF"/>
                </a:solidFill>
                <a:latin typeface="Trebuchet MS"/>
                <a:cs typeface="Trebuchet MS"/>
              </a:rPr>
              <a:t>growth </a:t>
            </a:r>
            <a:r>
              <a:rPr sz="85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5" dirty="0">
                <a:solidFill>
                  <a:srgbClr val="FFFFFF"/>
                </a:solidFill>
                <a:latin typeface="Trebuchet MS"/>
                <a:cs typeface="Trebuchet MS"/>
              </a:rPr>
              <a:t>opportunities </a:t>
            </a:r>
            <a:r>
              <a:rPr sz="850" spc="20" dirty="0">
                <a:solidFill>
                  <a:srgbClr val="FFFFFF"/>
                </a:solidFill>
                <a:latin typeface="Trebuchet MS"/>
                <a:cs typeface="Trebuchet MS"/>
              </a:rPr>
              <a:t>is </a:t>
            </a:r>
            <a:r>
              <a:rPr sz="850" spc="15" dirty="0">
                <a:solidFill>
                  <a:srgbClr val="FFFFFF"/>
                </a:solidFill>
                <a:latin typeface="Trebuchet MS"/>
                <a:cs typeface="Trebuchet MS"/>
              </a:rPr>
              <a:t>essential </a:t>
            </a:r>
            <a:r>
              <a:rPr sz="850" spc="20" dirty="0">
                <a:solidFill>
                  <a:srgbClr val="FFFFFF"/>
                </a:solidFill>
                <a:latin typeface="Trebuchet MS"/>
                <a:cs typeface="Trebuchet MS"/>
              </a:rPr>
              <a:t>for </a:t>
            </a:r>
            <a:r>
              <a:rPr sz="85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45" dirty="0">
                <a:solidFill>
                  <a:srgbClr val="FFFFFF"/>
                </a:solidFill>
                <a:latin typeface="Trebuchet MS"/>
                <a:cs typeface="Trebuchet MS"/>
              </a:rPr>
              <a:t>business</a:t>
            </a:r>
            <a:r>
              <a:rPr sz="85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30" dirty="0">
                <a:solidFill>
                  <a:srgbClr val="FFFFFF"/>
                </a:solidFill>
                <a:latin typeface="Trebuchet MS"/>
                <a:cs typeface="Trebuchet MS"/>
              </a:rPr>
              <a:t>success</a:t>
            </a:r>
            <a:r>
              <a:rPr sz="8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85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1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8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10" dirty="0">
                <a:solidFill>
                  <a:srgbClr val="FFFFFF"/>
                </a:solidFill>
                <a:latin typeface="Trebuchet MS"/>
                <a:cs typeface="Trebuchet MS"/>
              </a:rPr>
              <a:t>region.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47032" y="1011605"/>
            <a:ext cx="1294130" cy="30480"/>
          </a:xfrm>
          <a:custGeom>
            <a:avLst/>
            <a:gdLst/>
            <a:ahLst/>
            <a:cxnLst/>
            <a:rect l="l" t="t" r="r" b="b"/>
            <a:pathLst>
              <a:path w="1294129" h="30480">
                <a:moveTo>
                  <a:pt x="1293863" y="0"/>
                </a:moveTo>
                <a:lnTo>
                  <a:pt x="0" y="0"/>
                </a:lnTo>
                <a:lnTo>
                  <a:pt x="0" y="30441"/>
                </a:lnTo>
                <a:lnTo>
                  <a:pt x="1293863" y="30441"/>
                </a:lnTo>
                <a:lnTo>
                  <a:pt x="1293863" y="0"/>
                </a:lnTo>
                <a:close/>
              </a:path>
            </a:pathLst>
          </a:custGeom>
          <a:solidFill>
            <a:srgbClr val="6FB0D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12" y="8"/>
            <a:ext cx="5845810" cy="3288029"/>
          </a:xfrm>
          <a:custGeom>
            <a:avLst/>
            <a:gdLst/>
            <a:ahLst/>
            <a:cxnLst/>
            <a:rect l="l" t="t" r="r" b="b"/>
            <a:pathLst>
              <a:path w="5845810" h="3288029">
                <a:moveTo>
                  <a:pt x="0" y="3287938"/>
                </a:moveTo>
                <a:lnTo>
                  <a:pt x="5845240" y="3287938"/>
                </a:lnTo>
                <a:lnTo>
                  <a:pt x="5845240" y="0"/>
                </a:lnTo>
                <a:lnTo>
                  <a:pt x="0" y="0"/>
                </a:lnTo>
                <a:lnTo>
                  <a:pt x="0" y="3287938"/>
                </a:lnTo>
                <a:close/>
              </a:path>
            </a:pathLst>
          </a:custGeom>
          <a:solidFill>
            <a:srgbClr val="2829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411077" y="0"/>
            <a:ext cx="2435860" cy="1732914"/>
            <a:chOff x="3411077" y="0"/>
            <a:chExt cx="2435860" cy="1732914"/>
          </a:xfrm>
        </p:grpSpPr>
        <p:sp>
          <p:nvSpPr>
            <p:cNvPr id="4" name="object 4"/>
            <p:cNvSpPr/>
            <p:nvPr/>
          </p:nvSpPr>
          <p:spPr>
            <a:xfrm>
              <a:off x="3582949" y="12"/>
              <a:ext cx="2264410" cy="1628139"/>
            </a:xfrm>
            <a:custGeom>
              <a:avLst/>
              <a:gdLst/>
              <a:ahLst/>
              <a:cxnLst/>
              <a:rect l="l" t="t" r="r" b="b"/>
              <a:pathLst>
                <a:path w="2264410" h="1628139">
                  <a:moveTo>
                    <a:pt x="939330" y="1012659"/>
                  </a:moveTo>
                  <a:lnTo>
                    <a:pt x="555586" y="628129"/>
                  </a:lnTo>
                  <a:lnTo>
                    <a:pt x="0" y="1183741"/>
                  </a:lnTo>
                  <a:lnTo>
                    <a:pt x="383717" y="1568259"/>
                  </a:lnTo>
                  <a:lnTo>
                    <a:pt x="939330" y="1012659"/>
                  </a:lnTo>
                  <a:close/>
                </a:path>
                <a:path w="2264410" h="1628139">
                  <a:moveTo>
                    <a:pt x="2263787" y="178587"/>
                  </a:moveTo>
                  <a:lnTo>
                    <a:pt x="2085200" y="0"/>
                  </a:lnTo>
                  <a:lnTo>
                    <a:pt x="1219022" y="0"/>
                  </a:lnTo>
                  <a:lnTo>
                    <a:pt x="621576" y="597433"/>
                  </a:lnTo>
                  <a:lnTo>
                    <a:pt x="1652104" y="1627962"/>
                  </a:lnTo>
                  <a:lnTo>
                    <a:pt x="2263787" y="1016292"/>
                  </a:lnTo>
                  <a:lnTo>
                    <a:pt x="2263787" y="178587"/>
                  </a:lnTo>
                  <a:close/>
                </a:path>
              </a:pathLst>
            </a:custGeom>
            <a:solidFill>
              <a:srgbClr val="6FB0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11077" y="457056"/>
              <a:ext cx="758190" cy="758190"/>
            </a:xfrm>
            <a:custGeom>
              <a:avLst/>
              <a:gdLst/>
              <a:ahLst/>
              <a:cxnLst/>
              <a:rect l="l" t="t" r="r" b="b"/>
              <a:pathLst>
                <a:path w="758189" h="758190">
                  <a:moveTo>
                    <a:pt x="555589" y="0"/>
                  </a:moveTo>
                  <a:lnTo>
                    <a:pt x="0" y="555604"/>
                  </a:lnTo>
                  <a:lnTo>
                    <a:pt x="202265" y="757857"/>
                  </a:lnTo>
                  <a:lnTo>
                    <a:pt x="757854" y="201454"/>
                  </a:lnTo>
                  <a:lnTo>
                    <a:pt x="555589" y="0"/>
                  </a:lnTo>
                  <a:close/>
                </a:path>
              </a:pathLst>
            </a:custGeom>
            <a:solidFill>
              <a:srgbClr val="484C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86451" y="1110581"/>
              <a:ext cx="560705" cy="622300"/>
            </a:xfrm>
            <a:custGeom>
              <a:avLst/>
              <a:gdLst/>
              <a:ahLst/>
              <a:cxnLst/>
              <a:rect l="l" t="t" r="r" b="b"/>
              <a:pathLst>
                <a:path w="560704" h="622300">
                  <a:moveTo>
                    <a:pt x="560295" y="0"/>
                  </a:moveTo>
                  <a:lnTo>
                    <a:pt x="0" y="559793"/>
                  </a:lnTo>
                  <a:lnTo>
                    <a:pt x="62240" y="622039"/>
                  </a:lnTo>
                  <a:lnTo>
                    <a:pt x="560295" y="123539"/>
                  </a:lnTo>
                  <a:lnTo>
                    <a:pt x="560295" y="0"/>
                  </a:lnTo>
                  <a:close/>
                </a:path>
              </a:pathLst>
            </a:custGeom>
            <a:solidFill>
              <a:srgbClr val="6FB0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512" y="1298544"/>
            <a:ext cx="1508760" cy="1989455"/>
            <a:chOff x="1512" y="1298544"/>
            <a:chExt cx="1508760" cy="1989455"/>
          </a:xfrm>
        </p:grpSpPr>
        <p:sp>
          <p:nvSpPr>
            <p:cNvPr id="8" name="object 8"/>
            <p:cNvSpPr/>
            <p:nvPr/>
          </p:nvSpPr>
          <p:spPr>
            <a:xfrm>
              <a:off x="1512" y="2174022"/>
              <a:ext cx="1475740" cy="1114425"/>
            </a:xfrm>
            <a:custGeom>
              <a:avLst/>
              <a:gdLst/>
              <a:ahLst/>
              <a:cxnLst/>
              <a:rect l="l" t="t" r="r" b="b"/>
              <a:pathLst>
                <a:path w="1475740" h="1114425">
                  <a:moveTo>
                    <a:pt x="445032" y="0"/>
                  </a:moveTo>
                  <a:lnTo>
                    <a:pt x="0" y="444856"/>
                  </a:lnTo>
                  <a:lnTo>
                    <a:pt x="0" y="1113924"/>
                  </a:lnTo>
                  <a:lnTo>
                    <a:pt x="1391791" y="1113924"/>
                  </a:lnTo>
                  <a:lnTo>
                    <a:pt x="1475551" y="1030125"/>
                  </a:lnTo>
                  <a:lnTo>
                    <a:pt x="445032" y="0"/>
                  </a:lnTo>
                  <a:close/>
                </a:path>
              </a:pathLst>
            </a:custGeom>
            <a:solidFill>
              <a:srgbClr val="484C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12" y="1298544"/>
              <a:ext cx="615950" cy="1231265"/>
            </a:xfrm>
            <a:custGeom>
              <a:avLst/>
              <a:gdLst/>
              <a:ahLst/>
              <a:cxnLst/>
              <a:rect l="l" t="t" r="r" b="b"/>
              <a:pathLst>
                <a:path w="615950" h="1231264">
                  <a:moveTo>
                    <a:pt x="0" y="0"/>
                  </a:moveTo>
                  <a:lnTo>
                    <a:pt x="0" y="1231134"/>
                  </a:lnTo>
                  <a:lnTo>
                    <a:pt x="615564" y="6155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B0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1158" y="1672602"/>
              <a:ext cx="248945" cy="888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1158" y="1672602"/>
              <a:ext cx="248945" cy="8889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88700" y="706750"/>
            <a:ext cx="1896745" cy="4210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R="5080" algn="r">
              <a:lnSpc>
                <a:spcPts val="1545"/>
              </a:lnSpc>
              <a:spcBef>
                <a:spcPts val="115"/>
              </a:spcBef>
            </a:pPr>
            <a:r>
              <a:rPr spc="45" dirty="0"/>
              <a:t>Strategies</a:t>
            </a:r>
            <a:r>
              <a:rPr spc="25" dirty="0"/>
              <a:t> </a:t>
            </a:r>
            <a:r>
              <a:rPr spc="55" dirty="0"/>
              <a:t>for</a:t>
            </a:r>
            <a:r>
              <a:rPr dirty="0"/>
              <a:t> </a:t>
            </a:r>
            <a:r>
              <a:rPr spc="50" dirty="0"/>
              <a:t>Effective</a:t>
            </a:r>
          </a:p>
          <a:p>
            <a:pPr marR="5080" algn="r">
              <a:lnSpc>
                <a:spcPts val="1545"/>
              </a:lnSpc>
            </a:pPr>
            <a:r>
              <a:rPr spc="70" dirty="0"/>
              <a:t>Engagement</a:t>
            </a: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3267" y="1276837"/>
            <a:ext cx="1125580" cy="375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246791" y="1242358"/>
            <a:ext cx="1839595" cy="1076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75285" algn="r">
              <a:lnSpc>
                <a:spcPct val="101499"/>
              </a:lnSpc>
              <a:spcBef>
                <a:spcPts val="95"/>
              </a:spcBef>
            </a:pPr>
            <a:r>
              <a:rPr sz="850" spc="30" dirty="0">
                <a:solidFill>
                  <a:srgbClr val="FFFFFF"/>
                </a:solidFill>
                <a:latin typeface="Trebuchet MS"/>
                <a:cs typeface="Trebuchet MS"/>
              </a:rPr>
              <a:t>Adopting</a:t>
            </a:r>
            <a:r>
              <a:rPr sz="85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5" dirty="0">
                <a:latin typeface="Trebuchet MS"/>
                <a:cs typeface="Trebuchet MS"/>
              </a:rPr>
              <a:t>cultural</a:t>
            </a:r>
            <a:r>
              <a:rPr sz="850" spc="-55" dirty="0">
                <a:latin typeface="Trebuchet MS"/>
                <a:cs typeface="Trebuchet MS"/>
              </a:rPr>
              <a:t> </a:t>
            </a:r>
            <a:r>
              <a:rPr sz="850" dirty="0">
                <a:latin typeface="Trebuchet MS"/>
                <a:cs typeface="Trebuchet MS"/>
              </a:rPr>
              <a:t>sensitivity</a:t>
            </a:r>
            <a:r>
              <a:rPr sz="850" dirty="0">
                <a:solidFill>
                  <a:srgbClr val="FFFFFF"/>
                </a:solidFill>
                <a:latin typeface="Trebuchet MS"/>
                <a:cs typeface="Trebuchet MS"/>
              </a:rPr>
              <a:t>, </a:t>
            </a:r>
            <a:r>
              <a:rPr sz="85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0" dirty="0">
                <a:solidFill>
                  <a:srgbClr val="FFFFFF"/>
                </a:solidFill>
                <a:latin typeface="Trebuchet MS"/>
                <a:cs typeface="Trebuchet MS"/>
              </a:rPr>
              <a:t>leveraging </a:t>
            </a:r>
            <a:r>
              <a:rPr sz="850" dirty="0">
                <a:latin typeface="Trebuchet MS"/>
                <a:cs typeface="Trebuchet MS"/>
              </a:rPr>
              <a:t>local </a:t>
            </a:r>
            <a:r>
              <a:rPr sz="850" spc="5" dirty="0">
                <a:latin typeface="Trebuchet MS"/>
                <a:cs typeface="Trebuchet MS"/>
              </a:rPr>
              <a:t>expertise</a:t>
            </a:r>
            <a:r>
              <a:rPr sz="850" spc="5" dirty="0">
                <a:solidFill>
                  <a:srgbClr val="FFFFFF"/>
                </a:solidFill>
                <a:latin typeface="Trebuchet MS"/>
                <a:cs typeface="Trebuchet MS"/>
              </a:rPr>
              <a:t>, </a:t>
            </a:r>
            <a:r>
              <a:rPr sz="850" spc="4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85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5" dirty="0">
                <a:solidFill>
                  <a:srgbClr val="FFFFFF"/>
                </a:solidFill>
                <a:latin typeface="Trebuchet MS"/>
                <a:cs typeface="Trebuchet MS"/>
              </a:rPr>
              <a:t>embracing </a:t>
            </a:r>
            <a:r>
              <a:rPr sz="850" dirty="0">
                <a:latin typeface="Trebuchet MS"/>
                <a:cs typeface="Trebuchet MS"/>
              </a:rPr>
              <a:t>digital </a:t>
            </a:r>
            <a:r>
              <a:rPr sz="850" spc="25" dirty="0">
                <a:latin typeface="Trebuchet MS"/>
                <a:cs typeface="Trebuchet MS"/>
              </a:rPr>
              <a:t>communication </a:t>
            </a:r>
            <a:r>
              <a:rPr sz="850" spc="30" dirty="0">
                <a:latin typeface="Trebuchet MS"/>
                <a:cs typeface="Trebuchet MS"/>
              </a:rPr>
              <a:t> </a:t>
            </a:r>
            <a:r>
              <a:rPr sz="850" spc="25" dirty="0">
                <a:latin typeface="Trebuchet MS"/>
                <a:cs typeface="Trebuchet MS"/>
              </a:rPr>
              <a:t>tools</a:t>
            </a:r>
            <a:r>
              <a:rPr sz="850" spc="-40" dirty="0">
                <a:latin typeface="Trebuchet MS"/>
                <a:cs typeface="Trebuchet MS"/>
              </a:rPr>
              <a:t> </a:t>
            </a:r>
            <a:r>
              <a:rPr sz="850" spc="20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0" dirty="0">
                <a:solidFill>
                  <a:srgbClr val="FFFFFF"/>
                </a:solidFill>
                <a:latin typeface="Trebuchet MS"/>
                <a:cs typeface="Trebuchet MS"/>
              </a:rPr>
              <a:t>key</a:t>
            </a:r>
            <a:r>
              <a:rPr sz="8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10" dirty="0">
                <a:solidFill>
                  <a:srgbClr val="FFFFFF"/>
                </a:solidFill>
                <a:latin typeface="Trebuchet MS"/>
                <a:cs typeface="Trebuchet MS"/>
              </a:rPr>
              <a:t>strategies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FFFFFF"/>
                </a:solidFill>
                <a:latin typeface="Trebuchet MS"/>
                <a:cs typeface="Trebuchet MS"/>
              </a:rPr>
              <a:t>eﬀective </a:t>
            </a:r>
            <a:r>
              <a:rPr sz="85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45" dirty="0">
                <a:solidFill>
                  <a:srgbClr val="FFFFFF"/>
                </a:solidFill>
                <a:latin typeface="Trebuchet MS"/>
                <a:cs typeface="Trebuchet MS"/>
              </a:rPr>
              <a:t>business and </a:t>
            </a:r>
            <a:r>
              <a:rPr sz="850" spc="25" dirty="0">
                <a:solidFill>
                  <a:srgbClr val="FFFFFF"/>
                </a:solidFill>
                <a:latin typeface="Trebuchet MS"/>
                <a:cs typeface="Trebuchet MS"/>
              </a:rPr>
              <a:t>communication </a:t>
            </a:r>
            <a:r>
              <a:rPr sz="850" spc="30" dirty="0">
                <a:solidFill>
                  <a:srgbClr val="FFFFFF"/>
                </a:solidFill>
                <a:latin typeface="Trebuchet MS"/>
                <a:cs typeface="Trebuchet MS"/>
              </a:rPr>
              <a:t> engagement</a:t>
            </a:r>
            <a:r>
              <a:rPr sz="8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35" dirty="0">
                <a:solidFill>
                  <a:srgbClr val="FFFFFF"/>
                </a:solidFill>
                <a:latin typeface="Trebuchet MS"/>
                <a:cs typeface="Trebuchet MS"/>
              </a:rPr>
              <a:t>Saudi</a:t>
            </a:r>
            <a:r>
              <a:rPr sz="8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10" dirty="0">
                <a:solidFill>
                  <a:srgbClr val="FFFFFF"/>
                </a:solidFill>
                <a:latin typeface="Trebuchet MS"/>
                <a:cs typeface="Trebuchet MS"/>
              </a:rPr>
              <a:t>Arabia.</a:t>
            </a:r>
            <a:endParaRPr sz="850">
              <a:latin typeface="Trebuchet MS"/>
              <a:cs typeface="Trebuchet MS"/>
            </a:endParaRPr>
          </a:p>
          <a:p>
            <a:pPr marL="360680" marR="5080" indent="-294005" algn="r">
              <a:lnSpc>
                <a:spcPct val="101099"/>
              </a:lnSpc>
            </a:pPr>
            <a:r>
              <a:rPr sz="850" spc="30" dirty="0">
                <a:solidFill>
                  <a:srgbClr val="FFFFFF"/>
                </a:solidFill>
                <a:latin typeface="Trebuchet MS"/>
                <a:cs typeface="Trebuchet MS"/>
              </a:rPr>
              <a:t>Implementing</a:t>
            </a:r>
            <a:r>
              <a:rPr sz="8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5" dirty="0">
                <a:solidFill>
                  <a:srgbClr val="FFFFFF"/>
                </a:solidFill>
                <a:latin typeface="Trebuchet MS"/>
                <a:cs typeface="Trebuchet MS"/>
              </a:rPr>
              <a:t>these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10" dirty="0">
                <a:solidFill>
                  <a:srgbClr val="FFFFFF"/>
                </a:solidFill>
                <a:latin typeface="Trebuchet MS"/>
                <a:cs typeface="Trebuchet MS"/>
              </a:rPr>
              <a:t>strategies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0" dirty="0">
                <a:solidFill>
                  <a:srgbClr val="FFFFFF"/>
                </a:solidFill>
                <a:latin typeface="Trebuchet MS"/>
                <a:cs typeface="Trebuchet MS"/>
              </a:rPr>
              <a:t>can </a:t>
            </a:r>
            <a:r>
              <a:rPr sz="85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15" dirty="0">
                <a:solidFill>
                  <a:srgbClr val="FFFFFF"/>
                </a:solidFill>
                <a:latin typeface="Trebuchet MS"/>
                <a:cs typeface="Trebuchet MS"/>
              </a:rPr>
              <a:t>lead</a:t>
            </a:r>
            <a:r>
              <a:rPr sz="8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1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8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0" dirty="0">
                <a:solidFill>
                  <a:srgbClr val="FFFFFF"/>
                </a:solidFill>
                <a:latin typeface="Trebuchet MS"/>
                <a:cs typeface="Trebuchet MS"/>
              </a:rPr>
              <a:t>successful</a:t>
            </a:r>
            <a:r>
              <a:rPr sz="8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25" dirty="0">
                <a:solidFill>
                  <a:srgbClr val="FFFFFF"/>
                </a:solidFill>
                <a:latin typeface="Trebuchet MS"/>
                <a:cs typeface="Trebuchet MS"/>
              </a:rPr>
              <a:t>outcomes.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794598" y="1166647"/>
            <a:ext cx="1294130" cy="30480"/>
          </a:xfrm>
          <a:custGeom>
            <a:avLst/>
            <a:gdLst/>
            <a:ahLst/>
            <a:cxnLst/>
            <a:rect l="l" t="t" r="r" b="b"/>
            <a:pathLst>
              <a:path w="1294130" h="30480">
                <a:moveTo>
                  <a:pt x="1293863" y="0"/>
                </a:moveTo>
                <a:lnTo>
                  <a:pt x="0" y="0"/>
                </a:lnTo>
                <a:lnTo>
                  <a:pt x="0" y="30454"/>
                </a:lnTo>
                <a:lnTo>
                  <a:pt x="1293863" y="30454"/>
                </a:lnTo>
                <a:lnTo>
                  <a:pt x="1293863" y="0"/>
                </a:lnTo>
                <a:close/>
              </a:path>
            </a:pathLst>
          </a:custGeom>
          <a:solidFill>
            <a:srgbClr val="6FB0D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46988" y="1061668"/>
            <a:ext cx="2036673" cy="20366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36172" y="0"/>
            <a:ext cx="1111250" cy="617220"/>
            <a:chOff x="3636172" y="0"/>
            <a:chExt cx="1111250" cy="617220"/>
          </a:xfrm>
        </p:grpSpPr>
        <p:sp>
          <p:nvSpPr>
            <p:cNvPr id="3" name="object 3"/>
            <p:cNvSpPr/>
            <p:nvPr/>
          </p:nvSpPr>
          <p:spPr>
            <a:xfrm>
              <a:off x="3807256" y="0"/>
              <a:ext cx="940435" cy="617220"/>
            </a:xfrm>
            <a:custGeom>
              <a:avLst/>
              <a:gdLst/>
              <a:ahLst/>
              <a:cxnLst/>
              <a:rect l="l" t="t" r="r" b="b"/>
              <a:pathLst>
                <a:path w="940435" h="617220">
                  <a:moveTo>
                    <a:pt x="878825" y="0"/>
                  </a:moveTo>
                  <a:lnTo>
                    <a:pt x="233037" y="0"/>
                  </a:lnTo>
                  <a:lnTo>
                    <a:pt x="0" y="233049"/>
                  </a:lnTo>
                  <a:lnTo>
                    <a:pt x="384505" y="616768"/>
                  </a:lnTo>
                  <a:lnTo>
                    <a:pt x="940112" y="61185"/>
                  </a:lnTo>
                  <a:lnTo>
                    <a:pt x="878825" y="0"/>
                  </a:lnTo>
                  <a:close/>
                </a:path>
              </a:pathLst>
            </a:custGeom>
            <a:solidFill>
              <a:srgbClr val="484C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36172" y="0"/>
              <a:ext cx="465455" cy="263525"/>
            </a:xfrm>
            <a:custGeom>
              <a:avLst/>
              <a:gdLst/>
              <a:ahLst/>
              <a:cxnLst/>
              <a:rect l="l" t="t" r="r" b="b"/>
              <a:pathLst>
                <a:path w="465454" h="263525">
                  <a:moveTo>
                    <a:pt x="464890" y="0"/>
                  </a:moveTo>
                  <a:lnTo>
                    <a:pt x="61173" y="0"/>
                  </a:lnTo>
                  <a:lnTo>
                    <a:pt x="0" y="61173"/>
                  </a:lnTo>
                  <a:lnTo>
                    <a:pt x="201472" y="263426"/>
                  </a:lnTo>
                  <a:lnTo>
                    <a:pt x="464890" y="0"/>
                  </a:lnTo>
                  <a:close/>
                </a:path>
              </a:pathLst>
            </a:custGeom>
            <a:solidFill>
              <a:srgbClr val="6FB0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512" y="0"/>
            <a:ext cx="2156460" cy="2384425"/>
            <a:chOff x="1512" y="0"/>
            <a:chExt cx="2156460" cy="2384425"/>
          </a:xfrm>
        </p:grpSpPr>
        <p:sp>
          <p:nvSpPr>
            <p:cNvPr id="6" name="object 6"/>
            <p:cNvSpPr/>
            <p:nvPr/>
          </p:nvSpPr>
          <p:spPr>
            <a:xfrm>
              <a:off x="1706462" y="0"/>
              <a:ext cx="451484" cy="389890"/>
            </a:xfrm>
            <a:custGeom>
              <a:avLst/>
              <a:gdLst/>
              <a:ahLst/>
              <a:cxnLst/>
              <a:rect l="l" t="t" r="r" b="b"/>
              <a:pathLst>
                <a:path w="451485" h="389890">
                  <a:moveTo>
                    <a:pt x="451374" y="0"/>
                  </a:moveTo>
                  <a:lnTo>
                    <a:pt x="327853" y="0"/>
                  </a:lnTo>
                  <a:lnTo>
                    <a:pt x="0" y="328147"/>
                  </a:lnTo>
                  <a:lnTo>
                    <a:pt x="61438" y="389582"/>
                  </a:lnTo>
                  <a:lnTo>
                    <a:pt x="451374" y="0"/>
                  </a:lnTo>
                  <a:close/>
                </a:path>
              </a:pathLst>
            </a:custGeom>
            <a:solidFill>
              <a:srgbClr val="6FB0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22592" y="193548"/>
              <a:ext cx="1111250" cy="1111250"/>
            </a:xfrm>
            <a:custGeom>
              <a:avLst/>
              <a:gdLst/>
              <a:ahLst/>
              <a:cxnLst/>
              <a:rect l="l" t="t" r="r" b="b"/>
              <a:pathLst>
                <a:path w="1111250" h="1111250">
                  <a:moveTo>
                    <a:pt x="555997" y="0"/>
                  </a:moveTo>
                  <a:lnTo>
                    <a:pt x="0" y="555604"/>
                  </a:lnTo>
                  <a:lnTo>
                    <a:pt x="555997" y="1111209"/>
                  </a:lnTo>
                  <a:lnTo>
                    <a:pt x="1111197" y="555604"/>
                  </a:lnTo>
                  <a:lnTo>
                    <a:pt x="555997" y="0"/>
                  </a:lnTo>
                  <a:close/>
                </a:path>
              </a:pathLst>
            </a:custGeom>
            <a:solidFill>
              <a:srgbClr val="484C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12" y="322993"/>
              <a:ext cx="1429385" cy="2061210"/>
            </a:xfrm>
            <a:custGeom>
              <a:avLst/>
              <a:gdLst/>
              <a:ahLst/>
              <a:cxnLst/>
              <a:rect l="l" t="t" r="r" b="b"/>
              <a:pathLst>
                <a:path w="1429385" h="2061210">
                  <a:moveTo>
                    <a:pt x="398644" y="0"/>
                  </a:moveTo>
                  <a:lnTo>
                    <a:pt x="0" y="398644"/>
                  </a:lnTo>
                  <a:lnTo>
                    <a:pt x="0" y="1662717"/>
                  </a:lnTo>
                  <a:lnTo>
                    <a:pt x="398644" y="2061054"/>
                  </a:lnTo>
                  <a:lnTo>
                    <a:pt x="1428774" y="1030924"/>
                  </a:lnTo>
                  <a:lnTo>
                    <a:pt x="398644" y="0"/>
                  </a:lnTo>
                  <a:close/>
                </a:path>
              </a:pathLst>
            </a:custGeom>
            <a:solidFill>
              <a:srgbClr val="6FB0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4247449" y="0"/>
            <a:ext cx="1599565" cy="1703705"/>
          </a:xfrm>
          <a:custGeom>
            <a:avLst/>
            <a:gdLst/>
            <a:ahLst/>
            <a:cxnLst/>
            <a:rect l="l" t="t" r="r" b="b"/>
            <a:pathLst>
              <a:path w="1599564" h="1703705">
                <a:moveTo>
                  <a:pt x="1388727" y="0"/>
                </a:moveTo>
                <a:lnTo>
                  <a:pt x="672847" y="0"/>
                </a:lnTo>
                <a:lnTo>
                  <a:pt x="0" y="672333"/>
                </a:lnTo>
                <a:lnTo>
                  <a:pt x="1030925" y="1703259"/>
                </a:lnTo>
                <a:lnTo>
                  <a:pt x="1599294" y="1134452"/>
                </a:lnTo>
                <a:lnTo>
                  <a:pt x="1599294" y="210568"/>
                </a:lnTo>
                <a:lnTo>
                  <a:pt x="1388727" y="0"/>
                </a:lnTo>
                <a:close/>
              </a:path>
            </a:pathLst>
          </a:custGeom>
          <a:solidFill>
            <a:srgbClr val="484C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2483" y="0"/>
            <a:ext cx="1385570" cy="692785"/>
          </a:xfrm>
          <a:custGeom>
            <a:avLst/>
            <a:gdLst/>
            <a:ahLst/>
            <a:cxnLst/>
            <a:rect l="l" t="t" r="r" b="b"/>
            <a:pathLst>
              <a:path w="1385570" h="692785">
                <a:moveTo>
                  <a:pt x="1385427" y="0"/>
                </a:moveTo>
                <a:lnTo>
                  <a:pt x="0" y="0"/>
                </a:lnTo>
                <a:lnTo>
                  <a:pt x="692710" y="692456"/>
                </a:lnTo>
                <a:lnTo>
                  <a:pt x="1385427" y="0"/>
                </a:lnTo>
                <a:close/>
              </a:path>
            </a:pathLst>
          </a:custGeom>
          <a:solidFill>
            <a:srgbClr val="484C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87658" y="1226838"/>
            <a:ext cx="3268979" cy="1226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2299"/>
              </a:lnSpc>
              <a:spcBef>
                <a:spcPts val="95"/>
              </a:spcBef>
            </a:pPr>
            <a:r>
              <a:rPr sz="1100" spc="45" dirty="0">
                <a:solidFill>
                  <a:srgbClr val="FFFFFF"/>
                </a:solidFill>
                <a:latin typeface="Trebuchet MS"/>
                <a:cs typeface="Trebuchet MS"/>
              </a:rPr>
              <a:t>In 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conclusion, </a:t>
            </a:r>
            <a:r>
              <a:rPr sz="1100" spc="55" dirty="0">
                <a:solidFill>
                  <a:srgbClr val="FFFFFF"/>
                </a:solidFill>
                <a:latin typeface="Trebuchet MS"/>
                <a:cs typeface="Trebuchet MS"/>
              </a:rPr>
              <a:t>understanding </a:t>
            </a:r>
            <a:r>
              <a:rPr sz="1100" spc="20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1100" spc="35" dirty="0">
                <a:solidFill>
                  <a:srgbClr val="FFFFFF"/>
                </a:solidFill>
                <a:latin typeface="Trebuchet MS"/>
                <a:cs typeface="Trebuchet MS"/>
              </a:rPr>
              <a:t>inﬂuence </a:t>
            </a:r>
            <a:r>
              <a:rPr sz="1100" spc="30" dirty="0">
                <a:solidFill>
                  <a:srgbClr val="FFFFFF"/>
                </a:solidFill>
                <a:latin typeface="Trebuchet MS"/>
                <a:cs typeface="Trebuchet MS"/>
              </a:rPr>
              <a:t>of </a:t>
            </a:r>
            <a:r>
              <a:rPr sz="11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30" dirty="0">
                <a:solidFill>
                  <a:srgbClr val="FFFFFF"/>
                </a:solidFill>
                <a:latin typeface="Trebuchet MS"/>
                <a:cs typeface="Trebuchet MS"/>
              </a:rPr>
              <a:t>national</a:t>
            </a:r>
            <a:r>
              <a:rPr sz="11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6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individual</a:t>
            </a:r>
            <a:r>
              <a:rPr sz="11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35" dirty="0">
                <a:solidFill>
                  <a:srgbClr val="FFFFFF"/>
                </a:solidFill>
                <a:latin typeface="Trebuchet MS"/>
                <a:cs typeface="Trebuchet MS"/>
              </a:rPr>
              <a:t>environmental</a:t>
            </a:r>
            <a:r>
              <a:rPr sz="11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factors</a:t>
            </a:r>
            <a:r>
              <a:rPr sz="11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90" dirty="0">
                <a:solidFill>
                  <a:srgbClr val="FFFFFF"/>
                </a:solidFill>
                <a:latin typeface="Trebuchet MS"/>
                <a:cs typeface="Trebuchet MS"/>
              </a:rPr>
              <a:t>on </a:t>
            </a:r>
            <a:r>
              <a:rPr sz="1100" spc="-3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65" dirty="0">
                <a:solidFill>
                  <a:srgbClr val="FFFFFF"/>
                </a:solidFill>
                <a:latin typeface="Trebuchet MS"/>
                <a:cs typeface="Trebuchet MS"/>
              </a:rPr>
              <a:t>business and </a:t>
            </a:r>
            <a:r>
              <a:rPr sz="1100" spc="45" dirty="0">
                <a:solidFill>
                  <a:srgbClr val="FFFFFF"/>
                </a:solidFill>
                <a:latin typeface="Trebuchet MS"/>
                <a:cs typeface="Trebuchet MS"/>
              </a:rPr>
              <a:t>communication </a:t>
            </a:r>
            <a:r>
              <a:rPr sz="1100" spc="30" dirty="0">
                <a:solidFill>
                  <a:srgbClr val="FFFFFF"/>
                </a:solidFill>
                <a:latin typeface="Trebuchet MS"/>
                <a:cs typeface="Trebuchet MS"/>
              </a:rPr>
              <a:t>in </a:t>
            </a:r>
            <a:r>
              <a:rPr sz="1100" spc="55" dirty="0">
                <a:solidFill>
                  <a:srgbClr val="FFFFFF"/>
                </a:solidFill>
                <a:latin typeface="Trebuchet MS"/>
                <a:cs typeface="Trebuchet MS"/>
              </a:rPr>
              <a:t>Saudi </a:t>
            </a:r>
            <a:r>
              <a:rPr sz="1100" spc="40" dirty="0">
                <a:solidFill>
                  <a:srgbClr val="FFFFFF"/>
                </a:solidFill>
                <a:latin typeface="Trebuchet MS"/>
                <a:cs typeface="Trebuchet MS"/>
              </a:rPr>
              <a:t>Arabia </a:t>
            </a:r>
            <a:r>
              <a:rPr sz="1100" spc="30" dirty="0">
                <a:solidFill>
                  <a:srgbClr val="FFFFFF"/>
                </a:solidFill>
                <a:latin typeface="Trebuchet MS"/>
                <a:cs typeface="Trebuchet MS"/>
              </a:rPr>
              <a:t>is </a:t>
            </a:r>
            <a:r>
              <a:rPr sz="11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rebuchet MS"/>
                <a:cs typeface="Trebuchet MS"/>
              </a:rPr>
              <a:t>crucial</a:t>
            </a:r>
            <a:r>
              <a:rPr sz="11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3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1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35" dirty="0">
                <a:solidFill>
                  <a:srgbClr val="FFFFFF"/>
                </a:solidFill>
                <a:latin typeface="Trebuchet MS"/>
                <a:cs typeface="Trebuchet MS"/>
              </a:rPr>
              <a:t>successful</a:t>
            </a:r>
            <a:r>
              <a:rPr sz="11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35" dirty="0">
                <a:solidFill>
                  <a:srgbClr val="FFFFFF"/>
                </a:solidFill>
                <a:latin typeface="Trebuchet MS"/>
                <a:cs typeface="Trebuchet MS"/>
              </a:rPr>
              <a:t>engagement.</a:t>
            </a:r>
            <a:r>
              <a:rPr sz="11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65" dirty="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sz="11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30" dirty="0">
                <a:solidFill>
                  <a:srgbClr val="FFFFFF"/>
                </a:solidFill>
                <a:latin typeface="Trebuchet MS"/>
                <a:cs typeface="Trebuchet MS"/>
              </a:rPr>
              <a:t>navigating </a:t>
            </a:r>
            <a:r>
              <a:rPr sz="1100" spc="-3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35" dirty="0">
                <a:solidFill>
                  <a:srgbClr val="FFFFFF"/>
                </a:solidFill>
                <a:latin typeface="Trebuchet MS"/>
                <a:cs typeface="Trebuchet MS"/>
              </a:rPr>
              <a:t>these 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factors </a:t>
            </a:r>
            <a:r>
              <a:rPr sz="1100" spc="6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100" spc="30" dirty="0">
                <a:solidFill>
                  <a:srgbClr val="FFFFFF"/>
                </a:solidFill>
                <a:latin typeface="Trebuchet MS"/>
                <a:cs typeface="Trebuchet MS"/>
              </a:rPr>
              <a:t>leveraging </a:t>
            </a:r>
            <a:r>
              <a:rPr sz="1100" spc="45" dirty="0">
                <a:solidFill>
                  <a:srgbClr val="FFFFFF"/>
                </a:solidFill>
                <a:latin typeface="Trebuchet MS"/>
                <a:cs typeface="Trebuchet MS"/>
              </a:rPr>
              <a:t>growth </a:t>
            </a:r>
            <a:r>
              <a:rPr sz="110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opportunities, </a:t>
            </a:r>
            <a:r>
              <a:rPr sz="1100" spc="65" dirty="0">
                <a:solidFill>
                  <a:srgbClr val="FFFFFF"/>
                </a:solidFill>
                <a:latin typeface="Trebuchet MS"/>
                <a:cs typeface="Trebuchet MS"/>
              </a:rPr>
              <a:t>businesses </a:t>
            </a:r>
            <a:r>
              <a:rPr sz="1100" spc="40" dirty="0">
                <a:solidFill>
                  <a:srgbClr val="FFFFFF"/>
                </a:solidFill>
                <a:latin typeface="Trebuchet MS"/>
                <a:cs typeface="Trebuchet MS"/>
              </a:rPr>
              <a:t>can </a:t>
            </a:r>
            <a:r>
              <a:rPr sz="1100" spc="10" dirty="0">
                <a:solidFill>
                  <a:srgbClr val="FFFFFF"/>
                </a:solidFill>
                <a:latin typeface="Trebuchet MS"/>
                <a:cs typeface="Trebuchet MS"/>
              </a:rPr>
              <a:t>thrive </a:t>
            </a:r>
            <a:r>
              <a:rPr sz="1100" spc="30" dirty="0">
                <a:solidFill>
                  <a:srgbClr val="FFFFFF"/>
                </a:solidFill>
                <a:latin typeface="Trebuchet MS"/>
                <a:cs typeface="Trebuchet MS"/>
              </a:rPr>
              <a:t>in 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this </a:t>
            </a:r>
            <a:r>
              <a:rPr sz="11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45" dirty="0">
                <a:solidFill>
                  <a:srgbClr val="FFFFFF"/>
                </a:solidFill>
                <a:latin typeface="Trebuchet MS"/>
                <a:cs typeface="Trebuchet MS"/>
              </a:rPr>
              <a:t>dynamic</a:t>
            </a:r>
            <a:r>
              <a:rPr sz="11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35" dirty="0">
                <a:solidFill>
                  <a:srgbClr val="FFFFFF"/>
                </a:solidFill>
                <a:latin typeface="Trebuchet MS"/>
                <a:cs typeface="Trebuchet MS"/>
              </a:rPr>
              <a:t>environment.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98908" y="624180"/>
            <a:ext cx="163068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345" dirty="0"/>
              <a:t>C</a:t>
            </a:r>
            <a:r>
              <a:rPr sz="2400" spc="130" dirty="0"/>
              <a:t>o</a:t>
            </a:r>
            <a:r>
              <a:rPr sz="2400" spc="100" dirty="0"/>
              <a:t>nclus</a:t>
            </a:r>
            <a:r>
              <a:rPr sz="2400" spc="105" dirty="0"/>
              <a:t>ion</a:t>
            </a:r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296223" y="1175372"/>
            <a:ext cx="1251585" cy="30480"/>
          </a:xfrm>
          <a:custGeom>
            <a:avLst/>
            <a:gdLst/>
            <a:ahLst/>
            <a:cxnLst/>
            <a:rect l="l" t="t" r="r" b="b"/>
            <a:pathLst>
              <a:path w="1251585" h="30480">
                <a:moveTo>
                  <a:pt x="1251242" y="0"/>
                </a:moveTo>
                <a:lnTo>
                  <a:pt x="0" y="0"/>
                </a:lnTo>
                <a:lnTo>
                  <a:pt x="0" y="30454"/>
                </a:lnTo>
                <a:lnTo>
                  <a:pt x="1251242" y="30454"/>
                </a:lnTo>
                <a:lnTo>
                  <a:pt x="1251242" y="0"/>
                </a:lnTo>
                <a:close/>
              </a:path>
            </a:pathLst>
          </a:custGeom>
          <a:solidFill>
            <a:srgbClr val="6FB0D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12" y="8"/>
            <a:ext cx="5845810" cy="3288029"/>
          </a:xfrm>
          <a:custGeom>
            <a:avLst/>
            <a:gdLst/>
            <a:ahLst/>
            <a:cxnLst/>
            <a:rect l="l" t="t" r="r" b="b"/>
            <a:pathLst>
              <a:path w="5845810" h="3288029">
                <a:moveTo>
                  <a:pt x="0" y="3287938"/>
                </a:moveTo>
                <a:lnTo>
                  <a:pt x="5845240" y="3287938"/>
                </a:lnTo>
                <a:lnTo>
                  <a:pt x="5845240" y="0"/>
                </a:lnTo>
                <a:lnTo>
                  <a:pt x="0" y="0"/>
                </a:lnTo>
                <a:lnTo>
                  <a:pt x="0" y="3287938"/>
                </a:lnTo>
                <a:close/>
              </a:path>
            </a:pathLst>
          </a:custGeom>
          <a:solidFill>
            <a:srgbClr val="2829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924449" y="346792"/>
            <a:ext cx="2922905" cy="2428240"/>
            <a:chOff x="2924449" y="346792"/>
            <a:chExt cx="2922905" cy="2428240"/>
          </a:xfrm>
        </p:grpSpPr>
        <p:sp>
          <p:nvSpPr>
            <p:cNvPr id="4" name="object 4"/>
            <p:cNvSpPr/>
            <p:nvPr/>
          </p:nvSpPr>
          <p:spPr>
            <a:xfrm>
              <a:off x="3569360" y="713562"/>
              <a:ext cx="2277745" cy="2061210"/>
            </a:xfrm>
            <a:custGeom>
              <a:avLst/>
              <a:gdLst/>
              <a:ahLst/>
              <a:cxnLst/>
              <a:rect l="l" t="t" r="r" b="b"/>
              <a:pathLst>
                <a:path w="2277745" h="2061210">
                  <a:moveTo>
                    <a:pt x="940117" y="1208417"/>
                  </a:moveTo>
                  <a:lnTo>
                    <a:pt x="556412" y="824699"/>
                  </a:lnTo>
                  <a:lnTo>
                    <a:pt x="0" y="1380299"/>
                  </a:lnTo>
                  <a:lnTo>
                    <a:pt x="384530" y="1764030"/>
                  </a:lnTo>
                  <a:lnTo>
                    <a:pt x="940117" y="1208417"/>
                  </a:lnTo>
                  <a:close/>
                </a:path>
                <a:path w="2277745" h="2061210">
                  <a:moveTo>
                    <a:pt x="2277376" y="396887"/>
                  </a:moveTo>
                  <a:lnTo>
                    <a:pt x="1880641" y="0"/>
                  </a:lnTo>
                  <a:lnTo>
                    <a:pt x="850112" y="1030922"/>
                  </a:lnTo>
                  <a:lnTo>
                    <a:pt x="1880641" y="2061057"/>
                  </a:lnTo>
                  <a:lnTo>
                    <a:pt x="2277376" y="1664474"/>
                  </a:lnTo>
                  <a:lnTo>
                    <a:pt x="2277376" y="396887"/>
                  </a:lnTo>
                  <a:close/>
                </a:path>
              </a:pathLst>
            </a:custGeom>
            <a:solidFill>
              <a:srgbClr val="484C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66567" y="1037983"/>
              <a:ext cx="989965" cy="1086485"/>
            </a:xfrm>
            <a:custGeom>
              <a:avLst/>
              <a:gdLst/>
              <a:ahLst/>
              <a:cxnLst/>
              <a:rect l="l" t="t" r="r" b="b"/>
              <a:pathLst>
                <a:path w="989964" h="1086485">
                  <a:moveTo>
                    <a:pt x="955941" y="61429"/>
                  </a:moveTo>
                  <a:lnTo>
                    <a:pt x="894486" y="0"/>
                  </a:lnTo>
                  <a:lnTo>
                    <a:pt x="0" y="893686"/>
                  </a:lnTo>
                  <a:lnTo>
                    <a:pt x="62230" y="955929"/>
                  </a:lnTo>
                  <a:lnTo>
                    <a:pt x="955941" y="61429"/>
                  </a:lnTo>
                  <a:close/>
                </a:path>
                <a:path w="989964" h="1086485">
                  <a:moveTo>
                    <a:pt x="989584" y="530656"/>
                  </a:moveTo>
                  <a:lnTo>
                    <a:pt x="787323" y="328409"/>
                  </a:lnTo>
                  <a:lnTo>
                    <a:pt x="231736" y="883996"/>
                  </a:lnTo>
                  <a:lnTo>
                    <a:pt x="433971" y="1086269"/>
                  </a:lnTo>
                  <a:lnTo>
                    <a:pt x="989584" y="530656"/>
                  </a:lnTo>
                  <a:close/>
                </a:path>
              </a:pathLst>
            </a:custGeom>
            <a:solidFill>
              <a:srgbClr val="6FB0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24449" y="346792"/>
              <a:ext cx="566420" cy="566420"/>
            </a:xfrm>
            <a:custGeom>
              <a:avLst/>
              <a:gdLst/>
              <a:ahLst/>
              <a:cxnLst/>
              <a:rect l="l" t="t" r="r" b="b"/>
              <a:pathLst>
                <a:path w="566420" h="566419">
                  <a:moveTo>
                    <a:pt x="282717" y="0"/>
                  </a:moveTo>
                  <a:lnTo>
                    <a:pt x="0" y="282726"/>
                  </a:lnTo>
                  <a:lnTo>
                    <a:pt x="282717" y="566251"/>
                  </a:lnTo>
                  <a:lnTo>
                    <a:pt x="566272" y="282726"/>
                  </a:lnTo>
                  <a:lnTo>
                    <a:pt x="282717" y="0"/>
                  </a:lnTo>
                  <a:close/>
                </a:path>
              </a:pathLst>
            </a:custGeom>
            <a:solidFill>
              <a:srgbClr val="484C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8662" y="499408"/>
              <a:ext cx="262255" cy="262255"/>
            </a:xfrm>
            <a:custGeom>
              <a:avLst/>
              <a:gdLst/>
              <a:ahLst/>
              <a:cxnLst/>
              <a:rect l="l" t="t" r="r" b="b"/>
              <a:pathLst>
                <a:path w="262254" h="262255">
                  <a:moveTo>
                    <a:pt x="223266" y="0"/>
                  </a:moveTo>
                  <a:lnTo>
                    <a:pt x="38557" y="0"/>
                  </a:lnTo>
                  <a:lnTo>
                    <a:pt x="23724" y="2973"/>
                  </a:lnTo>
                  <a:lnTo>
                    <a:pt x="11449" y="11140"/>
                  </a:lnTo>
                  <a:lnTo>
                    <a:pt x="3088" y="23375"/>
                  </a:lnTo>
                  <a:lnTo>
                    <a:pt x="0" y="38551"/>
                  </a:lnTo>
                  <a:lnTo>
                    <a:pt x="0" y="224049"/>
                  </a:lnTo>
                  <a:lnTo>
                    <a:pt x="2972" y="238864"/>
                  </a:lnTo>
                  <a:lnTo>
                    <a:pt x="11140" y="251047"/>
                  </a:lnTo>
                  <a:lnTo>
                    <a:pt x="23377" y="259167"/>
                  </a:lnTo>
                  <a:lnTo>
                    <a:pt x="38557" y="261792"/>
                  </a:lnTo>
                  <a:lnTo>
                    <a:pt x="223266" y="261792"/>
                  </a:lnTo>
                  <a:lnTo>
                    <a:pt x="238098" y="258830"/>
                  </a:lnTo>
                  <a:lnTo>
                    <a:pt x="250374" y="250748"/>
                  </a:lnTo>
                  <a:lnTo>
                    <a:pt x="253315" y="246528"/>
                  </a:lnTo>
                  <a:lnTo>
                    <a:pt x="38557" y="246528"/>
                  </a:lnTo>
                  <a:lnTo>
                    <a:pt x="29492" y="244696"/>
                  </a:lnTo>
                  <a:lnTo>
                    <a:pt x="22090" y="239702"/>
                  </a:lnTo>
                  <a:lnTo>
                    <a:pt x="17100" y="232300"/>
                  </a:lnTo>
                  <a:lnTo>
                    <a:pt x="15270" y="223241"/>
                  </a:lnTo>
                  <a:lnTo>
                    <a:pt x="15270" y="38551"/>
                  </a:lnTo>
                  <a:lnTo>
                    <a:pt x="17100" y="29486"/>
                  </a:lnTo>
                  <a:lnTo>
                    <a:pt x="22090" y="22083"/>
                  </a:lnTo>
                  <a:lnTo>
                    <a:pt x="29521" y="17085"/>
                  </a:lnTo>
                  <a:lnTo>
                    <a:pt x="38557" y="15261"/>
                  </a:lnTo>
                  <a:lnTo>
                    <a:pt x="253881" y="15261"/>
                  </a:lnTo>
                  <a:lnTo>
                    <a:pt x="250576" y="11237"/>
                  </a:lnTo>
                  <a:lnTo>
                    <a:pt x="244731" y="6433"/>
                  </a:lnTo>
                  <a:lnTo>
                    <a:pt x="238132" y="2908"/>
                  </a:lnTo>
                  <a:lnTo>
                    <a:pt x="230927" y="739"/>
                  </a:lnTo>
                  <a:lnTo>
                    <a:pt x="223266" y="0"/>
                  </a:lnTo>
                  <a:close/>
                </a:path>
                <a:path w="262254" h="262255">
                  <a:moveTo>
                    <a:pt x="198422" y="31152"/>
                  </a:moveTo>
                  <a:lnTo>
                    <a:pt x="190347" y="31312"/>
                  </a:lnTo>
                  <a:lnTo>
                    <a:pt x="180715" y="31312"/>
                  </a:lnTo>
                  <a:lnTo>
                    <a:pt x="176692" y="32122"/>
                  </a:lnTo>
                  <a:lnTo>
                    <a:pt x="137799" y="52685"/>
                  </a:lnTo>
                  <a:lnTo>
                    <a:pt x="130911" y="76294"/>
                  </a:lnTo>
                  <a:lnTo>
                    <a:pt x="130911" y="108405"/>
                  </a:lnTo>
                  <a:lnTo>
                    <a:pt x="111648" y="108405"/>
                  </a:lnTo>
                  <a:lnTo>
                    <a:pt x="107624" y="111620"/>
                  </a:lnTo>
                  <a:lnTo>
                    <a:pt x="107624" y="150171"/>
                  </a:lnTo>
                  <a:lnTo>
                    <a:pt x="110825" y="154186"/>
                  </a:lnTo>
                  <a:lnTo>
                    <a:pt x="130911" y="154186"/>
                  </a:lnTo>
                  <a:lnTo>
                    <a:pt x="130911" y="246528"/>
                  </a:lnTo>
                  <a:lnTo>
                    <a:pt x="146182" y="246528"/>
                  </a:lnTo>
                  <a:lnTo>
                    <a:pt x="146182" y="142134"/>
                  </a:lnTo>
                  <a:lnTo>
                    <a:pt x="143594" y="138921"/>
                  </a:lnTo>
                  <a:lnTo>
                    <a:pt x="122895" y="138921"/>
                  </a:lnTo>
                  <a:lnTo>
                    <a:pt x="122895" y="123669"/>
                  </a:lnTo>
                  <a:lnTo>
                    <a:pt x="142951" y="123669"/>
                  </a:lnTo>
                  <a:lnTo>
                    <a:pt x="146974" y="120453"/>
                  </a:lnTo>
                  <a:lnTo>
                    <a:pt x="146182" y="115631"/>
                  </a:lnTo>
                  <a:lnTo>
                    <a:pt x="146182" y="64245"/>
                  </a:lnTo>
                  <a:lnTo>
                    <a:pt x="182331" y="46576"/>
                  </a:lnTo>
                  <a:lnTo>
                    <a:pt x="187147" y="46576"/>
                  </a:lnTo>
                  <a:lnTo>
                    <a:pt x="191140" y="45777"/>
                  </a:lnTo>
                  <a:lnTo>
                    <a:pt x="228657" y="45777"/>
                  </a:lnTo>
                  <a:lnTo>
                    <a:pt x="228904" y="44171"/>
                  </a:lnTo>
                  <a:lnTo>
                    <a:pt x="229697" y="40148"/>
                  </a:lnTo>
                  <a:lnTo>
                    <a:pt x="227289" y="36944"/>
                  </a:lnTo>
                  <a:lnTo>
                    <a:pt x="223266" y="35335"/>
                  </a:lnTo>
                  <a:lnTo>
                    <a:pt x="215190" y="33239"/>
                  </a:lnTo>
                  <a:lnTo>
                    <a:pt x="206806" y="31819"/>
                  </a:lnTo>
                  <a:lnTo>
                    <a:pt x="198422" y="31152"/>
                  </a:lnTo>
                  <a:close/>
                </a:path>
                <a:path w="262254" h="262255">
                  <a:moveTo>
                    <a:pt x="198363" y="65852"/>
                  </a:moveTo>
                  <a:lnTo>
                    <a:pt x="193548" y="65852"/>
                  </a:lnTo>
                  <a:lnTo>
                    <a:pt x="191140" y="66650"/>
                  </a:lnTo>
                  <a:lnTo>
                    <a:pt x="181543" y="69627"/>
                  </a:lnTo>
                  <a:lnTo>
                    <a:pt x="174578" y="74783"/>
                  </a:lnTo>
                  <a:lnTo>
                    <a:pt x="170474" y="81915"/>
                  </a:lnTo>
                  <a:lnTo>
                    <a:pt x="169468" y="90748"/>
                  </a:lnTo>
                  <a:lnTo>
                    <a:pt x="169468" y="119655"/>
                  </a:lnTo>
                  <a:lnTo>
                    <a:pt x="172669" y="123669"/>
                  </a:lnTo>
                  <a:lnTo>
                    <a:pt x="205618" y="123669"/>
                  </a:lnTo>
                  <a:lnTo>
                    <a:pt x="201594" y="138921"/>
                  </a:lnTo>
                  <a:lnTo>
                    <a:pt x="172669" y="138921"/>
                  </a:lnTo>
                  <a:lnTo>
                    <a:pt x="168645" y="142134"/>
                  </a:lnTo>
                  <a:lnTo>
                    <a:pt x="169468" y="146148"/>
                  </a:lnTo>
                  <a:lnTo>
                    <a:pt x="169468" y="246528"/>
                  </a:lnTo>
                  <a:lnTo>
                    <a:pt x="184708" y="246528"/>
                  </a:lnTo>
                  <a:lnTo>
                    <a:pt x="184708" y="154186"/>
                  </a:lnTo>
                  <a:lnTo>
                    <a:pt x="211226" y="154186"/>
                  </a:lnTo>
                  <a:lnTo>
                    <a:pt x="214426" y="151781"/>
                  </a:lnTo>
                  <a:lnTo>
                    <a:pt x="215249" y="148565"/>
                  </a:lnTo>
                  <a:lnTo>
                    <a:pt x="222473" y="118049"/>
                  </a:lnTo>
                  <a:lnTo>
                    <a:pt x="223266" y="115631"/>
                  </a:lnTo>
                  <a:lnTo>
                    <a:pt x="221681" y="110822"/>
                  </a:lnTo>
                  <a:lnTo>
                    <a:pt x="220065" y="109215"/>
                  </a:lnTo>
                  <a:lnTo>
                    <a:pt x="218852" y="108405"/>
                  </a:lnTo>
                  <a:lnTo>
                    <a:pt x="184708" y="108405"/>
                  </a:lnTo>
                  <a:lnTo>
                    <a:pt x="184708" y="87532"/>
                  </a:lnTo>
                  <a:lnTo>
                    <a:pt x="185531" y="83521"/>
                  </a:lnTo>
                  <a:lnTo>
                    <a:pt x="194370" y="81915"/>
                  </a:lnTo>
                  <a:lnTo>
                    <a:pt x="197571" y="81915"/>
                  </a:lnTo>
                  <a:lnTo>
                    <a:pt x="199186" y="81104"/>
                  </a:lnTo>
                  <a:lnTo>
                    <a:pt x="222464" y="81104"/>
                  </a:lnTo>
                  <a:lnTo>
                    <a:pt x="224058" y="79497"/>
                  </a:lnTo>
                  <a:lnTo>
                    <a:pt x="224058" y="77888"/>
                  </a:lnTo>
                  <a:lnTo>
                    <a:pt x="225515" y="67458"/>
                  </a:lnTo>
                  <a:lnTo>
                    <a:pt x="210433" y="67458"/>
                  </a:lnTo>
                  <a:lnTo>
                    <a:pt x="207203" y="66650"/>
                  </a:lnTo>
                  <a:lnTo>
                    <a:pt x="203210" y="66650"/>
                  </a:lnTo>
                  <a:lnTo>
                    <a:pt x="198363" y="65852"/>
                  </a:lnTo>
                  <a:close/>
                </a:path>
                <a:path w="262254" h="262255">
                  <a:moveTo>
                    <a:pt x="253881" y="15261"/>
                  </a:moveTo>
                  <a:lnTo>
                    <a:pt x="223266" y="15261"/>
                  </a:lnTo>
                  <a:lnTo>
                    <a:pt x="232330" y="17091"/>
                  </a:lnTo>
                  <a:lnTo>
                    <a:pt x="239732" y="22083"/>
                  </a:lnTo>
                  <a:lnTo>
                    <a:pt x="244722" y="29486"/>
                  </a:lnTo>
                  <a:lnTo>
                    <a:pt x="246552" y="38551"/>
                  </a:lnTo>
                  <a:lnTo>
                    <a:pt x="246552" y="224049"/>
                  </a:lnTo>
                  <a:lnTo>
                    <a:pt x="244722" y="233095"/>
                  </a:lnTo>
                  <a:lnTo>
                    <a:pt x="239732" y="240410"/>
                  </a:lnTo>
                  <a:lnTo>
                    <a:pt x="232330" y="245164"/>
                  </a:lnTo>
                  <a:lnTo>
                    <a:pt x="223266" y="246528"/>
                  </a:lnTo>
                  <a:lnTo>
                    <a:pt x="253315" y="246528"/>
                  </a:lnTo>
                  <a:lnTo>
                    <a:pt x="258734" y="238752"/>
                  </a:lnTo>
                  <a:lnTo>
                    <a:pt x="261823" y="224049"/>
                  </a:lnTo>
                  <a:lnTo>
                    <a:pt x="261823" y="38551"/>
                  </a:lnTo>
                  <a:lnTo>
                    <a:pt x="261081" y="30894"/>
                  </a:lnTo>
                  <a:lnTo>
                    <a:pt x="258908" y="23688"/>
                  </a:lnTo>
                  <a:lnTo>
                    <a:pt x="255380" y="17085"/>
                  </a:lnTo>
                  <a:lnTo>
                    <a:pt x="253881" y="15261"/>
                  </a:lnTo>
                  <a:close/>
                </a:path>
                <a:path w="262254" h="262255">
                  <a:moveTo>
                    <a:pt x="142951" y="138123"/>
                  </a:moveTo>
                  <a:lnTo>
                    <a:pt x="138927" y="138921"/>
                  </a:lnTo>
                  <a:lnTo>
                    <a:pt x="143594" y="138921"/>
                  </a:lnTo>
                  <a:lnTo>
                    <a:pt x="142951" y="138123"/>
                  </a:lnTo>
                  <a:close/>
                </a:path>
                <a:path w="262254" h="262255">
                  <a:moveTo>
                    <a:pt x="217657" y="107606"/>
                  </a:moveTo>
                  <a:lnTo>
                    <a:pt x="215249" y="108405"/>
                  </a:lnTo>
                  <a:lnTo>
                    <a:pt x="218852" y="108405"/>
                  </a:lnTo>
                  <a:lnTo>
                    <a:pt x="217657" y="107606"/>
                  </a:lnTo>
                  <a:close/>
                </a:path>
                <a:path w="262254" h="262255">
                  <a:moveTo>
                    <a:pt x="222464" y="81104"/>
                  </a:moveTo>
                  <a:lnTo>
                    <a:pt x="204002" y="81104"/>
                  </a:lnTo>
                  <a:lnTo>
                    <a:pt x="208818" y="81915"/>
                  </a:lnTo>
                  <a:lnTo>
                    <a:pt x="212049" y="83521"/>
                  </a:lnTo>
                  <a:lnTo>
                    <a:pt x="213634" y="83521"/>
                  </a:lnTo>
                  <a:lnTo>
                    <a:pt x="215249" y="84319"/>
                  </a:lnTo>
                  <a:lnTo>
                    <a:pt x="219273" y="84319"/>
                  </a:lnTo>
                  <a:lnTo>
                    <a:pt x="222464" y="81104"/>
                  </a:lnTo>
                  <a:close/>
                </a:path>
                <a:path w="262254" h="262255">
                  <a:moveTo>
                    <a:pt x="228657" y="45777"/>
                  </a:moveTo>
                  <a:lnTo>
                    <a:pt x="198363" y="45777"/>
                  </a:lnTo>
                  <a:lnTo>
                    <a:pt x="205618" y="46576"/>
                  </a:lnTo>
                  <a:lnTo>
                    <a:pt x="212841" y="48981"/>
                  </a:lnTo>
                  <a:lnTo>
                    <a:pt x="211866" y="57018"/>
                  </a:lnTo>
                  <a:lnTo>
                    <a:pt x="211226" y="62636"/>
                  </a:lnTo>
                  <a:lnTo>
                    <a:pt x="210433" y="67458"/>
                  </a:lnTo>
                  <a:lnTo>
                    <a:pt x="225515" y="67458"/>
                  </a:lnTo>
                  <a:lnTo>
                    <a:pt x="227205" y="55409"/>
                  </a:lnTo>
                  <a:lnTo>
                    <a:pt x="228657" y="457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90936" y="346798"/>
              <a:ext cx="1200150" cy="566420"/>
            </a:xfrm>
            <a:custGeom>
              <a:avLst/>
              <a:gdLst/>
              <a:ahLst/>
              <a:cxnLst/>
              <a:rect l="l" t="t" r="r" b="b"/>
              <a:pathLst>
                <a:path w="1200150" h="566419">
                  <a:moveTo>
                    <a:pt x="566254" y="282727"/>
                  </a:moveTo>
                  <a:lnTo>
                    <a:pt x="282727" y="0"/>
                  </a:lnTo>
                  <a:lnTo>
                    <a:pt x="0" y="282727"/>
                  </a:lnTo>
                  <a:lnTo>
                    <a:pt x="282727" y="566254"/>
                  </a:lnTo>
                  <a:lnTo>
                    <a:pt x="566254" y="282727"/>
                  </a:lnTo>
                  <a:close/>
                </a:path>
                <a:path w="1200150" h="566419">
                  <a:moveTo>
                    <a:pt x="1199908" y="282727"/>
                  </a:moveTo>
                  <a:lnTo>
                    <a:pt x="916774" y="0"/>
                  </a:lnTo>
                  <a:lnTo>
                    <a:pt x="633679" y="282727"/>
                  </a:lnTo>
                  <a:lnTo>
                    <a:pt x="916774" y="566254"/>
                  </a:lnTo>
                  <a:lnTo>
                    <a:pt x="1199908" y="282727"/>
                  </a:lnTo>
                  <a:close/>
                </a:path>
              </a:pathLst>
            </a:custGeom>
            <a:solidFill>
              <a:srgbClr val="6FB0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1317" y="530733"/>
              <a:ext cx="184708" cy="1999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342760" y="499408"/>
              <a:ext cx="262255" cy="262255"/>
            </a:xfrm>
            <a:custGeom>
              <a:avLst/>
              <a:gdLst/>
              <a:ahLst/>
              <a:cxnLst/>
              <a:rect l="l" t="t" r="r" b="b"/>
              <a:pathLst>
                <a:path w="262254" h="262255">
                  <a:moveTo>
                    <a:pt x="222473" y="0"/>
                  </a:moveTo>
                  <a:lnTo>
                    <a:pt x="38557" y="0"/>
                  </a:lnTo>
                  <a:lnTo>
                    <a:pt x="23724" y="3099"/>
                  </a:lnTo>
                  <a:lnTo>
                    <a:pt x="11449" y="11544"/>
                  </a:lnTo>
                  <a:lnTo>
                    <a:pt x="3088" y="24054"/>
                  </a:lnTo>
                  <a:lnTo>
                    <a:pt x="0" y="39349"/>
                  </a:lnTo>
                  <a:lnTo>
                    <a:pt x="0" y="223266"/>
                  </a:lnTo>
                  <a:lnTo>
                    <a:pt x="3088" y="238099"/>
                  </a:lnTo>
                  <a:lnTo>
                    <a:pt x="11449" y="250372"/>
                  </a:lnTo>
                  <a:lnTo>
                    <a:pt x="23724" y="258730"/>
                  </a:lnTo>
                  <a:lnTo>
                    <a:pt x="38557" y="261817"/>
                  </a:lnTo>
                  <a:lnTo>
                    <a:pt x="222473" y="261817"/>
                  </a:lnTo>
                  <a:lnTo>
                    <a:pt x="237318" y="258730"/>
                  </a:lnTo>
                  <a:lnTo>
                    <a:pt x="249680" y="250372"/>
                  </a:lnTo>
                  <a:lnTo>
                    <a:pt x="252355" y="246552"/>
                  </a:lnTo>
                  <a:lnTo>
                    <a:pt x="38557" y="246552"/>
                  </a:lnTo>
                  <a:lnTo>
                    <a:pt x="29505" y="244720"/>
                  </a:lnTo>
                  <a:lnTo>
                    <a:pt x="22101" y="239725"/>
                  </a:lnTo>
                  <a:lnTo>
                    <a:pt x="17104" y="232323"/>
                  </a:lnTo>
                  <a:lnTo>
                    <a:pt x="15270" y="223266"/>
                  </a:lnTo>
                  <a:lnTo>
                    <a:pt x="15270" y="39349"/>
                  </a:lnTo>
                  <a:lnTo>
                    <a:pt x="17104" y="30278"/>
                  </a:lnTo>
                  <a:lnTo>
                    <a:pt x="22101" y="22787"/>
                  </a:lnTo>
                  <a:lnTo>
                    <a:pt x="29505" y="17555"/>
                  </a:lnTo>
                  <a:lnTo>
                    <a:pt x="38557" y="15261"/>
                  </a:lnTo>
                  <a:lnTo>
                    <a:pt x="252401" y="15261"/>
                  </a:lnTo>
                  <a:lnTo>
                    <a:pt x="250275" y="12150"/>
                  </a:lnTo>
                  <a:lnTo>
                    <a:pt x="237764" y="3553"/>
                  </a:lnTo>
                  <a:lnTo>
                    <a:pt x="222473" y="0"/>
                  </a:lnTo>
                  <a:close/>
                </a:path>
                <a:path w="262254" h="262255">
                  <a:moveTo>
                    <a:pt x="252401" y="15261"/>
                  </a:moveTo>
                  <a:lnTo>
                    <a:pt x="222473" y="15261"/>
                  </a:lnTo>
                  <a:lnTo>
                    <a:pt x="231538" y="17106"/>
                  </a:lnTo>
                  <a:lnTo>
                    <a:pt x="238940" y="22188"/>
                  </a:lnTo>
                  <a:lnTo>
                    <a:pt x="243930" y="29829"/>
                  </a:lnTo>
                  <a:lnTo>
                    <a:pt x="245760" y="39349"/>
                  </a:lnTo>
                  <a:lnTo>
                    <a:pt x="245760" y="223266"/>
                  </a:lnTo>
                  <a:lnTo>
                    <a:pt x="243930" y="232323"/>
                  </a:lnTo>
                  <a:lnTo>
                    <a:pt x="238940" y="239725"/>
                  </a:lnTo>
                  <a:lnTo>
                    <a:pt x="231538" y="244720"/>
                  </a:lnTo>
                  <a:lnTo>
                    <a:pt x="222473" y="246552"/>
                  </a:lnTo>
                  <a:lnTo>
                    <a:pt x="252355" y="246552"/>
                  </a:lnTo>
                  <a:lnTo>
                    <a:pt x="258276" y="238099"/>
                  </a:lnTo>
                  <a:lnTo>
                    <a:pt x="261823" y="223266"/>
                  </a:lnTo>
                  <a:lnTo>
                    <a:pt x="261823" y="39349"/>
                  </a:lnTo>
                  <a:lnTo>
                    <a:pt x="258722" y="24509"/>
                  </a:lnTo>
                  <a:lnTo>
                    <a:pt x="252401" y="152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57290" y="346792"/>
              <a:ext cx="566420" cy="566420"/>
            </a:xfrm>
            <a:custGeom>
              <a:avLst/>
              <a:gdLst/>
              <a:ahLst/>
              <a:cxnLst/>
              <a:rect l="l" t="t" r="r" b="b"/>
              <a:pathLst>
                <a:path w="566420" h="566419">
                  <a:moveTo>
                    <a:pt x="283524" y="0"/>
                  </a:moveTo>
                  <a:lnTo>
                    <a:pt x="0" y="282726"/>
                  </a:lnTo>
                  <a:lnTo>
                    <a:pt x="283524" y="566251"/>
                  </a:lnTo>
                  <a:lnTo>
                    <a:pt x="566287" y="282726"/>
                  </a:lnTo>
                  <a:lnTo>
                    <a:pt x="283524" y="0"/>
                  </a:lnTo>
                  <a:close/>
                </a:path>
              </a:pathLst>
            </a:custGeom>
            <a:solidFill>
              <a:srgbClr val="484C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41237" y="530720"/>
              <a:ext cx="200771" cy="19996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710724" y="499414"/>
              <a:ext cx="262255" cy="262255"/>
            </a:xfrm>
            <a:custGeom>
              <a:avLst/>
              <a:gdLst/>
              <a:ahLst/>
              <a:cxnLst/>
              <a:rect l="l" t="t" r="r" b="b"/>
              <a:pathLst>
                <a:path w="262254" h="262255">
                  <a:moveTo>
                    <a:pt x="199974" y="68262"/>
                  </a:moveTo>
                  <a:lnTo>
                    <a:pt x="192722" y="61823"/>
                  </a:lnTo>
                  <a:lnTo>
                    <a:pt x="184708" y="61823"/>
                  </a:lnTo>
                  <a:lnTo>
                    <a:pt x="175869" y="61823"/>
                  </a:lnTo>
                  <a:lnTo>
                    <a:pt x="169430" y="69049"/>
                  </a:lnTo>
                  <a:lnTo>
                    <a:pt x="169430" y="85928"/>
                  </a:lnTo>
                  <a:lnTo>
                    <a:pt x="176657" y="92341"/>
                  </a:lnTo>
                  <a:lnTo>
                    <a:pt x="184708" y="93154"/>
                  </a:lnTo>
                  <a:lnTo>
                    <a:pt x="193548" y="93154"/>
                  </a:lnTo>
                  <a:lnTo>
                    <a:pt x="199974" y="85928"/>
                  </a:lnTo>
                  <a:lnTo>
                    <a:pt x="199974" y="68262"/>
                  </a:lnTo>
                  <a:close/>
                </a:path>
                <a:path w="262254" h="262255">
                  <a:moveTo>
                    <a:pt x="261785" y="38557"/>
                  </a:moveTo>
                  <a:lnTo>
                    <a:pt x="258813" y="23723"/>
                  </a:lnTo>
                  <a:lnTo>
                    <a:pt x="253187" y="15265"/>
                  </a:lnTo>
                  <a:lnTo>
                    <a:pt x="250647" y="11442"/>
                  </a:lnTo>
                  <a:lnTo>
                    <a:pt x="246545" y="8648"/>
                  </a:lnTo>
                  <a:lnTo>
                    <a:pt x="246545" y="38557"/>
                  </a:lnTo>
                  <a:lnTo>
                    <a:pt x="246545" y="224053"/>
                  </a:lnTo>
                  <a:lnTo>
                    <a:pt x="244716" y="233095"/>
                  </a:lnTo>
                  <a:lnTo>
                    <a:pt x="239712" y="240411"/>
                  </a:lnTo>
                  <a:lnTo>
                    <a:pt x="232308" y="245160"/>
                  </a:lnTo>
                  <a:lnTo>
                    <a:pt x="223266" y="246532"/>
                  </a:lnTo>
                  <a:lnTo>
                    <a:pt x="38519" y="246532"/>
                  </a:lnTo>
                  <a:lnTo>
                    <a:pt x="29476" y="244703"/>
                  </a:lnTo>
                  <a:lnTo>
                    <a:pt x="22072" y="239801"/>
                  </a:lnTo>
                  <a:lnTo>
                    <a:pt x="17068" y="232638"/>
                  </a:lnTo>
                  <a:lnTo>
                    <a:pt x="15240" y="224053"/>
                  </a:lnTo>
                  <a:lnTo>
                    <a:pt x="15240" y="38557"/>
                  </a:lnTo>
                  <a:lnTo>
                    <a:pt x="17068" y="29489"/>
                  </a:lnTo>
                  <a:lnTo>
                    <a:pt x="22072" y="22085"/>
                  </a:lnTo>
                  <a:lnTo>
                    <a:pt x="29476" y="17094"/>
                  </a:lnTo>
                  <a:lnTo>
                    <a:pt x="38519" y="15265"/>
                  </a:lnTo>
                  <a:lnTo>
                    <a:pt x="223266" y="15265"/>
                  </a:lnTo>
                  <a:lnTo>
                    <a:pt x="232308" y="17094"/>
                  </a:lnTo>
                  <a:lnTo>
                    <a:pt x="239712" y="22085"/>
                  </a:lnTo>
                  <a:lnTo>
                    <a:pt x="244716" y="29489"/>
                  </a:lnTo>
                  <a:lnTo>
                    <a:pt x="246545" y="38557"/>
                  </a:lnTo>
                  <a:lnTo>
                    <a:pt x="246545" y="8648"/>
                  </a:lnTo>
                  <a:lnTo>
                    <a:pt x="238429" y="3086"/>
                  </a:lnTo>
                  <a:lnTo>
                    <a:pt x="223266" y="0"/>
                  </a:lnTo>
                  <a:lnTo>
                    <a:pt x="38519" y="0"/>
                  </a:lnTo>
                  <a:lnTo>
                    <a:pt x="23698" y="2971"/>
                  </a:lnTo>
                  <a:lnTo>
                    <a:pt x="11430" y="11137"/>
                  </a:lnTo>
                  <a:lnTo>
                    <a:pt x="3086" y="23380"/>
                  </a:lnTo>
                  <a:lnTo>
                    <a:pt x="0" y="38557"/>
                  </a:lnTo>
                  <a:lnTo>
                    <a:pt x="0" y="224053"/>
                  </a:lnTo>
                  <a:lnTo>
                    <a:pt x="2971" y="238861"/>
                  </a:lnTo>
                  <a:lnTo>
                    <a:pt x="11137" y="251053"/>
                  </a:lnTo>
                  <a:lnTo>
                    <a:pt x="23355" y="259168"/>
                  </a:lnTo>
                  <a:lnTo>
                    <a:pt x="38519" y="261797"/>
                  </a:lnTo>
                  <a:lnTo>
                    <a:pt x="223266" y="261797"/>
                  </a:lnTo>
                  <a:lnTo>
                    <a:pt x="238086" y="258826"/>
                  </a:lnTo>
                  <a:lnTo>
                    <a:pt x="250355" y="250748"/>
                  </a:lnTo>
                  <a:lnTo>
                    <a:pt x="253288" y="246532"/>
                  </a:lnTo>
                  <a:lnTo>
                    <a:pt x="258711" y="238747"/>
                  </a:lnTo>
                  <a:lnTo>
                    <a:pt x="261785" y="224053"/>
                  </a:lnTo>
                  <a:lnTo>
                    <a:pt x="261785" y="38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02682" y="522588"/>
              <a:ext cx="210068" cy="214634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11336" y="602935"/>
            <a:ext cx="1958339" cy="661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50" spc="135" dirty="0"/>
              <a:t>Thanks!</a:t>
            </a:r>
            <a:endParaRPr sz="4150"/>
          </a:p>
        </p:txBody>
      </p:sp>
      <p:sp>
        <p:nvSpPr>
          <p:cNvPr id="16" name="object 16"/>
          <p:cNvSpPr txBox="1"/>
          <p:nvPr/>
        </p:nvSpPr>
        <p:spPr>
          <a:xfrm>
            <a:off x="868267" y="1430880"/>
            <a:ext cx="1649730" cy="11455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 algn="ctr">
              <a:lnSpc>
                <a:spcPts val="1680"/>
              </a:lnSpc>
              <a:spcBef>
                <a:spcPts val="434"/>
              </a:spcBef>
            </a:pPr>
            <a:r>
              <a:rPr sz="1650" spc="180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1650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50" spc="80" dirty="0">
                <a:solidFill>
                  <a:srgbClr val="FFFFFF"/>
                </a:solidFill>
                <a:latin typeface="Cambria"/>
                <a:cs typeface="Cambria"/>
              </a:rPr>
              <a:t>you</a:t>
            </a:r>
            <a:r>
              <a:rPr sz="1650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50" spc="55" dirty="0">
                <a:solidFill>
                  <a:srgbClr val="FFFFFF"/>
                </a:solidFill>
                <a:latin typeface="Cambria"/>
                <a:cs typeface="Cambria"/>
              </a:rPr>
              <a:t>have</a:t>
            </a:r>
            <a:r>
              <a:rPr sz="1650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50" spc="65" dirty="0">
                <a:solidFill>
                  <a:srgbClr val="FFFFFF"/>
                </a:solidFill>
                <a:latin typeface="Cambria"/>
                <a:cs typeface="Cambria"/>
              </a:rPr>
              <a:t>any </a:t>
            </a:r>
            <a:r>
              <a:rPr sz="1650" spc="-3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50" spc="70" dirty="0">
                <a:solidFill>
                  <a:srgbClr val="FFFFFF"/>
                </a:solidFill>
                <a:latin typeface="Cambria"/>
                <a:cs typeface="Cambria"/>
              </a:rPr>
              <a:t>questions?</a:t>
            </a:r>
            <a:endParaRPr sz="1650">
              <a:latin typeface="Cambria"/>
              <a:cs typeface="Cambria"/>
            </a:endParaRPr>
          </a:p>
          <a:p>
            <a:pPr algn="ctr">
              <a:lnSpc>
                <a:spcPts val="1060"/>
              </a:lnSpc>
              <a:spcBef>
                <a:spcPts val="1025"/>
              </a:spcBef>
            </a:pPr>
            <a:r>
              <a:rPr sz="950" spc="40" dirty="0">
                <a:solidFill>
                  <a:srgbClr val="FFFFFF"/>
                </a:solidFill>
                <a:latin typeface="Trebuchet MS"/>
                <a:cs typeface="Trebuchet MS"/>
                <a:hlinkClick r:id="rId5"/>
              </a:rPr>
              <a:t>youremail@email.com</a:t>
            </a:r>
            <a:endParaRPr sz="950">
              <a:latin typeface="Trebuchet MS"/>
              <a:cs typeface="Trebuchet MS"/>
            </a:endParaRPr>
          </a:p>
          <a:p>
            <a:pPr marL="635" algn="ctr">
              <a:lnSpc>
                <a:spcPts val="985"/>
              </a:lnSpc>
            </a:pPr>
            <a:r>
              <a:rPr sz="950" spc="60" dirty="0">
                <a:solidFill>
                  <a:srgbClr val="FFFFFF"/>
                </a:solidFill>
                <a:latin typeface="Trebuchet MS"/>
                <a:cs typeface="Trebuchet MS"/>
              </a:rPr>
              <a:t>+91</a:t>
            </a:r>
            <a:r>
              <a:rPr sz="95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60" dirty="0">
                <a:solidFill>
                  <a:srgbClr val="FFFFFF"/>
                </a:solidFill>
                <a:latin typeface="Trebuchet MS"/>
                <a:cs typeface="Trebuchet MS"/>
              </a:rPr>
              <a:t>620</a:t>
            </a:r>
            <a:r>
              <a:rPr sz="95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60" dirty="0">
                <a:solidFill>
                  <a:srgbClr val="FFFFFF"/>
                </a:solidFill>
                <a:latin typeface="Trebuchet MS"/>
                <a:cs typeface="Trebuchet MS"/>
              </a:rPr>
              <a:t>421</a:t>
            </a:r>
            <a:r>
              <a:rPr sz="9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60" dirty="0">
                <a:solidFill>
                  <a:srgbClr val="FFFFFF"/>
                </a:solidFill>
                <a:latin typeface="Trebuchet MS"/>
                <a:cs typeface="Trebuchet MS"/>
              </a:rPr>
              <a:t>838</a:t>
            </a:r>
            <a:endParaRPr sz="950">
              <a:latin typeface="Trebuchet MS"/>
              <a:cs typeface="Trebuchet MS"/>
            </a:endParaRPr>
          </a:p>
          <a:p>
            <a:pPr marL="162560" marR="154305" algn="ctr">
              <a:lnSpc>
                <a:spcPts val="980"/>
              </a:lnSpc>
              <a:spcBef>
                <a:spcPts val="90"/>
              </a:spcBef>
            </a:pPr>
            <a:r>
              <a:rPr sz="950" spc="30" dirty="0">
                <a:solidFill>
                  <a:srgbClr val="FFFFFF"/>
                </a:solidFill>
                <a:latin typeface="Trebuchet MS"/>
                <a:cs typeface="Trebuchet MS"/>
                <a:hlinkClick r:id="rId6"/>
              </a:rPr>
              <a:t>www.yourwebsite.com </a:t>
            </a:r>
            <a:r>
              <a:rPr sz="950" spc="-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50" spc="65" dirty="0">
                <a:solidFill>
                  <a:srgbClr val="FFFFFF"/>
                </a:solidFill>
                <a:latin typeface="Trebuchet MS"/>
                <a:cs typeface="Trebuchet MS"/>
              </a:rPr>
              <a:t>@yourusername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32650" y="1385951"/>
            <a:ext cx="1927225" cy="30480"/>
          </a:xfrm>
          <a:custGeom>
            <a:avLst/>
            <a:gdLst/>
            <a:ahLst/>
            <a:cxnLst/>
            <a:rect l="l" t="t" r="r" b="b"/>
            <a:pathLst>
              <a:path w="1927225" h="30480">
                <a:moveTo>
                  <a:pt x="1927110" y="0"/>
                </a:moveTo>
                <a:lnTo>
                  <a:pt x="0" y="0"/>
                </a:lnTo>
                <a:lnTo>
                  <a:pt x="0" y="30441"/>
                </a:lnTo>
                <a:lnTo>
                  <a:pt x="1927110" y="30441"/>
                </a:lnTo>
                <a:lnTo>
                  <a:pt x="1927110" y="0"/>
                </a:lnTo>
                <a:close/>
              </a:path>
            </a:pathLst>
          </a:custGeom>
          <a:solidFill>
            <a:srgbClr val="6FB0D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561</TotalTime>
  <Words>332</Words>
  <Application>Microsoft Office PowerPoint</Application>
  <PresentationFormat>Custom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Cambria</vt:lpstr>
      <vt:lpstr>Trebuchet MS</vt:lpstr>
      <vt:lpstr>Office Theme</vt:lpstr>
      <vt:lpstr>PowerPoint Presentation</vt:lpstr>
      <vt:lpstr>Introduction</vt:lpstr>
      <vt:lpstr>National Environmental Factors</vt:lpstr>
      <vt:lpstr>Individual  Environmental Factors</vt:lpstr>
      <vt:lpstr>Business Dynamics</vt:lpstr>
      <vt:lpstr>Communication Challenges</vt:lpstr>
      <vt:lpstr>Opportunities for Growth</vt:lpstr>
      <vt:lpstr>Strategies for Effective Engagement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Syscom</cp:lastModifiedBy>
  <cp:revision>1</cp:revision>
  <dcterms:created xsi:type="dcterms:W3CDTF">2023-11-25T09:18:06Z</dcterms:created>
  <dcterms:modified xsi:type="dcterms:W3CDTF">2023-11-25T18:40:40Z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2023-11-25T00:00:00Z</vt:filetime>
  </property>
  <property fmtid="{D5CDD505-2E9C-101B-9397-08002B2CF9AE}" pid="3" name="LastSaved">
    <vt:filetime>2023-11-25T00:00:00Z</vt:filetime>
  </property>
</Properties>
</file>