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6" r:id="rId6"/>
    <p:sldId id="268" r:id="rId7"/>
    <p:sldId id="278" r:id="rId8"/>
    <p:sldId id="279" r:id="rId9"/>
    <p:sldId id="269" r:id="rId10"/>
    <p:sldId id="270" r:id="rId11"/>
    <p:sldId id="271" r:id="rId12"/>
    <p:sldId id="272" r:id="rId13"/>
    <p:sldId id="260" r:id="rId14"/>
    <p:sldId id="261" r:id="rId15"/>
    <p:sldId id="262" r:id="rId16"/>
    <p:sldId id="263" r:id="rId17"/>
    <p:sldId id="264" r:id="rId18"/>
    <p:sldId id="26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F982DB-345D-4CE7-83FA-3FB1AFB6C3F3}" type="datetimeFigureOut">
              <a:rPr lang="en-US" smtClean="0"/>
              <a:t>10/11/2023</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77F1EAD-A667-4F84-9CE0-5D86E81ACFC0}"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54857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982DB-345D-4CE7-83FA-3FB1AFB6C3F3}" type="datetimeFigureOut">
              <a:rPr lang="en-US" smtClean="0"/>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F1EAD-A667-4F84-9CE0-5D86E81ACFC0}"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07510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F982DB-345D-4CE7-83FA-3FB1AFB6C3F3}" type="datetimeFigureOut">
              <a:rPr lang="en-US" smtClean="0"/>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F1EAD-A667-4F84-9CE0-5D86E81ACFC0}"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74545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F982DB-345D-4CE7-83FA-3FB1AFB6C3F3}" type="datetimeFigureOut">
              <a:rPr lang="en-US" smtClean="0"/>
              <a:t>10/11/2023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F1EAD-A667-4F84-9CE0-5D86E81ACFC0}"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56998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F982DB-345D-4CE7-83FA-3FB1AFB6C3F3}" type="datetimeFigureOut">
              <a:rPr lang="en-US" smtClean="0"/>
              <a:t>10/11/2023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7F1EAD-A667-4F84-9CE0-5D86E81ACFC0}"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51636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F982DB-345D-4CE7-83FA-3FB1AFB6C3F3}" type="datetimeFigureOut">
              <a:rPr lang="en-US" smtClean="0"/>
              <a:t>10/11/2023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7F1EAD-A667-4F84-9CE0-5D86E81ACFC0}"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8972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F982DB-345D-4CE7-83FA-3FB1AFB6C3F3}" type="datetimeFigureOut">
              <a:rPr lang="en-US" smtClean="0"/>
              <a:t>10/11/2023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7F1EAD-A667-4F84-9CE0-5D86E81ACFC0}" type="slidenum">
              <a:rPr lang="en-US" smtClean="0"/>
              <a:t>‹#›</a:t>
            </a:fld>
            <a:endParaRPr lang="en-US"/>
          </a:p>
        </p:txBody>
      </p:sp>
    </p:spTree>
    <p:extLst>
      <p:ext uri="{BB962C8B-B14F-4D97-AF65-F5344CB8AC3E}">
        <p14:creationId xmlns:p14="http://schemas.microsoft.com/office/powerpoint/2010/main" val="1699837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F982DB-345D-4CE7-83FA-3FB1AFB6C3F3}" type="datetimeFigureOut">
              <a:rPr lang="en-US" smtClean="0"/>
              <a:t>10/11/2023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F1EAD-A667-4F84-9CE0-5D86E81ACFC0}"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44590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3F982DB-345D-4CE7-83FA-3FB1AFB6C3F3}" type="datetimeFigureOut">
              <a:rPr lang="en-US" smtClean="0"/>
              <a:t>10/11/2023</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77F1EAD-A667-4F84-9CE0-5D86E81ACFC0}"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48890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982DB-345D-4CE7-83FA-3FB1AFB6C3F3}" type="datetimeFigureOut">
              <a:rPr lang="en-US" smtClean="0"/>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F1EAD-A667-4F84-9CE0-5D86E81ACFC0}"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827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982DB-345D-4CE7-83FA-3FB1AFB6C3F3}" type="datetimeFigureOut">
              <a:rPr lang="en-US" smtClean="0"/>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F1EAD-A667-4F84-9CE0-5D86E81ACFC0}"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16567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3F982DB-345D-4CE7-83FA-3FB1AFB6C3F3}" type="datetimeFigureOut">
              <a:rPr lang="en-US" smtClean="0"/>
              <a:t>10/11/2023</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77F1EAD-A667-4F84-9CE0-5D86E81ACFC0}"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96122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E52C5-22DC-9606-BCA1-A2783E4E6292}"/>
              </a:ext>
            </a:extLst>
          </p:cNvPr>
          <p:cNvSpPr>
            <a:spLocks noGrp="1"/>
          </p:cNvSpPr>
          <p:nvPr>
            <p:ph type="ctrTitle"/>
          </p:nvPr>
        </p:nvSpPr>
        <p:spPr/>
        <p:txBody>
          <a:bodyPr/>
          <a:lstStyle/>
          <a:p>
            <a:r>
              <a:rPr lang="en-US" dirty="0"/>
              <a:t>Listening skills</a:t>
            </a:r>
          </a:p>
        </p:txBody>
      </p:sp>
      <p:sp>
        <p:nvSpPr>
          <p:cNvPr id="3" name="Subtitle 2">
            <a:extLst>
              <a:ext uri="{FF2B5EF4-FFF2-40B4-BE49-F238E27FC236}">
                <a16:creationId xmlns:a16="http://schemas.microsoft.com/office/drawing/2014/main" id="{1E4D059F-84FB-0168-C8BB-AF4422CF07F4}"/>
              </a:ext>
            </a:extLst>
          </p:cNvPr>
          <p:cNvSpPr>
            <a:spLocks noGrp="1"/>
          </p:cNvSpPr>
          <p:nvPr>
            <p:ph type="subTitle" idx="1"/>
          </p:nvPr>
        </p:nvSpPr>
        <p:spPr/>
        <p:txBody>
          <a:bodyPr/>
          <a:lstStyle/>
          <a:p>
            <a:r>
              <a:rPr lang="en-US" dirty="0"/>
              <a:t>			</a:t>
            </a:r>
          </a:p>
          <a:p>
            <a:r>
              <a:rPr lang="en-US" dirty="0"/>
              <a:t>			Course coordinator: Syeda Beena Bukhari</a:t>
            </a:r>
          </a:p>
        </p:txBody>
      </p:sp>
    </p:spTree>
    <p:extLst>
      <p:ext uri="{BB962C8B-B14F-4D97-AF65-F5344CB8AC3E}">
        <p14:creationId xmlns:p14="http://schemas.microsoft.com/office/powerpoint/2010/main" val="2714435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E4140-C88A-B073-B3A6-00A8D17C029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TOPICS TO COVER</a:t>
            </a:r>
          </a:p>
        </p:txBody>
      </p:sp>
      <p:sp>
        <p:nvSpPr>
          <p:cNvPr id="3" name="Content Placeholder 2">
            <a:extLst>
              <a:ext uri="{FF2B5EF4-FFF2-40B4-BE49-F238E27FC236}">
                <a16:creationId xmlns:a16="http://schemas.microsoft.com/office/drawing/2014/main" id="{91D7BD48-9F8E-EB65-9E73-FAE34365FAF3}"/>
              </a:ext>
            </a:extLst>
          </p:cNvPr>
          <p:cNvSpPr>
            <a:spLocks noGrp="1"/>
          </p:cNvSpPr>
          <p:nvPr>
            <p:ph idx="1"/>
          </p:nvPr>
        </p:nvSpPr>
        <p:spPr>
          <a:xfrm>
            <a:off x="1451579" y="1938129"/>
            <a:ext cx="9603275" cy="3965713"/>
          </a:xfrm>
        </p:spPr>
        <p:txBody>
          <a:bodyPr>
            <a:normAutofit/>
          </a:bodyPr>
          <a:lstStyle/>
          <a:p>
            <a:r>
              <a:rPr lang="en-US" sz="2200" b="0" i="0" u="none" strike="noStrike" baseline="0" dirty="0">
                <a:solidFill>
                  <a:srgbClr val="000000"/>
                </a:solidFill>
                <a:latin typeface="Calibri" panose="020F0502020204030204" pitchFamily="34" charset="0"/>
                <a:cs typeface="Calibri" panose="020F0502020204030204" pitchFamily="34" charset="0"/>
              </a:rPr>
              <a:t>What is Listening?</a:t>
            </a:r>
          </a:p>
          <a:p>
            <a:endParaRPr lang="en-US" sz="2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r>
              <a:rPr lang="en-US" sz="2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Equation between Listening and Effective Communication</a:t>
            </a:r>
            <a:endParaRPr lang="en-US" sz="2200" b="0" i="0" u="none" strike="noStrike" baseline="0" dirty="0">
              <a:solidFill>
                <a:srgbClr val="000000"/>
              </a:solidFill>
              <a:latin typeface="Calibri" panose="020F0502020204030204" pitchFamily="34" charset="0"/>
              <a:cs typeface="Calibri" panose="020F0502020204030204" pitchFamily="34" charset="0"/>
            </a:endParaRPr>
          </a:p>
          <a:p>
            <a:endParaRPr lang="en-US" sz="220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r>
              <a:rPr lang="en-US" sz="2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L</a:t>
            </a:r>
            <a:r>
              <a:rPr lang="en-US" sz="2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istening with Empathy</a:t>
            </a:r>
          </a:p>
          <a:p>
            <a:endParaRPr lang="en-US" sz="2200" b="0" i="0" u="none" strike="noStrike" baseline="0" dirty="0">
              <a:solidFill>
                <a:srgbClr val="000000"/>
              </a:solidFill>
              <a:latin typeface="Calibri" panose="020F0502020204030204" pitchFamily="34" charset="0"/>
              <a:cs typeface="Calibri" panose="020F0502020204030204" pitchFamily="34" charset="0"/>
            </a:endParaRPr>
          </a:p>
          <a:p>
            <a:r>
              <a:rPr lang="en-US" sz="2200" b="0" i="0" u="none" strike="noStrike" baseline="0" dirty="0">
                <a:solidFill>
                  <a:srgbClr val="000000"/>
                </a:solidFill>
                <a:latin typeface="Calibri" panose="020F0502020204030204" pitchFamily="34" charset="0"/>
                <a:cs typeface="Calibri" panose="020F0502020204030204" pitchFamily="34" charset="0"/>
              </a:rPr>
              <a:t>Levels of effective listening</a:t>
            </a:r>
          </a:p>
        </p:txBody>
      </p:sp>
    </p:spTree>
    <p:extLst>
      <p:ext uri="{BB962C8B-B14F-4D97-AF65-F5344CB8AC3E}">
        <p14:creationId xmlns:p14="http://schemas.microsoft.com/office/powerpoint/2010/main" val="4113131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CCED4-C8B1-9622-4659-3C7FA3A8C117}"/>
              </a:ext>
            </a:extLst>
          </p:cNvPr>
          <p:cNvSpPr>
            <a:spLocks noGrp="1"/>
          </p:cNvSpPr>
          <p:nvPr>
            <p:ph type="title"/>
          </p:nvPr>
        </p:nvSpPr>
        <p:spPr/>
        <p:txBody>
          <a:bodyPr>
            <a:normAutofit/>
          </a:bodyPr>
          <a:lstStyle/>
          <a:p>
            <a:r>
              <a:rPr lang="en-US" b="1" i="0" u="none" strike="noStrike" baseline="0" dirty="0">
                <a:latin typeface="Times New Roman" panose="02020603050405020304" pitchFamily="18" charset="0"/>
              </a:rPr>
              <a:t>What Is Listening?</a:t>
            </a:r>
            <a:endParaRPr lang="en-US" dirty="0"/>
          </a:p>
        </p:txBody>
      </p:sp>
      <p:sp>
        <p:nvSpPr>
          <p:cNvPr id="3" name="Content Placeholder 2">
            <a:extLst>
              <a:ext uri="{FF2B5EF4-FFF2-40B4-BE49-F238E27FC236}">
                <a16:creationId xmlns:a16="http://schemas.microsoft.com/office/drawing/2014/main" id="{3F052051-E19C-E4A7-7CDF-D7AFE82A9CF8}"/>
              </a:ext>
            </a:extLst>
          </p:cNvPr>
          <p:cNvSpPr>
            <a:spLocks noGrp="1"/>
          </p:cNvSpPr>
          <p:nvPr>
            <p:ph idx="1"/>
          </p:nvPr>
        </p:nvSpPr>
        <p:spPr>
          <a:xfrm>
            <a:off x="1451579" y="2015732"/>
            <a:ext cx="9603275" cy="4037749"/>
          </a:xfrm>
        </p:spPr>
        <p:txBody>
          <a:bodyPr>
            <a:normAutofit lnSpcReduction="10000"/>
          </a:bodyPr>
          <a:lstStyle/>
          <a:p>
            <a:r>
              <a:rPr lang="en-US" sz="2400" dirty="0">
                <a:solidFill>
                  <a:srgbClr val="000000"/>
                </a:solidFill>
                <a:latin typeface="Arial" panose="020B0604020202020204" pitchFamily="34" charset="0"/>
              </a:rPr>
              <a:t>T</a:t>
            </a:r>
            <a:r>
              <a:rPr lang="en-US" sz="2400" b="0" i="0" u="none" strike="noStrike" baseline="0" dirty="0">
                <a:solidFill>
                  <a:srgbClr val="000000"/>
                </a:solidFill>
                <a:latin typeface="Arial" panose="020B0604020202020204" pitchFamily="34" charset="0"/>
              </a:rPr>
              <a:t>he ability to </a:t>
            </a:r>
            <a:r>
              <a:rPr lang="en-US" sz="2400" b="1" i="0" u="none" strike="noStrike" baseline="0" dirty="0">
                <a:solidFill>
                  <a:srgbClr val="000000"/>
                </a:solidFill>
                <a:latin typeface="Arial" panose="020B0604020202020204" pitchFamily="34" charset="0"/>
              </a:rPr>
              <a:t>accurately receive and interpret messages </a:t>
            </a:r>
            <a:r>
              <a:rPr lang="en-US" sz="2400" b="0" i="0" u="none" strike="noStrike" baseline="0" dirty="0">
                <a:solidFill>
                  <a:srgbClr val="000000"/>
                </a:solidFill>
                <a:latin typeface="Arial" panose="020B0604020202020204" pitchFamily="34" charset="0"/>
              </a:rPr>
              <a:t>in the communication process</a:t>
            </a:r>
          </a:p>
          <a:p>
            <a:endParaRPr lang="en-US" sz="2400" b="0" i="0" u="none" strike="noStrike" baseline="0" dirty="0">
              <a:solidFill>
                <a:srgbClr val="000000"/>
              </a:solidFill>
              <a:latin typeface="Arial" panose="020B0604020202020204" pitchFamily="34" charset="0"/>
            </a:endParaRPr>
          </a:p>
          <a:p>
            <a:r>
              <a:rPr lang="en-US" sz="2400" b="0" i="0" u="none" strike="noStrike" baseline="0" dirty="0">
                <a:solidFill>
                  <a:srgbClr val="000000"/>
                </a:solidFill>
                <a:latin typeface="Arial" panose="020B0604020202020204" pitchFamily="34" charset="0"/>
              </a:rPr>
              <a:t>Without the ability to listen effectively, </a:t>
            </a:r>
            <a:r>
              <a:rPr lang="en-US" sz="2400" b="1" i="0" u="none" strike="noStrike" baseline="0" dirty="0">
                <a:solidFill>
                  <a:srgbClr val="000000"/>
                </a:solidFill>
                <a:latin typeface="Arial" panose="020B0604020202020204" pitchFamily="34" charset="0"/>
              </a:rPr>
              <a:t>messages are easily misunderstood</a:t>
            </a:r>
            <a:endParaRPr lang="en-US" sz="2400" b="0" i="0" u="none" strike="noStrike" baseline="0" dirty="0">
              <a:solidFill>
                <a:srgbClr val="000000"/>
              </a:solidFill>
              <a:latin typeface="Arial" panose="020B0604020202020204" pitchFamily="34" charset="0"/>
            </a:endParaRPr>
          </a:p>
          <a:p>
            <a:endParaRPr lang="en-US" sz="2400" b="0" i="0" u="none" strike="noStrike" baseline="0" dirty="0">
              <a:latin typeface="Arial" panose="020B0604020202020204" pitchFamily="34" charset="0"/>
            </a:endParaRPr>
          </a:p>
          <a:p>
            <a:r>
              <a:rPr lang="en-US" sz="2400" b="0" i="0" u="none" strike="noStrike" baseline="0" dirty="0">
                <a:latin typeface="Arial" panose="020B0604020202020204" pitchFamily="34" charset="0"/>
              </a:rPr>
              <a:t>Listening is the process of </a:t>
            </a:r>
            <a:r>
              <a:rPr lang="en-US" sz="2400" b="1" i="0" u="none" strike="noStrike" baseline="0" dirty="0">
                <a:latin typeface="Arial" panose="020B0604020202020204" pitchFamily="34" charset="0"/>
              </a:rPr>
              <a:t>receiving, constructing meaning from, and responding to spoken</a:t>
            </a:r>
          </a:p>
          <a:p>
            <a:endParaRPr lang="en-US" sz="2400" dirty="0"/>
          </a:p>
        </p:txBody>
      </p:sp>
    </p:spTree>
    <p:extLst>
      <p:ext uri="{BB962C8B-B14F-4D97-AF65-F5344CB8AC3E}">
        <p14:creationId xmlns:p14="http://schemas.microsoft.com/office/powerpoint/2010/main" val="488288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94B61-6ED0-C7B6-C650-ABFBA1FAE98A}"/>
              </a:ext>
            </a:extLst>
          </p:cNvPr>
          <p:cNvSpPr>
            <a:spLocks noGrp="1"/>
          </p:cNvSpPr>
          <p:nvPr>
            <p:ph type="title"/>
          </p:nvPr>
        </p:nvSpPr>
        <p:spPr/>
        <p:txBody>
          <a:bodyPr>
            <a:normAutofit/>
          </a:bodyPr>
          <a:lstStyle/>
          <a:p>
            <a:r>
              <a:rPr lang="en-US" b="1" i="0" u="none" strike="noStrike" baseline="0" dirty="0">
                <a:latin typeface="Times New Roman" panose="02020603050405020304" pitchFamily="18" charset="0"/>
              </a:rPr>
              <a:t>What is Listening?</a:t>
            </a:r>
            <a:endParaRPr lang="en-US" dirty="0"/>
          </a:p>
        </p:txBody>
      </p:sp>
      <p:sp>
        <p:nvSpPr>
          <p:cNvPr id="3" name="Content Placeholder 2">
            <a:extLst>
              <a:ext uri="{FF2B5EF4-FFF2-40B4-BE49-F238E27FC236}">
                <a16:creationId xmlns:a16="http://schemas.microsoft.com/office/drawing/2014/main" id="{1F832750-7548-557E-CA48-B39FA5F5FF39}"/>
              </a:ext>
            </a:extLst>
          </p:cNvPr>
          <p:cNvSpPr>
            <a:spLocks noGrp="1"/>
          </p:cNvSpPr>
          <p:nvPr>
            <p:ph idx="1"/>
          </p:nvPr>
        </p:nvSpPr>
        <p:spPr>
          <a:xfrm>
            <a:off x="1451579" y="2015732"/>
            <a:ext cx="9603275" cy="3907990"/>
          </a:xfrm>
        </p:spPr>
        <p:txBody>
          <a:bodyPr>
            <a:noAutofit/>
          </a:bodyPr>
          <a:lstStyle/>
          <a:p>
            <a:r>
              <a:rPr lang="en-US" sz="2400" b="0" i="0" u="none" strike="noStrike" baseline="0" dirty="0">
                <a:solidFill>
                  <a:srgbClr val="000000"/>
                </a:solidFill>
                <a:latin typeface="Arial" panose="020B0604020202020204" pitchFamily="34" charset="0"/>
                <a:cs typeface="Arial" panose="020B0604020202020204" pitchFamily="34" charset="0"/>
              </a:rPr>
              <a:t>Listening is </a:t>
            </a:r>
            <a:r>
              <a:rPr lang="en-US" sz="2400" b="1" i="0" u="none" strike="noStrike" baseline="0" dirty="0">
                <a:solidFill>
                  <a:srgbClr val="000000"/>
                </a:solidFill>
                <a:latin typeface="Arial" panose="020B0604020202020204" pitchFamily="34" charset="0"/>
                <a:cs typeface="Arial" panose="020B0604020202020204" pitchFamily="34" charset="0"/>
              </a:rPr>
              <a:t>not just about being quiet </a:t>
            </a:r>
            <a:r>
              <a:rPr lang="en-US" sz="2400" b="0" i="0" u="none" strike="noStrike" baseline="0" dirty="0">
                <a:solidFill>
                  <a:srgbClr val="000000"/>
                </a:solidFill>
                <a:latin typeface="Arial" panose="020B0604020202020204" pitchFamily="34" charset="0"/>
                <a:cs typeface="Arial" panose="020B0604020202020204" pitchFamily="34" charset="0"/>
              </a:rPr>
              <a:t>while someone else is speaking.</a:t>
            </a:r>
          </a:p>
          <a:p>
            <a:endParaRPr lang="en-US" sz="2400" b="0" i="0" u="none" strike="noStrike" baseline="0" dirty="0">
              <a:solidFill>
                <a:srgbClr val="000000"/>
              </a:solidFill>
              <a:latin typeface="Arial" panose="020B0604020202020204" pitchFamily="34" charset="0"/>
              <a:cs typeface="Arial" panose="020B0604020202020204" pitchFamily="34" charset="0"/>
            </a:endParaRPr>
          </a:p>
          <a:p>
            <a:r>
              <a:rPr lang="en-US" sz="2400" b="0" i="0" u="none" strike="noStrike" baseline="0" dirty="0">
                <a:solidFill>
                  <a:srgbClr val="000000"/>
                </a:solidFill>
                <a:latin typeface="Arial" panose="020B0604020202020204" pitchFamily="34" charset="0"/>
                <a:cs typeface="Arial" panose="020B0604020202020204" pitchFamily="34" charset="0"/>
              </a:rPr>
              <a:t>It is </a:t>
            </a:r>
            <a:r>
              <a:rPr lang="en-US" sz="2400" b="1" i="0" u="none" strike="noStrike" baseline="0" dirty="0">
                <a:solidFill>
                  <a:srgbClr val="000000"/>
                </a:solidFill>
                <a:latin typeface="Arial" panose="020B0604020202020204" pitchFamily="34" charset="0"/>
                <a:cs typeface="Arial" panose="020B0604020202020204" pitchFamily="34" charset="0"/>
              </a:rPr>
              <a:t>conscious</a:t>
            </a:r>
            <a:r>
              <a:rPr lang="en-US" sz="2400" b="0" i="0" u="none" strike="noStrike" baseline="0" dirty="0">
                <a:solidFill>
                  <a:srgbClr val="000000"/>
                </a:solidFill>
                <a:latin typeface="Arial" panose="020B0604020202020204" pitchFamily="34" charset="0"/>
                <a:cs typeface="Arial" panose="020B0604020202020204" pitchFamily="34" charset="0"/>
              </a:rPr>
              <a:t>.</a:t>
            </a:r>
          </a:p>
          <a:p>
            <a:endParaRPr lang="en-US" sz="2400" b="0" i="0" u="none" strike="noStrike" baseline="0" dirty="0">
              <a:latin typeface="Arial" panose="020B0604020202020204" pitchFamily="34" charset="0"/>
              <a:cs typeface="Arial" panose="020B0604020202020204" pitchFamily="34" charset="0"/>
            </a:endParaRPr>
          </a:p>
          <a:p>
            <a:r>
              <a:rPr lang="en-US" sz="2400" b="0" i="0" u="none" strike="noStrike" baseline="0" dirty="0">
                <a:latin typeface="Arial" panose="020B0604020202020204" pitchFamily="34" charset="0"/>
                <a:cs typeface="Arial" panose="020B0604020202020204" pitchFamily="34" charset="0"/>
              </a:rPr>
              <a:t>Just listening to words is not enough; a good listener has to pay </a:t>
            </a:r>
            <a:r>
              <a:rPr lang="en-US" sz="2400" b="1" i="0" u="none" strike="noStrike" baseline="0" dirty="0">
                <a:latin typeface="Arial" panose="020B0604020202020204" pitchFamily="34" charset="0"/>
                <a:cs typeface="Arial" panose="020B0604020202020204" pitchFamily="34" charset="0"/>
              </a:rPr>
              <a:t>attention to the non-verbal communication</a:t>
            </a:r>
            <a:r>
              <a:rPr lang="en-US" sz="2400" b="0" i="0" u="none" strike="noStrike" baseline="0" dirty="0">
                <a:latin typeface="Arial" panose="020B0604020202020204" pitchFamily="34" charset="0"/>
                <a:cs typeface="Arial" panose="020B0604020202020204" pitchFamily="34" charset="0"/>
              </a:rPr>
              <a:t> of the speaker.</a:t>
            </a:r>
          </a:p>
        </p:txBody>
      </p:sp>
    </p:spTree>
    <p:extLst>
      <p:ext uri="{BB962C8B-B14F-4D97-AF65-F5344CB8AC3E}">
        <p14:creationId xmlns:p14="http://schemas.microsoft.com/office/powerpoint/2010/main" val="3998196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0FE01-DF38-943A-0E16-6740C332A279}"/>
              </a:ext>
            </a:extLst>
          </p:cNvPr>
          <p:cNvSpPr>
            <a:spLocks noGrp="1"/>
          </p:cNvSpPr>
          <p:nvPr>
            <p:ph type="title"/>
          </p:nvPr>
        </p:nvSpPr>
        <p:spPr/>
        <p:txBody>
          <a:bodyPr>
            <a:normAutofit/>
          </a:bodyPr>
          <a:lstStyle/>
          <a:p>
            <a:r>
              <a:rPr lang="en-US" b="1" i="0" u="none" strike="noStrike" baseline="0" dirty="0">
                <a:latin typeface="Times New Roman" panose="02020603050405020304" pitchFamily="18" charset="0"/>
                <a:cs typeface="Times New Roman" panose="02020603050405020304" pitchFamily="18" charset="0"/>
              </a:rPr>
              <a:t>THE equation between communication &amp; Effective Listening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224B2C3-EB7F-3761-8D96-4F3ACB782E1E}"/>
              </a:ext>
            </a:extLst>
          </p:cNvPr>
          <p:cNvSpPr>
            <a:spLocks noGrp="1"/>
          </p:cNvSpPr>
          <p:nvPr>
            <p:ph idx="1"/>
          </p:nvPr>
        </p:nvSpPr>
        <p:spPr>
          <a:xfrm>
            <a:off x="1451579" y="2305878"/>
            <a:ext cx="9603275" cy="3677479"/>
          </a:xfrm>
        </p:spPr>
        <p:txBody>
          <a:bodyPr>
            <a:noAutofit/>
          </a:bodyPr>
          <a:lstStyle/>
          <a:p>
            <a:r>
              <a:rPr lang="en-US" sz="2400" dirty="0">
                <a:solidFill>
                  <a:srgbClr val="000000"/>
                </a:solidFill>
                <a:latin typeface="Calibri" panose="020F0502020204030204" pitchFamily="34" charset="0"/>
                <a:cs typeface="Calibri" panose="020F0502020204030204" pitchFamily="34" charset="0"/>
              </a:rPr>
              <a:t>To s</a:t>
            </a:r>
            <a:r>
              <a:rPr lang="en-US" sz="2400" b="0" i="0" u="none" strike="noStrike" baseline="0" dirty="0">
                <a:solidFill>
                  <a:srgbClr val="000000"/>
                </a:solidFill>
                <a:latin typeface="Calibri" panose="020F0502020204030204" pitchFamily="34" charset="0"/>
                <a:cs typeface="Calibri" panose="020F0502020204030204" pitchFamily="34" charset="0"/>
              </a:rPr>
              <a:t>how that we are </a:t>
            </a:r>
            <a:r>
              <a:rPr lang="en-US" sz="2400" b="1" i="0" u="none" strike="noStrike" baseline="0" dirty="0">
                <a:solidFill>
                  <a:srgbClr val="000000"/>
                </a:solidFill>
                <a:latin typeface="Calibri" panose="020F0502020204030204" pitchFamily="34" charset="0"/>
                <a:cs typeface="Calibri" panose="020F0502020204030204" pitchFamily="34" charset="0"/>
              </a:rPr>
              <a:t>serious</a:t>
            </a:r>
          </a:p>
          <a:p>
            <a:r>
              <a:rPr lang="en-US" sz="2400" dirty="0">
                <a:solidFill>
                  <a:srgbClr val="000000"/>
                </a:solidFill>
                <a:latin typeface="Calibri" panose="020F0502020204030204" pitchFamily="34" charset="0"/>
                <a:cs typeface="Calibri" panose="020F0502020204030204" pitchFamily="34" charset="0"/>
              </a:rPr>
              <a:t>To</a:t>
            </a:r>
            <a:r>
              <a:rPr lang="en-US" sz="2400" b="0" i="0" u="none" strike="noStrike" baseline="0" dirty="0">
                <a:solidFill>
                  <a:srgbClr val="000000"/>
                </a:solidFill>
                <a:latin typeface="Calibri" panose="020F0502020204030204" pitchFamily="34" charset="0"/>
                <a:cs typeface="Calibri" panose="020F0502020204030204" pitchFamily="34" charset="0"/>
              </a:rPr>
              <a:t> </a:t>
            </a:r>
            <a:r>
              <a:rPr lang="en-US" sz="2400" b="1" i="0" u="none" strike="noStrike" baseline="0" dirty="0">
                <a:solidFill>
                  <a:srgbClr val="000000"/>
                </a:solidFill>
                <a:latin typeface="Calibri" panose="020F0502020204030204" pitchFamily="34" charset="0"/>
                <a:cs typeface="Calibri" panose="020F0502020204030204" pitchFamily="34" charset="0"/>
              </a:rPr>
              <a:t>display respect </a:t>
            </a:r>
            <a:r>
              <a:rPr lang="en-US" sz="2400" b="0" i="0" u="none" strike="noStrike" baseline="0" dirty="0">
                <a:solidFill>
                  <a:srgbClr val="000000"/>
                </a:solidFill>
                <a:latin typeface="Calibri" panose="020F0502020204030204" pitchFamily="34" charset="0"/>
                <a:cs typeface="Calibri" panose="020F0502020204030204" pitchFamily="34" charset="0"/>
              </a:rPr>
              <a:t>to other’s view point</a:t>
            </a:r>
          </a:p>
          <a:p>
            <a:r>
              <a:rPr lang="en-US" sz="2400" b="0" i="0" u="none" strike="noStrike" baseline="0" dirty="0">
                <a:solidFill>
                  <a:srgbClr val="000000"/>
                </a:solidFill>
                <a:latin typeface="Calibri" panose="020F0502020204030204" pitchFamily="34" charset="0"/>
                <a:cs typeface="Calibri" panose="020F0502020204030204" pitchFamily="34" charset="0"/>
              </a:rPr>
              <a:t>Helps us to </a:t>
            </a:r>
            <a:r>
              <a:rPr lang="en-US" sz="2400" b="1" i="0" u="none" strike="noStrike" baseline="0" dirty="0">
                <a:solidFill>
                  <a:srgbClr val="000000"/>
                </a:solidFill>
                <a:latin typeface="Calibri" panose="020F0502020204030204" pitchFamily="34" charset="0"/>
                <a:cs typeface="Calibri" panose="020F0502020204030204" pitchFamily="34" charset="0"/>
              </a:rPr>
              <a:t>learn,</a:t>
            </a:r>
            <a:r>
              <a:rPr lang="en-US" sz="2400" b="0" i="0" u="none" strike="noStrike" baseline="0" dirty="0">
                <a:solidFill>
                  <a:srgbClr val="000000"/>
                </a:solidFill>
                <a:latin typeface="Calibri" panose="020F0502020204030204" pitchFamily="34" charset="0"/>
                <a:cs typeface="Calibri" panose="020F0502020204030204" pitchFamily="34" charset="0"/>
              </a:rPr>
              <a:t> </a:t>
            </a:r>
            <a:r>
              <a:rPr lang="en-US" sz="2400" b="1" i="0" u="none" strike="noStrike" baseline="0" dirty="0">
                <a:solidFill>
                  <a:srgbClr val="000000"/>
                </a:solidFill>
                <a:latin typeface="Calibri" panose="020F0502020204030204" pitchFamily="34" charset="0"/>
                <a:cs typeface="Calibri" panose="020F0502020204030204" pitchFamily="34" charset="0"/>
              </a:rPr>
              <a:t>adapt and understand </a:t>
            </a:r>
            <a:r>
              <a:rPr lang="en-US" sz="2400" i="0" u="none" strike="noStrike" baseline="0" dirty="0">
                <a:solidFill>
                  <a:srgbClr val="000000"/>
                </a:solidFill>
                <a:latin typeface="Calibri" panose="020F0502020204030204" pitchFamily="34" charset="0"/>
                <a:cs typeface="Calibri" panose="020F0502020204030204" pitchFamily="34" charset="0"/>
              </a:rPr>
              <a:t>and </a:t>
            </a:r>
            <a:r>
              <a:rPr lang="en-US" sz="2400" b="1" i="0" u="none" strike="noStrike" baseline="0" dirty="0">
                <a:solidFill>
                  <a:srgbClr val="000000"/>
                </a:solidFill>
                <a:latin typeface="Calibri" panose="020F0502020204030204" pitchFamily="34" charset="0"/>
                <a:cs typeface="Calibri" panose="020F0502020204030204" pitchFamily="34" charset="0"/>
              </a:rPr>
              <a:t>avoid communication errors</a:t>
            </a:r>
          </a:p>
          <a:p>
            <a:r>
              <a:rPr lang="en-US" sz="2400" b="1" i="0" u="none" strike="noStrike" baseline="0" dirty="0">
                <a:solidFill>
                  <a:srgbClr val="000000"/>
                </a:solidFill>
                <a:latin typeface="Calibri" panose="020F0502020204030204" pitchFamily="34" charset="0"/>
                <a:cs typeface="Calibri" panose="020F0502020204030204" pitchFamily="34" charset="0"/>
              </a:rPr>
              <a:t>Empathize</a:t>
            </a:r>
            <a:endParaRPr lang="en-US" sz="2400" b="0" i="0" u="none" strike="noStrike" baseline="0"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6172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909FA-24D3-7FA7-49D9-B071C634202C}"/>
              </a:ext>
            </a:extLst>
          </p:cNvPr>
          <p:cNvSpPr>
            <a:spLocks noGrp="1"/>
          </p:cNvSpPr>
          <p:nvPr>
            <p:ph type="title"/>
          </p:nvPr>
        </p:nvSpPr>
        <p:spPr/>
        <p:txBody>
          <a:bodyPr>
            <a:normAutofit/>
          </a:bodyPr>
          <a:lstStyle/>
          <a:p>
            <a:r>
              <a:rPr lang="en-US" b="1" i="0" u="none" strike="noStrike" baseline="0" dirty="0">
                <a:latin typeface="Times New Roman" panose="02020603050405020304" pitchFamily="18" charset="0"/>
                <a:cs typeface="Times New Roman" panose="02020603050405020304" pitchFamily="18" charset="0"/>
              </a:rPr>
              <a:t>WHAT is Empathic listening</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C6D40A-727B-8378-8F08-637275849B57}"/>
              </a:ext>
            </a:extLst>
          </p:cNvPr>
          <p:cNvSpPr>
            <a:spLocks noGrp="1"/>
          </p:cNvSpPr>
          <p:nvPr>
            <p:ph idx="1"/>
          </p:nvPr>
        </p:nvSpPr>
        <p:spPr>
          <a:xfrm>
            <a:off x="1451578" y="2166731"/>
            <a:ext cx="9603275" cy="3428999"/>
          </a:xfrm>
        </p:spPr>
        <p:txBody>
          <a:bodyPr>
            <a:normAutofit/>
          </a:bodyPr>
          <a:lstStyle/>
          <a:p>
            <a:r>
              <a:rPr lang="en-US" sz="2400" dirty="0">
                <a:latin typeface="Calibri" panose="020F0502020204030204" pitchFamily="34" charset="0"/>
                <a:cs typeface="Calibri" panose="020F0502020204030204" pitchFamily="34" charset="0"/>
              </a:rPr>
              <a:t>A </a:t>
            </a:r>
            <a:r>
              <a:rPr lang="en-US" sz="2400" b="1" i="0" dirty="0">
                <a:effectLst/>
                <a:latin typeface="Calibri" panose="020F0502020204030204" pitchFamily="34" charset="0"/>
                <a:cs typeface="Calibri" panose="020F0502020204030204" pitchFamily="34" charset="0"/>
              </a:rPr>
              <a:t>structured listening and questioning technique</a:t>
            </a:r>
            <a:r>
              <a:rPr lang="en-US" sz="2400" b="0" i="0" dirty="0">
                <a:effectLst/>
                <a:latin typeface="Calibri" panose="020F0502020204030204" pitchFamily="34" charset="0"/>
                <a:cs typeface="Calibri" panose="020F0502020204030204" pitchFamily="34" charset="0"/>
              </a:rPr>
              <a:t> that allows to </a:t>
            </a:r>
            <a:r>
              <a:rPr lang="en-US" sz="2400" b="1" i="0" dirty="0">
                <a:effectLst/>
                <a:latin typeface="Calibri" panose="020F0502020204030204" pitchFamily="34" charset="0"/>
                <a:cs typeface="Calibri" panose="020F0502020204030204" pitchFamily="34" charset="0"/>
              </a:rPr>
              <a:t>develop and enhance relationships</a:t>
            </a:r>
            <a:r>
              <a:rPr lang="en-US" sz="2400" b="0" i="0" dirty="0">
                <a:effectLst/>
                <a:latin typeface="Calibri" panose="020F0502020204030204" pitchFamily="34" charset="0"/>
                <a:cs typeface="Calibri" panose="020F0502020204030204" pitchFamily="34" charset="0"/>
              </a:rPr>
              <a:t> with a stronger understanding of what is being conveyed, both intellectually and emotionally</a:t>
            </a:r>
          </a:p>
          <a:p>
            <a:endParaRPr lang="en-US" sz="2400" b="0" i="0" dirty="0">
              <a:effectLst/>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H</a:t>
            </a:r>
            <a:r>
              <a:rPr lang="en-US" sz="2400" b="0" i="0" dirty="0">
                <a:effectLst/>
                <a:latin typeface="Calibri" panose="020F0502020204030204" pitchFamily="34" charset="0"/>
                <a:cs typeface="Calibri" panose="020F0502020204030204" pitchFamily="34" charset="0"/>
              </a:rPr>
              <a:t>elps to </a:t>
            </a:r>
            <a:r>
              <a:rPr lang="en-US" sz="2400" b="1" i="0" dirty="0">
                <a:effectLst/>
                <a:latin typeface="Calibri" panose="020F0502020204030204" pitchFamily="34" charset="0"/>
                <a:cs typeface="Calibri" panose="020F0502020204030204" pitchFamily="34" charset="0"/>
              </a:rPr>
              <a:t>win the trust of team members</a:t>
            </a:r>
            <a:r>
              <a:rPr lang="en-US" sz="2400" b="0" i="0" dirty="0">
                <a:effectLst/>
                <a:latin typeface="Calibri" panose="020F0502020204030204" pitchFamily="34" charset="0"/>
                <a:cs typeface="Calibri" panose="020F0502020204030204" pitchFamily="34" charset="0"/>
              </a:rPr>
              <a:t>, and </a:t>
            </a:r>
            <a:r>
              <a:rPr lang="en-US" sz="2400" b="1" i="0" dirty="0">
                <a:effectLst/>
                <a:latin typeface="Calibri" panose="020F0502020204030204" pitchFamily="34" charset="0"/>
                <a:cs typeface="Calibri" panose="020F0502020204030204" pitchFamily="34" charset="0"/>
              </a:rPr>
              <a:t>addresses the root cause of workplace problems</a:t>
            </a:r>
            <a:endParaRPr lang="en-US" sz="2400" b="1" i="0" u="none" strike="noStrike" baseline="0"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0154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5DD39-DF01-9593-4D6B-7EA47C32DCFA}"/>
              </a:ext>
            </a:extLst>
          </p:cNvPr>
          <p:cNvSpPr>
            <a:spLocks noGrp="1"/>
          </p:cNvSpPr>
          <p:nvPr>
            <p:ph type="title"/>
          </p:nvPr>
        </p:nvSpPr>
        <p:spPr/>
        <p:txBody>
          <a:bodyPr>
            <a:noAutofit/>
          </a:bodyPr>
          <a:lstStyle/>
          <a:p>
            <a:pPr algn="l"/>
            <a:r>
              <a:rPr lang="en-US" b="1" i="0" dirty="0">
                <a:effectLst/>
                <a:latin typeface="Times New Roman" panose="02020603050405020304" pitchFamily="18" charset="0"/>
                <a:cs typeface="Times New Roman" panose="02020603050405020304" pitchFamily="18" charset="0"/>
              </a:rPr>
              <a:t>HOW </a:t>
            </a:r>
            <a:r>
              <a:rPr lang="en-US" b="1" dirty="0">
                <a:latin typeface="Times New Roman" panose="02020603050405020304" pitchFamily="18" charset="0"/>
                <a:cs typeface="Times New Roman" panose="02020603050405020304" pitchFamily="18" charset="0"/>
              </a:rPr>
              <a:t>TO USE </a:t>
            </a:r>
            <a:r>
              <a:rPr lang="en-US" b="1" i="0" dirty="0">
                <a:effectLst/>
                <a:latin typeface="Times New Roman" panose="02020603050405020304" pitchFamily="18" charset="0"/>
                <a:cs typeface="Times New Roman" panose="02020603050405020304" pitchFamily="18" charset="0"/>
              </a:rPr>
              <a:t>Empathic Listening Skills?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CA46B9-8C65-907D-43AF-CABF8DF8F795}"/>
              </a:ext>
            </a:extLst>
          </p:cNvPr>
          <p:cNvSpPr>
            <a:spLocks noGrp="1"/>
          </p:cNvSpPr>
          <p:nvPr>
            <p:ph idx="1"/>
          </p:nvPr>
        </p:nvSpPr>
        <p:spPr>
          <a:xfrm>
            <a:off x="1451579" y="2015732"/>
            <a:ext cx="9603275" cy="4037749"/>
          </a:xfrm>
        </p:spPr>
        <p:txBody>
          <a:bodyPr>
            <a:normAutofit lnSpcReduction="10000"/>
          </a:bodyPr>
          <a:lstStyle/>
          <a:p>
            <a:pPr algn="l"/>
            <a:r>
              <a:rPr lang="en-US" sz="2200" b="1" i="0" dirty="0">
                <a:effectLst/>
                <a:latin typeface="Calibri" panose="020F0502020204030204" pitchFamily="34" charset="0"/>
                <a:cs typeface="Calibri" panose="020F0502020204030204" pitchFamily="34" charset="0"/>
              </a:rPr>
              <a:t>Listen patiently </a:t>
            </a:r>
            <a:r>
              <a:rPr lang="en-US" sz="2200" b="0" i="0" dirty="0">
                <a:effectLst/>
                <a:latin typeface="Calibri" panose="020F0502020204030204" pitchFamily="34" charset="0"/>
                <a:cs typeface="Calibri" panose="020F0502020204030204" pitchFamily="34" charset="0"/>
              </a:rPr>
              <a:t>to what the other person has to say, </a:t>
            </a:r>
            <a:r>
              <a:rPr lang="en-US" sz="2200" b="1" i="0" dirty="0">
                <a:effectLst/>
                <a:latin typeface="Calibri" panose="020F0502020204030204" pitchFamily="34" charset="0"/>
                <a:cs typeface="Calibri" panose="020F0502020204030204" pitchFamily="34" charset="0"/>
              </a:rPr>
              <a:t>even if you do not agree </a:t>
            </a:r>
            <a:r>
              <a:rPr lang="en-US" sz="2200" b="0" i="0" dirty="0">
                <a:effectLst/>
                <a:latin typeface="Calibri" panose="020F0502020204030204" pitchFamily="34" charset="0"/>
                <a:cs typeface="Calibri" panose="020F0502020204030204" pitchFamily="34" charset="0"/>
              </a:rPr>
              <a:t>with it. </a:t>
            </a:r>
          </a:p>
          <a:p>
            <a:pPr algn="l"/>
            <a:endParaRPr lang="en-US" sz="2200" b="0" i="0" dirty="0">
              <a:effectLst/>
              <a:latin typeface="Calibri" panose="020F0502020204030204" pitchFamily="34" charset="0"/>
              <a:cs typeface="Calibri" panose="020F0502020204030204" pitchFamily="34" charset="0"/>
            </a:endParaRPr>
          </a:p>
          <a:p>
            <a:pPr algn="l"/>
            <a:r>
              <a:rPr lang="en-US" sz="2200" b="0" i="0" dirty="0">
                <a:effectLst/>
                <a:latin typeface="Calibri" panose="020F0502020204030204" pitchFamily="34" charset="0"/>
                <a:cs typeface="Calibri" panose="020F0502020204030204" pitchFamily="34" charset="0"/>
              </a:rPr>
              <a:t>It is important to </a:t>
            </a:r>
            <a:r>
              <a:rPr lang="en-US" sz="2200" b="1" i="0" dirty="0">
                <a:effectLst/>
                <a:latin typeface="Calibri" panose="020F0502020204030204" pitchFamily="34" charset="0"/>
                <a:cs typeface="Calibri" panose="020F0502020204030204" pitchFamily="34" charset="0"/>
              </a:rPr>
              <a:t>show acceptance</a:t>
            </a:r>
            <a:r>
              <a:rPr lang="en-US" sz="2200" b="0" i="0" dirty="0">
                <a:effectLst/>
                <a:latin typeface="Calibri" panose="020F0502020204030204" pitchFamily="34" charset="0"/>
                <a:cs typeface="Calibri" panose="020F0502020204030204" pitchFamily="34" charset="0"/>
              </a:rPr>
              <a:t>, though </a:t>
            </a:r>
            <a:r>
              <a:rPr lang="en-US" sz="2200" b="1" i="0" dirty="0">
                <a:effectLst/>
                <a:latin typeface="Calibri" panose="020F0502020204030204" pitchFamily="34" charset="0"/>
                <a:cs typeface="Calibri" panose="020F0502020204030204" pitchFamily="34" charset="0"/>
              </a:rPr>
              <a:t>not necessarily agreement</a:t>
            </a:r>
            <a:r>
              <a:rPr lang="en-US" sz="2200" b="0" i="0" dirty="0">
                <a:effectLst/>
                <a:latin typeface="Calibri" panose="020F0502020204030204" pitchFamily="34" charset="0"/>
                <a:cs typeface="Calibri" panose="020F0502020204030204" pitchFamily="34" charset="0"/>
              </a:rPr>
              <a:t>, by simply nodding or injecting phrases such as "I understand" or "I see."</a:t>
            </a:r>
          </a:p>
          <a:p>
            <a:pPr algn="l"/>
            <a:endParaRPr lang="en-US" sz="2200" b="0" i="0" dirty="0">
              <a:effectLst/>
              <a:latin typeface="Calibri" panose="020F0502020204030204" pitchFamily="34" charset="0"/>
              <a:cs typeface="Calibri" panose="020F0502020204030204" pitchFamily="34" charset="0"/>
            </a:endParaRPr>
          </a:p>
          <a:p>
            <a:pPr algn="l"/>
            <a:r>
              <a:rPr lang="en-US" sz="2200" b="0" i="0" dirty="0">
                <a:effectLst/>
                <a:latin typeface="Calibri" panose="020F0502020204030204" pitchFamily="34" charset="0"/>
                <a:cs typeface="Calibri" panose="020F0502020204030204" pitchFamily="34" charset="0"/>
              </a:rPr>
              <a:t>Try to </a:t>
            </a:r>
            <a:r>
              <a:rPr lang="en-US" sz="2200" b="1" i="0" dirty="0">
                <a:effectLst/>
                <a:latin typeface="Calibri" panose="020F0502020204030204" pitchFamily="34" charset="0"/>
                <a:cs typeface="Calibri" panose="020F0502020204030204" pitchFamily="34" charset="0"/>
              </a:rPr>
              <a:t>get a sense of the feelings</a:t>
            </a:r>
            <a:r>
              <a:rPr lang="en-US" sz="2200" b="0" i="0" dirty="0">
                <a:effectLst/>
                <a:latin typeface="Calibri" panose="020F0502020204030204" pitchFamily="34" charset="0"/>
                <a:cs typeface="Calibri" panose="020F0502020204030204" pitchFamily="34" charset="0"/>
              </a:rPr>
              <a:t> that the speaker is expressing, and stay mindful of the emotional content being delivered as well as the literal meaning of the words</a:t>
            </a:r>
            <a:r>
              <a:rPr lang="en-US" sz="22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270116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C3FB6-78EB-E371-597A-EA7724D2B6E3}"/>
              </a:ext>
            </a:extLst>
          </p:cNvPr>
          <p:cNvSpPr>
            <a:spLocks noGrp="1"/>
          </p:cNvSpPr>
          <p:nvPr>
            <p:ph type="title"/>
          </p:nvPr>
        </p:nvSpPr>
        <p:spPr/>
        <p:txBody>
          <a:bodyPr/>
          <a:lstStyle/>
          <a:p>
            <a:r>
              <a:rPr lang="en-US" b="1" i="0" dirty="0">
                <a:effectLst/>
                <a:latin typeface="Times New Roman" panose="02020603050405020304" pitchFamily="18" charset="0"/>
                <a:cs typeface="Times New Roman" panose="02020603050405020304" pitchFamily="18" charset="0"/>
              </a:rPr>
              <a:t>Empathic Listening Skills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0C75A1D-C01F-91DF-8512-7E93992AFC03}"/>
              </a:ext>
            </a:extLst>
          </p:cNvPr>
          <p:cNvSpPr>
            <a:spLocks noGrp="1"/>
          </p:cNvSpPr>
          <p:nvPr>
            <p:ph idx="1"/>
          </p:nvPr>
        </p:nvSpPr>
        <p:spPr/>
        <p:txBody>
          <a:bodyPr>
            <a:normAutofit fontScale="92500" lnSpcReduction="20000"/>
          </a:bodyPr>
          <a:lstStyle/>
          <a:p>
            <a:pPr algn="l"/>
            <a:r>
              <a:rPr lang="en-US" b="1" i="0" dirty="0">
                <a:effectLst/>
                <a:latin typeface="Libre Franklin" pitchFamily="2" charset="0"/>
              </a:rPr>
              <a:t>Think of yourself as a mirror</a:t>
            </a:r>
            <a:r>
              <a:rPr lang="en-US" b="0" i="0" dirty="0">
                <a:effectLst/>
                <a:latin typeface="Libre Franklin" pitchFamily="2" charset="0"/>
              </a:rPr>
              <a:t>. Repeat the speaker's thoughts and feelings back to them.</a:t>
            </a:r>
          </a:p>
          <a:p>
            <a:pPr algn="l"/>
            <a:endParaRPr lang="en-US" b="1" i="0" dirty="0">
              <a:effectLst/>
              <a:latin typeface="Libre Franklin" pitchFamily="2" charset="0"/>
            </a:endParaRPr>
          </a:p>
          <a:p>
            <a:pPr algn="l"/>
            <a:r>
              <a:rPr lang="en-US" b="1" i="0" dirty="0">
                <a:effectLst/>
                <a:latin typeface="Libre Franklin" pitchFamily="2" charset="0"/>
              </a:rPr>
              <a:t>Encourage the speaker to continue with their message </a:t>
            </a:r>
            <a:r>
              <a:rPr lang="en-US" b="0" i="0" dirty="0">
                <a:effectLst/>
                <a:latin typeface="Libre Franklin" pitchFamily="2" charset="0"/>
              </a:rPr>
              <a:t>by interjecting summary responses. For example, "So you do not feel as though you play a strong enough role on the team." Or, "You feel your talents and experiences would be better utilized in another position." Or, you could say, "You feel as though you are undervalued on this project." This should be </a:t>
            </a:r>
            <a:r>
              <a:rPr lang="en-US" b="1" i="0" dirty="0">
                <a:effectLst/>
                <a:latin typeface="Libre Franklin" pitchFamily="2" charset="0"/>
              </a:rPr>
              <a:t>done in a neutral way, so as not to "lead" the speaker to your way of thinking.</a:t>
            </a:r>
            <a:br>
              <a:rPr lang="en-US" dirty="0"/>
            </a:b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23439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641EB-267A-B64F-1756-0A01E94A1257}"/>
              </a:ext>
            </a:extLst>
          </p:cNvPr>
          <p:cNvSpPr>
            <a:spLocks noGrp="1"/>
          </p:cNvSpPr>
          <p:nvPr>
            <p:ph type="title"/>
          </p:nvPr>
        </p:nvSpPr>
        <p:spPr/>
        <p:txBody>
          <a:bodyPr>
            <a:normAutofit/>
          </a:bodyPr>
          <a:lstStyle/>
          <a:p>
            <a:r>
              <a:rPr lang="en-US" b="1" i="0" dirty="0">
                <a:effectLst/>
                <a:latin typeface="Times New Roman" panose="02020603050405020304" pitchFamily="18" charset="0"/>
                <a:cs typeface="Times New Roman" panose="02020603050405020304" pitchFamily="18" charset="0"/>
              </a:rPr>
              <a:t>Empathic Listening Skills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BF8403-CDE6-3ECF-783E-FF2906D7B5F4}"/>
              </a:ext>
            </a:extLst>
          </p:cNvPr>
          <p:cNvSpPr>
            <a:spLocks noGrp="1"/>
          </p:cNvSpPr>
          <p:nvPr>
            <p:ph idx="1"/>
          </p:nvPr>
        </p:nvSpPr>
        <p:spPr>
          <a:xfrm>
            <a:off x="1451579" y="1853754"/>
            <a:ext cx="9603275" cy="4288629"/>
          </a:xfrm>
        </p:spPr>
        <p:txBody>
          <a:bodyPr>
            <a:noAutofit/>
          </a:bodyPr>
          <a:lstStyle/>
          <a:p>
            <a:pPr algn="l"/>
            <a:r>
              <a:rPr lang="en-US" b="0" i="0" dirty="0">
                <a:effectLst/>
                <a:latin typeface="Libre Franklin" pitchFamily="2" charset="0"/>
              </a:rPr>
              <a:t>An empathic listener works to keep the speaker from feeling or becoming defensive. To do this, </a:t>
            </a:r>
            <a:r>
              <a:rPr lang="en-US" b="1" i="0" dirty="0">
                <a:effectLst/>
                <a:latin typeface="Libre Franklin" pitchFamily="2" charset="0"/>
              </a:rPr>
              <a:t>avoid asking direct questions, arguing with what is being said, or disputing facts.</a:t>
            </a:r>
            <a:r>
              <a:rPr lang="en-US" b="0" i="0" dirty="0">
                <a:effectLst/>
                <a:latin typeface="Libre Franklin" pitchFamily="2" charset="0"/>
              </a:rPr>
              <a:t> The evidence can be considered later. For now, concentrate fully on what is being said and how the speaker feels.</a:t>
            </a:r>
          </a:p>
          <a:p>
            <a:pPr algn="l"/>
            <a:endParaRPr lang="en-US" b="0" i="0" dirty="0">
              <a:effectLst/>
              <a:latin typeface="Libre Franklin" pitchFamily="2" charset="0"/>
            </a:endParaRPr>
          </a:p>
          <a:p>
            <a:pPr algn="l"/>
            <a:r>
              <a:rPr lang="en-US" b="0" i="0" dirty="0">
                <a:effectLst/>
                <a:latin typeface="Libre Franklin" pitchFamily="2" charset="0"/>
              </a:rPr>
              <a:t>When the speaker says something that requires additional input, </a:t>
            </a:r>
            <a:r>
              <a:rPr lang="en-US" b="1" i="0" dirty="0">
                <a:effectLst/>
                <a:latin typeface="Libre Franklin" pitchFamily="2" charset="0"/>
              </a:rPr>
              <a:t>simply repeat the statement as a question.</a:t>
            </a:r>
            <a:r>
              <a:rPr lang="en-US" b="0" i="0" dirty="0">
                <a:effectLst/>
                <a:latin typeface="Libre Franklin" pitchFamily="2" charset="0"/>
              </a:rPr>
              <a:t> For instance, if the speaker says, "I am not happy in my current position," you can probe further by replying, "You say you are not happy in your current position?" This small amount of encouragement may be all that it takes to prompt the speaker to elaborate further.</a:t>
            </a:r>
            <a:br>
              <a:rPr lang="en-US" dirty="0"/>
            </a:br>
            <a:endParaRPr lang="en-US" dirty="0"/>
          </a:p>
        </p:txBody>
      </p:sp>
    </p:spTree>
    <p:extLst>
      <p:ext uri="{BB962C8B-B14F-4D97-AF65-F5344CB8AC3E}">
        <p14:creationId xmlns:p14="http://schemas.microsoft.com/office/powerpoint/2010/main" val="4061078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EB305-C09E-E614-D7B9-0448C9A98DA2}"/>
              </a:ext>
            </a:extLst>
          </p:cNvPr>
          <p:cNvSpPr>
            <a:spLocks noGrp="1"/>
          </p:cNvSpPr>
          <p:nvPr>
            <p:ph type="title"/>
          </p:nvPr>
        </p:nvSpPr>
        <p:spPr/>
        <p:txBody>
          <a:bodyPr>
            <a:normAutofit/>
          </a:bodyPr>
          <a:lstStyle/>
          <a:p>
            <a:r>
              <a:rPr lang="en-US" b="1" i="0" dirty="0">
                <a:effectLst/>
                <a:latin typeface="Times New Roman" panose="02020603050405020304" pitchFamily="18" charset="0"/>
                <a:cs typeface="Times New Roman" panose="02020603050405020304" pitchFamily="18" charset="0"/>
              </a:rPr>
              <a:t>Empathic Listening Skills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E0048FB-6D85-A019-6506-84AC196B8C92}"/>
              </a:ext>
            </a:extLst>
          </p:cNvPr>
          <p:cNvSpPr>
            <a:spLocks noGrp="1"/>
          </p:cNvSpPr>
          <p:nvPr>
            <p:ph idx="1"/>
          </p:nvPr>
        </p:nvSpPr>
        <p:spPr>
          <a:xfrm>
            <a:off x="1451579" y="2015732"/>
            <a:ext cx="9603275" cy="3798659"/>
          </a:xfrm>
        </p:spPr>
        <p:txBody>
          <a:bodyPr>
            <a:noAutofit/>
          </a:bodyPr>
          <a:lstStyle/>
          <a:p>
            <a:pPr algn="l"/>
            <a:r>
              <a:rPr lang="en-US" sz="1800" b="0" i="0" dirty="0">
                <a:effectLst/>
                <a:latin typeface="Libre Franklin" pitchFamily="2" charset="0"/>
              </a:rPr>
              <a:t>Be mindful of what is </a:t>
            </a:r>
            <a:r>
              <a:rPr lang="en-US" sz="1800" b="1" i="0" dirty="0">
                <a:effectLst/>
                <a:latin typeface="Libre Franklin" pitchFamily="2" charset="0"/>
              </a:rPr>
              <a:t>not </a:t>
            </a:r>
            <a:r>
              <a:rPr lang="en-US" sz="1800" b="0" i="0" dirty="0">
                <a:effectLst/>
                <a:latin typeface="Libre Franklin" pitchFamily="2" charset="0"/>
              </a:rPr>
              <a:t>being said, too. Often, what the speaker holds back is as important as what they </a:t>
            </a:r>
            <a:r>
              <a:rPr lang="en-US" sz="1800" b="1" i="0" dirty="0">
                <a:effectLst/>
                <a:latin typeface="Libre Franklin" pitchFamily="2" charset="0"/>
              </a:rPr>
              <a:t>are</a:t>
            </a:r>
            <a:r>
              <a:rPr lang="en-US" sz="1800" b="0" i="0" dirty="0">
                <a:effectLst/>
                <a:latin typeface="Libre Franklin" pitchFamily="2" charset="0"/>
              </a:rPr>
              <a:t> saying. </a:t>
            </a:r>
            <a:r>
              <a:rPr lang="en-US" sz="1800" b="1" i="0" dirty="0">
                <a:effectLst/>
                <a:latin typeface="Libre Franklin" pitchFamily="2" charset="0"/>
              </a:rPr>
              <a:t>Pay attention to their </a:t>
            </a:r>
            <a:r>
              <a:rPr lang="en-US" sz="1800" b="1" i="0" dirty="0">
                <a:effectLst/>
                <a:latin typeface="inherit"/>
              </a:rPr>
              <a:t>body language</a:t>
            </a:r>
            <a:r>
              <a:rPr lang="en-US" sz="1800" b="0" i="0" dirty="0">
                <a:effectLst/>
                <a:latin typeface="Libre Franklin" pitchFamily="2" charset="0"/>
              </a:rPr>
              <a:t>. Nonverbal signs like keeping the head down, shifting away from you or covering the mouth could signal that they're holding something back, or that they feel uncomfortable.</a:t>
            </a:r>
          </a:p>
          <a:p>
            <a:pPr algn="l"/>
            <a:r>
              <a:rPr lang="en-US" sz="1800" b="0" i="0" dirty="0">
                <a:effectLst/>
                <a:latin typeface="Libre Franklin" pitchFamily="2" charset="0"/>
              </a:rPr>
              <a:t>If the speaker asks for your input, </a:t>
            </a:r>
            <a:r>
              <a:rPr lang="en-US" sz="1800" b="1" i="0" dirty="0">
                <a:effectLst/>
                <a:latin typeface="Libre Franklin" pitchFamily="2" charset="0"/>
              </a:rPr>
              <a:t>be honest</a:t>
            </a:r>
            <a:r>
              <a:rPr lang="en-US" sz="1800" b="0" i="0" dirty="0">
                <a:effectLst/>
                <a:latin typeface="Libre Franklin" pitchFamily="2" charset="0"/>
              </a:rPr>
              <a:t>. But, </a:t>
            </a:r>
            <a:r>
              <a:rPr lang="en-US" sz="1800" b="1" i="0" dirty="0">
                <a:effectLst/>
                <a:latin typeface="Libre Franklin" pitchFamily="2" charset="0"/>
              </a:rPr>
              <a:t>try to refrain from providing input that may influence their thoughts or inhibit further communication</a:t>
            </a:r>
            <a:r>
              <a:rPr lang="en-US" sz="1800" b="0" i="0" dirty="0">
                <a:effectLst/>
                <a:latin typeface="Libre Franklin" pitchFamily="2" charset="0"/>
              </a:rPr>
              <a:t>.</a:t>
            </a:r>
            <a:br>
              <a:rPr lang="en-US" sz="1800" b="0" i="0" dirty="0">
                <a:effectLst/>
                <a:latin typeface="Libre Franklin" pitchFamily="2" charset="0"/>
              </a:rPr>
            </a:br>
            <a:endParaRPr lang="en-US" sz="1800" b="0" i="0" dirty="0">
              <a:effectLst/>
              <a:latin typeface="Libre Franklin" pitchFamily="2" charset="0"/>
            </a:endParaRPr>
          </a:p>
          <a:p>
            <a:pPr marL="0" indent="0" algn="l">
              <a:buNone/>
            </a:pPr>
            <a:r>
              <a:rPr lang="en-US" sz="1800" b="1" i="0" dirty="0">
                <a:effectLst/>
                <a:latin typeface="Libre Franklin" pitchFamily="2" charset="0"/>
              </a:rPr>
              <a:t>Tip:</a:t>
            </a:r>
          </a:p>
          <a:p>
            <a:pPr algn="l"/>
            <a:r>
              <a:rPr lang="en-US" sz="1800" b="0" i="0" dirty="0">
                <a:effectLst/>
                <a:latin typeface="Libre Franklin" pitchFamily="2" charset="0"/>
              </a:rPr>
              <a:t>When you're listening empathically, keep your own emotions in check and do not allow yourself to become emotionally involved. Remember: understand first, evaluate later.</a:t>
            </a:r>
          </a:p>
        </p:txBody>
      </p:sp>
    </p:spTree>
    <p:extLst>
      <p:ext uri="{BB962C8B-B14F-4D97-AF65-F5344CB8AC3E}">
        <p14:creationId xmlns:p14="http://schemas.microsoft.com/office/powerpoint/2010/main" val="2155418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0D15-6E83-57A4-798A-428BD2F6790A}"/>
              </a:ext>
            </a:extLst>
          </p:cNvPr>
          <p:cNvSpPr>
            <a:spLocks noGrp="1"/>
          </p:cNvSpPr>
          <p:nvPr>
            <p:ph type="title"/>
          </p:nvPr>
        </p:nvSpPr>
        <p:spPr/>
        <p:txBody>
          <a:bodyPr>
            <a:normAutofit/>
          </a:bodyPr>
          <a:lstStyle/>
          <a:p>
            <a:r>
              <a:rPr lang="en-US" b="1" i="0" dirty="0">
                <a:effectLst/>
                <a:latin typeface="Times New Roman" panose="02020603050405020304" pitchFamily="18" charset="0"/>
                <a:cs typeface="Times New Roman" panose="02020603050405020304" pitchFamily="18" charset="0"/>
              </a:rPr>
              <a:t>Empathic Listening Skills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CE01A2-5E30-32E9-1721-05D14B39D35E}"/>
              </a:ext>
            </a:extLst>
          </p:cNvPr>
          <p:cNvSpPr>
            <a:spLocks noGrp="1"/>
          </p:cNvSpPr>
          <p:nvPr>
            <p:ph idx="1"/>
          </p:nvPr>
        </p:nvSpPr>
        <p:spPr/>
        <p:txBody>
          <a:bodyPr>
            <a:normAutofit/>
          </a:bodyPr>
          <a:lstStyle/>
          <a:p>
            <a:pPr algn="l"/>
            <a:r>
              <a:rPr lang="en-US" b="0" i="0" dirty="0">
                <a:effectLst/>
                <a:latin typeface="Libre Franklin" pitchFamily="2" charset="0"/>
              </a:rPr>
              <a:t>Finally, keep in mind that by earning the speaker's confidence, you are </a:t>
            </a:r>
            <a:r>
              <a:rPr lang="en-US" b="1" i="0" dirty="0">
                <a:effectLst/>
                <a:latin typeface="Libre Franklin" pitchFamily="2" charset="0"/>
              </a:rPr>
              <a:t>allowing them to communicate more freely</a:t>
            </a:r>
            <a:r>
              <a:rPr lang="en-US" b="0" i="0" dirty="0">
                <a:effectLst/>
                <a:latin typeface="Libre Franklin" pitchFamily="2" charset="0"/>
              </a:rPr>
              <a:t>. In doing this, you create better outcomes for the speaker, for yourself, for your team, and for the company as a whole.</a:t>
            </a:r>
          </a:p>
        </p:txBody>
      </p:sp>
    </p:spTree>
    <p:extLst>
      <p:ext uri="{BB962C8B-B14F-4D97-AF65-F5344CB8AC3E}">
        <p14:creationId xmlns:p14="http://schemas.microsoft.com/office/powerpoint/2010/main" val="544212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ABA8C-0AB9-9FEB-9B93-01BC86DD6D57}"/>
              </a:ext>
            </a:extLst>
          </p:cNvPr>
          <p:cNvSpPr>
            <a:spLocks noGrp="1"/>
          </p:cNvSpPr>
          <p:nvPr>
            <p:ph type="title"/>
          </p:nvPr>
        </p:nvSpPr>
        <p:spPr/>
        <p:txBody>
          <a:bodyPr>
            <a:normAutofit/>
          </a:bodyPr>
          <a:lstStyle/>
          <a:p>
            <a:r>
              <a:rPr lang="en-US" b="1" i="0" u="none" strike="noStrike" baseline="0" dirty="0">
                <a:latin typeface="Times New Roman" panose="02020603050405020304" pitchFamily="18" charset="0"/>
                <a:cs typeface="Times New Roman" panose="02020603050405020304" pitchFamily="18" charset="0"/>
              </a:rPr>
              <a:t>KEY POINTS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7C8109-FEDF-FBBC-A112-76439894140A}"/>
              </a:ext>
            </a:extLst>
          </p:cNvPr>
          <p:cNvSpPr>
            <a:spLocks noGrp="1"/>
          </p:cNvSpPr>
          <p:nvPr>
            <p:ph idx="1"/>
          </p:nvPr>
        </p:nvSpPr>
        <p:spPr>
          <a:xfrm>
            <a:off x="1451579" y="1853754"/>
            <a:ext cx="9603275" cy="4199727"/>
          </a:xfrm>
        </p:spPr>
        <p:txBody>
          <a:bodyPr>
            <a:noAutofit/>
          </a:bodyPr>
          <a:lstStyle/>
          <a:p>
            <a:pPr algn="l"/>
            <a:r>
              <a:rPr lang="en-US" sz="1800" b="0" i="0" dirty="0">
                <a:effectLst/>
                <a:latin typeface="Arial" panose="020B0604020202020204" pitchFamily="34" charset="0"/>
                <a:cs typeface="Arial" panose="020B0604020202020204" pitchFamily="34" charset="0"/>
              </a:rPr>
              <a:t>The role of an empathic listener is to be supportive, kind and caring.</a:t>
            </a:r>
          </a:p>
          <a:p>
            <a:pPr algn="l"/>
            <a:endParaRPr lang="en-US" sz="1800" b="0" i="0" dirty="0">
              <a:effectLst/>
              <a:latin typeface="Arial" panose="020B0604020202020204" pitchFamily="34" charset="0"/>
              <a:cs typeface="Arial" panose="020B0604020202020204" pitchFamily="34" charset="0"/>
            </a:endParaRPr>
          </a:p>
          <a:p>
            <a:pPr algn="l"/>
            <a:r>
              <a:rPr lang="en-US" sz="1800" b="0" i="0" dirty="0">
                <a:effectLst/>
                <a:latin typeface="Arial" panose="020B0604020202020204" pitchFamily="34" charset="0"/>
                <a:cs typeface="Arial" panose="020B0604020202020204" pitchFamily="34" charset="0"/>
              </a:rPr>
              <a:t>Listen carefully and without judgment. Interject occasionally to show that you've understood what's being said. Where appropriate, repeat key phrases to encourage the speaker to open up.</a:t>
            </a:r>
          </a:p>
          <a:p>
            <a:pPr algn="l"/>
            <a:endParaRPr lang="en-US" sz="1800" b="0" i="0" dirty="0">
              <a:effectLst/>
              <a:latin typeface="Arial" panose="020B0604020202020204" pitchFamily="34" charset="0"/>
              <a:cs typeface="Arial" panose="020B0604020202020204" pitchFamily="34" charset="0"/>
            </a:endParaRPr>
          </a:p>
          <a:p>
            <a:pPr algn="l"/>
            <a:r>
              <a:rPr lang="en-US" sz="1800" b="0" i="0" dirty="0">
                <a:effectLst/>
                <a:latin typeface="Arial" panose="020B0604020202020204" pitchFamily="34" charset="0"/>
                <a:cs typeface="Arial" panose="020B0604020202020204" pitchFamily="34" charset="0"/>
              </a:rPr>
              <a:t>Pay attention to what's </a:t>
            </a:r>
            <a:r>
              <a:rPr lang="en-US" sz="1800" b="1" i="0" dirty="0">
                <a:effectLst/>
                <a:latin typeface="Arial" panose="020B0604020202020204" pitchFamily="34" charset="0"/>
                <a:cs typeface="Arial" panose="020B0604020202020204" pitchFamily="34" charset="0"/>
              </a:rPr>
              <a:t>not </a:t>
            </a:r>
            <a:r>
              <a:rPr lang="en-US" sz="1800" b="0" i="0" dirty="0">
                <a:effectLst/>
                <a:latin typeface="Arial" panose="020B0604020202020204" pitchFamily="34" charset="0"/>
                <a:cs typeface="Arial" panose="020B0604020202020204" pitchFamily="34" charset="0"/>
              </a:rPr>
              <a:t>being said, too. Take note of the speaker's emotional state, their tone of voice, and their body language.</a:t>
            </a:r>
          </a:p>
          <a:p>
            <a:pPr algn="l"/>
            <a:endParaRPr lang="en-US" sz="1800" b="0" i="0" dirty="0">
              <a:effectLst/>
              <a:latin typeface="Arial" panose="020B0604020202020204" pitchFamily="34" charset="0"/>
              <a:cs typeface="Arial" panose="020B0604020202020204" pitchFamily="34" charset="0"/>
            </a:endParaRPr>
          </a:p>
          <a:p>
            <a:pPr algn="l"/>
            <a:r>
              <a:rPr lang="en-US" sz="1800" b="0" i="0" dirty="0">
                <a:effectLst/>
                <a:latin typeface="Arial" panose="020B0604020202020204" pitchFamily="34" charset="0"/>
                <a:cs typeface="Arial" panose="020B0604020202020204" pitchFamily="34" charset="0"/>
              </a:rPr>
              <a:t>And, when you successfully win their trust and confidence, make sure that you respect it.</a:t>
            </a:r>
          </a:p>
        </p:txBody>
      </p:sp>
    </p:spTree>
    <p:extLst>
      <p:ext uri="{BB962C8B-B14F-4D97-AF65-F5344CB8AC3E}">
        <p14:creationId xmlns:p14="http://schemas.microsoft.com/office/powerpoint/2010/main" val="454633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5334C-7450-D048-B9BA-1F3C2864BC69}"/>
              </a:ext>
            </a:extLst>
          </p:cNvPr>
          <p:cNvSpPr>
            <a:spLocks noGrp="1"/>
          </p:cNvSpPr>
          <p:nvPr>
            <p:ph type="title"/>
          </p:nvPr>
        </p:nvSpPr>
        <p:spPr/>
        <p:txBody>
          <a:bodyPr>
            <a:normAutofit/>
          </a:bodyPr>
          <a:lstStyle/>
          <a:p>
            <a:r>
              <a:rPr lang="en-US" b="1" i="0" u="none" strike="noStrike" baseline="0" dirty="0">
                <a:latin typeface="Times New Roman" panose="02020603050405020304" pitchFamily="18" charset="0"/>
              </a:rPr>
              <a:t>LEVELS of EFFECTIVE Listening</a:t>
            </a:r>
            <a:endParaRPr lang="en-US" dirty="0"/>
          </a:p>
        </p:txBody>
      </p:sp>
      <p:pic>
        <p:nvPicPr>
          <p:cNvPr id="5" name="Content Placeholder 4">
            <a:extLst>
              <a:ext uri="{FF2B5EF4-FFF2-40B4-BE49-F238E27FC236}">
                <a16:creationId xmlns:a16="http://schemas.microsoft.com/office/drawing/2014/main" id="{AFC642D4-ECD5-170E-5F7E-D4141805890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451579" y="1853755"/>
            <a:ext cx="9603274" cy="3741976"/>
          </a:xfrm>
        </p:spPr>
      </p:pic>
    </p:spTree>
    <p:extLst>
      <p:ext uri="{BB962C8B-B14F-4D97-AF65-F5344CB8AC3E}">
        <p14:creationId xmlns:p14="http://schemas.microsoft.com/office/powerpoint/2010/main" val="441398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8C5E0-1A9E-3EE8-8D17-07552663ECFF}"/>
              </a:ext>
            </a:extLst>
          </p:cNvPr>
          <p:cNvSpPr>
            <a:spLocks noGrp="1"/>
          </p:cNvSpPr>
          <p:nvPr>
            <p:ph type="title"/>
          </p:nvPr>
        </p:nvSpPr>
        <p:spPr/>
        <p:txBody>
          <a:bodyPr>
            <a:normAutofit/>
          </a:bodyPr>
          <a:lstStyle/>
          <a:p>
            <a:pPr algn="l" fontAlgn="base"/>
            <a:r>
              <a:rPr lang="en-US" b="1" i="0" dirty="0">
                <a:solidFill>
                  <a:srgbClr val="333333"/>
                </a:solidFill>
                <a:effectLst/>
                <a:latin typeface="Times New Roman" panose="02020603050405020304" pitchFamily="18" charset="0"/>
                <a:cs typeface="Times New Roman" panose="02020603050405020304" pitchFamily="18" charset="0"/>
              </a:rPr>
              <a:t>Level 1: Ignoring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1AC8E6-C8AF-65DC-8FC7-4B1A87288CF5}"/>
              </a:ext>
            </a:extLst>
          </p:cNvPr>
          <p:cNvSpPr>
            <a:spLocks noGrp="1"/>
          </p:cNvSpPr>
          <p:nvPr>
            <p:ph idx="1"/>
          </p:nvPr>
        </p:nvSpPr>
        <p:spPr>
          <a:xfrm>
            <a:off x="1294362" y="1853754"/>
            <a:ext cx="9603275" cy="3871185"/>
          </a:xfrm>
        </p:spPr>
        <p:txBody>
          <a:bodyPr>
            <a:noAutofit/>
          </a:bodyPr>
          <a:lstStyle/>
          <a:p>
            <a:pPr algn="l" fontAlgn="base"/>
            <a:r>
              <a:rPr lang="en-US" sz="2200" dirty="0">
                <a:solidFill>
                  <a:srgbClr val="444444"/>
                </a:solidFill>
                <a:latin typeface="Calibri" panose="020F0502020204030204" pitchFamily="34" charset="0"/>
                <a:cs typeface="Calibri" panose="020F0502020204030204" pitchFamily="34" charset="0"/>
              </a:rPr>
              <a:t>T</a:t>
            </a:r>
            <a:r>
              <a:rPr lang="en-US" sz="2200" b="0" i="0" dirty="0">
                <a:solidFill>
                  <a:srgbClr val="444444"/>
                </a:solidFill>
                <a:effectLst/>
                <a:latin typeface="Calibri" panose="020F0502020204030204" pitchFamily="34" charset="0"/>
                <a:cs typeface="Calibri" panose="020F0502020204030204" pitchFamily="34" charset="0"/>
              </a:rPr>
              <a:t>he lowest level of listening: No effort is being given by the listener.</a:t>
            </a:r>
          </a:p>
          <a:p>
            <a:pPr algn="l" fontAlgn="base"/>
            <a:r>
              <a:rPr lang="en-US" sz="2200" b="1" i="0" dirty="0">
                <a:solidFill>
                  <a:srgbClr val="444444"/>
                </a:solidFill>
                <a:effectLst/>
                <a:latin typeface="Calibri" panose="020F0502020204030204" pitchFamily="34" charset="0"/>
                <a:cs typeface="Calibri" panose="020F0502020204030204" pitchFamily="34" charset="0"/>
              </a:rPr>
              <a:t>Distraction</a:t>
            </a:r>
            <a:r>
              <a:rPr lang="en-US" sz="2200" b="0" i="0" dirty="0">
                <a:solidFill>
                  <a:srgbClr val="444444"/>
                </a:solidFill>
                <a:effectLst/>
                <a:latin typeface="Calibri" panose="020F0502020204030204" pitchFamily="34" charset="0"/>
                <a:cs typeface="Calibri" panose="020F0502020204030204" pitchFamily="34" charset="0"/>
              </a:rPr>
              <a:t> – Maybe the listener is busy. Try calling the individual by name to get their attention.</a:t>
            </a:r>
          </a:p>
          <a:p>
            <a:pPr algn="l" fontAlgn="base"/>
            <a:r>
              <a:rPr lang="en-US" sz="2200" b="1" i="0" dirty="0">
                <a:solidFill>
                  <a:srgbClr val="444444"/>
                </a:solidFill>
                <a:effectLst/>
                <a:latin typeface="Calibri" panose="020F0502020204030204" pitchFamily="34" charset="0"/>
                <a:cs typeface="Calibri" panose="020F0502020204030204" pitchFamily="34" charset="0"/>
              </a:rPr>
              <a:t>Intentional ignoring </a:t>
            </a:r>
            <a:r>
              <a:rPr lang="en-US" sz="2200" b="0" i="0" dirty="0">
                <a:solidFill>
                  <a:srgbClr val="444444"/>
                </a:solidFill>
                <a:effectLst/>
                <a:latin typeface="Calibri" panose="020F0502020204030204" pitchFamily="34" charset="0"/>
                <a:cs typeface="Calibri" panose="020F0502020204030204" pitchFamily="34" charset="0"/>
              </a:rPr>
              <a:t>–Maybe you’ve fought with someone and they are simply not going to acknowledge you. Or the listener doesn’t want to acknowledge the information.</a:t>
            </a:r>
          </a:p>
          <a:p>
            <a:pPr algn="l" fontAlgn="base"/>
            <a:r>
              <a:rPr lang="en-US" sz="2200" b="1" i="0" dirty="0">
                <a:solidFill>
                  <a:srgbClr val="444444"/>
                </a:solidFill>
                <a:effectLst/>
                <a:latin typeface="Calibri" panose="020F0502020204030204" pitchFamily="34" charset="0"/>
                <a:cs typeface="Calibri" panose="020F0502020204030204" pitchFamily="34" charset="0"/>
              </a:rPr>
              <a:t>Physical restrictions </a:t>
            </a:r>
            <a:r>
              <a:rPr lang="en-US" sz="2200" b="0" i="0" dirty="0">
                <a:solidFill>
                  <a:srgbClr val="444444"/>
                </a:solidFill>
                <a:effectLst/>
                <a:latin typeface="Calibri" panose="020F0502020204030204" pitchFamily="34" charset="0"/>
                <a:cs typeface="Calibri" panose="020F0502020204030204" pitchFamily="34" charset="0"/>
              </a:rPr>
              <a:t>– There could be a hearing problem. Or maybe the listener has earphones in.</a:t>
            </a:r>
          </a:p>
        </p:txBody>
      </p:sp>
    </p:spTree>
    <p:extLst>
      <p:ext uri="{BB962C8B-B14F-4D97-AF65-F5344CB8AC3E}">
        <p14:creationId xmlns:p14="http://schemas.microsoft.com/office/powerpoint/2010/main" val="1812636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2EAD5-A592-DC3F-DE4A-7304C64218C3}"/>
              </a:ext>
            </a:extLst>
          </p:cNvPr>
          <p:cNvSpPr>
            <a:spLocks noGrp="1"/>
          </p:cNvSpPr>
          <p:nvPr>
            <p:ph type="title"/>
          </p:nvPr>
        </p:nvSpPr>
        <p:spPr/>
        <p:txBody>
          <a:bodyPr>
            <a:normAutofit/>
          </a:bodyPr>
          <a:lstStyle/>
          <a:p>
            <a:pPr algn="l" fontAlgn="base"/>
            <a:r>
              <a:rPr lang="en-US" b="1" i="0" dirty="0">
                <a:solidFill>
                  <a:srgbClr val="333333"/>
                </a:solidFill>
                <a:effectLst/>
                <a:latin typeface="Times New Roman" panose="02020603050405020304" pitchFamily="18" charset="0"/>
                <a:cs typeface="Times New Roman" panose="02020603050405020304" pitchFamily="18" charset="0"/>
              </a:rPr>
              <a:t>Level 2: Pretend Listening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213EA3-B196-5EAA-1F62-FB9E8B9BF7BB}"/>
              </a:ext>
            </a:extLst>
          </p:cNvPr>
          <p:cNvSpPr>
            <a:spLocks noGrp="1"/>
          </p:cNvSpPr>
          <p:nvPr>
            <p:ph idx="1"/>
          </p:nvPr>
        </p:nvSpPr>
        <p:spPr>
          <a:xfrm>
            <a:off x="1451579" y="2015732"/>
            <a:ext cx="9603275" cy="3937807"/>
          </a:xfrm>
        </p:spPr>
        <p:txBody>
          <a:bodyPr>
            <a:normAutofit/>
          </a:bodyPr>
          <a:lstStyle/>
          <a:p>
            <a:pPr algn="l" fontAlgn="base"/>
            <a:r>
              <a:rPr lang="en-US" sz="2200" b="0" i="0" dirty="0">
                <a:solidFill>
                  <a:srgbClr val="444444"/>
                </a:solidFill>
                <a:effectLst/>
                <a:latin typeface="Calibri" panose="020F0502020204030204" pitchFamily="34" charset="0"/>
                <a:cs typeface="Calibri" panose="020F0502020204030204" pitchFamily="34" charset="0"/>
              </a:rPr>
              <a:t>Where the listener is giving an appearance of listening, but not really engaged </a:t>
            </a:r>
          </a:p>
          <a:p>
            <a:pPr algn="l" fontAlgn="base"/>
            <a:endParaRPr lang="en-US" sz="2200" b="0" i="0" dirty="0">
              <a:solidFill>
                <a:srgbClr val="444444"/>
              </a:solidFill>
              <a:effectLst/>
              <a:latin typeface="Calibri" panose="020F0502020204030204" pitchFamily="34" charset="0"/>
              <a:cs typeface="Calibri" panose="020F0502020204030204" pitchFamily="34" charset="0"/>
            </a:endParaRPr>
          </a:p>
          <a:p>
            <a:pPr algn="l" fontAlgn="base"/>
            <a:r>
              <a:rPr lang="en-US" sz="2200" b="0" i="0" dirty="0">
                <a:solidFill>
                  <a:srgbClr val="444444"/>
                </a:solidFill>
                <a:effectLst/>
                <a:latin typeface="Calibri" panose="020F0502020204030204" pitchFamily="34" charset="0"/>
                <a:cs typeface="Calibri" panose="020F0502020204030204" pitchFamily="34" charset="0"/>
              </a:rPr>
              <a:t>If the information does not have value to the listener</a:t>
            </a:r>
          </a:p>
        </p:txBody>
      </p:sp>
    </p:spTree>
    <p:extLst>
      <p:ext uri="{BB962C8B-B14F-4D97-AF65-F5344CB8AC3E}">
        <p14:creationId xmlns:p14="http://schemas.microsoft.com/office/powerpoint/2010/main" val="3712606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EB50E-A74A-751E-EB9E-DB280FFDC8E5}"/>
              </a:ext>
            </a:extLst>
          </p:cNvPr>
          <p:cNvSpPr>
            <a:spLocks noGrp="1"/>
          </p:cNvSpPr>
          <p:nvPr>
            <p:ph type="title"/>
          </p:nvPr>
        </p:nvSpPr>
        <p:spPr/>
        <p:txBody>
          <a:bodyPr>
            <a:normAutofit/>
          </a:bodyPr>
          <a:lstStyle/>
          <a:p>
            <a:pPr algn="l" fontAlgn="base"/>
            <a:r>
              <a:rPr lang="en-US" b="1" i="0" dirty="0">
                <a:solidFill>
                  <a:srgbClr val="333333"/>
                </a:solidFill>
                <a:effectLst/>
                <a:latin typeface="Times New Roman" panose="02020603050405020304" pitchFamily="18" charset="0"/>
                <a:cs typeface="Times New Roman" panose="02020603050405020304" pitchFamily="18" charset="0"/>
              </a:rPr>
              <a:t>Level 3 – Selective Listening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FE6D0A-7B1B-5AB3-3BDB-8BA03C7E15BB}"/>
              </a:ext>
            </a:extLst>
          </p:cNvPr>
          <p:cNvSpPr>
            <a:spLocks noGrp="1"/>
          </p:cNvSpPr>
          <p:nvPr>
            <p:ph idx="1"/>
          </p:nvPr>
        </p:nvSpPr>
        <p:spPr>
          <a:xfrm>
            <a:off x="1451579" y="1967948"/>
            <a:ext cx="9603275" cy="4164494"/>
          </a:xfrm>
        </p:spPr>
        <p:txBody>
          <a:bodyPr>
            <a:noAutofit/>
          </a:bodyPr>
          <a:lstStyle/>
          <a:p>
            <a:pPr algn="l" fontAlgn="base"/>
            <a:r>
              <a:rPr lang="en-US" sz="2200" b="0" i="0" dirty="0">
                <a:solidFill>
                  <a:srgbClr val="444444"/>
                </a:solidFill>
                <a:effectLst/>
                <a:latin typeface="Calibri" panose="020F0502020204030204" pitchFamily="34" charset="0"/>
                <a:cs typeface="Calibri" panose="020F0502020204030204" pitchFamily="34" charset="0"/>
              </a:rPr>
              <a:t>When we pay attention to people as long as we agree with them or if we are desirous to hear what they have to say </a:t>
            </a:r>
          </a:p>
          <a:p>
            <a:pPr algn="l" fontAlgn="base"/>
            <a:endParaRPr lang="en-US" sz="2200" b="0" i="0" dirty="0">
              <a:solidFill>
                <a:srgbClr val="444444"/>
              </a:solidFill>
              <a:effectLst/>
              <a:latin typeface="Calibri" panose="020F0502020204030204" pitchFamily="34" charset="0"/>
              <a:cs typeface="Calibri" panose="020F0502020204030204" pitchFamily="34" charset="0"/>
            </a:endParaRPr>
          </a:p>
          <a:p>
            <a:pPr algn="l" fontAlgn="base"/>
            <a:r>
              <a:rPr lang="en-US" sz="2200" b="0" i="0" dirty="0">
                <a:solidFill>
                  <a:srgbClr val="444444"/>
                </a:solidFill>
                <a:effectLst/>
                <a:latin typeface="Calibri" panose="020F0502020204030204" pitchFamily="34" charset="0"/>
                <a:cs typeface="Calibri" panose="020F0502020204030204" pitchFamily="34" charset="0"/>
              </a:rPr>
              <a:t>The listener will be quick to jump and interrupt the speaker to add something, change the topic or to simply finish the other person’s sentences.</a:t>
            </a:r>
          </a:p>
          <a:p>
            <a:pPr algn="l" fontAlgn="base"/>
            <a:endParaRPr lang="en-US" sz="2200" b="0" i="0" dirty="0">
              <a:solidFill>
                <a:srgbClr val="444444"/>
              </a:solidFill>
              <a:effectLst/>
              <a:latin typeface="Calibri" panose="020F0502020204030204" pitchFamily="34" charset="0"/>
              <a:cs typeface="Calibri" panose="020F0502020204030204" pitchFamily="34" charset="0"/>
            </a:endParaRPr>
          </a:p>
          <a:p>
            <a:pPr algn="l" fontAlgn="base"/>
            <a:r>
              <a:rPr lang="en-US" sz="2200" b="0" i="0" dirty="0">
                <a:solidFill>
                  <a:srgbClr val="444444"/>
                </a:solidFill>
                <a:effectLst/>
                <a:latin typeface="Calibri" panose="020F0502020204030204" pitchFamily="34" charset="0"/>
                <a:cs typeface="Calibri" panose="020F0502020204030204" pitchFamily="34" charset="0"/>
              </a:rPr>
              <a:t>The dangerous part of this level is that it is easy to fall into the ignoring or pretend listening levels.</a:t>
            </a:r>
          </a:p>
        </p:txBody>
      </p:sp>
    </p:spTree>
    <p:extLst>
      <p:ext uri="{BB962C8B-B14F-4D97-AF65-F5344CB8AC3E}">
        <p14:creationId xmlns:p14="http://schemas.microsoft.com/office/powerpoint/2010/main" val="2294407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D4EB-16E9-864B-9B10-8DCF6CB1A7A2}"/>
              </a:ext>
            </a:extLst>
          </p:cNvPr>
          <p:cNvSpPr>
            <a:spLocks noGrp="1"/>
          </p:cNvSpPr>
          <p:nvPr>
            <p:ph type="title"/>
          </p:nvPr>
        </p:nvSpPr>
        <p:spPr/>
        <p:txBody>
          <a:bodyPr>
            <a:normAutofit/>
          </a:bodyPr>
          <a:lstStyle/>
          <a:p>
            <a:pPr algn="l" fontAlgn="base"/>
            <a:r>
              <a:rPr lang="en-US" b="1" i="0" dirty="0">
                <a:solidFill>
                  <a:srgbClr val="333333"/>
                </a:solidFill>
                <a:effectLst/>
                <a:latin typeface="Times New Roman" panose="02020603050405020304" pitchFamily="18" charset="0"/>
                <a:cs typeface="Times New Roman" panose="02020603050405020304" pitchFamily="18" charset="0"/>
              </a:rPr>
              <a:t>Level 4 – Attentive Listening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E4F31A-F22F-3088-0017-7F21C1949E66}"/>
              </a:ext>
            </a:extLst>
          </p:cNvPr>
          <p:cNvSpPr>
            <a:spLocks noGrp="1"/>
          </p:cNvSpPr>
          <p:nvPr>
            <p:ph idx="1"/>
          </p:nvPr>
        </p:nvSpPr>
        <p:spPr>
          <a:xfrm>
            <a:off x="1451579" y="2015732"/>
            <a:ext cx="9603275" cy="3768842"/>
          </a:xfrm>
        </p:spPr>
        <p:txBody>
          <a:bodyPr>
            <a:normAutofit lnSpcReduction="10000"/>
          </a:bodyPr>
          <a:lstStyle/>
          <a:p>
            <a:pPr algn="l" fontAlgn="base"/>
            <a:r>
              <a:rPr lang="en-US" sz="2200" b="0" i="0" dirty="0">
                <a:solidFill>
                  <a:srgbClr val="444444"/>
                </a:solidFill>
                <a:effectLst/>
                <a:latin typeface="Calibri" panose="020F0502020204030204" pitchFamily="34" charset="0"/>
                <a:cs typeface="Calibri" panose="020F0502020204030204" pitchFamily="34" charset="0"/>
              </a:rPr>
              <a:t>Where we tend to spend most of our time as listeners </a:t>
            </a:r>
          </a:p>
          <a:p>
            <a:pPr algn="l" fontAlgn="base"/>
            <a:endParaRPr lang="en-US" sz="2200" dirty="0">
              <a:solidFill>
                <a:srgbClr val="444444"/>
              </a:solidFill>
              <a:latin typeface="Calibri" panose="020F0502020204030204" pitchFamily="34" charset="0"/>
              <a:cs typeface="Calibri" panose="020F0502020204030204" pitchFamily="34" charset="0"/>
            </a:endParaRPr>
          </a:p>
          <a:p>
            <a:pPr algn="l" fontAlgn="base"/>
            <a:r>
              <a:rPr lang="en-US" sz="2200" b="0" i="0" dirty="0">
                <a:solidFill>
                  <a:srgbClr val="444444"/>
                </a:solidFill>
                <a:effectLst/>
                <a:latin typeface="Calibri" panose="020F0502020204030204" pitchFamily="34" charset="0"/>
                <a:cs typeface="Calibri" panose="020F0502020204030204" pitchFamily="34" charset="0"/>
              </a:rPr>
              <a:t>The listener listens and evaluates the information determining if they agree or disagree with the information or if it is valuable to them.</a:t>
            </a:r>
          </a:p>
          <a:p>
            <a:pPr marL="0" indent="0" algn="l" fontAlgn="base">
              <a:buNone/>
            </a:pPr>
            <a:endParaRPr lang="en-US" sz="2200" b="0" i="0" dirty="0">
              <a:solidFill>
                <a:srgbClr val="444444"/>
              </a:solidFill>
              <a:effectLst/>
              <a:latin typeface="Calibri" panose="020F0502020204030204" pitchFamily="34" charset="0"/>
              <a:cs typeface="Calibri" panose="020F0502020204030204" pitchFamily="34" charset="0"/>
            </a:endParaRPr>
          </a:p>
          <a:p>
            <a:pPr algn="l" fontAlgn="base"/>
            <a:r>
              <a:rPr lang="en-US" sz="2200" b="0" i="0" dirty="0">
                <a:solidFill>
                  <a:srgbClr val="444444"/>
                </a:solidFill>
                <a:effectLst/>
                <a:latin typeface="Calibri" panose="020F0502020204030204" pitchFamily="34" charset="0"/>
                <a:cs typeface="Calibri" panose="020F0502020204030204" pitchFamily="34" charset="0"/>
              </a:rPr>
              <a:t>A word of caution: If a listener determines that the information is not as important, they may fall from the attentive listening level to a lower level of listening.</a:t>
            </a:r>
          </a:p>
        </p:txBody>
      </p:sp>
    </p:spTree>
    <p:extLst>
      <p:ext uri="{BB962C8B-B14F-4D97-AF65-F5344CB8AC3E}">
        <p14:creationId xmlns:p14="http://schemas.microsoft.com/office/powerpoint/2010/main" val="999900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839FC-1942-47E1-60F6-1E9064742104}"/>
              </a:ext>
            </a:extLst>
          </p:cNvPr>
          <p:cNvSpPr>
            <a:spLocks noGrp="1"/>
          </p:cNvSpPr>
          <p:nvPr>
            <p:ph type="title"/>
          </p:nvPr>
        </p:nvSpPr>
        <p:spPr/>
        <p:txBody>
          <a:bodyPr>
            <a:normAutofit/>
          </a:bodyPr>
          <a:lstStyle/>
          <a:p>
            <a:pPr algn="l" fontAlgn="base"/>
            <a:r>
              <a:rPr lang="en-US" b="1" i="0" dirty="0">
                <a:solidFill>
                  <a:srgbClr val="333333"/>
                </a:solidFill>
                <a:effectLst/>
                <a:latin typeface="Times New Roman" panose="02020603050405020304" pitchFamily="18" charset="0"/>
                <a:cs typeface="Times New Roman" panose="02020603050405020304" pitchFamily="18" charset="0"/>
              </a:rPr>
              <a:t>Level 5 -Active or Empathetic Listening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0A053E-DFE6-B572-AEBB-E30C7D205EA1}"/>
              </a:ext>
            </a:extLst>
          </p:cNvPr>
          <p:cNvSpPr>
            <a:spLocks noGrp="1"/>
          </p:cNvSpPr>
          <p:nvPr>
            <p:ph idx="1"/>
          </p:nvPr>
        </p:nvSpPr>
        <p:spPr>
          <a:xfrm>
            <a:off x="1451579" y="1853754"/>
            <a:ext cx="9603275" cy="4199727"/>
          </a:xfrm>
        </p:spPr>
        <p:txBody>
          <a:bodyPr>
            <a:noAutofit/>
          </a:bodyPr>
          <a:lstStyle/>
          <a:p>
            <a:pPr algn="l" fontAlgn="base"/>
            <a:r>
              <a:rPr lang="en-US" sz="2200" b="0" i="0" dirty="0">
                <a:solidFill>
                  <a:srgbClr val="444444"/>
                </a:solidFill>
                <a:effectLst/>
                <a:latin typeface="Calibri" panose="020F0502020204030204" pitchFamily="34" charset="0"/>
                <a:cs typeface="Calibri" panose="020F0502020204030204" pitchFamily="34" charset="0"/>
              </a:rPr>
              <a:t>The pinnacle of listening </a:t>
            </a:r>
          </a:p>
          <a:p>
            <a:pPr algn="l" fontAlgn="base"/>
            <a:endParaRPr lang="en-US" sz="2200" b="0" i="0" dirty="0">
              <a:solidFill>
                <a:srgbClr val="444444"/>
              </a:solidFill>
              <a:effectLst/>
              <a:latin typeface="Calibri" panose="020F0502020204030204" pitchFamily="34" charset="0"/>
              <a:cs typeface="Calibri" panose="020F0502020204030204" pitchFamily="34" charset="0"/>
            </a:endParaRPr>
          </a:p>
          <a:p>
            <a:pPr algn="l" fontAlgn="base"/>
            <a:r>
              <a:rPr lang="en-US" sz="2200" b="0" i="0" dirty="0">
                <a:solidFill>
                  <a:srgbClr val="444444"/>
                </a:solidFill>
                <a:effectLst/>
                <a:latin typeface="Calibri" panose="020F0502020204030204" pitchFamily="34" charset="0"/>
                <a:cs typeface="Calibri" panose="020F0502020204030204" pitchFamily="34" charset="0"/>
              </a:rPr>
              <a:t>The listener gives their full attention – completely focused on the speaker. This is where the old adage comes to play – </a:t>
            </a:r>
            <a:r>
              <a:rPr lang="en-US" sz="2200" b="1" i="0" dirty="0">
                <a:solidFill>
                  <a:srgbClr val="444444"/>
                </a:solidFill>
                <a:effectLst/>
                <a:latin typeface="Calibri" panose="020F0502020204030204" pitchFamily="34" charset="0"/>
                <a:cs typeface="Calibri" panose="020F0502020204030204" pitchFamily="34" charset="0"/>
              </a:rPr>
              <a:t>walking in another’s shoes</a:t>
            </a:r>
            <a:r>
              <a:rPr lang="en-US" sz="2200" b="0" i="0" dirty="0">
                <a:solidFill>
                  <a:srgbClr val="444444"/>
                </a:solidFill>
                <a:effectLst/>
                <a:latin typeface="Calibri" panose="020F0502020204030204" pitchFamily="34" charset="0"/>
                <a:cs typeface="Calibri" panose="020F0502020204030204" pitchFamily="34" charset="0"/>
              </a:rPr>
              <a:t>. The listener gives their whole self to the conversation – ears, heart and mind. </a:t>
            </a:r>
          </a:p>
          <a:p>
            <a:pPr algn="l" fontAlgn="base"/>
            <a:endParaRPr lang="en-US" sz="2200" b="0" i="0" dirty="0">
              <a:solidFill>
                <a:srgbClr val="444444"/>
              </a:solidFill>
              <a:effectLst/>
              <a:latin typeface="Calibri" panose="020F0502020204030204" pitchFamily="34" charset="0"/>
              <a:cs typeface="Calibri" panose="020F0502020204030204" pitchFamily="34" charset="0"/>
            </a:endParaRPr>
          </a:p>
          <a:p>
            <a:pPr algn="l" fontAlgn="base"/>
            <a:r>
              <a:rPr lang="en-US" sz="2200" b="0" i="0" dirty="0">
                <a:solidFill>
                  <a:srgbClr val="444444"/>
                </a:solidFill>
                <a:effectLst/>
                <a:latin typeface="Calibri" panose="020F0502020204030204" pitchFamily="34" charset="0"/>
                <a:cs typeface="Calibri" panose="020F0502020204030204" pitchFamily="34" charset="0"/>
              </a:rPr>
              <a:t>This is the hardest level of listening to achieve because it does require so much energy from the listener.</a:t>
            </a:r>
          </a:p>
        </p:txBody>
      </p:sp>
    </p:spTree>
    <p:extLst>
      <p:ext uri="{BB962C8B-B14F-4D97-AF65-F5344CB8AC3E}">
        <p14:creationId xmlns:p14="http://schemas.microsoft.com/office/powerpoint/2010/main" val="120206045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280</TotalTime>
  <Words>1156</Words>
  <Application>Microsoft Office PowerPoint</Application>
  <PresentationFormat>Widescreen</PresentationFormat>
  <Paragraphs>89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Gill Sans MT</vt:lpstr>
      <vt:lpstr>inherit</vt:lpstr>
      <vt:lpstr>Libre Franklin</vt:lpstr>
      <vt:lpstr>Times New Roman</vt:lpstr>
      <vt:lpstr>Gallery</vt:lpstr>
      <vt:lpstr>Listening skills</vt:lpstr>
      <vt:lpstr>TOPICS TO COVER</vt:lpstr>
      <vt:lpstr>What Is Listening?</vt:lpstr>
      <vt:lpstr>What is Listening?</vt:lpstr>
      <vt:lpstr>THE equation between communication &amp; Effective Listening</vt:lpstr>
      <vt:lpstr>WHAT is Empathic listening?</vt:lpstr>
      <vt:lpstr>HOW TO USE Empathic Listening Skills?</vt:lpstr>
      <vt:lpstr>Empathic Listening Skills</vt:lpstr>
      <vt:lpstr>Empathic Listening Skills</vt:lpstr>
      <vt:lpstr>Empathic Listening Skills</vt:lpstr>
      <vt:lpstr>Empathic Listening Skills</vt:lpstr>
      <vt:lpstr>KEY POINTS</vt:lpstr>
      <vt:lpstr>LEVELS of EFFECTIVE Listening</vt:lpstr>
      <vt:lpstr>Level 1: Ignoring</vt:lpstr>
      <vt:lpstr>Level 2: Pretend Listening</vt:lpstr>
      <vt:lpstr>Level 3 – Selective Listening</vt:lpstr>
      <vt:lpstr>Level 4 – Attentive Listening</vt:lpstr>
      <vt:lpstr>Level 5 -Active or Empathetic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Listening skills</dc:title>
  <dc:creator>Syeda Beena Bukhari</dc:creator>
  <cp:lastModifiedBy>Syeda Beena Bukhari</cp:lastModifiedBy>
  <cp:revision>67</cp:revision>
  <dcterms:created xsi:type="dcterms:W3CDTF">2023-10-02T05:15:56Z</dcterms:created>
  <dcterms:modified xsi:type="dcterms:W3CDTF">2023-10-11T06:39:02Z</dcterms:modified>
</cp:coreProperties>
</file>