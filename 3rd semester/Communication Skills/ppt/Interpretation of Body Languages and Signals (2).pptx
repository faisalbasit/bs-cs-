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8" r:id="rId17"/>
    <p:sldId id="277" r:id="rId18"/>
    <p:sldId id="276" r:id="rId19"/>
    <p:sldId id="275" r:id="rId20"/>
    <p:sldId id="279" r:id="rId21"/>
    <p:sldId id="271" r:id="rId22"/>
    <p:sldId id="272" r:id="rId23"/>
    <p:sldId id="27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DCA48-2DD1-9BCA-5CB7-4B76CDD9F8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E30B3E-A67A-C293-68F7-AEE67EED7F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BCE24B5-AD8A-5753-054C-03656634B207}"/>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5" name="Footer Placeholder 4">
            <a:extLst>
              <a:ext uri="{FF2B5EF4-FFF2-40B4-BE49-F238E27FC236}">
                <a16:creationId xmlns:a16="http://schemas.microsoft.com/office/drawing/2014/main" id="{6570C4AE-C198-8EBE-B691-B0C8B60A8C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34D7D7-C46C-EAA9-DFF9-A0DC2DC81743}"/>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3560366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ADBBE-AA5E-C1AD-3BDA-E8BD92EC3A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2AC20B-02A7-BBB6-6443-0EDD4E8F87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45859F-73FC-3C88-DFD4-FA9EDB5F6BC6}"/>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5" name="Footer Placeholder 4">
            <a:extLst>
              <a:ext uri="{FF2B5EF4-FFF2-40B4-BE49-F238E27FC236}">
                <a16:creationId xmlns:a16="http://schemas.microsoft.com/office/drawing/2014/main" id="{8A0C0191-0712-5973-9FC9-04F35058C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E2DA70-3A3C-13C6-EB0D-2A833646D135}"/>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111345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14389-5135-C264-18FF-3EE373B24B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BAAB40-030B-12D6-02BE-FD50B6369C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0BDA4D-9AA5-DED9-A1E0-712FE1FD0C80}"/>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5" name="Footer Placeholder 4">
            <a:extLst>
              <a:ext uri="{FF2B5EF4-FFF2-40B4-BE49-F238E27FC236}">
                <a16:creationId xmlns:a16="http://schemas.microsoft.com/office/drawing/2014/main" id="{66DE146F-BC63-F102-59FC-9A70D2D3D4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3FB166-F3F3-25B8-C35E-AC87ED045BE5}"/>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137875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E61CD-44C2-825B-857E-DBAB000416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CEAC2D-9E92-EAE2-1287-D3DA2ABA6D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7052E2-38E2-BA5C-3052-E9DA593F81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800693-12BC-758B-2AE1-ABCF8F283392}"/>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6" name="Footer Placeholder 5">
            <a:extLst>
              <a:ext uri="{FF2B5EF4-FFF2-40B4-BE49-F238E27FC236}">
                <a16:creationId xmlns:a16="http://schemas.microsoft.com/office/drawing/2014/main" id="{2F31EC70-7E08-CF67-6718-D250FE34CC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49A5D2-316A-EE95-5F85-02E219E004EF}"/>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3725210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498DE-AFB0-B89F-428C-114745619B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0775BB-6AC7-DA17-AFD9-504BC21351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2C8E99-602B-2004-868C-6B3766D949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4ACE89-1607-4FF1-2766-53414D2B35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37CFC0-46D2-F706-C9C4-510F363C15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8570C7-427D-C1C0-5DCF-199C2F7C8AE0}"/>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8" name="Footer Placeholder 7">
            <a:extLst>
              <a:ext uri="{FF2B5EF4-FFF2-40B4-BE49-F238E27FC236}">
                <a16:creationId xmlns:a16="http://schemas.microsoft.com/office/drawing/2014/main" id="{3329D87D-DF41-5EB3-E466-BE5917FD3C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5C4CDD-D3AF-3DAA-7E99-32636BC9DDE6}"/>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4188805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7E244-9B1A-2BE7-A4C5-8CC0822320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58CE47-51BF-1527-2C29-F18EE924AA7C}"/>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4" name="Footer Placeholder 3">
            <a:extLst>
              <a:ext uri="{FF2B5EF4-FFF2-40B4-BE49-F238E27FC236}">
                <a16:creationId xmlns:a16="http://schemas.microsoft.com/office/drawing/2014/main" id="{44BCE706-A0D1-40C6-7C2A-0D16E71094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88BD34-618A-55F3-7B33-678F055BB1F3}"/>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2175561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3C35C3-5ACD-001E-DA29-B6A258DBE1C2}"/>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3" name="Footer Placeholder 2">
            <a:extLst>
              <a:ext uri="{FF2B5EF4-FFF2-40B4-BE49-F238E27FC236}">
                <a16:creationId xmlns:a16="http://schemas.microsoft.com/office/drawing/2014/main" id="{F3EF7DE7-DF5C-D0FA-AB6A-41325CA95F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C11609-6B1E-A53B-8582-5E2F6448CB7D}"/>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148999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16A4F-4CD8-3FD6-A6AD-F3BF5717D5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AEFC16-955C-EFA7-8ABA-A3C97351EE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E9F9E9-BFD7-D994-B481-FD86340156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DDF948-7E19-6F5F-82A6-1C53D4284C5A}"/>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6" name="Footer Placeholder 5">
            <a:extLst>
              <a:ext uri="{FF2B5EF4-FFF2-40B4-BE49-F238E27FC236}">
                <a16:creationId xmlns:a16="http://schemas.microsoft.com/office/drawing/2014/main" id="{D0EAF722-90B6-7099-80B9-9241C58100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41025D-9549-D56D-F3F2-48A4A4D7462D}"/>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3779116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79909-7E07-FC21-2234-058257421A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BC7953-AC60-B1EE-02AA-427FE6A39F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F34450-BE37-91B3-12C6-D86F76220B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E74DD9-DFCF-B09C-4192-2F5EED20EB3D}"/>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6" name="Footer Placeholder 5">
            <a:extLst>
              <a:ext uri="{FF2B5EF4-FFF2-40B4-BE49-F238E27FC236}">
                <a16:creationId xmlns:a16="http://schemas.microsoft.com/office/drawing/2014/main" id="{BE4C0621-AAE5-B016-1336-0192E5DF42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9348E-EA6A-DB3B-7493-DB22313BFFF9}"/>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2987058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5DE2B-DF1E-1C7B-CA91-F3FED728C1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C3ED38-CBF8-110E-D059-A763B50C6C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3EAA82-280E-4157-7382-DF9705248E23}"/>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5" name="Footer Placeholder 4">
            <a:extLst>
              <a:ext uri="{FF2B5EF4-FFF2-40B4-BE49-F238E27FC236}">
                <a16:creationId xmlns:a16="http://schemas.microsoft.com/office/drawing/2014/main" id="{5A67983B-07AB-9A48-7C53-459864D18B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4B969F-AD4F-C70A-292C-FA3DCF44BFBB}"/>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1233202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B3560-D1F8-77F1-E151-AF4C627679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318DCE-F73B-E6A3-2601-B874C23AC3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CA9D25-18AB-0893-E497-8B257EA1874E}"/>
              </a:ext>
            </a:extLst>
          </p:cNvPr>
          <p:cNvSpPr>
            <a:spLocks noGrp="1"/>
          </p:cNvSpPr>
          <p:nvPr>
            <p:ph type="dt" sz="half" idx="10"/>
          </p:nvPr>
        </p:nvSpPr>
        <p:spPr/>
        <p:txBody>
          <a:bodyPr/>
          <a:lstStyle/>
          <a:p>
            <a:fld id="{DC6103C1-1B69-4A18-9C44-E24F32D89B2D}" type="datetimeFigureOut">
              <a:rPr lang="en-US" smtClean="0"/>
              <a:t>11/30/2023</a:t>
            </a:fld>
            <a:endParaRPr lang="en-US"/>
          </a:p>
        </p:txBody>
      </p:sp>
      <p:sp>
        <p:nvSpPr>
          <p:cNvPr id="5" name="Footer Placeholder 4">
            <a:extLst>
              <a:ext uri="{FF2B5EF4-FFF2-40B4-BE49-F238E27FC236}">
                <a16:creationId xmlns:a16="http://schemas.microsoft.com/office/drawing/2014/main" id="{57512EDE-8FDF-DFE1-9EF9-512919D51F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F6DC2-4B78-9E6A-3F78-C54CCA90814F}"/>
              </a:ext>
            </a:extLst>
          </p:cNvPr>
          <p:cNvSpPr>
            <a:spLocks noGrp="1"/>
          </p:cNvSpPr>
          <p:nvPr>
            <p:ph type="sldNum" sz="quarter" idx="12"/>
          </p:nvPr>
        </p:nvSpPr>
        <p:spPr/>
        <p:txBody>
          <a:bodyPr/>
          <a:lstStyle/>
          <a:p>
            <a:fld id="{16E78BCC-F637-4168-8F5C-C258C295B742}" type="slidenum">
              <a:rPr lang="en-US" smtClean="0"/>
              <a:t>‹#›</a:t>
            </a:fld>
            <a:endParaRPr lang="en-US"/>
          </a:p>
        </p:txBody>
      </p:sp>
    </p:spTree>
    <p:extLst>
      <p:ext uri="{BB962C8B-B14F-4D97-AF65-F5344CB8AC3E}">
        <p14:creationId xmlns:p14="http://schemas.microsoft.com/office/powerpoint/2010/main" val="156017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F1B831-6C00-F1FB-CF80-467EB69C37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27B64F-2137-6CC7-6E74-AE40D34D82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848424-6D19-EB90-34D6-474FC5FFA6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6103C1-1B69-4A18-9C44-E24F32D89B2D}" type="datetimeFigureOut">
              <a:rPr lang="en-US" smtClean="0"/>
              <a:t>11/30/2023</a:t>
            </a:fld>
            <a:endParaRPr lang="en-US"/>
          </a:p>
        </p:txBody>
      </p:sp>
      <p:sp>
        <p:nvSpPr>
          <p:cNvPr id="5" name="Footer Placeholder 4">
            <a:extLst>
              <a:ext uri="{FF2B5EF4-FFF2-40B4-BE49-F238E27FC236}">
                <a16:creationId xmlns:a16="http://schemas.microsoft.com/office/drawing/2014/main" id="{422C7AB1-9FAA-3B4A-61F6-886F905606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CF7185-0F93-BEBA-6B7F-3B038CF0A9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E78BCC-F637-4168-8F5C-C258C295B742}" type="slidenum">
              <a:rPr lang="en-US" smtClean="0"/>
              <a:t>‹#›</a:t>
            </a:fld>
            <a:endParaRPr lang="en-US"/>
          </a:p>
        </p:txBody>
      </p:sp>
    </p:spTree>
    <p:extLst>
      <p:ext uri="{BB962C8B-B14F-4D97-AF65-F5344CB8AC3E}">
        <p14:creationId xmlns:p14="http://schemas.microsoft.com/office/powerpoint/2010/main" val="997037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verywellmind.com/what-is-cross-cultural-psychology-2794903"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verywellmind.com/what-is-aggression-2794818"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verywellmind.com/breaking-the-anxiety-cycle-1392987"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26DE7-BEE5-FA28-9A2E-9A2CD711DC3C}"/>
              </a:ext>
            </a:extLst>
          </p:cNvPr>
          <p:cNvSpPr>
            <a:spLocks noGrp="1"/>
          </p:cNvSpPr>
          <p:nvPr>
            <p:ph type="ctrTitle"/>
          </p:nvPr>
        </p:nvSpPr>
        <p:spPr/>
        <p:txBody>
          <a:bodyPr>
            <a:noAutofit/>
          </a:bodyPr>
          <a:lstStyle/>
          <a:p>
            <a:pPr marL="0" marR="0">
              <a:lnSpc>
                <a:spcPct val="107000"/>
              </a:lnSpc>
              <a:spcBef>
                <a:spcPts val="0"/>
              </a:spcBef>
              <a:spcAft>
                <a:spcPts val="800"/>
              </a:spcAft>
            </a:pPr>
            <a:r>
              <a:rPr lang="en-GB" sz="3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Interpretation of Body Languages and Signals</a:t>
            </a:r>
            <a:br>
              <a:rPr lang="en-GB" sz="3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GB" sz="3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Recommended Postures for Professional Setting</a:t>
            </a:r>
            <a:r>
              <a:rPr lang="en-US" sz="3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3600" kern="100" dirty="0">
                <a:effectLst/>
                <a:latin typeface="Calibri" panose="020F0502020204030204" pitchFamily="34" charset="0"/>
                <a:ea typeface="Times New Roman" panose="02020603050405020304" pitchFamily="18" charset="0"/>
                <a:cs typeface="Times New Roman" panose="02020603050405020304" pitchFamily="18" charset="0"/>
              </a:rPr>
            </a:br>
            <a:r>
              <a:rPr lang="en-US" sz="3600" dirty="0">
                <a:effectLst/>
                <a:latin typeface="Times New Roman" panose="02020603050405020304" pitchFamily="18" charset="0"/>
                <a:ea typeface="Times New Roman" panose="02020603050405020304" pitchFamily="18" charset="0"/>
              </a:rPr>
              <a:t>Tone and Tenor</a:t>
            </a:r>
            <a:endParaRPr lang="en-US" sz="3600" dirty="0"/>
          </a:p>
        </p:txBody>
      </p:sp>
      <p:sp>
        <p:nvSpPr>
          <p:cNvPr id="3" name="Subtitle 2">
            <a:extLst>
              <a:ext uri="{FF2B5EF4-FFF2-40B4-BE49-F238E27FC236}">
                <a16:creationId xmlns:a16="http://schemas.microsoft.com/office/drawing/2014/main" id="{A0E66A30-1E6D-BF8D-FABD-8C64DFB1E93F}"/>
              </a:ext>
            </a:extLst>
          </p:cNvPr>
          <p:cNvSpPr>
            <a:spLocks noGrp="1"/>
          </p:cNvSpPr>
          <p:nvPr>
            <p:ph type="subTitle" idx="1"/>
          </p:nvPr>
        </p:nvSpPr>
        <p:spPr/>
        <p:txBody>
          <a:bodyPr>
            <a:normAutofit lnSpcReduction="10000"/>
          </a:bodyPr>
          <a:lstStyle/>
          <a:p>
            <a:r>
              <a:rPr lang="en-US" dirty="0"/>
              <a:t>  </a:t>
            </a:r>
          </a:p>
          <a:p>
            <a:endParaRPr lang="en-US" dirty="0"/>
          </a:p>
          <a:p>
            <a:endParaRPr lang="en-US" dirty="0"/>
          </a:p>
          <a:p>
            <a:r>
              <a:rPr lang="en-US" dirty="0"/>
              <a:t>						Syeda Beena Bukhari</a:t>
            </a:r>
          </a:p>
        </p:txBody>
      </p:sp>
    </p:spTree>
    <p:extLst>
      <p:ext uri="{BB962C8B-B14F-4D97-AF65-F5344CB8AC3E}">
        <p14:creationId xmlns:p14="http://schemas.microsoft.com/office/powerpoint/2010/main" val="145463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B5DDF-9C48-E432-1766-FD20A5FEBB0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EYES</a:t>
            </a:r>
          </a:p>
        </p:txBody>
      </p:sp>
      <p:sp>
        <p:nvSpPr>
          <p:cNvPr id="3" name="Content Placeholder 2">
            <a:extLst>
              <a:ext uri="{FF2B5EF4-FFF2-40B4-BE49-F238E27FC236}">
                <a16:creationId xmlns:a16="http://schemas.microsoft.com/office/drawing/2014/main" id="{F3A57B72-F456-D30C-C0FA-ADB8B512457E}"/>
              </a:ext>
            </a:extLst>
          </p:cNvPr>
          <p:cNvSpPr>
            <a:spLocks noGrp="1"/>
          </p:cNvSpPr>
          <p:nvPr>
            <p:ph idx="1"/>
          </p:nvPr>
        </p:nvSpPr>
        <p:spPr/>
        <p:txBody>
          <a:bodyPr>
            <a:normAutofit/>
          </a:bodyPr>
          <a:lstStyle/>
          <a:p>
            <a:pPr lvl="1"/>
            <a:r>
              <a:rPr lang="en-US" sz="2800" dirty="0">
                <a:latin typeface="Google Sans"/>
              </a:rPr>
              <a:t>Windows to the soul</a:t>
            </a:r>
          </a:p>
          <a:p>
            <a:pPr lvl="1"/>
            <a:endParaRPr lang="en-US" sz="2800" dirty="0">
              <a:latin typeface="Google Sans"/>
            </a:endParaRPr>
          </a:p>
          <a:p>
            <a:pPr lvl="1"/>
            <a:r>
              <a:rPr lang="en-US" sz="2800" dirty="0">
                <a:latin typeface="Google Sans"/>
              </a:rPr>
              <a:t>Notice direct eye contact, averting the gaze, blinking or pupils dilated</a:t>
            </a:r>
          </a:p>
        </p:txBody>
      </p:sp>
    </p:spTree>
    <p:extLst>
      <p:ext uri="{BB962C8B-B14F-4D97-AF65-F5344CB8AC3E}">
        <p14:creationId xmlns:p14="http://schemas.microsoft.com/office/powerpoint/2010/main" val="3093833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9B68F-4397-D7F3-664E-61D554E1F4B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EYE GAZE</a:t>
            </a:r>
          </a:p>
        </p:txBody>
      </p:sp>
      <p:sp>
        <p:nvSpPr>
          <p:cNvPr id="3" name="Content Placeholder 2">
            <a:extLst>
              <a:ext uri="{FF2B5EF4-FFF2-40B4-BE49-F238E27FC236}">
                <a16:creationId xmlns:a16="http://schemas.microsoft.com/office/drawing/2014/main" id="{2FE747C5-88DA-3419-FEF9-0E1C9906CD78}"/>
              </a:ext>
            </a:extLst>
          </p:cNvPr>
          <p:cNvSpPr>
            <a:spLocks noGrp="1"/>
          </p:cNvSpPr>
          <p:nvPr>
            <p:ph idx="1"/>
          </p:nvPr>
        </p:nvSpPr>
        <p:spPr/>
        <p:txBody>
          <a:bodyPr/>
          <a:lstStyle/>
          <a:p>
            <a:pPr algn="l" fontAlgn="base"/>
            <a:r>
              <a:rPr lang="en-US" b="0" i="0" dirty="0">
                <a:effectLst/>
                <a:latin typeface="Google Sans"/>
              </a:rPr>
              <a:t>When looking directly into </a:t>
            </a:r>
            <a:r>
              <a:rPr lang="en-US" dirty="0">
                <a:latin typeface="Google Sans"/>
              </a:rPr>
              <a:t>the</a:t>
            </a:r>
            <a:r>
              <a:rPr lang="en-US" b="0" i="0" dirty="0">
                <a:effectLst/>
                <a:latin typeface="Google Sans"/>
              </a:rPr>
              <a:t> eyes during a conversation, it indicates that they are interested and paying attention. However, prolonged eye contact can feel threatening.</a:t>
            </a:r>
          </a:p>
          <a:p>
            <a:pPr algn="l" fontAlgn="base"/>
            <a:endParaRPr lang="en-US" b="0" i="0" dirty="0">
              <a:effectLst/>
              <a:latin typeface="Google Sans"/>
            </a:endParaRPr>
          </a:p>
          <a:p>
            <a:pPr algn="l" fontAlgn="base"/>
            <a:r>
              <a:rPr lang="en-US" b="0" i="0" dirty="0">
                <a:effectLst/>
                <a:latin typeface="Google Sans"/>
              </a:rPr>
              <a:t>On the other hand, breaking eye contact and frequently looking away might indicate that the person is distracted, uncomfortable, or trying to conceal his or her real feelings.</a:t>
            </a:r>
          </a:p>
        </p:txBody>
      </p:sp>
    </p:spTree>
    <p:extLst>
      <p:ext uri="{BB962C8B-B14F-4D97-AF65-F5344CB8AC3E}">
        <p14:creationId xmlns:p14="http://schemas.microsoft.com/office/powerpoint/2010/main" val="2588515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F3D6D-417A-D9FF-1401-52543097418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BLINKING</a:t>
            </a:r>
          </a:p>
        </p:txBody>
      </p:sp>
      <p:sp>
        <p:nvSpPr>
          <p:cNvPr id="3" name="Content Placeholder 2">
            <a:extLst>
              <a:ext uri="{FF2B5EF4-FFF2-40B4-BE49-F238E27FC236}">
                <a16:creationId xmlns:a16="http://schemas.microsoft.com/office/drawing/2014/main" id="{8A210B2B-BA9E-FF5D-E88A-8BD525A664D5}"/>
              </a:ext>
            </a:extLst>
          </p:cNvPr>
          <p:cNvSpPr>
            <a:spLocks noGrp="1"/>
          </p:cNvSpPr>
          <p:nvPr>
            <p:ph idx="1"/>
          </p:nvPr>
        </p:nvSpPr>
        <p:spPr/>
        <p:txBody>
          <a:bodyPr>
            <a:normAutofit lnSpcReduction="10000"/>
          </a:bodyPr>
          <a:lstStyle/>
          <a:p>
            <a:pPr algn="l" fontAlgn="base"/>
            <a:r>
              <a:rPr lang="en-US" b="0" i="0" dirty="0">
                <a:solidFill>
                  <a:srgbClr val="212121"/>
                </a:solidFill>
                <a:effectLst/>
                <a:latin typeface="Google Sans"/>
              </a:rPr>
              <a:t>Blinking is natural, but you should also pay attention to whether a person is blinking too much or too little.</a:t>
            </a:r>
          </a:p>
          <a:p>
            <a:pPr algn="l" fontAlgn="base"/>
            <a:endParaRPr lang="en-US" b="0" i="0" dirty="0">
              <a:solidFill>
                <a:srgbClr val="212121"/>
              </a:solidFill>
              <a:effectLst/>
              <a:latin typeface="Google Sans"/>
            </a:endParaRPr>
          </a:p>
          <a:p>
            <a:pPr algn="l" fontAlgn="base"/>
            <a:r>
              <a:rPr lang="en-US" b="0" i="0" dirty="0">
                <a:solidFill>
                  <a:srgbClr val="212121"/>
                </a:solidFill>
                <a:effectLst/>
                <a:latin typeface="Google Sans"/>
              </a:rPr>
              <a:t>People often blink more rapidly when they are feeling distressed or uncomfortable. Infrequent blinking may indicate that a person is intentionally trying to control his or her eye movements.</a:t>
            </a:r>
            <a:r>
              <a:rPr lang="en-US" b="0" i="0" u="none" strike="noStrike" baseline="30000" dirty="0">
                <a:solidFill>
                  <a:srgbClr val="0000EE"/>
                </a:solidFill>
                <a:effectLst/>
                <a:latin typeface="Google Sans"/>
              </a:rPr>
              <a:t>7</a:t>
            </a:r>
            <a:r>
              <a:rPr lang="en-US" b="0" i="0" dirty="0">
                <a:solidFill>
                  <a:srgbClr val="212121"/>
                </a:solidFill>
                <a:effectLst/>
                <a:latin typeface="Google Sans"/>
              </a:rPr>
              <a:t>﻿</a:t>
            </a:r>
          </a:p>
          <a:p>
            <a:pPr algn="l" fontAlgn="base"/>
            <a:endParaRPr lang="en-US" b="0" i="0" dirty="0">
              <a:solidFill>
                <a:srgbClr val="212121"/>
              </a:solidFill>
              <a:effectLst/>
              <a:latin typeface="Google Sans"/>
            </a:endParaRPr>
          </a:p>
          <a:p>
            <a:pPr algn="l" fontAlgn="base"/>
            <a:r>
              <a:rPr lang="en-US" b="0" i="0" dirty="0">
                <a:solidFill>
                  <a:srgbClr val="212121"/>
                </a:solidFill>
                <a:effectLst/>
                <a:latin typeface="Google Sans"/>
              </a:rPr>
              <a:t>For example, a poker player might blink less frequently because he is purposely trying to appear unexcited about the hand he was dealt.</a:t>
            </a:r>
            <a:br>
              <a:rPr lang="en-US" dirty="0">
                <a:latin typeface="Google Sans"/>
              </a:rPr>
            </a:br>
            <a:endParaRPr lang="en-US" dirty="0">
              <a:latin typeface="Google Sans"/>
            </a:endParaRPr>
          </a:p>
        </p:txBody>
      </p:sp>
    </p:spTree>
    <p:extLst>
      <p:ext uri="{BB962C8B-B14F-4D97-AF65-F5344CB8AC3E}">
        <p14:creationId xmlns:p14="http://schemas.microsoft.com/office/powerpoint/2010/main" val="144472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FBFFE-0C82-794F-7ECA-6B039FCB597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PUPIL SIZE</a:t>
            </a:r>
          </a:p>
        </p:txBody>
      </p:sp>
      <p:sp>
        <p:nvSpPr>
          <p:cNvPr id="3" name="Content Placeholder 2">
            <a:extLst>
              <a:ext uri="{FF2B5EF4-FFF2-40B4-BE49-F238E27FC236}">
                <a16:creationId xmlns:a16="http://schemas.microsoft.com/office/drawing/2014/main" id="{DFAA2EA6-EFEF-5CDE-1250-6E126BC70FDC}"/>
              </a:ext>
            </a:extLst>
          </p:cNvPr>
          <p:cNvSpPr>
            <a:spLocks noGrp="1"/>
          </p:cNvSpPr>
          <p:nvPr>
            <p:ph idx="1"/>
          </p:nvPr>
        </p:nvSpPr>
        <p:spPr/>
        <p:txBody>
          <a:bodyPr>
            <a:normAutofit/>
          </a:bodyPr>
          <a:lstStyle/>
          <a:p>
            <a:pPr algn="l" fontAlgn="base"/>
            <a:r>
              <a:rPr lang="en-US" b="0" dirty="0">
                <a:effectLst/>
                <a:latin typeface="Google Sans"/>
              </a:rPr>
              <a:t>Pupil size can be a very subtle nonverbal communication signal. While light levels in the environment control pupil dilation, sometimes emotions can also cause small changes in pupil size.</a:t>
            </a:r>
          </a:p>
          <a:p>
            <a:pPr algn="l" fontAlgn="base"/>
            <a:endParaRPr lang="en-US" b="0" dirty="0">
              <a:effectLst/>
              <a:latin typeface="Google Sans"/>
            </a:endParaRPr>
          </a:p>
          <a:p>
            <a:pPr algn="l" fontAlgn="base"/>
            <a:r>
              <a:rPr lang="en-US" b="0" dirty="0">
                <a:effectLst/>
                <a:latin typeface="Google Sans"/>
              </a:rPr>
              <a:t>For example, you may have heard the phrase "bedroom eyes" used to describe the look someone gives when they are attracted to another person. Highly dilated eyes, for example, can indicate that a person is interested.</a:t>
            </a:r>
            <a:r>
              <a:rPr lang="en-US" b="0" u="none" strike="noStrike" baseline="30000" dirty="0">
                <a:solidFill>
                  <a:srgbClr val="0000EE"/>
                </a:solidFill>
                <a:effectLst/>
                <a:latin typeface="Google Sans"/>
              </a:rPr>
              <a:t>8</a:t>
            </a:r>
            <a:r>
              <a:rPr lang="en-US" b="0" dirty="0">
                <a:effectLst/>
                <a:latin typeface="Google Sans"/>
              </a:rPr>
              <a:t>﻿ </a:t>
            </a:r>
            <a:endParaRPr lang="en-US" dirty="0">
              <a:latin typeface="Google Sans"/>
            </a:endParaRPr>
          </a:p>
        </p:txBody>
      </p:sp>
    </p:spTree>
    <p:extLst>
      <p:ext uri="{BB962C8B-B14F-4D97-AF65-F5344CB8AC3E}">
        <p14:creationId xmlns:p14="http://schemas.microsoft.com/office/powerpoint/2010/main" val="2982726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312A-86B1-DE6C-91C7-675FB99EDD0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MOUTH</a:t>
            </a:r>
          </a:p>
        </p:txBody>
      </p:sp>
      <p:sp>
        <p:nvSpPr>
          <p:cNvPr id="3" name="Content Placeholder 2">
            <a:extLst>
              <a:ext uri="{FF2B5EF4-FFF2-40B4-BE49-F238E27FC236}">
                <a16:creationId xmlns:a16="http://schemas.microsoft.com/office/drawing/2014/main" id="{4C80C02A-7755-CDB5-2607-655AC523180B}"/>
              </a:ext>
            </a:extLst>
          </p:cNvPr>
          <p:cNvSpPr>
            <a:spLocks noGrp="1"/>
          </p:cNvSpPr>
          <p:nvPr>
            <p:ph idx="1"/>
          </p:nvPr>
        </p:nvSpPr>
        <p:spPr/>
        <p:txBody>
          <a:bodyPr>
            <a:normAutofit/>
          </a:bodyPr>
          <a:lstStyle/>
          <a:p>
            <a:pPr algn="l" fontAlgn="base"/>
            <a:r>
              <a:rPr lang="en-US" b="0" i="0" dirty="0">
                <a:solidFill>
                  <a:srgbClr val="212121"/>
                </a:solidFill>
                <a:effectLst/>
                <a:latin typeface="Google Sans"/>
              </a:rPr>
              <a:t>Mouth expressions and movements can also be essential in reading body language. For example, chewing on the bottom lip may indicate that the individual is experiencing feelings of worry, fear, or insecurity.</a:t>
            </a:r>
          </a:p>
          <a:p>
            <a:pPr algn="l" fontAlgn="base"/>
            <a:r>
              <a:rPr lang="en-US" b="0" i="0" dirty="0">
                <a:solidFill>
                  <a:srgbClr val="212121"/>
                </a:solidFill>
                <a:effectLst/>
                <a:latin typeface="Google Sans"/>
              </a:rPr>
              <a:t>Covering the mouth may be an effort to be polite if the person is yawning or coughing, but it may also be an attempt to cover up a frown of disapproval.</a:t>
            </a:r>
          </a:p>
          <a:p>
            <a:pPr algn="l" fontAlgn="base"/>
            <a:r>
              <a:rPr lang="en-US" b="0" i="0" dirty="0">
                <a:solidFill>
                  <a:srgbClr val="212121"/>
                </a:solidFill>
                <a:effectLst/>
                <a:latin typeface="Google Sans"/>
              </a:rPr>
              <a:t>Smiling is perhaps one of the greatest body language signals, but smiles can also be interpreted in many ways.</a:t>
            </a:r>
          </a:p>
          <a:p>
            <a:pPr algn="l" fontAlgn="base"/>
            <a:r>
              <a:rPr lang="en-US" b="0" i="0" dirty="0">
                <a:solidFill>
                  <a:srgbClr val="212121"/>
                </a:solidFill>
                <a:effectLst/>
                <a:latin typeface="Google Sans"/>
              </a:rPr>
              <a:t>A smile may be genuine, or it may be used to express false happiness, sarcasm, or even cynicism.</a:t>
            </a:r>
            <a:r>
              <a:rPr lang="en-US" b="0" i="0" u="none" strike="noStrike" baseline="30000" dirty="0">
                <a:solidFill>
                  <a:srgbClr val="0000EE"/>
                </a:solidFill>
                <a:effectLst/>
                <a:latin typeface="Google Sans"/>
              </a:rPr>
              <a:t>9</a:t>
            </a:r>
            <a:endParaRPr lang="en-US" b="0" i="0" dirty="0">
              <a:solidFill>
                <a:srgbClr val="212121"/>
              </a:solidFill>
              <a:effectLst/>
              <a:latin typeface="Google Sans"/>
            </a:endParaRPr>
          </a:p>
          <a:p>
            <a:endParaRPr lang="en-US" dirty="0">
              <a:latin typeface="Google Sans"/>
            </a:endParaRPr>
          </a:p>
        </p:txBody>
      </p:sp>
    </p:spTree>
    <p:extLst>
      <p:ext uri="{BB962C8B-B14F-4D97-AF65-F5344CB8AC3E}">
        <p14:creationId xmlns:p14="http://schemas.microsoft.com/office/powerpoint/2010/main" val="55281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196DB6-111C-3A93-EE8B-6BD2A8181BEE}"/>
              </a:ext>
            </a:extLst>
          </p:cNvPr>
          <p:cNvSpPr>
            <a:spLocks noGrp="1"/>
          </p:cNvSpPr>
          <p:nvPr>
            <p:ph idx="1"/>
          </p:nvPr>
        </p:nvSpPr>
        <p:spPr/>
        <p:txBody>
          <a:bodyPr>
            <a:normAutofit fontScale="85000" lnSpcReduction="20000"/>
          </a:bodyPr>
          <a:lstStyle/>
          <a:p>
            <a:pPr algn="l" fontAlgn="base"/>
            <a:r>
              <a:rPr lang="en-US" b="0" dirty="0">
                <a:effectLst/>
                <a:latin typeface="Google Sans"/>
              </a:rPr>
              <a:t>When evaluating body language, pay attention to the following mouth and lip signals:</a:t>
            </a:r>
          </a:p>
          <a:p>
            <a:pPr algn="l" fontAlgn="base">
              <a:buFont typeface="Arial" panose="020B0604020202020204" pitchFamily="34" charset="0"/>
              <a:buChar char="•"/>
            </a:pPr>
            <a:r>
              <a:rPr lang="en-US" b="1" dirty="0">
                <a:effectLst/>
                <a:latin typeface="Google Sans"/>
              </a:rPr>
              <a:t>Pursed lips. </a:t>
            </a:r>
            <a:r>
              <a:rPr lang="en-US" b="0" dirty="0">
                <a:effectLst/>
                <a:latin typeface="Google Sans"/>
              </a:rPr>
              <a:t>Tightening the lips might be an indicator of distaste, disapproval, or distrust.</a:t>
            </a:r>
          </a:p>
          <a:p>
            <a:pPr algn="l" fontAlgn="base">
              <a:buFont typeface="Arial" panose="020B0604020202020204" pitchFamily="34" charset="0"/>
              <a:buChar char="•"/>
            </a:pPr>
            <a:r>
              <a:rPr lang="en-US" b="1" dirty="0">
                <a:effectLst/>
                <a:latin typeface="Google Sans"/>
              </a:rPr>
              <a:t>Lip biting. </a:t>
            </a:r>
            <a:r>
              <a:rPr lang="en-US" b="0" dirty="0">
                <a:effectLst/>
                <a:latin typeface="Google Sans"/>
              </a:rPr>
              <a:t>People sometimes bite their lips when they are worried, anxious, or stressed.</a:t>
            </a:r>
          </a:p>
          <a:p>
            <a:pPr algn="l" fontAlgn="base">
              <a:buFont typeface="Arial" panose="020B0604020202020204" pitchFamily="34" charset="0"/>
              <a:buChar char="•"/>
            </a:pPr>
            <a:r>
              <a:rPr lang="en-US" b="1" dirty="0">
                <a:effectLst/>
                <a:latin typeface="Google Sans"/>
              </a:rPr>
              <a:t>Covering the mouth. </a:t>
            </a:r>
            <a:r>
              <a:rPr lang="en-US" b="0" dirty="0">
                <a:effectLst/>
                <a:latin typeface="Google Sans"/>
              </a:rPr>
              <a:t>When people want to hide an emotional reaction, they might cover their mouths in order to avoid displaying smiles or smirks.</a:t>
            </a:r>
          </a:p>
          <a:p>
            <a:pPr algn="l" fontAlgn="base">
              <a:buFont typeface="Arial" panose="020B0604020202020204" pitchFamily="34" charset="0"/>
              <a:buChar char="•"/>
            </a:pPr>
            <a:r>
              <a:rPr lang="en-US" b="1" dirty="0">
                <a:effectLst/>
                <a:latin typeface="Google Sans"/>
              </a:rPr>
              <a:t>Turned up or down. </a:t>
            </a:r>
            <a:r>
              <a:rPr lang="en-US" b="0" dirty="0">
                <a:effectLst/>
                <a:latin typeface="Google Sans"/>
              </a:rPr>
              <a:t>Slight changes in the mouth can also be subtle indicators of what a person is feeling. When the mouth is slightly turned up, it might mean that the person is feeling happy or optimistic. On the other hand, a slightly down-turned mouth can be an indicator of sadness, disapproval, or even an outright grimace.</a:t>
            </a:r>
          </a:p>
          <a:p>
            <a:endParaRPr lang="en-US" dirty="0">
              <a:latin typeface="Google Sans"/>
            </a:endParaRPr>
          </a:p>
        </p:txBody>
      </p:sp>
    </p:spTree>
    <p:extLst>
      <p:ext uri="{BB962C8B-B14F-4D97-AF65-F5344CB8AC3E}">
        <p14:creationId xmlns:p14="http://schemas.microsoft.com/office/powerpoint/2010/main" val="1330801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7CABC-0125-71A0-DBDD-5427C79078C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GESTURES</a:t>
            </a:r>
          </a:p>
        </p:txBody>
      </p:sp>
      <p:sp>
        <p:nvSpPr>
          <p:cNvPr id="3" name="Content Placeholder 2">
            <a:extLst>
              <a:ext uri="{FF2B5EF4-FFF2-40B4-BE49-F238E27FC236}">
                <a16:creationId xmlns:a16="http://schemas.microsoft.com/office/drawing/2014/main" id="{35ADBD4F-E1B1-1DEF-538C-C215F8113B29}"/>
              </a:ext>
            </a:extLst>
          </p:cNvPr>
          <p:cNvSpPr>
            <a:spLocks noGrp="1"/>
          </p:cNvSpPr>
          <p:nvPr>
            <p:ph idx="1"/>
          </p:nvPr>
        </p:nvSpPr>
        <p:spPr/>
        <p:txBody>
          <a:bodyPr/>
          <a:lstStyle/>
          <a:p>
            <a:pPr algn="l" fontAlgn="base"/>
            <a:r>
              <a:rPr lang="en-US" b="0" i="0" dirty="0">
                <a:solidFill>
                  <a:srgbClr val="212121"/>
                </a:solidFill>
                <a:effectLst/>
                <a:latin typeface="Google Sans"/>
              </a:rPr>
              <a:t>Gestures can be some of the most direct and obvious body language signals. Waving, pointing, and using the fingers to indicate numerical amounts are all very common and easy to understand gestures.</a:t>
            </a:r>
          </a:p>
          <a:p>
            <a:pPr algn="l" fontAlgn="base"/>
            <a:endParaRPr lang="en-US" b="0" i="0" dirty="0">
              <a:solidFill>
                <a:srgbClr val="212121"/>
              </a:solidFill>
              <a:effectLst/>
              <a:latin typeface="Google Sans"/>
            </a:endParaRPr>
          </a:p>
          <a:p>
            <a:pPr algn="l" fontAlgn="base"/>
            <a:r>
              <a:rPr lang="en-US" b="0" i="0" dirty="0">
                <a:solidFill>
                  <a:srgbClr val="212121"/>
                </a:solidFill>
                <a:effectLst/>
                <a:latin typeface="Google Sans"/>
              </a:rPr>
              <a:t>Some gestures may be </a:t>
            </a:r>
            <a:r>
              <a:rPr lang="en-US" b="0" i="0" u="sng" dirty="0">
                <a:solidFill>
                  <a:srgbClr val="1A55AD"/>
                </a:solidFill>
                <a:effectLst/>
                <a:latin typeface="Google Sans"/>
                <a:hlinkClick r:id="rId2"/>
              </a:rPr>
              <a:t>cultural</a:t>
            </a:r>
            <a:r>
              <a:rPr lang="en-US" b="0" i="0" dirty="0">
                <a:solidFill>
                  <a:srgbClr val="212121"/>
                </a:solidFill>
                <a:effectLst/>
                <a:latin typeface="Google Sans"/>
              </a:rPr>
              <a:t>, however, so giving a thumbs-up or a peace sign in another country might have a completely different meaning than it does in the United States.</a:t>
            </a:r>
          </a:p>
        </p:txBody>
      </p:sp>
    </p:spTree>
    <p:extLst>
      <p:ext uri="{BB962C8B-B14F-4D97-AF65-F5344CB8AC3E}">
        <p14:creationId xmlns:p14="http://schemas.microsoft.com/office/powerpoint/2010/main" val="2377185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FAA124-3513-BFF9-7A58-CC66B3AE54A0}"/>
              </a:ext>
            </a:extLst>
          </p:cNvPr>
          <p:cNvSpPr>
            <a:spLocks noGrp="1"/>
          </p:cNvSpPr>
          <p:nvPr>
            <p:ph idx="1"/>
          </p:nvPr>
        </p:nvSpPr>
        <p:spPr>
          <a:xfrm>
            <a:off x="838200" y="497840"/>
            <a:ext cx="10515600" cy="5679123"/>
          </a:xfrm>
        </p:spPr>
        <p:txBody>
          <a:bodyPr>
            <a:normAutofit fontScale="92500"/>
          </a:bodyPr>
          <a:lstStyle/>
          <a:p>
            <a:pPr algn="l" fontAlgn="base"/>
            <a:r>
              <a:rPr lang="en-US" b="0" dirty="0">
                <a:effectLst/>
                <a:latin typeface="Google Sans"/>
              </a:rPr>
              <a:t>The following examples are just a few common gestures and their possible meanings:</a:t>
            </a:r>
          </a:p>
          <a:p>
            <a:pPr algn="l" fontAlgn="base">
              <a:buFont typeface="Arial" panose="020B0604020202020204" pitchFamily="34" charset="0"/>
              <a:buChar char="•"/>
            </a:pPr>
            <a:r>
              <a:rPr lang="en-US" b="1" dirty="0">
                <a:effectLst/>
                <a:latin typeface="Google Sans"/>
              </a:rPr>
              <a:t>A clenched fist</a:t>
            </a:r>
            <a:r>
              <a:rPr lang="en-US" b="0" dirty="0">
                <a:effectLst/>
                <a:latin typeface="Google Sans"/>
              </a:rPr>
              <a:t> can indicate anger in some situations or solidarity in others.</a:t>
            </a:r>
          </a:p>
          <a:p>
            <a:pPr algn="l" fontAlgn="base">
              <a:buFont typeface="Arial" panose="020B0604020202020204" pitchFamily="34" charset="0"/>
              <a:buChar char="•"/>
            </a:pPr>
            <a:r>
              <a:rPr lang="en-US" b="1" dirty="0">
                <a:effectLst/>
                <a:latin typeface="Google Sans"/>
              </a:rPr>
              <a:t>A thumbs up and thumbs down</a:t>
            </a:r>
            <a:r>
              <a:rPr lang="en-US" b="0" dirty="0">
                <a:effectLst/>
                <a:latin typeface="Google Sans"/>
              </a:rPr>
              <a:t> are often used as gestures of approval and disapproval.</a:t>
            </a:r>
            <a:r>
              <a:rPr lang="en-US" b="0" u="none" strike="noStrike" baseline="30000" dirty="0">
                <a:solidFill>
                  <a:srgbClr val="0000EE"/>
                </a:solidFill>
                <a:effectLst/>
                <a:latin typeface="Google Sans"/>
              </a:rPr>
              <a:t>10</a:t>
            </a:r>
            <a:r>
              <a:rPr lang="en-US" b="0" dirty="0">
                <a:effectLst/>
                <a:latin typeface="Google Sans"/>
              </a:rPr>
              <a:t>﻿</a:t>
            </a:r>
          </a:p>
          <a:p>
            <a:pPr algn="l" fontAlgn="base">
              <a:buFont typeface="Arial" panose="020B0604020202020204" pitchFamily="34" charset="0"/>
              <a:buChar char="•"/>
            </a:pPr>
            <a:r>
              <a:rPr lang="en-US" b="1" dirty="0">
                <a:effectLst/>
                <a:latin typeface="Google Sans"/>
              </a:rPr>
              <a:t>The "okay" gesture</a:t>
            </a:r>
            <a:r>
              <a:rPr lang="en-US" b="0" dirty="0">
                <a:effectLst/>
                <a:latin typeface="Google Sans"/>
              </a:rPr>
              <a:t>, made by touching together the thumb and index finger in a circle while extending the other three fingers can be used to mean "okay" or "all right."</a:t>
            </a:r>
            <a:r>
              <a:rPr lang="en-US" b="0" u="none" strike="noStrike" baseline="30000" dirty="0">
                <a:solidFill>
                  <a:srgbClr val="0000EE"/>
                </a:solidFill>
                <a:effectLst/>
                <a:latin typeface="Google Sans"/>
              </a:rPr>
              <a:t>10</a:t>
            </a:r>
            <a:r>
              <a:rPr lang="en-US" b="0" dirty="0">
                <a:effectLst/>
                <a:latin typeface="Google Sans"/>
              </a:rPr>
              <a:t>﻿ In some parts of Europe, however, the same signal is used to imply you are nothing. In some South American countries, the symbol is actually a vulgar gesture.</a:t>
            </a:r>
          </a:p>
          <a:p>
            <a:pPr algn="l" fontAlgn="base">
              <a:buFont typeface="Arial" panose="020B0604020202020204" pitchFamily="34" charset="0"/>
              <a:buChar char="•"/>
            </a:pPr>
            <a:r>
              <a:rPr lang="en-US" b="1" dirty="0">
                <a:effectLst/>
                <a:latin typeface="Google Sans"/>
              </a:rPr>
              <a:t>The V sign</a:t>
            </a:r>
            <a:r>
              <a:rPr lang="en-US" b="0" dirty="0">
                <a:effectLst/>
                <a:latin typeface="Google Sans"/>
              </a:rPr>
              <a:t>, created by lifting the index and middle finger and separating them to create a V-shape, means peace or victory in some countries. In the United Kingdom and Australia, the symbol takes on an offensive meaning when the back of the hand is facing outward.</a:t>
            </a:r>
            <a:endParaRPr lang="en-US" dirty="0">
              <a:latin typeface="Google Sans"/>
            </a:endParaRPr>
          </a:p>
        </p:txBody>
      </p:sp>
    </p:spTree>
    <p:extLst>
      <p:ext uri="{BB962C8B-B14F-4D97-AF65-F5344CB8AC3E}">
        <p14:creationId xmlns:p14="http://schemas.microsoft.com/office/powerpoint/2010/main" val="3187817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3857D-540B-816D-3F8D-BC4AA00A176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ARMS &amp; LEGS</a:t>
            </a:r>
          </a:p>
        </p:txBody>
      </p:sp>
      <p:sp>
        <p:nvSpPr>
          <p:cNvPr id="3" name="Content Placeholder 2">
            <a:extLst>
              <a:ext uri="{FF2B5EF4-FFF2-40B4-BE49-F238E27FC236}">
                <a16:creationId xmlns:a16="http://schemas.microsoft.com/office/drawing/2014/main" id="{0C84CA50-79DC-1C56-439C-C67C7D6D7165}"/>
              </a:ext>
            </a:extLst>
          </p:cNvPr>
          <p:cNvSpPr>
            <a:spLocks noGrp="1"/>
          </p:cNvSpPr>
          <p:nvPr>
            <p:ph idx="1"/>
          </p:nvPr>
        </p:nvSpPr>
        <p:spPr/>
        <p:txBody>
          <a:bodyPr/>
          <a:lstStyle/>
          <a:p>
            <a:pPr algn="l" fontAlgn="base"/>
            <a:r>
              <a:rPr lang="en-US" b="0" i="0" dirty="0">
                <a:solidFill>
                  <a:srgbClr val="212121"/>
                </a:solidFill>
                <a:effectLst/>
                <a:latin typeface="Google Sans"/>
              </a:rPr>
              <a:t>The arms and legs can also be useful in conveying nonverbal information. Crossing the arms can indicate defensiveness. Crossing legs away from another person may indicate dislike or discomfort with that individual.</a:t>
            </a:r>
          </a:p>
          <a:p>
            <a:pPr algn="l" fontAlgn="base"/>
            <a:endParaRPr lang="en-US" b="0" i="0" dirty="0">
              <a:solidFill>
                <a:srgbClr val="212121"/>
              </a:solidFill>
              <a:effectLst/>
              <a:latin typeface="Google Sans"/>
            </a:endParaRPr>
          </a:p>
          <a:p>
            <a:pPr algn="l" fontAlgn="base"/>
            <a:r>
              <a:rPr lang="en-US" b="0" i="0" dirty="0">
                <a:solidFill>
                  <a:srgbClr val="212121"/>
                </a:solidFill>
                <a:effectLst/>
                <a:latin typeface="Google Sans"/>
              </a:rPr>
              <a:t>Other subtle signals such as expanding the arms widely may be an attempt to seem larger or more commanding, while keeping the arms close to the body may be an effort to minimize oneself or withdraw from attention.</a:t>
            </a:r>
            <a:br>
              <a:rPr lang="en-US" dirty="0">
                <a:latin typeface="Google Sans"/>
              </a:rPr>
            </a:br>
            <a:endParaRPr lang="en-US" dirty="0">
              <a:latin typeface="Google Sans"/>
            </a:endParaRPr>
          </a:p>
        </p:txBody>
      </p:sp>
    </p:spTree>
    <p:extLst>
      <p:ext uri="{BB962C8B-B14F-4D97-AF65-F5344CB8AC3E}">
        <p14:creationId xmlns:p14="http://schemas.microsoft.com/office/powerpoint/2010/main" val="1570081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CB297D-97F3-44B3-7656-52CC3F2E8BCB}"/>
              </a:ext>
            </a:extLst>
          </p:cNvPr>
          <p:cNvSpPr>
            <a:spLocks noGrp="1"/>
          </p:cNvSpPr>
          <p:nvPr>
            <p:ph idx="1"/>
          </p:nvPr>
        </p:nvSpPr>
        <p:spPr>
          <a:xfrm>
            <a:off x="838200" y="497840"/>
            <a:ext cx="10515600" cy="5679123"/>
          </a:xfrm>
        </p:spPr>
        <p:txBody>
          <a:bodyPr>
            <a:normAutofit lnSpcReduction="10000"/>
          </a:bodyPr>
          <a:lstStyle/>
          <a:p>
            <a:pPr algn="l" fontAlgn="base"/>
            <a:r>
              <a:rPr lang="en-US" b="0" dirty="0">
                <a:effectLst/>
                <a:latin typeface="Google Sans"/>
              </a:rPr>
              <a:t>When you are evaluating body language, pay attention to some of the following signals that the arms and legs may convey:</a:t>
            </a:r>
            <a:r>
              <a:rPr lang="en-US" b="0" u="none" strike="noStrike" baseline="30000" dirty="0">
                <a:solidFill>
                  <a:srgbClr val="0000EE"/>
                </a:solidFill>
                <a:effectLst/>
                <a:latin typeface="Google Sans"/>
              </a:rPr>
              <a:t>1</a:t>
            </a:r>
            <a:endParaRPr lang="en-US" b="0" dirty="0">
              <a:effectLst/>
              <a:latin typeface="Google Sans"/>
            </a:endParaRPr>
          </a:p>
          <a:p>
            <a:pPr algn="l" fontAlgn="base">
              <a:buFont typeface="Arial" panose="020B0604020202020204" pitchFamily="34" charset="0"/>
              <a:buChar char="•"/>
            </a:pPr>
            <a:r>
              <a:rPr lang="en-US" b="1" dirty="0">
                <a:effectLst/>
                <a:latin typeface="Google Sans"/>
              </a:rPr>
              <a:t>Crossed arms</a:t>
            </a:r>
            <a:r>
              <a:rPr lang="en-US" b="0" dirty="0">
                <a:effectLst/>
                <a:latin typeface="Google Sans"/>
              </a:rPr>
              <a:t> might indicate that a person feels defensive, self-protective, or closed-off.</a:t>
            </a:r>
            <a:r>
              <a:rPr lang="en-US" b="0" u="none" strike="noStrike" baseline="30000" dirty="0">
                <a:solidFill>
                  <a:srgbClr val="0000EE"/>
                </a:solidFill>
                <a:effectLst/>
                <a:latin typeface="Google Sans"/>
              </a:rPr>
              <a:t>1</a:t>
            </a:r>
            <a:endParaRPr lang="en-US" b="0" dirty="0">
              <a:effectLst/>
              <a:latin typeface="Google Sans"/>
            </a:endParaRPr>
          </a:p>
          <a:p>
            <a:pPr algn="l" fontAlgn="base">
              <a:buFont typeface="Arial" panose="020B0604020202020204" pitchFamily="34" charset="0"/>
              <a:buChar char="•"/>
            </a:pPr>
            <a:r>
              <a:rPr lang="en-US" b="1" dirty="0">
                <a:effectLst/>
                <a:latin typeface="Google Sans"/>
              </a:rPr>
              <a:t>Standing with hands placed on the hips</a:t>
            </a:r>
            <a:r>
              <a:rPr lang="en-US" b="0" dirty="0">
                <a:effectLst/>
                <a:latin typeface="Google Sans"/>
              </a:rPr>
              <a:t> can be an indication that a person is ready and in control, or it can also possibly be a sign of </a:t>
            </a:r>
            <a:r>
              <a:rPr lang="en-US" b="0" u="sng" dirty="0">
                <a:solidFill>
                  <a:srgbClr val="1A55AD"/>
                </a:solidFill>
                <a:effectLst/>
                <a:latin typeface="Google Sans"/>
                <a:hlinkClick r:id="rId2"/>
              </a:rPr>
              <a:t>aggressiveness</a:t>
            </a:r>
            <a:r>
              <a:rPr lang="en-US" b="0" dirty="0">
                <a:effectLst/>
                <a:latin typeface="Google Sans"/>
              </a:rPr>
              <a:t>.</a:t>
            </a:r>
          </a:p>
          <a:p>
            <a:pPr algn="l" fontAlgn="base">
              <a:buFont typeface="Arial" panose="020B0604020202020204" pitchFamily="34" charset="0"/>
              <a:buChar char="•"/>
            </a:pPr>
            <a:r>
              <a:rPr lang="en-US" b="1" dirty="0">
                <a:effectLst/>
                <a:latin typeface="Google Sans"/>
              </a:rPr>
              <a:t>Clasping the hands behind the back</a:t>
            </a:r>
            <a:r>
              <a:rPr lang="en-US" b="0" dirty="0">
                <a:effectLst/>
                <a:latin typeface="Google Sans"/>
              </a:rPr>
              <a:t> might indicate that a person is feeling bored, anxious, or even angry.</a:t>
            </a:r>
          </a:p>
          <a:p>
            <a:pPr algn="l" fontAlgn="base">
              <a:buFont typeface="Arial" panose="020B0604020202020204" pitchFamily="34" charset="0"/>
              <a:buChar char="•"/>
            </a:pPr>
            <a:r>
              <a:rPr lang="en-US" b="1" dirty="0">
                <a:effectLst/>
                <a:latin typeface="Google Sans"/>
              </a:rPr>
              <a:t>Rapidly tapping fingers or fidgeting</a:t>
            </a:r>
            <a:r>
              <a:rPr lang="en-US" b="0" dirty="0">
                <a:effectLst/>
                <a:latin typeface="Google Sans"/>
              </a:rPr>
              <a:t> can be a sign that a person is bored, impatient, or frustrated.</a:t>
            </a:r>
          </a:p>
          <a:p>
            <a:pPr algn="l" fontAlgn="base">
              <a:buFont typeface="Arial" panose="020B0604020202020204" pitchFamily="34" charset="0"/>
              <a:buChar char="•"/>
            </a:pPr>
            <a:r>
              <a:rPr lang="en-US" b="1" dirty="0">
                <a:effectLst/>
                <a:latin typeface="Google Sans"/>
              </a:rPr>
              <a:t>Crossed legs</a:t>
            </a:r>
            <a:r>
              <a:rPr lang="en-US" b="0" dirty="0">
                <a:effectLst/>
                <a:latin typeface="Google Sans"/>
              </a:rPr>
              <a:t> can indicate that a person is feeling closed-off or in need of privacy.</a:t>
            </a:r>
            <a:endParaRPr lang="en-US" dirty="0">
              <a:latin typeface="Google Sans"/>
            </a:endParaRPr>
          </a:p>
        </p:txBody>
      </p:sp>
    </p:spTree>
    <p:extLst>
      <p:ext uri="{BB962C8B-B14F-4D97-AF65-F5344CB8AC3E}">
        <p14:creationId xmlns:p14="http://schemas.microsoft.com/office/powerpoint/2010/main" val="3768793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8B37A-4E87-8ECA-593C-382C9555F4C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POSTURE</a:t>
            </a:r>
          </a:p>
        </p:txBody>
      </p:sp>
      <p:sp>
        <p:nvSpPr>
          <p:cNvPr id="3" name="Content Placeholder 2">
            <a:extLst>
              <a:ext uri="{FF2B5EF4-FFF2-40B4-BE49-F238E27FC236}">
                <a16:creationId xmlns:a16="http://schemas.microsoft.com/office/drawing/2014/main" id="{2635A7EF-4E04-7CE0-73DB-917390215E0E}"/>
              </a:ext>
            </a:extLst>
          </p:cNvPr>
          <p:cNvSpPr>
            <a:spLocks noGrp="1"/>
          </p:cNvSpPr>
          <p:nvPr>
            <p:ph idx="1"/>
          </p:nvPr>
        </p:nvSpPr>
        <p:spPr/>
        <p:txBody>
          <a:bodyPr>
            <a:normAutofit fontScale="92500" lnSpcReduction="10000"/>
          </a:bodyPr>
          <a:lstStyle/>
          <a:p>
            <a:pPr algn="l" fontAlgn="base"/>
            <a:r>
              <a:rPr lang="en-US" b="0" i="0" dirty="0">
                <a:solidFill>
                  <a:srgbClr val="212121"/>
                </a:solidFill>
                <a:effectLst/>
                <a:latin typeface="Google Sans"/>
              </a:rPr>
              <a:t>How we hold our bodies can also serve as an important part of body language.</a:t>
            </a:r>
          </a:p>
          <a:p>
            <a:pPr algn="l" fontAlgn="base"/>
            <a:r>
              <a:rPr lang="en-US" b="0" i="0" dirty="0">
                <a:solidFill>
                  <a:srgbClr val="212121"/>
                </a:solidFill>
                <a:effectLst/>
                <a:latin typeface="Google Sans"/>
              </a:rPr>
              <a:t>The term </a:t>
            </a:r>
            <a:r>
              <a:rPr lang="en-US" b="0" i="1" dirty="0">
                <a:solidFill>
                  <a:srgbClr val="212121"/>
                </a:solidFill>
                <a:effectLst/>
                <a:latin typeface="Google Sans"/>
              </a:rPr>
              <a:t>posture</a:t>
            </a:r>
            <a:r>
              <a:rPr lang="en-US" b="0" i="0" dirty="0">
                <a:solidFill>
                  <a:srgbClr val="212121"/>
                </a:solidFill>
                <a:effectLst/>
                <a:latin typeface="Google Sans"/>
              </a:rPr>
              <a:t> refers to how we hold our bodies as well as the overall physical form of an individual.</a:t>
            </a:r>
          </a:p>
          <a:p>
            <a:pPr algn="l" fontAlgn="base"/>
            <a:r>
              <a:rPr lang="en-US" b="0" i="0" dirty="0">
                <a:solidFill>
                  <a:srgbClr val="212121"/>
                </a:solidFill>
                <a:effectLst/>
                <a:latin typeface="Google Sans"/>
              </a:rPr>
              <a:t>Posture can convey a wealth of information about how a person is feeling as well as hints about personality characteristics, such as whether a person is confident, open, or submissive.</a:t>
            </a:r>
          </a:p>
          <a:p>
            <a:pPr algn="l" fontAlgn="base"/>
            <a:r>
              <a:rPr lang="en-US" b="0" i="0" dirty="0">
                <a:solidFill>
                  <a:srgbClr val="212121"/>
                </a:solidFill>
                <a:effectLst/>
                <a:latin typeface="Google Sans"/>
              </a:rPr>
              <a:t>Sitting up straight, for example, may indicate that a person is focused and paying attention to what's going on. Sitting with the body hunched forward, on the other hand, can imply that the person is bored or indifferent.</a:t>
            </a:r>
            <a:br>
              <a:rPr lang="en-US" dirty="0">
                <a:latin typeface="Google Sans"/>
              </a:rPr>
            </a:br>
            <a:endParaRPr lang="en-US" dirty="0">
              <a:latin typeface="Google Sans"/>
            </a:endParaRPr>
          </a:p>
        </p:txBody>
      </p:sp>
    </p:spTree>
    <p:extLst>
      <p:ext uri="{BB962C8B-B14F-4D97-AF65-F5344CB8AC3E}">
        <p14:creationId xmlns:p14="http://schemas.microsoft.com/office/powerpoint/2010/main" val="791105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1E6EE1-982B-50D6-52EB-C37899FCBE4D}"/>
              </a:ext>
            </a:extLst>
          </p:cNvPr>
          <p:cNvSpPr>
            <a:spLocks noGrp="1"/>
          </p:cNvSpPr>
          <p:nvPr>
            <p:ph idx="1"/>
          </p:nvPr>
        </p:nvSpPr>
        <p:spPr>
          <a:xfrm>
            <a:off x="838200" y="396240"/>
            <a:ext cx="10515600" cy="5780723"/>
          </a:xfrm>
        </p:spPr>
        <p:txBody>
          <a:bodyPr/>
          <a:lstStyle/>
          <a:p>
            <a:pPr algn="l" fontAlgn="base"/>
            <a:r>
              <a:rPr lang="en-US" b="0" dirty="0">
                <a:effectLst/>
                <a:latin typeface="Google Sans"/>
              </a:rPr>
              <a:t>When you are trying to read body language, try to notice some of the signals that a person's posture can send.</a:t>
            </a:r>
          </a:p>
          <a:p>
            <a:pPr algn="l" fontAlgn="base">
              <a:buFont typeface="Arial" panose="020B0604020202020204" pitchFamily="34" charset="0"/>
              <a:buChar char="•"/>
            </a:pPr>
            <a:endParaRPr lang="en-US" b="1" dirty="0">
              <a:effectLst/>
              <a:latin typeface="Google Sans"/>
            </a:endParaRPr>
          </a:p>
          <a:p>
            <a:pPr algn="l" fontAlgn="base">
              <a:buFont typeface="Arial" panose="020B0604020202020204" pitchFamily="34" charset="0"/>
              <a:buChar char="•"/>
            </a:pPr>
            <a:r>
              <a:rPr lang="en-US" b="1" dirty="0">
                <a:effectLst/>
                <a:latin typeface="Google Sans"/>
              </a:rPr>
              <a:t>Open posture</a:t>
            </a:r>
            <a:r>
              <a:rPr lang="en-US" b="0" dirty="0">
                <a:effectLst/>
                <a:latin typeface="Google Sans"/>
              </a:rPr>
              <a:t> involves keeping the trunk of the body open and exposed. This type of posture indicates friendliness, openness, and willingness.</a:t>
            </a:r>
            <a:r>
              <a:rPr lang="en-US" b="0" u="none" strike="noStrike" baseline="30000" dirty="0">
                <a:solidFill>
                  <a:srgbClr val="0000EE"/>
                </a:solidFill>
                <a:effectLst/>
                <a:latin typeface="Google Sans"/>
              </a:rPr>
              <a:t>11</a:t>
            </a:r>
            <a:endParaRPr lang="en-US" b="0" dirty="0">
              <a:effectLst/>
              <a:latin typeface="Google Sans"/>
            </a:endParaRPr>
          </a:p>
          <a:p>
            <a:pPr algn="l" fontAlgn="base">
              <a:buFont typeface="Arial" panose="020B0604020202020204" pitchFamily="34" charset="0"/>
              <a:buChar char="•"/>
            </a:pPr>
            <a:endParaRPr lang="en-US" b="1" dirty="0">
              <a:effectLst/>
              <a:latin typeface="Google Sans"/>
            </a:endParaRPr>
          </a:p>
          <a:p>
            <a:pPr algn="l" fontAlgn="base">
              <a:buFont typeface="Arial" panose="020B0604020202020204" pitchFamily="34" charset="0"/>
              <a:buChar char="•"/>
            </a:pPr>
            <a:r>
              <a:rPr lang="en-US" b="1" dirty="0">
                <a:effectLst/>
                <a:latin typeface="Google Sans"/>
              </a:rPr>
              <a:t>Closed posture</a:t>
            </a:r>
            <a:r>
              <a:rPr lang="en-US" b="0" dirty="0">
                <a:effectLst/>
                <a:latin typeface="Google Sans"/>
              </a:rPr>
              <a:t> involves hiding the trunk of the body often by hunching forward and keeping the arms and legs crossed. This type of posture can be an indicator of hostility, unfriendliness, and </a:t>
            </a:r>
            <a:r>
              <a:rPr lang="en-US" b="0" u="sng" dirty="0">
                <a:solidFill>
                  <a:srgbClr val="1A55AD"/>
                </a:solidFill>
                <a:effectLst/>
                <a:latin typeface="Google Sans"/>
                <a:hlinkClick r:id="rId2"/>
              </a:rPr>
              <a:t>anxiety</a:t>
            </a:r>
            <a:r>
              <a:rPr lang="en-US" b="0" dirty="0">
                <a:effectLst/>
                <a:latin typeface="Google Sans"/>
              </a:rPr>
              <a:t>.</a:t>
            </a:r>
            <a:r>
              <a:rPr lang="en-US" b="0" u="none" strike="noStrike" baseline="30000" dirty="0">
                <a:solidFill>
                  <a:srgbClr val="0000EE"/>
                </a:solidFill>
                <a:effectLst/>
                <a:latin typeface="Google Sans"/>
              </a:rPr>
              <a:t>11</a:t>
            </a:r>
            <a:br>
              <a:rPr lang="en-US" b="0" i="0" dirty="0">
                <a:solidFill>
                  <a:srgbClr val="212121"/>
                </a:solidFill>
                <a:effectLst/>
                <a:latin typeface="Google Sans"/>
              </a:rPr>
            </a:br>
            <a:endParaRPr lang="en-US" dirty="0">
              <a:latin typeface="Google Sans"/>
            </a:endParaRPr>
          </a:p>
        </p:txBody>
      </p:sp>
    </p:spTree>
    <p:extLst>
      <p:ext uri="{BB962C8B-B14F-4D97-AF65-F5344CB8AC3E}">
        <p14:creationId xmlns:p14="http://schemas.microsoft.com/office/powerpoint/2010/main" val="1751248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F995-1F8F-575B-D187-83F26F53FC4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PERSONAL SPACE</a:t>
            </a:r>
          </a:p>
        </p:txBody>
      </p:sp>
      <p:sp>
        <p:nvSpPr>
          <p:cNvPr id="3" name="Content Placeholder 2">
            <a:extLst>
              <a:ext uri="{FF2B5EF4-FFF2-40B4-BE49-F238E27FC236}">
                <a16:creationId xmlns:a16="http://schemas.microsoft.com/office/drawing/2014/main" id="{C2F56639-658E-753C-BEE0-9259835CBAD7}"/>
              </a:ext>
            </a:extLst>
          </p:cNvPr>
          <p:cNvSpPr>
            <a:spLocks noGrp="1"/>
          </p:cNvSpPr>
          <p:nvPr>
            <p:ph idx="1"/>
          </p:nvPr>
        </p:nvSpPr>
        <p:spPr/>
        <p:txBody>
          <a:bodyPr>
            <a:normAutofit/>
          </a:bodyPr>
          <a:lstStyle/>
          <a:p>
            <a:pPr algn="l" fontAlgn="base"/>
            <a:r>
              <a:rPr lang="en-US" b="0" i="0" dirty="0">
                <a:solidFill>
                  <a:srgbClr val="212121"/>
                </a:solidFill>
                <a:effectLst/>
                <a:latin typeface="Google Sans"/>
              </a:rPr>
              <a:t>Have you ever heard someone refer to their need for personal space? Have you ever started to feel uncomfortable when someone stands just a little too close to you?</a:t>
            </a:r>
          </a:p>
          <a:p>
            <a:pPr algn="l" fontAlgn="base"/>
            <a:endParaRPr lang="en-US" b="0" i="0" dirty="0">
              <a:solidFill>
                <a:srgbClr val="212121"/>
              </a:solidFill>
              <a:effectLst/>
              <a:latin typeface="Google Sans"/>
            </a:endParaRPr>
          </a:p>
          <a:p>
            <a:pPr algn="l" fontAlgn="base"/>
            <a:r>
              <a:rPr lang="en-US" b="0" i="0" dirty="0">
                <a:solidFill>
                  <a:srgbClr val="212121"/>
                </a:solidFill>
                <a:effectLst/>
                <a:latin typeface="Google Sans"/>
              </a:rPr>
              <a:t>The term </a:t>
            </a:r>
            <a:r>
              <a:rPr lang="en-US" b="0" i="1" dirty="0">
                <a:solidFill>
                  <a:srgbClr val="212121"/>
                </a:solidFill>
                <a:effectLst/>
                <a:latin typeface="Google Sans"/>
              </a:rPr>
              <a:t>proxemics</a:t>
            </a:r>
            <a:r>
              <a:rPr lang="en-US" b="0" i="0" dirty="0">
                <a:solidFill>
                  <a:srgbClr val="212121"/>
                </a:solidFill>
                <a:effectLst/>
                <a:latin typeface="Google Sans"/>
              </a:rPr>
              <a:t>, coined by anthropologist Edward T. Hall, refers to the distance between people as they interact. Just as body movements and facial expressions can communicate a great deal of nonverbal information, so can the physical space between individuals.</a:t>
            </a:r>
            <a:br>
              <a:rPr lang="en-US" dirty="0">
                <a:latin typeface="Google Sans"/>
              </a:rPr>
            </a:br>
            <a:endParaRPr lang="en-US" dirty="0">
              <a:latin typeface="Google Sans"/>
            </a:endParaRPr>
          </a:p>
        </p:txBody>
      </p:sp>
    </p:spTree>
    <p:extLst>
      <p:ext uri="{BB962C8B-B14F-4D97-AF65-F5344CB8AC3E}">
        <p14:creationId xmlns:p14="http://schemas.microsoft.com/office/powerpoint/2010/main" val="3882268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02D3-4BCC-EF32-7DEF-D254733994E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4 levels of social distance</a:t>
            </a:r>
          </a:p>
        </p:txBody>
      </p:sp>
      <p:sp>
        <p:nvSpPr>
          <p:cNvPr id="3" name="Content Placeholder 2">
            <a:extLst>
              <a:ext uri="{FF2B5EF4-FFF2-40B4-BE49-F238E27FC236}">
                <a16:creationId xmlns:a16="http://schemas.microsoft.com/office/drawing/2014/main" id="{38BB6269-547A-FA80-3CAD-11FD3D8B369C}"/>
              </a:ext>
            </a:extLst>
          </p:cNvPr>
          <p:cNvSpPr>
            <a:spLocks noGrp="1"/>
          </p:cNvSpPr>
          <p:nvPr>
            <p:ph idx="1"/>
          </p:nvPr>
        </p:nvSpPr>
        <p:spPr/>
        <p:txBody>
          <a:bodyPr>
            <a:normAutofit/>
          </a:bodyPr>
          <a:lstStyle/>
          <a:p>
            <a:pPr algn="l" fontAlgn="base"/>
            <a:r>
              <a:rPr lang="en-US" b="0" i="0">
                <a:solidFill>
                  <a:srgbClr val="212121"/>
                </a:solidFill>
                <a:effectLst/>
                <a:latin typeface="Google Sans"/>
              </a:rPr>
              <a:t>Intimate</a:t>
            </a:r>
            <a:endParaRPr lang="en-US" b="0" i="0" dirty="0">
              <a:solidFill>
                <a:srgbClr val="212121"/>
              </a:solidFill>
              <a:effectLst/>
              <a:latin typeface="Google Sans"/>
            </a:endParaRPr>
          </a:p>
          <a:p>
            <a:pPr algn="l" fontAlgn="base"/>
            <a:r>
              <a:rPr lang="en-US" b="0" i="0" dirty="0">
                <a:solidFill>
                  <a:srgbClr val="212121"/>
                </a:solidFill>
                <a:effectLst/>
                <a:latin typeface="Google Sans"/>
              </a:rPr>
              <a:t>Personal</a:t>
            </a:r>
          </a:p>
          <a:p>
            <a:pPr algn="l" fontAlgn="base"/>
            <a:r>
              <a:rPr lang="en-US" dirty="0">
                <a:solidFill>
                  <a:srgbClr val="212121"/>
                </a:solidFill>
                <a:latin typeface="Google Sans"/>
              </a:rPr>
              <a:t>Social</a:t>
            </a:r>
          </a:p>
          <a:p>
            <a:pPr algn="l" fontAlgn="base"/>
            <a:r>
              <a:rPr lang="en-US" b="0" i="0" dirty="0">
                <a:solidFill>
                  <a:srgbClr val="212121"/>
                </a:solidFill>
                <a:effectLst/>
                <a:latin typeface="Google Sans"/>
              </a:rPr>
              <a:t>Public</a:t>
            </a:r>
          </a:p>
        </p:txBody>
      </p:sp>
    </p:spTree>
    <p:extLst>
      <p:ext uri="{BB962C8B-B14F-4D97-AF65-F5344CB8AC3E}">
        <p14:creationId xmlns:p14="http://schemas.microsoft.com/office/powerpoint/2010/main" val="224255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452E1-9C71-7852-3CA6-DCA1C1C00AD4}"/>
              </a:ext>
            </a:extLst>
          </p:cNvPr>
          <p:cNvSpPr>
            <a:spLocks noGrp="1"/>
          </p:cNvSpPr>
          <p:nvPr>
            <p:ph type="title"/>
          </p:nvPr>
        </p:nvSpPr>
        <p:spPr/>
        <p:txBody>
          <a:bodyPr/>
          <a:lstStyle/>
          <a:p>
            <a:r>
              <a:rPr lang="en-US" b="0" i="0" dirty="0">
                <a:solidFill>
                  <a:srgbClr val="212121"/>
                </a:solidFill>
                <a:effectLst/>
                <a:latin typeface="Times New Roman" panose="02020603050405020304" pitchFamily="18" charset="0"/>
                <a:cs typeface="Times New Roman" panose="02020603050405020304" pitchFamily="18" charset="0"/>
              </a:rPr>
              <a:t>Intimate Distance: 6 to 18 inches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B7703D-1F92-0100-7AA8-6AC7E167F0F9}"/>
              </a:ext>
            </a:extLst>
          </p:cNvPr>
          <p:cNvSpPr>
            <a:spLocks noGrp="1"/>
          </p:cNvSpPr>
          <p:nvPr>
            <p:ph idx="1"/>
          </p:nvPr>
        </p:nvSpPr>
        <p:spPr/>
        <p:txBody>
          <a:bodyPr/>
          <a:lstStyle/>
          <a:p>
            <a:pPr algn="l" fontAlgn="base"/>
            <a:r>
              <a:rPr lang="en-US" b="0" i="0" dirty="0">
                <a:solidFill>
                  <a:srgbClr val="212121"/>
                </a:solidFill>
                <a:effectLst/>
                <a:latin typeface="Google Sans"/>
              </a:rPr>
              <a:t>This level of physical distance often indicates a closer relationship or greater comfort between individuals.</a:t>
            </a:r>
          </a:p>
          <a:p>
            <a:endParaRPr lang="en-US" dirty="0">
              <a:latin typeface="Google Sans"/>
            </a:endParaRPr>
          </a:p>
        </p:txBody>
      </p:sp>
    </p:spTree>
    <p:extLst>
      <p:ext uri="{BB962C8B-B14F-4D97-AF65-F5344CB8AC3E}">
        <p14:creationId xmlns:p14="http://schemas.microsoft.com/office/powerpoint/2010/main" val="9548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C22F6-8F79-BC37-53FE-71383FAB9343}"/>
              </a:ext>
            </a:extLst>
          </p:cNvPr>
          <p:cNvSpPr>
            <a:spLocks noGrp="1"/>
          </p:cNvSpPr>
          <p:nvPr>
            <p:ph type="title"/>
          </p:nvPr>
        </p:nvSpPr>
        <p:spPr/>
        <p:txBody>
          <a:bodyPr/>
          <a:lstStyle/>
          <a:p>
            <a:r>
              <a:rPr lang="en-US" b="0" i="0" dirty="0">
                <a:solidFill>
                  <a:srgbClr val="212121"/>
                </a:solidFill>
                <a:effectLst/>
                <a:latin typeface="Times New Roman" panose="02020603050405020304" pitchFamily="18" charset="0"/>
                <a:cs typeface="Times New Roman" panose="02020603050405020304" pitchFamily="18" charset="0"/>
              </a:rPr>
              <a:t>Personal Distance: 1.5 to 4 feet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05AB32-3FAB-578C-86F8-AF9D96475851}"/>
              </a:ext>
            </a:extLst>
          </p:cNvPr>
          <p:cNvSpPr>
            <a:spLocks noGrp="1"/>
          </p:cNvSpPr>
          <p:nvPr>
            <p:ph idx="1"/>
          </p:nvPr>
        </p:nvSpPr>
        <p:spPr/>
        <p:txBody>
          <a:bodyPr/>
          <a:lstStyle/>
          <a:p>
            <a:pPr algn="l" fontAlgn="base"/>
            <a:r>
              <a:rPr lang="en-US" b="0" i="0" dirty="0">
                <a:solidFill>
                  <a:srgbClr val="212121"/>
                </a:solidFill>
                <a:effectLst/>
                <a:latin typeface="Google Sans"/>
              </a:rPr>
              <a:t>Physical distance at this level usually occurs between people who are family members or close friends. The closer the people can comfortably stand while interacting can be an indicator of the level of intimacy in their relationship.</a:t>
            </a:r>
          </a:p>
          <a:p>
            <a:endParaRPr lang="en-US" dirty="0">
              <a:latin typeface="Google Sans"/>
            </a:endParaRPr>
          </a:p>
        </p:txBody>
      </p:sp>
    </p:spTree>
    <p:extLst>
      <p:ext uri="{BB962C8B-B14F-4D97-AF65-F5344CB8AC3E}">
        <p14:creationId xmlns:p14="http://schemas.microsoft.com/office/powerpoint/2010/main" val="3497100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E6DC4-0642-8790-6020-E9A350C1DA2D}"/>
              </a:ext>
            </a:extLst>
          </p:cNvPr>
          <p:cNvSpPr>
            <a:spLocks noGrp="1"/>
          </p:cNvSpPr>
          <p:nvPr>
            <p:ph type="title"/>
          </p:nvPr>
        </p:nvSpPr>
        <p:spPr/>
        <p:txBody>
          <a:bodyPr/>
          <a:lstStyle/>
          <a:p>
            <a:r>
              <a:rPr lang="en-US" b="0" i="0" dirty="0">
                <a:solidFill>
                  <a:srgbClr val="212121"/>
                </a:solidFill>
                <a:effectLst/>
                <a:latin typeface="Times New Roman" panose="02020603050405020304" pitchFamily="18" charset="0"/>
                <a:cs typeface="Times New Roman" panose="02020603050405020304" pitchFamily="18" charset="0"/>
              </a:rPr>
              <a:t>Social Distance: 4 to 12 feet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3C7802-FA08-4346-D3CC-B63288BE9E21}"/>
              </a:ext>
            </a:extLst>
          </p:cNvPr>
          <p:cNvSpPr>
            <a:spLocks noGrp="1"/>
          </p:cNvSpPr>
          <p:nvPr>
            <p:ph idx="1"/>
          </p:nvPr>
        </p:nvSpPr>
        <p:spPr/>
        <p:txBody>
          <a:bodyPr/>
          <a:lstStyle/>
          <a:p>
            <a:pPr algn="l" fontAlgn="base"/>
            <a:r>
              <a:rPr lang="en-US" b="0" i="0" dirty="0">
                <a:solidFill>
                  <a:srgbClr val="212121"/>
                </a:solidFill>
                <a:effectLst/>
                <a:latin typeface="Google Sans"/>
              </a:rPr>
              <a:t>This level of physical distance is often used with individuals who are acquaintances.</a:t>
            </a:r>
          </a:p>
          <a:p>
            <a:pPr algn="l" fontAlgn="base"/>
            <a:r>
              <a:rPr lang="en-US" b="0" i="0" dirty="0">
                <a:solidFill>
                  <a:srgbClr val="212121"/>
                </a:solidFill>
                <a:effectLst/>
                <a:latin typeface="Google Sans"/>
              </a:rPr>
              <a:t>With someone you know fairly well, such as a co-worker you see several times a week, you might feel more comfortable interacting at a closer distance.</a:t>
            </a:r>
          </a:p>
          <a:p>
            <a:pPr algn="l" fontAlgn="base"/>
            <a:r>
              <a:rPr lang="en-US" b="0" i="0" dirty="0">
                <a:solidFill>
                  <a:srgbClr val="212121"/>
                </a:solidFill>
                <a:effectLst/>
                <a:latin typeface="Google Sans"/>
              </a:rPr>
              <a:t>In cases where you do not know the other person well, such as a postal delivery driver you only see once a month, a distance of 10 to 12 feet may feel more comfortable.</a:t>
            </a:r>
          </a:p>
          <a:p>
            <a:endParaRPr lang="en-US" dirty="0">
              <a:latin typeface="Google Sans"/>
            </a:endParaRPr>
          </a:p>
        </p:txBody>
      </p:sp>
    </p:spTree>
    <p:extLst>
      <p:ext uri="{BB962C8B-B14F-4D97-AF65-F5344CB8AC3E}">
        <p14:creationId xmlns:p14="http://schemas.microsoft.com/office/powerpoint/2010/main" val="3015039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388C-2BFC-D83E-7047-1D282DB95473}"/>
              </a:ext>
            </a:extLst>
          </p:cNvPr>
          <p:cNvSpPr>
            <a:spLocks noGrp="1"/>
          </p:cNvSpPr>
          <p:nvPr>
            <p:ph type="title"/>
          </p:nvPr>
        </p:nvSpPr>
        <p:spPr/>
        <p:txBody>
          <a:bodyPr/>
          <a:lstStyle/>
          <a:p>
            <a:r>
              <a:rPr lang="en-US" b="0" i="0" dirty="0">
                <a:solidFill>
                  <a:srgbClr val="212121"/>
                </a:solidFill>
                <a:effectLst/>
                <a:latin typeface="Times New Roman" panose="02020603050405020304" pitchFamily="18" charset="0"/>
                <a:cs typeface="Times New Roman" panose="02020603050405020304" pitchFamily="18" charset="0"/>
              </a:rPr>
              <a:t>Public Distance: 12 to 25 feet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070D0F-19EB-BF83-2179-49A2F0C3D3FC}"/>
              </a:ext>
            </a:extLst>
          </p:cNvPr>
          <p:cNvSpPr>
            <a:spLocks noGrp="1"/>
          </p:cNvSpPr>
          <p:nvPr>
            <p:ph idx="1"/>
          </p:nvPr>
        </p:nvSpPr>
        <p:spPr/>
        <p:txBody>
          <a:bodyPr>
            <a:normAutofit lnSpcReduction="10000"/>
          </a:bodyPr>
          <a:lstStyle/>
          <a:p>
            <a:pPr algn="l" fontAlgn="base"/>
            <a:r>
              <a:rPr lang="en-US" b="0" i="0" dirty="0">
                <a:solidFill>
                  <a:srgbClr val="212121"/>
                </a:solidFill>
                <a:effectLst/>
                <a:latin typeface="Google Sans"/>
              </a:rPr>
              <a:t>Physical distance at this level is often used in public speaking situations. Talking in front of a class full of students or giving a presentation at work are good examples of such situations.</a:t>
            </a:r>
          </a:p>
          <a:p>
            <a:pPr algn="l" fontAlgn="base"/>
            <a:r>
              <a:rPr lang="en-US" b="0" i="0" dirty="0">
                <a:solidFill>
                  <a:srgbClr val="212121"/>
                </a:solidFill>
                <a:effectLst/>
                <a:latin typeface="Google Sans"/>
              </a:rPr>
              <a:t>It is also important to note that the level of personal distance that individuals need to feel comfortable can vary from culture to culture.</a:t>
            </a:r>
            <a:br>
              <a:rPr lang="en-US" b="0" i="0" dirty="0">
                <a:solidFill>
                  <a:srgbClr val="212121"/>
                </a:solidFill>
                <a:effectLst/>
                <a:latin typeface="Google Sans"/>
              </a:rPr>
            </a:br>
            <a:endParaRPr lang="en-US" b="0" i="0" dirty="0">
              <a:solidFill>
                <a:srgbClr val="212121"/>
              </a:solidFill>
              <a:effectLst/>
              <a:latin typeface="Google Sans"/>
            </a:endParaRPr>
          </a:p>
          <a:p>
            <a:pPr algn="l" fontAlgn="base"/>
            <a:r>
              <a:rPr lang="en-US" b="0" i="0" dirty="0">
                <a:solidFill>
                  <a:srgbClr val="212121"/>
                </a:solidFill>
                <a:effectLst/>
                <a:latin typeface="Google Sans"/>
              </a:rPr>
              <a:t>One oft-cited example is the difference between people from Latin cultures and those from North America. People from Latin countries tend to feel more comfortable standing closer to one another as they interact, while those from North America need more personal distance.</a:t>
            </a:r>
          </a:p>
          <a:p>
            <a:endParaRPr lang="en-US" dirty="0">
              <a:latin typeface="Google Sans"/>
            </a:endParaRPr>
          </a:p>
        </p:txBody>
      </p:sp>
    </p:spTree>
    <p:extLst>
      <p:ext uri="{BB962C8B-B14F-4D97-AF65-F5344CB8AC3E}">
        <p14:creationId xmlns:p14="http://schemas.microsoft.com/office/powerpoint/2010/main" val="3721167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FF67E-913B-30CF-11ED-FB73CF9FFCE5}"/>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POSTURE FOR A FORMAL SETTING</a:t>
            </a:r>
          </a:p>
        </p:txBody>
      </p:sp>
    </p:spTree>
    <p:extLst>
      <p:ext uri="{BB962C8B-B14F-4D97-AF65-F5344CB8AC3E}">
        <p14:creationId xmlns:p14="http://schemas.microsoft.com/office/powerpoint/2010/main" val="424956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4792C-C9CC-0DA2-9593-C4FDD3395E4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Recommended posture</a:t>
            </a:r>
          </a:p>
        </p:txBody>
      </p:sp>
      <p:sp>
        <p:nvSpPr>
          <p:cNvPr id="3" name="Content Placeholder 2">
            <a:extLst>
              <a:ext uri="{FF2B5EF4-FFF2-40B4-BE49-F238E27FC236}">
                <a16:creationId xmlns:a16="http://schemas.microsoft.com/office/drawing/2014/main" id="{160009BF-084C-8729-EC19-DA50685CB155}"/>
              </a:ext>
            </a:extLst>
          </p:cNvPr>
          <p:cNvSpPr>
            <a:spLocks noGrp="1"/>
          </p:cNvSpPr>
          <p:nvPr>
            <p:ph idx="1"/>
          </p:nvPr>
        </p:nvSpPr>
        <p:spPr/>
        <p:txBody>
          <a:bodyPr>
            <a:normAutofit fontScale="92500" lnSpcReduction="20000"/>
          </a:bodyPr>
          <a:lstStyle/>
          <a:p>
            <a:pPr algn="l"/>
            <a:r>
              <a:rPr lang="en-US" b="0" i="0" dirty="0">
                <a:effectLst/>
                <a:latin typeface="Google Sans"/>
              </a:rPr>
              <a:t>The key points to remember regarding the ideal position to sit at work are:</a:t>
            </a:r>
          </a:p>
          <a:p>
            <a:pPr algn="l">
              <a:buFont typeface="Arial" panose="020B0604020202020204" pitchFamily="34" charset="0"/>
              <a:buChar char="•"/>
            </a:pPr>
            <a:r>
              <a:rPr lang="en-US" b="0" i="0" dirty="0">
                <a:effectLst/>
                <a:latin typeface="Google Sans"/>
              </a:rPr>
              <a:t>Keep your back straight, in particular:</a:t>
            </a:r>
          </a:p>
          <a:p>
            <a:pPr marL="742950" lvl="1" indent="-285750" algn="l">
              <a:buFont typeface="Arial" panose="020B0604020202020204" pitchFamily="34" charset="0"/>
              <a:buChar char="•"/>
            </a:pPr>
            <a:r>
              <a:rPr lang="en-US" b="0" i="0" dirty="0">
                <a:effectLst/>
                <a:latin typeface="Google Sans"/>
              </a:rPr>
              <a:t>Avoid rounding your shoulders forward (for this, you must have your screen at your eye level)</a:t>
            </a:r>
          </a:p>
          <a:p>
            <a:pPr marL="742950" lvl="1" indent="-285750" algn="l">
              <a:buFont typeface="Arial" panose="020B0604020202020204" pitchFamily="34" charset="0"/>
              <a:buChar char="•"/>
            </a:pPr>
            <a:r>
              <a:rPr lang="en-US" b="0" i="0" dirty="0">
                <a:effectLst/>
                <a:latin typeface="Google Sans"/>
              </a:rPr>
              <a:t>Avoid rounding (or arching) your lower back</a:t>
            </a:r>
          </a:p>
          <a:p>
            <a:pPr algn="l">
              <a:buFont typeface="Arial" panose="020B0604020202020204" pitchFamily="34" charset="0"/>
              <a:buChar char="•"/>
            </a:pPr>
            <a:r>
              <a:rPr lang="en-US" b="0" i="0" dirty="0">
                <a:effectLst/>
                <a:latin typeface="Google Sans"/>
              </a:rPr>
              <a:t>Keep your shoulders relaxed and back</a:t>
            </a:r>
          </a:p>
          <a:p>
            <a:pPr algn="l">
              <a:buFont typeface="Arial" panose="020B0604020202020204" pitchFamily="34" charset="0"/>
              <a:buChar char="•"/>
            </a:pPr>
            <a:r>
              <a:rPr lang="en-US" b="0" i="0" dirty="0">
                <a:effectLst/>
                <a:latin typeface="Google Sans"/>
              </a:rPr>
              <a:t>Place your elbows so that they form an angle of 90-100 degrees (never less)</a:t>
            </a:r>
          </a:p>
          <a:p>
            <a:pPr algn="l">
              <a:buFont typeface="Arial" panose="020B0604020202020204" pitchFamily="34" charset="0"/>
              <a:buChar char="•"/>
            </a:pPr>
            <a:r>
              <a:rPr lang="en-US" b="0" i="0" dirty="0">
                <a:effectLst/>
                <a:latin typeface="Google Sans"/>
              </a:rPr>
              <a:t>Keep your knees at a height of your hips (the thighs should form an angle of 90-100 degrees with the torso)</a:t>
            </a:r>
          </a:p>
          <a:p>
            <a:pPr algn="l">
              <a:buFont typeface="Arial" panose="020B0604020202020204" pitchFamily="34" charset="0"/>
              <a:buChar char="•"/>
            </a:pPr>
            <a:r>
              <a:rPr lang="en-US" b="0" i="0" dirty="0">
                <a:effectLst/>
                <a:latin typeface="Google Sans"/>
              </a:rPr>
              <a:t>Leave your legs relaxed, bent at about 90-100 degrees, leave your feet resting on the ground and do not cross your legs.</a:t>
            </a:r>
          </a:p>
        </p:txBody>
      </p:sp>
    </p:spTree>
    <p:extLst>
      <p:ext uri="{BB962C8B-B14F-4D97-AF65-F5344CB8AC3E}">
        <p14:creationId xmlns:p14="http://schemas.microsoft.com/office/powerpoint/2010/main" val="1789444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66A45-D564-D708-04F6-17DE2B32D4FF}"/>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Tone &amp; Tenor</a:t>
            </a:r>
          </a:p>
        </p:txBody>
      </p:sp>
    </p:spTree>
    <p:extLst>
      <p:ext uri="{BB962C8B-B14F-4D97-AF65-F5344CB8AC3E}">
        <p14:creationId xmlns:p14="http://schemas.microsoft.com/office/powerpoint/2010/main" val="705294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DEE4F-D88E-BBA3-1FA1-F1CEA31B171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Tone &amp; tenor</a:t>
            </a:r>
          </a:p>
        </p:txBody>
      </p:sp>
      <p:sp>
        <p:nvSpPr>
          <p:cNvPr id="3" name="Content Placeholder 2">
            <a:extLst>
              <a:ext uri="{FF2B5EF4-FFF2-40B4-BE49-F238E27FC236}">
                <a16:creationId xmlns:a16="http://schemas.microsoft.com/office/drawing/2014/main" id="{1E07C0CF-4C9F-4D46-16D8-531B1B3FC394}"/>
              </a:ext>
            </a:extLst>
          </p:cNvPr>
          <p:cNvSpPr>
            <a:spLocks noGrp="1"/>
          </p:cNvSpPr>
          <p:nvPr>
            <p:ph idx="1"/>
          </p:nvPr>
        </p:nvSpPr>
        <p:spPr/>
        <p:txBody>
          <a:bodyPr/>
          <a:lstStyle/>
          <a:p>
            <a:r>
              <a:rPr lang="en-US" dirty="0">
                <a:latin typeface="Google Sans"/>
              </a:rPr>
              <a:t>Tenor=what you say</a:t>
            </a:r>
          </a:p>
          <a:p>
            <a:endParaRPr lang="en-US" dirty="0">
              <a:latin typeface="Google Sans"/>
            </a:endParaRPr>
          </a:p>
          <a:p>
            <a:r>
              <a:rPr lang="en-US" dirty="0">
                <a:latin typeface="Google Sans"/>
              </a:rPr>
              <a:t>Tone=how you say it</a:t>
            </a:r>
            <a:endParaRPr lang="en-US" dirty="0"/>
          </a:p>
          <a:p>
            <a:endParaRPr lang="en-US" b="0" i="0" dirty="0">
              <a:effectLst/>
              <a:latin typeface="Google Sans"/>
            </a:endParaRPr>
          </a:p>
          <a:p>
            <a:r>
              <a:rPr lang="en-US" b="0" i="0" dirty="0">
                <a:effectLst/>
                <a:latin typeface="Google Sans"/>
              </a:rPr>
              <a:t>refer to the overall mood and attitude expressed by a piece of writing</a:t>
            </a:r>
          </a:p>
          <a:p>
            <a:endParaRPr lang="en-US" b="0" i="0" dirty="0">
              <a:effectLst/>
              <a:latin typeface="Google Sans"/>
            </a:endParaRPr>
          </a:p>
          <a:p>
            <a:r>
              <a:rPr lang="en-US" b="0" i="0" dirty="0">
                <a:effectLst/>
                <a:latin typeface="Google Sans"/>
              </a:rPr>
              <a:t>E.g.</a:t>
            </a:r>
            <a:r>
              <a:rPr lang="en-US" dirty="0">
                <a:latin typeface="Google Sans"/>
              </a:rPr>
              <a:t>:</a:t>
            </a:r>
            <a:r>
              <a:rPr lang="en-US" b="0" i="0" dirty="0">
                <a:effectLst/>
                <a:latin typeface="Google Sans"/>
              </a:rPr>
              <a:t> The article had a very somber tone and tenor, befitting the sadness of the event it described.</a:t>
            </a:r>
          </a:p>
        </p:txBody>
      </p:sp>
    </p:spTree>
    <p:extLst>
      <p:ext uri="{BB962C8B-B14F-4D97-AF65-F5344CB8AC3E}">
        <p14:creationId xmlns:p14="http://schemas.microsoft.com/office/powerpoint/2010/main" val="2385397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1714</Words>
  <Application>Microsoft Office PowerPoint</Application>
  <PresentationFormat>Widescreen</PresentationFormat>
  <Paragraphs>102</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Google Sans</vt:lpstr>
      <vt:lpstr>Times New Roman</vt:lpstr>
      <vt:lpstr>Office Theme</vt:lpstr>
      <vt:lpstr>Interpretation of Body Languages and Signals Recommended Postures for Professional Setting  Tone and Tenor</vt:lpstr>
      <vt:lpstr>EYES</vt:lpstr>
      <vt:lpstr>EYE GAZE</vt:lpstr>
      <vt:lpstr>BLINKING</vt:lpstr>
      <vt:lpstr>PUPIL SIZE</vt:lpstr>
      <vt:lpstr>MOUTH</vt:lpstr>
      <vt:lpstr>PowerPoint Presentation</vt:lpstr>
      <vt:lpstr>GESTURES</vt:lpstr>
      <vt:lpstr>PowerPoint Presentation</vt:lpstr>
      <vt:lpstr>ARMS &amp; LEGS</vt:lpstr>
      <vt:lpstr>PowerPoint Presentation</vt:lpstr>
      <vt:lpstr>POSTURE</vt:lpstr>
      <vt:lpstr>PowerPoint Presentation</vt:lpstr>
      <vt:lpstr>PERSONAL SPACE</vt:lpstr>
      <vt:lpstr>4 levels of social distance</vt:lpstr>
      <vt:lpstr>Intimate Distance: 6 to 18 inches </vt:lpstr>
      <vt:lpstr>Personal Distance: 1.5 to 4 feet</vt:lpstr>
      <vt:lpstr>Social Distance: 4 to 12 feet</vt:lpstr>
      <vt:lpstr>Public Distance: 12 to 25 feet</vt:lpstr>
      <vt:lpstr>POSTURE FOR A FORMAL SETTING</vt:lpstr>
      <vt:lpstr>Recommended posture</vt:lpstr>
      <vt:lpstr>Tone &amp; Tenor</vt:lpstr>
      <vt:lpstr>Tone &amp; tenor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Interpretation of Body Languages and Signals Recommended Postures for Professional Setting  Tone and Tenor</dc:title>
  <dc:creator>Syeda Beena Bukhari</dc:creator>
  <cp:lastModifiedBy>Syeda Beena Bukhari</cp:lastModifiedBy>
  <cp:revision>29</cp:revision>
  <dcterms:created xsi:type="dcterms:W3CDTF">2023-10-22T16:36:39Z</dcterms:created>
  <dcterms:modified xsi:type="dcterms:W3CDTF">2023-11-30T04:00:37Z</dcterms:modified>
</cp:coreProperties>
</file>