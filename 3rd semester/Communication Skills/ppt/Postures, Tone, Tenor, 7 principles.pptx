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71" r:id="rId4"/>
    <p:sldId id="272" r:id="rId5"/>
    <p:sldId id="274" r:id="rId6"/>
    <p:sldId id="299" r:id="rId7"/>
    <p:sldId id="300" r:id="rId8"/>
    <p:sldId id="281" r:id="rId9"/>
    <p:sldId id="282" r:id="rId10"/>
    <p:sldId id="283" r:id="rId11"/>
    <p:sldId id="293" r:id="rId12"/>
    <p:sldId id="284" r:id="rId13"/>
    <p:sldId id="294" r:id="rId14"/>
    <p:sldId id="285" r:id="rId15"/>
    <p:sldId id="295" r:id="rId16"/>
    <p:sldId id="286" r:id="rId17"/>
    <p:sldId id="296" r:id="rId18"/>
    <p:sldId id="287" r:id="rId19"/>
    <p:sldId id="297" r:id="rId20"/>
    <p:sldId id="288" r:id="rId21"/>
    <p:sldId id="298" r:id="rId22"/>
    <p:sldId id="289" r:id="rId23"/>
    <p:sldId id="292" r:id="rId24"/>
    <p:sldId id="290" r:id="rId25"/>
    <p:sldId id="291" r:id="rId26"/>
    <p:sldId id="301" r:id="rId27"/>
    <p:sldId id="302" r:id="rId28"/>
    <p:sldId id="30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CA48-2DD1-9BCA-5CB7-4B76CDD9F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30B3E-A67A-C293-68F7-AEE67EED7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E24B5-AD8A-5753-054C-03656634B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103C1-1B69-4A18-9C44-E24F32D89B2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0C4AE-C198-8EBE-B691-B0C8B60A8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4D7D7-C46C-EAA9-DFF9-A0DC2DC81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78BCC-F637-4168-8F5C-C258C295B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66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DBBE-AA5E-C1AD-3BDA-E8BD92EC3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AC20B-02A7-BBB6-6443-0EDD4E8F8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859F-73FC-3C88-DFD4-FA9EDB5F6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103C1-1B69-4A18-9C44-E24F32D89B2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C0191-0712-5973-9FC9-04F35058C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2DA70-3A3C-13C6-EB0D-2A833646D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78BCC-F637-4168-8F5C-C258C295B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57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14389-5135-C264-18FF-3EE373B24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AAB40-030B-12D6-02BE-FD50B6369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BDA4D-9AA5-DED9-A1E0-712FE1FD0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103C1-1B69-4A18-9C44-E24F32D89B2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E146F-BC63-F102-59FC-9A70D2D3D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FB166-F3F3-25B8-C35E-AC87ED045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78BCC-F637-4168-8F5C-C258C295B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5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E61CD-44C2-825B-857E-DBAB00041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EAC2D-9E92-EAE2-1287-D3DA2ABA6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7052E2-38E2-BA5C-3052-E9DA593F8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00693-12BC-758B-2AE1-ABCF8F283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103C1-1B69-4A18-9C44-E24F32D89B2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1EC70-7E08-CF67-6718-D250FE34C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9A5D2-316A-EE95-5F85-02E219E00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78BCC-F637-4168-8F5C-C258C295B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10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498DE-AFB0-B89F-428C-114745619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775BB-6AC7-DA17-AFD9-504BC2135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2C8E99-602B-2004-868C-6B3766D94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4ACE89-1607-4FF1-2766-53414D2B35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37CFC0-46D2-F706-C9C4-510F363C15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8570C7-427D-C1C0-5DCF-199C2F7C8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103C1-1B69-4A18-9C44-E24F32D89B2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29D87D-DF41-5EB3-E466-BE5917FD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5C4CDD-D3AF-3DAA-7E99-32636BC9D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78BCC-F637-4168-8F5C-C258C295B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05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7E244-9B1A-2BE7-A4C5-8CC082232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58CE47-51BF-1527-2C29-F18EE924A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103C1-1B69-4A18-9C44-E24F32D89B2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BCE706-A0D1-40C6-7C2A-0D16E7109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88BD34-618A-55F3-7B33-678F055BB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78BCC-F637-4168-8F5C-C258C295B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61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3C35C3-5ACD-001E-DA29-B6A258DBE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103C1-1B69-4A18-9C44-E24F32D89B2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EF7DE7-DF5C-D0FA-AB6A-41325CA95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11609-6B1E-A53B-8582-5E2F6448C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78BCC-F637-4168-8F5C-C258C295B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9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16A4F-4CD8-3FD6-A6AD-F3BF5717D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EFC16-955C-EFA7-8ABA-A3C97351E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9F9E9-BFD7-D994-B481-FD8634015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DF948-7E19-6F5F-82A6-1C53D4284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103C1-1B69-4A18-9C44-E24F32D89B2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AF722-90B6-7099-80B9-9241C5810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41025D-9549-D56D-F3F2-48A4A4D7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78BCC-F637-4168-8F5C-C258C295B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16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9909-7E07-FC21-2234-058257421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BC7953-AC60-B1EE-02AA-427FE6A39F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34450-BE37-91B3-12C6-D86F76220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74DD9-DFCF-B09C-4192-2F5EED20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103C1-1B69-4A18-9C44-E24F32D89B2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C0621-AAE5-B016-1336-0192E5DF4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9348E-EA6A-DB3B-7493-DB22313B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78BCC-F637-4168-8F5C-C258C295B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58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5DE2B-DF1E-1C7B-CA91-F3FED728C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C3ED38-CBF8-110E-D059-A763B50C6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EAA82-280E-4157-7382-DF9705248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103C1-1B69-4A18-9C44-E24F32D89B2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7983B-07AB-9A48-7C53-459864D18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B969F-AD4F-C70A-292C-FA3DCF44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78BCC-F637-4168-8F5C-C258C295B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02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B3560-D1F8-77F1-E151-AF4C627679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318DCE-F73B-E6A3-2601-B874C23AC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A9D25-18AB-0893-E497-8B257EA18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103C1-1B69-4A18-9C44-E24F32D89B2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12EDE-8FDF-DFE1-9EF9-512919D51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F6DC2-4B78-9E6A-3F78-C54CCA90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78BCC-F637-4168-8F5C-C258C295B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7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F1B831-6C00-F1FB-CF80-467EB69C3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7B64F-2137-6CC7-6E74-AE40D34D8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48424-6D19-EB90-34D6-474FC5FFA6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103C1-1B69-4A18-9C44-E24F32D89B2D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C7AB1-9FAA-3B4A-61F6-886F905606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F7185-0F93-BEBA-6B7F-3B038CF0A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78BCC-F637-4168-8F5C-C258C295B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37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emhunter.com/edna-st-vincent-millay/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26DE7-BEE5-FA28-9A2E-9A2CD711D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002597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36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Recommended Postures for a Professional Setting</a:t>
            </a:r>
            <a:r>
              <a:rPr lang="en-US" sz="3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3600" b="1" kern="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Tone and Tenor</a:t>
            </a:r>
            <a:b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 C’s of Communication</a:t>
            </a:r>
            <a:endParaRPr lang="en-US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E66A30-1E6D-BF8D-FABD-8C64DFB1E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1323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					Syeda Beena Bukhari</a:t>
            </a:r>
          </a:p>
        </p:txBody>
      </p:sp>
    </p:spTree>
    <p:extLst>
      <p:ext uri="{BB962C8B-B14F-4D97-AF65-F5344CB8AC3E}">
        <p14:creationId xmlns:p14="http://schemas.microsoft.com/office/powerpoint/2010/main" val="1454632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FF67E-913B-30CF-11ED-FB73CF9FF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Postures for a Formal Setting</a:t>
            </a:r>
          </a:p>
        </p:txBody>
      </p:sp>
    </p:spTree>
    <p:extLst>
      <p:ext uri="{BB962C8B-B14F-4D97-AF65-F5344CB8AC3E}">
        <p14:creationId xmlns:p14="http://schemas.microsoft.com/office/powerpoint/2010/main" val="424956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792C-C9CC-0DA2-9593-C4FDD3395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posture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009BF-084C-8729-EC19-DA50685CB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b="1" dirty="0">
                <a:latin typeface="Google Sans"/>
              </a:rPr>
              <a:t>Key points:</a:t>
            </a:r>
            <a:endParaRPr lang="en-US" b="1" i="0" dirty="0"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Google Sans"/>
              </a:rPr>
              <a:t>Keep your back straight</a:t>
            </a:r>
            <a:r>
              <a:rPr lang="en-US" b="0" i="0" dirty="0">
                <a:effectLst/>
                <a:latin typeface="Google Sans"/>
              </a:rPr>
              <a:t>, in particular: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oogle Sans"/>
              </a:rPr>
              <a:t>Avoid rounding your shoulders forward </a:t>
            </a:r>
            <a:r>
              <a:rPr lang="en-US" dirty="0">
                <a:latin typeface="Google Sans"/>
              </a:rPr>
              <a:t>with </a:t>
            </a:r>
            <a:r>
              <a:rPr lang="en-US" b="0" i="0" dirty="0">
                <a:effectLst/>
                <a:latin typeface="Google Sans"/>
              </a:rPr>
              <a:t>your screen at your eye level)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oogle Sans"/>
              </a:rPr>
              <a:t>Avoid rounding (or arching) your lower back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oogle Sans"/>
              </a:rPr>
              <a:t>Keep your shoulders relaxed and back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oogle Sans"/>
              </a:rPr>
              <a:t>Place your elbows so that they form an angle of 90-100 degrees (never less)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oogle Sans"/>
              </a:rPr>
              <a:t>Keep your knees at a height of your hips (the thighs should form an angle of 90-100 degrees with the torso)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oogle Sans"/>
              </a:rPr>
              <a:t>Leave your legs relaxed, bent at about 90-100 degrees, leave your feet resting on the ground and do not cross your legs.</a:t>
            </a:r>
          </a:p>
        </p:txBody>
      </p:sp>
    </p:spTree>
    <p:extLst>
      <p:ext uri="{BB962C8B-B14F-4D97-AF65-F5344CB8AC3E}">
        <p14:creationId xmlns:p14="http://schemas.microsoft.com/office/powerpoint/2010/main" val="1789444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66A45-D564-D708-04F6-17DE2B32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Tone &amp; Tenor</a:t>
            </a:r>
          </a:p>
        </p:txBody>
      </p:sp>
    </p:spTree>
    <p:extLst>
      <p:ext uri="{BB962C8B-B14F-4D97-AF65-F5344CB8AC3E}">
        <p14:creationId xmlns:p14="http://schemas.microsoft.com/office/powerpoint/2010/main" val="705294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EE4F-D88E-BBA3-1FA1-F1CEA31B1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Tone &amp; tenor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7C0CF-4C9F-4D46-16D8-531B1B3FC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oogle Sans"/>
              </a:rPr>
              <a:t>Tenor=what you say</a:t>
            </a:r>
          </a:p>
          <a:p>
            <a:endParaRPr lang="en-US" dirty="0">
              <a:latin typeface="Google Sans"/>
            </a:endParaRPr>
          </a:p>
          <a:p>
            <a:r>
              <a:rPr lang="en-US" dirty="0">
                <a:latin typeface="Google Sans"/>
              </a:rPr>
              <a:t>Tone=how you say it</a:t>
            </a:r>
            <a:endParaRPr lang="en-US" dirty="0"/>
          </a:p>
          <a:p>
            <a:endParaRPr lang="en-US" b="0" i="0" dirty="0">
              <a:effectLst/>
              <a:latin typeface="Google Sans"/>
            </a:endParaRPr>
          </a:p>
          <a:p>
            <a:r>
              <a:rPr lang="en-US" b="0" i="0" dirty="0">
                <a:effectLst/>
                <a:latin typeface="Google Sans"/>
              </a:rPr>
              <a:t>refer to the overall mood and attitude expressed by a piece of writing</a:t>
            </a:r>
          </a:p>
          <a:p>
            <a:endParaRPr lang="en-US" b="0" i="0" dirty="0">
              <a:effectLst/>
              <a:latin typeface="Google Sans"/>
            </a:endParaRPr>
          </a:p>
          <a:p>
            <a:r>
              <a:rPr lang="en-US" b="0" i="0" dirty="0">
                <a:effectLst/>
                <a:latin typeface="Google Sans"/>
              </a:rPr>
              <a:t>E.g.</a:t>
            </a:r>
            <a:r>
              <a:rPr lang="en-US" dirty="0">
                <a:latin typeface="Google Sans"/>
              </a:rPr>
              <a:t>:</a:t>
            </a:r>
            <a:r>
              <a:rPr lang="en-US" b="0" i="0" dirty="0">
                <a:effectLst/>
                <a:latin typeface="Google Sans"/>
              </a:rPr>
              <a:t> The article had a very somber tone and tenor, befitting the sadness of the event it described.</a:t>
            </a:r>
          </a:p>
        </p:txBody>
      </p:sp>
    </p:spTree>
    <p:extLst>
      <p:ext uri="{BB962C8B-B14F-4D97-AF65-F5344CB8AC3E}">
        <p14:creationId xmlns:p14="http://schemas.microsoft.com/office/powerpoint/2010/main" val="2385397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A83CB-4D74-5BA6-8F07-0CB773EEA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E9C7F-9246-7824-4101-35DE8E07E2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30960"/>
            <a:ext cx="5181600" cy="552704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  <a:t>In the spring of the year, in the spring of the year,</a:t>
            </a:r>
            <a:b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  <a:t>I walked the road beside my dear.</a:t>
            </a:r>
            <a:b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  <a:t>The trees were black where the bark was wet.</a:t>
            </a:r>
            <a:b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  <a:t>I see them yet, in the spring of the year.</a:t>
            </a:r>
            <a:b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  <a:t>He broke me a bough of the blossoming peach</a:t>
            </a:r>
            <a:b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  <a:t>That was out of the way and hard to reach.</a:t>
            </a:r>
          </a:p>
          <a:p>
            <a:pPr marL="0" indent="0" algn="l">
              <a:buNone/>
            </a:pPr>
            <a: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  <a:t>In the fall of the year, in the fall of the year,</a:t>
            </a:r>
            <a:b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  <a:t>I walked the road beside my dear.</a:t>
            </a:r>
            <a:b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  <a:t>The rooks went up with a raucous trill.</a:t>
            </a:r>
            <a:b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</a:b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2E74ED-71AE-2447-D9EF-6392494E5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30960"/>
            <a:ext cx="5181600" cy="535432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  <a:t>I hear them still, in the fall of the year.</a:t>
            </a:r>
            <a:b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  <a:t>He laughed at all I dared to praise,</a:t>
            </a:r>
            <a:b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  <a:t>And broke my heart, in little ways.</a:t>
            </a:r>
            <a:b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</a:br>
            <a:b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  <a:t>Year be springing or year be falling,</a:t>
            </a:r>
            <a:b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  <a:t>The bark will drip and the birds be calling.</a:t>
            </a:r>
            <a:b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  <a:t>There's much that's fine to see and hear</a:t>
            </a:r>
            <a:b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  <a:t>In the spring of a year, in the fall of a year.</a:t>
            </a:r>
            <a:b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  <a:t>'Tis not love's going to hurt my days.</a:t>
            </a:r>
            <a:b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dirty="0">
                <a:solidFill>
                  <a:srgbClr val="484848"/>
                </a:solidFill>
                <a:effectLst/>
                <a:latin typeface="Arial" panose="020B0604020202020204" pitchFamily="34" charset="0"/>
              </a:rPr>
              <a:t>But that it went in little ways.</a:t>
            </a:r>
          </a:p>
          <a:p>
            <a:pPr algn="l"/>
            <a:r>
              <a:rPr lang="en-US" sz="2400" b="1" i="0" u="none" strike="noStrike" dirty="0">
                <a:solidFill>
                  <a:srgbClr val="484848"/>
                </a:solidFill>
                <a:effectLst/>
                <a:latin typeface="Arial" panose="020B0604020202020204" pitchFamily="34" charset="0"/>
                <a:hlinkClick r:id="rId2" tooltip="Edna St. Vincent Millay"/>
              </a:rPr>
              <a:t>Edna St. Vincent Millay</a:t>
            </a:r>
            <a:endParaRPr lang="en-US" sz="2400" b="1" i="0" dirty="0">
              <a:solidFill>
                <a:srgbClr val="484848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898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BF5F1-964D-7592-4DB4-2734B1300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2DFA9-7B74-585C-5BB9-F92192A98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66725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I wandered lonely as a cloud</a:t>
            </a:r>
            <a:b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</a:br>
            <a: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That floats on high o’er vales and hills,</a:t>
            </a:r>
            <a:b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</a:br>
            <a: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When all at once I saw a crowd,</a:t>
            </a:r>
            <a:b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</a:br>
            <a: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A host, of golden daffodils;</a:t>
            </a:r>
            <a:b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</a:br>
            <a: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Beside the lake, beneath the trees,</a:t>
            </a:r>
            <a:b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</a:br>
            <a: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Fluttering and dancing in the breeze.</a:t>
            </a:r>
          </a:p>
          <a:p>
            <a:pPr marL="0" indent="0" algn="l">
              <a:buNone/>
            </a:pPr>
            <a:endParaRPr lang="en-US" sz="2400" b="0" i="0" dirty="0">
              <a:solidFill>
                <a:srgbClr val="252324"/>
              </a:solidFill>
              <a:effectLst/>
              <a:latin typeface="Source Sans Pro" panose="020B0503030403020204" pitchFamily="34" charset="0"/>
            </a:endParaRPr>
          </a:p>
          <a:p>
            <a:pPr marL="0" indent="0" algn="l">
              <a:buNone/>
            </a:pPr>
            <a: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Continuous as the stars that shine</a:t>
            </a:r>
            <a:b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</a:br>
            <a: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And twinkle on the milky way,</a:t>
            </a:r>
            <a:b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</a:br>
            <a: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They stretched in never-ending line</a:t>
            </a:r>
            <a:b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</a:br>
            <a: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Along the margin of a bay:</a:t>
            </a:r>
            <a:b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</a:br>
            <a: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Ten thousand saw I at a glance,</a:t>
            </a:r>
            <a:b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</a:br>
            <a:r>
              <a:rPr lang="en-US" sz="24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Tossing their heads in sprightly dance.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B40E4-3155-FD80-768B-A040959EA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59840"/>
            <a:ext cx="5181600" cy="523303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The waves beside them danced; but they</a:t>
            </a:r>
            <a:b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</a:br>
            <a: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Out-did the sparkling waves in glee:</a:t>
            </a:r>
            <a:b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</a:br>
            <a: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A poet could not but be happy,</a:t>
            </a:r>
            <a:b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</a:br>
            <a: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In such a jocund company:</a:t>
            </a:r>
            <a:b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</a:br>
            <a: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I gazed – and gazed – but little thought</a:t>
            </a:r>
            <a:b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</a:br>
            <a: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What wealth the show to me had brought:</a:t>
            </a:r>
          </a:p>
          <a:p>
            <a:pPr marL="0" indent="0">
              <a:buNone/>
            </a:pPr>
            <a:br>
              <a:rPr lang="en-US" sz="2800" dirty="0"/>
            </a:br>
            <a: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For oft, when on my couch I lie</a:t>
            </a:r>
            <a:b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</a:br>
            <a: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In vacant or in pensive mood,</a:t>
            </a:r>
            <a:b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</a:br>
            <a: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They flash upon that inward eye</a:t>
            </a:r>
            <a:b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</a:br>
            <a: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Which is the bliss of solitude;</a:t>
            </a:r>
            <a:b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</a:br>
            <a: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And then my heart with pleasure fills,</a:t>
            </a:r>
            <a:b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</a:br>
            <a:r>
              <a:rPr lang="en-US" sz="2800" b="0" i="0" dirty="0">
                <a:solidFill>
                  <a:srgbClr val="252324"/>
                </a:solidFill>
                <a:effectLst/>
                <a:latin typeface="Source Sans Pro" panose="020B0503030403020204" pitchFamily="34" charset="0"/>
              </a:rPr>
              <a:t>And dances with the daffodils.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12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51F56-9B1D-AD33-6607-EBC861CA3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C’s of Communication</a:t>
            </a:r>
          </a:p>
        </p:txBody>
      </p:sp>
    </p:spTree>
    <p:extLst>
      <p:ext uri="{BB962C8B-B14F-4D97-AF65-F5344CB8AC3E}">
        <p14:creationId xmlns:p14="http://schemas.microsoft.com/office/powerpoint/2010/main" val="553724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8FC8-E773-2910-1787-5D01A6309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Communication or the 7 c’s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F5E3F-7693-6AB3-B507-23E30AD49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3680"/>
            <a:ext cx="10515600" cy="4673283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Each principle starts with the alphabet C</a:t>
            </a:r>
          </a:p>
          <a:p>
            <a:pPr marL="0" indent="0">
              <a:buNone/>
            </a:pPr>
            <a:endParaRPr lang="en-US" dirty="0">
              <a:effectLst/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lvl="1" indent="-571500">
              <a:buFont typeface="+mj-lt"/>
              <a:buAutoNum type="romanUcPeriod"/>
            </a:pPr>
            <a:r>
              <a:rPr lang="en-US" dirty="0"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Completeness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US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Concreteness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US" dirty="0"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Consideration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US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Con</a:t>
            </a:r>
            <a:r>
              <a:rPr lang="en-US" dirty="0"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ciseness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US" dirty="0"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Courtesy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US" dirty="0"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Clearness/Clarity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US" dirty="0"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Correctness</a:t>
            </a:r>
          </a:p>
          <a:p>
            <a:pPr marL="1028700" lvl="1" indent="-571500">
              <a:buFont typeface="+mj-lt"/>
              <a:buAutoNum type="romanUcPeriod"/>
            </a:pPr>
            <a:endParaRPr lang="en-US" dirty="0"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lvl="1" indent="-571500">
              <a:buFont typeface="+mj-lt"/>
              <a:buAutoNum type="romanUcPeriod"/>
            </a:pPr>
            <a:endParaRPr lang="en-US" dirty="0">
              <a:effectLst/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502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A0864-4DF9-D198-5244-37FB8DE5A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Completeness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F165A-DC68-B14B-7EB3-50D031B4E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r>
              <a:rPr lang="en-US" sz="26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Provide all the necessary information.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endParaRPr lang="en-US" sz="2600" dirty="0">
              <a:effectLst/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r>
              <a:rPr lang="en-US" sz="26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Answer all the questions asked.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"/>
            </a:pPr>
            <a:endParaRPr lang="en-US" sz="2600" dirty="0">
              <a:effectLst/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"/>
            </a:pPr>
            <a:r>
              <a:rPr lang="en-US" sz="26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Some extra information should also be given, if deemed necessary.</a:t>
            </a:r>
          </a:p>
        </p:txBody>
      </p:sp>
    </p:spTree>
    <p:extLst>
      <p:ext uri="{BB962C8B-B14F-4D97-AF65-F5344CB8AC3E}">
        <p14:creationId xmlns:p14="http://schemas.microsoft.com/office/powerpoint/2010/main" val="2370277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B69A2-B5A9-B523-6D1D-AB19461B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5422B-50C2-A7B9-D485-03E6996DE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1. Please fax me in return the departure from Singapore to Hong Kong on the 8</a:t>
            </a:r>
            <a:r>
              <a:rPr lang="en-US" sz="2800" baseline="300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28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effectLst/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2. How come my request for an interview letter did not receive a response?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28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Show me a portable TV. </a:t>
            </a:r>
            <a:endParaRPr lang="en-US" sz="2800" dirty="0"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500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5A12F-1AAA-D3DF-981B-B54BF6918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Concreteness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1088D-8272-4DF0-A360-FEC10F439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960"/>
            <a:ext cx="10515600" cy="4592003"/>
          </a:xfrm>
        </p:spPr>
        <p:txBody>
          <a:bodyPr>
            <a:normAutofit lnSpcReduction="10000"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r>
              <a:rPr lang="en-US" sz="26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Use specific facts and figures to put action to your words.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endParaRPr lang="en-US" sz="2600" dirty="0">
              <a:effectLst/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r>
              <a:rPr lang="en-US" sz="26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Avoid words like soon, later, few, quickly, at an early date, etc.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endParaRPr lang="en-US" sz="2600" dirty="0">
              <a:effectLst/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r>
              <a:rPr lang="en-US" sz="26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Use active voice and figurative language.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endParaRPr lang="en-US" sz="2600" dirty="0">
              <a:effectLst/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r>
              <a:rPr lang="en-US" sz="26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Use clear, image building words, logical statements instead of emotional statements.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"/>
            </a:pPr>
            <a:endParaRPr lang="en-US" sz="2600" dirty="0">
              <a:effectLst/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"/>
            </a:pPr>
            <a:r>
              <a:rPr lang="en-US" sz="2600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Pinpoint facts, instead of vague statements.</a:t>
            </a:r>
          </a:p>
        </p:txBody>
      </p:sp>
    </p:spTree>
    <p:extLst>
      <p:ext uri="{BB962C8B-B14F-4D97-AF65-F5344CB8AC3E}">
        <p14:creationId xmlns:p14="http://schemas.microsoft.com/office/powerpoint/2010/main" val="2278681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F83AA-30CF-9D7D-55E5-4A5931793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C877B-C765-6F0A-0D7F-FB04E3F8E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Goods will be delivered as soon as possible.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Send me the consignment of a few shoes.</a:t>
            </a:r>
            <a:r>
              <a:rPr lang="en-US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book is really good.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The tests were administered by the professor.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Duties shall be assigned to the secretary.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It was decided by the Dean.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The company is in great danger.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789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25BBE-A418-1899-AFF4-5C13A635D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Consideration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66FB2-B6A9-0F56-6C60-6012B8B1C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r>
              <a:rPr lang="en-US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Adopt the ‘you’ attitude by giving importance to the customer or the client.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"/>
            </a:pPr>
            <a:endParaRPr lang="en-US" dirty="0">
              <a:effectLst/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"/>
            </a:pPr>
            <a:r>
              <a:rPr lang="en-US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Emphasize the positive points by avoiding negative messages.</a:t>
            </a:r>
          </a:p>
          <a:p>
            <a:endParaRPr lang="en-US" dirty="0"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963613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F621-5D7E-FCFD-B01B-8F07F6BB8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08E31-B59E-1616-6483-8CB2473DF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520"/>
            <a:ext cx="10515600" cy="4683443"/>
          </a:xfrm>
        </p:spPr>
        <p:txBody>
          <a:bodyPr>
            <a:normAutofit lnSpcReduction="10000"/>
          </a:bodyPr>
          <a:lstStyle/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I am delighted to announce that we will be extending shopping hours to make shopping more convenient.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We are glad to inform you that we have selected you as the Manager in our firm.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You have failed to enclose the cheque in the envelope.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Your consignment was not delivered in time because you did not specify the size of the jackets.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32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5697D-283F-E5A5-8B00-1E8567472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Conciseness/Compactness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/Precision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03506-9B26-3DC3-92CE-69FB70ACC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r>
              <a:rPr lang="en-US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Use the fewest possible words to communicate a complete message.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endParaRPr lang="en-US" dirty="0">
              <a:effectLst/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r>
              <a:rPr lang="en-US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Avoid wordy/lengthy expressions.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"/>
            </a:pPr>
            <a:endParaRPr lang="en-US" dirty="0">
              <a:effectLst/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"/>
            </a:pPr>
            <a:r>
              <a:rPr lang="en-US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Avoid irrelevant material and repetition.</a:t>
            </a:r>
          </a:p>
        </p:txBody>
      </p:sp>
    </p:spTree>
    <p:extLst>
      <p:ext uri="{BB962C8B-B14F-4D97-AF65-F5344CB8AC3E}">
        <p14:creationId xmlns:p14="http://schemas.microsoft.com/office/powerpoint/2010/main" val="3944606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51699-2280-4B08-6B8F-D7774C5E0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42C7A-BDBF-CB4E-B8BF-19876243A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 this time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are in need of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Due to the fact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Please find attached the list you requested.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She bought desks that are of the executive type.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literature which is enclosed will give you an idea of the appearance of this house.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visited their branch office, which is located in the city of Multan.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have received your order, dated February 23, for which we thank you.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137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13F5A-7C3B-D25E-87BA-9C13C4DCA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Courtesy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9E065-2C94-769A-C110-E7208EEC2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r>
              <a:rPr lang="en-US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You should be sincere, thoughtful, and appreciative.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endParaRPr lang="en-US" dirty="0">
              <a:effectLst/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r>
              <a:rPr lang="en-US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Show courtesy to your receiver.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endParaRPr lang="en-US" dirty="0">
              <a:effectLst/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r>
              <a:rPr lang="en-US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Deal tactfully, show respect, avoid blunt expressions.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endParaRPr lang="en-US" dirty="0">
              <a:effectLst/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r>
              <a:rPr lang="en-US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No gender discrimination. Avoid man words like manpower, man made, best man, chairman, where women are also working.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"/>
            </a:pPr>
            <a:endParaRPr lang="en-US" dirty="0">
              <a:effectLst/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"/>
            </a:pPr>
            <a:r>
              <a:rPr lang="en-US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Know your audience.</a:t>
            </a:r>
          </a:p>
        </p:txBody>
      </p:sp>
    </p:spTree>
    <p:extLst>
      <p:ext uri="{BB962C8B-B14F-4D97-AF65-F5344CB8AC3E}">
        <p14:creationId xmlns:p14="http://schemas.microsoft.com/office/powerpoint/2010/main" val="1058671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69350-89FB-11F2-67FA-FB78EE50C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1B413-6FDC-FC3D-822F-63A8F6A3B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do not accept spoiled and un-hygienic food. Please take it back.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 wrote this letter three times. I don’t know why you could not understand.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760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66518-E28D-7541-909A-AB750D2F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Clearness or clarity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5A86D-D03D-2AF3-9041-C470858D5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r>
              <a:rPr lang="en-US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Use simple language and familiar words.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endParaRPr lang="en-US" dirty="0">
              <a:effectLst/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r>
              <a:rPr lang="en-US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Presence of coherence and unity in paragraphs.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"/>
            </a:pPr>
            <a:endParaRPr lang="en-US" dirty="0">
              <a:effectLst/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"/>
            </a:pPr>
            <a:r>
              <a:rPr lang="en-US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Think wisely, but communicate in the language of the people.</a:t>
            </a:r>
          </a:p>
        </p:txBody>
      </p:sp>
    </p:spTree>
    <p:extLst>
      <p:ext uri="{BB962C8B-B14F-4D97-AF65-F5344CB8AC3E}">
        <p14:creationId xmlns:p14="http://schemas.microsoft.com/office/powerpoint/2010/main" val="4230975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6283B-9926-07C5-E202-C426B07DA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5846B-E21C-82AB-3900-44BD3F4E8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Being an excellent lawyer, I am sure you can help us.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 report was about managers, broken down by age and gender.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After planting 10.000 berry plants, the deer came into the botanist’s farm and crushed them.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24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ED265-CACD-E26A-D002-D2411C909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Correctness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A81CE-79C0-6BC1-E178-5C9E90A26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"/>
            </a:pPr>
            <a:r>
              <a:rPr lang="en-US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Use the right language with proper grammar, punctuation, spellings.</a:t>
            </a: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"/>
            </a:pPr>
            <a:endParaRPr lang="en-US" dirty="0">
              <a:effectLst/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"/>
            </a:pPr>
            <a:r>
              <a:rPr lang="en-US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Accuracy of facts and figures must be checked.</a:t>
            </a:r>
            <a:endParaRPr lang="en-US" dirty="0">
              <a:latin typeface="Google Sans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"/>
            </a:pPr>
            <a:endParaRPr lang="en-US" dirty="0">
              <a:effectLst/>
              <a:latin typeface="Google Sans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"/>
            </a:pPr>
            <a:r>
              <a:rPr lang="en-US" dirty="0">
                <a:effectLst/>
                <a:latin typeface="Google Sans"/>
                <a:ea typeface="Calibri" panose="020F0502020204030204" pitchFamily="34" charset="0"/>
              </a:rPr>
              <a:t>Avoid words that confuse, use simple words instead.</a:t>
            </a:r>
            <a:endParaRPr lang="en-US" dirty="0"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074957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4D412-71CA-8FFD-96EA-28AB7293B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More of the 7 C’s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64730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C57C-B3BE-B748-7236-89157161A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Credibility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C1EE2-681F-C1F5-24F9-B89B548FB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It is not possible to have a reliable communication until and unless the sender is viewed as a credible source for doing business. In short, credibility builds trust.</a:t>
            </a:r>
          </a:p>
          <a:p>
            <a:endParaRPr lang="en-US" dirty="0"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987968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940F8-0D08-6FE7-91A8-47DB75272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Consistency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8127E-206A-7537-84FC-5C1EAD674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Google Sans"/>
                <a:ea typeface="Calibri" panose="020F0502020204030204" pitchFamily="34" charset="0"/>
                <a:cs typeface="Times New Roman" panose="02020603050405020304" pitchFamily="18" charset="0"/>
              </a:rPr>
              <a:t>A consistent thought or approach is very important for the sender. Thoughts are formulated before speaking or sending a message and some start crystallizing while the message is being transmitted.</a:t>
            </a:r>
          </a:p>
          <a:p>
            <a:endParaRPr lang="en-US" dirty="0"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631419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A7761E-7FD4-A7ED-9818-BF9BDDC4A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Jargon &amp; Register</a:t>
            </a:r>
          </a:p>
        </p:txBody>
      </p:sp>
    </p:spTree>
    <p:extLst>
      <p:ext uri="{BB962C8B-B14F-4D97-AF65-F5344CB8AC3E}">
        <p14:creationId xmlns:p14="http://schemas.microsoft.com/office/powerpoint/2010/main" val="15277652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01BFC6-4220-5AED-4F32-A507BCFDE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Jargon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A61774-72C0-A7C7-7654-DB3D56FC3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Special words or expressions (vocabulary) used by a profession or group that are difficult for others to understand</a:t>
            </a:r>
          </a:p>
          <a:p>
            <a:endParaRPr lang="en-US" dirty="0"/>
          </a:p>
          <a:p>
            <a:r>
              <a:rPr lang="en-US" dirty="0"/>
              <a:t>Specific to that field</a:t>
            </a:r>
          </a:p>
        </p:txBody>
      </p:sp>
    </p:spTree>
    <p:extLst>
      <p:ext uri="{BB962C8B-B14F-4D97-AF65-F5344CB8AC3E}">
        <p14:creationId xmlns:p14="http://schemas.microsoft.com/office/powerpoint/2010/main" val="4585752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3349F-21AC-AA03-5D01-1D8AE6296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5F7E0-ECCE-4DA6-FCA7-F087E0DF8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Variety of a language used in a particular social setting or for a particular reason</a:t>
            </a:r>
          </a:p>
          <a:p>
            <a:endParaRPr lang="en-US" dirty="0"/>
          </a:p>
          <a:p>
            <a:r>
              <a:rPr lang="en-US" dirty="0"/>
              <a:t>Formal grammar in a job interview than in a casual setting</a:t>
            </a:r>
          </a:p>
        </p:txBody>
      </p:sp>
    </p:spTree>
    <p:extLst>
      <p:ext uri="{BB962C8B-B14F-4D97-AF65-F5344CB8AC3E}">
        <p14:creationId xmlns:p14="http://schemas.microsoft.com/office/powerpoint/2010/main" val="998506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1346</Words>
  <Application>Microsoft Office PowerPoint</Application>
  <PresentationFormat>Widescreen</PresentationFormat>
  <Paragraphs>149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Calibri Light</vt:lpstr>
      <vt:lpstr>Google Sans</vt:lpstr>
      <vt:lpstr>Source Sans Pro</vt:lpstr>
      <vt:lpstr>Times New Roman</vt:lpstr>
      <vt:lpstr>Wingdings</vt:lpstr>
      <vt:lpstr>Office Theme</vt:lpstr>
      <vt:lpstr>Recommended Postures for a Professional Setting  Tone and Tenor 7 C’s of Communication</vt:lpstr>
      <vt:lpstr>Postures for a Formal Setting</vt:lpstr>
      <vt:lpstr>Recommended posture</vt:lpstr>
      <vt:lpstr>Tone &amp; Tenor</vt:lpstr>
      <vt:lpstr>Tone &amp; tenor</vt:lpstr>
      <vt:lpstr>Example 1</vt:lpstr>
      <vt:lpstr>Example 2</vt:lpstr>
      <vt:lpstr>7 C’s of Communication</vt:lpstr>
      <vt:lpstr>Principles of Communication or the 7 c’s</vt:lpstr>
      <vt:lpstr>Completeness</vt:lpstr>
      <vt:lpstr>Examples:</vt:lpstr>
      <vt:lpstr>Concreteness</vt:lpstr>
      <vt:lpstr>Examples:</vt:lpstr>
      <vt:lpstr>Consideration</vt:lpstr>
      <vt:lpstr>Examples</vt:lpstr>
      <vt:lpstr>Conciseness/Compactness/Precision</vt:lpstr>
      <vt:lpstr>Examples:</vt:lpstr>
      <vt:lpstr>Courtesy</vt:lpstr>
      <vt:lpstr>Examples:</vt:lpstr>
      <vt:lpstr>Clearness or clarity</vt:lpstr>
      <vt:lpstr>Examples:</vt:lpstr>
      <vt:lpstr>Correctness</vt:lpstr>
      <vt:lpstr>More of the 7 C’s</vt:lpstr>
      <vt:lpstr>Credibility</vt:lpstr>
      <vt:lpstr>Consistency</vt:lpstr>
      <vt:lpstr>Jargon &amp; Register</vt:lpstr>
      <vt:lpstr>Jargon</vt:lpstr>
      <vt:lpstr>Register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Interpretation of Body Languages and Signals Recommended Postures for Professional Setting  Tone and Tenor</dc:title>
  <dc:creator>Syeda Beena Bukhari</dc:creator>
  <cp:lastModifiedBy>Syeda Beena Bukhari</cp:lastModifiedBy>
  <cp:revision>85</cp:revision>
  <dcterms:created xsi:type="dcterms:W3CDTF">2023-10-22T16:36:39Z</dcterms:created>
  <dcterms:modified xsi:type="dcterms:W3CDTF">2023-11-01T03:25:00Z</dcterms:modified>
</cp:coreProperties>
</file>