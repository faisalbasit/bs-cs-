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696" r:id="rId3"/>
    <p:sldId id="697" r:id="rId4"/>
    <p:sldId id="698" r:id="rId5"/>
    <p:sldId id="699" r:id="rId6"/>
    <p:sldId id="700" r:id="rId7"/>
    <p:sldId id="701" r:id="rId8"/>
    <p:sldId id="702" r:id="rId9"/>
    <p:sldId id="703" r:id="rId10"/>
    <p:sldId id="704" r:id="rId11"/>
    <p:sldId id="705" r:id="rId12"/>
    <p:sldId id="706" r:id="rId13"/>
    <p:sldId id="707" r:id="rId14"/>
    <p:sldId id="708" r:id="rId15"/>
    <p:sldId id="709" r:id="rId16"/>
    <p:sldId id="71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701FB-A75A-45A6-8E51-C21B7EC5C1B5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69866-A295-4F49-8A60-D30E03980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0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479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3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26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5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8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0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0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5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2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5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231D1B0-6A0E-4430-AC2D-7F9228F4CBE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E003177-7FED-4ECA-96D1-658996C5DF1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19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640A-BA8A-6A72-E911-EDB060ED0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# 07</a:t>
            </a:r>
            <a:br>
              <a:rPr lang="en-US" sz="6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6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Amdahl’s Law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DB696-4149-7917-BE8F-15EDA665DA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and Distributed Computing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CS-482</a:t>
            </a:r>
          </a:p>
        </p:txBody>
      </p:sp>
    </p:spTree>
    <p:extLst>
      <p:ext uri="{BB962C8B-B14F-4D97-AF65-F5344CB8AC3E}">
        <p14:creationId xmlns:p14="http://schemas.microsoft.com/office/powerpoint/2010/main" val="57622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5D0E-E564-AC03-D234-DDD8473D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Amdahl’s law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4CC083-0076-F901-92D5-5CE49D3F70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>
                    <a:latin typeface="Book Antiqua" panose="02040602050305030304" pitchFamily="18" charset="0"/>
                  </a:rPr>
                  <a:t>For a given fixed amount of computation W, the speedup of machine 2 relative to machine 1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>
                  <a:latin typeface="Book Antiqua" panose="02040602050305030304" pitchFamily="18" charset="0"/>
                </a:endParaRPr>
              </a:p>
              <a:p>
                <a:pPr marL="274320" indent="-274320">
                  <a:spcBef>
                    <a:spcPts val="18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</a:t>
                </a:r>
                <a:r>
                  <a:rPr lang="en-US" sz="2000" baseline="-25000" dirty="0">
                    <a:latin typeface="Book Antiqua" panose="02040602050305030304" pitchFamily="18" charset="0"/>
                  </a:rPr>
                  <a:t>1</a:t>
                </a:r>
                <a:r>
                  <a:rPr lang="en-US" sz="2000" dirty="0">
                    <a:latin typeface="Book Antiqua" panose="02040602050305030304" pitchFamily="18" charset="0"/>
                  </a:rPr>
                  <a:t> is the time taken by machine 1 to perform W whereas T</a:t>
                </a:r>
                <a:r>
                  <a:rPr lang="en-US" sz="2000" baseline="-25000" dirty="0">
                    <a:latin typeface="Book Antiqua" panose="02040602050305030304" pitchFamily="18" charset="0"/>
                  </a:rPr>
                  <a:t>2</a:t>
                </a:r>
                <a:r>
                  <a:rPr lang="en-US" sz="2000" dirty="0">
                    <a:latin typeface="Book Antiqua" panose="02040602050305030304" pitchFamily="18" charset="0"/>
                  </a:rPr>
                  <a:t> is the time taken by machine 2 to perform the same amount of computation (T</a:t>
                </a:r>
                <a:r>
                  <a:rPr lang="en-US" sz="2000" baseline="-25000" dirty="0">
                    <a:latin typeface="Book Antiqua" panose="02040602050305030304" pitchFamily="18" charset="0"/>
                  </a:rPr>
                  <a:t>2 </a:t>
                </a:r>
                <a:r>
                  <a:rPr lang="en-US" sz="2000" dirty="0">
                    <a:latin typeface="Book Antiqua" panose="02040602050305030304" pitchFamily="18" charset="0"/>
                  </a:rPr>
                  <a:t>&lt; T</a:t>
                </a:r>
                <a:r>
                  <a:rPr lang="en-US" sz="2000" baseline="-25000" dirty="0">
                    <a:latin typeface="Book Antiqua" panose="02040602050305030304" pitchFamily="18" charset="0"/>
                  </a:rPr>
                  <a:t>1</a:t>
                </a:r>
                <a:r>
                  <a:rPr lang="en-US" sz="2000" dirty="0">
                    <a:latin typeface="Book Antiqua" panose="02040602050305030304" pitchFamily="18" charset="0"/>
                  </a:rPr>
                  <a:t>).</a:t>
                </a:r>
              </a:p>
              <a:p>
                <a:pPr marL="274320" indent="-274320">
                  <a:spcBef>
                    <a:spcPts val="18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In 1967, Gene Amdahl pointed out, in a short paper, </a:t>
                </a:r>
              </a:p>
              <a:p>
                <a:pPr marL="548640" indent="-27432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Book Antiqua" panose="02040602050305030304" pitchFamily="18" charset="0"/>
                  </a:rPr>
                  <a:t>the inherent limitations in trying to improve computer-system performance </a:t>
                </a:r>
              </a:p>
              <a:p>
                <a:pPr marL="548640" indent="-27432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Book Antiqua" panose="02040602050305030304" pitchFamily="18" charset="0"/>
                  </a:rPr>
                  <a:t>by using multiple processors. </a:t>
                </a:r>
              </a:p>
              <a:p>
                <a:pPr marL="274320" indent="-274320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The concept has come to be known as Amdahl’s law.</a:t>
                </a:r>
              </a:p>
              <a:p>
                <a:endParaRPr lang="en-US" sz="2000" dirty="0">
                  <a:latin typeface="Book Antiqua" panose="0204060205030503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4CC083-0076-F901-92D5-5CE49D3F70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81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2ECC-EC95-5360-4A57-8DF724E0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Amdahl’s law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2C2C2-FA6B-A4C6-81E8-FCE8071E8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algn="just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Amdahl’s argument is essentially that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the overall performance improvement observed in an application program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(with fixed amount of computation W)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is limited by that portion of the application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that is unaffected by whatever change was made to the system.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5639054-E16A-019D-A97C-62BDAF3C7D03}"/>
              </a:ext>
            </a:extLst>
          </p:cNvPr>
          <p:cNvGrpSpPr/>
          <p:nvPr/>
        </p:nvGrpSpPr>
        <p:grpSpPr>
          <a:xfrm>
            <a:off x="2705100" y="3857415"/>
            <a:ext cx="5562600" cy="2371936"/>
            <a:chOff x="2682240" y="4246801"/>
            <a:chExt cx="5562600" cy="2460493"/>
          </a:xfrm>
        </p:grpSpPr>
        <p:pic>
          <p:nvPicPr>
            <p:cNvPr id="7" name="Picture 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240" y="5030894"/>
              <a:ext cx="5562600" cy="16764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3368" y="4246801"/>
              <a:ext cx="5051805" cy="7840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659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5E3E-C563-E6AE-55F4-3A425470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Amdahl’s law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903E7-93EA-F34E-C1D6-3E921FEF4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Consider the execution time lines shown in fig 2. 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endParaRPr lang="en-US" sz="2000" dirty="0">
              <a:latin typeface="Book Antiqua" panose="02040602050305030304" pitchFamily="18" charset="0"/>
            </a:endParaRPr>
          </a:p>
          <a:p>
            <a:pPr marL="274320" indent="-274320" algn="just">
              <a:buFont typeface="Wingdings" panose="05000000000000000000" pitchFamily="2" charset="2"/>
              <a:buChar char="§"/>
            </a:pPr>
            <a:endParaRPr lang="en-US" sz="2000" dirty="0">
              <a:latin typeface="Book Antiqua" panose="02040602050305030304" pitchFamily="18" charset="0"/>
            </a:endParaRPr>
          </a:p>
          <a:p>
            <a:pPr marL="274320" indent="-274320" algn="just">
              <a:buFont typeface="Wingdings" panose="05000000000000000000" pitchFamily="2" charset="2"/>
              <a:buChar char="§"/>
            </a:pPr>
            <a:endParaRPr lang="en-US" sz="2000" dirty="0">
              <a:latin typeface="Book Antiqua" panose="02040602050305030304" pitchFamily="18" charset="0"/>
            </a:endParaRPr>
          </a:p>
          <a:p>
            <a:pPr marL="274320" indent="-274320" algn="just">
              <a:buFont typeface="Wingdings" panose="05000000000000000000" pitchFamily="2" charset="2"/>
              <a:buChar char="§"/>
            </a:pPr>
            <a:endParaRPr lang="en-US" sz="2000" dirty="0">
              <a:latin typeface="Book Antiqua" panose="02040602050305030304" pitchFamily="18" charset="0"/>
            </a:endParaRPr>
          </a:p>
          <a:p>
            <a:pPr marL="274320" indent="-274320" algn="just">
              <a:buFont typeface="Wingdings" panose="05000000000000000000" pitchFamily="2" charset="2"/>
              <a:buChar char="§"/>
            </a:pPr>
            <a:endParaRPr lang="en-US" sz="2000" dirty="0">
              <a:latin typeface="Book Antiqua" panose="02040602050305030304" pitchFamily="18" charset="0"/>
            </a:endParaRPr>
          </a:p>
          <a:p>
            <a:pPr marL="274320" indent="-274320" algn="just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Book Antiqua" panose="02040602050305030304" pitchFamily="18" charset="0"/>
            </a:endParaRPr>
          </a:p>
          <a:p>
            <a:pPr marL="274320" indent="-274320" algn="just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The top line shows the time, </a:t>
            </a:r>
            <a:r>
              <a:rPr lang="en-US" sz="2000" b="1" dirty="0">
                <a:solidFill>
                  <a:srgbClr val="CC6600"/>
                </a:solidFill>
                <a:latin typeface="Book Antiqua" panose="02040602050305030304" pitchFamily="18" charset="0"/>
              </a:rPr>
              <a:t>T</a:t>
            </a:r>
            <a:r>
              <a:rPr lang="en-US" sz="2000" b="1" baseline="-25000" dirty="0">
                <a:solidFill>
                  <a:srgbClr val="CC6600"/>
                </a:solidFill>
                <a:latin typeface="Book Antiqua" panose="02040602050305030304" pitchFamily="18" charset="0"/>
              </a:rPr>
              <a:t>old</a:t>
            </a:r>
            <a:r>
              <a:rPr lang="en-US" sz="2000" dirty="0">
                <a:latin typeface="Book Antiqua" panose="02040602050305030304" pitchFamily="18" charset="0"/>
              </a:rPr>
              <a:t>, required to execute some program P on the system before any changes are made. 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Now assume that some change is made to the system that reduces execution time for some operations by a factor of </a:t>
            </a:r>
            <a:r>
              <a:rPr lang="en-US" sz="2000" b="1" i="1" dirty="0">
                <a:solidFill>
                  <a:srgbClr val="3333FF"/>
                </a:solidFill>
                <a:latin typeface="Book Antiqua" panose="02040602050305030304" pitchFamily="18" charset="0"/>
              </a:rPr>
              <a:t>q</a:t>
            </a:r>
            <a:r>
              <a:rPr lang="en-US" sz="2000" dirty="0">
                <a:latin typeface="Book Antiqua" panose="02040602050305030304" pitchFamily="18" charset="0"/>
              </a:rPr>
              <a:t>. 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The program now runs in time </a:t>
            </a:r>
            <a:r>
              <a:rPr lang="en-US" sz="2000" b="1" dirty="0" err="1">
                <a:solidFill>
                  <a:srgbClr val="CC6600"/>
                </a:solidFill>
                <a:latin typeface="Book Antiqua" panose="02040602050305030304" pitchFamily="18" charset="0"/>
              </a:rPr>
              <a:t>T</a:t>
            </a:r>
            <a:r>
              <a:rPr lang="en-US" sz="2000" b="1" baseline="-25000" dirty="0" err="1">
                <a:solidFill>
                  <a:srgbClr val="CC6600"/>
                </a:solidFill>
                <a:latin typeface="Book Antiqua" panose="02040602050305030304" pitchFamily="18" charset="0"/>
              </a:rPr>
              <a:t>new</a:t>
            </a:r>
            <a:r>
              <a:rPr lang="en-US" sz="2000" dirty="0">
                <a:latin typeface="Book Antiqua" panose="02040602050305030304" pitchFamily="18" charset="0"/>
              </a:rPr>
              <a:t>, where </a:t>
            </a:r>
            <a:r>
              <a:rPr lang="en-US" sz="2000" b="1" dirty="0" err="1">
                <a:solidFill>
                  <a:srgbClr val="CC6600"/>
                </a:solidFill>
                <a:latin typeface="Book Antiqua" panose="02040602050305030304" pitchFamily="18" charset="0"/>
              </a:rPr>
              <a:t>T</a:t>
            </a:r>
            <a:r>
              <a:rPr lang="en-US" sz="2000" b="1" baseline="-25000" dirty="0" err="1">
                <a:solidFill>
                  <a:srgbClr val="CC6600"/>
                </a:solidFill>
                <a:latin typeface="Book Antiqua" panose="02040602050305030304" pitchFamily="18" charset="0"/>
              </a:rPr>
              <a:t>new</a:t>
            </a:r>
            <a:r>
              <a:rPr lang="en-US" sz="2000" b="1" dirty="0">
                <a:solidFill>
                  <a:srgbClr val="CC6600"/>
                </a:solidFill>
                <a:latin typeface="Book Antiqua" panose="02040602050305030304" pitchFamily="18" charset="0"/>
              </a:rPr>
              <a:t> &lt; T</a:t>
            </a:r>
            <a:r>
              <a:rPr lang="en-US" sz="2000" b="1" baseline="-25000" dirty="0">
                <a:solidFill>
                  <a:srgbClr val="CC6600"/>
                </a:solidFill>
                <a:latin typeface="Book Antiqua" panose="02040602050305030304" pitchFamily="18" charset="0"/>
              </a:rPr>
              <a:t>old</a:t>
            </a:r>
            <a:r>
              <a:rPr lang="en-US" sz="2000" dirty="0">
                <a:latin typeface="Book Antiqua" panose="02040602050305030304" pitchFamily="18" charset="0"/>
              </a:rPr>
              <a:t>, as shown in the bottom line.</a:t>
            </a:r>
          </a:p>
          <a:p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708" y="2125980"/>
            <a:ext cx="5943600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4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18F09-D0A3-70EB-EFD7-27EAFD2D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C221-1EE5-BB39-F2AA-4D61E8D81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Amdahl’s law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C8085-9B98-92F5-2138-2E3D4A8F5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indent="-274320" algn="just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Hence there are many other operations in the program that are unaffected by this change.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274320" indent="-274320" algn="just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Let </a:t>
            </a:r>
            <a:r>
              <a:rPr lang="en-US" sz="2000" b="1" dirty="0">
                <a:solidFill>
                  <a:srgbClr val="3333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sz="2000" dirty="0">
                <a:latin typeface="Book Antiqua" panose="02040602050305030304" pitchFamily="18" charset="0"/>
              </a:rPr>
              <a:t> be the fraction of all operations that are unaffected by the enhancement. </a:t>
            </a:r>
          </a:p>
          <a:p>
            <a:pPr marL="274320" indent="-274320" algn="just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Then, as shown in the bottom line of fig 2, the new execution time, </a:t>
            </a:r>
            <a:r>
              <a:rPr lang="en-US" sz="2000" b="1" dirty="0" err="1">
                <a:solidFill>
                  <a:srgbClr val="CC6600"/>
                </a:solidFill>
                <a:latin typeface="Book Antiqua" panose="02040602050305030304" pitchFamily="18" charset="0"/>
              </a:rPr>
              <a:t>T</a:t>
            </a:r>
            <a:r>
              <a:rPr lang="en-US" sz="2000" b="1" baseline="-25000" dirty="0" err="1">
                <a:solidFill>
                  <a:srgbClr val="CC6600"/>
                </a:solidFill>
                <a:latin typeface="Book Antiqua" panose="02040602050305030304" pitchFamily="18" charset="0"/>
              </a:rPr>
              <a:t>new</a:t>
            </a:r>
            <a:r>
              <a:rPr lang="en-US" sz="2000" dirty="0">
                <a:latin typeface="Book Antiqua" panose="02040602050305030304" pitchFamily="18" charset="0"/>
              </a:rPr>
              <a:t>, can be divided into two components.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21AFF-3E34-4AD5-B06F-F5549BFA9706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268" y="2155916"/>
            <a:ext cx="5943600" cy="199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8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5949-6DAF-65E1-99BA-1B73EEC0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Amdahl’s law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44698-B047-492F-B3D8-4CE68E26F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The first component, 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T</a:t>
                </a:r>
                <a:r>
                  <a:rPr lang="en-US" sz="2000" b="1" baseline="-25000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old</a:t>
                </a:r>
                <a:r>
                  <a:rPr lang="en-US" sz="2000" dirty="0">
                    <a:latin typeface="Book Antiqua" panose="02040602050305030304" pitchFamily="18" charset="0"/>
                  </a:rPr>
                  <a:t>, is the execution time of that fraction of the program that is unaffected by the change. </a:t>
                </a:r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The second component of </a:t>
                </a:r>
                <a:r>
                  <a:rPr lang="en-US" sz="2000" b="1" dirty="0" err="1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T</a:t>
                </a:r>
                <a:r>
                  <a:rPr lang="en-US" sz="2000" b="1" baseline="-25000" dirty="0" err="1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new</a:t>
                </a:r>
                <a:r>
                  <a:rPr lang="en-US" sz="2000" dirty="0">
                    <a:latin typeface="Book Antiqua" panose="02040602050305030304" pitchFamily="18" charset="0"/>
                  </a:rPr>
                  <a:t>, which is the remaining fraction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1-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sz="2000" dirty="0">
                    <a:latin typeface="Book Antiqua" panose="02040602050305030304" pitchFamily="18" charset="0"/>
                  </a:rPr>
                  <a:t> of the original execution time, has its performance improved by the factor </a:t>
                </a:r>
                <a:r>
                  <a:rPr lang="en-US" sz="2000" b="1" i="1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q</a:t>
                </a:r>
                <a:r>
                  <a:rPr lang="en-US" sz="2000" dirty="0">
                    <a:latin typeface="Book Antiqua" panose="02040602050305030304" pitchFamily="18" charset="0"/>
                  </a:rPr>
                  <a:t>. </a:t>
                </a:r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Thus, the time required for this component is 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(1-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) T</a:t>
                </a:r>
                <a:r>
                  <a:rPr lang="en-US" sz="2000" b="1" baseline="-25000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old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/q</a:t>
                </a:r>
                <a:r>
                  <a:rPr lang="en-US" sz="2000" dirty="0">
                    <a:latin typeface="Book Antiqua" panose="02040602050305030304" pitchFamily="18" charset="0"/>
                  </a:rPr>
                  <a:t>. </a:t>
                </a:r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The overall speedup caused by this improvement is then found to be</a:t>
                </a:r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000" dirty="0">
                  <a:latin typeface="Book Antiqua" panose="0204060205030503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44698-B047-492F-B3D8-4CE68E26F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970" r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680" y="4581512"/>
            <a:ext cx="5943600" cy="168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1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33BC-DB26-4F80-287B-4BAEBB26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Amdahl’s law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5316D5-EC9B-9843-75D9-E6990F6448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74320" indent="-274320" algn="just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This equation can be used to calculate the overall speedup obtained due to some improvement in the system, assuming that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q</a:t>
                </a:r>
                <a:r>
                  <a:rPr lang="en-US" sz="2000" dirty="0">
                    <a:latin typeface="Book Antiqua" panose="02040602050305030304" pitchFamily="18" charset="0"/>
                  </a:rPr>
                  <a:t> and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sz="2000" dirty="0">
                    <a:latin typeface="Book Antiqua" panose="02040602050305030304" pitchFamily="18" charset="0"/>
                  </a:rPr>
                  <a:t> can be determined.</a:t>
                </a:r>
              </a:p>
              <a:p>
                <a:pPr marL="274320" indent="-274320" algn="just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However, it is interesting to ask what happens as the impact on performance of the improvement becomes large, that is, as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q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</a:t>
                </a:r>
                <a:r>
                  <a:rPr lang="en-US" sz="2000" dirty="0">
                    <a:latin typeface="Book Antiqua" panose="02040602050305030304" pitchFamily="18" charset="0"/>
                  </a:rPr>
                  <a:t>. </a:t>
                </a:r>
              </a:p>
              <a:p>
                <a:pPr marL="274320" indent="-274320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It is easy to show that, in the limit as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q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</a:t>
                </a:r>
                <a:r>
                  <a:rPr lang="en-US" sz="2000" dirty="0">
                    <a:latin typeface="Book Antiqua" panose="02040602050305030304" pitchFamily="18" charset="0"/>
                  </a:rPr>
                  <a:t>, 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(1-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) T</a:t>
                </a:r>
                <a:r>
                  <a:rPr lang="en-US" sz="2000" b="1" baseline="-25000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old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/q 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sz="2000" b="1" dirty="0">
                    <a:solidFill>
                      <a:srgbClr val="CC6600"/>
                    </a:solidFill>
                    <a:latin typeface="Book Antiqua" panose="02040602050305030304" pitchFamily="18" charset="0"/>
                  </a:rPr>
                  <a:t> 0</a:t>
                </a:r>
                <a:r>
                  <a:rPr lang="en-US" sz="2000" dirty="0">
                    <a:latin typeface="Book Antiqua" panose="02040602050305030304" pitchFamily="18" charset="0"/>
                  </a:rPr>
                  <a:t>. </a:t>
                </a:r>
              </a:p>
              <a:p>
                <a:pPr marL="274320" indent="-274320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Thus, the overall speedup, S, is bounded by 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</a:rPr>
                  <a:t>1/</a:t>
                </a:r>
                <a:r>
                  <a:rPr lang="en-US" sz="2000" b="1" dirty="0">
                    <a:solidFill>
                      <a:srgbClr val="3333FF"/>
                    </a:solidFill>
                    <a:latin typeface="Book Antiqua" panose="0204060205030503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sz="2000" dirty="0">
                    <a:latin typeface="Book Antiqua" panose="02040602050305030304" pitchFamily="18" charset="0"/>
                  </a:rPr>
                  <a:t>. </a:t>
                </a:r>
              </a:p>
              <a:p>
                <a:pPr marL="274320" indent="-274320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That is,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5316D5-EC9B-9843-75D9-E6990F6448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15" r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335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CBD4-7C6E-967B-A805-24E64701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Amdahl’s law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AE29-5EB6-4070-8608-F29F804BD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This result says that, no matter how much one type of operation in a system is improved, </a:t>
            </a:r>
          </a:p>
          <a:p>
            <a:pPr marL="274320" indent="-274320"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the overall performance is inherently limited by the operations that are unaffected by the improvement. </a:t>
            </a:r>
          </a:p>
          <a:p>
            <a:pPr marL="274320" indent="-274320"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For example, the best speedup that could be obtained in a parallel computing system with </a:t>
            </a:r>
            <a:r>
              <a:rPr lang="en-US" sz="2000" i="1" dirty="0">
                <a:latin typeface="Book Antiqua" panose="02040602050305030304" pitchFamily="18" charset="0"/>
              </a:rPr>
              <a:t>p</a:t>
            </a:r>
            <a:r>
              <a:rPr lang="en-US" sz="2000" dirty="0">
                <a:latin typeface="Book Antiqua" panose="02040602050305030304" pitchFamily="18" charset="0"/>
              </a:rPr>
              <a:t> processors is </a:t>
            </a:r>
            <a:r>
              <a:rPr lang="en-US" sz="2000" i="1" dirty="0">
                <a:latin typeface="Book Antiqua" panose="02040602050305030304" pitchFamily="18" charset="0"/>
              </a:rPr>
              <a:t>p</a:t>
            </a:r>
            <a:r>
              <a:rPr lang="en-US" sz="2000" dirty="0">
                <a:latin typeface="Book Antiqua" panose="02040602050305030304" pitchFamily="18" charset="0"/>
              </a:rPr>
              <a:t>. </a:t>
            </a:r>
          </a:p>
          <a:p>
            <a:pPr marL="274320" indent="-274320"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However, if 10% of a program cannot be executed in parallel, the overall speedup when using the parallel machine is at most 1/</a:t>
            </a:r>
            <a:r>
              <a:rPr lang="en-US" sz="2000" dirty="0"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sz="2000" dirty="0">
                <a:latin typeface="Book Antiqua" panose="02040602050305030304" pitchFamily="18" charset="0"/>
              </a:rPr>
              <a:t> = 1/0.1=10, even if an infinite number of processors were available. </a:t>
            </a:r>
          </a:p>
        </p:txBody>
      </p:sp>
    </p:spTree>
    <p:extLst>
      <p:ext uri="{BB962C8B-B14F-4D97-AF65-F5344CB8AC3E}">
        <p14:creationId xmlns:p14="http://schemas.microsoft.com/office/powerpoint/2010/main" val="358893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9011-4A1A-F997-68B0-7F4F44CD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Amdahl’s law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C595-7421-1D25-B2C8-6567A542C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An obvious corollary to Amdahl's law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any system designer or programmer should concentrate on making the common case fast. 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That is, operations that occur most often will have the largest value of </a:t>
            </a:r>
            <a:r>
              <a:rPr lang="en-US" sz="2000" dirty="0"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sz="2000" dirty="0">
                <a:latin typeface="Book Antiqua" panose="02040602050305030304" pitchFamily="18" charset="0"/>
              </a:rPr>
              <a:t>. 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Thus, improving these operations will have the biggest impact on overall performance. 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Interestingly, the common cases also tend to be the simplest cases. 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As a result, optimizing these cases first tends to be easier than optimizing the more complex, but rarely used, cases.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099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84972-1BE6-B796-4AC9-621F3C9B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Scaling Amdahl’s law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E1DAE-A0C0-BA32-E733-8602DC628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One of the major criticisms concerning Amdahl’s law has been that it emphasizes the wrong aspect of the performance potential of parallel-computing systems.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The argument is that purchasers of parallel systems want to solve larger problems within the </a:t>
            </a:r>
            <a:r>
              <a:rPr lang="en-US" sz="2000" i="1" dirty="0">
                <a:latin typeface="Book Antiqua" panose="02040602050305030304" pitchFamily="18" charset="0"/>
              </a:rPr>
              <a:t>available time</a:t>
            </a:r>
            <a:r>
              <a:rPr lang="en-US" sz="2000" dirty="0">
                <a:latin typeface="Book Antiqua" panose="02040602050305030304" pitchFamily="18" charset="0"/>
              </a:rPr>
              <a:t>.</a:t>
            </a:r>
          </a:p>
          <a:p>
            <a:pPr marL="274320" indent="-27432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Following this line of argument leads to the following “scaled” or “fixed-time” version of Amdahl's law. </a:t>
            </a:r>
          </a:p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It is common to judge the performance of an application executing on a parallel system by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comparing the parallel execution time with </a:t>
            </a:r>
            <a:r>
              <a:rPr lang="en-US" sz="2000" b="1" i="1" dirty="0">
                <a:solidFill>
                  <a:srgbClr val="3333FF"/>
                </a:solidFill>
                <a:latin typeface="Book Antiqua" panose="02040602050305030304" pitchFamily="18" charset="0"/>
              </a:rPr>
              <a:t>p</a:t>
            </a:r>
            <a:r>
              <a:rPr lang="en-US" sz="2000" dirty="0">
                <a:latin typeface="Book Antiqua" panose="02040602050305030304" pitchFamily="18" charset="0"/>
              </a:rPr>
              <a:t> processors, </a:t>
            </a:r>
            <a:r>
              <a:rPr lang="en-US" sz="2000" dirty="0" err="1">
                <a:latin typeface="Book Antiqua" panose="02040602050305030304" pitchFamily="18" charset="0"/>
              </a:rPr>
              <a:t>T</a:t>
            </a:r>
            <a:r>
              <a:rPr lang="en-US" sz="2000" baseline="-25000" dirty="0" err="1">
                <a:latin typeface="Book Antiqua" panose="02040602050305030304" pitchFamily="18" charset="0"/>
              </a:rPr>
              <a:t>p</a:t>
            </a:r>
            <a:r>
              <a:rPr lang="en-US" sz="2000" dirty="0">
                <a:latin typeface="Book Antiqua" panose="02040602050305030304" pitchFamily="18" charset="0"/>
              </a:rPr>
              <a:t>,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with the time required to execute the equivalent sequential version of the application program, T</a:t>
            </a:r>
            <a:r>
              <a:rPr lang="en-US" sz="2000" baseline="-25000" dirty="0">
                <a:latin typeface="Book Antiqua" panose="02040602050305030304" pitchFamily="18" charset="0"/>
              </a:rPr>
              <a:t>1</a:t>
            </a:r>
            <a:r>
              <a:rPr lang="en-US" sz="2000" dirty="0">
                <a:latin typeface="Book Antiqua" panose="02040602050305030304" pitchFamily="18" charset="0"/>
              </a:rPr>
              <a:t>,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using the speedup </a:t>
            </a:r>
            <a:r>
              <a:rPr lang="en-US" sz="2000" dirty="0" err="1">
                <a:latin typeface="Book Antiqua" panose="02040602050305030304" pitchFamily="18" charset="0"/>
              </a:rPr>
              <a:t>S</a:t>
            </a:r>
            <a:r>
              <a:rPr lang="en-US" sz="2000" baseline="-25000" dirty="0" err="1">
                <a:latin typeface="Book Antiqua" panose="02040602050305030304" pitchFamily="18" charset="0"/>
              </a:rPr>
              <a:t>p</a:t>
            </a:r>
            <a:r>
              <a:rPr lang="en-US" sz="2000" dirty="0">
                <a:latin typeface="Book Antiqua" panose="02040602050305030304" pitchFamily="18" charset="0"/>
              </a:rPr>
              <a:t> = T</a:t>
            </a:r>
            <a:r>
              <a:rPr lang="en-US" sz="2000" baseline="-25000" dirty="0">
                <a:latin typeface="Book Antiqua" panose="02040602050305030304" pitchFamily="18" charset="0"/>
              </a:rPr>
              <a:t>1</a:t>
            </a:r>
            <a:r>
              <a:rPr lang="en-US" sz="2000" dirty="0">
                <a:latin typeface="Book Antiqua" panose="02040602050305030304" pitchFamily="18" charset="0"/>
              </a:rPr>
              <a:t>/T</a:t>
            </a:r>
            <a:r>
              <a:rPr lang="en-US" sz="2000" baseline="-25000" dirty="0">
                <a:latin typeface="Book Antiqua" panose="02040602050305030304" pitchFamily="18" charset="0"/>
              </a:rPr>
              <a:t>p</a:t>
            </a:r>
            <a:r>
              <a:rPr lang="en-US" sz="2000" dirty="0">
                <a:latin typeface="Book Antiqua" panose="02040602050305030304" pitchFamily="18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874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61A0-BC1F-932C-2FCA-F2CEF4FF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Scaling Amdahl’s law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13E3E-91DD-EFB2-240D-1FA1DC429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algn="just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With the fixed-time interpretation, however, the assumption is that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there is no single-processor system that is capable of executing an equivalent sequential version of the parallel application.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The single-processor may not have a large enough memory, for example, or </a:t>
            </a:r>
          </a:p>
          <a:p>
            <a:pPr marL="548640" indent="-274320" algn="just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the time required to execute the sequential version would be unreasonably long.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81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6C50-8F90-259A-47BE-78840328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Scaling Amdahl’s law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51A17-B97D-635F-DF42-8122B9C8F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In this case, the parallel-execution time is divided into </a:t>
            </a:r>
          </a:p>
          <a:p>
            <a:pPr marL="548640" indent="-274320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the parallel component, </a:t>
            </a:r>
            <a:r>
              <a:rPr lang="en-US" sz="2000" b="1" dirty="0">
                <a:solidFill>
                  <a:srgbClr val="3333FF"/>
                </a:solidFill>
                <a:latin typeface="Book Antiqua" panose="02040602050305030304" pitchFamily="18" charset="0"/>
              </a:rPr>
              <a:t>1-</a:t>
            </a:r>
            <a:r>
              <a:rPr lang="en-US" sz="2000" b="1" dirty="0">
                <a:solidFill>
                  <a:srgbClr val="3333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sz="2000" dirty="0">
                <a:latin typeface="Book Antiqua" panose="02040602050305030304" pitchFamily="18" charset="0"/>
              </a:rPr>
              <a:t>, and </a:t>
            </a:r>
          </a:p>
          <a:p>
            <a:pPr marL="548640" indent="-274320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the inherently sequential component, </a:t>
            </a:r>
            <a:r>
              <a:rPr lang="en-US" sz="2000" b="1" dirty="0">
                <a:solidFill>
                  <a:srgbClr val="3333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sz="2000" dirty="0">
                <a:latin typeface="Book Antiqua" panose="02040602050305030304" pitchFamily="18" charset="0"/>
              </a:rPr>
              <a:t>, giving </a:t>
            </a:r>
          </a:p>
          <a:p>
            <a:pPr marL="548640" indent="-274320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Book Antiqua" panose="02040602050305030304" pitchFamily="18" charset="0"/>
              </a:rPr>
              <a:t>T</a:t>
            </a:r>
            <a:r>
              <a:rPr lang="en-US" sz="2000" baseline="-25000" dirty="0" err="1">
                <a:latin typeface="Book Antiqua" panose="02040602050305030304" pitchFamily="18" charset="0"/>
              </a:rPr>
              <a:t>p</a:t>
            </a:r>
            <a:r>
              <a:rPr lang="en-US" sz="2000" dirty="0">
                <a:latin typeface="Book Antiqua" panose="02040602050305030304" pitchFamily="18" charset="0"/>
              </a:rPr>
              <a:t> = </a:t>
            </a:r>
            <a:r>
              <a:rPr lang="en-US" sz="2000" dirty="0"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sz="2000" dirty="0">
                <a:latin typeface="Book Antiqua" panose="02040602050305030304" pitchFamily="18" charset="0"/>
              </a:rPr>
              <a:t>T</a:t>
            </a:r>
            <a:r>
              <a:rPr lang="en-US" sz="2000" baseline="-25000" dirty="0">
                <a:latin typeface="Book Antiqua" panose="02040602050305030304" pitchFamily="18" charset="0"/>
              </a:rPr>
              <a:t>1</a:t>
            </a:r>
            <a:r>
              <a:rPr lang="en-US" sz="2000" dirty="0">
                <a:latin typeface="Book Antiqua" panose="02040602050305030304" pitchFamily="18" charset="0"/>
              </a:rPr>
              <a:t> + (1-</a:t>
            </a:r>
            <a:r>
              <a:rPr lang="en-US" sz="2000" dirty="0"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sz="2000" dirty="0">
                <a:latin typeface="Book Antiqua" panose="02040602050305030304" pitchFamily="18" charset="0"/>
              </a:rPr>
              <a:t>)T</a:t>
            </a:r>
            <a:r>
              <a:rPr lang="en-US" sz="2000" baseline="-25000" dirty="0">
                <a:latin typeface="Book Antiqua" panose="02040602050305030304" pitchFamily="18" charset="0"/>
              </a:rPr>
              <a:t>1</a:t>
            </a:r>
            <a:r>
              <a:rPr lang="en-US" sz="2000" dirty="0">
                <a:latin typeface="Book Antiqua" panose="02040602050305030304" pitchFamily="18" charset="0"/>
              </a:rPr>
              <a:t> as shown in fig 3 below. </a:t>
            </a:r>
          </a:p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T</a:t>
            </a:r>
            <a:r>
              <a:rPr lang="en-US" sz="2000" baseline="-25000" dirty="0">
                <a:latin typeface="Book Antiqua" panose="02040602050305030304" pitchFamily="18" charset="0"/>
              </a:rPr>
              <a:t>1</a:t>
            </a:r>
            <a:r>
              <a:rPr lang="en-US" sz="2000" dirty="0">
                <a:latin typeface="Book Antiqua" panose="02040602050305030304" pitchFamily="18" charset="0"/>
              </a:rPr>
              <a:t> is the time in which user wants to run application. </a:t>
            </a:r>
          </a:p>
          <a:p>
            <a:pPr marL="274320" indent="-27432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Book Antiqua" panose="02040602050305030304" pitchFamily="18" charset="0"/>
              </a:rPr>
              <a:t>Since no single-processor system exists that is capable of executing an equivalent problem of this size, </a:t>
            </a:r>
          </a:p>
          <a:p>
            <a:pPr marL="548640" indent="-274320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it is assumed that the parallel portion of the execution time would increase by a factor of </a:t>
            </a:r>
            <a:r>
              <a:rPr lang="en-US" sz="2000" b="1" i="1" dirty="0">
                <a:latin typeface="Book Antiqua" panose="02040602050305030304" pitchFamily="18" charset="0"/>
              </a:rPr>
              <a:t>p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</a:p>
          <a:p>
            <a:pPr marL="548640" indent="-274320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Book Antiqua" panose="02040602050305030304" pitchFamily="18" charset="0"/>
              </a:rPr>
              <a:t>if it were executed on a hypothetical single-processor system. 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801" y="2948940"/>
            <a:ext cx="5364259" cy="124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2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9B36-86FB-A9E6-7EF3-D308E292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Scaling Amdahl’s law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3918D5-EA30-FECC-BF23-D7FBF73312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This gives a hypothetical sequential execution time </a:t>
                </a:r>
              </a:p>
              <a:p>
                <a:pPr marL="0" indent="0" algn="ctr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b="1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b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sz="2000" b="1" dirty="0">
                    <a:latin typeface="Book Antiqua" panose="02040602050305030304" pitchFamily="18" charset="0"/>
                  </a:rPr>
                  <a:t>T</a:t>
                </a:r>
                <a:r>
                  <a:rPr lang="en-US" sz="2000" b="1" baseline="-25000" dirty="0">
                    <a:latin typeface="Book Antiqua" panose="02040602050305030304" pitchFamily="18" charset="0"/>
                  </a:rPr>
                  <a:t>1</a:t>
                </a:r>
                <a:r>
                  <a:rPr lang="en-US" sz="2000" b="1" dirty="0">
                    <a:latin typeface="Book Antiqua" panose="02040602050305030304" pitchFamily="18" charset="0"/>
                  </a:rPr>
                  <a:t> + (1-</a:t>
                </a:r>
                <a:r>
                  <a:rPr lang="en-US" sz="2000" b="1" dirty="0">
                    <a:latin typeface="Book Antiqua" panose="0204060205030503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sz="2000" b="1" dirty="0">
                    <a:latin typeface="Book Antiqua" panose="02040602050305030304" pitchFamily="18" charset="0"/>
                  </a:rPr>
                  <a:t>)</a:t>
                </a:r>
                <a:r>
                  <a:rPr lang="en-US" sz="2000" b="1" i="1" dirty="0">
                    <a:latin typeface="Book Antiqua" panose="02040602050305030304" pitchFamily="18" charset="0"/>
                  </a:rPr>
                  <a:t>p</a:t>
                </a:r>
                <a:r>
                  <a:rPr lang="en-US" sz="2000" b="1" dirty="0">
                    <a:latin typeface="Book Antiqua" panose="02040602050305030304" pitchFamily="18" charset="0"/>
                  </a:rPr>
                  <a:t>T</a:t>
                </a:r>
                <a:r>
                  <a:rPr lang="en-US" sz="2000" b="1" baseline="-25000" dirty="0">
                    <a:latin typeface="Book Antiqua" panose="02040602050305030304" pitchFamily="18" charset="0"/>
                  </a:rPr>
                  <a:t>1</a:t>
                </a:r>
                <a:r>
                  <a:rPr lang="en-US" sz="2000" b="1" dirty="0">
                    <a:latin typeface="Book Antiqua" panose="02040602050305030304" pitchFamily="18" charset="0"/>
                  </a:rPr>
                  <a:t>.</a:t>
                </a:r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The parallel speedup is found to be</a:t>
                </a:r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endParaRPr lang="en-US" sz="2000" dirty="0"/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endParaRPr lang="en-US" sz="2000" dirty="0"/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endParaRPr lang="en-US" sz="2000" dirty="0">
                  <a:latin typeface="Book Antiqua" panose="02040602050305030304" pitchFamily="18" charset="0"/>
                </a:endParaRPr>
              </a:p>
              <a:p>
                <a:pPr marL="274320" indent="-274320" algn="just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Book Antiqua" panose="02040602050305030304" pitchFamily="18" charset="0"/>
                  </a:rPr>
                  <a:t>Thus, with this </a:t>
                </a:r>
                <a:r>
                  <a:rPr lang="en-US" sz="2000" i="1" dirty="0">
                    <a:latin typeface="Book Antiqua" panose="02040602050305030304" pitchFamily="18" charset="0"/>
                  </a:rPr>
                  <a:t>fixed-time, variable-problem-size</a:t>
                </a:r>
                <a:r>
                  <a:rPr lang="en-US" sz="2000" dirty="0">
                    <a:latin typeface="Book Antiqua" panose="02040602050305030304" pitchFamily="18" charset="0"/>
                  </a:rPr>
                  <a:t> form of Amdahl's law, the performance of a parallel machine is not limited by the portion that is inherently sequential.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3918D5-EA30-FECC-BF23-D7FBF73312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15" r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081" y="2987040"/>
            <a:ext cx="4448629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5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7223-21EE-F67C-E6B7-FF7B35CB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Homework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F5A5A-EAEE-519A-E5CD-4BEF0613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Book Antiqua" panose="02040602050305030304" pitchFamily="18" charset="0"/>
              </a:rPr>
              <a:t>An industrial process simulation involves five steps which are performed sequentially on system A. The steps 1 and 2 take 1 and 2 minutes respectively whereas steps 3 – 5 take 3 minutes each. Then system A was enhanced by introducing some parallelism to get a system B. The steps 3 to 5 on B now can be executed in parallel so that they take an overall time of 4 minutes whereas steps 1 and 2 are still to be executed in sequence. Calculate speedup using appropriate form of Amdahl’s law.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81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959F-6A3C-6201-0A2C-9440F32B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Homework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9A2C4-A941-AB20-1EBE-99E9FE073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Book Antiqua" panose="02040602050305030304" pitchFamily="18" charset="0"/>
              </a:rPr>
              <a:t>An industrial process simulation is to be executed on a system in the available time, t</a:t>
            </a:r>
            <a:r>
              <a:rPr lang="en-US" sz="2000" baseline="-25000" dirty="0">
                <a:latin typeface="Book Antiqua" panose="02040602050305030304" pitchFamily="18" charset="0"/>
              </a:rPr>
              <a:t>a</a:t>
            </a:r>
            <a:r>
              <a:rPr lang="en-US" sz="2000" dirty="0">
                <a:latin typeface="Book Antiqua" panose="02040602050305030304" pitchFamily="18" charset="0"/>
              </a:rPr>
              <a:t>, of 10 min which includes parallel execution time (on 10 processors) of 7.5 min. It has been estimated that the parallel portion of the execution time would increase by a factor of 12 if it were executed on a hypothetical single-processor system. Calculate the parallel speedup.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306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2FB4-802B-5B99-B040-0143C54E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Book Antiqua" panose="02040602050305030304" pitchFamily="18" charset="0"/>
              </a:rPr>
              <a:t>Homework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CBDEB-D6D2-B617-4F9A-97877B252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Book Antiqua" panose="02040602050305030304" pitchFamily="18" charset="0"/>
              </a:rPr>
              <a:t>In designing a new computer system, we make an enhancement that improves some mode of execution by a factor of 10. This enhancement takes 50% of the time when the enhanced mode is in use. (Recall that Amdahl’s </a:t>
            </a:r>
            <a:r>
              <a:rPr lang="en-US" sz="2000" u="sng" dirty="0">
                <a:latin typeface="Book Antiqua" panose="02040602050305030304" pitchFamily="18" charset="0"/>
              </a:rPr>
              <a:t>l</a:t>
            </a:r>
            <a:r>
              <a:rPr lang="en-US" sz="2000" dirty="0">
                <a:latin typeface="Book Antiqua" panose="02040602050305030304" pitchFamily="18" charset="0"/>
              </a:rPr>
              <a:t>aw uses the fraction of the original, unenhanced execution time to find speedup)</a:t>
            </a:r>
          </a:p>
          <a:p>
            <a:pPr marL="548640" indent="-274320" algn="just">
              <a:spcBef>
                <a:spcPts val="600"/>
              </a:spcBef>
              <a:buFont typeface="+mj-lt"/>
              <a:buAutoNum type="alphaLcParenR"/>
            </a:pPr>
            <a:r>
              <a:rPr lang="en-US" sz="2000" dirty="0">
                <a:latin typeface="Book Antiqua" panose="02040602050305030304" pitchFamily="18" charset="0"/>
              </a:rPr>
              <a:t>What is the speedup that we have obtained by using this fast mode?</a:t>
            </a:r>
          </a:p>
          <a:p>
            <a:pPr marL="548640" indent="-274320" algn="just">
              <a:spcBef>
                <a:spcPts val="600"/>
              </a:spcBef>
              <a:buFont typeface="+mj-lt"/>
              <a:buAutoNum type="alphaLcParenR"/>
            </a:pPr>
            <a:r>
              <a:rPr lang="en-US" sz="2000" dirty="0">
                <a:latin typeface="Book Antiqua" panose="02040602050305030304" pitchFamily="18" charset="0"/>
              </a:rPr>
              <a:t>What percentage of the original execution time has been converted to fast mode?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0524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1267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Book Antiqua</vt:lpstr>
      <vt:lpstr>Calibri</vt:lpstr>
      <vt:lpstr>Calibri Light</vt:lpstr>
      <vt:lpstr>Cambria Math</vt:lpstr>
      <vt:lpstr>Courier New</vt:lpstr>
      <vt:lpstr>Times New Roman</vt:lpstr>
      <vt:lpstr>Wingdings</vt:lpstr>
      <vt:lpstr>Retrospect</vt:lpstr>
      <vt:lpstr>Lecture # 07 Amdahl’s Law</vt:lpstr>
      <vt:lpstr>Amdahl’s law</vt:lpstr>
      <vt:lpstr>Amdahl’s law</vt:lpstr>
      <vt:lpstr>Amdahl’s law</vt:lpstr>
      <vt:lpstr>Amdahl’s law</vt:lpstr>
      <vt:lpstr>Amdahl’s law</vt:lpstr>
      <vt:lpstr>Amdahl’s law</vt:lpstr>
      <vt:lpstr>Amdahl’s law</vt:lpstr>
      <vt:lpstr>Amdahl’s law</vt:lpstr>
      <vt:lpstr>Scaling Amdahl’s law</vt:lpstr>
      <vt:lpstr>Scaling Amdahl’s law</vt:lpstr>
      <vt:lpstr>Scaling Amdahl’s law</vt:lpstr>
      <vt:lpstr>Scaling Amdahl’s law</vt:lpstr>
      <vt:lpstr>Homework 1</vt:lpstr>
      <vt:lpstr>Homework 2</vt:lpstr>
      <vt:lpstr>Homework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fatimamehar424@gmail.com</dc:creator>
  <cp:lastModifiedBy>fatimamehar424@gmail.com</cp:lastModifiedBy>
  <cp:revision>3</cp:revision>
  <dcterms:created xsi:type="dcterms:W3CDTF">2025-01-19T18:41:29Z</dcterms:created>
  <dcterms:modified xsi:type="dcterms:W3CDTF">2025-02-08T14:39:10Z</dcterms:modified>
</cp:coreProperties>
</file>