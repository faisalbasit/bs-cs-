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97" r:id="rId19"/>
    <p:sldId id="274" r:id="rId20"/>
    <p:sldId id="275" r:id="rId21"/>
    <p:sldId id="283" r:id="rId22"/>
    <p:sldId id="276" r:id="rId23"/>
    <p:sldId id="277" r:id="rId24"/>
    <p:sldId id="278" r:id="rId25"/>
    <p:sldId id="279" r:id="rId26"/>
    <p:sldId id="280" r:id="rId27"/>
    <p:sldId id="281" r:id="rId28"/>
    <p:sldId id="284" r:id="rId29"/>
    <p:sldId id="285" r:id="rId30"/>
    <p:sldId id="286" r:id="rId31"/>
    <p:sldId id="287" r:id="rId32"/>
    <p:sldId id="288" r:id="rId33"/>
    <p:sldId id="289" r:id="rId34"/>
    <p:sldId id="290" r:id="rId35"/>
    <p:sldId id="298" r:id="rId36"/>
    <p:sldId id="292" r:id="rId37"/>
    <p:sldId id="293" r:id="rId38"/>
    <p:sldId id="294" r:id="rId39"/>
    <p:sldId id="295" r:id="rId40"/>
    <p:sldId id="296"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479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3209738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6262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4039251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31D1B0-6A0E-4430-AC2D-7F9228F4CBE9}" type="datetimeFigureOut">
              <a:rPr lang="en-US" smtClean="0"/>
              <a:t>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275658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31D1B0-6A0E-4430-AC2D-7F9228F4CBE9}"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977905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231D1B0-6A0E-4430-AC2D-7F9228F4CBE9}" type="datetimeFigureOut">
              <a:rPr lang="en-US" smtClean="0"/>
              <a:t>2/8/2025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45050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E003177-7FED-4ECA-96D1-658996C5DF1F}" type="slidenum">
              <a:rPr lang="en-US" smtClean="0"/>
              <a:t>‹#›</a:t>
            </a:fld>
            <a:endParaRPr lang="en-US"/>
          </a:p>
        </p:txBody>
      </p:sp>
    </p:spTree>
    <p:extLst>
      <p:ext uri="{BB962C8B-B14F-4D97-AF65-F5344CB8AC3E}">
        <p14:creationId xmlns:p14="http://schemas.microsoft.com/office/powerpoint/2010/main" val="2402758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373277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1376729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88165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231D1B0-6A0E-4430-AC2D-7F9228F4CBE9}" type="datetimeFigureOut">
              <a:rPr lang="en-US" smtClean="0"/>
              <a:t>2/8/2025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E003177-7FED-4ECA-96D1-658996C5DF1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91905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640A-BA8A-6A72-E911-EDB060ED022F}"/>
              </a:ext>
            </a:extLst>
          </p:cNvPr>
          <p:cNvSpPr>
            <a:spLocks noGrp="1"/>
          </p:cNvSpPr>
          <p:nvPr>
            <p:ph type="ctrTitle"/>
          </p:nvPr>
        </p:nvSpPr>
        <p:spPr/>
        <p:txBody>
          <a:bodyPr>
            <a:normAutofit/>
          </a:bodyPr>
          <a:lstStyle/>
          <a:p>
            <a:r>
              <a:rPr lang="en-US" sz="6600" b="1" dirty="0">
                <a:latin typeface="Times New Roman" panose="02020603050405020304" pitchFamily="18" charset="0"/>
                <a:cs typeface="Times New Roman" panose="02020603050405020304" pitchFamily="18" charset="0"/>
              </a:rPr>
              <a:t>Lecture # 04</a:t>
            </a:r>
            <a:br>
              <a:rPr lang="en-US" sz="6600" kern="0" dirty="0">
                <a:effectLst/>
                <a:latin typeface="Times New Roman" panose="02020603050405020304" pitchFamily="18" charset="0"/>
                <a:ea typeface="Times New Roman" panose="02020603050405020304" pitchFamily="18" charset="0"/>
              </a:rPr>
            </a:br>
            <a:r>
              <a:rPr lang="en-US" sz="6600" kern="0" dirty="0">
                <a:effectLst/>
                <a:latin typeface="Times New Roman" panose="02020603050405020304" pitchFamily="18" charset="0"/>
                <a:ea typeface="Times New Roman" panose="02020603050405020304" pitchFamily="18" charset="0"/>
              </a:rPr>
              <a:t>Vector and Array Processor</a:t>
            </a:r>
            <a:endParaRPr lang="en-US" sz="6600" dirty="0"/>
          </a:p>
        </p:txBody>
      </p:sp>
      <p:sp>
        <p:nvSpPr>
          <p:cNvPr id="3" name="Subtitle 2">
            <a:extLst>
              <a:ext uri="{FF2B5EF4-FFF2-40B4-BE49-F238E27FC236}">
                <a16:creationId xmlns:a16="http://schemas.microsoft.com/office/drawing/2014/main" id="{3EEDB696-4149-7917-BE8F-15EDA665DA61}"/>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Parallel and Distributed Computing</a:t>
            </a:r>
          </a:p>
          <a:p>
            <a:r>
              <a:rPr lang="en-US" dirty="0">
                <a:latin typeface="Times New Roman" panose="02020603050405020304" pitchFamily="18" charset="0"/>
                <a:cs typeface="Times New Roman" panose="02020603050405020304" pitchFamily="18" charset="0"/>
              </a:rPr>
              <a:t>CS-482</a:t>
            </a:r>
          </a:p>
        </p:txBody>
      </p:sp>
    </p:spTree>
    <p:extLst>
      <p:ext uri="{BB962C8B-B14F-4D97-AF65-F5344CB8AC3E}">
        <p14:creationId xmlns:p14="http://schemas.microsoft.com/office/powerpoint/2010/main" val="57622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5A9FD-F3A2-43DB-91CF-0BAFB836B74A}"/>
              </a:ext>
            </a:extLst>
          </p:cNvPr>
          <p:cNvSpPr>
            <a:spLocks noGrp="1"/>
          </p:cNvSpPr>
          <p:nvPr>
            <p:ph type="title"/>
          </p:nvPr>
        </p:nvSpPr>
        <p:spPr/>
        <p:txBody>
          <a:bodyPr/>
          <a:lstStyle/>
          <a:p>
            <a:pPr fontAlgn="base"/>
            <a:r>
              <a:rPr lang="en-US" b="1" i="0">
                <a:solidFill>
                  <a:srgbClr val="273239"/>
                </a:solidFill>
                <a:effectLst/>
                <a:latin typeface="Source Sans 3"/>
              </a:rPr>
              <a:t>Types of Array Processor</a:t>
            </a:r>
          </a:p>
        </p:txBody>
      </p:sp>
      <p:sp>
        <p:nvSpPr>
          <p:cNvPr id="3" name="Content Placeholder 2">
            <a:extLst>
              <a:ext uri="{FF2B5EF4-FFF2-40B4-BE49-F238E27FC236}">
                <a16:creationId xmlns:a16="http://schemas.microsoft.com/office/drawing/2014/main" id="{3A478E2C-8601-1174-8ED9-80ADFB1A9FFC}"/>
              </a:ext>
            </a:extLst>
          </p:cNvPr>
          <p:cNvSpPr>
            <a:spLocks noGrp="1"/>
          </p:cNvSpPr>
          <p:nvPr>
            <p:ph idx="1"/>
          </p:nvPr>
        </p:nvSpPr>
        <p:spPr/>
        <p:txBody>
          <a:bodyPr/>
          <a:lstStyle/>
          <a:p>
            <a:r>
              <a:rPr lang="en-US" b="0" i="0" dirty="0">
                <a:solidFill>
                  <a:srgbClr val="273239"/>
                </a:solidFill>
                <a:effectLst/>
                <a:latin typeface="Nunito" pitchFamily="2" charset="0"/>
              </a:rPr>
              <a:t>Array Processor performs computations on large array of data. These are two types of Array Processors: Attached Array Processor, and SIMD Array Processor. These are explained as following below. </a:t>
            </a:r>
          </a:p>
          <a:p>
            <a:r>
              <a:rPr lang="en-US" b="1" i="0" dirty="0">
                <a:solidFill>
                  <a:srgbClr val="273239"/>
                </a:solidFill>
                <a:effectLst/>
                <a:latin typeface="Nunito" pitchFamily="2" charset="0"/>
              </a:rPr>
              <a:t>1. Attached Array Processor :</a:t>
            </a:r>
          </a:p>
          <a:p>
            <a:r>
              <a:rPr lang="en-US" b="1" i="0" dirty="0">
                <a:solidFill>
                  <a:srgbClr val="273239"/>
                </a:solidFill>
                <a:effectLst/>
                <a:latin typeface="Nunito" pitchFamily="2" charset="0"/>
              </a:rPr>
              <a:t>2. SIMD array processor :</a:t>
            </a:r>
            <a:r>
              <a:rPr lang="en-US" b="0" i="0" dirty="0">
                <a:solidFill>
                  <a:srgbClr val="273239"/>
                </a:solidFill>
                <a:effectLst/>
                <a:latin typeface="Nunito" pitchFamily="2" charset="0"/>
              </a:rPr>
              <a:t> </a:t>
            </a:r>
            <a:endParaRPr lang="en-US" dirty="0"/>
          </a:p>
        </p:txBody>
      </p:sp>
    </p:spTree>
    <p:extLst>
      <p:ext uri="{BB962C8B-B14F-4D97-AF65-F5344CB8AC3E}">
        <p14:creationId xmlns:p14="http://schemas.microsoft.com/office/powerpoint/2010/main" val="1074223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48DA1-E7E1-0257-B3E4-1D263C270584}"/>
              </a:ext>
            </a:extLst>
          </p:cNvPr>
          <p:cNvSpPr>
            <a:spLocks noGrp="1"/>
          </p:cNvSpPr>
          <p:nvPr>
            <p:ph type="title"/>
          </p:nvPr>
        </p:nvSpPr>
        <p:spPr/>
        <p:txBody>
          <a:bodyPr/>
          <a:lstStyle/>
          <a:p>
            <a:r>
              <a:rPr lang="en-US" b="1" i="0" dirty="0">
                <a:solidFill>
                  <a:srgbClr val="273239"/>
                </a:solidFill>
                <a:effectLst/>
                <a:latin typeface="Nunito" pitchFamily="2" charset="0"/>
              </a:rPr>
              <a:t>1. Attached Array Processor :</a:t>
            </a:r>
            <a:endParaRPr lang="en-US" dirty="0"/>
          </a:p>
        </p:txBody>
      </p:sp>
      <p:sp>
        <p:nvSpPr>
          <p:cNvPr id="3" name="Content Placeholder 2">
            <a:extLst>
              <a:ext uri="{FF2B5EF4-FFF2-40B4-BE49-F238E27FC236}">
                <a16:creationId xmlns:a16="http://schemas.microsoft.com/office/drawing/2014/main" id="{14A43AF2-5AB7-9845-E8F9-C4468192BA31}"/>
              </a:ext>
            </a:extLst>
          </p:cNvPr>
          <p:cNvSpPr>
            <a:spLocks noGrp="1"/>
          </p:cNvSpPr>
          <p:nvPr>
            <p:ph idx="1"/>
          </p:nvPr>
        </p:nvSpPr>
        <p:spPr/>
        <p:txBody>
          <a:bodyPr/>
          <a:lstStyle/>
          <a:p>
            <a:r>
              <a:rPr lang="en-US" b="0" i="0" dirty="0">
                <a:solidFill>
                  <a:srgbClr val="273239"/>
                </a:solidFill>
                <a:effectLst/>
                <a:latin typeface="Nunito" pitchFamily="2" charset="0"/>
              </a:rPr>
              <a:t>To improve the performance of the host computer in numerical computational tasks auxiliary processor is attached to it. </a:t>
            </a:r>
            <a:endParaRPr lang="en-US" dirty="0"/>
          </a:p>
        </p:txBody>
      </p:sp>
      <p:pic>
        <p:nvPicPr>
          <p:cNvPr id="1028" name="Picture 4">
            <a:extLst>
              <a:ext uri="{FF2B5EF4-FFF2-40B4-BE49-F238E27FC236}">
                <a16:creationId xmlns:a16="http://schemas.microsoft.com/office/drawing/2014/main" id="{A5221A49-CA3E-91B1-A6F3-067BB35060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5560" y="2472707"/>
            <a:ext cx="7040881" cy="3855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4749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D3661-7B5B-E661-882E-2BA237394831}"/>
              </a:ext>
            </a:extLst>
          </p:cNvPr>
          <p:cNvSpPr>
            <a:spLocks noGrp="1"/>
          </p:cNvSpPr>
          <p:nvPr>
            <p:ph type="title"/>
          </p:nvPr>
        </p:nvSpPr>
        <p:spPr/>
        <p:txBody>
          <a:bodyPr>
            <a:normAutofit/>
          </a:bodyPr>
          <a:lstStyle/>
          <a:p>
            <a:r>
              <a:rPr lang="en-US" b="0" i="0" dirty="0">
                <a:solidFill>
                  <a:srgbClr val="273239"/>
                </a:solidFill>
                <a:effectLst/>
                <a:latin typeface="Nunito" pitchFamily="2" charset="0"/>
              </a:rPr>
              <a:t>Attached array processor has two interfaces: </a:t>
            </a:r>
            <a:endParaRPr lang="en-US" dirty="0"/>
          </a:p>
        </p:txBody>
      </p:sp>
      <p:sp>
        <p:nvSpPr>
          <p:cNvPr id="3" name="Content Placeholder 2">
            <a:extLst>
              <a:ext uri="{FF2B5EF4-FFF2-40B4-BE49-F238E27FC236}">
                <a16:creationId xmlns:a16="http://schemas.microsoft.com/office/drawing/2014/main" id="{339AF50F-42A9-DF8F-62A7-2D08C7BE5D6C}"/>
              </a:ext>
            </a:extLst>
          </p:cNvPr>
          <p:cNvSpPr>
            <a:spLocks noGrp="1"/>
          </p:cNvSpPr>
          <p:nvPr>
            <p:ph idx="1"/>
          </p:nvPr>
        </p:nvSpPr>
        <p:spPr/>
        <p:txBody>
          <a:bodyPr/>
          <a:lstStyle/>
          <a:p>
            <a:pPr algn="l" fontAlgn="base">
              <a:spcAft>
                <a:spcPts val="1800"/>
              </a:spcAft>
              <a:buFont typeface="+mj-lt"/>
              <a:buAutoNum type="arabicPeriod"/>
            </a:pPr>
            <a:r>
              <a:rPr lang="en-US" b="0" i="0" dirty="0">
                <a:solidFill>
                  <a:srgbClr val="273239"/>
                </a:solidFill>
                <a:effectLst/>
                <a:latin typeface="Nunito" pitchFamily="2" charset="0"/>
              </a:rPr>
              <a:t>Input output interface to a common processor. </a:t>
            </a:r>
          </a:p>
          <a:p>
            <a:pPr algn="l" fontAlgn="base">
              <a:spcAft>
                <a:spcPts val="1800"/>
              </a:spcAft>
              <a:buFont typeface="+mj-lt"/>
              <a:buAutoNum type="arabicPeriod" startAt="2"/>
            </a:pPr>
            <a:r>
              <a:rPr lang="en-US" b="0" i="0" dirty="0">
                <a:solidFill>
                  <a:srgbClr val="273239"/>
                </a:solidFill>
                <a:effectLst/>
                <a:latin typeface="Nunito" pitchFamily="2" charset="0"/>
              </a:rPr>
              <a:t>Interface with a local memory. </a:t>
            </a:r>
          </a:p>
          <a:p>
            <a:pPr algn="l" rtl="0" fontAlgn="base">
              <a:spcAft>
                <a:spcPts val="750"/>
              </a:spcAft>
            </a:pPr>
            <a:r>
              <a:rPr lang="en-US" b="0" i="0" dirty="0">
                <a:solidFill>
                  <a:srgbClr val="273239"/>
                </a:solidFill>
                <a:effectLst/>
                <a:latin typeface="Nunito" pitchFamily="2" charset="0"/>
              </a:rPr>
              <a:t>Here local memory interconnects main memory. Host computer is general purpose computer. Attached processor is back-end machine driven by the host computer. </a:t>
            </a:r>
          </a:p>
          <a:p>
            <a:pPr algn="l" fontAlgn="base">
              <a:spcAft>
                <a:spcPts val="750"/>
              </a:spcAft>
            </a:pPr>
            <a:r>
              <a:rPr lang="en-US" b="0" i="0" dirty="0">
                <a:solidFill>
                  <a:srgbClr val="273239"/>
                </a:solidFill>
                <a:effectLst/>
                <a:latin typeface="Nunito" pitchFamily="2" charset="0"/>
              </a:rPr>
              <a:t>The array processor is connected through an I/O controller to the computer &amp; the computer treats it as an external interface.</a:t>
            </a:r>
          </a:p>
          <a:p>
            <a:pPr marL="0" indent="0" algn="l" fontAlgn="base">
              <a:spcAft>
                <a:spcPts val="1800"/>
              </a:spcAft>
              <a:buNone/>
            </a:pPr>
            <a:endParaRPr lang="en-US" b="0" i="0" dirty="0">
              <a:solidFill>
                <a:srgbClr val="273239"/>
              </a:solidFill>
              <a:effectLst/>
              <a:latin typeface="Nunito" pitchFamily="2" charset="0"/>
            </a:endParaRPr>
          </a:p>
          <a:p>
            <a:endParaRPr lang="en-US" dirty="0"/>
          </a:p>
        </p:txBody>
      </p:sp>
    </p:spTree>
    <p:extLst>
      <p:ext uri="{BB962C8B-B14F-4D97-AF65-F5344CB8AC3E}">
        <p14:creationId xmlns:p14="http://schemas.microsoft.com/office/powerpoint/2010/main" val="442272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8F510-98AA-2B77-20B1-34AE61159419}"/>
              </a:ext>
            </a:extLst>
          </p:cNvPr>
          <p:cNvSpPr>
            <a:spLocks noGrp="1"/>
          </p:cNvSpPr>
          <p:nvPr>
            <p:ph type="title"/>
          </p:nvPr>
        </p:nvSpPr>
        <p:spPr/>
        <p:txBody>
          <a:bodyPr/>
          <a:lstStyle/>
          <a:p>
            <a:r>
              <a:rPr lang="en-US" b="1" i="0" dirty="0">
                <a:solidFill>
                  <a:srgbClr val="273239"/>
                </a:solidFill>
                <a:effectLst/>
                <a:latin typeface="Nunito" pitchFamily="2" charset="0"/>
              </a:rPr>
              <a:t>Working: </a:t>
            </a:r>
            <a:endParaRPr lang="en-US" dirty="0"/>
          </a:p>
        </p:txBody>
      </p:sp>
      <p:sp>
        <p:nvSpPr>
          <p:cNvPr id="3" name="Content Placeholder 2">
            <a:extLst>
              <a:ext uri="{FF2B5EF4-FFF2-40B4-BE49-F238E27FC236}">
                <a16:creationId xmlns:a16="http://schemas.microsoft.com/office/drawing/2014/main" id="{0B7663BE-9776-8C53-6864-E6F2EBF34235}"/>
              </a:ext>
            </a:extLst>
          </p:cNvPr>
          <p:cNvSpPr>
            <a:spLocks noGrp="1"/>
          </p:cNvSpPr>
          <p:nvPr>
            <p:ph idx="1"/>
          </p:nvPr>
        </p:nvSpPr>
        <p:spPr/>
        <p:txBody>
          <a:bodyPr/>
          <a:lstStyle/>
          <a:p>
            <a:pPr algn="l" rtl="0" fontAlgn="base">
              <a:spcAft>
                <a:spcPts val="750"/>
              </a:spcAft>
            </a:pPr>
            <a:r>
              <a:rPr lang="en-US" b="0" i="0" dirty="0">
                <a:solidFill>
                  <a:srgbClr val="273239"/>
                </a:solidFill>
                <a:effectLst/>
                <a:latin typeface="Nunito" pitchFamily="2" charset="0"/>
              </a:rPr>
              <a:t>Let us assume that we are executing vast number of instructions, in that case it is not possible to execute all instructions with the help of host computer. Sometimes it may take days of weeks to execute these vast number of introductions. So, in order to enhance the speed and performance of the host computer as shown in above diagram.</a:t>
            </a:r>
          </a:p>
          <a:p>
            <a:pPr algn="l" rtl="0" fontAlgn="base">
              <a:spcAft>
                <a:spcPts val="750"/>
              </a:spcAft>
            </a:pPr>
            <a:r>
              <a:rPr lang="en-US" b="0" i="0" dirty="0">
                <a:solidFill>
                  <a:srgbClr val="273239"/>
                </a:solidFill>
                <a:effectLst/>
                <a:latin typeface="Nunito" pitchFamily="2" charset="0"/>
              </a:rPr>
              <a:t>I/o interface is used to connect and resolve the difference between host and attached process. Attached array processor is normally used to enhance the performance of the host computer . Array processor mean bunch/group of process used together to perform any computation.</a:t>
            </a:r>
          </a:p>
        </p:txBody>
      </p:sp>
    </p:spTree>
    <p:extLst>
      <p:ext uri="{BB962C8B-B14F-4D97-AF65-F5344CB8AC3E}">
        <p14:creationId xmlns:p14="http://schemas.microsoft.com/office/powerpoint/2010/main" val="1456964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8D36A-97E4-75A1-AD9F-014796B6951C}"/>
              </a:ext>
            </a:extLst>
          </p:cNvPr>
          <p:cNvSpPr>
            <a:spLocks noGrp="1"/>
          </p:cNvSpPr>
          <p:nvPr>
            <p:ph type="title"/>
          </p:nvPr>
        </p:nvSpPr>
        <p:spPr/>
        <p:txBody>
          <a:bodyPr/>
          <a:lstStyle/>
          <a:p>
            <a:r>
              <a:rPr lang="en-US" b="1" i="0" dirty="0">
                <a:solidFill>
                  <a:srgbClr val="273239"/>
                </a:solidFill>
                <a:effectLst/>
                <a:latin typeface="Nunito" pitchFamily="2" charset="0"/>
              </a:rPr>
              <a:t>2. SIMD array processor :</a:t>
            </a:r>
            <a:r>
              <a:rPr lang="en-US" b="0" i="0" dirty="0">
                <a:solidFill>
                  <a:srgbClr val="273239"/>
                </a:solidFill>
                <a:effectLst/>
                <a:latin typeface="Nunito" pitchFamily="2" charset="0"/>
              </a:rPr>
              <a:t> </a:t>
            </a:r>
            <a:endParaRPr lang="en-US" dirty="0"/>
          </a:p>
        </p:txBody>
      </p:sp>
      <p:sp>
        <p:nvSpPr>
          <p:cNvPr id="3" name="Content Placeholder 2">
            <a:extLst>
              <a:ext uri="{FF2B5EF4-FFF2-40B4-BE49-F238E27FC236}">
                <a16:creationId xmlns:a16="http://schemas.microsoft.com/office/drawing/2014/main" id="{C1F6E3DF-472C-31A3-4A53-23FEADD2584C}"/>
              </a:ext>
            </a:extLst>
          </p:cNvPr>
          <p:cNvSpPr>
            <a:spLocks noGrp="1"/>
          </p:cNvSpPr>
          <p:nvPr>
            <p:ph idx="1"/>
          </p:nvPr>
        </p:nvSpPr>
        <p:spPr/>
        <p:txBody>
          <a:bodyPr/>
          <a:lstStyle/>
          <a:p>
            <a:r>
              <a:rPr lang="en-US" b="0" i="0" dirty="0">
                <a:solidFill>
                  <a:srgbClr val="273239"/>
                </a:solidFill>
                <a:effectLst/>
                <a:latin typeface="Nunito" pitchFamily="2" charset="0"/>
              </a:rPr>
              <a:t>This is computer with multiple process unit operating in parallel Both types of array processors, manipulate vectors but their internal organization is different. </a:t>
            </a:r>
            <a:endParaRPr lang="en-US" dirty="0"/>
          </a:p>
        </p:txBody>
      </p:sp>
      <p:pic>
        <p:nvPicPr>
          <p:cNvPr id="2050" name="Picture 2">
            <a:extLst>
              <a:ext uri="{FF2B5EF4-FFF2-40B4-BE49-F238E27FC236}">
                <a16:creationId xmlns:a16="http://schemas.microsoft.com/office/drawing/2014/main" id="{9495E79D-595E-E922-2EA2-0450F6A302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3244" y="2525819"/>
            <a:ext cx="4463415" cy="3712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1514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2473B-ABD0-A320-64F4-37CCF32139D5}"/>
              </a:ext>
            </a:extLst>
          </p:cNvPr>
          <p:cNvSpPr>
            <a:spLocks noGrp="1"/>
          </p:cNvSpPr>
          <p:nvPr>
            <p:ph type="title"/>
          </p:nvPr>
        </p:nvSpPr>
        <p:spPr/>
        <p:txBody>
          <a:bodyPr/>
          <a:lstStyle/>
          <a:p>
            <a:r>
              <a:rPr lang="en-US" b="1" i="0" dirty="0">
                <a:solidFill>
                  <a:srgbClr val="273239"/>
                </a:solidFill>
                <a:effectLst/>
                <a:latin typeface="Nunito" pitchFamily="2" charset="0"/>
              </a:rPr>
              <a:t>SIMD array processor</a:t>
            </a:r>
            <a:endParaRPr lang="en-US" dirty="0"/>
          </a:p>
        </p:txBody>
      </p:sp>
      <p:sp>
        <p:nvSpPr>
          <p:cNvPr id="3" name="Content Placeholder 2">
            <a:extLst>
              <a:ext uri="{FF2B5EF4-FFF2-40B4-BE49-F238E27FC236}">
                <a16:creationId xmlns:a16="http://schemas.microsoft.com/office/drawing/2014/main" id="{98BAE961-FEF4-9720-E39C-40125AA901F2}"/>
              </a:ext>
            </a:extLst>
          </p:cNvPr>
          <p:cNvSpPr>
            <a:spLocks noGrp="1"/>
          </p:cNvSpPr>
          <p:nvPr>
            <p:ph idx="1"/>
          </p:nvPr>
        </p:nvSpPr>
        <p:spPr/>
        <p:txBody>
          <a:bodyPr/>
          <a:lstStyle/>
          <a:p>
            <a:pPr algn="l" fontAlgn="base">
              <a:spcAft>
                <a:spcPts val="750"/>
              </a:spcAft>
            </a:pPr>
            <a:r>
              <a:rPr lang="en-US" b="0" i="0" dirty="0">
                <a:solidFill>
                  <a:srgbClr val="273239"/>
                </a:solidFill>
                <a:effectLst/>
                <a:latin typeface="Nunito" pitchFamily="2" charset="0"/>
              </a:rPr>
              <a:t>SIMD is a computer with multiple processing units operating in parallel. </a:t>
            </a:r>
          </a:p>
          <a:p>
            <a:pPr algn="l" fontAlgn="base">
              <a:spcAft>
                <a:spcPts val="750"/>
              </a:spcAft>
            </a:pPr>
            <a:r>
              <a:rPr lang="en-US" b="0" i="0" dirty="0">
                <a:solidFill>
                  <a:srgbClr val="273239"/>
                </a:solidFill>
                <a:effectLst/>
                <a:latin typeface="Nunito" pitchFamily="2" charset="0"/>
              </a:rPr>
              <a:t>The processing units are synchronized to perform the same operation under the control of a common control unit. Thus, providing a single instruction stream, multiple data stream (SIMD) organization. As shown in figure, SIMD contains a set of identical processing elements (PES) each having a local memory M. </a:t>
            </a:r>
          </a:p>
        </p:txBody>
      </p:sp>
    </p:spTree>
    <p:extLst>
      <p:ext uri="{BB962C8B-B14F-4D97-AF65-F5344CB8AC3E}">
        <p14:creationId xmlns:p14="http://schemas.microsoft.com/office/powerpoint/2010/main" val="529635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7E691-B1CF-66A8-2D52-E60E652B3453}"/>
              </a:ext>
            </a:extLst>
          </p:cNvPr>
          <p:cNvSpPr>
            <a:spLocks noGrp="1"/>
          </p:cNvSpPr>
          <p:nvPr>
            <p:ph type="title"/>
          </p:nvPr>
        </p:nvSpPr>
        <p:spPr/>
        <p:txBody>
          <a:bodyPr/>
          <a:lstStyle/>
          <a:p>
            <a:r>
              <a:rPr lang="en-US" b="1" i="0" dirty="0">
                <a:solidFill>
                  <a:srgbClr val="273239"/>
                </a:solidFill>
                <a:effectLst/>
                <a:latin typeface="Nunito" pitchFamily="2" charset="0"/>
              </a:rPr>
              <a:t>Working:</a:t>
            </a:r>
            <a:endParaRPr lang="en-US" dirty="0"/>
          </a:p>
        </p:txBody>
      </p:sp>
      <p:sp>
        <p:nvSpPr>
          <p:cNvPr id="3" name="Content Placeholder 2">
            <a:extLst>
              <a:ext uri="{FF2B5EF4-FFF2-40B4-BE49-F238E27FC236}">
                <a16:creationId xmlns:a16="http://schemas.microsoft.com/office/drawing/2014/main" id="{7708FDC9-5601-6EF2-BB1B-258AE619E6CF}"/>
              </a:ext>
            </a:extLst>
          </p:cNvPr>
          <p:cNvSpPr>
            <a:spLocks noGrp="1"/>
          </p:cNvSpPr>
          <p:nvPr>
            <p:ph idx="1"/>
          </p:nvPr>
        </p:nvSpPr>
        <p:spPr/>
        <p:txBody>
          <a:bodyPr>
            <a:normAutofit/>
          </a:bodyPr>
          <a:lstStyle/>
          <a:p>
            <a:pPr algn="l" rtl="0" fontAlgn="base">
              <a:spcAft>
                <a:spcPts val="750"/>
              </a:spcAft>
            </a:pPr>
            <a:r>
              <a:rPr lang="en-US" b="0" i="0" dirty="0">
                <a:solidFill>
                  <a:srgbClr val="273239"/>
                </a:solidFill>
                <a:effectLst/>
                <a:latin typeface="Nunito" pitchFamily="2" charset="0"/>
              </a:rPr>
              <a:t>Here array processor is in built into the computer unlike in attached array processor where array processor is attached externally to the host computer. Initially mark control unit decodes the instruction and generate the control signals and passes it into all the processor elements(PE’s) or ALU upon receiving the control signals from master control unit, all the processing elements come to throw that operations need to perform. The data perform the operations will be accessed from main memory into the local memory of respective PE’s. SIMD array processor is normally used to compute vector data. All PE’s execute same instruction simultaneously on different data.</a:t>
            </a:r>
          </a:p>
          <a:p>
            <a:pPr algn="l" rtl="0" fontAlgn="base">
              <a:spcAft>
                <a:spcPts val="750"/>
              </a:spcAft>
            </a:pPr>
            <a:r>
              <a:rPr lang="en-US" b="0" i="0" dirty="0">
                <a:solidFill>
                  <a:srgbClr val="273239"/>
                </a:solidFill>
                <a:effectLst/>
                <a:latin typeface="Nunito" pitchFamily="2" charset="0"/>
              </a:rPr>
              <a:t>for ex: Ci= Ai + Bi</a:t>
            </a:r>
          </a:p>
          <a:p>
            <a:pPr algn="l" rtl="0" fontAlgn="base">
              <a:spcAft>
                <a:spcPts val="750"/>
              </a:spcAft>
            </a:pPr>
            <a:r>
              <a:rPr lang="en-US" b="0" i="0" dirty="0">
                <a:solidFill>
                  <a:srgbClr val="273239"/>
                </a:solidFill>
                <a:effectLst/>
                <a:latin typeface="Nunito" pitchFamily="2" charset="0"/>
              </a:rPr>
              <a:t>Here the vector instruction Ci= Ai+ Bi need to be executed is addition operation, the master control unit generate control signal and passes it onto all processing elements and data.</a:t>
            </a:r>
          </a:p>
          <a:p>
            <a:endParaRPr lang="en-US" dirty="0"/>
          </a:p>
        </p:txBody>
      </p:sp>
    </p:spTree>
    <p:extLst>
      <p:ext uri="{BB962C8B-B14F-4D97-AF65-F5344CB8AC3E}">
        <p14:creationId xmlns:p14="http://schemas.microsoft.com/office/powerpoint/2010/main" val="1798320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32364-E6D2-2FC0-EC6B-F2098919B66F}"/>
              </a:ext>
            </a:extLst>
          </p:cNvPr>
          <p:cNvSpPr>
            <a:spLocks noGrp="1"/>
          </p:cNvSpPr>
          <p:nvPr>
            <p:ph type="title"/>
          </p:nvPr>
        </p:nvSpPr>
        <p:spPr/>
        <p:txBody>
          <a:bodyPr/>
          <a:lstStyle/>
          <a:p>
            <a:r>
              <a:rPr lang="en-US" b="1" i="0" dirty="0">
                <a:solidFill>
                  <a:srgbClr val="273239"/>
                </a:solidFill>
                <a:effectLst/>
                <a:latin typeface="Nunito" pitchFamily="2" charset="0"/>
              </a:rPr>
              <a:t>Working:</a:t>
            </a:r>
            <a:endParaRPr lang="en-US" dirty="0"/>
          </a:p>
        </p:txBody>
      </p:sp>
      <p:sp>
        <p:nvSpPr>
          <p:cNvPr id="3" name="Content Placeholder 2">
            <a:extLst>
              <a:ext uri="{FF2B5EF4-FFF2-40B4-BE49-F238E27FC236}">
                <a16:creationId xmlns:a16="http://schemas.microsoft.com/office/drawing/2014/main" id="{959A2AC2-8DEE-176E-3D69-BAD0BA5A4EA7}"/>
              </a:ext>
            </a:extLst>
          </p:cNvPr>
          <p:cNvSpPr>
            <a:spLocks noGrp="1"/>
          </p:cNvSpPr>
          <p:nvPr>
            <p:ph idx="1"/>
          </p:nvPr>
        </p:nvSpPr>
        <p:spPr/>
        <p:txBody>
          <a:bodyPr/>
          <a:lstStyle/>
          <a:p>
            <a:pPr algn="l" rtl="0" fontAlgn="base">
              <a:spcAft>
                <a:spcPts val="750"/>
              </a:spcAft>
            </a:pPr>
            <a:r>
              <a:rPr lang="en-US" b="0" i="0" dirty="0">
                <a:solidFill>
                  <a:srgbClr val="273239"/>
                </a:solidFill>
                <a:effectLst/>
                <a:latin typeface="Nunito" pitchFamily="2" charset="0"/>
              </a:rPr>
              <a:t>Parallelly on same instruction on with different data, that’s why it is called as Single instruction multiple data streams(SIMD) array processor.</a:t>
            </a:r>
          </a:p>
          <a:p>
            <a:pPr algn="l" fontAlgn="base">
              <a:spcAft>
                <a:spcPts val="750"/>
              </a:spcAft>
            </a:pPr>
            <a:r>
              <a:rPr lang="en-US" b="1" i="0" dirty="0">
                <a:solidFill>
                  <a:srgbClr val="273239"/>
                </a:solidFill>
                <a:effectLst/>
                <a:latin typeface="Nunito" pitchFamily="2" charset="0"/>
              </a:rPr>
              <a:t>Each PE includes –</a:t>
            </a:r>
            <a:r>
              <a:rPr lang="en-US" b="0" i="0" dirty="0">
                <a:solidFill>
                  <a:srgbClr val="273239"/>
                </a:solidFill>
                <a:effectLst/>
                <a:latin typeface="Nunito" pitchFamily="2" charset="0"/>
              </a:rPr>
              <a:t> </a:t>
            </a:r>
          </a:p>
          <a:p>
            <a:pPr marL="400050" indent="-400050" algn="l" fontAlgn="base">
              <a:spcAft>
                <a:spcPts val="1800"/>
              </a:spcAft>
              <a:buFont typeface="Arial" panose="020B0604020202020204" pitchFamily="34" charset="0"/>
              <a:buChar char="•"/>
            </a:pPr>
            <a:r>
              <a:rPr lang="en-US" b="0" i="0" dirty="0">
                <a:solidFill>
                  <a:srgbClr val="273239"/>
                </a:solidFill>
                <a:effectLst/>
                <a:latin typeface="Nunito" pitchFamily="2" charset="0"/>
              </a:rPr>
              <a:t>ALU </a:t>
            </a:r>
          </a:p>
          <a:p>
            <a:pPr marL="400050" indent="-400050" algn="l" fontAlgn="base">
              <a:spcAft>
                <a:spcPts val="1800"/>
              </a:spcAft>
              <a:buFont typeface="Arial" panose="020B0604020202020204" pitchFamily="34" charset="0"/>
              <a:buChar char="•"/>
            </a:pPr>
            <a:r>
              <a:rPr lang="en-US" b="0" i="0" dirty="0">
                <a:solidFill>
                  <a:srgbClr val="273239"/>
                </a:solidFill>
                <a:effectLst/>
                <a:latin typeface="Nunito" pitchFamily="2" charset="0"/>
              </a:rPr>
              <a:t>Floating point arithmetic unit  </a:t>
            </a:r>
          </a:p>
          <a:p>
            <a:pPr marL="400050" indent="-400050" algn="l" fontAlgn="base">
              <a:spcAft>
                <a:spcPts val="1800"/>
              </a:spcAft>
              <a:buFont typeface="Arial" panose="020B0604020202020204" pitchFamily="34" charset="0"/>
              <a:buChar char="•"/>
            </a:pPr>
            <a:r>
              <a:rPr lang="en-US" b="0" i="0" dirty="0">
                <a:solidFill>
                  <a:srgbClr val="273239"/>
                </a:solidFill>
                <a:effectLst/>
                <a:latin typeface="Nunito" pitchFamily="2" charset="0"/>
              </a:rPr>
              <a:t>Working registers </a:t>
            </a:r>
          </a:p>
        </p:txBody>
      </p:sp>
    </p:spTree>
    <p:extLst>
      <p:ext uri="{BB962C8B-B14F-4D97-AF65-F5344CB8AC3E}">
        <p14:creationId xmlns:p14="http://schemas.microsoft.com/office/powerpoint/2010/main" val="2888960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F267D-DE97-F2B0-031E-08EB31D53A93}"/>
              </a:ext>
            </a:extLst>
          </p:cNvPr>
          <p:cNvSpPr>
            <a:spLocks noGrp="1"/>
          </p:cNvSpPr>
          <p:nvPr>
            <p:ph type="title"/>
          </p:nvPr>
        </p:nvSpPr>
        <p:spPr/>
        <p:txBody>
          <a:bodyPr/>
          <a:lstStyle/>
          <a:p>
            <a:r>
              <a:rPr lang="en-US" b="1" i="0" dirty="0">
                <a:solidFill>
                  <a:srgbClr val="273239"/>
                </a:solidFill>
                <a:effectLst/>
                <a:latin typeface="Nunito" pitchFamily="2" charset="0"/>
              </a:rPr>
              <a:t>Working:</a:t>
            </a:r>
            <a:endParaRPr lang="en-US" dirty="0"/>
          </a:p>
        </p:txBody>
      </p:sp>
      <p:sp>
        <p:nvSpPr>
          <p:cNvPr id="3" name="Content Placeholder 2">
            <a:extLst>
              <a:ext uri="{FF2B5EF4-FFF2-40B4-BE49-F238E27FC236}">
                <a16:creationId xmlns:a16="http://schemas.microsoft.com/office/drawing/2014/main" id="{85970044-12A9-8F04-BE90-9941EFBD6FCF}"/>
              </a:ext>
            </a:extLst>
          </p:cNvPr>
          <p:cNvSpPr>
            <a:spLocks noGrp="1"/>
          </p:cNvSpPr>
          <p:nvPr>
            <p:ph idx="1"/>
          </p:nvPr>
        </p:nvSpPr>
        <p:spPr/>
        <p:txBody>
          <a:bodyPr/>
          <a:lstStyle/>
          <a:p>
            <a:pPr algn="l" rtl="0" fontAlgn="base">
              <a:spcAft>
                <a:spcPts val="750"/>
              </a:spcAft>
            </a:pPr>
            <a:r>
              <a:rPr lang="en-US" b="0" i="0" dirty="0">
                <a:solidFill>
                  <a:srgbClr val="273239"/>
                </a:solidFill>
                <a:effectLst/>
                <a:latin typeface="Nunito" pitchFamily="2" charset="0"/>
              </a:rPr>
              <a:t>Master control unit controls the operation in the PEs. The function of master control unit is to decode the instruction and determine how the instruction to be executed. If the instruction is scalar or program control instruction then it is directly executed within the master control unit. </a:t>
            </a:r>
          </a:p>
          <a:p>
            <a:pPr algn="l" fontAlgn="base">
              <a:spcAft>
                <a:spcPts val="750"/>
              </a:spcAft>
            </a:pPr>
            <a:r>
              <a:rPr lang="en-US" b="0" i="0" dirty="0">
                <a:solidFill>
                  <a:srgbClr val="273239"/>
                </a:solidFill>
                <a:effectLst/>
                <a:latin typeface="Nunito" pitchFamily="2" charset="0"/>
              </a:rPr>
              <a:t>Main memory is used for storage of the program while each PE uses operands stored in its local memory.</a:t>
            </a:r>
          </a:p>
          <a:p>
            <a:endParaRPr lang="en-US" dirty="0"/>
          </a:p>
        </p:txBody>
      </p:sp>
    </p:spTree>
    <p:extLst>
      <p:ext uri="{BB962C8B-B14F-4D97-AF65-F5344CB8AC3E}">
        <p14:creationId xmlns:p14="http://schemas.microsoft.com/office/powerpoint/2010/main" val="2667817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57C44-B91B-54A8-FA63-2C29EFEAFE10}"/>
              </a:ext>
            </a:extLst>
          </p:cNvPr>
          <p:cNvSpPr>
            <a:spLocks noGrp="1"/>
          </p:cNvSpPr>
          <p:nvPr>
            <p:ph type="title"/>
          </p:nvPr>
        </p:nvSpPr>
        <p:spPr/>
        <p:txBody>
          <a:bodyPr/>
          <a:lstStyle/>
          <a:p>
            <a:r>
              <a:rPr lang="en-US" b="1" i="0" dirty="0">
                <a:solidFill>
                  <a:srgbClr val="273239"/>
                </a:solidFill>
                <a:effectLst/>
                <a:latin typeface="Source Sans 3"/>
              </a:rPr>
              <a:t>Operation of SIMD Array Processor</a:t>
            </a:r>
            <a:endParaRPr lang="en-US" dirty="0"/>
          </a:p>
        </p:txBody>
      </p:sp>
      <p:sp>
        <p:nvSpPr>
          <p:cNvPr id="3" name="Content Placeholder 2">
            <a:extLst>
              <a:ext uri="{FF2B5EF4-FFF2-40B4-BE49-F238E27FC236}">
                <a16:creationId xmlns:a16="http://schemas.microsoft.com/office/drawing/2014/main" id="{FFE76891-8CCF-B35B-B901-2AEBA39E3C12}"/>
              </a:ext>
            </a:extLst>
          </p:cNvPr>
          <p:cNvSpPr>
            <a:spLocks noGrp="1"/>
          </p:cNvSpPr>
          <p:nvPr>
            <p:ph idx="1"/>
          </p:nvPr>
        </p:nvSpPr>
        <p:spPr/>
        <p:txBody>
          <a:bodyPr/>
          <a:lstStyle/>
          <a:p>
            <a:r>
              <a:rPr lang="en-US" b="0" i="0" dirty="0">
                <a:solidFill>
                  <a:srgbClr val="273239"/>
                </a:solidFill>
                <a:effectLst/>
                <a:latin typeface="Nunito" pitchFamily="2" charset="0"/>
              </a:rPr>
              <a:t>The SIMD form of parallel processing is called </a:t>
            </a:r>
            <a:r>
              <a:rPr lang="en-US" b="1" i="0" dirty="0">
                <a:solidFill>
                  <a:srgbClr val="273239"/>
                </a:solidFill>
                <a:effectLst/>
                <a:latin typeface="Nunito" pitchFamily="2" charset="0"/>
              </a:rPr>
              <a:t>Array processing</a:t>
            </a:r>
            <a:r>
              <a:rPr lang="en-US" b="0" i="0" dirty="0">
                <a:solidFill>
                  <a:srgbClr val="273239"/>
                </a:solidFill>
                <a:effectLst/>
                <a:latin typeface="Nunito" pitchFamily="2" charset="0"/>
              </a:rPr>
              <a:t>. Figure shows the array processor. A two-dimensional grid of processing elements transmits an instruction stream from a central control processor. As each instruction is transmitted, all elements execute it simultaneously. Each processing element is connected to its four nearest neighbors for the purposes of data exchange. Connections around the end can be provided on both rows and columns, but they are not shown in figure.</a:t>
            </a:r>
            <a:endParaRPr lang="en-US" dirty="0"/>
          </a:p>
        </p:txBody>
      </p:sp>
      <p:pic>
        <p:nvPicPr>
          <p:cNvPr id="3074" name="Picture 2">
            <a:extLst>
              <a:ext uri="{FF2B5EF4-FFF2-40B4-BE49-F238E27FC236}">
                <a16:creationId xmlns:a16="http://schemas.microsoft.com/office/drawing/2014/main" id="{68D13D01-ADDD-D1CF-029D-6F17547AAE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9553" y="3510392"/>
            <a:ext cx="3618547" cy="2785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4450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DADBF-A95A-8149-1381-1C34CE8D9756}"/>
              </a:ext>
            </a:extLst>
          </p:cNvPr>
          <p:cNvSpPr>
            <a:spLocks noGrp="1"/>
          </p:cNvSpPr>
          <p:nvPr>
            <p:ph type="title"/>
          </p:nvPr>
        </p:nvSpPr>
        <p:spPr/>
        <p:txBody>
          <a:bodyPr/>
          <a:lstStyle/>
          <a:p>
            <a:br>
              <a:rPr lang="en-US"/>
            </a:br>
            <a:r>
              <a:rPr lang="en-US" b="1" i="0">
                <a:solidFill>
                  <a:srgbClr val="273239"/>
                </a:solidFill>
                <a:effectLst/>
                <a:latin typeface="Source Sans 3"/>
              </a:rPr>
              <a:t>Vector processor classification</a:t>
            </a:r>
            <a:endParaRPr lang="en-US"/>
          </a:p>
        </p:txBody>
      </p:sp>
      <p:sp>
        <p:nvSpPr>
          <p:cNvPr id="3" name="Content Placeholder 2">
            <a:extLst>
              <a:ext uri="{FF2B5EF4-FFF2-40B4-BE49-F238E27FC236}">
                <a16:creationId xmlns:a16="http://schemas.microsoft.com/office/drawing/2014/main" id="{CE0710C5-319D-5AA9-5620-608A1171AE54}"/>
              </a:ext>
            </a:extLst>
          </p:cNvPr>
          <p:cNvSpPr>
            <a:spLocks noGrp="1"/>
          </p:cNvSpPr>
          <p:nvPr>
            <p:ph idx="1"/>
          </p:nvPr>
        </p:nvSpPr>
        <p:spPr/>
        <p:txBody>
          <a:bodyPr/>
          <a:lstStyle/>
          <a:p>
            <a:r>
              <a:rPr lang="en-US" b="0" i="0" dirty="0">
                <a:solidFill>
                  <a:srgbClr val="273239"/>
                </a:solidFill>
                <a:effectLst/>
                <a:latin typeface="Nunito" pitchFamily="2" charset="0"/>
              </a:rPr>
              <a:t>Vector processors have rightfully come into prominence when it comes to designing computing architecture by virtue of how they handle large datasets efficiently. A large portion of this efficiency is due to the retrieval from architectural configurations used in the implementation. Vector processors are classified into two primary architectures: memory to memory and register to register. These classification are important to optimize performance on the scientific computing and other data intensive applications.</a:t>
            </a:r>
            <a:endParaRPr lang="en-US" dirty="0"/>
          </a:p>
        </p:txBody>
      </p:sp>
    </p:spTree>
    <p:extLst>
      <p:ext uri="{BB962C8B-B14F-4D97-AF65-F5344CB8AC3E}">
        <p14:creationId xmlns:p14="http://schemas.microsoft.com/office/powerpoint/2010/main" val="3769911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AA2AE-1D8B-9484-02AE-1C01C3BF0661}"/>
              </a:ext>
            </a:extLst>
          </p:cNvPr>
          <p:cNvSpPr>
            <a:spLocks noGrp="1"/>
          </p:cNvSpPr>
          <p:nvPr>
            <p:ph type="title"/>
          </p:nvPr>
        </p:nvSpPr>
        <p:spPr/>
        <p:txBody>
          <a:bodyPr>
            <a:normAutofit/>
          </a:bodyPr>
          <a:lstStyle/>
          <a:p>
            <a:r>
              <a:rPr lang="en-US" b="1" i="0" dirty="0">
                <a:solidFill>
                  <a:srgbClr val="273239"/>
                </a:solidFill>
                <a:effectLst/>
                <a:latin typeface="Nunito" pitchFamily="2" charset="0"/>
              </a:rPr>
              <a:t>What is Vector Processor Classification?</a:t>
            </a:r>
            <a:endParaRPr lang="en-US" dirty="0"/>
          </a:p>
        </p:txBody>
      </p:sp>
      <p:sp>
        <p:nvSpPr>
          <p:cNvPr id="3" name="Content Placeholder 2">
            <a:extLst>
              <a:ext uri="{FF2B5EF4-FFF2-40B4-BE49-F238E27FC236}">
                <a16:creationId xmlns:a16="http://schemas.microsoft.com/office/drawing/2014/main" id="{2737C58C-A658-8215-5B5D-B57DF151249C}"/>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Vector processor classification is the labeling of processors based on the amount of vector operations it could be handling at a time. Here are the main classifications of vector processors:</a:t>
            </a:r>
          </a:p>
        </p:txBody>
      </p:sp>
    </p:spTree>
    <p:extLst>
      <p:ext uri="{BB962C8B-B14F-4D97-AF65-F5344CB8AC3E}">
        <p14:creationId xmlns:p14="http://schemas.microsoft.com/office/powerpoint/2010/main" val="1213254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0E7D2-6D7B-F950-325B-4FF5611A1DB5}"/>
              </a:ext>
            </a:extLst>
          </p:cNvPr>
          <p:cNvSpPr>
            <a:spLocks noGrp="1"/>
          </p:cNvSpPr>
          <p:nvPr>
            <p:ph type="title"/>
          </p:nvPr>
        </p:nvSpPr>
        <p:spPr/>
        <p:txBody>
          <a:bodyPr/>
          <a:lstStyle/>
          <a:p>
            <a:r>
              <a:rPr lang="en-US" b="1" i="0" dirty="0">
                <a:solidFill>
                  <a:srgbClr val="273239"/>
                </a:solidFill>
                <a:effectLst/>
                <a:latin typeface="Nunito" pitchFamily="2" charset="0"/>
              </a:rPr>
              <a:t>Memory to Memory Architecture</a:t>
            </a:r>
            <a:endParaRPr lang="en-US" dirty="0"/>
          </a:p>
        </p:txBody>
      </p:sp>
      <p:sp>
        <p:nvSpPr>
          <p:cNvPr id="3" name="Content Placeholder 2">
            <a:extLst>
              <a:ext uri="{FF2B5EF4-FFF2-40B4-BE49-F238E27FC236}">
                <a16:creationId xmlns:a16="http://schemas.microsoft.com/office/drawing/2014/main" id="{DAAFF06B-1E1D-C346-5E62-7C60DFE6C455}"/>
              </a:ext>
            </a:extLst>
          </p:cNvPr>
          <p:cNvSpPr>
            <a:spLocks noGrp="1"/>
          </p:cNvSpPr>
          <p:nvPr>
            <p:ph idx="1"/>
          </p:nvPr>
        </p:nvSpPr>
        <p:spPr/>
        <p:txBody>
          <a:bodyPr>
            <a:normAutofit/>
          </a:bodyPr>
          <a:lstStyle/>
          <a:p>
            <a:pPr algn="just" rtl="0" fontAlgn="base">
              <a:spcAft>
                <a:spcPts val="750"/>
              </a:spcAft>
            </a:pPr>
            <a:r>
              <a:rPr lang="en-US" b="0" i="0" dirty="0">
                <a:solidFill>
                  <a:srgbClr val="273239"/>
                </a:solidFill>
                <a:effectLst/>
                <a:latin typeface="Nunito" pitchFamily="2" charset="0"/>
              </a:rPr>
              <a:t>In memory-to-memory architecture, source operands, intermediate results, and final results are retrieved directly from the main memory. For memory-to-memory vector instructions, it is necessary to specify the base address, offset, increment, and vector length to facilitate data transfers between the main memory and pipelines. Notable processors employing memory-to-memory formats include TI-ASC, CDC STAR-100, and Cyber-205.</a:t>
            </a:r>
          </a:p>
          <a:p>
            <a:pPr algn="l" fontAlgn="base"/>
            <a:r>
              <a:rPr lang="en-US" b="1" i="0" dirty="0">
                <a:solidFill>
                  <a:srgbClr val="273239"/>
                </a:solidFill>
                <a:effectLst/>
                <a:latin typeface="Nunito" pitchFamily="2" charset="0"/>
              </a:rPr>
              <a:t>Main points about Memory-to-Memory Architecture</a:t>
            </a:r>
          </a:p>
          <a:p>
            <a:pPr marL="342900" indent="-342900" algn="l" fontAlgn="base">
              <a:spcAft>
                <a:spcPts val="1800"/>
              </a:spcAft>
              <a:buFont typeface="Arial" panose="020B0604020202020204" pitchFamily="34" charset="0"/>
              <a:buChar char="•"/>
            </a:pPr>
            <a:r>
              <a:rPr lang="en-US" b="0" i="0" dirty="0">
                <a:solidFill>
                  <a:srgbClr val="273239"/>
                </a:solidFill>
                <a:effectLst/>
                <a:latin typeface="Nunito" pitchFamily="2" charset="0"/>
              </a:rPr>
              <a:t>No limitation on size.</a:t>
            </a:r>
          </a:p>
          <a:p>
            <a:pPr marL="342900" indent="-342900" algn="l" fontAlgn="base">
              <a:spcAft>
                <a:spcPts val="1800"/>
              </a:spcAft>
              <a:buFont typeface="Arial" panose="020B0604020202020204" pitchFamily="34" charset="0"/>
              <a:buChar char="•"/>
            </a:pPr>
            <a:r>
              <a:rPr lang="en-US" b="0" i="0" dirty="0">
                <a:solidFill>
                  <a:srgbClr val="273239"/>
                </a:solidFill>
                <a:effectLst/>
                <a:latin typeface="Nunito" pitchFamily="2" charset="0"/>
              </a:rPr>
              <a:t>Speed is comparatively slower.</a:t>
            </a:r>
          </a:p>
          <a:p>
            <a:endParaRPr lang="en-US" dirty="0"/>
          </a:p>
        </p:txBody>
      </p:sp>
    </p:spTree>
    <p:extLst>
      <p:ext uri="{BB962C8B-B14F-4D97-AF65-F5344CB8AC3E}">
        <p14:creationId xmlns:p14="http://schemas.microsoft.com/office/powerpoint/2010/main" val="2095081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141F5-7403-6103-56DC-1F2207E4885E}"/>
              </a:ext>
            </a:extLst>
          </p:cNvPr>
          <p:cNvSpPr>
            <a:spLocks noGrp="1"/>
          </p:cNvSpPr>
          <p:nvPr>
            <p:ph type="title"/>
          </p:nvPr>
        </p:nvSpPr>
        <p:spPr/>
        <p:txBody>
          <a:bodyPr/>
          <a:lstStyle/>
          <a:p>
            <a:r>
              <a:rPr lang="en-US" b="1" i="0" dirty="0">
                <a:solidFill>
                  <a:srgbClr val="273239"/>
                </a:solidFill>
                <a:effectLst/>
                <a:latin typeface="Nunito" pitchFamily="2" charset="0"/>
              </a:rPr>
              <a:t>Register to Register Architecture</a:t>
            </a:r>
            <a:endParaRPr lang="en-US" dirty="0"/>
          </a:p>
        </p:txBody>
      </p:sp>
      <p:sp>
        <p:nvSpPr>
          <p:cNvPr id="3" name="Content Placeholder 2">
            <a:extLst>
              <a:ext uri="{FF2B5EF4-FFF2-40B4-BE49-F238E27FC236}">
                <a16:creationId xmlns:a16="http://schemas.microsoft.com/office/drawing/2014/main" id="{8030A8C7-032F-BC8D-139E-B599C4036D37}"/>
              </a:ext>
            </a:extLst>
          </p:cNvPr>
          <p:cNvSpPr>
            <a:spLocks noGrp="1"/>
          </p:cNvSpPr>
          <p:nvPr>
            <p:ph idx="1"/>
          </p:nvPr>
        </p:nvSpPr>
        <p:spPr/>
        <p:txBody>
          <a:bodyPr>
            <a:normAutofit/>
          </a:bodyPr>
          <a:lstStyle/>
          <a:p>
            <a:pPr algn="just" rtl="0" fontAlgn="base">
              <a:spcAft>
                <a:spcPts val="750"/>
              </a:spcAft>
            </a:pPr>
            <a:r>
              <a:rPr lang="en-US" b="0" i="0" dirty="0">
                <a:solidFill>
                  <a:srgbClr val="273239"/>
                </a:solidFill>
                <a:effectLst/>
                <a:latin typeface="Nunito" pitchFamily="2" charset="0"/>
              </a:rPr>
              <a:t>In register-to-register architecture, operands and results are retrieved indirectly from the main memory through the use of a large number of vector or scalar registers. Processors like Cray-1 and Fujitsu VP-200 utilize vector instructions in register-to-register formats.</a:t>
            </a:r>
          </a:p>
          <a:p>
            <a:pPr algn="l" fontAlgn="base"/>
            <a:r>
              <a:rPr lang="en-US" b="1" i="0" dirty="0">
                <a:solidFill>
                  <a:srgbClr val="273239"/>
                </a:solidFill>
                <a:effectLst/>
                <a:latin typeface="Nunito" pitchFamily="2" charset="0"/>
              </a:rPr>
              <a:t>Main points about Register-to-Register Architecture</a:t>
            </a:r>
          </a:p>
          <a:p>
            <a:pPr marL="457200" indent="-457200" algn="l" fontAlgn="base">
              <a:spcAft>
                <a:spcPts val="1800"/>
              </a:spcAft>
              <a:buFont typeface="Arial" panose="020B0604020202020204" pitchFamily="34" charset="0"/>
              <a:buChar char="•"/>
            </a:pPr>
            <a:r>
              <a:rPr lang="en-US" b="0" i="0" dirty="0">
                <a:solidFill>
                  <a:srgbClr val="273239"/>
                </a:solidFill>
                <a:effectLst/>
                <a:latin typeface="Nunito" pitchFamily="2" charset="0"/>
              </a:rPr>
              <a:t>Limited size.</a:t>
            </a:r>
          </a:p>
          <a:p>
            <a:pPr marL="457200" indent="-457200" algn="l" fontAlgn="base">
              <a:spcAft>
                <a:spcPts val="1800"/>
              </a:spcAft>
              <a:buFont typeface="Arial" panose="020B0604020202020204" pitchFamily="34" charset="0"/>
              <a:buChar char="•"/>
            </a:pPr>
            <a:r>
              <a:rPr lang="en-US" b="0" i="0" dirty="0">
                <a:solidFill>
                  <a:srgbClr val="273239"/>
                </a:solidFill>
                <a:effectLst/>
                <a:latin typeface="Nunito" pitchFamily="2" charset="0"/>
              </a:rPr>
              <a:t>Higher speed compared to memory-to-memory architecture.</a:t>
            </a:r>
          </a:p>
          <a:p>
            <a:pPr marL="457200" indent="-457200" algn="l" fontAlgn="base">
              <a:spcAft>
                <a:spcPts val="1800"/>
              </a:spcAft>
              <a:buFont typeface="Arial" panose="020B0604020202020204" pitchFamily="34" charset="0"/>
              <a:buChar char="•"/>
            </a:pPr>
            <a:r>
              <a:rPr lang="en-US" b="0" i="0" dirty="0">
                <a:solidFill>
                  <a:srgbClr val="273239"/>
                </a:solidFill>
                <a:effectLst/>
                <a:latin typeface="Nunito" pitchFamily="2" charset="0"/>
              </a:rPr>
              <a:t>Increased hardware cost.</a:t>
            </a:r>
          </a:p>
        </p:txBody>
      </p:sp>
    </p:spTree>
    <p:extLst>
      <p:ext uri="{BB962C8B-B14F-4D97-AF65-F5344CB8AC3E}">
        <p14:creationId xmlns:p14="http://schemas.microsoft.com/office/powerpoint/2010/main" val="279312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21A17-C2E3-FA51-3457-5B411C2FB883}"/>
              </a:ext>
            </a:extLst>
          </p:cNvPr>
          <p:cNvSpPr>
            <a:spLocks noGrp="1"/>
          </p:cNvSpPr>
          <p:nvPr>
            <p:ph type="title"/>
          </p:nvPr>
        </p:nvSpPr>
        <p:spPr/>
        <p:txBody>
          <a:bodyPr/>
          <a:lstStyle/>
          <a:p>
            <a:r>
              <a:rPr lang="en-US" b="1" i="0" dirty="0">
                <a:solidFill>
                  <a:srgbClr val="273239"/>
                </a:solidFill>
                <a:effectLst/>
                <a:latin typeface="Nunito" pitchFamily="2" charset="0"/>
              </a:rPr>
              <a:t>Hybrid Architecture</a:t>
            </a:r>
            <a:endParaRPr lang="en-US" dirty="0"/>
          </a:p>
        </p:txBody>
      </p:sp>
      <p:sp>
        <p:nvSpPr>
          <p:cNvPr id="3" name="Content Placeholder 2">
            <a:extLst>
              <a:ext uri="{FF2B5EF4-FFF2-40B4-BE49-F238E27FC236}">
                <a16:creationId xmlns:a16="http://schemas.microsoft.com/office/drawing/2014/main" id="{74DFAD2D-25A1-AE92-485C-8484D349935C}"/>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Hybrid Architecture unites memory-to-memory and register-to-register architectures to gain from all. The way is that of flexible operand retrieval methods; which improves performance and efficiency in many computational tasks. This solution provides a balanced solution which can be adapted to requirements of the application, with a better utilization of available resources.</a:t>
            </a:r>
          </a:p>
          <a:p>
            <a:endParaRPr lang="en-US" dirty="0"/>
          </a:p>
        </p:txBody>
      </p:sp>
    </p:spTree>
    <p:extLst>
      <p:ext uri="{BB962C8B-B14F-4D97-AF65-F5344CB8AC3E}">
        <p14:creationId xmlns:p14="http://schemas.microsoft.com/office/powerpoint/2010/main" val="2977576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C582E-A645-A2E8-0536-B55A9D17B1EB}"/>
              </a:ext>
            </a:extLst>
          </p:cNvPr>
          <p:cNvSpPr>
            <a:spLocks noGrp="1"/>
          </p:cNvSpPr>
          <p:nvPr>
            <p:ph type="title"/>
          </p:nvPr>
        </p:nvSpPr>
        <p:spPr/>
        <p:txBody>
          <a:bodyPr>
            <a:noAutofit/>
          </a:bodyPr>
          <a:lstStyle/>
          <a:p>
            <a:r>
              <a:rPr lang="en-US" sz="3600" b="0" i="0" dirty="0">
                <a:solidFill>
                  <a:srgbClr val="273239"/>
                </a:solidFill>
                <a:effectLst/>
                <a:latin typeface="Nunito" pitchFamily="2" charset="0"/>
              </a:rPr>
              <a:t>A block diagram of a modern multiple pipeline vector computer is shown below:</a:t>
            </a:r>
            <a:endParaRPr lang="en-US" sz="3600" dirty="0"/>
          </a:p>
        </p:txBody>
      </p:sp>
      <p:pic>
        <p:nvPicPr>
          <p:cNvPr id="4098" name="Picture 2" descr="Pipe Lined Vector Processor">
            <a:extLst>
              <a:ext uri="{FF2B5EF4-FFF2-40B4-BE49-F238E27FC236}">
                <a16:creationId xmlns:a16="http://schemas.microsoft.com/office/drawing/2014/main" id="{2473BF2A-B04B-9296-20C1-61AD41CEE5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2716" y="1846263"/>
            <a:ext cx="8726894"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9503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7EC5-2A4D-6BA1-99A6-2A6F5A808A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28486-B6C4-B391-E108-6AD818AD76FA}"/>
              </a:ext>
            </a:extLst>
          </p:cNvPr>
          <p:cNvSpPr>
            <a:spLocks noGrp="1"/>
          </p:cNvSpPr>
          <p:nvPr>
            <p:ph type="title"/>
          </p:nvPr>
        </p:nvSpPr>
        <p:spPr/>
        <p:txBody>
          <a:bodyPr/>
          <a:lstStyle/>
          <a:p>
            <a:r>
              <a:rPr lang="en-US" b="1" i="0" dirty="0">
                <a:solidFill>
                  <a:srgbClr val="273239"/>
                </a:solidFill>
                <a:effectLst/>
                <a:latin typeface="Nunito" pitchFamily="2" charset="0"/>
              </a:rPr>
              <a:t>Advantages of Vector Processor</a:t>
            </a:r>
            <a:endParaRPr lang="en-US" dirty="0"/>
          </a:p>
        </p:txBody>
      </p:sp>
      <p:sp>
        <p:nvSpPr>
          <p:cNvPr id="3" name="Content Placeholder 2">
            <a:extLst>
              <a:ext uri="{FF2B5EF4-FFF2-40B4-BE49-F238E27FC236}">
                <a16:creationId xmlns:a16="http://schemas.microsoft.com/office/drawing/2014/main" id="{2B988661-98A5-A2AC-5FEC-81118E1D828F}"/>
              </a:ext>
            </a:extLst>
          </p:cNvPr>
          <p:cNvSpPr>
            <a:spLocks noGrp="1"/>
          </p:cNvSpPr>
          <p:nvPr>
            <p:ph idx="1"/>
          </p:nvPr>
        </p:nvSpPr>
        <p:spPr/>
        <p:txBody>
          <a:bodyPr>
            <a:normAutofit/>
          </a:bodyPr>
          <a:lstStyle/>
          <a:p>
            <a:pPr marL="342900" indent="-285750" algn="l" fontAlgn="base">
              <a:spcBef>
                <a:spcPts val="0"/>
              </a:spcBef>
              <a:spcAft>
                <a:spcPts val="0"/>
              </a:spcAft>
              <a:buFont typeface="Arial" panose="020B0604020202020204" pitchFamily="34" charset="0"/>
              <a:buChar char="•"/>
            </a:pPr>
            <a:r>
              <a:rPr lang="en-US" sz="1600" b="1" i="0" dirty="0">
                <a:solidFill>
                  <a:srgbClr val="273239"/>
                </a:solidFill>
                <a:effectLst/>
                <a:latin typeface="Nunito" pitchFamily="2" charset="0"/>
              </a:rPr>
              <a:t>Parallelism and SIMD Execution:</a:t>
            </a:r>
            <a:r>
              <a:rPr lang="en-US" sz="1600" b="0" i="0" dirty="0">
                <a:solidFill>
                  <a:srgbClr val="273239"/>
                </a:solidFill>
                <a:effectLst/>
                <a:latin typeface="Nunito" pitchFamily="2" charset="0"/>
              </a:rPr>
              <a:t> Vector processors are intended to perform Single Guidance, Different Information (</a:t>
            </a:r>
            <a:r>
              <a:rPr lang="en-US" sz="1600" u="sng" dirty="0">
                <a:solidFill>
                  <a:srgbClr val="273239"/>
                </a:solidFill>
                <a:latin typeface="Nunito" pitchFamily="2" charset="0"/>
              </a:rPr>
              <a:t>SIMD</a:t>
            </a:r>
            <a:r>
              <a:rPr lang="en-US" sz="1600" b="0" i="0" dirty="0">
                <a:solidFill>
                  <a:srgbClr val="273239"/>
                </a:solidFill>
                <a:effectLst/>
                <a:latin typeface="Nunito" pitchFamily="2" charset="0"/>
              </a:rPr>
              <a:t>) activities. This implies that a solitary guidance can work on numerous information components in equal, considering a huge speedup in errands that include monotonous procedure on enormous datasets. This parallelism is appropriate for logical recreations, reenactments of actual frameworks, signal handling, and different applications including weighty mathematical calculations.</a:t>
            </a:r>
          </a:p>
          <a:p>
            <a:pPr marL="342900" indent="-285750" algn="l" fontAlgn="base">
              <a:spcBef>
                <a:spcPts val="0"/>
              </a:spcBef>
              <a:spcAft>
                <a:spcPts val="0"/>
              </a:spcAft>
              <a:buFont typeface="Arial" panose="020B0604020202020204" pitchFamily="34" charset="0"/>
              <a:buChar char="•"/>
            </a:pPr>
            <a:r>
              <a:rPr lang="en-US" sz="1600" b="1" i="0" dirty="0">
                <a:solidFill>
                  <a:srgbClr val="273239"/>
                </a:solidFill>
                <a:effectLst/>
                <a:latin typeface="Nunito" pitchFamily="2" charset="0"/>
              </a:rPr>
              <a:t>Proficient Information Development:</a:t>
            </a:r>
            <a:r>
              <a:rPr lang="en-US" sz="1600" b="0" i="0" dirty="0">
                <a:solidFill>
                  <a:srgbClr val="273239"/>
                </a:solidFill>
                <a:effectLst/>
                <a:latin typeface="Nunito" pitchFamily="2" charset="0"/>
              </a:rPr>
              <a:t> Vector processors are enhanced for moving information productively among memory and the computer chip registers. This is pivotal for execution, as memory access is much of the time a </a:t>
            </a:r>
            <a:r>
              <a:rPr lang="en-US" sz="1600" u="sng" dirty="0">
                <a:solidFill>
                  <a:srgbClr val="273239"/>
                </a:solidFill>
                <a:latin typeface="Nunito" pitchFamily="2" charset="0"/>
              </a:rPr>
              <a:t>bottleneck</a:t>
            </a:r>
            <a:r>
              <a:rPr lang="en-US" sz="1600" b="0" i="0" dirty="0">
                <a:solidFill>
                  <a:srgbClr val="273239"/>
                </a:solidFill>
                <a:effectLst/>
                <a:latin typeface="Nunito" pitchFamily="2" charset="0"/>
              </a:rPr>
              <a:t> in many registering errands. Vector processors commonly incorporate specific information development directions that can move information in huge lumps, limiting the effect of memory dormancy.</a:t>
            </a:r>
          </a:p>
          <a:p>
            <a:pPr marL="342900" indent="-285750" algn="l" fontAlgn="base">
              <a:spcBef>
                <a:spcPts val="0"/>
              </a:spcBef>
              <a:spcAft>
                <a:spcPts val="0"/>
              </a:spcAft>
              <a:buFont typeface="Arial" panose="020B0604020202020204" pitchFamily="34" charset="0"/>
              <a:buChar char="•"/>
            </a:pPr>
            <a:r>
              <a:rPr lang="en-US" sz="1600" b="1" i="0" dirty="0">
                <a:solidFill>
                  <a:srgbClr val="273239"/>
                </a:solidFill>
                <a:effectLst/>
                <a:latin typeface="Nunito" pitchFamily="2" charset="0"/>
              </a:rPr>
              <a:t>Diminished Guidance Above:</a:t>
            </a:r>
            <a:r>
              <a:rPr lang="en-US" sz="1600" b="0" i="0" dirty="0">
                <a:solidFill>
                  <a:srgbClr val="273239"/>
                </a:solidFill>
                <a:effectLst/>
                <a:latin typeface="Nunito" pitchFamily="2" charset="0"/>
              </a:rPr>
              <a:t> With SIMD tasks, a solitary guidance can play out similar procedure on various information components. This lessens the above related with getting, unraveling, and executing individual directions, which is especially helpful for errands that include tedious computations.</a:t>
            </a:r>
          </a:p>
          <a:p>
            <a:pPr marL="342900" indent="-285750" algn="l" fontAlgn="base">
              <a:spcBef>
                <a:spcPts val="0"/>
              </a:spcBef>
              <a:spcAft>
                <a:spcPts val="0"/>
              </a:spcAft>
              <a:buFont typeface="Arial" panose="020B0604020202020204" pitchFamily="34" charset="0"/>
              <a:buChar char="•"/>
            </a:pPr>
            <a:r>
              <a:rPr lang="en-US" sz="1600" b="1" i="0" dirty="0">
                <a:solidFill>
                  <a:srgbClr val="273239"/>
                </a:solidFill>
                <a:effectLst/>
                <a:latin typeface="Nunito" pitchFamily="2" charset="0"/>
              </a:rPr>
              <a:t>Energy Proficiency</a:t>
            </a:r>
            <a:r>
              <a:rPr lang="en-US" sz="1600" b="0" i="0" dirty="0">
                <a:solidFill>
                  <a:srgbClr val="273239"/>
                </a:solidFill>
                <a:effectLst/>
                <a:latin typeface="Nunito" pitchFamily="2" charset="0"/>
              </a:rPr>
              <a:t>: By executing procedure on various information components at the same time, vector processors can accomplish higher computational throughput while consuming generally less power contrasted with scalar processors playing out similar activities consecutively. This energy effectiveness is significant for superior execution registering (</a:t>
            </a:r>
            <a:r>
              <a:rPr lang="en-US" sz="1600" u="sng" dirty="0">
                <a:solidFill>
                  <a:srgbClr val="273239"/>
                </a:solidFill>
                <a:latin typeface="Nunito" pitchFamily="2" charset="0"/>
              </a:rPr>
              <a:t>HPC</a:t>
            </a:r>
            <a:r>
              <a:rPr lang="en-US" sz="1600" b="0" i="0" dirty="0">
                <a:solidFill>
                  <a:srgbClr val="273239"/>
                </a:solidFill>
                <a:effectLst/>
                <a:latin typeface="Nunito" pitchFamily="2" charset="0"/>
              </a:rPr>
              <a:t>) applications where power utilization is a worry.</a:t>
            </a:r>
          </a:p>
        </p:txBody>
      </p:sp>
    </p:spTree>
    <p:extLst>
      <p:ext uri="{BB962C8B-B14F-4D97-AF65-F5344CB8AC3E}">
        <p14:creationId xmlns:p14="http://schemas.microsoft.com/office/powerpoint/2010/main" val="1506339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9B6C2-1BDC-A3F0-1B26-4D93B496C7E7}"/>
              </a:ext>
            </a:extLst>
          </p:cNvPr>
          <p:cNvSpPr>
            <a:spLocks noGrp="1"/>
          </p:cNvSpPr>
          <p:nvPr>
            <p:ph type="title"/>
          </p:nvPr>
        </p:nvSpPr>
        <p:spPr/>
        <p:txBody>
          <a:bodyPr/>
          <a:lstStyle/>
          <a:p>
            <a:r>
              <a:rPr lang="en-US" b="1" i="0" dirty="0">
                <a:solidFill>
                  <a:srgbClr val="273239"/>
                </a:solidFill>
                <a:effectLst/>
                <a:latin typeface="Nunito" pitchFamily="2" charset="0"/>
              </a:rPr>
              <a:t>Advantages of Vector Processor</a:t>
            </a:r>
            <a:endParaRPr lang="en-US" dirty="0"/>
          </a:p>
        </p:txBody>
      </p:sp>
      <p:sp>
        <p:nvSpPr>
          <p:cNvPr id="3" name="Content Placeholder 2">
            <a:extLst>
              <a:ext uri="{FF2B5EF4-FFF2-40B4-BE49-F238E27FC236}">
                <a16:creationId xmlns:a16="http://schemas.microsoft.com/office/drawing/2014/main" id="{25C8D1DA-0099-E6C8-4094-BE542709A8B8}"/>
              </a:ext>
            </a:extLst>
          </p:cNvPr>
          <p:cNvSpPr>
            <a:spLocks noGrp="1"/>
          </p:cNvSpPr>
          <p:nvPr>
            <p:ph idx="1"/>
          </p:nvPr>
        </p:nvSpPr>
        <p:spPr/>
        <p:txBody>
          <a:bodyPr>
            <a:normAutofit fontScale="92500" lnSpcReduction="20000"/>
          </a:bodyPr>
          <a:lstStyle/>
          <a:p>
            <a:pPr marL="342900" indent="-285750" algn="just" fontAlgn="base">
              <a:spcBef>
                <a:spcPts val="0"/>
              </a:spcBef>
              <a:spcAft>
                <a:spcPts val="0"/>
              </a:spcAft>
              <a:buFont typeface="Arial" panose="020B0604020202020204" pitchFamily="34" charset="0"/>
              <a:buChar char="•"/>
            </a:pPr>
            <a:r>
              <a:rPr lang="en-US" sz="1800" b="1" i="0" dirty="0">
                <a:solidFill>
                  <a:srgbClr val="273239"/>
                </a:solidFill>
                <a:effectLst/>
                <a:latin typeface="Nunito" pitchFamily="2" charset="0"/>
              </a:rPr>
              <a:t>Logical and Designing Applications:</a:t>
            </a:r>
            <a:r>
              <a:rPr lang="en-US" sz="1800" b="0" i="0" dirty="0">
                <a:solidFill>
                  <a:srgbClr val="273239"/>
                </a:solidFill>
                <a:effectLst/>
                <a:latin typeface="Nunito" pitchFamily="2" charset="0"/>
              </a:rPr>
              <a:t> Vector processors succeed in logical and designing reproductions where complex numerical calculations are performed on huge datasets. Applications like weather conditions displaying, computational liquid elements, atomic elements reproductions, and picture handling can benefit altogether from the computational power and parallelism presented by vector processors.</a:t>
            </a:r>
          </a:p>
          <a:p>
            <a:pPr marL="342900" indent="-285750" algn="just" fontAlgn="base">
              <a:spcBef>
                <a:spcPts val="0"/>
              </a:spcBef>
              <a:spcAft>
                <a:spcPts val="0"/>
              </a:spcAft>
              <a:buFont typeface="Arial" panose="020B0604020202020204" pitchFamily="34" charset="0"/>
              <a:buChar char="•"/>
            </a:pPr>
            <a:r>
              <a:rPr lang="en-US" sz="1800" b="1" i="0" dirty="0">
                <a:solidFill>
                  <a:srgbClr val="273239"/>
                </a:solidFill>
                <a:effectLst/>
                <a:latin typeface="Nunito" pitchFamily="2" charset="0"/>
              </a:rPr>
              <a:t>Superior Execution for Cluster Activities:</a:t>
            </a:r>
            <a:r>
              <a:rPr lang="en-US" sz="1800" b="0" i="0" dirty="0">
                <a:solidFill>
                  <a:srgbClr val="273239"/>
                </a:solidFill>
                <a:effectLst/>
                <a:latin typeface="Nunito" pitchFamily="2" charset="0"/>
              </a:rPr>
              <a:t> Some true applications include controlling exhibits or grids of information, for example, in information examination, </a:t>
            </a:r>
            <a:r>
              <a:rPr lang="en-US" sz="1800" u="sng" dirty="0">
                <a:solidFill>
                  <a:srgbClr val="273239"/>
                </a:solidFill>
                <a:latin typeface="Nunito" pitchFamily="2" charset="0"/>
              </a:rPr>
              <a:t>AI</a:t>
            </a:r>
            <a:r>
              <a:rPr lang="en-US" sz="1800" b="0" i="0" dirty="0">
                <a:solidFill>
                  <a:srgbClr val="273239"/>
                </a:solidFill>
                <a:effectLst/>
                <a:latin typeface="Nunito" pitchFamily="2" charset="0"/>
              </a:rPr>
              <a:t>, and illustrations handling. Vector processors can perform activities like expansion, increase, and other component wise procedure on whole clusters with a solitary guidance, significantly speeding up these undertakings.</a:t>
            </a:r>
          </a:p>
          <a:p>
            <a:pPr marL="342900" indent="-285750" algn="just" fontAlgn="base">
              <a:spcBef>
                <a:spcPts val="0"/>
              </a:spcBef>
              <a:spcAft>
                <a:spcPts val="0"/>
              </a:spcAft>
              <a:buFont typeface="Arial" panose="020B0604020202020204" pitchFamily="34" charset="0"/>
              <a:buChar char="•"/>
            </a:pPr>
            <a:r>
              <a:rPr lang="en-US" sz="1800" b="1" i="0" dirty="0">
                <a:solidFill>
                  <a:srgbClr val="273239"/>
                </a:solidFill>
                <a:effectLst/>
                <a:latin typeface="Nunito" pitchFamily="2" charset="0"/>
              </a:rPr>
              <a:t>Compiler Streamlining:</a:t>
            </a:r>
            <a:r>
              <a:rPr lang="en-US" sz="1800" b="0" i="0" dirty="0">
                <a:solidFill>
                  <a:srgbClr val="273239"/>
                </a:solidFill>
                <a:effectLst/>
                <a:latin typeface="Nunito" pitchFamily="2" charset="0"/>
              </a:rPr>
              <a:t> Vector processors frequently expect code to be written with a certain goal in mind to make the most of their capacities. Compiler improvements can naturally change undeniable level code into vectorized guidelines, permitting software engineers to zero in on the algorithmic plan as opposed to low-even out advancements.</a:t>
            </a:r>
          </a:p>
          <a:p>
            <a:pPr marL="342900" indent="-285750" algn="just" fontAlgn="base">
              <a:spcBef>
                <a:spcPts val="0"/>
              </a:spcBef>
              <a:spcAft>
                <a:spcPts val="0"/>
              </a:spcAft>
              <a:buFont typeface="Arial" panose="020B0604020202020204" pitchFamily="34" charset="0"/>
              <a:buChar char="•"/>
            </a:pPr>
            <a:r>
              <a:rPr lang="en-US" sz="1800" b="1" i="0" dirty="0">
                <a:solidFill>
                  <a:srgbClr val="273239"/>
                </a:solidFill>
                <a:effectLst/>
                <a:latin typeface="Nunito" pitchFamily="2" charset="0"/>
              </a:rPr>
              <a:t>Memory Transmission capacity Usage:</a:t>
            </a:r>
            <a:r>
              <a:rPr lang="en-US" sz="1800" b="0" i="0" dirty="0">
                <a:solidFill>
                  <a:srgbClr val="273239"/>
                </a:solidFill>
                <a:effectLst/>
                <a:latin typeface="Nunito" pitchFamily="2" charset="0"/>
              </a:rPr>
              <a:t> Vector processors can productively use memory transfer speed by streaming information from memory into vector registers and afterward performing calculations on those vectors. This can assist with alleviating the exhibition effect of memory bottlenecks.</a:t>
            </a:r>
          </a:p>
          <a:p>
            <a:pPr marL="342900" indent="-285750" algn="just" fontAlgn="base">
              <a:spcBef>
                <a:spcPts val="0"/>
              </a:spcBef>
              <a:spcAft>
                <a:spcPts val="0"/>
              </a:spcAft>
              <a:buFont typeface="Arial" panose="020B0604020202020204" pitchFamily="34" charset="0"/>
              <a:buChar char="•"/>
            </a:pPr>
            <a:r>
              <a:rPr lang="en-US" sz="1800" b="1" i="0" dirty="0">
                <a:solidFill>
                  <a:srgbClr val="273239"/>
                </a:solidFill>
                <a:effectLst/>
                <a:latin typeface="Nunito" pitchFamily="2" charset="0"/>
              </a:rPr>
              <a:t>Vector Length Adaptability:</a:t>
            </a:r>
            <a:r>
              <a:rPr lang="en-US" sz="1800" b="0" i="0" dirty="0">
                <a:solidFill>
                  <a:srgbClr val="273239"/>
                </a:solidFill>
                <a:effectLst/>
                <a:latin typeface="Nunito" pitchFamily="2" charset="0"/>
              </a:rPr>
              <a:t> Some vector processors permit adaptability in the length of vector tasks, empowering software engineers to pick the proper vector length in light of the application’s necessities and the accessible equipment assets.</a:t>
            </a:r>
          </a:p>
        </p:txBody>
      </p:sp>
    </p:spTree>
    <p:extLst>
      <p:ext uri="{BB962C8B-B14F-4D97-AF65-F5344CB8AC3E}">
        <p14:creationId xmlns:p14="http://schemas.microsoft.com/office/powerpoint/2010/main" val="2530028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92A11-0F6C-DED4-F1ED-B0064A009BA5}"/>
              </a:ext>
            </a:extLst>
          </p:cNvPr>
          <p:cNvSpPr>
            <a:spLocks noGrp="1"/>
          </p:cNvSpPr>
          <p:nvPr>
            <p:ph type="title"/>
          </p:nvPr>
        </p:nvSpPr>
        <p:spPr/>
        <p:txBody>
          <a:bodyPr>
            <a:normAutofit/>
          </a:bodyPr>
          <a:lstStyle/>
          <a:p>
            <a:r>
              <a:rPr lang="en-US" b="1" i="0" dirty="0">
                <a:solidFill>
                  <a:srgbClr val="273239"/>
                </a:solidFill>
                <a:effectLst/>
                <a:latin typeface="Nunito" pitchFamily="2" charset="0"/>
              </a:rPr>
              <a:t>Disadvantages of Vector Processors</a:t>
            </a:r>
            <a:endParaRPr lang="en-US" dirty="0"/>
          </a:p>
        </p:txBody>
      </p:sp>
      <p:sp>
        <p:nvSpPr>
          <p:cNvPr id="3" name="Content Placeholder 2">
            <a:extLst>
              <a:ext uri="{FF2B5EF4-FFF2-40B4-BE49-F238E27FC236}">
                <a16:creationId xmlns:a16="http://schemas.microsoft.com/office/drawing/2014/main" id="{3244EAA0-B23F-C99D-7C16-8CF27E45C829}"/>
              </a:ext>
            </a:extLst>
          </p:cNvPr>
          <p:cNvSpPr>
            <a:spLocks noGrp="1"/>
          </p:cNvSpPr>
          <p:nvPr>
            <p:ph idx="1"/>
          </p:nvPr>
        </p:nvSpPr>
        <p:spPr/>
        <p:txBody>
          <a:bodyPr/>
          <a:lstStyle/>
          <a:p>
            <a:pPr marL="34290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Complexity of Programming: </a:t>
            </a:r>
            <a:r>
              <a:rPr lang="en-US" b="0" i="0" dirty="0">
                <a:solidFill>
                  <a:srgbClr val="273239"/>
                </a:solidFill>
                <a:effectLst/>
                <a:latin typeface="Nunito" pitchFamily="2" charset="0"/>
              </a:rPr>
              <a:t>Development of such codes is complex because optimizing code for vector processors generally requires specialized knowledge.</a:t>
            </a:r>
          </a:p>
          <a:p>
            <a:pPr marL="34290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Cost: </a:t>
            </a:r>
            <a:r>
              <a:rPr lang="en-US" b="0" i="0" dirty="0">
                <a:solidFill>
                  <a:srgbClr val="273239"/>
                </a:solidFill>
                <a:effectLst/>
                <a:latin typeface="Nunito" pitchFamily="2" charset="0"/>
              </a:rPr>
              <a:t>Vector processors are expensive, because they require special hardware.</a:t>
            </a:r>
          </a:p>
          <a:p>
            <a:pPr marL="34290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Limited Applicability: </a:t>
            </a:r>
            <a:r>
              <a:rPr lang="en-US" b="0" i="0" dirty="0">
                <a:solidFill>
                  <a:srgbClr val="273239"/>
                </a:solidFill>
                <a:effectLst/>
                <a:latin typeface="Nunito" pitchFamily="2" charset="0"/>
              </a:rPr>
              <a:t>Not all applications are good candidates for vector processing; there are tasks that are inherently sequential and cannot profitably be executed in parallel.</a:t>
            </a:r>
          </a:p>
          <a:p>
            <a:endParaRPr lang="en-US" dirty="0"/>
          </a:p>
        </p:txBody>
      </p:sp>
    </p:spTree>
    <p:extLst>
      <p:ext uri="{BB962C8B-B14F-4D97-AF65-F5344CB8AC3E}">
        <p14:creationId xmlns:p14="http://schemas.microsoft.com/office/powerpoint/2010/main" val="9996973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B3949-220B-50C0-F554-B62F622865C8}"/>
              </a:ext>
            </a:extLst>
          </p:cNvPr>
          <p:cNvSpPr>
            <a:spLocks noGrp="1"/>
          </p:cNvSpPr>
          <p:nvPr>
            <p:ph type="title"/>
          </p:nvPr>
        </p:nvSpPr>
        <p:spPr/>
        <p:txBody>
          <a:bodyPr/>
          <a:lstStyle/>
          <a:p>
            <a:r>
              <a:rPr lang="en-US" b="1" i="0" dirty="0">
                <a:solidFill>
                  <a:srgbClr val="273239"/>
                </a:solidFill>
                <a:effectLst/>
                <a:latin typeface="Nunito" pitchFamily="2" charset="0"/>
              </a:rPr>
              <a:t>Limitations of Vector Processor</a:t>
            </a:r>
            <a:endParaRPr lang="en-US" dirty="0"/>
          </a:p>
        </p:txBody>
      </p:sp>
      <p:sp>
        <p:nvSpPr>
          <p:cNvPr id="3" name="Content Placeholder 2">
            <a:extLst>
              <a:ext uri="{FF2B5EF4-FFF2-40B4-BE49-F238E27FC236}">
                <a16:creationId xmlns:a16="http://schemas.microsoft.com/office/drawing/2014/main" id="{D6589FA7-520A-A637-6D49-17E03BA2CBFD}"/>
              </a:ext>
            </a:extLst>
          </p:cNvPr>
          <p:cNvSpPr>
            <a:spLocks noGrp="1"/>
          </p:cNvSpPr>
          <p:nvPr>
            <p:ph idx="1"/>
          </p:nvPr>
        </p:nvSpPr>
        <p:spPr/>
        <p:txBody>
          <a:bodyPr>
            <a:norm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Speed Limitation: </a:t>
            </a:r>
            <a:r>
              <a:rPr lang="en-US" b="0" i="0" dirty="0">
                <a:solidFill>
                  <a:srgbClr val="273239"/>
                </a:solidFill>
                <a:effectLst/>
                <a:latin typeface="Nunito" pitchFamily="2" charset="0"/>
              </a:rPr>
              <a:t>Vector processors are limited by the speed at which they can execute instructions.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Memory Limitation: </a:t>
            </a:r>
            <a:r>
              <a:rPr lang="en-US" b="0" i="0" dirty="0">
                <a:solidFill>
                  <a:srgbClr val="273239"/>
                </a:solidFill>
                <a:effectLst/>
                <a:latin typeface="Nunito" pitchFamily="2" charset="0"/>
              </a:rPr>
              <a:t>Vector processors are limited by the amount of memory available for storing data.</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Instruction Limitation: </a:t>
            </a:r>
            <a:r>
              <a:rPr lang="en-US" b="0" i="0" dirty="0">
                <a:solidFill>
                  <a:srgbClr val="273239"/>
                </a:solidFill>
                <a:effectLst/>
                <a:latin typeface="Nunito" pitchFamily="2" charset="0"/>
              </a:rPr>
              <a:t>Vector processors can only execute certain instructions and often require instruction modifications for more complex tasks.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Cost Limitation: </a:t>
            </a:r>
            <a:r>
              <a:rPr lang="en-US" b="0" i="0" dirty="0">
                <a:solidFill>
                  <a:srgbClr val="273239"/>
                </a:solidFill>
                <a:effectLst/>
                <a:latin typeface="Nunito" pitchFamily="2" charset="0"/>
              </a:rPr>
              <a:t>Vector processors are often more expensive than scalar processors due to their advanced technology.</a:t>
            </a:r>
          </a:p>
          <a:p>
            <a:endParaRPr lang="en-US" dirty="0"/>
          </a:p>
        </p:txBody>
      </p:sp>
    </p:spTree>
    <p:extLst>
      <p:ext uri="{BB962C8B-B14F-4D97-AF65-F5344CB8AC3E}">
        <p14:creationId xmlns:p14="http://schemas.microsoft.com/office/powerpoint/2010/main" val="4133206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15387-950A-9DB4-66D7-3014B1C77FB0}"/>
              </a:ext>
            </a:extLst>
          </p:cNvPr>
          <p:cNvSpPr>
            <a:spLocks noGrp="1"/>
          </p:cNvSpPr>
          <p:nvPr>
            <p:ph type="title"/>
          </p:nvPr>
        </p:nvSpPr>
        <p:spPr/>
        <p:txBody>
          <a:bodyPr/>
          <a:lstStyle/>
          <a:p>
            <a:r>
              <a:rPr lang="en-US" b="1" i="0" dirty="0">
                <a:solidFill>
                  <a:srgbClr val="273239"/>
                </a:solidFill>
                <a:effectLst/>
                <a:latin typeface="Nunito" pitchFamily="2" charset="0"/>
              </a:rPr>
              <a:t>Conclusion</a:t>
            </a:r>
            <a:endParaRPr lang="en-US" dirty="0"/>
          </a:p>
        </p:txBody>
      </p:sp>
      <p:sp>
        <p:nvSpPr>
          <p:cNvPr id="3" name="Content Placeholder 2">
            <a:extLst>
              <a:ext uri="{FF2B5EF4-FFF2-40B4-BE49-F238E27FC236}">
                <a16:creationId xmlns:a16="http://schemas.microsoft.com/office/drawing/2014/main" id="{C59C0BA4-3BB3-665C-7DE9-FDFE73F803B4}"/>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Vector processors provide an important means of improving computational efficiency, for example, in applications where lots of math and big data abound. If developers understand their classifications and architectural configurations, then they can use their capabilities effectively to realize better performance in different computational tasks.</a:t>
            </a:r>
          </a:p>
        </p:txBody>
      </p:sp>
    </p:spTree>
    <p:extLst>
      <p:ext uri="{BB962C8B-B14F-4D97-AF65-F5344CB8AC3E}">
        <p14:creationId xmlns:p14="http://schemas.microsoft.com/office/powerpoint/2010/main" val="2720449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8B6D0-035D-DF43-52EB-2030AD6E7279}"/>
              </a:ext>
            </a:extLst>
          </p:cNvPr>
          <p:cNvSpPr>
            <a:spLocks noGrp="1"/>
          </p:cNvSpPr>
          <p:nvPr>
            <p:ph type="title"/>
          </p:nvPr>
        </p:nvSpPr>
        <p:spPr/>
        <p:txBody>
          <a:bodyPr>
            <a:normAutofit/>
          </a:bodyPr>
          <a:lstStyle/>
          <a:p>
            <a:r>
              <a:rPr lang="en-US" dirty="0"/>
              <a:t>What is the Primary Advantage of Using Vector Processors?</a:t>
            </a:r>
          </a:p>
        </p:txBody>
      </p:sp>
      <p:sp>
        <p:nvSpPr>
          <p:cNvPr id="3" name="Content Placeholder 2">
            <a:extLst>
              <a:ext uri="{FF2B5EF4-FFF2-40B4-BE49-F238E27FC236}">
                <a16:creationId xmlns:a16="http://schemas.microsoft.com/office/drawing/2014/main" id="{FC680A4D-08E7-9622-163C-6D09FF54FFDD}"/>
              </a:ext>
            </a:extLst>
          </p:cNvPr>
          <p:cNvSpPr>
            <a:spLocks noGrp="1"/>
          </p:cNvSpPr>
          <p:nvPr>
            <p:ph idx="1"/>
          </p:nvPr>
        </p:nvSpPr>
        <p:spPr/>
        <p:txBody>
          <a:bodyPr/>
          <a:lstStyle/>
          <a:p>
            <a:endParaRPr lang="en-US" dirty="0"/>
          </a:p>
          <a:p>
            <a:r>
              <a:rPr lang="en-US" dirty="0"/>
              <a:t>Operations on large datasets at the same time, much faster than with regular processors, are what vector processors are good at, for use in scientific and engineering datasets.</a:t>
            </a:r>
          </a:p>
        </p:txBody>
      </p:sp>
    </p:spTree>
    <p:extLst>
      <p:ext uri="{BB962C8B-B14F-4D97-AF65-F5344CB8AC3E}">
        <p14:creationId xmlns:p14="http://schemas.microsoft.com/office/powerpoint/2010/main" val="3327733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C93E8-8286-25BD-2B6C-B988C7A0FA26}"/>
              </a:ext>
            </a:extLst>
          </p:cNvPr>
          <p:cNvSpPr>
            <a:spLocks noGrp="1"/>
          </p:cNvSpPr>
          <p:nvPr>
            <p:ph type="title"/>
          </p:nvPr>
        </p:nvSpPr>
        <p:spPr/>
        <p:txBody>
          <a:bodyPr>
            <a:normAutofit fontScale="90000"/>
          </a:bodyPr>
          <a:lstStyle/>
          <a:p>
            <a:r>
              <a:rPr lang="en-US" dirty="0"/>
              <a:t>How does memory-to-memory architecture differ from register-to-register architecture?</a:t>
            </a:r>
          </a:p>
        </p:txBody>
      </p:sp>
      <p:sp>
        <p:nvSpPr>
          <p:cNvPr id="3" name="Content Placeholder 2">
            <a:extLst>
              <a:ext uri="{FF2B5EF4-FFF2-40B4-BE49-F238E27FC236}">
                <a16:creationId xmlns:a16="http://schemas.microsoft.com/office/drawing/2014/main" id="{0DEEC730-87DB-B988-AC8B-54229980CFD2}"/>
              </a:ext>
            </a:extLst>
          </p:cNvPr>
          <p:cNvSpPr>
            <a:spLocks noGrp="1"/>
          </p:cNvSpPr>
          <p:nvPr>
            <p:ph idx="1"/>
          </p:nvPr>
        </p:nvSpPr>
        <p:spPr/>
        <p:txBody>
          <a:bodyPr/>
          <a:lstStyle/>
          <a:p>
            <a:endParaRPr lang="en-US" dirty="0"/>
          </a:p>
          <a:p>
            <a:r>
              <a:rPr lang="en-US" dirty="0"/>
              <a:t>The difference in performance characteristics affects the architectures of memory to memory and register to register memory architecture in which data retrieval is done directly from main memory and to registers respectively.</a:t>
            </a:r>
          </a:p>
          <a:p>
            <a:endParaRPr lang="en-US" dirty="0"/>
          </a:p>
          <a:p>
            <a:endParaRPr lang="en-US" dirty="0"/>
          </a:p>
        </p:txBody>
      </p:sp>
    </p:spTree>
    <p:extLst>
      <p:ext uri="{BB962C8B-B14F-4D97-AF65-F5344CB8AC3E}">
        <p14:creationId xmlns:p14="http://schemas.microsoft.com/office/powerpoint/2010/main" val="2565044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B10AB-A888-7A68-EA10-95BDA1AE2730}"/>
              </a:ext>
            </a:extLst>
          </p:cNvPr>
          <p:cNvSpPr>
            <a:spLocks noGrp="1"/>
          </p:cNvSpPr>
          <p:nvPr>
            <p:ph type="title"/>
          </p:nvPr>
        </p:nvSpPr>
        <p:spPr/>
        <p:txBody>
          <a:bodyPr>
            <a:normAutofit/>
          </a:bodyPr>
          <a:lstStyle/>
          <a:p>
            <a:r>
              <a:rPr lang="pt-BR" b="1" i="0" dirty="0">
                <a:solidFill>
                  <a:srgbClr val="273239"/>
                </a:solidFill>
                <a:effectLst/>
                <a:latin typeface="Source Sans 3"/>
              </a:rPr>
              <a:t>Vector Processor vs Scalar Processor</a:t>
            </a:r>
            <a:endParaRPr lang="en-US" dirty="0"/>
          </a:p>
        </p:txBody>
      </p:sp>
      <p:sp>
        <p:nvSpPr>
          <p:cNvPr id="3" name="Content Placeholder 2">
            <a:extLst>
              <a:ext uri="{FF2B5EF4-FFF2-40B4-BE49-F238E27FC236}">
                <a16:creationId xmlns:a16="http://schemas.microsoft.com/office/drawing/2014/main" id="{DC774A77-E5EC-39ED-D679-6C03B94F224B}"/>
              </a:ext>
            </a:extLst>
          </p:cNvPr>
          <p:cNvSpPr>
            <a:spLocks noGrp="1"/>
          </p:cNvSpPr>
          <p:nvPr>
            <p:ph idx="1"/>
          </p:nvPr>
        </p:nvSpPr>
        <p:spPr/>
        <p:txBody>
          <a:bodyPr/>
          <a:lstStyle/>
          <a:p>
            <a:r>
              <a:rPr lang="en-US" b="0" i="0" dirty="0">
                <a:solidFill>
                  <a:srgbClr val="273239"/>
                </a:solidFill>
                <a:effectLst/>
                <a:latin typeface="Nunito" pitchFamily="2" charset="0"/>
              </a:rPr>
              <a:t>A processor is an essential component of a computer system, responsible for carrying out instructions in order to facilitate various computer operations. Traditionally, processors have been either vector processors or scalar processors, both of which have their own unique set of benefits and drawbacks. Vector processors are designed to complete multiple data operations in one instruction and can provide higher performance than scalar processors. Conversely, scalar processors are designed to carry out one instruction at a time and are more efficient for certain types of operations. In this article, we will discuss the differences between vector processors and scalar processors and how they are used in modern computing.</a:t>
            </a:r>
            <a:endParaRPr lang="en-US" dirty="0"/>
          </a:p>
        </p:txBody>
      </p:sp>
    </p:spTree>
    <p:extLst>
      <p:ext uri="{BB962C8B-B14F-4D97-AF65-F5344CB8AC3E}">
        <p14:creationId xmlns:p14="http://schemas.microsoft.com/office/powerpoint/2010/main" val="2505592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A5760-0E2F-9F72-FBC9-FBBD823CE993}"/>
              </a:ext>
            </a:extLst>
          </p:cNvPr>
          <p:cNvSpPr>
            <a:spLocks noGrp="1"/>
          </p:cNvSpPr>
          <p:nvPr>
            <p:ph type="title"/>
          </p:nvPr>
        </p:nvSpPr>
        <p:spPr/>
        <p:txBody>
          <a:bodyPr/>
          <a:lstStyle/>
          <a:p>
            <a:r>
              <a:rPr lang="en-US" b="1" i="0" dirty="0">
                <a:solidFill>
                  <a:srgbClr val="273239"/>
                </a:solidFill>
                <a:effectLst/>
                <a:latin typeface="Nunito" pitchFamily="2" charset="0"/>
              </a:rPr>
              <a:t>Vector Processor</a:t>
            </a:r>
            <a:endParaRPr lang="en-US" dirty="0"/>
          </a:p>
        </p:txBody>
      </p:sp>
      <p:sp>
        <p:nvSpPr>
          <p:cNvPr id="3" name="Content Placeholder 2">
            <a:extLst>
              <a:ext uri="{FF2B5EF4-FFF2-40B4-BE49-F238E27FC236}">
                <a16:creationId xmlns:a16="http://schemas.microsoft.com/office/drawing/2014/main" id="{C977AB2A-8282-C5EA-B318-4CA949EC6451}"/>
              </a:ext>
            </a:extLst>
          </p:cNvPr>
          <p:cNvSpPr>
            <a:spLocks noGrp="1"/>
          </p:cNvSpPr>
          <p:nvPr>
            <p:ph idx="1"/>
          </p:nvPr>
        </p:nvSpPr>
        <p:spPr/>
        <p:txBody>
          <a:bodyPr/>
          <a:lstStyle/>
          <a:p>
            <a:pPr algn="l" fontAlgn="base">
              <a:spcAft>
                <a:spcPts val="750"/>
              </a:spcAft>
            </a:pPr>
            <a:r>
              <a:rPr lang="en-US" b="0" i="0" dirty="0">
                <a:solidFill>
                  <a:srgbClr val="273239"/>
                </a:solidFill>
                <a:effectLst/>
                <a:latin typeface="Nunito" pitchFamily="2" charset="0"/>
              </a:rPr>
              <a:t>A vector processor is a type of processor that can process multiple data elements at once. It is capable of performing operations on a vector of data elements in parallel. Vector processors are particularly useful for tasks such as image and video processing, where large amounts of data need to be processed in parallel. Vector processors are also used in scientific computing, where they are used to accelerate the processing of complex algorithms.</a:t>
            </a:r>
          </a:p>
        </p:txBody>
      </p:sp>
    </p:spTree>
    <p:extLst>
      <p:ext uri="{BB962C8B-B14F-4D97-AF65-F5344CB8AC3E}">
        <p14:creationId xmlns:p14="http://schemas.microsoft.com/office/powerpoint/2010/main" val="247881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D174D-2D74-EBE7-6109-195618BBB47B}"/>
              </a:ext>
            </a:extLst>
          </p:cNvPr>
          <p:cNvSpPr>
            <a:spLocks noGrp="1"/>
          </p:cNvSpPr>
          <p:nvPr>
            <p:ph type="title"/>
          </p:nvPr>
        </p:nvSpPr>
        <p:spPr/>
        <p:txBody>
          <a:bodyPr/>
          <a:lstStyle/>
          <a:p>
            <a:r>
              <a:rPr lang="en-US" b="1" i="0" dirty="0">
                <a:solidFill>
                  <a:srgbClr val="273239"/>
                </a:solidFill>
                <a:effectLst/>
                <a:latin typeface="Nunito" pitchFamily="2" charset="0"/>
              </a:rPr>
              <a:t>Characteristics of Vector Processor</a:t>
            </a:r>
            <a:endParaRPr lang="en-US" dirty="0"/>
          </a:p>
        </p:txBody>
      </p:sp>
      <p:sp>
        <p:nvSpPr>
          <p:cNvPr id="3" name="Content Placeholder 2">
            <a:extLst>
              <a:ext uri="{FF2B5EF4-FFF2-40B4-BE49-F238E27FC236}">
                <a16:creationId xmlns:a16="http://schemas.microsoft.com/office/drawing/2014/main" id="{C98932D3-C64F-89F0-F3CE-2CAA9411293C}"/>
              </a:ext>
            </a:extLst>
          </p:cNvPr>
          <p:cNvSpPr>
            <a:spLocks noGrp="1"/>
          </p:cNvSpPr>
          <p:nvPr>
            <p:ph idx="1"/>
          </p:nvPr>
        </p:nvSpPr>
        <p:spPr/>
        <p:txBody>
          <a:bodyPr>
            <a:normAutofit/>
          </a:bodyPr>
          <a:lstStyle/>
          <a:p>
            <a:pPr marL="457200" indent="-285750" algn="l" fontAlgn="base">
              <a:spcBef>
                <a:spcPts val="0"/>
              </a:spcBef>
              <a:spcAft>
                <a:spcPts val="0"/>
              </a:spcAft>
              <a:buFont typeface="Arial" panose="020B0604020202020204" pitchFamily="34" charset="0"/>
              <a:buChar char="•"/>
            </a:pPr>
            <a:r>
              <a:rPr lang="en-US" b="0" i="0" dirty="0">
                <a:solidFill>
                  <a:srgbClr val="273239"/>
                </a:solidFill>
                <a:effectLst/>
                <a:latin typeface="Nunito" pitchFamily="2" charset="0"/>
              </a:rPr>
              <a:t>Vector Processors are designed to process multiple data elements in parallel, while Scalar Processors process one data element at a time.</a:t>
            </a:r>
          </a:p>
          <a:p>
            <a:pPr marL="457200" indent="-285750" algn="l" fontAlgn="base">
              <a:spcBef>
                <a:spcPts val="0"/>
              </a:spcBef>
              <a:spcAft>
                <a:spcPts val="0"/>
              </a:spcAft>
              <a:buFont typeface="Arial" panose="020B0604020202020204" pitchFamily="34" charset="0"/>
              <a:buChar char="•"/>
            </a:pPr>
            <a:r>
              <a:rPr lang="en-US" b="0" i="0" dirty="0">
                <a:solidFill>
                  <a:srgbClr val="273239"/>
                </a:solidFill>
                <a:effectLst/>
                <a:latin typeface="Nunito" pitchFamily="2" charset="0"/>
              </a:rPr>
              <a:t>Vector Processors can be more efficient, as they can complete a given task with fewer instructions than a Scalar Processor.</a:t>
            </a:r>
          </a:p>
          <a:p>
            <a:pPr marL="457200" indent="-285750" algn="l" fontAlgn="base">
              <a:spcBef>
                <a:spcPts val="0"/>
              </a:spcBef>
              <a:spcAft>
                <a:spcPts val="0"/>
              </a:spcAft>
              <a:buFont typeface="Arial" panose="020B0604020202020204" pitchFamily="34" charset="0"/>
              <a:buChar char="•"/>
            </a:pPr>
            <a:r>
              <a:rPr lang="en-US" b="0" i="0" dirty="0">
                <a:solidFill>
                  <a:srgbClr val="273239"/>
                </a:solidFill>
                <a:effectLst/>
                <a:latin typeface="Nunito" pitchFamily="2" charset="0"/>
              </a:rPr>
              <a:t>Vector Processors are more complex than Scalar Processors, and require more memory and power to operate.</a:t>
            </a:r>
          </a:p>
          <a:p>
            <a:pPr marL="457200" indent="-285750" algn="l" fontAlgn="base">
              <a:spcBef>
                <a:spcPts val="0"/>
              </a:spcBef>
              <a:spcAft>
                <a:spcPts val="0"/>
              </a:spcAft>
              <a:buFont typeface="Arial" panose="020B0604020202020204" pitchFamily="34" charset="0"/>
              <a:buChar char="•"/>
            </a:pPr>
            <a:r>
              <a:rPr lang="en-US" b="0" i="0" dirty="0">
                <a:solidFill>
                  <a:srgbClr val="273239"/>
                </a:solidFill>
                <a:effectLst/>
                <a:latin typeface="Nunito" pitchFamily="2" charset="0"/>
              </a:rPr>
              <a:t>Vector Processors are used for more demanding tasks, such as scientific calculations and 3D game rendering, while Scalar Processors are used for simpler tasks, such as basic calculations and web browsing.</a:t>
            </a:r>
          </a:p>
          <a:p>
            <a:pPr marL="457200" indent="-285750" algn="l" fontAlgn="base">
              <a:spcBef>
                <a:spcPts val="0"/>
              </a:spcBef>
              <a:spcAft>
                <a:spcPts val="0"/>
              </a:spcAft>
              <a:buFont typeface="Arial" panose="020B0604020202020204" pitchFamily="34" charset="0"/>
              <a:buChar char="•"/>
            </a:pPr>
            <a:r>
              <a:rPr lang="en-US" b="0" i="0" dirty="0">
                <a:solidFill>
                  <a:srgbClr val="273239"/>
                </a:solidFill>
                <a:effectLst/>
                <a:latin typeface="Nunito" pitchFamily="2" charset="0"/>
              </a:rPr>
              <a:t>Vector Processors are more suitable for data-intensive applications, while Scalar Processors are better suited for applications that require fewer calculations.</a:t>
            </a:r>
          </a:p>
          <a:p>
            <a:pPr marL="457200" indent="-285750" algn="l" fontAlgn="base">
              <a:spcBef>
                <a:spcPts val="0"/>
              </a:spcBef>
              <a:spcAft>
                <a:spcPts val="0"/>
              </a:spcAft>
              <a:buFont typeface="Arial" panose="020B0604020202020204" pitchFamily="34" charset="0"/>
              <a:buChar char="•"/>
            </a:pPr>
            <a:r>
              <a:rPr lang="en-US" b="0" i="0" dirty="0">
                <a:solidFill>
                  <a:srgbClr val="273239"/>
                </a:solidFill>
                <a:effectLst/>
                <a:latin typeface="Nunito" pitchFamily="2" charset="0"/>
              </a:rPr>
              <a:t>Vector Processors can be more expensive than Scalar Processors, as they require more complex hardware and software.</a:t>
            </a:r>
          </a:p>
          <a:p>
            <a:endParaRPr lang="en-US" dirty="0"/>
          </a:p>
        </p:txBody>
      </p:sp>
    </p:spTree>
    <p:extLst>
      <p:ext uri="{BB962C8B-B14F-4D97-AF65-F5344CB8AC3E}">
        <p14:creationId xmlns:p14="http://schemas.microsoft.com/office/powerpoint/2010/main" val="3069393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2C1F-E0C2-9260-77A3-FB325AE187EC}"/>
              </a:ext>
            </a:extLst>
          </p:cNvPr>
          <p:cNvSpPr>
            <a:spLocks noGrp="1"/>
          </p:cNvSpPr>
          <p:nvPr>
            <p:ph type="title"/>
          </p:nvPr>
        </p:nvSpPr>
        <p:spPr/>
        <p:txBody>
          <a:bodyPr/>
          <a:lstStyle/>
          <a:p>
            <a:r>
              <a:rPr lang="en-US" b="1" i="0" dirty="0">
                <a:solidFill>
                  <a:srgbClr val="273239"/>
                </a:solidFill>
                <a:effectLst/>
                <a:latin typeface="Nunito" pitchFamily="2" charset="0"/>
              </a:rPr>
              <a:t>Applications of Vector Processor</a:t>
            </a:r>
            <a:endParaRPr lang="en-US" dirty="0"/>
          </a:p>
        </p:txBody>
      </p:sp>
      <p:sp>
        <p:nvSpPr>
          <p:cNvPr id="3" name="Content Placeholder 2">
            <a:extLst>
              <a:ext uri="{FF2B5EF4-FFF2-40B4-BE49-F238E27FC236}">
                <a16:creationId xmlns:a16="http://schemas.microsoft.com/office/drawing/2014/main" id="{6F45A190-6045-5A73-78D6-F3BE44193672}"/>
              </a:ext>
            </a:extLst>
          </p:cNvPr>
          <p:cNvSpPr>
            <a:spLocks noGrp="1"/>
          </p:cNvSpPr>
          <p:nvPr>
            <p:ph idx="1"/>
          </p:nvPr>
        </p:nvSpPr>
        <p:spPr/>
        <p:txBody>
          <a:bodyPr>
            <a:normAutofit fontScale="92500" lnSpcReduction="20000"/>
          </a:bodyPr>
          <a:lstStyle/>
          <a:p>
            <a:pPr marL="342900" indent="-2857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Computer-Aided Design (CAD): </a:t>
            </a:r>
            <a:r>
              <a:rPr lang="en-US" b="0" i="0" dirty="0">
                <a:solidFill>
                  <a:srgbClr val="273239"/>
                </a:solidFill>
                <a:effectLst/>
                <a:latin typeface="Nunito" pitchFamily="2" charset="0"/>
              </a:rPr>
              <a:t>CAD software allows for the creation of realistic 3D models, which can be used for product design, engineering, and architecture. Vector processor power makes it easier to manipulate complex models and make changes quickly.</a:t>
            </a:r>
          </a:p>
          <a:p>
            <a:pPr marL="342900" indent="-2857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Image Processing: </a:t>
            </a:r>
            <a:r>
              <a:rPr lang="en-US" b="0" i="0" dirty="0">
                <a:solidFill>
                  <a:srgbClr val="273239"/>
                </a:solidFill>
                <a:effectLst/>
                <a:latin typeface="Nunito" pitchFamily="2" charset="0"/>
              </a:rPr>
              <a:t>Vector processors are used to manipulating and analyzing images. This can include tasks such as edge detection, object recognition, and facial recognition.</a:t>
            </a:r>
          </a:p>
          <a:p>
            <a:pPr marL="342900" indent="-2857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Virtual Reality: </a:t>
            </a:r>
            <a:r>
              <a:rPr lang="en-US" b="0" i="0" dirty="0">
                <a:solidFill>
                  <a:srgbClr val="273239"/>
                </a:solidFill>
                <a:effectLst/>
                <a:latin typeface="Nunito" pitchFamily="2" charset="0"/>
              </a:rPr>
              <a:t>Vector processors are used to rendering realistic 3D graphics in virtual reality applications. This allows users to experience a more immersive experience when interacting with virtual worlds.</a:t>
            </a:r>
          </a:p>
          <a:p>
            <a:pPr marL="342900" indent="-2857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Scientific Computing: </a:t>
            </a:r>
            <a:r>
              <a:rPr lang="en-US" b="0" i="0" dirty="0">
                <a:solidFill>
                  <a:srgbClr val="273239"/>
                </a:solidFill>
                <a:effectLst/>
                <a:latin typeface="Nunito" pitchFamily="2" charset="0"/>
              </a:rPr>
              <a:t>Vector processors are used to performing complex calculations in scientific computing applications. This can include tasks such as calculating weather patterns or complex simulations.</a:t>
            </a:r>
          </a:p>
          <a:p>
            <a:pPr marL="342900" indent="-2857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Artificial Intelligence: </a:t>
            </a:r>
            <a:r>
              <a:rPr lang="en-US" b="0" i="0" dirty="0">
                <a:solidFill>
                  <a:srgbClr val="273239"/>
                </a:solidFill>
                <a:effectLst/>
                <a:latin typeface="Nunito" pitchFamily="2" charset="0"/>
              </a:rPr>
              <a:t>Vector processors are used to helping train and run neural networks for artificial intelligence applications. This can include tasks such as facial recognition, object recognition, and natural language processing.</a:t>
            </a:r>
          </a:p>
          <a:p>
            <a:pPr marL="342900" indent="-2857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Data Analysis: </a:t>
            </a:r>
            <a:r>
              <a:rPr lang="en-US" b="0" i="0" dirty="0">
                <a:solidFill>
                  <a:srgbClr val="273239"/>
                </a:solidFill>
                <a:effectLst/>
                <a:latin typeface="Nunito" pitchFamily="2" charset="0"/>
              </a:rPr>
              <a:t>Vector processors are used to analyzing large amounts of data quickly. This can include tasks such as analyzing customer data or financial data.</a:t>
            </a:r>
          </a:p>
        </p:txBody>
      </p:sp>
    </p:spTree>
    <p:extLst>
      <p:ext uri="{BB962C8B-B14F-4D97-AF65-F5344CB8AC3E}">
        <p14:creationId xmlns:p14="http://schemas.microsoft.com/office/powerpoint/2010/main" val="890352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612A9-A1C0-398D-0807-FC3625F16539}"/>
              </a:ext>
            </a:extLst>
          </p:cNvPr>
          <p:cNvSpPr>
            <a:spLocks noGrp="1"/>
          </p:cNvSpPr>
          <p:nvPr>
            <p:ph type="title"/>
          </p:nvPr>
        </p:nvSpPr>
        <p:spPr/>
        <p:txBody>
          <a:bodyPr/>
          <a:lstStyle/>
          <a:p>
            <a:r>
              <a:rPr lang="en-US" b="1" i="0" dirty="0">
                <a:solidFill>
                  <a:srgbClr val="273239"/>
                </a:solidFill>
                <a:effectLst/>
                <a:latin typeface="Nunito" pitchFamily="2" charset="0"/>
              </a:rPr>
              <a:t>Scalar Processor</a:t>
            </a:r>
            <a:endParaRPr lang="en-US" dirty="0"/>
          </a:p>
        </p:txBody>
      </p:sp>
      <p:sp>
        <p:nvSpPr>
          <p:cNvPr id="3" name="Content Placeholder 2">
            <a:extLst>
              <a:ext uri="{FF2B5EF4-FFF2-40B4-BE49-F238E27FC236}">
                <a16:creationId xmlns:a16="http://schemas.microsoft.com/office/drawing/2014/main" id="{21B6C7F1-DF8A-731F-8748-50AB0B8993BE}"/>
              </a:ext>
            </a:extLst>
          </p:cNvPr>
          <p:cNvSpPr>
            <a:spLocks noGrp="1"/>
          </p:cNvSpPr>
          <p:nvPr>
            <p:ph idx="1"/>
          </p:nvPr>
        </p:nvSpPr>
        <p:spPr/>
        <p:txBody>
          <a:bodyPr/>
          <a:lstStyle/>
          <a:p>
            <a:pPr algn="l" fontAlgn="base">
              <a:spcAft>
                <a:spcPts val="750"/>
              </a:spcAft>
            </a:pPr>
            <a:r>
              <a:rPr lang="en-US" b="0" i="0" dirty="0">
                <a:solidFill>
                  <a:srgbClr val="273239"/>
                </a:solidFill>
                <a:effectLst/>
                <a:latin typeface="Nunito" pitchFamily="2" charset="0"/>
              </a:rPr>
              <a:t>A scalar processor is a type of processor that can process one data element at a time. Scalar processors are typically used for general-purpose computing tasks, such as word processing and spreadsheets. Compared to vector processors, scalar processors are less powerful and slower, but they are cheaper and more energy-efficient.</a:t>
            </a:r>
          </a:p>
          <a:p>
            <a:endParaRPr lang="en-US" dirty="0"/>
          </a:p>
        </p:txBody>
      </p:sp>
    </p:spTree>
    <p:extLst>
      <p:ext uri="{BB962C8B-B14F-4D97-AF65-F5344CB8AC3E}">
        <p14:creationId xmlns:p14="http://schemas.microsoft.com/office/powerpoint/2010/main" val="3149558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12DE-3A8F-D3C9-3775-3BDE3B2533B1}"/>
              </a:ext>
            </a:extLst>
          </p:cNvPr>
          <p:cNvSpPr>
            <a:spLocks noGrp="1"/>
          </p:cNvSpPr>
          <p:nvPr>
            <p:ph type="title"/>
          </p:nvPr>
        </p:nvSpPr>
        <p:spPr/>
        <p:txBody>
          <a:bodyPr/>
          <a:lstStyle/>
          <a:p>
            <a:r>
              <a:rPr lang="en-US" b="1" i="0" dirty="0">
                <a:solidFill>
                  <a:srgbClr val="273239"/>
                </a:solidFill>
                <a:effectLst/>
                <a:latin typeface="Nunito" pitchFamily="2" charset="0"/>
              </a:rPr>
              <a:t>Characteristics of Scalar Processor</a:t>
            </a:r>
            <a:endParaRPr lang="en-US" dirty="0"/>
          </a:p>
        </p:txBody>
      </p:sp>
      <p:sp>
        <p:nvSpPr>
          <p:cNvPr id="3" name="Content Placeholder 2">
            <a:extLst>
              <a:ext uri="{FF2B5EF4-FFF2-40B4-BE49-F238E27FC236}">
                <a16:creationId xmlns:a16="http://schemas.microsoft.com/office/drawing/2014/main" id="{A896E65D-8CCA-57BF-3C2B-4C57886E48D1}"/>
              </a:ext>
            </a:extLst>
          </p:cNvPr>
          <p:cNvSpPr>
            <a:spLocks noGrp="1"/>
          </p:cNvSpPr>
          <p:nvPr>
            <p:ph idx="1"/>
          </p:nvPr>
        </p:nvSpPr>
        <p:spPr/>
        <p:txBody>
          <a:bodyPr>
            <a:normAutofit fontScale="92500" lnSpcReduction="10000"/>
          </a:bodyPr>
          <a:lstStyle/>
          <a:p>
            <a:pPr marL="457200" indent="-400050" algn="l" fontAlgn="base">
              <a:spcAft>
                <a:spcPts val="1800"/>
              </a:spcAft>
              <a:buFont typeface="Arial" panose="020B0604020202020204" pitchFamily="34" charset="0"/>
              <a:buChar char="•"/>
            </a:pPr>
            <a:r>
              <a:rPr lang="en-US" b="0" i="0" dirty="0">
                <a:solidFill>
                  <a:srgbClr val="273239"/>
                </a:solidFill>
                <a:effectLst/>
                <a:latin typeface="Nunito" pitchFamily="2" charset="0"/>
              </a:rPr>
              <a:t>Scalar processors deliver high-performance capabilities, capable of executing multiple instructions simultaneously.</a:t>
            </a:r>
          </a:p>
          <a:p>
            <a:pPr marL="457200" indent="-400050" algn="l" fontAlgn="base">
              <a:spcAft>
                <a:spcPts val="1800"/>
              </a:spcAft>
              <a:buFont typeface="Arial" panose="020B0604020202020204" pitchFamily="34" charset="0"/>
              <a:buChar char="•"/>
            </a:pPr>
            <a:r>
              <a:rPr lang="en-US" b="0" i="0" dirty="0">
                <a:solidFill>
                  <a:srgbClr val="273239"/>
                </a:solidFill>
                <a:effectLst/>
                <a:latin typeface="Nunito" pitchFamily="2" charset="0"/>
              </a:rPr>
              <a:t>Scalar processors execute a single instruction in one clock cycle.</a:t>
            </a:r>
          </a:p>
          <a:p>
            <a:pPr marL="457200" indent="-400050" algn="l" fontAlgn="base">
              <a:spcAft>
                <a:spcPts val="1800"/>
              </a:spcAft>
              <a:buFont typeface="Arial" panose="020B0604020202020204" pitchFamily="34" charset="0"/>
              <a:buChar char="•"/>
            </a:pPr>
            <a:r>
              <a:rPr lang="en-US" b="0" i="0" dirty="0">
                <a:solidFill>
                  <a:srgbClr val="273239"/>
                </a:solidFill>
                <a:effectLst/>
                <a:latin typeface="Nunito" pitchFamily="2" charset="0"/>
              </a:rPr>
              <a:t>Scalar processors are relatively low-cost compared to other types of processors.</a:t>
            </a:r>
          </a:p>
          <a:p>
            <a:pPr marL="457200" indent="-400050" algn="l" fontAlgn="base">
              <a:spcAft>
                <a:spcPts val="1800"/>
              </a:spcAft>
              <a:buFont typeface="Arial" panose="020B0604020202020204" pitchFamily="34" charset="0"/>
              <a:buChar char="•"/>
            </a:pPr>
            <a:r>
              <a:rPr lang="en-US" b="0" i="0" dirty="0">
                <a:solidFill>
                  <a:srgbClr val="273239"/>
                </a:solidFill>
                <a:effectLst/>
                <a:latin typeface="Nunito" pitchFamily="2" charset="0"/>
              </a:rPr>
              <a:t>Scalar processors have low power consumption, making them more efficient and cost-effective.</a:t>
            </a:r>
          </a:p>
          <a:p>
            <a:pPr marL="457200" indent="-400050" algn="l" fontAlgn="base">
              <a:spcAft>
                <a:spcPts val="1800"/>
              </a:spcAft>
              <a:buFont typeface="Arial" panose="020B0604020202020204" pitchFamily="34" charset="0"/>
              <a:buChar char="•"/>
            </a:pPr>
            <a:r>
              <a:rPr lang="en-US" b="0" i="0" dirty="0">
                <a:solidFill>
                  <a:srgbClr val="273239"/>
                </a:solidFill>
                <a:effectLst/>
                <a:latin typeface="Nunito" pitchFamily="2" charset="0"/>
              </a:rPr>
              <a:t>Scalar processors are highly flexible and can be used to solve a variety of problems.</a:t>
            </a:r>
          </a:p>
          <a:p>
            <a:pPr marL="457200" indent="-400050" algn="l" fontAlgn="base">
              <a:spcAft>
                <a:spcPts val="1800"/>
              </a:spcAft>
              <a:buFont typeface="Arial" panose="020B0604020202020204" pitchFamily="34" charset="0"/>
              <a:buChar char="•"/>
            </a:pPr>
            <a:r>
              <a:rPr lang="en-US" b="0" i="0" dirty="0">
                <a:solidFill>
                  <a:srgbClr val="273239"/>
                </a:solidFill>
                <a:effectLst/>
                <a:latin typeface="Nunito" pitchFamily="2" charset="0"/>
              </a:rPr>
              <a:t>Scalar processors are relatively simple in design and are easy to program and maintain.</a:t>
            </a:r>
          </a:p>
        </p:txBody>
      </p:sp>
    </p:spTree>
    <p:extLst>
      <p:ext uri="{BB962C8B-B14F-4D97-AF65-F5344CB8AC3E}">
        <p14:creationId xmlns:p14="http://schemas.microsoft.com/office/powerpoint/2010/main" val="25405278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46C3C-B40A-7E47-F009-62B3986302CA}"/>
              </a:ext>
            </a:extLst>
          </p:cNvPr>
          <p:cNvSpPr>
            <a:spLocks noGrp="1"/>
          </p:cNvSpPr>
          <p:nvPr>
            <p:ph type="title"/>
          </p:nvPr>
        </p:nvSpPr>
        <p:spPr/>
        <p:txBody>
          <a:bodyPr/>
          <a:lstStyle/>
          <a:p>
            <a:r>
              <a:rPr lang="en-US" b="1" i="0" dirty="0">
                <a:solidFill>
                  <a:srgbClr val="273239"/>
                </a:solidFill>
                <a:effectLst/>
                <a:latin typeface="Nunito" pitchFamily="2" charset="0"/>
              </a:rPr>
              <a:t>Advantages of Scalar Processor</a:t>
            </a:r>
            <a:endParaRPr lang="en-US" dirty="0"/>
          </a:p>
        </p:txBody>
      </p:sp>
      <p:sp>
        <p:nvSpPr>
          <p:cNvPr id="3" name="Content Placeholder 2">
            <a:extLst>
              <a:ext uri="{FF2B5EF4-FFF2-40B4-BE49-F238E27FC236}">
                <a16:creationId xmlns:a16="http://schemas.microsoft.com/office/drawing/2014/main" id="{99EBABC0-EF11-6BBA-55FA-ED8CC3E9B764}"/>
              </a:ext>
            </a:extLst>
          </p:cNvPr>
          <p:cNvSpPr>
            <a:spLocks noGrp="1"/>
          </p:cNvSpPr>
          <p:nvPr>
            <p:ph idx="1"/>
          </p:nvPr>
        </p:nvSpPr>
        <p:spPr/>
        <p:txBody>
          <a:bodyPr>
            <a:normAutofit/>
          </a:bodyPr>
          <a:lstStyle/>
          <a:p>
            <a:pPr marL="457200" indent="-4000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Low Cost: </a:t>
            </a:r>
            <a:r>
              <a:rPr lang="en-US" b="0" i="0" dirty="0">
                <a:solidFill>
                  <a:srgbClr val="273239"/>
                </a:solidFill>
                <a:effectLst/>
                <a:latin typeface="Nunito" pitchFamily="2" charset="0"/>
              </a:rPr>
              <a:t>Scalar processors are typically much cheaper than vector processors, making them more accessible to many people.</a:t>
            </a:r>
          </a:p>
          <a:p>
            <a:pPr marL="457200" indent="-4000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Low Power Consumption:</a:t>
            </a:r>
            <a:r>
              <a:rPr lang="en-US" b="0" i="0" dirty="0">
                <a:solidFill>
                  <a:srgbClr val="273239"/>
                </a:solidFill>
                <a:effectLst/>
                <a:latin typeface="Nunito" pitchFamily="2" charset="0"/>
              </a:rPr>
              <a:t> Scalar processors are much more efficient than vector processors, reducing the amount of power needed to operate them.</a:t>
            </a:r>
          </a:p>
          <a:p>
            <a:pPr marL="457200" indent="-4000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Easier to Program:</a:t>
            </a:r>
            <a:r>
              <a:rPr lang="en-US" b="0" i="0" dirty="0">
                <a:solidFill>
                  <a:srgbClr val="273239"/>
                </a:solidFill>
                <a:effectLst/>
                <a:latin typeface="Nunito" pitchFamily="2" charset="0"/>
              </a:rPr>
              <a:t> Scalar processors are simpler to program than vector processors, making them easier to use for novice programmers.</a:t>
            </a:r>
          </a:p>
          <a:p>
            <a:pPr marL="457200" indent="-4000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Flexible:</a:t>
            </a:r>
            <a:r>
              <a:rPr lang="en-US" b="0" i="0" dirty="0">
                <a:solidFill>
                  <a:srgbClr val="273239"/>
                </a:solidFill>
                <a:effectLst/>
                <a:latin typeface="Nunito" pitchFamily="2" charset="0"/>
              </a:rPr>
              <a:t> Scalar processors are more flexible than vector processors, allowing them to be used in a variety of applications.</a:t>
            </a:r>
          </a:p>
          <a:p>
            <a:pPr marL="457200" indent="-4000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High Clock Speed:</a:t>
            </a:r>
            <a:r>
              <a:rPr lang="en-US" b="0" i="0" dirty="0">
                <a:solidFill>
                  <a:srgbClr val="273239"/>
                </a:solidFill>
                <a:effectLst/>
                <a:latin typeface="Nunito" pitchFamily="2" charset="0"/>
              </a:rPr>
              <a:t> Scalar processors are able to process instructions at a much faster rate than vector processors, increasing the speed of computations.</a:t>
            </a:r>
          </a:p>
          <a:p>
            <a:pPr marL="457200" indent="-40005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Good for Single-Threaded Tasks:</a:t>
            </a:r>
            <a:r>
              <a:rPr lang="en-US" b="0" i="0" dirty="0">
                <a:solidFill>
                  <a:srgbClr val="273239"/>
                </a:solidFill>
                <a:effectLst/>
                <a:latin typeface="Nunito" pitchFamily="2" charset="0"/>
              </a:rPr>
              <a:t> Scalar processors are better suited for single-threaded tasks, as they can process one operation at a time.</a:t>
            </a:r>
          </a:p>
          <a:p>
            <a:endParaRPr lang="en-US" dirty="0"/>
          </a:p>
        </p:txBody>
      </p:sp>
    </p:spTree>
    <p:extLst>
      <p:ext uri="{BB962C8B-B14F-4D97-AF65-F5344CB8AC3E}">
        <p14:creationId xmlns:p14="http://schemas.microsoft.com/office/powerpoint/2010/main" val="1484512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6EE18-D58C-BFC0-C45C-EAA8C98CDE13}"/>
              </a:ext>
            </a:extLst>
          </p:cNvPr>
          <p:cNvSpPr>
            <a:spLocks noGrp="1"/>
          </p:cNvSpPr>
          <p:nvPr>
            <p:ph type="title"/>
          </p:nvPr>
        </p:nvSpPr>
        <p:spPr/>
        <p:txBody>
          <a:bodyPr/>
          <a:lstStyle/>
          <a:p>
            <a:r>
              <a:rPr lang="en-US" b="1" i="0" dirty="0">
                <a:solidFill>
                  <a:srgbClr val="273239"/>
                </a:solidFill>
                <a:effectLst/>
                <a:latin typeface="Nunito" pitchFamily="2" charset="0"/>
              </a:rPr>
              <a:t>Limitations of Scalar Processor</a:t>
            </a:r>
            <a:endParaRPr lang="en-US" dirty="0"/>
          </a:p>
        </p:txBody>
      </p:sp>
      <p:sp>
        <p:nvSpPr>
          <p:cNvPr id="3" name="Content Placeholder 2">
            <a:extLst>
              <a:ext uri="{FF2B5EF4-FFF2-40B4-BE49-F238E27FC236}">
                <a16:creationId xmlns:a16="http://schemas.microsoft.com/office/drawing/2014/main" id="{7E9282B6-5842-90B7-3990-B3FA88BA135B}"/>
              </a:ext>
            </a:extLst>
          </p:cNvPr>
          <p:cNvSpPr>
            <a:spLocks noGrp="1"/>
          </p:cNvSpPr>
          <p:nvPr>
            <p:ph idx="1"/>
          </p:nvPr>
        </p:nvSpPr>
        <p:spPr/>
        <p:txBody>
          <a:bodyPr>
            <a:normAutofit fontScale="92500" lnSpcReduction="10000"/>
          </a:bodyPr>
          <a:lstStyle/>
          <a:p>
            <a:pPr marL="45720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Memory Bandwidth: </a:t>
            </a:r>
            <a:r>
              <a:rPr lang="en-US" b="0" i="0" dirty="0">
                <a:solidFill>
                  <a:srgbClr val="273239"/>
                </a:solidFill>
                <a:effectLst/>
                <a:latin typeface="Nunito" pitchFamily="2" charset="0"/>
              </a:rPr>
              <a:t>Scalar processors are limited by the amount of memory bandwidth available.</a:t>
            </a:r>
          </a:p>
          <a:p>
            <a:pPr marL="45720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Instruction Set: </a:t>
            </a:r>
            <a:r>
              <a:rPr lang="en-US" b="0" i="0" dirty="0">
                <a:solidFill>
                  <a:srgbClr val="273239"/>
                </a:solidFill>
                <a:effectLst/>
                <a:latin typeface="Nunito" pitchFamily="2" charset="0"/>
              </a:rPr>
              <a:t>Scalar processors typically have limited instruction sets and lack features found in modern processors.</a:t>
            </a:r>
          </a:p>
          <a:p>
            <a:pPr marL="45720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Performance: </a:t>
            </a:r>
            <a:r>
              <a:rPr lang="en-US" b="0" i="0" dirty="0">
                <a:solidFill>
                  <a:srgbClr val="273239"/>
                </a:solidFill>
                <a:effectLst/>
                <a:latin typeface="Nunito" pitchFamily="2" charset="0"/>
              </a:rPr>
              <a:t>Scalar processors are often limited in their performance due to their single-instruction execution.</a:t>
            </a:r>
          </a:p>
          <a:p>
            <a:pPr marL="45720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Compatibility: </a:t>
            </a:r>
            <a:r>
              <a:rPr lang="en-US" b="0" i="0" dirty="0">
                <a:solidFill>
                  <a:srgbClr val="273239"/>
                </a:solidFill>
                <a:effectLst/>
                <a:latin typeface="Nunito" pitchFamily="2" charset="0"/>
              </a:rPr>
              <a:t>Scalar processors are often limited in their compatibility with vector processors due to their different instruction sets.</a:t>
            </a:r>
          </a:p>
          <a:p>
            <a:pPr marL="45720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Processing Speed:</a:t>
            </a:r>
            <a:r>
              <a:rPr lang="en-US" b="0" i="0" dirty="0">
                <a:solidFill>
                  <a:srgbClr val="273239"/>
                </a:solidFill>
                <a:effectLst/>
                <a:latin typeface="Nunito" pitchFamily="2" charset="0"/>
              </a:rPr>
              <a:t> Scalar processors are typically slower than vector processors.</a:t>
            </a:r>
          </a:p>
          <a:p>
            <a:endParaRPr lang="en-US" dirty="0"/>
          </a:p>
        </p:txBody>
      </p:sp>
    </p:spTree>
    <p:extLst>
      <p:ext uri="{BB962C8B-B14F-4D97-AF65-F5344CB8AC3E}">
        <p14:creationId xmlns:p14="http://schemas.microsoft.com/office/powerpoint/2010/main" val="1691653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DC2B5-6D86-17CE-8F6C-6ED69FAA3099}"/>
              </a:ext>
            </a:extLst>
          </p:cNvPr>
          <p:cNvSpPr>
            <a:spLocks noGrp="1"/>
          </p:cNvSpPr>
          <p:nvPr>
            <p:ph type="title"/>
          </p:nvPr>
        </p:nvSpPr>
        <p:spPr/>
        <p:txBody>
          <a:bodyPr/>
          <a:lstStyle/>
          <a:p>
            <a:r>
              <a:rPr lang="en-US" b="1" i="0" dirty="0">
                <a:solidFill>
                  <a:srgbClr val="273239"/>
                </a:solidFill>
                <a:effectLst/>
                <a:latin typeface="Nunito" pitchFamily="2" charset="0"/>
              </a:rPr>
              <a:t>Applications of Scalar Processor</a:t>
            </a:r>
            <a:endParaRPr lang="en-US" dirty="0"/>
          </a:p>
        </p:txBody>
      </p:sp>
      <p:sp>
        <p:nvSpPr>
          <p:cNvPr id="3" name="Content Placeholder 2">
            <a:extLst>
              <a:ext uri="{FF2B5EF4-FFF2-40B4-BE49-F238E27FC236}">
                <a16:creationId xmlns:a16="http://schemas.microsoft.com/office/drawing/2014/main" id="{FF01CC4A-B754-F8DB-CFF1-4166EBD2F01F}"/>
              </a:ext>
            </a:extLst>
          </p:cNvPr>
          <p:cNvSpPr>
            <a:spLocks noGrp="1"/>
          </p:cNvSpPr>
          <p:nvPr>
            <p:ph idx="1"/>
          </p:nvPr>
        </p:nvSpPr>
        <p:spPr/>
        <p:txBody>
          <a:bodyPr>
            <a:normAutofit lnSpcReduction="10000"/>
          </a:bodyPr>
          <a:lstStyle/>
          <a:p>
            <a:pPr marL="400050" indent="-34290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Video Games: </a:t>
            </a:r>
            <a:r>
              <a:rPr lang="en-US" b="0" i="0" dirty="0">
                <a:solidFill>
                  <a:srgbClr val="273239"/>
                </a:solidFill>
                <a:effectLst/>
                <a:latin typeface="Nunito" pitchFamily="2" charset="0"/>
              </a:rPr>
              <a:t>Scalar processors are used to rendering 3D graphics for video games. This allows for faster and more realistic graphics, which can enhance the gaming experience.</a:t>
            </a:r>
          </a:p>
          <a:p>
            <a:pPr marL="400050" indent="-34290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Web Browsing: </a:t>
            </a:r>
            <a:r>
              <a:rPr lang="en-US" b="0" i="0" dirty="0">
                <a:solidFill>
                  <a:srgbClr val="273239"/>
                </a:solidFill>
                <a:effectLst/>
                <a:latin typeface="Nunito" pitchFamily="2" charset="0"/>
              </a:rPr>
              <a:t>Scalar processors are used to rendering webpages quickly and accurately. This allows for a smoother and faster browsing experience.</a:t>
            </a:r>
          </a:p>
          <a:p>
            <a:pPr marL="400050" indent="-34290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Office Applications: </a:t>
            </a:r>
            <a:r>
              <a:rPr lang="en-US" b="0" i="0" dirty="0">
                <a:solidFill>
                  <a:srgbClr val="273239"/>
                </a:solidFill>
                <a:effectLst/>
                <a:latin typeface="Nunito" pitchFamily="2" charset="0"/>
              </a:rPr>
              <a:t>Scalar processors are used to rendering documents and spreadsheets quickly. This allows for faster and more efficient document editing.</a:t>
            </a:r>
          </a:p>
          <a:p>
            <a:pPr marL="400050" indent="-34290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Graphics Applications: </a:t>
            </a:r>
            <a:r>
              <a:rPr lang="en-US" b="0" i="0" dirty="0">
                <a:solidFill>
                  <a:srgbClr val="273239"/>
                </a:solidFill>
                <a:effectLst/>
                <a:latin typeface="Nunito" pitchFamily="2" charset="0"/>
              </a:rPr>
              <a:t>Scalar processors are used to rendering graphics quickly. This can include tasks such as image manipulation and video editing.</a:t>
            </a:r>
          </a:p>
          <a:p>
            <a:pPr marL="400050" indent="-34290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Database Applications: </a:t>
            </a:r>
            <a:r>
              <a:rPr lang="en-US" b="0" i="0" dirty="0">
                <a:solidFill>
                  <a:srgbClr val="273239"/>
                </a:solidFill>
                <a:effectLst/>
                <a:latin typeface="Nunito" pitchFamily="2" charset="0"/>
              </a:rPr>
              <a:t>Scalar processors are used to quickly search and query large databases. This can include tasks such as customer data retrieval or financial data analysis.</a:t>
            </a:r>
          </a:p>
          <a:p>
            <a:pPr marL="400050" indent="-342900" algn="l" fontAlgn="base">
              <a:spcBef>
                <a:spcPts val="0"/>
              </a:spcBef>
              <a:spcAft>
                <a:spcPts val="0"/>
              </a:spcAft>
              <a:buFont typeface="Arial" panose="020B0604020202020204" pitchFamily="34" charset="0"/>
              <a:buChar char="•"/>
            </a:pPr>
            <a:r>
              <a:rPr lang="en-US" b="1" i="0" dirty="0">
                <a:solidFill>
                  <a:srgbClr val="273239"/>
                </a:solidFill>
                <a:effectLst/>
                <a:latin typeface="Nunito" pitchFamily="2" charset="0"/>
              </a:rPr>
              <a:t>Mobile Applications: </a:t>
            </a:r>
            <a:r>
              <a:rPr lang="en-US" b="0" i="0" dirty="0">
                <a:solidFill>
                  <a:srgbClr val="273239"/>
                </a:solidFill>
                <a:effectLst/>
                <a:latin typeface="Nunito" pitchFamily="2" charset="0"/>
              </a:rPr>
              <a:t>Scalar processors are used to rendering graphics quickly for mobile applications. This allows for a smoother and faster user experience when interacting with mobile apps.</a:t>
            </a:r>
          </a:p>
          <a:p>
            <a:endParaRPr lang="en-US" dirty="0"/>
          </a:p>
        </p:txBody>
      </p:sp>
    </p:spTree>
    <p:extLst>
      <p:ext uri="{BB962C8B-B14F-4D97-AF65-F5344CB8AC3E}">
        <p14:creationId xmlns:p14="http://schemas.microsoft.com/office/powerpoint/2010/main" val="3954847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3A30E-F268-8421-3C6A-88CE72E8219E}"/>
              </a:ext>
            </a:extLst>
          </p:cNvPr>
          <p:cNvSpPr>
            <a:spLocks noGrp="1"/>
          </p:cNvSpPr>
          <p:nvPr>
            <p:ph type="title"/>
          </p:nvPr>
        </p:nvSpPr>
        <p:spPr/>
        <p:txBody>
          <a:bodyPr/>
          <a:lstStyle/>
          <a:p>
            <a:pPr marL="0" rtl="0" eaLnBrk="1" fontAlgn="base" latinLnBrk="0" hangingPunct="1">
              <a:spcAft>
                <a:spcPts val="750"/>
              </a:spcAft>
            </a:pPr>
            <a:r>
              <a:rPr lang="en-US" dirty="0"/>
              <a:t>Vector Processor v/s Scalar Processor </a:t>
            </a:r>
          </a:p>
        </p:txBody>
      </p:sp>
      <p:graphicFrame>
        <p:nvGraphicFramePr>
          <p:cNvPr id="4" name="Content Placeholder 3">
            <a:extLst>
              <a:ext uri="{FF2B5EF4-FFF2-40B4-BE49-F238E27FC236}">
                <a16:creationId xmlns:a16="http://schemas.microsoft.com/office/drawing/2014/main" id="{899BC2BA-00E1-A31A-C806-E2711E1069BC}"/>
              </a:ext>
            </a:extLst>
          </p:cNvPr>
          <p:cNvGraphicFramePr>
            <a:graphicFrameLocks noGrp="1"/>
          </p:cNvGraphicFramePr>
          <p:nvPr>
            <p:ph idx="1"/>
            <p:extLst>
              <p:ext uri="{D42A27DB-BD31-4B8C-83A1-F6EECF244321}">
                <p14:modId xmlns:p14="http://schemas.microsoft.com/office/powerpoint/2010/main" val="3589209554"/>
              </p:ext>
            </p:extLst>
          </p:nvPr>
        </p:nvGraphicFramePr>
        <p:xfrm>
          <a:off x="1235900" y="1854856"/>
          <a:ext cx="10058400" cy="4040990"/>
        </p:xfrm>
        <a:graphic>
          <a:graphicData uri="http://schemas.openxmlformats.org/drawingml/2006/table">
            <a:tbl>
              <a:tblPr>
                <a:tableStyleId>{5940675A-B579-460E-94D1-54222C63F5DA}</a:tableStyleId>
              </a:tblPr>
              <a:tblGrid>
                <a:gridCol w="1838770">
                  <a:extLst>
                    <a:ext uri="{9D8B030D-6E8A-4147-A177-3AD203B41FA5}">
                      <a16:colId xmlns:a16="http://schemas.microsoft.com/office/drawing/2014/main" val="332365508"/>
                    </a:ext>
                  </a:extLst>
                </a:gridCol>
                <a:gridCol w="4447730">
                  <a:extLst>
                    <a:ext uri="{9D8B030D-6E8A-4147-A177-3AD203B41FA5}">
                      <a16:colId xmlns:a16="http://schemas.microsoft.com/office/drawing/2014/main" val="3655690875"/>
                    </a:ext>
                  </a:extLst>
                </a:gridCol>
                <a:gridCol w="3771900">
                  <a:extLst>
                    <a:ext uri="{9D8B030D-6E8A-4147-A177-3AD203B41FA5}">
                      <a16:colId xmlns:a16="http://schemas.microsoft.com/office/drawing/2014/main" val="2329882685"/>
                    </a:ext>
                  </a:extLst>
                </a:gridCol>
              </a:tblGrid>
              <a:tr h="231449">
                <a:tc>
                  <a:txBody>
                    <a:bodyPr/>
                    <a:lstStyle/>
                    <a:p>
                      <a:pPr algn="ctr" fontAlgn="base"/>
                      <a:r>
                        <a:rPr lang="en-US" sz="1600" b="1">
                          <a:effectLst/>
                        </a:rPr>
                        <a:t>Factor</a:t>
                      </a:r>
                    </a:p>
                  </a:txBody>
                  <a:tcPr marL="25908" marR="25908" marT="43181" marB="43181" anchor="ctr"/>
                </a:tc>
                <a:tc>
                  <a:txBody>
                    <a:bodyPr/>
                    <a:lstStyle/>
                    <a:p>
                      <a:pPr algn="ctr" fontAlgn="base">
                        <a:spcAft>
                          <a:spcPts val="750"/>
                        </a:spcAft>
                      </a:pPr>
                      <a:r>
                        <a:rPr lang="en-US" sz="1600" b="1" dirty="0">
                          <a:effectLst/>
                        </a:rPr>
                        <a:t>Vector Processor</a:t>
                      </a:r>
                    </a:p>
                  </a:txBody>
                  <a:tcPr marL="43181" marR="43181" marT="43181" marB="43181" anchor="ctr"/>
                </a:tc>
                <a:tc>
                  <a:txBody>
                    <a:bodyPr/>
                    <a:lstStyle/>
                    <a:p>
                      <a:pPr algn="ctr" fontAlgn="base">
                        <a:spcAft>
                          <a:spcPts val="750"/>
                        </a:spcAft>
                      </a:pPr>
                      <a:r>
                        <a:rPr lang="en-US" sz="1600" b="1" dirty="0">
                          <a:effectLst/>
                        </a:rPr>
                        <a:t>Scalar Processor </a:t>
                      </a:r>
                    </a:p>
                  </a:txBody>
                  <a:tcPr marL="43181" marR="43181" marT="43181" marB="43181" anchor="ctr"/>
                </a:tc>
                <a:extLst>
                  <a:ext uri="{0D108BD9-81ED-4DB2-BD59-A6C34878D82A}">
                    <a16:rowId xmlns:a16="http://schemas.microsoft.com/office/drawing/2014/main" val="926089265"/>
                  </a:ext>
                </a:extLst>
              </a:tr>
              <a:tr h="509534">
                <a:tc>
                  <a:txBody>
                    <a:bodyPr/>
                    <a:lstStyle/>
                    <a:p>
                      <a:pPr algn="ctr" fontAlgn="base"/>
                      <a:r>
                        <a:rPr lang="en-US" sz="2400" b="1">
                          <a:effectLst/>
                        </a:rPr>
                        <a:t>Architecture</a:t>
                      </a:r>
                    </a:p>
                  </a:txBody>
                  <a:tcPr marL="25908" marR="25908" marT="25952" marB="25952" anchor="ctr"/>
                </a:tc>
                <a:tc>
                  <a:txBody>
                    <a:bodyPr/>
                    <a:lstStyle/>
                    <a:p>
                      <a:pPr algn="ctr" fontAlgn="ctr"/>
                      <a:r>
                        <a:rPr lang="en-US" sz="1400" b="0">
                          <a:effectLst/>
                        </a:rPr>
                        <a:t>It has a single instruction multiple data (SIMD) architecture. Instructions are executed multiple times in parallel on multiple data elements.</a:t>
                      </a:r>
                    </a:p>
                  </a:txBody>
                  <a:tcPr marL="43181" marR="43181" marT="60453" marB="60453" anchor="ctr"/>
                </a:tc>
                <a:tc>
                  <a:txBody>
                    <a:bodyPr/>
                    <a:lstStyle/>
                    <a:p>
                      <a:pPr algn="ctr" fontAlgn="ctr"/>
                      <a:r>
                        <a:rPr lang="en-US" sz="1400" b="0">
                          <a:effectLst/>
                        </a:rPr>
                        <a:t>It has a single instruction single data (SISD) architecture. Instructions are executed one at a time on a single data element.</a:t>
                      </a:r>
                    </a:p>
                  </a:txBody>
                  <a:tcPr marL="43181" marR="43181" marT="60453" marB="60453" anchor="ctr"/>
                </a:tc>
                <a:extLst>
                  <a:ext uri="{0D108BD9-81ED-4DB2-BD59-A6C34878D82A}">
                    <a16:rowId xmlns:a16="http://schemas.microsoft.com/office/drawing/2014/main" val="3919962031"/>
                  </a:ext>
                </a:extLst>
              </a:tr>
              <a:tr h="379991">
                <a:tc>
                  <a:txBody>
                    <a:bodyPr/>
                    <a:lstStyle/>
                    <a:p>
                      <a:pPr algn="ctr" fontAlgn="base"/>
                      <a:r>
                        <a:rPr lang="en-US" sz="2400" b="1">
                          <a:effectLst/>
                        </a:rPr>
                        <a:t>Execution Time:</a:t>
                      </a:r>
                    </a:p>
                  </a:txBody>
                  <a:tcPr marL="25908" marR="25908" marT="25952" marB="25952" anchor="ctr"/>
                </a:tc>
                <a:tc>
                  <a:txBody>
                    <a:bodyPr/>
                    <a:lstStyle/>
                    <a:p>
                      <a:pPr algn="ctr" fontAlgn="ctr"/>
                      <a:r>
                        <a:rPr lang="en-US" sz="1400" b="0">
                          <a:effectLst/>
                        </a:rPr>
                        <a:t>It can execute instructions faster than a scalar processor due to the nature of SIMD architecture.</a:t>
                      </a:r>
                    </a:p>
                  </a:txBody>
                  <a:tcPr marL="43181" marR="43181" marT="60453" marB="60453" anchor="ctr"/>
                </a:tc>
                <a:tc>
                  <a:txBody>
                    <a:bodyPr/>
                    <a:lstStyle/>
                    <a:p>
                      <a:pPr algn="ctr" fontAlgn="ctr"/>
                      <a:r>
                        <a:rPr lang="en-US" sz="1400" b="0">
                          <a:effectLst/>
                        </a:rPr>
                        <a:t>It takes more time to execute instructions since the instructions are executed one at a time.</a:t>
                      </a:r>
                    </a:p>
                  </a:txBody>
                  <a:tcPr marL="43181" marR="43181" marT="60453" marB="60453" anchor="ctr"/>
                </a:tc>
                <a:extLst>
                  <a:ext uri="{0D108BD9-81ED-4DB2-BD59-A6C34878D82A}">
                    <a16:rowId xmlns:a16="http://schemas.microsoft.com/office/drawing/2014/main" val="1871334229"/>
                  </a:ext>
                </a:extLst>
              </a:tr>
              <a:tr h="250449">
                <a:tc>
                  <a:txBody>
                    <a:bodyPr/>
                    <a:lstStyle/>
                    <a:p>
                      <a:pPr algn="ctr" fontAlgn="base"/>
                      <a:r>
                        <a:rPr lang="en-US" sz="2400" b="1">
                          <a:effectLst/>
                        </a:rPr>
                        <a:t>Data Processing</a:t>
                      </a:r>
                    </a:p>
                  </a:txBody>
                  <a:tcPr marL="25908" marR="25908" marT="25952" marB="25952" anchor="ctr"/>
                </a:tc>
                <a:tc>
                  <a:txBody>
                    <a:bodyPr/>
                    <a:lstStyle/>
                    <a:p>
                      <a:pPr algn="ctr" fontAlgn="ctr"/>
                      <a:r>
                        <a:rPr lang="en-US" sz="1400" b="0">
                          <a:effectLst/>
                        </a:rPr>
                        <a:t>It processes multiple data elements in parallel.</a:t>
                      </a:r>
                    </a:p>
                  </a:txBody>
                  <a:tcPr marL="43181" marR="43181" marT="60453" marB="60453" anchor="ctr"/>
                </a:tc>
                <a:tc>
                  <a:txBody>
                    <a:bodyPr/>
                    <a:lstStyle/>
                    <a:p>
                      <a:pPr algn="ctr" fontAlgn="ctr"/>
                      <a:r>
                        <a:rPr lang="en-US" sz="1400" b="0">
                          <a:effectLst/>
                        </a:rPr>
                        <a:t>It processes single data element at a time.</a:t>
                      </a:r>
                    </a:p>
                  </a:txBody>
                  <a:tcPr marL="43181" marR="43181" marT="60453" marB="60453" anchor="ctr"/>
                </a:tc>
                <a:extLst>
                  <a:ext uri="{0D108BD9-81ED-4DB2-BD59-A6C34878D82A}">
                    <a16:rowId xmlns:a16="http://schemas.microsoft.com/office/drawing/2014/main" val="3028508144"/>
                  </a:ext>
                </a:extLst>
              </a:tr>
              <a:tr h="250449">
                <a:tc>
                  <a:txBody>
                    <a:bodyPr/>
                    <a:lstStyle/>
                    <a:p>
                      <a:pPr algn="ctr" fontAlgn="base"/>
                      <a:r>
                        <a:rPr lang="en-US" sz="2400" b="1" dirty="0">
                          <a:effectLst/>
                        </a:rPr>
                        <a:t>Registers</a:t>
                      </a:r>
                    </a:p>
                  </a:txBody>
                  <a:tcPr marL="25908" marR="25908" marT="25952" marB="25952" anchor="ctr"/>
                </a:tc>
                <a:tc>
                  <a:txBody>
                    <a:bodyPr/>
                    <a:lstStyle/>
                    <a:p>
                      <a:pPr algn="ctr" fontAlgn="ctr"/>
                      <a:r>
                        <a:rPr lang="en-US" sz="1400" b="0">
                          <a:effectLst/>
                        </a:rPr>
                        <a:t>It has multiple registers to store multiple data elements.</a:t>
                      </a:r>
                    </a:p>
                  </a:txBody>
                  <a:tcPr marL="43181" marR="43181" marT="60453" marB="60453" anchor="ctr"/>
                </a:tc>
                <a:tc>
                  <a:txBody>
                    <a:bodyPr/>
                    <a:lstStyle/>
                    <a:p>
                      <a:pPr algn="ctr" fontAlgn="ctr"/>
                      <a:r>
                        <a:rPr lang="en-US" sz="1400" b="0">
                          <a:effectLst/>
                        </a:rPr>
                        <a:t>It has a single register to store a single data element.</a:t>
                      </a:r>
                    </a:p>
                  </a:txBody>
                  <a:tcPr marL="43181" marR="43181" marT="60453" marB="60453" anchor="ctr"/>
                </a:tc>
                <a:extLst>
                  <a:ext uri="{0D108BD9-81ED-4DB2-BD59-A6C34878D82A}">
                    <a16:rowId xmlns:a16="http://schemas.microsoft.com/office/drawing/2014/main" val="832333090"/>
                  </a:ext>
                </a:extLst>
              </a:tr>
              <a:tr h="250449">
                <a:tc>
                  <a:txBody>
                    <a:bodyPr/>
                    <a:lstStyle/>
                    <a:p>
                      <a:pPr algn="ctr" fontAlgn="base"/>
                      <a:r>
                        <a:rPr lang="en-US" sz="2400" b="1">
                          <a:effectLst/>
                        </a:rPr>
                        <a:t>Cache</a:t>
                      </a:r>
                    </a:p>
                  </a:txBody>
                  <a:tcPr marL="25908" marR="25908" marT="25952" marB="25952" anchor="ctr"/>
                </a:tc>
                <a:tc>
                  <a:txBody>
                    <a:bodyPr/>
                    <a:lstStyle/>
                    <a:p>
                      <a:pPr algn="ctr" fontAlgn="ctr"/>
                      <a:r>
                        <a:rPr lang="en-US" sz="1400" b="0">
                          <a:effectLst/>
                        </a:rPr>
                        <a:t>It has multiple caches for multiple data elements.</a:t>
                      </a:r>
                    </a:p>
                  </a:txBody>
                  <a:tcPr marL="43181" marR="43181" marT="60453" marB="60453" anchor="ctr"/>
                </a:tc>
                <a:tc>
                  <a:txBody>
                    <a:bodyPr/>
                    <a:lstStyle/>
                    <a:p>
                      <a:pPr algn="ctr" fontAlgn="ctr"/>
                      <a:r>
                        <a:rPr lang="en-US" sz="1400" b="0">
                          <a:effectLst/>
                        </a:rPr>
                        <a:t>It has a single cache for the single data element.</a:t>
                      </a:r>
                    </a:p>
                  </a:txBody>
                  <a:tcPr marL="43181" marR="43181" marT="60453" marB="60453" anchor="ctr"/>
                </a:tc>
                <a:extLst>
                  <a:ext uri="{0D108BD9-81ED-4DB2-BD59-A6C34878D82A}">
                    <a16:rowId xmlns:a16="http://schemas.microsoft.com/office/drawing/2014/main" val="2833263219"/>
                  </a:ext>
                </a:extLst>
              </a:tr>
              <a:tr h="250449">
                <a:tc>
                  <a:txBody>
                    <a:bodyPr/>
                    <a:lstStyle/>
                    <a:p>
                      <a:pPr algn="ctr" fontAlgn="base"/>
                      <a:r>
                        <a:rPr lang="en-US" sz="2400" b="1">
                          <a:effectLst/>
                        </a:rPr>
                        <a:t>Branching</a:t>
                      </a:r>
                    </a:p>
                  </a:txBody>
                  <a:tcPr marL="25908" marR="25908" marT="25952" marB="25952" anchor="ctr"/>
                </a:tc>
                <a:tc>
                  <a:txBody>
                    <a:bodyPr/>
                    <a:lstStyle/>
                    <a:p>
                      <a:pPr algn="ctr" fontAlgn="ctr"/>
                      <a:r>
                        <a:rPr lang="en-US" sz="1400" b="0">
                          <a:effectLst/>
                        </a:rPr>
                        <a:t>It does not support conditional vector branching.</a:t>
                      </a:r>
                    </a:p>
                  </a:txBody>
                  <a:tcPr marL="43181" marR="43181" marT="60453" marB="60453" anchor="ctr"/>
                </a:tc>
                <a:tc>
                  <a:txBody>
                    <a:bodyPr/>
                    <a:lstStyle/>
                    <a:p>
                      <a:pPr algn="ctr" fontAlgn="ctr"/>
                      <a:r>
                        <a:rPr lang="en-US" sz="1400" b="0" dirty="0">
                          <a:effectLst/>
                        </a:rPr>
                        <a:t>It supports conditional vector branching.</a:t>
                      </a:r>
                    </a:p>
                  </a:txBody>
                  <a:tcPr marL="43181" marR="43181" marT="60453" marB="60453" anchor="ctr"/>
                </a:tc>
                <a:extLst>
                  <a:ext uri="{0D108BD9-81ED-4DB2-BD59-A6C34878D82A}">
                    <a16:rowId xmlns:a16="http://schemas.microsoft.com/office/drawing/2014/main" val="2915009100"/>
                  </a:ext>
                </a:extLst>
              </a:tr>
            </a:tbl>
          </a:graphicData>
        </a:graphic>
      </p:graphicFrame>
    </p:spTree>
    <p:extLst>
      <p:ext uri="{BB962C8B-B14F-4D97-AF65-F5344CB8AC3E}">
        <p14:creationId xmlns:p14="http://schemas.microsoft.com/office/powerpoint/2010/main" val="22690465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F5BD2-CE0A-FA4D-6645-7817F7CAA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A43CB-FAC4-1350-564A-D202CD06044D}"/>
              </a:ext>
            </a:extLst>
          </p:cNvPr>
          <p:cNvSpPr>
            <a:spLocks noGrp="1"/>
          </p:cNvSpPr>
          <p:nvPr>
            <p:ph type="title"/>
          </p:nvPr>
        </p:nvSpPr>
        <p:spPr/>
        <p:txBody>
          <a:bodyPr/>
          <a:lstStyle/>
          <a:p>
            <a:pPr marL="0" rtl="0" eaLnBrk="1" fontAlgn="base" latinLnBrk="0" hangingPunct="1">
              <a:spcAft>
                <a:spcPts val="750"/>
              </a:spcAft>
            </a:pPr>
            <a:r>
              <a:rPr lang="en-US" dirty="0"/>
              <a:t>Vector Processor v/s Scalar Processor </a:t>
            </a:r>
          </a:p>
        </p:txBody>
      </p:sp>
      <p:graphicFrame>
        <p:nvGraphicFramePr>
          <p:cNvPr id="4" name="Content Placeholder 3">
            <a:extLst>
              <a:ext uri="{FF2B5EF4-FFF2-40B4-BE49-F238E27FC236}">
                <a16:creationId xmlns:a16="http://schemas.microsoft.com/office/drawing/2014/main" id="{47A64E80-9365-DCB3-B3AE-AE994A4A7098}"/>
              </a:ext>
            </a:extLst>
          </p:cNvPr>
          <p:cNvGraphicFramePr>
            <a:graphicFrameLocks noGrp="1"/>
          </p:cNvGraphicFramePr>
          <p:nvPr>
            <p:ph idx="1"/>
            <p:extLst>
              <p:ext uri="{D42A27DB-BD31-4B8C-83A1-F6EECF244321}">
                <p14:modId xmlns:p14="http://schemas.microsoft.com/office/powerpoint/2010/main" val="468740018"/>
              </p:ext>
            </p:extLst>
          </p:nvPr>
        </p:nvGraphicFramePr>
        <p:xfrm>
          <a:off x="1235900" y="1854856"/>
          <a:ext cx="10058400" cy="3539928"/>
        </p:xfrm>
        <a:graphic>
          <a:graphicData uri="http://schemas.openxmlformats.org/drawingml/2006/table">
            <a:tbl>
              <a:tblPr>
                <a:tableStyleId>{5940675A-B579-460E-94D1-54222C63F5DA}</a:tableStyleId>
              </a:tblPr>
              <a:tblGrid>
                <a:gridCol w="1838770">
                  <a:extLst>
                    <a:ext uri="{9D8B030D-6E8A-4147-A177-3AD203B41FA5}">
                      <a16:colId xmlns:a16="http://schemas.microsoft.com/office/drawing/2014/main" val="332365508"/>
                    </a:ext>
                  </a:extLst>
                </a:gridCol>
                <a:gridCol w="4447730">
                  <a:extLst>
                    <a:ext uri="{9D8B030D-6E8A-4147-A177-3AD203B41FA5}">
                      <a16:colId xmlns:a16="http://schemas.microsoft.com/office/drawing/2014/main" val="3655690875"/>
                    </a:ext>
                  </a:extLst>
                </a:gridCol>
                <a:gridCol w="3771900">
                  <a:extLst>
                    <a:ext uri="{9D8B030D-6E8A-4147-A177-3AD203B41FA5}">
                      <a16:colId xmlns:a16="http://schemas.microsoft.com/office/drawing/2014/main" val="2329882685"/>
                    </a:ext>
                  </a:extLst>
                </a:gridCol>
              </a:tblGrid>
              <a:tr h="231449">
                <a:tc>
                  <a:txBody>
                    <a:bodyPr/>
                    <a:lstStyle/>
                    <a:p>
                      <a:pPr algn="ctr" fontAlgn="base"/>
                      <a:r>
                        <a:rPr lang="en-US" sz="1600" b="1">
                          <a:effectLst/>
                        </a:rPr>
                        <a:t>Factor</a:t>
                      </a:r>
                    </a:p>
                  </a:txBody>
                  <a:tcPr marL="25908" marR="25908" marT="43181" marB="43181" anchor="ctr"/>
                </a:tc>
                <a:tc>
                  <a:txBody>
                    <a:bodyPr/>
                    <a:lstStyle/>
                    <a:p>
                      <a:pPr algn="ctr" fontAlgn="base">
                        <a:spcAft>
                          <a:spcPts val="750"/>
                        </a:spcAft>
                      </a:pPr>
                      <a:r>
                        <a:rPr lang="en-US" sz="1600" b="1" dirty="0">
                          <a:effectLst/>
                        </a:rPr>
                        <a:t>Vector Processor</a:t>
                      </a:r>
                    </a:p>
                  </a:txBody>
                  <a:tcPr marL="43181" marR="43181" marT="43181" marB="43181" anchor="ctr"/>
                </a:tc>
                <a:tc>
                  <a:txBody>
                    <a:bodyPr/>
                    <a:lstStyle/>
                    <a:p>
                      <a:pPr algn="ctr" fontAlgn="base">
                        <a:spcAft>
                          <a:spcPts val="750"/>
                        </a:spcAft>
                      </a:pPr>
                      <a:r>
                        <a:rPr lang="en-US" sz="1600" b="1" dirty="0">
                          <a:effectLst/>
                        </a:rPr>
                        <a:t>Scalar Processor </a:t>
                      </a:r>
                    </a:p>
                  </a:txBody>
                  <a:tcPr marL="43181" marR="43181" marT="43181" marB="43181" anchor="ctr"/>
                </a:tc>
                <a:extLst>
                  <a:ext uri="{0D108BD9-81ED-4DB2-BD59-A6C34878D82A}">
                    <a16:rowId xmlns:a16="http://schemas.microsoft.com/office/drawing/2014/main" val="926089265"/>
                  </a:ext>
                </a:extLst>
              </a:tr>
              <a:tr h="379991">
                <a:tc>
                  <a:txBody>
                    <a:bodyPr/>
                    <a:lstStyle/>
                    <a:p>
                      <a:pPr algn="ctr" fontAlgn="base"/>
                      <a:r>
                        <a:rPr lang="en-US" sz="2400" b="1">
                          <a:effectLst/>
                        </a:rPr>
                        <a:t>Performance</a:t>
                      </a:r>
                    </a:p>
                  </a:txBody>
                  <a:tcPr marL="25908" marR="25908" marT="25952" marB="25952" anchor="ctr"/>
                </a:tc>
                <a:tc>
                  <a:txBody>
                    <a:bodyPr/>
                    <a:lstStyle/>
                    <a:p>
                      <a:pPr algn="ctr" fontAlgn="ctr"/>
                      <a:r>
                        <a:rPr lang="en-US" sz="1400" b="0">
                          <a:effectLst/>
                        </a:rPr>
                        <a:t>It offers higher performance than a scalar processor due to its SIMD architecture.</a:t>
                      </a:r>
                    </a:p>
                  </a:txBody>
                  <a:tcPr marL="43181" marR="43181" marT="60453" marB="60453" anchor="ctr"/>
                </a:tc>
                <a:tc>
                  <a:txBody>
                    <a:bodyPr/>
                    <a:lstStyle/>
                    <a:p>
                      <a:pPr algn="ctr" fontAlgn="ctr"/>
                      <a:r>
                        <a:rPr lang="en-US" sz="1400" b="0" dirty="0">
                          <a:effectLst/>
                        </a:rPr>
                        <a:t>It offers lower performance than vector processors due to its SISD architecture.</a:t>
                      </a:r>
                    </a:p>
                  </a:txBody>
                  <a:tcPr marL="43181" marR="43181" marT="60453" marB="60453" anchor="ctr"/>
                </a:tc>
                <a:extLst>
                  <a:ext uri="{0D108BD9-81ED-4DB2-BD59-A6C34878D82A}">
                    <a16:rowId xmlns:a16="http://schemas.microsoft.com/office/drawing/2014/main" val="2343847482"/>
                  </a:ext>
                </a:extLst>
              </a:tr>
              <a:tr h="379991">
                <a:tc>
                  <a:txBody>
                    <a:bodyPr/>
                    <a:lstStyle/>
                    <a:p>
                      <a:pPr algn="ctr" fontAlgn="base"/>
                      <a:r>
                        <a:rPr lang="en-US" sz="2400" b="1">
                          <a:effectLst/>
                        </a:rPr>
                        <a:t>Power Consumption</a:t>
                      </a:r>
                    </a:p>
                  </a:txBody>
                  <a:tcPr marL="25908" marR="25908" marT="25952" marB="25952" anchor="ctr"/>
                </a:tc>
                <a:tc>
                  <a:txBody>
                    <a:bodyPr/>
                    <a:lstStyle/>
                    <a:p>
                      <a:pPr algn="ctr" fontAlgn="ctr"/>
                      <a:r>
                        <a:rPr lang="en-US" sz="1400" b="0">
                          <a:effectLst/>
                        </a:rPr>
                        <a:t>It consumes more power than a scalar processor due to its more sophisticated architecture.</a:t>
                      </a:r>
                    </a:p>
                  </a:txBody>
                  <a:tcPr marL="43181" marR="43181" marT="60453" marB="60453" anchor="ctr"/>
                </a:tc>
                <a:tc>
                  <a:txBody>
                    <a:bodyPr/>
                    <a:lstStyle/>
                    <a:p>
                      <a:pPr algn="ctr" fontAlgn="ctr"/>
                      <a:r>
                        <a:rPr lang="en-US" sz="1400" b="0">
                          <a:effectLst/>
                        </a:rPr>
                        <a:t>It consumes less power than a vector processor due to its simpler architecture.</a:t>
                      </a:r>
                    </a:p>
                  </a:txBody>
                  <a:tcPr marL="43181" marR="43181" marT="60453" marB="60453" anchor="ctr"/>
                </a:tc>
                <a:extLst>
                  <a:ext uri="{0D108BD9-81ED-4DB2-BD59-A6C34878D82A}">
                    <a16:rowId xmlns:a16="http://schemas.microsoft.com/office/drawing/2014/main" val="59561573"/>
                  </a:ext>
                </a:extLst>
              </a:tr>
              <a:tr h="379991">
                <a:tc>
                  <a:txBody>
                    <a:bodyPr/>
                    <a:lstStyle/>
                    <a:p>
                      <a:pPr algn="ctr" fontAlgn="base"/>
                      <a:r>
                        <a:rPr lang="en-US" sz="2400" b="1">
                          <a:effectLst/>
                        </a:rPr>
                        <a:t>Cost</a:t>
                      </a:r>
                    </a:p>
                  </a:txBody>
                  <a:tcPr marL="25908" marR="25908" marT="25952" marB="25952" anchor="ctr"/>
                </a:tc>
                <a:tc>
                  <a:txBody>
                    <a:bodyPr/>
                    <a:lstStyle/>
                    <a:p>
                      <a:pPr algn="ctr" fontAlgn="ctr"/>
                      <a:r>
                        <a:rPr lang="en-US" sz="1400" b="0">
                          <a:effectLst/>
                        </a:rPr>
                        <a:t>It is more expensive than a scalar processor due to its sophisticated architecture.</a:t>
                      </a:r>
                    </a:p>
                  </a:txBody>
                  <a:tcPr marL="43181" marR="43181" marT="60453" marB="60453" anchor="ctr"/>
                </a:tc>
                <a:tc>
                  <a:txBody>
                    <a:bodyPr/>
                    <a:lstStyle/>
                    <a:p>
                      <a:pPr algn="ctr" fontAlgn="ctr"/>
                      <a:r>
                        <a:rPr lang="en-US" sz="1400" b="0">
                          <a:effectLst/>
                        </a:rPr>
                        <a:t>It is cheaper than a vector processor due to its simpler architecture.</a:t>
                      </a:r>
                    </a:p>
                  </a:txBody>
                  <a:tcPr marL="43181" marR="43181" marT="60453" marB="60453" anchor="ctr"/>
                </a:tc>
                <a:extLst>
                  <a:ext uri="{0D108BD9-81ED-4DB2-BD59-A6C34878D82A}">
                    <a16:rowId xmlns:a16="http://schemas.microsoft.com/office/drawing/2014/main" val="3820103321"/>
                  </a:ext>
                </a:extLst>
              </a:tr>
              <a:tr h="379991">
                <a:tc>
                  <a:txBody>
                    <a:bodyPr/>
                    <a:lstStyle/>
                    <a:p>
                      <a:pPr algn="ctr" fontAlgn="base"/>
                      <a:r>
                        <a:rPr lang="en-US" sz="2400" b="1">
                          <a:effectLst/>
                        </a:rPr>
                        <a:t>Parallelism</a:t>
                      </a:r>
                    </a:p>
                  </a:txBody>
                  <a:tcPr marL="25908" marR="25908" marT="25952" marB="25952" anchor="ctr"/>
                </a:tc>
                <a:tc>
                  <a:txBody>
                    <a:bodyPr/>
                    <a:lstStyle/>
                    <a:p>
                      <a:pPr algn="ctr" fontAlgn="ctr"/>
                      <a:r>
                        <a:rPr lang="en-US" sz="1400" b="0">
                          <a:effectLst/>
                        </a:rPr>
                        <a:t>It has more parallelism due to multiple data elements being processed in parallel.</a:t>
                      </a:r>
                    </a:p>
                  </a:txBody>
                  <a:tcPr marL="43181" marR="43181" marT="60453" marB="60453" anchor="ctr"/>
                </a:tc>
                <a:tc>
                  <a:txBody>
                    <a:bodyPr/>
                    <a:lstStyle/>
                    <a:p>
                      <a:pPr algn="ctr" fontAlgn="ctr"/>
                      <a:r>
                        <a:rPr lang="en-US" sz="1400" b="0">
                          <a:effectLst/>
                        </a:rPr>
                        <a:t>It has less parallelism due to a single data element being processed at a time.</a:t>
                      </a:r>
                    </a:p>
                  </a:txBody>
                  <a:tcPr marL="43181" marR="43181" marT="60453" marB="60453" anchor="ctr"/>
                </a:tc>
                <a:extLst>
                  <a:ext uri="{0D108BD9-81ED-4DB2-BD59-A6C34878D82A}">
                    <a16:rowId xmlns:a16="http://schemas.microsoft.com/office/drawing/2014/main" val="1244691326"/>
                  </a:ext>
                </a:extLst>
              </a:tr>
              <a:tr h="379991">
                <a:tc>
                  <a:txBody>
                    <a:bodyPr/>
                    <a:lstStyle/>
                    <a:p>
                      <a:pPr algn="ctr" fontAlgn="base"/>
                      <a:r>
                        <a:rPr lang="en-US" sz="2400" b="1">
                          <a:effectLst/>
                        </a:rPr>
                        <a:t>Memory Bandwidth</a:t>
                      </a:r>
                    </a:p>
                  </a:txBody>
                  <a:tcPr marL="25908" marR="25908" marT="25952" marB="25952" anchor="ctr"/>
                </a:tc>
                <a:tc>
                  <a:txBody>
                    <a:bodyPr/>
                    <a:lstStyle/>
                    <a:p>
                      <a:pPr algn="ctr" fontAlgn="ctr"/>
                      <a:r>
                        <a:rPr lang="en-US" sz="1400" b="0">
                          <a:effectLst/>
                        </a:rPr>
                        <a:t>It requires more memory bandwidth due to multiple memory accesses.</a:t>
                      </a:r>
                    </a:p>
                  </a:txBody>
                  <a:tcPr marL="43181" marR="43181" marT="60453" marB="60453" anchor="ctr"/>
                </a:tc>
                <a:tc>
                  <a:txBody>
                    <a:bodyPr/>
                    <a:lstStyle/>
                    <a:p>
                      <a:pPr algn="ctr" fontAlgn="ctr"/>
                      <a:r>
                        <a:rPr lang="en-US" sz="1400" b="0" dirty="0">
                          <a:effectLst/>
                        </a:rPr>
                        <a:t>It requires less memory bandwidth due to single-memory access.</a:t>
                      </a:r>
                    </a:p>
                  </a:txBody>
                  <a:tcPr marL="43181" marR="43181" marT="60453" marB="60453" anchor="ctr"/>
                </a:tc>
                <a:extLst>
                  <a:ext uri="{0D108BD9-81ED-4DB2-BD59-A6C34878D82A}">
                    <a16:rowId xmlns:a16="http://schemas.microsoft.com/office/drawing/2014/main" val="1901323333"/>
                  </a:ext>
                </a:extLst>
              </a:tr>
            </a:tbl>
          </a:graphicData>
        </a:graphic>
      </p:graphicFrame>
    </p:spTree>
    <p:extLst>
      <p:ext uri="{BB962C8B-B14F-4D97-AF65-F5344CB8AC3E}">
        <p14:creationId xmlns:p14="http://schemas.microsoft.com/office/powerpoint/2010/main" val="2616023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9FB9E-ACF7-4D5F-29F7-CE3E8A1A0364}"/>
              </a:ext>
            </a:extLst>
          </p:cNvPr>
          <p:cNvSpPr>
            <a:spLocks noGrp="1"/>
          </p:cNvSpPr>
          <p:nvPr>
            <p:ph type="title"/>
          </p:nvPr>
        </p:nvSpPr>
        <p:spPr/>
        <p:txBody>
          <a:bodyPr>
            <a:normAutofit/>
          </a:bodyPr>
          <a:lstStyle/>
          <a:p>
            <a:r>
              <a:rPr lang="en-US" b="1" i="0" dirty="0">
                <a:solidFill>
                  <a:srgbClr val="273239"/>
                </a:solidFill>
                <a:effectLst/>
                <a:latin typeface="Source Sans 3"/>
              </a:rPr>
              <a:t>Vector Instruction Format in Vector Processors</a:t>
            </a:r>
            <a:endParaRPr lang="en-US" dirty="0"/>
          </a:p>
        </p:txBody>
      </p:sp>
      <p:sp>
        <p:nvSpPr>
          <p:cNvPr id="3" name="Content Placeholder 2">
            <a:extLst>
              <a:ext uri="{FF2B5EF4-FFF2-40B4-BE49-F238E27FC236}">
                <a16:creationId xmlns:a16="http://schemas.microsoft.com/office/drawing/2014/main" id="{6B0C7647-BA63-B8CE-C117-452F7D49409C}"/>
              </a:ext>
            </a:extLst>
          </p:cNvPr>
          <p:cNvSpPr>
            <a:spLocks noGrp="1"/>
          </p:cNvSpPr>
          <p:nvPr>
            <p:ph idx="1"/>
          </p:nvPr>
        </p:nvSpPr>
        <p:spPr/>
        <p:txBody>
          <a:bodyPr>
            <a:normAutofit fontScale="85000" lnSpcReduction="20000"/>
          </a:bodyPr>
          <a:lstStyle/>
          <a:p>
            <a:pPr algn="l" fontAlgn="base">
              <a:spcAft>
                <a:spcPts val="750"/>
              </a:spcAft>
            </a:pPr>
            <a:r>
              <a:rPr lang="en-US" b="0" i="0" dirty="0">
                <a:solidFill>
                  <a:srgbClr val="273239"/>
                </a:solidFill>
                <a:effectLst/>
                <a:latin typeface="Nunito" pitchFamily="2" charset="0"/>
              </a:rPr>
              <a:t>Vector instruction format is a type of instruction format used in vector processors, which are specialized types of microprocessors that are designed to perform vector operations efficiently. In a vector processor, a single instruction can operate on multiple data elements in parallel, which can greatly accelerate certain types of computations, such as matrix multiplication, signal processing, and scientific simulations.</a:t>
            </a:r>
          </a:p>
          <a:p>
            <a:pPr algn="l" fontAlgn="base">
              <a:spcAft>
                <a:spcPts val="750"/>
              </a:spcAft>
            </a:pPr>
            <a:r>
              <a:rPr lang="en-US" b="0" i="0" dirty="0">
                <a:solidFill>
                  <a:srgbClr val="273239"/>
                </a:solidFill>
                <a:effectLst/>
                <a:latin typeface="Nunito" pitchFamily="2" charset="0"/>
              </a:rPr>
              <a:t>Vector instruction format is a type of instruction format used in vector processors, which are specialized processors designed to perform operations on vectors and matrices efficiently. In vector processors, a single instruction operates on multiple data elements in parallel, which is different from scalar processors where a single instruction operates on a single data element at a time.</a:t>
            </a:r>
          </a:p>
          <a:p>
            <a:pPr algn="l" fontAlgn="base">
              <a:spcAft>
                <a:spcPts val="750"/>
              </a:spcAft>
            </a:pPr>
            <a:r>
              <a:rPr lang="en-US" b="0" i="0" dirty="0">
                <a:solidFill>
                  <a:srgbClr val="273239"/>
                </a:solidFill>
                <a:effectLst/>
                <a:latin typeface="Nunito" pitchFamily="2" charset="0"/>
              </a:rPr>
              <a:t>The vector instruction format typically includes an opcode field that specifies the operation to be performed, a vector register specifier field that identifies the vector register that contains the data to be operated on, and a length field that specifies the number of elements in the vector.</a:t>
            </a:r>
          </a:p>
          <a:p>
            <a:pPr algn="l" fontAlgn="base">
              <a:spcAft>
                <a:spcPts val="750"/>
              </a:spcAft>
            </a:pPr>
            <a:r>
              <a:rPr lang="en-US" b="0" i="0" dirty="0">
                <a:solidFill>
                  <a:srgbClr val="273239"/>
                </a:solidFill>
                <a:effectLst/>
                <a:latin typeface="Nunito" pitchFamily="2" charset="0"/>
              </a:rPr>
              <a:t>The vector processor reads the vector instruction and retrieves the data from the vector register identified in the instruction. It then performs the specified operation on all the elements in the vector in parallel, and stores the result back into the same vector register or a different one, depending on the instruction.</a:t>
            </a:r>
          </a:p>
        </p:txBody>
      </p:sp>
    </p:spTree>
    <p:extLst>
      <p:ext uri="{BB962C8B-B14F-4D97-AF65-F5344CB8AC3E}">
        <p14:creationId xmlns:p14="http://schemas.microsoft.com/office/powerpoint/2010/main" val="2338591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98E7C-16D1-93F1-9D73-79B0DAC63AC0}"/>
              </a:ext>
            </a:extLst>
          </p:cNvPr>
          <p:cNvSpPr>
            <a:spLocks noGrp="1"/>
          </p:cNvSpPr>
          <p:nvPr>
            <p:ph type="title"/>
          </p:nvPr>
        </p:nvSpPr>
        <p:spPr/>
        <p:txBody>
          <a:bodyPr>
            <a:noAutofit/>
          </a:bodyPr>
          <a:lstStyle/>
          <a:p>
            <a:r>
              <a:rPr lang="en-US" sz="2800" b="1" i="0" dirty="0">
                <a:solidFill>
                  <a:srgbClr val="273239"/>
                </a:solidFill>
                <a:effectLst/>
                <a:latin typeface="Nunito" pitchFamily="2" charset="0"/>
              </a:rPr>
              <a:t>Vector instruction formats can vary depending on the specific vector processor architecture, but they typically include some combination of the following fields:</a:t>
            </a:r>
            <a:endParaRPr lang="en-US" sz="2800" dirty="0"/>
          </a:p>
        </p:txBody>
      </p:sp>
      <p:sp>
        <p:nvSpPr>
          <p:cNvPr id="3" name="Content Placeholder 2">
            <a:extLst>
              <a:ext uri="{FF2B5EF4-FFF2-40B4-BE49-F238E27FC236}">
                <a16:creationId xmlns:a16="http://schemas.microsoft.com/office/drawing/2014/main" id="{EDA22DF0-6FFE-8A5A-8D0C-ADEE7E0C5B1E}"/>
              </a:ext>
            </a:extLst>
          </p:cNvPr>
          <p:cNvSpPr>
            <a:spLocks noGrp="1"/>
          </p:cNvSpPr>
          <p:nvPr>
            <p:ph idx="1"/>
          </p:nvPr>
        </p:nvSpPr>
        <p:spPr/>
        <p:txBody>
          <a:bodyPr>
            <a:normAutofit fontScale="77500" lnSpcReduction="20000"/>
          </a:bodyPr>
          <a:lstStyle/>
          <a:p>
            <a:pPr marL="342900" indent="-342900" algn="l" fontAlgn="base">
              <a:spcAft>
                <a:spcPts val="1800"/>
              </a:spcAft>
              <a:buFont typeface="+mj-lt"/>
              <a:buAutoNum type="arabicPeriod"/>
            </a:pPr>
            <a:r>
              <a:rPr lang="en-US" b="0" i="0" dirty="0">
                <a:solidFill>
                  <a:srgbClr val="273239"/>
                </a:solidFill>
                <a:effectLst/>
                <a:latin typeface="Nunito" pitchFamily="2" charset="0"/>
              </a:rPr>
              <a:t>Opcode field: specifies the operation to be performed on the vector data.</a:t>
            </a:r>
          </a:p>
          <a:p>
            <a:pPr marL="342900" indent="-342900" algn="l" fontAlgn="base">
              <a:spcAft>
                <a:spcPts val="1800"/>
              </a:spcAft>
              <a:buFont typeface="+mj-lt"/>
              <a:buAutoNum type="arabicPeriod"/>
            </a:pPr>
            <a:r>
              <a:rPr lang="en-US" b="0" i="0" dirty="0">
                <a:solidFill>
                  <a:srgbClr val="273239"/>
                </a:solidFill>
                <a:effectLst/>
                <a:latin typeface="Nunito" pitchFamily="2" charset="0"/>
              </a:rPr>
              <a:t>Vector register specifier field: identifies the vector register that contains the data to be operated on.</a:t>
            </a:r>
          </a:p>
          <a:p>
            <a:pPr marL="342900" indent="-342900" algn="l" fontAlgn="base">
              <a:spcAft>
                <a:spcPts val="1800"/>
              </a:spcAft>
              <a:buFont typeface="+mj-lt"/>
              <a:buAutoNum type="arabicPeriod"/>
            </a:pPr>
            <a:r>
              <a:rPr lang="en-US" b="0" i="0" dirty="0">
                <a:solidFill>
                  <a:srgbClr val="273239"/>
                </a:solidFill>
                <a:effectLst/>
                <a:latin typeface="Nunito" pitchFamily="2" charset="0"/>
              </a:rPr>
              <a:t>Length field: specifies the number of elements in the vector.</a:t>
            </a:r>
          </a:p>
          <a:p>
            <a:pPr marL="342900" indent="-342900" algn="l" fontAlgn="base">
              <a:spcAft>
                <a:spcPts val="1800"/>
              </a:spcAft>
              <a:buFont typeface="+mj-lt"/>
              <a:buAutoNum type="arabicPeriod"/>
            </a:pPr>
            <a:r>
              <a:rPr lang="en-US" b="0" i="0" dirty="0">
                <a:solidFill>
                  <a:srgbClr val="273239"/>
                </a:solidFill>
                <a:effectLst/>
                <a:latin typeface="Nunito" pitchFamily="2" charset="0"/>
              </a:rPr>
              <a:t>Mask field: specifies which elements in the vector to operate on.</a:t>
            </a:r>
          </a:p>
          <a:p>
            <a:pPr marL="342900" indent="-342900" algn="l" fontAlgn="base">
              <a:spcAft>
                <a:spcPts val="1800"/>
              </a:spcAft>
              <a:buFont typeface="+mj-lt"/>
              <a:buAutoNum type="arabicPeriod"/>
            </a:pPr>
            <a:r>
              <a:rPr lang="en-US" b="0" i="0" dirty="0">
                <a:solidFill>
                  <a:srgbClr val="273239"/>
                </a:solidFill>
                <a:effectLst/>
                <a:latin typeface="Nunito" pitchFamily="2" charset="0"/>
              </a:rPr>
              <a:t>Addressing mode field: specifies how to access the vector data in memory.</a:t>
            </a:r>
          </a:p>
          <a:p>
            <a:pPr marL="342900" indent="-342900" algn="l" fontAlgn="base">
              <a:spcAft>
                <a:spcPts val="1800"/>
              </a:spcAft>
              <a:buFont typeface="+mj-lt"/>
              <a:buAutoNum type="arabicPeriod"/>
            </a:pPr>
            <a:r>
              <a:rPr lang="en-US" b="0" i="0" dirty="0">
                <a:solidFill>
                  <a:srgbClr val="273239"/>
                </a:solidFill>
                <a:effectLst/>
                <a:latin typeface="Nunito" pitchFamily="2" charset="0"/>
              </a:rPr>
              <a:t>Data type field: specifies the data type of the elements in the vector.</a:t>
            </a:r>
          </a:p>
          <a:p>
            <a:pPr marL="0" indent="0" algn="l" fontAlgn="base">
              <a:spcAft>
                <a:spcPts val="1800"/>
              </a:spcAft>
              <a:buNone/>
            </a:pPr>
            <a:r>
              <a:rPr lang="en-US" b="0" i="0" dirty="0">
                <a:solidFill>
                  <a:srgbClr val="273239"/>
                </a:solidFill>
                <a:effectLst/>
                <a:latin typeface="Nunito" pitchFamily="2" charset="0"/>
              </a:rPr>
              <a:t>Vector instruction formats allow vector processors to perform operations on large amounts of data in parallel, making them well-suited for scientific and technical applications, such as simulations, modeling, and image processing.</a:t>
            </a:r>
          </a:p>
        </p:txBody>
      </p:sp>
    </p:spTree>
    <p:extLst>
      <p:ext uri="{BB962C8B-B14F-4D97-AF65-F5344CB8AC3E}">
        <p14:creationId xmlns:p14="http://schemas.microsoft.com/office/powerpoint/2010/main" val="15447167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D9046-D7ED-1DB0-DD79-614DA341C6CA}"/>
              </a:ext>
            </a:extLst>
          </p:cNvPr>
          <p:cNvSpPr>
            <a:spLocks noGrp="1"/>
          </p:cNvSpPr>
          <p:nvPr>
            <p:ph type="title"/>
          </p:nvPr>
        </p:nvSpPr>
        <p:spPr/>
        <p:txBody>
          <a:bodyPr/>
          <a:lstStyle/>
          <a:p>
            <a:r>
              <a:rPr lang="en-US" b="1" i="0" dirty="0">
                <a:solidFill>
                  <a:srgbClr val="273239"/>
                </a:solidFill>
                <a:effectLst/>
                <a:latin typeface="Nunito" pitchFamily="2" charset="0"/>
              </a:rPr>
              <a:t>Vector instruction set</a:t>
            </a:r>
            <a:r>
              <a:rPr lang="en-US" b="0" i="0" dirty="0">
                <a:solidFill>
                  <a:srgbClr val="273239"/>
                </a:solidFill>
                <a:effectLst/>
                <a:latin typeface="Nunito" pitchFamily="2" charset="0"/>
              </a:rPr>
              <a:t> </a:t>
            </a:r>
            <a:endParaRPr lang="en-US" dirty="0"/>
          </a:p>
        </p:txBody>
      </p:sp>
      <p:sp>
        <p:nvSpPr>
          <p:cNvPr id="3" name="Content Placeholder 2">
            <a:extLst>
              <a:ext uri="{FF2B5EF4-FFF2-40B4-BE49-F238E27FC236}">
                <a16:creationId xmlns:a16="http://schemas.microsoft.com/office/drawing/2014/main" id="{5E0BF02F-6970-3CF5-EEEB-5258E225F0D3}"/>
              </a:ext>
            </a:extLst>
          </p:cNvPr>
          <p:cNvSpPr>
            <a:spLocks noGrp="1"/>
          </p:cNvSpPr>
          <p:nvPr>
            <p:ph idx="1"/>
          </p:nvPr>
        </p:nvSpPr>
        <p:spPr/>
        <p:txBody>
          <a:bodyPr/>
          <a:lstStyle/>
          <a:p>
            <a:r>
              <a:rPr lang="en-US" b="0" i="0" dirty="0">
                <a:solidFill>
                  <a:srgbClr val="273239"/>
                </a:solidFill>
                <a:effectLst/>
                <a:latin typeface="Nunito" pitchFamily="2" charset="0"/>
              </a:rPr>
              <a:t>Different </a:t>
            </a:r>
            <a:r>
              <a:rPr lang="en-US" b="1" i="0" dirty="0">
                <a:solidFill>
                  <a:srgbClr val="273239"/>
                </a:solidFill>
                <a:effectLst/>
                <a:latin typeface="Nunito" pitchFamily="2" charset="0"/>
              </a:rPr>
              <a:t>Instruction formats</a:t>
            </a:r>
            <a:r>
              <a:rPr lang="en-US" b="0" i="0" dirty="0">
                <a:solidFill>
                  <a:srgbClr val="273239"/>
                </a:solidFill>
                <a:effectLst/>
                <a:latin typeface="Nunito" pitchFamily="2" charset="0"/>
              </a:rPr>
              <a:t> are used by different vector processors. Vector instructions are generally specified by some fields. The main fields that are used in </a:t>
            </a:r>
            <a:r>
              <a:rPr lang="en-US" b="1" i="0" dirty="0">
                <a:solidFill>
                  <a:srgbClr val="273239"/>
                </a:solidFill>
                <a:effectLst/>
                <a:latin typeface="Nunito" pitchFamily="2" charset="0"/>
              </a:rPr>
              <a:t>vector instruction set</a:t>
            </a:r>
            <a:r>
              <a:rPr lang="en-US" b="0" i="0" dirty="0">
                <a:solidFill>
                  <a:srgbClr val="273239"/>
                </a:solidFill>
                <a:effectLst/>
                <a:latin typeface="Nunito" pitchFamily="2" charset="0"/>
              </a:rPr>
              <a:t> are given below:</a:t>
            </a:r>
          </a:p>
          <a:p>
            <a:r>
              <a:rPr lang="en-US" b="1" i="0" dirty="0">
                <a:solidFill>
                  <a:srgbClr val="273239"/>
                </a:solidFill>
                <a:effectLst/>
                <a:latin typeface="Nunito" pitchFamily="2" charset="0"/>
              </a:rPr>
              <a:t>Operations Code (Opcode)</a:t>
            </a:r>
          </a:p>
          <a:p>
            <a:r>
              <a:rPr lang="en-US" altLang="en-US" b="1" dirty="0">
                <a:latin typeface="Nunito" pitchFamily="2" charset="0"/>
              </a:rPr>
              <a:t>Base addresses</a:t>
            </a:r>
            <a:endParaRPr lang="en-US" b="1" dirty="0">
              <a:latin typeface="Nunito" pitchFamily="2" charset="0"/>
            </a:endParaRPr>
          </a:p>
        </p:txBody>
      </p:sp>
    </p:spTree>
    <p:extLst>
      <p:ext uri="{BB962C8B-B14F-4D97-AF65-F5344CB8AC3E}">
        <p14:creationId xmlns:p14="http://schemas.microsoft.com/office/powerpoint/2010/main" val="16516279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3413-1F3C-EAA0-6E14-D4C541FCDA8B}"/>
              </a:ext>
            </a:extLst>
          </p:cNvPr>
          <p:cNvSpPr>
            <a:spLocks noGrp="1"/>
          </p:cNvSpPr>
          <p:nvPr>
            <p:ph type="title"/>
          </p:nvPr>
        </p:nvSpPr>
        <p:spPr/>
        <p:txBody>
          <a:bodyPr/>
          <a:lstStyle/>
          <a:p>
            <a:r>
              <a:rPr lang="en-US" b="1" i="0" dirty="0">
                <a:solidFill>
                  <a:srgbClr val="273239"/>
                </a:solidFill>
                <a:effectLst/>
                <a:latin typeface="Nunito" pitchFamily="2" charset="0"/>
              </a:rPr>
              <a:t>Operations Code (Opcode)</a:t>
            </a:r>
            <a:endParaRPr lang="en-US" dirty="0"/>
          </a:p>
        </p:txBody>
      </p:sp>
      <p:sp>
        <p:nvSpPr>
          <p:cNvPr id="3" name="Content Placeholder 2">
            <a:extLst>
              <a:ext uri="{FF2B5EF4-FFF2-40B4-BE49-F238E27FC236}">
                <a16:creationId xmlns:a16="http://schemas.microsoft.com/office/drawing/2014/main" id="{2702FEEA-722C-6883-898C-2CB9039A7CE1}"/>
              </a:ext>
            </a:extLst>
          </p:cNvPr>
          <p:cNvSpPr>
            <a:spLocks noGrp="1"/>
          </p:cNvSpPr>
          <p:nvPr>
            <p:ph idx="1"/>
          </p:nvPr>
        </p:nvSpPr>
        <p:spPr/>
        <p:txBody>
          <a:bodyPr/>
          <a:lstStyle/>
          <a:p>
            <a:pPr marL="342900" indent="-285750" algn="l" fontAlgn="base">
              <a:spcAft>
                <a:spcPts val="1800"/>
              </a:spcAft>
              <a:buFont typeface="+mj-lt"/>
              <a:buAutoNum type="arabicPeriod"/>
            </a:pPr>
            <a:r>
              <a:rPr lang="en-US" b="1" i="0" dirty="0">
                <a:solidFill>
                  <a:srgbClr val="273239"/>
                </a:solidFill>
                <a:effectLst/>
                <a:latin typeface="Nunito" pitchFamily="2" charset="0"/>
              </a:rPr>
              <a:t>Operations Code (Opcode) –</a:t>
            </a:r>
            <a:r>
              <a:rPr lang="en-US" b="0" i="0" dirty="0">
                <a:solidFill>
                  <a:srgbClr val="273239"/>
                </a:solidFill>
                <a:effectLst/>
                <a:latin typeface="Nunito" pitchFamily="2" charset="0"/>
              </a:rPr>
              <a:t> The operation code must be specified to select the functional unit or to reconfigure a multi-functional unit to perform the specified operation dictated by this field. Usually, microcode control is used to set up the required resources. </a:t>
            </a:r>
            <a:r>
              <a:rPr lang="en-US" b="1" i="0" dirty="0">
                <a:solidFill>
                  <a:srgbClr val="273239"/>
                </a:solidFill>
                <a:effectLst/>
                <a:latin typeface="Nunito" pitchFamily="2" charset="0"/>
              </a:rPr>
              <a:t>For example:</a:t>
            </a:r>
            <a:r>
              <a:rPr lang="en-US" b="0" i="0" dirty="0">
                <a:solidFill>
                  <a:srgbClr val="273239"/>
                </a:solidFill>
                <a:effectLst/>
                <a:latin typeface="Nunito" pitchFamily="2" charset="0"/>
              </a:rPr>
              <a:t> </a:t>
            </a:r>
            <a:r>
              <a:rPr lang="en-US" b="0" i="1" dirty="0">
                <a:solidFill>
                  <a:srgbClr val="273239"/>
                </a:solidFill>
                <a:effectLst/>
                <a:latin typeface="Nunito" pitchFamily="2" charset="0"/>
              </a:rPr>
              <a:t>Opcode – 0001 mnemonic – ADD operation – add the content of memory to the content of accumulator Opcode – 0010 mnemonic – SUB operation – subtract the content of memory to the content of accumulator Opcode – 1111 mnemonic – HLT operation – stop processing </a:t>
            </a:r>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23492539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9C2DC-763C-A395-4FDA-8D8147D4B2CC}"/>
              </a:ext>
            </a:extLst>
          </p:cNvPr>
          <p:cNvSpPr>
            <a:spLocks noGrp="1"/>
          </p:cNvSpPr>
          <p:nvPr>
            <p:ph type="title"/>
          </p:nvPr>
        </p:nvSpPr>
        <p:spPr/>
        <p:txBody>
          <a:bodyPr/>
          <a:lstStyle/>
          <a:p>
            <a:r>
              <a:rPr lang="en-US" altLang="en-US" b="1" dirty="0">
                <a:latin typeface="Nunito" pitchFamily="2" charset="0"/>
              </a:rPr>
              <a:t>Base addresses:</a:t>
            </a:r>
            <a:br>
              <a:rPr lang="en-US" b="1" dirty="0">
                <a:latin typeface="Nunito" pitchFamily="2" charset="0"/>
              </a:rPr>
            </a:br>
            <a:r>
              <a:rPr lang="en-US" dirty="0"/>
              <a:t>Key addressing components </a:t>
            </a:r>
          </a:p>
        </p:txBody>
      </p:sp>
      <p:sp>
        <p:nvSpPr>
          <p:cNvPr id="5" name="Rectangle 2">
            <a:extLst>
              <a:ext uri="{FF2B5EF4-FFF2-40B4-BE49-F238E27FC236}">
                <a16:creationId xmlns:a16="http://schemas.microsoft.com/office/drawing/2014/main" id="{2A5152AF-221B-D5AA-CF13-C73075AF08E2}"/>
              </a:ext>
            </a:extLst>
          </p:cNvPr>
          <p:cNvSpPr>
            <a:spLocks noGrp="1" noChangeArrowheads="1"/>
          </p:cNvSpPr>
          <p:nvPr>
            <p:ph idx="1"/>
          </p:nvPr>
        </p:nvSpPr>
        <p:spPr bwMode="auto">
          <a:xfrm>
            <a:off x="1097280" y="2073512"/>
            <a:ext cx="10435590" cy="38779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altLang="en-US" sz="1800" dirty="0"/>
              <a:t> Base addresses – For a memory reference instruction, the base addresses are needed for both source operands and result vectors. The designated vector registers must be specified in the instruction, if the operands and results are located in the vector register file, i.e., collection of registers. For example: ADD R1, R2. Here, R1 and R2 are the addresses of the register.</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lang="en-US" altLang="en-US" sz="1800" dirty="0"/>
              <a:t> Offset (or Displacement) – This field is required to get the effective memory address of operand vector. The address offset relative to the base address should be specified. Using the base address and the offset (positive or negative), the effective address is calculated.</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t>3. Address Increment – The address increment between the scalar elements of vector operand must be specified. Some computers, i.e., the increment is always 1. Some other computers, like TI-ASC, can have a variable increment, which offers higher flexibility in application. For example: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t>R1 &lt;- 400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t>Auto incr-R1 is incremented the value of R1 by 1.</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t>4. Vector length – The vector length (positive integer) is needed to determine the termination of a vector instruction.</a:t>
            </a:r>
          </a:p>
        </p:txBody>
      </p:sp>
    </p:spTree>
    <p:extLst>
      <p:ext uri="{BB962C8B-B14F-4D97-AF65-F5344CB8AC3E}">
        <p14:creationId xmlns:p14="http://schemas.microsoft.com/office/powerpoint/2010/main" val="428343359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270</TotalTime>
  <Words>4018</Words>
  <Application>Microsoft Office PowerPoint</Application>
  <PresentationFormat>Widescreen</PresentationFormat>
  <Paragraphs>197</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Nunito</vt:lpstr>
      <vt:lpstr>Source Sans 3</vt:lpstr>
      <vt:lpstr>Times New Roman</vt:lpstr>
      <vt:lpstr>Retrospect</vt:lpstr>
      <vt:lpstr>Lecture # 04 Vector and Array Processor</vt:lpstr>
      <vt:lpstr>Types of Array Processor</vt:lpstr>
      <vt:lpstr>1. Attached Array Processor :</vt:lpstr>
      <vt:lpstr>Attached array processor has two interfaces: </vt:lpstr>
      <vt:lpstr>Working: </vt:lpstr>
      <vt:lpstr>2. SIMD array processor : </vt:lpstr>
      <vt:lpstr>SIMD array processor</vt:lpstr>
      <vt:lpstr>Working:</vt:lpstr>
      <vt:lpstr>Working:</vt:lpstr>
      <vt:lpstr>Working:</vt:lpstr>
      <vt:lpstr>Operation of SIMD Array Processor</vt:lpstr>
      <vt:lpstr> Vector processor classification</vt:lpstr>
      <vt:lpstr>What is Vector Processor Classification?</vt:lpstr>
      <vt:lpstr>Memory to Memory Architecture</vt:lpstr>
      <vt:lpstr>Register to Register Architecture</vt:lpstr>
      <vt:lpstr>Hybrid Architecture</vt:lpstr>
      <vt:lpstr>A block diagram of a modern multiple pipeline vector computer is shown below:</vt:lpstr>
      <vt:lpstr>Advantages of Vector Processor</vt:lpstr>
      <vt:lpstr>Advantages of Vector Processor</vt:lpstr>
      <vt:lpstr>Disadvantages of Vector Processors</vt:lpstr>
      <vt:lpstr>Limitations of Vector Processor</vt:lpstr>
      <vt:lpstr>Conclusion</vt:lpstr>
      <vt:lpstr>What is the Primary Advantage of Using Vector Processors?</vt:lpstr>
      <vt:lpstr>How does memory-to-memory architecture differ from register-to-register architecture?</vt:lpstr>
      <vt:lpstr>Vector Processor vs Scalar Processor</vt:lpstr>
      <vt:lpstr>Vector Processor</vt:lpstr>
      <vt:lpstr>Characteristics of Vector Processor</vt:lpstr>
      <vt:lpstr>Applications of Vector Processor</vt:lpstr>
      <vt:lpstr>Scalar Processor</vt:lpstr>
      <vt:lpstr>Characteristics of Scalar Processor</vt:lpstr>
      <vt:lpstr>Advantages of Scalar Processor</vt:lpstr>
      <vt:lpstr>Limitations of Scalar Processor</vt:lpstr>
      <vt:lpstr>Applications of Scalar Processor</vt:lpstr>
      <vt:lpstr>Vector Processor v/s Scalar Processor </vt:lpstr>
      <vt:lpstr>Vector Processor v/s Scalar Processor </vt:lpstr>
      <vt:lpstr>Vector Instruction Format in Vector Processors</vt:lpstr>
      <vt:lpstr>Vector instruction formats can vary depending on the specific vector processor architecture, but they typically include some combination of the following fields:</vt:lpstr>
      <vt:lpstr>Vector instruction set </vt:lpstr>
      <vt:lpstr>Operations Code (Opcode)</vt:lpstr>
      <vt:lpstr>Base addresses: Key addressing components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fatimamehar424@gmail.com</dc:creator>
  <cp:lastModifiedBy>fatimamehar424@gmail.com</cp:lastModifiedBy>
  <cp:revision>10</cp:revision>
  <dcterms:created xsi:type="dcterms:W3CDTF">2025-01-19T18:41:29Z</dcterms:created>
  <dcterms:modified xsi:type="dcterms:W3CDTF">2025-02-08T13:49:44Z</dcterms:modified>
</cp:coreProperties>
</file>