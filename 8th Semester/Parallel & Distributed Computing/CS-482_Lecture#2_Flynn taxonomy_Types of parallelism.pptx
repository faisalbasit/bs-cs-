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7" r:id="rId8"/>
    <p:sldId id="268" r:id="rId9"/>
    <p:sldId id="269" r:id="rId10"/>
    <p:sldId id="277" r:id="rId11"/>
    <p:sldId id="270" r:id="rId12"/>
    <p:sldId id="271" r:id="rId13"/>
    <p:sldId id="272" r:id="rId14"/>
    <p:sldId id="273" r:id="rId15"/>
    <p:sldId id="274" r:id="rId16"/>
    <p:sldId id="275" r:id="rId17"/>
    <p:sldId id="276" r:id="rId18"/>
    <p:sldId id="280" r:id="rId19"/>
    <p:sldId id="278" r:id="rId20"/>
    <p:sldId id="279" r:id="rId21"/>
    <p:sldId id="281" r:id="rId22"/>
    <p:sldId id="282" r:id="rId23"/>
    <p:sldId id="283" r:id="rId24"/>
    <p:sldId id="284" r:id="rId25"/>
    <p:sldId id="285" r:id="rId26"/>
    <p:sldId id="286" r:id="rId27"/>
    <p:sldId id="287" r:id="rId28"/>
    <p:sldId id="289" r:id="rId29"/>
    <p:sldId id="290" r:id="rId30"/>
    <p:sldId id="291" r:id="rId31"/>
    <p:sldId id="292" r:id="rId32"/>
    <p:sldId id="293" r:id="rId33"/>
    <p:sldId id="294" r:id="rId34"/>
    <p:sldId id="295" r:id="rId35"/>
    <p:sldId id="262" r:id="rId36"/>
    <p:sldId id="263" r:id="rId37"/>
    <p:sldId id="264" r:id="rId38"/>
    <p:sldId id="26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3E97C9-3249-428F-B723-4663ED2B7CAD}"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83ABA2-006A-41DE-8CE9-22817BC48B3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1375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3E97C9-3249-428F-B723-4663ED2B7CAD}"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83ABA2-006A-41DE-8CE9-22817BC48B31}" type="slidenum">
              <a:rPr lang="en-US" smtClean="0"/>
              <a:t>‹#›</a:t>
            </a:fld>
            <a:endParaRPr lang="en-US"/>
          </a:p>
        </p:txBody>
      </p:sp>
    </p:spTree>
    <p:extLst>
      <p:ext uri="{BB962C8B-B14F-4D97-AF65-F5344CB8AC3E}">
        <p14:creationId xmlns:p14="http://schemas.microsoft.com/office/powerpoint/2010/main" val="123242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3E97C9-3249-428F-B723-4663ED2B7CAD}"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83ABA2-006A-41DE-8CE9-22817BC48B3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1527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3E97C9-3249-428F-B723-4663ED2B7CAD}"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83ABA2-006A-41DE-8CE9-22817BC48B31}" type="slidenum">
              <a:rPr lang="en-US" smtClean="0"/>
              <a:t>‹#›</a:t>
            </a:fld>
            <a:endParaRPr lang="en-US"/>
          </a:p>
        </p:txBody>
      </p:sp>
    </p:spTree>
    <p:extLst>
      <p:ext uri="{BB962C8B-B14F-4D97-AF65-F5344CB8AC3E}">
        <p14:creationId xmlns:p14="http://schemas.microsoft.com/office/powerpoint/2010/main" val="1749514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3E97C9-3249-428F-B723-4663ED2B7CAD}"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83ABA2-006A-41DE-8CE9-22817BC48B31}" type="slidenum">
              <a:rPr lang="en-US" smtClean="0"/>
              <a:t>‹#›</a:t>
            </a:fld>
            <a:endParaRPr lang="en-US"/>
          </a:p>
        </p:txBody>
      </p:sp>
    </p:spTree>
    <p:extLst>
      <p:ext uri="{BB962C8B-B14F-4D97-AF65-F5344CB8AC3E}">
        <p14:creationId xmlns:p14="http://schemas.microsoft.com/office/powerpoint/2010/main" val="4024232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3E97C9-3249-428F-B723-4663ED2B7CAD}"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83ABA2-006A-41DE-8CE9-22817BC48B31}" type="slidenum">
              <a:rPr lang="en-US" smtClean="0"/>
              <a:t>‹#›</a:t>
            </a:fld>
            <a:endParaRPr lang="en-US"/>
          </a:p>
        </p:txBody>
      </p:sp>
    </p:spTree>
    <p:extLst>
      <p:ext uri="{BB962C8B-B14F-4D97-AF65-F5344CB8AC3E}">
        <p14:creationId xmlns:p14="http://schemas.microsoft.com/office/powerpoint/2010/main" val="1382365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13E97C9-3249-428F-B723-4663ED2B7CAD}" type="datetimeFigureOut">
              <a:rPr lang="en-US" smtClean="0"/>
              <a:t>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383ABA2-006A-41DE-8CE9-22817BC48B31}" type="slidenum">
              <a:rPr lang="en-US" smtClean="0"/>
              <a:t>‹#›</a:t>
            </a:fld>
            <a:endParaRPr lang="en-US"/>
          </a:p>
        </p:txBody>
      </p:sp>
    </p:spTree>
    <p:extLst>
      <p:ext uri="{BB962C8B-B14F-4D97-AF65-F5344CB8AC3E}">
        <p14:creationId xmlns:p14="http://schemas.microsoft.com/office/powerpoint/2010/main" val="1358722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13E97C9-3249-428F-B723-4663ED2B7CAD}" type="datetimeFigureOut">
              <a:rPr lang="en-US" smtClean="0"/>
              <a:t>2/8/2025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383ABA2-006A-41DE-8CE9-22817BC48B31}" type="slidenum">
              <a:rPr lang="en-US" smtClean="0"/>
              <a:t>‹#›</a:t>
            </a:fld>
            <a:endParaRPr lang="en-US"/>
          </a:p>
        </p:txBody>
      </p:sp>
    </p:spTree>
    <p:extLst>
      <p:ext uri="{BB962C8B-B14F-4D97-AF65-F5344CB8AC3E}">
        <p14:creationId xmlns:p14="http://schemas.microsoft.com/office/powerpoint/2010/main" val="3026033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E97C9-3249-428F-B723-4663ED2B7CAD}"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83ABA2-006A-41DE-8CE9-22817BC48B31}" type="slidenum">
              <a:rPr lang="en-US" smtClean="0"/>
              <a:t>‹#›</a:t>
            </a:fld>
            <a:endParaRPr lang="en-US"/>
          </a:p>
        </p:txBody>
      </p:sp>
    </p:spTree>
    <p:extLst>
      <p:ext uri="{BB962C8B-B14F-4D97-AF65-F5344CB8AC3E}">
        <p14:creationId xmlns:p14="http://schemas.microsoft.com/office/powerpoint/2010/main" val="1599372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3E97C9-3249-428F-B723-4663ED2B7CAD}"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83ABA2-006A-41DE-8CE9-22817BC48B31}" type="slidenum">
              <a:rPr lang="en-US" smtClean="0"/>
              <a:t>‹#›</a:t>
            </a:fld>
            <a:endParaRPr lang="en-US"/>
          </a:p>
        </p:txBody>
      </p:sp>
    </p:spTree>
    <p:extLst>
      <p:ext uri="{BB962C8B-B14F-4D97-AF65-F5344CB8AC3E}">
        <p14:creationId xmlns:p14="http://schemas.microsoft.com/office/powerpoint/2010/main" val="3179320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3E97C9-3249-428F-B723-4663ED2B7CAD}"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83ABA2-006A-41DE-8CE9-22817BC48B31}" type="slidenum">
              <a:rPr lang="en-US" smtClean="0"/>
              <a:t>‹#›</a:t>
            </a:fld>
            <a:endParaRPr lang="en-US"/>
          </a:p>
        </p:txBody>
      </p:sp>
    </p:spTree>
    <p:extLst>
      <p:ext uri="{BB962C8B-B14F-4D97-AF65-F5344CB8AC3E}">
        <p14:creationId xmlns:p14="http://schemas.microsoft.com/office/powerpoint/2010/main" val="1374093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13E97C9-3249-428F-B723-4663ED2B7CAD}" type="datetimeFigureOut">
              <a:rPr lang="en-US" smtClean="0"/>
              <a:t>2/8/2025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383ABA2-006A-41DE-8CE9-22817BC48B3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3768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8BFEC-B00B-FAEA-102E-04CB36301D85}"/>
              </a:ext>
            </a:extLst>
          </p:cNvPr>
          <p:cNvSpPr>
            <a:spLocks noGrp="1"/>
          </p:cNvSpPr>
          <p:nvPr>
            <p:ph type="ctrTitle"/>
          </p:nvPr>
        </p:nvSpPr>
        <p:spPr/>
        <p:txBody>
          <a:bodyPr>
            <a:normAutofit/>
          </a:bodyPr>
          <a:lstStyle/>
          <a:p>
            <a:r>
              <a:rPr lang="en-US" b="1" dirty="0">
                <a:latin typeface="Times New Roman" panose="02020603050405020304" pitchFamily="18" charset="0"/>
                <a:cs typeface="Times New Roman" panose="02020603050405020304" pitchFamily="18" charset="0"/>
              </a:rPr>
              <a:t>Lecture # 02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Flynn’s Taxonomy: Types of Parallelism</a:t>
            </a:r>
          </a:p>
        </p:txBody>
      </p:sp>
      <p:sp>
        <p:nvSpPr>
          <p:cNvPr id="3" name="Subtitle 2">
            <a:extLst>
              <a:ext uri="{FF2B5EF4-FFF2-40B4-BE49-F238E27FC236}">
                <a16:creationId xmlns:a16="http://schemas.microsoft.com/office/drawing/2014/main" id="{94A5C3D8-2F42-D250-C4DB-B2C06DE36653}"/>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Parallel and Distributed Computing</a:t>
            </a:r>
          </a:p>
          <a:p>
            <a:r>
              <a:rPr lang="en-US" dirty="0">
                <a:latin typeface="Times New Roman" panose="02020603050405020304" pitchFamily="18" charset="0"/>
                <a:cs typeface="Times New Roman" panose="02020603050405020304" pitchFamily="18" charset="0"/>
              </a:rPr>
              <a:t>CS-482</a:t>
            </a:r>
          </a:p>
        </p:txBody>
      </p:sp>
    </p:spTree>
    <p:extLst>
      <p:ext uri="{BB962C8B-B14F-4D97-AF65-F5344CB8AC3E}">
        <p14:creationId xmlns:p14="http://schemas.microsoft.com/office/powerpoint/2010/main" val="2603528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6977F-9B27-1B3D-509C-8F988CAC1BB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Flynn’s Taxonomy:</a:t>
            </a:r>
            <a:endParaRPr lang="en-US" dirty="0"/>
          </a:p>
        </p:txBody>
      </p:sp>
      <p:sp>
        <p:nvSpPr>
          <p:cNvPr id="3" name="Content Placeholder 2">
            <a:extLst>
              <a:ext uri="{FF2B5EF4-FFF2-40B4-BE49-F238E27FC236}">
                <a16:creationId xmlns:a16="http://schemas.microsoft.com/office/drawing/2014/main" id="{E3A5CE7F-817C-B601-CF00-C651BCD89FA3}"/>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Parallel computing is computing where the jobs are broken into discrete parts that can be executed concurrently. Each part is further broken down into a series of instructions. Instructions from each piece execute simultaneously on different CPUs. The breaking up of different parts of a task among multiple processors will help to reduce the amount of time to run a program. Parallel systems deal with the simultaneous use of multiple computer resources that can include a single computer with multiple processors, a number of computers connected by a network to form a parallel processing cluster, or a combination of both. Parallel systems are more difficult to program than computers with a single processor because the architecture of parallel computers varies accordingly and the processes of multiple CPUs must be coordinated and synchronized. The difficult problem of parallel processing is portability.</a:t>
            </a:r>
          </a:p>
        </p:txBody>
      </p:sp>
    </p:spTree>
    <p:extLst>
      <p:ext uri="{BB962C8B-B14F-4D97-AF65-F5344CB8AC3E}">
        <p14:creationId xmlns:p14="http://schemas.microsoft.com/office/powerpoint/2010/main" val="290461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CF24D-8209-45D2-6EA5-548315EBF22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Flynn’s taxonomy</a:t>
            </a:r>
          </a:p>
        </p:txBody>
      </p:sp>
      <p:sp>
        <p:nvSpPr>
          <p:cNvPr id="3" name="Content Placeholder 2">
            <a:extLst>
              <a:ext uri="{FF2B5EF4-FFF2-40B4-BE49-F238E27FC236}">
                <a16:creationId xmlns:a16="http://schemas.microsoft.com/office/drawing/2014/main" id="{AE4582CA-1391-A94F-1336-9CD0AE38C5A9}"/>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 Instruction Stream is a sequence of instructions that are read from memory. Data Stream is the operations performed on the data in the processor. Flynn’s taxonomy is a classification scheme for computer architectures proposed by Michael Flynn in 1966. The taxonomy is based on the number of instruction streams and data streams that can be processed simultaneously by a computer architecture.</a:t>
            </a:r>
          </a:p>
        </p:txBody>
      </p:sp>
    </p:spTree>
    <p:extLst>
      <p:ext uri="{BB962C8B-B14F-4D97-AF65-F5344CB8AC3E}">
        <p14:creationId xmlns:p14="http://schemas.microsoft.com/office/powerpoint/2010/main" val="820666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EAD8-3DC7-9042-1935-6DE893D1772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Flynn’s taxonomy</a:t>
            </a:r>
            <a:endParaRPr lang="en-US" dirty="0"/>
          </a:p>
        </p:txBody>
      </p:sp>
      <p:sp>
        <p:nvSpPr>
          <p:cNvPr id="3" name="Content Placeholder 2">
            <a:extLst>
              <a:ext uri="{FF2B5EF4-FFF2-40B4-BE49-F238E27FC236}">
                <a16:creationId xmlns:a16="http://schemas.microsoft.com/office/drawing/2014/main" id="{2F23B583-9006-D9C0-69B3-DABCA886A0D7}"/>
              </a:ext>
            </a:extLst>
          </p:cNvPr>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There are four categories in Flynn’s taxonomy: </a:t>
            </a:r>
          </a:p>
          <a:p>
            <a:pPr algn="just"/>
            <a:r>
              <a:rPr lang="en-US" dirty="0">
                <a:latin typeface="Times New Roman" panose="02020603050405020304" pitchFamily="18" charset="0"/>
                <a:cs typeface="Times New Roman" panose="02020603050405020304" pitchFamily="18" charset="0"/>
              </a:rPr>
              <a:t>1. Single Instruction Single Data (SISD): In a SISD architecture, there is a single processor that executes a single instruction stream and operates on a single data stream. This is the simplest type of computer architecture and is used in most traditional computers. </a:t>
            </a:r>
          </a:p>
          <a:p>
            <a:pPr algn="just"/>
            <a:r>
              <a:rPr lang="en-US" dirty="0">
                <a:latin typeface="Times New Roman" panose="02020603050405020304" pitchFamily="18" charset="0"/>
                <a:cs typeface="Times New Roman" panose="02020603050405020304" pitchFamily="18" charset="0"/>
              </a:rPr>
              <a:t>2. Single Instruction Multiple Data (SIMD): In a SIMD architecture, there is a single processor that executes the same instruction on multiple data streams in parallel. This type of architecture is used in applications such as image and signal processing. </a:t>
            </a:r>
          </a:p>
          <a:p>
            <a:pPr algn="just"/>
            <a:r>
              <a:rPr lang="en-US" dirty="0">
                <a:latin typeface="Times New Roman" panose="02020603050405020304" pitchFamily="18" charset="0"/>
                <a:cs typeface="Times New Roman" panose="02020603050405020304" pitchFamily="18" charset="0"/>
              </a:rPr>
              <a:t>3. Multiple Instruction Single Data (MISD): In a MISD architecture, multiple processors execute different instructions on the same data stream. This type of architecture is not commonly used in practice, as it is difficult to find applications that can be decomposed into independent instruction streams. </a:t>
            </a:r>
          </a:p>
          <a:p>
            <a:pPr algn="just"/>
            <a:r>
              <a:rPr lang="en-US" dirty="0">
                <a:latin typeface="Times New Roman" panose="02020603050405020304" pitchFamily="18" charset="0"/>
                <a:cs typeface="Times New Roman" panose="02020603050405020304" pitchFamily="18" charset="0"/>
              </a:rPr>
              <a:t>4. Multiple Instruction Multiple Data (MIMD): In a MIMD architecture, multiple processors execute different instructions on different data streams. This type of architecture is used in distributed computing, parallel processing, and other high-performance computing applications.</a:t>
            </a:r>
          </a:p>
        </p:txBody>
      </p:sp>
    </p:spTree>
    <p:extLst>
      <p:ext uri="{BB962C8B-B14F-4D97-AF65-F5344CB8AC3E}">
        <p14:creationId xmlns:p14="http://schemas.microsoft.com/office/powerpoint/2010/main" val="4098883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8D1ED-F7D8-7E80-1FF3-9EEA97063DB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Flynn’s taxonomy</a:t>
            </a:r>
            <a:endParaRPr lang="en-US" dirty="0"/>
          </a:p>
        </p:txBody>
      </p:sp>
      <p:sp>
        <p:nvSpPr>
          <p:cNvPr id="3" name="Content Placeholder 2">
            <a:extLst>
              <a:ext uri="{FF2B5EF4-FFF2-40B4-BE49-F238E27FC236}">
                <a16:creationId xmlns:a16="http://schemas.microsoft.com/office/drawing/2014/main" id="{21DB1755-BBC4-648F-0903-61A04A6685D0}"/>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Flynn’s taxonomy is a useful tool for understanding different types of computer architectures and their strengths and weaknesses. The taxonomy highlights the importance of parallelism in modern computing and shows how different types of parallelism can be exploited to improve performance.</a:t>
            </a:r>
          </a:p>
        </p:txBody>
      </p:sp>
      <p:pic>
        <p:nvPicPr>
          <p:cNvPr id="5" name="Picture 4">
            <a:extLst>
              <a:ext uri="{FF2B5EF4-FFF2-40B4-BE49-F238E27FC236}">
                <a16:creationId xmlns:a16="http://schemas.microsoft.com/office/drawing/2014/main" id="{6425B5C3-AC43-E97F-59E9-3190F3BB0230}"/>
              </a:ext>
            </a:extLst>
          </p:cNvPr>
          <p:cNvPicPr>
            <a:picLocks noChangeAspect="1"/>
          </p:cNvPicPr>
          <p:nvPr/>
        </p:nvPicPr>
        <p:blipFill>
          <a:blip r:embed="rId2"/>
          <a:stretch>
            <a:fillRect/>
          </a:stretch>
        </p:blipFill>
        <p:spPr>
          <a:xfrm>
            <a:off x="3437573" y="2913752"/>
            <a:ext cx="5706427" cy="3215471"/>
          </a:xfrm>
          <a:prstGeom prst="rect">
            <a:avLst/>
          </a:prstGeom>
        </p:spPr>
      </p:pic>
    </p:spTree>
    <p:extLst>
      <p:ext uri="{BB962C8B-B14F-4D97-AF65-F5344CB8AC3E}">
        <p14:creationId xmlns:p14="http://schemas.microsoft.com/office/powerpoint/2010/main" val="2542082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6D22-7700-95E6-660E-0D3809453F6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Flynn’s classification</a:t>
            </a:r>
          </a:p>
        </p:txBody>
      </p:sp>
      <p:sp>
        <p:nvSpPr>
          <p:cNvPr id="3" name="Content Placeholder 2">
            <a:extLst>
              <a:ext uri="{FF2B5EF4-FFF2-40B4-BE49-F238E27FC236}">
                <a16:creationId xmlns:a16="http://schemas.microsoft.com/office/drawing/2014/main" id="{8A4F9742-C735-8F02-D9DA-606DF548426C}"/>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1. Single-instruction, single-data (SISD) systems – An SISD computing system is a uniprocessor machine that is capable of executing a single instruction, operating on a single data stream. In SISD, machine instructions are processed in a sequential manner and computers adopting this model are popularly called sequential computers. Most conventional computers have SISD architecture. All the instructions and data to be processed have to be stored in primary memory.</a:t>
            </a:r>
          </a:p>
        </p:txBody>
      </p:sp>
      <p:pic>
        <p:nvPicPr>
          <p:cNvPr id="5" name="Picture 4">
            <a:extLst>
              <a:ext uri="{FF2B5EF4-FFF2-40B4-BE49-F238E27FC236}">
                <a16:creationId xmlns:a16="http://schemas.microsoft.com/office/drawing/2014/main" id="{0B8A4823-5426-A7C7-21B0-C8A7851FDF5A}"/>
              </a:ext>
            </a:extLst>
          </p:cNvPr>
          <p:cNvPicPr>
            <a:picLocks noChangeAspect="1"/>
          </p:cNvPicPr>
          <p:nvPr/>
        </p:nvPicPr>
        <p:blipFill>
          <a:blip r:embed="rId2"/>
          <a:stretch>
            <a:fillRect/>
          </a:stretch>
        </p:blipFill>
        <p:spPr>
          <a:xfrm>
            <a:off x="7636010" y="3429000"/>
            <a:ext cx="3175704" cy="2697480"/>
          </a:xfrm>
          <a:prstGeom prst="rect">
            <a:avLst/>
          </a:prstGeom>
        </p:spPr>
      </p:pic>
    </p:spTree>
    <p:extLst>
      <p:ext uri="{BB962C8B-B14F-4D97-AF65-F5344CB8AC3E}">
        <p14:creationId xmlns:p14="http://schemas.microsoft.com/office/powerpoint/2010/main" val="1563955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7018B-45BB-9328-50AD-3E731ADA038F}"/>
              </a:ext>
            </a:extLst>
          </p:cNvPr>
          <p:cNvSpPr>
            <a:spLocks noGrp="1"/>
          </p:cNvSpPr>
          <p:nvPr>
            <p:ph type="title"/>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SISD</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332880-D1AB-DD12-C75D-1337272839A4}"/>
              </a:ext>
            </a:extLst>
          </p:cNvPr>
          <p:cNvSpPr>
            <a:spLocks noGrp="1"/>
          </p:cNvSpPr>
          <p:nvPr>
            <p:ph idx="1"/>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The speed of the processing element in the SISD model is limited(dependent) by the rate at which the computer can transfer information internally. Dominant representative SISD systems are IBM PC, workstations.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6791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B952E-524D-689D-15B2-93854D249D89}"/>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Single-instruction, multiple-data (SIMD) systems </a:t>
            </a:r>
            <a:endParaRPr lang="en-US" dirty="0"/>
          </a:p>
        </p:txBody>
      </p:sp>
      <p:sp>
        <p:nvSpPr>
          <p:cNvPr id="3" name="Content Placeholder 2">
            <a:extLst>
              <a:ext uri="{FF2B5EF4-FFF2-40B4-BE49-F238E27FC236}">
                <a16:creationId xmlns:a16="http://schemas.microsoft.com/office/drawing/2014/main" id="{E9F716AE-F4E9-3F2E-5459-BE46177696EB}"/>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A SIMD system is a multiprocessor machine capable of executing the same instruction on all the CPUs but operating on different data streams. Machines based on a SIMD model are well suited to scientific computing since they involve lots of vector and matrix operations. So that the information can be passed to all the processing elements (PEs) organized data elements of vectors can be divided into multiple sets(N-sets for N PE systems) and each PE can process one data set.</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1D17294-E0BC-F997-D920-2B352129091F}"/>
              </a:ext>
            </a:extLst>
          </p:cNvPr>
          <p:cNvPicPr>
            <a:picLocks noChangeAspect="1"/>
          </p:cNvPicPr>
          <p:nvPr/>
        </p:nvPicPr>
        <p:blipFill>
          <a:blip r:embed="rId2"/>
          <a:stretch>
            <a:fillRect/>
          </a:stretch>
        </p:blipFill>
        <p:spPr>
          <a:xfrm>
            <a:off x="7634287" y="3333327"/>
            <a:ext cx="3521393" cy="2980795"/>
          </a:xfrm>
          <a:prstGeom prst="rect">
            <a:avLst/>
          </a:prstGeom>
        </p:spPr>
      </p:pic>
    </p:spTree>
    <p:extLst>
      <p:ext uri="{BB962C8B-B14F-4D97-AF65-F5344CB8AC3E}">
        <p14:creationId xmlns:p14="http://schemas.microsoft.com/office/powerpoint/2010/main" val="2256427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D7220-130B-0360-1187-88D5B6364E2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SIMD</a:t>
            </a:r>
          </a:p>
        </p:txBody>
      </p:sp>
      <p:sp>
        <p:nvSpPr>
          <p:cNvPr id="3" name="Content Placeholder 2">
            <a:extLst>
              <a:ext uri="{FF2B5EF4-FFF2-40B4-BE49-F238E27FC236}">
                <a16:creationId xmlns:a16="http://schemas.microsoft.com/office/drawing/2014/main" id="{FD4F79FF-A482-08F1-6127-48B2BC00B2CB}"/>
              </a:ext>
            </a:extLst>
          </p:cNvPr>
          <p:cNvSpPr>
            <a:spLocks noGrp="1"/>
          </p:cNvSpPr>
          <p:nvPr>
            <p:ph idx="1"/>
          </p:nvPr>
        </p:nvSpPr>
        <p:spPr/>
        <p:txBody>
          <a:bodyPr/>
          <a:lstStyle/>
          <a:p>
            <a:pPr marL="0" indent="0" algn="l" fontAlgn="base">
              <a:spcAft>
                <a:spcPts val="750"/>
              </a:spcAft>
              <a:buNone/>
            </a:pPr>
            <a:r>
              <a:rPr lang="en-US" b="0" i="0" dirty="0">
                <a:solidFill>
                  <a:srgbClr val="273239"/>
                </a:solidFill>
                <a:effectLst/>
                <a:latin typeface="Times New Roman" panose="02020603050405020304" pitchFamily="18" charset="0"/>
                <a:cs typeface="Times New Roman" panose="02020603050405020304" pitchFamily="18" charset="0"/>
              </a:rPr>
              <a:t>Dominant representative SIMD systems is Cray’s vector processing machine.</a:t>
            </a:r>
          </a:p>
          <a:p>
            <a:pPr marL="0" indent="0" fontAlgn="base">
              <a:spcAft>
                <a:spcPts val="750"/>
              </a:spcAft>
              <a:buNone/>
            </a:pPr>
            <a:r>
              <a:rPr lang="en-US" b="0" i="0" dirty="0">
                <a:solidFill>
                  <a:srgbClr val="202122"/>
                </a:solidFill>
                <a:effectLst/>
                <a:latin typeface="Times New Roman" panose="02020603050405020304" pitchFamily="18" charset="0"/>
                <a:cs typeface="Times New Roman" panose="02020603050405020304" pitchFamily="18" charset="0"/>
              </a:rPr>
              <a:t>Flynn's 1972 paper subdivided SIMD down into three further categories:</a:t>
            </a:r>
          </a:p>
          <a:p>
            <a:pPr marL="400050" indent="-400050" fontAlgn="base">
              <a:spcAft>
                <a:spcPts val="750"/>
              </a:spcAft>
              <a:buFont typeface="Wingdings" panose="05000000000000000000" pitchFamily="2" charset="2"/>
              <a:buChar char="§"/>
            </a:pPr>
            <a:r>
              <a:rPr lang="en-US" b="1" dirty="0">
                <a:solidFill>
                  <a:srgbClr val="202122"/>
                </a:solidFill>
                <a:latin typeface="Times New Roman" panose="02020603050405020304" pitchFamily="18" charset="0"/>
                <a:cs typeface="Times New Roman" panose="02020603050405020304" pitchFamily="18" charset="0"/>
              </a:rPr>
              <a:t>Array processor</a:t>
            </a:r>
            <a:r>
              <a:rPr lang="en-US" b="0" i="0" dirty="0">
                <a:solidFill>
                  <a:srgbClr val="202122"/>
                </a:solidFill>
                <a:effectLst/>
                <a:latin typeface="Times New Roman" panose="02020603050405020304" pitchFamily="18" charset="0"/>
                <a:cs typeface="Times New Roman" panose="02020603050405020304" pitchFamily="18" charset="0"/>
              </a:rPr>
              <a:t> </a:t>
            </a:r>
          </a:p>
          <a:p>
            <a:pPr marL="400050" indent="-400050" fontAlgn="base">
              <a:spcAft>
                <a:spcPts val="750"/>
              </a:spcAft>
              <a:buFont typeface="Wingdings" panose="05000000000000000000" pitchFamily="2" charset="2"/>
              <a:buChar char="§"/>
            </a:pPr>
            <a:r>
              <a:rPr lang="en-US" b="1" i="0" dirty="0">
                <a:solidFill>
                  <a:srgbClr val="202122"/>
                </a:solidFill>
                <a:effectLst/>
                <a:latin typeface="Times New Roman" panose="02020603050405020304" pitchFamily="18" charset="0"/>
                <a:cs typeface="Times New Roman" panose="02020603050405020304" pitchFamily="18" charset="0"/>
              </a:rPr>
              <a:t>Pipelined processor</a:t>
            </a:r>
            <a:r>
              <a:rPr lang="en-US" b="0" i="0" dirty="0">
                <a:solidFill>
                  <a:srgbClr val="202122"/>
                </a:solidFill>
                <a:effectLst/>
                <a:latin typeface="Times New Roman" panose="02020603050405020304" pitchFamily="18" charset="0"/>
                <a:cs typeface="Times New Roman" panose="02020603050405020304" pitchFamily="18" charset="0"/>
              </a:rPr>
              <a:t> </a:t>
            </a:r>
          </a:p>
          <a:p>
            <a:pPr marL="400050" indent="-400050" fontAlgn="base">
              <a:spcAft>
                <a:spcPts val="750"/>
              </a:spcAft>
              <a:buFont typeface="Wingdings" panose="05000000000000000000" pitchFamily="2" charset="2"/>
              <a:buChar char="§"/>
            </a:pPr>
            <a:r>
              <a:rPr lang="en-US" b="1" i="0" dirty="0">
                <a:solidFill>
                  <a:srgbClr val="202122"/>
                </a:solidFill>
                <a:effectLst/>
                <a:latin typeface="Times New Roman" panose="02020603050405020304" pitchFamily="18" charset="0"/>
                <a:cs typeface="Times New Roman" panose="02020603050405020304" pitchFamily="18" charset="0"/>
              </a:rPr>
              <a:t>Associative processor</a:t>
            </a:r>
            <a:r>
              <a:rPr lang="en-US" b="0" i="0" dirty="0">
                <a:solidFill>
                  <a:srgbClr val="202122"/>
                </a:solidFill>
                <a:effectLst/>
                <a:latin typeface="Times New Roman" panose="02020603050405020304" pitchFamily="18" charset="0"/>
                <a:cs typeface="Times New Roman" panose="02020603050405020304" pitchFamily="18" charset="0"/>
              </a:rPr>
              <a:t> </a:t>
            </a:r>
            <a:endParaRPr lang="en-US" dirty="0">
              <a:solidFill>
                <a:srgbClr val="202122"/>
              </a:solidFill>
              <a:latin typeface="Times New Roman" panose="02020603050405020304" pitchFamily="18" charset="0"/>
              <a:cs typeface="Times New Roman" panose="02020603050405020304" pitchFamily="18" charset="0"/>
            </a:endParaRPr>
          </a:p>
          <a:p>
            <a:pPr marL="0" indent="0" algn="l" fontAlgn="base">
              <a:spcAft>
                <a:spcPts val="750"/>
              </a:spcAft>
              <a:buNone/>
            </a:pPr>
            <a:endParaRPr lang="en-US" b="0" i="0" dirty="0">
              <a:solidFill>
                <a:srgbClr val="273239"/>
              </a:solidFill>
              <a:effectLst/>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3957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E7735-5F5F-4673-5C63-61D17A2B2AB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SIMD sub categories</a:t>
            </a:r>
          </a:p>
        </p:txBody>
      </p:sp>
      <p:sp>
        <p:nvSpPr>
          <p:cNvPr id="3" name="Content Placeholder 2">
            <a:extLst>
              <a:ext uri="{FF2B5EF4-FFF2-40B4-BE49-F238E27FC236}">
                <a16:creationId xmlns:a16="http://schemas.microsoft.com/office/drawing/2014/main" id="{3CB595B8-765B-B469-10B0-5DC55FE29B2F}"/>
              </a:ext>
            </a:extLst>
          </p:cNvPr>
          <p:cNvSpPr>
            <a:spLocks noGrp="1"/>
          </p:cNvSpPr>
          <p:nvPr>
            <p:ph idx="1"/>
          </p:nvPr>
        </p:nvSpPr>
        <p:spPr/>
        <p:txBody>
          <a:bodyPr/>
          <a:lstStyle/>
          <a:p>
            <a:pPr marL="457200" indent="-400050" algn="just">
              <a:buFont typeface="Wingdings" panose="05000000000000000000" pitchFamily="2" charset="2"/>
              <a:buChar char="§"/>
            </a:pPr>
            <a:r>
              <a:rPr lang="en-US" b="1" dirty="0">
                <a:solidFill>
                  <a:srgbClr val="202122"/>
                </a:solidFill>
                <a:latin typeface="Times New Roman" panose="02020603050405020304" pitchFamily="18" charset="0"/>
                <a:cs typeface="Times New Roman" panose="02020603050405020304" pitchFamily="18" charset="0"/>
              </a:rPr>
              <a:t>Array processor</a:t>
            </a:r>
            <a:r>
              <a:rPr lang="en-US" b="0" i="0" dirty="0">
                <a:solidFill>
                  <a:srgbClr val="202122"/>
                </a:solidFill>
                <a:effectLst/>
                <a:latin typeface="Times New Roman" panose="02020603050405020304" pitchFamily="18" charset="0"/>
                <a:cs typeface="Times New Roman" panose="02020603050405020304" pitchFamily="18" charset="0"/>
              </a:rPr>
              <a:t> – These receive the one (same) instruction but each parallel processing unit has its own separate and distinct memory and register file.</a:t>
            </a:r>
          </a:p>
          <a:p>
            <a:pPr marL="457200" indent="-400050" algn="just">
              <a:buFont typeface="Wingdings" panose="05000000000000000000" pitchFamily="2" charset="2"/>
              <a:buChar char="§"/>
            </a:pPr>
            <a:r>
              <a:rPr lang="en-US" b="1" i="0" dirty="0">
                <a:solidFill>
                  <a:srgbClr val="202122"/>
                </a:solidFill>
                <a:effectLst/>
                <a:latin typeface="Times New Roman" panose="02020603050405020304" pitchFamily="18" charset="0"/>
                <a:cs typeface="Times New Roman" panose="02020603050405020304" pitchFamily="18" charset="0"/>
              </a:rPr>
              <a:t>Pipelined processor</a:t>
            </a:r>
            <a:r>
              <a:rPr lang="en-US" b="0" i="0" dirty="0">
                <a:solidFill>
                  <a:srgbClr val="202122"/>
                </a:solidFill>
                <a:effectLst/>
                <a:latin typeface="Times New Roman" panose="02020603050405020304" pitchFamily="18" charset="0"/>
                <a:cs typeface="Times New Roman" panose="02020603050405020304" pitchFamily="18" charset="0"/>
              </a:rPr>
              <a:t> – These receive the one (same) instruction but then read data from a central resource, each processes fragments of that data, then writes back the results to the same central resource. In Figure 5 of Flynn's 1972 paper that resource is main memory: for modern CPUs that resource is now more typically the register file.</a:t>
            </a:r>
          </a:p>
          <a:p>
            <a:pPr marL="457200" indent="-400050" algn="just">
              <a:buFont typeface="Wingdings" panose="05000000000000000000" pitchFamily="2" charset="2"/>
              <a:buChar char="§"/>
            </a:pPr>
            <a:r>
              <a:rPr lang="en-US" b="1" i="0" dirty="0">
                <a:solidFill>
                  <a:srgbClr val="202122"/>
                </a:solidFill>
                <a:effectLst/>
                <a:latin typeface="Times New Roman" panose="02020603050405020304" pitchFamily="18" charset="0"/>
                <a:cs typeface="Times New Roman" panose="02020603050405020304" pitchFamily="18" charset="0"/>
              </a:rPr>
              <a:t>Associative processor</a:t>
            </a:r>
            <a:r>
              <a:rPr lang="en-US" b="0" i="0" dirty="0">
                <a:solidFill>
                  <a:srgbClr val="202122"/>
                </a:solidFill>
                <a:effectLst/>
                <a:latin typeface="Times New Roman" panose="02020603050405020304" pitchFamily="18" charset="0"/>
                <a:cs typeface="Times New Roman" panose="02020603050405020304" pitchFamily="18" charset="0"/>
              </a:rPr>
              <a:t> – These receive the one (same) instruction but in each parallel processing unit an </a:t>
            </a:r>
            <a:r>
              <a:rPr lang="en-US" b="0" i="1" dirty="0">
                <a:solidFill>
                  <a:srgbClr val="202122"/>
                </a:solidFill>
                <a:effectLst/>
                <a:latin typeface="Times New Roman" panose="02020603050405020304" pitchFamily="18" charset="0"/>
                <a:cs typeface="Times New Roman" panose="02020603050405020304" pitchFamily="18" charset="0"/>
              </a:rPr>
              <a:t>independent</a:t>
            </a:r>
            <a:r>
              <a:rPr lang="en-US" b="0" i="0" dirty="0">
                <a:solidFill>
                  <a:srgbClr val="202122"/>
                </a:solidFill>
                <a:effectLst/>
                <a:latin typeface="Times New Roman" panose="02020603050405020304" pitchFamily="18" charset="0"/>
                <a:cs typeface="Times New Roman" panose="02020603050405020304" pitchFamily="18" charset="0"/>
              </a:rPr>
              <a:t> decision is made, based on data </a:t>
            </a:r>
            <a:r>
              <a:rPr lang="en-US" b="0" i="1" dirty="0">
                <a:solidFill>
                  <a:srgbClr val="202122"/>
                </a:solidFill>
                <a:effectLst/>
                <a:latin typeface="Times New Roman" panose="02020603050405020304" pitchFamily="18" charset="0"/>
                <a:cs typeface="Times New Roman" panose="02020603050405020304" pitchFamily="18" charset="0"/>
              </a:rPr>
              <a:t>local</a:t>
            </a:r>
            <a:r>
              <a:rPr lang="en-US" b="0" i="0" dirty="0">
                <a:solidFill>
                  <a:srgbClr val="202122"/>
                </a:solidFill>
                <a:effectLst/>
                <a:latin typeface="Times New Roman" panose="02020603050405020304" pitchFamily="18" charset="0"/>
                <a:cs typeface="Times New Roman" panose="02020603050405020304" pitchFamily="18" charset="0"/>
              </a:rPr>
              <a:t> to the unit, as to whether to perform the execution or whether to skip it. In modern terminology this is known as "predicated" (masked) SIMD.</a:t>
            </a:r>
          </a:p>
          <a:p>
            <a:pPr marL="457200" indent="-4000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2150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CA15-CA9D-B674-A7BF-07C564973056}"/>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Multiple-instruction, single-data (MISD) systems </a:t>
            </a:r>
            <a:endParaRPr lang="en-US" dirty="0"/>
          </a:p>
        </p:txBody>
      </p:sp>
      <p:sp>
        <p:nvSpPr>
          <p:cNvPr id="3" name="Content Placeholder 2">
            <a:extLst>
              <a:ext uri="{FF2B5EF4-FFF2-40B4-BE49-F238E27FC236}">
                <a16:creationId xmlns:a16="http://schemas.microsoft.com/office/drawing/2014/main" id="{E9B6AC24-04EA-7F85-39ED-8395008825E0}"/>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An MISD computing system is a multiprocessor machine capable of executing different instructions on different PEs but all of them operating on the same dataset .</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4550E2A-31C9-CD2A-E7E2-693F37029743}"/>
              </a:ext>
            </a:extLst>
          </p:cNvPr>
          <p:cNvPicPr>
            <a:picLocks noChangeAspect="1"/>
          </p:cNvPicPr>
          <p:nvPr/>
        </p:nvPicPr>
        <p:blipFill>
          <a:blip r:embed="rId2"/>
          <a:stretch>
            <a:fillRect/>
          </a:stretch>
        </p:blipFill>
        <p:spPr>
          <a:xfrm>
            <a:off x="4853940" y="2423160"/>
            <a:ext cx="6438900" cy="3851910"/>
          </a:xfrm>
          <a:prstGeom prst="rect">
            <a:avLst/>
          </a:prstGeom>
        </p:spPr>
      </p:pic>
    </p:spTree>
    <p:extLst>
      <p:ext uri="{BB962C8B-B14F-4D97-AF65-F5344CB8AC3E}">
        <p14:creationId xmlns:p14="http://schemas.microsoft.com/office/powerpoint/2010/main" val="1549692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4954C-F5E2-5242-1B14-BBC76DCF5791}"/>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MISD</a:t>
            </a:r>
          </a:p>
        </p:txBody>
      </p:sp>
      <p:sp>
        <p:nvSpPr>
          <p:cNvPr id="3" name="Content Placeholder 2">
            <a:extLst>
              <a:ext uri="{FF2B5EF4-FFF2-40B4-BE49-F238E27FC236}">
                <a16:creationId xmlns:a16="http://schemas.microsoft.com/office/drawing/2014/main" id="{C1B50FD3-A9A9-0527-63FA-857A9E6F05A6}"/>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Example Z = sin(x)+cos(x)+tan(x)</a:t>
            </a:r>
          </a:p>
          <a:p>
            <a:pPr algn="just"/>
            <a:br>
              <a:rPr lang="en-US" dirty="0">
                <a:latin typeface="Times New Roman" panose="02020603050405020304" pitchFamily="18" charset="0"/>
                <a:cs typeface="Times New Roman" panose="02020603050405020304" pitchFamily="18" charset="0"/>
              </a:rPr>
            </a:br>
            <a:r>
              <a:rPr lang="en-US" b="0" i="0" dirty="0">
                <a:solidFill>
                  <a:srgbClr val="273239"/>
                </a:solidFill>
                <a:effectLst/>
                <a:latin typeface="Times New Roman" panose="02020603050405020304" pitchFamily="18" charset="0"/>
                <a:cs typeface="Times New Roman" panose="02020603050405020304" pitchFamily="18" charset="0"/>
              </a:rPr>
              <a:t>The system performs different operations on the same data set. Machines built using the MISD model are not useful in most of the application, a few machines are built, but none of them are available commercially.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8660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E3CEE-B360-4640-221B-55B3CADAEBA3}"/>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Multiple-instruction, multiple-data (MIMD) systems</a:t>
            </a:r>
            <a:endParaRPr lang="en-US" dirty="0"/>
          </a:p>
        </p:txBody>
      </p:sp>
      <p:sp>
        <p:nvSpPr>
          <p:cNvPr id="3" name="Content Placeholder 2">
            <a:extLst>
              <a:ext uri="{FF2B5EF4-FFF2-40B4-BE49-F238E27FC236}">
                <a16:creationId xmlns:a16="http://schemas.microsoft.com/office/drawing/2014/main" id="{8373E7A7-BF9B-414B-F359-6CA9E43A54D0}"/>
              </a:ext>
            </a:extLst>
          </p:cNvPr>
          <p:cNvSpPr>
            <a:spLocks noGrp="1"/>
          </p:cNvSpPr>
          <p:nvPr>
            <p:ph idx="1"/>
          </p:nvPr>
        </p:nvSpPr>
        <p:spPr/>
        <p:txBody>
          <a:bodyPr/>
          <a:lstStyle/>
          <a:p>
            <a:pPr marL="0" indent="0" algn="just">
              <a:buNone/>
            </a:pPr>
            <a:r>
              <a:rPr lang="en-US" b="0" i="0" dirty="0">
                <a:solidFill>
                  <a:srgbClr val="273239"/>
                </a:solidFill>
                <a:effectLst/>
                <a:latin typeface="Times New Roman" panose="02020603050405020304" pitchFamily="18" charset="0"/>
                <a:cs typeface="Times New Roman" panose="02020603050405020304" pitchFamily="18" charset="0"/>
              </a:rPr>
              <a:t>An MIMD system is a multiprocessor machine which is capable of executing multiple instructions on multiple data sets. Each PE in the MIMD model has separate instruction and data streams; therefore, machines built using this model are capable to any kind of application. Unlike SIMD and MISD machines, PEs in MIMD machines work asynchronously.</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1C649AC-A9CE-6240-5F80-801C14DB527F}"/>
              </a:ext>
            </a:extLst>
          </p:cNvPr>
          <p:cNvPicPr>
            <a:picLocks noChangeAspect="1"/>
          </p:cNvPicPr>
          <p:nvPr/>
        </p:nvPicPr>
        <p:blipFill>
          <a:blip r:embed="rId2"/>
          <a:stretch>
            <a:fillRect/>
          </a:stretch>
        </p:blipFill>
        <p:spPr>
          <a:xfrm>
            <a:off x="5425411" y="3051810"/>
            <a:ext cx="5669309" cy="3224212"/>
          </a:xfrm>
          <a:prstGeom prst="rect">
            <a:avLst/>
          </a:prstGeom>
        </p:spPr>
      </p:pic>
    </p:spTree>
    <p:extLst>
      <p:ext uri="{BB962C8B-B14F-4D97-AF65-F5344CB8AC3E}">
        <p14:creationId xmlns:p14="http://schemas.microsoft.com/office/powerpoint/2010/main" val="2591077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AF14D-D756-999C-8CFC-E90A1042B36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MIMD</a:t>
            </a:r>
          </a:p>
        </p:txBody>
      </p:sp>
      <p:sp>
        <p:nvSpPr>
          <p:cNvPr id="3" name="Content Placeholder 2">
            <a:extLst>
              <a:ext uri="{FF2B5EF4-FFF2-40B4-BE49-F238E27FC236}">
                <a16:creationId xmlns:a16="http://schemas.microsoft.com/office/drawing/2014/main" id="{C03FDDB7-2775-FB17-36C5-D8BEA29BE025}"/>
              </a:ext>
            </a:extLst>
          </p:cNvPr>
          <p:cNvSpPr>
            <a:spLocks noGrp="1"/>
          </p:cNvSpPr>
          <p:nvPr>
            <p:ph idx="1"/>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MIMD machines are broadly categorized into </a:t>
            </a:r>
            <a:r>
              <a:rPr lang="en-US" b="1" i="0" dirty="0">
                <a:solidFill>
                  <a:srgbClr val="273239"/>
                </a:solidFill>
                <a:effectLst/>
                <a:latin typeface="Times New Roman" panose="02020603050405020304" pitchFamily="18" charset="0"/>
                <a:cs typeface="Times New Roman" panose="02020603050405020304" pitchFamily="18" charset="0"/>
              </a:rPr>
              <a:t>shared-memory MIMD</a:t>
            </a:r>
            <a:r>
              <a:rPr lang="en-US" b="0" i="0" dirty="0">
                <a:solidFill>
                  <a:srgbClr val="273239"/>
                </a:solidFill>
                <a:effectLst/>
                <a:latin typeface="Times New Roman" panose="02020603050405020304" pitchFamily="18" charset="0"/>
                <a:cs typeface="Times New Roman" panose="02020603050405020304" pitchFamily="18" charset="0"/>
              </a:rPr>
              <a:t> and</a:t>
            </a:r>
            <a:r>
              <a:rPr lang="en-US" b="1" i="0" dirty="0">
                <a:solidFill>
                  <a:srgbClr val="273239"/>
                </a:solidFill>
                <a:effectLst/>
                <a:latin typeface="Times New Roman" panose="02020603050405020304" pitchFamily="18" charset="0"/>
                <a:cs typeface="Times New Roman" panose="02020603050405020304" pitchFamily="18" charset="0"/>
              </a:rPr>
              <a:t> distributed-memory MIMD</a:t>
            </a:r>
            <a:r>
              <a:rPr lang="en-US" b="0" i="0" dirty="0">
                <a:solidFill>
                  <a:srgbClr val="273239"/>
                </a:solidFill>
                <a:effectLst/>
                <a:latin typeface="Times New Roman" panose="02020603050405020304" pitchFamily="18" charset="0"/>
                <a:cs typeface="Times New Roman" panose="02020603050405020304" pitchFamily="18" charset="0"/>
              </a:rPr>
              <a:t> based on the way PEs are coupled to the main memory.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99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CA9C-6141-54A8-7D1F-679D651AFBC2}"/>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Shared memory MIMD</a:t>
            </a:r>
            <a:r>
              <a:rPr lang="en-US" b="0" i="0" dirty="0">
                <a:solidFill>
                  <a:srgbClr val="273239"/>
                </a:solidFill>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DE7927-A7F9-3245-3EDC-62F951C6E0EF}"/>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In the </a:t>
            </a:r>
            <a:r>
              <a:rPr lang="en-US" b="1" i="0" dirty="0">
                <a:solidFill>
                  <a:srgbClr val="273239"/>
                </a:solidFill>
                <a:effectLst/>
                <a:latin typeface="Times New Roman" panose="02020603050405020304" pitchFamily="18" charset="0"/>
                <a:cs typeface="Times New Roman" panose="02020603050405020304" pitchFamily="18" charset="0"/>
              </a:rPr>
              <a:t>shared memory MIMD</a:t>
            </a:r>
            <a:r>
              <a:rPr lang="en-US" b="0" i="0" dirty="0">
                <a:solidFill>
                  <a:srgbClr val="273239"/>
                </a:solidFill>
                <a:effectLst/>
                <a:latin typeface="Times New Roman" panose="02020603050405020304" pitchFamily="18" charset="0"/>
                <a:cs typeface="Times New Roman" panose="02020603050405020304" pitchFamily="18" charset="0"/>
              </a:rPr>
              <a:t> model (tightly coupled multiprocessor systems), all the PEs are connected to a single global memory and they all have access to it. The communication between PEs in this model takes place through the shared memory, modification of the data stored in the global memory by one PE is visible to all other PEs. Dominant representative shared memory MIMD systems are Silicon Graphics machines and Sun/IBM’s SMP (Symmetric Multi-Processing).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9377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A2EFA-1C6C-F45D-3FC2-7AFC3E5EC0B4}"/>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Distributed memory MIMD</a:t>
            </a:r>
            <a:r>
              <a:rPr lang="en-US" b="0" i="0" dirty="0">
                <a:solidFill>
                  <a:srgbClr val="273239"/>
                </a:solidFill>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F349BC-D35D-59B1-370E-BD4FCC03B35E}"/>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In </a:t>
            </a:r>
            <a:r>
              <a:rPr lang="en-US" b="1" i="0" dirty="0">
                <a:solidFill>
                  <a:srgbClr val="273239"/>
                </a:solidFill>
                <a:effectLst/>
                <a:latin typeface="Times New Roman" panose="02020603050405020304" pitchFamily="18" charset="0"/>
                <a:cs typeface="Times New Roman" panose="02020603050405020304" pitchFamily="18" charset="0"/>
              </a:rPr>
              <a:t>Distributed memory MIMD</a:t>
            </a:r>
            <a:r>
              <a:rPr lang="en-US" b="0" i="0" dirty="0">
                <a:solidFill>
                  <a:srgbClr val="273239"/>
                </a:solidFill>
                <a:effectLst/>
                <a:latin typeface="Times New Roman" panose="02020603050405020304" pitchFamily="18" charset="0"/>
                <a:cs typeface="Times New Roman" panose="02020603050405020304" pitchFamily="18" charset="0"/>
              </a:rPr>
              <a:t> machines (loosely coupled multiprocessor systems) all PEs have a local memory. The communication between PEs in this model takes place through the interconnection network (the inter process communication channel, or IPC). The network connecting PEs can be configured to tree, mesh or in accordance with the requirement.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4159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51C81-4C60-7DE2-669A-F9E64C0D4C1F}"/>
              </a:ext>
            </a:extLst>
          </p:cNvPr>
          <p:cNvSpPr>
            <a:spLocks noGrp="1"/>
          </p:cNvSpPr>
          <p:nvPr>
            <p:ph type="title"/>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MIMD architectures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0E558A-B47E-E1A7-75B9-9434D2E83D15}"/>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The shared-memory MIMD architecture is easier to program but is less tolerant to failures and harder to extend with respect to the distributed memory MIMD model. Failures in a shared-memory MIMD affect the entire system, whereas this is not the case of the distributed model, in which each of the PEs can be easily isolated. Moreover, shared memory MIMD architectures are less likely to scale because the addition of more PEs leads to memory contention. This is a situation that does not happen in the case of distributed memory, in which each PE has its own memory. As a result of practical outcomes and user’s requirement , distributed memory MIMD architecture is superior to the other existing models.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9396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819DE-54ED-1B9C-7F4D-A7356A942C5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SPMD and MPMD</a:t>
            </a:r>
          </a:p>
        </p:txBody>
      </p:sp>
      <p:sp>
        <p:nvSpPr>
          <p:cNvPr id="3" name="Content Placeholder 2">
            <a:extLst>
              <a:ext uri="{FF2B5EF4-FFF2-40B4-BE49-F238E27FC236}">
                <a16:creationId xmlns:a16="http://schemas.microsoft.com/office/drawing/2014/main" id="{C0BE2AE9-FC33-2472-C0E0-F80917B64DDA}"/>
              </a:ext>
            </a:extLst>
          </p:cNvPr>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SPMD and MPMD</a:t>
            </a:r>
            <a:r>
              <a:rPr lang="en-US" dirty="0">
                <a:latin typeface="Times New Roman" panose="02020603050405020304" pitchFamily="18" charset="0"/>
                <a:cs typeface="Times New Roman" panose="02020603050405020304" pitchFamily="18" charset="0"/>
              </a:rPr>
              <a:t>: is a programming model or execution paradigm that applies specifically to MIMD architectures.</a:t>
            </a:r>
          </a:p>
          <a:p>
            <a:pPr algn="just"/>
            <a:r>
              <a:rPr lang="en-US" dirty="0">
                <a:latin typeface="Times New Roman" panose="02020603050405020304" pitchFamily="18" charset="0"/>
                <a:cs typeface="Times New Roman" panose="02020603050405020304" pitchFamily="18" charset="0"/>
              </a:rPr>
              <a:t>It describes how parallel tasks are organized and executed, but it is not a hardware classification.</a:t>
            </a:r>
          </a:p>
          <a:p>
            <a:pPr marL="4000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SPMD</a:t>
            </a:r>
            <a:r>
              <a:rPr lang="en-US" dirty="0">
                <a:latin typeface="Times New Roman" panose="02020603050405020304" pitchFamily="18" charset="0"/>
                <a:cs typeface="Times New Roman" panose="02020603050405020304" pitchFamily="18" charset="0"/>
              </a:rPr>
              <a:t> assumes all processors execute the same program on different data.</a:t>
            </a:r>
          </a:p>
          <a:p>
            <a:pPr marL="4000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MPMD</a:t>
            </a:r>
            <a:r>
              <a:rPr lang="en-US" dirty="0">
                <a:latin typeface="Times New Roman" panose="02020603050405020304" pitchFamily="18" charset="0"/>
                <a:cs typeface="Times New Roman" panose="02020603050405020304" pitchFamily="18" charset="0"/>
              </a:rPr>
              <a:t> assumes processors execute different programs on different data.</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69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340A2-5B57-C9A7-3654-CE4AF9F64B7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SPMD</a:t>
            </a:r>
            <a:endParaRPr lang="en-US" dirty="0"/>
          </a:p>
        </p:txBody>
      </p:sp>
      <p:sp>
        <p:nvSpPr>
          <p:cNvPr id="3" name="Content Placeholder 2">
            <a:extLst>
              <a:ext uri="{FF2B5EF4-FFF2-40B4-BE49-F238E27FC236}">
                <a16:creationId xmlns:a16="http://schemas.microsoft.com/office/drawing/2014/main" id="{83A049F9-71E0-C3D1-D24E-BCFA554D35DA}"/>
              </a:ext>
            </a:extLst>
          </p:cNvPr>
          <p:cNvSpPr>
            <a:spLocks noGrp="1"/>
          </p:cNvSpPr>
          <p:nvPr>
            <p:ph idx="1"/>
          </p:nvPr>
        </p:nvSpPr>
        <p:spPr/>
        <p:txBody>
          <a:bodyPr>
            <a:normAutofit fontScale="92500" lnSpcReduction="20000"/>
          </a:bodyPr>
          <a:lstStyle/>
          <a:p>
            <a:pPr marL="228600" indent="-114300" algn="just"/>
            <a:r>
              <a:rPr lang="en-US" b="1" dirty="0">
                <a:latin typeface="Times New Roman" panose="02020603050405020304" pitchFamily="18" charset="0"/>
                <a:cs typeface="Times New Roman" panose="02020603050405020304" pitchFamily="18" charset="0"/>
              </a:rPr>
              <a:t>Single Program, Multiple Data </a:t>
            </a:r>
            <a:r>
              <a:rPr lang="en-US" b="1">
                <a:latin typeface="Times New Roman" panose="02020603050405020304" pitchFamily="18" charset="0"/>
                <a:cs typeface="Times New Roman" panose="02020603050405020304" pitchFamily="18" charset="0"/>
              </a:rPr>
              <a:t>Streams (SPMD):</a:t>
            </a:r>
            <a:endParaRPr lang="en-US" b="1" dirty="0">
              <a:latin typeface="Times New Roman" panose="02020603050405020304" pitchFamily="18" charset="0"/>
              <a:cs typeface="Times New Roman" panose="02020603050405020304" pitchFamily="18" charset="0"/>
            </a:endParaRPr>
          </a:p>
          <a:p>
            <a:pPr marL="228600" indent="-114300" algn="just"/>
            <a:r>
              <a:rPr lang="en-US" dirty="0">
                <a:latin typeface="Times New Roman" panose="02020603050405020304" pitchFamily="18" charset="0"/>
                <a:cs typeface="Times New Roman" panose="02020603050405020304" pitchFamily="18" charset="0"/>
              </a:rPr>
              <a:t>SPMD is a </a:t>
            </a:r>
            <a:r>
              <a:rPr lang="en-US" b="1" dirty="0">
                <a:latin typeface="Times New Roman" panose="02020603050405020304" pitchFamily="18" charset="0"/>
                <a:cs typeface="Times New Roman" panose="02020603050405020304" pitchFamily="18" charset="0"/>
              </a:rPr>
              <a:t>parallel execution model</a:t>
            </a:r>
            <a:r>
              <a:rPr lang="en-US" dirty="0">
                <a:latin typeface="Times New Roman" panose="02020603050405020304" pitchFamily="18" charset="0"/>
                <a:cs typeface="Times New Roman" panose="02020603050405020304" pitchFamily="18" charset="0"/>
              </a:rPr>
              <a:t> in which:</a:t>
            </a:r>
          </a:p>
          <a:p>
            <a:pPr marL="4000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Multiple autonomous processors execute the </a:t>
            </a:r>
            <a:r>
              <a:rPr lang="en-US" b="1" dirty="0">
                <a:latin typeface="Times New Roman" panose="02020603050405020304" pitchFamily="18" charset="0"/>
                <a:cs typeface="Times New Roman" panose="02020603050405020304" pitchFamily="18" charset="0"/>
              </a:rPr>
              <a:t>same program</a:t>
            </a:r>
            <a:r>
              <a:rPr lang="en-US" dirty="0">
                <a:latin typeface="Times New Roman" panose="02020603050405020304" pitchFamily="18" charset="0"/>
                <a:cs typeface="Times New Roman" panose="02020603050405020304" pitchFamily="18" charset="0"/>
              </a:rPr>
              <a:t> on </a:t>
            </a:r>
            <a:r>
              <a:rPr lang="en-US" b="1" dirty="0">
                <a:latin typeface="Times New Roman" panose="02020603050405020304" pitchFamily="18" charset="0"/>
                <a:cs typeface="Times New Roman" panose="02020603050405020304" pitchFamily="18" charset="0"/>
              </a:rPr>
              <a:t>different data sets</a:t>
            </a:r>
            <a:r>
              <a:rPr lang="en-US" dirty="0">
                <a:latin typeface="Times New Roman" panose="02020603050405020304" pitchFamily="18" charset="0"/>
                <a:cs typeface="Times New Roman" panose="02020603050405020304" pitchFamily="18" charset="0"/>
              </a:rPr>
              <a:t>.</a:t>
            </a:r>
          </a:p>
          <a:p>
            <a:pPr marL="4000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Unlike SIMD (Single Instruction, Multiple Data), processors in SPMD </a:t>
            </a:r>
            <a:r>
              <a:rPr lang="en-US" b="1" dirty="0">
                <a:latin typeface="Times New Roman" panose="02020603050405020304" pitchFamily="18" charset="0"/>
                <a:cs typeface="Times New Roman" panose="02020603050405020304" pitchFamily="18" charset="0"/>
              </a:rPr>
              <a:t>do not operate in lockstep</a:t>
            </a:r>
            <a:r>
              <a:rPr lang="en-US" dirty="0">
                <a:latin typeface="Times New Roman" panose="02020603050405020304" pitchFamily="18" charset="0"/>
                <a:cs typeface="Times New Roman" panose="02020603050405020304" pitchFamily="18" charset="0"/>
              </a:rPr>
              <a:t>. Each processor executes the program independently and can take different execution paths based on the data it processes.</a:t>
            </a:r>
          </a:p>
          <a:p>
            <a:pPr marL="4000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SPMD is widely used in High-Performance Computing (HPC), particularly for tasks like distributed computing, where the same algorithm (program) runs across multiple nodes working on different chunks of a data set.</a:t>
            </a:r>
          </a:p>
          <a:p>
            <a:pPr marL="228600" indent="-114300"/>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marL="4000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distributed machine learning model training system where each node processes a subset of the training data but uses the same algorithm.</a:t>
            </a:r>
          </a:p>
          <a:p>
            <a:pPr marL="4000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Federica </a:t>
            </a:r>
            <a:r>
              <a:rPr lang="en-US" dirty="0" err="1">
                <a:latin typeface="Times New Roman" panose="02020603050405020304" pitchFamily="18" charset="0"/>
                <a:cs typeface="Times New Roman" panose="02020603050405020304" pitchFamily="18" charset="0"/>
              </a:rPr>
              <a:t>Darema</a:t>
            </a:r>
            <a:r>
              <a:rPr lang="en-US" dirty="0">
                <a:latin typeface="Times New Roman" panose="02020603050405020304" pitchFamily="18" charset="0"/>
                <a:cs typeface="Times New Roman" panose="02020603050405020304" pitchFamily="18" charset="0"/>
              </a:rPr>
              <a:t> originally proposed SPMD as part of the RP3 project.</a:t>
            </a:r>
          </a:p>
        </p:txBody>
      </p:sp>
    </p:spTree>
    <p:extLst>
      <p:ext uri="{BB962C8B-B14F-4D97-AF65-F5344CB8AC3E}">
        <p14:creationId xmlns:p14="http://schemas.microsoft.com/office/powerpoint/2010/main" val="2851971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2E08-E5A8-9598-6C82-7F24C6B62C7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MPMD</a:t>
            </a:r>
          </a:p>
        </p:txBody>
      </p:sp>
      <p:sp>
        <p:nvSpPr>
          <p:cNvPr id="3" name="Content Placeholder 2">
            <a:extLst>
              <a:ext uri="{FF2B5EF4-FFF2-40B4-BE49-F238E27FC236}">
                <a16:creationId xmlns:a16="http://schemas.microsoft.com/office/drawing/2014/main" id="{3C579764-5D11-55DE-E81E-1B507AB507F8}"/>
              </a:ext>
            </a:extLst>
          </p:cNvPr>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Multiple Programs, Multiple Data Streams (MPMD):</a:t>
            </a:r>
          </a:p>
          <a:p>
            <a:pPr algn="just"/>
            <a:r>
              <a:rPr lang="en-US" dirty="0">
                <a:latin typeface="Times New Roman" panose="02020603050405020304" pitchFamily="18" charset="0"/>
                <a:cs typeface="Times New Roman" panose="02020603050405020304" pitchFamily="18" charset="0"/>
              </a:rPr>
              <a:t>MPMD is a model in which:</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Multiple autonomous processors execute multiple different programs</a:t>
            </a:r>
            <a:r>
              <a:rPr lang="en-US" dirty="0">
                <a:latin typeface="Times New Roman" panose="02020603050405020304" pitchFamily="18" charset="0"/>
                <a:cs typeface="Times New Roman" panose="02020603050405020304" pitchFamily="18" charset="0"/>
              </a:rPr>
              <a:t> simultaneously, each working on </a:t>
            </a:r>
            <a:r>
              <a:rPr lang="en-US" b="1" dirty="0">
                <a:latin typeface="Times New Roman" panose="02020603050405020304" pitchFamily="18" charset="0"/>
                <a:cs typeface="Times New Roman" panose="02020603050405020304" pitchFamily="18" charset="0"/>
              </a:rPr>
              <a:t>different data sets</a:t>
            </a:r>
            <a:r>
              <a:rPr lang="en-US"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Often used in heterogeneous computing systems, where one processor acts as a "manager" or "host" and other processors act as "workers."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manager program distributes tasks to worker programs, which then operate independently on their data.</a:t>
            </a:r>
          </a:p>
        </p:txBody>
      </p:sp>
    </p:spTree>
    <p:extLst>
      <p:ext uri="{BB962C8B-B14F-4D97-AF65-F5344CB8AC3E}">
        <p14:creationId xmlns:p14="http://schemas.microsoft.com/office/powerpoint/2010/main" val="3735274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7FB2A-525A-65EC-11C0-9F57B21E7DB2}"/>
              </a:ext>
            </a:extLst>
          </p:cNvPr>
          <p:cNvSpPr>
            <a:spLocks noGrp="1"/>
          </p:cNvSpPr>
          <p:nvPr>
            <p:ph type="title"/>
          </p:nvPr>
        </p:nvSpPr>
        <p:spPr/>
        <p:txBody>
          <a:bodyPr/>
          <a:lstStyle/>
          <a:p>
            <a:r>
              <a:rPr lang="en-US" dirty="0"/>
              <a:t>Types of parallelism</a:t>
            </a:r>
          </a:p>
        </p:txBody>
      </p:sp>
      <p:sp>
        <p:nvSpPr>
          <p:cNvPr id="3" name="Content Placeholder 2">
            <a:extLst>
              <a:ext uri="{FF2B5EF4-FFF2-40B4-BE49-F238E27FC236}">
                <a16:creationId xmlns:a16="http://schemas.microsoft.com/office/drawing/2014/main" id="{96666451-2AAB-BFAE-1B87-F5BA8EEAE2B9}"/>
              </a:ext>
            </a:extLst>
          </p:cNvPr>
          <p:cNvSpPr>
            <a:spLocks noGrp="1"/>
          </p:cNvSpPr>
          <p:nvPr>
            <p:ph idx="1"/>
          </p:nvPr>
        </p:nvSpPr>
        <p:spPr/>
        <p:txBody>
          <a:bodyPr>
            <a:normAutofit/>
          </a:bodyPr>
          <a:lstStyle/>
          <a:p>
            <a:pPr marL="548640" indent="-457200">
              <a:spcBef>
                <a:spcPts val="0"/>
              </a:spcBef>
              <a:buAutoNum type="arabicPeriod"/>
            </a:pPr>
            <a:r>
              <a:rPr lang="en-US" b="1" dirty="0"/>
              <a:t>Hardware-Level Parallelism</a:t>
            </a:r>
          </a:p>
          <a:p>
            <a:pPr marL="685800" lvl="1" indent="-303213">
              <a:spcBef>
                <a:spcPts val="0"/>
              </a:spcBef>
            </a:pPr>
            <a:r>
              <a:rPr lang="en-US" b="1" dirty="0"/>
              <a:t>Parallelism in a Uniprocessor:</a:t>
            </a:r>
          </a:p>
          <a:p>
            <a:pPr lvl="3" indent="0">
              <a:spcBef>
                <a:spcPts val="0"/>
              </a:spcBef>
              <a:buNone/>
            </a:pPr>
            <a:r>
              <a:rPr lang="en-US" dirty="0"/>
              <a:t>Pipelining Superscalar architectures, Very Long Instruction Word (VLIW) architectures, etc.</a:t>
            </a:r>
          </a:p>
          <a:p>
            <a:pPr marL="669798" lvl="1" indent="-285750">
              <a:spcBef>
                <a:spcPts val="0"/>
              </a:spcBef>
            </a:pPr>
            <a:r>
              <a:rPr lang="en-US" b="1" dirty="0"/>
              <a:t>SIMD Instructions and Processing:</a:t>
            </a:r>
          </a:p>
          <a:p>
            <a:pPr lvl="3" indent="0">
              <a:spcBef>
                <a:spcPts val="0"/>
              </a:spcBef>
              <a:buNone/>
            </a:pPr>
            <a:r>
              <a:rPr lang="en-US" dirty="0"/>
              <a:t>Vector processors GPUs</a:t>
            </a:r>
          </a:p>
          <a:p>
            <a:pPr marL="669798" lvl="1" indent="-285750">
              <a:spcBef>
                <a:spcPts val="0"/>
              </a:spcBef>
            </a:pPr>
            <a:r>
              <a:rPr lang="en-US" b="1" dirty="0"/>
              <a:t>Multiprocessor Systems:</a:t>
            </a:r>
          </a:p>
          <a:p>
            <a:pPr lvl="3" indent="0">
              <a:spcBef>
                <a:spcPts val="0"/>
              </a:spcBef>
              <a:buNone/>
            </a:pPr>
            <a:r>
              <a:rPr lang="en-US" dirty="0"/>
              <a:t>Symmetric shared-memory multiprocessors</a:t>
            </a:r>
          </a:p>
          <a:p>
            <a:pPr lvl="3" indent="0">
              <a:spcBef>
                <a:spcPts val="0"/>
              </a:spcBef>
              <a:buNone/>
            </a:pPr>
            <a:r>
              <a:rPr lang="en-US" dirty="0"/>
              <a:t>Distributed-memory multiprocessors</a:t>
            </a:r>
          </a:p>
          <a:p>
            <a:pPr lvl="3" indent="0">
              <a:spcBef>
                <a:spcPts val="0"/>
              </a:spcBef>
              <a:buNone/>
            </a:pPr>
            <a:r>
              <a:rPr lang="en-US" dirty="0"/>
              <a:t>Chip-multiprocessors (Multi-core systems)</a:t>
            </a:r>
          </a:p>
          <a:p>
            <a:pPr marL="669798" lvl="1" indent="-285750">
              <a:spcBef>
                <a:spcPts val="0"/>
              </a:spcBef>
            </a:pPr>
            <a:r>
              <a:rPr lang="en-US" b="1" dirty="0"/>
              <a:t>Multi-computers (Clusters):</a:t>
            </a:r>
          </a:p>
          <a:p>
            <a:pPr lvl="3" indent="0">
              <a:spcBef>
                <a:spcPts val="0"/>
              </a:spcBef>
              <a:buNone/>
            </a:pPr>
            <a:r>
              <a:rPr lang="en-US" dirty="0"/>
              <a:t>Systems consisting of multiple independent computers working together.</a:t>
            </a:r>
          </a:p>
          <a:p>
            <a:pPr marL="0" indent="0">
              <a:buNone/>
            </a:pPr>
            <a:endParaRPr lang="en-US" dirty="0"/>
          </a:p>
        </p:txBody>
      </p:sp>
    </p:spTree>
    <p:extLst>
      <p:ext uri="{BB962C8B-B14F-4D97-AF65-F5344CB8AC3E}">
        <p14:creationId xmlns:p14="http://schemas.microsoft.com/office/powerpoint/2010/main" val="589673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D29A-EA58-501D-E146-0BA624E62DA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Software-Level Parallelism</a:t>
            </a:r>
            <a:endParaRPr lang="en-US" dirty="0"/>
          </a:p>
        </p:txBody>
      </p:sp>
      <p:sp>
        <p:nvSpPr>
          <p:cNvPr id="3" name="Content Placeholder 2">
            <a:extLst>
              <a:ext uri="{FF2B5EF4-FFF2-40B4-BE49-F238E27FC236}">
                <a16:creationId xmlns:a16="http://schemas.microsoft.com/office/drawing/2014/main" id="{3AC369E8-A8FD-DD9D-C7A4-A9D7F4BDB638}"/>
              </a:ext>
            </a:extLst>
          </p:cNvPr>
          <p:cNvSpPr>
            <a:spLocks noGrp="1"/>
          </p:cNvSpPr>
          <p:nvPr>
            <p:ph idx="1"/>
          </p:nvPr>
        </p:nvSpPr>
        <p:spPr/>
        <p:txBody>
          <a:bodyPr/>
          <a:lstStyle/>
          <a:p>
            <a:pPr marL="400050" indent="-4000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Data-Level Parallelism</a:t>
            </a:r>
            <a:endParaRPr lang="en-US" dirty="0">
              <a:latin typeface="Times New Roman" panose="02020603050405020304" pitchFamily="18" charset="0"/>
              <a:cs typeface="Times New Roman" panose="02020603050405020304" pitchFamily="18" charset="0"/>
            </a:endParaRPr>
          </a:p>
          <a:p>
            <a:pPr marL="400050" indent="-4000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Instruction-Level Parallelism</a:t>
            </a:r>
            <a:endParaRPr lang="en-US" dirty="0">
              <a:latin typeface="Times New Roman" panose="02020603050405020304" pitchFamily="18" charset="0"/>
              <a:cs typeface="Times New Roman" panose="02020603050405020304" pitchFamily="18" charset="0"/>
            </a:endParaRPr>
          </a:p>
          <a:p>
            <a:pPr marL="400050" indent="-4000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Task-Level Parallelism</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151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56C8F-B06C-2BC4-9875-B1D8EB9FEB47}"/>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Introduction to Parallel Computing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09F196-4473-FF86-A9FA-66792CEE4A58}"/>
              </a:ext>
            </a:extLst>
          </p:cNvPr>
          <p:cNvSpPr>
            <a:spLocks noGrp="1"/>
          </p:cNvSpPr>
          <p:nvPr>
            <p:ph idx="1"/>
          </p:nvPr>
        </p:nvSpPr>
        <p:spPr/>
        <p:txBody>
          <a:bodyPr/>
          <a:lstStyle/>
          <a:p>
            <a:pPr algn="just"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Before taking a toll on Parallel Computing, first, let’s take a look at the background of computations of computer software and why it failed for the modern era. </a:t>
            </a:r>
          </a:p>
          <a:p>
            <a:pPr algn="just"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Computer software was written conventionally for serial computing. This meant that to solve a problem, an algorithm divides the problem into smaller instructions. These discrete instructions are then executed on the Central Processing Unit of a computer one by one. Only after one instruction is finished, next one starts. </a:t>
            </a:r>
          </a:p>
          <a:p>
            <a:pPr algn="just"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A real-life example of this would be people standing in a queue waiting for a movie ticket and there is only a cashier. The cashier is giving tickets one by one to the persons. The complexity of this situation increases when there are 2 queues and only one cashier. </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1682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E1907-FF02-4F8D-C1E6-16526C6D2BAE}"/>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Introduction to Parallel Computing</a:t>
            </a:r>
            <a:endParaRPr lang="en-US" dirty="0"/>
          </a:p>
        </p:txBody>
      </p:sp>
      <p:sp>
        <p:nvSpPr>
          <p:cNvPr id="3" name="Content Placeholder 2">
            <a:extLst>
              <a:ext uri="{FF2B5EF4-FFF2-40B4-BE49-F238E27FC236}">
                <a16:creationId xmlns:a16="http://schemas.microsoft.com/office/drawing/2014/main" id="{1FE71FAD-74C7-43C7-27FD-A59D0745F1C6}"/>
              </a:ext>
            </a:extLst>
          </p:cNvPr>
          <p:cNvSpPr>
            <a:spLocks noGrp="1"/>
          </p:cNvSpPr>
          <p:nvPr>
            <p:ph idx="1"/>
          </p:nvPr>
        </p:nvSpPr>
        <p:spPr/>
        <p:txBody>
          <a:bodyPr>
            <a:normAutofit fontScale="85000" lnSpcReduction="10000"/>
          </a:bodyPr>
          <a:lstStyle/>
          <a:p>
            <a:pPr marL="0" indent="0" algn="just" fontAlgn="base">
              <a:spcAft>
                <a:spcPts val="750"/>
              </a:spcAft>
              <a:buNone/>
            </a:pPr>
            <a:r>
              <a:rPr lang="en-US" b="0" i="0" dirty="0">
                <a:solidFill>
                  <a:srgbClr val="273239"/>
                </a:solidFill>
                <a:effectLst/>
                <a:latin typeface="Times New Roman" panose="02020603050405020304" pitchFamily="18" charset="0"/>
                <a:cs typeface="Times New Roman" panose="02020603050405020304" pitchFamily="18" charset="0"/>
              </a:rPr>
              <a:t>So, in short, Serial Computing is following: </a:t>
            </a:r>
          </a:p>
          <a:p>
            <a:pPr marL="400050" indent="-400050" algn="just" fontAlgn="base">
              <a:spcAft>
                <a:spcPts val="1800"/>
              </a:spcAft>
              <a:buFont typeface="+mj-lt"/>
              <a:buAutoNum type="arabicPeriod"/>
            </a:pPr>
            <a:r>
              <a:rPr lang="en-US" b="0" i="0" dirty="0">
                <a:solidFill>
                  <a:srgbClr val="273239"/>
                </a:solidFill>
                <a:effectLst/>
                <a:latin typeface="Times New Roman" panose="02020603050405020304" pitchFamily="18" charset="0"/>
                <a:cs typeface="Times New Roman" panose="02020603050405020304" pitchFamily="18" charset="0"/>
              </a:rPr>
              <a:t>In this, a problem statement is broken into discrete instructions. </a:t>
            </a:r>
          </a:p>
          <a:p>
            <a:pPr marL="400050" indent="-400050" algn="just" fontAlgn="base">
              <a:spcAft>
                <a:spcPts val="1800"/>
              </a:spcAft>
              <a:buFont typeface="+mj-lt"/>
              <a:buAutoNum type="arabicPeriod"/>
            </a:pPr>
            <a:r>
              <a:rPr lang="en-US" b="0" i="0" dirty="0">
                <a:solidFill>
                  <a:srgbClr val="273239"/>
                </a:solidFill>
                <a:effectLst/>
                <a:latin typeface="Times New Roman" panose="02020603050405020304" pitchFamily="18" charset="0"/>
                <a:cs typeface="Times New Roman" panose="02020603050405020304" pitchFamily="18" charset="0"/>
              </a:rPr>
              <a:t>Then the instructions are executed one by one. </a:t>
            </a:r>
          </a:p>
          <a:p>
            <a:pPr marL="400050" indent="-400050" algn="just" fontAlgn="base">
              <a:spcAft>
                <a:spcPts val="1800"/>
              </a:spcAft>
              <a:buFont typeface="+mj-lt"/>
              <a:buAutoNum type="arabicPeriod"/>
            </a:pPr>
            <a:r>
              <a:rPr lang="en-US" b="0" i="0" dirty="0">
                <a:solidFill>
                  <a:srgbClr val="273239"/>
                </a:solidFill>
                <a:effectLst/>
                <a:latin typeface="Times New Roman" panose="02020603050405020304" pitchFamily="18" charset="0"/>
                <a:cs typeface="Times New Roman" panose="02020603050405020304" pitchFamily="18" charset="0"/>
              </a:rPr>
              <a:t>Only one instruction is executed at any moment of time.</a:t>
            </a:r>
          </a:p>
          <a:p>
            <a:pPr marL="0" indent="0" algn="just" fontAlgn="base">
              <a:spcAft>
                <a:spcPts val="1800"/>
              </a:spcAft>
              <a:buNone/>
            </a:pPr>
            <a:r>
              <a:rPr lang="en-US" b="0" i="0" dirty="0">
                <a:solidFill>
                  <a:srgbClr val="273239"/>
                </a:solidFill>
                <a:effectLst/>
                <a:latin typeface="Times New Roman" panose="02020603050405020304" pitchFamily="18" charset="0"/>
                <a:cs typeface="Times New Roman" panose="02020603050405020304" pitchFamily="18" charset="0"/>
              </a:rPr>
              <a:t>Look at point 3. This was causing a huge problem in the computing industry as only one instruction was getting executed at any moment of time. This was a huge waste of hardware resources as only one part of the hardware will be running for particular instruction and of time. As problem statements were getting heavier and bulkier, so does the amount of time in execution of those statements. Examples of processors are Pentium 3 and Pentium 4. </a:t>
            </a:r>
          </a:p>
          <a:p>
            <a:pPr algn="just"/>
            <a:br>
              <a:rPr lang="en-US" b="0" i="0" dirty="0">
                <a:solidFill>
                  <a:srgbClr val="273239"/>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6219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3DF0C-7468-1B78-481E-820BBD98AE8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Need for Parallel Computing</a:t>
            </a:r>
          </a:p>
        </p:txBody>
      </p:sp>
      <p:sp>
        <p:nvSpPr>
          <p:cNvPr id="3" name="Content Placeholder 2">
            <a:extLst>
              <a:ext uri="{FF2B5EF4-FFF2-40B4-BE49-F238E27FC236}">
                <a16:creationId xmlns:a16="http://schemas.microsoft.com/office/drawing/2014/main" id="{408970F0-2AE9-36CB-D2D9-83923524E56A}"/>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Now let’s come back to our real-life problem. We could definitely say that complexity will decrease when there are 2 queues and 2 cashiers giving tickets to 2 persons simultaneously. This is an example of Parallel Computing.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0834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003BC-DE97-848F-FD1F-D52FAE9B4BF2}"/>
              </a:ext>
            </a:extLst>
          </p:cNvPr>
          <p:cNvSpPr>
            <a:spLocks noGrp="1"/>
          </p:cNvSpPr>
          <p:nvPr>
            <p:ph type="title"/>
          </p:nvPr>
        </p:nvSpPr>
        <p:spPr/>
        <p:txBody>
          <a:bodyPr/>
          <a:lstStyle/>
          <a:p>
            <a:pPr algn="just"/>
            <a:r>
              <a:rPr lang="en-US" b="1" i="0" dirty="0">
                <a:solidFill>
                  <a:srgbClr val="273239"/>
                </a:solidFill>
                <a:effectLst/>
                <a:latin typeface="Times New Roman" panose="02020603050405020304" pitchFamily="18" charset="0"/>
                <a:cs typeface="Times New Roman" panose="02020603050405020304" pitchFamily="18" charset="0"/>
              </a:rPr>
              <a:t>Parallel Computing :</a:t>
            </a:r>
            <a:r>
              <a:rPr lang="en-US" b="0" i="0" dirty="0">
                <a:solidFill>
                  <a:srgbClr val="273239"/>
                </a:solidFill>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ADDB41-85D5-18EA-659A-C9B481D662A0}"/>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It is the use of multiple processing elements simultaneously for solving any problem. Problems are broken down into instructions and are solved concurrently as each resource that has been applied to work is working at the same time.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3220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7A154-9FDB-02D3-745A-DFE46EA1E566}"/>
              </a:ext>
            </a:extLst>
          </p:cNvPr>
          <p:cNvSpPr>
            <a:spLocks noGrp="1"/>
          </p:cNvSpPr>
          <p:nvPr>
            <p:ph type="title"/>
          </p:nvPr>
        </p:nvSpPr>
        <p:spPr/>
        <p:txBody>
          <a:bodyPr/>
          <a:lstStyle/>
          <a:p>
            <a:pPr algn="just"/>
            <a:r>
              <a:rPr lang="en-US" b="1" i="0" dirty="0">
                <a:solidFill>
                  <a:srgbClr val="273239"/>
                </a:solidFill>
                <a:effectLst/>
                <a:latin typeface="Times New Roman" panose="02020603050405020304" pitchFamily="18" charset="0"/>
                <a:cs typeface="Times New Roman" panose="02020603050405020304" pitchFamily="18" charset="0"/>
              </a:rPr>
              <a:t>Advantages</a:t>
            </a:r>
            <a:r>
              <a:rPr lang="en-US" b="0" i="0" dirty="0">
                <a:solidFill>
                  <a:srgbClr val="273239"/>
                </a:solidFill>
                <a:effectLst/>
                <a:latin typeface="Times New Roman" panose="02020603050405020304" pitchFamily="18" charset="0"/>
                <a:cs typeface="Times New Roman" panose="02020603050405020304" pitchFamily="18" charset="0"/>
              </a:rPr>
              <a:t> of Parallel Computing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DB16B4-E357-DBC6-E173-42F28CBAF6BB}"/>
              </a:ext>
            </a:extLst>
          </p:cNvPr>
          <p:cNvSpPr>
            <a:spLocks noGrp="1"/>
          </p:cNvSpPr>
          <p:nvPr>
            <p:ph idx="1"/>
          </p:nvPr>
        </p:nvSpPr>
        <p:spPr/>
        <p:txBody>
          <a:bodyPr/>
          <a:lstStyle/>
          <a:p>
            <a:pPr algn="just" fontAlgn="base">
              <a:spcAft>
                <a:spcPts val="750"/>
              </a:spcAft>
            </a:pPr>
            <a:r>
              <a:rPr lang="en-US" b="1" i="0" dirty="0">
                <a:solidFill>
                  <a:srgbClr val="273239"/>
                </a:solidFill>
                <a:effectLst/>
                <a:latin typeface="Times New Roman" panose="02020603050405020304" pitchFamily="18" charset="0"/>
                <a:cs typeface="Times New Roman" panose="02020603050405020304" pitchFamily="18" charset="0"/>
              </a:rPr>
              <a:t>Advantages</a:t>
            </a:r>
            <a:r>
              <a:rPr lang="en-US" b="0" i="0" dirty="0">
                <a:solidFill>
                  <a:srgbClr val="273239"/>
                </a:solidFill>
                <a:effectLst/>
                <a:latin typeface="Times New Roman" panose="02020603050405020304" pitchFamily="18" charset="0"/>
                <a:cs typeface="Times New Roman" panose="02020603050405020304" pitchFamily="18" charset="0"/>
              </a:rPr>
              <a:t> of Parallel Computing over Serial Computing are as follows: </a:t>
            </a:r>
          </a:p>
          <a:p>
            <a:pPr marL="400050" indent="-342900" algn="just" fontAlgn="base">
              <a:spcAft>
                <a:spcPts val="1800"/>
              </a:spcAft>
              <a:buFont typeface="+mj-lt"/>
              <a:buAutoNum type="arabicPeriod"/>
            </a:pPr>
            <a:r>
              <a:rPr lang="en-US" b="0" i="0" dirty="0">
                <a:solidFill>
                  <a:srgbClr val="273239"/>
                </a:solidFill>
                <a:effectLst/>
                <a:latin typeface="Times New Roman" panose="02020603050405020304" pitchFamily="18" charset="0"/>
                <a:cs typeface="Times New Roman" panose="02020603050405020304" pitchFamily="18" charset="0"/>
              </a:rPr>
              <a:t>It saves time and money as many resources working together will reduce the time and cut potential costs. </a:t>
            </a:r>
          </a:p>
          <a:p>
            <a:pPr marL="400050" indent="-342900" algn="just" fontAlgn="base">
              <a:spcAft>
                <a:spcPts val="1800"/>
              </a:spcAft>
              <a:buFont typeface="+mj-lt"/>
              <a:buAutoNum type="arabicPeriod"/>
            </a:pPr>
            <a:r>
              <a:rPr lang="en-US" b="0" i="0" dirty="0">
                <a:solidFill>
                  <a:srgbClr val="273239"/>
                </a:solidFill>
                <a:effectLst/>
                <a:latin typeface="Times New Roman" panose="02020603050405020304" pitchFamily="18" charset="0"/>
                <a:cs typeface="Times New Roman" panose="02020603050405020304" pitchFamily="18" charset="0"/>
              </a:rPr>
              <a:t>It can be impractical to solve larger problems on Serial Computing. </a:t>
            </a:r>
          </a:p>
          <a:p>
            <a:pPr marL="400050" indent="-342900" algn="just" fontAlgn="base">
              <a:spcAft>
                <a:spcPts val="1800"/>
              </a:spcAft>
              <a:buFont typeface="+mj-lt"/>
              <a:buAutoNum type="arabicPeriod"/>
            </a:pPr>
            <a:r>
              <a:rPr lang="en-US" b="0" i="0" dirty="0">
                <a:solidFill>
                  <a:srgbClr val="273239"/>
                </a:solidFill>
                <a:effectLst/>
                <a:latin typeface="Times New Roman" panose="02020603050405020304" pitchFamily="18" charset="0"/>
                <a:cs typeface="Times New Roman" panose="02020603050405020304" pitchFamily="18" charset="0"/>
              </a:rPr>
              <a:t>It can take advantage of non-local resources when the local resources are finite. </a:t>
            </a:r>
          </a:p>
          <a:p>
            <a:pPr marL="400050" indent="-342900" algn="just" fontAlgn="base">
              <a:spcAft>
                <a:spcPts val="1800"/>
              </a:spcAft>
              <a:buFont typeface="+mj-lt"/>
              <a:buAutoNum type="arabicPeriod"/>
            </a:pPr>
            <a:r>
              <a:rPr lang="en-US" b="0" i="0" dirty="0">
                <a:solidFill>
                  <a:srgbClr val="273239"/>
                </a:solidFill>
                <a:effectLst/>
                <a:latin typeface="Times New Roman" panose="02020603050405020304" pitchFamily="18" charset="0"/>
                <a:cs typeface="Times New Roman" panose="02020603050405020304" pitchFamily="18" charset="0"/>
              </a:rPr>
              <a:t>Serial Computing ‘wastes’ the potential computing power, thus Parallel Computing makes better work of the hardware.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0309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1AFE4-EE2E-F2B8-5DDC-C66896B8BF74}"/>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Instruction-level parallelism</a:t>
            </a:r>
            <a:endParaRPr lang="en-US" dirty="0"/>
          </a:p>
        </p:txBody>
      </p:sp>
      <p:sp>
        <p:nvSpPr>
          <p:cNvPr id="3" name="Content Placeholder 2">
            <a:extLst>
              <a:ext uri="{FF2B5EF4-FFF2-40B4-BE49-F238E27FC236}">
                <a16:creationId xmlns:a16="http://schemas.microsoft.com/office/drawing/2014/main" id="{E606623E-949C-9F37-8F38-84D50274E4F7}"/>
              </a:ext>
            </a:extLst>
          </p:cNvPr>
          <p:cNvSpPr>
            <a:spLocks noGrp="1"/>
          </p:cNvSpPr>
          <p:nvPr>
            <p:ph idx="1"/>
          </p:nvPr>
        </p:nvSpPr>
        <p:spPr/>
        <p:txBody>
          <a:bodyPr/>
          <a:lstStyle/>
          <a:p>
            <a:pPr marL="0" indent="0" algn="just">
              <a:buNone/>
            </a:pPr>
            <a:r>
              <a:rPr lang="en-US" b="0" i="0" dirty="0">
                <a:solidFill>
                  <a:srgbClr val="273239"/>
                </a:solidFill>
                <a:effectLst/>
                <a:latin typeface="Times New Roman" panose="02020603050405020304" pitchFamily="18" charset="0"/>
                <a:cs typeface="Times New Roman" panose="02020603050405020304" pitchFamily="18" charset="0"/>
              </a:rPr>
              <a:t>A processor can only address less than one instruction for each clock cycle phase. These instructions can be re-ordered and grouped which are later on executed concurrently without affecting the result of the program. This is called instruction-level parallelism.</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9618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AA3F0-0D4D-B9A7-E14E-887ED84D5409}"/>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Task Parallelism</a:t>
            </a:r>
            <a:endParaRPr lang="en-US" dirty="0"/>
          </a:p>
        </p:txBody>
      </p:sp>
      <p:sp>
        <p:nvSpPr>
          <p:cNvPr id="3" name="Content Placeholder 2">
            <a:extLst>
              <a:ext uri="{FF2B5EF4-FFF2-40B4-BE49-F238E27FC236}">
                <a16:creationId xmlns:a16="http://schemas.microsoft.com/office/drawing/2014/main" id="{C8DC4C93-DDFF-3B75-6978-21D4580AA092}"/>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Task parallelism employs the decomposition of a task into subtasks and then allocating each of the subtasks for execution. The processors perform the execution of sub-tasks concurrently.</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9155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EF4A1-19BF-DFB3-21DD-78F68D59BB7C}"/>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Data-level parallelism (DLP)</a:t>
            </a:r>
            <a:r>
              <a:rPr lang="en-US" b="0" i="0" dirty="0">
                <a:solidFill>
                  <a:srgbClr val="273239"/>
                </a:solidFill>
                <a:effectLst/>
                <a:latin typeface="Times New Roman" panose="02020603050405020304" pitchFamily="18" charset="0"/>
                <a:cs typeface="Times New Roman" panose="02020603050405020304" pitchFamily="18" charset="0"/>
              </a:rPr>
              <a:t> </a:t>
            </a:r>
            <a:endParaRPr lang="en-US" dirty="0"/>
          </a:p>
        </p:txBody>
      </p:sp>
      <p:sp>
        <p:nvSpPr>
          <p:cNvPr id="3" name="Content Placeholder 2">
            <a:extLst>
              <a:ext uri="{FF2B5EF4-FFF2-40B4-BE49-F238E27FC236}">
                <a16:creationId xmlns:a16="http://schemas.microsoft.com/office/drawing/2014/main" id="{6E93C513-0787-D190-ECFB-C6536275992E}"/>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Instructions from a single stream operate concurrently on several data – Limited by non-regular data manipulation patterns and by memory bandwidth</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134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04185-58F3-05AD-E004-2DBC5C34BE61}"/>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Why parallel computing?</a:t>
            </a:r>
            <a:r>
              <a:rPr lang="en-US" b="0" i="0" dirty="0">
                <a:solidFill>
                  <a:srgbClr val="273239"/>
                </a:solidFill>
                <a:effectLst/>
                <a:latin typeface="Times New Roman" panose="02020603050405020304" pitchFamily="18" charset="0"/>
                <a:cs typeface="Times New Roman" panose="02020603050405020304" pitchFamily="18" charset="0"/>
              </a:rPr>
              <a:t> </a:t>
            </a:r>
            <a:endParaRPr lang="en-US" dirty="0"/>
          </a:p>
        </p:txBody>
      </p:sp>
      <p:sp>
        <p:nvSpPr>
          <p:cNvPr id="3" name="Content Placeholder 2">
            <a:extLst>
              <a:ext uri="{FF2B5EF4-FFF2-40B4-BE49-F238E27FC236}">
                <a16:creationId xmlns:a16="http://schemas.microsoft.com/office/drawing/2014/main" id="{3C1CA39F-52BB-F842-DC53-6C46AF23D4A5}"/>
              </a:ext>
            </a:extLst>
          </p:cNvPr>
          <p:cNvSpPr>
            <a:spLocks noGrp="1"/>
          </p:cNvSpPr>
          <p:nvPr>
            <p:ph idx="1"/>
          </p:nvPr>
        </p:nvSpPr>
        <p:spPr/>
        <p:txBody>
          <a:bodyPr>
            <a:normAutofit fontScale="85000" lnSpcReduction="20000"/>
          </a:bodyPr>
          <a:lstStyle/>
          <a:p>
            <a:pPr marL="45720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whole real-world runs in dynamic nature i.e. many things happen at a certain time but at different places concurrently. This data is extensively huge to manage.</a:t>
            </a:r>
          </a:p>
          <a:p>
            <a:pPr marL="45720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Real-world data needs more dynamic simulation and modeling, and for achieving the same, parallel computing is the key.</a:t>
            </a:r>
          </a:p>
          <a:p>
            <a:pPr marL="45720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Parallel computing provides concurrency and saves time and money.</a:t>
            </a:r>
          </a:p>
          <a:p>
            <a:pPr marL="45720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Complex, large datasets, and their management can be organized only and only using parallel computing’s approach.</a:t>
            </a:r>
          </a:p>
          <a:p>
            <a:pPr marL="45720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Ensures the effective utilization of the resources. The hardware is guaranteed to be used effectively whereas in serial computation only some part of the hardware was used and the rest rendered idle.</a:t>
            </a:r>
          </a:p>
          <a:p>
            <a:pPr marL="45720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Also, it is impractical to implement real-time systems using serial computing.</a:t>
            </a:r>
          </a:p>
        </p:txBody>
      </p:sp>
    </p:spTree>
    <p:extLst>
      <p:ext uri="{BB962C8B-B14F-4D97-AF65-F5344CB8AC3E}">
        <p14:creationId xmlns:p14="http://schemas.microsoft.com/office/powerpoint/2010/main" val="25426823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20A14-FD1B-D83D-B447-42DBAD5D94CB}"/>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Applications of Parallel Computing:</a:t>
            </a:r>
            <a:r>
              <a:rPr lang="en-US" b="0" i="0" dirty="0">
                <a:solidFill>
                  <a:srgbClr val="273239"/>
                </a:solidFill>
                <a:effectLst/>
                <a:latin typeface="Times New Roman" panose="02020603050405020304" pitchFamily="18" charset="0"/>
                <a:cs typeface="Times New Roman" panose="02020603050405020304" pitchFamily="18" charset="0"/>
              </a:rPr>
              <a:t> </a:t>
            </a:r>
            <a:endParaRPr lang="en-US" dirty="0"/>
          </a:p>
        </p:txBody>
      </p:sp>
      <p:sp>
        <p:nvSpPr>
          <p:cNvPr id="3" name="Content Placeholder 2">
            <a:extLst>
              <a:ext uri="{FF2B5EF4-FFF2-40B4-BE49-F238E27FC236}">
                <a16:creationId xmlns:a16="http://schemas.microsoft.com/office/drawing/2014/main" id="{BFF1D9B2-0F9F-B69D-AAEB-681FDF6EB44C}"/>
              </a:ext>
            </a:extLst>
          </p:cNvPr>
          <p:cNvSpPr>
            <a:spLocks noGrp="1"/>
          </p:cNvSpPr>
          <p:nvPr>
            <p:ph idx="1"/>
          </p:nvPr>
        </p:nvSpPr>
        <p:spPr/>
        <p:txBody>
          <a:bodyPr/>
          <a:lstStyle/>
          <a:p>
            <a:pPr marL="400050" indent="-34290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Databases and Data mining.</a:t>
            </a:r>
          </a:p>
          <a:p>
            <a:pPr marL="400050" indent="-34290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Real-time simulation of systems.</a:t>
            </a:r>
          </a:p>
          <a:p>
            <a:pPr marL="400050" indent="-34290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Science and Engineering.</a:t>
            </a:r>
          </a:p>
          <a:p>
            <a:pPr marL="400050" indent="-34290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Advanced graphics, augmented reality, and virtual reality.</a:t>
            </a:r>
          </a:p>
        </p:txBody>
      </p:sp>
    </p:spTree>
    <p:extLst>
      <p:ext uri="{BB962C8B-B14F-4D97-AF65-F5344CB8AC3E}">
        <p14:creationId xmlns:p14="http://schemas.microsoft.com/office/powerpoint/2010/main" val="795898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6DF8B-C336-4454-3DAC-115F20BB03E1}"/>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Limitations of Parallel Computing:</a:t>
            </a:r>
            <a:r>
              <a:rPr lang="en-US" b="0" i="0" dirty="0">
                <a:solidFill>
                  <a:srgbClr val="273239"/>
                </a:solidFill>
                <a:effectLst/>
                <a:latin typeface="Times New Roman" panose="02020603050405020304" pitchFamily="18" charset="0"/>
                <a:cs typeface="Times New Roman" panose="02020603050405020304" pitchFamily="18" charset="0"/>
              </a:rPr>
              <a:t> </a:t>
            </a:r>
            <a:endParaRPr lang="en-US" dirty="0"/>
          </a:p>
        </p:txBody>
      </p:sp>
      <p:sp>
        <p:nvSpPr>
          <p:cNvPr id="3" name="Content Placeholder 2">
            <a:extLst>
              <a:ext uri="{FF2B5EF4-FFF2-40B4-BE49-F238E27FC236}">
                <a16:creationId xmlns:a16="http://schemas.microsoft.com/office/drawing/2014/main" id="{136B5A0C-7F17-197C-FE4E-DADD9CCFED7D}"/>
              </a:ext>
            </a:extLst>
          </p:cNvPr>
          <p:cNvSpPr>
            <a:spLocks noGrp="1"/>
          </p:cNvSpPr>
          <p:nvPr>
            <p:ph idx="1"/>
          </p:nvPr>
        </p:nvSpPr>
        <p:spPr/>
        <p:txBody>
          <a:bodyPr>
            <a:normAutofit/>
          </a:bodyPr>
          <a:lstStyle/>
          <a:p>
            <a:pPr marL="400050" indent="-34290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It addresses such as communication and synchronization between multiple sub-tasks and processes which is difficult to achieve.</a:t>
            </a:r>
          </a:p>
          <a:p>
            <a:pPr marL="400050" indent="-34290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algorithms must be managed in such a way that they can be handled in a parallel mechanism.</a:t>
            </a:r>
          </a:p>
          <a:p>
            <a:pPr marL="400050" indent="-34290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algorithms or programs must have low coupling and high cohesion. But it’s difficult to create such programs.</a:t>
            </a:r>
          </a:p>
          <a:p>
            <a:pPr marL="400050" indent="-34290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More technically skilled and expert programmers can code a parallelism-based program well.</a:t>
            </a:r>
          </a:p>
        </p:txBody>
      </p:sp>
    </p:spTree>
    <p:extLst>
      <p:ext uri="{BB962C8B-B14F-4D97-AF65-F5344CB8AC3E}">
        <p14:creationId xmlns:p14="http://schemas.microsoft.com/office/powerpoint/2010/main" val="2322062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D269F-1766-86DF-90F5-6A2C12311AE0}"/>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Future of Parallel Computing: </a:t>
            </a:r>
            <a:endParaRPr lang="en-US" dirty="0"/>
          </a:p>
        </p:txBody>
      </p:sp>
      <p:sp>
        <p:nvSpPr>
          <p:cNvPr id="3" name="Content Placeholder 2">
            <a:extLst>
              <a:ext uri="{FF2B5EF4-FFF2-40B4-BE49-F238E27FC236}">
                <a16:creationId xmlns:a16="http://schemas.microsoft.com/office/drawing/2014/main" id="{EFDC42F4-F56D-FB58-2400-59CB6D64FC89}"/>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The computational graph has undergone a great transition from serial computing to parallel computing. Tech giant such as Intel has already taken a step towards parallel computing by employing multicore processors. Parallel computation will revolutionize the way computers work in the future, for the better good. With all the world connecting to each other even more than before, Parallel Computing does a better role in helping us stay that way. With faster networks, distributed systems, and multi-processor computers, it becomes even more necessary.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7406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CD6F0-8764-5E9E-02CB-35D4B1F5B433}"/>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Task#01</a:t>
            </a:r>
          </a:p>
        </p:txBody>
      </p:sp>
      <p:sp>
        <p:nvSpPr>
          <p:cNvPr id="3" name="Content Placeholder 2">
            <a:extLst>
              <a:ext uri="{FF2B5EF4-FFF2-40B4-BE49-F238E27FC236}">
                <a16:creationId xmlns:a16="http://schemas.microsoft.com/office/drawing/2014/main" id="{EA6FA1EC-2DAF-51CC-FF43-09FF4E85CBE6}"/>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Flynn's Taxonomy classifies computer architectures into four categories: SISD, SIMD, MISD, and MIMD. Analyze the following scenarios and classify each into the appropriate category. Justify your classification for each case:</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basic single-core processor executes a single instruction on a single data stream, such as adding two numbers.</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GPU processes large-scale matrix multiplication by performing the same operation (e.g., addition) on multiple elements simultaneously.</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fault-tolerant system executes multiple instructions on the same data stream to verify the results through redundancy and comparison.</a:t>
            </a: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cluster of distributed systems performs different tasks, such as running multiple machine learning models on separate datasets simultaneously.</a:t>
            </a:r>
          </a:p>
        </p:txBody>
      </p:sp>
    </p:spTree>
    <p:extLst>
      <p:ext uri="{BB962C8B-B14F-4D97-AF65-F5344CB8AC3E}">
        <p14:creationId xmlns:p14="http://schemas.microsoft.com/office/powerpoint/2010/main" val="853096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4C27C-B208-6E94-E426-DDC24EE49DA7}"/>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Task#02</a:t>
            </a:r>
          </a:p>
        </p:txBody>
      </p:sp>
      <p:sp>
        <p:nvSpPr>
          <p:cNvPr id="3" name="Content Placeholder 2">
            <a:extLst>
              <a:ext uri="{FF2B5EF4-FFF2-40B4-BE49-F238E27FC236}">
                <a16:creationId xmlns:a16="http://schemas.microsoft.com/office/drawing/2014/main" id="{78ECE483-67B4-272C-02AB-736C4789EDDB}"/>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Which architecture is most suitable for:</a:t>
            </a:r>
          </a:p>
          <a:p>
            <a:pPr marL="34290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Real-time graphics rendering?</a:t>
            </a:r>
          </a:p>
          <a:p>
            <a:pPr marL="34290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Large-scale parallel scientific simulations?</a:t>
            </a:r>
          </a:p>
          <a:p>
            <a:pPr algn="just"/>
            <a:r>
              <a:rPr lang="en-US" dirty="0">
                <a:latin typeface="Times New Roman" panose="02020603050405020304" pitchFamily="18" charset="0"/>
                <a:cs typeface="Times New Roman" panose="02020603050405020304" pitchFamily="18" charset="0"/>
              </a:rPr>
              <a:t>Explain why MISD is rarely implemented in modern computer architectures.</a:t>
            </a:r>
          </a:p>
        </p:txBody>
      </p:sp>
    </p:spTree>
    <p:extLst>
      <p:ext uri="{BB962C8B-B14F-4D97-AF65-F5344CB8AC3E}">
        <p14:creationId xmlns:p14="http://schemas.microsoft.com/office/powerpoint/2010/main" val="1048217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04E67-601E-3332-F8BA-4E9A8EB3612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Task#03</a:t>
            </a:r>
          </a:p>
        </p:txBody>
      </p:sp>
      <p:sp>
        <p:nvSpPr>
          <p:cNvPr id="3" name="Content Placeholder 2">
            <a:extLst>
              <a:ext uri="{FF2B5EF4-FFF2-40B4-BE49-F238E27FC236}">
                <a16:creationId xmlns:a16="http://schemas.microsoft.com/office/drawing/2014/main" id="{503DDFAF-4243-DBF5-A7C1-9B217BD2BBFF}"/>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A multi-core processor is evaluated for its efficiency under different classifications of Flynn's taxonomy: SISD, SIMD, MISD, and MIMD.</a:t>
            </a:r>
          </a:p>
          <a:p>
            <a:pPr algn="just"/>
            <a:r>
              <a:rPr lang="en-US" b="1" dirty="0">
                <a:latin typeface="Times New Roman" panose="02020603050405020304" pitchFamily="18" charset="0"/>
                <a:cs typeface="Times New Roman" panose="02020603050405020304" pitchFamily="18" charset="0"/>
              </a:rPr>
              <a:t>Scenario:</a:t>
            </a: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SISD (Single Instruction Single Data):</a:t>
            </a:r>
            <a:r>
              <a:rPr lang="en-US" dirty="0">
                <a:latin typeface="Times New Roman" panose="02020603050405020304" pitchFamily="18" charset="0"/>
                <a:cs typeface="Times New Roman" panose="02020603050405020304" pitchFamily="18" charset="0"/>
              </a:rPr>
              <a:t> The processor executes a single instruction on a single data stream. It processes 1 instruction per clock cycle.</a:t>
            </a: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SIMD (Single Instruction Multiple Data):</a:t>
            </a:r>
            <a:r>
              <a:rPr lang="en-US" dirty="0">
                <a:latin typeface="Times New Roman" panose="02020603050405020304" pitchFamily="18" charset="0"/>
                <a:cs typeface="Times New Roman" panose="02020603050405020304" pitchFamily="18" charset="0"/>
              </a:rPr>
              <a:t> The processor executes the same instruction on multiple data streams in parallel. It processes 4 data streams per clock cycle.</a:t>
            </a: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MIMD (Multiple Instruction Multiple Data):</a:t>
            </a:r>
            <a:r>
              <a:rPr lang="en-US" dirty="0">
                <a:latin typeface="Times New Roman" panose="02020603050405020304" pitchFamily="18" charset="0"/>
                <a:cs typeface="Times New Roman" panose="02020603050405020304" pitchFamily="18" charset="0"/>
              </a:rPr>
              <a:t> The processor executes multiple instructions on multiple data streams. It processes 8 instructions on 8 data streams per clock cycle.</a:t>
            </a: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MISD (Multiple Instruction Single Data):</a:t>
            </a:r>
            <a:r>
              <a:rPr lang="en-US" dirty="0">
                <a:latin typeface="Times New Roman" panose="02020603050405020304" pitchFamily="18" charset="0"/>
                <a:cs typeface="Times New Roman" panose="02020603050405020304" pitchFamily="18" charset="0"/>
              </a:rPr>
              <a:t> The processor executes multiple instructions on a single data stream. This architecture processes 3 instructions on the same data stream per clock cycle.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0062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78B1B-6BC7-CB9A-2D8A-718405EC54A3}"/>
              </a:ext>
            </a:extLst>
          </p:cNvPr>
          <p:cNvSpPr>
            <a:spLocks noGrp="1"/>
          </p:cNvSpPr>
          <p:nvPr>
            <p:ph type="title"/>
          </p:nvPr>
        </p:nvSpPr>
        <p:spPr/>
        <p:txBody>
          <a:bodyPr/>
          <a:lstStyle/>
          <a:p>
            <a:pPr algn="just"/>
            <a:r>
              <a:rPr lang="en-US" b="1" dirty="0">
                <a:latin typeface="Times New Roman" panose="02020603050405020304" pitchFamily="18" charset="0"/>
                <a:cs typeface="Times New Roman" panose="02020603050405020304" pitchFamily="18" charset="0"/>
              </a:rPr>
              <a:t>Question: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494FAA-FD21-0230-633D-6FF2121D1DF9}"/>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computational task requires processing </a:t>
            </a:r>
            <a:r>
              <a:rPr lang="en-US" b="1" dirty="0">
                <a:latin typeface="Times New Roman" panose="02020603050405020304" pitchFamily="18" charset="0"/>
                <a:cs typeface="Times New Roman" panose="02020603050405020304" pitchFamily="18" charset="0"/>
              </a:rPr>
              <a:t>10,000 data units</a:t>
            </a:r>
            <a:r>
              <a:rPr lang="en-US" dirty="0">
                <a:latin typeface="Times New Roman" panose="02020603050405020304" pitchFamily="18" charset="0"/>
                <a:cs typeface="Times New Roman" panose="02020603050405020304" pitchFamily="18" charset="0"/>
              </a:rPr>
              <a:t>, with:</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instruction requiring </a:t>
            </a:r>
            <a:r>
              <a:rPr lang="en-US" b="1" dirty="0">
                <a:latin typeface="Times New Roman" panose="02020603050405020304" pitchFamily="18" charset="0"/>
                <a:cs typeface="Times New Roman" panose="02020603050405020304" pitchFamily="18" charset="0"/>
              </a:rPr>
              <a:t>5 clock cycles</a:t>
            </a:r>
            <a:r>
              <a:rPr lang="en-US" dirty="0">
                <a:latin typeface="Times New Roman" panose="02020603050405020304" pitchFamily="18" charset="0"/>
                <a:cs typeface="Times New Roman" panose="02020603050405020304" pitchFamily="18" charset="0"/>
              </a:rPr>
              <a:t> for completion.</a:t>
            </a:r>
          </a:p>
          <a:p>
            <a:pPr algn="just"/>
            <a:r>
              <a:rPr lang="en-US" dirty="0">
                <a:latin typeface="Times New Roman" panose="02020603050405020304" pitchFamily="18" charset="0"/>
                <a:cs typeface="Times New Roman" panose="02020603050405020304" pitchFamily="18" charset="0"/>
              </a:rPr>
              <a:t>Determine:</a:t>
            </a:r>
          </a:p>
          <a:p>
            <a:pPr algn="just">
              <a:buFont typeface="+mj-lt"/>
              <a:buAutoNum type="arabicPeriod"/>
            </a:pPr>
            <a:r>
              <a:rPr lang="en-US" dirty="0">
                <a:latin typeface="Times New Roman" panose="02020603050405020304" pitchFamily="18" charset="0"/>
                <a:cs typeface="Times New Roman" panose="02020603050405020304" pitchFamily="18" charset="0"/>
              </a:rPr>
              <a:t>Total clock cycles required for the task under each classification.</a:t>
            </a:r>
          </a:p>
          <a:p>
            <a:pPr algn="just">
              <a:buFont typeface="+mj-lt"/>
              <a:buAutoNum type="arabicPeriod"/>
            </a:pPr>
            <a:r>
              <a:rPr lang="en-US" dirty="0">
                <a:latin typeface="Times New Roman" panose="02020603050405020304" pitchFamily="18" charset="0"/>
                <a:cs typeface="Times New Roman" panose="02020603050405020304" pitchFamily="18" charset="0"/>
              </a:rPr>
              <a:t>Identify the most efficient architecture in terms of processing time.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46409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342</TotalTime>
  <Words>2903</Words>
  <Application>Microsoft Office PowerPoint</Application>
  <PresentationFormat>Widescreen</PresentationFormat>
  <Paragraphs>154</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Times New Roman</vt:lpstr>
      <vt:lpstr>Wingdings</vt:lpstr>
      <vt:lpstr>Retrospect</vt:lpstr>
      <vt:lpstr>Lecture # 02 Flynn’s Taxonomy: Types of Parallelism</vt:lpstr>
      <vt:lpstr>Flynn’s Taxonomy:</vt:lpstr>
      <vt:lpstr>Flynn’s taxonomy</vt:lpstr>
      <vt:lpstr>Flynn’s taxonomy</vt:lpstr>
      <vt:lpstr>Flynn’s taxonomy</vt:lpstr>
      <vt:lpstr>Flynn’s classification</vt:lpstr>
      <vt:lpstr>SISD</vt:lpstr>
      <vt:lpstr>Single-instruction, multiple-data (SIMD) systems </vt:lpstr>
      <vt:lpstr>SIMD</vt:lpstr>
      <vt:lpstr>SIMD sub categories</vt:lpstr>
      <vt:lpstr>Multiple-instruction, single-data (MISD) systems </vt:lpstr>
      <vt:lpstr>MISD</vt:lpstr>
      <vt:lpstr>Multiple-instruction, multiple-data (MIMD) systems</vt:lpstr>
      <vt:lpstr>MIMD</vt:lpstr>
      <vt:lpstr>Shared memory MIMD </vt:lpstr>
      <vt:lpstr>Distributed memory MIMD </vt:lpstr>
      <vt:lpstr>MIMD architectures</vt:lpstr>
      <vt:lpstr>SPMD and MPMD</vt:lpstr>
      <vt:lpstr>SPMD</vt:lpstr>
      <vt:lpstr>MPMD</vt:lpstr>
      <vt:lpstr>Types of parallelism</vt:lpstr>
      <vt:lpstr>Software-Level Parallelism</vt:lpstr>
      <vt:lpstr>Introduction to Parallel Computing</vt:lpstr>
      <vt:lpstr>Introduction to Parallel Computing</vt:lpstr>
      <vt:lpstr>Need for Parallel Computing</vt:lpstr>
      <vt:lpstr>Parallel Computing : </vt:lpstr>
      <vt:lpstr>Advantages of Parallel Computing</vt:lpstr>
      <vt:lpstr>Instruction-level parallelism</vt:lpstr>
      <vt:lpstr>Task Parallelism</vt:lpstr>
      <vt:lpstr>Data-level parallelism (DLP) </vt:lpstr>
      <vt:lpstr>Why parallel computing? </vt:lpstr>
      <vt:lpstr>Applications of Parallel Computing: </vt:lpstr>
      <vt:lpstr>Limitations of Parallel Computing: </vt:lpstr>
      <vt:lpstr>Future of Parallel Computing: </vt:lpstr>
      <vt:lpstr>Task#01</vt:lpstr>
      <vt:lpstr>Task#02</vt:lpstr>
      <vt:lpstr>Task#03</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fatimamehar424@gmail.com</dc:creator>
  <cp:lastModifiedBy>fatimamehar424@gmail.com</cp:lastModifiedBy>
  <cp:revision>15</cp:revision>
  <dcterms:created xsi:type="dcterms:W3CDTF">2025-01-19T06:41:01Z</dcterms:created>
  <dcterms:modified xsi:type="dcterms:W3CDTF">2025-02-08T13:31:51Z</dcterms:modified>
</cp:coreProperties>
</file>