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3479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3209738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6262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231D1B0-6A0E-4430-AC2D-7F9228F4CBE9}"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4039251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31D1B0-6A0E-4430-AC2D-7F9228F4CBE9}" type="datetimeFigureOut">
              <a:rPr lang="en-US" smtClean="0"/>
              <a:t>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2756589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31D1B0-6A0E-4430-AC2D-7F9228F4CBE9}"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977905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231D1B0-6A0E-4430-AC2D-7F9228F4CBE9}" type="datetimeFigureOut">
              <a:rPr lang="en-US" smtClean="0"/>
              <a:t>2/8/2025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45050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231D1B0-6A0E-4430-AC2D-7F9228F4CBE9}" type="datetimeFigureOut">
              <a:rPr lang="en-US" smtClean="0"/>
              <a:t>2/8/2025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E003177-7FED-4ECA-96D1-658996C5DF1F}" type="slidenum">
              <a:rPr lang="en-US" smtClean="0"/>
              <a:t>‹#›</a:t>
            </a:fld>
            <a:endParaRPr lang="en-US"/>
          </a:p>
        </p:txBody>
      </p:sp>
    </p:spTree>
    <p:extLst>
      <p:ext uri="{BB962C8B-B14F-4D97-AF65-F5344CB8AC3E}">
        <p14:creationId xmlns:p14="http://schemas.microsoft.com/office/powerpoint/2010/main" val="2402758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31D1B0-6A0E-4430-AC2D-7F9228F4CBE9}"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373277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1376729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1D1B0-6A0E-4430-AC2D-7F9228F4CBE9}"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03177-7FED-4ECA-96D1-658996C5DF1F}" type="slidenum">
              <a:rPr lang="en-US" smtClean="0"/>
              <a:t>‹#›</a:t>
            </a:fld>
            <a:endParaRPr lang="en-US"/>
          </a:p>
        </p:txBody>
      </p:sp>
    </p:spTree>
    <p:extLst>
      <p:ext uri="{BB962C8B-B14F-4D97-AF65-F5344CB8AC3E}">
        <p14:creationId xmlns:p14="http://schemas.microsoft.com/office/powerpoint/2010/main" val="881656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231D1B0-6A0E-4430-AC2D-7F9228F4CBE9}" type="datetimeFigureOut">
              <a:rPr lang="en-US" smtClean="0"/>
              <a:t>2/8/2025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E003177-7FED-4ECA-96D1-658996C5DF1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91905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introduction-of-deadlock-in-operating-system/" TargetMode="External"/><Relationship Id="rId2" Type="http://schemas.openxmlformats.org/officeDocument/2006/relationships/hyperlink" Target="https://www.geeksforgeeks.org/machine-instructions/" TargetMode="External"/><Relationship Id="rId1" Type="http://schemas.openxmlformats.org/officeDocument/2006/relationships/slideLayout" Target="../slideLayouts/slideLayout2.xml"/><Relationship Id="rId4" Type="http://schemas.openxmlformats.org/officeDocument/2006/relationships/hyperlink" Target="https://www.geeksforgeeks.org/difference-between-deadlock-and-starvation-in-o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F640A-BA8A-6A72-E911-EDB060ED022F}"/>
              </a:ext>
            </a:extLst>
          </p:cNvPr>
          <p:cNvSpPr>
            <a:spLocks noGrp="1"/>
          </p:cNvSpPr>
          <p:nvPr>
            <p:ph type="ctrTitle"/>
          </p:nvPr>
        </p:nvSpPr>
        <p:spPr/>
        <p:txBody>
          <a:bodyPr>
            <a:normAutofit/>
          </a:bodyPr>
          <a:lstStyle/>
          <a:p>
            <a:r>
              <a:rPr lang="en-US" sz="6600" b="1" dirty="0">
                <a:latin typeface="Times New Roman" panose="02020603050405020304" pitchFamily="18" charset="0"/>
                <a:cs typeface="Times New Roman" panose="02020603050405020304" pitchFamily="18" charset="0"/>
              </a:rPr>
              <a:t>Lecture # 06</a:t>
            </a:r>
            <a:br>
              <a:rPr lang="en-US" sz="6600" kern="0" dirty="0">
                <a:effectLst/>
                <a:latin typeface="Times New Roman" panose="02020603050405020304" pitchFamily="18" charset="0"/>
                <a:ea typeface="Times New Roman" panose="02020603050405020304" pitchFamily="18" charset="0"/>
              </a:rPr>
            </a:br>
            <a:r>
              <a:rPr lang="en-US" sz="6600" kern="0" dirty="0">
                <a:effectLst/>
                <a:latin typeface="Times New Roman" panose="02020603050405020304" pitchFamily="18" charset="0"/>
                <a:ea typeface="Times New Roman" panose="02020603050405020304" pitchFamily="18" charset="0"/>
              </a:rPr>
              <a:t>Concurrency Controls (Mutex </a:t>
            </a:r>
            <a:r>
              <a:rPr lang="en-US" sz="6600" kern="0">
                <a:effectLst/>
                <a:latin typeface="Times New Roman" panose="02020603050405020304" pitchFamily="18" charset="0"/>
                <a:ea typeface="Times New Roman" panose="02020603050405020304" pitchFamily="18" charset="0"/>
              </a:rPr>
              <a:t>&amp; Semaphore)</a:t>
            </a:r>
            <a:endParaRPr lang="en-US" sz="6600" dirty="0"/>
          </a:p>
        </p:txBody>
      </p:sp>
      <p:sp>
        <p:nvSpPr>
          <p:cNvPr id="3" name="Subtitle 2">
            <a:extLst>
              <a:ext uri="{FF2B5EF4-FFF2-40B4-BE49-F238E27FC236}">
                <a16:creationId xmlns:a16="http://schemas.microsoft.com/office/drawing/2014/main" id="{3EEDB696-4149-7917-BE8F-15EDA665DA61}"/>
              </a:ext>
            </a:extLst>
          </p:cNvPr>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Parallel and Distributed Computing</a:t>
            </a:r>
          </a:p>
          <a:p>
            <a:r>
              <a:rPr lang="en-US" dirty="0">
                <a:latin typeface="Times New Roman" panose="02020603050405020304" pitchFamily="18" charset="0"/>
                <a:cs typeface="Times New Roman" panose="02020603050405020304" pitchFamily="18" charset="0"/>
              </a:rPr>
              <a:t>CS-482</a:t>
            </a:r>
          </a:p>
        </p:txBody>
      </p:sp>
    </p:spTree>
    <p:extLst>
      <p:ext uri="{BB962C8B-B14F-4D97-AF65-F5344CB8AC3E}">
        <p14:creationId xmlns:p14="http://schemas.microsoft.com/office/powerpoint/2010/main" val="57622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6D42B-DCD9-071A-B996-BD4585FBE79C}"/>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28EA8B91-5532-5D88-DFA0-5275D9ECD13C}"/>
              </a:ext>
            </a:extLst>
          </p:cNvPr>
          <p:cNvSpPr>
            <a:spLocks noGrp="1"/>
          </p:cNvSpPr>
          <p:nvPr>
            <p:ph idx="1"/>
          </p:nvPr>
        </p:nvSpPr>
        <p:spPr/>
        <p:txBody>
          <a:bodyPr/>
          <a:lstStyle/>
          <a:p>
            <a:r>
              <a:rPr lang="en-US" b="0" i="0">
                <a:solidFill>
                  <a:srgbClr val="273239"/>
                </a:solidFill>
                <a:effectLst/>
                <a:latin typeface="Nunito" pitchFamily="2" charset="0"/>
              </a:rPr>
              <a:t>In the Operating System, </a:t>
            </a:r>
            <a:r>
              <a:rPr lang="en-US" b="1" i="0">
                <a:solidFill>
                  <a:srgbClr val="273239"/>
                </a:solidFill>
                <a:effectLst/>
                <a:latin typeface="Nunito" pitchFamily="2" charset="0"/>
              </a:rPr>
              <a:t>Mutex and Semaphores</a:t>
            </a:r>
            <a:r>
              <a:rPr lang="en-US" b="0" i="0">
                <a:solidFill>
                  <a:srgbClr val="273239"/>
                </a:solidFill>
                <a:effectLst/>
                <a:latin typeface="Nunito" pitchFamily="2" charset="0"/>
              </a:rPr>
              <a:t> are kernel resources that provide synchronization services (also known as synchronization primitives). Synchronization is required when multiple processes are executing concurrently, to avoid conflicts between processes using shared resources. In this article we will see differences between Mutex and Semaphore, their advantages and disadvantages.</a:t>
            </a:r>
            <a:endParaRPr lang="en-US"/>
          </a:p>
        </p:txBody>
      </p:sp>
    </p:spTree>
    <p:extLst>
      <p:ext uri="{BB962C8B-B14F-4D97-AF65-F5344CB8AC3E}">
        <p14:creationId xmlns:p14="http://schemas.microsoft.com/office/powerpoint/2010/main" val="134085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E93B2-058D-F9E1-079F-C6C4897FC69D}"/>
              </a:ext>
            </a:extLst>
          </p:cNvPr>
          <p:cNvSpPr>
            <a:spLocks noGrp="1"/>
          </p:cNvSpPr>
          <p:nvPr>
            <p:ph type="title"/>
          </p:nvPr>
        </p:nvSpPr>
        <p:spPr/>
        <p:txBody>
          <a:bodyPr/>
          <a:lstStyle/>
          <a:p>
            <a:r>
              <a:rPr lang="en-US" b="1" i="0" dirty="0">
                <a:solidFill>
                  <a:srgbClr val="273239"/>
                </a:solidFill>
                <a:effectLst/>
                <a:latin typeface="Nunito" pitchFamily="2" charset="0"/>
              </a:rPr>
              <a:t>What is Mutex?</a:t>
            </a:r>
            <a:endParaRPr lang="en-US" dirty="0"/>
          </a:p>
        </p:txBody>
      </p:sp>
      <p:sp>
        <p:nvSpPr>
          <p:cNvPr id="3" name="Content Placeholder 2">
            <a:extLst>
              <a:ext uri="{FF2B5EF4-FFF2-40B4-BE49-F238E27FC236}">
                <a16:creationId xmlns:a16="http://schemas.microsoft.com/office/drawing/2014/main" id="{8AAE91DA-5BE5-D517-FE48-9E2B9CFFD1B6}"/>
              </a:ext>
            </a:extLst>
          </p:cNvPr>
          <p:cNvSpPr>
            <a:spLocks noGrp="1"/>
          </p:cNvSpPr>
          <p:nvPr>
            <p:ph idx="1"/>
          </p:nvPr>
        </p:nvSpPr>
        <p:spPr/>
        <p:txBody>
          <a:bodyPr>
            <a:normAutofit/>
          </a:bodyPr>
          <a:lstStyle/>
          <a:p>
            <a:pPr algn="just" rtl="0" fontAlgn="base">
              <a:spcAft>
                <a:spcPts val="750"/>
              </a:spcAft>
            </a:pPr>
            <a:r>
              <a:rPr lang="en-US" b="0" i="0" dirty="0">
                <a:solidFill>
                  <a:srgbClr val="273239"/>
                </a:solidFill>
                <a:effectLst/>
                <a:latin typeface="Nunito" pitchFamily="2" charset="0"/>
              </a:rPr>
              <a:t>A mutex is different from a binary semaphore, which provides a locking mechanism. It stands for </a:t>
            </a:r>
            <a:r>
              <a:rPr lang="en-US" dirty="0">
                <a:solidFill>
                  <a:srgbClr val="273239"/>
                </a:solidFill>
                <a:latin typeface="Nunito" pitchFamily="2" charset="0"/>
              </a:rPr>
              <a:t>Mutual Exclusion</a:t>
            </a:r>
            <a:r>
              <a:rPr lang="en-US" b="0" i="0" dirty="0">
                <a:solidFill>
                  <a:srgbClr val="273239"/>
                </a:solidFill>
                <a:effectLst/>
                <a:latin typeface="Nunito" pitchFamily="2" charset="0"/>
              </a:rPr>
              <a:t> Object. Mutex is mainly used to provide mutual exclusion to a specific portion of the code so that the process can execute and work with a particular section of the code at a particular time. A mutex enforces strict ownership. Only the thread that locks the mutex can unlock it. It is specifically used for locking a resource to ensure that only one thread accesses it at a time. Due to this strict ownership, a mutex is not only typically used for signaling between threads, but it is used for mutual exclusion also to ensuring that a resource is accessed by only one thread at a time.</a:t>
            </a:r>
          </a:p>
          <a:p>
            <a:pPr algn="just" rtl="0" fontAlgn="base">
              <a:spcAft>
                <a:spcPts val="750"/>
              </a:spcAft>
            </a:pPr>
            <a:r>
              <a:rPr lang="en-US" b="0" i="0" dirty="0">
                <a:solidFill>
                  <a:srgbClr val="273239"/>
                </a:solidFill>
                <a:effectLst/>
                <a:latin typeface="Nunito" pitchFamily="2" charset="0"/>
              </a:rPr>
              <a:t>Mutex uses a priority inheritance mechanism to avoid </a:t>
            </a:r>
            <a:r>
              <a:rPr lang="en-US" dirty="0">
                <a:solidFill>
                  <a:srgbClr val="273239"/>
                </a:solidFill>
                <a:latin typeface="Nunito" pitchFamily="2" charset="0"/>
              </a:rPr>
              <a:t>priority inversion</a:t>
            </a:r>
            <a:r>
              <a:rPr lang="en-US" b="0" i="0" dirty="0">
                <a:solidFill>
                  <a:srgbClr val="273239"/>
                </a:solidFill>
                <a:effectLst/>
                <a:latin typeface="Nunito" pitchFamily="2" charset="0"/>
              </a:rPr>
              <a:t> issues. The priority inheritance mechanism keeps higher-priority processes in the blocked state for the minimum possible time. However, this cannot avoid the priority inversion problem, but it can reduce its effect up to an extent. </a:t>
            </a:r>
          </a:p>
        </p:txBody>
      </p:sp>
    </p:spTree>
    <p:extLst>
      <p:ext uri="{BB962C8B-B14F-4D97-AF65-F5344CB8AC3E}">
        <p14:creationId xmlns:p14="http://schemas.microsoft.com/office/powerpoint/2010/main" val="3966193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1BAE6-0084-BF87-26C3-86CD684E9E02}"/>
              </a:ext>
            </a:extLst>
          </p:cNvPr>
          <p:cNvSpPr>
            <a:spLocks noGrp="1"/>
          </p:cNvSpPr>
          <p:nvPr>
            <p:ph type="title"/>
          </p:nvPr>
        </p:nvSpPr>
        <p:spPr/>
        <p:txBody>
          <a:bodyPr/>
          <a:lstStyle/>
          <a:p>
            <a:br>
              <a:rPr lang="en-US" dirty="0"/>
            </a:br>
            <a:r>
              <a:rPr lang="en-US" b="1" i="0" dirty="0">
                <a:solidFill>
                  <a:srgbClr val="273239"/>
                </a:solidFill>
                <a:effectLst/>
                <a:latin typeface="Source Sans 3"/>
              </a:rPr>
              <a:t>Mutual Exclusion in Synchronization</a:t>
            </a:r>
            <a:endParaRPr lang="en-US" dirty="0"/>
          </a:p>
        </p:txBody>
      </p:sp>
      <p:sp>
        <p:nvSpPr>
          <p:cNvPr id="3" name="Content Placeholder 2">
            <a:extLst>
              <a:ext uri="{FF2B5EF4-FFF2-40B4-BE49-F238E27FC236}">
                <a16:creationId xmlns:a16="http://schemas.microsoft.com/office/drawing/2014/main" id="{DE5EFEDC-F31A-8D45-5DAA-155847C9B3D1}"/>
              </a:ext>
            </a:extLst>
          </p:cNvPr>
          <p:cNvSpPr>
            <a:spLocks noGrp="1"/>
          </p:cNvSpPr>
          <p:nvPr>
            <p:ph idx="1"/>
          </p:nvPr>
        </p:nvSpPr>
        <p:spPr/>
        <p:txBody>
          <a:bodyPr/>
          <a:lstStyle/>
          <a:p>
            <a:r>
              <a:rPr lang="en-US" b="0" i="0">
                <a:solidFill>
                  <a:srgbClr val="273239"/>
                </a:solidFill>
                <a:effectLst/>
                <a:latin typeface="Nunito" pitchFamily="2" charset="0"/>
              </a:rPr>
              <a:t>During concurrent execution of processes, processes need to enter the critical section (or the section of the program shared across processes) at times for execution. It might happen that because of the execution of multiple processes at once, the values stored in the critical section become inconsistent. In other words, the values depend on the sequence of execution of instructions – also known as a race condition. The primary task of process synchronization is to get rid of race conditions while executing the critical section.</a:t>
            </a:r>
            <a:endParaRPr lang="en-US"/>
          </a:p>
        </p:txBody>
      </p:sp>
    </p:spTree>
    <p:extLst>
      <p:ext uri="{BB962C8B-B14F-4D97-AF65-F5344CB8AC3E}">
        <p14:creationId xmlns:p14="http://schemas.microsoft.com/office/powerpoint/2010/main" val="2857167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B5EC4-A423-DB2B-F2B9-AE582752C583}"/>
              </a:ext>
            </a:extLst>
          </p:cNvPr>
          <p:cNvSpPr>
            <a:spLocks noGrp="1"/>
          </p:cNvSpPr>
          <p:nvPr>
            <p:ph type="title"/>
          </p:nvPr>
        </p:nvSpPr>
        <p:spPr/>
        <p:txBody>
          <a:bodyPr/>
          <a:lstStyle/>
          <a:p>
            <a:r>
              <a:rPr lang="en-US" b="1" i="0" dirty="0">
                <a:solidFill>
                  <a:srgbClr val="273239"/>
                </a:solidFill>
                <a:effectLst/>
                <a:latin typeface="Nunito" pitchFamily="2" charset="0"/>
              </a:rPr>
              <a:t>What is Mutual Exclusion?</a:t>
            </a:r>
            <a:endParaRPr lang="en-US" dirty="0"/>
          </a:p>
        </p:txBody>
      </p:sp>
      <p:sp>
        <p:nvSpPr>
          <p:cNvPr id="3" name="Content Placeholder 2">
            <a:extLst>
              <a:ext uri="{FF2B5EF4-FFF2-40B4-BE49-F238E27FC236}">
                <a16:creationId xmlns:a16="http://schemas.microsoft.com/office/drawing/2014/main" id="{5436AE66-00F4-A252-AB20-73689BDDCF3E}"/>
              </a:ext>
            </a:extLst>
          </p:cNvPr>
          <p:cNvSpPr>
            <a:spLocks noGrp="1"/>
          </p:cNvSpPr>
          <p:nvPr>
            <p:ph idx="1"/>
          </p:nvPr>
        </p:nvSpPr>
        <p:spPr/>
        <p:txBody>
          <a:bodyPr>
            <a:normAutofit fontScale="77500" lnSpcReduction="20000"/>
          </a:bodyPr>
          <a:lstStyle/>
          <a:p>
            <a:pPr algn="just" rtl="0" fontAlgn="base">
              <a:spcBef>
                <a:spcPts val="0"/>
              </a:spcBef>
              <a:spcAft>
                <a:spcPts val="750"/>
              </a:spcAft>
            </a:pPr>
            <a:r>
              <a:rPr lang="en-US" b="1" i="0" dirty="0">
                <a:solidFill>
                  <a:srgbClr val="273239"/>
                </a:solidFill>
                <a:effectLst/>
                <a:latin typeface="Nunito" pitchFamily="2" charset="0"/>
              </a:rPr>
              <a:t>Mutual Exclusion</a:t>
            </a:r>
            <a:r>
              <a:rPr lang="en-US" b="0" i="0" dirty="0">
                <a:solidFill>
                  <a:srgbClr val="273239"/>
                </a:solidFill>
                <a:effectLst/>
                <a:latin typeface="Nunito" pitchFamily="2" charset="0"/>
              </a:rPr>
              <a:t> is a property of </a:t>
            </a:r>
            <a:r>
              <a:rPr lang="en-US" dirty="0">
                <a:solidFill>
                  <a:srgbClr val="273239"/>
                </a:solidFill>
                <a:latin typeface="Nunito" pitchFamily="2" charset="0"/>
              </a:rPr>
              <a:t>process synchronization</a:t>
            </a:r>
            <a:r>
              <a:rPr lang="en-US" b="0" i="0" dirty="0">
                <a:solidFill>
                  <a:srgbClr val="273239"/>
                </a:solidFill>
                <a:effectLst/>
                <a:latin typeface="Nunito" pitchFamily="2" charset="0"/>
              </a:rPr>
              <a:t> that states that “</a:t>
            </a:r>
            <a:r>
              <a:rPr lang="en-US" b="1" i="0" dirty="0">
                <a:solidFill>
                  <a:srgbClr val="273239"/>
                </a:solidFill>
                <a:effectLst/>
                <a:latin typeface="Nunito" pitchFamily="2" charset="0"/>
              </a:rPr>
              <a:t>no two processes can exist in the critical section at any given point of time</a:t>
            </a:r>
            <a:r>
              <a:rPr lang="en-US" b="0" i="0" dirty="0">
                <a:solidFill>
                  <a:srgbClr val="273239"/>
                </a:solidFill>
                <a:effectLst/>
                <a:latin typeface="Nunito" pitchFamily="2" charset="0"/>
              </a:rPr>
              <a:t>“. The term was first coined by </a:t>
            </a:r>
            <a:r>
              <a:rPr lang="en-US" b="1" i="0" dirty="0">
                <a:solidFill>
                  <a:srgbClr val="273239"/>
                </a:solidFill>
                <a:effectLst/>
                <a:latin typeface="Nunito" pitchFamily="2" charset="0"/>
              </a:rPr>
              <a:t>Dijkstra</a:t>
            </a:r>
            <a:r>
              <a:rPr lang="en-US" b="0" i="0" dirty="0">
                <a:solidFill>
                  <a:srgbClr val="273239"/>
                </a:solidFill>
                <a:effectLst/>
                <a:latin typeface="Nunito" pitchFamily="2" charset="0"/>
              </a:rPr>
              <a:t>. Any process synchronization technique being used must satisfy the property of mutual exclusion, without which it would not be possible to get rid of a race condition. </a:t>
            </a:r>
          </a:p>
          <a:p>
            <a:pPr algn="l" rtl="0" fontAlgn="base">
              <a:spcBef>
                <a:spcPts val="0"/>
              </a:spcBef>
              <a:spcAft>
                <a:spcPts val="750"/>
              </a:spcAft>
            </a:pPr>
            <a:r>
              <a:rPr lang="en-US" b="0" i="0" dirty="0">
                <a:solidFill>
                  <a:srgbClr val="273239"/>
                </a:solidFill>
                <a:effectLst/>
                <a:latin typeface="Nunito" pitchFamily="2" charset="0"/>
              </a:rPr>
              <a:t>The need for mutual exclusion comes with concurrency. There are several kinds of concurrent execution:</a:t>
            </a:r>
          </a:p>
          <a:p>
            <a:pPr algn="l" fontAlgn="base">
              <a:spcBef>
                <a:spcPts val="0"/>
              </a:spcBef>
              <a:spcAft>
                <a:spcPts val="1800"/>
              </a:spcAft>
              <a:buFont typeface="Arial" panose="020B0604020202020204" pitchFamily="34" charset="0"/>
              <a:buChar char="•"/>
            </a:pPr>
            <a:r>
              <a:rPr lang="en-US" b="0" i="0" dirty="0">
                <a:solidFill>
                  <a:srgbClr val="273239"/>
                </a:solidFill>
                <a:effectLst/>
                <a:latin typeface="Nunito" pitchFamily="2" charset="0"/>
              </a:rPr>
              <a:t>Interrupt handlers</a:t>
            </a:r>
          </a:p>
          <a:p>
            <a:pPr algn="l" fontAlgn="base">
              <a:spcBef>
                <a:spcPts val="0"/>
              </a:spcBef>
              <a:spcAft>
                <a:spcPts val="1800"/>
              </a:spcAft>
              <a:buFont typeface="Arial" panose="020B0604020202020204" pitchFamily="34" charset="0"/>
              <a:buChar char="•"/>
            </a:pPr>
            <a:r>
              <a:rPr lang="en-US" b="0" i="0" dirty="0">
                <a:solidFill>
                  <a:srgbClr val="273239"/>
                </a:solidFill>
                <a:effectLst/>
                <a:latin typeface="Nunito" pitchFamily="2" charset="0"/>
              </a:rPr>
              <a:t>Interleaved, preemptively scheduled processes/threads</a:t>
            </a:r>
          </a:p>
          <a:p>
            <a:pPr algn="l" fontAlgn="base">
              <a:spcBef>
                <a:spcPts val="0"/>
              </a:spcBef>
              <a:spcAft>
                <a:spcPts val="1800"/>
              </a:spcAft>
              <a:buFont typeface="Arial" panose="020B0604020202020204" pitchFamily="34" charset="0"/>
              <a:buChar char="•"/>
            </a:pPr>
            <a:r>
              <a:rPr lang="en-US" b="0" i="0" dirty="0">
                <a:solidFill>
                  <a:srgbClr val="273239"/>
                </a:solidFill>
                <a:effectLst/>
                <a:latin typeface="Nunito" pitchFamily="2" charset="0"/>
              </a:rPr>
              <a:t>Multiprocessor clusters, with shared memory</a:t>
            </a:r>
          </a:p>
          <a:p>
            <a:pPr algn="l" fontAlgn="base">
              <a:spcBef>
                <a:spcPts val="0"/>
              </a:spcBef>
              <a:spcAft>
                <a:spcPts val="1800"/>
              </a:spcAft>
              <a:buFont typeface="Arial" panose="020B0604020202020204" pitchFamily="34" charset="0"/>
              <a:buChar char="•"/>
            </a:pPr>
            <a:r>
              <a:rPr lang="en-US" b="0" i="0" dirty="0">
                <a:solidFill>
                  <a:srgbClr val="273239"/>
                </a:solidFill>
                <a:effectLst/>
                <a:latin typeface="Nunito" pitchFamily="2" charset="0"/>
              </a:rPr>
              <a:t>Distributed systems</a:t>
            </a:r>
          </a:p>
          <a:p>
            <a:pPr algn="l" rtl="0" fontAlgn="base">
              <a:spcBef>
                <a:spcPts val="0"/>
              </a:spcBef>
              <a:spcAft>
                <a:spcPts val="750"/>
              </a:spcAft>
            </a:pPr>
            <a:r>
              <a:rPr lang="en-US" dirty="0">
                <a:solidFill>
                  <a:srgbClr val="273239"/>
                </a:solidFill>
                <a:latin typeface="Nunito" pitchFamily="2" charset="0"/>
              </a:rPr>
              <a:t>Mutual exclusion</a:t>
            </a:r>
            <a:r>
              <a:rPr lang="en-US" b="0" i="0" dirty="0">
                <a:solidFill>
                  <a:srgbClr val="273239"/>
                </a:solidFill>
                <a:effectLst/>
                <a:latin typeface="Nunito" pitchFamily="2" charset="0"/>
              </a:rPr>
              <a:t> methods are used in concurrent programming to avoid the simultaneous use of a common resource, such as a global variable, by pieces of computer code called critical sections.</a:t>
            </a:r>
          </a:p>
          <a:p>
            <a:pPr algn="l" rtl="0" fontAlgn="base">
              <a:spcBef>
                <a:spcPts val="0"/>
              </a:spcBef>
              <a:spcAft>
                <a:spcPts val="750"/>
              </a:spcAft>
            </a:pPr>
            <a:r>
              <a:rPr lang="en-US" b="0" i="0" dirty="0">
                <a:solidFill>
                  <a:srgbClr val="273239"/>
                </a:solidFill>
                <a:effectLst/>
                <a:latin typeface="Nunito" pitchFamily="2" charset="0"/>
              </a:rPr>
              <a:t>The requirement of mutual exclusion is that when process P1 is accessing a shared resource R1, another process should not be able to access resource R1 until process P1 has finished its operation with resource R1.</a:t>
            </a:r>
          </a:p>
          <a:p>
            <a:pPr algn="l" rtl="0" fontAlgn="base">
              <a:spcBef>
                <a:spcPts val="0"/>
              </a:spcBef>
              <a:spcAft>
                <a:spcPts val="750"/>
              </a:spcAft>
            </a:pPr>
            <a:r>
              <a:rPr lang="en-US" b="0" i="0" dirty="0">
                <a:solidFill>
                  <a:srgbClr val="273239"/>
                </a:solidFill>
                <a:effectLst/>
                <a:latin typeface="Nunito" pitchFamily="2" charset="0"/>
              </a:rPr>
              <a:t>Examples of such resources include files, I/O devices such as printers, and shared data structures.</a:t>
            </a:r>
          </a:p>
        </p:txBody>
      </p:sp>
    </p:spTree>
    <p:extLst>
      <p:ext uri="{BB962C8B-B14F-4D97-AF65-F5344CB8AC3E}">
        <p14:creationId xmlns:p14="http://schemas.microsoft.com/office/powerpoint/2010/main" val="1175383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E7741-408D-734E-611D-E665ED97A23C}"/>
              </a:ext>
            </a:extLst>
          </p:cNvPr>
          <p:cNvSpPr>
            <a:spLocks noGrp="1"/>
          </p:cNvSpPr>
          <p:nvPr>
            <p:ph type="title"/>
          </p:nvPr>
        </p:nvSpPr>
        <p:spPr/>
        <p:txBody>
          <a:bodyPr>
            <a:normAutofit/>
          </a:bodyPr>
          <a:lstStyle/>
          <a:p>
            <a:r>
              <a:rPr lang="en-US" b="1" i="0" dirty="0">
                <a:solidFill>
                  <a:srgbClr val="273239"/>
                </a:solidFill>
                <a:effectLst/>
                <a:latin typeface="Nunito" pitchFamily="2" charset="0"/>
              </a:rPr>
              <a:t>Conditions Required for Mutual Exclusion</a:t>
            </a:r>
            <a:endParaRPr lang="en-US" dirty="0"/>
          </a:p>
        </p:txBody>
      </p:sp>
      <p:sp>
        <p:nvSpPr>
          <p:cNvPr id="3" name="Content Placeholder 2">
            <a:extLst>
              <a:ext uri="{FF2B5EF4-FFF2-40B4-BE49-F238E27FC236}">
                <a16:creationId xmlns:a16="http://schemas.microsoft.com/office/drawing/2014/main" id="{FAD5B848-1F3F-95FC-BA65-68F81F09C9DC}"/>
              </a:ext>
            </a:extLst>
          </p:cNvPr>
          <p:cNvSpPr>
            <a:spLocks noGrp="1"/>
          </p:cNvSpPr>
          <p:nvPr>
            <p:ph idx="1"/>
          </p:nvPr>
        </p:nvSpPr>
        <p:spPr/>
        <p:txBody>
          <a:bodyPr>
            <a:normAutofit lnSpcReduction="10000"/>
          </a:bodyPr>
          <a:lstStyle/>
          <a:p>
            <a:pPr algn="just" rtl="0" fontAlgn="base">
              <a:spcAft>
                <a:spcPts val="750"/>
              </a:spcAft>
            </a:pPr>
            <a:r>
              <a:rPr lang="en-US" b="0" i="0" dirty="0">
                <a:solidFill>
                  <a:srgbClr val="273239"/>
                </a:solidFill>
                <a:effectLst/>
                <a:latin typeface="Nunito" pitchFamily="2" charset="0"/>
              </a:rPr>
              <a:t>According to the following four criteria, mutual exclusion is applicable: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When using shared resources, it is important to ensure mutual exclusion between various processes. There cannot be two processes running simultaneously in either of their critical sections.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is not advisable to make assumptions about the relative speeds of the unstable processes.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For access to the critical section, a process that is outside of it must not obstruct another process.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Its critical section must be accessible by multiple processes in a finite amount of time; multiple processes should never be kept waiting in an infinite loop.</a:t>
            </a:r>
          </a:p>
        </p:txBody>
      </p:sp>
    </p:spTree>
    <p:extLst>
      <p:ext uri="{BB962C8B-B14F-4D97-AF65-F5344CB8AC3E}">
        <p14:creationId xmlns:p14="http://schemas.microsoft.com/office/powerpoint/2010/main" val="1246991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3B409-674C-F7EC-A60F-28FBC58E7EEF}"/>
              </a:ext>
            </a:extLst>
          </p:cNvPr>
          <p:cNvSpPr>
            <a:spLocks noGrp="1"/>
          </p:cNvSpPr>
          <p:nvPr>
            <p:ph type="title"/>
          </p:nvPr>
        </p:nvSpPr>
        <p:spPr/>
        <p:txBody>
          <a:bodyPr>
            <a:normAutofit/>
          </a:bodyPr>
          <a:lstStyle/>
          <a:p>
            <a:r>
              <a:rPr lang="en-US" b="1" i="0" dirty="0">
                <a:solidFill>
                  <a:srgbClr val="273239"/>
                </a:solidFill>
                <a:effectLst/>
                <a:latin typeface="Nunito" pitchFamily="2" charset="0"/>
              </a:rPr>
              <a:t>Approaches To Implementing Mutual Exclusion</a:t>
            </a:r>
            <a:endParaRPr lang="en-US" dirty="0"/>
          </a:p>
        </p:txBody>
      </p:sp>
      <p:sp>
        <p:nvSpPr>
          <p:cNvPr id="3" name="Content Placeholder 2">
            <a:extLst>
              <a:ext uri="{FF2B5EF4-FFF2-40B4-BE49-F238E27FC236}">
                <a16:creationId xmlns:a16="http://schemas.microsoft.com/office/drawing/2014/main" id="{D5DC16E6-7DD0-9982-5DE0-2839522F5356}"/>
              </a:ext>
            </a:extLst>
          </p:cNvPr>
          <p:cNvSpPr>
            <a:spLocks noGrp="1"/>
          </p:cNvSpPr>
          <p:nvPr>
            <p:ph idx="1"/>
          </p:nvPr>
        </p:nvSpPr>
        <p:spPr/>
        <p:txBody>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Software Method: </a:t>
            </a:r>
            <a:r>
              <a:rPr lang="en-US" b="0" i="0" dirty="0">
                <a:solidFill>
                  <a:srgbClr val="273239"/>
                </a:solidFill>
                <a:effectLst/>
                <a:latin typeface="Nunito" pitchFamily="2" charset="0"/>
              </a:rPr>
              <a:t>Leave the responsibility to the processes themselves. These methods are usually highly error-prone and carry high overheads.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Hardware Method: </a:t>
            </a:r>
            <a:r>
              <a:rPr lang="en-US" b="0" i="0" dirty="0">
                <a:solidFill>
                  <a:srgbClr val="273239"/>
                </a:solidFill>
                <a:effectLst/>
                <a:latin typeface="Nunito" pitchFamily="2" charset="0"/>
              </a:rPr>
              <a:t>Special-purpose </a:t>
            </a:r>
            <a:r>
              <a:rPr lang="en-US" b="0" i="0" u="sng" dirty="0">
                <a:solidFill>
                  <a:srgbClr val="273239"/>
                </a:solidFill>
                <a:effectLst/>
                <a:latin typeface="Nunito" pitchFamily="2" charset="0"/>
                <a:hlinkClick r:id="rId2"/>
              </a:rPr>
              <a:t>machine instructions</a:t>
            </a:r>
            <a:r>
              <a:rPr lang="en-US" b="0" i="0" dirty="0">
                <a:solidFill>
                  <a:srgbClr val="273239"/>
                </a:solidFill>
                <a:effectLst/>
                <a:latin typeface="Nunito" pitchFamily="2" charset="0"/>
              </a:rPr>
              <a:t> are used for accessing shared resources. This method is faster but cannot provide a complete solution. Hardware solutions cannot give guarantee the absence of </a:t>
            </a:r>
            <a:r>
              <a:rPr lang="en-US" b="0" i="0" u="sng" dirty="0">
                <a:solidFill>
                  <a:srgbClr val="273239"/>
                </a:solidFill>
                <a:effectLst/>
                <a:latin typeface="Nunito" pitchFamily="2" charset="0"/>
                <a:hlinkClick r:id="rId3"/>
              </a:rPr>
              <a:t>deadlock</a:t>
            </a:r>
            <a:r>
              <a:rPr lang="en-US" b="0" i="0" dirty="0">
                <a:solidFill>
                  <a:srgbClr val="273239"/>
                </a:solidFill>
                <a:effectLst/>
                <a:latin typeface="Nunito" pitchFamily="2" charset="0"/>
              </a:rPr>
              <a:t> and </a:t>
            </a:r>
            <a:r>
              <a:rPr lang="en-US" b="0" i="0" u="sng" dirty="0">
                <a:solidFill>
                  <a:srgbClr val="273239"/>
                </a:solidFill>
                <a:effectLst/>
                <a:latin typeface="Nunito" pitchFamily="2" charset="0"/>
                <a:hlinkClick r:id="rId4"/>
              </a:rPr>
              <a:t>starvation</a:t>
            </a:r>
            <a:r>
              <a:rPr lang="en-US" b="0" i="0" dirty="0">
                <a:solidFill>
                  <a:srgbClr val="273239"/>
                </a:solidFill>
                <a:effectLst/>
                <a:latin typeface="Nunito" pitchFamily="2" charset="0"/>
              </a:rPr>
              <a:t>.</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Programming Language Method: </a:t>
            </a:r>
            <a:r>
              <a:rPr lang="en-US" b="0" i="0" dirty="0">
                <a:solidFill>
                  <a:srgbClr val="273239"/>
                </a:solidFill>
                <a:effectLst/>
                <a:latin typeface="Nunito" pitchFamily="2" charset="0"/>
              </a:rPr>
              <a:t>Provide support through the operating system or through the programming language.</a:t>
            </a:r>
          </a:p>
          <a:p>
            <a:endParaRPr lang="en-US" dirty="0"/>
          </a:p>
        </p:txBody>
      </p:sp>
    </p:spTree>
    <p:extLst>
      <p:ext uri="{BB962C8B-B14F-4D97-AF65-F5344CB8AC3E}">
        <p14:creationId xmlns:p14="http://schemas.microsoft.com/office/powerpoint/2010/main" val="2290190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087B8-0547-F8D2-0B1B-28F565CEED62}"/>
              </a:ext>
            </a:extLst>
          </p:cNvPr>
          <p:cNvSpPr>
            <a:spLocks noGrp="1"/>
          </p:cNvSpPr>
          <p:nvPr>
            <p:ph type="title"/>
          </p:nvPr>
        </p:nvSpPr>
        <p:spPr/>
        <p:txBody>
          <a:bodyPr/>
          <a:lstStyle/>
          <a:p>
            <a:r>
              <a:rPr lang="en-US" b="1" i="0" dirty="0">
                <a:solidFill>
                  <a:srgbClr val="273239"/>
                </a:solidFill>
                <a:effectLst/>
                <a:latin typeface="Nunito" pitchFamily="2" charset="0"/>
              </a:rPr>
              <a:t>Requirements of Mutual Exclusion</a:t>
            </a:r>
            <a:endParaRPr lang="en-US" dirty="0"/>
          </a:p>
        </p:txBody>
      </p:sp>
      <p:sp>
        <p:nvSpPr>
          <p:cNvPr id="3" name="Content Placeholder 2">
            <a:extLst>
              <a:ext uri="{FF2B5EF4-FFF2-40B4-BE49-F238E27FC236}">
                <a16:creationId xmlns:a16="http://schemas.microsoft.com/office/drawing/2014/main" id="{AF5FDD0E-31EA-487E-9AEA-B5975A64A51A}"/>
              </a:ext>
            </a:extLst>
          </p:cNvPr>
          <p:cNvSpPr>
            <a:spLocks noGrp="1"/>
          </p:cNvSpPr>
          <p:nvPr>
            <p:ph idx="1"/>
          </p:nvPr>
        </p:nvSpPr>
        <p:spPr/>
        <p:txBody>
          <a:bodyPr>
            <a:normAutofit fontScale="92500" lnSpcReduction="10000"/>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At any time, only one process is allowed to enter its critical section.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solution is implemented purely in software on a machine.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 process remains inside its critical section for a bounded time only.</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No assumption can be made about the relative speeds of asynchronous concurrent processes.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 process cannot prevent any other process from entering into a critical section.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 process must not be indefinitely postponed from entering its critical section.</a:t>
            </a:r>
          </a:p>
          <a:p>
            <a:endParaRPr lang="en-US" dirty="0"/>
          </a:p>
        </p:txBody>
      </p:sp>
    </p:spTree>
    <p:extLst>
      <p:ext uri="{BB962C8B-B14F-4D97-AF65-F5344CB8AC3E}">
        <p14:creationId xmlns:p14="http://schemas.microsoft.com/office/powerpoint/2010/main" val="2947203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B989E-772B-3654-1EC3-6FD1BCD74043}"/>
              </a:ext>
            </a:extLst>
          </p:cNvPr>
          <p:cNvSpPr>
            <a:spLocks noGrp="1"/>
          </p:cNvSpPr>
          <p:nvPr>
            <p:ph type="title"/>
          </p:nvPr>
        </p:nvSpPr>
        <p:spPr/>
        <p:txBody>
          <a:bodyPr/>
          <a:lstStyle/>
          <a:p>
            <a:r>
              <a:rPr lang="en-US" b="1" i="0" dirty="0">
                <a:solidFill>
                  <a:srgbClr val="273239"/>
                </a:solidFill>
                <a:effectLst/>
                <a:latin typeface="Source Sans 3"/>
              </a:rPr>
              <a:t>Semaphores in Process Synchronization</a:t>
            </a:r>
            <a:endParaRPr lang="en-US" dirty="0"/>
          </a:p>
        </p:txBody>
      </p:sp>
      <p:sp>
        <p:nvSpPr>
          <p:cNvPr id="3" name="Content Placeholder 2">
            <a:extLst>
              <a:ext uri="{FF2B5EF4-FFF2-40B4-BE49-F238E27FC236}">
                <a16:creationId xmlns:a16="http://schemas.microsoft.com/office/drawing/2014/main" id="{F610583F-768E-1F16-622E-9C9F9470D371}"/>
              </a:ext>
            </a:extLst>
          </p:cNvPr>
          <p:cNvSpPr>
            <a:spLocks noGrp="1"/>
          </p:cNvSpPr>
          <p:nvPr>
            <p:ph idx="1"/>
          </p:nvPr>
        </p:nvSpPr>
        <p:spPr/>
        <p:txBody>
          <a:bodyPr/>
          <a:lstStyle/>
          <a:p>
            <a:r>
              <a:rPr lang="en-US" b="0" i="0" dirty="0">
                <a:solidFill>
                  <a:srgbClr val="273239"/>
                </a:solidFill>
                <a:effectLst/>
                <a:latin typeface="Nunito" pitchFamily="2" charset="0"/>
              </a:rPr>
              <a:t>Semaphores are a tool used in operating systems to help manage how different processes (or programs) share resources, like memory or data, without causing conflicts. A semaphore is a special kind of synchronization data that can be used only through specific synchronization primitives. Semaphores are used to implement critical sections, which are regions of code that must be executed by only one process at a time. By using semaphores, processes can coordinate access to shared resources, such as shared memory or I/O devices.</a:t>
            </a:r>
            <a:endParaRPr lang="en-US" dirty="0"/>
          </a:p>
        </p:txBody>
      </p:sp>
    </p:spTree>
    <p:extLst>
      <p:ext uri="{BB962C8B-B14F-4D97-AF65-F5344CB8AC3E}">
        <p14:creationId xmlns:p14="http://schemas.microsoft.com/office/powerpoint/2010/main" val="3855723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FA328-5071-C0F7-2111-7318614576FC}"/>
              </a:ext>
            </a:extLst>
          </p:cNvPr>
          <p:cNvSpPr>
            <a:spLocks noGrp="1"/>
          </p:cNvSpPr>
          <p:nvPr>
            <p:ph type="title"/>
          </p:nvPr>
        </p:nvSpPr>
        <p:spPr/>
        <p:txBody>
          <a:bodyPr/>
          <a:lstStyle/>
          <a:p>
            <a:r>
              <a:rPr lang="en-US" b="1" i="0" dirty="0">
                <a:solidFill>
                  <a:srgbClr val="273239"/>
                </a:solidFill>
                <a:effectLst/>
                <a:latin typeface="Nunito" pitchFamily="2" charset="0"/>
              </a:rPr>
              <a:t>What is Semaphores?</a:t>
            </a:r>
            <a:endParaRPr lang="en-US" dirty="0"/>
          </a:p>
        </p:txBody>
      </p:sp>
      <p:sp>
        <p:nvSpPr>
          <p:cNvPr id="3" name="Content Placeholder 2">
            <a:extLst>
              <a:ext uri="{FF2B5EF4-FFF2-40B4-BE49-F238E27FC236}">
                <a16:creationId xmlns:a16="http://schemas.microsoft.com/office/drawing/2014/main" id="{0FFE2CC5-612B-ED6E-16DD-8E4935895D1D}"/>
              </a:ext>
            </a:extLst>
          </p:cNvPr>
          <p:cNvSpPr>
            <a:spLocks noGrp="1"/>
          </p:cNvSpPr>
          <p:nvPr>
            <p:ph idx="1"/>
          </p:nvPr>
        </p:nvSpPr>
        <p:spPr>
          <a:xfrm>
            <a:off x="1097280" y="1857163"/>
            <a:ext cx="10058400" cy="4349327"/>
          </a:xfrm>
        </p:spPr>
        <p:txBody>
          <a:bodyPr>
            <a:normAutofit fontScale="70000" lnSpcReduction="20000"/>
          </a:bodyPr>
          <a:lstStyle/>
          <a:p>
            <a:pPr algn="just" rtl="0" fontAlgn="base">
              <a:spcBef>
                <a:spcPts val="0"/>
              </a:spcBef>
              <a:spcAft>
                <a:spcPts val="750"/>
              </a:spcAft>
            </a:pPr>
            <a:r>
              <a:rPr lang="en-US" b="0" i="0" dirty="0">
                <a:solidFill>
                  <a:srgbClr val="273239"/>
                </a:solidFill>
                <a:effectLst/>
                <a:latin typeface="Nunito" pitchFamily="2" charset="0"/>
              </a:rPr>
              <a:t>A semaphore is a synchronization tool used in concurrent programming to manage access to shared resources. It is a</a:t>
            </a:r>
            <a:r>
              <a:rPr lang="en-US" dirty="0">
                <a:solidFill>
                  <a:srgbClr val="273239"/>
                </a:solidFill>
                <a:latin typeface="Nunito" pitchFamily="2" charset="0"/>
              </a:rPr>
              <a:t> lock-based mechanism </a:t>
            </a:r>
            <a:r>
              <a:rPr lang="en-US" b="0" i="0" dirty="0">
                <a:solidFill>
                  <a:srgbClr val="273239"/>
                </a:solidFill>
                <a:effectLst/>
                <a:latin typeface="Nunito" pitchFamily="2" charset="0"/>
              </a:rPr>
              <a:t>designed to achieve process synchronization, built on top of basic locking techniques.</a:t>
            </a:r>
          </a:p>
          <a:p>
            <a:pPr algn="just" rtl="0" fontAlgn="base">
              <a:spcBef>
                <a:spcPts val="0"/>
              </a:spcBef>
              <a:spcAft>
                <a:spcPts val="750"/>
              </a:spcAft>
            </a:pPr>
            <a:r>
              <a:rPr lang="en-US" b="0" i="0" dirty="0">
                <a:solidFill>
                  <a:srgbClr val="273239"/>
                </a:solidFill>
                <a:effectLst/>
                <a:latin typeface="Nunito" pitchFamily="2" charset="0"/>
              </a:rPr>
              <a:t>Semaphores use a counter to control access, allowing synchronization for multiple instances of a resource. Processes can attempt to access one instance, and if it is not available, they can try other instances. Unlike basic locks, which allow only one process to access one instance of a resource. Semaphores can handle more complex synchronization scenarios, involving multiple processes or threads. It help prevent problems like </a:t>
            </a:r>
            <a:r>
              <a:rPr lang="en-US" b="1" dirty="0">
                <a:solidFill>
                  <a:srgbClr val="273239"/>
                </a:solidFill>
                <a:latin typeface="Nunito" pitchFamily="2" charset="0"/>
              </a:rPr>
              <a:t>race conditions</a:t>
            </a:r>
            <a:r>
              <a:rPr lang="en-US" b="0" i="0" dirty="0">
                <a:solidFill>
                  <a:srgbClr val="273239"/>
                </a:solidFill>
                <a:effectLst/>
                <a:latin typeface="Nunito" pitchFamily="2" charset="0"/>
              </a:rPr>
              <a:t> by controlling when and how processes access shared data.</a:t>
            </a:r>
          </a:p>
          <a:p>
            <a:pPr algn="just" rtl="0" fontAlgn="base">
              <a:spcBef>
                <a:spcPts val="0"/>
              </a:spcBef>
              <a:spcAft>
                <a:spcPts val="750"/>
              </a:spcAft>
            </a:pPr>
            <a:r>
              <a:rPr lang="en-US" b="0" i="0" dirty="0">
                <a:solidFill>
                  <a:srgbClr val="273239"/>
                </a:solidFill>
                <a:effectLst/>
                <a:latin typeface="Nunito" pitchFamily="2" charset="0"/>
              </a:rPr>
              <a:t>The process of using Semaphores provides two operations:</a:t>
            </a:r>
          </a:p>
          <a:p>
            <a:pPr algn="l" fontAlgn="base">
              <a:spcBef>
                <a:spcPts val="0"/>
              </a:spcBef>
              <a:spcAft>
                <a:spcPts val="1800"/>
              </a:spcAft>
              <a:buFont typeface="Arial" panose="020B0604020202020204" pitchFamily="34" charset="0"/>
              <a:buChar char="•"/>
            </a:pPr>
            <a:r>
              <a:rPr lang="en-US" b="1" i="0" dirty="0">
                <a:solidFill>
                  <a:srgbClr val="273239"/>
                </a:solidFill>
                <a:effectLst/>
                <a:latin typeface="Nunito" pitchFamily="2" charset="0"/>
              </a:rPr>
              <a:t>wait (P):</a:t>
            </a:r>
            <a:r>
              <a:rPr lang="en-US" b="0" i="0" dirty="0">
                <a:solidFill>
                  <a:srgbClr val="273239"/>
                </a:solidFill>
                <a:effectLst/>
                <a:latin typeface="Nunito" pitchFamily="2" charset="0"/>
              </a:rPr>
              <a:t> The wait operation decrements the value of the semaphore</a:t>
            </a:r>
          </a:p>
          <a:p>
            <a:pPr algn="l" fontAlgn="base">
              <a:lnSpc>
                <a:spcPct val="120000"/>
              </a:lnSpc>
              <a:spcBef>
                <a:spcPts val="0"/>
              </a:spcBef>
              <a:spcAft>
                <a:spcPts val="1800"/>
              </a:spcAft>
              <a:buFont typeface="Arial" panose="020B0604020202020204" pitchFamily="34" charset="0"/>
              <a:buChar char="•"/>
            </a:pPr>
            <a:r>
              <a:rPr lang="en-US" b="1" i="0" dirty="0">
                <a:solidFill>
                  <a:srgbClr val="273239"/>
                </a:solidFill>
                <a:effectLst/>
                <a:latin typeface="Nunito" pitchFamily="2" charset="0"/>
              </a:rPr>
              <a:t>signal (V):</a:t>
            </a:r>
            <a:r>
              <a:rPr lang="en-US" b="0" i="0" dirty="0">
                <a:solidFill>
                  <a:srgbClr val="273239"/>
                </a:solidFill>
                <a:effectLst/>
                <a:latin typeface="Nunito" pitchFamily="2" charset="0"/>
              </a:rPr>
              <a:t> The signal operation increments the value of the semaphore.</a:t>
            </a:r>
          </a:p>
          <a:p>
            <a:pPr algn="l" rtl="0" fontAlgn="base">
              <a:spcBef>
                <a:spcPts val="0"/>
              </a:spcBef>
              <a:spcAft>
                <a:spcPts val="750"/>
              </a:spcAft>
            </a:pPr>
            <a:r>
              <a:rPr lang="en-US" b="0" i="0" dirty="0">
                <a:solidFill>
                  <a:srgbClr val="273239"/>
                </a:solidFill>
                <a:effectLst/>
                <a:latin typeface="Nunito" pitchFamily="2" charset="0"/>
              </a:rPr>
              <a:t>When the value of the semaphore is zero, any process that performs a wait operation will be blocked until another process performs a signal operation.</a:t>
            </a:r>
          </a:p>
          <a:p>
            <a:pPr algn="just" rtl="0" fontAlgn="base">
              <a:spcBef>
                <a:spcPts val="0"/>
              </a:spcBef>
              <a:spcAft>
                <a:spcPts val="750"/>
              </a:spcAft>
            </a:pPr>
            <a:r>
              <a:rPr lang="en-US" b="0" i="0" dirty="0">
                <a:solidFill>
                  <a:srgbClr val="273239"/>
                </a:solidFill>
                <a:effectLst/>
                <a:latin typeface="Nunito" pitchFamily="2" charset="0"/>
              </a:rPr>
              <a:t>When a process performs a wait operation on a semaphore, the operation checks whether the value of the semaphore is &gt;0. If so, it decrements the value of the semaphore and lets the process continue its execution; otherwise, it blocks the process on the semaphore. A signal operation on a semaphore activates a process blocked on the semaphore if any, or increments the value of the semaphore by 1. Due to these semantics, semaphores are also called counting semaphores. The initial value of a semaphore determines how many processes can get past the wait operation.</a:t>
            </a:r>
          </a:p>
          <a:p>
            <a:pPr algn="l" rtl="0" fontAlgn="base">
              <a:spcBef>
                <a:spcPts val="0"/>
              </a:spcBef>
              <a:spcAft>
                <a:spcPts val="750"/>
              </a:spcAft>
            </a:pPr>
            <a:r>
              <a:rPr lang="en-US" b="0" i="0" dirty="0">
                <a:solidFill>
                  <a:srgbClr val="273239"/>
                </a:solidFill>
                <a:effectLst/>
                <a:latin typeface="Nunito" pitchFamily="2" charset="0"/>
              </a:rPr>
              <a:t>Semaphores are required for </a:t>
            </a:r>
            <a:r>
              <a:rPr lang="en-US" dirty="0">
                <a:solidFill>
                  <a:srgbClr val="273239"/>
                </a:solidFill>
                <a:latin typeface="Nunito" pitchFamily="2" charset="0"/>
              </a:rPr>
              <a:t>process</a:t>
            </a:r>
            <a:r>
              <a:rPr lang="en-US" b="1" dirty="0">
                <a:solidFill>
                  <a:srgbClr val="273239"/>
                </a:solidFill>
                <a:latin typeface="Nunito" pitchFamily="2" charset="0"/>
              </a:rPr>
              <a:t> </a:t>
            </a:r>
            <a:r>
              <a:rPr lang="en-US" dirty="0">
                <a:solidFill>
                  <a:srgbClr val="273239"/>
                </a:solidFill>
                <a:latin typeface="Nunito" pitchFamily="2" charset="0"/>
              </a:rPr>
              <a:t>synchronization </a:t>
            </a:r>
            <a:r>
              <a:rPr lang="en-US" b="0" i="0" dirty="0">
                <a:solidFill>
                  <a:srgbClr val="273239"/>
                </a:solidFill>
                <a:effectLst/>
                <a:latin typeface="Nunito" pitchFamily="2" charset="0"/>
              </a:rPr>
              <a:t>to make sure that multiple processes can safely share resources without interfering with each other. They help control when a process can access a shared resource, preventing issues like </a:t>
            </a:r>
            <a:r>
              <a:rPr lang="en-US" b="1" i="0" dirty="0">
                <a:solidFill>
                  <a:srgbClr val="273239"/>
                </a:solidFill>
                <a:effectLst/>
                <a:latin typeface="Nunito" pitchFamily="2" charset="0"/>
              </a:rPr>
              <a:t>race </a:t>
            </a:r>
            <a:r>
              <a:rPr lang="en-US" b="0" i="0" dirty="0">
                <a:solidFill>
                  <a:srgbClr val="273239"/>
                </a:solidFill>
                <a:effectLst/>
                <a:latin typeface="Nunito" pitchFamily="2" charset="0"/>
              </a:rPr>
              <a:t>conditions.</a:t>
            </a:r>
          </a:p>
        </p:txBody>
      </p:sp>
    </p:spTree>
    <p:extLst>
      <p:ext uri="{BB962C8B-B14F-4D97-AF65-F5344CB8AC3E}">
        <p14:creationId xmlns:p14="http://schemas.microsoft.com/office/powerpoint/2010/main" val="4284680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17698-B894-6691-DF5B-64BB5C8D4337}"/>
              </a:ext>
            </a:extLst>
          </p:cNvPr>
          <p:cNvSpPr>
            <a:spLocks noGrp="1"/>
          </p:cNvSpPr>
          <p:nvPr>
            <p:ph type="title"/>
          </p:nvPr>
        </p:nvSpPr>
        <p:spPr/>
        <p:txBody>
          <a:bodyPr/>
          <a:lstStyle/>
          <a:p>
            <a:r>
              <a:rPr lang="en-US" b="1" i="0" dirty="0">
                <a:solidFill>
                  <a:srgbClr val="273239"/>
                </a:solidFill>
                <a:effectLst/>
                <a:latin typeface="Nunito" pitchFamily="2" charset="0"/>
              </a:rPr>
              <a:t>Types of Semaphores</a:t>
            </a:r>
            <a:endParaRPr lang="en-US" dirty="0"/>
          </a:p>
        </p:txBody>
      </p:sp>
      <p:sp>
        <p:nvSpPr>
          <p:cNvPr id="3" name="Content Placeholder 2">
            <a:extLst>
              <a:ext uri="{FF2B5EF4-FFF2-40B4-BE49-F238E27FC236}">
                <a16:creationId xmlns:a16="http://schemas.microsoft.com/office/drawing/2014/main" id="{60657CF8-CB65-6B91-2D54-C5BA28D1E879}"/>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Semaphores are of two Types: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Binary Semaphore:</a:t>
            </a:r>
            <a:r>
              <a:rPr lang="en-US" b="0" i="0" dirty="0">
                <a:solidFill>
                  <a:srgbClr val="273239"/>
                </a:solidFill>
                <a:effectLst/>
                <a:latin typeface="Nunito" pitchFamily="2" charset="0"/>
              </a:rPr>
              <a:t> This is also known as a mutex lock, as they are locks that provide mutual exclusion. It can have only two values – 0 and 1. Its value is initialized to 1. It is used to implement the solution of critical section problems with multiple processes and a single resource.</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Counting Semaphore: </a:t>
            </a:r>
            <a:r>
              <a:rPr lang="en-US" b="0" i="0" dirty="0">
                <a:solidFill>
                  <a:srgbClr val="273239"/>
                </a:solidFill>
                <a:effectLst/>
                <a:latin typeface="Nunito" pitchFamily="2" charset="0"/>
              </a:rPr>
              <a:t>Counting semaphores can be used to control access to a given resource consisting of a finite number of instances. The semaphore is initialized to the number of resources available. Its value can range over an unrestricted domain.</a:t>
            </a:r>
          </a:p>
          <a:p>
            <a:endParaRPr lang="en-US" dirty="0"/>
          </a:p>
        </p:txBody>
      </p:sp>
    </p:spTree>
    <p:extLst>
      <p:ext uri="{BB962C8B-B14F-4D97-AF65-F5344CB8AC3E}">
        <p14:creationId xmlns:p14="http://schemas.microsoft.com/office/powerpoint/2010/main" val="1525127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E0227-801D-DF8A-E542-B3F3673AC768}"/>
              </a:ext>
            </a:extLst>
          </p:cNvPr>
          <p:cNvSpPr>
            <a:spLocks noGrp="1"/>
          </p:cNvSpPr>
          <p:nvPr>
            <p:ph type="title"/>
          </p:nvPr>
        </p:nvSpPr>
        <p:spPr/>
        <p:txBody>
          <a:bodyPr/>
          <a:lstStyle/>
          <a:p>
            <a:r>
              <a:rPr lang="en-US" b="1" i="0" dirty="0">
                <a:solidFill>
                  <a:srgbClr val="273239"/>
                </a:solidFill>
                <a:effectLst/>
                <a:latin typeface="Nunito" pitchFamily="2" charset="0"/>
              </a:rPr>
              <a:t>Working of Semaphore</a:t>
            </a:r>
            <a:endParaRPr lang="en-US" dirty="0"/>
          </a:p>
        </p:txBody>
      </p:sp>
      <p:sp>
        <p:nvSpPr>
          <p:cNvPr id="3" name="Content Placeholder 2">
            <a:extLst>
              <a:ext uri="{FF2B5EF4-FFF2-40B4-BE49-F238E27FC236}">
                <a16:creationId xmlns:a16="http://schemas.microsoft.com/office/drawing/2014/main" id="{16137E0D-7643-82E7-CD6F-728A099BDA93}"/>
              </a:ext>
            </a:extLst>
          </p:cNvPr>
          <p:cNvSpPr>
            <a:spLocks noGrp="1"/>
          </p:cNvSpPr>
          <p:nvPr>
            <p:ph idx="1"/>
          </p:nvPr>
        </p:nvSpPr>
        <p:spPr/>
        <p:txBody>
          <a:bodyPr>
            <a:normAutofit fontScale="92500" lnSpcReduction="10000"/>
          </a:bodyPr>
          <a:lstStyle/>
          <a:p>
            <a:pPr algn="l" rtl="0" fontAlgn="base">
              <a:spcAft>
                <a:spcPts val="750"/>
              </a:spcAft>
            </a:pPr>
            <a:r>
              <a:rPr lang="en-US" b="0" i="0" dirty="0">
                <a:solidFill>
                  <a:srgbClr val="273239"/>
                </a:solidFill>
                <a:effectLst/>
                <a:latin typeface="Nunito" pitchFamily="2" charset="0"/>
              </a:rPr>
              <a:t>A semaphore is a simple yet powerful synchronization tool used to manage access to shared resources in a system with multiple processes. It works by maintaining a counter that controls access to a specific resource, ensuring that no more than the allowed number of processes access the resource at the same time.</a:t>
            </a:r>
          </a:p>
          <a:p>
            <a:pPr algn="l" rtl="0" fontAlgn="base">
              <a:spcAft>
                <a:spcPts val="750"/>
              </a:spcAft>
            </a:pPr>
            <a:r>
              <a:rPr lang="en-US" b="0" i="0" dirty="0">
                <a:solidFill>
                  <a:srgbClr val="273239"/>
                </a:solidFill>
                <a:effectLst/>
                <a:latin typeface="Nunito" pitchFamily="2" charset="0"/>
              </a:rPr>
              <a:t>There are two primary operations that a semaphore can perform:</a:t>
            </a:r>
          </a:p>
          <a:p>
            <a:pPr algn="l" fontAlgn="base">
              <a:spcAft>
                <a:spcPts val="1800"/>
              </a:spcAft>
              <a:buFont typeface="+mj-lt"/>
              <a:buAutoNum type="arabicPeriod"/>
            </a:pPr>
            <a:r>
              <a:rPr lang="en-US" b="1" i="0" dirty="0">
                <a:solidFill>
                  <a:srgbClr val="273239"/>
                </a:solidFill>
                <a:effectLst/>
                <a:latin typeface="Nunito" pitchFamily="2" charset="0"/>
              </a:rPr>
              <a:t>Wait (P operation)</a:t>
            </a:r>
            <a:r>
              <a:rPr lang="en-US" b="0" i="0" dirty="0">
                <a:solidFill>
                  <a:srgbClr val="273239"/>
                </a:solidFill>
                <a:effectLst/>
                <a:latin typeface="Nunito" pitchFamily="2" charset="0"/>
              </a:rPr>
              <a:t>: This operation checks the semaphore’s value. If the value is greater than 0, the process is allowed to continue, and the semaphore’s value is decremented by 1. If the value is 0, the process is blocked (waits) until the semaphore value becomes greater than 0.</a:t>
            </a:r>
          </a:p>
          <a:p>
            <a:pPr algn="l" fontAlgn="base">
              <a:spcAft>
                <a:spcPts val="1800"/>
              </a:spcAft>
              <a:buFont typeface="+mj-lt"/>
              <a:buAutoNum type="arabicPeriod" startAt="2"/>
            </a:pPr>
            <a:r>
              <a:rPr lang="en-US" b="1" i="0" dirty="0">
                <a:solidFill>
                  <a:srgbClr val="273239"/>
                </a:solidFill>
                <a:effectLst/>
                <a:latin typeface="Nunito" pitchFamily="2" charset="0"/>
              </a:rPr>
              <a:t>Signal (V operation)</a:t>
            </a:r>
            <a:r>
              <a:rPr lang="en-US" b="0" i="0" dirty="0">
                <a:solidFill>
                  <a:srgbClr val="273239"/>
                </a:solidFill>
                <a:effectLst/>
                <a:latin typeface="Nunito" pitchFamily="2" charset="0"/>
              </a:rPr>
              <a:t>: After a process is done using the shared resource, it performs the signal operation. This increments the semaphore’s value by 1, potentially unblocking other waiting processes and allowing them to access the resource.</a:t>
            </a:r>
          </a:p>
          <a:p>
            <a:endParaRPr lang="en-US" dirty="0"/>
          </a:p>
        </p:txBody>
      </p:sp>
    </p:spTree>
    <p:extLst>
      <p:ext uri="{BB962C8B-B14F-4D97-AF65-F5344CB8AC3E}">
        <p14:creationId xmlns:p14="http://schemas.microsoft.com/office/powerpoint/2010/main" val="631229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E396F-36D4-2161-C786-A019C0B5CFF4}"/>
              </a:ext>
            </a:extLst>
          </p:cNvPr>
          <p:cNvSpPr>
            <a:spLocks noGrp="1"/>
          </p:cNvSpPr>
          <p:nvPr>
            <p:ph type="title"/>
          </p:nvPr>
        </p:nvSpPr>
        <p:spPr/>
        <p:txBody>
          <a:bodyPr/>
          <a:lstStyle/>
          <a:p>
            <a:r>
              <a:rPr lang="en-US" b="1" i="0" dirty="0">
                <a:solidFill>
                  <a:srgbClr val="273239"/>
                </a:solidFill>
                <a:effectLst/>
                <a:latin typeface="Nunito" pitchFamily="2" charset="0"/>
              </a:rPr>
              <a:t>Working of Semaphore</a:t>
            </a:r>
            <a:endParaRPr lang="en-US" dirty="0"/>
          </a:p>
        </p:txBody>
      </p:sp>
      <p:pic>
        <p:nvPicPr>
          <p:cNvPr id="6" name="Content Placeholder 5">
            <a:extLst>
              <a:ext uri="{FF2B5EF4-FFF2-40B4-BE49-F238E27FC236}">
                <a16:creationId xmlns:a16="http://schemas.microsoft.com/office/drawing/2014/main" id="{A134415D-A5E8-4C19-03CA-C8B39522800E}"/>
              </a:ext>
            </a:extLst>
          </p:cNvPr>
          <p:cNvPicPr>
            <a:picLocks noGrp="1" noChangeAspect="1"/>
          </p:cNvPicPr>
          <p:nvPr>
            <p:ph idx="1"/>
          </p:nvPr>
        </p:nvPicPr>
        <p:blipFill>
          <a:blip r:embed="rId2"/>
          <a:stretch>
            <a:fillRect/>
          </a:stretch>
        </p:blipFill>
        <p:spPr>
          <a:xfrm>
            <a:off x="2316163" y="1952625"/>
            <a:ext cx="7620000" cy="3810000"/>
          </a:xfrm>
          <a:prstGeom prst="rect">
            <a:avLst/>
          </a:prstGeom>
        </p:spPr>
      </p:pic>
    </p:spTree>
    <p:extLst>
      <p:ext uri="{BB962C8B-B14F-4D97-AF65-F5344CB8AC3E}">
        <p14:creationId xmlns:p14="http://schemas.microsoft.com/office/powerpoint/2010/main" val="2861886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B4E32-2E87-DA52-71C7-144FB894CD03}"/>
              </a:ext>
            </a:extLst>
          </p:cNvPr>
          <p:cNvSpPr>
            <a:spLocks noGrp="1"/>
          </p:cNvSpPr>
          <p:nvPr>
            <p:ph type="title"/>
          </p:nvPr>
        </p:nvSpPr>
        <p:spPr/>
        <p:txBody>
          <a:bodyPr/>
          <a:lstStyle/>
          <a:p>
            <a:r>
              <a:rPr lang="en-US" b="1" i="0" dirty="0">
                <a:solidFill>
                  <a:srgbClr val="273239"/>
                </a:solidFill>
                <a:effectLst/>
                <a:latin typeface="Nunito" pitchFamily="2" charset="0"/>
              </a:rPr>
              <a:t>Working of Semaphore</a:t>
            </a:r>
            <a:endParaRPr lang="en-US" dirty="0"/>
          </a:p>
        </p:txBody>
      </p:sp>
      <p:sp>
        <p:nvSpPr>
          <p:cNvPr id="3" name="Content Placeholder 2">
            <a:extLst>
              <a:ext uri="{FF2B5EF4-FFF2-40B4-BE49-F238E27FC236}">
                <a16:creationId xmlns:a16="http://schemas.microsoft.com/office/drawing/2014/main" id="{DEAD43CB-F552-9D4D-2CA9-7C25DC0094C4}"/>
              </a:ext>
            </a:extLst>
          </p:cNvPr>
          <p:cNvSpPr>
            <a:spLocks noGrp="1"/>
          </p:cNvSpPr>
          <p:nvPr>
            <p:ph idx="1"/>
          </p:nvPr>
        </p:nvSpPr>
        <p:spPr/>
        <p:txBody>
          <a:bodyPr/>
          <a:lstStyle/>
          <a:p>
            <a:r>
              <a:rPr lang="en-US" b="0" i="0" dirty="0">
                <a:solidFill>
                  <a:srgbClr val="273239"/>
                </a:solidFill>
                <a:effectLst/>
                <a:latin typeface="Nunito" pitchFamily="2" charset="0"/>
              </a:rPr>
              <a:t>A</a:t>
            </a:r>
            <a:r>
              <a:rPr lang="en-US" dirty="0">
                <a:latin typeface="Nunito" pitchFamily="2" charset="0"/>
              </a:rPr>
              <a:t> critical section </a:t>
            </a:r>
            <a:r>
              <a:rPr lang="en-US" b="0" i="0" dirty="0">
                <a:solidFill>
                  <a:srgbClr val="273239"/>
                </a:solidFill>
                <a:effectLst/>
                <a:latin typeface="Nunito" pitchFamily="2" charset="0"/>
              </a:rPr>
              <a:t>is surrounded by both operations to implement process synchronization. The below image demonstrates the basic mechanism of how semaphores are used to control access to a critical section in a multi-process environment, ensuring that only one process can access the shared resource at a time</a:t>
            </a:r>
            <a:endParaRPr lang="en-US" dirty="0"/>
          </a:p>
        </p:txBody>
      </p:sp>
      <p:pic>
        <p:nvPicPr>
          <p:cNvPr id="2050" name="Picture 2" descr="Lightbox">
            <a:extLst>
              <a:ext uri="{FF2B5EF4-FFF2-40B4-BE49-F238E27FC236}">
                <a16:creationId xmlns:a16="http://schemas.microsoft.com/office/drawing/2014/main" id="{F4A1DC24-9D16-C10D-59EA-3E37753E60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5255" y="3259455"/>
            <a:ext cx="2724150" cy="2305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864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B0E0F-EE73-33F1-5911-220A7BB9377E}"/>
              </a:ext>
            </a:extLst>
          </p:cNvPr>
          <p:cNvSpPr>
            <a:spLocks noGrp="1"/>
          </p:cNvSpPr>
          <p:nvPr>
            <p:ph type="title"/>
          </p:nvPr>
        </p:nvSpPr>
        <p:spPr/>
        <p:txBody>
          <a:bodyPr/>
          <a:lstStyle/>
          <a:p>
            <a:r>
              <a:rPr lang="en-US" b="1" i="0" dirty="0">
                <a:solidFill>
                  <a:srgbClr val="273239"/>
                </a:solidFill>
                <a:effectLst/>
                <a:latin typeface="Nunito" pitchFamily="2" charset="0"/>
              </a:rPr>
              <a:t>Working of Semaphore</a:t>
            </a:r>
            <a:endParaRPr lang="en-US" dirty="0"/>
          </a:p>
        </p:txBody>
      </p:sp>
      <p:sp>
        <p:nvSpPr>
          <p:cNvPr id="3" name="Content Placeholder 2">
            <a:extLst>
              <a:ext uri="{FF2B5EF4-FFF2-40B4-BE49-F238E27FC236}">
                <a16:creationId xmlns:a16="http://schemas.microsoft.com/office/drawing/2014/main" id="{70DD6DFB-BA94-C8EC-5366-C63C17D5ECD9}"/>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Now, let us see how it implements mutual exclusion. Let there be two processes P1 and P2 and a semaphore s is initialized as 1. Now if suppose P1 enters in its critical section then the value of semaphore s becomes 0. Now if P2 wants to enter its critical section then it will wait until s &gt; 0, this can only happen when P1 finishes its critical section and calls V operation on semaphore s.</a:t>
            </a:r>
          </a:p>
          <a:p>
            <a:pPr algn="just" rtl="0" fontAlgn="base">
              <a:spcAft>
                <a:spcPts val="750"/>
              </a:spcAft>
            </a:pPr>
            <a:r>
              <a:rPr lang="en-US" b="0" i="0" dirty="0">
                <a:solidFill>
                  <a:srgbClr val="273239"/>
                </a:solidFill>
                <a:effectLst/>
                <a:latin typeface="Nunito" pitchFamily="2" charset="0"/>
              </a:rPr>
              <a:t>This way mutual exclusion is achieved. Look at the below image for details which is a Binary semaphore.</a:t>
            </a:r>
          </a:p>
          <a:p>
            <a:endParaRPr lang="en-US" dirty="0"/>
          </a:p>
        </p:txBody>
      </p:sp>
    </p:spTree>
    <p:extLst>
      <p:ext uri="{BB962C8B-B14F-4D97-AF65-F5344CB8AC3E}">
        <p14:creationId xmlns:p14="http://schemas.microsoft.com/office/powerpoint/2010/main" val="1773604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A35E4-8DBC-8067-F862-914ECF347684}"/>
              </a:ext>
            </a:extLst>
          </p:cNvPr>
          <p:cNvSpPr>
            <a:spLocks noGrp="1"/>
          </p:cNvSpPr>
          <p:nvPr>
            <p:ph type="title"/>
          </p:nvPr>
        </p:nvSpPr>
        <p:spPr/>
        <p:txBody>
          <a:bodyPr/>
          <a:lstStyle/>
          <a:p>
            <a:r>
              <a:rPr lang="en-US" b="1" i="0" dirty="0">
                <a:solidFill>
                  <a:srgbClr val="273239"/>
                </a:solidFill>
                <a:effectLst/>
                <a:latin typeface="Nunito" pitchFamily="2" charset="0"/>
              </a:rPr>
              <a:t>Working of Semaphore</a:t>
            </a:r>
            <a:endParaRPr lang="en-US" dirty="0"/>
          </a:p>
        </p:txBody>
      </p:sp>
      <p:pic>
        <p:nvPicPr>
          <p:cNvPr id="3074" name="Picture 2" descr="Lightbox">
            <a:extLst>
              <a:ext uri="{FF2B5EF4-FFF2-40B4-BE49-F238E27FC236}">
                <a16:creationId xmlns:a16="http://schemas.microsoft.com/office/drawing/2014/main" id="{1FFF3415-F574-3F54-10CB-DFF4A43614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92663" y="2181225"/>
            <a:ext cx="2667000"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429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62BD4-6003-F60F-7355-D9FB5DDC930E}"/>
              </a:ext>
            </a:extLst>
          </p:cNvPr>
          <p:cNvSpPr>
            <a:spLocks noGrp="1"/>
          </p:cNvSpPr>
          <p:nvPr>
            <p:ph type="title"/>
          </p:nvPr>
        </p:nvSpPr>
        <p:spPr/>
        <p:txBody>
          <a:bodyPr/>
          <a:lstStyle/>
          <a:p>
            <a:r>
              <a:rPr lang="en-US" b="1" i="0" dirty="0">
                <a:solidFill>
                  <a:srgbClr val="273239"/>
                </a:solidFill>
                <a:effectLst/>
                <a:latin typeface="Nunito" pitchFamily="2" charset="0"/>
              </a:rPr>
              <a:t>Working of Binary Semaphore</a:t>
            </a:r>
            <a:endParaRPr lang="en-US" dirty="0"/>
          </a:p>
        </p:txBody>
      </p:sp>
      <p:sp>
        <p:nvSpPr>
          <p:cNvPr id="3" name="Content Placeholder 2">
            <a:extLst>
              <a:ext uri="{FF2B5EF4-FFF2-40B4-BE49-F238E27FC236}">
                <a16:creationId xmlns:a16="http://schemas.microsoft.com/office/drawing/2014/main" id="{707FEE6B-D899-D4A5-0CCC-D9EEDA1E74F3}"/>
              </a:ext>
            </a:extLst>
          </p:cNvPr>
          <p:cNvSpPr>
            <a:spLocks noGrp="1"/>
          </p:cNvSpPr>
          <p:nvPr>
            <p:ph idx="1"/>
          </p:nvPr>
        </p:nvSpPr>
        <p:spPr/>
        <p:txBody>
          <a:bodyPr>
            <a:normAutofit fontScale="55000" lnSpcReduction="20000"/>
          </a:bodyPr>
          <a:lstStyle/>
          <a:p>
            <a:pPr>
              <a:spcBef>
                <a:spcPts val="0"/>
              </a:spcBef>
            </a:pPr>
            <a:r>
              <a:rPr lang="en-US" dirty="0"/>
              <a:t>P(semaphore s)</a:t>
            </a:r>
          </a:p>
          <a:p>
            <a:pPr>
              <a:spcBef>
                <a:spcPts val="0"/>
              </a:spcBef>
            </a:pPr>
            <a:r>
              <a:rPr lang="en-US" dirty="0"/>
              <a:t>{</a:t>
            </a:r>
          </a:p>
          <a:p>
            <a:pPr>
              <a:spcBef>
                <a:spcPts val="0"/>
              </a:spcBef>
            </a:pPr>
            <a:r>
              <a:rPr lang="en-US" dirty="0"/>
              <a:t>    if (</a:t>
            </a:r>
            <a:r>
              <a:rPr lang="en-US" dirty="0" err="1"/>
              <a:t>s.value</a:t>
            </a:r>
            <a:r>
              <a:rPr lang="en-US" dirty="0"/>
              <a:t> == 1) {</a:t>
            </a:r>
          </a:p>
          <a:p>
            <a:pPr>
              <a:spcBef>
                <a:spcPts val="0"/>
              </a:spcBef>
            </a:pPr>
            <a:r>
              <a:rPr lang="en-US" dirty="0"/>
              <a:t>        </a:t>
            </a:r>
            <a:r>
              <a:rPr lang="en-US" dirty="0" err="1"/>
              <a:t>s.value</a:t>
            </a:r>
            <a:r>
              <a:rPr lang="en-US" dirty="0"/>
              <a:t> = 0;</a:t>
            </a:r>
          </a:p>
          <a:p>
            <a:pPr>
              <a:spcBef>
                <a:spcPts val="0"/>
              </a:spcBef>
            </a:pPr>
            <a:r>
              <a:rPr lang="en-US" dirty="0"/>
              <a:t>    }</a:t>
            </a:r>
          </a:p>
          <a:p>
            <a:pPr>
              <a:spcBef>
                <a:spcPts val="0"/>
              </a:spcBef>
            </a:pPr>
            <a:r>
              <a:rPr lang="en-US" dirty="0"/>
              <a:t>    else {</a:t>
            </a:r>
          </a:p>
          <a:p>
            <a:pPr>
              <a:spcBef>
                <a:spcPts val="0"/>
              </a:spcBef>
            </a:pPr>
            <a:r>
              <a:rPr lang="en-US" dirty="0"/>
              <a:t>        // add the process to the waiting queue</a:t>
            </a:r>
          </a:p>
          <a:p>
            <a:pPr>
              <a:spcBef>
                <a:spcPts val="0"/>
              </a:spcBef>
            </a:pPr>
            <a:r>
              <a:rPr lang="en-US" dirty="0"/>
              <a:t>        </a:t>
            </a:r>
            <a:r>
              <a:rPr lang="en-US" dirty="0" err="1"/>
              <a:t>q.push</a:t>
            </a:r>
            <a:r>
              <a:rPr lang="en-US" dirty="0"/>
              <a:t>(P) sleep();</a:t>
            </a:r>
          </a:p>
          <a:p>
            <a:pPr>
              <a:spcBef>
                <a:spcPts val="0"/>
              </a:spcBef>
            </a:pPr>
            <a:r>
              <a:rPr lang="en-US" dirty="0"/>
              <a:t>    }</a:t>
            </a:r>
          </a:p>
          <a:p>
            <a:pPr>
              <a:spcBef>
                <a:spcPts val="0"/>
              </a:spcBef>
            </a:pPr>
            <a:r>
              <a:rPr lang="en-US" dirty="0"/>
              <a:t>}</a:t>
            </a:r>
          </a:p>
          <a:p>
            <a:pPr>
              <a:spcBef>
                <a:spcPts val="0"/>
              </a:spcBef>
            </a:pPr>
            <a:r>
              <a:rPr lang="en-US" dirty="0"/>
              <a:t>V(semaphore s)</a:t>
            </a:r>
          </a:p>
          <a:p>
            <a:pPr>
              <a:spcBef>
                <a:spcPts val="0"/>
              </a:spcBef>
            </a:pPr>
            <a:r>
              <a:rPr lang="en-US" dirty="0"/>
              <a:t>{</a:t>
            </a:r>
          </a:p>
          <a:p>
            <a:pPr>
              <a:spcBef>
                <a:spcPts val="0"/>
              </a:spcBef>
            </a:pPr>
            <a:r>
              <a:rPr lang="en-US" dirty="0"/>
              <a:t>    if (</a:t>
            </a:r>
            <a:r>
              <a:rPr lang="en-US" dirty="0" err="1"/>
              <a:t>s.q</a:t>
            </a:r>
            <a:r>
              <a:rPr lang="en-US" dirty="0"/>
              <a:t> is empty) {</a:t>
            </a:r>
          </a:p>
          <a:p>
            <a:pPr>
              <a:spcBef>
                <a:spcPts val="0"/>
              </a:spcBef>
            </a:pPr>
            <a:r>
              <a:rPr lang="en-US" dirty="0"/>
              <a:t>        </a:t>
            </a:r>
            <a:r>
              <a:rPr lang="en-US" dirty="0" err="1"/>
              <a:t>s.value</a:t>
            </a:r>
            <a:r>
              <a:rPr lang="en-US" dirty="0"/>
              <a:t> = 1;</a:t>
            </a:r>
          </a:p>
          <a:p>
            <a:pPr>
              <a:spcBef>
                <a:spcPts val="0"/>
              </a:spcBef>
            </a:pPr>
            <a:r>
              <a:rPr lang="en-US" dirty="0"/>
              <a:t>    }</a:t>
            </a:r>
          </a:p>
          <a:p>
            <a:pPr>
              <a:spcBef>
                <a:spcPts val="0"/>
              </a:spcBef>
            </a:pPr>
            <a:r>
              <a:rPr lang="en-US" dirty="0"/>
              <a:t>    else {</a:t>
            </a:r>
          </a:p>
          <a:p>
            <a:pPr>
              <a:spcBef>
                <a:spcPts val="0"/>
              </a:spcBef>
            </a:pPr>
            <a:endParaRPr lang="en-US" dirty="0"/>
          </a:p>
          <a:p>
            <a:pPr>
              <a:spcBef>
                <a:spcPts val="0"/>
              </a:spcBef>
            </a:pPr>
            <a:r>
              <a:rPr lang="en-US" dirty="0"/>
              <a:t>        // select a process from waiting queue</a:t>
            </a:r>
          </a:p>
          <a:p>
            <a:pPr>
              <a:spcBef>
                <a:spcPts val="0"/>
              </a:spcBef>
            </a:pPr>
            <a:r>
              <a:rPr lang="en-US" dirty="0"/>
              <a:t>        Process p = </a:t>
            </a:r>
            <a:r>
              <a:rPr lang="en-US" dirty="0" err="1"/>
              <a:t>q.front</a:t>
            </a:r>
            <a:r>
              <a:rPr lang="en-US" dirty="0"/>
              <a:t>();</a:t>
            </a:r>
          </a:p>
          <a:p>
            <a:pPr>
              <a:spcBef>
                <a:spcPts val="0"/>
              </a:spcBef>
            </a:pPr>
            <a:r>
              <a:rPr lang="en-US" dirty="0"/>
              <a:t>        // remove the process from waiting as it has been</a:t>
            </a:r>
          </a:p>
          <a:p>
            <a:pPr>
              <a:spcBef>
                <a:spcPts val="0"/>
              </a:spcBef>
            </a:pPr>
            <a:r>
              <a:rPr lang="en-US" dirty="0"/>
              <a:t>        // sent for CS</a:t>
            </a:r>
          </a:p>
          <a:p>
            <a:pPr>
              <a:spcBef>
                <a:spcPts val="0"/>
              </a:spcBef>
            </a:pPr>
            <a:r>
              <a:rPr lang="en-US" dirty="0"/>
              <a:t>        </a:t>
            </a:r>
            <a:r>
              <a:rPr lang="en-US" dirty="0" err="1"/>
              <a:t>q.pop</a:t>
            </a:r>
            <a:r>
              <a:rPr lang="en-US" dirty="0"/>
              <a:t>();</a:t>
            </a:r>
          </a:p>
          <a:p>
            <a:pPr>
              <a:spcBef>
                <a:spcPts val="0"/>
              </a:spcBef>
            </a:pPr>
            <a:r>
              <a:rPr lang="en-US" dirty="0"/>
              <a:t>        wakeup(p);</a:t>
            </a:r>
          </a:p>
          <a:p>
            <a:pPr>
              <a:spcBef>
                <a:spcPts val="0"/>
              </a:spcBef>
            </a:pPr>
            <a:r>
              <a:rPr lang="en-US" dirty="0"/>
              <a:t>    }</a:t>
            </a:r>
          </a:p>
          <a:p>
            <a:pPr>
              <a:spcBef>
                <a:spcPts val="0"/>
              </a:spcBef>
            </a:pPr>
            <a:r>
              <a:rPr lang="en-US" dirty="0"/>
              <a:t>}</a:t>
            </a:r>
          </a:p>
        </p:txBody>
      </p:sp>
    </p:spTree>
    <p:extLst>
      <p:ext uri="{BB962C8B-B14F-4D97-AF65-F5344CB8AC3E}">
        <p14:creationId xmlns:p14="http://schemas.microsoft.com/office/powerpoint/2010/main" val="677547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98C8E-87B7-B594-82BE-D6CDA4476060}"/>
              </a:ext>
            </a:extLst>
          </p:cNvPr>
          <p:cNvSpPr>
            <a:spLocks noGrp="1"/>
          </p:cNvSpPr>
          <p:nvPr>
            <p:ph type="title"/>
          </p:nvPr>
        </p:nvSpPr>
        <p:spPr/>
        <p:txBody>
          <a:bodyPr/>
          <a:lstStyle/>
          <a:p>
            <a:r>
              <a:rPr lang="en-US" b="1" i="0" dirty="0">
                <a:solidFill>
                  <a:srgbClr val="273239"/>
                </a:solidFill>
                <a:effectLst/>
                <a:latin typeface="Nunito" pitchFamily="2" charset="0"/>
              </a:rPr>
              <a:t>Working of Binary Semaphore</a:t>
            </a:r>
            <a:endParaRPr lang="en-US" dirty="0"/>
          </a:p>
        </p:txBody>
      </p:sp>
      <p:sp>
        <p:nvSpPr>
          <p:cNvPr id="3" name="Content Placeholder 2">
            <a:extLst>
              <a:ext uri="{FF2B5EF4-FFF2-40B4-BE49-F238E27FC236}">
                <a16:creationId xmlns:a16="http://schemas.microsoft.com/office/drawing/2014/main" id="{4329554F-1257-32F9-B9D3-95926620E3B0}"/>
              </a:ext>
            </a:extLst>
          </p:cNvPr>
          <p:cNvSpPr>
            <a:spLocks noGrp="1"/>
          </p:cNvSpPr>
          <p:nvPr>
            <p:ph idx="1"/>
          </p:nvPr>
        </p:nvSpPr>
        <p:spPr/>
        <p:txBody>
          <a:bodyPr/>
          <a:lstStyle/>
          <a:p>
            <a:pPr algn="just" rtl="0" fontAlgn="base">
              <a:spcAft>
                <a:spcPts val="750"/>
              </a:spcAft>
            </a:pPr>
            <a:r>
              <a:rPr lang="en-US" b="0" i="0" dirty="0">
                <a:solidFill>
                  <a:srgbClr val="273239"/>
                </a:solidFill>
                <a:effectLst/>
                <a:latin typeface="Nunito" pitchFamily="2" charset="0"/>
              </a:rPr>
              <a:t>The description above is for binary semaphore which can take only two values 0 and 1 and ensure mutual exclusion. There is one other type of semaphore called counting semaphore which can take values greater than one.</a:t>
            </a:r>
          </a:p>
          <a:p>
            <a:pPr algn="just" rtl="0" fontAlgn="base">
              <a:spcAft>
                <a:spcPts val="750"/>
              </a:spcAft>
            </a:pPr>
            <a:r>
              <a:rPr lang="en-US" b="0" i="0" dirty="0">
                <a:solidFill>
                  <a:srgbClr val="273239"/>
                </a:solidFill>
                <a:effectLst/>
                <a:latin typeface="Nunito" pitchFamily="2" charset="0"/>
              </a:rPr>
              <a:t>Now suppose there is a resource whose number of instances is 4. Now we initialize S = 4 and the rest is the same as for binary semaphore. Whenever the process wants that resource, it calls P or waits for function and when it is done it calls V or signal function. If the value of S becomes zero then a process has to wait until S becomes positive. For example, Suppose there are 4 processes P1, P2, P3, and P4, and they all call wait operation on S(initialized with 4). If another process P5 wants the resource then it should wait until one of the four processes calls the signal function and the value of semaphore becomes positive.</a:t>
            </a:r>
          </a:p>
          <a:p>
            <a:endParaRPr lang="en-US" dirty="0"/>
          </a:p>
        </p:txBody>
      </p:sp>
    </p:spTree>
    <p:extLst>
      <p:ext uri="{BB962C8B-B14F-4D97-AF65-F5344CB8AC3E}">
        <p14:creationId xmlns:p14="http://schemas.microsoft.com/office/powerpoint/2010/main" val="3970639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2CB65-C7F0-B374-88FD-72614A1B23E5}"/>
              </a:ext>
            </a:extLst>
          </p:cNvPr>
          <p:cNvSpPr>
            <a:spLocks noGrp="1"/>
          </p:cNvSpPr>
          <p:nvPr>
            <p:ph type="title"/>
          </p:nvPr>
        </p:nvSpPr>
        <p:spPr/>
        <p:txBody>
          <a:bodyPr/>
          <a:lstStyle/>
          <a:p>
            <a:r>
              <a:rPr lang="en-US" b="1" i="0" dirty="0">
                <a:solidFill>
                  <a:srgbClr val="273239"/>
                </a:solidFill>
                <a:effectLst/>
                <a:latin typeface="Nunito" pitchFamily="2" charset="0"/>
              </a:rPr>
              <a:t>Limitations</a:t>
            </a:r>
            <a:endParaRPr lang="en-US" dirty="0"/>
          </a:p>
        </p:txBody>
      </p:sp>
      <p:sp>
        <p:nvSpPr>
          <p:cNvPr id="3" name="Content Placeholder 2">
            <a:extLst>
              <a:ext uri="{FF2B5EF4-FFF2-40B4-BE49-F238E27FC236}">
                <a16:creationId xmlns:a16="http://schemas.microsoft.com/office/drawing/2014/main" id="{02ED86DF-0C7A-F5D3-7B9A-F876CF2D5F5F}"/>
              </a:ext>
            </a:extLst>
          </p:cNvPr>
          <p:cNvSpPr>
            <a:spLocks noGrp="1"/>
          </p:cNvSpPr>
          <p:nvPr>
            <p:ph idx="1"/>
          </p:nvPr>
        </p:nvSpPr>
        <p:spPr/>
        <p:txBody>
          <a:bodyPr>
            <a:normAutofit fontScale="92500" lnSpcReduction="20000"/>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One of the biggest limitations of semaphore is </a:t>
            </a:r>
            <a:r>
              <a:rPr lang="en-US" dirty="0">
                <a:solidFill>
                  <a:srgbClr val="273239"/>
                </a:solidFill>
                <a:latin typeface="Nunito" pitchFamily="2" charset="0"/>
              </a:rPr>
              <a:t>priority inversions</a:t>
            </a:r>
            <a:r>
              <a:rPr lang="en-US" b="0" i="0" dirty="0">
                <a:solidFill>
                  <a:srgbClr val="273239"/>
                </a:solidFill>
                <a:effectLst/>
                <a:latin typeface="Nunito" pitchFamily="2" charset="0"/>
              </a:rPr>
              <a:t>.</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Deadlock, suppose a process is trying to wake up another process that is not in a sleep state. Therefore, a deadlock may be blocked indefinitely.</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operating system has to keep track of all calls to wait and signal the semaphore.</a:t>
            </a:r>
          </a:p>
          <a:p>
            <a:pPr algn="just" rtl="0" fontAlgn="base">
              <a:spcAft>
                <a:spcPts val="750"/>
              </a:spcAft>
            </a:pPr>
            <a:r>
              <a:rPr lang="en-US" b="0" i="0" dirty="0">
                <a:solidFill>
                  <a:srgbClr val="273239"/>
                </a:solidFill>
                <a:effectLst/>
                <a:latin typeface="Nunito" pitchFamily="2" charset="0"/>
              </a:rPr>
              <a:t>The main problem with semaphores is that they require busy waiting, If a process is in the critical section, then other processes trying to enter the critical section will be waiting until the critical section is not occupied by any process. Whenever any process waits then it continuously checks for semaphore value (look at this line while (s==0); in P operation) and wastes CPU cycle.</a:t>
            </a:r>
          </a:p>
          <a:p>
            <a:pPr algn="just" rtl="0" fontAlgn="base">
              <a:spcAft>
                <a:spcPts val="750"/>
              </a:spcAft>
            </a:pPr>
            <a:r>
              <a:rPr lang="en-US" b="0" i="0" dirty="0">
                <a:solidFill>
                  <a:srgbClr val="273239"/>
                </a:solidFill>
                <a:effectLst/>
                <a:latin typeface="Nunito" pitchFamily="2" charset="0"/>
              </a:rPr>
              <a:t>There is also a chance of “spinlock” as the processes keep on spinning while waiting for the lock. To avoid this another implementation is provided below.</a:t>
            </a:r>
          </a:p>
          <a:p>
            <a:endParaRPr lang="en-US" dirty="0"/>
          </a:p>
        </p:txBody>
      </p:sp>
    </p:spTree>
    <p:extLst>
      <p:ext uri="{BB962C8B-B14F-4D97-AF65-F5344CB8AC3E}">
        <p14:creationId xmlns:p14="http://schemas.microsoft.com/office/powerpoint/2010/main" val="1930863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B9697-67EA-FCF4-E518-6B9142398ECE}"/>
              </a:ext>
            </a:extLst>
          </p:cNvPr>
          <p:cNvSpPr>
            <a:spLocks noGrp="1"/>
          </p:cNvSpPr>
          <p:nvPr>
            <p:ph type="title"/>
          </p:nvPr>
        </p:nvSpPr>
        <p:spPr/>
        <p:txBody>
          <a:bodyPr/>
          <a:lstStyle/>
          <a:p>
            <a:r>
              <a:rPr lang="en-US" dirty="0"/>
              <a:t>Updated</a:t>
            </a:r>
          </a:p>
        </p:txBody>
      </p:sp>
      <p:sp>
        <p:nvSpPr>
          <p:cNvPr id="3" name="Content Placeholder 2">
            <a:extLst>
              <a:ext uri="{FF2B5EF4-FFF2-40B4-BE49-F238E27FC236}">
                <a16:creationId xmlns:a16="http://schemas.microsoft.com/office/drawing/2014/main" id="{09A89CFB-FF0D-F543-3A23-D7B7B5DA9B29}"/>
              </a:ext>
            </a:extLst>
          </p:cNvPr>
          <p:cNvSpPr>
            <a:spLocks noGrp="1"/>
          </p:cNvSpPr>
          <p:nvPr>
            <p:ph idx="1"/>
          </p:nvPr>
        </p:nvSpPr>
        <p:spPr/>
        <p:txBody>
          <a:bodyPr>
            <a:normAutofit fontScale="70000" lnSpcReduction="20000"/>
          </a:bodyPr>
          <a:lstStyle/>
          <a:p>
            <a:pPr>
              <a:spcBef>
                <a:spcPts val="0"/>
              </a:spcBef>
              <a:spcAft>
                <a:spcPts val="0"/>
              </a:spcAft>
            </a:pPr>
            <a:r>
              <a:rPr lang="en-US" dirty="0"/>
              <a:t>P(Semaphore s)</a:t>
            </a:r>
          </a:p>
          <a:p>
            <a:pPr>
              <a:spcBef>
                <a:spcPts val="0"/>
              </a:spcBef>
              <a:spcAft>
                <a:spcPts val="0"/>
              </a:spcAft>
            </a:pPr>
            <a:r>
              <a:rPr lang="en-US" dirty="0"/>
              <a:t>{</a:t>
            </a:r>
          </a:p>
          <a:p>
            <a:pPr>
              <a:spcBef>
                <a:spcPts val="0"/>
              </a:spcBef>
              <a:spcAft>
                <a:spcPts val="0"/>
              </a:spcAft>
            </a:pPr>
            <a:r>
              <a:rPr lang="en-US" dirty="0"/>
              <a:t>    </a:t>
            </a:r>
            <a:r>
              <a:rPr lang="en-US" dirty="0" err="1"/>
              <a:t>s.value</a:t>
            </a:r>
            <a:r>
              <a:rPr lang="en-US" dirty="0"/>
              <a:t> = </a:t>
            </a:r>
            <a:r>
              <a:rPr lang="en-US" dirty="0" err="1"/>
              <a:t>s.value</a:t>
            </a:r>
            <a:r>
              <a:rPr lang="en-US" dirty="0"/>
              <a:t> - 1;</a:t>
            </a:r>
          </a:p>
          <a:p>
            <a:pPr>
              <a:spcBef>
                <a:spcPts val="0"/>
              </a:spcBef>
              <a:spcAft>
                <a:spcPts val="0"/>
              </a:spcAft>
            </a:pPr>
            <a:r>
              <a:rPr lang="en-US" dirty="0"/>
              <a:t>    if (</a:t>
            </a:r>
            <a:r>
              <a:rPr lang="en-US" dirty="0" err="1"/>
              <a:t>s.value</a:t>
            </a:r>
            <a:r>
              <a:rPr lang="en-US" dirty="0"/>
              <a:t> &lt; 0) {</a:t>
            </a:r>
          </a:p>
          <a:p>
            <a:pPr>
              <a:spcBef>
                <a:spcPts val="0"/>
              </a:spcBef>
              <a:spcAft>
                <a:spcPts val="0"/>
              </a:spcAft>
            </a:pPr>
            <a:endParaRPr lang="en-US" dirty="0"/>
          </a:p>
          <a:p>
            <a:pPr>
              <a:spcBef>
                <a:spcPts val="0"/>
              </a:spcBef>
              <a:spcAft>
                <a:spcPts val="0"/>
              </a:spcAft>
            </a:pPr>
            <a:r>
              <a:rPr lang="en-US" dirty="0"/>
              <a:t>        // add process to queue</a:t>
            </a:r>
          </a:p>
          <a:p>
            <a:pPr>
              <a:spcBef>
                <a:spcPts val="0"/>
              </a:spcBef>
              <a:spcAft>
                <a:spcPts val="0"/>
              </a:spcAft>
            </a:pPr>
            <a:r>
              <a:rPr lang="en-US" dirty="0"/>
              <a:t>        // here p is a process which is currently executing</a:t>
            </a:r>
          </a:p>
          <a:p>
            <a:pPr>
              <a:spcBef>
                <a:spcPts val="0"/>
              </a:spcBef>
              <a:spcAft>
                <a:spcPts val="0"/>
              </a:spcAft>
            </a:pPr>
            <a:r>
              <a:rPr lang="en-US" dirty="0"/>
              <a:t>        </a:t>
            </a:r>
            <a:r>
              <a:rPr lang="en-US" dirty="0" err="1"/>
              <a:t>q.push</a:t>
            </a:r>
            <a:r>
              <a:rPr lang="en-US" dirty="0"/>
              <a:t>(p);</a:t>
            </a:r>
          </a:p>
          <a:p>
            <a:pPr>
              <a:spcBef>
                <a:spcPts val="0"/>
              </a:spcBef>
              <a:spcAft>
                <a:spcPts val="0"/>
              </a:spcAft>
            </a:pPr>
            <a:r>
              <a:rPr lang="en-US" dirty="0"/>
              <a:t>        block();</a:t>
            </a:r>
          </a:p>
          <a:p>
            <a:pPr>
              <a:spcBef>
                <a:spcPts val="0"/>
              </a:spcBef>
              <a:spcAft>
                <a:spcPts val="0"/>
              </a:spcAft>
            </a:pPr>
            <a:r>
              <a:rPr lang="en-US" dirty="0"/>
              <a:t>    }</a:t>
            </a:r>
          </a:p>
          <a:p>
            <a:pPr>
              <a:spcBef>
                <a:spcPts val="0"/>
              </a:spcBef>
              <a:spcAft>
                <a:spcPts val="0"/>
              </a:spcAft>
            </a:pPr>
            <a:r>
              <a:rPr lang="en-US" dirty="0"/>
              <a:t>    else</a:t>
            </a:r>
          </a:p>
          <a:p>
            <a:pPr>
              <a:spcBef>
                <a:spcPts val="0"/>
              </a:spcBef>
              <a:spcAft>
                <a:spcPts val="0"/>
              </a:spcAft>
            </a:pPr>
            <a:r>
              <a:rPr lang="en-US" dirty="0"/>
              <a:t>        return;</a:t>
            </a:r>
          </a:p>
          <a:p>
            <a:pPr>
              <a:spcBef>
                <a:spcPts val="0"/>
              </a:spcBef>
              <a:spcAft>
                <a:spcPts val="0"/>
              </a:spcAft>
            </a:pPr>
            <a:r>
              <a:rPr lang="en-US" dirty="0"/>
              <a:t>}</a:t>
            </a:r>
          </a:p>
          <a:p>
            <a:pPr>
              <a:spcBef>
                <a:spcPts val="0"/>
              </a:spcBef>
              <a:spcAft>
                <a:spcPts val="0"/>
              </a:spcAft>
            </a:pPr>
            <a:endParaRPr lang="en-US" dirty="0"/>
          </a:p>
          <a:p>
            <a:pPr>
              <a:spcBef>
                <a:spcPts val="0"/>
              </a:spcBef>
              <a:spcAft>
                <a:spcPts val="0"/>
              </a:spcAft>
            </a:pPr>
            <a:r>
              <a:rPr lang="en-US" dirty="0"/>
              <a:t>V(Semaphore s)</a:t>
            </a:r>
          </a:p>
          <a:p>
            <a:pPr>
              <a:spcBef>
                <a:spcPts val="0"/>
              </a:spcBef>
              <a:spcAft>
                <a:spcPts val="0"/>
              </a:spcAft>
            </a:pPr>
            <a:r>
              <a:rPr lang="en-US" dirty="0"/>
              <a:t>{</a:t>
            </a:r>
          </a:p>
          <a:p>
            <a:pPr>
              <a:spcBef>
                <a:spcPts val="0"/>
              </a:spcBef>
              <a:spcAft>
                <a:spcPts val="0"/>
              </a:spcAft>
            </a:pPr>
            <a:r>
              <a:rPr lang="en-US" dirty="0"/>
              <a:t>    </a:t>
            </a:r>
            <a:r>
              <a:rPr lang="en-US" dirty="0" err="1"/>
              <a:t>s.value</a:t>
            </a:r>
            <a:r>
              <a:rPr lang="en-US" dirty="0"/>
              <a:t> = </a:t>
            </a:r>
            <a:r>
              <a:rPr lang="en-US" dirty="0" err="1"/>
              <a:t>s.value</a:t>
            </a:r>
            <a:r>
              <a:rPr lang="en-US" dirty="0"/>
              <a:t> + 1;</a:t>
            </a:r>
          </a:p>
          <a:p>
            <a:pPr>
              <a:spcBef>
                <a:spcPts val="0"/>
              </a:spcBef>
              <a:spcAft>
                <a:spcPts val="0"/>
              </a:spcAft>
            </a:pPr>
            <a:r>
              <a:rPr lang="en-US" dirty="0"/>
              <a:t>    if (</a:t>
            </a:r>
            <a:r>
              <a:rPr lang="en-US" dirty="0" err="1"/>
              <a:t>s.value</a:t>
            </a:r>
            <a:r>
              <a:rPr lang="en-US" dirty="0"/>
              <a:t> &lt;= 0) {</a:t>
            </a:r>
          </a:p>
          <a:p>
            <a:pPr>
              <a:spcBef>
                <a:spcPts val="0"/>
              </a:spcBef>
              <a:spcAft>
                <a:spcPts val="0"/>
              </a:spcAft>
            </a:pPr>
            <a:endParaRPr lang="en-US" dirty="0"/>
          </a:p>
          <a:p>
            <a:pPr>
              <a:spcBef>
                <a:spcPts val="0"/>
              </a:spcBef>
              <a:spcAft>
                <a:spcPts val="0"/>
              </a:spcAft>
            </a:pPr>
            <a:r>
              <a:rPr lang="en-US" dirty="0"/>
              <a:t>        // remove process p from queue</a:t>
            </a:r>
          </a:p>
          <a:p>
            <a:pPr>
              <a:spcBef>
                <a:spcPts val="0"/>
              </a:spcBef>
              <a:spcAft>
                <a:spcPts val="0"/>
              </a:spcAft>
            </a:pPr>
            <a:r>
              <a:rPr lang="en-US" dirty="0"/>
              <a:t>        Process p = </a:t>
            </a:r>
            <a:r>
              <a:rPr lang="en-US" dirty="0" err="1"/>
              <a:t>q.pop</a:t>
            </a:r>
            <a:r>
              <a:rPr lang="en-US" dirty="0"/>
              <a:t>();</a:t>
            </a:r>
          </a:p>
          <a:p>
            <a:pPr>
              <a:spcBef>
                <a:spcPts val="0"/>
              </a:spcBef>
              <a:spcAft>
                <a:spcPts val="0"/>
              </a:spcAft>
            </a:pPr>
            <a:r>
              <a:rPr lang="en-US" dirty="0"/>
              <a:t>        wakeup(p);</a:t>
            </a:r>
          </a:p>
          <a:p>
            <a:pPr>
              <a:spcBef>
                <a:spcPts val="0"/>
              </a:spcBef>
              <a:spcAft>
                <a:spcPts val="0"/>
              </a:spcAft>
            </a:pPr>
            <a:r>
              <a:rPr lang="en-US" dirty="0"/>
              <a:t>    }</a:t>
            </a:r>
          </a:p>
          <a:p>
            <a:pPr>
              <a:spcBef>
                <a:spcPts val="0"/>
              </a:spcBef>
              <a:spcAft>
                <a:spcPts val="0"/>
              </a:spcAft>
            </a:pPr>
            <a:r>
              <a:rPr lang="en-US" dirty="0"/>
              <a:t>    else</a:t>
            </a:r>
          </a:p>
          <a:p>
            <a:pPr>
              <a:spcBef>
                <a:spcPts val="0"/>
              </a:spcBef>
              <a:spcAft>
                <a:spcPts val="0"/>
              </a:spcAft>
            </a:pPr>
            <a:r>
              <a:rPr lang="en-US" dirty="0"/>
              <a:t>        return;</a:t>
            </a:r>
          </a:p>
          <a:p>
            <a:pPr>
              <a:spcBef>
                <a:spcPts val="0"/>
              </a:spcBef>
              <a:spcAft>
                <a:spcPts val="0"/>
              </a:spcAft>
            </a:pPr>
            <a:r>
              <a:rPr lang="en-US" dirty="0"/>
              <a:t>}</a:t>
            </a:r>
          </a:p>
        </p:txBody>
      </p:sp>
    </p:spTree>
    <p:extLst>
      <p:ext uri="{BB962C8B-B14F-4D97-AF65-F5344CB8AC3E}">
        <p14:creationId xmlns:p14="http://schemas.microsoft.com/office/powerpoint/2010/main" val="11359792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8903C-1E1B-3C6A-93C2-7C7423F39B05}"/>
              </a:ext>
            </a:extLst>
          </p:cNvPr>
          <p:cNvSpPr>
            <a:spLocks noGrp="1"/>
          </p:cNvSpPr>
          <p:nvPr>
            <p:ph type="title"/>
          </p:nvPr>
        </p:nvSpPr>
        <p:spPr/>
        <p:txBody>
          <a:bodyPr/>
          <a:lstStyle/>
          <a:p>
            <a:r>
              <a:rPr lang="en-US" dirty="0"/>
              <a:t>Explanation of Code</a:t>
            </a:r>
          </a:p>
        </p:txBody>
      </p:sp>
      <p:sp>
        <p:nvSpPr>
          <p:cNvPr id="3" name="Content Placeholder 2">
            <a:extLst>
              <a:ext uri="{FF2B5EF4-FFF2-40B4-BE49-F238E27FC236}">
                <a16:creationId xmlns:a16="http://schemas.microsoft.com/office/drawing/2014/main" id="{A740CADD-C041-C19C-A66B-224D9DA7EB39}"/>
              </a:ext>
            </a:extLst>
          </p:cNvPr>
          <p:cNvSpPr>
            <a:spLocks noGrp="1"/>
          </p:cNvSpPr>
          <p:nvPr>
            <p:ph idx="1"/>
          </p:nvPr>
        </p:nvSpPr>
        <p:spPr/>
        <p:txBody>
          <a:bodyPr/>
          <a:lstStyle/>
          <a:p>
            <a:r>
              <a:rPr lang="en-US" b="0" i="0" dirty="0">
                <a:solidFill>
                  <a:srgbClr val="273239"/>
                </a:solidFill>
                <a:effectLst/>
                <a:latin typeface="Nunito" pitchFamily="2" charset="0"/>
              </a:rPr>
              <a:t>In this implementation whenever the process waits it is added to a waiting queue of processes associated with that semaphore. This is done through the system call block() on that process. When a process is completed, it calls the signal function and one process in the queue is resumed. It uses the wakeup() system call.</a:t>
            </a:r>
            <a:endParaRPr lang="en-US" dirty="0"/>
          </a:p>
        </p:txBody>
      </p:sp>
    </p:spTree>
    <p:extLst>
      <p:ext uri="{BB962C8B-B14F-4D97-AF65-F5344CB8AC3E}">
        <p14:creationId xmlns:p14="http://schemas.microsoft.com/office/powerpoint/2010/main" val="1324464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294E7-0C23-8B33-63EE-10CA3BF585A1}"/>
              </a:ext>
            </a:extLst>
          </p:cNvPr>
          <p:cNvSpPr>
            <a:spLocks noGrp="1"/>
          </p:cNvSpPr>
          <p:nvPr>
            <p:ph type="title"/>
          </p:nvPr>
        </p:nvSpPr>
        <p:spPr/>
        <p:txBody>
          <a:bodyPr/>
          <a:lstStyle/>
          <a:p>
            <a:r>
              <a:rPr lang="en-US" b="1" i="0" dirty="0">
                <a:solidFill>
                  <a:srgbClr val="273239"/>
                </a:solidFill>
                <a:effectLst/>
                <a:latin typeface="Nunito" pitchFamily="2" charset="0"/>
              </a:rPr>
              <a:t>Uses of Semaphores</a:t>
            </a:r>
            <a:endParaRPr lang="en-US" dirty="0"/>
          </a:p>
        </p:txBody>
      </p:sp>
      <p:sp>
        <p:nvSpPr>
          <p:cNvPr id="3" name="Content Placeholder 2">
            <a:extLst>
              <a:ext uri="{FF2B5EF4-FFF2-40B4-BE49-F238E27FC236}">
                <a16:creationId xmlns:a16="http://schemas.microsoft.com/office/drawing/2014/main" id="{A47A8849-C122-5439-F683-1AF2B84F9128}"/>
              </a:ext>
            </a:extLst>
          </p:cNvPr>
          <p:cNvSpPr>
            <a:spLocks noGrp="1"/>
          </p:cNvSpPr>
          <p:nvPr>
            <p:ph idx="1"/>
          </p:nvPr>
        </p:nvSpPr>
        <p:spPr/>
        <p:txBody>
          <a:bodyPr>
            <a:normAutofit fontScale="92500"/>
          </a:bodyPr>
          <a:lstStyle/>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Mutual Exclusion</a:t>
            </a:r>
            <a:r>
              <a:rPr lang="en-US" b="0" i="0" dirty="0">
                <a:solidFill>
                  <a:srgbClr val="273239"/>
                </a:solidFill>
                <a:effectLst/>
                <a:latin typeface="Nunito" pitchFamily="2" charset="0"/>
              </a:rPr>
              <a:t> : Semaphore ensures that only one process accesses a shared resource at a time.</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Process Synchronization</a:t>
            </a:r>
            <a:r>
              <a:rPr lang="en-US" b="0" i="0" dirty="0">
                <a:solidFill>
                  <a:srgbClr val="273239"/>
                </a:solidFill>
                <a:effectLst/>
                <a:latin typeface="Nunito" pitchFamily="2" charset="0"/>
              </a:rPr>
              <a:t> : Semaphore coordinates the execution order of multiple processes.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Resource Management</a:t>
            </a:r>
            <a:r>
              <a:rPr lang="en-US" b="0" i="0" dirty="0">
                <a:solidFill>
                  <a:srgbClr val="273239"/>
                </a:solidFill>
                <a:effectLst/>
                <a:latin typeface="Nunito" pitchFamily="2" charset="0"/>
              </a:rPr>
              <a:t> : Limits access to a finite set of resources, like printers, devices, etc.</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Reader-Writer Problem</a:t>
            </a:r>
            <a:r>
              <a:rPr lang="en-US" b="0" i="0" dirty="0">
                <a:solidFill>
                  <a:srgbClr val="273239"/>
                </a:solidFill>
                <a:effectLst/>
                <a:latin typeface="Nunito" pitchFamily="2" charset="0"/>
              </a:rPr>
              <a:t> : Allows multiple readers but restricts the writers until no reader is present.</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Avoiding Deadlocks</a:t>
            </a:r>
            <a:r>
              <a:rPr lang="en-US" b="0" i="0" dirty="0">
                <a:solidFill>
                  <a:srgbClr val="273239"/>
                </a:solidFill>
                <a:effectLst/>
                <a:latin typeface="Nunito" pitchFamily="2" charset="0"/>
              </a:rPr>
              <a:t> : Prevents deadlocks by controlling the order of allocation of resources.</a:t>
            </a:r>
          </a:p>
        </p:txBody>
      </p:sp>
    </p:spTree>
    <p:extLst>
      <p:ext uri="{BB962C8B-B14F-4D97-AF65-F5344CB8AC3E}">
        <p14:creationId xmlns:p14="http://schemas.microsoft.com/office/powerpoint/2010/main" val="2663815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94E5-3470-9B25-DD61-D5CDEAB1F6B8}"/>
              </a:ext>
            </a:extLst>
          </p:cNvPr>
          <p:cNvSpPr>
            <a:spLocks noGrp="1"/>
          </p:cNvSpPr>
          <p:nvPr>
            <p:ph type="title"/>
          </p:nvPr>
        </p:nvSpPr>
        <p:spPr/>
        <p:txBody>
          <a:bodyPr/>
          <a:lstStyle/>
          <a:p>
            <a:r>
              <a:rPr lang="en-US" b="1" i="0" dirty="0">
                <a:solidFill>
                  <a:srgbClr val="273239"/>
                </a:solidFill>
                <a:effectLst/>
                <a:latin typeface="Nunito" pitchFamily="2" charset="0"/>
              </a:rPr>
              <a:t>Advantages of Semaphores</a:t>
            </a:r>
            <a:endParaRPr lang="en-US" dirty="0"/>
          </a:p>
        </p:txBody>
      </p:sp>
      <p:sp>
        <p:nvSpPr>
          <p:cNvPr id="3" name="Content Placeholder 2">
            <a:extLst>
              <a:ext uri="{FF2B5EF4-FFF2-40B4-BE49-F238E27FC236}">
                <a16:creationId xmlns:a16="http://schemas.microsoft.com/office/drawing/2014/main" id="{D4A96EE2-276E-658F-F164-F2AEEE44F9B0}"/>
              </a:ext>
            </a:extLst>
          </p:cNvPr>
          <p:cNvSpPr>
            <a:spLocks noGrp="1"/>
          </p:cNvSpPr>
          <p:nvPr>
            <p:ph idx="1"/>
          </p:nvPr>
        </p:nvSpPr>
        <p:spPr/>
        <p:txBody>
          <a:bodyPr>
            <a:normAutofit fontScale="92500" lnSpcReduction="10000"/>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Semaphore is a simple and effective mechanism for process synchronization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Supports coordination between multiple processes. By controlling the access to critical sections, semaphores help in managing multiple processes without them interfering with each other.</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When used correctly, semaphores can help avoid deadlocks by managing access to resources efficiently and ensuring that no process is indefinitely blocked from accessing necessary resources.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Semaphores help prevent race conditions by ensuring that only one process can access a shared resource at a time.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Provides a flexible and robust way to manage shared resources.</a:t>
            </a:r>
          </a:p>
        </p:txBody>
      </p:sp>
    </p:spTree>
    <p:extLst>
      <p:ext uri="{BB962C8B-B14F-4D97-AF65-F5344CB8AC3E}">
        <p14:creationId xmlns:p14="http://schemas.microsoft.com/office/powerpoint/2010/main" val="751336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5E64-6DAB-4E3F-7011-C095E225598D}"/>
              </a:ext>
            </a:extLst>
          </p:cNvPr>
          <p:cNvSpPr>
            <a:spLocks noGrp="1"/>
          </p:cNvSpPr>
          <p:nvPr>
            <p:ph type="title"/>
          </p:nvPr>
        </p:nvSpPr>
        <p:spPr/>
        <p:txBody>
          <a:bodyPr/>
          <a:lstStyle/>
          <a:p>
            <a:r>
              <a:rPr lang="en-US" b="1" i="0" dirty="0">
                <a:solidFill>
                  <a:srgbClr val="273239"/>
                </a:solidFill>
                <a:effectLst/>
                <a:latin typeface="Nunito" pitchFamily="2" charset="0"/>
              </a:rPr>
              <a:t>Disadvantages of Semaphores</a:t>
            </a:r>
            <a:endParaRPr lang="en-US" dirty="0"/>
          </a:p>
        </p:txBody>
      </p:sp>
      <p:sp>
        <p:nvSpPr>
          <p:cNvPr id="3" name="Content Placeholder 2">
            <a:extLst>
              <a:ext uri="{FF2B5EF4-FFF2-40B4-BE49-F238E27FC236}">
                <a16:creationId xmlns:a16="http://schemas.microsoft.com/office/drawing/2014/main" id="{A1226A8F-C980-E124-CFC1-A1F9D92FEDE7}"/>
              </a:ext>
            </a:extLst>
          </p:cNvPr>
          <p:cNvSpPr>
            <a:spLocks noGrp="1"/>
          </p:cNvSpPr>
          <p:nvPr>
            <p:ph idx="1"/>
          </p:nvPr>
        </p:nvSpPr>
        <p:spPr/>
        <p:txBody>
          <a:bodyPr>
            <a:normAutofit fontScale="85000" lnSpcReduction="20000"/>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Can lead to performance degradation due to overhead associated with wait and signal operations.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If semaphores are not managed carefully, they can lead to </a:t>
            </a:r>
            <a:r>
              <a:rPr lang="en-US" dirty="0">
                <a:solidFill>
                  <a:srgbClr val="273239"/>
                </a:solidFill>
                <a:latin typeface="Nunito" pitchFamily="2" charset="0"/>
              </a:rPr>
              <a:t>deadlock</a:t>
            </a:r>
            <a:r>
              <a:rPr lang="en-US" b="0" i="0" dirty="0">
                <a:solidFill>
                  <a:srgbClr val="273239"/>
                </a:solidFill>
                <a:effectLst/>
                <a:latin typeface="Nunito" pitchFamily="2" charset="0"/>
              </a:rPr>
              <a:t>. This often occurs when semaphores are not released properly or when processes acquire semaphores in an inconsistent order.</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can cause performance issues in a program if not used properly.</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can be difficult to debug and maintain. Debugging systems that rely heavily on semaphores can be challenging, as it is hard to track the state of each semaphore and ensure that all processes are correctly synchronized</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can be prone to race conditions and other synchronization problems if not used correctly.</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It can be vulnerable to certain types of attacks, such as denial of service attacks.</a:t>
            </a:r>
          </a:p>
          <a:p>
            <a:endParaRPr lang="en-US" dirty="0"/>
          </a:p>
        </p:txBody>
      </p:sp>
    </p:spTree>
    <p:extLst>
      <p:ext uri="{BB962C8B-B14F-4D97-AF65-F5344CB8AC3E}">
        <p14:creationId xmlns:p14="http://schemas.microsoft.com/office/powerpoint/2010/main" val="4129514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22</TotalTime>
  <Words>2675</Words>
  <Application>Microsoft Office PowerPoint</Application>
  <PresentationFormat>Widescreen</PresentationFormat>
  <Paragraphs>147</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Nunito</vt:lpstr>
      <vt:lpstr>Source Sans 3</vt:lpstr>
      <vt:lpstr>Times New Roman</vt:lpstr>
      <vt:lpstr>Retrospect</vt:lpstr>
      <vt:lpstr>Lecture # 06 Concurrency Controls (Mutex &amp; Semaphore)</vt:lpstr>
      <vt:lpstr>Introduction </vt:lpstr>
      <vt:lpstr>What is Mutex?</vt:lpstr>
      <vt:lpstr> Mutual Exclusion in Synchronization</vt:lpstr>
      <vt:lpstr>What is Mutual Exclusion?</vt:lpstr>
      <vt:lpstr>Conditions Required for Mutual Exclusion</vt:lpstr>
      <vt:lpstr>Approaches To Implementing Mutual Exclusion</vt:lpstr>
      <vt:lpstr>Requirements of Mutual Exclusion</vt:lpstr>
      <vt:lpstr>Semaphores in Process Synchronization</vt:lpstr>
      <vt:lpstr>What is Semaphores?</vt:lpstr>
      <vt:lpstr>Types of Semaphores</vt:lpstr>
      <vt:lpstr>Working of Semaphore</vt:lpstr>
      <vt:lpstr>Working of Semaphore</vt:lpstr>
      <vt:lpstr>Working of Semaphore</vt:lpstr>
      <vt:lpstr>Working of Semaphore</vt:lpstr>
      <vt:lpstr>Working of Semaphore</vt:lpstr>
      <vt:lpstr>Working of Binary Semaphore</vt:lpstr>
      <vt:lpstr>Working of Binary Semaphore</vt:lpstr>
      <vt:lpstr>Limitations</vt:lpstr>
      <vt:lpstr>Updated</vt:lpstr>
      <vt:lpstr>Explanation of Code</vt:lpstr>
      <vt:lpstr>Uses of Semaphores</vt:lpstr>
      <vt:lpstr>Advantages of Semaphores</vt:lpstr>
      <vt:lpstr>Disadvantages of Semaphores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fatimamehar424@gmail.com</dc:creator>
  <cp:lastModifiedBy>fatimamehar424@gmail.com</cp:lastModifiedBy>
  <cp:revision>5</cp:revision>
  <dcterms:created xsi:type="dcterms:W3CDTF">2025-01-19T18:41:29Z</dcterms:created>
  <dcterms:modified xsi:type="dcterms:W3CDTF">2025-02-08T14:14:29Z</dcterms:modified>
</cp:coreProperties>
</file>