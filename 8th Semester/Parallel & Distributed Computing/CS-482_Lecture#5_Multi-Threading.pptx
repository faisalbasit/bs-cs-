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3" r:id="rId27"/>
    <p:sldId id="284" r:id="rId28"/>
    <p:sldId id="282" r:id="rId29"/>
    <p:sldId id="285" r:id="rId30"/>
    <p:sldId id="286" r:id="rId31"/>
    <p:sldId id="287" r:id="rId32"/>
    <p:sldId id="288" r:id="rId33"/>
    <p:sldId id="289" r:id="rId34"/>
    <p:sldId id="290" r:id="rId35"/>
    <p:sldId id="291" r:id="rId36"/>
    <p:sldId id="292" r:id="rId37"/>
    <p:sldId id="293" r:id="rId38"/>
    <p:sldId id="298" r:id="rId39"/>
    <p:sldId id="299" r:id="rId40"/>
    <p:sldId id="30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479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20973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26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03925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275658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31D1B0-6A0E-4430-AC2D-7F9228F4CBE9}"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97790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5050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003177-7FED-4ECA-96D1-658996C5DF1F}" type="slidenum">
              <a:rPr lang="en-US" smtClean="0"/>
              <a:t>‹#›</a:t>
            </a:fld>
            <a:endParaRPr lang="en-US"/>
          </a:p>
        </p:txBody>
      </p:sp>
    </p:spTree>
    <p:extLst>
      <p:ext uri="{BB962C8B-B14F-4D97-AF65-F5344CB8AC3E}">
        <p14:creationId xmlns:p14="http://schemas.microsoft.com/office/powerpoint/2010/main" val="240275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73277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137672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88165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31D1B0-6A0E-4430-AC2D-7F9228F4CBE9}" type="datetimeFigureOut">
              <a:rPr lang="en-US" smtClean="0"/>
              <a:t>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003177-7FED-4ECA-96D1-658996C5DF1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190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introduction-of-deadlock-in-operating-syste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40A-BA8A-6A72-E911-EDB060ED022F}"/>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Lecture # 05</a:t>
            </a:r>
            <a:br>
              <a:rPr lang="en-US" sz="6600" kern="0" dirty="0">
                <a:effectLst/>
                <a:latin typeface="Times New Roman" panose="02020603050405020304" pitchFamily="18" charset="0"/>
                <a:ea typeface="Times New Roman" panose="02020603050405020304" pitchFamily="18" charset="0"/>
              </a:rPr>
            </a:br>
            <a:r>
              <a:rPr lang="en-US" sz="6600" kern="0" dirty="0">
                <a:effectLst/>
                <a:latin typeface="Times New Roman" panose="02020603050405020304" pitchFamily="18" charset="0"/>
                <a:ea typeface="Times New Roman" panose="02020603050405020304" pitchFamily="18" charset="0"/>
              </a:rPr>
              <a:t>Multi-Threading</a:t>
            </a:r>
            <a:endParaRPr lang="en-US" sz="6600" dirty="0"/>
          </a:p>
        </p:txBody>
      </p:sp>
      <p:sp>
        <p:nvSpPr>
          <p:cNvPr id="3" name="Subtitle 2">
            <a:extLst>
              <a:ext uri="{FF2B5EF4-FFF2-40B4-BE49-F238E27FC236}">
                <a16:creationId xmlns:a16="http://schemas.microsoft.com/office/drawing/2014/main" id="{3EEDB696-4149-7917-BE8F-15EDA665DA6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57622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3E74C-F425-FB60-11F7-FF976BEF8C26}"/>
              </a:ext>
            </a:extLst>
          </p:cNvPr>
          <p:cNvSpPr>
            <a:spLocks noGrp="1"/>
          </p:cNvSpPr>
          <p:nvPr>
            <p:ph type="title"/>
          </p:nvPr>
        </p:nvSpPr>
        <p:spPr/>
        <p:txBody>
          <a:bodyPr/>
          <a:lstStyle/>
          <a:p>
            <a:r>
              <a:rPr lang="en-US" b="1" i="0" dirty="0">
                <a:solidFill>
                  <a:srgbClr val="273239"/>
                </a:solidFill>
                <a:effectLst/>
                <a:latin typeface="Source Sans 3"/>
              </a:rPr>
              <a:t>Multithreading in Operating System</a:t>
            </a:r>
            <a:endParaRPr lang="en-US" dirty="0"/>
          </a:p>
        </p:txBody>
      </p:sp>
      <p:sp>
        <p:nvSpPr>
          <p:cNvPr id="3" name="Content Placeholder 2">
            <a:extLst>
              <a:ext uri="{FF2B5EF4-FFF2-40B4-BE49-F238E27FC236}">
                <a16:creationId xmlns:a16="http://schemas.microsoft.com/office/drawing/2014/main" id="{4A2AB33D-D036-E81F-1652-371F2755E65A}"/>
              </a:ext>
            </a:extLst>
          </p:cNvPr>
          <p:cNvSpPr>
            <a:spLocks noGrp="1"/>
          </p:cNvSpPr>
          <p:nvPr>
            <p:ph idx="1"/>
          </p:nvPr>
        </p:nvSpPr>
        <p:spPr/>
        <p:txBody>
          <a:bodyPr/>
          <a:lstStyle/>
          <a:p>
            <a:r>
              <a:rPr lang="en-US" b="0" i="0" dirty="0">
                <a:solidFill>
                  <a:srgbClr val="273239"/>
                </a:solidFill>
                <a:effectLst/>
                <a:latin typeface="Nunito" pitchFamily="2" charset="0"/>
              </a:rPr>
              <a:t>Multithreading is a feature in operating systems that allows a </a:t>
            </a:r>
            <a:r>
              <a:rPr lang="en-US" dirty="0">
                <a:latin typeface="Nunito" pitchFamily="2" charset="0"/>
              </a:rPr>
              <a:t>program </a:t>
            </a:r>
            <a:r>
              <a:rPr lang="en-US" b="0" i="0" dirty="0">
                <a:solidFill>
                  <a:srgbClr val="273239"/>
                </a:solidFill>
                <a:effectLst/>
                <a:latin typeface="Nunito" pitchFamily="2" charset="0"/>
              </a:rPr>
              <a:t>to do several tasks at the same time. Think of it like having multiple hands working together to complete different parts of a job faster. Each “hand” is called a thread, and they help make programs run more efficiently. Multithreading makes your computer work better by using its resources more effectively, leading to quicker and smoother performance for applications like web browsers, games, and many other programs you use every day.</a:t>
            </a:r>
            <a:endParaRPr lang="en-US" dirty="0"/>
          </a:p>
        </p:txBody>
      </p:sp>
    </p:spTree>
    <p:extLst>
      <p:ext uri="{BB962C8B-B14F-4D97-AF65-F5344CB8AC3E}">
        <p14:creationId xmlns:p14="http://schemas.microsoft.com/office/powerpoint/2010/main" val="1939213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0DBC-47B3-F911-E065-8B853284864D}"/>
              </a:ext>
            </a:extLst>
          </p:cNvPr>
          <p:cNvSpPr>
            <a:spLocks noGrp="1"/>
          </p:cNvSpPr>
          <p:nvPr>
            <p:ph type="title"/>
          </p:nvPr>
        </p:nvSpPr>
        <p:spPr/>
        <p:txBody>
          <a:bodyPr/>
          <a:lstStyle/>
          <a:p>
            <a:r>
              <a:rPr lang="en-US" b="1" i="0" dirty="0">
                <a:solidFill>
                  <a:srgbClr val="273239"/>
                </a:solidFill>
                <a:effectLst/>
                <a:latin typeface="Nunito" pitchFamily="2" charset="0"/>
              </a:rPr>
              <a:t>How Does Multithreading Work?</a:t>
            </a:r>
            <a:endParaRPr lang="en-US" dirty="0"/>
          </a:p>
        </p:txBody>
      </p:sp>
      <p:sp>
        <p:nvSpPr>
          <p:cNvPr id="3" name="Content Placeholder 2">
            <a:extLst>
              <a:ext uri="{FF2B5EF4-FFF2-40B4-BE49-F238E27FC236}">
                <a16:creationId xmlns:a16="http://schemas.microsoft.com/office/drawing/2014/main" id="{0B324E26-A101-DC8C-591D-C541A24CE3E9}"/>
              </a:ext>
            </a:extLst>
          </p:cNvPr>
          <p:cNvSpPr>
            <a:spLocks noGrp="1"/>
          </p:cNvSpPr>
          <p:nvPr>
            <p:ph idx="1"/>
          </p:nvPr>
        </p:nvSpPr>
        <p:spPr/>
        <p:txBody>
          <a:bodyPr>
            <a:normAutofit fontScale="77500" lnSpcReduction="20000"/>
          </a:bodyPr>
          <a:lstStyle/>
          <a:p>
            <a:pPr algn="just" rtl="0" fontAlgn="base">
              <a:spcAft>
                <a:spcPts val="750"/>
              </a:spcAft>
            </a:pPr>
            <a:r>
              <a:rPr lang="en-US" b="0" i="0" dirty="0">
                <a:solidFill>
                  <a:srgbClr val="273239"/>
                </a:solidFill>
                <a:effectLst/>
                <a:latin typeface="Nunito" pitchFamily="2" charset="0"/>
              </a:rPr>
              <a:t>Multithreading works by allowing a computer’s processor to handle multiple tasks at the same time. Even though the processor can only do one thing at a time, it switches between different threads from various programs so quickly that it looks like everything is happening all at once.</a:t>
            </a:r>
          </a:p>
          <a:p>
            <a:pPr algn="just" rtl="0" fontAlgn="base">
              <a:spcAft>
                <a:spcPts val="750"/>
              </a:spcAft>
            </a:pPr>
            <a:r>
              <a:rPr lang="en-US" b="0" i="0" dirty="0">
                <a:solidFill>
                  <a:srgbClr val="273239"/>
                </a:solidFill>
                <a:effectLst/>
                <a:latin typeface="Nunito" pitchFamily="2" charset="0"/>
              </a:rPr>
              <a:t>Here’s how it simplifies: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Processor Handling </a:t>
            </a:r>
            <a:r>
              <a:rPr lang="en-US" b="0" i="0" dirty="0">
                <a:solidFill>
                  <a:srgbClr val="273239"/>
                </a:solidFill>
                <a:effectLst/>
                <a:latin typeface="Nunito" pitchFamily="2" charset="0"/>
              </a:rPr>
              <a:t>: The processor can execute only one instruction at a time, but it switches between different threads so fast that it gives the illusion of simultaneous execution.</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Thread Synchronization </a:t>
            </a:r>
            <a:r>
              <a:rPr lang="en-US" b="0" i="0" dirty="0">
                <a:solidFill>
                  <a:srgbClr val="273239"/>
                </a:solidFill>
                <a:effectLst/>
                <a:latin typeface="Nunito" pitchFamily="2" charset="0"/>
              </a:rPr>
              <a:t>: Each thread is like a separate task within a program. They share resources and work together smoothly, ensuring programs run efficiently.</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Efficient Execution </a:t>
            </a:r>
            <a:r>
              <a:rPr lang="en-US" b="0" i="0" dirty="0">
                <a:solidFill>
                  <a:srgbClr val="273239"/>
                </a:solidFill>
                <a:effectLst/>
                <a:latin typeface="Nunito" pitchFamily="2" charset="0"/>
              </a:rPr>
              <a:t>: Threads in a program can run independently or wait for their turn to process, making programs faster and more responsive.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Programming Considerations </a:t>
            </a:r>
            <a:r>
              <a:rPr lang="en-US" b="0" i="0" dirty="0">
                <a:solidFill>
                  <a:srgbClr val="273239"/>
                </a:solidFill>
                <a:effectLst/>
                <a:latin typeface="Nunito" pitchFamily="2" charset="0"/>
              </a:rPr>
              <a:t>: Programmers need to be careful about managing threads to avoid problems like conflicts or situations where threads get stuck waiting for each other.</a:t>
            </a:r>
          </a:p>
          <a:p>
            <a:endParaRPr lang="en-US" dirty="0"/>
          </a:p>
        </p:txBody>
      </p:sp>
    </p:spTree>
    <p:extLst>
      <p:ext uri="{BB962C8B-B14F-4D97-AF65-F5344CB8AC3E}">
        <p14:creationId xmlns:p14="http://schemas.microsoft.com/office/powerpoint/2010/main" val="481810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8DA45-8919-959D-17C3-4D9FEAA6150B}"/>
              </a:ext>
            </a:extLst>
          </p:cNvPr>
          <p:cNvSpPr>
            <a:spLocks noGrp="1"/>
          </p:cNvSpPr>
          <p:nvPr>
            <p:ph type="title"/>
          </p:nvPr>
        </p:nvSpPr>
        <p:spPr/>
        <p:txBody>
          <a:bodyPr/>
          <a:lstStyle/>
          <a:p>
            <a:r>
              <a:rPr lang="en-US" b="1" i="0" dirty="0">
                <a:solidFill>
                  <a:srgbClr val="273239"/>
                </a:solidFill>
                <a:effectLst/>
                <a:latin typeface="Nunito" pitchFamily="2" charset="0"/>
              </a:rPr>
              <a:t>What is Multitasking?</a:t>
            </a:r>
            <a:endParaRPr lang="en-US" dirty="0"/>
          </a:p>
        </p:txBody>
      </p:sp>
      <p:sp>
        <p:nvSpPr>
          <p:cNvPr id="3" name="Content Placeholder 2">
            <a:extLst>
              <a:ext uri="{FF2B5EF4-FFF2-40B4-BE49-F238E27FC236}">
                <a16:creationId xmlns:a16="http://schemas.microsoft.com/office/drawing/2014/main" id="{8417D9BC-4417-77D0-BD39-DFA8DDCA724C}"/>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Multitasking is the ability of an operating system to run multiple programs or tasks at the same time. It allows you to perform different activities simultaneously on your computer. For example, you can listen to music while browsing the internet and typing a document all at once.</a:t>
            </a:r>
          </a:p>
          <a:p>
            <a:pPr algn="just" rtl="0" fontAlgn="base">
              <a:spcAft>
                <a:spcPts val="750"/>
              </a:spcAft>
            </a:pPr>
            <a:r>
              <a:rPr lang="en-US" b="0" i="0" dirty="0">
                <a:solidFill>
                  <a:srgbClr val="273239"/>
                </a:solidFill>
                <a:effectLst/>
                <a:latin typeface="Nunito" pitchFamily="2" charset="0"/>
              </a:rPr>
              <a:t>Multitasking is of two types: Processor-based and thread-based. Processor-based multitasking is managed by the OS, however, multitasking through multithreading can be controlled by the programmer to some extent. The concept of </a:t>
            </a:r>
            <a:r>
              <a:rPr lang="en-US" b="1" i="0" dirty="0">
                <a:solidFill>
                  <a:srgbClr val="273239"/>
                </a:solidFill>
                <a:effectLst/>
                <a:latin typeface="Nunito" pitchFamily="2" charset="0"/>
              </a:rPr>
              <a:t>multi-threading</a:t>
            </a:r>
            <a:r>
              <a:rPr lang="en-US" b="0" i="0" dirty="0">
                <a:solidFill>
                  <a:srgbClr val="273239"/>
                </a:solidFill>
                <a:effectLst/>
                <a:latin typeface="Nunito" pitchFamily="2" charset="0"/>
              </a:rPr>
              <a:t> needs a proper understanding of these two terms – </a:t>
            </a:r>
            <a:r>
              <a:rPr lang="en-US" b="1" i="0" dirty="0">
                <a:solidFill>
                  <a:srgbClr val="273239"/>
                </a:solidFill>
                <a:effectLst/>
                <a:latin typeface="Nunito" pitchFamily="2" charset="0"/>
              </a:rPr>
              <a:t>a process and a thread</a:t>
            </a:r>
            <a:r>
              <a:rPr lang="en-US" b="0" i="0" dirty="0">
                <a:solidFill>
                  <a:srgbClr val="273239"/>
                </a:solidFill>
                <a:effectLst/>
                <a:latin typeface="Nunito" pitchFamily="2" charset="0"/>
              </a:rPr>
              <a:t>. A process is a program being executed. A process can be further divided into independent units known as threads. A thread is like a small light-weight process within a process. Or we can say a collection of threads is what is known as a process.</a:t>
            </a:r>
          </a:p>
          <a:p>
            <a:endParaRPr lang="en-US" dirty="0"/>
          </a:p>
        </p:txBody>
      </p:sp>
    </p:spTree>
    <p:extLst>
      <p:ext uri="{BB962C8B-B14F-4D97-AF65-F5344CB8AC3E}">
        <p14:creationId xmlns:p14="http://schemas.microsoft.com/office/powerpoint/2010/main" val="800876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F025-2024-FA44-401F-077DFFF0E45F}"/>
              </a:ext>
            </a:extLst>
          </p:cNvPr>
          <p:cNvSpPr>
            <a:spLocks noGrp="1"/>
          </p:cNvSpPr>
          <p:nvPr>
            <p:ph type="title"/>
          </p:nvPr>
        </p:nvSpPr>
        <p:spPr/>
        <p:txBody>
          <a:bodyPr/>
          <a:lstStyle/>
          <a:p>
            <a:r>
              <a:rPr lang="en-US" b="1" i="0" dirty="0">
                <a:solidFill>
                  <a:srgbClr val="273239"/>
                </a:solidFill>
                <a:effectLst/>
                <a:latin typeface="Nunito" pitchFamily="2" charset="0"/>
              </a:rPr>
              <a:t>What is Multitasking?</a:t>
            </a:r>
            <a:endParaRPr lang="en-US" dirty="0"/>
          </a:p>
        </p:txBody>
      </p:sp>
      <p:pic>
        <p:nvPicPr>
          <p:cNvPr id="1026" name="Picture 2" descr="Single thread And Multi Threads">
            <a:extLst>
              <a:ext uri="{FF2B5EF4-FFF2-40B4-BE49-F238E27FC236}">
                <a16:creationId xmlns:a16="http://schemas.microsoft.com/office/drawing/2014/main" id="{2EDB2C27-2A5A-AF1C-008A-70F5D32CD0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4683" y="2133981"/>
            <a:ext cx="8442960" cy="3447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608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03F2-5A81-BF55-736B-EB3098349A1B}"/>
              </a:ext>
            </a:extLst>
          </p:cNvPr>
          <p:cNvSpPr>
            <a:spLocks noGrp="1"/>
          </p:cNvSpPr>
          <p:nvPr>
            <p:ph type="title"/>
          </p:nvPr>
        </p:nvSpPr>
        <p:spPr/>
        <p:txBody>
          <a:bodyPr/>
          <a:lstStyle/>
          <a:p>
            <a:r>
              <a:rPr lang="en-US" b="1" i="0" dirty="0">
                <a:solidFill>
                  <a:srgbClr val="273239"/>
                </a:solidFill>
                <a:effectLst/>
                <a:latin typeface="Nunito" pitchFamily="2" charset="0"/>
              </a:rPr>
              <a:t>Applications:</a:t>
            </a:r>
            <a:r>
              <a:rPr lang="en-US" b="0" i="0" dirty="0">
                <a:solidFill>
                  <a:srgbClr val="273239"/>
                </a:solidFill>
                <a:effectLst/>
                <a:latin typeface="Nunito" pitchFamily="2" charset="0"/>
              </a:rPr>
              <a:t> </a:t>
            </a:r>
            <a:endParaRPr lang="en-US" dirty="0"/>
          </a:p>
        </p:txBody>
      </p:sp>
      <p:sp>
        <p:nvSpPr>
          <p:cNvPr id="3" name="Content Placeholder 2">
            <a:extLst>
              <a:ext uri="{FF2B5EF4-FFF2-40B4-BE49-F238E27FC236}">
                <a16:creationId xmlns:a16="http://schemas.microsoft.com/office/drawing/2014/main" id="{211E9EBE-03EE-8A6B-7EEB-75E86E6AA2AF}"/>
              </a:ext>
            </a:extLst>
          </p:cNvPr>
          <p:cNvSpPr>
            <a:spLocks noGrp="1"/>
          </p:cNvSpPr>
          <p:nvPr>
            <p:ph idx="1"/>
          </p:nvPr>
        </p:nvSpPr>
        <p:spPr/>
        <p:txBody>
          <a:bodyPr/>
          <a:lstStyle/>
          <a:p>
            <a:r>
              <a:rPr lang="en-US" b="0" i="0" dirty="0">
                <a:solidFill>
                  <a:srgbClr val="273239"/>
                </a:solidFill>
                <a:effectLst/>
                <a:latin typeface="Nunito" pitchFamily="2" charset="0"/>
              </a:rPr>
              <a:t>Threading is used widely in almost every field. Most widely it is seen over the internet nowadays where we are using transaction processing of every type like recharges, online transfer, banking etc. Threading is a segment which divide the code into small parts that are of very light weight and has less burden on CPU memory so that it can be easily worked out and can achieve goal in desired field. The concept of </a:t>
            </a:r>
            <a:r>
              <a:rPr lang="en-US" dirty="0">
                <a:latin typeface="Nunito" pitchFamily="2" charset="0"/>
              </a:rPr>
              <a:t>threading</a:t>
            </a:r>
            <a:r>
              <a:rPr lang="en-US" b="0" i="0" dirty="0">
                <a:solidFill>
                  <a:srgbClr val="273239"/>
                </a:solidFill>
                <a:effectLst/>
                <a:latin typeface="Nunito" pitchFamily="2" charset="0"/>
              </a:rPr>
              <a:t> is designed due to the problem of fast and regular changes in technology and less the work in different areas due to less application. Then as says “need is the generation of creation or innovation” hence by following this approach human mind develop the concept of thread to enhance the capability of </a:t>
            </a:r>
            <a:r>
              <a:rPr lang="en-US" dirty="0">
                <a:latin typeface="Nunito" pitchFamily="2" charset="0"/>
              </a:rPr>
              <a:t>programming</a:t>
            </a:r>
            <a:r>
              <a:rPr lang="en-US" b="0" i="0" dirty="0">
                <a:solidFill>
                  <a:srgbClr val="273239"/>
                </a:solidFill>
                <a:effectLst/>
                <a:latin typeface="Nunito" pitchFamily="2" charset="0"/>
              </a:rPr>
              <a:t>.</a:t>
            </a:r>
            <a:endParaRPr lang="en-US" dirty="0"/>
          </a:p>
        </p:txBody>
      </p:sp>
    </p:spTree>
    <p:extLst>
      <p:ext uri="{BB962C8B-B14F-4D97-AF65-F5344CB8AC3E}">
        <p14:creationId xmlns:p14="http://schemas.microsoft.com/office/powerpoint/2010/main" val="281275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653CC-55D6-D350-1956-F99D1E85D274}"/>
              </a:ext>
            </a:extLst>
          </p:cNvPr>
          <p:cNvSpPr>
            <a:spLocks noGrp="1"/>
          </p:cNvSpPr>
          <p:nvPr>
            <p:ph type="title"/>
          </p:nvPr>
        </p:nvSpPr>
        <p:spPr/>
        <p:txBody>
          <a:bodyPr/>
          <a:lstStyle/>
          <a:p>
            <a:r>
              <a:rPr lang="en-US" b="1" i="0" dirty="0">
                <a:solidFill>
                  <a:srgbClr val="273239"/>
                </a:solidFill>
                <a:effectLst/>
                <a:latin typeface="Nunito" pitchFamily="2" charset="0"/>
              </a:rPr>
              <a:t>Multithreading vs Multitasking</a:t>
            </a:r>
            <a:endParaRPr lang="en-US" dirty="0"/>
          </a:p>
        </p:txBody>
      </p:sp>
      <p:graphicFrame>
        <p:nvGraphicFramePr>
          <p:cNvPr id="4" name="Content Placeholder 3">
            <a:extLst>
              <a:ext uri="{FF2B5EF4-FFF2-40B4-BE49-F238E27FC236}">
                <a16:creationId xmlns:a16="http://schemas.microsoft.com/office/drawing/2014/main" id="{2B104299-1115-BE57-2DEE-8E1E429C8480}"/>
              </a:ext>
            </a:extLst>
          </p:cNvPr>
          <p:cNvGraphicFramePr>
            <a:graphicFrameLocks noGrp="1"/>
          </p:cNvGraphicFramePr>
          <p:nvPr>
            <p:ph idx="1"/>
            <p:extLst>
              <p:ext uri="{D42A27DB-BD31-4B8C-83A1-F6EECF244321}">
                <p14:modId xmlns:p14="http://schemas.microsoft.com/office/powerpoint/2010/main" val="2285687721"/>
              </p:ext>
            </p:extLst>
          </p:nvPr>
        </p:nvGraphicFramePr>
        <p:xfrm>
          <a:off x="1096963" y="2106295"/>
          <a:ext cx="10058400" cy="3502660"/>
        </p:xfrm>
        <a:graphic>
          <a:graphicData uri="http://schemas.openxmlformats.org/drawingml/2006/table">
            <a:tbl>
              <a:tblPr>
                <a:tableStyleId>{5940675A-B579-460E-94D1-54222C63F5DA}</a:tableStyleId>
              </a:tblPr>
              <a:tblGrid>
                <a:gridCol w="2514600">
                  <a:extLst>
                    <a:ext uri="{9D8B030D-6E8A-4147-A177-3AD203B41FA5}">
                      <a16:colId xmlns:a16="http://schemas.microsoft.com/office/drawing/2014/main" val="950446168"/>
                    </a:ext>
                  </a:extLst>
                </a:gridCol>
                <a:gridCol w="3771900">
                  <a:extLst>
                    <a:ext uri="{9D8B030D-6E8A-4147-A177-3AD203B41FA5}">
                      <a16:colId xmlns:a16="http://schemas.microsoft.com/office/drawing/2014/main" val="449195707"/>
                    </a:ext>
                  </a:extLst>
                </a:gridCol>
                <a:gridCol w="3771900">
                  <a:extLst>
                    <a:ext uri="{9D8B030D-6E8A-4147-A177-3AD203B41FA5}">
                      <a16:colId xmlns:a16="http://schemas.microsoft.com/office/drawing/2014/main" val="3292408783"/>
                    </a:ext>
                  </a:extLst>
                </a:gridCol>
              </a:tblGrid>
              <a:tr h="0">
                <a:tc>
                  <a:txBody>
                    <a:bodyPr/>
                    <a:lstStyle/>
                    <a:p>
                      <a:pPr algn="ctr" fontAlgn="base"/>
                      <a:r>
                        <a:rPr lang="en-US" sz="1400" b="1">
                          <a:effectLst/>
                        </a:rPr>
                        <a:t>Feature</a:t>
                      </a:r>
                    </a:p>
                  </a:txBody>
                  <a:tcPr marL="38100" marR="38100" marT="63500" marB="63500" anchor="ctr"/>
                </a:tc>
                <a:tc>
                  <a:txBody>
                    <a:bodyPr/>
                    <a:lstStyle/>
                    <a:p>
                      <a:pPr algn="ctr" fontAlgn="base"/>
                      <a:r>
                        <a:rPr lang="en-US" sz="1400" b="1">
                          <a:effectLst/>
                        </a:rPr>
                        <a:t>Multithreading</a:t>
                      </a:r>
                    </a:p>
                  </a:txBody>
                  <a:tcPr marL="63500" marR="63500" marT="63500" marB="63500" anchor="ctr"/>
                </a:tc>
                <a:tc>
                  <a:txBody>
                    <a:bodyPr/>
                    <a:lstStyle/>
                    <a:p>
                      <a:pPr algn="ctr" fontAlgn="base"/>
                      <a:r>
                        <a:rPr lang="en-US" sz="1400" b="1">
                          <a:effectLst/>
                        </a:rPr>
                        <a:t>Multitasking</a:t>
                      </a:r>
                    </a:p>
                  </a:txBody>
                  <a:tcPr marL="63500" marR="63500" marT="63500" marB="63500" anchor="ctr"/>
                </a:tc>
                <a:extLst>
                  <a:ext uri="{0D108BD9-81ED-4DB2-BD59-A6C34878D82A}">
                    <a16:rowId xmlns:a16="http://schemas.microsoft.com/office/drawing/2014/main" val="4026539515"/>
                  </a:ext>
                </a:extLst>
              </a:tr>
              <a:tr h="0">
                <a:tc>
                  <a:txBody>
                    <a:bodyPr/>
                    <a:lstStyle/>
                    <a:p>
                      <a:pPr algn="ctr" fontAlgn="base"/>
                      <a:r>
                        <a:rPr lang="en-US" b="1">
                          <a:effectLst/>
                        </a:rPr>
                        <a:t>Definition</a:t>
                      </a:r>
                    </a:p>
                  </a:txBody>
                  <a:tcPr marL="38100" marR="38100" marT="38164" marB="38164" anchor="ctr"/>
                </a:tc>
                <a:tc>
                  <a:txBody>
                    <a:bodyPr/>
                    <a:lstStyle/>
                    <a:p>
                      <a:pPr algn="just" fontAlgn="ctr"/>
                      <a:r>
                        <a:rPr lang="en-US" sz="1250" b="0">
                          <a:effectLst/>
                        </a:rPr>
                        <a:t>Running multiple threads within a single program simultaneously.</a:t>
                      </a:r>
                    </a:p>
                  </a:txBody>
                  <a:tcPr marL="63500" marR="63500" marT="88900" marB="88900" anchor="ctr"/>
                </a:tc>
                <a:tc>
                  <a:txBody>
                    <a:bodyPr/>
                    <a:lstStyle/>
                    <a:p>
                      <a:pPr algn="just" fontAlgn="ctr"/>
                      <a:r>
                        <a:rPr lang="en-US" sz="1250" b="0">
                          <a:effectLst/>
                        </a:rPr>
                        <a:t>Running multiple programs or tasks concurrently.</a:t>
                      </a:r>
                    </a:p>
                  </a:txBody>
                  <a:tcPr marL="63500" marR="63500" marT="88900" marB="88900" anchor="ctr"/>
                </a:tc>
                <a:extLst>
                  <a:ext uri="{0D108BD9-81ED-4DB2-BD59-A6C34878D82A}">
                    <a16:rowId xmlns:a16="http://schemas.microsoft.com/office/drawing/2014/main" val="1145172554"/>
                  </a:ext>
                </a:extLst>
              </a:tr>
              <a:tr h="0">
                <a:tc>
                  <a:txBody>
                    <a:bodyPr/>
                    <a:lstStyle/>
                    <a:p>
                      <a:pPr algn="ctr" fontAlgn="base"/>
                      <a:r>
                        <a:rPr lang="en-US" b="1">
                          <a:effectLst/>
                        </a:rPr>
                        <a:t>Example</a:t>
                      </a:r>
                    </a:p>
                  </a:txBody>
                  <a:tcPr marL="38100" marR="38100" marT="38164" marB="38164" anchor="ctr"/>
                </a:tc>
                <a:tc>
                  <a:txBody>
                    <a:bodyPr/>
                    <a:lstStyle/>
                    <a:p>
                      <a:pPr algn="just" fontAlgn="ctr"/>
                      <a:r>
                        <a:rPr lang="en-US" sz="1250" b="0">
                          <a:effectLst/>
                        </a:rPr>
                        <a:t>Web browser loading a page, handling user input, and downloading files simultaneously.</a:t>
                      </a:r>
                    </a:p>
                  </a:txBody>
                  <a:tcPr marL="63500" marR="63500" marT="88900" marB="88900" anchor="ctr"/>
                </a:tc>
                <a:tc>
                  <a:txBody>
                    <a:bodyPr/>
                    <a:lstStyle/>
                    <a:p>
                      <a:pPr algn="just" fontAlgn="ctr"/>
                      <a:r>
                        <a:rPr lang="en-US" sz="1250" b="0">
                          <a:effectLst/>
                        </a:rPr>
                        <a:t>Listening to music, browsing the web, and typing a document at the same time.</a:t>
                      </a:r>
                    </a:p>
                  </a:txBody>
                  <a:tcPr marL="63500" marR="63500" marT="88900" marB="88900" anchor="ctr"/>
                </a:tc>
                <a:extLst>
                  <a:ext uri="{0D108BD9-81ED-4DB2-BD59-A6C34878D82A}">
                    <a16:rowId xmlns:a16="http://schemas.microsoft.com/office/drawing/2014/main" val="3513545782"/>
                  </a:ext>
                </a:extLst>
              </a:tr>
              <a:tr h="0">
                <a:tc>
                  <a:txBody>
                    <a:bodyPr/>
                    <a:lstStyle/>
                    <a:p>
                      <a:pPr algn="ctr" fontAlgn="base"/>
                      <a:r>
                        <a:rPr lang="en-US" b="1">
                          <a:effectLst/>
                        </a:rPr>
                        <a:t>Scope</a:t>
                      </a:r>
                    </a:p>
                  </a:txBody>
                  <a:tcPr marL="38100" marR="38100" marT="38164" marB="38164" anchor="ctr"/>
                </a:tc>
                <a:tc>
                  <a:txBody>
                    <a:bodyPr/>
                    <a:lstStyle/>
                    <a:p>
                      <a:pPr algn="just" fontAlgn="ctr"/>
                      <a:r>
                        <a:rPr lang="en-US" sz="1250" b="0">
                          <a:effectLst/>
                        </a:rPr>
                        <a:t>Within a single program.</a:t>
                      </a:r>
                    </a:p>
                  </a:txBody>
                  <a:tcPr marL="63500" marR="63500" marT="88900" marB="88900" anchor="ctr"/>
                </a:tc>
                <a:tc>
                  <a:txBody>
                    <a:bodyPr/>
                    <a:lstStyle/>
                    <a:p>
                      <a:pPr algn="just" fontAlgn="ctr"/>
                      <a:r>
                        <a:rPr lang="en-US" sz="1250" b="0">
                          <a:effectLst/>
                        </a:rPr>
                        <a:t>Across multiple programs.</a:t>
                      </a:r>
                    </a:p>
                  </a:txBody>
                  <a:tcPr marL="63500" marR="63500" marT="88900" marB="88900" anchor="ctr"/>
                </a:tc>
                <a:extLst>
                  <a:ext uri="{0D108BD9-81ED-4DB2-BD59-A6C34878D82A}">
                    <a16:rowId xmlns:a16="http://schemas.microsoft.com/office/drawing/2014/main" val="2025563258"/>
                  </a:ext>
                </a:extLst>
              </a:tr>
              <a:tr h="0">
                <a:tc>
                  <a:txBody>
                    <a:bodyPr/>
                    <a:lstStyle/>
                    <a:p>
                      <a:pPr algn="ctr" fontAlgn="base"/>
                      <a:r>
                        <a:rPr lang="en-US" b="1">
                          <a:effectLst/>
                        </a:rPr>
                        <a:t>Resource Use</a:t>
                      </a:r>
                    </a:p>
                  </a:txBody>
                  <a:tcPr marL="38100" marR="38100" marT="38164" marB="38164" anchor="ctr"/>
                </a:tc>
                <a:tc>
                  <a:txBody>
                    <a:bodyPr/>
                    <a:lstStyle/>
                    <a:p>
                      <a:pPr algn="just" fontAlgn="ctr"/>
                      <a:r>
                        <a:rPr lang="en-US" sz="1250" b="0">
                          <a:effectLst/>
                        </a:rPr>
                        <a:t>Utilizes CPU resources more efficiently within a program.</a:t>
                      </a:r>
                    </a:p>
                  </a:txBody>
                  <a:tcPr marL="63500" marR="63500" marT="88900" marB="88900" anchor="ctr"/>
                </a:tc>
                <a:tc>
                  <a:txBody>
                    <a:bodyPr/>
                    <a:lstStyle/>
                    <a:p>
                      <a:pPr algn="just" fontAlgn="ctr"/>
                      <a:r>
                        <a:rPr lang="en-US" sz="1250" b="0">
                          <a:effectLst/>
                        </a:rPr>
                        <a:t>Manages system resources to allocate time and memory to different programs.</a:t>
                      </a:r>
                    </a:p>
                  </a:txBody>
                  <a:tcPr marL="63500" marR="63500" marT="88900" marB="88900" anchor="ctr"/>
                </a:tc>
                <a:extLst>
                  <a:ext uri="{0D108BD9-81ED-4DB2-BD59-A6C34878D82A}">
                    <a16:rowId xmlns:a16="http://schemas.microsoft.com/office/drawing/2014/main" val="4277608580"/>
                  </a:ext>
                </a:extLst>
              </a:tr>
              <a:tr h="0">
                <a:tc>
                  <a:txBody>
                    <a:bodyPr/>
                    <a:lstStyle/>
                    <a:p>
                      <a:pPr algn="ctr" fontAlgn="base"/>
                      <a:r>
                        <a:rPr lang="en-US" b="1">
                          <a:effectLst/>
                        </a:rPr>
                        <a:t>Purpose</a:t>
                      </a:r>
                    </a:p>
                  </a:txBody>
                  <a:tcPr marL="38100" marR="38100" marT="38164" marB="38164" anchor="ctr"/>
                </a:tc>
                <a:tc>
                  <a:txBody>
                    <a:bodyPr/>
                    <a:lstStyle/>
                    <a:p>
                      <a:pPr algn="just" fontAlgn="ctr"/>
                      <a:r>
                        <a:rPr lang="en-US" sz="1250" b="0">
                          <a:effectLst/>
                        </a:rPr>
                        <a:t>Enhances the performance and responsiveness of a single application.</a:t>
                      </a:r>
                    </a:p>
                  </a:txBody>
                  <a:tcPr marL="63500" marR="63500" marT="88900" marB="88900" anchor="ctr"/>
                </a:tc>
                <a:tc>
                  <a:txBody>
                    <a:bodyPr/>
                    <a:lstStyle/>
                    <a:p>
                      <a:pPr algn="just" fontAlgn="ctr"/>
                      <a:r>
                        <a:rPr lang="en-US" sz="1250" b="0">
                          <a:effectLst/>
                        </a:rPr>
                        <a:t>Improves overall system efficiency by allowing concurrent execution of multiple programs.</a:t>
                      </a:r>
                    </a:p>
                  </a:txBody>
                  <a:tcPr marL="63500" marR="63500" marT="88900" marB="88900" anchor="ctr"/>
                </a:tc>
                <a:extLst>
                  <a:ext uri="{0D108BD9-81ED-4DB2-BD59-A6C34878D82A}">
                    <a16:rowId xmlns:a16="http://schemas.microsoft.com/office/drawing/2014/main" val="1819960173"/>
                  </a:ext>
                </a:extLst>
              </a:tr>
              <a:tr h="0">
                <a:tc>
                  <a:txBody>
                    <a:bodyPr/>
                    <a:lstStyle/>
                    <a:p>
                      <a:pPr algn="ctr" fontAlgn="base"/>
                      <a:r>
                        <a:rPr lang="en-US" b="1">
                          <a:effectLst/>
                        </a:rPr>
                        <a:t>Switching</a:t>
                      </a:r>
                    </a:p>
                  </a:txBody>
                  <a:tcPr marL="38100" marR="38100" marT="38164" marB="38164" anchor="ctr"/>
                </a:tc>
                <a:tc>
                  <a:txBody>
                    <a:bodyPr/>
                    <a:lstStyle/>
                    <a:p>
                      <a:pPr algn="just" fontAlgn="ctr"/>
                      <a:r>
                        <a:rPr lang="en-US" sz="1250" b="0">
                          <a:effectLst/>
                        </a:rPr>
                        <a:t>Threads are managed by the program itself.</a:t>
                      </a:r>
                    </a:p>
                  </a:txBody>
                  <a:tcPr marL="63500" marR="63500" marT="88900" marB="88900" anchor="ctr"/>
                </a:tc>
                <a:tc>
                  <a:txBody>
                    <a:bodyPr/>
                    <a:lstStyle/>
                    <a:p>
                      <a:pPr algn="just" fontAlgn="ctr"/>
                      <a:r>
                        <a:rPr lang="en-US" sz="1250" b="0" dirty="0">
                          <a:effectLst/>
                        </a:rPr>
                        <a:t>Programs are managed by the operating system, which switches between them.</a:t>
                      </a:r>
                    </a:p>
                  </a:txBody>
                  <a:tcPr marL="63500" marR="63500" marT="88900" marB="88900" anchor="ctr"/>
                </a:tc>
                <a:extLst>
                  <a:ext uri="{0D108BD9-81ED-4DB2-BD59-A6C34878D82A}">
                    <a16:rowId xmlns:a16="http://schemas.microsoft.com/office/drawing/2014/main" val="3157117638"/>
                  </a:ext>
                </a:extLst>
              </a:tr>
            </a:tbl>
          </a:graphicData>
        </a:graphic>
      </p:graphicFrame>
    </p:spTree>
    <p:extLst>
      <p:ext uri="{BB962C8B-B14F-4D97-AF65-F5344CB8AC3E}">
        <p14:creationId xmlns:p14="http://schemas.microsoft.com/office/powerpoint/2010/main" val="743287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1E3C5-53F6-B5B0-C8A1-CA758F484EE3}"/>
              </a:ext>
            </a:extLst>
          </p:cNvPr>
          <p:cNvSpPr>
            <a:spLocks noGrp="1"/>
          </p:cNvSpPr>
          <p:nvPr>
            <p:ph type="title"/>
          </p:nvPr>
        </p:nvSpPr>
        <p:spPr/>
        <p:txBody>
          <a:bodyPr/>
          <a:lstStyle/>
          <a:p>
            <a:r>
              <a:rPr lang="en-US" b="1" i="0" dirty="0">
                <a:solidFill>
                  <a:srgbClr val="273239"/>
                </a:solidFill>
                <a:effectLst/>
                <a:latin typeface="Nunito" pitchFamily="2" charset="0"/>
              </a:rPr>
              <a:t>Lifecycle of a Thread</a:t>
            </a:r>
            <a:endParaRPr lang="en-US" dirty="0"/>
          </a:p>
        </p:txBody>
      </p:sp>
      <p:sp>
        <p:nvSpPr>
          <p:cNvPr id="3" name="Content Placeholder 2">
            <a:extLst>
              <a:ext uri="{FF2B5EF4-FFF2-40B4-BE49-F238E27FC236}">
                <a16:creationId xmlns:a16="http://schemas.microsoft.com/office/drawing/2014/main" id="{3D9E1A5F-DD69-DD2D-2F7C-16DD18494C55}"/>
              </a:ext>
            </a:extLst>
          </p:cNvPr>
          <p:cNvSpPr>
            <a:spLocks noGrp="1"/>
          </p:cNvSpPr>
          <p:nvPr>
            <p:ph idx="1"/>
          </p:nvPr>
        </p:nvSpPr>
        <p:spPr/>
        <p:txBody>
          <a:bodyPr>
            <a:normAutofit fontScale="77500" lnSpcReduction="20000"/>
          </a:bodyPr>
          <a:lstStyle/>
          <a:p>
            <a:pPr algn="just" rtl="0" fontAlgn="base">
              <a:spcAft>
                <a:spcPts val="750"/>
              </a:spcAft>
            </a:pPr>
            <a:r>
              <a:rPr lang="en-US" b="0" i="0" dirty="0">
                <a:solidFill>
                  <a:srgbClr val="273239"/>
                </a:solidFill>
                <a:effectLst/>
                <a:latin typeface="Nunito" pitchFamily="2" charset="0"/>
              </a:rPr>
              <a:t>There are various stages in the lifecycle of a thread. Following are the stages a thread goes through in its whole life.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New: </a:t>
            </a:r>
            <a:r>
              <a:rPr lang="en-US" b="0" i="0" dirty="0">
                <a:solidFill>
                  <a:srgbClr val="273239"/>
                </a:solidFill>
                <a:effectLst/>
                <a:latin typeface="Nunito" pitchFamily="2" charset="0"/>
              </a:rPr>
              <a:t>The lifecycle of a born thread (new thread) starts in this state. It remains in this state till a program starts.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Runnable </a:t>
            </a:r>
            <a:r>
              <a:rPr lang="en-US" b="0" i="0" dirty="0">
                <a:solidFill>
                  <a:srgbClr val="273239"/>
                </a:solidFill>
                <a:effectLst/>
                <a:latin typeface="Nunito" pitchFamily="2" charset="0"/>
              </a:rPr>
              <a:t>: A thread becomes runnable after it starts. It is considered to be executing the task given to it.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Waiting </a:t>
            </a:r>
            <a:r>
              <a:rPr lang="en-US" b="0" i="0" dirty="0">
                <a:solidFill>
                  <a:srgbClr val="273239"/>
                </a:solidFill>
                <a:effectLst/>
                <a:latin typeface="Nunito" pitchFamily="2" charset="0"/>
              </a:rPr>
              <a:t>: While waiting for another thread to perform a task, the currently running thread goes into the waiting state and then transitions back again after receiving a signal from the other thread.</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Timed Waiting: </a:t>
            </a:r>
            <a:r>
              <a:rPr lang="en-US" b="0" i="0" dirty="0">
                <a:solidFill>
                  <a:srgbClr val="273239"/>
                </a:solidFill>
                <a:effectLst/>
                <a:latin typeface="Nunito" pitchFamily="2" charset="0"/>
              </a:rPr>
              <a:t>A runnable thread enters into this state for a specific time interval and then transitions back when the time interval expires or the event the thread was waiting for occurs.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Terminated (Dead) </a:t>
            </a:r>
            <a:r>
              <a:rPr lang="en-US" b="0" i="0" dirty="0">
                <a:solidFill>
                  <a:srgbClr val="273239"/>
                </a:solidFill>
                <a:effectLst/>
                <a:latin typeface="Nunito" pitchFamily="2" charset="0"/>
              </a:rPr>
              <a:t>: A thread enters into this state after completing its task.</a:t>
            </a:r>
          </a:p>
          <a:p>
            <a:endParaRPr lang="en-US" dirty="0"/>
          </a:p>
        </p:txBody>
      </p:sp>
    </p:spTree>
    <p:extLst>
      <p:ext uri="{BB962C8B-B14F-4D97-AF65-F5344CB8AC3E}">
        <p14:creationId xmlns:p14="http://schemas.microsoft.com/office/powerpoint/2010/main" val="2866860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A35D-7B06-D2F1-CFB8-B5D916F272D4}"/>
              </a:ext>
            </a:extLst>
          </p:cNvPr>
          <p:cNvSpPr>
            <a:spLocks noGrp="1"/>
          </p:cNvSpPr>
          <p:nvPr>
            <p:ph type="title"/>
          </p:nvPr>
        </p:nvSpPr>
        <p:spPr/>
        <p:txBody>
          <a:bodyPr/>
          <a:lstStyle/>
          <a:p>
            <a:r>
              <a:rPr lang="en-US" b="1" i="0" dirty="0">
                <a:solidFill>
                  <a:srgbClr val="273239"/>
                </a:solidFill>
                <a:effectLst/>
                <a:latin typeface="Nunito" pitchFamily="2" charset="0"/>
              </a:rPr>
              <a:t>Types of Execution in OS</a:t>
            </a:r>
            <a:endParaRPr lang="en-US" dirty="0"/>
          </a:p>
        </p:txBody>
      </p:sp>
      <p:sp>
        <p:nvSpPr>
          <p:cNvPr id="3" name="Content Placeholder 2">
            <a:extLst>
              <a:ext uri="{FF2B5EF4-FFF2-40B4-BE49-F238E27FC236}">
                <a16:creationId xmlns:a16="http://schemas.microsoft.com/office/drawing/2014/main" id="{1054234F-98DA-4070-7249-C885BC580F6A}"/>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There are two types of execution:</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Concurrent Execution: </a:t>
            </a:r>
            <a:r>
              <a:rPr lang="en-US" b="0" i="0" dirty="0">
                <a:solidFill>
                  <a:srgbClr val="273239"/>
                </a:solidFill>
                <a:effectLst/>
                <a:latin typeface="Nunito" pitchFamily="2" charset="0"/>
              </a:rPr>
              <a:t>This occurs when a processor is successful in switching resources between threads in a multithreaded process on a single processor.</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Parallel Execution: </a:t>
            </a:r>
            <a:r>
              <a:rPr lang="en-US" b="0" i="0" dirty="0">
                <a:solidFill>
                  <a:srgbClr val="273239"/>
                </a:solidFill>
                <a:effectLst/>
                <a:latin typeface="Nunito" pitchFamily="2" charset="0"/>
              </a:rPr>
              <a:t>This occurs when every thread in the process runs on a separate processor at the same time and in the same multithreaded process</a:t>
            </a:r>
          </a:p>
          <a:p>
            <a:endParaRPr lang="en-US" dirty="0"/>
          </a:p>
        </p:txBody>
      </p:sp>
    </p:spTree>
    <p:extLst>
      <p:ext uri="{BB962C8B-B14F-4D97-AF65-F5344CB8AC3E}">
        <p14:creationId xmlns:p14="http://schemas.microsoft.com/office/powerpoint/2010/main" val="2731677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2FF7-7643-7775-98AC-6A2AFFE918F5}"/>
              </a:ext>
            </a:extLst>
          </p:cNvPr>
          <p:cNvSpPr>
            <a:spLocks noGrp="1"/>
          </p:cNvSpPr>
          <p:nvPr>
            <p:ph type="title"/>
          </p:nvPr>
        </p:nvSpPr>
        <p:spPr/>
        <p:txBody>
          <a:bodyPr/>
          <a:lstStyle/>
          <a:p>
            <a:r>
              <a:rPr lang="en-US" b="1" i="0" dirty="0">
                <a:solidFill>
                  <a:srgbClr val="273239"/>
                </a:solidFill>
                <a:effectLst/>
                <a:latin typeface="Nunito" pitchFamily="2" charset="0"/>
              </a:rPr>
              <a:t>Drawbacks of Multithreading</a:t>
            </a:r>
            <a:endParaRPr lang="en-US" dirty="0"/>
          </a:p>
        </p:txBody>
      </p:sp>
      <p:sp>
        <p:nvSpPr>
          <p:cNvPr id="3" name="Content Placeholder 2">
            <a:extLst>
              <a:ext uri="{FF2B5EF4-FFF2-40B4-BE49-F238E27FC236}">
                <a16:creationId xmlns:a16="http://schemas.microsoft.com/office/drawing/2014/main" id="{0C1F8AD3-CB3A-D5EA-D16F-9A045C7359EA}"/>
              </a:ext>
            </a:extLst>
          </p:cNvPr>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Nunito" pitchFamily="2" charset="0"/>
              </a:rPr>
              <a:t>Multithreading is complex and many times difficult to handle. It has a few drawbacks. These are: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If you don’t make use of the locking mechanisms properly, while investigating data access issues there is a chance of problems arising like data inconsistency and dead-lock.</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If many threads try to access the same data, then there is a chance that the situation of thread starvation may arise. Resource contention issues are another problem that can trouble the user.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Display issues may occur if threads lack coordination when displaying data.</a:t>
            </a:r>
          </a:p>
          <a:p>
            <a:endParaRPr lang="en-US" dirty="0"/>
          </a:p>
        </p:txBody>
      </p:sp>
    </p:spTree>
    <p:extLst>
      <p:ext uri="{BB962C8B-B14F-4D97-AF65-F5344CB8AC3E}">
        <p14:creationId xmlns:p14="http://schemas.microsoft.com/office/powerpoint/2010/main" val="3109870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6BF52-28A6-EF29-ABF2-131CE571A173}"/>
              </a:ext>
            </a:extLst>
          </p:cNvPr>
          <p:cNvSpPr>
            <a:spLocks noGrp="1"/>
          </p:cNvSpPr>
          <p:nvPr>
            <p:ph type="title"/>
          </p:nvPr>
        </p:nvSpPr>
        <p:spPr/>
        <p:txBody>
          <a:bodyPr/>
          <a:lstStyle/>
          <a:p>
            <a:r>
              <a:rPr lang="en-US" b="1" i="0" dirty="0">
                <a:solidFill>
                  <a:srgbClr val="273239"/>
                </a:solidFill>
                <a:effectLst/>
                <a:latin typeface="Nunito" pitchFamily="2" charset="0"/>
              </a:rPr>
              <a:t>Benefits of Multithreading</a:t>
            </a:r>
            <a:endParaRPr lang="en-US" dirty="0"/>
          </a:p>
        </p:txBody>
      </p:sp>
      <p:sp>
        <p:nvSpPr>
          <p:cNvPr id="3" name="Content Placeholder 2">
            <a:extLst>
              <a:ext uri="{FF2B5EF4-FFF2-40B4-BE49-F238E27FC236}">
                <a16:creationId xmlns:a16="http://schemas.microsoft.com/office/drawing/2014/main" id="{9132DBE9-D6FA-D1D1-E3A4-FC733C1D98EB}"/>
              </a:ext>
            </a:extLst>
          </p:cNvPr>
          <p:cNvSpPr>
            <a:spLocks noGrp="1"/>
          </p:cNvSpPr>
          <p:nvPr>
            <p:ph idx="1"/>
          </p:nvPr>
        </p:nvSpPr>
        <p:spPr/>
        <p:txBody>
          <a:bodyPr>
            <a:normAutofit fontScale="92500" lnSpcReduction="2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Multithreading can improve the performance and efficiency of a program by utilizing the available </a:t>
            </a:r>
            <a:r>
              <a:rPr lang="en-US" dirty="0">
                <a:solidFill>
                  <a:srgbClr val="273239"/>
                </a:solidFill>
                <a:latin typeface="Nunito" pitchFamily="2" charset="0"/>
              </a:rPr>
              <a:t>CPU </a:t>
            </a:r>
            <a:r>
              <a:rPr lang="en-US" b="0" i="0" dirty="0">
                <a:solidFill>
                  <a:srgbClr val="273239"/>
                </a:solidFill>
                <a:effectLst/>
                <a:latin typeface="Nunito" pitchFamily="2" charset="0"/>
              </a:rPr>
              <a:t>resources more effectively. Executing multiple threads concurrently, it can take advantage of parallelism and reduce overall execution time.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Multithreading can enhance responsiveness in applications that involve user interaction. By separating time-consuming tasks from the main thread, the user interface can remain responsive and not freeze or become unresponsive.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Multithreading can enable better resource utilization. For example, in a server application, multiple threads can handle incoming client requests simultaneously, allowing the server to serve more clients concurrently.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Multithreading can facilitate better code organization and modularity by dividing complex tasks into smaller, manageable units of execution. Each thread can handle a specific part of the task, making the code easier to understand and maintain.</a:t>
            </a:r>
          </a:p>
          <a:p>
            <a:endParaRPr lang="en-US" dirty="0"/>
          </a:p>
        </p:txBody>
      </p:sp>
    </p:spTree>
    <p:extLst>
      <p:ext uri="{BB962C8B-B14F-4D97-AF65-F5344CB8AC3E}">
        <p14:creationId xmlns:p14="http://schemas.microsoft.com/office/powerpoint/2010/main" val="1747609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C2482-9ECA-4D23-8BB4-50049384D43F}"/>
              </a:ext>
            </a:extLst>
          </p:cNvPr>
          <p:cNvSpPr>
            <a:spLocks noGrp="1"/>
          </p:cNvSpPr>
          <p:nvPr>
            <p:ph type="title"/>
          </p:nvPr>
        </p:nvSpPr>
        <p:spPr/>
        <p:txBody>
          <a:bodyPr>
            <a:normAutofit/>
          </a:bodyPr>
          <a:lstStyle/>
          <a:p>
            <a:r>
              <a:rPr lang="en-US" dirty="0"/>
              <a:t>What is the difference between a thread and a process?.</a:t>
            </a:r>
          </a:p>
        </p:txBody>
      </p:sp>
      <p:sp>
        <p:nvSpPr>
          <p:cNvPr id="3" name="Content Placeholder 2">
            <a:extLst>
              <a:ext uri="{FF2B5EF4-FFF2-40B4-BE49-F238E27FC236}">
                <a16:creationId xmlns:a16="http://schemas.microsoft.com/office/drawing/2014/main" id="{58C522A1-22D8-8B7C-E07A-E600750F370D}"/>
              </a:ext>
            </a:extLst>
          </p:cNvPr>
          <p:cNvSpPr>
            <a:spLocks noGrp="1"/>
          </p:cNvSpPr>
          <p:nvPr>
            <p:ph idx="1"/>
          </p:nvPr>
        </p:nvSpPr>
        <p:spPr/>
        <p:txBody>
          <a:bodyPr/>
          <a:lstStyle/>
          <a:p>
            <a:endParaRPr lang="en-US" dirty="0"/>
          </a:p>
          <a:p>
            <a:r>
              <a:rPr lang="en-US" dirty="0"/>
              <a:t>A process is a complete program in execution, while a thread is a smaller part of a process that can run independently.</a:t>
            </a:r>
          </a:p>
        </p:txBody>
      </p:sp>
    </p:spTree>
    <p:extLst>
      <p:ext uri="{BB962C8B-B14F-4D97-AF65-F5344CB8AC3E}">
        <p14:creationId xmlns:p14="http://schemas.microsoft.com/office/powerpoint/2010/main" val="221248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C80C-B20D-8D0D-C125-555513094EB4}"/>
              </a:ext>
            </a:extLst>
          </p:cNvPr>
          <p:cNvSpPr>
            <a:spLocks noGrp="1"/>
          </p:cNvSpPr>
          <p:nvPr>
            <p:ph type="title"/>
          </p:nvPr>
        </p:nvSpPr>
        <p:spPr/>
        <p:txBody>
          <a:bodyPr/>
          <a:lstStyle/>
          <a:p>
            <a:r>
              <a:rPr lang="en-US" b="1" i="0" dirty="0">
                <a:solidFill>
                  <a:srgbClr val="273239"/>
                </a:solidFill>
                <a:effectLst/>
                <a:latin typeface="Source Sans 3"/>
              </a:rPr>
              <a:t>Introduction of Process Synchronization</a:t>
            </a:r>
            <a:endParaRPr lang="en-US" dirty="0"/>
          </a:p>
        </p:txBody>
      </p:sp>
      <p:sp>
        <p:nvSpPr>
          <p:cNvPr id="3" name="Content Placeholder 2">
            <a:extLst>
              <a:ext uri="{FF2B5EF4-FFF2-40B4-BE49-F238E27FC236}">
                <a16:creationId xmlns:a16="http://schemas.microsoft.com/office/drawing/2014/main" id="{FC5474EF-EA5D-C39D-DE5B-2643F83AFFAD}"/>
              </a:ext>
            </a:extLst>
          </p:cNvPr>
          <p:cNvSpPr>
            <a:spLocks noGrp="1"/>
          </p:cNvSpPr>
          <p:nvPr>
            <p:ph idx="1"/>
          </p:nvPr>
        </p:nvSpPr>
        <p:spPr/>
        <p:txBody>
          <a:bodyPr>
            <a:normAutofit fontScale="70000" lnSpcReduction="20000"/>
          </a:bodyPr>
          <a:lstStyle/>
          <a:p>
            <a:pPr algn="just" rtl="0" fontAlgn="base">
              <a:spcAft>
                <a:spcPts val="750"/>
              </a:spcAft>
            </a:pPr>
            <a:r>
              <a:rPr lang="en-US" b="1" i="0" dirty="0">
                <a:solidFill>
                  <a:srgbClr val="273239"/>
                </a:solidFill>
                <a:effectLst/>
                <a:latin typeface="Nunito" pitchFamily="2" charset="0"/>
              </a:rPr>
              <a:t>Process Synchronization</a:t>
            </a:r>
            <a:r>
              <a:rPr lang="en-US" b="0" i="0" dirty="0">
                <a:solidFill>
                  <a:srgbClr val="273239"/>
                </a:solidFill>
                <a:effectLst/>
                <a:latin typeface="Nunito" pitchFamily="2" charset="0"/>
              </a:rPr>
              <a:t> is used in a computer system to ensure that multiple processes or threads can run concurrently without interfering with each other.</a:t>
            </a:r>
          </a:p>
          <a:p>
            <a:pPr algn="just" rtl="0" fontAlgn="base">
              <a:spcAft>
                <a:spcPts val="750"/>
              </a:spcAft>
            </a:pPr>
            <a:r>
              <a:rPr lang="en-US" b="0" i="0" dirty="0">
                <a:solidFill>
                  <a:srgbClr val="273239"/>
                </a:solidFill>
                <a:effectLst/>
                <a:latin typeface="Nunito" pitchFamily="2" charset="0"/>
              </a:rPr>
              <a:t>The main objective of process synchronization is to ensure that multiple processes access shared resources without interfering with each other and to prevent the possibility of inconsistent data due to concurrent access. To achieve this, various synchronization techniques such as semaphores, monitors, and critical sections are used.</a:t>
            </a:r>
          </a:p>
          <a:p>
            <a:pPr algn="just" rtl="0" fontAlgn="base">
              <a:spcAft>
                <a:spcPts val="750"/>
              </a:spcAft>
            </a:pPr>
            <a:r>
              <a:rPr lang="en-US" b="0" i="0" dirty="0">
                <a:solidFill>
                  <a:srgbClr val="273239"/>
                </a:solidFill>
                <a:effectLst/>
                <a:latin typeface="Nunito" pitchFamily="2" charset="0"/>
              </a:rPr>
              <a:t>In a multi-process system, synchronization is necessary to ensure data consistency and integrity, and to avoid the risk of deadlocks and other synchronization problems. Process synchronization is an important aspect of modern operating systems, and it plays a crucial role in ensuring the correct and efficient functioning of multi-process systems.</a:t>
            </a:r>
          </a:p>
          <a:p>
            <a:pPr algn="just" rtl="0" fontAlgn="base">
              <a:spcAft>
                <a:spcPts val="750"/>
              </a:spcAft>
            </a:pPr>
            <a:r>
              <a:rPr lang="en-US" b="0" i="0" dirty="0">
                <a:solidFill>
                  <a:srgbClr val="273239"/>
                </a:solidFill>
                <a:effectLst/>
                <a:latin typeface="Nunito" pitchFamily="2" charset="0"/>
              </a:rPr>
              <a:t>On the basis of synchronization, </a:t>
            </a:r>
            <a:r>
              <a:rPr lang="en-US" dirty="0">
                <a:solidFill>
                  <a:srgbClr val="273239"/>
                </a:solidFill>
                <a:latin typeface="Nunito" pitchFamily="2" charset="0"/>
              </a:rPr>
              <a:t>processes</a:t>
            </a:r>
            <a:r>
              <a:rPr lang="en-US" b="0" i="0" dirty="0">
                <a:solidFill>
                  <a:srgbClr val="273239"/>
                </a:solidFill>
                <a:effectLst/>
                <a:latin typeface="Nunito" pitchFamily="2" charset="0"/>
              </a:rPr>
              <a:t> are categorized as one of the following two types: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Independent Process</a:t>
            </a:r>
            <a:r>
              <a:rPr lang="en-US" b="0" i="0" dirty="0">
                <a:solidFill>
                  <a:srgbClr val="273239"/>
                </a:solidFill>
                <a:effectLst/>
                <a:latin typeface="Nunito" pitchFamily="2" charset="0"/>
              </a:rPr>
              <a:t>: The execution of one process does not affect the execution of other processes.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Cooperative Process</a:t>
            </a:r>
            <a:r>
              <a:rPr lang="en-US" b="0" i="0" dirty="0">
                <a:solidFill>
                  <a:srgbClr val="273239"/>
                </a:solidFill>
                <a:effectLst/>
                <a:latin typeface="Nunito" pitchFamily="2" charset="0"/>
              </a:rPr>
              <a:t>: A process that can affect or be affected by other processes executing in the system.</a:t>
            </a:r>
          </a:p>
          <a:p>
            <a:pPr algn="just" rtl="0" fontAlgn="base">
              <a:spcAft>
                <a:spcPts val="750"/>
              </a:spcAft>
            </a:pPr>
            <a:r>
              <a:rPr lang="en-US" b="0" i="0" dirty="0">
                <a:solidFill>
                  <a:srgbClr val="273239"/>
                </a:solidFill>
                <a:effectLst/>
                <a:latin typeface="Nunito" pitchFamily="2" charset="0"/>
              </a:rPr>
              <a:t>Process synchronization problem arises in the case of Cooperative processes also because resources are shared in Cooperative processes.</a:t>
            </a:r>
          </a:p>
        </p:txBody>
      </p:sp>
    </p:spTree>
    <p:extLst>
      <p:ext uri="{BB962C8B-B14F-4D97-AF65-F5344CB8AC3E}">
        <p14:creationId xmlns:p14="http://schemas.microsoft.com/office/powerpoint/2010/main" val="1628162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32779-B572-F37C-A2CC-ED030F0DCBC7}"/>
              </a:ext>
            </a:extLst>
          </p:cNvPr>
          <p:cNvSpPr>
            <a:spLocks noGrp="1"/>
          </p:cNvSpPr>
          <p:nvPr>
            <p:ph type="title"/>
          </p:nvPr>
        </p:nvSpPr>
        <p:spPr/>
        <p:txBody>
          <a:bodyPr/>
          <a:lstStyle/>
          <a:p>
            <a:r>
              <a:rPr lang="en-US" b="1" i="0" dirty="0">
                <a:solidFill>
                  <a:srgbClr val="273239"/>
                </a:solidFill>
                <a:effectLst/>
                <a:latin typeface="Nunito" pitchFamily="2" charset="0"/>
              </a:rPr>
              <a:t>Process Synchronization</a:t>
            </a:r>
            <a:endParaRPr lang="en-US" dirty="0"/>
          </a:p>
        </p:txBody>
      </p:sp>
      <p:sp>
        <p:nvSpPr>
          <p:cNvPr id="3" name="Content Placeholder 2">
            <a:extLst>
              <a:ext uri="{FF2B5EF4-FFF2-40B4-BE49-F238E27FC236}">
                <a16:creationId xmlns:a16="http://schemas.microsoft.com/office/drawing/2014/main" id="{D1681EA4-CE3F-436D-3350-C7559480EAEF}"/>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Process Synchronization is the coordination of execution of multiple processes in a multi-process system to ensure that they access shared resources in a controlled and predictable manner. It aims to resolve the problem of race conditions and other synchronization issues in a concurrent system.</a:t>
            </a:r>
          </a:p>
          <a:p>
            <a:endParaRPr lang="en-US" dirty="0"/>
          </a:p>
        </p:txBody>
      </p:sp>
    </p:spTree>
    <p:extLst>
      <p:ext uri="{BB962C8B-B14F-4D97-AF65-F5344CB8AC3E}">
        <p14:creationId xmlns:p14="http://schemas.microsoft.com/office/powerpoint/2010/main" val="619734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57572-87C6-BA72-BCF1-B7849D2F141E}"/>
              </a:ext>
            </a:extLst>
          </p:cNvPr>
          <p:cNvSpPr>
            <a:spLocks noGrp="1"/>
          </p:cNvSpPr>
          <p:nvPr>
            <p:ph type="title"/>
          </p:nvPr>
        </p:nvSpPr>
        <p:spPr/>
        <p:txBody>
          <a:bodyPr/>
          <a:lstStyle/>
          <a:p>
            <a:r>
              <a:rPr lang="en-US" b="1" i="0" dirty="0">
                <a:solidFill>
                  <a:srgbClr val="273239"/>
                </a:solidFill>
                <a:effectLst/>
                <a:latin typeface="Nunito" pitchFamily="2" charset="0"/>
              </a:rPr>
              <a:t>Process Synchronization</a:t>
            </a:r>
            <a:endParaRPr lang="en-US" dirty="0"/>
          </a:p>
        </p:txBody>
      </p:sp>
      <p:pic>
        <p:nvPicPr>
          <p:cNvPr id="4098" name="Picture 2" descr="imgk">
            <a:extLst>
              <a:ext uri="{FF2B5EF4-FFF2-40B4-BE49-F238E27FC236}">
                <a16:creationId xmlns:a16="http://schemas.microsoft.com/office/drawing/2014/main" id="{8302DE22-7D5E-9FBF-4449-8DA82853B5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0013" y="1846263"/>
            <a:ext cx="8292299"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975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7EEC-7531-6405-33A3-9EC17EA37F87}"/>
              </a:ext>
            </a:extLst>
          </p:cNvPr>
          <p:cNvSpPr>
            <a:spLocks noGrp="1"/>
          </p:cNvSpPr>
          <p:nvPr>
            <p:ph type="title"/>
          </p:nvPr>
        </p:nvSpPr>
        <p:spPr/>
        <p:txBody>
          <a:bodyPr/>
          <a:lstStyle/>
          <a:p>
            <a:r>
              <a:rPr lang="en-US" b="1" i="0" dirty="0">
                <a:solidFill>
                  <a:srgbClr val="273239"/>
                </a:solidFill>
                <a:effectLst/>
                <a:latin typeface="Nunito" pitchFamily="2" charset="0"/>
              </a:rPr>
              <a:t>Process Synchronization</a:t>
            </a:r>
            <a:endParaRPr lang="en-US" dirty="0"/>
          </a:p>
        </p:txBody>
      </p:sp>
      <p:sp>
        <p:nvSpPr>
          <p:cNvPr id="3" name="Content Placeholder 2">
            <a:extLst>
              <a:ext uri="{FF2B5EF4-FFF2-40B4-BE49-F238E27FC236}">
                <a16:creationId xmlns:a16="http://schemas.microsoft.com/office/drawing/2014/main" id="{B93CE780-2F5C-0E5F-FF42-9EF967191244}"/>
              </a:ext>
            </a:extLst>
          </p:cNvPr>
          <p:cNvSpPr>
            <a:spLocks noGrp="1"/>
          </p:cNvSpPr>
          <p:nvPr>
            <p:ph idx="1"/>
          </p:nvPr>
        </p:nvSpPr>
        <p:spPr/>
        <p:txBody>
          <a:bodyPr>
            <a:normAutofit fontScale="92500" lnSpcReduction="20000"/>
          </a:bodyPr>
          <a:lstStyle/>
          <a:p>
            <a:pPr algn="just" rtl="0" fontAlgn="base">
              <a:spcAft>
                <a:spcPts val="750"/>
              </a:spcAft>
            </a:pPr>
            <a:r>
              <a:rPr lang="en-US" b="0" i="0" dirty="0">
                <a:solidFill>
                  <a:srgbClr val="273239"/>
                </a:solidFill>
                <a:effectLst/>
                <a:latin typeface="Nunito" pitchFamily="2" charset="0"/>
              </a:rPr>
              <a:t>Lack of Synchronization in </a:t>
            </a:r>
            <a:r>
              <a:rPr lang="en-US" dirty="0">
                <a:solidFill>
                  <a:srgbClr val="273239"/>
                </a:solidFill>
                <a:latin typeface="Nunito" pitchFamily="2" charset="0"/>
              </a:rPr>
              <a:t>Inter Process Communication </a:t>
            </a:r>
            <a:r>
              <a:rPr lang="en-US" b="0" i="0" dirty="0">
                <a:solidFill>
                  <a:srgbClr val="273239"/>
                </a:solidFill>
                <a:effectLst/>
                <a:latin typeface="Nunito" pitchFamily="2" charset="0"/>
              </a:rPr>
              <a:t>Environment leads to following problems:</a:t>
            </a:r>
          </a:p>
          <a:p>
            <a:pPr algn="l" fontAlgn="base">
              <a:spcAft>
                <a:spcPts val="1800"/>
              </a:spcAft>
              <a:buFont typeface="+mj-lt"/>
              <a:buAutoNum type="arabicPeriod"/>
            </a:pPr>
            <a:r>
              <a:rPr lang="en-US" b="1" i="0" dirty="0">
                <a:solidFill>
                  <a:srgbClr val="273239"/>
                </a:solidFill>
                <a:effectLst/>
                <a:latin typeface="Nunito" pitchFamily="2" charset="0"/>
              </a:rPr>
              <a:t>Inconsistency: </a:t>
            </a:r>
            <a:r>
              <a:rPr lang="en-US" b="0" i="0" dirty="0">
                <a:solidFill>
                  <a:srgbClr val="273239"/>
                </a:solidFill>
                <a:effectLst/>
                <a:latin typeface="Nunito" pitchFamily="2" charset="0"/>
              </a:rPr>
              <a:t>When two or more processes access shared data at the same time without proper synchronization. This can lead to conflicting changes, where one process’s update is overwritten by another, causing the data to become unreliable and incorrect.</a:t>
            </a:r>
          </a:p>
          <a:p>
            <a:pPr algn="l" fontAlgn="base">
              <a:spcAft>
                <a:spcPts val="1800"/>
              </a:spcAft>
              <a:buFont typeface="+mj-lt"/>
              <a:buAutoNum type="arabicPeriod" startAt="2"/>
            </a:pPr>
            <a:r>
              <a:rPr lang="en-US" b="1" i="0" dirty="0">
                <a:solidFill>
                  <a:srgbClr val="273239"/>
                </a:solidFill>
                <a:effectLst/>
                <a:latin typeface="Nunito" pitchFamily="2" charset="0"/>
              </a:rPr>
              <a:t>Loss of Data: </a:t>
            </a:r>
            <a:r>
              <a:rPr lang="en-US" b="0" i="0" dirty="0">
                <a:solidFill>
                  <a:srgbClr val="273239"/>
                </a:solidFill>
                <a:effectLst/>
                <a:latin typeface="Nunito" pitchFamily="2" charset="0"/>
              </a:rPr>
              <a:t>Loss of data occurs when multiple processes try to write or modify the same shared resource without coordination. If one process overwrites the data before another process finishes, important information can be lost, leading to incomplete or corrupted data.</a:t>
            </a:r>
          </a:p>
          <a:p>
            <a:pPr algn="l" fontAlgn="base">
              <a:spcAft>
                <a:spcPts val="1800"/>
              </a:spcAft>
              <a:buFont typeface="+mj-lt"/>
              <a:buAutoNum type="arabicPeriod" startAt="3"/>
            </a:pPr>
            <a:r>
              <a:rPr lang="en-US" b="1" i="0" dirty="0">
                <a:solidFill>
                  <a:srgbClr val="273239"/>
                </a:solidFill>
                <a:effectLst/>
                <a:latin typeface="Nunito" pitchFamily="2" charset="0"/>
              </a:rPr>
              <a:t>Deadlock: </a:t>
            </a:r>
            <a:r>
              <a:rPr lang="en-US" b="0" i="0" dirty="0">
                <a:solidFill>
                  <a:srgbClr val="273239"/>
                </a:solidFill>
                <a:effectLst/>
                <a:latin typeface="Nunito" pitchFamily="2" charset="0"/>
              </a:rPr>
              <a:t>Lack of Synchronization leads to </a:t>
            </a:r>
            <a:r>
              <a:rPr lang="en-US" dirty="0">
                <a:solidFill>
                  <a:srgbClr val="273239"/>
                </a:solidFill>
                <a:latin typeface="Nunito" pitchFamily="2" charset="0"/>
              </a:rPr>
              <a:t>Deadlock </a:t>
            </a:r>
            <a:r>
              <a:rPr lang="en-US" b="0" i="0" dirty="0">
                <a:solidFill>
                  <a:srgbClr val="273239"/>
                </a:solidFill>
                <a:effectLst/>
                <a:latin typeface="Nunito" pitchFamily="2" charset="0"/>
              </a:rPr>
              <a:t>which means that two or more processes get stuck, each waiting for the other to release a resource. Because none of the processes can continue, the system becomes unresponsive and none of the processes can complete their tasks.</a:t>
            </a:r>
          </a:p>
          <a:p>
            <a:endParaRPr lang="en-US" dirty="0"/>
          </a:p>
        </p:txBody>
      </p:sp>
    </p:spTree>
    <p:extLst>
      <p:ext uri="{BB962C8B-B14F-4D97-AF65-F5344CB8AC3E}">
        <p14:creationId xmlns:p14="http://schemas.microsoft.com/office/powerpoint/2010/main" val="3099891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EBCE-F1B1-F34D-C18F-9E8E8175DE87}"/>
              </a:ext>
            </a:extLst>
          </p:cNvPr>
          <p:cNvSpPr>
            <a:spLocks noGrp="1"/>
          </p:cNvSpPr>
          <p:nvPr>
            <p:ph type="title"/>
          </p:nvPr>
        </p:nvSpPr>
        <p:spPr/>
        <p:txBody>
          <a:bodyPr/>
          <a:lstStyle/>
          <a:p>
            <a:r>
              <a:rPr lang="en-US" b="1" i="0" dirty="0">
                <a:solidFill>
                  <a:srgbClr val="273239"/>
                </a:solidFill>
                <a:effectLst/>
                <a:latin typeface="Nunito" pitchFamily="2" charset="0"/>
              </a:rPr>
              <a:t>Types of Process Synchronization</a:t>
            </a:r>
            <a:endParaRPr lang="en-US" dirty="0"/>
          </a:p>
        </p:txBody>
      </p:sp>
      <p:sp>
        <p:nvSpPr>
          <p:cNvPr id="3" name="Content Placeholder 2">
            <a:extLst>
              <a:ext uri="{FF2B5EF4-FFF2-40B4-BE49-F238E27FC236}">
                <a16:creationId xmlns:a16="http://schemas.microsoft.com/office/drawing/2014/main" id="{21674ADA-0A0C-7EC9-0883-A98E150C5BD7}"/>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0"/>
              </a:rPr>
              <a:t>The two primary type of process Synchronization in an Operating System are:</a:t>
            </a:r>
          </a:p>
          <a:p>
            <a:pPr algn="l" fontAlgn="base">
              <a:spcAft>
                <a:spcPts val="1800"/>
              </a:spcAft>
              <a:buFont typeface="+mj-lt"/>
              <a:buAutoNum type="arabicPeriod"/>
            </a:pPr>
            <a:r>
              <a:rPr lang="en-US" b="1" i="0" dirty="0">
                <a:solidFill>
                  <a:srgbClr val="273239"/>
                </a:solidFill>
                <a:effectLst/>
                <a:latin typeface="Nunito" pitchFamily="2" charset="0"/>
              </a:rPr>
              <a:t>Competitive: </a:t>
            </a:r>
            <a:r>
              <a:rPr lang="en-US" b="0" i="0" dirty="0">
                <a:solidFill>
                  <a:srgbClr val="273239"/>
                </a:solidFill>
                <a:effectLst/>
                <a:latin typeface="Nunito" pitchFamily="2" charset="0"/>
              </a:rPr>
              <a:t>Two or more processes are said to be in Competitive Synchronization if and only if they compete for the accessibility of a shared resource.</a:t>
            </a:r>
            <a:br>
              <a:rPr lang="en-US" b="0" i="0" dirty="0">
                <a:solidFill>
                  <a:srgbClr val="273239"/>
                </a:solidFill>
                <a:effectLst/>
                <a:latin typeface="Nunito" pitchFamily="2" charset="0"/>
              </a:rPr>
            </a:br>
            <a:r>
              <a:rPr lang="en-US" b="1" i="0" dirty="0">
                <a:solidFill>
                  <a:srgbClr val="273239"/>
                </a:solidFill>
                <a:effectLst/>
                <a:latin typeface="Nunito" pitchFamily="2" charset="0"/>
              </a:rPr>
              <a:t>Lack of Synchronization among Competing process </a:t>
            </a:r>
            <a:r>
              <a:rPr lang="en-US" b="0" i="0" dirty="0">
                <a:solidFill>
                  <a:srgbClr val="273239"/>
                </a:solidFill>
                <a:effectLst/>
                <a:latin typeface="Nunito" pitchFamily="2" charset="0"/>
              </a:rPr>
              <a:t>may lead to either Inconsistency or Data loss.</a:t>
            </a:r>
          </a:p>
          <a:p>
            <a:pPr algn="l" fontAlgn="base">
              <a:spcAft>
                <a:spcPts val="1800"/>
              </a:spcAft>
              <a:buFont typeface="+mj-lt"/>
              <a:buAutoNum type="arabicPeriod" startAt="2"/>
            </a:pPr>
            <a:r>
              <a:rPr lang="en-US" b="1" i="0" dirty="0">
                <a:solidFill>
                  <a:srgbClr val="273239"/>
                </a:solidFill>
                <a:effectLst/>
                <a:latin typeface="Nunito" pitchFamily="2" charset="0"/>
              </a:rPr>
              <a:t>Cooperative: </a:t>
            </a:r>
            <a:r>
              <a:rPr lang="en-US" b="0" i="0" dirty="0">
                <a:solidFill>
                  <a:srgbClr val="273239"/>
                </a:solidFill>
                <a:effectLst/>
                <a:latin typeface="Nunito" pitchFamily="2" charset="0"/>
              </a:rPr>
              <a:t>Two or more processes are said to be in Cooperative Synchronization if and only if they get affected by each other i.e. execution of one process affects the other process.</a:t>
            </a:r>
            <a:br>
              <a:rPr lang="en-US" b="0" i="0" dirty="0">
                <a:solidFill>
                  <a:srgbClr val="273239"/>
                </a:solidFill>
                <a:effectLst/>
                <a:latin typeface="Nunito" pitchFamily="2" charset="0"/>
              </a:rPr>
            </a:br>
            <a:r>
              <a:rPr lang="en-US" b="1" i="0" dirty="0">
                <a:solidFill>
                  <a:srgbClr val="273239"/>
                </a:solidFill>
                <a:effectLst/>
                <a:latin typeface="Nunito" pitchFamily="2" charset="0"/>
              </a:rPr>
              <a:t>Lack of Synchronization among Cooperating process </a:t>
            </a:r>
            <a:r>
              <a:rPr lang="en-US" b="0" i="0" dirty="0">
                <a:solidFill>
                  <a:srgbClr val="273239"/>
                </a:solidFill>
                <a:effectLst/>
                <a:latin typeface="Nunito" pitchFamily="2" charset="0"/>
              </a:rPr>
              <a:t>may lead to Deadlock.</a:t>
            </a:r>
          </a:p>
          <a:p>
            <a:endParaRPr lang="en-US" dirty="0"/>
          </a:p>
        </p:txBody>
      </p:sp>
    </p:spTree>
    <p:extLst>
      <p:ext uri="{BB962C8B-B14F-4D97-AF65-F5344CB8AC3E}">
        <p14:creationId xmlns:p14="http://schemas.microsoft.com/office/powerpoint/2010/main" val="2433207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8698E-EB0D-9E02-649E-A7872E2C8124}"/>
              </a:ext>
            </a:extLst>
          </p:cNvPr>
          <p:cNvSpPr>
            <a:spLocks noGrp="1"/>
          </p:cNvSpPr>
          <p:nvPr>
            <p:ph type="title"/>
          </p:nvPr>
        </p:nvSpPr>
        <p:spPr/>
        <p:txBody>
          <a:bodyPr>
            <a:normAutofit/>
          </a:bodyPr>
          <a:lstStyle/>
          <a:p>
            <a:r>
              <a:rPr lang="en-US" b="1" i="0" dirty="0">
                <a:solidFill>
                  <a:srgbClr val="273239"/>
                </a:solidFill>
                <a:effectLst/>
                <a:latin typeface="Nunito" pitchFamily="2" charset="0"/>
              </a:rPr>
              <a:t>Conditions That Require Process Synchronization</a:t>
            </a:r>
            <a:endParaRPr lang="en-US" dirty="0"/>
          </a:p>
        </p:txBody>
      </p:sp>
      <p:sp>
        <p:nvSpPr>
          <p:cNvPr id="3" name="Content Placeholder 2">
            <a:extLst>
              <a:ext uri="{FF2B5EF4-FFF2-40B4-BE49-F238E27FC236}">
                <a16:creationId xmlns:a16="http://schemas.microsoft.com/office/drawing/2014/main" id="{53683D58-E2D5-60D8-4FDE-8478B90D8A99}"/>
              </a:ext>
            </a:extLst>
          </p:cNvPr>
          <p:cNvSpPr>
            <a:spLocks noGrp="1"/>
          </p:cNvSpPr>
          <p:nvPr>
            <p:ph idx="1"/>
          </p:nvPr>
        </p:nvSpPr>
        <p:spPr/>
        <p:txBody>
          <a:bodyPr>
            <a:normAutofit fontScale="92500" lnSpcReduction="10000"/>
          </a:bodyPr>
          <a:lstStyle/>
          <a:p>
            <a:pPr algn="l" fontAlgn="base">
              <a:spcAft>
                <a:spcPts val="1800"/>
              </a:spcAft>
              <a:buFont typeface="+mj-lt"/>
              <a:buAutoNum type="arabicPeriod"/>
            </a:pPr>
            <a:r>
              <a:rPr lang="en-US" b="1" i="0" dirty="0">
                <a:solidFill>
                  <a:srgbClr val="273239"/>
                </a:solidFill>
                <a:effectLst/>
                <a:latin typeface="Nunito" pitchFamily="2" charset="0"/>
              </a:rPr>
              <a:t>Critical Section: </a:t>
            </a:r>
            <a:r>
              <a:rPr lang="en-US" b="0" i="0" dirty="0">
                <a:solidFill>
                  <a:srgbClr val="273239"/>
                </a:solidFill>
                <a:effectLst/>
                <a:latin typeface="Nunito" pitchFamily="2" charset="0"/>
              </a:rPr>
              <a:t>It is that part of the program where shared resources are accessed. Only one process can execute the critical section at a given point of time. If there are no shared resources, then no need of synchronization mechanisms.</a:t>
            </a:r>
          </a:p>
          <a:p>
            <a:pPr algn="l" fontAlgn="base">
              <a:spcAft>
                <a:spcPts val="1800"/>
              </a:spcAft>
              <a:buFont typeface="+mj-lt"/>
              <a:buAutoNum type="arabicPeriod" startAt="2"/>
            </a:pPr>
            <a:r>
              <a:rPr lang="en-US" b="1" i="0" dirty="0">
                <a:solidFill>
                  <a:srgbClr val="273239"/>
                </a:solidFill>
                <a:effectLst/>
                <a:latin typeface="Nunito" pitchFamily="2" charset="0"/>
              </a:rPr>
              <a:t>Race Condition: </a:t>
            </a:r>
            <a:r>
              <a:rPr lang="en-US" b="0" i="0" dirty="0">
                <a:solidFill>
                  <a:srgbClr val="273239"/>
                </a:solidFill>
                <a:effectLst/>
                <a:latin typeface="Nunito" pitchFamily="2" charset="0"/>
              </a:rPr>
              <a:t>It is a situation wherein processes are trying to access the critical section and the final result depends on the order in which they finish their update. Process Synchronization mechanism need to ensure that instructions are being executed in a required order only.</a:t>
            </a:r>
          </a:p>
          <a:p>
            <a:pPr algn="l" fontAlgn="base">
              <a:spcAft>
                <a:spcPts val="1800"/>
              </a:spcAft>
              <a:buFont typeface="+mj-lt"/>
              <a:buAutoNum type="arabicPeriod" startAt="3"/>
            </a:pPr>
            <a:r>
              <a:rPr lang="en-US" b="1" i="0" dirty="0">
                <a:solidFill>
                  <a:srgbClr val="273239"/>
                </a:solidFill>
                <a:effectLst/>
                <a:latin typeface="Nunito" pitchFamily="2" charset="0"/>
              </a:rPr>
              <a:t>Pre-Emption: </a:t>
            </a:r>
            <a:r>
              <a:rPr lang="en-US" b="0" i="0" dirty="0">
                <a:solidFill>
                  <a:srgbClr val="273239"/>
                </a:solidFill>
                <a:effectLst/>
                <a:latin typeface="Nunito" pitchFamily="2" charset="0"/>
              </a:rPr>
              <a:t>Preemption is when the operating system stops a running process to give the CPU to another process. This allows the system to make sure that important tasks get enough CPU time. This is important as mainly issues arise when a process has not finished its job on shared resource and got preempted. The other process might end up reading an inconsistent value if process synchronization is not done.</a:t>
            </a:r>
          </a:p>
          <a:p>
            <a:endParaRPr lang="en-US" dirty="0"/>
          </a:p>
        </p:txBody>
      </p:sp>
    </p:spTree>
    <p:extLst>
      <p:ext uri="{BB962C8B-B14F-4D97-AF65-F5344CB8AC3E}">
        <p14:creationId xmlns:p14="http://schemas.microsoft.com/office/powerpoint/2010/main" val="445970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4C95-7032-47AE-7996-CFF7791C7122}"/>
              </a:ext>
            </a:extLst>
          </p:cNvPr>
          <p:cNvSpPr>
            <a:spLocks noGrp="1"/>
          </p:cNvSpPr>
          <p:nvPr>
            <p:ph type="title"/>
          </p:nvPr>
        </p:nvSpPr>
        <p:spPr/>
        <p:txBody>
          <a:bodyPr/>
          <a:lstStyle/>
          <a:p>
            <a:r>
              <a:rPr lang="en-US" b="1" i="0" dirty="0">
                <a:solidFill>
                  <a:srgbClr val="273239"/>
                </a:solidFill>
                <a:effectLst/>
                <a:latin typeface="Nunito" pitchFamily="2" charset="0"/>
              </a:rPr>
              <a:t>What is Race Condition?</a:t>
            </a:r>
            <a:endParaRPr lang="en-US" dirty="0"/>
          </a:p>
        </p:txBody>
      </p:sp>
      <p:sp>
        <p:nvSpPr>
          <p:cNvPr id="3" name="Content Placeholder 2">
            <a:extLst>
              <a:ext uri="{FF2B5EF4-FFF2-40B4-BE49-F238E27FC236}">
                <a16:creationId xmlns:a16="http://schemas.microsoft.com/office/drawing/2014/main" id="{EE72962F-5A57-2D42-8AFB-7834E03BEC69}"/>
              </a:ext>
            </a:extLst>
          </p:cNvPr>
          <p:cNvSpPr>
            <a:spLocks noGrp="1"/>
          </p:cNvSpPr>
          <p:nvPr>
            <p:ph idx="1"/>
          </p:nvPr>
        </p:nvSpPr>
        <p:spPr/>
        <p:txBody>
          <a:bodyPr>
            <a:normAutofit fontScale="70000" lnSpcReduction="20000"/>
          </a:bodyPr>
          <a:lstStyle/>
          <a:p>
            <a:pPr algn="just" rtl="0" fontAlgn="base">
              <a:spcBef>
                <a:spcPts val="0"/>
              </a:spcBef>
              <a:spcAft>
                <a:spcPts val="750"/>
              </a:spcAft>
            </a:pPr>
            <a:r>
              <a:rPr lang="en-US" b="0" i="0" dirty="0">
                <a:solidFill>
                  <a:srgbClr val="273239"/>
                </a:solidFill>
                <a:effectLst/>
                <a:latin typeface="Nunito" pitchFamily="2" charset="0"/>
              </a:rPr>
              <a:t>A</a:t>
            </a:r>
            <a:r>
              <a:rPr lang="en-US" dirty="0">
                <a:solidFill>
                  <a:srgbClr val="273239"/>
                </a:solidFill>
                <a:latin typeface="Nunito" pitchFamily="2" charset="0"/>
              </a:rPr>
              <a:t> race condition </a:t>
            </a:r>
            <a:r>
              <a:rPr lang="en-US" b="0" i="0" dirty="0">
                <a:solidFill>
                  <a:srgbClr val="273239"/>
                </a:solidFill>
                <a:effectLst/>
                <a:latin typeface="Nunito" pitchFamily="2" charset="0"/>
              </a:rPr>
              <a:t>is a situation that may occur inside a critical section. This happens when the result of multiple process/thread execution in the critical section differs according to the order in which the threads execute. Race conditions in critical sections can be avoided if the critical section is treated as an atomic instruction. Also, proper thread synchronization using locks or atomic variables can prevent race conditions.</a:t>
            </a:r>
          </a:p>
          <a:p>
            <a:pPr algn="l" rtl="0" fontAlgn="base">
              <a:spcBef>
                <a:spcPts val="0"/>
              </a:spcBef>
              <a:spcAft>
                <a:spcPts val="750"/>
              </a:spcAft>
            </a:pPr>
            <a:r>
              <a:rPr lang="en-US" b="0" i="0" dirty="0">
                <a:solidFill>
                  <a:srgbClr val="273239"/>
                </a:solidFill>
                <a:effectLst/>
                <a:latin typeface="Nunito" pitchFamily="2" charset="0"/>
              </a:rPr>
              <a:t>Let us consider the following example.</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There is a shared variable balance with value 100.</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There are two processes deposit(10) and withdraw(10). The deposit process does balance = balance + 10 and withdraw process does balance = balance – 10.</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Suppose these processes run in an interleaved manner. The deposit() fetches the balance as 100, then gets preempted.</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Now withdraw() get scheduled and makes balance 90.</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Finally, deposit is rescheduled and makes the value as 110. This value is not correct as the balance after both operations should be 100 only</a:t>
            </a:r>
          </a:p>
          <a:p>
            <a:pPr algn="l" rtl="0" fontAlgn="base">
              <a:spcBef>
                <a:spcPts val="0"/>
              </a:spcBef>
              <a:spcAft>
                <a:spcPts val="750"/>
              </a:spcAft>
            </a:pPr>
            <a:r>
              <a:rPr lang="en-US" b="0" i="0" dirty="0">
                <a:solidFill>
                  <a:srgbClr val="273239"/>
                </a:solidFill>
                <a:effectLst/>
                <a:latin typeface="Nunito" pitchFamily="2" charset="0"/>
              </a:rPr>
              <a:t>We can not notice that the different segments of two processes running in different order would give different values of balance.</a:t>
            </a:r>
          </a:p>
          <a:p>
            <a:pPr>
              <a:spcBef>
                <a:spcPts val="0"/>
              </a:spcBef>
            </a:pPr>
            <a:endParaRPr lang="en-US" dirty="0"/>
          </a:p>
        </p:txBody>
      </p:sp>
    </p:spTree>
    <p:extLst>
      <p:ext uri="{BB962C8B-B14F-4D97-AF65-F5344CB8AC3E}">
        <p14:creationId xmlns:p14="http://schemas.microsoft.com/office/powerpoint/2010/main" val="3772687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0AA3-2660-2501-BF5D-C39F3B779CAC}"/>
              </a:ext>
            </a:extLst>
          </p:cNvPr>
          <p:cNvSpPr>
            <a:spLocks noGrp="1"/>
          </p:cNvSpPr>
          <p:nvPr>
            <p:ph type="title"/>
          </p:nvPr>
        </p:nvSpPr>
        <p:spPr/>
        <p:txBody>
          <a:bodyPr/>
          <a:lstStyle/>
          <a:p>
            <a:r>
              <a:rPr lang="en-US" b="1" i="0" dirty="0">
                <a:solidFill>
                  <a:srgbClr val="273239"/>
                </a:solidFill>
                <a:effectLst/>
                <a:latin typeface="Nunito" pitchFamily="2" charset="0"/>
              </a:rPr>
              <a:t>Critical Section Problem</a:t>
            </a:r>
            <a:endParaRPr lang="en-US" dirty="0"/>
          </a:p>
        </p:txBody>
      </p:sp>
      <p:sp>
        <p:nvSpPr>
          <p:cNvPr id="3" name="Content Placeholder 2">
            <a:extLst>
              <a:ext uri="{FF2B5EF4-FFF2-40B4-BE49-F238E27FC236}">
                <a16:creationId xmlns:a16="http://schemas.microsoft.com/office/drawing/2014/main" id="{15E0C50C-7D31-D851-5FA2-7A1BF29131DE}"/>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A </a:t>
            </a:r>
            <a:r>
              <a:rPr lang="en-US" dirty="0">
                <a:solidFill>
                  <a:srgbClr val="273239"/>
                </a:solidFill>
                <a:latin typeface="Nunito" pitchFamily="2" charset="0"/>
              </a:rPr>
              <a:t>critical section </a:t>
            </a:r>
            <a:r>
              <a:rPr lang="en-US" b="0" i="0" dirty="0">
                <a:solidFill>
                  <a:srgbClr val="273239"/>
                </a:solidFill>
                <a:effectLst/>
                <a:latin typeface="Nunito" pitchFamily="2" charset="0"/>
              </a:rPr>
              <a:t>is a code segment that can be accessed by only one process at a time. The critical section contains shared variables that need to be synchronized to maintain the consistency of data variables. So, the critical section problem means designing a way for cooperative processes to access shared resources without creating data inconsistencies.</a:t>
            </a:r>
          </a:p>
          <a:p>
            <a:pPr algn="l" rtl="0" fontAlgn="base">
              <a:spcAft>
                <a:spcPts val="750"/>
              </a:spcAft>
            </a:pPr>
            <a:r>
              <a:rPr lang="en-US" b="0" i="0" dirty="0">
                <a:solidFill>
                  <a:srgbClr val="273239"/>
                </a:solidFill>
                <a:effectLst/>
                <a:latin typeface="Nunito" pitchFamily="2" charset="0"/>
              </a:rPr>
              <a:t>In the above example, the operations that involve balance variable should be put in critical sections of both deposit and withdraw.</a:t>
            </a:r>
          </a:p>
          <a:p>
            <a:endParaRPr lang="en-US" dirty="0"/>
          </a:p>
        </p:txBody>
      </p:sp>
    </p:spTree>
    <p:extLst>
      <p:ext uri="{BB962C8B-B14F-4D97-AF65-F5344CB8AC3E}">
        <p14:creationId xmlns:p14="http://schemas.microsoft.com/office/powerpoint/2010/main" val="1256681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42648-71BD-51E6-06D1-7BEDAEC7027B}"/>
              </a:ext>
            </a:extLst>
          </p:cNvPr>
          <p:cNvSpPr>
            <a:spLocks noGrp="1"/>
          </p:cNvSpPr>
          <p:nvPr>
            <p:ph type="title"/>
          </p:nvPr>
        </p:nvSpPr>
        <p:spPr/>
        <p:txBody>
          <a:bodyPr/>
          <a:lstStyle/>
          <a:p>
            <a:r>
              <a:rPr lang="en-US" b="1" i="0" dirty="0">
                <a:solidFill>
                  <a:srgbClr val="273239"/>
                </a:solidFill>
                <a:effectLst/>
                <a:latin typeface="Nunito" pitchFamily="2" charset="0"/>
              </a:rPr>
              <a:t>Critical Section Problem</a:t>
            </a:r>
            <a:endParaRPr lang="en-US" dirty="0"/>
          </a:p>
        </p:txBody>
      </p:sp>
      <p:pic>
        <p:nvPicPr>
          <p:cNvPr id="5122" name="Picture 2" descr="critical section problem">
            <a:extLst>
              <a:ext uri="{FF2B5EF4-FFF2-40B4-BE49-F238E27FC236}">
                <a16:creationId xmlns:a16="http://schemas.microsoft.com/office/drawing/2014/main" id="{3FD83FDD-E711-D107-B6AC-B515A2CB2C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65674" y="2223571"/>
            <a:ext cx="2920978" cy="3268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325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022F9-C24D-DC4D-4B3D-33B313212449}"/>
              </a:ext>
            </a:extLst>
          </p:cNvPr>
          <p:cNvSpPr>
            <a:spLocks noGrp="1"/>
          </p:cNvSpPr>
          <p:nvPr>
            <p:ph type="title"/>
          </p:nvPr>
        </p:nvSpPr>
        <p:spPr/>
        <p:txBody>
          <a:bodyPr/>
          <a:lstStyle/>
          <a:p>
            <a:r>
              <a:rPr lang="en-US" b="1" i="0" dirty="0">
                <a:solidFill>
                  <a:srgbClr val="273239"/>
                </a:solidFill>
                <a:effectLst/>
                <a:latin typeface="Nunito" pitchFamily="2" charset="0"/>
              </a:rPr>
              <a:t>Classical IPC Problems</a:t>
            </a:r>
            <a:endParaRPr lang="en-US" dirty="0"/>
          </a:p>
        </p:txBody>
      </p:sp>
      <p:sp>
        <p:nvSpPr>
          <p:cNvPr id="3" name="Content Placeholder 2">
            <a:extLst>
              <a:ext uri="{FF2B5EF4-FFF2-40B4-BE49-F238E27FC236}">
                <a16:creationId xmlns:a16="http://schemas.microsoft.com/office/drawing/2014/main" id="{82E544E6-24BB-40BD-6E47-AA163BC5AE77}"/>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0"/>
              </a:rPr>
              <a:t>Various classical Inter-Process Communication (IPC) problems include: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Producer Consumer Problem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Readers-Writers Problem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Dining Philosophers Problem</a:t>
            </a:r>
          </a:p>
        </p:txBody>
      </p:sp>
    </p:spTree>
    <p:extLst>
      <p:ext uri="{BB962C8B-B14F-4D97-AF65-F5344CB8AC3E}">
        <p14:creationId xmlns:p14="http://schemas.microsoft.com/office/powerpoint/2010/main" val="2735661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ABDBC-6512-E1C0-EA83-9E5B544279E6}"/>
              </a:ext>
            </a:extLst>
          </p:cNvPr>
          <p:cNvSpPr>
            <a:spLocks noGrp="1"/>
          </p:cNvSpPr>
          <p:nvPr>
            <p:ph type="title"/>
          </p:nvPr>
        </p:nvSpPr>
        <p:spPr/>
        <p:txBody>
          <a:bodyPr/>
          <a:lstStyle/>
          <a:p>
            <a:r>
              <a:rPr lang="en-US" b="1" i="0" dirty="0">
                <a:solidFill>
                  <a:srgbClr val="273239"/>
                </a:solidFill>
                <a:effectLst/>
                <a:latin typeface="Nunito" pitchFamily="2" charset="0"/>
              </a:rPr>
              <a:t>Producer Consumer Problem</a:t>
            </a:r>
            <a:endParaRPr lang="en-US" dirty="0"/>
          </a:p>
        </p:txBody>
      </p:sp>
      <p:sp>
        <p:nvSpPr>
          <p:cNvPr id="3" name="Content Placeholder 2">
            <a:extLst>
              <a:ext uri="{FF2B5EF4-FFF2-40B4-BE49-F238E27FC236}">
                <a16:creationId xmlns:a16="http://schemas.microsoft.com/office/drawing/2014/main" id="{1922624C-B239-2484-279E-605B666B5637}"/>
              </a:ext>
            </a:extLst>
          </p:cNvPr>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Nunito" pitchFamily="2" charset="0"/>
              </a:rPr>
              <a:t>The Producer-Consumer Problem is a classic example of process synchronization. It describes a situation where two types of processes producers and consumers</a:t>
            </a:r>
            <a:r>
              <a:rPr lang="en-US" b="1" i="0" dirty="0">
                <a:solidFill>
                  <a:srgbClr val="273239"/>
                </a:solidFill>
                <a:effectLst/>
                <a:latin typeface="Nunito" pitchFamily="2" charset="0"/>
              </a:rPr>
              <a:t> </a:t>
            </a:r>
            <a:r>
              <a:rPr lang="en-US" b="0" i="0" dirty="0">
                <a:solidFill>
                  <a:srgbClr val="273239"/>
                </a:solidFill>
                <a:effectLst/>
                <a:latin typeface="Nunito" pitchFamily="2" charset="0"/>
              </a:rPr>
              <a:t>share a common, limited-size buffer or storage.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Producer</a:t>
            </a:r>
            <a:r>
              <a:rPr lang="en-US" b="0" i="0" dirty="0">
                <a:solidFill>
                  <a:srgbClr val="273239"/>
                </a:solidFill>
                <a:effectLst/>
                <a:latin typeface="Nunito" pitchFamily="2" charset="0"/>
              </a:rPr>
              <a:t>: A producer creates or generates data and puts it into the shared buffer. It continues to produce data as long as there is space in the buffer.</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Consumer</a:t>
            </a:r>
            <a:r>
              <a:rPr lang="en-US" b="0" i="0" dirty="0">
                <a:solidFill>
                  <a:srgbClr val="273239"/>
                </a:solidFill>
                <a:effectLst/>
                <a:latin typeface="Nunito" pitchFamily="2" charset="0"/>
              </a:rPr>
              <a:t>: A consumer takes data from the buffer and uses it. It continues to consume data as long as there is data available in the buffer.</a:t>
            </a:r>
          </a:p>
          <a:p>
            <a:pPr algn="just" rtl="0" fontAlgn="base">
              <a:spcAft>
                <a:spcPts val="750"/>
              </a:spcAft>
            </a:pPr>
            <a:r>
              <a:rPr lang="en-US" b="0" i="0" dirty="0">
                <a:solidFill>
                  <a:srgbClr val="273239"/>
                </a:solidFill>
                <a:effectLst/>
                <a:latin typeface="Nunito" pitchFamily="2" charset="0"/>
              </a:rPr>
              <a:t>The challenge arises because both the producer and the consumer need to access the same buffer at the same time, and if they do not properly synchronize their actions, issues can occur.</a:t>
            </a:r>
          </a:p>
        </p:txBody>
      </p:sp>
    </p:spTree>
    <p:extLst>
      <p:ext uri="{BB962C8B-B14F-4D97-AF65-F5344CB8AC3E}">
        <p14:creationId xmlns:p14="http://schemas.microsoft.com/office/powerpoint/2010/main" val="3282400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6015-B073-C99F-2FCE-FC6797FB9D43}"/>
              </a:ext>
            </a:extLst>
          </p:cNvPr>
          <p:cNvSpPr>
            <a:spLocks noGrp="1"/>
          </p:cNvSpPr>
          <p:nvPr>
            <p:ph type="title"/>
          </p:nvPr>
        </p:nvSpPr>
        <p:spPr/>
        <p:txBody>
          <a:bodyPr/>
          <a:lstStyle/>
          <a:p>
            <a:r>
              <a:rPr lang="en-US" b="1" i="0" dirty="0">
                <a:solidFill>
                  <a:srgbClr val="273239"/>
                </a:solidFill>
                <a:effectLst/>
                <a:latin typeface="Nunito" pitchFamily="2" charset="0"/>
              </a:rPr>
              <a:t>Producer Consumer Problem</a:t>
            </a:r>
            <a:endParaRPr lang="en-US" dirty="0"/>
          </a:p>
        </p:txBody>
      </p:sp>
      <p:sp>
        <p:nvSpPr>
          <p:cNvPr id="3" name="Content Placeholder 2">
            <a:extLst>
              <a:ext uri="{FF2B5EF4-FFF2-40B4-BE49-F238E27FC236}">
                <a16:creationId xmlns:a16="http://schemas.microsoft.com/office/drawing/2014/main" id="{1407FF40-57CD-5F75-5BBA-31C5B45E67C4}"/>
              </a:ext>
            </a:extLst>
          </p:cNvPr>
          <p:cNvSpPr>
            <a:spLocks noGrp="1"/>
          </p:cNvSpPr>
          <p:nvPr>
            <p:ph idx="1"/>
          </p:nvPr>
        </p:nvSpPr>
        <p:spPr/>
        <p:txBody>
          <a:bodyPr/>
          <a:lstStyle/>
          <a:p>
            <a:pPr algn="l" fontAlgn="base">
              <a:spcAft>
                <a:spcPts val="1800"/>
              </a:spcAft>
              <a:buFont typeface="+mj-lt"/>
              <a:buAutoNum type="arabicPeriod"/>
            </a:pPr>
            <a:r>
              <a:rPr lang="en-US" b="1" i="0" dirty="0">
                <a:solidFill>
                  <a:srgbClr val="273239"/>
                </a:solidFill>
                <a:effectLst/>
                <a:latin typeface="Nunito" pitchFamily="2" charset="0"/>
              </a:rPr>
              <a:t>Buffer Overflow</a:t>
            </a:r>
            <a:r>
              <a:rPr lang="en-US" b="0" i="0" dirty="0">
                <a:solidFill>
                  <a:srgbClr val="273239"/>
                </a:solidFill>
                <a:effectLst/>
                <a:latin typeface="Nunito" pitchFamily="2" charset="0"/>
              </a:rPr>
              <a:t>: If the producer tries to add data when the buffer is full, there will be no space for new data, causing the producer to be blocked.</a:t>
            </a:r>
          </a:p>
          <a:p>
            <a:pPr algn="l" fontAlgn="base">
              <a:spcAft>
                <a:spcPts val="1800"/>
              </a:spcAft>
              <a:buFont typeface="+mj-lt"/>
              <a:buAutoNum type="arabicPeriod" startAt="2"/>
            </a:pPr>
            <a:r>
              <a:rPr lang="en-US" b="1" i="0" dirty="0">
                <a:solidFill>
                  <a:srgbClr val="273239"/>
                </a:solidFill>
                <a:effectLst/>
                <a:latin typeface="Nunito" pitchFamily="2" charset="0"/>
              </a:rPr>
              <a:t>Buffer Underflow</a:t>
            </a:r>
            <a:r>
              <a:rPr lang="en-US" b="0" i="0" dirty="0">
                <a:solidFill>
                  <a:srgbClr val="273239"/>
                </a:solidFill>
                <a:effectLst/>
                <a:latin typeface="Nunito" pitchFamily="2" charset="0"/>
              </a:rPr>
              <a:t>: If the consumer tries to consume data when the buffer is empty, it has nothing to consume, causing the consumer to be blocked.</a:t>
            </a:r>
          </a:p>
          <a:p>
            <a:endParaRPr lang="en-US" dirty="0"/>
          </a:p>
        </p:txBody>
      </p:sp>
    </p:spTree>
    <p:extLst>
      <p:ext uri="{BB962C8B-B14F-4D97-AF65-F5344CB8AC3E}">
        <p14:creationId xmlns:p14="http://schemas.microsoft.com/office/powerpoint/2010/main" val="3711103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4FAA4-E0D5-5052-969D-A8B97E1AF5C7}"/>
              </a:ext>
            </a:extLst>
          </p:cNvPr>
          <p:cNvSpPr>
            <a:spLocks noGrp="1"/>
          </p:cNvSpPr>
          <p:nvPr>
            <p:ph type="title"/>
          </p:nvPr>
        </p:nvSpPr>
        <p:spPr/>
        <p:txBody>
          <a:bodyPr/>
          <a:lstStyle/>
          <a:p>
            <a:r>
              <a:rPr lang="en-US" b="1" i="0" dirty="0">
                <a:solidFill>
                  <a:srgbClr val="273239"/>
                </a:solidFill>
                <a:effectLst/>
                <a:latin typeface="Nunito" pitchFamily="2" charset="0"/>
              </a:rPr>
              <a:t>Readers-Writers Problem</a:t>
            </a:r>
            <a:endParaRPr lang="en-US" dirty="0"/>
          </a:p>
        </p:txBody>
      </p:sp>
      <p:sp>
        <p:nvSpPr>
          <p:cNvPr id="3" name="Content Placeholder 2">
            <a:extLst>
              <a:ext uri="{FF2B5EF4-FFF2-40B4-BE49-F238E27FC236}">
                <a16:creationId xmlns:a16="http://schemas.microsoft.com/office/drawing/2014/main" id="{2D103B9E-815B-1355-B171-D816E7EAFA20}"/>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 Readers-Writers Problem</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is a classic synchronization problem where multiple processes are involved in reading and writing data from a shared resource. This problem typically involves two types of processes: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Readers</a:t>
            </a:r>
            <a:r>
              <a:rPr lang="en-US" b="0" i="0" dirty="0">
                <a:solidFill>
                  <a:srgbClr val="273239"/>
                </a:solidFill>
                <a:effectLst/>
                <a:latin typeface="Nunito" pitchFamily="2" charset="0"/>
              </a:rPr>
              <a:t>: These processes only read data from the shared resource and do not modify it.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Writers</a:t>
            </a:r>
            <a:r>
              <a:rPr lang="en-US" b="0" i="0" dirty="0">
                <a:solidFill>
                  <a:srgbClr val="273239"/>
                </a:solidFill>
                <a:effectLst/>
                <a:latin typeface="Nunito" pitchFamily="2" charset="0"/>
              </a:rPr>
              <a:t>: These processes modify or write data to the shared resource.</a:t>
            </a:r>
          </a:p>
          <a:p>
            <a:endParaRPr lang="en-US" dirty="0"/>
          </a:p>
        </p:txBody>
      </p:sp>
    </p:spTree>
    <p:extLst>
      <p:ext uri="{BB962C8B-B14F-4D97-AF65-F5344CB8AC3E}">
        <p14:creationId xmlns:p14="http://schemas.microsoft.com/office/powerpoint/2010/main" val="1482126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8427D-C31F-B88F-303C-422D68B2F364}"/>
              </a:ext>
            </a:extLst>
          </p:cNvPr>
          <p:cNvSpPr>
            <a:spLocks noGrp="1"/>
          </p:cNvSpPr>
          <p:nvPr>
            <p:ph type="title"/>
          </p:nvPr>
        </p:nvSpPr>
        <p:spPr/>
        <p:txBody>
          <a:bodyPr/>
          <a:lstStyle/>
          <a:p>
            <a:r>
              <a:rPr lang="en-US" b="1" i="0">
                <a:solidFill>
                  <a:srgbClr val="273239"/>
                </a:solidFill>
                <a:effectLst/>
                <a:latin typeface="Nunito" pitchFamily="2" charset="0"/>
              </a:rPr>
              <a:t>Readers-Writers Problem</a:t>
            </a:r>
            <a:endParaRPr lang="en-US"/>
          </a:p>
        </p:txBody>
      </p:sp>
      <p:sp>
        <p:nvSpPr>
          <p:cNvPr id="3" name="Content Placeholder 2">
            <a:extLst>
              <a:ext uri="{FF2B5EF4-FFF2-40B4-BE49-F238E27FC236}">
                <a16:creationId xmlns:a16="http://schemas.microsoft.com/office/drawing/2014/main" id="{A982D2E6-7073-CE55-3980-098F876974AF}"/>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 challenge in the Reader-Writer problem is to allow multiple readers to access the shared data simultaneously without causing issues. However, only </a:t>
            </a:r>
            <a:r>
              <a:rPr lang="en-US" b="1" i="0" dirty="0">
                <a:solidFill>
                  <a:srgbClr val="273239"/>
                </a:solidFill>
                <a:effectLst/>
                <a:latin typeface="Nunito" pitchFamily="2" charset="0"/>
              </a:rPr>
              <a:t>one writer</a:t>
            </a:r>
            <a:r>
              <a:rPr lang="en-US" b="0" i="0" dirty="0">
                <a:solidFill>
                  <a:srgbClr val="273239"/>
                </a:solidFill>
                <a:effectLst/>
                <a:latin typeface="Nunito" pitchFamily="2" charset="0"/>
              </a:rPr>
              <a:t> should be allowed to write at a time, and no reader should be allowed to read while a writer is writing. This ensures the integrity and consistency of the data.</a:t>
            </a:r>
          </a:p>
          <a:p>
            <a:endParaRPr lang="en-US" dirty="0"/>
          </a:p>
        </p:txBody>
      </p:sp>
    </p:spTree>
    <p:extLst>
      <p:ext uri="{BB962C8B-B14F-4D97-AF65-F5344CB8AC3E}">
        <p14:creationId xmlns:p14="http://schemas.microsoft.com/office/powerpoint/2010/main" val="260497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AE66F-01FA-D7FC-E78C-82577787CD59}"/>
              </a:ext>
            </a:extLst>
          </p:cNvPr>
          <p:cNvSpPr>
            <a:spLocks noGrp="1"/>
          </p:cNvSpPr>
          <p:nvPr>
            <p:ph type="title"/>
          </p:nvPr>
        </p:nvSpPr>
        <p:spPr/>
        <p:txBody>
          <a:bodyPr/>
          <a:lstStyle/>
          <a:p>
            <a:r>
              <a:rPr lang="en-US" b="1" i="0" dirty="0">
                <a:solidFill>
                  <a:srgbClr val="273239"/>
                </a:solidFill>
                <a:effectLst/>
                <a:latin typeface="Nunito" pitchFamily="2" charset="0"/>
              </a:rPr>
              <a:t>Dining Philosophers Problem</a:t>
            </a:r>
            <a:endParaRPr lang="en-US" dirty="0"/>
          </a:p>
        </p:txBody>
      </p:sp>
      <p:sp>
        <p:nvSpPr>
          <p:cNvPr id="3" name="Content Placeholder 2">
            <a:extLst>
              <a:ext uri="{FF2B5EF4-FFF2-40B4-BE49-F238E27FC236}">
                <a16:creationId xmlns:a16="http://schemas.microsoft.com/office/drawing/2014/main" id="{9728CA51-143C-876B-F638-9E1DC93456B2}"/>
              </a:ext>
            </a:extLst>
          </p:cNvPr>
          <p:cNvSpPr>
            <a:spLocks noGrp="1"/>
          </p:cNvSpPr>
          <p:nvPr>
            <p:ph idx="1"/>
          </p:nvPr>
        </p:nvSpPr>
        <p:spPr/>
        <p:txBody>
          <a:bodyPr>
            <a:normAutofit fontScale="85000" lnSpcReduction="20000"/>
          </a:bodyPr>
          <a:lstStyle/>
          <a:p>
            <a:pPr algn="just" rtl="0" fontAlgn="base">
              <a:lnSpc>
                <a:spcPct val="120000"/>
              </a:lnSpc>
              <a:spcBef>
                <a:spcPts val="0"/>
              </a:spcBef>
              <a:spcAft>
                <a:spcPts val="0"/>
              </a:spcAft>
            </a:pPr>
            <a:r>
              <a:rPr lang="en-US" b="0" i="0" dirty="0">
                <a:solidFill>
                  <a:srgbClr val="273239"/>
                </a:solidFill>
                <a:effectLst/>
                <a:latin typeface="Nunito" pitchFamily="2" charset="0"/>
              </a:rPr>
              <a:t>The </a:t>
            </a:r>
            <a:r>
              <a:rPr lang="en-US" b="1" dirty="0">
                <a:solidFill>
                  <a:srgbClr val="273239"/>
                </a:solidFill>
                <a:latin typeface="Nunito" pitchFamily="2" charset="0"/>
              </a:rPr>
              <a:t>Dining Philosophers Problem</a:t>
            </a:r>
            <a:r>
              <a:rPr lang="en-US" b="0" i="0" dirty="0">
                <a:solidFill>
                  <a:srgbClr val="273239"/>
                </a:solidFill>
                <a:effectLst/>
                <a:latin typeface="Nunito" pitchFamily="2" charset="0"/>
              </a:rPr>
              <a:t> is a well-known example that shows the difficulties of sharing resources and preventing deadlock when multiple processes are involved. The problem involves a set of philosophers sitting around a dining table. Each philosopher thinks deeply, but when they are hungry, they need to eat. However, to eat, they must pick up two forks from the table, one from the left and one from the right.</a:t>
            </a:r>
          </a:p>
          <a:p>
            <a:pPr algn="l" fontAlgn="base">
              <a:lnSpc>
                <a:spcPct val="120000"/>
              </a:lnSpc>
              <a:spcBef>
                <a:spcPts val="0"/>
              </a:spcBef>
              <a:spcAft>
                <a:spcPts val="0"/>
              </a:spcAft>
            </a:pPr>
            <a:r>
              <a:rPr lang="en-US" b="1" i="0" dirty="0">
                <a:solidFill>
                  <a:srgbClr val="273239"/>
                </a:solidFill>
                <a:effectLst/>
                <a:latin typeface="Nunito" pitchFamily="2" charset="0"/>
              </a:rPr>
              <a:t>Problem Setup:</a:t>
            </a:r>
          </a:p>
          <a:p>
            <a:pPr algn="l" fontAlgn="base">
              <a:lnSpc>
                <a:spcPct val="120000"/>
              </a:lnSpc>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There are </a:t>
            </a:r>
            <a:r>
              <a:rPr lang="en-US" b="1" i="0" dirty="0">
                <a:solidFill>
                  <a:srgbClr val="273239"/>
                </a:solidFill>
                <a:effectLst/>
                <a:latin typeface="Nunito" pitchFamily="2" charset="0"/>
              </a:rPr>
              <a:t>five philosophers</a:t>
            </a:r>
            <a:r>
              <a:rPr lang="en-US" b="0" i="0" dirty="0">
                <a:solidFill>
                  <a:srgbClr val="273239"/>
                </a:solidFill>
                <a:effectLst/>
                <a:latin typeface="Nunito" pitchFamily="2" charset="0"/>
              </a:rPr>
              <a:t> sitting around a circular table.</a:t>
            </a:r>
          </a:p>
          <a:p>
            <a:pPr algn="l" fontAlgn="base">
              <a:lnSpc>
                <a:spcPct val="120000"/>
              </a:lnSpc>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Each philosopher has a plate of food in front of them and a fork to their left and right.</a:t>
            </a:r>
          </a:p>
          <a:p>
            <a:pPr algn="l" fontAlgn="base">
              <a:lnSpc>
                <a:spcPct val="120000"/>
              </a:lnSpc>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A philosopher needs both forks to eat. If they pick up a fork, they hold it until they finish eating.</a:t>
            </a:r>
          </a:p>
          <a:p>
            <a:pPr algn="l" fontAlgn="base">
              <a:lnSpc>
                <a:spcPct val="120000"/>
              </a:lnSpc>
              <a:spcBef>
                <a:spcPts val="0"/>
              </a:spcBef>
              <a:spcAft>
                <a:spcPts val="0"/>
              </a:spcAft>
              <a:buFont typeface="Arial" panose="020B0604020202020204" pitchFamily="34" charset="0"/>
              <a:buChar char="•"/>
            </a:pPr>
            <a:r>
              <a:rPr lang="en-US" b="0" i="0" dirty="0">
                <a:solidFill>
                  <a:srgbClr val="273239"/>
                </a:solidFill>
                <a:effectLst/>
                <a:latin typeface="Nunito" pitchFamily="2" charset="0"/>
              </a:rPr>
              <a:t>After eating, they put down both forks and start thinking again.</a:t>
            </a:r>
          </a:p>
          <a:p>
            <a:pPr algn="just" rtl="0" fontAlgn="base">
              <a:lnSpc>
                <a:spcPct val="120000"/>
              </a:lnSpc>
              <a:spcBef>
                <a:spcPts val="0"/>
              </a:spcBef>
              <a:spcAft>
                <a:spcPts val="0"/>
              </a:spcAft>
            </a:pPr>
            <a:r>
              <a:rPr lang="en-US" b="0" i="0" dirty="0">
                <a:solidFill>
                  <a:srgbClr val="273239"/>
                </a:solidFill>
                <a:effectLst/>
                <a:latin typeface="Nunito" pitchFamily="2" charset="0"/>
              </a:rPr>
              <a:t>The problem arises when multiple philosophers try to pick up forks at the same time, which can lead to a situation where each philosopher holds one fork but cannot get the second fork, leading to a </a:t>
            </a:r>
            <a:r>
              <a:rPr lang="en-US" b="1" i="0" dirty="0">
                <a:solidFill>
                  <a:srgbClr val="273239"/>
                </a:solidFill>
                <a:effectLst/>
                <a:latin typeface="Nunito" pitchFamily="2" charset="0"/>
              </a:rPr>
              <a:t>deadlock</a:t>
            </a:r>
            <a:r>
              <a:rPr lang="en-US" b="0" i="0" dirty="0">
                <a:solidFill>
                  <a:srgbClr val="273239"/>
                </a:solidFill>
                <a:effectLst/>
                <a:latin typeface="Nunito" pitchFamily="2" charset="0"/>
              </a:rPr>
              <a:t>. Additionally, there’s a risk of </a:t>
            </a:r>
            <a:r>
              <a:rPr lang="en-US" b="1" i="0" dirty="0">
                <a:solidFill>
                  <a:srgbClr val="273239"/>
                </a:solidFill>
                <a:effectLst/>
                <a:latin typeface="Nunito" pitchFamily="2" charset="0"/>
              </a:rPr>
              <a:t>starvation</a:t>
            </a:r>
            <a:r>
              <a:rPr lang="en-US" b="0" i="0" dirty="0">
                <a:solidFill>
                  <a:srgbClr val="273239"/>
                </a:solidFill>
                <a:effectLst/>
                <a:latin typeface="Nunito" pitchFamily="2" charset="0"/>
              </a:rPr>
              <a:t> if some philosophers are continually denied the opportunity to eat.</a:t>
            </a:r>
          </a:p>
          <a:p>
            <a:pPr>
              <a:lnSpc>
                <a:spcPct val="120000"/>
              </a:lnSpc>
              <a:spcBef>
                <a:spcPts val="0"/>
              </a:spcBef>
              <a:spcAft>
                <a:spcPts val="0"/>
              </a:spcAft>
            </a:pPr>
            <a:endParaRPr lang="en-US" dirty="0"/>
          </a:p>
        </p:txBody>
      </p:sp>
    </p:spTree>
    <p:extLst>
      <p:ext uri="{BB962C8B-B14F-4D97-AF65-F5344CB8AC3E}">
        <p14:creationId xmlns:p14="http://schemas.microsoft.com/office/powerpoint/2010/main" val="2731579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BA438-40BF-8ECE-5350-82C73D34460D}"/>
              </a:ext>
            </a:extLst>
          </p:cNvPr>
          <p:cNvSpPr>
            <a:spLocks noGrp="1"/>
          </p:cNvSpPr>
          <p:nvPr>
            <p:ph type="title"/>
          </p:nvPr>
        </p:nvSpPr>
        <p:spPr/>
        <p:txBody>
          <a:bodyPr>
            <a:normAutofit/>
          </a:bodyPr>
          <a:lstStyle/>
          <a:p>
            <a:r>
              <a:rPr lang="en-US" b="1" i="0" dirty="0">
                <a:solidFill>
                  <a:srgbClr val="273239"/>
                </a:solidFill>
                <a:effectLst/>
                <a:latin typeface="Nunito" pitchFamily="2" charset="0"/>
              </a:rPr>
              <a:t>Advantages of Process Synchronization</a:t>
            </a:r>
            <a:endParaRPr lang="en-US" dirty="0"/>
          </a:p>
        </p:txBody>
      </p:sp>
      <p:sp>
        <p:nvSpPr>
          <p:cNvPr id="3" name="Content Placeholder 2">
            <a:extLst>
              <a:ext uri="{FF2B5EF4-FFF2-40B4-BE49-F238E27FC236}">
                <a16:creationId xmlns:a16="http://schemas.microsoft.com/office/drawing/2014/main" id="{A57D1A48-8C0B-AA77-F0FE-8B5A2AC3A2B8}"/>
              </a:ext>
            </a:extLst>
          </p:cNvPr>
          <p:cNvSpPr>
            <a:spLocks noGrp="1"/>
          </p:cNvSpPr>
          <p:nvPr>
            <p:ph idx="1"/>
          </p:nvPr>
        </p:nvSpPr>
        <p:spPr/>
        <p:txBody>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Ensures data consistency and integrity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Avoids race conditions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Prevents inconsistent data due to concurrent access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Supports efficient and effective use of shared resources</a:t>
            </a:r>
          </a:p>
          <a:p>
            <a:endParaRPr lang="en-US" dirty="0"/>
          </a:p>
        </p:txBody>
      </p:sp>
    </p:spTree>
    <p:extLst>
      <p:ext uri="{BB962C8B-B14F-4D97-AF65-F5344CB8AC3E}">
        <p14:creationId xmlns:p14="http://schemas.microsoft.com/office/powerpoint/2010/main" val="240215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077F0-D2EA-0B2A-25C2-4FFDD975E4B9}"/>
              </a:ext>
            </a:extLst>
          </p:cNvPr>
          <p:cNvSpPr>
            <a:spLocks noGrp="1"/>
          </p:cNvSpPr>
          <p:nvPr>
            <p:ph type="title"/>
          </p:nvPr>
        </p:nvSpPr>
        <p:spPr/>
        <p:txBody>
          <a:bodyPr>
            <a:normAutofit/>
          </a:bodyPr>
          <a:lstStyle/>
          <a:p>
            <a:r>
              <a:rPr lang="en-US" b="1" i="0" dirty="0">
                <a:solidFill>
                  <a:srgbClr val="273239"/>
                </a:solidFill>
                <a:effectLst/>
                <a:latin typeface="Nunito" pitchFamily="2" charset="0"/>
              </a:rPr>
              <a:t>Disadvantages of Process Synchronization</a:t>
            </a:r>
            <a:endParaRPr lang="en-US" dirty="0"/>
          </a:p>
        </p:txBody>
      </p:sp>
      <p:sp>
        <p:nvSpPr>
          <p:cNvPr id="3" name="Content Placeholder 2">
            <a:extLst>
              <a:ext uri="{FF2B5EF4-FFF2-40B4-BE49-F238E27FC236}">
                <a16:creationId xmlns:a16="http://schemas.microsoft.com/office/drawing/2014/main" id="{4C21851F-BA85-590D-A463-71B4FA314CD9}"/>
              </a:ext>
            </a:extLst>
          </p:cNvPr>
          <p:cNvSpPr>
            <a:spLocks noGrp="1"/>
          </p:cNvSpPr>
          <p:nvPr>
            <p:ph idx="1"/>
          </p:nvPr>
        </p:nvSpPr>
        <p:spPr/>
        <p:txBody>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Adds overhead to the system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This can lead to performance degradation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Increases the complexity of the system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Can cause</a:t>
            </a:r>
            <a:r>
              <a:rPr lang="en-US" b="0" i="0" u="sng" dirty="0">
                <a:solidFill>
                  <a:srgbClr val="273239"/>
                </a:solidFill>
                <a:effectLst/>
                <a:latin typeface="Nunito" pitchFamily="2" charset="0"/>
                <a:hlinkClick r:id="rId2"/>
              </a:rPr>
              <a:t> </a:t>
            </a:r>
            <a:r>
              <a:rPr lang="en-US" b="0" i="0" dirty="0">
                <a:solidFill>
                  <a:srgbClr val="273239"/>
                </a:solidFill>
                <a:effectLst/>
                <a:latin typeface="Nunito" pitchFamily="2" charset="0"/>
              </a:rPr>
              <a:t>deadlock if not implemented properly.</a:t>
            </a:r>
          </a:p>
          <a:p>
            <a:endParaRPr lang="en-US" dirty="0"/>
          </a:p>
        </p:txBody>
      </p:sp>
    </p:spTree>
    <p:extLst>
      <p:ext uri="{BB962C8B-B14F-4D97-AF65-F5344CB8AC3E}">
        <p14:creationId xmlns:p14="http://schemas.microsoft.com/office/powerpoint/2010/main" val="2163704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E8B47-CE27-A9A4-A7B7-5E4DAC743C7B}"/>
              </a:ext>
            </a:extLst>
          </p:cNvPr>
          <p:cNvSpPr>
            <a:spLocks noGrp="1"/>
          </p:cNvSpPr>
          <p:nvPr>
            <p:ph type="title"/>
          </p:nvPr>
        </p:nvSpPr>
        <p:spPr/>
        <p:txBody>
          <a:bodyPr/>
          <a:lstStyle/>
          <a:p>
            <a:r>
              <a:rPr lang="en-US" b="0" i="0" dirty="0">
                <a:solidFill>
                  <a:srgbClr val="273239"/>
                </a:solidFill>
                <a:effectLst/>
                <a:latin typeface="Nunito" pitchFamily="2" charset="0"/>
              </a:rPr>
              <a:t>Process synchronization solution</a:t>
            </a:r>
            <a:endParaRPr lang="en-US" dirty="0"/>
          </a:p>
        </p:txBody>
      </p:sp>
      <p:sp>
        <p:nvSpPr>
          <p:cNvPr id="3" name="Content Placeholder 2">
            <a:extLst>
              <a:ext uri="{FF2B5EF4-FFF2-40B4-BE49-F238E27FC236}">
                <a16:creationId xmlns:a16="http://schemas.microsoft.com/office/drawing/2014/main" id="{611C081E-C751-D239-1531-9809271884FE}"/>
              </a:ext>
            </a:extLst>
          </p:cNvPr>
          <p:cNvSpPr>
            <a:spLocks noGrp="1"/>
          </p:cNvSpPr>
          <p:nvPr>
            <p:ph idx="1"/>
          </p:nvPr>
        </p:nvSpPr>
        <p:spPr/>
        <p:txBody>
          <a:bodyPr/>
          <a:lstStyle/>
          <a:p>
            <a:r>
              <a:rPr lang="en-US" b="0" i="0" dirty="0">
                <a:solidFill>
                  <a:srgbClr val="273239"/>
                </a:solidFill>
                <a:effectLst/>
                <a:latin typeface="Nunito" pitchFamily="2" charset="0"/>
              </a:rPr>
              <a:t>Concurrent computing requires process synchronization to coordinate numerous processes in a multi-process system to regulate and forecast resource access. It addresses race situations and data inconsistency, essential for data integrity. Semaphores and </a:t>
            </a:r>
            <a:r>
              <a:rPr lang="en-US" dirty="0">
                <a:latin typeface="Nunito" pitchFamily="2" charset="0"/>
              </a:rPr>
              <a:t>Peterson’s </a:t>
            </a:r>
            <a:r>
              <a:rPr lang="en-US" b="0" i="0" dirty="0">
                <a:solidFill>
                  <a:srgbClr val="273239"/>
                </a:solidFill>
                <a:effectLst/>
                <a:latin typeface="Nunito" pitchFamily="2" charset="0"/>
              </a:rPr>
              <a:t>solution are used for synchronization. Synchronization is necessary for data consistency but adds complexity and performance overheads, making correct implementation and management vital for multi-process systems.</a:t>
            </a:r>
            <a:endParaRPr lang="en-US" dirty="0"/>
          </a:p>
        </p:txBody>
      </p:sp>
    </p:spTree>
    <p:extLst>
      <p:ext uri="{BB962C8B-B14F-4D97-AF65-F5344CB8AC3E}">
        <p14:creationId xmlns:p14="http://schemas.microsoft.com/office/powerpoint/2010/main" val="3578196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B1265-E5E0-32D8-C44F-886B70212BF0}"/>
              </a:ext>
            </a:extLst>
          </p:cNvPr>
          <p:cNvSpPr>
            <a:spLocks noGrp="1"/>
          </p:cNvSpPr>
          <p:nvPr>
            <p:ph type="title"/>
          </p:nvPr>
        </p:nvSpPr>
        <p:spPr/>
        <p:txBody>
          <a:bodyPr/>
          <a:lstStyle/>
          <a:p>
            <a:r>
              <a:rPr lang="en-US" b="1" i="0" dirty="0">
                <a:solidFill>
                  <a:srgbClr val="273239"/>
                </a:solidFill>
                <a:effectLst/>
                <a:latin typeface="Source Sans 3"/>
              </a:rPr>
              <a:t>Critical Section in Synchronization</a:t>
            </a:r>
            <a:endParaRPr lang="en-US" dirty="0"/>
          </a:p>
        </p:txBody>
      </p:sp>
      <p:sp>
        <p:nvSpPr>
          <p:cNvPr id="3" name="Content Placeholder 2">
            <a:extLst>
              <a:ext uri="{FF2B5EF4-FFF2-40B4-BE49-F238E27FC236}">
                <a16:creationId xmlns:a16="http://schemas.microsoft.com/office/drawing/2014/main" id="{AD95CA35-F1CF-E358-DC91-FB5D365AADF0}"/>
              </a:ext>
            </a:extLst>
          </p:cNvPr>
          <p:cNvSpPr>
            <a:spLocks noGrp="1"/>
          </p:cNvSpPr>
          <p:nvPr>
            <p:ph idx="1"/>
          </p:nvPr>
        </p:nvSpPr>
        <p:spPr/>
        <p:txBody>
          <a:bodyPr>
            <a:normAutofit lnSpcReduction="10000"/>
          </a:bodyPr>
          <a:lstStyle/>
          <a:p>
            <a:pPr algn="just" rtl="0" fontAlgn="base">
              <a:spcAft>
                <a:spcPts val="750"/>
              </a:spcAft>
            </a:pPr>
            <a:r>
              <a:rPr lang="en-US" b="0" i="0" dirty="0">
                <a:solidFill>
                  <a:srgbClr val="273239"/>
                </a:solidFill>
                <a:effectLst/>
                <a:latin typeface="Nunito" pitchFamily="2" charset="0"/>
              </a:rPr>
              <a:t>A </a:t>
            </a:r>
            <a:r>
              <a:rPr lang="en-US" b="1" i="0" dirty="0">
                <a:solidFill>
                  <a:srgbClr val="273239"/>
                </a:solidFill>
                <a:effectLst/>
                <a:latin typeface="Nunito" pitchFamily="2" charset="0"/>
              </a:rPr>
              <a:t>critical section</a:t>
            </a:r>
            <a:r>
              <a:rPr lang="en-US" b="0" i="0" dirty="0">
                <a:solidFill>
                  <a:srgbClr val="273239"/>
                </a:solidFill>
                <a:effectLst/>
                <a:latin typeface="Nunito" pitchFamily="2" charset="0"/>
              </a:rPr>
              <a:t> is a part of a program where shared resources like memory or files are accessed by multiple processes or threads. To avoid issues like data inconsistency or race conditions, synchronization techniques ensure that only one process or thread uses the critical section at a time.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critical section contains shared variables or resources that need to be synchronized to maintain the consistency of data variables.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In simple terms, a critical section is a group of instructions/statements or regions of code that need to be executed </a:t>
            </a:r>
            <a:r>
              <a:rPr lang="en-US" dirty="0">
                <a:solidFill>
                  <a:srgbClr val="273239"/>
                </a:solidFill>
                <a:latin typeface="Nunito" pitchFamily="2" charset="0"/>
              </a:rPr>
              <a:t>atomically</a:t>
            </a:r>
            <a:r>
              <a:rPr lang="en-US" b="0" i="0" dirty="0">
                <a:solidFill>
                  <a:srgbClr val="273239"/>
                </a:solidFill>
                <a:effectLst/>
                <a:latin typeface="Nunito" pitchFamily="2" charset="0"/>
              </a:rPr>
              <a:t>, such as accessing a resource (file, input or output port, global data, etc.) In concurrent programming, if one process tries to change the value of shared data at the same time as another thread tries to read the value (i.e., data race across threads), the result is unpredictable. The access to such shared variables (shared memory, shared files, shared port, etc.) is to be synchronized. </a:t>
            </a:r>
          </a:p>
          <a:p>
            <a:pPr marL="0" indent="0">
              <a:buNone/>
            </a:pPr>
            <a:endParaRPr lang="en-US" dirty="0"/>
          </a:p>
        </p:txBody>
      </p:sp>
    </p:spTree>
    <p:extLst>
      <p:ext uri="{BB962C8B-B14F-4D97-AF65-F5344CB8AC3E}">
        <p14:creationId xmlns:p14="http://schemas.microsoft.com/office/powerpoint/2010/main" val="3163099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72A1C-651B-F9A5-0367-591BB5B607AF}"/>
              </a:ext>
            </a:extLst>
          </p:cNvPr>
          <p:cNvSpPr>
            <a:spLocks noGrp="1"/>
          </p:cNvSpPr>
          <p:nvPr>
            <p:ph type="title"/>
          </p:nvPr>
        </p:nvSpPr>
        <p:spPr/>
        <p:txBody>
          <a:bodyPr/>
          <a:lstStyle/>
          <a:p>
            <a:r>
              <a:rPr lang="en-US" b="1" i="0" dirty="0">
                <a:solidFill>
                  <a:srgbClr val="273239"/>
                </a:solidFill>
                <a:effectLst/>
                <a:latin typeface="Nunito" pitchFamily="2" charset="0"/>
              </a:rPr>
              <a:t>Properties that should be followed if any code in the critical section</a:t>
            </a:r>
            <a:endParaRPr lang="en-US" dirty="0"/>
          </a:p>
        </p:txBody>
      </p:sp>
      <p:sp>
        <p:nvSpPr>
          <p:cNvPr id="3" name="Content Placeholder 2">
            <a:extLst>
              <a:ext uri="{FF2B5EF4-FFF2-40B4-BE49-F238E27FC236}">
                <a16:creationId xmlns:a16="http://schemas.microsoft.com/office/drawing/2014/main" id="{8916838B-98EE-684B-D303-1BFB1710A50C}"/>
              </a:ext>
            </a:extLst>
          </p:cNvPr>
          <p:cNvSpPr>
            <a:spLocks noGrp="1"/>
          </p:cNvSpPr>
          <p:nvPr>
            <p:ph idx="1"/>
          </p:nvPr>
        </p:nvSpPr>
        <p:spPr/>
        <p:txBody>
          <a:bodyPr>
            <a:normAutofit fontScale="85000" lnSpcReduction="20000"/>
          </a:bodyPr>
          <a:lstStyle/>
          <a:p>
            <a:pPr algn="just" rtl="0" fontAlgn="base">
              <a:spcAft>
                <a:spcPts val="750"/>
              </a:spcAft>
            </a:pPr>
            <a:r>
              <a:rPr lang="en-US" b="0" i="0" dirty="0">
                <a:solidFill>
                  <a:srgbClr val="273239"/>
                </a:solidFill>
                <a:effectLst/>
                <a:latin typeface="Nunito" pitchFamily="2" charset="0"/>
              </a:rPr>
              <a:t>Few programming languages have built-in support for synchronization. It is critical to understand the importance of race conditions while writing kernel-mode programming (a device driver, kernel thread, etc.) since the programmer can directly access and modify kernel data structures</a:t>
            </a:r>
          </a:p>
          <a:p>
            <a:pPr algn="just" rtl="0" fontAlgn="base">
              <a:spcAft>
                <a:spcPts val="750"/>
              </a:spcAft>
            </a:pPr>
            <a:r>
              <a:rPr lang="en-US" b="0" i="0" dirty="0">
                <a:solidFill>
                  <a:srgbClr val="273239"/>
                </a:solidFill>
                <a:effectLst/>
                <a:latin typeface="Nunito" pitchFamily="2" charset="0"/>
              </a:rPr>
              <a:t>Although there are some </a:t>
            </a:r>
            <a:r>
              <a:rPr lang="en-US" b="1" i="0" dirty="0">
                <a:solidFill>
                  <a:srgbClr val="273239"/>
                </a:solidFill>
                <a:effectLst/>
                <a:latin typeface="Nunito" pitchFamily="2" charset="0"/>
              </a:rPr>
              <a:t>properties that should be followed if any code in the critical section</a:t>
            </a:r>
            <a:endParaRPr lang="en-US" b="0" i="0" dirty="0">
              <a:solidFill>
                <a:srgbClr val="273239"/>
              </a:solidFill>
              <a:effectLst/>
              <a:latin typeface="Nunito" pitchFamily="2" charset="0"/>
            </a:endParaRPr>
          </a:p>
          <a:p>
            <a:pPr algn="l" fontAlgn="base">
              <a:spcAft>
                <a:spcPts val="1800"/>
              </a:spcAft>
              <a:buFont typeface="+mj-lt"/>
              <a:buAutoNum type="arabicPeriod"/>
            </a:pPr>
            <a:r>
              <a:rPr lang="en-US" b="1" i="0" dirty="0">
                <a:solidFill>
                  <a:srgbClr val="273239"/>
                </a:solidFill>
                <a:effectLst/>
                <a:latin typeface="Nunito" pitchFamily="2" charset="0"/>
              </a:rPr>
              <a:t>Mutual Exclusion: </a:t>
            </a:r>
            <a:r>
              <a:rPr lang="en-US" b="0" i="0" dirty="0">
                <a:solidFill>
                  <a:srgbClr val="273239"/>
                </a:solidFill>
                <a:effectLst/>
                <a:latin typeface="Nunito" pitchFamily="2" charset="0"/>
              </a:rPr>
              <a:t>If process P</a:t>
            </a:r>
            <a:r>
              <a:rPr lang="en-US" b="0" i="0" baseline="-25000" dirty="0">
                <a:solidFill>
                  <a:srgbClr val="273239"/>
                </a:solidFill>
                <a:effectLst/>
                <a:latin typeface="Nunito" pitchFamily="2" charset="0"/>
              </a:rPr>
              <a:t>i</a:t>
            </a:r>
            <a:r>
              <a:rPr lang="en-US" b="0" i="0" dirty="0">
                <a:solidFill>
                  <a:srgbClr val="273239"/>
                </a:solidFill>
                <a:effectLst/>
                <a:latin typeface="Nunito" pitchFamily="2" charset="0"/>
              </a:rPr>
              <a:t> is executing in its critical section, then no other processes can be executing in their critical sections.</a:t>
            </a:r>
          </a:p>
          <a:p>
            <a:pPr algn="l" fontAlgn="base">
              <a:spcAft>
                <a:spcPts val="1800"/>
              </a:spcAft>
              <a:buFont typeface="+mj-lt"/>
              <a:buAutoNum type="arabicPeriod" startAt="2"/>
            </a:pPr>
            <a:r>
              <a:rPr lang="en-US" b="1" i="0" dirty="0">
                <a:solidFill>
                  <a:srgbClr val="273239"/>
                </a:solidFill>
                <a:effectLst/>
                <a:latin typeface="Nunito" pitchFamily="2" charset="0"/>
              </a:rPr>
              <a:t>Progress: </a:t>
            </a:r>
            <a:r>
              <a:rPr lang="en-US" b="0" i="0" dirty="0">
                <a:solidFill>
                  <a:srgbClr val="273239"/>
                </a:solidFill>
                <a:effectLst/>
                <a:latin typeface="Nunito" pitchFamily="2" charset="0"/>
              </a:rPr>
              <a:t>If no process is executing in its critical section and some processes wish to enter their critical sections, then only those processes that are not executing in their remainder sections can participate in deciding which will enter its critical section next, and this selection cannot be postponed indefinitely.</a:t>
            </a:r>
          </a:p>
          <a:p>
            <a:pPr algn="l" fontAlgn="base">
              <a:spcAft>
                <a:spcPts val="1800"/>
              </a:spcAft>
              <a:buFont typeface="+mj-lt"/>
              <a:buAutoNum type="arabicPeriod" startAt="3"/>
            </a:pPr>
            <a:r>
              <a:rPr lang="en-US" b="1" i="0" dirty="0">
                <a:solidFill>
                  <a:srgbClr val="273239"/>
                </a:solidFill>
                <a:effectLst/>
                <a:latin typeface="Nunito" pitchFamily="2" charset="0"/>
              </a:rPr>
              <a:t>Bounded Waiting:</a:t>
            </a:r>
            <a:r>
              <a:rPr lang="en-US" b="0" i="0" dirty="0">
                <a:solidFill>
                  <a:srgbClr val="273239"/>
                </a:solidFill>
                <a:effectLst/>
                <a:latin typeface="Nunito" pitchFamily="2" charset="0"/>
              </a:rPr>
              <a:t> There exists a bound, or limit, on the number of times that other processes are allowed to enter their critical sections after a process has made a request to enter its critical section and before that request is granted.</a:t>
            </a:r>
          </a:p>
          <a:p>
            <a:endParaRPr lang="en-US" dirty="0"/>
          </a:p>
        </p:txBody>
      </p:sp>
    </p:spTree>
    <p:extLst>
      <p:ext uri="{BB962C8B-B14F-4D97-AF65-F5344CB8AC3E}">
        <p14:creationId xmlns:p14="http://schemas.microsoft.com/office/powerpoint/2010/main" val="1421104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CF9D1-CB90-B804-697C-01A3FD113E92}"/>
              </a:ext>
            </a:extLst>
          </p:cNvPr>
          <p:cNvSpPr>
            <a:spLocks noGrp="1"/>
          </p:cNvSpPr>
          <p:nvPr>
            <p:ph type="title"/>
          </p:nvPr>
        </p:nvSpPr>
        <p:spPr/>
        <p:txBody>
          <a:bodyPr/>
          <a:lstStyle/>
          <a:p>
            <a:r>
              <a:rPr lang="en-US" b="1" i="0" dirty="0">
                <a:solidFill>
                  <a:srgbClr val="273239"/>
                </a:solidFill>
                <a:effectLst/>
                <a:latin typeface="Source Sans 3"/>
              </a:rPr>
              <a:t>Critical Section in Synchronization</a:t>
            </a:r>
            <a:endParaRPr lang="en-US" dirty="0"/>
          </a:p>
        </p:txBody>
      </p:sp>
      <p:sp>
        <p:nvSpPr>
          <p:cNvPr id="3" name="Content Placeholder 2">
            <a:extLst>
              <a:ext uri="{FF2B5EF4-FFF2-40B4-BE49-F238E27FC236}">
                <a16:creationId xmlns:a16="http://schemas.microsoft.com/office/drawing/2014/main" id="{28545995-BDE5-C055-83BD-AA3A2116BDEA}"/>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Two general approaches are used to handle critical sections:</a:t>
            </a:r>
          </a:p>
          <a:p>
            <a:pPr algn="l" fontAlgn="base">
              <a:spcAft>
                <a:spcPts val="1800"/>
              </a:spcAft>
              <a:buFont typeface="+mj-lt"/>
              <a:buAutoNum type="arabicPeriod"/>
            </a:pPr>
            <a:r>
              <a:rPr lang="en-US" b="1" i="0" dirty="0">
                <a:solidFill>
                  <a:srgbClr val="273239"/>
                </a:solidFill>
                <a:effectLst/>
                <a:latin typeface="Nunito" pitchFamily="2" charset="0"/>
              </a:rPr>
              <a:t>Preemptive kernels</a:t>
            </a:r>
            <a:r>
              <a:rPr lang="en-US" b="0" i="0" dirty="0">
                <a:solidFill>
                  <a:srgbClr val="273239"/>
                </a:solidFill>
                <a:effectLst/>
                <a:latin typeface="Nunito" pitchFamily="2" charset="0"/>
              </a:rPr>
              <a:t>: A preemptive kernel allows a process to be preempted while it is running in kernel mode.</a:t>
            </a:r>
          </a:p>
          <a:p>
            <a:pPr algn="l" fontAlgn="base">
              <a:spcAft>
                <a:spcPts val="1800"/>
              </a:spcAft>
              <a:buFont typeface="+mj-lt"/>
              <a:buAutoNum type="arabicPeriod" startAt="2"/>
            </a:pPr>
            <a:r>
              <a:rPr lang="en-US" b="1" i="0" dirty="0">
                <a:solidFill>
                  <a:srgbClr val="273239"/>
                </a:solidFill>
                <a:effectLst/>
                <a:latin typeface="Nunito" pitchFamily="2" charset="0"/>
              </a:rPr>
              <a:t>Non preemptive kernels</a:t>
            </a:r>
            <a:r>
              <a:rPr lang="en-US" b="0" i="0" dirty="0">
                <a:solidFill>
                  <a:srgbClr val="273239"/>
                </a:solidFill>
                <a:effectLst/>
                <a:latin typeface="Nunito" pitchFamily="2" charset="0"/>
              </a:rPr>
              <a:t>: A non-preemptive kernel does not allow a process running in kernel mode to be preempted. A kernel-mode process will run until it exists in kernel mode, blocks, or voluntarily yields control of the CPU. A non-preemptive kernel is essentially free from race conditions on kernel data structures, as only one process is active in the kernel at a time.</a:t>
            </a:r>
          </a:p>
          <a:p>
            <a:endParaRPr lang="en-US" dirty="0"/>
          </a:p>
        </p:txBody>
      </p:sp>
    </p:spTree>
    <p:extLst>
      <p:ext uri="{BB962C8B-B14F-4D97-AF65-F5344CB8AC3E}">
        <p14:creationId xmlns:p14="http://schemas.microsoft.com/office/powerpoint/2010/main" val="3432624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E8DF-8F4A-BD85-9F25-BB4FC96E7F02}"/>
              </a:ext>
            </a:extLst>
          </p:cNvPr>
          <p:cNvSpPr>
            <a:spLocks noGrp="1"/>
          </p:cNvSpPr>
          <p:nvPr>
            <p:ph type="title"/>
          </p:nvPr>
        </p:nvSpPr>
        <p:spPr/>
        <p:txBody>
          <a:bodyPr/>
          <a:lstStyle/>
          <a:p>
            <a:r>
              <a:rPr lang="en-US" b="1" i="0" dirty="0">
                <a:solidFill>
                  <a:srgbClr val="273239"/>
                </a:solidFill>
                <a:effectLst/>
                <a:latin typeface="Nunito" pitchFamily="2" charset="0"/>
              </a:rPr>
              <a:t>Critical Section Problem</a:t>
            </a:r>
            <a:endParaRPr lang="en-US" dirty="0"/>
          </a:p>
        </p:txBody>
      </p:sp>
      <p:sp>
        <p:nvSpPr>
          <p:cNvPr id="3" name="Content Placeholder 2">
            <a:extLst>
              <a:ext uri="{FF2B5EF4-FFF2-40B4-BE49-F238E27FC236}">
                <a16:creationId xmlns:a16="http://schemas.microsoft.com/office/drawing/2014/main" id="{34557A41-9C53-DE59-F6F5-4DC088BD1FC8}"/>
              </a:ext>
            </a:extLst>
          </p:cNvPr>
          <p:cNvSpPr>
            <a:spLocks noGrp="1"/>
          </p:cNvSpPr>
          <p:nvPr>
            <p:ph idx="1"/>
          </p:nvPr>
        </p:nvSpPr>
        <p:spPr/>
        <p:txBody>
          <a:bodyPr>
            <a:normAutofit fontScale="92500" lnSpcReduction="20000"/>
          </a:bodyPr>
          <a:lstStyle/>
          <a:p>
            <a:pPr algn="just" rtl="0" fontAlgn="base">
              <a:spcAft>
                <a:spcPts val="750"/>
              </a:spcAft>
            </a:pPr>
            <a:r>
              <a:rPr lang="en-US" b="0" i="0" dirty="0">
                <a:solidFill>
                  <a:srgbClr val="273239"/>
                </a:solidFill>
                <a:effectLst/>
                <a:latin typeface="Nunito" pitchFamily="2" charset="0"/>
              </a:rPr>
              <a:t>The use of critical sections in a program can cause a number of issues, including:</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Deadlock:</a:t>
            </a:r>
            <a:r>
              <a:rPr lang="en-US" b="0" i="0" dirty="0">
                <a:solidFill>
                  <a:srgbClr val="273239"/>
                </a:solidFill>
                <a:effectLst/>
                <a:latin typeface="Nunito" pitchFamily="2" charset="0"/>
              </a:rPr>
              <a:t> When two or more threads or processes wait for each other to release a critical section, it can result in a deadlock situation in which none of the threads or processes can move. Deadlocks can be difficult to detect and resolve, and they can have a significant impact on a program’s performance and reliability.</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Starvation:</a:t>
            </a:r>
            <a:r>
              <a:rPr lang="en-US" b="0" i="0" dirty="0">
                <a:solidFill>
                  <a:srgbClr val="273239"/>
                </a:solidFill>
                <a:effectLst/>
                <a:latin typeface="Nunito" pitchFamily="2" charset="0"/>
              </a:rPr>
              <a:t> When a thread or process is repeatedly prevented from entering a critical section, it can result in starvation, in which the thread or process is unable to progress. This can happen if the critical section is held for an unusually long period of time, or if a high-priority thread or process is always given priority when entering the critical section.</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Overhead: </a:t>
            </a:r>
            <a:r>
              <a:rPr lang="en-US" b="0" i="0" dirty="0">
                <a:solidFill>
                  <a:srgbClr val="273239"/>
                </a:solidFill>
                <a:effectLst/>
                <a:latin typeface="Nunito" pitchFamily="2" charset="0"/>
              </a:rPr>
              <a:t>When using critical sections, threads or processes must acquire and release locks or semaphores, which can take time and resources. This may reduce the program’s overall performance.</a:t>
            </a:r>
          </a:p>
          <a:p>
            <a:endParaRPr lang="en-US" dirty="0"/>
          </a:p>
        </p:txBody>
      </p:sp>
    </p:spTree>
    <p:extLst>
      <p:ext uri="{BB962C8B-B14F-4D97-AF65-F5344CB8AC3E}">
        <p14:creationId xmlns:p14="http://schemas.microsoft.com/office/powerpoint/2010/main" val="4086142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6081-8207-5A8A-8404-8437E52B39BD}"/>
              </a:ext>
            </a:extLst>
          </p:cNvPr>
          <p:cNvSpPr>
            <a:spLocks noGrp="1"/>
          </p:cNvSpPr>
          <p:nvPr>
            <p:ph type="title"/>
          </p:nvPr>
        </p:nvSpPr>
        <p:spPr/>
        <p:txBody>
          <a:bodyPr/>
          <a:lstStyle/>
          <a:p>
            <a:r>
              <a:rPr lang="en-US" b="1" i="0" dirty="0">
                <a:solidFill>
                  <a:srgbClr val="273239"/>
                </a:solidFill>
                <a:effectLst/>
                <a:latin typeface="Nunito" pitchFamily="2" charset="0"/>
              </a:rPr>
              <a:t>Critical Section Problem</a:t>
            </a:r>
            <a:endParaRPr lang="en-US" dirty="0"/>
          </a:p>
        </p:txBody>
      </p:sp>
      <p:pic>
        <p:nvPicPr>
          <p:cNvPr id="1026" name="Picture 2" descr="critical section ">
            <a:extLst>
              <a:ext uri="{FF2B5EF4-FFF2-40B4-BE49-F238E27FC236}">
                <a16:creationId xmlns:a16="http://schemas.microsoft.com/office/drawing/2014/main" id="{6A887CD1-DDBC-6D13-AC80-10DBD401FF8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75454" y="1846263"/>
            <a:ext cx="2301417"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467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9EA4-40D8-F061-77B0-6086649F8C81}"/>
              </a:ext>
            </a:extLst>
          </p:cNvPr>
          <p:cNvSpPr>
            <a:spLocks noGrp="1"/>
          </p:cNvSpPr>
          <p:nvPr>
            <p:ph type="title"/>
          </p:nvPr>
        </p:nvSpPr>
        <p:spPr/>
        <p:txBody>
          <a:bodyPr/>
          <a:lstStyle/>
          <a:p>
            <a:r>
              <a:rPr lang="en-US" b="1" i="0" dirty="0">
                <a:solidFill>
                  <a:srgbClr val="273239"/>
                </a:solidFill>
                <a:effectLst/>
                <a:latin typeface="Nunito" pitchFamily="2" charset="0"/>
              </a:rPr>
              <a:t>Critical Section Problem</a:t>
            </a:r>
            <a:endParaRPr lang="en-US" dirty="0"/>
          </a:p>
        </p:txBody>
      </p:sp>
      <p:sp>
        <p:nvSpPr>
          <p:cNvPr id="3" name="Content Placeholder 2">
            <a:extLst>
              <a:ext uri="{FF2B5EF4-FFF2-40B4-BE49-F238E27FC236}">
                <a16:creationId xmlns:a16="http://schemas.microsoft.com/office/drawing/2014/main" id="{EB350270-CBCC-3C95-59DB-C8E21D7323F3}"/>
              </a:ext>
            </a:extLst>
          </p:cNvPr>
          <p:cNvSpPr>
            <a:spLocks noGrp="1"/>
          </p:cNvSpPr>
          <p:nvPr>
            <p:ph idx="1"/>
          </p:nvPr>
        </p:nvSpPr>
        <p:spPr/>
        <p:txBody>
          <a:bodyPr/>
          <a:lstStyle/>
          <a:p>
            <a:r>
              <a:rPr lang="en-US" dirty="0"/>
              <a:t>It could be visualized using the pseudo-code below –</a:t>
            </a:r>
          </a:p>
          <a:p>
            <a:endParaRPr lang="en-US" dirty="0"/>
          </a:p>
          <a:p>
            <a:r>
              <a:rPr lang="en-US" dirty="0"/>
              <a:t>do{</a:t>
            </a:r>
          </a:p>
          <a:p>
            <a:r>
              <a:rPr lang="en-US" dirty="0"/>
              <a:t>    flag=1;</a:t>
            </a:r>
          </a:p>
          <a:p>
            <a:r>
              <a:rPr lang="en-US" dirty="0"/>
              <a:t>    while(flag); // (entry section)</a:t>
            </a:r>
          </a:p>
          <a:p>
            <a:r>
              <a:rPr lang="en-US" dirty="0"/>
              <a:t>        // critical section</a:t>
            </a:r>
          </a:p>
          <a:p>
            <a:r>
              <a:rPr lang="en-US" dirty="0"/>
              <a:t>    if (!flag)</a:t>
            </a:r>
          </a:p>
          <a:p>
            <a:r>
              <a:rPr lang="en-US" dirty="0"/>
              <a:t>        // remainder section</a:t>
            </a:r>
          </a:p>
          <a:p>
            <a:r>
              <a:rPr lang="en-US" dirty="0"/>
              <a:t>} while(true);</a:t>
            </a:r>
          </a:p>
        </p:txBody>
      </p:sp>
    </p:spTree>
    <p:extLst>
      <p:ext uri="{BB962C8B-B14F-4D97-AF65-F5344CB8AC3E}">
        <p14:creationId xmlns:p14="http://schemas.microsoft.com/office/powerpoint/2010/main" val="35622638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11F7-2E54-D5C6-C3B0-539C4F93338F}"/>
              </a:ext>
            </a:extLst>
          </p:cNvPr>
          <p:cNvSpPr>
            <a:spLocks noGrp="1"/>
          </p:cNvSpPr>
          <p:nvPr>
            <p:ph type="title"/>
          </p:nvPr>
        </p:nvSpPr>
        <p:spPr/>
        <p:txBody>
          <a:bodyPr>
            <a:normAutofit/>
          </a:bodyPr>
          <a:lstStyle/>
          <a:p>
            <a:r>
              <a:rPr lang="en-US" b="1" i="0" dirty="0">
                <a:solidFill>
                  <a:srgbClr val="273239"/>
                </a:solidFill>
                <a:effectLst/>
                <a:latin typeface="Nunito" pitchFamily="2" charset="0"/>
              </a:rPr>
              <a:t>Solution to Critical Section Problem</a:t>
            </a:r>
            <a:endParaRPr lang="en-US" dirty="0"/>
          </a:p>
        </p:txBody>
      </p:sp>
      <p:sp>
        <p:nvSpPr>
          <p:cNvPr id="3" name="Content Placeholder 2">
            <a:extLst>
              <a:ext uri="{FF2B5EF4-FFF2-40B4-BE49-F238E27FC236}">
                <a16:creationId xmlns:a16="http://schemas.microsoft.com/office/drawing/2014/main" id="{8120179C-7701-51BE-C1F3-70A90EA890C5}"/>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A simple solution to the critical section can be thought of as shown below,</a:t>
            </a:r>
          </a:p>
          <a:p>
            <a:pPr algn="just" rtl="0" fontAlgn="base">
              <a:spcAft>
                <a:spcPts val="750"/>
              </a:spcAft>
            </a:pPr>
            <a:endParaRPr lang="en-US" b="0" i="0" dirty="0">
              <a:solidFill>
                <a:srgbClr val="273239"/>
              </a:solidFill>
              <a:effectLst/>
              <a:latin typeface="Nunito" pitchFamily="2" charset="0"/>
            </a:endParaRPr>
          </a:p>
          <a:p>
            <a:r>
              <a:rPr lang="en-US" dirty="0" err="1"/>
              <a:t>acquireLock</a:t>
            </a:r>
            <a:r>
              <a:rPr lang="en-US" dirty="0"/>
              <a:t>();</a:t>
            </a:r>
          </a:p>
          <a:p>
            <a:r>
              <a:rPr lang="en-US" dirty="0"/>
              <a:t>Process Critical Section</a:t>
            </a:r>
          </a:p>
          <a:p>
            <a:r>
              <a:rPr lang="en-US" dirty="0" err="1"/>
              <a:t>releaseLock</a:t>
            </a:r>
            <a:r>
              <a:rPr lang="en-US" dirty="0"/>
              <a:t>();</a:t>
            </a:r>
          </a:p>
        </p:txBody>
      </p:sp>
    </p:spTree>
    <p:extLst>
      <p:ext uri="{BB962C8B-B14F-4D97-AF65-F5344CB8AC3E}">
        <p14:creationId xmlns:p14="http://schemas.microsoft.com/office/powerpoint/2010/main" val="1599926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ED3E4-7546-A41C-F5F0-4DC0BCF02338}"/>
              </a:ext>
            </a:extLst>
          </p:cNvPr>
          <p:cNvSpPr>
            <a:spLocks noGrp="1"/>
          </p:cNvSpPr>
          <p:nvPr>
            <p:ph type="title"/>
          </p:nvPr>
        </p:nvSpPr>
        <p:spPr/>
        <p:txBody>
          <a:bodyPr>
            <a:normAutofit/>
          </a:bodyPr>
          <a:lstStyle/>
          <a:p>
            <a:r>
              <a:rPr lang="en-US" b="1" i="0" dirty="0">
                <a:solidFill>
                  <a:srgbClr val="273239"/>
                </a:solidFill>
                <a:effectLst/>
                <a:latin typeface="Nunito" pitchFamily="2" charset="0"/>
              </a:rPr>
              <a:t>Advantages of Critical Section in Process Synchronization</a:t>
            </a:r>
            <a:endParaRPr lang="en-US" dirty="0"/>
          </a:p>
        </p:txBody>
      </p:sp>
      <p:sp>
        <p:nvSpPr>
          <p:cNvPr id="3" name="Content Placeholder 2">
            <a:extLst>
              <a:ext uri="{FF2B5EF4-FFF2-40B4-BE49-F238E27FC236}">
                <a16:creationId xmlns:a16="http://schemas.microsoft.com/office/drawing/2014/main" id="{F6F176DE-D54D-FE5D-E9DA-974CCBEC5650}"/>
              </a:ext>
            </a:extLst>
          </p:cNvPr>
          <p:cNvSpPr>
            <a:spLocks noGrp="1"/>
          </p:cNvSpPr>
          <p:nvPr>
            <p:ph idx="1"/>
          </p:nvPr>
        </p:nvSpPr>
        <p:spPr/>
        <p:txBody>
          <a:bodyPr>
            <a:normAutofit/>
          </a:bodyPr>
          <a:lstStyle/>
          <a:p>
            <a:pPr algn="l" fontAlgn="base">
              <a:spcAft>
                <a:spcPts val="1800"/>
              </a:spcAft>
              <a:buFont typeface="+mj-lt"/>
              <a:buAutoNum type="arabicPeriod"/>
            </a:pPr>
            <a:r>
              <a:rPr lang="en-US" b="1" i="0" dirty="0">
                <a:solidFill>
                  <a:srgbClr val="273239"/>
                </a:solidFill>
                <a:effectLst/>
                <a:latin typeface="Nunito" pitchFamily="2" charset="0"/>
              </a:rPr>
              <a:t>Prevents race conditions:</a:t>
            </a:r>
            <a:r>
              <a:rPr lang="en-US" b="0" i="0" dirty="0">
                <a:solidFill>
                  <a:srgbClr val="273239"/>
                </a:solidFill>
                <a:effectLst/>
                <a:latin typeface="Nunito" pitchFamily="2" charset="0"/>
              </a:rPr>
              <a:t> By ensuring that only one process can execute the critical section at a time, race conditions are prevented, ensuring consistency of shared data.</a:t>
            </a:r>
          </a:p>
          <a:p>
            <a:pPr algn="l" fontAlgn="base">
              <a:spcAft>
                <a:spcPts val="1800"/>
              </a:spcAft>
              <a:buFont typeface="+mj-lt"/>
              <a:buAutoNum type="arabicPeriod" startAt="2"/>
            </a:pPr>
            <a:r>
              <a:rPr lang="en-US" b="1" i="0" dirty="0">
                <a:solidFill>
                  <a:srgbClr val="273239"/>
                </a:solidFill>
                <a:effectLst/>
                <a:latin typeface="Nunito" pitchFamily="2" charset="0"/>
              </a:rPr>
              <a:t>Provides mutual exclusion:</a:t>
            </a:r>
            <a:r>
              <a:rPr lang="en-US" b="0" i="0" dirty="0">
                <a:solidFill>
                  <a:srgbClr val="273239"/>
                </a:solidFill>
                <a:effectLst/>
                <a:latin typeface="Nunito" pitchFamily="2" charset="0"/>
              </a:rPr>
              <a:t> Critical sections provide </a:t>
            </a:r>
            <a:r>
              <a:rPr lang="en-US" dirty="0">
                <a:solidFill>
                  <a:srgbClr val="273239"/>
                </a:solidFill>
                <a:latin typeface="Nunito" pitchFamily="2" charset="0"/>
              </a:rPr>
              <a:t>mutual exclusion</a:t>
            </a:r>
            <a:r>
              <a:rPr lang="en-US" b="0" i="0" dirty="0">
                <a:solidFill>
                  <a:srgbClr val="273239"/>
                </a:solidFill>
                <a:effectLst/>
                <a:latin typeface="Nunito" pitchFamily="2" charset="0"/>
              </a:rPr>
              <a:t> to shared resources, preventing multiple processes from accessing the same resource simultaneously and causing synchronization-related issues.</a:t>
            </a:r>
          </a:p>
          <a:p>
            <a:pPr algn="l" fontAlgn="base">
              <a:spcAft>
                <a:spcPts val="1800"/>
              </a:spcAft>
              <a:buFont typeface="+mj-lt"/>
              <a:buAutoNum type="arabicPeriod" startAt="3"/>
            </a:pPr>
            <a:r>
              <a:rPr lang="en-US" b="1" i="0" dirty="0">
                <a:solidFill>
                  <a:srgbClr val="273239"/>
                </a:solidFill>
                <a:effectLst/>
                <a:latin typeface="Nunito" pitchFamily="2" charset="0"/>
              </a:rPr>
              <a:t>Reduces CPU utilization:</a:t>
            </a:r>
            <a:r>
              <a:rPr lang="en-US" b="0" i="0" dirty="0">
                <a:solidFill>
                  <a:srgbClr val="273239"/>
                </a:solidFill>
                <a:effectLst/>
                <a:latin typeface="Nunito" pitchFamily="2" charset="0"/>
              </a:rPr>
              <a:t> By allowing processes to wait without wasting CPU cycles, critical sections can reduce CPU utilization, improving overall system efficiency.</a:t>
            </a:r>
          </a:p>
          <a:p>
            <a:pPr algn="l" fontAlgn="base">
              <a:spcAft>
                <a:spcPts val="1800"/>
              </a:spcAft>
              <a:buFont typeface="+mj-lt"/>
              <a:buAutoNum type="arabicPeriod" startAt="4"/>
            </a:pPr>
            <a:r>
              <a:rPr lang="en-US" b="1" i="0" dirty="0">
                <a:solidFill>
                  <a:srgbClr val="273239"/>
                </a:solidFill>
                <a:effectLst/>
                <a:latin typeface="Nunito" pitchFamily="2" charset="0"/>
              </a:rPr>
              <a:t>Simplifies synchronization:</a:t>
            </a:r>
            <a:r>
              <a:rPr lang="en-US" b="0" i="0" dirty="0">
                <a:solidFill>
                  <a:srgbClr val="273239"/>
                </a:solidFill>
                <a:effectLst/>
                <a:latin typeface="Nunito" pitchFamily="2" charset="0"/>
              </a:rPr>
              <a:t> Critical sections simplify the synchronization of shared resources, as only one process can access the resource at a time, eliminating the need for more complex synchronization mechanisms.</a:t>
            </a:r>
          </a:p>
        </p:txBody>
      </p:sp>
    </p:spTree>
    <p:extLst>
      <p:ext uri="{BB962C8B-B14F-4D97-AF65-F5344CB8AC3E}">
        <p14:creationId xmlns:p14="http://schemas.microsoft.com/office/powerpoint/2010/main" val="1842098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0E26D-253B-4C1A-FF1F-12B36B3E7809}"/>
              </a:ext>
            </a:extLst>
          </p:cNvPr>
          <p:cNvSpPr>
            <a:spLocks noGrp="1"/>
          </p:cNvSpPr>
          <p:nvPr>
            <p:ph type="title"/>
          </p:nvPr>
        </p:nvSpPr>
        <p:spPr/>
        <p:txBody>
          <a:bodyPr>
            <a:normAutofit/>
          </a:bodyPr>
          <a:lstStyle/>
          <a:p>
            <a:r>
              <a:rPr lang="en-US" b="1" i="0" dirty="0">
                <a:solidFill>
                  <a:srgbClr val="273239"/>
                </a:solidFill>
                <a:effectLst/>
                <a:latin typeface="Nunito" pitchFamily="2" charset="0"/>
              </a:rPr>
              <a:t>Disadvantages of Critical Section in Process Synchronization</a:t>
            </a:r>
            <a:endParaRPr lang="en-US" dirty="0"/>
          </a:p>
        </p:txBody>
      </p:sp>
      <p:sp>
        <p:nvSpPr>
          <p:cNvPr id="3" name="Content Placeholder 2">
            <a:extLst>
              <a:ext uri="{FF2B5EF4-FFF2-40B4-BE49-F238E27FC236}">
                <a16:creationId xmlns:a16="http://schemas.microsoft.com/office/drawing/2014/main" id="{83D096E2-8EE7-A3A7-4B7C-E019BD9DC7B5}"/>
              </a:ext>
            </a:extLst>
          </p:cNvPr>
          <p:cNvSpPr>
            <a:spLocks noGrp="1"/>
          </p:cNvSpPr>
          <p:nvPr>
            <p:ph idx="1"/>
          </p:nvPr>
        </p:nvSpPr>
        <p:spPr/>
        <p:txBody>
          <a:bodyPr>
            <a:normAutofit/>
          </a:bodyPr>
          <a:lstStyle/>
          <a:p>
            <a:pPr algn="l" fontAlgn="base">
              <a:spcAft>
                <a:spcPts val="1800"/>
              </a:spcAft>
              <a:buFont typeface="+mj-lt"/>
              <a:buAutoNum type="arabicPeriod"/>
            </a:pPr>
            <a:r>
              <a:rPr lang="en-US" b="1" i="0" dirty="0">
                <a:solidFill>
                  <a:srgbClr val="273239"/>
                </a:solidFill>
                <a:effectLst/>
                <a:latin typeface="Nunito" pitchFamily="2" charset="0"/>
              </a:rPr>
              <a:t>Overhead:</a:t>
            </a:r>
            <a:r>
              <a:rPr lang="en-US" b="0" i="0" dirty="0">
                <a:solidFill>
                  <a:srgbClr val="273239"/>
                </a:solidFill>
                <a:effectLst/>
                <a:latin typeface="Nunito" pitchFamily="2" charset="0"/>
              </a:rPr>
              <a:t> Implementing critical sections using synchronization mechanisms like semaphores and mutexes can introduce additional overhead, slowing down program execution.</a:t>
            </a:r>
          </a:p>
          <a:p>
            <a:pPr algn="l" fontAlgn="base">
              <a:spcAft>
                <a:spcPts val="1800"/>
              </a:spcAft>
              <a:buFont typeface="+mj-lt"/>
              <a:buAutoNum type="arabicPeriod" startAt="2"/>
            </a:pPr>
            <a:r>
              <a:rPr lang="en-US" b="1" i="0" dirty="0">
                <a:solidFill>
                  <a:srgbClr val="273239"/>
                </a:solidFill>
                <a:effectLst/>
                <a:latin typeface="Nunito" pitchFamily="2" charset="0"/>
              </a:rPr>
              <a:t>Deadlocks:</a:t>
            </a:r>
            <a:r>
              <a:rPr lang="en-US" b="0" i="0" dirty="0">
                <a:solidFill>
                  <a:srgbClr val="273239"/>
                </a:solidFill>
                <a:effectLst/>
                <a:latin typeface="Nunito" pitchFamily="2" charset="0"/>
              </a:rPr>
              <a:t> Poorly implemented critical sections can lead to deadlocks, where multiple processes are waiting indefinitely for each other to release resources.</a:t>
            </a:r>
          </a:p>
          <a:p>
            <a:pPr algn="l" fontAlgn="base">
              <a:spcAft>
                <a:spcPts val="1800"/>
              </a:spcAft>
              <a:buFont typeface="+mj-lt"/>
              <a:buAutoNum type="arabicPeriod" startAt="3"/>
            </a:pPr>
            <a:r>
              <a:rPr lang="en-US" b="1" i="0" dirty="0">
                <a:solidFill>
                  <a:srgbClr val="273239"/>
                </a:solidFill>
                <a:effectLst/>
                <a:latin typeface="Nunito" pitchFamily="2" charset="0"/>
              </a:rPr>
              <a:t>Can limit parallelism:</a:t>
            </a:r>
            <a:r>
              <a:rPr lang="en-US" b="0" i="0" dirty="0">
                <a:solidFill>
                  <a:srgbClr val="273239"/>
                </a:solidFill>
                <a:effectLst/>
                <a:latin typeface="Nunito" pitchFamily="2" charset="0"/>
              </a:rPr>
              <a:t> If critical sections are too large or are executed frequently, they can limit the degree of parallelism in a program, reducing its overall performance.</a:t>
            </a:r>
          </a:p>
          <a:p>
            <a:pPr algn="l" fontAlgn="base">
              <a:spcAft>
                <a:spcPts val="1800"/>
              </a:spcAft>
              <a:buFont typeface="+mj-lt"/>
              <a:buAutoNum type="arabicPeriod" startAt="4"/>
            </a:pPr>
            <a:r>
              <a:rPr lang="en-US" b="1" i="0" dirty="0">
                <a:solidFill>
                  <a:srgbClr val="273239"/>
                </a:solidFill>
                <a:effectLst/>
                <a:latin typeface="Nunito" pitchFamily="2" charset="0"/>
              </a:rPr>
              <a:t>Can cause contention:</a:t>
            </a:r>
            <a:r>
              <a:rPr lang="en-US" b="0" i="0" dirty="0">
                <a:solidFill>
                  <a:srgbClr val="273239"/>
                </a:solidFill>
                <a:effectLst/>
                <a:latin typeface="Nunito" pitchFamily="2" charset="0"/>
              </a:rPr>
              <a:t> If multiple processes frequently access the same critical section, contention for the critical section can occur, reducing performance.</a:t>
            </a:r>
          </a:p>
          <a:p>
            <a:endParaRPr lang="en-US" dirty="0"/>
          </a:p>
        </p:txBody>
      </p:sp>
    </p:spTree>
    <p:extLst>
      <p:ext uri="{BB962C8B-B14F-4D97-AF65-F5344CB8AC3E}">
        <p14:creationId xmlns:p14="http://schemas.microsoft.com/office/powerpoint/2010/main" val="2766931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9F13-F9AD-739D-F9DD-0D091E3F23A8}"/>
              </a:ext>
            </a:extLst>
          </p:cNvPr>
          <p:cNvSpPr>
            <a:spLocks noGrp="1"/>
          </p:cNvSpPr>
          <p:nvPr>
            <p:ph type="title"/>
          </p:nvPr>
        </p:nvSpPr>
        <p:spPr/>
        <p:txBody>
          <a:bodyPr>
            <a:normAutofit/>
          </a:bodyPr>
          <a:lstStyle/>
          <a:p>
            <a:r>
              <a:rPr lang="en-US" b="1" i="0" dirty="0">
                <a:solidFill>
                  <a:srgbClr val="273239"/>
                </a:solidFill>
                <a:effectLst/>
                <a:latin typeface="Nunito" pitchFamily="2" charset="0"/>
              </a:rPr>
              <a:t>Important Points Related to Critical Section in Process Synchronization</a:t>
            </a:r>
            <a:endParaRPr lang="en-US" dirty="0"/>
          </a:p>
        </p:txBody>
      </p:sp>
      <p:sp>
        <p:nvSpPr>
          <p:cNvPr id="3" name="Content Placeholder 2">
            <a:extLst>
              <a:ext uri="{FF2B5EF4-FFF2-40B4-BE49-F238E27FC236}">
                <a16:creationId xmlns:a16="http://schemas.microsoft.com/office/drawing/2014/main" id="{BFCE558C-11E1-4351-443A-4338D5006F30}"/>
              </a:ext>
            </a:extLst>
          </p:cNvPr>
          <p:cNvSpPr>
            <a:spLocks noGrp="1"/>
          </p:cNvSpPr>
          <p:nvPr>
            <p:ph idx="1"/>
          </p:nvPr>
        </p:nvSpPr>
        <p:spPr/>
        <p:txBody>
          <a:bodyPr>
            <a:normAutofit lnSpcReduction="10000"/>
          </a:bodyPr>
          <a:lstStyle/>
          <a:p>
            <a:pPr algn="l" fontAlgn="base">
              <a:spcAft>
                <a:spcPts val="1800"/>
              </a:spcAft>
              <a:buFont typeface="+mj-lt"/>
              <a:buAutoNum type="arabicPeriod"/>
            </a:pPr>
            <a:r>
              <a:rPr lang="en-US" b="0" i="0" dirty="0">
                <a:solidFill>
                  <a:srgbClr val="273239"/>
                </a:solidFill>
                <a:effectLst/>
                <a:latin typeface="Nunito" pitchFamily="2" charset="0"/>
              </a:rPr>
              <a:t>Understanding the concept of critical section and why it’s important for synchronization.</a:t>
            </a:r>
          </a:p>
          <a:p>
            <a:pPr algn="l" fontAlgn="base">
              <a:spcAft>
                <a:spcPts val="1800"/>
              </a:spcAft>
              <a:buFont typeface="+mj-lt"/>
              <a:buAutoNum type="arabicPeriod" startAt="2"/>
            </a:pPr>
            <a:r>
              <a:rPr lang="en-US" b="0" i="0" dirty="0">
                <a:solidFill>
                  <a:srgbClr val="273239"/>
                </a:solidFill>
                <a:effectLst/>
                <a:latin typeface="Nunito" pitchFamily="2" charset="0"/>
              </a:rPr>
              <a:t>Familiarity with the different synchronization mechanisms used to implement critical sections, such as semaphores, mutexes, and monitors.</a:t>
            </a:r>
          </a:p>
          <a:p>
            <a:pPr algn="l" fontAlgn="base">
              <a:spcAft>
                <a:spcPts val="1800"/>
              </a:spcAft>
              <a:buFont typeface="+mj-lt"/>
              <a:buAutoNum type="arabicPeriod" startAt="3"/>
            </a:pPr>
            <a:r>
              <a:rPr lang="en-US" b="0" i="0" dirty="0">
                <a:solidFill>
                  <a:srgbClr val="273239"/>
                </a:solidFill>
                <a:effectLst/>
                <a:latin typeface="Nunito" pitchFamily="2" charset="0"/>
              </a:rPr>
              <a:t>Knowledge of common synchronization problems that can arise in critical sections, such as race conditions, deadlocks, and live locks.</a:t>
            </a:r>
          </a:p>
          <a:p>
            <a:pPr algn="l" fontAlgn="base">
              <a:spcAft>
                <a:spcPts val="1800"/>
              </a:spcAft>
              <a:buFont typeface="+mj-lt"/>
              <a:buAutoNum type="arabicPeriod" startAt="4"/>
            </a:pPr>
            <a:r>
              <a:rPr lang="en-US" b="0" i="0" dirty="0">
                <a:solidFill>
                  <a:srgbClr val="273239"/>
                </a:solidFill>
                <a:effectLst/>
                <a:latin typeface="Nunito" pitchFamily="2" charset="0"/>
              </a:rPr>
              <a:t>Understanding how to design and implement critical sections to ensure proper synchronization of shared resources and prevent synchronization-related issues.</a:t>
            </a:r>
          </a:p>
          <a:p>
            <a:pPr algn="l" fontAlgn="base">
              <a:spcAft>
                <a:spcPts val="1800"/>
              </a:spcAft>
              <a:buFont typeface="+mj-lt"/>
              <a:buAutoNum type="arabicPeriod" startAt="5"/>
            </a:pPr>
            <a:r>
              <a:rPr lang="en-US" b="0" i="0" dirty="0">
                <a:solidFill>
                  <a:srgbClr val="273239"/>
                </a:solidFill>
                <a:effectLst/>
                <a:latin typeface="Nunito" pitchFamily="2" charset="0"/>
              </a:rPr>
              <a:t>Familiarity with best practices for using critical sections in concurrent programming.</a:t>
            </a:r>
          </a:p>
        </p:txBody>
      </p:sp>
    </p:spTree>
    <p:extLst>
      <p:ext uri="{BB962C8B-B14F-4D97-AF65-F5344CB8AC3E}">
        <p14:creationId xmlns:p14="http://schemas.microsoft.com/office/powerpoint/2010/main" val="81911794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976</TotalTime>
  <Words>3943</Words>
  <Application>Microsoft Office PowerPoint</Application>
  <PresentationFormat>Widescreen</PresentationFormat>
  <Paragraphs>192</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Nunito</vt:lpstr>
      <vt:lpstr>Source Sans 3</vt:lpstr>
      <vt:lpstr>Times New Roman</vt:lpstr>
      <vt:lpstr>Retrospect</vt:lpstr>
      <vt:lpstr>Lecture # 05 Multi-Threading</vt:lpstr>
      <vt:lpstr>Multithreading in Operating System</vt:lpstr>
      <vt:lpstr>How Does Multithreading Work?</vt:lpstr>
      <vt:lpstr>What is Multitasking?</vt:lpstr>
      <vt:lpstr>What is Multitasking?</vt:lpstr>
      <vt:lpstr>Applications: </vt:lpstr>
      <vt:lpstr>Multithreading vs Multitasking</vt:lpstr>
      <vt:lpstr>Lifecycle of a Thread</vt:lpstr>
      <vt:lpstr>Types of Execution in OS</vt:lpstr>
      <vt:lpstr>Drawbacks of Multithreading</vt:lpstr>
      <vt:lpstr>Benefits of Multithreading</vt:lpstr>
      <vt:lpstr>What is the difference between a thread and a process?.</vt:lpstr>
      <vt:lpstr>Introduction of Process Synchronization</vt:lpstr>
      <vt:lpstr>Process Synchronization</vt:lpstr>
      <vt:lpstr>Process Synchronization</vt:lpstr>
      <vt:lpstr>Process Synchronization</vt:lpstr>
      <vt:lpstr>Types of Process Synchronization</vt:lpstr>
      <vt:lpstr>Conditions That Require Process Synchronization</vt:lpstr>
      <vt:lpstr>What is Race Condition?</vt:lpstr>
      <vt:lpstr>Critical Section Problem</vt:lpstr>
      <vt:lpstr>Critical Section Problem</vt:lpstr>
      <vt:lpstr>Classical IPC Problems</vt:lpstr>
      <vt:lpstr>Producer Consumer Problem</vt:lpstr>
      <vt:lpstr>Producer Consumer Problem</vt:lpstr>
      <vt:lpstr>Readers-Writers Problem</vt:lpstr>
      <vt:lpstr>Readers-Writers Problem</vt:lpstr>
      <vt:lpstr>Dining Philosophers Problem</vt:lpstr>
      <vt:lpstr>Advantages of Process Synchronization</vt:lpstr>
      <vt:lpstr>Disadvantages of Process Synchronization</vt:lpstr>
      <vt:lpstr>Process synchronization solution</vt:lpstr>
      <vt:lpstr>Critical Section in Synchronization</vt:lpstr>
      <vt:lpstr>Properties that should be followed if any code in the critical section</vt:lpstr>
      <vt:lpstr>Critical Section in Synchronization</vt:lpstr>
      <vt:lpstr>Critical Section Problem</vt:lpstr>
      <vt:lpstr>Critical Section Problem</vt:lpstr>
      <vt:lpstr>Critical Section Problem</vt:lpstr>
      <vt:lpstr>Solution to Critical Section Problem</vt:lpstr>
      <vt:lpstr>Advantages of Critical Section in Process Synchronization</vt:lpstr>
      <vt:lpstr>Disadvantages of Critical Section in Process Synchronization</vt:lpstr>
      <vt:lpstr>Important Points Related to Critical Section in Process Synchronization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fatimamehar424@gmail.com</dc:creator>
  <cp:lastModifiedBy>fatimamehar424@gmail.com</cp:lastModifiedBy>
  <cp:revision>6</cp:revision>
  <dcterms:created xsi:type="dcterms:W3CDTF">2025-01-19T18:41:29Z</dcterms:created>
  <dcterms:modified xsi:type="dcterms:W3CDTF">2025-02-08T13:53:20Z</dcterms:modified>
</cp:coreProperties>
</file>