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3479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3209738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6262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31D1B0-6A0E-4430-AC2D-7F9228F4CBE9}"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4039251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31D1B0-6A0E-4430-AC2D-7F9228F4CBE9}" type="datetimeFigureOut">
              <a:rPr lang="en-US" smtClean="0"/>
              <a:t>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2756589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31D1B0-6A0E-4430-AC2D-7F9228F4CBE9}"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977905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231D1B0-6A0E-4430-AC2D-7F9228F4CBE9}" type="datetimeFigureOut">
              <a:rPr lang="en-US" smtClean="0"/>
              <a:t>2/8/2025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450504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231D1B0-6A0E-4430-AC2D-7F9228F4CBE9}" type="datetimeFigureOut">
              <a:rPr lang="en-US" smtClean="0"/>
              <a:t>2/8/2025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E003177-7FED-4ECA-96D1-658996C5DF1F}" type="slidenum">
              <a:rPr lang="en-US" smtClean="0"/>
              <a:t>‹#›</a:t>
            </a:fld>
            <a:endParaRPr lang="en-US"/>
          </a:p>
        </p:txBody>
      </p:sp>
    </p:spTree>
    <p:extLst>
      <p:ext uri="{BB962C8B-B14F-4D97-AF65-F5344CB8AC3E}">
        <p14:creationId xmlns:p14="http://schemas.microsoft.com/office/powerpoint/2010/main" val="2402758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31D1B0-6A0E-4430-AC2D-7F9228F4CBE9}"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373277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1376729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881656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231D1B0-6A0E-4430-AC2D-7F9228F4CBE9}" type="datetimeFigureOut">
              <a:rPr lang="en-US" smtClean="0"/>
              <a:t>2/8/2025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E003177-7FED-4ECA-96D1-658996C5DF1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91905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F640A-BA8A-6A72-E911-EDB060ED022F}"/>
              </a:ext>
            </a:extLst>
          </p:cNvPr>
          <p:cNvSpPr>
            <a:spLocks noGrp="1"/>
          </p:cNvSpPr>
          <p:nvPr>
            <p:ph type="ctrTitle"/>
          </p:nvPr>
        </p:nvSpPr>
        <p:spPr/>
        <p:txBody>
          <a:bodyPr>
            <a:normAutofit/>
          </a:bodyPr>
          <a:lstStyle/>
          <a:p>
            <a:r>
              <a:rPr lang="en-US" sz="6600" b="1" dirty="0">
                <a:latin typeface="Times New Roman" panose="02020603050405020304" pitchFamily="18" charset="0"/>
                <a:cs typeface="Times New Roman" panose="02020603050405020304" pitchFamily="18" charset="0"/>
              </a:rPr>
              <a:t>Lecture # 03</a:t>
            </a:r>
            <a:br>
              <a:rPr lang="en-US" sz="6600" kern="0" dirty="0">
                <a:effectLst/>
                <a:latin typeface="Times New Roman" panose="02020603050405020304" pitchFamily="18" charset="0"/>
                <a:ea typeface="Times New Roman" panose="02020603050405020304" pitchFamily="18" charset="0"/>
              </a:rPr>
            </a:br>
            <a:r>
              <a:rPr lang="en-US" sz="6600" kern="0" dirty="0">
                <a:effectLst/>
                <a:latin typeface="Times New Roman" panose="02020603050405020304" pitchFamily="18" charset="0"/>
                <a:ea typeface="Times New Roman" panose="02020603050405020304" pitchFamily="18" charset="0"/>
              </a:rPr>
              <a:t>Concurrent systems: Types of processors (RISC &amp; CISC)</a:t>
            </a:r>
            <a:endParaRPr lang="en-US" sz="6600" dirty="0"/>
          </a:p>
        </p:txBody>
      </p:sp>
      <p:sp>
        <p:nvSpPr>
          <p:cNvPr id="3" name="Subtitle 2">
            <a:extLst>
              <a:ext uri="{FF2B5EF4-FFF2-40B4-BE49-F238E27FC236}">
                <a16:creationId xmlns:a16="http://schemas.microsoft.com/office/drawing/2014/main" id="{3EEDB696-4149-7917-BE8F-15EDA665DA61}"/>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Parallel and Distributed Computing</a:t>
            </a:r>
          </a:p>
          <a:p>
            <a:r>
              <a:rPr lang="en-US" dirty="0">
                <a:latin typeface="Times New Roman" panose="02020603050405020304" pitchFamily="18" charset="0"/>
                <a:cs typeface="Times New Roman" panose="02020603050405020304" pitchFamily="18" charset="0"/>
              </a:rPr>
              <a:t>CS-482</a:t>
            </a:r>
          </a:p>
        </p:txBody>
      </p:sp>
    </p:spTree>
    <p:extLst>
      <p:ext uri="{BB962C8B-B14F-4D97-AF65-F5344CB8AC3E}">
        <p14:creationId xmlns:p14="http://schemas.microsoft.com/office/powerpoint/2010/main" val="57622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3BF82-9C0E-677A-0117-51E7A1CF3E9A}"/>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What </a:t>
            </a:r>
            <a:r>
              <a:rPr lang="en-US" b="1" dirty="0">
                <a:solidFill>
                  <a:srgbClr val="273239"/>
                </a:solidFill>
                <a:latin typeface="Times New Roman" panose="02020603050405020304" pitchFamily="18" charset="0"/>
                <a:cs typeface="Times New Roman" panose="02020603050405020304" pitchFamily="18" charset="0"/>
              </a:rPr>
              <a:t>is </a:t>
            </a:r>
            <a:r>
              <a:rPr lang="en-US" b="1" i="0" dirty="0">
                <a:solidFill>
                  <a:srgbClr val="273239"/>
                </a:solidFill>
                <a:effectLst/>
                <a:latin typeface="Times New Roman" panose="02020603050405020304" pitchFamily="18" charset="0"/>
                <a:cs typeface="Times New Roman" panose="02020603050405020304" pitchFamily="18" charset="0"/>
              </a:rPr>
              <a:t>Concurrency?</a:t>
            </a:r>
            <a:endParaRPr lang="en-US" dirty="0"/>
          </a:p>
        </p:txBody>
      </p:sp>
      <p:sp>
        <p:nvSpPr>
          <p:cNvPr id="3" name="Content Placeholder 2">
            <a:extLst>
              <a:ext uri="{FF2B5EF4-FFF2-40B4-BE49-F238E27FC236}">
                <a16:creationId xmlns:a16="http://schemas.microsoft.com/office/drawing/2014/main" id="{3FCDAC42-FADB-6B17-4942-20B378942C9F}"/>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Concurrency in computing refers to the capability of an OS to handle more than one task or process at the same time, thereby enhancing efficiency and responsiveness. It may be supported by multi-threading or multi-processing whereby more than one process or threads are executed simultaneously or in an interleaved fashion.</a:t>
            </a:r>
          </a:p>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Thus, more than one program may run simultaneously on shared resources of the system, such as CPU, memory, and so on. This helps optimize performance and reduce idle times while improving the responsiveness of applications, generally in multitasking contexts. Good concurrency handling is crucial for </a:t>
            </a:r>
            <a:r>
              <a:rPr lang="en-US" dirty="0">
                <a:solidFill>
                  <a:srgbClr val="273239"/>
                </a:solidFill>
                <a:latin typeface="Times New Roman" panose="02020603050405020304" pitchFamily="18" charset="0"/>
                <a:cs typeface="Times New Roman" panose="02020603050405020304" pitchFamily="18" charset="0"/>
              </a:rPr>
              <a:t>deadlock</a:t>
            </a:r>
            <a:r>
              <a:rPr lang="en-US" b="0" i="0" dirty="0">
                <a:solidFill>
                  <a:srgbClr val="273239"/>
                </a:solidFill>
                <a:effectLst/>
                <a:latin typeface="Times New Roman" panose="02020603050405020304" pitchFamily="18" charset="0"/>
                <a:cs typeface="Times New Roman" panose="02020603050405020304" pitchFamily="18" charset="0"/>
              </a:rPr>
              <a:t> situations, race conditions, and usually also for uninterrupted execution of tasks. It helps in techniques like coordinating the execution of processes, memory allocation, and execution scheduling for maximizing throughput.</a:t>
            </a:r>
          </a:p>
          <a:p>
            <a:pPr algn="l" fontAlgn="base"/>
            <a:endParaRPr lang="en-US" b="1" i="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2932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E44C4-4AB2-1896-A855-D147D8807628}"/>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What is Concurrency in OS?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4F2DCBE-0457-C4BA-93CB-7293518F5B57}"/>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Concurrency in an </a:t>
            </a:r>
            <a:r>
              <a:rPr lang="en-US" dirty="0">
                <a:solidFill>
                  <a:srgbClr val="273239"/>
                </a:solidFill>
                <a:latin typeface="Times New Roman" panose="02020603050405020304" pitchFamily="18" charset="0"/>
                <a:cs typeface="Times New Roman" panose="02020603050405020304" pitchFamily="18" charset="0"/>
              </a:rPr>
              <a:t>operating system</a:t>
            </a:r>
            <a:r>
              <a:rPr lang="en-US" b="0" i="0" dirty="0">
                <a:solidFill>
                  <a:srgbClr val="273239"/>
                </a:solidFill>
                <a:effectLst/>
                <a:latin typeface="Times New Roman" panose="02020603050405020304" pitchFamily="18" charset="0"/>
                <a:cs typeface="Times New Roman" panose="02020603050405020304" pitchFamily="18" charset="0"/>
              </a:rPr>
              <a:t> refers to the ability to execute multiple processes or threads simultaneously, improving resource utilization and system efficiency. It allows several tasks to be in progress at the same time, either by running on separate processors or through context switching on a single processor. Concurrency is essential in modern OS design to handle multitasking, increase system responsiveness, and optimize performance for users and applications.</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1286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81064-7632-2328-6D64-C6B27468C870}"/>
              </a:ext>
            </a:extLst>
          </p:cNvPr>
          <p:cNvSpPr>
            <a:spLocks noGrp="1"/>
          </p:cNvSpPr>
          <p:nvPr>
            <p:ph type="title"/>
          </p:nvPr>
        </p:nvSpPr>
        <p:spPr/>
        <p:txBody>
          <a:bodyPr/>
          <a:lstStyle/>
          <a:p>
            <a:r>
              <a:rPr lang="en-US" dirty="0"/>
              <a:t>Motivation for Concurrent Systems</a:t>
            </a:r>
          </a:p>
        </p:txBody>
      </p:sp>
      <p:sp>
        <p:nvSpPr>
          <p:cNvPr id="3" name="Content Placeholder 2">
            <a:extLst>
              <a:ext uri="{FF2B5EF4-FFF2-40B4-BE49-F238E27FC236}">
                <a16:creationId xmlns:a16="http://schemas.microsoft.com/office/drawing/2014/main" id="{F62555B3-45A1-8700-D625-4BD8F0B70626}"/>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There are several motivations for allowing concurrent execution:</a:t>
            </a:r>
          </a:p>
          <a:p>
            <a:pPr marL="400050" indent="-400050" algn="l" fontAlgn="base">
              <a:spcAft>
                <a:spcPts val="1800"/>
              </a:spcAft>
              <a:buFont typeface="Arial" panose="020B0604020202020204" pitchFamily="34" charset="0"/>
              <a:buChar char="•"/>
            </a:pPr>
            <a:r>
              <a:rPr lang="en-US" b="1" i="0" dirty="0">
                <a:solidFill>
                  <a:srgbClr val="273239"/>
                </a:solidFill>
                <a:effectLst/>
                <a:latin typeface="Nunito" pitchFamily="2" charset="0"/>
              </a:rPr>
              <a:t>Physical resource Sharing: </a:t>
            </a:r>
            <a:r>
              <a:rPr lang="en-US" b="0" i="0" dirty="0">
                <a:solidFill>
                  <a:srgbClr val="273239"/>
                </a:solidFill>
                <a:effectLst/>
                <a:latin typeface="Nunito" pitchFamily="2" charset="0"/>
              </a:rPr>
              <a:t>Multiuser environment since hardware resources are limited</a:t>
            </a:r>
          </a:p>
          <a:p>
            <a:pPr marL="400050" indent="-400050" algn="l" fontAlgn="base">
              <a:spcAft>
                <a:spcPts val="1800"/>
              </a:spcAft>
              <a:buFont typeface="Arial" panose="020B0604020202020204" pitchFamily="34" charset="0"/>
              <a:buChar char="•"/>
            </a:pPr>
            <a:r>
              <a:rPr lang="en-US" b="1" i="0" dirty="0">
                <a:solidFill>
                  <a:srgbClr val="273239"/>
                </a:solidFill>
                <a:effectLst/>
                <a:latin typeface="Nunito" pitchFamily="2" charset="0"/>
              </a:rPr>
              <a:t>Logical resource Sharing: </a:t>
            </a:r>
            <a:r>
              <a:rPr lang="en-US" b="0" i="0" dirty="0">
                <a:solidFill>
                  <a:srgbClr val="273239"/>
                </a:solidFill>
                <a:effectLst/>
                <a:latin typeface="Nunito" pitchFamily="2" charset="0"/>
              </a:rPr>
              <a:t>Shared file (same piece of information)</a:t>
            </a:r>
          </a:p>
          <a:p>
            <a:pPr marL="400050" indent="-400050" algn="l" fontAlgn="base">
              <a:spcAft>
                <a:spcPts val="1800"/>
              </a:spcAft>
              <a:buFont typeface="Arial" panose="020B0604020202020204" pitchFamily="34" charset="0"/>
              <a:buChar char="•"/>
            </a:pPr>
            <a:r>
              <a:rPr lang="en-US" b="1" i="0" dirty="0">
                <a:solidFill>
                  <a:srgbClr val="273239"/>
                </a:solidFill>
                <a:effectLst/>
                <a:latin typeface="Nunito" pitchFamily="2" charset="0"/>
              </a:rPr>
              <a:t>Computation Speedup: </a:t>
            </a:r>
            <a:r>
              <a:rPr lang="en-US" b="0" i="0" dirty="0">
                <a:solidFill>
                  <a:srgbClr val="273239"/>
                </a:solidFill>
                <a:effectLst/>
                <a:latin typeface="Nunito" pitchFamily="2" charset="0"/>
              </a:rPr>
              <a:t>Parallel execution</a:t>
            </a:r>
          </a:p>
          <a:p>
            <a:pPr marL="400050" indent="-400050" algn="l" fontAlgn="base">
              <a:spcAft>
                <a:spcPts val="1800"/>
              </a:spcAft>
              <a:buFont typeface="Arial" panose="020B0604020202020204" pitchFamily="34" charset="0"/>
              <a:buChar char="•"/>
            </a:pPr>
            <a:r>
              <a:rPr lang="en-US" b="1" i="0" dirty="0">
                <a:solidFill>
                  <a:srgbClr val="273239"/>
                </a:solidFill>
                <a:effectLst/>
                <a:latin typeface="Nunito" pitchFamily="2" charset="0"/>
              </a:rPr>
              <a:t>Modularity: </a:t>
            </a:r>
            <a:r>
              <a:rPr lang="en-US" b="0" i="0" dirty="0">
                <a:solidFill>
                  <a:srgbClr val="273239"/>
                </a:solidFill>
                <a:effectLst/>
                <a:latin typeface="Nunito" pitchFamily="2" charset="0"/>
              </a:rPr>
              <a:t>Divide system functions into separation processes</a:t>
            </a:r>
          </a:p>
          <a:p>
            <a:endParaRPr lang="en-US" dirty="0"/>
          </a:p>
        </p:txBody>
      </p:sp>
    </p:spTree>
    <p:extLst>
      <p:ext uri="{BB962C8B-B14F-4D97-AF65-F5344CB8AC3E}">
        <p14:creationId xmlns:p14="http://schemas.microsoft.com/office/powerpoint/2010/main" val="2838440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37BF6-133C-2BE3-1F1F-CF766E2FBD2F}"/>
              </a:ext>
            </a:extLst>
          </p:cNvPr>
          <p:cNvSpPr>
            <a:spLocks noGrp="1"/>
          </p:cNvSpPr>
          <p:nvPr>
            <p:ph type="title"/>
          </p:nvPr>
        </p:nvSpPr>
        <p:spPr/>
        <p:txBody>
          <a:bodyPr>
            <a:normAutofit/>
          </a:bodyPr>
          <a:lstStyle/>
          <a:p>
            <a:r>
              <a:rPr lang="en-US" b="1" i="0" dirty="0">
                <a:solidFill>
                  <a:srgbClr val="273239"/>
                </a:solidFill>
                <a:effectLst/>
                <a:latin typeface="Times New Roman" panose="02020603050405020304" pitchFamily="18" charset="0"/>
                <a:cs typeface="Times New Roman" panose="02020603050405020304" pitchFamily="18" charset="0"/>
              </a:rPr>
              <a:t>Relationship Between Processes of Operating System</a:t>
            </a:r>
            <a:endParaRPr lang="en-US" dirty="0"/>
          </a:p>
        </p:txBody>
      </p:sp>
      <p:sp>
        <p:nvSpPr>
          <p:cNvPr id="3" name="Content Placeholder 2">
            <a:extLst>
              <a:ext uri="{FF2B5EF4-FFF2-40B4-BE49-F238E27FC236}">
                <a16:creationId xmlns:a16="http://schemas.microsoft.com/office/drawing/2014/main" id="{D206C0D1-B247-21B8-6C4F-6B66AF111E1D}"/>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The Processes executing in the operating system is one of the following two types:</a:t>
            </a:r>
          </a:p>
          <a:p>
            <a:pPr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Independent Processes</a:t>
            </a:r>
          </a:p>
          <a:p>
            <a:pPr algn="l" fontAlgn="base">
              <a:spcAft>
                <a:spcPts val="1800"/>
              </a:spcAft>
              <a:buFont typeface="Arial" panose="020B0604020202020204" pitchFamily="34" charset="0"/>
              <a:buChar char="•"/>
            </a:pPr>
            <a:r>
              <a:rPr lang="en-US" dirty="0">
                <a:solidFill>
                  <a:srgbClr val="273239"/>
                </a:solidFill>
                <a:latin typeface="Times New Roman" panose="02020603050405020304" pitchFamily="18" charset="0"/>
                <a:cs typeface="Times New Roman" panose="02020603050405020304" pitchFamily="18" charset="0"/>
              </a:rPr>
              <a:t>Cooperating Processes</a:t>
            </a:r>
            <a:endParaRPr lang="en-US" b="0" i="0" dirty="0">
              <a:solidFill>
                <a:srgbClr val="273239"/>
              </a:solidFill>
              <a:effectLst/>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1725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772AE-7EDF-B5D9-9277-03A0787FDDF2}"/>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Independent Processes</a:t>
            </a:r>
            <a:endParaRPr lang="en-US" dirty="0"/>
          </a:p>
        </p:txBody>
      </p:sp>
      <p:sp>
        <p:nvSpPr>
          <p:cNvPr id="3" name="Content Placeholder 2">
            <a:extLst>
              <a:ext uri="{FF2B5EF4-FFF2-40B4-BE49-F238E27FC236}">
                <a16:creationId xmlns:a16="http://schemas.microsoft.com/office/drawing/2014/main" id="{A328A446-5A13-3BA0-A22B-E7AD4EC8649C}"/>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Its state is not shared with any other process.</a:t>
            </a:r>
          </a:p>
          <a:p>
            <a:pPr marL="400050" indent="-400050"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result of execution depends only on the input state.</a:t>
            </a:r>
          </a:p>
          <a:p>
            <a:pPr marL="400050" indent="-400050"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result of the execution will always be the same for the same input.</a:t>
            </a:r>
          </a:p>
          <a:p>
            <a:pPr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termination of the independent process will not terminate any other.</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7262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878FC-0154-71A6-E103-38224A27EA45}"/>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Cooperating Processes</a:t>
            </a:r>
            <a:endParaRPr lang="en-US" dirty="0"/>
          </a:p>
        </p:txBody>
      </p:sp>
      <p:sp>
        <p:nvSpPr>
          <p:cNvPr id="3" name="Content Placeholder 2">
            <a:extLst>
              <a:ext uri="{FF2B5EF4-FFF2-40B4-BE49-F238E27FC236}">
                <a16:creationId xmlns:a16="http://schemas.microsoft.com/office/drawing/2014/main" id="{A10A62C6-553D-2D95-8AC2-C184D4EFAE48}"/>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Its state is shared along other processes.</a:t>
            </a:r>
          </a:p>
          <a:p>
            <a:pPr marL="457200" indent="-400050"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result of the execution depends on relative execution sequence and cannot be predicted in advanced(Non-deterministic).</a:t>
            </a:r>
          </a:p>
          <a:p>
            <a:pPr marL="457200" indent="-400050"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result of the execution will not always be the same for the same input.</a:t>
            </a:r>
          </a:p>
          <a:p>
            <a:pPr marL="457200" indent="-400050"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termination of the cooperating process may affect other process.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420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599C9-D879-2B21-606A-B3EF14E4CFC0}"/>
              </a:ext>
            </a:extLst>
          </p:cNvPr>
          <p:cNvSpPr>
            <a:spLocks noGrp="1"/>
          </p:cNvSpPr>
          <p:nvPr>
            <p:ph type="title"/>
          </p:nvPr>
        </p:nvSpPr>
        <p:spPr/>
        <p:txBody>
          <a:bodyPr>
            <a:normAutofit/>
          </a:bodyPr>
          <a:lstStyle/>
          <a:p>
            <a:r>
              <a:rPr lang="en-US" b="1" i="0" dirty="0">
                <a:solidFill>
                  <a:srgbClr val="273239"/>
                </a:solidFill>
                <a:effectLst/>
                <a:latin typeface="Times New Roman" panose="02020603050405020304" pitchFamily="18" charset="0"/>
                <a:cs typeface="Times New Roman" panose="02020603050405020304" pitchFamily="18" charset="0"/>
              </a:rPr>
              <a:t>Process Operation in Operating System</a:t>
            </a:r>
            <a:endParaRPr lang="en-US" dirty="0"/>
          </a:p>
        </p:txBody>
      </p:sp>
      <p:sp>
        <p:nvSpPr>
          <p:cNvPr id="3" name="Content Placeholder 2">
            <a:extLst>
              <a:ext uri="{FF2B5EF4-FFF2-40B4-BE49-F238E27FC236}">
                <a16:creationId xmlns:a16="http://schemas.microsoft.com/office/drawing/2014/main" id="{A9986763-DBD6-4680-18AE-DF18C06421F8}"/>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Most systems support at least two types of operations that can be invoked on a process creation and process deletion.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1430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F71F7-98BB-35E7-A9D8-0F0D494A6FBD}"/>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Process Creation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3D4EC1-CF22-B757-BCF3-A9826B86ADDA}"/>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A parent process and then children of that process can be created. When more than one process is created several possible implementations exist.</a:t>
            </a:r>
          </a:p>
          <a:p>
            <a:pPr marL="400050" indent="-40005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Parent and child can execute concurrently.</a:t>
            </a:r>
          </a:p>
          <a:p>
            <a:pPr marL="400050" indent="-40005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Parents waits  until all of its children have terminated.</a:t>
            </a:r>
          </a:p>
          <a:p>
            <a:pPr marL="400050" indent="-40005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parent and children share all resources in common.</a:t>
            </a:r>
          </a:p>
          <a:p>
            <a:pPr marL="400050" indent="-40005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children share only a subset of their parent’s resources.</a:t>
            </a:r>
          </a:p>
        </p:txBody>
      </p:sp>
    </p:spTree>
    <p:extLst>
      <p:ext uri="{BB962C8B-B14F-4D97-AF65-F5344CB8AC3E}">
        <p14:creationId xmlns:p14="http://schemas.microsoft.com/office/powerpoint/2010/main" val="3069490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D527E-859E-4674-7E54-E95FCFDCC253}"/>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Process Termination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C0D7B86-D13F-55FC-C810-32A3E216DCAD}"/>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A child process can be terminated in the following ways:</a:t>
            </a:r>
          </a:p>
          <a:p>
            <a:pPr marL="0" indent="0" algn="l" fontAlgn="base">
              <a:spcAft>
                <a:spcPts val="1800"/>
              </a:spcAft>
              <a:buNone/>
            </a:pPr>
            <a:r>
              <a:rPr lang="en-US" b="0" i="0" dirty="0">
                <a:solidFill>
                  <a:srgbClr val="273239"/>
                </a:solidFill>
                <a:effectLst/>
                <a:latin typeface="Nunito" pitchFamily="2" charset="0"/>
              </a:rPr>
              <a:t>A parent may terminate the execution of one of its children for a following reasons:</a:t>
            </a:r>
          </a:p>
          <a:p>
            <a:pPr marL="400050" indent="-342900" algn="l" fontAlgn="base">
              <a:spcAft>
                <a:spcPts val="1800"/>
              </a:spcAft>
              <a:buFont typeface="+mj-lt"/>
              <a:buAutoNum type="arabicPeriod"/>
            </a:pPr>
            <a:r>
              <a:rPr lang="en-US" b="0" i="0" dirty="0">
                <a:solidFill>
                  <a:srgbClr val="273239"/>
                </a:solidFill>
                <a:effectLst/>
                <a:latin typeface="Nunito" pitchFamily="2" charset="0"/>
              </a:rPr>
              <a:t>The child has exceeded its allocation resource usage.</a:t>
            </a:r>
          </a:p>
          <a:p>
            <a:pPr marL="400050" indent="-342900" algn="l" fontAlgn="base">
              <a:spcAft>
                <a:spcPts val="1800"/>
              </a:spcAft>
              <a:buFont typeface="+mj-lt"/>
              <a:buAutoNum type="arabicPeriod" startAt="2"/>
            </a:pPr>
            <a:r>
              <a:rPr lang="en-US" b="0" i="0" dirty="0">
                <a:solidFill>
                  <a:srgbClr val="273239"/>
                </a:solidFill>
                <a:effectLst/>
                <a:latin typeface="Nunito" pitchFamily="2" charset="0"/>
              </a:rPr>
              <a:t>The task assigned to its child is no longer required.</a:t>
            </a:r>
          </a:p>
          <a:p>
            <a:pPr marL="0" indent="0" algn="l" fontAlgn="base">
              <a:spcAft>
                <a:spcPts val="1800"/>
              </a:spcAft>
              <a:buNone/>
            </a:pPr>
            <a:r>
              <a:rPr lang="en-US" b="0" i="0" dirty="0">
                <a:solidFill>
                  <a:srgbClr val="273239"/>
                </a:solidFill>
                <a:effectLst/>
                <a:latin typeface="Nunito" pitchFamily="2" charset="0"/>
              </a:rPr>
              <a:t>If a parent has terminated than its children must be terminated.</a:t>
            </a:r>
          </a:p>
          <a:p>
            <a:pPr algn="just" rtl="0" fontAlgn="base">
              <a:spcAft>
                <a:spcPts val="750"/>
              </a:spcAft>
            </a:pPr>
            <a:endParaRPr lang="en-US" b="0" i="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5161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22D02-8261-1ABB-CBFE-688A9B4F75C3}"/>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Principles of Concurrency</a:t>
            </a:r>
            <a:endParaRPr lang="en-US" dirty="0"/>
          </a:p>
        </p:txBody>
      </p:sp>
      <p:sp>
        <p:nvSpPr>
          <p:cNvPr id="3" name="Content Placeholder 2">
            <a:extLst>
              <a:ext uri="{FF2B5EF4-FFF2-40B4-BE49-F238E27FC236}">
                <a16:creationId xmlns:a16="http://schemas.microsoft.com/office/drawing/2014/main" id="{0F70D0E2-24EC-5C6E-21E5-6691F6840263}"/>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Both interleaved and overlapped processes can be viewed as examples of concurrent processes, they both present the same problems.</a:t>
            </a:r>
          </a:p>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 </a:t>
            </a:r>
            <a:br>
              <a:rPr lang="en-US" b="0" i="0" dirty="0">
                <a:solidFill>
                  <a:srgbClr val="273239"/>
                </a:solidFill>
                <a:effectLst/>
                <a:latin typeface="Times New Roman" panose="02020603050405020304" pitchFamily="18" charset="0"/>
                <a:cs typeface="Times New Roman" panose="02020603050405020304" pitchFamily="18" charset="0"/>
              </a:rPr>
            </a:br>
            <a:r>
              <a:rPr lang="en-US" b="0" i="0" dirty="0">
                <a:solidFill>
                  <a:srgbClr val="273239"/>
                </a:solidFill>
                <a:effectLst/>
                <a:latin typeface="Times New Roman" panose="02020603050405020304" pitchFamily="18" charset="0"/>
                <a:cs typeface="Times New Roman" panose="02020603050405020304" pitchFamily="18" charset="0"/>
              </a:rPr>
              <a:t>The relative speed of execution cannot be predicted. It depends on the following:  </a:t>
            </a:r>
          </a:p>
          <a:p>
            <a:pPr marL="400050" indent="-40005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activities of other processes</a:t>
            </a:r>
          </a:p>
          <a:p>
            <a:pPr marL="400050" indent="-40005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way operating system handles interrupts</a:t>
            </a:r>
          </a:p>
          <a:p>
            <a:pPr marL="400050" indent="-40005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The scheduling policies of the operating system</a:t>
            </a:r>
          </a:p>
        </p:txBody>
      </p:sp>
    </p:spTree>
    <p:extLst>
      <p:ext uri="{BB962C8B-B14F-4D97-AF65-F5344CB8AC3E}">
        <p14:creationId xmlns:p14="http://schemas.microsoft.com/office/powerpoint/2010/main" val="1297440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625DE-BB0F-E7EC-8071-8818D1D68406}"/>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Problems in Concurrency</a:t>
            </a:r>
            <a:endParaRPr lang="en-US" dirty="0"/>
          </a:p>
        </p:txBody>
      </p:sp>
      <p:sp>
        <p:nvSpPr>
          <p:cNvPr id="3" name="Content Placeholder 2">
            <a:extLst>
              <a:ext uri="{FF2B5EF4-FFF2-40B4-BE49-F238E27FC236}">
                <a16:creationId xmlns:a16="http://schemas.microsoft.com/office/drawing/2014/main" id="{CCB191BE-1153-C70A-64BF-EA22FE7C1256}"/>
              </a:ext>
            </a:extLst>
          </p:cNvPr>
          <p:cNvSpPr>
            <a:spLocks noGrp="1"/>
          </p:cNvSpPr>
          <p:nvPr>
            <p:ph idx="1"/>
          </p:nvPr>
        </p:nvSpPr>
        <p:spPr/>
        <p:txBody>
          <a:bodyPr>
            <a:normAutofit/>
          </a:bodyPr>
          <a:lstStyle/>
          <a:p>
            <a:pPr marL="457200" indent="-400050"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Sharing global resources: </a:t>
            </a:r>
            <a:r>
              <a:rPr lang="en-US" b="0" i="0" dirty="0">
                <a:solidFill>
                  <a:srgbClr val="273239"/>
                </a:solidFill>
                <a:effectLst/>
                <a:latin typeface="Times New Roman" panose="02020603050405020304" pitchFamily="18" charset="0"/>
                <a:cs typeface="Times New Roman" panose="02020603050405020304" pitchFamily="18" charset="0"/>
              </a:rPr>
              <a:t>Sharing of global resources safely is difficult. If two processes both make use of a global variable and both perform read and write on that variable, then the order in which various read and write are executed is critical.</a:t>
            </a:r>
          </a:p>
          <a:p>
            <a:pPr marL="457200" indent="-400050"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Optimal allocation of resources: </a:t>
            </a:r>
            <a:r>
              <a:rPr lang="en-US" b="0" i="0" dirty="0">
                <a:solidFill>
                  <a:srgbClr val="273239"/>
                </a:solidFill>
                <a:effectLst/>
                <a:latin typeface="Times New Roman" panose="02020603050405020304" pitchFamily="18" charset="0"/>
                <a:cs typeface="Times New Roman" panose="02020603050405020304" pitchFamily="18" charset="0"/>
              </a:rPr>
              <a:t>It is difficult for the operating system to manage the allocation of resources optimally.</a:t>
            </a:r>
          </a:p>
          <a:p>
            <a:pPr marL="457200" indent="-400050"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Locating programming errors: </a:t>
            </a:r>
            <a:r>
              <a:rPr lang="en-US" b="0" i="0" dirty="0">
                <a:solidFill>
                  <a:srgbClr val="273239"/>
                </a:solidFill>
                <a:effectLst/>
                <a:latin typeface="Times New Roman" panose="02020603050405020304" pitchFamily="18" charset="0"/>
                <a:cs typeface="Times New Roman" panose="02020603050405020304" pitchFamily="18" charset="0"/>
              </a:rPr>
              <a:t>It is very difficult to locate a programming error because reports are usually not reproducible.</a:t>
            </a:r>
          </a:p>
          <a:p>
            <a:pPr marL="457200" indent="-400050"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Locking the channel: </a:t>
            </a:r>
            <a:r>
              <a:rPr lang="en-US" b="0" i="0" dirty="0">
                <a:solidFill>
                  <a:srgbClr val="273239"/>
                </a:solidFill>
                <a:effectLst/>
                <a:latin typeface="Times New Roman" panose="02020603050405020304" pitchFamily="18" charset="0"/>
                <a:cs typeface="Times New Roman" panose="02020603050405020304" pitchFamily="18" charset="0"/>
              </a:rPr>
              <a:t>It may be inefficient for the operating system to simply lock the channel and prevents its use by other processes.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6577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E82CC-F906-970D-CE7D-F580BE0C951D}"/>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Advantages of Concurrency</a:t>
            </a:r>
            <a:endParaRPr lang="en-US" dirty="0"/>
          </a:p>
        </p:txBody>
      </p:sp>
      <p:sp>
        <p:nvSpPr>
          <p:cNvPr id="3" name="Content Placeholder 2">
            <a:extLst>
              <a:ext uri="{FF2B5EF4-FFF2-40B4-BE49-F238E27FC236}">
                <a16:creationId xmlns:a16="http://schemas.microsoft.com/office/drawing/2014/main" id="{80CBA4E3-D87B-06DD-8ECE-D6E375992D02}"/>
              </a:ext>
            </a:extLst>
          </p:cNvPr>
          <p:cNvSpPr>
            <a:spLocks noGrp="1"/>
          </p:cNvSpPr>
          <p:nvPr>
            <p:ph idx="1"/>
          </p:nvPr>
        </p:nvSpPr>
        <p:spPr/>
        <p:txBody>
          <a:bodyPr>
            <a:normAutofit/>
          </a:bodyPr>
          <a:lstStyle/>
          <a:p>
            <a:pPr marL="400050" indent="-400050" algn="just"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Running of multiple applications: </a:t>
            </a:r>
            <a:r>
              <a:rPr lang="en-US" b="0" i="0" dirty="0">
                <a:solidFill>
                  <a:srgbClr val="273239"/>
                </a:solidFill>
                <a:effectLst/>
                <a:latin typeface="Times New Roman" panose="02020603050405020304" pitchFamily="18" charset="0"/>
                <a:cs typeface="Times New Roman" panose="02020603050405020304" pitchFamily="18" charset="0"/>
              </a:rPr>
              <a:t>It enable to run multiple applications at the same time.</a:t>
            </a:r>
          </a:p>
          <a:p>
            <a:pPr marL="400050" indent="-400050" algn="just"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Better resource utilization: </a:t>
            </a:r>
            <a:r>
              <a:rPr lang="en-US" b="0" i="0" dirty="0">
                <a:solidFill>
                  <a:srgbClr val="273239"/>
                </a:solidFill>
                <a:effectLst/>
                <a:latin typeface="Times New Roman" panose="02020603050405020304" pitchFamily="18" charset="0"/>
                <a:cs typeface="Times New Roman" panose="02020603050405020304" pitchFamily="18" charset="0"/>
              </a:rPr>
              <a:t>It enables that the resources that are unused by one application can be used for other applications.</a:t>
            </a:r>
          </a:p>
          <a:p>
            <a:pPr marL="400050" indent="-400050" algn="just"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Better average response time: </a:t>
            </a:r>
            <a:r>
              <a:rPr lang="en-US" b="0" i="0" dirty="0">
                <a:solidFill>
                  <a:srgbClr val="273239"/>
                </a:solidFill>
                <a:effectLst/>
                <a:latin typeface="Times New Roman" panose="02020603050405020304" pitchFamily="18" charset="0"/>
                <a:cs typeface="Times New Roman" panose="02020603050405020304" pitchFamily="18" charset="0"/>
              </a:rPr>
              <a:t>Without concurrency, each application has to be run to completion before the next one can be run.</a:t>
            </a:r>
          </a:p>
          <a:p>
            <a:pPr marL="400050" indent="-400050" algn="just"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Better performance: </a:t>
            </a:r>
            <a:r>
              <a:rPr lang="en-US" b="0" i="0" dirty="0">
                <a:solidFill>
                  <a:srgbClr val="273239"/>
                </a:solidFill>
                <a:effectLst/>
                <a:latin typeface="Times New Roman" panose="02020603050405020304" pitchFamily="18" charset="0"/>
                <a:cs typeface="Times New Roman" panose="02020603050405020304" pitchFamily="18" charset="0"/>
              </a:rPr>
              <a:t>It enables the better performance by the operating system. When one application uses only the processor and another application uses only the disk drive then the time to run both applications concurrently to completion will be shorter than the time to run each application consecutively.</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7355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1292F-35A0-A08F-C74D-4DD356C4F74A}"/>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Drawbacks of Concurrency</a:t>
            </a:r>
            <a:endParaRPr lang="en-US" dirty="0"/>
          </a:p>
        </p:txBody>
      </p:sp>
      <p:sp>
        <p:nvSpPr>
          <p:cNvPr id="3" name="Content Placeholder 2">
            <a:extLst>
              <a:ext uri="{FF2B5EF4-FFF2-40B4-BE49-F238E27FC236}">
                <a16:creationId xmlns:a16="http://schemas.microsoft.com/office/drawing/2014/main" id="{EBBE7CE1-FF4F-0CD5-6A77-51C5070DEE7B}"/>
              </a:ext>
            </a:extLst>
          </p:cNvPr>
          <p:cNvSpPr>
            <a:spLocks noGrp="1"/>
          </p:cNvSpPr>
          <p:nvPr>
            <p:ph idx="1"/>
          </p:nvPr>
        </p:nvSpPr>
        <p:spPr/>
        <p:txBody>
          <a:bodyPr/>
          <a:lstStyle/>
          <a:p>
            <a:pPr marL="400050" indent="-34290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It is required to protect multiple applications from one another.</a:t>
            </a:r>
          </a:p>
          <a:p>
            <a:pPr marL="400050" indent="-34290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It is required to coordinate multiple applications through additional mechanisms.</a:t>
            </a:r>
          </a:p>
          <a:p>
            <a:pPr marL="400050" indent="-34290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Additional performance overheads and complexities in operating systems are required for switching among applications.</a:t>
            </a:r>
          </a:p>
          <a:p>
            <a:pPr marL="400050" indent="-342900" algn="just"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Sometimes running too many applications concurrently leads to severely degraded performance.</a:t>
            </a:r>
          </a:p>
        </p:txBody>
      </p:sp>
    </p:spTree>
    <p:extLst>
      <p:ext uri="{BB962C8B-B14F-4D97-AF65-F5344CB8AC3E}">
        <p14:creationId xmlns:p14="http://schemas.microsoft.com/office/powerpoint/2010/main" val="1839685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25AE0-EF6A-2E0E-8603-2EE9A7776BA7}"/>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Issues of Concurrency</a:t>
            </a:r>
            <a:endParaRPr lang="en-US" dirty="0"/>
          </a:p>
        </p:txBody>
      </p:sp>
      <p:sp>
        <p:nvSpPr>
          <p:cNvPr id="3" name="Content Placeholder 2">
            <a:extLst>
              <a:ext uri="{FF2B5EF4-FFF2-40B4-BE49-F238E27FC236}">
                <a16:creationId xmlns:a16="http://schemas.microsoft.com/office/drawing/2014/main" id="{DF322703-A36E-8AA7-B892-C14C1C150373}"/>
              </a:ext>
            </a:extLst>
          </p:cNvPr>
          <p:cNvSpPr>
            <a:spLocks noGrp="1"/>
          </p:cNvSpPr>
          <p:nvPr>
            <p:ph idx="1"/>
          </p:nvPr>
        </p:nvSpPr>
        <p:spPr/>
        <p:txBody>
          <a:bodyPr>
            <a:normAutofit fontScale="92500" lnSpcReduction="10000"/>
          </a:bodyPr>
          <a:lstStyle/>
          <a:p>
            <a:pPr marL="457200" indent="-400050"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Non-atomic: </a:t>
            </a:r>
            <a:r>
              <a:rPr lang="en-US" b="0" i="0" dirty="0">
                <a:solidFill>
                  <a:srgbClr val="273239"/>
                </a:solidFill>
                <a:effectLst/>
                <a:latin typeface="Times New Roman" panose="02020603050405020304" pitchFamily="18" charset="0"/>
                <a:cs typeface="Times New Roman" panose="02020603050405020304" pitchFamily="18" charset="0"/>
              </a:rPr>
              <a:t>Operations that are non-atomic but interruptible by multiple processes can cause problems.</a:t>
            </a:r>
          </a:p>
          <a:p>
            <a:pPr marL="457200" indent="-400050"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Race conditions: </a:t>
            </a:r>
            <a:r>
              <a:rPr lang="en-US" b="0" i="0" dirty="0">
                <a:solidFill>
                  <a:srgbClr val="273239"/>
                </a:solidFill>
                <a:effectLst/>
                <a:latin typeface="Times New Roman" panose="02020603050405020304" pitchFamily="18" charset="0"/>
                <a:cs typeface="Times New Roman" panose="02020603050405020304" pitchFamily="18" charset="0"/>
              </a:rPr>
              <a:t>A </a:t>
            </a:r>
            <a:r>
              <a:rPr lang="en-US" dirty="0">
                <a:solidFill>
                  <a:srgbClr val="273239"/>
                </a:solidFill>
                <a:latin typeface="Times New Roman" panose="02020603050405020304" pitchFamily="18" charset="0"/>
                <a:cs typeface="Times New Roman" panose="02020603050405020304" pitchFamily="18" charset="0"/>
              </a:rPr>
              <a:t>race condition</a:t>
            </a:r>
            <a:r>
              <a:rPr lang="en-US" b="0" i="0" dirty="0">
                <a:solidFill>
                  <a:srgbClr val="273239"/>
                </a:solidFill>
                <a:effectLst/>
                <a:latin typeface="Times New Roman" panose="02020603050405020304" pitchFamily="18" charset="0"/>
                <a:cs typeface="Times New Roman" panose="02020603050405020304" pitchFamily="18" charset="0"/>
              </a:rPr>
              <a:t> occurs of the outcome depends on which of several processes gets to a point first.</a:t>
            </a:r>
          </a:p>
          <a:p>
            <a:pPr marL="457200" indent="-400050"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Blocking: </a:t>
            </a:r>
            <a:r>
              <a:rPr lang="en-US" b="0" i="0" dirty="0">
                <a:solidFill>
                  <a:srgbClr val="273239"/>
                </a:solidFill>
                <a:effectLst/>
                <a:latin typeface="Times New Roman" panose="02020603050405020304" pitchFamily="18" charset="0"/>
                <a:cs typeface="Times New Roman" panose="02020603050405020304" pitchFamily="18" charset="0"/>
              </a:rPr>
              <a:t>Processes can block waiting for resources. A process could be blocked for long period of time waiting for input from a terminal. If the process is required to periodically update some data, this would be very undesirable.</a:t>
            </a:r>
          </a:p>
          <a:p>
            <a:pPr marL="457200" indent="-400050"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Starvation: </a:t>
            </a:r>
            <a:r>
              <a:rPr lang="en-US" dirty="0">
                <a:solidFill>
                  <a:srgbClr val="273239"/>
                </a:solidFill>
                <a:latin typeface="Times New Roman" panose="02020603050405020304" pitchFamily="18" charset="0"/>
                <a:cs typeface="Times New Roman" panose="02020603050405020304" pitchFamily="18" charset="0"/>
              </a:rPr>
              <a:t>Starvation</a:t>
            </a:r>
            <a:r>
              <a:rPr lang="en-US" b="0" i="0" dirty="0">
                <a:solidFill>
                  <a:srgbClr val="273239"/>
                </a:solidFill>
                <a:effectLst/>
                <a:latin typeface="Times New Roman" panose="02020603050405020304" pitchFamily="18" charset="0"/>
                <a:cs typeface="Times New Roman" panose="02020603050405020304" pitchFamily="18" charset="0"/>
              </a:rPr>
              <a:t> occurs when a process does not obtain service to progress.</a:t>
            </a:r>
          </a:p>
          <a:p>
            <a:pPr marL="457200" indent="-400050" algn="l" fontAlgn="base">
              <a:spcAft>
                <a:spcPts val="1800"/>
              </a:spcAft>
              <a:buFont typeface="Arial" panose="020B0604020202020204" pitchFamily="34" charset="0"/>
              <a:buChar char="•"/>
            </a:pPr>
            <a:r>
              <a:rPr lang="en-US" b="1" i="0" dirty="0">
                <a:solidFill>
                  <a:srgbClr val="273239"/>
                </a:solidFill>
                <a:effectLst/>
                <a:latin typeface="Times New Roman" panose="02020603050405020304" pitchFamily="18" charset="0"/>
                <a:cs typeface="Times New Roman" panose="02020603050405020304" pitchFamily="18" charset="0"/>
              </a:rPr>
              <a:t>Deadlock: </a:t>
            </a:r>
            <a:r>
              <a:rPr lang="en-US" dirty="0">
                <a:solidFill>
                  <a:srgbClr val="273239"/>
                </a:solidFill>
                <a:latin typeface="Times New Roman" panose="02020603050405020304" pitchFamily="18" charset="0"/>
                <a:cs typeface="Times New Roman" panose="02020603050405020304" pitchFamily="18" charset="0"/>
              </a:rPr>
              <a:t>Deadlock</a:t>
            </a:r>
            <a:r>
              <a:rPr lang="en-US" b="0" i="0" dirty="0">
                <a:solidFill>
                  <a:srgbClr val="273239"/>
                </a:solidFill>
                <a:effectLst/>
                <a:latin typeface="Times New Roman" panose="02020603050405020304" pitchFamily="18" charset="0"/>
                <a:cs typeface="Times New Roman" panose="02020603050405020304" pitchFamily="18" charset="0"/>
              </a:rPr>
              <a:t> occurs when two processes are blocked and hence neither can proceed to execute.</a:t>
            </a:r>
          </a:p>
        </p:txBody>
      </p:sp>
    </p:spTree>
    <p:extLst>
      <p:ext uri="{BB962C8B-B14F-4D97-AF65-F5344CB8AC3E}">
        <p14:creationId xmlns:p14="http://schemas.microsoft.com/office/powerpoint/2010/main" val="653705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5B0B7-EA7D-D60A-F1A3-8D0C664ED791}"/>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BED81C-71BD-7D48-9BDB-EF840FA9847F}"/>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Concurrency in Operating Systems refers to the major quark forming a basis of design that allows more than one process or thread to execute with others. This improves system efficiency since the CPU is utilized to its maximum capacity, hence enhancing response time and supporting multitasking. It also gives way to a lot of complexity regarding race conditions, deadlocks, and resource contention. This concurrency will be effectively utilized through the utilization of management techniques, such as process synchronization, mutual exclusion, and deadlock avoidance strategies that will ensure stability and predictability of behavior within the system.</a:t>
            </a:r>
          </a:p>
        </p:txBody>
      </p:sp>
    </p:spTree>
    <p:extLst>
      <p:ext uri="{BB962C8B-B14F-4D97-AF65-F5344CB8AC3E}">
        <p14:creationId xmlns:p14="http://schemas.microsoft.com/office/powerpoint/2010/main" val="2192373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342F3-3DAE-3615-8EFE-EC67309116B9}"/>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How is Concurrency different from Parallelism?</a:t>
            </a:r>
            <a:endParaRPr lang="en-US" dirty="0"/>
          </a:p>
        </p:txBody>
      </p:sp>
      <p:sp>
        <p:nvSpPr>
          <p:cNvPr id="3" name="Content Placeholder 2">
            <a:extLst>
              <a:ext uri="{FF2B5EF4-FFF2-40B4-BE49-F238E27FC236}">
                <a16:creationId xmlns:a16="http://schemas.microsoft.com/office/drawing/2014/main" id="{1DEA2D5E-BAFD-606D-65A0-D9E254B25937}"/>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Concurrency will address a number of tasks all at once but does not necessarily execute them all simultaneously, while parallelism refers to the execution of more than one task at the same time, utilizing different processors or cores</a:t>
            </a:r>
          </a:p>
        </p:txBody>
      </p:sp>
    </p:spTree>
    <p:extLst>
      <p:ext uri="{BB962C8B-B14F-4D97-AF65-F5344CB8AC3E}">
        <p14:creationId xmlns:p14="http://schemas.microsoft.com/office/powerpoint/2010/main" val="1582871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4D9CF-0A9C-7EF7-45D0-76C2AC67B66B}"/>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What is a Microprocessor?</a:t>
            </a:r>
            <a:endParaRPr lang="en-US" dirty="0"/>
          </a:p>
        </p:txBody>
      </p:sp>
      <p:sp>
        <p:nvSpPr>
          <p:cNvPr id="3" name="Content Placeholder 2">
            <a:extLst>
              <a:ext uri="{FF2B5EF4-FFF2-40B4-BE49-F238E27FC236}">
                <a16:creationId xmlns:a16="http://schemas.microsoft.com/office/drawing/2014/main" id="{7323C4D2-F71E-1390-AB8A-AFFE5FC8451E}"/>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A microprocessor is a computer processor that is found in most modern personal computers, smartphones, and other electronic devices. It is a central processing unit (</a:t>
            </a:r>
            <a:r>
              <a:rPr lang="en-US" dirty="0">
                <a:solidFill>
                  <a:srgbClr val="273239"/>
                </a:solidFill>
                <a:latin typeface="Times New Roman" panose="02020603050405020304" pitchFamily="18" charset="0"/>
                <a:cs typeface="Times New Roman" panose="02020603050405020304" pitchFamily="18" charset="0"/>
              </a:rPr>
              <a:t>CPU</a:t>
            </a:r>
            <a:r>
              <a:rPr lang="en-US" b="0" i="0" dirty="0">
                <a:solidFill>
                  <a:srgbClr val="273239"/>
                </a:solidFill>
                <a:effectLst/>
                <a:latin typeface="Times New Roman" panose="02020603050405020304" pitchFamily="18" charset="0"/>
                <a:cs typeface="Times New Roman" panose="02020603050405020304" pitchFamily="18" charset="0"/>
              </a:rPr>
              <a:t>) that performs most of the processing tasks in a computer system. The microprocessor is a key component of a computer, as it controls the fetching, decoding, and execution of instructions that are stored in memory. You can say that </a:t>
            </a:r>
            <a:r>
              <a:rPr lang="en-US" dirty="0">
                <a:solidFill>
                  <a:srgbClr val="273239"/>
                </a:solidFill>
                <a:latin typeface="Times New Roman" panose="02020603050405020304" pitchFamily="18" charset="0"/>
                <a:cs typeface="Times New Roman" panose="02020603050405020304" pitchFamily="18" charset="0"/>
              </a:rPr>
              <a:t>microprocessor</a:t>
            </a:r>
            <a:r>
              <a:rPr lang="en-US" b="0" i="0" dirty="0">
                <a:solidFill>
                  <a:srgbClr val="273239"/>
                </a:solidFill>
                <a:effectLst/>
                <a:latin typeface="Times New Roman" panose="02020603050405020304" pitchFamily="18" charset="0"/>
                <a:cs typeface="Times New Roman" panose="02020603050405020304" pitchFamily="18" charset="0"/>
              </a:rPr>
              <a:t> is used as the brain of the computing devices which control overall execution and operations. The development of microprocessors has played a significant role in the evolution of computers and has made it possible for them to become smaller, faster, and more powerful over time.</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1097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DAC40-CB3C-CB9F-BD6B-260D9BAD59B0}"/>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What is a Microprocessor?</a:t>
            </a:r>
            <a:endParaRPr lang="en-US" dirty="0"/>
          </a:p>
        </p:txBody>
      </p:sp>
      <p:pic>
        <p:nvPicPr>
          <p:cNvPr id="1026" name="Picture 2" descr="Lightbox">
            <a:extLst>
              <a:ext uri="{FF2B5EF4-FFF2-40B4-BE49-F238E27FC236}">
                <a16:creationId xmlns:a16="http://schemas.microsoft.com/office/drawing/2014/main" id="{30F88318-1797-EAB4-F8FA-47AB099D8B9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09234" y="1846263"/>
            <a:ext cx="7433857"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466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CBE58-5F94-3F70-EDA7-E5BA8930EC53}"/>
              </a:ext>
            </a:extLst>
          </p:cNvPr>
          <p:cNvSpPr>
            <a:spLocks noGrp="1"/>
          </p:cNvSpPr>
          <p:nvPr>
            <p:ph type="title"/>
          </p:nvPr>
        </p:nvSpPr>
        <p:spPr/>
        <p:txBody>
          <a:bodyPr/>
          <a:lstStyle/>
          <a:p>
            <a:r>
              <a:rPr lang="en-US" b="1" i="0" dirty="0">
                <a:solidFill>
                  <a:srgbClr val="273239"/>
                </a:solidFill>
                <a:effectLst/>
                <a:latin typeface="Nunito" pitchFamily="2" charset="0"/>
              </a:rPr>
              <a:t>Types of Microprocessors</a:t>
            </a:r>
            <a:endParaRPr lang="en-US" dirty="0"/>
          </a:p>
        </p:txBody>
      </p:sp>
      <p:pic>
        <p:nvPicPr>
          <p:cNvPr id="2050" name="Picture 2" descr="Lightbox">
            <a:extLst>
              <a:ext uri="{FF2B5EF4-FFF2-40B4-BE49-F238E27FC236}">
                <a16:creationId xmlns:a16="http://schemas.microsoft.com/office/drawing/2014/main" id="{549F4CCF-E25D-6CB7-96B7-F9C06C8EE8D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65074" y="1846263"/>
            <a:ext cx="5522177"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7471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755C4-B8D1-779E-1F65-129B7508ECB7}"/>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Vector Processor</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A8E4FCF-33D2-1195-3937-B9C332B2E1DA}"/>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A vector processor is a type of central processing unit (CPU) that is designed to perform mathematical operations on arrays of data, called vectors, more efficiently than a scalar processor, which operates on single data elements. Vector processors can perform operations on multiple data elements simultaneously, which can lead to faster and more efficient processing. Vector processors can be found in some supercomputers and servers, as well as in some specialized graphics processing units (</a:t>
            </a:r>
            <a:r>
              <a:rPr lang="en-US" dirty="0">
                <a:solidFill>
                  <a:srgbClr val="273239"/>
                </a:solidFill>
                <a:latin typeface="Times New Roman" panose="02020603050405020304" pitchFamily="18" charset="0"/>
                <a:cs typeface="Times New Roman" panose="02020603050405020304" pitchFamily="18" charset="0"/>
              </a:rPr>
              <a:t>GPU</a:t>
            </a:r>
            <a:r>
              <a:rPr lang="en-US" b="0" i="0" dirty="0">
                <a:solidFill>
                  <a:srgbClr val="273239"/>
                </a:solidFill>
                <a:effectLst/>
                <a:latin typeface="Times New Roman" panose="02020603050405020304" pitchFamily="18" charset="0"/>
                <a:cs typeface="Times New Roman" panose="02020603050405020304" pitchFamily="18" charset="0"/>
              </a:rPr>
              <a:t>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2348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76461-668E-3889-8FFA-016F81AD0D09}"/>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Array Processor or SIMD Processor </a:t>
            </a:r>
            <a:endParaRPr lang="en-US" dirty="0"/>
          </a:p>
        </p:txBody>
      </p:sp>
      <p:sp>
        <p:nvSpPr>
          <p:cNvPr id="3" name="Content Placeholder 2">
            <a:extLst>
              <a:ext uri="{FF2B5EF4-FFF2-40B4-BE49-F238E27FC236}">
                <a16:creationId xmlns:a16="http://schemas.microsoft.com/office/drawing/2014/main" id="{E0E7104E-1859-AD35-AF3F-5F189FA4239F}"/>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Array processors are also designed for vector computations. The difference between an array processor and a scalar processor is that a vector processor uses multiple vector pipelines whereas an array processor employs a number of processing elements to operate in parallel.  Array processors can also be found in some supercomputers and servers, as well as in some specialized graphics processing units (GPUs). Array processors are different from scalar processors, which operate on single data elements and are more common in general-purpose computing applications.</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4016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1CDF3-F4E2-9BEF-A8BB-E1490133E5F0}"/>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Scalar Processor</a:t>
            </a:r>
            <a:endParaRPr lang="en-US" dirty="0"/>
          </a:p>
        </p:txBody>
      </p:sp>
      <p:sp>
        <p:nvSpPr>
          <p:cNvPr id="3" name="Content Placeholder 2">
            <a:extLst>
              <a:ext uri="{FF2B5EF4-FFF2-40B4-BE49-F238E27FC236}">
                <a16:creationId xmlns:a16="http://schemas.microsoft.com/office/drawing/2014/main" id="{D1B139EE-907F-059F-EA0A-B2CB796A9EA7}"/>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It is a processor which executes scalar data. The simplest scalar processor makes the processing of only integer instruction using fixed point operands. A powerful scalar processor makes the processing of both integers as well as floating point numbers. It contains an integer ALU and a floating-point unit (FPU) on the same CPU chip. A scalar processor may be a CISC or </a:t>
            </a:r>
            <a:r>
              <a:rPr lang="en-US" dirty="0">
                <a:solidFill>
                  <a:srgbClr val="273239"/>
                </a:solidFill>
                <a:latin typeface="Times New Roman" panose="02020603050405020304" pitchFamily="18" charset="0"/>
                <a:cs typeface="Times New Roman" panose="02020603050405020304" pitchFamily="18" charset="0"/>
              </a:rPr>
              <a:t>RISC </a:t>
            </a:r>
            <a:r>
              <a:rPr lang="en-US" b="0" i="0" dirty="0">
                <a:solidFill>
                  <a:srgbClr val="273239"/>
                </a:solidFill>
                <a:effectLst/>
                <a:latin typeface="Times New Roman" panose="02020603050405020304" pitchFamily="18" charset="0"/>
                <a:cs typeface="Times New Roman" panose="02020603050405020304" pitchFamily="18" charset="0"/>
              </a:rPr>
              <a:t>processor. A super scalar processor contains multiple pipelines and executes more than one instruction per clock cycle.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9357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55F69-A1C7-99C9-3735-AC8784CAB87B}"/>
              </a:ext>
            </a:extLst>
          </p:cNvPr>
          <p:cNvSpPr>
            <a:spLocks noGrp="1"/>
          </p:cNvSpPr>
          <p:nvPr>
            <p:ph type="title"/>
          </p:nvPr>
        </p:nvSpPr>
        <p:spPr/>
        <p:txBody>
          <a:bodyPr/>
          <a:lstStyle/>
          <a:p>
            <a:r>
              <a:rPr lang="en-US" b="1" i="0" dirty="0">
                <a:solidFill>
                  <a:srgbClr val="273239"/>
                </a:solidFill>
                <a:effectLst/>
                <a:latin typeface="Times New Roman" panose="02020603050405020304" pitchFamily="18" charset="0"/>
                <a:cs typeface="Times New Roman" panose="02020603050405020304" pitchFamily="18" charset="0"/>
              </a:rPr>
              <a:t>RISC and CISC Processor </a:t>
            </a:r>
            <a:endParaRPr lang="en-US" dirty="0"/>
          </a:p>
        </p:txBody>
      </p:sp>
      <p:sp>
        <p:nvSpPr>
          <p:cNvPr id="3" name="Content Placeholder 2">
            <a:extLst>
              <a:ext uri="{FF2B5EF4-FFF2-40B4-BE49-F238E27FC236}">
                <a16:creationId xmlns:a16="http://schemas.microsoft.com/office/drawing/2014/main" id="{6126C294-166D-46AA-1610-069A73188953}"/>
              </a:ext>
            </a:extLst>
          </p:cNvPr>
          <p:cNvSpPr>
            <a:spLocks noGrp="1"/>
          </p:cNvSpPr>
          <p:nvPr>
            <p:ph idx="1"/>
          </p:nvPr>
        </p:nvSpPr>
        <p:spPr/>
        <p:txBody>
          <a:bodyPr>
            <a:normAutofit/>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RISC (Reduced Instruction Set Computing) and CISC (Complex Instruction Set Computing) are two approaches to designing a central processing unit (CPU), which is the main component of a computer that performs most of the processing tasks. RISC processors have a smaller, simpler instruction set, which means they have fewer types of instructions that they can execute. This makes them easier to design and manufacture, and allows them to execute instructions faster than CISC processors. RISC processors are typically used in devices that require high performance and low power consumption, such as smartphones and tablets. RISC processors are faster and more efficient than CISC processors.</a:t>
            </a:r>
          </a:p>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CISC processors, on the other hand, have a larger and more complex instruction set, which means they can execute a wider range of instructions. This makes them more versatile, but also more expensive and slower to execute instructions than RISC processors. CISC processors are typically used in devices that require more flexibility, such as desktop computers and servers.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97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AE5F8-E806-7004-49AE-F062794BB212}"/>
              </a:ext>
            </a:extLst>
          </p:cNvPr>
          <p:cNvSpPr>
            <a:spLocks noGrp="1"/>
          </p:cNvSpPr>
          <p:nvPr>
            <p:ph type="title"/>
          </p:nvPr>
        </p:nvSpPr>
        <p:spPr/>
        <p:txBody>
          <a:bodyPr/>
          <a:lstStyle/>
          <a:p>
            <a:pPr fontAlgn="base"/>
            <a:r>
              <a:rPr lang="en-US" b="1" i="0" dirty="0">
                <a:solidFill>
                  <a:srgbClr val="273239"/>
                </a:solidFill>
                <a:effectLst/>
                <a:latin typeface="Times New Roman" panose="02020603050405020304" pitchFamily="18" charset="0"/>
                <a:cs typeface="Times New Roman" panose="02020603050405020304" pitchFamily="18" charset="0"/>
              </a:rPr>
              <a:t>RISC and CISC in Computer Organization</a:t>
            </a:r>
          </a:p>
        </p:txBody>
      </p:sp>
      <p:sp>
        <p:nvSpPr>
          <p:cNvPr id="3" name="Content Placeholder 2">
            <a:extLst>
              <a:ext uri="{FF2B5EF4-FFF2-40B4-BE49-F238E27FC236}">
                <a16:creationId xmlns:a16="http://schemas.microsoft.com/office/drawing/2014/main" id="{40B6925D-3EF1-2532-C2A2-2076C1AFD4F5}"/>
              </a:ext>
            </a:extLst>
          </p:cNvPr>
          <p:cNvSpPr>
            <a:spLocks noGrp="1"/>
          </p:cNvSpPr>
          <p:nvPr>
            <p:ph idx="1"/>
          </p:nvPr>
        </p:nvSpPr>
        <p:spPr/>
        <p:txBody>
          <a:bodyPr/>
          <a:lstStyle/>
          <a:p>
            <a:r>
              <a:rPr lang="en-US" b="0" i="0" dirty="0">
                <a:solidFill>
                  <a:srgbClr val="273239"/>
                </a:solidFill>
                <a:effectLst/>
                <a:latin typeface="Times New Roman" panose="02020603050405020304" pitchFamily="18" charset="0"/>
                <a:cs typeface="Times New Roman" panose="02020603050405020304" pitchFamily="18" charset="0"/>
              </a:rPr>
              <a:t>RISC is the way to make hardware simpler whereas CISC is the single instruction that handles multiple work. </a:t>
            </a:r>
            <a:endParaRPr lang="en-US" dirty="0">
              <a:latin typeface="Times New Roman" panose="02020603050405020304" pitchFamily="18" charset="0"/>
              <a:cs typeface="Times New Roman" panose="02020603050405020304" pitchFamily="18" charset="0"/>
            </a:endParaRPr>
          </a:p>
        </p:txBody>
      </p:sp>
      <p:pic>
        <p:nvPicPr>
          <p:cNvPr id="1026" name="Picture 2" descr="RISC-and-CISC">
            <a:extLst>
              <a:ext uri="{FF2B5EF4-FFF2-40B4-BE49-F238E27FC236}">
                <a16:creationId xmlns:a16="http://schemas.microsoft.com/office/drawing/2014/main" id="{FC8E8461-BA7F-F5E1-168D-8E0F36AF98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3130" y="2541270"/>
            <a:ext cx="762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6029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19C39-27B6-7A88-D2CB-DFBE6CE34AA1}"/>
              </a:ext>
            </a:extLst>
          </p:cNvPr>
          <p:cNvSpPr>
            <a:spLocks noGrp="1"/>
          </p:cNvSpPr>
          <p:nvPr>
            <p:ph type="title"/>
          </p:nvPr>
        </p:nvSpPr>
        <p:spPr/>
        <p:txBody>
          <a:bodyPr>
            <a:normAutofit/>
          </a:bodyPr>
          <a:lstStyle/>
          <a:p>
            <a:r>
              <a:rPr lang="en-US" b="1" i="0" dirty="0">
                <a:solidFill>
                  <a:srgbClr val="273239"/>
                </a:solidFill>
                <a:effectLst/>
                <a:latin typeface="Times New Roman" panose="02020603050405020304" pitchFamily="18" charset="0"/>
                <a:cs typeface="Times New Roman" panose="02020603050405020304" pitchFamily="18" charset="0"/>
              </a:rPr>
              <a:t>Reduced Instruction Set Architecture (RISC)</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14E925-8ED3-D025-686F-FE39D051BEA3}"/>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The main idea behind this is to simplify hardware by using an instruction set composed of a few basic steps for loading, evaluating, and storing operations just like a load command will load data, a store command will store the data.</a:t>
            </a:r>
          </a:p>
        </p:txBody>
      </p:sp>
    </p:spTree>
    <p:extLst>
      <p:ext uri="{BB962C8B-B14F-4D97-AF65-F5344CB8AC3E}">
        <p14:creationId xmlns:p14="http://schemas.microsoft.com/office/powerpoint/2010/main" val="4290402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DD145-085E-D53D-E644-BF8EBBB274A2}"/>
              </a:ext>
            </a:extLst>
          </p:cNvPr>
          <p:cNvSpPr>
            <a:spLocks noGrp="1"/>
          </p:cNvSpPr>
          <p:nvPr>
            <p:ph type="title"/>
          </p:nvPr>
        </p:nvSpPr>
        <p:spPr/>
        <p:txBody>
          <a:bodyPr/>
          <a:lstStyle/>
          <a:p>
            <a:r>
              <a:rPr lang="en-US" b="1" i="0">
                <a:solidFill>
                  <a:srgbClr val="273239"/>
                </a:solidFill>
                <a:effectLst/>
                <a:latin typeface="Times New Roman" panose="02020603050405020304" pitchFamily="18" charset="0"/>
                <a:cs typeface="Times New Roman" panose="02020603050405020304" pitchFamily="18" charset="0"/>
              </a:rPr>
              <a:t>Characteristics of RISC</a:t>
            </a:r>
            <a:endParaRPr lang="en-US"/>
          </a:p>
        </p:txBody>
      </p:sp>
      <p:sp>
        <p:nvSpPr>
          <p:cNvPr id="3" name="Content Placeholder 2">
            <a:extLst>
              <a:ext uri="{FF2B5EF4-FFF2-40B4-BE49-F238E27FC236}">
                <a16:creationId xmlns:a16="http://schemas.microsoft.com/office/drawing/2014/main" id="{FED1732A-0474-6E75-3463-58370FF3A063}"/>
              </a:ext>
            </a:extLst>
          </p:cNvPr>
          <p:cNvSpPr>
            <a:spLocks noGrp="1"/>
          </p:cNvSpPr>
          <p:nvPr>
            <p:ph idx="1"/>
          </p:nvPr>
        </p:nvSpPr>
        <p:spPr/>
        <p:txBody>
          <a:bodyPr>
            <a:normAutofit/>
          </a:bodyPr>
          <a:lstStyle/>
          <a:p>
            <a:pPr marL="342900" indent="-342900" algn="l" fontAlgn="base">
              <a:spcBef>
                <a:spcPts val="0"/>
              </a:spcBef>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Simpler instruction, hence simple instruction decoding.</a:t>
            </a:r>
          </a:p>
          <a:p>
            <a:pPr marL="342900" indent="-342900" algn="l" fontAlgn="base">
              <a:spcBef>
                <a:spcPts val="0"/>
              </a:spcBef>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Instruction comes undersize of one word.</a:t>
            </a:r>
          </a:p>
          <a:p>
            <a:pPr marL="342900" indent="-342900" algn="l" fontAlgn="base">
              <a:spcBef>
                <a:spcPts val="0"/>
              </a:spcBef>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Instruction takes a single clock cycle to get executed.</a:t>
            </a:r>
          </a:p>
          <a:p>
            <a:pPr marL="342900" indent="-342900" algn="l" fontAlgn="base">
              <a:spcBef>
                <a:spcPts val="0"/>
              </a:spcBef>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More general-purpose registers.</a:t>
            </a:r>
          </a:p>
          <a:p>
            <a:pPr marL="342900" indent="-342900" algn="l" fontAlgn="base">
              <a:spcBef>
                <a:spcPts val="0"/>
              </a:spcBef>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Simple Addressing Modes.</a:t>
            </a:r>
          </a:p>
          <a:p>
            <a:pPr marL="342900" indent="-342900" algn="l" fontAlgn="base">
              <a:spcBef>
                <a:spcPts val="0"/>
              </a:spcBef>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Fewer Data types.</a:t>
            </a:r>
          </a:p>
          <a:p>
            <a:pPr marL="342900" indent="-342900" algn="l" fontAlgn="base">
              <a:spcBef>
                <a:spcPts val="0"/>
              </a:spcBef>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A pipeline can be achieved.</a:t>
            </a:r>
          </a:p>
          <a:p>
            <a:pPr marL="0">
              <a:spcBef>
                <a:spcPts val="0"/>
              </a:spcBef>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8592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E5310-6143-E833-113F-A6F70233C6D9}"/>
              </a:ext>
            </a:extLst>
          </p:cNvPr>
          <p:cNvSpPr>
            <a:spLocks noGrp="1"/>
          </p:cNvSpPr>
          <p:nvPr>
            <p:ph type="title"/>
          </p:nvPr>
        </p:nvSpPr>
        <p:spPr/>
        <p:txBody>
          <a:bodyPr/>
          <a:lstStyle/>
          <a:p>
            <a:r>
              <a:rPr lang="en-US" b="1" i="0" dirty="0">
                <a:solidFill>
                  <a:srgbClr val="273239"/>
                </a:solidFill>
                <a:effectLst/>
                <a:latin typeface="Nunito" pitchFamily="2" charset="0"/>
              </a:rPr>
              <a:t>Advantages of RISC</a:t>
            </a:r>
            <a:endParaRPr lang="en-US" dirty="0"/>
          </a:p>
        </p:txBody>
      </p:sp>
      <p:sp>
        <p:nvSpPr>
          <p:cNvPr id="3" name="Content Placeholder 2">
            <a:extLst>
              <a:ext uri="{FF2B5EF4-FFF2-40B4-BE49-F238E27FC236}">
                <a16:creationId xmlns:a16="http://schemas.microsoft.com/office/drawing/2014/main" id="{7394E327-6B2C-B619-F80A-B89C24599B35}"/>
              </a:ext>
            </a:extLst>
          </p:cNvPr>
          <p:cNvSpPr>
            <a:spLocks noGrp="1"/>
          </p:cNvSpPr>
          <p:nvPr>
            <p:ph idx="1"/>
          </p:nvPr>
        </p:nvSpPr>
        <p:spPr/>
        <p:txBody>
          <a:bodyPr/>
          <a:lstStyle/>
          <a:p>
            <a:pPr marL="400050" indent="-342900" algn="l" fontAlgn="base">
              <a:spcAft>
                <a:spcPts val="1800"/>
              </a:spcAft>
              <a:buFont typeface="Arial" panose="020B0604020202020204" pitchFamily="34" charset="0"/>
              <a:buChar char="•"/>
            </a:pPr>
            <a:r>
              <a:rPr lang="en-US" b="1" i="0" dirty="0">
                <a:solidFill>
                  <a:srgbClr val="273239"/>
                </a:solidFill>
                <a:effectLst/>
                <a:latin typeface="Nunito" pitchFamily="2" charset="0"/>
              </a:rPr>
              <a:t>Simpler instructions:</a:t>
            </a:r>
            <a:r>
              <a:rPr lang="en-US" b="0" i="0" dirty="0">
                <a:solidFill>
                  <a:srgbClr val="273239"/>
                </a:solidFill>
                <a:effectLst/>
                <a:latin typeface="Nunito" pitchFamily="2" charset="0"/>
              </a:rPr>
              <a:t> RISC processors use a smaller set of simple instructions, which makes them easier to decode and execute quickly. This results in faster processing times.</a:t>
            </a:r>
          </a:p>
          <a:p>
            <a:pPr marL="400050" indent="-342900" algn="l" fontAlgn="base">
              <a:spcAft>
                <a:spcPts val="1800"/>
              </a:spcAft>
              <a:buFont typeface="Arial" panose="020B0604020202020204" pitchFamily="34" charset="0"/>
              <a:buChar char="•"/>
            </a:pPr>
            <a:r>
              <a:rPr lang="en-US" b="1" i="0" dirty="0">
                <a:solidFill>
                  <a:srgbClr val="273239"/>
                </a:solidFill>
                <a:effectLst/>
                <a:latin typeface="Nunito" pitchFamily="2" charset="0"/>
              </a:rPr>
              <a:t>Faster execution:</a:t>
            </a:r>
            <a:r>
              <a:rPr lang="en-US" b="0" i="0" dirty="0">
                <a:solidFill>
                  <a:srgbClr val="273239"/>
                </a:solidFill>
                <a:effectLst/>
                <a:latin typeface="Nunito" pitchFamily="2" charset="0"/>
              </a:rPr>
              <a:t> Because RISC processors have a simpler instruction set, they can execute instructions faster than CISC processors.</a:t>
            </a:r>
          </a:p>
          <a:p>
            <a:pPr marL="400050" indent="-342900" algn="l" fontAlgn="base">
              <a:spcAft>
                <a:spcPts val="1800"/>
              </a:spcAft>
              <a:buFont typeface="Arial" panose="020B0604020202020204" pitchFamily="34" charset="0"/>
              <a:buChar char="•"/>
            </a:pPr>
            <a:r>
              <a:rPr lang="en-US" b="1" i="0" dirty="0">
                <a:solidFill>
                  <a:srgbClr val="273239"/>
                </a:solidFill>
                <a:effectLst/>
                <a:latin typeface="Nunito" pitchFamily="2" charset="0"/>
              </a:rPr>
              <a:t>Lower power consumption:</a:t>
            </a:r>
            <a:r>
              <a:rPr lang="en-US" b="0" i="0" dirty="0">
                <a:solidFill>
                  <a:srgbClr val="273239"/>
                </a:solidFill>
                <a:effectLst/>
                <a:latin typeface="Nunito" pitchFamily="2" charset="0"/>
              </a:rPr>
              <a:t> RISC processors consume less power than CISC processors, making them ideal for portable devices.</a:t>
            </a:r>
          </a:p>
          <a:p>
            <a:endParaRPr lang="en-US" dirty="0"/>
          </a:p>
        </p:txBody>
      </p:sp>
    </p:spTree>
    <p:extLst>
      <p:ext uri="{BB962C8B-B14F-4D97-AF65-F5344CB8AC3E}">
        <p14:creationId xmlns:p14="http://schemas.microsoft.com/office/powerpoint/2010/main" val="26390256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C3829-592D-57A8-2EF0-16A835E2A017}"/>
              </a:ext>
            </a:extLst>
          </p:cNvPr>
          <p:cNvSpPr>
            <a:spLocks noGrp="1"/>
          </p:cNvSpPr>
          <p:nvPr>
            <p:ph type="title"/>
          </p:nvPr>
        </p:nvSpPr>
        <p:spPr/>
        <p:txBody>
          <a:bodyPr/>
          <a:lstStyle/>
          <a:p>
            <a:r>
              <a:rPr lang="en-US" b="1" i="0" dirty="0">
                <a:solidFill>
                  <a:srgbClr val="273239"/>
                </a:solidFill>
                <a:effectLst/>
                <a:latin typeface="Nunito" pitchFamily="2" charset="0"/>
              </a:rPr>
              <a:t>Disadvantages of RISC</a:t>
            </a:r>
            <a:endParaRPr lang="en-US" dirty="0"/>
          </a:p>
        </p:txBody>
      </p:sp>
      <p:sp>
        <p:nvSpPr>
          <p:cNvPr id="3" name="Content Placeholder 2">
            <a:extLst>
              <a:ext uri="{FF2B5EF4-FFF2-40B4-BE49-F238E27FC236}">
                <a16:creationId xmlns:a16="http://schemas.microsoft.com/office/drawing/2014/main" id="{4CCF2442-138C-82E5-C946-999F732FE9DC}"/>
              </a:ext>
            </a:extLst>
          </p:cNvPr>
          <p:cNvSpPr>
            <a:spLocks noGrp="1"/>
          </p:cNvSpPr>
          <p:nvPr>
            <p:ph idx="1"/>
          </p:nvPr>
        </p:nvSpPr>
        <p:spPr/>
        <p:txBody>
          <a:bodyPr/>
          <a:lstStyle/>
          <a:p>
            <a:pPr marL="342900" indent="-285750" algn="l" fontAlgn="base">
              <a:spcAft>
                <a:spcPts val="1800"/>
              </a:spcAft>
              <a:buFont typeface="Arial" panose="020B0604020202020204" pitchFamily="34" charset="0"/>
              <a:buChar char="•"/>
            </a:pPr>
            <a:r>
              <a:rPr lang="en-US" b="1" i="0" dirty="0">
                <a:solidFill>
                  <a:srgbClr val="273239"/>
                </a:solidFill>
                <a:effectLst/>
                <a:latin typeface="Nunito" pitchFamily="2" charset="0"/>
              </a:rPr>
              <a:t>More instructions required:</a:t>
            </a:r>
            <a:r>
              <a:rPr lang="en-US" b="0" i="0" dirty="0">
                <a:solidFill>
                  <a:srgbClr val="273239"/>
                </a:solidFill>
                <a:effectLst/>
                <a:latin typeface="Nunito" pitchFamily="2" charset="0"/>
              </a:rPr>
              <a:t> RISC processors require more instructions to perform complex tasks than CISC processors.</a:t>
            </a:r>
          </a:p>
          <a:p>
            <a:pPr marL="342900" indent="-285750" algn="l" fontAlgn="base">
              <a:spcAft>
                <a:spcPts val="1800"/>
              </a:spcAft>
              <a:buFont typeface="Arial" panose="020B0604020202020204" pitchFamily="34" charset="0"/>
              <a:buChar char="•"/>
            </a:pPr>
            <a:r>
              <a:rPr lang="en-US" b="1" i="0" dirty="0">
                <a:solidFill>
                  <a:srgbClr val="273239"/>
                </a:solidFill>
                <a:effectLst/>
                <a:latin typeface="Nunito" pitchFamily="2" charset="0"/>
              </a:rPr>
              <a:t>Increased memory usage:</a:t>
            </a:r>
            <a:r>
              <a:rPr lang="en-US" b="0" i="0" dirty="0">
                <a:solidFill>
                  <a:srgbClr val="273239"/>
                </a:solidFill>
                <a:effectLst/>
                <a:latin typeface="Nunito" pitchFamily="2" charset="0"/>
              </a:rPr>
              <a:t> RISC processors require more memory to store the additional instructions needed to perform complex tasks.</a:t>
            </a:r>
          </a:p>
          <a:p>
            <a:pPr marL="342900" indent="-285750" algn="l" fontAlgn="base">
              <a:spcAft>
                <a:spcPts val="1800"/>
              </a:spcAft>
              <a:buFont typeface="Arial" panose="020B0604020202020204" pitchFamily="34" charset="0"/>
              <a:buChar char="•"/>
            </a:pPr>
            <a:r>
              <a:rPr lang="en-US" b="1" i="0" dirty="0">
                <a:solidFill>
                  <a:srgbClr val="273239"/>
                </a:solidFill>
                <a:effectLst/>
                <a:latin typeface="Nunito" pitchFamily="2" charset="0"/>
              </a:rPr>
              <a:t>Higher cost:</a:t>
            </a:r>
            <a:r>
              <a:rPr lang="en-US" b="0" i="0" dirty="0">
                <a:solidFill>
                  <a:srgbClr val="273239"/>
                </a:solidFill>
                <a:effectLst/>
                <a:latin typeface="Nunito" pitchFamily="2" charset="0"/>
              </a:rPr>
              <a:t> Developing and manufacturing RISC processors can be more expensive than CISC processors.</a:t>
            </a:r>
          </a:p>
          <a:p>
            <a:endParaRPr lang="en-US" dirty="0"/>
          </a:p>
        </p:txBody>
      </p:sp>
    </p:spTree>
    <p:extLst>
      <p:ext uri="{BB962C8B-B14F-4D97-AF65-F5344CB8AC3E}">
        <p14:creationId xmlns:p14="http://schemas.microsoft.com/office/powerpoint/2010/main" val="39721590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5BA8E-76DF-D106-7E77-553E523CAF84}"/>
              </a:ext>
            </a:extLst>
          </p:cNvPr>
          <p:cNvSpPr>
            <a:spLocks noGrp="1"/>
          </p:cNvSpPr>
          <p:nvPr>
            <p:ph type="title"/>
          </p:nvPr>
        </p:nvSpPr>
        <p:spPr/>
        <p:txBody>
          <a:bodyPr>
            <a:normAutofit/>
          </a:bodyPr>
          <a:lstStyle/>
          <a:p>
            <a:r>
              <a:rPr lang="en-US" b="1" i="0" dirty="0">
                <a:solidFill>
                  <a:srgbClr val="273239"/>
                </a:solidFill>
                <a:effectLst/>
                <a:latin typeface="Nunito" pitchFamily="2" charset="0"/>
              </a:rPr>
              <a:t>Complex Instruction Set Architecture (CISC)</a:t>
            </a:r>
            <a:endParaRPr lang="en-US" dirty="0"/>
          </a:p>
        </p:txBody>
      </p:sp>
      <p:sp>
        <p:nvSpPr>
          <p:cNvPr id="3" name="Content Placeholder 2">
            <a:extLst>
              <a:ext uri="{FF2B5EF4-FFF2-40B4-BE49-F238E27FC236}">
                <a16:creationId xmlns:a16="http://schemas.microsoft.com/office/drawing/2014/main" id="{B87C876F-44EB-66B9-ECDB-8585EE1AD05A}"/>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The main idea is that a single instruction will do all loading, evaluating, and storing operations just like a multiplication command will do stuff like loading data, evaluating, and storing it, hence it’s complex.</a:t>
            </a:r>
          </a:p>
        </p:txBody>
      </p:sp>
    </p:spTree>
    <p:extLst>
      <p:ext uri="{BB962C8B-B14F-4D97-AF65-F5344CB8AC3E}">
        <p14:creationId xmlns:p14="http://schemas.microsoft.com/office/powerpoint/2010/main" val="25318849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C56D0-04F3-83D6-8543-1E1944E29010}"/>
              </a:ext>
            </a:extLst>
          </p:cNvPr>
          <p:cNvSpPr>
            <a:spLocks noGrp="1"/>
          </p:cNvSpPr>
          <p:nvPr>
            <p:ph type="title"/>
          </p:nvPr>
        </p:nvSpPr>
        <p:spPr/>
        <p:txBody>
          <a:bodyPr/>
          <a:lstStyle/>
          <a:p>
            <a:r>
              <a:rPr lang="en-US" b="1" i="0" dirty="0">
                <a:solidFill>
                  <a:srgbClr val="273239"/>
                </a:solidFill>
                <a:effectLst/>
                <a:latin typeface="Nunito" pitchFamily="2" charset="0"/>
              </a:rPr>
              <a:t>Characteristics of CISC</a:t>
            </a:r>
            <a:endParaRPr lang="en-US" dirty="0"/>
          </a:p>
        </p:txBody>
      </p:sp>
      <p:sp>
        <p:nvSpPr>
          <p:cNvPr id="3" name="Content Placeholder 2">
            <a:extLst>
              <a:ext uri="{FF2B5EF4-FFF2-40B4-BE49-F238E27FC236}">
                <a16:creationId xmlns:a16="http://schemas.microsoft.com/office/drawing/2014/main" id="{4A9B4919-E1D9-CEF1-8093-9D334A9EC361}"/>
              </a:ext>
            </a:extLst>
          </p:cNvPr>
          <p:cNvSpPr>
            <a:spLocks noGrp="1"/>
          </p:cNvSpPr>
          <p:nvPr>
            <p:ph idx="1"/>
          </p:nvPr>
        </p:nvSpPr>
        <p:spPr/>
        <p:txBody>
          <a:bodyPr>
            <a:normAutofit/>
          </a:bodyPr>
          <a:lstStyle/>
          <a:p>
            <a:pPr marL="400050" indent="-342900" algn="l" fontAlgn="base">
              <a:spcAft>
                <a:spcPts val="1800"/>
              </a:spcAft>
              <a:buFont typeface="Arial" panose="020B0604020202020204" pitchFamily="34" charset="0"/>
              <a:buChar char="•"/>
            </a:pPr>
            <a:r>
              <a:rPr lang="en-US" b="0" i="0" dirty="0">
                <a:solidFill>
                  <a:srgbClr val="273239"/>
                </a:solidFill>
                <a:effectLst/>
                <a:latin typeface="Nunito" pitchFamily="2" charset="0"/>
              </a:rPr>
              <a:t>Complex instruction, hence complex instruction decoding.</a:t>
            </a:r>
          </a:p>
          <a:p>
            <a:pPr marL="400050" indent="-342900" algn="l" fontAlgn="base">
              <a:spcAft>
                <a:spcPts val="1800"/>
              </a:spcAft>
              <a:buFont typeface="Arial" panose="020B0604020202020204" pitchFamily="34" charset="0"/>
              <a:buChar char="•"/>
            </a:pPr>
            <a:r>
              <a:rPr lang="en-US" b="0" i="0" dirty="0">
                <a:solidFill>
                  <a:srgbClr val="273239"/>
                </a:solidFill>
                <a:effectLst/>
                <a:latin typeface="Nunito" pitchFamily="2" charset="0"/>
              </a:rPr>
              <a:t>Instructions are larger than one-word size.</a:t>
            </a:r>
          </a:p>
          <a:p>
            <a:pPr marL="400050" indent="-342900" algn="l" fontAlgn="base">
              <a:spcAft>
                <a:spcPts val="1800"/>
              </a:spcAft>
              <a:buFont typeface="Arial" panose="020B0604020202020204" pitchFamily="34" charset="0"/>
              <a:buChar char="•"/>
            </a:pPr>
            <a:r>
              <a:rPr lang="en-US" b="0" i="0" dirty="0">
                <a:solidFill>
                  <a:srgbClr val="273239"/>
                </a:solidFill>
                <a:effectLst/>
                <a:latin typeface="Nunito" pitchFamily="2" charset="0"/>
              </a:rPr>
              <a:t>Instruction may take more than a single clock cycle to get executed.</a:t>
            </a:r>
          </a:p>
          <a:p>
            <a:pPr marL="400050" indent="-342900" algn="l" fontAlgn="base">
              <a:spcAft>
                <a:spcPts val="1800"/>
              </a:spcAft>
              <a:buFont typeface="Arial" panose="020B0604020202020204" pitchFamily="34" charset="0"/>
              <a:buChar char="•"/>
            </a:pPr>
            <a:r>
              <a:rPr lang="en-US" b="0" i="0" dirty="0">
                <a:solidFill>
                  <a:srgbClr val="273239"/>
                </a:solidFill>
                <a:effectLst/>
                <a:latin typeface="Nunito" pitchFamily="2" charset="0"/>
              </a:rPr>
              <a:t>Less number of general-purpose registers as operations get performed in memory itself.</a:t>
            </a:r>
          </a:p>
          <a:p>
            <a:pPr marL="400050" indent="-342900" algn="l" fontAlgn="base">
              <a:spcAft>
                <a:spcPts val="1800"/>
              </a:spcAft>
              <a:buFont typeface="Arial" panose="020B0604020202020204" pitchFamily="34" charset="0"/>
              <a:buChar char="•"/>
            </a:pPr>
            <a:r>
              <a:rPr lang="en-US" b="0" i="0" dirty="0">
                <a:solidFill>
                  <a:srgbClr val="273239"/>
                </a:solidFill>
                <a:effectLst/>
                <a:latin typeface="Nunito" pitchFamily="2" charset="0"/>
              </a:rPr>
              <a:t>Complex Addressing Modes.</a:t>
            </a:r>
          </a:p>
          <a:p>
            <a:pPr marL="400050" indent="-342900" algn="l" fontAlgn="base">
              <a:spcAft>
                <a:spcPts val="1800"/>
              </a:spcAft>
              <a:buFont typeface="Arial" panose="020B0604020202020204" pitchFamily="34" charset="0"/>
              <a:buChar char="•"/>
            </a:pPr>
            <a:r>
              <a:rPr lang="en-US" b="0" i="0" dirty="0">
                <a:solidFill>
                  <a:srgbClr val="273239"/>
                </a:solidFill>
                <a:effectLst/>
                <a:latin typeface="Nunito" pitchFamily="2" charset="0"/>
              </a:rPr>
              <a:t>More Data types.</a:t>
            </a:r>
          </a:p>
        </p:txBody>
      </p:sp>
    </p:spTree>
    <p:extLst>
      <p:ext uri="{BB962C8B-B14F-4D97-AF65-F5344CB8AC3E}">
        <p14:creationId xmlns:p14="http://schemas.microsoft.com/office/powerpoint/2010/main" val="3298707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4BC0-A3AF-CCAD-5D81-602ACE556E09}"/>
              </a:ext>
            </a:extLst>
          </p:cNvPr>
          <p:cNvSpPr>
            <a:spLocks noGrp="1"/>
          </p:cNvSpPr>
          <p:nvPr>
            <p:ph type="title"/>
          </p:nvPr>
        </p:nvSpPr>
        <p:spPr/>
        <p:txBody>
          <a:bodyPr/>
          <a:lstStyle/>
          <a:p>
            <a:r>
              <a:rPr lang="en-US" b="1" i="0" dirty="0">
                <a:solidFill>
                  <a:srgbClr val="273239"/>
                </a:solidFill>
                <a:effectLst/>
                <a:latin typeface="Nunito" pitchFamily="2" charset="0"/>
              </a:rPr>
              <a:t>Advantages of CISC</a:t>
            </a:r>
            <a:endParaRPr lang="en-US" dirty="0"/>
          </a:p>
        </p:txBody>
      </p:sp>
      <p:sp>
        <p:nvSpPr>
          <p:cNvPr id="3" name="Content Placeholder 2">
            <a:extLst>
              <a:ext uri="{FF2B5EF4-FFF2-40B4-BE49-F238E27FC236}">
                <a16:creationId xmlns:a16="http://schemas.microsoft.com/office/drawing/2014/main" id="{5DB096FA-22F3-C5ED-2701-E293FF3BC64B}"/>
              </a:ext>
            </a:extLst>
          </p:cNvPr>
          <p:cNvSpPr>
            <a:spLocks noGrp="1"/>
          </p:cNvSpPr>
          <p:nvPr>
            <p:ph idx="1"/>
          </p:nvPr>
        </p:nvSpPr>
        <p:spPr/>
        <p:txBody>
          <a:bodyPr/>
          <a:lstStyle/>
          <a:p>
            <a:pPr marL="400050" indent="-342900" algn="l" fontAlgn="base">
              <a:spcAft>
                <a:spcPts val="1800"/>
              </a:spcAft>
              <a:buFont typeface="Arial" panose="020B0604020202020204" pitchFamily="34" charset="0"/>
              <a:buChar char="•"/>
            </a:pPr>
            <a:r>
              <a:rPr lang="en-US" b="1" i="0" dirty="0">
                <a:solidFill>
                  <a:srgbClr val="273239"/>
                </a:solidFill>
                <a:effectLst/>
                <a:latin typeface="Nunito" pitchFamily="2" charset="0"/>
              </a:rPr>
              <a:t>Reduced code size:</a:t>
            </a:r>
            <a:r>
              <a:rPr lang="en-US" b="0" i="0" dirty="0">
                <a:solidFill>
                  <a:srgbClr val="273239"/>
                </a:solidFill>
                <a:effectLst/>
                <a:latin typeface="Nunito" pitchFamily="2" charset="0"/>
              </a:rPr>
              <a:t> CISC processors use complex instructions that can perform multiple operations, reducing the amount of code needed to perform a task.</a:t>
            </a:r>
          </a:p>
          <a:p>
            <a:pPr marL="400050" indent="-342900" algn="l" fontAlgn="base">
              <a:spcAft>
                <a:spcPts val="1800"/>
              </a:spcAft>
              <a:buFont typeface="Arial" panose="020B0604020202020204" pitchFamily="34" charset="0"/>
              <a:buChar char="•"/>
            </a:pPr>
            <a:r>
              <a:rPr lang="en-US" b="1" i="0" dirty="0">
                <a:solidFill>
                  <a:srgbClr val="273239"/>
                </a:solidFill>
                <a:effectLst/>
                <a:latin typeface="Nunito" pitchFamily="2" charset="0"/>
              </a:rPr>
              <a:t>More memory efficient:</a:t>
            </a:r>
            <a:r>
              <a:rPr lang="en-US" b="0" i="0" dirty="0">
                <a:solidFill>
                  <a:srgbClr val="273239"/>
                </a:solidFill>
                <a:effectLst/>
                <a:latin typeface="Nunito" pitchFamily="2" charset="0"/>
              </a:rPr>
              <a:t> Because CISC instructions are more complex, they require fewer instructions to perform complex tasks, which can result in more memory-efficient code.</a:t>
            </a:r>
          </a:p>
          <a:p>
            <a:pPr marL="400050" indent="-342900" algn="l" fontAlgn="base">
              <a:spcAft>
                <a:spcPts val="1800"/>
              </a:spcAft>
              <a:buFont typeface="Arial" panose="020B0604020202020204" pitchFamily="34" charset="0"/>
              <a:buChar char="•"/>
            </a:pPr>
            <a:r>
              <a:rPr lang="en-US" b="1" i="0" dirty="0">
                <a:solidFill>
                  <a:srgbClr val="273239"/>
                </a:solidFill>
                <a:effectLst/>
                <a:latin typeface="Nunito" pitchFamily="2" charset="0"/>
              </a:rPr>
              <a:t>Widely used:</a:t>
            </a:r>
            <a:r>
              <a:rPr lang="en-US" b="0" i="0" dirty="0">
                <a:solidFill>
                  <a:srgbClr val="273239"/>
                </a:solidFill>
                <a:effectLst/>
                <a:latin typeface="Nunito" pitchFamily="2" charset="0"/>
              </a:rPr>
              <a:t> CISC processors have been in use for a longer time than RISC processors, so they have a larger user base and more available software.</a:t>
            </a:r>
          </a:p>
          <a:p>
            <a:endParaRPr lang="en-US" dirty="0"/>
          </a:p>
        </p:txBody>
      </p:sp>
    </p:spTree>
    <p:extLst>
      <p:ext uri="{BB962C8B-B14F-4D97-AF65-F5344CB8AC3E}">
        <p14:creationId xmlns:p14="http://schemas.microsoft.com/office/powerpoint/2010/main" val="6136017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1FE2C-8F0C-3520-00B1-51469E72CB83}"/>
              </a:ext>
            </a:extLst>
          </p:cNvPr>
          <p:cNvSpPr>
            <a:spLocks noGrp="1"/>
          </p:cNvSpPr>
          <p:nvPr>
            <p:ph type="title"/>
          </p:nvPr>
        </p:nvSpPr>
        <p:spPr/>
        <p:txBody>
          <a:bodyPr/>
          <a:lstStyle/>
          <a:p>
            <a:r>
              <a:rPr lang="en-US" b="1" i="0" dirty="0">
                <a:solidFill>
                  <a:srgbClr val="273239"/>
                </a:solidFill>
                <a:effectLst/>
                <a:latin typeface="Nunito" pitchFamily="2" charset="0"/>
              </a:rPr>
              <a:t>Disadvantages of CISC</a:t>
            </a:r>
            <a:endParaRPr lang="en-US" dirty="0"/>
          </a:p>
        </p:txBody>
      </p:sp>
      <p:sp>
        <p:nvSpPr>
          <p:cNvPr id="3" name="Content Placeholder 2">
            <a:extLst>
              <a:ext uri="{FF2B5EF4-FFF2-40B4-BE49-F238E27FC236}">
                <a16:creationId xmlns:a16="http://schemas.microsoft.com/office/drawing/2014/main" id="{90D6CC33-B70D-9A3A-C256-3689B160C530}"/>
              </a:ext>
            </a:extLst>
          </p:cNvPr>
          <p:cNvSpPr>
            <a:spLocks noGrp="1"/>
          </p:cNvSpPr>
          <p:nvPr>
            <p:ph idx="1"/>
          </p:nvPr>
        </p:nvSpPr>
        <p:spPr/>
        <p:txBody>
          <a:bodyPr/>
          <a:lstStyle/>
          <a:p>
            <a:pPr marL="400050" indent="-400050" algn="l" fontAlgn="base">
              <a:spcAft>
                <a:spcPts val="1800"/>
              </a:spcAft>
              <a:buFont typeface="Arial" panose="020B0604020202020204" pitchFamily="34" charset="0"/>
              <a:buChar char="•"/>
            </a:pPr>
            <a:r>
              <a:rPr lang="en-US" b="1" i="0" dirty="0">
                <a:solidFill>
                  <a:srgbClr val="273239"/>
                </a:solidFill>
                <a:effectLst/>
                <a:latin typeface="Nunito" pitchFamily="2" charset="0"/>
              </a:rPr>
              <a:t>Slower execution:</a:t>
            </a:r>
            <a:r>
              <a:rPr lang="en-US" b="0" i="0" dirty="0">
                <a:solidFill>
                  <a:srgbClr val="273239"/>
                </a:solidFill>
                <a:effectLst/>
                <a:latin typeface="Nunito" pitchFamily="2" charset="0"/>
              </a:rPr>
              <a:t> CISC processors take longer to execute instructions because they have more complex instructions and need more time to decode them.</a:t>
            </a:r>
          </a:p>
          <a:p>
            <a:pPr marL="400050" indent="-400050" algn="l" fontAlgn="base">
              <a:spcAft>
                <a:spcPts val="1800"/>
              </a:spcAft>
              <a:buFont typeface="Arial" panose="020B0604020202020204" pitchFamily="34" charset="0"/>
              <a:buChar char="•"/>
            </a:pPr>
            <a:r>
              <a:rPr lang="en-US" b="1" i="0" dirty="0">
                <a:solidFill>
                  <a:srgbClr val="273239"/>
                </a:solidFill>
                <a:effectLst/>
                <a:latin typeface="Nunito" pitchFamily="2" charset="0"/>
              </a:rPr>
              <a:t>More complex design:</a:t>
            </a:r>
            <a:r>
              <a:rPr lang="en-US" b="0" i="0" dirty="0">
                <a:solidFill>
                  <a:srgbClr val="273239"/>
                </a:solidFill>
                <a:effectLst/>
                <a:latin typeface="Nunito" pitchFamily="2" charset="0"/>
              </a:rPr>
              <a:t> CISC processors have more complex instruction sets, which makes them more difficult to design and manufacture.</a:t>
            </a:r>
          </a:p>
          <a:p>
            <a:pPr marL="400050" indent="-400050" algn="l" fontAlgn="base">
              <a:spcAft>
                <a:spcPts val="1800"/>
              </a:spcAft>
              <a:buFont typeface="Arial" panose="020B0604020202020204" pitchFamily="34" charset="0"/>
              <a:buChar char="•"/>
            </a:pPr>
            <a:r>
              <a:rPr lang="en-US" b="1" i="0" dirty="0">
                <a:solidFill>
                  <a:srgbClr val="273239"/>
                </a:solidFill>
                <a:effectLst/>
                <a:latin typeface="Nunito" pitchFamily="2" charset="0"/>
              </a:rPr>
              <a:t>Higher power consumption:</a:t>
            </a:r>
            <a:r>
              <a:rPr lang="en-US" b="0" i="0" dirty="0">
                <a:solidFill>
                  <a:srgbClr val="273239"/>
                </a:solidFill>
                <a:effectLst/>
                <a:latin typeface="Nunito" pitchFamily="2" charset="0"/>
              </a:rPr>
              <a:t> CISC processors consume more power than RISC processors because of their more complex instruction sets.</a:t>
            </a:r>
          </a:p>
          <a:p>
            <a:endParaRPr lang="en-US" dirty="0"/>
          </a:p>
        </p:txBody>
      </p:sp>
    </p:spTree>
    <p:extLst>
      <p:ext uri="{BB962C8B-B14F-4D97-AF65-F5344CB8AC3E}">
        <p14:creationId xmlns:p14="http://schemas.microsoft.com/office/powerpoint/2010/main" val="3394724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4A5ED-FB35-4E77-9553-7D10141092C4}"/>
              </a:ext>
            </a:extLst>
          </p:cNvPr>
          <p:cNvSpPr>
            <a:spLocks noGrp="1"/>
          </p:cNvSpPr>
          <p:nvPr>
            <p:ph type="title"/>
          </p:nvPr>
        </p:nvSpPr>
        <p:spPr/>
        <p:txBody>
          <a:bodyPr/>
          <a:lstStyle/>
          <a:p>
            <a:r>
              <a:rPr lang="en-US" b="1" i="0" dirty="0">
                <a:solidFill>
                  <a:srgbClr val="273239"/>
                </a:solidFill>
                <a:effectLst/>
                <a:latin typeface="Nunito" pitchFamily="2" charset="0"/>
              </a:rPr>
              <a:t>CPU Performance</a:t>
            </a:r>
            <a:endParaRPr lang="en-US" dirty="0"/>
          </a:p>
        </p:txBody>
      </p:sp>
      <p:sp>
        <p:nvSpPr>
          <p:cNvPr id="3" name="Content Placeholder 2">
            <a:extLst>
              <a:ext uri="{FF2B5EF4-FFF2-40B4-BE49-F238E27FC236}">
                <a16:creationId xmlns:a16="http://schemas.microsoft.com/office/drawing/2014/main" id="{7730AC39-5D1E-601A-F85A-652CC2E8135C}"/>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Both approaches try to increase the CPU performance</a:t>
            </a:r>
          </a:p>
          <a:p>
            <a:pPr marL="342900" indent="-285750" fontAlgn="base">
              <a:spcAft>
                <a:spcPts val="1800"/>
              </a:spcAft>
              <a:buFont typeface="Wingdings" panose="05000000000000000000" pitchFamily="2" charset="2"/>
              <a:buChar char="§"/>
            </a:pPr>
            <a:r>
              <a:rPr lang="en-US" b="1" i="0" dirty="0">
                <a:solidFill>
                  <a:srgbClr val="273239"/>
                </a:solidFill>
                <a:effectLst/>
                <a:latin typeface="Nunito" pitchFamily="2" charset="0"/>
              </a:rPr>
              <a:t>RISC:</a:t>
            </a:r>
            <a:r>
              <a:rPr lang="en-US" b="0" i="0" dirty="0">
                <a:solidFill>
                  <a:srgbClr val="273239"/>
                </a:solidFill>
                <a:effectLst/>
                <a:latin typeface="Nunito" pitchFamily="2" charset="0"/>
              </a:rPr>
              <a:t> Reduce the cycles per instruction at the cost of the number of instructions per program.</a:t>
            </a:r>
          </a:p>
          <a:p>
            <a:pPr marL="342900" indent="-285750" fontAlgn="base">
              <a:spcAft>
                <a:spcPts val="1800"/>
              </a:spcAft>
              <a:buFont typeface="Wingdings" panose="05000000000000000000" pitchFamily="2" charset="2"/>
              <a:buChar char="§"/>
            </a:pPr>
            <a:endParaRPr lang="en-US" b="0" i="0" dirty="0">
              <a:solidFill>
                <a:srgbClr val="273239"/>
              </a:solidFill>
              <a:effectLst/>
              <a:latin typeface="Nunito" pitchFamily="2" charset="0"/>
            </a:endParaRPr>
          </a:p>
          <a:p>
            <a:pPr marL="342900" indent="-285750">
              <a:buFont typeface="Wingdings" panose="05000000000000000000" pitchFamily="2" charset="2"/>
              <a:buChar char="§"/>
            </a:pPr>
            <a:r>
              <a:rPr lang="en-US" b="1" i="0" dirty="0">
                <a:solidFill>
                  <a:srgbClr val="273239"/>
                </a:solidFill>
                <a:effectLst/>
                <a:latin typeface="Nunito" pitchFamily="2" charset="0"/>
              </a:rPr>
              <a:t>CISC:</a:t>
            </a:r>
            <a:r>
              <a:rPr lang="en-US" b="0" i="0" dirty="0">
                <a:solidFill>
                  <a:srgbClr val="273239"/>
                </a:solidFill>
                <a:effectLst/>
                <a:latin typeface="Nunito" pitchFamily="2" charset="0"/>
              </a:rPr>
              <a:t> The CISC approach attempts to minimize the number of instructions per program but at the cost of an increase in the number of cycles per instruction.</a:t>
            </a:r>
          </a:p>
          <a:p>
            <a:endParaRPr lang="en-US" dirty="0"/>
          </a:p>
        </p:txBody>
      </p:sp>
      <p:pic>
        <p:nvPicPr>
          <p:cNvPr id="2052" name="Picture 4" descr="Lightbox">
            <a:extLst>
              <a:ext uri="{FF2B5EF4-FFF2-40B4-BE49-F238E27FC236}">
                <a16:creationId xmlns:a16="http://schemas.microsoft.com/office/drawing/2014/main" id="{13DC0C6B-1405-3A9C-51BE-EFAD31051B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3735" y="3109913"/>
            <a:ext cx="5010150" cy="63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37002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618B9-8213-8305-CBCE-4FC3B3A8D5D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02166D7B-2971-7DCA-989F-69079967F685}"/>
              </a:ext>
            </a:extLst>
          </p:cNvPr>
          <p:cNvSpPr>
            <a:spLocks noGrp="1"/>
          </p:cNvSpPr>
          <p:nvPr>
            <p:ph idx="1"/>
          </p:nvPr>
        </p:nvSpPr>
        <p:spPr/>
        <p:txBody>
          <a:bodyPr>
            <a:normAutofit fontScale="85000" lnSpcReduction="10000"/>
          </a:bodyPr>
          <a:lstStyle/>
          <a:p>
            <a:r>
              <a:rPr lang="en-US" b="0" i="0" dirty="0">
                <a:solidFill>
                  <a:srgbClr val="273239"/>
                </a:solidFill>
                <a:effectLst/>
                <a:latin typeface="Nunito" pitchFamily="2" charset="0"/>
              </a:rPr>
              <a:t>Earlier when programming was done using assembly language, a need was felt to make instruction do more tasks because programming in assembly was tedious and error-prone due to which CISC architecture evolved but with the uprise of high-level language dependency on assembly reduced RISC architecture prevailed.</a:t>
            </a:r>
          </a:p>
          <a:p>
            <a:pPr algn="just" rtl="0" fontAlgn="base">
              <a:spcAft>
                <a:spcPts val="750"/>
              </a:spcAft>
            </a:pPr>
            <a:r>
              <a:rPr lang="en-US" b="0" i="0" dirty="0">
                <a:solidFill>
                  <a:srgbClr val="273239"/>
                </a:solidFill>
                <a:effectLst/>
                <a:latin typeface="Nunito" pitchFamily="2" charset="0"/>
              </a:rPr>
              <a:t>Suppose we have to add two 8-bit numbers:</a:t>
            </a:r>
          </a:p>
          <a:p>
            <a:pPr marL="400050" indent="-342900" fontAlgn="base">
              <a:spcAft>
                <a:spcPts val="1800"/>
              </a:spcAft>
              <a:buFont typeface="Wingdings" panose="05000000000000000000" pitchFamily="2" charset="2"/>
              <a:buChar char="§"/>
            </a:pPr>
            <a:r>
              <a:rPr lang="en-US" b="1" i="0" dirty="0">
                <a:solidFill>
                  <a:srgbClr val="273239"/>
                </a:solidFill>
                <a:effectLst/>
                <a:latin typeface="Nunito" pitchFamily="2" charset="0"/>
              </a:rPr>
              <a:t>CISC approach:</a:t>
            </a:r>
            <a:r>
              <a:rPr lang="en-US" b="0" i="0" dirty="0">
                <a:solidFill>
                  <a:srgbClr val="273239"/>
                </a:solidFill>
                <a:effectLst/>
                <a:latin typeface="Nunito" pitchFamily="2" charset="0"/>
              </a:rPr>
              <a:t> There will be a single command or instruction for this like ADD which will perform the task.</a:t>
            </a:r>
          </a:p>
          <a:p>
            <a:pPr marL="400050" indent="-342900" fontAlgn="base">
              <a:spcAft>
                <a:spcPts val="1800"/>
              </a:spcAft>
              <a:buFont typeface="Wingdings" panose="05000000000000000000" pitchFamily="2" charset="2"/>
              <a:buChar char="§"/>
            </a:pPr>
            <a:r>
              <a:rPr lang="en-US" b="1" i="0" dirty="0">
                <a:solidFill>
                  <a:srgbClr val="273239"/>
                </a:solidFill>
                <a:effectLst/>
                <a:latin typeface="Nunito" pitchFamily="2" charset="0"/>
              </a:rPr>
              <a:t>RISC approach:</a:t>
            </a:r>
            <a:r>
              <a:rPr lang="en-US" b="0" i="0" dirty="0">
                <a:solidFill>
                  <a:srgbClr val="273239"/>
                </a:solidFill>
                <a:effectLst/>
                <a:latin typeface="Nunito" pitchFamily="2" charset="0"/>
              </a:rPr>
              <a:t> Here programmer will write the first load command to load data in registers then it will use a suitable operator and then it will store the result in the desired location.</a:t>
            </a:r>
          </a:p>
          <a:p>
            <a:pPr marL="57150" indent="0" fontAlgn="base">
              <a:spcAft>
                <a:spcPts val="1800"/>
              </a:spcAft>
              <a:buNone/>
            </a:pPr>
            <a:r>
              <a:rPr lang="en-US" b="0" i="0" dirty="0">
                <a:solidFill>
                  <a:srgbClr val="273239"/>
                </a:solidFill>
                <a:effectLst/>
                <a:latin typeface="Nunito" pitchFamily="2" charset="0"/>
              </a:rPr>
              <a:t>So, add operation is divided into parts i.e. load, operate, store due to which RISC programs are longer and require more memory to get stored but require fewer transistors due to less complex command.</a:t>
            </a:r>
          </a:p>
          <a:p>
            <a:endParaRPr lang="en-US" dirty="0"/>
          </a:p>
        </p:txBody>
      </p:sp>
    </p:spTree>
    <p:extLst>
      <p:ext uri="{BB962C8B-B14F-4D97-AF65-F5344CB8AC3E}">
        <p14:creationId xmlns:p14="http://schemas.microsoft.com/office/powerpoint/2010/main" val="40012341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97190-6CF3-5957-90C5-90D9A51668BB}"/>
              </a:ext>
            </a:extLst>
          </p:cNvPr>
          <p:cNvSpPr>
            <a:spLocks noGrp="1"/>
          </p:cNvSpPr>
          <p:nvPr>
            <p:ph type="title"/>
          </p:nvPr>
        </p:nvSpPr>
        <p:spPr/>
        <p:txBody>
          <a:bodyPr/>
          <a:lstStyle/>
          <a:p>
            <a:r>
              <a:rPr lang="en-US" b="1" i="0" dirty="0">
                <a:solidFill>
                  <a:srgbClr val="273239"/>
                </a:solidFill>
                <a:effectLst/>
                <a:latin typeface="Nunito" pitchFamily="2" charset="0"/>
              </a:rPr>
              <a:t>RISC vs CISC</a:t>
            </a:r>
            <a:endParaRPr lang="en-US" dirty="0"/>
          </a:p>
        </p:txBody>
      </p:sp>
      <p:graphicFrame>
        <p:nvGraphicFramePr>
          <p:cNvPr id="4" name="Content Placeholder 3">
            <a:extLst>
              <a:ext uri="{FF2B5EF4-FFF2-40B4-BE49-F238E27FC236}">
                <a16:creationId xmlns:a16="http://schemas.microsoft.com/office/drawing/2014/main" id="{A7677690-79A1-C3FC-1C2A-43D960786516}"/>
              </a:ext>
            </a:extLst>
          </p:cNvPr>
          <p:cNvGraphicFramePr>
            <a:graphicFrameLocks noGrp="1"/>
          </p:cNvGraphicFramePr>
          <p:nvPr>
            <p:ph idx="1"/>
            <p:extLst>
              <p:ext uri="{D42A27DB-BD31-4B8C-83A1-F6EECF244321}">
                <p14:modId xmlns:p14="http://schemas.microsoft.com/office/powerpoint/2010/main" val="35691048"/>
              </p:ext>
            </p:extLst>
          </p:nvPr>
        </p:nvGraphicFramePr>
        <p:xfrm>
          <a:off x="960120" y="1822208"/>
          <a:ext cx="10378440" cy="4149532"/>
        </p:xfrm>
        <a:graphic>
          <a:graphicData uri="http://schemas.openxmlformats.org/drawingml/2006/table">
            <a:tbl>
              <a:tblPr>
                <a:tableStyleId>{5940675A-B579-460E-94D1-54222C63F5DA}</a:tableStyleId>
              </a:tblPr>
              <a:tblGrid>
                <a:gridCol w="5189220">
                  <a:extLst>
                    <a:ext uri="{9D8B030D-6E8A-4147-A177-3AD203B41FA5}">
                      <a16:colId xmlns:a16="http://schemas.microsoft.com/office/drawing/2014/main" val="3296752711"/>
                    </a:ext>
                  </a:extLst>
                </a:gridCol>
                <a:gridCol w="5189220">
                  <a:extLst>
                    <a:ext uri="{9D8B030D-6E8A-4147-A177-3AD203B41FA5}">
                      <a16:colId xmlns:a16="http://schemas.microsoft.com/office/drawing/2014/main" val="1671270928"/>
                    </a:ext>
                  </a:extLst>
                </a:gridCol>
              </a:tblGrid>
              <a:tr h="233985">
                <a:tc>
                  <a:txBody>
                    <a:bodyPr/>
                    <a:lstStyle/>
                    <a:p>
                      <a:pPr algn="ctr" fontAlgn="base"/>
                      <a:r>
                        <a:rPr lang="en-US" sz="1800" b="1" u="none">
                          <a:effectLst/>
                        </a:rPr>
                        <a:t>RISC</a:t>
                      </a:r>
                    </a:p>
                  </a:txBody>
                  <a:tcPr marL="23860" marR="23860" marT="39766" marB="39766" anchor="ctr"/>
                </a:tc>
                <a:tc>
                  <a:txBody>
                    <a:bodyPr/>
                    <a:lstStyle/>
                    <a:p>
                      <a:pPr algn="ctr" fontAlgn="base"/>
                      <a:r>
                        <a:rPr lang="en-US" sz="1800" b="1" u="none">
                          <a:effectLst/>
                        </a:rPr>
                        <a:t>CISC</a:t>
                      </a:r>
                    </a:p>
                  </a:txBody>
                  <a:tcPr marL="39766" marR="39766" marT="39766" marB="39766" anchor="ctr"/>
                </a:tc>
                <a:extLst>
                  <a:ext uri="{0D108BD9-81ED-4DB2-BD59-A6C34878D82A}">
                    <a16:rowId xmlns:a16="http://schemas.microsoft.com/office/drawing/2014/main" val="1558193262"/>
                  </a:ext>
                </a:extLst>
              </a:tr>
              <a:tr h="251880">
                <a:tc>
                  <a:txBody>
                    <a:bodyPr/>
                    <a:lstStyle/>
                    <a:p>
                      <a:pPr algn="ctr" fontAlgn="ctr"/>
                      <a:r>
                        <a:rPr lang="en-US" sz="1600" b="0" u="none">
                          <a:effectLst/>
                        </a:rPr>
                        <a:t>Focus on software</a:t>
                      </a:r>
                    </a:p>
                  </a:txBody>
                  <a:tcPr marL="39766" marR="39766" marT="55672" marB="55672" anchor="ctr"/>
                </a:tc>
                <a:tc>
                  <a:txBody>
                    <a:bodyPr/>
                    <a:lstStyle/>
                    <a:p>
                      <a:pPr algn="ctr" fontAlgn="ctr"/>
                      <a:r>
                        <a:rPr lang="en-US" sz="1600" b="0" u="none">
                          <a:effectLst/>
                        </a:rPr>
                        <a:t>Focus on hardware</a:t>
                      </a:r>
                    </a:p>
                  </a:txBody>
                  <a:tcPr marL="39766" marR="39766" marT="55672" marB="55672" anchor="ctr"/>
                </a:tc>
                <a:extLst>
                  <a:ext uri="{0D108BD9-81ED-4DB2-BD59-A6C34878D82A}">
                    <a16:rowId xmlns:a16="http://schemas.microsoft.com/office/drawing/2014/main" val="1840012264"/>
                  </a:ext>
                </a:extLst>
              </a:tr>
              <a:tr h="251880">
                <a:tc>
                  <a:txBody>
                    <a:bodyPr/>
                    <a:lstStyle/>
                    <a:p>
                      <a:pPr algn="ctr" fontAlgn="ctr"/>
                      <a:r>
                        <a:rPr lang="en-US" sz="1600" b="0" u="none" dirty="0">
                          <a:effectLst/>
                        </a:rPr>
                        <a:t>Uses only Hardwired control unit</a:t>
                      </a:r>
                    </a:p>
                  </a:txBody>
                  <a:tcPr marL="39766" marR="39766" marT="55672" marB="55672" anchor="ctr"/>
                </a:tc>
                <a:tc>
                  <a:txBody>
                    <a:bodyPr/>
                    <a:lstStyle/>
                    <a:p>
                      <a:pPr algn="ctr" fontAlgn="ctr"/>
                      <a:r>
                        <a:rPr lang="en-US" sz="1600" b="0" u="none" dirty="0">
                          <a:effectLst/>
                        </a:rPr>
                        <a:t>Uses both hardwired and microprogrammed control unit</a:t>
                      </a:r>
                    </a:p>
                  </a:txBody>
                  <a:tcPr marL="39766" marR="39766" marT="55672" marB="55672" anchor="ctr"/>
                </a:tc>
                <a:extLst>
                  <a:ext uri="{0D108BD9-81ED-4DB2-BD59-A6C34878D82A}">
                    <a16:rowId xmlns:a16="http://schemas.microsoft.com/office/drawing/2014/main" val="3845938691"/>
                  </a:ext>
                </a:extLst>
              </a:tr>
              <a:tr h="383530">
                <a:tc>
                  <a:txBody>
                    <a:bodyPr/>
                    <a:lstStyle/>
                    <a:p>
                      <a:pPr algn="ctr" fontAlgn="ctr"/>
                      <a:r>
                        <a:rPr lang="en-US" sz="1600" b="0" u="none">
                          <a:effectLst/>
                        </a:rPr>
                        <a:t>Transistors are used for more registers</a:t>
                      </a:r>
                    </a:p>
                  </a:txBody>
                  <a:tcPr marL="39766" marR="39766" marT="55672" marB="55672" anchor="ctr"/>
                </a:tc>
                <a:tc>
                  <a:txBody>
                    <a:bodyPr/>
                    <a:lstStyle/>
                    <a:p>
                      <a:pPr algn="ctr" fontAlgn="ctr"/>
                      <a:r>
                        <a:rPr lang="en-US" sz="1600" b="0" u="none">
                          <a:effectLst/>
                        </a:rPr>
                        <a:t>Transistors are used for storing complex</a:t>
                      </a:r>
                      <a:br>
                        <a:rPr lang="en-US" sz="1600" b="0" u="none">
                          <a:effectLst/>
                        </a:rPr>
                      </a:br>
                      <a:r>
                        <a:rPr lang="en-US" sz="1600" b="0" u="none">
                          <a:effectLst/>
                        </a:rPr>
                        <a:t>Instructions</a:t>
                      </a:r>
                    </a:p>
                  </a:txBody>
                  <a:tcPr marL="39766" marR="39766" marT="55672" marB="55672" anchor="ctr"/>
                </a:tc>
                <a:extLst>
                  <a:ext uri="{0D108BD9-81ED-4DB2-BD59-A6C34878D82A}">
                    <a16:rowId xmlns:a16="http://schemas.microsoft.com/office/drawing/2014/main" val="3523085724"/>
                  </a:ext>
                </a:extLst>
              </a:tr>
              <a:tr h="251880">
                <a:tc>
                  <a:txBody>
                    <a:bodyPr/>
                    <a:lstStyle/>
                    <a:p>
                      <a:pPr algn="ctr" fontAlgn="ctr"/>
                      <a:r>
                        <a:rPr lang="en-US" sz="1600" b="0" u="none">
                          <a:effectLst/>
                        </a:rPr>
                        <a:t>Fixed sized instructions</a:t>
                      </a:r>
                    </a:p>
                  </a:txBody>
                  <a:tcPr marL="39766" marR="39766" marT="55672" marB="55672" anchor="ctr"/>
                </a:tc>
                <a:tc>
                  <a:txBody>
                    <a:bodyPr/>
                    <a:lstStyle/>
                    <a:p>
                      <a:pPr algn="ctr" fontAlgn="ctr"/>
                      <a:r>
                        <a:rPr lang="en-US" sz="1600" b="0" u="none">
                          <a:effectLst/>
                        </a:rPr>
                        <a:t>Variable sized instructions</a:t>
                      </a:r>
                    </a:p>
                  </a:txBody>
                  <a:tcPr marL="39766" marR="39766" marT="55672" marB="55672" anchor="ctr"/>
                </a:tc>
                <a:extLst>
                  <a:ext uri="{0D108BD9-81ED-4DB2-BD59-A6C34878D82A}">
                    <a16:rowId xmlns:a16="http://schemas.microsoft.com/office/drawing/2014/main" val="2374869199"/>
                  </a:ext>
                </a:extLst>
              </a:tr>
              <a:tr h="251880">
                <a:tc>
                  <a:txBody>
                    <a:bodyPr/>
                    <a:lstStyle/>
                    <a:p>
                      <a:pPr algn="ctr" fontAlgn="ctr"/>
                      <a:r>
                        <a:rPr lang="en-US" sz="1600" b="0" u="none">
                          <a:effectLst/>
                        </a:rPr>
                        <a:t>Can perform only Register to Register Arithmetic operations</a:t>
                      </a:r>
                    </a:p>
                  </a:txBody>
                  <a:tcPr marL="39766" marR="39766" marT="55672" marB="55672" anchor="ctr"/>
                </a:tc>
                <a:tc>
                  <a:txBody>
                    <a:bodyPr/>
                    <a:lstStyle/>
                    <a:p>
                      <a:pPr algn="ctr" fontAlgn="ctr"/>
                      <a:r>
                        <a:rPr lang="en-US" sz="1600" b="0" u="none">
                          <a:effectLst/>
                        </a:rPr>
                        <a:t>Can perform REG to REG or REG to MEM or MEM to MEM</a:t>
                      </a:r>
                    </a:p>
                  </a:txBody>
                  <a:tcPr marL="39766" marR="39766" marT="55672" marB="55672" anchor="ctr"/>
                </a:tc>
                <a:extLst>
                  <a:ext uri="{0D108BD9-81ED-4DB2-BD59-A6C34878D82A}">
                    <a16:rowId xmlns:a16="http://schemas.microsoft.com/office/drawing/2014/main" val="4008094497"/>
                  </a:ext>
                </a:extLst>
              </a:tr>
              <a:tr h="251880">
                <a:tc>
                  <a:txBody>
                    <a:bodyPr/>
                    <a:lstStyle/>
                    <a:p>
                      <a:pPr algn="ctr" fontAlgn="ctr"/>
                      <a:r>
                        <a:rPr lang="en-US" sz="1600" b="0" u="none">
                          <a:effectLst/>
                        </a:rPr>
                        <a:t>Requires more number of registers</a:t>
                      </a:r>
                    </a:p>
                  </a:txBody>
                  <a:tcPr marL="39766" marR="39766" marT="55672" marB="55672" anchor="ctr"/>
                </a:tc>
                <a:tc>
                  <a:txBody>
                    <a:bodyPr/>
                    <a:lstStyle/>
                    <a:p>
                      <a:pPr algn="ctr" fontAlgn="ctr"/>
                      <a:r>
                        <a:rPr lang="en-US" sz="1600" b="0" u="none">
                          <a:effectLst/>
                        </a:rPr>
                        <a:t>Requires less number of registers</a:t>
                      </a:r>
                    </a:p>
                  </a:txBody>
                  <a:tcPr marL="39766" marR="39766" marT="55672" marB="55672" anchor="ctr"/>
                </a:tc>
                <a:extLst>
                  <a:ext uri="{0D108BD9-81ED-4DB2-BD59-A6C34878D82A}">
                    <a16:rowId xmlns:a16="http://schemas.microsoft.com/office/drawing/2014/main" val="1082209132"/>
                  </a:ext>
                </a:extLst>
              </a:tr>
              <a:tr h="251880">
                <a:tc>
                  <a:txBody>
                    <a:bodyPr/>
                    <a:lstStyle/>
                    <a:p>
                      <a:pPr algn="ctr" fontAlgn="ctr"/>
                      <a:r>
                        <a:rPr lang="en-US" sz="1600" b="0" u="none">
                          <a:effectLst/>
                        </a:rPr>
                        <a:t>Code size is large</a:t>
                      </a:r>
                    </a:p>
                  </a:txBody>
                  <a:tcPr marL="39766" marR="39766" marT="55672" marB="55672" anchor="ctr"/>
                </a:tc>
                <a:tc>
                  <a:txBody>
                    <a:bodyPr/>
                    <a:lstStyle/>
                    <a:p>
                      <a:pPr algn="ctr" fontAlgn="ctr"/>
                      <a:r>
                        <a:rPr lang="en-US" sz="1600" b="0" u="none">
                          <a:effectLst/>
                        </a:rPr>
                        <a:t>Code size is small</a:t>
                      </a:r>
                    </a:p>
                  </a:txBody>
                  <a:tcPr marL="39766" marR="39766" marT="55672" marB="55672" anchor="ctr"/>
                </a:tc>
                <a:extLst>
                  <a:ext uri="{0D108BD9-81ED-4DB2-BD59-A6C34878D82A}">
                    <a16:rowId xmlns:a16="http://schemas.microsoft.com/office/drawing/2014/main" val="368351833"/>
                  </a:ext>
                </a:extLst>
              </a:tr>
              <a:tr h="251880">
                <a:tc>
                  <a:txBody>
                    <a:bodyPr/>
                    <a:lstStyle/>
                    <a:p>
                      <a:pPr algn="ctr" fontAlgn="ctr"/>
                      <a:r>
                        <a:rPr lang="en-US" sz="1600" b="0" u="none">
                          <a:effectLst/>
                        </a:rPr>
                        <a:t>An instruction executed in a single clock cycle</a:t>
                      </a:r>
                    </a:p>
                  </a:txBody>
                  <a:tcPr marL="39766" marR="39766" marT="55672" marB="55672" anchor="ctr"/>
                </a:tc>
                <a:tc>
                  <a:txBody>
                    <a:bodyPr/>
                    <a:lstStyle/>
                    <a:p>
                      <a:pPr algn="ctr" fontAlgn="ctr"/>
                      <a:r>
                        <a:rPr lang="en-US" sz="1600" b="0" u="none">
                          <a:effectLst/>
                        </a:rPr>
                        <a:t>Instruction takes more than one clock cycle</a:t>
                      </a:r>
                    </a:p>
                  </a:txBody>
                  <a:tcPr marL="39766" marR="39766" marT="55672" marB="55672" anchor="ctr"/>
                </a:tc>
                <a:extLst>
                  <a:ext uri="{0D108BD9-81ED-4DB2-BD59-A6C34878D82A}">
                    <a16:rowId xmlns:a16="http://schemas.microsoft.com/office/drawing/2014/main" val="4272709103"/>
                  </a:ext>
                </a:extLst>
              </a:tr>
              <a:tr h="251880">
                <a:tc>
                  <a:txBody>
                    <a:bodyPr/>
                    <a:lstStyle/>
                    <a:p>
                      <a:pPr algn="ctr" fontAlgn="ctr"/>
                      <a:r>
                        <a:rPr lang="en-US" sz="1600" b="0" u="none">
                          <a:effectLst/>
                        </a:rPr>
                        <a:t>An instruction fit in one word.</a:t>
                      </a:r>
                    </a:p>
                  </a:txBody>
                  <a:tcPr marL="39766" marR="39766" marT="55672" marB="55672" anchor="ctr"/>
                </a:tc>
                <a:tc>
                  <a:txBody>
                    <a:bodyPr/>
                    <a:lstStyle/>
                    <a:p>
                      <a:pPr algn="ctr" fontAlgn="ctr"/>
                      <a:r>
                        <a:rPr lang="en-US" sz="1600" b="0" u="none">
                          <a:effectLst/>
                        </a:rPr>
                        <a:t>Instructions are larger than the size of one word</a:t>
                      </a:r>
                    </a:p>
                  </a:txBody>
                  <a:tcPr marL="39766" marR="39766" marT="55672" marB="55672" anchor="ctr"/>
                </a:tc>
                <a:extLst>
                  <a:ext uri="{0D108BD9-81ED-4DB2-BD59-A6C34878D82A}">
                    <a16:rowId xmlns:a16="http://schemas.microsoft.com/office/drawing/2014/main" val="515834736"/>
                  </a:ext>
                </a:extLst>
              </a:tr>
              <a:tr h="251880">
                <a:tc>
                  <a:txBody>
                    <a:bodyPr/>
                    <a:lstStyle/>
                    <a:p>
                      <a:pPr algn="ctr" fontAlgn="ctr"/>
                      <a:r>
                        <a:rPr lang="en-US" sz="1600" b="0" u="none" dirty="0">
                          <a:effectLst/>
                        </a:rPr>
                        <a:t>Simple and limited addressing modes.</a:t>
                      </a:r>
                    </a:p>
                  </a:txBody>
                  <a:tcPr marL="39766" marR="39766" marT="55672" marB="55672" anchor="ctr"/>
                </a:tc>
                <a:tc>
                  <a:txBody>
                    <a:bodyPr/>
                    <a:lstStyle/>
                    <a:p>
                      <a:pPr algn="ctr" fontAlgn="ctr"/>
                      <a:r>
                        <a:rPr lang="en-US" sz="1600" b="0" u="none" dirty="0">
                          <a:effectLst/>
                        </a:rPr>
                        <a:t>Complex and more addressing modes.</a:t>
                      </a:r>
                    </a:p>
                  </a:txBody>
                  <a:tcPr marL="39766" marR="39766" marT="55672" marB="55672" anchor="ctr"/>
                </a:tc>
                <a:extLst>
                  <a:ext uri="{0D108BD9-81ED-4DB2-BD59-A6C34878D82A}">
                    <a16:rowId xmlns:a16="http://schemas.microsoft.com/office/drawing/2014/main" val="1787732421"/>
                  </a:ext>
                </a:extLst>
              </a:tr>
            </a:tbl>
          </a:graphicData>
        </a:graphic>
      </p:graphicFrame>
    </p:spTree>
    <p:extLst>
      <p:ext uri="{BB962C8B-B14F-4D97-AF65-F5344CB8AC3E}">
        <p14:creationId xmlns:p14="http://schemas.microsoft.com/office/powerpoint/2010/main" val="27899771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96581-E93A-AAA8-CCB7-8F0959B13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D317B-FB40-2851-7E70-3E93EE08C38B}"/>
              </a:ext>
            </a:extLst>
          </p:cNvPr>
          <p:cNvSpPr>
            <a:spLocks noGrp="1"/>
          </p:cNvSpPr>
          <p:nvPr>
            <p:ph type="title"/>
          </p:nvPr>
        </p:nvSpPr>
        <p:spPr/>
        <p:txBody>
          <a:bodyPr/>
          <a:lstStyle/>
          <a:p>
            <a:r>
              <a:rPr lang="en-US" b="1" i="0" dirty="0">
                <a:solidFill>
                  <a:srgbClr val="273239"/>
                </a:solidFill>
                <a:effectLst/>
                <a:latin typeface="Nunito" pitchFamily="2" charset="0"/>
              </a:rPr>
              <a:t>RISC vs CISC</a:t>
            </a:r>
            <a:endParaRPr lang="en-US" dirty="0"/>
          </a:p>
        </p:txBody>
      </p:sp>
      <p:graphicFrame>
        <p:nvGraphicFramePr>
          <p:cNvPr id="4" name="Content Placeholder 3">
            <a:extLst>
              <a:ext uri="{FF2B5EF4-FFF2-40B4-BE49-F238E27FC236}">
                <a16:creationId xmlns:a16="http://schemas.microsoft.com/office/drawing/2014/main" id="{039D6D79-32B5-CDED-8565-66B6A407231E}"/>
              </a:ext>
            </a:extLst>
          </p:cNvPr>
          <p:cNvGraphicFramePr>
            <a:graphicFrameLocks noGrp="1"/>
          </p:cNvGraphicFramePr>
          <p:nvPr>
            <p:ph idx="1"/>
            <p:extLst>
              <p:ext uri="{D42A27DB-BD31-4B8C-83A1-F6EECF244321}">
                <p14:modId xmlns:p14="http://schemas.microsoft.com/office/powerpoint/2010/main" val="3954141166"/>
              </p:ext>
            </p:extLst>
          </p:nvPr>
        </p:nvGraphicFramePr>
        <p:xfrm>
          <a:off x="960120" y="1822208"/>
          <a:ext cx="10378440" cy="2484956"/>
        </p:xfrm>
        <a:graphic>
          <a:graphicData uri="http://schemas.openxmlformats.org/drawingml/2006/table">
            <a:tbl>
              <a:tblPr>
                <a:tableStyleId>{5940675A-B579-460E-94D1-54222C63F5DA}</a:tableStyleId>
              </a:tblPr>
              <a:tblGrid>
                <a:gridCol w="5189220">
                  <a:extLst>
                    <a:ext uri="{9D8B030D-6E8A-4147-A177-3AD203B41FA5}">
                      <a16:colId xmlns:a16="http://schemas.microsoft.com/office/drawing/2014/main" val="3296752711"/>
                    </a:ext>
                  </a:extLst>
                </a:gridCol>
                <a:gridCol w="5189220">
                  <a:extLst>
                    <a:ext uri="{9D8B030D-6E8A-4147-A177-3AD203B41FA5}">
                      <a16:colId xmlns:a16="http://schemas.microsoft.com/office/drawing/2014/main" val="1671270928"/>
                    </a:ext>
                  </a:extLst>
                </a:gridCol>
              </a:tblGrid>
              <a:tr h="233985">
                <a:tc>
                  <a:txBody>
                    <a:bodyPr/>
                    <a:lstStyle/>
                    <a:p>
                      <a:pPr algn="ctr" fontAlgn="base"/>
                      <a:r>
                        <a:rPr lang="en-US" sz="1800" b="1" u="none">
                          <a:effectLst/>
                        </a:rPr>
                        <a:t>RISC</a:t>
                      </a:r>
                    </a:p>
                  </a:txBody>
                  <a:tcPr marL="23860" marR="23860" marT="39766" marB="39766" anchor="ctr"/>
                </a:tc>
                <a:tc>
                  <a:txBody>
                    <a:bodyPr/>
                    <a:lstStyle/>
                    <a:p>
                      <a:pPr algn="ctr" fontAlgn="base"/>
                      <a:r>
                        <a:rPr lang="en-US" sz="1800" b="1" u="none">
                          <a:effectLst/>
                        </a:rPr>
                        <a:t>CISC</a:t>
                      </a:r>
                    </a:p>
                  </a:txBody>
                  <a:tcPr marL="39766" marR="39766" marT="39766" marB="39766" anchor="ctr"/>
                </a:tc>
                <a:extLst>
                  <a:ext uri="{0D108BD9-81ED-4DB2-BD59-A6C34878D82A}">
                    <a16:rowId xmlns:a16="http://schemas.microsoft.com/office/drawing/2014/main" val="1558193262"/>
                  </a:ext>
                </a:extLst>
              </a:tr>
              <a:tr h="251880">
                <a:tc>
                  <a:txBody>
                    <a:bodyPr/>
                    <a:lstStyle/>
                    <a:p>
                      <a:pPr algn="ctr" fontAlgn="ctr"/>
                      <a:r>
                        <a:rPr lang="en-US" sz="1600" b="0" u="none" dirty="0">
                          <a:effectLst/>
                        </a:rPr>
                        <a:t>RISC is Reduced Instruction Cycle.</a:t>
                      </a:r>
                    </a:p>
                  </a:txBody>
                  <a:tcPr marL="39766" marR="39766" marT="55672" marB="55672" anchor="ctr"/>
                </a:tc>
                <a:tc>
                  <a:txBody>
                    <a:bodyPr/>
                    <a:lstStyle/>
                    <a:p>
                      <a:pPr algn="ctr" fontAlgn="ctr"/>
                      <a:r>
                        <a:rPr lang="en-US" sz="1600" b="0" u="none" dirty="0">
                          <a:effectLst/>
                        </a:rPr>
                        <a:t>CISC is Complex Instruction Cycle.</a:t>
                      </a:r>
                    </a:p>
                  </a:txBody>
                  <a:tcPr marL="39766" marR="39766" marT="55672" marB="55672" anchor="ctr"/>
                </a:tc>
                <a:extLst>
                  <a:ext uri="{0D108BD9-81ED-4DB2-BD59-A6C34878D82A}">
                    <a16:rowId xmlns:a16="http://schemas.microsoft.com/office/drawing/2014/main" val="140985111"/>
                  </a:ext>
                </a:extLst>
              </a:tr>
              <a:tr h="251880">
                <a:tc>
                  <a:txBody>
                    <a:bodyPr/>
                    <a:lstStyle/>
                    <a:p>
                      <a:pPr algn="ctr" fontAlgn="ctr"/>
                      <a:r>
                        <a:rPr lang="en-US" sz="1600" b="0" u="none">
                          <a:effectLst/>
                        </a:rPr>
                        <a:t>The number of instructions are less as compared to CISC.</a:t>
                      </a:r>
                    </a:p>
                  </a:txBody>
                  <a:tcPr marL="39766" marR="39766" marT="55672" marB="55672" anchor="ctr"/>
                </a:tc>
                <a:tc>
                  <a:txBody>
                    <a:bodyPr/>
                    <a:lstStyle/>
                    <a:p>
                      <a:pPr algn="ctr" fontAlgn="ctr"/>
                      <a:r>
                        <a:rPr lang="en-US" sz="1600" b="0" u="none" dirty="0">
                          <a:effectLst/>
                        </a:rPr>
                        <a:t>The number of instructions are more as compared to RISC.</a:t>
                      </a:r>
                    </a:p>
                  </a:txBody>
                  <a:tcPr marL="39766" marR="39766" marT="55672" marB="55672" anchor="ctr"/>
                </a:tc>
                <a:extLst>
                  <a:ext uri="{0D108BD9-81ED-4DB2-BD59-A6C34878D82A}">
                    <a16:rowId xmlns:a16="http://schemas.microsoft.com/office/drawing/2014/main" val="2620646702"/>
                  </a:ext>
                </a:extLst>
              </a:tr>
              <a:tr h="251880">
                <a:tc>
                  <a:txBody>
                    <a:bodyPr/>
                    <a:lstStyle/>
                    <a:p>
                      <a:pPr algn="ctr" fontAlgn="ctr"/>
                      <a:r>
                        <a:rPr lang="en-US" sz="1600" b="0" u="none">
                          <a:effectLst/>
                        </a:rPr>
                        <a:t>It consumes the low power.</a:t>
                      </a:r>
                    </a:p>
                  </a:txBody>
                  <a:tcPr marL="39766" marR="39766" marT="55672" marB="55672" anchor="ctr"/>
                </a:tc>
                <a:tc>
                  <a:txBody>
                    <a:bodyPr/>
                    <a:lstStyle/>
                    <a:p>
                      <a:pPr algn="ctr" fontAlgn="ctr"/>
                      <a:r>
                        <a:rPr lang="en-US" sz="1600" b="0" u="none">
                          <a:effectLst/>
                        </a:rPr>
                        <a:t>It consumes more/high power.</a:t>
                      </a:r>
                    </a:p>
                  </a:txBody>
                  <a:tcPr marL="39766" marR="39766" marT="55672" marB="55672" anchor="ctr"/>
                </a:tc>
                <a:extLst>
                  <a:ext uri="{0D108BD9-81ED-4DB2-BD59-A6C34878D82A}">
                    <a16:rowId xmlns:a16="http://schemas.microsoft.com/office/drawing/2014/main" val="3558959126"/>
                  </a:ext>
                </a:extLst>
              </a:tr>
              <a:tr h="251880">
                <a:tc>
                  <a:txBody>
                    <a:bodyPr/>
                    <a:lstStyle/>
                    <a:p>
                      <a:pPr algn="ctr" fontAlgn="ctr"/>
                      <a:r>
                        <a:rPr lang="en-US" sz="1600" b="0" u="none" dirty="0">
                          <a:effectLst/>
                        </a:rPr>
                        <a:t>RISC is highly pipelined.</a:t>
                      </a:r>
                    </a:p>
                  </a:txBody>
                  <a:tcPr marL="39766" marR="39766" marT="55672" marB="55672" anchor="ctr"/>
                </a:tc>
                <a:tc>
                  <a:txBody>
                    <a:bodyPr/>
                    <a:lstStyle/>
                    <a:p>
                      <a:pPr algn="ctr" fontAlgn="ctr"/>
                      <a:r>
                        <a:rPr lang="en-US" sz="1600" b="0" u="none">
                          <a:effectLst/>
                        </a:rPr>
                        <a:t>CISC is less pipelined.</a:t>
                      </a:r>
                    </a:p>
                  </a:txBody>
                  <a:tcPr marL="39766" marR="39766" marT="55672" marB="55672" anchor="ctr"/>
                </a:tc>
                <a:extLst>
                  <a:ext uri="{0D108BD9-81ED-4DB2-BD59-A6C34878D82A}">
                    <a16:rowId xmlns:a16="http://schemas.microsoft.com/office/drawing/2014/main" val="1666498475"/>
                  </a:ext>
                </a:extLst>
              </a:tr>
              <a:tr h="251880">
                <a:tc>
                  <a:txBody>
                    <a:bodyPr/>
                    <a:lstStyle/>
                    <a:p>
                      <a:pPr algn="ctr" fontAlgn="ctr"/>
                      <a:r>
                        <a:rPr lang="en-US" sz="1600" b="0" u="none" dirty="0">
                          <a:effectLst/>
                        </a:rPr>
                        <a:t>RISC required more RAM .</a:t>
                      </a:r>
                    </a:p>
                  </a:txBody>
                  <a:tcPr marL="39766" marR="39766" marT="55672" marB="55672" anchor="ctr"/>
                </a:tc>
                <a:tc>
                  <a:txBody>
                    <a:bodyPr/>
                    <a:lstStyle/>
                    <a:p>
                      <a:pPr algn="ctr" fontAlgn="ctr"/>
                      <a:r>
                        <a:rPr lang="en-US" sz="1600" b="0" u="none">
                          <a:effectLst/>
                        </a:rPr>
                        <a:t>CISC required less RAM.</a:t>
                      </a:r>
                    </a:p>
                  </a:txBody>
                  <a:tcPr marL="39766" marR="39766" marT="55672" marB="55672" anchor="ctr"/>
                </a:tc>
                <a:extLst>
                  <a:ext uri="{0D108BD9-81ED-4DB2-BD59-A6C34878D82A}">
                    <a16:rowId xmlns:a16="http://schemas.microsoft.com/office/drawing/2014/main" val="3304904729"/>
                  </a:ext>
                </a:extLst>
              </a:tr>
              <a:tr h="251880">
                <a:tc>
                  <a:txBody>
                    <a:bodyPr/>
                    <a:lstStyle/>
                    <a:p>
                      <a:pPr algn="ctr" fontAlgn="ctr"/>
                      <a:r>
                        <a:rPr lang="en-US" sz="1600" b="0" u="none">
                          <a:effectLst/>
                        </a:rPr>
                        <a:t>Here, Addressing modes are less.</a:t>
                      </a:r>
                    </a:p>
                  </a:txBody>
                  <a:tcPr marL="39766" marR="39766" marT="55672" marB="55672" anchor="ctr"/>
                </a:tc>
                <a:tc>
                  <a:txBody>
                    <a:bodyPr/>
                    <a:lstStyle/>
                    <a:p>
                      <a:pPr algn="ctr" fontAlgn="ctr"/>
                      <a:r>
                        <a:rPr lang="en-US" sz="1600" b="0" u="none" dirty="0">
                          <a:effectLst/>
                        </a:rPr>
                        <a:t>Here, Addressing modes are more.</a:t>
                      </a:r>
                    </a:p>
                  </a:txBody>
                  <a:tcPr marL="39766" marR="39766" marT="55672" marB="55672" anchor="ctr"/>
                </a:tc>
                <a:extLst>
                  <a:ext uri="{0D108BD9-81ED-4DB2-BD59-A6C34878D82A}">
                    <a16:rowId xmlns:a16="http://schemas.microsoft.com/office/drawing/2014/main" val="775539928"/>
                  </a:ext>
                </a:extLst>
              </a:tr>
            </a:tbl>
          </a:graphicData>
        </a:graphic>
      </p:graphicFrame>
    </p:spTree>
    <p:extLst>
      <p:ext uri="{BB962C8B-B14F-4D97-AF65-F5344CB8AC3E}">
        <p14:creationId xmlns:p14="http://schemas.microsoft.com/office/powerpoint/2010/main" val="321952166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144</TotalTime>
  <Words>2716</Words>
  <Application>Microsoft Office PowerPoint</Application>
  <PresentationFormat>Widescreen</PresentationFormat>
  <Paragraphs>172</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Calibri Light</vt:lpstr>
      <vt:lpstr>Nunito</vt:lpstr>
      <vt:lpstr>Times New Roman</vt:lpstr>
      <vt:lpstr>Wingdings</vt:lpstr>
      <vt:lpstr>Retrospect</vt:lpstr>
      <vt:lpstr>Lecture # 03 Concurrent systems: Types of processors (RISC &amp; CISC)</vt:lpstr>
      <vt:lpstr>What is Concurrency?</vt:lpstr>
      <vt:lpstr>What is Concurrency in OS?</vt:lpstr>
      <vt:lpstr>Motivation for Concurrent Systems</vt:lpstr>
      <vt:lpstr>Relationship Between Processes of Operating System</vt:lpstr>
      <vt:lpstr>Independent Processes</vt:lpstr>
      <vt:lpstr>Cooperating Processes</vt:lpstr>
      <vt:lpstr>Process Operation in Operating System</vt:lpstr>
      <vt:lpstr>Process Creation</vt:lpstr>
      <vt:lpstr>Process Termination</vt:lpstr>
      <vt:lpstr>Principles of Concurrency</vt:lpstr>
      <vt:lpstr>Problems in Concurrency</vt:lpstr>
      <vt:lpstr>Advantages of Concurrency</vt:lpstr>
      <vt:lpstr>Drawbacks of Concurrency</vt:lpstr>
      <vt:lpstr>Issues of Concurrency</vt:lpstr>
      <vt:lpstr>Conclusion</vt:lpstr>
      <vt:lpstr>How is Concurrency different from Parallelism?</vt:lpstr>
      <vt:lpstr>What is a Microprocessor?</vt:lpstr>
      <vt:lpstr>What is a Microprocessor?</vt:lpstr>
      <vt:lpstr>Types of Microprocessors</vt:lpstr>
      <vt:lpstr>Vector Processor</vt:lpstr>
      <vt:lpstr>Array Processor or SIMD Processor </vt:lpstr>
      <vt:lpstr>Scalar Processor</vt:lpstr>
      <vt:lpstr>RISC and CISC Processor </vt:lpstr>
      <vt:lpstr>RISC and CISC in Computer Organization</vt:lpstr>
      <vt:lpstr>Reduced Instruction Set Architecture (RISC)</vt:lpstr>
      <vt:lpstr>Characteristics of RISC</vt:lpstr>
      <vt:lpstr>Advantages of RISC</vt:lpstr>
      <vt:lpstr>Disadvantages of RISC</vt:lpstr>
      <vt:lpstr>Complex Instruction Set Architecture (CISC)</vt:lpstr>
      <vt:lpstr>Characteristics of CISC</vt:lpstr>
      <vt:lpstr>Advantages of CISC</vt:lpstr>
      <vt:lpstr>Disadvantages of CISC</vt:lpstr>
      <vt:lpstr>CPU Performance</vt:lpstr>
      <vt:lpstr>Example</vt:lpstr>
      <vt:lpstr>RISC vs CISC</vt:lpstr>
      <vt:lpstr>RISC vs CISC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fatimamehar424@gmail.com</dc:creator>
  <cp:lastModifiedBy>fatimamehar424@gmail.com</cp:lastModifiedBy>
  <cp:revision>22</cp:revision>
  <dcterms:created xsi:type="dcterms:W3CDTF">2025-01-19T18:41:29Z</dcterms:created>
  <dcterms:modified xsi:type="dcterms:W3CDTF">2025-02-08T13:35:40Z</dcterms:modified>
</cp:coreProperties>
</file>