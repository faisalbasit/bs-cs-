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71" r:id="rId4"/>
    <p:sldId id="272" r:id="rId5"/>
    <p:sldId id="260" r:id="rId6"/>
    <p:sldId id="273" r:id="rId7"/>
    <p:sldId id="274" r:id="rId8"/>
    <p:sldId id="275" r:id="rId9"/>
    <p:sldId id="276" r:id="rId10"/>
    <p:sldId id="277" r:id="rId11"/>
    <p:sldId id="261" r:id="rId12"/>
    <p:sldId id="278" r:id="rId13"/>
    <p:sldId id="279" r:id="rId14"/>
    <p:sldId id="280" r:id="rId15"/>
    <p:sldId id="281" r:id="rId16"/>
    <p:sldId id="282" r:id="rId17"/>
    <p:sldId id="262" r:id="rId18"/>
    <p:sldId id="283" r:id="rId19"/>
    <p:sldId id="284" r:id="rId20"/>
    <p:sldId id="285" r:id="rId21"/>
    <p:sldId id="286" r:id="rId22"/>
    <p:sldId id="287" r:id="rId23"/>
    <p:sldId id="288" r:id="rId24"/>
    <p:sldId id="263" r:id="rId25"/>
    <p:sldId id="289" r:id="rId26"/>
    <p:sldId id="290" r:id="rId27"/>
    <p:sldId id="291" r:id="rId28"/>
    <p:sldId id="292" r:id="rId29"/>
    <p:sldId id="293" r:id="rId30"/>
    <p:sldId id="294" r:id="rId31"/>
    <p:sldId id="295" r:id="rId32"/>
    <p:sldId id="296" r:id="rId33"/>
    <p:sldId id="297" r:id="rId34"/>
    <p:sldId id="298" r:id="rId35"/>
    <p:sldId id="265" r:id="rId36"/>
    <p:sldId id="299" r:id="rId37"/>
    <p:sldId id="306" r:id="rId38"/>
    <p:sldId id="307" r:id="rId39"/>
    <p:sldId id="300" r:id="rId40"/>
    <p:sldId id="301" r:id="rId41"/>
    <p:sldId id="302" r:id="rId42"/>
    <p:sldId id="303" r:id="rId43"/>
    <p:sldId id="266" r:id="rId44"/>
    <p:sldId id="267" r:id="rId45"/>
    <p:sldId id="268" r:id="rId46"/>
    <p:sldId id="269" r:id="rId47"/>
    <p:sldId id="305" r:id="rId48"/>
    <p:sldId id="26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0" d="100"/>
          <a:sy n="60" d="100"/>
        </p:scale>
        <p:origin x="8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479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209738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31D1B0-6A0E-4430-AC2D-7F9228F4CBE9}"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26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31D1B0-6A0E-4430-AC2D-7F9228F4CBE9}"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03925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31D1B0-6A0E-4430-AC2D-7F9228F4CBE9}"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275658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31D1B0-6A0E-4430-AC2D-7F9228F4CBE9}"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97790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31D1B0-6A0E-4430-AC2D-7F9228F4CBE9}" type="datetimeFigureOut">
              <a:rPr lang="en-US" smtClean="0"/>
              <a:t>2/10/2025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5050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31D1B0-6A0E-4430-AC2D-7F9228F4CBE9}" type="datetimeFigureOut">
              <a:rPr lang="en-US" smtClean="0"/>
              <a:t>2/10/2025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003177-7FED-4ECA-96D1-658996C5DF1F}" type="slidenum">
              <a:rPr lang="en-US" smtClean="0"/>
              <a:t>‹#›</a:t>
            </a:fld>
            <a:endParaRPr lang="en-US"/>
          </a:p>
        </p:txBody>
      </p:sp>
    </p:spTree>
    <p:extLst>
      <p:ext uri="{BB962C8B-B14F-4D97-AF65-F5344CB8AC3E}">
        <p14:creationId xmlns:p14="http://schemas.microsoft.com/office/powerpoint/2010/main" val="2402758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31D1B0-6A0E-4430-AC2D-7F9228F4CBE9}"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73277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137672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88165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31D1B0-6A0E-4430-AC2D-7F9228F4CBE9}" type="datetimeFigureOut">
              <a:rPr lang="en-US" smtClean="0"/>
              <a:t>2/10/2025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003177-7FED-4ECA-96D1-658996C5DF1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190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40A-BA8A-6A72-E911-EDB060ED022F}"/>
              </a:ext>
            </a:extLst>
          </p:cNvPr>
          <p:cNvSpPr>
            <a:spLocks noGrp="1"/>
          </p:cNvSpPr>
          <p:nvPr>
            <p:ph type="ctrTitle"/>
          </p:nvPr>
        </p:nvSpPr>
        <p:spPr/>
        <p:txBody>
          <a:bodyPr>
            <a:normAutofit/>
          </a:bodyPr>
          <a:lstStyle/>
          <a:p>
            <a:r>
              <a:rPr lang="en-US" sz="6600" b="1" dirty="0">
                <a:latin typeface="Times New Roman" panose="02020603050405020304" pitchFamily="18" charset="0"/>
                <a:cs typeface="Times New Roman" panose="02020603050405020304" pitchFamily="18" charset="0"/>
              </a:rPr>
              <a:t>Lecture # 08</a:t>
            </a:r>
            <a:br>
              <a:rPr lang="en-US" sz="6600" kern="0" dirty="0">
                <a:effectLst/>
                <a:latin typeface="Times New Roman" panose="02020603050405020304" pitchFamily="18" charset="0"/>
                <a:ea typeface="Times New Roman" panose="02020603050405020304" pitchFamily="18" charset="0"/>
              </a:rPr>
            </a:br>
            <a:r>
              <a:rPr lang="en-US" sz="6600" kern="0" dirty="0">
                <a:effectLst/>
                <a:latin typeface="Times New Roman" panose="02020603050405020304" pitchFamily="18" charset="0"/>
                <a:ea typeface="Times New Roman" panose="02020603050405020304" pitchFamily="18" charset="0"/>
              </a:rPr>
              <a:t>Pipelining Architecture</a:t>
            </a:r>
            <a:endParaRPr lang="en-US" sz="6600" dirty="0"/>
          </a:p>
        </p:txBody>
      </p:sp>
      <p:sp>
        <p:nvSpPr>
          <p:cNvPr id="3" name="Subtitle 2">
            <a:extLst>
              <a:ext uri="{FF2B5EF4-FFF2-40B4-BE49-F238E27FC236}">
                <a16:creationId xmlns:a16="http://schemas.microsoft.com/office/drawing/2014/main" id="{3EEDB696-4149-7917-BE8F-15EDA665DA61}"/>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Parallel and Distributed Computing</a:t>
            </a:r>
          </a:p>
          <a:p>
            <a:r>
              <a:rPr lang="en-US" dirty="0">
                <a:latin typeface="Times New Roman" panose="02020603050405020304" pitchFamily="18" charset="0"/>
                <a:cs typeface="Times New Roman" panose="02020603050405020304" pitchFamily="18" charset="0"/>
              </a:rPr>
              <a:t>CS-482</a:t>
            </a:r>
          </a:p>
        </p:txBody>
      </p:sp>
    </p:spTree>
    <p:extLst>
      <p:ext uri="{BB962C8B-B14F-4D97-AF65-F5344CB8AC3E}">
        <p14:creationId xmlns:p14="http://schemas.microsoft.com/office/powerpoint/2010/main" val="57622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286B-E3C7-1088-126E-7AAAF05C3CF7}"/>
              </a:ext>
            </a:extLst>
          </p:cNvPr>
          <p:cNvSpPr>
            <a:spLocks noGrp="1"/>
          </p:cNvSpPr>
          <p:nvPr>
            <p:ph type="title"/>
          </p:nvPr>
        </p:nvSpPr>
        <p:spPr/>
        <p:txBody>
          <a:bodyPr/>
          <a:lstStyle/>
          <a:p>
            <a:r>
              <a:rPr lang="en-US" b="1" dirty="0"/>
              <a:t>Introduction to Pipelining</a:t>
            </a:r>
            <a:endParaRPr lang="en-US" dirty="0"/>
          </a:p>
        </p:txBody>
      </p:sp>
      <p:sp>
        <p:nvSpPr>
          <p:cNvPr id="3" name="Content Placeholder 2">
            <a:extLst>
              <a:ext uri="{FF2B5EF4-FFF2-40B4-BE49-F238E27FC236}">
                <a16:creationId xmlns:a16="http://schemas.microsoft.com/office/drawing/2014/main" id="{0F50BF88-31A0-D2AD-E175-5A881657D971}"/>
              </a:ext>
            </a:extLst>
          </p:cNvPr>
          <p:cNvSpPr>
            <a:spLocks noGrp="1"/>
          </p:cNvSpPr>
          <p:nvPr>
            <p:ph idx="1"/>
          </p:nvPr>
        </p:nvSpPr>
        <p:spPr/>
        <p:txBody>
          <a:bodyPr/>
          <a:lstStyle/>
          <a:p>
            <a:pPr>
              <a:buFont typeface="Arial" panose="020B0604020202020204" pitchFamily="34" charset="0"/>
              <a:buChar char="•"/>
            </a:pPr>
            <a:r>
              <a:rPr lang="en-US" b="1" dirty="0"/>
              <a:t>Definition</a:t>
            </a:r>
            <a:r>
              <a:rPr lang="en-US" dirty="0"/>
              <a:t>: Pipelining is a technique in computer architecture where multiple instruction stages are overlapped in execution to improve performance.</a:t>
            </a:r>
          </a:p>
          <a:p>
            <a:pPr>
              <a:buFont typeface="Arial" panose="020B0604020202020204" pitchFamily="34" charset="0"/>
              <a:buChar char="•"/>
            </a:pPr>
            <a:r>
              <a:rPr lang="en-US" b="1" dirty="0"/>
              <a:t>Need for Pipelining</a:t>
            </a:r>
            <a:r>
              <a:rPr lang="en-US" dirty="0"/>
              <a:t>:</a:t>
            </a:r>
          </a:p>
          <a:p>
            <a:pPr marL="742950" lvl="1" indent="-285750">
              <a:buFont typeface="Arial" panose="020B0604020202020204" pitchFamily="34" charset="0"/>
              <a:buChar char="•"/>
            </a:pPr>
            <a:r>
              <a:rPr lang="en-US" dirty="0"/>
              <a:t>Enhances CPU efficiency</a:t>
            </a:r>
          </a:p>
          <a:p>
            <a:pPr marL="742950" lvl="1" indent="-285750">
              <a:buFont typeface="Arial" panose="020B0604020202020204" pitchFamily="34" charset="0"/>
              <a:buChar char="•"/>
            </a:pPr>
            <a:r>
              <a:rPr lang="en-US" dirty="0"/>
              <a:t>Increases instruction throughput</a:t>
            </a:r>
          </a:p>
          <a:p>
            <a:pPr marL="742950" lvl="1" indent="-285750">
              <a:buFont typeface="Arial" panose="020B0604020202020204" pitchFamily="34" charset="0"/>
              <a:buChar char="•"/>
            </a:pPr>
            <a:r>
              <a:rPr lang="en-US" dirty="0"/>
              <a:t>Reduces execution time</a:t>
            </a:r>
          </a:p>
          <a:p>
            <a:endParaRPr lang="en-US" dirty="0"/>
          </a:p>
        </p:txBody>
      </p:sp>
    </p:spTree>
    <p:extLst>
      <p:ext uri="{BB962C8B-B14F-4D97-AF65-F5344CB8AC3E}">
        <p14:creationId xmlns:p14="http://schemas.microsoft.com/office/powerpoint/2010/main" val="3745075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F003C-3B15-4CCC-AC64-548D84A3F74D}"/>
              </a:ext>
            </a:extLst>
          </p:cNvPr>
          <p:cNvSpPr>
            <a:spLocks noGrp="1"/>
          </p:cNvSpPr>
          <p:nvPr>
            <p:ph type="title"/>
          </p:nvPr>
        </p:nvSpPr>
        <p:spPr/>
        <p:txBody>
          <a:bodyPr/>
          <a:lstStyle/>
          <a:p>
            <a:r>
              <a:rPr lang="en-US" b="1" dirty="0"/>
              <a:t>What is Pipelining?</a:t>
            </a:r>
            <a:endParaRPr lang="en-US" dirty="0"/>
          </a:p>
        </p:txBody>
      </p:sp>
      <p:sp>
        <p:nvSpPr>
          <p:cNvPr id="3" name="Content Placeholder 2">
            <a:extLst>
              <a:ext uri="{FF2B5EF4-FFF2-40B4-BE49-F238E27FC236}">
                <a16:creationId xmlns:a16="http://schemas.microsoft.com/office/drawing/2014/main" id="{8E285C13-BB55-8CF9-3E41-E679A9FD5D06}"/>
              </a:ext>
            </a:extLst>
          </p:cNvPr>
          <p:cNvSpPr>
            <a:spLocks noGrp="1"/>
          </p:cNvSpPr>
          <p:nvPr>
            <p:ph idx="1"/>
          </p:nvPr>
        </p:nvSpPr>
        <p:spPr/>
        <p:txBody>
          <a:bodyPr/>
          <a:lstStyle/>
          <a:p>
            <a:r>
              <a:rPr lang="en-US" dirty="0"/>
              <a:t>Pipelining is a technique used in computer architecture where multiple instruction stages are executed in parallel, improving CPU performance. It divides the execution process into several stages, with each stage handling a different instruction simultaneously. This increases instruction throughput and allows the CPU to process multiple instructions at different stages in a single clock cycle.</a:t>
            </a:r>
          </a:p>
        </p:txBody>
      </p:sp>
    </p:spTree>
    <p:extLst>
      <p:ext uri="{BB962C8B-B14F-4D97-AF65-F5344CB8AC3E}">
        <p14:creationId xmlns:p14="http://schemas.microsoft.com/office/powerpoint/2010/main" val="1363674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2F505-A968-00DB-373A-1E7E3889F76B}"/>
              </a:ext>
            </a:extLst>
          </p:cNvPr>
          <p:cNvSpPr>
            <a:spLocks noGrp="1"/>
          </p:cNvSpPr>
          <p:nvPr>
            <p:ph type="title"/>
          </p:nvPr>
        </p:nvSpPr>
        <p:spPr/>
        <p:txBody>
          <a:bodyPr/>
          <a:lstStyle/>
          <a:p>
            <a:r>
              <a:rPr lang="en-US" b="1" dirty="0"/>
              <a:t>Need for Pipelining</a:t>
            </a:r>
            <a:endParaRPr lang="en-US" dirty="0"/>
          </a:p>
        </p:txBody>
      </p:sp>
      <p:sp>
        <p:nvSpPr>
          <p:cNvPr id="3" name="Content Placeholder 2">
            <a:extLst>
              <a:ext uri="{FF2B5EF4-FFF2-40B4-BE49-F238E27FC236}">
                <a16:creationId xmlns:a16="http://schemas.microsoft.com/office/drawing/2014/main" id="{F60FD3C8-8500-E5A8-4D09-68A16782DD66}"/>
              </a:ext>
            </a:extLst>
          </p:cNvPr>
          <p:cNvSpPr>
            <a:spLocks noGrp="1"/>
          </p:cNvSpPr>
          <p:nvPr>
            <p:ph idx="1"/>
          </p:nvPr>
        </p:nvSpPr>
        <p:spPr/>
        <p:txBody>
          <a:bodyPr>
            <a:normAutofit fontScale="70000" lnSpcReduction="20000"/>
          </a:bodyPr>
          <a:lstStyle/>
          <a:p>
            <a:r>
              <a:rPr lang="en-US" dirty="0"/>
              <a:t>Pipelining is essential in modern processors for several reasons:</a:t>
            </a:r>
          </a:p>
          <a:p>
            <a:pPr>
              <a:buFont typeface="+mj-lt"/>
              <a:buAutoNum type="arabicPeriod"/>
            </a:pPr>
            <a:r>
              <a:rPr lang="en-US" b="1" dirty="0"/>
              <a:t>Improved Performance &amp; Speed</a:t>
            </a:r>
            <a:endParaRPr lang="en-US" dirty="0"/>
          </a:p>
          <a:p>
            <a:pPr marL="742950" lvl="1" indent="-285750"/>
            <a:r>
              <a:rPr lang="en-US" dirty="0"/>
              <a:t>Without pipelining, the CPU executes one instruction at a time, leading to underutilization of processing units.</a:t>
            </a:r>
          </a:p>
          <a:p>
            <a:pPr marL="742950" lvl="1" indent="-285750"/>
            <a:r>
              <a:rPr lang="en-US" dirty="0"/>
              <a:t>With pipelining, multiple instructions are processed simultaneously, increasing instruction throughput.</a:t>
            </a:r>
          </a:p>
          <a:p>
            <a:pPr>
              <a:buFont typeface="+mj-lt"/>
              <a:buAutoNum type="arabicPeriod"/>
            </a:pPr>
            <a:r>
              <a:rPr lang="en-US" b="1" dirty="0"/>
              <a:t>Efficient Resource Utilization</a:t>
            </a:r>
            <a:endParaRPr lang="en-US" dirty="0"/>
          </a:p>
          <a:p>
            <a:pPr marL="742950" lvl="1" indent="-285750"/>
            <a:r>
              <a:rPr lang="en-US" dirty="0"/>
              <a:t>Pipelining ensures that different functional units (fetch, decode, execute, etc.) work in parallel, reducing idle time.</a:t>
            </a:r>
          </a:p>
          <a:p>
            <a:pPr>
              <a:buFont typeface="+mj-lt"/>
              <a:buAutoNum type="arabicPeriod"/>
            </a:pPr>
            <a:r>
              <a:rPr lang="en-US" b="1" dirty="0"/>
              <a:t>Higher CPU Clock Speeds</a:t>
            </a:r>
            <a:endParaRPr lang="en-US" dirty="0"/>
          </a:p>
          <a:p>
            <a:pPr marL="742950" lvl="1" indent="-285750"/>
            <a:r>
              <a:rPr lang="en-US" dirty="0"/>
              <a:t>Since each instruction is broken into smaller tasks, they can be executed faster, allowing for higher clock frequencies.</a:t>
            </a:r>
          </a:p>
          <a:p>
            <a:pPr>
              <a:buFont typeface="+mj-lt"/>
              <a:buAutoNum type="arabicPeriod"/>
            </a:pPr>
            <a:r>
              <a:rPr lang="en-US" b="1" dirty="0"/>
              <a:t>Minimizing Instruction Execution Delay</a:t>
            </a:r>
            <a:endParaRPr lang="en-US" dirty="0"/>
          </a:p>
          <a:p>
            <a:pPr marL="742950" lvl="1" indent="-285750"/>
            <a:r>
              <a:rPr lang="en-US" dirty="0"/>
              <a:t>Without pipelining, each instruction must complete before the next begins. Pipelining overlaps execution, reducing overall execution time.</a:t>
            </a:r>
          </a:p>
          <a:p>
            <a:pPr>
              <a:buFont typeface="+mj-lt"/>
              <a:buAutoNum type="arabicPeriod"/>
            </a:pPr>
            <a:r>
              <a:rPr lang="en-US" b="1" dirty="0"/>
              <a:t>Scalability for Complex Architectures</a:t>
            </a:r>
            <a:endParaRPr lang="en-US" dirty="0"/>
          </a:p>
          <a:p>
            <a:pPr marL="742950" lvl="1" indent="-285750"/>
            <a:r>
              <a:rPr lang="en-US" dirty="0"/>
              <a:t>Advanced architectures like RISC (Reduced Instruction Set Computing) heavily depend on pipelining for optimal performance.</a:t>
            </a:r>
          </a:p>
          <a:p>
            <a:pPr>
              <a:buFont typeface="+mj-lt"/>
              <a:buAutoNum type="arabicPeriod"/>
            </a:pPr>
            <a:r>
              <a:rPr lang="en-US" b="1" dirty="0"/>
              <a:t>Better Utilization of Multi-Core and Superscalar Architectures</a:t>
            </a:r>
            <a:endParaRPr lang="en-US" dirty="0"/>
          </a:p>
          <a:p>
            <a:pPr marL="742950" lvl="1" indent="-285750"/>
            <a:r>
              <a:rPr lang="en-US" dirty="0"/>
              <a:t>Modern CPUs use multiple execution units. Pipelining helps manage multiple instruction flows efficiently.</a:t>
            </a:r>
          </a:p>
          <a:p>
            <a:endParaRPr lang="en-US" dirty="0"/>
          </a:p>
        </p:txBody>
      </p:sp>
    </p:spTree>
    <p:extLst>
      <p:ext uri="{BB962C8B-B14F-4D97-AF65-F5344CB8AC3E}">
        <p14:creationId xmlns:p14="http://schemas.microsoft.com/office/powerpoint/2010/main" val="1119852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E727B-BD58-DFDC-4F78-873C3F7E1B60}"/>
              </a:ext>
            </a:extLst>
          </p:cNvPr>
          <p:cNvSpPr>
            <a:spLocks noGrp="1"/>
          </p:cNvSpPr>
          <p:nvPr>
            <p:ph type="title"/>
          </p:nvPr>
        </p:nvSpPr>
        <p:spPr/>
        <p:txBody>
          <a:bodyPr/>
          <a:lstStyle/>
          <a:p>
            <a:r>
              <a:rPr lang="en-US" b="1" dirty="0"/>
              <a:t>Types of Pipelining</a:t>
            </a:r>
            <a:endParaRPr lang="en-US" dirty="0"/>
          </a:p>
        </p:txBody>
      </p:sp>
      <p:sp>
        <p:nvSpPr>
          <p:cNvPr id="3" name="Content Placeholder 2">
            <a:extLst>
              <a:ext uri="{FF2B5EF4-FFF2-40B4-BE49-F238E27FC236}">
                <a16:creationId xmlns:a16="http://schemas.microsoft.com/office/drawing/2014/main" id="{4E21BC27-539C-3A4A-610E-E5D32A2CFF6A}"/>
              </a:ext>
            </a:extLst>
          </p:cNvPr>
          <p:cNvSpPr>
            <a:spLocks noGrp="1"/>
          </p:cNvSpPr>
          <p:nvPr>
            <p:ph idx="1"/>
          </p:nvPr>
        </p:nvSpPr>
        <p:spPr/>
        <p:txBody>
          <a:bodyPr/>
          <a:lstStyle/>
          <a:p>
            <a:pPr>
              <a:buFont typeface="Arial" panose="020B0604020202020204" pitchFamily="34" charset="0"/>
              <a:buChar char="•"/>
            </a:pPr>
            <a:r>
              <a:rPr lang="en-US" b="1" dirty="0"/>
              <a:t>Hardware Pipelining</a:t>
            </a:r>
            <a:r>
              <a:rPr lang="en-US" dirty="0"/>
              <a:t>: Uses physical components to implement multiple execution stages.</a:t>
            </a:r>
          </a:p>
          <a:p>
            <a:pPr>
              <a:buFont typeface="Arial" panose="020B0604020202020204" pitchFamily="34" charset="0"/>
              <a:buChar char="•"/>
            </a:pPr>
            <a:r>
              <a:rPr lang="en-US" b="1" dirty="0"/>
              <a:t>Software Pipelining</a:t>
            </a:r>
            <a:r>
              <a:rPr lang="en-US" dirty="0"/>
              <a:t>: Compiler optimizations to rearrange instructions for better performance.</a:t>
            </a:r>
          </a:p>
          <a:p>
            <a:endParaRPr lang="en-US" dirty="0"/>
          </a:p>
        </p:txBody>
      </p:sp>
    </p:spTree>
    <p:extLst>
      <p:ext uri="{BB962C8B-B14F-4D97-AF65-F5344CB8AC3E}">
        <p14:creationId xmlns:p14="http://schemas.microsoft.com/office/powerpoint/2010/main" val="30205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AF728-5500-2740-3FC6-62B54908C411}"/>
              </a:ext>
            </a:extLst>
          </p:cNvPr>
          <p:cNvSpPr>
            <a:spLocks noGrp="1"/>
          </p:cNvSpPr>
          <p:nvPr>
            <p:ph type="title"/>
          </p:nvPr>
        </p:nvSpPr>
        <p:spPr/>
        <p:txBody>
          <a:bodyPr>
            <a:normAutofit/>
          </a:bodyPr>
          <a:lstStyle/>
          <a:p>
            <a:r>
              <a:rPr lang="en-US" b="1" dirty="0"/>
              <a:t>1. Hardware Pipelining (Processor-Level Pipelining)</a:t>
            </a:r>
            <a:endParaRPr lang="en-US" dirty="0"/>
          </a:p>
        </p:txBody>
      </p:sp>
      <p:sp>
        <p:nvSpPr>
          <p:cNvPr id="3" name="Content Placeholder 2">
            <a:extLst>
              <a:ext uri="{FF2B5EF4-FFF2-40B4-BE49-F238E27FC236}">
                <a16:creationId xmlns:a16="http://schemas.microsoft.com/office/drawing/2014/main" id="{D3A398B8-DD4E-F3B1-11F9-81DB57ABE3B1}"/>
              </a:ext>
            </a:extLst>
          </p:cNvPr>
          <p:cNvSpPr>
            <a:spLocks noGrp="1"/>
          </p:cNvSpPr>
          <p:nvPr>
            <p:ph idx="1"/>
          </p:nvPr>
        </p:nvSpPr>
        <p:spPr/>
        <p:txBody>
          <a:bodyPr>
            <a:normAutofit fontScale="85000" lnSpcReduction="10000"/>
          </a:bodyPr>
          <a:lstStyle/>
          <a:p>
            <a:r>
              <a:rPr lang="en-US" dirty="0"/>
              <a:t>Hardware pipelining refers to the physical design of a processor where different hardware units are dedicated to specific pipeline stages. It improves execution efficiency by enabling parallel processing of instructions.</a:t>
            </a:r>
          </a:p>
          <a:p>
            <a:r>
              <a:rPr lang="en-US" b="1" dirty="0"/>
              <a:t>Types of Hardware Pipelining:</a:t>
            </a:r>
          </a:p>
          <a:p>
            <a:pPr>
              <a:buFont typeface="+mj-lt"/>
              <a:buAutoNum type="arabicPeriod"/>
            </a:pPr>
            <a:r>
              <a:rPr lang="en-US" b="1" dirty="0"/>
              <a:t>Instruction Pipelining</a:t>
            </a:r>
            <a:endParaRPr lang="en-US" dirty="0"/>
          </a:p>
          <a:p>
            <a:pPr marL="742950" lvl="1" indent="-285750"/>
            <a:r>
              <a:rPr lang="en-US" dirty="0"/>
              <a:t>Used in CPUs to execute multiple instructions simultaneously by breaking them into different stages (Fetch, Decode, Execute, Memory Access, Write Back).</a:t>
            </a:r>
          </a:p>
          <a:p>
            <a:pPr marL="742950" lvl="1" indent="-285750"/>
            <a:r>
              <a:rPr lang="en-US" dirty="0"/>
              <a:t>Example: The 5-stage pipeline in RISC processors.</a:t>
            </a:r>
          </a:p>
          <a:p>
            <a:pPr>
              <a:buFont typeface="+mj-lt"/>
              <a:buAutoNum type="arabicPeriod"/>
            </a:pPr>
            <a:r>
              <a:rPr lang="en-US" b="1" dirty="0"/>
              <a:t>Arithmetic Pipelining</a:t>
            </a:r>
            <a:endParaRPr lang="en-US" dirty="0"/>
          </a:p>
          <a:p>
            <a:pPr marL="742950" lvl="1" indent="-285750"/>
            <a:r>
              <a:rPr lang="en-US" dirty="0"/>
              <a:t>Used in ALUs (Arithmetic Logic Units) for executing complex mathematical operations like floating-point addition and multiplication.</a:t>
            </a:r>
          </a:p>
          <a:p>
            <a:pPr marL="742950" lvl="1" indent="-285750"/>
            <a:r>
              <a:rPr lang="en-US" dirty="0"/>
              <a:t>Example: Floating-Point Unit (FPU) pipelining in modern processors.</a:t>
            </a:r>
          </a:p>
          <a:p>
            <a:pPr>
              <a:buFont typeface="+mj-lt"/>
              <a:buAutoNum type="arabicPeriod"/>
            </a:pPr>
            <a:r>
              <a:rPr lang="en-US" b="1" dirty="0"/>
              <a:t>Data Pipelining</a:t>
            </a:r>
            <a:endParaRPr lang="en-US" dirty="0"/>
          </a:p>
          <a:p>
            <a:pPr marL="742950" lvl="1" indent="-285750"/>
            <a:r>
              <a:rPr lang="en-US" dirty="0"/>
              <a:t>Used in memory systems to transfer data efficiently between components (cache, main memory, I/O devices).</a:t>
            </a:r>
          </a:p>
          <a:p>
            <a:pPr marL="742950" lvl="1" indent="-285750"/>
            <a:r>
              <a:rPr lang="en-US" dirty="0"/>
              <a:t>Example: DMA (Direct Memory Access) controllers use data pipelining.</a:t>
            </a:r>
          </a:p>
        </p:txBody>
      </p:sp>
    </p:spTree>
    <p:extLst>
      <p:ext uri="{BB962C8B-B14F-4D97-AF65-F5344CB8AC3E}">
        <p14:creationId xmlns:p14="http://schemas.microsoft.com/office/powerpoint/2010/main" val="860504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9521-E15F-2E84-B7AA-4535E4BACEB3}"/>
              </a:ext>
            </a:extLst>
          </p:cNvPr>
          <p:cNvSpPr>
            <a:spLocks noGrp="1"/>
          </p:cNvSpPr>
          <p:nvPr>
            <p:ph type="title"/>
          </p:nvPr>
        </p:nvSpPr>
        <p:spPr/>
        <p:txBody>
          <a:bodyPr/>
          <a:lstStyle/>
          <a:p>
            <a:r>
              <a:rPr lang="en-US" b="1" dirty="0"/>
              <a:t>2. Software Pipelining</a:t>
            </a:r>
            <a:endParaRPr lang="en-US" dirty="0"/>
          </a:p>
        </p:txBody>
      </p:sp>
      <p:sp>
        <p:nvSpPr>
          <p:cNvPr id="3" name="Content Placeholder 2">
            <a:extLst>
              <a:ext uri="{FF2B5EF4-FFF2-40B4-BE49-F238E27FC236}">
                <a16:creationId xmlns:a16="http://schemas.microsoft.com/office/drawing/2014/main" id="{50B55477-AAC0-3A63-135A-CF351469ED58}"/>
              </a:ext>
            </a:extLst>
          </p:cNvPr>
          <p:cNvSpPr>
            <a:spLocks noGrp="1"/>
          </p:cNvSpPr>
          <p:nvPr>
            <p:ph idx="1"/>
          </p:nvPr>
        </p:nvSpPr>
        <p:spPr/>
        <p:txBody>
          <a:bodyPr>
            <a:normAutofit fontScale="77500" lnSpcReduction="20000"/>
          </a:bodyPr>
          <a:lstStyle/>
          <a:p>
            <a:r>
              <a:rPr lang="en-US" dirty="0"/>
              <a:t>Software pipelining is a compiler optimization technique where loops are rearranged to allow parallel execution of instructions. It enhances performance without requiring additional hardware modifications.</a:t>
            </a:r>
          </a:p>
          <a:p>
            <a:r>
              <a:rPr lang="en-US" b="1" dirty="0"/>
              <a:t>Types of Software Pipelining:</a:t>
            </a:r>
          </a:p>
          <a:p>
            <a:pPr>
              <a:buFont typeface="+mj-lt"/>
              <a:buAutoNum type="arabicPeriod"/>
            </a:pPr>
            <a:r>
              <a:rPr lang="en-US" b="1" dirty="0"/>
              <a:t>Loop Unrolling</a:t>
            </a:r>
            <a:endParaRPr lang="en-US" dirty="0"/>
          </a:p>
          <a:p>
            <a:pPr marL="742950" lvl="1" indent="-285750"/>
            <a:r>
              <a:rPr lang="en-US" dirty="0"/>
              <a:t>Increases instruction-level parallelism by reducing loop control overhead.</a:t>
            </a:r>
          </a:p>
          <a:p>
            <a:pPr marL="742950" lvl="1" indent="-285750"/>
            <a:r>
              <a:rPr lang="en-US" dirty="0"/>
              <a:t>Example: Instead of running a loop 10 times, it executes 2 iterations per cycle (5 cycles in total).</a:t>
            </a:r>
          </a:p>
          <a:p>
            <a:pPr>
              <a:buFont typeface="+mj-lt"/>
              <a:buAutoNum type="arabicPeriod"/>
            </a:pPr>
            <a:r>
              <a:rPr lang="en-US" b="1" dirty="0"/>
              <a:t>VLIW (Very Long Instruction Word) Pipelining</a:t>
            </a:r>
            <a:endParaRPr lang="en-US" dirty="0"/>
          </a:p>
          <a:p>
            <a:pPr marL="742950" lvl="1" indent="-285750"/>
            <a:r>
              <a:rPr lang="en-US" dirty="0"/>
              <a:t>Compilers schedule multiple operations into a single instruction word, executed in parallel.</a:t>
            </a:r>
          </a:p>
          <a:p>
            <a:pPr marL="742950" lvl="1" indent="-285750"/>
            <a:r>
              <a:rPr lang="en-US" dirty="0"/>
              <a:t>Example: Used in DSP (Digital Signal Processing) processors.</a:t>
            </a:r>
          </a:p>
          <a:p>
            <a:pPr>
              <a:buFont typeface="+mj-lt"/>
              <a:buAutoNum type="arabicPeriod"/>
            </a:pPr>
            <a:r>
              <a:rPr lang="en-US" b="1" dirty="0"/>
              <a:t>Speculative Execution</a:t>
            </a:r>
            <a:endParaRPr lang="en-US" dirty="0"/>
          </a:p>
          <a:p>
            <a:pPr marL="742950" lvl="1" indent="-285750"/>
            <a:r>
              <a:rPr lang="en-US" dirty="0"/>
              <a:t>Instructions are executed before their conditions are confirmed, reducing pipeline stalls.</a:t>
            </a:r>
          </a:p>
          <a:p>
            <a:pPr marL="742950" lvl="1" indent="-285750"/>
            <a:r>
              <a:rPr lang="en-US" dirty="0"/>
              <a:t>Example: Used in branch prediction to reduce control hazards.</a:t>
            </a:r>
          </a:p>
          <a:p>
            <a:pPr>
              <a:buFont typeface="+mj-lt"/>
              <a:buAutoNum type="arabicPeriod"/>
            </a:pPr>
            <a:r>
              <a:rPr lang="en-US" b="1" dirty="0"/>
              <a:t>Software Parallelism in Multi-Core Processors</a:t>
            </a:r>
            <a:endParaRPr lang="en-US" dirty="0"/>
          </a:p>
          <a:p>
            <a:pPr marL="742950" lvl="1" indent="-285750"/>
            <a:r>
              <a:rPr lang="en-US" dirty="0"/>
              <a:t>Breaking tasks into multiple threads to utilize multiple cores effectively.</a:t>
            </a:r>
          </a:p>
          <a:p>
            <a:pPr marL="742950" lvl="1" indent="-285750"/>
            <a:r>
              <a:rPr lang="en-US" dirty="0"/>
              <a:t>Example: OpenMP and CUDA-based parallel programming.</a:t>
            </a:r>
          </a:p>
          <a:p>
            <a:endParaRPr lang="en-US" dirty="0"/>
          </a:p>
        </p:txBody>
      </p:sp>
    </p:spTree>
    <p:extLst>
      <p:ext uri="{BB962C8B-B14F-4D97-AF65-F5344CB8AC3E}">
        <p14:creationId xmlns:p14="http://schemas.microsoft.com/office/powerpoint/2010/main" val="3496505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4A18F-8376-36DA-732D-B75EE7B4D013}"/>
              </a:ext>
            </a:extLst>
          </p:cNvPr>
          <p:cNvSpPr>
            <a:spLocks noGrp="1"/>
          </p:cNvSpPr>
          <p:nvPr>
            <p:ph type="title"/>
          </p:nvPr>
        </p:nvSpPr>
        <p:spPr/>
        <p:txBody>
          <a:bodyPr>
            <a:normAutofit/>
          </a:bodyPr>
          <a:lstStyle/>
          <a:p>
            <a:r>
              <a:rPr lang="en-US" b="1" dirty="0"/>
              <a:t>Tradeoff Between Cost and Performance in Pipelining</a:t>
            </a:r>
            <a:endParaRPr lang="en-US" dirty="0"/>
          </a:p>
        </p:txBody>
      </p:sp>
      <p:sp>
        <p:nvSpPr>
          <p:cNvPr id="3" name="Content Placeholder 2">
            <a:extLst>
              <a:ext uri="{FF2B5EF4-FFF2-40B4-BE49-F238E27FC236}">
                <a16:creationId xmlns:a16="http://schemas.microsoft.com/office/drawing/2014/main" id="{D5E3F432-B9D6-D42F-CF2C-A4B0705DE054}"/>
              </a:ext>
            </a:extLst>
          </p:cNvPr>
          <p:cNvSpPr>
            <a:spLocks noGrp="1"/>
          </p:cNvSpPr>
          <p:nvPr>
            <p:ph idx="1"/>
          </p:nvPr>
        </p:nvSpPr>
        <p:spPr/>
        <p:txBody>
          <a:bodyPr/>
          <a:lstStyle/>
          <a:p>
            <a:r>
              <a:rPr lang="en-US" dirty="0"/>
              <a:t>Pipelining improves system performance by increasing instruction throughput, but it also introduces higher costs due to hardware complexity, power consumption, and design challenges. The tradeoff between cost and performance must be carefully balanced depending on the application and system requirements.</a:t>
            </a:r>
          </a:p>
        </p:txBody>
      </p:sp>
    </p:spTree>
    <p:extLst>
      <p:ext uri="{BB962C8B-B14F-4D97-AF65-F5344CB8AC3E}">
        <p14:creationId xmlns:p14="http://schemas.microsoft.com/office/powerpoint/2010/main" val="1849141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5C3A6-5EF4-C539-864A-9DBD170ADB30}"/>
              </a:ext>
            </a:extLst>
          </p:cNvPr>
          <p:cNvSpPr>
            <a:spLocks noGrp="1"/>
          </p:cNvSpPr>
          <p:nvPr>
            <p:ph type="title"/>
          </p:nvPr>
        </p:nvSpPr>
        <p:spPr/>
        <p:txBody>
          <a:bodyPr/>
          <a:lstStyle/>
          <a:p>
            <a:r>
              <a:rPr lang="en-US" b="1"/>
              <a:t>Tradeoff Between Cost and Performance in Pipelining</a:t>
            </a:r>
            <a:endParaRPr lang="en-US"/>
          </a:p>
        </p:txBody>
      </p:sp>
      <p:graphicFrame>
        <p:nvGraphicFramePr>
          <p:cNvPr id="4" name="Content Placeholder 3">
            <a:extLst>
              <a:ext uri="{FF2B5EF4-FFF2-40B4-BE49-F238E27FC236}">
                <a16:creationId xmlns:a16="http://schemas.microsoft.com/office/drawing/2014/main" id="{726657D4-2291-9126-2B91-FE6F3BDA0334}"/>
              </a:ext>
            </a:extLst>
          </p:cNvPr>
          <p:cNvGraphicFramePr>
            <a:graphicFrameLocks noGrp="1"/>
          </p:cNvGraphicFramePr>
          <p:nvPr>
            <p:ph idx="1"/>
            <p:extLst>
              <p:ext uri="{D42A27DB-BD31-4B8C-83A1-F6EECF244321}">
                <p14:modId xmlns:p14="http://schemas.microsoft.com/office/powerpoint/2010/main" val="2282404197"/>
              </p:ext>
            </p:extLst>
          </p:nvPr>
        </p:nvGraphicFramePr>
        <p:xfrm>
          <a:off x="1096963" y="2074545"/>
          <a:ext cx="10058400" cy="3566160"/>
        </p:xfrm>
        <a:graphic>
          <a:graphicData uri="http://schemas.openxmlformats.org/drawingml/2006/table">
            <a:tbl>
              <a:tblPr>
                <a:tableStyleId>{5940675A-B579-460E-94D1-54222C63F5DA}</a:tableStyleId>
              </a:tblPr>
              <a:tblGrid>
                <a:gridCol w="3352800">
                  <a:extLst>
                    <a:ext uri="{9D8B030D-6E8A-4147-A177-3AD203B41FA5}">
                      <a16:colId xmlns:a16="http://schemas.microsoft.com/office/drawing/2014/main" val="3988727937"/>
                    </a:ext>
                  </a:extLst>
                </a:gridCol>
                <a:gridCol w="3352800">
                  <a:extLst>
                    <a:ext uri="{9D8B030D-6E8A-4147-A177-3AD203B41FA5}">
                      <a16:colId xmlns:a16="http://schemas.microsoft.com/office/drawing/2014/main" val="2137251257"/>
                    </a:ext>
                  </a:extLst>
                </a:gridCol>
                <a:gridCol w="3352800">
                  <a:extLst>
                    <a:ext uri="{9D8B030D-6E8A-4147-A177-3AD203B41FA5}">
                      <a16:colId xmlns:a16="http://schemas.microsoft.com/office/drawing/2014/main" val="3090776866"/>
                    </a:ext>
                  </a:extLst>
                </a:gridCol>
              </a:tblGrid>
              <a:tr h="0">
                <a:tc>
                  <a:txBody>
                    <a:bodyPr/>
                    <a:lstStyle/>
                    <a:p>
                      <a:r>
                        <a:rPr lang="en-US" b="1"/>
                        <a:t>Scenario</a:t>
                      </a:r>
                      <a:endParaRPr lang="en-US"/>
                    </a:p>
                  </a:txBody>
                  <a:tcPr anchor="ctr"/>
                </a:tc>
                <a:tc>
                  <a:txBody>
                    <a:bodyPr/>
                    <a:lstStyle/>
                    <a:p>
                      <a:r>
                        <a:rPr lang="en-US" b="1"/>
                        <a:t>High Performance</a:t>
                      </a:r>
                      <a:endParaRPr lang="en-US"/>
                    </a:p>
                  </a:txBody>
                  <a:tcPr anchor="ctr"/>
                </a:tc>
                <a:tc>
                  <a:txBody>
                    <a:bodyPr/>
                    <a:lstStyle/>
                    <a:p>
                      <a:r>
                        <a:rPr lang="en-US" b="1"/>
                        <a:t>Low Cost</a:t>
                      </a:r>
                      <a:endParaRPr lang="en-US"/>
                    </a:p>
                  </a:txBody>
                  <a:tcPr anchor="ctr"/>
                </a:tc>
                <a:extLst>
                  <a:ext uri="{0D108BD9-81ED-4DB2-BD59-A6C34878D82A}">
                    <a16:rowId xmlns:a16="http://schemas.microsoft.com/office/drawing/2014/main" val="1497615045"/>
                  </a:ext>
                </a:extLst>
              </a:tr>
              <a:tr h="0">
                <a:tc>
                  <a:txBody>
                    <a:bodyPr/>
                    <a:lstStyle/>
                    <a:p>
                      <a:r>
                        <a:rPr lang="en-US" b="1" dirty="0"/>
                        <a:t>Simple CPU Design (e.g., embedded systems)</a:t>
                      </a:r>
                      <a:endParaRPr lang="en-US" dirty="0"/>
                    </a:p>
                  </a:txBody>
                  <a:tcPr anchor="ctr"/>
                </a:tc>
                <a:tc>
                  <a:txBody>
                    <a:bodyPr/>
                    <a:lstStyle/>
                    <a:p>
                      <a:r>
                        <a:rPr lang="en-US"/>
                        <a:t>Few pipeline stages, lower complexity</a:t>
                      </a:r>
                    </a:p>
                  </a:txBody>
                  <a:tcPr anchor="ctr"/>
                </a:tc>
                <a:tc>
                  <a:txBody>
                    <a:bodyPr/>
                    <a:lstStyle/>
                    <a:p>
                      <a:r>
                        <a:rPr lang="en-US"/>
                        <a:t>Reduced hardware cost, lower power usage</a:t>
                      </a:r>
                    </a:p>
                  </a:txBody>
                  <a:tcPr anchor="ctr"/>
                </a:tc>
                <a:extLst>
                  <a:ext uri="{0D108BD9-81ED-4DB2-BD59-A6C34878D82A}">
                    <a16:rowId xmlns:a16="http://schemas.microsoft.com/office/drawing/2014/main" val="2707728290"/>
                  </a:ext>
                </a:extLst>
              </a:tr>
              <a:tr h="0">
                <a:tc>
                  <a:txBody>
                    <a:bodyPr/>
                    <a:lstStyle/>
                    <a:p>
                      <a:r>
                        <a:rPr lang="en-US" b="1"/>
                        <a:t>High-Speed Processors (e.g., gaming, AI, HPC)</a:t>
                      </a:r>
                      <a:endParaRPr lang="en-US"/>
                    </a:p>
                  </a:txBody>
                  <a:tcPr anchor="ctr"/>
                </a:tc>
                <a:tc>
                  <a:txBody>
                    <a:bodyPr/>
                    <a:lstStyle/>
                    <a:p>
                      <a:r>
                        <a:rPr lang="en-US"/>
                        <a:t>Deep pipelining, out-of-order execution</a:t>
                      </a:r>
                    </a:p>
                  </a:txBody>
                  <a:tcPr anchor="ctr"/>
                </a:tc>
                <a:tc>
                  <a:txBody>
                    <a:bodyPr/>
                    <a:lstStyle/>
                    <a:p>
                      <a:r>
                        <a:rPr lang="en-US"/>
                        <a:t>Expensive fabrication and higher power</a:t>
                      </a:r>
                    </a:p>
                  </a:txBody>
                  <a:tcPr anchor="ctr"/>
                </a:tc>
                <a:extLst>
                  <a:ext uri="{0D108BD9-81ED-4DB2-BD59-A6C34878D82A}">
                    <a16:rowId xmlns:a16="http://schemas.microsoft.com/office/drawing/2014/main" val="3835208903"/>
                  </a:ext>
                </a:extLst>
              </a:tr>
              <a:tr h="0">
                <a:tc>
                  <a:txBody>
                    <a:bodyPr/>
                    <a:lstStyle/>
                    <a:p>
                      <a:r>
                        <a:rPr lang="en-US" b="1"/>
                        <a:t>Superpipelining (More stages per instruction)</a:t>
                      </a:r>
                      <a:endParaRPr lang="en-US"/>
                    </a:p>
                  </a:txBody>
                  <a:tcPr anchor="ctr"/>
                </a:tc>
                <a:tc>
                  <a:txBody>
                    <a:bodyPr/>
                    <a:lstStyle/>
                    <a:p>
                      <a:r>
                        <a:rPr lang="en-US"/>
                        <a:t>Increases clock speed and performance</a:t>
                      </a:r>
                    </a:p>
                  </a:txBody>
                  <a:tcPr anchor="ctr"/>
                </a:tc>
                <a:tc>
                  <a:txBody>
                    <a:bodyPr/>
                    <a:lstStyle/>
                    <a:p>
                      <a:r>
                        <a:rPr lang="en-US"/>
                        <a:t>Increases hazard handling complexity</a:t>
                      </a:r>
                    </a:p>
                  </a:txBody>
                  <a:tcPr anchor="ctr"/>
                </a:tc>
                <a:extLst>
                  <a:ext uri="{0D108BD9-81ED-4DB2-BD59-A6C34878D82A}">
                    <a16:rowId xmlns:a16="http://schemas.microsoft.com/office/drawing/2014/main" val="868628187"/>
                  </a:ext>
                </a:extLst>
              </a:tr>
              <a:tr h="0">
                <a:tc>
                  <a:txBody>
                    <a:bodyPr/>
                    <a:lstStyle/>
                    <a:p>
                      <a:r>
                        <a:rPr lang="en-US" b="1"/>
                        <a:t>Superscalar (Multiple pipelines)</a:t>
                      </a:r>
                      <a:endParaRPr lang="en-US"/>
                    </a:p>
                  </a:txBody>
                  <a:tcPr anchor="ctr"/>
                </a:tc>
                <a:tc>
                  <a:txBody>
                    <a:bodyPr/>
                    <a:lstStyle/>
                    <a:p>
                      <a:r>
                        <a:rPr lang="en-US"/>
                        <a:t>Can execute multiple instructions per cycle</a:t>
                      </a:r>
                    </a:p>
                  </a:txBody>
                  <a:tcPr anchor="ctr"/>
                </a:tc>
                <a:tc>
                  <a:txBody>
                    <a:bodyPr/>
                    <a:lstStyle/>
                    <a:p>
                      <a:r>
                        <a:rPr lang="en-US"/>
                        <a:t>Requires more execution units, raising cost</a:t>
                      </a:r>
                    </a:p>
                  </a:txBody>
                  <a:tcPr anchor="ctr"/>
                </a:tc>
                <a:extLst>
                  <a:ext uri="{0D108BD9-81ED-4DB2-BD59-A6C34878D82A}">
                    <a16:rowId xmlns:a16="http://schemas.microsoft.com/office/drawing/2014/main" val="649331649"/>
                  </a:ext>
                </a:extLst>
              </a:tr>
              <a:tr h="0">
                <a:tc>
                  <a:txBody>
                    <a:bodyPr/>
                    <a:lstStyle/>
                    <a:p>
                      <a:r>
                        <a:rPr lang="en-US" b="1"/>
                        <a:t>Software Pipelining Optimization</a:t>
                      </a:r>
                      <a:endParaRPr lang="en-US"/>
                    </a:p>
                  </a:txBody>
                  <a:tcPr anchor="ctr"/>
                </a:tc>
                <a:tc>
                  <a:txBody>
                    <a:bodyPr/>
                    <a:lstStyle/>
                    <a:p>
                      <a:r>
                        <a:rPr lang="en-US"/>
                        <a:t>Compiler-based optimization for performance</a:t>
                      </a:r>
                    </a:p>
                  </a:txBody>
                  <a:tcPr anchor="ctr"/>
                </a:tc>
                <a:tc>
                  <a:txBody>
                    <a:bodyPr/>
                    <a:lstStyle/>
                    <a:p>
                      <a:r>
                        <a:rPr lang="en-US" dirty="0"/>
                        <a:t>No extra hardware cost but adds complexity</a:t>
                      </a:r>
                    </a:p>
                  </a:txBody>
                  <a:tcPr anchor="ctr"/>
                </a:tc>
                <a:extLst>
                  <a:ext uri="{0D108BD9-81ED-4DB2-BD59-A6C34878D82A}">
                    <a16:rowId xmlns:a16="http://schemas.microsoft.com/office/drawing/2014/main" val="3826159297"/>
                  </a:ext>
                </a:extLst>
              </a:tr>
            </a:tbl>
          </a:graphicData>
        </a:graphic>
      </p:graphicFrame>
    </p:spTree>
    <p:extLst>
      <p:ext uri="{BB962C8B-B14F-4D97-AF65-F5344CB8AC3E}">
        <p14:creationId xmlns:p14="http://schemas.microsoft.com/office/powerpoint/2010/main" val="1959356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2A290-A52D-600C-88C9-9D74776E7BA7}"/>
              </a:ext>
            </a:extLst>
          </p:cNvPr>
          <p:cNvSpPr>
            <a:spLocks noGrp="1"/>
          </p:cNvSpPr>
          <p:nvPr>
            <p:ph type="title"/>
          </p:nvPr>
        </p:nvSpPr>
        <p:spPr/>
        <p:txBody>
          <a:bodyPr/>
          <a:lstStyle/>
          <a:p>
            <a:r>
              <a:rPr lang="en-US" b="1" dirty="0"/>
              <a:t>Optimizing the Tradeoff</a:t>
            </a:r>
            <a:endParaRPr lang="en-US" dirty="0"/>
          </a:p>
        </p:txBody>
      </p:sp>
      <p:sp>
        <p:nvSpPr>
          <p:cNvPr id="3" name="Content Placeholder 2">
            <a:extLst>
              <a:ext uri="{FF2B5EF4-FFF2-40B4-BE49-F238E27FC236}">
                <a16:creationId xmlns:a16="http://schemas.microsoft.com/office/drawing/2014/main" id="{8E7A9990-0165-D94D-77B2-D195B2CD3982}"/>
              </a:ext>
            </a:extLst>
          </p:cNvPr>
          <p:cNvSpPr>
            <a:spLocks noGrp="1"/>
          </p:cNvSpPr>
          <p:nvPr>
            <p:ph idx="1"/>
          </p:nvPr>
        </p:nvSpPr>
        <p:spPr/>
        <p:txBody>
          <a:bodyPr>
            <a:normAutofit fontScale="92500" lnSpcReduction="10000"/>
          </a:bodyPr>
          <a:lstStyle/>
          <a:p>
            <a:r>
              <a:rPr lang="en-US" dirty="0"/>
              <a:t>To balance cost and performance:</a:t>
            </a:r>
          </a:p>
          <a:p>
            <a:pPr marL="342900" indent="-342900">
              <a:buFont typeface="Arial" panose="020B0604020202020204" pitchFamily="34" charset="0"/>
              <a:buChar char="•"/>
            </a:pPr>
            <a:r>
              <a:rPr lang="en-US" b="1" dirty="0"/>
              <a:t>Select the right pipeline depth</a:t>
            </a:r>
            <a:r>
              <a:rPr lang="en-US" dirty="0"/>
              <a:t> – Avoid excessive stages that increase hazards.</a:t>
            </a:r>
          </a:p>
          <a:p>
            <a:pPr marL="342900" indent="-342900">
              <a:buFont typeface="Arial" panose="020B0604020202020204" pitchFamily="34" charset="0"/>
              <a:buChar char="•"/>
            </a:pPr>
            <a:r>
              <a:rPr lang="en-US" b="1" dirty="0"/>
              <a:t>Use hazard mitigation techniques</a:t>
            </a:r>
            <a:r>
              <a:rPr lang="en-US" dirty="0"/>
              <a:t> – Register forwarding and branch prediction improve efficiency.</a:t>
            </a:r>
          </a:p>
          <a:p>
            <a:pPr marL="342900" indent="-342900">
              <a:buFont typeface="Arial" panose="020B0604020202020204" pitchFamily="34" charset="0"/>
              <a:buChar char="•"/>
            </a:pPr>
            <a:r>
              <a:rPr lang="en-US" b="1" dirty="0"/>
              <a:t>Optimize instruction scheduling</a:t>
            </a:r>
            <a:r>
              <a:rPr lang="en-US" dirty="0"/>
              <a:t> – Software pipelining can reduce hardware complexity.</a:t>
            </a:r>
          </a:p>
          <a:p>
            <a:pPr marL="342900" indent="-342900">
              <a:buFont typeface="Arial" panose="020B0604020202020204" pitchFamily="34" charset="0"/>
              <a:buChar char="•"/>
            </a:pPr>
            <a:r>
              <a:rPr lang="en-US" b="1" dirty="0"/>
              <a:t>Choose the right architecture</a:t>
            </a:r>
            <a:r>
              <a:rPr lang="en-US" dirty="0"/>
              <a:t> – RISC favors deeper pipelines, while CISC may avoid excessive pipelining.</a:t>
            </a:r>
          </a:p>
          <a:p>
            <a:pPr marL="342900" indent="-342900">
              <a:buFont typeface="Arial" panose="020B0604020202020204" pitchFamily="34" charset="0"/>
              <a:buChar char="•"/>
            </a:pPr>
            <a:r>
              <a:rPr lang="en-US" dirty="0"/>
              <a:t>For cost-sensitive applications (e.g., embedded systems, IoT), simpler pipelines with fewer stages are preferable.</a:t>
            </a:r>
          </a:p>
          <a:p>
            <a:pPr marL="342900" indent="-342900">
              <a:buFont typeface="Arial" panose="020B0604020202020204" pitchFamily="34" charset="0"/>
              <a:buChar char="•"/>
            </a:pPr>
            <a:r>
              <a:rPr lang="en-US" dirty="0"/>
              <a:t>For performance-critical applications (e.g., gaming, AI, supercomputing), deeper pipelines with advanced hazard handling are necessary, despite higher costs.</a:t>
            </a:r>
          </a:p>
          <a:p>
            <a:pPr marL="342900" indent="-342900">
              <a:buFont typeface="Arial" panose="020B0604020202020204" pitchFamily="34" charset="0"/>
              <a:buChar char="•"/>
            </a:pPr>
            <a:r>
              <a:rPr lang="en-US" dirty="0"/>
              <a:t>The ideal balance depends on system requirements, workload, and power constraints.</a:t>
            </a:r>
          </a:p>
          <a:p>
            <a:endParaRPr lang="en-US" dirty="0"/>
          </a:p>
        </p:txBody>
      </p:sp>
    </p:spTree>
    <p:extLst>
      <p:ext uri="{BB962C8B-B14F-4D97-AF65-F5344CB8AC3E}">
        <p14:creationId xmlns:p14="http://schemas.microsoft.com/office/powerpoint/2010/main" val="15965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89A19-E765-0D7F-024D-C379C6102BFF}"/>
              </a:ext>
            </a:extLst>
          </p:cNvPr>
          <p:cNvSpPr>
            <a:spLocks noGrp="1"/>
          </p:cNvSpPr>
          <p:nvPr>
            <p:ph type="title"/>
          </p:nvPr>
        </p:nvSpPr>
        <p:spPr/>
        <p:txBody>
          <a:bodyPr/>
          <a:lstStyle/>
          <a:p>
            <a:r>
              <a:rPr lang="en-US" b="1" dirty="0"/>
              <a:t>Stages in Pipelining</a:t>
            </a:r>
            <a:endParaRPr lang="en-US" dirty="0"/>
          </a:p>
        </p:txBody>
      </p:sp>
      <p:sp>
        <p:nvSpPr>
          <p:cNvPr id="3" name="Content Placeholder 2">
            <a:extLst>
              <a:ext uri="{FF2B5EF4-FFF2-40B4-BE49-F238E27FC236}">
                <a16:creationId xmlns:a16="http://schemas.microsoft.com/office/drawing/2014/main" id="{E26DC28F-B938-C1B5-17A6-E55760A7DE39}"/>
              </a:ext>
            </a:extLst>
          </p:cNvPr>
          <p:cNvSpPr>
            <a:spLocks noGrp="1"/>
          </p:cNvSpPr>
          <p:nvPr>
            <p:ph idx="1"/>
          </p:nvPr>
        </p:nvSpPr>
        <p:spPr/>
        <p:txBody>
          <a:bodyPr/>
          <a:lstStyle/>
          <a:p>
            <a:pPr marL="457200" indent="-457200">
              <a:buFont typeface="+mj-lt"/>
              <a:buAutoNum type="arabicPeriod"/>
            </a:pPr>
            <a:r>
              <a:rPr lang="en-US" b="1" dirty="0"/>
              <a:t>Instruction Fetch (IF)</a:t>
            </a:r>
            <a:r>
              <a:rPr lang="en-US" dirty="0"/>
              <a:t>: Fetch the instruction from memory.</a:t>
            </a:r>
          </a:p>
          <a:p>
            <a:pPr marL="457200" indent="-457200">
              <a:buFont typeface="+mj-lt"/>
              <a:buAutoNum type="arabicPeriod"/>
            </a:pPr>
            <a:r>
              <a:rPr lang="en-US" b="1" dirty="0"/>
              <a:t>Instruction Decode (ID)</a:t>
            </a:r>
            <a:r>
              <a:rPr lang="en-US" dirty="0"/>
              <a:t>: Decode the instruction and determine operands.</a:t>
            </a:r>
          </a:p>
          <a:p>
            <a:pPr marL="457200" indent="-457200">
              <a:buFont typeface="+mj-lt"/>
              <a:buAutoNum type="arabicPeriod"/>
            </a:pPr>
            <a:r>
              <a:rPr lang="en-US" b="1" dirty="0"/>
              <a:t>Execute (EX)</a:t>
            </a:r>
            <a:r>
              <a:rPr lang="en-US" dirty="0"/>
              <a:t>: Perform the operation.</a:t>
            </a:r>
          </a:p>
          <a:p>
            <a:pPr marL="457200" indent="-457200">
              <a:buFont typeface="+mj-lt"/>
              <a:buAutoNum type="arabicPeriod"/>
            </a:pPr>
            <a:r>
              <a:rPr lang="en-US" b="1" dirty="0"/>
              <a:t>Memory Access (MEM)</a:t>
            </a:r>
            <a:r>
              <a:rPr lang="en-US" dirty="0"/>
              <a:t>: Read/write data from/to memory.</a:t>
            </a:r>
          </a:p>
          <a:p>
            <a:pPr marL="457200" indent="-457200">
              <a:buFont typeface="+mj-lt"/>
              <a:buAutoNum type="arabicPeriod"/>
            </a:pPr>
            <a:r>
              <a:rPr lang="en-US" b="1" dirty="0"/>
              <a:t>Write Back (WB)</a:t>
            </a:r>
            <a:r>
              <a:rPr lang="en-US" dirty="0"/>
              <a:t>: Store the result in a register.</a:t>
            </a:r>
          </a:p>
          <a:p>
            <a:endParaRPr lang="en-US" dirty="0"/>
          </a:p>
        </p:txBody>
      </p:sp>
    </p:spTree>
    <p:extLst>
      <p:ext uri="{BB962C8B-B14F-4D97-AF65-F5344CB8AC3E}">
        <p14:creationId xmlns:p14="http://schemas.microsoft.com/office/powerpoint/2010/main" val="586278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EBFA5-D1ED-27BD-3C7F-6542D95132EF}"/>
              </a:ext>
            </a:extLst>
          </p:cNvPr>
          <p:cNvSpPr>
            <a:spLocks noGrp="1"/>
          </p:cNvSpPr>
          <p:nvPr>
            <p:ph type="title"/>
          </p:nvPr>
        </p:nvSpPr>
        <p:spPr/>
        <p:txBody>
          <a:bodyPr/>
          <a:lstStyle/>
          <a:p>
            <a:r>
              <a:rPr lang="en-US" b="1" dirty="0"/>
              <a:t>1. Instruction Fetch (IF)</a:t>
            </a:r>
            <a:endParaRPr lang="en-US" dirty="0"/>
          </a:p>
        </p:txBody>
      </p:sp>
      <p:sp>
        <p:nvSpPr>
          <p:cNvPr id="3" name="Content Placeholder 2">
            <a:extLst>
              <a:ext uri="{FF2B5EF4-FFF2-40B4-BE49-F238E27FC236}">
                <a16:creationId xmlns:a16="http://schemas.microsoft.com/office/drawing/2014/main" id="{90B27CF2-2EF6-3AE9-8EF9-EF4919913D07}"/>
              </a:ext>
            </a:extLst>
          </p:cNvPr>
          <p:cNvSpPr>
            <a:spLocks noGrp="1"/>
          </p:cNvSpPr>
          <p:nvPr>
            <p:ph idx="1"/>
          </p:nvPr>
        </p:nvSpPr>
        <p:spPr/>
        <p:txBody>
          <a:bodyPr/>
          <a:lstStyle/>
          <a:p>
            <a:pPr>
              <a:buFont typeface="Arial" panose="020B0604020202020204" pitchFamily="34" charset="0"/>
              <a:buChar char="•"/>
            </a:pPr>
            <a:r>
              <a:rPr lang="en-US" dirty="0"/>
              <a:t>Retrieves the next instruction from memory (RAM or cache).</a:t>
            </a:r>
          </a:p>
          <a:p>
            <a:pPr>
              <a:buFont typeface="Arial" panose="020B0604020202020204" pitchFamily="34" charset="0"/>
              <a:buChar char="•"/>
            </a:pPr>
            <a:r>
              <a:rPr lang="en-US" dirty="0"/>
              <a:t>Updates the </a:t>
            </a:r>
            <a:r>
              <a:rPr lang="en-US" b="1" dirty="0"/>
              <a:t>Program Counter (PC)</a:t>
            </a:r>
            <a:r>
              <a:rPr lang="en-US" dirty="0"/>
              <a:t> to point to the next instruction.</a:t>
            </a:r>
          </a:p>
          <a:p>
            <a:pPr>
              <a:buFont typeface="Arial" panose="020B0604020202020204" pitchFamily="34" charset="0"/>
              <a:buChar char="•"/>
            </a:pPr>
            <a:r>
              <a:rPr lang="en-US" b="1" dirty="0"/>
              <a:t>Possible Issue</a:t>
            </a:r>
            <a:r>
              <a:rPr lang="en-US" dirty="0"/>
              <a:t>: Branch instructions may cause incorrect instruction fetching (Control Hazard).</a:t>
            </a:r>
          </a:p>
          <a:p>
            <a:r>
              <a:rPr lang="en-US" b="1" dirty="0"/>
              <a:t>Optimization Techniques:</a:t>
            </a:r>
            <a:endParaRPr lang="en-US" dirty="0"/>
          </a:p>
          <a:p>
            <a:pPr>
              <a:buFont typeface="Arial" panose="020B0604020202020204" pitchFamily="34" charset="0"/>
              <a:buChar char="•"/>
            </a:pPr>
            <a:r>
              <a:rPr lang="en-US" b="1" dirty="0"/>
              <a:t>Instruction Prefetching</a:t>
            </a:r>
            <a:r>
              <a:rPr lang="en-US" dirty="0"/>
              <a:t>: Fetches multiple instructions in advance.</a:t>
            </a:r>
          </a:p>
          <a:p>
            <a:pPr>
              <a:buFont typeface="Arial" panose="020B0604020202020204" pitchFamily="34" charset="0"/>
              <a:buChar char="•"/>
            </a:pPr>
            <a:r>
              <a:rPr lang="en-US" b="1" dirty="0"/>
              <a:t>Branch Prediction</a:t>
            </a:r>
            <a:r>
              <a:rPr lang="en-US" dirty="0"/>
              <a:t>: Predicts the outcome of branch instructions to avoid stalls.</a:t>
            </a:r>
          </a:p>
        </p:txBody>
      </p:sp>
    </p:spTree>
    <p:extLst>
      <p:ext uri="{BB962C8B-B14F-4D97-AF65-F5344CB8AC3E}">
        <p14:creationId xmlns:p14="http://schemas.microsoft.com/office/powerpoint/2010/main" val="3829095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6856-D8C5-9F26-0946-8F92966EE779}"/>
              </a:ext>
            </a:extLst>
          </p:cNvPr>
          <p:cNvSpPr>
            <a:spLocks noGrp="1"/>
          </p:cNvSpPr>
          <p:nvPr>
            <p:ph type="title"/>
          </p:nvPr>
        </p:nvSpPr>
        <p:spPr/>
        <p:txBody>
          <a:bodyPr/>
          <a:lstStyle/>
          <a:p>
            <a:r>
              <a:rPr lang="en-US" dirty="0"/>
              <a:t>2</a:t>
            </a:r>
            <a:r>
              <a:rPr lang="en-US" b="1" dirty="0"/>
              <a:t>. Instruction Decode (ID)</a:t>
            </a:r>
            <a:endParaRPr lang="en-US" dirty="0"/>
          </a:p>
        </p:txBody>
      </p:sp>
      <p:sp>
        <p:nvSpPr>
          <p:cNvPr id="3" name="Content Placeholder 2">
            <a:extLst>
              <a:ext uri="{FF2B5EF4-FFF2-40B4-BE49-F238E27FC236}">
                <a16:creationId xmlns:a16="http://schemas.microsoft.com/office/drawing/2014/main" id="{65ACD329-604C-F88B-DE6C-B0A6825FBB4D}"/>
              </a:ext>
            </a:extLst>
          </p:cNvPr>
          <p:cNvSpPr>
            <a:spLocks noGrp="1"/>
          </p:cNvSpPr>
          <p:nvPr>
            <p:ph idx="1"/>
          </p:nvPr>
        </p:nvSpPr>
        <p:spPr/>
        <p:txBody>
          <a:bodyPr/>
          <a:lstStyle/>
          <a:p>
            <a:pPr>
              <a:buFont typeface="Arial" panose="020B0604020202020204" pitchFamily="34" charset="0"/>
              <a:buChar char="•"/>
            </a:pPr>
            <a:r>
              <a:rPr lang="en-US" dirty="0"/>
              <a:t>Decodes the fetched instruction to determine the operation type (arithmetic, load/store, branch, etc.).</a:t>
            </a:r>
          </a:p>
          <a:p>
            <a:pPr>
              <a:buFont typeface="Arial" panose="020B0604020202020204" pitchFamily="34" charset="0"/>
              <a:buChar char="•"/>
            </a:pPr>
            <a:r>
              <a:rPr lang="en-US" dirty="0"/>
              <a:t>Identifies source registers and operands.</a:t>
            </a:r>
          </a:p>
          <a:p>
            <a:pPr>
              <a:buFont typeface="Arial" panose="020B0604020202020204" pitchFamily="34" charset="0"/>
              <a:buChar char="•"/>
            </a:pPr>
            <a:r>
              <a:rPr lang="en-US" dirty="0"/>
              <a:t>Sends control signals to the execution unit.</a:t>
            </a:r>
          </a:p>
          <a:p>
            <a:r>
              <a:rPr lang="en-US" b="1" dirty="0"/>
              <a:t>Optimization Techniques:</a:t>
            </a:r>
            <a:endParaRPr lang="en-US" dirty="0"/>
          </a:p>
          <a:p>
            <a:pPr>
              <a:buFont typeface="Arial" panose="020B0604020202020204" pitchFamily="34" charset="0"/>
              <a:buChar char="•"/>
            </a:pPr>
            <a:r>
              <a:rPr lang="en-US" b="1" dirty="0"/>
              <a:t>Register Renaming</a:t>
            </a:r>
            <a:r>
              <a:rPr lang="en-US" dirty="0"/>
              <a:t>: Resolves data dependency issues.</a:t>
            </a:r>
          </a:p>
          <a:p>
            <a:pPr>
              <a:buFont typeface="Arial" panose="020B0604020202020204" pitchFamily="34" charset="0"/>
              <a:buChar char="•"/>
            </a:pPr>
            <a:r>
              <a:rPr lang="en-US" b="1" dirty="0"/>
              <a:t>Out-of-Order Execution</a:t>
            </a:r>
            <a:r>
              <a:rPr lang="en-US" dirty="0"/>
              <a:t>: Allows instructions to execute in a different order for efficiency.</a:t>
            </a:r>
          </a:p>
          <a:p>
            <a:endParaRPr lang="en-US" dirty="0"/>
          </a:p>
        </p:txBody>
      </p:sp>
    </p:spTree>
    <p:extLst>
      <p:ext uri="{BB962C8B-B14F-4D97-AF65-F5344CB8AC3E}">
        <p14:creationId xmlns:p14="http://schemas.microsoft.com/office/powerpoint/2010/main" val="2109695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2042-7258-2697-9B1D-BAAFA07124D6}"/>
              </a:ext>
            </a:extLst>
          </p:cNvPr>
          <p:cNvSpPr>
            <a:spLocks noGrp="1"/>
          </p:cNvSpPr>
          <p:nvPr>
            <p:ph type="title"/>
          </p:nvPr>
        </p:nvSpPr>
        <p:spPr/>
        <p:txBody>
          <a:bodyPr/>
          <a:lstStyle/>
          <a:p>
            <a:r>
              <a:rPr lang="en-US" b="1" dirty="0"/>
              <a:t>3. Execute (EX)</a:t>
            </a:r>
            <a:endParaRPr lang="en-US" dirty="0"/>
          </a:p>
        </p:txBody>
      </p:sp>
      <p:sp>
        <p:nvSpPr>
          <p:cNvPr id="3" name="Content Placeholder 2">
            <a:extLst>
              <a:ext uri="{FF2B5EF4-FFF2-40B4-BE49-F238E27FC236}">
                <a16:creationId xmlns:a16="http://schemas.microsoft.com/office/drawing/2014/main" id="{E20B87B7-F5ED-D11C-55F7-DFCA4581AEAA}"/>
              </a:ext>
            </a:extLst>
          </p:cNvPr>
          <p:cNvSpPr>
            <a:spLocks noGrp="1"/>
          </p:cNvSpPr>
          <p:nvPr>
            <p:ph idx="1"/>
          </p:nvPr>
        </p:nvSpPr>
        <p:spPr/>
        <p:txBody>
          <a:bodyPr/>
          <a:lstStyle/>
          <a:p>
            <a:pPr>
              <a:buFont typeface="Arial" panose="020B0604020202020204" pitchFamily="34" charset="0"/>
              <a:buChar char="•"/>
            </a:pPr>
            <a:r>
              <a:rPr lang="en-US" dirty="0"/>
              <a:t>Performs the actual computation or operation using the </a:t>
            </a:r>
            <a:r>
              <a:rPr lang="en-US" b="1" dirty="0"/>
              <a:t>ALU (Arithmetic Logic Unit)</a:t>
            </a:r>
            <a:r>
              <a:rPr lang="en-US" dirty="0"/>
              <a:t>.</a:t>
            </a:r>
          </a:p>
          <a:p>
            <a:pPr>
              <a:buFont typeface="Arial" panose="020B0604020202020204" pitchFamily="34" charset="0"/>
              <a:buChar char="•"/>
            </a:pPr>
            <a:r>
              <a:rPr lang="en-US" dirty="0"/>
              <a:t>If it’s an arithmetic instruction, the ALU performs the calculation.</a:t>
            </a:r>
          </a:p>
          <a:p>
            <a:pPr>
              <a:buFont typeface="Arial" panose="020B0604020202020204" pitchFamily="34" charset="0"/>
              <a:buChar char="•"/>
            </a:pPr>
            <a:r>
              <a:rPr lang="en-US" dirty="0"/>
              <a:t>If it’s a branch instruction, branch target addresses are calculated.</a:t>
            </a:r>
          </a:p>
          <a:p>
            <a:r>
              <a:rPr lang="en-US" b="1" dirty="0"/>
              <a:t>Optimization Techniques:</a:t>
            </a:r>
            <a:endParaRPr lang="en-US" dirty="0"/>
          </a:p>
          <a:p>
            <a:pPr>
              <a:buFont typeface="Arial" panose="020B0604020202020204" pitchFamily="34" charset="0"/>
              <a:buChar char="•"/>
            </a:pPr>
            <a:r>
              <a:rPr lang="en-US" b="1" dirty="0"/>
              <a:t>Operand Forwarding</a:t>
            </a:r>
            <a:r>
              <a:rPr lang="en-US" dirty="0"/>
              <a:t>: Bypasses unnecessary waiting by sending results directly to the next stage.</a:t>
            </a:r>
          </a:p>
          <a:p>
            <a:pPr>
              <a:buFont typeface="Arial" panose="020B0604020202020204" pitchFamily="34" charset="0"/>
              <a:buChar char="•"/>
            </a:pPr>
            <a:r>
              <a:rPr lang="en-US" b="1" dirty="0"/>
              <a:t>Multiple Execution Units</a:t>
            </a:r>
            <a:r>
              <a:rPr lang="en-US" dirty="0"/>
              <a:t>: Allows parallel processing of instructions.</a:t>
            </a:r>
          </a:p>
        </p:txBody>
      </p:sp>
    </p:spTree>
    <p:extLst>
      <p:ext uri="{BB962C8B-B14F-4D97-AF65-F5344CB8AC3E}">
        <p14:creationId xmlns:p14="http://schemas.microsoft.com/office/powerpoint/2010/main" val="330015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EA13-27B4-ECB1-E600-F06BC0E18BBB}"/>
              </a:ext>
            </a:extLst>
          </p:cNvPr>
          <p:cNvSpPr>
            <a:spLocks noGrp="1"/>
          </p:cNvSpPr>
          <p:nvPr>
            <p:ph type="title"/>
          </p:nvPr>
        </p:nvSpPr>
        <p:spPr/>
        <p:txBody>
          <a:bodyPr/>
          <a:lstStyle/>
          <a:p>
            <a:r>
              <a:rPr lang="en-US" b="1" dirty="0"/>
              <a:t>4. Memory Access (MEM)</a:t>
            </a:r>
            <a:endParaRPr lang="en-US" dirty="0"/>
          </a:p>
        </p:txBody>
      </p:sp>
      <p:sp>
        <p:nvSpPr>
          <p:cNvPr id="3" name="Content Placeholder 2">
            <a:extLst>
              <a:ext uri="{FF2B5EF4-FFF2-40B4-BE49-F238E27FC236}">
                <a16:creationId xmlns:a16="http://schemas.microsoft.com/office/drawing/2014/main" id="{BB0C10E8-CBB7-C53B-472C-C67AFEB1EF4A}"/>
              </a:ext>
            </a:extLst>
          </p:cNvPr>
          <p:cNvSpPr>
            <a:spLocks noGrp="1"/>
          </p:cNvSpPr>
          <p:nvPr>
            <p:ph idx="1"/>
          </p:nvPr>
        </p:nvSpPr>
        <p:spPr/>
        <p:txBody>
          <a:bodyPr/>
          <a:lstStyle/>
          <a:p>
            <a:pPr>
              <a:buFont typeface="Arial" panose="020B0604020202020204" pitchFamily="34" charset="0"/>
              <a:buChar char="•"/>
            </a:pPr>
            <a:r>
              <a:rPr lang="en-US" dirty="0"/>
              <a:t>Accesses memory for load/store instructions.</a:t>
            </a:r>
          </a:p>
          <a:p>
            <a:pPr>
              <a:buFont typeface="Arial" panose="020B0604020202020204" pitchFamily="34" charset="0"/>
              <a:buChar char="•"/>
            </a:pPr>
            <a:r>
              <a:rPr lang="en-US" b="1" dirty="0"/>
              <a:t>Load Instruction (LW)</a:t>
            </a:r>
            <a:r>
              <a:rPr lang="en-US" dirty="0"/>
              <a:t>: Reads data from memory into a register.</a:t>
            </a:r>
          </a:p>
          <a:p>
            <a:pPr>
              <a:buFont typeface="Arial" panose="020B0604020202020204" pitchFamily="34" charset="0"/>
              <a:buChar char="•"/>
            </a:pPr>
            <a:r>
              <a:rPr lang="en-US" b="1" dirty="0"/>
              <a:t>Store Instruction (SW)</a:t>
            </a:r>
            <a:r>
              <a:rPr lang="en-US" dirty="0"/>
              <a:t>: Writes register data into memory.</a:t>
            </a:r>
          </a:p>
          <a:p>
            <a:r>
              <a:rPr lang="en-US" b="1" dirty="0"/>
              <a:t>Optimization Techniques:</a:t>
            </a:r>
            <a:endParaRPr lang="en-US" dirty="0"/>
          </a:p>
          <a:p>
            <a:pPr>
              <a:buFont typeface="Arial" panose="020B0604020202020204" pitchFamily="34" charset="0"/>
              <a:buChar char="•"/>
            </a:pPr>
            <a:r>
              <a:rPr lang="en-US" b="1" dirty="0"/>
              <a:t>Cache Memory</a:t>
            </a:r>
            <a:r>
              <a:rPr lang="en-US" dirty="0"/>
              <a:t>: Reduces memory access delays.</a:t>
            </a:r>
          </a:p>
          <a:p>
            <a:pPr>
              <a:buFont typeface="Arial" panose="020B0604020202020204" pitchFamily="34" charset="0"/>
              <a:buChar char="•"/>
            </a:pPr>
            <a:r>
              <a:rPr lang="en-US" b="1" dirty="0"/>
              <a:t>Memory Hierarchy Optimization</a:t>
            </a:r>
            <a:r>
              <a:rPr lang="en-US" dirty="0"/>
              <a:t>: Uses multi-level caching (L1, L2, L3).</a:t>
            </a:r>
          </a:p>
          <a:p>
            <a:endParaRPr lang="en-US" dirty="0"/>
          </a:p>
        </p:txBody>
      </p:sp>
    </p:spTree>
    <p:extLst>
      <p:ext uri="{BB962C8B-B14F-4D97-AF65-F5344CB8AC3E}">
        <p14:creationId xmlns:p14="http://schemas.microsoft.com/office/powerpoint/2010/main" val="2648310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3B9AB-1EE0-28B5-77D8-84E44A38E74C}"/>
              </a:ext>
            </a:extLst>
          </p:cNvPr>
          <p:cNvSpPr>
            <a:spLocks noGrp="1"/>
          </p:cNvSpPr>
          <p:nvPr>
            <p:ph type="title"/>
          </p:nvPr>
        </p:nvSpPr>
        <p:spPr/>
        <p:txBody>
          <a:bodyPr/>
          <a:lstStyle/>
          <a:p>
            <a:r>
              <a:rPr lang="en-US" b="1" dirty="0"/>
              <a:t>5. Write Back (WB)</a:t>
            </a:r>
            <a:endParaRPr lang="en-US" dirty="0"/>
          </a:p>
        </p:txBody>
      </p:sp>
      <p:sp>
        <p:nvSpPr>
          <p:cNvPr id="3" name="Content Placeholder 2">
            <a:extLst>
              <a:ext uri="{FF2B5EF4-FFF2-40B4-BE49-F238E27FC236}">
                <a16:creationId xmlns:a16="http://schemas.microsoft.com/office/drawing/2014/main" id="{9C169E99-8778-11E2-5BBA-E9B86AACF33C}"/>
              </a:ext>
            </a:extLst>
          </p:cNvPr>
          <p:cNvSpPr>
            <a:spLocks noGrp="1"/>
          </p:cNvSpPr>
          <p:nvPr>
            <p:ph idx="1"/>
          </p:nvPr>
        </p:nvSpPr>
        <p:spPr/>
        <p:txBody>
          <a:bodyPr/>
          <a:lstStyle/>
          <a:p>
            <a:pPr>
              <a:buFont typeface="Arial" panose="020B0604020202020204" pitchFamily="34" charset="0"/>
              <a:buChar char="•"/>
            </a:pPr>
            <a:r>
              <a:rPr lang="en-US" dirty="0"/>
              <a:t>Stores the result of execution (ALU result or memory read) into the destination register.</a:t>
            </a:r>
          </a:p>
          <a:p>
            <a:pPr>
              <a:buFont typeface="Arial" panose="020B0604020202020204" pitchFamily="34" charset="0"/>
              <a:buChar char="•"/>
            </a:pPr>
            <a:r>
              <a:rPr lang="en-US" dirty="0"/>
              <a:t>Ensures data is available for future instructions.</a:t>
            </a:r>
          </a:p>
          <a:p>
            <a:r>
              <a:rPr lang="en-US" b="1" dirty="0"/>
              <a:t>Optimization Techniques:</a:t>
            </a:r>
            <a:endParaRPr lang="en-US" dirty="0"/>
          </a:p>
          <a:p>
            <a:pPr>
              <a:buFont typeface="Arial" panose="020B0604020202020204" pitchFamily="34" charset="0"/>
              <a:buChar char="•"/>
            </a:pPr>
            <a:r>
              <a:rPr lang="en-US" b="1" dirty="0"/>
              <a:t>Register Forwarding</a:t>
            </a:r>
            <a:r>
              <a:rPr lang="en-US" dirty="0"/>
              <a:t>: Reduces waiting by immediately using updated register values.</a:t>
            </a:r>
          </a:p>
          <a:p>
            <a:pPr>
              <a:buFont typeface="Arial" panose="020B0604020202020204" pitchFamily="34" charset="0"/>
              <a:buChar char="•"/>
            </a:pPr>
            <a:r>
              <a:rPr lang="en-US" b="1" dirty="0"/>
              <a:t>Write Buffers</a:t>
            </a:r>
            <a:r>
              <a:rPr lang="en-US" dirty="0"/>
              <a:t>: Improves memory write performance.</a:t>
            </a:r>
          </a:p>
          <a:p>
            <a:endParaRPr lang="en-US" dirty="0"/>
          </a:p>
        </p:txBody>
      </p:sp>
    </p:spTree>
    <p:extLst>
      <p:ext uri="{BB962C8B-B14F-4D97-AF65-F5344CB8AC3E}">
        <p14:creationId xmlns:p14="http://schemas.microsoft.com/office/powerpoint/2010/main" val="265070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D7367-82D3-EB69-93D6-B295BDD1066D}"/>
              </a:ext>
            </a:extLst>
          </p:cNvPr>
          <p:cNvSpPr>
            <a:spLocks noGrp="1"/>
          </p:cNvSpPr>
          <p:nvPr>
            <p:ph type="title"/>
          </p:nvPr>
        </p:nvSpPr>
        <p:spPr/>
        <p:txBody>
          <a:bodyPr/>
          <a:lstStyle/>
          <a:p>
            <a:r>
              <a:rPr lang="en-US" b="1" dirty="0"/>
              <a:t>Graphical Representation of Pipelining</a:t>
            </a:r>
            <a:endParaRPr lang="en-US" dirty="0"/>
          </a:p>
        </p:txBody>
      </p:sp>
      <p:grpSp>
        <p:nvGrpSpPr>
          <p:cNvPr id="9" name="Group 8">
            <a:extLst>
              <a:ext uri="{FF2B5EF4-FFF2-40B4-BE49-F238E27FC236}">
                <a16:creationId xmlns:a16="http://schemas.microsoft.com/office/drawing/2014/main" id="{D3C68FEA-56A4-65B7-8A76-3759E068FE56}"/>
              </a:ext>
            </a:extLst>
          </p:cNvPr>
          <p:cNvGrpSpPr/>
          <p:nvPr/>
        </p:nvGrpSpPr>
        <p:grpSpPr>
          <a:xfrm>
            <a:off x="1303020" y="2747340"/>
            <a:ext cx="10252709" cy="2507977"/>
            <a:chOff x="1497330" y="2815920"/>
            <a:chExt cx="10252709" cy="2507977"/>
          </a:xfrm>
        </p:grpSpPr>
        <p:sp>
          <p:nvSpPr>
            <p:cNvPr id="12" name="Rectangle 11">
              <a:extLst>
                <a:ext uri="{FF2B5EF4-FFF2-40B4-BE49-F238E27FC236}">
                  <a16:creationId xmlns:a16="http://schemas.microsoft.com/office/drawing/2014/main" id="{16238677-6F3F-2564-9C81-FC597231C8DD}"/>
                </a:ext>
              </a:extLst>
            </p:cNvPr>
            <p:cNvSpPr/>
            <p:nvPr/>
          </p:nvSpPr>
          <p:spPr>
            <a:xfrm>
              <a:off x="2249170" y="3491865"/>
              <a:ext cx="1143000" cy="147447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1F3FCB-B35A-1B9D-3EC9-F8A534617D21}"/>
                </a:ext>
              </a:extLst>
            </p:cNvPr>
            <p:cNvSpPr/>
            <p:nvPr/>
          </p:nvSpPr>
          <p:spPr>
            <a:xfrm>
              <a:off x="4479290" y="3491865"/>
              <a:ext cx="1143000" cy="147447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5C09CC3-CD4A-9774-0718-2C530DC63EEC}"/>
                </a:ext>
              </a:extLst>
            </p:cNvPr>
            <p:cNvSpPr/>
            <p:nvPr/>
          </p:nvSpPr>
          <p:spPr>
            <a:xfrm>
              <a:off x="6684010" y="3491865"/>
              <a:ext cx="1143000" cy="147447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9057E65-7A30-0054-FB55-6E144C0E7448}"/>
                </a:ext>
              </a:extLst>
            </p:cNvPr>
            <p:cNvSpPr/>
            <p:nvPr/>
          </p:nvSpPr>
          <p:spPr>
            <a:xfrm>
              <a:off x="9483090" y="3491865"/>
              <a:ext cx="1143000" cy="147447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B9FB902-0187-0A78-7914-F5F0334631DC}"/>
                </a:ext>
              </a:extLst>
            </p:cNvPr>
            <p:cNvSpPr/>
            <p:nvPr/>
          </p:nvSpPr>
          <p:spPr>
            <a:xfrm>
              <a:off x="3738880" y="3491865"/>
              <a:ext cx="419100" cy="147447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CC3CB6-093F-A3D5-90C4-90EE0943423A}"/>
                </a:ext>
              </a:extLst>
            </p:cNvPr>
            <p:cNvSpPr/>
            <p:nvPr/>
          </p:nvSpPr>
          <p:spPr>
            <a:xfrm>
              <a:off x="5943600" y="3491865"/>
              <a:ext cx="419100" cy="147447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9320378-E5E2-967D-95E6-8BC7295B8895}"/>
                </a:ext>
              </a:extLst>
            </p:cNvPr>
            <p:cNvSpPr/>
            <p:nvPr/>
          </p:nvSpPr>
          <p:spPr>
            <a:xfrm>
              <a:off x="8148320" y="3491865"/>
              <a:ext cx="419100" cy="147447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9E107CFE-B624-9F69-69EC-88C448ECC023}"/>
                </a:ext>
              </a:extLst>
            </p:cNvPr>
            <p:cNvCxnSpPr>
              <a:stCxn id="12" idx="3"/>
              <a:endCxn id="20" idx="1"/>
            </p:cNvCxnSpPr>
            <p:nvPr/>
          </p:nvCxnSpPr>
          <p:spPr>
            <a:xfrm>
              <a:off x="3392170" y="4229100"/>
              <a:ext cx="34671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973D79B2-2F40-F2BE-2DC2-214402F2E652}"/>
                </a:ext>
              </a:extLst>
            </p:cNvPr>
            <p:cNvCxnSpPr>
              <a:stCxn id="20" idx="3"/>
            </p:cNvCxnSpPr>
            <p:nvPr/>
          </p:nvCxnSpPr>
          <p:spPr>
            <a:xfrm>
              <a:off x="4157980" y="4229100"/>
              <a:ext cx="32131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46E63E24-6634-BC4B-C266-ECDEEADC13C7}"/>
                </a:ext>
              </a:extLst>
            </p:cNvPr>
            <p:cNvCxnSpPr>
              <a:stCxn id="14" idx="3"/>
              <a:endCxn id="22" idx="1"/>
            </p:cNvCxnSpPr>
            <p:nvPr/>
          </p:nvCxnSpPr>
          <p:spPr>
            <a:xfrm>
              <a:off x="5622290" y="4229100"/>
              <a:ext cx="32131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2876C96E-8274-F911-0AAF-866CF996BE4A}"/>
                </a:ext>
              </a:extLst>
            </p:cNvPr>
            <p:cNvCxnSpPr>
              <a:stCxn id="22" idx="3"/>
              <a:endCxn id="16" idx="1"/>
            </p:cNvCxnSpPr>
            <p:nvPr/>
          </p:nvCxnSpPr>
          <p:spPr>
            <a:xfrm>
              <a:off x="6362700" y="4229100"/>
              <a:ext cx="32131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3451A217-ECB4-0ABF-625E-6E2A5F4EF9DA}"/>
                </a:ext>
              </a:extLst>
            </p:cNvPr>
            <p:cNvCxnSpPr>
              <a:stCxn id="16" idx="3"/>
            </p:cNvCxnSpPr>
            <p:nvPr/>
          </p:nvCxnSpPr>
          <p:spPr>
            <a:xfrm>
              <a:off x="7827010" y="4229100"/>
              <a:ext cx="32131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DD71DA51-DCD2-AC07-F5CA-C82E2022C840}"/>
                </a:ext>
              </a:extLst>
            </p:cNvPr>
            <p:cNvCxnSpPr>
              <a:stCxn id="25" idx="3"/>
            </p:cNvCxnSpPr>
            <p:nvPr/>
          </p:nvCxnSpPr>
          <p:spPr>
            <a:xfrm>
              <a:off x="8567420" y="4229100"/>
              <a:ext cx="91567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B9D7F422-E45E-6175-41B2-3E40D7E9C7EA}"/>
                </a:ext>
              </a:extLst>
            </p:cNvPr>
            <p:cNvSpPr txBox="1"/>
            <p:nvPr/>
          </p:nvSpPr>
          <p:spPr>
            <a:xfrm>
              <a:off x="1497330" y="3857414"/>
              <a:ext cx="777240" cy="369332"/>
            </a:xfrm>
            <a:prstGeom prst="rect">
              <a:avLst/>
            </a:prstGeom>
            <a:noFill/>
          </p:spPr>
          <p:txBody>
            <a:bodyPr wrap="square" rtlCol="0">
              <a:spAutoFit/>
            </a:bodyPr>
            <a:lstStyle/>
            <a:p>
              <a:r>
                <a:rPr lang="en-US" dirty="0"/>
                <a:t>Input </a:t>
              </a:r>
            </a:p>
          </p:txBody>
        </p:sp>
        <p:cxnSp>
          <p:nvCxnSpPr>
            <p:cNvPr id="42" name="Straight Arrow Connector 41">
              <a:extLst>
                <a:ext uri="{FF2B5EF4-FFF2-40B4-BE49-F238E27FC236}">
                  <a16:creationId xmlns:a16="http://schemas.microsoft.com/office/drawing/2014/main" id="{8401F769-41B3-7526-9159-3BF809F27B57}"/>
                </a:ext>
              </a:extLst>
            </p:cNvPr>
            <p:cNvCxnSpPr>
              <a:cxnSpLocks/>
            </p:cNvCxnSpPr>
            <p:nvPr/>
          </p:nvCxnSpPr>
          <p:spPr>
            <a:xfrm>
              <a:off x="10599420" y="4222038"/>
              <a:ext cx="582930" cy="235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7C373D59-2F7A-68B4-1F36-AD09BEB4CF13}"/>
                </a:ext>
              </a:extLst>
            </p:cNvPr>
            <p:cNvCxnSpPr/>
            <p:nvPr/>
          </p:nvCxnSpPr>
          <p:spPr>
            <a:xfrm>
              <a:off x="1691640" y="4226746"/>
              <a:ext cx="582930" cy="235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098924A3-D201-3FCF-2DAB-C3D318E32F80}"/>
                </a:ext>
              </a:extLst>
            </p:cNvPr>
            <p:cNvSpPr txBox="1"/>
            <p:nvPr/>
          </p:nvSpPr>
          <p:spPr>
            <a:xfrm>
              <a:off x="1878965" y="2815920"/>
              <a:ext cx="1883410" cy="369332"/>
            </a:xfrm>
            <a:prstGeom prst="rect">
              <a:avLst/>
            </a:prstGeom>
            <a:noFill/>
            <a:ln>
              <a:solidFill>
                <a:schemeClr val="tx1"/>
              </a:solidFill>
            </a:ln>
          </p:spPr>
          <p:txBody>
            <a:bodyPr wrap="square" rtlCol="0">
              <a:spAutoFit/>
            </a:bodyPr>
            <a:lstStyle/>
            <a:p>
              <a:r>
                <a:rPr lang="en-US" dirty="0"/>
                <a:t>Stage / Segment</a:t>
              </a:r>
            </a:p>
          </p:txBody>
        </p:sp>
        <p:sp>
          <p:nvSpPr>
            <p:cNvPr id="50" name="TextBox 49">
              <a:extLst>
                <a:ext uri="{FF2B5EF4-FFF2-40B4-BE49-F238E27FC236}">
                  <a16:creationId xmlns:a16="http://schemas.microsoft.com/office/drawing/2014/main" id="{B36176AE-9099-1B9F-D957-3F5264EFC977}"/>
                </a:ext>
              </a:extLst>
            </p:cNvPr>
            <p:cNvSpPr txBox="1"/>
            <p:nvPr/>
          </p:nvSpPr>
          <p:spPr>
            <a:xfrm>
              <a:off x="2642870" y="4044434"/>
              <a:ext cx="406400" cy="369332"/>
            </a:xfrm>
            <a:prstGeom prst="rect">
              <a:avLst/>
            </a:prstGeom>
            <a:noFill/>
          </p:spPr>
          <p:txBody>
            <a:bodyPr wrap="square" rtlCol="0">
              <a:spAutoFit/>
            </a:bodyPr>
            <a:lstStyle/>
            <a:p>
              <a:r>
                <a:rPr lang="en-US" dirty="0"/>
                <a:t>S1</a:t>
              </a:r>
            </a:p>
          </p:txBody>
        </p:sp>
        <p:sp>
          <p:nvSpPr>
            <p:cNvPr id="52" name="TextBox 51">
              <a:extLst>
                <a:ext uri="{FF2B5EF4-FFF2-40B4-BE49-F238E27FC236}">
                  <a16:creationId xmlns:a16="http://schemas.microsoft.com/office/drawing/2014/main" id="{97FF46B7-B4A2-31DA-329A-72313E878488}"/>
                </a:ext>
              </a:extLst>
            </p:cNvPr>
            <p:cNvSpPr txBox="1"/>
            <p:nvPr/>
          </p:nvSpPr>
          <p:spPr>
            <a:xfrm>
              <a:off x="4796790" y="4024816"/>
              <a:ext cx="406400" cy="369332"/>
            </a:xfrm>
            <a:prstGeom prst="rect">
              <a:avLst/>
            </a:prstGeom>
            <a:noFill/>
          </p:spPr>
          <p:txBody>
            <a:bodyPr wrap="square" rtlCol="0">
              <a:spAutoFit/>
            </a:bodyPr>
            <a:lstStyle/>
            <a:p>
              <a:r>
                <a:rPr lang="en-US" dirty="0"/>
                <a:t>S2</a:t>
              </a:r>
            </a:p>
          </p:txBody>
        </p:sp>
        <p:sp>
          <p:nvSpPr>
            <p:cNvPr id="54" name="TextBox 53">
              <a:extLst>
                <a:ext uri="{FF2B5EF4-FFF2-40B4-BE49-F238E27FC236}">
                  <a16:creationId xmlns:a16="http://schemas.microsoft.com/office/drawing/2014/main" id="{CBCB860A-8221-603D-512C-9A13FAFAB320}"/>
                </a:ext>
              </a:extLst>
            </p:cNvPr>
            <p:cNvSpPr txBox="1"/>
            <p:nvPr/>
          </p:nvSpPr>
          <p:spPr>
            <a:xfrm>
              <a:off x="7052310" y="4044434"/>
              <a:ext cx="406400" cy="369332"/>
            </a:xfrm>
            <a:prstGeom prst="rect">
              <a:avLst/>
            </a:prstGeom>
            <a:noFill/>
          </p:spPr>
          <p:txBody>
            <a:bodyPr wrap="square" rtlCol="0">
              <a:spAutoFit/>
            </a:bodyPr>
            <a:lstStyle/>
            <a:p>
              <a:r>
                <a:rPr lang="en-US" dirty="0"/>
                <a:t>S3</a:t>
              </a:r>
            </a:p>
          </p:txBody>
        </p:sp>
        <p:sp>
          <p:nvSpPr>
            <p:cNvPr id="56" name="TextBox 55">
              <a:extLst>
                <a:ext uri="{FF2B5EF4-FFF2-40B4-BE49-F238E27FC236}">
                  <a16:creationId xmlns:a16="http://schemas.microsoft.com/office/drawing/2014/main" id="{101F922B-0D8F-0932-C5A3-0049D6B6FCC5}"/>
                </a:ext>
              </a:extLst>
            </p:cNvPr>
            <p:cNvSpPr txBox="1"/>
            <p:nvPr/>
          </p:nvSpPr>
          <p:spPr>
            <a:xfrm>
              <a:off x="9808845" y="4024816"/>
              <a:ext cx="489586" cy="369332"/>
            </a:xfrm>
            <a:prstGeom prst="rect">
              <a:avLst/>
            </a:prstGeom>
            <a:noFill/>
          </p:spPr>
          <p:txBody>
            <a:bodyPr wrap="square" rtlCol="0">
              <a:spAutoFit/>
            </a:bodyPr>
            <a:lstStyle/>
            <a:p>
              <a:r>
                <a:rPr lang="en-US" dirty="0"/>
                <a:t>Sn</a:t>
              </a:r>
            </a:p>
          </p:txBody>
        </p:sp>
        <p:sp>
          <p:nvSpPr>
            <p:cNvPr id="58" name="TextBox 57">
              <a:extLst>
                <a:ext uri="{FF2B5EF4-FFF2-40B4-BE49-F238E27FC236}">
                  <a16:creationId xmlns:a16="http://schemas.microsoft.com/office/drawing/2014/main" id="{75DE8F6A-1447-F3C8-3104-6FD1846EF6AA}"/>
                </a:ext>
              </a:extLst>
            </p:cNvPr>
            <p:cNvSpPr txBox="1"/>
            <p:nvPr/>
          </p:nvSpPr>
          <p:spPr>
            <a:xfrm>
              <a:off x="7416165" y="2852751"/>
              <a:ext cx="1883410" cy="369332"/>
            </a:xfrm>
            <a:prstGeom prst="rect">
              <a:avLst/>
            </a:prstGeom>
            <a:noFill/>
            <a:ln>
              <a:solidFill>
                <a:schemeClr val="tx1"/>
              </a:solidFill>
            </a:ln>
          </p:spPr>
          <p:txBody>
            <a:bodyPr wrap="square" rtlCol="0">
              <a:spAutoFit/>
            </a:bodyPr>
            <a:lstStyle/>
            <a:p>
              <a:r>
                <a:rPr lang="en-US" dirty="0"/>
                <a:t>Interface Register</a:t>
              </a:r>
            </a:p>
          </p:txBody>
        </p:sp>
        <p:cxnSp>
          <p:nvCxnSpPr>
            <p:cNvPr id="60" name="Straight Arrow Connector 59">
              <a:extLst>
                <a:ext uri="{FF2B5EF4-FFF2-40B4-BE49-F238E27FC236}">
                  <a16:creationId xmlns:a16="http://schemas.microsoft.com/office/drawing/2014/main" id="{EE3E6706-4884-1482-70EB-44BA763335AD}"/>
                </a:ext>
              </a:extLst>
            </p:cNvPr>
            <p:cNvCxnSpPr>
              <a:stCxn id="48" idx="2"/>
              <a:endCxn id="12" idx="0"/>
            </p:cNvCxnSpPr>
            <p:nvPr/>
          </p:nvCxnSpPr>
          <p:spPr>
            <a:xfrm>
              <a:off x="2820670" y="3185252"/>
              <a:ext cx="0" cy="30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3199B0F1-0CF0-363A-7D0F-489A983DD511}"/>
                </a:ext>
              </a:extLst>
            </p:cNvPr>
            <p:cNvCxnSpPr>
              <a:endCxn id="25" idx="0"/>
            </p:cNvCxnSpPr>
            <p:nvPr/>
          </p:nvCxnSpPr>
          <p:spPr>
            <a:xfrm>
              <a:off x="8357870" y="3253012"/>
              <a:ext cx="0" cy="2381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85206FBA-A23A-E4DC-25BA-2DD305CDD691}"/>
                </a:ext>
              </a:extLst>
            </p:cNvPr>
            <p:cNvSpPr txBox="1"/>
            <p:nvPr/>
          </p:nvSpPr>
          <p:spPr>
            <a:xfrm>
              <a:off x="10836274" y="3689206"/>
              <a:ext cx="913765" cy="369332"/>
            </a:xfrm>
            <a:prstGeom prst="rect">
              <a:avLst/>
            </a:prstGeom>
            <a:noFill/>
          </p:spPr>
          <p:txBody>
            <a:bodyPr wrap="square" rtlCol="0">
              <a:spAutoFit/>
            </a:bodyPr>
            <a:lstStyle/>
            <a:p>
              <a:r>
                <a:rPr lang="en-US" dirty="0"/>
                <a:t>Output </a:t>
              </a:r>
            </a:p>
          </p:txBody>
        </p:sp>
        <p:sp>
          <p:nvSpPr>
            <p:cNvPr id="66" name="TextBox 65">
              <a:extLst>
                <a:ext uri="{FF2B5EF4-FFF2-40B4-BE49-F238E27FC236}">
                  <a16:creationId xmlns:a16="http://schemas.microsoft.com/office/drawing/2014/main" id="{99CB456F-06EC-EC55-069B-F77E893B3324}"/>
                </a:ext>
              </a:extLst>
            </p:cNvPr>
            <p:cNvSpPr txBox="1"/>
            <p:nvPr/>
          </p:nvSpPr>
          <p:spPr>
            <a:xfrm>
              <a:off x="10270808" y="4954565"/>
              <a:ext cx="913765" cy="369332"/>
            </a:xfrm>
            <a:prstGeom prst="rect">
              <a:avLst/>
            </a:prstGeom>
            <a:noFill/>
          </p:spPr>
          <p:txBody>
            <a:bodyPr wrap="square" rtlCol="0">
              <a:spAutoFit/>
            </a:bodyPr>
            <a:lstStyle/>
            <a:p>
              <a:r>
                <a:rPr lang="en-US" dirty="0"/>
                <a:t>Clock</a:t>
              </a:r>
            </a:p>
          </p:txBody>
        </p:sp>
        <p:cxnSp>
          <p:nvCxnSpPr>
            <p:cNvPr id="67" name="Straight Connector 66">
              <a:extLst>
                <a:ext uri="{FF2B5EF4-FFF2-40B4-BE49-F238E27FC236}">
                  <a16:creationId xmlns:a16="http://schemas.microsoft.com/office/drawing/2014/main" id="{F6BC20CA-29CC-28C5-B7C9-94526DF847B6}"/>
                </a:ext>
              </a:extLst>
            </p:cNvPr>
            <p:cNvCxnSpPr/>
            <p:nvPr/>
          </p:nvCxnSpPr>
          <p:spPr>
            <a:xfrm>
              <a:off x="2820670" y="5246370"/>
              <a:ext cx="7232968" cy="0"/>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44D55F47-082D-F0A0-FD82-2D2FCCD1727A}"/>
                </a:ext>
              </a:extLst>
            </p:cNvPr>
            <p:cNvCxnSpPr>
              <a:cxnSpLocks/>
            </p:cNvCxnSpPr>
            <p:nvPr/>
          </p:nvCxnSpPr>
          <p:spPr>
            <a:xfrm flipV="1">
              <a:off x="2820670" y="4966335"/>
              <a:ext cx="0" cy="280035"/>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99192A4B-C9E3-12AC-FB0A-17E83991915A}"/>
                </a:ext>
              </a:extLst>
            </p:cNvPr>
            <p:cNvCxnSpPr>
              <a:stCxn id="20" idx="2"/>
            </p:cNvCxnSpPr>
            <p:nvPr/>
          </p:nvCxnSpPr>
          <p:spPr>
            <a:xfrm>
              <a:off x="3948430" y="4966335"/>
              <a:ext cx="0" cy="280035"/>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D9A63B15-42A7-71FF-91E4-D5671B9D2DE7}"/>
                </a:ext>
              </a:extLst>
            </p:cNvPr>
            <p:cNvCxnSpPr>
              <a:stCxn id="14" idx="2"/>
            </p:cNvCxnSpPr>
            <p:nvPr/>
          </p:nvCxnSpPr>
          <p:spPr>
            <a:xfrm>
              <a:off x="5050790" y="4966335"/>
              <a:ext cx="0" cy="280035"/>
            </a:xfrm>
            <a:prstGeom prst="line">
              <a:avLst/>
            </a:prstGeom>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9585E05D-3539-F588-1E41-89EAF1E8490A}"/>
                </a:ext>
              </a:extLst>
            </p:cNvPr>
            <p:cNvCxnSpPr>
              <a:stCxn id="22" idx="2"/>
            </p:cNvCxnSpPr>
            <p:nvPr/>
          </p:nvCxnSpPr>
          <p:spPr>
            <a:xfrm>
              <a:off x="6153150" y="4966335"/>
              <a:ext cx="0" cy="280035"/>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D4F699DA-39A3-371D-A410-48B833991D17}"/>
                </a:ext>
              </a:extLst>
            </p:cNvPr>
            <p:cNvCxnSpPr>
              <a:stCxn id="16" idx="2"/>
            </p:cNvCxnSpPr>
            <p:nvPr/>
          </p:nvCxnSpPr>
          <p:spPr>
            <a:xfrm>
              <a:off x="7255510" y="4966335"/>
              <a:ext cx="0" cy="280035"/>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44A2B1CA-AD99-DB94-62A3-C81D53D59B3F}"/>
                </a:ext>
              </a:extLst>
            </p:cNvPr>
            <p:cNvCxnSpPr>
              <a:stCxn id="25" idx="2"/>
            </p:cNvCxnSpPr>
            <p:nvPr/>
          </p:nvCxnSpPr>
          <p:spPr>
            <a:xfrm>
              <a:off x="8357870" y="4966335"/>
              <a:ext cx="0" cy="280035"/>
            </a:xfrm>
            <a:prstGeom prst="line">
              <a:avLst/>
            </a:prstGeom>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D6155A8B-2708-CCEA-0226-DD6AD376D87F}"/>
                </a:ext>
              </a:extLst>
            </p:cNvPr>
            <p:cNvCxnSpPr>
              <a:stCxn id="18" idx="2"/>
            </p:cNvCxnSpPr>
            <p:nvPr/>
          </p:nvCxnSpPr>
          <p:spPr>
            <a:xfrm flipH="1">
              <a:off x="10053638" y="4966335"/>
              <a:ext cx="952" cy="280035"/>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914C9D92-2D10-6D9C-8D40-DAA760D7391A}"/>
                </a:ext>
              </a:extLst>
            </p:cNvPr>
            <p:cNvCxnSpPr/>
            <p:nvPr/>
          </p:nvCxnSpPr>
          <p:spPr>
            <a:xfrm>
              <a:off x="10053638" y="5246370"/>
              <a:ext cx="572452" cy="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793134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9BDB-C2EB-EC58-C20A-8D9E367A235A}"/>
              </a:ext>
            </a:extLst>
          </p:cNvPr>
          <p:cNvSpPr>
            <a:spLocks noGrp="1"/>
          </p:cNvSpPr>
          <p:nvPr>
            <p:ph type="title"/>
          </p:nvPr>
        </p:nvSpPr>
        <p:spPr/>
        <p:txBody>
          <a:bodyPr/>
          <a:lstStyle/>
          <a:p>
            <a:r>
              <a:rPr lang="en-US" dirty="0"/>
              <a:t>Example of Instruction Execution in Pipelining</a:t>
            </a:r>
          </a:p>
        </p:txBody>
      </p:sp>
      <p:sp>
        <p:nvSpPr>
          <p:cNvPr id="3" name="Content Placeholder 2">
            <a:extLst>
              <a:ext uri="{FF2B5EF4-FFF2-40B4-BE49-F238E27FC236}">
                <a16:creationId xmlns:a16="http://schemas.microsoft.com/office/drawing/2014/main" id="{7C69D77E-3D63-E88F-D3D2-512064C8C17D}"/>
              </a:ext>
            </a:extLst>
          </p:cNvPr>
          <p:cNvSpPr>
            <a:spLocks noGrp="1"/>
          </p:cNvSpPr>
          <p:nvPr>
            <p:ph idx="1"/>
          </p:nvPr>
        </p:nvSpPr>
        <p:spPr/>
        <p:txBody>
          <a:bodyPr/>
          <a:lstStyle/>
          <a:p>
            <a:r>
              <a:rPr lang="en-US" dirty="0"/>
              <a:t>Assume we have three instructions:</a:t>
            </a:r>
            <a:endParaRPr lang="pt-BR" dirty="0"/>
          </a:p>
          <a:p>
            <a:r>
              <a:rPr lang="pt-BR" dirty="0"/>
              <a:t>1. ADD R1, R2, R3</a:t>
            </a:r>
          </a:p>
          <a:p>
            <a:r>
              <a:rPr lang="pt-BR" dirty="0"/>
              <a:t>2. SUB R4, R5, R6</a:t>
            </a:r>
          </a:p>
          <a:p>
            <a:r>
              <a:rPr lang="pt-BR" dirty="0"/>
              <a:t>3. LOAD R7, 0(R8)</a:t>
            </a:r>
          </a:p>
          <a:p>
            <a:endParaRPr lang="pt-BR" dirty="0"/>
          </a:p>
          <a:p>
            <a:endParaRPr lang="en-US" dirty="0"/>
          </a:p>
        </p:txBody>
      </p:sp>
    </p:spTree>
    <p:extLst>
      <p:ext uri="{BB962C8B-B14F-4D97-AF65-F5344CB8AC3E}">
        <p14:creationId xmlns:p14="http://schemas.microsoft.com/office/powerpoint/2010/main" val="1919438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03B94-C3A3-C51F-7F7D-12B42EFD6601}"/>
              </a:ext>
            </a:extLst>
          </p:cNvPr>
          <p:cNvSpPr>
            <a:spLocks noGrp="1"/>
          </p:cNvSpPr>
          <p:nvPr>
            <p:ph type="title"/>
          </p:nvPr>
        </p:nvSpPr>
        <p:spPr/>
        <p:txBody>
          <a:bodyPr>
            <a:normAutofit/>
          </a:bodyPr>
          <a:lstStyle/>
          <a:p>
            <a:r>
              <a:rPr lang="en-US" dirty="0"/>
              <a:t>In a pipelined processor, execution happens as follows:</a:t>
            </a:r>
          </a:p>
        </p:txBody>
      </p:sp>
      <p:graphicFrame>
        <p:nvGraphicFramePr>
          <p:cNvPr id="4" name="Content Placeholder 3">
            <a:extLst>
              <a:ext uri="{FF2B5EF4-FFF2-40B4-BE49-F238E27FC236}">
                <a16:creationId xmlns:a16="http://schemas.microsoft.com/office/drawing/2014/main" id="{932293F4-2956-B224-DC51-3FCC4AEE34A2}"/>
              </a:ext>
            </a:extLst>
          </p:cNvPr>
          <p:cNvGraphicFramePr>
            <a:graphicFrameLocks noGrp="1"/>
          </p:cNvGraphicFramePr>
          <p:nvPr>
            <p:ph idx="1"/>
            <p:extLst>
              <p:ext uri="{D42A27DB-BD31-4B8C-83A1-F6EECF244321}">
                <p14:modId xmlns:p14="http://schemas.microsoft.com/office/powerpoint/2010/main" val="691770673"/>
              </p:ext>
            </p:extLst>
          </p:nvPr>
        </p:nvGraphicFramePr>
        <p:xfrm>
          <a:off x="1096963" y="1846263"/>
          <a:ext cx="10058400" cy="2834640"/>
        </p:xfrm>
        <a:graphic>
          <a:graphicData uri="http://schemas.openxmlformats.org/drawingml/2006/table">
            <a:tbl>
              <a:tblPr>
                <a:tableStyleId>{5940675A-B579-460E-94D1-54222C63F5DA}</a:tableStyleId>
              </a:tblPr>
              <a:tblGrid>
                <a:gridCol w="1676400">
                  <a:extLst>
                    <a:ext uri="{9D8B030D-6E8A-4147-A177-3AD203B41FA5}">
                      <a16:colId xmlns:a16="http://schemas.microsoft.com/office/drawing/2014/main" val="1379049015"/>
                    </a:ext>
                  </a:extLst>
                </a:gridCol>
                <a:gridCol w="1676400">
                  <a:extLst>
                    <a:ext uri="{9D8B030D-6E8A-4147-A177-3AD203B41FA5}">
                      <a16:colId xmlns:a16="http://schemas.microsoft.com/office/drawing/2014/main" val="3196323941"/>
                    </a:ext>
                  </a:extLst>
                </a:gridCol>
                <a:gridCol w="1676400">
                  <a:extLst>
                    <a:ext uri="{9D8B030D-6E8A-4147-A177-3AD203B41FA5}">
                      <a16:colId xmlns:a16="http://schemas.microsoft.com/office/drawing/2014/main" val="2874817429"/>
                    </a:ext>
                  </a:extLst>
                </a:gridCol>
                <a:gridCol w="1676400">
                  <a:extLst>
                    <a:ext uri="{9D8B030D-6E8A-4147-A177-3AD203B41FA5}">
                      <a16:colId xmlns:a16="http://schemas.microsoft.com/office/drawing/2014/main" val="4205811938"/>
                    </a:ext>
                  </a:extLst>
                </a:gridCol>
                <a:gridCol w="1676400">
                  <a:extLst>
                    <a:ext uri="{9D8B030D-6E8A-4147-A177-3AD203B41FA5}">
                      <a16:colId xmlns:a16="http://schemas.microsoft.com/office/drawing/2014/main" val="4083724260"/>
                    </a:ext>
                  </a:extLst>
                </a:gridCol>
                <a:gridCol w="1676400">
                  <a:extLst>
                    <a:ext uri="{9D8B030D-6E8A-4147-A177-3AD203B41FA5}">
                      <a16:colId xmlns:a16="http://schemas.microsoft.com/office/drawing/2014/main" val="436845617"/>
                    </a:ext>
                  </a:extLst>
                </a:gridCol>
              </a:tblGrid>
              <a:tr h="0">
                <a:tc>
                  <a:txBody>
                    <a:bodyPr/>
                    <a:lstStyle/>
                    <a:p>
                      <a:r>
                        <a:rPr lang="en-US"/>
                        <a:t>Cycle</a:t>
                      </a:r>
                    </a:p>
                  </a:txBody>
                  <a:tcPr anchor="ctr"/>
                </a:tc>
                <a:tc>
                  <a:txBody>
                    <a:bodyPr/>
                    <a:lstStyle/>
                    <a:p>
                      <a:r>
                        <a:rPr lang="en-US"/>
                        <a:t>IF (Fetch)</a:t>
                      </a:r>
                    </a:p>
                  </a:txBody>
                  <a:tcPr anchor="ctr"/>
                </a:tc>
                <a:tc>
                  <a:txBody>
                    <a:bodyPr/>
                    <a:lstStyle/>
                    <a:p>
                      <a:r>
                        <a:rPr lang="en-US"/>
                        <a:t>ID (Decode)</a:t>
                      </a:r>
                    </a:p>
                  </a:txBody>
                  <a:tcPr anchor="ctr"/>
                </a:tc>
                <a:tc>
                  <a:txBody>
                    <a:bodyPr/>
                    <a:lstStyle/>
                    <a:p>
                      <a:r>
                        <a:rPr lang="en-US"/>
                        <a:t>EX (Execute)</a:t>
                      </a:r>
                    </a:p>
                  </a:txBody>
                  <a:tcPr anchor="ctr"/>
                </a:tc>
                <a:tc>
                  <a:txBody>
                    <a:bodyPr/>
                    <a:lstStyle/>
                    <a:p>
                      <a:r>
                        <a:rPr lang="en-US"/>
                        <a:t>MEM (Memory)</a:t>
                      </a:r>
                    </a:p>
                  </a:txBody>
                  <a:tcPr anchor="ctr"/>
                </a:tc>
                <a:tc>
                  <a:txBody>
                    <a:bodyPr/>
                    <a:lstStyle/>
                    <a:p>
                      <a:r>
                        <a:rPr lang="en-US"/>
                        <a:t>WB (Write Back)</a:t>
                      </a:r>
                    </a:p>
                  </a:txBody>
                  <a:tcPr anchor="ctr"/>
                </a:tc>
                <a:extLst>
                  <a:ext uri="{0D108BD9-81ED-4DB2-BD59-A6C34878D82A}">
                    <a16:rowId xmlns:a16="http://schemas.microsoft.com/office/drawing/2014/main" val="1548260473"/>
                  </a:ext>
                </a:extLst>
              </a:tr>
              <a:tr h="0">
                <a:tc>
                  <a:txBody>
                    <a:bodyPr/>
                    <a:lstStyle/>
                    <a:p>
                      <a:r>
                        <a:rPr lang="en-US"/>
                        <a:t>1</a:t>
                      </a:r>
                    </a:p>
                  </a:txBody>
                  <a:tcPr anchor="ctr"/>
                </a:tc>
                <a:tc>
                  <a:txBody>
                    <a:bodyPr/>
                    <a:lstStyle/>
                    <a:p>
                      <a:r>
                        <a:rPr lang="en-US"/>
                        <a:t>ADD</a:t>
                      </a:r>
                    </a:p>
                  </a:txBody>
                  <a:tcPr anchor="ctr"/>
                </a:tc>
                <a:tc>
                  <a:txBody>
                    <a:bodyPr/>
                    <a:lstStyle/>
                    <a:p>
                      <a:endParaRPr lang="en-US"/>
                    </a:p>
                  </a:txBody>
                  <a:tcPr anchor="ctr"/>
                </a:tc>
                <a:tc>
                  <a:txBody>
                    <a:bodyPr/>
                    <a:lstStyle/>
                    <a:p>
                      <a:endParaRPr lang="en-US"/>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3741834033"/>
                  </a:ext>
                </a:extLst>
              </a:tr>
              <a:tr h="0">
                <a:tc>
                  <a:txBody>
                    <a:bodyPr/>
                    <a:lstStyle/>
                    <a:p>
                      <a:r>
                        <a:rPr lang="en-US"/>
                        <a:t>2</a:t>
                      </a:r>
                    </a:p>
                  </a:txBody>
                  <a:tcPr anchor="ctr"/>
                </a:tc>
                <a:tc>
                  <a:txBody>
                    <a:bodyPr/>
                    <a:lstStyle/>
                    <a:p>
                      <a:r>
                        <a:rPr lang="en-US"/>
                        <a:t>SUB</a:t>
                      </a:r>
                    </a:p>
                  </a:txBody>
                  <a:tcPr anchor="ctr"/>
                </a:tc>
                <a:tc>
                  <a:txBody>
                    <a:bodyPr/>
                    <a:lstStyle/>
                    <a:p>
                      <a:r>
                        <a:rPr lang="en-US"/>
                        <a:t>ADD</a:t>
                      </a:r>
                    </a:p>
                  </a:txBody>
                  <a:tcPr anchor="ctr"/>
                </a:tc>
                <a:tc>
                  <a:txBody>
                    <a:bodyPr/>
                    <a:lstStyle/>
                    <a:p>
                      <a:endParaRPr lang="en-US"/>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2966415087"/>
                  </a:ext>
                </a:extLst>
              </a:tr>
              <a:tr h="0">
                <a:tc>
                  <a:txBody>
                    <a:bodyPr/>
                    <a:lstStyle/>
                    <a:p>
                      <a:r>
                        <a:rPr lang="en-US"/>
                        <a:t>3</a:t>
                      </a:r>
                    </a:p>
                  </a:txBody>
                  <a:tcPr anchor="ctr"/>
                </a:tc>
                <a:tc>
                  <a:txBody>
                    <a:bodyPr/>
                    <a:lstStyle/>
                    <a:p>
                      <a:r>
                        <a:rPr lang="en-US"/>
                        <a:t>LOAD</a:t>
                      </a:r>
                    </a:p>
                  </a:txBody>
                  <a:tcPr anchor="ctr"/>
                </a:tc>
                <a:tc>
                  <a:txBody>
                    <a:bodyPr/>
                    <a:lstStyle/>
                    <a:p>
                      <a:r>
                        <a:rPr lang="en-US"/>
                        <a:t>SUB</a:t>
                      </a:r>
                    </a:p>
                  </a:txBody>
                  <a:tcPr anchor="ctr"/>
                </a:tc>
                <a:tc>
                  <a:txBody>
                    <a:bodyPr/>
                    <a:lstStyle/>
                    <a:p>
                      <a:r>
                        <a:rPr lang="en-US"/>
                        <a:t>ADD</a:t>
                      </a:r>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451813355"/>
                  </a:ext>
                </a:extLst>
              </a:tr>
              <a:tr h="0">
                <a:tc>
                  <a:txBody>
                    <a:bodyPr/>
                    <a:lstStyle/>
                    <a:p>
                      <a:r>
                        <a:rPr lang="en-US"/>
                        <a:t>4</a:t>
                      </a:r>
                    </a:p>
                  </a:txBody>
                  <a:tcPr anchor="ctr"/>
                </a:tc>
                <a:tc>
                  <a:txBody>
                    <a:bodyPr/>
                    <a:lstStyle/>
                    <a:p>
                      <a:r>
                        <a:rPr lang="en-US"/>
                        <a:t>Next Inst</a:t>
                      </a:r>
                    </a:p>
                  </a:txBody>
                  <a:tcPr anchor="ctr"/>
                </a:tc>
                <a:tc>
                  <a:txBody>
                    <a:bodyPr/>
                    <a:lstStyle/>
                    <a:p>
                      <a:r>
                        <a:rPr lang="en-US"/>
                        <a:t>LOAD</a:t>
                      </a:r>
                    </a:p>
                  </a:txBody>
                  <a:tcPr anchor="ctr"/>
                </a:tc>
                <a:tc>
                  <a:txBody>
                    <a:bodyPr/>
                    <a:lstStyle/>
                    <a:p>
                      <a:r>
                        <a:rPr lang="en-US"/>
                        <a:t>SUB</a:t>
                      </a:r>
                    </a:p>
                  </a:txBody>
                  <a:tcPr anchor="ctr"/>
                </a:tc>
                <a:tc>
                  <a:txBody>
                    <a:bodyPr/>
                    <a:lstStyle/>
                    <a:p>
                      <a:r>
                        <a:rPr lang="en-US"/>
                        <a:t>ADD</a:t>
                      </a:r>
                    </a:p>
                  </a:txBody>
                  <a:tcPr anchor="ctr"/>
                </a:tc>
                <a:tc>
                  <a:txBody>
                    <a:bodyPr/>
                    <a:lstStyle/>
                    <a:p>
                      <a:endParaRPr lang="en-US"/>
                    </a:p>
                  </a:txBody>
                  <a:tcPr anchor="ctr"/>
                </a:tc>
                <a:extLst>
                  <a:ext uri="{0D108BD9-81ED-4DB2-BD59-A6C34878D82A}">
                    <a16:rowId xmlns:a16="http://schemas.microsoft.com/office/drawing/2014/main" val="3481227383"/>
                  </a:ext>
                </a:extLst>
              </a:tr>
              <a:tr h="0">
                <a:tc>
                  <a:txBody>
                    <a:bodyPr/>
                    <a:lstStyle/>
                    <a:p>
                      <a:r>
                        <a:rPr lang="en-US"/>
                        <a:t>5</a:t>
                      </a:r>
                    </a:p>
                  </a:txBody>
                  <a:tcPr anchor="ctr"/>
                </a:tc>
                <a:tc>
                  <a:txBody>
                    <a:bodyPr/>
                    <a:lstStyle/>
                    <a:p>
                      <a:r>
                        <a:rPr lang="en-US"/>
                        <a:t>...</a:t>
                      </a:r>
                    </a:p>
                  </a:txBody>
                  <a:tcPr anchor="ctr"/>
                </a:tc>
                <a:tc>
                  <a:txBody>
                    <a:bodyPr/>
                    <a:lstStyle/>
                    <a:p>
                      <a:r>
                        <a:rPr lang="en-US"/>
                        <a:t>Next Inst</a:t>
                      </a:r>
                    </a:p>
                  </a:txBody>
                  <a:tcPr anchor="ctr"/>
                </a:tc>
                <a:tc>
                  <a:txBody>
                    <a:bodyPr/>
                    <a:lstStyle/>
                    <a:p>
                      <a:r>
                        <a:rPr lang="en-US"/>
                        <a:t>LOAD</a:t>
                      </a:r>
                    </a:p>
                  </a:txBody>
                  <a:tcPr anchor="ctr"/>
                </a:tc>
                <a:tc>
                  <a:txBody>
                    <a:bodyPr/>
                    <a:lstStyle/>
                    <a:p>
                      <a:r>
                        <a:rPr lang="en-US"/>
                        <a:t>SUB</a:t>
                      </a:r>
                    </a:p>
                  </a:txBody>
                  <a:tcPr anchor="ctr"/>
                </a:tc>
                <a:tc>
                  <a:txBody>
                    <a:bodyPr/>
                    <a:lstStyle/>
                    <a:p>
                      <a:r>
                        <a:rPr lang="en-US"/>
                        <a:t>ADD</a:t>
                      </a:r>
                    </a:p>
                  </a:txBody>
                  <a:tcPr anchor="ctr"/>
                </a:tc>
                <a:extLst>
                  <a:ext uri="{0D108BD9-81ED-4DB2-BD59-A6C34878D82A}">
                    <a16:rowId xmlns:a16="http://schemas.microsoft.com/office/drawing/2014/main" val="937860008"/>
                  </a:ext>
                </a:extLst>
              </a:tr>
              <a:tr h="0">
                <a:tc>
                  <a:txBody>
                    <a:bodyPr/>
                    <a:lstStyle/>
                    <a:p>
                      <a:r>
                        <a:rPr lang="en-US"/>
                        <a:t>6</a:t>
                      </a:r>
                    </a:p>
                  </a:txBody>
                  <a:tcPr anchor="ctr"/>
                </a:tc>
                <a:tc>
                  <a:txBody>
                    <a:bodyPr/>
                    <a:lstStyle/>
                    <a:p>
                      <a:r>
                        <a:rPr lang="en-US"/>
                        <a:t>...</a:t>
                      </a:r>
                    </a:p>
                  </a:txBody>
                  <a:tcPr anchor="ctr"/>
                </a:tc>
                <a:tc>
                  <a:txBody>
                    <a:bodyPr/>
                    <a:lstStyle/>
                    <a:p>
                      <a:r>
                        <a:rPr lang="en-US"/>
                        <a:t>...</a:t>
                      </a:r>
                    </a:p>
                  </a:txBody>
                  <a:tcPr anchor="ctr"/>
                </a:tc>
                <a:tc>
                  <a:txBody>
                    <a:bodyPr/>
                    <a:lstStyle/>
                    <a:p>
                      <a:r>
                        <a:rPr lang="en-US"/>
                        <a:t>Next Inst</a:t>
                      </a:r>
                    </a:p>
                  </a:txBody>
                  <a:tcPr anchor="ctr"/>
                </a:tc>
                <a:tc>
                  <a:txBody>
                    <a:bodyPr/>
                    <a:lstStyle/>
                    <a:p>
                      <a:r>
                        <a:rPr lang="en-US"/>
                        <a:t>LOAD</a:t>
                      </a:r>
                    </a:p>
                  </a:txBody>
                  <a:tcPr anchor="ctr"/>
                </a:tc>
                <a:tc>
                  <a:txBody>
                    <a:bodyPr/>
                    <a:lstStyle/>
                    <a:p>
                      <a:r>
                        <a:rPr lang="en-US" dirty="0"/>
                        <a:t>SUB</a:t>
                      </a:r>
                    </a:p>
                  </a:txBody>
                  <a:tcPr anchor="ctr"/>
                </a:tc>
                <a:extLst>
                  <a:ext uri="{0D108BD9-81ED-4DB2-BD59-A6C34878D82A}">
                    <a16:rowId xmlns:a16="http://schemas.microsoft.com/office/drawing/2014/main" val="2643050221"/>
                  </a:ext>
                </a:extLst>
              </a:tr>
            </a:tbl>
          </a:graphicData>
        </a:graphic>
      </p:graphicFrame>
    </p:spTree>
    <p:extLst>
      <p:ext uri="{BB962C8B-B14F-4D97-AF65-F5344CB8AC3E}">
        <p14:creationId xmlns:p14="http://schemas.microsoft.com/office/powerpoint/2010/main" val="3952097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5B8A-424D-211F-9D69-1918747FD0CA}"/>
              </a:ext>
            </a:extLst>
          </p:cNvPr>
          <p:cNvSpPr>
            <a:spLocks noGrp="1"/>
          </p:cNvSpPr>
          <p:nvPr>
            <p:ph type="title"/>
          </p:nvPr>
        </p:nvSpPr>
        <p:spPr/>
        <p:txBody>
          <a:bodyPr/>
          <a:lstStyle/>
          <a:p>
            <a:r>
              <a:rPr lang="en-US" dirty="0"/>
              <a:t>Example of Instruction Execution in Pipelining</a:t>
            </a:r>
          </a:p>
        </p:txBody>
      </p:sp>
      <p:sp>
        <p:nvSpPr>
          <p:cNvPr id="3" name="Content Placeholder 2">
            <a:extLst>
              <a:ext uri="{FF2B5EF4-FFF2-40B4-BE49-F238E27FC236}">
                <a16:creationId xmlns:a16="http://schemas.microsoft.com/office/drawing/2014/main" id="{0020D213-3E99-7013-7374-1ACD32C68755}"/>
              </a:ext>
            </a:extLst>
          </p:cNvPr>
          <p:cNvSpPr>
            <a:spLocks noGrp="1"/>
          </p:cNvSpPr>
          <p:nvPr>
            <p:ph idx="1"/>
          </p:nvPr>
        </p:nvSpPr>
        <p:spPr/>
        <p:txBody>
          <a:bodyPr/>
          <a:lstStyle/>
          <a:p>
            <a:r>
              <a:rPr lang="en-US" dirty="0"/>
              <a:t>Instead of executing one instruction at a time, multiple instructions are overlapping in execution.</a:t>
            </a:r>
          </a:p>
          <a:p>
            <a:r>
              <a:rPr lang="en-US" dirty="0"/>
              <a:t>This improves throughput significantly compared to non-pipelined execution.</a:t>
            </a:r>
          </a:p>
          <a:p>
            <a:r>
              <a:rPr lang="en-US" dirty="0"/>
              <a:t>The five-stage pipeline (IF, ID, EX, MEM, WB) is widely used in </a:t>
            </a:r>
            <a:r>
              <a:rPr lang="en-US" b="1" dirty="0"/>
              <a:t>RISC architectures</a:t>
            </a:r>
            <a:r>
              <a:rPr lang="en-US" dirty="0"/>
              <a:t> like MIPS. More complex architectures (e.g., </a:t>
            </a:r>
            <a:r>
              <a:rPr lang="en-US" b="1" dirty="0"/>
              <a:t>Intel, AMD CPUs</a:t>
            </a:r>
            <a:r>
              <a:rPr lang="en-US" dirty="0"/>
              <a:t>) may have deeper pipelines (10+ stages) for higher performance, but they must handle </a:t>
            </a:r>
            <a:r>
              <a:rPr lang="en-US" b="1" dirty="0"/>
              <a:t>hazards and stalls</a:t>
            </a:r>
            <a:r>
              <a:rPr lang="en-US" dirty="0"/>
              <a:t> efficiently.</a:t>
            </a:r>
          </a:p>
        </p:txBody>
      </p:sp>
    </p:spTree>
    <p:extLst>
      <p:ext uri="{BB962C8B-B14F-4D97-AF65-F5344CB8AC3E}">
        <p14:creationId xmlns:p14="http://schemas.microsoft.com/office/powerpoint/2010/main" val="1767180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DB23F-0D87-EAF1-21FE-139814CA80B0}"/>
              </a:ext>
            </a:extLst>
          </p:cNvPr>
          <p:cNvSpPr>
            <a:spLocks noGrp="1"/>
          </p:cNvSpPr>
          <p:nvPr>
            <p:ph type="title"/>
          </p:nvPr>
        </p:nvSpPr>
        <p:spPr/>
        <p:txBody>
          <a:bodyPr/>
          <a:lstStyle/>
          <a:p>
            <a:r>
              <a:rPr lang="en-US" dirty="0"/>
              <a:t>Pipeline Execution Diagram(space time Diagram)</a:t>
            </a:r>
          </a:p>
        </p:txBody>
      </p:sp>
      <p:graphicFrame>
        <p:nvGraphicFramePr>
          <p:cNvPr id="6" name="Content Placeholder 5">
            <a:extLst>
              <a:ext uri="{FF2B5EF4-FFF2-40B4-BE49-F238E27FC236}">
                <a16:creationId xmlns:a16="http://schemas.microsoft.com/office/drawing/2014/main" id="{AD3130AE-0961-B0FD-C2AA-73A32AEE5637}"/>
              </a:ext>
            </a:extLst>
          </p:cNvPr>
          <p:cNvGraphicFramePr>
            <a:graphicFrameLocks noGrp="1"/>
          </p:cNvGraphicFramePr>
          <p:nvPr>
            <p:ph idx="1"/>
            <p:extLst>
              <p:ext uri="{D42A27DB-BD31-4B8C-83A1-F6EECF244321}">
                <p14:modId xmlns:p14="http://schemas.microsoft.com/office/powerpoint/2010/main" val="2244903645"/>
              </p:ext>
            </p:extLst>
          </p:nvPr>
        </p:nvGraphicFramePr>
        <p:xfrm>
          <a:off x="1097280" y="1846263"/>
          <a:ext cx="10058400" cy="3573715"/>
        </p:xfrm>
        <a:graphic>
          <a:graphicData uri="http://schemas.openxmlformats.org/drawingml/2006/table">
            <a:tbl>
              <a:tblPr>
                <a:tableStyleId>{5940675A-B579-460E-94D1-54222C63F5DA}</a:tableStyleId>
              </a:tblPr>
              <a:tblGrid>
                <a:gridCol w="1005840">
                  <a:extLst>
                    <a:ext uri="{9D8B030D-6E8A-4147-A177-3AD203B41FA5}">
                      <a16:colId xmlns:a16="http://schemas.microsoft.com/office/drawing/2014/main" val="654707427"/>
                    </a:ext>
                  </a:extLst>
                </a:gridCol>
                <a:gridCol w="1005840">
                  <a:extLst>
                    <a:ext uri="{9D8B030D-6E8A-4147-A177-3AD203B41FA5}">
                      <a16:colId xmlns:a16="http://schemas.microsoft.com/office/drawing/2014/main" val="1548170434"/>
                    </a:ext>
                  </a:extLst>
                </a:gridCol>
                <a:gridCol w="1005840">
                  <a:extLst>
                    <a:ext uri="{9D8B030D-6E8A-4147-A177-3AD203B41FA5}">
                      <a16:colId xmlns:a16="http://schemas.microsoft.com/office/drawing/2014/main" val="874087978"/>
                    </a:ext>
                  </a:extLst>
                </a:gridCol>
                <a:gridCol w="1005840">
                  <a:extLst>
                    <a:ext uri="{9D8B030D-6E8A-4147-A177-3AD203B41FA5}">
                      <a16:colId xmlns:a16="http://schemas.microsoft.com/office/drawing/2014/main" val="3106304348"/>
                    </a:ext>
                  </a:extLst>
                </a:gridCol>
                <a:gridCol w="1005840">
                  <a:extLst>
                    <a:ext uri="{9D8B030D-6E8A-4147-A177-3AD203B41FA5}">
                      <a16:colId xmlns:a16="http://schemas.microsoft.com/office/drawing/2014/main" val="3505018914"/>
                    </a:ext>
                  </a:extLst>
                </a:gridCol>
                <a:gridCol w="1005840">
                  <a:extLst>
                    <a:ext uri="{9D8B030D-6E8A-4147-A177-3AD203B41FA5}">
                      <a16:colId xmlns:a16="http://schemas.microsoft.com/office/drawing/2014/main" val="1987538005"/>
                    </a:ext>
                  </a:extLst>
                </a:gridCol>
                <a:gridCol w="1005840">
                  <a:extLst>
                    <a:ext uri="{9D8B030D-6E8A-4147-A177-3AD203B41FA5}">
                      <a16:colId xmlns:a16="http://schemas.microsoft.com/office/drawing/2014/main" val="967397017"/>
                    </a:ext>
                  </a:extLst>
                </a:gridCol>
                <a:gridCol w="1005840">
                  <a:extLst>
                    <a:ext uri="{9D8B030D-6E8A-4147-A177-3AD203B41FA5}">
                      <a16:colId xmlns:a16="http://schemas.microsoft.com/office/drawing/2014/main" val="2901939662"/>
                    </a:ext>
                  </a:extLst>
                </a:gridCol>
                <a:gridCol w="1005840">
                  <a:extLst>
                    <a:ext uri="{9D8B030D-6E8A-4147-A177-3AD203B41FA5}">
                      <a16:colId xmlns:a16="http://schemas.microsoft.com/office/drawing/2014/main" val="388696608"/>
                    </a:ext>
                  </a:extLst>
                </a:gridCol>
                <a:gridCol w="1005840">
                  <a:extLst>
                    <a:ext uri="{9D8B030D-6E8A-4147-A177-3AD203B41FA5}">
                      <a16:colId xmlns:a16="http://schemas.microsoft.com/office/drawing/2014/main" val="2223938256"/>
                    </a:ext>
                  </a:extLst>
                </a:gridCol>
              </a:tblGrid>
              <a:tr h="582237">
                <a:tc>
                  <a:txBody>
                    <a:bodyPr/>
                    <a:lstStyle/>
                    <a:p>
                      <a:r>
                        <a:rPr lang="en-US" sz="2000"/>
                        <a:t>Clock Cycle →</a:t>
                      </a:r>
                    </a:p>
                  </a:txBody>
                  <a:tcPr marL="52931" marR="52931" marT="26465" marB="26465" anchor="ctr"/>
                </a:tc>
                <a:tc>
                  <a:txBody>
                    <a:bodyPr/>
                    <a:lstStyle/>
                    <a:p>
                      <a:r>
                        <a:rPr lang="en-US" sz="2000"/>
                        <a:t>1</a:t>
                      </a:r>
                    </a:p>
                  </a:txBody>
                  <a:tcPr marL="52931" marR="52931" marT="26465" marB="26465" anchor="ctr"/>
                </a:tc>
                <a:tc>
                  <a:txBody>
                    <a:bodyPr/>
                    <a:lstStyle/>
                    <a:p>
                      <a:r>
                        <a:rPr lang="en-US" sz="2000"/>
                        <a:t>2</a:t>
                      </a:r>
                    </a:p>
                  </a:txBody>
                  <a:tcPr marL="52931" marR="52931" marT="26465" marB="26465" anchor="ctr"/>
                </a:tc>
                <a:tc>
                  <a:txBody>
                    <a:bodyPr/>
                    <a:lstStyle/>
                    <a:p>
                      <a:r>
                        <a:rPr lang="en-US" sz="2000"/>
                        <a:t>3</a:t>
                      </a:r>
                    </a:p>
                  </a:txBody>
                  <a:tcPr marL="52931" marR="52931" marT="26465" marB="26465" anchor="ctr"/>
                </a:tc>
                <a:tc>
                  <a:txBody>
                    <a:bodyPr/>
                    <a:lstStyle/>
                    <a:p>
                      <a:r>
                        <a:rPr lang="en-US" sz="2000"/>
                        <a:t>4</a:t>
                      </a:r>
                    </a:p>
                  </a:txBody>
                  <a:tcPr marL="52931" marR="52931" marT="26465" marB="26465" anchor="ctr"/>
                </a:tc>
                <a:tc>
                  <a:txBody>
                    <a:bodyPr/>
                    <a:lstStyle/>
                    <a:p>
                      <a:r>
                        <a:rPr lang="en-US" sz="2000"/>
                        <a:t>5</a:t>
                      </a:r>
                    </a:p>
                  </a:txBody>
                  <a:tcPr marL="52931" marR="52931" marT="26465" marB="26465" anchor="ctr"/>
                </a:tc>
                <a:tc>
                  <a:txBody>
                    <a:bodyPr/>
                    <a:lstStyle/>
                    <a:p>
                      <a:r>
                        <a:rPr lang="en-US" sz="2000"/>
                        <a:t>6</a:t>
                      </a:r>
                    </a:p>
                  </a:txBody>
                  <a:tcPr marL="52931" marR="52931" marT="26465" marB="26465" anchor="ctr"/>
                </a:tc>
                <a:tc>
                  <a:txBody>
                    <a:bodyPr/>
                    <a:lstStyle/>
                    <a:p>
                      <a:r>
                        <a:rPr lang="en-US" sz="2000"/>
                        <a:t>7</a:t>
                      </a:r>
                    </a:p>
                  </a:txBody>
                  <a:tcPr marL="52931" marR="52931" marT="26465" marB="26465" anchor="ctr"/>
                </a:tc>
                <a:tc>
                  <a:txBody>
                    <a:bodyPr/>
                    <a:lstStyle/>
                    <a:p>
                      <a:r>
                        <a:rPr lang="en-US" sz="2000"/>
                        <a:t>8</a:t>
                      </a:r>
                    </a:p>
                  </a:txBody>
                  <a:tcPr marL="52931" marR="52931" marT="26465" marB="26465" anchor="ctr"/>
                </a:tc>
                <a:tc>
                  <a:txBody>
                    <a:bodyPr/>
                    <a:lstStyle/>
                    <a:p>
                      <a:r>
                        <a:rPr lang="en-US" sz="2000"/>
                        <a:t>9</a:t>
                      </a:r>
                    </a:p>
                  </a:txBody>
                  <a:tcPr marL="52931" marR="52931" marT="26465" marB="26465" anchor="ctr"/>
                </a:tc>
                <a:extLst>
                  <a:ext uri="{0D108BD9-81ED-4DB2-BD59-A6C34878D82A}">
                    <a16:rowId xmlns:a16="http://schemas.microsoft.com/office/drawing/2014/main" val="1660812094"/>
                  </a:ext>
                </a:extLst>
              </a:tr>
              <a:tr h="582237">
                <a:tc>
                  <a:txBody>
                    <a:bodyPr/>
                    <a:lstStyle/>
                    <a:p>
                      <a:r>
                        <a:rPr lang="en-US" sz="2000" b="1"/>
                        <a:t>Instr 1</a:t>
                      </a:r>
                      <a:endParaRPr lang="en-US" sz="2000"/>
                    </a:p>
                  </a:txBody>
                  <a:tcPr marL="52931" marR="52931" marT="26465" marB="26465" anchor="ctr"/>
                </a:tc>
                <a:tc>
                  <a:txBody>
                    <a:bodyPr/>
                    <a:lstStyle/>
                    <a:p>
                      <a:r>
                        <a:rPr lang="en-US" sz="2000"/>
                        <a:t>IF</a:t>
                      </a:r>
                    </a:p>
                  </a:txBody>
                  <a:tcPr marL="52931" marR="52931" marT="26465" marB="26465" anchor="ctr"/>
                </a:tc>
                <a:tc>
                  <a:txBody>
                    <a:bodyPr/>
                    <a:lstStyle/>
                    <a:p>
                      <a:r>
                        <a:rPr lang="en-US" sz="2000" dirty="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extLst>
                  <a:ext uri="{0D108BD9-81ED-4DB2-BD59-A6C34878D82A}">
                    <a16:rowId xmlns:a16="http://schemas.microsoft.com/office/drawing/2014/main" val="3888200943"/>
                  </a:ext>
                </a:extLst>
              </a:tr>
              <a:tr h="582237">
                <a:tc>
                  <a:txBody>
                    <a:bodyPr/>
                    <a:lstStyle/>
                    <a:p>
                      <a:r>
                        <a:rPr lang="en-US" sz="2000" b="1"/>
                        <a:t>Instr 2</a:t>
                      </a:r>
                      <a:endParaRPr lang="en-US" sz="2000"/>
                    </a:p>
                  </a:txBody>
                  <a:tcPr marL="52931" marR="52931" marT="26465" marB="26465" anchor="ctr"/>
                </a:tc>
                <a:tc>
                  <a:txBody>
                    <a:bodyPr/>
                    <a:lstStyle/>
                    <a:p>
                      <a:endParaRPr lang="en-US" sz="2000"/>
                    </a:p>
                  </a:txBody>
                  <a:tcPr marL="52931" marR="52931" marT="26465" marB="26465" anchor="ct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extLst>
                  <a:ext uri="{0D108BD9-81ED-4DB2-BD59-A6C34878D82A}">
                    <a16:rowId xmlns:a16="http://schemas.microsoft.com/office/drawing/2014/main" val="3619026158"/>
                  </a:ext>
                </a:extLst>
              </a:tr>
              <a:tr h="582237">
                <a:tc>
                  <a:txBody>
                    <a:bodyPr/>
                    <a:lstStyle/>
                    <a:p>
                      <a:r>
                        <a:rPr lang="en-US" sz="2000" b="1"/>
                        <a:t>Instr 3</a:t>
                      </a:r>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extLst>
                  <a:ext uri="{0D108BD9-81ED-4DB2-BD59-A6C34878D82A}">
                    <a16:rowId xmlns:a16="http://schemas.microsoft.com/office/drawing/2014/main" val="3659286668"/>
                  </a:ext>
                </a:extLst>
              </a:tr>
              <a:tr h="582237">
                <a:tc>
                  <a:txBody>
                    <a:bodyPr/>
                    <a:lstStyle/>
                    <a:p>
                      <a:r>
                        <a:rPr lang="en-US" sz="2000" b="1"/>
                        <a:t>Instr 4</a:t>
                      </a:r>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dirty="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a:p>
                  </a:txBody>
                  <a:tcPr marL="52931" marR="52931" marT="26465" marB="26465" anchor="ctr"/>
                </a:tc>
                <a:extLst>
                  <a:ext uri="{0D108BD9-81ED-4DB2-BD59-A6C34878D82A}">
                    <a16:rowId xmlns:a16="http://schemas.microsoft.com/office/drawing/2014/main" val="1110075700"/>
                  </a:ext>
                </a:extLst>
              </a:tr>
              <a:tr h="582237">
                <a:tc>
                  <a:txBody>
                    <a:bodyPr/>
                    <a:lstStyle/>
                    <a:p>
                      <a:r>
                        <a:rPr lang="en-US" sz="2000" b="1"/>
                        <a:t>Instr 5</a:t>
                      </a:r>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endParaRPr lang="en-US" sz="2000"/>
                    </a:p>
                  </a:txBody>
                  <a:tcPr marL="52931" marR="52931" marT="26465" marB="26465" anchor="ct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dirty="0"/>
                        <a:t>WB</a:t>
                      </a:r>
                    </a:p>
                  </a:txBody>
                  <a:tcPr marL="52931" marR="52931" marT="26465" marB="26465" anchor="ctr"/>
                </a:tc>
                <a:extLst>
                  <a:ext uri="{0D108BD9-81ED-4DB2-BD59-A6C34878D82A}">
                    <a16:rowId xmlns:a16="http://schemas.microsoft.com/office/drawing/2014/main" val="471695294"/>
                  </a:ext>
                </a:extLst>
              </a:tr>
            </a:tbl>
          </a:graphicData>
        </a:graphic>
      </p:graphicFrame>
    </p:spTree>
    <p:extLst>
      <p:ext uri="{BB962C8B-B14F-4D97-AF65-F5344CB8AC3E}">
        <p14:creationId xmlns:p14="http://schemas.microsoft.com/office/powerpoint/2010/main" val="495494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507E6-5CBB-EF68-BE62-52518B15FFAA}"/>
              </a:ext>
            </a:extLst>
          </p:cNvPr>
          <p:cNvSpPr>
            <a:spLocks noGrp="1"/>
          </p:cNvSpPr>
          <p:nvPr>
            <p:ph type="title"/>
          </p:nvPr>
        </p:nvSpPr>
        <p:spPr/>
        <p:txBody>
          <a:bodyPr/>
          <a:lstStyle/>
          <a:p>
            <a:r>
              <a:rPr lang="en-US" dirty="0"/>
              <a:t>Serial Execution (Without Pipelining)</a:t>
            </a:r>
          </a:p>
        </p:txBody>
      </p:sp>
      <p:graphicFrame>
        <p:nvGraphicFramePr>
          <p:cNvPr id="4" name="Content Placeholder 3">
            <a:extLst>
              <a:ext uri="{FF2B5EF4-FFF2-40B4-BE49-F238E27FC236}">
                <a16:creationId xmlns:a16="http://schemas.microsoft.com/office/drawing/2014/main" id="{FDAB223C-EF08-B1A0-2ACB-918DF9A07054}"/>
              </a:ext>
            </a:extLst>
          </p:cNvPr>
          <p:cNvGraphicFramePr>
            <a:graphicFrameLocks noGrp="1"/>
          </p:cNvGraphicFramePr>
          <p:nvPr>
            <p:ph idx="1"/>
            <p:extLst>
              <p:ext uri="{D42A27DB-BD31-4B8C-83A1-F6EECF244321}">
                <p14:modId xmlns:p14="http://schemas.microsoft.com/office/powerpoint/2010/main" val="1652980815"/>
              </p:ext>
            </p:extLst>
          </p:nvPr>
        </p:nvGraphicFramePr>
        <p:xfrm>
          <a:off x="1211580" y="1846263"/>
          <a:ext cx="9944103" cy="4022724"/>
        </p:xfrm>
        <a:graphic>
          <a:graphicData uri="http://schemas.openxmlformats.org/drawingml/2006/table">
            <a:tbl>
              <a:tblPr>
                <a:tableStyleId>{5940675A-B579-460E-94D1-54222C63F5DA}</a:tableStyleId>
              </a:tblPr>
              <a:tblGrid>
                <a:gridCol w="841338">
                  <a:extLst>
                    <a:ext uri="{9D8B030D-6E8A-4147-A177-3AD203B41FA5}">
                      <a16:colId xmlns:a16="http://schemas.microsoft.com/office/drawing/2014/main" val="930283049"/>
                    </a:ext>
                  </a:extLst>
                </a:gridCol>
                <a:gridCol w="606851">
                  <a:extLst>
                    <a:ext uri="{9D8B030D-6E8A-4147-A177-3AD203B41FA5}">
                      <a16:colId xmlns:a16="http://schemas.microsoft.com/office/drawing/2014/main" val="538467978"/>
                    </a:ext>
                  </a:extLst>
                </a:gridCol>
                <a:gridCol w="606851">
                  <a:extLst>
                    <a:ext uri="{9D8B030D-6E8A-4147-A177-3AD203B41FA5}">
                      <a16:colId xmlns:a16="http://schemas.microsoft.com/office/drawing/2014/main" val="1465185905"/>
                    </a:ext>
                  </a:extLst>
                </a:gridCol>
                <a:gridCol w="606851">
                  <a:extLst>
                    <a:ext uri="{9D8B030D-6E8A-4147-A177-3AD203B41FA5}">
                      <a16:colId xmlns:a16="http://schemas.microsoft.com/office/drawing/2014/main" val="2440351549"/>
                    </a:ext>
                  </a:extLst>
                </a:gridCol>
                <a:gridCol w="606851">
                  <a:extLst>
                    <a:ext uri="{9D8B030D-6E8A-4147-A177-3AD203B41FA5}">
                      <a16:colId xmlns:a16="http://schemas.microsoft.com/office/drawing/2014/main" val="577457104"/>
                    </a:ext>
                  </a:extLst>
                </a:gridCol>
                <a:gridCol w="606851">
                  <a:extLst>
                    <a:ext uri="{9D8B030D-6E8A-4147-A177-3AD203B41FA5}">
                      <a16:colId xmlns:a16="http://schemas.microsoft.com/office/drawing/2014/main" val="2623041102"/>
                    </a:ext>
                  </a:extLst>
                </a:gridCol>
                <a:gridCol w="606851">
                  <a:extLst>
                    <a:ext uri="{9D8B030D-6E8A-4147-A177-3AD203B41FA5}">
                      <a16:colId xmlns:a16="http://schemas.microsoft.com/office/drawing/2014/main" val="1825606830"/>
                    </a:ext>
                  </a:extLst>
                </a:gridCol>
                <a:gridCol w="606851">
                  <a:extLst>
                    <a:ext uri="{9D8B030D-6E8A-4147-A177-3AD203B41FA5}">
                      <a16:colId xmlns:a16="http://schemas.microsoft.com/office/drawing/2014/main" val="4124638228"/>
                    </a:ext>
                  </a:extLst>
                </a:gridCol>
                <a:gridCol w="606851">
                  <a:extLst>
                    <a:ext uri="{9D8B030D-6E8A-4147-A177-3AD203B41FA5}">
                      <a16:colId xmlns:a16="http://schemas.microsoft.com/office/drawing/2014/main" val="716226041"/>
                    </a:ext>
                  </a:extLst>
                </a:gridCol>
                <a:gridCol w="606851">
                  <a:extLst>
                    <a:ext uri="{9D8B030D-6E8A-4147-A177-3AD203B41FA5}">
                      <a16:colId xmlns:a16="http://schemas.microsoft.com/office/drawing/2014/main" val="365590146"/>
                    </a:ext>
                  </a:extLst>
                </a:gridCol>
                <a:gridCol w="606851">
                  <a:extLst>
                    <a:ext uri="{9D8B030D-6E8A-4147-A177-3AD203B41FA5}">
                      <a16:colId xmlns:a16="http://schemas.microsoft.com/office/drawing/2014/main" val="1545165380"/>
                    </a:ext>
                  </a:extLst>
                </a:gridCol>
                <a:gridCol w="606851">
                  <a:extLst>
                    <a:ext uri="{9D8B030D-6E8A-4147-A177-3AD203B41FA5}">
                      <a16:colId xmlns:a16="http://schemas.microsoft.com/office/drawing/2014/main" val="2636405219"/>
                    </a:ext>
                  </a:extLst>
                </a:gridCol>
                <a:gridCol w="606851">
                  <a:extLst>
                    <a:ext uri="{9D8B030D-6E8A-4147-A177-3AD203B41FA5}">
                      <a16:colId xmlns:a16="http://schemas.microsoft.com/office/drawing/2014/main" val="1617025205"/>
                    </a:ext>
                  </a:extLst>
                </a:gridCol>
                <a:gridCol w="606851">
                  <a:extLst>
                    <a:ext uri="{9D8B030D-6E8A-4147-A177-3AD203B41FA5}">
                      <a16:colId xmlns:a16="http://schemas.microsoft.com/office/drawing/2014/main" val="932986144"/>
                    </a:ext>
                  </a:extLst>
                </a:gridCol>
                <a:gridCol w="606851">
                  <a:extLst>
                    <a:ext uri="{9D8B030D-6E8A-4147-A177-3AD203B41FA5}">
                      <a16:colId xmlns:a16="http://schemas.microsoft.com/office/drawing/2014/main" val="4179889438"/>
                    </a:ext>
                  </a:extLst>
                </a:gridCol>
                <a:gridCol w="606851">
                  <a:extLst>
                    <a:ext uri="{9D8B030D-6E8A-4147-A177-3AD203B41FA5}">
                      <a16:colId xmlns:a16="http://schemas.microsoft.com/office/drawing/2014/main" val="2486644742"/>
                    </a:ext>
                  </a:extLst>
                </a:gridCol>
              </a:tblGrid>
              <a:tr h="670454">
                <a:tc>
                  <a:txBody>
                    <a:bodyPr/>
                    <a:lstStyle/>
                    <a:p>
                      <a:r>
                        <a:rPr lang="en-US" sz="1600"/>
                        <a:t>Clock Cycle →</a:t>
                      </a:r>
                    </a:p>
                  </a:txBody>
                  <a:tcPr marL="46238" marR="46238" marT="23119" marB="23119" anchor="ctr"/>
                </a:tc>
                <a:tc>
                  <a:txBody>
                    <a:bodyPr/>
                    <a:lstStyle/>
                    <a:p>
                      <a:r>
                        <a:rPr lang="en-US" sz="1600"/>
                        <a:t>1</a:t>
                      </a:r>
                    </a:p>
                  </a:txBody>
                  <a:tcPr marL="46238" marR="46238" marT="23119" marB="23119" anchor="ctr"/>
                </a:tc>
                <a:tc>
                  <a:txBody>
                    <a:bodyPr/>
                    <a:lstStyle/>
                    <a:p>
                      <a:r>
                        <a:rPr lang="en-US" sz="1600" dirty="0"/>
                        <a:t>2</a:t>
                      </a:r>
                    </a:p>
                  </a:txBody>
                  <a:tcPr marL="46238" marR="46238" marT="23119" marB="23119" anchor="ctr"/>
                </a:tc>
                <a:tc>
                  <a:txBody>
                    <a:bodyPr/>
                    <a:lstStyle/>
                    <a:p>
                      <a:r>
                        <a:rPr lang="en-US" sz="1600"/>
                        <a:t>3</a:t>
                      </a:r>
                    </a:p>
                  </a:txBody>
                  <a:tcPr marL="46238" marR="46238" marT="23119" marB="23119" anchor="ctr"/>
                </a:tc>
                <a:tc>
                  <a:txBody>
                    <a:bodyPr/>
                    <a:lstStyle/>
                    <a:p>
                      <a:r>
                        <a:rPr lang="en-US" sz="1600"/>
                        <a:t>4</a:t>
                      </a:r>
                    </a:p>
                  </a:txBody>
                  <a:tcPr marL="46238" marR="46238" marT="23119" marB="23119" anchor="ctr"/>
                </a:tc>
                <a:tc>
                  <a:txBody>
                    <a:bodyPr/>
                    <a:lstStyle/>
                    <a:p>
                      <a:r>
                        <a:rPr lang="en-US" sz="1600"/>
                        <a:t>5</a:t>
                      </a:r>
                    </a:p>
                  </a:txBody>
                  <a:tcPr marL="46238" marR="46238" marT="23119" marB="23119" anchor="ctr"/>
                </a:tc>
                <a:tc>
                  <a:txBody>
                    <a:bodyPr/>
                    <a:lstStyle/>
                    <a:p>
                      <a:r>
                        <a:rPr lang="en-US" sz="1600"/>
                        <a:t>6</a:t>
                      </a:r>
                    </a:p>
                  </a:txBody>
                  <a:tcPr marL="46238" marR="46238" marT="23119" marB="23119" anchor="ctr"/>
                </a:tc>
                <a:tc>
                  <a:txBody>
                    <a:bodyPr/>
                    <a:lstStyle/>
                    <a:p>
                      <a:r>
                        <a:rPr lang="en-US" sz="1600"/>
                        <a:t>7</a:t>
                      </a:r>
                    </a:p>
                  </a:txBody>
                  <a:tcPr marL="46238" marR="46238" marT="23119" marB="23119" anchor="ctr"/>
                </a:tc>
                <a:tc>
                  <a:txBody>
                    <a:bodyPr/>
                    <a:lstStyle/>
                    <a:p>
                      <a:r>
                        <a:rPr lang="en-US" sz="1600"/>
                        <a:t>8</a:t>
                      </a:r>
                    </a:p>
                  </a:txBody>
                  <a:tcPr marL="46238" marR="46238" marT="23119" marB="23119" anchor="ctr"/>
                </a:tc>
                <a:tc>
                  <a:txBody>
                    <a:bodyPr/>
                    <a:lstStyle/>
                    <a:p>
                      <a:r>
                        <a:rPr lang="en-US" sz="1600"/>
                        <a:t>9</a:t>
                      </a:r>
                    </a:p>
                  </a:txBody>
                  <a:tcPr marL="46238" marR="46238" marT="23119" marB="23119" anchor="ctr"/>
                </a:tc>
                <a:tc>
                  <a:txBody>
                    <a:bodyPr/>
                    <a:lstStyle/>
                    <a:p>
                      <a:r>
                        <a:rPr lang="en-US" sz="1600"/>
                        <a:t>10</a:t>
                      </a:r>
                    </a:p>
                  </a:txBody>
                  <a:tcPr marL="46238" marR="46238" marT="23119" marB="23119" anchor="ctr"/>
                </a:tc>
                <a:tc>
                  <a:txBody>
                    <a:bodyPr/>
                    <a:lstStyle/>
                    <a:p>
                      <a:r>
                        <a:rPr lang="en-US" sz="1600"/>
                        <a:t>11</a:t>
                      </a:r>
                    </a:p>
                  </a:txBody>
                  <a:tcPr marL="46238" marR="46238" marT="23119" marB="23119" anchor="ctr"/>
                </a:tc>
                <a:tc>
                  <a:txBody>
                    <a:bodyPr/>
                    <a:lstStyle/>
                    <a:p>
                      <a:r>
                        <a:rPr lang="en-US" sz="1600"/>
                        <a:t>12</a:t>
                      </a:r>
                    </a:p>
                  </a:txBody>
                  <a:tcPr marL="46238" marR="46238" marT="23119" marB="23119" anchor="ctr"/>
                </a:tc>
                <a:tc>
                  <a:txBody>
                    <a:bodyPr/>
                    <a:lstStyle/>
                    <a:p>
                      <a:r>
                        <a:rPr lang="en-US" sz="1600"/>
                        <a:t>13</a:t>
                      </a:r>
                    </a:p>
                  </a:txBody>
                  <a:tcPr marL="46238" marR="46238" marT="23119" marB="23119" anchor="ctr"/>
                </a:tc>
                <a:tc>
                  <a:txBody>
                    <a:bodyPr/>
                    <a:lstStyle/>
                    <a:p>
                      <a:r>
                        <a:rPr lang="en-US" sz="1600" dirty="0"/>
                        <a:t>14</a:t>
                      </a:r>
                    </a:p>
                  </a:txBody>
                  <a:tcPr marL="46238" marR="46238" marT="23119" marB="23119" anchor="ctr"/>
                </a:tc>
                <a:tc>
                  <a:txBody>
                    <a:bodyPr/>
                    <a:lstStyle/>
                    <a:p>
                      <a:r>
                        <a:rPr lang="en-US" sz="1600" dirty="0"/>
                        <a:t>15</a:t>
                      </a:r>
                    </a:p>
                  </a:txBody>
                  <a:tcPr marL="46238" marR="46238" marT="23119" marB="23119" anchor="ctr"/>
                </a:tc>
                <a:extLst>
                  <a:ext uri="{0D108BD9-81ED-4DB2-BD59-A6C34878D82A}">
                    <a16:rowId xmlns:a16="http://schemas.microsoft.com/office/drawing/2014/main" val="4086722856"/>
                  </a:ext>
                </a:extLst>
              </a:tr>
              <a:tr h="670454">
                <a:tc>
                  <a:txBody>
                    <a:bodyPr/>
                    <a:lstStyle/>
                    <a:p>
                      <a:r>
                        <a:rPr lang="en-US" sz="1600" b="1"/>
                        <a:t>Instr 1</a:t>
                      </a:r>
                      <a:endParaRPr lang="en-US" sz="1600"/>
                    </a:p>
                  </a:txBody>
                  <a:tcPr marL="46238" marR="46238" marT="23119" marB="23119" anchor="ctr"/>
                </a:tc>
                <a:tc>
                  <a:txBody>
                    <a:bodyPr/>
                    <a:lstStyle/>
                    <a:p>
                      <a:r>
                        <a:rPr lang="en-US" sz="1600"/>
                        <a:t>IF</a:t>
                      </a:r>
                    </a:p>
                  </a:txBody>
                  <a:tcPr marL="46238" marR="46238" marT="23119" marB="23119" anchor="ctr"/>
                </a:tc>
                <a:tc>
                  <a:txBody>
                    <a:bodyPr/>
                    <a:lstStyle/>
                    <a:p>
                      <a:r>
                        <a:rPr lang="en-US" sz="1600" dirty="0"/>
                        <a:t>ID</a:t>
                      </a:r>
                    </a:p>
                  </a:txBody>
                  <a:tcPr marL="46238" marR="46238" marT="23119" marB="23119" anchor="ctr"/>
                </a:tc>
                <a:tc>
                  <a:txBody>
                    <a:bodyPr/>
                    <a:lstStyle/>
                    <a:p>
                      <a:r>
                        <a:rPr lang="en-US" sz="1600"/>
                        <a:t>EX</a:t>
                      </a:r>
                    </a:p>
                  </a:txBody>
                  <a:tcPr marL="46238" marR="46238" marT="23119" marB="23119" anchor="ctr"/>
                </a:tc>
                <a:tc>
                  <a:txBody>
                    <a:bodyPr/>
                    <a:lstStyle/>
                    <a:p>
                      <a:r>
                        <a:rPr lang="en-US" sz="1600"/>
                        <a:t>MEM</a:t>
                      </a:r>
                    </a:p>
                  </a:txBody>
                  <a:tcPr marL="46238" marR="46238" marT="23119" marB="23119" anchor="ctr"/>
                </a:tc>
                <a:tc>
                  <a:txBody>
                    <a:bodyPr/>
                    <a:lstStyle/>
                    <a:p>
                      <a:r>
                        <a:rPr lang="en-US" sz="1600"/>
                        <a:t>WB</a:t>
                      </a:r>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extLst>
                  <a:ext uri="{0D108BD9-81ED-4DB2-BD59-A6C34878D82A}">
                    <a16:rowId xmlns:a16="http://schemas.microsoft.com/office/drawing/2014/main" val="2161616166"/>
                  </a:ext>
                </a:extLst>
              </a:tr>
              <a:tr h="670454">
                <a:tc>
                  <a:txBody>
                    <a:bodyPr/>
                    <a:lstStyle/>
                    <a:p>
                      <a:r>
                        <a:rPr lang="en-US" sz="1600" b="1"/>
                        <a:t>Instr 2</a:t>
                      </a:r>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r>
                        <a:rPr lang="en-US" sz="1600"/>
                        <a:t>IF</a:t>
                      </a:r>
                    </a:p>
                  </a:txBody>
                  <a:tcPr marL="46238" marR="46238" marT="23119" marB="23119" anchor="ctr"/>
                </a:tc>
                <a:tc>
                  <a:txBody>
                    <a:bodyPr/>
                    <a:lstStyle/>
                    <a:p>
                      <a:r>
                        <a:rPr lang="en-US" sz="1600"/>
                        <a:t>ID</a:t>
                      </a:r>
                    </a:p>
                  </a:txBody>
                  <a:tcPr marL="46238" marR="46238" marT="23119" marB="23119" anchor="ctr"/>
                </a:tc>
                <a:tc>
                  <a:txBody>
                    <a:bodyPr/>
                    <a:lstStyle/>
                    <a:p>
                      <a:r>
                        <a:rPr lang="en-US" sz="1600"/>
                        <a:t>EX</a:t>
                      </a:r>
                    </a:p>
                  </a:txBody>
                  <a:tcPr marL="46238" marR="46238" marT="23119" marB="23119" anchor="ctr"/>
                </a:tc>
                <a:tc>
                  <a:txBody>
                    <a:bodyPr/>
                    <a:lstStyle/>
                    <a:p>
                      <a:r>
                        <a:rPr lang="en-US" sz="1600"/>
                        <a:t>MEM</a:t>
                      </a:r>
                    </a:p>
                  </a:txBody>
                  <a:tcPr marL="46238" marR="46238" marT="23119" marB="23119" anchor="ctr"/>
                </a:tc>
                <a:tc>
                  <a:txBody>
                    <a:bodyPr/>
                    <a:lstStyle/>
                    <a:p>
                      <a:r>
                        <a:rPr lang="en-US" sz="1600"/>
                        <a:t>WB</a:t>
                      </a:r>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extLst>
                  <a:ext uri="{0D108BD9-81ED-4DB2-BD59-A6C34878D82A}">
                    <a16:rowId xmlns:a16="http://schemas.microsoft.com/office/drawing/2014/main" val="3185646594"/>
                  </a:ext>
                </a:extLst>
              </a:tr>
              <a:tr h="670454">
                <a:tc>
                  <a:txBody>
                    <a:bodyPr/>
                    <a:lstStyle/>
                    <a:p>
                      <a:r>
                        <a:rPr lang="en-US" sz="1600" b="1"/>
                        <a:t>Instr 3</a:t>
                      </a:r>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tc>
                  <a:txBody>
                    <a:bodyPr/>
                    <a:lstStyle/>
                    <a:p>
                      <a:endParaRPr lang="en-US" sz="1600"/>
                    </a:p>
                  </a:txBody>
                  <a:tcPr marL="46238" marR="46238" marT="23119" marB="23119" anchor="ctr"/>
                </a:tc>
                <a:tc>
                  <a:txBody>
                    <a:bodyPr/>
                    <a:lstStyle/>
                    <a:p>
                      <a:r>
                        <a:rPr lang="en-US" sz="1600"/>
                        <a:t>IF</a:t>
                      </a:r>
                    </a:p>
                  </a:txBody>
                  <a:tcPr marL="46238" marR="46238" marT="23119" marB="23119" anchor="ctr"/>
                </a:tc>
                <a:tc>
                  <a:txBody>
                    <a:bodyPr/>
                    <a:lstStyle/>
                    <a:p>
                      <a:r>
                        <a:rPr lang="en-US" sz="1600"/>
                        <a:t>ID</a:t>
                      </a:r>
                    </a:p>
                  </a:txBody>
                  <a:tcPr marL="46238" marR="46238" marT="23119" marB="23119" anchor="ctr"/>
                </a:tc>
                <a:tc>
                  <a:txBody>
                    <a:bodyPr/>
                    <a:lstStyle/>
                    <a:p>
                      <a:r>
                        <a:rPr lang="en-US" sz="1600"/>
                        <a:t>EX</a:t>
                      </a:r>
                    </a:p>
                  </a:txBody>
                  <a:tcPr marL="46238" marR="46238" marT="23119" marB="23119" anchor="ctr"/>
                </a:tc>
                <a:tc>
                  <a:txBody>
                    <a:bodyPr/>
                    <a:lstStyle/>
                    <a:p>
                      <a:r>
                        <a:rPr lang="en-US" sz="1600"/>
                        <a:t>MEM</a:t>
                      </a:r>
                    </a:p>
                  </a:txBody>
                  <a:tcPr marL="46238" marR="46238" marT="23119" marB="23119" anchor="ctr"/>
                </a:tc>
                <a:tc>
                  <a:txBody>
                    <a:bodyPr/>
                    <a:lstStyle/>
                    <a:p>
                      <a:r>
                        <a:rPr lang="en-US" sz="1600"/>
                        <a:t>WB</a:t>
                      </a:r>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extLst>
                  <a:ext uri="{0D108BD9-81ED-4DB2-BD59-A6C34878D82A}">
                    <a16:rowId xmlns:a16="http://schemas.microsoft.com/office/drawing/2014/main" val="2855942502"/>
                  </a:ext>
                </a:extLst>
              </a:tr>
              <a:tr h="670454">
                <a:tc>
                  <a:txBody>
                    <a:bodyPr/>
                    <a:lstStyle/>
                    <a:p>
                      <a:r>
                        <a:rPr lang="en-US" sz="1600" b="1"/>
                        <a:t>Instr 4</a:t>
                      </a:r>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r>
                        <a:rPr lang="en-US" sz="1600"/>
                        <a:t>IF</a:t>
                      </a:r>
                    </a:p>
                  </a:txBody>
                  <a:tcPr marL="46238" marR="46238" marT="23119" marB="23119" anchor="ctr"/>
                </a:tc>
                <a:tc>
                  <a:txBody>
                    <a:bodyPr/>
                    <a:lstStyle/>
                    <a:p>
                      <a:r>
                        <a:rPr lang="en-US" sz="1600"/>
                        <a:t>ID</a:t>
                      </a:r>
                    </a:p>
                  </a:txBody>
                  <a:tcPr marL="46238" marR="46238" marT="23119" marB="23119" anchor="ctr"/>
                </a:tc>
                <a:tc>
                  <a:txBody>
                    <a:bodyPr/>
                    <a:lstStyle/>
                    <a:p>
                      <a:r>
                        <a:rPr lang="en-US" sz="1600"/>
                        <a:t>EX</a:t>
                      </a:r>
                    </a:p>
                  </a:txBody>
                  <a:tcPr marL="46238" marR="46238" marT="23119" marB="23119" anchor="ctr"/>
                </a:tc>
                <a:tc>
                  <a:txBody>
                    <a:bodyPr/>
                    <a:lstStyle/>
                    <a:p>
                      <a:r>
                        <a:rPr lang="en-US" sz="1600"/>
                        <a:t>MEM</a:t>
                      </a:r>
                    </a:p>
                  </a:txBody>
                  <a:tcPr marL="46238" marR="46238" marT="23119" marB="23119" anchor="ctr"/>
                </a:tc>
                <a:tc>
                  <a:txBody>
                    <a:bodyPr/>
                    <a:lstStyle/>
                    <a:p>
                      <a:r>
                        <a:rPr lang="en-US" sz="1600"/>
                        <a:t>WB</a:t>
                      </a:r>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extLst>
                  <a:ext uri="{0D108BD9-81ED-4DB2-BD59-A6C34878D82A}">
                    <a16:rowId xmlns:a16="http://schemas.microsoft.com/office/drawing/2014/main" val="2777370903"/>
                  </a:ext>
                </a:extLst>
              </a:tr>
              <a:tr h="670454">
                <a:tc>
                  <a:txBody>
                    <a:bodyPr/>
                    <a:lstStyle/>
                    <a:p>
                      <a:r>
                        <a:rPr lang="en-US" sz="1600" b="1"/>
                        <a:t>Instr 5</a:t>
                      </a:r>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dirty="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endParaRPr lang="en-US" sz="1600"/>
                    </a:p>
                  </a:txBody>
                  <a:tcPr marL="46238" marR="46238" marT="23119" marB="23119" anchor="ctr"/>
                </a:tc>
                <a:tc>
                  <a:txBody>
                    <a:bodyPr/>
                    <a:lstStyle/>
                    <a:p>
                      <a:r>
                        <a:rPr lang="en-US" sz="1600"/>
                        <a:t>IF</a:t>
                      </a:r>
                    </a:p>
                  </a:txBody>
                  <a:tcPr marL="46238" marR="46238" marT="23119" marB="23119" anchor="ctr"/>
                </a:tc>
                <a:tc>
                  <a:txBody>
                    <a:bodyPr/>
                    <a:lstStyle/>
                    <a:p>
                      <a:r>
                        <a:rPr lang="en-US" sz="1600"/>
                        <a:t>ID</a:t>
                      </a:r>
                    </a:p>
                  </a:txBody>
                  <a:tcPr marL="46238" marR="46238" marT="23119" marB="23119" anchor="ctr"/>
                </a:tc>
                <a:tc>
                  <a:txBody>
                    <a:bodyPr/>
                    <a:lstStyle/>
                    <a:p>
                      <a:r>
                        <a:rPr lang="en-US" sz="1600"/>
                        <a:t>EX</a:t>
                      </a:r>
                    </a:p>
                  </a:txBody>
                  <a:tcPr marL="46238" marR="46238" marT="23119" marB="23119" anchor="ctr"/>
                </a:tc>
                <a:tc>
                  <a:txBody>
                    <a:bodyPr/>
                    <a:lstStyle/>
                    <a:p>
                      <a:r>
                        <a:rPr lang="en-US" sz="1600"/>
                        <a:t>MEM</a:t>
                      </a:r>
                    </a:p>
                  </a:txBody>
                  <a:tcPr marL="46238" marR="46238" marT="23119" marB="23119" anchor="ctr"/>
                </a:tc>
                <a:tc>
                  <a:txBody>
                    <a:bodyPr/>
                    <a:lstStyle/>
                    <a:p>
                      <a:r>
                        <a:rPr lang="en-US" sz="1600" dirty="0"/>
                        <a:t>WB</a:t>
                      </a:r>
                    </a:p>
                  </a:txBody>
                  <a:tcPr marL="46238" marR="46238" marT="23119" marB="23119" anchor="ctr"/>
                </a:tc>
                <a:extLst>
                  <a:ext uri="{0D108BD9-81ED-4DB2-BD59-A6C34878D82A}">
                    <a16:rowId xmlns:a16="http://schemas.microsoft.com/office/drawing/2014/main" val="683881948"/>
                  </a:ext>
                </a:extLst>
              </a:tr>
            </a:tbl>
          </a:graphicData>
        </a:graphic>
      </p:graphicFrame>
    </p:spTree>
    <p:extLst>
      <p:ext uri="{BB962C8B-B14F-4D97-AF65-F5344CB8AC3E}">
        <p14:creationId xmlns:p14="http://schemas.microsoft.com/office/powerpoint/2010/main" val="1034745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2ECC9-05A5-A682-51E9-87E937A24F9F}"/>
              </a:ext>
            </a:extLst>
          </p:cNvPr>
          <p:cNvSpPr>
            <a:spLocks noGrp="1"/>
          </p:cNvSpPr>
          <p:nvPr>
            <p:ph type="title"/>
          </p:nvPr>
        </p:nvSpPr>
        <p:spPr/>
        <p:txBody>
          <a:bodyPr/>
          <a:lstStyle/>
          <a:p>
            <a:r>
              <a:rPr lang="en-US" b="1" dirty="0"/>
              <a:t>Pipelined vs Non-Pipelined Execution</a:t>
            </a:r>
            <a:endParaRPr lang="en-US" dirty="0"/>
          </a:p>
        </p:txBody>
      </p:sp>
      <p:sp>
        <p:nvSpPr>
          <p:cNvPr id="3" name="Content Placeholder 2">
            <a:extLst>
              <a:ext uri="{FF2B5EF4-FFF2-40B4-BE49-F238E27FC236}">
                <a16:creationId xmlns:a16="http://schemas.microsoft.com/office/drawing/2014/main" id="{3181A7A7-F66F-7181-2A22-7C6DA2F2E5BD}"/>
              </a:ext>
            </a:extLst>
          </p:cNvPr>
          <p:cNvSpPr>
            <a:spLocks noGrp="1"/>
          </p:cNvSpPr>
          <p:nvPr>
            <p:ph idx="1"/>
          </p:nvPr>
        </p:nvSpPr>
        <p:spPr/>
        <p:txBody>
          <a:bodyPr/>
          <a:lstStyle/>
          <a:p>
            <a:r>
              <a:rPr lang="en-US" b="1" dirty="0"/>
              <a:t>Total Cycles Required for 15 Instructions in Serial Execution:</a:t>
            </a:r>
            <a:r>
              <a:rPr lang="en-US" dirty="0"/>
              <a:t> </a:t>
            </a:r>
            <a:r>
              <a:rPr lang="en-US" b="1" dirty="0"/>
              <a:t>75 Cycles</a:t>
            </a:r>
            <a:br>
              <a:rPr lang="en-US" dirty="0"/>
            </a:br>
            <a:r>
              <a:rPr lang="en-US" dirty="0"/>
              <a:t>(Each instruction takes 5 cycles, executed sequentially)</a:t>
            </a:r>
          </a:p>
          <a:p>
            <a:r>
              <a:rPr lang="en-US" b="1" dirty="0"/>
              <a:t>Total Cycles for 15 Instructions in Pipelined Execution:</a:t>
            </a:r>
            <a:r>
              <a:rPr lang="en-US" dirty="0"/>
              <a:t> </a:t>
            </a:r>
            <a:r>
              <a:rPr lang="en-US" b="1" dirty="0"/>
              <a:t>19 Cycles</a:t>
            </a:r>
            <a:br>
              <a:rPr lang="en-US" dirty="0"/>
            </a:br>
            <a:r>
              <a:rPr lang="en-US" dirty="0"/>
              <a:t>(Only the first instruction takes 5 cycles, then a new instruction enters every cycle)</a:t>
            </a:r>
          </a:p>
        </p:txBody>
      </p:sp>
    </p:spTree>
    <p:extLst>
      <p:ext uri="{BB962C8B-B14F-4D97-AF65-F5344CB8AC3E}">
        <p14:creationId xmlns:p14="http://schemas.microsoft.com/office/powerpoint/2010/main" val="1512764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3CC32-C211-CE35-E8E5-ACC56ECBB3A1}"/>
              </a:ext>
            </a:extLst>
          </p:cNvPr>
          <p:cNvSpPr>
            <a:spLocks noGrp="1"/>
          </p:cNvSpPr>
          <p:nvPr>
            <p:ph type="title"/>
          </p:nvPr>
        </p:nvSpPr>
        <p:spPr/>
        <p:txBody>
          <a:bodyPr/>
          <a:lstStyle/>
          <a:p>
            <a:r>
              <a:rPr lang="en-US" b="1" dirty="0"/>
              <a:t>Pipelined vs Non-Pipelined Execution</a:t>
            </a:r>
            <a:endParaRPr lang="en-US" dirty="0"/>
          </a:p>
        </p:txBody>
      </p:sp>
      <p:graphicFrame>
        <p:nvGraphicFramePr>
          <p:cNvPr id="4" name="Content Placeholder 3">
            <a:extLst>
              <a:ext uri="{FF2B5EF4-FFF2-40B4-BE49-F238E27FC236}">
                <a16:creationId xmlns:a16="http://schemas.microsoft.com/office/drawing/2014/main" id="{0CCB086D-13DF-68EE-D705-0B485A56D22C}"/>
              </a:ext>
            </a:extLst>
          </p:cNvPr>
          <p:cNvGraphicFramePr>
            <a:graphicFrameLocks noGrp="1"/>
          </p:cNvGraphicFramePr>
          <p:nvPr>
            <p:ph idx="1"/>
            <p:extLst>
              <p:ext uri="{D42A27DB-BD31-4B8C-83A1-F6EECF244321}">
                <p14:modId xmlns:p14="http://schemas.microsoft.com/office/powerpoint/2010/main" val="3800013633"/>
              </p:ext>
            </p:extLst>
          </p:nvPr>
        </p:nvGraphicFramePr>
        <p:xfrm>
          <a:off x="1096963" y="2943225"/>
          <a:ext cx="10058400" cy="1828800"/>
        </p:xfrm>
        <a:graphic>
          <a:graphicData uri="http://schemas.openxmlformats.org/drawingml/2006/table">
            <a:tbl>
              <a:tblPr>
                <a:tableStyleId>{5940675A-B579-460E-94D1-54222C63F5DA}</a:tableStyleId>
              </a:tblPr>
              <a:tblGrid>
                <a:gridCol w="3352800">
                  <a:extLst>
                    <a:ext uri="{9D8B030D-6E8A-4147-A177-3AD203B41FA5}">
                      <a16:colId xmlns:a16="http://schemas.microsoft.com/office/drawing/2014/main" val="3070418871"/>
                    </a:ext>
                  </a:extLst>
                </a:gridCol>
                <a:gridCol w="3352800">
                  <a:extLst>
                    <a:ext uri="{9D8B030D-6E8A-4147-A177-3AD203B41FA5}">
                      <a16:colId xmlns:a16="http://schemas.microsoft.com/office/drawing/2014/main" val="3990767777"/>
                    </a:ext>
                  </a:extLst>
                </a:gridCol>
                <a:gridCol w="3352800">
                  <a:extLst>
                    <a:ext uri="{9D8B030D-6E8A-4147-A177-3AD203B41FA5}">
                      <a16:colId xmlns:a16="http://schemas.microsoft.com/office/drawing/2014/main" val="1693658081"/>
                    </a:ext>
                  </a:extLst>
                </a:gridCol>
              </a:tblGrid>
              <a:tr h="0">
                <a:tc>
                  <a:txBody>
                    <a:bodyPr/>
                    <a:lstStyle/>
                    <a:p>
                      <a:r>
                        <a:rPr lang="en-US"/>
                        <a:t>Feature</a:t>
                      </a:r>
                    </a:p>
                  </a:txBody>
                  <a:tcPr anchor="ctr"/>
                </a:tc>
                <a:tc>
                  <a:txBody>
                    <a:bodyPr/>
                    <a:lstStyle/>
                    <a:p>
                      <a:r>
                        <a:rPr lang="en-US"/>
                        <a:t>Pipelined Execution</a:t>
                      </a:r>
                    </a:p>
                  </a:txBody>
                  <a:tcPr anchor="ctr"/>
                </a:tc>
                <a:tc>
                  <a:txBody>
                    <a:bodyPr/>
                    <a:lstStyle/>
                    <a:p>
                      <a:r>
                        <a:rPr lang="en-US"/>
                        <a:t>Non-Pipelined Execution</a:t>
                      </a:r>
                    </a:p>
                  </a:txBody>
                  <a:tcPr anchor="ctr"/>
                </a:tc>
                <a:extLst>
                  <a:ext uri="{0D108BD9-81ED-4DB2-BD59-A6C34878D82A}">
                    <a16:rowId xmlns:a16="http://schemas.microsoft.com/office/drawing/2014/main" val="1430210405"/>
                  </a:ext>
                </a:extLst>
              </a:tr>
              <a:tr h="0">
                <a:tc>
                  <a:txBody>
                    <a:bodyPr/>
                    <a:lstStyle/>
                    <a:p>
                      <a:r>
                        <a:rPr lang="en-US"/>
                        <a:t>Instruction Execution</a:t>
                      </a:r>
                    </a:p>
                  </a:txBody>
                  <a:tcPr anchor="ctr"/>
                </a:tc>
                <a:tc>
                  <a:txBody>
                    <a:bodyPr/>
                    <a:lstStyle/>
                    <a:p>
                      <a:r>
                        <a:rPr lang="en-US"/>
                        <a:t>Overlapped</a:t>
                      </a:r>
                    </a:p>
                  </a:txBody>
                  <a:tcPr anchor="ctr"/>
                </a:tc>
                <a:tc>
                  <a:txBody>
                    <a:bodyPr/>
                    <a:lstStyle/>
                    <a:p>
                      <a:r>
                        <a:rPr lang="en-US"/>
                        <a:t>Sequential</a:t>
                      </a:r>
                    </a:p>
                  </a:txBody>
                  <a:tcPr anchor="ctr"/>
                </a:tc>
                <a:extLst>
                  <a:ext uri="{0D108BD9-81ED-4DB2-BD59-A6C34878D82A}">
                    <a16:rowId xmlns:a16="http://schemas.microsoft.com/office/drawing/2014/main" val="3560176233"/>
                  </a:ext>
                </a:extLst>
              </a:tr>
              <a:tr h="0">
                <a:tc>
                  <a:txBody>
                    <a:bodyPr/>
                    <a:lstStyle/>
                    <a:p>
                      <a:r>
                        <a:rPr lang="en-US"/>
                        <a:t>Speedup</a:t>
                      </a:r>
                    </a:p>
                  </a:txBody>
                  <a:tcPr anchor="ctr"/>
                </a:tc>
                <a:tc>
                  <a:txBody>
                    <a:bodyPr/>
                    <a:lstStyle/>
                    <a:p>
                      <a:r>
                        <a:rPr lang="en-US"/>
                        <a:t>High</a:t>
                      </a:r>
                    </a:p>
                  </a:txBody>
                  <a:tcPr anchor="ctr"/>
                </a:tc>
                <a:tc>
                  <a:txBody>
                    <a:bodyPr/>
                    <a:lstStyle/>
                    <a:p>
                      <a:r>
                        <a:rPr lang="en-US"/>
                        <a:t>Low</a:t>
                      </a:r>
                    </a:p>
                  </a:txBody>
                  <a:tcPr anchor="ctr"/>
                </a:tc>
                <a:extLst>
                  <a:ext uri="{0D108BD9-81ED-4DB2-BD59-A6C34878D82A}">
                    <a16:rowId xmlns:a16="http://schemas.microsoft.com/office/drawing/2014/main" val="2170342260"/>
                  </a:ext>
                </a:extLst>
              </a:tr>
              <a:tr h="0">
                <a:tc>
                  <a:txBody>
                    <a:bodyPr/>
                    <a:lstStyle/>
                    <a:p>
                      <a:r>
                        <a:rPr lang="en-US"/>
                        <a:t>Efficiency</a:t>
                      </a:r>
                    </a:p>
                  </a:txBody>
                  <a:tcPr anchor="ctr"/>
                </a:tc>
                <a:tc>
                  <a:txBody>
                    <a:bodyPr/>
                    <a:lstStyle/>
                    <a:p>
                      <a:r>
                        <a:rPr lang="en-US"/>
                        <a:t>High</a:t>
                      </a:r>
                    </a:p>
                  </a:txBody>
                  <a:tcPr anchor="ctr"/>
                </a:tc>
                <a:tc>
                  <a:txBody>
                    <a:bodyPr/>
                    <a:lstStyle/>
                    <a:p>
                      <a:r>
                        <a:rPr lang="en-US"/>
                        <a:t>Low</a:t>
                      </a:r>
                    </a:p>
                  </a:txBody>
                  <a:tcPr anchor="ctr"/>
                </a:tc>
                <a:extLst>
                  <a:ext uri="{0D108BD9-81ED-4DB2-BD59-A6C34878D82A}">
                    <a16:rowId xmlns:a16="http://schemas.microsoft.com/office/drawing/2014/main" val="3167639535"/>
                  </a:ext>
                </a:extLst>
              </a:tr>
              <a:tr h="0">
                <a:tc>
                  <a:txBody>
                    <a:bodyPr/>
                    <a:lstStyle/>
                    <a:p>
                      <a:r>
                        <a:rPr lang="en-US"/>
                        <a:t>Utilization</a:t>
                      </a:r>
                    </a:p>
                  </a:txBody>
                  <a:tcPr anchor="ctr"/>
                </a:tc>
                <a:tc>
                  <a:txBody>
                    <a:bodyPr/>
                    <a:lstStyle/>
                    <a:p>
                      <a:r>
                        <a:rPr lang="en-US"/>
                        <a:t>Better resource utilization</a:t>
                      </a:r>
                    </a:p>
                  </a:txBody>
                  <a:tcPr anchor="ctr"/>
                </a:tc>
                <a:tc>
                  <a:txBody>
                    <a:bodyPr/>
                    <a:lstStyle/>
                    <a:p>
                      <a:r>
                        <a:rPr lang="en-US" dirty="0"/>
                        <a:t>Poor resource utilization</a:t>
                      </a:r>
                    </a:p>
                  </a:txBody>
                  <a:tcPr anchor="ctr"/>
                </a:tc>
                <a:extLst>
                  <a:ext uri="{0D108BD9-81ED-4DB2-BD59-A6C34878D82A}">
                    <a16:rowId xmlns:a16="http://schemas.microsoft.com/office/drawing/2014/main" val="870296098"/>
                  </a:ext>
                </a:extLst>
              </a:tr>
            </a:tbl>
          </a:graphicData>
        </a:graphic>
      </p:graphicFrame>
    </p:spTree>
    <p:extLst>
      <p:ext uri="{BB962C8B-B14F-4D97-AF65-F5344CB8AC3E}">
        <p14:creationId xmlns:p14="http://schemas.microsoft.com/office/powerpoint/2010/main" val="3191294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52F43-357C-D06F-0ECA-A9026390E3AF}"/>
              </a:ext>
            </a:extLst>
          </p:cNvPr>
          <p:cNvSpPr>
            <a:spLocks noGrp="1"/>
          </p:cNvSpPr>
          <p:nvPr>
            <p:ph type="title"/>
          </p:nvPr>
        </p:nvSpPr>
        <p:spPr/>
        <p:txBody>
          <a:bodyPr/>
          <a:lstStyle/>
          <a:p>
            <a:r>
              <a:rPr lang="en-US" b="1" dirty="0"/>
              <a:t>Characteristics of Pipelining</a:t>
            </a:r>
            <a:endParaRPr lang="en-US" dirty="0"/>
          </a:p>
        </p:txBody>
      </p:sp>
      <p:sp>
        <p:nvSpPr>
          <p:cNvPr id="3" name="Content Placeholder 2">
            <a:extLst>
              <a:ext uri="{FF2B5EF4-FFF2-40B4-BE49-F238E27FC236}">
                <a16:creationId xmlns:a16="http://schemas.microsoft.com/office/drawing/2014/main" id="{6982C8F3-75E2-48D2-766F-C1F12B108134}"/>
              </a:ext>
            </a:extLst>
          </p:cNvPr>
          <p:cNvSpPr>
            <a:spLocks noGrp="1"/>
          </p:cNvSpPr>
          <p:nvPr>
            <p:ph idx="1"/>
          </p:nvPr>
        </p:nvSpPr>
        <p:spPr>
          <a:xfrm>
            <a:off x="1097280" y="1845734"/>
            <a:ext cx="10058400" cy="4315036"/>
          </a:xfrm>
        </p:spPr>
        <p:txBody>
          <a:bodyPr>
            <a:normAutofit/>
          </a:bodyPr>
          <a:lstStyle/>
          <a:p>
            <a:pPr>
              <a:spcBef>
                <a:spcPts val="200"/>
              </a:spcBef>
              <a:spcAft>
                <a:spcPts val="0"/>
              </a:spcAft>
              <a:buFont typeface="+mj-lt"/>
              <a:buAutoNum type="arabicPeriod"/>
            </a:pPr>
            <a:r>
              <a:rPr lang="en-US" b="1" dirty="0"/>
              <a:t>Multiple Instructions Executed Simultaneously: </a:t>
            </a:r>
            <a:r>
              <a:rPr lang="en-US" dirty="0"/>
              <a:t>Pipelining allows multiple instructions to be in different execution stages at the same time, improving CPU throughput.</a:t>
            </a:r>
          </a:p>
          <a:p>
            <a:pPr>
              <a:spcBef>
                <a:spcPts val="200"/>
              </a:spcBef>
              <a:spcAft>
                <a:spcPts val="0"/>
              </a:spcAft>
              <a:buFont typeface="+mj-lt"/>
              <a:buAutoNum type="arabicPeriod"/>
            </a:pPr>
            <a:r>
              <a:rPr lang="en-US" b="1" dirty="0"/>
              <a:t>Segmentation of the Instruction Cycle: </a:t>
            </a:r>
            <a:r>
              <a:rPr lang="en-US" dirty="0"/>
              <a:t>The instruction cycle is divided into distinct stages (e.g., Fetch, Decode, Execute, Memory, Write Back). Each stage performs a specific task.</a:t>
            </a:r>
          </a:p>
          <a:p>
            <a:pPr>
              <a:spcBef>
                <a:spcPts val="200"/>
              </a:spcBef>
              <a:spcAft>
                <a:spcPts val="0"/>
              </a:spcAft>
              <a:buFont typeface="+mj-lt"/>
              <a:buAutoNum type="arabicPeriod"/>
            </a:pPr>
            <a:r>
              <a:rPr lang="en-US" b="1" dirty="0"/>
              <a:t>Overlapping of Operations: </a:t>
            </a:r>
            <a:r>
              <a:rPr lang="en-US" dirty="0"/>
              <a:t>Different instructions are processed in different pipeline stages simultaneously, leading to efficient utilization of CPU resources.</a:t>
            </a:r>
          </a:p>
          <a:p>
            <a:pPr>
              <a:spcBef>
                <a:spcPts val="200"/>
              </a:spcBef>
              <a:spcAft>
                <a:spcPts val="0"/>
              </a:spcAft>
              <a:buFont typeface="+mj-lt"/>
              <a:buAutoNum type="arabicPeriod"/>
            </a:pPr>
            <a:r>
              <a:rPr lang="en-US" b="1" dirty="0"/>
              <a:t>Increased Throughput: </a:t>
            </a:r>
            <a:r>
              <a:rPr lang="en-US" dirty="0"/>
              <a:t>The number of instructions completed per unit time is higher compared to non-pipelined execution.</a:t>
            </a:r>
          </a:p>
          <a:p>
            <a:pPr>
              <a:spcBef>
                <a:spcPts val="200"/>
              </a:spcBef>
              <a:spcAft>
                <a:spcPts val="0"/>
              </a:spcAft>
              <a:buFont typeface="+mj-lt"/>
              <a:buAutoNum type="arabicPeriod"/>
            </a:pPr>
            <a:r>
              <a:rPr lang="en-US" b="1" dirty="0"/>
              <a:t>Reduced Execution Time: </a:t>
            </a:r>
            <a:r>
              <a:rPr lang="en-US" dirty="0"/>
              <a:t>Once the pipeline is full, an instruction is completed in nearly every cycle, reducing the average execution time per instruction.</a:t>
            </a:r>
          </a:p>
          <a:p>
            <a:pPr>
              <a:spcBef>
                <a:spcPts val="200"/>
              </a:spcBef>
              <a:spcAft>
                <a:spcPts val="0"/>
              </a:spcAft>
            </a:pPr>
            <a:endParaRPr lang="en-US" dirty="0"/>
          </a:p>
        </p:txBody>
      </p:sp>
    </p:spTree>
    <p:extLst>
      <p:ext uri="{BB962C8B-B14F-4D97-AF65-F5344CB8AC3E}">
        <p14:creationId xmlns:p14="http://schemas.microsoft.com/office/powerpoint/2010/main" val="2540465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BFB91-8516-94FA-90A2-7EB8FA892562}"/>
              </a:ext>
            </a:extLst>
          </p:cNvPr>
          <p:cNvSpPr>
            <a:spLocks noGrp="1"/>
          </p:cNvSpPr>
          <p:nvPr>
            <p:ph type="title"/>
          </p:nvPr>
        </p:nvSpPr>
        <p:spPr/>
        <p:txBody>
          <a:bodyPr/>
          <a:lstStyle/>
          <a:p>
            <a:r>
              <a:rPr lang="en-US" b="1" dirty="0"/>
              <a:t>Characteristics of Pipelining</a:t>
            </a:r>
            <a:endParaRPr lang="en-US" dirty="0"/>
          </a:p>
        </p:txBody>
      </p:sp>
      <p:sp>
        <p:nvSpPr>
          <p:cNvPr id="3" name="Content Placeholder 2">
            <a:extLst>
              <a:ext uri="{FF2B5EF4-FFF2-40B4-BE49-F238E27FC236}">
                <a16:creationId xmlns:a16="http://schemas.microsoft.com/office/drawing/2014/main" id="{9C75FB04-E6CF-178C-45C0-31F32E123593}"/>
              </a:ext>
            </a:extLst>
          </p:cNvPr>
          <p:cNvSpPr>
            <a:spLocks noGrp="1"/>
          </p:cNvSpPr>
          <p:nvPr>
            <p:ph idx="1"/>
          </p:nvPr>
        </p:nvSpPr>
        <p:spPr/>
        <p:txBody>
          <a:bodyPr/>
          <a:lstStyle/>
          <a:p>
            <a:pPr>
              <a:spcBef>
                <a:spcPts val="200"/>
              </a:spcBef>
              <a:spcAft>
                <a:spcPts val="0"/>
              </a:spcAft>
              <a:buFont typeface="+mj-lt"/>
              <a:buAutoNum type="arabicPeriod"/>
            </a:pPr>
            <a:r>
              <a:rPr lang="en-US" b="1"/>
              <a:t>Pipeline Depth (Stages Count): </a:t>
            </a:r>
            <a:r>
              <a:rPr lang="en-US"/>
              <a:t>The number of stages in a pipeline determines the depth of pipelining. More stages generally improve throughput but may increase complexity.</a:t>
            </a:r>
          </a:p>
          <a:p>
            <a:pPr>
              <a:spcBef>
                <a:spcPts val="200"/>
              </a:spcBef>
              <a:spcAft>
                <a:spcPts val="0"/>
              </a:spcAft>
              <a:buFont typeface="+mj-lt"/>
              <a:buAutoNum type="arabicPeriod"/>
            </a:pPr>
            <a:r>
              <a:rPr lang="en-US" b="1"/>
              <a:t>Pipeline Hazards: </a:t>
            </a:r>
            <a:r>
              <a:rPr lang="en-US"/>
              <a:t>Pipelining can face </a:t>
            </a:r>
            <a:r>
              <a:rPr lang="en-US" b="1"/>
              <a:t>structural hazards</a:t>
            </a:r>
            <a:r>
              <a:rPr lang="en-US"/>
              <a:t> (resource conflicts), </a:t>
            </a:r>
            <a:r>
              <a:rPr lang="en-US" b="1"/>
              <a:t>data hazards</a:t>
            </a:r>
            <a:r>
              <a:rPr lang="en-US"/>
              <a:t> (data dependencies), and </a:t>
            </a:r>
            <a:r>
              <a:rPr lang="en-US" b="1"/>
              <a:t>control hazards</a:t>
            </a:r>
            <a:r>
              <a:rPr lang="en-US"/>
              <a:t> (branch instructions).</a:t>
            </a:r>
          </a:p>
          <a:p>
            <a:pPr>
              <a:spcBef>
                <a:spcPts val="200"/>
              </a:spcBef>
              <a:spcAft>
                <a:spcPts val="0"/>
              </a:spcAft>
              <a:buFont typeface="+mj-lt"/>
              <a:buAutoNum type="arabicPeriod"/>
            </a:pPr>
            <a:r>
              <a:rPr lang="en-US" b="1"/>
              <a:t>Speedup Factor: </a:t>
            </a:r>
            <a:r>
              <a:rPr lang="en-US"/>
              <a:t>Ideally, a pipeline can achieve a speedup equal to the number of stages, but practical speedup is limited due to stalls and hazards.</a:t>
            </a:r>
          </a:p>
          <a:p>
            <a:pPr>
              <a:spcBef>
                <a:spcPts val="200"/>
              </a:spcBef>
              <a:spcAft>
                <a:spcPts val="0"/>
              </a:spcAft>
              <a:buFont typeface="+mj-lt"/>
              <a:buAutoNum type="arabicPeriod"/>
            </a:pPr>
            <a:r>
              <a:rPr lang="en-US" b="1"/>
              <a:t>Dependency Management: </a:t>
            </a:r>
            <a:r>
              <a:rPr lang="en-US"/>
              <a:t>Modern processors include techniques like forwarding and branch prediction to handle dependencies and improve pipeline efficiency.</a:t>
            </a:r>
          </a:p>
          <a:p>
            <a:pPr>
              <a:spcBef>
                <a:spcPts val="200"/>
              </a:spcBef>
              <a:spcAft>
                <a:spcPts val="0"/>
              </a:spcAft>
              <a:buFont typeface="+mj-lt"/>
              <a:buAutoNum type="arabicPeriod"/>
            </a:pPr>
            <a:r>
              <a:rPr lang="en-US" b="1"/>
              <a:t>Latency vs. Throughput Trade-off: </a:t>
            </a:r>
            <a:r>
              <a:rPr lang="en-US"/>
              <a:t>While pipelining improves instruction throughput, it does not reduce the execution time of a single instruction (latency remains the same).</a:t>
            </a:r>
            <a:endParaRPr lang="en-US" dirty="0"/>
          </a:p>
        </p:txBody>
      </p:sp>
    </p:spTree>
    <p:extLst>
      <p:ext uri="{BB962C8B-B14F-4D97-AF65-F5344CB8AC3E}">
        <p14:creationId xmlns:p14="http://schemas.microsoft.com/office/powerpoint/2010/main" val="3056318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617CA-8503-1271-B046-93876F830999}"/>
              </a:ext>
            </a:extLst>
          </p:cNvPr>
          <p:cNvSpPr>
            <a:spLocks noGrp="1"/>
          </p:cNvSpPr>
          <p:nvPr>
            <p:ph type="title"/>
          </p:nvPr>
        </p:nvSpPr>
        <p:spPr/>
        <p:txBody>
          <a:bodyPr/>
          <a:lstStyle/>
          <a:p>
            <a:r>
              <a:rPr lang="en-US" dirty="0"/>
              <a:t>Example: 8 Instructions in a 5-Stage Pipeline</a:t>
            </a:r>
          </a:p>
        </p:txBody>
      </p:sp>
      <p:sp>
        <p:nvSpPr>
          <p:cNvPr id="3" name="Content Placeholder 2">
            <a:extLst>
              <a:ext uri="{FF2B5EF4-FFF2-40B4-BE49-F238E27FC236}">
                <a16:creationId xmlns:a16="http://schemas.microsoft.com/office/drawing/2014/main" id="{AD31C36B-0B31-A5A1-28B4-65B309C9C219}"/>
              </a:ext>
            </a:extLst>
          </p:cNvPr>
          <p:cNvSpPr>
            <a:spLocks noGrp="1"/>
          </p:cNvSpPr>
          <p:nvPr>
            <p:ph idx="1"/>
          </p:nvPr>
        </p:nvSpPr>
        <p:spPr/>
        <p:txBody>
          <a:bodyPr/>
          <a:lstStyle/>
          <a:p>
            <a:r>
              <a:rPr lang="en-US" dirty="0"/>
              <a:t>We consider a </a:t>
            </a:r>
            <a:r>
              <a:rPr lang="en-US" b="1" dirty="0"/>
              <a:t>5-stage RISC pipeline</a:t>
            </a:r>
            <a:r>
              <a:rPr lang="en-US" dirty="0"/>
              <a:t> with the following stages:</a:t>
            </a:r>
          </a:p>
          <a:p>
            <a:pPr>
              <a:buFont typeface="+mj-lt"/>
              <a:buAutoNum type="arabicPeriod"/>
            </a:pPr>
            <a:r>
              <a:rPr lang="en-US" b="1" dirty="0"/>
              <a:t>IF (Instruction Fetch)</a:t>
            </a:r>
            <a:r>
              <a:rPr lang="en-US" dirty="0"/>
              <a:t> – Fetch instruction from memory.</a:t>
            </a:r>
          </a:p>
          <a:p>
            <a:pPr>
              <a:buFont typeface="+mj-lt"/>
              <a:buAutoNum type="arabicPeriod"/>
            </a:pPr>
            <a:r>
              <a:rPr lang="en-US" b="1" dirty="0"/>
              <a:t>ID (Instruction Decode)</a:t>
            </a:r>
            <a:r>
              <a:rPr lang="en-US" dirty="0"/>
              <a:t> – Decode instruction &amp; read registers.</a:t>
            </a:r>
          </a:p>
          <a:p>
            <a:pPr>
              <a:buFont typeface="+mj-lt"/>
              <a:buAutoNum type="arabicPeriod"/>
            </a:pPr>
            <a:r>
              <a:rPr lang="en-US" b="1" dirty="0"/>
              <a:t>EX (Execute)</a:t>
            </a:r>
            <a:r>
              <a:rPr lang="en-US" dirty="0"/>
              <a:t> – Perform ALU operation.</a:t>
            </a:r>
          </a:p>
          <a:p>
            <a:pPr>
              <a:buFont typeface="+mj-lt"/>
              <a:buAutoNum type="arabicPeriod"/>
            </a:pPr>
            <a:r>
              <a:rPr lang="en-US" b="1" dirty="0"/>
              <a:t>MEM (Memory Access)</a:t>
            </a:r>
            <a:r>
              <a:rPr lang="en-US" dirty="0"/>
              <a:t> – Read/write memory (for load/store).</a:t>
            </a:r>
          </a:p>
          <a:p>
            <a:pPr>
              <a:buFont typeface="+mj-lt"/>
              <a:buAutoNum type="arabicPeriod"/>
            </a:pPr>
            <a:r>
              <a:rPr lang="en-US" b="1" dirty="0"/>
              <a:t>WB (Write Back)</a:t>
            </a:r>
            <a:r>
              <a:rPr lang="en-US" dirty="0"/>
              <a:t> – Write results to registers.</a:t>
            </a:r>
          </a:p>
          <a:p>
            <a:endParaRPr lang="en-US" dirty="0"/>
          </a:p>
        </p:txBody>
      </p:sp>
    </p:spTree>
    <p:extLst>
      <p:ext uri="{BB962C8B-B14F-4D97-AF65-F5344CB8AC3E}">
        <p14:creationId xmlns:p14="http://schemas.microsoft.com/office/powerpoint/2010/main" val="2265913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031FE-1CAE-E1C2-4E1F-E83AFFE499AD}"/>
              </a:ext>
            </a:extLst>
          </p:cNvPr>
          <p:cNvSpPr>
            <a:spLocks noGrp="1"/>
          </p:cNvSpPr>
          <p:nvPr>
            <p:ph type="title"/>
          </p:nvPr>
        </p:nvSpPr>
        <p:spPr/>
        <p:txBody>
          <a:bodyPr/>
          <a:lstStyle/>
          <a:p>
            <a:r>
              <a:rPr lang="en-US" dirty="0"/>
              <a:t>Instructions in the Program</a:t>
            </a:r>
          </a:p>
        </p:txBody>
      </p:sp>
      <p:sp>
        <p:nvSpPr>
          <p:cNvPr id="3" name="Content Placeholder 2">
            <a:extLst>
              <a:ext uri="{FF2B5EF4-FFF2-40B4-BE49-F238E27FC236}">
                <a16:creationId xmlns:a16="http://schemas.microsoft.com/office/drawing/2014/main" id="{BCDEA384-4BC6-2E30-F86A-39F0918E6F24}"/>
              </a:ext>
            </a:extLst>
          </p:cNvPr>
          <p:cNvSpPr>
            <a:spLocks noGrp="1"/>
          </p:cNvSpPr>
          <p:nvPr>
            <p:ph idx="1"/>
          </p:nvPr>
        </p:nvSpPr>
        <p:spPr/>
        <p:txBody>
          <a:bodyPr/>
          <a:lstStyle/>
          <a:p>
            <a:pPr marL="457200" indent="-457200">
              <a:buFont typeface="+mj-lt"/>
              <a:buAutoNum type="arabicPeriod"/>
            </a:pPr>
            <a:r>
              <a:rPr lang="en-US" dirty="0"/>
              <a:t>LOAD R1, 0(R2) – Load value from memory to R1</a:t>
            </a:r>
          </a:p>
          <a:p>
            <a:pPr marL="457200" indent="-457200">
              <a:buFont typeface="+mj-lt"/>
              <a:buAutoNum type="arabicPeriod"/>
            </a:pPr>
            <a:r>
              <a:rPr lang="en-US" dirty="0"/>
              <a:t>ADD R3, R1, R4 – Add R1 and R4, store in R3</a:t>
            </a:r>
          </a:p>
          <a:p>
            <a:pPr marL="457200" indent="-457200">
              <a:buFont typeface="+mj-lt"/>
              <a:buAutoNum type="arabicPeriod"/>
            </a:pPr>
            <a:r>
              <a:rPr lang="en-US" dirty="0"/>
              <a:t>SUB R5, R3, R6 – Subtract R6 from R3, store in R5</a:t>
            </a:r>
          </a:p>
          <a:p>
            <a:pPr marL="457200" indent="-457200">
              <a:buFont typeface="+mj-lt"/>
              <a:buAutoNum type="arabicPeriod"/>
            </a:pPr>
            <a:r>
              <a:rPr lang="en-US" dirty="0"/>
              <a:t>MUL R7, R5, R8 – Multiply R5 and R8, store in R7</a:t>
            </a:r>
          </a:p>
          <a:p>
            <a:pPr marL="457200" indent="-457200">
              <a:buFont typeface="+mj-lt"/>
              <a:buAutoNum type="arabicPeriod"/>
            </a:pPr>
            <a:r>
              <a:rPr lang="en-US" dirty="0"/>
              <a:t>AND R9, R7, R10 – Bitwise AND on R7 and R10, store in R9</a:t>
            </a:r>
          </a:p>
          <a:p>
            <a:pPr marL="457200" indent="-457200">
              <a:buFont typeface="+mj-lt"/>
              <a:buAutoNum type="arabicPeriod"/>
            </a:pPr>
            <a:r>
              <a:rPr lang="en-US" dirty="0"/>
              <a:t>OR R11, R9, R12 – Bitwise OR on R9 and R12, store in R11</a:t>
            </a:r>
          </a:p>
          <a:p>
            <a:pPr marL="457200" indent="-457200">
              <a:buFont typeface="+mj-lt"/>
              <a:buAutoNum type="arabicPeriod"/>
            </a:pPr>
            <a:r>
              <a:rPr lang="en-US" dirty="0"/>
              <a:t>XOR R16, R11, R14 – XOR operation, store in R16</a:t>
            </a:r>
          </a:p>
          <a:p>
            <a:pPr marL="457200" indent="-457200">
              <a:buFont typeface="+mj-lt"/>
              <a:buAutoNum type="arabicPeriod"/>
            </a:pPr>
            <a:r>
              <a:rPr lang="en-US" dirty="0"/>
              <a:t>STORE R16, 0(R15) – Store R16 into memory</a:t>
            </a:r>
          </a:p>
        </p:txBody>
      </p:sp>
    </p:spTree>
    <p:extLst>
      <p:ext uri="{BB962C8B-B14F-4D97-AF65-F5344CB8AC3E}">
        <p14:creationId xmlns:p14="http://schemas.microsoft.com/office/powerpoint/2010/main" val="2195270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2FF7D-3B2F-C996-570B-28A2C4E28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6DEB9-1A6F-B386-0E16-199227E44894}"/>
              </a:ext>
            </a:extLst>
          </p:cNvPr>
          <p:cNvSpPr>
            <a:spLocks noGrp="1"/>
          </p:cNvSpPr>
          <p:nvPr>
            <p:ph type="title"/>
          </p:nvPr>
        </p:nvSpPr>
        <p:spPr/>
        <p:txBody>
          <a:bodyPr/>
          <a:lstStyle/>
          <a:p>
            <a:r>
              <a:rPr lang="en-US" dirty="0"/>
              <a:t>Pipeline Execution Table (Clock Cycles)</a:t>
            </a:r>
          </a:p>
        </p:txBody>
      </p:sp>
      <p:graphicFrame>
        <p:nvGraphicFramePr>
          <p:cNvPr id="4" name="Content Placeholder 3">
            <a:extLst>
              <a:ext uri="{FF2B5EF4-FFF2-40B4-BE49-F238E27FC236}">
                <a16:creationId xmlns:a16="http://schemas.microsoft.com/office/drawing/2014/main" id="{5043E438-D14C-9B0C-E782-DBC817F6F88B}"/>
              </a:ext>
            </a:extLst>
          </p:cNvPr>
          <p:cNvGraphicFramePr>
            <a:graphicFrameLocks noGrp="1"/>
          </p:cNvGraphicFramePr>
          <p:nvPr>
            <p:ph idx="1"/>
            <p:extLst>
              <p:ext uri="{D42A27DB-BD31-4B8C-83A1-F6EECF244321}">
                <p14:modId xmlns:p14="http://schemas.microsoft.com/office/powerpoint/2010/main" val="1232907309"/>
              </p:ext>
            </p:extLst>
          </p:nvPr>
        </p:nvGraphicFramePr>
        <p:xfrm>
          <a:off x="1097280" y="1845982"/>
          <a:ext cx="9960585" cy="4022723"/>
        </p:xfrm>
        <a:graphic>
          <a:graphicData uri="http://schemas.openxmlformats.org/drawingml/2006/table">
            <a:tbl>
              <a:tblPr>
                <a:tableStyleId>{5940675A-B579-460E-94D1-54222C63F5DA}</a:tableStyleId>
              </a:tblPr>
              <a:tblGrid>
                <a:gridCol w="1204761">
                  <a:extLst>
                    <a:ext uri="{9D8B030D-6E8A-4147-A177-3AD203B41FA5}">
                      <a16:colId xmlns:a16="http://schemas.microsoft.com/office/drawing/2014/main" val="1789666622"/>
                    </a:ext>
                  </a:extLst>
                </a:gridCol>
                <a:gridCol w="729652">
                  <a:extLst>
                    <a:ext uri="{9D8B030D-6E8A-4147-A177-3AD203B41FA5}">
                      <a16:colId xmlns:a16="http://schemas.microsoft.com/office/drawing/2014/main" val="3133596065"/>
                    </a:ext>
                  </a:extLst>
                </a:gridCol>
                <a:gridCol w="729652">
                  <a:extLst>
                    <a:ext uri="{9D8B030D-6E8A-4147-A177-3AD203B41FA5}">
                      <a16:colId xmlns:a16="http://schemas.microsoft.com/office/drawing/2014/main" val="3440367897"/>
                    </a:ext>
                  </a:extLst>
                </a:gridCol>
                <a:gridCol w="729652">
                  <a:extLst>
                    <a:ext uri="{9D8B030D-6E8A-4147-A177-3AD203B41FA5}">
                      <a16:colId xmlns:a16="http://schemas.microsoft.com/office/drawing/2014/main" val="1081675666"/>
                    </a:ext>
                  </a:extLst>
                </a:gridCol>
                <a:gridCol w="729652">
                  <a:extLst>
                    <a:ext uri="{9D8B030D-6E8A-4147-A177-3AD203B41FA5}">
                      <a16:colId xmlns:a16="http://schemas.microsoft.com/office/drawing/2014/main" val="3851552325"/>
                    </a:ext>
                  </a:extLst>
                </a:gridCol>
                <a:gridCol w="729652">
                  <a:extLst>
                    <a:ext uri="{9D8B030D-6E8A-4147-A177-3AD203B41FA5}">
                      <a16:colId xmlns:a16="http://schemas.microsoft.com/office/drawing/2014/main" val="1780181361"/>
                    </a:ext>
                  </a:extLst>
                </a:gridCol>
                <a:gridCol w="729652">
                  <a:extLst>
                    <a:ext uri="{9D8B030D-6E8A-4147-A177-3AD203B41FA5}">
                      <a16:colId xmlns:a16="http://schemas.microsoft.com/office/drawing/2014/main" val="3341097562"/>
                    </a:ext>
                  </a:extLst>
                </a:gridCol>
                <a:gridCol w="729652">
                  <a:extLst>
                    <a:ext uri="{9D8B030D-6E8A-4147-A177-3AD203B41FA5}">
                      <a16:colId xmlns:a16="http://schemas.microsoft.com/office/drawing/2014/main" val="1446946078"/>
                    </a:ext>
                  </a:extLst>
                </a:gridCol>
                <a:gridCol w="729652">
                  <a:extLst>
                    <a:ext uri="{9D8B030D-6E8A-4147-A177-3AD203B41FA5}">
                      <a16:colId xmlns:a16="http://schemas.microsoft.com/office/drawing/2014/main" val="2526348805"/>
                    </a:ext>
                  </a:extLst>
                </a:gridCol>
                <a:gridCol w="729652">
                  <a:extLst>
                    <a:ext uri="{9D8B030D-6E8A-4147-A177-3AD203B41FA5}">
                      <a16:colId xmlns:a16="http://schemas.microsoft.com/office/drawing/2014/main" val="2357109330"/>
                    </a:ext>
                  </a:extLst>
                </a:gridCol>
                <a:gridCol w="729652">
                  <a:extLst>
                    <a:ext uri="{9D8B030D-6E8A-4147-A177-3AD203B41FA5}">
                      <a16:colId xmlns:a16="http://schemas.microsoft.com/office/drawing/2014/main" val="377549069"/>
                    </a:ext>
                  </a:extLst>
                </a:gridCol>
                <a:gridCol w="729652">
                  <a:extLst>
                    <a:ext uri="{9D8B030D-6E8A-4147-A177-3AD203B41FA5}">
                      <a16:colId xmlns:a16="http://schemas.microsoft.com/office/drawing/2014/main" val="478108555"/>
                    </a:ext>
                  </a:extLst>
                </a:gridCol>
                <a:gridCol w="729652">
                  <a:extLst>
                    <a:ext uri="{9D8B030D-6E8A-4147-A177-3AD203B41FA5}">
                      <a16:colId xmlns:a16="http://schemas.microsoft.com/office/drawing/2014/main" val="1617856863"/>
                    </a:ext>
                  </a:extLst>
                </a:gridCol>
              </a:tblGrid>
              <a:tr h="726325">
                <a:tc>
                  <a:txBody>
                    <a:bodyPr/>
                    <a:lstStyle/>
                    <a:p>
                      <a:r>
                        <a:rPr lang="en-US" sz="1600" dirty="0"/>
                        <a:t>Clock Cycle →</a:t>
                      </a:r>
                    </a:p>
                  </a:txBody>
                  <a:tcPr marL="55871" marR="55871" marT="27936" marB="27936" anchor="ctr"/>
                </a:tc>
                <a:tc>
                  <a:txBody>
                    <a:bodyPr/>
                    <a:lstStyle/>
                    <a:p>
                      <a:r>
                        <a:rPr lang="en-US" sz="1600" dirty="0"/>
                        <a:t>1</a:t>
                      </a:r>
                    </a:p>
                  </a:txBody>
                  <a:tcPr marL="55871" marR="55871" marT="27936" marB="27936" anchor="ctr"/>
                </a:tc>
                <a:tc>
                  <a:txBody>
                    <a:bodyPr/>
                    <a:lstStyle/>
                    <a:p>
                      <a:r>
                        <a:rPr lang="en-US" sz="1600" dirty="0"/>
                        <a:t>2</a:t>
                      </a:r>
                    </a:p>
                  </a:txBody>
                  <a:tcPr marL="55871" marR="55871" marT="27936" marB="27936" anchor="ctr"/>
                </a:tc>
                <a:tc>
                  <a:txBody>
                    <a:bodyPr/>
                    <a:lstStyle/>
                    <a:p>
                      <a:r>
                        <a:rPr lang="en-US" sz="1600"/>
                        <a:t>3</a:t>
                      </a:r>
                    </a:p>
                  </a:txBody>
                  <a:tcPr marL="55871" marR="55871" marT="27936" marB="27936" anchor="ctr"/>
                </a:tc>
                <a:tc>
                  <a:txBody>
                    <a:bodyPr/>
                    <a:lstStyle/>
                    <a:p>
                      <a:r>
                        <a:rPr lang="en-US" sz="1600" dirty="0"/>
                        <a:t>4</a:t>
                      </a:r>
                    </a:p>
                  </a:txBody>
                  <a:tcPr marL="55871" marR="55871" marT="27936" marB="27936" anchor="ctr"/>
                </a:tc>
                <a:tc>
                  <a:txBody>
                    <a:bodyPr/>
                    <a:lstStyle/>
                    <a:p>
                      <a:r>
                        <a:rPr lang="en-US" sz="1600"/>
                        <a:t>5</a:t>
                      </a:r>
                    </a:p>
                  </a:txBody>
                  <a:tcPr marL="55871" marR="55871" marT="27936" marB="27936" anchor="ctr"/>
                </a:tc>
                <a:tc>
                  <a:txBody>
                    <a:bodyPr/>
                    <a:lstStyle/>
                    <a:p>
                      <a:r>
                        <a:rPr lang="en-US" sz="1600"/>
                        <a:t>6</a:t>
                      </a:r>
                    </a:p>
                  </a:txBody>
                  <a:tcPr marL="55871" marR="55871" marT="27936" marB="27936" anchor="ctr"/>
                </a:tc>
                <a:tc>
                  <a:txBody>
                    <a:bodyPr/>
                    <a:lstStyle/>
                    <a:p>
                      <a:r>
                        <a:rPr lang="en-US" sz="1600" dirty="0"/>
                        <a:t>7</a:t>
                      </a:r>
                    </a:p>
                  </a:txBody>
                  <a:tcPr marL="55871" marR="55871" marT="27936" marB="27936" anchor="ctr"/>
                </a:tc>
                <a:tc>
                  <a:txBody>
                    <a:bodyPr/>
                    <a:lstStyle/>
                    <a:p>
                      <a:r>
                        <a:rPr lang="en-US" sz="1600"/>
                        <a:t>8</a:t>
                      </a:r>
                    </a:p>
                  </a:txBody>
                  <a:tcPr marL="55871" marR="55871" marT="27936" marB="27936" anchor="ctr"/>
                </a:tc>
                <a:tc>
                  <a:txBody>
                    <a:bodyPr/>
                    <a:lstStyle/>
                    <a:p>
                      <a:r>
                        <a:rPr lang="en-US" sz="1600"/>
                        <a:t>9</a:t>
                      </a:r>
                    </a:p>
                  </a:txBody>
                  <a:tcPr marL="55871" marR="55871" marT="27936" marB="27936" anchor="ctr"/>
                </a:tc>
                <a:tc>
                  <a:txBody>
                    <a:bodyPr/>
                    <a:lstStyle/>
                    <a:p>
                      <a:r>
                        <a:rPr lang="en-US" sz="1600" dirty="0"/>
                        <a:t>10</a:t>
                      </a:r>
                    </a:p>
                  </a:txBody>
                  <a:tcPr marL="55871" marR="55871" marT="27936" marB="27936" anchor="ctr"/>
                </a:tc>
                <a:tc>
                  <a:txBody>
                    <a:bodyPr/>
                    <a:lstStyle/>
                    <a:p>
                      <a:r>
                        <a:rPr lang="en-US" sz="1600" dirty="0"/>
                        <a:t>11</a:t>
                      </a:r>
                    </a:p>
                  </a:txBody>
                  <a:tcPr marL="55871" marR="55871" marT="27936" marB="27936" anchor="ctr"/>
                </a:tc>
                <a:tc>
                  <a:txBody>
                    <a:bodyPr/>
                    <a:lstStyle/>
                    <a:p>
                      <a:r>
                        <a:rPr lang="en-US" sz="1600" dirty="0"/>
                        <a:t>12</a:t>
                      </a:r>
                    </a:p>
                  </a:txBody>
                  <a:tcPr marL="55871" marR="55871" marT="27936" marB="27936" anchor="ctr"/>
                </a:tc>
                <a:extLst>
                  <a:ext uri="{0D108BD9-81ED-4DB2-BD59-A6C34878D82A}">
                    <a16:rowId xmlns:a16="http://schemas.microsoft.com/office/drawing/2014/main" val="2561826244"/>
                  </a:ext>
                </a:extLst>
              </a:tr>
              <a:tr h="391098">
                <a:tc>
                  <a:txBody>
                    <a:bodyPr/>
                    <a:lstStyle/>
                    <a:p>
                      <a:r>
                        <a:rPr lang="en-US" sz="1600" b="1"/>
                        <a:t>LOAD R1</a:t>
                      </a:r>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a:t>WB</a:t>
                      </a:r>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extLst>
                  <a:ext uri="{0D108BD9-81ED-4DB2-BD59-A6C34878D82A}">
                    <a16:rowId xmlns:a16="http://schemas.microsoft.com/office/drawing/2014/main" val="4123436636"/>
                  </a:ext>
                </a:extLst>
              </a:tr>
              <a:tr h="391098">
                <a:tc>
                  <a:txBody>
                    <a:bodyPr/>
                    <a:lstStyle/>
                    <a:p>
                      <a:r>
                        <a:rPr lang="en-US" sz="1600" b="1"/>
                        <a:t>ADD R3</a:t>
                      </a:r>
                      <a:endParaRPr lang="en-US" sz="1600"/>
                    </a:p>
                  </a:txBody>
                  <a:tcPr marL="55871" marR="55871" marT="27936" marB="27936" anchor="ctr"/>
                </a:tc>
                <a:tc>
                  <a:txBody>
                    <a:bodyPr/>
                    <a:lstStyle/>
                    <a:p>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a:t>WB</a:t>
                      </a:r>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extLst>
                  <a:ext uri="{0D108BD9-81ED-4DB2-BD59-A6C34878D82A}">
                    <a16:rowId xmlns:a16="http://schemas.microsoft.com/office/drawing/2014/main" val="2774671419"/>
                  </a:ext>
                </a:extLst>
              </a:tr>
              <a:tr h="391098">
                <a:tc>
                  <a:txBody>
                    <a:bodyPr/>
                    <a:lstStyle/>
                    <a:p>
                      <a:r>
                        <a:rPr lang="en-US" sz="1600" b="1"/>
                        <a:t>SUB R5</a:t>
                      </a:r>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a:t>WB</a:t>
                      </a:r>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extLst>
                  <a:ext uri="{0D108BD9-81ED-4DB2-BD59-A6C34878D82A}">
                    <a16:rowId xmlns:a16="http://schemas.microsoft.com/office/drawing/2014/main" val="3586871749"/>
                  </a:ext>
                </a:extLst>
              </a:tr>
              <a:tr h="391098">
                <a:tc>
                  <a:txBody>
                    <a:bodyPr/>
                    <a:lstStyle/>
                    <a:p>
                      <a:r>
                        <a:rPr lang="en-US" sz="1600" b="1"/>
                        <a:t>MUL R7</a:t>
                      </a:r>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a:t>WB</a:t>
                      </a:r>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extLst>
                  <a:ext uri="{0D108BD9-81ED-4DB2-BD59-A6C34878D82A}">
                    <a16:rowId xmlns:a16="http://schemas.microsoft.com/office/drawing/2014/main" val="1920803087"/>
                  </a:ext>
                </a:extLst>
              </a:tr>
              <a:tr h="391098">
                <a:tc>
                  <a:txBody>
                    <a:bodyPr/>
                    <a:lstStyle/>
                    <a:p>
                      <a:r>
                        <a:rPr lang="en-US" sz="1600" b="1"/>
                        <a:t>AND R9</a:t>
                      </a:r>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a:t>WB</a:t>
                      </a:r>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extLst>
                  <a:ext uri="{0D108BD9-81ED-4DB2-BD59-A6C34878D82A}">
                    <a16:rowId xmlns:a16="http://schemas.microsoft.com/office/drawing/2014/main" val="123017019"/>
                  </a:ext>
                </a:extLst>
              </a:tr>
              <a:tr h="391098">
                <a:tc>
                  <a:txBody>
                    <a:bodyPr/>
                    <a:lstStyle/>
                    <a:p>
                      <a:r>
                        <a:rPr lang="en-US" sz="1600" b="1"/>
                        <a:t>OR R11</a:t>
                      </a:r>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a:t>WB</a:t>
                      </a:r>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extLst>
                  <a:ext uri="{0D108BD9-81ED-4DB2-BD59-A6C34878D82A}">
                    <a16:rowId xmlns:a16="http://schemas.microsoft.com/office/drawing/2014/main" val="1897683629"/>
                  </a:ext>
                </a:extLst>
              </a:tr>
              <a:tr h="391098">
                <a:tc>
                  <a:txBody>
                    <a:bodyPr/>
                    <a:lstStyle/>
                    <a:p>
                      <a:r>
                        <a:rPr lang="en-US" sz="1600" b="1" dirty="0"/>
                        <a:t>XOR R16</a:t>
                      </a:r>
                      <a:endParaRPr lang="en-US" sz="1600" dirty="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a:t>WB</a:t>
                      </a:r>
                    </a:p>
                  </a:txBody>
                  <a:tcPr marL="55871" marR="55871" marT="27936" marB="27936" anchor="ctr"/>
                </a:tc>
                <a:tc>
                  <a:txBody>
                    <a:bodyPr/>
                    <a:lstStyle/>
                    <a:p>
                      <a:endParaRPr lang="en-US" sz="1600"/>
                    </a:p>
                  </a:txBody>
                  <a:tcPr marL="55871" marR="55871" marT="27936" marB="27936" anchor="ctr"/>
                </a:tc>
                <a:extLst>
                  <a:ext uri="{0D108BD9-81ED-4DB2-BD59-A6C34878D82A}">
                    <a16:rowId xmlns:a16="http://schemas.microsoft.com/office/drawing/2014/main" val="382447259"/>
                  </a:ext>
                </a:extLst>
              </a:tr>
              <a:tr h="558712">
                <a:tc>
                  <a:txBody>
                    <a:bodyPr/>
                    <a:lstStyle/>
                    <a:p>
                      <a:r>
                        <a:rPr lang="en-US" sz="1600" b="1" dirty="0"/>
                        <a:t>STORE R16</a:t>
                      </a:r>
                      <a:endParaRPr lang="en-US" sz="1600" dirty="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endParaRPr lang="en-US" sz="1600"/>
                    </a:p>
                  </a:txBody>
                  <a:tcPr marL="55871" marR="55871" marT="27936" marB="27936" anchor="ctr"/>
                </a:tc>
                <a:tc>
                  <a:txBody>
                    <a:bodyPr/>
                    <a:lstStyle/>
                    <a:p>
                      <a:r>
                        <a:rPr lang="en-US" sz="1600"/>
                        <a:t>IF</a:t>
                      </a:r>
                    </a:p>
                  </a:txBody>
                  <a:tcPr marL="55871" marR="55871" marT="27936" marB="27936" anchor="ctr"/>
                </a:tc>
                <a:tc>
                  <a:txBody>
                    <a:bodyPr/>
                    <a:lstStyle/>
                    <a:p>
                      <a:r>
                        <a:rPr lang="en-US" sz="1600"/>
                        <a:t>ID</a:t>
                      </a:r>
                    </a:p>
                  </a:txBody>
                  <a:tcPr marL="55871" marR="55871" marT="27936" marB="27936" anchor="ctr"/>
                </a:tc>
                <a:tc>
                  <a:txBody>
                    <a:bodyPr/>
                    <a:lstStyle/>
                    <a:p>
                      <a:r>
                        <a:rPr lang="en-US" sz="1600"/>
                        <a:t>EX</a:t>
                      </a:r>
                    </a:p>
                  </a:txBody>
                  <a:tcPr marL="55871" marR="55871" marT="27936" marB="27936" anchor="ctr"/>
                </a:tc>
                <a:tc>
                  <a:txBody>
                    <a:bodyPr/>
                    <a:lstStyle/>
                    <a:p>
                      <a:r>
                        <a:rPr lang="en-US" sz="1600"/>
                        <a:t>MEM</a:t>
                      </a:r>
                    </a:p>
                  </a:txBody>
                  <a:tcPr marL="55871" marR="55871" marT="27936" marB="27936" anchor="ctr"/>
                </a:tc>
                <a:tc>
                  <a:txBody>
                    <a:bodyPr/>
                    <a:lstStyle/>
                    <a:p>
                      <a:r>
                        <a:rPr lang="en-US" sz="1600" dirty="0"/>
                        <a:t>WB</a:t>
                      </a:r>
                    </a:p>
                  </a:txBody>
                  <a:tcPr marL="55871" marR="55871" marT="27936" marB="27936" anchor="ctr"/>
                </a:tc>
                <a:extLst>
                  <a:ext uri="{0D108BD9-81ED-4DB2-BD59-A6C34878D82A}">
                    <a16:rowId xmlns:a16="http://schemas.microsoft.com/office/drawing/2014/main" val="772835820"/>
                  </a:ext>
                </a:extLst>
              </a:tr>
            </a:tbl>
          </a:graphicData>
        </a:graphic>
      </p:graphicFrame>
    </p:spTree>
    <p:extLst>
      <p:ext uri="{BB962C8B-B14F-4D97-AF65-F5344CB8AC3E}">
        <p14:creationId xmlns:p14="http://schemas.microsoft.com/office/powerpoint/2010/main" val="320881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2E47-501F-D809-B844-ABCFD3CA8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833DB-8B3F-78CC-CCFA-3FABCFAE414A}"/>
              </a:ext>
            </a:extLst>
          </p:cNvPr>
          <p:cNvSpPr>
            <a:spLocks noGrp="1"/>
          </p:cNvSpPr>
          <p:nvPr>
            <p:ph type="title"/>
          </p:nvPr>
        </p:nvSpPr>
        <p:spPr/>
        <p:txBody>
          <a:bodyPr/>
          <a:lstStyle/>
          <a:p>
            <a:r>
              <a:rPr lang="en-US" dirty="0"/>
              <a:t>Observations</a:t>
            </a:r>
          </a:p>
        </p:txBody>
      </p:sp>
      <p:sp>
        <p:nvSpPr>
          <p:cNvPr id="3" name="Content Placeholder 2">
            <a:extLst>
              <a:ext uri="{FF2B5EF4-FFF2-40B4-BE49-F238E27FC236}">
                <a16:creationId xmlns:a16="http://schemas.microsoft.com/office/drawing/2014/main" id="{70591B1B-789D-C4C0-083C-AC606791A1AC}"/>
              </a:ext>
            </a:extLst>
          </p:cNvPr>
          <p:cNvSpPr>
            <a:spLocks noGrp="1"/>
          </p:cNvSpPr>
          <p:nvPr>
            <p:ph idx="1"/>
          </p:nvPr>
        </p:nvSpPr>
        <p:spPr/>
        <p:txBody>
          <a:bodyPr/>
          <a:lstStyle/>
          <a:p>
            <a:r>
              <a:rPr lang="en-US" dirty="0"/>
              <a:t>Instruction Overlap: Each instruction starts before the previous one finishes, improving efficiency.</a:t>
            </a:r>
          </a:p>
          <a:p>
            <a:r>
              <a:rPr lang="en-US" dirty="0"/>
              <a:t>Speedup Factor: Instead of taking 8 × 5 = 40 cycles in a serial execution, pipelining completes all 8 instructions in 12 cycles.</a:t>
            </a:r>
          </a:p>
          <a:p>
            <a:r>
              <a:rPr lang="en-US" dirty="0"/>
              <a:t>Hazards &amp; Dependencies: If dependencies exist (e.g., ADD R3, R1, R4 depends on LOAD R1), stalls or forwarding techniques are needed to avoid incorrect results.</a:t>
            </a:r>
          </a:p>
        </p:txBody>
      </p:sp>
    </p:spTree>
    <p:extLst>
      <p:ext uri="{BB962C8B-B14F-4D97-AF65-F5344CB8AC3E}">
        <p14:creationId xmlns:p14="http://schemas.microsoft.com/office/powerpoint/2010/main" val="1976130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66144-5C01-67D6-D391-02539B387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5266C-574A-EE3F-E901-720DCF26CF26}"/>
              </a:ext>
            </a:extLst>
          </p:cNvPr>
          <p:cNvSpPr>
            <a:spLocks noGrp="1"/>
          </p:cNvSpPr>
          <p:nvPr>
            <p:ph type="title"/>
          </p:nvPr>
        </p:nvSpPr>
        <p:spPr/>
        <p:txBody>
          <a:bodyPr/>
          <a:lstStyle/>
          <a:p>
            <a:r>
              <a:rPr lang="en-US" dirty="0"/>
              <a:t>Space-Time Diagram</a:t>
            </a:r>
          </a:p>
        </p:txBody>
      </p:sp>
      <p:sp>
        <p:nvSpPr>
          <p:cNvPr id="3" name="Content Placeholder 2">
            <a:extLst>
              <a:ext uri="{FF2B5EF4-FFF2-40B4-BE49-F238E27FC236}">
                <a16:creationId xmlns:a16="http://schemas.microsoft.com/office/drawing/2014/main" id="{2FCB6607-7282-9D49-C5E2-A9DCB3E33D11}"/>
              </a:ext>
            </a:extLst>
          </p:cNvPr>
          <p:cNvSpPr>
            <a:spLocks noGrp="1"/>
          </p:cNvSpPr>
          <p:nvPr>
            <p:ph idx="1"/>
          </p:nvPr>
        </p:nvSpPr>
        <p:spPr/>
        <p:txBody>
          <a:bodyPr/>
          <a:lstStyle/>
          <a:p>
            <a:r>
              <a:rPr lang="en-US" dirty="0"/>
              <a:t>A </a:t>
            </a:r>
            <a:r>
              <a:rPr lang="en-US" b="1" dirty="0"/>
              <a:t>Space-Time Diagram</a:t>
            </a:r>
            <a:r>
              <a:rPr lang="en-US" dirty="0"/>
              <a:t> represents how instructions progress through the pipeline </a:t>
            </a:r>
            <a:r>
              <a:rPr lang="en-US" b="1" dirty="0"/>
              <a:t>over clock cycles</a:t>
            </a:r>
            <a:r>
              <a:rPr lang="en-US" dirty="0"/>
              <a:t>.</a:t>
            </a:r>
          </a:p>
        </p:txBody>
      </p:sp>
      <p:graphicFrame>
        <p:nvGraphicFramePr>
          <p:cNvPr id="4" name="Content Placeholder 3">
            <a:extLst>
              <a:ext uri="{FF2B5EF4-FFF2-40B4-BE49-F238E27FC236}">
                <a16:creationId xmlns:a16="http://schemas.microsoft.com/office/drawing/2014/main" id="{E69A7F97-819B-657F-3FF2-3357401A7084}"/>
              </a:ext>
            </a:extLst>
          </p:cNvPr>
          <p:cNvGraphicFramePr>
            <a:graphicFrameLocks/>
          </p:cNvGraphicFramePr>
          <p:nvPr>
            <p:extLst>
              <p:ext uri="{D42A27DB-BD31-4B8C-83A1-F6EECF244321}">
                <p14:modId xmlns:p14="http://schemas.microsoft.com/office/powerpoint/2010/main" val="3682021107"/>
              </p:ext>
            </p:extLst>
          </p:nvPr>
        </p:nvGraphicFramePr>
        <p:xfrm>
          <a:off x="1097279" y="2571750"/>
          <a:ext cx="9673499" cy="3296954"/>
        </p:xfrm>
        <a:graphic>
          <a:graphicData uri="http://schemas.openxmlformats.org/drawingml/2006/table">
            <a:tbl>
              <a:tblPr>
                <a:tableStyleId>{5940675A-B579-460E-94D1-54222C63F5DA}</a:tableStyleId>
              </a:tblPr>
              <a:tblGrid>
                <a:gridCol w="1146191">
                  <a:extLst>
                    <a:ext uri="{9D8B030D-6E8A-4147-A177-3AD203B41FA5}">
                      <a16:colId xmlns:a16="http://schemas.microsoft.com/office/drawing/2014/main" val="1789666622"/>
                    </a:ext>
                  </a:extLst>
                </a:gridCol>
                <a:gridCol w="710609">
                  <a:extLst>
                    <a:ext uri="{9D8B030D-6E8A-4147-A177-3AD203B41FA5}">
                      <a16:colId xmlns:a16="http://schemas.microsoft.com/office/drawing/2014/main" val="3133596065"/>
                    </a:ext>
                  </a:extLst>
                </a:gridCol>
                <a:gridCol w="710609">
                  <a:extLst>
                    <a:ext uri="{9D8B030D-6E8A-4147-A177-3AD203B41FA5}">
                      <a16:colId xmlns:a16="http://schemas.microsoft.com/office/drawing/2014/main" val="3440367897"/>
                    </a:ext>
                  </a:extLst>
                </a:gridCol>
                <a:gridCol w="710609">
                  <a:extLst>
                    <a:ext uri="{9D8B030D-6E8A-4147-A177-3AD203B41FA5}">
                      <a16:colId xmlns:a16="http://schemas.microsoft.com/office/drawing/2014/main" val="1081675666"/>
                    </a:ext>
                  </a:extLst>
                </a:gridCol>
                <a:gridCol w="710609">
                  <a:extLst>
                    <a:ext uri="{9D8B030D-6E8A-4147-A177-3AD203B41FA5}">
                      <a16:colId xmlns:a16="http://schemas.microsoft.com/office/drawing/2014/main" val="3851552325"/>
                    </a:ext>
                  </a:extLst>
                </a:gridCol>
                <a:gridCol w="710609">
                  <a:extLst>
                    <a:ext uri="{9D8B030D-6E8A-4147-A177-3AD203B41FA5}">
                      <a16:colId xmlns:a16="http://schemas.microsoft.com/office/drawing/2014/main" val="1780181361"/>
                    </a:ext>
                  </a:extLst>
                </a:gridCol>
                <a:gridCol w="710609">
                  <a:extLst>
                    <a:ext uri="{9D8B030D-6E8A-4147-A177-3AD203B41FA5}">
                      <a16:colId xmlns:a16="http://schemas.microsoft.com/office/drawing/2014/main" val="3341097562"/>
                    </a:ext>
                  </a:extLst>
                </a:gridCol>
                <a:gridCol w="710609">
                  <a:extLst>
                    <a:ext uri="{9D8B030D-6E8A-4147-A177-3AD203B41FA5}">
                      <a16:colId xmlns:a16="http://schemas.microsoft.com/office/drawing/2014/main" val="1446946078"/>
                    </a:ext>
                  </a:extLst>
                </a:gridCol>
                <a:gridCol w="710609">
                  <a:extLst>
                    <a:ext uri="{9D8B030D-6E8A-4147-A177-3AD203B41FA5}">
                      <a16:colId xmlns:a16="http://schemas.microsoft.com/office/drawing/2014/main" val="2526348805"/>
                    </a:ext>
                  </a:extLst>
                </a:gridCol>
                <a:gridCol w="710609">
                  <a:extLst>
                    <a:ext uri="{9D8B030D-6E8A-4147-A177-3AD203B41FA5}">
                      <a16:colId xmlns:a16="http://schemas.microsoft.com/office/drawing/2014/main" val="2357109330"/>
                    </a:ext>
                  </a:extLst>
                </a:gridCol>
                <a:gridCol w="710609">
                  <a:extLst>
                    <a:ext uri="{9D8B030D-6E8A-4147-A177-3AD203B41FA5}">
                      <a16:colId xmlns:a16="http://schemas.microsoft.com/office/drawing/2014/main" val="377549069"/>
                    </a:ext>
                  </a:extLst>
                </a:gridCol>
                <a:gridCol w="710609">
                  <a:extLst>
                    <a:ext uri="{9D8B030D-6E8A-4147-A177-3AD203B41FA5}">
                      <a16:colId xmlns:a16="http://schemas.microsoft.com/office/drawing/2014/main" val="478108555"/>
                    </a:ext>
                  </a:extLst>
                </a:gridCol>
                <a:gridCol w="710609">
                  <a:extLst>
                    <a:ext uri="{9D8B030D-6E8A-4147-A177-3AD203B41FA5}">
                      <a16:colId xmlns:a16="http://schemas.microsoft.com/office/drawing/2014/main" val="1617856863"/>
                    </a:ext>
                  </a:extLst>
                </a:gridCol>
              </a:tblGrid>
              <a:tr h="595284">
                <a:tc>
                  <a:txBody>
                    <a:bodyPr/>
                    <a:lstStyle/>
                    <a:p>
                      <a:r>
                        <a:rPr lang="en-US" sz="1400" dirty="0"/>
                        <a:t>Clock Cycle →</a:t>
                      </a:r>
                    </a:p>
                  </a:txBody>
                  <a:tcPr marL="55871" marR="55871" marT="27936" marB="27936" anchor="ctr"/>
                </a:tc>
                <a:tc>
                  <a:txBody>
                    <a:bodyPr/>
                    <a:lstStyle/>
                    <a:p>
                      <a:r>
                        <a:rPr lang="en-US" sz="1400" dirty="0"/>
                        <a:t>1</a:t>
                      </a:r>
                    </a:p>
                  </a:txBody>
                  <a:tcPr marL="55871" marR="55871" marT="27936" marB="27936" anchor="ctr"/>
                </a:tc>
                <a:tc>
                  <a:txBody>
                    <a:bodyPr/>
                    <a:lstStyle/>
                    <a:p>
                      <a:r>
                        <a:rPr lang="en-US" sz="1400" dirty="0"/>
                        <a:t>2</a:t>
                      </a:r>
                    </a:p>
                  </a:txBody>
                  <a:tcPr marL="55871" marR="55871" marT="27936" marB="27936" anchor="ctr"/>
                </a:tc>
                <a:tc>
                  <a:txBody>
                    <a:bodyPr/>
                    <a:lstStyle/>
                    <a:p>
                      <a:r>
                        <a:rPr lang="en-US" sz="1400" dirty="0"/>
                        <a:t>3</a:t>
                      </a:r>
                    </a:p>
                  </a:txBody>
                  <a:tcPr marL="55871" marR="55871" marT="27936" marB="27936" anchor="ctr"/>
                </a:tc>
                <a:tc>
                  <a:txBody>
                    <a:bodyPr/>
                    <a:lstStyle/>
                    <a:p>
                      <a:r>
                        <a:rPr lang="en-US" sz="1400" dirty="0"/>
                        <a:t>4</a:t>
                      </a:r>
                    </a:p>
                  </a:txBody>
                  <a:tcPr marL="55871" marR="55871" marT="27936" marB="27936" anchor="ctr"/>
                </a:tc>
                <a:tc>
                  <a:txBody>
                    <a:bodyPr/>
                    <a:lstStyle/>
                    <a:p>
                      <a:r>
                        <a:rPr lang="en-US" sz="1400" dirty="0"/>
                        <a:t>5</a:t>
                      </a:r>
                    </a:p>
                  </a:txBody>
                  <a:tcPr marL="55871" marR="55871" marT="27936" marB="27936" anchor="ctr"/>
                </a:tc>
                <a:tc>
                  <a:txBody>
                    <a:bodyPr/>
                    <a:lstStyle/>
                    <a:p>
                      <a:r>
                        <a:rPr lang="en-US" sz="1400"/>
                        <a:t>6</a:t>
                      </a:r>
                    </a:p>
                  </a:txBody>
                  <a:tcPr marL="55871" marR="55871" marT="27936" marB="27936" anchor="ctr"/>
                </a:tc>
                <a:tc>
                  <a:txBody>
                    <a:bodyPr/>
                    <a:lstStyle/>
                    <a:p>
                      <a:r>
                        <a:rPr lang="en-US" sz="1400" dirty="0"/>
                        <a:t>7</a:t>
                      </a:r>
                    </a:p>
                  </a:txBody>
                  <a:tcPr marL="55871" marR="55871" marT="27936" marB="27936" anchor="ctr"/>
                </a:tc>
                <a:tc>
                  <a:txBody>
                    <a:bodyPr/>
                    <a:lstStyle/>
                    <a:p>
                      <a:r>
                        <a:rPr lang="en-US" sz="1400"/>
                        <a:t>8</a:t>
                      </a:r>
                    </a:p>
                  </a:txBody>
                  <a:tcPr marL="55871" marR="55871" marT="27936" marB="27936" anchor="ctr"/>
                </a:tc>
                <a:tc>
                  <a:txBody>
                    <a:bodyPr/>
                    <a:lstStyle/>
                    <a:p>
                      <a:r>
                        <a:rPr lang="en-US" sz="1400" dirty="0"/>
                        <a:t>9</a:t>
                      </a:r>
                    </a:p>
                  </a:txBody>
                  <a:tcPr marL="55871" marR="55871" marT="27936" marB="27936" anchor="ctr"/>
                </a:tc>
                <a:tc>
                  <a:txBody>
                    <a:bodyPr/>
                    <a:lstStyle/>
                    <a:p>
                      <a:r>
                        <a:rPr lang="en-US" sz="1400"/>
                        <a:t>10</a:t>
                      </a:r>
                    </a:p>
                  </a:txBody>
                  <a:tcPr marL="55871" marR="55871" marT="27936" marB="27936" anchor="ctr"/>
                </a:tc>
                <a:tc>
                  <a:txBody>
                    <a:bodyPr/>
                    <a:lstStyle/>
                    <a:p>
                      <a:r>
                        <a:rPr lang="en-US" sz="1400"/>
                        <a:t>11</a:t>
                      </a:r>
                    </a:p>
                  </a:txBody>
                  <a:tcPr marL="55871" marR="55871" marT="27936" marB="27936" anchor="ctr"/>
                </a:tc>
                <a:tc>
                  <a:txBody>
                    <a:bodyPr/>
                    <a:lstStyle/>
                    <a:p>
                      <a:r>
                        <a:rPr lang="en-US" sz="1400" dirty="0"/>
                        <a:t>12</a:t>
                      </a:r>
                    </a:p>
                  </a:txBody>
                  <a:tcPr marL="55871" marR="55871" marT="27936" marB="27936" anchor="ctr"/>
                </a:tc>
                <a:extLst>
                  <a:ext uri="{0D108BD9-81ED-4DB2-BD59-A6C34878D82A}">
                    <a16:rowId xmlns:a16="http://schemas.microsoft.com/office/drawing/2014/main" val="2561826244"/>
                  </a:ext>
                </a:extLst>
              </a:tr>
              <a:tr h="320537">
                <a:tc>
                  <a:txBody>
                    <a:bodyPr/>
                    <a:lstStyle/>
                    <a:p>
                      <a:r>
                        <a:rPr lang="en-US" sz="1400" b="1"/>
                        <a:t>LOAD R1</a:t>
                      </a:r>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a:t>WB</a:t>
                      </a:r>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dirty="0"/>
                    </a:p>
                  </a:txBody>
                  <a:tcPr marL="55871" marR="55871" marT="27936" marB="27936" anchor="ctr"/>
                </a:tc>
                <a:tc>
                  <a:txBody>
                    <a:bodyPr/>
                    <a:lstStyle/>
                    <a:p>
                      <a:endParaRPr lang="en-US" sz="1400" dirty="0"/>
                    </a:p>
                  </a:txBody>
                  <a:tcPr marL="55871" marR="55871" marT="27936" marB="27936" anchor="ctr"/>
                </a:tc>
                <a:tc>
                  <a:txBody>
                    <a:bodyPr/>
                    <a:lstStyle/>
                    <a:p>
                      <a:endParaRPr lang="en-US" sz="1400" dirty="0"/>
                    </a:p>
                  </a:txBody>
                  <a:tcPr marL="55871" marR="55871" marT="27936" marB="27936" anchor="ctr"/>
                </a:tc>
                <a:extLst>
                  <a:ext uri="{0D108BD9-81ED-4DB2-BD59-A6C34878D82A}">
                    <a16:rowId xmlns:a16="http://schemas.microsoft.com/office/drawing/2014/main" val="4123436636"/>
                  </a:ext>
                </a:extLst>
              </a:tr>
              <a:tr h="320537">
                <a:tc>
                  <a:txBody>
                    <a:bodyPr/>
                    <a:lstStyle/>
                    <a:p>
                      <a:r>
                        <a:rPr lang="en-US" sz="1400" b="1"/>
                        <a:t>ADD R3</a:t>
                      </a:r>
                      <a:endParaRPr lang="en-US" sz="1400"/>
                    </a:p>
                  </a:txBody>
                  <a:tcPr marL="55871" marR="55871" marT="27936" marB="27936" anchor="ctr"/>
                </a:tc>
                <a:tc>
                  <a:txBody>
                    <a:bodyPr/>
                    <a:lstStyle/>
                    <a:p>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a:t>WB</a:t>
                      </a:r>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dirty="0"/>
                    </a:p>
                  </a:txBody>
                  <a:tcPr marL="55871" marR="55871" marT="27936" marB="27936" anchor="ctr"/>
                </a:tc>
                <a:extLst>
                  <a:ext uri="{0D108BD9-81ED-4DB2-BD59-A6C34878D82A}">
                    <a16:rowId xmlns:a16="http://schemas.microsoft.com/office/drawing/2014/main" val="2774671419"/>
                  </a:ext>
                </a:extLst>
              </a:tr>
              <a:tr h="320537">
                <a:tc>
                  <a:txBody>
                    <a:bodyPr/>
                    <a:lstStyle/>
                    <a:p>
                      <a:r>
                        <a:rPr lang="en-US" sz="1400" b="1"/>
                        <a:t>SUB R5</a:t>
                      </a:r>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a:t>WB</a:t>
                      </a:r>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dirty="0"/>
                    </a:p>
                  </a:txBody>
                  <a:tcPr marL="55871" marR="55871" marT="27936" marB="27936" anchor="ctr"/>
                </a:tc>
                <a:extLst>
                  <a:ext uri="{0D108BD9-81ED-4DB2-BD59-A6C34878D82A}">
                    <a16:rowId xmlns:a16="http://schemas.microsoft.com/office/drawing/2014/main" val="3586871749"/>
                  </a:ext>
                </a:extLst>
              </a:tr>
              <a:tr h="320537">
                <a:tc>
                  <a:txBody>
                    <a:bodyPr/>
                    <a:lstStyle/>
                    <a:p>
                      <a:r>
                        <a:rPr lang="en-US" sz="1400" b="1"/>
                        <a:t>MUL R7</a:t>
                      </a:r>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a:t>WB</a:t>
                      </a:r>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dirty="0"/>
                    </a:p>
                  </a:txBody>
                  <a:tcPr marL="55871" marR="55871" marT="27936" marB="27936" anchor="ctr"/>
                </a:tc>
                <a:extLst>
                  <a:ext uri="{0D108BD9-81ED-4DB2-BD59-A6C34878D82A}">
                    <a16:rowId xmlns:a16="http://schemas.microsoft.com/office/drawing/2014/main" val="1920803087"/>
                  </a:ext>
                </a:extLst>
              </a:tr>
              <a:tr h="320537">
                <a:tc>
                  <a:txBody>
                    <a:bodyPr/>
                    <a:lstStyle/>
                    <a:p>
                      <a:r>
                        <a:rPr lang="en-US" sz="1400" b="1"/>
                        <a:t>AND R9</a:t>
                      </a:r>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a:t>WB</a:t>
                      </a:r>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dirty="0"/>
                    </a:p>
                  </a:txBody>
                  <a:tcPr marL="55871" marR="55871" marT="27936" marB="27936" anchor="ctr"/>
                </a:tc>
                <a:extLst>
                  <a:ext uri="{0D108BD9-81ED-4DB2-BD59-A6C34878D82A}">
                    <a16:rowId xmlns:a16="http://schemas.microsoft.com/office/drawing/2014/main" val="123017019"/>
                  </a:ext>
                </a:extLst>
              </a:tr>
              <a:tr h="320537">
                <a:tc>
                  <a:txBody>
                    <a:bodyPr/>
                    <a:lstStyle/>
                    <a:p>
                      <a:r>
                        <a:rPr lang="en-US" sz="1400" b="1"/>
                        <a:t>OR R11</a:t>
                      </a:r>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a:t>WB</a:t>
                      </a:r>
                    </a:p>
                  </a:txBody>
                  <a:tcPr marL="55871" marR="55871" marT="27936" marB="27936" anchor="ctr"/>
                </a:tc>
                <a:tc>
                  <a:txBody>
                    <a:bodyPr/>
                    <a:lstStyle/>
                    <a:p>
                      <a:endParaRPr lang="en-US" sz="1400"/>
                    </a:p>
                  </a:txBody>
                  <a:tcPr marL="55871" marR="55871" marT="27936" marB="27936" anchor="ctr"/>
                </a:tc>
                <a:tc>
                  <a:txBody>
                    <a:bodyPr/>
                    <a:lstStyle/>
                    <a:p>
                      <a:endParaRPr lang="en-US" sz="1400" dirty="0"/>
                    </a:p>
                  </a:txBody>
                  <a:tcPr marL="55871" marR="55871" marT="27936" marB="27936" anchor="ctr"/>
                </a:tc>
                <a:extLst>
                  <a:ext uri="{0D108BD9-81ED-4DB2-BD59-A6C34878D82A}">
                    <a16:rowId xmlns:a16="http://schemas.microsoft.com/office/drawing/2014/main" val="1897683629"/>
                  </a:ext>
                </a:extLst>
              </a:tr>
              <a:tr h="320537">
                <a:tc>
                  <a:txBody>
                    <a:bodyPr/>
                    <a:lstStyle/>
                    <a:p>
                      <a:r>
                        <a:rPr lang="en-US" sz="1400" b="1" dirty="0"/>
                        <a:t>XOR R16</a:t>
                      </a:r>
                      <a:endParaRPr lang="en-US" sz="1400" dirty="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a:t>WB</a:t>
                      </a:r>
                    </a:p>
                  </a:txBody>
                  <a:tcPr marL="55871" marR="55871" marT="27936" marB="27936" anchor="ctr"/>
                </a:tc>
                <a:tc>
                  <a:txBody>
                    <a:bodyPr/>
                    <a:lstStyle/>
                    <a:p>
                      <a:endParaRPr lang="en-US" sz="1400" dirty="0"/>
                    </a:p>
                  </a:txBody>
                  <a:tcPr marL="55871" marR="55871" marT="27936" marB="27936" anchor="ctr"/>
                </a:tc>
                <a:extLst>
                  <a:ext uri="{0D108BD9-81ED-4DB2-BD59-A6C34878D82A}">
                    <a16:rowId xmlns:a16="http://schemas.microsoft.com/office/drawing/2014/main" val="382447259"/>
                  </a:ext>
                </a:extLst>
              </a:tr>
              <a:tr h="457911">
                <a:tc>
                  <a:txBody>
                    <a:bodyPr/>
                    <a:lstStyle/>
                    <a:p>
                      <a:r>
                        <a:rPr lang="en-US" sz="1400" b="1" dirty="0"/>
                        <a:t>STORE R16</a:t>
                      </a:r>
                      <a:endParaRPr lang="en-US" sz="1400" dirty="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endParaRPr lang="en-US" sz="1400"/>
                    </a:p>
                  </a:txBody>
                  <a:tcPr marL="55871" marR="55871" marT="27936" marB="27936" anchor="ctr"/>
                </a:tc>
                <a:tc>
                  <a:txBody>
                    <a:bodyPr/>
                    <a:lstStyle/>
                    <a:p>
                      <a:r>
                        <a:rPr lang="en-US" sz="1400"/>
                        <a:t>IF</a:t>
                      </a:r>
                    </a:p>
                  </a:txBody>
                  <a:tcPr marL="55871" marR="55871" marT="27936" marB="27936" anchor="ctr"/>
                </a:tc>
                <a:tc>
                  <a:txBody>
                    <a:bodyPr/>
                    <a:lstStyle/>
                    <a:p>
                      <a:r>
                        <a:rPr lang="en-US" sz="1400"/>
                        <a:t>ID</a:t>
                      </a:r>
                    </a:p>
                  </a:txBody>
                  <a:tcPr marL="55871" marR="55871" marT="27936" marB="27936" anchor="ctr"/>
                </a:tc>
                <a:tc>
                  <a:txBody>
                    <a:bodyPr/>
                    <a:lstStyle/>
                    <a:p>
                      <a:r>
                        <a:rPr lang="en-US" sz="1400"/>
                        <a:t>EX</a:t>
                      </a:r>
                    </a:p>
                  </a:txBody>
                  <a:tcPr marL="55871" marR="55871" marT="27936" marB="27936" anchor="ctr"/>
                </a:tc>
                <a:tc>
                  <a:txBody>
                    <a:bodyPr/>
                    <a:lstStyle/>
                    <a:p>
                      <a:r>
                        <a:rPr lang="en-US" sz="1400"/>
                        <a:t>MEM</a:t>
                      </a:r>
                    </a:p>
                  </a:txBody>
                  <a:tcPr marL="55871" marR="55871" marT="27936" marB="27936" anchor="ctr"/>
                </a:tc>
                <a:tc>
                  <a:txBody>
                    <a:bodyPr/>
                    <a:lstStyle/>
                    <a:p>
                      <a:r>
                        <a:rPr lang="en-US" sz="1400" dirty="0"/>
                        <a:t>WB</a:t>
                      </a:r>
                    </a:p>
                  </a:txBody>
                  <a:tcPr marL="55871" marR="55871" marT="27936" marB="27936" anchor="ctr"/>
                </a:tc>
                <a:extLst>
                  <a:ext uri="{0D108BD9-81ED-4DB2-BD59-A6C34878D82A}">
                    <a16:rowId xmlns:a16="http://schemas.microsoft.com/office/drawing/2014/main" val="772835820"/>
                  </a:ext>
                </a:extLst>
              </a:tr>
            </a:tbl>
          </a:graphicData>
        </a:graphic>
      </p:graphicFrame>
    </p:spTree>
    <p:extLst>
      <p:ext uri="{BB962C8B-B14F-4D97-AF65-F5344CB8AC3E}">
        <p14:creationId xmlns:p14="http://schemas.microsoft.com/office/powerpoint/2010/main" val="3072609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802D0-FBD1-7234-81C1-C37349C07E80}"/>
              </a:ext>
            </a:extLst>
          </p:cNvPr>
          <p:cNvSpPr>
            <a:spLocks noGrp="1"/>
          </p:cNvSpPr>
          <p:nvPr>
            <p:ph type="title"/>
          </p:nvPr>
        </p:nvSpPr>
        <p:spPr/>
        <p:txBody>
          <a:bodyPr/>
          <a:lstStyle/>
          <a:p>
            <a:r>
              <a:rPr lang="en-US" dirty="0"/>
              <a:t>Speedup Calculation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5BD3D62-7463-FB34-CAF6-99CF3B381A21}"/>
                  </a:ext>
                </a:extLst>
              </p:cNvPr>
              <p:cNvSpPr>
                <a:spLocks noGrp="1"/>
              </p:cNvSpPr>
              <p:nvPr>
                <p:ph idx="1"/>
              </p:nvPr>
            </p:nvSpPr>
            <p:spPr/>
            <p:txBody>
              <a:bodyPr>
                <a:normAutofit/>
              </a:bodyPr>
              <a:lstStyle/>
              <a:p>
                <a:r>
                  <a:rPr lang="en-US" dirty="0"/>
                  <a:t>For </a:t>
                </a:r>
                <a:r>
                  <a:rPr lang="en-US" b="1" dirty="0"/>
                  <a:t>N instructions</a:t>
                </a:r>
                <a:r>
                  <a:rPr lang="en-US" dirty="0"/>
                  <a:t> and </a:t>
                </a:r>
                <a:r>
                  <a:rPr lang="en-US" b="1" dirty="0"/>
                  <a:t>k stages</a:t>
                </a:r>
                <a:r>
                  <a:rPr lang="en-US" dirty="0"/>
                  <a:t>,</a:t>
                </a:r>
              </a:p>
              <a:p>
                <a:pPr marL="457200" indent="-228600">
                  <a:buFont typeface="Wingdings" panose="05000000000000000000" pitchFamily="2" charset="2"/>
                  <a:buChar char="§"/>
                </a:pPr>
                <a14:m>
                  <m:oMath xmlns:m="http://schemas.openxmlformats.org/officeDocument/2006/math">
                    <m:r>
                      <a:rPr lang="en-US" b="1" i="1" dirty="0" smtClean="0">
                        <a:latin typeface="Cambria Math" panose="02040503050406030204" pitchFamily="18" charset="0"/>
                      </a:rPr>
                      <m:t>𝑵𝒐𝒏</m:t>
                    </m:r>
                    <m:r>
                      <a:rPr lang="en-US" b="1" i="1" dirty="0" smtClean="0">
                        <a:latin typeface="Cambria Math" panose="02040503050406030204" pitchFamily="18" charset="0"/>
                      </a:rPr>
                      <m:t>−</m:t>
                    </m:r>
                    <m:r>
                      <a:rPr lang="en-US" b="1" i="1" dirty="0" smtClean="0">
                        <a:latin typeface="Cambria Math" panose="02040503050406030204" pitchFamily="18" charset="0"/>
                      </a:rPr>
                      <m:t>𝑷𝒊𝒑𝒆𝒍𝒊𝒏𝒆𝒅</m:t>
                    </m:r>
                    <m:r>
                      <a:rPr lang="en-US" b="1" i="1" dirty="0" smtClean="0">
                        <a:latin typeface="Cambria Math" panose="02040503050406030204" pitchFamily="18" charset="0"/>
                      </a:rPr>
                      <m:t> </m:t>
                    </m:r>
                    <m:r>
                      <a:rPr lang="en-US" b="1" i="1" dirty="0" smtClean="0">
                        <a:latin typeface="Cambria Math" panose="02040503050406030204" pitchFamily="18" charset="0"/>
                      </a:rPr>
                      <m:t>𝑬𝒙𝒆𝒄𝒖𝒕𝒊𝒐𝒏</m:t>
                    </m:r>
                    <m:r>
                      <a:rPr lang="en-US" b="1" i="1" dirty="0" smtClean="0">
                        <a:latin typeface="Cambria Math" panose="02040503050406030204" pitchFamily="18" charset="0"/>
                      </a:rPr>
                      <m:t> </m:t>
                    </m:r>
                    <m:r>
                      <a:rPr lang="en-US" b="1" i="1" dirty="0" smtClean="0">
                        <a:latin typeface="Cambria Math" panose="02040503050406030204" pitchFamily="18" charset="0"/>
                      </a:rPr>
                      <m:t>𝑻𝒊𝒎𝒆</m:t>
                    </m:r>
                    <m:r>
                      <a:rPr lang="en-US" i="1" dirty="0" smtClean="0">
                        <a:latin typeface="Cambria Math" panose="02040503050406030204" pitchFamily="18" charset="0"/>
                      </a:rPr>
                      <m:t> = </m:t>
                    </m:r>
                    <m:r>
                      <a:rPr lang="en-US" i="1" dirty="0" err="1" smtClean="0">
                        <a:latin typeface="Cambria Math" panose="02040503050406030204" pitchFamily="18" charset="0"/>
                      </a:rPr>
                      <m:t>𝑁</m:t>
                    </m:r>
                    <m:r>
                      <a:rPr lang="en-US" i="1" dirty="0" err="1" smtClean="0">
                        <a:latin typeface="Cambria Math" panose="02040503050406030204" pitchFamily="18" charset="0"/>
                      </a:rPr>
                      <m:t>×</m:t>
                    </m:r>
                    <m:r>
                      <a:rPr lang="en-US" i="1" dirty="0" err="1" smtClean="0">
                        <a:latin typeface="Cambria Math" panose="02040503050406030204" pitchFamily="18" charset="0"/>
                      </a:rPr>
                      <m:t>𝑘</m:t>
                    </m:r>
                    <m:r>
                      <a:rPr lang="en-US" i="1" dirty="0" smtClean="0">
                        <a:latin typeface="Cambria Math" panose="02040503050406030204" pitchFamily="18" charset="0"/>
                      </a:rPr>
                      <m:t> </m:t>
                    </m:r>
                    <m:r>
                      <a:rPr lang="en-US" i="1" dirty="0" smtClean="0">
                        <a:latin typeface="Cambria Math" panose="02040503050406030204" pitchFamily="18" charset="0"/>
                      </a:rPr>
                      <m:t>𝑐𝑦𝑐𝑙𝑒𝑠</m:t>
                    </m:r>
                  </m:oMath>
                </a14:m>
                <a:endParaRPr lang="en-US" dirty="0"/>
              </a:p>
              <a:p>
                <a:pPr marL="457200" indent="-228600">
                  <a:buFont typeface="Wingdings" panose="05000000000000000000" pitchFamily="2" charset="2"/>
                  <a:buChar char="§"/>
                </a:pPr>
                <a14:m>
                  <m:oMath xmlns:m="http://schemas.openxmlformats.org/officeDocument/2006/math">
                    <m:r>
                      <a:rPr lang="en-US" b="1" i="1" dirty="0" smtClean="0">
                        <a:latin typeface="Cambria Math" panose="02040503050406030204" pitchFamily="18" charset="0"/>
                      </a:rPr>
                      <m:t>𝑷𝒊𝒑𝒆𝒍𝒊𝒏𝒆𝒅</m:t>
                    </m:r>
                    <m:r>
                      <a:rPr lang="en-US" b="1" i="1" dirty="0" smtClean="0">
                        <a:latin typeface="Cambria Math" panose="02040503050406030204" pitchFamily="18" charset="0"/>
                      </a:rPr>
                      <m:t> </m:t>
                    </m:r>
                    <m:r>
                      <a:rPr lang="en-US" b="1" i="1" dirty="0" smtClean="0">
                        <a:latin typeface="Cambria Math" panose="02040503050406030204" pitchFamily="18" charset="0"/>
                      </a:rPr>
                      <m:t>𝑬𝒙𝒆𝒄𝒖𝒕𝒊𝒐𝒏</m:t>
                    </m:r>
                    <m:r>
                      <a:rPr lang="en-US" b="1" i="1" dirty="0" smtClean="0">
                        <a:latin typeface="Cambria Math" panose="02040503050406030204" pitchFamily="18" charset="0"/>
                      </a:rPr>
                      <m:t> </m:t>
                    </m:r>
                    <m:r>
                      <a:rPr lang="en-US" b="1" i="1" dirty="0" smtClean="0">
                        <a:latin typeface="Cambria Math" panose="02040503050406030204" pitchFamily="18" charset="0"/>
                      </a:rPr>
                      <m:t>𝑻𝒊𝒎𝒆</m:t>
                    </m:r>
                    <m:r>
                      <a:rPr lang="en-US" i="1" dirty="0" smtClean="0">
                        <a:latin typeface="Cambria Math" panose="02040503050406030204" pitchFamily="18" charset="0"/>
                      </a:rPr>
                      <m:t> = </m:t>
                    </m:r>
                    <m:r>
                      <a:rPr lang="en-US" i="1" dirty="0" smtClean="0">
                        <a:latin typeface="Cambria Math" panose="02040503050406030204" pitchFamily="18" charset="0"/>
                      </a:rPr>
                      <m:t>𝑘</m:t>
                    </m:r>
                    <m:r>
                      <a:rPr lang="en-US" i="1" dirty="0" smtClean="0">
                        <a:latin typeface="Cambria Math" panose="02040503050406030204" pitchFamily="18" charset="0"/>
                      </a:rPr>
                      <m:t>+(</m:t>
                    </m:r>
                    <m:r>
                      <a:rPr lang="en-US" i="1" dirty="0" smtClean="0">
                        <a:latin typeface="Cambria Math" panose="02040503050406030204" pitchFamily="18" charset="0"/>
                      </a:rPr>
                      <m:t>𝑁</m:t>
                    </m:r>
                    <m:r>
                      <a:rPr lang="en-US" i="1" dirty="0" smtClean="0">
                        <a:latin typeface="Cambria Math" panose="02040503050406030204" pitchFamily="18" charset="0"/>
                      </a:rPr>
                      <m:t>−1) </m:t>
                    </m:r>
                    <m:r>
                      <a:rPr lang="en-US" i="1" dirty="0" smtClean="0">
                        <a:latin typeface="Cambria Math" panose="02040503050406030204" pitchFamily="18" charset="0"/>
                      </a:rPr>
                      <m:t>𝑐𝑦𝑐𝑙𝑒𝑠</m:t>
                    </m:r>
                  </m:oMath>
                </a14:m>
                <a:endParaRPr lang="en-US" dirty="0"/>
              </a:p>
              <a:p>
                <a:pPr marL="457200" indent="-228600">
                  <a:buFont typeface="Wingdings" panose="05000000000000000000" pitchFamily="2" charset="2"/>
                  <a:buChar char="§"/>
                </a:pPr>
                <a14:m>
                  <m:oMath xmlns:m="http://schemas.openxmlformats.org/officeDocument/2006/math">
                    <m:r>
                      <a:rPr lang="en-US" b="0" i="1" smtClean="0">
                        <a:solidFill>
                          <a:schemeClr val="tx1"/>
                        </a:solidFill>
                        <a:latin typeface="Cambria Math" panose="02040503050406030204" pitchFamily="18" charset="0"/>
                      </a:rPr>
                      <m:t>𝑆𝑝𝑒𝑒𝑑𝑢𝑝</m:t>
                    </m:r>
                    <m:r>
                      <a:rPr lang="en-US" b="0"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𝑇𝑖𝑚𝑒</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𝑡𝑎𝑘𝑒𝑛</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𝑤𝑖𝑡h𝑜𝑢𝑡</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𝑝𝑖𝑝𝑒𝑙𝑖𝑛𝑖𝑛𝑔</m:t>
                        </m:r>
                      </m:num>
                      <m:den>
                        <m:r>
                          <a:rPr lang="en-US" b="0" i="1" smtClean="0">
                            <a:solidFill>
                              <a:schemeClr val="tx1"/>
                            </a:solidFill>
                            <a:latin typeface="Cambria Math" panose="02040503050406030204" pitchFamily="18" charset="0"/>
                          </a:rPr>
                          <m:t>𝑇𝑖𝑚𝑒</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𝑡𝑎𝑘𝑒𝑛</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𝑤𝑖𝑡h</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𝑝𝑖𝑝𝑒𝑙𝑖𝑛𝑖𝑛𝑔</m:t>
                        </m:r>
                      </m:den>
                    </m:f>
                  </m:oMath>
                </a14:m>
                <a:endParaRPr lang="en-US" dirty="0">
                  <a:solidFill>
                    <a:schemeClr val="tx1"/>
                  </a:solidFill>
                </a:endParaRPr>
              </a:p>
              <a:p>
                <a:r>
                  <a:rPr lang="en-US" dirty="0"/>
                  <a:t>For </a:t>
                </a:r>
                <a:r>
                  <a:rPr lang="en-US" b="1" dirty="0"/>
                  <a:t>8 instructions in a 5-stage pipeline</a:t>
                </a:r>
                <a:r>
                  <a:rPr lang="en-US" dirty="0"/>
                  <a:t>:</a:t>
                </a:r>
              </a:p>
              <a:p>
                <a:pPr marL="742950" indent="-514350">
                  <a:buFont typeface="Arial" panose="020B0604020202020204" pitchFamily="34" charset="0"/>
                  <a:buChar char="•"/>
                </a:pPr>
                <a14:m>
                  <m:oMath xmlns:m="http://schemas.openxmlformats.org/officeDocument/2006/math">
                    <m:r>
                      <a:rPr lang="en-US" b="1" i="1" dirty="0" smtClean="0">
                        <a:latin typeface="Cambria Math" panose="02040503050406030204" pitchFamily="18" charset="0"/>
                      </a:rPr>
                      <m:t>𝑵𝒐𝒏</m:t>
                    </m:r>
                    <m:r>
                      <a:rPr lang="en-US" b="1" i="1" dirty="0" smtClean="0">
                        <a:latin typeface="Cambria Math" panose="02040503050406030204" pitchFamily="18" charset="0"/>
                      </a:rPr>
                      <m:t>−</m:t>
                    </m:r>
                    <m:r>
                      <a:rPr lang="en-US" b="1" i="1" dirty="0" smtClean="0">
                        <a:latin typeface="Cambria Math" panose="02040503050406030204" pitchFamily="18" charset="0"/>
                      </a:rPr>
                      <m:t>𝑷𝒊𝒑𝒆𝒍𝒊𝒏𝒆𝒅</m:t>
                    </m:r>
                    <m:r>
                      <a:rPr lang="en-US" b="1" i="1" dirty="0" smtClean="0">
                        <a:latin typeface="Cambria Math" panose="02040503050406030204" pitchFamily="18" charset="0"/>
                      </a:rPr>
                      <m:t> </m:t>
                    </m:r>
                    <m:r>
                      <a:rPr lang="en-US" b="1" i="1" dirty="0" smtClean="0">
                        <a:latin typeface="Cambria Math" panose="02040503050406030204" pitchFamily="18" charset="0"/>
                      </a:rPr>
                      <m:t>𝑻𝒊𝒎𝒆</m:t>
                    </m:r>
                    <m:r>
                      <a:rPr lang="en-US" i="1" dirty="0" smtClean="0">
                        <a:latin typeface="Cambria Math" panose="02040503050406030204" pitchFamily="18" charset="0"/>
                      </a:rPr>
                      <m:t> = 8×5=40</m:t>
                    </m:r>
                    <m:r>
                      <a:rPr lang="en-US" i="1" dirty="0" smtClean="0">
                        <a:latin typeface="Cambria Math" panose="02040503050406030204" pitchFamily="18" charset="0"/>
                      </a:rPr>
                      <m:t>𝑐𝑦𝑐𝑙𝑒𝑠</m:t>
                    </m:r>
                  </m:oMath>
                </a14:m>
                <a:endParaRPr lang="en-US" dirty="0"/>
              </a:p>
              <a:p>
                <a:pPr marL="742950" indent="-514350">
                  <a:buFont typeface="Arial" panose="020B0604020202020204" pitchFamily="34" charset="0"/>
                  <a:buChar char="•"/>
                </a:pPr>
                <a14:m>
                  <m:oMath xmlns:m="http://schemas.openxmlformats.org/officeDocument/2006/math">
                    <m:r>
                      <a:rPr lang="en-US" b="1" i="1" dirty="0" smtClean="0">
                        <a:latin typeface="Cambria Math" panose="02040503050406030204" pitchFamily="18" charset="0"/>
                      </a:rPr>
                      <m:t>𝑷𝒊𝒑𝒆𝒍𝒊𝒏𝒆𝒅</m:t>
                    </m:r>
                    <m:r>
                      <a:rPr lang="en-US" b="1" i="1" dirty="0" smtClean="0">
                        <a:latin typeface="Cambria Math" panose="02040503050406030204" pitchFamily="18" charset="0"/>
                      </a:rPr>
                      <m:t> </m:t>
                    </m:r>
                    <m:r>
                      <a:rPr lang="en-US" b="1" i="1" dirty="0" smtClean="0">
                        <a:latin typeface="Cambria Math" panose="02040503050406030204" pitchFamily="18" charset="0"/>
                      </a:rPr>
                      <m:t>𝑻𝒊𝒎𝒆</m:t>
                    </m:r>
                    <m:r>
                      <a:rPr lang="en-US" i="1" dirty="0" smtClean="0">
                        <a:latin typeface="Cambria Math" panose="02040503050406030204" pitchFamily="18" charset="0"/>
                      </a:rPr>
                      <m:t> = 5+(8−1)=12 </m:t>
                    </m:r>
                    <m:r>
                      <a:rPr lang="en-US" i="1" dirty="0" smtClean="0">
                        <a:latin typeface="Cambria Math" panose="02040503050406030204" pitchFamily="18" charset="0"/>
                      </a:rPr>
                      <m:t>𝑐𝑦𝑐𝑙𝑒𝑠</m:t>
                    </m:r>
                  </m:oMath>
                </a14:m>
                <a:endParaRPr lang="en-US" dirty="0"/>
              </a:p>
              <a:p>
                <a:pPr marL="742950" indent="-514350">
                  <a:buFont typeface="Arial" panose="020B0604020202020204" pitchFamily="34" charset="0"/>
                  <a:buChar char="•"/>
                </a:pPr>
                <a14:m>
                  <m:oMath xmlns:m="http://schemas.openxmlformats.org/officeDocument/2006/math">
                    <m:r>
                      <a:rPr lang="en-US" b="1" i="1" dirty="0" smtClean="0">
                        <a:latin typeface="Cambria Math" panose="02040503050406030204" pitchFamily="18" charset="0"/>
                      </a:rPr>
                      <m:t>𝑺𝒑𝒆𝒆𝒅𝒖𝒑</m:t>
                    </m:r>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40</m:t>
                        </m:r>
                      </m:num>
                      <m:den>
                        <m:r>
                          <a:rPr lang="en-US" b="0" i="1" dirty="0" smtClean="0">
                            <a:latin typeface="Cambria Math" panose="02040503050406030204" pitchFamily="18" charset="0"/>
                          </a:rPr>
                          <m:t>12</m:t>
                        </m:r>
                      </m:den>
                    </m:f>
                    <m:r>
                      <a:rPr lang="en-US" i="1" dirty="0" smtClean="0">
                        <a:latin typeface="Cambria Math" panose="02040503050406030204" pitchFamily="18" charset="0"/>
                      </a:rPr>
                      <m:t>​≈3.33</m:t>
                    </m:r>
                  </m:oMath>
                </a14:m>
                <a:endParaRPr lang="en-US" dirty="0"/>
              </a:p>
              <a:p>
                <a:pPr algn="ctr"/>
                <a:endParaRPr lang="en-US" b="0" i="1" dirty="0">
                  <a:solidFill>
                    <a:schemeClr val="tx1"/>
                  </a:solidFill>
                  <a:latin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65BD3D62-7463-FB34-CAF6-99CF3B381A21}"/>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n-US">
                    <a:noFill/>
                  </a:rPr>
                  <a:t> </a:t>
                </a:r>
              </a:p>
            </p:txBody>
          </p:sp>
        </mc:Fallback>
      </mc:AlternateContent>
    </p:spTree>
    <p:extLst>
      <p:ext uri="{BB962C8B-B14F-4D97-AF65-F5344CB8AC3E}">
        <p14:creationId xmlns:p14="http://schemas.microsoft.com/office/powerpoint/2010/main" val="3156903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7BC8D-5987-BACA-0C64-5B52BB905EE0}"/>
              </a:ext>
            </a:extLst>
          </p:cNvPr>
          <p:cNvSpPr>
            <a:spLocks noGrp="1"/>
          </p:cNvSpPr>
          <p:nvPr>
            <p:ph type="title"/>
          </p:nvPr>
        </p:nvSpPr>
        <p:spPr/>
        <p:txBody>
          <a:bodyPr/>
          <a:lstStyle/>
          <a:p>
            <a:r>
              <a:rPr lang="en-US" b="1" dirty="0"/>
              <a:t>Clock Cycles Per Instruction (CPI)</a:t>
            </a:r>
            <a:r>
              <a:rPr lang="en-US" dirty="0"/>
              <a:t>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46484CF-16C5-613C-295F-4416268ABB28}"/>
                  </a:ext>
                </a:extLst>
              </p:cNvPr>
              <p:cNvSpPr>
                <a:spLocks noGrp="1"/>
              </p:cNvSpPr>
              <p:nvPr>
                <p:ph idx="1"/>
              </p:nvPr>
            </p:nvSpPr>
            <p:spPr/>
            <p:txBody>
              <a:bodyPr>
                <a:normAutofit lnSpcReduction="10000"/>
              </a:bodyPr>
              <a:lstStyle/>
              <a:p>
                <a:r>
                  <a:rPr lang="en-US" dirty="0"/>
                  <a:t>The </a:t>
                </a:r>
                <a:r>
                  <a:rPr lang="en-US" b="1" dirty="0"/>
                  <a:t>Clock Cycles Per Instruction (CPI)</a:t>
                </a:r>
                <a:r>
                  <a:rPr lang="en-US" dirty="0"/>
                  <a:t> in a pipelined processor is calculated as:</a:t>
                </a:r>
              </a:p>
              <a:p>
                <a:pPr algn="ctr"/>
                <a14:m>
                  <m:oMath xmlns:m="http://schemas.openxmlformats.org/officeDocument/2006/math">
                    <m:r>
                      <a:rPr lang="en-US" i="1" dirty="0" smtClean="0">
                        <a:latin typeface="Cambria Math" panose="02040503050406030204" pitchFamily="18" charset="0"/>
                      </a:rPr>
                      <m:t>𝐶𝑃𝐼</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𝑇𝑜𝑡𝑎𝑙</m:t>
                        </m:r>
                        <m:r>
                          <a:rPr lang="en-US" b="0" i="1" dirty="0" smtClean="0">
                            <a:latin typeface="Cambria Math" panose="02040503050406030204" pitchFamily="18" charset="0"/>
                          </a:rPr>
                          <m:t> </m:t>
                        </m:r>
                        <m:r>
                          <a:rPr lang="en-US" b="0" i="1" dirty="0" smtClean="0">
                            <a:latin typeface="Cambria Math" panose="02040503050406030204" pitchFamily="18" charset="0"/>
                          </a:rPr>
                          <m:t>𝐶𝐿𝑜𝑐𝑘</m:t>
                        </m:r>
                        <m:r>
                          <a:rPr lang="en-US" b="0" i="1" dirty="0" smtClean="0">
                            <a:latin typeface="Cambria Math" panose="02040503050406030204" pitchFamily="18" charset="0"/>
                          </a:rPr>
                          <m:t> </m:t>
                        </m:r>
                        <m:r>
                          <a:rPr lang="en-US" b="0" i="1" dirty="0" smtClean="0">
                            <a:latin typeface="Cambria Math" panose="02040503050406030204" pitchFamily="18" charset="0"/>
                          </a:rPr>
                          <m:t>𝐶𝑦𝑐𝑙𝑒𝑠</m:t>
                        </m:r>
                      </m:num>
                      <m:den>
                        <m:r>
                          <a:rPr lang="en-US" b="0" i="1" dirty="0" smtClean="0">
                            <a:latin typeface="Cambria Math" panose="02040503050406030204" pitchFamily="18" charset="0"/>
                          </a:rPr>
                          <m:t>𝑇𝑜𝑡𝑎𝑙</m:t>
                        </m:r>
                        <m:r>
                          <a:rPr lang="en-US" b="0" i="1" dirty="0" smtClean="0">
                            <a:latin typeface="Cambria Math" panose="02040503050406030204" pitchFamily="18" charset="0"/>
                          </a:rPr>
                          <m:t> </m:t>
                        </m:r>
                        <m:r>
                          <a:rPr lang="en-US" b="0" i="1" dirty="0" smtClean="0">
                            <a:latin typeface="Cambria Math" panose="02040503050406030204" pitchFamily="18" charset="0"/>
                          </a:rPr>
                          <m:t>𝐼𝑛𝑠𝑡𝑟𝑢𝑐𝑡𝑖𝑜𝑛𝑠</m:t>
                        </m:r>
                      </m:den>
                    </m:f>
                  </m:oMath>
                </a14:m>
                <a:endParaRPr lang="en-US" dirty="0"/>
              </a:p>
              <a:p>
                <a:r>
                  <a:rPr lang="en-US" b="1" dirty="0"/>
                  <a:t>For a Pipelined Processor:</a:t>
                </a:r>
              </a:p>
              <a:p>
                <a:r>
                  <a:rPr lang="en-US" dirty="0"/>
                  <a:t>The total clock cycles for executing </a:t>
                </a:r>
                <a:r>
                  <a:rPr lang="en-US" b="1" dirty="0"/>
                  <a:t>N</a:t>
                </a:r>
                <a:r>
                  <a:rPr lang="en-US" dirty="0"/>
                  <a:t> instructions in a pipeline with </a:t>
                </a:r>
                <a:r>
                  <a:rPr lang="en-US" b="1" dirty="0"/>
                  <a:t>K</a:t>
                </a:r>
                <a:r>
                  <a:rPr lang="en-US" dirty="0"/>
                  <a:t> stages is:</a:t>
                </a:r>
              </a:p>
              <a:p>
                <a:pPr algn="ctr"/>
                <a14:m>
                  <m:oMath xmlns:m="http://schemas.openxmlformats.org/officeDocument/2006/math">
                    <m:r>
                      <a:rPr lang="en-US" i="1" dirty="0" smtClean="0">
                        <a:latin typeface="Cambria Math" panose="02040503050406030204" pitchFamily="18" charset="0"/>
                      </a:rPr>
                      <m:t>𝐶𝑙𝑜𝑐𝑘</m:t>
                    </m:r>
                    <m:r>
                      <a:rPr lang="en-US" i="1" dirty="0" smtClean="0">
                        <a:latin typeface="Cambria Math" panose="02040503050406030204" pitchFamily="18" charset="0"/>
                      </a:rPr>
                      <m:t> </m:t>
                    </m:r>
                    <m:r>
                      <a:rPr lang="en-US" i="1" dirty="0" smtClean="0">
                        <a:latin typeface="Cambria Math" panose="02040503050406030204" pitchFamily="18" charset="0"/>
                      </a:rPr>
                      <m:t>𝐶𝑦𝑐𝑙𝑒𝑠</m:t>
                    </m:r>
                    <m:r>
                      <a:rPr lang="en-US" i="1" dirty="0" smtClean="0">
                        <a:latin typeface="Cambria Math" panose="02040503050406030204" pitchFamily="18" charset="0"/>
                      </a:rPr>
                      <m:t>=</m:t>
                    </m:r>
                    <m:r>
                      <a:rPr lang="en-US" i="1" dirty="0" smtClean="0">
                        <a:latin typeface="Cambria Math" panose="02040503050406030204" pitchFamily="18" charset="0"/>
                      </a:rPr>
                      <m:t>𝐾</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𝑁</m:t>
                        </m:r>
                        <m:r>
                          <a:rPr lang="en-US" i="1" dirty="0" smtClean="0">
                            <a:latin typeface="Cambria Math" panose="02040503050406030204" pitchFamily="18" charset="0"/>
                          </a:rPr>
                          <m:t>−1</m:t>
                        </m:r>
                      </m:e>
                    </m:d>
                  </m:oMath>
                </a14:m>
                <a:endParaRPr lang="en-US" dirty="0"/>
              </a:p>
              <a:p>
                <a:r>
                  <a:rPr lang="en-US" dirty="0"/>
                  <a:t>Thus, the CPI formula for a pipelined processor becomes:</a:t>
                </a:r>
              </a:p>
              <a:p>
                <a:pPr algn="ct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𝐶𝑃𝐼</m:t>
                        </m:r>
                      </m:e>
                      <m:sub>
                        <m:r>
                          <a:rPr lang="en-US" i="1" dirty="0">
                            <a:latin typeface="Cambria Math" panose="02040503050406030204" pitchFamily="18" charset="0"/>
                          </a:rPr>
                          <m:t>𝑝𝑖𝑝𝑒𝑙𝑖𝑛𝑒</m:t>
                        </m:r>
                      </m:sub>
                    </m:sSub>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a:latin typeface="Cambria Math" panose="02040503050406030204" pitchFamily="18" charset="0"/>
                          </a:rPr>
                          <m:t>𝐾</m:t>
                        </m:r>
                        <m:r>
                          <a:rPr lang="en-US" i="1" dirty="0">
                            <a:latin typeface="Cambria Math" panose="02040503050406030204" pitchFamily="18" charset="0"/>
                          </a:rPr>
                          <m:t>+(</m:t>
                        </m:r>
                        <m:r>
                          <a:rPr lang="en-US" i="1" dirty="0">
                            <a:latin typeface="Cambria Math" panose="02040503050406030204" pitchFamily="18" charset="0"/>
                          </a:rPr>
                          <m:t>𝑁</m:t>
                        </m:r>
                        <m:r>
                          <a:rPr lang="en-US" i="1" dirty="0">
                            <a:latin typeface="Cambria Math" panose="02040503050406030204" pitchFamily="18" charset="0"/>
                          </a:rPr>
                          <m:t>−1)</m:t>
                        </m:r>
                      </m:num>
                      <m:den>
                        <m:r>
                          <a:rPr lang="en-US" b="0" i="1" dirty="0" smtClean="0">
                            <a:latin typeface="Cambria Math" panose="02040503050406030204" pitchFamily="18" charset="0"/>
                          </a:rPr>
                          <m:t>𝑁</m:t>
                        </m:r>
                      </m:den>
                    </m:f>
                  </m:oMath>
                </a14:m>
                <a:endParaRPr lang="en-US" dirty="0"/>
              </a:p>
              <a:p>
                <a:r>
                  <a:rPr lang="en-US" dirty="0"/>
                  <a:t>For large </a:t>
                </a:r>
                <a:r>
                  <a:rPr lang="en-US" b="1" dirty="0"/>
                  <a:t>N</a:t>
                </a:r>
                <a:r>
                  <a:rPr lang="en-US" dirty="0"/>
                  <a:t>, this approaches </a:t>
                </a:r>
                <a:r>
                  <a:rPr lang="en-US" b="1" dirty="0"/>
                  <a:t>1</a:t>
                </a:r>
                <a:r>
                  <a:rPr lang="en-US" dirty="0"/>
                  <a:t>, meaning an ideal pipeline can achieve a CPI close to </a:t>
                </a:r>
                <a:r>
                  <a:rPr lang="en-US" b="1" dirty="0"/>
                  <a:t>1</a:t>
                </a:r>
                <a:r>
                  <a:rPr lang="en-US" dirty="0"/>
                  <a:t>, indicating high efficiency.</a:t>
                </a:r>
              </a:p>
            </p:txBody>
          </p:sp>
        </mc:Choice>
        <mc:Fallback>
          <p:sp>
            <p:nvSpPr>
              <p:cNvPr id="3" name="Content Placeholder 2">
                <a:extLst>
                  <a:ext uri="{FF2B5EF4-FFF2-40B4-BE49-F238E27FC236}">
                    <a16:creationId xmlns:a16="http://schemas.microsoft.com/office/drawing/2014/main" id="{146484CF-16C5-613C-295F-4416268ABB28}"/>
                  </a:ext>
                </a:extLst>
              </p:cNvPr>
              <p:cNvSpPr>
                <a:spLocks noGrp="1" noRot="1" noChangeAspect="1" noMove="1" noResize="1" noEditPoints="1" noAdjustHandles="1" noChangeArrowheads="1" noChangeShapeType="1" noTextEdit="1"/>
              </p:cNvSpPr>
              <p:nvPr>
                <p:ph idx="1"/>
              </p:nvPr>
            </p:nvSpPr>
            <p:spPr>
              <a:blipFill>
                <a:blip r:embed="rId2"/>
                <a:stretch>
                  <a:fillRect l="-606" t="-2273" r="-848"/>
                </a:stretch>
              </a:blipFill>
            </p:spPr>
            <p:txBody>
              <a:bodyPr/>
              <a:lstStyle/>
              <a:p>
                <a:r>
                  <a:rPr lang="en-US">
                    <a:noFill/>
                  </a:rPr>
                  <a:t> </a:t>
                </a:r>
              </a:p>
            </p:txBody>
          </p:sp>
        </mc:Fallback>
      </mc:AlternateContent>
    </p:spTree>
    <p:extLst>
      <p:ext uri="{BB962C8B-B14F-4D97-AF65-F5344CB8AC3E}">
        <p14:creationId xmlns:p14="http://schemas.microsoft.com/office/powerpoint/2010/main" val="175754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E43BD-936A-8EC7-956C-CE033F82C2D5}"/>
              </a:ext>
            </a:extLst>
          </p:cNvPr>
          <p:cNvSpPr>
            <a:spLocks noGrp="1"/>
          </p:cNvSpPr>
          <p:nvPr>
            <p:ph type="title"/>
          </p:nvPr>
        </p:nvSpPr>
        <p:spPr/>
        <p:txBody>
          <a:bodyPr/>
          <a:lstStyle/>
          <a:p>
            <a:r>
              <a:rPr lang="en-US" dirty="0"/>
              <a:t>For a Non-Pipelined Processor: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EBF722C-6691-D438-2A0B-2A1046777C22}"/>
                  </a:ext>
                </a:extLst>
              </p:cNvPr>
              <p:cNvSpPr>
                <a:spLocks noGrp="1"/>
              </p:cNvSpPr>
              <p:nvPr>
                <p:ph idx="1"/>
              </p:nvPr>
            </p:nvSpPr>
            <p:spPr/>
            <p:txBody>
              <a:bodyPr/>
              <a:lstStyle/>
              <a:p>
                <a:r>
                  <a:rPr lang="en-US" dirty="0"/>
                  <a:t>Each instruction takes </a:t>
                </a:r>
                <a:r>
                  <a:rPr lang="en-US" b="1" dirty="0"/>
                  <a:t>K</a:t>
                </a:r>
                <a:r>
                  <a:rPr lang="en-US" dirty="0"/>
                  <a:t> cycles, so:</a:t>
                </a:r>
              </a:p>
              <a:p>
                <a:pPr algn="ctr"/>
                <a14:m>
                  <m:oMath xmlns:m="http://schemas.openxmlformats.org/officeDocument/2006/math">
                    <m:r>
                      <a:rPr lang="en-US" i="1" dirty="0" smtClean="0">
                        <a:latin typeface="Cambria Math" panose="02040503050406030204" pitchFamily="18" charset="0"/>
                      </a:rPr>
                      <m:t>𝐶𝑙𝑜𝑐𝑘</m:t>
                    </m:r>
                    <m:r>
                      <a:rPr lang="en-US" i="1" dirty="0" smtClean="0">
                        <a:latin typeface="Cambria Math" panose="02040503050406030204" pitchFamily="18" charset="0"/>
                      </a:rPr>
                      <m:t> </m:t>
                    </m:r>
                    <m:r>
                      <a:rPr lang="en-US" i="1" dirty="0" smtClean="0">
                        <a:latin typeface="Cambria Math" panose="02040503050406030204" pitchFamily="18" charset="0"/>
                      </a:rPr>
                      <m:t>𝐶𝑦𝑐𝑙𝑒𝑠</m:t>
                    </m:r>
                    <m:r>
                      <a:rPr lang="en-US" i="1" dirty="0" smtClean="0">
                        <a:latin typeface="Cambria Math" panose="02040503050406030204" pitchFamily="18" charset="0"/>
                      </a:rPr>
                      <m:t>=</m:t>
                    </m:r>
                    <m:r>
                      <a:rPr lang="en-US" i="1" dirty="0" smtClean="0">
                        <a:latin typeface="Cambria Math" panose="02040503050406030204" pitchFamily="18" charset="0"/>
                      </a:rPr>
                      <m:t>𝐾</m:t>
                    </m:r>
                    <m:r>
                      <a:rPr lang="en-US" i="1" dirty="0" smtClean="0">
                        <a:latin typeface="Cambria Math" panose="02040503050406030204" pitchFamily="18" charset="0"/>
                      </a:rPr>
                      <m:t>+</m:t>
                    </m:r>
                    <m:r>
                      <a:rPr lang="en-US" b="0" i="1" dirty="0" smtClean="0">
                        <a:latin typeface="Cambria Math" panose="02040503050406030204" pitchFamily="18" charset="0"/>
                      </a:rPr>
                      <m:t>𝑁</m:t>
                    </m:r>
                  </m:oMath>
                </a14:m>
                <a:endParaRPr lang="en-US" b="0" dirty="0"/>
              </a:p>
              <a:p>
                <a:r>
                  <a:rPr lang="en-US" dirty="0"/>
                  <a:t>Thus, the CPI for a non-pipelined processor is:</a:t>
                </a:r>
              </a:p>
              <a:p>
                <a:pPr algn="ct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𝐶𝑃𝐼</m:t>
                        </m:r>
                      </m:e>
                      <m:sub>
                        <m:r>
                          <a:rPr lang="en-US" b="0" i="1" dirty="0" smtClean="0">
                            <a:latin typeface="Cambria Math" panose="02040503050406030204" pitchFamily="18" charset="0"/>
                          </a:rPr>
                          <m:t>𝑛𝑜𝑛</m:t>
                        </m:r>
                        <m:r>
                          <a:rPr lang="en-US" b="0" i="1" dirty="0" smtClean="0">
                            <a:latin typeface="Cambria Math" panose="02040503050406030204" pitchFamily="18" charset="0"/>
                          </a:rPr>
                          <m:t>−</m:t>
                        </m:r>
                        <m:r>
                          <a:rPr lang="en-US" i="1" dirty="0">
                            <a:latin typeface="Cambria Math" panose="02040503050406030204" pitchFamily="18" charset="0"/>
                          </a:rPr>
                          <m:t>𝑝𝑖𝑝𝑒𝑙𝑖𝑛𝑒</m:t>
                        </m:r>
                      </m:sub>
                    </m:sSub>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a:latin typeface="Cambria Math" panose="02040503050406030204" pitchFamily="18" charset="0"/>
                          </a:rPr>
                          <m:t>𝐾</m:t>
                        </m:r>
                        <m:r>
                          <a:rPr lang="en-US" b="0" i="1" dirty="0" smtClean="0">
                            <a:latin typeface="Cambria Math" panose="02040503050406030204" pitchFamily="18" charset="0"/>
                          </a:rPr>
                          <m:t>∗</m:t>
                        </m:r>
                        <m:r>
                          <a:rPr lang="en-US" i="1" dirty="0">
                            <a:latin typeface="Cambria Math" panose="02040503050406030204" pitchFamily="18" charset="0"/>
                          </a:rPr>
                          <m:t>𝑁</m:t>
                        </m:r>
                      </m:num>
                      <m:den>
                        <m:r>
                          <a:rPr lang="en-US" b="0" i="1" dirty="0" smtClean="0">
                            <a:latin typeface="Cambria Math" panose="02040503050406030204" pitchFamily="18" charset="0"/>
                          </a:rPr>
                          <m:t>𝑁</m:t>
                        </m:r>
                      </m:den>
                    </m:f>
                    <m:r>
                      <a:rPr lang="en-US" b="0" i="1" dirty="0" smtClean="0">
                        <a:latin typeface="Cambria Math" panose="02040503050406030204" pitchFamily="18" charset="0"/>
                      </a:rPr>
                      <m:t>=</m:t>
                    </m:r>
                    <m:r>
                      <a:rPr lang="en-US" b="0" i="1" dirty="0" smtClean="0">
                        <a:latin typeface="Cambria Math" panose="02040503050406030204" pitchFamily="18" charset="0"/>
                      </a:rPr>
                      <m:t>𝐾</m:t>
                    </m:r>
                  </m:oMath>
                </a14:m>
                <a:endParaRPr lang="en-US" dirty="0"/>
              </a:p>
              <a:p>
                <a:r>
                  <a:rPr lang="en-US" b="1" dirty="0"/>
                  <a:t>Comparison:</a:t>
                </a:r>
              </a:p>
              <a:p>
                <a:pPr>
                  <a:buFont typeface="Arial" panose="020B0604020202020204" pitchFamily="34" charset="0"/>
                  <a:buChar char="•"/>
                </a:pPr>
                <a:r>
                  <a:rPr lang="en-US" b="1" dirty="0"/>
                  <a:t>Pipelined CPU</a:t>
                </a:r>
                <a:r>
                  <a:rPr lang="en-US" dirty="0"/>
                  <a:t>: </a:t>
                </a:r>
                <a14:m>
                  <m:oMath xmlns:m="http://schemas.openxmlformats.org/officeDocument/2006/math">
                    <m:r>
                      <a:rPr lang="en-US" i="1" dirty="0" smtClean="0">
                        <a:latin typeface="Cambria Math" panose="02040503050406030204" pitchFamily="18" charset="0"/>
                      </a:rPr>
                      <m:t>𝐶𝑃𝐼</m:t>
                    </m:r>
                    <m:r>
                      <a:rPr lang="en-US" i="1" dirty="0" smtClean="0">
                        <a:latin typeface="Cambria Math" panose="02040503050406030204" pitchFamily="18" charset="0"/>
                      </a:rPr>
                      <m:t>≈1 </m:t>
                    </m:r>
                  </m:oMath>
                </a14:m>
                <a:r>
                  <a:rPr lang="en-US" dirty="0"/>
                  <a:t>(for large </a:t>
                </a:r>
                <a:r>
                  <a:rPr lang="en-US" b="1" dirty="0"/>
                  <a:t>N</a:t>
                </a:r>
                <a:r>
                  <a:rPr lang="en-US" dirty="0"/>
                  <a:t>)</a:t>
                </a:r>
              </a:p>
              <a:p>
                <a:pPr>
                  <a:buFont typeface="Arial" panose="020B0604020202020204" pitchFamily="34" charset="0"/>
                  <a:buChar char="•"/>
                </a:pPr>
                <a:r>
                  <a:rPr lang="en-US" b="1" dirty="0"/>
                  <a:t>Non-Pipelined CPU</a:t>
                </a:r>
                <a:r>
                  <a:rPr lang="en-US" dirty="0"/>
                  <a:t>: </a:t>
                </a:r>
                <a14:m>
                  <m:oMath xmlns:m="http://schemas.openxmlformats.org/officeDocument/2006/math">
                    <m:r>
                      <a:rPr lang="en-US" i="1" dirty="0" smtClean="0">
                        <a:latin typeface="Cambria Math" panose="02040503050406030204" pitchFamily="18" charset="0"/>
                      </a:rPr>
                      <m:t>𝐶𝑃𝐼</m:t>
                    </m:r>
                    <m:r>
                      <a:rPr lang="en-US" i="1" dirty="0" smtClean="0">
                        <a:latin typeface="Cambria Math" panose="02040503050406030204" pitchFamily="18" charset="0"/>
                      </a:rPr>
                      <m:t>=</m:t>
                    </m:r>
                    <m:r>
                      <a:rPr lang="en-US" i="1" dirty="0" smtClean="0">
                        <a:latin typeface="Cambria Math" panose="02040503050406030204" pitchFamily="18" charset="0"/>
                      </a:rPr>
                      <m:t>𝐾</m:t>
                    </m:r>
                  </m:oMath>
                </a14:m>
                <a:endParaRPr lang="en-US" dirty="0"/>
              </a:p>
              <a:p>
                <a:endParaRPr lang="en-US" dirty="0"/>
              </a:p>
              <a:p>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AEBF722C-6691-D438-2A0B-2A1046777C22}"/>
                  </a:ext>
                </a:extLst>
              </p:cNvPr>
              <p:cNvSpPr>
                <a:spLocks noGrp="1" noRot="1" noChangeAspect="1" noMove="1" noResize="1" noEditPoints="1" noAdjustHandles="1" noChangeArrowheads="1" noChangeShapeType="1" noTextEdit="1"/>
              </p:cNvSpPr>
              <p:nvPr>
                <p:ph idx="1"/>
              </p:nvPr>
            </p:nvSpPr>
            <p:spPr>
              <a:blipFill>
                <a:blip r:embed="rId2"/>
                <a:stretch>
                  <a:fillRect l="-1455" t="-1667"/>
                </a:stretch>
              </a:blipFill>
            </p:spPr>
            <p:txBody>
              <a:bodyPr/>
              <a:lstStyle/>
              <a:p>
                <a:r>
                  <a:rPr lang="en-US">
                    <a:noFill/>
                  </a:rPr>
                  <a:t> </a:t>
                </a:r>
              </a:p>
            </p:txBody>
          </p:sp>
        </mc:Fallback>
      </mc:AlternateContent>
    </p:spTree>
    <p:extLst>
      <p:ext uri="{BB962C8B-B14F-4D97-AF65-F5344CB8AC3E}">
        <p14:creationId xmlns:p14="http://schemas.microsoft.com/office/powerpoint/2010/main" val="30010366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3A2F4-38F1-C167-79EB-C6F9C0B22259}"/>
              </a:ext>
            </a:extLst>
          </p:cNvPr>
          <p:cNvSpPr>
            <a:spLocks noGrp="1"/>
          </p:cNvSpPr>
          <p:nvPr>
            <p:ph type="title"/>
          </p:nvPr>
        </p:nvSpPr>
        <p:spPr/>
        <p:txBody>
          <a:bodyPr/>
          <a:lstStyle/>
          <a:p>
            <a:r>
              <a:rPr lang="en-US" b="1" dirty="0"/>
              <a:t>Example </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74BD70D-7F12-D77D-6957-B9985B2AE9F0}"/>
                  </a:ext>
                </a:extLst>
              </p:cNvPr>
              <p:cNvSpPr>
                <a:spLocks noGrp="1"/>
              </p:cNvSpPr>
              <p:nvPr>
                <p:ph idx="1"/>
              </p:nvPr>
            </p:nvSpPr>
            <p:spPr/>
            <p:txBody>
              <a:bodyPr>
                <a:normAutofit/>
              </a:bodyPr>
              <a:lstStyle/>
              <a:p>
                <a:pPr>
                  <a:spcBef>
                    <a:spcPts val="0"/>
                  </a:spcBef>
                  <a:spcAft>
                    <a:spcPts val="0"/>
                  </a:spcAft>
                </a:pPr>
                <a:r>
                  <a:rPr lang="en-US" dirty="0"/>
                  <a:t>Given:</a:t>
                </a:r>
              </a:p>
              <a:p>
                <a:pPr marL="457200" indent="-400050">
                  <a:spcBef>
                    <a:spcPts val="0"/>
                  </a:spcBef>
                  <a:spcAft>
                    <a:spcPts val="0"/>
                  </a:spcAft>
                  <a:buFont typeface="Arial" panose="020B0604020202020204" pitchFamily="34" charset="0"/>
                  <a:buChar char="•"/>
                </a:pPr>
                <a14:m>
                  <m:oMath xmlns:m="http://schemas.openxmlformats.org/officeDocument/2006/math">
                    <m:r>
                      <a:rPr lang="en-US" b="1" i="1" dirty="0" smtClean="0">
                        <a:latin typeface="Cambria Math" panose="02040503050406030204" pitchFamily="18" charset="0"/>
                      </a:rPr>
                      <m:t>𝑵𝒖𝒎𝒃𝒆𝒓</m:t>
                    </m:r>
                    <m:r>
                      <a:rPr lang="en-US" b="1" i="1" dirty="0" smtClean="0">
                        <a:latin typeface="Cambria Math" panose="02040503050406030204" pitchFamily="18" charset="0"/>
                      </a:rPr>
                      <m:t> </m:t>
                    </m:r>
                    <m:r>
                      <a:rPr lang="en-US" b="1" i="1" dirty="0" smtClean="0">
                        <a:latin typeface="Cambria Math" panose="02040503050406030204" pitchFamily="18" charset="0"/>
                      </a:rPr>
                      <m:t>𝒐𝒇</m:t>
                    </m:r>
                    <m:r>
                      <a:rPr lang="en-US" b="1" i="1" dirty="0" smtClean="0">
                        <a:latin typeface="Cambria Math" panose="02040503050406030204" pitchFamily="18" charset="0"/>
                      </a:rPr>
                      <m:t> </m:t>
                    </m:r>
                    <m:r>
                      <a:rPr lang="en-US" b="1" i="1" dirty="0" smtClean="0">
                        <a:latin typeface="Cambria Math" panose="02040503050406030204" pitchFamily="18" charset="0"/>
                      </a:rPr>
                      <m:t>𝒊𝒏𝒔𝒕𝒓𝒖𝒄𝒕𝒊𝒐𝒏𝒔</m:t>
                    </m:r>
                    <m:r>
                      <a:rPr lang="en-US" i="1" dirty="0" smtClean="0">
                        <a:latin typeface="Cambria Math" panose="02040503050406030204" pitchFamily="18" charset="0"/>
                      </a:rPr>
                      <m:t> </m:t>
                    </m:r>
                    <m:r>
                      <a:rPr lang="en-US" i="1" dirty="0" smtClean="0">
                        <a:latin typeface="Cambria Math" panose="02040503050406030204" pitchFamily="18" charset="0"/>
                      </a:rPr>
                      <m:t>𝑁</m:t>
                    </m:r>
                    <m:r>
                      <a:rPr lang="en-US" i="1" dirty="0" smtClean="0">
                        <a:latin typeface="Cambria Math" panose="02040503050406030204" pitchFamily="18" charset="0"/>
                      </a:rPr>
                      <m:t>=1000</m:t>
                    </m:r>
                  </m:oMath>
                </a14:m>
                <a:endParaRPr lang="en-US" dirty="0"/>
              </a:p>
              <a:p>
                <a:pPr marL="457200" indent="-400050">
                  <a:spcBef>
                    <a:spcPts val="0"/>
                  </a:spcBef>
                  <a:spcAft>
                    <a:spcPts val="0"/>
                  </a:spcAft>
                  <a:buFont typeface="Arial" panose="020B0604020202020204" pitchFamily="34" charset="0"/>
                  <a:buChar char="•"/>
                </a:pPr>
                <a14:m>
                  <m:oMath xmlns:m="http://schemas.openxmlformats.org/officeDocument/2006/math">
                    <m:r>
                      <a:rPr lang="en-US" b="1" i="1" dirty="0" smtClean="0">
                        <a:latin typeface="Cambria Math" panose="02040503050406030204" pitchFamily="18" charset="0"/>
                      </a:rPr>
                      <m:t>𝑵𝒖𝒎𝒃𝒆𝒓</m:t>
                    </m:r>
                    <m:r>
                      <a:rPr lang="en-US" b="1" i="1" dirty="0" smtClean="0">
                        <a:latin typeface="Cambria Math" panose="02040503050406030204" pitchFamily="18" charset="0"/>
                      </a:rPr>
                      <m:t> </m:t>
                    </m:r>
                    <m:r>
                      <a:rPr lang="en-US" b="1" i="1" dirty="0" smtClean="0">
                        <a:latin typeface="Cambria Math" panose="02040503050406030204" pitchFamily="18" charset="0"/>
                      </a:rPr>
                      <m:t>𝒐𝒇</m:t>
                    </m:r>
                    <m:r>
                      <a:rPr lang="en-US" b="1" i="1" dirty="0" smtClean="0">
                        <a:latin typeface="Cambria Math" panose="02040503050406030204" pitchFamily="18" charset="0"/>
                      </a:rPr>
                      <m:t> </m:t>
                    </m:r>
                    <m:r>
                      <a:rPr lang="en-US" b="1" i="1" dirty="0" smtClean="0">
                        <a:latin typeface="Cambria Math" panose="02040503050406030204" pitchFamily="18" charset="0"/>
                      </a:rPr>
                      <m:t>𝒑𝒊𝒑𝒆𝒍𝒊𝒏𝒆</m:t>
                    </m:r>
                    <m:r>
                      <a:rPr lang="en-US" b="1" i="1" dirty="0" smtClean="0">
                        <a:latin typeface="Cambria Math" panose="02040503050406030204" pitchFamily="18" charset="0"/>
                      </a:rPr>
                      <m:t> </m:t>
                    </m:r>
                    <m:r>
                      <a:rPr lang="en-US" b="1" i="1" dirty="0" smtClean="0">
                        <a:latin typeface="Cambria Math" panose="02040503050406030204" pitchFamily="18" charset="0"/>
                      </a:rPr>
                      <m:t>𝒔𝒕𝒂𝒈𝒆𝒔</m:t>
                    </m:r>
                    <m:r>
                      <a:rPr lang="en-US" i="1" dirty="0" smtClean="0">
                        <a:latin typeface="Cambria Math" panose="02040503050406030204" pitchFamily="18" charset="0"/>
                      </a:rPr>
                      <m:t> </m:t>
                    </m:r>
                    <m:r>
                      <a:rPr lang="en-US" i="1" dirty="0" smtClean="0">
                        <a:latin typeface="Cambria Math" panose="02040503050406030204" pitchFamily="18" charset="0"/>
                      </a:rPr>
                      <m:t>𝐾</m:t>
                    </m:r>
                    <m:r>
                      <a:rPr lang="en-US" i="1" dirty="0" smtClean="0">
                        <a:latin typeface="Cambria Math" panose="02040503050406030204" pitchFamily="18" charset="0"/>
                      </a:rPr>
                      <m:t> (</m:t>
                    </m:r>
                    <m:r>
                      <a:rPr lang="en-US" i="1" dirty="0" smtClean="0">
                        <a:latin typeface="Cambria Math" panose="02040503050406030204" pitchFamily="18" charset="0"/>
                      </a:rPr>
                      <m:t>𝑙𝑒𝑡</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smtClean="0">
                        <a:latin typeface="Cambria Math" panose="02040503050406030204" pitchFamily="18" charset="0"/>
                      </a:rPr>
                      <m:t>𝑎𝑠𝑠𝑢𝑚𝑒</m:t>
                    </m:r>
                    <m:r>
                      <a:rPr lang="en-US" i="1" dirty="0" smtClean="0">
                        <a:latin typeface="Cambria Math" panose="02040503050406030204" pitchFamily="18" charset="0"/>
                      </a:rPr>
                      <m:t> </m:t>
                    </m:r>
                    <m:r>
                      <a:rPr lang="en-US" b="1" i="1" dirty="0" smtClean="0">
                        <a:latin typeface="Cambria Math" panose="02040503050406030204" pitchFamily="18" charset="0"/>
                      </a:rPr>
                      <m:t>𝑲</m:t>
                    </m:r>
                    <m:r>
                      <a:rPr lang="en-US" b="1" i="1" dirty="0" smtClean="0">
                        <a:latin typeface="Cambria Math" panose="02040503050406030204" pitchFamily="18" charset="0"/>
                      </a:rPr>
                      <m:t> = </m:t>
                    </m:r>
                    <m:r>
                      <a:rPr lang="en-US" b="1" i="1" dirty="0" smtClean="0">
                        <a:latin typeface="Cambria Math" panose="02040503050406030204" pitchFamily="18" charset="0"/>
                      </a:rPr>
                      <m:t>𝟓</m:t>
                    </m:r>
                    <m:r>
                      <a:rPr lang="en-US" i="1" dirty="0" smtClean="0">
                        <a:latin typeface="Cambria Math" panose="02040503050406030204" pitchFamily="18" charset="0"/>
                      </a:rPr>
                      <m:t> </m:t>
                    </m:r>
                    <m:r>
                      <a:rPr lang="en-US" i="1" dirty="0" smtClean="0">
                        <a:latin typeface="Cambria Math" panose="02040503050406030204" pitchFamily="18" charset="0"/>
                      </a:rPr>
                      <m:t>𝑎𝑠</m:t>
                    </m:r>
                    <m:r>
                      <a:rPr lang="en-US" i="1" dirty="0" smtClean="0">
                        <a:latin typeface="Cambria Math" panose="02040503050406030204" pitchFamily="18" charset="0"/>
                      </a:rPr>
                      <m:t> </m:t>
                    </m:r>
                    <m:r>
                      <a:rPr lang="en-US" i="1" dirty="0" smtClean="0">
                        <a:latin typeface="Cambria Math" panose="02040503050406030204" pitchFamily="18" charset="0"/>
                      </a:rPr>
                      <m:t>𝑎</m:t>
                    </m:r>
                    <m:r>
                      <a:rPr lang="en-US" i="1" dirty="0" smtClean="0">
                        <a:latin typeface="Cambria Math" panose="02040503050406030204" pitchFamily="18" charset="0"/>
                      </a:rPr>
                      <m:t> </m:t>
                    </m:r>
                    <m:r>
                      <a:rPr lang="en-US" i="1" dirty="0" smtClean="0">
                        <a:latin typeface="Cambria Math" panose="02040503050406030204" pitchFamily="18" charset="0"/>
                      </a:rPr>
                      <m:t>𝑐𝑜𝑚𝑚𝑜𝑛</m:t>
                    </m:r>
                    <m:r>
                      <a:rPr lang="en-US" i="1" dirty="0" smtClean="0">
                        <a:latin typeface="Cambria Math" panose="02040503050406030204" pitchFamily="18" charset="0"/>
                      </a:rPr>
                      <m:t> </m:t>
                    </m:r>
                    <m:r>
                      <a:rPr lang="en-US" i="1" dirty="0" smtClean="0">
                        <a:latin typeface="Cambria Math" panose="02040503050406030204" pitchFamily="18" charset="0"/>
                      </a:rPr>
                      <m:t>𝑐𝑎𝑠𝑒</m:t>
                    </m:r>
                    <m:r>
                      <a:rPr lang="en-US" i="1" dirty="0" smtClean="0">
                        <a:latin typeface="Cambria Math" panose="02040503050406030204" pitchFamily="18" charset="0"/>
                      </a:rPr>
                      <m:t>)</m:t>
                    </m:r>
                  </m:oMath>
                </a14:m>
                <a:endParaRPr lang="en-US" dirty="0"/>
              </a:p>
              <a:p>
                <a:pPr>
                  <a:spcBef>
                    <a:spcPts val="0"/>
                  </a:spcBef>
                  <a:spcAft>
                    <a:spcPts val="0"/>
                  </a:spcAft>
                </a:pPr>
                <a:r>
                  <a:rPr lang="en-US" dirty="0"/>
                  <a:t>The formula for total clock cycles in a pipelined processor:</a:t>
                </a:r>
              </a:p>
              <a:p>
                <a:pPr algn="ctr">
                  <a:spcBef>
                    <a:spcPts val="0"/>
                  </a:spcBef>
                  <a:spcAft>
                    <a:spcPts val="0"/>
                  </a:spcAft>
                </a:pPr>
                <a14:m>
                  <m:oMath xmlns:m="http://schemas.openxmlformats.org/officeDocument/2006/math">
                    <m:r>
                      <a:rPr lang="en-US" i="1" dirty="0" smtClean="0">
                        <a:latin typeface="Cambria Math" panose="02040503050406030204" pitchFamily="18" charset="0"/>
                      </a:rPr>
                      <m:t>𝐶𝑙𝑜𝑐𝑘</m:t>
                    </m:r>
                    <m:r>
                      <a:rPr lang="en-US" i="1" dirty="0" smtClean="0">
                        <a:latin typeface="Cambria Math" panose="02040503050406030204" pitchFamily="18" charset="0"/>
                      </a:rPr>
                      <m:t> </m:t>
                    </m:r>
                    <m:r>
                      <a:rPr lang="en-US" i="1" dirty="0" smtClean="0">
                        <a:latin typeface="Cambria Math" panose="02040503050406030204" pitchFamily="18" charset="0"/>
                      </a:rPr>
                      <m:t>𝐶𝑦𝑐𝑙𝑒𝑠</m:t>
                    </m:r>
                    <m:r>
                      <a:rPr lang="en-US" i="1" dirty="0" smtClean="0">
                        <a:latin typeface="Cambria Math" panose="02040503050406030204" pitchFamily="18" charset="0"/>
                      </a:rPr>
                      <m:t>=</m:t>
                    </m:r>
                    <m:r>
                      <a:rPr lang="en-US" i="1" dirty="0" smtClean="0">
                        <a:latin typeface="Cambria Math" panose="02040503050406030204" pitchFamily="18" charset="0"/>
                      </a:rPr>
                      <m:t>𝐾</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𝑁</m:t>
                        </m:r>
                        <m:r>
                          <a:rPr lang="en-US" i="1" dirty="0" smtClean="0">
                            <a:latin typeface="Cambria Math" panose="02040503050406030204" pitchFamily="18" charset="0"/>
                          </a:rPr>
                          <m:t>−1</m:t>
                        </m:r>
                      </m:e>
                    </m:d>
                  </m:oMath>
                </a14:m>
                <a:endParaRPr lang="en-US" dirty="0"/>
              </a:p>
              <a:p>
                <a:pPr>
                  <a:spcBef>
                    <a:spcPts val="0"/>
                  </a:spcBef>
                  <a:spcAft>
                    <a:spcPts val="0"/>
                  </a:spcAft>
                </a:pPr>
                <a:r>
                  <a:rPr lang="en-US" dirty="0"/>
                  <a:t>Substituting values:</a:t>
                </a:r>
              </a:p>
              <a:p>
                <a:pPr algn="ctr">
                  <a:spcBef>
                    <a:spcPts val="0"/>
                  </a:spcBef>
                  <a:spcAft>
                    <a:spcPts val="0"/>
                  </a:spcAft>
                </a:pPr>
                <a14:m>
                  <m:oMath xmlns:m="http://schemas.openxmlformats.org/officeDocument/2006/math">
                    <m:r>
                      <a:rPr lang="en-US" i="1" dirty="0" smtClean="0">
                        <a:latin typeface="Cambria Math" panose="02040503050406030204" pitchFamily="18" charset="0"/>
                      </a:rPr>
                      <m:t>𝐶𝑙𝑜𝑐𝑘</m:t>
                    </m:r>
                    <m:r>
                      <a:rPr lang="en-US" i="1" dirty="0" smtClean="0">
                        <a:latin typeface="Cambria Math" panose="02040503050406030204" pitchFamily="18" charset="0"/>
                      </a:rPr>
                      <m:t> </m:t>
                    </m:r>
                    <m:r>
                      <a:rPr lang="en-US" i="1" dirty="0" smtClean="0">
                        <a:latin typeface="Cambria Math" panose="02040503050406030204" pitchFamily="18" charset="0"/>
                      </a:rPr>
                      <m:t>𝐶𝑦𝑐𝑙𝑒𝑠</m:t>
                    </m:r>
                    <m:r>
                      <a:rPr lang="en-US" i="1" dirty="0" smtClean="0">
                        <a:latin typeface="Cambria Math" panose="02040503050406030204" pitchFamily="18" charset="0"/>
                      </a:rPr>
                      <m:t>=5+</m:t>
                    </m:r>
                    <m:d>
                      <m:dPr>
                        <m:ctrlPr>
                          <a:rPr lang="en-US" i="1" dirty="0" smtClean="0">
                            <a:latin typeface="Cambria Math" panose="02040503050406030204" pitchFamily="18" charset="0"/>
                          </a:rPr>
                        </m:ctrlPr>
                      </m:dPr>
                      <m:e>
                        <m:r>
                          <a:rPr lang="en-US" b="0" i="1" dirty="0" smtClean="0">
                            <a:latin typeface="Cambria Math" panose="02040503050406030204" pitchFamily="18" charset="0"/>
                          </a:rPr>
                          <m:t>1000</m:t>
                        </m:r>
                        <m:r>
                          <a:rPr lang="en-US" i="1" dirty="0" smtClean="0">
                            <a:latin typeface="Cambria Math" panose="02040503050406030204" pitchFamily="18" charset="0"/>
                          </a:rPr>
                          <m:t>−1</m:t>
                        </m:r>
                      </m:e>
                    </m:d>
                    <m:r>
                      <a:rPr lang="en-US" b="0" i="1" dirty="0" smtClean="0">
                        <a:latin typeface="Cambria Math" panose="02040503050406030204" pitchFamily="18" charset="0"/>
                      </a:rPr>
                      <m:t>=1004</m:t>
                    </m:r>
                  </m:oMath>
                </a14:m>
                <a:endParaRPr lang="en-US" b="0" dirty="0"/>
              </a:p>
              <a:p>
                <a:pPr>
                  <a:spcBef>
                    <a:spcPts val="0"/>
                  </a:spcBef>
                  <a:spcAft>
                    <a:spcPts val="0"/>
                  </a:spcAft>
                </a:pPr>
                <a:r>
                  <a:rPr lang="en-US" dirty="0"/>
                  <a:t>The </a:t>
                </a:r>
                <a:r>
                  <a:rPr lang="en-US" b="1" dirty="0"/>
                  <a:t>CPI (Clock Cycles Per Instruction)</a:t>
                </a:r>
                <a:r>
                  <a:rPr lang="en-US" dirty="0"/>
                  <a:t> is:</a:t>
                </a:r>
              </a:p>
              <a:p>
                <a:pPr algn="ctr">
                  <a:spcBef>
                    <a:spcPts val="0"/>
                  </a:spcBef>
                  <a:spcAft>
                    <a:spcPts val="0"/>
                  </a:spcAft>
                </a:pPr>
                <a14:m>
                  <m:oMath xmlns:m="http://schemas.openxmlformats.org/officeDocument/2006/math">
                    <m:r>
                      <a:rPr lang="en-US" i="1" dirty="0" smtClean="0">
                        <a:latin typeface="Cambria Math" panose="02040503050406030204" pitchFamily="18" charset="0"/>
                      </a:rPr>
                      <m:t>𝐶𝑃𝐼</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𝑇𝑜𝑡𝑎𝑙</m:t>
                        </m:r>
                        <m:r>
                          <a:rPr lang="en-US" b="0" i="1" dirty="0" smtClean="0">
                            <a:latin typeface="Cambria Math" panose="02040503050406030204" pitchFamily="18" charset="0"/>
                          </a:rPr>
                          <m:t> </m:t>
                        </m:r>
                        <m:r>
                          <a:rPr lang="en-US" b="0" i="1" dirty="0" smtClean="0">
                            <a:latin typeface="Cambria Math" panose="02040503050406030204" pitchFamily="18" charset="0"/>
                          </a:rPr>
                          <m:t>𝐶𝐿𝑜𝑐𝑘</m:t>
                        </m:r>
                        <m:r>
                          <a:rPr lang="en-US" b="0" i="1" dirty="0" smtClean="0">
                            <a:latin typeface="Cambria Math" panose="02040503050406030204" pitchFamily="18" charset="0"/>
                          </a:rPr>
                          <m:t> </m:t>
                        </m:r>
                        <m:r>
                          <a:rPr lang="en-US" b="0" i="1" dirty="0" smtClean="0">
                            <a:latin typeface="Cambria Math" panose="02040503050406030204" pitchFamily="18" charset="0"/>
                          </a:rPr>
                          <m:t>𝐶𝑦𝑐𝑙𝑒𝑠</m:t>
                        </m:r>
                      </m:num>
                      <m:den>
                        <m:r>
                          <a:rPr lang="en-US" b="0" i="1" dirty="0" smtClean="0">
                            <a:latin typeface="Cambria Math" panose="02040503050406030204" pitchFamily="18" charset="0"/>
                          </a:rPr>
                          <m:t>𝑇𝑜𝑡𝑎𝑙</m:t>
                        </m:r>
                        <m:r>
                          <a:rPr lang="en-US" b="0" i="1" dirty="0" smtClean="0">
                            <a:latin typeface="Cambria Math" panose="02040503050406030204" pitchFamily="18" charset="0"/>
                          </a:rPr>
                          <m:t> </m:t>
                        </m:r>
                        <m:r>
                          <a:rPr lang="en-US" b="0" i="1" dirty="0" smtClean="0">
                            <a:latin typeface="Cambria Math" panose="02040503050406030204" pitchFamily="18" charset="0"/>
                          </a:rPr>
                          <m:t>𝐼𝑛𝑠𝑡𝑟𝑢𝑐𝑡𝑖𝑜𝑛𝑠</m:t>
                        </m:r>
                      </m:den>
                    </m:f>
                  </m:oMath>
                </a14:m>
                <a:endParaRPr lang="en-US" dirty="0"/>
              </a:p>
              <a:p>
                <a:pPr algn="ctr">
                  <a:spcBef>
                    <a:spcPts val="0"/>
                  </a:spcBef>
                  <a:spcAft>
                    <a:spcPts val="0"/>
                  </a:spcAft>
                </a:pPr>
                <a14:m>
                  <m:oMath xmlns:m="http://schemas.openxmlformats.org/officeDocument/2006/math">
                    <m:r>
                      <a:rPr lang="en-US" i="1" dirty="0" smtClean="0">
                        <a:latin typeface="Cambria Math" panose="02040503050406030204" pitchFamily="18" charset="0"/>
                      </a:rPr>
                      <m:t>𝐶𝑃𝐼</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1004</m:t>
                        </m:r>
                      </m:num>
                      <m:den>
                        <m:r>
                          <a:rPr lang="en-US" b="0" i="1" dirty="0" smtClean="0">
                            <a:latin typeface="Cambria Math" panose="02040503050406030204" pitchFamily="18" charset="0"/>
                          </a:rPr>
                          <m:t>1000</m:t>
                        </m:r>
                      </m:den>
                    </m:f>
                    <m:r>
                      <a:rPr lang="en-US" b="0" i="1" dirty="0" smtClean="0">
                        <a:latin typeface="Cambria Math" panose="02040503050406030204" pitchFamily="18" charset="0"/>
                      </a:rPr>
                      <m:t>=1.004</m:t>
                    </m:r>
                    <m:r>
                      <a:rPr lang="en-US" b="0" i="1" dirty="0"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pPr>
                  <a:spcBef>
                    <a:spcPts val="0"/>
                  </a:spcBef>
                  <a:spcAft>
                    <a:spcPts val="0"/>
                  </a:spcAft>
                </a:pPr>
                <a:r>
                  <a:rPr lang="en-US" b="1" dirty="0"/>
                  <a:t>Interpretation:</a:t>
                </a:r>
              </a:p>
              <a:p>
                <a:pPr>
                  <a:spcBef>
                    <a:spcPts val="0"/>
                  </a:spcBef>
                  <a:spcAft>
                    <a:spcPts val="0"/>
                  </a:spcAft>
                  <a:buFont typeface="Arial" panose="020B0604020202020204" pitchFamily="34" charset="0"/>
                  <a:buChar char="•"/>
                </a:pPr>
                <a:r>
                  <a:rPr lang="en-US" dirty="0"/>
                  <a:t>The CPI is </a:t>
                </a:r>
                <a:r>
                  <a:rPr lang="en-US" b="1" dirty="0"/>
                  <a:t>very close to 1</a:t>
                </a:r>
                <a:r>
                  <a:rPr lang="en-US" dirty="0"/>
                  <a:t>, which indicates </a:t>
                </a:r>
                <a:r>
                  <a:rPr lang="en-US" b="1" dirty="0"/>
                  <a:t>high efficiency</a:t>
                </a:r>
                <a:r>
                  <a:rPr lang="en-US" dirty="0"/>
                  <a:t> of pipelining.</a:t>
                </a:r>
              </a:p>
              <a:p>
                <a:pPr>
                  <a:spcBef>
                    <a:spcPts val="0"/>
                  </a:spcBef>
                  <a:spcAft>
                    <a:spcPts val="0"/>
                  </a:spcAft>
                  <a:buFont typeface="Arial" panose="020B0604020202020204" pitchFamily="34" charset="0"/>
                  <a:buChar char="•"/>
                </a:pPr>
                <a:r>
                  <a:rPr lang="en-US" dirty="0"/>
                  <a:t>As </a:t>
                </a:r>
                <a:r>
                  <a:rPr lang="en-US" b="1" dirty="0"/>
                  <a:t>N</a:t>
                </a:r>
                <a:r>
                  <a:rPr lang="en-US" dirty="0"/>
                  <a:t> increases, CPI approaches </a:t>
                </a:r>
                <a:r>
                  <a:rPr lang="en-US" b="1" dirty="0"/>
                  <a:t>1</a:t>
                </a:r>
                <a:r>
                  <a:rPr lang="en-US" dirty="0"/>
                  <a:t> in an ideal pipeline.</a:t>
                </a:r>
              </a:p>
            </p:txBody>
          </p:sp>
        </mc:Choice>
        <mc:Fallback>
          <p:sp>
            <p:nvSpPr>
              <p:cNvPr id="3" name="Content Placeholder 2">
                <a:extLst>
                  <a:ext uri="{FF2B5EF4-FFF2-40B4-BE49-F238E27FC236}">
                    <a16:creationId xmlns:a16="http://schemas.microsoft.com/office/drawing/2014/main" id="{974BD70D-7F12-D77D-6957-B9985B2AE9F0}"/>
                  </a:ext>
                </a:extLst>
              </p:cNvPr>
              <p:cNvSpPr>
                <a:spLocks noGrp="1" noRot="1" noChangeAspect="1" noMove="1" noResize="1" noEditPoints="1" noAdjustHandles="1" noChangeArrowheads="1" noChangeShapeType="1" noTextEdit="1"/>
              </p:cNvSpPr>
              <p:nvPr>
                <p:ph idx="1"/>
              </p:nvPr>
            </p:nvSpPr>
            <p:spPr>
              <a:blipFill>
                <a:blip r:embed="rId2"/>
                <a:stretch>
                  <a:fillRect l="-1455" t="-1667"/>
                </a:stretch>
              </a:blipFill>
            </p:spPr>
            <p:txBody>
              <a:bodyPr/>
              <a:lstStyle/>
              <a:p>
                <a:r>
                  <a:rPr lang="en-US">
                    <a:noFill/>
                  </a:rPr>
                  <a:t> </a:t>
                </a:r>
              </a:p>
            </p:txBody>
          </p:sp>
        </mc:Fallback>
      </mc:AlternateContent>
    </p:spTree>
    <p:extLst>
      <p:ext uri="{BB962C8B-B14F-4D97-AF65-F5344CB8AC3E}">
        <p14:creationId xmlns:p14="http://schemas.microsoft.com/office/powerpoint/2010/main" val="27253185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6392F-250D-55B8-3D36-EF11CD5F89C2}"/>
              </a:ext>
            </a:extLst>
          </p:cNvPr>
          <p:cNvSpPr>
            <a:spLocks noGrp="1"/>
          </p:cNvSpPr>
          <p:nvPr>
            <p:ph type="title"/>
          </p:nvPr>
        </p:nvSpPr>
        <p:spPr/>
        <p:txBody>
          <a:bodyPr/>
          <a:lstStyle/>
          <a:p>
            <a:r>
              <a:rPr lang="en-US" dirty="0"/>
              <a:t>Utilization Formula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50DFD1-173B-7B00-3691-A8BCF6FED03F}"/>
                  </a:ext>
                </a:extLst>
              </p:cNvPr>
              <p:cNvSpPr>
                <a:spLocks noGrp="1"/>
              </p:cNvSpPr>
              <p:nvPr>
                <p:ph idx="1"/>
              </p:nvPr>
            </p:nvSpPr>
            <p:spPr/>
            <p:txBody>
              <a:bodyPr/>
              <a:lstStyle/>
              <a:p>
                <a:r>
                  <a:rPr lang="en-US" dirty="0">
                    <a:solidFill>
                      <a:schemeClr val="tx1"/>
                    </a:solidFill>
                  </a:rPr>
                  <a:t>Pipeline </a:t>
                </a:r>
                <a:r>
                  <a:rPr lang="en-US" b="1" dirty="0">
                    <a:solidFill>
                      <a:schemeClr val="tx1"/>
                    </a:solidFill>
                  </a:rPr>
                  <a:t>utilization</a:t>
                </a:r>
                <a:r>
                  <a:rPr lang="en-US" dirty="0">
                    <a:solidFill>
                      <a:schemeClr val="tx1"/>
                    </a:solidFill>
                  </a:rPr>
                  <a:t> measures how efficiently the pipeline stages are being used. It is given by:</a:t>
                </a:r>
              </a:p>
              <a:p>
                <a:pPr algn="ctr"/>
                <a14:m>
                  <m:oMath xmlns:m="http://schemas.openxmlformats.org/officeDocument/2006/math">
                    <m:r>
                      <a:rPr lang="en-US" b="0" i="1" smtClean="0">
                        <a:solidFill>
                          <a:schemeClr val="tx1"/>
                        </a:solidFill>
                        <a:latin typeface="Cambria Math" panose="02040503050406030204" pitchFamily="18" charset="0"/>
                      </a:rPr>
                      <m:t>𝑈𝑡𝑖𝑙𝑖𝑧𝑎𝑡𝑖𝑜𝑛</m:t>
                    </m:r>
                    <m:r>
                      <a:rPr lang="en-US" b="0" i="1" smtClean="0">
                        <a:solidFill>
                          <a:schemeClr val="tx1"/>
                        </a:solidFill>
                        <a:latin typeface="Cambria Math" panose="02040503050406030204" pitchFamily="18" charset="0"/>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𝐵𝑢𝑠𝑦</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𝑇𝑖𝑚𝑒</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𝑜𝑓</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𝑃𝑖𝑝𝑒𝑙𝑖𝑛𝑒</m:t>
                        </m:r>
                      </m:num>
                      <m:den>
                        <m:r>
                          <a:rPr lang="en-US" b="0" i="1" smtClean="0">
                            <a:solidFill>
                              <a:schemeClr val="tx1"/>
                            </a:solidFill>
                            <a:latin typeface="Cambria Math" panose="02040503050406030204" pitchFamily="18" charset="0"/>
                          </a:rPr>
                          <m:t>𝑇𝑜𝑡𝑎𝑙</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𝑇𝑖𝑚𝑒</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𝐴𝑣𝑎𝑖𝑙𝑎𝑏𝑙𝑒</m:t>
                        </m:r>
                      </m:den>
                    </m:f>
                  </m:oMath>
                </a14:m>
                <a:endParaRPr lang="en-US" dirty="0">
                  <a:solidFill>
                    <a:schemeClr val="tx1"/>
                  </a:solidFill>
                </a:endParaRPr>
              </a:p>
              <a:p>
                <a:pPr/>
                <a:r>
                  <a:rPr lang="en-US" dirty="0"/>
                  <a:t>In a pipelined architecture, the </a:t>
                </a:r>
                <a:r>
                  <a:rPr lang="en-US" b="1" dirty="0"/>
                  <a:t>total available time</a:t>
                </a:r>
                <a:r>
                  <a:rPr lang="en-US" dirty="0"/>
                  <a:t> is the product of </a:t>
                </a:r>
                <a:r>
                  <a:rPr lang="en-US" b="1" dirty="0"/>
                  <a:t>number of stages</a:t>
                </a:r>
                <a:r>
                  <a:rPr lang="en-US" dirty="0"/>
                  <a:t> (K) and </a:t>
                </a:r>
                <a:r>
                  <a:rPr lang="en-US" b="1" dirty="0"/>
                  <a:t>total clock cycles</a:t>
                </a:r>
                <a:r>
                  <a:rPr lang="en-US" dirty="0"/>
                  <a:t>:</a:t>
                </a:r>
              </a:p>
              <a:p>
                <a14:m>
                  <m:oMath xmlns:m="http://schemas.openxmlformats.org/officeDocument/2006/math">
                    <m:r>
                      <a:rPr lang="en-US" b="0" i="1" smtClean="0">
                        <a:solidFill>
                          <a:schemeClr val="tx1"/>
                        </a:solidFill>
                        <a:latin typeface="Cambria Math" panose="02040503050406030204" pitchFamily="18" charset="0"/>
                      </a:rPr>
                      <m:t>𝑈𝑡𝑖𝑙𝑖𝑧𝑎𝑡𝑖𝑜𝑛</m:t>
                    </m:r>
                    <m:r>
                      <a:rPr lang="en-US" b="0" i="1" smtClean="0">
                        <a:solidFill>
                          <a:schemeClr val="tx1"/>
                        </a:solidFill>
                        <a:latin typeface="Cambria Math" panose="02040503050406030204" pitchFamily="18" charset="0"/>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𝑁</m:t>
                        </m:r>
                      </m:num>
                      <m:den>
                        <m:r>
                          <a:rPr lang="en-US" b="0" i="1" smtClean="0">
                            <a:solidFill>
                              <a:schemeClr val="tx1"/>
                            </a:solidFill>
                            <a:latin typeface="Cambria Math" panose="02040503050406030204" pitchFamily="18" charset="0"/>
                          </a:rPr>
                          <m:t>𝐾</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r>
                          <a:rPr lang="en-US" b="0" i="1" smtClean="0">
                            <a:solidFill>
                              <a:schemeClr val="tx1"/>
                            </a:solidFill>
                            <a:latin typeface="Cambria Math" panose="02040503050406030204" pitchFamily="18" charset="0"/>
                          </a:rPr>
                          <m:t>−1)</m:t>
                        </m:r>
                      </m:den>
                    </m:f>
                  </m:oMath>
                </a14:m>
                <a:endParaRPr lang="en-US" b="0" dirty="0">
                  <a:solidFill>
                    <a:schemeClr val="tx1"/>
                  </a:solidFill>
                </a:endParaRPr>
              </a:p>
              <a:p>
                <a:r>
                  <a:rPr lang="en-US" dirty="0"/>
                  <a:t>Where:</a:t>
                </a:r>
              </a:p>
              <a:p>
                <a:pPr marL="45720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 = </m:t>
                    </m:r>
                    <m:r>
                      <a:rPr lang="en-US" i="1" dirty="0" smtClean="0">
                        <a:latin typeface="Cambria Math" panose="02040503050406030204" pitchFamily="18" charset="0"/>
                      </a:rPr>
                      <m:t>𝑁𝑢𝑚𝑏𝑒𝑟</m:t>
                    </m:r>
                    <m:r>
                      <a:rPr lang="en-US" i="1" dirty="0" smtClean="0">
                        <a:latin typeface="Cambria Math" panose="02040503050406030204" pitchFamily="18" charset="0"/>
                      </a:rPr>
                      <m:t> </m:t>
                    </m:r>
                    <m:r>
                      <a:rPr lang="en-US" i="1" dirty="0" smtClean="0">
                        <a:latin typeface="Cambria Math" panose="02040503050406030204" pitchFamily="18" charset="0"/>
                      </a:rPr>
                      <m:t>𝑜𝑓</m:t>
                    </m:r>
                    <m:r>
                      <a:rPr lang="en-US" i="1" dirty="0" smtClean="0">
                        <a:latin typeface="Cambria Math" panose="02040503050406030204" pitchFamily="18" charset="0"/>
                      </a:rPr>
                      <m:t> </m:t>
                    </m:r>
                    <m:r>
                      <a:rPr lang="en-US" i="1" dirty="0" smtClean="0">
                        <a:latin typeface="Cambria Math" panose="02040503050406030204" pitchFamily="18" charset="0"/>
                      </a:rPr>
                      <m:t>𝑖𝑛𝑠𝑡𝑟𝑢𝑐𝑡𝑖𝑜𝑛𝑠</m:t>
                    </m:r>
                  </m:oMath>
                </a14:m>
                <a:endParaRPr lang="en-US" dirty="0"/>
              </a:p>
              <a:p>
                <a:pPr marL="45720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 = </m:t>
                    </m:r>
                    <m:r>
                      <a:rPr lang="en-US" i="1" dirty="0" smtClean="0">
                        <a:latin typeface="Cambria Math" panose="02040503050406030204" pitchFamily="18" charset="0"/>
                      </a:rPr>
                      <m:t>𝑁𝑢𝑚𝑏𝑒𝑟</m:t>
                    </m:r>
                    <m:r>
                      <a:rPr lang="en-US" i="1" dirty="0" smtClean="0">
                        <a:latin typeface="Cambria Math" panose="02040503050406030204" pitchFamily="18" charset="0"/>
                      </a:rPr>
                      <m:t> </m:t>
                    </m:r>
                    <m:r>
                      <a:rPr lang="en-US" i="1" dirty="0" smtClean="0">
                        <a:latin typeface="Cambria Math" panose="02040503050406030204" pitchFamily="18" charset="0"/>
                      </a:rPr>
                      <m:t>𝑜𝑓</m:t>
                    </m:r>
                    <m:r>
                      <a:rPr lang="en-US" i="1" dirty="0" smtClean="0">
                        <a:latin typeface="Cambria Math" panose="02040503050406030204" pitchFamily="18" charset="0"/>
                      </a:rPr>
                      <m:t> </m:t>
                    </m:r>
                    <m:r>
                      <a:rPr lang="en-US" i="1" dirty="0" smtClean="0">
                        <a:latin typeface="Cambria Math" panose="02040503050406030204" pitchFamily="18" charset="0"/>
                      </a:rPr>
                      <m:t>𝑝𝑖𝑝𝑒𝑙𝑖𝑛𝑒</m:t>
                    </m:r>
                    <m:r>
                      <a:rPr lang="en-US" i="1" dirty="0" smtClean="0">
                        <a:latin typeface="Cambria Math" panose="02040503050406030204" pitchFamily="18" charset="0"/>
                      </a:rPr>
                      <m:t> </m:t>
                    </m:r>
                    <m:r>
                      <a:rPr lang="en-US" i="1" dirty="0" smtClean="0">
                        <a:latin typeface="Cambria Math" panose="02040503050406030204" pitchFamily="18" charset="0"/>
                      </a:rPr>
                      <m:t>𝑠𝑡𝑎𝑔𝑒𝑠</m:t>
                    </m:r>
                  </m:oMath>
                </a14:m>
                <a:endParaRPr lang="en-US" dirty="0"/>
              </a:p>
              <a:p>
                <a:endParaRPr lang="en-US" dirty="0">
                  <a:solidFill>
                    <a:schemeClr val="tx1"/>
                  </a:solidFill>
                </a:endParaRPr>
              </a:p>
              <a:p>
                <a:pPr/>
                <a:endParaRPr lang="en-US" dirty="0"/>
              </a:p>
              <a:p>
                <a:pPr/>
                <a:endParaRPr lang="en-US" dirty="0">
                  <a:solidFill>
                    <a:schemeClr val="tx1"/>
                  </a:solidFill>
                </a:endParaRPr>
              </a:p>
              <a:p>
                <a:endParaRPr lang="en-US" dirty="0">
                  <a:solidFill>
                    <a:schemeClr val="tx1"/>
                  </a:solidFill>
                </a:endParaRPr>
              </a:p>
            </p:txBody>
          </p:sp>
        </mc:Choice>
        <mc:Fallback>
          <p:sp>
            <p:nvSpPr>
              <p:cNvPr id="3" name="Content Placeholder 2">
                <a:extLst>
                  <a:ext uri="{FF2B5EF4-FFF2-40B4-BE49-F238E27FC236}">
                    <a16:creationId xmlns:a16="http://schemas.microsoft.com/office/drawing/2014/main" id="{1750DFD1-173B-7B00-3691-A8BCF6FED03F}"/>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Tree>
    <p:extLst>
      <p:ext uri="{BB962C8B-B14F-4D97-AF65-F5344CB8AC3E}">
        <p14:creationId xmlns:p14="http://schemas.microsoft.com/office/powerpoint/2010/main" val="1370449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3D6B-B2CA-0C86-F19B-833DFAE84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C7592-2EFC-F843-3E3A-8759436C6A27}"/>
              </a:ext>
            </a:extLst>
          </p:cNvPr>
          <p:cNvSpPr>
            <a:spLocks noGrp="1"/>
          </p:cNvSpPr>
          <p:nvPr>
            <p:ph type="title"/>
          </p:nvPr>
        </p:nvSpPr>
        <p:spPr/>
        <p:txBody>
          <a:bodyPr/>
          <a:lstStyle/>
          <a:p>
            <a:r>
              <a:rPr lang="en-US" dirty="0"/>
              <a:t>Pipeline Execution Diagram(space time Diagram)</a:t>
            </a:r>
          </a:p>
        </p:txBody>
      </p:sp>
      <p:graphicFrame>
        <p:nvGraphicFramePr>
          <p:cNvPr id="6" name="Content Placeholder 5">
            <a:extLst>
              <a:ext uri="{FF2B5EF4-FFF2-40B4-BE49-F238E27FC236}">
                <a16:creationId xmlns:a16="http://schemas.microsoft.com/office/drawing/2014/main" id="{B8A34B1F-3BEA-BE7E-DC73-F23DC9FCEB65}"/>
              </a:ext>
            </a:extLst>
          </p:cNvPr>
          <p:cNvGraphicFramePr>
            <a:graphicFrameLocks noGrp="1"/>
          </p:cNvGraphicFramePr>
          <p:nvPr>
            <p:ph idx="1"/>
            <p:extLst>
              <p:ext uri="{D42A27DB-BD31-4B8C-83A1-F6EECF244321}">
                <p14:modId xmlns:p14="http://schemas.microsoft.com/office/powerpoint/2010/main" val="1280661458"/>
              </p:ext>
            </p:extLst>
          </p:nvPr>
        </p:nvGraphicFramePr>
        <p:xfrm>
          <a:off x="1097280" y="1846263"/>
          <a:ext cx="10058400" cy="3573715"/>
        </p:xfrm>
        <a:graphic>
          <a:graphicData uri="http://schemas.openxmlformats.org/drawingml/2006/table">
            <a:tbl>
              <a:tblPr>
                <a:tableStyleId>{5940675A-B579-460E-94D1-54222C63F5DA}</a:tableStyleId>
              </a:tblPr>
              <a:tblGrid>
                <a:gridCol w="1005840">
                  <a:extLst>
                    <a:ext uri="{9D8B030D-6E8A-4147-A177-3AD203B41FA5}">
                      <a16:colId xmlns:a16="http://schemas.microsoft.com/office/drawing/2014/main" val="654707427"/>
                    </a:ext>
                  </a:extLst>
                </a:gridCol>
                <a:gridCol w="1005840">
                  <a:extLst>
                    <a:ext uri="{9D8B030D-6E8A-4147-A177-3AD203B41FA5}">
                      <a16:colId xmlns:a16="http://schemas.microsoft.com/office/drawing/2014/main" val="1548170434"/>
                    </a:ext>
                  </a:extLst>
                </a:gridCol>
                <a:gridCol w="1005840">
                  <a:extLst>
                    <a:ext uri="{9D8B030D-6E8A-4147-A177-3AD203B41FA5}">
                      <a16:colId xmlns:a16="http://schemas.microsoft.com/office/drawing/2014/main" val="874087978"/>
                    </a:ext>
                  </a:extLst>
                </a:gridCol>
                <a:gridCol w="1005840">
                  <a:extLst>
                    <a:ext uri="{9D8B030D-6E8A-4147-A177-3AD203B41FA5}">
                      <a16:colId xmlns:a16="http://schemas.microsoft.com/office/drawing/2014/main" val="3106304348"/>
                    </a:ext>
                  </a:extLst>
                </a:gridCol>
                <a:gridCol w="1005840">
                  <a:extLst>
                    <a:ext uri="{9D8B030D-6E8A-4147-A177-3AD203B41FA5}">
                      <a16:colId xmlns:a16="http://schemas.microsoft.com/office/drawing/2014/main" val="3505018914"/>
                    </a:ext>
                  </a:extLst>
                </a:gridCol>
                <a:gridCol w="1005840">
                  <a:extLst>
                    <a:ext uri="{9D8B030D-6E8A-4147-A177-3AD203B41FA5}">
                      <a16:colId xmlns:a16="http://schemas.microsoft.com/office/drawing/2014/main" val="1987538005"/>
                    </a:ext>
                  </a:extLst>
                </a:gridCol>
                <a:gridCol w="1005840">
                  <a:extLst>
                    <a:ext uri="{9D8B030D-6E8A-4147-A177-3AD203B41FA5}">
                      <a16:colId xmlns:a16="http://schemas.microsoft.com/office/drawing/2014/main" val="967397017"/>
                    </a:ext>
                  </a:extLst>
                </a:gridCol>
                <a:gridCol w="1005840">
                  <a:extLst>
                    <a:ext uri="{9D8B030D-6E8A-4147-A177-3AD203B41FA5}">
                      <a16:colId xmlns:a16="http://schemas.microsoft.com/office/drawing/2014/main" val="2901939662"/>
                    </a:ext>
                  </a:extLst>
                </a:gridCol>
                <a:gridCol w="1005840">
                  <a:extLst>
                    <a:ext uri="{9D8B030D-6E8A-4147-A177-3AD203B41FA5}">
                      <a16:colId xmlns:a16="http://schemas.microsoft.com/office/drawing/2014/main" val="388696608"/>
                    </a:ext>
                  </a:extLst>
                </a:gridCol>
                <a:gridCol w="1005840">
                  <a:extLst>
                    <a:ext uri="{9D8B030D-6E8A-4147-A177-3AD203B41FA5}">
                      <a16:colId xmlns:a16="http://schemas.microsoft.com/office/drawing/2014/main" val="2223938256"/>
                    </a:ext>
                  </a:extLst>
                </a:gridCol>
              </a:tblGrid>
              <a:tr h="582237">
                <a:tc>
                  <a:txBody>
                    <a:bodyPr/>
                    <a:lstStyle/>
                    <a:p>
                      <a:r>
                        <a:rPr lang="en-US" sz="2000"/>
                        <a:t>Clock Cycle →</a:t>
                      </a:r>
                    </a:p>
                  </a:txBody>
                  <a:tcPr marL="52931" marR="52931" marT="26465" marB="26465" anchor="ctr"/>
                </a:tc>
                <a:tc>
                  <a:txBody>
                    <a:bodyPr/>
                    <a:lstStyle/>
                    <a:p>
                      <a:r>
                        <a:rPr lang="en-US" sz="2000"/>
                        <a:t>1</a:t>
                      </a:r>
                    </a:p>
                  </a:txBody>
                  <a:tcPr marL="52931" marR="52931" marT="26465" marB="26465" anchor="ctr"/>
                </a:tc>
                <a:tc>
                  <a:txBody>
                    <a:bodyPr/>
                    <a:lstStyle/>
                    <a:p>
                      <a:r>
                        <a:rPr lang="en-US" sz="2000"/>
                        <a:t>2</a:t>
                      </a:r>
                    </a:p>
                  </a:txBody>
                  <a:tcPr marL="52931" marR="52931" marT="26465" marB="26465" anchor="ctr"/>
                </a:tc>
                <a:tc>
                  <a:txBody>
                    <a:bodyPr/>
                    <a:lstStyle/>
                    <a:p>
                      <a:r>
                        <a:rPr lang="en-US" sz="2000"/>
                        <a:t>3</a:t>
                      </a:r>
                    </a:p>
                  </a:txBody>
                  <a:tcPr marL="52931" marR="52931" marT="26465" marB="26465" anchor="ctr"/>
                </a:tc>
                <a:tc>
                  <a:txBody>
                    <a:bodyPr/>
                    <a:lstStyle/>
                    <a:p>
                      <a:r>
                        <a:rPr lang="en-US" sz="2000"/>
                        <a:t>4</a:t>
                      </a:r>
                    </a:p>
                  </a:txBody>
                  <a:tcPr marL="52931" marR="52931" marT="26465" marB="26465" anchor="ctr"/>
                </a:tc>
                <a:tc>
                  <a:txBody>
                    <a:bodyPr/>
                    <a:lstStyle/>
                    <a:p>
                      <a:r>
                        <a:rPr lang="en-US" sz="2000"/>
                        <a:t>5</a:t>
                      </a:r>
                    </a:p>
                  </a:txBody>
                  <a:tcPr marL="52931" marR="52931" marT="26465" marB="26465" anchor="ctr"/>
                </a:tc>
                <a:tc>
                  <a:txBody>
                    <a:bodyPr/>
                    <a:lstStyle/>
                    <a:p>
                      <a:r>
                        <a:rPr lang="en-US" sz="2000"/>
                        <a:t>6</a:t>
                      </a:r>
                    </a:p>
                  </a:txBody>
                  <a:tcPr marL="52931" marR="52931" marT="26465" marB="26465" anchor="ctr"/>
                </a:tc>
                <a:tc>
                  <a:txBody>
                    <a:bodyPr/>
                    <a:lstStyle/>
                    <a:p>
                      <a:r>
                        <a:rPr lang="en-US" sz="2000"/>
                        <a:t>7</a:t>
                      </a:r>
                    </a:p>
                  </a:txBody>
                  <a:tcPr marL="52931" marR="52931" marT="26465" marB="26465" anchor="ctr"/>
                </a:tc>
                <a:tc>
                  <a:txBody>
                    <a:bodyPr/>
                    <a:lstStyle/>
                    <a:p>
                      <a:r>
                        <a:rPr lang="en-US" sz="2000"/>
                        <a:t>8</a:t>
                      </a:r>
                    </a:p>
                  </a:txBody>
                  <a:tcPr marL="52931" marR="52931" marT="26465" marB="26465" anchor="ctr"/>
                </a:tc>
                <a:tc>
                  <a:txBody>
                    <a:bodyPr/>
                    <a:lstStyle/>
                    <a:p>
                      <a:r>
                        <a:rPr lang="en-US" sz="2000"/>
                        <a:t>9</a:t>
                      </a:r>
                    </a:p>
                  </a:txBody>
                  <a:tcPr marL="52931" marR="52931" marT="26465" marB="26465" anchor="ctr"/>
                </a:tc>
                <a:extLst>
                  <a:ext uri="{0D108BD9-81ED-4DB2-BD59-A6C34878D82A}">
                    <a16:rowId xmlns:a16="http://schemas.microsoft.com/office/drawing/2014/main" val="1660812094"/>
                  </a:ext>
                </a:extLst>
              </a:tr>
              <a:tr h="582237">
                <a:tc>
                  <a:txBody>
                    <a:bodyPr/>
                    <a:lstStyle/>
                    <a:p>
                      <a:r>
                        <a:rPr lang="en-US" sz="2000" b="1"/>
                        <a:t>Instr 1</a:t>
                      </a:r>
                      <a:endParaRPr lang="en-US" sz="2000"/>
                    </a:p>
                  </a:txBody>
                  <a:tcPr marL="52931" marR="52931" marT="26465" marB="26465" anchor="ctr"/>
                </a:tc>
                <a:tc>
                  <a:txBody>
                    <a:bodyPr/>
                    <a:lstStyle/>
                    <a:p>
                      <a:r>
                        <a:rPr lang="en-US" sz="2000"/>
                        <a:t>IF</a:t>
                      </a:r>
                    </a:p>
                  </a:txBody>
                  <a:tcPr marL="52931" marR="52931" marT="26465" marB="26465" anchor="ctr"/>
                </a:tc>
                <a:tc>
                  <a:txBody>
                    <a:bodyPr/>
                    <a:lstStyle/>
                    <a:p>
                      <a:r>
                        <a:rPr lang="en-US" sz="2000" dirty="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dirty="0">
                        <a:highlight>
                          <a:srgbClr val="00FF00"/>
                        </a:highlight>
                      </a:endParaRPr>
                    </a:p>
                  </a:txBody>
                  <a:tcPr marL="52931" marR="52931" marT="26465" marB="26465" anchor="ctr">
                    <a:solidFill>
                      <a:srgbClr val="92D050"/>
                    </a:solidFill>
                  </a:tcPr>
                </a:tc>
                <a:tc>
                  <a:txBody>
                    <a:bodyPr/>
                    <a:lstStyle/>
                    <a:p>
                      <a:endParaRPr lang="en-US" sz="2000" dirty="0">
                        <a:highlight>
                          <a:srgbClr val="00FF00"/>
                        </a:highlight>
                      </a:endParaRPr>
                    </a:p>
                  </a:txBody>
                  <a:tcPr marL="52931" marR="52931" marT="26465" marB="26465" anchor="ctr">
                    <a:solidFill>
                      <a:srgbClr val="92D050"/>
                    </a:solidFill>
                  </a:tcPr>
                </a:tc>
                <a:tc>
                  <a:txBody>
                    <a:bodyPr/>
                    <a:lstStyle/>
                    <a:p>
                      <a:endParaRPr lang="en-US" sz="2000" dirty="0">
                        <a:highlight>
                          <a:srgbClr val="00FF00"/>
                        </a:highlight>
                      </a:endParaRPr>
                    </a:p>
                  </a:txBody>
                  <a:tcPr marL="52931" marR="52931" marT="26465" marB="26465" anchor="ctr">
                    <a:solidFill>
                      <a:srgbClr val="92D050"/>
                    </a:solidFill>
                  </a:tcPr>
                </a:tc>
                <a:tc>
                  <a:txBody>
                    <a:bodyPr/>
                    <a:lstStyle/>
                    <a:p>
                      <a:endParaRPr lang="en-US" sz="2000" dirty="0">
                        <a:highlight>
                          <a:srgbClr val="00FF00"/>
                        </a:highlight>
                      </a:endParaRPr>
                    </a:p>
                  </a:txBody>
                  <a:tcPr marL="52931" marR="52931" marT="26465" marB="26465" anchor="ctr">
                    <a:solidFill>
                      <a:srgbClr val="92D050"/>
                    </a:solidFill>
                  </a:tcPr>
                </a:tc>
                <a:extLst>
                  <a:ext uri="{0D108BD9-81ED-4DB2-BD59-A6C34878D82A}">
                    <a16:rowId xmlns:a16="http://schemas.microsoft.com/office/drawing/2014/main" val="3888200943"/>
                  </a:ext>
                </a:extLst>
              </a:tr>
              <a:tr h="582237">
                <a:tc>
                  <a:txBody>
                    <a:bodyPr/>
                    <a:lstStyle/>
                    <a:p>
                      <a:r>
                        <a:rPr lang="en-US" sz="2000" b="1"/>
                        <a:t>Instr 2</a:t>
                      </a:r>
                      <a:endParaRPr lang="en-US" sz="2000"/>
                    </a:p>
                  </a:txBody>
                  <a:tcPr marL="52931" marR="52931" marT="26465" marB="26465" anchor="ctr"/>
                </a:tc>
                <a:tc>
                  <a:txBody>
                    <a:bodyPr/>
                    <a:lstStyle/>
                    <a:p>
                      <a:endParaRPr lang="en-US" sz="2000" dirty="0"/>
                    </a:p>
                  </a:txBody>
                  <a:tcPr marL="52931" marR="52931" marT="26465" marB="26465" anchor="ctr">
                    <a:solidFill>
                      <a:srgbClr val="92D050"/>
                    </a:solidFill>
                  </a:tcP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dirty="0"/>
                    </a:p>
                  </a:txBody>
                  <a:tcPr marL="52931" marR="52931" marT="26465" marB="26465" anchor="ctr">
                    <a:solidFill>
                      <a:srgbClr val="92D050"/>
                    </a:solidFill>
                  </a:tcPr>
                </a:tc>
                <a:tc>
                  <a:txBody>
                    <a:bodyPr/>
                    <a:lstStyle/>
                    <a:p>
                      <a:endParaRPr lang="en-US" sz="200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extLst>
                  <a:ext uri="{0D108BD9-81ED-4DB2-BD59-A6C34878D82A}">
                    <a16:rowId xmlns:a16="http://schemas.microsoft.com/office/drawing/2014/main" val="3619026158"/>
                  </a:ext>
                </a:extLst>
              </a:tr>
              <a:tr h="582237">
                <a:tc>
                  <a:txBody>
                    <a:bodyPr/>
                    <a:lstStyle/>
                    <a:p>
                      <a:r>
                        <a:rPr lang="en-US" sz="2000" b="1"/>
                        <a:t>Instr 3</a:t>
                      </a:r>
                      <a:endParaRPr lang="en-US" sz="2000"/>
                    </a:p>
                  </a:txBody>
                  <a:tcPr marL="52931" marR="52931" marT="26465" marB="26465" anchor="ctr"/>
                </a:tc>
                <a:tc>
                  <a:txBody>
                    <a:bodyPr/>
                    <a:lstStyle/>
                    <a:p>
                      <a:endParaRPr lang="en-US" sz="2000" dirty="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extLst>
                  <a:ext uri="{0D108BD9-81ED-4DB2-BD59-A6C34878D82A}">
                    <a16:rowId xmlns:a16="http://schemas.microsoft.com/office/drawing/2014/main" val="3659286668"/>
                  </a:ext>
                </a:extLst>
              </a:tr>
              <a:tr h="582237">
                <a:tc>
                  <a:txBody>
                    <a:bodyPr/>
                    <a:lstStyle/>
                    <a:p>
                      <a:r>
                        <a:rPr lang="en-US" sz="2000" b="1"/>
                        <a:t>Instr 4</a:t>
                      </a:r>
                      <a:endParaRPr lang="en-US" sz="2000"/>
                    </a:p>
                  </a:txBody>
                  <a:tcPr marL="52931" marR="52931" marT="26465" marB="26465" anchor="ctr"/>
                </a:tc>
                <a:tc>
                  <a:txBody>
                    <a:bodyPr/>
                    <a:lstStyle/>
                    <a:p>
                      <a:endParaRPr lang="en-US" sz="2000" dirty="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dirty="0"/>
                        <a:t>EX</a:t>
                      </a:r>
                    </a:p>
                  </a:txBody>
                  <a:tcPr marL="52931" marR="52931" marT="26465" marB="26465" anchor="ctr"/>
                </a:tc>
                <a:tc>
                  <a:txBody>
                    <a:bodyPr/>
                    <a:lstStyle/>
                    <a:p>
                      <a:r>
                        <a:rPr lang="en-US" sz="2000"/>
                        <a:t>MEM</a:t>
                      </a:r>
                    </a:p>
                  </a:txBody>
                  <a:tcPr marL="52931" marR="52931" marT="26465" marB="26465" anchor="ctr"/>
                </a:tc>
                <a:tc>
                  <a:txBody>
                    <a:bodyPr/>
                    <a:lstStyle/>
                    <a:p>
                      <a:r>
                        <a:rPr lang="en-US" sz="2000"/>
                        <a:t>WB</a:t>
                      </a:r>
                    </a:p>
                  </a:txBody>
                  <a:tcPr marL="52931" marR="52931" marT="26465" marB="26465" anchor="ctr"/>
                </a:tc>
                <a:tc>
                  <a:txBody>
                    <a:bodyPr/>
                    <a:lstStyle/>
                    <a:p>
                      <a:endParaRPr lang="en-US" sz="2000" dirty="0"/>
                    </a:p>
                  </a:txBody>
                  <a:tcPr marL="52931" marR="52931" marT="26465" marB="26465" anchor="ctr">
                    <a:solidFill>
                      <a:srgbClr val="92D050"/>
                    </a:solidFill>
                  </a:tcPr>
                </a:tc>
                <a:extLst>
                  <a:ext uri="{0D108BD9-81ED-4DB2-BD59-A6C34878D82A}">
                    <a16:rowId xmlns:a16="http://schemas.microsoft.com/office/drawing/2014/main" val="1110075700"/>
                  </a:ext>
                </a:extLst>
              </a:tr>
              <a:tr h="582237">
                <a:tc>
                  <a:txBody>
                    <a:bodyPr/>
                    <a:lstStyle/>
                    <a:p>
                      <a:r>
                        <a:rPr lang="en-US" sz="2000" b="1"/>
                        <a:t>Instr 5</a:t>
                      </a:r>
                      <a:endParaRPr lang="en-US" sz="2000"/>
                    </a:p>
                  </a:txBody>
                  <a:tcPr marL="52931" marR="52931" marT="26465" marB="26465" anchor="ctr"/>
                </a:tc>
                <a:tc>
                  <a:txBody>
                    <a:bodyPr/>
                    <a:lstStyle/>
                    <a:p>
                      <a:endParaRPr lang="en-US" sz="2000" dirty="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tc>
                  <a:txBody>
                    <a:bodyPr/>
                    <a:lstStyle/>
                    <a:p>
                      <a:endParaRPr lang="en-US" sz="2000" dirty="0"/>
                    </a:p>
                  </a:txBody>
                  <a:tcPr marL="52931" marR="52931" marT="26465" marB="26465" anchor="ctr">
                    <a:solidFill>
                      <a:srgbClr val="92D050"/>
                    </a:solidFill>
                  </a:tcPr>
                </a:tc>
                <a:tc>
                  <a:txBody>
                    <a:bodyPr/>
                    <a:lstStyle/>
                    <a:p>
                      <a:r>
                        <a:rPr lang="en-US" sz="2000"/>
                        <a:t>IF</a:t>
                      </a:r>
                    </a:p>
                  </a:txBody>
                  <a:tcPr marL="52931" marR="52931" marT="26465" marB="26465" anchor="ctr"/>
                </a:tc>
                <a:tc>
                  <a:txBody>
                    <a:bodyPr/>
                    <a:lstStyle/>
                    <a:p>
                      <a:r>
                        <a:rPr lang="en-US" sz="2000"/>
                        <a:t>ID</a:t>
                      </a:r>
                    </a:p>
                  </a:txBody>
                  <a:tcPr marL="52931" marR="52931" marT="26465" marB="26465" anchor="ctr"/>
                </a:tc>
                <a:tc>
                  <a:txBody>
                    <a:bodyPr/>
                    <a:lstStyle/>
                    <a:p>
                      <a:r>
                        <a:rPr lang="en-US" sz="2000"/>
                        <a:t>EX</a:t>
                      </a:r>
                    </a:p>
                  </a:txBody>
                  <a:tcPr marL="52931" marR="52931" marT="26465" marB="26465" anchor="ctr"/>
                </a:tc>
                <a:tc>
                  <a:txBody>
                    <a:bodyPr/>
                    <a:lstStyle/>
                    <a:p>
                      <a:r>
                        <a:rPr lang="en-US" sz="2000"/>
                        <a:t>MEM</a:t>
                      </a:r>
                    </a:p>
                  </a:txBody>
                  <a:tcPr marL="52931" marR="52931" marT="26465" marB="26465" anchor="ctr"/>
                </a:tc>
                <a:tc>
                  <a:txBody>
                    <a:bodyPr/>
                    <a:lstStyle/>
                    <a:p>
                      <a:r>
                        <a:rPr lang="en-US" sz="2000" dirty="0"/>
                        <a:t>WB</a:t>
                      </a:r>
                    </a:p>
                  </a:txBody>
                  <a:tcPr marL="52931" marR="52931" marT="26465" marB="26465" anchor="ctr"/>
                </a:tc>
                <a:extLst>
                  <a:ext uri="{0D108BD9-81ED-4DB2-BD59-A6C34878D82A}">
                    <a16:rowId xmlns:a16="http://schemas.microsoft.com/office/drawing/2014/main" val="471695294"/>
                  </a:ext>
                </a:extLst>
              </a:tr>
            </a:tbl>
          </a:graphicData>
        </a:graphic>
      </p:graphicFrame>
    </p:spTree>
    <p:extLst>
      <p:ext uri="{BB962C8B-B14F-4D97-AF65-F5344CB8AC3E}">
        <p14:creationId xmlns:p14="http://schemas.microsoft.com/office/powerpoint/2010/main" val="3161350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E4A0-576B-54A8-B0A3-CD9DC2B33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E1AF2-B387-E970-8AF5-93835C40B461}"/>
              </a:ext>
            </a:extLst>
          </p:cNvPr>
          <p:cNvSpPr>
            <a:spLocks noGrp="1"/>
          </p:cNvSpPr>
          <p:nvPr>
            <p:ph type="title"/>
          </p:nvPr>
        </p:nvSpPr>
        <p:spPr/>
        <p:txBody>
          <a:bodyPr/>
          <a:lstStyle/>
          <a:p>
            <a:r>
              <a:rPr lang="en-US" dirty="0"/>
              <a:t>Serial Execution (Without Pipelining)</a:t>
            </a:r>
          </a:p>
        </p:txBody>
      </p:sp>
      <p:graphicFrame>
        <p:nvGraphicFramePr>
          <p:cNvPr id="4" name="Content Placeholder 3">
            <a:extLst>
              <a:ext uri="{FF2B5EF4-FFF2-40B4-BE49-F238E27FC236}">
                <a16:creationId xmlns:a16="http://schemas.microsoft.com/office/drawing/2014/main" id="{7FD9AB94-AC7E-AF0C-D994-F3066774D6DE}"/>
              </a:ext>
            </a:extLst>
          </p:cNvPr>
          <p:cNvGraphicFramePr>
            <a:graphicFrameLocks noGrp="1"/>
          </p:cNvGraphicFramePr>
          <p:nvPr>
            <p:ph idx="1"/>
            <p:extLst>
              <p:ext uri="{D42A27DB-BD31-4B8C-83A1-F6EECF244321}">
                <p14:modId xmlns:p14="http://schemas.microsoft.com/office/powerpoint/2010/main" val="1199862146"/>
              </p:ext>
            </p:extLst>
          </p:nvPr>
        </p:nvGraphicFramePr>
        <p:xfrm>
          <a:off x="694944" y="1846263"/>
          <a:ext cx="11164831" cy="4130028"/>
        </p:xfrm>
        <a:graphic>
          <a:graphicData uri="http://schemas.openxmlformats.org/drawingml/2006/table">
            <a:tbl>
              <a:tblPr>
                <a:tableStyleId>{5940675A-B579-460E-94D1-54222C63F5DA}</a:tableStyleId>
              </a:tblPr>
              <a:tblGrid>
                <a:gridCol w="703702">
                  <a:extLst>
                    <a:ext uri="{9D8B030D-6E8A-4147-A177-3AD203B41FA5}">
                      <a16:colId xmlns:a16="http://schemas.microsoft.com/office/drawing/2014/main" val="930283049"/>
                    </a:ext>
                  </a:extLst>
                </a:gridCol>
                <a:gridCol w="498149">
                  <a:extLst>
                    <a:ext uri="{9D8B030D-6E8A-4147-A177-3AD203B41FA5}">
                      <a16:colId xmlns:a16="http://schemas.microsoft.com/office/drawing/2014/main" val="538467978"/>
                    </a:ext>
                  </a:extLst>
                </a:gridCol>
                <a:gridCol w="498149">
                  <a:extLst>
                    <a:ext uri="{9D8B030D-6E8A-4147-A177-3AD203B41FA5}">
                      <a16:colId xmlns:a16="http://schemas.microsoft.com/office/drawing/2014/main" val="1465185905"/>
                    </a:ext>
                  </a:extLst>
                </a:gridCol>
                <a:gridCol w="498149">
                  <a:extLst>
                    <a:ext uri="{9D8B030D-6E8A-4147-A177-3AD203B41FA5}">
                      <a16:colId xmlns:a16="http://schemas.microsoft.com/office/drawing/2014/main" val="2440351549"/>
                    </a:ext>
                  </a:extLst>
                </a:gridCol>
                <a:gridCol w="498149">
                  <a:extLst>
                    <a:ext uri="{9D8B030D-6E8A-4147-A177-3AD203B41FA5}">
                      <a16:colId xmlns:a16="http://schemas.microsoft.com/office/drawing/2014/main" val="577457104"/>
                    </a:ext>
                  </a:extLst>
                </a:gridCol>
                <a:gridCol w="498149">
                  <a:extLst>
                    <a:ext uri="{9D8B030D-6E8A-4147-A177-3AD203B41FA5}">
                      <a16:colId xmlns:a16="http://schemas.microsoft.com/office/drawing/2014/main" val="2623041102"/>
                    </a:ext>
                  </a:extLst>
                </a:gridCol>
                <a:gridCol w="498149">
                  <a:extLst>
                    <a:ext uri="{9D8B030D-6E8A-4147-A177-3AD203B41FA5}">
                      <a16:colId xmlns:a16="http://schemas.microsoft.com/office/drawing/2014/main" val="1825606830"/>
                    </a:ext>
                  </a:extLst>
                </a:gridCol>
                <a:gridCol w="498149">
                  <a:extLst>
                    <a:ext uri="{9D8B030D-6E8A-4147-A177-3AD203B41FA5}">
                      <a16:colId xmlns:a16="http://schemas.microsoft.com/office/drawing/2014/main" val="4124638228"/>
                    </a:ext>
                  </a:extLst>
                </a:gridCol>
                <a:gridCol w="498149">
                  <a:extLst>
                    <a:ext uri="{9D8B030D-6E8A-4147-A177-3AD203B41FA5}">
                      <a16:colId xmlns:a16="http://schemas.microsoft.com/office/drawing/2014/main" val="716226041"/>
                    </a:ext>
                  </a:extLst>
                </a:gridCol>
                <a:gridCol w="498149">
                  <a:extLst>
                    <a:ext uri="{9D8B030D-6E8A-4147-A177-3AD203B41FA5}">
                      <a16:colId xmlns:a16="http://schemas.microsoft.com/office/drawing/2014/main" val="365590146"/>
                    </a:ext>
                  </a:extLst>
                </a:gridCol>
                <a:gridCol w="498149">
                  <a:extLst>
                    <a:ext uri="{9D8B030D-6E8A-4147-A177-3AD203B41FA5}">
                      <a16:colId xmlns:a16="http://schemas.microsoft.com/office/drawing/2014/main" val="1545165380"/>
                    </a:ext>
                  </a:extLst>
                </a:gridCol>
                <a:gridCol w="498149">
                  <a:extLst>
                    <a:ext uri="{9D8B030D-6E8A-4147-A177-3AD203B41FA5}">
                      <a16:colId xmlns:a16="http://schemas.microsoft.com/office/drawing/2014/main" val="2636405219"/>
                    </a:ext>
                  </a:extLst>
                </a:gridCol>
                <a:gridCol w="498149">
                  <a:extLst>
                    <a:ext uri="{9D8B030D-6E8A-4147-A177-3AD203B41FA5}">
                      <a16:colId xmlns:a16="http://schemas.microsoft.com/office/drawing/2014/main" val="1617025205"/>
                    </a:ext>
                  </a:extLst>
                </a:gridCol>
                <a:gridCol w="498149">
                  <a:extLst>
                    <a:ext uri="{9D8B030D-6E8A-4147-A177-3AD203B41FA5}">
                      <a16:colId xmlns:a16="http://schemas.microsoft.com/office/drawing/2014/main" val="932986144"/>
                    </a:ext>
                  </a:extLst>
                </a:gridCol>
                <a:gridCol w="498149">
                  <a:extLst>
                    <a:ext uri="{9D8B030D-6E8A-4147-A177-3AD203B41FA5}">
                      <a16:colId xmlns:a16="http://schemas.microsoft.com/office/drawing/2014/main" val="4179889438"/>
                    </a:ext>
                  </a:extLst>
                </a:gridCol>
                <a:gridCol w="498149">
                  <a:extLst>
                    <a:ext uri="{9D8B030D-6E8A-4147-A177-3AD203B41FA5}">
                      <a16:colId xmlns:a16="http://schemas.microsoft.com/office/drawing/2014/main" val="2486644742"/>
                    </a:ext>
                  </a:extLst>
                </a:gridCol>
                <a:gridCol w="498149">
                  <a:extLst>
                    <a:ext uri="{9D8B030D-6E8A-4147-A177-3AD203B41FA5}">
                      <a16:colId xmlns:a16="http://schemas.microsoft.com/office/drawing/2014/main" val="2910552670"/>
                    </a:ext>
                  </a:extLst>
                </a:gridCol>
                <a:gridCol w="498149">
                  <a:extLst>
                    <a:ext uri="{9D8B030D-6E8A-4147-A177-3AD203B41FA5}">
                      <a16:colId xmlns:a16="http://schemas.microsoft.com/office/drawing/2014/main" val="987092133"/>
                    </a:ext>
                  </a:extLst>
                </a:gridCol>
                <a:gridCol w="498149">
                  <a:extLst>
                    <a:ext uri="{9D8B030D-6E8A-4147-A177-3AD203B41FA5}">
                      <a16:colId xmlns:a16="http://schemas.microsoft.com/office/drawing/2014/main" val="3618105598"/>
                    </a:ext>
                  </a:extLst>
                </a:gridCol>
                <a:gridCol w="498149">
                  <a:extLst>
                    <a:ext uri="{9D8B030D-6E8A-4147-A177-3AD203B41FA5}">
                      <a16:colId xmlns:a16="http://schemas.microsoft.com/office/drawing/2014/main" val="1111249931"/>
                    </a:ext>
                  </a:extLst>
                </a:gridCol>
                <a:gridCol w="498149">
                  <a:extLst>
                    <a:ext uri="{9D8B030D-6E8A-4147-A177-3AD203B41FA5}">
                      <a16:colId xmlns:a16="http://schemas.microsoft.com/office/drawing/2014/main" val="3223806061"/>
                    </a:ext>
                  </a:extLst>
                </a:gridCol>
                <a:gridCol w="498149">
                  <a:extLst>
                    <a:ext uri="{9D8B030D-6E8A-4147-A177-3AD203B41FA5}">
                      <a16:colId xmlns:a16="http://schemas.microsoft.com/office/drawing/2014/main" val="1775092704"/>
                    </a:ext>
                  </a:extLst>
                </a:gridCol>
              </a:tblGrid>
              <a:tr h="670454">
                <a:tc>
                  <a:txBody>
                    <a:bodyPr/>
                    <a:lstStyle/>
                    <a:p>
                      <a:r>
                        <a:rPr lang="en-US" sz="1600"/>
                        <a:t>Clock Cycle →</a:t>
                      </a:r>
                    </a:p>
                  </a:txBody>
                  <a:tcPr marL="46238" marR="46238" marT="23119" marB="23119" anchor="ctr"/>
                </a:tc>
                <a:tc>
                  <a:txBody>
                    <a:bodyPr/>
                    <a:lstStyle/>
                    <a:p>
                      <a:r>
                        <a:rPr lang="en-US" sz="1400"/>
                        <a:t>1</a:t>
                      </a:r>
                    </a:p>
                  </a:txBody>
                  <a:tcPr marL="46238" marR="46238" marT="23119" marB="23119" anchor="ctr"/>
                </a:tc>
                <a:tc>
                  <a:txBody>
                    <a:bodyPr/>
                    <a:lstStyle/>
                    <a:p>
                      <a:r>
                        <a:rPr lang="en-US" sz="1400" dirty="0"/>
                        <a:t>2</a:t>
                      </a:r>
                    </a:p>
                  </a:txBody>
                  <a:tcPr marL="46238" marR="46238" marT="23119" marB="23119" anchor="ctr"/>
                </a:tc>
                <a:tc>
                  <a:txBody>
                    <a:bodyPr/>
                    <a:lstStyle/>
                    <a:p>
                      <a:r>
                        <a:rPr lang="en-US" sz="1400"/>
                        <a:t>3</a:t>
                      </a:r>
                    </a:p>
                  </a:txBody>
                  <a:tcPr marL="46238" marR="46238" marT="23119" marB="23119" anchor="ctr"/>
                </a:tc>
                <a:tc>
                  <a:txBody>
                    <a:bodyPr/>
                    <a:lstStyle/>
                    <a:p>
                      <a:r>
                        <a:rPr lang="en-US" sz="1400"/>
                        <a:t>4</a:t>
                      </a:r>
                    </a:p>
                  </a:txBody>
                  <a:tcPr marL="46238" marR="46238" marT="23119" marB="23119" anchor="ctr"/>
                </a:tc>
                <a:tc>
                  <a:txBody>
                    <a:bodyPr/>
                    <a:lstStyle/>
                    <a:p>
                      <a:r>
                        <a:rPr lang="en-US" sz="1400"/>
                        <a:t>5</a:t>
                      </a:r>
                    </a:p>
                  </a:txBody>
                  <a:tcPr marL="46238" marR="46238" marT="23119" marB="23119" anchor="ctr"/>
                </a:tc>
                <a:tc>
                  <a:txBody>
                    <a:bodyPr/>
                    <a:lstStyle/>
                    <a:p>
                      <a:r>
                        <a:rPr lang="en-US" sz="1400"/>
                        <a:t>6</a:t>
                      </a:r>
                    </a:p>
                  </a:txBody>
                  <a:tcPr marL="46238" marR="46238" marT="23119" marB="23119" anchor="ctr"/>
                </a:tc>
                <a:tc>
                  <a:txBody>
                    <a:bodyPr/>
                    <a:lstStyle/>
                    <a:p>
                      <a:r>
                        <a:rPr lang="en-US" sz="1400"/>
                        <a:t>7</a:t>
                      </a:r>
                    </a:p>
                  </a:txBody>
                  <a:tcPr marL="46238" marR="46238" marT="23119" marB="23119" anchor="ctr"/>
                </a:tc>
                <a:tc>
                  <a:txBody>
                    <a:bodyPr/>
                    <a:lstStyle/>
                    <a:p>
                      <a:r>
                        <a:rPr lang="en-US" sz="1400"/>
                        <a:t>8</a:t>
                      </a:r>
                    </a:p>
                  </a:txBody>
                  <a:tcPr marL="46238" marR="46238" marT="23119" marB="23119" anchor="ctr"/>
                </a:tc>
                <a:tc>
                  <a:txBody>
                    <a:bodyPr/>
                    <a:lstStyle/>
                    <a:p>
                      <a:r>
                        <a:rPr lang="en-US" sz="1400"/>
                        <a:t>9</a:t>
                      </a:r>
                    </a:p>
                  </a:txBody>
                  <a:tcPr marL="46238" marR="46238" marT="23119" marB="23119" anchor="ctr"/>
                </a:tc>
                <a:tc>
                  <a:txBody>
                    <a:bodyPr/>
                    <a:lstStyle/>
                    <a:p>
                      <a:r>
                        <a:rPr lang="en-US" sz="1400"/>
                        <a:t>10</a:t>
                      </a:r>
                    </a:p>
                  </a:txBody>
                  <a:tcPr marL="46238" marR="46238" marT="23119" marB="23119" anchor="ctr"/>
                </a:tc>
                <a:tc>
                  <a:txBody>
                    <a:bodyPr/>
                    <a:lstStyle/>
                    <a:p>
                      <a:r>
                        <a:rPr lang="en-US" sz="1400"/>
                        <a:t>11</a:t>
                      </a:r>
                    </a:p>
                  </a:txBody>
                  <a:tcPr marL="46238" marR="46238" marT="23119" marB="23119" anchor="ctr"/>
                </a:tc>
                <a:tc>
                  <a:txBody>
                    <a:bodyPr/>
                    <a:lstStyle/>
                    <a:p>
                      <a:r>
                        <a:rPr lang="en-US" sz="1400" dirty="0"/>
                        <a:t>12</a:t>
                      </a:r>
                    </a:p>
                  </a:txBody>
                  <a:tcPr marL="46238" marR="46238" marT="23119" marB="23119" anchor="ctr"/>
                </a:tc>
                <a:tc>
                  <a:txBody>
                    <a:bodyPr/>
                    <a:lstStyle/>
                    <a:p>
                      <a:r>
                        <a:rPr lang="en-US" sz="1400" dirty="0"/>
                        <a:t>13</a:t>
                      </a:r>
                    </a:p>
                  </a:txBody>
                  <a:tcPr marL="46238" marR="46238" marT="23119" marB="23119" anchor="ctr"/>
                </a:tc>
                <a:tc>
                  <a:txBody>
                    <a:bodyPr/>
                    <a:lstStyle/>
                    <a:p>
                      <a:r>
                        <a:rPr lang="en-US" sz="1400" dirty="0"/>
                        <a:t>14</a:t>
                      </a:r>
                    </a:p>
                  </a:txBody>
                  <a:tcPr marL="46238" marR="46238" marT="23119" marB="23119" anchor="ctr"/>
                </a:tc>
                <a:tc>
                  <a:txBody>
                    <a:bodyPr/>
                    <a:lstStyle/>
                    <a:p>
                      <a:r>
                        <a:rPr lang="en-US" sz="1400" dirty="0"/>
                        <a:t>15</a:t>
                      </a:r>
                    </a:p>
                  </a:txBody>
                  <a:tcPr marL="46238" marR="46238" marT="23119" marB="23119" anchor="ctr"/>
                </a:tc>
                <a:tc>
                  <a:txBody>
                    <a:bodyPr/>
                    <a:lstStyle/>
                    <a:p>
                      <a:r>
                        <a:rPr lang="en-US" sz="1400" dirty="0"/>
                        <a:t>16</a:t>
                      </a:r>
                    </a:p>
                  </a:txBody>
                  <a:tcPr marL="46238" marR="46238" marT="23119" marB="23119" anchor="ctr"/>
                </a:tc>
                <a:tc>
                  <a:txBody>
                    <a:bodyPr/>
                    <a:lstStyle/>
                    <a:p>
                      <a:r>
                        <a:rPr lang="en-US" sz="1400" dirty="0"/>
                        <a:t>17</a:t>
                      </a:r>
                    </a:p>
                  </a:txBody>
                  <a:tcPr marL="46238" marR="46238" marT="23119" marB="23119" anchor="ctr"/>
                </a:tc>
                <a:tc>
                  <a:txBody>
                    <a:bodyPr/>
                    <a:lstStyle/>
                    <a:p>
                      <a:r>
                        <a:rPr lang="en-US" sz="1400" dirty="0"/>
                        <a:t>18</a:t>
                      </a:r>
                    </a:p>
                  </a:txBody>
                  <a:tcPr marL="46238" marR="46238" marT="23119" marB="23119" anchor="ctr"/>
                </a:tc>
                <a:tc>
                  <a:txBody>
                    <a:bodyPr/>
                    <a:lstStyle/>
                    <a:p>
                      <a:r>
                        <a:rPr lang="en-US" sz="1400" dirty="0"/>
                        <a:t>19</a:t>
                      </a:r>
                    </a:p>
                  </a:txBody>
                  <a:tcPr marL="46238" marR="46238" marT="23119" marB="23119" anchor="ctr"/>
                </a:tc>
                <a:tc>
                  <a:txBody>
                    <a:bodyPr/>
                    <a:lstStyle/>
                    <a:p>
                      <a:r>
                        <a:rPr lang="en-US" sz="1400" dirty="0"/>
                        <a:t>20</a:t>
                      </a:r>
                    </a:p>
                  </a:txBody>
                  <a:tcPr marL="46238" marR="46238" marT="23119" marB="23119" anchor="ctr"/>
                </a:tc>
                <a:tc>
                  <a:txBody>
                    <a:bodyPr/>
                    <a:lstStyle/>
                    <a:p>
                      <a:r>
                        <a:rPr lang="en-US" sz="1400" dirty="0"/>
                        <a:t>21</a:t>
                      </a:r>
                    </a:p>
                  </a:txBody>
                  <a:tcPr marL="46238" marR="46238" marT="23119" marB="23119" anchor="ctr"/>
                </a:tc>
                <a:extLst>
                  <a:ext uri="{0D108BD9-81ED-4DB2-BD59-A6C34878D82A}">
                    <a16:rowId xmlns:a16="http://schemas.microsoft.com/office/drawing/2014/main" val="4086722856"/>
                  </a:ext>
                </a:extLst>
              </a:tr>
              <a:tr h="670454">
                <a:tc>
                  <a:txBody>
                    <a:bodyPr/>
                    <a:lstStyle/>
                    <a:p>
                      <a:r>
                        <a:rPr lang="en-US" sz="1600" b="1"/>
                        <a:t>Instr 1</a:t>
                      </a:r>
                      <a:endParaRPr lang="en-US" sz="1600"/>
                    </a:p>
                  </a:txBody>
                  <a:tcPr marL="46238" marR="46238" marT="23119" marB="23119" anchor="ctr"/>
                </a:tc>
                <a:tc>
                  <a:txBody>
                    <a:bodyPr/>
                    <a:lstStyle/>
                    <a:p>
                      <a:r>
                        <a:rPr lang="en-US" sz="1400"/>
                        <a:t>IF</a:t>
                      </a:r>
                    </a:p>
                  </a:txBody>
                  <a:tcPr marL="46238" marR="46238" marT="23119" marB="23119" anchor="ctr"/>
                </a:tc>
                <a:tc>
                  <a:txBody>
                    <a:bodyPr/>
                    <a:lstStyle/>
                    <a:p>
                      <a:r>
                        <a:rPr lang="en-US" sz="1400" dirty="0"/>
                        <a:t>ID</a:t>
                      </a:r>
                    </a:p>
                  </a:txBody>
                  <a:tcPr marL="46238" marR="46238" marT="23119" marB="23119" anchor="ctr"/>
                </a:tc>
                <a:tc>
                  <a:txBody>
                    <a:bodyPr/>
                    <a:lstStyle/>
                    <a:p>
                      <a:r>
                        <a:rPr lang="en-US" sz="1400"/>
                        <a:t>EX</a:t>
                      </a:r>
                    </a:p>
                  </a:txBody>
                  <a:tcPr marL="46238" marR="46238" marT="23119" marB="23119" anchor="ctr"/>
                </a:tc>
                <a:tc>
                  <a:txBody>
                    <a:bodyPr/>
                    <a:lstStyle/>
                    <a:p>
                      <a:r>
                        <a:rPr lang="en-US" sz="1400"/>
                        <a:t>MEM</a:t>
                      </a:r>
                    </a:p>
                  </a:txBody>
                  <a:tcPr marL="46238" marR="46238" marT="23119" marB="23119" anchor="ctr"/>
                </a:tc>
                <a:tc>
                  <a:txBody>
                    <a:bodyPr/>
                    <a:lstStyle/>
                    <a:p>
                      <a:r>
                        <a:rPr lang="en-US" sz="1400"/>
                        <a:t>WB</a:t>
                      </a:r>
                    </a:p>
                  </a:txBody>
                  <a:tcPr marL="46238" marR="46238" marT="23119" marB="23119" anchor="ct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extLst>
                  <a:ext uri="{0D108BD9-81ED-4DB2-BD59-A6C34878D82A}">
                    <a16:rowId xmlns:a16="http://schemas.microsoft.com/office/drawing/2014/main" val="2161616166"/>
                  </a:ext>
                </a:extLst>
              </a:tr>
              <a:tr h="670454">
                <a:tc>
                  <a:txBody>
                    <a:bodyPr/>
                    <a:lstStyle/>
                    <a:p>
                      <a:r>
                        <a:rPr lang="en-US" sz="1600" b="1"/>
                        <a:t>Instr 2</a:t>
                      </a:r>
                      <a:endParaRPr lang="en-US" sz="1600"/>
                    </a:p>
                  </a:txBody>
                  <a:tcPr marL="46238" marR="46238" marT="23119" marB="23119" anchor="ct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r>
                        <a:rPr lang="en-US" sz="1400"/>
                        <a:t>IF</a:t>
                      </a:r>
                    </a:p>
                  </a:txBody>
                  <a:tcPr marL="46238" marR="46238" marT="23119" marB="23119" anchor="ctr"/>
                </a:tc>
                <a:tc>
                  <a:txBody>
                    <a:bodyPr/>
                    <a:lstStyle/>
                    <a:p>
                      <a:r>
                        <a:rPr lang="en-US" sz="1400"/>
                        <a:t>ID</a:t>
                      </a:r>
                    </a:p>
                  </a:txBody>
                  <a:tcPr marL="46238" marR="46238" marT="23119" marB="23119" anchor="ctr"/>
                </a:tc>
                <a:tc>
                  <a:txBody>
                    <a:bodyPr/>
                    <a:lstStyle/>
                    <a:p>
                      <a:r>
                        <a:rPr lang="en-US" sz="1400"/>
                        <a:t>EX</a:t>
                      </a:r>
                    </a:p>
                  </a:txBody>
                  <a:tcPr marL="46238" marR="46238" marT="23119" marB="23119" anchor="ctr"/>
                </a:tc>
                <a:tc>
                  <a:txBody>
                    <a:bodyPr/>
                    <a:lstStyle/>
                    <a:p>
                      <a:r>
                        <a:rPr lang="en-US" sz="1400"/>
                        <a:t>MEM</a:t>
                      </a:r>
                    </a:p>
                  </a:txBody>
                  <a:tcPr marL="46238" marR="46238" marT="23119" marB="23119" anchor="ctr"/>
                </a:tc>
                <a:tc>
                  <a:txBody>
                    <a:bodyPr/>
                    <a:lstStyle/>
                    <a:p>
                      <a:r>
                        <a:rPr lang="en-US" sz="1400"/>
                        <a:t>WB</a:t>
                      </a:r>
                    </a:p>
                  </a:txBody>
                  <a:tcPr marL="46238" marR="46238" marT="23119" marB="23119" anchor="ct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extLst>
                  <a:ext uri="{0D108BD9-81ED-4DB2-BD59-A6C34878D82A}">
                    <a16:rowId xmlns:a16="http://schemas.microsoft.com/office/drawing/2014/main" val="3185646594"/>
                  </a:ext>
                </a:extLst>
              </a:tr>
              <a:tr h="670454">
                <a:tc>
                  <a:txBody>
                    <a:bodyPr/>
                    <a:lstStyle/>
                    <a:p>
                      <a:r>
                        <a:rPr lang="en-US" sz="1600" b="1"/>
                        <a:t>Instr 3</a:t>
                      </a:r>
                      <a:endParaRPr lang="en-US" sz="1600"/>
                    </a:p>
                  </a:txBody>
                  <a:tcPr marL="46238" marR="46238" marT="23119" marB="23119" anchor="ct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r>
                        <a:rPr lang="en-US" sz="1400" dirty="0"/>
                        <a:t>IF</a:t>
                      </a:r>
                    </a:p>
                  </a:txBody>
                  <a:tcPr marL="46238" marR="46238" marT="23119" marB="23119" anchor="ctr"/>
                </a:tc>
                <a:tc>
                  <a:txBody>
                    <a:bodyPr/>
                    <a:lstStyle/>
                    <a:p>
                      <a:r>
                        <a:rPr lang="en-US" sz="1400" dirty="0"/>
                        <a:t>ID</a:t>
                      </a:r>
                    </a:p>
                  </a:txBody>
                  <a:tcPr marL="46238" marR="46238" marT="23119" marB="23119" anchor="ctr"/>
                </a:tc>
                <a:tc>
                  <a:txBody>
                    <a:bodyPr/>
                    <a:lstStyle/>
                    <a:p>
                      <a:r>
                        <a:rPr lang="en-US" sz="1400" dirty="0"/>
                        <a:t>EX</a:t>
                      </a:r>
                    </a:p>
                  </a:txBody>
                  <a:tcPr marL="46238" marR="46238" marT="23119" marB="23119" anchor="ctr"/>
                </a:tc>
                <a:tc>
                  <a:txBody>
                    <a:bodyPr/>
                    <a:lstStyle/>
                    <a:p>
                      <a:r>
                        <a:rPr lang="en-US" sz="1400" dirty="0"/>
                        <a:t>MEM</a:t>
                      </a:r>
                    </a:p>
                  </a:txBody>
                  <a:tcPr marL="46238" marR="46238" marT="23119" marB="23119" anchor="ctr"/>
                </a:tc>
                <a:tc>
                  <a:txBody>
                    <a:bodyPr/>
                    <a:lstStyle/>
                    <a:p>
                      <a:r>
                        <a:rPr lang="en-US" sz="1400" dirty="0"/>
                        <a:t>WB</a:t>
                      </a:r>
                    </a:p>
                  </a:txBody>
                  <a:tcPr marL="46238" marR="46238" marT="23119" marB="23119" anchor="ct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extLst>
                  <a:ext uri="{0D108BD9-81ED-4DB2-BD59-A6C34878D82A}">
                    <a16:rowId xmlns:a16="http://schemas.microsoft.com/office/drawing/2014/main" val="2855942502"/>
                  </a:ext>
                </a:extLst>
              </a:tr>
              <a:tr h="670454">
                <a:tc>
                  <a:txBody>
                    <a:bodyPr/>
                    <a:lstStyle/>
                    <a:p>
                      <a:r>
                        <a:rPr lang="en-US" sz="1600" b="1"/>
                        <a:t>Instr 4</a:t>
                      </a:r>
                      <a:endParaRPr lang="en-US" sz="1600"/>
                    </a:p>
                  </a:txBody>
                  <a:tcPr marL="46238" marR="46238" marT="23119" marB="23119" anchor="ct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r>
                        <a:rPr lang="en-US" sz="1400" dirty="0"/>
                        <a:t>IF</a:t>
                      </a:r>
                    </a:p>
                  </a:txBody>
                  <a:tcPr marL="46238" marR="46238" marT="23119" marB="23119" anchor="ctr"/>
                </a:tc>
                <a:tc>
                  <a:txBody>
                    <a:bodyPr/>
                    <a:lstStyle/>
                    <a:p>
                      <a:r>
                        <a:rPr lang="en-US" sz="1400" dirty="0"/>
                        <a:t>ID</a:t>
                      </a:r>
                    </a:p>
                  </a:txBody>
                  <a:tcPr marL="46238" marR="46238" marT="23119" marB="23119" anchor="ctr"/>
                </a:tc>
                <a:tc>
                  <a:txBody>
                    <a:bodyPr/>
                    <a:lstStyle/>
                    <a:p>
                      <a:r>
                        <a:rPr lang="en-US" sz="1400" dirty="0"/>
                        <a:t>EX</a:t>
                      </a:r>
                    </a:p>
                  </a:txBody>
                  <a:tcPr marL="46238" marR="46238" marT="23119" marB="23119" anchor="ctr"/>
                </a:tc>
                <a:tc>
                  <a:txBody>
                    <a:bodyPr/>
                    <a:lstStyle/>
                    <a:p>
                      <a:r>
                        <a:rPr lang="en-US" sz="1400" dirty="0"/>
                        <a:t>MEM</a:t>
                      </a:r>
                    </a:p>
                  </a:txBody>
                  <a:tcPr marL="46238" marR="46238" marT="23119" marB="23119" anchor="ctr"/>
                </a:tc>
                <a:tc>
                  <a:txBody>
                    <a:bodyPr/>
                    <a:lstStyle/>
                    <a:p>
                      <a:r>
                        <a:rPr lang="en-US" sz="1400" dirty="0"/>
                        <a:t>WB</a:t>
                      </a:r>
                    </a:p>
                  </a:txBody>
                  <a:tcPr marL="46238" marR="46238" marT="23119" marB="23119" anchor="ct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extLst>
                  <a:ext uri="{0D108BD9-81ED-4DB2-BD59-A6C34878D82A}">
                    <a16:rowId xmlns:a16="http://schemas.microsoft.com/office/drawing/2014/main" val="2777370903"/>
                  </a:ext>
                </a:extLst>
              </a:tr>
              <a:tr h="670454">
                <a:tc>
                  <a:txBody>
                    <a:bodyPr/>
                    <a:lstStyle/>
                    <a:p>
                      <a:r>
                        <a:rPr lang="en-US" sz="1600" b="1"/>
                        <a:t>Instr 5</a:t>
                      </a:r>
                      <a:endParaRPr lang="en-US" sz="1600"/>
                    </a:p>
                  </a:txBody>
                  <a:tcPr marL="46238" marR="46238" marT="23119" marB="23119" anchor="ct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endParaRPr lang="en-US" sz="1400" dirty="0"/>
                    </a:p>
                  </a:txBody>
                  <a:tcPr marL="46238" marR="46238" marT="23119" marB="23119" anchor="ctr">
                    <a:solidFill>
                      <a:srgbClr val="92D050"/>
                    </a:solidFill>
                  </a:tcPr>
                </a:tc>
                <a:tc>
                  <a:txBody>
                    <a:bodyPr/>
                    <a:lstStyle/>
                    <a:p>
                      <a:r>
                        <a:rPr lang="en-US" sz="1400" dirty="0"/>
                        <a:t>IF</a:t>
                      </a:r>
                    </a:p>
                  </a:txBody>
                  <a:tcPr marL="46238" marR="46238" marT="23119" marB="23119" anchor="ctr"/>
                </a:tc>
                <a:tc>
                  <a:txBody>
                    <a:bodyPr/>
                    <a:lstStyle/>
                    <a:p>
                      <a:r>
                        <a:rPr lang="en-US" sz="1400"/>
                        <a:t>ID</a:t>
                      </a:r>
                    </a:p>
                  </a:txBody>
                  <a:tcPr marL="46238" marR="46238" marT="23119" marB="23119" anchor="ctr"/>
                </a:tc>
                <a:tc>
                  <a:txBody>
                    <a:bodyPr/>
                    <a:lstStyle/>
                    <a:p>
                      <a:r>
                        <a:rPr lang="en-US" sz="1400" dirty="0"/>
                        <a:t>EX</a:t>
                      </a:r>
                    </a:p>
                  </a:txBody>
                  <a:tcPr marL="46238" marR="46238" marT="23119" marB="23119" anchor="ctr"/>
                </a:tc>
                <a:tc>
                  <a:txBody>
                    <a:bodyPr/>
                    <a:lstStyle/>
                    <a:p>
                      <a:r>
                        <a:rPr lang="en-US" sz="1400" dirty="0"/>
                        <a:t>MEM</a:t>
                      </a:r>
                    </a:p>
                  </a:txBody>
                  <a:tcPr marL="46238" marR="46238" marT="23119" marB="23119" anchor="ctr"/>
                </a:tc>
                <a:tc>
                  <a:txBody>
                    <a:bodyPr/>
                    <a:lstStyle/>
                    <a:p>
                      <a:r>
                        <a:rPr lang="en-US" sz="1400" dirty="0"/>
                        <a:t>WB</a:t>
                      </a:r>
                    </a:p>
                  </a:txBody>
                  <a:tcPr marL="46238" marR="46238" marT="23119" marB="23119" anchor="ctr"/>
                </a:tc>
                <a:extLst>
                  <a:ext uri="{0D108BD9-81ED-4DB2-BD59-A6C34878D82A}">
                    <a16:rowId xmlns:a16="http://schemas.microsoft.com/office/drawing/2014/main" val="683881948"/>
                  </a:ext>
                </a:extLst>
              </a:tr>
            </a:tbl>
          </a:graphicData>
        </a:graphic>
      </p:graphicFrame>
    </p:spTree>
    <p:extLst>
      <p:ext uri="{BB962C8B-B14F-4D97-AF65-F5344CB8AC3E}">
        <p14:creationId xmlns:p14="http://schemas.microsoft.com/office/powerpoint/2010/main" val="2214714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816C5-75CE-91CA-95E0-3D092DE39841}"/>
              </a:ext>
            </a:extLst>
          </p:cNvPr>
          <p:cNvSpPr>
            <a:spLocks noGrp="1"/>
          </p:cNvSpPr>
          <p:nvPr>
            <p:ph type="title"/>
          </p:nvPr>
        </p:nvSpPr>
        <p:spPr/>
        <p:txBody>
          <a:bodyPr/>
          <a:lstStyle/>
          <a:p>
            <a:r>
              <a:rPr lang="en-US" b="1" dirty="0"/>
              <a:t>Example Calculation: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4BDC77C-8C8B-5464-72F3-68A29030588B}"/>
                  </a:ext>
                </a:extLst>
              </p:cNvPr>
              <p:cNvSpPr>
                <a:spLocks noGrp="1"/>
              </p:cNvSpPr>
              <p:nvPr>
                <p:ph idx="1"/>
              </p:nvPr>
            </p:nvSpPr>
            <p:spPr/>
            <p:txBody>
              <a:bodyPr/>
              <a:lstStyle/>
              <a:p>
                <a:r>
                  <a:rPr lang="en-US" dirty="0"/>
                  <a:t>Let’s assume:</a:t>
                </a:r>
              </a:p>
              <a:p>
                <a:pPr marL="5143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=1000 </m:t>
                    </m:r>
                    <m:r>
                      <a:rPr lang="en-US" i="1" dirty="0" smtClean="0">
                        <a:latin typeface="Cambria Math" panose="02040503050406030204" pitchFamily="18" charset="0"/>
                      </a:rPr>
                      <m:t>𝑖𝑛𝑠𝑡𝑟𝑢𝑐𝑡𝑖𝑜𝑛𝑠</m:t>
                    </m:r>
                  </m:oMath>
                </a14:m>
                <a:endParaRPr lang="en-US" dirty="0"/>
              </a:p>
              <a:p>
                <a:pPr marL="5143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=5 </m:t>
                    </m:r>
                    <m:r>
                      <a:rPr lang="en-US" i="1" dirty="0" smtClean="0">
                        <a:latin typeface="Cambria Math" panose="02040503050406030204" pitchFamily="18" charset="0"/>
                      </a:rPr>
                      <m:t>𝑝𝑖𝑝𝑒𝑙𝑖𝑛𝑒</m:t>
                    </m:r>
                    <m:r>
                      <a:rPr lang="en-US" i="1" dirty="0" smtClean="0">
                        <a:latin typeface="Cambria Math" panose="02040503050406030204" pitchFamily="18" charset="0"/>
                      </a:rPr>
                      <m:t> </m:t>
                    </m:r>
                    <m:r>
                      <a:rPr lang="en-US" i="1" dirty="0" smtClean="0">
                        <a:latin typeface="Cambria Math" panose="02040503050406030204" pitchFamily="18" charset="0"/>
                      </a:rPr>
                      <m:t>𝑠𝑡𝑎𝑔𝑒𝑠</m:t>
                    </m:r>
                  </m:oMath>
                </a14:m>
                <a:endParaRPr lang="en-US" dirty="0"/>
              </a:p>
              <a:p>
                <a:pPr marL="228600" indent="0">
                  <a:buNone/>
                </a:pPr>
                <a:r>
                  <a:rPr lang="en-US" dirty="0"/>
                  <a:t>Using the formula:</a:t>
                </a:r>
              </a:p>
              <a:p>
                <a:pPr marL="228600" inden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𝑈𝑡𝑖𝑙𝑖𝑧𝑎𝑡𝑖𝑜𝑛</m:t>
                      </m:r>
                      <m:r>
                        <a:rPr lang="en-US" b="0" i="1" smtClean="0">
                          <a:solidFill>
                            <a:schemeClr val="tx1"/>
                          </a:solidFill>
                          <a:latin typeface="Cambria Math" panose="02040503050406030204" pitchFamily="18" charset="0"/>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𝑁</m:t>
                          </m:r>
                        </m:num>
                        <m:den>
                          <m:r>
                            <a:rPr lang="en-US" b="0" i="1" smtClean="0">
                              <a:solidFill>
                                <a:schemeClr val="tx1"/>
                              </a:solidFill>
                              <a:latin typeface="Cambria Math" panose="02040503050406030204" pitchFamily="18" charset="0"/>
                            </a:rPr>
                            <m:t>𝐾</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𝑁</m:t>
                          </m:r>
                          <m:r>
                            <a:rPr lang="en-US" b="0" i="1" smtClean="0">
                              <a:solidFill>
                                <a:schemeClr val="tx1"/>
                              </a:solidFill>
                              <a:latin typeface="Cambria Math" panose="02040503050406030204" pitchFamily="18" charset="0"/>
                            </a:rPr>
                            <m:t>−1)</m:t>
                          </m:r>
                        </m:den>
                      </m:f>
                    </m:oMath>
                  </m:oMathPara>
                </a14:m>
                <a:endParaRPr lang="en-US" b="0" dirty="0">
                  <a:solidFill>
                    <a:schemeClr val="tx1"/>
                  </a:solidFill>
                </a:endParaRPr>
              </a:p>
              <a:p>
                <a:pPr marL="228600" inden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𝑈𝑡𝑖𝑙𝑖𝑧𝑎𝑡𝑖𝑜𝑛</m:t>
                      </m:r>
                      <m:r>
                        <a:rPr lang="en-US" b="0" i="1" smtClean="0">
                          <a:solidFill>
                            <a:schemeClr val="tx1"/>
                          </a:solidFill>
                          <a:latin typeface="Cambria Math" panose="02040503050406030204" pitchFamily="18" charset="0"/>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1000</m:t>
                          </m:r>
                        </m:num>
                        <m:den>
                          <m:r>
                            <a:rPr lang="en-US" b="0" i="1" smtClean="0">
                              <a:solidFill>
                                <a:schemeClr val="tx1"/>
                              </a:solidFill>
                              <a:latin typeface="Cambria Math" panose="02040503050406030204" pitchFamily="18" charset="0"/>
                            </a:rPr>
                            <m:t>1000</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5</m:t>
                          </m:r>
                          <m:r>
                            <a:rPr lang="en-US" b="0" i="1" smtClean="0">
                              <a:solidFill>
                                <a:schemeClr val="tx1"/>
                              </a:solidFill>
                              <a:latin typeface="Cambria Math" panose="02040503050406030204" pitchFamily="18" charset="0"/>
                            </a:rPr>
                            <m:t>−1)</m:t>
                          </m:r>
                        </m:den>
                      </m:f>
                    </m:oMath>
                  </m:oMathPara>
                </a14:m>
                <a:endParaRPr lang="en-US" b="0" dirty="0">
                  <a:solidFill>
                    <a:schemeClr val="tx1"/>
                  </a:solidFill>
                </a:endParaRPr>
              </a:p>
              <a:p>
                <a:pPr marL="228600" indent="0">
                  <a:buNone/>
                </a:pPr>
                <a:endParaRPr lang="en-US" dirty="0"/>
              </a:p>
            </p:txBody>
          </p:sp>
        </mc:Choice>
        <mc:Fallback>
          <p:sp>
            <p:nvSpPr>
              <p:cNvPr id="3" name="Content Placeholder 2">
                <a:extLst>
                  <a:ext uri="{FF2B5EF4-FFF2-40B4-BE49-F238E27FC236}">
                    <a16:creationId xmlns:a16="http://schemas.microsoft.com/office/drawing/2014/main" id="{F4BDC77C-8C8B-5464-72F3-68A29030588B}"/>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n-US">
                    <a:noFill/>
                  </a:rPr>
                  <a:t> </a:t>
                </a:r>
              </a:p>
            </p:txBody>
          </p:sp>
        </mc:Fallback>
      </mc:AlternateContent>
    </p:spTree>
    <p:extLst>
      <p:ext uri="{BB962C8B-B14F-4D97-AF65-F5344CB8AC3E}">
        <p14:creationId xmlns:p14="http://schemas.microsoft.com/office/powerpoint/2010/main" val="37921424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C3688-8B9F-6056-1263-AF2AE343D60C}"/>
              </a:ext>
            </a:extLst>
          </p:cNvPr>
          <p:cNvSpPr>
            <a:spLocks noGrp="1"/>
          </p:cNvSpPr>
          <p:nvPr>
            <p:ph type="title"/>
          </p:nvPr>
        </p:nvSpPr>
        <p:spPr/>
        <p:txBody>
          <a:bodyPr/>
          <a:lstStyle/>
          <a:p>
            <a:r>
              <a:rPr lang="en-US" dirty="0"/>
              <a:t>Numerical </a:t>
            </a:r>
          </a:p>
        </p:txBody>
      </p:sp>
      <p:sp>
        <p:nvSpPr>
          <p:cNvPr id="3" name="Content Placeholder 2">
            <a:extLst>
              <a:ext uri="{FF2B5EF4-FFF2-40B4-BE49-F238E27FC236}">
                <a16:creationId xmlns:a16="http://schemas.microsoft.com/office/drawing/2014/main" id="{0DA913EB-3F86-ADA9-0AC3-704A1B4628A5}"/>
              </a:ext>
            </a:extLst>
          </p:cNvPr>
          <p:cNvSpPr>
            <a:spLocks noGrp="1"/>
          </p:cNvSpPr>
          <p:nvPr>
            <p:ph idx="1"/>
          </p:nvPr>
        </p:nvSpPr>
        <p:spPr/>
        <p:txBody>
          <a:bodyPr/>
          <a:lstStyle/>
          <a:p>
            <a:r>
              <a:rPr lang="en-US" dirty="0"/>
              <a:t>A </a:t>
            </a:r>
            <a:r>
              <a:rPr lang="en-US" b="1" dirty="0"/>
              <a:t>5-stage</a:t>
            </a:r>
            <a:r>
              <a:rPr lang="en-US" dirty="0"/>
              <a:t> pipeline system consists of the following processing delays at each stage:</a:t>
            </a:r>
          </a:p>
          <a:p>
            <a:pPr>
              <a:buFont typeface="Arial" panose="020B0604020202020204" pitchFamily="34" charset="0"/>
              <a:buChar char="•"/>
            </a:pPr>
            <a:r>
              <a:rPr lang="en-US" b="1" dirty="0"/>
              <a:t>Stage 1 (S1) Delay:</a:t>
            </a:r>
            <a:r>
              <a:rPr lang="en-US" dirty="0"/>
              <a:t> 180 ns</a:t>
            </a:r>
          </a:p>
          <a:p>
            <a:pPr>
              <a:buFont typeface="Arial" panose="020B0604020202020204" pitchFamily="34" charset="0"/>
              <a:buChar char="•"/>
            </a:pPr>
            <a:r>
              <a:rPr lang="en-US" b="1" dirty="0"/>
              <a:t>Stage 2 (S2) Delay:</a:t>
            </a:r>
            <a:r>
              <a:rPr lang="en-US" dirty="0"/>
              <a:t> 140 ns</a:t>
            </a:r>
          </a:p>
          <a:p>
            <a:pPr>
              <a:buFont typeface="Arial" panose="020B0604020202020204" pitchFamily="34" charset="0"/>
              <a:buChar char="•"/>
            </a:pPr>
            <a:r>
              <a:rPr lang="en-US" b="1" dirty="0"/>
              <a:t>Stage 3 (S3) Delay:</a:t>
            </a:r>
            <a:r>
              <a:rPr lang="en-US" dirty="0"/>
              <a:t> 170 ns</a:t>
            </a:r>
          </a:p>
          <a:p>
            <a:pPr>
              <a:buFont typeface="Arial" panose="020B0604020202020204" pitchFamily="34" charset="0"/>
              <a:buChar char="•"/>
            </a:pPr>
            <a:r>
              <a:rPr lang="en-US" b="1" dirty="0"/>
              <a:t>Stage 4 (S4) Delay:</a:t>
            </a:r>
            <a:r>
              <a:rPr lang="en-US" dirty="0"/>
              <a:t> 130 ns</a:t>
            </a:r>
          </a:p>
          <a:p>
            <a:pPr>
              <a:buFont typeface="Arial" panose="020B0604020202020204" pitchFamily="34" charset="0"/>
              <a:buChar char="•"/>
            </a:pPr>
            <a:r>
              <a:rPr lang="en-US" b="1" dirty="0"/>
              <a:t>Stage 5 (S5) Delay:</a:t>
            </a:r>
            <a:r>
              <a:rPr lang="en-US" dirty="0"/>
              <a:t> 160 ns</a:t>
            </a:r>
          </a:p>
          <a:p>
            <a:r>
              <a:rPr lang="en-US" dirty="0"/>
              <a:t>Registers are placed between each stage to store intermediate results, with each register introducing a delay of </a:t>
            </a:r>
            <a:r>
              <a:rPr lang="en-US" b="1" dirty="0"/>
              <a:t>8 ns</a:t>
            </a:r>
            <a:r>
              <a:rPr lang="en-US" dirty="0"/>
              <a:t>. The system operates with a constant clock cycle determined by the slowest stage plus the register delay.</a:t>
            </a:r>
          </a:p>
          <a:p>
            <a:endParaRPr lang="en-US" dirty="0"/>
          </a:p>
        </p:txBody>
      </p:sp>
    </p:spTree>
    <p:extLst>
      <p:ext uri="{BB962C8B-B14F-4D97-AF65-F5344CB8AC3E}">
        <p14:creationId xmlns:p14="http://schemas.microsoft.com/office/powerpoint/2010/main" val="17537300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AA446-F584-4BE0-FD41-E709964FF7F2}"/>
              </a:ext>
            </a:extLst>
          </p:cNvPr>
          <p:cNvSpPr>
            <a:spLocks noGrp="1"/>
          </p:cNvSpPr>
          <p:nvPr>
            <p:ph type="title"/>
          </p:nvPr>
        </p:nvSpPr>
        <p:spPr/>
        <p:txBody>
          <a:bodyPr/>
          <a:lstStyle/>
          <a:p>
            <a:r>
              <a:rPr lang="en-US" b="1" dirty="0"/>
              <a:t>Questions:</a:t>
            </a:r>
            <a:endParaRPr lang="en-US" dirty="0"/>
          </a:p>
        </p:txBody>
      </p:sp>
      <p:sp>
        <p:nvSpPr>
          <p:cNvPr id="3" name="Content Placeholder 2">
            <a:extLst>
              <a:ext uri="{FF2B5EF4-FFF2-40B4-BE49-F238E27FC236}">
                <a16:creationId xmlns:a16="http://schemas.microsoft.com/office/drawing/2014/main" id="{3CEFE813-C8DB-59A4-C399-82B9DAE644C8}"/>
              </a:ext>
            </a:extLst>
          </p:cNvPr>
          <p:cNvSpPr>
            <a:spLocks noGrp="1"/>
          </p:cNvSpPr>
          <p:nvPr>
            <p:ph idx="1"/>
          </p:nvPr>
        </p:nvSpPr>
        <p:spPr/>
        <p:txBody>
          <a:bodyPr/>
          <a:lstStyle/>
          <a:p>
            <a:pPr>
              <a:buFont typeface="+mj-lt"/>
              <a:buAutoNum type="arabicPeriod"/>
            </a:pPr>
            <a:r>
              <a:rPr lang="en-US" dirty="0"/>
              <a:t>Determine the </a:t>
            </a:r>
            <a:r>
              <a:rPr lang="en-US" b="1" dirty="0"/>
              <a:t>clock cycle time</a:t>
            </a:r>
            <a:r>
              <a:rPr lang="en-US" dirty="0"/>
              <a:t> for this pipeline.</a:t>
            </a:r>
          </a:p>
          <a:p>
            <a:pPr>
              <a:buFont typeface="+mj-lt"/>
              <a:buAutoNum type="arabicPeriod"/>
            </a:pPr>
            <a:r>
              <a:rPr lang="en-US" dirty="0"/>
              <a:t>Calculate the </a:t>
            </a:r>
            <a:r>
              <a:rPr lang="en-US" b="1" dirty="0"/>
              <a:t>total time required</a:t>
            </a:r>
            <a:r>
              <a:rPr lang="en-US" dirty="0"/>
              <a:t> to process </a:t>
            </a:r>
            <a:r>
              <a:rPr lang="en-US" b="1" dirty="0"/>
              <a:t>1200 data items</a:t>
            </a:r>
            <a:r>
              <a:rPr lang="en-US" dirty="0"/>
              <a:t> using the pipeline.</a:t>
            </a:r>
          </a:p>
          <a:p>
            <a:pPr>
              <a:buFont typeface="+mj-lt"/>
              <a:buAutoNum type="arabicPeriod"/>
            </a:pPr>
            <a:r>
              <a:rPr lang="en-US" dirty="0"/>
              <a:t>Compare this with the </a:t>
            </a:r>
            <a:r>
              <a:rPr lang="en-US" b="1" dirty="0"/>
              <a:t>non-pipelined execution time</a:t>
            </a:r>
            <a:r>
              <a:rPr lang="en-US" dirty="0"/>
              <a:t>, assuming all stages execute sequentially for each instruction.</a:t>
            </a:r>
          </a:p>
          <a:p>
            <a:pPr>
              <a:buFont typeface="+mj-lt"/>
              <a:buAutoNum type="arabicPeriod"/>
            </a:pPr>
            <a:r>
              <a:rPr lang="en-US" dirty="0"/>
              <a:t>Compute the </a:t>
            </a:r>
            <a:r>
              <a:rPr lang="en-US" b="1" dirty="0"/>
              <a:t>speedup factor</a:t>
            </a:r>
            <a:r>
              <a:rPr lang="en-US" dirty="0"/>
              <a:t> of pipelining over non-pipelining.</a:t>
            </a:r>
          </a:p>
          <a:p>
            <a:endParaRPr lang="en-US" dirty="0"/>
          </a:p>
        </p:txBody>
      </p:sp>
    </p:spTree>
    <p:extLst>
      <p:ext uri="{BB962C8B-B14F-4D97-AF65-F5344CB8AC3E}">
        <p14:creationId xmlns:p14="http://schemas.microsoft.com/office/powerpoint/2010/main" val="6024207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494CB-0EB4-0906-3A34-A4A91AC58C33}"/>
              </a:ext>
            </a:extLst>
          </p:cNvPr>
          <p:cNvSpPr>
            <a:spLocks noGrp="1"/>
          </p:cNvSpPr>
          <p:nvPr>
            <p:ph type="title"/>
          </p:nvPr>
        </p:nvSpPr>
        <p:spPr/>
        <p:txBody>
          <a:bodyPr/>
          <a:lstStyle/>
          <a:p>
            <a:r>
              <a:rPr lang="en-US" b="1" dirty="0"/>
              <a:t>Problem</a:t>
            </a:r>
            <a:endParaRPr lang="en-US" dirty="0"/>
          </a:p>
        </p:txBody>
      </p:sp>
      <p:sp>
        <p:nvSpPr>
          <p:cNvPr id="3" name="Content Placeholder 2">
            <a:extLst>
              <a:ext uri="{FF2B5EF4-FFF2-40B4-BE49-F238E27FC236}">
                <a16:creationId xmlns:a16="http://schemas.microsoft.com/office/drawing/2014/main" id="{7A115430-5F86-BA92-DFE5-8ADA92FA62E9}"/>
              </a:ext>
            </a:extLst>
          </p:cNvPr>
          <p:cNvSpPr>
            <a:spLocks noGrp="1"/>
          </p:cNvSpPr>
          <p:nvPr>
            <p:ph idx="1"/>
          </p:nvPr>
        </p:nvSpPr>
        <p:spPr/>
        <p:txBody>
          <a:bodyPr/>
          <a:lstStyle/>
          <a:p>
            <a:r>
              <a:rPr lang="en-US" dirty="0"/>
              <a:t>A processor operates at a frequency of </a:t>
            </a:r>
            <a:r>
              <a:rPr lang="en-US" b="1" dirty="0"/>
              <a:t>3 GHz</a:t>
            </a:r>
            <a:r>
              <a:rPr lang="en-US" dirty="0"/>
              <a:t> and takes </a:t>
            </a:r>
            <a:r>
              <a:rPr lang="en-US" b="1" dirty="0"/>
              <a:t>5 clock cycles per instruction</a:t>
            </a:r>
            <a:r>
              <a:rPr lang="en-US" dirty="0"/>
              <a:t> on average. The system is upgraded to a </a:t>
            </a:r>
            <a:r>
              <a:rPr lang="en-US" b="1" dirty="0"/>
              <a:t>6-stage pipelined processor</a:t>
            </a:r>
            <a:r>
              <a:rPr lang="en-US" dirty="0"/>
              <a:t>, but due to internal pipeline overheads, the clock speed is reduced to </a:t>
            </a:r>
            <a:r>
              <a:rPr lang="en-US" b="1" dirty="0"/>
              <a:t>2.5 GHz</a:t>
            </a:r>
            <a:r>
              <a:rPr lang="en-US" dirty="0"/>
              <a:t>. Assume ideal pipelining with no stalls.</a:t>
            </a:r>
          </a:p>
          <a:p>
            <a:r>
              <a:rPr lang="en-US" b="1" dirty="0"/>
              <a:t>Question:</a:t>
            </a:r>
          </a:p>
          <a:p>
            <a:r>
              <a:rPr lang="en-US" dirty="0"/>
              <a:t>What is the speedup achieved with the pipelined processor?</a:t>
            </a:r>
          </a:p>
          <a:p>
            <a:endParaRPr lang="en-US" dirty="0"/>
          </a:p>
        </p:txBody>
      </p:sp>
    </p:spTree>
    <p:extLst>
      <p:ext uri="{BB962C8B-B14F-4D97-AF65-F5344CB8AC3E}">
        <p14:creationId xmlns:p14="http://schemas.microsoft.com/office/powerpoint/2010/main" val="2919221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4A2F-6D2D-9216-22DE-1589FC4FDA5C}"/>
              </a:ext>
            </a:extLst>
          </p:cNvPr>
          <p:cNvSpPr>
            <a:spLocks noGrp="1"/>
          </p:cNvSpPr>
          <p:nvPr>
            <p:ph type="title"/>
          </p:nvPr>
        </p:nvSpPr>
        <p:spPr/>
        <p:txBody>
          <a:bodyPr/>
          <a:lstStyle/>
          <a:p>
            <a:r>
              <a:rPr lang="en-US" b="1" dirty="0"/>
              <a:t>Hazards in Pipelining</a:t>
            </a:r>
            <a:endParaRPr lang="en-US" dirty="0"/>
          </a:p>
        </p:txBody>
      </p:sp>
      <p:sp>
        <p:nvSpPr>
          <p:cNvPr id="3" name="Content Placeholder 2">
            <a:extLst>
              <a:ext uri="{FF2B5EF4-FFF2-40B4-BE49-F238E27FC236}">
                <a16:creationId xmlns:a16="http://schemas.microsoft.com/office/drawing/2014/main" id="{59327A31-D83B-DA89-968A-0BBA525278C5}"/>
              </a:ext>
            </a:extLst>
          </p:cNvPr>
          <p:cNvSpPr>
            <a:spLocks noGrp="1"/>
          </p:cNvSpPr>
          <p:nvPr>
            <p:ph idx="1"/>
          </p:nvPr>
        </p:nvSpPr>
        <p:spPr/>
        <p:txBody>
          <a:bodyPr/>
          <a:lstStyle/>
          <a:p>
            <a:pPr>
              <a:buFont typeface="Arial" panose="020B0604020202020204" pitchFamily="34" charset="0"/>
              <a:buChar char="•"/>
            </a:pPr>
            <a:r>
              <a:rPr lang="en-US" b="1" dirty="0"/>
              <a:t>Data Hazards</a:t>
            </a:r>
            <a:r>
              <a:rPr lang="en-US" dirty="0"/>
              <a:t>: Dependency between instructions.</a:t>
            </a:r>
          </a:p>
          <a:p>
            <a:pPr>
              <a:buFont typeface="Arial" panose="020B0604020202020204" pitchFamily="34" charset="0"/>
              <a:buChar char="•"/>
            </a:pPr>
            <a:r>
              <a:rPr lang="en-US" b="1" dirty="0"/>
              <a:t>Structural Hazards</a:t>
            </a:r>
            <a:r>
              <a:rPr lang="en-US" dirty="0"/>
              <a:t>: Limited hardware resources.</a:t>
            </a:r>
          </a:p>
          <a:p>
            <a:pPr>
              <a:buFont typeface="Arial" panose="020B0604020202020204" pitchFamily="34" charset="0"/>
              <a:buChar char="•"/>
            </a:pPr>
            <a:r>
              <a:rPr lang="en-US" b="1" dirty="0"/>
              <a:t>Control Hazards</a:t>
            </a:r>
            <a:r>
              <a:rPr lang="en-US" dirty="0"/>
              <a:t>: Branch instructions affecting execution flow.</a:t>
            </a:r>
          </a:p>
          <a:p>
            <a:endParaRPr lang="en-US" dirty="0"/>
          </a:p>
        </p:txBody>
      </p:sp>
    </p:spTree>
    <p:extLst>
      <p:ext uri="{BB962C8B-B14F-4D97-AF65-F5344CB8AC3E}">
        <p14:creationId xmlns:p14="http://schemas.microsoft.com/office/powerpoint/2010/main" val="15480323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283E7-1671-53D7-9F8A-A2F559446844}"/>
              </a:ext>
            </a:extLst>
          </p:cNvPr>
          <p:cNvSpPr>
            <a:spLocks noGrp="1"/>
          </p:cNvSpPr>
          <p:nvPr>
            <p:ph type="title"/>
          </p:nvPr>
        </p:nvSpPr>
        <p:spPr/>
        <p:txBody>
          <a:bodyPr/>
          <a:lstStyle/>
          <a:p>
            <a:r>
              <a:rPr lang="en-US" b="1" dirty="0"/>
              <a:t>Data Hazards and Types</a:t>
            </a:r>
            <a:endParaRPr lang="en-US" dirty="0"/>
          </a:p>
        </p:txBody>
      </p:sp>
      <p:sp>
        <p:nvSpPr>
          <p:cNvPr id="3" name="Content Placeholder 2">
            <a:extLst>
              <a:ext uri="{FF2B5EF4-FFF2-40B4-BE49-F238E27FC236}">
                <a16:creationId xmlns:a16="http://schemas.microsoft.com/office/drawing/2014/main" id="{56008DCF-E687-BB05-65EB-DB22A45AF7AA}"/>
              </a:ext>
            </a:extLst>
          </p:cNvPr>
          <p:cNvSpPr>
            <a:spLocks noGrp="1"/>
          </p:cNvSpPr>
          <p:nvPr>
            <p:ph idx="1"/>
          </p:nvPr>
        </p:nvSpPr>
        <p:spPr/>
        <p:txBody>
          <a:bodyPr/>
          <a:lstStyle/>
          <a:p>
            <a:pPr>
              <a:buFont typeface="Arial" panose="020B0604020202020204" pitchFamily="34" charset="0"/>
              <a:buChar char="•"/>
            </a:pPr>
            <a:r>
              <a:rPr lang="en-US" b="1" dirty="0"/>
              <a:t>Read After Write (RAW)</a:t>
            </a:r>
            <a:r>
              <a:rPr lang="en-US" dirty="0"/>
              <a:t>: Instruction depends on previous instruction result.</a:t>
            </a:r>
          </a:p>
          <a:p>
            <a:pPr>
              <a:buFont typeface="Arial" panose="020B0604020202020204" pitchFamily="34" charset="0"/>
              <a:buChar char="•"/>
            </a:pPr>
            <a:r>
              <a:rPr lang="en-US" b="1" dirty="0"/>
              <a:t>Write After Read (WAR)</a:t>
            </a:r>
            <a:r>
              <a:rPr lang="en-US" dirty="0"/>
              <a:t>: Later instruction writes before an earlier instruction reads.</a:t>
            </a:r>
          </a:p>
          <a:p>
            <a:pPr>
              <a:buFont typeface="Arial" panose="020B0604020202020204" pitchFamily="34" charset="0"/>
              <a:buChar char="•"/>
            </a:pPr>
            <a:r>
              <a:rPr lang="en-US" b="1" dirty="0"/>
              <a:t>Write After Write (WAW)</a:t>
            </a:r>
            <a:r>
              <a:rPr lang="en-US" dirty="0"/>
              <a:t>: Two instructions write to the same register in the wrong order.</a:t>
            </a:r>
          </a:p>
          <a:p>
            <a:endParaRPr lang="en-US" dirty="0"/>
          </a:p>
        </p:txBody>
      </p:sp>
    </p:spTree>
    <p:extLst>
      <p:ext uri="{BB962C8B-B14F-4D97-AF65-F5344CB8AC3E}">
        <p14:creationId xmlns:p14="http://schemas.microsoft.com/office/powerpoint/2010/main" val="33239397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01B15-231E-D263-D88B-CFC19ACBDA2D}"/>
              </a:ext>
            </a:extLst>
          </p:cNvPr>
          <p:cNvSpPr>
            <a:spLocks noGrp="1"/>
          </p:cNvSpPr>
          <p:nvPr>
            <p:ph type="title"/>
          </p:nvPr>
        </p:nvSpPr>
        <p:spPr/>
        <p:txBody>
          <a:bodyPr/>
          <a:lstStyle/>
          <a:p>
            <a:r>
              <a:rPr lang="en-US" b="1" dirty="0"/>
              <a:t>Structural Hazards</a:t>
            </a:r>
            <a:endParaRPr lang="en-US" dirty="0"/>
          </a:p>
        </p:txBody>
      </p:sp>
      <p:sp>
        <p:nvSpPr>
          <p:cNvPr id="3" name="Content Placeholder 2">
            <a:extLst>
              <a:ext uri="{FF2B5EF4-FFF2-40B4-BE49-F238E27FC236}">
                <a16:creationId xmlns:a16="http://schemas.microsoft.com/office/drawing/2014/main" id="{F01A7D6F-21D8-08F5-B712-7230F0823D03}"/>
              </a:ext>
            </a:extLst>
          </p:cNvPr>
          <p:cNvSpPr>
            <a:spLocks noGrp="1"/>
          </p:cNvSpPr>
          <p:nvPr>
            <p:ph idx="1"/>
          </p:nvPr>
        </p:nvSpPr>
        <p:spPr/>
        <p:txBody>
          <a:bodyPr/>
          <a:lstStyle/>
          <a:p>
            <a:pPr>
              <a:buFont typeface="Arial" panose="020B0604020202020204" pitchFamily="34" charset="0"/>
              <a:buChar char="•"/>
            </a:pPr>
            <a:r>
              <a:rPr lang="en-US" dirty="0"/>
              <a:t>Occurs when </a:t>
            </a:r>
            <a:r>
              <a:rPr lang="en-US" b="1" dirty="0"/>
              <a:t>hardware resources are limited</a:t>
            </a:r>
            <a:r>
              <a:rPr lang="en-US" dirty="0"/>
              <a:t> (e.g., single memory unit for instruction and data fetch).</a:t>
            </a:r>
          </a:p>
          <a:p>
            <a:pPr>
              <a:buFont typeface="Arial" panose="020B0604020202020204" pitchFamily="34" charset="0"/>
              <a:buChar char="•"/>
            </a:pPr>
            <a:r>
              <a:rPr lang="en-US" dirty="0"/>
              <a:t>Solutions:</a:t>
            </a:r>
          </a:p>
          <a:p>
            <a:pPr marL="742950" lvl="1" indent="-285750">
              <a:buFont typeface="Arial" panose="020B0604020202020204" pitchFamily="34" charset="0"/>
              <a:buChar char="•"/>
            </a:pPr>
            <a:r>
              <a:rPr lang="en-US" dirty="0"/>
              <a:t>Increase hardware units</a:t>
            </a:r>
          </a:p>
          <a:p>
            <a:pPr marL="742950" lvl="1" indent="-285750">
              <a:buFont typeface="Arial" panose="020B0604020202020204" pitchFamily="34" charset="0"/>
              <a:buChar char="•"/>
            </a:pPr>
            <a:r>
              <a:rPr lang="en-US" dirty="0"/>
              <a:t>Instruction scheduling</a:t>
            </a:r>
          </a:p>
          <a:p>
            <a:endParaRPr lang="en-US" dirty="0"/>
          </a:p>
        </p:txBody>
      </p:sp>
    </p:spTree>
    <p:extLst>
      <p:ext uri="{BB962C8B-B14F-4D97-AF65-F5344CB8AC3E}">
        <p14:creationId xmlns:p14="http://schemas.microsoft.com/office/powerpoint/2010/main" val="2329329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F15D5-DC66-286F-AE74-3C0023A1ACBF}"/>
              </a:ext>
            </a:extLst>
          </p:cNvPr>
          <p:cNvSpPr>
            <a:spLocks noGrp="1"/>
          </p:cNvSpPr>
          <p:nvPr>
            <p:ph type="title"/>
          </p:nvPr>
        </p:nvSpPr>
        <p:spPr/>
        <p:txBody>
          <a:bodyPr/>
          <a:lstStyle/>
          <a:p>
            <a:r>
              <a:rPr lang="en-US" b="1" dirty="0"/>
              <a:t>Control Hazards</a:t>
            </a:r>
            <a:endParaRPr lang="en-US" dirty="0"/>
          </a:p>
        </p:txBody>
      </p:sp>
      <p:sp>
        <p:nvSpPr>
          <p:cNvPr id="3" name="Content Placeholder 2">
            <a:extLst>
              <a:ext uri="{FF2B5EF4-FFF2-40B4-BE49-F238E27FC236}">
                <a16:creationId xmlns:a16="http://schemas.microsoft.com/office/drawing/2014/main" id="{90241BDA-B8C1-8EF4-9AEF-8C9F18D2857D}"/>
              </a:ext>
            </a:extLst>
          </p:cNvPr>
          <p:cNvSpPr>
            <a:spLocks noGrp="1"/>
          </p:cNvSpPr>
          <p:nvPr>
            <p:ph idx="1"/>
          </p:nvPr>
        </p:nvSpPr>
        <p:spPr/>
        <p:txBody>
          <a:bodyPr/>
          <a:lstStyle/>
          <a:p>
            <a:pPr>
              <a:buFont typeface="Arial" panose="020B0604020202020204" pitchFamily="34" charset="0"/>
              <a:buChar char="•"/>
            </a:pPr>
            <a:r>
              <a:rPr lang="en-US" dirty="0"/>
              <a:t>Caused by </a:t>
            </a:r>
            <a:r>
              <a:rPr lang="en-US" b="1" dirty="0"/>
              <a:t>branch instructions</a:t>
            </a:r>
            <a:r>
              <a:rPr lang="en-US" dirty="0"/>
              <a:t> affecting the instruction flow.</a:t>
            </a:r>
          </a:p>
          <a:p>
            <a:pPr>
              <a:buFont typeface="Arial" panose="020B0604020202020204" pitchFamily="34" charset="0"/>
              <a:buChar char="•"/>
            </a:pPr>
            <a:r>
              <a:rPr lang="en-US" dirty="0"/>
              <a:t>Solutions:</a:t>
            </a:r>
          </a:p>
          <a:p>
            <a:pPr marL="742950" lvl="1" indent="-285750">
              <a:buFont typeface="Arial" panose="020B0604020202020204" pitchFamily="34" charset="0"/>
              <a:buChar char="•"/>
            </a:pPr>
            <a:r>
              <a:rPr lang="en-US" b="1" dirty="0"/>
              <a:t>Branch Prediction</a:t>
            </a:r>
            <a:endParaRPr lang="en-US" dirty="0"/>
          </a:p>
          <a:p>
            <a:pPr marL="742950" lvl="1" indent="-285750">
              <a:buFont typeface="Arial" panose="020B0604020202020204" pitchFamily="34" charset="0"/>
              <a:buChar char="•"/>
            </a:pPr>
            <a:r>
              <a:rPr lang="en-US" b="1" dirty="0"/>
              <a:t>Delay Slots</a:t>
            </a:r>
            <a:endParaRPr lang="en-US" dirty="0"/>
          </a:p>
          <a:p>
            <a:pPr marL="742950" lvl="1" indent="-285750">
              <a:buFont typeface="Arial" panose="020B0604020202020204" pitchFamily="34" charset="0"/>
              <a:buChar char="•"/>
            </a:pPr>
            <a:r>
              <a:rPr lang="en-US" b="1" dirty="0"/>
              <a:t>Speculative Execution</a:t>
            </a:r>
            <a:endParaRPr lang="en-US" dirty="0"/>
          </a:p>
          <a:p>
            <a:endParaRPr lang="en-US" dirty="0"/>
          </a:p>
        </p:txBody>
      </p:sp>
    </p:spTree>
    <p:extLst>
      <p:ext uri="{BB962C8B-B14F-4D97-AF65-F5344CB8AC3E}">
        <p14:creationId xmlns:p14="http://schemas.microsoft.com/office/powerpoint/2010/main" val="10788992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99F20-97F5-1808-B0A8-D3FA7B4C9DE7}"/>
              </a:ext>
            </a:extLst>
          </p:cNvPr>
          <p:cNvSpPr>
            <a:spLocks noGrp="1"/>
          </p:cNvSpPr>
          <p:nvPr>
            <p:ph idx="1"/>
          </p:nvPr>
        </p:nvSpPr>
        <p:spPr/>
        <p:txBody>
          <a:bodyPr/>
          <a:lstStyle/>
          <a:p>
            <a:r>
              <a:rPr lang="en-US" dirty="0"/>
              <a:t>Register Renaming is a technique used to eliminate data hazards (RAW, WAR, and WAW) in pipelining by assigning different physical registers to the same logical register.</a:t>
            </a:r>
          </a:p>
          <a:p>
            <a:r>
              <a:rPr lang="en-US" dirty="0"/>
              <a:t>This helps avoid conflicts between instructions trying to read or write to the same register.</a:t>
            </a:r>
          </a:p>
          <a:p>
            <a:r>
              <a:rPr lang="en-US" dirty="0"/>
              <a:t>Commonly used in modern processors that support out-of-order execution and superscalar architectures.</a:t>
            </a:r>
          </a:p>
        </p:txBody>
      </p:sp>
      <p:sp>
        <p:nvSpPr>
          <p:cNvPr id="5" name="Title 1">
            <a:extLst>
              <a:ext uri="{FF2B5EF4-FFF2-40B4-BE49-F238E27FC236}">
                <a16:creationId xmlns:a16="http://schemas.microsoft.com/office/drawing/2014/main" id="{955C4CFC-FEBE-C06D-676F-BC620B28F52B}"/>
              </a:ext>
            </a:extLst>
          </p:cNvPr>
          <p:cNvSpPr>
            <a:spLocks noGrp="1"/>
          </p:cNvSpPr>
          <p:nvPr>
            <p:ph type="title"/>
          </p:nvPr>
        </p:nvSpPr>
        <p:spPr>
          <a:xfrm>
            <a:off x="1096963" y="287338"/>
            <a:ext cx="10058400" cy="1449387"/>
          </a:xfrm>
        </p:spPr>
        <p:txBody>
          <a:bodyPr>
            <a:normAutofit/>
          </a:bodyPr>
          <a:lstStyle/>
          <a:p>
            <a:r>
              <a:rPr lang="en-US" altLang="en-US" dirty="0"/>
              <a:t>Register Renaming for Data Hazard Resolution</a:t>
            </a:r>
            <a:endParaRPr lang="en-US" dirty="0"/>
          </a:p>
        </p:txBody>
      </p:sp>
    </p:spTree>
    <p:extLst>
      <p:ext uri="{BB962C8B-B14F-4D97-AF65-F5344CB8AC3E}">
        <p14:creationId xmlns:p14="http://schemas.microsoft.com/office/powerpoint/2010/main" val="4272048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92ABB-A009-5E1E-AC33-02B41BA992E6}"/>
              </a:ext>
            </a:extLst>
          </p:cNvPr>
          <p:cNvSpPr>
            <a:spLocks noGrp="1"/>
          </p:cNvSpPr>
          <p:nvPr>
            <p:ph type="title"/>
          </p:nvPr>
        </p:nvSpPr>
        <p:spPr/>
        <p:txBody>
          <a:bodyPr/>
          <a:lstStyle/>
          <a:p>
            <a:r>
              <a:rPr lang="en-US" b="1" dirty="0"/>
              <a:t>Formulas in Pipelining</a:t>
            </a:r>
            <a:endParaRPr lang="en-US" dirty="0"/>
          </a:p>
        </p:txBody>
      </p:sp>
      <p:pic>
        <p:nvPicPr>
          <p:cNvPr id="5" name="Content Placeholder 4">
            <a:extLst>
              <a:ext uri="{FF2B5EF4-FFF2-40B4-BE49-F238E27FC236}">
                <a16:creationId xmlns:a16="http://schemas.microsoft.com/office/drawing/2014/main" id="{219F8E29-996F-818D-8369-D410FC346B88}"/>
              </a:ext>
            </a:extLst>
          </p:cNvPr>
          <p:cNvPicPr>
            <a:picLocks noGrp="1" noChangeAspect="1"/>
          </p:cNvPicPr>
          <p:nvPr>
            <p:ph idx="1"/>
          </p:nvPr>
        </p:nvPicPr>
        <p:blipFill>
          <a:blip r:embed="rId2"/>
          <a:stretch>
            <a:fillRect/>
          </a:stretch>
        </p:blipFill>
        <p:spPr>
          <a:xfrm>
            <a:off x="1963738" y="2571750"/>
            <a:ext cx="8324850" cy="2571750"/>
          </a:xfrm>
        </p:spPr>
      </p:pic>
    </p:spTree>
    <p:extLst>
      <p:ext uri="{BB962C8B-B14F-4D97-AF65-F5344CB8AC3E}">
        <p14:creationId xmlns:p14="http://schemas.microsoft.com/office/powerpoint/2010/main" val="229293124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468</TotalTime>
  <Words>3322</Words>
  <Application>Microsoft Office PowerPoint</Application>
  <PresentationFormat>Widescreen</PresentationFormat>
  <Paragraphs>636</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Light</vt:lpstr>
      <vt:lpstr>Cambria Math</vt:lpstr>
      <vt:lpstr>Times New Roman</vt:lpstr>
      <vt:lpstr>Wingdings</vt:lpstr>
      <vt:lpstr>Retrospect</vt:lpstr>
      <vt:lpstr>Lecture # 08 Pipelining Architecture</vt:lpstr>
      <vt:lpstr>Introduction to Pipelining</vt:lpstr>
      <vt:lpstr>What is Pipelining?</vt:lpstr>
      <vt:lpstr>Need for Pipelining</vt:lpstr>
      <vt:lpstr>Types of Pipelining</vt:lpstr>
      <vt:lpstr>1. Hardware Pipelining (Processor-Level Pipelining)</vt:lpstr>
      <vt:lpstr>2. Software Pipelining</vt:lpstr>
      <vt:lpstr>Tradeoff Between Cost and Performance in Pipelining</vt:lpstr>
      <vt:lpstr>Tradeoff Between Cost and Performance in Pipelining</vt:lpstr>
      <vt:lpstr>Optimizing the Tradeoff</vt:lpstr>
      <vt:lpstr>Stages in Pipelining</vt:lpstr>
      <vt:lpstr>1. Instruction Fetch (IF)</vt:lpstr>
      <vt:lpstr>2. Instruction Decode (ID)</vt:lpstr>
      <vt:lpstr>3. Execute (EX)</vt:lpstr>
      <vt:lpstr>4. Memory Access (MEM)</vt:lpstr>
      <vt:lpstr>5. Write Back (WB)</vt:lpstr>
      <vt:lpstr>Graphical Representation of Pipelining</vt:lpstr>
      <vt:lpstr>Example of Instruction Execution in Pipelining</vt:lpstr>
      <vt:lpstr>In a pipelined processor, execution happens as follows:</vt:lpstr>
      <vt:lpstr>Example of Instruction Execution in Pipelining</vt:lpstr>
      <vt:lpstr>Pipeline Execution Diagram(space time Diagram)</vt:lpstr>
      <vt:lpstr>Serial Execution (Without Pipelining)</vt:lpstr>
      <vt:lpstr>Pipelined vs Non-Pipelined Execution</vt:lpstr>
      <vt:lpstr>Pipelined vs Non-Pipelined Execution</vt:lpstr>
      <vt:lpstr>Characteristics of Pipelining</vt:lpstr>
      <vt:lpstr>Characteristics of Pipelining</vt:lpstr>
      <vt:lpstr>Example: 8 Instructions in a 5-Stage Pipeline</vt:lpstr>
      <vt:lpstr>Instructions in the Program</vt:lpstr>
      <vt:lpstr>Pipeline Execution Table (Clock Cycles)</vt:lpstr>
      <vt:lpstr>Observations</vt:lpstr>
      <vt:lpstr>Space-Time Diagram</vt:lpstr>
      <vt:lpstr>Speedup Calculation</vt:lpstr>
      <vt:lpstr>Clock Cycles Per Instruction (CPI) </vt:lpstr>
      <vt:lpstr>For a Non-Pipelined Processor:</vt:lpstr>
      <vt:lpstr>Example </vt:lpstr>
      <vt:lpstr>Utilization Formula</vt:lpstr>
      <vt:lpstr>Pipeline Execution Diagram(space time Diagram)</vt:lpstr>
      <vt:lpstr>Serial Execution (Without Pipelining)</vt:lpstr>
      <vt:lpstr>Example Calculation:</vt:lpstr>
      <vt:lpstr>Numerical </vt:lpstr>
      <vt:lpstr>Questions:</vt:lpstr>
      <vt:lpstr>Problem</vt:lpstr>
      <vt:lpstr>Hazards in Pipelining</vt:lpstr>
      <vt:lpstr>Data Hazards and Types</vt:lpstr>
      <vt:lpstr>Structural Hazards</vt:lpstr>
      <vt:lpstr>Control Hazards</vt:lpstr>
      <vt:lpstr>Register Renaming for Data Hazard Resolution</vt:lpstr>
      <vt:lpstr>Formulas in Pipelining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fatimamehar424@gmail.com</dc:creator>
  <cp:lastModifiedBy>fatimamehar424@gmail.com</cp:lastModifiedBy>
  <cp:revision>13</cp:revision>
  <dcterms:created xsi:type="dcterms:W3CDTF">2025-01-19T18:41:29Z</dcterms:created>
  <dcterms:modified xsi:type="dcterms:W3CDTF">2025-02-10T20:42:52Z</dcterms:modified>
</cp:coreProperties>
</file>