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jpg" ContentType="image/jpg"/>
  <Override PartName="/ppt/media/image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notesMasterIdLst>
    <p:notesMasterId r:id="rId28"/>
  </p:notesMasterIdLst>
  <p:sldIdLst>
    <p:sldId id="310" r:id="rId2"/>
    <p:sldId id="258" r:id="rId3"/>
    <p:sldId id="311" r:id="rId4"/>
    <p:sldId id="294" r:id="rId5"/>
    <p:sldId id="257" r:id="rId6"/>
    <p:sldId id="288" r:id="rId7"/>
    <p:sldId id="306" r:id="rId8"/>
    <p:sldId id="305" r:id="rId9"/>
    <p:sldId id="285" r:id="rId10"/>
    <p:sldId id="303" r:id="rId11"/>
    <p:sldId id="304" r:id="rId12"/>
    <p:sldId id="302" r:id="rId13"/>
    <p:sldId id="295" r:id="rId14"/>
    <p:sldId id="296" r:id="rId15"/>
    <p:sldId id="297" r:id="rId16"/>
    <p:sldId id="298" r:id="rId17"/>
    <p:sldId id="299" r:id="rId18"/>
    <p:sldId id="300" r:id="rId19"/>
    <p:sldId id="301" r:id="rId20"/>
    <p:sldId id="307" r:id="rId21"/>
    <p:sldId id="286" r:id="rId22"/>
    <p:sldId id="308" r:id="rId23"/>
    <p:sldId id="270" r:id="rId24"/>
    <p:sldId id="272" r:id="rId25"/>
    <p:sldId id="274" r:id="rId26"/>
    <p:sldId id="30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171" autoAdjust="0"/>
  </p:normalViewPr>
  <p:slideViewPr>
    <p:cSldViewPr snapToGrid="0">
      <p:cViewPr varScale="1">
        <p:scale>
          <a:sx n="55" d="100"/>
          <a:sy n="55" d="100"/>
        </p:scale>
        <p:origin x="1028"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392913-E685-4C02-AE07-D7C5D9A006E3}" type="datetimeFigureOut">
              <a:rPr lang="en-US" smtClean="0"/>
              <a:t>1/19/2025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A05852-650E-4A98-BD99-C1C1B1BFE4CD}" type="slidenum">
              <a:rPr lang="en-US" smtClean="0"/>
              <a:t>‹#›</a:t>
            </a:fld>
            <a:endParaRPr lang="en-US"/>
          </a:p>
        </p:txBody>
      </p:sp>
    </p:spTree>
    <p:extLst>
      <p:ext uri="{BB962C8B-B14F-4D97-AF65-F5344CB8AC3E}">
        <p14:creationId xmlns:p14="http://schemas.microsoft.com/office/powerpoint/2010/main" val="195079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Early Computers:</a:t>
            </a:r>
          </a:p>
          <a:p>
            <a:endParaRPr lang="en-US" dirty="0"/>
          </a:p>
          <a:p>
            <a:r>
              <a:rPr lang="en-US" dirty="0"/>
              <a:t>Early computing devices, such as the ENIAC (Electronic Numerical Integrator and Computer) and UNIVAC (Universal Automatic Computer), marked the dawn of the digital age. These machines, developed in the 1940s and 1950s, were behemoths, filling entire rooms with their intricate wiring and vacuum tubes. Despite their massive size, they possessed limited processing capabilities compared to today's standards. The ENIAC, for instance, weighed 30 tons and could perform basic arithmetic calculations at speeds unimaginable at the time, yet still significantly slower than modern pocket calculators.</a:t>
            </a:r>
          </a:p>
          <a:p>
            <a:endParaRPr lang="en-US" dirty="0"/>
          </a:p>
          <a:p>
            <a:r>
              <a:rPr lang="en-US" dirty="0"/>
              <a:t>Evolution to Mainframes:</a:t>
            </a:r>
          </a:p>
          <a:p>
            <a:endParaRPr lang="en-US" dirty="0"/>
          </a:p>
          <a:p>
            <a:r>
              <a:rPr lang="en-US" dirty="0"/>
              <a:t>In the mid-20th century, computing technology underwent a significant transformation with the advent of mainframe computers. These room-sized machines, exemplified by the IBM System/360, represented a leap forward in computing power and versatility. Introduced in 1964, the IBM System/360 series standardized computing architecture, offering compatibility across various models and providing unprecedented processing capabilities for businesses, governments, and academic institutions.</a:t>
            </a:r>
          </a:p>
          <a:p>
            <a:endParaRPr lang="en-US" dirty="0"/>
          </a:p>
          <a:p>
            <a:r>
              <a:rPr lang="en-US" dirty="0"/>
              <a:t>Personal Computers Era:</a:t>
            </a:r>
          </a:p>
          <a:p>
            <a:endParaRPr lang="en-US" dirty="0"/>
          </a:p>
          <a:p>
            <a:r>
              <a:rPr lang="en-US" dirty="0"/>
              <a:t>The late 20th century witnessed the democratization of computing with the rise of personal computers (PCs). Companies like Apple and Microsoft played pivotal roles in popularizing personal computing by introducing user-friendly interfaces and affordable hardware. The Apple II, launched in 1977, and the IBM PC, introduced in 1981, marked the beginning of a new era, empowering individuals to have computing power at their fingertips.</a:t>
            </a:r>
          </a:p>
          <a:p>
            <a:endParaRPr lang="en-US" dirty="0"/>
          </a:p>
          <a:p>
            <a:r>
              <a:rPr lang="en-US" dirty="0"/>
              <a:t>Moore's Law:</a:t>
            </a:r>
          </a:p>
          <a:p>
            <a:endParaRPr lang="en-US" dirty="0"/>
          </a:p>
          <a:p>
            <a:r>
              <a:rPr lang="en-US" dirty="0"/>
              <a:t>Moore's Law, formulated by Intel co-founder Gordon Moore in 1965, predicts that the number of transistors on a microchip doubles approximately every two years. This exponential growth has fueled the rapid advancement of processing power, leading to smaller, faster, and more efficient computers. Moore's Law has been a driving force behind technological innovation, enabling the development of increasingly powerful and compact devices, from smartphones to supercomputers, and revolutionizing nearly every aspect of modern life.</a:t>
            </a:r>
          </a:p>
        </p:txBody>
      </p:sp>
      <p:sp>
        <p:nvSpPr>
          <p:cNvPr id="4" name="Slide Number Placeholder 3"/>
          <p:cNvSpPr>
            <a:spLocks noGrp="1"/>
          </p:cNvSpPr>
          <p:nvPr>
            <p:ph type="sldNum" sz="quarter" idx="10"/>
          </p:nvPr>
        </p:nvSpPr>
        <p:spPr/>
        <p:txBody>
          <a:bodyPr/>
          <a:lstStyle/>
          <a:p>
            <a:fld id="{0EA05852-650E-4A98-BD99-C1C1B1BFE4CD}" type="slidenum">
              <a:rPr lang="en-US" smtClean="0"/>
              <a:t>2</a:t>
            </a:fld>
            <a:endParaRPr lang="en-US"/>
          </a:p>
        </p:txBody>
      </p:sp>
    </p:spTree>
    <p:extLst>
      <p:ext uri="{BB962C8B-B14F-4D97-AF65-F5344CB8AC3E}">
        <p14:creationId xmlns:p14="http://schemas.microsoft.com/office/powerpoint/2010/main" val="4018264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E70F5-57C5-93E7-FBF5-3DDB55D92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6CE3A-8669-AFF3-5C94-2095BE515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91CCA-E261-039A-1BDD-ECE1A3AA88B6}"/>
              </a:ext>
            </a:extLst>
          </p:cNvPr>
          <p:cNvSpPr>
            <a:spLocks noGrp="1"/>
          </p:cNvSpPr>
          <p:nvPr>
            <p:ph type="body" idx="1"/>
          </p:nvPr>
        </p:nvSpPr>
        <p:spPr/>
        <p:txBody>
          <a:bodyPr/>
          <a:lstStyle/>
          <a:p>
            <a:r>
              <a:rPr lang="en-US" dirty="0"/>
              <a:t>Introduction to Early Computers:</a:t>
            </a:r>
          </a:p>
          <a:p>
            <a:endParaRPr lang="en-US" dirty="0"/>
          </a:p>
          <a:p>
            <a:r>
              <a:rPr lang="en-US" dirty="0"/>
              <a:t>Early computing devices, such as the ENIAC (Electronic Numerical Integrator and Computer) and UNIVAC (Universal Automatic Computer), marked the dawn of the digital age. These machines, developed in the 1940s and 1950s, were behemoths, filling entire rooms with their intricate wiring and vacuum tubes. Despite their massive size, they possessed limited processing capabilities compared to today's standards. The ENIAC, for instance, weighed 30 tons and could perform basic arithmetic calculations at speeds unimaginable at the time, yet still significantly slower than modern pocket calculators.</a:t>
            </a:r>
          </a:p>
          <a:p>
            <a:endParaRPr lang="en-US" dirty="0"/>
          </a:p>
          <a:p>
            <a:r>
              <a:rPr lang="en-US" dirty="0"/>
              <a:t>Evolution to Mainframes:</a:t>
            </a:r>
          </a:p>
          <a:p>
            <a:endParaRPr lang="en-US" dirty="0"/>
          </a:p>
          <a:p>
            <a:r>
              <a:rPr lang="en-US" dirty="0"/>
              <a:t>In the mid-20th century, computing technology underwent a significant transformation with the advent of mainframe computers. These room-sized machines, exemplified by the IBM System/360, represented a leap forward in computing power and versatility. Introduced in 1964, the IBM System/360 series standardized computing architecture, offering compatibility across various models and providing unprecedented processing capabilities for businesses, governments, and academic institutions.</a:t>
            </a:r>
          </a:p>
          <a:p>
            <a:endParaRPr lang="en-US" dirty="0"/>
          </a:p>
          <a:p>
            <a:r>
              <a:rPr lang="en-US" dirty="0"/>
              <a:t>Personal Computers Era:</a:t>
            </a:r>
          </a:p>
          <a:p>
            <a:endParaRPr lang="en-US" dirty="0"/>
          </a:p>
          <a:p>
            <a:r>
              <a:rPr lang="en-US" dirty="0"/>
              <a:t>The late 20th century witnessed the democratization of computing with the rise of personal computers (PCs). Companies like Apple and Microsoft played pivotal roles in popularizing personal computing by introducing user-friendly interfaces and affordable hardware. The Apple II, launched in 1977, and the IBM PC, introduced in 1981, marked the beginning of a new era, empowering individuals to have computing power at their fingertips.</a:t>
            </a:r>
          </a:p>
          <a:p>
            <a:endParaRPr lang="en-US" dirty="0"/>
          </a:p>
          <a:p>
            <a:r>
              <a:rPr lang="en-US" dirty="0"/>
              <a:t>Moore's Law:</a:t>
            </a:r>
          </a:p>
          <a:p>
            <a:endParaRPr lang="en-US" dirty="0"/>
          </a:p>
          <a:p>
            <a:r>
              <a:rPr lang="en-US" dirty="0"/>
              <a:t>Moore's Law, formulated by Intel co-founder Gordon Moore in 1965, predicts that the number of transistors on a microchip doubles approximately every two years. This exponential growth has fueled the rapid advancement of processing power, leading to smaller, faster, and more efficient computers. Moore's Law has been a driving force behind technological innovation, enabling the development of increasingly powerful and compact devices, from smartphones to supercomputers, and revolutionizing nearly every aspect of modern life.</a:t>
            </a:r>
          </a:p>
        </p:txBody>
      </p:sp>
      <p:sp>
        <p:nvSpPr>
          <p:cNvPr id="4" name="Slide Number Placeholder 3">
            <a:extLst>
              <a:ext uri="{FF2B5EF4-FFF2-40B4-BE49-F238E27FC236}">
                <a16:creationId xmlns:a16="http://schemas.microsoft.com/office/drawing/2014/main" id="{136CE08F-9F1A-F788-396E-157C65BB9E1E}"/>
              </a:ext>
            </a:extLst>
          </p:cNvPr>
          <p:cNvSpPr>
            <a:spLocks noGrp="1"/>
          </p:cNvSpPr>
          <p:nvPr>
            <p:ph type="sldNum" sz="quarter" idx="10"/>
          </p:nvPr>
        </p:nvSpPr>
        <p:spPr/>
        <p:txBody>
          <a:bodyPr/>
          <a:lstStyle/>
          <a:p>
            <a:fld id="{0EA05852-650E-4A98-BD99-C1C1B1BFE4CD}" type="slidenum">
              <a:rPr lang="en-US" smtClean="0"/>
              <a:t>3</a:t>
            </a:fld>
            <a:endParaRPr lang="en-US"/>
          </a:p>
        </p:txBody>
      </p:sp>
    </p:spTree>
    <p:extLst>
      <p:ext uri="{BB962C8B-B14F-4D97-AF65-F5344CB8AC3E}">
        <p14:creationId xmlns:p14="http://schemas.microsoft.com/office/powerpoint/2010/main" val="1462598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B05D63-08EF-4D3F-B0BA-A6F4F9C6D897}"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28A9F-AB2F-4075-A427-4A08117196F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7312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B05D63-08EF-4D3F-B0BA-A6F4F9C6D897}"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41494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B05D63-08EF-4D3F-B0BA-A6F4F9C6D897}"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28A9F-AB2F-4075-A427-4A08117196F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56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B05D63-08EF-4D3F-B0BA-A6F4F9C6D897}"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3072645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B05D63-08EF-4D3F-B0BA-A6F4F9C6D897}"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3324629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B05D63-08EF-4D3F-B0BA-A6F4F9C6D897}"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392910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6B05D63-08EF-4D3F-B0BA-A6F4F9C6D897}" type="datetimeFigureOut">
              <a:rPr lang="en-US" smtClean="0"/>
              <a:t>1/19/2025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1112970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6B05D63-08EF-4D3F-B0BA-A6F4F9C6D897}" type="datetimeFigureOut">
              <a:rPr lang="en-US" smtClean="0"/>
              <a:t>1/19/2025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7028A9F-AB2F-4075-A427-4A08117196FC}" type="slidenum">
              <a:rPr lang="en-US" smtClean="0"/>
              <a:t>‹#›</a:t>
            </a:fld>
            <a:endParaRPr lang="en-US"/>
          </a:p>
        </p:txBody>
      </p:sp>
    </p:spTree>
    <p:extLst>
      <p:ext uri="{BB962C8B-B14F-4D97-AF65-F5344CB8AC3E}">
        <p14:creationId xmlns:p14="http://schemas.microsoft.com/office/powerpoint/2010/main" val="1759236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B05D63-08EF-4D3F-B0BA-A6F4F9C6D897}"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58566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B05D63-08EF-4D3F-B0BA-A6F4F9C6D897}"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2827013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B05D63-08EF-4D3F-B0BA-A6F4F9C6D897}"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028A9F-AB2F-4075-A427-4A08117196FC}" type="slidenum">
              <a:rPr lang="en-US" smtClean="0"/>
              <a:t>‹#›</a:t>
            </a:fld>
            <a:endParaRPr lang="en-US"/>
          </a:p>
        </p:txBody>
      </p:sp>
    </p:spTree>
    <p:extLst>
      <p:ext uri="{BB962C8B-B14F-4D97-AF65-F5344CB8AC3E}">
        <p14:creationId xmlns:p14="http://schemas.microsoft.com/office/powerpoint/2010/main" val="4072164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6B05D63-08EF-4D3F-B0BA-A6F4F9C6D897}" type="datetimeFigureOut">
              <a:rPr lang="en-US" smtClean="0"/>
              <a:t>1/19/2025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7028A9F-AB2F-4075-A427-4A08117196F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253963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1EE1A-B1D3-EF6A-4858-638688EAC468}"/>
              </a:ext>
            </a:extLst>
          </p:cNvPr>
          <p:cNvSpPr>
            <a:spLocks noGrp="1"/>
          </p:cNvSpPr>
          <p:nvPr>
            <p:ph type="ctrTitle"/>
          </p:nvPr>
        </p:nvSpPr>
        <p:spPr/>
        <p:txBody>
          <a:bodyPr>
            <a:noAutofit/>
          </a:bodyPr>
          <a:lstStyle/>
          <a:p>
            <a:r>
              <a:rPr lang="en-US" sz="4800" b="1" dirty="0">
                <a:latin typeface="Times New Roman" panose="02020603050405020304" pitchFamily="18" charset="0"/>
                <a:cs typeface="Times New Roman" panose="02020603050405020304" pitchFamily="18" charset="0"/>
              </a:rPr>
              <a:t>Lecture # 01</a:t>
            </a:r>
            <a:br>
              <a:rPr lang="en-US" sz="4800" dirty="0">
                <a:latin typeface="Times New Roman" panose="02020603050405020304" pitchFamily="18" charset="0"/>
                <a:cs typeface="Times New Roman" panose="02020603050405020304" pitchFamily="18" charset="0"/>
              </a:rPr>
            </a:br>
            <a:r>
              <a:rPr lang="en-US" sz="4800" dirty="0">
                <a:latin typeface="Times New Roman" panose="02020603050405020304" pitchFamily="18" charset="0"/>
                <a:cs typeface="Times New Roman" panose="02020603050405020304" pitchFamily="18" charset="0"/>
              </a:rPr>
              <a:t>Introduction to Parallel and Distributed Computing</a:t>
            </a:r>
            <a:endParaRPr lang="en-US" sz="4800" dirty="0"/>
          </a:p>
        </p:txBody>
      </p:sp>
      <p:sp>
        <p:nvSpPr>
          <p:cNvPr id="3" name="Subtitle 2">
            <a:extLst>
              <a:ext uri="{FF2B5EF4-FFF2-40B4-BE49-F238E27FC236}">
                <a16:creationId xmlns:a16="http://schemas.microsoft.com/office/drawing/2014/main" id="{BCBE45FA-97A2-8730-A266-16754C6D3E3D}"/>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1391693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647E2-9E7D-497E-8F99-44B00ABA6891}"/>
              </a:ext>
            </a:extLst>
          </p:cNvPr>
          <p:cNvSpPr>
            <a:spLocks noGrp="1"/>
          </p:cNvSpPr>
          <p:nvPr>
            <p:ph type="title"/>
          </p:nvPr>
        </p:nvSpPr>
        <p:spPr/>
        <p:txBody>
          <a:bodyPr/>
          <a:lstStyle/>
          <a:p>
            <a:r>
              <a:rPr lang="en-US" b="1" i="0" dirty="0">
                <a:solidFill>
                  <a:srgbClr val="0D0D0D"/>
                </a:solidFill>
                <a:effectLst/>
                <a:latin typeface="Times New Roman" panose="02020603050405020304" pitchFamily="18" charset="0"/>
                <a:cs typeface="Times New Roman" panose="02020603050405020304" pitchFamily="18" charset="0"/>
              </a:rPr>
              <a:t>Computing History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C69DBF-3FB9-44D8-9D9E-184D0E958B5A}"/>
              </a:ext>
            </a:extLst>
          </p:cNvPr>
          <p:cNvSpPr>
            <a:spLocks noGrp="1"/>
          </p:cNvSpPr>
          <p:nvPr>
            <p:ph idx="1"/>
          </p:nvPr>
        </p:nvSpPr>
        <p:spPr/>
        <p:txBody>
          <a:bodyPr numCol="1">
            <a:normAutofit fontScale="92500" lnSpcReduction="10000"/>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Introduction to Early Computers:</a:t>
            </a:r>
          </a:p>
          <a:p>
            <a:pPr lvl="1"/>
            <a:r>
              <a:rPr lang="en-US" dirty="0">
                <a:latin typeface="Times New Roman" panose="02020603050405020304" pitchFamily="18" charset="0"/>
                <a:cs typeface="Times New Roman" panose="02020603050405020304" pitchFamily="18" charset="0"/>
              </a:rPr>
              <a:t> ENIAC and UNIVAC in the 1940s and 1950s.</a:t>
            </a:r>
          </a:p>
          <a:p>
            <a:pPr lvl="1"/>
            <a:r>
              <a:rPr lang="en-US" dirty="0">
                <a:latin typeface="Times New Roman" panose="02020603050405020304" pitchFamily="18" charset="0"/>
                <a:cs typeface="Times New Roman" panose="02020603050405020304" pitchFamily="18" charset="0"/>
              </a:rPr>
              <a:t> Massive room sized structures with vacuum tubes.</a:t>
            </a:r>
          </a:p>
          <a:p>
            <a:pPr lvl="1"/>
            <a:r>
              <a:rPr lang="en-US" dirty="0">
                <a:latin typeface="Times New Roman" panose="02020603050405020304" pitchFamily="18" charset="0"/>
                <a:cs typeface="Times New Roman" panose="02020603050405020304" pitchFamily="18" charset="0"/>
              </a:rPr>
              <a:t> Limited processing capabilities compared to contemporary technology.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Evolution to Mainframes: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Transition in the mid20th century.</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IBM System/360 as a milestone in the 1960s.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Room sized mainframe computers with enhanced processing power.</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Personal Computers Era:</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Late 20thcentury rise of personal computers.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Apple and Microsoft pivotal in popularizing personal computing.</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Introduction of user-friendly interfaces and affordable hardware.</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Apple II (1977) and IBM PC (1981) marked the beginning</a:t>
            </a:r>
          </a:p>
        </p:txBody>
      </p:sp>
    </p:spTree>
    <p:extLst>
      <p:ext uri="{BB962C8B-B14F-4D97-AF65-F5344CB8AC3E}">
        <p14:creationId xmlns:p14="http://schemas.microsoft.com/office/powerpoint/2010/main" val="849214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9FA3F-E383-6724-BFC0-24E6B9102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6D869-D0B9-6ACE-E70F-338A760BC973}"/>
              </a:ext>
            </a:extLst>
          </p:cNvPr>
          <p:cNvSpPr>
            <a:spLocks noGrp="1"/>
          </p:cNvSpPr>
          <p:nvPr>
            <p:ph type="title"/>
          </p:nvPr>
        </p:nvSpPr>
        <p:spPr/>
        <p:txBody>
          <a:bodyPr/>
          <a:lstStyle/>
          <a:p>
            <a:r>
              <a:rPr lang="en-US" b="1" i="0" dirty="0">
                <a:solidFill>
                  <a:srgbClr val="0D0D0D"/>
                </a:solidFill>
                <a:effectLst/>
                <a:latin typeface="Times New Roman" panose="02020603050405020304" pitchFamily="18" charset="0"/>
                <a:cs typeface="Times New Roman" panose="02020603050405020304" pitchFamily="18" charset="0"/>
              </a:rPr>
              <a:t>Computing History</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0FC1F4-1187-45B5-2B30-261764611863}"/>
              </a:ext>
            </a:extLst>
          </p:cNvPr>
          <p:cNvSpPr>
            <a:spLocks noGrp="1"/>
          </p:cNvSpPr>
          <p:nvPr>
            <p:ph idx="1"/>
          </p:nvPr>
        </p:nvSpPr>
        <p:spPr/>
        <p:txBody>
          <a:bodyPr numCol="1">
            <a:norm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Moore's Law:</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Formulated by Gordon Moore in 1965.</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Predicts doubling of transistors on a microchip every two years.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Drives exponential growth in processing power.</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Facilitates development of smaller, faster, and more efficient computers.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Influences technological innovation across various devices.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Revolutionizes modern life, impacting smartphones to supercomputers..</a:t>
            </a:r>
          </a:p>
        </p:txBody>
      </p:sp>
    </p:spTree>
    <p:extLst>
      <p:ext uri="{BB962C8B-B14F-4D97-AF65-F5344CB8AC3E}">
        <p14:creationId xmlns:p14="http://schemas.microsoft.com/office/powerpoint/2010/main" val="3051199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9787" y="1235709"/>
            <a:ext cx="10953327" cy="1855470"/>
          </a:xfrm>
          <a:prstGeom prst="rect">
            <a:avLst/>
          </a:prstGeom>
        </p:spPr>
        <p:txBody>
          <a:bodyPr vert="horz" wrap="square" lIns="0" tIns="13335" rIns="0" bIns="0" rtlCol="0">
            <a:spAutoFit/>
          </a:bodyPr>
          <a:lstStyle/>
          <a:p>
            <a:pPr marL="12700">
              <a:lnSpc>
                <a:spcPct val="100000"/>
              </a:lnSpc>
              <a:spcBef>
                <a:spcPts val="105"/>
              </a:spcBef>
            </a:pPr>
            <a:r>
              <a:rPr sz="2000" spc="-15" dirty="0">
                <a:latin typeface="Calibri"/>
                <a:cs typeface="Calibri"/>
              </a:rPr>
              <a:t>Traditionally</a:t>
            </a:r>
            <a:r>
              <a:rPr sz="2000" dirty="0">
                <a:latin typeface="Calibri"/>
                <a:cs typeface="Calibri"/>
              </a:rPr>
              <a:t> </a:t>
            </a:r>
            <a:r>
              <a:rPr sz="2000" spc="-10" dirty="0">
                <a:latin typeface="Calibri"/>
                <a:cs typeface="Calibri"/>
              </a:rPr>
              <a:t>software</a:t>
            </a:r>
            <a:r>
              <a:rPr sz="2000" spc="5" dirty="0">
                <a:latin typeface="Calibri"/>
                <a:cs typeface="Calibri"/>
              </a:rPr>
              <a:t> </a:t>
            </a:r>
            <a:r>
              <a:rPr sz="2000" spc="-5" dirty="0">
                <a:latin typeface="Calibri"/>
                <a:cs typeface="Calibri"/>
              </a:rPr>
              <a:t>has</a:t>
            </a:r>
            <a:r>
              <a:rPr sz="2000" dirty="0">
                <a:latin typeface="Calibri"/>
                <a:cs typeface="Calibri"/>
              </a:rPr>
              <a:t> been</a:t>
            </a:r>
            <a:r>
              <a:rPr sz="2000" spc="-5" dirty="0">
                <a:latin typeface="Calibri"/>
                <a:cs typeface="Calibri"/>
              </a:rPr>
              <a:t> </a:t>
            </a:r>
            <a:r>
              <a:rPr sz="2000" spc="-10" dirty="0">
                <a:latin typeface="Calibri"/>
                <a:cs typeface="Calibri"/>
              </a:rPr>
              <a:t>written</a:t>
            </a:r>
            <a:r>
              <a:rPr sz="2000" dirty="0">
                <a:latin typeface="Calibri"/>
                <a:cs typeface="Calibri"/>
              </a:rPr>
              <a:t> </a:t>
            </a:r>
            <a:r>
              <a:rPr sz="2000" spc="-15" dirty="0">
                <a:latin typeface="Calibri"/>
                <a:cs typeface="Calibri"/>
              </a:rPr>
              <a:t>for</a:t>
            </a:r>
            <a:r>
              <a:rPr sz="2000" spc="-10" dirty="0">
                <a:latin typeface="Calibri"/>
                <a:cs typeface="Calibri"/>
              </a:rPr>
              <a:t> </a:t>
            </a:r>
            <a:r>
              <a:rPr sz="2000" spc="-5" dirty="0">
                <a:latin typeface="Calibri"/>
                <a:cs typeface="Calibri"/>
              </a:rPr>
              <a:t>serial</a:t>
            </a:r>
            <a:r>
              <a:rPr sz="2000" spc="20" dirty="0">
                <a:latin typeface="Calibri"/>
                <a:cs typeface="Calibri"/>
              </a:rPr>
              <a:t> </a:t>
            </a:r>
            <a:r>
              <a:rPr sz="2000" spc="-5" dirty="0">
                <a:latin typeface="Calibri"/>
                <a:cs typeface="Calibri"/>
              </a:rPr>
              <a:t>computations:</a:t>
            </a:r>
            <a:endParaRPr sz="2000" dirty="0">
              <a:latin typeface="Calibri"/>
              <a:cs typeface="Calibri"/>
            </a:endParaRPr>
          </a:p>
          <a:p>
            <a:pPr>
              <a:lnSpc>
                <a:spcPct val="100000"/>
              </a:lnSpc>
              <a:spcBef>
                <a:spcPts val="15"/>
              </a:spcBef>
            </a:pPr>
            <a:endParaRPr sz="1950" dirty="0">
              <a:latin typeface="Calibri"/>
              <a:cs typeface="Calibri"/>
            </a:endParaRPr>
          </a:p>
          <a:p>
            <a:pPr marL="355600" indent="-342900">
              <a:lnSpc>
                <a:spcPct val="100000"/>
              </a:lnSpc>
              <a:buFont typeface="Wingdings"/>
              <a:buChar char=""/>
              <a:tabLst>
                <a:tab pos="355600" algn="l"/>
              </a:tabLst>
            </a:pPr>
            <a:r>
              <a:rPr sz="2000" spc="-95" dirty="0">
                <a:latin typeface="Calibri"/>
                <a:cs typeface="Calibri"/>
              </a:rPr>
              <a:t>To</a:t>
            </a:r>
            <a:r>
              <a:rPr sz="2000" spc="-5" dirty="0">
                <a:latin typeface="Calibri"/>
                <a:cs typeface="Calibri"/>
              </a:rPr>
              <a:t> be</a:t>
            </a:r>
            <a:r>
              <a:rPr sz="2000" dirty="0">
                <a:latin typeface="Calibri"/>
                <a:cs typeface="Calibri"/>
              </a:rPr>
              <a:t> run</a:t>
            </a:r>
            <a:r>
              <a:rPr sz="2000" spc="5" dirty="0">
                <a:latin typeface="Calibri"/>
                <a:cs typeface="Calibri"/>
              </a:rPr>
              <a:t> </a:t>
            </a:r>
            <a:r>
              <a:rPr sz="2000" spc="-5" dirty="0">
                <a:latin typeface="Calibri"/>
                <a:cs typeface="Calibri"/>
              </a:rPr>
              <a:t>on</a:t>
            </a:r>
            <a:r>
              <a:rPr sz="2000" spc="-15" dirty="0">
                <a:latin typeface="Calibri"/>
                <a:cs typeface="Calibri"/>
              </a:rPr>
              <a:t> </a:t>
            </a:r>
            <a:r>
              <a:rPr sz="2000" dirty="0">
                <a:latin typeface="Calibri"/>
                <a:cs typeface="Calibri"/>
              </a:rPr>
              <a:t>a</a:t>
            </a:r>
            <a:r>
              <a:rPr sz="2000" spc="15" dirty="0">
                <a:latin typeface="Calibri"/>
                <a:cs typeface="Calibri"/>
              </a:rPr>
              <a:t> </a:t>
            </a:r>
            <a:r>
              <a:rPr sz="2000" spc="-5" dirty="0">
                <a:solidFill>
                  <a:srgbClr val="FF0000"/>
                </a:solidFill>
                <a:latin typeface="Calibri"/>
                <a:cs typeface="Calibri"/>
              </a:rPr>
              <a:t>single</a:t>
            </a:r>
            <a:r>
              <a:rPr sz="2000" dirty="0">
                <a:solidFill>
                  <a:srgbClr val="FF0000"/>
                </a:solidFill>
                <a:latin typeface="Calibri"/>
                <a:cs typeface="Calibri"/>
              </a:rPr>
              <a:t> </a:t>
            </a:r>
            <a:r>
              <a:rPr sz="2000" spc="-5" dirty="0">
                <a:solidFill>
                  <a:srgbClr val="FF0000"/>
                </a:solidFill>
                <a:latin typeface="Calibri"/>
                <a:cs typeface="Calibri"/>
              </a:rPr>
              <a:t>computer</a:t>
            </a:r>
            <a:r>
              <a:rPr sz="2000" dirty="0">
                <a:solidFill>
                  <a:srgbClr val="FF0000"/>
                </a:solidFill>
                <a:latin typeface="Calibri"/>
                <a:cs typeface="Calibri"/>
              </a:rPr>
              <a:t> </a:t>
            </a:r>
            <a:r>
              <a:rPr sz="2000" spc="-10" dirty="0">
                <a:latin typeface="Calibri"/>
                <a:cs typeface="Calibri"/>
              </a:rPr>
              <a:t>having</a:t>
            </a:r>
            <a:r>
              <a:rPr sz="2000" dirty="0">
                <a:latin typeface="Calibri"/>
                <a:cs typeface="Calibri"/>
              </a:rPr>
              <a:t> a</a:t>
            </a:r>
            <a:r>
              <a:rPr sz="2000" spc="-5" dirty="0">
                <a:latin typeface="Calibri"/>
                <a:cs typeface="Calibri"/>
              </a:rPr>
              <a:t> </a:t>
            </a:r>
            <a:r>
              <a:rPr sz="2000" spc="-5" dirty="0">
                <a:solidFill>
                  <a:srgbClr val="FF0000"/>
                </a:solidFill>
                <a:latin typeface="Calibri"/>
                <a:cs typeface="Calibri"/>
              </a:rPr>
              <a:t>single</a:t>
            </a:r>
            <a:r>
              <a:rPr sz="2000" spc="5" dirty="0">
                <a:solidFill>
                  <a:srgbClr val="FF0000"/>
                </a:solidFill>
                <a:latin typeface="Calibri"/>
                <a:cs typeface="Calibri"/>
              </a:rPr>
              <a:t> </a:t>
            </a:r>
            <a:r>
              <a:rPr sz="2000" spc="-10" dirty="0">
                <a:solidFill>
                  <a:srgbClr val="FF0000"/>
                </a:solidFill>
                <a:latin typeface="Calibri"/>
                <a:cs typeface="Calibri"/>
              </a:rPr>
              <a:t>Central</a:t>
            </a:r>
            <a:r>
              <a:rPr sz="2000" spc="10" dirty="0">
                <a:solidFill>
                  <a:srgbClr val="FF0000"/>
                </a:solidFill>
                <a:latin typeface="Calibri"/>
                <a:cs typeface="Calibri"/>
              </a:rPr>
              <a:t> </a:t>
            </a:r>
            <a:r>
              <a:rPr sz="2000" spc="-10" dirty="0">
                <a:solidFill>
                  <a:srgbClr val="FF0000"/>
                </a:solidFill>
                <a:latin typeface="Calibri"/>
                <a:cs typeface="Calibri"/>
              </a:rPr>
              <a:t>Processing</a:t>
            </a:r>
            <a:r>
              <a:rPr sz="2000" spc="10" dirty="0">
                <a:solidFill>
                  <a:srgbClr val="FF0000"/>
                </a:solidFill>
                <a:latin typeface="Calibri"/>
                <a:cs typeface="Calibri"/>
              </a:rPr>
              <a:t> </a:t>
            </a:r>
            <a:r>
              <a:rPr sz="2000" dirty="0">
                <a:solidFill>
                  <a:srgbClr val="FF0000"/>
                </a:solidFill>
                <a:latin typeface="Calibri"/>
                <a:cs typeface="Calibri"/>
              </a:rPr>
              <a:t>Unit</a:t>
            </a:r>
            <a:r>
              <a:rPr sz="2000" spc="5" dirty="0">
                <a:solidFill>
                  <a:srgbClr val="FF0000"/>
                </a:solidFill>
                <a:latin typeface="Calibri"/>
                <a:cs typeface="Calibri"/>
              </a:rPr>
              <a:t> </a:t>
            </a:r>
            <a:r>
              <a:rPr sz="2000" spc="-5" dirty="0">
                <a:solidFill>
                  <a:srgbClr val="FF0000"/>
                </a:solidFill>
                <a:latin typeface="Calibri"/>
                <a:cs typeface="Calibri"/>
              </a:rPr>
              <a:t>(CPU)</a:t>
            </a:r>
            <a:endParaRPr sz="2000" dirty="0">
              <a:latin typeface="Calibri"/>
              <a:cs typeface="Calibri"/>
            </a:endParaRPr>
          </a:p>
          <a:p>
            <a:pPr marL="355600" indent="-342900">
              <a:lnSpc>
                <a:spcPct val="100000"/>
              </a:lnSpc>
              <a:spcBef>
                <a:spcPts val="5"/>
              </a:spcBef>
              <a:buFont typeface="Wingdings"/>
              <a:buChar char=""/>
              <a:tabLst>
                <a:tab pos="355600" algn="l"/>
              </a:tabLst>
            </a:pPr>
            <a:r>
              <a:rPr sz="2000" dirty="0">
                <a:latin typeface="Calibri"/>
                <a:cs typeface="Calibri"/>
              </a:rPr>
              <a:t>A</a:t>
            </a:r>
            <a:r>
              <a:rPr sz="2000" spc="-10" dirty="0">
                <a:latin typeface="Calibri"/>
                <a:cs typeface="Calibri"/>
              </a:rPr>
              <a:t> problem</a:t>
            </a:r>
            <a:r>
              <a:rPr sz="2000" spc="-5" dirty="0">
                <a:latin typeface="Calibri"/>
                <a:cs typeface="Calibri"/>
              </a:rPr>
              <a:t> </a:t>
            </a:r>
            <a:r>
              <a:rPr sz="2000" dirty="0">
                <a:latin typeface="Calibri"/>
                <a:cs typeface="Calibri"/>
              </a:rPr>
              <a:t>is</a:t>
            </a:r>
            <a:r>
              <a:rPr sz="2000" spc="10" dirty="0">
                <a:latin typeface="Calibri"/>
                <a:cs typeface="Calibri"/>
              </a:rPr>
              <a:t> </a:t>
            </a:r>
            <a:r>
              <a:rPr sz="2000" spc="-20" dirty="0">
                <a:latin typeface="Calibri"/>
                <a:cs typeface="Calibri"/>
              </a:rPr>
              <a:t>broken</a:t>
            </a:r>
            <a:r>
              <a:rPr sz="2000" spc="-5" dirty="0">
                <a:latin typeface="Calibri"/>
                <a:cs typeface="Calibri"/>
              </a:rPr>
              <a:t> </a:t>
            </a:r>
            <a:r>
              <a:rPr sz="2000" spc="-15" dirty="0">
                <a:latin typeface="Calibri"/>
                <a:cs typeface="Calibri"/>
              </a:rPr>
              <a:t>into</a:t>
            </a:r>
            <a:r>
              <a:rPr sz="2000" dirty="0">
                <a:latin typeface="Calibri"/>
                <a:cs typeface="Calibri"/>
              </a:rPr>
              <a:t> a</a:t>
            </a:r>
            <a:r>
              <a:rPr sz="2000" spc="-5" dirty="0">
                <a:latin typeface="Calibri"/>
                <a:cs typeface="Calibri"/>
              </a:rPr>
              <a:t> </a:t>
            </a:r>
            <a:r>
              <a:rPr sz="2000" spc="-10" dirty="0">
                <a:latin typeface="Calibri"/>
                <a:cs typeface="Calibri"/>
              </a:rPr>
              <a:t>discrete</a:t>
            </a:r>
            <a:r>
              <a:rPr sz="2000" spc="30" dirty="0">
                <a:latin typeface="Calibri"/>
                <a:cs typeface="Calibri"/>
              </a:rPr>
              <a:t> </a:t>
            </a:r>
            <a:r>
              <a:rPr sz="2000" spc="-10" dirty="0">
                <a:latin typeface="Calibri"/>
                <a:cs typeface="Calibri"/>
              </a:rPr>
              <a:t>set</a:t>
            </a:r>
            <a:r>
              <a:rPr sz="2000" spc="15" dirty="0">
                <a:latin typeface="Calibri"/>
                <a:cs typeface="Calibri"/>
              </a:rPr>
              <a:t> </a:t>
            </a:r>
            <a:r>
              <a:rPr sz="2000" dirty="0">
                <a:latin typeface="Calibri"/>
                <a:cs typeface="Calibri"/>
              </a:rPr>
              <a:t>of</a:t>
            </a:r>
            <a:r>
              <a:rPr sz="2000" spc="-15" dirty="0">
                <a:latin typeface="Calibri"/>
                <a:cs typeface="Calibri"/>
              </a:rPr>
              <a:t> </a:t>
            </a:r>
            <a:r>
              <a:rPr sz="2000" spc="-5" dirty="0">
                <a:latin typeface="Calibri"/>
                <a:cs typeface="Calibri"/>
              </a:rPr>
              <a:t>instructions</a:t>
            </a:r>
            <a:endParaRPr sz="2000" dirty="0">
              <a:latin typeface="Calibri"/>
              <a:cs typeface="Calibri"/>
            </a:endParaRPr>
          </a:p>
          <a:p>
            <a:pPr marL="355600" indent="-342900">
              <a:lnSpc>
                <a:spcPct val="100000"/>
              </a:lnSpc>
              <a:buFont typeface="Wingdings"/>
              <a:buChar char=""/>
              <a:tabLst>
                <a:tab pos="355600" algn="l"/>
              </a:tabLst>
            </a:pPr>
            <a:r>
              <a:rPr sz="2000" spc="-5" dirty="0">
                <a:latin typeface="Calibri"/>
                <a:cs typeface="Calibri"/>
              </a:rPr>
              <a:t>Instructions</a:t>
            </a:r>
            <a:r>
              <a:rPr sz="2000" spc="-10" dirty="0">
                <a:latin typeface="Calibri"/>
                <a:cs typeface="Calibri"/>
              </a:rPr>
              <a:t> are</a:t>
            </a:r>
            <a:r>
              <a:rPr sz="2000" dirty="0">
                <a:latin typeface="Calibri"/>
                <a:cs typeface="Calibri"/>
              </a:rPr>
              <a:t> </a:t>
            </a:r>
            <a:r>
              <a:rPr sz="2000" spc="-15" dirty="0">
                <a:latin typeface="Calibri"/>
                <a:cs typeface="Calibri"/>
              </a:rPr>
              <a:t>executed</a:t>
            </a:r>
            <a:r>
              <a:rPr sz="2000" spc="10" dirty="0">
                <a:latin typeface="Calibri"/>
                <a:cs typeface="Calibri"/>
              </a:rPr>
              <a:t> </a:t>
            </a:r>
            <a:r>
              <a:rPr sz="2000" spc="-5" dirty="0">
                <a:solidFill>
                  <a:srgbClr val="FF0000"/>
                </a:solidFill>
                <a:latin typeface="Calibri"/>
                <a:cs typeface="Calibri"/>
              </a:rPr>
              <a:t>one</a:t>
            </a:r>
            <a:r>
              <a:rPr sz="2000" spc="-10" dirty="0">
                <a:solidFill>
                  <a:srgbClr val="FF0000"/>
                </a:solidFill>
                <a:latin typeface="Calibri"/>
                <a:cs typeface="Calibri"/>
              </a:rPr>
              <a:t> after</a:t>
            </a:r>
            <a:r>
              <a:rPr sz="2000" dirty="0">
                <a:solidFill>
                  <a:srgbClr val="FF0000"/>
                </a:solidFill>
                <a:latin typeface="Calibri"/>
                <a:cs typeface="Calibri"/>
              </a:rPr>
              <a:t> another</a:t>
            </a:r>
            <a:endParaRPr sz="2000" dirty="0">
              <a:latin typeface="Calibri"/>
              <a:cs typeface="Calibri"/>
            </a:endParaRPr>
          </a:p>
          <a:p>
            <a:pPr marL="355600" indent="-342900">
              <a:lnSpc>
                <a:spcPct val="100000"/>
              </a:lnSpc>
              <a:buFont typeface="Wingdings"/>
              <a:buChar char=""/>
              <a:tabLst>
                <a:tab pos="355600" algn="l"/>
              </a:tabLst>
            </a:pPr>
            <a:r>
              <a:rPr sz="2000" dirty="0">
                <a:solidFill>
                  <a:srgbClr val="FF0000"/>
                </a:solidFill>
                <a:latin typeface="Calibri"/>
                <a:cs typeface="Calibri"/>
              </a:rPr>
              <a:t>Only</a:t>
            </a:r>
            <a:r>
              <a:rPr sz="2000" spc="-20" dirty="0">
                <a:solidFill>
                  <a:srgbClr val="FF0000"/>
                </a:solidFill>
                <a:latin typeface="Calibri"/>
                <a:cs typeface="Calibri"/>
              </a:rPr>
              <a:t> </a:t>
            </a:r>
            <a:r>
              <a:rPr sz="2000" spc="-5" dirty="0">
                <a:solidFill>
                  <a:srgbClr val="FF0000"/>
                </a:solidFill>
                <a:latin typeface="Calibri"/>
                <a:cs typeface="Calibri"/>
              </a:rPr>
              <a:t>one instruction</a:t>
            </a:r>
            <a:r>
              <a:rPr sz="2000" dirty="0">
                <a:solidFill>
                  <a:srgbClr val="FF0000"/>
                </a:solidFill>
                <a:latin typeface="Calibri"/>
                <a:cs typeface="Calibri"/>
              </a:rPr>
              <a:t> </a:t>
            </a:r>
            <a:r>
              <a:rPr sz="2000" spc="-5" dirty="0">
                <a:latin typeface="Calibri"/>
                <a:cs typeface="Calibri"/>
              </a:rPr>
              <a:t>can</a:t>
            </a:r>
            <a:r>
              <a:rPr sz="2000" spc="-15" dirty="0">
                <a:latin typeface="Calibri"/>
                <a:cs typeface="Calibri"/>
              </a:rPr>
              <a:t> </a:t>
            </a:r>
            <a:r>
              <a:rPr sz="2000" spc="-5" dirty="0">
                <a:latin typeface="Calibri"/>
                <a:cs typeface="Calibri"/>
              </a:rPr>
              <a:t>be </a:t>
            </a:r>
            <a:r>
              <a:rPr sz="2000" spc="-15" dirty="0">
                <a:latin typeface="Calibri"/>
                <a:cs typeface="Calibri"/>
              </a:rPr>
              <a:t>executed</a:t>
            </a:r>
            <a:r>
              <a:rPr sz="2000" spc="5" dirty="0">
                <a:latin typeface="Calibri"/>
                <a:cs typeface="Calibri"/>
              </a:rPr>
              <a:t> </a:t>
            </a:r>
            <a:r>
              <a:rPr sz="2000" spc="-10" dirty="0">
                <a:latin typeface="Calibri"/>
                <a:cs typeface="Calibri"/>
              </a:rPr>
              <a:t>at</a:t>
            </a:r>
            <a:r>
              <a:rPr sz="2000" spc="10" dirty="0">
                <a:latin typeface="Calibri"/>
                <a:cs typeface="Calibri"/>
              </a:rPr>
              <a:t> </a:t>
            </a:r>
            <a:r>
              <a:rPr sz="2000" spc="-10" dirty="0">
                <a:solidFill>
                  <a:srgbClr val="FF0000"/>
                </a:solidFill>
                <a:latin typeface="Calibri"/>
                <a:cs typeface="Calibri"/>
              </a:rPr>
              <a:t>any</a:t>
            </a:r>
            <a:r>
              <a:rPr sz="2000" spc="-15" dirty="0">
                <a:solidFill>
                  <a:srgbClr val="FF0000"/>
                </a:solidFill>
                <a:latin typeface="Calibri"/>
                <a:cs typeface="Calibri"/>
              </a:rPr>
              <a:t> </a:t>
            </a:r>
            <a:r>
              <a:rPr sz="2000" spc="-5" dirty="0">
                <a:solidFill>
                  <a:srgbClr val="FF0000"/>
                </a:solidFill>
                <a:latin typeface="Calibri"/>
                <a:cs typeface="Calibri"/>
              </a:rPr>
              <a:t>moment</a:t>
            </a:r>
            <a:r>
              <a:rPr sz="2000" spc="5" dirty="0">
                <a:solidFill>
                  <a:srgbClr val="FF0000"/>
                </a:solidFill>
                <a:latin typeface="Calibri"/>
                <a:cs typeface="Calibri"/>
              </a:rPr>
              <a:t> </a:t>
            </a:r>
            <a:r>
              <a:rPr sz="2000" dirty="0">
                <a:latin typeface="Calibri"/>
                <a:cs typeface="Calibri"/>
              </a:rPr>
              <a:t>in</a:t>
            </a:r>
            <a:r>
              <a:rPr sz="2000" spc="5" dirty="0">
                <a:latin typeface="Calibri"/>
                <a:cs typeface="Calibri"/>
              </a:rPr>
              <a:t> </a:t>
            </a:r>
            <a:r>
              <a:rPr sz="2000" spc="-5" dirty="0">
                <a:latin typeface="Calibri"/>
                <a:cs typeface="Calibri"/>
              </a:rPr>
              <a:t>time</a:t>
            </a:r>
            <a:endParaRPr sz="2000" dirty="0">
              <a:latin typeface="Calibri"/>
              <a:cs typeface="Calibri"/>
            </a:endParaRPr>
          </a:p>
        </p:txBody>
      </p:sp>
      <p:pic>
        <p:nvPicPr>
          <p:cNvPr id="3" name="object 3"/>
          <p:cNvPicPr/>
          <p:nvPr/>
        </p:nvPicPr>
        <p:blipFill>
          <a:blip r:embed="rId2" cstate="print"/>
          <a:stretch>
            <a:fillRect/>
          </a:stretch>
        </p:blipFill>
        <p:spPr>
          <a:xfrm>
            <a:off x="1093222" y="3420036"/>
            <a:ext cx="9498268" cy="2691397"/>
          </a:xfrm>
          <a:prstGeom prst="rect">
            <a:avLst/>
          </a:prstGeom>
        </p:spPr>
      </p:pic>
      <p:sp>
        <p:nvSpPr>
          <p:cNvPr id="4" name="object 4"/>
          <p:cNvSpPr txBox="1">
            <a:spLocks noGrp="1"/>
          </p:cNvSpPr>
          <p:nvPr>
            <p:ph type="title"/>
          </p:nvPr>
        </p:nvSpPr>
        <p:spPr>
          <a:xfrm>
            <a:off x="409787" y="240223"/>
            <a:ext cx="4937760" cy="505267"/>
          </a:xfrm>
          <a:prstGeom prst="rect">
            <a:avLst/>
          </a:prstGeom>
        </p:spPr>
        <p:txBody>
          <a:bodyPr vert="horz" wrap="square" lIns="0" tIns="12700" rIns="0" bIns="0" rtlCol="0">
            <a:spAutoFit/>
          </a:bodyPr>
          <a:lstStyle/>
          <a:p>
            <a:pPr marL="12700">
              <a:lnSpc>
                <a:spcPct val="100000"/>
              </a:lnSpc>
              <a:spcBef>
                <a:spcPts val="100"/>
              </a:spcBef>
            </a:pPr>
            <a:r>
              <a:rPr dirty="0"/>
              <a:t>Serial</a:t>
            </a:r>
            <a:r>
              <a:rPr spc="-40" dirty="0"/>
              <a:t> </a:t>
            </a:r>
            <a:r>
              <a:rPr spc="-10" dirty="0"/>
              <a:t>Computation</a:t>
            </a:r>
            <a:r>
              <a:rPr u="none" spc="-10" dirty="0"/>
              <a:t>:</a:t>
            </a:r>
          </a:p>
        </p:txBody>
      </p:sp>
    </p:spTree>
    <p:extLst>
      <p:ext uri="{BB962C8B-B14F-4D97-AF65-F5344CB8AC3E}">
        <p14:creationId xmlns:p14="http://schemas.microsoft.com/office/powerpoint/2010/main" val="3445351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8A1E-89CA-4D59-A8DF-B181F6F51476}"/>
              </a:ext>
            </a:extLst>
          </p:cNvPr>
          <p:cNvSpPr>
            <a:spLocks noGrp="1"/>
          </p:cNvSpPr>
          <p:nvPr>
            <p:ph type="title"/>
          </p:nvPr>
        </p:nvSpPr>
        <p:spPr>
          <a:xfrm>
            <a:off x="609600" y="381000"/>
            <a:ext cx="10515600" cy="623888"/>
          </a:xfrm>
        </p:spPr>
        <p:txBody>
          <a:bodyPr>
            <a:normAutofit fontScale="90000"/>
          </a:bodyPr>
          <a:lstStyle/>
          <a:p>
            <a:br>
              <a:rPr lang="en-US" dirty="0"/>
            </a:br>
            <a:r>
              <a:rPr lang="en-US" dirty="0"/>
              <a:t>Introduction to Parallel Computing</a:t>
            </a:r>
          </a:p>
        </p:txBody>
      </p:sp>
      <p:sp>
        <p:nvSpPr>
          <p:cNvPr id="3" name="Content Placeholder 2">
            <a:extLst>
              <a:ext uri="{FF2B5EF4-FFF2-40B4-BE49-F238E27FC236}">
                <a16:creationId xmlns:a16="http://schemas.microsoft.com/office/drawing/2014/main" id="{C72B04BE-4C99-4585-B789-C578FC6A1F67}"/>
              </a:ext>
            </a:extLst>
          </p:cNvPr>
          <p:cNvSpPr>
            <a:spLocks noGrp="1"/>
          </p:cNvSpPr>
          <p:nvPr>
            <p:ph idx="1"/>
          </p:nvPr>
        </p:nvSpPr>
        <p:spPr>
          <a:xfrm>
            <a:off x="670560" y="1249680"/>
            <a:ext cx="10972800" cy="4937760"/>
          </a:xfrm>
        </p:spPr>
        <p:txBody>
          <a:bodyPr>
            <a:normAutofit/>
          </a:bodyPr>
          <a:lstStyle/>
          <a:p>
            <a:pPr marL="0" marR="5080" indent="0">
              <a:lnSpc>
                <a:spcPct val="100000"/>
              </a:lnSpc>
              <a:spcBef>
                <a:spcPts val="105"/>
              </a:spcBef>
              <a:buNone/>
            </a:pPr>
            <a:r>
              <a:rPr lang="en-US" sz="2000" dirty="0"/>
              <a:t>In the simplest sense, parallel computing is the simultaneous use of multiple compute resources to solve a computational problem:</a:t>
            </a:r>
          </a:p>
          <a:p>
            <a:pPr marL="0" indent="0">
              <a:lnSpc>
                <a:spcPct val="100000"/>
              </a:lnSpc>
              <a:spcBef>
                <a:spcPts val="15"/>
              </a:spcBef>
              <a:buNone/>
            </a:pPr>
            <a:endParaRPr lang="en-US" sz="1050" dirty="0"/>
          </a:p>
          <a:p>
            <a:pPr marL="469900" indent="-457200">
              <a:tabLst>
                <a:tab pos="355600" algn="l"/>
              </a:tabLst>
            </a:pPr>
            <a:r>
              <a:rPr lang="en-US" sz="2000" dirty="0"/>
              <a:t>To be run using multiple CPUs</a:t>
            </a:r>
          </a:p>
          <a:p>
            <a:pPr marL="469265" indent="-457200">
              <a:spcBef>
                <a:spcPts val="5"/>
              </a:spcBef>
              <a:tabLst>
                <a:tab pos="411480" algn="l"/>
                <a:tab pos="412115" algn="l"/>
              </a:tabLst>
            </a:pPr>
            <a:r>
              <a:rPr lang="en-US" sz="2000" dirty="0"/>
              <a:t>A problem is broken into </a:t>
            </a:r>
            <a:r>
              <a:rPr lang="en-US" sz="2000" dirty="0">
                <a:solidFill>
                  <a:srgbClr val="FF0000"/>
                </a:solidFill>
              </a:rPr>
              <a:t>discrete parts </a:t>
            </a:r>
            <a:r>
              <a:rPr lang="en-US" sz="2000" dirty="0"/>
              <a:t>that can be solved </a:t>
            </a:r>
            <a:r>
              <a:rPr lang="en-US" sz="2000" dirty="0">
                <a:solidFill>
                  <a:srgbClr val="FF0000"/>
                </a:solidFill>
              </a:rPr>
              <a:t>concurrently</a:t>
            </a:r>
          </a:p>
          <a:p>
            <a:pPr marL="469265" indent="-457200">
              <a:tabLst>
                <a:tab pos="411480" algn="l"/>
                <a:tab pos="412115" algn="l"/>
              </a:tabLst>
            </a:pPr>
            <a:r>
              <a:rPr lang="en-US" sz="2000" dirty="0"/>
              <a:t>Each part is further broken down to a </a:t>
            </a:r>
            <a:r>
              <a:rPr lang="en-US" sz="2000" dirty="0">
                <a:solidFill>
                  <a:srgbClr val="FF0000"/>
                </a:solidFill>
              </a:rPr>
              <a:t>series of instructions</a:t>
            </a:r>
          </a:p>
          <a:p>
            <a:pPr marL="469265" indent="-457200">
              <a:tabLst>
                <a:tab pos="411480" algn="l"/>
                <a:tab pos="412115" algn="l"/>
              </a:tabLst>
            </a:pPr>
            <a:r>
              <a:rPr lang="en-US" sz="2000" dirty="0">
                <a:solidFill>
                  <a:srgbClr val="FF0000"/>
                </a:solidFill>
              </a:rPr>
              <a:t>Instructions from each part </a:t>
            </a:r>
            <a:r>
              <a:rPr lang="en-US" sz="2000" dirty="0"/>
              <a:t>execute </a:t>
            </a:r>
            <a:r>
              <a:rPr lang="en-US" sz="2000" dirty="0">
                <a:solidFill>
                  <a:srgbClr val="FF0000"/>
                </a:solidFill>
              </a:rPr>
              <a:t>simultaneously</a:t>
            </a:r>
            <a:r>
              <a:rPr lang="en-US" sz="2000" dirty="0"/>
              <a:t> on different CPUs</a:t>
            </a:r>
          </a:p>
          <a:p>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0416" y="3993266"/>
            <a:ext cx="5960533" cy="2060293"/>
          </a:xfrm>
          <a:prstGeom prst="rect">
            <a:avLst/>
          </a:prstGeom>
        </p:spPr>
      </p:pic>
    </p:spTree>
    <p:extLst>
      <p:ext uri="{BB962C8B-B14F-4D97-AF65-F5344CB8AC3E}">
        <p14:creationId xmlns:p14="http://schemas.microsoft.com/office/powerpoint/2010/main" val="1096824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fontAlgn="base"/>
            <a:r>
              <a:rPr lang="en-US" b="1" i="0" dirty="0">
                <a:solidFill>
                  <a:srgbClr val="273239"/>
                </a:solidFill>
                <a:effectLst/>
                <a:latin typeface="Times New Roman" panose="02020603050405020304" pitchFamily="18" charset="0"/>
                <a:cs typeface="Times New Roman" panose="02020603050405020304" pitchFamily="18" charset="0"/>
              </a:rPr>
              <a:t>What is Parallel Computing?</a:t>
            </a:r>
          </a:p>
        </p:txBody>
      </p:sp>
      <p:sp>
        <p:nvSpPr>
          <p:cNvPr id="3" name="Content Placeholder 2"/>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In parallel computing multiple processors performs multiple tasks assigned to them simultaneously. Memory in parallel systems can either be shared or distributed. Parallel computing provides concurrency and saves time and money.</a:t>
            </a:r>
          </a:p>
          <a:p>
            <a:pPr algn="l" fontAlgn="base">
              <a:spcBef>
                <a:spcPts val="1800"/>
              </a:spcBef>
              <a:spcAft>
                <a:spcPts val="1800"/>
              </a:spcAft>
            </a:pPr>
            <a:r>
              <a:rPr lang="en-US" b="1" i="0" dirty="0">
                <a:solidFill>
                  <a:srgbClr val="273239"/>
                </a:solidFill>
                <a:effectLst/>
                <a:latin typeface="Times New Roman" panose="02020603050405020304" pitchFamily="18" charset="0"/>
                <a:cs typeface="Times New Roman" panose="02020603050405020304" pitchFamily="18" charset="0"/>
              </a:rPr>
              <a:t>Examples</a:t>
            </a:r>
          </a:p>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Blockchains, Smartphones, Laptop computers, Internet of Things, Artificial intelligence and machine learning, Space shuttle, Supercomputers are the technologies that uses Parallel computing technology.</a:t>
            </a:r>
          </a:p>
          <a:p>
            <a:pPr algn="just" rtl="0" fontAlgn="base">
              <a:spcAft>
                <a:spcPts val="750"/>
              </a:spcAft>
            </a:pP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1469171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BD591-585E-5FFB-61BE-9D7972855C4C}"/>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Advantages of Parallel Computing</a:t>
            </a:r>
            <a:endParaRPr lang="en-US" dirty="0"/>
          </a:p>
        </p:txBody>
      </p:sp>
      <p:sp>
        <p:nvSpPr>
          <p:cNvPr id="3" name="Content Placeholder 2">
            <a:extLst>
              <a:ext uri="{FF2B5EF4-FFF2-40B4-BE49-F238E27FC236}">
                <a16:creationId xmlns:a16="http://schemas.microsoft.com/office/drawing/2014/main" id="{B506787A-1FA6-7D15-EC69-584CD6E52077}"/>
              </a:ext>
            </a:extLst>
          </p:cNvPr>
          <p:cNvSpPr>
            <a:spLocks noGrp="1"/>
          </p:cNvSpPr>
          <p:nvPr>
            <p:ph idx="1"/>
          </p:nvPr>
        </p:nvSpPr>
        <p:spPr/>
        <p:txBody>
          <a:bodyPr>
            <a:normAutofit/>
          </a:bodyPr>
          <a:lstStyle/>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Increased Speed:</a:t>
            </a:r>
            <a:r>
              <a:rPr lang="en-US" b="0" i="0" dirty="0">
                <a:solidFill>
                  <a:srgbClr val="273239"/>
                </a:solidFill>
                <a:effectLst/>
                <a:latin typeface="Times New Roman" panose="02020603050405020304" pitchFamily="18" charset="0"/>
                <a:cs typeface="Times New Roman" panose="02020603050405020304" pitchFamily="18" charset="0"/>
              </a:rPr>
              <a:t> In this technique, several calculations are executed concurrently hence reducing the time of computation required to complete large scale problems.</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Efficient Use of Resources:</a:t>
            </a:r>
            <a:r>
              <a:rPr lang="en-US" b="0" i="0" dirty="0">
                <a:solidFill>
                  <a:srgbClr val="273239"/>
                </a:solidFill>
                <a:effectLst/>
                <a:latin typeface="Times New Roman" panose="02020603050405020304" pitchFamily="18" charset="0"/>
                <a:cs typeface="Times New Roman" panose="02020603050405020304" pitchFamily="18" charset="0"/>
              </a:rPr>
              <a:t> Takes full advantage of all the processing units it is equipped with hence making the best use of the machine’s computational power.</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Scalability:</a:t>
            </a:r>
            <a:r>
              <a:rPr lang="en-US" b="0" i="0" dirty="0">
                <a:solidFill>
                  <a:srgbClr val="273239"/>
                </a:solidFill>
                <a:effectLst/>
                <a:latin typeface="Times New Roman" panose="02020603050405020304" pitchFamily="18" charset="0"/>
                <a:cs typeface="Times New Roman" panose="02020603050405020304" pitchFamily="18" charset="0"/>
              </a:rPr>
              <a:t> Also, the more processors built into the system, the more complex problems can be solved within a short time.</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Improved Performance for Complex Tasks:</a:t>
            </a:r>
            <a:r>
              <a:rPr lang="en-US" b="0" i="0" dirty="0">
                <a:solidFill>
                  <a:srgbClr val="273239"/>
                </a:solidFill>
                <a:effectLst/>
                <a:latin typeface="Times New Roman" panose="02020603050405020304" pitchFamily="18" charset="0"/>
                <a:cs typeface="Times New Roman" panose="02020603050405020304" pitchFamily="18" charset="0"/>
              </a:rPr>
              <a:t> Best suited for activities which involve a large numerical calculation like, number simulation, scientific analysis and modeling and data processing.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272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35CD5-6AB9-7A49-C37B-52104F0EA959}"/>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Disadvantages of Parallel Computing</a:t>
            </a:r>
            <a:endParaRPr lang="en-US" dirty="0"/>
          </a:p>
        </p:txBody>
      </p:sp>
      <p:sp>
        <p:nvSpPr>
          <p:cNvPr id="3" name="Content Placeholder 2">
            <a:extLst>
              <a:ext uri="{FF2B5EF4-FFF2-40B4-BE49-F238E27FC236}">
                <a16:creationId xmlns:a16="http://schemas.microsoft.com/office/drawing/2014/main" id="{A0C2722D-068E-6B90-1D72-71710D8B2C10}"/>
              </a:ext>
            </a:extLst>
          </p:cNvPr>
          <p:cNvSpPr>
            <a:spLocks noGrp="1"/>
          </p:cNvSpPr>
          <p:nvPr>
            <p:ph idx="1"/>
          </p:nvPr>
        </p:nvSpPr>
        <p:spPr/>
        <p:txBody>
          <a:bodyPr>
            <a:normAutofit/>
          </a:bodyPr>
          <a:lstStyle/>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Complexity in Programming: </a:t>
            </a:r>
            <a:r>
              <a:rPr lang="en-US" b="0" i="0" dirty="0">
                <a:solidFill>
                  <a:srgbClr val="273239"/>
                </a:solidFill>
                <a:effectLst/>
                <a:latin typeface="Times New Roman" panose="02020603050405020304" pitchFamily="18" charset="0"/>
                <a:cs typeface="Times New Roman" panose="02020603050405020304" pitchFamily="18" charset="0"/>
              </a:rPr>
              <a:t>Parallel writing programming that is used in organizing tasks in a parallel manner is even more difficult than that of serial programming.</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Synchronization Issues:</a:t>
            </a:r>
            <a:r>
              <a:rPr lang="en-US" b="0" i="0" dirty="0">
                <a:solidFill>
                  <a:srgbClr val="273239"/>
                </a:solidFill>
                <a:effectLst/>
                <a:latin typeface="Times New Roman" panose="02020603050405020304" pitchFamily="18" charset="0"/>
                <a:cs typeface="Times New Roman" panose="02020603050405020304" pitchFamily="18" charset="0"/>
              </a:rPr>
              <a:t> Interaction of various processors when operating concurrently can become synchronized and result in problem areas on the overall communication.</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Hardware Costs:</a:t>
            </a:r>
            <a:r>
              <a:rPr lang="en-US" b="0" i="0" dirty="0">
                <a:solidFill>
                  <a:srgbClr val="273239"/>
                </a:solidFill>
                <a:effectLst/>
                <a:latin typeface="Times New Roman" panose="02020603050405020304" pitchFamily="18" charset="0"/>
                <a:cs typeface="Times New Roman" panose="02020603050405020304" pitchFamily="18" charset="0"/>
              </a:rPr>
              <a:t> The implementation of parallel computing does probably involve the use of certain components such as multi-core processors which could possibly be costly than the normal systems.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95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 to Distributed Computing</a:t>
            </a:r>
            <a:endParaRPr lang="en-US" dirty="0"/>
          </a:p>
        </p:txBody>
      </p:sp>
      <p:pic>
        <p:nvPicPr>
          <p:cNvPr id="4" name="Content Placeholder 3"/>
          <p:cNvPicPr>
            <a:picLocks noChangeAspect="1"/>
          </p:cNvPicPr>
          <p:nvPr/>
        </p:nvPicPr>
        <p:blipFill rotWithShape="1">
          <a:blip r:embed="rId2">
            <a:extLst>
              <a:ext uri="{28A0092B-C50C-407E-A947-70E740481C1C}">
                <a14:useLocalDpi xmlns:a14="http://schemas.microsoft.com/office/drawing/2010/main" val="0"/>
              </a:ext>
            </a:extLst>
          </a:blip>
          <a:srcRect t="8019" b="6897"/>
          <a:stretch/>
        </p:blipFill>
        <p:spPr>
          <a:xfrm>
            <a:off x="2854333" y="2080299"/>
            <a:ext cx="4755549" cy="3973182"/>
          </a:xfrm>
          <a:prstGeom prst="rect">
            <a:avLst/>
          </a:prstGeom>
        </p:spPr>
      </p:pic>
    </p:spTree>
    <p:extLst>
      <p:ext uri="{BB962C8B-B14F-4D97-AF65-F5344CB8AC3E}">
        <p14:creationId xmlns:p14="http://schemas.microsoft.com/office/powerpoint/2010/main" val="11605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0AFF2-0AE4-6B34-92DC-03DFAC9818ED}"/>
              </a:ext>
            </a:extLst>
          </p:cNvPr>
          <p:cNvSpPr>
            <a:spLocks noGrp="1"/>
          </p:cNvSpPr>
          <p:nvPr>
            <p:ph type="title"/>
          </p:nvPr>
        </p:nvSpPr>
        <p:spPr/>
        <p:txBody>
          <a:bodyPr>
            <a:normAutofit/>
          </a:bodyPr>
          <a:lstStyle/>
          <a:p>
            <a:r>
              <a:rPr lang="en-US" sz="3200" b="1" i="0" dirty="0">
                <a:solidFill>
                  <a:srgbClr val="273239"/>
                </a:solidFill>
                <a:effectLst/>
                <a:latin typeface="Times New Roman" panose="02020603050405020304" pitchFamily="18" charset="0"/>
                <a:cs typeface="Times New Roman" panose="02020603050405020304" pitchFamily="18" charset="0"/>
              </a:rPr>
              <a:t>What is Distributed Computing?</a:t>
            </a:r>
            <a:endParaRPr lang="en-US" dirty="0"/>
          </a:p>
        </p:txBody>
      </p:sp>
      <p:sp>
        <p:nvSpPr>
          <p:cNvPr id="3" name="Content Placeholder 2">
            <a:extLst>
              <a:ext uri="{FF2B5EF4-FFF2-40B4-BE49-F238E27FC236}">
                <a16:creationId xmlns:a16="http://schemas.microsoft.com/office/drawing/2014/main" id="{C589A762-38BD-581E-DA80-4436DCDAB9E4}"/>
              </a:ext>
            </a:extLst>
          </p:cNvPr>
          <p:cNvSpPr>
            <a:spLocks noGrp="1"/>
          </p:cNvSpPr>
          <p:nvPr>
            <p:ph idx="1"/>
          </p:nvPr>
        </p:nvSpPr>
        <p:spPr/>
        <p:txBody>
          <a:bodyPr>
            <a:normAutofit fontScale="92500" lnSpcReduction="10000"/>
          </a:bodyPr>
          <a:lstStyle/>
          <a:p>
            <a:pPr algn="just" rtl="0" fontAlgn="base">
              <a:spcAft>
                <a:spcPts val="750"/>
              </a:spcAft>
            </a:pPr>
            <a:r>
              <a:rPr lang="en-US" sz="2800" b="0" i="0" dirty="0">
                <a:solidFill>
                  <a:srgbClr val="273239"/>
                </a:solidFill>
                <a:effectLst/>
                <a:latin typeface="Times New Roman" panose="02020603050405020304" pitchFamily="18" charset="0"/>
                <a:cs typeface="Times New Roman" panose="02020603050405020304" pitchFamily="18" charset="0"/>
              </a:rPr>
              <a:t>In distributed computing we have multiple autonomous computers which seems to the user as single system. In distributed systems there is no shared memory and computers communicate with each other through message passing. In distributed computing a single task is divided among different computers.</a:t>
            </a:r>
          </a:p>
          <a:p>
            <a:pPr algn="l" fontAlgn="base">
              <a:spcBef>
                <a:spcPts val="1800"/>
              </a:spcBef>
              <a:spcAft>
                <a:spcPts val="1800"/>
              </a:spcAft>
            </a:pPr>
            <a:r>
              <a:rPr lang="en-US" sz="2800" b="1" i="0" dirty="0">
                <a:solidFill>
                  <a:srgbClr val="273239"/>
                </a:solidFill>
                <a:effectLst/>
                <a:latin typeface="Times New Roman" panose="02020603050405020304" pitchFamily="18" charset="0"/>
                <a:cs typeface="Times New Roman" panose="02020603050405020304" pitchFamily="18" charset="0"/>
              </a:rPr>
              <a:t>Examples</a:t>
            </a:r>
          </a:p>
          <a:p>
            <a:pPr algn="just" rtl="0" fontAlgn="base">
              <a:spcAft>
                <a:spcPts val="750"/>
              </a:spcAft>
            </a:pPr>
            <a:r>
              <a:rPr lang="en-US" sz="2800" b="0" i="0" dirty="0">
                <a:solidFill>
                  <a:srgbClr val="273239"/>
                </a:solidFill>
                <a:effectLst/>
                <a:latin typeface="Times New Roman" panose="02020603050405020304" pitchFamily="18" charset="0"/>
                <a:cs typeface="Times New Roman" panose="02020603050405020304" pitchFamily="18" charset="0"/>
              </a:rPr>
              <a:t>Artificial Intelligence and Machine Learning, Scientific Research and High-Performance Computing, Financial Sectors, Energy and Environment sectors, Internet of Things, Blockchain and Cryptocurrencies are the areas where distributed computing is used.</a:t>
            </a:r>
          </a:p>
        </p:txBody>
      </p:sp>
    </p:spTree>
    <p:extLst>
      <p:ext uri="{BB962C8B-B14F-4D97-AF65-F5344CB8AC3E}">
        <p14:creationId xmlns:p14="http://schemas.microsoft.com/office/powerpoint/2010/main" val="162077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5476-A072-9DB9-7971-C2CBFB7AB77B}"/>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Advantages of Distributed Computing</a:t>
            </a:r>
            <a:endParaRPr lang="en-US" dirty="0"/>
          </a:p>
        </p:txBody>
      </p:sp>
      <p:sp>
        <p:nvSpPr>
          <p:cNvPr id="3" name="Content Placeholder 2">
            <a:extLst>
              <a:ext uri="{FF2B5EF4-FFF2-40B4-BE49-F238E27FC236}">
                <a16:creationId xmlns:a16="http://schemas.microsoft.com/office/drawing/2014/main" id="{1BC9879F-8CFD-0B87-BD1B-E2342C57EEC0}"/>
              </a:ext>
            </a:extLst>
          </p:cNvPr>
          <p:cNvSpPr>
            <a:spLocks noGrp="1"/>
          </p:cNvSpPr>
          <p:nvPr>
            <p:ph idx="1"/>
          </p:nvPr>
        </p:nvSpPr>
        <p:spPr/>
        <p:txBody>
          <a:bodyPr>
            <a:normAutofit/>
          </a:bodyPr>
          <a:lstStyle/>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Fault Tolerance: </a:t>
            </a:r>
            <a:r>
              <a:rPr lang="en-US" b="0" i="0" dirty="0">
                <a:solidFill>
                  <a:srgbClr val="273239"/>
                </a:solidFill>
                <a:effectLst/>
                <a:latin typeface="Times New Roman" panose="02020603050405020304" pitchFamily="18" charset="0"/>
                <a:cs typeface="Times New Roman" panose="02020603050405020304" pitchFamily="18" charset="0"/>
              </a:rPr>
              <a:t>The failure of one node means that this node is no longer part of the computations, but that is not fatal for the entire computation since there are other computers participating in the process thereby making the system more reliable.</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Cost-Effective: </a:t>
            </a:r>
            <a:r>
              <a:rPr lang="en-US" b="0" i="0" dirty="0">
                <a:solidFill>
                  <a:srgbClr val="273239"/>
                </a:solidFill>
                <a:effectLst/>
                <a:latin typeface="Times New Roman" panose="02020603050405020304" pitchFamily="18" charset="0"/>
                <a:cs typeface="Times New Roman" panose="02020603050405020304" pitchFamily="18" charset="0"/>
              </a:rPr>
              <a:t>Builds upon existing hardware and has flexibility in utilizing commodity machines instead of the need to have expensive and specific processors for its use.</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Scalability: </a:t>
            </a:r>
            <a:r>
              <a:rPr lang="en-US" b="0" i="0" dirty="0">
                <a:solidFill>
                  <a:srgbClr val="273239"/>
                </a:solidFill>
                <a:effectLst/>
                <a:latin typeface="Times New Roman" panose="02020603050405020304" pitchFamily="18" charset="0"/>
                <a:cs typeface="Times New Roman" panose="02020603050405020304" pitchFamily="18" charset="0"/>
              </a:rPr>
              <a:t>The distributed systems have the ability to scale and expand horizontally through the addition of more machines in the networks and therefore they can take on greater workloads and processes.</a:t>
            </a:r>
          </a:p>
          <a:p>
            <a:pPr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Geographic Distribution: </a:t>
            </a:r>
            <a:r>
              <a:rPr lang="en-US" b="0" i="0" dirty="0">
                <a:solidFill>
                  <a:srgbClr val="273239"/>
                </a:solidFill>
                <a:effectLst/>
                <a:latin typeface="Times New Roman" panose="02020603050405020304" pitchFamily="18" charset="0"/>
                <a:cs typeface="Times New Roman" panose="02020603050405020304" pitchFamily="18" charset="0"/>
              </a:rPr>
              <a:t>Distributed computing makes it possible to execute tasks at different points thereby eliminating latencies.</a:t>
            </a:r>
          </a:p>
        </p:txBody>
      </p:sp>
    </p:spTree>
    <p:extLst>
      <p:ext uri="{BB962C8B-B14F-4D97-AF65-F5344CB8AC3E}">
        <p14:creationId xmlns:p14="http://schemas.microsoft.com/office/powerpoint/2010/main" val="71068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919C0-5254-4E14-72DE-CD67DFA64381}"/>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Disadvantages of Distributed Computing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EC9B6A-601E-BE01-9E57-24FBDE3D2A41}"/>
              </a:ext>
            </a:extLst>
          </p:cNvPr>
          <p:cNvSpPr>
            <a:spLocks noGrp="1"/>
          </p:cNvSpPr>
          <p:nvPr>
            <p:ph idx="1"/>
          </p:nvPr>
        </p:nvSpPr>
        <p:spPr/>
        <p:txBody>
          <a:bodyPr>
            <a:normAutofit/>
          </a:bodyPr>
          <a:lstStyle/>
          <a:p>
            <a:pPr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Complexity in Management:</a:t>
            </a:r>
            <a:r>
              <a:rPr lang="en-US" b="0" i="0" dirty="0">
                <a:solidFill>
                  <a:srgbClr val="273239"/>
                </a:solidFill>
                <a:effectLst/>
                <a:latin typeface="Times New Roman" panose="02020603050405020304" pitchFamily="18" charset="0"/>
                <a:cs typeface="Times New Roman" panose="02020603050405020304" pitchFamily="18" charset="0"/>
              </a:rPr>
              <a:t> The task of managing a distributed system itself can be made more difficult since it may require dealing with the latency and/or failure of a network as well as issues related to synchronizing the information to be distributed.</a:t>
            </a:r>
          </a:p>
          <a:p>
            <a:pPr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Communication Overhead:</a:t>
            </a:r>
            <a:r>
              <a:rPr lang="en-US" b="0" i="0" dirty="0">
                <a:solidFill>
                  <a:srgbClr val="273239"/>
                </a:solidFill>
                <a:effectLst/>
                <a:latin typeface="Times New Roman" panose="02020603050405020304" pitchFamily="18" charset="0"/>
                <a:cs typeface="Times New Roman" panose="02020603050405020304" pitchFamily="18" charset="0"/>
              </a:rPr>
              <a:t> Inter node communication requirements can actually hinder the package transfer between nodes that are geographically distant and hence the overall performance is greatly compromised.</a:t>
            </a:r>
          </a:p>
          <a:p>
            <a:pPr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Security Concerns:</a:t>
            </a:r>
            <a:r>
              <a:rPr lang="en-US" b="0" i="0" dirty="0">
                <a:solidFill>
                  <a:srgbClr val="273239"/>
                </a:solidFill>
                <a:effectLst/>
                <a:latin typeface="Times New Roman" panose="02020603050405020304" pitchFamily="18" charset="0"/>
                <a:cs typeface="Times New Roman" panose="02020603050405020304" pitchFamily="18" charset="0"/>
              </a:rPr>
              <a:t> In general, distributed systems are less secure as compared to centralized system because distributed systems heavily depend on a network.</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89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527331"/>
            <a:ext cx="7962031" cy="1163344"/>
          </a:xfrm>
          <a:prstGeom prst="rect">
            <a:avLst/>
          </a:prstGeom>
        </p:spPr>
        <p:txBody>
          <a:bodyPr vert="horz" wrap="square" lIns="0" tIns="420573" rIns="0" bIns="0" rtlCol="0">
            <a:spAutoFit/>
          </a:bodyPr>
          <a:lstStyle/>
          <a:p>
            <a:pPr marL="1492250">
              <a:lnSpc>
                <a:spcPct val="100000"/>
              </a:lnSpc>
              <a:spcBef>
                <a:spcPts val="105"/>
              </a:spcBef>
            </a:pPr>
            <a:r>
              <a:rPr dirty="0"/>
              <a:t>Flynn’s</a:t>
            </a:r>
            <a:r>
              <a:rPr spc="-254" dirty="0"/>
              <a:t> </a:t>
            </a:r>
            <a:r>
              <a:rPr spc="-45" dirty="0"/>
              <a:t>Taxonomy</a:t>
            </a:r>
          </a:p>
        </p:txBody>
      </p:sp>
      <p:sp>
        <p:nvSpPr>
          <p:cNvPr id="3" name="object 3"/>
          <p:cNvSpPr txBox="1"/>
          <p:nvPr/>
        </p:nvSpPr>
        <p:spPr>
          <a:xfrm>
            <a:off x="726165" y="1932275"/>
            <a:ext cx="10560473" cy="3160481"/>
          </a:xfrm>
          <a:prstGeom prst="rect">
            <a:avLst/>
          </a:prstGeom>
        </p:spPr>
        <p:txBody>
          <a:bodyPr vert="horz" wrap="square" lIns="0" tIns="13335" rIns="0" bIns="0" rtlCol="0">
            <a:spAutoFit/>
          </a:bodyPr>
          <a:lstStyle/>
          <a:p>
            <a:pPr marL="355600" marR="419734" indent="-342900">
              <a:spcBef>
                <a:spcPts val="105"/>
              </a:spcBef>
              <a:buFont typeface="Wingdings"/>
              <a:buChar char=""/>
              <a:tabLst>
                <a:tab pos="355600" algn="l"/>
              </a:tabLst>
            </a:pPr>
            <a:r>
              <a:rPr sz="3200" kern="0" spc="-20" dirty="0">
                <a:solidFill>
                  <a:sysClr val="windowText" lastClr="000000"/>
                </a:solidFill>
                <a:latin typeface="Times New Roman"/>
                <a:cs typeface="Times New Roman"/>
              </a:rPr>
              <a:t>Flynn’s</a:t>
            </a:r>
            <a:r>
              <a:rPr sz="3200" kern="0" spc="-145" dirty="0">
                <a:solidFill>
                  <a:sysClr val="windowText" lastClr="000000"/>
                </a:solidFill>
                <a:latin typeface="Times New Roman"/>
                <a:cs typeface="Times New Roman"/>
              </a:rPr>
              <a:t> </a:t>
            </a:r>
            <a:r>
              <a:rPr sz="3200" kern="0" spc="-20" dirty="0">
                <a:solidFill>
                  <a:sysClr val="windowText" lastClr="000000"/>
                </a:solidFill>
                <a:latin typeface="Times New Roman"/>
                <a:cs typeface="Times New Roman"/>
              </a:rPr>
              <a:t>Taxonomy</a:t>
            </a:r>
            <a:r>
              <a:rPr sz="3200" kern="0" spc="-9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uses</a:t>
            </a:r>
            <a:r>
              <a:rPr sz="3200" kern="0" spc="-5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two</a:t>
            </a:r>
            <a:r>
              <a:rPr sz="3200" kern="0" spc="-5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basic</a:t>
            </a:r>
            <a:r>
              <a:rPr sz="3200" kern="0" spc="-65" dirty="0">
                <a:solidFill>
                  <a:sysClr val="windowText" lastClr="000000"/>
                </a:solidFill>
                <a:latin typeface="Times New Roman"/>
                <a:cs typeface="Times New Roman"/>
              </a:rPr>
              <a:t> </a:t>
            </a:r>
            <a:r>
              <a:rPr sz="3200" kern="0" spc="-10" dirty="0">
                <a:solidFill>
                  <a:sysClr val="windowText" lastClr="000000"/>
                </a:solidFill>
                <a:latin typeface="Times New Roman"/>
                <a:cs typeface="Times New Roman"/>
              </a:rPr>
              <a:t>concepts: </a:t>
            </a:r>
            <a:r>
              <a:rPr sz="3200" kern="0" dirty="0">
                <a:solidFill>
                  <a:sysClr val="windowText" lastClr="000000"/>
                </a:solidFill>
                <a:latin typeface="Times New Roman"/>
                <a:cs typeface="Times New Roman"/>
              </a:rPr>
              <a:t>Parallelism</a:t>
            </a:r>
            <a:r>
              <a:rPr sz="3200" kern="0" spc="-4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in </a:t>
            </a:r>
            <a:r>
              <a:rPr sz="3200" kern="0" dirty="0">
                <a:solidFill>
                  <a:srgbClr val="FF0000"/>
                </a:solidFill>
                <a:latin typeface="Times New Roman"/>
                <a:cs typeface="Times New Roman"/>
              </a:rPr>
              <a:t>instruction</a:t>
            </a:r>
            <a:r>
              <a:rPr sz="3200" kern="0" spc="-50" dirty="0">
                <a:solidFill>
                  <a:srgbClr val="FF0000"/>
                </a:solidFill>
                <a:latin typeface="Times New Roman"/>
                <a:cs typeface="Times New Roman"/>
              </a:rPr>
              <a:t> </a:t>
            </a:r>
            <a:r>
              <a:rPr sz="3200" kern="0" dirty="0">
                <a:solidFill>
                  <a:srgbClr val="FF0000"/>
                </a:solidFill>
                <a:latin typeface="Times New Roman"/>
                <a:cs typeface="Times New Roman"/>
              </a:rPr>
              <a:t>stream</a:t>
            </a:r>
            <a:r>
              <a:rPr sz="3200" kern="0" dirty="0">
                <a:solidFill>
                  <a:sysClr val="windowText" lastClr="000000"/>
                </a:solidFill>
                <a:latin typeface="Times New Roman"/>
                <a:cs typeface="Times New Roman"/>
              </a:rPr>
              <a:t>,</a:t>
            </a:r>
            <a:r>
              <a:rPr sz="3200" kern="0" spc="-15" dirty="0">
                <a:solidFill>
                  <a:sysClr val="windowText" lastClr="000000"/>
                </a:solidFill>
                <a:latin typeface="Times New Roman"/>
                <a:cs typeface="Times New Roman"/>
              </a:rPr>
              <a:t> </a:t>
            </a:r>
            <a:r>
              <a:rPr sz="3200" kern="0" spc="-25" dirty="0">
                <a:solidFill>
                  <a:sysClr val="windowText" lastClr="000000"/>
                </a:solidFill>
                <a:latin typeface="Times New Roman"/>
                <a:cs typeface="Times New Roman"/>
              </a:rPr>
              <a:t>and </a:t>
            </a:r>
            <a:r>
              <a:rPr sz="3200" kern="0" dirty="0">
                <a:solidFill>
                  <a:sysClr val="windowText" lastClr="000000"/>
                </a:solidFill>
                <a:latin typeface="Times New Roman"/>
                <a:cs typeface="Times New Roman"/>
              </a:rPr>
              <a:t>parallelism</a:t>
            </a:r>
            <a:r>
              <a:rPr sz="3200" kern="0" spc="-7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in</a:t>
            </a:r>
            <a:r>
              <a:rPr sz="3200" kern="0" spc="-25" dirty="0">
                <a:solidFill>
                  <a:sysClr val="windowText" lastClr="000000"/>
                </a:solidFill>
                <a:latin typeface="Times New Roman"/>
                <a:cs typeface="Times New Roman"/>
              </a:rPr>
              <a:t> </a:t>
            </a:r>
            <a:r>
              <a:rPr sz="3200" kern="0" dirty="0">
                <a:solidFill>
                  <a:srgbClr val="FF0000"/>
                </a:solidFill>
                <a:latin typeface="Times New Roman"/>
                <a:cs typeface="Times New Roman"/>
              </a:rPr>
              <a:t>data</a:t>
            </a:r>
            <a:r>
              <a:rPr sz="3200" kern="0" spc="-25" dirty="0">
                <a:solidFill>
                  <a:srgbClr val="FF0000"/>
                </a:solidFill>
                <a:latin typeface="Times New Roman"/>
                <a:cs typeface="Times New Roman"/>
              </a:rPr>
              <a:t> </a:t>
            </a:r>
            <a:r>
              <a:rPr sz="3200" kern="0" spc="-10" dirty="0">
                <a:solidFill>
                  <a:srgbClr val="FF0000"/>
                </a:solidFill>
                <a:latin typeface="Times New Roman"/>
                <a:cs typeface="Times New Roman"/>
              </a:rPr>
              <a:t>stream</a:t>
            </a:r>
            <a:r>
              <a:rPr sz="3200" kern="0" spc="-10" dirty="0">
                <a:solidFill>
                  <a:sysClr val="windowText" lastClr="000000"/>
                </a:solidFill>
                <a:latin typeface="Times New Roman"/>
                <a:cs typeface="Times New Roman"/>
              </a:rPr>
              <a:t>.</a:t>
            </a:r>
            <a:endParaRPr sz="3200" kern="0" dirty="0">
              <a:solidFill>
                <a:sysClr val="windowText" lastClr="000000"/>
              </a:solidFill>
              <a:latin typeface="Times New Roman"/>
              <a:cs typeface="Times New Roman"/>
            </a:endParaRPr>
          </a:p>
          <a:p>
            <a:pPr marL="355600" marR="624840" indent="-342900">
              <a:spcBef>
                <a:spcPts val="675"/>
              </a:spcBef>
              <a:buFont typeface="Wingdings"/>
              <a:buChar char=""/>
              <a:tabLst>
                <a:tab pos="355600" algn="l"/>
              </a:tabLst>
            </a:pPr>
            <a:r>
              <a:rPr sz="3200" kern="0" dirty="0">
                <a:solidFill>
                  <a:sysClr val="windowText" lastClr="000000"/>
                </a:solidFill>
                <a:cs typeface="Calibri"/>
              </a:rPr>
              <a:t>A</a:t>
            </a:r>
            <a:r>
              <a:rPr sz="3200" kern="0" spc="-75" dirty="0">
                <a:solidFill>
                  <a:sysClr val="windowText" lastClr="000000"/>
                </a:solidFill>
                <a:cs typeface="Calibri"/>
              </a:rPr>
              <a:t> </a:t>
            </a:r>
            <a:r>
              <a:rPr sz="3200" kern="0" dirty="0">
                <a:solidFill>
                  <a:sysClr val="windowText" lastClr="000000"/>
                </a:solidFill>
                <a:cs typeface="Calibri"/>
              </a:rPr>
              <a:t>n</a:t>
            </a:r>
            <a:r>
              <a:rPr sz="3200" kern="0" spc="-65" dirty="0">
                <a:solidFill>
                  <a:sysClr val="windowText" lastClr="000000"/>
                </a:solidFill>
                <a:cs typeface="Calibri"/>
              </a:rPr>
              <a:t> </a:t>
            </a:r>
            <a:r>
              <a:rPr sz="3200" kern="0" dirty="0">
                <a:solidFill>
                  <a:sysClr val="windowText" lastClr="000000"/>
                </a:solidFill>
                <a:cs typeface="Calibri"/>
              </a:rPr>
              <a:t>CPU</a:t>
            </a:r>
            <a:r>
              <a:rPr sz="3200" kern="0" spc="-65" dirty="0">
                <a:solidFill>
                  <a:sysClr val="windowText" lastClr="000000"/>
                </a:solidFill>
                <a:cs typeface="Calibri"/>
              </a:rPr>
              <a:t> </a:t>
            </a:r>
            <a:r>
              <a:rPr sz="3200" kern="0" spc="-10" dirty="0">
                <a:solidFill>
                  <a:sysClr val="windowText" lastClr="000000"/>
                </a:solidFill>
                <a:cs typeface="Calibri"/>
              </a:rPr>
              <a:t>system</a:t>
            </a:r>
            <a:r>
              <a:rPr sz="3200" kern="0" spc="-60" dirty="0">
                <a:solidFill>
                  <a:sysClr val="windowText" lastClr="000000"/>
                </a:solidFill>
                <a:cs typeface="Calibri"/>
              </a:rPr>
              <a:t> </a:t>
            </a:r>
            <a:r>
              <a:rPr sz="3200" kern="0" dirty="0">
                <a:solidFill>
                  <a:sysClr val="windowText" lastClr="000000"/>
                </a:solidFill>
                <a:cs typeface="Calibri"/>
              </a:rPr>
              <a:t>has</a:t>
            </a:r>
            <a:r>
              <a:rPr sz="3200" kern="0" spc="-60" dirty="0">
                <a:solidFill>
                  <a:sysClr val="windowText" lastClr="000000"/>
                </a:solidFill>
                <a:cs typeface="Calibri"/>
              </a:rPr>
              <a:t> </a:t>
            </a:r>
            <a:r>
              <a:rPr sz="3200" kern="0" dirty="0">
                <a:solidFill>
                  <a:srgbClr val="FF0000"/>
                </a:solidFill>
                <a:cs typeface="Calibri"/>
              </a:rPr>
              <a:t>n</a:t>
            </a:r>
            <a:r>
              <a:rPr sz="3200" kern="0" spc="-55" dirty="0">
                <a:solidFill>
                  <a:srgbClr val="FF0000"/>
                </a:solidFill>
                <a:cs typeface="Calibri"/>
              </a:rPr>
              <a:t> </a:t>
            </a:r>
            <a:r>
              <a:rPr sz="3200" kern="0" dirty="0">
                <a:solidFill>
                  <a:srgbClr val="FF0000"/>
                </a:solidFill>
                <a:cs typeface="Calibri"/>
              </a:rPr>
              <a:t>program</a:t>
            </a:r>
            <a:r>
              <a:rPr sz="3200" kern="0" spc="-60" dirty="0">
                <a:solidFill>
                  <a:srgbClr val="FF0000"/>
                </a:solidFill>
                <a:cs typeface="Calibri"/>
              </a:rPr>
              <a:t> </a:t>
            </a:r>
            <a:r>
              <a:rPr sz="3200" kern="0" spc="-45" dirty="0">
                <a:solidFill>
                  <a:sysClr val="windowText" lastClr="000000"/>
                </a:solidFill>
                <a:cs typeface="Calibri"/>
              </a:rPr>
              <a:t>counter,</a:t>
            </a:r>
            <a:r>
              <a:rPr sz="3200" kern="0" spc="-60" dirty="0">
                <a:solidFill>
                  <a:sysClr val="windowText" lastClr="000000"/>
                </a:solidFill>
                <a:cs typeface="Calibri"/>
              </a:rPr>
              <a:t> </a:t>
            </a:r>
            <a:r>
              <a:rPr sz="3200" kern="0" spc="-25" dirty="0">
                <a:solidFill>
                  <a:sysClr val="windowText" lastClr="000000"/>
                </a:solidFill>
                <a:cs typeface="Calibri"/>
              </a:rPr>
              <a:t>so </a:t>
            </a:r>
            <a:r>
              <a:rPr sz="3200" kern="0" dirty="0">
                <a:solidFill>
                  <a:sysClr val="windowText" lastClr="000000"/>
                </a:solidFill>
                <a:cs typeface="Calibri"/>
              </a:rPr>
              <a:t>there</a:t>
            </a:r>
            <a:r>
              <a:rPr sz="3200" kern="0" spc="-100" dirty="0">
                <a:solidFill>
                  <a:sysClr val="windowText" lastClr="000000"/>
                </a:solidFill>
                <a:cs typeface="Calibri"/>
              </a:rPr>
              <a:t> </a:t>
            </a:r>
            <a:r>
              <a:rPr sz="3200" kern="0" dirty="0">
                <a:solidFill>
                  <a:sysClr val="windowText" lastClr="000000"/>
                </a:solidFill>
                <a:cs typeface="Calibri"/>
              </a:rPr>
              <a:t>are</a:t>
            </a:r>
            <a:r>
              <a:rPr sz="3200" kern="0" spc="-85" dirty="0">
                <a:solidFill>
                  <a:sysClr val="windowText" lastClr="000000"/>
                </a:solidFill>
                <a:cs typeface="Calibri"/>
              </a:rPr>
              <a:t> </a:t>
            </a:r>
            <a:r>
              <a:rPr sz="3200" kern="0" dirty="0">
                <a:solidFill>
                  <a:sysClr val="windowText" lastClr="000000"/>
                </a:solidFill>
                <a:cs typeface="Calibri"/>
              </a:rPr>
              <a:t>n</a:t>
            </a:r>
            <a:r>
              <a:rPr sz="3200" kern="0" spc="-60" dirty="0">
                <a:solidFill>
                  <a:sysClr val="windowText" lastClr="000000"/>
                </a:solidFill>
                <a:cs typeface="Calibri"/>
              </a:rPr>
              <a:t> </a:t>
            </a:r>
            <a:r>
              <a:rPr sz="3200" kern="0" dirty="0">
                <a:solidFill>
                  <a:sysClr val="windowText" lastClr="000000"/>
                </a:solidFill>
                <a:cs typeface="Calibri"/>
              </a:rPr>
              <a:t>“instruction</a:t>
            </a:r>
            <a:r>
              <a:rPr sz="3200" kern="0" spc="-55" dirty="0">
                <a:solidFill>
                  <a:sysClr val="windowText" lastClr="000000"/>
                </a:solidFill>
                <a:cs typeface="Calibri"/>
              </a:rPr>
              <a:t> </a:t>
            </a:r>
            <a:r>
              <a:rPr sz="3200" kern="0" dirty="0">
                <a:solidFill>
                  <a:sysClr val="windowText" lastClr="000000"/>
                </a:solidFill>
                <a:cs typeface="Calibri"/>
              </a:rPr>
              <a:t>stream”</a:t>
            </a:r>
            <a:r>
              <a:rPr sz="3200" kern="0" spc="-75" dirty="0">
                <a:solidFill>
                  <a:sysClr val="windowText" lastClr="000000"/>
                </a:solidFill>
                <a:cs typeface="Calibri"/>
              </a:rPr>
              <a:t> </a:t>
            </a:r>
            <a:r>
              <a:rPr sz="3200" kern="0" dirty="0">
                <a:solidFill>
                  <a:sysClr val="windowText" lastClr="000000"/>
                </a:solidFill>
                <a:cs typeface="Calibri"/>
              </a:rPr>
              <a:t>that</a:t>
            </a:r>
            <a:r>
              <a:rPr sz="3200" kern="0" spc="-65" dirty="0">
                <a:solidFill>
                  <a:sysClr val="windowText" lastClr="000000"/>
                </a:solidFill>
                <a:cs typeface="Calibri"/>
              </a:rPr>
              <a:t> </a:t>
            </a:r>
            <a:r>
              <a:rPr sz="3200" kern="0" spc="-25" dirty="0">
                <a:solidFill>
                  <a:sysClr val="windowText" lastClr="000000"/>
                </a:solidFill>
                <a:cs typeface="Calibri"/>
              </a:rPr>
              <a:t>can </a:t>
            </a:r>
            <a:r>
              <a:rPr sz="3200" kern="0" spc="-10" dirty="0">
                <a:solidFill>
                  <a:sysClr val="windowText" lastClr="000000"/>
                </a:solidFill>
                <a:cs typeface="Calibri"/>
              </a:rPr>
              <a:t>execute</a:t>
            </a:r>
            <a:r>
              <a:rPr sz="3200" kern="0" spc="-100" dirty="0">
                <a:solidFill>
                  <a:sysClr val="windowText" lastClr="000000"/>
                </a:solidFill>
                <a:cs typeface="Calibri"/>
              </a:rPr>
              <a:t> </a:t>
            </a:r>
            <a:r>
              <a:rPr sz="3200" kern="0" dirty="0">
                <a:solidFill>
                  <a:sysClr val="windowText" lastClr="000000"/>
                </a:solidFill>
                <a:cs typeface="Calibri"/>
              </a:rPr>
              <a:t>in</a:t>
            </a:r>
            <a:r>
              <a:rPr sz="3200" kern="0" spc="-75" dirty="0">
                <a:solidFill>
                  <a:sysClr val="windowText" lastClr="000000"/>
                </a:solidFill>
                <a:cs typeface="Calibri"/>
              </a:rPr>
              <a:t> </a:t>
            </a:r>
            <a:r>
              <a:rPr sz="3200" kern="0" spc="-10" dirty="0">
                <a:solidFill>
                  <a:sysClr val="windowText" lastClr="000000"/>
                </a:solidFill>
                <a:cs typeface="Calibri"/>
              </a:rPr>
              <a:t>parallel.</a:t>
            </a:r>
            <a:endParaRPr sz="3200" kern="0" dirty="0">
              <a:solidFill>
                <a:sysClr val="windowText" lastClr="000000"/>
              </a:solidFill>
              <a:cs typeface="Calibri"/>
            </a:endParaRPr>
          </a:p>
          <a:p>
            <a:pPr marL="355600" marR="5080" indent="-342900">
              <a:spcBef>
                <a:spcPts val="770"/>
              </a:spcBef>
              <a:buFont typeface="Wingdings"/>
              <a:buChar char=""/>
              <a:tabLst>
                <a:tab pos="355600" algn="l"/>
              </a:tabLst>
            </a:pPr>
            <a:r>
              <a:rPr sz="3200" kern="0" dirty="0">
                <a:solidFill>
                  <a:sysClr val="windowText" lastClr="000000"/>
                </a:solidFill>
                <a:cs typeface="Calibri"/>
              </a:rPr>
              <a:t>A</a:t>
            </a:r>
            <a:r>
              <a:rPr sz="3200" kern="0" spc="-50" dirty="0">
                <a:solidFill>
                  <a:sysClr val="windowText" lastClr="000000"/>
                </a:solidFill>
                <a:cs typeface="Calibri"/>
              </a:rPr>
              <a:t> </a:t>
            </a:r>
            <a:r>
              <a:rPr sz="3200" kern="0" dirty="0">
                <a:solidFill>
                  <a:sysClr val="windowText" lastClr="000000"/>
                </a:solidFill>
                <a:cs typeface="Calibri"/>
              </a:rPr>
              <a:t>data</a:t>
            </a:r>
            <a:r>
              <a:rPr sz="3200" kern="0" spc="-35" dirty="0">
                <a:solidFill>
                  <a:sysClr val="windowText" lastClr="000000"/>
                </a:solidFill>
                <a:cs typeface="Calibri"/>
              </a:rPr>
              <a:t> </a:t>
            </a:r>
            <a:r>
              <a:rPr sz="3200" kern="0" dirty="0">
                <a:solidFill>
                  <a:sysClr val="windowText" lastClr="000000"/>
                </a:solidFill>
                <a:cs typeface="Calibri"/>
              </a:rPr>
              <a:t>stream</a:t>
            </a:r>
            <a:r>
              <a:rPr sz="3200" kern="0" spc="-40" dirty="0">
                <a:solidFill>
                  <a:sysClr val="windowText" lastClr="000000"/>
                </a:solidFill>
                <a:cs typeface="Calibri"/>
              </a:rPr>
              <a:t> </a:t>
            </a:r>
            <a:r>
              <a:rPr sz="3200" kern="0" dirty="0">
                <a:solidFill>
                  <a:sysClr val="windowText" lastClr="000000"/>
                </a:solidFill>
                <a:cs typeface="Calibri"/>
              </a:rPr>
              <a:t>can</a:t>
            </a:r>
            <a:r>
              <a:rPr sz="3200" kern="0" spc="-40" dirty="0">
                <a:solidFill>
                  <a:sysClr val="windowText" lastClr="000000"/>
                </a:solidFill>
                <a:cs typeface="Calibri"/>
              </a:rPr>
              <a:t> </a:t>
            </a:r>
            <a:r>
              <a:rPr sz="3200" kern="0" dirty="0">
                <a:solidFill>
                  <a:sysClr val="windowText" lastClr="000000"/>
                </a:solidFill>
                <a:cs typeface="Calibri"/>
              </a:rPr>
              <a:t>be</a:t>
            </a:r>
            <a:r>
              <a:rPr sz="3200" kern="0" spc="-35" dirty="0">
                <a:solidFill>
                  <a:sysClr val="windowText" lastClr="000000"/>
                </a:solidFill>
                <a:cs typeface="Calibri"/>
              </a:rPr>
              <a:t> </a:t>
            </a:r>
            <a:r>
              <a:rPr sz="3200" kern="0" dirty="0">
                <a:solidFill>
                  <a:sysClr val="windowText" lastClr="000000"/>
                </a:solidFill>
                <a:cs typeface="Calibri"/>
              </a:rPr>
              <a:t>used</a:t>
            </a:r>
            <a:r>
              <a:rPr sz="3200" kern="0" spc="-40" dirty="0">
                <a:solidFill>
                  <a:sysClr val="windowText" lastClr="000000"/>
                </a:solidFill>
                <a:cs typeface="Calibri"/>
              </a:rPr>
              <a:t> </a:t>
            </a:r>
            <a:r>
              <a:rPr sz="3200" kern="0" dirty="0">
                <a:solidFill>
                  <a:sysClr val="windowText" lastClr="000000"/>
                </a:solidFill>
                <a:cs typeface="Calibri"/>
              </a:rPr>
              <a:t>as</a:t>
            </a:r>
            <a:r>
              <a:rPr sz="3200" kern="0" spc="-35" dirty="0">
                <a:solidFill>
                  <a:sysClr val="windowText" lastClr="000000"/>
                </a:solidFill>
                <a:cs typeface="Calibri"/>
              </a:rPr>
              <a:t> </a:t>
            </a:r>
            <a:r>
              <a:rPr sz="3200" kern="0" dirty="0">
                <a:solidFill>
                  <a:sysClr val="windowText" lastClr="000000"/>
                </a:solidFill>
                <a:cs typeface="Calibri"/>
              </a:rPr>
              <a:t>a</a:t>
            </a:r>
            <a:r>
              <a:rPr sz="3200" kern="0" spc="-35" dirty="0">
                <a:solidFill>
                  <a:sysClr val="windowText" lastClr="000000"/>
                </a:solidFill>
                <a:cs typeface="Calibri"/>
              </a:rPr>
              <a:t> </a:t>
            </a:r>
            <a:r>
              <a:rPr sz="3200" kern="0" dirty="0">
                <a:solidFill>
                  <a:sysClr val="windowText" lastClr="000000"/>
                </a:solidFill>
                <a:cs typeface="Calibri"/>
              </a:rPr>
              <a:t>sequence</a:t>
            </a:r>
            <a:r>
              <a:rPr sz="3200" kern="0" spc="-45" dirty="0">
                <a:solidFill>
                  <a:sysClr val="windowText" lastClr="000000"/>
                </a:solidFill>
                <a:cs typeface="Calibri"/>
              </a:rPr>
              <a:t> </a:t>
            </a:r>
            <a:r>
              <a:rPr sz="3200" kern="0" spc="-25" dirty="0">
                <a:solidFill>
                  <a:sysClr val="windowText" lastClr="000000"/>
                </a:solidFill>
                <a:cs typeface="Calibri"/>
              </a:rPr>
              <a:t>of </a:t>
            </a:r>
            <a:r>
              <a:rPr sz="3200" kern="0" dirty="0">
                <a:solidFill>
                  <a:sysClr val="windowText" lastClr="000000"/>
                </a:solidFill>
                <a:cs typeface="Calibri"/>
              </a:rPr>
              <a:t>data,</a:t>
            </a:r>
            <a:r>
              <a:rPr sz="3200" kern="0" spc="-70" dirty="0">
                <a:solidFill>
                  <a:sysClr val="windowText" lastClr="000000"/>
                </a:solidFill>
                <a:cs typeface="Calibri"/>
              </a:rPr>
              <a:t> </a:t>
            </a:r>
            <a:r>
              <a:rPr sz="3200" kern="0" dirty="0">
                <a:solidFill>
                  <a:sysClr val="windowText" lastClr="000000"/>
                </a:solidFill>
                <a:cs typeface="Calibri"/>
              </a:rPr>
              <a:t>and</a:t>
            </a:r>
            <a:r>
              <a:rPr sz="3200" kern="0" spc="-65" dirty="0">
                <a:solidFill>
                  <a:sysClr val="windowText" lastClr="000000"/>
                </a:solidFill>
                <a:cs typeface="Calibri"/>
              </a:rPr>
              <a:t> </a:t>
            </a:r>
            <a:r>
              <a:rPr sz="3200" kern="0" dirty="0">
                <a:solidFill>
                  <a:sysClr val="windowText" lastClr="000000"/>
                </a:solidFill>
                <a:cs typeface="Calibri"/>
              </a:rPr>
              <a:t>there</a:t>
            </a:r>
            <a:r>
              <a:rPr sz="3200" kern="0" spc="-85" dirty="0">
                <a:solidFill>
                  <a:sysClr val="windowText" lastClr="000000"/>
                </a:solidFill>
                <a:cs typeface="Calibri"/>
              </a:rPr>
              <a:t> </a:t>
            </a:r>
            <a:r>
              <a:rPr sz="3200" kern="0" dirty="0">
                <a:solidFill>
                  <a:sysClr val="windowText" lastClr="000000"/>
                </a:solidFill>
                <a:cs typeface="Calibri"/>
              </a:rPr>
              <a:t>exist</a:t>
            </a:r>
            <a:r>
              <a:rPr sz="3200" kern="0" spc="-70" dirty="0">
                <a:solidFill>
                  <a:sysClr val="windowText" lastClr="000000"/>
                </a:solidFill>
                <a:cs typeface="Calibri"/>
              </a:rPr>
              <a:t> </a:t>
            </a:r>
            <a:r>
              <a:rPr sz="3200" kern="0" dirty="0">
                <a:solidFill>
                  <a:sysClr val="windowText" lastClr="000000"/>
                </a:solidFill>
                <a:cs typeface="Calibri"/>
              </a:rPr>
              <a:t>4</a:t>
            </a:r>
            <a:r>
              <a:rPr sz="3200" kern="0" spc="-70" dirty="0">
                <a:solidFill>
                  <a:sysClr val="windowText" lastClr="000000"/>
                </a:solidFill>
                <a:cs typeface="Calibri"/>
              </a:rPr>
              <a:t> </a:t>
            </a:r>
            <a:r>
              <a:rPr sz="3200" kern="0" dirty="0">
                <a:solidFill>
                  <a:sysClr val="windowText" lastClr="000000"/>
                </a:solidFill>
                <a:cs typeface="Calibri"/>
              </a:rPr>
              <a:t>possible</a:t>
            </a:r>
            <a:r>
              <a:rPr sz="3200" kern="0" spc="-65" dirty="0">
                <a:solidFill>
                  <a:sysClr val="windowText" lastClr="000000"/>
                </a:solidFill>
                <a:cs typeface="Calibri"/>
              </a:rPr>
              <a:t> </a:t>
            </a:r>
            <a:r>
              <a:rPr sz="3200" kern="0" spc="-10" dirty="0">
                <a:solidFill>
                  <a:sysClr val="windowText" lastClr="000000"/>
                </a:solidFill>
                <a:cs typeface="Calibri"/>
              </a:rPr>
              <a:t>combinations.</a:t>
            </a:r>
            <a:endParaRPr sz="3200" kern="0" dirty="0">
              <a:solidFill>
                <a:sysClr val="windowText" lastClr="000000"/>
              </a:solidFill>
              <a:cs typeface="Calibri"/>
            </a:endParaRPr>
          </a:p>
        </p:txBody>
      </p:sp>
    </p:spTree>
    <p:extLst>
      <p:ext uri="{BB962C8B-B14F-4D97-AF65-F5344CB8AC3E}">
        <p14:creationId xmlns:p14="http://schemas.microsoft.com/office/powerpoint/2010/main" val="3969881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4423" y="775503"/>
            <a:ext cx="10972800" cy="1093709"/>
          </a:xfrm>
          <a:prstGeom prst="rect">
            <a:avLst/>
          </a:prstGeom>
        </p:spPr>
        <p:txBody>
          <a:bodyPr vert="horz" wrap="square" lIns="0" tIns="412572" rIns="0" bIns="0" rtlCol="0">
            <a:spAutoFit/>
          </a:bodyPr>
          <a:lstStyle/>
          <a:p>
            <a:pPr marL="1198245">
              <a:lnSpc>
                <a:spcPct val="100000"/>
              </a:lnSpc>
              <a:spcBef>
                <a:spcPts val="105"/>
              </a:spcBef>
            </a:pPr>
            <a:r>
              <a:rPr dirty="0"/>
              <a:t>Flynn’s</a:t>
            </a:r>
            <a:r>
              <a:rPr spc="-200" dirty="0"/>
              <a:t> </a:t>
            </a:r>
            <a:r>
              <a:rPr spc="-10" dirty="0"/>
              <a:t>Classification</a:t>
            </a:r>
          </a:p>
        </p:txBody>
      </p:sp>
      <p:pic>
        <p:nvPicPr>
          <p:cNvPr id="3" name="object 3"/>
          <p:cNvPicPr/>
          <p:nvPr/>
        </p:nvPicPr>
        <p:blipFill>
          <a:blip r:embed="rId2" cstate="print"/>
          <a:stretch>
            <a:fillRect/>
          </a:stretch>
        </p:blipFill>
        <p:spPr>
          <a:xfrm>
            <a:off x="1865453" y="2025570"/>
            <a:ext cx="8461093" cy="3715473"/>
          </a:xfrm>
          <a:prstGeom prst="rect">
            <a:avLst/>
          </a:prstGeom>
        </p:spPr>
      </p:pic>
    </p:spTree>
    <p:extLst>
      <p:ext uri="{BB962C8B-B14F-4D97-AF65-F5344CB8AC3E}">
        <p14:creationId xmlns:p14="http://schemas.microsoft.com/office/powerpoint/2010/main" val="2846193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50672" rIns="0" bIns="0" rtlCol="0">
            <a:spAutoFit/>
          </a:bodyPr>
          <a:lstStyle/>
          <a:p>
            <a:pPr marL="1274445">
              <a:lnSpc>
                <a:spcPct val="100000"/>
              </a:lnSpc>
              <a:spcBef>
                <a:spcPts val="105"/>
              </a:spcBef>
            </a:pPr>
            <a:r>
              <a:rPr dirty="0"/>
              <a:t>Flynn’s</a:t>
            </a:r>
            <a:r>
              <a:rPr spc="-200" dirty="0"/>
              <a:t> </a:t>
            </a:r>
            <a:r>
              <a:rPr spc="-10" dirty="0"/>
              <a:t>Classification</a:t>
            </a:r>
          </a:p>
        </p:txBody>
      </p:sp>
      <p:graphicFrame>
        <p:nvGraphicFramePr>
          <p:cNvPr id="3" name="object 3"/>
          <p:cNvGraphicFramePr>
            <a:graphicFrameLocks noGrp="1"/>
          </p:cNvGraphicFramePr>
          <p:nvPr>
            <p:extLst>
              <p:ext uri="{D42A27DB-BD31-4B8C-83A1-F6EECF244321}">
                <p14:modId xmlns:p14="http://schemas.microsoft.com/office/powerpoint/2010/main" val="3092036412"/>
              </p:ext>
            </p:extLst>
          </p:nvPr>
        </p:nvGraphicFramePr>
        <p:xfrm>
          <a:off x="905933" y="2355850"/>
          <a:ext cx="10566400" cy="2971800"/>
        </p:xfrm>
        <a:graphic>
          <a:graphicData uri="http://schemas.openxmlformats.org/drawingml/2006/table">
            <a:tbl>
              <a:tblPr firstRow="1" bandRow="1">
                <a:tableStyleId>{5940675A-B579-460E-94D1-54222C63F5DA}</a:tableStyleId>
              </a:tblPr>
              <a:tblGrid>
                <a:gridCol w="2641600">
                  <a:extLst>
                    <a:ext uri="{9D8B030D-6E8A-4147-A177-3AD203B41FA5}">
                      <a16:colId xmlns:a16="http://schemas.microsoft.com/office/drawing/2014/main" val="20000"/>
                    </a:ext>
                  </a:extLst>
                </a:gridCol>
                <a:gridCol w="19304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4368800">
                  <a:extLst>
                    <a:ext uri="{9D8B030D-6E8A-4147-A177-3AD203B41FA5}">
                      <a16:colId xmlns:a16="http://schemas.microsoft.com/office/drawing/2014/main" val="20003"/>
                    </a:ext>
                  </a:extLst>
                </a:gridCol>
              </a:tblGrid>
              <a:tr h="1143000">
                <a:tc>
                  <a:txBody>
                    <a:bodyPr/>
                    <a:lstStyle/>
                    <a:p>
                      <a:pPr marL="91440" marR="183515">
                        <a:lnSpc>
                          <a:spcPts val="3300"/>
                        </a:lnSpc>
                        <a:spcBef>
                          <a:spcPts val="425"/>
                        </a:spcBef>
                      </a:pPr>
                      <a:r>
                        <a:rPr sz="2800" b="1" spc="-10" dirty="0">
                          <a:solidFill>
                            <a:srgbClr val="0D0D0D"/>
                          </a:solidFill>
                        </a:rPr>
                        <a:t>Insrtuction </a:t>
                      </a:r>
                      <a:r>
                        <a:rPr sz="2800" b="1" spc="-25" dirty="0">
                          <a:solidFill>
                            <a:srgbClr val="0D0D0D"/>
                          </a:solidFill>
                        </a:rPr>
                        <a:t>Set</a:t>
                      </a:r>
                      <a:endParaRPr sz="2800" dirty="0">
                        <a:latin typeface="Times New Roman"/>
                        <a:cs typeface="Times New Roman"/>
                      </a:endParaRPr>
                    </a:p>
                  </a:txBody>
                  <a:tcPr marL="0" marR="0" marT="53975" marB="0"/>
                </a:tc>
                <a:tc>
                  <a:txBody>
                    <a:bodyPr/>
                    <a:lstStyle/>
                    <a:p>
                      <a:pPr marL="91440" marR="111125">
                        <a:lnSpc>
                          <a:spcPct val="100000"/>
                        </a:lnSpc>
                        <a:spcBef>
                          <a:spcPts val="265"/>
                        </a:spcBef>
                      </a:pPr>
                      <a:r>
                        <a:rPr sz="2800" b="1" spc="-20" dirty="0">
                          <a:solidFill>
                            <a:srgbClr val="0D0D0D"/>
                          </a:solidFill>
                        </a:rPr>
                        <a:t>Data Streams</a:t>
                      </a:r>
                      <a:endParaRPr sz="2800">
                        <a:latin typeface="Times New Roman"/>
                        <a:cs typeface="Times New Roman"/>
                      </a:endParaRPr>
                    </a:p>
                  </a:txBody>
                  <a:tcPr marL="0" marR="0" marT="33655" marB="0"/>
                </a:tc>
                <a:tc>
                  <a:txBody>
                    <a:bodyPr/>
                    <a:lstStyle/>
                    <a:p>
                      <a:pPr marL="92075">
                        <a:lnSpc>
                          <a:spcPct val="100000"/>
                        </a:lnSpc>
                        <a:spcBef>
                          <a:spcPts val="265"/>
                        </a:spcBef>
                      </a:pPr>
                      <a:r>
                        <a:rPr sz="2800" b="1" spc="-20" dirty="0">
                          <a:solidFill>
                            <a:srgbClr val="0D0D0D"/>
                          </a:solidFill>
                        </a:rPr>
                        <a:t>Name</a:t>
                      </a:r>
                      <a:endParaRPr sz="2800">
                        <a:latin typeface="Times New Roman"/>
                        <a:cs typeface="Times New Roman"/>
                      </a:endParaRPr>
                    </a:p>
                  </a:txBody>
                  <a:tcPr marL="0" marR="0" marT="33655" marB="0"/>
                </a:tc>
                <a:tc>
                  <a:txBody>
                    <a:bodyPr/>
                    <a:lstStyle/>
                    <a:p>
                      <a:pPr marL="92075">
                        <a:lnSpc>
                          <a:spcPct val="100000"/>
                        </a:lnSpc>
                        <a:spcBef>
                          <a:spcPts val="265"/>
                        </a:spcBef>
                      </a:pPr>
                      <a:r>
                        <a:rPr sz="2800" b="1" spc="-10" dirty="0">
                          <a:solidFill>
                            <a:srgbClr val="0D0D0D"/>
                          </a:solidFill>
                        </a:rPr>
                        <a:t>Examples</a:t>
                      </a:r>
                      <a:endParaRPr sz="2800">
                        <a:latin typeface="Times New Roman"/>
                        <a:cs typeface="Times New Roman"/>
                      </a:endParaRPr>
                    </a:p>
                  </a:txBody>
                  <a:tcPr marL="0" marR="0" marT="33655" marB="0"/>
                </a:tc>
                <a:extLst>
                  <a:ext uri="{0D108BD9-81ED-4DB2-BD59-A6C34878D82A}">
                    <a16:rowId xmlns:a16="http://schemas.microsoft.com/office/drawing/2014/main" val="10000"/>
                  </a:ext>
                </a:extLst>
              </a:tr>
              <a:tr h="457200">
                <a:tc>
                  <a:txBody>
                    <a:bodyPr/>
                    <a:lstStyle/>
                    <a:p>
                      <a:pPr marL="91440">
                        <a:lnSpc>
                          <a:spcPct val="100000"/>
                        </a:lnSpc>
                        <a:spcBef>
                          <a:spcPts val="244"/>
                        </a:spcBef>
                      </a:pPr>
                      <a:r>
                        <a:rPr sz="1800" spc="-50" dirty="0"/>
                        <a:t>1</a:t>
                      </a:r>
                      <a:endParaRPr sz="1800">
                        <a:latin typeface="Calibri"/>
                        <a:cs typeface="Calibri"/>
                      </a:endParaRPr>
                    </a:p>
                  </a:txBody>
                  <a:tcPr marL="0" marR="0" marT="31114" marB="0"/>
                </a:tc>
                <a:tc>
                  <a:txBody>
                    <a:bodyPr/>
                    <a:lstStyle/>
                    <a:p>
                      <a:pPr marL="91440">
                        <a:lnSpc>
                          <a:spcPct val="100000"/>
                        </a:lnSpc>
                        <a:spcBef>
                          <a:spcPts val="244"/>
                        </a:spcBef>
                      </a:pPr>
                      <a:r>
                        <a:rPr sz="1800" spc="-50" dirty="0"/>
                        <a:t>1</a:t>
                      </a:r>
                      <a:endParaRPr sz="1800">
                        <a:latin typeface="Calibri"/>
                        <a:cs typeface="Calibri"/>
                      </a:endParaRPr>
                    </a:p>
                  </a:txBody>
                  <a:tcPr marL="0" marR="0" marT="31114" marB="0"/>
                </a:tc>
                <a:tc>
                  <a:txBody>
                    <a:bodyPr/>
                    <a:lstStyle/>
                    <a:p>
                      <a:pPr marL="92075">
                        <a:lnSpc>
                          <a:spcPct val="100000"/>
                        </a:lnSpc>
                        <a:spcBef>
                          <a:spcPts val="244"/>
                        </a:spcBef>
                      </a:pPr>
                      <a:r>
                        <a:rPr sz="1800" spc="-20" dirty="0"/>
                        <a:t>SISD</a:t>
                      </a:r>
                      <a:endParaRPr sz="1800">
                        <a:latin typeface="Calibri"/>
                        <a:cs typeface="Calibri"/>
                      </a:endParaRPr>
                    </a:p>
                  </a:txBody>
                  <a:tcPr marL="0" marR="0" marT="31114" marB="0"/>
                </a:tc>
                <a:tc>
                  <a:txBody>
                    <a:bodyPr/>
                    <a:lstStyle/>
                    <a:p>
                      <a:pPr marL="92075">
                        <a:lnSpc>
                          <a:spcPct val="100000"/>
                        </a:lnSpc>
                        <a:spcBef>
                          <a:spcPts val="244"/>
                        </a:spcBef>
                      </a:pPr>
                      <a:r>
                        <a:rPr sz="1800" spc="-10" dirty="0"/>
                        <a:t>Von</a:t>
                      </a:r>
                      <a:r>
                        <a:rPr sz="1800" spc="-80" dirty="0"/>
                        <a:t> </a:t>
                      </a:r>
                      <a:r>
                        <a:rPr sz="1800" dirty="0"/>
                        <a:t>Neumann</a:t>
                      </a:r>
                      <a:r>
                        <a:rPr sz="1800" spc="-75" dirty="0"/>
                        <a:t> </a:t>
                      </a:r>
                      <a:r>
                        <a:rPr sz="1800" spc="-10" dirty="0"/>
                        <a:t>Machine</a:t>
                      </a:r>
                      <a:endParaRPr sz="1800" dirty="0">
                        <a:latin typeface="Calibri"/>
                        <a:cs typeface="Calibri"/>
                      </a:endParaRPr>
                    </a:p>
                  </a:txBody>
                  <a:tcPr marL="0" marR="0" marT="31114" marB="0"/>
                </a:tc>
                <a:extLst>
                  <a:ext uri="{0D108BD9-81ED-4DB2-BD59-A6C34878D82A}">
                    <a16:rowId xmlns:a16="http://schemas.microsoft.com/office/drawing/2014/main" val="10001"/>
                  </a:ext>
                </a:extLst>
              </a:tr>
              <a:tr h="457200">
                <a:tc>
                  <a:txBody>
                    <a:bodyPr/>
                    <a:lstStyle/>
                    <a:p>
                      <a:pPr marL="91440">
                        <a:lnSpc>
                          <a:spcPct val="100000"/>
                        </a:lnSpc>
                        <a:spcBef>
                          <a:spcPts val="245"/>
                        </a:spcBef>
                      </a:pPr>
                      <a:r>
                        <a:rPr sz="1800" spc="-50" dirty="0"/>
                        <a:t>1</a:t>
                      </a:r>
                      <a:endParaRPr sz="1800">
                        <a:latin typeface="Calibri"/>
                        <a:cs typeface="Calibri"/>
                      </a:endParaRPr>
                    </a:p>
                  </a:txBody>
                  <a:tcPr marL="0" marR="0" marT="31115" marB="0"/>
                </a:tc>
                <a:tc>
                  <a:txBody>
                    <a:bodyPr/>
                    <a:lstStyle/>
                    <a:p>
                      <a:pPr marL="91440">
                        <a:lnSpc>
                          <a:spcPct val="100000"/>
                        </a:lnSpc>
                        <a:spcBef>
                          <a:spcPts val="245"/>
                        </a:spcBef>
                      </a:pPr>
                      <a:r>
                        <a:rPr sz="1800" spc="-10" dirty="0"/>
                        <a:t>Multiple</a:t>
                      </a:r>
                      <a:endParaRPr sz="1800">
                        <a:latin typeface="Calibri"/>
                        <a:cs typeface="Calibri"/>
                      </a:endParaRPr>
                    </a:p>
                  </a:txBody>
                  <a:tcPr marL="0" marR="0" marT="31115" marB="0"/>
                </a:tc>
                <a:tc>
                  <a:txBody>
                    <a:bodyPr/>
                    <a:lstStyle/>
                    <a:p>
                      <a:pPr marL="92075">
                        <a:lnSpc>
                          <a:spcPct val="100000"/>
                        </a:lnSpc>
                        <a:spcBef>
                          <a:spcPts val="245"/>
                        </a:spcBef>
                      </a:pPr>
                      <a:r>
                        <a:rPr sz="1800" spc="-20" dirty="0"/>
                        <a:t>SIMD</a:t>
                      </a:r>
                      <a:endParaRPr sz="1800">
                        <a:latin typeface="Calibri"/>
                        <a:cs typeface="Calibri"/>
                      </a:endParaRPr>
                    </a:p>
                  </a:txBody>
                  <a:tcPr marL="0" marR="0" marT="31115" marB="0"/>
                </a:tc>
                <a:tc>
                  <a:txBody>
                    <a:bodyPr/>
                    <a:lstStyle/>
                    <a:p>
                      <a:pPr marL="92075">
                        <a:lnSpc>
                          <a:spcPct val="100000"/>
                        </a:lnSpc>
                        <a:spcBef>
                          <a:spcPts val="245"/>
                        </a:spcBef>
                      </a:pPr>
                      <a:r>
                        <a:rPr sz="1800" spc="-10" dirty="0"/>
                        <a:t>Vector</a:t>
                      </a:r>
                      <a:r>
                        <a:rPr sz="1800" spc="-60" dirty="0"/>
                        <a:t> </a:t>
                      </a:r>
                      <a:r>
                        <a:rPr sz="1800" dirty="0"/>
                        <a:t>Super</a:t>
                      </a:r>
                      <a:r>
                        <a:rPr sz="1800" spc="-55" dirty="0"/>
                        <a:t> </a:t>
                      </a:r>
                      <a:r>
                        <a:rPr sz="1800" spc="-10" dirty="0"/>
                        <a:t>Computer</a:t>
                      </a:r>
                      <a:endParaRPr sz="1800">
                        <a:latin typeface="Calibri"/>
                        <a:cs typeface="Calibri"/>
                      </a:endParaRPr>
                    </a:p>
                  </a:txBody>
                  <a:tcPr marL="0" marR="0" marT="31115" marB="0"/>
                </a:tc>
                <a:extLst>
                  <a:ext uri="{0D108BD9-81ED-4DB2-BD59-A6C34878D82A}">
                    <a16:rowId xmlns:a16="http://schemas.microsoft.com/office/drawing/2014/main" val="10002"/>
                  </a:ext>
                </a:extLst>
              </a:tr>
              <a:tr h="457200">
                <a:tc>
                  <a:txBody>
                    <a:bodyPr/>
                    <a:lstStyle/>
                    <a:p>
                      <a:pPr marL="91440">
                        <a:lnSpc>
                          <a:spcPct val="100000"/>
                        </a:lnSpc>
                        <a:spcBef>
                          <a:spcPts val="245"/>
                        </a:spcBef>
                      </a:pPr>
                      <a:r>
                        <a:rPr sz="1800" spc="-10" dirty="0"/>
                        <a:t>Multiple</a:t>
                      </a:r>
                      <a:endParaRPr sz="1800">
                        <a:latin typeface="Calibri"/>
                        <a:cs typeface="Calibri"/>
                      </a:endParaRPr>
                    </a:p>
                  </a:txBody>
                  <a:tcPr marL="0" marR="0" marT="31115" marB="0"/>
                </a:tc>
                <a:tc>
                  <a:txBody>
                    <a:bodyPr/>
                    <a:lstStyle/>
                    <a:p>
                      <a:pPr marL="91440">
                        <a:lnSpc>
                          <a:spcPct val="100000"/>
                        </a:lnSpc>
                        <a:spcBef>
                          <a:spcPts val="245"/>
                        </a:spcBef>
                      </a:pPr>
                      <a:r>
                        <a:rPr sz="1800" spc="-50" dirty="0"/>
                        <a:t>1</a:t>
                      </a:r>
                      <a:endParaRPr sz="1800">
                        <a:latin typeface="Calibri"/>
                        <a:cs typeface="Calibri"/>
                      </a:endParaRPr>
                    </a:p>
                  </a:txBody>
                  <a:tcPr marL="0" marR="0" marT="31115" marB="0"/>
                </a:tc>
                <a:tc>
                  <a:txBody>
                    <a:bodyPr/>
                    <a:lstStyle/>
                    <a:p>
                      <a:pPr marL="92075">
                        <a:lnSpc>
                          <a:spcPct val="100000"/>
                        </a:lnSpc>
                        <a:spcBef>
                          <a:spcPts val="245"/>
                        </a:spcBef>
                      </a:pPr>
                      <a:r>
                        <a:rPr sz="1800" spc="-20" dirty="0"/>
                        <a:t>MISD</a:t>
                      </a:r>
                      <a:endParaRPr sz="1800">
                        <a:latin typeface="Calibri"/>
                        <a:cs typeface="Calibri"/>
                      </a:endParaRPr>
                    </a:p>
                  </a:txBody>
                  <a:tcPr marL="0" marR="0" marT="31115" marB="0"/>
                </a:tc>
                <a:tc>
                  <a:txBody>
                    <a:bodyPr/>
                    <a:lstStyle/>
                    <a:p>
                      <a:pPr marL="92075">
                        <a:lnSpc>
                          <a:spcPct val="100000"/>
                        </a:lnSpc>
                        <a:spcBef>
                          <a:spcPts val="245"/>
                        </a:spcBef>
                      </a:pPr>
                      <a:r>
                        <a:rPr sz="1800" dirty="0"/>
                        <a:t>Arguably</a:t>
                      </a:r>
                      <a:r>
                        <a:rPr sz="1800" spc="-95" dirty="0"/>
                        <a:t> </a:t>
                      </a:r>
                      <a:r>
                        <a:rPr sz="1800" spc="-20" dirty="0"/>
                        <a:t>None</a:t>
                      </a:r>
                      <a:endParaRPr sz="1800">
                        <a:latin typeface="Calibri"/>
                        <a:cs typeface="Calibri"/>
                      </a:endParaRPr>
                    </a:p>
                  </a:txBody>
                  <a:tcPr marL="0" marR="0" marT="31115" marB="0"/>
                </a:tc>
                <a:extLst>
                  <a:ext uri="{0D108BD9-81ED-4DB2-BD59-A6C34878D82A}">
                    <a16:rowId xmlns:a16="http://schemas.microsoft.com/office/drawing/2014/main" val="10003"/>
                  </a:ext>
                </a:extLst>
              </a:tr>
              <a:tr h="457200">
                <a:tc>
                  <a:txBody>
                    <a:bodyPr/>
                    <a:lstStyle/>
                    <a:p>
                      <a:pPr marL="91440">
                        <a:lnSpc>
                          <a:spcPct val="100000"/>
                        </a:lnSpc>
                        <a:spcBef>
                          <a:spcPts val="245"/>
                        </a:spcBef>
                      </a:pPr>
                      <a:r>
                        <a:rPr sz="1800" spc="-10" dirty="0"/>
                        <a:t>Multiple</a:t>
                      </a:r>
                      <a:endParaRPr sz="1800">
                        <a:latin typeface="Calibri"/>
                        <a:cs typeface="Calibri"/>
                      </a:endParaRPr>
                    </a:p>
                  </a:txBody>
                  <a:tcPr marL="0" marR="0" marT="31115" marB="0"/>
                </a:tc>
                <a:tc>
                  <a:txBody>
                    <a:bodyPr/>
                    <a:lstStyle/>
                    <a:p>
                      <a:pPr marL="91440">
                        <a:lnSpc>
                          <a:spcPct val="100000"/>
                        </a:lnSpc>
                        <a:spcBef>
                          <a:spcPts val="245"/>
                        </a:spcBef>
                      </a:pPr>
                      <a:r>
                        <a:rPr sz="1800" spc="-10" dirty="0"/>
                        <a:t>Multiple</a:t>
                      </a:r>
                      <a:endParaRPr sz="1800">
                        <a:latin typeface="Calibri"/>
                        <a:cs typeface="Calibri"/>
                      </a:endParaRPr>
                    </a:p>
                  </a:txBody>
                  <a:tcPr marL="0" marR="0" marT="31115" marB="0"/>
                </a:tc>
                <a:tc>
                  <a:txBody>
                    <a:bodyPr/>
                    <a:lstStyle/>
                    <a:p>
                      <a:pPr marL="92075">
                        <a:lnSpc>
                          <a:spcPct val="100000"/>
                        </a:lnSpc>
                        <a:spcBef>
                          <a:spcPts val="245"/>
                        </a:spcBef>
                      </a:pPr>
                      <a:r>
                        <a:rPr sz="1800" spc="-20" dirty="0"/>
                        <a:t>MIMD</a:t>
                      </a:r>
                      <a:endParaRPr sz="1800">
                        <a:latin typeface="Calibri"/>
                        <a:cs typeface="Calibri"/>
                      </a:endParaRPr>
                    </a:p>
                  </a:txBody>
                  <a:tcPr marL="0" marR="0" marT="31115" marB="0"/>
                </a:tc>
                <a:tc>
                  <a:txBody>
                    <a:bodyPr/>
                    <a:lstStyle/>
                    <a:p>
                      <a:pPr marL="92075">
                        <a:lnSpc>
                          <a:spcPct val="100000"/>
                        </a:lnSpc>
                        <a:spcBef>
                          <a:spcPts val="245"/>
                        </a:spcBef>
                      </a:pPr>
                      <a:r>
                        <a:rPr sz="1800" spc="-20" dirty="0"/>
                        <a:t>Multiprocessor,</a:t>
                      </a:r>
                      <a:r>
                        <a:rPr sz="1800" dirty="0"/>
                        <a:t> </a:t>
                      </a:r>
                      <a:r>
                        <a:rPr sz="1800" spc="-10" dirty="0"/>
                        <a:t>Multicomputer</a:t>
                      </a:r>
                      <a:endParaRPr sz="1800" dirty="0">
                        <a:latin typeface="Calibri"/>
                        <a:cs typeface="Calibri"/>
                      </a:endParaRPr>
                    </a:p>
                  </a:txBody>
                  <a:tcPr marL="0" marR="0" marT="31115"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30380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501172"/>
            <a:ext cx="10972800" cy="689932"/>
          </a:xfrm>
          <a:prstGeom prst="rect">
            <a:avLst/>
          </a:prstGeom>
        </p:spPr>
        <p:txBody>
          <a:bodyPr vert="horz" wrap="square" lIns="0" tIns="12700" rIns="0" bIns="0" rtlCol="0">
            <a:spAutoFit/>
          </a:bodyPr>
          <a:lstStyle/>
          <a:p>
            <a:pPr marL="3029585" marR="5080" indent="-2981325">
              <a:lnSpc>
                <a:spcPct val="100000"/>
              </a:lnSpc>
              <a:spcBef>
                <a:spcPts val="100"/>
              </a:spcBef>
            </a:pPr>
            <a:r>
              <a:rPr dirty="0"/>
              <a:t>SISD(Single</a:t>
            </a:r>
            <a:r>
              <a:rPr spc="-30" dirty="0"/>
              <a:t> </a:t>
            </a:r>
            <a:r>
              <a:rPr dirty="0"/>
              <a:t>Instruction</a:t>
            </a:r>
            <a:r>
              <a:rPr spc="-35" dirty="0"/>
              <a:t> </a:t>
            </a:r>
            <a:r>
              <a:rPr spc="-10" dirty="0"/>
              <a:t>Single Data)</a:t>
            </a:r>
          </a:p>
        </p:txBody>
      </p:sp>
      <p:sp>
        <p:nvSpPr>
          <p:cNvPr id="3" name="object 3"/>
          <p:cNvSpPr txBox="1"/>
          <p:nvPr/>
        </p:nvSpPr>
        <p:spPr>
          <a:xfrm>
            <a:off x="760885" y="1862826"/>
            <a:ext cx="10424160" cy="1002030"/>
          </a:xfrm>
          <a:prstGeom prst="rect">
            <a:avLst/>
          </a:prstGeom>
        </p:spPr>
        <p:txBody>
          <a:bodyPr vert="horz" wrap="square" lIns="0" tIns="13335" rIns="0" bIns="0" rtlCol="0">
            <a:spAutoFit/>
          </a:bodyPr>
          <a:lstStyle/>
          <a:p>
            <a:pPr marL="355600" marR="5080" indent="-342900">
              <a:spcBef>
                <a:spcPts val="105"/>
              </a:spcBef>
              <a:buFont typeface="Wingdings"/>
              <a:buChar char=""/>
              <a:tabLst>
                <a:tab pos="355600" algn="l"/>
              </a:tabLst>
            </a:pPr>
            <a:r>
              <a:rPr sz="3200" kern="0" dirty="0">
                <a:solidFill>
                  <a:sysClr val="windowText" lastClr="000000"/>
                </a:solidFill>
                <a:latin typeface="Times New Roman"/>
                <a:cs typeface="Times New Roman"/>
              </a:rPr>
              <a:t>A</a:t>
            </a:r>
            <a:r>
              <a:rPr sz="3200" kern="0" spc="-19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processor</a:t>
            </a:r>
            <a:r>
              <a:rPr sz="3200" kern="0" spc="-4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that</a:t>
            </a:r>
            <a:r>
              <a:rPr sz="3200" kern="0" spc="-1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can</a:t>
            </a:r>
            <a:r>
              <a:rPr sz="3200" kern="0" spc="-2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only</a:t>
            </a:r>
            <a:r>
              <a:rPr sz="3200" kern="0" spc="-3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do</a:t>
            </a:r>
            <a:r>
              <a:rPr sz="3200" kern="0" spc="-2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one</a:t>
            </a:r>
            <a:r>
              <a:rPr sz="3200" kern="0" spc="-2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job</a:t>
            </a:r>
            <a:r>
              <a:rPr sz="3200" kern="0" spc="-1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at</a:t>
            </a:r>
            <a:r>
              <a:rPr sz="3200" kern="0" spc="-5"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a</a:t>
            </a:r>
            <a:r>
              <a:rPr sz="3200" kern="0" spc="-10" dirty="0">
                <a:solidFill>
                  <a:sysClr val="windowText" lastClr="000000"/>
                </a:solidFill>
                <a:latin typeface="Times New Roman"/>
                <a:cs typeface="Times New Roman"/>
              </a:rPr>
              <a:t> </a:t>
            </a:r>
            <a:r>
              <a:rPr sz="3200" kern="0" spc="-20" dirty="0">
                <a:solidFill>
                  <a:sysClr val="windowText" lastClr="000000"/>
                </a:solidFill>
                <a:latin typeface="Times New Roman"/>
                <a:cs typeface="Times New Roman"/>
              </a:rPr>
              <a:t>time </a:t>
            </a:r>
            <a:r>
              <a:rPr sz="3200" kern="0" dirty="0">
                <a:solidFill>
                  <a:sysClr val="windowText" lastClr="000000"/>
                </a:solidFill>
                <a:latin typeface="Times New Roman"/>
                <a:cs typeface="Times New Roman"/>
              </a:rPr>
              <a:t>from</a:t>
            </a:r>
            <a:r>
              <a:rPr sz="3200" kern="0" spc="-4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start</a:t>
            </a:r>
            <a:r>
              <a:rPr sz="3200" kern="0" spc="-10" dirty="0">
                <a:solidFill>
                  <a:sysClr val="windowText" lastClr="000000"/>
                </a:solidFill>
                <a:latin typeface="Times New Roman"/>
                <a:cs typeface="Times New Roman"/>
              </a:rPr>
              <a:t> </a:t>
            </a:r>
            <a:r>
              <a:rPr sz="3200" kern="0" dirty="0">
                <a:solidFill>
                  <a:sysClr val="windowText" lastClr="000000"/>
                </a:solidFill>
                <a:latin typeface="Times New Roman"/>
                <a:cs typeface="Times New Roman"/>
              </a:rPr>
              <a:t>to </a:t>
            </a:r>
            <a:r>
              <a:rPr sz="3200" kern="0" spc="-10" dirty="0">
                <a:solidFill>
                  <a:sysClr val="windowText" lastClr="000000"/>
                </a:solidFill>
                <a:latin typeface="Times New Roman"/>
                <a:cs typeface="Times New Roman"/>
              </a:rPr>
              <a:t>finish.</a:t>
            </a:r>
            <a:endParaRPr sz="3200" kern="0" dirty="0">
              <a:solidFill>
                <a:sysClr val="windowText" lastClr="000000"/>
              </a:solidFill>
              <a:latin typeface="Times New Roman"/>
              <a:cs typeface="Times New Roman"/>
            </a:endParaRPr>
          </a:p>
        </p:txBody>
      </p:sp>
      <p:pic>
        <p:nvPicPr>
          <p:cNvPr id="4" name="object 4"/>
          <p:cNvPicPr/>
          <p:nvPr/>
        </p:nvPicPr>
        <p:blipFill>
          <a:blip r:embed="rId2" cstate="print"/>
          <a:stretch>
            <a:fillRect/>
          </a:stretch>
        </p:blipFill>
        <p:spPr>
          <a:xfrm>
            <a:off x="2943634" y="2621787"/>
            <a:ext cx="5123919" cy="3084532"/>
          </a:xfrm>
          <a:prstGeom prst="rect">
            <a:avLst/>
          </a:prstGeom>
        </p:spPr>
      </p:pic>
    </p:spTree>
    <p:extLst>
      <p:ext uri="{BB962C8B-B14F-4D97-AF65-F5344CB8AC3E}">
        <p14:creationId xmlns:p14="http://schemas.microsoft.com/office/powerpoint/2010/main" val="334532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49750"/>
            <a:ext cx="10972800" cy="792780"/>
          </a:xfrm>
          <a:prstGeom prst="rect">
            <a:avLst/>
          </a:prstGeom>
        </p:spPr>
        <p:txBody>
          <a:bodyPr vert="horz" wrap="square" lIns="0" tIns="112013" rIns="0" bIns="0" rtlCol="0">
            <a:spAutoFit/>
          </a:bodyPr>
          <a:lstStyle/>
          <a:p>
            <a:pPr marL="1951989" marR="5080" indent="-1213485">
              <a:lnSpc>
                <a:spcPts val="5260"/>
              </a:lnSpc>
              <a:spcBef>
                <a:spcPts val="220"/>
              </a:spcBef>
            </a:pPr>
            <a:r>
              <a:rPr dirty="0"/>
              <a:t>SIMD(Single</a:t>
            </a:r>
            <a:r>
              <a:rPr spc="-35" dirty="0"/>
              <a:t> </a:t>
            </a:r>
            <a:r>
              <a:rPr spc="-10" dirty="0"/>
              <a:t>Instruction </a:t>
            </a:r>
            <a:r>
              <a:rPr dirty="0"/>
              <a:t>Multiple</a:t>
            </a:r>
            <a:r>
              <a:rPr spc="-35" dirty="0"/>
              <a:t> </a:t>
            </a:r>
            <a:r>
              <a:rPr spc="-10" dirty="0"/>
              <a:t>Data</a:t>
            </a:r>
            <a:r>
              <a:rPr sz="4000" b="0" spc="-10" dirty="0">
                <a:latin typeface="Calibri"/>
                <a:cs typeface="Calibri"/>
              </a:rPr>
              <a:t>)</a:t>
            </a:r>
            <a:endParaRPr sz="4000">
              <a:latin typeface="Calibri"/>
              <a:cs typeface="Calibri"/>
            </a:endParaRPr>
          </a:p>
        </p:txBody>
      </p:sp>
      <p:sp>
        <p:nvSpPr>
          <p:cNvPr id="3" name="object 3"/>
          <p:cNvSpPr txBox="1"/>
          <p:nvPr/>
        </p:nvSpPr>
        <p:spPr>
          <a:xfrm>
            <a:off x="957656" y="2066841"/>
            <a:ext cx="6036733" cy="2357697"/>
          </a:xfrm>
          <a:prstGeom prst="rect">
            <a:avLst/>
          </a:prstGeom>
        </p:spPr>
        <p:txBody>
          <a:bodyPr vert="horz" wrap="square" lIns="0" tIns="109855" rIns="0" bIns="0" rtlCol="0">
            <a:spAutoFit/>
          </a:bodyPr>
          <a:lstStyle/>
          <a:p>
            <a:pPr marL="354965" indent="-342265">
              <a:spcBef>
                <a:spcPts val="865"/>
              </a:spcBef>
              <a:buFont typeface="Wingdings"/>
              <a:buChar char=""/>
              <a:tabLst>
                <a:tab pos="354965" algn="l"/>
              </a:tabLst>
            </a:pPr>
            <a:r>
              <a:rPr dirty="0"/>
              <a:t>Single CU and multiple PEs</a:t>
            </a:r>
          </a:p>
          <a:p>
            <a:pPr marL="355600" marR="5080" indent="-342900">
              <a:spcBef>
                <a:spcPts val="770"/>
              </a:spcBef>
              <a:buFont typeface="Wingdings"/>
              <a:buChar char=""/>
              <a:tabLst>
                <a:tab pos="355600" algn="l"/>
              </a:tabLst>
            </a:pPr>
            <a:r>
              <a:rPr dirty="0"/>
              <a:t>CU fetches an instruction from memory and after decoding, broadcasts control signals to all PEs.</a:t>
            </a:r>
          </a:p>
          <a:p>
            <a:pPr marL="355600" marR="1594485" indent="-342900">
              <a:spcBef>
                <a:spcPts val="770"/>
              </a:spcBef>
              <a:buFont typeface="Wingdings"/>
              <a:buChar char=""/>
              <a:tabLst>
                <a:tab pos="355600" algn="l"/>
              </a:tabLst>
            </a:pPr>
            <a:r>
              <a:rPr dirty="0"/>
              <a:t>That is, at any given time, all PEs are Synchronously executing the same.</a:t>
            </a:r>
          </a:p>
          <a:p>
            <a:pPr marL="355600" marR="88265" indent="-342900">
              <a:spcBef>
                <a:spcPts val="770"/>
              </a:spcBef>
              <a:buFont typeface="Wingdings"/>
              <a:buChar char=""/>
              <a:tabLst>
                <a:tab pos="355600" algn="l"/>
                <a:tab pos="455930" algn="l"/>
              </a:tabLst>
            </a:pPr>
            <a:r>
              <a:rPr dirty="0"/>
              <a:t>	Instruction but on different sets of data; hence the name SIMD</a:t>
            </a:r>
          </a:p>
        </p:txBody>
      </p:sp>
      <p:pic>
        <p:nvPicPr>
          <p:cNvPr id="4" name="object 3"/>
          <p:cNvPicPr/>
          <p:nvPr/>
        </p:nvPicPr>
        <p:blipFill>
          <a:blip r:embed="rId2" cstate="print"/>
          <a:stretch>
            <a:fillRect/>
          </a:stretch>
        </p:blipFill>
        <p:spPr>
          <a:xfrm>
            <a:off x="6898511" y="1888591"/>
            <a:ext cx="4668649" cy="3458913"/>
          </a:xfrm>
          <a:prstGeom prst="rect">
            <a:avLst/>
          </a:prstGeom>
        </p:spPr>
      </p:pic>
    </p:spTree>
    <p:extLst>
      <p:ext uri="{BB962C8B-B14F-4D97-AF65-F5344CB8AC3E}">
        <p14:creationId xmlns:p14="http://schemas.microsoft.com/office/powerpoint/2010/main" val="2007296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58727"/>
            <a:ext cx="10972800" cy="774826"/>
          </a:xfrm>
          <a:prstGeom prst="rect">
            <a:avLst/>
          </a:prstGeom>
        </p:spPr>
        <p:txBody>
          <a:bodyPr vert="horz" wrap="square" lIns="0" tIns="96773" rIns="0" bIns="0" rtlCol="0">
            <a:spAutoFit/>
          </a:bodyPr>
          <a:lstStyle/>
          <a:p>
            <a:pPr marL="2322830" marR="5080" indent="-1955800">
              <a:lnSpc>
                <a:spcPct val="100000"/>
              </a:lnSpc>
              <a:spcBef>
                <a:spcPts val="100"/>
              </a:spcBef>
            </a:pPr>
            <a:r>
              <a:rPr dirty="0"/>
              <a:t>MISD(Multiple</a:t>
            </a:r>
            <a:r>
              <a:rPr spc="-25" dirty="0"/>
              <a:t> </a:t>
            </a:r>
            <a:r>
              <a:rPr spc="-10" dirty="0"/>
              <a:t>instructions </a:t>
            </a:r>
            <a:r>
              <a:rPr dirty="0"/>
              <a:t>single</a:t>
            </a:r>
            <a:r>
              <a:rPr spc="-5" dirty="0"/>
              <a:t> </a:t>
            </a:r>
            <a:r>
              <a:rPr spc="-10" dirty="0"/>
              <a:t>data)</a:t>
            </a:r>
          </a:p>
        </p:txBody>
      </p:sp>
      <p:sp>
        <p:nvSpPr>
          <p:cNvPr id="3" name="object 3"/>
          <p:cNvSpPr txBox="1"/>
          <p:nvPr/>
        </p:nvSpPr>
        <p:spPr>
          <a:xfrm>
            <a:off x="784039" y="1933183"/>
            <a:ext cx="10145607" cy="290464"/>
          </a:xfrm>
          <a:prstGeom prst="rect">
            <a:avLst/>
          </a:prstGeom>
        </p:spPr>
        <p:txBody>
          <a:bodyPr vert="horz" wrap="square" lIns="0" tIns="13335" rIns="0" bIns="0" rtlCol="0">
            <a:spAutoFit/>
          </a:bodyPr>
          <a:lstStyle/>
          <a:p>
            <a:pPr marL="354965" indent="-342265">
              <a:spcBef>
                <a:spcPts val="105"/>
              </a:spcBef>
              <a:buFont typeface="Wingdings"/>
              <a:buChar char=""/>
              <a:tabLst>
                <a:tab pos="354965" algn="l"/>
              </a:tabLst>
            </a:pPr>
            <a:r>
              <a:rPr dirty="0"/>
              <a:t>A rare type, since data throughput is limited.</a:t>
            </a:r>
          </a:p>
        </p:txBody>
      </p:sp>
      <p:pic>
        <p:nvPicPr>
          <p:cNvPr id="4" name="object 4"/>
          <p:cNvPicPr/>
          <p:nvPr/>
        </p:nvPicPr>
        <p:blipFill>
          <a:blip r:embed="rId2" cstate="print"/>
          <a:stretch>
            <a:fillRect/>
          </a:stretch>
        </p:blipFill>
        <p:spPr>
          <a:xfrm>
            <a:off x="5393755" y="2078415"/>
            <a:ext cx="6014206" cy="3449045"/>
          </a:xfrm>
          <a:prstGeom prst="rect">
            <a:avLst/>
          </a:prstGeom>
        </p:spPr>
      </p:pic>
    </p:spTree>
    <p:extLst>
      <p:ext uri="{BB962C8B-B14F-4D97-AF65-F5344CB8AC3E}">
        <p14:creationId xmlns:p14="http://schemas.microsoft.com/office/powerpoint/2010/main" val="821826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58727"/>
            <a:ext cx="10972800" cy="774826"/>
          </a:xfrm>
          <a:prstGeom prst="rect">
            <a:avLst/>
          </a:prstGeom>
        </p:spPr>
        <p:txBody>
          <a:bodyPr vert="horz" wrap="square" lIns="0" tIns="96773" rIns="0" bIns="0" rtlCol="0">
            <a:spAutoFit/>
          </a:bodyPr>
          <a:lstStyle/>
          <a:p>
            <a:pPr marL="1935480" marR="5080" indent="-1567180">
              <a:lnSpc>
                <a:spcPct val="100000"/>
              </a:lnSpc>
              <a:spcBef>
                <a:spcPts val="100"/>
              </a:spcBef>
            </a:pPr>
            <a:r>
              <a:rPr dirty="0"/>
              <a:t>MIMD(Multiple</a:t>
            </a:r>
            <a:r>
              <a:rPr spc="-40" dirty="0"/>
              <a:t> </a:t>
            </a:r>
            <a:r>
              <a:rPr spc="-10" dirty="0"/>
              <a:t>instruction </a:t>
            </a:r>
            <a:r>
              <a:rPr dirty="0"/>
              <a:t>Multiple</a:t>
            </a:r>
            <a:r>
              <a:rPr spc="-35" dirty="0"/>
              <a:t> </a:t>
            </a:r>
            <a:r>
              <a:rPr spc="-10" dirty="0"/>
              <a:t>Data)</a:t>
            </a:r>
          </a:p>
        </p:txBody>
      </p:sp>
      <p:sp>
        <p:nvSpPr>
          <p:cNvPr id="3" name="object 3"/>
          <p:cNvSpPr txBox="1"/>
          <p:nvPr/>
        </p:nvSpPr>
        <p:spPr>
          <a:xfrm>
            <a:off x="737740" y="1846922"/>
            <a:ext cx="6737772" cy="1803699"/>
          </a:xfrm>
          <a:prstGeom prst="rect">
            <a:avLst/>
          </a:prstGeom>
        </p:spPr>
        <p:txBody>
          <a:bodyPr vert="horz" wrap="square" lIns="0" tIns="109855" rIns="0" bIns="0" rtlCol="0">
            <a:spAutoFit/>
          </a:bodyPr>
          <a:lstStyle/>
          <a:p>
            <a:pPr marL="354965" indent="-342265">
              <a:spcBef>
                <a:spcPts val="865"/>
              </a:spcBef>
              <a:buFont typeface="Wingdings"/>
              <a:buChar char=""/>
              <a:tabLst>
                <a:tab pos="354965" algn="l"/>
              </a:tabLst>
            </a:pPr>
            <a:r>
              <a:rPr dirty="0"/>
              <a:t>A MIMD is a true multiprocessor</a:t>
            </a:r>
          </a:p>
          <a:p>
            <a:pPr marL="355600" marR="381635" indent="-342900">
              <a:spcBef>
                <a:spcPts val="770"/>
              </a:spcBef>
              <a:buFont typeface="Wingdings"/>
              <a:buChar char=""/>
              <a:tabLst>
                <a:tab pos="355600" algn="l"/>
              </a:tabLst>
            </a:pPr>
            <a:r>
              <a:rPr dirty="0"/>
              <a:t>In contrast to SIMD, a MIMD is a </a:t>
            </a:r>
            <a:r>
              <a:rPr lang="en-US" dirty="0"/>
              <a:t>general-purpose</a:t>
            </a:r>
            <a:r>
              <a:rPr dirty="0"/>
              <a:t> machine.</a:t>
            </a:r>
          </a:p>
          <a:p>
            <a:pPr marL="355600" marR="5080" indent="-342900">
              <a:spcBef>
                <a:spcPts val="770"/>
              </a:spcBef>
              <a:buFont typeface="Wingdings"/>
              <a:buChar char=""/>
              <a:tabLst>
                <a:tab pos="355600" algn="l"/>
              </a:tabLst>
            </a:pPr>
            <a:r>
              <a:rPr dirty="0"/>
              <a:t>When all the processor in MIMD are running the same program, we call it Single Program Multiple Data(SPMD) computation.</a:t>
            </a:r>
          </a:p>
          <a:p>
            <a:pPr marL="355600" marR="479425" indent="-342900">
              <a:spcBef>
                <a:spcPts val="770"/>
              </a:spcBef>
              <a:buFont typeface="Wingdings"/>
              <a:buChar char=""/>
              <a:tabLst>
                <a:tab pos="355600" algn="l"/>
              </a:tabLst>
            </a:pPr>
            <a:r>
              <a:rPr dirty="0"/>
              <a:t>The SPMD model is widely used by many parallel platforms.</a:t>
            </a:r>
          </a:p>
        </p:txBody>
      </p:sp>
      <p:pic>
        <p:nvPicPr>
          <p:cNvPr id="4" name="object 3"/>
          <p:cNvPicPr/>
          <p:nvPr/>
        </p:nvPicPr>
        <p:blipFill>
          <a:blip r:embed="rId2" cstate="print"/>
          <a:stretch>
            <a:fillRect/>
          </a:stretch>
        </p:blipFill>
        <p:spPr>
          <a:xfrm>
            <a:off x="7147560" y="3128025"/>
            <a:ext cx="4434840" cy="2271930"/>
          </a:xfrm>
          <a:prstGeom prst="rect">
            <a:avLst/>
          </a:prstGeom>
        </p:spPr>
      </p:pic>
    </p:spTree>
    <p:extLst>
      <p:ext uri="{BB962C8B-B14F-4D97-AF65-F5344CB8AC3E}">
        <p14:creationId xmlns:p14="http://schemas.microsoft.com/office/powerpoint/2010/main" val="1536243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C89C2-0107-C21C-0E0C-631C3F1B597C}"/>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Concepts of parallel programs communication:</a:t>
            </a:r>
          </a:p>
        </p:txBody>
      </p:sp>
      <p:sp>
        <p:nvSpPr>
          <p:cNvPr id="3" name="Content Placeholder 2">
            <a:extLst>
              <a:ext uri="{FF2B5EF4-FFF2-40B4-BE49-F238E27FC236}">
                <a16:creationId xmlns:a16="http://schemas.microsoft.com/office/drawing/2014/main" id="{C91942FE-5D6D-1389-B25B-1FA3B9AE43F7}"/>
              </a:ext>
            </a:extLst>
          </p:cNvPr>
          <p:cNvSpPr>
            <a:spLocks noGrp="1"/>
          </p:cNvSpPr>
          <p:nvPr>
            <p:ph idx="1"/>
          </p:nvPr>
        </p:nvSpPr>
        <p:spPr>
          <a:xfrm>
            <a:off x="1451579" y="2015732"/>
            <a:ext cx="10296725" cy="3864207"/>
          </a:xfrm>
        </p:spPr>
        <p:txBody>
          <a:bodyPr>
            <a:noAutofit/>
          </a:bodyPr>
          <a:lstStyle/>
          <a:p>
            <a:pPr marL="0" indent="0">
              <a:spcBef>
                <a:spcPts val="100"/>
              </a:spcBef>
              <a:buNone/>
            </a:pPr>
            <a:r>
              <a:rPr lang="en-US" sz="1400" dirty="0"/>
              <a:t>Most parallel applications require tasks to share data with each other.</a:t>
            </a:r>
          </a:p>
          <a:p>
            <a:pPr marR="276225" lvl="1"/>
            <a:r>
              <a:rPr lang="en-US" sz="1200" dirty="0"/>
              <a:t>Cost of communication: Computational resources are used to package and transmit data.  Requires frequently synchronization – some tasks will wait instead of doing work. Could  saturate network bandwidth.</a:t>
            </a:r>
          </a:p>
          <a:p>
            <a:pPr marR="13970" lvl="1" algn="just"/>
            <a:r>
              <a:rPr lang="en-US" sz="1200" dirty="0"/>
              <a:t>Latency vs. Bandwidth: Latency is the time it takes to send a minimal message between two  tasks. Bandwidth is the amount of data that can be communicated per unit of time. Sending  many small messages can cause latency to dominate communication overhead.</a:t>
            </a:r>
          </a:p>
          <a:p>
            <a:pPr marR="79375" lvl="1" algn="just">
              <a:spcBef>
                <a:spcPts val="5"/>
              </a:spcBef>
            </a:pPr>
            <a:r>
              <a:rPr lang="en-US" sz="1200" dirty="0"/>
              <a:t>Synchronous vs. Asynchronous communication: Synchronous communication is referred to  as blocking communication – other work stops until the communication is completed.</a:t>
            </a:r>
          </a:p>
          <a:p>
            <a:pPr marR="149225" lvl="1"/>
            <a:r>
              <a:rPr lang="en-US" sz="1200" dirty="0"/>
              <a:t>Asynchronous communication is referred to as nonblocking since other work can be done  while communication is taking place.</a:t>
            </a:r>
          </a:p>
          <a:p>
            <a:pPr lvl="1" algn="just"/>
            <a:r>
              <a:rPr lang="en-US" sz="1200" dirty="0"/>
              <a:t>Scope of communication: Point to point communication – data transmission between tasks.</a:t>
            </a:r>
          </a:p>
          <a:p>
            <a:pPr lvl="1" algn="just"/>
            <a:r>
              <a:rPr lang="en-US" sz="1200" dirty="0"/>
              <a:t>Collective communication – involves all tasks (in a communication group)</a:t>
            </a:r>
          </a:p>
          <a:p>
            <a:pPr marL="0" indent="0" algn="just">
              <a:buNone/>
            </a:pPr>
            <a:r>
              <a:rPr lang="en-US" sz="1400" dirty="0"/>
              <a:t>This is only partial list of things to consider!</a:t>
            </a:r>
          </a:p>
        </p:txBody>
      </p:sp>
    </p:spTree>
    <p:extLst>
      <p:ext uri="{BB962C8B-B14F-4D97-AF65-F5344CB8AC3E}">
        <p14:creationId xmlns:p14="http://schemas.microsoft.com/office/powerpoint/2010/main" val="1811943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Comparison</a:t>
            </a:r>
            <a:endParaRPr lang="en-US"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44372531"/>
              </p:ext>
            </p:extLst>
          </p:nvPr>
        </p:nvGraphicFramePr>
        <p:xfrm>
          <a:off x="609600" y="1473200"/>
          <a:ext cx="10972800" cy="4114800"/>
        </p:xfrm>
        <a:graphic>
          <a:graphicData uri="http://schemas.openxmlformats.org/drawingml/2006/table">
            <a:tbl>
              <a:tblPr firstRow="1" bandRow="1">
                <a:tableStyleId>{5940675A-B579-460E-94D1-54222C63F5DA}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endParaRPr lang="en-US" dirty="0"/>
                    </a:p>
                  </a:txBody>
                  <a:tcPr/>
                </a:tc>
                <a:tc>
                  <a:txBody>
                    <a:bodyPr/>
                    <a:lstStyle/>
                    <a:p>
                      <a:r>
                        <a:rPr lang="en-US" dirty="0"/>
                        <a:t>Parallel Computing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Distributed Computing</a:t>
                      </a:r>
                    </a:p>
                  </a:txBody>
                  <a:tcPr/>
                </a:tc>
                <a:extLst>
                  <a:ext uri="{0D108BD9-81ED-4DB2-BD59-A6C34878D82A}">
                    <a16:rowId xmlns:a16="http://schemas.microsoft.com/office/drawing/2014/main" val="10000"/>
                  </a:ext>
                </a:extLst>
              </a:tr>
              <a:tr h="370840">
                <a:tc>
                  <a:txBody>
                    <a:bodyPr/>
                    <a:lstStyle/>
                    <a:p>
                      <a:r>
                        <a:rPr kumimoji="0" lang="en-US" b="0" kern="1200" dirty="0">
                          <a:solidFill>
                            <a:schemeClr val="dk1"/>
                          </a:solidFill>
                          <a:effectLst/>
                        </a:rPr>
                        <a:t>Memory Architecture</a:t>
                      </a:r>
                    </a:p>
                    <a:p>
                      <a:endParaRPr lang="en-US" dirty="0"/>
                    </a:p>
                  </a:txBody>
                  <a:tcPr/>
                </a:tc>
                <a:tc>
                  <a:txBody>
                    <a:bodyPr/>
                    <a:lstStyle/>
                    <a:p>
                      <a:r>
                        <a:rPr kumimoji="0" lang="en-US" b="0" kern="1200" dirty="0">
                          <a:solidFill>
                            <a:schemeClr val="dk1"/>
                          </a:solidFill>
                          <a:effectLst/>
                        </a:rPr>
                        <a:t>Shared memory architecture</a:t>
                      </a:r>
                      <a:endParaRPr lang="en-US" dirty="0"/>
                    </a:p>
                  </a:txBody>
                  <a:tcPr/>
                </a:tc>
                <a:tc>
                  <a:txBody>
                    <a:bodyPr/>
                    <a:lstStyle/>
                    <a:p>
                      <a:r>
                        <a:rPr kumimoji="0" lang="en-US" b="0" kern="1200" dirty="0">
                          <a:solidFill>
                            <a:schemeClr val="dk1"/>
                          </a:solidFill>
                          <a:effectLst/>
                        </a:rPr>
                        <a:t>Each node has its own memory</a:t>
                      </a:r>
                      <a:endParaRPr lang="en-US" dirty="0"/>
                    </a:p>
                  </a:txBody>
                  <a:tcPr/>
                </a:tc>
                <a:extLst>
                  <a:ext uri="{0D108BD9-81ED-4DB2-BD59-A6C34878D82A}">
                    <a16:rowId xmlns:a16="http://schemas.microsoft.com/office/drawing/2014/main" val="10001"/>
                  </a:ext>
                </a:extLst>
              </a:tr>
              <a:tr h="370840">
                <a:tc>
                  <a:txBody>
                    <a:bodyPr/>
                    <a:lstStyle/>
                    <a:p>
                      <a:r>
                        <a:rPr kumimoji="0" lang="en-US" b="0" kern="1200" dirty="0">
                          <a:solidFill>
                            <a:schemeClr val="dk1"/>
                          </a:solidFill>
                          <a:effectLst/>
                        </a:rPr>
                        <a:t>Communication</a:t>
                      </a:r>
                    </a:p>
                    <a:p>
                      <a:endParaRPr lang="en-US" dirty="0"/>
                    </a:p>
                  </a:txBody>
                  <a:tcPr/>
                </a:tc>
                <a:tc>
                  <a:txBody>
                    <a:bodyPr/>
                    <a:lstStyle/>
                    <a:p>
                      <a:r>
                        <a:rPr kumimoji="0" lang="en-US" b="0" kern="1200" dirty="0">
                          <a:solidFill>
                            <a:schemeClr val="dk1"/>
                          </a:solidFill>
                          <a:effectLst/>
                        </a:rPr>
                        <a:t>High bandwidth, low latency within processors</a:t>
                      </a:r>
                      <a:endParaRPr lang="en-US" dirty="0"/>
                    </a:p>
                  </a:txBody>
                  <a:tcPr/>
                </a:tc>
                <a:tc>
                  <a:txBody>
                    <a:bodyPr/>
                    <a:lstStyle/>
                    <a:p>
                      <a:r>
                        <a:rPr kumimoji="0" lang="en-US" b="0" kern="1200" dirty="0">
                          <a:solidFill>
                            <a:schemeClr val="dk1"/>
                          </a:solidFill>
                          <a:effectLst/>
                        </a:rPr>
                        <a:t>Relies on message passing over a network</a:t>
                      </a:r>
                      <a:endParaRPr lang="en-US" dirty="0"/>
                    </a:p>
                  </a:txBody>
                  <a:tcPr/>
                </a:tc>
                <a:extLst>
                  <a:ext uri="{0D108BD9-81ED-4DB2-BD59-A6C34878D82A}">
                    <a16:rowId xmlns:a16="http://schemas.microsoft.com/office/drawing/2014/main" val="10002"/>
                  </a:ext>
                </a:extLst>
              </a:tr>
              <a:tr h="370840">
                <a:tc>
                  <a:txBody>
                    <a:bodyPr/>
                    <a:lstStyle/>
                    <a:p>
                      <a:r>
                        <a:rPr kumimoji="0" lang="en-US" b="0" kern="1200" dirty="0">
                          <a:solidFill>
                            <a:schemeClr val="dk1"/>
                          </a:solidFill>
                          <a:effectLst/>
                        </a:rPr>
                        <a:t>Task Focus</a:t>
                      </a:r>
                    </a:p>
                    <a:p>
                      <a:endParaRPr lang="en-US" dirty="0"/>
                    </a:p>
                  </a:txBody>
                  <a:tcPr/>
                </a:tc>
                <a:tc>
                  <a:txBody>
                    <a:bodyPr/>
                    <a:lstStyle/>
                    <a:p>
                      <a:r>
                        <a:rPr kumimoji="0" lang="en-US" b="0" kern="1200" dirty="0">
                          <a:solidFill>
                            <a:schemeClr val="dk1"/>
                          </a:solidFill>
                          <a:effectLst/>
                        </a:rPr>
                        <a:t>Solves a single complex problem by dividing it into smaller tasks</a:t>
                      </a:r>
                      <a:endParaRPr lang="en-US" dirty="0"/>
                    </a:p>
                  </a:txBody>
                  <a:tcPr/>
                </a:tc>
                <a:tc>
                  <a:txBody>
                    <a:bodyPr/>
                    <a:lstStyle/>
                    <a:p>
                      <a:r>
                        <a:rPr kumimoji="0" lang="en-US" b="0" kern="1200" dirty="0">
                          <a:solidFill>
                            <a:schemeClr val="dk1"/>
                          </a:solidFill>
                          <a:effectLst/>
                        </a:rPr>
                        <a:t>Handles multiple tasks simultaneously, often involving large datasets</a:t>
                      </a:r>
                      <a:endParaRPr lang="en-US" dirty="0"/>
                    </a:p>
                  </a:txBody>
                  <a:tcPr/>
                </a:tc>
                <a:extLst>
                  <a:ext uri="{0D108BD9-81ED-4DB2-BD59-A6C34878D82A}">
                    <a16:rowId xmlns:a16="http://schemas.microsoft.com/office/drawing/2014/main" val="10003"/>
                  </a:ext>
                </a:extLst>
              </a:tr>
              <a:tr h="370840">
                <a:tc>
                  <a:txBody>
                    <a:bodyPr/>
                    <a:lstStyle/>
                    <a:p>
                      <a:r>
                        <a:rPr kumimoji="0" lang="en-US" b="0" kern="1200" dirty="0">
                          <a:solidFill>
                            <a:schemeClr val="dk1"/>
                          </a:solidFill>
                          <a:effectLst/>
                        </a:rPr>
                        <a:t>Scalability</a:t>
                      </a:r>
                    </a:p>
                    <a:p>
                      <a:endParaRPr lang="en-US" dirty="0"/>
                    </a:p>
                  </a:txBody>
                  <a:tcPr/>
                </a:tc>
                <a:tc>
                  <a:txBody>
                    <a:bodyPr/>
                    <a:lstStyle/>
                    <a:p>
                      <a:r>
                        <a:rPr kumimoji="0" lang="en-US" b="0" kern="1200" dirty="0">
                          <a:solidFill>
                            <a:schemeClr val="dk1"/>
                          </a:solidFill>
                          <a:effectLst/>
                        </a:rPr>
                        <a:t>Limited by the number of processors and shared memory capacity</a:t>
                      </a:r>
                      <a:endParaRPr lang="en-US" dirty="0"/>
                    </a:p>
                  </a:txBody>
                  <a:tcPr/>
                </a:tc>
                <a:tc>
                  <a:txBody>
                    <a:bodyPr/>
                    <a:lstStyle/>
                    <a:p>
                      <a:r>
                        <a:rPr kumimoji="0" lang="en-US" b="0" kern="1200" dirty="0">
                          <a:solidFill>
                            <a:schemeClr val="dk1"/>
                          </a:solidFill>
                          <a:effectLst/>
                        </a:rPr>
                        <a:t>Scales horizontally by adding more machines to the network</a:t>
                      </a:r>
                      <a:endParaRPr lang="en-US" dirty="0"/>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b="0" kern="1200" dirty="0">
                          <a:solidFill>
                            <a:schemeClr val="dk1"/>
                          </a:solidFill>
                          <a:effectLst/>
                        </a:rPr>
                        <a:t>Coordination</a:t>
                      </a:r>
                    </a:p>
                    <a:p>
                      <a:endParaRPr lang="en-US" dirty="0"/>
                    </a:p>
                  </a:txBody>
                  <a:tcPr/>
                </a:tc>
                <a:tc>
                  <a:txBody>
                    <a:bodyPr/>
                    <a:lstStyle/>
                    <a:p>
                      <a:r>
                        <a:rPr kumimoji="0" lang="en-US" b="0" kern="1200" dirty="0">
                          <a:solidFill>
                            <a:schemeClr val="dk1"/>
                          </a:solidFill>
                          <a:effectLst/>
                        </a:rPr>
                        <a:t>Requires synchronization for coordination</a:t>
                      </a:r>
                      <a:endParaRPr lang="en-US" dirty="0"/>
                    </a:p>
                  </a:txBody>
                  <a:tcPr/>
                </a:tc>
                <a:tc>
                  <a:txBody>
                    <a:bodyPr/>
                    <a:lstStyle/>
                    <a:p>
                      <a:r>
                        <a:rPr kumimoji="0" lang="en-US" b="0" kern="1200" dirty="0">
                          <a:solidFill>
                            <a:schemeClr val="dk1"/>
                          </a:solidFill>
                          <a:effectLst/>
                        </a:rPr>
                        <a:t>Each node operates independently, coordination is through message passing</a:t>
                      </a: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23939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679E7-4E61-AE38-7277-2D4CBA6EF1AA}"/>
              </a:ext>
            </a:extLst>
          </p:cNvPr>
          <p:cNvSpPr>
            <a:spLocks noGrp="1"/>
          </p:cNvSpPr>
          <p:nvPr>
            <p:ph type="title"/>
          </p:nvPr>
        </p:nvSpPr>
        <p:spPr/>
        <p:txBody>
          <a:bodyPr>
            <a:normAutofit fontScale="90000"/>
          </a:bodyPr>
          <a:lstStyle/>
          <a:p>
            <a:pPr fontAlgn="base"/>
            <a:r>
              <a:rPr lang="en-US" b="1" i="0" dirty="0">
                <a:solidFill>
                  <a:srgbClr val="273239"/>
                </a:solidFill>
                <a:effectLst/>
                <a:latin typeface="Times New Roman" panose="02020603050405020304" pitchFamily="18" charset="0"/>
                <a:cs typeface="Times New Roman" panose="02020603050405020304" pitchFamily="18" charset="0"/>
              </a:rPr>
              <a:t>Difference between Parallel Computing and Distributed Computing:</a:t>
            </a:r>
          </a:p>
        </p:txBody>
      </p:sp>
      <p:graphicFrame>
        <p:nvGraphicFramePr>
          <p:cNvPr id="4" name="Content Placeholder 3">
            <a:extLst>
              <a:ext uri="{FF2B5EF4-FFF2-40B4-BE49-F238E27FC236}">
                <a16:creationId xmlns:a16="http://schemas.microsoft.com/office/drawing/2014/main" id="{A6082150-23E4-2B88-E60E-40C55ED98582}"/>
              </a:ext>
            </a:extLst>
          </p:cNvPr>
          <p:cNvGraphicFramePr>
            <a:graphicFrameLocks noGrp="1"/>
          </p:cNvGraphicFramePr>
          <p:nvPr>
            <p:ph idx="1"/>
            <p:extLst>
              <p:ext uri="{D42A27DB-BD31-4B8C-83A1-F6EECF244321}">
                <p14:modId xmlns:p14="http://schemas.microsoft.com/office/powerpoint/2010/main" val="1994913089"/>
              </p:ext>
            </p:extLst>
          </p:nvPr>
        </p:nvGraphicFramePr>
        <p:xfrm>
          <a:off x="609600" y="1979270"/>
          <a:ext cx="10216587" cy="4058203"/>
        </p:xfrm>
        <a:graphic>
          <a:graphicData uri="http://schemas.openxmlformats.org/drawingml/2006/table">
            <a:tbl>
              <a:tblPr>
                <a:tableStyleId>{5940675A-B579-460E-94D1-54222C63F5DA}</a:tableStyleId>
              </a:tblPr>
              <a:tblGrid>
                <a:gridCol w="4992547">
                  <a:extLst>
                    <a:ext uri="{9D8B030D-6E8A-4147-A177-3AD203B41FA5}">
                      <a16:colId xmlns:a16="http://schemas.microsoft.com/office/drawing/2014/main" val="2898689216"/>
                    </a:ext>
                  </a:extLst>
                </a:gridCol>
                <a:gridCol w="5224040">
                  <a:extLst>
                    <a:ext uri="{9D8B030D-6E8A-4147-A177-3AD203B41FA5}">
                      <a16:colId xmlns:a16="http://schemas.microsoft.com/office/drawing/2014/main" val="1464612891"/>
                    </a:ext>
                  </a:extLst>
                </a:gridCol>
              </a:tblGrid>
              <a:tr h="542435">
                <a:tc>
                  <a:txBody>
                    <a:bodyPr/>
                    <a:lstStyle/>
                    <a:p>
                      <a:pPr algn="just" fontAlgn="base"/>
                      <a:r>
                        <a:rPr lang="en-US" sz="1800" b="1">
                          <a:effectLst/>
                        </a:rPr>
                        <a:t>Parallel Computing</a:t>
                      </a:r>
                    </a:p>
                  </a:txBody>
                  <a:tcPr marL="63500" marR="63500" marT="63500" marB="63500" anchor="ctr"/>
                </a:tc>
                <a:tc>
                  <a:txBody>
                    <a:bodyPr/>
                    <a:lstStyle/>
                    <a:p>
                      <a:pPr algn="just" fontAlgn="base"/>
                      <a:r>
                        <a:rPr lang="en-US" sz="1800" b="1">
                          <a:effectLst/>
                        </a:rPr>
                        <a:t>Distributed Computing</a:t>
                      </a:r>
                    </a:p>
                  </a:txBody>
                  <a:tcPr marL="63500" marR="63500" marT="63500" marB="63500" anchor="ctr"/>
                </a:tc>
                <a:extLst>
                  <a:ext uri="{0D108BD9-81ED-4DB2-BD59-A6C34878D82A}">
                    <a16:rowId xmlns:a16="http://schemas.microsoft.com/office/drawing/2014/main" val="3477466018"/>
                  </a:ext>
                </a:extLst>
              </a:tr>
              <a:tr h="546202">
                <a:tc>
                  <a:txBody>
                    <a:bodyPr/>
                    <a:lstStyle/>
                    <a:p>
                      <a:pPr algn="just" fontAlgn="ctr"/>
                      <a:r>
                        <a:rPr lang="en-US" sz="1600" b="0">
                          <a:effectLst/>
                        </a:rPr>
                        <a:t>Many operations are performed simultaneously</a:t>
                      </a:r>
                    </a:p>
                  </a:txBody>
                  <a:tcPr marL="63500" marR="63500" marT="88900" marB="88900" anchor="ctr"/>
                </a:tc>
                <a:tc>
                  <a:txBody>
                    <a:bodyPr/>
                    <a:lstStyle/>
                    <a:p>
                      <a:pPr algn="just" fontAlgn="ctr"/>
                      <a:r>
                        <a:rPr lang="en-US" sz="1600" b="0">
                          <a:effectLst/>
                        </a:rPr>
                        <a:t>System components are located at different locations</a:t>
                      </a:r>
                    </a:p>
                  </a:txBody>
                  <a:tcPr marL="63500" marR="63500" marT="88900" marB="88900" anchor="ctr"/>
                </a:tc>
                <a:extLst>
                  <a:ext uri="{0D108BD9-81ED-4DB2-BD59-A6C34878D82A}">
                    <a16:rowId xmlns:a16="http://schemas.microsoft.com/office/drawing/2014/main" val="2725603152"/>
                  </a:ext>
                </a:extLst>
              </a:tr>
              <a:tr h="546202">
                <a:tc>
                  <a:txBody>
                    <a:bodyPr/>
                    <a:lstStyle/>
                    <a:p>
                      <a:pPr algn="just" fontAlgn="ctr"/>
                      <a:r>
                        <a:rPr lang="en-US" sz="1600" b="0">
                          <a:effectLst/>
                        </a:rPr>
                        <a:t>Single computer is required</a:t>
                      </a:r>
                    </a:p>
                  </a:txBody>
                  <a:tcPr marL="63500" marR="63500" marT="88900" marB="88900" anchor="ctr"/>
                </a:tc>
                <a:tc>
                  <a:txBody>
                    <a:bodyPr/>
                    <a:lstStyle/>
                    <a:p>
                      <a:pPr algn="just" fontAlgn="ctr"/>
                      <a:r>
                        <a:rPr lang="en-US" sz="1600" b="0">
                          <a:effectLst/>
                        </a:rPr>
                        <a:t>Uses multiple computers</a:t>
                      </a:r>
                    </a:p>
                  </a:txBody>
                  <a:tcPr marL="63500" marR="63500" marT="88900" marB="88900" anchor="ctr"/>
                </a:tc>
                <a:extLst>
                  <a:ext uri="{0D108BD9-81ED-4DB2-BD59-A6C34878D82A}">
                    <a16:rowId xmlns:a16="http://schemas.microsoft.com/office/drawing/2014/main" val="3286577073"/>
                  </a:ext>
                </a:extLst>
              </a:tr>
              <a:tr h="546202">
                <a:tc>
                  <a:txBody>
                    <a:bodyPr/>
                    <a:lstStyle/>
                    <a:p>
                      <a:pPr algn="just" fontAlgn="ctr"/>
                      <a:r>
                        <a:rPr lang="en-US" sz="1600" b="0">
                          <a:effectLst/>
                        </a:rPr>
                        <a:t>Multiple processors perform multiple operations</a:t>
                      </a:r>
                    </a:p>
                  </a:txBody>
                  <a:tcPr marL="63500" marR="63500" marT="88900" marB="88900" anchor="ctr"/>
                </a:tc>
                <a:tc>
                  <a:txBody>
                    <a:bodyPr/>
                    <a:lstStyle/>
                    <a:p>
                      <a:pPr algn="just" fontAlgn="ctr"/>
                      <a:r>
                        <a:rPr lang="en-US" sz="1600" b="0">
                          <a:effectLst/>
                        </a:rPr>
                        <a:t>Multiple computers perform multiple operations</a:t>
                      </a:r>
                    </a:p>
                  </a:txBody>
                  <a:tcPr marL="63500" marR="63500" marT="88900" marB="88900" anchor="ctr"/>
                </a:tc>
                <a:extLst>
                  <a:ext uri="{0D108BD9-81ED-4DB2-BD59-A6C34878D82A}">
                    <a16:rowId xmlns:a16="http://schemas.microsoft.com/office/drawing/2014/main" val="1490797576"/>
                  </a:ext>
                </a:extLst>
              </a:tr>
              <a:tr h="546202">
                <a:tc>
                  <a:txBody>
                    <a:bodyPr/>
                    <a:lstStyle/>
                    <a:p>
                      <a:pPr algn="just" fontAlgn="ctr"/>
                      <a:r>
                        <a:rPr lang="en-US" sz="1600" b="0">
                          <a:effectLst/>
                        </a:rPr>
                        <a:t>It may have shared or distributed memory</a:t>
                      </a:r>
                    </a:p>
                  </a:txBody>
                  <a:tcPr marL="63500" marR="63500" marT="88900" marB="88900" anchor="ctr"/>
                </a:tc>
                <a:tc>
                  <a:txBody>
                    <a:bodyPr/>
                    <a:lstStyle/>
                    <a:p>
                      <a:pPr algn="just" fontAlgn="ctr"/>
                      <a:r>
                        <a:rPr lang="en-US" sz="1600" b="0">
                          <a:effectLst/>
                        </a:rPr>
                        <a:t>It have only distributed memory</a:t>
                      </a:r>
                    </a:p>
                  </a:txBody>
                  <a:tcPr marL="63500" marR="63500" marT="88900" marB="88900" anchor="ctr"/>
                </a:tc>
                <a:extLst>
                  <a:ext uri="{0D108BD9-81ED-4DB2-BD59-A6C34878D82A}">
                    <a16:rowId xmlns:a16="http://schemas.microsoft.com/office/drawing/2014/main" val="1629372635"/>
                  </a:ext>
                </a:extLst>
              </a:tr>
              <a:tr h="546202">
                <a:tc>
                  <a:txBody>
                    <a:bodyPr/>
                    <a:lstStyle/>
                    <a:p>
                      <a:pPr algn="just" fontAlgn="ctr"/>
                      <a:r>
                        <a:rPr lang="en-US" sz="1600" b="0">
                          <a:effectLst/>
                        </a:rPr>
                        <a:t>Processors communicate with each other through bus</a:t>
                      </a:r>
                    </a:p>
                  </a:txBody>
                  <a:tcPr marL="63500" marR="63500" marT="88900" marB="88900" anchor="ctr"/>
                </a:tc>
                <a:tc>
                  <a:txBody>
                    <a:bodyPr/>
                    <a:lstStyle/>
                    <a:p>
                      <a:pPr algn="just" fontAlgn="ctr"/>
                      <a:r>
                        <a:rPr lang="en-US" sz="1600" b="0">
                          <a:effectLst/>
                        </a:rPr>
                        <a:t>Computer communicate with each other through message passing.</a:t>
                      </a:r>
                    </a:p>
                  </a:txBody>
                  <a:tcPr marL="63500" marR="63500" marT="88900" marB="88900" anchor="ctr"/>
                </a:tc>
                <a:extLst>
                  <a:ext uri="{0D108BD9-81ED-4DB2-BD59-A6C34878D82A}">
                    <a16:rowId xmlns:a16="http://schemas.microsoft.com/office/drawing/2014/main" val="2932852015"/>
                  </a:ext>
                </a:extLst>
              </a:tr>
              <a:tr h="546202">
                <a:tc>
                  <a:txBody>
                    <a:bodyPr/>
                    <a:lstStyle/>
                    <a:p>
                      <a:pPr algn="just" fontAlgn="ctr"/>
                      <a:r>
                        <a:rPr lang="en-US" sz="1600" b="0" dirty="0">
                          <a:effectLst/>
                        </a:rPr>
                        <a:t>Improves the system performance</a:t>
                      </a:r>
                    </a:p>
                  </a:txBody>
                  <a:tcPr marL="63500" marR="63500" marT="88900" marB="88900" anchor="ctr"/>
                </a:tc>
                <a:tc>
                  <a:txBody>
                    <a:bodyPr/>
                    <a:lstStyle/>
                    <a:p>
                      <a:pPr algn="just" fontAlgn="ctr"/>
                      <a:r>
                        <a:rPr lang="en-US" sz="1600" b="0" dirty="0">
                          <a:effectLst/>
                        </a:rPr>
                        <a:t>Improves system scalability, fault tolerance and resource sharing capabilities</a:t>
                      </a:r>
                    </a:p>
                  </a:txBody>
                  <a:tcPr marL="63500" marR="63500" marT="88900" marB="88900" anchor="ctr"/>
                </a:tc>
                <a:extLst>
                  <a:ext uri="{0D108BD9-81ED-4DB2-BD59-A6C34878D82A}">
                    <a16:rowId xmlns:a16="http://schemas.microsoft.com/office/drawing/2014/main" val="3785586665"/>
                  </a:ext>
                </a:extLst>
              </a:tr>
            </a:tbl>
          </a:graphicData>
        </a:graphic>
      </p:graphicFrame>
    </p:spTree>
    <p:extLst>
      <p:ext uri="{BB962C8B-B14F-4D97-AF65-F5344CB8AC3E}">
        <p14:creationId xmlns:p14="http://schemas.microsoft.com/office/powerpoint/2010/main" val="1342608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2987" y="171610"/>
            <a:ext cx="8227060" cy="443070"/>
          </a:xfrm>
          <a:prstGeom prst="rect">
            <a:avLst/>
          </a:prstGeom>
        </p:spPr>
        <p:txBody>
          <a:bodyPr vert="horz" wrap="square" lIns="0" tIns="12065" rIns="0" bIns="0" rtlCol="0">
            <a:spAutoFit/>
          </a:bodyPr>
          <a:lstStyle/>
          <a:p>
            <a:pPr marL="12700">
              <a:lnSpc>
                <a:spcPct val="100000"/>
              </a:lnSpc>
              <a:spcBef>
                <a:spcPts val="95"/>
              </a:spcBef>
            </a:pPr>
            <a:r>
              <a:rPr sz="2800" spc="-20" dirty="0"/>
              <a:t>Parallel</a:t>
            </a:r>
            <a:r>
              <a:rPr sz="2800" spc="25" dirty="0"/>
              <a:t> </a:t>
            </a:r>
            <a:r>
              <a:rPr sz="2800" spc="-15" dirty="0"/>
              <a:t>Computer</a:t>
            </a:r>
            <a:r>
              <a:rPr sz="2800" spc="10" dirty="0"/>
              <a:t> </a:t>
            </a:r>
            <a:r>
              <a:rPr sz="2800" spc="-5" dirty="0"/>
              <a:t>Memory </a:t>
            </a:r>
            <a:r>
              <a:rPr sz="2800" spc="-10" dirty="0"/>
              <a:t>Architectures</a:t>
            </a:r>
            <a:r>
              <a:rPr sz="2800" u="none" spc="-10" dirty="0"/>
              <a:t>:</a:t>
            </a:r>
            <a:endParaRPr sz="2800"/>
          </a:p>
        </p:txBody>
      </p:sp>
      <p:pic>
        <p:nvPicPr>
          <p:cNvPr id="3" name="object 3"/>
          <p:cNvPicPr/>
          <p:nvPr/>
        </p:nvPicPr>
        <p:blipFill>
          <a:blip r:embed="rId2" cstate="print"/>
          <a:stretch>
            <a:fillRect/>
          </a:stretch>
        </p:blipFill>
        <p:spPr>
          <a:xfrm>
            <a:off x="598132" y="1025138"/>
            <a:ext cx="4257965" cy="2231398"/>
          </a:xfrm>
          <a:prstGeom prst="rect">
            <a:avLst/>
          </a:prstGeom>
        </p:spPr>
      </p:pic>
      <p:sp>
        <p:nvSpPr>
          <p:cNvPr id="4" name="object 4"/>
          <p:cNvSpPr txBox="1"/>
          <p:nvPr/>
        </p:nvSpPr>
        <p:spPr>
          <a:xfrm>
            <a:off x="5185833" y="1256919"/>
            <a:ext cx="6309360" cy="1767839"/>
          </a:xfrm>
          <a:prstGeom prst="rect">
            <a:avLst/>
          </a:prstGeom>
        </p:spPr>
        <p:txBody>
          <a:bodyPr vert="horz" wrap="square" lIns="0" tIns="12700" rIns="0" bIns="0" rtlCol="0">
            <a:spAutoFit/>
          </a:bodyPr>
          <a:lstStyle/>
          <a:p>
            <a:pPr marL="12700">
              <a:spcBef>
                <a:spcPts val="100"/>
              </a:spcBef>
            </a:pPr>
            <a:r>
              <a:rPr sz="2400" b="1" spc="-5" dirty="0">
                <a:solidFill>
                  <a:prstClr val="black"/>
                </a:solidFill>
                <a:cs typeface="Calibri"/>
              </a:rPr>
              <a:t>Shared</a:t>
            </a:r>
            <a:r>
              <a:rPr sz="2400" b="1" spc="-45" dirty="0">
                <a:solidFill>
                  <a:prstClr val="black"/>
                </a:solidFill>
                <a:cs typeface="Calibri"/>
              </a:rPr>
              <a:t> </a:t>
            </a:r>
            <a:r>
              <a:rPr sz="2400" b="1" dirty="0">
                <a:solidFill>
                  <a:prstClr val="black"/>
                </a:solidFill>
                <a:cs typeface="Calibri"/>
              </a:rPr>
              <a:t>Memory:</a:t>
            </a:r>
            <a:endParaRPr sz="2400" dirty="0">
              <a:solidFill>
                <a:prstClr val="black"/>
              </a:solidFill>
              <a:cs typeface="Calibri"/>
            </a:endParaRPr>
          </a:p>
          <a:p>
            <a:pPr>
              <a:spcBef>
                <a:spcPts val="55"/>
              </a:spcBef>
            </a:pPr>
            <a:endParaRPr sz="1750" dirty="0">
              <a:solidFill>
                <a:prstClr val="black"/>
              </a:solidFill>
              <a:cs typeface="Calibri"/>
            </a:endParaRPr>
          </a:p>
          <a:p>
            <a:pPr marL="299085" marR="5080" indent="-287020">
              <a:spcBef>
                <a:spcPts val="5"/>
              </a:spcBef>
              <a:buFont typeface="Wingdings"/>
              <a:buChar char=""/>
              <a:tabLst>
                <a:tab pos="299720" algn="l"/>
              </a:tabLst>
            </a:pPr>
            <a:r>
              <a:rPr spc="-5" dirty="0">
                <a:solidFill>
                  <a:prstClr val="black"/>
                </a:solidFill>
                <a:cs typeface="Calibri"/>
              </a:rPr>
              <a:t>Multiple</a:t>
            </a:r>
            <a:r>
              <a:rPr spc="15" dirty="0">
                <a:solidFill>
                  <a:prstClr val="black"/>
                </a:solidFill>
                <a:cs typeface="Calibri"/>
              </a:rPr>
              <a:t> </a:t>
            </a:r>
            <a:r>
              <a:rPr spc="-10" dirty="0">
                <a:solidFill>
                  <a:prstClr val="black"/>
                </a:solidFill>
                <a:cs typeface="Calibri"/>
              </a:rPr>
              <a:t>processors</a:t>
            </a:r>
            <a:r>
              <a:rPr spc="-5" dirty="0">
                <a:solidFill>
                  <a:prstClr val="black"/>
                </a:solidFill>
                <a:cs typeface="Calibri"/>
              </a:rPr>
              <a:t> </a:t>
            </a:r>
            <a:r>
              <a:rPr spc="-10" dirty="0">
                <a:solidFill>
                  <a:prstClr val="black"/>
                </a:solidFill>
                <a:cs typeface="Calibri"/>
              </a:rPr>
              <a:t>can</a:t>
            </a:r>
            <a:r>
              <a:rPr spc="-5" dirty="0">
                <a:solidFill>
                  <a:prstClr val="black"/>
                </a:solidFill>
                <a:cs typeface="Calibri"/>
              </a:rPr>
              <a:t> </a:t>
            </a:r>
            <a:r>
              <a:rPr spc="-15" dirty="0">
                <a:solidFill>
                  <a:prstClr val="black"/>
                </a:solidFill>
                <a:cs typeface="Calibri"/>
              </a:rPr>
              <a:t>operate</a:t>
            </a:r>
            <a:r>
              <a:rPr spc="15" dirty="0">
                <a:solidFill>
                  <a:prstClr val="black"/>
                </a:solidFill>
                <a:cs typeface="Calibri"/>
              </a:rPr>
              <a:t> </a:t>
            </a:r>
            <a:r>
              <a:rPr spc="-15" dirty="0">
                <a:solidFill>
                  <a:prstClr val="black"/>
                </a:solidFill>
                <a:cs typeface="Calibri"/>
              </a:rPr>
              <a:t>independently, </a:t>
            </a:r>
            <a:r>
              <a:rPr spc="-395" dirty="0">
                <a:solidFill>
                  <a:prstClr val="black"/>
                </a:solidFill>
                <a:cs typeface="Calibri"/>
              </a:rPr>
              <a:t> </a:t>
            </a:r>
            <a:r>
              <a:rPr spc="-5" dirty="0">
                <a:solidFill>
                  <a:prstClr val="black"/>
                </a:solidFill>
                <a:cs typeface="Calibri"/>
              </a:rPr>
              <a:t>but</a:t>
            </a:r>
            <a:r>
              <a:rPr dirty="0">
                <a:solidFill>
                  <a:prstClr val="black"/>
                </a:solidFill>
                <a:cs typeface="Calibri"/>
              </a:rPr>
              <a:t> </a:t>
            </a:r>
            <a:r>
              <a:rPr spc="-10" dirty="0">
                <a:solidFill>
                  <a:prstClr val="black"/>
                </a:solidFill>
                <a:cs typeface="Calibri"/>
              </a:rPr>
              <a:t>share</a:t>
            </a:r>
            <a:r>
              <a:rPr dirty="0">
                <a:solidFill>
                  <a:prstClr val="black"/>
                </a:solidFill>
                <a:cs typeface="Calibri"/>
              </a:rPr>
              <a:t> the same</a:t>
            </a:r>
            <a:r>
              <a:rPr spc="5" dirty="0">
                <a:solidFill>
                  <a:prstClr val="black"/>
                </a:solidFill>
                <a:cs typeface="Calibri"/>
              </a:rPr>
              <a:t> </a:t>
            </a:r>
            <a:r>
              <a:rPr dirty="0">
                <a:solidFill>
                  <a:prstClr val="black"/>
                </a:solidFill>
                <a:cs typeface="Calibri"/>
              </a:rPr>
              <a:t>memory</a:t>
            </a:r>
            <a:r>
              <a:rPr spc="-15" dirty="0">
                <a:solidFill>
                  <a:prstClr val="black"/>
                </a:solidFill>
                <a:cs typeface="Calibri"/>
              </a:rPr>
              <a:t> </a:t>
            </a:r>
            <a:r>
              <a:rPr spc="-10" dirty="0">
                <a:solidFill>
                  <a:prstClr val="black"/>
                </a:solidFill>
                <a:cs typeface="Calibri"/>
              </a:rPr>
              <a:t>resources</a:t>
            </a:r>
            <a:endParaRPr dirty="0">
              <a:solidFill>
                <a:prstClr val="black"/>
              </a:solidFill>
              <a:cs typeface="Calibri"/>
            </a:endParaRPr>
          </a:p>
          <a:p>
            <a:pPr marL="299085" indent="-287020">
              <a:buFont typeface="Wingdings"/>
              <a:buChar char=""/>
              <a:tabLst>
                <a:tab pos="299720" algn="l"/>
              </a:tabLst>
            </a:pPr>
            <a:r>
              <a:rPr spc="-5" dirty="0">
                <a:solidFill>
                  <a:prstClr val="black"/>
                </a:solidFill>
                <a:cs typeface="Calibri"/>
              </a:rPr>
              <a:t>Changes</a:t>
            </a:r>
            <a:r>
              <a:rPr spc="5" dirty="0">
                <a:solidFill>
                  <a:prstClr val="black"/>
                </a:solidFill>
                <a:cs typeface="Calibri"/>
              </a:rPr>
              <a:t> </a:t>
            </a:r>
            <a:r>
              <a:rPr dirty="0">
                <a:solidFill>
                  <a:prstClr val="black"/>
                </a:solidFill>
                <a:cs typeface="Calibri"/>
              </a:rPr>
              <a:t>in a</a:t>
            </a:r>
            <a:r>
              <a:rPr spc="-5" dirty="0">
                <a:solidFill>
                  <a:prstClr val="black"/>
                </a:solidFill>
                <a:cs typeface="Calibri"/>
              </a:rPr>
              <a:t> </a:t>
            </a:r>
            <a:r>
              <a:rPr dirty="0">
                <a:solidFill>
                  <a:prstClr val="black"/>
                </a:solidFill>
                <a:cs typeface="Calibri"/>
              </a:rPr>
              <a:t>memory </a:t>
            </a:r>
            <a:r>
              <a:rPr spc="-10" dirty="0">
                <a:solidFill>
                  <a:prstClr val="black"/>
                </a:solidFill>
                <a:cs typeface="Calibri"/>
              </a:rPr>
              <a:t>location</a:t>
            </a:r>
            <a:r>
              <a:rPr spc="5" dirty="0">
                <a:solidFill>
                  <a:prstClr val="black"/>
                </a:solidFill>
                <a:cs typeface="Calibri"/>
              </a:rPr>
              <a:t> </a:t>
            </a:r>
            <a:r>
              <a:rPr spc="-5" dirty="0">
                <a:solidFill>
                  <a:prstClr val="black"/>
                </a:solidFill>
                <a:cs typeface="Calibri"/>
              </a:rPr>
              <a:t>caused</a:t>
            </a:r>
            <a:r>
              <a:rPr spc="10" dirty="0">
                <a:solidFill>
                  <a:prstClr val="black"/>
                </a:solidFill>
                <a:cs typeface="Calibri"/>
              </a:rPr>
              <a:t> </a:t>
            </a:r>
            <a:r>
              <a:rPr spc="-10" dirty="0">
                <a:solidFill>
                  <a:prstClr val="black"/>
                </a:solidFill>
                <a:cs typeface="Calibri"/>
              </a:rPr>
              <a:t>by</a:t>
            </a:r>
            <a:r>
              <a:rPr dirty="0">
                <a:solidFill>
                  <a:prstClr val="black"/>
                </a:solidFill>
                <a:cs typeface="Calibri"/>
              </a:rPr>
              <a:t> </a:t>
            </a:r>
            <a:r>
              <a:rPr spc="-5" dirty="0">
                <a:solidFill>
                  <a:prstClr val="black"/>
                </a:solidFill>
                <a:cs typeface="Calibri"/>
              </a:rPr>
              <a:t>one</a:t>
            </a:r>
            <a:endParaRPr dirty="0">
              <a:solidFill>
                <a:prstClr val="black"/>
              </a:solidFill>
              <a:cs typeface="Calibri"/>
            </a:endParaRPr>
          </a:p>
          <a:p>
            <a:pPr marL="299085"/>
            <a:r>
              <a:rPr spc="-5" dirty="0">
                <a:solidFill>
                  <a:prstClr val="black"/>
                </a:solidFill>
                <a:cs typeface="Calibri"/>
              </a:rPr>
              <a:t>CPU</a:t>
            </a:r>
            <a:r>
              <a:rPr spc="-10" dirty="0">
                <a:solidFill>
                  <a:prstClr val="black"/>
                </a:solidFill>
                <a:cs typeface="Calibri"/>
              </a:rPr>
              <a:t> are</a:t>
            </a:r>
            <a:r>
              <a:rPr dirty="0">
                <a:solidFill>
                  <a:prstClr val="black"/>
                </a:solidFill>
                <a:cs typeface="Calibri"/>
              </a:rPr>
              <a:t> </a:t>
            </a:r>
            <a:r>
              <a:rPr spc="-5" dirty="0">
                <a:solidFill>
                  <a:prstClr val="black"/>
                </a:solidFill>
                <a:cs typeface="Calibri"/>
              </a:rPr>
              <a:t>visible</a:t>
            </a:r>
            <a:r>
              <a:rPr spc="5" dirty="0">
                <a:solidFill>
                  <a:prstClr val="black"/>
                </a:solidFill>
                <a:cs typeface="Calibri"/>
              </a:rPr>
              <a:t> </a:t>
            </a:r>
            <a:r>
              <a:rPr spc="-10" dirty="0">
                <a:solidFill>
                  <a:prstClr val="black"/>
                </a:solidFill>
                <a:cs typeface="Calibri"/>
              </a:rPr>
              <a:t>to</a:t>
            </a:r>
            <a:r>
              <a:rPr spc="-15" dirty="0">
                <a:solidFill>
                  <a:prstClr val="black"/>
                </a:solidFill>
                <a:cs typeface="Calibri"/>
              </a:rPr>
              <a:t> </a:t>
            </a:r>
            <a:r>
              <a:rPr dirty="0">
                <a:solidFill>
                  <a:prstClr val="black"/>
                </a:solidFill>
                <a:cs typeface="Calibri"/>
              </a:rPr>
              <a:t>all</a:t>
            </a:r>
            <a:r>
              <a:rPr spc="-10" dirty="0">
                <a:solidFill>
                  <a:prstClr val="black"/>
                </a:solidFill>
                <a:cs typeface="Calibri"/>
              </a:rPr>
              <a:t> processors</a:t>
            </a:r>
            <a:endParaRPr dirty="0">
              <a:solidFill>
                <a:prstClr val="black"/>
              </a:solidFill>
              <a:cs typeface="Calibri"/>
            </a:endParaRPr>
          </a:p>
        </p:txBody>
      </p:sp>
      <p:sp>
        <p:nvSpPr>
          <p:cNvPr id="5" name="object 5"/>
          <p:cNvSpPr txBox="1"/>
          <p:nvPr/>
        </p:nvSpPr>
        <p:spPr>
          <a:xfrm>
            <a:off x="511390" y="3523620"/>
            <a:ext cx="10709487" cy="2220595"/>
          </a:xfrm>
          <a:prstGeom prst="rect">
            <a:avLst/>
          </a:prstGeom>
        </p:spPr>
        <p:txBody>
          <a:bodyPr vert="horz" wrap="square" lIns="0" tIns="12700" rIns="0" bIns="0" rtlCol="0">
            <a:spAutoFit/>
          </a:bodyPr>
          <a:lstStyle/>
          <a:p>
            <a:pPr marL="12700">
              <a:spcBef>
                <a:spcPts val="100"/>
              </a:spcBef>
            </a:pPr>
            <a:r>
              <a:rPr b="1" spc="-10" dirty="0">
                <a:solidFill>
                  <a:prstClr val="black"/>
                </a:solidFill>
                <a:cs typeface="Calibri"/>
              </a:rPr>
              <a:t>Advantages:</a:t>
            </a:r>
            <a:endParaRPr dirty="0">
              <a:solidFill>
                <a:prstClr val="black"/>
              </a:solidFill>
              <a:cs typeface="Calibri"/>
            </a:endParaRPr>
          </a:p>
          <a:p>
            <a:pPr marL="299085" indent="-287020">
              <a:buFont typeface="Wingdings"/>
              <a:buChar char=""/>
              <a:tabLst>
                <a:tab pos="299720" algn="l"/>
              </a:tabLst>
            </a:pPr>
            <a:r>
              <a:rPr spc="-5" dirty="0">
                <a:solidFill>
                  <a:prstClr val="black"/>
                </a:solidFill>
                <a:cs typeface="Calibri"/>
              </a:rPr>
              <a:t>Global</a:t>
            </a:r>
            <a:r>
              <a:rPr spc="10" dirty="0">
                <a:solidFill>
                  <a:prstClr val="black"/>
                </a:solidFill>
                <a:cs typeface="Calibri"/>
              </a:rPr>
              <a:t> </a:t>
            </a:r>
            <a:r>
              <a:rPr spc="-5" dirty="0">
                <a:solidFill>
                  <a:prstClr val="black"/>
                </a:solidFill>
                <a:cs typeface="Calibri"/>
              </a:rPr>
              <a:t>address</a:t>
            </a:r>
            <a:r>
              <a:rPr dirty="0">
                <a:solidFill>
                  <a:prstClr val="black"/>
                </a:solidFill>
                <a:cs typeface="Calibri"/>
              </a:rPr>
              <a:t> </a:t>
            </a:r>
            <a:r>
              <a:rPr spc="-5" dirty="0">
                <a:solidFill>
                  <a:prstClr val="black"/>
                </a:solidFill>
                <a:cs typeface="Calibri"/>
              </a:rPr>
              <a:t>space</a:t>
            </a:r>
            <a:r>
              <a:rPr spc="20" dirty="0">
                <a:solidFill>
                  <a:prstClr val="black"/>
                </a:solidFill>
                <a:cs typeface="Calibri"/>
              </a:rPr>
              <a:t> </a:t>
            </a:r>
            <a:r>
              <a:rPr spc="-10" dirty="0">
                <a:solidFill>
                  <a:prstClr val="black"/>
                </a:solidFill>
                <a:cs typeface="Calibri"/>
              </a:rPr>
              <a:t>provides</a:t>
            </a:r>
            <a:r>
              <a:rPr spc="10" dirty="0">
                <a:solidFill>
                  <a:prstClr val="black"/>
                </a:solidFill>
                <a:cs typeface="Calibri"/>
              </a:rPr>
              <a:t> </a:t>
            </a:r>
            <a:r>
              <a:rPr dirty="0">
                <a:solidFill>
                  <a:prstClr val="black"/>
                </a:solidFill>
                <a:cs typeface="Calibri"/>
              </a:rPr>
              <a:t>a</a:t>
            </a:r>
            <a:r>
              <a:rPr spc="5" dirty="0">
                <a:solidFill>
                  <a:prstClr val="black"/>
                </a:solidFill>
                <a:cs typeface="Calibri"/>
              </a:rPr>
              <a:t> </a:t>
            </a:r>
            <a:r>
              <a:rPr spc="-5" dirty="0">
                <a:solidFill>
                  <a:prstClr val="black"/>
                </a:solidFill>
                <a:cs typeface="Calibri"/>
              </a:rPr>
              <a:t>user-friendly</a:t>
            </a:r>
            <a:r>
              <a:rPr spc="20" dirty="0">
                <a:solidFill>
                  <a:prstClr val="black"/>
                </a:solidFill>
                <a:cs typeface="Calibri"/>
              </a:rPr>
              <a:t> </a:t>
            </a:r>
            <a:r>
              <a:rPr spc="-10" dirty="0">
                <a:solidFill>
                  <a:prstClr val="black"/>
                </a:solidFill>
                <a:cs typeface="Calibri"/>
              </a:rPr>
              <a:t>programming</a:t>
            </a:r>
            <a:r>
              <a:rPr spc="10" dirty="0">
                <a:solidFill>
                  <a:prstClr val="black"/>
                </a:solidFill>
                <a:cs typeface="Calibri"/>
              </a:rPr>
              <a:t> </a:t>
            </a:r>
            <a:r>
              <a:rPr spc="-10" dirty="0">
                <a:solidFill>
                  <a:prstClr val="black"/>
                </a:solidFill>
                <a:cs typeface="Calibri"/>
              </a:rPr>
              <a:t>perspective</a:t>
            </a:r>
            <a:r>
              <a:rPr spc="20" dirty="0">
                <a:solidFill>
                  <a:prstClr val="black"/>
                </a:solidFill>
                <a:cs typeface="Calibri"/>
              </a:rPr>
              <a:t> </a:t>
            </a:r>
            <a:r>
              <a:rPr spc="-10" dirty="0">
                <a:solidFill>
                  <a:prstClr val="black"/>
                </a:solidFill>
                <a:cs typeface="Calibri"/>
              </a:rPr>
              <a:t>to</a:t>
            </a:r>
            <a:r>
              <a:rPr dirty="0">
                <a:solidFill>
                  <a:prstClr val="black"/>
                </a:solidFill>
                <a:cs typeface="Calibri"/>
              </a:rPr>
              <a:t> memory</a:t>
            </a:r>
          </a:p>
          <a:p>
            <a:pPr marL="299085" indent="-287020">
              <a:buFont typeface="Wingdings"/>
              <a:buChar char=""/>
              <a:tabLst>
                <a:tab pos="299720" algn="l"/>
              </a:tabLst>
            </a:pPr>
            <a:r>
              <a:rPr spc="-20" dirty="0">
                <a:solidFill>
                  <a:prstClr val="black"/>
                </a:solidFill>
                <a:cs typeface="Calibri"/>
              </a:rPr>
              <a:t>Fast</a:t>
            </a:r>
            <a:r>
              <a:rPr dirty="0">
                <a:solidFill>
                  <a:prstClr val="black"/>
                </a:solidFill>
                <a:cs typeface="Calibri"/>
              </a:rPr>
              <a:t> and </a:t>
            </a:r>
            <a:r>
              <a:rPr spc="-10" dirty="0">
                <a:solidFill>
                  <a:prstClr val="black"/>
                </a:solidFill>
                <a:cs typeface="Calibri"/>
              </a:rPr>
              <a:t>uniform</a:t>
            </a:r>
            <a:r>
              <a:rPr spc="5" dirty="0">
                <a:solidFill>
                  <a:prstClr val="black"/>
                </a:solidFill>
                <a:cs typeface="Calibri"/>
              </a:rPr>
              <a:t> </a:t>
            </a:r>
            <a:r>
              <a:rPr spc="-15" dirty="0">
                <a:solidFill>
                  <a:prstClr val="black"/>
                </a:solidFill>
                <a:cs typeface="Calibri"/>
              </a:rPr>
              <a:t>data</a:t>
            </a:r>
            <a:r>
              <a:rPr dirty="0">
                <a:solidFill>
                  <a:prstClr val="black"/>
                </a:solidFill>
                <a:cs typeface="Calibri"/>
              </a:rPr>
              <a:t> </a:t>
            </a:r>
            <a:r>
              <a:rPr spc="-5" dirty="0">
                <a:solidFill>
                  <a:prstClr val="black"/>
                </a:solidFill>
                <a:cs typeface="Calibri"/>
              </a:rPr>
              <a:t>sharing due</a:t>
            </a:r>
            <a:r>
              <a:rPr spc="15" dirty="0">
                <a:solidFill>
                  <a:prstClr val="black"/>
                </a:solidFill>
                <a:cs typeface="Calibri"/>
              </a:rPr>
              <a:t> </a:t>
            </a:r>
            <a:r>
              <a:rPr spc="-10" dirty="0">
                <a:solidFill>
                  <a:prstClr val="black"/>
                </a:solidFill>
                <a:cs typeface="Calibri"/>
              </a:rPr>
              <a:t>to</a:t>
            </a:r>
            <a:r>
              <a:rPr dirty="0">
                <a:solidFill>
                  <a:prstClr val="black"/>
                </a:solidFill>
                <a:cs typeface="Calibri"/>
              </a:rPr>
              <a:t> </a:t>
            </a:r>
            <a:r>
              <a:rPr spc="-15" dirty="0">
                <a:solidFill>
                  <a:prstClr val="black"/>
                </a:solidFill>
                <a:cs typeface="Calibri"/>
              </a:rPr>
              <a:t>proximity</a:t>
            </a:r>
            <a:r>
              <a:rPr dirty="0">
                <a:solidFill>
                  <a:prstClr val="black"/>
                </a:solidFill>
                <a:cs typeface="Calibri"/>
              </a:rPr>
              <a:t> </a:t>
            </a:r>
            <a:r>
              <a:rPr spc="-5" dirty="0">
                <a:solidFill>
                  <a:prstClr val="black"/>
                </a:solidFill>
                <a:cs typeface="Calibri"/>
              </a:rPr>
              <a:t>of</a:t>
            </a:r>
            <a:r>
              <a:rPr spc="10" dirty="0">
                <a:solidFill>
                  <a:prstClr val="black"/>
                </a:solidFill>
                <a:cs typeface="Calibri"/>
              </a:rPr>
              <a:t> </a:t>
            </a:r>
            <a:r>
              <a:rPr dirty="0">
                <a:solidFill>
                  <a:prstClr val="black"/>
                </a:solidFill>
                <a:cs typeface="Calibri"/>
              </a:rPr>
              <a:t>memory</a:t>
            </a:r>
            <a:r>
              <a:rPr spc="-5" dirty="0">
                <a:solidFill>
                  <a:prstClr val="black"/>
                </a:solidFill>
                <a:cs typeface="Calibri"/>
              </a:rPr>
              <a:t> </a:t>
            </a:r>
            <a:r>
              <a:rPr spc="-10" dirty="0">
                <a:solidFill>
                  <a:prstClr val="black"/>
                </a:solidFill>
                <a:cs typeface="Calibri"/>
              </a:rPr>
              <a:t>to</a:t>
            </a:r>
            <a:r>
              <a:rPr spc="5" dirty="0">
                <a:solidFill>
                  <a:prstClr val="black"/>
                </a:solidFill>
                <a:cs typeface="Calibri"/>
              </a:rPr>
              <a:t> </a:t>
            </a:r>
            <a:r>
              <a:rPr spc="-5" dirty="0">
                <a:solidFill>
                  <a:prstClr val="black"/>
                </a:solidFill>
                <a:cs typeface="Calibri"/>
              </a:rPr>
              <a:t>CPUs</a:t>
            </a:r>
            <a:endParaRPr dirty="0">
              <a:solidFill>
                <a:prstClr val="black"/>
              </a:solidFill>
              <a:cs typeface="Calibri"/>
            </a:endParaRPr>
          </a:p>
          <a:p>
            <a:pPr>
              <a:spcBef>
                <a:spcPts val="25"/>
              </a:spcBef>
              <a:buFont typeface="Wingdings"/>
              <a:buChar char=""/>
            </a:pPr>
            <a:endParaRPr sz="1750" dirty="0">
              <a:solidFill>
                <a:prstClr val="black"/>
              </a:solidFill>
              <a:cs typeface="Calibri"/>
            </a:endParaRPr>
          </a:p>
          <a:p>
            <a:pPr marL="12700"/>
            <a:r>
              <a:rPr b="1" spc="-10" dirty="0">
                <a:solidFill>
                  <a:prstClr val="black"/>
                </a:solidFill>
                <a:cs typeface="Calibri"/>
              </a:rPr>
              <a:t>Disadvantages:</a:t>
            </a:r>
            <a:endParaRPr dirty="0">
              <a:solidFill>
                <a:prstClr val="black"/>
              </a:solidFill>
              <a:cs typeface="Calibri"/>
            </a:endParaRPr>
          </a:p>
          <a:p>
            <a:pPr marL="299085" marR="123825" indent="-287020">
              <a:buFont typeface="Wingdings"/>
              <a:buChar char=""/>
              <a:tabLst>
                <a:tab pos="299720" algn="l"/>
              </a:tabLst>
            </a:pPr>
            <a:r>
              <a:rPr spc="-5" dirty="0">
                <a:solidFill>
                  <a:prstClr val="black"/>
                </a:solidFill>
                <a:cs typeface="Calibri"/>
              </a:rPr>
              <a:t>Lack</a:t>
            </a:r>
            <a:r>
              <a:rPr dirty="0">
                <a:solidFill>
                  <a:prstClr val="black"/>
                </a:solidFill>
                <a:cs typeface="Calibri"/>
              </a:rPr>
              <a:t> </a:t>
            </a:r>
            <a:r>
              <a:rPr spc="-5" dirty="0">
                <a:solidFill>
                  <a:prstClr val="black"/>
                </a:solidFill>
                <a:cs typeface="Calibri"/>
              </a:rPr>
              <a:t>of</a:t>
            </a:r>
            <a:r>
              <a:rPr dirty="0">
                <a:solidFill>
                  <a:prstClr val="black"/>
                </a:solidFill>
                <a:cs typeface="Calibri"/>
              </a:rPr>
              <a:t> </a:t>
            </a:r>
            <a:r>
              <a:rPr spc="-5" dirty="0">
                <a:solidFill>
                  <a:prstClr val="black"/>
                </a:solidFill>
                <a:cs typeface="Calibri"/>
              </a:rPr>
              <a:t>scalability</a:t>
            </a:r>
            <a:r>
              <a:rPr spc="20" dirty="0">
                <a:solidFill>
                  <a:prstClr val="black"/>
                </a:solidFill>
                <a:cs typeface="Calibri"/>
              </a:rPr>
              <a:t> </a:t>
            </a:r>
            <a:r>
              <a:rPr spc="-5" dirty="0">
                <a:solidFill>
                  <a:prstClr val="black"/>
                </a:solidFill>
                <a:cs typeface="Calibri"/>
              </a:rPr>
              <a:t>between</a:t>
            </a:r>
            <a:r>
              <a:rPr dirty="0">
                <a:solidFill>
                  <a:prstClr val="black"/>
                </a:solidFill>
                <a:cs typeface="Calibri"/>
              </a:rPr>
              <a:t> memory and</a:t>
            </a:r>
            <a:r>
              <a:rPr spc="15" dirty="0">
                <a:solidFill>
                  <a:prstClr val="black"/>
                </a:solidFill>
                <a:cs typeface="Calibri"/>
              </a:rPr>
              <a:t> </a:t>
            </a:r>
            <a:r>
              <a:rPr spc="-5" dirty="0">
                <a:solidFill>
                  <a:prstClr val="black"/>
                </a:solidFill>
                <a:cs typeface="Calibri"/>
              </a:rPr>
              <a:t>CPUs.</a:t>
            </a:r>
            <a:r>
              <a:rPr spc="-10" dirty="0">
                <a:solidFill>
                  <a:prstClr val="black"/>
                </a:solidFill>
                <a:cs typeface="Calibri"/>
              </a:rPr>
              <a:t> </a:t>
            </a:r>
            <a:r>
              <a:rPr spc="-5" dirty="0">
                <a:solidFill>
                  <a:prstClr val="black"/>
                </a:solidFill>
                <a:cs typeface="Calibri"/>
              </a:rPr>
              <a:t>Adding</a:t>
            </a:r>
            <a:r>
              <a:rPr spc="20" dirty="0">
                <a:solidFill>
                  <a:prstClr val="black"/>
                </a:solidFill>
                <a:cs typeface="Calibri"/>
              </a:rPr>
              <a:t> </a:t>
            </a:r>
            <a:r>
              <a:rPr spc="-10" dirty="0">
                <a:solidFill>
                  <a:prstClr val="black"/>
                </a:solidFill>
                <a:cs typeface="Calibri"/>
              </a:rPr>
              <a:t>more</a:t>
            </a:r>
            <a:r>
              <a:rPr dirty="0">
                <a:solidFill>
                  <a:prstClr val="black"/>
                </a:solidFill>
                <a:cs typeface="Calibri"/>
              </a:rPr>
              <a:t> </a:t>
            </a:r>
            <a:r>
              <a:rPr spc="-5" dirty="0">
                <a:solidFill>
                  <a:prstClr val="black"/>
                </a:solidFill>
                <a:cs typeface="Calibri"/>
              </a:rPr>
              <a:t>CPUs</a:t>
            </a:r>
            <a:r>
              <a:rPr spc="5" dirty="0">
                <a:solidFill>
                  <a:prstClr val="black"/>
                </a:solidFill>
                <a:cs typeface="Calibri"/>
              </a:rPr>
              <a:t> </a:t>
            </a:r>
            <a:r>
              <a:rPr spc="-5" dirty="0">
                <a:solidFill>
                  <a:prstClr val="black"/>
                </a:solidFill>
                <a:cs typeface="Calibri"/>
              </a:rPr>
              <a:t>increases</a:t>
            </a:r>
            <a:r>
              <a:rPr dirty="0">
                <a:solidFill>
                  <a:prstClr val="black"/>
                </a:solidFill>
                <a:cs typeface="Calibri"/>
              </a:rPr>
              <a:t> </a:t>
            </a:r>
            <a:r>
              <a:rPr spc="-15" dirty="0">
                <a:solidFill>
                  <a:prstClr val="black"/>
                </a:solidFill>
                <a:cs typeface="Calibri"/>
              </a:rPr>
              <a:t>traffic </a:t>
            </a:r>
            <a:r>
              <a:rPr spc="-390" dirty="0">
                <a:solidFill>
                  <a:prstClr val="black"/>
                </a:solidFill>
                <a:cs typeface="Calibri"/>
              </a:rPr>
              <a:t> </a:t>
            </a:r>
            <a:r>
              <a:rPr spc="-5" dirty="0">
                <a:solidFill>
                  <a:prstClr val="black"/>
                </a:solidFill>
                <a:cs typeface="Calibri"/>
              </a:rPr>
              <a:t>on</a:t>
            </a:r>
            <a:r>
              <a:rPr spc="5" dirty="0">
                <a:solidFill>
                  <a:prstClr val="black"/>
                </a:solidFill>
                <a:cs typeface="Calibri"/>
              </a:rPr>
              <a:t> </a:t>
            </a:r>
            <a:r>
              <a:rPr dirty="0">
                <a:solidFill>
                  <a:prstClr val="black"/>
                </a:solidFill>
                <a:cs typeface="Calibri"/>
              </a:rPr>
              <a:t>the </a:t>
            </a:r>
            <a:r>
              <a:rPr spc="-5" dirty="0">
                <a:solidFill>
                  <a:prstClr val="black"/>
                </a:solidFill>
                <a:cs typeface="Calibri"/>
              </a:rPr>
              <a:t>shared</a:t>
            </a:r>
            <a:r>
              <a:rPr spc="5" dirty="0">
                <a:solidFill>
                  <a:prstClr val="black"/>
                </a:solidFill>
                <a:cs typeface="Calibri"/>
              </a:rPr>
              <a:t> </a:t>
            </a:r>
            <a:r>
              <a:rPr dirty="0" err="1">
                <a:solidFill>
                  <a:prstClr val="black"/>
                </a:solidFill>
                <a:cs typeface="Calibri"/>
              </a:rPr>
              <a:t>memoryCPU</a:t>
            </a:r>
            <a:r>
              <a:rPr dirty="0">
                <a:solidFill>
                  <a:prstClr val="black"/>
                </a:solidFill>
                <a:cs typeface="Calibri"/>
              </a:rPr>
              <a:t> </a:t>
            </a:r>
            <a:r>
              <a:rPr spc="-5" dirty="0">
                <a:solidFill>
                  <a:prstClr val="black"/>
                </a:solidFill>
                <a:cs typeface="Calibri"/>
              </a:rPr>
              <a:t>path</a:t>
            </a:r>
            <a:endParaRPr dirty="0">
              <a:solidFill>
                <a:prstClr val="black"/>
              </a:solidFill>
              <a:cs typeface="Calibri"/>
            </a:endParaRPr>
          </a:p>
          <a:p>
            <a:pPr marL="299085" indent="-287020">
              <a:buFont typeface="Wingdings"/>
              <a:buChar char=""/>
              <a:tabLst>
                <a:tab pos="299720" algn="l"/>
              </a:tabLst>
            </a:pPr>
            <a:r>
              <a:rPr spc="-10" dirty="0">
                <a:solidFill>
                  <a:prstClr val="black"/>
                </a:solidFill>
                <a:cs typeface="Calibri"/>
              </a:rPr>
              <a:t>Programmer</a:t>
            </a:r>
            <a:r>
              <a:rPr spc="-5" dirty="0">
                <a:solidFill>
                  <a:prstClr val="black"/>
                </a:solidFill>
                <a:cs typeface="Calibri"/>
              </a:rPr>
              <a:t> responsibility</a:t>
            </a:r>
            <a:r>
              <a:rPr spc="5" dirty="0">
                <a:solidFill>
                  <a:prstClr val="black"/>
                </a:solidFill>
                <a:cs typeface="Calibri"/>
              </a:rPr>
              <a:t> </a:t>
            </a:r>
            <a:r>
              <a:rPr spc="-15" dirty="0">
                <a:solidFill>
                  <a:prstClr val="black"/>
                </a:solidFill>
                <a:cs typeface="Calibri"/>
              </a:rPr>
              <a:t>for</a:t>
            </a:r>
            <a:r>
              <a:rPr spc="-10" dirty="0">
                <a:solidFill>
                  <a:prstClr val="black"/>
                </a:solidFill>
                <a:cs typeface="Calibri"/>
              </a:rPr>
              <a:t> </a:t>
            </a:r>
            <a:r>
              <a:rPr spc="-15" dirty="0">
                <a:solidFill>
                  <a:prstClr val="black"/>
                </a:solidFill>
                <a:cs typeface="Calibri"/>
              </a:rPr>
              <a:t>“correct”</a:t>
            </a:r>
            <a:r>
              <a:rPr spc="10" dirty="0">
                <a:solidFill>
                  <a:prstClr val="black"/>
                </a:solidFill>
                <a:cs typeface="Calibri"/>
              </a:rPr>
              <a:t> </a:t>
            </a:r>
            <a:r>
              <a:rPr spc="-5" dirty="0">
                <a:solidFill>
                  <a:prstClr val="black"/>
                </a:solidFill>
                <a:cs typeface="Calibri"/>
              </a:rPr>
              <a:t>access</a:t>
            </a:r>
            <a:r>
              <a:rPr dirty="0">
                <a:solidFill>
                  <a:prstClr val="black"/>
                </a:solidFill>
                <a:cs typeface="Calibri"/>
              </a:rPr>
              <a:t> </a:t>
            </a:r>
            <a:r>
              <a:rPr spc="-10" dirty="0">
                <a:solidFill>
                  <a:prstClr val="black"/>
                </a:solidFill>
                <a:cs typeface="Calibri"/>
              </a:rPr>
              <a:t>to </a:t>
            </a:r>
            <a:r>
              <a:rPr dirty="0">
                <a:solidFill>
                  <a:prstClr val="black"/>
                </a:solidFill>
                <a:cs typeface="Calibri"/>
              </a:rPr>
              <a:t>global</a:t>
            </a:r>
            <a:r>
              <a:rPr spc="5" dirty="0">
                <a:solidFill>
                  <a:prstClr val="black"/>
                </a:solidFill>
                <a:cs typeface="Calibri"/>
              </a:rPr>
              <a:t> </a:t>
            </a:r>
            <a:r>
              <a:rPr dirty="0">
                <a:solidFill>
                  <a:prstClr val="black"/>
                </a:solidFill>
                <a:cs typeface="Calibri"/>
              </a:rPr>
              <a:t>memory</a:t>
            </a:r>
          </a:p>
        </p:txBody>
      </p:sp>
    </p:spTree>
    <p:extLst>
      <p:ext uri="{BB962C8B-B14F-4D97-AF65-F5344CB8AC3E}">
        <p14:creationId xmlns:p14="http://schemas.microsoft.com/office/powerpoint/2010/main" val="2281225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4116" y="1579740"/>
            <a:ext cx="4593477" cy="1373738"/>
          </a:xfrm>
          <a:prstGeom prst="rect">
            <a:avLst/>
          </a:prstGeom>
        </p:spPr>
      </p:pic>
      <p:sp>
        <p:nvSpPr>
          <p:cNvPr id="3" name="object 3"/>
          <p:cNvSpPr txBox="1"/>
          <p:nvPr/>
        </p:nvSpPr>
        <p:spPr>
          <a:xfrm>
            <a:off x="1358392" y="1212098"/>
            <a:ext cx="10635488" cy="2426305"/>
          </a:xfrm>
          <a:prstGeom prst="rect">
            <a:avLst/>
          </a:prstGeom>
        </p:spPr>
        <p:txBody>
          <a:bodyPr vert="horz" wrap="square" lIns="0" tIns="12700" rIns="0" bIns="0" rtlCol="0">
            <a:spAutoFit/>
          </a:bodyPr>
          <a:lstStyle/>
          <a:p>
            <a:pPr marL="3518535">
              <a:spcBef>
                <a:spcPts val="100"/>
              </a:spcBef>
            </a:pPr>
            <a:r>
              <a:rPr sz="2400" b="1" spc="-10" dirty="0">
                <a:solidFill>
                  <a:prstClr val="black"/>
                </a:solidFill>
                <a:cs typeface="Calibri"/>
              </a:rPr>
              <a:t>Distributed</a:t>
            </a:r>
            <a:r>
              <a:rPr sz="2400" b="1" spc="-15" dirty="0">
                <a:solidFill>
                  <a:prstClr val="black"/>
                </a:solidFill>
                <a:cs typeface="Calibri"/>
              </a:rPr>
              <a:t> </a:t>
            </a:r>
            <a:r>
              <a:rPr sz="2400" b="1" dirty="0">
                <a:solidFill>
                  <a:prstClr val="black"/>
                </a:solidFill>
                <a:cs typeface="Calibri"/>
              </a:rPr>
              <a:t>Memory:</a:t>
            </a:r>
            <a:endParaRPr sz="2400" dirty="0">
              <a:solidFill>
                <a:prstClr val="black"/>
              </a:solidFill>
              <a:cs typeface="Calibri"/>
            </a:endParaRPr>
          </a:p>
          <a:p>
            <a:pPr>
              <a:spcBef>
                <a:spcPts val="55"/>
              </a:spcBef>
            </a:pPr>
            <a:endParaRPr sz="1750" dirty="0">
              <a:solidFill>
                <a:prstClr val="black"/>
              </a:solidFill>
              <a:cs typeface="Calibri"/>
            </a:endParaRPr>
          </a:p>
          <a:p>
            <a:pPr marL="3804920" marR="302260" indent="-287020">
              <a:spcBef>
                <a:spcPts val="5"/>
              </a:spcBef>
              <a:buFont typeface="Wingdings"/>
              <a:buChar char=""/>
              <a:tabLst>
                <a:tab pos="3805554" algn="l"/>
              </a:tabLst>
            </a:pPr>
            <a:r>
              <a:rPr spc="-15" dirty="0">
                <a:solidFill>
                  <a:prstClr val="black"/>
                </a:solidFill>
                <a:cs typeface="Calibri"/>
              </a:rPr>
              <a:t>Requires</a:t>
            </a:r>
            <a:r>
              <a:rPr spc="20" dirty="0">
                <a:solidFill>
                  <a:prstClr val="black"/>
                </a:solidFill>
                <a:cs typeface="Calibri"/>
              </a:rPr>
              <a:t> </a:t>
            </a:r>
            <a:r>
              <a:rPr dirty="0">
                <a:solidFill>
                  <a:prstClr val="black"/>
                </a:solidFill>
                <a:cs typeface="Calibri"/>
              </a:rPr>
              <a:t>a </a:t>
            </a:r>
            <a:r>
              <a:rPr spc="-10" dirty="0">
                <a:solidFill>
                  <a:prstClr val="black"/>
                </a:solidFill>
                <a:cs typeface="Calibri"/>
              </a:rPr>
              <a:t>communication</a:t>
            </a:r>
            <a:r>
              <a:rPr spc="25" dirty="0">
                <a:solidFill>
                  <a:prstClr val="black"/>
                </a:solidFill>
                <a:cs typeface="Calibri"/>
              </a:rPr>
              <a:t> </a:t>
            </a:r>
            <a:r>
              <a:rPr spc="-10" dirty="0">
                <a:solidFill>
                  <a:prstClr val="black"/>
                </a:solidFill>
                <a:cs typeface="Calibri"/>
              </a:rPr>
              <a:t>network</a:t>
            </a:r>
            <a:r>
              <a:rPr spc="5" dirty="0">
                <a:solidFill>
                  <a:prstClr val="black"/>
                </a:solidFill>
                <a:cs typeface="Calibri"/>
              </a:rPr>
              <a:t> </a:t>
            </a:r>
            <a:r>
              <a:rPr spc="-10" dirty="0">
                <a:solidFill>
                  <a:prstClr val="black"/>
                </a:solidFill>
                <a:cs typeface="Calibri"/>
              </a:rPr>
              <a:t>to</a:t>
            </a:r>
            <a:r>
              <a:rPr dirty="0">
                <a:solidFill>
                  <a:prstClr val="black"/>
                </a:solidFill>
                <a:cs typeface="Calibri"/>
              </a:rPr>
              <a:t> </a:t>
            </a:r>
            <a:r>
              <a:rPr spc="-10" dirty="0">
                <a:solidFill>
                  <a:prstClr val="black"/>
                </a:solidFill>
                <a:cs typeface="Calibri"/>
              </a:rPr>
              <a:t>connect </a:t>
            </a:r>
            <a:r>
              <a:rPr spc="-390" dirty="0">
                <a:solidFill>
                  <a:prstClr val="black"/>
                </a:solidFill>
                <a:cs typeface="Calibri"/>
              </a:rPr>
              <a:t> </a:t>
            </a:r>
            <a:r>
              <a:rPr spc="-10" dirty="0" err="1">
                <a:solidFill>
                  <a:prstClr val="black"/>
                </a:solidFill>
                <a:cs typeface="Calibri"/>
              </a:rPr>
              <a:t>interprocessor</a:t>
            </a:r>
            <a:r>
              <a:rPr spc="-10" dirty="0">
                <a:solidFill>
                  <a:prstClr val="black"/>
                </a:solidFill>
                <a:cs typeface="Calibri"/>
              </a:rPr>
              <a:t> </a:t>
            </a:r>
            <a:r>
              <a:rPr dirty="0">
                <a:solidFill>
                  <a:prstClr val="black"/>
                </a:solidFill>
                <a:cs typeface="Calibri"/>
              </a:rPr>
              <a:t>memory</a:t>
            </a:r>
          </a:p>
          <a:p>
            <a:pPr marL="3804920" marR="10160" indent="-287020">
              <a:buFont typeface="Wingdings"/>
              <a:buChar char=""/>
              <a:tabLst>
                <a:tab pos="3805554" algn="l"/>
              </a:tabLst>
            </a:pPr>
            <a:r>
              <a:rPr spc="-10" dirty="0">
                <a:solidFill>
                  <a:prstClr val="black"/>
                </a:solidFill>
                <a:cs typeface="Calibri"/>
              </a:rPr>
              <a:t>Processors</a:t>
            </a:r>
            <a:r>
              <a:rPr spc="-20" dirty="0">
                <a:solidFill>
                  <a:prstClr val="black"/>
                </a:solidFill>
                <a:cs typeface="Calibri"/>
              </a:rPr>
              <a:t> </a:t>
            </a:r>
            <a:r>
              <a:rPr spc="-10" dirty="0">
                <a:solidFill>
                  <a:prstClr val="black"/>
                </a:solidFill>
                <a:cs typeface="Calibri"/>
              </a:rPr>
              <a:t>have </a:t>
            </a:r>
            <a:r>
              <a:rPr dirty="0">
                <a:solidFill>
                  <a:prstClr val="black"/>
                </a:solidFill>
                <a:cs typeface="Calibri"/>
              </a:rPr>
              <a:t>their</a:t>
            </a:r>
            <a:r>
              <a:rPr spc="-5" dirty="0">
                <a:solidFill>
                  <a:prstClr val="black"/>
                </a:solidFill>
                <a:cs typeface="Calibri"/>
              </a:rPr>
              <a:t> own</a:t>
            </a:r>
            <a:r>
              <a:rPr spc="5" dirty="0">
                <a:solidFill>
                  <a:prstClr val="black"/>
                </a:solidFill>
                <a:cs typeface="Calibri"/>
              </a:rPr>
              <a:t> </a:t>
            </a:r>
            <a:r>
              <a:rPr spc="-10" dirty="0">
                <a:solidFill>
                  <a:prstClr val="black"/>
                </a:solidFill>
                <a:cs typeface="Calibri"/>
              </a:rPr>
              <a:t>local</a:t>
            </a:r>
            <a:r>
              <a:rPr spc="5" dirty="0">
                <a:solidFill>
                  <a:prstClr val="black"/>
                </a:solidFill>
                <a:cs typeface="Calibri"/>
              </a:rPr>
              <a:t> </a:t>
            </a:r>
            <a:r>
              <a:rPr spc="-20" dirty="0">
                <a:solidFill>
                  <a:prstClr val="black"/>
                </a:solidFill>
                <a:cs typeface="Calibri"/>
              </a:rPr>
              <a:t>memory.</a:t>
            </a:r>
            <a:r>
              <a:rPr spc="-25" dirty="0">
                <a:solidFill>
                  <a:prstClr val="black"/>
                </a:solidFill>
                <a:cs typeface="Calibri"/>
              </a:rPr>
              <a:t> </a:t>
            </a:r>
            <a:r>
              <a:rPr spc="-5" dirty="0">
                <a:solidFill>
                  <a:prstClr val="black"/>
                </a:solidFill>
                <a:cs typeface="Calibri"/>
              </a:rPr>
              <a:t>Changes </a:t>
            </a:r>
            <a:r>
              <a:rPr spc="-390" dirty="0">
                <a:solidFill>
                  <a:prstClr val="black"/>
                </a:solidFill>
                <a:cs typeface="Calibri"/>
              </a:rPr>
              <a:t> </a:t>
            </a:r>
            <a:r>
              <a:rPr dirty="0">
                <a:solidFill>
                  <a:prstClr val="black"/>
                </a:solidFill>
                <a:cs typeface="Calibri"/>
              </a:rPr>
              <a:t>made</a:t>
            </a:r>
            <a:r>
              <a:rPr spc="-5" dirty="0">
                <a:solidFill>
                  <a:prstClr val="black"/>
                </a:solidFill>
                <a:cs typeface="Calibri"/>
              </a:rPr>
              <a:t> by</a:t>
            </a:r>
            <a:r>
              <a:rPr spc="5" dirty="0">
                <a:solidFill>
                  <a:prstClr val="black"/>
                </a:solidFill>
                <a:cs typeface="Calibri"/>
              </a:rPr>
              <a:t> </a:t>
            </a:r>
            <a:r>
              <a:rPr spc="-5" dirty="0">
                <a:solidFill>
                  <a:prstClr val="black"/>
                </a:solidFill>
                <a:cs typeface="Calibri"/>
              </a:rPr>
              <a:t>one CPU</a:t>
            </a:r>
            <a:r>
              <a:rPr dirty="0">
                <a:solidFill>
                  <a:prstClr val="black"/>
                </a:solidFill>
                <a:cs typeface="Calibri"/>
              </a:rPr>
              <a:t> </a:t>
            </a:r>
            <a:r>
              <a:rPr spc="-10" dirty="0">
                <a:solidFill>
                  <a:prstClr val="black"/>
                </a:solidFill>
                <a:cs typeface="Calibri"/>
              </a:rPr>
              <a:t>have</a:t>
            </a:r>
            <a:r>
              <a:rPr spc="-15" dirty="0">
                <a:solidFill>
                  <a:prstClr val="black"/>
                </a:solidFill>
                <a:cs typeface="Calibri"/>
              </a:rPr>
              <a:t> </a:t>
            </a:r>
            <a:r>
              <a:rPr spc="-5" dirty="0">
                <a:solidFill>
                  <a:prstClr val="black"/>
                </a:solidFill>
                <a:cs typeface="Calibri"/>
              </a:rPr>
              <a:t>no</a:t>
            </a:r>
            <a:r>
              <a:rPr spc="10" dirty="0">
                <a:solidFill>
                  <a:prstClr val="black"/>
                </a:solidFill>
                <a:cs typeface="Calibri"/>
              </a:rPr>
              <a:t> </a:t>
            </a:r>
            <a:r>
              <a:rPr spc="-15" dirty="0">
                <a:solidFill>
                  <a:prstClr val="black"/>
                </a:solidFill>
                <a:cs typeface="Calibri"/>
              </a:rPr>
              <a:t>effect</a:t>
            </a:r>
            <a:r>
              <a:rPr spc="-5" dirty="0">
                <a:solidFill>
                  <a:prstClr val="black"/>
                </a:solidFill>
                <a:cs typeface="Calibri"/>
              </a:rPr>
              <a:t> on</a:t>
            </a:r>
            <a:r>
              <a:rPr spc="5" dirty="0">
                <a:solidFill>
                  <a:prstClr val="black"/>
                </a:solidFill>
                <a:cs typeface="Calibri"/>
              </a:rPr>
              <a:t> </a:t>
            </a:r>
            <a:r>
              <a:rPr spc="-10" dirty="0">
                <a:solidFill>
                  <a:prstClr val="black"/>
                </a:solidFill>
                <a:cs typeface="Calibri"/>
              </a:rPr>
              <a:t>others</a:t>
            </a:r>
            <a:endParaRPr dirty="0">
              <a:solidFill>
                <a:prstClr val="black"/>
              </a:solidFill>
              <a:cs typeface="Calibri"/>
            </a:endParaRPr>
          </a:p>
          <a:p>
            <a:pPr marL="3804920" marR="5080" indent="-287020">
              <a:buFont typeface="Wingdings"/>
              <a:buChar char=""/>
              <a:tabLst>
                <a:tab pos="3805554" algn="l"/>
              </a:tabLst>
            </a:pPr>
            <a:r>
              <a:rPr spc="-15" dirty="0">
                <a:solidFill>
                  <a:prstClr val="black"/>
                </a:solidFill>
                <a:cs typeface="Calibri"/>
              </a:rPr>
              <a:t>Requires</a:t>
            </a:r>
            <a:r>
              <a:rPr spc="20" dirty="0">
                <a:solidFill>
                  <a:prstClr val="black"/>
                </a:solidFill>
                <a:cs typeface="Calibri"/>
              </a:rPr>
              <a:t> </a:t>
            </a:r>
            <a:r>
              <a:rPr spc="-10" dirty="0">
                <a:solidFill>
                  <a:prstClr val="black"/>
                </a:solidFill>
                <a:cs typeface="Calibri"/>
              </a:rPr>
              <a:t>communication</a:t>
            </a:r>
            <a:r>
              <a:rPr spc="25" dirty="0">
                <a:solidFill>
                  <a:prstClr val="black"/>
                </a:solidFill>
                <a:cs typeface="Calibri"/>
              </a:rPr>
              <a:t> </a:t>
            </a:r>
            <a:r>
              <a:rPr spc="-10" dirty="0">
                <a:solidFill>
                  <a:prstClr val="black"/>
                </a:solidFill>
                <a:cs typeface="Calibri"/>
              </a:rPr>
              <a:t>to</a:t>
            </a:r>
            <a:r>
              <a:rPr dirty="0">
                <a:solidFill>
                  <a:prstClr val="black"/>
                </a:solidFill>
                <a:cs typeface="Calibri"/>
              </a:rPr>
              <a:t> </a:t>
            </a:r>
            <a:r>
              <a:rPr spc="-15" dirty="0">
                <a:solidFill>
                  <a:prstClr val="black"/>
                </a:solidFill>
                <a:cs typeface="Calibri"/>
              </a:rPr>
              <a:t>exchange</a:t>
            </a:r>
            <a:r>
              <a:rPr spc="5" dirty="0">
                <a:solidFill>
                  <a:prstClr val="black"/>
                </a:solidFill>
                <a:cs typeface="Calibri"/>
              </a:rPr>
              <a:t> </a:t>
            </a:r>
            <a:r>
              <a:rPr spc="-15" dirty="0">
                <a:solidFill>
                  <a:prstClr val="black"/>
                </a:solidFill>
                <a:cs typeface="Calibri"/>
              </a:rPr>
              <a:t>data</a:t>
            </a:r>
            <a:r>
              <a:rPr dirty="0">
                <a:solidFill>
                  <a:prstClr val="black"/>
                </a:solidFill>
                <a:cs typeface="Calibri"/>
              </a:rPr>
              <a:t> </a:t>
            </a:r>
            <a:r>
              <a:rPr spc="-5" dirty="0">
                <a:solidFill>
                  <a:prstClr val="black"/>
                </a:solidFill>
                <a:cs typeface="Calibri"/>
              </a:rPr>
              <a:t>among </a:t>
            </a:r>
            <a:r>
              <a:rPr spc="-390" dirty="0">
                <a:solidFill>
                  <a:prstClr val="black"/>
                </a:solidFill>
                <a:cs typeface="Calibri"/>
              </a:rPr>
              <a:t> </a:t>
            </a:r>
            <a:r>
              <a:rPr spc="-10" dirty="0">
                <a:solidFill>
                  <a:prstClr val="black"/>
                </a:solidFill>
                <a:cs typeface="Calibri"/>
              </a:rPr>
              <a:t>processors</a:t>
            </a:r>
            <a:endParaRPr dirty="0">
              <a:solidFill>
                <a:prstClr val="black"/>
              </a:solidFill>
              <a:cs typeface="Calibri"/>
            </a:endParaRPr>
          </a:p>
          <a:p>
            <a:pPr>
              <a:spcBef>
                <a:spcPts val="10"/>
              </a:spcBef>
            </a:pPr>
            <a:endParaRPr sz="2450" dirty="0">
              <a:solidFill>
                <a:prstClr val="black"/>
              </a:solidFill>
              <a:cs typeface="Calibri"/>
            </a:endParaRPr>
          </a:p>
        </p:txBody>
      </p:sp>
      <p:sp>
        <p:nvSpPr>
          <p:cNvPr id="4" name="object 4"/>
          <p:cNvSpPr txBox="1">
            <a:spLocks noGrp="1"/>
          </p:cNvSpPr>
          <p:nvPr>
            <p:ph type="title"/>
          </p:nvPr>
        </p:nvSpPr>
        <p:spPr>
          <a:xfrm>
            <a:off x="612987" y="171610"/>
            <a:ext cx="8227060" cy="443070"/>
          </a:xfrm>
          <a:prstGeom prst="rect">
            <a:avLst/>
          </a:prstGeom>
        </p:spPr>
        <p:txBody>
          <a:bodyPr vert="horz" wrap="square" lIns="0" tIns="12065" rIns="0" bIns="0" rtlCol="0">
            <a:spAutoFit/>
          </a:bodyPr>
          <a:lstStyle/>
          <a:p>
            <a:pPr marL="12700">
              <a:lnSpc>
                <a:spcPct val="100000"/>
              </a:lnSpc>
              <a:spcBef>
                <a:spcPts val="95"/>
              </a:spcBef>
            </a:pPr>
            <a:r>
              <a:rPr sz="2800" spc="-20" dirty="0"/>
              <a:t>Parallel</a:t>
            </a:r>
            <a:r>
              <a:rPr sz="2800" spc="25" dirty="0"/>
              <a:t> </a:t>
            </a:r>
            <a:r>
              <a:rPr sz="2800" spc="-15" dirty="0"/>
              <a:t>Computer</a:t>
            </a:r>
            <a:r>
              <a:rPr sz="2800" spc="10" dirty="0"/>
              <a:t> </a:t>
            </a:r>
            <a:r>
              <a:rPr sz="2800" spc="-5" dirty="0"/>
              <a:t>Memory </a:t>
            </a:r>
            <a:r>
              <a:rPr sz="2800" spc="-10" dirty="0"/>
              <a:t>Architectures</a:t>
            </a:r>
            <a:r>
              <a:rPr sz="2800" u="none" spc="-10" dirty="0"/>
              <a:t>:</a:t>
            </a:r>
            <a:endParaRPr sz="2800"/>
          </a:p>
        </p:txBody>
      </p:sp>
      <p:sp>
        <p:nvSpPr>
          <p:cNvPr id="6" name="Rectangle 5"/>
          <p:cNvSpPr/>
          <p:nvPr/>
        </p:nvSpPr>
        <p:spPr>
          <a:xfrm>
            <a:off x="580136" y="3890107"/>
            <a:ext cx="11413744" cy="2300630"/>
          </a:xfrm>
          <a:prstGeom prst="rect">
            <a:avLst/>
          </a:prstGeom>
        </p:spPr>
        <p:txBody>
          <a:bodyPr wrap="square">
            <a:spAutoFit/>
          </a:bodyPr>
          <a:lstStyle/>
          <a:p>
            <a:pPr marL="12700"/>
            <a:r>
              <a:rPr lang="en-US" b="1" spc="-10" dirty="0">
                <a:solidFill>
                  <a:prstClr val="black"/>
                </a:solidFill>
                <a:cs typeface="Calibri"/>
              </a:rPr>
              <a:t>Advantages:</a:t>
            </a:r>
            <a:endParaRPr lang="en-US" dirty="0">
              <a:solidFill>
                <a:prstClr val="black"/>
              </a:solidFill>
              <a:cs typeface="Calibri"/>
            </a:endParaRPr>
          </a:p>
          <a:p>
            <a:pPr marL="299085" indent="-287020">
              <a:spcBef>
                <a:spcPts val="5"/>
              </a:spcBef>
              <a:buFont typeface="Wingdings"/>
              <a:buChar char=""/>
              <a:tabLst>
                <a:tab pos="299720" algn="l"/>
              </a:tabLst>
            </a:pPr>
            <a:r>
              <a:rPr lang="en-US" dirty="0">
                <a:solidFill>
                  <a:prstClr val="black"/>
                </a:solidFill>
                <a:cs typeface="Calibri"/>
              </a:rPr>
              <a:t>Memory</a:t>
            </a:r>
            <a:r>
              <a:rPr lang="en-US" spc="-5" dirty="0">
                <a:solidFill>
                  <a:prstClr val="black"/>
                </a:solidFill>
                <a:cs typeface="Calibri"/>
              </a:rPr>
              <a:t> </a:t>
            </a:r>
            <a:r>
              <a:rPr lang="en-US" dirty="0">
                <a:solidFill>
                  <a:prstClr val="black"/>
                </a:solidFill>
                <a:cs typeface="Calibri"/>
              </a:rPr>
              <a:t>is</a:t>
            </a:r>
            <a:r>
              <a:rPr lang="en-US" spc="-5" dirty="0">
                <a:solidFill>
                  <a:prstClr val="black"/>
                </a:solidFill>
                <a:cs typeface="Calibri"/>
              </a:rPr>
              <a:t> scalable</a:t>
            </a:r>
            <a:r>
              <a:rPr lang="en-US" dirty="0">
                <a:solidFill>
                  <a:prstClr val="black"/>
                </a:solidFill>
                <a:cs typeface="Calibri"/>
              </a:rPr>
              <a:t> </a:t>
            </a:r>
            <a:r>
              <a:rPr lang="en-US" spc="-5" dirty="0">
                <a:solidFill>
                  <a:prstClr val="black"/>
                </a:solidFill>
                <a:cs typeface="Calibri"/>
              </a:rPr>
              <a:t>with</a:t>
            </a:r>
            <a:r>
              <a:rPr lang="en-US" spc="5" dirty="0">
                <a:solidFill>
                  <a:prstClr val="black"/>
                </a:solidFill>
                <a:cs typeface="Calibri"/>
              </a:rPr>
              <a:t> </a:t>
            </a:r>
            <a:r>
              <a:rPr lang="en-US" dirty="0">
                <a:solidFill>
                  <a:prstClr val="black"/>
                </a:solidFill>
                <a:cs typeface="Calibri"/>
              </a:rPr>
              <a:t>the</a:t>
            </a:r>
            <a:r>
              <a:rPr lang="en-US" spc="5" dirty="0">
                <a:solidFill>
                  <a:prstClr val="black"/>
                </a:solidFill>
                <a:cs typeface="Calibri"/>
              </a:rPr>
              <a:t> </a:t>
            </a:r>
            <a:r>
              <a:rPr lang="en-US" spc="-5" dirty="0">
                <a:solidFill>
                  <a:prstClr val="black"/>
                </a:solidFill>
                <a:cs typeface="Calibri"/>
              </a:rPr>
              <a:t>number of</a:t>
            </a:r>
            <a:r>
              <a:rPr lang="en-US" spc="10" dirty="0">
                <a:solidFill>
                  <a:prstClr val="black"/>
                </a:solidFill>
                <a:cs typeface="Calibri"/>
              </a:rPr>
              <a:t> </a:t>
            </a:r>
            <a:r>
              <a:rPr lang="en-US" spc="-5" dirty="0">
                <a:solidFill>
                  <a:prstClr val="black"/>
                </a:solidFill>
                <a:cs typeface="Calibri"/>
              </a:rPr>
              <a:t>CPUs</a:t>
            </a:r>
            <a:endParaRPr lang="en-US" dirty="0">
              <a:solidFill>
                <a:prstClr val="black"/>
              </a:solidFill>
              <a:cs typeface="Calibri"/>
            </a:endParaRPr>
          </a:p>
          <a:p>
            <a:pPr marL="299085" marR="146685" indent="-287020">
              <a:buFont typeface="Wingdings"/>
              <a:buChar char=""/>
              <a:tabLst>
                <a:tab pos="299720" algn="l"/>
              </a:tabLst>
            </a:pPr>
            <a:r>
              <a:rPr lang="en-US" spc="-10" dirty="0">
                <a:solidFill>
                  <a:prstClr val="black"/>
                </a:solidFill>
                <a:cs typeface="Calibri"/>
              </a:rPr>
              <a:t>Each</a:t>
            </a:r>
            <a:r>
              <a:rPr lang="en-US" spc="-5" dirty="0">
                <a:solidFill>
                  <a:prstClr val="black"/>
                </a:solidFill>
                <a:cs typeface="Calibri"/>
              </a:rPr>
              <a:t> CPU</a:t>
            </a:r>
            <a:r>
              <a:rPr lang="en-US" spc="5" dirty="0">
                <a:solidFill>
                  <a:prstClr val="black"/>
                </a:solidFill>
                <a:cs typeface="Calibri"/>
              </a:rPr>
              <a:t> </a:t>
            </a:r>
            <a:r>
              <a:rPr lang="en-US" spc="-10" dirty="0">
                <a:solidFill>
                  <a:prstClr val="black"/>
                </a:solidFill>
                <a:cs typeface="Calibri"/>
              </a:rPr>
              <a:t>can</a:t>
            </a:r>
            <a:r>
              <a:rPr lang="en-US" spc="20" dirty="0">
                <a:solidFill>
                  <a:prstClr val="black"/>
                </a:solidFill>
                <a:cs typeface="Calibri"/>
              </a:rPr>
              <a:t> </a:t>
            </a:r>
            <a:r>
              <a:rPr lang="en-US" spc="-10" dirty="0">
                <a:solidFill>
                  <a:prstClr val="black"/>
                </a:solidFill>
                <a:cs typeface="Calibri"/>
              </a:rPr>
              <a:t>rapidly</a:t>
            </a:r>
            <a:r>
              <a:rPr lang="en-US" spc="10" dirty="0">
                <a:solidFill>
                  <a:prstClr val="black"/>
                </a:solidFill>
                <a:cs typeface="Calibri"/>
              </a:rPr>
              <a:t> </a:t>
            </a:r>
            <a:r>
              <a:rPr lang="en-US" spc="-5" dirty="0">
                <a:solidFill>
                  <a:prstClr val="black"/>
                </a:solidFill>
                <a:cs typeface="Calibri"/>
              </a:rPr>
              <a:t>access</a:t>
            </a:r>
            <a:r>
              <a:rPr lang="en-US" spc="5" dirty="0">
                <a:solidFill>
                  <a:prstClr val="black"/>
                </a:solidFill>
                <a:cs typeface="Calibri"/>
              </a:rPr>
              <a:t> </a:t>
            </a:r>
            <a:r>
              <a:rPr lang="en-US" spc="-5" dirty="0">
                <a:solidFill>
                  <a:prstClr val="black"/>
                </a:solidFill>
                <a:cs typeface="Calibri"/>
              </a:rPr>
              <a:t>its</a:t>
            </a:r>
            <a:r>
              <a:rPr lang="en-US" spc="5" dirty="0">
                <a:solidFill>
                  <a:prstClr val="black"/>
                </a:solidFill>
                <a:cs typeface="Calibri"/>
              </a:rPr>
              <a:t> </a:t>
            </a:r>
            <a:r>
              <a:rPr lang="en-US" spc="-5" dirty="0">
                <a:solidFill>
                  <a:prstClr val="black"/>
                </a:solidFill>
                <a:cs typeface="Calibri"/>
              </a:rPr>
              <a:t>own</a:t>
            </a:r>
            <a:r>
              <a:rPr lang="en-US" spc="15" dirty="0">
                <a:solidFill>
                  <a:prstClr val="black"/>
                </a:solidFill>
                <a:cs typeface="Calibri"/>
              </a:rPr>
              <a:t> </a:t>
            </a:r>
            <a:r>
              <a:rPr lang="en-US" dirty="0">
                <a:solidFill>
                  <a:prstClr val="black"/>
                </a:solidFill>
                <a:cs typeface="Calibri"/>
              </a:rPr>
              <a:t>memory</a:t>
            </a:r>
            <a:r>
              <a:rPr lang="en-US" spc="5" dirty="0">
                <a:solidFill>
                  <a:prstClr val="black"/>
                </a:solidFill>
                <a:cs typeface="Calibri"/>
              </a:rPr>
              <a:t> </a:t>
            </a:r>
            <a:r>
              <a:rPr lang="en-US" spc="-5" dirty="0">
                <a:solidFill>
                  <a:prstClr val="black"/>
                </a:solidFill>
                <a:cs typeface="Calibri"/>
              </a:rPr>
              <a:t>without</a:t>
            </a:r>
            <a:r>
              <a:rPr lang="en-US" spc="15" dirty="0">
                <a:solidFill>
                  <a:prstClr val="black"/>
                </a:solidFill>
                <a:cs typeface="Calibri"/>
              </a:rPr>
              <a:t> </a:t>
            </a:r>
            <a:r>
              <a:rPr lang="en-US" spc="-5" dirty="0">
                <a:solidFill>
                  <a:prstClr val="black"/>
                </a:solidFill>
                <a:cs typeface="Calibri"/>
              </a:rPr>
              <a:t>overhead</a:t>
            </a:r>
            <a:r>
              <a:rPr lang="en-US" spc="20" dirty="0">
                <a:solidFill>
                  <a:prstClr val="black"/>
                </a:solidFill>
                <a:cs typeface="Calibri"/>
              </a:rPr>
              <a:t> </a:t>
            </a:r>
            <a:r>
              <a:rPr lang="en-US" spc="-10" dirty="0">
                <a:solidFill>
                  <a:prstClr val="black"/>
                </a:solidFill>
                <a:cs typeface="Calibri"/>
              </a:rPr>
              <a:t>incurred</a:t>
            </a:r>
            <a:r>
              <a:rPr lang="en-US" spc="30" dirty="0">
                <a:solidFill>
                  <a:prstClr val="black"/>
                </a:solidFill>
                <a:cs typeface="Calibri"/>
              </a:rPr>
              <a:t> </a:t>
            </a:r>
            <a:r>
              <a:rPr lang="en-US" spc="-5" dirty="0">
                <a:solidFill>
                  <a:prstClr val="black"/>
                </a:solidFill>
                <a:cs typeface="Calibri"/>
              </a:rPr>
              <a:t>with</a:t>
            </a:r>
            <a:r>
              <a:rPr lang="en-US" spc="15" dirty="0">
                <a:solidFill>
                  <a:prstClr val="black"/>
                </a:solidFill>
                <a:cs typeface="Calibri"/>
              </a:rPr>
              <a:t> </a:t>
            </a:r>
            <a:r>
              <a:rPr lang="en-US" dirty="0">
                <a:solidFill>
                  <a:prstClr val="black"/>
                </a:solidFill>
                <a:cs typeface="Calibri"/>
              </a:rPr>
              <a:t>trying</a:t>
            </a:r>
            <a:r>
              <a:rPr lang="en-US" spc="10" dirty="0">
                <a:solidFill>
                  <a:prstClr val="black"/>
                </a:solidFill>
                <a:cs typeface="Calibri"/>
              </a:rPr>
              <a:t> </a:t>
            </a:r>
            <a:r>
              <a:rPr lang="en-US" spc="-10" dirty="0">
                <a:solidFill>
                  <a:prstClr val="black"/>
                </a:solidFill>
                <a:cs typeface="Calibri"/>
              </a:rPr>
              <a:t>to </a:t>
            </a:r>
            <a:r>
              <a:rPr lang="en-US" spc="-390" dirty="0">
                <a:solidFill>
                  <a:prstClr val="black"/>
                </a:solidFill>
                <a:cs typeface="Calibri"/>
              </a:rPr>
              <a:t> </a:t>
            </a:r>
            <a:r>
              <a:rPr lang="en-US" spc="-10" dirty="0">
                <a:solidFill>
                  <a:prstClr val="black"/>
                </a:solidFill>
                <a:cs typeface="Calibri"/>
              </a:rPr>
              <a:t>maintain</a:t>
            </a:r>
            <a:r>
              <a:rPr lang="en-US" spc="5" dirty="0">
                <a:solidFill>
                  <a:prstClr val="black"/>
                </a:solidFill>
                <a:cs typeface="Calibri"/>
              </a:rPr>
              <a:t> </a:t>
            </a:r>
            <a:r>
              <a:rPr lang="en-US" dirty="0">
                <a:solidFill>
                  <a:prstClr val="black"/>
                </a:solidFill>
                <a:cs typeface="Calibri"/>
              </a:rPr>
              <a:t>global</a:t>
            </a:r>
            <a:r>
              <a:rPr lang="en-US" spc="5" dirty="0">
                <a:solidFill>
                  <a:prstClr val="black"/>
                </a:solidFill>
                <a:cs typeface="Calibri"/>
              </a:rPr>
              <a:t> </a:t>
            </a:r>
            <a:r>
              <a:rPr lang="en-US" spc="-5" dirty="0">
                <a:solidFill>
                  <a:prstClr val="black"/>
                </a:solidFill>
                <a:cs typeface="Calibri"/>
              </a:rPr>
              <a:t>cache</a:t>
            </a:r>
            <a:r>
              <a:rPr lang="en-US" spc="10" dirty="0">
                <a:solidFill>
                  <a:prstClr val="black"/>
                </a:solidFill>
                <a:cs typeface="Calibri"/>
              </a:rPr>
              <a:t> </a:t>
            </a:r>
            <a:r>
              <a:rPr lang="en-US" spc="-10" dirty="0">
                <a:solidFill>
                  <a:prstClr val="black"/>
                </a:solidFill>
                <a:cs typeface="Calibri"/>
              </a:rPr>
              <a:t>coherency</a:t>
            </a:r>
            <a:endParaRPr lang="en-US" dirty="0">
              <a:solidFill>
                <a:prstClr val="black"/>
              </a:solidFill>
              <a:cs typeface="Calibri"/>
            </a:endParaRPr>
          </a:p>
          <a:p>
            <a:pPr>
              <a:spcBef>
                <a:spcPts val="20"/>
              </a:spcBef>
              <a:buFont typeface="Wingdings"/>
              <a:buChar char=""/>
            </a:pPr>
            <a:endParaRPr lang="en-US" sz="1750" dirty="0">
              <a:solidFill>
                <a:prstClr val="black"/>
              </a:solidFill>
              <a:cs typeface="Calibri"/>
            </a:endParaRPr>
          </a:p>
          <a:p>
            <a:pPr marL="12700"/>
            <a:r>
              <a:rPr lang="en-US" b="1" spc="-10" dirty="0">
                <a:solidFill>
                  <a:prstClr val="black"/>
                </a:solidFill>
                <a:cs typeface="Calibri"/>
              </a:rPr>
              <a:t>Disadvantages:</a:t>
            </a:r>
            <a:endParaRPr lang="en-US" dirty="0">
              <a:solidFill>
                <a:prstClr val="black"/>
              </a:solidFill>
              <a:cs typeface="Calibri"/>
            </a:endParaRPr>
          </a:p>
          <a:p>
            <a:pPr marL="299085" marR="13335" indent="-287020">
              <a:buFont typeface="Wingdings"/>
              <a:buChar char=""/>
              <a:tabLst>
                <a:tab pos="299720" algn="l"/>
              </a:tabLst>
            </a:pPr>
            <a:r>
              <a:rPr lang="en-US" spc="-10" dirty="0">
                <a:solidFill>
                  <a:prstClr val="black"/>
                </a:solidFill>
                <a:cs typeface="Calibri"/>
              </a:rPr>
              <a:t>Programmer</a:t>
            </a:r>
            <a:r>
              <a:rPr lang="en-US" dirty="0">
                <a:solidFill>
                  <a:prstClr val="black"/>
                </a:solidFill>
                <a:cs typeface="Calibri"/>
              </a:rPr>
              <a:t> </a:t>
            </a:r>
            <a:r>
              <a:rPr lang="en-US" spc="-5" dirty="0">
                <a:solidFill>
                  <a:prstClr val="black"/>
                </a:solidFill>
                <a:cs typeface="Calibri"/>
              </a:rPr>
              <a:t>is</a:t>
            </a:r>
            <a:r>
              <a:rPr lang="en-US" spc="5" dirty="0">
                <a:solidFill>
                  <a:prstClr val="black"/>
                </a:solidFill>
                <a:cs typeface="Calibri"/>
              </a:rPr>
              <a:t> </a:t>
            </a:r>
            <a:r>
              <a:rPr lang="en-US" spc="-5" dirty="0">
                <a:solidFill>
                  <a:prstClr val="black"/>
                </a:solidFill>
                <a:cs typeface="Calibri"/>
              </a:rPr>
              <a:t>responsible </a:t>
            </a:r>
            <a:r>
              <a:rPr lang="en-US" spc="-15" dirty="0">
                <a:solidFill>
                  <a:prstClr val="black"/>
                </a:solidFill>
                <a:cs typeface="Calibri"/>
              </a:rPr>
              <a:t>for</a:t>
            </a:r>
            <a:r>
              <a:rPr lang="en-US" spc="10" dirty="0">
                <a:solidFill>
                  <a:prstClr val="black"/>
                </a:solidFill>
                <a:cs typeface="Calibri"/>
              </a:rPr>
              <a:t> </a:t>
            </a:r>
            <a:r>
              <a:rPr lang="en-US" spc="-10" dirty="0">
                <a:solidFill>
                  <a:prstClr val="black"/>
                </a:solidFill>
                <a:cs typeface="Calibri"/>
              </a:rPr>
              <a:t>many</a:t>
            </a:r>
            <a:r>
              <a:rPr lang="en-US" dirty="0">
                <a:solidFill>
                  <a:prstClr val="black"/>
                </a:solidFill>
                <a:cs typeface="Calibri"/>
              </a:rPr>
              <a:t> </a:t>
            </a:r>
            <a:r>
              <a:rPr lang="en-US" spc="-5" dirty="0">
                <a:solidFill>
                  <a:prstClr val="black"/>
                </a:solidFill>
                <a:cs typeface="Calibri"/>
              </a:rPr>
              <a:t>of</a:t>
            </a:r>
            <a:r>
              <a:rPr lang="en-US" dirty="0">
                <a:solidFill>
                  <a:prstClr val="black"/>
                </a:solidFill>
                <a:cs typeface="Calibri"/>
              </a:rPr>
              <a:t> the</a:t>
            </a:r>
            <a:r>
              <a:rPr lang="en-US" spc="15" dirty="0">
                <a:solidFill>
                  <a:prstClr val="black"/>
                </a:solidFill>
                <a:cs typeface="Calibri"/>
              </a:rPr>
              <a:t> </a:t>
            </a:r>
            <a:r>
              <a:rPr lang="en-US" spc="-10" dirty="0">
                <a:solidFill>
                  <a:prstClr val="black"/>
                </a:solidFill>
                <a:cs typeface="Calibri"/>
              </a:rPr>
              <a:t>details</a:t>
            </a:r>
            <a:r>
              <a:rPr lang="en-US" spc="20" dirty="0">
                <a:solidFill>
                  <a:prstClr val="black"/>
                </a:solidFill>
                <a:cs typeface="Calibri"/>
              </a:rPr>
              <a:t> </a:t>
            </a:r>
            <a:r>
              <a:rPr lang="en-US" spc="-10" dirty="0">
                <a:solidFill>
                  <a:prstClr val="black"/>
                </a:solidFill>
                <a:cs typeface="Calibri"/>
              </a:rPr>
              <a:t>associated</a:t>
            </a:r>
            <a:r>
              <a:rPr lang="en-US" spc="10" dirty="0">
                <a:solidFill>
                  <a:prstClr val="black"/>
                </a:solidFill>
                <a:cs typeface="Calibri"/>
              </a:rPr>
              <a:t> </a:t>
            </a:r>
            <a:r>
              <a:rPr lang="en-US" spc="-5" dirty="0">
                <a:solidFill>
                  <a:prstClr val="black"/>
                </a:solidFill>
                <a:cs typeface="Calibri"/>
              </a:rPr>
              <a:t>with</a:t>
            </a:r>
            <a:r>
              <a:rPr lang="en-US" spc="25" dirty="0">
                <a:solidFill>
                  <a:prstClr val="black"/>
                </a:solidFill>
                <a:cs typeface="Calibri"/>
              </a:rPr>
              <a:t> </a:t>
            </a:r>
            <a:r>
              <a:rPr lang="en-US" spc="-15" dirty="0">
                <a:solidFill>
                  <a:prstClr val="black"/>
                </a:solidFill>
                <a:cs typeface="Calibri"/>
              </a:rPr>
              <a:t>data</a:t>
            </a:r>
            <a:r>
              <a:rPr lang="en-US" spc="-5" dirty="0">
                <a:solidFill>
                  <a:prstClr val="black"/>
                </a:solidFill>
                <a:cs typeface="Calibri"/>
              </a:rPr>
              <a:t> </a:t>
            </a:r>
            <a:r>
              <a:rPr lang="en-US" spc="-10" dirty="0">
                <a:solidFill>
                  <a:prstClr val="black"/>
                </a:solidFill>
                <a:cs typeface="Calibri"/>
              </a:rPr>
              <a:t>communication </a:t>
            </a:r>
            <a:r>
              <a:rPr lang="en-US" spc="-395" dirty="0">
                <a:solidFill>
                  <a:prstClr val="black"/>
                </a:solidFill>
                <a:cs typeface="Calibri"/>
              </a:rPr>
              <a:t> </a:t>
            </a:r>
            <a:r>
              <a:rPr lang="en-US" spc="-5" dirty="0">
                <a:solidFill>
                  <a:prstClr val="black"/>
                </a:solidFill>
                <a:cs typeface="Calibri"/>
              </a:rPr>
              <a:t>between</a:t>
            </a:r>
            <a:r>
              <a:rPr lang="en-US" spc="5" dirty="0">
                <a:solidFill>
                  <a:prstClr val="black"/>
                </a:solidFill>
                <a:cs typeface="Calibri"/>
              </a:rPr>
              <a:t> </a:t>
            </a:r>
            <a:r>
              <a:rPr lang="en-US" spc="-10" dirty="0">
                <a:solidFill>
                  <a:prstClr val="black"/>
                </a:solidFill>
                <a:cs typeface="Calibri"/>
              </a:rPr>
              <a:t>processors</a:t>
            </a:r>
            <a:endParaRPr lang="en-US" dirty="0">
              <a:solidFill>
                <a:prstClr val="black"/>
              </a:solidFill>
              <a:cs typeface="Calibri"/>
            </a:endParaRPr>
          </a:p>
          <a:p>
            <a:pPr marL="299085" marR="100965" indent="-287020">
              <a:spcBef>
                <a:spcPts val="5"/>
              </a:spcBef>
              <a:buFont typeface="Wingdings"/>
              <a:buChar char=""/>
              <a:tabLst>
                <a:tab pos="299720" algn="l"/>
              </a:tabLst>
            </a:pPr>
            <a:r>
              <a:rPr lang="en-US" dirty="0">
                <a:solidFill>
                  <a:prstClr val="black"/>
                </a:solidFill>
                <a:cs typeface="Calibri"/>
              </a:rPr>
              <a:t>It</a:t>
            </a:r>
            <a:r>
              <a:rPr lang="en-US" spc="5" dirty="0">
                <a:solidFill>
                  <a:prstClr val="black"/>
                </a:solidFill>
                <a:cs typeface="Calibri"/>
              </a:rPr>
              <a:t> </a:t>
            </a:r>
            <a:r>
              <a:rPr lang="en-US" spc="-5" dirty="0">
                <a:solidFill>
                  <a:prstClr val="black"/>
                </a:solidFill>
                <a:cs typeface="Calibri"/>
              </a:rPr>
              <a:t>is</a:t>
            </a:r>
            <a:r>
              <a:rPr lang="en-US" spc="5" dirty="0">
                <a:solidFill>
                  <a:prstClr val="black"/>
                </a:solidFill>
                <a:cs typeface="Calibri"/>
              </a:rPr>
              <a:t> </a:t>
            </a:r>
            <a:r>
              <a:rPr lang="en-US" spc="-5" dirty="0">
                <a:solidFill>
                  <a:prstClr val="black"/>
                </a:solidFill>
                <a:cs typeface="Calibri"/>
              </a:rPr>
              <a:t>usually</a:t>
            </a:r>
            <a:r>
              <a:rPr lang="en-US" spc="5" dirty="0">
                <a:solidFill>
                  <a:prstClr val="black"/>
                </a:solidFill>
                <a:cs typeface="Calibri"/>
              </a:rPr>
              <a:t> </a:t>
            </a:r>
            <a:r>
              <a:rPr lang="en-US" spc="-10" dirty="0">
                <a:solidFill>
                  <a:prstClr val="black"/>
                </a:solidFill>
                <a:cs typeface="Calibri"/>
              </a:rPr>
              <a:t>difficult</a:t>
            </a:r>
            <a:r>
              <a:rPr lang="en-US" spc="20" dirty="0">
                <a:solidFill>
                  <a:prstClr val="black"/>
                </a:solidFill>
                <a:cs typeface="Calibri"/>
              </a:rPr>
              <a:t> </a:t>
            </a:r>
            <a:r>
              <a:rPr lang="en-US" spc="-10" dirty="0">
                <a:solidFill>
                  <a:prstClr val="black"/>
                </a:solidFill>
                <a:cs typeface="Calibri"/>
              </a:rPr>
              <a:t>to</a:t>
            </a:r>
            <a:r>
              <a:rPr lang="en-US" dirty="0">
                <a:solidFill>
                  <a:prstClr val="black"/>
                </a:solidFill>
                <a:cs typeface="Calibri"/>
              </a:rPr>
              <a:t> map</a:t>
            </a:r>
            <a:r>
              <a:rPr lang="en-US" spc="15" dirty="0">
                <a:solidFill>
                  <a:prstClr val="black"/>
                </a:solidFill>
                <a:cs typeface="Calibri"/>
              </a:rPr>
              <a:t> </a:t>
            </a:r>
            <a:r>
              <a:rPr lang="en-US" spc="-10" dirty="0">
                <a:solidFill>
                  <a:prstClr val="black"/>
                </a:solidFill>
                <a:cs typeface="Calibri"/>
              </a:rPr>
              <a:t>existing</a:t>
            </a:r>
            <a:r>
              <a:rPr lang="en-US" spc="5" dirty="0">
                <a:solidFill>
                  <a:prstClr val="black"/>
                </a:solidFill>
                <a:cs typeface="Calibri"/>
              </a:rPr>
              <a:t> </a:t>
            </a:r>
            <a:r>
              <a:rPr lang="en-US" spc="-15" dirty="0">
                <a:solidFill>
                  <a:prstClr val="black"/>
                </a:solidFill>
                <a:cs typeface="Calibri"/>
              </a:rPr>
              <a:t>data</a:t>
            </a:r>
            <a:r>
              <a:rPr lang="en-US" dirty="0">
                <a:solidFill>
                  <a:prstClr val="black"/>
                </a:solidFill>
                <a:cs typeface="Calibri"/>
              </a:rPr>
              <a:t> </a:t>
            </a:r>
            <a:r>
              <a:rPr lang="en-US" spc="-10" dirty="0">
                <a:solidFill>
                  <a:prstClr val="black"/>
                </a:solidFill>
                <a:cs typeface="Calibri"/>
              </a:rPr>
              <a:t>structures</a:t>
            </a:r>
            <a:r>
              <a:rPr lang="en-US" spc="20" dirty="0">
                <a:solidFill>
                  <a:prstClr val="black"/>
                </a:solidFill>
                <a:cs typeface="Calibri"/>
              </a:rPr>
              <a:t> </a:t>
            </a:r>
            <a:r>
              <a:rPr lang="en-US" spc="-10" dirty="0">
                <a:solidFill>
                  <a:prstClr val="black"/>
                </a:solidFill>
                <a:cs typeface="Calibri"/>
              </a:rPr>
              <a:t>to</a:t>
            </a:r>
            <a:r>
              <a:rPr lang="en-US" dirty="0">
                <a:solidFill>
                  <a:prstClr val="black"/>
                </a:solidFill>
                <a:cs typeface="Calibri"/>
              </a:rPr>
              <a:t> </a:t>
            </a:r>
            <a:r>
              <a:rPr lang="en-US" spc="-5" dirty="0">
                <a:solidFill>
                  <a:prstClr val="black"/>
                </a:solidFill>
                <a:cs typeface="Calibri"/>
              </a:rPr>
              <a:t>this</a:t>
            </a:r>
            <a:r>
              <a:rPr lang="en-US" spc="5" dirty="0">
                <a:solidFill>
                  <a:prstClr val="black"/>
                </a:solidFill>
                <a:cs typeface="Calibri"/>
              </a:rPr>
              <a:t> </a:t>
            </a:r>
            <a:r>
              <a:rPr lang="en-US" dirty="0">
                <a:solidFill>
                  <a:prstClr val="black"/>
                </a:solidFill>
                <a:cs typeface="Calibri"/>
              </a:rPr>
              <a:t>memory</a:t>
            </a:r>
            <a:r>
              <a:rPr lang="en-US" spc="10" dirty="0">
                <a:solidFill>
                  <a:prstClr val="black"/>
                </a:solidFill>
                <a:cs typeface="Calibri"/>
              </a:rPr>
              <a:t> </a:t>
            </a:r>
            <a:r>
              <a:rPr lang="en-US" spc="-15" dirty="0">
                <a:solidFill>
                  <a:prstClr val="black"/>
                </a:solidFill>
                <a:cs typeface="Calibri"/>
              </a:rPr>
              <a:t>organization,</a:t>
            </a:r>
            <a:r>
              <a:rPr lang="en-US" spc="20" dirty="0">
                <a:solidFill>
                  <a:prstClr val="black"/>
                </a:solidFill>
                <a:cs typeface="Calibri"/>
              </a:rPr>
              <a:t> </a:t>
            </a:r>
            <a:r>
              <a:rPr lang="en-US" spc="-5" dirty="0">
                <a:solidFill>
                  <a:prstClr val="black"/>
                </a:solidFill>
                <a:cs typeface="Calibri"/>
              </a:rPr>
              <a:t>based </a:t>
            </a:r>
            <a:r>
              <a:rPr lang="en-US" spc="-395" dirty="0">
                <a:solidFill>
                  <a:prstClr val="black"/>
                </a:solidFill>
                <a:cs typeface="Calibri"/>
              </a:rPr>
              <a:t> </a:t>
            </a:r>
            <a:r>
              <a:rPr lang="en-US" spc="-5" dirty="0">
                <a:solidFill>
                  <a:prstClr val="black"/>
                </a:solidFill>
                <a:cs typeface="Calibri"/>
              </a:rPr>
              <a:t>on</a:t>
            </a:r>
            <a:r>
              <a:rPr lang="en-US" spc="5" dirty="0">
                <a:solidFill>
                  <a:prstClr val="black"/>
                </a:solidFill>
                <a:cs typeface="Calibri"/>
              </a:rPr>
              <a:t> </a:t>
            </a:r>
            <a:r>
              <a:rPr lang="en-US" dirty="0">
                <a:solidFill>
                  <a:prstClr val="black"/>
                </a:solidFill>
                <a:cs typeface="Calibri"/>
              </a:rPr>
              <a:t>global</a:t>
            </a:r>
            <a:r>
              <a:rPr lang="en-US" spc="5" dirty="0">
                <a:solidFill>
                  <a:prstClr val="black"/>
                </a:solidFill>
                <a:cs typeface="Calibri"/>
              </a:rPr>
              <a:t> </a:t>
            </a:r>
            <a:r>
              <a:rPr lang="en-US" dirty="0">
                <a:solidFill>
                  <a:prstClr val="black"/>
                </a:solidFill>
                <a:cs typeface="Calibri"/>
              </a:rPr>
              <a:t>memory</a:t>
            </a:r>
          </a:p>
        </p:txBody>
      </p:sp>
    </p:spTree>
    <p:extLst>
      <p:ext uri="{BB962C8B-B14F-4D97-AF65-F5344CB8AC3E}">
        <p14:creationId xmlns:p14="http://schemas.microsoft.com/office/powerpoint/2010/main" val="3005352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9837" y="2080726"/>
            <a:ext cx="4966016" cy="1485122"/>
          </a:xfrm>
          <a:prstGeom prst="rect">
            <a:avLst/>
          </a:prstGeom>
        </p:spPr>
      </p:pic>
      <p:sp>
        <p:nvSpPr>
          <p:cNvPr id="3" name="object 3"/>
          <p:cNvSpPr txBox="1"/>
          <p:nvPr/>
        </p:nvSpPr>
        <p:spPr>
          <a:xfrm>
            <a:off x="612987" y="702314"/>
            <a:ext cx="9635912" cy="1155065"/>
          </a:xfrm>
          <a:prstGeom prst="rect">
            <a:avLst/>
          </a:prstGeom>
        </p:spPr>
        <p:txBody>
          <a:bodyPr vert="horz" wrap="square" lIns="0" tIns="13335" rIns="0" bIns="0" rtlCol="0">
            <a:spAutoFit/>
          </a:bodyPr>
          <a:lstStyle/>
          <a:p>
            <a:pPr marL="12700">
              <a:spcBef>
                <a:spcPts val="105"/>
              </a:spcBef>
            </a:pPr>
            <a:r>
              <a:rPr sz="2000" b="1" dirty="0">
                <a:solidFill>
                  <a:prstClr val="black"/>
                </a:solidFill>
                <a:cs typeface="Calibri"/>
              </a:rPr>
              <a:t>Hybrid</a:t>
            </a:r>
            <a:r>
              <a:rPr sz="2000" b="1" spc="-15" dirty="0">
                <a:solidFill>
                  <a:prstClr val="black"/>
                </a:solidFill>
                <a:cs typeface="Calibri"/>
              </a:rPr>
              <a:t> </a:t>
            </a:r>
            <a:r>
              <a:rPr sz="2000" b="1" spc="-5" dirty="0">
                <a:solidFill>
                  <a:prstClr val="black"/>
                </a:solidFill>
                <a:cs typeface="Calibri"/>
              </a:rPr>
              <a:t>Distributed</a:t>
            </a:r>
            <a:r>
              <a:rPr lang="en-US" sz="2000" b="1" spc="-5" dirty="0">
                <a:solidFill>
                  <a:prstClr val="black"/>
                </a:solidFill>
                <a:cs typeface="Calibri"/>
              </a:rPr>
              <a:t> </a:t>
            </a:r>
            <a:r>
              <a:rPr sz="2000" b="1" spc="-5" dirty="0">
                <a:solidFill>
                  <a:prstClr val="black"/>
                </a:solidFill>
                <a:cs typeface="Calibri"/>
              </a:rPr>
              <a:t>Shared</a:t>
            </a:r>
            <a:r>
              <a:rPr sz="2000" b="1" spc="-50" dirty="0">
                <a:solidFill>
                  <a:prstClr val="black"/>
                </a:solidFill>
                <a:cs typeface="Calibri"/>
              </a:rPr>
              <a:t> </a:t>
            </a:r>
            <a:r>
              <a:rPr sz="2000" b="1" dirty="0">
                <a:solidFill>
                  <a:prstClr val="black"/>
                </a:solidFill>
                <a:cs typeface="Calibri"/>
              </a:rPr>
              <a:t>Memory:</a:t>
            </a:r>
            <a:endParaRPr sz="2000" dirty="0">
              <a:solidFill>
                <a:prstClr val="black"/>
              </a:solidFill>
              <a:cs typeface="Calibri"/>
            </a:endParaRPr>
          </a:p>
          <a:p>
            <a:pPr>
              <a:spcBef>
                <a:spcPts val="30"/>
              </a:spcBef>
            </a:pPr>
            <a:endParaRPr sz="1750" dirty="0">
              <a:solidFill>
                <a:prstClr val="black"/>
              </a:solidFill>
              <a:cs typeface="Calibri"/>
            </a:endParaRPr>
          </a:p>
          <a:p>
            <a:pPr marL="12700" marR="5080"/>
            <a:r>
              <a:rPr spc="-5" dirty="0">
                <a:solidFill>
                  <a:prstClr val="black"/>
                </a:solidFill>
                <a:cs typeface="Calibri"/>
              </a:rPr>
              <a:t>The </a:t>
            </a:r>
            <a:r>
              <a:rPr spc="-10" dirty="0">
                <a:solidFill>
                  <a:prstClr val="black"/>
                </a:solidFill>
                <a:cs typeface="Calibri"/>
              </a:rPr>
              <a:t>largest</a:t>
            </a:r>
            <a:r>
              <a:rPr dirty="0">
                <a:solidFill>
                  <a:prstClr val="black"/>
                </a:solidFill>
                <a:cs typeface="Calibri"/>
              </a:rPr>
              <a:t> and</a:t>
            </a:r>
            <a:r>
              <a:rPr spc="10" dirty="0">
                <a:solidFill>
                  <a:prstClr val="black"/>
                </a:solidFill>
                <a:cs typeface="Calibri"/>
              </a:rPr>
              <a:t> </a:t>
            </a:r>
            <a:r>
              <a:rPr spc="-15" dirty="0">
                <a:solidFill>
                  <a:prstClr val="black"/>
                </a:solidFill>
                <a:cs typeface="Calibri"/>
              </a:rPr>
              <a:t>fastest</a:t>
            </a:r>
            <a:r>
              <a:rPr dirty="0">
                <a:solidFill>
                  <a:prstClr val="black"/>
                </a:solidFill>
                <a:cs typeface="Calibri"/>
              </a:rPr>
              <a:t> </a:t>
            </a:r>
            <a:r>
              <a:rPr spc="-15" dirty="0">
                <a:solidFill>
                  <a:prstClr val="black"/>
                </a:solidFill>
                <a:cs typeface="Calibri"/>
              </a:rPr>
              <a:t>computers</a:t>
            </a:r>
            <a:r>
              <a:rPr spc="15" dirty="0">
                <a:solidFill>
                  <a:prstClr val="black"/>
                </a:solidFill>
                <a:cs typeface="Calibri"/>
              </a:rPr>
              <a:t> </a:t>
            </a:r>
            <a:r>
              <a:rPr spc="-5" dirty="0">
                <a:solidFill>
                  <a:prstClr val="black"/>
                </a:solidFill>
                <a:cs typeface="Calibri"/>
              </a:rPr>
              <a:t>in</a:t>
            </a:r>
            <a:r>
              <a:rPr spc="10" dirty="0">
                <a:solidFill>
                  <a:prstClr val="black"/>
                </a:solidFill>
                <a:cs typeface="Calibri"/>
              </a:rPr>
              <a:t> </a:t>
            </a:r>
            <a:r>
              <a:rPr dirty="0">
                <a:solidFill>
                  <a:prstClr val="black"/>
                </a:solidFill>
                <a:cs typeface="Calibri"/>
              </a:rPr>
              <a:t>the </a:t>
            </a:r>
            <a:r>
              <a:rPr spc="-10" dirty="0">
                <a:solidFill>
                  <a:prstClr val="black"/>
                </a:solidFill>
                <a:cs typeface="Calibri"/>
              </a:rPr>
              <a:t>world</a:t>
            </a:r>
            <a:r>
              <a:rPr spc="25" dirty="0">
                <a:solidFill>
                  <a:prstClr val="black"/>
                </a:solidFill>
                <a:cs typeface="Calibri"/>
              </a:rPr>
              <a:t> </a:t>
            </a:r>
            <a:r>
              <a:rPr spc="-15" dirty="0">
                <a:solidFill>
                  <a:prstClr val="black"/>
                </a:solidFill>
                <a:cs typeface="Calibri"/>
              </a:rPr>
              <a:t>today</a:t>
            </a:r>
            <a:r>
              <a:rPr dirty="0">
                <a:solidFill>
                  <a:prstClr val="black"/>
                </a:solidFill>
                <a:cs typeface="Calibri"/>
              </a:rPr>
              <a:t> </a:t>
            </a:r>
            <a:r>
              <a:rPr spc="-5" dirty="0">
                <a:solidFill>
                  <a:prstClr val="black"/>
                </a:solidFill>
                <a:cs typeface="Calibri"/>
              </a:rPr>
              <a:t>employ</a:t>
            </a:r>
            <a:r>
              <a:rPr dirty="0">
                <a:solidFill>
                  <a:prstClr val="black"/>
                </a:solidFill>
                <a:cs typeface="Calibri"/>
              </a:rPr>
              <a:t> </a:t>
            </a:r>
            <a:r>
              <a:rPr spc="-5" dirty="0">
                <a:solidFill>
                  <a:prstClr val="black"/>
                </a:solidFill>
                <a:cs typeface="Calibri"/>
              </a:rPr>
              <a:t>both</a:t>
            </a:r>
            <a:r>
              <a:rPr spc="10" dirty="0">
                <a:solidFill>
                  <a:prstClr val="black"/>
                </a:solidFill>
                <a:cs typeface="Calibri"/>
              </a:rPr>
              <a:t> </a:t>
            </a:r>
            <a:r>
              <a:rPr spc="-5" dirty="0">
                <a:solidFill>
                  <a:prstClr val="black"/>
                </a:solidFill>
                <a:cs typeface="Calibri"/>
              </a:rPr>
              <a:t>shared</a:t>
            </a:r>
            <a:r>
              <a:rPr spc="5" dirty="0">
                <a:solidFill>
                  <a:prstClr val="black"/>
                </a:solidFill>
                <a:cs typeface="Calibri"/>
              </a:rPr>
              <a:t> </a:t>
            </a:r>
            <a:r>
              <a:rPr dirty="0">
                <a:solidFill>
                  <a:prstClr val="black"/>
                </a:solidFill>
                <a:cs typeface="Calibri"/>
              </a:rPr>
              <a:t>and </a:t>
            </a:r>
            <a:r>
              <a:rPr spc="-395" dirty="0">
                <a:solidFill>
                  <a:prstClr val="black"/>
                </a:solidFill>
                <a:cs typeface="Calibri"/>
              </a:rPr>
              <a:t> </a:t>
            </a:r>
            <a:r>
              <a:rPr spc="-10" dirty="0">
                <a:solidFill>
                  <a:prstClr val="black"/>
                </a:solidFill>
                <a:cs typeface="Calibri"/>
              </a:rPr>
              <a:t>distributed</a:t>
            </a:r>
            <a:r>
              <a:rPr spc="20" dirty="0">
                <a:solidFill>
                  <a:prstClr val="black"/>
                </a:solidFill>
                <a:cs typeface="Calibri"/>
              </a:rPr>
              <a:t> </a:t>
            </a:r>
            <a:r>
              <a:rPr dirty="0">
                <a:solidFill>
                  <a:prstClr val="black"/>
                </a:solidFill>
                <a:cs typeface="Calibri"/>
              </a:rPr>
              <a:t>memory </a:t>
            </a:r>
            <a:r>
              <a:rPr spc="-10" dirty="0">
                <a:solidFill>
                  <a:prstClr val="black"/>
                </a:solidFill>
                <a:cs typeface="Calibri"/>
              </a:rPr>
              <a:t>architectures.</a:t>
            </a:r>
            <a:endParaRPr dirty="0">
              <a:solidFill>
                <a:prstClr val="black"/>
              </a:solidFill>
              <a:cs typeface="Calibri"/>
            </a:endParaRPr>
          </a:p>
        </p:txBody>
      </p:sp>
      <p:sp>
        <p:nvSpPr>
          <p:cNvPr id="4" name="object 4"/>
          <p:cNvSpPr txBox="1"/>
          <p:nvPr/>
        </p:nvSpPr>
        <p:spPr>
          <a:xfrm>
            <a:off x="612987" y="3675969"/>
            <a:ext cx="9712112" cy="2342515"/>
          </a:xfrm>
          <a:prstGeom prst="rect">
            <a:avLst/>
          </a:prstGeom>
        </p:spPr>
        <p:txBody>
          <a:bodyPr vert="horz" wrap="square" lIns="0" tIns="12700" rIns="0" bIns="0" rtlCol="0">
            <a:spAutoFit/>
          </a:bodyPr>
          <a:lstStyle/>
          <a:p>
            <a:pPr marL="299085" indent="-287020">
              <a:spcBef>
                <a:spcPts val="100"/>
              </a:spcBef>
              <a:buFont typeface="Wingdings"/>
              <a:buChar char=""/>
              <a:tabLst>
                <a:tab pos="299720" algn="l"/>
              </a:tabLst>
            </a:pPr>
            <a:r>
              <a:rPr spc="-10" dirty="0">
                <a:solidFill>
                  <a:prstClr val="black"/>
                </a:solidFill>
                <a:cs typeface="Calibri"/>
              </a:rPr>
              <a:t>Shared</a:t>
            </a:r>
            <a:r>
              <a:rPr dirty="0">
                <a:solidFill>
                  <a:prstClr val="black"/>
                </a:solidFill>
                <a:cs typeface="Calibri"/>
              </a:rPr>
              <a:t> memory</a:t>
            </a:r>
            <a:r>
              <a:rPr spc="5" dirty="0">
                <a:solidFill>
                  <a:prstClr val="black"/>
                </a:solidFill>
                <a:cs typeface="Calibri"/>
              </a:rPr>
              <a:t> </a:t>
            </a:r>
            <a:r>
              <a:rPr spc="-5" dirty="0">
                <a:solidFill>
                  <a:prstClr val="black"/>
                </a:solidFill>
                <a:cs typeface="Calibri"/>
              </a:rPr>
              <a:t>component</a:t>
            </a:r>
            <a:r>
              <a:rPr spc="10" dirty="0">
                <a:solidFill>
                  <a:prstClr val="black"/>
                </a:solidFill>
                <a:cs typeface="Calibri"/>
              </a:rPr>
              <a:t> </a:t>
            </a:r>
            <a:r>
              <a:rPr spc="-10" dirty="0">
                <a:solidFill>
                  <a:prstClr val="black"/>
                </a:solidFill>
                <a:cs typeface="Calibri"/>
              </a:rPr>
              <a:t>can</a:t>
            </a:r>
            <a:r>
              <a:rPr spc="15" dirty="0">
                <a:solidFill>
                  <a:prstClr val="black"/>
                </a:solidFill>
                <a:cs typeface="Calibri"/>
              </a:rPr>
              <a:t> </a:t>
            </a:r>
            <a:r>
              <a:rPr spc="-5" dirty="0">
                <a:solidFill>
                  <a:prstClr val="black"/>
                </a:solidFill>
                <a:cs typeface="Calibri"/>
              </a:rPr>
              <a:t>be</a:t>
            </a:r>
            <a:r>
              <a:rPr dirty="0">
                <a:solidFill>
                  <a:prstClr val="black"/>
                </a:solidFill>
                <a:cs typeface="Calibri"/>
              </a:rPr>
              <a:t> a</a:t>
            </a:r>
            <a:r>
              <a:rPr spc="15" dirty="0">
                <a:solidFill>
                  <a:prstClr val="black"/>
                </a:solidFill>
                <a:cs typeface="Calibri"/>
              </a:rPr>
              <a:t> </a:t>
            </a:r>
            <a:r>
              <a:rPr spc="-10" dirty="0">
                <a:solidFill>
                  <a:prstClr val="black"/>
                </a:solidFill>
                <a:cs typeface="Calibri"/>
              </a:rPr>
              <a:t>shared</a:t>
            </a:r>
            <a:r>
              <a:rPr spc="5" dirty="0">
                <a:solidFill>
                  <a:prstClr val="black"/>
                </a:solidFill>
                <a:cs typeface="Calibri"/>
              </a:rPr>
              <a:t> </a:t>
            </a:r>
            <a:r>
              <a:rPr dirty="0">
                <a:solidFill>
                  <a:prstClr val="black"/>
                </a:solidFill>
                <a:cs typeface="Calibri"/>
              </a:rPr>
              <a:t>memory</a:t>
            </a:r>
            <a:r>
              <a:rPr spc="-10" dirty="0">
                <a:solidFill>
                  <a:prstClr val="black"/>
                </a:solidFill>
                <a:cs typeface="Calibri"/>
              </a:rPr>
              <a:t> </a:t>
            </a:r>
            <a:r>
              <a:rPr spc="-5" dirty="0">
                <a:solidFill>
                  <a:prstClr val="black"/>
                </a:solidFill>
                <a:cs typeface="Calibri"/>
              </a:rPr>
              <a:t>machine</a:t>
            </a:r>
            <a:r>
              <a:rPr spc="25" dirty="0">
                <a:solidFill>
                  <a:prstClr val="black"/>
                </a:solidFill>
                <a:cs typeface="Calibri"/>
              </a:rPr>
              <a:t> </a:t>
            </a:r>
            <a:r>
              <a:rPr spc="-10" dirty="0">
                <a:solidFill>
                  <a:prstClr val="black"/>
                </a:solidFill>
                <a:cs typeface="Calibri"/>
              </a:rPr>
              <a:t>and/or</a:t>
            </a:r>
            <a:r>
              <a:rPr spc="5" dirty="0">
                <a:solidFill>
                  <a:prstClr val="black"/>
                </a:solidFill>
                <a:cs typeface="Calibri"/>
              </a:rPr>
              <a:t> </a:t>
            </a:r>
            <a:r>
              <a:rPr dirty="0">
                <a:solidFill>
                  <a:prstClr val="black"/>
                </a:solidFill>
                <a:cs typeface="Calibri"/>
              </a:rPr>
              <a:t>GPU</a:t>
            </a:r>
            <a:endParaRPr>
              <a:solidFill>
                <a:prstClr val="black"/>
              </a:solidFill>
              <a:cs typeface="Calibri"/>
            </a:endParaRPr>
          </a:p>
          <a:p>
            <a:pPr marL="299085" indent="-287020">
              <a:buFont typeface="Wingdings"/>
              <a:buChar char=""/>
              <a:tabLst>
                <a:tab pos="299720" algn="l"/>
              </a:tabLst>
            </a:pPr>
            <a:r>
              <a:rPr spc="-10" dirty="0">
                <a:solidFill>
                  <a:prstClr val="black"/>
                </a:solidFill>
                <a:cs typeface="Calibri"/>
              </a:rPr>
              <a:t>Processors</a:t>
            </a:r>
            <a:r>
              <a:rPr spc="-20" dirty="0">
                <a:solidFill>
                  <a:prstClr val="black"/>
                </a:solidFill>
                <a:cs typeface="Calibri"/>
              </a:rPr>
              <a:t> </a:t>
            </a:r>
            <a:r>
              <a:rPr spc="-5" dirty="0">
                <a:solidFill>
                  <a:prstClr val="black"/>
                </a:solidFill>
                <a:cs typeface="Calibri"/>
              </a:rPr>
              <a:t>on</a:t>
            </a:r>
            <a:r>
              <a:rPr spc="5" dirty="0">
                <a:solidFill>
                  <a:prstClr val="black"/>
                </a:solidFill>
                <a:cs typeface="Calibri"/>
              </a:rPr>
              <a:t> </a:t>
            </a:r>
            <a:r>
              <a:rPr dirty="0">
                <a:solidFill>
                  <a:prstClr val="black"/>
                </a:solidFill>
                <a:cs typeface="Calibri"/>
              </a:rPr>
              <a:t>a</a:t>
            </a:r>
            <a:r>
              <a:rPr spc="-10" dirty="0">
                <a:solidFill>
                  <a:prstClr val="black"/>
                </a:solidFill>
                <a:cs typeface="Calibri"/>
              </a:rPr>
              <a:t> compute</a:t>
            </a:r>
            <a:r>
              <a:rPr spc="20" dirty="0">
                <a:solidFill>
                  <a:prstClr val="black"/>
                </a:solidFill>
                <a:cs typeface="Calibri"/>
              </a:rPr>
              <a:t> </a:t>
            </a:r>
            <a:r>
              <a:rPr spc="-5" dirty="0">
                <a:solidFill>
                  <a:prstClr val="black"/>
                </a:solidFill>
                <a:cs typeface="Calibri"/>
              </a:rPr>
              <a:t>node</a:t>
            </a:r>
            <a:r>
              <a:rPr spc="10" dirty="0">
                <a:solidFill>
                  <a:prstClr val="black"/>
                </a:solidFill>
                <a:cs typeface="Calibri"/>
              </a:rPr>
              <a:t> </a:t>
            </a:r>
            <a:r>
              <a:rPr spc="-10" dirty="0">
                <a:solidFill>
                  <a:prstClr val="black"/>
                </a:solidFill>
                <a:cs typeface="Calibri"/>
              </a:rPr>
              <a:t>share</a:t>
            </a:r>
            <a:r>
              <a:rPr spc="-5" dirty="0">
                <a:solidFill>
                  <a:prstClr val="black"/>
                </a:solidFill>
                <a:cs typeface="Calibri"/>
              </a:rPr>
              <a:t> </a:t>
            </a:r>
            <a:r>
              <a:rPr dirty="0">
                <a:solidFill>
                  <a:prstClr val="black"/>
                </a:solidFill>
                <a:cs typeface="Calibri"/>
              </a:rPr>
              <a:t>same</a:t>
            </a:r>
            <a:r>
              <a:rPr spc="-15" dirty="0">
                <a:solidFill>
                  <a:prstClr val="black"/>
                </a:solidFill>
                <a:cs typeface="Calibri"/>
              </a:rPr>
              <a:t> </a:t>
            </a:r>
            <a:r>
              <a:rPr dirty="0">
                <a:solidFill>
                  <a:prstClr val="black"/>
                </a:solidFill>
                <a:cs typeface="Calibri"/>
              </a:rPr>
              <a:t>memory</a:t>
            </a:r>
            <a:r>
              <a:rPr spc="-5" dirty="0">
                <a:solidFill>
                  <a:prstClr val="black"/>
                </a:solidFill>
                <a:cs typeface="Calibri"/>
              </a:rPr>
              <a:t> space</a:t>
            </a:r>
            <a:endParaRPr>
              <a:solidFill>
                <a:prstClr val="black"/>
              </a:solidFill>
              <a:cs typeface="Calibri"/>
            </a:endParaRPr>
          </a:p>
          <a:p>
            <a:pPr marL="299085" indent="-287020">
              <a:buFont typeface="Wingdings"/>
              <a:buChar char=""/>
              <a:tabLst>
                <a:tab pos="299720" algn="l"/>
              </a:tabLst>
            </a:pPr>
            <a:r>
              <a:rPr spc="-15" dirty="0">
                <a:solidFill>
                  <a:prstClr val="black"/>
                </a:solidFill>
                <a:cs typeface="Calibri"/>
              </a:rPr>
              <a:t>Requires</a:t>
            </a:r>
            <a:r>
              <a:rPr spc="20" dirty="0">
                <a:solidFill>
                  <a:prstClr val="black"/>
                </a:solidFill>
                <a:cs typeface="Calibri"/>
              </a:rPr>
              <a:t> </a:t>
            </a:r>
            <a:r>
              <a:rPr spc="-10" dirty="0">
                <a:solidFill>
                  <a:prstClr val="black"/>
                </a:solidFill>
                <a:cs typeface="Calibri"/>
              </a:rPr>
              <a:t>communication</a:t>
            </a:r>
            <a:r>
              <a:rPr spc="25" dirty="0">
                <a:solidFill>
                  <a:prstClr val="black"/>
                </a:solidFill>
                <a:cs typeface="Calibri"/>
              </a:rPr>
              <a:t> </a:t>
            </a:r>
            <a:r>
              <a:rPr spc="-10" dirty="0">
                <a:solidFill>
                  <a:prstClr val="black"/>
                </a:solidFill>
                <a:cs typeface="Calibri"/>
              </a:rPr>
              <a:t>to</a:t>
            </a:r>
            <a:r>
              <a:rPr dirty="0">
                <a:solidFill>
                  <a:prstClr val="black"/>
                </a:solidFill>
                <a:cs typeface="Calibri"/>
              </a:rPr>
              <a:t> </a:t>
            </a:r>
            <a:r>
              <a:rPr spc="-15" dirty="0">
                <a:solidFill>
                  <a:prstClr val="black"/>
                </a:solidFill>
                <a:cs typeface="Calibri"/>
              </a:rPr>
              <a:t>exchange</a:t>
            </a:r>
            <a:r>
              <a:rPr spc="5" dirty="0">
                <a:solidFill>
                  <a:prstClr val="black"/>
                </a:solidFill>
                <a:cs typeface="Calibri"/>
              </a:rPr>
              <a:t> </a:t>
            </a:r>
            <a:r>
              <a:rPr spc="-15" dirty="0">
                <a:solidFill>
                  <a:prstClr val="black"/>
                </a:solidFill>
                <a:cs typeface="Calibri"/>
              </a:rPr>
              <a:t>data</a:t>
            </a:r>
            <a:r>
              <a:rPr dirty="0">
                <a:solidFill>
                  <a:prstClr val="black"/>
                </a:solidFill>
                <a:cs typeface="Calibri"/>
              </a:rPr>
              <a:t> </a:t>
            </a:r>
            <a:r>
              <a:rPr spc="-5" dirty="0">
                <a:solidFill>
                  <a:prstClr val="black"/>
                </a:solidFill>
                <a:cs typeface="Calibri"/>
              </a:rPr>
              <a:t>between</a:t>
            </a:r>
            <a:r>
              <a:rPr spc="15" dirty="0">
                <a:solidFill>
                  <a:prstClr val="black"/>
                </a:solidFill>
                <a:cs typeface="Calibri"/>
              </a:rPr>
              <a:t> </a:t>
            </a:r>
            <a:r>
              <a:rPr spc="-10" dirty="0">
                <a:solidFill>
                  <a:prstClr val="black"/>
                </a:solidFill>
                <a:cs typeface="Calibri"/>
              </a:rPr>
              <a:t>compute</a:t>
            </a:r>
            <a:r>
              <a:rPr spc="20" dirty="0">
                <a:solidFill>
                  <a:prstClr val="black"/>
                </a:solidFill>
                <a:cs typeface="Calibri"/>
              </a:rPr>
              <a:t> </a:t>
            </a:r>
            <a:r>
              <a:rPr spc="-5" dirty="0">
                <a:solidFill>
                  <a:prstClr val="black"/>
                </a:solidFill>
                <a:cs typeface="Calibri"/>
              </a:rPr>
              <a:t>nodes</a:t>
            </a:r>
            <a:endParaRPr>
              <a:solidFill>
                <a:prstClr val="black"/>
              </a:solidFill>
              <a:cs typeface="Calibri"/>
            </a:endParaRPr>
          </a:p>
          <a:p>
            <a:pPr>
              <a:spcBef>
                <a:spcPts val="5"/>
              </a:spcBef>
              <a:buFont typeface="Wingdings"/>
              <a:buChar char=""/>
            </a:pPr>
            <a:endParaRPr sz="2550">
              <a:solidFill>
                <a:prstClr val="black"/>
              </a:solidFill>
              <a:cs typeface="Calibri"/>
            </a:endParaRPr>
          </a:p>
          <a:p>
            <a:pPr marL="12700">
              <a:spcBef>
                <a:spcPts val="5"/>
              </a:spcBef>
            </a:pPr>
            <a:r>
              <a:rPr b="1" spc="-10" dirty="0">
                <a:solidFill>
                  <a:prstClr val="black"/>
                </a:solidFill>
                <a:cs typeface="Calibri"/>
              </a:rPr>
              <a:t>Advantages</a:t>
            </a:r>
            <a:r>
              <a:rPr b="1" spc="-40" dirty="0">
                <a:solidFill>
                  <a:prstClr val="black"/>
                </a:solidFill>
                <a:cs typeface="Calibri"/>
              </a:rPr>
              <a:t> </a:t>
            </a:r>
            <a:r>
              <a:rPr b="1" dirty="0">
                <a:solidFill>
                  <a:prstClr val="black"/>
                </a:solidFill>
                <a:cs typeface="Calibri"/>
              </a:rPr>
              <a:t>and</a:t>
            </a:r>
            <a:r>
              <a:rPr b="1" spc="-35" dirty="0">
                <a:solidFill>
                  <a:prstClr val="black"/>
                </a:solidFill>
                <a:cs typeface="Calibri"/>
              </a:rPr>
              <a:t> </a:t>
            </a:r>
            <a:r>
              <a:rPr b="1" spc="-10" dirty="0">
                <a:solidFill>
                  <a:prstClr val="black"/>
                </a:solidFill>
                <a:cs typeface="Calibri"/>
              </a:rPr>
              <a:t>Disadvantages:</a:t>
            </a:r>
            <a:endParaRPr>
              <a:solidFill>
                <a:prstClr val="black"/>
              </a:solidFill>
              <a:cs typeface="Calibri"/>
            </a:endParaRPr>
          </a:p>
          <a:p>
            <a:pPr marL="299085" indent="-287020">
              <a:buFont typeface="Wingdings"/>
              <a:buChar char=""/>
              <a:tabLst>
                <a:tab pos="299720" algn="l"/>
              </a:tabLst>
            </a:pPr>
            <a:r>
              <a:rPr spc="-10" dirty="0">
                <a:solidFill>
                  <a:prstClr val="black"/>
                </a:solidFill>
                <a:cs typeface="Calibri"/>
              </a:rPr>
              <a:t>Whatever</a:t>
            </a:r>
            <a:r>
              <a:rPr spc="-5" dirty="0">
                <a:solidFill>
                  <a:prstClr val="black"/>
                </a:solidFill>
                <a:cs typeface="Calibri"/>
              </a:rPr>
              <a:t> is</a:t>
            </a:r>
            <a:r>
              <a:rPr dirty="0">
                <a:solidFill>
                  <a:prstClr val="black"/>
                </a:solidFill>
                <a:cs typeface="Calibri"/>
              </a:rPr>
              <a:t> </a:t>
            </a:r>
            <a:r>
              <a:rPr spc="-10" dirty="0">
                <a:solidFill>
                  <a:prstClr val="black"/>
                </a:solidFill>
                <a:cs typeface="Calibri"/>
              </a:rPr>
              <a:t>common</a:t>
            </a:r>
            <a:r>
              <a:rPr spc="10" dirty="0">
                <a:solidFill>
                  <a:prstClr val="black"/>
                </a:solidFill>
                <a:cs typeface="Calibri"/>
              </a:rPr>
              <a:t> </a:t>
            </a:r>
            <a:r>
              <a:rPr spc="-10" dirty="0">
                <a:solidFill>
                  <a:prstClr val="black"/>
                </a:solidFill>
                <a:cs typeface="Calibri"/>
              </a:rPr>
              <a:t>to </a:t>
            </a:r>
            <a:r>
              <a:rPr spc="-5" dirty="0">
                <a:solidFill>
                  <a:prstClr val="black"/>
                </a:solidFill>
                <a:cs typeface="Calibri"/>
              </a:rPr>
              <a:t>both</a:t>
            </a:r>
            <a:r>
              <a:rPr spc="10" dirty="0">
                <a:solidFill>
                  <a:prstClr val="black"/>
                </a:solidFill>
                <a:cs typeface="Calibri"/>
              </a:rPr>
              <a:t> </a:t>
            </a:r>
            <a:r>
              <a:rPr spc="-5" dirty="0">
                <a:solidFill>
                  <a:prstClr val="black"/>
                </a:solidFill>
                <a:cs typeface="Calibri"/>
              </a:rPr>
              <a:t>shared</a:t>
            </a:r>
            <a:r>
              <a:rPr spc="5" dirty="0">
                <a:solidFill>
                  <a:prstClr val="black"/>
                </a:solidFill>
                <a:cs typeface="Calibri"/>
              </a:rPr>
              <a:t> </a:t>
            </a:r>
            <a:r>
              <a:rPr dirty="0">
                <a:solidFill>
                  <a:prstClr val="black"/>
                </a:solidFill>
                <a:cs typeface="Calibri"/>
              </a:rPr>
              <a:t>and</a:t>
            </a:r>
            <a:r>
              <a:rPr spc="5" dirty="0">
                <a:solidFill>
                  <a:prstClr val="black"/>
                </a:solidFill>
                <a:cs typeface="Calibri"/>
              </a:rPr>
              <a:t> </a:t>
            </a:r>
            <a:r>
              <a:rPr spc="-10" dirty="0">
                <a:solidFill>
                  <a:prstClr val="black"/>
                </a:solidFill>
                <a:cs typeface="Calibri"/>
              </a:rPr>
              <a:t>distributed</a:t>
            </a:r>
            <a:r>
              <a:rPr spc="25" dirty="0">
                <a:solidFill>
                  <a:prstClr val="black"/>
                </a:solidFill>
                <a:cs typeface="Calibri"/>
              </a:rPr>
              <a:t> </a:t>
            </a:r>
            <a:r>
              <a:rPr dirty="0">
                <a:solidFill>
                  <a:prstClr val="black"/>
                </a:solidFill>
                <a:cs typeface="Calibri"/>
              </a:rPr>
              <a:t>memory</a:t>
            </a:r>
            <a:r>
              <a:rPr spc="-10" dirty="0">
                <a:solidFill>
                  <a:prstClr val="black"/>
                </a:solidFill>
                <a:cs typeface="Calibri"/>
              </a:rPr>
              <a:t> architectures</a:t>
            </a:r>
            <a:endParaRPr>
              <a:solidFill>
                <a:prstClr val="black"/>
              </a:solidFill>
              <a:cs typeface="Calibri"/>
            </a:endParaRPr>
          </a:p>
          <a:p>
            <a:pPr marL="299085" indent="-287020">
              <a:buFont typeface="Wingdings"/>
              <a:buChar char=""/>
              <a:tabLst>
                <a:tab pos="299720" algn="l"/>
              </a:tabLst>
            </a:pPr>
            <a:r>
              <a:rPr spc="-5" dirty="0">
                <a:solidFill>
                  <a:prstClr val="black"/>
                </a:solidFill>
                <a:cs typeface="Calibri"/>
              </a:rPr>
              <a:t>Increased</a:t>
            </a:r>
            <a:r>
              <a:rPr spc="-15" dirty="0">
                <a:solidFill>
                  <a:prstClr val="black"/>
                </a:solidFill>
                <a:cs typeface="Calibri"/>
              </a:rPr>
              <a:t> </a:t>
            </a:r>
            <a:r>
              <a:rPr spc="-5" dirty="0">
                <a:solidFill>
                  <a:prstClr val="black"/>
                </a:solidFill>
                <a:cs typeface="Calibri"/>
              </a:rPr>
              <a:t>scalability is </a:t>
            </a:r>
            <a:r>
              <a:rPr dirty="0">
                <a:solidFill>
                  <a:prstClr val="black"/>
                </a:solidFill>
                <a:cs typeface="Calibri"/>
              </a:rPr>
              <a:t>an</a:t>
            </a:r>
            <a:r>
              <a:rPr spc="5" dirty="0">
                <a:solidFill>
                  <a:prstClr val="black"/>
                </a:solidFill>
                <a:cs typeface="Calibri"/>
              </a:rPr>
              <a:t> </a:t>
            </a:r>
            <a:r>
              <a:rPr spc="-5" dirty="0">
                <a:solidFill>
                  <a:prstClr val="black"/>
                </a:solidFill>
                <a:cs typeface="Calibri"/>
              </a:rPr>
              <a:t>important</a:t>
            </a:r>
            <a:r>
              <a:rPr dirty="0">
                <a:solidFill>
                  <a:prstClr val="black"/>
                </a:solidFill>
                <a:cs typeface="Calibri"/>
              </a:rPr>
              <a:t> </a:t>
            </a:r>
            <a:r>
              <a:rPr spc="-10" dirty="0">
                <a:solidFill>
                  <a:prstClr val="black"/>
                </a:solidFill>
                <a:cs typeface="Calibri"/>
              </a:rPr>
              <a:t>advantage</a:t>
            </a:r>
            <a:endParaRPr>
              <a:solidFill>
                <a:prstClr val="black"/>
              </a:solidFill>
              <a:cs typeface="Calibri"/>
            </a:endParaRPr>
          </a:p>
          <a:p>
            <a:pPr marL="299085" indent="-287020">
              <a:buFont typeface="Wingdings"/>
              <a:buChar char=""/>
              <a:tabLst>
                <a:tab pos="299720" algn="l"/>
              </a:tabLst>
            </a:pPr>
            <a:r>
              <a:rPr spc="-5" dirty="0">
                <a:solidFill>
                  <a:prstClr val="black"/>
                </a:solidFill>
                <a:cs typeface="Calibri"/>
              </a:rPr>
              <a:t>Increased </a:t>
            </a:r>
            <a:r>
              <a:rPr spc="-10" dirty="0">
                <a:solidFill>
                  <a:prstClr val="black"/>
                </a:solidFill>
                <a:cs typeface="Calibri"/>
              </a:rPr>
              <a:t>programming</a:t>
            </a:r>
            <a:r>
              <a:rPr spc="5" dirty="0">
                <a:solidFill>
                  <a:prstClr val="black"/>
                </a:solidFill>
                <a:cs typeface="Calibri"/>
              </a:rPr>
              <a:t> </a:t>
            </a:r>
            <a:r>
              <a:rPr spc="-10" dirty="0">
                <a:solidFill>
                  <a:prstClr val="black"/>
                </a:solidFill>
                <a:cs typeface="Calibri"/>
              </a:rPr>
              <a:t>complexity</a:t>
            </a:r>
            <a:r>
              <a:rPr spc="10" dirty="0">
                <a:solidFill>
                  <a:prstClr val="black"/>
                </a:solidFill>
                <a:cs typeface="Calibri"/>
              </a:rPr>
              <a:t> </a:t>
            </a:r>
            <a:r>
              <a:rPr spc="-5" dirty="0">
                <a:solidFill>
                  <a:prstClr val="black"/>
                </a:solidFill>
                <a:cs typeface="Calibri"/>
              </a:rPr>
              <a:t>is</a:t>
            </a:r>
            <a:r>
              <a:rPr dirty="0">
                <a:solidFill>
                  <a:prstClr val="black"/>
                </a:solidFill>
                <a:cs typeface="Calibri"/>
              </a:rPr>
              <a:t> a</a:t>
            </a:r>
            <a:r>
              <a:rPr spc="-5" dirty="0">
                <a:solidFill>
                  <a:prstClr val="black"/>
                </a:solidFill>
                <a:cs typeface="Calibri"/>
              </a:rPr>
              <a:t> major </a:t>
            </a:r>
            <a:r>
              <a:rPr spc="-10" dirty="0">
                <a:solidFill>
                  <a:prstClr val="black"/>
                </a:solidFill>
                <a:cs typeface="Calibri"/>
              </a:rPr>
              <a:t>disadvantage</a:t>
            </a:r>
            <a:endParaRPr>
              <a:solidFill>
                <a:prstClr val="black"/>
              </a:solidFill>
              <a:cs typeface="Calibri"/>
            </a:endParaRPr>
          </a:p>
        </p:txBody>
      </p:sp>
      <p:sp>
        <p:nvSpPr>
          <p:cNvPr id="5" name="object 5"/>
          <p:cNvSpPr txBox="1">
            <a:spLocks noGrp="1"/>
          </p:cNvSpPr>
          <p:nvPr>
            <p:ph type="title"/>
          </p:nvPr>
        </p:nvSpPr>
        <p:spPr>
          <a:xfrm>
            <a:off x="612987" y="171610"/>
            <a:ext cx="8227060" cy="443070"/>
          </a:xfrm>
          <a:prstGeom prst="rect">
            <a:avLst/>
          </a:prstGeom>
        </p:spPr>
        <p:txBody>
          <a:bodyPr vert="horz" wrap="square" lIns="0" tIns="12065" rIns="0" bIns="0" rtlCol="0">
            <a:spAutoFit/>
          </a:bodyPr>
          <a:lstStyle/>
          <a:p>
            <a:pPr marL="12700">
              <a:lnSpc>
                <a:spcPct val="100000"/>
              </a:lnSpc>
              <a:spcBef>
                <a:spcPts val="95"/>
              </a:spcBef>
            </a:pPr>
            <a:r>
              <a:rPr sz="2800" spc="-20" dirty="0"/>
              <a:t>Parallel</a:t>
            </a:r>
            <a:r>
              <a:rPr sz="2800" spc="25" dirty="0"/>
              <a:t> </a:t>
            </a:r>
            <a:r>
              <a:rPr sz="2800" spc="-15" dirty="0"/>
              <a:t>Computer</a:t>
            </a:r>
            <a:r>
              <a:rPr sz="2800" spc="10" dirty="0"/>
              <a:t> </a:t>
            </a:r>
            <a:r>
              <a:rPr sz="2800" spc="-5" dirty="0"/>
              <a:t>Memory </a:t>
            </a:r>
            <a:r>
              <a:rPr sz="2800" spc="-10" dirty="0"/>
              <a:t>Architectures</a:t>
            </a:r>
            <a:r>
              <a:rPr sz="2800" u="none" spc="-10" dirty="0"/>
              <a:t>:</a:t>
            </a:r>
            <a:endParaRPr sz="2800"/>
          </a:p>
        </p:txBody>
      </p:sp>
      <p:pic>
        <p:nvPicPr>
          <p:cNvPr id="6" name="object 6"/>
          <p:cNvPicPr/>
          <p:nvPr/>
        </p:nvPicPr>
        <p:blipFill>
          <a:blip r:embed="rId3" cstate="print"/>
          <a:stretch>
            <a:fillRect/>
          </a:stretch>
        </p:blipFill>
        <p:spPr>
          <a:xfrm>
            <a:off x="6351036" y="2080726"/>
            <a:ext cx="4966016" cy="1485122"/>
          </a:xfrm>
          <a:prstGeom prst="rect">
            <a:avLst/>
          </a:prstGeom>
        </p:spPr>
      </p:pic>
    </p:spTree>
    <p:extLst>
      <p:ext uri="{BB962C8B-B14F-4D97-AF65-F5344CB8AC3E}">
        <p14:creationId xmlns:p14="http://schemas.microsoft.com/office/powerpoint/2010/main" val="105489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406B4-3BD8-CD0D-E48A-C53BC906577B}"/>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Conclusion</a:t>
            </a:r>
            <a:endParaRPr lang="en-US" dirty="0"/>
          </a:p>
        </p:txBody>
      </p:sp>
      <p:sp>
        <p:nvSpPr>
          <p:cNvPr id="3" name="Content Placeholder 2">
            <a:extLst>
              <a:ext uri="{FF2B5EF4-FFF2-40B4-BE49-F238E27FC236}">
                <a16:creationId xmlns:a16="http://schemas.microsoft.com/office/drawing/2014/main" id="{8FA1A6EB-AF8B-0D19-A873-C0CFA47B9D76}"/>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Parallel Computing and Distributed Computing are effective computational models developed with an aim to solve large calamities. Parallel computing is suitable for accelerating computations of a single machine or clustered machines, with emphasis on the rate of processing. On the hand, distributed on the other has many separate and independent computers that are connected over the network focusing on scalability and fault tolerance. Each of the models presented has it own strength and weakness, therefore, the choice between them depends on the conditions of the particular application or system.</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04294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1686</TotalTime>
  <Words>2566</Words>
  <Application>Microsoft Office PowerPoint</Application>
  <PresentationFormat>Widescreen</PresentationFormat>
  <Paragraphs>220</Paragraphs>
  <Slides>26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Nunito</vt:lpstr>
      <vt:lpstr>Times New Roman</vt:lpstr>
      <vt:lpstr>Wingdings</vt:lpstr>
      <vt:lpstr>Retrospect</vt:lpstr>
      <vt:lpstr>Lecture # 01 Introduction to Parallel and Distributed Computing</vt:lpstr>
      <vt:lpstr>Computing History</vt:lpstr>
      <vt:lpstr>Computing History</vt:lpstr>
      <vt:lpstr>Serial Computation:</vt:lpstr>
      <vt:lpstr> Introduction to Parallel Computing</vt:lpstr>
      <vt:lpstr>What is Parallel Computing?</vt:lpstr>
      <vt:lpstr>Advantages of Parallel Computing</vt:lpstr>
      <vt:lpstr>Disadvantages of Parallel Computing</vt:lpstr>
      <vt:lpstr>Introduction to Distributed Computing</vt:lpstr>
      <vt:lpstr>What is Distributed Computing?</vt:lpstr>
      <vt:lpstr>Advantages of Distributed Computing</vt:lpstr>
      <vt:lpstr>Disadvantages of Distributed Computing</vt:lpstr>
      <vt:lpstr>Flynn’s Taxonomy</vt:lpstr>
      <vt:lpstr>Flynn’s Classification</vt:lpstr>
      <vt:lpstr>Flynn’s Classification</vt:lpstr>
      <vt:lpstr>SISD(Single Instruction Single Data)</vt:lpstr>
      <vt:lpstr>SIMD(Single Instruction Multiple Data)</vt:lpstr>
      <vt:lpstr>MISD(Multiple instructions single data)</vt:lpstr>
      <vt:lpstr>MIMD(Multiple instruction Multiple Data)</vt:lpstr>
      <vt:lpstr>Concepts of parallel programs communication:</vt:lpstr>
      <vt:lpstr>Comparison</vt:lpstr>
      <vt:lpstr>Difference between Parallel Computing and Distributed Computing:</vt:lpstr>
      <vt:lpstr>Parallel Computer Memory Architectures:</vt:lpstr>
      <vt:lpstr>Parallel Computer Memory Architectures:</vt:lpstr>
      <vt:lpstr>Parallel Computer Memory Architectures: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 to Parallel and Distributed Computing (PDC)</dc:title>
  <dc:creator>19EL01</dc:creator>
  <cp:lastModifiedBy>fatimamehar424@gmail.com</cp:lastModifiedBy>
  <cp:revision>28</cp:revision>
  <dcterms:created xsi:type="dcterms:W3CDTF">2024-02-26T07:36:05Z</dcterms:created>
  <dcterms:modified xsi:type="dcterms:W3CDTF">2025-01-19T07:13:46Z</dcterms:modified>
</cp:coreProperties>
</file>