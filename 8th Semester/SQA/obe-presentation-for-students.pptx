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1"/>
  </p:notesMasterIdLst>
  <p:sldIdLst>
    <p:sldId id="258" r:id="rId2"/>
    <p:sldId id="265" r:id="rId3"/>
    <p:sldId id="257" r:id="rId4"/>
    <p:sldId id="266" r:id="rId5"/>
    <p:sldId id="268" r:id="rId6"/>
    <p:sldId id="273" r:id="rId7"/>
    <p:sldId id="291" r:id="rId8"/>
    <p:sldId id="270" r:id="rId9"/>
    <p:sldId id="276" r:id="rId10"/>
    <p:sldId id="277" r:id="rId11"/>
    <p:sldId id="279" r:id="rId12"/>
    <p:sldId id="278" r:id="rId13"/>
    <p:sldId id="280" r:id="rId14"/>
    <p:sldId id="281" r:id="rId15"/>
    <p:sldId id="282" r:id="rId16"/>
    <p:sldId id="283" r:id="rId17"/>
    <p:sldId id="287" r:id="rId18"/>
    <p:sldId id="288" r:id="rId19"/>
    <p:sldId id="290" r:id="rId2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7359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54" d="100"/>
          <a:sy n="54" d="100"/>
        </p:scale>
        <p:origin x="-1524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C27710-F214-488D-91AE-414AEF088357}" type="datetimeFigureOut">
              <a:rPr lang="en-US" smtClean="0"/>
              <a:pPr/>
              <a:t>10/12/2023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EAC339-7437-46D6-9368-9AF6C47FF251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8991600" y="3048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25146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371600" y="2819400"/>
            <a:ext cx="6400800" cy="1752600"/>
          </a:xfrm>
        </p:spPr>
        <p:txBody>
          <a:bodyPr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FD19CB-6397-4DC1-A3D2-A56F5E97BEF3}" type="datetime1">
              <a:rPr lang="en-US" smtClean="0"/>
              <a:pPr/>
              <a:t>10/12/2023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155448" y="2420112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3" name="Oval 12"/>
          <p:cNvSpPr/>
          <p:nvPr/>
        </p:nvSpPr>
        <p:spPr>
          <a:xfrm>
            <a:off x="4267200" y="2115312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Oval 13"/>
          <p:cNvSpPr/>
          <p:nvPr/>
        </p:nvSpPr>
        <p:spPr>
          <a:xfrm>
            <a:off x="4361688" y="2209800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4343400" y="2199450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685800" y="381000"/>
            <a:ext cx="7772400" cy="1752600"/>
          </a:xfrm>
        </p:spPr>
        <p:txBody>
          <a:bodyPr anchor="b"/>
          <a:lstStyle>
            <a:lvl1pPr>
              <a:defRPr sz="4200">
                <a:solidFill>
                  <a:schemeClr val="accent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FF4E8-6DF2-4F79-BEDD-F70D259F4521}" type="datetime1">
              <a:rPr lang="en-US" smtClean="0"/>
              <a:pPr/>
              <a:t>10/12/2023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361688" y="1026372"/>
            <a:ext cx="457200" cy="4413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50392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8991600" y="1905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152400" y="2286000"/>
            <a:ext cx="8833104" cy="304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55448" y="142352"/>
            <a:ext cx="8833104" cy="2139696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8426" y="2743200"/>
            <a:ext cx="6480174" cy="1673225"/>
          </a:xfrm>
        </p:spPr>
        <p:txBody>
          <a:bodyPr anchor="t"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Rectangle 13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F1057E-D100-4861-8028-F024D17602B1}" type="datetime1">
              <a:rPr lang="en-US" smtClean="0"/>
              <a:pPr/>
              <a:t>10/12/2023</a:t>
            </a:fld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152400" y="2438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Oval 9"/>
          <p:cNvSpPr/>
          <p:nvPr/>
        </p:nvSpPr>
        <p:spPr>
          <a:xfrm>
            <a:off x="4267200" y="2115312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Oval 10"/>
          <p:cNvSpPr/>
          <p:nvPr/>
        </p:nvSpPr>
        <p:spPr>
          <a:xfrm>
            <a:off x="4361688" y="2209800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343400" y="2199450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533400"/>
            <a:ext cx="7772400" cy="1524000"/>
          </a:xfrm>
        </p:spPr>
        <p:txBody>
          <a:bodyPr anchor="b"/>
          <a:lstStyle>
            <a:lvl1pPr algn="ctr">
              <a:buNone/>
              <a:defRPr sz="4200" b="0" cap="none" baseline="0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791200" y="6409944"/>
            <a:ext cx="3044952" cy="365760"/>
          </a:xfrm>
        </p:spPr>
        <p:txBody>
          <a:bodyPr/>
          <a:lstStyle/>
          <a:p>
            <a:fld id="{62475E0E-6C2D-4AC7-AD7B-A72BD38C6A81}" type="datetime1">
              <a:rPr lang="en-US" smtClean="0"/>
              <a:pPr/>
              <a:t>10/12/2023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 flipV="1">
            <a:off x="4563080" y="1575652"/>
            <a:ext cx="8921" cy="4819557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Content Placeholder 9"/>
          <p:cNvSpPr>
            <a:spLocks noGrp="1"/>
          </p:cNvSpPr>
          <p:nvPr>
            <p:ph sz="half" idx="1"/>
          </p:nvPr>
        </p:nvSpPr>
        <p:spPr>
          <a:xfrm>
            <a:off x="301752" y="1371600"/>
            <a:ext cx="4038600" cy="4681728"/>
          </a:xfrm>
        </p:spPr>
        <p:txBody>
          <a:bodyPr/>
          <a:lstStyle>
            <a:lvl1pPr>
              <a:defRPr sz="2500"/>
            </a:lvl1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2" name="Content Placeholder 11"/>
          <p:cNvSpPr>
            <a:spLocks noGrp="1"/>
          </p:cNvSpPr>
          <p:nvPr>
            <p:ph sz="half" idx="2"/>
          </p:nvPr>
        </p:nvSpPr>
        <p:spPr>
          <a:xfrm>
            <a:off x="4800600" y="1371600"/>
            <a:ext cx="4038600" cy="4681728"/>
          </a:xfrm>
        </p:spPr>
        <p:txBody>
          <a:bodyPr/>
          <a:lstStyle>
            <a:lvl1pPr>
              <a:defRPr sz="2500"/>
            </a:lvl1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raight Connector 9"/>
          <p:cNvSpPr>
            <a:spLocks noChangeShapeType="1"/>
          </p:cNvSpPr>
          <p:nvPr/>
        </p:nvSpPr>
        <p:spPr bwMode="auto">
          <a:xfrm flipV="1">
            <a:off x="4572000" y="2200275"/>
            <a:ext cx="0" cy="4187952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0" name="Rectangle 19"/>
          <p:cNvSpPr>
            <a:spLocks noChangeArrowheads="1"/>
          </p:cNvSpPr>
          <p:nvPr/>
        </p:nvSpPr>
        <p:spPr bwMode="white">
          <a:xfrm>
            <a:off x="0" y="0"/>
            <a:ext cx="9144000" cy="1447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2" name="Rectangle 21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152400" y="1371600"/>
            <a:ext cx="8833104" cy="914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145923" y="6391656"/>
            <a:ext cx="8833104" cy="310896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1752" y="1524000"/>
            <a:ext cx="4040188" cy="732974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lang="en-US" sz="2200" b="1" dirty="0" smtClean="0">
                <a:solidFill>
                  <a:srgbClr val="FFFFFF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791330" y="1524000"/>
            <a:ext cx="4041775" cy="731520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sz="2200" b="1"/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99C33B-F682-47DE-A33A-CC81EC8CF153}" type="datetime1">
              <a:rPr lang="en-US" smtClean="0"/>
              <a:pPr/>
              <a:t>10/12/2023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04800" y="6409944"/>
            <a:ext cx="3581400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152400" y="128016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4" name="Content Placeholder 23"/>
          <p:cNvSpPr>
            <a:spLocks noGrp="1"/>
          </p:cNvSpPr>
          <p:nvPr>
            <p:ph sz="quarter" idx="2"/>
          </p:nvPr>
        </p:nvSpPr>
        <p:spPr>
          <a:xfrm>
            <a:off x="301752" y="2471383"/>
            <a:ext cx="4041648" cy="3818404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6" name="Content Placeholder 25"/>
          <p:cNvSpPr>
            <a:spLocks noGrp="1"/>
          </p:cNvSpPr>
          <p:nvPr>
            <p:ph sz="quarter" idx="4"/>
          </p:nvPr>
        </p:nvSpPr>
        <p:spPr>
          <a:xfrm>
            <a:off x="4800600" y="2471383"/>
            <a:ext cx="4038600" cy="3822192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5" name="Oval 24"/>
          <p:cNvSpPr/>
          <p:nvPr/>
        </p:nvSpPr>
        <p:spPr>
          <a:xfrm>
            <a:off x="4267200" y="956036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7" name="Oval 26"/>
          <p:cNvSpPr/>
          <p:nvPr/>
        </p:nvSpPr>
        <p:spPr>
          <a:xfrm>
            <a:off x="4361688" y="1050524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4343400" y="1042416"/>
            <a:ext cx="457200" cy="441325"/>
          </a:xfrm>
        </p:spPr>
        <p:txBody>
          <a:bodyPr/>
          <a:lstStyle>
            <a:lvl1pPr algn="ctr"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3" name="Title 22"/>
          <p:cNvSpPr>
            <a:spLocks noGrp="1"/>
          </p:cNvSpPr>
          <p:nvPr>
            <p:ph type="title"/>
          </p:nvPr>
        </p:nvSpPr>
        <p:spPr/>
        <p:txBody>
          <a:bodyPr rtlCol="0" anchor="b" anchorCtr="0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710522-873E-4F85-AAC2-2A626EEEC445}" type="datetime1">
              <a:rPr lang="en-US" smtClean="0"/>
              <a:pPr/>
              <a:t>10/12/2023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4343400" y="1036020"/>
            <a:ext cx="457200" cy="4413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white">
          <a:xfrm>
            <a:off x="0" y="0"/>
            <a:ext cx="91440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152400" y="158496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C0810-8126-48FA-A0CC-46D2E72222CA}" type="datetime1">
              <a:rPr lang="en-US" smtClean="0"/>
              <a:pPr/>
              <a:t>10/12/2023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4267200" y="6324600"/>
            <a:ext cx="609600" cy="441324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>
            <a:spLocks noChangeArrowheads="1"/>
          </p:cNvSpPr>
          <p:nvPr/>
        </p:nvSpPr>
        <p:spPr bwMode="auto">
          <a:xfrm>
            <a:off x="152400" y="152400"/>
            <a:ext cx="8833104" cy="304800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18872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3" name="Rectangle 12"/>
          <p:cNvSpPr/>
          <p:nvPr/>
        </p:nvSpPr>
        <p:spPr>
          <a:xfrm>
            <a:off x="152400" y="609600"/>
            <a:ext cx="27432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914400"/>
            <a:ext cx="2362200" cy="990600"/>
          </a:xfrm>
        </p:spPr>
        <p:txBody>
          <a:bodyPr anchor="b">
            <a:noAutofit/>
          </a:bodyPr>
          <a:lstStyle>
            <a:lvl1pPr algn="l">
              <a:buNone/>
              <a:defRPr sz="2200" b="1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381000" y="1981200"/>
            <a:ext cx="2362200" cy="4144963"/>
          </a:xfrm>
        </p:spPr>
        <p:txBody>
          <a:bodyPr/>
          <a:lstStyle>
            <a:lvl1pPr marL="0" indent="0">
              <a:spcAft>
                <a:spcPts val="1000"/>
              </a:spcAft>
              <a:buNone/>
              <a:defRPr sz="1600">
                <a:solidFill>
                  <a:srgbClr val="FFFFFF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152400" y="533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0" name="Content Placeholder 19"/>
          <p:cNvSpPr>
            <a:spLocks noGrp="1"/>
          </p:cNvSpPr>
          <p:nvPr>
            <p:ph sz="quarter" idx="1"/>
          </p:nvPr>
        </p:nvSpPr>
        <p:spPr>
          <a:xfrm>
            <a:off x="3124200" y="685800"/>
            <a:ext cx="5638800" cy="54102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0" name="Oval 9"/>
          <p:cNvSpPr/>
          <p:nvPr/>
        </p:nvSpPr>
        <p:spPr>
          <a:xfrm>
            <a:off x="1295400" y="22860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Oval 10"/>
          <p:cNvSpPr/>
          <p:nvPr/>
        </p:nvSpPr>
        <p:spPr>
          <a:xfrm>
            <a:off x="1389888" y="323088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371600" y="312738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2C038-8A3A-418D-8178-63B05BCF30CA}" type="datetime1">
              <a:rPr lang="en-US" smtClean="0"/>
              <a:pPr/>
              <a:t>10/12/2023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1752" y="6410848"/>
            <a:ext cx="3383280" cy="365760"/>
          </a:xfrm>
        </p:spPr>
        <p:txBody>
          <a:bodyPr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traight Connector 20"/>
          <p:cNvSpPr>
            <a:spLocks noChangeShapeType="1"/>
          </p:cNvSpPr>
          <p:nvPr/>
        </p:nvSpPr>
        <p:spPr bwMode="auto">
          <a:xfrm>
            <a:off x="152400" y="533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0" name="Rectangle 19"/>
          <p:cNvSpPr>
            <a:spLocks noChangeArrowheads="1"/>
          </p:cNvSpPr>
          <p:nvPr/>
        </p:nvSpPr>
        <p:spPr bwMode="auto">
          <a:xfrm>
            <a:off x="152400" y="152400"/>
            <a:ext cx="8833104" cy="301752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152400" y="609600"/>
            <a:ext cx="27432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2" name="Oval 11"/>
          <p:cNvSpPr/>
          <p:nvPr/>
        </p:nvSpPr>
        <p:spPr>
          <a:xfrm>
            <a:off x="1295400" y="22860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Oval 12"/>
          <p:cNvSpPr/>
          <p:nvPr/>
        </p:nvSpPr>
        <p:spPr>
          <a:xfrm>
            <a:off x="1389888" y="323088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371600" y="312738"/>
            <a:ext cx="457200" cy="4413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00375" y="5029200"/>
            <a:ext cx="5867400" cy="1219200"/>
          </a:xfrm>
        </p:spPr>
        <p:txBody>
          <a:bodyPr anchor="t">
            <a:noAutofit/>
          </a:bodyPr>
          <a:lstStyle>
            <a:lvl1pPr algn="l">
              <a:buNone/>
              <a:defRPr sz="2400" b="1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00375" y="609600"/>
            <a:ext cx="5867400" cy="4267200"/>
          </a:xfrm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1000" y="990600"/>
            <a:ext cx="2438400" cy="5257800"/>
          </a:xfrm>
        </p:spPr>
        <p:txBody>
          <a:bodyPr/>
          <a:lstStyle>
            <a:lvl1pPr marL="0" indent="0">
              <a:spcAft>
                <a:spcPts val="1000"/>
              </a:spcAft>
              <a:buFontTx/>
              <a:buNone/>
              <a:defRPr sz="1600">
                <a:solidFill>
                  <a:srgbClr val="FFFFFF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22" name="Rectangle 21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788152" y="6404984"/>
            <a:ext cx="3044952" cy="365760"/>
          </a:xfrm>
        </p:spPr>
        <p:txBody>
          <a:bodyPr/>
          <a:lstStyle/>
          <a:p>
            <a:fld id="{BB6D20E1-2CF0-46ED-9648-A7BDFAC79096}" type="datetime1">
              <a:rPr lang="en-US" smtClean="0"/>
              <a:pPr/>
              <a:t>10/12/2023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1752" y="6410848"/>
            <a:ext cx="3584448" cy="36576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59CC99-42A3-4092-A39D-FEE5C6A02C5E}" type="datetime1">
              <a:rPr lang="en-US" smtClean="0"/>
              <a:pPr/>
              <a:t>10/12/2023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white">
          <a:xfrm>
            <a:off x="7010400" y="0"/>
            <a:ext cx="21336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white">
          <a:xfrm>
            <a:off x="0" y="0"/>
            <a:ext cx="91440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 rot="5400000">
            <a:off x="4021836" y="3278124"/>
            <a:ext cx="6245352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Oval 13"/>
          <p:cNvSpPr/>
          <p:nvPr/>
        </p:nvSpPr>
        <p:spPr>
          <a:xfrm>
            <a:off x="6839712" y="2925763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Oval 14"/>
          <p:cNvSpPr/>
          <p:nvPr/>
        </p:nvSpPr>
        <p:spPr>
          <a:xfrm>
            <a:off x="6934200" y="3020251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915912" y="3009901"/>
            <a:ext cx="457200" cy="4413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4800" y="304800"/>
            <a:ext cx="6553200" cy="5821366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90850-D534-4AEA-9F1A-BF0E759A79FA}" type="datetime1">
              <a:rPr lang="en-US" smtClean="0"/>
              <a:pPr/>
              <a:t>10/12/2023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91400" y="304801"/>
            <a:ext cx="14478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393371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5791200" y="6404984"/>
            <a:ext cx="3044952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rgbClr val="FFFFFF"/>
                </a:solidFill>
              </a:defRPr>
            </a:lvl1pPr>
          </a:lstStyle>
          <a:p>
            <a:fld id="{26919B70-38AC-41C2-9EA3-22ADAFDB0EBD}" type="datetime1">
              <a:rPr lang="en-US" smtClean="0"/>
              <a:pPr/>
              <a:t>10/12/2023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304800" y="6410848"/>
            <a:ext cx="35814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20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152400" y="1276743"/>
            <a:ext cx="8833104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Oval 11"/>
          <p:cNvSpPr/>
          <p:nvPr/>
        </p:nvSpPr>
        <p:spPr>
          <a:xfrm>
            <a:off x="4267200" y="956036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Oval 14"/>
          <p:cNvSpPr/>
          <p:nvPr/>
        </p:nvSpPr>
        <p:spPr>
          <a:xfrm>
            <a:off x="4361688" y="1050524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4343400" y="1040174"/>
            <a:ext cx="457200" cy="441325"/>
          </a:xfrm>
          <a:prstGeom prst="rect">
            <a:avLst/>
          </a:prstGeom>
        </p:spPr>
        <p:txBody>
          <a:bodyPr vert="horz" lIns="45720" rIns="45720" anchor="ctr">
            <a:normAutofit/>
          </a:bodyPr>
          <a:lstStyle>
            <a:lvl1pPr algn="ctr" eaLnBrk="1" latinLnBrk="0" hangingPunct="1">
              <a:defRPr kumimoji="0" sz="1600"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301752" y="1524000"/>
            <a:ext cx="8534400" cy="459943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ctr" rtl="0" eaLnBrk="1" latinLnBrk="0" hangingPunct="1">
        <a:spcBef>
          <a:spcPct val="0"/>
        </a:spcBef>
        <a:buNone/>
        <a:defRPr kumimoji="0" sz="3300" kern="1200">
          <a:solidFill>
            <a:schemeClr val="accent3">
              <a:shade val="75000"/>
            </a:schemeClr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"/>
        <a:buChar char=""/>
        <a:defRPr kumimoji="0"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ct val="20000"/>
        </a:spcBef>
        <a:buClr>
          <a:schemeClr val="accent3"/>
        </a:buClr>
        <a:buSzPct val="75000"/>
        <a:buFont typeface="Wingdings 2"/>
        <a:buChar char="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ct val="20000"/>
        </a:spcBef>
        <a:buClr>
          <a:schemeClr val="accent4"/>
        </a:buClr>
        <a:buSzPct val="70000"/>
        <a:buFont typeface="Wingdings"/>
        <a:buChar char=""/>
        <a:defRPr kumimoji="0"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ct val="20000"/>
        </a:spcBef>
        <a:buClr>
          <a:schemeClr val="accent5"/>
        </a:buClr>
        <a:buFontTx/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90000"/>
        <a:buChar char="•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rtl="0" eaLnBrk="1" latinLnBrk="0" hangingPunct="1">
        <a:spcBef>
          <a:spcPct val="20000"/>
        </a:spcBef>
        <a:buClr>
          <a:schemeClr val="accent4">
            <a:shade val="75000"/>
          </a:schemeClr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377440" indent="-182880" algn="l" rtl="0" eaLnBrk="1" latinLnBrk="0" hangingPunct="1">
        <a:spcBef>
          <a:spcPct val="20000"/>
        </a:spcBef>
        <a:buClr>
          <a:schemeClr val="accent2">
            <a:shade val="75000"/>
          </a:schemeClr>
        </a:buClr>
        <a:buSzPct val="90000"/>
        <a:buChar char="•"/>
        <a:defRPr kumimoji="0" sz="1400" kern="1200" cap="all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38400" y="5029200"/>
            <a:ext cx="6172200" cy="1371600"/>
          </a:xfrm>
        </p:spPr>
        <p:txBody>
          <a:bodyPr>
            <a:normAutofit lnSpcReduction="10000"/>
          </a:bodyPr>
          <a:lstStyle/>
          <a:p>
            <a:pPr algn="r"/>
            <a:r>
              <a:rPr lang="en-US" sz="2100" dirty="0" smtClean="0"/>
              <a:t>Mr. Shakir Karim</a:t>
            </a:r>
          </a:p>
          <a:p>
            <a:pPr algn="r"/>
            <a:r>
              <a:rPr lang="en-US" sz="1500" dirty="0" smtClean="0"/>
              <a:t>Assistant Professor</a:t>
            </a:r>
          </a:p>
          <a:p>
            <a:pPr algn="r"/>
            <a:r>
              <a:rPr lang="en-US" sz="2100" dirty="0" smtClean="0"/>
              <a:t>Convener, DCQIC </a:t>
            </a:r>
          </a:p>
          <a:p>
            <a:pPr algn="r"/>
            <a:r>
              <a:rPr lang="en-US" sz="2100" dirty="0" err="1" smtClean="0"/>
              <a:t>DoCS&amp;IT</a:t>
            </a:r>
            <a:endParaRPr lang="en-US" sz="2100" dirty="0" smtClean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41940" y="3886200"/>
            <a:ext cx="6172200" cy="685800"/>
          </a:xfrm>
          <a:solidFill>
            <a:srgbClr val="00B050"/>
          </a:solidFill>
        </p:spPr>
        <p:txBody>
          <a:bodyPr>
            <a:noAutofit/>
          </a:bodyPr>
          <a:lstStyle/>
          <a:p>
            <a:r>
              <a:rPr lang="en-US" sz="4000" dirty="0" smtClean="0">
                <a:solidFill>
                  <a:schemeClr val="bg2">
                    <a:lumMod val="10000"/>
                  </a:schemeClr>
                </a:solidFill>
              </a:rPr>
              <a:t>Outcome Based Education</a:t>
            </a:r>
            <a:endParaRPr lang="en-US" sz="4000" dirty="0">
              <a:solidFill>
                <a:schemeClr val="bg2">
                  <a:lumMod val="10000"/>
                </a:schemeClr>
              </a:solidFill>
            </a:endParaRPr>
          </a:p>
        </p:txBody>
      </p:sp>
      <p:pic>
        <p:nvPicPr>
          <p:cNvPr id="4" name="image1.jpeg"/>
          <p:cNvPicPr/>
          <p:nvPr/>
        </p:nvPicPr>
        <p:blipFill>
          <a:blip r:embed="rId2" cstate="print">
            <a:extLst>
              <a:ext uri="{28A0092B-C50C-407E-A947-70E740481C1C}">
                <a14:useLocalDpi xmlns:ve="http://schemas.openxmlformats.org/markup-compatibility/2006" xmlns:m="http://schemas.openxmlformats.org/officeDocument/2006/math" xmlns:wp="http://schemas.openxmlformats.org/drawingml/2006/wordprocessingDrawing" xmlns:wne="http://schemas.microsoft.com/office/word/2006/wordml" xmlns:a14="http://schemas.microsoft.com/office/drawing/2010/main" xmlns:wps="http://schemas.microsoft.com/office/word/2010/wordprocessingShape" xmlns:wpi="http://schemas.microsoft.com/office/word/2010/wordprocessingInk" xmlns:wpg="http://schemas.microsoft.com/office/word/2010/wordprocessingGroup" xmlns:w16se="http://schemas.microsoft.com/office/word/2015/wordml/symex" xmlns:w15="http://schemas.microsoft.com/office/word/2012/wordml" xmlns:w14="http://schemas.microsoft.com/office/word/2010/wordml" xmlns:w="http://schemas.openxmlformats.org/wordprocessingml/2006/main" xmlns:w10="urn:schemas-microsoft-com:office:word" xmlns:wp14="http://schemas.microsoft.com/office/word/2010/wordprocessingDrawing" xmlns:v="urn:schemas-microsoft-com:vml" xmlns:o="urn:schemas-microsoft-com:office:office" xmlns:mc="http://schemas.openxmlformats.org/markup-compatibility/2006" xmlns:cx="http://schemas.microsoft.com/office/drawing/2014/chartex" xmlns:wpc="http://schemas.microsoft.com/office/word/2010/wordprocessingCanvas" xmlns="" xmlns:pic="http://schemas.openxmlformats.org/drawingml/2006/picture" xmlns:lc="http://schemas.openxmlformats.org/drawingml/2006/lockedCanvas" val="0"/>
              </a:ext>
            </a:extLst>
          </a:blip>
          <a:stretch>
            <a:fillRect/>
          </a:stretch>
        </p:blipFill>
        <p:spPr>
          <a:xfrm>
            <a:off x="0" y="0"/>
            <a:ext cx="762000" cy="762000"/>
          </a:xfrm>
          <a:prstGeom prst="rect">
            <a:avLst/>
          </a:prstGeom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868910" y="0"/>
            <a:ext cx="1275090" cy="847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502880" y="181705"/>
            <a:ext cx="4114800" cy="27356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" name="TextBox 8"/>
          <p:cNvSpPr txBox="1"/>
          <p:nvPr/>
        </p:nvSpPr>
        <p:spPr>
          <a:xfrm>
            <a:off x="3810000" y="2920445"/>
            <a:ext cx="125656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Presents</a:t>
            </a:r>
            <a:endParaRPr lang="en-US" sz="2400" dirty="0"/>
          </a:p>
        </p:txBody>
      </p:sp>
      <p:sp>
        <p:nvSpPr>
          <p:cNvPr id="11" name="TextBox 10"/>
          <p:cNvSpPr txBox="1"/>
          <p:nvPr/>
        </p:nvSpPr>
        <p:spPr>
          <a:xfrm>
            <a:off x="1441940" y="3368824"/>
            <a:ext cx="6172200" cy="630942"/>
          </a:xfrm>
          <a:prstGeom prst="rect">
            <a:avLst/>
          </a:prstGeom>
          <a:solidFill>
            <a:srgbClr val="77359B"/>
          </a:solidFill>
        </p:spPr>
        <p:txBody>
          <a:bodyPr wrap="square" rtlCol="0">
            <a:spAutoFit/>
          </a:bodyPr>
          <a:lstStyle/>
          <a:p>
            <a:pPr algn="ctr">
              <a:tabLst>
                <a:tab pos="3200400" algn="l"/>
              </a:tabLst>
            </a:pPr>
            <a:r>
              <a:rPr lang="en-US" sz="3500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3000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Session for Students on</a:t>
            </a:r>
            <a:endParaRPr lang="en-US" sz="3000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181600" y="4648200"/>
            <a:ext cx="55976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/>
              <a:t>By: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7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8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9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0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000"/>
                            </p:stCondLst>
                            <p:childTnLst>
                              <p:par>
                                <p:cTn id="20" presetID="27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22" dur="80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3" dur="80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4" dur="80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360"/>
                            </p:stCondLst>
                            <p:childTnLst>
                              <p:par>
                                <p:cTn id="2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360"/>
                            </p:stCondLst>
                            <p:childTnLst>
                              <p:par>
                                <p:cTn id="29" presetID="38" presetClass="entr" presetSubtype="0" accel="5000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1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o>
                                        <p:strVal val="-45.0"/>
                                      </p:to>
                                    </p:set>
                                    <p:anim calcmode="lin" valueType="num">
                                      <p:cBhvr>
                                        <p:cTn id="32" dur="455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45"/>
                                          </p:val>
                                        </p:tav>
                                        <p:tav tm="69900">
                                          <p:val>
                                            <p:fltVal val="45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56" decel="50000" autoRev="1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-#ppt_h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36" fill="hold">
                                          <p:stCondLst>
                                            <p:cond delay="8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3360"/>
                            </p:stCondLst>
                            <p:childTnLst>
                              <p:par>
                                <p:cTn id="3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3360"/>
                            </p:stCondLst>
                            <p:childTnLst>
                              <p:par>
                                <p:cTn id="40" presetID="27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42" dur="8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43" dur="8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4" dur="8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3960"/>
                            </p:stCondLst>
                            <p:childTnLst>
                              <p:par>
                                <p:cTn id="46" presetID="27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48" dur="8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49" dur="8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0" dur="8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14720"/>
                            </p:stCondLst>
                            <p:childTnLst>
                              <p:par>
                                <p:cTn id="52" presetID="27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54" dur="8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55" dur="8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6" dur="8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15320"/>
                            </p:stCondLst>
                            <p:childTnLst>
                              <p:par>
                                <p:cTn id="58" presetID="27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60" dur="8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61" dur="8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2" dur="8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15640"/>
                            </p:stCondLst>
                            <p:childTnLst>
                              <p:par>
                                <p:cTn id="64" presetID="2" presetClass="exit" presetSubtype="3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5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16140"/>
                            </p:stCondLst>
                            <p:childTnLst>
                              <p:par>
                                <p:cTn id="6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2" grpId="0" animBg="1"/>
      <p:bldP spid="9" grpId="0"/>
      <p:bldP spid="11" grpId="0" animBg="1"/>
      <p:bldP spid="13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7162800" cy="1143000"/>
          </a:xfrm>
        </p:spPr>
        <p:txBody>
          <a:bodyPr>
            <a:normAutofit/>
          </a:bodyPr>
          <a:lstStyle/>
          <a:p>
            <a:r>
              <a:rPr lang="en-US" dirty="0" smtClean="0"/>
              <a:t>Outcome Based Education (OBE)</a:t>
            </a:r>
            <a:br>
              <a:rPr lang="en-US" dirty="0" smtClean="0"/>
            </a:br>
            <a:r>
              <a:rPr lang="en-US" dirty="0" smtClean="0"/>
              <a:t> What?</a:t>
            </a:r>
            <a:endParaRPr lang="en-US" dirty="0"/>
          </a:p>
        </p:txBody>
      </p:sp>
      <p:sp>
        <p:nvSpPr>
          <p:cNvPr id="6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8077200" y="6096000"/>
            <a:ext cx="914400" cy="320675"/>
          </a:xfrm>
        </p:spPr>
        <p:txBody>
          <a:bodyPr>
            <a:normAutofit fontScale="70000" lnSpcReduction="20000"/>
          </a:bodyPr>
          <a:lstStyle/>
          <a:p>
            <a:fld id="{071B1170-8FA3-40F6-8F31-449438F7CF4A}" type="slidenum">
              <a:rPr lang="en-US" sz="2400" smtClean="0"/>
              <a:pPr/>
              <a:t>2</a:t>
            </a:fld>
            <a:endParaRPr lang="en-US" dirty="0"/>
          </a:p>
        </p:txBody>
      </p:sp>
      <p:pic>
        <p:nvPicPr>
          <p:cNvPr id="4" name="image1.jpeg"/>
          <p:cNvPicPr/>
          <p:nvPr/>
        </p:nvPicPr>
        <p:blipFill>
          <a:blip r:embed="rId2" cstate="print">
            <a:extLst>
              <a:ext uri="{28A0092B-C50C-407E-A947-70E740481C1C}">
                <a14:useLocalDpi xmlns:ve="http://schemas.openxmlformats.org/markup-compatibility/2006" xmlns:m="http://schemas.openxmlformats.org/officeDocument/2006/math" xmlns:wp="http://schemas.openxmlformats.org/drawingml/2006/wordprocessingDrawing" xmlns:wne="http://schemas.microsoft.com/office/word/2006/wordml" xmlns:a14="http://schemas.microsoft.com/office/drawing/2010/main" xmlns:wps="http://schemas.microsoft.com/office/word/2010/wordprocessingShape" xmlns:wpi="http://schemas.microsoft.com/office/word/2010/wordprocessingInk" xmlns:wpg="http://schemas.microsoft.com/office/word/2010/wordprocessingGroup" xmlns:w16se="http://schemas.microsoft.com/office/word/2015/wordml/symex" xmlns:w15="http://schemas.microsoft.com/office/word/2012/wordml" xmlns:w14="http://schemas.microsoft.com/office/word/2010/wordml" xmlns:w="http://schemas.openxmlformats.org/wordprocessingml/2006/main" xmlns:w10="urn:schemas-microsoft-com:office:word" xmlns:wp14="http://schemas.microsoft.com/office/word/2010/wordprocessingDrawing" xmlns:v="urn:schemas-microsoft-com:vml" xmlns:o="urn:schemas-microsoft-com:office:office" xmlns:mc="http://schemas.openxmlformats.org/markup-compatibility/2006" xmlns:cx="http://schemas.microsoft.com/office/drawing/2014/chartex" xmlns:wpc="http://schemas.microsoft.com/office/word/2010/wordprocessingCanvas" xmlns="" xmlns:pic="http://schemas.openxmlformats.org/drawingml/2006/picture" xmlns:lc="http://schemas.openxmlformats.org/drawingml/2006/lockedCanvas" val="0"/>
              </a:ext>
            </a:extLst>
          </a:blip>
          <a:stretch>
            <a:fillRect/>
          </a:stretch>
        </p:blipFill>
        <p:spPr>
          <a:xfrm>
            <a:off x="0" y="0"/>
            <a:ext cx="790822" cy="80752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997852" y="1"/>
            <a:ext cx="1146148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TextBox 8"/>
          <p:cNvSpPr txBox="1">
            <a:spLocks noChangeArrowheads="1"/>
          </p:cNvSpPr>
          <p:nvPr/>
        </p:nvSpPr>
        <p:spPr bwMode="auto">
          <a:xfrm>
            <a:off x="0" y="6303963"/>
            <a:ext cx="4614863" cy="5540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200" dirty="0">
                <a:latin typeface="Verdana" pitchFamily="34" charset="0"/>
              </a:rPr>
              <a:t>Computer Science &amp; Information Technology Department</a:t>
            </a:r>
          </a:p>
          <a:p>
            <a:r>
              <a:rPr lang="en-US" sz="1200" dirty="0">
                <a:latin typeface="Verdana" pitchFamily="34" charset="0"/>
              </a:rPr>
              <a:t>Sir Syed University of </a:t>
            </a:r>
            <a:r>
              <a:rPr lang="en-US" sz="1200" dirty="0" err="1">
                <a:latin typeface="Verdana" pitchFamily="34" charset="0"/>
              </a:rPr>
              <a:t>Engg</a:t>
            </a:r>
            <a:r>
              <a:rPr lang="en-US" sz="1200" dirty="0">
                <a:latin typeface="Verdana" pitchFamily="34" charset="0"/>
              </a:rPr>
              <a:t>. &amp; Tech</a:t>
            </a:r>
            <a:r>
              <a:rPr lang="en-US" dirty="0"/>
              <a:t>.</a:t>
            </a:r>
          </a:p>
        </p:txBody>
      </p:sp>
      <p:sp>
        <p:nvSpPr>
          <p:cNvPr id="8" name="TextBox 5"/>
          <p:cNvSpPr txBox="1">
            <a:spLocks noChangeArrowheads="1"/>
          </p:cNvSpPr>
          <p:nvPr/>
        </p:nvSpPr>
        <p:spPr bwMode="auto">
          <a:xfrm>
            <a:off x="3337717" y="6477000"/>
            <a:ext cx="3063083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dirty="0" smtClean="0"/>
              <a:t>Presented by</a:t>
            </a:r>
            <a:r>
              <a:rPr lang="en-US" dirty="0"/>
              <a:t>: Mr. Shakir Karim</a:t>
            </a:r>
          </a:p>
        </p:txBody>
      </p:sp>
      <p:sp>
        <p:nvSpPr>
          <p:cNvPr id="9" name="_s227345"/>
          <p:cNvSpPr>
            <a:spLocks noChangeArrowheads="1"/>
          </p:cNvSpPr>
          <p:nvPr/>
        </p:nvSpPr>
        <p:spPr bwMode="auto">
          <a:xfrm>
            <a:off x="689744" y="1772817"/>
            <a:ext cx="5320456" cy="614784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87782" tIns="43891" rIns="87782" bIns="43891" anchor="ctr"/>
          <a:lstStyle/>
          <a:p>
            <a:pPr algn="ctr"/>
            <a:r>
              <a:rPr lang="en-US" sz="2600" b="1" dirty="0">
                <a:solidFill>
                  <a:srgbClr val="C00000"/>
                </a:solidFill>
                <a:latin typeface="Arial Narrow" pitchFamily="34" charset="0"/>
              </a:rPr>
              <a:t>Program Educational Objectives (PEO)</a:t>
            </a:r>
          </a:p>
        </p:txBody>
      </p:sp>
      <p:sp>
        <p:nvSpPr>
          <p:cNvPr id="10" name="_s227351"/>
          <p:cNvSpPr>
            <a:spLocks noChangeArrowheads="1"/>
          </p:cNvSpPr>
          <p:nvPr/>
        </p:nvSpPr>
        <p:spPr bwMode="auto">
          <a:xfrm>
            <a:off x="681608" y="2774950"/>
            <a:ext cx="5328591" cy="646113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87782" tIns="43891" rIns="87782" bIns="43891" anchor="ctr"/>
          <a:lstStyle/>
          <a:p>
            <a:pPr algn="ctr">
              <a:lnSpc>
                <a:spcPct val="70000"/>
              </a:lnSpc>
            </a:pPr>
            <a:r>
              <a:rPr lang="en-US" sz="2800" b="1" dirty="0">
                <a:solidFill>
                  <a:srgbClr val="C00000"/>
                </a:solidFill>
                <a:latin typeface="Arial Narrow" pitchFamily="34" charset="0"/>
              </a:rPr>
              <a:t>Program Learning Outcomes (PLO)</a:t>
            </a:r>
            <a:r>
              <a:rPr lang="en-US" sz="2800" b="1" dirty="0">
                <a:solidFill>
                  <a:srgbClr val="C00000"/>
                </a:solidFill>
                <a:latin typeface="Comic Sans MS" pitchFamily="66" charset="0"/>
              </a:rPr>
              <a:t> </a:t>
            </a:r>
          </a:p>
        </p:txBody>
      </p:sp>
      <p:sp>
        <p:nvSpPr>
          <p:cNvPr id="11" name="_s227351"/>
          <p:cNvSpPr>
            <a:spLocks noChangeArrowheads="1"/>
          </p:cNvSpPr>
          <p:nvPr/>
        </p:nvSpPr>
        <p:spPr bwMode="auto">
          <a:xfrm>
            <a:off x="609600" y="3789040"/>
            <a:ext cx="5400600" cy="646113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87782" tIns="43891" rIns="87782" bIns="43891" anchor="ctr"/>
          <a:lstStyle/>
          <a:p>
            <a:pPr algn="ctr">
              <a:lnSpc>
                <a:spcPct val="70000"/>
              </a:lnSpc>
            </a:pPr>
            <a:r>
              <a:rPr lang="en-US" sz="2800" b="1" dirty="0">
                <a:solidFill>
                  <a:srgbClr val="C00000"/>
                </a:solidFill>
                <a:latin typeface="Arial Narrow" pitchFamily="34" charset="0"/>
              </a:rPr>
              <a:t>Course/subject Outcomes (CLO)</a:t>
            </a:r>
            <a:r>
              <a:rPr lang="en-US" sz="2800" b="1" dirty="0">
                <a:solidFill>
                  <a:srgbClr val="C00000"/>
                </a:solidFill>
                <a:latin typeface="Comic Sans MS" pitchFamily="66" charset="0"/>
              </a:rPr>
              <a:t> </a:t>
            </a:r>
          </a:p>
        </p:txBody>
      </p:sp>
      <p:sp>
        <p:nvSpPr>
          <p:cNvPr id="12" name="_s227351"/>
          <p:cNvSpPr>
            <a:spLocks noChangeArrowheads="1"/>
          </p:cNvSpPr>
          <p:nvPr/>
        </p:nvSpPr>
        <p:spPr bwMode="auto">
          <a:xfrm>
            <a:off x="609600" y="4869160"/>
            <a:ext cx="5400600" cy="646112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87782" tIns="43891" rIns="87782" bIns="43891" anchor="ctr"/>
          <a:lstStyle/>
          <a:p>
            <a:pPr algn="ctr">
              <a:lnSpc>
                <a:spcPct val="70000"/>
              </a:lnSpc>
            </a:pPr>
            <a:r>
              <a:rPr lang="en-US" sz="2800" b="1" dirty="0">
                <a:solidFill>
                  <a:srgbClr val="C00000"/>
                </a:solidFill>
                <a:latin typeface="Arial Narrow" pitchFamily="34" charset="0"/>
              </a:rPr>
              <a:t>Weekly/Topic  Outcomes</a:t>
            </a:r>
            <a:r>
              <a:rPr lang="en-US" sz="2800" b="1" dirty="0">
                <a:solidFill>
                  <a:srgbClr val="C00000"/>
                </a:solidFill>
                <a:latin typeface="Comic Sans MS" pitchFamily="66" charset="0"/>
              </a:rPr>
              <a:t> </a:t>
            </a:r>
          </a:p>
        </p:txBody>
      </p:sp>
      <p:cxnSp>
        <p:nvCxnSpPr>
          <p:cNvPr id="13" name="Straight Arrow Connector 12"/>
          <p:cNvCxnSpPr/>
          <p:nvPr/>
        </p:nvCxnSpPr>
        <p:spPr>
          <a:xfrm>
            <a:off x="3345904" y="2420888"/>
            <a:ext cx="0" cy="36004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>
            <a:off x="3345904" y="3429000"/>
            <a:ext cx="0" cy="36004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>
            <a:off x="3345904" y="4437112"/>
            <a:ext cx="0" cy="36004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 Box 8"/>
          <p:cNvSpPr txBox="1">
            <a:spLocks noChangeArrowheads="1"/>
          </p:cNvSpPr>
          <p:nvPr/>
        </p:nvSpPr>
        <p:spPr bwMode="auto">
          <a:xfrm>
            <a:off x="6060454" y="2852936"/>
            <a:ext cx="203993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400" dirty="0">
                <a:latin typeface="Arial Narrow" pitchFamily="34" charset="0"/>
              </a:rPr>
              <a:t>Upon graduation</a:t>
            </a:r>
          </a:p>
        </p:txBody>
      </p:sp>
      <p:sp>
        <p:nvSpPr>
          <p:cNvPr id="18" name="Text Box 9"/>
          <p:cNvSpPr txBox="1">
            <a:spLocks noChangeArrowheads="1"/>
          </p:cNvSpPr>
          <p:nvPr/>
        </p:nvSpPr>
        <p:spPr bwMode="auto">
          <a:xfrm>
            <a:off x="6034533" y="3861048"/>
            <a:ext cx="300196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400" dirty="0">
                <a:latin typeface="Arial Narrow" pitchFamily="34" charset="0"/>
              </a:rPr>
              <a:t>Upon subject completion </a:t>
            </a:r>
          </a:p>
        </p:txBody>
      </p:sp>
      <p:sp>
        <p:nvSpPr>
          <p:cNvPr id="19" name="Text Box 10"/>
          <p:cNvSpPr txBox="1">
            <a:spLocks noChangeArrowheads="1"/>
          </p:cNvSpPr>
          <p:nvPr/>
        </p:nvSpPr>
        <p:spPr bwMode="auto">
          <a:xfrm>
            <a:off x="6039098" y="4797152"/>
            <a:ext cx="292539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2400" dirty="0">
                <a:latin typeface="Arial Narrow" pitchFamily="34" charset="0"/>
              </a:rPr>
              <a:t>Upon weekly/topic completion </a:t>
            </a:r>
          </a:p>
        </p:txBody>
      </p:sp>
      <p:sp>
        <p:nvSpPr>
          <p:cNvPr id="20" name="Text Box 11"/>
          <p:cNvSpPr txBox="1">
            <a:spLocks noChangeArrowheads="1"/>
          </p:cNvSpPr>
          <p:nvPr/>
        </p:nvSpPr>
        <p:spPr bwMode="auto">
          <a:xfrm>
            <a:off x="6057900" y="1772816"/>
            <a:ext cx="3033252" cy="695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80000"/>
              </a:lnSpc>
            </a:pPr>
            <a:r>
              <a:rPr lang="en-US" sz="2400" dirty="0">
                <a:latin typeface="Arial Narrow" pitchFamily="34" charset="0"/>
              </a:rPr>
              <a:t>Few years after </a:t>
            </a:r>
          </a:p>
          <a:p>
            <a:pPr>
              <a:lnSpc>
                <a:spcPct val="80000"/>
              </a:lnSpc>
            </a:pPr>
            <a:r>
              <a:rPr lang="en-US" sz="2400" dirty="0">
                <a:latin typeface="Arial Narrow" pitchFamily="34" charset="0"/>
              </a:rPr>
              <a:t>Graduation – 4 to 5 years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  <p:bldP spid="17" grpId="0"/>
      <p:bldP spid="18" grpId="0"/>
      <p:bldP spid="19" grpId="0"/>
      <p:bldP spid="2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7162800" cy="1143000"/>
          </a:xfrm>
          <a:noFill/>
        </p:spPr>
        <p:txBody>
          <a:bodyPr>
            <a:normAutofit/>
          </a:bodyPr>
          <a:lstStyle/>
          <a:p>
            <a:r>
              <a:rPr lang="en-US" dirty="0" smtClean="0"/>
              <a:t>Outcome Based Education (OBE)</a:t>
            </a:r>
            <a:br>
              <a:rPr lang="en-US" dirty="0" smtClean="0"/>
            </a:br>
            <a:r>
              <a:rPr lang="en-US" dirty="0" smtClean="0"/>
              <a:t> Why?</a:t>
            </a:r>
            <a:endParaRPr lang="en-US" dirty="0"/>
          </a:p>
        </p:txBody>
      </p:sp>
      <p:sp>
        <p:nvSpPr>
          <p:cNvPr id="6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8077200" y="6096000"/>
            <a:ext cx="914400" cy="320675"/>
          </a:xfrm>
        </p:spPr>
        <p:txBody>
          <a:bodyPr>
            <a:normAutofit fontScale="70000" lnSpcReduction="20000"/>
          </a:bodyPr>
          <a:lstStyle/>
          <a:p>
            <a:fld id="{071B1170-8FA3-40F6-8F31-449438F7CF4A}" type="slidenum">
              <a:rPr lang="en-US" sz="2400" smtClean="0"/>
              <a:pPr/>
              <a:t>3</a:t>
            </a:fld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75845" y="1600200"/>
            <a:ext cx="8780585" cy="4525963"/>
          </a:xfrm>
          <a:solidFill>
            <a:schemeClr val="bg2"/>
          </a:solidFill>
        </p:spPr>
        <p:txBody>
          <a:bodyPr>
            <a:normAutofit/>
          </a:bodyPr>
          <a:lstStyle/>
          <a:p>
            <a:r>
              <a:rPr lang="en-US" dirty="0" smtClean="0"/>
              <a:t>Why OBE?</a:t>
            </a:r>
          </a:p>
          <a:p>
            <a:pPr algn="just">
              <a:buNone/>
            </a:pPr>
            <a:r>
              <a:rPr lang="en-US" dirty="0" smtClean="0"/>
              <a:t>	It offers a framework to learn and deliver the acquired skills. </a:t>
            </a:r>
          </a:p>
          <a:p>
            <a:pPr algn="just">
              <a:buNone/>
            </a:pPr>
            <a:r>
              <a:rPr lang="en-US" dirty="0" smtClean="0"/>
              <a:t>	Studies say that OBE results in increased student and teacher self-esteem, higher academic success for more students, decreased dropouts, and several other benefits</a:t>
            </a:r>
          </a:p>
        </p:txBody>
      </p:sp>
      <p:pic>
        <p:nvPicPr>
          <p:cNvPr id="4" name="image1.jpeg"/>
          <p:cNvPicPr/>
          <p:nvPr/>
        </p:nvPicPr>
        <p:blipFill>
          <a:blip r:embed="rId2" cstate="print">
            <a:extLst>
              <a:ext uri="{28A0092B-C50C-407E-A947-70E740481C1C}">
                <a14:useLocalDpi xmlns:ve="http://schemas.openxmlformats.org/markup-compatibility/2006" xmlns:m="http://schemas.openxmlformats.org/officeDocument/2006/math" xmlns:wp="http://schemas.openxmlformats.org/drawingml/2006/wordprocessingDrawing" xmlns:wne="http://schemas.microsoft.com/office/word/2006/wordml" xmlns:a14="http://schemas.microsoft.com/office/drawing/2010/main" xmlns:wps="http://schemas.microsoft.com/office/word/2010/wordprocessingShape" xmlns:wpi="http://schemas.microsoft.com/office/word/2010/wordprocessingInk" xmlns:wpg="http://schemas.microsoft.com/office/word/2010/wordprocessingGroup" xmlns:w16se="http://schemas.microsoft.com/office/word/2015/wordml/symex" xmlns:w15="http://schemas.microsoft.com/office/word/2012/wordml" xmlns:w14="http://schemas.microsoft.com/office/word/2010/wordml" xmlns:w="http://schemas.openxmlformats.org/wordprocessingml/2006/main" xmlns:w10="urn:schemas-microsoft-com:office:word" xmlns:wp14="http://schemas.microsoft.com/office/word/2010/wordprocessingDrawing" xmlns:v="urn:schemas-microsoft-com:vml" xmlns:o="urn:schemas-microsoft-com:office:office" xmlns:mc="http://schemas.openxmlformats.org/markup-compatibility/2006" xmlns:cx="http://schemas.microsoft.com/office/drawing/2014/chartex" xmlns:wpc="http://schemas.microsoft.com/office/word/2010/wordprocessingCanvas" xmlns="" xmlns:pic="http://schemas.openxmlformats.org/drawingml/2006/picture" xmlns:lc="http://schemas.openxmlformats.org/drawingml/2006/lockedCanvas" val="0"/>
              </a:ext>
            </a:extLst>
          </a:blip>
          <a:stretch>
            <a:fillRect/>
          </a:stretch>
        </p:blipFill>
        <p:spPr>
          <a:xfrm>
            <a:off x="0" y="0"/>
            <a:ext cx="790822" cy="80752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997852" y="1"/>
            <a:ext cx="1146148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TextBox 8"/>
          <p:cNvSpPr txBox="1">
            <a:spLocks noChangeArrowheads="1"/>
          </p:cNvSpPr>
          <p:nvPr/>
        </p:nvSpPr>
        <p:spPr bwMode="auto">
          <a:xfrm>
            <a:off x="0" y="6303963"/>
            <a:ext cx="4614863" cy="5540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200" dirty="0">
                <a:latin typeface="Verdana" pitchFamily="34" charset="0"/>
              </a:rPr>
              <a:t>Computer Science &amp; Information Technology Department</a:t>
            </a:r>
          </a:p>
          <a:p>
            <a:r>
              <a:rPr lang="en-US" sz="1200" dirty="0">
                <a:latin typeface="Verdana" pitchFamily="34" charset="0"/>
              </a:rPr>
              <a:t>Sir Syed University of </a:t>
            </a:r>
            <a:r>
              <a:rPr lang="en-US" sz="1200" dirty="0" err="1">
                <a:latin typeface="Verdana" pitchFamily="34" charset="0"/>
              </a:rPr>
              <a:t>Engg</a:t>
            </a:r>
            <a:r>
              <a:rPr lang="en-US" sz="1200" dirty="0">
                <a:latin typeface="Verdana" pitchFamily="34" charset="0"/>
              </a:rPr>
              <a:t>. &amp; Tech</a:t>
            </a:r>
            <a:r>
              <a:rPr lang="en-US" dirty="0"/>
              <a:t>.</a:t>
            </a:r>
          </a:p>
        </p:txBody>
      </p:sp>
      <p:sp>
        <p:nvSpPr>
          <p:cNvPr id="8" name="TextBox 5"/>
          <p:cNvSpPr txBox="1">
            <a:spLocks noChangeArrowheads="1"/>
          </p:cNvSpPr>
          <p:nvPr/>
        </p:nvSpPr>
        <p:spPr bwMode="auto">
          <a:xfrm>
            <a:off x="3337717" y="6477000"/>
            <a:ext cx="3063083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dirty="0" smtClean="0"/>
              <a:t>Presented by</a:t>
            </a:r>
            <a:r>
              <a:rPr lang="en-US" dirty="0"/>
              <a:t>: Mr. Shakir Karim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5105400"/>
            <a:ext cx="1676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Transparency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4648200" y="5105400"/>
            <a:ext cx="1143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Precision</a:t>
            </a:r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2743200" y="4953000"/>
            <a:ext cx="1295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Flexibility</a:t>
            </a:r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6248400" y="5181600"/>
            <a:ext cx="1447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Comparison</a:t>
            </a:r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2286000" y="5715000"/>
            <a:ext cx="457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Self Development and Career Progression </a:t>
            </a:r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/>
      <p:bldP spid="12" grpId="0"/>
      <p:bldP spid="1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7162800" cy="1143000"/>
          </a:xfrm>
        </p:spPr>
        <p:txBody>
          <a:bodyPr>
            <a:normAutofit/>
          </a:bodyPr>
          <a:lstStyle/>
          <a:p>
            <a:r>
              <a:rPr lang="en-US" dirty="0" smtClean="0"/>
              <a:t>Outcome Based Education (OBE)</a:t>
            </a:r>
            <a:br>
              <a:rPr lang="en-US" dirty="0" smtClean="0"/>
            </a:br>
            <a:r>
              <a:rPr lang="en-US" dirty="0" smtClean="0"/>
              <a:t>Process</a:t>
            </a:r>
            <a:endParaRPr lang="en-US" dirty="0"/>
          </a:p>
        </p:txBody>
      </p:sp>
      <p:sp>
        <p:nvSpPr>
          <p:cNvPr id="6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8077200" y="6096000"/>
            <a:ext cx="914400" cy="320675"/>
          </a:xfrm>
        </p:spPr>
        <p:txBody>
          <a:bodyPr>
            <a:normAutofit fontScale="70000" lnSpcReduction="20000"/>
          </a:bodyPr>
          <a:lstStyle/>
          <a:p>
            <a:fld id="{071B1170-8FA3-40F6-8F31-449438F7CF4A}" type="slidenum">
              <a:rPr lang="en-US" sz="2400" smtClean="0"/>
              <a:pPr/>
              <a:t>4</a:t>
            </a:fld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04800" y="1371600"/>
            <a:ext cx="8551986" cy="49530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 smtClean="0"/>
              <a:t>Follows Seoul Accord </a:t>
            </a:r>
            <a:r>
              <a:rPr lang="en-US" sz="2000" b="1" dirty="0" smtClean="0"/>
              <a:t>(an international </a:t>
            </a:r>
            <a:r>
              <a:rPr lang="en-US" sz="2000" b="1" dirty="0" smtClean="0"/>
              <a:t>agreement)</a:t>
            </a:r>
            <a:endParaRPr lang="ur-PK" b="1" dirty="0" smtClean="0"/>
          </a:p>
          <a:p>
            <a:pPr>
              <a:buNone/>
            </a:pPr>
            <a:endParaRPr lang="en-US" b="1" dirty="0" smtClean="0"/>
          </a:p>
          <a:p>
            <a:pPr>
              <a:buNone/>
            </a:pPr>
            <a:r>
              <a:rPr lang="en-US" b="1" dirty="0" smtClean="0"/>
              <a:t>OBE </a:t>
            </a:r>
            <a:r>
              <a:rPr lang="en-US" b="1" dirty="0" smtClean="0"/>
              <a:t>Implementation Process</a:t>
            </a:r>
          </a:p>
          <a:p>
            <a:pPr>
              <a:buNone/>
            </a:pPr>
            <a:endParaRPr lang="en-US" dirty="0" smtClean="0"/>
          </a:p>
          <a:p>
            <a:pPr lvl="0"/>
            <a:r>
              <a:rPr lang="en-US" dirty="0" smtClean="0"/>
              <a:t>Map Program Educational Objectives with PLO</a:t>
            </a:r>
          </a:p>
          <a:p>
            <a:pPr lvl="0"/>
            <a:endParaRPr lang="en-US" dirty="0" smtClean="0"/>
          </a:p>
          <a:p>
            <a:r>
              <a:rPr lang="en-US" dirty="0" smtClean="0"/>
              <a:t>Define Course Learning Objectives (CLOs)</a:t>
            </a:r>
          </a:p>
          <a:p>
            <a:pPr lvl="0"/>
            <a:endParaRPr lang="en-US" dirty="0" smtClean="0"/>
          </a:p>
          <a:p>
            <a:pPr lvl="0"/>
            <a:r>
              <a:rPr lang="en-US" dirty="0" smtClean="0"/>
              <a:t>Mapping of CLOs with PLOs and BT Levels </a:t>
            </a:r>
          </a:p>
          <a:p>
            <a:endParaRPr lang="en-US" dirty="0" smtClean="0"/>
          </a:p>
        </p:txBody>
      </p:sp>
      <p:pic>
        <p:nvPicPr>
          <p:cNvPr id="4" name="image1.jpeg"/>
          <p:cNvPicPr/>
          <p:nvPr/>
        </p:nvPicPr>
        <p:blipFill>
          <a:blip r:embed="rId2" cstate="print">
            <a:extLst>
              <a:ext uri="{28A0092B-C50C-407E-A947-70E740481C1C}">
                <a14:useLocalDpi xmlns:ve="http://schemas.openxmlformats.org/markup-compatibility/2006" xmlns:m="http://schemas.openxmlformats.org/officeDocument/2006/math" xmlns:wp="http://schemas.openxmlformats.org/drawingml/2006/wordprocessingDrawing" xmlns:wne="http://schemas.microsoft.com/office/word/2006/wordml" xmlns:a14="http://schemas.microsoft.com/office/drawing/2010/main" xmlns:wps="http://schemas.microsoft.com/office/word/2010/wordprocessingShape" xmlns:wpi="http://schemas.microsoft.com/office/word/2010/wordprocessingInk" xmlns:wpg="http://schemas.microsoft.com/office/word/2010/wordprocessingGroup" xmlns:w16se="http://schemas.microsoft.com/office/word/2015/wordml/symex" xmlns:w15="http://schemas.microsoft.com/office/word/2012/wordml" xmlns:w14="http://schemas.microsoft.com/office/word/2010/wordml" xmlns:w="http://schemas.openxmlformats.org/wordprocessingml/2006/main" xmlns:w10="urn:schemas-microsoft-com:office:word" xmlns:wp14="http://schemas.microsoft.com/office/word/2010/wordprocessingDrawing" xmlns:v="urn:schemas-microsoft-com:vml" xmlns:o="urn:schemas-microsoft-com:office:office" xmlns:mc="http://schemas.openxmlformats.org/markup-compatibility/2006" xmlns:cx="http://schemas.microsoft.com/office/drawing/2014/chartex" xmlns:wpc="http://schemas.microsoft.com/office/word/2010/wordprocessingCanvas" xmlns="" xmlns:pic="http://schemas.openxmlformats.org/drawingml/2006/picture" xmlns:lc="http://schemas.openxmlformats.org/drawingml/2006/lockedCanvas" val="0"/>
              </a:ext>
            </a:extLst>
          </a:blip>
          <a:stretch>
            <a:fillRect/>
          </a:stretch>
        </p:blipFill>
        <p:spPr>
          <a:xfrm>
            <a:off x="0" y="0"/>
            <a:ext cx="790822" cy="80752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997852" y="1"/>
            <a:ext cx="1146148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TextBox 8"/>
          <p:cNvSpPr txBox="1">
            <a:spLocks noChangeArrowheads="1"/>
          </p:cNvSpPr>
          <p:nvPr/>
        </p:nvSpPr>
        <p:spPr bwMode="auto">
          <a:xfrm>
            <a:off x="0" y="6303963"/>
            <a:ext cx="4614863" cy="5540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200" dirty="0">
                <a:latin typeface="Verdana" pitchFamily="34" charset="0"/>
              </a:rPr>
              <a:t>Computer Science &amp; Information Technology Department</a:t>
            </a:r>
          </a:p>
          <a:p>
            <a:r>
              <a:rPr lang="en-US" sz="1200" dirty="0">
                <a:latin typeface="Verdana" pitchFamily="34" charset="0"/>
              </a:rPr>
              <a:t>Sir Syed University of </a:t>
            </a:r>
            <a:r>
              <a:rPr lang="en-US" sz="1200" dirty="0" err="1">
                <a:latin typeface="Verdana" pitchFamily="34" charset="0"/>
              </a:rPr>
              <a:t>Engg</a:t>
            </a:r>
            <a:r>
              <a:rPr lang="en-US" sz="1200" dirty="0">
                <a:latin typeface="Verdana" pitchFamily="34" charset="0"/>
              </a:rPr>
              <a:t>. &amp; Tech</a:t>
            </a:r>
            <a:r>
              <a:rPr lang="en-US" dirty="0"/>
              <a:t>.</a:t>
            </a:r>
          </a:p>
        </p:txBody>
      </p:sp>
      <p:sp>
        <p:nvSpPr>
          <p:cNvPr id="8" name="TextBox 5"/>
          <p:cNvSpPr txBox="1">
            <a:spLocks noChangeArrowheads="1"/>
          </p:cNvSpPr>
          <p:nvPr/>
        </p:nvSpPr>
        <p:spPr bwMode="auto">
          <a:xfrm>
            <a:off x="3337717" y="6477000"/>
            <a:ext cx="3063083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dirty="0" smtClean="0"/>
              <a:t>Presented by</a:t>
            </a:r>
            <a:r>
              <a:rPr lang="en-US" dirty="0"/>
              <a:t>: Mr. Shakir Karim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7162800" cy="1143000"/>
          </a:xfrm>
        </p:spPr>
        <p:txBody>
          <a:bodyPr>
            <a:normAutofit/>
          </a:bodyPr>
          <a:lstStyle/>
          <a:p>
            <a:r>
              <a:rPr lang="en-US" dirty="0" smtClean="0"/>
              <a:t>Outcome Based Education (OBE)</a:t>
            </a:r>
            <a:br>
              <a:rPr lang="en-US" dirty="0" smtClean="0"/>
            </a:br>
            <a:r>
              <a:rPr lang="en-US" dirty="0" smtClean="0"/>
              <a:t>Success in academics</a:t>
            </a:r>
            <a:endParaRPr lang="en-US" dirty="0"/>
          </a:p>
        </p:txBody>
      </p:sp>
      <p:sp>
        <p:nvSpPr>
          <p:cNvPr id="6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8077200" y="6080125"/>
            <a:ext cx="914400" cy="320675"/>
          </a:xfrm>
        </p:spPr>
        <p:txBody>
          <a:bodyPr>
            <a:normAutofit fontScale="70000" lnSpcReduction="20000"/>
          </a:bodyPr>
          <a:lstStyle/>
          <a:p>
            <a:fld id="{071B1170-8FA3-40F6-8F31-449438F7CF4A}" type="slidenum">
              <a:rPr lang="en-US" sz="2400" smtClean="0"/>
              <a:pPr/>
              <a:t>5</a:t>
            </a:fld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04800" y="1371600"/>
            <a:ext cx="8551986" cy="4525963"/>
          </a:xfrm>
        </p:spPr>
        <p:txBody>
          <a:bodyPr>
            <a:normAutofit/>
          </a:bodyPr>
          <a:lstStyle/>
          <a:p>
            <a:r>
              <a:rPr lang="en-US" dirty="0" smtClean="0"/>
              <a:t>Three pillars for success in academics</a:t>
            </a:r>
          </a:p>
        </p:txBody>
      </p:sp>
      <p:pic>
        <p:nvPicPr>
          <p:cNvPr id="4" name="image1.jpeg"/>
          <p:cNvPicPr/>
          <p:nvPr/>
        </p:nvPicPr>
        <p:blipFill>
          <a:blip r:embed="rId2" cstate="print">
            <a:extLst>
              <a:ext uri="{28A0092B-C50C-407E-A947-70E740481C1C}">
                <a14:useLocalDpi xmlns:ve="http://schemas.openxmlformats.org/markup-compatibility/2006" xmlns:m="http://schemas.openxmlformats.org/officeDocument/2006/math" xmlns:wp="http://schemas.openxmlformats.org/drawingml/2006/wordprocessingDrawing" xmlns:wne="http://schemas.microsoft.com/office/word/2006/wordml" xmlns:a14="http://schemas.microsoft.com/office/drawing/2010/main" xmlns:wps="http://schemas.microsoft.com/office/word/2010/wordprocessingShape" xmlns:wpi="http://schemas.microsoft.com/office/word/2010/wordprocessingInk" xmlns:wpg="http://schemas.microsoft.com/office/word/2010/wordprocessingGroup" xmlns:w16se="http://schemas.microsoft.com/office/word/2015/wordml/symex" xmlns:w15="http://schemas.microsoft.com/office/word/2012/wordml" xmlns:w14="http://schemas.microsoft.com/office/word/2010/wordml" xmlns:w="http://schemas.openxmlformats.org/wordprocessingml/2006/main" xmlns:w10="urn:schemas-microsoft-com:office:word" xmlns:wp14="http://schemas.microsoft.com/office/word/2010/wordprocessingDrawing" xmlns:v="urn:schemas-microsoft-com:vml" xmlns:o="urn:schemas-microsoft-com:office:office" xmlns:mc="http://schemas.openxmlformats.org/markup-compatibility/2006" xmlns:cx="http://schemas.microsoft.com/office/drawing/2014/chartex" xmlns:wpc="http://schemas.microsoft.com/office/word/2010/wordprocessingCanvas" xmlns="" xmlns:pic="http://schemas.openxmlformats.org/drawingml/2006/picture" xmlns:lc="http://schemas.openxmlformats.org/drawingml/2006/lockedCanvas" val="0"/>
              </a:ext>
            </a:extLst>
          </a:blip>
          <a:stretch>
            <a:fillRect/>
          </a:stretch>
        </p:blipFill>
        <p:spPr>
          <a:xfrm>
            <a:off x="0" y="0"/>
            <a:ext cx="790822" cy="80752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997852" y="1"/>
            <a:ext cx="1146148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TextBox 8"/>
          <p:cNvSpPr txBox="1">
            <a:spLocks noChangeArrowheads="1"/>
          </p:cNvSpPr>
          <p:nvPr/>
        </p:nvSpPr>
        <p:spPr bwMode="auto">
          <a:xfrm>
            <a:off x="0" y="6303963"/>
            <a:ext cx="4614863" cy="5540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200" dirty="0">
                <a:latin typeface="Verdana" pitchFamily="34" charset="0"/>
              </a:rPr>
              <a:t>Computer Science &amp; Information Technology Department</a:t>
            </a:r>
          </a:p>
          <a:p>
            <a:r>
              <a:rPr lang="en-US" sz="1200" dirty="0">
                <a:latin typeface="Verdana" pitchFamily="34" charset="0"/>
              </a:rPr>
              <a:t>Sir Syed University of </a:t>
            </a:r>
            <a:r>
              <a:rPr lang="en-US" sz="1200" dirty="0" err="1">
                <a:latin typeface="Verdana" pitchFamily="34" charset="0"/>
              </a:rPr>
              <a:t>Engg</a:t>
            </a:r>
            <a:r>
              <a:rPr lang="en-US" sz="1200" dirty="0">
                <a:latin typeface="Verdana" pitchFamily="34" charset="0"/>
              </a:rPr>
              <a:t>. &amp; Tech</a:t>
            </a:r>
            <a:r>
              <a:rPr lang="en-US" dirty="0"/>
              <a:t>.</a:t>
            </a:r>
          </a:p>
        </p:txBody>
      </p:sp>
      <p:sp>
        <p:nvSpPr>
          <p:cNvPr id="8" name="TextBox 5"/>
          <p:cNvSpPr txBox="1">
            <a:spLocks noChangeArrowheads="1"/>
          </p:cNvSpPr>
          <p:nvPr/>
        </p:nvSpPr>
        <p:spPr bwMode="auto">
          <a:xfrm>
            <a:off x="3337717" y="6477000"/>
            <a:ext cx="3063083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dirty="0" smtClean="0"/>
              <a:t>Presented by</a:t>
            </a:r>
            <a:r>
              <a:rPr lang="en-US" dirty="0"/>
              <a:t>: Mr. Shakir Karim</a:t>
            </a:r>
          </a:p>
        </p:txBody>
      </p:sp>
      <p:sp>
        <p:nvSpPr>
          <p:cNvPr id="9" name="Isosceles Triangle 8"/>
          <p:cNvSpPr/>
          <p:nvPr/>
        </p:nvSpPr>
        <p:spPr>
          <a:xfrm>
            <a:off x="2667000" y="2590800"/>
            <a:ext cx="3962400" cy="2667000"/>
          </a:xfrm>
          <a:prstGeom prst="triangle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2989385" y="2209800"/>
            <a:ext cx="3352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Student’s Willingness</a:t>
            </a:r>
            <a:endParaRPr lang="en-US" sz="2400" dirty="0"/>
          </a:p>
        </p:txBody>
      </p:sp>
      <p:sp>
        <p:nvSpPr>
          <p:cNvPr id="11" name="TextBox 10"/>
          <p:cNvSpPr txBox="1"/>
          <p:nvPr/>
        </p:nvSpPr>
        <p:spPr>
          <a:xfrm>
            <a:off x="5486400" y="5257800"/>
            <a:ext cx="259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Parents Support</a:t>
            </a:r>
            <a:endParaRPr lang="en-US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295400" y="5253335"/>
            <a:ext cx="3048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Teacher’s Excellence</a:t>
            </a:r>
            <a:endParaRPr lang="en-US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3810000" y="3657600"/>
            <a:ext cx="161778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/>
              <a:t>Academic </a:t>
            </a:r>
          </a:p>
          <a:p>
            <a:pPr algn="ctr"/>
            <a:r>
              <a:rPr lang="en-US" sz="2400" dirty="0" smtClean="0"/>
              <a:t>Success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/>
      <p:bldP spid="11" grpId="0"/>
      <p:bldP spid="12" grpId="0"/>
      <p:bldP spid="1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7391400" cy="1143000"/>
          </a:xfrm>
        </p:spPr>
        <p:txBody>
          <a:bodyPr>
            <a:normAutofit/>
          </a:bodyPr>
          <a:lstStyle/>
          <a:p>
            <a:r>
              <a:rPr lang="en-US" dirty="0" smtClean="0"/>
              <a:t>Outcome Based Education (OBE)</a:t>
            </a:r>
            <a:br>
              <a:rPr lang="en-US" dirty="0" smtClean="0"/>
            </a:br>
            <a:r>
              <a:rPr lang="en-US" dirty="0" smtClean="0"/>
              <a:t>Assessment Criteria</a:t>
            </a:r>
            <a:endParaRPr lang="en-US" dirty="0"/>
          </a:p>
        </p:txBody>
      </p:sp>
      <p:sp>
        <p:nvSpPr>
          <p:cNvPr id="6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8077200" y="6096000"/>
            <a:ext cx="914400" cy="320675"/>
          </a:xfrm>
        </p:spPr>
        <p:txBody>
          <a:bodyPr>
            <a:normAutofit fontScale="70000" lnSpcReduction="20000"/>
          </a:bodyPr>
          <a:lstStyle/>
          <a:p>
            <a:fld id="{071B1170-8FA3-40F6-8F31-449438F7CF4A}" type="slidenum">
              <a:rPr lang="en-US" sz="2400" smtClean="0"/>
              <a:pPr/>
              <a:t>6</a:t>
            </a:fld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228600" y="1371600"/>
            <a:ext cx="8628186" cy="4525963"/>
          </a:xfrm>
        </p:spPr>
        <p:txBody>
          <a:bodyPr>
            <a:normAutofit/>
          </a:bodyPr>
          <a:lstStyle/>
          <a:p>
            <a:r>
              <a:rPr lang="en-US" dirty="0" smtClean="0"/>
              <a:t>Students are assessed on the basis of </a:t>
            </a:r>
          </a:p>
          <a:p>
            <a:pPr lvl="1"/>
            <a:r>
              <a:rPr lang="en-US" dirty="0" smtClean="0"/>
              <a:t>Cognitive Skills (mostly Theory)</a:t>
            </a:r>
          </a:p>
          <a:p>
            <a:pPr lvl="1"/>
            <a:r>
              <a:rPr lang="en-US" dirty="0" smtClean="0"/>
              <a:t>Affective / Social Skills (mostly Lab)</a:t>
            </a:r>
          </a:p>
          <a:p>
            <a:pPr lvl="1"/>
            <a:r>
              <a:rPr lang="en-US" dirty="0" smtClean="0"/>
              <a:t>Psychomotor Skills (mostly Lab)</a:t>
            </a:r>
          </a:p>
        </p:txBody>
      </p:sp>
      <p:pic>
        <p:nvPicPr>
          <p:cNvPr id="4" name="image1.jpeg"/>
          <p:cNvPicPr/>
          <p:nvPr/>
        </p:nvPicPr>
        <p:blipFill>
          <a:blip r:embed="rId2" cstate="print">
            <a:extLst>
              <a:ext uri="{28A0092B-C50C-407E-A947-70E740481C1C}">
                <a14:useLocalDpi xmlns:ve="http://schemas.openxmlformats.org/markup-compatibility/2006" xmlns:m="http://schemas.openxmlformats.org/officeDocument/2006/math" xmlns:wp="http://schemas.openxmlformats.org/drawingml/2006/wordprocessingDrawing" xmlns:wne="http://schemas.microsoft.com/office/word/2006/wordml" xmlns:a14="http://schemas.microsoft.com/office/drawing/2010/main" xmlns:wps="http://schemas.microsoft.com/office/word/2010/wordprocessingShape" xmlns:wpi="http://schemas.microsoft.com/office/word/2010/wordprocessingInk" xmlns:wpg="http://schemas.microsoft.com/office/word/2010/wordprocessingGroup" xmlns:w16se="http://schemas.microsoft.com/office/word/2015/wordml/symex" xmlns:w15="http://schemas.microsoft.com/office/word/2012/wordml" xmlns:w14="http://schemas.microsoft.com/office/word/2010/wordml" xmlns:w="http://schemas.openxmlformats.org/wordprocessingml/2006/main" xmlns:w10="urn:schemas-microsoft-com:office:word" xmlns:wp14="http://schemas.microsoft.com/office/word/2010/wordprocessingDrawing" xmlns:v="urn:schemas-microsoft-com:vml" xmlns:o="urn:schemas-microsoft-com:office:office" xmlns:mc="http://schemas.openxmlformats.org/markup-compatibility/2006" xmlns:cx="http://schemas.microsoft.com/office/drawing/2014/chartex" xmlns:wpc="http://schemas.microsoft.com/office/word/2010/wordprocessingCanvas" xmlns="" xmlns:pic="http://schemas.openxmlformats.org/drawingml/2006/picture" xmlns:lc="http://schemas.openxmlformats.org/drawingml/2006/lockedCanvas" val="0"/>
              </a:ext>
            </a:extLst>
          </a:blip>
          <a:stretch>
            <a:fillRect/>
          </a:stretch>
        </p:blipFill>
        <p:spPr>
          <a:xfrm>
            <a:off x="0" y="0"/>
            <a:ext cx="790822" cy="80752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997852" y="1"/>
            <a:ext cx="1146148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TextBox 8"/>
          <p:cNvSpPr txBox="1">
            <a:spLocks noChangeArrowheads="1"/>
          </p:cNvSpPr>
          <p:nvPr/>
        </p:nvSpPr>
        <p:spPr bwMode="auto">
          <a:xfrm>
            <a:off x="0" y="6303963"/>
            <a:ext cx="4614863" cy="5540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200" dirty="0">
                <a:latin typeface="Verdana" pitchFamily="34" charset="0"/>
              </a:rPr>
              <a:t>Computer Science &amp; Information Technology Department</a:t>
            </a:r>
          </a:p>
          <a:p>
            <a:r>
              <a:rPr lang="en-US" sz="1200" dirty="0">
                <a:latin typeface="Verdana" pitchFamily="34" charset="0"/>
              </a:rPr>
              <a:t>Sir Syed University of </a:t>
            </a:r>
            <a:r>
              <a:rPr lang="en-US" sz="1200" dirty="0" err="1">
                <a:latin typeface="Verdana" pitchFamily="34" charset="0"/>
              </a:rPr>
              <a:t>Engg</a:t>
            </a:r>
            <a:r>
              <a:rPr lang="en-US" sz="1200" dirty="0">
                <a:latin typeface="Verdana" pitchFamily="34" charset="0"/>
              </a:rPr>
              <a:t>. &amp; Tech</a:t>
            </a:r>
            <a:r>
              <a:rPr lang="en-US" dirty="0"/>
              <a:t>.</a:t>
            </a:r>
          </a:p>
        </p:txBody>
      </p:sp>
      <p:sp>
        <p:nvSpPr>
          <p:cNvPr id="8" name="TextBox 5"/>
          <p:cNvSpPr txBox="1">
            <a:spLocks noChangeArrowheads="1"/>
          </p:cNvSpPr>
          <p:nvPr/>
        </p:nvSpPr>
        <p:spPr bwMode="auto">
          <a:xfrm>
            <a:off x="3337717" y="6477000"/>
            <a:ext cx="3063083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dirty="0" smtClean="0"/>
              <a:t>Presented by</a:t>
            </a:r>
            <a:r>
              <a:rPr lang="en-US" dirty="0"/>
              <a:t>: Mr. Shakir Karim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85445" y="4038600"/>
            <a:ext cx="3387970" cy="21710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5410200" y="1863970"/>
            <a:ext cx="2895856" cy="23784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5409944" y="4343400"/>
            <a:ext cx="2895600" cy="2005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7391400" cy="1143000"/>
          </a:xfrm>
        </p:spPr>
        <p:txBody>
          <a:bodyPr>
            <a:normAutofit/>
          </a:bodyPr>
          <a:lstStyle/>
          <a:p>
            <a:r>
              <a:rPr lang="en-US" dirty="0" smtClean="0"/>
              <a:t>Outcome Based Education (OBE)</a:t>
            </a:r>
            <a:br>
              <a:rPr lang="en-US" dirty="0" smtClean="0"/>
            </a:br>
            <a:r>
              <a:rPr lang="en-US" dirty="0" smtClean="0"/>
              <a:t>Details of OBE including </a:t>
            </a:r>
            <a:endParaRPr lang="en-US" dirty="0"/>
          </a:p>
        </p:txBody>
      </p:sp>
      <p:sp>
        <p:nvSpPr>
          <p:cNvPr id="6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8077200" y="6080125"/>
            <a:ext cx="914400" cy="320675"/>
          </a:xfrm>
        </p:spPr>
        <p:txBody>
          <a:bodyPr>
            <a:normAutofit fontScale="70000" lnSpcReduction="20000"/>
          </a:bodyPr>
          <a:lstStyle/>
          <a:p>
            <a:fld id="{071B1170-8FA3-40F6-8F31-449438F7CF4A}" type="slidenum">
              <a:rPr lang="en-US" sz="2400" smtClean="0"/>
              <a:pPr/>
              <a:t>7</a:t>
            </a:fld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228600" y="1722437"/>
            <a:ext cx="8628186" cy="4373563"/>
          </a:xfrm>
          <a:solidFill>
            <a:schemeClr val="bg2"/>
          </a:solidFill>
        </p:spPr>
        <p:txBody>
          <a:bodyPr>
            <a:normAutofit/>
          </a:bodyPr>
          <a:lstStyle/>
          <a:p>
            <a:pPr>
              <a:spcBef>
                <a:spcPct val="45000"/>
              </a:spcBef>
              <a:buClr>
                <a:schemeClr val="hlink"/>
              </a:buClr>
              <a:buSzPct val="70000"/>
              <a:buNone/>
              <a:defRPr/>
            </a:pPr>
            <a:r>
              <a:rPr lang="en-US" b="1" dirty="0" smtClean="0"/>
              <a:t>Details of OBE includes :</a:t>
            </a:r>
          </a:p>
          <a:p>
            <a:pPr>
              <a:spcBef>
                <a:spcPct val="45000"/>
              </a:spcBef>
              <a:buClr>
                <a:schemeClr val="hlink"/>
              </a:buClr>
              <a:buSzPct val="70000"/>
              <a:buNone/>
              <a:defRPr/>
            </a:pPr>
            <a:r>
              <a:rPr lang="en-US" dirty="0" smtClean="0"/>
              <a:t>	Program Learning Outcomes (PLOs), </a:t>
            </a:r>
          </a:p>
          <a:p>
            <a:pPr>
              <a:spcBef>
                <a:spcPct val="45000"/>
              </a:spcBef>
              <a:buClr>
                <a:schemeClr val="hlink"/>
              </a:buClr>
              <a:buSzPct val="70000"/>
              <a:buNone/>
              <a:defRPr/>
            </a:pPr>
            <a:r>
              <a:rPr lang="en-US" dirty="0" smtClean="0"/>
              <a:t>	Course Learning Outcomes (CLOs), </a:t>
            </a:r>
          </a:p>
          <a:p>
            <a:pPr>
              <a:spcBef>
                <a:spcPct val="45000"/>
              </a:spcBef>
              <a:buClr>
                <a:schemeClr val="hlink"/>
              </a:buClr>
              <a:buSzPct val="70000"/>
              <a:buNone/>
              <a:defRPr/>
            </a:pPr>
            <a:r>
              <a:rPr lang="en-US" dirty="0" smtClean="0"/>
              <a:t>	Relationship of Assessment Tools and CLOs, </a:t>
            </a:r>
          </a:p>
          <a:p>
            <a:pPr>
              <a:spcBef>
                <a:spcPct val="45000"/>
              </a:spcBef>
              <a:buClr>
                <a:schemeClr val="hlink"/>
              </a:buClr>
              <a:buSzPct val="70000"/>
              <a:buNone/>
              <a:defRPr/>
            </a:pPr>
            <a:r>
              <a:rPr lang="en-US" dirty="0" smtClean="0"/>
              <a:t>	Format of Assignments/Quizzes/Exam Papers</a:t>
            </a:r>
          </a:p>
          <a:p>
            <a:pPr>
              <a:spcBef>
                <a:spcPct val="45000"/>
              </a:spcBef>
              <a:buClr>
                <a:schemeClr val="hlink"/>
              </a:buClr>
              <a:buSzPct val="70000"/>
              <a:buNone/>
              <a:defRPr/>
            </a:pPr>
            <a:r>
              <a:rPr lang="en-US" dirty="0" smtClean="0"/>
              <a:t>	Course Analysis Report (CAR)</a:t>
            </a:r>
          </a:p>
          <a:p>
            <a:pPr>
              <a:spcBef>
                <a:spcPct val="45000"/>
              </a:spcBef>
              <a:buClr>
                <a:schemeClr val="hlink"/>
              </a:buClr>
              <a:buSzPct val="70000"/>
              <a:buNone/>
              <a:defRPr/>
            </a:pPr>
            <a:r>
              <a:rPr lang="en-US" dirty="0" smtClean="0"/>
              <a:t>	</a:t>
            </a:r>
          </a:p>
        </p:txBody>
      </p:sp>
      <p:pic>
        <p:nvPicPr>
          <p:cNvPr id="4" name="image1.jpeg"/>
          <p:cNvPicPr/>
          <p:nvPr/>
        </p:nvPicPr>
        <p:blipFill>
          <a:blip r:embed="rId2" cstate="print">
            <a:extLst>
              <a:ext uri="{28A0092B-C50C-407E-A947-70E740481C1C}">
                <a14:useLocalDpi xmlns:ve="http://schemas.openxmlformats.org/markup-compatibility/2006" xmlns:m="http://schemas.openxmlformats.org/officeDocument/2006/math" xmlns:wp="http://schemas.openxmlformats.org/drawingml/2006/wordprocessingDrawing" xmlns:wne="http://schemas.microsoft.com/office/word/2006/wordml" xmlns:a14="http://schemas.microsoft.com/office/drawing/2010/main" xmlns:wps="http://schemas.microsoft.com/office/word/2010/wordprocessingShape" xmlns:wpi="http://schemas.microsoft.com/office/word/2010/wordprocessingInk" xmlns:wpg="http://schemas.microsoft.com/office/word/2010/wordprocessingGroup" xmlns:w16se="http://schemas.microsoft.com/office/word/2015/wordml/symex" xmlns:w15="http://schemas.microsoft.com/office/word/2012/wordml" xmlns:w14="http://schemas.microsoft.com/office/word/2010/wordml" xmlns:w="http://schemas.openxmlformats.org/wordprocessingml/2006/main" xmlns:w10="urn:schemas-microsoft-com:office:word" xmlns:wp14="http://schemas.microsoft.com/office/word/2010/wordprocessingDrawing" xmlns:v="urn:schemas-microsoft-com:vml" xmlns:o="urn:schemas-microsoft-com:office:office" xmlns:mc="http://schemas.openxmlformats.org/markup-compatibility/2006" xmlns:cx="http://schemas.microsoft.com/office/drawing/2014/chartex" xmlns:wpc="http://schemas.microsoft.com/office/word/2010/wordprocessingCanvas" xmlns="" xmlns:pic="http://schemas.openxmlformats.org/drawingml/2006/picture" xmlns:lc="http://schemas.openxmlformats.org/drawingml/2006/lockedCanvas" val="0"/>
              </a:ext>
            </a:extLst>
          </a:blip>
          <a:stretch>
            <a:fillRect/>
          </a:stretch>
        </p:blipFill>
        <p:spPr>
          <a:xfrm>
            <a:off x="0" y="0"/>
            <a:ext cx="790822" cy="80752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997852" y="1"/>
            <a:ext cx="1146148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TextBox 8"/>
          <p:cNvSpPr txBox="1">
            <a:spLocks noChangeArrowheads="1"/>
          </p:cNvSpPr>
          <p:nvPr/>
        </p:nvSpPr>
        <p:spPr bwMode="auto">
          <a:xfrm>
            <a:off x="0" y="6303963"/>
            <a:ext cx="4614863" cy="5540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200" dirty="0">
                <a:latin typeface="Verdana" pitchFamily="34" charset="0"/>
              </a:rPr>
              <a:t>Computer Science &amp; Information Technology Department</a:t>
            </a:r>
          </a:p>
          <a:p>
            <a:r>
              <a:rPr lang="en-US" sz="1200" dirty="0">
                <a:latin typeface="Verdana" pitchFamily="34" charset="0"/>
              </a:rPr>
              <a:t>Sir Syed University of </a:t>
            </a:r>
            <a:r>
              <a:rPr lang="en-US" sz="1200" dirty="0" err="1">
                <a:latin typeface="Verdana" pitchFamily="34" charset="0"/>
              </a:rPr>
              <a:t>Engg</a:t>
            </a:r>
            <a:r>
              <a:rPr lang="en-US" sz="1200" dirty="0">
                <a:latin typeface="Verdana" pitchFamily="34" charset="0"/>
              </a:rPr>
              <a:t>. &amp; Tech</a:t>
            </a:r>
            <a:r>
              <a:rPr lang="en-US" dirty="0"/>
              <a:t>.</a:t>
            </a:r>
          </a:p>
        </p:txBody>
      </p:sp>
      <p:sp>
        <p:nvSpPr>
          <p:cNvPr id="8" name="TextBox 5"/>
          <p:cNvSpPr txBox="1">
            <a:spLocks noChangeArrowheads="1"/>
          </p:cNvSpPr>
          <p:nvPr/>
        </p:nvSpPr>
        <p:spPr bwMode="auto">
          <a:xfrm>
            <a:off x="3337717" y="6477000"/>
            <a:ext cx="3063083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dirty="0" smtClean="0"/>
              <a:t>Presented by</a:t>
            </a:r>
            <a:r>
              <a:rPr lang="en-US" dirty="0"/>
              <a:t>: Mr. Shakir Karim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0"/>
            <a:ext cx="7543800" cy="1143000"/>
          </a:xfrm>
        </p:spPr>
        <p:txBody>
          <a:bodyPr>
            <a:normAutofit/>
          </a:bodyPr>
          <a:lstStyle/>
          <a:p>
            <a:r>
              <a:rPr lang="en-US" dirty="0" smtClean="0"/>
              <a:t>Outcome Based Education (OBE)</a:t>
            </a:r>
            <a:br>
              <a:rPr lang="en-US" dirty="0" smtClean="0"/>
            </a:br>
            <a:r>
              <a:rPr lang="en-US" dirty="0" smtClean="0"/>
              <a:t>Program Learning Objectives (PLOs)</a:t>
            </a:r>
            <a:endParaRPr lang="en-US" dirty="0"/>
          </a:p>
        </p:txBody>
      </p:sp>
      <p:sp>
        <p:nvSpPr>
          <p:cNvPr id="6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8036170" y="6054965"/>
            <a:ext cx="914400" cy="320675"/>
          </a:xfrm>
        </p:spPr>
        <p:txBody>
          <a:bodyPr>
            <a:normAutofit fontScale="70000" lnSpcReduction="20000"/>
          </a:bodyPr>
          <a:lstStyle/>
          <a:p>
            <a:fld id="{071B1170-8FA3-40F6-8F31-449438F7CF4A}" type="slidenum">
              <a:rPr lang="en-US" sz="2400" smtClean="0"/>
              <a:pPr/>
              <a:t>8</a:t>
            </a:fld>
            <a:endParaRPr lang="en-US" dirty="0"/>
          </a:p>
        </p:txBody>
      </p:sp>
      <p:pic>
        <p:nvPicPr>
          <p:cNvPr id="4" name="image1.jpeg"/>
          <p:cNvPicPr/>
          <p:nvPr/>
        </p:nvPicPr>
        <p:blipFill>
          <a:blip r:embed="rId2" cstate="print">
            <a:extLst>
              <a:ext uri="{28A0092B-C50C-407E-A947-70E740481C1C}">
                <a14:useLocalDpi xmlns:ve="http://schemas.openxmlformats.org/markup-compatibility/2006" xmlns:m="http://schemas.openxmlformats.org/officeDocument/2006/math" xmlns:wp="http://schemas.openxmlformats.org/drawingml/2006/wordprocessingDrawing" xmlns:wne="http://schemas.microsoft.com/office/word/2006/wordml" xmlns:a14="http://schemas.microsoft.com/office/drawing/2010/main" xmlns:wps="http://schemas.microsoft.com/office/word/2010/wordprocessingShape" xmlns:wpi="http://schemas.microsoft.com/office/word/2010/wordprocessingInk" xmlns:wpg="http://schemas.microsoft.com/office/word/2010/wordprocessingGroup" xmlns:w16se="http://schemas.microsoft.com/office/word/2015/wordml/symex" xmlns:w15="http://schemas.microsoft.com/office/word/2012/wordml" xmlns:w14="http://schemas.microsoft.com/office/word/2010/wordml" xmlns:w="http://schemas.openxmlformats.org/wordprocessingml/2006/main" xmlns:w10="urn:schemas-microsoft-com:office:word" xmlns:wp14="http://schemas.microsoft.com/office/word/2010/wordprocessingDrawing" xmlns:v="urn:schemas-microsoft-com:vml" xmlns:o="urn:schemas-microsoft-com:office:office" xmlns:mc="http://schemas.openxmlformats.org/markup-compatibility/2006" xmlns:cx="http://schemas.microsoft.com/office/drawing/2014/chartex" xmlns:wpc="http://schemas.microsoft.com/office/word/2010/wordprocessingCanvas" xmlns="" xmlns:pic="http://schemas.openxmlformats.org/drawingml/2006/picture" xmlns:lc="http://schemas.openxmlformats.org/drawingml/2006/lockedCanvas" val="0"/>
              </a:ext>
            </a:extLst>
          </a:blip>
          <a:stretch>
            <a:fillRect/>
          </a:stretch>
        </p:blipFill>
        <p:spPr>
          <a:xfrm>
            <a:off x="0" y="0"/>
            <a:ext cx="790822" cy="80752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997852" y="1"/>
            <a:ext cx="1146148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TextBox 8"/>
          <p:cNvSpPr txBox="1">
            <a:spLocks noChangeArrowheads="1"/>
          </p:cNvSpPr>
          <p:nvPr/>
        </p:nvSpPr>
        <p:spPr bwMode="auto">
          <a:xfrm>
            <a:off x="0" y="6303963"/>
            <a:ext cx="4614863" cy="5540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200" dirty="0">
                <a:latin typeface="Verdana" pitchFamily="34" charset="0"/>
              </a:rPr>
              <a:t>Computer Science &amp; Information Technology Department</a:t>
            </a:r>
          </a:p>
          <a:p>
            <a:r>
              <a:rPr lang="en-US" sz="1200" dirty="0">
                <a:latin typeface="Verdana" pitchFamily="34" charset="0"/>
              </a:rPr>
              <a:t>Sir Syed University of </a:t>
            </a:r>
            <a:r>
              <a:rPr lang="en-US" sz="1200" dirty="0" err="1">
                <a:latin typeface="Verdana" pitchFamily="34" charset="0"/>
              </a:rPr>
              <a:t>Engg</a:t>
            </a:r>
            <a:r>
              <a:rPr lang="en-US" sz="1200" dirty="0">
                <a:latin typeface="Verdana" pitchFamily="34" charset="0"/>
              </a:rPr>
              <a:t>. &amp; Tech</a:t>
            </a:r>
            <a:r>
              <a:rPr lang="en-US" dirty="0"/>
              <a:t>.</a:t>
            </a:r>
          </a:p>
        </p:txBody>
      </p:sp>
      <p:sp>
        <p:nvSpPr>
          <p:cNvPr id="8" name="TextBox 5"/>
          <p:cNvSpPr txBox="1">
            <a:spLocks noChangeArrowheads="1"/>
          </p:cNvSpPr>
          <p:nvPr/>
        </p:nvSpPr>
        <p:spPr bwMode="auto">
          <a:xfrm>
            <a:off x="3337717" y="6477000"/>
            <a:ext cx="3063083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dirty="0" smtClean="0"/>
              <a:t>Presented by</a:t>
            </a:r>
            <a:r>
              <a:rPr lang="en-US" dirty="0"/>
              <a:t>: Mr. Shakir Karim</a:t>
            </a:r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189256" y="1695450"/>
            <a:ext cx="6659344" cy="4552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7391400" cy="1143000"/>
          </a:xfrm>
        </p:spPr>
        <p:txBody>
          <a:bodyPr>
            <a:normAutofit/>
          </a:bodyPr>
          <a:lstStyle/>
          <a:p>
            <a:r>
              <a:rPr lang="en-US" dirty="0" smtClean="0"/>
              <a:t>Outcome Based Education (OBE)</a:t>
            </a:r>
            <a:br>
              <a:rPr lang="en-US" dirty="0" smtClean="0"/>
            </a:br>
            <a:r>
              <a:rPr lang="en-US" dirty="0" smtClean="0"/>
              <a:t>KPIs for PLOs</a:t>
            </a:r>
            <a:endParaRPr lang="en-US" dirty="0"/>
          </a:p>
        </p:txBody>
      </p:sp>
      <p:sp>
        <p:nvSpPr>
          <p:cNvPr id="6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8077200" y="6096000"/>
            <a:ext cx="914400" cy="320675"/>
          </a:xfrm>
        </p:spPr>
        <p:txBody>
          <a:bodyPr>
            <a:normAutofit fontScale="70000" lnSpcReduction="20000"/>
          </a:bodyPr>
          <a:lstStyle/>
          <a:p>
            <a:fld id="{071B1170-8FA3-40F6-8F31-449438F7CF4A}" type="slidenum">
              <a:rPr lang="en-US" sz="2400" smtClean="0"/>
              <a:pPr/>
              <a:t>9</a:t>
            </a:fld>
            <a:endParaRPr lang="en-US" dirty="0"/>
          </a:p>
        </p:txBody>
      </p:sp>
      <p:pic>
        <p:nvPicPr>
          <p:cNvPr id="4" name="image1.jpeg"/>
          <p:cNvPicPr/>
          <p:nvPr/>
        </p:nvPicPr>
        <p:blipFill>
          <a:blip r:embed="rId2" cstate="print">
            <a:extLst>
              <a:ext uri="{28A0092B-C50C-407E-A947-70E740481C1C}">
                <a14:useLocalDpi xmlns:ve="http://schemas.openxmlformats.org/markup-compatibility/2006" xmlns:m="http://schemas.openxmlformats.org/officeDocument/2006/math" xmlns:wp="http://schemas.openxmlformats.org/drawingml/2006/wordprocessingDrawing" xmlns:wne="http://schemas.microsoft.com/office/word/2006/wordml" xmlns:a14="http://schemas.microsoft.com/office/drawing/2010/main" xmlns:wps="http://schemas.microsoft.com/office/word/2010/wordprocessingShape" xmlns:wpi="http://schemas.microsoft.com/office/word/2010/wordprocessingInk" xmlns:wpg="http://schemas.microsoft.com/office/word/2010/wordprocessingGroup" xmlns:w16se="http://schemas.microsoft.com/office/word/2015/wordml/symex" xmlns:w15="http://schemas.microsoft.com/office/word/2012/wordml" xmlns:w14="http://schemas.microsoft.com/office/word/2010/wordml" xmlns:w="http://schemas.openxmlformats.org/wordprocessingml/2006/main" xmlns:w10="urn:schemas-microsoft-com:office:word" xmlns:wp14="http://schemas.microsoft.com/office/word/2010/wordprocessingDrawing" xmlns:v="urn:schemas-microsoft-com:vml" xmlns:o="urn:schemas-microsoft-com:office:office" xmlns:mc="http://schemas.openxmlformats.org/markup-compatibility/2006" xmlns:cx="http://schemas.microsoft.com/office/drawing/2014/chartex" xmlns:wpc="http://schemas.microsoft.com/office/word/2010/wordprocessingCanvas" xmlns="" xmlns:pic="http://schemas.openxmlformats.org/drawingml/2006/picture" xmlns:lc="http://schemas.openxmlformats.org/drawingml/2006/lockedCanvas" val="0"/>
              </a:ext>
            </a:extLst>
          </a:blip>
          <a:stretch>
            <a:fillRect/>
          </a:stretch>
        </p:blipFill>
        <p:spPr>
          <a:xfrm>
            <a:off x="0" y="0"/>
            <a:ext cx="790822" cy="80752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997852" y="1"/>
            <a:ext cx="1146148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TextBox 8"/>
          <p:cNvSpPr txBox="1">
            <a:spLocks noChangeArrowheads="1"/>
          </p:cNvSpPr>
          <p:nvPr/>
        </p:nvSpPr>
        <p:spPr bwMode="auto">
          <a:xfrm>
            <a:off x="0" y="6303963"/>
            <a:ext cx="4614863" cy="5540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200" dirty="0">
                <a:latin typeface="Verdana" pitchFamily="34" charset="0"/>
              </a:rPr>
              <a:t>Computer Science &amp; Information Technology Department</a:t>
            </a:r>
          </a:p>
          <a:p>
            <a:r>
              <a:rPr lang="en-US" sz="1200" dirty="0">
                <a:latin typeface="Verdana" pitchFamily="34" charset="0"/>
              </a:rPr>
              <a:t>Sir Syed University of </a:t>
            </a:r>
            <a:r>
              <a:rPr lang="en-US" sz="1200" dirty="0" err="1">
                <a:latin typeface="Verdana" pitchFamily="34" charset="0"/>
              </a:rPr>
              <a:t>Engg</a:t>
            </a:r>
            <a:r>
              <a:rPr lang="en-US" sz="1200" dirty="0">
                <a:latin typeface="Verdana" pitchFamily="34" charset="0"/>
              </a:rPr>
              <a:t>. &amp; Tech</a:t>
            </a:r>
            <a:r>
              <a:rPr lang="en-US" dirty="0"/>
              <a:t>.</a:t>
            </a:r>
          </a:p>
        </p:txBody>
      </p:sp>
      <p:sp>
        <p:nvSpPr>
          <p:cNvPr id="8" name="TextBox 5"/>
          <p:cNvSpPr txBox="1">
            <a:spLocks noChangeArrowheads="1"/>
          </p:cNvSpPr>
          <p:nvPr/>
        </p:nvSpPr>
        <p:spPr bwMode="auto">
          <a:xfrm>
            <a:off x="3337717" y="6477000"/>
            <a:ext cx="3063083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dirty="0" smtClean="0"/>
              <a:t>Presented by</a:t>
            </a:r>
            <a:r>
              <a:rPr lang="en-US" dirty="0"/>
              <a:t>: Mr. Shakir Karim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4250452954"/>
              </p:ext>
            </p:extLst>
          </p:nvPr>
        </p:nvGraphicFramePr>
        <p:xfrm>
          <a:off x="609600" y="2209800"/>
          <a:ext cx="8001000" cy="2103120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1416106">
                  <a:extLst>
                    <a:ext uri="{9D8B030D-6E8A-4147-A177-3AD203B41FA5}">
                      <a16:colId xmlns="" xmlns:a16="http://schemas.microsoft.com/office/drawing/2014/main" val="2779316494"/>
                    </a:ext>
                  </a:extLst>
                </a:gridCol>
                <a:gridCol w="2124160">
                  <a:extLst>
                    <a:ext uri="{9D8B030D-6E8A-4147-A177-3AD203B41FA5}">
                      <a16:colId xmlns="" xmlns:a16="http://schemas.microsoft.com/office/drawing/2014/main" val="2736037831"/>
                    </a:ext>
                  </a:extLst>
                </a:gridCol>
                <a:gridCol w="2781444">
                  <a:extLst>
                    <a:ext uri="{9D8B030D-6E8A-4147-A177-3AD203B41FA5}">
                      <a16:colId xmlns="" xmlns:a16="http://schemas.microsoft.com/office/drawing/2014/main" val="1553934341"/>
                    </a:ext>
                  </a:extLst>
                </a:gridCol>
                <a:gridCol w="1679290">
                  <a:extLst>
                    <a:ext uri="{9D8B030D-6E8A-4147-A177-3AD203B41FA5}">
                      <a16:colId xmlns="" xmlns:a16="http://schemas.microsoft.com/office/drawing/2014/main" val="2201531129"/>
                    </a:ext>
                  </a:extLst>
                </a:gridCol>
              </a:tblGrid>
              <a:tr h="615797">
                <a:tc>
                  <a:txBody>
                    <a:bodyPr/>
                    <a:lstStyle/>
                    <a:p>
                      <a:pPr algn="l"/>
                      <a:r>
                        <a:rPr lang="en-US" sz="1800" b="1" i="0" u="none" strike="noStrike" baseline="0" dirty="0">
                          <a:latin typeface="Times New Roman" panose="02020603050405020304" pitchFamily="18" charset="0"/>
                        </a:rPr>
                        <a:t>PLOs</a:t>
                      </a:r>
                    </a:p>
                    <a:p>
                      <a:pPr algn="l"/>
                      <a:r>
                        <a:rPr lang="en-US" sz="1800" b="1" i="0" u="none" strike="noStrike" baseline="0" dirty="0">
                          <a:latin typeface="Times New Roman" panose="02020603050405020304" pitchFamily="18" charset="0"/>
                        </a:rPr>
                        <a:t>(1 to </a:t>
                      </a:r>
                      <a:r>
                        <a:rPr lang="en-US" sz="1800" b="1" i="0" u="none" strike="noStrike" baseline="0" dirty="0" smtClean="0">
                          <a:latin typeface="Times New Roman" panose="02020603050405020304" pitchFamily="18" charset="0"/>
                        </a:rPr>
                        <a:t>10)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Measurement Tool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i="0" u="none" strike="noStrike" baseline="0" dirty="0">
                          <a:latin typeface="Times New Roman" panose="02020603050405020304" pitchFamily="18" charset="0"/>
                        </a:rPr>
                        <a:t>Key Performance</a:t>
                      </a:r>
                    </a:p>
                    <a:p>
                      <a:pPr algn="l"/>
                      <a:r>
                        <a:rPr lang="en-US" sz="1800" b="1" i="0" u="none" strike="noStrike" baseline="0" dirty="0">
                          <a:latin typeface="Times New Roman" panose="02020603050405020304" pitchFamily="18" charset="0"/>
                        </a:rPr>
                        <a:t>Indicator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i="0" u="none" strike="noStrike" baseline="0" dirty="0">
                          <a:latin typeface="Times New Roman" panose="02020603050405020304" pitchFamily="18" charset="0"/>
                        </a:rPr>
                        <a:t>Measurement</a:t>
                      </a:r>
                    </a:p>
                    <a:p>
                      <a:pPr algn="l"/>
                      <a:r>
                        <a:rPr lang="en-US" sz="1800" b="1" i="0" u="none" strike="noStrike" baseline="0" dirty="0">
                          <a:latin typeface="Times New Roman" panose="02020603050405020304" pitchFamily="18" charset="0"/>
                        </a:rPr>
                        <a:t>Time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925553485"/>
                  </a:ext>
                </a:extLst>
              </a:tr>
              <a:tr h="1407536"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Student PLO</a:t>
                      </a:r>
                    </a:p>
                    <a:p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assessment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Attainment via</a:t>
                      </a:r>
                    </a:p>
                    <a:p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assessment of CLOs</a:t>
                      </a:r>
                    </a:p>
                    <a:p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to particular PLOs.</a:t>
                      </a:r>
                    </a:p>
                    <a:p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(Direct)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At least obtain 50% in each PLO upon graduation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0" i="0" u="none" strike="noStrike" baseline="0" dirty="0">
                          <a:latin typeface="Times New Roman" panose="02020603050405020304" pitchFamily="18" charset="0"/>
                        </a:rPr>
                        <a:t>At the end of</a:t>
                      </a:r>
                    </a:p>
                    <a:p>
                      <a:pPr algn="l"/>
                      <a:r>
                        <a:rPr lang="en-US" sz="1800" b="0" i="0" u="none" strike="noStrike" baseline="0" dirty="0">
                          <a:latin typeface="Times New Roman" panose="02020603050405020304" pitchFamily="18" charset="0"/>
                        </a:rPr>
                        <a:t>each semester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2976466270"/>
                  </a:ext>
                </a:extLst>
              </a:tr>
            </a:tbl>
          </a:graphicData>
        </a:graphic>
      </p:graphicFrame>
      <p:sp>
        <p:nvSpPr>
          <p:cNvPr id="10" name="Title 1"/>
          <p:cNvSpPr txBox="1">
            <a:spLocks/>
          </p:cNvSpPr>
          <p:nvPr/>
        </p:nvSpPr>
        <p:spPr>
          <a:xfrm>
            <a:off x="123095" y="4853355"/>
            <a:ext cx="8936360" cy="26121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200" kern="1200">
                <a:solidFill>
                  <a:srgbClr val="800000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i="1" dirty="0"/>
              <a:t>*(</a:t>
            </a:r>
            <a:r>
              <a:rPr lang="en-US" sz="2800" b="1" i="1" dirty="0" err="1"/>
              <a:t>KPI</a:t>
            </a:r>
            <a:r>
              <a:rPr lang="en-US" sz="2800" b="1" i="1" dirty="0"/>
              <a:t>) for CLO: </a:t>
            </a:r>
            <a:r>
              <a:rPr lang="en-US" sz="2800" i="1" dirty="0">
                <a:solidFill>
                  <a:schemeClr val="dk1"/>
                </a:solidFill>
              </a:rPr>
              <a:t>At least obtain 50% in each CLO</a:t>
            </a:r>
            <a:endParaRPr lang="en-US" sz="2800" b="1" i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0"/>
            <a:ext cx="7924800" cy="1143000"/>
          </a:xfrm>
        </p:spPr>
        <p:txBody>
          <a:bodyPr>
            <a:normAutofit/>
          </a:bodyPr>
          <a:lstStyle/>
          <a:p>
            <a:r>
              <a:rPr lang="en-US" dirty="0" smtClean="0"/>
              <a:t>Outcome Based Education (OBE)</a:t>
            </a:r>
            <a:br>
              <a:rPr lang="en-US" dirty="0" smtClean="0"/>
            </a:br>
            <a:r>
              <a:rPr lang="en-US" dirty="0" smtClean="0"/>
              <a:t>Assessment Tools and CLOs</a:t>
            </a:r>
            <a:endParaRPr lang="en-US" dirty="0"/>
          </a:p>
        </p:txBody>
      </p:sp>
      <p:sp>
        <p:nvSpPr>
          <p:cNvPr id="6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8077200" y="6019800"/>
            <a:ext cx="914400" cy="320675"/>
          </a:xfrm>
        </p:spPr>
        <p:txBody>
          <a:bodyPr>
            <a:normAutofit fontScale="70000" lnSpcReduction="20000"/>
          </a:bodyPr>
          <a:lstStyle/>
          <a:p>
            <a:fld id="{071B1170-8FA3-40F6-8F31-449438F7CF4A}" type="slidenum">
              <a:rPr lang="en-US" sz="2400" smtClean="0"/>
              <a:pPr/>
              <a:t>10</a:t>
            </a:fld>
            <a:endParaRPr lang="en-US" dirty="0"/>
          </a:p>
        </p:txBody>
      </p:sp>
      <p:pic>
        <p:nvPicPr>
          <p:cNvPr id="4" name="image1.jpeg"/>
          <p:cNvPicPr/>
          <p:nvPr/>
        </p:nvPicPr>
        <p:blipFill>
          <a:blip r:embed="rId2" cstate="print">
            <a:extLst>
              <a:ext uri="{28A0092B-C50C-407E-A947-70E740481C1C}">
                <a14:useLocalDpi xmlns:ve="http://schemas.openxmlformats.org/markup-compatibility/2006" xmlns:m="http://schemas.openxmlformats.org/officeDocument/2006/math" xmlns:wp="http://schemas.openxmlformats.org/drawingml/2006/wordprocessingDrawing" xmlns:wne="http://schemas.microsoft.com/office/word/2006/wordml" xmlns:a14="http://schemas.microsoft.com/office/drawing/2010/main" xmlns:wps="http://schemas.microsoft.com/office/word/2010/wordprocessingShape" xmlns:wpi="http://schemas.microsoft.com/office/word/2010/wordprocessingInk" xmlns:wpg="http://schemas.microsoft.com/office/word/2010/wordprocessingGroup" xmlns:w16se="http://schemas.microsoft.com/office/word/2015/wordml/symex" xmlns:w15="http://schemas.microsoft.com/office/word/2012/wordml" xmlns:w14="http://schemas.microsoft.com/office/word/2010/wordml" xmlns:w="http://schemas.openxmlformats.org/wordprocessingml/2006/main" xmlns:w10="urn:schemas-microsoft-com:office:word" xmlns:wp14="http://schemas.microsoft.com/office/word/2010/wordprocessingDrawing" xmlns:v="urn:schemas-microsoft-com:vml" xmlns:o="urn:schemas-microsoft-com:office:office" xmlns:mc="http://schemas.openxmlformats.org/markup-compatibility/2006" xmlns:cx="http://schemas.microsoft.com/office/drawing/2014/chartex" xmlns:wpc="http://schemas.microsoft.com/office/word/2010/wordprocessingCanvas" xmlns="" xmlns:pic="http://schemas.openxmlformats.org/drawingml/2006/picture" xmlns:lc="http://schemas.openxmlformats.org/drawingml/2006/lockedCanvas" val="0"/>
              </a:ext>
            </a:extLst>
          </a:blip>
          <a:stretch>
            <a:fillRect/>
          </a:stretch>
        </p:blipFill>
        <p:spPr>
          <a:xfrm>
            <a:off x="0" y="0"/>
            <a:ext cx="790822" cy="80752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997852" y="1"/>
            <a:ext cx="1146148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TextBox 8"/>
          <p:cNvSpPr txBox="1">
            <a:spLocks noChangeArrowheads="1"/>
          </p:cNvSpPr>
          <p:nvPr/>
        </p:nvSpPr>
        <p:spPr bwMode="auto">
          <a:xfrm>
            <a:off x="0" y="6303963"/>
            <a:ext cx="4614863" cy="5540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200" dirty="0">
                <a:latin typeface="Verdana" pitchFamily="34" charset="0"/>
              </a:rPr>
              <a:t>Computer Science &amp; Information Technology Department</a:t>
            </a:r>
          </a:p>
          <a:p>
            <a:r>
              <a:rPr lang="en-US" sz="1200" dirty="0">
                <a:latin typeface="Verdana" pitchFamily="34" charset="0"/>
              </a:rPr>
              <a:t>Sir Syed University of </a:t>
            </a:r>
            <a:r>
              <a:rPr lang="en-US" sz="1200" dirty="0" err="1">
                <a:latin typeface="Verdana" pitchFamily="34" charset="0"/>
              </a:rPr>
              <a:t>Engg</a:t>
            </a:r>
            <a:r>
              <a:rPr lang="en-US" sz="1200" dirty="0">
                <a:latin typeface="Verdana" pitchFamily="34" charset="0"/>
              </a:rPr>
              <a:t>. &amp; Tech</a:t>
            </a:r>
            <a:r>
              <a:rPr lang="en-US" dirty="0"/>
              <a:t>.</a:t>
            </a:r>
          </a:p>
        </p:txBody>
      </p:sp>
      <p:sp>
        <p:nvSpPr>
          <p:cNvPr id="8" name="TextBox 5"/>
          <p:cNvSpPr txBox="1">
            <a:spLocks noChangeArrowheads="1"/>
          </p:cNvSpPr>
          <p:nvPr/>
        </p:nvSpPr>
        <p:spPr bwMode="auto">
          <a:xfrm>
            <a:off x="3337717" y="6477000"/>
            <a:ext cx="3063083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dirty="0" smtClean="0"/>
              <a:t>Presented by</a:t>
            </a:r>
            <a:r>
              <a:rPr lang="en-US" dirty="0"/>
              <a:t>: Mr. Shakir Karim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4"/>
          <a:srcRect l="7385" t="24407" r="25649" b="19485"/>
          <a:stretch/>
        </p:blipFill>
        <p:spPr>
          <a:xfrm>
            <a:off x="179512" y="2057400"/>
            <a:ext cx="8712968" cy="36004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286000" y="1447800"/>
            <a:ext cx="437151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smtClean="0"/>
              <a:t>Assignments and Quizzes</a:t>
            </a:r>
            <a:endParaRPr lang="en-US" sz="3200" dirty="0"/>
          </a:p>
        </p:txBody>
      </p:sp>
      <p:sp>
        <p:nvSpPr>
          <p:cNvPr id="14" name="Down Arrow 13"/>
          <p:cNvSpPr/>
          <p:nvPr/>
        </p:nvSpPr>
        <p:spPr>
          <a:xfrm>
            <a:off x="6228184" y="3580303"/>
            <a:ext cx="360040" cy="46950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Down Arrow 14"/>
          <p:cNvSpPr/>
          <p:nvPr/>
        </p:nvSpPr>
        <p:spPr>
          <a:xfrm>
            <a:off x="7884368" y="3594139"/>
            <a:ext cx="360040" cy="46950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own Arrow 15"/>
          <p:cNvSpPr/>
          <p:nvPr/>
        </p:nvSpPr>
        <p:spPr>
          <a:xfrm>
            <a:off x="1136292" y="3932507"/>
            <a:ext cx="360040" cy="46950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187570" y="5867400"/>
            <a:ext cx="603081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i="1" dirty="0" smtClean="0"/>
              <a:t>Courtesy: Dr. </a:t>
            </a:r>
            <a:r>
              <a:rPr lang="en-US" sz="1400" i="1" dirty="0" err="1" smtClean="0"/>
              <a:t>Razia</a:t>
            </a:r>
            <a:r>
              <a:rPr lang="en-US" sz="1400" i="1" dirty="0" smtClean="0"/>
              <a:t> Zia, Asst. Prof. (Electrical Engineering Department)</a:t>
            </a:r>
            <a:endParaRPr lang="en-US" sz="1400" i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 animBg="1"/>
      <p:bldP spid="15" grpId="0" animBg="1"/>
      <p:bldP spid="16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0"/>
            <a:ext cx="7924800" cy="1143000"/>
          </a:xfrm>
        </p:spPr>
        <p:txBody>
          <a:bodyPr>
            <a:normAutofit/>
          </a:bodyPr>
          <a:lstStyle/>
          <a:p>
            <a:r>
              <a:rPr lang="en-US" dirty="0" smtClean="0"/>
              <a:t>Outcome Based Education (OBE)</a:t>
            </a:r>
            <a:br>
              <a:rPr lang="en-US" dirty="0" smtClean="0"/>
            </a:br>
            <a:r>
              <a:rPr lang="en-US" dirty="0" smtClean="0"/>
              <a:t>Assessment Tools and CLOs</a:t>
            </a:r>
            <a:endParaRPr lang="en-US" dirty="0"/>
          </a:p>
        </p:txBody>
      </p:sp>
      <p:sp>
        <p:nvSpPr>
          <p:cNvPr id="6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8077200" y="6019800"/>
            <a:ext cx="914400" cy="320675"/>
          </a:xfrm>
        </p:spPr>
        <p:txBody>
          <a:bodyPr>
            <a:normAutofit fontScale="70000" lnSpcReduction="20000"/>
          </a:bodyPr>
          <a:lstStyle/>
          <a:p>
            <a:fld id="{071B1170-8FA3-40F6-8F31-449438F7CF4A}" type="slidenum">
              <a:rPr lang="en-US" sz="2400" smtClean="0"/>
              <a:pPr/>
              <a:t>11</a:t>
            </a:fld>
            <a:endParaRPr lang="en-US" dirty="0"/>
          </a:p>
        </p:txBody>
      </p:sp>
      <p:pic>
        <p:nvPicPr>
          <p:cNvPr id="4" name="image1.jpeg"/>
          <p:cNvPicPr/>
          <p:nvPr/>
        </p:nvPicPr>
        <p:blipFill>
          <a:blip r:embed="rId2" cstate="print">
            <a:extLst>
              <a:ext uri="{28A0092B-C50C-407E-A947-70E740481C1C}">
                <a14:useLocalDpi xmlns:ve="http://schemas.openxmlformats.org/markup-compatibility/2006" xmlns:m="http://schemas.openxmlformats.org/officeDocument/2006/math" xmlns:wp="http://schemas.openxmlformats.org/drawingml/2006/wordprocessingDrawing" xmlns:wne="http://schemas.microsoft.com/office/word/2006/wordml" xmlns:a14="http://schemas.microsoft.com/office/drawing/2010/main" xmlns:wps="http://schemas.microsoft.com/office/word/2010/wordprocessingShape" xmlns:wpi="http://schemas.microsoft.com/office/word/2010/wordprocessingInk" xmlns:wpg="http://schemas.microsoft.com/office/word/2010/wordprocessingGroup" xmlns:w16se="http://schemas.microsoft.com/office/word/2015/wordml/symex" xmlns:w15="http://schemas.microsoft.com/office/word/2012/wordml" xmlns:w14="http://schemas.microsoft.com/office/word/2010/wordml" xmlns:w="http://schemas.openxmlformats.org/wordprocessingml/2006/main" xmlns:w10="urn:schemas-microsoft-com:office:word" xmlns:wp14="http://schemas.microsoft.com/office/word/2010/wordprocessingDrawing" xmlns:v="urn:schemas-microsoft-com:vml" xmlns:o="urn:schemas-microsoft-com:office:office" xmlns:mc="http://schemas.openxmlformats.org/markup-compatibility/2006" xmlns:cx="http://schemas.microsoft.com/office/drawing/2014/chartex" xmlns:wpc="http://schemas.microsoft.com/office/word/2010/wordprocessingCanvas" xmlns="" xmlns:pic="http://schemas.openxmlformats.org/drawingml/2006/picture" xmlns:lc="http://schemas.openxmlformats.org/drawingml/2006/lockedCanvas" val="0"/>
              </a:ext>
            </a:extLst>
          </a:blip>
          <a:stretch>
            <a:fillRect/>
          </a:stretch>
        </p:blipFill>
        <p:spPr>
          <a:xfrm>
            <a:off x="0" y="0"/>
            <a:ext cx="790822" cy="80752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997852" y="1"/>
            <a:ext cx="1146148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TextBox 8"/>
          <p:cNvSpPr txBox="1">
            <a:spLocks noChangeArrowheads="1"/>
          </p:cNvSpPr>
          <p:nvPr/>
        </p:nvSpPr>
        <p:spPr bwMode="auto">
          <a:xfrm>
            <a:off x="0" y="6303963"/>
            <a:ext cx="4614863" cy="5540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200" dirty="0">
                <a:latin typeface="Verdana" pitchFamily="34" charset="0"/>
              </a:rPr>
              <a:t>Computer Science &amp; Information Technology Department</a:t>
            </a:r>
          </a:p>
          <a:p>
            <a:r>
              <a:rPr lang="en-US" sz="1200" dirty="0">
                <a:latin typeface="Verdana" pitchFamily="34" charset="0"/>
              </a:rPr>
              <a:t>Sir Syed University of </a:t>
            </a:r>
            <a:r>
              <a:rPr lang="en-US" sz="1200" dirty="0" err="1">
                <a:latin typeface="Verdana" pitchFamily="34" charset="0"/>
              </a:rPr>
              <a:t>Engg</a:t>
            </a:r>
            <a:r>
              <a:rPr lang="en-US" sz="1200" dirty="0">
                <a:latin typeface="Verdana" pitchFamily="34" charset="0"/>
              </a:rPr>
              <a:t>. &amp; Tech</a:t>
            </a:r>
            <a:r>
              <a:rPr lang="en-US" dirty="0"/>
              <a:t>.</a:t>
            </a:r>
          </a:p>
        </p:txBody>
      </p:sp>
      <p:sp>
        <p:nvSpPr>
          <p:cNvPr id="8" name="TextBox 5"/>
          <p:cNvSpPr txBox="1">
            <a:spLocks noChangeArrowheads="1"/>
          </p:cNvSpPr>
          <p:nvPr/>
        </p:nvSpPr>
        <p:spPr bwMode="auto">
          <a:xfrm>
            <a:off x="3337717" y="6477000"/>
            <a:ext cx="3063083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dirty="0" smtClean="0"/>
              <a:t>Presented by</a:t>
            </a:r>
            <a:r>
              <a:rPr lang="en-US" dirty="0"/>
              <a:t>: Mr. Shakir Karim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87770" y="1447800"/>
            <a:ext cx="529760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smtClean="0"/>
              <a:t>Midterm, Final, and Lab Exams</a:t>
            </a:r>
            <a:endParaRPr lang="en-US" sz="3200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4"/>
          <a:srcRect l="9599" t="28344" r="20115" b="56890"/>
          <a:stretch/>
        </p:blipFill>
        <p:spPr>
          <a:xfrm>
            <a:off x="107504" y="2971800"/>
            <a:ext cx="9036496" cy="10801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04800" y="2667000"/>
            <a:ext cx="22420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Final/ Midterm Paper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7812034" y="2374776"/>
            <a:ext cx="360040" cy="57606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Down Arrow 14"/>
          <p:cNvSpPr/>
          <p:nvPr/>
        </p:nvSpPr>
        <p:spPr>
          <a:xfrm>
            <a:off x="5795810" y="2590800"/>
            <a:ext cx="360040" cy="46950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own Arrow 15"/>
          <p:cNvSpPr/>
          <p:nvPr/>
        </p:nvSpPr>
        <p:spPr>
          <a:xfrm>
            <a:off x="3493338" y="2590800"/>
            <a:ext cx="360040" cy="46950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ight Arrow 16"/>
          <p:cNvSpPr/>
          <p:nvPr/>
        </p:nvSpPr>
        <p:spPr>
          <a:xfrm>
            <a:off x="35170" y="3382888"/>
            <a:ext cx="504056" cy="32403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152400" y="5955268"/>
            <a:ext cx="78486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i="1" dirty="0" smtClean="0"/>
              <a:t>Courtesy: Dr. </a:t>
            </a:r>
            <a:r>
              <a:rPr lang="en-US" sz="1400" i="1" dirty="0" err="1" smtClean="0"/>
              <a:t>Razia</a:t>
            </a:r>
            <a:r>
              <a:rPr lang="en-US" sz="1400" i="1" dirty="0" smtClean="0"/>
              <a:t> Zia, Asst. Prof. (Electrical Engineering Department)</a:t>
            </a:r>
            <a:endParaRPr lang="en-US" sz="1400" i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1" grpId="0"/>
      <p:bldP spid="14" grpId="0" animBg="1"/>
      <p:bldP spid="15" grpId="0" animBg="1"/>
      <p:bldP spid="16" grpId="0" animBg="1"/>
      <p:bldP spid="17" grpId="0" animBg="1"/>
      <p:bldP spid="1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0"/>
            <a:ext cx="7924800" cy="11430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Outcome Based Education (OBE)</a:t>
            </a:r>
            <a:br>
              <a:rPr lang="en-US" dirty="0" smtClean="0"/>
            </a:br>
            <a:r>
              <a:rPr lang="en-US" dirty="0" smtClean="0"/>
              <a:t>Relationship of Assessment Tools and CLOs</a:t>
            </a:r>
            <a:endParaRPr lang="en-US" dirty="0"/>
          </a:p>
        </p:txBody>
      </p:sp>
      <p:sp>
        <p:nvSpPr>
          <p:cNvPr id="6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8153400" y="6096000"/>
            <a:ext cx="914400" cy="320675"/>
          </a:xfrm>
        </p:spPr>
        <p:txBody>
          <a:bodyPr>
            <a:normAutofit fontScale="70000" lnSpcReduction="20000"/>
          </a:bodyPr>
          <a:lstStyle/>
          <a:p>
            <a:fld id="{071B1170-8FA3-40F6-8F31-449438F7CF4A}" type="slidenum">
              <a:rPr lang="en-US" sz="2400" smtClean="0"/>
              <a:pPr/>
              <a:t>12</a:t>
            </a:fld>
            <a:endParaRPr lang="en-US" dirty="0"/>
          </a:p>
        </p:txBody>
      </p:sp>
      <p:pic>
        <p:nvPicPr>
          <p:cNvPr id="4" name="image1.jpeg"/>
          <p:cNvPicPr/>
          <p:nvPr/>
        </p:nvPicPr>
        <p:blipFill>
          <a:blip r:embed="rId2" cstate="print">
            <a:extLst>
              <a:ext uri="{28A0092B-C50C-407E-A947-70E740481C1C}">
                <a14:useLocalDpi xmlns:ve="http://schemas.openxmlformats.org/markup-compatibility/2006" xmlns:m="http://schemas.openxmlformats.org/officeDocument/2006/math" xmlns:wp="http://schemas.openxmlformats.org/drawingml/2006/wordprocessingDrawing" xmlns:wne="http://schemas.microsoft.com/office/word/2006/wordml" xmlns:a14="http://schemas.microsoft.com/office/drawing/2010/main" xmlns:wps="http://schemas.microsoft.com/office/word/2010/wordprocessingShape" xmlns:wpi="http://schemas.microsoft.com/office/word/2010/wordprocessingInk" xmlns:wpg="http://schemas.microsoft.com/office/word/2010/wordprocessingGroup" xmlns:w16se="http://schemas.microsoft.com/office/word/2015/wordml/symex" xmlns:w15="http://schemas.microsoft.com/office/word/2012/wordml" xmlns:w14="http://schemas.microsoft.com/office/word/2010/wordml" xmlns:w="http://schemas.openxmlformats.org/wordprocessingml/2006/main" xmlns:w10="urn:schemas-microsoft-com:office:word" xmlns:wp14="http://schemas.microsoft.com/office/word/2010/wordprocessingDrawing" xmlns:v="urn:schemas-microsoft-com:vml" xmlns:o="urn:schemas-microsoft-com:office:office" xmlns:mc="http://schemas.openxmlformats.org/markup-compatibility/2006" xmlns:cx="http://schemas.microsoft.com/office/drawing/2014/chartex" xmlns:wpc="http://schemas.microsoft.com/office/word/2010/wordprocessingCanvas" xmlns="" xmlns:pic="http://schemas.openxmlformats.org/drawingml/2006/picture" xmlns:lc="http://schemas.openxmlformats.org/drawingml/2006/lockedCanvas" val="0"/>
              </a:ext>
            </a:extLst>
          </a:blip>
          <a:stretch>
            <a:fillRect/>
          </a:stretch>
        </p:blipFill>
        <p:spPr>
          <a:xfrm>
            <a:off x="0" y="0"/>
            <a:ext cx="790822" cy="80752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997852" y="1"/>
            <a:ext cx="1146148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TextBox 8"/>
          <p:cNvSpPr txBox="1">
            <a:spLocks noChangeArrowheads="1"/>
          </p:cNvSpPr>
          <p:nvPr/>
        </p:nvSpPr>
        <p:spPr bwMode="auto">
          <a:xfrm>
            <a:off x="0" y="6303963"/>
            <a:ext cx="4614863" cy="5540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200" dirty="0">
                <a:latin typeface="Verdana" pitchFamily="34" charset="0"/>
              </a:rPr>
              <a:t>Computer Science &amp; Information Technology Department</a:t>
            </a:r>
          </a:p>
          <a:p>
            <a:r>
              <a:rPr lang="en-US" sz="1200" dirty="0">
                <a:latin typeface="Verdana" pitchFamily="34" charset="0"/>
              </a:rPr>
              <a:t>Sir Syed University of </a:t>
            </a:r>
            <a:r>
              <a:rPr lang="en-US" sz="1200" dirty="0" err="1">
                <a:latin typeface="Verdana" pitchFamily="34" charset="0"/>
              </a:rPr>
              <a:t>Engg</a:t>
            </a:r>
            <a:r>
              <a:rPr lang="en-US" sz="1200" dirty="0">
                <a:latin typeface="Verdana" pitchFamily="34" charset="0"/>
              </a:rPr>
              <a:t>. &amp; Tech</a:t>
            </a:r>
            <a:r>
              <a:rPr lang="en-US" dirty="0"/>
              <a:t>.</a:t>
            </a:r>
          </a:p>
        </p:txBody>
      </p:sp>
      <p:sp>
        <p:nvSpPr>
          <p:cNvPr id="8" name="TextBox 5"/>
          <p:cNvSpPr txBox="1">
            <a:spLocks noChangeArrowheads="1"/>
          </p:cNvSpPr>
          <p:nvPr/>
        </p:nvSpPr>
        <p:spPr bwMode="auto">
          <a:xfrm>
            <a:off x="3337717" y="6477000"/>
            <a:ext cx="3063083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dirty="0" smtClean="0"/>
              <a:t>Presented by</a:t>
            </a:r>
            <a:r>
              <a:rPr lang="en-US" dirty="0"/>
              <a:t>: Mr. Shakir Karim</a:t>
            </a:r>
          </a:p>
        </p:txBody>
      </p:sp>
      <p:sp>
        <p:nvSpPr>
          <p:cNvPr id="9" name="Rectangle 8"/>
          <p:cNvSpPr/>
          <p:nvPr/>
        </p:nvSpPr>
        <p:spPr>
          <a:xfrm>
            <a:off x="152400" y="5955268"/>
            <a:ext cx="79248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i="1" dirty="0" smtClean="0"/>
              <a:t>Courtesy: Dr. </a:t>
            </a:r>
            <a:r>
              <a:rPr lang="en-US" sz="1400" i="1" dirty="0" err="1" smtClean="0"/>
              <a:t>Razia</a:t>
            </a:r>
            <a:r>
              <a:rPr lang="en-US" sz="1400" i="1" dirty="0" smtClean="0"/>
              <a:t> Zia, Asst. Prof. (Electrical Engineering Department)</a:t>
            </a:r>
            <a:endParaRPr lang="en-US" sz="1400" i="1" dirty="0"/>
          </a:p>
        </p:txBody>
      </p:sp>
      <p:sp>
        <p:nvSpPr>
          <p:cNvPr id="10" name="TextBox 9"/>
          <p:cNvSpPr txBox="1"/>
          <p:nvPr/>
        </p:nvSpPr>
        <p:spPr>
          <a:xfrm>
            <a:off x="152400" y="2121694"/>
            <a:ext cx="9009198" cy="252376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/>
              <a:t>From the Course Information Sheet (CIS):</a:t>
            </a:r>
          </a:p>
          <a:p>
            <a:endParaRPr lang="en-US" sz="2800" dirty="0" smtClean="0"/>
          </a:p>
          <a:p>
            <a:r>
              <a:rPr lang="en-US" sz="2800" dirty="0" smtClean="0"/>
              <a:t>-Discuss the CLOs of the course </a:t>
            </a:r>
          </a:p>
          <a:p>
            <a:endParaRPr lang="en-US" sz="2800" dirty="0" smtClean="0"/>
          </a:p>
          <a:p>
            <a:r>
              <a:rPr lang="en-US" sz="2800" dirty="0" smtClean="0"/>
              <a:t>-Discuss the relationship of assessment tools with CLOs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1295400" y="0"/>
            <a:ext cx="6621016" cy="1113772"/>
          </a:xfrm>
        </p:spPr>
        <p:txBody>
          <a:bodyPr>
            <a:noAutofit/>
          </a:bodyPr>
          <a:lstStyle/>
          <a:p>
            <a:r>
              <a:rPr lang="en-US" b="1" dirty="0"/>
              <a:t>CLO Attainment of </a:t>
            </a:r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/>
              <a:t>Individual Student</a:t>
            </a:r>
            <a:endParaRPr lang="en-US" sz="5400" b="1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8382000" y="6019800"/>
            <a:ext cx="914400" cy="320675"/>
          </a:xfrm>
        </p:spPr>
        <p:txBody>
          <a:bodyPr>
            <a:normAutofit fontScale="70000" lnSpcReduction="20000"/>
          </a:bodyPr>
          <a:lstStyle/>
          <a:p>
            <a:fld id="{071B1170-8FA3-40F6-8F31-449438F7CF4A}" type="slidenum">
              <a:rPr lang="en-US" sz="2400" smtClean="0"/>
              <a:pPr/>
              <a:t>13</a:t>
            </a:fld>
            <a:endParaRPr 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="" xmlns:a16="http://schemas.microsoft.com/office/drawing/2014/main" id="{F6D47730-DAED-4830-896E-FD3B6E72E043}"/>
              </a:ext>
            </a:extLst>
          </p:cNvPr>
          <p:cNvGrpSpPr/>
          <p:nvPr/>
        </p:nvGrpSpPr>
        <p:grpSpPr>
          <a:xfrm>
            <a:off x="533400" y="1524000"/>
            <a:ext cx="7924800" cy="4724400"/>
            <a:chOff x="152400" y="1124744"/>
            <a:chExt cx="8839200" cy="5339564"/>
          </a:xfrm>
        </p:grpSpPr>
        <p:pic>
          <p:nvPicPr>
            <p:cNvPr id="4" name="Picture 3"/>
            <p:cNvPicPr>
              <a:picLocks noChangeAspect="1"/>
            </p:cNvPicPr>
            <p:nvPr/>
          </p:nvPicPr>
          <p:blipFill rotWithShape="1">
            <a:blip r:embed="rId2"/>
            <a:srcRect l="191" t="13579" r="7939" b="13579"/>
            <a:stretch/>
          </p:blipFill>
          <p:spPr>
            <a:xfrm>
              <a:off x="152400" y="1124744"/>
              <a:ext cx="8839200" cy="5290188"/>
            </a:xfrm>
            <a:prstGeom prst="rect">
              <a:avLst/>
            </a:prstGeom>
          </p:spPr>
        </p:pic>
        <p:sp>
          <p:nvSpPr>
            <p:cNvPr id="2" name="Rectangle 1">
              <a:extLst>
                <a:ext uri="{FF2B5EF4-FFF2-40B4-BE49-F238E27FC236}">
                  <a16:creationId xmlns="" xmlns:a16="http://schemas.microsoft.com/office/drawing/2014/main" id="{2C0D3DE6-B4D3-42F8-B73B-83F5EBB64867}"/>
                </a:ext>
              </a:extLst>
            </p:cNvPr>
            <p:cNvSpPr/>
            <p:nvPr/>
          </p:nvSpPr>
          <p:spPr>
            <a:xfrm>
              <a:off x="2555776" y="5301208"/>
              <a:ext cx="1080120" cy="11631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</p:grpSp>
      <p:pic>
        <p:nvPicPr>
          <p:cNvPr id="6" name="image1.jpeg"/>
          <p:cNvPicPr/>
          <p:nvPr/>
        </p:nvPicPr>
        <p:blipFill>
          <a:blip r:embed="rId3" cstate="print">
            <a:extLst>
              <a:ext uri="{28A0092B-C50C-407E-A947-70E740481C1C}">
                <a14:useLocalDpi xmlns:ve="http://schemas.openxmlformats.org/markup-compatibility/2006" xmlns:m="http://schemas.openxmlformats.org/officeDocument/2006/math" xmlns:wp="http://schemas.openxmlformats.org/drawingml/2006/wordprocessingDrawing" xmlns:wne="http://schemas.microsoft.com/office/word/2006/wordml" xmlns:a14="http://schemas.microsoft.com/office/drawing/2010/main" xmlns:wps="http://schemas.microsoft.com/office/word/2010/wordprocessingShape" xmlns:wpi="http://schemas.microsoft.com/office/word/2010/wordprocessingInk" xmlns:wpg="http://schemas.microsoft.com/office/word/2010/wordprocessingGroup" xmlns:w16se="http://schemas.microsoft.com/office/word/2015/wordml/symex" xmlns:w15="http://schemas.microsoft.com/office/word/2012/wordml" xmlns:w14="http://schemas.microsoft.com/office/word/2010/wordml" xmlns:w="http://schemas.openxmlformats.org/wordprocessingml/2006/main" xmlns:w10="urn:schemas-microsoft-com:office:word" xmlns:wp14="http://schemas.microsoft.com/office/word/2010/wordprocessingDrawing" xmlns:v="urn:schemas-microsoft-com:vml" xmlns:o="urn:schemas-microsoft-com:office:office" xmlns:mc="http://schemas.openxmlformats.org/markup-compatibility/2006" xmlns:cx="http://schemas.microsoft.com/office/drawing/2014/chartex" xmlns:wpc="http://schemas.microsoft.com/office/word/2010/wordprocessingCanvas" xmlns="" xmlns:pic="http://schemas.openxmlformats.org/drawingml/2006/picture" xmlns:lc="http://schemas.openxmlformats.org/drawingml/2006/lockedCanvas" val="0"/>
              </a:ext>
            </a:extLst>
          </a:blip>
          <a:stretch>
            <a:fillRect/>
          </a:stretch>
        </p:blipFill>
        <p:spPr>
          <a:xfrm>
            <a:off x="0" y="0"/>
            <a:ext cx="790822" cy="807522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997852" y="1"/>
            <a:ext cx="1146148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" name="TextBox 8"/>
          <p:cNvSpPr txBox="1">
            <a:spLocks noChangeArrowheads="1"/>
          </p:cNvSpPr>
          <p:nvPr/>
        </p:nvSpPr>
        <p:spPr bwMode="auto">
          <a:xfrm>
            <a:off x="0" y="6303963"/>
            <a:ext cx="4614863" cy="5540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200" dirty="0">
                <a:latin typeface="Verdana" pitchFamily="34" charset="0"/>
              </a:rPr>
              <a:t>Computer Science &amp; Information Technology Department</a:t>
            </a:r>
          </a:p>
          <a:p>
            <a:r>
              <a:rPr lang="en-US" sz="1200" dirty="0">
                <a:latin typeface="Verdana" pitchFamily="34" charset="0"/>
              </a:rPr>
              <a:t>Sir Syed University of </a:t>
            </a:r>
            <a:r>
              <a:rPr lang="en-US" sz="1200" dirty="0" err="1">
                <a:latin typeface="Verdana" pitchFamily="34" charset="0"/>
              </a:rPr>
              <a:t>Engg</a:t>
            </a:r>
            <a:r>
              <a:rPr lang="en-US" sz="1200" dirty="0">
                <a:latin typeface="Verdana" pitchFamily="34" charset="0"/>
              </a:rPr>
              <a:t>. &amp; Tech</a:t>
            </a:r>
            <a:r>
              <a:rPr lang="en-US" dirty="0"/>
              <a:t>.</a:t>
            </a:r>
          </a:p>
        </p:txBody>
      </p:sp>
      <p:sp>
        <p:nvSpPr>
          <p:cNvPr id="10" name="TextBox 5"/>
          <p:cNvSpPr txBox="1">
            <a:spLocks noChangeArrowheads="1"/>
          </p:cNvSpPr>
          <p:nvPr/>
        </p:nvSpPr>
        <p:spPr bwMode="auto">
          <a:xfrm>
            <a:off x="3337717" y="6477000"/>
            <a:ext cx="3063083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dirty="0" smtClean="0"/>
              <a:t>Presented by</a:t>
            </a:r>
            <a:r>
              <a:rPr lang="en-US" dirty="0"/>
              <a:t>: Mr. Shakir Karim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75845" y="6096000"/>
            <a:ext cx="60198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i="1" dirty="0" smtClean="0"/>
              <a:t>Courtesy: Dr. </a:t>
            </a:r>
            <a:r>
              <a:rPr lang="en-US" sz="1400" i="1" dirty="0" err="1" smtClean="0"/>
              <a:t>Razia</a:t>
            </a:r>
            <a:r>
              <a:rPr lang="en-US" sz="1400" i="1" dirty="0" smtClean="0"/>
              <a:t> Zia, Asst. Prof. (Electrical Engineering Department)</a:t>
            </a:r>
            <a:endParaRPr lang="en-US" sz="1400" i="1" dirty="0"/>
          </a:p>
        </p:txBody>
      </p:sp>
    </p:spTree>
    <p:extLst>
      <p:ext uri="{BB962C8B-B14F-4D97-AF65-F5344CB8AC3E}">
        <p14:creationId xmlns="" xmlns:p14="http://schemas.microsoft.com/office/powerpoint/2010/main" val="207908103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23989" t="14563" r="9046" b="12594"/>
          <a:stretch/>
        </p:blipFill>
        <p:spPr>
          <a:xfrm>
            <a:off x="647297" y="1600200"/>
            <a:ext cx="7582303" cy="4637111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1907704" y="0"/>
            <a:ext cx="5407496" cy="1113772"/>
          </a:xfrm>
        </p:spPr>
        <p:txBody>
          <a:bodyPr>
            <a:noAutofit/>
          </a:bodyPr>
          <a:lstStyle/>
          <a:p>
            <a:r>
              <a:rPr lang="en-US" b="1" dirty="0"/>
              <a:t>CLO Attainment </a:t>
            </a:r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/>
              <a:t>on Cohort (group) level</a:t>
            </a:r>
            <a:endParaRPr lang="en-US" sz="5400" b="1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8077200" y="6003925"/>
            <a:ext cx="914400" cy="320675"/>
          </a:xfrm>
        </p:spPr>
        <p:txBody>
          <a:bodyPr>
            <a:normAutofit fontScale="70000" lnSpcReduction="20000"/>
          </a:bodyPr>
          <a:lstStyle/>
          <a:p>
            <a:fld id="{071B1170-8FA3-40F6-8F31-449438F7CF4A}" type="slidenum">
              <a:rPr lang="en-US" sz="2400" smtClean="0"/>
              <a:pPr/>
              <a:t>14</a:t>
            </a:fld>
            <a:endParaRPr lang="en-US" dirty="0"/>
          </a:p>
        </p:txBody>
      </p:sp>
      <p:pic>
        <p:nvPicPr>
          <p:cNvPr id="6" name="image1.jpeg"/>
          <p:cNvPicPr/>
          <p:nvPr/>
        </p:nvPicPr>
        <p:blipFill>
          <a:blip r:embed="rId3" cstate="print">
            <a:extLst>
              <a:ext uri="{28A0092B-C50C-407E-A947-70E740481C1C}">
                <a14:useLocalDpi xmlns:ve="http://schemas.openxmlformats.org/markup-compatibility/2006" xmlns:m="http://schemas.openxmlformats.org/officeDocument/2006/math" xmlns:wp="http://schemas.openxmlformats.org/drawingml/2006/wordprocessingDrawing" xmlns:wne="http://schemas.microsoft.com/office/word/2006/wordml" xmlns:a14="http://schemas.microsoft.com/office/drawing/2010/main" xmlns:wps="http://schemas.microsoft.com/office/word/2010/wordprocessingShape" xmlns:wpi="http://schemas.microsoft.com/office/word/2010/wordprocessingInk" xmlns:wpg="http://schemas.microsoft.com/office/word/2010/wordprocessingGroup" xmlns:w16se="http://schemas.microsoft.com/office/word/2015/wordml/symex" xmlns:w15="http://schemas.microsoft.com/office/word/2012/wordml" xmlns:w14="http://schemas.microsoft.com/office/word/2010/wordml" xmlns:w="http://schemas.openxmlformats.org/wordprocessingml/2006/main" xmlns:w10="urn:schemas-microsoft-com:office:word" xmlns:wp14="http://schemas.microsoft.com/office/word/2010/wordprocessingDrawing" xmlns:v="urn:schemas-microsoft-com:vml" xmlns:o="urn:schemas-microsoft-com:office:office" xmlns:mc="http://schemas.openxmlformats.org/markup-compatibility/2006" xmlns:cx="http://schemas.microsoft.com/office/drawing/2014/chartex" xmlns:wpc="http://schemas.microsoft.com/office/word/2010/wordprocessingCanvas" xmlns="" xmlns:pic="http://schemas.openxmlformats.org/drawingml/2006/picture" xmlns:lc="http://schemas.openxmlformats.org/drawingml/2006/lockedCanvas" val="0"/>
              </a:ext>
            </a:extLst>
          </a:blip>
          <a:stretch>
            <a:fillRect/>
          </a:stretch>
        </p:blipFill>
        <p:spPr>
          <a:xfrm>
            <a:off x="0" y="0"/>
            <a:ext cx="790822" cy="807522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997852" y="1"/>
            <a:ext cx="1146148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" name="TextBox 8"/>
          <p:cNvSpPr txBox="1">
            <a:spLocks noChangeArrowheads="1"/>
          </p:cNvSpPr>
          <p:nvPr/>
        </p:nvSpPr>
        <p:spPr bwMode="auto">
          <a:xfrm>
            <a:off x="0" y="6303963"/>
            <a:ext cx="4614863" cy="5540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200" dirty="0">
                <a:latin typeface="Verdana" pitchFamily="34" charset="0"/>
              </a:rPr>
              <a:t>Computer Science &amp; Information Technology Department</a:t>
            </a:r>
          </a:p>
          <a:p>
            <a:r>
              <a:rPr lang="en-US" sz="1200" dirty="0">
                <a:latin typeface="Verdana" pitchFamily="34" charset="0"/>
              </a:rPr>
              <a:t>Sir Syed University of </a:t>
            </a:r>
            <a:r>
              <a:rPr lang="en-US" sz="1200" dirty="0" err="1">
                <a:latin typeface="Verdana" pitchFamily="34" charset="0"/>
              </a:rPr>
              <a:t>Engg</a:t>
            </a:r>
            <a:r>
              <a:rPr lang="en-US" sz="1200" dirty="0">
                <a:latin typeface="Verdana" pitchFamily="34" charset="0"/>
              </a:rPr>
              <a:t>. &amp; Tech</a:t>
            </a:r>
            <a:r>
              <a:rPr lang="en-US" dirty="0"/>
              <a:t>.</a:t>
            </a:r>
          </a:p>
        </p:txBody>
      </p:sp>
      <p:sp>
        <p:nvSpPr>
          <p:cNvPr id="10" name="TextBox 5"/>
          <p:cNvSpPr txBox="1">
            <a:spLocks noChangeArrowheads="1"/>
          </p:cNvSpPr>
          <p:nvPr/>
        </p:nvSpPr>
        <p:spPr bwMode="auto">
          <a:xfrm>
            <a:off x="3337717" y="6477000"/>
            <a:ext cx="3063083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dirty="0" smtClean="0"/>
              <a:t>Presented by</a:t>
            </a:r>
            <a:r>
              <a:rPr lang="en-US" dirty="0"/>
              <a:t>: Mr. Shakir Karim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75845" y="6096000"/>
            <a:ext cx="60198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i="1" dirty="0" smtClean="0"/>
              <a:t>Courtesy: Dr. </a:t>
            </a:r>
            <a:r>
              <a:rPr lang="en-US" sz="1400" i="1" dirty="0" err="1" smtClean="0"/>
              <a:t>Razia</a:t>
            </a:r>
            <a:r>
              <a:rPr lang="en-US" sz="1400" i="1" dirty="0" smtClean="0"/>
              <a:t> Zia, Asst. Prof. (Electrical Engineering Department)</a:t>
            </a:r>
            <a:endParaRPr lang="en-US" sz="1400" i="1" dirty="0"/>
          </a:p>
        </p:txBody>
      </p:sp>
    </p:spTree>
    <p:extLst>
      <p:ext uri="{BB962C8B-B14F-4D97-AF65-F5344CB8AC3E}">
        <p14:creationId xmlns="" xmlns:p14="http://schemas.microsoft.com/office/powerpoint/2010/main" val="264267450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1907704" y="0"/>
            <a:ext cx="5102696" cy="1113772"/>
          </a:xfrm>
        </p:spPr>
        <p:txBody>
          <a:bodyPr>
            <a:noAutofit/>
          </a:bodyPr>
          <a:lstStyle/>
          <a:p>
            <a:r>
              <a:rPr lang="en-US" b="1" dirty="0"/>
              <a:t>PLO Attainment of </a:t>
            </a:r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/>
              <a:t>Individual Student</a:t>
            </a:r>
            <a:endParaRPr lang="en-US" sz="5400" b="1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8305800" y="6080125"/>
            <a:ext cx="914400" cy="320675"/>
          </a:xfrm>
        </p:spPr>
        <p:txBody>
          <a:bodyPr>
            <a:normAutofit fontScale="70000" lnSpcReduction="20000"/>
          </a:bodyPr>
          <a:lstStyle/>
          <a:p>
            <a:fld id="{071B1170-8FA3-40F6-8F31-449438F7CF4A}" type="slidenum">
              <a:rPr lang="en-US" sz="2400" smtClean="0"/>
              <a:pPr/>
              <a:t>15</a:t>
            </a:fld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AC4BA7A2-2AD9-412B-882F-A7E07CBF1269}"/>
              </a:ext>
            </a:extLst>
          </p:cNvPr>
          <p:cNvSpPr/>
          <p:nvPr/>
        </p:nvSpPr>
        <p:spPr>
          <a:xfrm>
            <a:off x="323528" y="4653136"/>
            <a:ext cx="1584176" cy="122413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pic>
        <p:nvPicPr>
          <p:cNvPr id="6" name="image1.jpeg"/>
          <p:cNvPicPr/>
          <p:nvPr/>
        </p:nvPicPr>
        <p:blipFill>
          <a:blip r:embed="rId2" cstate="print">
            <a:extLst>
              <a:ext uri="{28A0092B-C50C-407E-A947-70E740481C1C}">
                <a14:useLocalDpi xmlns:ve="http://schemas.openxmlformats.org/markup-compatibility/2006" xmlns:m="http://schemas.openxmlformats.org/officeDocument/2006/math" xmlns:wp="http://schemas.openxmlformats.org/drawingml/2006/wordprocessingDrawing" xmlns:wne="http://schemas.microsoft.com/office/word/2006/wordml" xmlns:a14="http://schemas.microsoft.com/office/drawing/2010/main" xmlns:wps="http://schemas.microsoft.com/office/word/2010/wordprocessingShape" xmlns:wpi="http://schemas.microsoft.com/office/word/2010/wordprocessingInk" xmlns:wpg="http://schemas.microsoft.com/office/word/2010/wordprocessingGroup" xmlns:w16se="http://schemas.microsoft.com/office/word/2015/wordml/symex" xmlns:w15="http://schemas.microsoft.com/office/word/2012/wordml" xmlns:w14="http://schemas.microsoft.com/office/word/2010/wordml" xmlns:w="http://schemas.openxmlformats.org/wordprocessingml/2006/main" xmlns:w10="urn:schemas-microsoft-com:office:word" xmlns:wp14="http://schemas.microsoft.com/office/word/2010/wordprocessingDrawing" xmlns:v="urn:schemas-microsoft-com:vml" xmlns:o="urn:schemas-microsoft-com:office:office" xmlns:mc="http://schemas.openxmlformats.org/markup-compatibility/2006" xmlns:cx="http://schemas.microsoft.com/office/drawing/2014/chartex" xmlns:wpc="http://schemas.microsoft.com/office/word/2010/wordprocessingCanvas" xmlns="" xmlns:pic="http://schemas.openxmlformats.org/drawingml/2006/picture" xmlns:lc="http://schemas.openxmlformats.org/drawingml/2006/lockedCanvas" val="0"/>
              </a:ext>
            </a:extLst>
          </a:blip>
          <a:stretch>
            <a:fillRect/>
          </a:stretch>
        </p:blipFill>
        <p:spPr>
          <a:xfrm>
            <a:off x="0" y="0"/>
            <a:ext cx="790822" cy="807522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997852" y="1"/>
            <a:ext cx="1146148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" name="TextBox 8"/>
          <p:cNvSpPr txBox="1">
            <a:spLocks noChangeArrowheads="1"/>
          </p:cNvSpPr>
          <p:nvPr/>
        </p:nvSpPr>
        <p:spPr bwMode="auto">
          <a:xfrm>
            <a:off x="0" y="6303963"/>
            <a:ext cx="4614863" cy="5540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200" dirty="0">
                <a:latin typeface="Verdana" pitchFamily="34" charset="0"/>
              </a:rPr>
              <a:t>Computer Science &amp; Information Technology Department</a:t>
            </a:r>
          </a:p>
          <a:p>
            <a:r>
              <a:rPr lang="en-US" sz="1200" dirty="0">
                <a:latin typeface="Verdana" pitchFamily="34" charset="0"/>
              </a:rPr>
              <a:t>Sir Syed University of </a:t>
            </a:r>
            <a:r>
              <a:rPr lang="en-US" sz="1200" dirty="0" err="1">
                <a:latin typeface="Verdana" pitchFamily="34" charset="0"/>
              </a:rPr>
              <a:t>Engg</a:t>
            </a:r>
            <a:r>
              <a:rPr lang="en-US" sz="1200" dirty="0">
                <a:latin typeface="Verdana" pitchFamily="34" charset="0"/>
              </a:rPr>
              <a:t>. &amp; Tech</a:t>
            </a:r>
            <a:r>
              <a:rPr lang="en-US" dirty="0"/>
              <a:t>.</a:t>
            </a:r>
          </a:p>
        </p:txBody>
      </p:sp>
      <p:sp>
        <p:nvSpPr>
          <p:cNvPr id="10" name="TextBox 5"/>
          <p:cNvSpPr txBox="1">
            <a:spLocks noChangeArrowheads="1"/>
          </p:cNvSpPr>
          <p:nvPr/>
        </p:nvSpPr>
        <p:spPr bwMode="auto">
          <a:xfrm>
            <a:off x="3337717" y="6477000"/>
            <a:ext cx="3063083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dirty="0" smtClean="0"/>
              <a:t>Presented by</a:t>
            </a:r>
            <a:r>
              <a:rPr lang="en-US" dirty="0"/>
              <a:t>: Mr. Shakir Karim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 rotWithShape="1">
          <a:blip r:embed="rId4"/>
          <a:srcRect l="23435" t="12594" r="9599" b="17517"/>
          <a:stretch/>
        </p:blipFill>
        <p:spPr>
          <a:xfrm>
            <a:off x="331912" y="1555407"/>
            <a:ext cx="8050088" cy="4723606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175845" y="6096000"/>
            <a:ext cx="60198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i="1" dirty="0" smtClean="0"/>
              <a:t>Courtesy: Dr. </a:t>
            </a:r>
            <a:r>
              <a:rPr lang="en-US" sz="1400" i="1" dirty="0" err="1" smtClean="0"/>
              <a:t>Razia</a:t>
            </a:r>
            <a:r>
              <a:rPr lang="en-US" sz="1400" i="1" dirty="0" smtClean="0"/>
              <a:t> Zia, Asst. Prof. (Electrical Engineering Department)</a:t>
            </a:r>
            <a:endParaRPr lang="en-US" sz="1400" i="1" dirty="0"/>
          </a:p>
        </p:txBody>
      </p:sp>
    </p:spTree>
    <p:extLst>
      <p:ext uri="{BB962C8B-B14F-4D97-AF65-F5344CB8AC3E}">
        <p14:creationId xmlns="" xmlns:p14="http://schemas.microsoft.com/office/powerpoint/2010/main" val="427322216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24542" t="21454" r="9599" b="13579"/>
          <a:stretch/>
        </p:blipFill>
        <p:spPr>
          <a:xfrm>
            <a:off x="490177" y="1573354"/>
            <a:ext cx="8091118" cy="4487512"/>
          </a:xfrm>
          <a:prstGeom prst="rect">
            <a:avLst/>
          </a:prstGeom>
        </p:spPr>
      </p:pic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760984" y="0"/>
            <a:ext cx="5706616" cy="1113772"/>
          </a:xfrm>
        </p:spPr>
        <p:txBody>
          <a:bodyPr>
            <a:noAutofit/>
          </a:bodyPr>
          <a:lstStyle/>
          <a:p>
            <a:r>
              <a:rPr lang="en-US" b="1" dirty="0"/>
              <a:t>PLO Attainment </a:t>
            </a:r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/>
              <a:t>on Cohort (group) Level</a:t>
            </a:r>
            <a:endParaRPr lang="en-US" sz="5400" b="1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8077200" y="6080125"/>
            <a:ext cx="914400" cy="320675"/>
          </a:xfrm>
        </p:spPr>
        <p:txBody>
          <a:bodyPr>
            <a:normAutofit fontScale="70000" lnSpcReduction="20000"/>
          </a:bodyPr>
          <a:lstStyle/>
          <a:p>
            <a:fld id="{071B1170-8FA3-40F6-8F31-449438F7CF4A}" type="slidenum">
              <a:rPr lang="en-US" sz="2400" smtClean="0"/>
              <a:pPr/>
              <a:t>16</a:t>
            </a:fld>
            <a:endParaRPr lang="en-US" dirty="0"/>
          </a:p>
        </p:txBody>
      </p:sp>
      <p:pic>
        <p:nvPicPr>
          <p:cNvPr id="5" name="image1.jpeg"/>
          <p:cNvPicPr/>
          <p:nvPr/>
        </p:nvPicPr>
        <p:blipFill>
          <a:blip r:embed="rId3" cstate="print">
            <a:extLst>
              <a:ext uri="{28A0092B-C50C-407E-A947-70E740481C1C}">
                <a14:useLocalDpi xmlns:ve="http://schemas.openxmlformats.org/markup-compatibility/2006" xmlns:m="http://schemas.openxmlformats.org/officeDocument/2006/math" xmlns:wp="http://schemas.openxmlformats.org/drawingml/2006/wordprocessingDrawing" xmlns:wne="http://schemas.microsoft.com/office/word/2006/wordml" xmlns:a14="http://schemas.microsoft.com/office/drawing/2010/main" xmlns:wps="http://schemas.microsoft.com/office/word/2010/wordprocessingShape" xmlns:wpi="http://schemas.microsoft.com/office/word/2010/wordprocessingInk" xmlns:wpg="http://schemas.microsoft.com/office/word/2010/wordprocessingGroup" xmlns:w16se="http://schemas.microsoft.com/office/word/2015/wordml/symex" xmlns:w15="http://schemas.microsoft.com/office/word/2012/wordml" xmlns:w14="http://schemas.microsoft.com/office/word/2010/wordml" xmlns:w="http://schemas.openxmlformats.org/wordprocessingml/2006/main" xmlns:w10="urn:schemas-microsoft-com:office:word" xmlns:wp14="http://schemas.microsoft.com/office/word/2010/wordprocessingDrawing" xmlns:v="urn:schemas-microsoft-com:vml" xmlns:o="urn:schemas-microsoft-com:office:office" xmlns:mc="http://schemas.openxmlformats.org/markup-compatibility/2006" xmlns:cx="http://schemas.microsoft.com/office/drawing/2014/chartex" xmlns:wpc="http://schemas.microsoft.com/office/word/2010/wordprocessingCanvas" xmlns="" xmlns:pic="http://schemas.openxmlformats.org/drawingml/2006/picture" xmlns:lc="http://schemas.openxmlformats.org/drawingml/2006/lockedCanvas" val="0"/>
              </a:ext>
            </a:extLst>
          </a:blip>
          <a:stretch>
            <a:fillRect/>
          </a:stretch>
        </p:blipFill>
        <p:spPr>
          <a:xfrm>
            <a:off x="0" y="0"/>
            <a:ext cx="790822" cy="807522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997852" y="1"/>
            <a:ext cx="1146148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" name="TextBox 8"/>
          <p:cNvSpPr txBox="1">
            <a:spLocks noChangeArrowheads="1"/>
          </p:cNvSpPr>
          <p:nvPr/>
        </p:nvSpPr>
        <p:spPr bwMode="auto">
          <a:xfrm>
            <a:off x="0" y="6303963"/>
            <a:ext cx="4614863" cy="5540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200" dirty="0">
                <a:latin typeface="Verdana" pitchFamily="34" charset="0"/>
              </a:rPr>
              <a:t>Computer Science &amp; Information Technology Department</a:t>
            </a:r>
          </a:p>
          <a:p>
            <a:r>
              <a:rPr lang="en-US" sz="1200" dirty="0">
                <a:latin typeface="Verdana" pitchFamily="34" charset="0"/>
              </a:rPr>
              <a:t>Sir Syed University of </a:t>
            </a:r>
            <a:r>
              <a:rPr lang="en-US" sz="1200" dirty="0" err="1">
                <a:latin typeface="Verdana" pitchFamily="34" charset="0"/>
              </a:rPr>
              <a:t>Engg</a:t>
            </a:r>
            <a:r>
              <a:rPr lang="en-US" sz="1200" dirty="0">
                <a:latin typeface="Verdana" pitchFamily="34" charset="0"/>
              </a:rPr>
              <a:t>. &amp; Tech</a:t>
            </a:r>
            <a:r>
              <a:rPr lang="en-US" dirty="0"/>
              <a:t>.</a:t>
            </a:r>
          </a:p>
        </p:txBody>
      </p:sp>
      <p:sp>
        <p:nvSpPr>
          <p:cNvPr id="10" name="TextBox 5"/>
          <p:cNvSpPr txBox="1">
            <a:spLocks noChangeArrowheads="1"/>
          </p:cNvSpPr>
          <p:nvPr/>
        </p:nvSpPr>
        <p:spPr bwMode="auto">
          <a:xfrm>
            <a:off x="3337717" y="6477000"/>
            <a:ext cx="3063083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dirty="0" smtClean="0"/>
              <a:t>Presented by</a:t>
            </a:r>
            <a:r>
              <a:rPr lang="en-US" dirty="0"/>
              <a:t>: Mr. Shakir Karim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75845" y="6096000"/>
            <a:ext cx="60198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i="1" dirty="0" smtClean="0"/>
              <a:t>Courtesy: Dr. </a:t>
            </a:r>
            <a:r>
              <a:rPr lang="en-US" sz="1400" i="1" dirty="0" err="1" smtClean="0"/>
              <a:t>Razia</a:t>
            </a:r>
            <a:r>
              <a:rPr lang="en-US" sz="1400" i="1" dirty="0" smtClean="0"/>
              <a:t> Zia, Asst. Prof. (Electrical Engineering Department)</a:t>
            </a:r>
            <a:endParaRPr lang="en-US" sz="1400" i="1" dirty="0"/>
          </a:p>
        </p:txBody>
      </p:sp>
    </p:spTree>
    <p:extLst>
      <p:ext uri="{BB962C8B-B14F-4D97-AF65-F5344CB8AC3E}">
        <p14:creationId xmlns="" xmlns:p14="http://schemas.microsoft.com/office/powerpoint/2010/main" val="335715992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1143000" y="-76200"/>
            <a:ext cx="6705600" cy="1295400"/>
          </a:xfrm>
        </p:spPr>
        <p:txBody>
          <a:bodyPr>
            <a:noAutofit/>
          </a:bodyPr>
          <a:lstStyle/>
          <a:p>
            <a:r>
              <a:rPr lang="en-US" sz="4000" b="1" dirty="0" smtClean="0"/>
              <a:t>Important Note !!!</a:t>
            </a:r>
            <a:endParaRPr lang="en-US" sz="4000" b="1" dirty="0"/>
          </a:p>
        </p:txBody>
      </p:sp>
      <p:sp>
        <p:nvSpPr>
          <p:cNvPr id="7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8077200" y="6096000"/>
            <a:ext cx="914400" cy="320675"/>
          </a:xfrm>
        </p:spPr>
        <p:txBody>
          <a:bodyPr>
            <a:normAutofit fontScale="70000" lnSpcReduction="20000"/>
          </a:bodyPr>
          <a:lstStyle/>
          <a:p>
            <a:fld id="{071B1170-8FA3-40F6-8F31-449438F7CF4A}" type="slidenum">
              <a:rPr lang="en-US" sz="2400" smtClean="0"/>
              <a:pPr/>
              <a:t>17</a:t>
            </a:fld>
            <a:endParaRPr lang="en-US" dirty="0"/>
          </a:p>
        </p:txBody>
      </p:sp>
      <p:pic>
        <p:nvPicPr>
          <p:cNvPr id="5" name="image1.jpeg"/>
          <p:cNvPicPr/>
          <p:nvPr/>
        </p:nvPicPr>
        <p:blipFill>
          <a:blip r:embed="rId2" cstate="print">
            <a:extLst>
              <a:ext uri="{28A0092B-C50C-407E-A947-70E740481C1C}">
                <a14:useLocalDpi xmlns:ve="http://schemas.openxmlformats.org/markup-compatibility/2006" xmlns:m="http://schemas.openxmlformats.org/officeDocument/2006/math" xmlns:wp="http://schemas.openxmlformats.org/drawingml/2006/wordprocessingDrawing" xmlns:wne="http://schemas.microsoft.com/office/word/2006/wordml" xmlns:a14="http://schemas.microsoft.com/office/drawing/2010/main" xmlns:wps="http://schemas.microsoft.com/office/word/2010/wordprocessingShape" xmlns:wpi="http://schemas.microsoft.com/office/word/2010/wordprocessingInk" xmlns:wpg="http://schemas.microsoft.com/office/word/2010/wordprocessingGroup" xmlns:w16se="http://schemas.microsoft.com/office/word/2015/wordml/symex" xmlns:w15="http://schemas.microsoft.com/office/word/2012/wordml" xmlns:w14="http://schemas.microsoft.com/office/word/2010/wordml" xmlns:w="http://schemas.openxmlformats.org/wordprocessingml/2006/main" xmlns:w10="urn:schemas-microsoft-com:office:word" xmlns:wp14="http://schemas.microsoft.com/office/word/2010/wordprocessingDrawing" xmlns:v="urn:schemas-microsoft-com:vml" xmlns:o="urn:schemas-microsoft-com:office:office" xmlns:mc="http://schemas.openxmlformats.org/markup-compatibility/2006" xmlns:cx="http://schemas.microsoft.com/office/drawing/2014/chartex" xmlns:wpc="http://schemas.microsoft.com/office/word/2010/wordprocessingCanvas" xmlns="" xmlns:pic="http://schemas.openxmlformats.org/drawingml/2006/picture" xmlns:lc="http://schemas.openxmlformats.org/drawingml/2006/lockedCanvas" val="0"/>
              </a:ext>
            </a:extLst>
          </a:blip>
          <a:stretch>
            <a:fillRect/>
          </a:stretch>
        </p:blipFill>
        <p:spPr>
          <a:xfrm>
            <a:off x="0" y="0"/>
            <a:ext cx="790822" cy="80752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997852" y="1"/>
            <a:ext cx="1146148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TextBox 7"/>
          <p:cNvSpPr txBox="1">
            <a:spLocks noChangeArrowheads="1"/>
          </p:cNvSpPr>
          <p:nvPr/>
        </p:nvSpPr>
        <p:spPr bwMode="auto">
          <a:xfrm>
            <a:off x="0" y="6303963"/>
            <a:ext cx="4614863" cy="5540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200" dirty="0">
                <a:latin typeface="Verdana" pitchFamily="34" charset="0"/>
              </a:rPr>
              <a:t>Computer Science &amp; Information Technology Department</a:t>
            </a:r>
          </a:p>
          <a:p>
            <a:r>
              <a:rPr lang="en-US" sz="1200" dirty="0">
                <a:latin typeface="Verdana" pitchFamily="34" charset="0"/>
              </a:rPr>
              <a:t>Sir Syed University of </a:t>
            </a:r>
            <a:r>
              <a:rPr lang="en-US" sz="1200" dirty="0" err="1">
                <a:latin typeface="Verdana" pitchFamily="34" charset="0"/>
              </a:rPr>
              <a:t>Engg</a:t>
            </a:r>
            <a:r>
              <a:rPr lang="en-US" sz="1200" dirty="0">
                <a:latin typeface="Verdana" pitchFamily="34" charset="0"/>
              </a:rPr>
              <a:t>. &amp; Tech</a:t>
            </a:r>
            <a:r>
              <a:rPr lang="en-US" dirty="0"/>
              <a:t>.</a:t>
            </a:r>
          </a:p>
        </p:txBody>
      </p:sp>
      <p:sp>
        <p:nvSpPr>
          <p:cNvPr id="9" name="TextBox 5"/>
          <p:cNvSpPr txBox="1">
            <a:spLocks noChangeArrowheads="1"/>
          </p:cNvSpPr>
          <p:nvPr/>
        </p:nvSpPr>
        <p:spPr bwMode="auto">
          <a:xfrm>
            <a:off x="3337717" y="6477000"/>
            <a:ext cx="3063083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dirty="0" smtClean="0"/>
              <a:t>Presented by</a:t>
            </a:r>
            <a:r>
              <a:rPr lang="en-US" dirty="0"/>
              <a:t>: Mr. Shakir Karim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1524000"/>
            <a:ext cx="8077200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 smtClean="0"/>
              <a:t>PLO attainment and CLO attainment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 smtClean="0"/>
              <a:t>Students should try to achieve at least </a:t>
            </a:r>
            <a:r>
              <a:rPr lang="en-US" sz="2800" b="1" dirty="0" smtClean="0"/>
              <a:t>50% </a:t>
            </a:r>
            <a:r>
              <a:rPr lang="en-US" sz="2800" dirty="0" smtClean="0"/>
              <a:t>in each CLO of a course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 sz="2800" dirty="0" smtClean="0"/>
              <a:t>In case of failure to achieve </a:t>
            </a:r>
            <a:r>
              <a:rPr lang="en-US" sz="2800" b="1" dirty="0" smtClean="0"/>
              <a:t>50%</a:t>
            </a:r>
            <a:r>
              <a:rPr lang="en-US" sz="2800" dirty="0" smtClean="0"/>
              <a:t>, students will be issued a warning, Even they passed the course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 sz="2800" dirty="0" smtClean="0"/>
              <a:t> For those students </a:t>
            </a:r>
            <a:r>
              <a:rPr lang="en-US" sz="2800" u="sng" dirty="0" smtClean="0"/>
              <a:t>who passed the course </a:t>
            </a:r>
            <a:r>
              <a:rPr lang="en-US" sz="2800" b="1" u="sng" dirty="0" smtClean="0"/>
              <a:t>BUT</a:t>
            </a:r>
            <a:r>
              <a:rPr lang="en-US" sz="2800" u="sng" dirty="0" smtClean="0"/>
              <a:t> obtained less than 50% in a CLO</a:t>
            </a:r>
            <a:r>
              <a:rPr lang="en-US" sz="2800" dirty="0" smtClean="0"/>
              <a:t>, they will be given an ungraded assignment</a:t>
            </a:r>
            <a:endParaRPr lang="en-US" sz="3200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103221460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76200"/>
            <a:ext cx="7239000" cy="838200"/>
          </a:xfrm>
        </p:spPr>
        <p:txBody>
          <a:bodyPr>
            <a:noAutofit/>
          </a:bodyPr>
          <a:lstStyle/>
          <a:p>
            <a:r>
              <a:rPr lang="en-US" sz="5400" b="1" dirty="0" smtClean="0"/>
              <a:t>Conclusion</a:t>
            </a:r>
            <a:endParaRPr lang="en-US" sz="5400" b="1" dirty="0"/>
          </a:p>
        </p:txBody>
      </p:sp>
      <p:sp>
        <p:nvSpPr>
          <p:cNvPr id="7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8077200" y="6096000"/>
            <a:ext cx="914400" cy="320675"/>
          </a:xfrm>
        </p:spPr>
        <p:txBody>
          <a:bodyPr>
            <a:normAutofit fontScale="70000" lnSpcReduction="20000"/>
          </a:bodyPr>
          <a:lstStyle/>
          <a:p>
            <a:fld id="{071B1170-8FA3-40F6-8F31-449438F7CF4A}" type="slidenum">
              <a:rPr lang="en-US" sz="2400" smtClean="0"/>
              <a:pPr/>
              <a:t>18</a:t>
            </a:fld>
            <a:endParaRPr lang="en-US" dirty="0"/>
          </a:p>
        </p:txBody>
      </p:sp>
      <p:pic>
        <p:nvPicPr>
          <p:cNvPr id="5" name="image1.jpeg"/>
          <p:cNvPicPr/>
          <p:nvPr/>
        </p:nvPicPr>
        <p:blipFill>
          <a:blip r:embed="rId2" cstate="print">
            <a:extLst>
              <a:ext uri="{28A0092B-C50C-407E-A947-70E740481C1C}">
                <a14:useLocalDpi xmlns:ve="http://schemas.openxmlformats.org/markup-compatibility/2006" xmlns:m="http://schemas.openxmlformats.org/officeDocument/2006/math" xmlns:wp="http://schemas.openxmlformats.org/drawingml/2006/wordprocessingDrawing" xmlns:wne="http://schemas.microsoft.com/office/word/2006/wordml" xmlns:a14="http://schemas.microsoft.com/office/drawing/2010/main" xmlns:wps="http://schemas.microsoft.com/office/word/2010/wordprocessingShape" xmlns:wpi="http://schemas.microsoft.com/office/word/2010/wordprocessingInk" xmlns:wpg="http://schemas.microsoft.com/office/word/2010/wordprocessingGroup" xmlns:w16se="http://schemas.microsoft.com/office/word/2015/wordml/symex" xmlns:w15="http://schemas.microsoft.com/office/word/2012/wordml" xmlns:w14="http://schemas.microsoft.com/office/word/2010/wordml" xmlns:w="http://schemas.openxmlformats.org/wordprocessingml/2006/main" xmlns:w10="urn:schemas-microsoft-com:office:word" xmlns:wp14="http://schemas.microsoft.com/office/word/2010/wordprocessingDrawing" xmlns:v="urn:schemas-microsoft-com:vml" xmlns:o="urn:schemas-microsoft-com:office:office" xmlns:mc="http://schemas.openxmlformats.org/markup-compatibility/2006" xmlns:cx="http://schemas.microsoft.com/office/drawing/2014/chartex" xmlns:wpc="http://schemas.microsoft.com/office/word/2010/wordprocessingCanvas" xmlns="" xmlns:pic="http://schemas.openxmlformats.org/drawingml/2006/picture" xmlns:lc="http://schemas.openxmlformats.org/drawingml/2006/lockedCanvas" val="0"/>
              </a:ext>
            </a:extLst>
          </a:blip>
          <a:stretch>
            <a:fillRect/>
          </a:stretch>
        </p:blipFill>
        <p:spPr>
          <a:xfrm>
            <a:off x="0" y="0"/>
            <a:ext cx="790822" cy="80752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997852" y="1"/>
            <a:ext cx="1146148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TextBox 7"/>
          <p:cNvSpPr txBox="1">
            <a:spLocks noChangeArrowheads="1"/>
          </p:cNvSpPr>
          <p:nvPr/>
        </p:nvSpPr>
        <p:spPr bwMode="auto">
          <a:xfrm>
            <a:off x="0" y="6303963"/>
            <a:ext cx="4614863" cy="5540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200" dirty="0">
                <a:latin typeface="Verdana" pitchFamily="34" charset="0"/>
              </a:rPr>
              <a:t>Computer Science &amp; Information Technology Department</a:t>
            </a:r>
          </a:p>
          <a:p>
            <a:r>
              <a:rPr lang="en-US" sz="1200" dirty="0">
                <a:latin typeface="Verdana" pitchFamily="34" charset="0"/>
              </a:rPr>
              <a:t>Sir Syed University of </a:t>
            </a:r>
            <a:r>
              <a:rPr lang="en-US" sz="1200" dirty="0" err="1">
                <a:latin typeface="Verdana" pitchFamily="34" charset="0"/>
              </a:rPr>
              <a:t>Engg</a:t>
            </a:r>
            <a:r>
              <a:rPr lang="en-US" sz="1200" dirty="0">
                <a:latin typeface="Verdana" pitchFamily="34" charset="0"/>
              </a:rPr>
              <a:t>. &amp; Tech</a:t>
            </a:r>
            <a:r>
              <a:rPr lang="en-US" dirty="0"/>
              <a:t>.</a:t>
            </a:r>
          </a:p>
        </p:txBody>
      </p:sp>
      <p:sp>
        <p:nvSpPr>
          <p:cNvPr id="9" name="TextBox 5"/>
          <p:cNvSpPr txBox="1">
            <a:spLocks noChangeArrowheads="1"/>
          </p:cNvSpPr>
          <p:nvPr/>
        </p:nvSpPr>
        <p:spPr bwMode="auto">
          <a:xfrm>
            <a:off x="3337717" y="6477000"/>
            <a:ext cx="3063083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dirty="0" smtClean="0"/>
              <a:t>Presented by</a:t>
            </a:r>
            <a:r>
              <a:rPr lang="en-US" dirty="0"/>
              <a:t>: Mr. Shakir Karim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1495485"/>
            <a:ext cx="7772400" cy="43088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/>
            <a:r>
              <a:rPr lang="en-US" sz="3200" b="1" dirty="0" smtClean="0"/>
              <a:t>Outcome Based Education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 smtClean="0"/>
              <a:t>promotes student-centered learning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 smtClean="0"/>
              <a:t>encourages active engagement, critical thinking, and lifelong learning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 smtClean="0"/>
              <a:t>equips students with the necessary tools to succeed,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 smtClean="0"/>
              <a:t>helps students to thrive in an ever-changing world.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 rot="20494365">
            <a:off x="241186" y="4555578"/>
            <a:ext cx="8610600" cy="430887"/>
          </a:xfrm>
          <a:prstGeom prst="rect">
            <a:avLst/>
          </a:prstGeom>
          <a:solidFill>
            <a:srgbClr val="92D050"/>
          </a:solidFill>
        </p:spPr>
        <p:txBody>
          <a:bodyPr wrap="square">
            <a:spAutoFit/>
          </a:bodyPr>
          <a:lstStyle/>
          <a:p>
            <a:r>
              <a:rPr lang="en-US" sz="2200" dirty="0" smtClean="0"/>
              <a:t>"Outcome Based Education: Empowering learners with Excellence."</a:t>
            </a:r>
            <a:endParaRPr lang="en-US" sz="2200" dirty="0"/>
          </a:p>
        </p:txBody>
      </p:sp>
      <p:sp>
        <p:nvSpPr>
          <p:cNvPr id="12" name="Title 1"/>
          <p:cNvSpPr txBox="1">
            <a:spLocks/>
          </p:cNvSpPr>
          <p:nvPr/>
        </p:nvSpPr>
        <p:spPr>
          <a:xfrm>
            <a:off x="70340" y="5486400"/>
            <a:ext cx="9073660" cy="3048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200" kern="1200">
                <a:solidFill>
                  <a:srgbClr val="800000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i="1" dirty="0"/>
              <a:t>*</a:t>
            </a:r>
            <a:r>
              <a:rPr lang="en-US" sz="2800" b="1" i="1" dirty="0"/>
              <a:t>(</a:t>
            </a:r>
            <a:r>
              <a:rPr lang="en-US" sz="2800" b="1" i="1" dirty="0" err="1"/>
              <a:t>KPI</a:t>
            </a:r>
            <a:r>
              <a:rPr lang="en-US" sz="2800" b="1" i="1" dirty="0"/>
              <a:t>) for CLO: </a:t>
            </a:r>
            <a:r>
              <a:rPr lang="en-US" sz="2800" b="1" i="1" dirty="0">
                <a:solidFill>
                  <a:schemeClr val="dk1"/>
                </a:solidFill>
              </a:rPr>
              <a:t>At least obtain 50% in each CLO</a:t>
            </a:r>
            <a:endParaRPr lang="en-US" b="1" i="1" dirty="0"/>
          </a:p>
        </p:txBody>
      </p:sp>
    </p:spTree>
    <p:extLst>
      <p:ext uri="{BB962C8B-B14F-4D97-AF65-F5344CB8AC3E}">
        <p14:creationId xmlns="" xmlns:p14="http://schemas.microsoft.com/office/powerpoint/2010/main" val="103221460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76200"/>
            <a:ext cx="7239000" cy="838200"/>
          </a:xfrm>
        </p:spPr>
        <p:txBody>
          <a:bodyPr>
            <a:noAutofit/>
          </a:bodyPr>
          <a:lstStyle/>
          <a:p>
            <a:r>
              <a:rPr lang="en-US" sz="3600" b="1" dirty="0" smtClean="0"/>
              <a:t>This is only the Beginning !</a:t>
            </a:r>
            <a:endParaRPr lang="en-US" sz="4400" b="1" dirty="0"/>
          </a:p>
        </p:txBody>
      </p:sp>
      <p:sp>
        <p:nvSpPr>
          <p:cNvPr id="7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8077200" y="6096000"/>
            <a:ext cx="914400" cy="320675"/>
          </a:xfrm>
        </p:spPr>
        <p:txBody>
          <a:bodyPr>
            <a:normAutofit fontScale="70000" lnSpcReduction="20000"/>
          </a:bodyPr>
          <a:lstStyle/>
          <a:p>
            <a:fld id="{071B1170-8FA3-40F6-8F31-449438F7CF4A}" type="slidenum">
              <a:rPr lang="en-US" sz="2400" smtClean="0"/>
              <a:pPr/>
              <a:t>19</a:t>
            </a:fld>
            <a:endParaRPr lang="en-US" dirty="0"/>
          </a:p>
        </p:txBody>
      </p:sp>
      <p:pic>
        <p:nvPicPr>
          <p:cNvPr id="5" name="image1.jpeg"/>
          <p:cNvPicPr/>
          <p:nvPr/>
        </p:nvPicPr>
        <p:blipFill>
          <a:blip r:embed="rId2" cstate="print">
            <a:extLst>
              <a:ext uri="{28A0092B-C50C-407E-A947-70E740481C1C}">
                <a14:useLocalDpi xmlns:ve="http://schemas.openxmlformats.org/markup-compatibility/2006" xmlns:m="http://schemas.openxmlformats.org/officeDocument/2006/math" xmlns:wp="http://schemas.openxmlformats.org/drawingml/2006/wordprocessingDrawing" xmlns:wne="http://schemas.microsoft.com/office/word/2006/wordml" xmlns:a14="http://schemas.microsoft.com/office/drawing/2010/main" xmlns:wps="http://schemas.microsoft.com/office/word/2010/wordprocessingShape" xmlns:wpi="http://schemas.microsoft.com/office/word/2010/wordprocessingInk" xmlns:wpg="http://schemas.microsoft.com/office/word/2010/wordprocessingGroup" xmlns:w16se="http://schemas.microsoft.com/office/word/2015/wordml/symex" xmlns:w15="http://schemas.microsoft.com/office/word/2012/wordml" xmlns:w14="http://schemas.microsoft.com/office/word/2010/wordml" xmlns:w="http://schemas.openxmlformats.org/wordprocessingml/2006/main" xmlns:w10="urn:schemas-microsoft-com:office:word" xmlns:wp14="http://schemas.microsoft.com/office/word/2010/wordprocessingDrawing" xmlns:v="urn:schemas-microsoft-com:vml" xmlns:o="urn:schemas-microsoft-com:office:office" xmlns:mc="http://schemas.openxmlformats.org/markup-compatibility/2006" xmlns:cx="http://schemas.microsoft.com/office/drawing/2014/chartex" xmlns:wpc="http://schemas.microsoft.com/office/word/2010/wordprocessingCanvas" xmlns="" xmlns:pic="http://schemas.openxmlformats.org/drawingml/2006/picture" xmlns:lc="http://schemas.openxmlformats.org/drawingml/2006/lockedCanvas" val="0"/>
              </a:ext>
            </a:extLst>
          </a:blip>
          <a:stretch>
            <a:fillRect/>
          </a:stretch>
        </p:blipFill>
        <p:spPr>
          <a:xfrm>
            <a:off x="0" y="0"/>
            <a:ext cx="790822" cy="80752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997852" y="1"/>
            <a:ext cx="1146148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TextBox 7"/>
          <p:cNvSpPr txBox="1">
            <a:spLocks noChangeArrowheads="1"/>
          </p:cNvSpPr>
          <p:nvPr/>
        </p:nvSpPr>
        <p:spPr bwMode="auto">
          <a:xfrm>
            <a:off x="0" y="6303963"/>
            <a:ext cx="4614863" cy="5540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200" dirty="0">
                <a:latin typeface="Verdana" pitchFamily="34" charset="0"/>
              </a:rPr>
              <a:t>Computer Science &amp; Information Technology Department</a:t>
            </a:r>
          </a:p>
          <a:p>
            <a:r>
              <a:rPr lang="en-US" sz="1200" dirty="0">
                <a:latin typeface="Verdana" pitchFamily="34" charset="0"/>
              </a:rPr>
              <a:t>Sir Syed University of </a:t>
            </a:r>
            <a:r>
              <a:rPr lang="en-US" sz="1200" dirty="0" err="1">
                <a:latin typeface="Verdana" pitchFamily="34" charset="0"/>
              </a:rPr>
              <a:t>Engg</a:t>
            </a:r>
            <a:r>
              <a:rPr lang="en-US" sz="1200" dirty="0">
                <a:latin typeface="Verdana" pitchFamily="34" charset="0"/>
              </a:rPr>
              <a:t>. &amp; Tech</a:t>
            </a:r>
            <a:r>
              <a:rPr lang="en-US" dirty="0"/>
              <a:t>.</a:t>
            </a:r>
          </a:p>
        </p:txBody>
      </p:sp>
      <p:sp>
        <p:nvSpPr>
          <p:cNvPr id="9" name="TextBox 5"/>
          <p:cNvSpPr txBox="1">
            <a:spLocks noChangeArrowheads="1"/>
          </p:cNvSpPr>
          <p:nvPr/>
        </p:nvSpPr>
        <p:spPr bwMode="auto">
          <a:xfrm>
            <a:off x="3337717" y="6477000"/>
            <a:ext cx="3063083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dirty="0" smtClean="0"/>
              <a:t>Presented by</a:t>
            </a:r>
            <a:r>
              <a:rPr lang="en-US" dirty="0"/>
              <a:t>: Mr. Shakir Karim</a:t>
            </a:r>
          </a:p>
        </p:txBody>
      </p:sp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048000" y="4132385"/>
            <a:ext cx="2616110" cy="167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3" name="Picture 3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228600" y="3989849"/>
            <a:ext cx="2286000" cy="18775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5" name="Picture 4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6324600" y="3979985"/>
            <a:ext cx="2640211" cy="1828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6" name="_s227345"/>
          <p:cNvSpPr>
            <a:spLocks noChangeArrowheads="1"/>
          </p:cNvSpPr>
          <p:nvPr/>
        </p:nvSpPr>
        <p:spPr bwMode="auto">
          <a:xfrm>
            <a:off x="990600" y="1676400"/>
            <a:ext cx="4501466" cy="252944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87782" tIns="43891" rIns="87782" bIns="43891" anchor="ctr"/>
          <a:lstStyle/>
          <a:p>
            <a:pPr algn="ctr"/>
            <a:r>
              <a:rPr lang="en-US" sz="2000" b="1" dirty="0">
                <a:solidFill>
                  <a:srgbClr val="C00000"/>
                </a:solidFill>
                <a:latin typeface="Arial Narrow" pitchFamily="34" charset="0"/>
              </a:rPr>
              <a:t>Program Educational Objectives (PEO)</a:t>
            </a:r>
          </a:p>
        </p:txBody>
      </p:sp>
      <p:sp>
        <p:nvSpPr>
          <p:cNvPr id="17" name="_s227351"/>
          <p:cNvSpPr>
            <a:spLocks noChangeArrowheads="1"/>
          </p:cNvSpPr>
          <p:nvPr/>
        </p:nvSpPr>
        <p:spPr bwMode="auto">
          <a:xfrm>
            <a:off x="990600" y="2286000"/>
            <a:ext cx="4508348" cy="265834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87782" tIns="43891" rIns="87782" bIns="43891" anchor="ctr"/>
          <a:lstStyle/>
          <a:p>
            <a:pPr algn="ctr">
              <a:lnSpc>
                <a:spcPct val="70000"/>
              </a:lnSpc>
            </a:pPr>
            <a:r>
              <a:rPr lang="en-US" sz="2000" b="1" dirty="0">
                <a:solidFill>
                  <a:srgbClr val="C00000"/>
                </a:solidFill>
                <a:latin typeface="Arial Narrow" pitchFamily="34" charset="0"/>
              </a:rPr>
              <a:t>Program Learning Outcomes (PLO)</a:t>
            </a:r>
            <a:r>
              <a:rPr lang="en-US" sz="2000" b="1" dirty="0">
                <a:solidFill>
                  <a:srgbClr val="C00000"/>
                </a:solidFill>
                <a:latin typeface="Comic Sans MS" pitchFamily="66" charset="0"/>
              </a:rPr>
              <a:t> </a:t>
            </a:r>
          </a:p>
        </p:txBody>
      </p:sp>
      <p:sp>
        <p:nvSpPr>
          <p:cNvPr id="18" name="_s227351"/>
          <p:cNvSpPr>
            <a:spLocks noChangeArrowheads="1"/>
          </p:cNvSpPr>
          <p:nvPr/>
        </p:nvSpPr>
        <p:spPr bwMode="auto">
          <a:xfrm>
            <a:off x="993327" y="2934566"/>
            <a:ext cx="4569273" cy="265834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87782" tIns="43891" rIns="87782" bIns="43891" anchor="ctr"/>
          <a:lstStyle/>
          <a:p>
            <a:pPr algn="ctr">
              <a:lnSpc>
                <a:spcPct val="70000"/>
              </a:lnSpc>
            </a:pPr>
            <a:r>
              <a:rPr lang="en-US" sz="2000" b="1" dirty="0">
                <a:solidFill>
                  <a:srgbClr val="C00000"/>
                </a:solidFill>
                <a:latin typeface="Arial Narrow" pitchFamily="34" charset="0"/>
              </a:rPr>
              <a:t>Course/subject Outcomes (CLO)</a:t>
            </a:r>
            <a:r>
              <a:rPr lang="en-US" sz="2000" b="1" dirty="0">
                <a:solidFill>
                  <a:srgbClr val="C00000"/>
                </a:solidFill>
                <a:latin typeface="Comic Sans MS" pitchFamily="66" charset="0"/>
              </a:rPr>
              <a:t> </a:t>
            </a:r>
          </a:p>
        </p:txBody>
      </p:sp>
      <p:sp>
        <p:nvSpPr>
          <p:cNvPr id="19" name="_s227351"/>
          <p:cNvSpPr>
            <a:spLocks noChangeArrowheads="1"/>
          </p:cNvSpPr>
          <p:nvPr/>
        </p:nvSpPr>
        <p:spPr bwMode="auto">
          <a:xfrm>
            <a:off x="916135" y="3632345"/>
            <a:ext cx="4569273" cy="265834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87782" tIns="43891" rIns="87782" bIns="43891" anchor="ctr"/>
          <a:lstStyle/>
          <a:p>
            <a:pPr algn="ctr">
              <a:lnSpc>
                <a:spcPct val="70000"/>
              </a:lnSpc>
            </a:pPr>
            <a:r>
              <a:rPr lang="en-US" sz="2000" b="1" dirty="0">
                <a:solidFill>
                  <a:srgbClr val="C00000"/>
                </a:solidFill>
                <a:latin typeface="Arial Narrow" pitchFamily="34" charset="0"/>
              </a:rPr>
              <a:t>Weekly/Topic  Outcomes</a:t>
            </a:r>
            <a:r>
              <a:rPr lang="en-US" sz="2000" b="1" dirty="0">
                <a:solidFill>
                  <a:srgbClr val="C00000"/>
                </a:solidFill>
                <a:latin typeface="Comic Sans MS" pitchFamily="66" charset="0"/>
              </a:rPr>
              <a:t> </a:t>
            </a:r>
          </a:p>
        </p:txBody>
      </p:sp>
      <p:cxnSp>
        <p:nvCxnSpPr>
          <p:cNvPr id="20" name="Straight Arrow Connector 19"/>
          <p:cNvCxnSpPr/>
          <p:nvPr/>
        </p:nvCxnSpPr>
        <p:spPr>
          <a:xfrm rot="16200000" flipH="1">
            <a:off x="3118344" y="2063256"/>
            <a:ext cx="324144" cy="763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/>
          <p:nvPr/>
        </p:nvCxnSpPr>
        <p:spPr>
          <a:xfrm rot="16200000" flipH="1">
            <a:off x="3127100" y="2740300"/>
            <a:ext cx="306632" cy="763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 rot="16200000" flipH="1">
            <a:off x="3090124" y="3400784"/>
            <a:ext cx="365320" cy="763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 Box 8"/>
          <p:cNvSpPr txBox="1">
            <a:spLocks noChangeArrowheads="1"/>
          </p:cNvSpPr>
          <p:nvPr/>
        </p:nvSpPr>
        <p:spPr bwMode="auto">
          <a:xfrm>
            <a:off x="5638800" y="2286000"/>
            <a:ext cx="172592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1600" dirty="0">
                <a:latin typeface="Arial Narrow" pitchFamily="34" charset="0"/>
              </a:rPr>
              <a:t>Upon graduation</a:t>
            </a:r>
          </a:p>
        </p:txBody>
      </p:sp>
      <p:sp>
        <p:nvSpPr>
          <p:cNvPr id="24" name="Text Box 9"/>
          <p:cNvSpPr txBox="1">
            <a:spLocks noChangeArrowheads="1"/>
          </p:cNvSpPr>
          <p:nvPr/>
        </p:nvSpPr>
        <p:spPr bwMode="auto">
          <a:xfrm>
            <a:off x="5638800" y="2936630"/>
            <a:ext cx="2539864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1600" dirty="0">
                <a:latin typeface="Arial Narrow" pitchFamily="34" charset="0"/>
              </a:rPr>
              <a:t>Upon subject completion </a:t>
            </a:r>
          </a:p>
        </p:txBody>
      </p:sp>
      <p:sp>
        <p:nvSpPr>
          <p:cNvPr id="25" name="Text Box 10"/>
          <p:cNvSpPr txBox="1">
            <a:spLocks noChangeArrowheads="1"/>
          </p:cNvSpPr>
          <p:nvPr/>
        </p:nvSpPr>
        <p:spPr bwMode="auto">
          <a:xfrm>
            <a:off x="5638800" y="3581400"/>
            <a:ext cx="2475077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1600" dirty="0">
                <a:latin typeface="Arial Narrow" pitchFamily="34" charset="0"/>
              </a:rPr>
              <a:t>Upon weekly/topic completion </a:t>
            </a:r>
          </a:p>
        </p:txBody>
      </p:sp>
      <p:sp>
        <p:nvSpPr>
          <p:cNvPr id="26" name="Text Box 11"/>
          <p:cNvSpPr txBox="1">
            <a:spLocks noChangeArrowheads="1"/>
          </p:cNvSpPr>
          <p:nvPr/>
        </p:nvSpPr>
        <p:spPr bwMode="auto">
          <a:xfrm>
            <a:off x="5562600" y="1600200"/>
            <a:ext cx="2566336" cy="486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</a:pPr>
            <a:r>
              <a:rPr lang="en-US" sz="1600" dirty="0">
                <a:latin typeface="Arial Narrow" pitchFamily="34" charset="0"/>
              </a:rPr>
              <a:t>Few years after </a:t>
            </a:r>
          </a:p>
          <a:p>
            <a:pPr>
              <a:lnSpc>
                <a:spcPct val="80000"/>
              </a:lnSpc>
            </a:pPr>
            <a:r>
              <a:rPr lang="en-US" sz="1600" dirty="0">
                <a:latin typeface="Arial Narrow" pitchFamily="34" charset="0"/>
              </a:rPr>
              <a:t>Graduation – 4 to 5 years </a:t>
            </a:r>
          </a:p>
        </p:txBody>
      </p:sp>
      <p:sp>
        <p:nvSpPr>
          <p:cNvPr id="46" name="Title 1"/>
          <p:cNvSpPr txBox="1">
            <a:spLocks/>
          </p:cNvSpPr>
          <p:nvPr/>
        </p:nvSpPr>
        <p:spPr>
          <a:xfrm>
            <a:off x="838200" y="228600"/>
            <a:ext cx="7239000" cy="838200"/>
          </a:xfrm>
          <a:prstGeom prst="rect">
            <a:avLst/>
          </a:prstGeom>
        </p:spPr>
        <p:txBody>
          <a:bodyPr vert="horz" anchor="b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accent3">
                    <a:shade val="75000"/>
                  </a:schemeClr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Questions are welcome…</a:t>
            </a:r>
            <a:endParaRPr kumimoji="0" lang="en-US" sz="4400" b="1" i="0" u="none" strike="noStrike" kern="1200" cap="none" spc="0" normalizeH="0" baseline="0" noProof="0" dirty="0">
              <a:ln>
                <a:noFill/>
              </a:ln>
              <a:solidFill>
                <a:schemeClr val="accent3">
                  <a:shade val="75000"/>
                </a:schemeClr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27" name="Title 1"/>
          <p:cNvSpPr txBox="1">
            <a:spLocks/>
          </p:cNvSpPr>
          <p:nvPr/>
        </p:nvSpPr>
        <p:spPr>
          <a:xfrm>
            <a:off x="272115" y="5943600"/>
            <a:ext cx="8479160" cy="3048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200" kern="1200">
                <a:solidFill>
                  <a:srgbClr val="800000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i="1" dirty="0"/>
              <a:t>*(</a:t>
            </a:r>
            <a:r>
              <a:rPr lang="en-US" sz="2800" b="1" i="1" dirty="0" err="1"/>
              <a:t>KPI</a:t>
            </a:r>
            <a:r>
              <a:rPr lang="en-US" sz="2800" b="1" i="1" dirty="0"/>
              <a:t>) for CLO: </a:t>
            </a:r>
            <a:r>
              <a:rPr lang="en-US" sz="2800" i="1" dirty="0">
                <a:solidFill>
                  <a:schemeClr val="dk1"/>
                </a:solidFill>
              </a:rPr>
              <a:t>At least obtain 50% in each CLO</a:t>
            </a:r>
            <a:endParaRPr lang="en-US" sz="2800" b="1" i="1" dirty="0"/>
          </a:p>
        </p:txBody>
      </p:sp>
    </p:spTree>
    <p:extLst>
      <p:ext uri="{BB962C8B-B14F-4D97-AF65-F5344CB8AC3E}">
        <p14:creationId xmlns="" xmlns:p14="http://schemas.microsoft.com/office/powerpoint/2010/main" val="103221460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7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6" grpId="0" animBg="1"/>
      <p:bldP spid="17" grpId="0" animBg="1"/>
      <p:bldP spid="18" grpId="0" animBg="1"/>
      <p:bldP spid="19" grpId="0" animBg="1"/>
      <p:bldP spid="23" grpId="0"/>
      <p:bldP spid="24" grpId="0"/>
      <p:bldP spid="25" grpId="0"/>
      <p:bldP spid="26" grpId="0"/>
      <p:bldP spid="46" grpId="0"/>
      <p:bldP spid="27" grpId="0"/>
    </p:bld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vic">
  <a:themeElements>
    <a:clrScheme name="Civic">
      <a:dk1>
        <a:sysClr val="windowText" lastClr="000000"/>
      </a:dk1>
      <a:lt1>
        <a:sysClr val="window" lastClr="FFFFFF"/>
      </a:lt1>
      <a:dk2>
        <a:srgbClr val="646B86"/>
      </a:dk2>
      <a:lt2>
        <a:srgbClr val="C5D1D7"/>
      </a:lt2>
      <a:accent1>
        <a:srgbClr val="D16349"/>
      </a:accent1>
      <a:accent2>
        <a:srgbClr val="CCB400"/>
      </a:accent2>
      <a:accent3>
        <a:srgbClr val="8CADAE"/>
      </a:accent3>
      <a:accent4>
        <a:srgbClr val="8C7B70"/>
      </a:accent4>
      <a:accent5>
        <a:srgbClr val="8FB08C"/>
      </a:accent5>
      <a:accent6>
        <a:srgbClr val="D19049"/>
      </a:accent6>
      <a:hlink>
        <a:srgbClr val="00A3D6"/>
      </a:hlink>
      <a:folHlink>
        <a:srgbClr val="694F07"/>
      </a:folHlink>
    </a:clrScheme>
    <a:fontScheme name="Civic">
      <a:majorFont>
        <a:latin typeface="Georgia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Georgia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Civic">
      <a:fillStyleLst>
        <a:solidFill>
          <a:schemeClr val="phClr"/>
        </a:solidFill>
        <a:solidFill>
          <a:schemeClr val="phClr">
            <a:tint val="45000"/>
          </a:schemeClr>
        </a:solidFill>
        <a:solidFill>
          <a:schemeClr val="phClr">
            <a:tint val="95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1429" cap="flat" cmpd="sng" algn="ctr">
          <a:solidFill>
            <a:schemeClr val="phClr"/>
          </a:solidFill>
          <a:prstDash val="sysDash"/>
        </a:ln>
        <a:ln w="200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contourW="9525" prstMaterial="matte">
            <a:bevelT w="0" h="0"/>
            <a:contourClr>
              <a:schemeClr val="phClr">
                <a:shade val="70000"/>
                <a:satMod val="105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soft" dir="b">
              <a:rot lat="0" lon="0" rev="0"/>
            </a:lightRig>
          </a:scene3d>
          <a:sp3d prstMaterial="dkEdge">
            <a:bevelT w="63500" h="63500" prst="cross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70000"/>
                <a:satMod val="115000"/>
              </a:schemeClr>
              <a:schemeClr val="phClr">
                <a:tint val="85000"/>
              </a:schemeClr>
            </a:duotone>
          </a:blip>
          <a:tile tx="0" ty="0" sx="85000" sy="85000" flip="none" algn="tl"/>
        </a:blipFill>
        <a:blipFill>
          <a:blip xmlns:r="http://schemas.openxmlformats.org/officeDocument/2006/relationships" r:embed="rId2">
            <a:duotone>
              <a:schemeClr val="phClr">
                <a:shade val="65000"/>
                <a:satMod val="115000"/>
              </a:schemeClr>
              <a:schemeClr val="phClr">
                <a:tint val="85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Civic</Template>
  <TotalTime>921</TotalTime>
  <Words>1032</Words>
  <Application>Microsoft Office PowerPoint</Application>
  <PresentationFormat>On-screen Show (4:3)</PresentationFormat>
  <Paragraphs>195</Paragraphs>
  <Slides>19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0" baseType="lpstr">
      <vt:lpstr>Civic</vt:lpstr>
      <vt:lpstr>Outcome Based Education</vt:lpstr>
      <vt:lpstr>Outcome Based Education (OBE)  What?</vt:lpstr>
      <vt:lpstr>Outcome Based Education (OBE)  Why?</vt:lpstr>
      <vt:lpstr>Outcome Based Education (OBE) Process</vt:lpstr>
      <vt:lpstr>Outcome Based Education (OBE) Success in academics</vt:lpstr>
      <vt:lpstr>Outcome Based Education (OBE) Assessment Criteria</vt:lpstr>
      <vt:lpstr>Outcome Based Education (OBE) Details of OBE including </vt:lpstr>
      <vt:lpstr>Outcome Based Education (OBE) Program Learning Objectives (PLOs)</vt:lpstr>
      <vt:lpstr>Outcome Based Education (OBE) KPIs for PLOs</vt:lpstr>
      <vt:lpstr>Outcome Based Education (OBE) Assessment Tools and CLOs</vt:lpstr>
      <vt:lpstr>Outcome Based Education (OBE) Assessment Tools and CLOs</vt:lpstr>
      <vt:lpstr>Outcome Based Education (OBE) Relationship of Assessment Tools and CLOs</vt:lpstr>
      <vt:lpstr>CLO Attainment of  Individual Student</vt:lpstr>
      <vt:lpstr>CLO Attainment  on Cohort (group) level</vt:lpstr>
      <vt:lpstr>PLO Attainment of  Individual Student</vt:lpstr>
      <vt:lpstr>PLO Attainment  on Cohort (group) Level</vt:lpstr>
      <vt:lpstr>Important Note !!!</vt:lpstr>
      <vt:lpstr>Conclusion</vt:lpstr>
      <vt:lpstr>This is only the Beginning !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Outcome Based Education</dc:title>
  <dc:creator>SHAKIR</dc:creator>
  <cp:lastModifiedBy>SHAKIR KARIM BUKSH</cp:lastModifiedBy>
  <cp:revision>97</cp:revision>
  <dcterms:created xsi:type="dcterms:W3CDTF">2006-08-16T00:00:00Z</dcterms:created>
  <dcterms:modified xsi:type="dcterms:W3CDTF">2023-10-12T07:51:22Z</dcterms:modified>
</cp:coreProperties>
</file>