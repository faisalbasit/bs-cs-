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3" r:id="rId2"/>
    <p:sldId id="264" r:id="rId3"/>
    <p:sldId id="265" r:id="rId4"/>
    <p:sldId id="266" r:id="rId5"/>
    <p:sldId id="267" r:id="rId6"/>
    <p:sldId id="268" r:id="rId7"/>
    <p:sldId id="269" r:id="rId8"/>
    <p:sldId id="270" r:id="rId9"/>
    <p:sldId id="271" r:id="rId10"/>
    <p:sldId id="273" r:id="rId11"/>
    <p:sldId id="274" r:id="rId12"/>
    <p:sldId id="275" r:id="rId13"/>
    <p:sldId id="276" r:id="rId14"/>
    <p:sldId id="277" r:id="rId15"/>
    <p:sldId id="278"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092" autoAdjust="0"/>
  </p:normalViewPr>
  <p:slideViewPr>
    <p:cSldViewPr>
      <p:cViewPr varScale="1">
        <p:scale>
          <a:sx n="65" d="100"/>
          <a:sy n="65" d="100"/>
        </p:scale>
        <p:origin x="153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A68BC-087B-4804-80E7-54E6BF9D6720}" type="datetimeFigureOut">
              <a:rPr lang="en-US" smtClean="0"/>
              <a:pPr/>
              <a:t>10/18/2023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53098-A02F-43AC-83B0-8400FDBB11FC}" type="slidenum">
              <a:rPr lang="en-US" smtClean="0"/>
              <a:pPr/>
              <a:t>‹#›</a:t>
            </a:fld>
            <a:endParaRPr lang="en-US"/>
          </a:p>
        </p:txBody>
      </p:sp>
    </p:spTree>
    <p:extLst>
      <p:ext uri="{BB962C8B-B14F-4D97-AF65-F5344CB8AC3E}">
        <p14:creationId xmlns:p14="http://schemas.microsoft.com/office/powerpoint/2010/main" val="3679706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a:t>
            </a:fld>
            <a:endParaRPr lang="en-US"/>
          </a:p>
        </p:txBody>
      </p:sp>
    </p:spTree>
    <p:extLst>
      <p:ext uri="{BB962C8B-B14F-4D97-AF65-F5344CB8AC3E}">
        <p14:creationId xmlns:p14="http://schemas.microsoft.com/office/powerpoint/2010/main" val="1429335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a:t>
            </a:fld>
            <a:endParaRPr lang="en-US"/>
          </a:p>
        </p:txBody>
      </p:sp>
    </p:spTree>
    <p:extLst>
      <p:ext uri="{BB962C8B-B14F-4D97-AF65-F5344CB8AC3E}">
        <p14:creationId xmlns:p14="http://schemas.microsoft.com/office/powerpoint/2010/main" val="2630592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3</a:t>
            </a:fld>
            <a:endParaRPr lang="en-US"/>
          </a:p>
        </p:txBody>
      </p:sp>
    </p:spTree>
    <p:extLst>
      <p:ext uri="{BB962C8B-B14F-4D97-AF65-F5344CB8AC3E}">
        <p14:creationId xmlns:p14="http://schemas.microsoft.com/office/powerpoint/2010/main" val="473219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4</a:t>
            </a:fld>
            <a:endParaRPr lang="en-US"/>
          </a:p>
        </p:txBody>
      </p:sp>
    </p:spTree>
    <p:extLst>
      <p:ext uri="{BB962C8B-B14F-4D97-AF65-F5344CB8AC3E}">
        <p14:creationId xmlns:p14="http://schemas.microsoft.com/office/powerpoint/2010/main" val="2706363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5</a:t>
            </a:fld>
            <a:endParaRPr lang="en-US"/>
          </a:p>
        </p:txBody>
      </p:sp>
    </p:spTree>
    <p:extLst>
      <p:ext uri="{BB962C8B-B14F-4D97-AF65-F5344CB8AC3E}">
        <p14:creationId xmlns:p14="http://schemas.microsoft.com/office/powerpoint/2010/main" val="135758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6</a:t>
            </a:fld>
            <a:endParaRPr lang="en-US"/>
          </a:p>
        </p:txBody>
      </p:sp>
    </p:spTree>
    <p:extLst>
      <p:ext uri="{BB962C8B-B14F-4D97-AF65-F5344CB8AC3E}">
        <p14:creationId xmlns:p14="http://schemas.microsoft.com/office/powerpoint/2010/main" val="3876104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7</a:t>
            </a:fld>
            <a:endParaRPr lang="en-US"/>
          </a:p>
        </p:txBody>
      </p:sp>
    </p:spTree>
    <p:extLst>
      <p:ext uri="{BB962C8B-B14F-4D97-AF65-F5344CB8AC3E}">
        <p14:creationId xmlns:p14="http://schemas.microsoft.com/office/powerpoint/2010/main" val="4221687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8</a:t>
            </a:fld>
            <a:endParaRPr lang="en-US"/>
          </a:p>
        </p:txBody>
      </p:sp>
    </p:spTree>
    <p:extLst>
      <p:ext uri="{BB962C8B-B14F-4D97-AF65-F5344CB8AC3E}">
        <p14:creationId xmlns:p14="http://schemas.microsoft.com/office/powerpoint/2010/main" val="2263825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9</a:t>
            </a:fld>
            <a:endParaRPr lang="en-US"/>
          </a:p>
        </p:txBody>
      </p:sp>
    </p:spTree>
    <p:extLst>
      <p:ext uri="{BB962C8B-B14F-4D97-AF65-F5344CB8AC3E}">
        <p14:creationId xmlns:p14="http://schemas.microsoft.com/office/powerpoint/2010/main" val="2574727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10</a:t>
            </a:fld>
            <a:endParaRPr lang="en-US"/>
          </a:p>
        </p:txBody>
      </p:sp>
    </p:spTree>
    <p:extLst>
      <p:ext uri="{BB962C8B-B14F-4D97-AF65-F5344CB8AC3E}">
        <p14:creationId xmlns:p14="http://schemas.microsoft.com/office/powerpoint/2010/main" val="14293358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11</a:t>
            </a:fld>
            <a:endParaRPr lang="en-US"/>
          </a:p>
        </p:txBody>
      </p:sp>
    </p:spTree>
    <p:extLst>
      <p:ext uri="{BB962C8B-B14F-4D97-AF65-F5344CB8AC3E}">
        <p14:creationId xmlns:p14="http://schemas.microsoft.com/office/powerpoint/2010/main" val="3315465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12</a:t>
            </a:fld>
            <a:endParaRPr lang="en-US"/>
          </a:p>
        </p:txBody>
      </p:sp>
    </p:spTree>
    <p:extLst>
      <p:ext uri="{BB962C8B-B14F-4D97-AF65-F5344CB8AC3E}">
        <p14:creationId xmlns:p14="http://schemas.microsoft.com/office/powerpoint/2010/main" val="2574727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13</a:t>
            </a:fld>
            <a:endParaRPr lang="en-US"/>
          </a:p>
        </p:txBody>
      </p:sp>
    </p:spTree>
    <p:extLst>
      <p:ext uri="{BB962C8B-B14F-4D97-AF65-F5344CB8AC3E}">
        <p14:creationId xmlns:p14="http://schemas.microsoft.com/office/powerpoint/2010/main" val="3917779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14</a:t>
            </a:fld>
            <a:endParaRPr lang="en-US"/>
          </a:p>
        </p:txBody>
      </p:sp>
    </p:spTree>
    <p:extLst>
      <p:ext uri="{BB962C8B-B14F-4D97-AF65-F5344CB8AC3E}">
        <p14:creationId xmlns:p14="http://schemas.microsoft.com/office/powerpoint/2010/main" val="2370271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15</a:t>
            </a:fld>
            <a:endParaRPr lang="en-US"/>
          </a:p>
        </p:txBody>
      </p:sp>
    </p:spTree>
    <p:extLst>
      <p:ext uri="{BB962C8B-B14F-4D97-AF65-F5344CB8AC3E}">
        <p14:creationId xmlns:p14="http://schemas.microsoft.com/office/powerpoint/2010/main" val="2956939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EF4250-741B-442A-9703-012BAF15BAAC}"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816B4-16E8-4062-88BC-ECA9BFE00428}"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CF6598-E98D-41E9-AC1F-40993110B2E2}"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1D4A01-3715-4476-A057-955DFD278091}"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793C02-4A9B-4362-AC6F-20FFF8DED461}" type="datetime1">
              <a:rPr lang="en-US" smtClean="0"/>
              <a:pPr/>
              <a:t>10/18/2023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A3C571-B71D-45C8-8B1B-35BCC2DA467A}" type="datetime1">
              <a:rPr lang="en-US" smtClean="0"/>
              <a:pPr/>
              <a:t>10/18/2023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3D478-9CFC-4269-8AE4-00D2F07081AD}" type="datetime1">
              <a:rPr lang="en-US" smtClean="0"/>
              <a:pPr/>
              <a:t>10/18/2023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C7258-29DB-40D6-BF3F-E918B183B515}"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CD29DC-3073-4B54-8EE5-E93562EFCDAC}"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5975A9-2543-49D8-B35B-ED476DA0ED73}"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F7BFD3-FA8E-4E08-91B4-E94DC0FF8BBB}"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5BFD0B-D7A9-4808-B8C9-44A20956DF29}" type="datetime1">
              <a:rPr lang="en-US" smtClean="0"/>
              <a:pPr/>
              <a:t>10/18/2023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pPr/>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Equivalence Partitioning / Classes</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Equivalence partitioning or equivalence class partitioning (ECP) is a software testing technique that divides the input data of a software unit into partitions of equivalent data from which test cases can be derived.</a:t>
            </a:r>
          </a:p>
          <a:p>
            <a:r>
              <a:rPr lang="en-GB" sz="1800" dirty="0"/>
              <a:t>In principle, test cases are designed to cover each partition at least once.</a:t>
            </a:r>
          </a:p>
          <a:p>
            <a:r>
              <a:rPr lang="en-GB" sz="1800" dirty="0"/>
              <a:t>This technique tries to define test cases that uncover classes of errors, thereby reducing the total number of test cases that must be developed.</a:t>
            </a:r>
          </a:p>
          <a:p>
            <a:r>
              <a:rPr lang="en-GB" sz="1800" dirty="0"/>
              <a:t>An advantage of this approach is reduction in the time required for testing software due to lesser number of test cases.</a:t>
            </a:r>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a:t>
            </a:fld>
            <a:endParaRPr lang="en-US"/>
          </a:p>
        </p:txBody>
      </p:sp>
    </p:spTree>
    <p:extLst>
      <p:ext uri="{BB962C8B-B14F-4D97-AF65-F5344CB8AC3E}">
        <p14:creationId xmlns:p14="http://schemas.microsoft.com/office/powerpoint/2010/main" val="19554049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 … Equivalence Partitioning / Classes …</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Equivalence partitioning is typically applied to the inputs of a tested component, but may be applied to the outputs in rare cases</a:t>
            </a:r>
            <a:r>
              <a:rPr lang="en-GB" sz="1800" dirty="0" smtClean="0"/>
              <a:t>.</a:t>
            </a:r>
          </a:p>
          <a:p>
            <a:r>
              <a:rPr lang="en-GB" sz="1800" b="1" dirty="0" smtClean="0"/>
              <a:t>The set of input values that generate one single expected output is called a partition/ class.</a:t>
            </a:r>
            <a:endParaRPr lang="en-GB" sz="1800" b="1" dirty="0"/>
          </a:p>
          <a:p>
            <a:r>
              <a:rPr lang="en-GB" sz="1800" dirty="0"/>
              <a:t>The equivalence partitions are usually derived from the requirements specification for input attributes that influence the processing of the test object.</a:t>
            </a:r>
          </a:p>
          <a:p>
            <a:r>
              <a:rPr lang="en-GB" sz="1800" dirty="0"/>
              <a:t>In general an input has certain ranges which are valid and other ranges which are invalid. Invalid data here does not mean that the data is incorrect, it means that this data lies outside of specific partition. </a:t>
            </a:r>
          </a:p>
        </p:txBody>
      </p:sp>
      <p:sp>
        <p:nvSpPr>
          <p:cNvPr id="2" name="Slide Number Placeholder 1"/>
          <p:cNvSpPr>
            <a:spLocks noGrp="1"/>
          </p:cNvSpPr>
          <p:nvPr>
            <p:ph type="sldNum" sz="quarter" idx="12"/>
          </p:nvPr>
        </p:nvSpPr>
        <p:spPr/>
        <p:txBody>
          <a:bodyPr/>
          <a:lstStyle/>
          <a:p>
            <a:fld id="{243F0035-4B67-4B88-B2A0-536AE2AEED21}" type="slidenum">
              <a:rPr lang="en-US" smtClean="0"/>
              <a:pPr/>
              <a:t>2</a:t>
            </a:fld>
            <a:endParaRPr lang="en-US"/>
          </a:p>
        </p:txBody>
      </p:sp>
    </p:spTree>
    <p:extLst>
      <p:ext uri="{BB962C8B-B14F-4D97-AF65-F5344CB8AC3E}">
        <p14:creationId xmlns:p14="http://schemas.microsoft.com/office/powerpoint/2010/main" val="28243301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 Equivalence Partitioning / Classes …</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This may be best explained by the example of a function which takes a parameter "month". </a:t>
            </a:r>
          </a:p>
          <a:p>
            <a:r>
              <a:rPr lang="en-GB" sz="1800" dirty="0"/>
              <a:t>The valid range for the month is 1 to 12, representing January to December.</a:t>
            </a:r>
          </a:p>
          <a:p>
            <a:r>
              <a:rPr lang="en-GB" sz="1800" dirty="0"/>
              <a:t>This valid range is called a partition. </a:t>
            </a:r>
          </a:p>
          <a:p>
            <a:r>
              <a:rPr lang="en-GB" sz="1800" dirty="0"/>
              <a:t>In this example there are two further partitions of invalid ranges. </a:t>
            </a:r>
          </a:p>
          <a:p>
            <a:r>
              <a:rPr lang="en-GB" sz="1800" dirty="0"/>
              <a:t>The first invalid partition would be ≤ 0 </a:t>
            </a:r>
          </a:p>
          <a:p>
            <a:r>
              <a:rPr lang="en-GB" sz="1800" dirty="0"/>
              <a:t>and the second invalid partition would be ≥ 13.</a:t>
            </a:r>
          </a:p>
        </p:txBody>
      </p:sp>
      <p:sp>
        <p:nvSpPr>
          <p:cNvPr id="2" name="Slide Number Placeholder 1"/>
          <p:cNvSpPr>
            <a:spLocks noGrp="1"/>
          </p:cNvSpPr>
          <p:nvPr>
            <p:ph type="sldNum" sz="quarter" idx="12"/>
          </p:nvPr>
        </p:nvSpPr>
        <p:spPr/>
        <p:txBody>
          <a:bodyPr/>
          <a:lstStyle/>
          <a:p>
            <a:fld id="{243F0035-4B67-4B88-B2A0-536AE2AEED21}" type="slidenum">
              <a:rPr lang="en-US" smtClean="0"/>
              <a:pPr/>
              <a:t>3</a:t>
            </a:fld>
            <a:endParaRPr lang="en-US"/>
          </a:p>
        </p:txBody>
      </p:sp>
      <p:pic>
        <p:nvPicPr>
          <p:cNvPr id="3" name="Picture 2"/>
          <p:cNvPicPr>
            <a:picLocks noChangeAspect="1"/>
          </p:cNvPicPr>
          <p:nvPr/>
        </p:nvPicPr>
        <p:blipFill>
          <a:blip r:embed="rId3" cstate="print"/>
          <a:stretch>
            <a:fillRect/>
          </a:stretch>
        </p:blipFill>
        <p:spPr>
          <a:xfrm>
            <a:off x="1581150" y="3514725"/>
            <a:ext cx="5981700" cy="828675"/>
          </a:xfrm>
          <a:prstGeom prst="rect">
            <a:avLst/>
          </a:prstGeom>
        </p:spPr>
      </p:pic>
    </p:spTree>
    <p:extLst>
      <p:ext uri="{BB962C8B-B14F-4D97-AF65-F5344CB8AC3E}">
        <p14:creationId xmlns:p14="http://schemas.microsoft.com/office/powerpoint/2010/main" val="20647654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 Equivalence Partitioning / Classes …</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The testing theory related to equivalence partitioning says that only one test case of each partition is needed to evaluate the behaviour of the program for the related partition.</a:t>
            </a:r>
          </a:p>
          <a:p>
            <a:r>
              <a:rPr lang="en-GB" sz="1800" dirty="0"/>
              <a:t>In other words, it is sufficient to select one test case out of each partition to check the behaviour of the program.</a:t>
            </a:r>
          </a:p>
          <a:p>
            <a:r>
              <a:rPr lang="en-GB" sz="1800" dirty="0"/>
              <a:t>To use more or even all test cases of a partition will not find new faults in the program. </a:t>
            </a:r>
          </a:p>
          <a:p>
            <a:r>
              <a:rPr lang="en-GB" sz="1800" dirty="0"/>
              <a:t>The values within one partition are considered to be "equivalent". Thus the number of test cases can be reduced considerably.</a:t>
            </a:r>
          </a:p>
          <a:p>
            <a:endParaRPr lang="en-GB" sz="1800" dirty="0"/>
          </a:p>
          <a:p>
            <a:endParaRPr lang="en-GB" sz="1800" dirty="0"/>
          </a:p>
          <a:p>
            <a:endParaRPr lang="en-GB" sz="1800" dirty="0"/>
          </a:p>
          <a:p>
            <a:endParaRPr lang="en-GB" sz="1800" dirty="0"/>
          </a:p>
          <a:p>
            <a:endParaRPr lang="en-GB" sz="1800" dirty="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4</a:t>
            </a:fld>
            <a:endParaRPr lang="en-US"/>
          </a:p>
        </p:txBody>
      </p:sp>
    </p:spTree>
    <p:extLst>
      <p:ext uri="{BB962C8B-B14F-4D97-AF65-F5344CB8AC3E}">
        <p14:creationId xmlns:p14="http://schemas.microsoft.com/office/powerpoint/2010/main" val="15355943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 Equivalence Partitioning / Classes …</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Equivalence partitioning is not a stand-alone method to determine test cases. </a:t>
            </a:r>
          </a:p>
          <a:p>
            <a:r>
              <a:rPr lang="en-GB" sz="1800" dirty="0"/>
              <a:t>It has to be supplemented by boundary value analysis. Having determined the partitions of possible inputs the method of boundary value analysis has to be applied to select the most effective test cases out of these partitions</a:t>
            </a:r>
            <a:r>
              <a:rPr lang="en-GB" sz="1800" dirty="0" smtClean="0"/>
              <a:t>.   </a:t>
            </a: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5</a:t>
            </a:fld>
            <a:endParaRPr lang="en-US"/>
          </a:p>
        </p:txBody>
      </p:sp>
    </p:spTree>
    <p:extLst>
      <p:ext uri="{BB962C8B-B14F-4D97-AF65-F5344CB8AC3E}">
        <p14:creationId xmlns:p14="http://schemas.microsoft.com/office/powerpoint/2010/main" val="30984226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 Equivalence Partitioning / Classes …</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smtClean="0"/>
              <a:t>The set of input vales that generate one single expected output is called a partition.</a:t>
            </a:r>
          </a:p>
          <a:p>
            <a:r>
              <a:rPr lang="en-GB" sz="1800" dirty="0" smtClean="0"/>
              <a:t>When the behaviour is same for a set of values then the set is termed as an equivalence class or a partition. </a:t>
            </a:r>
          </a:p>
          <a:p>
            <a:r>
              <a:rPr lang="en-GB" sz="1800" dirty="0" smtClean="0"/>
              <a:t>In this case, one representative sample of each partition (also called the member of the equivalence class ) is picked up for testing.</a:t>
            </a:r>
          </a:p>
          <a:p>
            <a:r>
              <a:rPr lang="en-GB" sz="1800" b="1" u="sng" dirty="0" smtClean="0"/>
              <a:t>STEPS:</a:t>
            </a:r>
          </a:p>
          <a:p>
            <a:pPr lvl="1"/>
            <a:r>
              <a:rPr lang="en-GB" sz="1800" dirty="0" smtClean="0"/>
              <a:t>Identify all partitions for the complete set of input.</a:t>
            </a:r>
          </a:p>
          <a:p>
            <a:pPr lvl="1"/>
            <a:r>
              <a:rPr lang="en-GB" sz="1800" dirty="0" smtClean="0"/>
              <a:t>Identify/calculate corresponding output</a:t>
            </a:r>
          </a:p>
          <a:p>
            <a:pPr lvl="1"/>
            <a:r>
              <a:rPr lang="en-GB" sz="1800" dirty="0" smtClean="0"/>
              <a:t>Pick one member from each partition for testing.</a:t>
            </a:r>
          </a:p>
          <a:p>
            <a:pPr lvl="1"/>
            <a:endParaRPr lang="en-GB" sz="1800" dirty="0" smtClean="0"/>
          </a:p>
          <a:p>
            <a:pPr marL="457200" lvl="1" indent="0">
              <a:buNone/>
            </a:pPr>
            <a:r>
              <a:rPr lang="en-GB" sz="1800" dirty="0" smtClean="0"/>
              <a:t>	</a:t>
            </a:r>
          </a:p>
          <a:p>
            <a:endParaRPr lang="en-GB" sz="1800" dirty="0" smtClean="0"/>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6</a:t>
            </a:fld>
            <a:endParaRPr lang="en-US"/>
          </a:p>
        </p:txBody>
      </p:sp>
    </p:spTree>
    <p:extLst>
      <p:ext uri="{BB962C8B-B14F-4D97-AF65-F5344CB8AC3E}">
        <p14:creationId xmlns:p14="http://schemas.microsoft.com/office/powerpoint/2010/main" val="42342851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 Equivalence Partitioning / Classes - Example</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pPr marL="0" indent="0" algn="ctr">
              <a:buNone/>
            </a:pPr>
            <a:r>
              <a:rPr lang="en-GB" sz="2000" b="1" dirty="0" smtClean="0"/>
              <a:t>Life insurance Premium Rates</a:t>
            </a:r>
          </a:p>
          <a:p>
            <a:r>
              <a:rPr lang="en-GB" sz="1800" dirty="0" smtClean="0"/>
              <a:t>A life insurance company has base premium of $0.50 for all ages. Based on the age group, an additional monthly premium has to be paid that is as listed in the table below.</a:t>
            </a:r>
          </a:p>
          <a:p>
            <a:endParaRPr lang="en-GB" sz="1800" dirty="0" smtClean="0"/>
          </a:p>
          <a:p>
            <a:endParaRPr lang="en-GB" sz="1800" dirty="0" smtClean="0"/>
          </a:p>
          <a:p>
            <a:endParaRPr lang="en-GB" sz="1800" dirty="0"/>
          </a:p>
          <a:p>
            <a:endParaRPr lang="en-GB" sz="1800" dirty="0" smtClean="0"/>
          </a:p>
          <a:p>
            <a:endParaRPr lang="en-GB" sz="1800" dirty="0"/>
          </a:p>
          <a:p>
            <a:endParaRPr lang="en-GB" sz="1800" dirty="0" smtClean="0"/>
          </a:p>
          <a:p>
            <a:r>
              <a:rPr lang="en-GB" sz="1800" dirty="0" smtClean="0"/>
              <a:t>For example, a person aged 34 has to pay a premium= base premium + additional premium=$0.50+$1.65=$2.15</a:t>
            </a:r>
          </a:p>
          <a:p>
            <a:endParaRPr lang="en-GB" sz="1800" dirty="0" smtClean="0"/>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7</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416691477"/>
              </p:ext>
            </p:extLst>
          </p:nvPr>
        </p:nvGraphicFramePr>
        <p:xfrm>
          <a:off x="1676400" y="2133600"/>
          <a:ext cx="6096000" cy="1569720"/>
        </p:xfrm>
        <a:graphic>
          <a:graphicData uri="http://schemas.openxmlformats.org/drawingml/2006/table">
            <a:tbl>
              <a:tblPr firstRow="1" bandRow="1">
                <a:tableStyleId>{5C22544A-7EE6-4342-B048-85BDC9FD1C3A}</a:tableStyleId>
              </a:tblPr>
              <a:tblGrid>
                <a:gridCol w="3048000"/>
                <a:gridCol w="3048000"/>
              </a:tblGrid>
              <a:tr h="457200">
                <a:tc>
                  <a:txBody>
                    <a:bodyPr/>
                    <a:lstStyle/>
                    <a:p>
                      <a:pPr algn="ctr"/>
                      <a:r>
                        <a:rPr lang="en-GB" dirty="0" smtClean="0"/>
                        <a:t>Age Group (Year)</a:t>
                      </a:r>
                      <a:endParaRPr lang="en-US" dirty="0"/>
                    </a:p>
                  </a:txBody>
                  <a:tcPr/>
                </a:tc>
                <a:tc>
                  <a:txBody>
                    <a:bodyPr/>
                    <a:lstStyle/>
                    <a:p>
                      <a:pPr algn="ctr"/>
                      <a:r>
                        <a:rPr lang="en-GB" dirty="0" smtClean="0"/>
                        <a:t>Additional Premium</a:t>
                      </a:r>
                      <a:endParaRPr lang="en-US" dirty="0"/>
                    </a:p>
                  </a:txBody>
                  <a:tcPr/>
                </a:tc>
              </a:tr>
              <a:tr h="370840">
                <a:tc>
                  <a:txBody>
                    <a:bodyPr/>
                    <a:lstStyle/>
                    <a:p>
                      <a:pPr algn="ctr"/>
                      <a:r>
                        <a:rPr lang="en-GB" dirty="0" smtClean="0"/>
                        <a:t>Under 35</a:t>
                      </a:r>
                      <a:endParaRPr lang="en-US" dirty="0"/>
                    </a:p>
                  </a:txBody>
                  <a:tcPr/>
                </a:tc>
                <a:tc>
                  <a:txBody>
                    <a:bodyPr/>
                    <a:lstStyle/>
                    <a:p>
                      <a:pPr algn="ctr"/>
                      <a:r>
                        <a:rPr lang="en-GB" dirty="0" smtClean="0"/>
                        <a:t>$1.65</a:t>
                      </a:r>
                      <a:endParaRPr lang="en-US" dirty="0"/>
                    </a:p>
                  </a:txBody>
                  <a:tcPr/>
                </a:tc>
              </a:tr>
              <a:tr h="370840">
                <a:tc>
                  <a:txBody>
                    <a:bodyPr/>
                    <a:lstStyle/>
                    <a:p>
                      <a:pPr algn="ctr"/>
                      <a:r>
                        <a:rPr lang="en-GB" dirty="0" smtClean="0"/>
                        <a:t>35-59</a:t>
                      </a:r>
                      <a:endParaRPr lang="en-US" dirty="0"/>
                    </a:p>
                  </a:txBody>
                  <a:tcPr/>
                </a:tc>
                <a:tc>
                  <a:txBody>
                    <a:bodyPr/>
                    <a:lstStyle/>
                    <a:p>
                      <a:pPr algn="ctr"/>
                      <a:r>
                        <a:rPr lang="en-GB" dirty="0" smtClean="0"/>
                        <a:t>$2.87</a:t>
                      </a:r>
                      <a:endParaRPr lang="en-US" dirty="0"/>
                    </a:p>
                  </a:txBody>
                  <a:tcPr/>
                </a:tc>
              </a:tr>
              <a:tr h="370840">
                <a:tc>
                  <a:txBody>
                    <a:bodyPr/>
                    <a:lstStyle/>
                    <a:p>
                      <a:pPr algn="ctr"/>
                      <a:r>
                        <a:rPr lang="en-GB" dirty="0" smtClean="0"/>
                        <a:t>60+</a:t>
                      </a:r>
                      <a:endParaRPr lang="en-US" dirty="0"/>
                    </a:p>
                  </a:txBody>
                  <a:tcPr/>
                </a:tc>
                <a:tc>
                  <a:txBody>
                    <a:bodyPr/>
                    <a:lstStyle/>
                    <a:p>
                      <a:pPr algn="ctr"/>
                      <a:r>
                        <a:rPr lang="en-GB" dirty="0" smtClean="0"/>
                        <a:t>$6.00</a:t>
                      </a:r>
                      <a:endParaRPr lang="en-US" dirty="0"/>
                    </a:p>
                  </a:txBody>
                  <a:tcPr/>
                </a:tc>
              </a:tr>
            </a:tbl>
          </a:graphicData>
        </a:graphic>
      </p:graphicFrame>
    </p:spTree>
    <p:extLst>
      <p:ext uri="{BB962C8B-B14F-4D97-AF65-F5344CB8AC3E}">
        <p14:creationId xmlns:p14="http://schemas.microsoft.com/office/powerpoint/2010/main" val="28804033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 Equivalence Partitioning / Classes – Example …</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pPr marL="0" indent="0" algn="ctr">
              <a:buNone/>
            </a:pPr>
            <a:r>
              <a:rPr lang="en-GB" sz="2000" b="1" dirty="0" smtClean="0"/>
              <a:t>… Life </a:t>
            </a:r>
            <a:r>
              <a:rPr lang="en-GB" sz="2000" b="1" dirty="0"/>
              <a:t>insurance Premium </a:t>
            </a:r>
            <a:r>
              <a:rPr lang="en-GB" sz="2000" b="1" dirty="0" smtClean="0"/>
              <a:t>Rates …</a:t>
            </a:r>
            <a:endParaRPr lang="en-GB" sz="2000" b="1" dirty="0"/>
          </a:p>
          <a:p>
            <a:r>
              <a:rPr lang="en-GB" sz="1800" dirty="0" smtClean="0"/>
              <a:t>Based on the equivalence partitioning technique, the equivalence partitions that are based on age are given below:</a:t>
            </a:r>
          </a:p>
          <a:p>
            <a:pPr lvl="1"/>
            <a:r>
              <a:rPr lang="en-GB" sz="1600" dirty="0" smtClean="0"/>
              <a:t>Below 35 years of age </a:t>
            </a:r>
            <a:r>
              <a:rPr lang="en-GB" sz="1600" dirty="0" smtClean="0">
                <a:sym typeface="Wingdings" panose="05000000000000000000" pitchFamily="2" charset="2"/>
              </a:rPr>
              <a:t>Valid input</a:t>
            </a:r>
            <a:endParaRPr lang="en-GB" sz="1600" dirty="0" smtClean="0"/>
          </a:p>
          <a:p>
            <a:pPr lvl="1"/>
            <a:r>
              <a:rPr lang="en-GB" sz="1600" dirty="0" smtClean="0"/>
              <a:t>Between 35 and 59 years of age </a:t>
            </a:r>
            <a:r>
              <a:rPr lang="en-GB" sz="1600" dirty="0">
                <a:sym typeface="Wingdings" panose="05000000000000000000" pitchFamily="2" charset="2"/>
              </a:rPr>
              <a:t>Valid input</a:t>
            </a:r>
            <a:endParaRPr lang="en-GB" sz="1600" dirty="0" smtClean="0"/>
          </a:p>
          <a:p>
            <a:pPr lvl="1"/>
            <a:r>
              <a:rPr lang="en-GB" sz="1600" dirty="0" smtClean="0"/>
              <a:t>Above 60 years of age. </a:t>
            </a:r>
            <a:r>
              <a:rPr lang="en-GB" sz="1600" dirty="0">
                <a:sym typeface="Wingdings" panose="05000000000000000000" pitchFamily="2" charset="2"/>
              </a:rPr>
              <a:t>Valid input</a:t>
            </a:r>
            <a:endParaRPr lang="en-GB" sz="1600" dirty="0" smtClean="0"/>
          </a:p>
          <a:p>
            <a:pPr lvl="1"/>
            <a:r>
              <a:rPr lang="en-GB" sz="1600" dirty="0" smtClean="0"/>
              <a:t>Negative age </a:t>
            </a:r>
            <a:r>
              <a:rPr lang="en-GB" sz="1600" dirty="0" smtClean="0">
                <a:sym typeface="Wingdings" panose="05000000000000000000" pitchFamily="2" charset="2"/>
              </a:rPr>
              <a:t>invalid </a:t>
            </a:r>
            <a:r>
              <a:rPr lang="en-GB" sz="1600" dirty="0">
                <a:sym typeface="Wingdings" panose="05000000000000000000" pitchFamily="2" charset="2"/>
              </a:rPr>
              <a:t>input</a:t>
            </a:r>
            <a:endParaRPr lang="en-GB" sz="1600" dirty="0" smtClean="0"/>
          </a:p>
          <a:p>
            <a:pPr lvl="1"/>
            <a:r>
              <a:rPr lang="en-GB" sz="1600" dirty="0" smtClean="0"/>
              <a:t>Age as 0 </a:t>
            </a:r>
            <a:r>
              <a:rPr lang="en-GB" sz="1600" dirty="0" smtClean="0">
                <a:sym typeface="Wingdings" panose="05000000000000000000" pitchFamily="2" charset="2"/>
              </a:rPr>
              <a:t>invalid </a:t>
            </a:r>
            <a:r>
              <a:rPr lang="en-GB" sz="1600" dirty="0">
                <a:sym typeface="Wingdings" panose="05000000000000000000" pitchFamily="2" charset="2"/>
              </a:rPr>
              <a:t>input</a:t>
            </a:r>
            <a:endParaRPr lang="en-GB" sz="1600" dirty="0" smtClean="0"/>
          </a:p>
          <a:p>
            <a:pPr lvl="1"/>
            <a:r>
              <a:rPr lang="en-GB" sz="1600" dirty="0" smtClean="0"/>
              <a:t>Age as any three digit number </a:t>
            </a:r>
            <a:r>
              <a:rPr lang="en-GB" sz="1600" dirty="0">
                <a:sym typeface="Wingdings" panose="05000000000000000000" pitchFamily="2" charset="2"/>
              </a:rPr>
              <a:t>Valid </a:t>
            </a:r>
            <a:r>
              <a:rPr lang="en-GB" sz="1600" dirty="0" smtClean="0">
                <a:sym typeface="Wingdings" panose="05000000000000000000" pitchFamily="2" charset="2"/>
              </a:rPr>
              <a:t>input</a:t>
            </a:r>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8</a:t>
            </a:fld>
            <a:endParaRPr lang="en-US"/>
          </a:p>
        </p:txBody>
      </p:sp>
    </p:spTree>
    <p:extLst>
      <p:ext uri="{BB962C8B-B14F-4D97-AF65-F5344CB8AC3E}">
        <p14:creationId xmlns:p14="http://schemas.microsoft.com/office/powerpoint/2010/main" val="36154461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 Equivalence Partitioning / Classes – Example …</a:t>
            </a:r>
            <a:endParaRPr lang="en-GB" sz="2800" dirty="0"/>
          </a:p>
        </p:txBody>
      </p:sp>
      <p:sp>
        <p:nvSpPr>
          <p:cNvPr id="7" name="Content Placeholder 2"/>
          <p:cNvSpPr>
            <a:spLocks noGrp="1"/>
          </p:cNvSpPr>
          <p:nvPr>
            <p:ph idx="1"/>
          </p:nvPr>
        </p:nvSpPr>
        <p:spPr>
          <a:xfrm>
            <a:off x="304800" y="685800"/>
            <a:ext cx="8229600" cy="1066800"/>
          </a:xfrm>
        </p:spPr>
        <p:txBody>
          <a:bodyPr>
            <a:noAutofit/>
          </a:bodyPr>
          <a:lstStyle/>
          <a:p>
            <a:pPr marL="0" indent="0" algn="ctr">
              <a:buNone/>
            </a:pPr>
            <a:r>
              <a:rPr lang="en-GB" sz="2000" b="1" dirty="0" smtClean="0"/>
              <a:t>… Life </a:t>
            </a:r>
            <a:r>
              <a:rPr lang="en-GB" sz="2000" b="1" dirty="0"/>
              <a:t>insurance Premium </a:t>
            </a:r>
            <a:r>
              <a:rPr lang="en-GB" sz="2000" b="1" dirty="0" smtClean="0"/>
              <a:t>Rates …</a:t>
            </a:r>
            <a:endParaRPr lang="en-GB" sz="2000" b="1" dirty="0"/>
          </a:p>
          <a:p>
            <a:r>
              <a:rPr lang="en-GB" sz="1800" dirty="0" smtClean="0">
                <a:sym typeface="Wingdings" panose="05000000000000000000" pitchFamily="2" charset="2"/>
              </a:rPr>
              <a:t>We need to pick up representative values from each of the above partitions and generate test cases.</a:t>
            </a:r>
          </a:p>
          <a:p>
            <a:endParaRPr lang="en-GB" sz="2000" dirty="0" smtClean="0"/>
          </a:p>
          <a:p>
            <a:endParaRPr lang="en-GB" sz="1800" dirty="0" smtClean="0"/>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9</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005887196"/>
              </p:ext>
            </p:extLst>
          </p:nvPr>
        </p:nvGraphicFramePr>
        <p:xfrm>
          <a:off x="228600" y="1981200"/>
          <a:ext cx="8382000" cy="3032760"/>
        </p:xfrm>
        <a:graphic>
          <a:graphicData uri="http://schemas.openxmlformats.org/drawingml/2006/table">
            <a:tbl>
              <a:tblPr firstRow="1" bandRow="1">
                <a:tableStyleId>{5C22544A-7EE6-4342-B048-85BDC9FD1C3A}</a:tableStyleId>
              </a:tblPr>
              <a:tblGrid>
                <a:gridCol w="685800"/>
                <a:gridCol w="2209800"/>
                <a:gridCol w="914400"/>
                <a:gridCol w="1066800"/>
                <a:gridCol w="3505200"/>
              </a:tblGrid>
              <a:tr h="0">
                <a:tc>
                  <a:txBody>
                    <a:bodyPr/>
                    <a:lstStyle/>
                    <a:p>
                      <a:pPr algn="ctr"/>
                      <a:r>
                        <a:rPr lang="en-GB" dirty="0" smtClean="0"/>
                        <a:t>S. N0.</a:t>
                      </a:r>
                      <a:endParaRPr lang="en-US" dirty="0"/>
                    </a:p>
                  </a:txBody>
                  <a:tcPr/>
                </a:tc>
                <a:tc>
                  <a:txBody>
                    <a:bodyPr/>
                    <a:lstStyle/>
                    <a:p>
                      <a:pPr algn="ctr"/>
                      <a:r>
                        <a:rPr lang="en-GB" dirty="0" smtClean="0"/>
                        <a:t>Equivalence partitions</a:t>
                      </a:r>
                      <a:endParaRPr lang="en-US" dirty="0"/>
                    </a:p>
                  </a:txBody>
                  <a:tcPr/>
                </a:tc>
                <a:tc>
                  <a:txBody>
                    <a:bodyPr/>
                    <a:lstStyle/>
                    <a:p>
                      <a:pPr algn="ctr"/>
                      <a:r>
                        <a:rPr lang="en-GB" dirty="0" smtClean="0"/>
                        <a:t>Type of Input</a:t>
                      </a:r>
                      <a:endParaRPr lang="en-US" dirty="0"/>
                    </a:p>
                  </a:txBody>
                  <a:tcPr/>
                </a:tc>
                <a:tc>
                  <a:txBody>
                    <a:bodyPr/>
                    <a:lstStyle/>
                    <a:p>
                      <a:pPr algn="ctr"/>
                      <a:r>
                        <a:rPr lang="en-GB" dirty="0" smtClean="0"/>
                        <a:t>Test Data (Age)</a:t>
                      </a:r>
                      <a:endParaRPr lang="en-US" dirty="0"/>
                    </a:p>
                  </a:txBody>
                  <a:tcPr/>
                </a:tc>
                <a:tc>
                  <a:txBody>
                    <a:bodyPr/>
                    <a:lstStyle/>
                    <a:p>
                      <a:pPr algn="ctr"/>
                      <a:r>
                        <a:rPr lang="en-GB" dirty="0" smtClean="0"/>
                        <a:t>Expected Results (Monthly Premium -</a:t>
                      </a:r>
                      <a:r>
                        <a:rPr lang="en-GB" baseline="0" dirty="0" smtClean="0"/>
                        <a:t> </a:t>
                      </a:r>
                      <a:r>
                        <a:rPr lang="en-GB" dirty="0" smtClean="0"/>
                        <a:t>$)</a:t>
                      </a:r>
                      <a:endParaRPr lang="en-US" dirty="0"/>
                    </a:p>
                  </a:txBody>
                  <a:tcPr/>
                </a:tc>
              </a:tr>
              <a:tr h="370840">
                <a:tc>
                  <a:txBody>
                    <a:bodyPr/>
                    <a:lstStyle/>
                    <a:p>
                      <a:pPr algn="ctr"/>
                      <a:r>
                        <a:rPr lang="en-GB" dirty="0" smtClean="0"/>
                        <a:t>1</a:t>
                      </a:r>
                      <a:endParaRPr lang="en-US" dirty="0"/>
                    </a:p>
                  </a:txBody>
                  <a:tcPr/>
                </a:tc>
                <a:tc>
                  <a:txBody>
                    <a:bodyPr/>
                    <a:lstStyle/>
                    <a:p>
                      <a:pPr algn="l"/>
                      <a:r>
                        <a:rPr lang="en-GB" sz="1800" dirty="0" smtClean="0"/>
                        <a:t>Below 35 years of age </a:t>
                      </a:r>
                      <a:endParaRPr lang="en-US" dirty="0"/>
                    </a:p>
                  </a:txBody>
                  <a:tcPr/>
                </a:tc>
                <a:tc>
                  <a:txBody>
                    <a:bodyPr/>
                    <a:lstStyle/>
                    <a:p>
                      <a:pPr algn="ctr"/>
                      <a:r>
                        <a:rPr lang="en-GB" dirty="0" smtClean="0"/>
                        <a:t>Valid</a:t>
                      </a:r>
                      <a:endParaRPr lang="en-US" dirty="0"/>
                    </a:p>
                  </a:txBody>
                  <a:tcPr/>
                </a:tc>
                <a:tc>
                  <a:txBody>
                    <a:bodyPr/>
                    <a:lstStyle/>
                    <a:p>
                      <a:pPr algn="ctr"/>
                      <a:r>
                        <a:rPr lang="en-GB" dirty="0" smtClean="0"/>
                        <a:t>26, 12</a:t>
                      </a:r>
                      <a:endParaRPr lang="en-US" dirty="0"/>
                    </a:p>
                  </a:txBody>
                  <a:tcPr/>
                </a:tc>
                <a:tc>
                  <a:txBody>
                    <a:bodyPr/>
                    <a:lstStyle/>
                    <a:p>
                      <a:pPr algn="l"/>
                      <a:r>
                        <a:rPr lang="en-GB" dirty="0" smtClean="0"/>
                        <a:t>Monthly premium= 0.50+1.65=2.15</a:t>
                      </a:r>
                      <a:endParaRPr lang="en-US" dirty="0"/>
                    </a:p>
                  </a:txBody>
                  <a:tcPr/>
                </a:tc>
              </a:tr>
              <a:tr h="370840">
                <a:tc>
                  <a:txBody>
                    <a:bodyPr/>
                    <a:lstStyle/>
                    <a:p>
                      <a:pPr algn="ctr"/>
                      <a:r>
                        <a:rPr lang="en-GB" dirty="0" smtClean="0"/>
                        <a:t>2</a:t>
                      </a:r>
                      <a:endParaRPr lang="en-US" dirty="0"/>
                    </a:p>
                  </a:txBody>
                  <a:tcPr/>
                </a:tc>
                <a:tc>
                  <a:txBody>
                    <a:bodyPr/>
                    <a:lstStyle/>
                    <a:p>
                      <a:pPr algn="l"/>
                      <a:r>
                        <a:rPr lang="en-GB" sz="1800" dirty="0" smtClean="0"/>
                        <a:t>Between 35 and 59 years of age </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dirty="0" smtClean="0"/>
                        <a:t>Valid</a:t>
                      </a:r>
                      <a:endParaRPr lang="en-US" dirty="0" smtClean="0"/>
                    </a:p>
                    <a:p>
                      <a:pPr algn="ctr"/>
                      <a:endParaRPr lang="en-US" dirty="0"/>
                    </a:p>
                  </a:txBody>
                  <a:tcPr/>
                </a:tc>
                <a:tc>
                  <a:txBody>
                    <a:bodyPr/>
                    <a:lstStyle/>
                    <a:p>
                      <a:pPr algn="ctr"/>
                      <a:r>
                        <a:rPr lang="en-GB" dirty="0" smtClean="0"/>
                        <a:t>37</a:t>
                      </a:r>
                      <a:endParaRPr lang="en-US" dirty="0"/>
                    </a:p>
                  </a:txBody>
                  <a:tcPr/>
                </a:tc>
                <a:tc>
                  <a:txBody>
                    <a:bodyPr/>
                    <a:lstStyle/>
                    <a:p>
                      <a:pPr algn="l"/>
                      <a:r>
                        <a:rPr lang="en-GB" dirty="0" smtClean="0"/>
                        <a:t>Monthly premium= 0.50+2.87=3.37</a:t>
                      </a:r>
                      <a:endParaRPr lang="en-US" dirty="0"/>
                    </a:p>
                  </a:txBody>
                  <a:tcPr/>
                </a:tc>
              </a:tr>
              <a:tr h="370840">
                <a:tc>
                  <a:txBody>
                    <a:bodyPr/>
                    <a:lstStyle/>
                    <a:p>
                      <a:pPr algn="ctr"/>
                      <a:r>
                        <a:rPr lang="en-GB" dirty="0" smtClean="0"/>
                        <a:t>3</a:t>
                      </a:r>
                      <a:endParaRPr lang="en-US" dirty="0"/>
                    </a:p>
                  </a:txBody>
                  <a:tcPr/>
                </a:tc>
                <a:tc>
                  <a:txBody>
                    <a:bodyPr/>
                    <a:lstStyle/>
                    <a:p>
                      <a:pPr algn="l"/>
                      <a:r>
                        <a:rPr lang="en-GB" sz="1800" dirty="0" smtClean="0"/>
                        <a:t>Above 60 years of age</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dirty="0" smtClean="0"/>
                        <a:t>Valid</a:t>
                      </a:r>
                      <a:endParaRPr lang="en-US" dirty="0" smtClean="0"/>
                    </a:p>
                    <a:p>
                      <a:pPr algn="ctr"/>
                      <a:endParaRPr lang="en-US" dirty="0"/>
                    </a:p>
                  </a:txBody>
                  <a:tcPr/>
                </a:tc>
                <a:tc>
                  <a:txBody>
                    <a:bodyPr/>
                    <a:lstStyle/>
                    <a:p>
                      <a:pPr algn="ctr"/>
                      <a:r>
                        <a:rPr lang="en-GB" dirty="0" smtClean="0"/>
                        <a:t>65, 90</a:t>
                      </a:r>
                      <a:endParaRPr lang="en-US" dirty="0"/>
                    </a:p>
                  </a:txBody>
                  <a:tcPr/>
                </a:tc>
                <a:tc>
                  <a:txBody>
                    <a:bodyPr/>
                    <a:lstStyle/>
                    <a:p>
                      <a:pPr algn="l"/>
                      <a:r>
                        <a:rPr lang="en-GB" dirty="0" smtClean="0"/>
                        <a:t>Monthly premium= 0.50+6.0=6.5</a:t>
                      </a:r>
                      <a:endParaRPr lang="en-US" dirty="0"/>
                    </a:p>
                  </a:txBody>
                  <a:tcPr/>
                </a:tc>
              </a:tr>
              <a:tr h="370840">
                <a:tc>
                  <a:txBody>
                    <a:bodyPr/>
                    <a:lstStyle/>
                    <a:p>
                      <a:pPr algn="ctr"/>
                      <a:r>
                        <a:rPr lang="en-GB" dirty="0" smtClean="0"/>
                        <a:t>4</a:t>
                      </a:r>
                      <a:endParaRPr lang="en-US" dirty="0"/>
                    </a:p>
                  </a:txBody>
                  <a:tcPr/>
                </a:tc>
                <a:tc>
                  <a:txBody>
                    <a:bodyPr/>
                    <a:lstStyle/>
                    <a:p>
                      <a:pPr algn="l"/>
                      <a:r>
                        <a:rPr lang="en-GB" sz="1800" dirty="0" smtClean="0"/>
                        <a:t>Negative age </a:t>
                      </a:r>
                      <a:endParaRPr lang="en-US" dirty="0"/>
                    </a:p>
                  </a:txBody>
                  <a:tcPr/>
                </a:tc>
                <a:tc>
                  <a:txBody>
                    <a:bodyPr/>
                    <a:lstStyle/>
                    <a:p>
                      <a:pPr algn="ctr"/>
                      <a:r>
                        <a:rPr lang="en-GB" dirty="0" smtClean="0"/>
                        <a:t>Invalid</a:t>
                      </a:r>
                      <a:endParaRPr lang="en-US" dirty="0"/>
                    </a:p>
                  </a:txBody>
                  <a:tcPr/>
                </a:tc>
                <a:tc>
                  <a:txBody>
                    <a:bodyPr/>
                    <a:lstStyle/>
                    <a:p>
                      <a:pPr algn="ctr"/>
                      <a:r>
                        <a:rPr lang="en-GB" dirty="0" smtClean="0"/>
                        <a:t>-23</a:t>
                      </a:r>
                      <a:endParaRPr lang="en-US" dirty="0"/>
                    </a:p>
                  </a:txBody>
                  <a:tcPr/>
                </a:tc>
                <a:tc>
                  <a:txBody>
                    <a:bodyPr/>
                    <a:lstStyle/>
                    <a:p>
                      <a:pPr algn="l"/>
                      <a:r>
                        <a:rPr lang="en-GB" dirty="0" smtClean="0"/>
                        <a:t>Warning message – Invalid Input</a:t>
                      </a:r>
                      <a:endParaRPr lang="en-US" dirty="0"/>
                    </a:p>
                  </a:txBody>
                  <a:tcPr/>
                </a:tc>
              </a:tr>
              <a:tr h="370840">
                <a:tc>
                  <a:txBody>
                    <a:bodyPr/>
                    <a:lstStyle/>
                    <a:p>
                      <a:pPr algn="ctr"/>
                      <a:r>
                        <a:rPr lang="en-GB" dirty="0" smtClean="0"/>
                        <a:t>5</a:t>
                      </a:r>
                      <a:endParaRPr lang="en-US" dirty="0"/>
                    </a:p>
                  </a:txBody>
                  <a:tcPr/>
                </a:tc>
                <a:tc>
                  <a:txBody>
                    <a:bodyPr/>
                    <a:lstStyle/>
                    <a:p>
                      <a:pPr algn="l"/>
                      <a:r>
                        <a:rPr lang="en-GB" sz="1800" dirty="0" smtClean="0"/>
                        <a:t>Age as 0</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dirty="0" smtClean="0"/>
                        <a:t>Invalid</a:t>
                      </a:r>
                      <a:endParaRPr lang="en-US" dirty="0"/>
                    </a:p>
                  </a:txBody>
                  <a:tcPr/>
                </a:tc>
                <a:tc>
                  <a:txBody>
                    <a:bodyPr/>
                    <a:lstStyle/>
                    <a:p>
                      <a:pPr algn="ctr"/>
                      <a:r>
                        <a:rPr lang="en-GB" dirty="0" smtClean="0"/>
                        <a:t>0</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Warning message – Invalid Input</a:t>
                      </a:r>
                      <a:endParaRPr lang="en-US" dirty="0"/>
                    </a:p>
                  </a:txBody>
                  <a:tcPr/>
                </a:tc>
              </a:tr>
            </a:tbl>
          </a:graphicData>
        </a:graphic>
      </p:graphicFrame>
    </p:spTree>
    <p:extLst>
      <p:ext uri="{BB962C8B-B14F-4D97-AF65-F5344CB8AC3E}">
        <p14:creationId xmlns:p14="http://schemas.microsoft.com/office/powerpoint/2010/main" val="18844039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Boundary Value Analysis</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Boundary value analysis is a software testing technique in which tests are designed to include representatives of boundary values in a range</a:t>
            </a:r>
            <a:r>
              <a:rPr lang="en-GB" sz="1800" dirty="0" smtClean="0"/>
              <a:t>.</a:t>
            </a:r>
          </a:p>
          <a:p>
            <a:r>
              <a:rPr lang="en-GB" sz="1800" dirty="0" smtClean="0"/>
              <a:t>The </a:t>
            </a:r>
            <a:r>
              <a:rPr lang="en-GB" sz="1800" dirty="0"/>
              <a:t>idea comes from the boundary.</a:t>
            </a:r>
          </a:p>
          <a:p>
            <a:r>
              <a:rPr lang="en-GB" sz="1800" dirty="0"/>
              <a:t>Those inputs which belong to the same equivalence class as defined by the equivalence partitioning theory would constitute the basis. </a:t>
            </a:r>
            <a:endParaRPr lang="en-GB" sz="1800" dirty="0" smtClean="0"/>
          </a:p>
          <a:p>
            <a:r>
              <a:rPr lang="en-GB" sz="1800" dirty="0" smtClean="0"/>
              <a:t>Given </a:t>
            </a:r>
            <a:r>
              <a:rPr lang="en-GB" sz="1800" dirty="0"/>
              <a:t>that the basis sets are </a:t>
            </a:r>
            <a:r>
              <a:rPr lang="en-GB" sz="1800" dirty="0" smtClean="0"/>
              <a:t>neighbours, </a:t>
            </a:r>
            <a:r>
              <a:rPr lang="en-GB" sz="1800" dirty="0"/>
              <a:t>there would exist a boundary between them. </a:t>
            </a:r>
            <a:endParaRPr lang="en-GB" sz="1800" dirty="0" smtClean="0"/>
          </a:p>
          <a:p>
            <a:r>
              <a:rPr lang="en-GB" sz="1800" dirty="0" smtClean="0"/>
              <a:t>The </a:t>
            </a:r>
            <a:r>
              <a:rPr lang="en-GB" sz="1800" dirty="0"/>
              <a:t>test data on either side of the boundary are called boundary values</a:t>
            </a:r>
            <a:r>
              <a:rPr lang="en-GB" sz="1800" dirty="0" smtClean="0"/>
              <a:t>.</a:t>
            </a:r>
          </a:p>
          <a:p>
            <a:r>
              <a:rPr lang="en-GB" sz="1800" dirty="0"/>
              <a:t>The boundary between two partitions is the place where the </a:t>
            </a:r>
            <a:r>
              <a:rPr lang="en-GB" sz="1800" dirty="0" err="1"/>
              <a:t>behavior</a:t>
            </a:r>
            <a:r>
              <a:rPr lang="en-GB" sz="1800" dirty="0"/>
              <a:t> of the application changes.</a:t>
            </a:r>
          </a:p>
          <a:p>
            <a:r>
              <a:rPr lang="en-GB" sz="1800" dirty="0"/>
              <a:t>The boundary value is the minimum (or maximum) value that is at the boundary.</a:t>
            </a:r>
          </a:p>
        </p:txBody>
      </p:sp>
      <p:sp>
        <p:nvSpPr>
          <p:cNvPr id="2" name="Slide Number Placeholder 1"/>
          <p:cNvSpPr>
            <a:spLocks noGrp="1"/>
          </p:cNvSpPr>
          <p:nvPr>
            <p:ph type="sldNum" sz="quarter" idx="12"/>
          </p:nvPr>
        </p:nvSpPr>
        <p:spPr/>
        <p:txBody>
          <a:bodyPr/>
          <a:lstStyle/>
          <a:p>
            <a:fld id="{243F0035-4B67-4B88-B2A0-536AE2AEED21}" type="slidenum">
              <a:rPr lang="en-US" smtClean="0"/>
              <a:pPr/>
              <a:t>10</a:t>
            </a:fld>
            <a:endParaRPr lang="en-US"/>
          </a:p>
        </p:txBody>
      </p:sp>
    </p:spTree>
    <p:extLst>
      <p:ext uri="{BB962C8B-B14F-4D97-AF65-F5344CB8AC3E}">
        <p14:creationId xmlns:p14="http://schemas.microsoft.com/office/powerpoint/2010/main" val="19554049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 Boundary </a:t>
            </a:r>
            <a:r>
              <a:rPr lang="en-GB" sz="2800" dirty="0"/>
              <a:t>Value </a:t>
            </a:r>
            <a:r>
              <a:rPr lang="en-GB" sz="2800" dirty="0" smtClean="0"/>
              <a:t>Analysis …</a:t>
            </a:r>
            <a:endParaRPr lang="en-GB" sz="2800" dirty="0"/>
          </a:p>
        </p:txBody>
      </p:sp>
      <p:sp>
        <p:nvSpPr>
          <p:cNvPr id="7" name="Content Placeholder 2"/>
          <p:cNvSpPr>
            <a:spLocks noGrp="1"/>
          </p:cNvSpPr>
          <p:nvPr>
            <p:ph idx="1"/>
          </p:nvPr>
        </p:nvSpPr>
        <p:spPr>
          <a:xfrm>
            <a:off x="609600" y="685800"/>
            <a:ext cx="8229600" cy="6035675"/>
          </a:xfrm>
        </p:spPr>
        <p:txBody>
          <a:bodyPr>
            <a:noAutofit/>
          </a:bodyPr>
          <a:lstStyle/>
          <a:p>
            <a:r>
              <a:rPr lang="en-GB" sz="1800" dirty="0"/>
              <a:t>For </a:t>
            </a:r>
            <a:r>
              <a:rPr lang="en-GB" sz="1800" dirty="0" smtClean="0"/>
              <a:t>example</a:t>
            </a:r>
            <a:r>
              <a:rPr lang="en-GB" sz="1800" dirty="0"/>
              <a:t>, if the input values were months of the year, expressed as integers, the input parameter 'month' might have the following partitions</a:t>
            </a:r>
            <a:r>
              <a:rPr lang="en-GB" sz="1800" dirty="0" smtClean="0"/>
              <a:t>:</a:t>
            </a:r>
          </a:p>
          <a:p>
            <a:endParaRPr lang="en-GB" sz="1800" dirty="0"/>
          </a:p>
          <a:p>
            <a:endParaRPr lang="en-GB" sz="1800" dirty="0" smtClean="0"/>
          </a:p>
          <a:p>
            <a:endParaRPr lang="en-GB" sz="1800" dirty="0"/>
          </a:p>
          <a:p>
            <a:endParaRPr lang="en-GB" sz="1800" dirty="0" smtClean="0"/>
          </a:p>
          <a:p>
            <a:pPr lvl="1"/>
            <a:r>
              <a:rPr lang="en-GB" sz="1400" dirty="0" smtClean="0"/>
              <a:t> </a:t>
            </a:r>
            <a:r>
              <a:rPr lang="en-GB" sz="1800" dirty="0" smtClean="0"/>
              <a:t>The </a:t>
            </a:r>
            <a:r>
              <a:rPr lang="en-GB" sz="1800" dirty="0"/>
              <a:t>number 0 is the maximum number in the first partition</a:t>
            </a:r>
            <a:r>
              <a:rPr lang="en-GB" sz="1800" dirty="0" smtClean="0"/>
              <a:t>,</a:t>
            </a:r>
          </a:p>
          <a:p>
            <a:pPr lvl="1"/>
            <a:r>
              <a:rPr lang="en-GB" sz="1800" dirty="0" smtClean="0"/>
              <a:t> the </a:t>
            </a:r>
            <a:r>
              <a:rPr lang="en-GB" sz="1800" dirty="0"/>
              <a:t>number 1 is the minimum value in the second partition, </a:t>
            </a:r>
            <a:endParaRPr lang="en-GB" sz="1800" dirty="0" smtClean="0"/>
          </a:p>
          <a:p>
            <a:pPr lvl="1"/>
            <a:r>
              <a:rPr lang="en-GB" sz="1800" dirty="0" smtClean="0"/>
              <a:t> both </a:t>
            </a:r>
            <a:r>
              <a:rPr lang="en-GB" sz="1800" dirty="0"/>
              <a:t>are boundary values. </a:t>
            </a:r>
            <a:endParaRPr lang="en-GB" sz="1800" dirty="0" smtClean="0"/>
          </a:p>
          <a:p>
            <a:r>
              <a:rPr lang="en-GB" sz="1800" dirty="0" smtClean="0"/>
              <a:t>Test </a:t>
            </a:r>
            <a:r>
              <a:rPr lang="en-GB" sz="1800" dirty="0"/>
              <a:t>cases should be created to generate inputs or outputs that will fall on and to either side of each boundary, which results in two cases per boundary. </a:t>
            </a:r>
            <a:endParaRPr lang="en-GB" sz="1800" dirty="0" smtClean="0"/>
          </a:p>
          <a:p>
            <a:r>
              <a:rPr lang="en-GB" sz="1800" dirty="0" smtClean="0"/>
              <a:t>The </a:t>
            </a:r>
            <a:r>
              <a:rPr lang="en-GB" sz="1800" dirty="0"/>
              <a:t>test cases on each side of a boundary should be in the smallest increment possible for the component under test, for an integer this is 1, but if the input was a decimal with 2 places then it would be .01. </a:t>
            </a:r>
            <a:endParaRPr lang="en-GB" sz="1800" dirty="0" smtClean="0"/>
          </a:p>
          <a:p>
            <a:r>
              <a:rPr lang="en-GB" sz="1800" dirty="0" smtClean="0"/>
              <a:t>In </a:t>
            </a:r>
            <a:r>
              <a:rPr lang="en-GB" sz="1800" dirty="0"/>
              <a:t>the example above there are boundary values at 0,1 and 12,13 and each should be tested</a:t>
            </a:r>
            <a:r>
              <a:rPr lang="en-GB" sz="1800" dirty="0" smtClean="0"/>
              <a:t>.</a:t>
            </a:r>
          </a:p>
          <a:p>
            <a:r>
              <a:rPr lang="en-GB" sz="1800" dirty="0"/>
              <a:t>Where a boundary value falls within the invalid partition the test case is designed to ensure the software component handles the value in a controlled manner. </a:t>
            </a:r>
          </a:p>
        </p:txBody>
      </p:sp>
      <p:sp>
        <p:nvSpPr>
          <p:cNvPr id="2" name="Slide Number Placeholder 1"/>
          <p:cNvSpPr>
            <a:spLocks noGrp="1"/>
          </p:cNvSpPr>
          <p:nvPr>
            <p:ph type="sldNum" sz="quarter" idx="12"/>
          </p:nvPr>
        </p:nvSpPr>
        <p:spPr/>
        <p:txBody>
          <a:bodyPr/>
          <a:lstStyle/>
          <a:p>
            <a:fld id="{243F0035-4B67-4B88-B2A0-536AE2AEED21}" type="slidenum">
              <a:rPr lang="en-US" smtClean="0"/>
              <a:pPr/>
              <a:t>11</a:t>
            </a:fld>
            <a:endParaRPr lang="en-US"/>
          </a:p>
        </p:txBody>
      </p:sp>
      <p:pic>
        <p:nvPicPr>
          <p:cNvPr id="3" name="Picture 2"/>
          <p:cNvPicPr>
            <a:picLocks noChangeAspect="1"/>
          </p:cNvPicPr>
          <p:nvPr/>
        </p:nvPicPr>
        <p:blipFill>
          <a:blip r:embed="rId3" cstate="print"/>
          <a:stretch>
            <a:fillRect/>
          </a:stretch>
        </p:blipFill>
        <p:spPr>
          <a:xfrm>
            <a:off x="1524000" y="1524000"/>
            <a:ext cx="5514975" cy="847725"/>
          </a:xfrm>
          <a:prstGeom prst="rect">
            <a:avLst/>
          </a:prstGeom>
        </p:spPr>
      </p:pic>
    </p:spTree>
    <p:extLst>
      <p:ext uri="{BB962C8B-B14F-4D97-AF65-F5344CB8AC3E}">
        <p14:creationId xmlns:p14="http://schemas.microsoft.com/office/powerpoint/2010/main" val="29491527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a:t>… Boundary Value Analysis …</a:t>
            </a:r>
          </a:p>
        </p:txBody>
      </p:sp>
      <p:sp>
        <p:nvSpPr>
          <p:cNvPr id="7" name="Content Placeholder 2"/>
          <p:cNvSpPr>
            <a:spLocks noGrp="1"/>
          </p:cNvSpPr>
          <p:nvPr>
            <p:ph idx="1"/>
          </p:nvPr>
        </p:nvSpPr>
        <p:spPr>
          <a:xfrm>
            <a:off x="304800" y="685800"/>
            <a:ext cx="8229600" cy="457200"/>
          </a:xfrm>
        </p:spPr>
        <p:txBody>
          <a:bodyPr>
            <a:noAutofit/>
          </a:bodyPr>
          <a:lstStyle/>
          <a:p>
            <a:pPr marL="0" indent="0" algn="ctr">
              <a:buNone/>
            </a:pPr>
            <a:r>
              <a:rPr lang="en-GB" sz="2000" b="1" dirty="0" smtClean="0"/>
              <a:t>… Life </a:t>
            </a:r>
            <a:r>
              <a:rPr lang="en-GB" sz="2000" b="1" dirty="0"/>
              <a:t>insurance Premium </a:t>
            </a:r>
            <a:r>
              <a:rPr lang="en-GB" sz="2000" b="1" dirty="0" smtClean="0"/>
              <a:t>Rates …</a:t>
            </a:r>
            <a:endParaRPr lang="en-GB" sz="2000" b="1" dirty="0"/>
          </a:p>
          <a:p>
            <a:endParaRPr lang="en-GB" sz="2000" dirty="0" smtClean="0"/>
          </a:p>
          <a:p>
            <a:endParaRPr lang="en-GB" sz="1800" dirty="0" smtClean="0"/>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12</a:t>
            </a:fld>
            <a:endParaRPr lang="en-US"/>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6400" y="1371600"/>
            <a:ext cx="5486400" cy="2780270"/>
          </a:xfrm>
          <a:prstGeom prst="rect">
            <a:avLst/>
          </a:prstGeom>
        </p:spPr>
      </p:pic>
    </p:spTree>
    <p:extLst>
      <p:ext uri="{BB962C8B-B14F-4D97-AF65-F5344CB8AC3E}">
        <p14:creationId xmlns:p14="http://schemas.microsoft.com/office/powerpoint/2010/main" val="18844039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a:t>… Boundary Value Analysis …</a:t>
            </a:r>
          </a:p>
        </p:txBody>
      </p:sp>
      <p:sp>
        <p:nvSpPr>
          <p:cNvPr id="7" name="Content Placeholder 2"/>
          <p:cNvSpPr>
            <a:spLocks noGrp="1"/>
          </p:cNvSpPr>
          <p:nvPr>
            <p:ph idx="1"/>
          </p:nvPr>
        </p:nvSpPr>
        <p:spPr>
          <a:xfrm>
            <a:off x="304800" y="685800"/>
            <a:ext cx="8229600" cy="457200"/>
          </a:xfrm>
        </p:spPr>
        <p:txBody>
          <a:bodyPr>
            <a:noAutofit/>
          </a:bodyPr>
          <a:lstStyle/>
          <a:p>
            <a:pPr marL="0" indent="0" algn="ctr">
              <a:buNone/>
            </a:pPr>
            <a:r>
              <a:rPr lang="en-GB" sz="2000" b="1" dirty="0" smtClean="0"/>
              <a:t>… Life </a:t>
            </a:r>
            <a:r>
              <a:rPr lang="en-GB" sz="2000" b="1" dirty="0"/>
              <a:t>insurance Premium </a:t>
            </a:r>
            <a:r>
              <a:rPr lang="en-GB" sz="2000" b="1" dirty="0" smtClean="0"/>
              <a:t>Rates …</a:t>
            </a:r>
            <a:endParaRPr lang="en-GB" sz="2000" b="1" dirty="0"/>
          </a:p>
          <a:p>
            <a:endParaRPr lang="en-GB" sz="2000" dirty="0" smtClean="0"/>
          </a:p>
          <a:p>
            <a:endParaRPr lang="en-GB" sz="1800" dirty="0" smtClean="0"/>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13</a:t>
            </a:fld>
            <a:endParaRPr lang="en-US"/>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600" y="1563383"/>
            <a:ext cx="7421011" cy="1457528"/>
          </a:xfrm>
          <a:prstGeom prst="rect">
            <a:avLst/>
          </a:prstGeom>
        </p:spPr>
      </p:pic>
    </p:spTree>
    <p:extLst>
      <p:ext uri="{BB962C8B-B14F-4D97-AF65-F5344CB8AC3E}">
        <p14:creationId xmlns:p14="http://schemas.microsoft.com/office/powerpoint/2010/main" val="317455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 Equivalence Partitioning / Classes – Example …</a:t>
            </a:r>
            <a:endParaRPr lang="en-GB" sz="2800" dirty="0"/>
          </a:p>
        </p:txBody>
      </p:sp>
      <p:sp>
        <p:nvSpPr>
          <p:cNvPr id="7" name="Content Placeholder 2"/>
          <p:cNvSpPr>
            <a:spLocks noGrp="1"/>
          </p:cNvSpPr>
          <p:nvPr>
            <p:ph idx="1"/>
          </p:nvPr>
        </p:nvSpPr>
        <p:spPr>
          <a:xfrm>
            <a:off x="304800" y="685800"/>
            <a:ext cx="8229600" cy="381000"/>
          </a:xfrm>
        </p:spPr>
        <p:txBody>
          <a:bodyPr>
            <a:noAutofit/>
          </a:bodyPr>
          <a:lstStyle/>
          <a:p>
            <a:pPr marL="0" indent="0" algn="ctr">
              <a:buNone/>
            </a:pPr>
            <a:r>
              <a:rPr lang="en-GB" sz="2000" b="1" dirty="0" smtClean="0"/>
              <a:t>… Life </a:t>
            </a:r>
            <a:r>
              <a:rPr lang="en-GB" sz="2000" b="1" dirty="0"/>
              <a:t>insurance Premium </a:t>
            </a:r>
            <a:r>
              <a:rPr lang="en-GB" sz="2000" b="1" dirty="0" smtClean="0"/>
              <a:t>Rates …</a:t>
            </a:r>
            <a:endParaRPr lang="en-GB" sz="2000" b="1" dirty="0"/>
          </a:p>
          <a:p>
            <a:endParaRPr lang="en-GB" sz="1800" dirty="0" smtClean="0"/>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14</a:t>
            </a:fld>
            <a:endParaRPr lang="en-US"/>
          </a:p>
        </p:txBody>
      </p:sp>
      <p:pic>
        <p:nvPicPr>
          <p:cNvPr id="9" name="Picture 8"/>
          <p:cNvPicPr>
            <a:picLocks noChangeAspect="1"/>
          </p:cNvPicPr>
          <p:nvPr/>
        </p:nvPicPr>
        <p:blipFill>
          <a:blip r:embed="rId3" cstate="print"/>
          <a:stretch>
            <a:fillRect/>
          </a:stretch>
        </p:blipFill>
        <p:spPr>
          <a:xfrm>
            <a:off x="20320" y="1447800"/>
            <a:ext cx="9103360" cy="4876800"/>
          </a:xfrm>
          <a:prstGeom prst="rect">
            <a:avLst/>
          </a:prstGeom>
        </p:spPr>
      </p:pic>
    </p:spTree>
    <p:extLst>
      <p:ext uri="{BB962C8B-B14F-4D97-AF65-F5344CB8AC3E}">
        <p14:creationId xmlns:p14="http://schemas.microsoft.com/office/powerpoint/2010/main" val="4974647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 Equivalence Partitioning / Classes – Example …</a:t>
            </a:r>
            <a:endParaRPr lang="en-GB" sz="2800" dirty="0"/>
          </a:p>
        </p:txBody>
      </p:sp>
      <p:sp>
        <p:nvSpPr>
          <p:cNvPr id="7" name="Content Placeholder 2"/>
          <p:cNvSpPr>
            <a:spLocks noGrp="1"/>
          </p:cNvSpPr>
          <p:nvPr>
            <p:ph idx="1"/>
          </p:nvPr>
        </p:nvSpPr>
        <p:spPr>
          <a:xfrm>
            <a:off x="304800" y="685800"/>
            <a:ext cx="8229600" cy="381000"/>
          </a:xfrm>
        </p:spPr>
        <p:txBody>
          <a:bodyPr>
            <a:noAutofit/>
          </a:bodyPr>
          <a:lstStyle/>
          <a:p>
            <a:pPr marL="0" indent="0" algn="ctr">
              <a:buNone/>
            </a:pPr>
            <a:r>
              <a:rPr lang="en-GB" sz="2000" b="1" dirty="0" smtClean="0"/>
              <a:t>… Life </a:t>
            </a:r>
            <a:r>
              <a:rPr lang="en-GB" sz="2000" b="1" dirty="0"/>
              <a:t>insurance Premium </a:t>
            </a:r>
            <a:r>
              <a:rPr lang="en-GB" sz="2000" b="1" dirty="0" smtClean="0"/>
              <a:t>Rates …</a:t>
            </a:r>
            <a:endParaRPr lang="en-GB" sz="2000" b="1" dirty="0"/>
          </a:p>
          <a:p>
            <a:endParaRPr lang="en-GB" sz="1800" dirty="0" smtClean="0"/>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15</a:t>
            </a:fld>
            <a:endParaRPr lang="en-US"/>
          </a:p>
        </p:txBody>
      </p:sp>
      <p:pic>
        <p:nvPicPr>
          <p:cNvPr id="3" name="Picture 2"/>
          <p:cNvPicPr>
            <a:picLocks noChangeAspect="1"/>
          </p:cNvPicPr>
          <p:nvPr/>
        </p:nvPicPr>
        <p:blipFill>
          <a:blip r:embed="rId3" cstate="print"/>
          <a:stretch>
            <a:fillRect/>
          </a:stretch>
        </p:blipFill>
        <p:spPr>
          <a:xfrm>
            <a:off x="54171" y="1600200"/>
            <a:ext cx="9035658" cy="4572000"/>
          </a:xfrm>
          <a:prstGeom prst="rect">
            <a:avLst/>
          </a:prstGeom>
        </p:spPr>
      </p:pic>
    </p:spTree>
    <p:extLst>
      <p:ext uri="{BB962C8B-B14F-4D97-AF65-F5344CB8AC3E}">
        <p14:creationId xmlns:p14="http://schemas.microsoft.com/office/powerpoint/2010/main" val="89127833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983</TotalTime>
  <Words>1217</Words>
  <Application>Microsoft Office PowerPoint</Application>
  <PresentationFormat>On-screen Show (4:3)</PresentationFormat>
  <Paragraphs>208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Wingdings</vt:lpstr>
      <vt:lpstr>Office Theme</vt:lpstr>
      <vt:lpstr>Equivalence Partitioning / Classes</vt:lpstr>
      <vt:lpstr> … Equivalence Partitioning / Classes …</vt:lpstr>
      <vt:lpstr>… Equivalence Partitioning / Classes …</vt:lpstr>
      <vt:lpstr>… Equivalence Partitioning / Classes …</vt:lpstr>
      <vt:lpstr>… Equivalence Partitioning / Classes …</vt:lpstr>
      <vt:lpstr>… Equivalence Partitioning / Classes …</vt:lpstr>
      <vt:lpstr>… Equivalence Partitioning / Classes - Example</vt:lpstr>
      <vt:lpstr>… Equivalence Partitioning / Classes – Example …</vt:lpstr>
      <vt:lpstr>… Equivalence Partitioning / Classes – Example …</vt:lpstr>
      <vt:lpstr>Boundary Value Analysis</vt:lpstr>
      <vt:lpstr>… Boundary Value Analysis …</vt:lpstr>
      <vt:lpstr>… Boundary Value Analysis …</vt:lpstr>
      <vt:lpstr>… Boundary Value Analysis …</vt:lpstr>
      <vt:lpstr>… Equivalence Partitioning / Classes – Example …</vt:lpstr>
      <vt:lpstr>… Equivalence Partitioning / Classes – Example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282</cp:revision>
  <dcterms:created xsi:type="dcterms:W3CDTF">2014-08-12T16:29:38Z</dcterms:created>
  <dcterms:modified xsi:type="dcterms:W3CDTF">2023-10-18T08:49:43Z</dcterms:modified>
</cp:coreProperties>
</file>