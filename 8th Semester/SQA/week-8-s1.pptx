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3" r:id="rId2"/>
    <p:sldId id="273" r:id="rId3"/>
    <p:sldId id="264" r:id="rId4"/>
    <p:sldId id="265" r:id="rId5"/>
    <p:sldId id="275" r:id="rId6"/>
    <p:sldId id="276" r:id="rId7"/>
    <p:sldId id="266" r:id="rId8"/>
    <p:sldId id="271" r:id="rId9"/>
    <p:sldId id="27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7" autoAdjust="0"/>
    <p:restoredTop sz="87092" autoAdjust="0"/>
  </p:normalViewPr>
  <p:slideViewPr>
    <p:cSldViewPr>
      <p:cViewPr varScale="1">
        <p:scale>
          <a:sx n="75" d="100"/>
          <a:sy n="75" d="100"/>
        </p:scale>
        <p:origin x="120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2A68BC-087B-4804-80E7-54E6BF9D6720}" type="datetimeFigureOut">
              <a:rPr lang="en-US" smtClean="0"/>
              <a:t>8/28/2019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53098-A02F-43AC-83B0-8400FDBB11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7065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3358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537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42466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6077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962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3289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5109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654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CA53098-A02F-43AC-83B0-8400FDBB11F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63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F4250-741B-442A-9703-012BAF15BAAC}" type="datetime1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9785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816B4-16E8-4062-88BC-ECA9BFE00428}" type="datetime1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2550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598-E98D-41E9-AC1F-40993110B2E2}" type="datetime1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5726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1D4A01-3715-4476-A057-955DFD278091}" type="datetime1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152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793C02-4A9B-4362-AC6F-20FFF8DED461}" type="datetime1">
              <a:rPr lang="en-US" smtClean="0"/>
              <a:t>8/28/2019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085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A3C571-B71D-45C8-8B1B-35BCC2DA467A}" type="datetime1">
              <a:rPr lang="en-US" smtClean="0"/>
              <a:t>8/28/2019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310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3D478-9CFC-4269-8AE4-00D2F07081AD}" type="datetime1">
              <a:rPr lang="en-US" smtClean="0"/>
              <a:t>8/28/2019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336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C7258-29DB-40D6-BF3F-E918B183B515}" type="datetime1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D29DC-3073-4B54-8EE5-E93562EFCDAC}" type="datetime1">
              <a:rPr lang="en-US" smtClean="0"/>
              <a:t>8/28/2019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448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975A9-2543-49D8-B35B-ED476DA0ED73}" type="datetime1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979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BFD3-FA8E-4E08-91B4-E94DC0FF8BBB}" type="datetime1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64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BFD0B-D7A9-4808-B8C9-44A20956DF29}" type="datetime1">
              <a:rPr lang="en-US" smtClean="0"/>
              <a:t>8/28/2019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3F0035-4B67-4B88-B2A0-536AE2AEED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663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 Transition Testing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State transition testing is used where some aspect of the system can be </a:t>
            </a:r>
            <a:r>
              <a:rPr lang="en-GB" sz="1800" dirty="0" smtClean="0"/>
              <a:t> described </a:t>
            </a:r>
            <a:r>
              <a:rPr lang="en-GB" sz="1800" dirty="0"/>
              <a:t>in what is called a 'finite state machine'. </a:t>
            </a:r>
            <a:endParaRPr lang="en-GB" sz="1800" dirty="0" smtClean="0"/>
          </a:p>
          <a:p>
            <a:r>
              <a:rPr lang="en-GB" sz="1800" dirty="0" smtClean="0"/>
              <a:t>This </a:t>
            </a:r>
            <a:r>
              <a:rPr lang="en-GB" sz="1800" dirty="0"/>
              <a:t>simply means that the </a:t>
            </a:r>
            <a:r>
              <a:rPr lang="en-GB" sz="1800" dirty="0" smtClean="0"/>
              <a:t>system </a:t>
            </a:r>
            <a:r>
              <a:rPr lang="en-GB" sz="1800" dirty="0"/>
              <a:t>can be in a (finite) number of different states, and the transitions from </a:t>
            </a:r>
            <a:r>
              <a:rPr lang="en-GB" sz="1800" dirty="0" smtClean="0"/>
              <a:t>one </a:t>
            </a:r>
            <a:r>
              <a:rPr lang="en-GB" sz="1800" dirty="0"/>
              <a:t>state to another are determined by the rules of the 'machine'. </a:t>
            </a:r>
            <a:endParaRPr lang="en-GB" sz="1800" dirty="0" smtClean="0"/>
          </a:p>
          <a:p>
            <a:r>
              <a:rPr lang="en-GB" sz="1800" dirty="0" smtClean="0"/>
              <a:t>This </a:t>
            </a:r>
            <a:r>
              <a:rPr lang="en-GB" sz="1800" dirty="0"/>
              <a:t>is the </a:t>
            </a:r>
            <a:r>
              <a:rPr lang="en-GB" sz="1800" dirty="0" smtClean="0"/>
              <a:t>model </a:t>
            </a:r>
            <a:r>
              <a:rPr lang="en-GB" sz="1800" dirty="0"/>
              <a:t>on which the system and the tests are based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 </a:t>
            </a:r>
            <a:r>
              <a:rPr lang="en-GB" sz="1800" dirty="0"/>
              <a:t>Any system where you get </a:t>
            </a:r>
            <a:r>
              <a:rPr lang="en-GB" sz="1800" dirty="0" smtClean="0"/>
              <a:t>a </a:t>
            </a:r>
            <a:r>
              <a:rPr lang="en-GB" sz="1800" dirty="0"/>
              <a:t>different output for the same input, depending on what has happened before, </a:t>
            </a:r>
            <a:r>
              <a:rPr lang="en-GB" sz="1800" dirty="0" smtClean="0"/>
              <a:t>is </a:t>
            </a:r>
            <a:r>
              <a:rPr lang="en-GB" sz="1800" dirty="0"/>
              <a:t>a finite state system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A </a:t>
            </a:r>
            <a:r>
              <a:rPr lang="en-GB" sz="1800" dirty="0"/>
              <a:t>finite state system is often shown as a state diagram </a:t>
            </a:r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5404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 Transition </a:t>
            </a:r>
            <a:r>
              <a:rPr lang="en-GB" sz="2800" dirty="0" smtClean="0"/>
              <a:t>Testing …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685800"/>
            <a:ext cx="8229600" cy="6172200"/>
          </a:xfrm>
        </p:spPr>
        <p:txBody>
          <a:bodyPr>
            <a:noAutofit/>
          </a:bodyPr>
          <a:lstStyle/>
          <a:p>
            <a:r>
              <a:rPr lang="en-GB" sz="1800" dirty="0"/>
              <a:t>A state transition model has four basic parts:</a:t>
            </a:r>
          </a:p>
          <a:p>
            <a:pPr lvl="1"/>
            <a:r>
              <a:rPr lang="en-GB" sz="1800" b="1" dirty="0" smtClean="0"/>
              <a:t>the </a:t>
            </a:r>
            <a:r>
              <a:rPr lang="en-GB" sz="1800" b="1" dirty="0"/>
              <a:t>states that the software may occupy (open/closed or funded/insufficient </a:t>
            </a:r>
          </a:p>
          <a:p>
            <a:pPr lvl="1"/>
            <a:r>
              <a:rPr lang="en-GB" sz="1800" b="1" dirty="0"/>
              <a:t>funds); </a:t>
            </a:r>
          </a:p>
          <a:p>
            <a:pPr lvl="1"/>
            <a:r>
              <a:rPr lang="en-GB" sz="1800" b="1" dirty="0" smtClean="0"/>
              <a:t>the </a:t>
            </a:r>
            <a:r>
              <a:rPr lang="en-GB" sz="1800" b="1" dirty="0"/>
              <a:t>transitions from one state to another (not all transitions are allowed); </a:t>
            </a:r>
          </a:p>
          <a:p>
            <a:pPr lvl="1"/>
            <a:r>
              <a:rPr lang="en-GB" sz="1800" b="1" dirty="0" smtClean="0"/>
              <a:t>the </a:t>
            </a:r>
            <a:r>
              <a:rPr lang="en-GB" sz="1800" b="1" dirty="0"/>
              <a:t>events that cause a transition (closing a file or withdrawing money); </a:t>
            </a:r>
          </a:p>
          <a:p>
            <a:pPr lvl="1"/>
            <a:r>
              <a:rPr lang="en-GB" sz="1800" b="1" dirty="0" smtClean="0"/>
              <a:t>the </a:t>
            </a:r>
            <a:r>
              <a:rPr lang="en-GB" sz="1800" b="1" dirty="0"/>
              <a:t>actions that result from a transition (an error message or being given </a:t>
            </a:r>
          </a:p>
          <a:p>
            <a:pPr lvl="1"/>
            <a:r>
              <a:rPr lang="en-GB" sz="1800" b="1" dirty="0"/>
              <a:t>your cash). </a:t>
            </a:r>
          </a:p>
          <a:p>
            <a:r>
              <a:rPr lang="en-GB" sz="1800" dirty="0"/>
              <a:t>Note that in any given state, one event can cause only one action, but that </a:t>
            </a:r>
            <a:r>
              <a:rPr lang="en-GB" sz="1800" dirty="0" smtClean="0"/>
              <a:t>the </a:t>
            </a:r>
            <a:r>
              <a:rPr lang="en-GB" sz="1800" dirty="0"/>
              <a:t>same event - from a different state - may cause a different action and a </a:t>
            </a:r>
            <a:r>
              <a:rPr lang="en-GB" sz="1800" dirty="0" smtClean="0"/>
              <a:t>different </a:t>
            </a:r>
            <a:r>
              <a:rPr lang="en-GB" sz="1800" dirty="0"/>
              <a:t>end state.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2501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 Transition Diagrams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229600" cy="6400800"/>
          </a:xfrm>
        </p:spPr>
        <p:txBody>
          <a:bodyPr>
            <a:noAutofit/>
          </a:bodyPr>
          <a:lstStyle/>
          <a:p>
            <a:r>
              <a:rPr lang="en-GB" sz="1800" dirty="0"/>
              <a:t>A state transition diagram is a representation of the behaviour of a system.</a:t>
            </a:r>
          </a:p>
          <a:p>
            <a:r>
              <a:rPr lang="en-GB" sz="1800" dirty="0"/>
              <a:t>It is made up from just two symbols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The first is                               which </a:t>
            </a:r>
            <a:r>
              <a:rPr lang="en-GB" sz="1800" dirty="0"/>
              <a:t>is the symbol for a state. </a:t>
            </a:r>
            <a:endParaRPr lang="en-GB" sz="1800" dirty="0" smtClean="0"/>
          </a:p>
          <a:p>
            <a:pPr lvl="1"/>
            <a:endParaRPr lang="en-GB" sz="1800" dirty="0" smtClean="0"/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lvl="1"/>
            <a:r>
              <a:rPr lang="en-GB" sz="1800" dirty="0" smtClean="0"/>
              <a:t>A </a:t>
            </a:r>
            <a:r>
              <a:rPr lang="en-GB" sz="1800" dirty="0"/>
              <a:t>state is just what it says it is: the system is </a:t>
            </a:r>
            <a:r>
              <a:rPr lang="en-GB" sz="1800" dirty="0" smtClean="0"/>
              <a:t>‘</a:t>
            </a:r>
            <a:r>
              <a:rPr lang="en-GB" sz="1800" dirty="0"/>
              <a:t>static’, in a stable condition from which it will only change if it is stimulated by </a:t>
            </a:r>
            <a:r>
              <a:rPr lang="en-GB" sz="1800" dirty="0" smtClean="0"/>
              <a:t>an </a:t>
            </a:r>
            <a:r>
              <a:rPr lang="en-GB" sz="1800" dirty="0"/>
              <a:t>event of some kind. </a:t>
            </a:r>
            <a:endParaRPr lang="en-GB" sz="1800" dirty="0" smtClean="0"/>
          </a:p>
          <a:p>
            <a:pPr lvl="1"/>
            <a:r>
              <a:rPr lang="en-GB" sz="1800" dirty="0" smtClean="0"/>
              <a:t>For </a:t>
            </a:r>
            <a:r>
              <a:rPr lang="en-GB" sz="1800" dirty="0"/>
              <a:t>example, a TV stays ‘on’ unless you turn it ‘off’; a </a:t>
            </a:r>
            <a:r>
              <a:rPr lang="en-GB" sz="1800" dirty="0" smtClean="0"/>
              <a:t>multifunction </a:t>
            </a:r>
            <a:r>
              <a:rPr lang="en-GB" sz="1800" dirty="0"/>
              <a:t>watch tells the time unless you change mode</a:t>
            </a:r>
            <a:r>
              <a:rPr lang="en-GB" sz="1800" dirty="0" smtClean="0"/>
              <a:t>.</a:t>
            </a:r>
            <a:endParaRPr lang="en-GB" sz="1400" dirty="0" smtClean="0"/>
          </a:p>
          <a:p>
            <a:r>
              <a:rPr lang="en-GB" sz="1800" dirty="0" smtClean="0"/>
              <a:t>The second is                             which </a:t>
            </a:r>
            <a:r>
              <a:rPr lang="en-GB" sz="1800" dirty="0"/>
              <a:t>is the symbol for a transition, i.e. a change from one state to another. </a:t>
            </a:r>
            <a:endParaRPr lang="en-GB" sz="1800" dirty="0" smtClean="0"/>
          </a:p>
          <a:p>
            <a:r>
              <a:rPr lang="en-GB" sz="1800" dirty="0" smtClean="0"/>
              <a:t>The state </a:t>
            </a:r>
            <a:r>
              <a:rPr lang="en-GB" sz="1800" dirty="0"/>
              <a:t>change will be triggered by an event (e.g. pressing a button or switching </a:t>
            </a:r>
            <a:r>
              <a:rPr lang="en-GB" sz="1800" dirty="0" smtClean="0"/>
              <a:t>a switch).</a:t>
            </a:r>
          </a:p>
          <a:p>
            <a:pPr lvl="1"/>
            <a:r>
              <a:rPr lang="en-GB" sz="1800" dirty="0" smtClean="0"/>
              <a:t>The </a:t>
            </a:r>
            <a:r>
              <a:rPr lang="en-GB" sz="1800" dirty="0"/>
              <a:t>transition will be labelled with the event that caused it and any </a:t>
            </a:r>
            <a:r>
              <a:rPr lang="en-GB" sz="1800" dirty="0" smtClean="0"/>
              <a:t>action that </a:t>
            </a:r>
            <a:r>
              <a:rPr lang="en-GB" sz="1800" dirty="0"/>
              <a:t>arises from it. </a:t>
            </a:r>
            <a:endParaRPr lang="en-GB" sz="1800" dirty="0" smtClean="0"/>
          </a:p>
          <a:p>
            <a:pPr lvl="1"/>
            <a:r>
              <a:rPr lang="en-GB" sz="1800" dirty="0" smtClean="0"/>
              <a:t>So </a:t>
            </a:r>
            <a:r>
              <a:rPr lang="en-GB" sz="1800" dirty="0"/>
              <a:t>we might have ‘mode button pressed’ as an event and </a:t>
            </a:r>
            <a:r>
              <a:rPr lang="en-GB" sz="1800" dirty="0" smtClean="0"/>
              <a:t>‘</a:t>
            </a:r>
            <a:r>
              <a:rPr lang="en-GB" sz="1800" dirty="0"/>
              <a:t>presentation changes’ as the action. </a:t>
            </a:r>
            <a:endParaRPr lang="en-GB" sz="1800" dirty="0" smtClean="0"/>
          </a:p>
          <a:p>
            <a:pPr lvl="1"/>
            <a:r>
              <a:rPr lang="en-GB" sz="1800" dirty="0" smtClean="0"/>
              <a:t>Usually </a:t>
            </a:r>
            <a:r>
              <a:rPr lang="en-GB" sz="1800" dirty="0"/>
              <a:t>(but not necessarily) the start </a:t>
            </a:r>
            <a:r>
              <a:rPr lang="en-GB" sz="1800" dirty="0" smtClean="0"/>
              <a:t>state </a:t>
            </a:r>
            <a:r>
              <a:rPr lang="en-GB" sz="1800" dirty="0"/>
              <a:t>will have a double </a:t>
            </a:r>
            <a:r>
              <a:rPr lang="en-GB" sz="1800" dirty="0" smtClean="0"/>
              <a:t>arrow head </a:t>
            </a:r>
            <a:r>
              <a:rPr lang="en-GB" sz="1800" dirty="0"/>
              <a:t>pointing to it</a:t>
            </a:r>
            <a:r>
              <a:rPr lang="en-GB" sz="1800" dirty="0" smtClean="0"/>
              <a:t>.  </a:t>
            </a:r>
            <a:r>
              <a:rPr lang="en-GB" sz="1800" dirty="0"/>
              <a:t>Often the start state is </a:t>
            </a:r>
            <a:r>
              <a:rPr lang="en-GB" sz="1800" dirty="0" smtClean="0"/>
              <a:t>obvious anyway</a:t>
            </a:r>
            <a:r>
              <a:rPr lang="en-GB" sz="1800" dirty="0"/>
              <a:t>.</a:t>
            </a:r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endParaRPr lang="en-GB" sz="1800" dirty="0" smtClean="0"/>
          </a:p>
          <a:p>
            <a:endParaRPr lang="en-GB" sz="1800" dirty="0"/>
          </a:p>
          <a:p>
            <a:pPr marL="0" indent="0">
              <a:buNone/>
            </a:pPr>
            <a:endParaRPr lang="en-GB" sz="1800" dirty="0"/>
          </a:p>
          <a:p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3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900" y="1219200"/>
            <a:ext cx="1114425" cy="12096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0" y="3619500"/>
            <a:ext cx="1228725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781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State Transition Diagrams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229600" cy="6400800"/>
          </a:xfrm>
        </p:spPr>
        <p:txBody>
          <a:bodyPr>
            <a:noAutofit/>
          </a:bodyPr>
          <a:lstStyle/>
          <a:p>
            <a:r>
              <a:rPr lang="en-GB" sz="1800" b="1" dirty="0"/>
              <a:t>If we have a state transition diagram representation of a system we can </a:t>
            </a:r>
            <a:r>
              <a:rPr lang="en-GB" sz="1800" b="1" dirty="0" smtClean="0"/>
              <a:t>analyse the </a:t>
            </a:r>
            <a:r>
              <a:rPr lang="en-GB" sz="1800" b="1" dirty="0"/>
              <a:t>behaviour in terms of what happens when a transition occurs. </a:t>
            </a:r>
          </a:p>
          <a:p>
            <a:r>
              <a:rPr lang="en-GB" sz="1800" b="1" dirty="0"/>
              <a:t>Transitions are caused by events </a:t>
            </a:r>
            <a:r>
              <a:rPr lang="en-GB" sz="1800" dirty="0"/>
              <a:t>and </a:t>
            </a:r>
            <a:r>
              <a:rPr lang="en-GB" sz="1800" b="1" dirty="0"/>
              <a:t>they may generate outputs and/or </a:t>
            </a:r>
            <a:r>
              <a:rPr lang="en-GB" sz="1800" b="1" dirty="0" smtClean="0"/>
              <a:t>changes of </a:t>
            </a:r>
            <a:r>
              <a:rPr lang="en-GB" sz="1800" b="1" dirty="0"/>
              <a:t>state. </a:t>
            </a:r>
            <a:endParaRPr lang="en-GB" sz="1800" b="1" dirty="0" smtClean="0"/>
          </a:p>
          <a:p>
            <a:r>
              <a:rPr lang="en-GB" sz="1800" b="1" dirty="0" smtClean="0"/>
              <a:t>An </a:t>
            </a:r>
            <a:r>
              <a:rPr lang="en-GB" sz="1800" b="1" dirty="0"/>
              <a:t>event is anything that acts as a trigger for a change; it could be </a:t>
            </a:r>
            <a:r>
              <a:rPr lang="en-GB" sz="1800" b="1" dirty="0" smtClean="0"/>
              <a:t>an input </a:t>
            </a:r>
            <a:r>
              <a:rPr lang="en-GB" sz="1800" b="1" dirty="0"/>
              <a:t>to the system, or it could be something inside the system that changes </a:t>
            </a:r>
            <a:r>
              <a:rPr lang="en-GB" sz="1800" b="1" dirty="0" smtClean="0"/>
              <a:t>for some </a:t>
            </a:r>
            <a:r>
              <a:rPr lang="en-GB" sz="1800" b="1" dirty="0"/>
              <a:t>reason, such as a database field being updated. </a:t>
            </a:r>
          </a:p>
          <a:p>
            <a:pPr lvl="1"/>
            <a:r>
              <a:rPr lang="en-GB" sz="1800" b="1" dirty="0"/>
              <a:t>In some cases an event generates an output</a:t>
            </a:r>
            <a:r>
              <a:rPr lang="en-GB" sz="1800" b="1" dirty="0" smtClean="0"/>
              <a:t>,</a:t>
            </a:r>
          </a:p>
          <a:p>
            <a:pPr lvl="1"/>
            <a:r>
              <a:rPr lang="en-GB" sz="1800" b="1" dirty="0" smtClean="0"/>
              <a:t>in </a:t>
            </a:r>
            <a:r>
              <a:rPr lang="en-GB" sz="1800" b="1" dirty="0"/>
              <a:t>others the event changes </a:t>
            </a:r>
            <a:r>
              <a:rPr lang="en-GB" sz="1800" b="1" dirty="0" smtClean="0"/>
              <a:t>the  system’s </a:t>
            </a:r>
            <a:r>
              <a:rPr lang="en-GB" sz="1800" b="1" dirty="0"/>
              <a:t>internal state without generating an output, </a:t>
            </a:r>
            <a:endParaRPr lang="en-GB" sz="1800" b="1" dirty="0" smtClean="0"/>
          </a:p>
          <a:p>
            <a:pPr lvl="1"/>
            <a:r>
              <a:rPr lang="en-GB" sz="1800" b="1" dirty="0" smtClean="0"/>
              <a:t>and </a:t>
            </a:r>
            <a:r>
              <a:rPr lang="en-GB" sz="1800" b="1" dirty="0"/>
              <a:t>in still others an </a:t>
            </a:r>
            <a:r>
              <a:rPr lang="en-GB" sz="1800" b="1" dirty="0" smtClean="0"/>
              <a:t>event may </a:t>
            </a:r>
            <a:r>
              <a:rPr lang="en-GB" sz="1800" b="1" dirty="0"/>
              <a:t>cause an output and a change of state. </a:t>
            </a:r>
            <a:endParaRPr lang="en-GB" sz="1800" b="1" dirty="0" smtClean="0"/>
          </a:p>
          <a:p>
            <a:r>
              <a:rPr lang="en-GB" sz="1800" b="1" dirty="0" smtClean="0"/>
              <a:t>What </a:t>
            </a:r>
            <a:r>
              <a:rPr lang="en-GB" sz="1800" b="1" dirty="0"/>
              <a:t>happens for each change is </a:t>
            </a:r>
            <a:r>
              <a:rPr lang="en-GB" sz="1800" b="1" dirty="0" smtClean="0"/>
              <a:t>always </a:t>
            </a:r>
            <a:r>
              <a:rPr lang="en-GB" sz="1800" b="1" dirty="0"/>
              <a:t>deducible from the state transition diagram.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8158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State Transition </a:t>
            </a:r>
            <a:r>
              <a:rPr lang="en-GB" sz="2800" dirty="0" smtClean="0"/>
              <a:t>Diagrams – Example 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5</a:t>
            </a:fld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28600" y="1347787"/>
            <a:ext cx="8800362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706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… State Transition </a:t>
            </a:r>
            <a:r>
              <a:rPr lang="en-GB" sz="2800" dirty="0" smtClean="0"/>
              <a:t>Diagrams – Deriving Test Cases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229600" cy="6400800"/>
          </a:xfrm>
        </p:spPr>
        <p:txBody>
          <a:bodyPr>
            <a:noAutofit/>
          </a:bodyPr>
          <a:lstStyle/>
          <a:p>
            <a:r>
              <a:rPr lang="en-GB" sz="1800" dirty="0"/>
              <a:t>this state diagram, even though it is incomplete, still gives us </a:t>
            </a:r>
            <a:r>
              <a:rPr lang="en-GB" sz="1800" dirty="0" smtClean="0"/>
              <a:t>information </a:t>
            </a:r>
            <a:r>
              <a:rPr lang="en-GB" sz="1800" dirty="0"/>
              <a:t>on which to design some useful tests and to explain the state transition </a:t>
            </a:r>
            <a:r>
              <a:rPr lang="en-GB" sz="1800" dirty="0" smtClean="0"/>
              <a:t>technique.</a:t>
            </a:r>
          </a:p>
          <a:p>
            <a:r>
              <a:rPr lang="en-GB" sz="1800" dirty="0"/>
              <a:t>In deriving test cases, we may start with a typical scenario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A sensible first </a:t>
            </a:r>
            <a:r>
              <a:rPr lang="en-GB" sz="1800" dirty="0" smtClean="0"/>
              <a:t>test </a:t>
            </a:r>
            <a:r>
              <a:rPr lang="en-GB" sz="1800" dirty="0"/>
              <a:t>case here would be the normal situation, where the correct PIN is entered </a:t>
            </a:r>
            <a:r>
              <a:rPr lang="en-GB" sz="1800" dirty="0" smtClean="0"/>
              <a:t>the </a:t>
            </a:r>
            <a:r>
              <a:rPr lang="en-GB" sz="1800" dirty="0"/>
              <a:t>first time. </a:t>
            </a:r>
            <a:endParaRPr lang="en-GB" sz="1800" dirty="0" smtClean="0"/>
          </a:p>
          <a:p>
            <a:r>
              <a:rPr lang="en-GB" sz="1800" dirty="0"/>
              <a:t>To be more thorough, we may want to make sure that we cover </a:t>
            </a:r>
            <a:r>
              <a:rPr lang="en-GB" sz="1800" dirty="0" smtClean="0"/>
              <a:t>every </a:t>
            </a:r>
            <a:r>
              <a:rPr lang="en-GB" sz="1800" dirty="0"/>
              <a:t>state (i.e. at least one test goes through each state) or we may want to </a:t>
            </a:r>
            <a:r>
              <a:rPr lang="en-GB" sz="1800" dirty="0" smtClean="0"/>
              <a:t>cover </a:t>
            </a:r>
            <a:r>
              <a:rPr lang="en-GB" sz="1800" dirty="0"/>
              <a:t>every transition. </a:t>
            </a:r>
            <a:endParaRPr lang="en-GB" sz="1800" dirty="0" smtClean="0"/>
          </a:p>
          <a:p>
            <a:r>
              <a:rPr lang="en-GB" sz="1800" dirty="0"/>
              <a:t>A second test (to visit every state) would be to enter an </a:t>
            </a:r>
            <a:r>
              <a:rPr lang="en-GB" sz="1800" dirty="0" smtClean="0"/>
              <a:t>incorrect </a:t>
            </a:r>
            <a:r>
              <a:rPr lang="en-GB" sz="1800" dirty="0"/>
              <a:t>PIN each time, so that the system eats the card. </a:t>
            </a:r>
            <a:endParaRPr lang="en-GB" sz="1800" dirty="0" smtClean="0"/>
          </a:p>
          <a:p>
            <a:r>
              <a:rPr lang="en-GB" sz="1800" dirty="0"/>
              <a:t>We still haven't tested </a:t>
            </a:r>
            <a:r>
              <a:rPr lang="en-GB" sz="1800" dirty="0" smtClean="0"/>
              <a:t>every </a:t>
            </a:r>
            <a:r>
              <a:rPr lang="en-GB" sz="1800" dirty="0"/>
              <a:t>transition yet. In order to do that, we would want a test where the PIN </a:t>
            </a:r>
            <a:r>
              <a:rPr lang="en-GB" sz="1800" dirty="0" smtClean="0"/>
              <a:t>was </a:t>
            </a:r>
            <a:r>
              <a:rPr lang="en-GB" sz="1800" dirty="0"/>
              <a:t>incorrect the first time but OK the second time, and another test where the </a:t>
            </a:r>
            <a:r>
              <a:rPr lang="en-GB" sz="1800" dirty="0" smtClean="0"/>
              <a:t>PIN </a:t>
            </a:r>
            <a:r>
              <a:rPr lang="en-GB" sz="1800" dirty="0"/>
              <a:t>was correct on the third try. These tests are probably less important than </a:t>
            </a:r>
            <a:r>
              <a:rPr lang="en-GB" sz="1800" dirty="0" smtClean="0"/>
              <a:t>the </a:t>
            </a:r>
            <a:r>
              <a:rPr lang="en-GB" sz="1800" dirty="0"/>
              <a:t>first two</a:t>
            </a:r>
            <a:r>
              <a:rPr lang="en-GB" sz="1800" dirty="0" smtClean="0"/>
              <a:t>.</a:t>
            </a:r>
          </a:p>
          <a:p>
            <a:r>
              <a:rPr lang="en-GB" sz="1800" dirty="0"/>
              <a:t>Test conditions can be derived from the state graph in various ways. </a:t>
            </a:r>
            <a:endParaRPr lang="en-GB" sz="1800" dirty="0" smtClean="0"/>
          </a:p>
          <a:p>
            <a:r>
              <a:rPr lang="en-GB" sz="1800" dirty="0" smtClean="0"/>
              <a:t>Each state </a:t>
            </a:r>
            <a:r>
              <a:rPr lang="en-GB" sz="1800" dirty="0"/>
              <a:t>can be noted as a test condition, as can each transition. </a:t>
            </a:r>
            <a:endParaRPr lang="en-GB" sz="1800" dirty="0" smtClean="0"/>
          </a:p>
          <a:p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598550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 Table (ST) - Deriving </a:t>
            </a:r>
            <a:r>
              <a:rPr lang="en-GB" sz="2800" dirty="0"/>
              <a:t>Negative Test cases</a:t>
            </a:r>
            <a:endParaRPr lang="en-GB" sz="2800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229600" cy="6400800"/>
          </a:xfrm>
        </p:spPr>
        <p:txBody>
          <a:bodyPr>
            <a:noAutofit/>
          </a:bodyPr>
          <a:lstStyle/>
          <a:p>
            <a:r>
              <a:rPr lang="en-GB" sz="1800" dirty="0"/>
              <a:t>Deriving tests only from a state graph (also known as a state chart) is very </a:t>
            </a:r>
            <a:r>
              <a:rPr lang="en-GB" sz="1800" dirty="0" smtClean="0"/>
              <a:t>good for </a:t>
            </a:r>
            <a:r>
              <a:rPr lang="en-GB" sz="1800" dirty="0"/>
              <a:t>seeing the valid transitions, but we may not easily see the negative </a:t>
            </a:r>
            <a:r>
              <a:rPr lang="en-GB" sz="1800" dirty="0" smtClean="0"/>
              <a:t>tests, where </a:t>
            </a:r>
            <a:r>
              <a:rPr lang="en-GB" sz="1800" dirty="0"/>
              <a:t>we try to generate invalid transitions. In order to see the total number </a:t>
            </a:r>
            <a:r>
              <a:rPr lang="en-GB" sz="1800" dirty="0" smtClean="0"/>
              <a:t>of combinations </a:t>
            </a:r>
            <a:r>
              <a:rPr lang="en-GB" sz="1800" dirty="0"/>
              <a:t>of states and transitions, both valid and invalid, a state table </a:t>
            </a:r>
            <a:r>
              <a:rPr lang="en-GB" sz="1800" dirty="0" smtClean="0"/>
              <a:t>is useful</a:t>
            </a:r>
            <a:r>
              <a:rPr lang="en-GB" sz="1800" dirty="0"/>
              <a:t>.</a:t>
            </a:r>
          </a:p>
          <a:p>
            <a:r>
              <a:rPr lang="en-GB" sz="1800" dirty="0"/>
              <a:t>The state table lists all the states down one side of the table and all the events </a:t>
            </a:r>
            <a:r>
              <a:rPr lang="en-GB" sz="1800" dirty="0" smtClean="0"/>
              <a:t> that </a:t>
            </a:r>
            <a:r>
              <a:rPr lang="en-GB" sz="1800" dirty="0"/>
              <a:t>cause transitions along the top (or vice versa). </a:t>
            </a:r>
            <a:endParaRPr lang="en-GB" sz="1800" dirty="0" smtClean="0"/>
          </a:p>
          <a:p>
            <a:r>
              <a:rPr lang="en-GB" sz="1800" dirty="0" smtClean="0"/>
              <a:t>Each </a:t>
            </a:r>
            <a:r>
              <a:rPr lang="en-GB" sz="1800" dirty="0"/>
              <a:t>cell then represents a </a:t>
            </a:r>
            <a:r>
              <a:rPr lang="en-GB" sz="1800" dirty="0" smtClean="0"/>
              <a:t> state-event </a:t>
            </a:r>
            <a:r>
              <a:rPr lang="en-GB" sz="1800" dirty="0"/>
              <a:t>pair. The content of each cell indicates which state the system will </a:t>
            </a:r>
            <a:r>
              <a:rPr lang="en-GB" sz="1800" dirty="0" smtClean="0"/>
              <a:t> move </a:t>
            </a:r>
            <a:r>
              <a:rPr lang="en-GB" sz="1800" dirty="0"/>
              <a:t>to, when the corresponding event occurs while in the associated state. </a:t>
            </a:r>
          </a:p>
          <a:p>
            <a:r>
              <a:rPr lang="en-GB" sz="1800" dirty="0"/>
              <a:t>This will include possible erroneous events - events that are not expected to </a:t>
            </a:r>
            <a:r>
              <a:rPr lang="en-GB" sz="1800" dirty="0" smtClean="0"/>
              <a:t>happen </a:t>
            </a:r>
            <a:r>
              <a:rPr lang="en-GB" sz="1800" dirty="0"/>
              <a:t>in certain states. </a:t>
            </a:r>
            <a:endParaRPr lang="en-GB" sz="1800" dirty="0" smtClean="0"/>
          </a:p>
          <a:p>
            <a:r>
              <a:rPr lang="en-GB" sz="1800" dirty="0" smtClean="0"/>
              <a:t>These </a:t>
            </a:r>
            <a:r>
              <a:rPr lang="en-GB" sz="1800" dirty="0"/>
              <a:t>are negative test conditions.</a:t>
            </a:r>
            <a:endParaRPr lang="en-GB" sz="1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8961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 smtClean="0"/>
              <a:t>State Table (ST) - Example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8</a:t>
            </a:fld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685800"/>
            <a:ext cx="8154456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418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549275"/>
          </a:xfrm>
        </p:spPr>
        <p:txBody>
          <a:bodyPr>
            <a:noAutofit/>
          </a:bodyPr>
          <a:lstStyle/>
          <a:p>
            <a:r>
              <a:rPr lang="en-GB" sz="2800" dirty="0"/>
              <a:t>State Table (ST) </a:t>
            </a:r>
            <a:r>
              <a:rPr lang="en-GB" sz="2800" dirty="0" smtClean="0"/>
              <a:t>– Example</a:t>
            </a:r>
            <a:endParaRPr lang="en-GB" sz="2800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3F0035-4B67-4B88-B2A0-536AE2AEED21}" type="slidenum">
              <a:rPr lang="en-US" smtClean="0"/>
              <a:t>9</a:t>
            </a:fld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9600" y="457200"/>
            <a:ext cx="8229600" cy="6400800"/>
          </a:xfrm>
        </p:spPr>
        <p:txBody>
          <a:bodyPr>
            <a:noAutofit/>
          </a:bodyPr>
          <a:lstStyle/>
          <a:p>
            <a:r>
              <a:rPr lang="en-GB" sz="1800" dirty="0" smtClean="0"/>
              <a:t>Example lists </a:t>
            </a:r>
            <a:r>
              <a:rPr lang="en-GB" sz="1800" dirty="0"/>
              <a:t>the states in the first column and the possible inputs across the </a:t>
            </a:r>
            <a:r>
              <a:rPr lang="en-GB" sz="1800" dirty="0" smtClean="0"/>
              <a:t> top </a:t>
            </a:r>
            <a:r>
              <a:rPr lang="en-GB" sz="1800" dirty="0"/>
              <a:t>row. </a:t>
            </a:r>
            <a:endParaRPr lang="en-GB" sz="1800" dirty="0" smtClean="0"/>
          </a:p>
          <a:p>
            <a:r>
              <a:rPr lang="en-GB" sz="1800" dirty="0" smtClean="0"/>
              <a:t>So</a:t>
            </a:r>
            <a:r>
              <a:rPr lang="en-GB" sz="1800" dirty="0"/>
              <a:t>, for example, if the system is in State 1, inserting a card will take </a:t>
            </a:r>
            <a:r>
              <a:rPr lang="en-GB" sz="1800" dirty="0" smtClean="0"/>
              <a:t>it to </a:t>
            </a:r>
            <a:r>
              <a:rPr lang="en-GB" sz="1800" dirty="0"/>
              <a:t>State 2</a:t>
            </a:r>
            <a:r>
              <a:rPr lang="en-GB" sz="1800" dirty="0" smtClean="0"/>
              <a:t>.</a:t>
            </a:r>
          </a:p>
          <a:p>
            <a:r>
              <a:rPr lang="en-GB" sz="1800" dirty="0" smtClean="0"/>
              <a:t> </a:t>
            </a:r>
            <a:r>
              <a:rPr lang="en-GB" sz="1800" dirty="0"/>
              <a:t>If we are in State 2, and a valid PIN is entered, we go to State 6 </a:t>
            </a:r>
            <a:r>
              <a:rPr lang="en-GB" sz="1800" dirty="0" smtClean="0"/>
              <a:t>to access </a:t>
            </a:r>
            <a:r>
              <a:rPr lang="en-GB" sz="1800" dirty="0"/>
              <a:t>the account. </a:t>
            </a:r>
            <a:endParaRPr lang="en-GB" sz="1800" dirty="0" smtClean="0"/>
          </a:p>
          <a:p>
            <a:r>
              <a:rPr lang="en-GB" sz="1800" dirty="0" smtClean="0"/>
              <a:t>In </a:t>
            </a:r>
            <a:r>
              <a:rPr lang="en-GB" sz="1800" dirty="0"/>
              <a:t>State 2 if we enter an invalid PIN, we go to State 3. </a:t>
            </a:r>
            <a:endParaRPr lang="en-GB" sz="1800" dirty="0" smtClean="0"/>
          </a:p>
          <a:p>
            <a:r>
              <a:rPr lang="en-GB" sz="1800" dirty="0" smtClean="0"/>
              <a:t>We have </a:t>
            </a:r>
            <a:r>
              <a:rPr lang="en-GB" sz="1800" dirty="0"/>
              <a:t>put a dash in the cells that should be impossible, i.e. they represent invalid </a:t>
            </a:r>
            <a:r>
              <a:rPr lang="en-GB" sz="1800" dirty="0" smtClean="0"/>
              <a:t>transitions </a:t>
            </a:r>
            <a:r>
              <a:rPr lang="en-GB" sz="1800" dirty="0"/>
              <a:t>from that state.</a:t>
            </a:r>
          </a:p>
          <a:p>
            <a:r>
              <a:rPr lang="en-GB" sz="1800" dirty="0"/>
              <a:t>We have put a question mark for two cells, where we enter either a valid or </a:t>
            </a:r>
            <a:r>
              <a:rPr lang="en-GB" sz="1800" dirty="0" smtClean="0"/>
              <a:t> invalid </a:t>
            </a:r>
            <a:r>
              <a:rPr lang="en-GB" sz="1800" dirty="0"/>
              <a:t>PIN when we are accessing the account. </a:t>
            </a:r>
            <a:endParaRPr lang="en-GB" sz="1800" dirty="0" smtClean="0"/>
          </a:p>
          <a:p>
            <a:r>
              <a:rPr lang="en-GB" sz="1800" dirty="0" smtClean="0"/>
              <a:t>Perhaps </a:t>
            </a:r>
            <a:r>
              <a:rPr lang="en-GB" sz="1800" dirty="0"/>
              <a:t>the system will take </a:t>
            </a:r>
            <a:r>
              <a:rPr lang="en-GB" sz="1800" dirty="0" smtClean="0"/>
              <a:t>our </a:t>
            </a:r>
            <a:r>
              <a:rPr lang="en-GB" sz="1800" dirty="0"/>
              <a:t>PIN number as the amount of cash to withdraw? It might be a good test! </a:t>
            </a:r>
          </a:p>
          <a:p>
            <a:r>
              <a:rPr lang="en-GB" sz="1800" dirty="0"/>
              <a:t>Most of the other invalid cells would be physically impossible in this example. </a:t>
            </a:r>
          </a:p>
          <a:p>
            <a:r>
              <a:rPr lang="en-GB" sz="1800" dirty="0"/>
              <a:t>Invalid (negative) tests will attempt to generate invalid transitions, transitions </a:t>
            </a:r>
            <a:r>
              <a:rPr lang="en-GB" sz="1800" dirty="0" smtClean="0"/>
              <a:t>that </a:t>
            </a:r>
            <a:r>
              <a:rPr lang="en-GB" sz="1800" dirty="0"/>
              <a:t>shouldn't be possible (but often make good tests when it turns out they </a:t>
            </a:r>
            <a:r>
              <a:rPr lang="en-GB" sz="1800" dirty="0" smtClean="0"/>
              <a:t>are possible</a:t>
            </a:r>
            <a:r>
              <a:rPr lang="en-GB" sz="1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106490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1334</TotalTime>
  <Words>1191</Words>
  <Application>Microsoft Office PowerPoint</Application>
  <PresentationFormat>On-screen Show (4:3)</PresentationFormat>
  <Paragraphs>89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State Transition Testing</vt:lpstr>
      <vt:lpstr>State Transition Testing …</vt:lpstr>
      <vt:lpstr>State Transition Diagrams</vt:lpstr>
      <vt:lpstr>… State Transition Diagrams</vt:lpstr>
      <vt:lpstr>… State Transition Diagrams – Example </vt:lpstr>
      <vt:lpstr>… State Transition Diagrams – Deriving Test Cases</vt:lpstr>
      <vt:lpstr>State Table (ST) - Deriving Negative Test cases</vt:lpstr>
      <vt:lpstr>State Table (ST) - Example</vt:lpstr>
      <vt:lpstr>State Table (ST) – Example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Analysis</dc:title>
  <dc:creator>gulraiz</dc:creator>
  <cp:lastModifiedBy>Windows User</cp:lastModifiedBy>
  <cp:revision>330</cp:revision>
  <dcterms:created xsi:type="dcterms:W3CDTF">2014-08-12T16:29:38Z</dcterms:created>
  <dcterms:modified xsi:type="dcterms:W3CDTF">2019-08-28T05:18:22Z</dcterms:modified>
</cp:coreProperties>
</file>