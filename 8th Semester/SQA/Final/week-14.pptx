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2" r:id="rId2"/>
    <p:sldId id="284" r:id="rId3"/>
    <p:sldId id="263" r:id="rId4"/>
    <p:sldId id="264" r:id="rId5"/>
    <p:sldId id="266" r:id="rId6"/>
    <p:sldId id="267" r:id="rId7"/>
    <p:sldId id="281" r:id="rId8"/>
    <p:sldId id="282" r:id="rId9"/>
    <p:sldId id="283" r:id="rId10"/>
    <p:sldId id="268" r:id="rId11"/>
    <p:sldId id="277" r:id="rId12"/>
    <p:sldId id="278" r:id="rId13"/>
    <p:sldId id="279" r:id="rId14"/>
    <p:sldId id="280" r:id="rId15"/>
    <p:sldId id="269" r:id="rId16"/>
    <p:sldId id="274" r:id="rId17"/>
    <p:sldId id="275" r:id="rId18"/>
    <p:sldId id="276" r:id="rId19"/>
    <p:sldId id="270" r:id="rId20"/>
    <p:sldId id="271" r:id="rId21"/>
    <p:sldId id="272" r:id="rId22"/>
    <p:sldId id="273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66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A68BC-087B-4804-80E7-54E6BF9D6720}" type="datetimeFigureOut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53098-A02F-43AC-83B0-8400FDBB11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0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4250-741B-442A-9703-012BAF15BA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816B4-16E8-4062-88BC-ECA9BFE00428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598-E98D-41E9-AC1F-40993110B2E2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4A01-3715-4476-A057-955DFD27809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3C02-4A9B-4362-AC6F-20FFF8DED46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3C571-B71D-45C8-8B1B-35BCC2DA467A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1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D478-9CFC-4269-8AE4-00D2F07081AD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7258-29DB-40D6-BF3F-E918B183B515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D29DC-3073-4B54-8EE5-E93562EFCD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975A9-2543-49D8-B35B-ED476DA0ED73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BFD3-FA8E-4E08-91B4-E94DC0FF8BBB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BFD0B-D7A9-4808-B8C9-44A20956DF29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243F0035-4B67-4B88-B2A0-536AE2AEED2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11F3346B-A340-42AA-BA33-0DABD69A99CA}"/>
              </a:ext>
            </a:extLst>
          </p:cNvPr>
          <p:cNvSpPr txBox="1">
            <a:spLocks/>
          </p:cNvSpPr>
          <p:nvPr/>
        </p:nvSpPr>
        <p:spPr>
          <a:xfrm>
            <a:off x="165942" y="1981200"/>
            <a:ext cx="8825658" cy="2016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CS-468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Software Quality Assurance &amp; Testing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xmlns="" id="{726CA34A-B113-49BC-A1A5-0573BEE18E05}"/>
              </a:ext>
            </a:extLst>
          </p:cNvPr>
          <p:cNvSpPr txBox="1">
            <a:spLocks/>
          </p:cNvSpPr>
          <p:nvPr/>
        </p:nvSpPr>
        <p:spPr>
          <a:xfrm>
            <a:off x="0" y="396240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Week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14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12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Testing Maturity Model </a:t>
            </a:r>
            <a:r>
              <a:rPr lang="en-GB" sz="2800" dirty="0"/>
              <a:t>(</a:t>
            </a:r>
            <a:r>
              <a:rPr lang="en-GB" sz="2800" dirty="0" smtClean="0"/>
              <a:t>TMM)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 smtClean="0"/>
              <a:t>By </a:t>
            </a:r>
            <a:r>
              <a:rPr lang="en-GB" sz="1800" dirty="0"/>
              <a:t>recognizing the importance of testing as a distinct process—much different from an overall process for software development—a separate model, known as a testing maturity model (TMM), has been developed to evaluate a testing process.</a:t>
            </a:r>
          </a:p>
          <a:p>
            <a:r>
              <a:rPr lang="en-GB" sz="1800" dirty="0" smtClean="0"/>
              <a:t>The </a:t>
            </a:r>
            <a:r>
              <a:rPr lang="en-GB" sz="1800" dirty="0"/>
              <a:t>TMM describes an evolutionary path of test process maturity in five levels, or stages</a:t>
            </a:r>
            <a:r>
              <a:rPr lang="en-GB" sz="1800" dirty="0" smtClean="0"/>
              <a:t>.</a:t>
            </a:r>
          </a:p>
          <a:p>
            <a:endParaRPr lang="en-GB" sz="1800" dirty="0"/>
          </a:p>
          <a:p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Testing </a:t>
            </a:r>
            <a:r>
              <a:rPr lang="en-GB" sz="2800" dirty="0"/>
              <a:t>Maturity Model (TMM</a:t>
            </a:r>
            <a:r>
              <a:rPr lang="en-GB" sz="2800" dirty="0" smtClean="0"/>
              <a:t>)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endParaRPr lang="en-GB" sz="1800" dirty="0"/>
          </a:p>
          <a:p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112" y="609600"/>
            <a:ext cx="5057775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4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The TMM gives guidance concerning how to improve a test process. </a:t>
            </a:r>
          </a:p>
          <a:p>
            <a:r>
              <a:rPr lang="en-GB" sz="1800" dirty="0"/>
              <a:t>Each stage is characterized by the concepts of maturity goals, supporting maturity goals, and activities, tasks, and </a:t>
            </a:r>
            <a:r>
              <a:rPr lang="en-GB" sz="1800" dirty="0" smtClean="0"/>
              <a:t>responsibilities (ATRs</a:t>
            </a:r>
            <a:r>
              <a:rPr lang="en-GB" sz="1800" dirty="0"/>
              <a:t>), as explained in the following</a:t>
            </a:r>
            <a:r>
              <a:rPr lang="en-GB" sz="1800" dirty="0" smtClean="0"/>
              <a:t>:</a:t>
            </a:r>
          </a:p>
          <a:p>
            <a:r>
              <a:rPr lang="en-GB" sz="2400" b="1" dirty="0"/>
              <a:t>Maturity Goals: </a:t>
            </a:r>
            <a:endParaRPr lang="en-GB" sz="2400" b="1" dirty="0" smtClean="0"/>
          </a:p>
          <a:p>
            <a:pPr lvl="1"/>
            <a:r>
              <a:rPr lang="en-GB" sz="1600" dirty="0" smtClean="0"/>
              <a:t>Each </a:t>
            </a:r>
            <a:r>
              <a:rPr lang="en-GB" sz="1600" dirty="0"/>
              <a:t>maturity level, except level 1, contains </a:t>
            </a:r>
            <a:r>
              <a:rPr lang="en-GB" sz="1600" dirty="0" smtClean="0"/>
              <a:t>certain maturity </a:t>
            </a:r>
            <a:r>
              <a:rPr lang="en-GB" sz="1600" dirty="0"/>
              <a:t>goals. </a:t>
            </a:r>
            <a:endParaRPr lang="en-GB" sz="1600" dirty="0" smtClean="0"/>
          </a:p>
          <a:p>
            <a:pPr lvl="1"/>
            <a:r>
              <a:rPr lang="en-GB" sz="1600" dirty="0" smtClean="0"/>
              <a:t>For </a:t>
            </a:r>
            <a:r>
              <a:rPr lang="en-GB" sz="1600" dirty="0"/>
              <a:t>an organization to achieve a certain level of </a:t>
            </a:r>
            <a:r>
              <a:rPr lang="en-GB" sz="1600" dirty="0" smtClean="0"/>
              <a:t>maturity, the </a:t>
            </a:r>
            <a:r>
              <a:rPr lang="en-GB" sz="1600" dirty="0"/>
              <a:t>corresponding maturity goals must be met by the organization.</a:t>
            </a:r>
          </a:p>
          <a:p>
            <a:pPr lvl="1"/>
            <a:r>
              <a:rPr lang="en-GB" sz="1600" dirty="0"/>
              <a:t>The maturity goals are specified in terms of testing improvement goals.</a:t>
            </a:r>
          </a:p>
          <a:p>
            <a:r>
              <a:rPr lang="en-GB" sz="1600" b="1" dirty="0" smtClean="0"/>
              <a:t>Maturity Sub-goals</a:t>
            </a:r>
            <a:r>
              <a:rPr lang="en-GB" sz="1600" b="1" dirty="0"/>
              <a:t>: </a:t>
            </a:r>
            <a:endParaRPr lang="en-GB" sz="1600" b="1" dirty="0" smtClean="0"/>
          </a:p>
          <a:p>
            <a:pPr lvl="1"/>
            <a:r>
              <a:rPr lang="en-GB" sz="1600" dirty="0" smtClean="0"/>
              <a:t>Maturity </a:t>
            </a:r>
            <a:r>
              <a:rPr lang="en-GB" sz="1600" dirty="0"/>
              <a:t>goals are supported by maturity </a:t>
            </a:r>
            <a:r>
              <a:rPr lang="en-GB" sz="1600" dirty="0" smtClean="0"/>
              <a:t>sub-goals.</a:t>
            </a:r>
          </a:p>
          <a:p>
            <a:pPr lvl="1"/>
            <a:r>
              <a:rPr lang="en-GB" sz="1600" dirty="0" smtClean="0"/>
              <a:t>To achieve </a:t>
            </a:r>
            <a:r>
              <a:rPr lang="en-GB" sz="1600" dirty="0"/>
              <a:t>a maturity goal, it may be necessary to meet several, </a:t>
            </a:r>
            <a:r>
              <a:rPr lang="en-GB" sz="1600" dirty="0" smtClean="0"/>
              <a:t>fine-grained Sub-goals</a:t>
            </a:r>
            <a:r>
              <a:rPr lang="en-GB" sz="1600" dirty="0"/>
              <a:t>.</a:t>
            </a:r>
          </a:p>
          <a:p>
            <a:r>
              <a:rPr lang="en-GB" sz="2800" b="1" dirty="0" smtClean="0"/>
              <a:t>Activities</a:t>
            </a:r>
            <a:r>
              <a:rPr lang="en-GB" sz="2800" b="1" dirty="0"/>
              <a:t>, Tasks, and </a:t>
            </a:r>
            <a:r>
              <a:rPr lang="en-GB" sz="2800" b="1" dirty="0" smtClean="0"/>
              <a:t>Responsibilities (ATRs): </a:t>
            </a:r>
            <a:endParaRPr lang="en-GB" sz="1600" b="1" dirty="0" smtClean="0"/>
          </a:p>
          <a:p>
            <a:pPr lvl="1"/>
            <a:r>
              <a:rPr lang="en-GB" sz="1600" dirty="0" smtClean="0"/>
              <a:t>Maturity sub-goals </a:t>
            </a:r>
            <a:r>
              <a:rPr lang="en-GB" sz="1600" dirty="0"/>
              <a:t>are </a:t>
            </a:r>
            <a:r>
              <a:rPr lang="en-GB" sz="1600" dirty="0" smtClean="0"/>
              <a:t>achieved by </a:t>
            </a:r>
            <a:r>
              <a:rPr lang="en-GB" sz="1600" dirty="0"/>
              <a:t>means of ATRs that address issues concerning implementation of </a:t>
            </a:r>
            <a:r>
              <a:rPr lang="en-GB" sz="1600" dirty="0" smtClean="0"/>
              <a:t>activities and </a:t>
            </a:r>
            <a:r>
              <a:rPr lang="en-GB" sz="1600" dirty="0"/>
              <a:t>tasks. </a:t>
            </a:r>
            <a:endParaRPr lang="en-GB" sz="1600" dirty="0" smtClean="0"/>
          </a:p>
          <a:p>
            <a:pPr lvl="1"/>
            <a:r>
              <a:rPr lang="en-GB" sz="1600" dirty="0" smtClean="0"/>
              <a:t>ATRs </a:t>
            </a:r>
            <a:r>
              <a:rPr lang="en-GB" sz="1600" dirty="0"/>
              <a:t>also address how an organization can adapt </a:t>
            </a:r>
            <a:r>
              <a:rPr lang="en-GB" sz="1600" dirty="0" smtClean="0"/>
              <a:t>its practices </a:t>
            </a:r>
            <a:r>
              <a:rPr lang="en-GB" sz="1600" dirty="0"/>
              <a:t>so that it can move in-line with the TMM model, that is, </a:t>
            </a:r>
            <a:r>
              <a:rPr lang="en-GB" sz="1600" dirty="0" smtClean="0"/>
              <a:t>move from </a:t>
            </a:r>
            <a:r>
              <a:rPr lang="en-GB" sz="1600" dirty="0"/>
              <a:t>one level to the next. ATRs are further refined into “views,” </a:t>
            </a:r>
            <a:r>
              <a:rPr lang="en-GB" sz="1600" dirty="0" smtClean="0"/>
              <a:t>known as </a:t>
            </a:r>
            <a:r>
              <a:rPr lang="en-GB" sz="1600" dirty="0"/>
              <a:t>critical views, from the perspectives of three different groups of people:</a:t>
            </a:r>
          </a:p>
          <a:p>
            <a:pPr lvl="2"/>
            <a:r>
              <a:rPr lang="en-GB" sz="1600" dirty="0"/>
              <a:t>managers, developers and test engineers, and customers (users/clients).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422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</a:t>
            </a:r>
            <a:r>
              <a:rPr lang="en-GB" sz="2800" dirty="0"/>
              <a:t>– Level </a:t>
            </a:r>
            <a:r>
              <a:rPr lang="en-GB" sz="2800" dirty="0" smtClean="0"/>
              <a:t>1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The maturity goals associated with the five levels of the TMM model will </a:t>
            </a:r>
            <a:r>
              <a:rPr lang="en-GB" sz="1800" dirty="0" smtClean="0"/>
              <a:t>be </a:t>
            </a:r>
            <a:r>
              <a:rPr lang="en-US" sz="1800" dirty="0" smtClean="0"/>
              <a:t>explained </a:t>
            </a:r>
            <a:r>
              <a:rPr lang="en-US" sz="1800" dirty="0"/>
              <a:t>in the following</a:t>
            </a:r>
            <a:r>
              <a:rPr lang="en-US" sz="1800" dirty="0" smtClean="0"/>
              <a:t>.</a:t>
            </a:r>
          </a:p>
          <a:p>
            <a:r>
              <a:rPr lang="en-GB" sz="1800" b="1" i="1" dirty="0"/>
              <a:t>Level 1. </a:t>
            </a:r>
            <a:r>
              <a:rPr lang="en-GB" sz="1800" b="1" i="1" dirty="0" smtClean="0"/>
              <a:t>Initial: </a:t>
            </a:r>
          </a:p>
          <a:p>
            <a:pPr lvl="1"/>
            <a:r>
              <a:rPr lang="en-GB" sz="1800" b="1" dirty="0" smtClean="0"/>
              <a:t>No </a:t>
            </a:r>
            <a:r>
              <a:rPr lang="en-GB" sz="1800" b="1" dirty="0"/>
              <a:t>maturity goals </a:t>
            </a:r>
            <a:r>
              <a:rPr lang="en-GB" sz="1800" dirty="0"/>
              <a:t>are specified at this level. </a:t>
            </a:r>
            <a:endParaRPr lang="en-GB" sz="1800" dirty="0" smtClean="0"/>
          </a:p>
          <a:p>
            <a:pPr lvl="1"/>
            <a:r>
              <a:rPr lang="en-GB" sz="1800" dirty="0" smtClean="0"/>
              <a:t>The </a:t>
            </a:r>
            <a:r>
              <a:rPr lang="en-GB" sz="1800" dirty="0"/>
              <a:t>TMM level 1 </a:t>
            </a:r>
            <a:r>
              <a:rPr lang="en-GB" sz="1800" dirty="0" smtClean="0"/>
              <a:t>is called </a:t>
            </a:r>
            <a:r>
              <a:rPr lang="en-GB" sz="1800" dirty="0"/>
              <a:t>the </a:t>
            </a:r>
            <a:r>
              <a:rPr lang="en-GB" sz="1800" i="1" dirty="0"/>
              <a:t>initial </a:t>
            </a:r>
            <a:r>
              <a:rPr lang="en-GB" sz="1800" dirty="0"/>
              <a:t>level. </a:t>
            </a:r>
            <a:endParaRPr lang="en-GB" sz="1800" dirty="0" smtClean="0"/>
          </a:p>
          <a:p>
            <a:pPr lvl="1"/>
            <a:r>
              <a:rPr lang="en-GB" sz="1800" dirty="0" smtClean="0"/>
              <a:t>For </a:t>
            </a:r>
            <a:r>
              <a:rPr lang="en-GB" sz="1800" dirty="0"/>
              <a:t>an organization to be at level 1, nothing special needs </a:t>
            </a:r>
            <a:r>
              <a:rPr lang="en-GB" sz="1800" dirty="0" smtClean="0"/>
              <a:t>to be </a:t>
            </a:r>
            <a:r>
              <a:rPr lang="en-GB" sz="1800" dirty="0"/>
              <a:t>done</a:t>
            </a:r>
            <a:r>
              <a:rPr lang="en-GB" sz="1800" dirty="0" smtClean="0"/>
              <a:t>.</a:t>
            </a:r>
          </a:p>
          <a:p>
            <a:pPr lvl="1"/>
            <a:r>
              <a:rPr lang="en-GB" sz="1800" dirty="0" smtClean="0"/>
              <a:t>Level </a:t>
            </a:r>
            <a:r>
              <a:rPr lang="en-GB" sz="1800" dirty="0"/>
              <a:t>1 represents a scenario where testing is not performed in a </a:t>
            </a:r>
            <a:r>
              <a:rPr lang="en-GB" sz="1800" dirty="0" smtClean="0"/>
              <a:t>planned manner.</a:t>
            </a:r>
          </a:p>
          <a:p>
            <a:pPr lvl="1"/>
            <a:r>
              <a:rPr lang="en-GB" sz="1800" dirty="0" smtClean="0"/>
              <a:t> </a:t>
            </a:r>
            <a:r>
              <a:rPr lang="en-GB" sz="1800" dirty="0"/>
              <a:t>Testing begins after code is </a:t>
            </a:r>
            <a:r>
              <a:rPr lang="en-GB" sz="1800" dirty="0" smtClean="0"/>
              <a:t>written.</a:t>
            </a:r>
          </a:p>
          <a:p>
            <a:pPr lvl="1"/>
            <a:r>
              <a:rPr lang="en-GB" sz="1800" dirty="0" smtClean="0"/>
              <a:t>At </a:t>
            </a:r>
            <a:r>
              <a:rPr lang="en-GB" sz="1800" dirty="0"/>
              <a:t>this level, an organization </a:t>
            </a:r>
            <a:r>
              <a:rPr lang="en-GB" sz="1800" dirty="0" smtClean="0"/>
              <a:t>often performs </a:t>
            </a:r>
            <a:r>
              <a:rPr lang="en-GB" sz="1800" dirty="0"/>
              <a:t>testing to demonstrate that the system works. </a:t>
            </a:r>
            <a:endParaRPr lang="en-GB" sz="1800" dirty="0" smtClean="0"/>
          </a:p>
          <a:p>
            <a:pPr lvl="1"/>
            <a:r>
              <a:rPr lang="en-GB" sz="1800" dirty="0" smtClean="0"/>
              <a:t>No </a:t>
            </a:r>
            <a:r>
              <a:rPr lang="en-GB" sz="1800" dirty="0"/>
              <a:t>serious effort is </a:t>
            </a:r>
            <a:r>
              <a:rPr lang="en-GB" sz="1800" dirty="0" smtClean="0"/>
              <a:t>made to </a:t>
            </a:r>
            <a:r>
              <a:rPr lang="en-GB" sz="1800" dirty="0"/>
              <a:t>track the progress of testing and the quality level of a product</a:t>
            </a:r>
            <a:r>
              <a:rPr lang="en-GB" sz="1800" dirty="0" smtClean="0"/>
              <a:t>.</a:t>
            </a:r>
          </a:p>
          <a:p>
            <a:pPr lvl="1"/>
            <a:r>
              <a:rPr lang="en-GB" sz="1800" dirty="0" smtClean="0"/>
              <a:t>Test </a:t>
            </a:r>
            <a:r>
              <a:rPr lang="en-GB" sz="1800" dirty="0"/>
              <a:t>cases </a:t>
            </a:r>
            <a:r>
              <a:rPr lang="en-GB" sz="1800" dirty="0" smtClean="0"/>
              <a:t>are designed </a:t>
            </a:r>
            <a:r>
              <a:rPr lang="en-GB" sz="1800" dirty="0"/>
              <a:t>and executed in an </a:t>
            </a:r>
            <a:r>
              <a:rPr lang="en-GB" sz="1800" i="1" dirty="0"/>
              <a:t>ad hoc manner</a:t>
            </a:r>
            <a:r>
              <a:rPr lang="en-GB" sz="1800" dirty="0"/>
              <a:t>. </a:t>
            </a:r>
            <a:endParaRPr lang="en-GB" sz="1800" dirty="0" smtClean="0"/>
          </a:p>
          <a:p>
            <a:pPr lvl="1"/>
            <a:r>
              <a:rPr lang="en-GB" sz="1800" dirty="0" smtClean="0"/>
              <a:t>Testing </a:t>
            </a:r>
            <a:r>
              <a:rPr lang="en-GB" sz="1800" dirty="0"/>
              <a:t>resources, such as </a:t>
            </a:r>
            <a:r>
              <a:rPr lang="en-GB" sz="1800" dirty="0" smtClean="0"/>
              <a:t>trained testers</a:t>
            </a:r>
            <a:r>
              <a:rPr lang="en-GB" sz="1800" dirty="0"/>
              <a:t>, testing tools, and test environments, are not available</a:t>
            </a:r>
            <a:r>
              <a:rPr lang="en-GB" sz="1800" dirty="0" smtClean="0"/>
              <a:t>.</a:t>
            </a:r>
          </a:p>
          <a:p>
            <a:pPr lvl="1"/>
            <a:r>
              <a:rPr lang="en-GB" sz="1800" dirty="0" smtClean="0"/>
              <a:t>In </a:t>
            </a:r>
            <a:r>
              <a:rPr lang="en-GB" sz="1800" dirty="0"/>
              <a:t>summary, </a:t>
            </a:r>
            <a:r>
              <a:rPr lang="en-GB" sz="1800" dirty="0" smtClean="0"/>
              <a:t>testing is </a:t>
            </a:r>
            <a:r>
              <a:rPr lang="en-GB" sz="1800" dirty="0"/>
              <a:t>not viewed as a critical, distinct phase in software development.</a:t>
            </a:r>
            <a:endParaRPr lang="en-US" sz="1800" dirty="0" smtClean="0"/>
          </a:p>
          <a:p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37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Testing Maturity Model </a:t>
            </a:r>
            <a:r>
              <a:rPr lang="en-GB" sz="2800" dirty="0"/>
              <a:t>(</a:t>
            </a:r>
            <a:r>
              <a:rPr lang="en-GB" sz="2800" dirty="0" smtClean="0"/>
              <a:t>TMM)</a:t>
            </a:r>
            <a:r>
              <a:rPr lang="en-GB" sz="2800" dirty="0"/>
              <a:t> – Level </a:t>
            </a:r>
            <a:r>
              <a:rPr lang="en-GB" sz="2800" dirty="0" smtClean="0"/>
              <a:t>2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The maturity goals associated with the five levels of the TMM model will </a:t>
            </a:r>
            <a:r>
              <a:rPr lang="en-GB" sz="1800" dirty="0" smtClean="0"/>
              <a:t>be </a:t>
            </a:r>
            <a:r>
              <a:rPr lang="en-US" sz="1800" dirty="0" smtClean="0"/>
              <a:t>explained </a:t>
            </a:r>
            <a:r>
              <a:rPr lang="en-US" sz="1800" dirty="0"/>
              <a:t>in the following</a:t>
            </a:r>
            <a:r>
              <a:rPr lang="en-US" sz="1800" dirty="0" smtClean="0"/>
              <a:t>.</a:t>
            </a:r>
          </a:p>
          <a:p>
            <a:r>
              <a:rPr lang="en-GB" sz="1800" b="1" i="1" dirty="0"/>
              <a:t>Level </a:t>
            </a:r>
            <a:r>
              <a:rPr lang="en-GB" sz="1800" b="1" i="1" dirty="0" smtClean="0"/>
              <a:t>2. </a:t>
            </a:r>
            <a:r>
              <a:rPr lang="en-US" sz="1800" b="1" dirty="0" smtClean="0"/>
              <a:t>phase definition</a:t>
            </a:r>
            <a:r>
              <a:rPr lang="en-GB" sz="1800" b="1" i="1" dirty="0" smtClean="0"/>
              <a:t>:</a:t>
            </a:r>
          </a:p>
          <a:p>
            <a:pPr lvl="1"/>
            <a:r>
              <a:rPr lang="en-GB" sz="1800" dirty="0"/>
              <a:t>At level 2, the maturity goals are as follows:</a:t>
            </a:r>
          </a:p>
          <a:p>
            <a:pPr lvl="2"/>
            <a:r>
              <a:rPr lang="en-GB" sz="1800" dirty="0" smtClean="0"/>
              <a:t>Develop </a:t>
            </a:r>
            <a:r>
              <a:rPr lang="en-GB" sz="1800" dirty="0"/>
              <a:t>testing and debugging goals.</a:t>
            </a:r>
          </a:p>
          <a:p>
            <a:pPr lvl="2"/>
            <a:r>
              <a:rPr lang="en-GB" sz="1800" dirty="0" smtClean="0"/>
              <a:t>Initiate </a:t>
            </a:r>
            <a:r>
              <a:rPr lang="en-GB" sz="1800" dirty="0"/>
              <a:t>a test planning process.</a:t>
            </a:r>
          </a:p>
          <a:p>
            <a:pPr lvl="2"/>
            <a:r>
              <a:rPr lang="en-GB" sz="1800" dirty="0" smtClean="0"/>
              <a:t>Institutionalize </a:t>
            </a:r>
            <a:r>
              <a:rPr lang="en-GB" sz="1800" dirty="0"/>
              <a:t>basic testing techniques and methods.</a:t>
            </a:r>
            <a:endParaRPr lang="en-GB" sz="1600" dirty="0"/>
          </a:p>
          <a:p>
            <a:pPr lvl="2"/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0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Testing Maturity Model </a:t>
            </a:r>
            <a:r>
              <a:rPr lang="en-GB" sz="2800" dirty="0"/>
              <a:t>(</a:t>
            </a:r>
            <a:r>
              <a:rPr lang="en-GB" sz="2800" dirty="0" smtClean="0"/>
              <a:t>TMM)</a:t>
            </a:r>
            <a:r>
              <a:rPr lang="en-GB" sz="2800" dirty="0"/>
              <a:t> – Level </a:t>
            </a:r>
            <a:r>
              <a:rPr lang="en-GB" sz="2800" dirty="0" smtClean="0"/>
              <a:t>2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lvl="2"/>
            <a:r>
              <a:rPr lang="en-GB" sz="3200" b="1" dirty="0" smtClean="0"/>
              <a:t>Develop </a:t>
            </a:r>
            <a:r>
              <a:rPr lang="en-GB" sz="3200" b="1" dirty="0"/>
              <a:t>testing and debugging </a:t>
            </a:r>
            <a:r>
              <a:rPr lang="en-GB" sz="3200" b="1" dirty="0" smtClean="0"/>
              <a:t>goals </a:t>
            </a:r>
            <a:r>
              <a:rPr lang="en-GB" sz="1800" dirty="0"/>
              <a:t>– Separation of testing from debugging is an important growth in the maturity of a testing process</a:t>
            </a:r>
            <a:r>
              <a:rPr lang="en-GB" sz="1800" dirty="0" smtClean="0"/>
              <a:t>. However</a:t>
            </a:r>
            <a:r>
              <a:rPr lang="en-GB" sz="1800" dirty="0"/>
              <a:t>, their separation becomes </a:t>
            </a:r>
            <a:r>
              <a:rPr lang="en-GB" sz="1800" dirty="0" smtClean="0"/>
              <a:t>more evident </a:t>
            </a:r>
            <a:r>
              <a:rPr lang="en-GB" sz="1800" dirty="0"/>
              <a:t>when we consider higher levels of testing.</a:t>
            </a:r>
            <a:endParaRPr lang="en-GB" sz="1800" dirty="0" smtClean="0"/>
          </a:p>
          <a:p>
            <a:pPr lvl="2"/>
            <a:r>
              <a:rPr lang="en-GB" sz="1800" dirty="0"/>
              <a:t>Some concrete maturity </a:t>
            </a:r>
            <a:r>
              <a:rPr lang="en-GB" sz="1800" dirty="0" smtClean="0"/>
              <a:t>sub-goals </a:t>
            </a:r>
            <a:r>
              <a:rPr lang="en-GB" sz="1800" dirty="0"/>
              <a:t>that can support this goal are as follows:</a:t>
            </a:r>
          </a:p>
          <a:p>
            <a:pPr lvl="3"/>
            <a:r>
              <a:rPr lang="en-GB" sz="1600" dirty="0" smtClean="0"/>
              <a:t>Organizations </a:t>
            </a:r>
            <a:r>
              <a:rPr lang="en-GB" sz="1600" dirty="0"/>
              <a:t>form committees on testing and debugging, and those </a:t>
            </a:r>
            <a:r>
              <a:rPr lang="en-GB" sz="1600" dirty="0" smtClean="0"/>
              <a:t>committees are </a:t>
            </a:r>
            <a:r>
              <a:rPr lang="en-GB" sz="1600" dirty="0"/>
              <a:t>supported with necessary funding.</a:t>
            </a:r>
          </a:p>
          <a:p>
            <a:pPr lvl="3"/>
            <a:r>
              <a:rPr lang="en-GB" sz="1600" dirty="0" smtClean="0"/>
              <a:t>The </a:t>
            </a:r>
            <a:r>
              <a:rPr lang="en-GB" sz="1600" dirty="0"/>
              <a:t>committees develop and document testing goals. </a:t>
            </a:r>
            <a:endParaRPr lang="en-GB" sz="1600" dirty="0" smtClean="0"/>
          </a:p>
          <a:p>
            <a:pPr lvl="3"/>
            <a:r>
              <a:rPr lang="en-GB" sz="1600" dirty="0" smtClean="0"/>
              <a:t>One </a:t>
            </a:r>
            <a:r>
              <a:rPr lang="en-GB" sz="1600" dirty="0"/>
              <a:t>example of </a:t>
            </a:r>
            <a:r>
              <a:rPr lang="en-GB" sz="1600" dirty="0" smtClean="0"/>
              <a:t>a testing </a:t>
            </a:r>
            <a:r>
              <a:rPr lang="en-GB" sz="1600" dirty="0"/>
              <a:t>goal is to track a defect from its initial state of discovery to its </a:t>
            </a:r>
            <a:r>
              <a:rPr lang="en-GB" sz="1600" dirty="0" smtClean="0"/>
              <a:t>final state </a:t>
            </a:r>
            <a:r>
              <a:rPr lang="en-GB" sz="1600" dirty="0"/>
              <a:t>of being fixed and </a:t>
            </a:r>
            <a:r>
              <a:rPr lang="en-GB" sz="1600" dirty="0" smtClean="0"/>
              <a:t>verified. The </a:t>
            </a:r>
            <a:r>
              <a:rPr lang="en-GB" sz="1600" dirty="0"/>
              <a:t>committees develop and document debugging goals.</a:t>
            </a:r>
          </a:p>
          <a:p>
            <a:pPr lvl="3"/>
            <a:r>
              <a:rPr lang="en-GB" sz="1600" b="1" dirty="0" smtClean="0"/>
              <a:t>The </a:t>
            </a:r>
            <a:r>
              <a:rPr lang="en-GB" sz="1600" b="1" dirty="0"/>
              <a:t>documented testing and debugging goals are widely used in the </a:t>
            </a:r>
            <a:r>
              <a:rPr lang="en-GB" sz="1600" b="1" dirty="0" smtClean="0"/>
              <a:t>organization from </a:t>
            </a:r>
            <a:r>
              <a:rPr lang="en-GB" sz="1600" b="1" dirty="0"/>
              <a:t>managers to developers and test engineers. All the people </a:t>
            </a:r>
            <a:r>
              <a:rPr lang="en-GB" sz="1600" b="1" dirty="0" smtClean="0"/>
              <a:t>in the </a:t>
            </a:r>
            <a:r>
              <a:rPr lang="en-GB" sz="1600" b="1" dirty="0"/>
              <a:t>organization are aware of the testing and debugging goals and strive </a:t>
            </a:r>
            <a:r>
              <a:rPr lang="en-GB" sz="1600" b="1" dirty="0" smtClean="0"/>
              <a:t>to achieve </a:t>
            </a:r>
            <a:r>
              <a:rPr lang="en-GB" sz="1600" b="1" dirty="0"/>
              <a:t>those goals.</a:t>
            </a:r>
          </a:p>
          <a:p>
            <a:pPr lvl="2"/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28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Testing Maturity Model </a:t>
            </a:r>
            <a:r>
              <a:rPr lang="en-GB" sz="2800" dirty="0"/>
              <a:t>(</a:t>
            </a:r>
            <a:r>
              <a:rPr lang="en-GB" sz="2800" dirty="0" smtClean="0"/>
              <a:t>TMM)</a:t>
            </a:r>
            <a:r>
              <a:rPr lang="en-GB" sz="2800" dirty="0"/>
              <a:t> – Level </a:t>
            </a:r>
            <a:r>
              <a:rPr lang="en-GB" sz="2800" dirty="0" smtClean="0"/>
              <a:t>2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lvl="2"/>
            <a:r>
              <a:rPr lang="en-GB" sz="1800" b="1" dirty="0" smtClean="0"/>
              <a:t>Initiate </a:t>
            </a:r>
            <a:r>
              <a:rPr lang="en-GB" sz="1800" b="1" dirty="0"/>
              <a:t>a test planning </a:t>
            </a:r>
            <a:r>
              <a:rPr lang="en-GB" sz="1800" b="1" dirty="0" smtClean="0"/>
              <a:t>process </a:t>
            </a:r>
            <a:r>
              <a:rPr lang="en-GB" sz="1800" dirty="0"/>
              <a:t>- Planning is an indication of a certain level of maturity of any process. The exact extent of maturity depends upon </a:t>
            </a:r>
            <a:r>
              <a:rPr lang="en-GB" sz="1800" dirty="0" smtClean="0"/>
              <a:t>the scope </a:t>
            </a:r>
            <a:r>
              <a:rPr lang="en-GB" sz="1800" dirty="0"/>
              <a:t>and execution of a plan</a:t>
            </a:r>
            <a:r>
              <a:rPr lang="en-GB" sz="1800" dirty="0" smtClean="0"/>
              <a:t>.</a:t>
            </a:r>
          </a:p>
          <a:p>
            <a:pPr lvl="2"/>
            <a:r>
              <a:rPr lang="en-GB" sz="1800" dirty="0"/>
              <a:t>Test planning addresses the following:</a:t>
            </a:r>
          </a:p>
          <a:p>
            <a:pPr lvl="3"/>
            <a:r>
              <a:rPr lang="en-GB" sz="1600" b="1" dirty="0"/>
              <a:t>Identify Test Objectives</a:t>
            </a:r>
            <a:r>
              <a:rPr lang="en-GB" sz="1600" dirty="0"/>
              <a:t>: Identifying the objective of a test process is central to its success.</a:t>
            </a:r>
          </a:p>
          <a:p>
            <a:pPr lvl="3"/>
            <a:r>
              <a:rPr lang="en-GB" sz="1600" b="1" dirty="0" smtClean="0"/>
              <a:t>Analyse </a:t>
            </a:r>
            <a:r>
              <a:rPr lang="en-GB" sz="1600" b="1" dirty="0"/>
              <a:t>Risks: </a:t>
            </a:r>
            <a:r>
              <a:rPr lang="en-GB" sz="1600" dirty="0"/>
              <a:t>Factors that may adversely affect testing must be identified.</a:t>
            </a:r>
          </a:p>
          <a:p>
            <a:pPr lvl="3"/>
            <a:r>
              <a:rPr lang="en-GB" sz="1600" b="1" dirty="0"/>
              <a:t>Devise Strategies</a:t>
            </a:r>
            <a:r>
              <a:rPr lang="en-GB" sz="1600" dirty="0"/>
              <a:t>: Different kinds of strategies are involved in testing.</a:t>
            </a:r>
          </a:p>
          <a:p>
            <a:pPr lvl="3"/>
            <a:r>
              <a:rPr lang="en-GB" sz="1600" b="1" dirty="0"/>
              <a:t>Develop Test Specifications</a:t>
            </a:r>
            <a:r>
              <a:rPr lang="en-GB" sz="1600" dirty="0"/>
              <a:t>: Individual test cases must be judiciously designed and documented.</a:t>
            </a:r>
          </a:p>
          <a:p>
            <a:pPr lvl="3"/>
            <a:r>
              <a:rPr lang="en-GB" sz="1600" b="1" dirty="0"/>
              <a:t>Allocate Resources: </a:t>
            </a:r>
            <a:r>
              <a:rPr lang="en-GB" sz="1600" dirty="0"/>
              <a:t>Resource allocation is an important task in any planned activity</a:t>
            </a:r>
            <a:r>
              <a:rPr lang="en-GB" sz="1600" dirty="0" smtClean="0"/>
              <a:t>.</a:t>
            </a:r>
            <a:endParaRPr lang="en-GB" sz="1800" dirty="0" smtClean="0"/>
          </a:p>
          <a:p>
            <a:pPr lvl="2"/>
            <a:r>
              <a:rPr lang="en-GB" sz="1800" dirty="0"/>
              <a:t>The following concrete maturity </a:t>
            </a:r>
            <a:r>
              <a:rPr lang="en-GB" sz="1800" dirty="0" smtClean="0"/>
              <a:t>sub-goals </a:t>
            </a:r>
            <a:r>
              <a:rPr lang="en-GB" sz="1800" dirty="0"/>
              <a:t>can support the above goal at level 2:</a:t>
            </a:r>
          </a:p>
          <a:p>
            <a:pPr lvl="3"/>
            <a:r>
              <a:rPr lang="en-GB" sz="1600" dirty="0" smtClean="0"/>
              <a:t>The </a:t>
            </a:r>
            <a:r>
              <a:rPr lang="en-GB" sz="1600" dirty="0"/>
              <a:t>organization assigns the task of test planning to a defined </a:t>
            </a:r>
            <a:r>
              <a:rPr lang="en-GB" sz="1600" dirty="0" smtClean="0"/>
              <a:t>committee. The </a:t>
            </a:r>
            <a:r>
              <a:rPr lang="en-GB" sz="1600" dirty="0"/>
              <a:t>committee develops a framework for test planning.</a:t>
            </a:r>
          </a:p>
          <a:p>
            <a:pPr lvl="3"/>
            <a:r>
              <a:rPr lang="en-GB" sz="1600" dirty="0" smtClean="0"/>
              <a:t>The </a:t>
            </a:r>
            <a:r>
              <a:rPr lang="en-GB" sz="1600" dirty="0"/>
              <a:t>committee develops a test plan template, and the template is </a:t>
            </a:r>
            <a:r>
              <a:rPr lang="en-GB" sz="1600" dirty="0" smtClean="0"/>
              <a:t>well documented </a:t>
            </a:r>
            <a:r>
              <a:rPr lang="en-GB" sz="1600" dirty="0"/>
              <a:t>and made widely available.</a:t>
            </a:r>
          </a:p>
          <a:p>
            <a:pPr lvl="3"/>
            <a:r>
              <a:rPr lang="en-GB" sz="1600" dirty="0" smtClean="0"/>
              <a:t>Proper </a:t>
            </a:r>
            <a:r>
              <a:rPr lang="en-GB" sz="1600" dirty="0"/>
              <a:t>tools are used to create and manage test plans.</a:t>
            </a:r>
          </a:p>
          <a:p>
            <a:pPr lvl="3"/>
            <a:r>
              <a:rPr lang="en-GB" sz="1600" dirty="0" smtClean="0"/>
              <a:t>Provisions </a:t>
            </a:r>
            <a:r>
              <a:rPr lang="en-GB" sz="1600" dirty="0"/>
              <a:t>are put in place so that customer needs constitute a part of </a:t>
            </a:r>
            <a:r>
              <a:rPr lang="en-GB" sz="1600" dirty="0" smtClean="0"/>
              <a:t>the test </a:t>
            </a:r>
            <a:r>
              <a:rPr lang="en-GB" sz="1600" dirty="0"/>
              <a:t>plan. In other words, customers are involved in the testing process.</a:t>
            </a:r>
          </a:p>
          <a:p>
            <a:pPr lvl="2"/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62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Testing Maturity Model </a:t>
            </a:r>
            <a:r>
              <a:rPr lang="en-GB" sz="2800" dirty="0"/>
              <a:t>(</a:t>
            </a:r>
            <a:r>
              <a:rPr lang="en-GB" sz="2800" dirty="0" smtClean="0"/>
              <a:t>TMM)</a:t>
            </a:r>
            <a:r>
              <a:rPr lang="en-GB" sz="2800" dirty="0"/>
              <a:t> – Level </a:t>
            </a:r>
            <a:r>
              <a:rPr lang="en-GB" sz="2800" dirty="0" smtClean="0"/>
              <a:t>2 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lvl="2"/>
            <a:r>
              <a:rPr lang="en-GB" sz="1800" b="1" dirty="0" smtClean="0"/>
              <a:t>Institutionalize </a:t>
            </a:r>
            <a:r>
              <a:rPr lang="en-GB" sz="1800" b="1" dirty="0"/>
              <a:t>basic testing techniques and methods </a:t>
            </a:r>
            <a:r>
              <a:rPr lang="en-GB" sz="1800" dirty="0"/>
              <a:t>- A number of basic testing techniques and methods are widely known in the industry.</a:t>
            </a:r>
          </a:p>
          <a:p>
            <a:pPr lvl="2"/>
            <a:r>
              <a:rPr lang="en-GB" sz="1800" dirty="0"/>
              <a:t>The above maturity goal can be supported by the following </a:t>
            </a:r>
            <a:r>
              <a:rPr lang="en-GB" sz="1800" dirty="0" smtClean="0"/>
              <a:t>sub-goals</a:t>
            </a:r>
            <a:r>
              <a:rPr lang="en-GB" sz="1800" dirty="0"/>
              <a:t>:</a:t>
            </a:r>
          </a:p>
          <a:p>
            <a:pPr lvl="3"/>
            <a:r>
              <a:rPr lang="en-GB" sz="1800" dirty="0" smtClean="0"/>
              <a:t>An </a:t>
            </a:r>
            <a:r>
              <a:rPr lang="en-GB" sz="1800" dirty="0"/>
              <a:t>expert group is formed to study, evaluate, and recommend a set </a:t>
            </a:r>
            <a:r>
              <a:rPr lang="en-GB" sz="1800" dirty="0" smtClean="0"/>
              <a:t>of basic </a:t>
            </a:r>
            <a:r>
              <a:rPr lang="en-GB" sz="1800" dirty="0"/>
              <a:t>testing techniques and methods. The group also recommends a </a:t>
            </a:r>
            <a:r>
              <a:rPr lang="en-GB" sz="1800" dirty="0" smtClean="0"/>
              <a:t>few tools </a:t>
            </a:r>
            <a:r>
              <a:rPr lang="en-GB" sz="1800" dirty="0"/>
              <a:t>to support those testing techniques and methods.</a:t>
            </a:r>
          </a:p>
          <a:p>
            <a:pPr lvl="3"/>
            <a:r>
              <a:rPr lang="en-GB" sz="1800" dirty="0" smtClean="0"/>
              <a:t>Management </a:t>
            </a:r>
            <a:r>
              <a:rPr lang="en-GB" sz="1800" dirty="0"/>
              <a:t>must establish policies to ensure that the recommended </a:t>
            </a:r>
            <a:r>
              <a:rPr lang="en-GB" sz="1800" dirty="0" smtClean="0"/>
              <a:t>techniques and </a:t>
            </a:r>
            <a:r>
              <a:rPr lang="en-GB" sz="1800" dirty="0"/>
              <a:t>methods are practiced and tools are used throughout the </a:t>
            </a:r>
            <a:r>
              <a:rPr lang="en-GB" sz="1800" dirty="0" smtClean="0"/>
              <a:t>organization in </a:t>
            </a:r>
            <a:r>
              <a:rPr lang="en-GB" sz="1800" dirty="0"/>
              <a:t>a consistent manner. </a:t>
            </a:r>
            <a:endParaRPr lang="en-GB" sz="1600" dirty="0"/>
          </a:p>
          <a:p>
            <a:pPr lvl="2"/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29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</a:t>
            </a:r>
            <a:r>
              <a:rPr lang="en-GB" sz="2800" dirty="0"/>
              <a:t>– Level </a:t>
            </a:r>
            <a:r>
              <a:rPr lang="en-GB" sz="2800" dirty="0" smtClean="0"/>
              <a:t>3…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The maturity goals associated with the five levels of the TMM model will </a:t>
            </a:r>
            <a:r>
              <a:rPr lang="en-GB" sz="1800" dirty="0" smtClean="0"/>
              <a:t>be </a:t>
            </a:r>
            <a:r>
              <a:rPr lang="en-US" sz="1800" dirty="0" smtClean="0"/>
              <a:t>explained </a:t>
            </a:r>
            <a:r>
              <a:rPr lang="en-US" sz="1800" dirty="0"/>
              <a:t>in the following</a:t>
            </a:r>
            <a:r>
              <a:rPr lang="en-US" sz="1800" dirty="0" smtClean="0"/>
              <a:t>.</a:t>
            </a:r>
          </a:p>
          <a:p>
            <a:r>
              <a:rPr lang="en-GB" sz="1800" b="1" i="1" dirty="0"/>
              <a:t>Level 3</a:t>
            </a:r>
            <a:r>
              <a:rPr lang="en-GB" sz="1800" b="1" i="1" dirty="0" smtClean="0"/>
              <a:t>. </a:t>
            </a:r>
            <a:r>
              <a:rPr lang="en-US" sz="1800" b="1" dirty="0"/>
              <a:t>integration</a:t>
            </a:r>
            <a:r>
              <a:rPr lang="en-GB" sz="1800" b="1" i="1" dirty="0" smtClean="0"/>
              <a:t>: </a:t>
            </a:r>
          </a:p>
          <a:p>
            <a:pPr lvl="1"/>
            <a:r>
              <a:rPr lang="en-GB" sz="1800" dirty="0"/>
              <a:t>At level 3, as the name suggests, testing is fully </a:t>
            </a:r>
            <a:r>
              <a:rPr lang="en-GB" sz="1800" dirty="0" smtClean="0"/>
              <a:t>integrated with </a:t>
            </a:r>
            <a:r>
              <a:rPr lang="en-GB" sz="1800" dirty="0"/>
              <a:t>the development process right from the project planning</a:t>
            </a:r>
            <a:r>
              <a:rPr lang="en-GB" sz="1800" dirty="0" smtClean="0"/>
              <a:t>.</a:t>
            </a:r>
          </a:p>
          <a:p>
            <a:pPr lvl="1"/>
            <a:r>
              <a:rPr lang="en-GB" sz="1800" dirty="0"/>
              <a:t>The maturity goals at level 3 are as follows:</a:t>
            </a:r>
          </a:p>
          <a:p>
            <a:pPr lvl="2"/>
            <a:r>
              <a:rPr lang="en-GB" sz="1800" dirty="0" smtClean="0"/>
              <a:t>Establish </a:t>
            </a:r>
            <a:r>
              <a:rPr lang="en-GB" sz="1800" dirty="0"/>
              <a:t>a software test group.</a:t>
            </a:r>
          </a:p>
          <a:p>
            <a:pPr lvl="2"/>
            <a:r>
              <a:rPr lang="en-GB" sz="1800" dirty="0" smtClean="0"/>
              <a:t>Establish </a:t>
            </a:r>
            <a:r>
              <a:rPr lang="en-GB" sz="1800" dirty="0"/>
              <a:t>a technical training program.</a:t>
            </a:r>
          </a:p>
          <a:p>
            <a:pPr lvl="2"/>
            <a:r>
              <a:rPr lang="en-GB" sz="1800" dirty="0" smtClean="0"/>
              <a:t>Integrate </a:t>
            </a:r>
            <a:r>
              <a:rPr lang="en-GB" sz="1800" dirty="0"/>
              <a:t>testing into the software life cycle.</a:t>
            </a:r>
          </a:p>
          <a:p>
            <a:pPr lvl="2"/>
            <a:r>
              <a:rPr lang="en-GB" sz="1800" dirty="0" smtClean="0"/>
              <a:t>Control </a:t>
            </a:r>
            <a:r>
              <a:rPr lang="en-GB" sz="1800" dirty="0"/>
              <a:t>and monitor the testing process.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4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</a:t>
            </a:r>
            <a:r>
              <a:rPr lang="en-GB" sz="2800" dirty="0"/>
              <a:t>– Level </a:t>
            </a:r>
            <a:r>
              <a:rPr lang="en-GB" sz="2800" dirty="0" smtClean="0"/>
              <a:t>3…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lvl="2"/>
            <a:r>
              <a:rPr lang="en-GB" sz="1800" b="1" dirty="0" smtClean="0"/>
              <a:t>Establish </a:t>
            </a:r>
            <a:r>
              <a:rPr lang="en-GB" sz="1800" b="1" dirty="0"/>
              <a:t>a software test </a:t>
            </a:r>
            <a:r>
              <a:rPr lang="en-GB" sz="1800" b="1" dirty="0" smtClean="0"/>
              <a:t>group</a:t>
            </a:r>
            <a:r>
              <a:rPr lang="en-GB" sz="1800" b="1" dirty="0"/>
              <a:t> </a:t>
            </a:r>
            <a:r>
              <a:rPr lang="en-GB" sz="1800" dirty="0" smtClean="0"/>
              <a:t>– Software </a:t>
            </a:r>
            <a:r>
              <a:rPr lang="en-GB" sz="1800" dirty="0"/>
              <a:t>testing is a highly specialized task at par with capturing requirements and designing a </a:t>
            </a:r>
            <a:r>
              <a:rPr lang="en-GB" sz="1800" dirty="0" smtClean="0"/>
              <a:t>system. Therefore</a:t>
            </a:r>
            <a:r>
              <a:rPr lang="en-GB" sz="1800" dirty="0"/>
              <a:t>, an independent test group must exist to carry out testing without any influence from the developers.</a:t>
            </a:r>
          </a:p>
          <a:p>
            <a:pPr lvl="3"/>
            <a:r>
              <a:rPr lang="en-GB" sz="1800" dirty="0"/>
              <a:t>Maturity </a:t>
            </a:r>
            <a:r>
              <a:rPr lang="en-GB" sz="1800" dirty="0" smtClean="0"/>
              <a:t>sub-goals </a:t>
            </a:r>
            <a:r>
              <a:rPr lang="en-GB" sz="1800" dirty="0"/>
              <a:t>which support the above goals are as follows:</a:t>
            </a:r>
          </a:p>
          <a:p>
            <a:pPr lvl="4"/>
            <a:r>
              <a:rPr lang="en-GB" sz="1800" dirty="0" smtClean="0"/>
              <a:t>An organization wide </a:t>
            </a:r>
            <a:r>
              <a:rPr lang="en-GB" sz="1800" dirty="0"/>
              <a:t>test group is formed with leadership, strong </a:t>
            </a:r>
            <a:r>
              <a:rPr lang="en-GB" sz="1800" dirty="0" smtClean="0"/>
              <a:t>support, and </a:t>
            </a:r>
            <a:r>
              <a:rPr lang="en-GB" sz="1800" dirty="0"/>
              <a:t>funding from the management. </a:t>
            </a:r>
            <a:endParaRPr lang="en-GB" sz="1800" dirty="0" smtClean="0"/>
          </a:p>
          <a:p>
            <a:pPr lvl="4"/>
            <a:r>
              <a:rPr lang="en-GB" sz="1800" dirty="0" smtClean="0"/>
              <a:t>The </a:t>
            </a:r>
            <a:r>
              <a:rPr lang="en-GB" sz="1800" dirty="0"/>
              <a:t>test group must be vested </a:t>
            </a:r>
            <a:r>
              <a:rPr lang="en-GB" sz="1800" dirty="0" smtClean="0"/>
              <a:t>with authority </a:t>
            </a:r>
            <a:r>
              <a:rPr lang="en-GB" sz="1800" dirty="0"/>
              <a:t>to influence the quality of software products so that formation </a:t>
            </a:r>
            <a:r>
              <a:rPr lang="en-GB" sz="1800" dirty="0" smtClean="0"/>
              <a:t>of the </a:t>
            </a:r>
            <a:r>
              <a:rPr lang="en-GB" sz="1800" dirty="0"/>
              <a:t>test group is not rendered as a mere exercise.</a:t>
            </a:r>
          </a:p>
          <a:p>
            <a:pPr lvl="4"/>
            <a:r>
              <a:rPr lang="en-GB" sz="1800" dirty="0" smtClean="0"/>
              <a:t>The </a:t>
            </a:r>
            <a:r>
              <a:rPr lang="en-GB" sz="1800" dirty="0"/>
              <a:t>test group must be involved in all stages of the software </a:t>
            </a:r>
            <a:r>
              <a:rPr lang="en-GB" sz="1800" dirty="0" smtClean="0"/>
              <a:t>development, and </a:t>
            </a:r>
            <a:r>
              <a:rPr lang="en-GB" sz="1800" dirty="0"/>
              <a:t>roles and responsibilities must be assigned to individual group </a:t>
            </a:r>
            <a:r>
              <a:rPr lang="en-GB" sz="1800" dirty="0" smtClean="0"/>
              <a:t>members in </a:t>
            </a:r>
            <a:r>
              <a:rPr lang="en-GB" sz="1800" dirty="0"/>
              <a:t>appropriate phases of software development.</a:t>
            </a:r>
          </a:p>
          <a:p>
            <a:pPr lvl="4"/>
            <a:r>
              <a:rPr lang="en-GB" sz="1800" dirty="0" smtClean="0"/>
              <a:t>Trained </a:t>
            </a:r>
            <a:r>
              <a:rPr lang="en-GB" sz="1800" dirty="0"/>
              <a:t>and motivated test engineers are assigned to the test group.</a:t>
            </a:r>
          </a:p>
          <a:p>
            <a:pPr lvl="4"/>
            <a:r>
              <a:rPr lang="en-GB" sz="1800" dirty="0" smtClean="0"/>
              <a:t>The </a:t>
            </a:r>
            <a:r>
              <a:rPr lang="en-GB" sz="1800" dirty="0"/>
              <a:t>test group in an organization must communicate with the </a:t>
            </a:r>
            <a:r>
              <a:rPr lang="en-GB" sz="1800" dirty="0" smtClean="0"/>
              <a:t>customers to </a:t>
            </a:r>
            <a:r>
              <a:rPr lang="en-GB" sz="1800" dirty="0"/>
              <a:t>get a feel for their needs so that </a:t>
            </a:r>
            <a:r>
              <a:rPr lang="en-GB" sz="1800" dirty="0" smtClean="0"/>
              <a:t>testing </a:t>
            </a:r>
            <a:r>
              <a:rPr lang="en-GB" sz="1800" dirty="0"/>
              <a:t>can be carried out to meet the expectations of the customers.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84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</a:t>
            </a:r>
            <a:r>
              <a:rPr lang="en-GB" sz="2800" dirty="0"/>
              <a:t>– Level </a:t>
            </a:r>
            <a:r>
              <a:rPr lang="en-GB" sz="2800" dirty="0" smtClean="0"/>
              <a:t>3…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lvl="2"/>
            <a:r>
              <a:rPr lang="en-GB" sz="1800" b="1" dirty="0" smtClean="0"/>
              <a:t>Establish </a:t>
            </a:r>
            <a:r>
              <a:rPr lang="en-GB" sz="1800" b="1" dirty="0"/>
              <a:t>a technical training program </a:t>
            </a:r>
            <a:r>
              <a:rPr lang="en-GB" sz="1800" dirty="0"/>
              <a:t>- A technical training program is essential to maintaining a group </a:t>
            </a:r>
            <a:r>
              <a:rPr lang="en-GB" sz="1800" dirty="0" smtClean="0"/>
              <a:t>of qualified </a:t>
            </a:r>
            <a:r>
              <a:rPr lang="en-GB" sz="1800" dirty="0"/>
              <a:t>and skilled staff for testing</a:t>
            </a:r>
            <a:r>
              <a:rPr lang="en-GB" sz="1800" dirty="0" smtClean="0"/>
              <a:t>.</a:t>
            </a:r>
          </a:p>
          <a:p>
            <a:pPr lvl="3"/>
            <a:r>
              <a:rPr lang="en-GB" sz="1800" dirty="0" smtClean="0"/>
              <a:t>Organizations tend </a:t>
            </a:r>
            <a:r>
              <a:rPr lang="en-GB" sz="1800" dirty="0"/>
              <a:t>to hire not so skilled staff for testing jobs because of </a:t>
            </a:r>
            <a:r>
              <a:rPr lang="en-GB" sz="1800" dirty="0" smtClean="0"/>
              <a:t>general unavailability </a:t>
            </a:r>
            <a:r>
              <a:rPr lang="en-GB" sz="1800" dirty="0"/>
              <a:t>of sufficiently qualified test personnel in the industry. </a:t>
            </a:r>
            <a:endParaRPr lang="en-GB" sz="1800" dirty="0" smtClean="0"/>
          </a:p>
          <a:p>
            <a:pPr lvl="3"/>
            <a:r>
              <a:rPr lang="en-GB" sz="1800" dirty="0" smtClean="0"/>
              <a:t>Therefore, organizations </a:t>
            </a:r>
            <a:r>
              <a:rPr lang="en-GB" sz="1800" dirty="0"/>
              <a:t>must make a sustained effort to train test personnel in the concept </a:t>
            </a:r>
            <a:r>
              <a:rPr lang="en-GB" sz="1800" dirty="0" smtClean="0"/>
              <a:t>of quality</a:t>
            </a:r>
            <a:r>
              <a:rPr lang="en-GB" sz="1800" dirty="0"/>
              <a:t>, test planning, testing methods and techniques, standards, and testing tools.</a:t>
            </a:r>
          </a:p>
          <a:p>
            <a:pPr lvl="3"/>
            <a:r>
              <a:rPr lang="en-GB" sz="1800" dirty="0"/>
              <a:t>Test engineers learn the concepts and processes of various kinds of reviews, </a:t>
            </a:r>
            <a:r>
              <a:rPr lang="en-GB" sz="1800" dirty="0" smtClean="0"/>
              <a:t>such as </a:t>
            </a:r>
            <a:r>
              <a:rPr lang="en-GB" sz="1800" dirty="0"/>
              <a:t>design review and code review,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80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</a:t>
            </a:r>
            <a:r>
              <a:rPr lang="en-GB" sz="2800" dirty="0"/>
              <a:t>– Level </a:t>
            </a:r>
            <a:r>
              <a:rPr lang="en-GB" sz="2800" dirty="0" smtClean="0"/>
              <a:t>3…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lvl="2"/>
            <a:r>
              <a:rPr lang="en-GB" sz="1800" b="1" dirty="0" smtClean="0"/>
              <a:t>Integrate </a:t>
            </a:r>
            <a:r>
              <a:rPr lang="en-GB" sz="1800" b="1" dirty="0"/>
              <a:t>testing into the software life cycle </a:t>
            </a:r>
            <a:r>
              <a:rPr lang="en-GB" sz="1800" dirty="0"/>
              <a:t>- In contrast to level 2, where testing is initiated as a distinct activity after coding is over, at level 3 testing is fully integrated with a software development life cycle at the start of project planning. Therefore, test planning is initiated very early in the lifetime of a product</a:t>
            </a:r>
            <a:r>
              <a:rPr lang="en-GB" sz="1800" dirty="0" smtClean="0"/>
              <a:t>.</a:t>
            </a:r>
          </a:p>
          <a:p>
            <a:pPr lvl="3"/>
            <a:r>
              <a:rPr lang="en-GB" sz="1600" dirty="0"/>
              <a:t>Maturity </a:t>
            </a:r>
            <a:r>
              <a:rPr lang="en-GB" sz="1600" dirty="0" smtClean="0"/>
              <a:t>sub-goals </a:t>
            </a:r>
            <a:r>
              <a:rPr lang="en-GB" sz="1600" dirty="0"/>
              <a:t>to support the above goal are </a:t>
            </a:r>
            <a:r>
              <a:rPr lang="en-GB" sz="1600" dirty="0" smtClean="0"/>
              <a:t>as follows</a:t>
            </a:r>
            <a:r>
              <a:rPr lang="en-GB" sz="1600" dirty="0"/>
              <a:t>:</a:t>
            </a:r>
          </a:p>
          <a:p>
            <a:pPr lvl="4"/>
            <a:r>
              <a:rPr lang="en-GB" sz="1600" dirty="0" smtClean="0"/>
              <a:t>The </a:t>
            </a:r>
            <a:r>
              <a:rPr lang="en-GB" sz="1600" dirty="0"/>
              <a:t>test phase is partitioned into several activities, such as test </a:t>
            </a:r>
            <a:r>
              <a:rPr lang="en-GB" sz="1600" dirty="0" smtClean="0"/>
              <a:t>planning, unit </a:t>
            </a:r>
            <a:r>
              <a:rPr lang="en-GB" sz="1600" dirty="0"/>
              <a:t>testing, integration testing, system testing, and acceptance testing, </a:t>
            </a:r>
            <a:r>
              <a:rPr lang="en-GB" sz="1600" dirty="0" smtClean="0"/>
              <a:t>so that </a:t>
            </a:r>
            <a:r>
              <a:rPr lang="en-GB" sz="1600" dirty="0"/>
              <a:t>the distinct activities are easily performed at the appropriate </a:t>
            </a:r>
            <a:r>
              <a:rPr lang="en-GB" sz="1600" dirty="0" smtClean="0"/>
              <a:t>times in </a:t>
            </a:r>
            <a:r>
              <a:rPr lang="en-GB" sz="1600" dirty="0"/>
              <a:t>the life cycle of a software product. Different kinds of reviews, </a:t>
            </a:r>
            <a:r>
              <a:rPr lang="en-GB" sz="1600" dirty="0" smtClean="0"/>
              <a:t>such as </a:t>
            </a:r>
            <a:r>
              <a:rPr lang="en-GB" sz="1600" dirty="0"/>
              <a:t>requirements review, design review, and code review, are </a:t>
            </a:r>
            <a:r>
              <a:rPr lang="en-GB" sz="1600" dirty="0" smtClean="0"/>
              <a:t>identified. All </a:t>
            </a:r>
            <a:r>
              <a:rPr lang="en-GB" sz="1600" dirty="0"/>
              <a:t>those testing and review activities are integrated into the </a:t>
            </a:r>
            <a:r>
              <a:rPr lang="en-GB" sz="1800" b="1" dirty="0"/>
              <a:t>V-model </a:t>
            </a:r>
            <a:r>
              <a:rPr lang="en-GB" sz="1800" b="1" dirty="0" smtClean="0"/>
              <a:t>o</a:t>
            </a:r>
            <a:r>
              <a:rPr lang="en-GB" sz="1600" dirty="0" smtClean="0"/>
              <a:t>f testing</a:t>
            </a:r>
            <a:r>
              <a:rPr lang="en-GB" sz="1600" dirty="0"/>
              <a:t>.</a:t>
            </a:r>
          </a:p>
          <a:p>
            <a:pPr lvl="4"/>
            <a:r>
              <a:rPr lang="en-GB" sz="1600" dirty="0" smtClean="0"/>
              <a:t>All </a:t>
            </a:r>
            <a:r>
              <a:rPr lang="en-GB" sz="1600" dirty="0"/>
              <a:t>the testing and review activities are integrated into an </a:t>
            </a:r>
            <a:r>
              <a:rPr lang="en-GB" sz="1600" dirty="0" smtClean="0"/>
              <a:t>institutionalized V-model </a:t>
            </a:r>
            <a:r>
              <a:rPr lang="en-GB" sz="1600" dirty="0"/>
              <a:t>of testing, and the organization must ensure that the model </a:t>
            </a:r>
            <a:r>
              <a:rPr lang="en-GB" sz="1600" dirty="0" smtClean="0"/>
              <a:t>is followed</a:t>
            </a:r>
            <a:r>
              <a:rPr lang="en-GB" sz="1600" dirty="0"/>
              <a:t>.</a:t>
            </a:r>
          </a:p>
          <a:p>
            <a:pPr lvl="4"/>
            <a:r>
              <a:rPr lang="en-GB" sz="1600" dirty="0" smtClean="0"/>
              <a:t>The </a:t>
            </a:r>
            <a:r>
              <a:rPr lang="en-GB" sz="1600" dirty="0"/>
              <a:t>organization supports an effective mechanism for the test group </a:t>
            </a:r>
            <a:r>
              <a:rPr lang="en-GB" sz="1600" dirty="0" smtClean="0"/>
              <a:t>to communicate </a:t>
            </a:r>
            <a:r>
              <a:rPr lang="en-GB" sz="1600" dirty="0"/>
              <a:t>with developers, customers, and the marketing group. As </a:t>
            </a:r>
            <a:r>
              <a:rPr lang="en-GB" sz="1600" dirty="0" smtClean="0"/>
              <a:t>a result</a:t>
            </a:r>
            <a:r>
              <a:rPr lang="en-GB" sz="1600" dirty="0"/>
              <a:t>, test engineers learn about the requirements, design details, </a:t>
            </a:r>
            <a:r>
              <a:rPr lang="en-GB" sz="1600" dirty="0" smtClean="0"/>
              <a:t>customer expectations</a:t>
            </a:r>
            <a:r>
              <a:rPr lang="en-GB" sz="1600" dirty="0"/>
              <a:t>, and marketing philosophy of the organization. The more </a:t>
            </a:r>
            <a:r>
              <a:rPr lang="en-GB" sz="1600" dirty="0" smtClean="0"/>
              <a:t>the test </a:t>
            </a:r>
            <a:r>
              <a:rPr lang="en-GB" sz="1600" dirty="0"/>
              <a:t>group is knowledgeable about the product, the more it can </a:t>
            </a:r>
            <a:r>
              <a:rPr lang="en-GB" sz="1600" dirty="0" smtClean="0"/>
              <a:t>influence product </a:t>
            </a:r>
            <a:r>
              <a:rPr lang="en-GB" sz="1600" dirty="0"/>
              <a:t>quality. The upper management of an organization must </a:t>
            </a:r>
            <a:r>
              <a:rPr lang="en-GB" sz="1600" dirty="0" smtClean="0"/>
              <a:t>facilitate such </a:t>
            </a:r>
            <a:r>
              <a:rPr lang="en-GB" sz="1600" dirty="0"/>
              <a:t>communication.</a:t>
            </a:r>
            <a:endParaRPr lang="en-GB" sz="1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04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</a:t>
            </a:r>
            <a:r>
              <a:rPr lang="en-GB" sz="2800" dirty="0"/>
              <a:t>– Level </a:t>
            </a:r>
            <a:r>
              <a:rPr lang="en-GB" sz="2800" dirty="0" smtClean="0"/>
              <a:t>3…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lvl="2"/>
            <a:r>
              <a:rPr lang="en-GB" sz="1800" b="1" dirty="0" smtClean="0"/>
              <a:t>Control </a:t>
            </a:r>
            <a:r>
              <a:rPr lang="en-GB" sz="1800" b="1" dirty="0"/>
              <a:t>and monitor the testing process </a:t>
            </a:r>
            <a:r>
              <a:rPr lang="en-GB" sz="1800" dirty="0"/>
              <a:t>- Monitoring and control are important aspects of planning. Without monitoring it will not be known if a project is on course, and, consequently, no corrective measures can be taken to control the project</a:t>
            </a:r>
            <a:r>
              <a:rPr lang="en-GB" sz="1800" dirty="0" smtClean="0"/>
              <a:t>.</a:t>
            </a:r>
          </a:p>
          <a:p>
            <a:pPr lvl="3"/>
            <a:r>
              <a:rPr lang="en-GB" sz="1600" dirty="0"/>
              <a:t>Progress of a test project can be measured as follows:</a:t>
            </a:r>
          </a:p>
          <a:p>
            <a:pPr lvl="4"/>
            <a:r>
              <a:rPr lang="en-GB" sz="1600" b="1" dirty="0" smtClean="0"/>
              <a:t>Amount </a:t>
            </a:r>
            <a:r>
              <a:rPr lang="en-GB" sz="1600" b="1" dirty="0"/>
              <a:t>of Testing effort: </a:t>
            </a:r>
            <a:r>
              <a:rPr lang="en-GB" sz="1600" dirty="0"/>
              <a:t>This includes the number of test cases to </a:t>
            </a:r>
            <a:r>
              <a:rPr lang="en-GB" sz="1600" dirty="0" smtClean="0"/>
              <a:t>be designed </a:t>
            </a:r>
            <a:r>
              <a:rPr lang="en-GB" sz="1600" dirty="0"/>
              <a:t>and the number of test cases to be executed.</a:t>
            </a:r>
          </a:p>
          <a:p>
            <a:pPr lvl="4"/>
            <a:r>
              <a:rPr lang="en-GB" sz="1600" b="1" dirty="0" smtClean="0"/>
              <a:t>Cost </a:t>
            </a:r>
            <a:r>
              <a:rPr lang="en-GB" sz="1600" b="1" dirty="0"/>
              <a:t>of Testing: </a:t>
            </a:r>
            <a:r>
              <a:rPr lang="en-GB" sz="1600" dirty="0"/>
              <a:t>This represents all the cost in carrying out </a:t>
            </a:r>
            <a:r>
              <a:rPr lang="en-GB" sz="1600" dirty="0" smtClean="0"/>
              <a:t>test-related activities</a:t>
            </a:r>
            <a:r>
              <a:rPr lang="en-GB" sz="1600" dirty="0"/>
              <a:t>.</a:t>
            </a:r>
          </a:p>
          <a:p>
            <a:pPr lvl="4"/>
            <a:r>
              <a:rPr lang="en-GB" sz="1600" b="1" dirty="0" smtClean="0"/>
              <a:t>Schedule</a:t>
            </a:r>
            <a:r>
              <a:rPr lang="en-GB" sz="1600" b="1" dirty="0"/>
              <a:t>:</a:t>
            </a:r>
            <a:r>
              <a:rPr lang="en-GB" sz="1600" dirty="0"/>
              <a:t> This concerns the start and finish times of the test </a:t>
            </a:r>
            <a:r>
              <a:rPr lang="en-GB" sz="1600" dirty="0" smtClean="0"/>
              <a:t>activities.</a:t>
            </a:r>
          </a:p>
          <a:p>
            <a:pPr lvl="3"/>
            <a:r>
              <a:rPr lang="en-GB" sz="1600" dirty="0" smtClean="0"/>
              <a:t>The </a:t>
            </a:r>
            <a:r>
              <a:rPr lang="en-GB" sz="1600" dirty="0"/>
              <a:t>following maturity </a:t>
            </a:r>
            <a:r>
              <a:rPr lang="en-GB" sz="1600" dirty="0" smtClean="0"/>
              <a:t>sub-goals </a:t>
            </a:r>
            <a:r>
              <a:rPr lang="en-GB" sz="1600" dirty="0"/>
              <a:t>are required to support the above goal:</a:t>
            </a:r>
          </a:p>
          <a:p>
            <a:pPr lvl="4"/>
            <a:r>
              <a:rPr lang="en-GB" sz="1600" dirty="0" smtClean="0"/>
              <a:t>The </a:t>
            </a:r>
            <a:r>
              <a:rPr lang="en-GB" sz="1600" dirty="0"/>
              <a:t>organization develops policies and mechanisms to monitor and </a:t>
            </a:r>
            <a:r>
              <a:rPr lang="en-GB" sz="1600" dirty="0" smtClean="0"/>
              <a:t>control test </a:t>
            </a:r>
            <a:r>
              <a:rPr lang="en-GB" sz="1600" dirty="0"/>
              <a:t>projects.</a:t>
            </a:r>
          </a:p>
          <a:p>
            <a:pPr lvl="4"/>
            <a:r>
              <a:rPr lang="en-GB" sz="1600" dirty="0" smtClean="0"/>
              <a:t>A </a:t>
            </a:r>
            <a:r>
              <a:rPr lang="en-GB" sz="1600" dirty="0"/>
              <a:t>set of metrics related to the employed test process must be </a:t>
            </a:r>
            <a:r>
              <a:rPr lang="en-GB" sz="1600" dirty="0" smtClean="0"/>
              <a:t>defined, recorded</a:t>
            </a:r>
            <a:r>
              <a:rPr lang="en-GB" sz="1600" dirty="0"/>
              <a:t>, and made available to all concerned test engineers.</a:t>
            </a:r>
          </a:p>
          <a:p>
            <a:pPr lvl="4"/>
            <a:r>
              <a:rPr lang="en-GB" sz="1600" dirty="0"/>
              <a:t>A set of potential corrective actions and contingency plans must be </a:t>
            </a:r>
            <a:r>
              <a:rPr lang="en-GB" sz="1600" dirty="0" smtClean="0"/>
              <a:t>defined and </a:t>
            </a:r>
            <a:r>
              <a:rPr lang="en-GB" sz="1600" dirty="0"/>
              <a:t>documented. It may be used when the actual progress of a </a:t>
            </a:r>
            <a:r>
              <a:rPr lang="en-GB" sz="1600" dirty="0" smtClean="0"/>
              <a:t>testing project </a:t>
            </a:r>
            <a:r>
              <a:rPr lang="en-GB" sz="1600" dirty="0"/>
              <a:t>significantly differs from the plan.</a:t>
            </a:r>
          </a:p>
          <a:p>
            <a:pPr lvl="3"/>
            <a:endParaRPr lang="en-GB" sz="1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07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</a:t>
            </a:r>
            <a:r>
              <a:rPr lang="en-GB" sz="2800" dirty="0"/>
              <a:t>– Level </a:t>
            </a:r>
            <a:r>
              <a:rPr lang="en-GB" sz="2800" dirty="0" smtClean="0"/>
              <a:t>4…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The maturity goals associated with the five levels of the TMM model will </a:t>
            </a:r>
            <a:r>
              <a:rPr lang="en-GB" sz="1800" dirty="0" smtClean="0"/>
              <a:t>be </a:t>
            </a:r>
            <a:r>
              <a:rPr lang="en-US" sz="1800" dirty="0" smtClean="0"/>
              <a:t>explained </a:t>
            </a:r>
            <a:r>
              <a:rPr lang="en-US" sz="1800" dirty="0"/>
              <a:t>in the following</a:t>
            </a:r>
            <a:r>
              <a:rPr lang="en-US" sz="1800" dirty="0" smtClean="0"/>
              <a:t>.</a:t>
            </a:r>
          </a:p>
          <a:p>
            <a:r>
              <a:rPr lang="en-GB" sz="1800" b="1" i="1" dirty="0"/>
              <a:t>Level </a:t>
            </a:r>
            <a:r>
              <a:rPr lang="en-GB" sz="1800" b="1" i="1" dirty="0" smtClean="0"/>
              <a:t>4. </a:t>
            </a:r>
            <a:r>
              <a:rPr lang="en-US" sz="1800" b="1" dirty="0"/>
              <a:t>management and </a:t>
            </a:r>
            <a:r>
              <a:rPr lang="en-US" sz="2400" b="1" dirty="0" smtClean="0"/>
              <a:t>measurement</a:t>
            </a:r>
            <a:r>
              <a:rPr lang="en-GB" sz="2400" b="1" i="1" dirty="0"/>
              <a:t> </a:t>
            </a:r>
            <a:r>
              <a:rPr lang="en-GB" sz="1800" b="1" i="1" dirty="0"/>
              <a:t>- </a:t>
            </a:r>
            <a:r>
              <a:rPr lang="en-GB" sz="1800" dirty="0"/>
              <a:t>At level 4 , testing acquires a much larger scope and is not just another phase in a software development life cycle.</a:t>
            </a:r>
            <a:endParaRPr lang="en-GB" sz="1800" dirty="0" smtClean="0"/>
          </a:p>
          <a:p>
            <a:pPr lvl="1"/>
            <a:r>
              <a:rPr lang="en-GB" sz="1800" dirty="0"/>
              <a:t>The following are the maturity goals at level 4:</a:t>
            </a:r>
          </a:p>
          <a:p>
            <a:pPr lvl="2"/>
            <a:r>
              <a:rPr lang="en-GB" sz="1800" dirty="0" smtClean="0"/>
              <a:t>Establish </a:t>
            </a:r>
            <a:r>
              <a:rPr lang="en-GB" sz="1800" dirty="0"/>
              <a:t>an </a:t>
            </a:r>
            <a:r>
              <a:rPr lang="en-GB" sz="1800" dirty="0" smtClean="0"/>
              <a:t>organization wide </a:t>
            </a:r>
            <a:r>
              <a:rPr lang="en-GB" sz="1800" dirty="0"/>
              <a:t>review program.</a:t>
            </a:r>
          </a:p>
          <a:p>
            <a:pPr lvl="2"/>
            <a:r>
              <a:rPr lang="en-GB" sz="1800" dirty="0" smtClean="0"/>
              <a:t>Establish </a:t>
            </a:r>
            <a:r>
              <a:rPr lang="en-GB" sz="1800" dirty="0"/>
              <a:t>a test measurement program.</a:t>
            </a:r>
          </a:p>
          <a:p>
            <a:pPr lvl="2"/>
            <a:r>
              <a:rPr lang="en-GB" sz="1800" dirty="0" smtClean="0"/>
              <a:t>Evaluate </a:t>
            </a:r>
            <a:r>
              <a:rPr lang="en-GB" sz="1800" dirty="0"/>
              <a:t>software quality.</a:t>
            </a:r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74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</a:t>
            </a:r>
            <a:r>
              <a:rPr lang="en-GB" sz="2800" dirty="0"/>
              <a:t>– Level </a:t>
            </a:r>
            <a:r>
              <a:rPr lang="en-GB" sz="2800" dirty="0" smtClean="0"/>
              <a:t>4…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lvl="2"/>
            <a:r>
              <a:rPr lang="en-GB" sz="1800" b="1" dirty="0" smtClean="0"/>
              <a:t>Establish </a:t>
            </a:r>
            <a:r>
              <a:rPr lang="en-GB" sz="1800" b="1" dirty="0"/>
              <a:t>an </a:t>
            </a:r>
            <a:r>
              <a:rPr lang="en-GB" sz="1800" b="1" dirty="0" smtClean="0"/>
              <a:t>organization wide </a:t>
            </a:r>
            <a:r>
              <a:rPr lang="en-GB" sz="1800" b="1" dirty="0"/>
              <a:t>review </a:t>
            </a:r>
            <a:r>
              <a:rPr lang="en-GB" sz="1800" b="1" dirty="0" smtClean="0"/>
              <a:t>program</a:t>
            </a:r>
            <a:r>
              <a:rPr lang="en-GB" sz="1800" b="1" dirty="0"/>
              <a:t> </a:t>
            </a:r>
            <a:r>
              <a:rPr lang="en-GB" sz="1800" dirty="0" smtClean="0"/>
              <a:t>- </a:t>
            </a:r>
            <a:r>
              <a:rPr lang="en-GB" sz="1800" dirty="0"/>
              <a:t>To augment the execution based testing, a review program is established to detect defects early in the life cycle of product development and at a lower cost.</a:t>
            </a:r>
          </a:p>
          <a:p>
            <a:pPr lvl="3"/>
            <a:r>
              <a:rPr lang="en-GB" sz="1800" dirty="0"/>
              <a:t>Maturity sub-goals that support this goal are as follows:</a:t>
            </a:r>
          </a:p>
          <a:p>
            <a:pPr lvl="4"/>
            <a:r>
              <a:rPr lang="en-GB" sz="1800" dirty="0"/>
              <a:t>Management should develop review policies and ensure that those policies are rigorously followed.</a:t>
            </a:r>
          </a:p>
          <a:p>
            <a:pPr lvl="4"/>
            <a:r>
              <a:rPr lang="en-GB" sz="1800" dirty="0"/>
              <a:t>The test group should develop goals, plans, procedures, and recording mechanisms for carrying out reviews.</a:t>
            </a:r>
          </a:p>
          <a:p>
            <a:pPr lvl="4"/>
            <a:r>
              <a:rPr lang="en-GB" sz="1800" dirty="0"/>
              <a:t>Objectives must be clearly defined.</a:t>
            </a:r>
          </a:p>
          <a:p>
            <a:pPr lvl="4"/>
            <a:r>
              <a:rPr lang="en-GB" sz="1800" dirty="0"/>
              <a:t>Members of the test group must be trained so that their effective participation in review processes is ensured.</a:t>
            </a:r>
          </a:p>
          <a:p>
            <a:pPr lvl="2"/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714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</a:t>
            </a:r>
            <a:r>
              <a:rPr lang="en-GB" sz="2800" dirty="0"/>
              <a:t>– Level </a:t>
            </a:r>
            <a:r>
              <a:rPr lang="en-GB" sz="2800" dirty="0" smtClean="0"/>
              <a:t>4…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lvl="2"/>
            <a:r>
              <a:rPr lang="en-GB" sz="1800" b="1" dirty="0" smtClean="0"/>
              <a:t>Establish </a:t>
            </a:r>
            <a:r>
              <a:rPr lang="en-GB" sz="1800" b="1" dirty="0"/>
              <a:t>a test measurement </a:t>
            </a:r>
            <a:r>
              <a:rPr lang="en-GB" sz="1800" b="1" dirty="0" smtClean="0"/>
              <a:t>program</a:t>
            </a:r>
            <a:r>
              <a:rPr lang="en-GB" sz="1800" b="1" dirty="0"/>
              <a:t> </a:t>
            </a:r>
            <a:r>
              <a:rPr lang="en-GB" sz="1800" dirty="0"/>
              <a:t>- A test measurement program is established to measure productivity, progress, and quality of work associated with testing</a:t>
            </a:r>
            <a:r>
              <a:rPr lang="en-GB" sz="1800" dirty="0" smtClean="0"/>
              <a:t>.</a:t>
            </a:r>
          </a:p>
          <a:p>
            <a:pPr lvl="3"/>
            <a:r>
              <a:rPr lang="en-GB" sz="1800" dirty="0"/>
              <a:t>Maturity </a:t>
            </a:r>
            <a:r>
              <a:rPr lang="en-GB" sz="1800" dirty="0" smtClean="0"/>
              <a:t>sub-goals </a:t>
            </a:r>
            <a:r>
              <a:rPr lang="en-GB" sz="1800" dirty="0"/>
              <a:t>that support this goal are </a:t>
            </a:r>
            <a:r>
              <a:rPr lang="en-GB" sz="1800" dirty="0" smtClean="0"/>
              <a:t>as follows</a:t>
            </a:r>
            <a:r>
              <a:rPr lang="en-GB" sz="1800" dirty="0"/>
              <a:t>:</a:t>
            </a:r>
          </a:p>
          <a:p>
            <a:pPr lvl="4"/>
            <a:r>
              <a:rPr lang="en-GB" sz="1800" dirty="0" smtClean="0"/>
              <a:t>Test </a:t>
            </a:r>
            <a:r>
              <a:rPr lang="en-GB" sz="1800" dirty="0"/>
              <a:t>metrics should be identified along with their goals.</a:t>
            </a:r>
          </a:p>
          <a:p>
            <a:pPr lvl="4"/>
            <a:r>
              <a:rPr lang="en-GB" sz="1800" dirty="0" smtClean="0"/>
              <a:t>A </a:t>
            </a:r>
            <a:r>
              <a:rPr lang="en-GB" sz="1800" dirty="0"/>
              <a:t>test measurement plan should be developed with data collection </a:t>
            </a:r>
            <a:r>
              <a:rPr lang="en-GB" sz="1800" dirty="0" smtClean="0"/>
              <a:t>and analysis</a:t>
            </a:r>
            <a:r>
              <a:rPr lang="en-GB" sz="1800" dirty="0"/>
              <a:t>.</a:t>
            </a:r>
          </a:p>
          <a:p>
            <a:pPr lvl="4"/>
            <a:r>
              <a:rPr lang="en-GB" sz="1800" dirty="0" smtClean="0"/>
              <a:t>An </a:t>
            </a:r>
            <a:r>
              <a:rPr lang="en-GB" sz="1800" dirty="0"/>
              <a:t>action plan should be developed to achieve process improvement </a:t>
            </a:r>
            <a:r>
              <a:rPr lang="en-GB" sz="1800" dirty="0" smtClean="0"/>
              <a:t>by considering </a:t>
            </a:r>
            <a:r>
              <a:rPr lang="en-GB" sz="1800" dirty="0"/>
              <a:t>the measured data.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92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</a:t>
            </a:r>
            <a:r>
              <a:rPr lang="en-GB" sz="2800" dirty="0"/>
              <a:t>– Level </a:t>
            </a:r>
            <a:r>
              <a:rPr lang="en-GB" sz="2800" dirty="0" smtClean="0"/>
              <a:t>4…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lvl="2"/>
            <a:r>
              <a:rPr lang="en-GB" sz="1800" b="1" dirty="0" smtClean="0"/>
              <a:t>Evaluate </a:t>
            </a:r>
            <a:r>
              <a:rPr lang="en-GB" sz="1800" b="1" dirty="0"/>
              <a:t>software quality </a:t>
            </a:r>
            <a:r>
              <a:rPr lang="en-GB" sz="1800" dirty="0"/>
              <a:t>- An important goal of a software </a:t>
            </a:r>
            <a:r>
              <a:rPr lang="en-GB" sz="1800" dirty="0" smtClean="0"/>
              <a:t>development process </a:t>
            </a:r>
            <a:r>
              <a:rPr lang="en-GB" sz="1800" dirty="0"/>
              <a:t>is to produce software products of the highest possible quality</a:t>
            </a:r>
            <a:r>
              <a:rPr lang="en-GB" sz="1800" dirty="0" smtClean="0"/>
              <a:t>.</a:t>
            </a:r>
          </a:p>
          <a:p>
            <a:pPr lvl="3"/>
            <a:r>
              <a:rPr lang="en-GB" sz="1800" dirty="0"/>
              <a:t>The maturity </a:t>
            </a:r>
            <a:r>
              <a:rPr lang="en-GB" sz="1800" dirty="0" smtClean="0"/>
              <a:t>sub-goals that </a:t>
            </a:r>
            <a:r>
              <a:rPr lang="en-GB" sz="1800" dirty="0"/>
              <a:t>support this goal are as follows:</a:t>
            </a:r>
          </a:p>
          <a:p>
            <a:pPr lvl="4"/>
            <a:r>
              <a:rPr lang="en-GB" sz="1800" dirty="0" smtClean="0"/>
              <a:t>The </a:t>
            </a:r>
            <a:r>
              <a:rPr lang="en-GB" sz="1800" dirty="0"/>
              <a:t>organization should define quality attributes and quality goals for </a:t>
            </a:r>
            <a:r>
              <a:rPr lang="en-GB" sz="1800" dirty="0" smtClean="0"/>
              <a:t>software products</a:t>
            </a:r>
            <a:r>
              <a:rPr lang="en-GB" sz="1800" dirty="0"/>
              <a:t>.</a:t>
            </a:r>
          </a:p>
          <a:p>
            <a:pPr lvl="4"/>
            <a:r>
              <a:rPr lang="en-GB" sz="1800" dirty="0" smtClean="0"/>
              <a:t>Management </a:t>
            </a:r>
            <a:r>
              <a:rPr lang="en-GB" sz="1800" dirty="0"/>
              <a:t>should develop policies and mechanisms to collect test </a:t>
            </a:r>
            <a:r>
              <a:rPr lang="en-GB" sz="1800" dirty="0" smtClean="0"/>
              <a:t>metrics to </a:t>
            </a:r>
            <a:r>
              <a:rPr lang="en-GB" sz="1800" dirty="0"/>
              <a:t>support the quality goals.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937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– Level 5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b="1" i="1" dirty="0" smtClean="0"/>
              <a:t>Level 5. </a:t>
            </a:r>
            <a:r>
              <a:rPr lang="en-GB" sz="1800" b="1" dirty="0"/>
              <a:t>optimization, defect prevention, and quality control </a:t>
            </a:r>
            <a:r>
              <a:rPr lang="en-GB" sz="1800" b="1" dirty="0" smtClean="0"/>
              <a:t>:</a:t>
            </a:r>
            <a:r>
              <a:rPr lang="en-GB" sz="1800" b="1" i="1" dirty="0" smtClean="0"/>
              <a:t> </a:t>
            </a:r>
          </a:p>
          <a:p>
            <a:pPr lvl="1"/>
            <a:r>
              <a:rPr lang="en-GB" sz="1800" dirty="0"/>
              <a:t>optimization means spending less resources to achieve higher </a:t>
            </a:r>
            <a:r>
              <a:rPr lang="en-GB" sz="1800" dirty="0" smtClean="0"/>
              <a:t>quality products</a:t>
            </a:r>
            <a:r>
              <a:rPr lang="en-GB" sz="1800" dirty="0"/>
              <a:t>, </a:t>
            </a:r>
            <a:endParaRPr lang="en-GB" sz="1800" dirty="0" smtClean="0"/>
          </a:p>
          <a:p>
            <a:pPr lvl="1"/>
            <a:r>
              <a:rPr lang="en-GB" sz="1800" dirty="0" smtClean="0"/>
              <a:t>and </a:t>
            </a:r>
            <a:r>
              <a:rPr lang="en-GB" sz="1800" dirty="0"/>
              <a:t>defect prevention means taking measures throughout the </a:t>
            </a:r>
            <a:r>
              <a:rPr lang="en-GB" sz="1800" dirty="0" smtClean="0"/>
              <a:t>development process </a:t>
            </a:r>
            <a:r>
              <a:rPr lang="en-GB" sz="1800" dirty="0"/>
              <a:t>so that products are largely defect free. </a:t>
            </a:r>
            <a:endParaRPr lang="en-GB" sz="1800" dirty="0" smtClean="0"/>
          </a:p>
          <a:p>
            <a:pPr lvl="1"/>
            <a:r>
              <a:rPr lang="en-GB" sz="1800" dirty="0" smtClean="0"/>
              <a:t>At </a:t>
            </a:r>
            <a:r>
              <a:rPr lang="en-GB" sz="1800" dirty="0"/>
              <a:t>level 5, the maturity </a:t>
            </a:r>
            <a:r>
              <a:rPr lang="en-GB" sz="1800" dirty="0" smtClean="0"/>
              <a:t>goals are </a:t>
            </a:r>
            <a:r>
              <a:rPr lang="en-GB" sz="1800" dirty="0"/>
              <a:t>as follows:</a:t>
            </a:r>
          </a:p>
          <a:p>
            <a:pPr lvl="2"/>
            <a:r>
              <a:rPr lang="en-GB" sz="1800" dirty="0" smtClean="0"/>
              <a:t>Application </a:t>
            </a:r>
            <a:r>
              <a:rPr lang="en-GB" sz="1800" dirty="0"/>
              <a:t>of process data for defect prevention </a:t>
            </a:r>
            <a:endParaRPr lang="en-GB" sz="1800" dirty="0" smtClean="0"/>
          </a:p>
          <a:p>
            <a:pPr lvl="2"/>
            <a:r>
              <a:rPr lang="en-GB" sz="1800" dirty="0" smtClean="0"/>
              <a:t>Statistical </a:t>
            </a:r>
            <a:r>
              <a:rPr lang="en-GB" sz="1800" dirty="0"/>
              <a:t>quality control</a:t>
            </a:r>
          </a:p>
          <a:p>
            <a:pPr lvl="2"/>
            <a:r>
              <a:rPr lang="en-GB" sz="1800" dirty="0" smtClean="0"/>
              <a:t>Test </a:t>
            </a:r>
            <a:r>
              <a:rPr lang="en-GB" sz="1800" dirty="0"/>
              <a:t>process optimization</a:t>
            </a:r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85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</a:t>
            </a:r>
            <a:r>
              <a:rPr lang="en-GB" sz="2800" dirty="0"/>
              <a:t>– Level </a:t>
            </a:r>
            <a:r>
              <a:rPr lang="en-GB" sz="2800" dirty="0" smtClean="0"/>
              <a:t>5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lvl="2"/>
            <a:r>
              <a:rPr lang="en-GB" sz="1800" b="1" dirty="0" smtClean="0"/>
              <a:t>Application </a:t>
            </a:r>
            <a:r>
              <a:rPr lang="en-GB" sz="1800" b="1" dirty="0"/>
              <a:t>of process data for defect prevention </a:t>
            </a:r>
            <a:r>
              <a:rPr lang="en-GB" sz="1800" dirty="0"/>
              <a:t>- organizations make a sustained effort to learn from experience to reduce the number of defects in a system</a:t>
            </a:r>
            <a:r>
              <a:rPr lang="en-GB" sz="1800" dirty="0" smtClean="0"/>
              <a:t>.</a:t>
            </a:r>
          </a:p>
          <a:p>
            <a:pPr lvl="3"/>
            <a:r>
              <a:rPr lang="en-GB" sz="1600" dirty="0"/>
              <a:t>Maturity </a:t>
            </a:r>
            <a:r>
              <a:rPr lang="en-GB" sz="1600" dirty="0" smtClean="0"/>
              <a:t>sub-goals </a:t>
            </a:r>
            <a:r>
              <a:rPr lang="en-GB" sz="1600" dirty="0"/>
              <a:t>that support this goal are as follows:</a:t>
            </a:r>
          </a:p>
          <a:p>
            <a:pPr lvl="4"/>
            <a:r>
              <a:rPr lang="en-GB" sz="1600" dirty="0" smtClean="0"/>
              <a:t>Management </a:t>
            </a:r>
            <a:r>
              <a:rPr lang="en-GB" sz="1600" dirty="0"/>
              <a:t>should establish a defect prevention team.</a:t>
            </a:r>
          </a:p>
          <a:p>
            <a:pPr lvl="4"/>
            <a:r>
              <a:rPr lang="en-GB" sz="1600" dirty="0" smtClean="0"/>
              <a:t>Defects </a:t>
            </a:r>
            <a:r>
              <a:rPr lang="en-GB" sz="1600" dirty="0"/>
              <a:t>identified and removed are documented in each phase of the development.</a:t>
            </a:r>
          </a:p>
          <a:p>
            <a:pPr lvl="4"/>
            <a:r>
              <a:rPr lang="en-GB" sz="1600" dirty="0" smtClean="0"/>
              <a:t>Each </a:t>
            </a:r>
            <a:r>
              <a:rPr lang="en-GB" sz="1600" dirty="0"/>
              <a:t>defect is </a:t>
            </a:r>
            <a:r>
              <a:rPr lang="en-GB" sz="1600" dirty="0" smtClean="0"/>
              <a:t>analysed </a:t>
            </a:r>
            <a:r>
              <a:rPr lang="en-GB" sz="1600" dirty="0"/>
              <a:t>to get to its root cause.</a:t>
            </a:r>
          </a:p>
          <a:p>
            <a:pPr lvl="4"/>
            <a:r>
              <a:rPr lang="en-GB" sz="1600" dirty="0" smtClean="0"/>
              <a:t>Managers</a:t>
            </a:r>
            <a:r>
              <a:rPr lang="en-GB" sz="1600" dirty="0"/>
              <a:t>, developers, and the test group should interact to develop an</a:t>
            </a:r>
          </a:p>
          <a:p>
            <a:pPr lvl="4"/>
            <a:r>
              <a:rPr lang="en-GB" sz="1600" dirty="0"/>
              <a:t>action plan to eliminate recurrence of commonly occurring defects.</a:t>
            </a:r>
          </a:p>
          <a:p>
            <a:pPr lvl="4"/>
            <a:r>
              <a:rPr lang="en-GB" sz="1600" dirty="0" smtClean="0"/>
              <a:t>Management </a:t>
            </a:r>
            <a:r>
              <a:rPr lang="en-GB" sz="1600" dirty="0"/>
              <a:t>should put in place a mechanism to implement and track </a:t>
            </a:r>
            <a:r>
              <a:rPr lang="en-GB" sz="1600" dirty="0" smtClean="0"/>
              <a:t>the action </a:t>
            </a:r>
            <a:r>
              <a:rPr lang="en-GB" sz="1600" dirty="0"/>
              <a:t>plan</a:t>
            </a:r>
            <a:r>
              <a:rPr lang="en-GB" sz="1600" dirty="0" smtClean="0"/>
              <a:t>.</a:t>
            </a:r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57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</a:t>
            </a:r>
            <a:r>
              <a:rPr lang="en-GB" sz="2800" dirty="0"/>
              <a:t>– Level 5</a:t>
            </a:r>
            <a:r>
              <a:rPr lang="en-GB" sz="2800" dirty="0" smtClean="0"/>
              <a:t>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lvl="2"/>
            <a:r>
              <a:rPr lang="en-GB" sz="1800" b="1" dirty="0" smtClean="0"/>
              <a:t>Statistical </a:t>
            </a:r>
            <a:r>
              <a:rPr lang="en-GB" sz="1800" b="1" dirty="0"/>
              <a:t>quality control </a:t>
            </a:r>
            <a:r>
              <a:rPr lang="en-GB" sz="1800" dirty="0"/>
              <a:t>- organizations further </a:t>
            </a:r>
            <a:r>
              <a:rPr lang="en-GB" sz="1800" dirty="0" smtClean="0"/>
              <a:t>improve the </a:t>
            </a:r>
            <a:r>
              <a:rPr lang="en-GB" sz="1800" dirty="0"/>
              <a:t>quality of software products by driving the testing process with statistical </a:t>
            </a:r>
            <a:r>
              <a:rPr lang="en-GB" sz="1800" dirty="0" smtClean="0"/>
              <a:t>sampling, measurement </a:t>
            </a:r>
            <a:r>
              <a:rPr lang="en-GB" sz="1800" dirty="0"/>
              <a:t>of confidence levels, trustworthiness, and software </a:t>
            </a:r>
            <a:r>
              <a:rPr lang="en-GB" sz="1800" dirty="0" smtClean="0"/>
              <a:t>reliability goals.</a:t>
            </a:r>
          </a:p>
          <a:p>
            <a:pPr lvl="3"/>
            <a:r>
              <a:rPr lang="en-GB" sz="1600" dirty="0" smtClean="0"/>
              <a:t>Sub-goals </a:t>
            </a:r>
            <a:r>
              <a:rPr lang="en-GB" sz="1600" dirty="0"/>
              <a:t>that support </a:t>
            </a:r>
            <a:r>
              <a:rPr lang="en-GB" sz="1600" dirty="0" smtClean="0"/>
              <a:t>statistical quality </a:t>
            </a:r>
            <a:r>
              <a:rPr lang="en-GB" sz="1600" dirty="0"/>
              <a:t>control are as follows:</a:t>
            </a:r>
          </a:p>
          <a:p>
            <a:pPr lvl="4"/>
            <a:r>
              <a:rPr lang="en-GB" sz="1600" dirty="0" smtClean="0"/>
              <a:t>The </a:t>
            </a:r>
            <a:r>
              <a:rPr lang="en-GB" sz="1600" dirty="0"/>
              <a:t>test group establishes high-level measurable quality goals, such as </a:t>
            </a:r>
            <a:r>
              <a:rPr lang="en-GB" sz="1600" dirty="0" smtClean="0"/>
              <a:t>test case </a:t>
            </a:r>
            <a:r>
              <a:rPr lang="en-GB" sz="1600" dirty="0"/>
              <a:t>execution rate, defects arrival rate, and total number of defects </a:t>
            </a:r>
            <a:r>
              <a:rPr lang="en-GB" sz="1600" dirty="0" smtClean="0"/>
              <a:t>that can </a:t>
            </a:r>
            <a:r>
              <a:rPr lang="en-GB" sz="1600" dirty="0"/>
              <a:t>be found during testing.</a:t>
            </a:r>
          </a:p>
          <a:p>
            <a:pPr lvl="4"/>
            <a:r>
              <a:rPr lang="en-GB" sz="1600" dirty="0" smtClean="0"/>
              <a:t>Managers </a:t>
            </a:r>
            <a:r>
              <a:rPr lang="en-GB" sz="1600" dirty="0"/>
              <a:t>ensure that the new quality goals form a part of the test plan.</a:t>
            </a:r>
          </a:p>
          <a:p>
            <a:pPr lvl="4"/>
            <a:r>
              <a:rPr lang="en-GB" sz="1600" dirty="0" smtClean="0"/>
              <a:t>The </a:t>
            </a:r>
            <a:r>
              <a:rPr lang="en-GB" sz="1600" dirty="0"/>
              <a:t>test group is trained in statistical testing and analysis methods: </a:t>
            </a:r>
            <a:endParaRPr lang="en-GB" sz="1600" dirty="0" smtClean="0"/>
          </a:p>
          <a:p>
            <a:pPr lvl="5"/>
            <a:r>
              <a:rPr lang="en-GB" sz="1600" dirty="0" smtClean="0"/>
              <a:t>Pareto analysis</a:t>
            </a:r>
            <a:r>
              <a:rPr lang="en-GB" sz="1600" dirty="0"/>
              <a:t>, cause-and-effect diagram, flow chart, trend chart, histogram, </a:t>
            </a:r>
            <a:r>
              <a:rPr lang="en-GB" sz="1600" dirty="0" smtClean="0"/>
              <a:t>scatter diagram</a:t>
            </a:r>
            <a:r>
              <a:rPr lang="en-GB" sz="1600" dirty="0"/>
              <a:t>, and control chart.</a:t>
            </a:r>
          </a:p>
          <a:p>
            <a:pPr lvl="4"/>
            <a:r>
              <a:rPr lang="en-GB" sz="1600" dirty="0" smtClean="0"/>
              <a:t>User </a:t>
            </a:r>
            <a:r>
              <a:rPr lang="en-GB" sz="1600" dirty="0"/>
              <a:t>inputs are gathered for usage </a:t>
            </a:r>
            <a:r>
              <a:rPr lang="en-GB" sz="1600" dirty="0" smtClean="0"/>
              <a:t>modelling.</a:t>
            </a:r>
            <a:endParaRPr lang="en-GB" sz="1600" dirty="0"/>
          </a:p>
          <a:p>
            <a:pPr lvl="3"/>
            <a:endParaRPr lang="en-GB" sz="1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355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…Testing Maturity Model </a:t>
            </a:r>
            <a:r>
              <a:rPr lang="en-GB" sz="2800" dirty="0"/>
              <a:t>(</a:t>
            </a:r>
            <a:r>
              <a:rPr lang="en-GB" sz="2800" dirty="0" smtClean="0"/>
              <a:t>TMM) </a:t>
            </a:r>
            <a:r>
              <a:rPr lang="en-GB" sz="2800" dirty="0"/>
              <a:t>– Level </a:t>
            </a:r>
            <a:r>
              <a:rPr lang="en-GB" sz="2800" dirty="0" smtClean="0"/>
              <a:t>5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 lvl="2"/>
            <a:r>
              <a:rPr lang="en-GB" sz="1800" b="1" dirty="0" smtClean="0"/>
              <a:t>Test </a:t>
            </a:r>
            <a:r>
              <a:rPr lang="en-GB" sz="1800" b="1" dirty="0"/>
              <a:t>process optimization </a:t>
            </a:r>
            <a:r>
              <a:rPr lang="en-GB" sz="1800" dirty="0"/>
              <a:t>- refers to all those activities which result in continuous improvement of the testing process</a:t>
            </a:r>
            <a:r>
              <a:rPr lang="en-GB" sz="1800" dirty="0" smtClean="0"/>
              <a:t>.</a:t>
            </a:r>
          </a:p>
          <a:p>
            <a:pPr lvl="3"/>
            <a:r>
              <a:rPr lang="en-GB" sz="1600" dirty="0"/>
              <a:t>Test optimization involves the following activities:</a:t>
            </a:r>
          </a:p>
          <a:p>
            <a:pPr lvl="4"/>
            <a:r>
              <a:rPr lang="en-GB" sz="1600" dirty="0" smtClean="0"/>
              <a:t>Identify </a:t>
            </a:r>
            <a:r>
              <a:rPr lang="en-GB" sz="1600" dirty="0"/>
              <a:t>the testing practices that can be improved.</a:t>
            </a:r>
          </a:p>
          <a:p>
            <a:pPr lvl="4"/>
            <a:r>
              <a:rPr lang="en-GB" sz="1600" dirty="0" smtClean="0"/>
              <a:t>Define </a:t>
            </a:r>
            <a:r>
              <a:rPr lang="en-GB" sz="1600" dirty="0"/>
              <a:t>a mechanism to improve an identified practice.</a:t>
            </a:r>
          </a:p>
          <a:p>
            <a:pPr lvl="4"/>
            <a:r>
              <a:rPr lang="en-GB" sz="1600" dirty="0" smtClean="0"/>
              <a:t>Put </a:t>
            </a:r>
            <a:r>
              <a:rPr lang="en-GB" sz="1600" dirty="0"/>
              <a:t>a mechanism in place to track the practice improvement mechanism.</a:t>
            </a:r>
          </a:p>
          <a:p>
            <a:pPr lvl="4"/>
            <a:r>
              <a:rPr lang="en-GB" sz="1600" dirty="0" smtClean="0"/>
              <a:t>Continuously </a:t>
            </a:r>
            <a:r>
              <a:rPr lang="en-GB" sz="1600" dirty="0"/>
              <a:t>evaluate new test-related technologies and tools.</a:t>
            </a:r>
          </a:p>
          <a:p>
            <a:pPr lvl="4"/>
            <a:r>
              <a:rPr lang="en-GB" sz="1600" dirty="0" smtClean="0"/>
              <a:t>Develop </a:t>
            </a:r>
            <a:r>
              <a:rPr lang="en-GB" sz="1600" dirty="0"/>
              <a:t>management support for technology transfer.</a:t>
            </a:r>
            <a:endParaRPr lang="en-GB" sz="1600" dirty="0" smtClean="0"/>
          </a:p>
          <a:p>
            <a:pPr lvl="3"/>
            <a:r>
              <a:rPr lang="en-GB" sz="1600" dirty="0"/>
              <a:t>Maturity </a:t>
            </a:r>
            <a:r>
              <a:rPr lang="en-GB" sz="1600" dirty="0" smtClean="0"/>
              <a:t>sub-goals </a:t>
            </a:r>
            <a:r>
              <a:rPr lang="en-GB" sz="1600" dirty="0"/>
              <a:t>that support test process optimization are as follows</a:t>
            </a:r>
            <a:r>
              <a:rPr lang="en-GB" sz="1600" dirty="0" smtClean="0"/>
              <a:t>:</a:t>
            </a:r>
          </a:p>
          <a:p>
            <a:pPr lvl="4"/>
            <a:r>
              <a:rPr lang="en-GB" sz="1600" dirty="0"/>
              <a:t>Establish a test process improvement group to monitor the testing </a:t>
            </a:r>
            <a:r>
              <a:rPr lang="en-GB" sz="1600" dirty="0" smtClean="0"/>
              <a:t>process and </a:t>
            </a:r>
            <a:r>
              <a:rPr lang="en-GB" sz="1600" dirty="0"/>
              <a:t>identify areas for improvement.</a:t>
            </a:r>
          </a:p>
          <a:p>
            <a:pPr lvl="4"/>
            <a:r>
              <a:rPr lang="en-GB" sz="1600" dirty="0" smtClean="0"/>
              <a:t>Evaluate </a:t>
            </a:r>
            <a:r>
              <a:rPr lang="en-GB" sz="1600" dirty="0"/>
              <a:t>new technologies and tools to improve the capability of the </a:t>
            </a:r>
            <a:r>
              <a:rPr lang="en-GB" sz="1600" dirty="0" smtClean="0"/>
              <a:t>testing process</a:t>
            </a:r>
            <a:r>
              <a:rPr lang="en-GB" sz="1600" dirty="0"/>
              <a:t>. </a:t>
            </a:r>
            <a:endParaRPr lang="en-GB" sz="1600" dirty="0" smtClean="0"/>
          </a:p>
          <a:p>
            <a:pPr lvl="4"/>
            <a:r>
              <a:rPr lang="en-GB" sz="1600" dirty="0" smtClean="0"/>
              <a:t>There </a:t>
            </a:r>
            <a:r>
              <a:rPr lang="en-GB" sz="1600" dirty="0"/>
              <a:t>must be management support to establish policies </a:t>
            </a:r>
            <a:r>
              <a:rPr lang="en-GB" sz="1600" dirty="0" smtClean="0"/>
              <a:t>and mechanisms </a:t>
            </a:r>
            <a:r>
              <a:rPr lang="en-GB" sz="1600" dirty="0"/>
              <a:t>for this purpose.</a:t>
            </a:r>
          </a:p>
          <a:p>
            <a:pPr lvl="4"/>
            <a:r>
              <a:rPr lang="en-GB" sz="1600" dirty="0" smtClean="0"/>
              <a:t>A </a:t>
            </a:r>
            <a:r>
              <a:rPr lang="en-GB" sz="1600" dirty="0"/>
              <a:t>mechanism is put in place for continual evaluation of the </a:t>
            </a:r>
            <a:r>
              <a:rPr lang="en-GB" sz="1600" dirty="0" smtClean="0"/>
              <a:t>effectiveness of </a:t>
            </a:r>
            <a:r>
              <a:rPr lang="en-GB" sz="1600" dirty="0"/>
              <a:t>the testing process.</a:t>
            </a:r>
          </a:p>
          <a:p>
            <a:pPr lvl="4"/>
            <a:r>
              <a:rPr lang="en-GB" sz="1600" dirty="0"/>
              <a:t>T</a:t>
            </a:r>
            <a:r>
              <a:rPr lang="en-GB" sz="1600" dirty="0" smtClean="0"/>
              <a:t>est </a:t>
            </a:r>
            <a:r>
              <a:rPr lang="en-GB" sz="1600" dirty="0"/>
              <a:t>stopping criteria are based on quality goals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98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</TotalTime>
  <Words>2768</Words>
  <Application>Microsoft Office PowerPoint</Application>
  <PresentationFormat>On-screen Show (4:3)</PresentationFormat>
  <Paragraphs>191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Testing Maturity Model (TMM)</vt:lpstr>
      <vt:lpstr>… Testing Maturity Model (TMM) …</vt:lpstr>
      <vt:lpstr>…Testing Maturity Model (TMM) …</vt:lpstr>
      <vt:lpstr>Testing Maturity Model (TMM) – Level 1</vt:lpstr>
      <vt:lpstr>Testing Maturity Model (TMM) – Level 2 …</vt:lpstr>
      <vt:lpstr>… Testing Maturity Model (TMM) – Level 2 …</vt:lpstr>
      <vt:lpstr>… Testing Maturity Model (TMM) – Level 2 …</vt:lpstr>
      <vt:lpstr>… Testing Maturity Model (TMM) – Level 2 </vt:lpstr>
      <vt:lpstr>Testing Maturity Model (TMM) – Level 3…</vt:lpstr>
      <vt:lpstr>… Testing Maturity Model (TMM) – Level 3…</vt:lpstr>
      <vt:lpstr>… Testing Maturity Model (TMM) – Level 3…</vt:lpstr>
      <vt:lpstr>… Testing Maturity Model (TMM) – Level 3…</vt:lpstr>
      <vt:lpstr>… Testing Maturity Model (TMM) – Level 3…</vt:lpstr>
      <vt:lpstr>Testing Maturity Model (TMM) – Level 4…</vt:lpstr>
      <vt:lpstr>… Testing Maturity Model (TMM) – Level 4…</vt:lpstr>
      <vt:lpstr>… Testing Maturity Model (TMM) – Level 4…</vt:lpstr>
      <vt:lpstr>… Testing Maturity Model (TMM) – Level 4…</vt:lpstr>
      <vt:lpstr>Testing Maturity Model (TMM) – Level 5</vt:lpstr>
      <vt:lpstr>…Testing Maturity Model (TMM) – Level 5 …</vt:lpstr>
      <vt:lpstr>…Testing Maturity Model (TMM) – Level 5…</vt:lpstr>
      <vt:lpstr>…Testing Maturity Model (TMM) – Level 5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</dc:title>
  <dc:creator>gulraiz</dc:creator>
  <cp:lastModifiedBy>Windows User</cp:lastModifiedBy>
  <cp:revision>221</cp:revision>
  <dcterms:created xsi:type="dcterms:W3CDTF">2014-08-12T16:29:38Z</dcterms:created>
  <dcterms:modified xsi:type="dcterms:W3CDTF">2023-12-11T10:43:46Z</dcterms:modified>
</cp:coreProperties>
</file>