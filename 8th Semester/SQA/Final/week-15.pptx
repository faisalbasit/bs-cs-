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2" r:id="rId2"/>
    <p:sldId id="284" r:id="rId3"/>
    <p:sldId id="287" r:id="rId4"/>
    <p:sldId id="285" r:id="rId5"/>
    <p:sldId id="286" r:id="rId6"/>
    <p:sldId id="289" r:id="rId7"/>
    <p:sldId id="290" r:id="rId8"/>
    <p:sldId id="291" r:id="rId9"/>
    <p:sldId id="292" r:id="rId10"/>
    <p:sldId id="294" r:id="rId11"/>
    <p:sldId id="295" r:id="rId12"/>
    <p:sldId id="296" r:id="rId13"/>
    <p:sldId id="293" r:id="rId14"/>
    <p:sldId id="28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17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14" name="Title 1">
            <a:extLst>
              <a:ext uri="{FF2B5EF4-FFF2-40B4-BE49-F238E27FC236}">
                <a16:creationId xmlns="" xmlns:a16="http://schemas.microsoft.com/office/drawing/2014/main"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5" name="Subtitle 2">
            <a:extLst>
              <a:ext uri="{FF2B5EF4-FFF2-40B4-BE49-F238E27FC236}">
                <a16:creationId xmlns="" xmlns:a16="http://schemas.microsoft.com/office/drawing/2014/main"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15</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Definition</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static testing is a human testing technique that does not involve executing or running the program or software product. Instead it involves, checking or monitoring the software at each phase of Software Development Life </a:t>
            </a:r>
            <a:r>
              <a:rPr lang="en-GB" sz="1800" dirty="0" smtClean="0"/>
              <a:t>Cycle.</a:t>
            </a:r>
          </a:p>
          <a:p>
            <a:r>
              <a:rPr lang="en-GB" sz="1800" b="1" dirty="0"/>
              <a:t>Static testing</a:t>
            </a:r>
            <a:r>
              <a:rPr lang="en-GB" sz="1800" dirty="0"/>
              <a:t> is a type of software testing that is focused on evaluating the quality of a system or application without executing the code. It is an important aspect of software testing as it helps identify defects and issues early in the development process and ensures that the system is of high quality.</a:t>
            </a:r>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pPr fontAlgn="base"/>
            <a:r>
              <a:rPr lang="en-GB" sz="2800" b="1" dirty="0"/>
              <a:t>Why Is Static Testing Important?</a:t>
            </a:r>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a:t>To identify defects early:</a:t>
            </a:r>
            <a:r>
              <a:rPr lang="en-GB" sz="1800" dirty="0"/>
              <a:t> This testing helps identify defects and issues early in the development process, which allows organizations to fix them before the system deployed. This saves time and resources in the long run and ensures that the system is of high quality.</a:t>
            </a:r>
          </a:p>
          <a:p>
            <a:pPr fontAlgn="base"/>
            <a:r>
              <a:rPr lang="en-GB" sz="1800" b="1" dirty="0"/>
              <a:t>To improve code quality: </a:t>
            </a:r>
            <a:r>
              <a:rPr lang="en-GB" sz="1800" dirty="0"/>
              <a:t>This testing also helps improve the quality of the code by identifying issues such as syntax errors, coding standards violations, and design flaws.</a:t>
            </a:r>
          </a:p>
          <a:p>
            <a:pPr fontAlgn="base"/>
            <a:r>
              <a:rPr lang="en-GB" sz="1800" b="1" dirty="0"/>
              <a:t>To reduce maintenance costs: </a:t>
            </a:r>
            <a:r>
              <a:rPr lang="en-GB" sz="1800" dirty="0"/>
              <a:t>This testing helps reduce maintenance costs by identifying and fixing defects early in the development process.</a:t>
            </a:r>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486477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Types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a:t>Reviews:</a:t>
            </a:r>
            <a:r>
              <a:rPr lang="en-GB" sz="1800" dirty="0"/>
              <a:t> A review is a process of examining the software or its documentation to identify defects or quality issues. There are several types of reviews, including formal reviews, informal reviews, walkthroughs, and inspections.</a:t>
            </a:r>
          </a:p>
          <a:p>
            <a:pPr fontAlgn="base"/>
            <a:r>
              <a:rPr lang="en-GB" sz="1800" b="1" dirty="0"/>
              <a:t>Static analysis: </a:t>
            </a:r>
            <a:r>
              <a:rPr lang="en-GB" sz="1800" dirty="0"/>
              <a:t>Static analysis involves </a:t>
            </a:r>
            <a:r>
              <a:rPr lang="en-GB" sz="1800" dirty="0" err="1"/>
              <a:t>analyzing</a:t>
            </a:r>
            <a:r>
              <a:rPr lang="en-GB" sz="1800" dirty="0"/>
              <a:t> the software without executing the code to find defects, security vulnerabilities, or performance issues. There are several tools available for performing static analysis, such as </a:t>
            </a:r>
            <a:r>
              <a:rPr lang="en-GB" sz="1800" dirty="0" err="1"/>
              <a:t>SonarQube</a:t>
            </a:r>
            <a:r>
              <a:rPr lang="en-GB" sz="1800" dirty="0"/>
              <a:t>, PMD, and </a:t>
            </a:r>
            <a:r>
              <a:rPr lang="en-GB" sz="1800" dirty="0" err="1"/>
              <a:t>FindBugs</a:t>
            </a:r>
            <a:r>
              <a:rPr lang="en-GB" sz="1800" dirty="0"/>
              <a:t>.</a:t>
            </a:r>
          </a:p>
          <a:p>
            <a:pPr fontAlgn="base"/>
            <a:r>
              <a:rPr lang="en-GB" sz="1800" b="1" dirty="0"/>
              <a:t>Code inspection:</a:t>
            </a:r>
            <a:r>
              <a:rPr lang="en-GB" sz="1800" dirty="0"/>
              <a:t> Code inspection involves reviewing the source code to find defects, coding standards violations, or other issues. Code inspection is usually done manually by a team of developers.</a:t>
            </a:r>
          </a:p>
          <a:p>
            <a:pPr fontAlgn="base"/>
            <a:r>
              <a:rPr lang="en-GB" sz="1800" b="1" dirty="0"/>
              <a:t>Document review:</a:t>
            </a:r>
            <a:r>
              <a:rPr lang="en-GB" sz="1800" dirty="0"/>
              <a:t> Document review involves reviewing the software documentation to ensure that it is complete, accurate, and up-to-date. Document review is usually done by technical writers or subject matter experts.</a:t>
            </a:r>
          </a:p>
          <a:p>
            <a:pPr fontAlgn="base"/>
            <a:r>
              <a:rPr lang="en-GB" sz="1800" b="1" dirty="0" err="1"/>
              <a:t>Modeling</a:t>
            </a:r>
            <a:r>
              <a:rPr lang="en-GB" sz="1800" b="1" dirty="0"/>
              <a:t>:</a:t>
            </a:r>
            <a:r>
              <a:rPr lang="en-GB" sz="1800" dirty="0"/>
              <a:t> </a:t>
            </a:r>
            <a:r>
              <a:rPr lang="en-GB" sz="1800" dirty="0" err="1"/>
              <a:t>Modeling</a:t>
            </a:r>
            <a:r>
              <a:rPr lang="en-GB" sz="1800" dirty="0"/>
              <a:t> involves creating models of the software or the system to identify defects or inconsistencies. </a:t>
            </a:r>
            <a:r>
              <a:rPr lang="en-GB" sz="1800" dirty="0" err="1"/>
              <a:t>Modeling</a:t>
            </a:r>
            <a:r>
              <a:rPr lang="en-GB" sz="1800" dirty="0"/>
              <a:t> can be done using various techniques, such as data flow diagrams, state diagrams, and use case diagrams.</a:t>
            </a:r>
          </a:p>
          <a:p>
            <a:endParaRPr lang="en-GB" sz="1800" dirty="0"/>
          </a:p>
          <a:p>
            <a:endParaRPr lang="en-GB" sz="1800" dirty="0"/>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14999658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a:t>Reviews:</a:t>
            </a:r>
            <a:r>
              <a:rPr lang="en-GB" sz="1800" dirty="0"/>
              <a:t> Reviews are a process of examining the software </a:t>
            </a:r>
            <a:r>
              <a:rPr lang="en-GB" sz="1800" dirty="0" smtClean="0"/>
              <a:t>artefacts </a:t>
            </a:r>
            <a:r>
              <a:rPr lang="en-GB" sz="1800" dirty="0"/>
              <a:t>to identify issues and defects. Different types of reviews can perform such as code review, requirements review, design review, etc.</a:t>
            </a:r>
          </a:p>
          <a:p>
            <a:pPr fontAlgn="base"/>
            <a:r>
              <a:rPr lang="en-GB" sz="1800" b="1" dirty="0"/>
              <a:t>Walkthroughs: </a:t>
            </a:r>
            <a:r>
              <a:rPr lang="en-GB" sz="1800" dirty="0"/>
              <a:t>Walkthroughs are an informal type of review where the developer presents the code or document to the team to receive feedback and suggestions.</a:t>
            </a:r>
          </a:p>
          <a:p>
            <a:pPr fontAlgn="base"/>
            <a:r>
              <a:rPr lang="en-GB" sz="1800" b="1" dirty="0"/>
              <a:t>Inspections: </a:t>
            </a:r>
            <a:r>
              <a:rPr lang="en-GB" sz="1800" dirty="0"/>
              <a:t>Inspections are a formal type of review where the team follows a predefined process to examine the software </a:t>
            </a:r>
            <a:r>
              <a:rPr lang="en-GB" sz="1800" dirty="0" smtClean="0"/>
              <a:t>artefacts </a:t>
            </a:r>
            <a:r>
              <a:rPr lang="en-GB" sz="1800" dirty="0"/>
              <a:t>and identify issues.</a:t>
            </a:r>
          </a:p>
          <a:p>
            <a:pPr marL="0" indent="0">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3966822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smtClean="0"/>
              <a:t>Software Inspections</a:t>
            </a:r>
            <a:r>
              <a:rPr lang="en-GB" sz="1800" b="1" dirty="0"/>
              <a:t>: </a:t>
            </a:r>
            <a:endParaRPr lang="en-GB" sz="1800" b="1" dirty="0" smtClean="0"/>
          </a:p>
          <a:p>
            <a:pPr lvl="1" fontAlgn="base"/>
            <a:r>
              <a:rPr lang="en-GB" sz="1600" dirty="0"/>
              <a:t>Inspection process is performed in the earlier stages of the SLDC and is applied to a specific part of product like SRS, code, product design. etc. It involves manually examining the various components of the product at the earlier stages. The software inspection process comprises six phases which are as follows :</a:t>
            </a:r>
            <a:endParaRPr lang="en-GB" sz="16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pic>
        <p:nvPicPr>
          <p:cNvPr id="3" name="Picture 2"/>
          <p:cNvPicPr>
            <a:picLocks noChangeAspect="1"/>
          </p:cNvPicPr>
          <p:nvPr/>
        </p:nvPicPr>
        <p:blipFill rotWithShape="1">
          <a:blip r:embed="rId2"/>
          <a:srcRect l="33016" t="18750" r="33602" b="16667"/>
          <a:stretch/>
        </p:blipFill>
        <p:spPr>
          <a:xfrm>
            <a:off x="2514600" y="2286000"/>
            <a:ext cx="3581400" cy="3895558"/>
          </a:xfrm>
          <a:prstGeom prst="rect">
            <a:avLst/>
          </a:prstGeom>
        </p:spPr>
      </p:pic>
    </p:spTree>
    <p:extLst>
      <p:ext uri="{BB962C8B-B14F-4D97-AF65-F5344CB8AC3E}">
        <p14:creationId xmlns:p14="http://schemas.microsoft.com/office/powerpoint/2010/main" val="42307175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2000" b="1" dirty="0"/>
              <a:t>Planning for Inspection Meeting –</a:t>
            </a:r>
            <a:endParaRPr lang="en-GB" sz="2000" dirty="0"/>
          </a:p>
          <a:p>
            <a:pPr lvl="1" fontAlgn="base"/>
            <a:r>
              <a:rPr lang="en-GB" sz="1800" dirty="0"/>
              <a:t>This phase focuses on identifying the product to be inspected and the objective of this inspection.</a:t>
            </a:r>
          </a:p>
          <a:p>
            <a:pPr lvl="1" fontAlgn="base"/>
            <a:r>
              <a:rPr lang="en-GB" sz="1800" dirty="0"/>
              <a:t>A moderator – who manages the entire inspection process, is assigned in this phase.</a:t>
            </a:r>
          </a:p>
          <a:p>
            <a:pPr lvl="1" fontAlgn="base"/>
            <a:r>
              <a:rPr lang="en-GB" sz="1800" dirty="0"/>
              <a:t>The assigned moderator checks if the product is ready for inspection or not. The moderator also selects the inspection team and assigns them their roles.</a:t>
            </a:r>
          </a:p>
          <a:p>
            <a:pPr lvl="1" fontAlgn="base"/>
            <a:r>
              <a:rPr lang="en-GB" sz="1800" dirty="0"/>
              <a:t>Moderator also schedules the inspection meeting and distributes the required material to the inspection team.</a:t>
            </a:r>
          </a:p>
          <a:p>
            <a:pPr fontAlgn="base"/>
            <a:r>
              <a:rPr lang="en-GB" sz="2000" b="1" dirty="0"/>
              <a:t>Overview –</a:t>
            </a:r>
            <a:endParaRPr lang="en-GB" sz="2000" dirty="0"/>
          </a:p>
          <a:p>
            <a:pPr lvl="1" fontAlgn="base"/>
            <a:r>
              <a:rPr lang="en-GB" sz="1800" dirty="0"/>
              <a:t>In this phase, the inspection team is given all the background information for the inspection meeting.</a:t>
            </a:r>
          </a:p>
          <a:p>
            <a:pPr lvl="1" fontAlgn="base"/>
            <a:r>
              <a:rPr lang="en-GB" sz="1800" dirty="0"/>
              <a:t>The author – who is the coder or designer responsible for developing the product presents his logic and reasoning for the product including the product’s functions, its intended purpose and the approach or concept used while developing it.</a:t>
            </a:r>
          </a:p>
          <a:p>
            <a:pPr lvl="1" fontAlgn="base"/>
            <a:r>
              <a:rPr lang="en-GB" sz="1800" dirty="0"/>
              <a:t>It is made sure that each member of the inspection team has understood and is familiar to the objectives and purpose of the inspection meeting that is to be held</a:t>
            </a:r>
            <a:r>
              <a:rPr lang="en-GB" sz="1800" dirty="0" smtClean="0"/>
              <a:t>.</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1119045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79738" y="0"/>
            <a:ext cx="8229600" cy="549275"/>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457200"/>
            <a:ext cx="8229600" cy="6400800"/>
          </a:xfrm>
        </p:spPr>
        <p:txBody>
          <a:bodyPr>
            <a:noAutofit/>
          </a:bodyPr>
          <a:lstStyle/>
          <a:p>
            <a:pPr fontAlgn="base"/>
            <a:r>
              <a:rPr lang="en-GB" sz="2000" b="1" dirty="0" smtClean="0"/>
              <a:t>Individual </a:t>
            </a:r>
            <a:r>
              <a:rPr lang="en-GB" sz="2000" b="1" dirty="0"/>
              <a:t>Preparation by members –</a:t>
            </a:r>
            <a:endParaRPr lang="en-GB" sz="2000" dirty="0"/>
          </a:p>
          <a:p>
            <a:pPr lvl="1" fontAlgn="base"/>
            <a:r>
              <a:rPr lang="en-GB" sz="1800" dirty="0"/>
              <a:t>In this phase, the members of the inspection team individually prepare for the inspection meeting by studying the material provided in the earlier phases.</a:t>
            </a:r>
          </a:p>
          <a:p>
            <a:pPr lvl="1" fontAlgn="base"/>
            <a:r>
              <a:rPr lang="en-GB" sz="1800" dirty="0"/>
              <a:t>The team members identify the potential errors or bugs in the product and record them in a log. The log is finally submitted to the moderator. The moderator then compiles all the logs received from the members and sends a copy of it to the author.</a:t>
            </a:r>
          </a:p>
          <a:p>
            <a:pPr lvl="1" fontAlgn="base"/>
            <a:r>
              <a:rPr lang="en-GB" sz="1800" dirty="0"/>
              <a:t>The inspector – who is the person responsible for checking and identifying errors and inconsistencies in the documents or programs, reviews the product and records any problems found in it (both general and area-specific). The inspector records the problems or issues on a log along with the time spent on preparation.</a:t>
            </a:r>
          </a:p>
          <a:p>
            <a:pPr lvl="1" fontAlgn="base"/>
            <a:r>
              <a:rPr lang="en-GB" sz="1800" dirty="0"/>
              <a:t>The moderator reviews the logs to check if the team is ready and prepared for the inspection meeting or not.</a:t>
            </a:r>
          </a:p>
          <a:p>
            <a:pPr lvl="1" fontAlgn="base"/>
            <a:r>
              <a:rPr lang="en-GB" sz="1800" dirty="0"/>
              <a:t>Finally, the moderator submits all the compiled logs to the author.</a:t>
            </a:r>
          </a:p>
          <a:p>
            <a:pPr fontAlgn="base"/>
            <a:r>
              <a:rPr lang="en-GB" sz="2000" b="1" dirty="0"/>
              <a:t>Inspection Meeting –</a:t>
            </a:r>
            <a:endParaRPr lang="en-GB" sz="2000" dirty="0"/>
          </a:p>
          <a:p>
            <a:pPr lvl="1" fontAlgn="base"/>
            <a:r>
              <a:rPr lang="en-GB" sz="1800" dirty="0"/>
              <a:t>This phase involves author’s discussion on the issues raised by the team members in the compiled log.</a:t>
            </a:r>
          </a:p>
          <a:p>
            <a:pPr lvl="1" fontAlgn="base"/>
            <a:r>
              <a:rPr lang="en-GB" sz="1800" dirty="0"/>
              <a:t>Members arrive at a decision of whether the issue raised is an error or not.</a:t>
            </a:r>
          </a:p>
          <a:p>
            <a:pPr lvl="1" fontAlgn="base"/>
            <a:r>
              <a:rPr lang="en-GB" sz="1800" dirty="0"/>
              <a:t>Moderator concludes the meeting and provides a summary of the meeting – which is a list of errors found in the product and are to resolved by the author.</a:t>
            </a:r>
          </a:p>
          <a:p>
            <a:pPr marL="0" indent="0" fontAlgn="base">
              <a:buNone/>
            </a:pP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146392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79738" y="0"/>
            <a:ext cx="8229600" cy="549275"/>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457200"/>
            <a:ext cx="8229600" cy="6400800"/>
          </a:xfrm>
        </p:spPr>
        <p:txBody>
          <a:bodyPr>
            <a:noAutofit/>
          </a:bodyPr>
          <a:lstStyle/>
          <a:p>
            <a:pPr fontAlgn="base"/>
            <a:r>
              <a:rPr lang="en-GB" sz="2000" b="1" dirty="0"/>
              <a:t>Rework –</a:t>
            </a:r>
            <a:endParaRPr lang="en-GB" sz="2000" dirty="0"/>
          </a:p>
          <a:p>
            <a:pPr lvl="1" fontAlgn="base"/>
            <a:r>
              <a:rPr lang="en-GB" sz="1800" dirty="0"/>
              <a:t>Rework is carried out by the author according the summary list presented by the moderator in the previous phase.</a:t>
            </a:r>
          </a:p>
          <a:p>
            <a:pPr lvl="1" fontAlgn="base"/>
            <a:r>
              <a:rPr lang="en-GB" sz="1800" dirty="0"/>
              <a:t>The author fixes all the bugs and reports to the moderator</a:t>
            </a:r>
          </a:p>
          <a:p>
            <a:pPr fontAlgn="base"/>
            <a:r>
              <a:rPr lang="en-GB" sz="2000" b="1" dirty="0"/>
              <a:t>Follow – up –</a:t>
            </a:r>
            <a:endParaRPr lang="en-GB" sz="2000" dirty="0"/>
          </a:p>
          <a:p>
            <a:pPr lvl="1" fontAlgn="base"/>
            <a:r>
              <a:rPr lang="en-GB" sz="1800" dirty="0"/>
              <a:t>Moderator checks if all errors have been resolved or not. The moderator then prepares a report. If all errors are fixed and addressed, the moderator releases the document.</a:t>
            </a:r>
          </a:p>
          <a:p>
            <a:pPr lvl="1" fontAlgn="base"/>
            <a:r>
              <a:rPr lang="en-GB" sz="1800" dirty="0"/>
              <a:t>Otherwise, unresolved issues are added to the report and another inspection meeting is scheduled</a:t>
            </a:r>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19353592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US" sz="1800" b="1" dirty="0"/>
              <a:t>Structured Walkthroughs </a:t>
            </a:r>
            <a:r>
              <a:rPr lang="en-GB" sz="1800" b="1" dirty="0" smtClean="0"/>
              <a:t>:</a:t>
            </a:r>
            <a:r>
              <a:rPr lang="en-GB" sz="1800" b="1" dirty="0"/>
              <a:t> </a:t>
            </a:r>
            <a:endParaRPr lang="en-GB" sz="1800" b="1" dirty="0" smtClean="0"/>
          </a:p>
          <a:p>
            <a:pPr fontAlgn="base"/>
            <a:r>
              <a:rPr lang="en-GB" sz="2000" dirty="0"/>
              <a:t>This type of static testing is less formal and not so rigorous in nature. It has a simpler process as compared to inspection process. It involves the following four steps :</a:t>
            </a:r>
          </a:p>
          <a:p>
            <a:pPr marL="0" indent="0">
              <a:buNone/>
            </a:pPr>
            <a:r>
              <a:rPr lang="en-GB" sz="2000" dirty="0"/>
              <a:t/>
            </a:r>
            <a:br>
              <a:rPr lang="en-GB" sz="2000" dirty="0"/>
            </a:br>
            <a:endParaRPr lang="en-GB" sz="11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pic>
        <p:nvPicPr>
          <p:cNvPr id="4" name="Picture 3"/>
          <p:cNvPicPr>
            <a:picLocks noChangeAspect="1"/>
          </p:cNvPicPr>
          <p:nvPr/>
        </p:nvPicPr>
        <p:blipFill rotWithShape="1">
          <a:blip r:embed="rId2"/>
          <a:srcRect l="33382" t="29166" r="32650" b="26042"/>
          <a:stretch/>
        </p:blipFill>
        <p:spPr>
          <a:xfrm>
            <a:off x="2438399" y="2590800"/>
            <a:ext cx="4419601" cy="3276600"/>
          </a:xfrm>
          <a:prstGeom prst="rect">
            <a:avLst/>
          </a:prstGeom>
        </p:spPr>
      </p:pic>
    </p:spTree>
    <p:extLst>
      <p:ext uri="{BB962C8B-B14F-4D97-AF65-F5344CB8AC3E}">
        <p14:creationId xmlns:p14="http://schemas.microsoft.com/office/powerpoint/2010/main" val="3537744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a:t>Organization –</a:t>
            </a:r>
            <a:r>
              <a:rPr lang="en-GB" sz="1800" dirty="0"/>
              <a:t/>
            </a:r>
            <a:br>
              <a:rPr lang="en-GB" sz="1800" dirty="0"/>
            </a:br>
            <a:r>
              <a:rPr lang="en-GB" sz="1800" dirty="0"/>
              <a:t>This step involves assigning roles and responsibilities to the team selected for structural walkthroughs. The team can consist of the following members :</a:t>
            </a:r>
          </a:p>
          <a:p>
            <a:pPr lvl="1" fontAlgn="base"/>
            <a:r>
              <a:rPr lang="en-GB" sz="1600" dirty="0"/>
              <a:t>Coordinator – organizes and coordinates with all the members for the walkthrough related activities.</a:t>
            </a:r>
          </a:p>
          <a:p>
            <a:pPr lvl="1" fontAlgn="base"/>
            <a:r>
              <a:rPr lang="en-GB" sz="1600" dirty="0"/>
              <a:t>Presenter – introduces the item to be inspected.</a:t>
            </a:r>
          </a:p>
          <a:p>
            <a:pPr lvl="1" fontAlgn="base"/>
            <a:r>
              <a:rPr lang="en-GB" sz="1600" dirty="0"/>
              <a:t>Scribe – notes down all the issues and suggestions put forward by the members.</a:t>
            </a:r>
          </a:p>
          <a:p>
            <a:pPr lvl="1" fontAlgn="base"/>
            <a:r>
              <a:rPr lang="en-GB" sz="1600" dirty="0"/>
              <a:t>Tester – finds the defects or bugs in the item to be inspected.</a:t>
            </a:r>
          </a:p>
          <a:p>
            <a:pPr lvl="1" fontAlgn="base"/>
            <a:r>
              <a:rPr lang="en-GB" sz="1600" dirty="0"/>
              <a:t>Maintenance Oracle – focuses on future maintenance of the product.</a:t>
            </a:r>
          </a:p>
          <a:p>
            <a:pPr lvl="1" fontAlgn="base"/>
            <a:r>
              <a:rPr lang="en-GB" sz="1600" dirty="0"/>
              <a:t>Standards Bearer – evaluates conformance to the standards and guidelines.</a:t>
            </a:r>
          </a:p>
          <a:p>
            <a:pPr lvl="1" fontAlgn="base"/>
            <a:r>
              <a:rPr lang="en-GB" sz="1600" dirty="0"/>
              <a:t>User Representative – represents the needs and concerns of the user.</a:t>
            </a:r>
          </a:p>
          <a:p>
            <a:pPr fontAlgn="base"/>
            <a:r>
              <a:rPr lang="en-GB" sz="1800" b="1" dirty="0"/>
              <a:t>Preparation –</a:t>
            </a:r>
            <a:endParaRPr lang="en-GB" sz="1800" dirty="0"/>
          </a:p>
          <a:p>
            <a:pPr lvl="1" fontAlgn="base"/>
            <a:r>
              <a:rPr lang="en-GB" sz="1600" dirty="0"/>
              <a:t>In this step, focus lies on preparing for the structural walkthroughs which could include thinking of basic </a:t>
            </a:r>
            <a:r>
              <a:rPr lang="en-GB" sz="1600" dirty="0" smtClean="0"/>
              <a:t>test </a:t>
            </a:r>
            <a:r>
              <a:rPr lang="en-GB" sz="1600" dirty="0"/>
              <a:t>cases that would be required to test the product</a:t>
            </a:r>
            <a:r>
              <a:rPr lang="en-GB" sz="1600" dirty="0" smtClean="0"/>
              <a:t>.</a:t>
            </a:r>
            <a:endParaRPr lang="en-GB" sz="1600" dirty="0"/>
          </a:p>
          <a:p>
            <a:pPr fontAlgn="base"/>
            <a:r>
              <a:rPr lang="en-GB" sz="1800" b="1" dirty="0"/>
              <a:t>Walkthrough –</a:t>
            </a:r>
            <a:endParaRPr lang="en-GB" sz="1800" dirty="0"/>
          </a:p>
          <a:p>
            <a:pPr lvl="1" fontAlgn="base"/>
            <a:r>
              <a:rPr lang="en-GB" sz="1600" dirty="0"/>
              <a:t>Walkthrough is performed by a tester who comes to the meeting with a small set of test cases.</a:t>
            </a:r>
          </a:p>
          <a:p>
            <a:pPr lvl="1" fontAlgn="base"/>
            <a:r>
              <a:rPr lang="en-GB" sz="1600" dirty="0"/>
              <a:t>Test cases are executed by the tester mentally and results are noted down on a paper or a presentation media.</a:t>
            </a:r>
          </a:p>
          <a:p>
            <a:pPr lvl="1" fontAlgn="base"/>
            <a:endParaRPr lang="en-GB" sz="16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spTree>
    <p:extLst>
      <p:ext uri="{BB962C8B-B14F-4D97-AF65-F5344CB8AC3E}">
        <p14:creationId xmlns:p14="http://schemas.microsoft.com/office/powerpoint/2010/main" val="34948548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2000" b="1" dirty="0"/>
              <a:t>Rework and Follow – up –</a:t>
            </a:r>
            <a:endParaRPr lang="en-GB" sz="2000" dirty="0"/>
          </a:p>
          <a:p>
            <a:pPr lvl="1" fontAlgn="base"/>
            <a:r>
              <a:rPr lang="en-GB" sz="1800" dirty="0"/>
              <a:t>This step is similar to that of the last two phases of the inspection process.</a:t>
            </a:r>
          </a:p>
          <a:p>
            <a:pPr lvl="1" fontAlgn="base"/>
            <a:r>
              <a:rPr lang="en-GB" sz="1800" dirty="0"/>
              <a:t>If no bugs are detected, then the product is approved for release. Otherwise, errors are resolved and again, a structured walkthrough is conducted.</a:t>
            </a:r>
          </a:p>
          <a:p>
            <a:pPr lvl="1" fontAlgn="base"/>
            <a:endParaRPr lang="en-GB" sz="11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spTree>
    <p:extLst>
      <p:ext uri="{BB962C8B-B14F-4D97-AF65-F5344CB8AC3E}">
        <p14:creationId xmlns:p14="http://schemas.microsoft.com/office/powerpoint/2010/main" val="3937783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Techniques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marL="0" indent="0" fontAlgn="base">
              <a:buNone/>
            </a:pPr>
            <a:r>
              <a:rPr lang="en-GB" sz="1800" b="1" dirty="0" smtClean="0"/>
              <a:t>Technical Reviews:</a:t>
            </a:r>
          </a:p>
          <a:p>
            <a:pPr fontAlgn="base"/>
            <a:r>
              <a:rPr lang="en-GB" sz="1800" dirty="0"/>
              <a:t>It is a higher level technique as compared to the inspection or walkthrough technique because it also involves management. This technique is used to assess and evaluate the product by checking its conformance to the development standards, guidelines and specifications.</a:t>
            </a:r>
            <a:br>
              <a:rPr lang="en-GB" sz="1800" dirty="0"/>
            </a:br>
            <a:r>
              <a:rPr lang="en-GB" sz="1800" dirty="0"/>
              <a:t>It does not have a defined process and most of the work is carried out by the moderator as discussed below :</a:t>
            </a:r>
          </a:p>
          <a:p>
            <a:pPr fontAlgn="base"/>
            <a:r>
              <a:rPr lang="en-GB" sz="1800" dirty="0"/>
              <a:t>Moderator gathers and distributes the material and documentation to all team members.</a:t>
            </a:r>
          </a:p>
          <a:p>
            <a:pPr fontAlgn="base"/>
            <a:r>
              <a:rPr lang="en-GB" sz="1800" dirty="0"/>
              <a:t>Moderator also prepares a set of indicators to evaluate the product with respect to the specifications and already established standards and guidelines :</a:t>
            </a:r>
          </a:p>
          <a:p>
            <a:pPr lvl="1" fontAlgn="base"/>
            <a:r>
              <a:rPr lang="en-GB" sz="1600" dirty="0"/>
              <a:t>consistency</a:t>
            </a:r>
          </a:p>
          <a:p>
            <a:pPr lvl="1" fontAlgn="base"/>
            <a:r>
              <a:rPr lang="en-GB" sz="1600" dirty="0"/>
              <a:t>documentation</a:t>
            </a:r>
          </a:p>
          <a:p>
            <a:pPr lvl="1" fontAlgn="base"/>
            <a:r>
              <a:rPr lang="en-GB" sz="1600" dirty="0"/>
              <a:t>adherence to standards</a:t>
            </a:r>
          </a:p>
          <a:p>
            <a:pPr lvl="1" fontAlgn="base"/>
            <a:r>
              <a:rPr lang="en-GB" sz="1600" dirty="0"/>
              <a:t>completeness</a:t>
            </a:r>
          </a:p>
          <a:p>
            <a:pPr lvl="1" fontAlgn="base"/>
            <a:r>
              <a:rPr lang="en-GB" sz="1600" dirty="0"/>
              <a:t>problem definition and requirements</a:t>
            </a:r>
          </a:p>
          <a:p>
            <a:pPr fontAlgn="base"/>
            <a:r>
              <a:rPr lang="en-GB" sz="1800" dirty="0"/>
              <a:t>The results are recorded in a document which includes both defects as well as suggestions.</a:t>
            </a:r>
          </a:p>
          <a:p>
            <a:pPr fontAlgn="base"/>
            <a:r>
              <a:rPr lang="en-GB" sz="1800" dirty="0"/>
              <a:t>Finally, the defects are resolved and the suggestions are taken into account for improving the product.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13</a:t>
            </a:fld>
            <a:endParaRPr lang="en-US"/>
          </a:p>
        </p:txBody>
      </p:sp>
    </p:spTree>
    <p:extLst>
      <p:ext uri="{BB962C8B-B14F-4D97-AF65-F5344CB8AC3E}">
        <p14:creationId xmlns:p14="http://schemas.microsoft.com/office/powerpoint/2010/main" val="30127427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Static Testing - Tools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pPr fontAlgn="base"/>
            <a:r>
              <a:rPr lang="en-GB" sz="1800" b="1" dirty="0"/>
              <a:t>Code review tools:</a:t>
            </a:r>
            <a:r>
              <a:rPr lang="en-GB" sz="1800" dirty="0"/>
              <a:t> These tools are used to review the source code to find defects or vulnerabilities. Examples include Code Collaborator, Crucible, and </a:t>
            </a:r>
            <a:r>
              <a:rPr lang="en-GB" sz="1800" dirty="0" err="1"/>
              <a:t>Gerrit</a:t>
            </a:r>
            <a:r>
              <a:rPr lang="en-GB" sz="1800" dirty="0"/>
              <a:t>.</a:t>
            </a:r>
          </a:p>
          <a:p>
            <a:pPr fontAlgn="base"/>
            <a:r>
              <a:rPr lang="en-GB" sz="1800" b="1" dirty="0"/>
              <a:t>Syntax checkers:</a:t>
            </a:r>
            <a:r>
              <a:rPr lang="en-GB" sz="1800" dirty="0"/>
              <a:t> These tools check the source code for syntax errors, coding standards violations, and other potential issues. Examples include </a:t>
            </a:r>
            <a:r>
              <a:rPr lang="en-GB" sz="1800" dirty="0" err="1"/>
              <a:t>JSLint</a:t>
            </a:r>
            <a:r>
              <a:rPr lang="en-GB" sz="1800" dirty="0"/>
              <a:t>, </a:t>
            </a:r>
            <a:r>
              <a:rPr lang="en-GB" sz="1800" dirty="0" err="1"/>
              <a:t>ESLint</a:t>
            </a:r>
            <a:r>
              <a:rPr lang="en-GB" sz="1800" dirty="0"/>
              <a:t>, and </a:t>
            </a:r>
            <a:r>
              <a:rPr lang="en-GB" sz="1800" dirty="0" err="1"/>
              <a:t>PyLint</a:t>
            </a:r>
            <a:r>
              <a:rPr lang="en-GB" sz="1800" dirty="0"/>
              <a:t>.</a:t>
            </a:r>
          </a:p>
          <a:p>
            <a:pPr fontAlgn="base"/>
            <a:r>
              <a:rPr lang="en-GB" sz="1800" b="1" dirty="0"/>
              <a:t>Bug tracking tools:</a:t>
            </a:r>
            <a:r>
              <a:rPr lang="en-GB" sz="1800" dirty="0"/>
              <a:t> These tools help to track and manage defects found during static testing. Examples include </a:t>
            </a:r>
            <a:r>
              <a:rPr lang="en-GB" sz="1800" dirty="0" err="1"/>
              <a:t>Bugzilla</a:t>
            </a:r>
            <a:r>
              <a:rPr lang="en-GB" sz="1800" dirty="0"/>
              <a:t>, JIRA, and Mantis.</a:t>
            </a:r>
          </a:p>
          <a:p>
            <a:pPr fontAlgn="base"/>
            <a:r>
              <a:rPr lang="en-GB" sz="1800" b="1" dirty="0"/>
              <a:t>Automated documentation generators: </a:t>
            </a:r>
            <a:r>
              <a:rPr lang="en-GB" sz="1800" dirty="0"/>
              <a:t>These tools generate documentation automatically from the source code to help improve the quality of the documentation. Examples include </a:t>
            </a:r>
            <a:r>
              <a:rPr lang="en-GB" sz="1800" dirty="0" err="1"/>
              <a:t>Doxygen</a:t>
            </a:r>
            <a:r>
              <a:rPr lang="en-GB" sz="1800" dirty="0"/>
              <a:t> and </a:t>
            </a:r>
            <a:r>
              <a:rPr lang="en-GB" sz="1800" dirty="0" err="1"/>
              <a:t>NaturalDocs</a:t>
            </a:r>
            <a:r>
              <a:rPr lang="en-GB" sz="1800" dirty="0"/>
              <a:t>.</a:t>
            </a:r>
          </a:p>
          <a:p>
            <a:pPr fontAlgn="base"/>
            <a:r>
              <a:rPr lang="en-GB" sz="1800" b="1" dirty="0"/>
              <a:t>Static analysis tools:</a:t>
            </a:r>
            <a:r>
              <a:rPr lang="en-GB" sz="1800" dirty="0"/>
              <a:t> These tools </a:t>
            </a:r>
            <a:r>
              <a:rPr lang="en-GB" sz="1800" dirty="0" err="1"/>
              <a:t>analyze</a:t>
            </a:r>
            <a:r>
              <a:rPr lang="en-GB" sz="1800" dirty="0"/>
              <a:t> the source code to find defects, security vulnerabilities, or performance issues. Examples include </a:t>
            </a:r>
            <a:r>
              <a:rPr lang="en-GB" sz="1800" dirty="0" err="1"/>
              <a:t>SonarQube</a:t>
            </a:r>
            <a:r>
              <a:rPr lang="en-GB" sz="1800" dirty="0"/>
              <a:t>, PMD, and </a:t>
            </a:r>
            <a:r>
              <a:rPr lang="en-GB" sz="1800" dirty="0" err="1"/>
              <a:t>FindBugs</a:t>
            </a:r>
            <a:r>
              <a:rPr lang="en-GB" sz="1800" dirty="0"/>
              <a:t>.</a:t>
            </a:r>
          </a:p>
          <a:p>
            <a:pPr fontAlgn="base"/>
            <a:r>
              <a:rPr lang="en-GB" sz="1800" b="1" dirty="0"/>
              <a:t>Model checking tools:</a:t>
            </a:r>
            <a:r>
              <a:rPr lang="en-GB" sz="1800" dirty="0"/>
              <a:t> These tools check the model of the software to find defects or inconsistencies. Examples include Alloy and </a:t>
            </a:r>
            <a:r>
              <a:rPr lang="en-GB" sz="1800" dirty="0" err="1"/>
              <a:t>NuSMV</a:t>
            </a:r>
            <a:r>
              <a:rPr lang="en-GB" sz="1800" dirty="0"/>
              <a: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14</a:t>
            </a:fld>
            <a:endParaRPr lang="en-US"/>
          </a:p>
        </p:txBody>
      </p:sp>
    </p:spTree>
    <p:extLst>
      <p:ext uri="{BB962C8B-B14F-4D97-AF65-F5344CB8AC3E}">
        <p14:creationId xmlns:p14="http://schemas.microsoft.com/office/powerpoint/2010/main" val="13041518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2041</TotalTime>
  <Words>720</Words>
  <Application>Microsoft Office PowerPoint</Application>
  <PresentationFormat>On-screen Show (4:3)</PresentationFormat>
  <Paragraphs>106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Static Testing - Definition</vt:lpstr>
      <vt:lpstr>Why Is Static Testing Important?</vt:lpstr>
      <vt:lpstr>Static Testing - Types</vt:lpstr>
      <vt:lpstr>Static Testing - Techniques</vt:lpstr>
      <vt:lpstr>Static Testing - Techniques</vt:lpstr>
      <vt:lpstr>Static Testing - Techniques</vt:lpstr>
      <vt:lpstr>Static Testing - Techniques</vt:lpstr>
      <vt:lpstr>Static Testing - Techniques</vt:lpstr>
      <vt:lpstr>Static Testing - Techniques</vt:lpstr>
      <vt:lpstr>Static Testing - Techniques</vt:lpstr>
      <vt:lpstr>Static Testing - Techniques</vt:lpstr>
      <vt:lpstr>Static Testing - Techniques</vt:lpstr>
      <vt:lpstr>Static Testing - Tools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237</cp:revision>
  <dcterms:created xsi:type="dcterms:W3CDTF">2014-08-12T16:29:38Z</dcterms:created>
  <dcterms:modified xsi:type="dcterms:W3CDTF">2024-01-01T09:06:21Z</dcterms:modified>
</cp:coreProperties>
</file>