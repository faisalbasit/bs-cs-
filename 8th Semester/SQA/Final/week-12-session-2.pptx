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3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2" autoAdjust="0"/>
    <p:restoredTop sz="87097" autoAdjust="0"/>
  </p:normalViewPr>
  <p:slideViewPr>
    <p:cSldViewPr>
      <p:cViewPr varScale="1">
        <p:scale>
          <a:sx n="74" d="100"/>
          <a:sy n="74" d="100"/>
        </p:scale>
        <p:origin x="12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A68BC-087B-4804-80E7-54E6BF9D6720}" type="datetimeFigureOut">
              <a:rPr lang="en-US" smtClean="0"/>
              <a:pPr/>
              <a:t>12/11/2023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53098-A02F-43AC-83B0-8400FDBB11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0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4250-741B-442A-9703-012BAF15BAAC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7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816B4-16E8-4062-88BC-ECA9BFE00428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5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598-E98D-41E9-AC1F-40993110B2E2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7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4A01-3715-4476-A057-955DFD278091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3C02-4A9B-4362-AC6F-20FFF8DED461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8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3C571-B71D-45C8-8B1B-35BCC2DA467A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1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D478-9CFC-4269-8AE4-00D2F07081AD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6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7258-29DB-40D6-BF3F-E918B183B515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D29DC-3073-4B54-8EE5-E93562EFCDAC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4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975A9-2543-49D8-B35B-ED476DA0ED73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7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BFD3-FA8E-4E08-91B4-E94DC0FF8BBB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6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BFD0B-D7A9-4808-B8C9-44A20956DF29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243F0035-4B67-4B88-B2A0-536AE2AEED2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xmlns="" id="{11F3346B-A340-42AA-BA33-0DABD69A99CA}"/>
              </a:ext>
            </a:extLst>
          </p:cNvPr>
          <p:cNvSpPr txBox="1">
            <a:spLocks/>
          </p:cNvSpPr>
          <p:nvPr/>
        </p:nvSpPr>
        <p:spPr>
          <a:xfrm>
            <a:off x="165942" y="1981200"/>
            <a:ext cx="8825658" cy="2016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CS-468</a:t>
            </a:r>
            <a:b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Software Quality Assurance &amp; Testing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xmlns="" id="{726CA34A-B113-49BC-A1A5-0573BEE18E05}"/>
              </a:ext>
            </a:extLst>
          </p:cNvPr>
          <p:cNvSpPr txBox="1">
            <a:spLocks/>
          </p:cNvSpPr>
          <p:nvPr/>
        </p:nvSpPr>
        <p:spPr>
          <a:xfrm>
            <a:off x="0" y="396240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Week </a:t>
            </a: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Session 2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PLANNING AND ESTIMATION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 smtClean="0"/>
              <a:t>Test </a:t>
            </a:r>
            <a:r>
              <a:rPr lang="en-GB" sz="1800" b="1" dirty="0"/>
              <a:t>estimation</a:t>
            </a:r>
            <a:endParaRPr lang="en-GB" sz="1800" b="1" dirty="0" smtClean="0"/>
          </a:p>
          <a:p>
            <a:r>
              <a:rPr lang="en-GB" sz="1800" dirty="0"/>
              <a:t>The syllabus details two test estimation approaches</a:t>
            </a:r>
            <a:r>
              <a:rPr lang="en-GB" sz="1800" dirty="0" smtClean="0"/>
              <a:t>,</a:t>
            </a:r>
          </a:p>
          <a:p>
            <a:pPr lvl="1"/>
            <a:r>
              <a:rPr lang="en-GB" sz="1800" dirty="0" smtClean="0"/>
              <a:t>metrics-based </a:t>
            </a:r>
            <a:r>
              <a:rPr lang="en-GB" sz="1800" dirty="0" smtClean="0">
                <a:sym typeface="Wingdings" pitchFamily="2" charset="2"/>
              </a:rPr>
              <a:t> past data </a:t>
            </a:r>
            <a:endParaRPr lang="en-GB" sz="1800" dirty="0" smtClean="0"/>
          </a:p>
          <a:p>
            <a:pPr lvl="1"/>
            <a:r>
              <a:rPr lang="en-GB" sz="1800" dirty="0" smtClean="0"/>
              <a:t>and expert based</a:t>
            </a:r>
            <a:r>
              <a:rPr lang="en-GB" sz="1800" dirty="0" smtClean="0">
                <a:sym typeface="Wingdings" pitchFamily="2" charset="2"/>
              </a:rPr>
              <a:t> experience </a:t>
            </a:r>
            <a:r>
              <a:rPr lang="en-GB" sz="1800" dirty="0" smtClean="0"/>
              <a:t> </a:t>
            </a:r>
          </a:p>
          <a:p>
            <a:r>
              <a:rPr lang="en-GB" sz="1800" dirty="0" smtClean="0"/>
              <a:t>The </a:t>
            </a:r>
            <a:r>
              <a:rPr lang="en-GB" sz="1800" dirty="0"/>
              <a:t>two approaches are quite different, the former being </a:t>
            </a:r>
            <a:r>
              <a:rPr lang="en-GB" sz="1800" dirty="0" smtClean="0"/>
              <a:t>based upon </a:t>
            </a:r>
            <a:r>
              <a:rPr lang="en-GB" sz="1800" dirty="0"/>
              <a:t>data whilst the latter is a </a:t>
            </a:r>
            <a:r>
              <a:rPr lang="en-GB" sz="1800" dirty="0" smtClean="0"/>
              <a:t>some what </a:t>
            </a:r>
            <a:r>
              <a:rPr lang="en-GB" sz="1800" dirty="0"/>
              <a:t>subjective approach.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00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PLANNING AND ESTIMATION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 smtClean="0"/>
              <a:t>Test estimation – Matrices based:</a:t>
            </a:r>
          </a:p>
          <a:p>
            <a:r>
              <a:rPr lang="en-GB" sz="1800" dirty="0"/>
              <a:t>This approach relies upon data collected from previous or similar projects.</a:t>
            </a:r>
          </a:p>
          <a:p>
            <a:r>
              <a:rPr lang="en-GB" sz="1800" dirty="0"/>
              <a:t>This kind of data might include:</a:t>
            </a:r>
          </a:p>
          <a:p>
            <a:pPr lvl="1"/>
            <a:r>
              <a:rPr lang="en-GB" sz="1800" dirty="0"/>
              <a:t>The number of test conditions.</a:t>
            </a:r>
          </a:p>
          <a:p>
            <a:pPr lvl="1"/>
            <a:r>
              <a:rPr lang="en-GB" sz="1800" dirty="0"/>
              <a:t>The number of test cases written.</a:t>
            </a:r>
          </a:p>
          <a:p>
            <a:pPr lvl="1"/>
            <a:r>
              <a:rPr lang="en-GB" sz="1800" dirty="0"/>
              <a:t>The number of test cases executed.</a:t>
            </a:r>
          </a:p>
          <a:p>
            <a:pPr lvl="1"/>
            <a:r>
              <a:rPr lang="en-GB" sz="1800" dirty="0"/>
              <a:t>The time taken to develop test cases.</a:t>
            </a:r>
          </a:p>
          <a:p>
            <a:pPr lvl="1"/>
            <a:r>
              <a:rPr lang="en-GB" sz="1800" dirty="0"/>
              <a:t>The time taken to run test cases.</a:t>
            </a:r>
          </a:p>
          <a:p>
            <a:pPr lvl="1"/>
            <a:r>
              <a:rPr lang="en-GB" sz="1800" dirty="0"/>
              <a:t>The number of defects found.</a:t>
            </a:r>
          </a:p>
          <a:p>
            <a:pPr lvl="1"/>
            <a:r>
              <a:rPr lang="en-GB" sz="1800" dirty="0"/>
              <a:t>The number of environment outages and how long on average each </a:t>
            </a:r>
            <a:r>
              <a:rPr lang="en-GB" sz="1800" dirty="0" smtClean="0"/>
              <a:t>one lasted</a:t>
            </a:r>
            <a:r>
              <a:rPr lang="en-GB" sz="1800" dirty="0"/>
              <a:t>.</a:t>
            </a:r>
          </a:p>
          <a:p>
            <a:r>
              <a:rPr lang="en-GB" sz="1800" dirty="0"/>
              <a:t>With this approach and data it is possible to estimate quite accurately what </a:t>
            </a:r>
            <a:r>
              <a:rPr lang="en-GB" sz="1800" dirty="0" smtClean="0"/>
              <a:t>the cost </a:t>
            </a:r>
            <a:r>
              <a:rPr lang="en-GB" sz="1800" dirty="0"/>
              <a:t>and time required for a similar project would be.</a:t>
            </a:r>
          </a:p>
          <a:p>
            <a:r>
              <a:rPr lang="en-GB" sz="1800" b="1" dirty="0"/>
              <a:t>It is important that the actual costs and time for testing are accurately recorded.</a:t>
            </a:r>
          </a:p>
          <a:p>
            <a:r>
              <a:rPr lang="en-GB" sz="1800" dirty="0"/>
              <a:t>These can then be used to revalidate and possibly update the metrics for use </a:t>
            </a:r>
            <a:r>
              <a:rPr lang="en-GB" sz="1800" dirty="0" smtClean="0"/>
              <a:t>on the </a:t>
            </a:r>
            <a:r>
              <a:rPr lang="en-GB" sz="1800" dirty="0"/>
              <a:t>next similar project.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9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PLANNING AND ESTIMATION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 smtClean="0"/>
              <a:t>Test estimation – Expert based:</a:t>
            </a:r>
          </a:p>
          <a:p>
            <a:r>
              <a:rPr lang="en-GB" sz="1600" dirty="0"/>
              <a:t>This alternative approach to metrics is to use the experience of owners of </a:t>
            </a:r>
            <a:r>
              <a:rPr lang="en-GB" sz="1600" dirty="0" smtClean="0"/>
              <a:t>the relevant </a:t>
            </a:r>
            <a:r>
              <a:rPr lang="en-GB" sz="1600" dirty="0"/>
              <a:t>tasks or experts to derive an estimate (this is also known as the </a:t>
            </a:r>
            <a:r>
              <a:rPr lang="en-GB" sz="1600" dirty="0" smtClean="0"/>
              <a:t>Wide Band </a:t>
            </a:r>
            <a:r>
              <a:rPr lang="en-GB" sz="1600" dirty="0"/>
              <a:t>Delphi approach</a:t>
            </a:r>
            <a:r>
              <a:rPr lang="en-GB" sz="1600" dirty="0" smtClean="0"/>
              <a:t>).</a:t>
            </a:r>
          </a:p>
          <a:p>
            <a:r>
              <a:rPr lang="en-GB" sz="1600" dirty="0" smtClean="0"/>
              <a:t>In </a:t>
            </a:r>
            <a:r>
              <a:rPr lang="en-GB" sz="1600" dirty="0"/>
              <a:t>this context ‘experts’ could be:</a:t>
            </a:r>
          </a:p>
          <a:p>
            <a:pPr lvl="1"/>
            <a:r>
              <a:rPr lang="en-GB" sz="1600" dirty="0"/>
              <a:t>Business experts.</a:t>
            </a:r>
          </a:p>
          <a:p>
            <a:pPr lvl="1"/>
            <a:r>
              <a:rPr lang="en-GB" sz="1600" dirty="0"/>
              <a:t>Test process consultants</a:t>
            </a:r>
            <a:r>
              <a:rPr lang="en-GB" sz="1600" dirty="0" smtClean="0"/>
              <a:t>.</a:t>
            </a:r>
            <a:endParaRPr lang="en-GB" sz="1600" dirty="0"/>
          </a:p>
          <a:p>
            <a:pPr lvl="1"/>
            <a:r>
              <a:rPr lang="en-GB" sz="1600" dirty="0"/>
              <a:t>Developers.</a:t>
            </a:r>
          </a:p>
          <a:p>
            <a:pPr lvl="1"/>
            <a:r>
              <a:rPr lang="en-GB" sz="1600" dirty="0"/>
              <a:t>Technical architects.</a:t>
            </a:r>
          </a:p>
          <a:p>
            <a:pPr lvl="1"/>
            <a:r>
              <a:rPr lang="en-GB" sz="1600" dirty="0"/>
              <a:t>Analysts and designers.</a:t>
            </a:r>
          </a:p>
          <a:p>
            <a:pPr lvl="1"/>
            <a:r>
              <a:rPr lang="en-GB" sz="1600" dirty="0"/>
              <a:t>Anyone with knowledge of the application to be tested or the tasks involved </a:t>
            </a:r>
            <a:r>
              <a:rPr lang="en-GB" sz="1600" dirty="0" smtClean="0"/>
              <a:t>in the </a:t>
            </a:r>
            <a:r>
              <a:rPr lang="en-GB" sz="1600" dirty="0"/>
              <a:t>process.</a:t>
            </a:r>
          </a:p>
          <a:p>
            <a:r>
              <a:rPr lang="en-GB" sz="1600" dirty="0"/>
              <a:t>There are many ways that this approach could be used. Here are two examples:</a:t>
            </a:r>
          </a:p>
          <a:p>
            <a:pPr lvl="1"/>
            <a:r>
              <a:rPr lang="en-GB" sz="1600" b="1" dirty="0"/>
              <a:t>Distribute a requirement specification to the task owners and </a:t>
            </a:r>
            <a:r>
              <a:rPr lang="en-GB" sz="1600" b="1" dirty="0" smtClean="0"/>
              <a:t>get them </a:t>
            </a:r>
            <a:r>
              <a:rPr lang="en-GB" sz="1600" b="1" dirty="0"/>
              <a:t>to estimate their task in isolation. Amalgamate the </a:t>
            </a:r>
            <a:r>
              <a:rPr lang="en-GB" sz="1600" b="1" dirty="0" smtClean="0"/>
              <a:t>individual estimates </a:t>
            </a:r>
            <a:r>
              <a:rPr lang="en-GB" sz="1600" b="1" dirty="0"/>
              <a:t>when received; build in any required contingency, to </a:t>
            </a:r>
            <a:r>
              <a:rPr lang="en-GB" sz="1600" b="1" dirty="0" smtClean="0"/>
              <a:t>arrive at </a:t>
            </a:r>
            <a:r>
              <a:rPr lang="en-GB" sz="1600" b="1" dirty="0"/>
              <a:t>the estimate.</a:t>
            </a:r>
          </a:p>
          <a:p>
            <a:pPr lvl="1"/>
            <a:r>
              <a:rPr lang="en-GB" sz="1600" dirty="0"/>
              <a:t>Distribute to known experts who develop their individual view of the </a:t>
            </a:r>
            <a:r>
              <a:rPr lang="en-GB" sz="1600" dirty="0" smtClean="0"/>
              <a:t>overall estimate </a:t>
            </a:r>
            <a:r>
              <a:rPr lang="en-GB" sz="1600" dirty="0"/>
              <a:t>and then meet together to agree on and/or debate the estimate </a:t>
            </a:r>
            <a:r>
              <a:rPr lang="en-GB" sz="1600" dirty="0" smtClean="0"/>
              <a:t>that will </a:t>
            </a:r>
            <a:r>
              <a:rPr lang="en-GB" sz="1600" dirty="0"/>
              <a:t>go forward.</a:t>
            </a:r>
          </a:p>
          <a:p>
            <a:r>
              <a:rPr lang="en-GB" sz="1600" dirty="0"/>
              <a:t>Expert estimating can use either of the above approaches individually or </a:t>
            </a:r>
            <a:r>
              <a:rPr lang="en-GB" sz="1600" dirty="0" smtClean="0"/>
              <a:t>mixing and </a:t>
            </a:r>
            <a:r>
              <a:rPr lang="en-GB" sz="1600" dirty="0"/>
              <a:t>matching them as required.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08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PLANNING AND ESTIMATION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Effort required to fulfil the test requirements of a </a:t>
            </a:r>
            <a:r>
              <a:rPr lang="en-GB" sz="1800" b="1" dirty="0" smtClean="0"/>
              <a:t>project:</a:t>
            </a:r>
          </a:p>
          <a:p>
            <a:r>
              <a:rPr lang="en-GB" sz="1600" dirty="0"/>
              <a:t>These can be split into three main categories, as shown below</a:t>
            </a:r>
            <a:r>
              <a:rPr lang="en-GB" sz="1600" dirty="0" smtClean="0"/>
              <a:t>.</a:t>
            </a:r>
          </a:p>
          <a:p>
            <a:pPr lvl="1"/>
            <a:r>
              <a:rPr lang="en-GB" sz="1400" b="1" dirty="0"/>
              <a:t>Product characteristics:</a:t>
            </a:r>
          </a:p>
          <a:p>
            <a:pPr lvl="2"/>
            <a:r>
              <a:rPr lang="en-GB" sz="1400" dirty="0"/>
              <a:t>size of the test basis;</a:t>
            </a:r>
          </a:p>
          <a:p>
            <a:pPr lvl="2"/>
            <a:r>
              <a:rPr lang="en-GB" sz="1400" dirty="0"/>
              <a:t>complexity of the final product;</a:t>
            </a:r>
          </a:p>
          <a:p>
            <a:pPr lvl="2"/>
            <a:r>
              <a:rPr lang="en-GB" sz="1400" dirty="0"/>
              <a:t>the amount of non-functional requirements;</a:t>
            </a:r>
          </a:p>
          <a:p>
            <a:pPr lvl="2"/>
            <a:r>
              <a:rPr lang="en-GB" sz="1400" dirty="0"/>
              <a:t>the security requirements (perhaps meeting BS 7799, the </a:t>
            </a:r>
            <a:r>
              <a:rPr lang="en-GB" sz="1400" dirty="0" smtClean="0"/>
              <a:t>security standard</a:t>
            </a:r>
            <a:r>
              <a:rPr lang="en-GB" sz="1400" dirty="0"/>
              <a:t>);</a:t>
            </a:r>
          </a:p>
          <a:p>
            <a:pPr lvl="2"/>
            <a:r>
              <a:rPr lang="en-GB" sz="1400" dirty="0"/>
              <a:t>how much documentation is required (e.g. some legislation-driven </a:t>
            </a:r>
            <a:r>
              <a:rPr lang="en-GB" sz="1400" dirty="0" smtClean="0"/>
              <a:t>changes demand </a:t>
            </a:r>
            <a:r>
              <a:rPr lang="en-GB" sz="1400" dirty="0"/>
              <a:t>a certain level of documentation that may be more than </a:t>
            </a:r>
            <a:r>
              <a:rPr lang="en-GB" sz="1400" dirty="0" smtClean="0"/>
              <a:t>an organisation </a:t>
            </a:r>
            <a:r>
              <a:rPr lang="en-GB" sz="1400" dirty="0"/>
              <a:t>would normally produce);</a:t>
            </a:r>
          </a:p>
          <a:p>
            <a:pPr lvl="2"/>
            <a:r>
              <a:rPr lang="en-GB" sz="1400" dirty="0"/>
              <a:t>the availability and quality of the test basis (e.g. requirements </a:t>
            </a:r>
            <a:r>
              <a:rPr lang="en-GB" sz="1400" dirty="0" smtClean="0"/>
              <a:t>and specifications).</a:t>
            </a:r>
          </a:p>
          <a:p>
            <a:pPr lvl="1"/>
            <a:r>
              <a:rPr lang="en-GB" sz="1400" b="1" dirty="0"/>
              <a:t>Development process </a:t>
            </a:r>
            <a:r>
              <a:rPr lang="en-GB" sz="1400" b="1" dirty="0" smtClean="0"/>
              <a:t>characteristics:</a:t>
            </a:r>
            <a:endParaRPr lang="en-GB" sz="1400" b="1" dirty="0"/>
          </a:p>
          <a:p>
            <a:pPr lvl="2"/>
            <a:r>
              <a:rPr lang="en-GB" sz="1400" dirty="0"/>
              <a:t>timescales;</a:t>
            </a:r>
          </a:p>
          <a:p>
            <a:pPr lvl="2"/>
            <a:r>
              <a:rPr lang="en-GB" sz="1400" dirty="0"/>
              <a:t>amount of budget available;</a:t>
            </a:r>
          </a:p>
          <a:p>
            <a:pPr lvl="2"/>
            <a:r>
              <a:rPr lang="en-GB" sz="1400" dirty="0"/>
              <a:t>skills of those involved in the testing and development activity (the </a:t>
            </a:r>
            <a:r>
              <a:rPr lang="en-GB" sz="1400" dirty="0" smtClean="0"/>
              <a:t>lower the </a:t>
            </a:r>
            <a:r>
              <a:rPr lang="en-GB" sz="1400" dirty="0"/>
              <a:t>skill level in development, the more defects could be </a:t>
            </a:r>
            <a:r>
              <a:rPr lang="en-GB" sz="1400" dirty="0" smtClean="0"/>
              <a:t>introduced, and </a:t>
            </a:r>
            <a:r>
              <a:rPr lang="en-GB" sz="1400" dirty="0"/>
              <a:t>the lower the skill level in testing, the more detailed the </a:t>
            </a:r>
            <a:r>
              <a:rPr lang="en-GB" sz="1400" dirty="0" smtClean="0"/>
              <a:t>test documentation </a:t>
            </a:r>
            <a:r>
              <a:rPr lang="en-GB" sz="1400" dirty="0"/>
              <a:t>needs to be);</a:t>
            </a:r>
          </a:p>
          <a:p>
            <a:pPr lvl="2"/>
            <a:r>
              <a:rPr lang="en-GB" sz="1400" dirty="0"/>
              <a:t>which tools are being used across the life cycle (i.e. the amount </a:t>
            </a:r>
            <a:r>
              <a:rPr lang="en-GB" sz="1400" dirty="0" smtClean="0"/>
              <a:t>of automated </a:t>
            </a:r>
            <a:r>
              <a:rPr lang="en-GB" sz="1400" dirty="0"/>
              <a:t>testing will affect the effort required).</a:t>
            </a:r>
          </a:p>
          <a:p>
            <a:pPr lvl="1"/>
            <a:r>
              <a:rPr lang="en-GB" sz="1400" b="1" dirty="0"/>
              <a:t>Expected outcome of testing such as</a:t>
            </a:r>
            <a:r>
              <a:rPr lang="en-GB" sz="1400" b="1" dirty="0" smtClean="0"/>
              <a:t>:</a:t>
            </a:r>
            <a:endParaRPr lang="en-GB" sz="1400" b="1" dirty="0"/>
          </a:p>
          <a:p>
            <a:pPr lvl="2"/>
            <a:r>
              <a:rPr lang="en-GB" sz="1400" dirty="0"/>
              <a:t>the amount of errors;</a:t>
            </a:r>
          </a:p>
          <a:p>
            <a:pPr lvl="2"/>
            <a:r>
              <a:rPr lang="en-GB" sz="1400" dirty="0"/>
              <a:t>test cases to be </a:t>
            </a:r>
            <a:r>
              <a:rPr lang="en-GB" sz="1400" dirty="0" smtClean="0"/>
              <a:t>written.</a:t>
            </a:r>
          </a:p>
          <a:p>
            <a:pPr marL="57150" indent="0">
              <a:buNone/>
            </a:pPr>
            <a:r>
              <a:rPr lang="en-GB" sz="1600" dirty="0" smtClean="0"/>
              <a:t>Taking all of this into account, once the estimate is developed and agreed the test leader can set about identifying the required resources and building the detailed plan.</a:t>
            </a:r>
            <a:endParaRPr lang="en-GB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665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PROGRESS MONITORING AND CONTROL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 smtClean="0"/>
              <a:t>Test progress </a:t>
            </a:r>
            <a:r>
              <a:rPr lang="en-GB" sz="1800" b="1" dirty="0"/>
              <a:t>monitoring:</a:t>
            </a:r>
            <a:endParaRPr lang="en-GB" sz="1800" b="1" dirty="0" smtClean="0"/>
          </a:p>
          <a:p>
            <a:r>
              <a:rPr lang="en-GB" sz="1600" dirty="0"/>
              <a:t>Having developed the test plan, the activities and timescales determined </a:t>
            </a:r>
            <a:r>
              <a:rPr lang="en-GB" sz="1600" dirty="0" smtClean="0"/>
              <a:t>within it </a:t>
            </a:r>
            <a:r>
              <a:rPr lang="en-GB" sz="1600" dirty="0"/>
              <a:t>need to be constantly reviewed against what is actually happening. </a:t>
            </a:r>
            <a:endParaRPr lang="en-GB" sz="1600" dirty="0" smtClean="0"/>
          </a:p>
          <a:p>
            <a:r>
              <a:rPr lang="en-GB" sz="1600" dirty="0" smtClean="0"/>
              <a:t>This </a:t>
            </a:r>
            <a:r>
              <a:rPr lang="en-GB" sz="1600" dirty="0"/>
              <a:t>is </a:t>
            </a:r>
            <a:r>
              <a:rPr lang="en-GB" sz="1600" dirty="0" smtClean="0"/>
              <a:t>test progress </a:t>
            </a:r>
            <a:r>
              <a:rPr lang="en-GB" sz="1600" dirty="0"/>
              <a:t>monitoring. </a:t>
            </a:r>
            <a:endParaRPr lang="en-GB" sz="1600" dirty="0" smtClean="0"/>
          </a:p>
          <a:p>
            <a:r>
              <a:rPr lang="en-GB" sz="1600" dirty="0" smtClean="0"/>
              <a:t>The </a:t>
            </a:r>
            <a:r>
              <a:rPr lang="en-GB" sz="1600" dirty="0"/>
              <a:t>purpose of test progress monitoring is to provide </a:t>
            </a:r>
            <a:r>
              <a:rPr lang="en-GB" sz="1600" dirty="0" smtClean="0"/>
              <a:t>feedback and </a:t>
            </a:r>
            <a:r>
              <a:rPr lang="en-GB" sz="1600" dirty="0"/>
              <a:t>visibility of the progress of test activities.</a:t>
            </a:r>
          </a:p>
          <a:p>
            <a:r>
              <a:rPr lang="en-GB" sz="1600" dirty="0"/>
              <a:t>The data required to monitor progress can be collected manually, e.g. </a:t>
            </a:r>
            <a:r>
              <a:rPr lang="en-GB" sz="1600" dirty="0" smtClean="0"/>
              <a:t>counting test </a:t>
            </a:r>
            <a:r>
              <a:rPr lang="en-GB" sz="1600" dirty="0"/>
              <a:t>cases developed at the end of each day, or, with the advent of </a:t>
            </a:r>
            <a:r>
              <a:rPr lang="en-GB" sz="1600" dirty="0" smtClean="0"/>
              <a:t>sophisticated test </a:t>
            </a:r>
            <a:r>
              <a:rPr lang="en-GB" sz="1600" dirty="0"/>
              <a:t>management tools, it also possible to collect the data as an automatic </a:t>
            </a:r>
            <a:r>
              <a:rPr lang="en-GB" sz="1600" dirty="0" smtClean="0"/>
              <a:t>output from </a:t>
            </a:r>
            <a:r>
              <a:rPr lang="en-GB" sz="1600" dirty="0"/>
              <a:t>a tool either already formatted into a report, or as a data file that can </a:t>
            </a:r>
            <a:r>
              <a:rPr lang="en-GB" sz="1600" dirty="0" smtClean="0"/>
              <a:t>be manipulated </a:t>
            </a:r>
            <a:r>
              <a:rPr lang="en-GB" sz="1600" dirty="0"/>
              <a:t>to present a picture of progress.</a:t>
            </a:r>
          </a:p>
          <a:p>
            <a:r>
              <a:rPr lang="en-GB" sz="1600" dirty="0"/>
              <a:t>The progress data is also used to measure exit criteria such as test </a:t>
            </a:r>
            <a:r>
              <a:rPr lang="en-GB" sz="1600" dirty="0" smtClean="0"/>
              <a:t>coverage, e.g</a:t>
            </a:r>
            <a:r>
              <a:rPr lang="en-GB" sz="1600" dirty="0"/>
              <a:t>. 50 per cent requirements coverage achieved.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155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PROGRESS MONITORING AND CONTROL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 smtClean="0"/>
              <a:t>… Test progress monitoring …:</a:t>
            </a:r>
          </a:p>
          <a:p>
            <a:r>
              <a:rPr lang="en-GB" sz="1600" dirty="0"/>
              <a:t>Common test metrics include:</a:t>
            </a:r>
          </a:p>
          <a:p>
            <a:pPr lvl="1"/>
            <a:r>
              <a:rPr lang="en-GB" sz="1600" dirty="0"/>
              <a:t>Percentage of work done in test case preparation (or percentage of </a:t>
            </a:r>
            <a:r>
              <a:rPr lang="en-GB" sz="1600" dirty="0" smtClean="0"/>
              <a:t>planned test </a:t>
            </a:r>
            <a:r>
              <a:rPr lang="en-GB" sz="1600" dirty="0"/>
              <a:t>cases prepared).</a:t>
            </a:r>
          </a:p>
          <a:p>
            <a:pPr lvl="1"/>
            <a:r>
              <a:rPr lang="en-GB" sz="1600" dirty="0"/>
              <a:t>Percentage of work done in test environment preparation.</a:t>
            </a:r>
          </a:p>
          <a:p>
            <a:pPr lvl="1"/>
            <a:r>
              <a:rPr lang="en-GB" sz="1600" dirty="0"/>
              <a:t>Test case execution (e.g. number of test cases run/not run, and test </a:t>
            </a:r>
            <a:r>
              <a:rPr lang="en-GB" sz="1600" dirty="0" smtClean="0"/>
              <a:t>cases passed/failed</a:t>
            </a:r>
            <a:r>
              <a:rPr lang="en-GB" sz="1600" dirty="0"/>
              <a:t>).</a:t>
            </a:r>
          </a:p>
          <a:p>
            <a:pPr lvl="1"/>
            <a:r>
              <a:rPr lang="en-GB" sz="1600" dirty="0"/>
              <a:t>Defect information (e.g. defect density, defects found and fixed, failure </a:t>
            </a:r>
            <a:r>
              <a:rPr lang="en-GB" sz="1600" dirty="0" smtClean="0"/>
              <a:t>rate and </a:t>
            </a:r>
            <a:r>
              <a:rPr lang="en-GB" sz="1600" dirty="0"/>
              <a:t>retest results).</a:t>
            </a:r>
          </a:p>
          <a:p>
            <a:pPr lvl="1"/>
            <a:r>
              <a:rPr lang="en-GB" sz="1600" dirty="0"/>
              <a:t>Test coverage of requirements, risks or code.</a:t>
            </a:r>
          </a:p>
          <a:p>
            <a:pPr lvl="1"/>
            <a:r>
              <a:rPr lang="en-GB" sz="1600" dirty="0"/>
              <a:t>Subjective confidence of testers in the product.</a:t>
            </a:r>
          </a:p>
          <a:p>
            <a:pPr lvl="1"/>
            <a:r>
              <a:rPr lang="en-GB" sz="1600" dirty="0"/>
              <a:t>Dates of test milestones.</a:t>
            </a:r>
          </a:p>
          <a:p>
            <a:pPr lvl="1"/>
            <a:r>
              <a:rPr lang="en-GB" sz="1600" dirty="0"/>
              <a:t>Testing costs, including the cost compared with the benefit of finding the </a:t>
            </a:r>
            <a:r>
              <a:rPr lang="en-GB" sz="1600" dirty="0" smtClean="0"/>
              <a:t>next defect </a:t>
            </a:r>
            <a:r>
              <a:rPr lang="en-GB" sz="1600" dirty="0"/>
              <a:t>or to run the next test.</a:t>
            </a:r>
          </a:p>
          <a:p>
            <a:pPr lvl="1"/>
            <a:r>
              <a:rPr lang="en-GB" sz="1600" dirty="0"/>
              <a:t>Ultimately test metrics are used to track progress towards the completion of </a:t>
            </a:r>
            <a:r>
              <a:rPr lang="en-GB" sz="1600" dirty="0" smtClean="0"/>
              <a:t>testing, which </a:t>
            </a:r>
            <a:r>
              <a:rPr lang="en-GB" sz="1600" dirty="0"/>
              <a:t>is determined by the exit criteria. So test metrics should relate </a:t>
            </a:r>
            <a:r>
              <a:rPr lang="en-GB" sz="1600" dirty="0" smtClean="0"/>
              <a:t>directly to </a:t>
            </a:r>
            <a:r>
              <a:rPr lang="en-GB" sz="1600" dirty="0"/>
              <a:t>the exit criteria.</a:t>
            </a:r>
          </a:p>
          <a:p>
            <a:pPr lvl="1"/>
            <a:r>
              <a:rPr lang="en-GB" sz="1600" dirty="0"/>
              <a:t>There is a trend towards ‘dashboards’, which reflect all of the relevant metrics </a:t>
            </a:r>
            <a:r>
              <a:rPr lang="en-GB" sz="1600" dirty="0" smtClean="0"/>
              <a:t>on a </a:t>
            </a:r>
            <a:r>
              <a:rPr lang="en-GB" sz="1600" dirty="0"/>
              <a:t>single screen or page, ensuring maximum impact.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91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PROGRESS MONITORING AND CONTROL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 smtClean="0"/>
              <a:t>… Test progress monitoring:</a:t>
            </a:r>
          </a:p>
          <a:p>
            <a:pPr marL="0" indent="0" algn="ctr">
              <a:buNone/>
            </a:pPr>
            <a:r>
              <a:rPr lang="en-GB" sz="1600" b="1" dirty="0" err="1"/>
              <a:t>iTesting</a:t>
            </a:r>
            <a:r>
              <a:rPr lang="en-GB" sz="1600" b="1" dirty="0"/>
              <a:t> Executive </a:t>
            </a:r>
            <a:r>
              <a:rPr lang="en-GB" sz="1600" b="1" dirty="0" smtClean="0"/>
              <a:t>Dashboard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838200"/>
            <a:ext cx="8180676" cy="512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4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PROGRESS MONITORING AND CONTROL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Test </a:t>
            </a:r>
            <a:r>
              <a:rPr lang="en-GB" sz="1800" b="1" dirty="0" smtClean="0"/>
              <a:t>Reporting:</a:t>
            </a:r>
          </a:p>
          <a:p>
            <a:r>
              <a:rPr lang="en-GB" sz="1600" dirty="0"/>
              <a:t>Test reporting is the process where by test metrics are reported in summarised format to update the reader regarding the testing tasks undertaken. </a:t>
            </a:r>
            <a:endParaRPr lang="en-GB" sz="1600" dirty="0" smtClean="0"/>
          </a:p>
          <a:p>
            <a:r>
              <a:rPr lang="en-GB" sz="1600" dirty="0" smtClean="0"/>
              <a:t>The </a:t>
            </a:r>
            <a:r>
              <a:rPr lang="en-GB" sz="1600" dirty="0"/>
              <a:t>information reported can include</a:t>
            </a:r>
            <a:r>
              <a:rPr lang="en-GB" sz="1600" dirty="0" smtClean="0"/>
              <a:t>:</a:t>
            </a:r>
          </a:p>
          <a:p>
            <a:pPr lvl="1"/>
            <a:r>
              <a:rPr lang="en-GB" sz="1600" dirty="0"/>
              <a:t>What has happened during a given period of time, e.g. a week, a test level </a:t>
            </a:r>
            <a:r>
              <a:rPr lang="en-GB" sz="1600" dirty="0" smtClean="0"/>
              <a:t>or the </a:t>
            </a:r>
            <a:r>
              <a:rPr lang="en-GB" sz="1600" dirty="0"/>
              <a:t>whole test endeavour, or when exit criteria have been met.</a:t>
            </a:r>
          </a:p>
          <a:p>
            <a:pPr lvl="1"/>
            <a:r>
              <a:rPr lang="en-GB" sz="1600" dirty="0"/>
              <a:t>Analysed information and metrics required to support recommendations </a:t>
            </a:r>
            <a:r>
              <a:rPr lang="en-GB" sz="1600" dirty="0" smtClean="0"/>
              <a:t>and decisions </a:t>
            </a:r>
            <a:r>
              <a:rPr lang="en-GB" sz="1600" dirty="0"/>
              <a:t>about future actions, such as:</a:t>
            </a:r>
          </a:p>
          <a:p>
            <a:pPr lvl="2"/>
            <a:r>
              <a:rPr lang="en-GB" sz="1600" dirty="0"/>
              <a:t>an assessment of defects remaining;</a:t>
            </a:r>
          </a:p>
          <a:p>
            <a:pPr lvl="2"/>
            <a:r>
              <a:rPr lang="en-GB" sz="1600" dirty="0"/>
              <a:t>the economic benefit of continued testing, e.g. additional tests </a:t>
            </a:r>
            <a:r>
              <a:rPr lang="en-GB" sz="1600" dirty="0" smtClean="0"/>
              <a:t>are exponentially </a:t>
            </a:r>
            <a:r>
              <a:rPr lang="en-GB" sz="1600" dirty="0"/>
              <a:t>more expensive than the benefit of running;</a:t>
            </a:r>
          </a:p>
          <a:p>
            <a:pPr lvl="2"/>
            <a:r>
              <a:rPr lang="en-GB" sz="1600" dirty="0"/>
              <a:t>outstanding risks;</a:t>
            </a:r>
          </a:p>
          <a:p>
            <a:pPr lvl="2"/>
            <a:r>
              <a:rPr lang="en-GB" sz="1600" dirty="0"/>
              <a:t>the level of confidence in tested software, e.g. defects planned </a:t>
            </a:r>
            <a:r>
              <a:rPr lang="en-GB" sz="1600" dirty="0" err="1"/>
              <a:t>vs</a:t>
            </a:r>
            <a:r>
              <a:rPr lang="en-GB" sz="1600" dirty="0"/>
              <a:t> </a:t>
            </a:r>
            <a:r>
              <a:rPr lang="en-GB" sz="1600" dirty="0" smtClean="0"/>
              <a:t>actual defects </a:t>
            </a:r>
            <a:r>
              <a:rPr lang="en-GB" sz="1600" dirty="0"/>
              <a:t>found.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4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PROGRESS MONITORING AND CONTROL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 smtClean="0"/>
              <a:t>…Test Reporting …:</a:t>
            </a:r>
          </a:p>
          <a:p>
            <a:r>
              <a:rPr lang="en-GB" sz="1600" dirty="0" smtClean="0"/>
              <a:t>The structure defined in IEEE 829 standard outline of a test summary report includes:</a:t>
            </a:r>
          </a:p>
          <a:p>
            <a:endParaRPr lang="en-GB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0600" y="1068388"/>
            <a:ext cx="6854380" cy="444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21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PROGRESS MONITORING AND CONTROL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 smtClean="0"/>
              <a:t>…Test Reporting …:</a:t>
            </a:r>
          </a:p>
          <a:p>
            <a:r>
              <a:rPr lang="en-GB" sz="1600" dirty="0" smtClean="0"/>
              <a:t>The structure defined in IEEE 829 standard outline of a test summary report includes:</a:t>
            </a:r>
          </a:p>
          <a:p>
            <a:endParaRPr lang="en-GB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5401" y="1030654"/>
            <a:ext cx="6324600" cy="533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89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PROGRESS MONITORING AND CONTROL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 smtClean="0"/>
              <a:t>…Test Reporting …:</a:t>
            </a:r>
          </a:p>
          <a:p>
            <a:r>
              <a:rPr lang="en-GB" sz="1600" dirty="0"/>
              <a:t>The information gathered can also be used to help with any process </a:t>
            </a:r>
            <a:r>
              <a:rPr lang="en-GB" sz="1600" dirty="0" smtClean="0"/>
              <a:t>improvement opportunities</a:t>
            </a:r>
            <a:r>
              <a:rPr lang="en-GB" sz="1600" dirty="0"/>
              <a:t>. </a:t>
            </a:r>
            <a:endParaRPr lang="en-GB" sz="1600" dirty="0" smtClean="0"/>
          </a:p>
          <a:p>
            <a:r>
              <a:rPr lang="en-GB" sz="1600" dirty="0" smtClean="0"/>
              <a:t>This </a:t>
            </a:r>
            <a:r>
              <a:rPr lang="en-GB" sz="1600" dirty="0"/>
              <a:t>information could be used to assess whether:</a:t>
            </a:r>
          </a:p>
          <a:p>
            <a:pPr lvl="1"/>
            <a:r>
              <a:rPr lang="en-GB" sz="1600" dirty="0"/>
              <a:t>the goals for testing were correctly set (were they achievable; if not why not?);</a:t>
            </a:r>
          </a:p>
          <a:p>
            <a:pPr lvl="1"/>
            <a:r>
              <a:rPr lang="en-GB" sz="1600" dirty="0"/>
              <a:t>the test approach or strategy was adequate (e.g. did it ensure there was</a:t>
            </a:r>
          </a:p>
          <a:p>
            <a:pPr lvl="1"/>
            <a:r>
              <a:rPr lang="en-GB" sz="1600" dirty="0"/>
              <a:t>enough coverage?);</a:t>
            </a:r>
          </a:p>
          <a:p>
            <a:pPr lvl="1"/>
            <a:r>
              <a:rPr lang="en-GB" sz="1600" dirty="0"/>
              <a:t>the testing was effective in ensuring that the objectives of testing were met.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90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PROGRESS MONITORING AND CONTROL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Test </a:t>
            </a:r>
            <a:r>
              <a:rPr lang="en-GB" sz="1800" b="1" dirty="0" smtClean="0"/>
              <a:t>control:</a:t>
            </a:r>
          </a:p>
          <a:p>
            <a:r>
              <a:rPr lang="en-GB" sz="1600" dirty="0"/>
              <a:t>We have referred above to the collection and reporting of progress data.</a:t>
            </a:r>
          </a:p>
          <a:p>
            <a:r>
              <a:rPr lang="en-GB" sz="1600" dirty="0"/>
              <a:t>Test control uses this information to decide on a course of action to ensure control of the test activities is maintained and exit criteria are met. This is particularly required when the planned test activities are behind schedule.</a:t>
            </a:r>
          </a:p>
          <a:p>
            <a:r>
              <a:rPr lang="en-GB" sz="1600" dirty="0"/>
              <a:t>The actions taken could impact any of the test activities and may also affect other software life-cycle activities.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90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PROGRESS MONITORING AND CONTROL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 smtClean="0"/>
              <a:t>… Test control…:</a:t>
            </a:r>
          </a:p>
          <a:p>
            <a:r>
              <a:rPr lang="en-GB" sz="1600" dirty="0"/>
              <a:t>Examples of test-control activities are as follows:</a:t>
            </a:r>
          </a:p>
          <a:p>
            <a:pPr lvl="1"/>
            <a:r>
              <a:rPr lang="en-GB" sz="1600" dirty="0"/>
              <a:t>Making decisions based on information from test monitoring.</a:t>
            </a:r>
          </a:p>
          <a:p>
            <a:pPr lvl="1"/>
            <a:r>
              <a:rPr lang="en-GB" sz="1600" dirty="0"/>
              <a:t>Reprioritise tests when an identified project risk occurs (e.g. </a:t>
            </a:r>
            <a:r>
              <a:rPr lang="en-GB" sz="1600" dirty="0" smtClean="0"/>
              <a:t>software delivered </a:t>
            </a:r>
            <a:r>
              <a:rPr lang="en-GB" sz="1600" dirty="0"/>
              <a:t>late).</a:t>
            </a:r>
          </a:p>
          <a:p>
            <a:pPr lvl="1"/>
            <a:r>
              <a:rPr lang="en-GB" sz="1600" dirty="0"/>
              <a:t>Change the test schedule due to availability of a test environment.</a:t>
            </a:r>
          </a:p>
          <a:p>
            <a:pPr lvl="1"/>
            <a:r>
              <a:rPr lang="en-GB" sz="1600" dirty="0"/>
              <a:t>Set an entry criterion requiring fixes to be retested (confirmation tested) by </a:t>
            </a:r>
            <a:r>
              <a:rPr lang="en-GB" sz="1600" dirty="0" smtClean="0"/>
              <a:t>a developer </a:t>
            </a:r>
            <a:r>
              <a:rPr lang="en-GB" sz="1600" dirty="0"/>
              <a:t>before accepting them into a build (this is particularly useful </a:t>
            </a:r>
            <a:r>
              <a:rPr lang="en-GB" sz="1600" dirty="0" smtClean="0"/>
              <a:t>when defect </a:t>
            </a:r>
            <a:r>
              <a:rPr lang="en-GB" sz="1600" dirty="0"/>
              <a:t>fixes continually fail again when retested).</a:t>
            </a:r>
          </a:p>
          <a:p>
            <a:pPr lvl="1"/>
            <a:r>
              <a:rPr lang="en-GB" sz="1600" dirty="0"/>
              <a:t>Review of product risks and perhaps changing the risk ratings to meet </a:t>
            </a:r>
            <a:r>
              <a:rPr lang="en-GB" sz="1600" dirty="0" smtClean="0"/>
              <a:t>the target</a:t>
            </a:r>
            <a:r>
              <a:rPr lang="en-GB" sz="1600" dirty="0"/>
              <a:t>.</a:t>
            </a:r>
          </a:p>
          <a:p>
            <a:pPr lvl="1"/>
            <a:r>
              <a:rPr lang="en-GB" sz="1600" dirty="0"/>
              <a:t>Adjusting the scope of the testing (perhaps the amount of tests to be run) </a:t>
            </a:r>
            <a:r>
              <a:rPr lang="en-GB" sz="1600" dirty="0" smtClean="0"/>
              <a:t>to manage </a:t>
            </a:r>
            <a:r>
              <a:rPr lang="en-GB" sz="1600" dirty="0"/>
              <a:t>the testing of late change requests.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008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1810</TotalTime>
  <Words>1450</Words>
  <Application>Microsoft Office PowerPoint</Application>
  <PresentationFormat>On-screen Show (4:3)</PresentationFormat>
  <Paragraphs>132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Office Theme</vt:lpstr>
      <vt:lpstr>PowerPoint Presentation</vt:lpstr>
      <vt:lpstr>TEST PLANNING AND ESTIMATION</vt:lpstr>
      <vt:lpstr>TEST PLANNING AND ESTIMATION</vt:lpstr>
      <vt:lpstr>TEST PLANNING AND ESTIMATION</vt:lpstr>
      <vt:lpstr>TEST PLANNING AND ESTIMATION</vt:lpstr>
      <vt:lpstr>TEST PROGRESS MONITORING AND CONTROL</vt:lpstr>
      <vt:lpstr>TEST PROGRESS MONITORING AND CONTROL</vt:lpstr>
      <vt:lpstr>TEST PROGRESS MONITORING AND CONTROL</vt:lpstr>
      <vt:lpstr>TEST PROGRESS MONITORING AND CONTROL</vt:lpstr>
      <vt:lpstr>TEST PROGRESS MONITORING AND CONTROL</vt:lpstr>
      <vt:lpstr>TEST PROGRESS MONITORING AND CONTROL</vt:lpstr>
      <vt:lpstr>TEST PROGRESS MONITORING AND CONTROL</vt:lpstr>
      <vt:lpstr>TEST PROGRESS MONITORING AND CONTROL</vt:lpstr>
      <vt:lpstr>TEST PROGRESS MONITORING AND CONTROL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Analysis</dc:title>
  <dc:creator>gulraiz</dc:creator>
  <cp:lastModifiedBy>Windows User</cp:lastModifiedBy>
  <cp:revision>404</cp:revision>
  <dcterms:created xsi:type="dcterms:W3CDTF">2014-08-12T16:29:38Z</dcterms:created>
  <dcterms:modified xsi:type="dcterms:W3CDTF">2023-12-11T10:45:14Z</dcterms:modified>
</cp:coreProperties>
</file>