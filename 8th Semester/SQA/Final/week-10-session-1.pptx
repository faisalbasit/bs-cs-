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87092" autoAdjust="0"/>
  </p:normalViewPr>
  <p:slideViewPr>
    <p:cSldViewPr>
      <p:cViewPr varScale="1">
        <p:scale>
          <a:sx n="74" d="100"/>
          <a:sy n="74" d="100"/>
        </p:scale>
        <p:origin x="12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0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32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95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27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8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72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22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7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48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4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="" xmlns:a16="http://schemas.microsoft.com/office/drawing/2014/main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 smtClean="0"/>
              <a:t>Session 1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Structure based  (White box) testing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Structure-based techniques serve two purposes: </a:t>
            </a:r>
            <a:endParaRPr lang="en-GB" sz="1800" dirty="0" smtClean="0"/>
          </a:p>
          <a:p>
            <a:pPr lvl="1"/>
            <a:r>
              <a:rPr lang="en-GB" sz="1800" dirty="0" smtClean="0"/>
              <a:t>test </a:t>
            </a:r>
            <a:r>
              <a:rPr lang="en-GB" sz="1800" dirty="0"/>
              <a:t>coverage measurement </a:t>
            </a:r>
            <a:endParaRPr lang="en-GB" sz="1800" dirty="0" smtClean="0"/>
          </a:p>
          <a:p>
            <a:pPr lvl="1"/>
            <a:r>
              <a:rPr lang="en-GB" sz="1800" dirty="0" smtClean="0"/>
              <a:t>and </a:t>
            </a:r>
            <a:r>
              <a:rPr lang="en-GB" sz="1800" dirty="0"/>
              <a:t>structural test case design. </a:t>
            </a:r>
            <a:endParaRPr lang="en-GB" sz="1800" dirty="0" smtClean="0"/>
          </a:p>
          <a:p>
            <a:r>
              <a:rPr lang="en-GB" sz="1800" dirty="0" smtClean="0"/>
              <a:t>They </a:t>
            </a:r>
            <a:r>
              <a:rPr lang="en-GB" sz="1800" dirty="0"/>
              <a:t>are often used first to assess the amount of testing performed by tests derived from specification-based techniques, i.e. to assess coverage. </a:t>
            </a:r>
            <a:endParaRPr lang="en-GB" sz="1800" dirty="0" smtClean="0"/>
          </a:p>
          <a:p>
            <a:r>
              <a:rPr lang="en-GB" sz="1800" dirty="0" smtClean="0"/>
              <a:t>They </a:t>
            </a:r>
            <a:r>
              <a:rPr lang="en-GB" sz="1800" dirty="0"/>
              <a:t>are then used to design additional tests with the aim of increasing the test coverage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Structure-based test design techniques are a good way of generating additional test cases that are different from existing tests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 </a:t>
            </a:r>
            <a:r>
              <a:rPr lang="en-GB" sz="1800" dirty="0"/>
              <a:t>They can help ensure more breadth of testing, in the sense that test cases that achieve 100% coverage in any measure will be exercising all parts of the software from the point of view of the items being covered.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Test Coverage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Test coverage measures in some specific way the amount of testing performed by a set of tests (derived in some other way, e.g. using specification-based techniques). </a:t>
            </a:r>
          </a:p>
          <a:p>
            <a:r>
              <a:rPr lang="en-GB" sz="1800" dirty="0"/>
              <a:t>Wherever we can count things and can tell whether or not each of those things has been tested by some test, then we can measure coverage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The basic coverage measure is </a:t>
            </a:r>
            <a:r>
              <a:rPr lang="en-GB" sz="1800" dirty="0" smtClean="0"/>
              <a:t>: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/>
          </a:p>
          <a:p>
            <a:r>
              <a:rPr lang="en-GB" sz="1800" dirty="0"/>
              <a:t>where the 'coverage item' is whatever we have been able to count and see whether a test has exercised or used this item.</a:t>
            </a:r>
            <a:endParaRPr lang="en-GB" sz="1800" dirty="0" smtClean="0"/>
          </a:p>
          <a:p>
            <a:pPr marL="0" indent="0">
              <a:buNone/>
            </a:pPr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0712" y="2743200"/>
            <a:ext cx="536257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3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Test Coverage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There is danger in using a coverage measure. </a:t>
            </a:r>
            <a:endParaRPr lang="en-GB" sz="1800" dirty="0" smtClean="0"/>
          </a:p>
          <a:p>
            <a:r>
              <a:rPr lang="en-GB" sz="1800" dirty="0" smtClean="0"/>
              <a:t>100</a:t>
            </a:r>
            <a:r>
              <a:rPr lang="en-GB" sz="1800" dirty="0"/>
              <a:t>% coverage does </a:t>
            </a:r>
            <a:r>
              <a:rPr lang="en-GB" sz="1800" i="1" dirty="0"/>
              <a:t>not </a:t>
            </a:r>
            <a:r>
              <a:rPr lang="en-GB" sz="1800" dirty="0"/>
              <a:t>mean 100% tested! </a:t>
            </a:r>
            <a:endParaRPr lang="en-GB" sz="1800" dirty="0" smtClean="0"/>
          </a:p>
          <a:p>
            <a:r>
              <a:rPr lang="en-GB" sz="1800" dirty="0" smtClean="0"/>
              <a:t>Coverage </a:t>
            </a:r>
            <a:r>
              <a:rPr lang="en-GB" sz="1800" dirty="0"/>
              <a:t>techniques measure only one dimension of a </a:t>
            </a:r>
            <a:r>
              <a:rPr lang="en-GB" sz="1800" dirty="0" smtClean="0"/>
              <a:t>multidimensional </a:t>
            </a:r>
            <a:r>
              <a:rPr lang="en-GB" sz="1800" dirty="0"/>
              <a:t>concept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 </a:t>
            </a:r>
            <a:r>
              <a:rPr lang="en-GB" sz="1800" dirty="0"/>
              <a:t>Two different test cases may achieve exactly the same coverage but the input data of one may find an error that the input data of the other doesn't. </a:t>
            </a:r>
          </a:p>
          <a:p>
            <a:r>
              <a:rPr lang="en-GB" sz="1800" dirty="0"/>
              <a:t>One drawback of code coverage measurement is that it measures coverage of what </a:t>
            </a:r>
            <a:r>
              <a:rPr lang="en-GB" sz="1800" i="1" dirty="0"/>
              <a:t>has </a:t>
            </a:r>
            <a:r>
              <a:rPr lang="en-GB" sz="1800" dirty="0"/>
              <a:t>been written, i.e. the code itself; it cannot say anything about the software that has </a:t>
            </a:r>
            <a:r>
              <a:rPr lang="en-GB" sz="1800" i="1" dirty="0"/>
              <a:t>not </a:t>
            </a:r>
            <a:r>
              <a:rPr lang="en-GB" sz="1800" dirty="0"/>
              <a:t>been written. </a:t>
            </a:r>
            <a:endParaRPr lang="en-GB" sz="1800" dirty="0" smtClean="0"/>
          </a:p>
          <a:p>
            <a:r>
              <a:rPr lang="en-GB" sz="1800" dirty="0" smtClean="0"/>
              <a:t>If </a:t>
            </a:r>
            <a:r>
              <a:rPr lang="en-GB" sz="1800" dirty="0"/>
              <a:t>a specified function has not been </a:t>
            </a:r>
            <a:r>
              <a:rPr lang="en-GB" sz="1800" dirty="0" smtClean="0"/>
              <a:t>implemented</a:t>
            </a:r>
            <a:r>
              <a:rPr lang="en-GB" sz="1800" dirty="0"/>
              <a:t>, specification-based testing techniques will reveal this. </a:t>
            </a:r>
            <a:endParaRPr lang="en-GB" sz="1800" dirty="0" smtClean="0"/>
          </a:p>
          <a:p>
            <a:r>
              <a:rPr lang="en-GB" sz="1800" dirty="0" smtClean="0"/>
              <a:t>If </a:t>
            </a:r>
            <a:r>
              <a:rPr lang="en-GB" sz="1800" dirty="0"/>
              <a:t>a function was omitted from the specification, then experience-based techniques may find it. </a:t>
            </a:r>
            <a:endParaRPr lang="en-GB" sz="1800" dirty="0" smtClean="0"/>
          </a:p>
          <a:p>
            <a:r>
              <a:rPr lang="en-GB" sz="1800" dirty="0" smtClean="0"/>
              <a:t>But </a:t>
            </a:r>
            <a:r>
              <a:rPr lang="en-GB" sz="1800" dirty="0"/>
              <a:t>structure-based techniques can only look at a structure which is already there.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4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/>
              <a:t>Statement coverage and statement testing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Statement </a:t>
            </a:r>
            <a:r>
              <a:rPr lang="en-GB" sz="1800" dirty="0"/>
              <a:t>coverage is calculated by:</a:t>
            </a:r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pPr marL="0" indent="0">
              <a:buNone/>
            </a:pPr>
            <a:r>
              <a:rPr lang="en-GB" sz="1800" dirty="0" smtClean="0"/>
              <a:t> 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1066800"/>
            <a:ext cx="60579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8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</a:t>
            </a:r>
            <a:r>
              <a:rPr lang="en-GB" sz="2800" dirty="0"/>
              <a:t>coverage and statement </a:t>
            </a:r>
            <a:r>
              <a:rPr lang="en-GB" sz="2800" dirty="0" smtClean="0"/>
              <a:t>testing – Example 1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Consider code: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r>
              <a:rPr lang="en-GB" sz="1800" dirty="0"/>
              <a:t>To achieve 100% statement coverage of this code segment just one test case is required, one which ensures that variable A contains a value that is greater than the value of variable B, for example, A = 12 and B = 10. </a:t>
            </a:r>
            <a:endParaRPr lang="en-GB" sz="1800" dirty="0" smtClean="0"/>
          </a:p>
          <a:p>
            <a:r>
              <a:rPr lang="en-GB" sz="1800" dirty="0" smtClean="0"/>
              <a:t>Note </a:t>
            </a:r>
            <a:r>
              <a:rPr lang="en-GB" sz="1800" dirty="0"/>
              <a:t>that here we are doing structural test design first, since we are choosing our input values in order ensure statement coverage.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0" y="1066800"/>
            <a:ext cx="18573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8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Statement </a:t>
            </a:r>
            <a:r>
              <a:rPr lang="en-GB" sz="2800" dirty="0"/>
              <a:t>coverage and statement </a:t>
            </a:r>
            <a:r>
              <a:rPr lang="en-GB" sz="2800" dirty="0" smtClean="0"/>
              <a:t>testing – Example 2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Consider code: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1761" y="1104900"/>
            <a:ext cx="2285754" cy="1866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600" y="3581400"/>
            <a:ext cx="61817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7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/>
              <a:t>Decision coverage and decision testing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A decision is an IF statement, a loop control statement (e.g. DO-WHILE or REPEAT-UNTIL), or a CASE statement, where there are two or more </a:t>
            </a:r>
            <a:r>
              <a:rPr lang="en-GB" sz="1800" dirty="0" smtClean="0"/>
              <a:t>possible </a:t>
            </a:r>
            <a:r>
              <a:rPr lang="en-GB" sz="1800" dirty="0"/>
              <a:t>exits or outcomes from the statement. </a:t>
            </a:r>
            <a:endParaRPr lang="en-GB" sz="1800" dirty="0" smtClean="0"/>
          </a:p>
          <a:p>
            <a:r>
              <a:rPr lang="en-GB" sz="1800" dirty="0" smtClean="0"/>
              <a:t>With </a:t>
            </a:r>
            <a:r>
              <a:rPr lang="en-GB" sz="1800" dirty="0"/>
              <a:t>an IF statement, the exit can either be TRUE or FALSE, depending on the value of the logical condition that comes after IF. </a:t>
            </a:r>
            <a:endParaRPr lang="en-GB" sz="1800" dirty="0" smtClean="0"/>
          </a:p>
          <a:p>
            <a:r>
              <a:rPr lang="en-GB" sz="1800" dirty="0" smtClean="0"/>
              <a:t>With </a:t>
            </a:r>
            <a:r>
              <a:rPr lang="en-GB" sz="1800" dirty="0"/>
              <a:t>a loop control statement, the outcome is either to perform the code within the loop or not - again a True or False exit. Decision coverage is calculated by: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6036" y="2895599"/>
            <a:ext cx="7351928" cy="106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2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/>
              <a:t>Decision coverage and decision </a:t>
            </a:r>
            <a:r>
              <a:rPr lang="en-GB" sz="2800" dirty="0" smtClean="0"/>
              <a:t>testing – Example 1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 smtClean="0"/>
              <a:t>Consider code: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r>
              <a:rPr lang="en-GB" sz="1800" dirty="0" smtClean="0"/>
              <a:t>Let's </a:t>
            </a:r>
            <a:r>
              <a:rPr lang="en-GB" sz="1800" dirty="0"/>
              <a:t>suppose that we already have the following test, which gives us 100% statement coverage for code sample</a:t>
            </a:r>
          </a:p>
          <a:p>
            <a:pPr lvl="1"/>
            <a:r>
              <a:rPr lang="en-US" sz="1800" b="1" dirty="0"/>
              <a:t>A = 20, B = </a:t>
            </a:r>
            <a:r>
              <a:rPr lang="en-US" sz="1800" b="1" dirty="0" smtClean="0"/>
              <a:t>15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990600"/>
            <a:ext cx="2095500" cy="14192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38094" y="2971800"/>
            <a:ext cx="2915388" cy="37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…Decision </a:t>
            </a:r>
            <a:r>
              <a:rPr lang="en-GB" sz="2800" dirty="0"/>
              <a:t>coverage and decision </a:t>
            </a:r>
            <a:r>
              <a:rPr lang="en-GB" sz="2800" dirty="0" smtClean="0"/>
              <a:t>testing – Example 1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Which decision outcomes have we exercised with our test? </a:t>
            </a:r>
            <a:endParaRPr lang="en-GB" sz="1800" dirty="0" smtClean="0"/>
          </a:p>
          <a:p>
            <a:r>
              <a:rPr lang="en-GB" sz="1800" dirty="0" smtClean="0"/>
              <a:t>The </a:t>
            </a:r>
            <a:r>
              <a:rPr lang="en-GB" sz="1800" dirty="0"/>
              <a:t>value of C is -10, so the condition 'C &lt; 0' is True, so we will print 'C negative' and we have exercised the True outcome from that decision statement. </a:t>
            </a:r>
            <a:endParaRPr lang="en-GB" sz="1800" dirty="0" smtClean="0"/>
          </a:p>
          <a:p>
            <a:r>
              <a:rPr lang="en-GB" sz="1800" dirty="0" smtClean="0"/>
              <a:t>But </a:t>
            </a:r>
            <a:r>
              <a:rPr lang="en-GB" sz="1800" dirty="0"/>
              <a:t>we have not </a:t>
            </a:r>
            <a:r>
              <a:rPr lang="en-GB" sz="1800" dirty="0" smtClean="0"/>
              <a:t>exercised </a:t>
            </a:r>
            <a:r>
              <a:rPr lang="en-GB" sz="1800" dirty="0"/>
              <a:t>the decision outcome of False. </a:t>
            </a:r>
            <a:endParaRPr lang="en-GB" sz="1800" dirty="0" smtClean="0"/>
          </a:p>
          <a:p>
            <a:r>
              <a:rPr lang="en-GB" sz="1800" dirty="0" smtClean="0"/>
              <a:t>What </a:t>
            </a:r>
            <a:r>
              <a:rPr lang="en-GB" sz="1800" dirty="0"/>
              <a:t>other test would we need to exercise the False outcome and to achieve 100% decision coverage?</a:t>
            </a:r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…Decision </a:t>
            </a:r>
            <a:r>
              <a:rPr lang="en-GB" sz="2800" dirty="0"/>
              <a:t>coverage and decision </a:t>
            </a:r>
            <a:r>
              <a:rPr lang="en-GB" sz="2800" dirty="0" smtClean="0"/>
              <a:t>testing – Example 1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5638800" cy="6172200"/>
          </a:xfrm>
        </p:spPr>
        <p:txBody>
          <a:bodyPr>
            <a:noAutofit/>
          </a:bodyPr>
          <a:lstStyle/>
          <a:p>
            <a:r>
              <a:rPr lang="en-GB" sz="1800" dirty="0"/>
              <a:t>Before we answer that question, let's have a look at another way to represent this code. Sometimes the decision structure is easier to see in a control flow </a:t>
            </a:r>
            <a:r>
              <a:rPr lang="en-GB" sz="1800" dirty="0" smtClean="0"/>
              <a:t>diagram.</a:t>
            </a:r>
          </a:p>
          <a:p>
            <a:r>
              <a:rPr lang="en-GB" sz="1800" dirty="0" smtClean="0"/>
              <a:t>The </a:t>
            </a:r>
            <a:r>
              <a:rPr lang="en-GB" sz="1800" dirty="0"/>
              <a:t>dotted line </a:t>
            </a:r>
            <a:r>
              <a:rPr lang="en-GB" sz="1800" dirty="0" smtClean="0"/>
              <a:t>clearly </a:t>
            </a:r>
            <a:r>
              <a:rPr lang="en-GB" sz="1800" dirty="0"/>
              <a:t>shows that we haven't yet had a test that takes the False exit from the IF statement.</a:t>
            </a:r>
          </a:p>
          <a:p>
            <a:r>
              <a:rPr lang="en-GB" sz="1800" dirty="0"/>
              <a:t>Let's modify our existing test set by adding another test: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b="1" dirty="0" smtClean="0"/>
              <a:t>A </a:t>
            </a:r>
            <a:r>
              <a:rPr lang="en-GB" sz="1800" b="1" dirty="0"/>
              <a:t>= 20, B = 15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b="1" dirty="0" smtClean="0"/>
              <a:t>A = 10, B = 2</a:t>
            </a:r>
          </a:p>
          <a:p>
            <a:r>
              <a:rPr lang="en-GB" sz="1800" dirty="0" smtClean="0"/>
              <a:t>This </a:t>
            </a:r>
            <a:r>
              <a:rPr lang="en-GB" sz="1800" dirty="0"/>
              <a:t>now covers both of the decision outcomes, True </a:t>
            </a:r>
            <a:r>
              <a:rPr lang="en-GB" sz="1800" dirty="0" smtClean="0"/>
              <a:t>and False. </a:t>
            </a:r>
          </a:p>
          <a:p>
            <a:r>
              <a:rPr lang="en-GB" sz="1800" dirty="0" smtClean="0"/>
              <a:t>If </a:t>
            </a:r>
            <a:r>
              <a:rPr lang="en-GB" sz="1800" dirty="0"/>
              <a:t>we were to draw the path taken by Test </a:t>
            </a:r>
            <a:r>
              <a:rPr lang="en-GB" sz="1800" dirty="0" smtClean="0"/>
              <a:t>2, </a:t>
            </a:r>
            <a:r>
              <a:rPr lang="en-GB" sz="1800" dirty="0"/>
              <a:t>it would be a straight line from the read statement down the False exit and through the ENDIF. </a:t>
            </a:r>
            <a:endParaRPr lang="en-GB" sz="1800" dirty="0" smtClean="0"/>
          </a:p>
          <a:p>
            <a:r>
              <a:rPr lang="en-GB" sz="1800" dirty="0" smtClean="0"/>
              <a:t>Note </a:t>
            </a:r>
            <a:r>
              <a:rPr lang="en-GB" sz="1800" dirty="0"/>
              <a:t>that we could have chosen other numbers to achieve either the True or False outcomes.</a:t>
            </a:r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57011" y="762000"/>
            <a:ext cx="2668628" cy="34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…Sample exam questions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305800" cy="6172200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How many test cases are needed to achieve 100 per cent decision coverage?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How many test cases would be needed for 100 per cent statement coverage?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accent1"/>
                </a:solidFill>
              </a:rPr>
              <a:t>What level </a:t>
            </a:r>
            <a:r>
              <a:rPr lang="en-US" sz="2000" smtClean="0">
                <a:solidFill>
                  <a:schemeClr val="accent1"/>
                </a:solidFill>
              </a:rPr>
              <a:t>of decision/statement </a:t>
            </a:r>
            <a:r>
              <a:rPr lang="en-US" sz="2000" dirty="0" smtClean="0">
                <a:solidFill>
                  <a:schemeClr val="accent1"/>
                </a:solidFill>
              </a:rPr>
              <a:t>coverage would be achieved by the single input A = 10, B=2?</a:t>
            </a:r>
            <a:r>
              <a:rPr lang="en-US" sz="2000" dirty="0" smtClean="0">
                <a:solidFill>
                  <a:schemeClr val="accent1"/>
                </a:solidFill>
                <a:sym typeface="Wingdings" pitchFamily="2" charset="2"/>
              </a:rPr>
              <a:t>Formula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Generate test data for maximum statement coverage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 smtClean="0"/>
              <a:t>Generate test data for maximum decision coverage</a:t>
            </a:r>
          </a:p>
          <a:p>
            <a:endParaRPr lang="en-GB" sz="2000" dirty="0"/>
          </a:p>
          <a:p>
            <a:endParaRPr lang="en-GB" sz="2000" dirty="0" smtClean="0"/>
          </a:p>
          <a:p>
            <a:endParaRPr lang="en-GB" sz="2000" dirty="0"/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endParaRPr lang="en-GB" sz="2000" dirty="0" smtClean="0"/>
          </a:p>
          <a:p>
            <a:endParaRPr lang="en-GB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9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937</Words>
  <Application>Microsoft Office PowerPoint</Application>
  <PresentationFormat>On-screen Show (4:3)</PresentationFormat>
  <Paragraphs>163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Structure based  (White box) testing</vt:lpstr>
      <vt:lpstr>Test Coverage</vt:lpstr>
      <vt:lpstr>… Test Coverage</vt:lpstr>
      <vt:lpstr>Statement coverage and statement testing</vt:lpstr>
      <vt:lpstr>Statement coverage and statement testing – Example 1</vt:lpstr>
      <vt:lpstr>Statement coverage and statement testing – Example 2</vt:lpstr>
      <vt:lpstr>Decision coverage and decision testing</vt:lpstr>
      <vt:lpstr>Decision coverage and decision testing – Example 1</vt:lpstr>
      <vt:lpstr>…Decision coverage and decision testing – Example 1</vt:lpstr>
      <vt:lpstr>…Decision coverage and decision testing – Example 1</vt:lpstr>
      <vt:lpstr>…Sample exam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354</cp:revision>
  <dcterms:created xsi:type="dcterms:W3CDTF">2014-08-12T16:29:38Z</dcterms:created>
  <dcterms:modified xsi:type="dcterms:W3CDTF">2023-12-11T10:28:12Z</dcterms:modified>
</cp:coreProperties>
</file>