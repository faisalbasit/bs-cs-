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7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400" dirty="0" smtClean="0">
                <a:latin typeface="+mj-lt"/>
                <a:ea typeface="+mj-ea"/>
                <a:cs typeface="+mj-cs"/>
              </a:rPr>
              <a:t>Week 13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36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/>
              <a:t>INCIDENT </a:t>
            </a:r>
            <a:r>
              <a:rPr lang="en-GB" sz="2800" dirty="0" smtClean="0"/>
              <a:t>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 smtClean="0"/>
              <a:t>An </a:t>
            </a:r>
            <a:r>
              <a:rPr lang="en-GB" sz="1800" dirty="0"/>
              <a:t>incident is any unplanned event occurring that requires further investigation.</a:t>
            </a:r>
          </a:p>
          <a:p>
            <a:r>
              <a:rPr lang="en-GB" sz="1800" dirty="0"/>
              <a:t>In testing this translates into anything where the actual result </a:t>
            </a:r>
            <a:r>
              <a:rPr lang="en-GB" sz="1800" dirty="0" smtClean="0"/>
              <a:t>is different </a:t>
            </a:r>
            <a:r>
              <a:rPr lang="en-GB" sz="1800" dirty="0"/>
              <a:t>to the expected result. </a:t>
            </a:r>
            <a:endParaRPr lang="en-GB" sz="1800" dirty="0" smtClean="0"/>
          </a:p>
          <a:p>
            <a:r>
              <a:rPr lang="en-GB" sz="1800" dirty="0" smtClean="0"/>
              <a:t>An </a:t>
            </a:r>
            <a:r>
              <a:rPr lang="en-GB" sz="1800" dirty="0"/>
              <a:t>incident when investigated may be </a:t>
            </a:r>
            <a:r>
              <a:rPr lang="en-GB" sz="1800" dirty="0" smtClean="0"/>
              <a:t>a defect</a:t>
            </a:r>
            <a:r>
              <a:rPr lang="en-GB" sz="1800" dirty="0"/>
              <a:t>, however, it may also be a change to a specification or an issue with </a:t>
            </a:r>
            <a:r>
              <a:rPr lang="en-GB" sz="1800" dirty="0" smtClean="0"/>
              <a:t>the test </a:t>
            </a:r>
            <a:r>
              <a:rPr lang="en-GB" sz="1800" dirty="0"/>
              <a:t>being run. </a:t>
            </a:r>
            <a:endParaRPr lang="en-GB" sz="1800" dirty="0" smtClean="0"/>
          </a:p>
          <a:p>
            <a:r>
              <a:rPr lang="en-GB" sz="1800" dirty="0" smtClean="0"/>
              <a:t>It </a:t>
            </a:r>
            <a:r>
              <a:rPr lang="en-GB" sz="1800" dirty="0"/>
              <a:t>is important that a process exists to track all </a:t>
            </a:r>
            <a:r>
              <a:rPr lang="en-GB" sz="1800" dirty="0" smtClean="0"/>
              <a:t>incidents through </a:t>
            </a:r>
            <a:r>
              <a:rPr lang="en-GB" sz="1800" dirty="0"/>
              <a:t>to closure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Incidents can be raised at any time throughout the software development </a:t>
            </a:r>
            <a:r>
              <a:rPr lang="en-GB" sz="1800" dirty="0" smtClean="0"/>
              <a:t>life cycle</a:t>
            </a:r>
            <a:r>
              <a:rPr lang="en-GB" sz="1800" dirty="0"/>
              <a:t>, from reviews of the test basis (requirements, specifications, etc.) to </a:t>
            </a:r>
            <a:r>
              <a:rPr lang="en-GB" sz="1800" dirty="0" smtClean="0"/>
              <a:t>test specification </a:t>
            </a:r>
            <a:r>
              <a:rPr lang="en-GB" sz="1800" dirty="0"/>
              <a:t>and test execution.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6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INCIDENT 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Incident management, according to IEEE 1044 (Standard Classification </a:t>
            </a:r>
            <a:r>
              <a:rPr lang="en-GB" sz="1800" dirty="0" smtClean="0"/>
              <a:t>for Software </a:t>
            </a:r>
            <a:r>
              <a:rPr lang="en-GB" sz="1800" dirty="0"/>
              <a:t>Anomalies), </a:t>
            </a:r>
            <a:r>
              <a:rPr lang="en-GB" sz="1800" dirty="0" smtClean="0"/>
              <a:t>is:</a:t>
            </a:r>
          </a:p>
          <a:p>
            <a:pPr lvl="1"/>
            <a:r>
              <a:rPr lang="en-GB" sz="1800" dirty="0" smtClean="0"/>
              <a:t>‘</a:t>
            </a:r>
            <a:r>
              <a:rPr lang="en-GB" sz="1800" dirty="0"/>
              <a:t>The process of recognising, investigating, taking </a:t>
            </a:r>
            <a:r>
              <a:rPr lang="en-GB" sz="1800" dirty="0" smtClean="0"/>
              <a:t>action and </a:t>
            </a:r>
            <a:r>
              <a:rPr lang="en-GB" sz="1800" dirty="0"/>
              <a:t>disposing of incidents</a:t>
            </a:r>
            <a:r>
              <a:rPr lang="en-GB" sz="1800" dirty="0" smtClean="0"/>
              <a:t>.’</a:t>
            </a:r>
          </a:p>
          <a:p>
            <a:r>
              <a:rPr lang="en-GB" sz="1800" dirty="0" smtClean="0"/>
              <a:t> </a:t>
            </a:r>
            <a:r>
              <a:rPr lang="en-GB" sz="1800" dirty="0"/>
              <a:t>It involves recording incidents, classifying </a:t>
            </a:r>
            <a:r>
              <a:rPr lang="en-GB" sz="1800" dirty="0" smtClean="0"/>
              <a:t>them and </a:t>
            </a:r>
            <a:r>
              <a:rPr lang="en-GB" sz="1800" dirty="0"/>
              <a:t>identifying the impact. </a:t>
            </a:r>
            <a:endParaRPr lang="en-GB" sz="1800" dirty="0" smtClean="0"/>
          </a:p>
          <a:p>
            <a:r>
              <a:rPr lang="en-GB" sz="1800" dirty="0" smtClean="0"/>
              <a:t>The </a:t>
            </a:r>
            <a:r>
              <a:rPr lang="en-GB" sz="1800" dirty="0"/>
              <a:t>process of incident management ensures </a:t>
            </a:r>
            <a:r>
              <a:rPr lang="en-GB" sz="1800" dirty="0" smtClean="0"/>
              <a:t>that incidents </a:t>
            </a:r>
            <a:r>
              <a:rPr lang="en-GB" sz="1800" dirty="0"/>
              <a:t>are tracked from recognition to correction, and finally through </a:t>
            </a:r>
            <a:r>
              <a:rPr lang="en-GB" sz="1800" dirty="0" smtClean="0"/>
              <a:t>retest and </a:t>
            </a:r>
            <a:r>
              <a:rPr lang="en-GB" sz="1800" dirty="0"/>
              <a:t>closure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It </a:t>
            </a:r>
            <a:r>
              <a:rPr lang="en-GB" sz="1800" dirty="0"/>
              <a:t>is important that organisations document their incident </a:t>
            </a:r>
            <a:r>
              <a:rPr lang="en-GB" sz="1800" dirty="0" smtClean="0"/>
              <a:t>management process </a:t>
            </a:r>
            <a:r>
              <a:rPr lang="en-GB" sz="1800" dirty="0"/>
              <a:t>and ensure they have appointed someone (often called an </a:t>
            </a:r>
            <a:r>
              <a:rPr lang="en-GB" sz="1800" dirty="0" smtClean="0"/>
              <a:t>incident manager/coordinator</a:t>
            </a:r>
            <a:r>
              <a:rPr lang="en-GB" sz="1800" dirty="0"/>
              <a:t>) to manage/police the process.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INCIDENT 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Incidents are raised on incident reports, either electronically via an incident </a:t>
            </a:r>
            <a:r>
              <a:rPr lang="en-GB" sz="1800" dirty="0" smtClean="0"/>
              <a:t>management system </a:t>
            </a:r>
            <a:r>
              <a:rPr lang="en-GB" sz="1800" dirty="0"/>
              <a:t>(from Microsoft Excel to sophisticated incident </a:t>
            </a:r>
            <a:r>
              <a:rPr lang="en-GB" sz="1800" dirty="0" smtClean="0"/>
              <a:t>management tools</a:t>
            </a:r>
            <a:r>
              <a:rPr lang="en-GB" sz="1800" dirty="0"/>
              <a:t>) or on paper. </a:t>
            </a:r>
            <a:endParaRPr lang="en-GB" sz="1800" dirty="0" smtClean="0"/>
          </a:p>
          <a:p>
            <a:r>
              <a:rPr lang="en-GB" sz="1800" dirty="0" smtClean="0"/>
              <a:t>Incident </a:t>
            </a:r>
            <a:r>
              <a:rPr lang="en-GB" sz="1800" dirty="0"/>
              <a:t>reports have the following objectives:</a:t>
            </a:r>
          </a:p>
          <a:p>
            <a:pPr lvl="1"/>
            <a:r>
              <a:rPr lang="en-GB" sz="1600" dirty="0"/>
              <a:t>To provide developers and other parties with feedback on the problem </a:t>
            </a:r>
            <a:r>
              <a:rPr lang="en-GB" sz="1600" dirty="0" smtClean="0"/>
              <a:t>to enable </a:t>
            </a:r>
            <a:r>
              <a:rPr lang="en-GB" sz="1600" dirty="0"/>
              <a:t>identification, isolation and correction as necessary</a:t>
            </a:r>
            <a:r>
              <a:rPr lang="en-GB" sz="1600" dirty="0" smtClean="0"/>
              <a:t>.</a:t>
            </a:r>
          </a:p>
          <a:p>
            <a:pPr lvl="1"/>
            <a:r>
              <a:rPr lang="en-GB" sz="1600" dirty="0" smtClean="0"/>
              <a:t>It </a:t>
            </a:r>
            <a:r>
              <a:rPr lang="en-GB" sz="1600" dirty="0"/>
              <a:t>must </a:t>
            </a:r>
            <a:r>
              <a:rPr lang="en-GB" sz="1600" dirty="0" smtClean="0"/>
              <a:t>be remembered </a:t>
            </a:r>
            <a:r>
              <a:rPr lang="en-GB" sz="1600" dirty="0"/>
              <a:t>that most developers and other parties who will correct </a:t>
            </a:r>
            <a:r>
              <a:rPr lang="en-GB" sz="1600" dirty="0" smtClean="0"/>
              <a:t>the defect </a:t>
            </a:r>
            <a:r>
              <a:rPr lang="en-GB" sz="1600" dirty="0"/>
              <a:t>or clear up any confusion will not be present at the point of </a:t>
            </a:r>
            <a:r>
              <a:rPr lang="en-GB" sz="1600" dirty="0" smtClean="0"/>
              <a:t>identification, so </a:t>
            </a:r>
            <a:r>
              <a:rPr lang="en-GB" sz="1600" dirty="0"/>
              <a:t>without full and concise information they will be unable to </a:t>
            </a:r>
            <a:r>
              <a:rPr lang="en-GB" sz="1600" dirty="0" smtClean="0"/>
              <a:t>understand the </a:t>
            </a:r>
            <a:r>
              <a:rPr lang="en-GB" sz="1600" dirty="0"/>
              <a:t>problem, and possibly therefore unable to understand how to </a:t>
            </a:r>
            <a:r>
              <a:rPr lang="en-GB" sz="1600" dirty="0" smtClean="0"/>
              <a:t>go about </a:t>
            </a:r>
            <a:r>
              <a:rPr lang="en-GB" sz="1600" dirty="0"/>
              <a:t>fixing it. </a:t>
            </a:r>
            <a:endParaRPr lang="en-GB" sz="1600" dirty="0" smtClean="0"/>
          </a:p>
          <a:p>
            <a:pPr lvl="1"/>
            <a:r>
              <a:rPr lang="en-GB" sz="1600" dirty="0" smtClean="0"/>
              <a:t>The </a:t>
            </a:r>
            <a:r>
              <a:rPr lang="en-GB" sz="1600" dirty="0"/>
              <a:t>more information provided, the better.</a:t>
            </a:r>
          </a:p>
          <a:p>
            <a:pPr lvl="1"/>
            <a:r>
              <a:rPr lang="en-GB" sz="1600" dirty="0"/>
              <a:t>To provide test leaders with a means of tracking the quality of the </a:t>
            </a:r>
            <a:r>
              <a:rPr lang="en-GB" sz="1600" dirty="0" smtClean="0"/>
              <a:t>system under </a:t>
            </a:r>
            <a:r>
              <a:rPr lang="en-GB" sz="1600" dirty="0"/>
              <a:t>test and the progress of the testing. One of the key metrics used </a:t>
            </a:r>
            <a:r>
              <a:rPr lang="en-GB" sz="1600" dirty="0" smtClean="0"/>
              <a:t>to measure </a:t>
            </a:r>
            <a:r>
              <a:rPr lang="en-GB" sz="1600" dirty="0"/>
              <a:t>progress is a view of how many incidents are raised, their </a:t>
            </a:r>
            <a:r>
              <a:rPr lang="en-GB" sz="1600" dirty="0" smtClean="0"/>
              <a:t>priority and </a:t>
            </a:r>
            <a:r>
              <a:rPr lang="en-GB" sz="1600" dirty="0"/>
              <a:t>finally that they have been corrected and signed off.</a:t>
            </a:r>
          </a:p>
          <a:p>
            <a:pPr lvl="1"/>
            <a:r>
              <a:rPr lang="en-GB" sz="1600" dirty="0"/>
              <a:t>To provide ideas for test process improvement. For each incident the point </a:t>
            </a:r>
            <a:r>
              <a:rPr lang="en-GB" sz="1600" dirty="0" smtClean="0"/>
              <a:t>of injection </a:t>
            </a:r>
            <a:r>
              <a:rPr lang="en-GB" sz="1600" dirty="0"/>
              <a:t>should be documented, e.g. a defect in requirements or code, </a:t>
            </a:r>
            <a:r>
              <a:rPr lang="en-GB" sz="1600" dirty="0" smtClean="0"/>
              <a:t>and subsequent </a:t>
            </a:r>
            <a:r>
              <a:rPr lang="en-GB" sz="1600" dirty="0"/>
              <a:t>process improvement can focus on that particular area to stop </a:t>
            </a:r>
            <a:r>
              <a:rPr lang="en-GB" sz="1600" dirty="0" smtClean="0"/>
              <a:t>the same </a:t>
            </a:r>
            <a:r>
              <a:rPr lang="en-GB" sz="1600" dirty="0"/>
              <a:t>defect occurring again.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4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INCIDENT 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The details that are normally included on an incident report are:</a:t>
            </a:r>
          </a:p>
          <a:p>
            <a:pPr lvl="1"/>
            <a:r>
              <a:rPr lang="en-GB" sz="1600" dirty="0"/>
              <a:t>Date of issue, issuing organisation, author, approvals and status.</a:t>
            </a:r>
          </a:p>
          <a:p>
            <a:pPr lvl="1"/>
            <a:r>
              <a:rPr lang="en-GB" sz="1600" dirty="0"/>
              <a:t>Scope, severity and priority of the incident.</a:t>
            </a:r>
          </a:p>
          <a:p>
            <a:pPr lvl="1"/>
            <a:r>
              <a:rPr lang="en-GB" sz="1600" dirty="0"/>
              <a:t>References, including the identity of the test case specification that </a:t>
            </a:r>
            <a:r>
              <a:rPr lang="en-GB" sz="1600" dirty="0" smtClean="0"/>
              <a:t>revealed the </a:t>
            </a:r>
            <a:r>
              <a:rPr lang="en-GB" sz="1600" dirty="0"/>
              <a:t>problem.</a:t>
            </a:r>
          </a:p>
          <a:p>
            <a:pPr lvl="1"/>
            <a:r>
              <a:rPr lang="en-GB" sz="1600" dirty="0"/>
              <a:t>Expected and actual results.</a:t>
            </a:r>
          </a:p>
          <a:p>
            <a:pPr lvl="1"/>
            <a:r>
              <a:rPr lang="en-GB" sz="1600" dirty="0"/>
              <a:t>Date the incident was discovered.</a:t>
            </a:r>
          </a:p>
          <a:p>
            <a:pPr lvl="1"/>
            <a:r>
              <a:rPr lang="en-GB" sz="1600" dirty="0"/>
              <a:t>Identification of the test item (configuration item) and environment.</a:t>
            </a:r>
          </a:p>
          <a:p>
            <a:pPr lvl="1"/>
            <a:r>
              <a:rPr lang="en-GB" sz="1600" dirty="0"/>
              <a:t>Software or system life-cycle process in which the incident was observed.</a:t>
            </a:r>
          </a:p>
          <a:p>
            <a:pPr lvl="1"/>
            <a:r>
              <a:rPr lang="en-GB" sz="1600" dirty="0"/>
              <a:t>Description of the incident to enable reproduction and resolution, </a:t>
            </a:r>
            <a:r>
              <a:rPr lang="en-GB" sz="1600" dirty="0" smtClean="0"/>
              <a:t>including logs</a:t>
            </a:r>
            <a:r>
              <a:rPr lang="en-GB" sz="1600" dirty="0"/>
              <a:t>, database dumps or screenshots</a:t>
            </a:r>
            <a:r>
              <a:rPr lang="en-GB" sz="1600" dirty="0" smtClean="0"/>
              <a:t>.</a:t>
            </a:r>
          </a:p>
          <a:p>
            <a:pPr lvl="1"/>
            <a:r>
              <a:rPr lang="en-GB" sz="1600" dirty="0"/>
              <a:t>Degree of impact on stakeholder(s) interests.</a:t>
            </a:r>
          </a:p>
          <a:p>
            <a:pPr lvl="1"/>
            <a:r>
              <a:rPr lang="en-GB" sz="1600" dirty="0"/>
              <a:t>Severity of the impact on the system.</a:t>
            </a:r>
          </a:p>
          <a:p>
            <a:pPr lvl="1"/>
            <a:r>
              <a:rPr lang="en-GB" sz="1600" dirty="0"/>
              <a:t>Urgency/priority to fix.</a:t>
            </a:r>
          </a:p>
          <a:p>
            <a:pPr lvl="1"/>
            <a:r>
              <a:rPr lang="en-GB" sz="1600" dirty="0"/>
              <a:t>Status of the incident (e.g. open, deferred, duplicate, waiting to be fixed, </a:t>
            </a:r>
            <a:r>
              <a:rPr lang="en-GB" sz="1600" dirty="0" smtClean="0"/>
              <a:t>fixed awaiting </a:t>
            </a:r>
            <a:r>
              <a:rPr lang="en-GB" sz="1600" dirty="0"/>
              <a:t>confirmation test or closed).</a:t>
            </a:r>
          </a:p>
          <a:p>
            <a:pPr lvl="1"/>
            <a:r>
              <a:rPr lang="en-GB" sz="1600" dirty="0"/>
              <a:t>Conclusions, recommendations and approvals.</a:t>
            </a:r>
          </a:p>
          <a:p>
            <a:pPr lvl="1"/>
            <a:r>
              <a:rPr lang="en-GB" sz="1600" dirty="0"/>
              <a:t>Global issues, such as other areas that may be affected by a change </a:t>
            </a:r>
            <a:r>
              <a:rPr lang="en-GB" sz="1600" dirty="0" smtClean="0"/>
              <a:t>resulting from </a:t>
            </a:r>
            <a:r>
              <a:rPr lang="en-GB" sz="1600" dirty="0"/>
              <a:t>the incident.</a:t>
            </a:r>
          </a:p>
          <a:p>
            <a:pPr lvl="1"/>
            <a:r>
              <a:rPr lang="en-GB" sz="1600" dirty="0"/>
              <a:t>Change history, such as the sequence of actions taken by project </a:t>
            </a:r>
            <a:r>
              <a:rPr lang="en-GB" sz="1600" dirty="0" smtClean="0"/>
              <a:t>team members </a:t>
            </a:r>
            <a:r>
              <a:rPr lang="en-GB" sz="1600" dirty="0"/>
              <a:t>with respect to the incident to isolate, repair and confirm it as fixed.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INCIDENT 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b="1" dirty="0"/>
              <a:t>Test incident report </a:t>
            </a:r>
            <a:r>
              <a:rPr lang="en-GB" sz="1800" b="1" dirty="0" smtClean="0"/>
              <a:t>outline …</a:t>
            </a:r>
            <a:endParaRPr lang="en-GB" sz="18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52587" y="1100137"/>
            <a:ext cx="58388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INCIDENT 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b="1" dirty="0" smtClean="0"/>
              <a:t>… Test </a:t>
            </a:r>
            <a:r>
              <a:rPr lang="en-GB" sz="1800" b="1" dirty="0"/>
              <a:t>incident report outline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85925" y="1971675"/>
            <a:ext cx="57721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9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US" sz="2800" dirty="0"/>
              <a:t>CONFIGURATION </a:t>
            </a:r>
            <a:r>
              <a:rPr lang="en-US" sz="2800" dirty="0" smtClean="0"/>
              <a:t>MANAGEMENT…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configuration management is in part about determining clearly what the items are that make up the software or system. </a:t>
            </a:r>
            <a:endParaRPr lang="en-GB" sz="1800" dirty="0" smtClean="0"/>
          </a:p>
          <a:p>
            <a:r>
              <a:rPr lang="en-GB" sz="1800" dirty="0" smtClean="0"/>
              <a:t>These </a:t>
            </a:r>
            <a:r>
              <a:rPr lang="en-GB" sz="1800" dirty="0"/>
              <a:t>items include source code, test scripts, third-party software, hardware, data and both development and test documentation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Configuration management is also about making sure that these items are managed carefully, thoroughly and attentively throughout the entire project and product life cycle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Configuration management has a number of important implications for testing. </a:t>
            </a:r>
            <a:endParaRPr lang="en-GB" sz="1800" dirty="0" smtClean="0"/>
          </a:p>
          <a:p>
            <a:r>
              <a:rPr lang="en-GB" sz="1800" dirty="0" smtClean="0"/>
              <a:t>For </a:t>
            </a:r>
            <a:r>
              <a:rPr lang="en-GB" sz="1800" dirty="0"/>
              <a:t>one thing, it allows the testers to manage their </a:t>
            </a:r>
            <a:r>
              <a:rPr lang="en-GB" sz="1800" dirty="0" err="1"/>
              <a:t>testware</a:t>
            </a:r>
            <a:r>
              <a:rPr lang="en-GB" sz="1800" dirty="0"/>
              <a:t> and test results using the same configuration management mechanisms, as if they were as valuable as the source code and documentation for the system itself - which of course they are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For another thing, configuration management supports the build process, which is essential for delivery of a test release into the test environment. </a:t>
            </a:r>
          </a:p>
          <a:p>
            <a:r>
              <a:rPr lang="en-GB" sz="1800" dirty="0"/>
              <a:t>Simply sending Zip archives by e-mail will not suffice, because there are too many opportunities for such archives to become polluted with undesirable contents or to </a:t>
            </a:r>
            <a:r>
              <a:rPr lang="en-GB" sz="1800" dirty="0" err="1"/>
              <a:t>harbor</a:t>
            </a:r>
            <a:r>
              <a:rPr lang="en-GB" sz="1800" dirty="0"/>
              <a:t> left-over previous versions of items.</a:t>
            </a:r>
          </a:p>
          <a:p>
            <a:r>
              <a:rPr lang="en-GB" sz="1800" dirty="0"/>
              <a:t>Especially in later phases of testing, it is critical to have a solid, reliable way of delivering test items that work and are the proper version.</a:t>
            </a:r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01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… CONFIGURATION MANAGEMENT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Last but not least, configuration management allows us to map what is being tested to the underlying files and components that make it up. </a:t>
            </a:r>
            <a:endParaRPr lang="en-GB" sz="1800" dirty="0" smtClean="0"/>
          </a:p>
          <a:p>
            <a:r>
              <a:rPr lang="en-GB" sz="1800" dirty="0" smtClean="0"/>
              <a:t>This </a:t>
            </a:r>
            <a:r>
              <a:rPr lang="en-GB" sz="1800" dirty="0"/>
              <a:t>is absolutely critical. For example, when we report defects, we need to report them against something, something which is version controlled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If </a:t>
            </a:r>
            <a:r>
              <a:rPr lang="en-GB" sz="1800" dirty="0"/>
              <a:t>it's not clear what we found the defect in, the programmers will have a very tough time of finding the defect in order to fix it. </a:t>
            </a:r>
            <a:endParaRPr lang="en-GB" sz="1800" dirty="0" smtClean="0"/>
          </a:p>
          <a:p>
            <a:r>
              <a:rPr lang="en-GB" sz="1800" dirty="0"/>
              <a:t>F</a:t>
            </a:r>
            <a:r>
              <a:rPr lang="en-GB" sz="1800" dirty="0" smtClean="0"/>
              <a:t>or </a:t>
            </a:r>
            <a:r>
              <a:rPr lang="en-GB" sz="1800" dirty="0"/>
              <a:t>the kind of test reports discussed earlier to have any meaning, we must be able to trace the test results back to what exactly we tested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Ideally, when testers receive an organized, version-controlled test release from a change-managed source code repository, it is accompanied by a test item trans-</a:t>
            </a:r>
            <a:r>
              <a:rPr lang="en-GB" sz="1800" dirty="0" err="1"/>
              <a:t>mittal</a:t>
            </a:r>
            <a:r>
              <a:rPr lang="en-GB" sz="1800" dirty="0"/>
              <a:t> report or release notes.</a:t>
            </a:r>
          </a:p>
          <a:p>
            <a:r>
              <a:rPr lang="en-GB" sz="1800" dirty="0"/>
              <a:t>[IEEE 829] provides a useful guideline for what goes into such a report. Release notes are not always so formal and do not always contain all the information shown.</a:t>
            </a:r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4614862"/>
            <a:ext cx="52101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8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… CONFIGURATION </a:t>
            </a:r>
            <a:r>
              <a:rPr lang="en-US" sz="2800" dirty="0"/>
              <a:t>MANAGEMENT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While our description was brief, configuration management is a topic that is as complex as test environment management. </a:t>
            </a:r>
            <a:endParaRPr lang="en-GB" sz="1800" dirty="0" smtClean="0"/>
          </a:p>
          <a:p>
            <a:r>
              <a:rPr lang="en-GB" sz="1800" dirty="0" smtClean="0"/>
              <a:t>So</a:t>
            </a:r>
            <a:r>
              <a:rPr lang="en-GB" sz="1800" dirty="0"/>
              <a:t>, advanced planning is critical to making this work. </a:t>
            </a:r>
            <a:endParaRPr lang="en-GB" sz="1800" dirty="0" smtClean="0"/>
          </a:p>
          <a:p>
            <a:r>
              <a:rPr lang="en-GB" sz="1800" dirty="0" smtClean="0"/>
              <a:t>During </a:t>
            </a:r>
            <a:r>
              <a:rPr lang="en-GB" sz="1800" dirty="0"/>
              <a:t>the project planning stage - and perhaps as part of your own test plan - make sure that configuration management procedures and tools are selected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As </a:t>
            </a:r>
            <a:r>
              <a:rPr lang="en-GB" sz="1800" dirty="0"/>
              <a:t>the project proceeds, the configuration process and mechanisms must be implemented, and the key interfaces to the rest of the development process should be documented. </a:t>
            </a:r>
            <a:endParaRPr lang="en-GB" sz="1800" dirty="0" smtClean="0"/>
          </a:p>
          <a:p>
            <a:r>
              <a:rPr lang="en-GB" sz="1800" dirty="0" smtClean="0"/>
              <a:t>Come </a:t>
            </a:r>
            <a:r>
              <a:rPr lang="en-GB" sz="1800" dirty="0"/>
              <a:t>test execution time, this will allow you and the rest of the project team to avoid nasty surprises like testing the wrong software, receiving </a:t>
            </a:r>
            <a:r>
              <a:rPr lang="en-GB" sz="1800" dirty="0" err="1"/>
              <a:t>uninstallable</a:t>
            </a:r>
            <a:r>
              <a:rPr lang="en-GB" sz="1800" dirty="0"/>
              <a:t> builds and reporting irreproducible defects against versions of code that don't exist anywhere but in the test environment.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2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</TotalTime>
  <Words>1200</Words>
  <Application>Microsoft Office PowerPoint</Application>
  <PresentationFormat>On-screen Show (4:3)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INCIDENT MANAGEMENT …</vt:lpstr>
      <vt:lpstr>… INCIDENT MANAGEMENT …</vt:lpstr>
      <vt:lpstr>… INCIDENT MANAGEMENT …</vt:lpstr>
      <vt:lpstr>… INCIDENT MANAGEMENT …</vt:lpstr>
      <vt:lpstr>… INCIDENT MANAGEMENT …</vt:lpstr>
      <vt:lpstr>… INCIDENT MANAGEMENT …</vt:lpstr>
      <vt:lpstr>CONFIGURATION MANAGEMENT…</vt:lpstr>
      <vt:lpstr>… CONFIGURATION MANAGEMENT …</vt:lpstr>
      <vt:lpstr>… CONFIGURATION MANAGEMENT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250</cp:revision>
  <dcterms:created xsi:type="dcterms:W3CDTF">2014-08-12T16:29:38Z</dcterms:created>
  <dcterms:modified xsi:type="dcterms:W3CDTF">2023-12-11T10:44:13Z</dcterms:modified>
</cp:coreProperties>
</file>