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5" r:id="rId2"/>
    <p:sldId id="262" r:id="rId3"/>
    <p:sldId id="263" r:id="rId4"/>
    <p:sldId id="264"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20</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21</a:t>
            </a:fld>
            <a:endParaRPr lang="en-US"/>
          </a:p>
        </p:txBody>
      </p:sp>
    </p:spTree>
    <p:extLst>
      <p:ext uri="{BB962C8B-B14F-4D97-AF65-F5344CB8AC3E}">
        <p14:creationId xmlns:p14="http://schemas.microsoft.com/office/powerpoint/2010/main" val="3273697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22</a:t>
            </a:fld>
            <a:endParaRPr lang="en-US"/>
          </a:p>
        </p:txBody>
      </p:sp>
    </p:spTree>
    <p:extLst>
      <p:ext uri="{BB962C8B-B14F-4D97-AF65-F5344CB8AC3E}">
        <p14:creationId xmlns:p14="http://schemas.microsoft.com/office/powerpoint/2010/main" val="4109080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23</a:t>
            </a:fld>
            <a:endParaRPr lang="en-US"/>
          </a:p>
        </p:txBody>
      </p:sp>
    </p:spTree>
    <p:extLst>
      <p:ext uri="{BB962C8B-B14F-4D97-AF65-F5344CB8AC3E}">
        <p14:creationId xmlns:p14="http://schemas.microsoft.com/office/powerpoint/2010/main" val="367021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7" name="TextBox 6">
            <a:extLst>
              <a:ext uri="{FF2B5EF4-FFF2-40B4-BE49-F238E27FC236}">
                <a16:creationId xmlns:a16="http://schemas.microsoft.com/office/drawing/2014/main" xmlns=""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10" name="Title 1">
            <a:extLst>
              <a:ext uri="{FF2B5EF4-FFF2-40B4-BE49-F238E27FC236}">
                <a16:creationId xmlns:a16="http://schemas.microsoft.com/office/drawing/2014/main" xmlns=""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1" name="Subtitle 2">
            <a:extLst>
              <a:ext uri="{FF2B5EF4-FFF2-40B4-BE49-F238E27FC236}">
                <a16:creationId xmlns:a16="http://schemas.microsoft.com/office/drawing/2014/main" xmlns=""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4</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 &amp; Session 2</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276" y="49155"/>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Software Process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concept of a process plays an important role in today’s software development.</a:t>
            </a:r>
          </a:p>
          <a:p>
            <a:r>
              <a:rPr lang="en-GB" sz="1800" dirty="0"/>
              <a:t>Without a repeatable process, the only repeatable results you are likely to produce are errors.</a:t>
            </a:r>
          </a:p>
          <a:p>
            <a:r>
              <a:rPr lang="en-GB" sz="1800" dirty="0"/>
              <a:t>In the software engineering context, a process comprises a set of activities that are executed to develop software products.</a:t>
            </a:r>
          </a:p>
          <a:p>
            <a:r>
              <a:rPr lang="en-GB" sz="1800" dirty="0"/>
              <a:t>The activities ﬁnd expressions in the form of methods, techniques, strategies, procedures, and practices. </a:t>
            </a:r>
          </a:p>
          <a:p>
            <a:r>
              <a:rPr lang="en-GB" sz="1800" dirty="0"/>
              <a:t>Those activities heavily rely on information repositories such as documents, standards, and policies.</a:t>
            </a:r>
          </a:p>
          <a:p>
            <a:r>
              <a:rPr lang="en-GB" sz="1800" dirty="0"/>
              <a:t>Different processes are driven by different goals and availability of resources.</a:t>
            </a:r>
          </a:p>
          <a:p>
            <a:r>
              <a:rPr lang="en-GB" sz="1800" dirty="0"/>
              <a:t>The concept of a process is applied not just to develop source code, but to other software-related products, such as a project plan, requirements document, design document, and user manual, as well.</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 Software Process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It is effective to follow a deﬁned process because of the following beneﬁts:</a:t>
            </a:r>
          </a:p>
          <a:p>
            <a:pPr lvl="1"/>
            <a:r>
              <a:rPr lang="en-GB" sz="1800" dirty="0" smtClean="0"/>
              <a:t>The </a:t>
            </a:r>
            <a:r>
              <a:rPr lang="en-GB" sz="1800" dirty="0"/>
              <a:t>process can be repeated in subsequent projects.</a:t>
            </a:r>
          </a:p>
          <a:p>
            <a:pPr lvl="1"/>
            <a:r>
              <a:rPr lang="en-GB" sz="1800" dirty="0" smtClean="0"/>
              <a:t>The </a:t>
            </a:r>
            <a:r>
              <a:rPr lang="en-GB" sz="1800" dirty="0"/>
              <a:t>process can be evaluated by using a variety of metrics, such as cost, quality, and time to deliver a product.</a:t>
            </a:r>
          </a:p>
          <a:p>
            <a:pPr lvl="1"/>
            <a:r>
              <a:rPr lang="en-GB" sz="1800" dirty="0" smtClean="0"/>
              <a:t>Actions </a:t>
            </a:r>
            <a:r>
              <a:rPr lang="en-GB" sz="1800" dirty="0"/>
              <a:t>can be taken to improve the process to achieve better results. </a:t>
            </a:r>
            <a:endParaRPr lang="en-GB" sz="1800" dirty="0" smtClean="0"/>
          </a:p>
          <a:p>
            <a:r>
              <a:rPr lang="en-GB" sz="1800" dirty="0"/>
              <a:t>A process for software development consists of several different processes for its different component tasks.</a:t>
            </a:r>
          </a:p>
          <a:p>
            <a:r>
              <a:rPr lang="en-GB" sz="1800" dirty="0"/>
              <a:t>For example, gathering the requirements of a system, constructing a functional speciﬁcation of a system, designing a system, testing a </a:t>
            </a:r>
            <a:r>
              <a:rPr lang="en-GB" sz="1800" dirty="0" smtClean="0"/>
              <a:t>system , and </a:t>
            </a:r>
            <a:r>
              <a:rPr lang="en-GB" sz="1800" dirty="0"/>
              <a:t>maintaining a </a:t>
            </a:r>
            <a:r>
              <a:rPr lang="en-GB" sz="1800" dirty="0" smtClean="0"/>
              <a:t>system are </a:t>
            </a:r>
            <a:r>
              <a:rPr lang="en-GB" sz="1800" dirty="0"/>
              <a:t>different tasks to be performed in the life cycle of a software system.</a:t>
            </a:r>
          </a:p>
          <a:p>
            <a:r>
              <a:rPr lang="en-GB" sz="1800" dirty="0"/>
              <a:t>Those different tasks, which are quite different from each other, need different processes to be followed.</a:t>
            </a:r>
          </a:p>
          <a:p>
            <a:r>
              <a:rPr lang="en-GB" sz="1800" dirty="0"/>
              <a:t>A requirements gathering process is fundamentally different from a testing process.</a:t>
            </a:r>
          </a:p>
          <a:p>
            <a:r>
              <a:rPr lang="en-GB" sz="1800" dirty="0"/>
              <a:t>Similarly, a design process is very different from a testing process. </a:t>
            </a:r>
          </a:p>
          <a:p>
            <a:r>
              <a:rPr lang="en-GB" sz="1800" dirty="0"/>
              <a:t>However, some similarities between a maintenance process and a testing process cannot be ruled out because a maintenance task may involve signiﬁcant changes to the design of the system as well as rigorous testing. </a:t>
            </a:r>
          </a:p>
          <a:p>
            <a:endParaRPr lang="en-GB" sz="22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1480857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Process Improvement</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To be able to improve a deﬁned process, organizations need to evaluate its capabilities and limitations. </a:t>
            </a:r>
          </a:p>
          <a:p>
            <a:r>
              <a:rPr lang="en-GB" sz="1800" dirty="0"/>
              <a:t>For example, the capability maturity model (CMM), developed by the Software Engineering Institute (SEI) at Carnegie Mellon University, allows an organization to evaluate its software development processes.</a:t>
            </a:r>
          </a:p>
          <a:p>
            <a:r>
              <a:rPr lang="en-GB" sz="1800" dirty="0"/>
              <a:t>The model supports incremental process improvement.</a:t>
            </a:r>
          </a:p>
          <a:p>
            <a:r>
              <a:rPr lang="en-GB" sz="1800" dirty="0"/>
              <a:t>For an organization, it is more practical to develop a continuously improving process than ﬁnd one which is “just right.”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31481169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400" dirty="0" smtClean="0"/>
              <a:t>Difference between Models and Standards</a:t>
            </a:r>
            <a:endParaRPr lang="en-US" sz="2400" dirty="0"/>
          </a:p>
        </p:txBody>
      </p:sp>
      <p:sp>
        <p:nvSpPr>
          <p:cNvPr id="7" name="Content Placeholder 2"/>
          <p:cNvSpPr>
            <a:spLocks noGrp="1"/>
          </p:cNvSpPr>
          <p:nvPr>
            <p:ph idx="1"/>
          </p:nvPr>
        </p:nvSpPr>
        <p:spPr>
          <a:xfrm>
            <a:off x="609600" y="457200"/>
            <a:ext cx="8229600" cy="6400800"/>
          </a:xfrm>
        </p:spPr>
        <p:txBody>
          <a:bodyPr>
            <a:noAutofit/>
          </a:bodyPr>
          <a:lstStyle/>
          <a:p>
            <a:r>
              <a:rPr lang="en-GB" sz="1800" dirty="0" smtClean="0"/>
              <a:t>It is common experience that standard and model/ are words used interchangeably. Though both indicate similar things and both believe in organizational improvement, there is a small difference between two.</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pic>
        <p:nvPicPr>
          <p:cNvPr id="3" name="Picture 2"/>
          <p:cNvPicPr>
            <a:picLocks noChangeAspect="1"/>
          </p:cNvPicPr>
          <p:nvPr/>
        </p:nvPicPr>
        <p:blipFill>
          <a:blip r:embed="rId2" cstate="print"/>
          <a:stretch>
            <a:fillRect/>
          </a:stretch>
        </p:blipFill>
        <p:spPr>
          <a:xfrm>
            <a:off x="1142999" y="1284766"/>
            <a:ext cx="6858002" cy="5497034"/>
          </a:xfrm>
          <a:prstGeom prst="rect">
            <a:avLst/>
          </a:prstGeom>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400" dirty="0" smtClean="0"/>
              <a:t>Difference between Standards and Guidelines</a:t>
            </a:r>
            <a:endParaRPr lang="en-US" sz="2400" dirty="0"/>
          </a:p>
        </p:txBody>
      </p:sp>
      <p:sp>
        <p:nvSpPr>
          <p:cNvPr id="7" name="Content Placeholder 2"/>
          <p:cNvSpPr>
            <a:spLocks noGrp="1"/>
          </p:cNvSpPr>
          <p:nvPr>
            <p:ph idx="1"/>
          </p:nvPr>
        </p:nvSpPr>
        <p:spPr>
          <a:xfrm>
            <a:off x="609600" y="457200"/>
            <a:ext cx="8229600" cy="6400800"/>
          </a:xfrm>
        </p:spPr>
        <p:txBody>
          <a:bodyPr>
            <a:noAutofit/>
          </a:bodyPr>
          <a:lstStyle/>
          <a:p>
            <a:r>
              <a:rPr lang="en-GB" sz="1800" dirty="0"/>
              <a:t>Standards may be defined as something mandatory. If the standard is not followed. It can result into some actions. On the other hand, guidelines are suggested ways of doing the things. Guidelines are not mandatory as these are suggestions or better ways of doing the things. </a:t>
            </a:r>
            <a:endParaRPr lang="en-GB" sz="1800" dirty="0" smtClean="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800100" y="1685925"/>
            <a:ext cx="7962900" cy="4638675"/>
          </a:xfrm>
          <a:prstGeom prst="rect">
            <a:avLst/>
          </a:prstGeom>
          <a:noFill/>
          <a:ln w="9525">
            <a:noFill/>
            <a:miter lim="800000"/>
            <a:headEnd/>
            <a:tailEnd/>
          </a:ln>
        </p:spPr>
      </p:pic>
    </p:spTree>
    <p:extLst>
      <p:ext uri="{BB962C8B-B14F-4D97-AF65-F5344CB8AC3E}">
        <p14:creationId xmlns:p14="http://schemas.microsoft.com/office/powerpoint/2010/main" val="32303865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CMM is a framework for evaluating and improving the present capability of a software development company.</a:t>
            </a:r>
          </a:p>
          <a:p>
            <a:r>
              <a:rPr lang="en-GB" sz="1800" dirty="0"/>
              <a:t>As the name suggests, the CMM can be used to assess to what extent the capability of an organization to develop software systems has matured</a:t>
            </a:r>
            <a:r>
              <a:rPr lang="en-GB" sz="1800" dirty="0" smtClean="0"/>
              <a:t>.</a:t>
            </a:r>
          </a:p>
          <a:p>
            <a:r>
              <a:rPr lang="en-GB" sz="1800" b="1" dirty="0"/>
              <a:t>The maturity level of a development process tells us to what extent the organization is capable of producing low-cost, high-quality software.</a:t>
            </a:r>
          </a:p>
          <a:p>
            <a:r>
              <a:rPr lang="en-GB" sz="1800" dirty="0"/>
              <a:t>Therefore, the evaluation framework is the CMM.</a:t>
            </a:r>
          </a:p>
          <a:p>
            <a:r>
              <a:rPr lang="en-GB" sz="1800" dirty="0"/>
              <a:t>After evaluating the current maturity level of a development process, organizations can work on improving the process to achieve the next higher level of process maturity</a:t>
            </a:r>
            <a:r>
              <a:rPr lang="en-GB" sz="1800" dirty="0" smtClean="0"/>
              <a:t>.</a:t>
            </a:r>
            <a:endParaRPr lang="en-GB" sz="1800" dirty="0"/>
          </a:p>
          <a:p>
            <a:r>
              <a:rPr lang="en-GB" sz="1800" dirty="0" smtClean="0"/>
              <a:t>The </a:t>
            </a:r>
            <a:r>
              <a:rPr lang="en-GB" sz="1800" dirty="0"/>
              <a:t>model allows one to evaluate an organization by examining its current practices.</a:t>
            </a:r>
          </a:p>
          <a:p>
            <a:r>
              <a:rPr lang="en-GB" sz="1800" dirty="0"/>
              <a:t>Basically, the CMM is a process improvement approach.</a:t>
            </a:r>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A</a:t>
            </a:r>
            <a:r>
              <a:rPr lang="en-GB" sz="1800" b="1" dirty="0" smtClean="0"/>
              <a:t>n </a:t>
            </a:r>
            <a:r>
              <a:rPr lang="en-GB" sz="1800" b="1" dirty="0"/>
              <a:t>immature organization</a:t>
            </a:r>
            <a:r>
              <a:rPr lang="en-GB" sz="1800" dirty="0"/>
              <a:t> may not have a deﬁned process, and, even if there is one, the organization may not follow it.</a:t>
            </a:r>
          </a:p>
          <a:p>
            <a:r>
              <a:rPr lang="en-GB" sz="1800" dirty="0"/>
              <a:t>Developers and managers react to problems when they occur, rather than take preventive measures to eliminate them or reduce the frequency of their occurrences.</a:t>
            </a:r>
          </a:p>
          <a:p>
            <a:r>
              <a:rPr lang="en-GB" sz="1800" dirty="0"/>
              <a:t>In other words, product and process problems are resolved in an ad hoc manner.</a:t>
            </a:r>
          </a:p>
          <a:p>
            <a:r>
              <a:rPr lang="en-GB" sz="1800" dirty="0"/>
              <a:t>Estimates of cost, schedule, and quality are highly inaccurate due to the absence of a measurement program to gather process data.</a:t>
            </a:r>
          </a:p>
          <a:p>
            <a:r>
              <a:rPr lang="en-GB" sz="1800" b="1" dirty="0"/>
              <a:t>Hence, projects overrun cost and time estimates by a large factor. There is no measurement program to evaluate product or process quality.</a:t>
            </a:r>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29268158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smtClean="0"/>
              <a:t>A </a:t>
            </a:r>
            <a:r>
              <a:rPr lang="en-GB" sz="1800" b="1" dirty="0"/>
              <a:t>mature organization </a:t>
            </a:r>
            <a:r>
              <a:rPr lang="en-GB" sz="1800" dirty="0"/>
              <a:t>carries out its activities in a planned manner.</a:t>
            </a:r>
          </a:p>
          <a:p>
            <a:r>
              <a:rPr lang="en-GB" sz="1800" dirty="0"/>
              <a:t>Both process and product characteristics are measured to keep track of progress and quality of products.</a:t>
            </a:r>
          </a:p>
          <a:p>
            <a:r>
              <a:rPr lang="en-GB" sz="1800" dirty="0"/>
              <a:t>Estimates are more accurate due to following a rigorous measurement program. Employees are kept abreast of new developments through training.</a:t>
            </a:r>
          </a:p>
          <a:p>
            <a:r>
              <a:rPr lang="en-GB" sz="1800" dirty="0"/>
              <a:t>Continual effort is made to improve the quality of products while bringing down costs and lead times.</a:t>
            </a:r>
          </a:p>
          <a:p>
            <a:r>
              <a:rPr lang="en-GB" sz="1800" dirty="0"/>
              <a:t>Deﬁned processes are continually updated to take advantage of new techniques, tools, and experience from past projects.</a:t>
            </a:r>
          </a:p>
          <a:p>
            <a:r>
              <a:rPr lang="en-GB" sz="1800" dirty="0"/>
              <a:t>As an organization becomes more and more mature, standards and organizational policies play key roles in product development.</a:t>
            </a:r>
          </a:p>
          <a:p>
            <a:r>
              <a:rPr lang="en-GB" sz="1800" dirty="0"/>
              <a:t>Organizations become mature in an incremental manner; that is, processes are improved in an evolutionary approach, rather than effecting drastic changes.</a:t>
            </a:r>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42053078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model allows one to give a rating to an organization on a scale of 1–5, where 5 represents the highest maturity level</a:t>
            </a:r>
            <a:r>
              <a:rPr lang="en-GB" sz="1800" dirty="0" smtClean="0"/>
              <a:t>.</a:t>
            </a:r>
          </a:p>
          <a:p>
            <a:r>
              <a:rPr lang="en-GB" sz="1800" dirty="0" smtClean="0"/>
              <a:t>In </a:t>
            </a:r>
            <a:r>
              <a:rPr lang="en-GB" sz="1800" dirty="0"/>
              <a:t>order to move to the next level of maturity, organizations need to adopt new practices relevant to the next maturity level</a:t>
            </a:r>
            <a:r>
              <a:rPr lang="en-GB" sz="1800" dirty="0" smtClean="0"/>
              <a:t>.</a:t>
            </a:r>
          </a:p>
          <a:p>
            <a:pPr lvl="1"/>
            <a:r>
              <a:rPr lang="en-GB" sz="1800" dirty="0"/>
              <a:t>Level 1 is the initial </a:t>
            </a:r>
            <a:r>
              <a:rPr lang="en-GB" sz="1800" dirty="0" smtClean="0"/>
              <a:t>level,</a:t>
            </a:r>
          </a:p>
          <a:p>
            <a:pPr lvl="1"/>
            <a:r>
              <a:rPr lang="en-GB" sz="1800" dirty="0" smtClean="0"/>
              <a:t>level </a:t>
            </a:r>
            <a:r>
              <a:rPr lang="en-GB" sz="1800" dirty="0"/>
              <a:t>2 is known as repeatable, </a:t>
            </a:r>
            <a:endParaRPr lang="en-GB" sz="1800" dirty="0" smtClean="0"/>
          </a:p>
          <a:p>
            <a:pPr lvl="1"/>
            <a:r>
              <a:rPr lang="en-GB" sz="1800" dirty="0" smtClean="0"/>
              <a:t>level </a:t>
            </a:r>
            <a:r>
              <a:rPr lang="en-GB" sz="1800" dirty="0"/>
              <a:t>3 is the deﬁned level</a:t>
            </a:r>
            <a:r>
              <a:rPr lang="en-GB" sz="1800" dirty="0" smtClean="0"/>
              <a:t>,</a:t>
            </a:r>
          </a:p>
          <a:p>
            <a:pPr lvl="1"/>
            <a:r>
              <a:rPr lang="en-GB" sz="1800" dirty="0" smtClean="0"/>
              <a:t>level </a:t>
            </a:r>
            <a:r>
              <a:rPr lang="en-GB" sz="1800" dirty="0"/>
              <a:t>4 is managed, </a:t>
            </a:r>
            <a:endParaRPr lang="en-GB" sz="1800" dirty="0" smtClean="0"/>
          </a:p>
          <a:p>
            <a:pPr lvl="1"/>
            <a:r>
              <a:rPr lang="en-GB" sz="1800" dirty="0" smtClean="0"/>
              <a:t>and </a:t>
            </a:r>
            <a:r>
              <a:rPr lang="en-GB" sz="1800" dirty="0"/>
              <a:t>level 5 is the optimizing level. </a:t>
            </a:r>
            <a:endParaRPr lang="en-GB" sz="1800" dirty="0" smtClean="0"/>
          </a:p>
          <a:p>
            <a:r>
              <a:rPr lang="en-GB" sz="1800" dirty="0" smtClean="0"/>
              <a:t>Each </a:t>
            </a:r>
            <a:r>
              <a:rPr lang="en-GB" sz="1800" dirty="0"/>
              <a:t>level is characterized by a set of key process areas.</a:t>
            </a:r>
          </a:p>
          <a:p>
            <a:r>
              <a:rPr lang="en-GB" sz="1800" dirty="0"/>
              <a:t>It is useful to recall that the CMM focuses on the entire development </a:t>
            </a:r>
            <a:r>
              <a:rPr lang="en-GB" sz="1800" dirty="0" smtClean="0"/>
              <a:t>process.</a:t>
            </a:r>
          </a:p>
          <a:p>
            <a:r>
              <a:rPr lang="en-GB" sz="1800" b="1" dirty="0"/>
              <a:t>As an organization moves from one level to the next, its process capability improves to produce better quality software at a lower cost. </a:t>
            </a:r>
          </a:p>
          <a:p>
            <a:r>
              <a:rPr lang="en-GB" sz="1800" b="1" dirty="0"/>
              <a:t>The CMM deﬁnes ﬁve distinct levels of maturity, where level 1 is the initial level and level 5 is the highest level of process maturity.</a:t>
            </a:r>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8830832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pic>
        <p:nvPicPr>
          <p:cNvPr id="4" name="Picture 3"/>
          <p:cNvPicPr>
            <a:picLocks noChangeAspect="1"/>
          </p:cNvPicPr>
          <p:nvPr/>
        </p:nvPicPr>
        <p:blipFill>
          <a:blip r:embed="rId2" cstate="print"/>
          <a:stretch>
            <a:fillRect/>
          </a:stretch>
        </p:blipFill>
        <p:spPr>
          <a:xfrm>
            <a:off x="609600" y="685800"/>
            <a:ext cx="7924800" cy="5684502"/>
          </a:xfrm>
          <a:prstGeom prst="rect">
            <a:avLst/>
          </a:prstGeom>
        </p:spPr>
      </p:pic>
    </p:spTree>
    <p:extLst>
      <p:ext uri="{BB962C8B-B14F-4D97-AF65-F5344CB8AC3E}">
        <p14:creationId xmlns:p14="http://schemas.microsoft.com/office/powerpoint/2010/main" val="16305692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smtClean="0"/>
              <a:t>Level </a:t>
            </a:r>
            <a:r>
              <a:rPr lang="en-GB" sz="2200" b="1" dirty="0"/>
              <a:t>1 is the initial </a:t>
            </a:r>
            <a:r>
              <a:rPr lang="en-GB" sz="2200" b="1" dirty="0" smtClean="0"/>
              <a:t>level:</a:t>
            </a:r>
          </a:p>
          <a:p>
            <a:pPr lvl="1"/>
            <a:r>
              <a:rPr lang="en-GB" sz="2000" dirty="0"/>
              <a:t>Software is developed by following no process model.</a:t>
            </a:r>
          </a:p>
          <a:p>
            <a:pPr lvl="1"/>
            <a:r>
              <a:rPr lang="en-GB" sz="2000" dirty="0"/>
              <a:t>There is not much planning involved.</a:t>
            </a:r>
          </a:p>
          <a:p>
            <a:pPr lvl="1"/>
            <a:r>
              <a:rPr lang="en-GB" sz="2000" dirty="0"/>
              <a:t>Even if a plan is prepared, it may not be followed.</a:t>
            </a:r>
          </a:p>
          <a:p>
            <a:pPr lvl="1"/>
            <a:r>
              <a:rPr lang="en-GB" sz="2000" dirty="0"/>
              <a:t>Individuals make decisions based on their own capabilities and skills.</a:t>
            </a:r>
          </a:p>
          <a:p>
            <a:pPr lvl="1"/>
            <a:r>
              <a:rPr lang="en-GB" sz="2000" dirty="0"/>
              <a:t>There is no KPA associated with level 1.</a:t>
            </a:r>
          </a:p>
          <a:p>
            <a:pPr lvl="1"/>
            <a:r>
              <a:rPr lang="en-GB" sz="2000" dirty="0"/>
              <a:t>An organization reaches level 1 without making any effort.</a:t>
            </a:r>
          </a:p>
          <a:p>
            <a:pPr lvl="1"/>
            <a:endParaRPr lang="en-GB" sz="2000" dirty="0" smtClean="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spTree>
    <p:extLst>
      <p:ext uri="{BB962C8B-B14F-4D97-AF65-F5344CB8AC3E}">
        <p14:creationId xmlns:p14="http://schemas.microsoft.com/office/powerpoint/2010/main" val="3850066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a:t>L</a:t>
            </a:r>
            <a:r>
              <a:rPr lang="en-GB" sz="2200" b="1" dirty="0" smtClean="0"/>
              <a:t>evel </a:t>
            </a:r>
            <a:r>
              <a:rPr lang="en-GB" sz="2200" b="1" dirty="0"/>
              <a:t>2 is known as </a:t>
            </a:r>
            <a:r>
              <a:rPr lang="en-GB" sz="2200" b="1" dirty="0" smtClean="0"/>
              <a:t>repeatable … : </a:t>
            </a:r>
          </a:p>
          <a:p>
            <a:r>
              <a:rPr lang="en-GB" sz="1800" dirty="0"/>
              <a:t>At this level, the concept of a process exists so that success can be repeated for similar projects.</a:t>
            </a:r>
          </a:p>
          <a:p>
            <a:r>
              <a:rPr lang="en-GB" sz="1800" dirty="0"/>
              <a:t>Performance of the proven activities of past projects is used to prepare plans for future projects.</a:t>
            </a:r>
          </a:p>
          <a:p>
            <a:r>
              <a:rPr lang="en-GB" sz="1800" dirty="0"/>
              <a:t>This level can be summarized as being disciplined because processes are used for repeatability.</a:t>
            </a:r>
          </a:p>
          <a:p>
            <a:r>
              <a:rPr lang="en-GB" sz="1800" dirty="0"/>
              <a:t>All the processes are under the effective control of a project management system.</a:t>
            </a:r>
          </a:p>
          <a:p>
            <a:pPr lvl="1"/>
            <a:endParaRPr lang="en-GB" sz="1400" dirty="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13</a:t>
            </a:fld>
            <a:endParaRPr lang="en-US"/>
          </a:p>
        </p:txBody>
      </p:sp>
    </p:spTree>
    <p:extLst>
      <p:ext uri="{BB962C8B-B14F-4D97-AF65-F5344CB8AC3E}">
        <p14:creationId xmlns:p14="http://schemas.microsoft.com/office/powerpoint/2010/main" val="15806946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381000"/>
          </a:xfrm>
        </p:spPr>
        <p:txBody>
          <a:bodyPr>
            <a:noAutofit/>
          </a:bodyPr>
          <a:lstStyle/>
          <a:p>
            <a:r>
              <a:rPr lang="en-GB" sz="2400" dirty="0" smtClean="0"/>
              <a:t>CMM  - Capability Maturity Level</a:t>
            </a:r>
            <a:endParaRPr lang="en-US" sz="2400" dirty="0"/>
          </a:p>
        </p:txBody>
      </p:sp>
      <p:sp>
        <p:nvSpPr>
          <p:cNvPr id="7" name="Content Placeholder 2"/>
          <p:cNvSpPr>
            <a:spLocks noGrp="1"/>
          </p:cNvSpPr>
          <p:nvPr>
            <p:ph idx="1"/>
          </p:nvPr>
        </p:nvSpPr>
        <p:spPr>
          <a:xfrm>
            <a:off x="609600" y="381000"/>
            <a:ext cx="8229600" cy="6477000"/>
          </a:xfrm>
        </p:spPr>
        <p:txBody>
          <a:bodyPr>
            <a:noAutofit/>
          </a:bodyPr>
          <a:lstStyle/>
          <a:p>
            <a:r>
              <a:rPr lang="en-GB" sz="2000" b="1" dirty="0" smtClean="0"/>
              <a:t>…. Level </a:t>
            </a:r>
            <a:r>
              <a:rPr lang="en-GB" sz="2000" b="1" dirty="0"/>
              <a:t>2 is known as </a:t>
            </a:r>
            <a:r>
              <a:rPr lang="en-GB" sz="2000" b="1" dirty="0" smtClean="0"/>
              <a:t>repeatable: </a:t>
            </a:r>
          </a:p>
          <a:p>
            <a:r>
              <a:rPr lang="en-GB" sz="1800" dirty="0" smtClean="0"/>
              <a:t>The </a:t>
            </a:r>
            <a:r>
              <a:rPr lang="en-GB" sz="1800" dirty="0"/>
              <a:t>KPAs at level 2 are as follows</a:t>
            </a:r>
            <a:r>
              <a:rPr lang="en-GB" sz="1800" dirty="0" smtClean="0"/>
              <a:t>:</a:t>
            </a:r>
          </a:p>
          <a:p>
            <a:pPr lvl="1"/>
            <a:r>
              <a:rPr lang="en-GB" sz="1600" b="1" dirty="0"/>
              <a:t>Requirements Management: </a:t>
            </a:r>
            <a:endParaRPr lang="en-GB" sz="1600" b="1" dirty="0" smtClean="0"/>
          </a:p>
          <a:p>
            <a:pPr lvl="2"/>
            <a:r>
              <a:rPr lang="en-GB" sz="1600" dirty="0" smtClean="0"/>
              <a:t>It </a:t>
            </a:r>
            <a:r>
              <a:rPr lang="en-GB" sz="1600" dirty="0"/>
              <a:t>is important to establish a common understanding between the customer and developers. </a:t>
            </a:r>
            <a:endParaRPr lang="en-GB" sz="1600" dirty="0" smtClean="0"/>
          </a:p>
          <a:p>
            <a:pPr lvl="2"/>
            <a:r>
              <a:rPr lang="en-GB" sz="1600" dirty="0" smtClean="0"/>
              <a:t>Details </a:t>
            </a:r>
            <a:r>
              <a:rPr lang="en-GB" sz="1600" dirty="0"/>
              <a:t>of a project, such as planning and management, are guided by a common view of customer requirements.</a:t>
            </a:r>
          </a:p>
          <a:p>
            <a:pPr lvl="1"/>
            <a:r>
              <a:rPr lang="en-GB" sz="1600" b="1" dirty="0"/>
              <a:t>Software Project Planning: </a:t>
            </a:r>
            <a:endParaRPr lang="en-GB" sz="1600" b="1" dirty="0" smtClean="0"/>
          </a:p>
          <a:p>
            <a:pPr lvl="2"/>
            <a:r>
              <a:rPr lang="en-GB" sz="1600" dirty="0" smtClean="0"/>
              <a:t>This </a:t>
            </a:r>
            <a:r>
              <a:rPr lang="en-GB" sz="1600" dirty="0"/>
              <a:t>means creating and following a reasonable plan for realizing and managing a project.</a:t>
            </a:r>
          </a:p>
          <a:p>
            <a:pPr lvl="1"/>
            <a:r>
              <a:rPr lang="en-GB" sz="1600" b="1" dirty="0"/>
              <a:t>Software Project Tracking and Oversight: </a:t>
            </a:r>
            <a:endParaRPr lang="en-GB" sz="1600" b="1" dirty="0" smtClean="0"/>
          </a:p>
          <a:p>
            <a:pPr lvl="2"/>
            <a:r>
              <a:rPr lang="en-GB" sz="1600" dirty="0" smtClean="0"/>
              <a:t>This </a:t>
            </a:r>
            <a:r>
              <a:rPr lang="en-GB" sz="1600" dirty="0"/>
              <a:t>means making the progress of a project visible so that management is aware of the status of the project</a:t>
            </a:r>
            <a:r>
              <a:rPr lang="en-GB" sz="1600" dirty="0" smtClean="0"/>
              <a:t>.</a:t>
            </a:r>
          </a:p>
          <a:p>
            <a:pPr lvl="2"/>
            <a:r>
              <a:rPr lang="en-GB" sz="1600" dirty="0" smtClean="0"/>
              <a:t>Corrective </a:t>
            </a:r>
            <a:r>
              <a:rPr lang="en-GB" sz="1600" dirty="0"/>
              <a:t>actions can be taken if the actual progress of a project signiﬁcantly deviates from the planned progress.</a:t>
            </a:r>
          </a:p>
          <a:p>
            <a:pPr lvl="1"/>
            <a:r>
              <a:rPr lang="en-GB" sz="1600" b="1" dirty="0"/>
              <a:t>Software Subcontract Management: </a:t>
            </a:r>
            <a:endParaRPr lang="en-GB" sz="1600" b="1" dirty="0" smtClean="0"/>
          </a:p>
          <a:p>
            <a:pPr lvl="2"/>
            <a:r>
              <a:rPr lang="en-GB" sz="1600" dirty="0" smtClean="0"/>
              <a:t>This </a:t>
            </a:r>
            <a:r>
              <a:rPr lang="en-GB" sz="1600" dirty="0"/>
              <a:t>means evaluating, selecting, and managing suppliers or subcontractors.</a:t>
            </a:r>
          </a:p>
          <a:p>
            <a:pPr lvl="1"/>
            <a:r>
              <a:rPr lang="en-GB" sz="1600" b="1" dirty="0"/>
              <a:t>Software Quality Assurance: </a:t>
            </a:r>
            <a:endParaRPr lang="en-GB" sz="1600" b="1" dirty="0" smtClean="0"/>
          </a:p>
          <a:p>
            <a:pPr lvl="2"/>
            <a:r>
              <a:rPr lang="en-GB" sz="1600" dirty="0" smtClean="0"/>
              <a:t>This </a:t>
            </a:r>
            <a:r>
              <a:rPr lang="en-GB" sz="1600" dirty="0"/>
              <a:t>means evaluating processes and products to understand their effectiveness and quality.</a:t>
            </a:r>
          </a:p>
          <a:p>
            <a:pPr lvl="1"/>
            <a:r>
              <a:rPr lang="en-GB" sz="1600" b="1" dirty="0"/>
              <a:t>Software Conﬁguration Management:</a:t>
            </a:r>
            <a:r>
              <a:rPr lang="en-GB" sz="1600" dirty="0"/>
              <a:t> </a:t>
            </a:r>
            <a:endParaRPr lang="en-GB" sz="1600" dirty="0" smtClean="0"/>
          </a:p>
          <a:p>
            <a:pPr lvl="2"/>
            <a:r>
              <a:rPr lang="en-GB" sz="1600" dirty="0" smtClean="0"/>
              <a:t>This </a:t>
            </a:r>
            <a:r>
              <a:rPr lang="en-GB" sz="1600" dirty="0"/>
              <a:t>means ensuring the integrity of the products of a project as long as the project continues to exist.</a:t>
            </a:r>
          </a:p>
          <a:p>
            <a:pPr lvl="1"/>
            <a:endParaRPr lang="en-GB" sz="1800" dirty="0"/>
          </a:p>
          <a:p>
            <a:endParaRPr lang="en-GB" sz="24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14</a:t>
            </a:fld>
            <a:endParaRPr lang="en-US"/>
          </a:p>
        </p:txBody>
      </p:sp>
    </p:spTree>
    <p:extLst>
      <p:ext uri="{BB962C8B-B14F-4D97-AF65-F5344CB8AC3E}">
        <p14:creationId xmlns:p14="http://schemas.microsoft.com/office/powerpoint/2010/main" val="23086594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smtClean="0"/>
              <a:t>Level </a:t>
            </a:r>
            <a:r>
              <a:rPr lang="en-GB" sz="2200" b="1" dirty="0"/>
              <a:t>3 is the deﬁned </a:t>
            </a:r>
            <a:r>
              <a:rPr lang="en-GB" sz="2200" b="1" dirty="0" smtClean="0"/>
              <a:t>level …. :</a:t>
            </a:r>
          </a:p>
          <a:p>
            <a:r>
              <a:rPr lang="en-GB" sz="1800" dirty="0"/>
              <a:t>Documentation plays a key role. Processes that are related to project management and software development activities are documented, reviewed, standardized, and integrated with organizational processes. </a:t>
            </a:r>
          </a:p>
          <a:p>
            <a:r>
              <a:rPr lang="en-GB" sz="1800" dirty="0"/>
              <a:t>In other words, there is </a:t>
            </a:r>
            <a:r>
              <a:rPr lang="en-GB" sz="1800" dirty="0" smtClean="0"/>
              <a:t>organization wide </a:t>
            </a:r>
            <a:r>
              <a:rPr lang="en-GB" sz="1800" dirty="0"/>
              <a:t>acceptance of standard processes.</a:t>
            </a:r>
          </a:p>
          <a:p>
            <a:r>
              <a:rPr lang="en-GB" sz="1800" dirty="0"/>
              <a:t>Software development is carried out by following an approved process.</a:t>
            </a:r>
          </a:p>
          <a:p>
            <a:r>
              <a:rPr lang="en-GB" sz="1800" dirty="0"/>
              <a:t>Functionalities and the associated qualities are tracked.</a:t>
            </a:r>
          </a:p>
          <a:p>
            <a:r>
              <a:rPr lang="en-GB" sz="1800" dirty="0"/>
              <a:t>Cost and schedule are monitored to keep them under control.</a:t>
            </a:r>
          </a:p>
          <a:p>
            <a:endParaRPr lang="en-GB" sz="1800" dirty="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15</a:t>
            </a:fld>
            <a:endParaRPr lang="en-US"/>
          </a:p>
        </p:txBody>
      </p:sp>
    </p:spTree>
    <p:extLst>
      <p:ext uri="{BB962C8B-B14F-4D97-AF65-F5344CB8AC3E}">
        <p14:creationId xmlns:p14="http://schemas.microsoft.com/office/powerpoint/2010/main" val="4349010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000" b="1" dirty="0" smtClean="0"/>
              <a:t>… Level </a:t>
            </a:r>
            <a:r>
              <a:rPr lang="en-GB" sz="2000" b="1" dirty="0"/>
              <a:t>3 is the deﬁned </a:t>
            </a:r>
            <a:r>
              <a:rPr lang="en-GB" sz="2000" b="1" dirty="0" smtClean="0"/>
              <a:t>level</a:t>
            </a:r>
            <a:r>
              <a:rPr lang="en-GB" sz="2000" b="1" dirty="0"/>
              <a:t>:</a:t>
            </a:r>
            <a:endParaRPr lang="en-GB" sz="2000" b="1" dirty="0" smtClean="0"/>
          </a:p>
          <a:p>
            <a:r>
              <a:rPr lang="en-GB" sz="1600" dirty="0" smtClean="0"/>
              <a:t>The </a:t>
            </a:r>
            <a:r>
              <a:rPr lang="en-GB" sz="1600" dirty="0"/>
              <a:t>KPAs at level 3 are as follows: </a:t>
            </a:r>
            <a:endParaRPr lang="en-GB" sz="1600" dirty="0" smtClean="0"/>
          </a:p>
          <a:p>
            <a:pPr lvl="1"/>
            <a:r>
              <a:rPr lang="en-GB" sz="1600" b="1" dirty="0"/>
              <a:t>Organization Process Focus: </a:t>
            </a:r>
            <a:r>
              <a:rPr lang="en-GB" sz="1600" dirty="0"/>
              <a:t>This means putting in place an </a:t>
            </a:r>
            <a:r>
              <a:rPr lang="en-GB" sz="1600" dirty="0" smtClean="0"/>
              <a:t>organization wide </a:t>
            </a:r>
            <a:r>
              <a:rPr lang="en-GB" sz="1600" dirty="0"/>
              <a:t>role and responsibility to ensure that activities concerning process improvement are in fact followed. </a:t>
            </a:r>
          </a:p>
          <a:p>
            <a:pPr lvl="1"/>
            <a:r>
              <a:rPr lang="en-GB" sz="1600" b="1" dirty="0" smtClean="0"/>
              <a:t>Organization </a:t>
            </a:r>
            <a:r>
              <a:rPr lang="en-GB" sz="1600" b="1" dirty="0"/>
              <a:t>Process Deﬁnition:</a:t>
            </a:r>
            <a:r>
              <a:rPr lang="en-GB" sz="1600" dirty="0"/>
              <a:t> Certain practices are useful irrespective of projects. Thus, it is important to identify and document those practices. </a:t>
            </a:r>
          </a:p>
          <a:p>
            <a:pPr lvl="1"/>
            <a:r>
              <a:rPr lang="en-GB" sz="1600" b="1" dirty="0" smtClean="0"/>
              <a:t>Training </a:t>
            </a:r>
            <a:r>
              <a:rPr lang="en-GB" sz="1600" b="1" dirty="0"/>
              <a:t>Program: </a:t>
            </a:r>
            <a:r>
              <a:rPr lang="en-GB" sz="1600" dirty="0"/>
              <a:t>Individuals need to be trained on an on-going basis to make </a:t>
            </a:r>
            <a:r>
              <a:rPr lang="en-GB" sz="1600" dirty="0" smtClean="0"/>
              <a:t>them knowledgeable </a:t>
            </a:r>
            <a:r>
              <a:rPr lang="en-GB" sz="1600" dirty="0"/>
              <a:t>in </a:t>
            </a:r>
            <a:r>
              <a:rPr lang="en-GB" sz="1600" dirty="0" smtClean="0"/>
              <a:t>application domains and new developments </a:t>
            </a:r>
            <a:r>
              <a:rPr lang="en-GB" sz="1600" dirty="0"/>
              <a:t>in software techniques and tools. Training is expected to make them effective and efﬁcient.</a:t>
            </a:r>
          </a:p>
          <a:p>
            <a:pPr lvl="1"/>
            <a:r>
              <a:rPr lang="en-GB" sz="1600" b="1" dirty="0" smtClean="0"/>
              <a:t>Integrated </a:t>
            </a:r>
            <a:r>
              <a:rPr lang="en-GB" sz="1600" b="1" dirty="0"/>
              <a:t>Software Management: </a:t>
            </a:r>
            <a:r>
              <a:rPr lang="en-GB" sz="1600" dirty="0"/>
              <a:t>This means integrating an organization’s software engineering and management activities into a common, deﬁned process. Integration is based on commercial and technological needs of individual projects.</a:t>
            </a:r>
          </a:p>
          <a:p>
            <a:pPr lvl="1"/>
            <a:r>
              <a:rPr lang="en-GB" sz="1600" dirty="0"/>
              <a:t> </a:t>
            </a:r>
            <a:r>
              <a:rPr lang="en-GB" sz="1600" b="1" dirty="0"/>
              <a:t>Software Product Engineering:</a:t>
            </a:r>
            <a:r>
              <a:rPr lang="en-GB" sz="1600" dirty="0"/>
              <a:t> This means following a deﬁned process </a:t>
            </a:r>
            <a:r>
              <a:rPr lang="en-GB" sz="1600" dirty="0" smtClean="0"/>
              <a:t>in a consistent manner by integrating </a:t>
            </a:r>
            <a:r>
              <a:rPr lang="en-GB" sz="1600" dirty="0"/>
              <a:t>the </a:t>
            </a:r>
            <a:r>
              <a:rPr lang="en-GB" sz="1600" dirty="0" smtClean="0"/>
              <a:t>technical activities </a:t>
            </a:r>
            <a:r>
              <a:rPr lang="en-GB" sz="1600" dirty="0"/>
              <a:t>to produce software with desired attributes. The activities include requirements elicitation, functional design, detailed design, coding, and testing.</a:t>
            </a:r>
          </a:p>
          <a:p>
            <a:pPr lvl="1"/>
            <a:r>
              <a:rPr lang="en-GB" sz="1600" dirty="0"/>
              <a:t> </a:t>
            </a:r>
            <a:r>
              <a:rPr lang="en-GB" sz="1600" b="1" dirty="0" smtClean="0"/>
              <a:t>Intergroup </a:t>
            </a:r>
            <a:r>
              <a:rPr lang="en-GB" sz="1600" b="1" dirty="0"/>
              <a:t>Coordination:</a:t>
            </a:r>
            <a:r>
              <a:rPr lang="en-GB" sz="1600" dirty="0"/>
              <a:t> This means that a software development group coordinates with other groups, such as customers, the marketing group, the and software quality assurance (SQA) group, to understand their needs and expectations.</a:t>
            </a:r>
          </a:p>
          <a:p>
            <a:pPr lvl="1"/>
            <a:r>
              <a:rPr lang="en-GB" sz="1600" b="1" dirty="0" smtClean="0"/>
              <a:t>Peer </a:t>
            </a:r>
            <a:r>
              <a:rPr lang="en-GB" sz="1600" b="1" dirty="0"/>
              <a:t>Review:</a:t>
            </a:r>
            <a:r>
              <a:rPr lang="en-GB" sz="1600" dirty="0"/>
              <a:t> Work products, such as requirements, design, and code, are reviewed by peers to ﬁnd defects at an early stage. Peer reviews can be performed by means of inspection and walkthrough.</a:t>
            </a:r>
          </a:p>
          <a:p>
            <a:pPr lvl="1"/>
            <a:endParaRPr lang="en-GB" sz="1600" dirty="0"/>
          </a:p>
          <a:p>
            <a:pPr lvl="1"/>
            <a:endParaRPr lang="en-GB" sz="1600" dirty="0"/>
          </a:p>
          <a:p>
            <a:endParaRPr lang="en-GB" sz="1800" dirty="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16</a:t>
            </a:fld>
            <a:endParaRPr lang="en-US"/>
          </a:p>
        </p:txBody>
      </p:sp>
    </p:spTree>
    <p:extLst>
      <p:ext uri="{BB962C8B-B14F-4D97-AF65-F5344CB8AC3E}">
        <p14:creationId xmlns:p14="http://schemas.microsoft.com/office/powerpoint/2010/main" val="1028029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smtClean="0"/>
              <a:t>Level </a:t>
            </a:r>
            <a:r>
              <a:rPr lang="en-GB" sz="2200" b="1" dirty="0"/>
              <a:t>4 is </a:t>
            </a:r>
            <a:r>
              <a:rPr lang="en-GB" sz="2200" b="1" dirty="0" smtClean="0"/>
              <a:t>managed</a:t>
            </a:r>
            <a:r>
              <a:rPr lang="en-GB" sz="2200" b="1" dirty="0"/>
              <a:t>:</a:t>
            </a:r>
            <a:endParaRPr lang="en-GB" sz="2200" b="1" dirty="0" smtClean="0"/>
          </a:p>
          <a:p>
            <a:r>
              <a:rPr lang="en-GB" sz="1800" dirty="0"/>
              <a:t>At this level, metrics play a key role.</a:t>
            </a:r>
          </a:p>
          <a:p>
            <a:r>
              <a:rPr lang="en-GB" sz="1800" dirty="0"/>
              <a:t>Metrics concerning processes and products are collected and </a:t>
            </a:r>
            <a:r>
              <a:rPr lang="en-GB" sz="1800" dirty="0" smtClean="0"/>
              <a:t>analysed.</a:t>
            </a:r>
            <a:endParaRPr lang="en-GB" sz="1800" dirty="0"/>
          </a:p>
          <a:p>
            <a:r>
              <a:rPr lang="en-GB" sz="1800" dirty="0"/>
              <a:t>Those metrics are used to gain quantitative insight into both process and product qualities.</a:t>
            </a:r>
          </a:p>
          <a:p>
            <a:r>
              <a:rPr lang="en-GB" sz="1800" dirty="0"/>
              <a:t>When the metrics show that limits are being exceeded, corrective actions are triggered.</a:t>
            </a:r>
          </a:p>
          <a:p>
            <a:r>
              <a:rPr lang="en-GB" sz="1800" dirty="0"/>
              <a:t>For example, if too many test cases fail during system testing, it is useful to start a process of root cause analysis to understand why so many tests are failing.</a:t>
            </a:r>
          </a:p>
          <a:p>
            <a:r>
              <a:rPr lang="en-GB" sz="1800" dirty="0"/>
              <a:t>The KPAs at level 4 are as follows:</a:t>
            </a:r>
          </a:p>
          <a:p>
            <a:pPr lvl="1"/>
            <a:r>
              <a:rPr lang="en-GB" sz="1400" dirty="0"/>
              <a:t> </a:t>
            </a:r>
            <a:r>
              <a:rPr lang="en-GB" sz="1800" b="1" dirty="0" smtClean="0"/>
              <a:t>Quantitative Process Management</a:t>
            </a:r>
            <a:r>
              <a:rPr lang="en-GB" sz="1800" b="1" dirty="0"/>
              <a:t>: </a:t>
            </a:r>
            <a:endParaRPr lang="en-GB" sz="1800" b="1" dirty="0" smtClean="0"/>
          </a:p>
          <a:p>
            <a:pPr lvl="2"/>
            <a:r>
              <a:rPr lang="en-GB" sz="1600" dirty="0" smtClean="0"/>
              <a:t>Process </a:t>
            </a:r>
            <a:r>
              <a:rPr lang="en-GB" sz="1600" dirty="0"/>
              <a:t>data indicate how well a process is performing. If a process does not perform as expected, the process is improved by considering the measured data.</a:t>
            </a:r>
          </a:p>
          <a:p>
            <a:pPr lvl="1"/>
            <a:r>
              <a:rPr lang="en-GB" sz="1800" b="1" dirty="0" smtClean="0"/>
              <a:t>Software </a:t>
            </a:r>
            <a:r>
              <a:rPr lang="en-GB" sz="1800" b="1" dirty="0"/>
              <a:t>Quality Management</a:t>
            </a:r>
            <a:r>
              <a:rPr lang="en-GB" sz="1800" b="1" dirty="0" smtClean="0"/>
              <a:t>:</a:t>
            </a:r>
          </a:p>
          <a:p>
            <a:pPr lvl="2"/>
            <a:r>
              <a:rPr lang="en-GB" sz="1600" dirty="0" smtClean="0"/>
              <a:t>The </a:t>
            </a:r>
            <a:r>
              <a:rPr lang="en-GB" sz="1600" dirty="0"/>
              <a:t>quality attributes of products are measured in quantitative form to have a better insight into the processes and products. Improvements are incorporated into the processes, and their effectiveness is evaluated by measuring product quality attributes.</a:t>
            </a:r>
          </a:p>
          <a:p>
            <a:pPr lvl="1"/>
            <a:endParaRPr lang="en-GB" sz="1800" dirty="0"/>
          </a:p>
          <a:p>
            <a:pPr lvl="1"/>
            <a:endParaRPr lang="en-GB" sz="1800" dirty="0"/>
          </a:p>
          <a:p>
            <a:endParaRPr lang="en-GB" sz="1800" dirty="0"/>
          </a:p>
          <a:p>
            <a:endParaRPr lang="en-GB" sz="1800" dirty="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17</a:t>
            </a:fld>
            <a:endParaRPr lang="en-US"/>
          </a:p>
        </p:txBody>
      </p:sp>
    </p:spTree>
    <p:extLst>
      <p:ext uri="{BB962C8B-B14F-4D97-AF65-F5344CB8AC3E}">
        <p14:creationId xmlns:p14="http://schemas.microsoft.com/office/powerpoint/2010/main" val="511878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smtClean="0"/>
              <a:t>Level </a:t>
            </a:r>
            <a:r>
              <a:rPr lang="en-GB" sz="2200" b="1" dirty="0"/>
              <a:t>5 is the optimizing </a:t>
            </a:r>
            <a:r>
              <a:rPr lang="en-GB" sz="2200" b="1" dirty="0" smtClean="0"/>
              <a:t>level … : </a:t>
            </a:r>
          </a:p>
          <a:p>
            <a:r>
              <a:rPr lang="en-GB" sz="2200" dirty="0"/>
              <a:t>At this level, organizations strive to improve their processes on a continual basis.</a:t>
            </a:r>
          </a:p>
          <a:p>
            <a:r>
              <a:rPr lang="en-GB" sz="2200" dirty="0"/>
              <a:t>This is achieved in two steps: </a:t>
            </a:r>
          </a:p>
          <a:p>
            <a:pPr lvl="1"/>
            <a:r>
              <a:rPr lang="en-GB" sz="2000" dirty="0" smtClean="0"/>
              <a:t>Observe </a:t>
            </a:r>
            <a:r>
              <a:rPr lang="en-GB" sz="2000" dirty="0"/>
              <a:t>the effects of processes, by measuring a few key metrics, on the quality, cost, and lead time of software products </a:t>
            </a:r>
          </a:p>
          <a:p>
            <a:pPr lvl="1"/>
            <a:r>
              <a:rPr lang="en-GB" sz="2000" dirty="0" smtClean="0"/>
              <a:t>effect </a:t>
            </a:r>
            <a:r>
              <a:rPr lang="en-GB" sz="2000" dirty="0"/>
              <a:t>changes to the processes by introducing new techniques, methods, tools, and strategies. </a:t>
            </a:r>
            <a:endParaRPr lang="en-GB" sz="24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18</a:t>
            </a:fld>
            <a:endParaRPr lang="en-US"/>
          </a:p>
        </p:txBody>
      </p:sp>
    </p:spTree>
    <p:extLst>
      <p:ext uri="{BB962C8B-B14F-4D97-AF65-F5344CB8AC3E}">
        <p14:creationId xmlns:p14="http://schemas.microsoft.com/office/powerpoint/2010/main" val="11522423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CMM  - Capability Maturity Level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200" b="1" dirty="0" smtClean="0"/>
              <a:t>… Level </a:t>
            </a:r>
            <a:r>
              <a:rPr lang="en-GB" sz="2200" b="1" dirty="0"/>
              <a:t>5 is the optimizing </a:t>
            </a:r>
            <a:r>
              <a:rPr lang="en-GB" sz="2200" b="1" dirty="0" smtClean="0"/>
              <a:t>level: </a:t>
            </a:r>
          </a:p>
          <a:p>
            <a:r>
              <a:rPr lang="en-GB" sz="2200" dirty="0" smtClean="0"/>
              <a:t>The following are the KPAs at level 5: </a:t>
            </a:r>
            <a:endParaRPr lang="en-GB" sz="2200" dirty="0"/>
          </a:p>
          <a:p>
            <a:pPr lvl="1"/>
            <a:r>
              <a:rPr lang="en-GB" sz="2000" b="1" dirty="0"/>
              <a:t>Defect Prevention</a:t>
            </a:r>
            <a:r>
              <a:rPr lang="en-GB" sz="2000" dirty="0"/>
              <a:t>: </a:t>
            </a:r>
            <a:endParaRPr lang="en-GB" sz="2000" dirty="0" smtClean="0"/>
          </a:p>
          <a:p>
            <a:pPr lvl="2"/>
            <a:r>
              <a:rPr lang="en-GB" sz="1800" dirty="0" smtClean="0"/>
              <a:t>This </a:t>
            </a:r>
            <a:r>
              <a:rPr lang="en-GB" sz="1800" dirty="0"/>
              <a:t>means </a:t>
            </a:r>
            <a:r>
              <a:rPr lang="en-GB" sz="1800" dirty="0" smtClean="0"/>
              <a:t>analysing </a:t>
            </a:r>
            <a:r>
              <a:rPr lang="en-GB" sz="1800" dirty="0"/>
              <a:t>the root causes of different classes of defects and taking preventive measures to ensure that similar defects do not recur.</a:t>
            </a:r>
          </a:p>
          <a:p>
            <a:pPr lvl="1"/>
            <a:r>
              <a:rPr lang="en-GB" sz="2000" b="1" dirty="0"/>
              <a:t>Technology Change Management</a:t>
            </a:r>
            <a:r>
              <a:rPr lang="en-GB" sz="2000" dirty="0"/>
              <a:t>: </a:t>
            </a:r>
            <a:endParaRPr lang="en-GB" sz="2000" dirty="0" smtClean="0"/>
          </a:p>
          <a:p>
            <a:pPr lvl="2"/>
            <a:r>
              <a:rPr lang="en-GB" sz="1800" dirty="0" smtClean="0"/>
              <a:t>This </a:t>
            </a:r>
            <a:r>
              <a:rPr lang="en-GB" sz="1800" dirty="0"/>
              <a:t>means identifying useful techniques, tools, and methodologies and gradually introducing those into software processes. </a:t>
            </a:r>
            <a:endParaRPr lang="en-GB" sz="1800" dirty="0" smtClean="0"/>
          </a:p>
          <a:p>
            <a:pPr lvl="2"/>
            <a:r>
              <a:rPr lang="en-GB" sz="1800" dirty="0" smtClean="0"/>
              <a:t>The </a:t>
            </a:r>
            <a:r>
              <a:rPr lang="en-GB" sz="1800" dirty="0"/>
              <a:t>key idea is to take advantage of new developments in technologies.</a:t>
            </a:r>
          </a:p>
          <a:p>
            <a:pPr lvl="1"/>
            <a:r>
              <a:rPr lang="en-GB" sz="2000" b="1" dirty="0"/>
              <a:t>Process Change Management: </a:t>
            </a:r>
            <a:endParaRPr lang="en-GB" sz="2000" b="1" dirty="0" smtClean="0"/>
          </a:p>
          <a:p>
            <a:pPr lvl="2"/>
            <a:r>
              <a:rPr lang="en-GB" sz="1800" dirty="0" smtClean="0"/>
              <a:t>This </a:t>
            </a:r>
            <a:r>
              <a:rPr lang="en-GB" sz="1800" dirty="0"/>
              <a:t>means improving an organization’s processes to have a positive impact on quality, productivity, and development time.</a:t>
            </a:r>
          </a:p>
          <a:p>
            <a:pPr lvl="1"/>
            <a:endParaRPr lang="en-GB" sz="2000" dirty="0"/>
          </a:p>
          <a:p>
            <a:pPr lvl="1"/>
            <a:endParaRPr lang="en-GB" sz="2000" dirty="0"/>
          </a:p>
          <a:p>
            <a:pPr lvl="1"/>
            <a:endParaRPr lang="en-GB" sz="2000" dirty="0" smtClean="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19</a:t>
            </a:fld>
            <a:endParaRPr lang="en-US"/>
          </a:p>
        </p:txBody>
      </p:sp>
    </p:spTree>
    <p:extLst>
      <p:ext uri="{BB962C8B-B14F-4D97-AF65-F5344CB8AC3E}">
        <p14:creationId xmlns:p14="http://schemas.microsoft.com/office/powerpoint/2010/main" val="3390818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ISO </a:t>
            </a:r>
            <a:r>
              <a:rPr lang="en-GB" sz="2800" dirty="0" smtClean="0"/>
              <a:t>- SOFTWARE QUALITY STANDARD</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A global initiative for understanding the concept of software quality has been performed by experts around the world. </a:t>
            </a:r>
            <a:endParaRPr lang="en-GB" sz="1800" dirty="0" smtClean="0"/>
          </a:p>
          <a:p>
            <a:r>
              <a:rPr lang="en-GB" sz="1800" dirty="0" smtClean="0"/>
              <a:t>Their </a:t>
            </a:r>
            <a:r>
              <a:rPr lang="en-GB" sz="1800" dirty="0"/>
              <a:t>collaborative effort has led to the standardization of the quality concept by the ISO in the form of documents ISO 9126 and ISO 9000:2000. </a:t>
            </a:r>
            <a:endParaRPr lang="en-GB" sz="1800" dirty="0" smtClean="0"/>
          </a:p>
          <a:p>
            <a:r>
              <a:rPr lang="en-GB" sz="1800" dirty="0" smtClean="0"/>
              <a:t>The </a:t>
            </a:r>
            <a:r>
              <a:rPr lang="en-GB" sz="1800" dirty="0"/>
              <a:t>document ISO 9126 is about </a:t>
            </a:r>
            <a:r>
              <a:rPr lang="en-GB" sz="1800" b="1" dirty="0"/>
              <a:t>quality characteristics</a:t>
            </a:r>
            <a:r>
              <a:rPr lang="en-GB" sz="1800" dirty="0"/>
              <a:t>, whereas the ISO 9000:2000 document is a </a:t>
            </a:r>
            <a:r>
              <a:rPr lang="en-GB" sz="1800" b="1" dirty="0"/>
              <a:t>quality assurance standard</a:t>
            </a:r>
            <a:r>
              <a:rPr lang="en-GB" sz="1800" dirty="0"/>
              <a:t>. </a:t>
            </a:r>
            <a:endParaRPr lang="en-GB" sz="1800" dirty="0" smtClean="0"/>
          </a:p>
          <a:p>
            <a:r>
              <a:rPr lang="en-GB" sz="1800" dirty="0" smtClean="0"/>
              <a:t>What </a:t>
            </a:r>
            <a:r>
              <a:rPr lang="en-GB" sz="1800" dirty="0"/>
              <a:t>is called quality factor in the McCall model is called quality characteristic in the ISO 9126 model. </a:t>
            </a:r>
            <a:endParaRPr lang="en-GB" sz="1800" dirty="0" smtClean="0"/>
          </a:p>
          <a:p>
            <a:r>
              <a:rPr lang="en-GB" sz="1800" dirty="0" smtClean="0"/>
              <a:t>However</a:t>
            </a:r>
            <a:r>
              <a:rPr lang="en-GB" sz="1800" dirty="0"/>
              <a:t>, there are several differences between the two models. </a:t>
            </a:r>
            <a:endParaRPr lang="en-GB" sz="1800" dirty="0" smtClean="0"/>
          </a:p>
          <a:p>
            <a:r>
              <a:rPr lang="en-GB" sz="1800" dirty="0" smtClean="0"/>
              <a:t>The </a:t>
            </a:r>
            <a:r>
              <a:rPr lang="en-GB" sz="1800" dirty="0"/>
              <a:t>ISO 9126 model focuses on characteristics visible to the users, whereas the McCall model emphasizes internal quality as well.</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20</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ISO </a:t>
            </a:r>
            <a:r>
              <a:rPr lang="en-GB" sz="2800" dirty="0" smtClean="0"/>
              <a:t>- </a:t>
            </a:r>
            <a:r>
              <a:rPr lang="en-GB" sz="2800" smtClean="0"/>
              <a:t>SOFTWARE QUALITY STANDARD</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There are three components of the ISO 9000:2000 standard, namely, </a:t>
            </a:r>
            <a:endParaRPr lang="en-GB" sz="1800" dirty="0" smtClean="0"/>
          </a:p>
          <a:p>
            <a:r>
              <a:rPr lang="en-GB" sz="1800" dirty="0" smtClean="0"/>
              <a:t>ISO </a:t>
            </a:r>
            <a:r>
              <a:rPr lang="en-GB" sz="1800" dirty="0"/>
              <a:t>9000, ISO 9001, and ISO 9004. </a:t>
            </a:r>
            <a:endParaRPr lang="en-GB" sz="1800" dirty="0" smtClean="0"/>
          </a:p>
          <a:p>
            <a:r>
              <a:rPr lang="en-GB" sz="1800" dirty="0" smtClean="0"/>
              <a:t>The </a:t>
            </a:r>
            <a:r>
              <a:rPr lang="en-GB" sz="1800" dirty="0"/>
              <a:t>ISO 9000 document is about fundamentals and vocabulary, </a:t>
            </a:r>
            <a:endParaRPr lang="en-GB" sz="1800" dirty="0" smtClean="0"/>
          </a:p>
          <a:p>
            <a:r>
              <a:rPr lang="en-GB" sz="1800" dirty="0" smtClean="0"/>
              <a:t>the </a:t>
            </a:r>
            <a:r>
              <a:rPr lang="en-GB" sz="1800" dirty="0"/>
              <a:t>ISO 9001 document is about requirements, </a:t>
            </a:r>
            <a:endParaRPr lang="en-GB" sz="1800" dirty="0" smtClean="0"/>
          </a:p>
          <a:p>
            <a:r>
              <a:rPr lang="en-GB" sz="1800" dirty="0" smtClean="0"/>
              <a:t>and </a:t>
            </a:r>
            <a:r>
              <a:rPr lang="en-GB" sz="1800" dirty="0"/>
              <a:t>the ISO 9004 document contains guidelines for performance improvements. </a:t>
            </a:r>
            <a:endParaRPr lang="en-GB" sz="1800" dirty="0" smtClean="0"/>
          </a:p>
          <a:p>
            <a:r>
              <a:rPr lang="en-GB" sz="1800" dirty="0" smtClean="0"/>
              <a:t>The </a:t>
            </a:r>
            <a:r>
              <a:rPr lang="en-GB" sz="1800" dirty="0"/>
              <a:t>ISO 9000 document is based on eight principles: customer focus, leadership, involvement of people, process approach, system approach to management, continual improvement, factual approach to decision making, and mutually beneﬁcial supplier relationships. </a:t>
            </a:r>
            <a:endParaRPr lang="en-GB" sz="1800" dirty="0" smtClean="0"/>
          </a:p>
          <a:p>
            <a:r>
              <a:rPr lang="en-GB" sz="1800" dirty="0" smtClean="0"/>
              <a:t>The </a:t>
            </a:r>
            <a:r>
              <a:rPr lang="en-GB" sz="1800" dirty="0"/>
              <a:t>ISO 9001 document deals with the following ﬁve kinds of requirements: systemic requirements, management requirements, resource requirements, realization requirements, and remedial requirements</a:t>
            </a:r>
            <a:r>
              <a:rPr lang="en-GB" sz="1800" dirty="0" smtClean="0"/>
              <a: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21</a:t>
            </a:fld>
            <a:endParaRPr lang="en-US"/>
          </a:p>
        </p:txBody>
      </p:sp>
    </p:spTree>
    <p:extLst>
      <p:ext uri="{BB962C8B-B14F-4D97-AF65-F5344CB8AC3E}">
        <p14:creationId xmlns:p14="http://schemas.microsoft.com/office/powerpoint/2010/main" val="39592878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ISO 9000 – 8 Principles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The </a:t>
            </a:r>
            <a:r>
              <a:rPr lang="en-GB" sz="1800" dirty="0"/>
              <a:t>ISO 9000 document is based on eight principles: </a:t>
            </a:r>
            <a:endParaRPr lang="en-GB" sz="1800" dirty="0" smtClean="0"/>
          </a:p>
          <a:p>
            <a:pPr lvl="1"/>
            <a:r>
              <a:rPr lang="en-GB" sz="1800" b="1" dirty="0"/>
              <a:t>C</a:t>
            </a:r>
            <a:r>
              <a:rPr lang="en-GB" sz="1800" b="1" dirty="0" smtClean="0"/>
              <a:t>ustomer focus:</a:t>
            </a:r>
            <a:r>
              <a:rPr lang="en-GB" sz="1800" dirty="0" smtClean="0"/>
              <a:t> to satisfy customers</a:t>
            </a:r>
          </a:p>
          <a:p>
            <a:pPr lvl="1"/>
            <a:r>
              <a:rPr lang="en-GB" sz="1800" b="1" dirty="0" smtClean="0"/>
              <a:t>Leadership</a:t>
            </a:r>
            <a:r>
              <a:rPr lang="en-GB" sz="1800" dirty="0"/>
              <a:t>: Leaders set the direction their organization should take, </a:t>
            </a:r>
            <a:r>
              <a:rPr lang="en-GB" sz="1800" dirty="0" smtClean="0"/>
              <a:t>		and </a:t>
            </a:r>
            <a:r>
              <a:rPr lang="en-GB" sz="1800" dirty="0"/>
              <a:t>they must effectively communicate this to all the </a:t>
            </a:r>
            <a:r>
              <a:rPr lang="en-GB" sz="1800" dirty="0" smtClean="0"/>
              <a:t>people </a:t>
            </a:r>
            <a:r>
              <a:rPr lang="en-GB" sz="1800" dirty="0"/>
              <a:t>involved in the </a:t>
            </a:r>
            <a:r>
              <a:rPr lang="en-GB" sz="1800" dirty="0" smtClean="0"/>
              <a:t>	process</a:t>
            </a:r>
            <a:r>
              <a:rPr lang="en-GB" sz="1800" dirty="0"/>
              <a:t>. </a:t>
            </a:r>
            <a:endParaRPr lang="en-GB" sz="1800" dirty="0" smtClean="0"/>
          </a:p>
          <a:p>
            <a:pPr lvl="1"/>
            <a:r>
              <a:rPr lang="en-GB" sz="1800" b="1" dirty="0" smtClean="0"/>
              <a:t>Involvement </a:t>
            </a:r>
            <a:r>
              <a:rPr lang="en-GB" sz="1800" b="1" dirty="0"/>
              <a:t>of </a:t>
            </a:r>
            <a:r>
              <a:rPr lang="en-GB" sz="1800" b="1" dirty="0" smtClean="0"/>
              <a:t>people: </a:t>
            </a:r>
            <a:endParaRPr lang="en-GB" sz="1800" dirty="0" smtClean="0"/>
          </a:p>
          <a:p>
            <a:pPr lvl="2"/>
            <a:r>
              <a:rPr lang="en-GB" sz="1600" dirty="0"/>
              <a:t>Organizations rely on people.</a:t>
            </a:r>
          </a:p>
          <a:p>
            <a:pPr lvl="2"/>
            <a:r>
              <a:rPr lang="en-GB" sz="1600" dirty="0"/>
              <a:t>People are informed of the organizational direction, and they are involved at all levels of decision making.</a:t>
            </a:r>
          </a:p>
          <a:p>
            <a:pPr lvl="2"/>
            <a:r>
              <a:rPr lang="en-GB" sz="1600" dirty="0"/>
              <a:t>People are given an opportunity to develop their strength and use their abilities.</a:t>
            </a:r>
          </a:p>
          <a:p>
            <a:pPr lvl="2"/>
            <a:r>
              <a:rPr lang="en-GB" sz="1600" dirty="0"/>
              <a:t>People are encouraged to be creative in performing their tasks. </a:t>
            </a:r>
            <a:endParaRPr lang="en-GB" sz="1400" dirty="0" smtClean="0"/>
          </a:p>
          <a:p>
            <a:pPr lvl="1"/>
            <a:r>
              <a:rPr lang="en-GB" sz="1800" b="1" dirty="0"/>
              <a:t>P</a:t>
            </a:r>
            <a:r>
              <a:rPr lang="en-GB" sz="1800" b="1" dirty="0" smtClean="0"/>
              <a:t>rocess approach</a:t>
            </a:r>
            <a:r>
              <a:rPr lang="en-GB" sz="1800" b="1" dirty="0"/>
              <a:t>.</a:t>
            </a:r>
            <a:endParaRPr lang="en-GB" sz="1800" dirty="0" smtClean="0"/>
          </a:p>
          <a:p>
            <a:pPr lvl="1"/>
            <a:r>
              <a:rPr lang="en-GB" sz="1800" b="1" dirty="0" smtClean="0"/>
              <a:t>System </a:t>
            </a:r>
            <a:r>
              <a:rPr lang="en-GB" sz="1800" b="1" dirty="0"/>
              <a:t>approach to </a:t>
            </a:r>
            <a:r>
              <a:rPr lang="en-GB" sz="1800" b="1" dirty="0" smtClean="0"/>
              <a:t>management</a:t>
            </a:r>
            <a:r>
              <a:rPr lang="en-GB" sz="1800" dirty="0"/>
              <a:t>: A system is an interacting set of processes.</a:t>
            </a:r>
            <a:endParaRPr lang="en-GB" sz="1800" dirty="0" smtClean="0"/>
          </a:p>
          <a:p>
            <a:pPr lvl="1"/>
            <a:r>
              <a:rPr lang="en-GB" sz="1800" b="1" dirty="0"/>
              <a:t>C</a:t>
            </a:r>
            <a:r>
              <a:rPr lang="en-GB" sz="1800" b="1" dirty="0" smtClean="0"/>
              <a:t>ontinual improvement.</a:t>
            </a:r>
          </a:p>
          <a:p>
            <a:pPr lvl="1"/>
            <a:r>
              <a:rPr lang="en-GB" sz="1800" b="1" dirty="0" smtClean="0"/>
              <a:t>Factual </a:t>
            </a:r>
            <a:r>
              <a:rPr lang="en-GB" sz="1800" b="1" dirty="0"/>
              <a:t>approach to decision </a:t>
            </a:r>
            <a:r>
              <a:rPr lang="en-GB" sz="1800" b="1" dirty="0" smtClean="0"/>
              <a:t>making: </a:t>
            </a:r>
          </a:p>
          <a:p>
            <a:pPr lvl="2"/>
            <a:r>
              <a:rPr lang="en-GB" sz="1600" dirty="0"/>
              <a:t>Decisions may be made based on facts, experience, and intuition. </a:t>
            </a:r>
          </a:p>
          <a:p>
            <a:pPr lvl="2"/>
            <a:r>
              <a:rPr lang="en-GB" sz="1600" dirty="0"/>
              <a:t>Facts can be gathered by using a sound measurement process</a:t>
            </a:r>
            <a:r>
              <a:rPr lang="en-GB" sz="1600" dirty="0" smtClean="0"/>
              <a:t>.</a:t>
            </a:r>
          </a:p>
          <a:p>
            <a:pPr lvl="1"/>
            <a:r>
              <a:rPr lang="en-GB" sz="1800" b="1" dirty="0" smtClean="0"/>
              <a:t>and </a:t>
            </a:r>
            <a:r>
              <a:rPr lang="en-GB" sz="1800" b="1" dirty="0"/>
              <a:t>mutually beneﬁcial supplier </a:t>
            </a:r>
            <a:r>
              <a:rPr lang="en-GB" sz="1800" b="1" dirty="0" smtClean="0"/>
              <a:t>relationships: </a:t>
            </a:r>
            <a:r>
              <a:rPr lang="en-GB" sz="1800" dirty="0" smtClean="0"/>
              <a:t>terms and contract with third parties.</a:t>
            </a:r>
            <a:endParaRPr lang="en-GB" sz="1800" b="1" dirty="0" smtClean="0"/>
          </a:p>
        </p:txBody>
      </p:sp>
      <p:sp>
        <p:nvSpPr>
          <p:cNvPr id="2" name="Slide Number Placeholder 1"/>
          <p:cNvSpPr>
            <a:spLocks noGrp="1"/>
          </p:cNvSpPr>
          <p:nvPr>
            <p:ph type="sldNum" sz="quarter" idx="12"/>
          </p:nvPr>
        </p:nvSpPr>
        <p:spPr>
          <a:xfrm>
            <a:off x="8382000" y="6356350"/>
            <a:ext cx="304800" cy="365125"/>
          </a:xfrm>
        </p:spPr>
        <p:txBody>
          <a:bodyPr/>
          <a:lstStyle/>
          <a:p>
            <a:fld id="{243F0035-4B67-4B88-B2A0-536AE2AEED21}" type="slidenum">
              <a:rPr lang="en-US" smtClean="0"/>
              <a:pPr/>
              <a:t>22</a:t>
            </a:fld>
            <a:endParaRPr lang="en-US" dirty="0"/>
          </a:p>
        </p:txBody>
      </p:sp>
    </p:spTree>
    <p:extLst>
      <p:ext uri="{BB962C8B-B14F-4D97-AF65-F5344CB8AC3E}">
        <p14:creationId xmlns:p14="http://schemas.microsoft.com/office/powerpoint/2010/main" val="820348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ISO 9001 – 5 kind of Requirements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The </a:t>
            </a:r>
            <a:r>
              <a:rPr lang="en-GB" sz="1800" dirty="0"/>
              <a:t>ISO 9001 document deals with the following ﬁve kinds of requirements: </a:t>
            </a:r>
            <a:endParaRPr lang="en-GB" sz="1800" dirty="0" smtClean="0"/>
          </a:p>
          <a:p>
            <a:pPr lvl="1"/>
            <a:r>
              <a:rPr lang="en-GB" sz="1800" b="1" dirty="0" smtClean="0"/>
              <a:t>Systemic requirements</a:t>
            </a:r>
            <a:r>
              <a:rPr lang="en-GB" sz="1800" b="1" dirty="0"/>
              <a:t>: </a:t>
            </a:r>
            <a:r>
              <a:rPr lang="en-GB" sz="1800" dirty="0"/>
              <a:t>The concept of a quality management system (QMS) is the core of part 4 of the ISO 2001:2000 document. A quality management system is deﬁned in terms of quality policy and quality objectives and properly document it</a:t>
            </a:r>
            <a:r>
              <a:rPr lang="en-GB" sz="1800" dirty="0" smtClean="0"/>
              <a:t>.</a:t>
            </a:r>
            <a:endParaRPr lang="en-GB" sz="1800" b="1" dirty="0" smtClean="0"/>
          </a:p>
          <a:p>
            <a:pPr lvl="1"/>
            <a:r>
              <a:rPr lang="en-GB" sz="1800" b="1" dirty="0" smtClean="0"/>
              <a:t>Management requirements:</a:t>
            </a:r>
            <a:r>
              <a:rPr lang="en-GB" sz="1800" dirty="0"/>
              <a:t> Upper management must accept the fact that quality is an all-pervasive concept. Upper management must make an effort to see that the entire organization is aware of the quality policies and quality goals. This is achieved by deﬁning and publishing a QMS and putting in place a mechanism for its continual improvement. The QMS of the organization must be supported by upper management with the right kind and quantity of resources</a:t>
            </a:r>
            <a:r>
              <a:rPr lang="en-GB" sz="1800" dirty="0" smtClean="0"/>
              <a:t>.</a:t>
            </a:r>
          </a:p>
          <a:p>
            <a:pPr lvl="1"/>
            <a:r>
              <a:rPr lang="en-GB" sz="1800" b="1" dirty="0"/>
              <a:t>R</a:t>
            </a:r>
            <a:r>
              <a:rPr lang="en-GB" sz="1800" b="1" dirty="0" smtClean="0"/>
              <a:t>esource requirements:</a:t>
            </a:r>
            <a:r>
              <a:rPr lang="en-GB" sz="1800" dirty="0"/>
              <a:t> Resources are key to achieving organizational policies and objectives. Statements of policies and objectives must be backed up with allocation of the right kind and quantity of resources. </a:t>
            </a:r>
            <a:endParaRPr lang="en-GB" sz="1800" dirty="0" smtClean="0"/>
          </a:p>
          <a:p>
            <a:pPr lvl="1"/>
            <a:r>
              <a:rPr lang="en-GB" sz="1800" b="1" dirty="0" smtClean="0"/>
              <a:t>Realization requirements</a:t>
            </a:r>
            <a:r>
              <a:rPr lang="en-GB" sz="1800" b="1" dirty="0"/>
              <a:t>: </a:t>
            </a:r>
            <a:r>
              <a:rPr lang="en-GB" sz="1800" dirty="0"/>
              <a:t>This part deals with processes that transform customer requirements into products. </a:t>
            </a:r>
            <a:endParaRPr lang="en-GB" sz="1800" dirty="0" smtClean="0"/>
          </a:p>
          <a:p>
            <a:pPr lvl="1"/>
            <a:r>
              <a:rPr lang="en-GB" sz="1800" b="1" dirty="0" smtClean="0"/>
              <a:t>Remedial requirements</a:t>
            </a:r>
            <a:r>
              <a:rPr lang="en-GB" sz="1800" b="1" dirty="0"/>
              <a:t>:</a:t>
            </a:r>
            <a:r>
              <a:rPr lang="en-GB" sz="1800" dirty="0"/>
              <a:t> This part is concerned with measurement, analysis of measured data, and continual improvement. Measurement of performance indicators of processes allows one to determine how well a process is performing.</a:t>
            </a:r>
            <a:endParaRPr lang="en-GB" sz="18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23</a:t>
            </a:fld>
            <a:endParaRPr lang="en-US"/>
          </a:p>
        </p:txBody>
      </p:sp>
    </p:spTree>
    <p:extLst>
      <p:ext uri="{BB962C8B-B14F-4D97-AF65-F5344CB8AC3E}">
        <p14:creationId xmlns:p14="http://schemas.microsoft.com/office/powerpoint/2010/main" val="32182838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2693</Words>
  <Application>Microsoft Office PowerPoint</Application>
  <PresentationFormat>On-screen Show (4:3)</PresentationFormat>
  <Paragraphs>223</Paragraphs>
  <Slides>23</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Software Process</vt:lpstr>
      <vt:lpstr>… Software Process</vt:lpstr>
      <vt:lpstr>Process Improvement</vt:lpstr>
      <vt:lpstr>Difference between Models and Standards</vt:lpstr>
      <vt:lpstr>Difference between Standards and Guidelines</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CMM  - Capability Maturity Level</vt:lpstr>
      <vt:lpstr>ISO - SOFTWARE QUALITY STANDARD</vt:lpstr>
      <vt:lpstr>ISO - SOFTWARE QUALITY STANDARD</vt:lpstr>
      <vt:lpstr>ISO 9000 – 8 Principles</vt:lpstr>
      <vt:lpstr>ISO 9001 – 5 kind of Requirements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158</cp:revision>
  <dcterms:created xsi:type="dcterms:W3CDTF">2014-08-12T16:29:38Z</dcterms:created>
  <dcterms:modified xsi:type="dcterms:W3CDTF">2023-10-18T08:29:48Z</dcterms:modified>
</cp:coreProperties>
</file>