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3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985" autoAdjust="0"/>
    <p:restoredTop sz="87092" autoAdjust="0"/>
  </p:normalViewPr>
  <p:slideViewPr>
    <p:cSldViewPr>
      <p:cViewPr varScale="1">
        <p:scale>
          <a:sx n="74" d="100"/>
          <a:sy n="74" d="100"/>
        </p:scale>
        <p:origin x="17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Testing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 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Session 1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/>
              <a:t>TEST </a:t>
            </a:r>
            <a:r>
              <a:rPr lang="en-GB" sz="2800" dirty="0" smtClean="0"/>
              <a:t>ORGANISATION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Test organisation and independence</a:t>
            </a:r>
          </a:p>
          <a:p>
            <a:r>
              <a:rPr lang="en-GB" sz="1800" dirty="0"/>
              <a:t>Independent </a:t>
            </a:r>
            <a:r>
              <a:rPr lang="en-GB" sz="1800" b="1" dirty="0"/>
              <a:t>testing is testing carried out by someone other than the </a:t>
            </a:r>
            <a:r>
              <a:rPr lang="en-GB" sz="1800" b="1" dirty="0" smtClean="0"/>
              <a:t>creator (developer</a:t>
            </a:r>
            <a:r>
              <a:rPr lang="en-GB" sz="1800" b="1" dirty="0"/>
              <a:t>) of the code being tested.</a:t>
            </a:r>
            <a:r>
              <a:rPr lang="en-GB" sz="1800" dirty="0"/>
              <a:t> By remaining independent it is possible </a:t>
            </a:r>
            <a:r>
              <a:rPr lang="en-GB" sz="1800" dirty="0" smtClean="0"/>
              <a:t>to improve </a:t>
            </a:r>
            <a:r>
              <a:rPr lang="en-GB" sz="1800" dirty="0"/>
              <a:t>the </a:t>
            </a:r>
            <a:r>
              <a:rPr lang="en-GB" sz="1800" b="1" dirty="0"/>
              <a:t>effectiveness of testing </a:t>
            </a:r>
            <a:r>
              <a:rPr lang="en-GB" sz="1800" dirty="0"/>
              <a:t>if implemented correctly</a:t>
            </a:r>
            <a:r>
              <a:rPr lang="en-GB" sz="1800" dirty="0" smtClean="0"/>
              <a:t>.</a:t>
            </a:r>
          </a:p>
          <a:p>
            <a:r>
              <a:rPr lang="en-GB" sz="1800" u="sng" dirty="0"/>
              <a:t>This is where independent testing is important, as it is genuinely hard </a:t>
            </a:r>
            <a:r>
              <a:rPr lang="en-GB" sz="1800" u="sng" dirty="0" smtClean="0"/>
              <a:t>for authors </a:t>
            </a:r>
            <a:r>
              <a:rPr lang="en-GB" sz="1800" u="sng" dirty="0"/>
              <a:t>to identify their own errors, but it is easier for others to see them.</a:t>
            </a:r>
          </a:p>
          <a:p>
            <a:r>
              <a:rPr lang="en-GB" sz="1800" dirty="0"/>
              <a:t>There are many options for many levels of independence. In general, the </a:t>
            </a:r>
            <a:r>
              <a:rPr lang="en-GB" sz="1800" dirty="0" smtClean="0"/>
              <a:t>more remote </a:t>
            </a:r>
            <a:r>
              <a:rPr lang="en-GB" sz="1800" dirty="0"/>
              <a:t>a tester is from the production of the document, the greater is the </a:t>
            </a:r>
            <a:r>
              <a:rPr lang="en-GB" sz="1800" dirty="0" smtClean="0"/>
              <a:t>level of </a:t>
            </a:r>
            <a:r>
              <a:rPr lang="en-GB" sz="1800" dirty="0"/>
              <a:t>independence. </a:t>
            </a:r>
            <a:endParaRPr lang="en-GB" sz="1800" dirty="0" smtClean="0"/>
          </a:p>
          <a:p>
            <a:r>
              <a:rPr lang="en-GB" sz="1800" dirty="0" smtClean="0"/>
              <a:t>Figure </a:t>
            </a:r>
            <a:r>
              <a:rPr lang="en-GB" sz="1800" dirty="0"/>
              <a:t>indicates the most common roles and the levels </a:t>
            </a:r>
            <a:r>
              <a:rPr lang="en-GB" sz="1800" dirty="0" smtClean="0"/>
              <a:t>of independence </a:t>
            </a:r>
            <a:r>
              <a:rPr lang="en-GB" sz="1800" dirty="0"/>
              <a:t>they bring</a:t>
            </a:r>
            <a:r>
              <a:rPr lang="en-GB" sz="1800" dirty="0" smtClean="0"/>
              <a:t>. 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71725" y="3409217"/>
            <a:ext cx="52482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6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 ORGANISATION …</a:t>
            </a:r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533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Features of independent </a:t>
            </a:r>
            <a:r>
              <a:rPr lang="en-GB" sz="1800" b="1" dirty="0" smtClean="0"/>
              <a:t>testing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0176" y="1111562"/>
            <a:ext cx="5991224" cy="552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… TEST ORGANISATION …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Tasks of a test leader and </a:t>
            </a:r>
            <a:r>
              <a:rPr lang="en-GB" sz="1600" b="1" dirty="0" smtClean="0"/>
              <a:t>tester – Test Leader</a:t>
            </a:r>
          </a:p>
          <a:p>
            <a:r>
              <a:rPr lang="en-GB" sz="1600" dirty="0" smtClean="0"/>
              <a:t>Coordinating </a:t>
            </a:r>
            <a:r>
              <a:rPr lang="en-GB" sz="1600" dirty="0"/>
              <a:t>the development of the test strategy and plan with </a:t>
            </a:r>
            <a:r>
              <a:rPr lang="en-GB" sz="1600" dirty="0" smtClean="0"/>
              <a:t>project managers </a:t>
            </a:r>
            <a:r>
              <a:rPr lang="en-GB" sz="1600" dirty="0"/>
              <a:t>and others.</a:t>
            </a:r>
          </a:p>
          <a:p>
            <a:r>
              <a:rPr lang="en-GB" sz="1600" dirty="0"/>
              <a:t>Writing or reviewing test strategies produced for the project, and test </a:t>
            </a:r>
            <a:r>
              <a:rPr lang="en-GB" sz="1600" dirty="0" smtClean="0"/>
              <a:t>policies produced </a:t>
            </a:r>
            <a:r>
              <a:rPr lang="en-GB" sz="1600" dirty="0"/>
              <a:t>for the organisation.</a:t>
            </a:r>
          </a:p>
          <a:p>
            <a:r>
              <a:rPr lang="en-GB" sz="1600" dirty="0"/>
              <a:t>Contributing the testing perspective to other project activities, such </a:t>
            </a:r>
            <a:r>
              <a:rPr lang="en-GB" sz="1600" dirty="0" smtClean="0"/>
              <a:t>as development </a:t>
            </a:r>
            <a:r>
              <a:rPr lang="en-GB" sz="1600" dirty="0"/>
              <a:t>delivery schedules.</a:t>
            </a:r>
          </a:p>
          <a:p>
            <a:r>
              <a:rPr lang="en-GB" sz="1600" dirty="0"/>
              <a:t>Planning the development of the required tests – which will </a:t>
            </a:r>
            <a:r>
              <a:rPr lang="en-GB" sz="1600" dirty="0" smtClean="0"/>
              <a:t>include ensuring </a:t>
            </a:r>
            <a:r>
              <a:rPr lang="en-GB" sz="1600" dirty="0"/>
              <a:t>that the development uses the correct understanding of </a:t>
            </a:r>
            <a:r>
              <a:rPr lang="en-GB" sz="1600" dirty="0" smtClean="0"/>
              <a:t>the risks</a:t>
            </a:r>
            <a:r>
              <a:rPr lang="en-GB" sz="1600" dirty="0"/>
              <a:t>, selecting the required test approaches (test levels, cycles, </a:t>
            </a:r>
            <a:r>
              <a:rPr lang="en-GB" sz="1600" dirty="0" smtClean="0"/>
              <a:t>approach, objectives </a:t>
            </a:r>
            <a:r>
              <a:rPr lang="en-GB" sz="1600" dirty="0"/>
              <a:t>and incident management planning), estimating the </a:t>
            </a:r>
            <a:r>
              <a:rPr lang="en-GB" sz="1600" dirty="0" smtClean="0"/>
              <a:t>time and </a:t>
            </a:r>
            <a:r>
              <a:rPr lang="en-GB" sz="1600" dirty="0"/>
              <a:t>effort and converting to the cost of testing and acquiring the </a:t>
            </a:r>
            <a:r>
              <a:rPr lang="en-GB" sz="1600" dirty="0" smtClean="0"/>
              <a:t>right resources</a:t>
            </a:r>
            <a:r>
              <a:rPr lang="en-GB" sz="1600" dirty="0"/>
              <a:t>.</a:t>
            </a:r>
          </a:p>
          <a:p>
            <a:r>
              <a:rPr lang="en-GB" sz="1600" b="1" dirty="0"/>
              <a:t>Managing the specification</a:t>
            </a:r>
            <a:r>
              <a:rPr lang="en-GB" sz="1600" dirty="0"/>
              <a:t>, preparation, implementation and </a:t>
            </a:r>
            <a:r>
              <a:rPr lang="en-GB" sz="1600" dirty="0" smtClean="0"/>
              <a:t>execution of </a:t>
            </a:r>
            <a:r>
              <a:rPr lang="en-GB" sz="1600" dirty="0"/>
              <a:t>tests, including the monitoring and control of all the specification </a:t>
            </a:r>
            <a:r>
              <a:rPr lang="en-GB" sz="1600" dirty="0" smtClean="0"/>
              <a:t>and execution</a:t>
            </a:r>
            <a:r>
              <a:rPr lang="en-GB" sz="1600" dirty="0"/>
              <a:t>.</a:t>
            </a:r>
          </a:p>
          <a:p>
            <a:r>
              <a:rPr lang="en-GB" sz="1600" dirty="0"/>
              <a:t>Taking the required action, including adapting the planning, based on </a:t>
            </a:r>
            <a:r>
              <a:rPr lang="en-GB" sz="1600" dirty="0" smtClean="0"/>
              <a:t>test results </a:t>
            </a:r>
            <a:r>
              <a:rPr lang="en-GB" sz="1600" dirty="0"/>
              <a:t>and progress (sometimes documented in status reports), and </a:t>
            </a:r>
            <a:r>
              <a:rPr lang="en-GB" sz="1600" dirty="0" smtClean="0"/>
              <a:t>any action </a:t>
            </a:r>
            <a:r>
              <a:rPr lang="en-GB" sz="1600" dirty="0"/>
              <a:t>necessary to compensate for problems or delays.</a:t>
            </a:r>
          </a:p>
          <a:p>
            <a:r>
              <a:rPr lang="en-GB" sz="1600" dirty="0"/>
              <a:t>Ensuring that adequate </a:t>
            </a:r>
            <a:r>
              <a:rPr lang="en-GB" sz="1600" b="1" dirty="0"/>
              <a:t>configuration management </a:t>
            </a:r>
            <a:r>
              <a:rPr lang="en-GB" sz="1600" dirty="0"/>
              <a:t>of </a:t>
            </a:r>
            <a:r>
              <a:rPr lang="en-GB" sz="1600" dirty="0" err="1"/>
              <a:t>testware</a:t>
            </a:r>
            <a:r>
              <a:rPr lang="en-GB" sz="1600" dirty="0"/>
              <a:t> is in </a:t>
            </a:r>
            <a:r>
              <a:rPr lang="en-GB" sz="1600" dirty="0" smtClean="0"/>
              <a:t>place and </a:t>
            </a:r>
            <a:r>
              <a:rPr lang="en-GB" sz="1600" dirty="0"/>
              <a:t>that the </a:t>
            </a:r>
            <a:r>
              <a:rPr lang="en-GB" sz="1600" dirty="0" err="1"/>
              <a:t>testware</a:t>
            </a:r>
            <a:r>
              <a:rPr lang="en-GB" sz="1600" dirty="0"/>
              <a:t> is fully traceable, e.g. there is a hierarchical </a:t>
            </a:r>
            <a:r>
              <a:rPr lang="en-GB" sz="1600" dirty="0" smtClean="0"/>
              <a:t>relationship established </a:t>
            </a:r>
            <a:r>
              <a:rPr lang="en-GB" sz="1600" dirty="0"/>
              <a:t>between the requirements and the detailed </a:t>
            </a:r>
            <a:r>
              <a:rPr lang="en-GB" sz="1600" dirty="0" smtClean="0"/>
              <a:t>specification documents</a:t>
            </a:r>
            <a:r>
              <a:rPr lang="en-GB" sz="1600" dirty="0"/>
              <a:t>.</a:t>
            </a:r>
          </a:p>
          <a:p>
            <a:r>
              <a:rPr lang="en-GB" sz="1600" dirty="0"/>
              <a:t>Putting in place suitable metrics for measuring test progress and </a:t>
            </a:r>
            <a:r>
              <a:rPr lang="en-GB" sz="1600" dirty="0" smtClean="0"/>
              <a:t>evaluating the </a:t>
            </a:r>
            <a:r>
              <a:rPr lang="en-GB" sz="1600" dirty="0"/>
              <a:t>quality of the testing delivered and the product.</a:t>
            </a:r>
          </a:p>
          <a:p>
            <a:r>
              <a:rPr lang="en-GB" sz="1600" dirty="0"/>
              <a:t>Agreeing what should be automated, to what degree, and how, ensuring it </a:t>
            </a:r>
            <a:r>
              <a:rPr lang="en-GB" sz="1600" dirty="0" smtClean="0"/>
              <a:t>is implemented </a:t>
            </a:r>
            <a:r>
              <a:rPr lang="en-GB" sz="1600" dirty="0"/>
              <a:t>as planned.</a:t>
            </a:r>
          </a:p>
          <a:p>
            <a:r>
              <a:rPr lang="en-GB" sz="1600" dirty="0"/>
              <a:t>Where required, selecting tools to support testing and ensuring any </a:t>
            </a:r>
            <a:r>
              <a:rPr lang="en-GB" sz="1600" dirty="0" smtClean="0"/>
              <a:t>tool training </a:t>
            </a:r>
            <a:r>
              <a:rPr lang="en-GB" sz="1600" dirty="0"/>
              <a:t>requirements are met.</a:t>
            </a:r>
          </a:p>
          <a:p>
            <a:r>
              <a:rPr lang="en-GB" sz="1600" dirty="0"/>
              <a:t>Agreeing the structure and implementation of the test environment.</a:t>
            </a:r>
          </a:p>
          <a:p>
            <a:r>
              <a:rPr lang="en-GB" sz="1600" dirty="0" smtClean="0"/>
              <a:t>Writing </a:t>
            </a:r>
            <a:r>
              <a:rPr lang="en-GB" sz="1600" dirty="0"/>
              <a:t>a test summary report based on </a:t>
            </a:r>
            <a:r>
              <a:rPr lang="en-GB" sz="1600" dirty="0" smtClean="0"/>
              <a:t>the information </a:t>
            </a:r>
            <a:r>
              <a:rPr lang="en-GB" sz="1600" dirty="0"/>
              <a:t>gathered during </a:t>
            </a:r>
            <a:r>
              <a:rPr lang="en-GB" sz="1600" dirty="0" smtClean="0"/>
              <a:t>testing, at the end of project.</a:t>
            </a:r>
          </a:p>
          <a:p>
            <a:r>
              <a:rPr lang="en-GB" sz="1600" dirty="0"/>
              <a:t>Scheduling all testing activity.</a:t>
            </a:r>
          </a:p>
          <a:p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98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… TEST ORGANISATION …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Tasks of a test leader and </a:t>
            </a:r>
            <a:r>
              <a:rPr lang="en-GB" sz="1600" b="1" dirty="0" smtClean="0"/>
              <a:t>tester – Tester</a:t>
            </a:r>
          </a:p>
          <a:p>
            <a:r>
              <a:rPr lang="en-GB" sz="1600" dirty="0"/>
              <a:t>Reviewing and contributing to the development of test plans.</a:t>
            </a:r>
          </a:p>
          <a:p>
            <a:r>
              <a:rPr lang="en-GB" sz="1600" dirty="0"/>
              <a:t>Analysing, reviewing and assessing user requirements, specifications </a:t>
            </a:r>
            <a:r>
              <a:rPr lang="en-GB" sz="1600" dirty="0" smtClean="0"/>
              <a:t>and models </a:t>
            </a:r>
            <a:r>
              <a:rPr lang="en-GB" sz="1600" dirty="0"/>
              <a:t>for testability.</a:t>
            </a:r>
          </a:p>
          <a:p>
            <a:r>
              <a:rPr lang="en-GB" sz="1600" dirty="0"/>
              <a:t>Creating test specifications from the </a:t>
            </a:r>
            <a:r>
              <a:rPr lang="en-GB" sz="1600" b="1" dirty="0"/>
              <a:t>test basis.</a:t>
            </a:r>
          </a:p>
          <a:p>
            <a:r>
              <a:rPr lang="en-GB" sz="1600" dirty="0"/>
              <a:t>Setting up the test environment (often coordinating with </a:t>
            </a:r>
            <a:r>
              <a:rPr lang="en-GB" sz="1600" dirty="0" smtClean="0"/>
              <a:t>system administration </a:t>
            </a:r>
            <a:r>
              <a:rPr lang="en-GB" sz="1600" dirty="0"/>
              <a:t>and network management). </a:t>
            </a:r>
            <a:endParaRPr lang="en-GB" sz="1600" dirty="0" smtClean="0"/>
          </a:p>
          <a:p>
            <a:r>
              <a:rPr lang="en-GB" sz="1600" b="1" dirty="0" smtClean="0"/>
              <a:t>In </a:t>
            </a:r>
            <a:r>
              <a:rPr lang="en-GB" sz="1600" b="1" dirty="0"/>
              <a:t>some organisations </a:t>
            </a:r>
            <a:r>
              <a:rPr lang="en-GB" sz="1600" b="1" dirty="0" smtClean="0"/>
              <a:t>the setting </a:t>
            </a:r>
            <a:r>
              <a:rPr lang="en-GB" sz="1600" b="1" dirty="0"/>
              <a:t>up and management of the test environment could be </a:t>
            </a:r>
            <a:r>
              <a:rPr lang="en-GB" sz="1600" b="1" dirty="0" smtClean="0"/>
              <a:t>centrally controlled</a:t>
            </a:r>
            <a:r>
              <a:rPr lang="en-GB" sz="1600" b="1" dirty="0"/>
              <a:t>; </a:t>
            </a:r>
            <a:r>
              <a:rPr lang="en-GB" sz="1600" dirty="0"/>
              <a:t>in this situation a tester would directly liaise with </a:t>
            </a:r>
            <a:r>
              <a:rPr lang="en-GB" sz="1600" dirty="0" smtClean="0"/>
              <a:t>the environment </a:t>
            </a:r>
            <a:r>
              <a:rPr lang="en-GB" sz="1600" dirty="0"/>
              <a:t>management to ensure the test environment is </a:t>
            </a:r>
            <a:r>
              <a:rPr lang="en-GB" sz="1600" dirty="0" smtClean="0"/>
              <a:t>delivered on </a:t>
            </a:r>
            <a:r>
              <a:rPr lang="en-GB" sz="1600" dirty="0"/>
              <a:t>time and to specification</a:t>
            </a:r>
            <a:r>
              <a:rPr lang="en-GB" sz="1600" dirty="0" smtClean="0"/>
              <a:t>.</a:t>
            </a:r>
          </a:p>
          <a:p>
            <a:r>
              <a:rPr lang="en-GB" sz="1600" b="1" dirty="0"/>
              <a:t>Preparing and acquiring/copying/creating test data.</a:t>
            </a:r>
          </a:p>
          <a:p>
            <a:r>
              <a:rPr lang="en-GB" sz="1600" b="1" dirty="0"/>
              <a:t>Implementing tests on all test levels, executing and logging the </a:t>
            </a:r>
            <a:r>
              <a:rPr lang="en-GB" sz="1600" b="1" dirty="0" smtClean="0"/>
              <a:t>tests, evaluating </a:t>
            </a:r>
            <a:r>
              <a:rPr lang="en-GB" sz="1600" b="1" dirty="0"/>
              <a:t>the results and documenting the deviations from </a:t>
            </a:r>
            <a:r>
              <a:rPr lang="en-GB" sz="1600" b="1" dirty="0" smtClean="0"/>
              <a:t>expected results </a:t>
            </a:r>
            <a:r>
              <a:rPr lang="en-GB" sz="1600" b="1" dirty="0"/>
              <a:t>as defects.</a:t>
            </a:r>
          </a:p>
          <a:p>
            <a:r>
              <a:rPr lang="en-GB" sz="1600" b="1" dirty="0"/>
              <a:t>Using test administration or management and test monitoring tools </a:t>
            </a:r>
            <a:r>
              <a:rPr lang="en-GB" sz="1600" b="1" dirty="0" smtClean="0"/>
              <a:t>as required</a:t>
            </a:r>
            <a:r>
              <a:rPr lang="en-GB" sz="1600" b="1" dirty="0"/>
              <a:t>.</a:t>
            </a:r>
          </a:p>
          <a:p>
            <a:r>
              <a:rPr lang="en-GB" sz="1600" b="1" dirty="0"/>
              <a:t>Automating tests (may be supported by a developer or a test </a:t>
            </a:r>
            <a:r>
              <a:rPr lang="en-GB" sz="1600" b="1" dirty="0" smtClean="0"/>
              <a:t>automation expert</a:t>
            </a:r>
            <a:r>
              <a:rPr lang="en-GB" sz="1600" b="1" dirty="0"/>
              <a:t>).</a:t>
            </a:r>
          </a:p>
          <a:p>
            <a:r>
              <a:rPr lang="en-GB" sz="1600" dirty="0"/>
              <a:t>Where required, running the tests and measuring the performance </a:t>
            </a:r>
            <a:r>
              <a:rPr lang="en-GB" sz="1600" dirty="0" smtClean="0"/>
              <a:t>of components </a:t>
            </a:r>
            <a:r>
              <a:rPr lang="en-GB" sz="1600" dirty="0"/>
              <a:t>and systems (if applicable).</a:t>
            </a:r>
          </a:p>
          <a:p>
            <a:r>
              <a:rPr lang="en-GB" sz="1600" b="1" dirty="0"/>
              <a:t>Reviewing tests developed by other testers.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05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APPROACHES (TEST STRATEGIES)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r>
              <a:rPr lang="en-GB" sz="1600" dirty="0"/>
              <a:t>A test approach is the implementation of a test strategy on a particular project.</a:t>
            </a:r>
          </a:p>
          <a:p>
            <a:r>
              <a:rPr lang="en-GB" sz="1600" dirty="0"/>
              <a:t>The test approach defines </a:t>
            </a:r>
            <a:r>
              <a:rPr lang="en-GB" sz="1600" b="1" dirty="0"/>
              <a:t>how testing will be implemented. </a:t>
            </a:r>
            <a:r>
              <a:rPr lang="en-GB" sz="1600" dirty="0"/>
              <a:t>A test approach </a:t>
            </a:r>
            <a:r>
              <a:rPr lang="en-GB" sz="1600" dirty="0" smtClean="0"/>
              <a:t>can reflect </a:t>
            </a:r>
            <a:r>
              <a:rPr lang="en-GB" sz="1600" dirty="0"/>
              <a:t>testing for a whole organisation, a programme of work or an </a:t>
            </a:r>
            <a:r>
              <a:rPr lang="en-GB" sz="1600" dirty="0" smtClean="0"/>
              <a:t>individual project.</a:t>
            </a:r>
          </a:p>
          <a:p>
            <a:r>
              <a:rPr lang="en-GB" sz="1600" dirty="0" smtClean="0"/>
              <a:t>It </a:t>
            </a:r>
            <a:r>
              <a:rPr lang="en-GB" sz="1600" dirty="0"/>
              <a:t>can be:</a:t>
            </a:r>
          </a:p>
          <a:p>
            <a:pPr lvl="1"/>
            <a:r>
              <a:rPr lang="en-GB" sz="1600" b="1" dirty="0"/>
              <a:t>developed early in the life cycle, </a:t>
            </a:r>
            <a:r>
              <a:rPr lang="en-GB" sz="1600" dirty="0"/>
              <a:t>which is known as </a:t>
            </a:r>
            <a:r>
              <a:rPr lang="en-GB" sz="1600" b="1" u="sng" dirty="0"/>
              <a:t>preventative</a:t>
            </a:r>
            <a:r>
              <a:rPr lang="en-GB" sz="1600" dirty="0"/>
              <a:t> – in </a:t>
            </a:r>
            <a:r>
              <a:rPr lang="en-GB" sz="1600" dirty="0" smtClean="0"/>
              <a:t>this approach </a:t>
            </a:r>
            <a:r>
              <a:rPr lang="en-GB" sz="1600" dirty="0"/>
              <a:t>the test design process is initiated as early as possible in the </a:t>
            </a:r>
            <a:r>
              <a:rPr lang="en-GB" sz="1600" dirty="0" smtClean="0"/>
              <a:t>life cycle </a:t>
            </a:r>
            <a:r>
              <a:rPr lang="en-GB" sz="1600" dirty="0"/>
              <a:t>to stop defects being built into the final </a:t>
            </a:r>
            <a:r>
              <a:rPr lang="en-GB" sz="1600" dirty="0" smtClean="0"/>
              <a:t>solution; </a:t>
            </a:r>
          </a:p>
          <a:p>
            <a:pPr lvl="1"/>
            <a:r>
              <a:rPr lang="en-GB" sz="1600" dirty="0" smtClean="0"/>
              <a:t>left </a:t>
            </a:r>
            <a:r>
              <a:rPr lang="en-GB" sz="1600" dirty="0"/>
              <a:t>until just before the start of test execution, which is known </a:t>
            </a:r>
            <a:r>
              <a:rPr lang="en-GB" sz="1600" dirty="0" smtClean="0"/>
              <a:t>as </a:t>
            </a:r>
            <a:r>
              <a:rPr lang="en-GB" sz="1600" b="1" u="sng" dirty="0" smtClean="0"/>
              <a:t>reactive</a:t>
            </a:r>
            <a:r>
              <a:rPr lang="en-GB" sz="1600" dirty="0" smtClean="0"/>
              <a:t> </a:t>
            </a:r>
            <a:r>
              <a:rPr lang="en-GB" sz="1600" dirty="0"/>
              <a:t>– this is where testing is the last development stage and is </a:t>
            </a:r>
            <a:r>
              <a:rPr lang="en-GB" sz="1600" dirty="0" smtClean="0"/>
              <a:t>not started </a:t>
            </a:r>
            <a:r>
              <a:rPr lang="en-GB" sz="1600" dirty="0"/>
              <a:t>until after design and coding has been completed (sometimes it </a:t>
            </a:r>
            <a:r>
              <a:rPr lang="en-GB" sz="1600" dirty="0" smtClean="0"/>
              <a:t>is identified </a:t>
            </a:r>
            <a:r>
              <a:rPr lang="en-GB" sz="1600" dirty="0"/>
              <a:t>as the waterfall approach, i.e. all development stages </a:t>
            </a:r>
            <a:r>
              <a:rPr lang="en-GB" sz="1600" dirty="0" smtClean="0"/>
              <a:t>are sequential</a:t>
            </a:r>
            <a:r>
              <a:rPr lang="en-GB" sz="1600" dirty="0"/>
              <a:t>, the next not starting until the previous one has nearly finished).</a:t>
            </a:r>
          </a:p>
          <a:p>
            <a:r>
              <a:rPr lang="en-GB" sz="1600" dirty="0"/>
              <a:t>A test approach includes all of the decisions made on how testing should </a:t>
            </a:r>
            <a:r>
              <a:rPr lang="en-GB" sz="1600" dirty="0" smtClean="0"/>
              <a:t>be implemented</a:t>
            </a:r>
            <a:r>
              <a:rPr lang="en-GB" sz="1600" dirty="0"/>
              <a:t>, based upon the (test) project goals and objectives, as well as </a:t>
            </a:r>
            <a:r>
              <a:rPr lang="en-GB" sz="1600" dirty="0" smtClean="0"/>
              <a:t>the </a:t>
            </a:r>
            <a:r>
              <a:rPr lang="en-GB" sz="1600" b="1" dirty="0" smtClean="0"/>
              <a:t>risk </a:t>
            </a:r>
            <a:r>
              <a:rPr lang="en-GB" sz="1600" b="1" dirty="0"/>
              <a:t>assessment. </a:t>
            </a:r>
            <a:endParaRPr lang="en-GB" sz="1600" b="1" dirty="0" smtClean="0"/>
          </a:p>
          <a:p>
            <a:r>
              <a:rPr lang="en-GB" sz="1600" dirty="0" smtClean="0"/>
              <a:t>It </a:t>
            </a:r>
            <a:r>
              <a:rPr lang="en-GB" sz="1600" dirty="0"/>
              <a:t>forms the starting point for test planning, selecting the </a:t>
            </a:r>
            <a:r>
              <a:rPr lang="en-GB" sz="1600" dirty="0" smtClean="0"/>
              <a:t>test design </a:t>
            </a:r>
            <a:r>
              <a:rPr lang="en-GB" sz="1600" dirty="0"/>
              <a:t>techniques and test types to be employed. It should also define </a:t>
            </a:r>
            <a:r>
              <a:rPr lang="en-GB" sz="1600" dirty="0" smtClean="0"/>
              <a:t>the software </a:t>
            </a:r>
            <a:r>
              <a:rPr lang="en-GB" sz="1600" dirty="0"/>
              <a:t>and test entry and exit criteria.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39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APPROACHES (TEST STRATEGIES)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r>
              <a:rPr lang="en-GB" sz="1600" b="1" dirty="0"/>
              <a:t>There are many approaches or strategies that can be employed. All will depend </a:t>
            </a:r>
            <a:r>
              <a:rPr lang="en-GB" sz="1600" b="1" dirty="0" smtClean="0"/>
              <a:t>on the </a:t>
            </a:r>
            <a:r>
              <a:rPr lang="en-GB" sz="1600" b="1" dirty="0"/>
              <a:t>context within which the test team is working, and may consider risks, </a:t>
            </a:r>
            <a:r>
              <a:rPr lang="en-GB" sz="1600" b="1" dirty="0" smtClean="0"/>
              <a:t>hazards and </a:t>
            </a:r>
            <a:r>
              <a:rPr lang="en-GB" sz="1600" b="1" dirty="0"/>
              <a:t>safety, available resources and skills, the technology, the nature of the </a:t>
            </a:r>
            <a:r>
              <a:rPr lang="en-GB" sz="1600" b="1" dirty="0" smtClean="0"/>
              <a:t>system (e.g</a:t>
            </a:r>
            <a:r>
              <a:rPr lang="en-GB" sz="1600" b="1" dirty="0"/>
              <a:t>. custom </a:t>
            </a:r>
            <a:r>
              <a:rPr lang="en-GB" sz="1600" b="1" dirty="0" smtClean="0"/>
              <a:t>built), </a:t>
            </a:r>
            <a:r>
              <a:rPr lang="en-GB" sz="1600" b="1" dirty="0"/>
              <a:t>test objectives and regulations, </a:t>
            </a:r>
            <a:r>
              <a:rPr lang="en-GB" sz="1600" dirty="0"/>
              <a:t>and may include</a:t>
            </a:r>
            <a:r>
              <a:rPr lang="en-GB" sz="1600" dirty="0" smtClean="0"/>
              <a:t>:</a:t>
            </a:r>
            <a:endParaRPr lang="en-GB" sz="1600" dirty="0"/>
          </a:p>
          <a:p>
            <a:pPr lvl="1"/>
            <a:r>
              <a:rPr lang="en-GB" sz="1600" b="1" u="sng" dirty="0"/>
              <a:t>Analytical approaches </a:t>
            </a:r>
            <a:r>
              <a:rPr lang="en-GB" sz="1600" dirty="0"/>
              <a:t>such as risk-based testing where testing is directed </a:t>
            </a:r>
            <a:r>
              <a:rPr lang="en-GB" sz="1600" dirty="0" smtClean="0"/>
              <a:t>to areas </a:t>
            </a:r>
            <a:r>
              <a:rPr lang="en-GB" sz="1600" dirty="0"/>
              <a:t>of greatest </a:t>
            </a:r>
            <a:r>
              <a:rPr lang="en-GB" sz="1600" dirty="0" smtClean="0"/>
              <a:t>risk.</a:t>
            </a:r>
            <a:endParaRPr lang="en-GB" sz="1600" dirty="0"/>
          </a:p>
          <a:p>
            <a:pPr lvl="1"/>
            <a:r>
              <a:rPr lang="en-GB" sz="1600" b="1" u="sng" dirty="0"/>
              <a:t>Model-based approaches </a:t>
            </a:r>
            <a:r>
              <a:rPr lang="en-GB" sz="1600" dirty="0"/>
              <a:t>such as stochastic testing using statistical </a:t>
            </a:r>
            <a:r>
              <a:rPr lang="en-GB" sz="1600" dirty="0" smtClean="0"/>
              <a:t>information about </a:t>
            </a:r>
            <a:r>
              <a:rPr lang="en-GB" sz="1600" dirty="0"/>
              <a:t>failure rates (such as reliability growth models) or usage (such </a:t>
            </a:r>
            <a:r>
              <a:rPr lang="en-GB" sz="1600" dirty="0" smtClean="0"/>
              <a:t>as operational </a:t>
            </a:r>
            <a:r>
              <a:rPr lang="en-GB" sz="1600" dirty="0"/>
              <a:t>profiles).</a:t>
            </a:r>
          </a:p>
          <a:p>
            <a:pPr lvl="1"/>
            <a:r>
              <a:rPr lang="en-GB" sz="1600" b="1" dirty="0"/>
              <a:t>Methodical approaches, such as failure-based (including error guessing </a:t>
            </a:r>
            <a:r>
              <a:rPr lang="en-GB" sz="1600" b="1" dirty="0" smtClean="0"/>
              <a:t>and fault </a:t>
            </a:r>
            <a:r>
              <a:rPr lang="en-GB" sz="1600" b="1" dirty="0"/>
              <a:t>attacks), checklist based and quality-characteristic based.</a:t>
            </a:r>
          </a:p>
          <a:p>
            <a:pPr lvl="1"/>
            <a:r>
              <a:rPr lang="en-GB" sz="1600" b="1" u="sng" dirty="0"/>
              <a:t>Standard-compliant approaches</a:t>
            </a:r>
            <a:r>
              <a:rPr lang="en-GB" sz="1600" dirty="0"/>
              <a:t>, specified by industry-specific standards </a:t>
            </a:r>
            <a:r>
              <a:rPr lang="en-GB" sz="1600" dirty="0" smtClean="0"/>
              <a:t>such as </a:t>
            </a:r>
            <a:r>
              <a:rPr lang="en-GB" sz="1600" dirty="0"/>
              <a:t>The Railway Signalling standards (which define the levels of </a:t>
            </a:r>
            <a:r>
              <a:rPr lang="en-GB" sz="1600" dirty="0" smtClean="0"/>
              <a:t>testing required</a:t>
            </a:r>
            <a:r>
              <a:rPr lang="en-GB" sz="1600" dirty="0"/>
              <a:t>) or the MISRA (which defines how to design, build and test </a:t>
            </a:r>
            <a:r>
              <a:rPr lang="en-GB" sz="1600" dirty="0" smtClean="0"/>
              <a:t>reliable software </a:t>
            </a:r>
            <a:r>
              <a:rPr lang="en-GB" sz="1600" dirty="0"/>
              <a:t>for the motor industry).</a:t>
            </a:r>
          </a:p>
          <a:p>
            <a:pPr lvl="1"/>
            <a:r>
              <a:rPr lang="en-GB" sz="1600" b="1" u="sng" dirty="0"/>
              <a:t>Process-compliant approaches</a:t>
            </a:r>
            <a:r>
              <a:rPr lang="en-GB" sz="1600" dirty="0"/>
              <a:t>, which adhere to the processes developed </a:t>
            </a:r>
            <a:r>
              <a:rPr lang="en-GB" sz="1600" dirty="0" smtClean="0"/>
              <a:t>for use </a:t>
            </a:r>
            <a:r>
              <a:rPr lang="en-GB" sz="1600" dirty="0"/>
              <a:t>with the various agile methodologies or traditional waterfall approaches.</a:t>
            </a:r>
          </a:p>
          <a:p>
            <a:pPr lvl="1"/>
            <a:r>
              <a:rPr lang="en-GB" sz="1600" b="1" u="sng" dirty="0"/>
              <a:t>Dynamic and heuristic approaches</a:t>
            </a:r>
            <a:r>
              <a:rPr lang="en-GB" sz="1600" dirty="0"/>
              <a:t>, such as exploratory testing (</a:t>
            </a:r>
            <a:r>
              <a:rPr lang="en-GB" sz="1600" dirty="0" smtClean="0"/>
              <a:t>see Chapter </a:t>
            </a:r>
            <a:r>
              <a:rPr lang="en-GB" sz="1600" dirty="0"/>
              <a:t>4) where testing is more reactive to events than pre-planned, </a:t>
            </a:r>
            <a:r>
              <a:rPr lang="en-GB" sz="1600" dirty="0" smtClean="0"/>
              <a:t>and where </a:t>
            </a:r>
            <a:r>
              <a:rPr lang="en-GB" sz="1600" dirty="0"/>
              <a:t>execution and evaluation are concurrent tasks.</a:t>
            </a:r>
          </a:p>
          <a:p>
            <a:pPr lvl="1"/>
            <a:r>
              <a:rPr lang="en-GB" sz="1600" b="1" u="sng" dirty="0"/>
              <a:t>Consultative approaches</a:t>
            </a:r>
            <a:r>
              <a:rPr lang="en-GB" sz="1600" dirty="0"/>
              <a:t>, such as those where test coverage is </a:t>
            </a:r>
            <a:r>
              <a:rPr lang="en-GB" sz="1600" dirty="0" smtClean="0"/>
              <a:t>driven primarily </a:t>
            </a:r>
            <a:r>
              <a:rPr lang="en-GB" sz="1600" dirty="0"/>
              <a:t>by the advice and guidance of technology and/or business </a:t>
            </a:r>
            <a:r>
              <a:rPr lang="en-GB" sz="1600" dirty="0" smtClean="0"/>
              <a:t>domain experts </a:t>
            </a:r>
            <a:r>
              <a:rPr lang="en-GB" sz="1600" dirty="0"/>
              <a:t>outside or within the test team.</a:t>
            </a:r>
          </a:p>
          <a:p>
            <a:pPr lvl="1"/>
            <a:r>
              <a:rPr lang="en-GB" sz="1600" b="1" u="sng" dirty="0"/>
              <a:t>Regression-averse approaches, </a:t>
            </a:r>
            <a:r>
              <a:rPr lang="en-GB" sz="1600" dirty="0"/>
              <a:t>such as those that include reuse of </a:t>
            </a:r>
            <a:r>
              <a:rPr lang="en-GB" sz="1600" dirty="0" smtClean="0"/>
              <a:t>existing test </a:t>
            </a:r>
            <a:r>
              <a:rPr lang="en-GB" sz="1600" dirty="0"/>
              <a:t>material, extensive automation of functional regression tests, and </a:t>
            </a:r>
            <a:r>
              <a:rPr lang="en-GB" sz="1600" dirty="0" smtClean="0"/>
              <a:t>standard test </a:t>
            </a:r>
            <a:r>
              <a:rPr lang="en-GB" sz="1600" dirty="0"/>
              <a:t>suites.</a:t>
            </a:r>
          </a:p>
          <a:p>
            <a:pPr lvl="1"/>
            <a:r>
              <a:rPr lang="en-GB" sz="1600" b="1" u="sng" dirty="0"/>
              <a:t>Different approaches may be combined if required</a:t>
            </a:r>
            <a:r>
              <a:rPr lang="en-GB" sz="1600" dirty="0"/>
              <a:t>. The decision as to how </a:t>
            </a:r>
            <a:r>
              <a:rPr lang="en-GB" sz="1600" dirty="0" smtClean="0"/>
              <a:t>and why </a:t>
            </a:r>
            <a:r>
              <a:rPr lang="en-GB" sz="1600" dirty="0"/>
              <a:t>they will be combined will depend on the circumstances prevalent in </a:t>
            </a:r>
            <a:r>
              <a:rPr lang="en-GB" sz="1600" dirty="0" smtClean="0"/>
              <a:t>a project </a:t>
            </a:r>
            <a:r>
              <a:rPr lang="en-GB" sz="1600" dirty="0"/>
              <a:t>at the time.</a:t>
            </a:r>
          </a:p>
          <a:p>
            <a:endParaRPr lang="en-GB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6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APPROACHES (TEST STRATEGIES)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r>
              <a:rPr lang="en-GB" sz="1600" dirty="0" smtClean="0"/>
              <a:t>The </a:t>
            </a:r>
            <a:r>
              <a:rPr lang="en-GB" sz="1600" dirty="0"/>
              <a:t>following factors should </a:t>
            </a:r>
            <a:r>
              <a:rPr lang="en-GB" sz="1600" dirty="0" smtClean="0"/>
              <a:t>be considered </a:t>
            </a:r>
            <a:r>
              <a:rPr lang="en-GB" sz="1600" dirty="0"/>
              <a:t>when defining the strategy or approach:</a:t>
            </a:r>
          </a:p>
          <a:p>
            <a:pPr lvl="1"/>
            <a:r>
              <a:rPr lang="en-GB" sz="1600" dirty="0"/>
              <a:t>Risk of failure of the project, hazards to the product and risks of </a:t>
            </a:r>
            <a:r>
              <a:rPr lang="en-GB" sz="1600" dirty="0" smtClean="0"/>
              <a:t>product failure </a:t>
            </a:r>
            <a:r>
              <a:rPr lang="en-GB" sz="1600" dirty="0"/>
              <a:t>to humans, the environment and the company, e.g. the cost of </a:t>
            </a:r>
            <a:r>
              <a:rPr lang="en-GB" sz="1600" dirty="0" smtClean="0"/>
              <a:t>failure would </a:t>
            </a:r>
            <a:r>
              <a:rPr lang="en-GB" sz="1600" dirty="0"/>
              <a:t>be too high (safety-critical environments).</a:t>
            </a:r>
          </a:p>
          <a:p>
            <a:pPr lvl="1"/>
            <a:r>
              <a:rPr lang="en-GB" sz="1600" dirty="0"/>
              <a:t>Skills and experience of the people in the proposed techniques, tools </a:t>
            </a:r>
            <a:r>
              <a:rPr lang="en-GB" sz="1600" dirty="0" smtClean="0"/>
              <a:t>and methods</a:t>
            </a:r>
            <a:r>
              <a:rPr lang="en-GB" sz="1600" dirty="0"/>
              <a:t>. </a:t>
            </a:r>
            <a:endParaRPr lang="en-GB" sz="1600" dirty="0" smtClean="0"/>
          </a:p>
          <a:p>
            <a:pPr lvl="1"/>
            <a:r>
              <a:rPr lang="en-GB" sz="1600" dirty="0" smtClean="0"/>
              <a:t>There </a:t>
            </a:r>
            <a:r>
              <a:rPr lang="en-GB" sz="1600" dirty="0"/>
              <a:t>is no point in implementing a sophisticated </a:t>
            </a:r>
            <a:r>
              <a:rPr lang="en-GB" sz="1600" dirty="0" smtClean="0"/>
              <a:t>component-level, technique-driven </a:t>
            </a:r>
            <a:r>
              <a:rPr lang="en-GB" sz="1600" dirty="0"/>
              <a:t>approach or strategy when the only resources available </a:t>
            </a:r>
            <a:r>
              <a:rPr lang="en-GB" sz="1600" dirty="0" smtClean="0"/>
              <a:t>are business </a:t>
            </a:r>
            <a:r>
              <a:rPr lang="en-GB" sz="1600" dirty="0"/>
              <a:t>users with no technical grounding.</a:t>
            </a:r>
          </a:p>
          <a:p>
            <a:pPr lvl="1"/>
            <a:r>
              <a:rPr lang="en-GB" sz="1600" dirty="0"/>
              <a:t>The objective of the testing endeavour and the mission of the testing </a:t>
            </a:r>
            <a:r>
              <a:rPr lang="en-GB" sz="1600" dirty="0" smtClean="0"/>
              <a:t>team, e.g</a:t>
            </a:r>
            <a:r>
              <a:rPr lang="en-GB" sz="1600" dirty="0"/>
              <a:t>. if the objective is to find only the most serious defects.</a:t>
            </a:r>
          </a:p>
          <a:p>
            <a:pPr lvl="1"/>
            <a:r>
              <a:rPr lang="en-GB" sz="1600" dirty="0"/>
              <a:t>Regulatory aspects, such as external and internal regulations for </a:t>
            </a:r>
            <a:r>
              <a:rPr lang="en-GB" sz="1600" dirty="0" smtClean="0"/>
              <a:t>the development </a:t>
            </a:r>
            <a:r>
              <a:rPr lang="en-GB" sz="1600" dirty="0"/>
              <a:t>process, e.g. The Railway Signalling standards that enforce </a:t>
            </a:r>
            <a:r>
              <a:rPr lang="en-GB" sz="1600" dirty="0" smtClean="0"/>
              <a:t>a given </a:t>
            </a:r>
            <a:r>
              <a:rPr lang="en-GB" sz="1600" dirty="0"/>
              <a:t>level of test quality.</a:t>
            </a:r>
          </a:p>
          <a:p>
            <a:pPr lvl="1"/>
            <a:r>
              <a:rPr lang="en-GB" sz="1600" dirty="0"/>
              <a:t>The nature of the product and the business, e.g. a different approach </a:t>
            </a:r>
            <a:r>
              <a:rPr lang="en-GB" sz="1600" dirty="0" smtClean="0"/>
              <a:t>is required </a:t>
            </a:r>
            <a:r>
              <a:rPr lang="en-GB" sz="1600" dirty="0"/>
              <a:t>for testing mobile phone coverage than for testing an online </a:t>
            </a:r>
            <a:r>
              <a:rPr lang="en-GB" sz="1600" dirty="0" smtClean="0"/>
              <a:t>banking operation</a:t>
            </a:r>
            <a:r>
              <a:rPr lang="en-GB" sz="16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24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PLANNING 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Test planning</a:t>
            </a:r>
          </a:p>
          <a:p>
            <a:r>
              <a:rPr lang="en-GB" sz="1600" dirty="0"/>
              <a:t>Test planning is the most important activity undertaken by a test leader in </a:t>
            </a:r>
            <a:r>
              <a:rPr lang="en-GB" sz="1600" dirty="0" smtClean="0"/>
              <a:t>any test </a:t>
            </a:r>
            <a:r>
              <a:rPr lang="en-GB" sz="1600" dirty="0"/>
              <a:t>project</a:t>
            </a:r>
            <a:r>
              <a:rPr lang="en-GB" sz="1600" dirty="0" smtClean="0"/>
              <a:t>.</a:t>
            </a:r>
          </a:p>
          <a:p>
            <a:r>
              <a:rPr lang="en-GB" sz="1600" dirty="0" smtClean="0"/>
              <a:t>It </a:t>
            </a:r>
            <a:r>
              <a:rPr lang="en-GB" sz="1600" dirty="0"/>
              <a:t>ensures that there is initially a list of tasks and milestones in </a:t>
            </a:r>
            <a:r>
              <a:rPr lang="en-GB" sz="1600" dirty="0" smtClean="0"/>
              <a:t>a baseline </a:t>
            </a:r>
            <a:r>
              <a:rPr lang="en-GB" sz="1600" dirty="0"/>
              <a:t>plan to track progress against, as well as defining the shape and </a:t>
            </a:r>
            <a:r>
              <a:rPr lang="en-GB" sz="1600" dirty="0" smtClean="0"/>
              <a:t>size of </a:t>
            </a:r>
            <a:r>
              <a:rPr lang="en-GB" sz="1600" dirty="0"/>
              <a:t>the test effort. </a:t>
            </a:r>
            <a:endParaRPr lang="en-GB" sz="1600" dirty="0" smtClean="0"/>
          </a:p>
          <a:p>
            <a:r>
              <a:rPr lang="en-GB" sz="1600" dirty="0" smtClean="0"/>
              <a:t>Test </a:t>
            </a:r>
            <a:r>
              <a:rPr lang="en-GB" sz="1600" dirty="0"/>
              <a:t>planning is used in development and </a:t>
            </a:r>
            <a:r>
              <a:rPr lang="en-GB" sz="1600" dirty="0" smtClean="0"/>
              <a:t>implementation projects </a:t>
            </a:r>
            <a:r>
              <a:rPr lang="en-GB" sz="1600" dirty="0"/>
              <a:t>(sometimes called ‘greenfield’) as well as maintenance (change and </a:t>
            </a:r>
            <a:r>
              <a:rPr lang="en-GB" sz="1600" dirty="0" smtClean="0"/>
              <a:t>fix) activities.</a:t>
            </a:r>
            <a:endParaRPr lang="en-GB" sz="1600" dirty="0"/>
          </a:p>
          <a:p>
            <a:r>
              <a:rPr lang="en-GB" sz="1600" dirty="0"/>
              <a:t>The main document produced in test planning is often called a master </a:t>
            </a:r>
            <a:r>
              <a:rPr lang="en-GB" sz="1600" dirty="0" smtClean="0"/>
              <a:t>test plan </a:t>
            </a:r>
            <a:r>
              <a:rPr lang="en-GB" sz="1600" dirty="0"/>
              <a:t>or a project test plan. </a:t>
            </a:r>
            <a:endParaRPr lang="en-GB" sz="1600" dirty="0" smtClean="0"/>
          </a:p>
          <a:p>
            <a:r>
              <a:rPr lang="en-GB" sz="1600" dirty="0" smtClean="0"/>
              <a:t>This </a:t>
            </a:r>
            <a:r>
              <a:rPr lang="en-GB" sz="1600" dirty="0"/>
              <a:t>document defines the high level of </a:t>
            </a:r>
            <a:r>
              <a:rPr lang="en-GB" sz="1600" dirty="0" smtClean="0"/>
              <a:t>the test </a:t>
            </a:r>
            <a:r>
              <a:rPr lang="en-GB" sz="1600" dirty="0"/>
              <a:t>activities being planned. It is normally produced during the </a:t>
            </a:r>
            <a:r>
              <a:rPr lang="en-GB" sz="1600" dirty="0" smtClean="0"/>
              <a:t>early phases </a:t>
            </a:r>
            <a:r>
              <a:rPr lang="en-GB" sz="1600" dirty="0"/>
              <a:t>of the project (e.g. initiation) and will provide sufficient </a:t>
            </a:r>
            <a:r>
              <a:rPr lang="en-GB" sz="1600" dirty="0" smtClean="0"/>
              <a:t>information to </a:t>
            </a:r>
            <a:r>
              <a:rPr lang="en-GB" sz="1600" dirty="0"/>
              <a:t>enable a test project to be established (bearing in mind that at </a:t>
            </a:r>
            <a:r>
              <a:rPr lang="en-GB" sz="1600" dirty="0" smtClean="0"/>
              <a:t>this point </a:t>
            </a:r>
            <a:r>
              <a:rPr lang="en-GB" sz="1600" dirty="0"/>
              <a:t>in a project little more than requirements may be available </a:t>
            </a:r>
            <a:r>
              <a:rPr lang="en-GB" sz="1600" dirty="0" smtClean="0"/>
              <a:t>from which </a:t>
            </a:r>
            <a:r>
              <a:rPr lang="en-GB" sz="1600" dirty="0"/>
              <a:t>to plan).</a:t>
            </a:r>
          </a:p>
          <a:p>
            <a:r>
              <a:rPr lang="en-GB" sz="1600" dirty="0"/>
              <a:t>The details of the test-level activities are documented within test-level </a:t>
            </a:r>
            <a:r>
              <a:rPr lang="en-GB" sz="1600" dirty="0" smtClean="0"/>
              <a:t>plans, e.g</a:t>
            </a:r>
            <a:r>
              <a:rPr lang="en-GB" sz="1600" dirty="0"/>
              <a:t>. the system test plan. These documents will contain the detailed activities </a:t>
            </a:r>
            <a:r>
              <a:rPr lang="en-GB" sz="1600" dirty="0" smtClean="0"/>
              <a:t>and estimates </a:t>
            </a:r>
            <a:r>
              <a:rPr lang="en-GB" sz="1600" dirty="0"/>
              <a:t>for the relevant test level.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69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PLANNING 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Test plans in the V-model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00201" y="567813"/>
            <a:ext cx="5943598" cy="572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8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</a:t>
            </a:r>
            <a:r>
              <a:rPr lang="en-GB" sz="2400" dirty="0" smtClean="0"/>
              <a:t>PLANNING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 smtClean="0"/>
              <a:t>… Test </a:t>
            </a:r>
            <a:r>
              <a:rPr lang="en-GB" sz="1600" b="1" dirty="0"/>
              <a:t>planning</a:t>
            </a:r>
          </a:p>
          <a:p>
            <a:r>
              <a:rPr lang="en-GB" sz="1600" dirty="0"/>
              <a:t>Test planning is a continual activity that spans the life of the test project; it </a:t>
            </a:r>
            <a:r>
              <a:rPr lang="en-GB" sz="1600" dirty="0" smtClean="0"/>
              <a:t>takes place </a:t>
            </a:r>
            <a:r>
              <a:rPr lang="en-GB" sz="1600" dirty="0"/>
              <a:t>in all life-cycle stages. </a:t>
            </a:r>
            <a:endParaRPr lang="en-GB" sz="1600" dirty="0" smtClean="0"/>
          </a:p>
          <a:p>
            <a:r>
              <a:rPr lang="en-GB" sz="1600" dirty="0" smtClean="0"/>
              <a:t>As </a:t>
            </a:r>
            <a:r>
              <a:rPr lang="en-GB" sz="1600" dirty="0"/>
              <a:t>risks and changes occur, the plan and </a:t>
            </a:r>
            <a:r>
              <a:rPr lang="en-GB" sz="1600" dirty="0" smtClean="0"/>
              <a:t>planning should </a:t>
            </a:r>
            <a:r>
              <a:rPr lang="en-GB" sz="1600" dirty="0"/>
              <a:t>be amended to recognise these and reflect the current position. </a:t>
            </a:r>
            <a:endParaRPr lang="en-GB" sz="1600" dirty="0" smtClean="0"/>
          </a:p>
          <a:p>
            <a:r>
              <a:rPr lang="en-GB" sz="1600" dirty="0" smtClean="0"/>
              <a:t>As </a:t>
            </a:r>
            <a:r>
              <a:rPr lang="en-GB" sz="1600" dirty="0"/>
              <a:t>the </a:t>
            </a:r>
            <a:r>
              <a:rPr lang="en-GB" sz="1600" dirty="0" smtClean="0"/>
              <a:t>plans will </a:t>
            </a:r>
            <a:r>
              <a:rPr lang="en-GB" sz="1600" dirty="0"/>
              <a:t>have been </a:t>
            </a:r>
            <a:r>
              <a:rPr lang="en-GB" sz="1600" dirty="0" err="1"/>
              <a:t>baselined</a:t>
            </a:r>
            <a:r>
              <a:rPr lang="en-GB" sz="1600" dirty="0"/>
              <a:t> (locked down) after initial sign-off, these changes </a:t>
            </a:r>
            <a:r>
              <a:rPr lang="en-GB" sz="1600" dirty="0" smtClean="0"/>
              <a:t>would normally </a:t>
            </a:r>
            <a:r>
              <a:rPr lang="en-GB" sz="1600" dirty="0"/>
              <a:t>be managed by the project change process</a:t>
            </a:r>
            <a:r>
              <a:rPr lang="en-GB" sz="1600" dirty="0" smtClean="0"/>
              <a:t>.</a:t>
            </a:r>
          </a:p>
          <a:p>
            <a:r>
              <a:rPr lang="en-GB" sz="1600" dirty="0" err="1" smtClean="0"/>
              <a:t>Baselining</a:t>
            </a:r>
            <a:r>
              <a:rPr lang="en-GB" sz="1600" dirty="0" smtClean="0"/>
              <a:t> </a:t>
            </a:r>
            <a:r>
              <a:rPr lang="en-GB" sz="1600" dirty="0"/>
              <a:t>a </a:t>
            </a:r>
            <a:r>
              <a:rPr lang="en-GB" sz="1600" dirty="0" smtClean="0"/>
              <a:t>document effectively </a:t>
            </a:r>
            <a:r>
              <a:rPr lang="en-GB" sz="1600" dirty="0"/>
              <a:t>secures it from further change unless authorised via a change </a:t>
            </a:r>
            <a:r>
              <a:rPr lang="en-GB" sz="1600" dirty="0" smtClean="0"/>
              <a:t>control process</a:t>
            </a:r>
            <a:r>
              <a:rPr lang="en-GB" sz="16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2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PLANNING 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Test plan </a:t>
            </a:r>
            <a:r>
              <a:rPr lang="en-GB" sz="1600" b="1" dirty="0" smtClean="0"/>
              <a:t>sections</a:t>
            </a:r>
          </a:p>
          <a:p>
            <a:pPr marL="0" indent="0">
              <a:buNone/>
            </a:pPr>
            <a:endParaRPr lang="en-GB" sz="1600" b="1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2" y="674207"/>
            <a:ext cx="6553198" cy="60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6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</a:t>
            </a:r>
            <a:r>
              <a:rPr lang="en-GB" sz="2400" dirty="0" smtClean="0"/>
              <a:t>PLANNING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 smtClean="0"/>
              <a:t>… Test </a:t>
            </a:r>
            <a:r>
              <a:rPr lang="en-GB" sz="1600" b="1" dirty="0"/>
              <a:t>plan </a:t>
            </a:r>
            <a:r>
              <a:rPr lang="en-GB" sz="1600" b="1" dirty="0" smtClean="0"/>
              <a:t>sections…</a:t>
            </a:r>
          </a:p>
          <a:p>
            <a:pPr marL="0" indent="0">
              <a:buNone/>
            </a:pPr>
            <a:endParaRPr lang="en-GB" sz="1600" b="1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9801" y="252618"/>
            <a:ext cx="4724398" cy="635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1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</a:t>
            </a:r>
            <a:r>
              <a:rPr lang="en-GB" sz="2400" dirty="0" smtClean="0"/>
              <a:t>PLANNING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 smtClean="0"/>
              <a:t>… Test </a:t>
            </a:r>
            <a:r>
              <a:rPr lang="en-GB" sz="1600" b="1" dirty="0"/>
              <a:t>plan sections</a:t>
            </a:r>
            <a:endParaRPr lang="en-GB" sz="1600" b="1" dirty="0" smtClean="0"/>
          </a:p>
          <a:p>
            <a:r>
              <a:rPr lang="en-GB" sz="1600" dirty="0"/>
              <a:t>A useful revision aid to help remember the 16 sections of the IEEE 829 test </a:t>
            </a:r>
            <a:r>
              <a:rPr lang="en-GB" sz="1600" dirty="0" smtClean="0"/>
              <a:t>plan is </a:t>
            </a:r>
            <a:r>
              <a:rPr lang="en-GB" sz="1600" dirty="0"/>
              <a:t>the acronym ‘SPACEDIRT’, each letter mapping to one or several sections </a:t>
            </a:r>
            <a:r>
              <a:rPr lang="en-GB" sz="1600" dirty="0" smtClean="0"/>
              <a:t>of the </a:t>
            </a:r>
            <a:r>
              <a:rPr lang="en-GB" sz="1600" dirty="0"/>
              <a:t>test plan:</a:t>
            </a:r>
          </a:p>
          <a:p>
            <a:pPr lvl="1"/>
            <a:r>
              <a:rPr lang="en-GB" sz="1600" b="1" dirty="0"/>
              <a:t>S</a:t>
            </a:r>
            <a:r>
              <a:rPr lang="en-GB" sz="1600" dirty="0"/>
              <a:t> scope (including test items, features to be tested and features not to be tested)</a:t>
            </a:r>
          </a:p>
          <a:p>
            <a:pPr lvl="1"/>
            <a:r>
              <a:rPr lang="en-GB" sz="1600" b="1" dirty="0"/>
              <a:t>P</a:t>
            </a:r>
            <a:r>
              <a:rPr lang="en-GB" sz="1600" dirty="0"/>
              <a:t> people (including responsibilities, staff and training and approvals)</a:t>
            </a:r>
          </a:p>
          <a:p>
            <a:pPr lvl="1"/>
            <a:r>
              <a:rPr lang="en-GB" sz="1600" b="1" dirty="0"/>
              <a:t>A</a:t>
            </a:r>
            <a:r>
              <a:rPr lang="en-GB" sz="1600" dirty="0"/>
              <a:t> approach</a:t>
            </a:r>
          </a:p>
          <a:p>
            <a:pPr lvl="1"/>
            <a:r>
              <a:rPr lang="en-GB" sz="1600" b="1" dirty="0"/>
              <a:t>C</a:t>
            </a:r>
            <a:r>
              <a:rPr lang="en-GB" sz="1600" dirty="0"/>
              <a:t> criteria (including item pass/fail criteria and suspension and </a:t>
            </a:r>
            <a:r>
              <a:rPr lang="en-GB" sz="1600" dirty="0" smtClean="0"/>
              <a:t>resumption requirements</a:t>
            </a:r>
            <a:r>
              <a:rPr lang="en-GB" sz="1600" dirty="0"/>
              <a:t>)</a:t>
            </a:r>
          </a:p>
          <a:p>
            <a:pPr lvl="1"/>
            <a:r>
              <a:rPr lang="en-GB" sz="1600" b="1" dirty="0" smtClean="0"/>
              <a:t>E </a:t>
            </a:r>
            <a:r>
              <a:rPr lang="en-GB" sz="1600" dirty="0" smtClean="0"/>
              <a:t>environment </a:t>
            </a:r>
            <a:r>
              <a:rPr lang="en-GB" sz="1600" dirty="0"/>
              <a:t>needs</a:t>
            </a:r>
          </a:p>
          <a:p>
            <a:pPr lvl="1"/>
            <a:r>
              <a:rPr lang="en-GB" sz="1600" b="1" dirty="0"/>
              <a:t>D </a:t>
            </a:r>
            <a:r>
              <a:rPr lang="en-GB" sz="1600" dirty="0"/>
              <a:t>deliverables (test)</a:t>
            </a:r>
          </a:p>
          <a:p>
            <a:pPr lvl="1"/>
            <a:r>
              <a:rPr lang="en-GB" sz="1600" b="1" dirty="0"/>
              <a:t>I </a:t>
            </a:r>
            <a:r>
              <a:rPr lang="en-GB" sz="1600" dirty="0"/>
              <a:t>identifier and introduction (test plan)</a:t>
            </a:r>
          </a:p>
          <a:p>
            <a:pPr lvl="1"/>
            <a:r>
              <a:rPr lang="en-GB" sz="1600" b="1" dirty="0"/>
              <a:t>R</a:t>
            </a:r>
            <a:r>
              <a:rPr lang="en-GB" sz="1600" dirty="0"/>
              <a:t> risks and contingencies</a:t>
            </a:r>
          </a:p>
          <a:p>
            <a:pPr lvl="1"/>
            <a:r>
              <a:rPr lang="en-GB" sz="1600" b="1" dirty="0"/>
              <a:t>T</a:t>
            </a:r>
            <a:r>
              <a:rPr lang="en-GB" sz="1600" dirty="0"/>
              <a:t> testing tasks and schedule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13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</a:t>
            </a:r>
            <a:r>
              <a:rPr lang="en-GB" sz="2400" dirty="0" smtClean="0"/>
              <a:t>PLANNING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Test-planning activities</a:t>
            </a:r>
            <a:endParaRPr lang="en-GB" sz="1600" b="1" dirty="0" smtClean="0"/>
          </a:p>
          <a:p>
            <a:r>
              <a:rPr lang="en-GB" sz="1400" dirty="0"/>
              <a:t>During test planning various activities for an entire system or a part of a </a:t>
            </a:r>
            <a:r>
              <a:rPr lang="en-GB" sz="1400" dirty="0" smtClean="0"/>
              <a:t>system have </a:t>
            </a:r>
            <a:r>
              <a:rPr lang="en-GB" sz="1400" dirty="0"/>
              <a:t>to be undertaken by those working on the plan. They include:</a:t>
            </a:r>
          </a:p>
          <a:p>
            <a:r>
              <a:rPr lang="en-GB" sz="1400" dirty="0"/>
              <a:t>Working with the project manager and subject matter experts’ to </a:t>
            </a:r>
            <a:r>
              <a:rPr lang="en-GB" sz="1400" dirty="0" smtClean="0"/>
              <a:t>determine the </a:t>
            </a:r>
            <a:r>
              <a:rPr lang="en-GB" sz="1400" dirty="0"/>
              <a:t>scope and the risks that need to be tested. As well identifying and </a:t>
            </a:r>
            <a:r>
              <a:rPr lang="en-GB" sz="1400" dirty="0" smtClean="0"/>
              <a:t>agreeing the </a:t>
            </a:r>
            <a:r>
              <a:rPr lang="en-GB" sz="1400" dirty="0"/>
              <a:t>objectives of the testing, be they time, quality or cost focussed, or </a:t>
            </a:r>
            <a:r>
              <a:rPr lang="en-GB" sz="1400" dirty="0" smtClean="0"/>
              <a:t>in fact </a:t>
            </a:r>
            <a:r>
              <a:rPr lang="en-GB" sz="1400" dirty="0"/>
              <a:t>maybe a mixture of all three. </a:t>
            </a:r>
            <a:endParaRPr lang="en-GB" sz="1400" dirty="0" smtClean="0"/>
          </a:p>
          <a:p>
            <a:r>
              <a:rPr lang="en-GB" sz="1400" dirty="0" smtClean="0"/>
              <a:t>The </a:t>
            </a:r>
            <a:r>
              <a:rPr lang="en-GB" sz="1400" dirty="0"/>
              <a:t>objectives will enable the test project </a:t>
            </a:r>
            <a:r>
              <a:rPr lang="en-GB" sz="1400" dirty="0" smtClean="0"/>
              <a:t>to know </a:t>
            </a:r>
            <a:r>
              <a:rPr lang="en-GB" sz="1400" dirty="0"/>
              <a:t>when it has finished.</a:t>
            </a:r>
          </a:p>
          <a:p>
            <a:r>
              <a:rPr lang="en-GB" sz="1400" dirty="0"/>
              <a:t>Putting together the overall approach of testing (sometimes called the </a:t>
            </a:r>
            <a:r>
              <a:rPr lang="en-GB" sz="1400" dirty="0" smtClean="0"/>
              <a:t>test strategy</a:t>
            </a:r>
            <a:r>
              <a:rPr lang="en-GB" sz="1400" dirty="0"/>
              <a:t>), ensuring that the test levels and entry and exit criteria are defined.</a:t>
            </a:r>
          </a:p>
          <a:p>
            <a:r>
              <a:rPr lang="en-GB" sz="1400" dirty="0"/>
              <a:t>Liaising with the project manager and making sure that the testing </a:t>
            </a:r>
            <a:r>
              <a:rPr lang="en-GB" sz="1400" dirty="0" smtClean="0"/>
              <a:t>activities have </a:t>
            </a:r>
            <a:r>
              <a:rPr lang="en-GB" sz="1400" dirty="0"/>
              <a:t>been included within the software life-cycle activities such as:</a:t>
            </a:r>
          </a:p>
          <a:p>
            <a:pPr lvl="1"/>
            <a:r>
              <a:rPr lang="en-GB" sz="1400" dirty="0"/>
              <a:t>design – the development of the software design;</a:t>
            </a:r>
          </a:p>
          <a:p>
            <a:pPr lvl="1"/>
            <a:r>
              <a:rPr lang="en-GB" sz="1400" dirty="0"/>
              <a:t>development – the building of the code;</a:t>
            </a:r>
          </a:p>
          <a:p>
            <a:pPr lvl="1"/>
            <a:r>
              <a:rPr lang="en-GB" sz="1400" dirty="0"/>
              <a:t>implementation – the activities surrounding implementation into a </a:t>
            </a:r>
            <a:r>
              <a:rPr lang="en-GB" sz="1400" dirty="0" smtClean="0"/>
              <a:t>live environment</a:t>
            </a:r>
            <a:r>
              <a:rPr lang="en-GB" sz="1400" dirty="0"/>
              <a:t>.</a:t>
            </a:r>
          </a:p>
          <a:p>
            <a:r>
              <a:rPr lang="en-GB" sz="1400" dirty="0"/>
              <a:t>Working with the project to decide what needs to be tested, what roles </a:t>
            </a:r>
            <a:r>
              <a:rPr lang="en-GB" sz="1400" dirty="0" smtClean="0"/>
              <a:t>are involved </a:t>
            </a:r>
            <a:r>
              <a:rPr lang="en-GB" sz="1400" dirty="0"/>
              <a:t>and who will perform the test activities, planning when and how </a:t>
            </a:r>
            <a:r>
              <a:rPr lang="en-GB" sz="1400" dirty="0" smtClean="0"/>
              <a:t>the test </a:t>
            </a:r>
            <a:r>
              <a:rPr lang="en-GB" sz="1400" dirty="0"/>
              <a:t>activities should be done, deciding how the test results will be </a:t>
            </a:r>
            <a:r>
              <a:rPr lang="en-GB" sz="1400" dirty="0" smtClean="0"/>
              <a:t>evaluated, and </a:t>
            </a:r>
            <a:r>
              <a:rPr lang="en-GB" sz="1400" dirty="0"/>
              <a:t>defining when to stop testing (exit criteria).</a:t>
            </a:r>
          </a:p>
          <a:p>
            <a:r>
              <a:rPr lang="en-GB" sz="1400" dirty="0"/>
              <a:t>Building a plan that identifies when and who will undertake the test </a:t>
            </a:r>
            <a:r>
              <a:rPr lang="en-GB" sz="1400" dirty="0" smtClean="0"/>
              <a:t>analysis and </a:t>
            </a:r>
            <a:r>
              <a:rPr lang="en-GB" sz="1400" dirty="0"/>
              <a:t>design activities. </a:t>
            </a:r>
            <a:endParaRPr lang="en-GB" sz="1400" dirty="0" smtClean="0"/>
          </a:p>
          <a:p>
            <a:r>
              <a:rPr lang="en-GB" sz="1400" dirty="0" smtClean="0"/>
              <a:t>In </a:t>
            </a:r>
            <a:r>
              <a:rPr lang="en-GB" sz="1400" dirty="0"/>
              <a:t>addition to the analysis and design activities </a:t>
            </a:r>
            <a:r>
              <a:rPr lang="en-GB" sz="1400" dirty="0" smtClean="0"/>
              <a:t>test planning </a:t>
            </a:r>
            <a:r>
              <a:rPr lang="en-GB" sz="1400" dirty="0"/>
              <a:t>should also document the schedule for test implementation, </a:t>
            </a:r>
            <a:r>
              <a:rPr lang="en-GB" sz="1400" dirty="0" smtClean="0"/>
              <a:t>execution and </a:t>
            </a:r>
            <a:r>
              <a:rPr lang="en-GB" sz="1400" dirty="0"/>
              <a:t>evaluation.</a:t>
            </a:r>
          </a:p>
          <a:p>
            <a:r>
              <a:rPr lang="en-GB" sz="1400" dirty="0"/>
              <a:t>Finding and assigning resources for the different activities that have </a:t>
            </a:r>
            <a:r>
              <a:rPr lang="en-GB" sz="1400" dirty="0" smtClean="0"/>
              <a:t>been defined.</a:t>
            </a:r>
          </a:p>
          <a:p>
            <a:r>
              <a:rPr lang="en-GB" sz="1400" dirty="0"/>
              <a:t>Deciding what the documentation for the test project will be, e.g. which </a:t>
            </a:r>
            <a:r>
              <a:rPr lang="en-GB" sz="1400" dirty="0" smtClean="0"/>
              <a:t>plans, </a:t>
            </a:r>
            <a:r>
              <a:rPr lang="en-GB" sz="1400" dirty="0"/>
              <a:t>s</a:t>
            </a:r>
            <a:r>
              <a:rPr lang="en-GB" sz="1400" dirty="0" smtClean="0"/>
              <a:t>how </a:t>
            </a:r>
            <a:r>
              <a:rPr lang="en-GB" sz="1400" dirty="0"/>
              <a:t>the test cases will be documented, etc.</a:t>
            </a:r>
          </a:p>
          <a:p>
            <a:r>
              <a:rPr lang="en-GB" sz="1400" dirty="0"/>
              <a:t>Defining the management information, including the metrics required </a:t>
            </a:r>
            <a:r>
              <a:rPr lang="en-GB" sz="1400" dirty="0" smtClean="0"/>
              <a:t>and putting </a:t>
            </a:r>
            <a:r>
              <a:rPr lang="en-GB" sz="1400" dirty="0"/>
              <a:t>in place the processes to monitor and control test preparation </a:t>
            </a:r>
            <a:r>
              <a:rPr lang="en-GB" sz="1400" dirty="0" smtClean="0"/>
              <a:t>and execution</a:t>
            </a:r>
            <a:r>
              <a:rPr lang="en-GB" sz="1400" dirty="0"/>
              <a:t>, defect resolution and risk issues.</a:t>
            </a:r>
          </a:p>
          <a:p>
            <a:r>
              <a:rPr lang="en-GB" sz="1400" dirty="0"/>
              <a:t>Ensuring that the test documentation generates repeatable test </a:t>
            </a:r>
            <a:r>
              <a:rPr lang="en-GB" sz="1400" dirty="0" smtClean="0"/>
              <a:t>assets, e.g</a:t>
            </a:r>
            <a:r>
              <a:rPr lang="en-GB" sz="1400" dirty="0"/>
              <a:t>. test cases.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41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PLANNING 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Entry </a:t>
            </a:r>
            <a:r>
              <a:rPr lang="en-GB" sz="1800" b="1" dirty="0" smtClean="0"/>
              <a:t>criteria</a:t>
            </a:r>
          </a:p>
          <a:p>
            <a:r>
              <a:rPr lang="en-GB" sz="1600" dirty="0"/>
              <a:t>Entry criteria are used to determine when a given test activity can start. </a:t>
            </a:r>
            <a:endParaRPr lang="en-GB" sz="1600" dirty="0" smtClean="0"/>
          </a:p>
          <a:p>
            <a:r>
              <a:rPr lang="en-GB" sz="1600" dirty="0" smtClean="0"/>
              <a:t>This could </a:t>
            </a:r>
            <a:r>
              <a:rPr lang="en-GB" sz="1600" dirty="0"/>
              <a:t>include the beginning of a level of testing, when test design and/or </a:t>
            </a:r>
            <a:r>
              <a:rPr lang="en-GB" sz="1600" dirty="0" smtClean="0"/>
              <a:t>when test </a:t>
            </a:r>
            <a:r>
              <a:rPr lang="en-GB" sz="1600" dirty="0"/>
              <a:t>execution is ready to start.</a:t>
            </a:r>
          </a:p>
          <a:p>
            <a:r>
              <a:rPr lang="en-GB" sz="1600" dirty="0"/>
              <a:t>Examples of some typical entry criteria to test execution (for example) </a:t>
            </a:r>
            <a:r>
              <a:rPr lang="en-GB" sz="1600" dirty="0" smtClean="0"/>
              <a:t>may include</a:t>
            </a:r>
            <a:r>
              <a:rPr lang="en-GB" sz="1600" dirty="0"/>
              <a:t>:</a:t>
            </a:r>
          </a:p>
          <a:p>
            <a:pPr lvl="1"/>
            <a:r>
              <a:rPr lang="en-GB" sz="1600" dirty="0"/>
              <a:t>Test environment available and ready for use (it functions).</a:t>
            </a:r>
          </a:p>
          <a:p>
            <a:pPr lvl="1"/>
            <a:r>
              <a:rPr lang="en-GB" sz="1600" dirty="0"/>
              <a:t>Test tools installed in the environment are ready for use.</a:t>
            </a:r>
          </a:p>
          <a:p>
            <a:pPr lvl="1"/>
            <a:r>
              <a:rPr lang="en-GB" sz="1600" dirty="0"/>
              <a:t>Testable code is available.</a:t>
            </a:r>
          </a:p>
          <a:p>
            <a:pPr lvl="1"/>
            <a:r>
              <a:rPr lang="en-GB" sz="1600" dirty="0"/>
              <a:t>All test data is available and correct.</a:t>
            </a:r>
          </a:p>
          <a:p>
            <a:pPr lvl="1"/>
            <a:r>
              <a:rPr lang="en-GB" sz="1600" dirty="0"/>
              <a:t>All test design activity has completed.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26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8600"/>
          </a:xfrm>
        </p:spPr>
        <p:txBody>
          <a:bodyPr>
            <a:noAutofit/>
          </a:bodyPr>
          <a:lstStyle/>
          <a:p>
            <a:r>
              <a:rPr lang="en-GB" sz="2400" dirty="0"/>
              <a:t>TEST </a:t>
            </a:r>
            <a:r>
              <a:rPr lang="en-GB" sz="2400" dirty="0" smtClean="0"/>
              <a:t>PLANNING</a:t>
            </a:r>
            <a:endParaRPr lang="en-US" sz="2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/>
              <a:t>Exit </a:t>
            </a:r>
            <a:r>
              <a:rPr lang="en-GB" sz="1800" b="1" dirty="0" smtClean="0"/>
              <a:t>criteria</a:t>
            </a:r>
          </a:p>
          <a:p>
            <a:r>
              <a:rPr lang="en-GB" sz="1600" dirty="0"/>
              <a:t>Exit criteria are used to determine when a given test activity has been </a:t>
            </a:r>
            <a:r>
              <a:rPr lang="en-GB" sz="1600" dirty="0" smtClean="0"/>
              <a:t>completed or </a:t>
            </a:r>
            <a:r>
              <a:rPr lang="en-GB" sz="1600" dirty="0"/>
              <a:t>when it should stop. Exit criteria can be defined for all of the test </a:t>
            </a:r>
            <a:r>
              <a:rPr lang="en-GB" sz="1600" dirty="0" smtClean="0"/>
              <a:t>activities, such </a:t>
            </a:r>
            <a:r>
              <a:rPr lang="en-GB" sz="1600" dirty="0"/>
              <a:t>as planning, specification and execution as a whole, or to a specific test </a:t>
            </a:r>
            <a:r>
              <a:rPr lang="en-GB" sz="1600" dirty="0" smtClean="0"/>
              <a:t>level for </a:t>
            </a:r>
            <a:r>
              <a:rPr lang="en-GB" sz="1600" dirty="0"/>
              <a:t>test specification as well as execution.</a:t>
            </a:r>
          </a:p>
          <a:p>
            <a:r>
              <a:rPr lang="en-GB" sz="1600" dirty="0"/>
              <a:t>Exit criteria should be included in the relevant test plans.</a:t>
            </a:r>
          </a:p>
          <a:p>
            <a:r>
              <a:rPr lang="en-GB" sz="1600" dirty="0"/>
              <a:t>Some typical exit criteria might be:</a:t>
            </a:r>
          </a:p>
          <a:p>
            <a:pPr lvl="1"/>
            <a:r>
              <a:rPr lang="en-GB" sz="1600" dirty="0"/>
              <a:t>All tests planned have been run.</a:t>
            </a:r>
          </a:p>
          <a:p>
            <a:pPr lvl="1"/>
            <a:r>
              <a:rPr lang="en-GB" sz="1600" dirty="0"/>
              <a:t>A certain level of requirements coverage has been achieved.</a:t>
            </a:r>
          </a:p>
          <a:p>
            <a:pPr lvl="1"/>
            <a:r>
              <a:rPr lang="en-GB" sz="1600" dirty="0"/>
              <a:t>No high-priority or severe defects are left outstanding.</a:t>
            </a:r>
          </a:p>
          <a:p>
            <a:pPr lvl="1"/>
            <a:r>
              <a:rPr lang="en-GB" sz="1600" dirty="0"/>
              <a:t>All high-risk areas have been fully tested, with only minor residual risks </a:t>
            </a:r>
            <a:r>
              <a:rPr lang="en-GB" sz="1600" dirty="0" smtClean="0"/>
              <a:t>left outstanding</a:t>
            </a:r>
            <a:r>
              <a:rPr lang="en-GB" sz="1600" dirty="0"/>
              <a:t>.</a:t>
            </a:r>
          </a:p>
          <a:p>
            <a:pPr lvl="1"/>
            <a:r>
              <a:rPr lang="en-GB" sz="1600" dirty="0"/>
              <a:t>Cost – when the budget has been spent.</a:t>
            </a:r>
          </a:p>
          <a:p>
            <a:pPr lvl="1"/>
            <a:r>
              <a:rPr lang="en-GB" sz="1600" dirty="0"/>
              <a:t>The schedule has been achieved, e.g. the release date has been reached </a:t>
            </a:r>
            <a:r>
              <a:rPr lang="en-GB" sz="1600" dirty="0" smtClean="0"/>
              <a:t>and the </a:t>
            </a:r>
            <a:r>
              <a:rPr lang="en-GB" sz="1600" dirty="0"/>
              <a:t>product has to go live. This was the case with the millennium testing (</a:t>
            </a:r>
            <a:r>
              <a:rPr lang="en-GB" sz="1600" dirty="0" smtClean="0"/>
              <a:t>it had </a:t>
            </a:r>
            <a:r>
              <a:rPr lang="en-GB" sz="1600" dirty="0"/>
              <a:t>to be completed before midnight on 31 December 1999), and is often </a:t>
            </a:r>
            <a:r>
              <a:rPr lang="en-GB" sz="1600" dirty="0" smtClean="0"/>
              <a:t>the case </a:t>
            </a:r>
            <a:r>
              <a:rPr lang="en-GB" sz="1600" dirty="0"/>
              <a:t>with government legislation.</a:t>
            </a:r>
          </a:p>
          <a:p>
            <a:r>
              <a:rPr lang="en-GB" sz="1600" dirty="0"/>
              <a:t>Exit criteria should have been agreed as early as possible in the life </a:t>
            </a:r>
            <a:r>
              <a:rPr lang="en-GB" sz="1600" dirty="0" smtClean="0"/>
              <a:t>cycle; however</a:t>
            </a:r>
            <a:r>
              <a:rPr lang="en-GB" sz="1600" dirty="0"/>
              <a:t>, they can be and often are subject to controlled change as the detail </a:t>
            </a:r>
            <a:r>
              <a:rPr lang="en-GB" sz="1600" dirty="0" smtClean="0"/>
              <a:t>of the </a:t>
            </a:r>
            <a:r>
              <a:rPr lang="en-GB" sz="1600" dirty="0"/>
              <a:t>project becomes better understood and therefore the ability to meet </a:t>
            </a:r>
            <a:r>
              <a:rPr lang="en-GB" sz="1600" dirty="0" smtClean="0"/>
              <a:t>the criteria </a:t>
            </a:r>
            <a:r>
              <a:rPr lang="en-GB" sz="1600" dirty="0"/>
              <a:t>is better understood by those responsible for delivery.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0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2492</Words>
  <Application>Microsoft Office PowerPoint</Application>
  <PresentationFormat>On-screen Show (4:3)</PresentationFormat>
  <Paragraphs>155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TEST ORGANISATION …</vt:lpstr>
      <vt:lpstr>… TEST ORGANISATION …</vt:lpstr>
      <vt:lpstr>… TEST ORGANISATION …</vt:lpstr>
      <vt:lpstr>… TEST ORGANISATION …</vt:lpstr>
      <vt:lpstr>TEST APPROACHES (TEST STRATEGIES)</vt:lpstr>
      <vt:lpstr>TEST APPROACHES (TEST STRATEGIES)</vt:lpstr>
      <vt:lpstr>TEST APPROACHES (TEST STRATEGIES)</vt:lpstr>
      <vt:lpstr>TEST PLANNING </vt:lpstr>
      <vt:lpstr>TEST PLANNING </vt:lpstr>
      <vt:lpstr>TEST PLANNING</vt:lpstr>
      <vt:lpstr>TEST PLANNING </vt:lpstr>
      <vt:lpstr>TEST PLANNING</vt:lpstr>
      <vt:lpstr>TEST PLANNING</vt:lpstr>
      <vt:lpstr>TEST PLANNING</vt:lpstr>
      <vt:lpstr>TEST PLANNING </vt:lpstr>
      <vt:lpstr>TEST PLANNING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400</cp:revision>
  <dcterms:created xsi:type="dcterms:W3CDTF">2014-08-12T16:29:38Z</dcterms:created>
  <dcterms:modified xsi:type="dcterms:W3CDTF">2023-12-11T10:45:22Z</dcterms:modified>
</cp:coreProperties>
</file>