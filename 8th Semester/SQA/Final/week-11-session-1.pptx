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72" r:id="rId3"/>
    <p:sldId id="266" r:id="rId4"/>
    <p:sldId id="267" r:id="rId5"/>
    <p:sldId id="269" r:id="rId6"/>
    <p:sldId id="268" r:id="rId7"/>
    <p:sldId id="270" r:id="rId8"/>
    <p:sldId id="271" r:id="rId9"/>
    <p:sldId id="274" r:id="rId10"/>
    <p:sldId id="275" r:id="rId11"/>
    <p:sldId id="27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87092" autoAdjust="0"/>
  </p:normalViewPr>
  <p:slideViewPr>
    <p:cSldViewPr>
      <p:cViewPr varScale="1">
        <p:scale>
          <a:sx n="74" d="100"/>
          <a:sy n="74" d="100"/>
        </p:scale>
        <p:origin x="12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A68BC-087B-4804-80E7-54E6BF9D6720}" type="datetimeFigureOut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53098-A02F-43AC-83B0-8400FDBB11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0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95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19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3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98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79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11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37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37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4250-741B-442A-9703-012BAF15BA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816B4-16E8-4062-88BC-ECA9BFE00428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598-E98D-41E9-AC1F-40993110B2E2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4A01-3715-4476-A057-955DFD27809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3C02-4A9B-4362-AC6F-20FFF8DED46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3C571-B71D-45C8-8B1B-35BCC2DA467A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1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D478-9CFC-4269-8AE4-00D2F07081AD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7258-29DB-40D6-BF3F-E918B183B515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D29DC-3073-4B54-8EE5-E93562EFCD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975A9-2543-49D8-B35B-ED476DA0ED73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BFD3-FA8E-4E08-91B4-E94DC0FF8BBB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BFD0B-D7A9-4808-B8C9-44A20956DF29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243F0035-4B67-4B88-B2A0-536AE2AEED2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="" xmlns:a16="http://schemas.microsoft.com/office/drawing/2014/main" id="{11F3346B-A340-42AA-BA33-0DABD69A99CA}"/>
              </a:ext>
            </a:extLst>
          </p:cNvPr>
          <p:cNvSpPr txBox="1">
            <a:spLocks/>
          </p:cNvSpPr>
          <p:nvPr/>
        </p:nvSpPr>
        <p:spPr>
          <a:xfrm>
            <a:off x="165942" y="1981200"/>
            <a:ext cx="8825658" cy="2016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CS-468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Software Quality Assurance &amp; Testing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="" xmlns:a16="http://schemas.microsoft.com/office/drawing/2014/main" id="{726CA34A-B113-49BC-A1A5-0573BEE18E05}"/>
              </a:ext>
            </a:extLst>
          </p:cNvPr>
          <p:cNvSpPr txBox="1">
            <a:spLocks/>
          </p:cNvSpPr>
          <p:nvPr/>
        </p:nvSpPr>
        <p:spPr>
          <a:xfrm>
            <a:off x="0" y="396240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Week 11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Session 1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Control Flow Graph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A control flow graph provides a method of representing the decision points </a:t>
            </a:r>
            <a:r>
              <a:rPr lang="en-GB" sz="1800" dirty="0" smtClean="0"/>
              <a:t>and the </a:t>
            </a:r>
            <a:r>
              <a:rPr lang="en-GB" sz="1800" dirty="0"/>
              <a:t>flow of control within a piece of code, so it is just like a flow chart except </a:t>
            </a:r>
            <a:r>
              <a:rPr lang="en-GB" sz="1800" dirty="0" smtClean="0"/>
              <a:t>that it </a:t>
            </a:r>
            <a:r>
              <a:rPr lang="en-GB" sz="1800" dirty="0"/>
              <a:t>only shows decisions. </a:t>
            </a:r>
            <a:endParaRPr lang="en-GB" sz="1800" dirty="0" smtClean="0"/>
          </a:p>
          <a:p>
            <a:r>
              <a:rPr lang="en-GB" sz="1800" dirty="0" smtClean="0"/>
              <a:t>A </a:t>
            </a:r>
            <a:r>
              <a:rPr lang="en-GB" sz="1800" dirty="0"/>
              <a:t>control flow graph is produced by looking only at </a:t>
            </a:r>
            <a:r>
              <a:rPr lang="en-GB" sz="1800" dirty="0" smtClean="0"/>
              <a:t>the statements </a:t>
            </a:r>
            <a:r>
              <a:rPr lang="en-GB" sz="1800" dirty="0"/>
              <a:t>affecting the flow of control.</a:t>
            </a:r>
          </a:p>
          <a:p>
            <a:r>
              <a:rPr lang="en-GB" sz="1800" dirty="0"/>
              <a:t>The graph itself is made up of two symbols: nodes and edges. A node </a:t>
            </a:r>
            <a:r>
              <a:rPr lang="en-GB" sz="1800" dirty="0" smtClean="0"/>
              <a:t>represents any </a:t>
            </a:r>
            <a:r>
              <a:rPr lang="en-GB" sz="1800" dirty="0"/>
              <a:t>point where the flow of control can be modified (i.e. decision points), or </a:t>
            </a:r>
            <a:r>
              <a:rPr lang="en-GB" sz="1800" dirty="0" smtClean="0"/>
              <a:t>the points </a:t>
            </a:r>
            <a:r>
              <a:rPr lang="en-GB" sz="1800" dirty="0"/>
              <a:t>where a control structure returns to the main flow (e.g. END WHILE </a:t>
            </a:r>
            <a:r>
              <a:rPr lang="en-GB" sz="1800" dirty="0" smtClean="0"/>
              <a:t>or ENDIF</a:t>
            </a:r>
            <a:r>
              <a:rPr lang="en-GB" sz="1800" dirty="0"/>
              <a:t>). </a:t>
            </a:r>
            <a:endParaRPr lang="en-GB" sz="1800" dirty="0" smtClean="0"/>
          </a:p>
          <a:p>
            <a:r>
              <a:rPr lang="en-GB" sz="1800" dirty="0" smtClean="0"/>
              <a:t>An </a:t>
            </a:r>
            <a:r>
              <a:rPr lang="en-GB" sz="1800" dirty="0"/>
              <a:t>edge is a line connecting any two nodes. The closed area </a:t>
            </a:r>
            <a:r>
              <a:rPr lang="en-GB" sz="1800" dirty="0" smtClean="0"/>
              <a:t>contained within </a:t>
            </a:r>
            <a:r>
              <a:rPr lang="en-GB" sz="1800" dirty="0"/>
              <a:t>a collection of nodes and edges, as shown in the diagram, is known as </a:t>
            </a:r>
            <a:r>
              <a:rPr lang="en-GB" sz="1800" dirty="0" smtClean="0"/>
              <a:t>a region</a:t>
            </a:r>
            <a:r>
              <a:rPr lang="en-GB" sz="1800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40070" y="4090986"/>
            <a:ext cx="4463860" cy="244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Control Flow </a:t>
            </a:r>
            <a:r>
              <a:rPr lang="en-GB" sz="2800" dirty="0" err="1" smtClean="0"/>
              <a:t>Subgraphs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We can draw ‘</a:t>
            </a:r>
            <a:r>
              <a:rPr lang="en-GB" sz="1800" dirty="0" smtClean="0"/>
              <a:t>sub graphs</a:t>
            </a:r>
            <a:r>
              <a:rPr lang="en-GB" sz="1800" dirty="0"/>
              <a:t>’ to represent individual structures</a:t>
            </a:r>
            <a:r>
              <a:rPr lang="en-GB" sz="1800" dirty="0" smtClean="0"/>
              <a:t>.</a:t>
            </a:r>
          </a:p>
          <a:p>
            <a:r>
              <a:rPr lang="en-GB" sz="1800" dirty="0" smtClean="0"/>
              <a:t>For </a:t>
            </a:r>
            <a:r>
              <a:rPr lang="en-GB" sz="1800" dirty="0"/>
              <a:t>a flow graph </a:t>
            </a:r>
            <a:r>
              <a:rPr lang="en-GB" sz="1800" dirty="0" smtClean="0"/>
              <a:t>the representation </a:t>
            </a:r>
            <a:r>
              <a:rPr lang="en-GB" sz="1800" dirty="0"/>
              <a:t>of sequence is just a straight line, since there is no decision </a:t>
            </a:r>
            <a:r>
              <a:rPr lang="en-GB" sz="1800" dirty="0" smtClean="0"/>
              <a:t>to cause </a:t>
            </a:r>
            <a:r>
              <a:rPr lang="en-GB" sz="1800" dirty="0"/>
              <a:t>any branching</a:t>
            </a:r>
            <a:r>
              <a:rPr lang="en-GB" sz="1800" dirty="0" smtClean="0"/>
              <a:t>.</a:t>
            </a:r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r>
              <a:rPr lang="en-GB" sz="1800" dirty="0" smtClean="0"/>
              <a:t>The sub graphs </a:t>
            </a:r>
            <a:r>
              <a:rPr lang="en-GB" sz="1800" dirty="0"/>
              <a:t>show what the control flow graph would look like for the </a:t>
            </a:r>
            <a:r>
              <a:rPr lang="en-GB" sz="1800" dirty="0" smtClean="0"/>
              <a:t>program structures </a:t>
            </a:r>
            <a:r>
              <a:rPr lang="en-GB" sz="1800" dirty="0"/>
              <a:t>we are already familiar with</a:t>
            </a:r>
            <a:r>
              <a:rPr lang="en-GB" sz="1800" dirty="0" smtClean="0"/>
              <a:t>.</a:t>
            </a:r>
          </a:p>
          <a:p>
            <a:r>
              <a:rPr lang="en-GB" sz="1800" dirty="0"/>
              <a:t>Any chunk of code can be represented by using these </a:t>
            </a:r>
            <a:r>
              <a:rPr lang="en-GB" sz="1800" dirty="0" err="1"/>
              <a:t>subgraphs</a:t>
            </a:r>
            <a:r>
              <a:rPr lang="en-GB" sz="1800" dirty="0"/>
              <a:t>.</a:t>
            </a:r>
            <a:endParaRPr lang="en-GB" sz="1800" dirty="0" smtClean="0"/>
          </a:p>
          <a:p>
            <a:endParaRPr lang="en-GB" sz="1800" dirty="0" smtClean="0"/>
          </a:p>
          <a:p>
            <a:pPr lvl="1"/>
            <a:endParaRPr lang="en-GB" sz="1800" dirty="0" smtClean="0"/>
          </a:p>
          <a:p>
            <a:pPr marL="0" indent="0">
              <a:buNone/>
            </a:pPr>
            <a:r>
              <a:rPr lang="en-GB" sz="1800" dirty="0" smtClean="0"/>
              <a:t> </a:t>
            </a:r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/>
          <a:srcRect r="80701"/>
          <a:stretch/>
        </p:blipFill>
        <p:spPr>
          <a:xfrm>
            <a:off x="1981200" y="1905000"/>
            <a:ext cx="1219200" cy="27432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/>
          <a:srcRect l="40351" t="17840" r="35525"/>
          <a:stretch/>
        </p:blipFill>
        <p:spPr>
          <a:xfrm>
            <a:off x="4114800" y="2374661"/>
            <a:ext cx="1524000" cy="22538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 cstate="print"/>
          <a:srcRect l="79495" t="17840"/>
          <a:stretch/>
        </p:blipFill>
        <p:spPr>
          <a:xfrm>
            <a:off x="6324600" y="2374661"/>
            <a:ext cx="1295400" cy="22538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0" y="175260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Pre- Test Loop</a:t>
            </a:r>
          </a:p>
          <a:p>
            <a:r>
              <a:rPr lang="en-GB" dirty="0" smtClean="0"/>
              <a:t>While &amp; For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210300" y="1686058"/>
            <a:ext cx="1638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Post- Test Loop</a:t>
            </a:r>
          </a:p>
          <a:p>
            <a:r>
              <a:rPr lang="en-GB" dirty="0" smtClean="0"/>
              <a:t>Do- While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68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Drawing a Control flow Graph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The steps are as follows:</a:t>
            </a:r>
          </a:p>
          <a:p>
            <a:pPr lvl="1"/>
            <a:r>
              <a:rPr lang="en-GB" sz="1800" dirty="0"/>
              <a:t>Analyse the component to identify all control structures, i.e. all statements that can modify the flow of control, ignoring all sequential statements.</a:t>
            </a:r>
          </a:p>
          <a:p>
            <a:pPr lvl="1"/>
            <a:r>
              <a:rPr lang="en-GB" sz="1800" dirty="0"/>
              <a:t>Add a node for any decision statement.</a:t>
            </a:r>
          </a:p>
          <a:p>
            <a:pPr lvl="1"/>
            <a:r>
              <a:rPr lang="en-GB" sz="1800" dirty="0"/>
              <a:t>Expand the node by substituting the appropriate sub graph representing the structure at the decision point.</a:t>
            </a:r>
          </a:p>
          <a:p>
            <a:pPr lvl="1"/>
            <a:endParaRPr lang="en-GB" sz="1800" dirty="0"/>
          </a:p>
          <a:p>
            <a:pPr lvl="1"/>
            <a:endParaRPr lang="en-GB" sz="1800" dirty="0" smtClean="0"/>
          </a:p>
          <a:p>
            <a:pPr marL="0" indent="0">
              <a:buNone/>
            </a:pPr>
            <a:r>
              <a:rPr lang="en-GB" sz="1800" dirty="0" smtClean="0"/>
              <a:t> </a:t>
            </a:r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49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9275"/>
          </a:xfrm>
        </p:spPr>
        <p:txBody>
          <a:bodyPr>
            <a:noAutofit/>
          </a:bodyPr>
          <a:lstStyle/>
          <a:p>
            <a:r>
              <a:rPr lang="en-GB" sz="2800" dirty="0" smtClean="0"/>
              <a:t>Example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3505200" cy="6172200"/>
          </a:xfrm>
        </p:spPr>
        <p:txBody>
          <a:bodyPr>
            <a:noAutofit/>
          </a:bodyPr>
          <a:lstStyle/>
          <a:p>
            <a:r>
              <a:rPr lang="en-GB" sz="1800" dirty="0"/>
              <a:t>Here is a simple program for calculating the mean and maximum of three integers.</a:t>
            </a:r>
            <a:r>
              <a:rPr lang="en-GB" sz="1800" dirty="0" smtClean="0"/>
              <a:t> </a:t>
            </a:r>
          </a:p>
          <a:p>
            <a:r>
              <a:rPr lang="en-GB" sz="1800" dirty="0" smtClean="0"/>
              <a:t>It </a:t>
            </a:r>
            <a:r>
              <a:rPr lang="en-GB" sz="1800" dirty="0"/>
              <a:t>has some non-executable </a:t>
            </a:r>
            <a:r>
              <a:rPr lang="en-GB" sz="1800" dirty="0" smtClean="0"/>
              <a:t>statements (those </a:t>
            </a:r>
            <a:r>
              <a:rPr lang="en-GB" sz="1800" dirty="0"/>
              <a:t>before the Begin and those after the Begin that are actually blank lines) </a:t>
            </a:r>
            <a:r>
              <a:rPr lang="en-GB" sz="1800" dirty="0" smtClean="0"/>
              <a:t>that we </a:t>
            </a:r>
            <a:r>
              <a:rPr lang="en-GB" sz="1800" dirty="0"/>
              <a:t>will have to take account of when we come to count the number of </a:t>
            </a:r>
            <a:r>
              <a:rPr lang="en-GB" sz="1800" dirty="0" smtClean="0"/>
              <a:t>executable statements </a:t>
            </a:r>
            <a:r>
              <a:rPr lang="en-GB" sz="1800" dirty="0"/>
              <a:t>later. </a:t>
            </a:r>
            <a:endParaRPr lang="en-GB" sz="1800" dirty="0" smtClean="0"/>
          </a:p>
          <a:p>
            <a:r>
              <a:rPr lang="en-GB" sz="1800" dirty="0" smtClean="0"/>
              <a:t>The </a:t>
            </a:r>
            <a:r>
              <a:rPr lang="en-GB" sz="1800" dirty="0"/>
              <a:t>line numbering makes it a little easier to do the counting.</a:t>
            </a:r>
          </a:p>
          <a:p>
            <a:r>
              <a:rPr lang="en-GB" sz="1800" dirty="0" smtClean="0"/>
              <a:t>The </a:t>
            </a:r>
            <a:r>
              <a:rPr lang="en-GB" sz="1800" dirty="0"/>
              <a:t>program does not recognise if two of </a:t>
            </a:r>
            <a:r>
              <a:rPr lang="en-GB" sz="1800" dirty="0" smtClean="0"/>
              <a:t>the numbers </a:t>
            </a:r>
            <a:r>
              <a:rPr lang="en-GB" sz="1800" dirty="0"/>
              <a:t>are the same </a:t>
            </a:r>
            <a:r>
              <a:rPr lang="en-GB" sz="1800" dirty="0" smtClean="0"/>
              <a:t>value</a:t>
            </a:r>
            <a:r>
              <a:rPr lang="en-GB" sz="1800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33810" y="546100"/>
            <a:ext cx="4281590" cy="585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5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9275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Example - Solution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3200400" cy="6172200"/>
          </a:xfrm>
        </p:spPr>
        <p:txBody>
          <a:bodyPr>
            <a:noAutofit/>
          </a:bodyPr>
          <a:lstStyle/>
          <a:p>
            <a:r>
              <a:rPr lang="en-GB" sz="1800" dirty="0"/>
              <a:t>Step </a:t>
            </a:r>
            <a:r>
              <a:rPr lang="en-GB" sz="1800" dirty="0" smtClean="0"/>
              <a:t>1 breaks </a:t>
            </a:r>
            <a:r>
              <a:rPr lang="en-GB" sz="1800" dirty="0"/>
              <a:t>the code into statements and </a:t>
            </a:r>
            <a:r>
              <a:rPr lang="en-GB" sz="1800" b="1" dirty="0"/>
              <a:t>identifies the control </a:t>
            </a:r>
            <a:r>
              <a:rPr lang="en-GB" sz="1800" b="1" dirty="0" smtClean="0"/>
              <a:t>structures</a:t>
            </a:r>
            <a:r>
              <a:rPr lang="en-GB" sz="1800" dirty="0" smtClean="0"/>
              <a:t>, ignoring </a:t>
            </a:r>
            <a:r>
              <a:rPr lang="en-GB" sz="1800" dirty="0"/>
              <a:t>the sequential statements, in order to identify the decision points; </a:t>
            </a:r>
            <a:r>
              <a:rPr lang="en-GB" sz="1800" dirty="0" smtClean="0"/>
              <a:t>these </a:t>
            </a:r>
            <a:r>
              <a:rPr lang="en-US" sz="1800" dirty="0" smtClean="0"/>
              <a:t>are </a:t>
            </a:r>
            <a:r>
              <a:rPr lang="en-US" sz="1800" dirty="0"/>
              <a:t>highlighted below.</a:t>
            </a:r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65509" y="546098"/>
            <a:ext cx="4718258" cy="585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8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9275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Example – Solution …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7848600" cy="914400"/>
          </a:xfrm>
        </p:spPr>
        <p:txBody>
          <a:bodyPr>
            <a:noAutofit/>
          </a:bodyPr>
          <a:lstStyle/>
          <a:p>
            <a:r>
              <a:rPr lang="en-GB" sz="1800" dirty="0"/>
              <a:t>Step 2 </a:t>
            </a:r>
            <a:r>
              <a:rPr lang="en-GB" sz="1800" b="1" dirty="0"/>
              <a:t>adds a node for each branching or decision </a:t>
            </a:r>
            <a:r>
              <a:rPr lang="en-GB" sz="1800" b="1" dirty="0" smtClean="0"/>
              <a:t>statement.</a:t>
            </a:r>
            <a:endParaRPr lang="en-GB" sz="18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401" y="1864513"/>
            <a:ext cx="5029198" cy="440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2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9275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Example – Solution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7848600" cy="914400"/>
          </a:xfrm>
        </p:spPr>
        <p:txBody>
          <a:bodyPr>
            <a:noAutofit/>
          </a:bodyPr>
          <a:lstStyle/>
          <a:p>
            <a:r>
              <a:rPr lang="en-GB" sz="1800" dirty="0"/>
              <a:t>Step 3 </a:t>
            </a:r>
            <a:r>
              <a:rPr lang="en-GB" sz="1800" b="1" dirty="0"/>
              <a:t>expands the nodes by substituting the appropriate </a:t>
            </a:r>
            <a:r>
              <a:rPr lang="en-GB" sz="1800" b="1" dirty="0" err="1"/>
              <a:t>subgraphs</a:t>
            </a:r>
            <a:endParaRPr lang="en-GB" sz="18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43100" y="1305754"/>
            <a:ext cx="5181600" cy="523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14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Hybrid Flow Graph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3962400" cy="6172200"/>
          </a:xfrm>
        </p:spPr>
        <p:txBody>
          <a:bodyPr>
            <a:noAutofit/>
          </a:bodyPr>
          <a:lstStyle/>
          <a:p>
            <a:r>
              <a:rPr lang="en-GB" sz="1800" dirty="0"/>
              <a:t>Flow charts, control flow graphs and hybrid flow graphs all show </a:t>
            </a:r>
            <a:r>
              <a:rPr lang="en-GB" sz="1800" dirty="0" smtClean="0"/>
              <a:t>essentially the </a:t>
            </a:r>
            <a:r>
              <a:rPr lang="en-GB" sz="1800" dirty="0"/>
              <a:t>same information, but sometimes one format is more helpful than another.</a:t>
            </a:r>
          </a:p>
          <a:p>
            <a:r>
              <a:rPr lang="en-GB" sz="1800" dirty="0"/>
              <a:t>We have identified the hybrid flow graph as a useful combination of the </a:t>
            </a:r>
            <a:r>
              <a:rPr lang="en-GB" sz="1800" dirty="0" smtClean="0"/>
              <a:t>control flow </a:t>
            </a:r>
            <a:r>
              <a:rPr lang="en-GB" sz="1800" dirty="0"/>
              <a:t>graph and the control flow chart. </a:t>
            </a:r>
            <a:endParaRPr lang="en-GB" sz="1800" dirty="0" smtClean="0"/>
          </a:p>
          <a:p>
            <a:r>
              <a:rPr lang="en-GB" sz="1800" dirty="0" smtClean="0"/>
              <a:t>To </a:t>
            </a:r>
            <a:r>
              <a:rPr lang="en-GB" sz="1800" dirty="0"/>
              <a:t>make it even more useful we </a:t>
            </a:r>
            <a:r>
              <a:rPr lang="en-GB" sz="1800" dirty="0" smtClean="0"/>
              <a:t>can add </a:t>
            </a:r>
            <a:r>
              <a:rPr lang="en-GB" sz="1800" dirty="0"/>
              <a:t>to it labels to indicate the paths that a program can follow through </a:t>
            </a:r>
            <a:r>
              <a:rPr lang="en-GB" sz="1800" dirty="0" smtClean="0"/>
              <a:t>the code.</a:t>
            </a:r>
          </a:p>
          <a:p>
            <a:r>
              <a:rPr lang="en-GB" sz="1800" dirty="0" smtClean="0"/>
              <a:t>All </a:t>
            </a:r>
            <a:r>
              <a:rPr lang="en-GB" sz="1800" dirty="0"/>
              <a:t>we need to do is to label each edge; paths are then made up </a:t>
            </a:r>
            <a:r>
              <a:rPr lang="en-GB" sz="1800" dirty="0" smtClean="0"/>
              <a:t>from sequences </a:t>
            </a:r>
            <a:r>
              <a:rPr lang="en-GB" sz="1800" dirty="0"/>
              <a:t>of the labels, such as </a:t>
            </a:r>
            <a:r>
              <a:rPr lang="en-GB" sz="1800" dirty="0" smtClean="0"/>
              <a:t>‘</a:t>
            </a:r>
            <a:r>
              <a:rPr lang="en-GB" sz="1800" b="1" dirty="0" err="1" smtClean="0"/>
              <a:t>abeh</a:t>
            </a:r>
            <a:r>
              <a:rPr lang="en-GB" sz="1800" dirty="0" smtClean="0"/>
              <a:t>’, </a:t>
            </a:r>
            <a:r>
              <a:rPr lang="en-GB" sz="1800" dirty="0"/>
              <a:t>which make up a path through the </a:t>
            </a:r>
            <a:r>
              <a:rPr lang="en-GB" sz="1800" dirty="0" smtClean="0"/>
              <a:t>code.</a:t>
            </a:r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14157" y="685800"/>
            <a:ext cx="3925043" cy="562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Example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2971800" cy="6172200"/>
          </a:xfrm>
        </p:spPr>
        <p:txBody>
          <a:bodyPr>
            <a:noAutofit/>
          </a:bodyPr>
          <a:lstStyle/>
          <a:p>
            <a:r>
              <a:rPr lang="en-GB" sz="1800" dirty="0"/>
              <a:t>Here is a program. How many test cases will you need to achieve 100 </a:t>
            </a:r>
            <a:r>
              <a:rPr lang="en-GB" sz="1800" dirty="0" smtClean="0"/>
              <a:t>percent statement </a:t>
            </a:r>
            <a:r>
              <a:rPr lang="en-GB" sz="1800" dirty="0"/>
              <a:t>coverage and what will the test cases be?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33800" y="685800"/>
            <a:ext cx="5068694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66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Example - Solution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1" y="533400"/>
            <a:ext cx="4705762" cy="6172200"/>
          </a:xfrm>
        </p:spPr>
        <p:txBody>
          <a:bodyPr>
            <a:noAutofit/>
          </a:bodyPr>
          <a:lstStyle/>
          <a:p>
            <a:r>
              <a:rPr lang="en-GB" sz="1800" dirty="0"/>
              <a:t>It is clear from the flow graph that the left-hand side (Balance below £1,000) </a:t>
            </a:r>
            <a:r>
              <a:rPr lang="en-GB" sz="1800" dirty="0" smtClean="0"/>
              <a:t>need not </a:t>
            </a:r>
            <a:r>
              <a:rPr lang="en-GB" sz="1800" dirty="0"/>
              <a:t>be exercised, but there are two alternative paths (Balance between £</a:t>
            </a:r>
            <a:r>
              <a:rPr lang="en-GB" sz="1800" dirty="0" smtClean="0"/>
              <a:t>1,000 and </a:t>
            </a:r>
            <a:r>
              <a:rPr lang="en-GB" sz="1800" dirty="0"/>
              <a:t>£10,000 and Balance &gt; £10,000) that need to be exercised.</a:t>
            </a:r>
          </a:p>
          <a:p>
            <a:r>
              <a:rPr lang="en-GB" sz="1800" dirty="0"/>
              <a:t>So we need two test cases for 100 per cent statement coverage and Balance </a:t>
            </a:r>
            <a:r>
              <a:rPr lang="en-GB" sz="1800" dirty="0" smtClean="0"/>
              <a:t>= £</a:t>
            </a:r>
            <a:r>
              <a:rPr lang="en-GB" sz="1800" dirty="0"/>
              <a:t>5,000, Balance = £20,000 will be suitable test cases.</a:t>
            </a:r>
          </a:p>
          <a:p>
            <a:r>
              <a:rPr lang="en-GB" sz="1800" dirty="0"/>
              <a:t>Alternatively we can aim to follow the paths </a:t>
            </a:r>
            <a:r>
              <a:rPr lang="en-GB" sz="1800" dirty="0" smtClean="0"/>
              <a:t>‘</a:t>
            </a:r>
            <a:r>
              <a:rPr lang="en-GB" sz="1800" b="1" dirty="0" err="1" smtClean="0"/>
              <a:t>abcegh</a:t>
            </a:r>
            <a:r>
              <a:rPr lang="en-GB" sz="1800" dirty="0" smtClean="0"/>
              <a:t>’ </a:t>
            </a:r>
            <a:r>
              <a:rPr lang="en-GB" sz="1800" dirty="0"/>
              <a:t>and </a:t>
            </a:r>
            <a:r>
              <a:rPr lang="en-GB" sz="1800" dirty="0" smtClean="0"/>
              <a:t>‘</a:t>
            </a:r>
            <a:r>
              <a:rPr lang="en-GB" sz="1800" b="1" dirty="0" err="1" smtClean="0"/>
              <a:t>abdfgh</a:t>
            </a:r>
            <a:r>
              <a:rPr lang="en-GB" sz="1800" dirty="0" smtClean="0"/>
              <a:t>’ </a:t>
            </a:r>
            <a:r>
              <a:rPr lang="en-GB" sz="1800" dirty="0"/>
              <a:t>marked on </a:t>
            </a:r>
            <a:r>
              <a:rPr lang="en-GB" sz="1800" dirty="0" smtClean="0"/>
              <a:t>the flow </a:t>
            </a:r>
            <a:r>
              <a:rPr lang="en-GB" sz="1800" dirty="0"/>
              <a:t>graph. </a:t>
            </a:r>
            <a:endParaRPr lang="en-GB" sz="1800" dirty="0" smtClean="0"/>
          </a:p>
          <a:p>
            <a:r>
              <a:rPr lang="en-GB" sz="1800" dirty="0" smtClean="0"/>
              <a:t>How </a:t>
            </a:r>
            <a:r>
              <a:rPr lang="en-GB" sz="1800" dirty="0"/>
              <a:t>many test cases do we need to do that?</a:t>
            </a:r>
          </a:p>
          <a:p>
            <a:r>
              <a:rPr lang="en-GB" sz="1800" dirty="0"/>
              <a:t>We can do this with one test case to set the initial balance value to a </a:t>
            </a:r>
            <a:r>
              <a:rPr lang="en-GB" sz="1800" dirty="0" smtClean="0"/>
              <a:t>value between </a:t>
            </a:r>
            <a:r>
              <a:rPr lang="en-GB" sz="1800" dirty="0"/>
              <a:t>£1,000 and £10,000 (to follow </a:t>
            </a:r>
            <a:r>
              <a:rPr lang="en-GB" sz="1800" dirty="0" smtClean="0"/>
              <a:t>‘</a:t>
            </a:r>
            <a:r>
              <a:rPr lang="en-GB" sz="1800" b="1" dirty="0" err="1" smtClean="0"/>
              <a:t>abcegh</a:t>
            </a:r>
            <a:r>
              <a:rPr lang="en-GB" sz="1800" dirty="0" smtClean="0"/>
              <a:t>’) </a:t>
            </a:r>
            <a:r>
              <a:rPr lang="en-GB" sz="1800" dirty="0"/>
              <a:t>and one test case to set the </a:t>
            </a:r>
            <a:r>
              <a:rPr lang="en-GB" sz="1800" dirty="0" smtClean="0"/>
              <a:t>initial balance </a:t>
            </a:r>
            <a:r>
              <a:rPr lang="en-GB" sz="1800" dirty="0"/>
              <a:t>to something higher than £</a:t>
            </a:r>
            <a:r>
              <a:rPr lang="en-GB" sz="1800" b="1" dirty="0"/>
              <a:t>10,000</a:t>
            </a:r>
            <a:r>
              <a:rPr lang="en-GB" sz="1800" dirty="0"/>
              <a:t>, say £</a:t>
            </a:r>
            <a:r>
              <a:rPr lang="en-GB" sz="1800" b="1" dirty="0"/>
              <a:t>12,000</a:t>
            </a:r>
            <a:r>
              <a:rPr lang="en-GB" sz="1800" dirty="0"/>
              <a:t> (to follow path </a:t>
            </a:r>
            <a:r>
              <a:rPr lang="en-GB" sz="1800" dirty="0" smtClean="0"/>
              <a:t>‘</a:t>
            </a:r>
            <a:r>
              <a:rPr lang="en-GB" sz="1800" b="1" dirty="0" err="1" smtClean="0"/>
              <a:t>abdfgh</a:t>
            </a:r>
            <a:r>
              <a:rPr lang="en-GB" sz="1800" dirty="0" smtClean="0"/>
              <a:t>’).</a:t>
            </a:r>
            <a:endParaRPr lang="en-GB" sz="1800" dirty="0"/>
          </a:p>
          <a:p>
            <a:r>
              <a:rPr lang="en-GB" sz="1800" dirty="0"/>
              <a:t>So </a:t>
            </a:r>
            <a:r>
              <a:rPr lang="en-GB" sz="1800" b="1" dirty="0"/>
              <a:t>we need two test cases to achieve 100 per cent statement coverage </a:t>
            </a:r>
            <a:r>
              <a:rPr lang="en-GB" sz="1800" dirty="0"/>
              <a:t>in this case.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45449" y="683856"/>
            <a:ext cx="3923198" cy="465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0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795</Words>
  <Application>Microsoft Office PowerPoint</Application>
  <PresentationFormat>On-screen Show (4:3)</PresentationFormat>
  <Paragraphs>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Control Flow Graph</vt:lpstr>
      <vt:lpstr>Control Flow Subgraphs</vt:lpstr>
      <vt:lpstr>Drawing a Control flow Graph</vt:lpstr>
      <vt:lpstr>Example</vt:lpstr>
      <vt:lpstr>… Example - Solution</vt:lpstr>
      <vt:lpstr>… Example – Solution …</vt:lpstr>
      <vt:lpstr>… Example – Solution</vt:lpstr>
      <vt:lpstr>Hybrid Flow Graph</vt:lpstr>
      <vt:lpstr>Example</vt:lpstr>
      <vt:lpstr>Example - Solution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</dc:title>
  <dc:creator>gulraiz</dc:creator>
  <cp:lastModifiedBy>Windows User</cp:lastModifiedBy>
  <cp:revision>366</cp:revision>
  <dcterms:created xsi:type="dcterms:W3CDTF">2014-08-12T16:29:38Z</dcterms:created>
  <dcterms:modified xsi:type="dcterms:W3CDTF">2023-12-11T10:36:11Z</dcterms:modified>
</cp:coreProperties>
</file>