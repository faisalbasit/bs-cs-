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78" r:id="rId3"/>
    <p:sldId id="264" r:id="rId4"/>
    <p:sldId id="265" r:id="rId5"/>
    <p:sldId id="267" r:id="rId6"/>
    <p:sldId id="269" r:id="rId7"/>
    <p:sldId id="270" r:id="rId8"/>
    <p:sldId id="268" r:id="rId9"/>
    <p:sldId id="271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87092" autoAdjust="0"/>
  </p:normalViewPr>
  <p:slideViewPr>
    <p:cSldViewPr>
      <p:cViewPr varScale="1">
        <p:scale>
          <a:sx n="65" d="100"/>
          <a:sy n="65" d="100"/>
        </p:scale>
        <p:origin x="150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pPr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79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7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6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31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3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37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37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37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pPr/>
              <a:t>10/18/2023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3F0035-4B67-4B88-B2A0-536AE2AEED2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9D8964A-8303-45DF-99A6-7A9E5BD07E42}"/>
              </a:ext>
            </a:extLst>
          </p:cNvPr>
          <p:cNvSpPr txBox="1"/>
          <p:nvPr/>
        </p:nvSpPr>
        <p:spPr>
          <a:xfrm>
            <a:off x="1603513" y="192155"/>
            <a:ext cx="74742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Sir Syed University of Engineering &amp; Technology, Karachi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1F3346B-A340-42AA-BA33-0DABD69A99CA}"/>
              </a:ext>
            </a:extLst>
          </p:cNvPr>
          <p:cNvSpPr txBox="1">
            <a:spLocks/>
          </p:cNvSpPr>
          <p:nvPr/>
        </p:nvSpPr>
        <p:spPr>
          <a:xfrm>
            <a:off x="165942" y="1981200"/>
            <a:ext cx="8825658" cy="2016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CS-468</a:t>
            </a:r>
            <a:b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Software Quality Assurance &amp; Testing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xmlns="" id="{726CA34A-B113-49BC-A1A5-0573BEE18E05}"/>
              </a:ext>
            </a:extLst>
          </p:cNvPr>
          <p:cNvSpPr txBox="1">
            <a:spLocks/>
          </p:cNvSpPr>
          <p:nvPr/>
        </p:nvSpPr>
        <p:spPr>
          <a:xfrm>
            <a:off x="0" y="396240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Week 7</a:t>
            </a: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3200" dirty="0" smtClean="0"/>
              <a:t>Session 2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0" y="12290"/>
            <a:ext cx="1324160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Decision Tables …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A decision table is an excellent tool to use in both testing and requirements management.</a:t>
            </a:r>
          </a:p>
          <a:p>
            <a:r>
              <a:rPr lang="en-GB" sz="1800" dirty="0"/>
              <a:t>Essentially it is a structured exercise to formulate requirements when dealing with complex business rules.</a:t>
            </a:r>
          </a:p>
          <a:p>
            <a:r>
              <a:rPr lang="en-GB" sz="1800" dirty="0"/>
              <a:t>Decision tables are used to model complicated logic.</a:t>
            </a:r>
          </a:p>
          <a:p>
            <a:r>
              <a:rPr lang="en-GB" sz="1800" dirty="0"/>
              <a:t>They can make it easy to see that all possible combinations of conditions have been considered and when conditions are missed, it is easy to see this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In a decision table, conditions are usually expressed as true (T) or false (F).</a:t>
            </a:r>
          </a:p>
          <a:p>
            <a:r>
              <a:rPr lang="en-GB" sz="1800" dirty="0"/>
              <a:t>Each column in the table corresponds to a rule in the business logic that describes the unique combination of circumstances that will result in the actions.</a:t>
            </a:r>
          </a:p>
          <a:p>
            <a:r>
              <a:rPr lang="en-GB" sz="1800" dirty="0"/>
              <a:t>It is normal to create at least one test case per column, which results in full coverage of all business rules.</a:t>
            </a:r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Decision Tables …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One advantage of using decision tables is that they make it possible to detect combinations of conditions that would otherwise not have been found and therefore not tested or developed.</a:t>
            </a:r>
          </a:p>
          <a:p>
            <a:r>
              <a:rPr lang="en-GB" sz="1800" dirty="0"/>
              <a:t>The requirements become much clearer and you often realize that some requirements are illogical, something that is hard to see when the requirements are only expressed in </a:t>
            </a:r>
            <a:r>
              <a:rPr lang="en-GB" sz="1800" dirty="0" smtClean="0"/>
              <a:t>text.</a:t>
            </a:r>
          </a:p>
          <a:p>
            <a:r>
              <a:rPr lang="en-GB" sz="1800" dirty="0" smtClean="0"/>
              <a:t>A </a:t>
            </a:r>
            <a:r>
              <a:rPr lang="en-GB" sz="1800" dirty="0"/>
              <a:t>disadvantage of the technique is that a decision table is not equivalent to complete test cases containing step-by-step instructions of what to do in what order.</a:t>
            </a:r>
          </a:p>
          <a:p>
            <a:r>
              <a:rPr lang="en-GB" sz="1800" dirty="0"/>
              <a:t>When this level of detail is required, the decision table has to be further detailed into test cases</a:t>
            </a:r>
            <a:r>
              <a:rPr lang="en-GB" sz="1800" dirty="0" smtClean="0"/>
              <a:t>.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5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 … Decision Tables …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Decision tables can be used in all situations where the outcome depends on the combinations of different choices, and that is usually very often.</a:t>
            </a:r>
          </a:p>
          <a:p>
            <a:r>
              <a:rPr lang="en-GB" sz="1800" dirty="0"/>
              <a:t>In many systems there are tons of business rules where decision tables add a lot of value.</a:t>
            </a:r>
          </a:p>
          <a:p>
            <a:r>
              <a:rPr lang="en-GB" sz="1800" dirty="0"/>
              <a:t>Decision tables should best be constructed during system design, since they become useful to both developers and testers. </a:t>
            </a:r>
          </a:p>
          <a:p>
            <a:r>
              <a:rPr lang="en-GB" sz="1800" dirty="0"/>
              <a:t>The requirements specialist also becomes more confident that everything that is important is actually documented. </a:t>
            </a:r>
          </a:p>
          <a:p>
            <a:r>
              <a:rPr lang="en-GB" sz="1800" dirty="0"/>
              <a:t>If there are no decision tables, testers can create them during test design to be able to write better test cases.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9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 … Decision Tables …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57287" y="1185862"/>
            <a:ext cx="68294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1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 … Decision Tables …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43175" y="1143000"/>
            <a:ext cx="405765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6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 … Decision Tables …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8700" y="1757362"/>
            <a:ext cx="70866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4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Decision Tables – Example 1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99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A customer </a:t>
            </a:r>
            <a:r>
              <a:rPr lang="en-GB" sz="2000" b="1" dirty="0"/>
              <a:t>requests a cash withdrawal</a:t>
            </a:r>
            <a:r>
              <a:rPr lang="en-GB" sz="2000" dirty="0"/>
              <a:t>. One of the </a:t>
            </a:r>
            <a:r>
              <a:rPr lang="en-GB" sz="2000" b="1" dirty="0"/>
              <a:t>business rules </a:t>
            </a:r>
            <a:r>
              <a:rPr lang="en-GB" sz="2000" dirty="0"/>
              <a:t>for the ATM is that the ATM </a:t>
            </a:r>
            <a:r>
              <a:rPr lang="en-GB" sz="2000" b="1" dirty="0"/>
              <a:t>machine pays out </a:t>
            </a:r>
            <a:r>
              <a:rPr lang="en-GB" sz="2000" dirty="0"/>
              <a:t>the amount if the customer has </a:t>
            </a:r>
            <a:r>
              <a:rPr lang="en-GB" sz="2000" b="1" dirty="0"/>
              <a:t>sufficient funds </a:t>
            </a:r>
            <a:r>
              <a:rPr lang="en-GB" sz="2000" dirty="0"/>
              <a:t>in their account or if the customer has the </a:t>
            </a:r>
            <a:r>
              <a:rPr lang="en-GB" sz="2000" b="1" dirty="0"/>
              <a:t>credit granted</a:t>
            </a:r>
            <a:r>
              <a:rPr lang="en-GB" sz="2000" dirty="0"/>
              <a:t>. 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0" y="2133600"/>
            <a:ext cx="737748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4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Decision Tables – Example 2 ...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3200400"/>
          </a:xfrm>
        </p:spPr>
        <p:txBody>
          <a:bodyPr>
            <a:noAutofit/>
          </a:bodyPr>
          <a:lstStyle/>
          <a:p>
            <a:r>
              <a:rPr lang="en-US" sz="2000" dirty="0" smtClean="0"/>
              <a:t>A mutual insurance company has decided to float its shares on the stock exchange and is offering its members rewards for their past custom at the time of flotation. </a:t>
            </a:r>
            <a:r>
              <a:rPr lang="en-US" sz="2000" b="1" dirty="0" smtClean="0"/>
              <a:t>Anyone with a current policy will benefit provided it is a ‘with-profits’ policy and they have held it since 2001. Those who meet these criteria can opt for either a cash payment or an allocation of shares in the new company; those who have held a qualifying policy for less than the required time will be eligible for a cash payment but not for shares. </a:t>
            </a:r>
            <a:r>
              <a:rPr lang="en-US" sz="2000" dirty="0" smtClean="0"/>
              <a:t>Generate decision table for the scenario.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4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... Decision Tables – Example 2 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09600"/>
            <a:ext cx="73914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5334000"/>
            <a:ext cx="8229600" cy="990600"/>
          </a:xfrm>
        </p:spPr>
        <p:txBody>
          <a:bodyPr>
            <a:noAutofit/>
          </a:bodyPr>
          <a:lstStyle/>
          <a:p>
            <a:r>
              <a:rPr lang="en-US" sz="2000" dirty="0" smtClean="0"/>
              <a:t>Billy will be eligible for a cash payment but not for a share allocation.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054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593</Words>
  <Application>Microsoft Office PowerPoint</Application>
  <PresentationFormat>On-screen Show (4:3)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Decision Tables …</vt:lpstr>
      <vt:lpstr>… Decision Tables …</vt:lpstr>
      <vt:lpstr> … Decision Tables …</vt:lpstr>
      <vt:lpstr> … Decision Tables …</vt:lpstr>
      <vt:lpstr> … Decision Tables …</vt:lpstr>
      <vt:lpstr> … Decision Tables …</vt:lpstr>
      <vt:lpstr>Decision Tables – Example 1</vt:lpstr>
      <vt:lpstr>Decision Tables – Example 2 ...</vt:lpstr>
      <vt:lpstr>... Decision Tables – Example 2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315</cp:revision>
  <dcterms:created xsi:type="dcterms:W3CDTF">2014-08-12T16:29:38Z</dcterms:created>
  <dcterms:modified xsi:type="dcterms:W3CDTF">2023-10-18T09:25:32Z</dcterms:modified>
</cp:coreProperties>
</file>