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262" r:id="rId2"/>
    <p:sldId id="289" r:id="rId3"/>
    <p:sldId id="291" r:id="rId4"/>
    <p:sldId id="292" r:id="rId5"/>
    <p:sldId id="293" r:id="rId6"/>
    <p:sldId id="294" r:id="rId7"/>
    <p:sldId id="295" r:id="rId8"/>
    <p:sldId id="290" r:id="rId9"/>
    <p:sldId id="272" r:id="rId10"/>
    <p:sldId id="263" r:id="rId11"/>
    <p:sldId id="264" r:id="rId12"/>
    <p:sldId id="273" r:id="rId13"/>
    <p:sldId id="274" r:id="rId14"/>
    <p:sldId id="275" r:id="rId15"/>
    <p:sldId id="276" r:id="rId16"/>
    <p:sldId id="277" r:id="rId17"/>
    <p:sldId id="278" r:id="rId18"/>
    <p:sldId id="267" r:id="rId19"/>
    <p:sldId id="280" r:id="rId20"/>
    <p:sldId id="281" r:id="rId21"/>
    <p:sldId id="282" r:id="rId22"/>
    <p:sldId id="283" r:id="rId23"/>
    <p:sldId id="268" r:id="rId24"/>
    <p:sldId id="284" r:id="rId25"/>
    <p:sldId id="285" r:id="rId26"/>
    <p:sldId id="286" r:id="rId27"/>
    <p:sldId id="287" r:id="rId28"/>
    <p:sldId id="269" r:id="rId29"/>
    <p:sldId id="271" r:id="rId3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1386" y="7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D2A68BC-087B-4804-80E7-54E6BF9D6720}" type="datetimeFigureOut">
              <a:rPr lang="en-US" smtClean="0"/>
              <a:pPr/>
              <a:t>10/18/2023</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CA53098-A02F-43AC-83B0-8400FDBB11FC}" type="slidenum">
              <a:rPr lang="en-US" smtClean="0"/>
              <a:pPr/>
              <a:t>‹#›</a:t>
            </a:fld>
            <a:endParaRPr lang="en-US"/>
          </a:p>
        </p:txBody>
      </p:sp>
    </p:spTree>
    <p:extLst>
      <p:ext uri="{BB962C8B-B14F-4D97-AF65-F5344CB8AC3E}">
        <p14:creationId xmlns:p14="http://schemas.microsoft.com/office/powerpoint/2010/main" val="36797065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CA53098-A02F-43AC-83B0-8400FDBB11FC}" type="slidenum">
              <a:rPr lang="en-US" smtClean="0"/>
              <a:pPr/>
              <a:t>1</a:t>
            </a:fld>
            <a:endParaRPr lang="en-US"/>
          </a:p>
        </p:txBody>
      </p:sp>
    </p:spTree>
    <p:extLst>
      <p:ext uri="{BB962C8B-B14F-4D97-AF65-F5344CB8AC3E}">
        <p14:creationId xmlns:p14="http://schemas.microsoft.com/office/powerpoint/2010/main" val="3678370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CA53098-A02F-43AC-83B0-8400FDBB11FC}" type="slidenum">
              <a:rPr lang="en-US" smtClean="0"/>
              <a:pPr/>
              <a:t>2</a:t>
            </a:fld>
            <a:endParaRPr lang="en-US"/>
          </a:p>
        </p:txBody>
      </p:sp>
    </p:spTree>
    <p:extLst>
      <p:ext uri="{BB962C8B-B14F-4D97-AF65-F5344CB8AC3E}">
        <p14:creationId xmlns:p14="http://schemas.microsoft.com/office/powerpoint/2010/main" val="38925335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CA53098-A02F-43AC-83B0-8400FDBB11FC}" type="slidenum">
              <a:rPr lang="en-US" smtClean="0"/>
              <a:pPr/>
              <a:t>3</a:t>
            </a:fld>
            <a:endParaRPr lang="en-US"/>
          </a:p>
        </p:txBody>
      </p:sp>
    </p:spTree>
    <p:extLst>
      <p:ext uri="{BB962C8B-B14F-4D97-AF65-F5344CB8AC3E}">
        <p14:creationId xmlns:p14="http://schemas.microsoft.com/office/powerpoint/2010/main" val="26048611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CA53098-A02F-43AC-83B0-8400FDBB11FC}" type="slidenum">
              <a:rPr lang="en-US" smtClean="0"/>
              <a:pPr/>
              <a:t>4</a:t>
            </a:fld>
            <a:endParaRPr lang="en-US"/>
          </a:p>
        </p:txBody>
      </p:sp>
    </p:spTree>
    <p:extLst>
      <p:ext uri="{BB962C8B-B14F-4D97-AF65-F5344CB8AC3E}">
        <p14:creationId xmlns:p14="http://schemas.microsoft.com/office/powerpoint/2010/main" val="6747792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CA53098-A02F-43AC-83B0-8400FDBB11FC}" type="slidenum">
              <a:rPr lang="en-US" smtClean="0"/>
              <a:pPr/>
              <a:t>5</a:t>
            </a:fld>
            <a:endParaRPr lang="en-US"/>
          </a:p>
        </p:txBody>
      </p:sp>
    </p:spTree>
    <p:extLst>
      <p:ext uri="{BB962C8B-B14F-4D97-AF65-F5344CB8AC3E}">
        <p14:creationId xmlns:p14="http://schemas.microsoft.com/office/powerpoint/2010/main" val="27478827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CA53098-A02F-43AC-83B0-8400FDBB11FC}" type="slidenum">
              <a:rPr lang="en-US" smtClean="0"/>
              <a:pPr/>
              <a:t>6</a:t>
            </a:fld>
            <a:endParaRPr lang="en-US"/>
          </a:p>
        </p:txBody>
      </p:sp>
    </p:spTree>
    <p:extLst>
      <p:ext uri="{BB962C8B-B14F-4D97-AF65-F5344CB8AC3E}">
        <p14:creationId xmlns:p14="http://schemas.microsoft.com/office/powerpoint/2010/main" val="5107246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CA53098-A02F-43AC-83B0-8400FDBB11FC}" type="slidenum">
              <a:rPr lang="en-US" smtClean="0"/>
              <a:pPr/>
              <a:t>7</a:t>
            </a:fld>
            <a:endParaRPr lang="en-US"/>
          </a:p>
        </p:txBody>
      </p:sp>
    </p:spTree>
    <p:extLst>
      <p:ext uri="{BB962C8B-B14F-4D97-AF65-F5344CB8AC3E}">
        <p14:creationId xmlns:p14="http://schemas.microsoft.com/office/powerpoint/2010/main" val="10926460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CA53098-A02F-43AC-83B0-8400FDBB11FC}" type="slidenum">
              <a:rPr lang="en-US" smtClean="0"/>
              <a:pPr/>
              <a:t>8</a:t>
            </a:fld>
            <a:endParaRPr lang="en-US"/>
          </a:p>
        </p:txBody>
      </p:sp>
    </p:spTree>
    <p:extLst>
      <p:ext uri="{BB962C8B-B14F-4D97-AF65-F5344CB8AC3E}">
        <p14:creationId xmlns:p14="http://schemas.microsoft.com/office/powerpoint/2010/main" val="19707113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CA53098-A02F-43AC-83B0-8400FDBB11FC}" type="slidenum">
              <a:rPr lang="en-US" smtClean="0"/>
              <a:pPr/>
              <a:t>9</a:t>
            </a:fld>
            <a:endParaRPr lang="en-US"/>
          </a:p>
        </p:txBody>
      </p:sp>
    </p:spTree>
    <p:extLst>
      <p:ext uri="{BB962C8B-B14F-4D97-AF65-F5344CB8AC3E}">
        <p14:creationId xmlns:p14="http://schemas.microsoft.com/office/powerpoint/2010/main" val="36624130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3EF4250-741B-442A-9703-012BAF15BAAC}" type="datetime1">
              <a:rPr lang="en-US" smtClean="0"/>
              <a:pPr/>
              <a:t>10/18/2023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val="24669785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3D816B4-16E8-4062-88BC-ECA9BFE00428}" type="datetime1">
              <a:rPr lang="en-US" smtClean="0"/>
              <a:pPr/>
              <a:t>10/18/2023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val="17225507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3CF6598-E98D-41E9-AC1F-40993110B2E2}" type="datetime1">
              <a:rPr lang="en-US" smtClean="0"/>
              <a:pPr/>
              <a:t>10/18/2023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val="11295726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291D4A01-3715-4476-A057-955DFD278091}" type="datetime1">
              <a:rPr lang="en-US" smtClean="0"/>
              <a:pPr/>
              <a:t>10/18/2023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val="859152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AF793C02-4A9B-4362-AC6F-20FFF8DED461}" type="datetime1">
              <a:rPr lang="en-US" smtClean="0"/>
              <a:pPr/>
              <a:t>10/18/2023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val="40950850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1A3C571-B71D-45C8-8B1B-35BCC2DA467A}" type="datetime1">
              <a:rPr lang="en-US" smtClean="0"/>
              <a:pPr/>
              <a:t>10/18/2023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val="34553100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B3D478-9CFC-4269-8AE4-00D2F07081AD}" type="datetime1">
              <a:rPr lang="en-US" smtClean="0"/>
              <a:pPr/>
              <a:t>10/18/2023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val="26433688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DAC7258-29DB-40D6-BF3F-E918B183B515}" type="datetime1">
              <a:rPr lang="en-US" smtClean="0"/>
              <a:pPr/>
              <a:t>10/18/2023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val="11002106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5CD29DC-3073-4B54-8EE5-E93562EFCDAC}" type="datetime1">
              <a:rPr lang="en-US" smtClean="0"/>
              <a:pPr/>
              <a:t>10/18/2023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val="42834486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65975A9-2543-49D8-B35B-ED476DA0ED73}" type="datetime1">
              <a:rPr lang="en-US" smtClean="0"/>
              <a:pPr/>
              <a:t>10/18/2023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val="21209799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EF7BFD3-FA8E-4E08-91B4-E94DC0FF8BBB}" type="datetime1">
              <a:rPr lang="en-US" smtClean="0"/>
              <a:pPr/>
              <a:t>10/18/2023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val="19385642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05BFD0B-D7A9-4808-B8C9-44A20956DF29}" type="datetime1">
              <a:rPr lang="en-US" smtClean="0"/>
              <a:pPr/>
              <a:t>10/18/2023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3F0035-4B67-4B88-B2A0-536AE2AEED21}" type="slidenum">
              <a:rPr lang="en-US" smtClean="0"/>
              <a:pPr/>
              <a:t>‹#›</a:t>
            </a:fld>
            <a:endParaRPr lang="en-US"/>
          </a:p>
        </p:txBody>
      </p:sp>
    </p:spTree>
    <p:extLst>
      <p:ext uri="{BB962C8B-B14F-4D97-AF65-F5344CB8AC3E}">
        <p14:creationId xmlns:p14="http://schemas.microsoft.com/office/powerpoint/2010/main" val="1255663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3"/>
          <p:cNvSpPr>
            <a:spLocks noGrp="1"/>
          </p:cNvSpPr>
          <p:nvPr>
            <p:ph type="sldNum" sz="quarter" idx="12"/>
          </p:nvPr>
        </p:nvSpPr>
        <p:spPr>
          <a:xfrm>
            <a:off x="6553200" y="6356350"/>
            <a:ext cx="2133600" cy="365125"/>
          </a:xfrm>
        </p:spPr>
        <p:txBody>
          <a:bodyPr/>
          <a:lstStyle/>
          <a:p>
            <a:fld id="{243F0035-4B67-4B88-B2A0-536AE2AEED21}" type="slidenum">
              <a:rPr lang="en-US" smtClean="0"/>
              <a:pPr/>
              <a:t>1</a:t>
            </a:fld>
            <a:endParaRPr lang="en-US"/>
          </a:p>
        </p:txBody>
      </p:sp>
      <p:sp>
        <p:nvSpPr>
          <p:cNvPr id="11" name="TextBox 10">
            <a:extLst>
              <a:ext uri="{FF2B5EF4-FFF2-40B4-BE49-F238E27FC236}">
                <a16:creationId xmlns:a16="http://schemas.microsoft.com/office/drawing/2014/main" xmlns="" id="{99D8964A-8303-45DF-99A6-7A9E5BD07E42}"/>
              </a:ext>
            </a:extLst>
          </p:cNvPr>
          <p:cNvSpPr txBox="1"/>
          <p:nvPr/>
        </p:nvSpPr>
        <p:spPr>
          <a:xfrm>
            <a:off x="1603513" y="192155"/>
            <a:ext cx="7474226" cy="371061"/>
          </a:xfrm>
          <a:prstGeom prst="rect">
            <a:avLst/>
          </a:prstGeom>
          <a:noFill/>
        </p:spPr>
        <p:txBody>
          <a:bodyPr wrap="square" rtlCol="0">
            <a:spAutoFit/>
          </a:bodyPr>
          <a:lstStyle/>
          <a:p>
            <a:r>
              <a:rPr lang="en-US" dirty="0"/>
              <a:t>Sir Syed University of Engineering &amp; Technology, Karachi</a:t>
            </a:r>
          </a:p>
        </p:txBody>
      </p:sp>
      <p:sp>
        <p:nvSpPr>
          <p:cNvPr id="14" name="Title 1">
            <a:extLst>
              <a:ext uri="{FF2B5EF4-FFF2-40B4-BE49-F238E27FC236}">
                <a16:creationId xmlns:a16="http://schemas.microsoft.com/office/drawing/2014/main" xmlns="" id="{11F3346B-A340-42AA-BA33-0DABD69A99CA}"/>
              </a:ext>
            </a:extLst>
          </p:cNvPr>
          <p:cNvSpPr txBox="1">
            <a:spLocks/>
          </p:cNvSpPr>
          <p:nvPr/>
        </p:nvSpPr>
        <p:spPr>
          <a:xfrm>
            <a:off x="165942" y="1981200"/>
            <a:ext cx="8825658" cy="2016763"/>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smtClean="0">
                <a:ln>
                  <a:noFill/>
                </a:ln>
                <a:solidFill>
                  <a:schemeClr val="tx1"/>
                </a:solidFill>
                <a:effectLst/>
                <a:uLnTx/>
                <a:uFillTx/>
                <a:latin typeface="+mj-lt"/>
                <a:ea typeface="+mj-ea"/>
                <a:cs typeface="+mj-cs"/>
              </a:rPr>
              <a:t>CS-468</a:t>
            </a:r>
            <a:r>
              <a:rPr kumimoji="0" lang="en-US" sz="4400" b="0" i="0" u="none" strike="noStrike" kern="1200" cap="none" spc="0" normalizeH="0" baseline="0" noProof="0" dirty="0" smtClean="0">
                <a:ln>
                  <a:noFill/>
                </a:ln>
                <a:solidFill>
                  <a:schemeClr val="tx1"/>
                </a:solidFill>
                <a:effectLst/>
                <a:uLnTx/>
                <a:uFillTx/>
                <a:latin typeface="+mj-lt"/>
                <a:ea typeface="+mj-ea"/>
                <a:cs typeface="+mj-cs"/>
              </a:rPr>
              <a:t/>
            </a:r>
            <a:br>
              <a:rPr kumimoji="0" lang="en-US" sz="4400" b="0" i="0" u="none" strike="noStrike" kern="1200" cap="none" spc="0" normalizeH="0" baseline="0" noProof="0" dirty="0" smtClean="0">
                <a:ln>
                  <a:noFill/>
                </a:ln>
                <a:solidFill>
                  <a:schemeClr val="tx1"/>
                </a:solidFill>
                <a:effectLst/>
                <a:uLnTx/>
                <a:uFillTx/>
                <a:latin typeface="+mj-lt"/>
                <a:ea typeface="+mj-ea"/>
                <a:cs typeface="+mj-cs"/>
              </a:rPr>
            </a:br>
            <a:r>
              <a:rPr kumimoji="0" lang="en-US" sz="4400" b="0" i="0" u="none" strike="noStrike" kern="1200" cap="none" spc="0" normalizeH="0" baseline="0" noProof="0" dirty="0" smtClean="0">
                <a:ln>
                  <a:noFill/>
                </a:ln>
                <a:solidFill>
                  <a:schemeClr val="tx1"/>
                </a:solidFill>
                <a:effectLst/>
                <a:uLnTx/>
                <a:uFillTx/>
                <a:latin typeface="+mj-lt"/>
                <a:ea typeface="+mj-ea"/>
                <a:cs typeface="+mj-cs"/>
              </a:rPr>
              <a:t>Software Quality Assurance &amp; Testing</a:t>
            </a:r>
            <a:endParaRPr kumimoji="0" lang="en-US" sz="4400" b="0" i="0" u="none" strike="noStrike" kern="1200" cap="none" spc="0" normalizeH="0" baseline="0" noProof="0" dirty="0">
              <a:ln>
                <a:noFill/>
              </a:ln>
              <a:solidFill>
                <a:schemeClr val="tx1"/>
              </a:solidFill>
              <a:effectLst/>
              <a:uLnTx/>
              <a:uFillTx/>
              <a:latin typeface="+mj-lt"/>
              <a:ea typeface="+mj-ea"/>
              <a:cs typeface="+mj-cs"/>
            </a:endParaRPr>
          </a:p>
        </p:txBody>
      </p:sp>
      <p:sp>
        <p:nvSpPr>
          <p:cNvPr id="15" name="Subtitle 2">
            <a:extLst>
              <a:ext uri="{FF2B5EF4-FFF2-40B4-BE49-F238E27FC236}">
                <a16:creationId xmlns:a16="http://schemas.microsoft.com/office/drawing/2014/main" xmlns="" id="{726CA34A-B113-49BC-A1A5-0573BEE18E05}"/>
              </a:ext>
            </a:extLst>
          </p:cNvPr>
          <p:cNvSpPr txBox="1">
            <a:spLocks/>
          </p:cNvSpPr>
          <p:nvPr/>
        </p:nvSpPr>
        <p:spPr>
          <a:xfrm>
            <a:off x="0" y="3962400"/>
            <a:ext cx="9144000" cy="1655762"/>
          </a:xfrm>
          <a:prstGeom prst="rect">
            <a:avLst/>
          </a:prstGeom>
        </p:spPr>
        <p:txBody>
          <a:bodyPr vert="horz" lIns="91440" tIns="45720" rIns="91440" bIns="45720" rtlCol="0">
            <a:normAutofit/>
          </a:bodyPr>
          <a:lstStyle/>
          <a:p>
            <a:pPr marL="342900" marR="0" lvl="0" indent="-342900" algn="ctr" defTabSz="914400" rtl="0" eaLnBrk="1" fontAlgn="auto" latinLnBrk="0" hangingPunct="1">
              <a:lnSpc>
                <a:spcPct val="100000"/>
              </a:lnSpc>
              <a:spcBef>
                <a:spcPct val="20000"/>
              </a:spcBef>
              <a:spcAft>
                <a:spcPts val="0"/>
              </a:spcAft>
              <a:buClrTx/>
              <a:buSzTx/>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Week 3</a:t>
            </a:r>
          </a:p>
          <a:p>
            <a:pPr marL="342900" marR="0" lvl="0" indent="-342900" algn="ctr" defTabSz="914400" rtl="0" eaLnBrk="1" fontAlgn="auto" latinLnBrk="0" hangingPunct="1">
              <a:lnSpc>
                <a:spcPct val="100000"/>
              </a:lnSpc>
              <a:spcBef>
                <a:spcPct val="20000"/>
              </a:spcBef>
              <a:spcAft>
                <a:spcPts val="0"/>
              </a:spcAft>
              <a:buClrTx/>
              <a:buSzTx/>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Session 1 &amp; Session 2</a:t>
            </a:r>
            <a:endParaRPr kumimoji="0" lang="en-US" sz="3200" b="0" i="0" u="none" strike="noStrike" kern="1200" cap="none" spc="0" normalizeH="0" baseline="0" noProof="0" dirty="0">
              <a:ln>
                <a:noFill/>
              </a:ln>
              <a:solidFill>
                <a:schemeClr val="tx1"/>
              </a:solidFill>
              <a:effectLst/>
              <a:uLnTx/>
              <a:uFillTx/>
              <a:latin typeface="+mn-lt"/>
              <a:ea typeface="+mn-ea"/>
              <a:cs typeface="+mn-cs"/>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4138" y="245209"/>
            <a:ext cx="1324160" cy="1324160"/>
          </a:xfrm>
          <a:prstGeom prst="rect">
            <a:avLst/>
          </a:prstGeom>
        </p:spPr>
      </p:pic>
    </p:spTree>
    <p:extLst>
      <p:ext uri="{BB962C8B-B14F-4D97-AF65-F5344CB8AC3E}">
        <p14:creationId xmlns:p14="http://schemas.microsoft.com/office/powerpoint/2010/main" val="38812361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685800"/>
          </a:xfrm>
        </p:spPr>
        <p:txBody>
          <a:bodyPr>
            <a:noAutofit/>
          </a:bodyPr>
          <a:lstStyle/>
          <a:p>
            <a:r>
              <a:rPr lang="en-GB" sz="2400" b="1" dirty="0" smtClean="0"/>
              <a:t>5 Views of Software Quality ...</a:t>
            </a:r>
            <a:endParaRPr lang="en-US" sz="2400" b="1" dirty="0"/>
          </a:p>
        </p:txBody>
      </p:sp>
      <p:sp>
        <p:nvSpPr>
          <p:cNvPr id="7" name="Content Placeholder 2"/>
          <p:cNvSpPr>
            <a:spLocks noGrp="1"/>
          </p:cNvSpPr>
          <p:nvPr>
            <p:ph idx="1"/>
          </p:nvPr>
        </p:nvSpPr>
        <p:spPr>
          <a:xfrm>
            <a:off x="609600" y="685800"/>
            <a:ext cx="8229600" cy="6172200"/>
          </a:xfrm>
        </p:spPr>
        <p:txBody>
          <a:bodyPr>
            <a:noAutofit/>
          </a:bodyPr>
          <a:lstStyle/>
          <a:p>
            <a:r>
              <a:rPr lang="en-US" sz="2000" dirty="0" smtClean="0"/>
              <a:t>Due to the widespread of computers, there has been increasing customer expectations in terms of better quality in software products, and developers are under tremendous pressure to deliver high-quality products at a lower cost. </a:t>
            </a:r>
          </a:p>
          <a:p>
            <a:r>
              <a:rPr lang="en-US" sz="2000" dirty="0" smtClean="0"/>
              <a:t>Even though competing products deliver the same functionalities, it is the lower cost products with better quality attributes that survive in the competitive market. </a:t>
            </a:r>
          </a:p>
          <a:p>
            <a:r>
              <a:rPr lang="en-US" sz="2000" dirty="0" smtClean="0"/>
              <a:t>Therefore, all stakeholders—users, customers, developers, testers, and managers—in a product must have a broad understanding of the overall concept of software quality.</a:t>
            </a:r>
          </a:p>
          <a:p>
            <a:r>
              <a:rPr lang="en-US" sz="2000" dirty="0" smtClean="0"/>
              <a:t>A number of factors influence the making and buying of software products. These factors are user’s needs and expectations, the manufacturer’s considerations, the inherent characteristics of a product, and the perceived value of a product. </a:t>
            </a:r>
          </a:p>
          <a:p>
            <a:r>
              <a:rPr lang="en-US" sz="2000" dirty="0" smtClean="0"/>
              <a:t>To be able to capture the quality concept, it is important to study quality from a broader perspective.</a:t>
            </a:r>
            <a:endParaRPr lang="en-GB" sz="1800" dirty="0"/>
          </a:p>
        </p:txBody>
      </p:sp>
      <p:sp>
        <p:nvSpPr>
          <p:cNvPr id="2" name="Slide Number Placeholder 1"/>
          <p:cNvSpPr>
            <a:spLocks noGrp="1"/>
          </p:cNvSpPr>
          <p:nvPr>
            <p:ph type="sldNum" sz="quarter" idx="12"/>
          </p:nvPr>
        </p:nvSpPr>
        <p:spPr/>
        <p:txBody>
          <a:bodyPr/>
          <a:lstStyle/>
          <a:p>
            <a:fld id="{243F0035-4B67-4B88-B2A0-536AE2AEED21}" type="slidenum">
              <a:rPr lang="en-US" smtClean="0"/>
              <a:pPr/>
              <a:t>2</a:t>
            </a:fld>
            <a:endParaRPr lang="en-US"/>
          </a:p>
        </p:txBody>
      </p:sp>
    </p:spTree>
    <p:extLst>
      <p:ext uri="{BB962C8B-B14F-4D97-AF65-F5344CB8AC3E}">
        <p14:creationId xmlns:p14="http://schemas.microsoft.com/office/powerpoint/2010/main" val="38812361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685800"/>
          </a:xfrm>
        </p:spPr>
        <p:txBody>
          <a:bodyPr>
            <a:noAutofit/>
          </a:bodyPr>
          <a:lstStyle/>
          <a:p>
            <a:r>
              <a:rPr lang="en-GB" sz="2400" b="1" dirty="0" smtClean="0"/>
              <a:t>... 5 Views of Software Quality ...</a:t>
            </a:r>
            <a:endParaRPr lang="en-US" sz="2400" b="1" dirty="0"/>
          </a:p>
        </p:txBody>
      </p:sp>
      <p:sp>
        <p:nvSpPr>
          <p:cNvPr id="7" name="Content Placeholder 2"/>
          <p:cNvSpPr>
            <a:spLocks noGrp="1"/>
          </p:cNvSpPr>
          <p:nvPr>
            <p:ph idx="1"/>
          </p:nvPr>
        </p:nvSpPr>
        <p:spPr>
          <a:xfrm>
            <a:off x="609600" y="685800"/>
            <a:ext cx="8229600" cy="6172200"/>
          </a:xfrm>
        </p:spPr>
        <p:txBody>
          <a:bodyPr>
            <a:noAutofit/>
          </a:bodyPr>
          <a:lstStyle/>
          <a:p>
            <a:r>
              <a:rPr lang="en-US" sz="2000" b="1" dirty="0" smtClean="0"/>
              <a:t>Transcendental View: </a:t>
            </a:r>
          </a:p>
          <a:p>
            <a:pPr lvl="1"/>
            <a:r>
              <a:rPr lang="en-US" sz="2000" dirty="0" smtClean="0"/>
              <a:t>In the transcendental view quality is something that can be recognized through experience but is not defined in some well-mannered form. </a:t>
            </a:r>
          </a:p>
          <a:p>
            <a:pPr lvl="1"/>
            <a:r>
              <a:rPr lang="en-US" sz="2000" dirty="0" smtClean="0"/>
              <a:t>Quality is viewed to be something ideal, which is too complex to lend itself to be precisely defined. </a:t>
            </a:r>
          </a:p>
          <a:p>
            <a:pPr lvl="1"/>
            <a:r>
              <a:rPr lang="en-US" sz="2000" dirty="0" smtClean="0"/>
              <a:t>However, a good-quality object stands out, and it is easily recognized. </a:t>
            </a:r>
          </a:p>
          <a:p>
            <a:pPr lvl="1"/>
            <a:r>
              <a:rPr lang="en-US" sz="2000" dirty="0" smtClean="0"/>
              <a:t>Because of the philosophical nature of the transcendental view, no effort is made to express it using concrete measures.</a:t>
            </a:r>
            <a:endParaRPr lang="en-GB" sz="1800" dirty="0"/>
          </a:p>
        </p:txBody>
      </p:sp>
      <p:sp>
        <p:nvSpPr>
          <p:cNvPr id="2" name="Slide Number Placeholder 1"/>
          <p:cNvSpPr>
            <a:spLocks noGrp="1"/>
          </p:cNvSpPr>
          <p:nvPr>
            <p:ph type="sldNum" sz="quarter" idx="12"/>
          </p:nvPr>
        </p:nvSpPr>
        <p:spPr/>
        <p:txBody>
          <a:bodyPr/>
          <a:lstStyle/>
          <a:p>
            <a:fld id="{243F0035-4B67-4B88-B2A0-536AE2AEED21}" type="slidenum">
              <a:rPr lang="en-US" smtClean="0"/>
              <a:pPr/>
              <a:t>3</a:t>
            </a:fld>
            <a:endParaRPr lang="en-US"/>
          </a:p>
        </p:txBody>
      </p:sp>
    </p:spTree>
    <p:extLst>
      <p:ext uri="{BB962C8B-B14F-4D97-AF65-F5344CB8AC3E}">
        <p14:creationId xmlns:p14="http://schemas.microsoft.com/office/powerpoint/2010/main" val="38812361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685800"/>
          </a:xfrm>
        </p:spPr>
        <p:txBody>
          <a:bodyPr>
            <a:noAutofit/>
          </a:bodyPr>
          <a:lstStyle/>
          <a:p>
            <a:r>
              <a:rPr lang="en-GB" sz="2400" b="1" dirty="0" smtClean="0"/>
              <a:t>... 5 Views of Software Quality ...</a:t>
            </a:r>
            <a:endParaRPr lang="en-US" sz="2400" b="1" dirty="0"/>
          </a:p>
        </p:txBody>
      </p:sp>
      <p:sp>
        <p:nvSpPr>
          <p:cNvPr id="7" name="Content Placeholder 2"/>
          <p:cNvSpPr>
            <a:spLocks noGrp="1"/>
          </p:cNvSpPr>
          <p:nvPr>
            <p:ph idx="1"/>
          </p:nvPr>
        </p:nvSpPr>
        <p:spPr>
          <a:xfrm>
            <a:off x="609600" y="685800"/>
            <a:ext cx="8229600" cy="6172200"/>
          </a:xfrm>
        </p:spPr>
        <p:txBody>
          <a:bodyPr>
            <a:noAutofit/>
          </a:bodyPr>
          <a:lstStyle/>
          <a:p>
            <a:r>
              <a:rPr lang="en-US" sz="2000" b="1" dirty="0" smtClean="0"/>
              <a:t>User View: </a:t>
            </a:r>
          </a:p>
          <a:p>
            <a:pPr lvl="1"/>
            <a:r>
              <a:rPr lang="en-US" sz="2000" dirty="0" smtClean="0"/>
              <a:t>The user view concerns the extent to which a product meets user needs and expectations. </a:t>
            </a:r>
          </a:p>
          <a:p>
            <a:pPr lvl="1"/>
            <a:r>
              <a:rPr lang="en-US" sz="2000" dirty="0" smtClean="0"/>
              <a:t>Quality is not just viewed in terms of what a product can deliver, but it is also influenced by the service provisions in the sales contract.</a:t>
            </a:r>
          </a:p>
          <a:p>
            <a:pPr lvl="1"/>
            <a:r>
              <a:rPr lang="en-US" sz="2000" dirty="0" smtClean="0"/>
              <a:t> In this view, a user is concerned with whether or not a product is fit for use. This view is highly personalized in nature. </a:t>
            </a:r>
          </a:p>
          <a:p>
            <a:pPr lvl="1"/>
            <a:r>
              <a:rPr lang="en-US" sz="2000" dirty="0" smtClean="0"/>
              <a:t>The user view can encompass many subjective elements apart from the expected functionalities central to user satisfaction. Examples of subjective elements are usability, reliability, etc.</a:t>
            </a:r>
            <a:endParaRPr lang="en-GB" sz="2000" dirty="0" smtClean="0"/>
          </a:p>
          <a:p>
            <a:pPr lvl="1"/>
            <a:endParaRPr lang="en-GB" sz="1800" dirty="0"/>
          </a:p>
        </p:txBody>
      </p:sp>
      <p:sp>
        <p:nvSpPr>
          <p:cNvPr id="2" name="Slide Number Placeholder 1"/>
          <p:cNvSpPr>
            <a:spLocks noGrp="1"/>
          </p:cNvSpPr>
          <p:nvPr>
            <p:ph type="sldNum" sz="quarter" idx="12"/>
          </p:nvPr>
        </p:nvSpPr>
        <p:spPr/>
        <p:txBody>
          <a:bodyPr/>
          <a:lstStyle/>
          <a:p>
            <a:fld id="{243F0035-4B67-4B88-B2A0-536AE2AEED21}" type="slidenum">
              <a:rPr lang="en-US" smtClean="0"/>
              <a:pPr/>
              <a:t>4</a:t>
            </a:fld>
            <a:endParaRPr lang="en-US"/>
          </a:p>
        </p:txBody>
      </p:sp>
    </p:spTree>
    <p:extLst>
      <p:ext uri="{BB962C8B-B14F-4D97-AF65-F5344CB8AC3E}">
        <p14:creationId xmlns:p14="http://schemas.microsoft.com/office/powerpoint/2010/main" val="38812361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685800"/>
          </a:xfrm>
        </p:spPr>
        <p:txBody>
          <a:bodyPr>
            <a:noAutofit/>
          </a:bodyPr>
          <a:lstStyle/>
          <a:p>
            <a:r>
              <a:rPr lang="en-GB" sz="2400" b="1" dirty="0" smtClean="0"/>
              <a:t>... 5 Views of Software Quality ...</a:t>
            </a:r>
            <a:endParaRPr lang="en-US" sz="2400" b="1" dirty="0"/>
          </a:p>
        </p:txBody>
      </p:sp>
      <p:sp>
        <p:nvSpPr>
          <p:cNvPr id="7" name="Content Placeholder 2"/>
          <p:cNvSpPr>
            <a:spLocks noGrp="1"/>
          </p:cNvSpPr>
          <p:nvPr>
            <p:ph idx="1"/>
          </p:nvPr>
        </p:nvSpPr>
        <p:spPr>
          <a:xfrm>
            <a:off x="609600" y="685800"/>
            <a:ext cx="8229600" cy="6172200"/>
          </a:xfrm>
        </p:spPr>
        <p:txBody>
          <a:bodyPr>
            <a:noAutofit/>
          </a:bodyPr>
          <a:lstStyle/>
          <a:p>
            <a:r>
              <a:rPr lang="en-US" sz="2000" b="1" dirty="0" smtClean="0"/>
              <a:t>Manufacturing View: </a:t>
            </a:r>
          </a:p>
          <a:p>
            <a:pPr lvl="1"/>
            <a:r>
              <a:rPr lang="en-US" sz="2000" dirty="0" smtClean="0"/>
              <a:t>The manufacturing view has its genesis in the manufacturing sectors, such as the automobile and electronics sectors. </a:t>
            </a:r>
          </a:p>
          <a:p>
            <a:pPr lvl="1"/>
            <a:r>
              <a:rPr lang="en-US" sz="2000" dirty="0" smtClean="0"/>
              <a:t>In this view, quality is seen as conforming to requirements. </a:t>
            </a:r>
          </a:p>
          <a:p>
            <a:pPr lvl="1"/>
            <a:r>
              <a:rPr lang="en-US" sz="2000" dirty="0" smtClean="0"/>
              <a:t>Any deviation from the stated requirements is seen as reducing the quality of the product. </a:t>
            </a:r>
          </a:p>
          <a:p>
            <a:pPr lvl="1"/>
            <a:r>
              <a:rPr lang="en-US" sz="2000" dirty="0" smtClean="0"/>
              <a:t>The concept of process plays a key role in the manufacturing view. Products are to be manufactured “right the first time” so that development cost and maintenance cost are reduced.</a:t>
            </a:r>
            <a:endParaRPr lang="en-GB" sz="2000" dirty="0"/>
          </a:p>
        </p:txBody>
      </p:sp>
      <p:sp>
        <p:nvSpPr>
          <p:cNvPr id="2" name="Slide Number Placeholder 1"/>
          <p:cNvSpPr>
            <a:spLocks noGrp="1"/>
          </p:cNvSpPr>
          <p:nvPr>
            <p:ph type="sldNum" sz="quarter" idx="12"/>
          </p:nvPr>
        </p:nvSpPr>
        <p:spPr/>
        <p:txBody>
          <a:bodyPr/>
          <a:lstStyle/>
          <a:p>
            <a:fld id="{243F0035-4B67-4B88-B2A0-536AE2AEED21}" type="slidenum">
              <a:rPr lang="en-US" smtClean="0"/>
              <a:pPr/>
              <a:t>5</a:t>
            </a:fld>
            <a:endParaRPr lang="en-US"/>
          </a:p>
        </p:txBody>
      </p:sp>
    </p:spTree>
    <p:extLst>
      <p:ext uri="{BB962C8B-B14F-4D97-AF65-F5344CB8AC3E}">
        <p14:creationId xmlns:p14="http://schemas.microsoft.com/office/powerpoint/2010/main" val="38812361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685800"/>
          </a:xfrm>
        </p:spPr>
        <p:txBody>
          <a:bodyPr>
            <a:noAutofit/>
          </a:bodyPr>
          <a:lstStyle/>
          <a:p>
            <a:r>
              <a:rPr lang="en-GB" sz="2400" b="1" dirty="0" smtClean="0"/>
              <a:t>... 5 Views of Software Quality ...</a:t>
            </a:r>
            <a:endParaRPr lang="en-US" sz="2400" b="1" dirty="0"/>
          </a:p>
        </p:txBody>
      </p:sp>
      <p:sp>
        <p:nvSpPr>
          <p:cNvPr id="7" name="Content Placeholder 2"/>
          <p:cNvSpPr>
            <a:spLocks noGrp="1"/>
          </p:cNvSpPr>
          <p:nvPr>
            <p:ph idx="1"/>
          </p:nvPr>
        </p:nvSpPr>
        <p:spPr>
          <a:xfrm>
            <a:off x="609600" y="685800"/>
            <a:ext cx="8229600" cy="6172200"/>
          </a:xfrm>
        </p:spPr>
        <p:txBody>
          <a:bodyPr>
            <a:noAutofit/>
          </a:bodyPr>
          <a:lstStyle/>
          <a:p>
            <a:r>
              <a:rPr lang="en-US" sz="2000" b="1" dirty="0" smtClean="0"/>
              <a:t>Product View: </a:t>
            </a:r>
          </a:p>
          <a:p>
            <a:pPr lvl="1"/>
            <a:r>
              <a:rPr lang="en-US" sz="2000" dirty="0" smtClean="0"/>
              <a:t>The central hypothesis in the product view is this: If a product is manufactured with good internal properties, then it will have good external qualities.</a:t>
            </a:r>
          </a:p>
          <a:p>
            <a:pPr lvl="1"/>
            <a:r>
              <a:rPr lang="en-US" sz="2000" dirty="0" smtClean="0"/>
              <a:t>An example of the product view of software quality is that high degree of modularity, which is an internal property, makes a software testable and maintainable.</a:t>
            </a:r>
            <a:endParaRPr lang="en-GB" sz="2000" dirty="0"/>
          </a:p>
        </p:txBody>
      </p:sp>
      <p:sp>
        <p:nvSpPr>
          <p:cNvPr id="2" name="Slide Number Placeholder 1"/>
          <p:cNvSpPr>
            <a:spLocks noGrp="1"/>
          </p:cNvSpPr>
          <p:nvPr>
            <p:ph type="sldNum" sz="quarter" idx="12"/>
          </p:nvPr>
        </p:nvSpPr>
        <p:spPr/>
        <p:txBody>
          <a:bodyPr/>
          <a:lstStyle/>
          <a:p>
            <a:fld id="{243F0035-4B67-4B88-B2A0-536AE2AEED21}" type="slidenum">
              <a:rPr lang="en-US" smtClean="0"/>
              <a:pPr/>
              <a:t>6</a:t>
            </a:fld>
            <a:endParaRPr lang="en-US"/>
          </a:p>
        </p:txBody>
      </p:sp>
    </p:spTree>
    <p:extLst>
      <p:ext uri="{BB962C8B-B14F-4D97-AF65-F5344CB8AC3E}">
        <p14:creationId xmlns:p14="http://schemas.microsoft.com/office/powerpoint/2010/main" val="38812361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685800"/>
          </a:xfrm>
        </p:spPr>
        <p:txBody>
          <a:bodyPr>
            <a:noAutofit/>
          </a:bodyPr>
          <a:lstStyle/>
          <a:p>
            <a:r>
              <a:rPr lang="en-GB" sz="2400" b="1" dirty="0" smtClean="0"/>
              <a:t>... 5 Views of Software Quality </a:t>
            </a:r>
            <a:endParaRPr lang="en-US" sz="2400" b="1" dirty="0"/>
          </a:p>
        </p:txBody>
      </p:sp>
      <p:sp>
        <p:nvSpPr>
          <p:cNvPr id="7" name="Content Placeholder 2"/>
          <p:cNvSpPr>
            <a:spLocks noGrp="1"/>
          </p:cNvSpPr>
          <p:nvPr>
            <p:ph idx="1"/>
          </p:nvPr>
        </p:nvSpPr>
        <p:spPr>
          <a:xfrm>
            <a:off x="609600" y="685800"/>
            <a:ext cx="8229600" cy="6172200"/>
          </a:xfrm>
        </p:spPr>
        <p:txBody>
          <a:bodyPr>
            <a:noAutofit/>
          </a:bodyPr>
          <a:lstStyle/>
          <a:p>
            <a:r>
              <a:rPr lang="en-US" sz="2000" b="1" dirty="0" smtClean="0"/>
              <a:t>Value-based View: </a:t>
            </a:r>
          </a:p>
          <a:p>
            <a:pPr lvl="1"/>
            <a:r>
              <a:rPr lang="en-US" sz="2000" dirty="0" smtClean="0"/>
              <a:t>The value-based view represents a merger of two independent concepts: excellence and worth. </a:t>
            </a:r>
          </a:p>
          <a:p>
            <a:pPr lvl="1"/>
            <a:r>
              <a:rPr lang="en-US" sz="2000" dirty="0" smtClean="0"/>
              <a:t>Quality is a measure of excellence, and value is a measure of worth. The central idea in the value-based view is how much a customer is willing to pay for a certain level of quality.</a:t>
            </a:r>
          </a:p>
          <a:p>
            <a:pPr lvl="1"/>
            <a:r>
              <a:rPr lang="en-US" sz="2000" dirty="0" smtClean="0"/>
              <a:t>The reality is that quality is meaningless if a product does not make economic sense. </a:t>
            </a:r>
          </a:p>
          <a:p>
            <a:pPr lvl="1"/>
            <a:r>
              <a:rPr lang="en-US" sz="2000" dirty="0" smtClean="0"/>
              <a:t>Essentially, the value-based view represents a trade-off between cost and quality.</a:t>
            </a:r>
            <a:endParaRPr lang="en-GB" sz="2000" dirty="0"/>
          </a:p>
        </p:txBody>
      </p:sp>
      <p:sp>
        <p:nvSpPr>
          <p:cNvPr id="2" name="Slide Number Placeholder 1"/>
          <p:cNvSpPr>
            <a:spLocks noGrp="1"/>
          </p:cNvSpPr>
          <p:nvPr>
            <p:ph type="sldNum" sz="quarter" idx="12"/>
          </p:nvPr>
        </p:nvSpPr>
        <p:spPr/>
        <p:txBody>
          <a:bodyPr/>
          <a:lstStyle/>
          <a:p>
            <a:fld id="{243F0035-4B67-4B88-B2A0-536AE2AEED21}" type="slidenum">
              <a:rPr lang="en-US" smtClean="0"/>
              <a:pPr/>
              <a:t>7</a:t>
            </a:fld>
            <a:endParaRPr lang="en-US"/>
          </a:p>
        </p:txBody>
      </p:sp>
    </p:spTree>
    <p:extLst>
      <p:ext uri="{BB962C8B-B14F-4D97-AF65-F5344CB8AC3E}">
        <p14:creationId xmlns:p14="http://schemas.microsoft.com/office/powerpoint/2010/main" val="38812361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685800"/>
          </a:xfrm>
        </p:spPr>
        <p:txBody>
          <a:bodyPr>
            <a:noAutofit/>
          </a:bodyPr>
          <a:lstStyle/>
          <a:p>
            <a:r>
              <a:rPr lang="en-GB" sz="2400" b="1" dirty="0"/>
              <a:t>The need for comprehensive requirements documents and their contents</a:t>
            </a:r>
            <a:r>
              <a:rPr lang="en-GB" sz="2400" b="1" dirty="0" smtClean="0"/>
              <a:t>...</a:t>
            </a:r>
            <a:endParaRPr lang="en-US" sz="2400" b="1" dirty="0"/>
          </a:p>
        </p:txBody>
      </p:sp>
      <p:sp>
        <p:nvSpPr>
          <p:cNvPr id="7" name="Content Placeholder 2"/>
          <p:cNvSpPr>
            <a:spLocks noGrp="1"/>
          </p:cNvSpPr>
          <p:nvPr>
            <p:ph idx="1"/>
          </p:nvPr>
        </p:nvSpPr>
        <p:spPr>
          <a:xfrm>
            <a:off x="609600" y="685800"/>
            <a:ext cx="8229600" cy="6172200"/>
          </a:xfrm>
        </p:spPr>
        <p:txBody>
          <a:bodyPr>
            <a:noAutofit/>
          </a:bodyPr>
          <a:lstStyle/>
          <a:p>
            <a:r>
              <a:rPr lang="en-US" sz="2000" dirty="0" smtClean="0"/>
              <a:t>There is a need for a comprehensive definition of requirements that will cover all attributes of software and aspects of the use of software, including usability aspects, reusability aspects, maintainability aspects, and so forth in order to assure the full satisfaction of the users.</a:t>
            </a:r>
            <a:endParaRPr lang="en-GB" sz="2000" dirty="0" smtClean="0"/>
          </a:p>
          <a:p>
            <a:r>
              <a:rPr lang="en-GB" sz="2000" dirty="0" smtClean="0"/>
              <a:t>Many </a:t>
            </a:r>
            <a:r>
              <a:rPr lang="en-GB" sz="2000" dirty="0"/>
              <a:t>cases of low customer satisfaction are situations where software projects have satisfactorily fulfilled the basic requirements of correctness, while suffering from poor performance in other important areas such as </a:t>
            </a:r>
            <a:r>
              <a:rPr lang="en-GB" sz="2000" b="1" dirty="0"/>
              <a:t>maintenance, reliability, software reuse, or training. </a:t>
            </a:r>
            <a:endParaRPr lang="en-GB" sz="2000" b="1" dirty="0" smtClean="0"/>
          </a:p>
          <a:p>
            <a:r>
              <a:rPr lang="en-GB" sz="2000" dirty="0" smtClean="0"/>
              <a:t>One </a:t>
            </a:r>
            <a:r>
              <a:rPr lang="en-GB" sz="2000" dirty="0"/>
              <a:t>of the main causes for these lapses is the lack of defined requirements pertaining to these aspects of software functionality. </a:t>
            </a:r>
            <a:endParaRPr lang="en-GB" sz="2000" dirty="0" smtClean="0"/>
          </a:p>
          <a:p>
            <a:r>
              <a:rPr lang="en-GB" sz="2000" dirty="0" smtClean="0"/>
              <a:t>Therefore</a:t>
            </a:r>
            <a:r>
              <a:rPr lang="en-GB" sz="2000" dirty="0"/>
              <a:t>, there </a:t>
            </a:r>
            <a:r>
              <a:rPr lang="en-GB" sz="2000" dirty="0" smtClean="0"/>
              <a:t>is a </a:t>
            </a:r>
            <a:r>
              <a:rPr lang="en-GB" sz="2000" dirty="0"/>
              <a:t>need for the comprehensive definition </a:t>
            </a:r>
            <a:r>
              <a:rPr lang="en-GB" sz="2000" dirty="0" smtClean="0"/>
              <a:t>of requirements that will </a:t>
            </a:r>
            <a:r>
              <a:rPr lang="en-GB" sz="2000" dirty="0"/>
              <a:t>cover all aspects of software use throughout all stages of the software life cycle. </a:t>
            </a:r>
            <a:endParaRPr lang="en-GB" sz="2000" dirty="0" smtClean="0"/>
          </a:p>
          <a:p>
            <a:endParaRPr lang="en-GB" sz="1800" dirty="0"/>
          </a:p>
        </p:txBody>
      </p:sp>
      <p:sp>
        <p:nvSpPr>
          <p:cNvPr id="2" name="Slide Number Placeholder 1"/>
          <p:cNvSpPr>
            <a:spLocks noGrp="1"/>
          </p:cNvSpPr>
          <p:nvPr>
            <p:ph type="sldNum" sz="quarter" idx="12"/>
          </p:nvPr>
        </p:nvSpPr>
        <p:spPr/>
        <p:txBody>
          <a:bodyPr/>
          <a:lstStyle/>
          <a:p>
            <a:fld id="{243F0035-4B67-4B88-B2A0-536AE2AEED21}" type="slidenum">
              <a:rPr lang="en-US" smtClean="0"/>
              <a:pPr/>
              <a:t>8</a:t>
            </a:fld>
            <a:endParaRPr lang="en-US"/>
          </a:p>
        </p:txBody>
      </p:sp>
    </p:spTree>
    <p:extLst>
      <p:ext uri="{BB962C8B-B14F-4D97-AF65-F5344CB8AC3E}">
        <p14:creationId xmlns:p14="http://schemas.microsoft.com/office/powerpoint/2010/main" val="38812361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685800"/>
          </a:xfrm>
        </p:spPr>
        <p:txBody>
          <a:bodyPr>
            <a:noAutofit/>
          </a:bodyPr>
          <a:lstStyle/>
          <a:p>
            <a:r>
              <a:rPr lang="en-GB" sz="2400" b="1" dirty="0" smtClean="0"/>
              <a:t>... The </a:t>
            </a:r>
            <a:r>
              <a:rPr lang="en-GB" sz="2400" b="1" dirty="0"/>
              <a:t>need for comprehensive requirements documents and their contents.</a:t>
            </a:r>
            <a:endParaRPr lang="en-US" sz="2400" b="1" dirty="0"/>
          </a:p>
        </p:txBody>
      </p:sp>
      <p:sp>
        <p:nvSpPr>
          <p:cNvPr id="7" name="Content Placeholder 2"/>
          <p:cNvSpPr>
            <a:spLocks noGrp="1"/>
          </p:cNvSpPr>
          <p:nvPr>
            <p:ph idx="1"/>
          </p:nvPr>
        </p:nvSpPr>
        <p:spPr>
          <a:xfrm>
            <a:off x="609600" y="685800"/>
            <a:ext cx="8229600" cy="6172200"/>
          </a:xfrm>
        </p:spPr>
        <p:txBody>
          <a:bodyPr>
            <a:noAutofit/>
          </a:bodyPr>
          <a:lstStyle/>
          <a:p>
            <a:r>
              <a:rPr lang="en-US" sz="2000" dirty="0" smtClean="0"/>
              <a:t>The great variety of issues related to the various attributes of software and its use and maintenance, as defined in software requirements documents, can be classified into content groups called quality factors. </a:t>
            </a:r>
          </a:p>
          <a:p>
            <a:r>
              <a:rPr lang="en-US" sz="2000" dirty="0" smtClean="0"/>
              <a:t>We expect the team responsible for defining the software requirements of a software system to examine the need to define the requirements that belong to each factor.</a:t>
            </a:r>
          </a:p>
          <a:p>
            <a:r>
              <a:rPr lang="en-US" sz="2000" dirty="0" smtClean="0"/>
              <a:t> Software requirement documents are expected to differ in the emphasis placed on the various factors, a reflection of the differences to be found among software projects. Thus, we can expect that not all the factors will be universally “represented” in all the requirements documents.</a:t>
            </a:r>
            <a:endParaRPr lang="en-GB" sz="2000" dirty="0" smtClean="0"/>
          </a:p>
          <a:p>
            <a:endParaRPr lang="en-GB" sz="1800" dirty="0"/>
          </a:p>
        </p:txBody>
      </p:sp>
      <p:sp>
        <p:nvSpPr>
          <p:cNvPr id="2" name="Slide Number Placeholder 1"/>
          <p:cNvSpPr>
            <a:spLocks noGrp="1"/>
          </p:cNvSpPr>
          <p:nvPr>
            <p:ph type="sldNum" sz="quarter" idx="12"/>
          </p:nvPr>
        </p:nvSpPr>
        <p:spPr/>
        <p:txBody>
          <a:bodyPr/>
          <a:lstStyle/>
          <a:p>
            <a:fld id="{243F0035-4B67-4B88-B2A0-536AE2AEED21}" type="slidenum">
              <a:rPr lang="en-US" smtClean="0"/>
              <a:pPr/>
              <a:t>9</a:t>
            </a:fld>
            <a:endParaRPr lang="en-US"/>
          </a:p>
        </p:txBody>
      </p:sp>
    </p:spTree>
    <p:extLst>
      <p:ext uri="{BB962C8B-B14F-4D97-AF65-F5344CB8AC3E}">
        <p14:creationId xmlns:p14="http://schemas.microsoft.com/office/powerpoint/2010/main" val="38812361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685800"/>
          </a:xfrm>
        </p:spPr>
        <p:txBody>
          <a:bodyPr>
            <a:noAutofit/>
          </a:bodyPr>
          <a:lstStyle/>
          <a:p>
            <a:r>
              <a:rPr lang="en-GB" sz="2400" b="1" dirty="0"/>
              <a:t>The structure (categories and factors) of McCall’s classic factor </a:t>
            </a:r>
            <a:r>
              <a:rPr lang="en-GB" sz="2400" b="1" dirty="0" smtClean="0"/>
              <a:t>model</a:t>
            </a:r>
            <a:endParaRPr lang="en-US" sz="2400" b="1" dirty="0"/>
          </a:p>
        </p:txBody>
      </p:sp>
      <p:sp>
        <p:nvSpPr>
          <p:cNvPr id="7" name="Content Placeholder 2"/>
          <p:cNvSpPr>
            <a:spLocks noGrp="1"/>
          </p:cNvSpPr>
          <p:nvPr>
            <p:ph idx="1"/>
          </p:nvPr>
        </p:nvSpPr>
        <p:spPr>
          <a:xfrm>
            <a:off x="609600" y="685800"/>
            <a:ext cx="8229600" cy="6172200"/>
          </a:xfrm>
        </p:spPr>
        <p:txBody>
          <a:bodyPr>
            <a:noAutofit/>
          </a:bodyPr>
          <a:lstStyle/>
          <a:p>
            <a:r>
              <a:rPr lang="en-US" sz="2000" dirty="0" smtClean="0"/>
              <a:t>Several models of software quality factors and their categorization in factor categories have been suggested over the years. </a:t>
            </a:r>
          </a:p>
          <a:p>
            <a:r>
              <a:rPr lang="en-US" sz="2000" dirty="0" smtClean="0"/>
              <a:t>The classic model of software quality factors, suggested by McCall, consists of 11 quality factors </a:t>
            </a:r>
            <a:endParaRPr lang="en-GB" sz="2000" dirty="0" smtClean="0"/>
          </a:p>
          <a:p>
            <a:r>
              <a:rPr lang="en-GB" sz="2000" dirty="0" smtClean="0"/>
              <a:t>The </a:t>
            </a:r>
            <a:r>
              <a:rPr lang="en-GB" sz="2000" dirty="0"/>
              <a:t>11 factors are grouped into three </a:t>
            </a:r>
            <a:r>
              <a:rPr lang="en-GB" sz="2000" dirty="0" smtClean="0"/>
              <a:t>categories:</a:t>
            </a:r>
          </a:p>
          <a:p>
            <a:pPr lvl="1"/>
            <a:r>
              <a:rPr lang="en-GB" sz="2000" dirty="0" smtClean="0"/>
              <a:t>Product operation,</a:t>
            </a:r>
          </a:p>
          <a:p>
            <a:pPr lvl="1"/>
            <a:r>
              <a:rPr lang="en-GB" sz="2000" dirty="0" smtClean="0"/>
              <a:t>product revision </a:t>
            </a:r>
          </a:p>
          <a:p>
            <a:pPr lvl="1"/>
            <a:r>
              <a:rPr lang="en-GB" sz="2000" dirty="0" smtClean="0"/>
              <a:t>and product transition.</a:t>
            </a:r>
          </a:p>
        </p:txBody>
      </p:sp>
      <p:sp>
        <p:nvSpPr>
          <p:cNvPr id="2" name="Slide Number Placeholder 1"/>
          <p:cNvSpPr>
            <a:spLocks noGrp="1"/>
          </p:cNvSpPr>
          <p:nvPr>
            <p:ph type="sldNum" sz="quarter" idx="12"/>
          </p:nvPr>
        </p:nvSpPr>
        <p:spPr/>
        <p:txBody>
          <a:bodyPr/>
          <a:lstStyle/>
          <a:p>
            <a:fld id="{243F0035-4B67-4B88-B2A0-536AE2AEED21}" type="slidenum">
              <a:rPr lang="en-US" smtClean="0"/>
              <a:pPr/>
              <a:t>10</a:t>
            </a:fld>
            <a:endParaRPr lang="en-US"/>
          </a:p>
        </p:txBody>
      </p:sp>
    </p:spTree>
    <p:extLst>
      <p:ext uri="{BB962C8B-B14F-4D97-AF65-F5344CB8AC3E}">
        <p14:creationId xmlns:p14="http://schemas.microsoft.com/office/powerpoint/2010/main" val="139783553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685800"/>
          </a:xfrm>
        </p:spPr>
        <p:txBody>
          <a:bodyPr>
            <a:noAutofit/>
          </a:bodyPr>
          <a:lstStyle/>
          <a:p>
            <a:r>
              <a:rPr lang="en-GB" sz="2800" b="1" dirty="0" smtClean="0"/>
              <a:t> McCall’s </a:t>
            </a:r>
            <a:r>
              <a:rPr lang="en-GB" sz="2800" b="1" dirty="0"/>
              <a:t>factor </a:t>
            </a:r>
            <a:r>
              <a:rPr lang="en-GB" sz="2800" b="1" dirty="0" smtClean="0"/>
              <a:t>model tree.</a:t>
            </a:r>
            <a:endParaRPr lang="en-US" sz="2800" b="1" dirty="0"/>
          </a:p>
        </p:txBody>
      </p:sp>
      <p:pic>
        <p:nvPicPr>
          <p:cNvPr id="3" name="Content Placeholder 2"/>
          <p:cNvPicPr>
            <a:picLocks noGrp="1" noChangeAspect="1"/>
          </p:cNvPicPr>
          <p:nvPr>
            <p:ph idx="1"/>
          </p:nvPr>
        </p:nvPicPr>
        <p:blipFill>
          <a:blip r:embed="rId2" cstate="print"/>
          <a:stretch>
            <a:fillRect/>
          </a:stretch>
        </p:blipFill>
        <p:spPr>
          <a:xfrm>
            <a:off x="2252662" y="1233487"/>
            <a:ext cx="4943475" cy="5076825"/>
          </a:xfrm>
          <a:prstGeom prst="rect">
            <a:avLst/>
          </a:prstGeom>
        </p:spPr>
      </p:pic>
      <p:sp>
        <p:nvSpPr>
          <p:cNvPr id="2" name="Slide Number Placeholder 1"/>
          <p:cNvSpPr>
            <a:spLocks noGrp="1"/>
          </p:cNvSpPr>
          <p:nvPr>
            <p:ph type="sldNum" sz="quarter" idx="12"/>
          </p:nvPr>
        </p:nvSpPr>
        <p:spPr/>
        <p:txBody>
          <a:bodyPr/>
          <a:lstStyle/>
          <a:p>
            <a:fld id="{243F0035-4B67-4B88-B2A0-536AE2AEED21}" type="slidenum">
              <a:rPr lang="en-US" smtClean="0"/>
              <a:pPr/>
              <a:t>11</a:t>
            </a:fld>
            <a:endParaRPr lang="en-US"/>
          </a:p>
        </p:txBody>
      </p:sp>
    </p:spTree>
    <p:extLst>
      <p:ext uri="{BB962C8B-B14F-4D97-AF65-F5344CB8AC3E}">
        <p14:creationId xmlns:p14="http://schemas.microsoft.com/office/powerpoint/2010/main" val="256242238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243F0035-4B67-4B88-B2A0-536AE2AEED21}" type="slidenum">
              <a:rPr lang="en-US" smtClean="0"/>
              <a:pPr/>
              <a:t>12</a:t>
            </a:fld>
            <a:endParaRPr lang="en-US"/>
          </a:p>
        </p:txBody>
      </p:sp>
      <p:sp>
        <p:nvSpPr>
          <p:cNvPr id="5" name="Title 1"/>
          <p:cNvSpPr>
            <a:spLocks noGrp="1"/>
          </p:cNvSpPr>
          <p:nvPr>
            <p:ph type="title"/>
          </p:nvPr>
        </p:nvSpPr>
        <p:spPr>
          <a:xfrm>
            <a:off x="609600" y="152400"/>
            <a:ext cx="8229600" cy="685800"/>
          </a:xfrm>
        </p:spPr>
        <p:txBody>
          <a:bodyPr>
            <a:noAutofit/>
          </a:bodyPr>
          <a:lstStyle/>
          <a:p>
            <a:r>
              <a:rPr lang="en-US" sz="2800" dirty="0" smtClean="0"/>
              <a:t>Product operation software quality factors …</a:t>
            </a:r>
            <a:endParaRPr lang="en-US" sz="2800" dirty="0"/>
          </a:p>
        </p:txBody>
      </p:sp>
      <p:sp>
        <p:nvSpPr>
          <p:cNvPr id="6" name="Content Placeholder 2"/>
          <p:cNvSpPr>
            <a:spLocks noGrp="1"/>
          </p:cNvSpPr>
          <p:nvPr>
            <p:ph idx="1"/>
          </p:nvPr>
        </p:nvSpPr>
        <p:spPr>
          <a:xfrm>
            <a:off x="762000" y="838200"/>
            <a:ext cx="8229600" cy="6172200"/>
          </a:xfrm>
        </p:spPr>
        <p:txBody>
          <a:bodyPr>
            <a:noAutofit/>
          </a:bodyPr>
          <a:lstStyle/>
          <a:p>
            <a:r>
              <a:rPr lang="en-US" sz="2000" dirty="0" smtClean="0"/>
              <a:t>According to McCall’s model, five software quality factors are included in the product operation category, all of which deal with requirements that directly affect the daily operation of the software. </a:t>
            </a:r>
          </a:p>
          <a:p>
            <a:r>
              <a:rPr lang="en-US" sz="2000" dirty="0" smtClean="0"/>
              <a:t>These factors are as follows:</a:t>
            </a:r>
          </a:p>
          <a:p>
            <a:pPr lvl="1"/>
            <a:r>
              <a:rPr lang="en-US" sz="2000" dirty="0" smtClean="0"/>
              <a:t>Correctness</a:t>
            </a:r>
          </a:p>
          <a:p>
            <a:pPr lvl="1"/>
            <a:r>
              <a:rPr lang="en-US" sz="2000" dirty="0" smtClean="0"/>
              <a:t>Reliability</a:t>
            </a:r>
          </a:p>
          <a:p>
            <a:pPr lvl="1"/>
            <a:r>
              <a:rPr lang="en-US" sz="2000" dirty="0" smtClean="0"/>
              <a:t>Efficiency</a:t>
            </a:r>
          </a:p>
          <a:p>
            <a:pPr lvl="1"/>
            <a:r>
              <a:rPr lang="en-US" sz="2000" dirty="0" smtClean="0"/>
              <a:t>Integrity</a:t>
            </a:r>
          </a:p>
          <a:p>
            <a:pPr lvl="1"/>
            <a:r>
              <a:rPr lang="en-US" sz="2000" dirty="0" smtClean="0"/>
              <a:t>Usability</a:t>
            </a:r>
            <a:endParaRPr lang="en-GB" sz="1600" dirty="0" smtClean="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243F0035-4B67-4B88-B2A0-536AE2AEED21}" type="slidenum">
              <a:rPr lang="en-US" smtClean="0"/>
              <a:pPr/>
              <a:t>13</a:t>
            </a:fld>
            <a:endParaRPr lang="en-US"/>
          </a:p>
        </p:txBody>
      </p:sp>
      <p:sp>
        <p:nvSpPr>
          <p:cNvPr id="5" name="Title 1"/>
          <p:cNvSpPr>
            <a:spLocks noGrp="1"/>
          </p:cNvSpPr>
          <p:nvPr>
            <p:ph type="title"/>
          </p:nvPr>
        </p:nvSpPr>
        <p:spPr>
          <a:xfrm>
            <a:off x="609600" y="152400"/>
            <a:ext cx="8229600" cy="685800"/>
          </a:xfrm>
        </p:spPr>
        <p:txBody>
          <a:bodyPr>
            <a:noAutofit/>
          </a:bodyPr>
          <a:lstStyle/>
          <a:p>
            <a:r>
              <a:rPr lang="en-US" sz="2800" dirty="0" smtClean="0"/>
              <a:t>… Product operation software quality factors …</a:t>
            </a:r>
            <a:endParaRPr lang="en-US" sz="2800" dirty="0"/>
          </a:p>
        </p:txBody>
      </p:sp>
      <p:sp>
        <p:nvSpPr>
          <p:cNvPr id="6" name="Content Placeholder 2"/>
          <p:cNvSpPr>
            <a:spLocks noGrp="1"/>
          </p:cNvSpPr>
          <p:nvPr>
            <p:ph idx="1"/>
          </p:nvPr>
        </p:nvSpPr>
        <p:spPr>
          <a:xfrm>
            <a:off x="762000" y="838200"/>
            <a:ext cx="8229600" cy="6172200"/>
          </a:xfrm>
        </p:spPr>
        <p:txBody>
          <a:bodyPr>
            <a:noAutofit/>
          </a:bodyPr>
          <a:lstStyle/>
          <a:p>
            <a:pPr lvl="1"/>
            <a:r>
              <a:rPr lang="en-US" sz="2000" b="1" dirty="0" smtClean="0"/>
              <a:t>Correctness</a:t>
            </a:r>
            <a:r>
              <a:rPr lang="en-US" sz="2000" dirty="0" smtClean="0"/>
              <a:t>:</a:t>
            </a:r>
          </a:p>
          <a:p>
            <a:pPr lvl="2"/>
            <a:r>
              <a:rPr lang="en-US" sz="1800" dirty="0" smtClean="0"/>
              <a:t>Correctness requirements are defined in a list of the software system’s required outputs.</a:t>
            </a:r>
          </a:p>
          <a:p>
            <a:pPr lvl="2"/>
            <a:r>
              <a:rPr lang="en-US" sz="1800" dirty="0" smtClean="0"/>
              <a:t> Such as a query display of a customer’s balance in the sales accounting information system. </a:t>
            </a:r>
          </a:p>
          <a:p>
            <a:pPr lvl="2"/>
            <a:r>
              <a:rPr lang="en-US" sz="1800" dirty="0" smtClean="0"/>
              <a:t>Output specifications are usually multidimensional; some common dimensions include:</a:t>
            </a:r>
          </a:p>
          <a:p>
            <a:pPr lvl="3"/>
            <a:r>
              <a:rPr lang="en-US" sz="1600" dirty="0" smtClean="0"/>
              <a:t>The required </a:t>
            </a:r>
            <a:r>
              <a:rPr lang="en-US" sz="1600" b="1" dirty="0" smtClean="0"/>
              <a:t>accuracy</a:t>
            </a:r>
            <a:r>
              <a:rPr lang="en-US" sz="1600" dirty="0" smtClean="0"/>
              <a:t> of those outputs that can be adversely affected by inaccurate data or inaccurate calculations. </a:t>
            </a:r>
          </a:p>
          <a:p>
            <a:pPr lvl="3"/>
            <a:r>
              <a:rPr lang="en-US" sz="1600" dirty="0" smtClean="0"/>
              <a:t>The </a:t>
            </a:r>
            <a:r>
              <a:rPr lang="en-US" sz="1600" b="1" dirty="0" smtClean="0"/>
              <a:t>completeness</a:t>
            </a:r>
            <a:r>
              <a:rPr lang="en-US" sz="1600" dirty="0" smtClean="0"/>
              <a:t> of the output information, which can be adversely affected by incomplete data. </a:t>
            </a:r>
          </a:p>
          <a:p>
            <a:pPr lvl="3"/>
            <a:r>
              <a:rPr lang="en-US" sz="1600" dirty="0" smtClean="0"/>
              <a:t>The </a:t>
            </a:r>
            <a:r>
              <a:rPr lang="en-US" sz="1600" b="1" dirty="0" smtClean="0"/>
              <a:t>up-to-</a:t>
            </a:r>
            <a:r>
              <a:rPr lang="en-US" sz="1600" b="1" dirty="0" err="1" smtClean="0"/>
              <a:t>dateness</a:t>
            </a:r>
            <a:r>
              <a:rPr lang="en-US" sz="1600" dirty="0" smtClean="0"/>
              <a:t> of the information (defined as the time between the event and its consideration by the software system). </a:t>
            </a:r>
          </a:p>
          <a:p>
            <a:pPr lvl="3"/>
            <a:r>
              <a:rPr lang="en-US" sz="1600" dirty="0" smtClean="0"/>
              <a:t>The </a:t>
            </a:r>
            <a:r>
              <a:rPr lang="en-US" sz="1600" b="1" dirty="0" smtClean="0"/>
              <a:t>availability</a:t>
            </a:r>
            <a:r>
              <a:rPr lang="en-US" sz="1600" dirty="0" smtClean="0"/>
              <a:t> of the information (the reaction time, defined as the time needed to obtain the requested information or as the requested reaction time of the firmware installed in a computerized apparatus). </a:t>
            </a:r>
          </a:p>
          <a:p>
            <a:pPr lvl="3"/>
            <a:r>
              <a:rPr lang="en-US" sz="1600" dirty="0" smtClean="0"/>
              <a:t>The standards for coding and documenting the software system.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243F0035-4B67-4B88-B2A0-536AE2AEED21}" type="slidenum">
              <a:rPr lang="en-US" smtClean="0"/>
              <a:pPr/>
              <a:t>14</a:t>
            </a:fld>
            <a:endParaRPr lang="en-US"/>
          </a:p>
        </p:txBody>
      </p:sp>
      <p:sp>
        <p:nvSpPr>
          <p:cNvPr id="5" name="Title 1"/>
          <p:cNvSpPr>
            <a:spLocks noGrp="1"/>
          </p:cNvSpPr>
          <p:nvPr>
            <p:ph type="title"/>
          </p:nvPr>
        </p:nvSpPr>
        <p:spPr>
          <a:xfrm>
            <a:off x="609600" y="152400"/>
            <a:ext cx="8229600" cy="685800"/>
          </a:xfrm>
        </p:spPr>
        <p:txBody>
          <a:bodyPr>
            <a:noAutofit/>
          </a:bodyPr>
          <a:lstStyle/>
          <a:p>
            <a:r>
              <a:rPr lang="en-US" sz="2800" dirty="0" smtClean="0"/>
              <a:t>… Product operation software quality factors …</a:t>
            </a:r>
            <a:endParaRPr lang="en-US" sz="2800" dirty="0"/>
          </a:p>
        </p:txBody>
      </p:sp>
      <p:sp>
        <p:nvSpPr>
          <p:cNvPr id="6" name="Content Placeholder 2"/>
          <p:cNvSpPr>
            <a:spLocks noGrp="1"/>
          </p:cNvSpPr>
          <p:nvPr>
            <p:ph idx="1"/>
          </p:nvPr>
        </p:nvSpPr>
        <p:spPr>
          <a:xfrm>
            <a:off x="762000" y="838200"/>
            <a:ext cx="8229600" cy="6172200"/>
          </a:xfrm>
        </p:spPr>
        <p:txBody>
          <a:bodyPr>
            <a:noAutofit/>
          </a:bodyPr>
          <a:lstStyle/>
          <a:p>
            <a:pPr lvl="1"/>
            <a:r>
              <a:rPr lang="en-US" sz="2000" b="1" dirty="0" smtClean="0"/>
              <a:t>Reliability</a:t>
            </a:r>
            <a:r>
              <a:rPr lang="en-US" sz="2000" dirty="0" smtClean="0"/>
              <a:t>:</a:t>
            </a:r>
          </a:p>
          <a:p>
            <a:pPr lvl="2"/>
            <a:r>
              <a:rPr lang="en-US" sz="1800" dirty="0" smtClean="0"/>
              <a:t>Reliability requirements deal with failures to provide service. </a:t>
            </a:r>
          </a:p>
          <a:p>
            <a:pPr lvl="2"/>
            <a:r>
              <a:rPr lang="en-US" sz="1800" dirty="0" smtClean="0"/>
              <a:t>They determine the maximum allowed software system failure rate, and can refer to the entire system or to one or more of its separate functions.</a:t>
            </a:r>
            <a:endParaRPr lang="en-US" sz="1600" dirty="0" smtClean="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243F0035-4B67-4B88-B2A0-536AE2AEED21}" type="slidenum">
              <a:rPr lang="en-US" smtClean="0"/>
              <a:pPr/>
              <a:t>15</a:t>
            </a:fld>
            <a:endParaRPr lang="en-US"/>
          </a:p>
        </p:txBody>
      </p:sp>
      <p:sp>
        <p:nvSpPr>
          <p:cNvPr id="5" name="Title 1"/>
          <p:cNvSpPr>
            <a:spLocks noGrp="1"/>
          </p:cNvSpPr>
          <p:nvPr>
            <p:ph type="title"/>
          </p:nvPr>
        </p:nvSpPr>
        <p:spPr>
          <a:xfrm>
            <a:off x="609600" y="152400"/>
            <a:ext cx="8229600" cy="685800"/>
          </a:xfrm>
        </p:spPr>
        <p:txBody>
          <a:bodyPr>
            <a:noAutofit/>
          </a:bodyPr>
          <a:lstStyle/>
          <a:p>
            <a:r>
              <a:rPr lang="en-US" sz="2800" dirty="0" smtClean="0"/>
              <a:t>… Product operation software quality factors …</a:t>
            </a:r>
            <a:endParaRPr lang="en-US" sz="2800" dirty="0"/>
          </a:p>
        </p:txBody>
      </p:sp>
      <p:sp>
        <p:nvSpPr>
          <p:cNvPr id="6" name="Content Placeholder 2"/>
          <p:cNvSpPr>
            <a:spLocks noGrp="1"/>
          </p:cNvSpPr>
          <p:nvPr>
            <p:ph idx="1"/>
          </p:nvPr>
        </p:nvSpPr>
        <p:spPr>
          <a:xfrm>
            <a:off x="762000" y="838200"/>
            <a:ext cx="8229600" cy="6172200"/>
          </a:xfrm>
        </p:spPr>
        <p:txBody>
          <a:bodyPr>
            <a:noAutofit/>
          </a:bodyPr>
          <a:lstStyle/>
          <a:p>
            <a:pPr lvl="1"/>
            <a:r>
              <a:rPr lang="en-US" sz="2000" b="1" dirty="0" smtClean="0"/>
              <a:t>Efficiency</a:t>
            </a:r>
            <a:r>
              <a:rPr lang="en-US" sz="2000" dirty="0" smtClean="0"/>
              <a:t>:</a:t>
            </a:r>
          </a:p>
          <a:p>
            <a:pPr lvl="2"/>
            <a:r>
              <a:rPr lang="en-US" sz="1800" dirty="0" smtClean="0"/>
              <a:t>Efficiency requirements deal with the hardware resources needed to perform all the functions of the software system in conformance to all other requirements. </a:t>
            </a:r>
          </a:p>
          <a:p>
            <a:pPr lvl="2"/>
            <a:r>
              <a:rPr lang="en-US" sz="1800" dirty="0" smtClean="0"/>
              <a:t>The main hardware resources to be considered are the computer’s processing capabilities (measured in MIPS – million instructions per second, MHz or megahertz – million cycles per second, etc.),</a:t>
            </a:r>
          </a:p>
          <a:p>
            <a:pPr lvl="2"/>
            <a:r>
              <a:rPr lang="en-US" sz="1800" dirty="0" smtClean="0"/>
              <a:t> its data storage capability in terms of memory and disk capacity (measured in MBs – megabytes, GBs – gigabytes, TBs – terabytes, etc.) and the data communication capability of the communication lines (usually measured in KBPS – kilobits per second, MBPS – megabits per second, and GBPS – gigabits per second). </a:t>
            </a:r>
          </a:p>
          <a:p>
            <a:pPr lvl="2"/>
            <a:r>
              <a:rPr lang="en-US" sz="1800" dirty="0" smtClean="0"/>
              <a:t>The requirements may include the maximum values at which the hardware resources will be applied in the developed software system or the firmware.</a:t>
            </a:r>
          </a:p>
          <a:p>
            <a:pPr lvl="2"/>
            <a:r>
              <a:rPr lang="en-US" sz="1800" dirty="0" smtClean="0"/>
              <a:t> Another type of efficiency requirement deals with the time between recharging of the system’s portable units, such as, information systems units located in portable computers, or meteorological units placed outdoors.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243F0035-4B67-4B88-B2A0-536AE2AEED21}" type="slidenum">
              <a:rPr lang="en-US" smtClean="0"/>
              <a:pPr/>
              <a:t>16</a:t>
            </a:fld>
            <a:endParaRPr lang="en-US"/>
          </a:p>
        </p:txBody>
      </p:sp>
      <p:sp>
        <p:nvSpPr>
          <p:cNvPr id="5" name="Title 1"/>
          <p:cNvSpPr>
            <a:spLocks noGrp="1"/>
          </p:cNvSpPr>
          <p:nvPr>
            <p:ph type="title"/>
          </p:nvPr>
        </p:nvSpPr>
        <p:spPr>
          <a:xfrm>
            <a:off x="609600" y="152400"/>
            <a:ext cx="8229600" cy="685800"/>
          </a:xfrm>
        </p:spPr>
        <p:txBody>
          <a:bodyPr>
            <a:noAutofit/>
          </a:bodyPr>
          <a:lstStyle/>
          <a:p>
            <a:r>
              <a:rPr lang="en-US" sz="2800" dirty="0" smtClean="0"/>
              <a:t>… Product operation software quality factors …</a:t>
            </a:r>
            <a:endParaRPr lang="en-US" sz="2800" dirty="0"/>
          </a:p>
        </p:txBody>
      </p:sp>
      <p:sp>
        <p:nvSpPr>
          <p:cNvPr id="6" name="Content Placeholder 2"/>
          <p:cNvSpPr>
            <a:spLocks noGrp="1"/>
          </p:cNvSpPr>
          <p:nvPr>
            <p:ph idx="1"/>
          </p:nvPr>
        </p:nvSpPr>
        <p:spPr>
          <a:xfrm>
            <a:off x="762000" y="838200"/>
            <a:ext cx="8229600" cy="6172200"/>
          </a:xfrm>
        </p:spPr>
        <p:txBody>
          <a:bodyPr>
            <a:noAutofit/>
          </a:bodyPr>
          <a:lstStyle/>
          <a:p>
            <a:pPr lvl="1"/>
            <a:r>
              <a:rPr lang="en-US" sz="2000" b="1" dirty="0" smtClean="0"/>
              <a:t>Integrity</a:t>
            </a:r>
            <a:r>
              <a:rPr lang="en-US" sz="2000" dirty="0" smtClean="0"/>
              <a:t>:</a:t>
            </a:r>
          </a:p>
          <a:p>
            <a:pPr lvl="2"/>
            <a:r>
              <a:rPr lang="en-US" sz="1800" dirty="0" smtClean="0"/>
              <a:t>Integrity requirements deal with the software system security, </a:t>
            </a:r>
          </a:p>
          <a:p>
            <a:pPr lvl="2"/>
            <a:r>
              <a:rPr lang="en-US" sz="1800" dirty="0" smtClean="0"/>
              <a:t>that is, requirements to prevent access to unauthorized persons,</a:t>
            </a:r>
          </a:p>
          <a:p>
            <a:pPr lvl="2"/>
            <a:r>
              <a:rPr lang="en-US" sz="1800" dirty="0" smtClean="0"/>
              <a:t> to distinguish between the majority of personnel allowed to see the information (“read permit”) </a:t>
            </a:r>
          </a:p>
          <a:p>
            <a:pPr lvl="2"/>
            <a:r>
              <a:rPr lang="en-US" sz="1800" dirty="0" smtClean="0"/>
              <a:t>and a 403 Software quality factors limited group who will be allowed to add and change data (“write permit”), and so forth.</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243F0035-4B67-4B88-B2A0-536AE2AEED21}" type="slidenum">
              <a:rPr lang="en-US" smtClean="0"/>
              <a:pPr/>
              <a:t>17</a:t>
            </a:fld>
            <a:endParaRPr lang="en-US"/>
          </a:p>
        </p:txBody>
      </p:sp>
      <p:sp>
        <p:nvSpPr>
          <p:cNvPr id="5" name="Title 1"/>
          <p:cNvSpPr>
            <a:spLocks noGrp="1"/>
          </p:cNvSpPr>
          <p:nvPr>
            <p:ph type="title"/>
          </p:nvPr>
        </p:nvSpPr>
        <p:spPr>
          <a:xfrm>
            <a:off x="609600" y="152400"/>
            <a:ext cx="8229600" cy="685800"/>
          </a:xfrm>
        </p:spPr>
        <p:txBody>
          <a:bodyPr>
            <a:noAutofit/>
          </a:bodyPr>
          <a:lstStyle/>
          <a:p>
            <a:r>
              <a:rPr lang="en-US" sz="2800" dirty="0" smtClean="0"/>
              <a:t>… Product operation software quality factors …</a:t>
            </a:r>
            <a:endParaRPr lang="en-US" sz="2800" dirty="0"/>
          </a:p>
        </p:txBody>
      </p:sp>
      <p:sp>
        <p:nvSpPr>
          <p:cNvPr id="6" name="Content Placeholder 2"/>
          <p:cNvSpPr>
            <a:spLocks noGrp="1"/>
          </p:cNvSpPr>
          <p:nvPr>
            <p:ph idx="1"/>
          </p:nvPr>
        </p:nvSpPr>
        <p:spPr>
          <a:xfrm>
            <a:off x="762000" y="838200"/>
            <a:ext cx="8229600" cy="6172200"/>
          </a:xfrm>
        </p:spPr>
        <p:txBody>
          <a:bodyPr>
            <a:noAutofit/>
          </a:bodyPr>
          <a:lstStyle/>
          <a:p>
            <a:pPr lvl="1"/>
            <a:r>
              <a:rPr lang="en-US" sz="2000" b="1" dirty="0" smtClean="0"/>
              <a:t>Usability</a:t>
            </a:r>
            <a:r>
              <a:rPr lang="en-US" sz="2000" dirty="0" smtClean="0"/>
              <a:t>:</a:t>
            </a:r>
          </a:p>
          <a:p>
            <a:pPr lvl="2"/>
            <a:r>
              <a:rPr lang="en-US" sz="1800" dirty="0" smtClean="0"/>
              <a:t>Usability requirements deal with the scope of staff resources needed to train a new employee and to operate the software system.</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685800"/>
          </a:xfrm>
        </p:spPr>
        <p:txBody>
          <a:bodyPr>
            <a:noAutofit/>
          </a:bodyPr>
          <a:lstStyle/>
          <a:p>
            <a:r>
              <a:rPr lang="en-US" sz="2800" dirty="0" smtClean="0"/>
              <a:t>… Product operation software quality factors</a:t>
            </a:r>
            <a:r>
              <a:rPr lang="en-GB" sz="2800" dirty="0" smtClean="0"/>
              <a:t>.</a:t>
            </a:r>
            <a:endParaRPr lang="en-US" sz="2800" dirty="0"/>
          </a:p>
        </p:txBody>
      </p:sp>
      <p:pic>
        <p:nvPicPr>
          <p:cNvPr id="3" name="Content Placeholder 2"/>
          <p:cNvPicPr>
            <a:picLocks noGrp="1" noChangeAspect="1"/>
          </p:cNvPicPr>
          <p:nvPr>
            <p:ph idx="1"/>
          </p:nvPr>
        </p:nvPicPr>
        <p:blipFill>
          <a:blip r:embed="rId2" cstate="print"/>
          <a:stretch>
            <a:fillRect/>
          </a:stretch>
        </p:blipFill>
        <p:spPr>
          <a:xfrm>
            <a:off x="644751" y="914399"/>
            <a:ext cx="8159298" cy="5715002"/>
          </a:xfrm>
          <a:prstGeom prst="rect">
            <a:avLst/>
          </a:prstGeom>
        </p:spPr>
      </p:pic>
      <p:sp>
        <p:nvSpPr>
          <p:cNvPr id="2" name="Slide Number Placeholder 1"/>
          <p:cNvSpPr>
            <a:spLocks noGrp="1"/>
          </p:cNvSpPr>
          <p:nvPr>
            <p:ph type="sldNum" sz="quarter" idx="12"/>
          </p:nvPr>
        </p:nvSpPr>
        <p:spPr/>
        <p:txBody>
          <a:bodyPr/>
          <a:lstStyle/>
          <a:p>
            <a:fld id="{243F0035-4B67-4B88-B2A0-536AE2AEED21}" type="slidenum">
              <a:rPr lang="en-US" smtClean="0"/>
              <a:pPr/>
              <a:t>18</a:t>
            </a:fld>
            <a:endParaRPr lang="en-US"/>
          </a:p>
        </p:txBody>
      </p:sp>
    </p:spTree>
    <p:extLst>
      <p:ext uri="{BB962C8B-B14F-4D97-AF65-F5344CB8AC3E}">
        <p14:creationId xmlns:p14="http://schemas.microsoft.com/office/powerpoint/2010/main" val="386749058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243F0035-4B67-4B88-B2A0-536AE2AEED21}" type="slidenum">
              <a:rPr lang="en-US" smtClean="0"/>
              <a:pPr/>
              <a:t>19</a:t>
            </a:fld>
            <a:endParaRPr lang="en-US"/>
          </a:p>
        </p:txBody>
      </p:sp>
      <p:sp>
        <p:nvSpPr>
          <p:cNvPr id="5" name="Title 1"/>
          <p:cNvSpPr>
            <a:spLocks noGrp="1"/>
          </p:cNvSpPr>
          <p:nvPr>
            <p:ph type="title"/>
          </p:nvPr>
        </p:nvSpPr>
        <p:spPr>
          <a:xfrm>
            <a:off x="609600" y="152400"/>
            <a:ext cx="8229600" cy="685800"/>
          </a:xfrm>
        </p:spPr>
        <p:txBody>
          <a:bodyPr>
            <a:noAutofit/>
          </a:bodyPr>
          <a:lstStyle/>
          <a:p>
            <a:r>
              <a:rPr lang="en-US" sz="2800" dirty="0" smtClean="0"/>
              <a:t>Product revision software quality factors …</a:t>
            </a:r>
            <a:endParaRPr lang="en-US" sz="2800" dirty="0"/>
          </a:p>
        </p:txBody>
      </p:sp>
      <p:sp>
        <p:nvSpPr>
          <p:cNvPr id="6" name="Content Placeholder 2"/>
          <p:cNvSpPr>
            <a:spLocks noGrp="1"/>
          </p:cNvSpPr>
          <p:nvPr>
            <p:ph idx="1"/>
          </p:nvPr>
        </p:nvSpPr>
        <p:spPr>
          <a:xfrm>
            <a:off x="762000" y="838200"/>
            <a:ext cx="8229600" cy="6172200"/>
          </a:xfrm>
        </p:spPr>
        <p:txBody>
          <a:bodyPr>
            <a:noAutofit/>
          </a:bodyPr>
          <a:lstStyle/>
          <a:p>
            <a:r>
              <a:rPr lang="en-US" sz="2000" dirty="0" smtClean="0"/>
              <a:t>According to the McCall model of software quality factors, following three quality factors comprise the product revision category. </a:t>
            </a:r>
          </a:p>
          <a:p>
            <a:pPr lvl="1"/>
            <a:r>
              <a:rPr lang="en-US" sz="2000" dirty="0" smtClean="0"/>
              <a:t>Maintainability</a:t>
            </a:r>
          </a:p>
          <a:p>
            <a:pPr lvl="1"/>
            <a:r>
              <a:rPr lang="en-US" sz="2000" dirty="0" smtClean="0"/>
              <a:t>Flexibility</a:t>
            </a:r>
          </a:p>
          <a:p>
            <a:pPr lvl="1"/>
            <a:r>
              <a:rPr lang="en-US" sz="2000" dirty="0" smtClean="0"/>
              <a:t>Testability</a:t>
            </a:r>
            <a:endParaRPr lang="en-US" sz="1600" dirty="0" smtClean="0"/>
          </a:p>
          <a:p>
            <a:r>
              <a:rPr lang="en-US" sz="2000" dirty="0" smtClean="0"/>
              <a:t>These factors deal with those requirements that affect the complete range of software maintenance activities: </a:t>
            </a:r>
          </a:p>
          <a:p>
            <a:pPr lvl="1"/>
            <a:r>
              <a:rPr lang="en-US" sz="2000" b="1" dirty="0" smtClean="0"/>
              <a:t>corrective maintenance </a:t>
            </a:r>
            <a:r>
              <a:rPr lang="en-US" sz="2000" dirty="0" smtClean="0"/>
              <a:t>(correction of software faults and failures),</a:t>
            </a:r>
          </a:p>
          <a:p>
            <a:pPr lvl="1"/>
            <a:r>
              <a:rPr lang="en-US" sz="2000" dirty="0" smtClean="0"/>
              <a:t> </a:t>
            </a:r>
            <a:r>
              <a:rPr lang="en-US" sz="2000" b="1" dirty="0" smtClean="0"/>
              <a:t>adaptive maintenance </a:t>
            </a:r>
            <a:r>
              <a:rPr lang="en-US" sz="2000" dirty="0" smtClean="0"/>
              <a:t>(adapting the current software to additional circumstances and customers without changing the software) </a:t>
            </a:r>
          </a:p>
          <a:p>
            <a:pPr lvl="1"/>
            <a:r>
              <a:rPr lang="en-US" sz="2000" dirty="0" smtClean="0"/>
              <a:t>and </a:t>
            </a:r>
            <a:r>
              <a:rPr lang="en-US" sz="2000" b="1" dirty="0" smtClean="0"/>
              <a:t>perfective maintenance </a:t>
            </a:r>
            <a:r>
              <a:rPr lang="en-US" sz="2000" dirty="0" smtClean="0"/>
              <a:t>(enhancement and improvement of existing software with respect to locally limited issues).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243F0035-4B67-4B88-B2A0-536AE2AEED21}" type="slidenum">
              <a:rPr lang="en-US" smtClean="0"/>
              <a:pPr/>
              <a:t>20</a:t>
            </a:fld>
            <a:endParaRPr lang="en-US"/>
          </a:p>
        </p:txBody>
      </p:sp>
      <p:sp>
        <p:nvSpPr>
          <p:cNvPr id="5" name="Title 1"/>
          <p:cNvSpPr>
            <a:spLocks noGrp="1"/>
          </p:cNvSpPr>
          <p:nvPr>
            <p:ph type="title"/>
          </p:nvPr>
        </p:nvSpPr>
        <p:spPr>
          <a:xfrm>
            <a:off x="609600" y="152400"/>
            <a:ext cx="8229600" cy="685800"/>
          </a:xfrm>
        </p:spPr>
        <p:txBody>
          <a:bodyPr>
            <a:noAutofit/>
          </a:bodyPr>
          <a:lstStyle/>
          <a:p>
            <a:r>
              <a:rPr lang="en-US" sz="2800" dirty="0" smtClean="0"/>
              <a:t>… Product revision software quality factors …</a:t>
            </a:r>
            <a:endParaRPr lang="en-US" sz="2800" dirty="0"/>
          </a:p>
        </p:txBody>
      </p:sp>
      <p:sp>
        <p:nvSpPr>
          <p:cNvPr id="6" name="Content Placeholder 2"/>
          <p:cNvSpPr>
            <a:spLocks noGrp="1"/>
          </p:cNvSpPr>
          <p:nvPr>
            <p:ph idx="1"/>
          </p:nvPr>
        </p:nvSpPr>
        <p:spPr>
          <a:xfrm>
            <a:off x="762000" y="838200"/>
            <a:ext cx="8229600" cy="6172200"/>
          </a:xfrm>
        </p:spPr>
        <p:txBody>
          <a:bodyPr>
            <a:noAutofit/>
          </a:bodyPr>
          <a:lstStyle/>
          <a:p>
            <a:pPr lvl="1"/>
            <a:r>
              <a:rPr lang="en-US" sz="2000" b="1" dirty="0" smtClean="0"/>
              <a:t>Maintainability:</a:t>
            </a:r>
          </a:p>
          <a:p>
            <a:pPr lvl="2"/>
            <a:r>
              <a:rPr lang="en-US" sz="1800" dirty="0" smtClean="0"/>
              <a:t>Maintainability requirements determine the efforts that will be needed by users and maintenance personnel to identify the reasons for software failures, to correct the failures, and to verify the success of the corrections. </a:t>
            </a:r>
          </a:p>
          <a:p>
            <a:pPr lvl="2"/>
            <a:r>
              <a:rPr lang="en-US" sz="1800" dirty="0" smtClean="0"/>
              <a:t>This factor’s requirements refer to the modular structure of software, the internal program documentation, and the programmer’s manual, among other items.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243F0035-4B67-4B88-B2A0-536AE2AEED21}" type="slidenum">
              <a:rPr lang="en-US" smtClean="0"/>
              <a:pPr/>
              <a:t>21</a:t>
            </a:fld>
            <a:endParaRPr lang="en-US"/>
          </a:p>
        </p:txBody>
      </p:sp>
      <p:sp>
        <p:nvSpPr>
          <p:cNvPr id="5" name="Title 1"/>
          <p:cNvSpPr>
            <a:spLocks noGrp="1"/>
          </p:cNvSpPr>
          <p:nvPr>
            <p:ph type="title"/>
          </p:nvPr>
        </p:nvSpPr>
        <p:spPr>
          <a:xfrm>
            <a:off x="609600" y="152400"/>
            <a:ext cx="8229600" cy="685800"/>
          </a:xfrm>
        </p:spPr>
        <p:txBody>
          <a:bodyPr>
            <a:noAutofit/>
          </a:bodyPr>
          <a:lstStyle/>
          <a:p>
            <a:r>
              <a:rPr lang="en-US" sz="2800" dirty="0" smtClean="0"/>
              <a:t>… Product revision software quality factors …</a:t>
            </a:r>
            <a:endParaRPr lang="en-US" sz="2800" dirty="0"/>
          </a:p>
        </p:txBody>
      </p:sp>
      <p:sp>
        <p:nvSpPr>
          <p:cNvPr id="6" name="Content Placeholder 2"/>
          <p:cNvSpPr>
            <a:spLocks noGrp="1"/>
          </p:cNvSpPr>
          <p:nvPr>
            <p:ph idx="1"/>
          </p:nvPr>
        </p:nvSpPr>
        <p:spPr>
          <a:xfrm>
            <a:off x="762000" y="838200"/>
            <a:ext cx="8229600" cy="6172200"/>
          </a:xfrm>
        </p:spPr>
        <p:txBody>
          <a:bodyPr>
            <a:noAutofit/>
          </a:bodyPr>
          <a:lstStyle/>
          <a:p>
            <a:pPr lvl="1"/>
            <a:r>
              <a:rPr lang="en-US" sz="2000" b="1" dirty="0" smtClean="0"/>
              <a:t>Flexibility:</a:t>
            </a:r>
          </a:p>
          <a:p>
            <a:pPr lvl="2"/>
            <a:r>
              <a:rPr lang="en-US" sz="1800" dirty="0" smtClean="0"/>
              <a:t>The capabilities and efforts required to support adaptive maintenance activities are covered by the flexibility requirements. </a:t>
            </a:r>
          </a:p>
          <a:p>
            <a:pPr lvl="2"/>
            <a:r>
              <a:rPr lang="en-US" sz="1800" dirty="0" smtClean="0"/>
              <a:t>These include the resources (i.e. in man-days) required to adapt a software package to a variety of customers of the same trade, of various extents of activities, of different ranges of products and so on. </a:t>
            </a:r>
          </a:p>
          <a:p>
            <a:pPr lvl="2"/>
            <a:r>
              <a:rPr lang="en-US" sz="1800" dirty="0" smtClean="0"/>
              <a:t>This factor’s requirements also support perfective maintenance activities, such as changes and additions to the software in order to improve its service and to adapt it to changes in the firm’s technical or commercial environment.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243F0035-4B67-4B88-B2A0-536AE2AEED21}" type="slidenum">
              <a:rPr lang="en-US" smtClean="0"/>
              <a:pPr/>
              <a:t>22</a:t>
            </a:fld>
            <a:endParaRPr lang="en-US"/>
          </a:p>
        </p:txBody>
      </p:sp>
      <p:sp>
        <p:nvSpPr>
          <p:cNvPr id="5" name="Title 1"/>
          <p:cNvSpPr>
            <a:spLocks noGrp="1"/>
          </p:cNvSpPr>
          <p:nvPr>
            <p:ph type="title"/>
          </p:nvPr>
        </p:nvSpPr>
        <p:spPr>
          <a:xfrm>
            <a:off x="609600" y="152400"/>
            <a:ext cx="8229600" cy="685800"/>
          </a:xfrm>
        </p:spPr>
        <p:txBody>
          <a:bodyPr>
            <a:noAutofit/>
          </a:bodyPr>
          <a:lstStyle/>
          <a:p>
            <a:r>
              <a:rPr lang="en-US" sz="2800" dirty="0" smtClean="0"/>
              <a:t>… Product revision software quality factors …</a:t>
            </a:r>
            <a:endParaRPr lang="en-US" sz="2800" dirty="0"/>
          </a:p>
        </p:txBody>
      </p:sp>
      <p:sp>
        <p:nvSpPr>
          <p:cNvPr id="6" name="Content Placeholder 2"/>
          <p:cNvSpPr>
            <a:spLocks noGrp="1"/>
          </p:cNvSpPr>
          <p:nvPr>
            <p:ph idx="1"/>
          </p:nvPr>
        </p:nvSpPr>
        <p:spPr>
          <a:xfrm>
            <a:off x="762000" y="838200"/>
            <a:ext cx="8229600" cy="6172200"/>
          </a:xfrm>
        </p:spPr>
        <p:txBody>
          <a:bodyPr>
            <a:noAutofit/>
          </a:bodyPr>
          <a:lstStyle/>
          <a:p>
            <a:pPr lvl="1"/>
            <a:r>
              <a:rPr lang="en-US" sz="2000" b="1" dirty="0" smtClean="0"/>
              <a:t>Testability:</a:t>
            </a:r>
          </a:p>
          <a:p>
            <a:pPr lvl="2"/>
            <a:r>
              <a:rPr lang="en-US" sz="1800" dirty="0" smtClean="0"/>
              <a:t>Testability requirements deal with the testing of an information system as well as with its operation. </a:t>
            </a:r>
          </a:p>
          <a:p>
            <a:pPr lvl="2"/>
            <a:r>
              <a:rPr lang="en-US" sz="1800" dirty="0" smtClean="0"/>
              <a:t>Testability requirements for the ease of testing are related to special features in the programs that help the tester, for instance by providing predefined intermediate results and log files. </a:t>
            </a:r>
          </a:p>
          <a:p>
            <a:pPr lvl="2"/>
            <a:r>
              <a:rPr lang="en-US" sz="1800" dirty="0" smtClean="0"/>
              <a:t>Testability requirements related to software operation include automatic diagnostics performed by the software system prior to starting the system, to find out whether all components of the software system are in working order and to obtain a report about the detected faults. </a:t>
            </a:r>
          </a:p>
          <a:p>
            <a:pPr lvl="2"/>
            <a:r>
              <a:rPr lang="en-US" sz="1800" dirty="0" smtClean="0"/>
              <a:t>Another type of these requirements deals with automatic diagnostic checks applied by the maintenance technicians to detect the causes of software failures.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685800"/>
          </a:xfrm>
        </p:spPr>
        <p:txBody>
          <a:bodyPr>
            <a:noAutofit/>
          </a:bodyPr>
          <a:lstStyle/>
          <a:p>
            <a:r>
              <a:rPr lang="en-US" sz="2800" dirty="0" smtClean="0"/>
              <a:t>… Product revision software quality factors</a:t>
            </a:r>
            <a:endParaRPr lang="en-US" sz="2800" dirty="0"/>
          </a:p>
        </p:txBody>
      </p:sp>
      <p:sp>
        <p:nvSpPr>
          <p:cNvPr id="2" name="Slide Number Placeholder 1"/>
          <p:cNvSpPr>
            <a:spLocks noGrp="1"/>
          </p:cNvSpPr>
          <p:nvPr>
            <p:ph type="sldNum" sz="quarter" idx="12"/>
          </p:nvPr>
        </p:nvSpPr>
        <p:spPr/>
        <p:txBody>
          <a:bodyPr/>
          <a:lstStyle/>
          <a:p>
            <a:fld id="{243F0035-4B67-4B88-B2A0-536AE2AEED21}" type="slidenum">
              <a:rPr lang="en-US" smtClean="0"/>
              <a:pPr/>
              <a:t>23</a:t>
            </a:fld>
            <a:endParaRPr lang="en-US"/>
          </a:p>
        </p:txBody>
      </p:sp>
      <p:pic>
        <p:nvPicPr>
          <p:cNvPr id="7" name="Picture 6"/>
          <p:cNvPicPr>
            <a:picLocks noChangeAspect="1"/>
          </p:cNvPicPr>
          <p:nvPr/>
        </p:nvPicPr>
        <p:blipFill>
          <a:blip r:embed="rId2" cstate="print"/>
          <a:stretch>
            <a:fillRect/>
          </a:stretch>
        </p:blipFill>
        <p:spPr>
          <a:xfrm>
            <a:off x="56098" y="1143000"/>
            <a:ext cx="9031804" cy="4572000"/>
          </a:xfrm>
          <a:prstGeom prst="rect">
            <a:avLst/>
          </a:prstGeom>
        </p:spPr>
      </p:pic>
    </p:spTree>
    <p:extLst>
      <p:ext uri="{BB962C8B-B14F-4D97-AF65-F5344CB8AC3E}">
        <p14:creationId xmlns:p14="http://schemas.microsoft.com/office/powerpoint/2010/main" val="191241661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685800"/>
          </a:xfrm>
        </p:spPr>
        <p:txBody>
          <a:bodyPr>
            <a:noAutofit/>
          </a:bodyPr>
          <a:lstStyle/>
          <a:p>
            <a:r>
              <a:rPr lang="en-US" sz="2800" dirty="0" smtClean="0"/>
              <a:t>Product transition software quality factors …</a:t>
            </a:r>
            <a:endParaRPr lang="en-US" sz="2800" dirty="0"/>
          </a:p>
        </p:txBody>
      </p:sp>
      <p:sp>
        <p:nvSpPr>
          <p:cNvPr id="2" name="Slide Number Placeholder 1"/>
          <p:cNvSpPr>
            <a:spLocks noGrp="1"/>
          </p:cNvSpPr>
          <p:nvPr>
            <p:ph type="sldNum" sz="quarter" idx="12"/>
          </p:nvPr>
        </p:nvSpPr>
        <p:spPr/>
        <p:txBody>
          <a:bodyPr/>
          <a:lstStyle/>
          <a:p>
            <a:fld id="{243F0035-4B67-4B88-B2A0-536AE2AEED21}" type="slidenum">
              <a:rPr lang="en-US" smtClean="0"/>
              <a:pPr/>
              <a:t>24</a:t>
            </a:fld>
            <a:endParaRPr lang="en-US"/>
          </a:p>
        </p:txBody>
      </p:sp>
      <p:sp>
        <p:nvSpPr>
          <p:cNvPr id="5" name="Content Placeholder 2"/>
          <p:cNvSpPr>
            <a:spLocks noGrp="1"/>
          </p:cNvSpPr>
          <p:nvPr>
            <p:ph idx="1"/>
          </p:nvPr>
        </p:nvSpPr>
        <p:spPr>
          <a:xfrm>
            <a:off x="609600" y="609600"/>
            <a:ext cx="8229600" cy="6172200"/>
          </a:xfrm>
        </p:spPr>
        <p:txBody>
          <a:bodyPr>
            <a:noAutofit/>
          </a:bodyPr>
          <a:lstStyle/>
          <a:p>
            <a:r>
              <a:rPr lang="en-US" sz="2000" dirty="0" smtClean="0"/>
              <a:t>According to McCall, three quality factors are included in the product transition category, a category that pertains to the adaptation of software to other environments and its interaction with other software systems. </a:t>
            </a:r>
          </a:p>
          <a:p>
            <a:r>
              <a:rPr lang="en-US" sz="2000" dirty="0" smtClean="0"/>
              <a:t>Includes:</a:t>
            </a:r>
          </a:p>
          <a:p>
            <a:pPr lvl="1"/>
            <a:r>
              <a:rPr lang="en-US" sz="2000" dirty="0" smtClean="0"/>
              <a:t>Portability</a:t>
            </a:r>
          </a:p>
          <a:p>
            <a:pPr lvl="1"/>
            <a:r>
              <a:rPr lang="en-US" sz="2000" dirty="0" smtClean="0"/>
              <a:t>Reusability</a:t>
            </a:r>
          </a:p>
          <a:p>
            <a:pPr lvl="1"/>
            <a:r>
              <a:rPr lang="en-US" sz="2000" dirty="0" smtClean="0"/>
              <a:t>Interoperability</a:t>
            </a:r>
            <a:endParaRPr lang="en-US" sz="1800" dirty="0" smtClean="0"/>
          </a:p>
        </p:txBody>
      </p:sp>
    </p:spTree>
    <p:extLst>
      <p:ext uri="{BB962C8B-B14F-4D97-AF65-F5344CB8AC3E}">
        <p14:creationId xmlns:p14="http://schemas.microsoft.com/office/powerpoint/2010/main" val="191241661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685800"/>
          </a:xfrm>
        </p:spPr>
        <p:txBody>
          <a:bodyPr>
            <a:noAutofit/>
          </a:bodyPr>
          <a:lstStyle/>
          <a:p>
            <a:r>
              <a:rPr lang="en-US" sz="2800" dirty="0" smtClean="0"/>
              <a:t>… Product transition software quality factors …</a:t>
            </a:r>
            <a:endParaRPr lang="en-US" sz="2800" dirty="0"/>
          </a:p>
        </p:txBody>
      </p:sp>
      <p:sp>
        <p:nvSpPr>
          <p:cNvPr id="2" name="Slide Number Placeholder 1"/>
          <p:cNvSpPr>
            <a:spLocks noGrp="1"/>
          </p:cNvSpPr>
          <p:nvPr>
            <p:ph type="sldNum" sz="quarter" idx="12"/>
          </p:nvPr>
        </p:nvSpPr>
        <p:spPr/>
        <p:txBody>
          <a:bodyPr/>
          <a:lstStyle/>
          <a:p>
            <a:fld id="{243F0035-4B67-4B88-B2A0-536AE2AEED21}" type="slidenum">
              <a:rPr lang="en-US" smtClean="0"/>
              <a:pPr/>
              <a:t>25</a:t>
            </a:fld>
            <a:endParaRPr lang="en-US"/>
          </a:p>
        </p:txBody>
      </p:sp>
      <p:sp>
        <p:nvSpPr>
          <p:cNvPr id="8" name="Content Placeholder 2"/>
          <p:cNvSpPr>
            <a:spLocks noGrp="1"/>
          </p:cNvSpPr>
          <p:nvPr>
            <p:ph idx="1"/>
          </p:nvPr>
        </p:nvSpPr>
        <p:spPr>
          <a:xfrm>
            <a:off x="533400" y="685800"/>
            <a:ext cx="8229600" cy="6172200"/>
          </a:xfrm>
        </p:spPr>
        <p:txBody>
          <a:bodyPr>
            <a:noAutofit/>
          </a:bodyPr>
          <a:lstStyle/>
          <a:p>
            <a:pPr lvl="1"/>
            <a:r>
              <a:rPr lang="en-US" sz="2000" b="1" dirty="0" smtClean="0"/>
              <a:t>Portability:</a:t>
            </a:r>
          </a:p>
          <a:p>
            <a:pPr lvl="2"/>
            <a:r>
              <a:rPr lang="en-US" sz="1800" dirty="0" smtClean="0"/>
              <a:t>Portability requirements tend to the adaptation of a software system to other environments consisting of different hardware, different operating systems, and so forth. </a:t>
            </a:r>
          </a:p>
          <a:p>
            <a:pPr lvl="2"/>
            <a:r>
              <a:rPr lang="en-US" sz="1800" dirty="0" smtClean="0"/>
              <a:t>These requirements make it possible to continue using the same basic software in diverse situations or to use it simultaneously in diverse hardware and operating systems situations. </a:t>
            </a:r>
          </a:p>
        </p:txBody>
      </p:sp>
    </p:spTree>
    <p:extLst>
      <p:ext uri="{BB962C8B-B14F-4D97-AF65-F5344CB8AC3E}">
        <p14:creationId xmlns:p14="http://schemas.microsoft.com/office/powerpoint/2010/main" val="191241661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685800"/>
          </a:xfrm>
        </p:spPr>
        <p:txBody>
          <a:bodyPr>
            <a:noAutofit/>
          </a:bodyPr>
          <a:lstStyle/>
          <a:p>
            <a:r>
              <a:rPr lang="en-US" sz="2800" dirty="0" smtClean="0"/>
              <a:t>… Product transition software quality factors …</a:t>
            </a:r>
            <a:endParaRPr lang="en-US" sz="2800" dirty="0"/>
          </a:p>
        </p:txBody>
      </p:sp>
      <p:sp>
        <p:nvSpPr>
          <p:cNvPr id="2" name="Slide Number Placeholder 1"/>
          <p:cNvSpPr>
            <a:spLocks noGrp="1"/>
          </p:cNvSpPr>
          <p:nvPr>
            <p:ph type="sldNum" sz="quarter" idx="12"/>
          </p:nvPr>
        </p:nvSpPr>
        <p:spPr/>
        <p:txBody>
          <a:bodyPr/>
          <a:lstStyle/>
          <a:p>
            <a:fld id="{243F0035-4B67-4B88-B2A0-536AE2AEED21}" type="slidenum">
              <a:rPr lang="en-US" smtClean="0"/>
              <a:pPr/>
              <a:t>26</a:t>
            </a:fld>
            <a:endParaRPr lang="en-US"/>
          </a:p>
        </p:txBody>
      </p:sp>
      <p:sp>
        <p:nvSpPr>
          <p:cNvPr id="8" name="Content Placeholder 2"/>
          <p:cNvSpPr>
            <a:spLocks noGrp="1"/>
          </p:cNvSpPr>
          <p:nvPr>
            <p:ph idx="1"/>
          </p:nvPr>
        </p:nvSpPr>
        <p:spPr>
          <a:xfrm>
            <a:off x="533400" y="685800"/>
            <a:ext cx="8229600" cy="6172200"/>
          </a:xfrm>
        </p:spPr>
        <p:txBody>
          <a:bodyPr>
            <a:noAutofit/>
          </a:bodyPr>
          <a:lstStyle/>
          <a:p>
            <a:pPr lvl="1"/>
            <a:r>
              <a:rPr lang="en-US" sz="2000" b="1" dirty="0" smtClean="0"/>
              <a:t>Reusability:</a:t>
            </a:r>
          </a:p>
          <a:p>
            <a:pPr lvl="2"/>
            <a:r>
              <a:rPr lang="en-US" sz="1800" dirty="0" smtClean="0"/>
              <a:t>Reusability requirements deal with the use of software modules originally designed for one project in a new software project currently being developed.</a:t>
            </a:r>
          </a:p>
          <a:p>
            <a:pPr lvl="2"/>
            <a:r>
              <a:rPr lang="en-US" sz="1800" dirty="0" smtClean="0"/>
              <a:t>They may also enable future projects to make use of a given module or a group of modules of the currently developed software. </a:t>
            </a:r>
          </a:p>
          <a:p>
            <a:pPr lvl="2"/>
            <a:r>
              <a:rPr lang="en-US" sz="1800" dirty="0" smtClean="0"/>
              <a:t>The reuse of software is expected to save development resources, shorten the development period, and provide higher quality modules.</a:t>
            </a:r>
          </a:p>
          <a:p>
            <a:pPr lvl="2"/>
            <a:r>
              <a:rPr lang="en-US" sz="1800" dirty="0" smtClean="0"/>
              <a:t>These benefits of higher quality are based on the assumption that most of the software faults have already been detected by the quality assurance activities performed on the original software, by users of the original software, and during its earlier reuses. </a:t>
            </a:r>
          </a:p>
        </p:txBody>
      </p:sp>
    </p:spTree>
    <p:extLst>
      <p:ext uri="{BB962C8B-B14F-4D97-AF65-F5344CB8AC3E}">
        <p14:creationId xmlns:p14="http://schemas.microsoft.com/office/powerpoint/2010/main" val="191241661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685800"/>
          </a:xfrm>
        </p:spPr>
        <p:txBody>
          <a:bodyPr>
            <a:noAutofit/>
          </a:bodyPr>
          <a:lstStyle/>
          <a:p>
            <a:r>
              <a:rPr lang="en-US" sz="2800" dirty="0" smtClean="0"/>
              <a:t>… Product transition software quality factors …</a:t>
            </a:r>
            <a:endParaRPr lang="en-US" sz="2800" dirty="0"/>
          </a:p>
        </p:txBody>
      </p:sp>
      <p:sp>
        <p:nvSpPr>
          <p:cNvPr id="2" name="Slide Number Placeholder 1"/>
          <p:cNvSpPr>
            <a:spLocks noGrp="1"/>
          </p:cNvSpPr>
          <p:nvPr>
            <p:ph type="sldNum" sz="quarter" idx="12"/>
          </p:nvPr>
        </p:nvSpPr>
        <p:spPr/>
        <p:txBody>
          <a:bodyPr/>
          <a:lstStyle/>
          <a:p>
            <a:fld id="{243F0035-4B67-4B88-B2A0-536AE2AEED21}" type="slidenum">
              <a:rPr lang="en-US" smtClean="0"/>
              <a:pPr/>
              <a:t>27</a:t>
            </a:fld>
            <a:endParaRPr lang="en-US"/>
          </a:p>
        </p:txBody>
      </p:sp>
      <p:sp>
        <p:nvSpPr>
          <p:cNvPr id="8" name="Content Placeholder 2"/>
          <p:cNvSpPr>
            <a:spLocks noGrp="1"/>
          </p:cNvSpPr>
          <p:nvPr>
            <p:ph idx="1"/>
          </p:nvPr>
        </p:nvSpPr>
        <p:spPr>
          <a:xfrm>
            <a:off x="533400" y="685800"/>
            <a:ext cx="8229600" cy="6172200"/>
          </a:xfrm>
        </p:spPr>
        <p:txBody>
          <a:bodyPr>
            <a:noAutofit/>
          </a:bodyPr>
          <a:lstStyle/>
          <a:p>
            <a:pPr lvl="1"/>
            <a:r>
              <a:rPr lang="en-US" sz="2000" b="1" dirty="0" smtClean="0"/>
              <a:t>Interoperability:</a:t>
            </a:r>
          </a:p>
          <a:p>
            <a:pPr lvl="2"/>
            <a:r>
              <a:rPr lang="en-US" sz="1800" dirty="0" smtClean="0"/>
              <a:t>Interoperability requirements focus on creating interfaces with other software systems or with other equipment firmware (for example, the firmware of the production machinery and testing equipment interfaces with the production control software). </a:t>
            </a:r>
          </a:p>
          <a:p>
            <a:pPr lvl="2"/>
            <a:r>
              <a:rPr lang="en-US" sz="1800" dirty="0" smtClean="0"/>
              <a:t>Interoperability requirements can specify the name(s) of the software or firmware for which interface is required.</a:t>
            </a:r>
          </a:p>
          <a:p>
            <a:pPr lvl="2"/>
            <a:r>
              <a:rPr lang="en-US" sz="1800" dirty="0" smtClean="0"/>
              <a:t>They can also specify the output structure accepted as standard in a specific industry or applications area.</a:t>
            </a:r>
          </a:p>
        </p:txBody>
      </p:sp>
    </p:spTree>
    <p:extLst>
      <p:ext uri="{BB962C8B-B14F-4D97-AF65-F5344CB8AC3E}">
        <p14:creationId xmlns:p14="http://schemas.microsoft.com/office/powerpoint/2010/main" val="191241661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685800"/>
          </a:xfrm>
        </p:spPr>
        <p:txBody>
          <a:bodyPr>
            <a:noAutofit/>
          </a:bodyPr>
          <a:lstStyle/>
          <a:p>
            <a:r>
              <a:rPr lang="en-US" sz="2800" dirty="0" smtClean="0"/>
              <a:t>… Product transition software quality factors</a:t>
            </a:r>
            <a:endParaRPr lang="en-US" sz="2800" dirty="0"/>
          </a:p>
        </p:txBody>
      </p:sp>
      <p:sp>
        <p:nvSpPr>
          <p:cNvPr id="2" name="Slide Number Placeholder 1"/>
          <p:cNvSpPr>
            <a:spLocks noGrp="1"/>
          </p:cNvSpPr>
          <p:nvPr>
            <p:ph type="sldNum" sz="quarter" idx="12"/>
          </p:nvPr>
        </p:nvSpPr>
        <p:spPr/>
        <p:txBody>
          <a:bodyPr/>
          <a:lstStyle/>
          <a:p>
            <a:fld id="{243F0035-4B67-4B88-B2A0-536AE2AEED21}" type="slidenum">
              <a:rPr lang="en-US" smtClean="0"/>
              <a:pPr/>
              <a:t>28</a:t>
            </a:fld>
            <a:endParaRPr lang="en-US"/>
          </a:p>
        </p:txBody>
      </p:sp>
      <p:pic>
        <p:nvPicPr>
          <p:cNvPr id="3" name="Picture 2"/>
          <p:cNvPicPr>
            <a:picLocks noChangeAspect="1"/>
          </p:cNvPicPr>
          <p:nvPr/>
        </p:nvPicPr>
        <p:blipFill>
          <a:blip r:embed="rId2" cstate="print"/>
          <a:stretch>
            <a:fillRect/>
          </a:stretch>
        </p:blipFill>
        <p:spPr>
          <a:xfrm>
            <a:off x="322760" y="2514598"/>
            <a:ext cx="8498480" cy="3962402"/>
          </a:xfrm>
          <a:prstGeom prst="rect">
            <a:avLst/>
          </a:prstGeom>
        </p:spPr>
      </p:pic>
      <p:pic>
        <p:nvPicPr>
          <p:cNvPr id="8" name="Picture 7"/>
          <p:cNvPicPr>
            <a:picLocks noChangeAspect="1"/>
          </p:cNvPicPr>
          <p:nvPr/>
        </p:nvPicPr>
        <p:blipFill>
          <a:blip r:embed="rId3" cstate="print"/>
          <a:stretch>
            <a:fillRect/>
          </a:stretch>
        </p:blipFill>
        <p:spPr>
          <a:xfrm>
            <a:off x="457200" y="1263080"/>
            <a:ext cx="8379542" cy="893316"/>
          </a:xfrm>
          <a:prstGeom prst="rect">
            <a:avLst/>
          </a:prstGeom>
        </p:spPr>
      </p:pic>
    </p:spTree>
    <p:extLst>
      <p:ext uri="{BB962C8B-B14F-4D97-AF65-F5344CB8AC3E}">
        <p14:creationId xmlns:p14="http://schemas.microsoft.com/office/powerpoint/2010/main" val="903975042"/>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685800"/>
          </a:xfrm>
        </p:spPr>
        <p:txBody>
          <a:bodyPr>
            <a:noAutofit/>
          </a:bodyPr>
          <a:lstStyle/>
          <a:p>
            <a:r>
              <a:rPr lang="en-GB" sz="2400" b="1" dirty="0"/>
              <a:t>Those interested in defining software quality requirements.</a:t>
            </a:r>
            <a:endParaRPr lang="en-US" sz="2400" b="1" dirty="0"/>
          </a:p>
        </p:txBody>
      </p:sp>
      <p:sp>
        <p:nvSpPr>
          <p:cNvPr id="2" name="Slide Number Placeholder 1"/>
          <p:cNvSpPr>
            <a:spLocks noGrp="1"/>
          </p:cNvSpPr>
          <p:nvPr>
            <p:ph type="sldNum" sz="quarter" idx="12"/>
          </p:nvPr>
        </p:nvSpPr>
        <p:spPr/>
        <p:txBody>
          <a:bodyPr/>
          <a:lstStyle/>
          <a:p>
            <a:fld id="{243F0035-4B67-4B88-B2A0-536AE2AEED21}" type="slidenum">
              <a:rPr lang="en-US" smtClean="0"/>
              <a:pPr/>
              <a:t>29</a:t>
            </a:fld>
            <a:endParaRPr lang="en-US"/>
          </a:p>
        </p:txBody>
      </p:sp>
      <p:sp>
        <p:nvSpPr>
          <p:cNvPr id="7" name="Content Placeholder 2"/>
          <p:cNvSpPr>
            <a:spLocks noGrp="1"/>
          </p:cNvSpPr>
          <p:nvPr>
            <p:ph idx="1"/>
          </p:nvPr>
        </p:nvSpPr>
        <p:spPr>
          <a:xfrm>
            <a:off x="609600" y="685800"/>
            <a:ext cx="8229600" cy="6172200"/>
          </a:xfrm>
        </p:spPr>
        <p:txBody>
          <a:bodyPr>
            <a:noAutofit/>
          </a:bodyPr>
          <a:lstStyle/>
          <a:p>
            <a:r>
              <a:rPr lang="en-GB" sz="2000" dirty="0"/>
              <a:t>The client is not the only party interested in thoroughly defining the requirements that assure the quality of the software product</a:t>
            </a:r>
            <a:r>
              <a:rPr lang="en-GB" sz="2000" dirty="0" smtClean="0"/>
              <a:t>.</a:t>
            </a:r>
            <a:endParaRPr lang="en-GB" sz="2000" dirty="0"/>
          </a:p>
          <a:p>
            <a:r>
              <a:rPr lang="en-GB" sz="2000" dirty="0"/>
              <a:t>The developer is often interested in adding requirements that represent his own interests, such as reusability, verifiability and portability requirements. </a:t>
            </a:r>
          </a:p>
          <a:p>
            <a:r>
              <a:rPr lang="en-GB" sz="2000" dirty="0"/>
              <a:t>These may not, however, be of interest to the client. </a:t>
            </a:r>
          </a:p>
          <a:p>
            <a:r>
              <a:rPr lang="en-GB" sz="2000" dirty="0"/>
              <a:t>Thus, one can expect that a project will be carried out according to two requirements documents</a:t>
            </a:r>
            <a:r>
              <a:rPr lang="en-GB" sz="2000" dirty="0" smtClean="0"/>
              <a:t>:</a:t>
            </a:r>
            <a:endParaRPr lang="en-GB" sz="2000" dirty="0"/>
          </a:p>
          <a:p>
            <a:pPr lvl="1"/>
            <a:r>
              <a:rPr lang="en-GB" sz="2000" dirty="0" smtClean="0"/>
              <a:t>The </a:t>
            </a:r>
            <a:r>
              <a:rPr lang="en-GB" sz="2000" dirty="0"/>
              <a:t>client’s requirements document</a:t>
            </a:r>
          </a:p>
          <a:p>
            <a:pPr lvl="1"/>
            <a:r>
              <a:rPr lang="en-GB" sz="2000" dirty="0" smtClean="0"/>
              <a:t>The </a:t>
            </a:r>
            <a:r>
              <a:rPr lang="en-GB" sz="2000" dirty="0"/>
              <a:t>developer’s additional requirements document</a:t>
            </a:r>
            <a:r>
              <a:rPr lang="en-GB" sz="1800" dirty="0"/>
              <a:t>.</a:t>
            </a:r>
          </a:p>
        </p:txBody>
      </p:sp>
    </p:spTree>
    <p:extLst>
      <p:ext uri="{BB962C8B-B14F-4D97-AF65-F5344CB8AC3E}">
        <p14:creationId xmlns:p14="http://schemas.microsoft.com/office/powerpoint/2010/main" val="215474036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583</TotalTime>
  <Words>2353</Words>
  <Application>Microsoft Office PowerPoint</Application>
  <PresentationFormat>On-screen Show (4:3)</PresentationFormat>
  <Paragraphs>186</Paragraphs>
  <Slides>29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PowerPoint Presentation</vt:lpstr>
      <vt:lpstr>5 Views of Software Quality ...</vt:lpstr>
      <vt:lpstr>... 5 Views of Software Quality ...</vt:lpstr>
      <vt:lpstr>... 5 Views of Software Quality ...</vt:lpstr>
      <vt:lpstr>... 5 Views of Software Quality ...</vt:lpstr>
      <vt:lpstr>... 5 Views of Software Quality ...</vt:lpstr>
      <vt:lpstr>... 5 Views of Software Quality </vt:lpstr>
      <vt:lpstr>The need for comprehensive requirements documents and their contents...</vt:lpstr>
      <vt:lpstr>... The need for comprehensive requirements documents and their contents.</vt:lpstr>
      <vt:lpstr>The structure (categories and factors) of McCall’s classic factor model</vt:lpstr>
      <vt:lpstr> McCall’s factor model tree.</vt:lpstr>
      <vt:lpstr>Product operation software quality factors …</vt:lpstr>
      <vt:lpstr>… Product operation software quality factors …</vt:lpstr>
      <vt:lpstr>… Product operation software quality factors …</vt:lpstr>
      <vt:lpstr>… Product operation software quality factors …</vt:lpstr>
      <vt:lpstr>… Product operation software quality factors …</vt:lpstr>
      <vt:lpstr>… Product operation software quality factors …</vt:lpstr>
      <vt:lpstr>… Product operation software quality factors.</vt:lpstr>
      <vt:lpstr>Product revision software quality factors …</vt:lpstr>
      <vt:lpstr>… Product revision software quality factors …</vt:lpstr>
      <vt:lpstr>… Product revision software quality factors …</vt:lpstr>
      <vt:lpstr>… Product revision software quality factors …</vt:lpstr>
      <vt:lpstr>… Product revision software quality factors</vt:lpstr>
      <vt:lpstr>Product transition software quality factors …</vt:lpstr>
      <vt:lpstr>… Product transition software quality factors …</vt:lpstr>
      <vt:lpstr>… Product transition software quality factors …</vt:lpstr>
      <vt:lpstr>… Product transition software quality factors …</vt:lpstr>
      <vt:lpstr>… Product transition software quality factors</vt:lpstr>
      <vt:lpstr>Those interested in defining software quality requirements.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Risk Analysis</dc:title>
  <dc:creator>gulraiz</dc:creator>
  <cp:lastModifiedBy>Windows User</cp:lastModifiedBy>
  <cp:revision>198</cp:revision>
  <dcterms:created xsi:type="dcterms:W3CDTF">2014-08-12T16:29:38Z</dcterms:created>
  <dcterms:modified xsi:type="dcterms:W3CDTF">2023-10-18T08:24:31Z</dcterms:modified>
</cp:coreProperties>
</file>