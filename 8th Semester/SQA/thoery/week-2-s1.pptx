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9" r:id="rId2"/>
    <p:sldId id="261" r:id="rId3"/>
    <p:sldId id="267" r:id="rId4"/>
    <p:sldId id="262" r:id="rId5"/>
    <p:sldId id="277" r:id="rId6"/>
    <p:sldId id="278" r:id="rId7"/>
    <p:sldId id="276" r:id="rId8"/>
    <p:sldId id="266" r:id="rId9"/>
    <p:sldId id="268" r:id="rId10"/>
    <p:sldId id="269" r:id="rId11"/>
    <p:sldId id="270"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43F0035-4B67-4B88-B2A0-536AE2AEED21}" type="slidenum">
              <a:rPr lang="en-US" smtClean="0"/>
              <a:pPr/>
              <a:t>1</a:t>
            </a:fld>
            <a:endParaRPr lang="en-US"/>
          </a:p>
        </p:txBody>
      </p:sp>
      <p:sp>
        <p:nvSpPr>
          <p:cNvPr id="6" name="TextBox 5">
            <a:extLst>
              <a:ext uri="{FF2B5EF4-FFF2-40B4-BE49-F238E27FC236}">
                <a16:creationId xmlns:a16="http://schemas.microsoft.com/office/drawing/2014/main" xmlns=""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9" name="Title 1">
            <a:extLst>
              <a:ext uri="{FF2B5EF4-FFF2-40B4-BE49-F238E27FC236}">
                <a16:creationId xmlns:a16="http://schemas.microsoft.com/office/drawing/2014/main" xmlns=""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0" name="Subtitle 2">
            <a:extLst>
              <a:ext uri="{FF2B5EF4-FFF2-40B4-BE49-F238E27FC236}">
                <a16:creationId xmlns:a16="http://schemas.microsoft.com/office/drawing/2014/main" xmlns=""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2</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1</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9" y="19334"/>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Software Errors, Faults &amp; Failure…</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r>
              <a:rPr lang="en-GB" sz="2400" b="1" dirty="0"/>
              <a:t>Software errors </a:t>
            </a:r>
            <a:r>
              <a:rPr lang="en-GB" sz="2400" dirty="0"/>
              <a:t>are sections of the code that are partially or totally incorrect as a result of a grammatical, logical or other mistake made by a </a:t>
            </a:r>
            <a:r>
              <a:rPr lang="en-GB" sz="2400" dirty="0" smtClean="0"/>
              <a:t>systems analyst</a:t>
            </a:r>
            <a:r>
              <a:rPr lang="en-GB" sz="2400" dirty="0"/>
              <a:t>, a programmer, or another member of the software development team</a:t>
            </a:r>
            <a:r>
              <a:rPr lang="en-GB" sz="2400" dirty="0" smtClean="0"/>
              <a:t>.</a:t>
            </a:r>
            <a:endParaRPr lang="en-GB" sz="2400" dirty="0"/>
          </a:p>
          <a:p>
            <a:r>
              <a:rPr lang="en-GB" sz="2400" b="1" dirty="0"/>
              <a:t>Software faults </a:t>
            </a:r>
            <a:r>
              <a:rPr lang="en-GB" sz="2400" dirty="0"/>
              <a:t>are software errors that cause the incorrect functioning of the software during a specific application.</a:t>
            </a:r>
            <a:r>
              <a:rPr lang="en-GB" sz="2400" b="1" dirty="0"/>
              <a:t> </a:t>
            </a:r>
          </a:p>
          <a:p>
            <a:r>
              <a:rPr lang="en-GB" sz="2400" b="1" dirty="0"/>
              <a:t>Software faults become software failures </a:t>
            </a:r>
            <a:r>
              <a:rPr lang="en-GB" sz="2400" dirty="0"/>
              <a:t>only when they are “activated”, that is, when a user tries to apply the specific software section that is faulty. Thus, the root of any software failure is a software error.</a:t>
            </a:r>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35689644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fontScale="90000"/>
          </a:bodyPr>
          <a:lstStyle/>
          <a:p>
            <a:r>
              <a:rPr lang="en-US" dirty="0" smtClean="0"/>
              <a:t>… Software Errors, Faults &amp; Failure …</a:t>
            </a:r>
            <a:endParaRPr lang="en-US" dirty="0"/>
          </a:p>
        </p:txBody>
      </p:sp>
      <p:pic>
        <p:nvPicPr>
          <p:cNvPr id="2" name="Content Placeholder 1"/>
          <p:cNvPicPr>
            <a:picLocks noGrp="1" noChangeAspect="1"/>
          </p:cNvPicPr>
          <p:nvPr>
            <p:ph idx="1"/>
          </p:nvPr>
        </p:nvPicPr>
        <p:blipFill>
          <a:blip r:embed="rId2" cstate="print"/>
          <a:stretch>
            <a:fillRect/>
          </a:stretch>
        </p:blipFill>
        <p:spPr>
          <a:xfrm>
            <a:off x="549085" y="2011363"/>
            <a:ext cx="8045830" cy="3703638"/>
          </a:xfrm>
          <a:prstGeom prst="rect">
            <a:avLst/>
          </a:prstGeom>
        </p:spPr>
      </p:pic>
      <p:sp>
        <p:nvSpPr>
          <p:cNvPr id="3" name="Slide Number Placeholder 2"/>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9297027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33400" y="76200"/>
            <a:ext cx="8229600" cy="609600"/>
          </a:xfrm>
        </p:spPr>
        <p:txBody>
          <a:bodyPr>
            <a:normAutofit fontScale="90000"/>
          </a:bodyPr>
          <a:lstStyle/>
          <a:p>
            <a:r>
              <a:rPr lang="en-US" sz="3600" dirty="0" smtClean="0"/>
              <a:t>Why Software Error Occurs</a:t>
            </a:r>
            <a:endParaRPr lang="en-GB" sz="3600" b="1" dirty="0" smtClean="0"/>
          </a:p>
        </p:txBody>
      </p:sp>
      <p:sp>
        <p:nvSpPr>
          <p:cNvPr id="7" name="Content Placeholder 2"/>
          <p:cNvSpPr>
            <a:spLocks noGrp="1"/>
          </p:cNvSpPr>
          <p:nvPr>
            <p:ph idx="1"/>
          </p:nvPr>
        </p:nvSpPr>
        <p:spPr>
          <a:xfrm>
            <a:off x="457200" y="609600"/>
            <a:ext cx="8229600" cy="5943600"/>
          </a:xfrm>
        </p:spPr>
        <p:txBody>
          <a:bodyPr>
            <a:noAutofit/>
          </a:bodyPr>
          <a:lstStyle/>
          <a:p>
            <a:pPr marL="457200" indent="-457200"/>
            <a:r>
              <a:rPr lang="en-US" sz="2000" dirty="0" smtClean="0"/>
              <a:t>When something fairly obvious missed.</a:t>
            </a:r>
          </a:p>
          <a:p>
            <a:pPr marL="457200" indent="-457200"/>
            <a:r>
              <a:rPr lang="en-US" sz="2000" dirty="0" smtClean="0"/>
              <a:t>To understand this we need to start at the beginning, with the people who design systems. </a:t>
            </a:r>
          </a:p>
          <a:p>
            <a:pPr marL="457200" indent="-457200"/>
            <a:r>
              <a:rPr lang="en-US" sz="2000" dirty="0" smtClean="0"/>
              <a:t>Do they make mistakes? Of course they do. </a:t>
            </a:r>
          </a:p>
          <a:p>
            <a:pPr marL="457200" indent="-457200"/>
            <a:r>
              <a:rPr lang="en-US" sz="2000" dirty="0" smtClean="0"/>
              <a:t>People make mistakes because they are fallible, but there are also many pressures that make mistakes more likely. Pressures such as deadlines, complexity of systems and organizations, and changing technology all bear down on designers of systems</a:t>
            </a:r>
          </a:p>
          <a:p>
            <a:pPr marL="457200" indent="-457200"/>
            <a:r>
              <a:rPr lang="en-US" sz="2000" dirty="0" smtClean="0"/>
              <a:t>and increase the likelihood of errors in specifications, in designs and in software code. </a:t>
            </a:r>
          </a:p>
          <a:p>
            <a:pPr marL="457200" indent="-457200"/>
            <a:r>
              <a:rPr lang="en-US" sz="2000" dirty="0" smtClean="0"/>
              <a:t>These errors are where major system failures usually begin. </a:t>
            </a:r>
          </a:p>
          <a:p>
            <a:pPr marL="457200" indent="-457200"/>
            <a:r>
              <a:rPr lang="en-US" sz="2000" dirty="0" smtClean="0"/>
              <a:t>If a document with an error in it is used to specify a component the component will be faulty and will probably exhibit incorrect behavior. </a:t>
            </a:r>
          </a:p>
          <a:p>
            <a:pPr marL="457200" indent="-457200"/>
            <a:r>
              <a:rPr lang="en-US" sz="2000" dirty="0" smtClean="0"/>
              <a:t>If this faulty component is built into a system the system may fail. While failure is not always guaranteed, it is likely that errors in specifications will lead to faulty components and faulty components will cause system failure.</a:t>
            </a:r>
            <a:endParaRPr lang="en-GB" sz="16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18209204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33400" y="76200"/>
            <a:ext cx="8229600" cy="609600"/>
          </a:xfrm>
        </p:spPr>
        <p:txBody>
          <a:bodyPr>
            <a:normAutofit fontScale="90000"/>
          </a:bodyPr>
          <a:lstStyle/>
          <a:p>
            <a:r>
              <a:rPr lang="en-US" sz="3600" dirty="0" smtClean="0"/>
              <a:t>Why System Fails</a:t>
            </a:r>
            <a:endParaRPr lang="en-GB" sz="3600" b="1" dirty="0" smtClean="0"/>
          </a:p>
        </p:txBody>
      </p:sp>
      <p:sp>
        <p:nvSpPr>
          <p:cNvPr id="7" name="Content Placeholder 2"/>
          <p:cNvSpPr>
            <a:spLocks noGrp="1"/>
          </p:cNvSpPr>
          <p:nvPr>
            <p:ph idx="1"/>
          </p:nvPr>
        </p:nvSpPr>
        <p:spPr>
          <a:xfrm>
            <a:off x="457200" y="609600"/>
            <a:ext cx="8229600" cy="5943600"/>
          </a:xfrm>
        </p:spPr>
        <p:txBody>
          <a:bodyPr>
            <a:noAutofit/>
          </a:bodyPr>
          <a:lstStyle/>
          <a:p>
            <a:pPr marL="457200" indent="-457200"/>
            <a:r>
              <a:rPr lang="en-US" sz="2000" dirty="0" smtClean="0"/>
              <a:t>An error (or mistake) leads to a defect, which can cause an observed failure.</a:t>
            </a:r>
          </a:p>
          <a:p>
            <a:pPr marL="457200" indent="-457200"/>
            <a:r>
              <a:rPr lang="en-US" sz="2000" dirty="0" smtClean="0"/>
              <a:t>There are other reasons why systems fail. </a:t>
            </a:r>
          </a:p>
          <a:p>
            <a:pPr marL="457200" indent="-457200"/>
            <a:r>
              <a:rPr lang="en-US" sz="2000" dirty="0" smtClean="0"/>
              <a:t>Environmental conditions such as the presence of radiation, magnetism, electronic fields or pollution can affect the operation of hardware and firmware and lead to system failure.</a:t>
            </a:r>
          </a:p>
          <a:p>
            <a:pPr marL="457200" indent="-457200"/>
            <a:r>
              <a:rPr lang="en-US" sz="2000" dirty="0" smtClean="0"/>
              <a:t>If we want to avoid failure we must either avoid errors and faults or find them and rectify them. Testing can contribute to both avoidance and rectification, as we will see when we have looked at the testing process in a little more detail.</a:t>
            </a:r>
          </a:p>
          <a:p>
            <a:pPr marL="457200" indent="-457200"/>
            <a:r>
              <a:rPr lang="en-US" sz="2000" dirty="0" smtClean="0"/>
              <a:t> One thing is clear: if we wish to influence errors with testing we need to begin testing as soon as we begin making errors – right at the beginning of the development process – and we need to continue testing until we are confident that there will be no serious system failures – right at the end of the development process.</a:t>
            </a:r>
            <a:endParaRPr lang="en-GB" sz="16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18209204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33400" y="76200"/>
            <a:ext cx="8229600" cy="609600"/>
          </a:xfrm>
        </p:spPr>
        <p:txBody>
          <a:bodyPr>
            <a:normAutofit fontScale="90000"/>
          </a:bodyPr>
          <a:lstStyle/>
          <a:p>
            <a:r>
              <a:rPr lang="en-US" sz="3600" dirty="0" smtClean="0"/>
              <a:t>Problems of Faulty Software</a:t>
            </a:r>
            <a:endParaRPr lang="en-GB" sz="3600" b="1" dirty="0" smtClean="0"/>
          </a:p>
        </p:txBody>
      </p:sp>
      <p:sp>
        <p:nvSpPr>
          <p:cNvPr id="7" name="Content Placeholder 2"/>
          <p:cNvSpPr>
            <a:spLocks noGrp="1"/>
          </p:cNvSpPr>
          <p:nvPr>
            <p:ph idx="1"/>
          </p:nvPr>
        </p:nvSpPr>
        <p:spPr>
          <a:xfrm>
            <a:off x="457200" y="609600"/>
            <a:ext cx="8229600" cy="5943600"/>
          </a:xfrm>
        </p:spPr>
        <p:txBody>
          <a:bodyPr>
            <a:noAutofit/>
          </a:bodyPr>
          <a:lstStyle/>
          <a:p>
            <a:pPr marL="457200" indent="-457200"/>
            <a:r>
              <a:rPr lang="en-US" sz="2400" dirty="0" smtClean="0"/>
              <a:t>Incorrect software can harm:</a:t>
            </a:r>
          </a:p>
          <a:p>
            <a:pPr marL="857250" lvl="1" indent="-457200"/>
            <a:r>
              <a:rPr lang="en-US" sz="2000" dirty="0" smtClean="0"/>
              <a:t>people (e.g. by causing an aircraft crash in which people die, or by causing a hospital life support system to fail); </a:t>
            </a:r>
          </a:p>
          <a:p>
            <a:pPr marL="857250" lvl="1" indent="-457200"/>
            <a:r>
              <a:rPr lang="en-US" sz="2000" dirty="0" smtClean="0"/>
              <a:t>companies (e.g. by causing incorrect billing, which results in the company losing money);</a:t>
            </a:r>
          </a:p>
          <a:p>
            <a:pPr marL="857250" lvl="1" indent="-457200"/>
            <a:r>
              <a:rPr lang="en-US" sz="2000" dirty="0" smtClean="0"/>
              <a:t>the  environment (e.g. by releasing chemicals or radiation into the atmosphere).</a:t>
            </a:r>
          </a:p>
          <a:p>
            <a:pPr marL="457200" indent="-457200"/>
            <a:r>
              <a:rPr lang="en-US" sz="2400" dirty="0" smtClean="0"/>
              <a:t>Software failures can sometimes cause all three of these at once.</a:t>
            </a:r>
          </a:p>
          <a:p>
            <a:pPr marL="457200" indent="-457200"/>
            <a:r>
              <a:rPr lang="en-US" sz="2400" dirty="0" smtClean="0"/>
              <a:t>Software failures, then, can lead to:</a:t>
            </a:r>
          </a:p>
          <a:p>
            <a:pPr marL="857250" lvl="1" indent="-457200"/>
            <a:r>
              <a:rPr lang="en-US" sz="2000" dirty="0" smtClean="0"/>
              <a:t>Loss of money</a:t>
            </a:r>
          </a:p>
          <a:p>
            <a:pPr marL="857250" lvl="1" indent="-457200"/>
            <a:r>
              <a:rPr lang="en-US" sz="2000" dirty="0" smtClean="0"/>
              <a:t>Loss of time</a:t>
            </a:r>
          </a:p>
          <a:p>
            <a:pPr marL="857250" lvl="1" indent="-457200"/>
            <a:r>
              <a:rPr lang="en-US" sz="2000" dirty="0" smtClean="0"/>
              <a:t>Loss of business reputation</a:t>
            </a:r>
          </a:p>
          <a:p>
            <a:pPr marL="857250" lvl="1" indent="-457200"/>
            <a:r>
              <a:rPr lang="en-US" sz="2000" dirty="0" smtClean="0"/>
              <a:t>Injury</a:t>
            </a:r>
          </a:p>
          <a:p>
            <a:pPr marL="857250" lvl="1" indent="-457200"/>
            <a:r>
              <a:rPr lang="en-US" sz="2000" dirty="0" smtClean="0"/>
              <a:t>Death</a:t>
            </a:r>
            <a:endParaRPr lang="en-GB" sz="16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18209204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9 Causes of software errors ...</a:t>
            </a:r>
          </a:p>
        </p:txBody>
      </p:sp>
      <p:sp>
        <p:nvSpPr>
          <p:cNvPr id="7" name="Content Placeholder 2"/>
          <p:cNvSpPr>
            <a:spLocks noGrp="1"/>
          </p:cNvSpPr>
          <p:nvPr>
            <p:ph idx="1"/>
          </p:nvPr>
        </p:nvSpPr>
        <p:spPr>
          <a:xfrm>
            <a:off x="457200" y="1600200"/>
            <a:ext cx="8229600" cy="4525963"/>
          </a:xfrm>
        </p:spPr>
        <p:txBody>
          <a:bodyPr>
            <a:normAutofit/>
          </a:bodyPr>
          <a:lstStyle/>
          <a:p>
            <a:pPr marL="457200" indent="-457200">
              <a:buFont typeface="+mj-lt"/>
              <a:buAutoNum type="arabicPeriod"/>
            </a:pPr>
            <a:r>
              <a:rPr lang="en-GB" sz="2400" dirty="0" smtClean="0"/>
              <a:t>Faulty </a:t>
            </a:r>
            <a:r>
              <a:rPr lang="en-GB" sz="2400" dirty="0"/>
              <a:t>requirements definition </a:t>
            </a:r>
            <a:endParaRPr lang="en-GB" sz="2400" dirty="0" smtClean="0"/>
          </a:p>
          <a:p>
            <a:pPr marL="457200" indent="-457200">
              <a:buFont typeface="+mj-lt"/>
              <a:buAutoNum type="arabicPeriod"/>
            </a:pPr>
            <a:r>
              <a:rPr lang="en-GB" sz="2400" dirty="0" smtClean="0"/>
              <a:t>Client–developer </a:t>
            </a:r>
            <a:r>
              <a:rPr lang="en-GB" sz="2400" dirty="0"/>
              <a:t>communication failures </a:t>
            </a:r>
            <a:endParaRPr lang="en-GB" sz="2400" dirty="0" smtClean="0"/>
          </a:p>
          <a:p>
            <a:pPr marL="457200" indent="-457200">
              <a:buFont typeface="+mj-lt"/>
              <a:buAutoNum type="arabicPeriod"/>
            </a:pPr>
            <a:r>
              <a:rPr lang="en-GB" sz="2400" dirty="0" smtClean="0"/>
              <a:t>Deliberate </a:t>
            </a:r>
            <a:r>
              <a:rPr lang="en-GB" sz="2400" dirty="0"/>
              <a:t>deviations from software requirements </a:t>
            </a:r>
            <a:endParaRPr lang="en-GB" sz="2400" dirty="0" smtClean="0"/>
          </a:p>
          <a:p>
            <a:pPr marL="457200" indent="-457200">
              <a:buFont typeface="+mj-lt"/>
              <a:buAutoNum type="arabicPeriod"/>
            </a:pPr>
            <a:r>
              <a:rPr lang="en-GB" sz="2400" dirty="0" smtClean="0"/>
              <a:t>Logical </a:t>
            </a:r>
            <a:r>
              <a:rPr lang="en-GB" sz="2400" dirty="0"/>
              <a:t>design errors </a:t>
            </a:r>
            <a:endParaRPr lang="en-GB" sz="2400" dirty="0" smtClean="0"/>
          </a:p>
          <a:p>
            <a:pPr marL="457200" indent="-457200">
              <a:buFont typeface="+mj-lt"/>
              <a:buAutoNum type="arabicPeriod"/>
            </a:pPr>
            <a:r>
              <a:rPr lang="en-GB" sz="2400" dirty="0" smtClean="0"/>
              <a:t>Coding </a:t>
            </a:r>
            <a:r>
              <a:rPr lang="en-GB" sz="2400" dirty="0"/>
              <a:t>errors </a:t>
            </a:r>
            <a:endParaRPr lang="en-GB" sz="2400" dirty="0" smtClean="0"/>
          </a:p>
          <a:p>
            <a:pPr marL="457200" indent="-457200">
              <a:buFont typeface="+mj-lt"/>
              <a:buAutoNum type="arabicPeriod"/>
            </a:pPr>
            <a:r>
              <a:rPr lang="en-GB" sz="2400" dirty="0" smtClean="0"/>
              <a:t>Non-compliance </a:t>
            </a:r>
            <a:r>
              <a:rPr lang="en-GB" sz="2400" dirty="0"/>
              <a:t>with documentation and coding instructions </a:t>
            </a:r>
            <a:endParaRPr lang="en-GB" sz="2400" dirty="0" smtClean="0"/>
          </a:p>
          <a:p>
            <a:pPr marL="457200" indent="-457200">
              <a:buFont typeface="+mj-lt"/>
              <a:buAutoNum type="arabicPeriod"/>
            </a:pPr>
            <a:r>
              <a:rPr lang="en-GB" sz="2400" dirty="0" smtClean="0"/>
              <a:t>Shortcomings </a:t>
            </a:r>
            <a:r>
              <a:rPr lang="en-GB" sz="2400" dirty="0"/>
              <a:t>of the testing process </a:t>
            </a:r>
            <a:endParaRPr lang="en-GB" sz="2400" dirty="0" smtClean="0"/>
          </a:p>
          <a:p>
            <a:pPr marL="457200" indent="-457200">
              <a:buFont typeface="+mj-lt"/>
              <a:buAutoNum type="arabicPeriod"/>
            </a:pPr>
            <a:r>
              <a:rPr lang="en-GB" sz="2400" dirty="0" smtClean="0"/>
              <a:t>Procedure </a:t>
            </a:r>
            <a:r>
              <a:rPr lang="en-GB" sz="2400" dirty="0"/>
              <a:t>errors </a:t>
            </a:r>
            <a:endParaRPr lang="en-GB" sz="2400" dirty="0" smtClean="0"/>
          </a:p>
          <a:p>
            <a:pPr marL="457200" indent="-457200">
              <a:buFont typeface="+mj-lt"/>
              <a:buAutoNum type="arabicPeriod"/>
            </a:pPr>
            <a:r>
              <a:rPr lang="en-GB" sz="2400" dirty="0" smtClean="0"/>
              <a:t>Documentation </a:t>
            </a:r>
            <a:r>
              <a:rPr lang="en-GB" sz="2400" dirty="0"/>
              <a:t>errors</a:t>
            </a:r>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18209204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600200"/>
            <a:ext cx="8229600" cy="4525963"/>
          </a:xfrm>
        </p:spPr>
        <p:txBody>
          <a:bodyPr>
            <a:normAutofit/>
          </a:bodyPr>
          <a:lstStyle/>
          <a:p>
            <a:pPr lvl="1"/>
            <a:r>
              <a:rPr lang="en-GB" sz="2000" dirty="0" smtClean="0"/>
              <a:t>Faulty </a:t>
            </a:r>
            <a:r>
              <a:rPr lang="en-GB" sz="2000" dirty="0"/>
              <a:t>requirements definition </a:t>
            </a:r>
            <a:endParaRPr lang="en-GB" sz="2000" dirty="0" smtClean="0"/>
          </a:p>
          <a:p>
            <a:pPr lvl="2"/>
            <a:r>
              <a:rPr lang="en-GB" sz="2000" dirty="0" smtClean="0"/>
              <a:t>Wrong </a:t>
            </a:r>
            <a:r>
              <a:rPr lang="en-GB" sz="2000" dirty="0"/>
              <a:t>definition of requirements.</a:t>
            </a:r>
          </a:p>
          <a:p>
            <a:pPr lvl="2"/>
            <a:r>
              <a:rPr lang="en-GB" sz="2000" dirty="0"/>
              <a:t>Absence of vital requirements.</a:t>
            </a:r>
          </a:p>
          <a:p>
            <a:pPr lvl="2"/>
            <a:r>
              <a:rPr lang="en-GB" sz="2000" dirty="0"/>
              <a:t>Incomplete definition of requirements.</a:t>
            </a:r>
          </a:p>
          <a:p>
            <a:pPr lvl="2"/>
            <a:r>
              <a:rPr lang="en-GB" sz="2000" dirty="0"/>
              <a:t>Inclusion of unnecessary requirements, functions that are not expected to be needed in the near future.</a:t>
            </a:r>
          </a:p>
          <a:p>
            <a:pPr lvl="2"/>
            <a:endParaRPr lang="en-GB" sz="16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3154814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600200"/>
            <a:ext cx="8229600" cy="4525963"/>
          </a:xfrm>
        </p:spPr>
        <p:txBody>
          <a:bodyPr>
            <a:normAutofit/>
          </a:bodyPr>
          <a:lstStyle/>
          <a:p>
            <a:pPr lvl="1"/>
            <a:r>
              <a:rPr lang="en-GB" sz="2000" dirty="0" smtClean="0"/>
              <a:t>Client–developer </a:t>
            </a:r>
            <a:r>
              <a:rPr lang="en-GB" sz="2000" dirty="0"/>
              <a:t>communication failures </a:t>
            </a:r>
            <a:endParaRPr lang="en-GB" sz="2000" dirty="0" smtClean="0"/>
          </a:p>
          <a:p>
            <a:pPr lvl="2"/>
            <a:r>
              <a:rPr lang="en-GB" sz="2000" dirty="0"/>
              <a:t>Misunderstanding of the client’s instructions as stated in the requirement document.</a:t>
            </a:r>
          </a:p>
          <a:p>
            <a:pPr lvl="2"/>
            <a:r>
              <a:rPr lang="en-GB" sz="2000" dirty="0"/>
              <a:t>Misunderstanding of the client’s requirements changes presented to the developer in written form during the development period.</a:t>
            </a:r>
          </a:p>
          <a:p>
            <a:pPr lvl="2"/>
            <a:r>
              <a:rPr lang="en-GB" sz="2000" dirty="0"/>
              <a:t>Misunderstanding of the client’s requirements changes presented orally to the developer during the development period.</a:t>
            </a:r>
          </a:p>
          <a:p>
            <a:pPr lvl="2"/>
            <a:r>
              <a:rPr lang="en-GB" sz="2000" dirty="0"/>
              <a:t>Misunderstanding of the client’s responses to the design problems presented by the developer.</a:t>
            </a:r>
          </a:p>
          <a:p>
            <a:pPr lvl="2"/>
            <a:r>
              <a:rPr lang="en-GB" sz="2000" dirty="0"/>
              <a:t>Lack of attention to client messages referring to requirements changes and to client responses to questions raised by the developer on the part of the developer.</a:t>
            </a:r>
            <a:endParaRPr lang="en-GB" sz="16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34765954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600200"/>
            <a:ext cx="8229600" cy="4525963"/>
          </a:xfrm>
        </p:spPr>
        <p:txBody>
          <a:bodyPr>
            <a:normAutofit/>
          </a:bodyPr>
          <a:lstStyle/>
          <a:p>
            <a:pPr lvl="1"/>
            <a:r>
              <a:rPr lang="en-GB" sz="2000" dirty="0" smtClean="0"/>
              <a:t>Deliberate </a:t>
            </a:r>
            <a:r>
              <a:rPr lang="en-GB" sz="2000" dirty="0"/>
              <a:t>deviations from software requirements</a:t>
            </a:r>
            <a:endParaRPr lang="en-GB" sz="2000" dirty="0" smtClean="0"/>
          </a:p>
          <a:p>
            <a:pPr lvl="2"/>
            <a:r>
              <a:rPr lang="en-GB" sz="2000" dirty="0"/>
              <a:t>The developer reuses software modules taken from an earlier project without sufficient analysis of the changes and adaptations needed to correctly </a:t>
            </a:r>
            <a:r>
              <a:rPr lang="en-GB" sz="2000" dirty="0" smtClean="0"/>
              <a:t>fulfil </a:t>
            </a:r>
            <a:r>
              <a:rPr lang="en-GB" sz="2000" dirty="0"/>
              <a:t>all the new requirements.</a:t>
            </a:r>
          </a:p>
          <a:p>
            <a:pPr lvl="2"/>
            <a:r>
              <a:rPr lang="en-GB" sz="2000" dirty="0"/>
              <a:t>Due to time or budget pressures, the developer decides to omit part of the required functions in an attempt to cope with these pressures.</a:t>
            </a:r>
          </a:p>
          <a:p>
            <a:pPr lvl="2"/>
            <a:r>
              <a:rPr lang="en-GB" sz="2000" dirty="0"/>
              <a:t>Developer-initiated, unapproved improvements to the software, introduced without the client’s approval, frequently disregard requirements that seem minor to the developer. Such “minor” changes may, eventually, cause software errors.</a:t>
            </a:r>
            <a:endParaRPr lang="en-GB" sz="16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3621951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GB" sz="4000" dirty="0" smtClean="0"/>
              <a:t>... 9 Causes of software errors ...</a:t>
            </a:r>
            <a:endParaRPr lang="en-US" sz="4000" dirty="0"/>
          </a:p>
        </p:txBody>
      </p:sp>
      <p:sp>
        <p:nvSpPr>
          <p:cNvPr id="7" name="Content Placeholder 2"/>
          <p:cNvSpPr>
            <a:spLocks noGrp="1"/>
          </p:cNvSpPr>
          <p:nvPr>
            <p:ph idx="1"/>
          </p:nvPr>
        </p:nvSpPr>
        <p:spPr>
          <a:xfrm>
            <a:off x="457200" y="1600200"/>
            <a:ext cx="8229600" cy="4525963"/>
          </a:xfrm>
        </p:spPr>
        <p:txBody>
          <a:bodyPr>
            <a:normAutofit/>
          </a:bodyPr>
          <a:lstStyle/>
          <a:p>
            <a:r>
              <a:rPr lang="en-GB" sz="2000" dirty="0" smtClean="0"/>
              <a:t>Logical </a:t>
            </a:r>
            <a:r>
              <a:rPr lang="en-GB" sz="2000" dirty="0"/>
              <a:t>design </a:t>
            </a:r>
            <a:r>
              <a:rPr lang="en-GB" sz="2000" dirty="0" smtClean="0"/>
              <a:t>errors</a:t>
            </a:r>
          </a:p>
          <a:p>
            <a:pPr lvl="2"/>
            <a:r>
              <a:rPr lang="en-GB" sz="1800" dirty="0" smtClean="0"/>
              <a:t>Software </a:t>
            </a:r>
            <a:r>
              <a:rPr lang="en-GB" sz="1800" dirty="0"/>
              <a:t>errors can enter the system when the professionals who design the system – systems architects, software engineers, analysts, etc. – formulate the software requirements. Typical errors include:</a:t>
            </a:r>
          </a:p>
          <a:p>
            <a:pPr lvl="2"/>
            <a:r>
              <a:rPr lang="en-GB" sz="1800" dirty="0"/>
              <a:t>Definitions that represent software requirements by means of erroneous algorithms. </a:t>
            </a:r>
          </a:p>
          <a:p>
            <a:pPr lvl="2"/>
            <a:r>
              <a:rPr lang="en-GB" sz="1800" dirty="0"/>
              <a:t>Process definitions that contain sequencing errors. </a:t>
            </a:r>
          </a:p>
          <a:p>
            <a:pPr lvl="2"/>
            <a:r>
              <a:rPr lang="en-GB" sz="1800" dirty="0"/>
              <a:t>Erroneous definition of boundary conditions.</a:t>
            </a:r>
          </a:p>
          <a:p>
            <a:pPr lvl="2"/>
            <a:r>
              <a:rPr lang="en-GB" sz="1800" dirty="0"/>
              <a:t>Omission of required software system states. </a:t>
            </a:r>
          </a:p>
          <a:p>
            <a:pPr lvl="2"/>
            <a:r>
              <a:rPr lang="en-GB" sz="1800" dirty="0"/>
              <a:t>Omission of definitions concerning reactions to illegal operation of the software system.</a:t>
            </a:r>
            <a:endParaRPr lang="en-GB" sz="1800" dirty="0" smtClean="0"/>
          </a:p>
          <a:p>
            <a:pPr lvl="1"/>
            <a:endParaRPr lang="en-GB" sz="24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spTree>
    <p:extLst>
      <p:ext uri="{BB962C8B-B14F-4D97-AF65-F5344CB8AC3E}">
        <p14:creationId xmlns:p14="http://schemas.microsoft.com/office/powerpoint/2010/main" val="1693473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TotalTime>
  <Words>948</Words>
  <Application>Microsoft Office PowerPoint</Application>
  <PresentationFormat>On-screen Show (4:3)</PresentationFormat>
  <Paragraphs>83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Software Errors, Faults &amp; Failure…</vt:lpstr>
      <vt:lpstr>… Software Errors, Faults &amp; Failure …</vt:lpstr>
      <vt:lpstr>Why Software Error Occurs</vt:lpstr>
      <vt:lpstr>Why System Fails</vt:lpstr>
      <vt:lpstr>Problems of Faulty Software</vt:lpstr>
      <vt:lpstr>9 Causes of software errors ...</vt:lpstr>
      <vt:lpstr>... 9 Causes of software errors ...</vt:lpstr>
      <vt:lpstr>... 9 Causes of software errors ...</vt:lpstr>
      <vt:lpstr>... 9 Causes of software errors ...</vt:lpstr>
      <vt:lpstr>... 9 Causes of software errors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149</cp:revision>
  <dcterms:created xsi:type="dcterms:W3CDTF">2014-08-12T16:29:38Z</dcterms:created>
  <dcterms:modified xsi:type="dcterms:W3CDTF">2023-10-12T07:28:01Z</dcterms:modified>
</cp:coreProperties>
</file>