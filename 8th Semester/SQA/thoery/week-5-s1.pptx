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65" r:id="rId2"/>
    <p:sldId id="266" r:id="rId3"/>
    <p:sldId id="267" r:id="rId4"/>
    <p:sldId id="268" r:id="rId5"/>
    <p:sldId id="269" r:id="rId6"/>
    <p:sldId id="270" r:id="rId7"/>
    <p:sldId id="271" r:id="rId8"/>
    <p:sldId id="272" r:id="rId9"/>
    <p:sldId id="273" r:id="rId10"/>
    <p:sldId id="275" r:id="rId11"/>
    <p:sldId id="276" r:id="rId12"/>
    <p:sldId id="277" r:id="rId13"/>
    <p:sldId id="278" r:id="rId14"/>
    <p:sldId id="279" r:id="rId15"/>
    <p:sldId id="280" r:id="rId16"/>
    <p:sldId id="281" r:id="rId17"/>
    <p:sldId id="282" r:id="rId18"/>
    <p:sldId id="283" r:id="rId19"/>
    <p:sldId id="284" r:id="rId20"/>
    <p:sldId id="285" r:id="rId21"/>
    <p:sldId id="286" r:id="rId22"/>
    <p:sldId id="287" r:id="rId23"/>
    <p:sldId id="288" r:id="rId24"/>
    <p:sldId id="289" r:id="rId25"/>
    <p:sldId id="290" r:id="rId26"/>
    <p:sldId id="291"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napVertSplitter="1" vertBarState="minimized" horzBarState="maximized">
    <p:restoredLeft sz="15430" autoAdjust="0"/>
    <p:restoredTop sz="94660"/>
  </p:normalViewPr>
  <p:slideViewPr>
    <p:cSldViewPr>
      <p:cViewPr varScale="1">
        <p:scale>
          <a:sx n="74" d="100"/>
          <a:sy n="74" d="100"/>
        </p:scale>
        <p:origin x="1668"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A68BC-087B-4804-80E7-54E6BF9D6720}" type="datetimeFigureOut">
              <a:rPr lang="en-US" smtClean="0"/>
              <a:pPr/>
              <a:t>10/18/2023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A53098-A02F-43AC-83B0-8400FDBB11FC}" type="slidenum">
              <a:rPr lang="en-US" smtClean="0"/>
              <a:pPr/>
              <a:t>‹#›</a:t>
            </a:fld>
            <a:endParaRPr lang="en-US"/>
          </a:p>
        </p:txBody>
      </p:sp>
    </p:spTree>
    <p:extLst>
      <p:ext uri="{BB962C8B-B14F-4D97-AF65-F5344CB8AC3E}">
        <p14:creationId xmlns:p14="http://schemas.microsoft.com/office/powerpoint/2010/main" val="3679706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2</a:t>
            </a:fld>
            <a:endParaRPr lang="en-US"/>
          </a:p>
        </p:txBody>
      </p:sp>
    </p:spTree>
    <p:extLst>
      <p:ext uri="{BB962C8B-B14F-4D97-AF65-F5344CB8AC3E}">
        <p14:creationId xmlns:p14="http://schemas.microsoft.com/office/powerpoint/2010/main" val="243440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3</a:t>
            </a:fld>
            <a:endParaRPr lang="en-US"/>
          </a:p>
        </p:txBody>
      </p:sp>
    </p:spTree>
    <p:extLst>
      <p:ext uri="{BB962C8B-B14F-4D97-AF65-F5344CB8AC3E}">
        <p14:creationId xmlns:p14="http://schemas.microsoft.com/office/powerpoint/2010/main" val="21705447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4</a:t>
            </a:fld>
            <a:endParaRPr lang="en-US"/>
          </a:p>
        </p:txBody>
      </p:sp>
    </p:spTree>
    <p:extLst>
      <p:ext uri="{BB962C8B-B14F-4D97-AF65-F5344CB8AC3E}">
        <p14:creationId xmlns:p14="http://schemas.microsoft.com/office/powerpoint/2010/main" val="1666685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5</a:t>
            </a:fld>
            <a:endParaRPr lang="en-US"/>
          </a:p>
        </p:txBody>
      </p:sp>
    </p:spTree>
    <p:extLst>
      <p:ext uri="{BB962C8B-B14F-4D97-AF65-F5344CB8AC3E}">
        <p14:creationId xmlns:p14="http://schemas.microsoft.com/office/powerpoint/2010/main" val="1776020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6</a:t>
            </a:fld>
            <a:endParaRPr lang="en-US"/>
          </a:p>
        </p:txBody>
      </p:sp>
    </p:spTree>
    <p:extLst>
      <p:ext uri="{BB962C8B-B14F-4D97-AF65-F5344CB8AC3E}">
        <p14:creationId xmlns:p14="http://schemas.microsoft.com/office/powerpoint/2010/main" val="35234723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Exhaustive testing – a test approach in which all possible data combinations are used. This includes implicit data combinations present in the state of the software/data at the start of testing.</a:t>
            </a:r>
          </a:p>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7</a:t>
            </a:fld>
            <a:endParaRPr lang="en-US"/>
          </a:p>
        </p:txBody>
      </p:sp>
    </p:spTree>
    <p:extLst>
      <p:ext uri="{BB962C8B-B14F-4D97-AF65-F5344CB8AC3E}">
        <p14:creationId xmlns:p14="http://schemas.microsoft.com/office/powerpoint/2010/main" val="5781269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8</a:t>
            </a:fld>
            <a:endParaRPr lang="en-US"/>
          </a:p>
        </p:txBody>
      </p:sp>
    </p:spTree>
    <p:extLst>
      <p:ext uri="{BB962C8B-B14F-4D97-AF65-F5344CB8AC3E}">
        <p14:creationId xmlns:p14="http://schemas.microsoft.com/office/powerpoint/2010/main" val="29328351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9</a:t>
            </a:fld>
            <a:endParaRPr lang="en-US"/>
          </a:p>
        </p:txBody>
      </p:sp>
    </p:spTree>
    <p:extLst>
      <p:ext uri="{BB962C8B-B14F-4D97-AF65-F5344CB8AC3E}">
        <p14:creationId xmlns:p14="http://schemas.microsoft.com/office/powerpoint/2010/main" val="26262730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10</a:t>
            </a:fld>
            <a:endParaRPr lang="en-US"/>
          </a:p>
        </p:txBody>
      </p:sp>
    </p:spTree>
    <p:extLst>
      <p:ext uri="{BB962C8B-B14F-4D97-AF65-F5344CB8AC3E}">
        <p14:creationId xmlns:p14="http://schemas.microsoft.com/office/powerpoint/2010/main" val="2434406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11</a:t>
            </a:fld>
            <a:endParaRPr lang="en-US"/>
          </a:p>
        </p:txBody>
      </p:sp>
    </p:spTree>
    <p:extLst>
      <p:ext uri="{BB962C8B-B14F-4D97-AF65-F5344CB8AC3E}">
        <p14:creationId xmlns:p14="http://schemas.microsoft.com/office/powerpoint/2010/main" val="37207236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12</a:t>
            </a:fld>
            <a:endParaRPr lang="en-US"/>
          </a:p>
        </p:txBody>
      </p:sp>
    </p:spTree>
    <p:extLst>
      <p:ext uri="{BB962C8B-B14F-4D97-AF65-F5344CB8AC3E}">
        <p14:creationId xmlns:p14="http://schemas.microsoft.com/office/powerpoint/2010/main" val="10045648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13</a:t>
            </a:fld>
            <a:endParaRPr lang="en-US"/>
          </a:p>
        </p:txBody>
      </p:sp>
    </p:spTree>
    <p:extLst>
      <p:ext uri="{BB962C8B-B14F-4D97-AF65-F5344CB8AC3E}">
        <p14:creationId xmlns:p14="http://schemas.microsoft.com/office/powerpoint/2010/main" val="32383414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14</a:t>
            </a:fld>
            <a:endParaRPr lang="en-US"/>
          </a:p>
        </p:txBody>
      </p:sp>
    </p:spTree>
    <p:extLst>
      <p:ext uri="{BB962C8B-B14F-4D97-AF65-F5344CB8AC3E}">
        <p14:creationId xmlns:p14="http://schemas.microsoft.com/office/powerpoint/2010/main" val="5430040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15</a:t>
            </a:fld>
            <a:endParaRPr lang="en-US"/>
          </a:p>
        </p:txBody>
      </p:sp>
    </p:spTree>
    <p:extLst>
      <p:ext uri="{BB962C8B-B14F-4D97-AF65-F5344CB8AC3E}">
        <p14:creationId xmlns:p14="http://schemas.microsoft.com/office/powerpoint/2010/main" val="28971539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16</a:t>
            </a:fld>
            <a:endParaRPr lang="en-US"/>
          </a:p>
        </p:txBody>
      </p:sp>
    </p:spTree>
    <p:extLst>
      <p:ext uri="{BB962C8B-B14F-4D97-AF65-F5344CB8AC3E}">
        <p14:creationId xmlns:p14="http://schemas.microsoft.com/office/powerpoint/2010/main" val="33179263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17</a:t>
            </a:fld>
            <a:endParaRPr lang="en-US"/>
          </a:p>
        </p:txBody>
      </p:sp>
    </p:spTree>
    <p:extLst>
      <p:ext uri="{BB962C8B-B14F-4D97-AF65-F5344CB8AC3E}">
        <p14:creationId xmlns:p14="http://schemas.microsoft.com/office/powerpoint/2010/main" val="6269662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18</a:t>
            </a:fld>
            <a:endParaRPr lang="en-US"/>
          </a:p>
        </p:txBody>
      </p:sp>
    </p:spTree>
    <p:extLst>
      <p:ext uri="{BB962C8B-B14F-4D97-AF65-F5344CB8AC3E}">
        <p14:creationId xmlns:p14="http://schemas.microsoft.com/office/powerpoint/2010/main" val="792170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19</a:t>
            </a:fld>
            <a:endParaRPr lang="en-US"/>
          </a:p>
        </p:txBody>
      </p:sp>
    </p:spTree>
    <p:extLst>
      <p:ext uri="{BB962C8B-B14F-4D97-AF65-F5344CB8AC3E}">
        <p14:creationId xmlns:p14="http://schemas.microsoft.com/office/powerpoint/2010/main" val="12819105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20</a:t>
            </a:fld>
            <a:endParaRPr lang="en-US"/>
          </a:p>
        </p:txBody>
      </p:sp>
    </p:spTree>
    <p:extLst>
      <p:ext uri="{BB962C8B-B14F-4D97-AF65-F5344CB8AC3E}">
        <p14:creationId xmlns:p14="http://schemas.microsoft.com/office/powerpoint/2010/main" val="29563616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21</a:t>
            </a:fld>
            <a:endParaRPr lang="en-US"/>
          </a:p>
        </p:txBody>
      </p:sp>
    </p:spTree>
    <p:extLst>
      <p:ext uri="{BB962C8B-B14F-4D97-AF65-F5344CB8AC3E}">
        <p14:creationId xmlns:p14="http://schemas.microsoft.com/office/powerpoint/2010/main" val="5627405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22</a:t>
            </a:fld>
            <a:endParaRPr lang="en-US"/>
          </a:p>
        </p:txBody>
      </p:sp>
    </p:spTree>
    <p:extLst>
      <p:ext uri="{BB962C8B-B14F-4D97-AF65-F5344CB8AC3E}">
        <p14:creationId xmlns:p14="http://schemas.microsoft.com/office/powerpoint/2010/main" val="14156733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23</a:t>
            </a:fld>
            <a:endParaRPr lang="en-US"/>
          </a:p>
        </p:txBody>
      </p:sp>
    </p:spTree>
    <p:extLst>
      <p:ext uri="{BB962C8B-B14F-4D97-AF65-F5344CB8AC3E}">
        <p14:creationId xmlns:p14="http://schemas.microsoft.com/office/powerpoint/2010/main" val="11710541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24</a:t>
            </a:fld>
            <a:endParaRPr lang="en-US"/>
          </a:p>
        </p:txBody>
      </p:sp>
    </p:spTree>
    <p:extLst>
      <p:ext uri="{BB962C8B-B14F-4D97-AF65-F5344CB8AC3E}">
        <p14:creationId xmlns:p14="http://schemas.microsoft.com/office/powerpoint/2010/main" val="25475158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25</a:t>
            </a:fld>
            <a:endParaRPr lang="en-US"/>
          </a:p>
        </p:txBody>
      </p:sp>
    </p:spTree>
    <p:extLst>
      <p:ext uri="{BB962C8B-B14F-4D97-AF65-F5344CB8AC3E}">
        <p14:creationId xmlns:p14="http://schemas.microsoft.com/office/powerpoint/2010/main" val="42551540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26</a:t>
            </a:fld>
            <a:endParaRPr lang="en-US"/>
          </a:p>
        </p:txBody>
      </p:sp>
    </p:spTree>
    <p:extLst>
      <p:ext uri="{BB962C8B-B14F-4D97-AF65-F5344CB8AC3E}">
        <p14:creationId xmlns:p14="http://schemas.microsoft.com/office/powerpoint/2010/main" val="2468660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3EF4250-741B-442A-9703-012BAF15BAAC}"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466978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D816B4-16E8-4062-88BC-ECA9BFE00428}"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722550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3CF6598-E98D-41E9-AC1F-40993110B2E2}"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12957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91D4A01-3715-4476-A057-955DFD278091}" type="datetime1">
              <a:rPr lang="en-US" smtClean="0"/>
              <a:pPr/>
              <a:t>10/18/2023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85915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F793C02-4A9B-4362-AC6F-20FFF8DED461}" type="datetime1">
              <a:rPr lang="en-US" smtClean="0"/>
              <a:pPr/>
              <a:t>10/18/2023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4095085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1A3C571-B71D-45C8-8B1B-35BCC2DA467A}" type="datetime1">
              <a:rPr lang="en-US" smtClean="0"/>
              <a:pPr/>
              <a:t>10/18/2023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345531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3D478-9CFC-4269-8AE4-00D2F07081AD}" type="datetime1">
              <a:rPr lang="en-US" smtClean="0"/>
              <a:pPr/>
              <a:t>10/18/2023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64336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DAC7258-29DB-40D6-BF3F-E918B183B515}" type="datetime1">
              <a:rPr lang="en-US" smtClean="0"/>
              <a:pPr/>
              <a:t>10/18/2023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1002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5CD29DC-3073-4B54-8EE5-E93562EFCDAC}" type="datetime1">
              <a:rPr lang="en-US" smtClean="0"/>
              <a:pPr/>
              <a:t>10/18/2023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428344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65975A9-2543-49D8-B35B-ED476DA0ED73}"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120979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F7BFD3-FA8E-4E08-91B4-E94DC0FF8BBB}"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938564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5BFD0B-D7A9-4808-B8C9-44A20956DF29}" type="datetime1">
              <a:rPr lang="en-US" smtClean="0"/>
              <a:pPr/>
              <a:t>10/18/2023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3F0035-4B67-4B88-B2A0-536AE2AEED21}" type="slidenum">
              <a:rPr lang="en-US" smtClean="0"/>
              <a:pPr/>
              <a:t>‹#›</a:t>
            </a:fld>
            <a:endParaRPr lang="en-US"/>
          </a:p>
        </p:txBody>
      </p:sp>
    </p:spTree>
    <p:extLst>
      <p:ext uri="{BB962C8B-B14F-4D97-AF65-F5344CB8AC3E}">
        <p14:creationId xmlns:p14="http://schemas.microsoft.com/office/powerpoint/2010/main" val="125566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2"/>
          </p:nvPr>
        </p:nvSpPr>
        <p:spPr>
          <a:xfrm>
            <a:off x="6553200" y="6356350"/>
            <a:ext cx="2133600" cy="365125"/>
          </a:xfrm>
        </p:spPr>
        <p:txBody>
          <a:bodyPr/>
          <a:lstStyle/>
          <a:p>
            <a:fld id="{243F0035-4B67-4B88-B2A0-536AE2AEED21}" type="slidenum">
              <a:rPr lang="en-US" smtClean="0"/>
              <a:pPr/>
              <a:t>1</a:t>
            </a:fld>
            <a:endParaRPr lang="en-US"/>
          </a:p>
        </p:txBody>
      </p:sp>
      <p:sp>
        <p:nvSpPr>
          <p:cNvPr id="7" name="TextBox 6">
            <a:extLst>
              <a:ext uri="{FF2B5EF4-FFF2-40B4-BE49-F238E27FC236}">
                <a16:creationId xmlns="" xmlns:a16="http://schemas.microsoft.com/office/drawing/2014/main" id="{99D8964A-8303-45DF-99A6-7A9E5BD07E42}"/>
              </a:ext>
            </a:extLst>
          </p:cNvPr>
          <p:cNvSpPr txBox="1"/>
          <p:nvPr/>
        </p:nvSpPr>
        <p:spPr>
          <a:xfrm>
            <a:off x="1603513" y="192155"/>
            <a:ext cx="7474226" cy="371061"/>
          </a:xfrm>
          <a:prstGeom prst="rect">
            <a:avLst/>
          </a:prstGeom>
          <a:noFill/>
        </p:spPr>
        <p:txBody>
          <a:bodyPr wrap="square" rtlCol="0">
            <a:spAutoFit/>
          </a:bodyPr>
          <a:lstStyle/>
          <a:p>
            <a:r>
              <a:rPr lang="en-US" dirty="0"/>
              <a:t>Sir Syed University of Engineering &amp; Technology, Karachi</a:t>
            </a:r>
          </a:p>
        </p:txBody>
      </p:sp>
      <p:sp>
        <p:nvSpPr>
          <p:cNvPr id="10" name="Title 1">
            <a:extLst>
              <a:ext uri="{FF2B5EF4-FFF2-40B4-BE49-F238E27FC236}">
                <a16:creationId xmlns="" xmlns:a16="http://schemas.microsoft.com/office/drawing/2014/main" id="{11F3346B-A340-42AA-BA33-0DABD69A99CA}"/>
              </a:ext>
            </a:extLst>
          </p:cNvPr>
          <p:cNvSpPr txBox="1">
            <a:spLocks/>
          </p:cNvSpPr>
          <p:nvPr/>
        </p:nvSpPr>
        <p:spPr>
          <a:xfrm>
            <a:off x="165942" y="1981200"/>
            <a:ext cx="8825658" cy="2016763"/>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smtClean="0">
                <a:ln>
                  <a:noFill/>
                </a:ln>
                <a:solidFill>
                  <a:schemeClr val="tx1"/>
                </a:solidFill>
                <a:effectLst/>
                <a:uLnTx/>
                <a:uFillTx/>
                <a:latin typeface="+mj-lt"/>
                <a:ea typeface="+mj-ea"/>
                <a:cs typeface="+mj-cs"/>
              </a:rPr>
              <a:t>CS-468</a:t>
            </a:r>
            <a:r>
              <a:rPr kumimoji="0" lang="en-US" sz="4400" b="0" i="0" u="none" strike="noStrike" kern="1200" cap="none" spc="0" normalizeH="0" baseline="0" noProof="0" dirty="0" smtClean="0">
                <a:ln>
                  <a:noFill/>
                </a:ln>
                <a:solidFill>
                  <a:schemeClr val="tx1"/>
                </a:solidFill>
                <a:effectLst/>
                <a:uLnTx/>
                <a:uFillTx/>
                <a:latin typeface="+mj-lt"/>
                <a:ea typeface="+mj-ea"/>
                <a:cs typeface="+mj-cs"/>
              </a:rPr>
              <a:t/>
            </a:r>
            <a:br>
              <a:rPr kumimoji="0" lang="en-US" sz="4400" b="0" i="0" u="none" strike="noStrike" kern="1200" cap="none" spc="0" normalizeH="0" baseline="0" noProof="0" dirty="0" smtClean="0">
                <a:ln>
                  <a:noFill/>
                </a:ln>
                <a:solidFill>
                  <a:schemeClr val="tx1"/>
                </a:solidFill>
                <a:effectLst/>
                <a:uLnTx/>
                <a:uFillTx/>
                <a:latin typeface="+mj-lt"/>
                <a:ea typeface="+mj-ea"/>
                <a:cs typeface="+mj-cs"/>
              </a:rPr>
            </a:br>
            <a:r>
              <a:rPr kumimoji="0" lang="en-US" sz="4400" b="0" i="0" u="none" strike="noStrike" kern="1200" cap="none" spc="0" normalizeH="0" baseline="0" noProof="0" dirty="0" smtClean="0">
                <a:ln>
                  <a:noFill/>
                </a:ln>
                <a:solidFill>
                  <a:schemeClr val="tx1"/>
                </a:solidFill>
                <a:effectLst/>
                <a:uLnTx/>
                <a:uFillTx/>
                <a:latin typeface="+mj-lt"/>
                <a:ea typeface="+mj-ea"/>
                <a:cs typeface="+mj-cs"/>
              </a:rPr>
              <a:t>Software Quality Assurance &amp; Testing</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11" name="Subtitle 2">
            <a:extLst>
              <a:ext uri="{FF2B5EF4-FFF2-40B4-BE49-F238E27FC236}">
                <a16:creationId xmlns="" xmlns:a16="http://schemas.microsoft.com/office/drawing/2014/main" id="{726CA34A-B113-49BC-A1A5-0573BEE18E05}"/>
              </a:ext>
            </a:extLst>
          </p:cNvPr>
          <p:cNvSpPr txBox="1">
            <a:spLocks/>
          </p:cNvSpPr>
          <p:nvPr/>
        </p:nvSpPr>
        <p:spPr>
          <a:xfrm>
            <a:off x="0" y="3962400"/>
            <a:ext cx="9144000" cy="1655762"/>
          </a:xfrm>
          <a:prstGeom prst="rect">
            <a:avLst/>
          </a:prstGeom>
        </p:spPr>
        <p:txBody>
          <a:bodyPr vert="horz" lIns="91440" tIns="45720" rIns="91440" bIns="45720" rtlCol="0">
            <a:normAutofit/>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Week 5</a:t>
            </a:r>
          </a:p>
          <a:p>
            <a:pPr marL="342900" marR="0" lvl="0" indent="-342900" algn="ctr" defTabSz="9144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Session 1 </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894" y="18245"/>
            <a:ext cx="1324160" cy="1324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Testing</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smtClean="0"/>
              <a:t>Testing </a:t>
            </a:r>
            <a:r>
              <a:rPr lang="en-GB" sz="1800" dirty="0"/>
              <a:t>is an activity used to </a:t>
            </a:r>
            <a:r>
              <a:rPr lang="en-GB" sz="1800" b="1" dirty="0"/>
              <a:t>reduce risk </a:t>
            </a:r>
            <a:r>
              <a:rPr lang="en-GB" sz="1800" dirty="0"/>
              <a:t>and </a:t>
            </a:r>
            <a:r>
              <a:rPr lang="en-GB" sz="1800" b="1" dirty="0"/>
              <a:t>improve quality </a:t>
            </a:r>
            <a:r>
              <a:rPr lang="en-GB" sz="1800" dirty="0"/>
              <a:t>by finding </a:t>
            </a:r>
            <a:r>
              <a:rPr lang="en-GB" sz="1800" b="1" dirty="0" smtClean="0"/>
              <a:t>defects</a:t>
            </a:r>
            <a:r>
              <a:rPr lang="en-GB" sz="1800" dirty="0" smtClean="0"/>
              <a:t>.</a:t>
            </a:r>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2</a:t>
            </a:fld>
            <a:endParaRPr lang="en-US"/>
          </a:p>
        </p:txBody>
      </p:sp>
    </p:spTree>
    <p:extLst>
      <p:ext uri="{BB962C8B-B14F-4D97-AF65-F5344CB8AC3E}">
        <p14:creationId xmlns:p14="http://schemas.microsoft.com/office/powerpoint/2010/main" val="3881236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a:t>Resources triangle</a:t>
            </a:r>
            <a:endParaRPr lang="en-US" sz="2800" dirty="0"/>
          </a:p>
        </p:txBody>
      </p:sp>
      <p:sp>
        <p:nvSpPr>
          <p:cNvPr id="7" name="Content Placeholder 2"/>
          <p:cNvSpPr>
            <a:spLocks noGrp="1"/>
          </p:cNvSpPr>
          <p:nvPr>
            <p:ph idx="1"/>
          </p:nvPr>
        </p:nvSpPr>
        <p:spPr>
          <a:xfrm>
            <a:off x="609600" y="2985965"/>
            <a:ext cx="8229600" cy="3352800"/>
          </a:xfrm>
        </p:spPr>
        <p:txBody>
          <a:bodyPr>
            <a:noAutofit/>
          </a:bodyPr>
          <a:lstStyle/>
          <a:p>
            <a:r>
              <a:rPr lang="en-GB" sz="1800" dirty="0"/>
              <a:t>One role for testing is to ensure that key </a:t>
            </a:r>
            <a:r>
              <a:rPr lang="en-GB" sz="1800" b="1" dirty="0"/>
              <a:t>functional</a:t>
            </a:r>
            <a:r>
              <a:rPr lang="en-GB" sz="1800" dirty="0"/>
              <a:t> and </a:t>
            </a:r>
            <a:r>
              <a:rPr lang="en-GB" sz="1800" b="1" dirty="0"/>
              <a:t>non-functional</a:t>
            </a:r>
            <a:r>
              <a:rPr lang="en-GB" sz="1800" dirty="0"/>
              <a:t> requirements are examined before the </a:t>
            </a:r>
            <a:r>
              <a:rPr lang="en-GB" sz="1800" b="1" dirty="0"/>
              <a:t>system enters service </a:t>
            </a:r>
            <a:r>
              <a:rPr lang="en-GB" sz="1800" dirty="0"/>
              <a:t>and </a:t>
            </a:r>
            <a:r>
              <a:rPr lang="en-GB" sz="1800" b="1" dirty="0"/>
              <a:t>any defects are reported to the development team for rectification</a:t>
            </a:r>
            <a:r>
              <a:rPr lang="en-GB" sz="1800" b="1" dirty="0" smtClean="0"/>
              <a:t>.</a:t>
            </a:r>
          </a:p>
          <a:p>
            <a:r>
              <a:rPr lang="en-GB" sz="1800" dirty="0" smtClean="0"/>
              <a:t>Testing </a:t>
            </a:r>
            <a:r>
              <a:rPr lang="en-GB" sz="1800" dirty="0"/>
              <a:t>cannot directly remove defects, nor can it directly enhance quality. </a:t>
            </a:r>
            <a:endParaRPr lang="en-GB" sz="1800" dirty="0" smtClean="0"/>
          </a:p>
          <a:p>
            <a:r>
              <a:rPr lang="en-GB" sz="1800" dirty="0" smtClean="0"/>
              <a:t>By </a:t>
            </a:r>
            <a:r>
              <a:rPr lang="en-GB" sz="1800" dirty="0"/>
              <a:t>reporting defects it makes their removal possible and so contributes to the enhanced quality of the system. </a:t>
            </a:r>
            <a:endParaRPr lang="en-GB" sz="1800" dirty="0" smtClean="0"/>
          </a:p>
          <a:p>
            <a:r>
              <a:rPr lang="en-GB" sz="1800" dirty="0" smtClean="0"/>
              <a:t>In </a:t>
            </a:r>
            <a:r>
              <a:rPr lang="en-GB" sz="1800" dirty="0"/>
              <a:t>addition, the systematic coverage of a software product in testing allows at least some aspects of the quality of the software to be measured. </a:t>
            </a:r>
            <a:endParaRPr lang="en-GB" sz="1800" dirty="0" smtClean="0"/>
          </a:p>
          <a:p>
            <a:r>
              <a:rPr lang="en-GB" sz="1800" dirty="0" smtClean="0"/>
              <a:t>Testing </a:t>
            </a:r>
            <a:r>
              <a:rPr lang="en-GB" sz="1800" dirty="0"/>
              <a:t>is one component in the overall quality assurance activity that seeks to </a:t>
            </a:r>
            <a:r>
              <a:rPr lang="en-GB" sz="1800" b="1" dirty="0"/>
              <a:t>ensure that systems enter service without defects that can lead to serious failures.</a:t>
            </a:r>
          </a:p>
        </p:txBody>
      </p:sp>
      <p:sp>
        <p:nvSpPr>
          <p:cNvPr id="2" name="Slide Number Placeholder 1"/>
          <p:cNvSpPr>
            <a:spLocks noGrp="1"/>
          </p:cNvSpPr>
          <p:nvPr>
            <p:ph type="sldNum" sz="quarter" idx="12"/>
          </p:nvPr>
        </p:nvSpPr>
        <p:spPr/>
        <p:txBody>
          <a:bodyPr/>
          <a:lstStyle/>
          <a:p>
            <a:fld id="{243F0035-4B67-4B88-B2A0-536AE2AEED21}" type="slidenum">
              <a:rPr lang="en-US" smtClean="0"/>
              <a:pPr/>
              <a:t>3</a:t>
            </a:fld>
            <a:endParaRPr lang="en-US"/>
          </a:p>
        </p:txBody>
      </p:sp>
      <p:pic>
        <p:nvPicPr>
          <p:cNvPr id="3" name="Picture 2"/>
          <p:cNvPicPr>
            <a:picLocks noChangeAspect="1"/>
          </p:cNvPicPr>
          <p:nvPr/>
        </p:nvPicPr>
        <p:blipFill>
          <a:blip r:embed="rId3" cstate="print"/>
          <a:stretch>
            <a:fillRect/>
          </a:stretch>
        </p:blipFill>
        <p:spPr>
          <a:xfrm>
            <a:off x="2590800" y="1066800"/>
            <a:ext cx="3562350" cy="1714500"/>
          </a:xfrm>
          <a:prstGeom prst="rect">
            <a:avLst/>
          </a:prstGeom>
        </p:spPr>
      </p:pic>
    </p:spTree>
    <p:extLst>
      <p:ext uri="{BB962C8B-B14F-4D97-AF65-F5344CB8AC3E}">
        <p14:creationId xmlns:p14="http://schemas.microsoft.com/office/powerpoint/2010/main" val="3420585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Static and Dynamic Testing</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a:t>Static testing and dynamic testing </a:t>
            </a:r>
            <a:r>
              <a:rPr lang="en-GB" sz="1800" b="1" dirty="0"/>
              <a:t>Static testing is the term used for testing where the code is not exercised.</a:t>
            </a:r>
          </a:p>
          <a:p>
            <a:r>
              <a:rPr lang="en-GB" sz="1800" dirty="0"/>
              <a:t>Failures often begin with a human error, namely a mistake in a document such as a specification. We need to test these because errors are much cheaper to fix than defects or failures (as you will see). </a:t>
            </a:r>
          </a:p>
          <a:p>
            <a:r>
              <a:rPr lang="en-GB" sz="1800" dirty="0"/>
              <a:t>That is why testing should start as early as possible.</a:t>
            </a:r>
          </a:p>
          <a:p>
            <a:r>
              <a:rPr lang="en-GB" sz="1800" dirty="0"/>
              <a:t>Static testing involves techniques such as reviews, which can be effective in preventing defects, e.g. by removing ambiguities and errors from specification documents.</a:t>
            </a:r>
          </a:p>
          <a:p>
            <a:r>
              <a:rPr lang="en-GB" sz="1800" b="1" dirty="0"/>
              <a:t>Dynamic testing is the kind that exercises the program under test with some test data.</a:t>
            </a:r>
          </a:p>
          <a:p>
            <a:r>
              <a:rPr lang="en-GB" sz="1800" dirty="0"/>
              <a:t>The discipline of software testing encompasses both static and dynamic testing.</a:t>
            </a:r>
          </a:p>
          <a:p>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4</a:t>
            </a:fld>
            <a:endParaRPr lang="en-US"/>
          </a:p>
        </p:txBody>
      </p:sp>
    </p:spTree>
    <p:extLst>
      <p:ext uri="{BB962C8B-B14F-4D97-AF65-F5344CB8AC3E}">
        <p14:creationId xmlns:p14="http://schemas.microsoft.com/office/powerpoint/2010/main" val="39201898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Retesting and Regression testing</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2000" dirty="0"/>
              <a:t>When anything changes (software, data, installation procedures, user documentation, etc.), we need to do two kinds of testing on the </a:t>
            </a:r>
            <a:r>
              <a:rPr lang="en-GB" sz="2000" dirty="0" smtClean="0"/>
              <a:t>software</a:t>
            </a:r>
            <a:r>
              <a:rPr lang="en-GB" sz="2000" dirty="0"/>
              <a:t>:</a:t>
            </a:r>
            <a:endParaRPr lang="en-GB" sz="2000" dirty="0" smtClean="0"/>
          </a:p>
          <a:p>
            <a:r>
              <a:rPr lang="en-GB" sz="2000" b="1" dirty="0" smtClean="0"/>
              <a:t>Retesting: </a:t>
            </a:r>
          </a:p>
          <a:p>
            <a:pPr lvl="1"/>
            <a:r>
              <a:rPr lang="en-GB" sz="1800" dirty="0" smtClean="0"/>
              <a:t>First </a:t>
            </a:r>
            <a:r>
              <a:rPr lang="en-GB" sz="1800" dirty="0"/>
              <a:t>of all, tests should be run to make sure that the problem has been fixed. </a:t>
            </a:r>
            <a:endParaRPr lang="en-GB" sz="1800" dirty="0" smtClean="0"/>
          </a:p>
          <a:p>
            <a:pPr lvl="1"/>
            <a:r>
              <a:rPr lang="en-GB" sz="1800" dirty="0" smtClean="0"/>
              <a:t>We </a:t>
            </a:r>
            <a:r>
              <a:rPr lang="en-GB" sz="1800" dirty="0"/>
              <a:t>are looking in fine detail at the changed area of </a:t>
            </a:r>
            <a:r>
              <a:rPr lang="en-GB" sz="1800" dirty="0" smtClean="0"/>
              <a:t>functionality</a:t>
            </a:r>
            <a:r>
              <a:rPr lang="en-GB" sz="1800" dirty="0"/>
              <a:t>.</a:t>
            </a:r>
          </a:p>
          <a:p>
            <a:pPr lvl="1"/>
            <a:endParaRPr lang="en-GB" sz="1800" dirty="0" smtClean="0"/>
          </a:p>
          <a:p>
            <a:r>
              <a:rPr lang="en-GB" sz="2000" b="1" dirty="0" smtClean="0"/>
              <a:t>Regression testing: </a:t>
            </a:r>
          </a:p>
          <a:p>
            <a:pPr lvl="1"/>
            <a:r>
              <a:rPr lang="en-GB" sz="1800" dirty="0" smtClean="0"/>
              <a:t>We </a:t>
            </a:r>
            <a:r>
              <a:rPr lang="en-GB" sz="1800" dirty="0"/>
              <a:t>also need to make sure that the changes have not broken the software </a:t>
            </a:r>
            <a:r>
              <a:rPr lang="en-GB" sz="1800" dirty="0" smtClean="0"/>
              <a:t>elsewhere.</a:t>
            </a:r>
          </a:p>
          <a:p>
            <a:pPr lvl="1"/>
            <a:r>
              <a:rPr lang="en-GB" sz="1800" dirty="0" smtClean="0"/>
              <a:t>Should </a:t>
            </a:r>
            <a:r>
              <a:rPr lang="en-GB" sz="1800" dirty="0"/>
              <a:t>cover all the main functions to ensure that no unintended changes have occurred.</a:t>
            </a:r>
          </a:p>
        </p:txBody>
      </p:sp>
      <p:sp>
        <p:nvSpPr>
          <p:cNvPr id="2" name="Slide Number Placeholder 1"/>
          <p:cNvSpPr>
            <a:spLocks noGrp="1"/>
          </p:cNvSpPr>
          <p:nvPr>
            <p:ph type="sldNum" sz="quarter" idx="12"/>
          </p:nvPr>
        </p:nvSpPr>
        <p:spPr/>
        <p:txBody>
          <a:bodyPr/>
          <a:lstStyle/>
          <a:p>
            <a:fld id="{243F0035-4B67-4B88-B2A0-536AE2AEED21}" type="slidenum">
              <a:rPr lang="en-US" smtClean="0"/>
              <a:pPr/>
              <a:t>5</a:t>
            </a:fld>
            <a:endParaRPr lang="en-US"/>
          </a:p>
        </p:txBody>
      </p:sp>
    </p:spTree>
    <p:extLst>
      <p:ext uri="{BB962C8B-B14F-4D97-AF65-F5344CB8AC3E}">
        <p14:creationId xmlns:p14="http://schemas.microsoft.com/office/powerpoint/2010/main" val="158094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a:t>Effectiveness of the </a:t>
            </a:r>
            <a:r>
              <a:rPr lang="en-GB" sz="2800" dirty="0" smtClean="0"/>
              <a:t>Tests</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smtClean="0"/>
              <a:t>Use </a:t>
            </a:r>
            <a:r>
              <a:rPr lang="en-GB" sz="1800" dirty="0"/>
              <a:t>well-proven </a:t>
            </a:r>
            <a:r>
              <a:rPr lang="en-GB" sz="1800" b="1" dirty="0"/>
              <a:t>test design techniques</a:t>
            </a:r>
            <a:r>
              <a:rPr lang="en-GB" sz="1800" dirty="0"/>
              <a:t>, and a selection of the most important of these</a:t>
            </a:r>
            <a:r>
              <a:rPr lang="en-GB" sz="1800" dirty="0" smtClean="0"/>
              <a:t>.</a:t>
            </a:r>
          </a:p>
          <a:p>
            <a:r>
              <a:rPr lang="en-GB" sz="1800" dirty="0" smtClean="0"/>
              <a:t>Use </a:t>
            </a:r>
            <a:r>
              <a:rPr lang="en-GB" sz="1800" b="1" dirty="0" smtClean="0"/>
              <a:t>principles of testing.</a:t>
            </a:r>
            <a:endParaRPr lang="en-GB" sz="1800" b="1"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6</a:t>
            </a:fld>
            <a:endParaRPr lang="en-US"/>
          </a:p>
        </p:txBody>
      </p:sp>
    </p:spTree>
    <p:extLst>
      <p:ext uri="{BB962C8B-B14F-4D97-AF65-F5344CB8AC3E}">
        <p14:creationId xmlns:p14="http://schemas.microsoft.com/office/powerpoint/2010/main" val="20865638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Principles of testing</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b="1" dirty="0"/>
              <a:t>Testing shows the presence of bugs -  </a:t>
            </a:r>
            <a:r>
              <a:rPr lang="en-GB" sz="1800" dirty="0"/>
              <a:t>tests should be designed to find as many defects as possible</a:t>
            </a:r>
            <a:r>
              <a:rPr lang="en-GB" sz="1800" dirty="0" smtClean="0"/>
              <a:t>.</a:t>
            </a:r>
          </a:p>
          <a:p>
            <a:r>
              <a:rPr lang="en-GB" sz="1800" b="1" dirty="0"/>
              <a:t>Exhaustive testing is </a:t>
            </a:r>
            <a:r>
              <a:rPr lang="en-GB" sz="1800" b="1" dirty="0" smtClean="0"/>
              <a:t>impossible </a:t>
            </a:r>
            <a:r>
              <a:rPr lang="en-GB" sz="1800" dirty="0"/>
              <a:t>– </a:t>
            </a:r>
            <a:endParaRPr lang="en-GB" sz="1800" dirty="0" smtClean="0"/>
          </a:p>
          <a:p>
            <a:pPr lvl="1"/>
            <a:r>
              <a:rPr lang="en-GB" sz="1800" dirty="0" smtClean="0"/>
              <a:t>For </a:t>
            </a:r>
            <a:r>
              <a:rPr lang="en-GB" sz="1800" dirty="0"/>
              <a:t>large complex systems, exhaustive testing is not possible. </a:t>
            </a:r>
            <a:endParaRPr lang="en-GB" sz="1800" dirty="0" smtClean="0"/>
          </a:p>
          <a:p>
            <a:pPr lvl="1"/>
            <a:r>
              <a:rPr lang="en-GB" sz="1800" dirty="0" smtClean="0"/>
              <a:t>Unless </a:t>
            </a:r>
            <a:r>
              <a:rPr lang="en-GB" sz="1800" dirty="0"/>
              <a:t>the application under test (AUT) has an extremely simple logical structure and limited input, it is not possible to test all possible combinations of data input and circumstances</a:t>
            </a:r>
            <a:r>
              <a:rPr lang="en-GB" sz="1800" dirty="0" smtClean="0"/>
              <a:t>.</a:t>
            </a:r>
          </a:p>
          <a:p>
            <a:pPr lvl="1"/>
            <a:r>
              <a:rPr lang="en-GB" sz="1800" b="1" dirty="0" smtClean="0"/>
              <a:t>For </a:t>
            </a:r>
            <a:r>
              <a:rPr lang="en-GB" sz="1800" b="1" dirty="0"/>
              <a:t>this reason, risk and priorities are used to concentrate on the most important aspects to test. </a:t>
            </a:r>
            <a:endParaRPr lang="en-GB" sz="1800" b="1" dirty="0" smtClean="0"/>
          </a:p>
          <a:p>
            <a:r>
              <a:rPr lang="en-GB" sz="1800" b="1" dirty="0"/>
              <a:t>Early </a:t>
            </a:r>
            <a:r>
              <a:rPr lang="en-GB" sz="1800" b="1" dirty="0" smtClean="0"/>
              <a:t>testing</a:t>
            </a:r>
            <a:r>
              <a:rPr lang="en-GB" sz="1800" dirty="0" smtClean="0"/>
              <a:t> – </a:t>
            </a:r>
          </a:p>
          <a:p>
            <a:pPr lvl="1"/>
            <a:r>
              <a:rPr lang="en-GB" sz="1800" dirty="0" smtClean="0"/>
              <a:t>The </a:t>
            </a:r>
            <a:r>
              <a:rPr lang="en-GB" sz="1800" dirty="0"/>
              <a:t>earlier a problem (defect) is found, the less it costs to fix.</a:t>
            </a:r>
          </a:p>
          <a:p>
            <a:pPr lvl="1"/>
            <a:r>
              <a:rPr lang="en-GB" sz="1800" dirty="0"/>
              <a:t>A defect found at </a:t>
            </a:r>
            <a:r>
              <a:rPr lang="en-GB" sz="1800" b="1" dirty="0"/>
              <a:t>acceptance testing </a:t>
            </a:r>
            <a:r>
              <a:rPr lang="en-GB" sz="1800" dirty="0"/>
              <a:t>where the original mistake was in the requirements will require several work-products to be reworked, and subsequently to be retested</a:t>
            </a:r>
            <a:r>
              <a:rPr lang="en-GB" sz="1800" dirty="0" smtClean="0"/>
              <a:t>.</a:t>
            </a:r>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7</a:t>
            </a:fld>
            <a:endParaRPr lang="en-US"/>
          </a:p>
        </p:txBody>
      </p:sp>
    </p:spTree>
    <p:extLst>
      <p:ext uri="{BB962C8B-B14F-4D97-AF65-F5344CB8AC3E}">
        <p14:creationId xmlns:p14="http://schemas.microsoft.com/office/powerpoint/2010/main" val="272261937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Principles of testing</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600" b="1" dirty="0" smtClean="0"/>
              <a:t>Defect clustering </a:t>
            </a:r>
            <a:r>
              <a:rPr lang="en-GB" sz="1600" dirty="0" smtClean="0"/>
              <a:t>– </a:t>
            </a:r>
          </a:p>
          <a:p>
            <a:pPr lvl="1"/>
            <a:r>
              <a:rPr lang="en-GB" sz="1600" dirty="0"/>
              <a:t>The spread of defects is not uniform. </a:t>
            </a:r>
            <a:endParaRPr lang="en-GB" sz="1600" dirty="0" smtClean="0"/>
          </a:p>
          <a:p>
            <a:pPr lvl="1"/>
            <a:r>
              <a:rPr lang="en-GB" sz="1600" dirty="0" smtClean="0"/>
              <a:t>n </a:t>
            </a:r>
            <a:r>
              <a:rPr lang="en-GB" sz="1600" dirty="0"/>
              <a:t>a large application, it is often a small number of modules that exhibit the majority of the problems. </a:t>
            </a:r>
            <a:endParaRPr lang="en-GB" sz="1600" dirty="0" smtClean="0"/>
          </a:p>
          <a:p>
            <a:pPr lvl="1"/>
            <a:r>
              <a:rPr lang="en-GB" sz="1600" dirty="0" smtClean="0"/>
              <a:t>This </a:t>
            </a:r>
            <a:r>
              <a:rPr lang="en-GB" sz="1600" dirty="0"/>
              <a:t>can be for a variety of reasons, some of which are:</a:t>
            </a:r>
          </a:p>
          <a:p>
            <a:pPr lvl="2"/>
            <a:r>
              <a:rPr lang="en-GB" sz="1600" dirty="0"/>
              <a:t>System complexity. </a:t>
            </a:r>
            <a:endParaRPr lang="en-GB" sz="1600" dirty="0" smtClean="0"/>
          </a:p>
          <a:p>
            <a:pPr lvl="2"/>
            <a:r>
              <a:rPr lang="en-GB" sz="1600" dirty="0" smtClean="0"/>
              <a:t>Volatile </a:t>
            </a:r>
            <a:r>
              <a:rPr lang="en-GB" sz="1600" dirty="0"/>
              <a:t>code. </a:t>
            </a:r>
            <a:endParaRPr lang="en-GB" sz="1600" dirty="0" smtClean="0"/>
          </a:p>
          <a:p>
            <a:pPr lvl="2"/>
            <a:r>
              <a:rPr lang="en-GB" sz="1600" dirty="0" smtClean="0"/>
              <a:t>The </a:t>
            </a:r>
            <a:r>
              <a:rPr lang="en-GB" sz="1600" dirty="0"/>
              <a:t>effects of change upon change. </a:t>
            </a:r>
            <a:endParaRPr lang="en-GB" sz="1600" dirty="0" smtClean="0"/>
          </a:p>
          <a:p>
            <a:pPr lvl="2"/>
            <a:r>
              <a:rPr lang="en-GB" sz="1600" dirty="0" smtClean="0"/>
              <a:t>Development </a:t>
            </a:r>
            <a:r>
              <a:rPr lang="en-GB" sz="1600" dirty="0"/>
              <a:t>staff experience. </a:t>
            </a:r>
            <a:endParaRPr lang="en-GB" sz="1600" dirty="0" smtClean="0"/>
          </a:p>
          <a:p>
            <a:pPr lvl="2"/>
            <a:r>
              <a:rPr lang="en-GB" sz="1600" dirty="0" smtClean="0"/>
              <a:t>Development </a:t>
            </a:r>
            <a:r>
              <a:rPr lang="en-GB" sz="1600" dirty="0"/>
              <a:t>staff inexperience.</a:t>
            </a:r>
          </a:p>
          <a:p>
            <a:pPr lvl="1"/>
            <a:r>
              <a:rPr lang="en-GB" sz="1600" dirty="0"/>
              <a:t>This is the application of the Pareto principle to software testing: </a:t>
            </a:r>
            <a:endParaRPr lang="en-GB" sz="1600" dirty="0" smtClean="0"/>
          </a:p>
          <a:p>
            <a:pPr lvl="2"/>
            <a:r>
              <a:rPr lang="en-GB" sz="1600" b="1" i="1" dirty="0" smtClean="0"/>
              <a:t>approximately 80 per cent of the problems are found in about 20 per cent of the modules.</a:t>
            </a:r>
          </a:p>
          <a:p>
            <a:pPr lvl="1"/>
            <a:r>
              <a:rPr lang="en-GB" sz="1600" b="1" dirty="0" smtClean="0"/>
              <a:t> It is useful if testing activity reflects this spread of defects, and targets areas of the application under test where a high proportion of defects can be found. </a:t>
            </a:r>
            <a:endParaRPr lang="en-GB" sz="1600" b="1"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8</a:t>
            </a:fld>
            <a:endParaRPr lang="en-US"/>
          </a:p>
        </p:txBody>
      </p:sp>
    </p:spTree>
    <p:extLst>
      <p:ext uri="{BB962C8B-B14F-4D97-AF65-F5344CB8AC3E}">
        <p14:creationId xmlns:p14="http://schemas.microsoft.com/office/powerpoint/2010/main" val="15889825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Principles of testing</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b="1" dirty="0" smtClean="0"/>
              <a:t>The </a:t>
            </a:r>
            <a:r>
              <a:rPr lang="en-GB" sz="1800" b="1" dirty="0"/>
              <a:t>pesticide </a:t>
            </a:r>
            <a:r>
              <a:rPr lang="en-GB" sz="1800" b="1" dirty="0" smtClean="0"/>
              <a:t>paradox </a:t>
            </a:r>
            <a:r>
              <a:rPr lang="en-GB" sz="1800" dirty="0"/>
              <a:t>- Running the same set of tests continually will not continue to find new defects. </a:t>
            </a:r>
          </a:p>
          <a:p>
            <a:r>
              <a:rPr lang="en-GB" sz="1800" b="1" dirty="0"/>
              <a:t>Testing is context </a:t>
            </a:r>
            <a:r>
              <a:rPr lang="en-GB" sz="1800" b="1" dirty="0" smtClean="0"/>
              <a:t>dependent </a:t>
            </a:r>
            <a:r>
              <a:rPr lang="en-GB" sz="1800" dirty="0"/>
              <a:t>- Different testing is necessary in different circumstances. </a:t>
            </a:r>
          </a:p>
          <a:p>
            <a:r>
              <a:rPr lang="en-GB" sz="1800" b="1" dirty="0"/>
              <a:t>Absence of errors </a:t>
            </a:r>
            <a:r>
              <a:rPr lang="en-GB" sz="1800" b="1" dirty="0" smtClean="0"/>
              <a:t>fallacy </a:t>
            </a:r>
            <a:r>
              <a:rPr lang="en-GB" sz="1800" dirty="0"/>
              <a:t>- Software with no known errors is not necessarily ready to be shipped. </a:t>
            </a:r>
          </a:p>
        </p:txBody>
      </p:sp>
      <p:sp>
        <p:nvSpPr>
          <p:cNvPr id="2" name="Slide Number Placeholder 1"/>
          <p:cNvSpPr>
            <a:spLocks noGrp="1"/>
          </p:cNvSpPr>
          <p:nvPr>
            <p:ph type="sldNum" sz="quarter" idx="12"/>
          </p:nvPr>
        </p:nvSpPr>
        <p:spPr/>
        <p:txBody>
          <a:bodyPr/>
          <a:lstStyle/>
          <a:p>
            <a:fld id="{243F0035-4B67-4B88-B2A0-536AE2AEED21}" type="slidenum">
              <a:rPr lang="en-US" smtClean="0"/>
              <a:pPr/>
              <a:t>9</a:t>
            </a:fld>
            <a:endParaRPr lang="en-US"/>
          </a:p>
        </p:txBody>
      </p:sp>
    </p:spTree>
    <p:extLst>
      <p:ext uri="{BB962C8B-B14F-4D97-AF65-F5344CB8AC3E}">
        <p14:creationId xmlns:p14="http://schemas.microsoft.com/office/powerpoint/2010/main" val="185160056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SDLC</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a:t>A </a:t>
            </a:r>
            <a:r>
              <a:rPr lang="en-GB" sz="1800" b="1" dirty="0"/>
              <a:t>work-product</a:t>
            </a:r>
            <a:r>
              <a:rPr lang="en-GB" sz="1800" dirty="0"/>
              <a:t> is an intermediate deliverable required to create the final product</a:t>
            </a:r>
            <a:r>
              <a:rPr lang="en-GB" sz="1800" dirty="0" smtClean="0"/>
              <a:t>.</a:t>
            </a:r>
          </a:p>
          <a:p>
            <a:r>
              <a:rPr lang="en-GB" sz="1800" dirty="0" smtClean="0"/>
              <a:t> </a:t>
            </a:r>
            <a:r>
              <a:rPr lang="en-GB" sz="1800" dirty="0"/>
              <a:t>Work-products can be documentation or code</a:t>
            </a:r>
            <a:r>
              <a:rPr lang="en-GB" sz="1800" dirty="0" smtClean="0"/>
              <a:t>.</a:t>
            </a:r>
          </a:p>
          <a:p>
            <a:r>
              <a:rPr lang="en-GB" sz="1800" dirty="0" smtClean="0"/>
              <a:t>The </a:t>
            </a:r>
            <a:r>
              <a:rPr lang="en-GB" sz="1800" b="1" dirty="0"/>
              <a:t>code and associated documentation </a:t>
            </a:r>
            <a:r>
              <a:rPr lang="en-GB" sz="1800" dirty="0"/>
              <a:t>will become the product when the system is declared ready for release</a:t>
            </a:r>
            <a:r>
              <a:rPr lang="en-GB" sz="1800" dirty="0" smtClean="0"/>
              <a:t>.</a:t>
            </a:r>
          </a:p>
          <a:p>
            <a:r>
              <a:rPr lang="en-GB" sz="1800" dirty="0"/>
              <a:t>In software development, work-products are generally created in a series of defined stages, from capturing a customer requirement, to creating the system, to delivering the system. </a:t>
            </a:r>
            <a:endParaRPr lang="en-GB" sz="1800" dirty="0" smtClean="0"/>
          </a:p>
          <a:p>
            <a:r>
              <a:rPr lang="en-GB" sz="1800" dirty="0" smtClean="0"/>
              <a:t>These </a:t>
            </a:r>
            <a:r>
              <a:rPr lang="en-GB" sz="1800" dirty="0"/>
              <a:t>stages are usually shown as steps within a software development life cycle.</a:t>
            </a:r>
          </a:p>
          <a:p>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10</a:t>
            </a:fld>
            <a:endParaRPr lang="en-US"/>
          </a:p>
        </p:txBody>
      </p:sp>
    </p:spTree>
    <p:extLst>
      <p:ext uri="{BB962C8B-B14F-4D97-AF65-F5344CB8AC3E}">
        <p14:creationId xmlns:p14="http://schemas.microsoft.com/office/powerpoint/2010/main" val="3881236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Waterfall Model</a:t>
            </a:r>
            <a:endParaRPr lang="en-US" sz="2800" dirty="0"/>
          </a:p>
        </p:txBody>
      </p:sp>
      <p:sp>
        <p:nvSpPr>
          <p:cNvPr id="7" name="Content Placeholder 2"/>
          <p:cNvSpPr>
            <a:spLocks noGrp="1"/>
          </p:cNvSpPr>
          <p:nvPr>
            <p:ph idx="1"/>
          </p:nvPr>
        </p:nvSpPr>
        <p:spPr>
          <a:xfrm>
            <a:off x="4419600" y="685800"/>
            <a:ext cx="4419600" cy="6172200"/>
          </a:xfrm>
        </p:spPr>
        <p:txBody>
          <a:bodyPr>
            <a:noAutofit/>
          </a:bodyPr>
          <a:lstStyle/>
          <a:p>
            <a:r>
              <a:rPr lang="en-GB" sz="1800" dirty="0"/>
              <a:t>In the waterfall model, testing is carried out once the code has been fully developed. </a:t>
            </a:r>
            <a:endParaRPr lang="en-GB" sz="1800" dirty="0" smtClean="0"/>
          </a:p>
          <a:p>
            <a:r>
              <a:rPr lang="en-GB" sz="1800" dirty="0" smtClean="0"/>
              <a:t>Once </a:t>
            </a:r>
            <a:r>
              <a:rPr lang="en-GB" sz="1800" dirty="0"/>
              <a:t>this is completed, a decision can be made on whether the product can be released into the live environment.</a:t>
            </a:r>
          </a:p>
          <a:p>
            <a:r>
              <a:rPr lang="en-GB" sz="1800" dirty="0"/>
              <a:t>This model for development shows how a fully tested product can be created, but it has a significant drawback</a:t>
            </a:r>
            <a:r>
              <a:rPr lang="en-GB" sz="1800" b="1" dirty="0"/>
              <a:t>: what happens if the product fails the tests? </a:t>
            </a:r>
            <a:endParaRPr lang="en-GB" sz="1800" b="1" dirty="0" smtClean="0"/>
          </a:p>
          <a:p>
            <a:r>
              <a:rPr lang="en-GB" sz="1800" b="1" dirty="0"/>
              <a:t>In the waterfall model, the testing at the end serves as a quality check. The product can be accepted or rejected at this </a:t>
            </a:r>
            <a:r>
              <a:rPr lang="en-GB" sz="1800" b="1" dirty="0" smtClean="0"/>
              <a:t>point.</a:t>
            </a:r>
            <a:endParaRPr lang="en-GB" sz="1800" b="1"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11</a:t>
            </a:fld>
            <a:endParaRPr lang="en-US"/>
          </a:p>
        </p:txBody>
      </p:sp>
      <p:pic>
        <p:nvPicPr>
          <p:cNvPr id="3" name="Picture 2"/>
          <p:cNvPicPr>
            <a:picLocks noChangeAspect="1"/>
          </p:cNvPicPr>
          <p:nvPr/>
        </p:nvPicPr>
        <p:blipFill>
          <a:blip r:embed="rId3" cstate="print"/>
          <a:stretch>
            <a:fillRect/>
          </a:stretch>
        </p:blipFill>
        <p:spPr>
          <a:xfrm>
            <a:off x="371475" y="1009650"/>
            <a:ext cx="4048125" cy="2762250"/>
          </a:xfrm>
          <a:prstGeom prst="rect">
            <a:avLst/>
          </a:prstGeom>
        </p:spPr>
      </p:pic>
    </p:spTree>
    <p:extLst>
      <p:ext uri="{BB962C8B-B14F-4D97-AF65-F5344CB8AC3E}">
        <p14:creationId xmlns:p14="http://schemas.microsoft.com/office/powerpoint/2010/main" val="19368275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Remedy</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a:t>The checks throughout the life cycle include </a:t>
            </a:r>
            <a:r>
              <a:rPr lang="en-GB" sz="1800" b="1" dirty="0" smtClean="0"/>
              <a:t>verification and validation.</a:t>
            </a:r>
          </a:p>
          <a:p>
            <a:r>
              <a:rPr lang="en-GB" sz="1800" b="1" dirty="0" smtClean="0"/>
              <a:t>Veriﬁcation:</a:t>
            </a:r>
          </a:p>
          <a:p>
            <a:pPr lvl="1"/>
            <a:r>
              <a:rPr lang="en-GB" sz="1800" b="1" dirty="0" smtClean="0"/>
              <a:t>checks </a:t>
            </a:r>
            <a:r>
              <a:rPr lang="en-GB" sz="1800" b="1" dirty="0"/>
              <a:t>that the work-product meets the requirements set out for it. </a:t>
            </a:r>
            <a:endParaRPr lang="en-GB" sz="1800" b="1" dirty="0" smtClean="0"/>
          </a:p>
          <a:p>
            <a:pPr lvl="1"/>
            <a:r>
              <a:rPr lang="en-GB" sz="1800" dirty="0" smtClean="0"/>
              <a:t>An </a:t>
            </a:r>
            <a:r>
              <a:rPr lang="en-GB" sz="1800" dirty="0"/>
              <a:t>example of this would be to ensure that a website being built follows the guidelines for making websites usable by as many people as possible. </a:t>
            </a:r>
            <a:endParaRPr lang="en-GB" sz="1800" dirty="0" smtClean="0"/>
          </a:p>
          <a:p>
            <a:pPr lvl="1"/>
            <a:r>
              <a:rPr lang="en-GB" sz="1800" b="1" dirty="0" smtClean="0"/>
              <a:t>Veriﬁcation </a:t>
            </a:r>
            <a:r>
              <a:rPr lang="en-GB" sz="1800" b="1" dirty="0"/>
              <a:t>helps to ensure that we are building the product in the right way.</a:t>
            </a:r>
          </a:p>
          <a:p>
            <a:r>
              <a:rPr lang="en-GB" sz="1800" b="1" dirty="0" smtClean="0"/>
              <a:t>Validation:</a:t>
            </a:r>
          </a:p>
          <a:p>
            <a:pPr lvl="1"/>
            <a:r>
              <a:rPr lang="en-GB" sz="1800" b="1" dirty="0" smtClean="0"/>
              <a:t>changes </a:t>
            </a:r>
            <a:r>
              <a:rPr lang="en-GB" sz="1800" b="1" dirty="0"/>
              <a:t>the focus of work-product evaluation to evaluation against user needs. </a:t>
            </a:r>
            <a:endParaRPr lang="en-GB" sz="1800" b="1" dirty="0" smtClean="0"/>
          </a:p>
          <a:p>
            <a:pPr lvl="1"/>
            <a:r>
              <a:rPr lang="en-GB" sz="1800" dirty="0" smtClean="0"/>
              <a:t>This </a:t>
            </a:r>
            <a:r>
              <a:rPr lang="en-GB" sz="1800" dirty="0"/>
              <a:t>means ensuring that the behaviour of the work-product matches the customer needs as deﬁned for the project</a:t>
            </a:r>
            <a:r>
              <a:rPr lang="en-GB" sz="1800" dirty="0" smtClean="0"/>
              <a:t>.</a:t>
            </a:r>
          </a:p>
          <a:p>
            <a:pPr lvl="1"/>
            <a:r>
              <a:rPr lang="en-GB" sz="1800" dirty="0" smtClean="0"/>
              <a:t> </a:t>
            </a:r>
            <a:r>
              <a:rPr lang="en-GB" sz="1800" dirty="0"/>
              <a:t>For example, for the same website above, the guidelines may have been written with people familiar with websites in mind</a:t>
            </a:r>
            <a:r>
              <a:rPr lang="en-GB" sz="1800" dirty="0" smtClean="0"/>
              <a:t>.</a:t>
            </a:r>
          </a:p>
          <a:p>
            <a:pPr lvl="1"/>
            <a:r>
              <a:rPr lang="en-GB" sz="1800" dirty="0" smtClean="0"/>
              <a:t>It </a:t>
            </a:r>
            <a:r>
              <a:rPr lang="en-GB" sz="1800" dirty="0"/>
              <a:t>may be that this website is also intended for novice users. Validation would include these users checking that they too can use the website easily. </a:t>
            </a:r>
            <a:endParaRPr lang="en-GB" sz="1800" dirty="0" smtClean="0"/>
          </a:p>
          <a:p>
            <a:pPr lvl="1"/>
            <a:r>
              <a:rPr lang="en-GB" sz="1800" b="1" dirty="0" smtClean="0"/>
              <a:t>Validation </a:t>
            </a:r>
            <a:r>
              <a:rPr lang="en-GB" sz="1800" b="1" dirty="0"/>
              <a:t>helps to ensure that we are building the right product as far as the users are concerned.</a:t>
            </a:r>
          </a:p>
          <a:p>
            <a:endParaRPr lang="en-GB" sz="1800" b="1"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12</a:t>
            </a:fld>
            <a:endParaRPr lang="en-US"/>
          </a:p>
        </p:txBody>
      </p:sp>
    </p:spTree>
    <p:extLst>
      <p:ext uri="{BB962C8B-B14F-4D97-AF65-F5344CB8AC3E}">
        <p14:creationId xmlns:p14="http://schemas.microsoft.com/office/powerpoint/2010/main" val="38477272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Remedy</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a:t>There are two types of development model that facilitate early work-product evaluation.</a:t>
            </a:r>
          </a:p>
          <a:p>
            <a:r>
              <a:rPr lang="en-GB" sz="1800" dirty="0"/>
              <a:t>The first is an extension to the waterfall model, known as the V-model. </a:t>
            </a:r>
            <a:endParaRPr lang="en-GB" sz="1800" dirty="0" smtClean="0"/>
          </a:p>
          <a:p>
            <a:r>
              <a:rPr lang="en-GB" sz="1800" dirty="0" smtClean="0"/>
              <a:t>The </a:t>
            </a:r>
            <a:r>
              <a:rPr lang="en-GB" sz="1800" dirty="0"/>
              <a:t>second is a cyclical model, where the coding stage often begins once the initial user needs have been captured. Cyclical models are often referred to as iterative models.</a:t>
            </a:r>
          </a:p>
          <a:p>
            <a:r>
              <a:rPr lang="en-GB" sz="1800" dirty="0"/>
              <a:t>We will </a:t>
            </a:r>
            <a:r>
              <a:rPr lang="en-GB" sz="1800" dirty="0" smtClean="0"/>
              <a:t>consider </a:t>
            </a:r>
            <a:r>
              <a:rPr lang="en-GB" sz="1800" dirty="0"/>
              <a:t>the V-model.</a:t>
            </a:r>
          </a:p>
        </p:txBody>
      </p:sp>
      <p:sp>
        <p:nvSpPr>
          <p:cNvPr id="2" name="Slide Number Placeholder 1"/>
          <p:cNvSpPr>
            <a:spLocks noGrp="1"/>
          </p:cNvSpPr>
          <p:nvPr>
            <p:ph type="sldNum" sz="quarter" idx="12"/>
          </p:nvPr>
        </p:nvSpPr>
        <p:spPr/>
        <p:txBody>
          <a:bodyPr/>
          <a:lstStyle/>
          <a:p>
            <a:fld id="{243F0035-4B67-4B88-B2A0-536AE2AEED21}" type="slidenum">
              <a:rPr lang="en-US" smtClean="0"/>
              <a:pPr/>
              <a:t>13</a:t>
            </a:fld>
            <a:endParaRPr lang="en-US"/>
          </a:p>
        </p:txBody>
      </p:sp>
    </p:spTree>
    <p:extLst>
      <p:ext uri="{BB962C8B-B14F-4D97-AF65-F5344CB8AC3E}">
        <p14:creationId xmlns:p14="http://schemas.microsoft.com/office/powerpoint/2010/main" val="6942905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The V Model</a:t>
            </a:r>
            <a:endParaRPr lang="en-US" sz="2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14</a:t>
            </a:fld>
            <a:endParaRPr lang="en-US"/>
          </a:p>
        </p:txBody>
      </p:sp>
      <p:pic>
        <p:nvPicPr>
          <p:cNvPr id="4" name="Picture 3"/>
          <p:cNvPicPr>
            <a:picLocks noChangeAspect="1"/>
          </p:cNvPicPr>
          <p:nvPr/>
        </p:nvPicPr>
        <p:blipFill>
          <a:blip r:embed="rId3" cstate="print"/>
          <a:stretch>
            <a:fillRect/>
          </a:stretch>
        </p:blipFill>
        <p:spPr>
          <a:xfrm>
            <a:off x="1143000" y="1295400"/>
            <a:ext cx="6905625" cy="3971925"/>
          </a:xfrm>
          <a:prstGeom prst="rect">
            <a:avLst/>
          </a:prstGeom>
        </p:spPr>
      </p:pic>
    </p:spTree>
    <p:extLst>
      <p:ext uri="{BB962C8B-B14F-4D97-AF65-F5344CB8AC3E}">
        <p14:creationId xmlns:p14="http://schemas.microsoft.com/office/powerpoint/2010/main" val="3233344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The V Model</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a:t>As for the waterfall model, the left-hand side of the model focuses on elaborating the initial requirements, providing successively more technical detail as the development progresses. In the model shown, these are:</a:t>
            </a:r>
          </a:p>
          <a:p>
            <a:pPr lvl="1"/>
            <a:r>
              <a:rPr lang="en-GB" sz="1800" b="1" dirty="0"/>
              <a:t>Requirement specification </a:t>
            </a:r>
            <a:r>
              <a:rPr lang="en-GB" sz="1800" dirty="0"/>
              <a:t>– capturing of user needs. </a:t>
            </a:r>
            <a:endParaRPr lang="en-GB" sz="1800" dirty="0" smtClean="0"/>
          </a:p>
          <a:p>
            <a:pPr lvl="1"/>
            <a:r>
              <a:rPr lang="en-GB" sz="1800" b="1" dirty="0" smtClean="0"/>
              <a:t>Functional </a:t>
            </a:r>
            <a:r>
              <a:rPr lang="en-GB" sz="1800" b="1" dirty="0"/>
              <a:t>specification </a:t>
            </a:r>
            <a:r>
              <a:rPr lang="en-GB" sz="1800" dirty="0"/>
              <a:t>– definition of functions required to meet user needs. </a:t>
            </a:r>
            <a:endParaRPr lang="en-GB" sz="1800" dirty="0" smtClean="0"/>
          </a:p>
          <a:p>
            <a:pPr lvl="1"/>
            <a:r>
              <a:rPr lang="en-GB" sz="1800" b="1" dirty="0" smtClean="0"/>
              <a:t>Technical </a:t>
            </a:r>
            <a:r>
              <a:rPr lang="en-GB" sz="1800" b="1" dirty="0"/>
              <a:t>specification </a:t>
            </a:r>
            <a:r>
              <a:rPr lang="en-GB" sz="1800" dirty="0"/>
              <a:t>– technical design of functions identified in the functional specification. </a:t>
            </a:r>
            <a:endParaRPr lang="en-GB" sz="1800" dirty="0" smtClean="0"/>
          </a:p>
          <a:p>
            <a:pPr lvl="1"/>
            <a:r>
              <a:rPr lang="en-GB" sz="1800" b="1" dirty="0" smtClean="0"/>
              <a:t>Program </a:t>
            </a:r>
            <a:r>
              <a:rPr lang="en-GB" sz="1800" b="1" dirty="0"/>
              <a:t>specification </a:t>
            </a:r>
            <a:r>
              <a:rPr lang="en-GB" sz="1800" dirty="0"/>
              <a:t>– detailed design of each module or unit to be built to meet required </a:t>
            </a:r>
            <a:r>
              <a:rPr lang="en-GB" sz="1800" dirty="0" smtClean="0"/>
              <a:t>functionality.</a:t>
            </a:r>
          </a:p>
          <a:p>
            <a:r>
              <a:rPr lang="en-GB" sz="1800" dirty="0"/>
              <a:t>These specifications could be reviewed to check for the following:</a:t>
            </a:r>
          </a:p>
          <a:p>
            <a:pPr lvl="1"/>
            <a:r>
              <a:rPr lang="en-GB" sz="1800" b="1" dirty="0"/>
              <a:t>Conformance to the previous work-product </a:t>
            </a:r>
            <a:r>
              <a:rPr lang="en-GB" sz="1800" dirty="0"/>
              <a:t>(so in the case of the functional specification, verification would include a check against the requirement specification). </a:t>
            </a:r>
            <a:endParaRPr lang="en-GB" sz="1800" dirty="0" smtClean="0"/>
          </a:p>
          <a:p>
            <a:pPr lvl="1"/>
            <a:r>
              <a:rPr lang="en-GB" sz="1800" b="1" dirty="0" smtClean="0"/>
              <a:t>That </a:t>
            </a:r>
            <a:r>
              <a:rPr lang="en-GB" sz="1800" b="1" dirty="0"/>
              <a:t>there is sufficient detail for the subsequent work-product to be built correctly </a:t>
            </a:r>
            <a:r>
              <a:rPr lang="en-GB" sz="1800" dirty="0"/>
              <a:t>(again, for the functional specification, this would include a check that there is sufficient information in order to create the technical specification). </a:t>
            </a:r>
            <a:endParaRPr lang="en-GB" sz="1800" dirty="0" smtClean="0"/>
          </a:p>
          <a:p>
            <a:pPr lvl="1"/>
            <a:r>
              <a:rPr lang="en-GB" sz="1800" b="1" dirty="0" smtClean="0"/>
              <a:t>That </a:t>
            </a:r>
            <a:r>
              <a:rPr lang="en-GB" sz="1800" b="1" dirty="0"/>
              <a:t>it is testable </a:t>
            </a:r>
            <a:r>
              <a:rPr lang="en-GB" sz="1800" dirty="0"/>
              <a:t>– is the detail provided sufficient for testing the work-product?</a:t>
            </a:r>
          </a:p>
        </p:txBody>
      </p:sp>
      <p:sp>
        <p:nvSpPr>
          <p:cNvPr id="2" name="Slide Number Placeholder 1"/>
          <p:cNvSpPr>
            <a:spLocks noGrp="1"/>
          </p:cNvSpPr>
          <p:nvPr>
            <p:ph type="sldNum" sz="quarter" idx="12"/>
          </p:nvPr>
        </p:nvSpPr>
        <p:spPr/>
        <p:txBody>
          <a:bodyPr/>
          <a:lstStyle/>
          <a:p>
            <a:fld id="{243F0035-4B67-4B88-B2A0-536AE2AEED21}" type="slidenum">
              <a:rPr lang="en-US" smtClean="0"/>
              <a:pPr/>
              <a:t>15</a:t>
            </a:fld>
            <a:endParaRPr lang="en-US"/>
          </a:p>
        </p:txBody>
      </p:sp>
    </p:spTree>
    <p:extLst>
      <p:ext uri="{BB962C8B-B14F-4D97-AF65-F5344CB8AC3E}">
        <p14:creationId xmlns:p14="http://schemas.microsoft.com/office/powerpoint/2010/main" val="41352154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The V Model</a:t>
            </a:r>
            <a:endParaRPr lang="en-US" sz="2800" dirty="0"/>
          </a:p>
        </p:txBody>
      </p:sp>
      <p:sp>
        <p:nvSpPr>
          <p:cNvPr id="7" name="Content Placeholder 2"/>
          <p:cNvSpPr>
            <a:spLocks noGrp="1"/>
          </p:cNvSpPr>
          <p:nvPr>
            <p:ph idx="1"/>
          </p:nvPr>
        </p:nvSpPr>
        <p:spPr>
          <a:xfrm>
            <a:off x="609600" y="609600"/>
            <a:ext cx="8229600" cy="6172200"/>
          </a:xfrm>
        </p:spPr>
        <p:txBody>
          <a:bodyPr>
            <a:noAutofit/>
          </a:bodyPr>
          <a:lstStyle/>
          <a:p>
            <a:r>
              <a:rPr lang="en-GB" sz="1800" dirty="0"/>
              <a:t>The middle of the V-model shows that planning for testing should start with each work-product. </a:t>
            </a:r>
            <a:endParaRPr lang="en-GB" sz="1800" dirty="0" smtClean="0"/>
          </a:p>
          <a:p>
            <a:r>
              <a:rPr lang="en-GB" sz="1800" dirty="0" smtClean="0"/>
              <a:t>Thus</a:t>
            </a:r>
            <a:r>
              <a:rPr lang="en-GB" sz="1800" dirty="0"/>
              <a:t>, using the requirement specification as an example, acceptance testing would be planned for, right at the start of the development. </a:t>
            </a:r>
          </a:p>
          <a:p>
            <a:r>
              <a:rPr lang="en-GB" sz="1800" dirty="0"/>
              <a:t>The right-hand side focuses on the testing activities. For each work-product, a testing activity is identified. </a:t>
            </a:r>
            <a:endParaRPr lang="en-GB" sz="1800" dirty="0" smtClean="0"/>
          </a:p>
          <a:p>
            <a:pPr lvl="1"/>
            <a:r>
              <a:rPr lang="en-GB" sz="1700" u="sng" dirty="0" smtClean="0"/>
              <a:t>Testing </a:t>
            </a:r>
            <a:r>
              <a:rPr lang="en-GB" sz="1700" u="sng" dirty="0"/>
              <a:t>against the requirement specification takes place at the acceptance testing stage. </a:t>
            </a:r>
            <a:endParaRPr lang="en-GB" sz="1700" u="sng" dirty="0" smtClean="0"/>
          </a:p>
          <a:p>
            <a:pPr lvl="1"/>
            <a:r>
              <a:rPr lang="en-GB" sz="1700" u="sng" dirty="0" smtClean="0"/>
              <a:t>Testing </a:t>
            </a:r>
            <a:r>
              <a:rPr lang="en-GB" sz="1700" u="sng" dirty="0"/>
              <a:t>against the functional specification takes place at the system testing stage. </a:t>
            </a:r>
            <a:endParaRPr lang="en-GB" sz="1700" u="sng" dirty="0" smtClean="0"/>
          </a:p>
          <a:p>
            <a:pPr lvl="1"/>
            <a:r>
              <a:rPr lang="en-GB" sz="1700" u="sng" dirty="0" smtClean="0"/>
              <a:t>Testing </a:t>
            </a:r>
            <a:r>
              <a:rPr lang="en-GB" sz="1700" u="sng" dirty="0"/>
              <a:t>against the technical specification takes place at the integration testing </a:t>
            </a:r>
            <a:r>
              <a:rPr lang="en-GB" sz="1700" u="sng" dirty="0" smtClean="0"/>
              <a:t>stage</a:t>
            </a:r>
            <a:r>
              <a:rPr lang="en-GB" sz="1700" u="sng" dirty="0"/>
              <a:t>. </a:t>
            </a:r>
            <a:endParaRPr lang="en-GB" sz="1700" u="sng" dirty="0" smtClean="0"/>
          </a:p>
          <a:p>
            <a:pPr lvl="1"/>
            <a:r>
              <a:rPr lang="en-GB" sz="1700" u="sng" dirty="0" smtClean="0"/>
              <a:t>Testing </a:t>
            </a:r>
            <a:r>
              <a:rPr lang="en-GB" sz="1700" u="sng" dirty="0"/>
              <a:t>against the program specification takes place at the unit testing stage.</a:t>
            </a:r>
          </a:p>
          <a:p>
            <a:r>
              <a:rPr lang="en-GB" sz="1800" dirty="0"/>
              <a:t>This allows testing to be concentrated on the detail provided in each work-product, </a:t>
            </a:r>
            <a:r>
              <a:rPr lang="en-GB" sz="1800" b="1" dirty="0"/>
              <a:t>so that defects can be identified as early as possible in the life cycle, when the work-product has been created</a:t>
            </a:r>
            <a:r>
              <a:rPr lang="en-GB" sz="1800" b="1" dirty="0" smtClean="0"/>
              <a:t>.</a:t>
            </a:r>
          </a:p>
          <a:p>
            <a:r>
              <a:rPr lang="en-GB" sz="1800" b="1" dirty="0"/>
              <a:t>Remembering that each stage must be completed before the next one can be started, this approach to software development pushes validation of the system by the user representatives right to the end of the life cycle</a:t>
            </a:r>
            <a:r>
              <a:rPr lang="en-GB" sz="1800" b="1" dirty="0" smtClean="0"/>
              <a:t>.</a:t>
            </a:r>
          </a:p>
          <a:p>
            <a:r>
              <a:rPr lang="en-GB" sz="1800" dirty="0" smtClean="0"/>
              <a:t>If </a:t>
            </a:r>
            <a:r>
              <a:rPr lang="en-GB" sz="1800" dirty="0"/>
              <a:t>the customer needs were not captured accurately in the requirement specification, or if they change, then these issues may not be uncovered until the user testing is carried out.</a:t>
            </a:r>
          </a:p>
          <a:p>
            <a:endParaRPr lang="en-GB" sz="1800" b="1"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16</a:t>
            </a:fld>
            <a:endParaRPr lang="en-US"/>
          </a:p>
        </p:txBody>
      </p:sp>
    </p:spTree>
    <p:extLst>
      <p:ext uri="{BB962C8B-B14F-4D97-AF65-F5344CB8AC3E}">
        <p14:creationId xmlns:p14="http://schemas.microsoft.com/office/powerpoint/2010/main" val="270769844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Test Levels</a:t>
            </a:r>
            <a:endParaRPr lang="en-US" sz="2800" dirty="0"/>
          </a:p>
        </p:txBody>
      </p:sp>
      <p:sp>
        <p:nvSpPr>
          <p:cNvPr id="7" name="Content Placeholder 2"/>
          <p:cNvSpPr>
            <a:spLocks noGrp="1"/>
          </p:cNvSpPr>
          <p:nvPr>
            <p:ph idx="1"/>
          </p:nvPr>
        </p:nvSpPr>
        <p:spPr>
          <a:xfrm>
            <a:off x="609600" y="533400"/>
            <a:ext cx="8229600" cy="6172200"/>
          </a:xfrm>
        </p:spPr>
        <p:txBody>
          <a:bodyPr>
            <a:noAutofit/>
          </a:bodyPr>
          <a:lstStyle/>
          <a:p>
            <a:r>
              <a:rPr lang="en-GB" sz="1800" dirty="0"/>
              <a:t>Testing helps to ensure that the work-products are being developed in </a:t>
            </a:r>
            <a:r>
              <a:rPr lang="en-GB" sz="1800" b="1" dirty="0"/>
              <a:t>the right way (verification) and that the product will meet the user needs (validation</a:t>
            </a:r>
            <a:r>
              <a:rPr lang="en-GB" sz="1800" b="1" dirty="0" smtClean="0"/>
              <a:t>).</a:t>
            </a:r>
          </a:p>
          <a:p>
            <a:r>
              <a:rPr lang="en-GB" sz="1800" dirty="0"/>
              <a:t>Each work-product is tested – In the V-model, each document on the left is tested by an activity on the right. Each specification document is called the test basis, i.e. it is the basis on which tests are created. In iterative development, each release is tested before moving on to the next. </a:t>
            </a:r>
            <a:endParaRPr lang="en-GB" sz="1800" dirty="0" smtClean="0"/>
          </a:p>
          <a:p>
            <a:r>
              <a:rPr lang="en-GB" sz="1800" dirty="0" smtClean="0"/>
              <a:t>Testers </a:t>
            </a:r>
            <a:r>
              <a:rPr lang="en-GB" sz="1800" dirty="0"/>
              <a:t>are involved in reviewing requirements before they are released – In the V-model, testers would be invited to review all documents from a testing perspective</a:t>
            </a:r>
            <a:r>
              <a:rPr lang="en-GB" sz="1800" dirty="0" smtClean="0"/>
              <a:t>.</a:t>
            </a:r>
          </a:p>
          <a:p>
            <a:r>
              <a:rPr lang="en-GB" sz="1800" dirty="0"/>
              <a:t> </a:t>
            </a:r>
            <a:r>
              <a:rPr lang="en-GB" sz="1800" dirty="0" smtClean="0"/>
              <a:t>Test stages on the right are  </a:t>
            </a:r>
            <a:r>
              <a:rPr lang="en-GB" sz="1800" dirty="0"/>
              <a:t>often called test levels. The term test level provides an indication of the focus of the testing, and the types of problems it is likely to uncover. The typical levels of testing are:</a:t>
            </a:r>
          </a:p>
          <a:p>
            <a:pPr lvl="1"/>
            <a:r>
              <a:rPr lang="en-GB" sz="2000" b="1" dirty="0"/>
              <a:t>Unit (component) testing </a:t>
            </a:r>
            <a:r>
              <a:rPr lang="en-GB" sz="2000" dirty="0"/>
              <a:t>- the focus is the code within the unit </a:t>
            </a:r>
            <a:r>
              <a:rPr lang="en-GB" sz="2000" dirty="0" smtClean="0"/>
              <a:t>itself</a:t>
            </a:r>
          </a:p>
          <a:p>
            <a:pPr marL="457200" lvl="1" indent="0">
              <a:buNone/>
            </a:pPr>
            <a:endParaRPr lang="en-GB" sz="2000" dirty="0" smtClean="0"/>
          </a:p>
          <a:p>
            <a:pPr lvl="1"/>
            <a:r>
              <a:rPr lang="en-GB" sz="2000" dirty="0" smtClean="0"/>
              <a:t> </a:t>
            </a:r>
            <a:r>
              <a:rPr lang="en-GB" sz="2000" b="1" dirty="0"/>
              <a:t>Integration testing </a:t>
            </a:r>
            <a:r>
              <a:rPr lang="en-GB" sz="2000" dirty="0"/>
              <a:t>- it is the interfacing between </a:t>
            </a:r>
            <a:r>
              <a:rPr lang="en-GB" sz="2000" dirty="0" smtClean="0"/>
              <a:t>units</a:t>
            </a:r>
          </a:p>
          <a:p>
            <a:pPr marL="457200" lvl="1" indent="0">
              <a:buNone/>
            </a:pPr>
            <a:endParaRPr lang="en-GB" sz="2000" dirty="0" smtClean="0"/>
          </a:p>
          <a:p>
            <a:pPr lvl="1"/>
            <a:r>
              <a:rPr lang="en-GB" sz="2000" dirty="0" smtClean="0"/>
              <a:t> </a:t>
            </a:r>
            <a:r>
              <a:rPr lang="en-GB" sz="2000" b="1" dirty="0"/>
              <a:t>System testing</a:t>
            </a:r>
            <a:r>
              <a:rPr lang="en-GB" sz="2000" dirty="0"/>
              <a:t> - it is the end-to-end </a:t>
            </a:r>
            <a:r>
              <a:rPr lang="en-GB" sz="2000" dirty="0" smtClean="0"/>
              <a:t>functionality</a:t>
            </a:r>
          </a:p>
          <a:p>
            <a:pPr lvl="1"/>
            <a:endParaRPr lang="en-GB" sz="2000" dirty="0" smtClean="0"/>
          </a:p>
          <a:p>
            <a:pPr lvl="1"/>
            <a:r>
              <a:rPr lang="en-GB" sz="2000" dirty="0" smtClean="0"/>
              <a:t> </a:t>
            </a:r>
            <a:r>
              <a:rPr lang="en-GB" sz="2000" b="1" dirty="0"/>
              <a:t>Acceptance testing </a:t>
            </a:r>
            <a:r>
              <a:rPr lang="en-GB" sz="2000" dirty="0"/>
              <a:t>- it is the user perspective</a:t>
            </a:r>
          </a:p>
          <a:p>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17</a:t>
            </a:fld>
            <a:endParaRPr lang="en-US"/>
          </a:p>
        </p:txBody>
      </p:sp>
      <p:sp>
        <p:nvSpPr>
          <p:cNvPr id="3" name="Down Arrow 2"/>
          <p:cNvSpPr/>
          <p:nvPr/>
        </p:nvSpPr>
        <p:spPr>
          <a:xfrm>
            <a:off x="1981200" y="4572000"/>
            <a:ext cx="304800" cy="24079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own Arrow 7"/>
          <p:cNvSpPr/>
          <p:nvPr/>
        </p:nvSpPr>
        <p:spPr>
          <a:xfrm>
            <a:off x="1981200" y="5257800"/>
            <a:ext cx="304800" cy="24079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own Arrow 8"/>
          <p:cNvSpPr/>
          <p:nvPr/>
        </p:nvSpPr>
        <p:spPr>
          <a:xfrm>
            <a:off x="1968500" y="6007608"/>
            <a:ext cx="304800" cy="24079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37407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Test Levels – Unit (Component) Testing …</a:t>
            </a:r>
            <a:endParaRPr lang="en-US" sz="2800" dirty="0"/>
          </a:p>
        </p:txBody>
      </p:sp>
      <p:sp>
        <p:nvSpPr>
          <p:cNvPr id="7" name="Content Placeholder 2"/>
          <p:cNvSpPr>
            <a:spLocks noGrp="1"/>
          </p:cNvSpPr>
          <p:nvPr>
            <p:ph idx="1"/>
          </p:nvPr>
        </p:nvSpPr>
        <p:spPr>
          <a:xfrm>
            <a:off x="609600" y="533400"/>
            <a:ext cx="8229600" cy="6172200"/>
          </a:xfrm>
        </p:spPr>
        <p:txBody>
          <a:bodyPr>
            <a:noAutofit/>
          </a:bodyPr>
          <a:lstStyle/>
          <a:p>
            <a:r>
              <a:rPr lang="en-GB" sz="1800" dirty="0"/>
              <a:t>Before testing of the code can start, clearly the code has to be written. This is shown at the bottom of the V-model. </a:t>
            </a:r>
            <a:endParaRPr lang="en-GB" sz="1800" dirty="0" smtClean="0"/>
          </a:p>
          <a:p>
            <a:r>
              <a:rPr lang="en-GB" sz="1800" dirty="0" smtClean="0"/>
              <a:t>Generally</a:t>
            </a:r>
            <a:r>
              <a:rPr lang="en-GB" sz="1800" dirty="0"/>
              <a:t>, the code is written in component parts, or units. The units are usually constructed in isolation, for integration at a later stage</a:t>
            </a:r>
            <a:r>
              <a:rPr lang="en-GB" sz="1800" dirty="0" smtClean="0"/>
              <a:t>.</a:t>
            </a:r>
          </a:p>
          <a:p>
            <a:r>
              <a:rPr lang="en-GB" sz="1800" dirty="0" smtClean="0"/>
              <a:t>Units </a:t>
            </a:r>
            <a:r>
              <a:rPr lang="en-GB" sz="1800" dirty="0"/>
              <a:t>are also called programs, modules or components. </a:t>
            </a:r>
            <a:endParaRPr lang="en-GB" sz="1800" dirty="0" smtClean="0"/>
          </a:p>
          <a:p>
            <a:r>
              <a:rPr lang="en-GB" sz="1800" b="1" dirty="0"/>
              <a:t>Unit testing is intended to ensure that the code written for the unit meets its specification, prior to its integration with other units.</a:t>
            </a:r>
          </a:p>
          <a:p>
            <a:r>
              <a:rPr lang="en-GB" sz="1800" dirty="0"/>
              <a:t>In addition to checking conformance to the program specification, unit testing would also verify that all of the code that has been written for the unit can be executed. </a:t>
            </a:r>
            <a:endParaRPr lang="en-GB" sz="1800" dirty="0" smtClean="0"/>
          </a:p>
          <a:p>
            <a:r>
              <a:rPr lang="en-GB" sz="1800" dirty="0"/>
              <a:t> Instead of using the specification to decide on inputs and expected outputs, the developer would use the code that has been written for this. </a:t>
            </a:r>
            <a:endParaRPr lang="en-GB" sz="1800" dirty="0" smtClean="0"/>
          </a:p>
          <a:p>
            <a:r>
              <a:rPr lang="en-GB" sz="1800" b="1" dirty="0"/>
              <a:t>Thus the test bases for unit testing can include: the component requirements; the detailed design; the code itself.</a:t>
            </a:r>
          </a:p>
          <a:p>
            <a:r>
              <a:rPr lang="en-GB" sz="1800" dirty="0"/>
              <a:t>Unit testing requires access to the code being tested. </a:t>
            </a:r>
            <a:endParaRPr lang="en-GB" sz="1800" dirty="0" smtClean="0"/>
          </a:p>
          <a:p>
            <a:r>
              <a:rPr lang="en-GB" sz="1800" dirty="0" smtClean="0"/>
              <a:t>Thus </a:t>
            </a:r>
            <a:r>
              <a:rPr lang="en-GB" sz="1800" dirty="0"/>
              <a:t>test objects (i.e. what is under test) can be the components, the programs, data conversion/migration programs and database modules</a:t>
            </a:r>
            <a:r>
              <a:rPr lang="en-GB" sz="1800" dirty="0" smtClean="0"/>
              <a:t>.</a:t>
            </a:r>
          </a:p>
        </p:txBody>
      </p:sp>
      <p:sp>
        <p:nvSpPr>
          <p:cNvPr id="2" name="Slide Number Placeholder 1"/>
          <p:cNvSpPr>
            <a:spLocks noGrp="1"/>
          </p:cNvSpPr>
          <p:nvPr>
            <p:ph type="sldNum" sz="quarter" idx="12"/>
          </p:nvPr>
        </p:nvSpPr>
        <p:spPr/>
        <p:txBody>
          <a:bodyPr/>
          <a:lstStyle/>
          <a:p>
            <a:fld id="{243F0035-4B67-4B88-B2A0-536AE2AEED21}" type="slidenum">
              <a:rPr lang="en-US" smtClean="0"/>
              <a:pPr/>
              <a:t>18</a:t>
            </a:fld>
            <a:endParaRPr lang="en-US"/>
          </a:p>
        </p:txBody>
      </p:sp>
    </p:spTree>
    <p:extLst>
      <p:ext uri="{BB962C8B-B14F-4D97-AF65-F5344CB8AC3E}">
        <p14:creationId xmlns:p14="http://schemas.microsoft.com/office/powerpoint/2010/main" val="387023848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Test Levels – Unit (Component) Testing</a:t>
            </a:r>
            <a:endParaRPr lang="en-US" sz="2800" dirty="0"/>
          </a:p>
        </p:txBody>
      </p:sp>
      <p:sp>
        <p:nvSpPr>
          <p:cNvPr id="7" name="Content Placeholder 2"/>
          <p:cNvSpPr>
            <a:spLocks noGrp="1"/>
          </p:cNvSpPr>
          <p:nvPr>
            <p:ph idx="1"/>
          </p:nvPr>
        </p:nvSpPr>
        <p:spPr>
          <a:xfrm>
            <a:off x="609600" y="533400"/>
            <a:ext cx="8229600" cy="6172200"/>
          </a:xfrm>
        </p:spPr>
        <p:txBody>
          <a:bodyPr>
            <a:noAutofit/>
          </a:bodyPr>
          <a:lstStyle/>
          <a:p>
            <a:r>
              <a:rPr lang="en-GB" sz="1800" dirty="0" smtClean="0"/>
              <a:t>Unit </a:t>
            </a:r>
            <a:r>
              <a:rPr lang="en-GB" sz="1800" dirty="0"/>
              <a:t>testing is often supported by a </a:t>
            </a:r>
            <a:r>
              <a:rPr lang="en-GB" sz="1800" b="1" dirty="0"/>
              <a:t>unit test framework </a:t>
            </a:r>
            <a:r>
              <a:rPr lang="en-GB" sz="1800" dirty="0"/>
              <a:t>(e.g. Kent Beck’s Smalltalk Testing Framework: http:// xprogramming.com/testfram.htm). In addition, </a:t>
            </a:r>
            <a:r>
              <a:rPr lang="en-GB" sz="1800" b="1" dirty="0"/>
              <a:t>debugging tools are often used</a:t>
            </a:r>
            <a:r>
              <a:rPr lang="en-GB" sz="1800" dirty="0"/>
              <a:t>.</a:t>
            </a:r>
          </a:p>
          <a:p>
            <a:r>
              <a:rPr lang="en-GB" sz="1800" dirty="0"/>
              <a:t>An approach to unit testing is called </a:t>
            </a:r>
            <a:r>
              <a:rPr lang="en-GB" sz="1800" b="1" dirty="0"/>
              <a:t>Test Driven Development</a:t>
            </a:r>
            <a:r>
              <a:rPr lang="en-GB" sz="1800" dirty="0"/>
              <a:t>. As its name suggests, </a:t>
            </a:r>
            <a:r>
              <a:rPr lang="en-GB" sz="1800" b="1" dirty="0"/>
              <a:t>test cases </a:t>
            </a:r>
            <a:r>
              <a:rPr lang="en-GB" sz="1800" dirty="0"/>
              <a:t>are written first, code built, tested and changed until the unit passes its tests. This is an iterative approach to unit testing.</a:t>
            </a:r>
          </a:p>
          <a:p>
            <a:r>
              <a:rPr lang="en-GB" sz="1800" dirty="0"/>
              <a:t>Unit testing is usually performed by the developer who wrote the code (and who may also have written the program specification). </a:t>
            </a:r>
            <a:r>
              <a:rPr lang="en-GB" sz="1800" b="1" dirty="0"/>
              <a:t>Defects found and fixed during unit testing are often not recorded.</a:t>
            </a:r>
          </a:p>
          <a:p>
            <a:pPr>
              <a:buNone/>
            </a:pPr>
            <a:endParaRPr lang="en-GB" sz="1800" b="1" dirty="0" smtClean="0"/>
          </a:p>
        </p:txBody>
      </p:sp>
      <p:sp>
        <p:nvSpPr>
          <p:cNvPr id="2" name="Slide Number Placeholder 1"/>
          <p:cNvSpPr>
            <a:spLocks noGrp="1"/>
          </p:cNvSpPr>
          <p:nvPr>
            <p:ph type="sldNum" sz="quarter" idx="12"/>
          </p:nvPr>
        </p:nvSpPr>
        <p:spPr/>
        <p:txBody>
          <a:bodyPr/>
          <a:lstStyle/>
          <a:p>
            <a:fld id="{243F0035-4B67-4B88-B2A0-536AE2AEED21}" type="slidenum">
              <a:rPr lang="en-US" smtClean="0"/>
              <a:pPr/>
              <a:t>19</a:t>
            </a:fld>
            <a:endParaRPr lang="en-US"/>
          </a:p>
        </p:txBody>
      </p:sp>
    </p:spTree>
    <p:extLst>
      <p:ext uri="{BB962C8B-B14F-4D97-AF65-F5344CB8AC3E}">
        <p14:creationId xmlns:p14="http://schemas.microsoft.com/office/powerpoint/2010/main" val="355167273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Test Levels – Integration Testing</a:t>
            </a:r>
            <a:endParaRPr lang="en-US" sz="2800" dirty="0"/>
          </a:p>
        </p:txBody>
      </p:sp>
      <p:sp>
        <p:nvSpPr>
          <p:cNvPr id="7" name="Content Placeholder 2"/>
          <p:cNvSpPr>
            <a:spLocks noGrp="1"/>
          </p:cNvSpPr>
          <p:nvPr>
            <p:ph idx="1"/>
          </p:nvPr>
        </p:nvSpPr>
        <p:spPr>
          <a:xfrm>
            <a:off x="609600" y="533400"/>
            <a:ext cx="8229600" cy="6172200"/>
          </a:xfrm>
        </p:spPr>
        <p:txBody>
          <a:bodyPr>
            <a:noAutofit/>
          </a:bodyPr>
          <a:lstStyle/>
          <a:p>
            <a:r>
              <a:rPr lang="en-GB" sz="1800" dirty="0"/>
              <a:t>Once the units have been written, the next stage would be to put them together to create the system. </a:t>
            </a:r>
            <a:endParaRPr lang="en-GB" sz="1800" dirty="0" smtClean="0"/>
          </a:p>
          <a:p>
            <a:r>
              <a:rPr lang="en-GB" sz="1800" dirty="0" smtClean="0"/>
              <a:t>This </a:t>
            </a:r>
            <a:r>
              <a:rPr lang="en-GB" sz="1800" dirty="0"/>
              <a:t>is called integration. It involves building something large from a number of smaller pieces</a:t>
            </a:r>
            <a:r>
              <a:rPr lang="en-GB" sz="1800" dirty="0" smtClean="0"/>
              <a:t>.</a:t>
            </a:r>
          </a:p>
          <a:p>
            <a:r>
              <a:rPr lang="en-GB" sz="1800" dirty="0"/>
              <a:t>The purpose of integration testing is to expose defects in the interfaces and in the interactions between integrated components or systems. </a:t>
            </a:r>
            <a:endParaRPr lang="en-GB" sz="1800" dirty="0" smtClean="0"/>
          </a:p>
          <a:p>
            <a:r>
              <a:rPr lang="en-GB" sz="1800" dirty="0"/>
              <a:t>Thus the test bases for integration testing can include: the software and system design; a diagram of the system architecture; workflows and use-cases. </a:t>
            </a:r>
          </a:p>
          <a:p>
            <a:r>
              <a:rPr lang="en-GB" sz="1800" dirty="0"/>
              <a:t>The test objects would essentially be the interface code. This can include subsystems’ database implementations.</a:t>
            </a:r>
          </a:p>
          <a:p>
            <a:r>
              <a:rPr lang="en-GB" sz="1800" dirty="0"/>
              <a:t>Before integration testing can be planned, an integration strategy is required. This involves making decisions on how the system will be put together prior to testing. There are three commonly quoted integration strategies, as follows.</a:t>
            </a:r>
          </a:p>
          <a:p>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20</a:t>
            </a:fld>
            <a:endParaRPr lang="en-US"/>
          </a:p>
        </p:txBody>
      </p:sp>
      <p:cxnSp>
        <p:nvCxnSpPr>
          <p:cNvPr id="5" name="Straight Connector 4"/>
          <p:cNvCxnSpPr/>
          <p:nvPr/>
        </p:nvCxnSpPr>
        <p:spPr>
          <a:xfrm>
            <a:off x="1524000" y="4495800"/>
            <a:ext cx="0" cy="1524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524000" y="4800600"/>
            <a:ext cx="990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524000" y="5334000"/>
            <a:ext cx="990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524000" y="6019800"/>
            <a:ext cx="990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590800" y="4648200"/>
            <a:ext cx="5562600" cy="523220"/>
          </a:xfrm>
          <a:prstGeom prst="rect">
            <a:avLst/>
          </a:prstGeom>
          <a:noFill/>
        </p:spPr>
        <p:txBody>
          <a:bodyPr wrap="square" rtlCol="0">
            <a:spAutoFit/>
          </a:bodyPr>
          <a:lstStyle/>
          <a:p>
            <a:r>
              <a:rPr lang="en-GB" sz="1400" b="1" dirty="0" smtClean="0"/>
              <a:t>Big </a:t>
            </a:r>
            <a:r>
              <a:rPr lang="en-GB" sz="1400" b="1" dirty="0"/>
              <a:t>Bang Integration - </a:t>
            </a:r>
            <a:r>
              <a:rPr lang="en-GB" sz="1400" dirty="0"/>
              <a:t>This is where all units are linked at once, resulting in a complete system. </a:t>
            </a:r>
            <a:endParaRPr lang="en-US" sz="1400" dirty="0"/>
          </a:p>
        </p:txBody>
      </p:sp>
      <p:sp>
        <p:nvSpPr>
          <p:cNvPr id="12" name="TextBox 11"/>
          <p:cNvSpPr txBox="1"/>
          <p:nvPr/>
        </p:nvSpPr>
        <p:spPr>
          <a:xfrm>
            <a:off x="2590800" y="5130820"/>
            <a:ext cx="5562600" cy="738664"/>
          </a:xfrm>
          <a:prstGeom prst="rect">
            <a:avLst/>
          </a:prstGeom>
          <a:noFill/>
        </p:spPr>
        <p:txBody>
          <a:bodyPr wrap="square" rtlCol="0">
            <a:spAutoFit/>
          </a:bodyPr>
          <a:lstStyle/>
          <a:p>
            <a:r>
              <a:rPr lang="en-GB" sz="1400" b="1" dirty="0" smtClean="0"/>
              <a:t>Top </a:t>
            </a:r>
            <a:r>
              <a:rPr lang="en-GB" sz="1400" b="1" dirty="0"/>
              <a:t>down integration - </a:t>
            </a:r>
            <a:r>
              <a:rPr lang="en-GB" sz="1400" dirty="0"/>
              <a:t>This is where the system is built in stages, starting with components that call other components. Components that call others are usually placed above those that are called. </a:t>
            </a:r>
            <a:endParaRPr lang="en-US" sz="1400" dirty="0"/>
          </a:p>
        </p:txBody>
      </p:sp>
      <p:sp>
        <p:nvSpPr>
          <p:cNvPr id="13" name="TextBox 12"/>
          <p:cNvSpPr txBox="1"/>
          <p:nvPr/>
        </p:nvSpPr>
        <p:spPr>
          <a:xfrm>
            <a:off x="2590800" y="5844602"/>
            <a:ext cx="5562600" cy="523220"/>
          </a:xfrm>
          <a:prstGeom prst="rect">
            <a:avLst/>
          </a:prstGeom>
          <a:noFill/>
        </p:spPr>
        <p:txBody>
          <a:bodyPr wrap="square" rtlCol="0">
            <a:spAutoFit/>
          </a:bodyPr>
          <a:lstStyle/>
          <a:p>
            <a:r>
              <a:rPr lang="en-GB" sz="1400" b="1" dirty="0" smtClean="0"/>
              <a:t>Bottom </a:t>
            </a:r>
            <a:r>
              <a:rPr lang="en-GB" sz="1400" b="1" dirty="0"/>
              <a:t>up integration - </a:t>
            </a:r>
            <a:r>
              <a:rPr lang="en-GB" sz="1400" dirty="0"/>
              <a:t>This is the opposite of top-down integration and the components are integrated in a bottom-up order.</a:t>
            </a:r>
          </a:p>
        </p:txBody>
      </p:sp>
    </p:spTree>
    <p:extLst>
      <p:ext uri="{BB962C8B-B14F-4D97-AF65-F5344CB8AC3E}">
        <p14:creationId xmlns:p14="http://schemas.microsoft.com/office/powerpoint/2010/main" val="258770751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Test Levels – Integration Testing …</a:t>
            </a:r>
            <a:endParaRPr lang="en-US" sz="2800" dirty="0"/>
          </a:p>
        </p:txBody>
      </p:sp>
      <p:sp>
        <p:nvSpPr>
          <p:cNvPr id="7" name="Content Placeholder 2"/>
          <p:cNvSpPr>
            <a:spLocks noGrp="1"/>
          </p:cNvSpPr>
          <p:nvPr>
            <p:ph idx="1"/>
          </p:nvPr>
        </p:nvSpPr>
        <p:spPr>
          <a:xfrm>
            <a:off x="609600" y="533400"/>
            <a:ext cx="8229600" cy="6172200"/>
          </a:xfrm>
        </p:spPr>
        <p:txBody>
          <a:bodyPr>
            <a:noAutofit/>
          </a:bodyPr>
          <a:lstStyle/>
          <a:p>
            <a:r>
              <a:rPr lang="en-GB" sz="1800" dirty="0"/>
              <a:t>There may be more than one level of integration testing. For example:</a:t>
            </a:r>
          </a:p>
          <a:p>
            <a:pPr lvl="1"/>
            <a:r>
              <a:rPr lang="en-GB" sz="1800" b="1" dirty="0"/>
              <a:t>Component integration </a:t>
            </a:r>
            <a:r>
              <a:rPr lang="en-GB" sz="1800" b="1" dirty="0" smtClean="0"/>
              <a:t>testing</a:t>
            </a:r>
          </a:p>
          <a:p>
            <a:pPr lvl="2"/>
            <a:r>
              <a:rPr lang="en-GB" sz="1800" dirty="0" smtClean="0"/>
              <a:t>Focuses </a:t>
            </a:r>
            <a:r>
              <a:rPr lang="en-GB" sz="1800" dirty="0"/>
              <a:t>on the interactions between software components and is done after component (unit) testing. </a:t>
            </a:r>
            <a:endParaRPr lang="en-GB" sz="1800" dirty="0" smtClean="0"/>
          </a:p>
          <a:p>
            <a:pPr lvl="2"/>
            <a:r>
              <a:rPr lang="en-GB" sz="1800" dirty="0" smtClean="0"/>
              <a:t>This </a:t>
            </a:r>
            <a:r>
              <a:rPr lang="en-GB" sz="1800" dirty="0"/>
              <a:t>type of integration testing is usually carried out by developers. </a:t>
            </a:r>
            <a:endParaRPr lang="en-GB" sz="1800" dirty="0" smtClean="0"/>
          </a:p>
          <a:p>
            <a:pPr lvl="1"/>
            <a:r>
              <a:rPr lang="en-GB" sz="1800" b="1" dirty="0" smtClean="0"/>
              <a:t>System </a:t>
            </a:r>
            <a:r>
              <a:rPr lang="en-GB" sz="1800" b="1" dirty="0"/>
              <a:t>integration testing </a:t>
            </a:r>
            <a:endParaRPr lang="en-GB" sz="1800" b="1" dirty="0" smtClean="0"/>
          </a:p>
          <a:p>
            <a:pPr lvl="2"/>
            <a:r>
              <a:rPr lang="en-GB" sz="1800" dirty="0" smtClean="0"/>
              <a:t>Focuses </a:t>
            </a:r>
            <a:r>
              <a:rPr lang="en-GB" sz="1800" dirty="0"/>
              <a:t>on the interactions between different systems and may be done after system testing of each individual system. </a:t>
            </a:r>
            <a:endParaRPr lang="en-GB" sz="1800" dirty="0" smtClean="0"/>
          </a:p>
          <a:p>
            <a:pPr lvl="2"/>
            <a:r>
              <a:rPr lang="en-GB" sz="1800" dirty="0" smtClean="0"/>
              <a:t>For </a:t>
            </a:r>
            <a:r>
              <a:rPr lang="en-GB" sz="1800" dirty="0"/>
              <a:t>example, a trading system in an investment bank will interact with the stock exchange to get the latest prices for its stocks and shares on the international market. </a:t>
            </a:r>
            <a:endParaRPr lang="en-GB" sz="1800" dirty="0" smtClean="0"/>
          </a:p>
          <a:p>
            <a:pPr lvl="2"/>
            <a:r>
              <a:rPr lang="en-GB" sz="1800" dirty="0" smtClean="0"/>
              <a:t>This </a:t>
            </a:r>
            <a:r>
              <a:rPr lang="en-GB" sz="1800" dirty="0"/>
              <a:t>type of integration testing is usually carried out by testers.</a:t>
            </a:r>
          </a:p>
          <a:p>
            <a:pPr lvl="2"/>
            <a:r>
              <a:rPr lang="en-GB" sz="1800" dirty="0"/>
              <a:t>It should be noted that testing at system integration level carries extra elements of risk</a:t>
            </a:r>
            <a:r>
              <a:rPr lang="en-GB" sz="1800" dirty="0" smtClean="0"/>
              <a:t>.</a:t>
            </a:r>
          </a:p>
          <a:p>
            <a:pPr lvl="2"/>
            <a:r>
              <a:rPr lang="en-GB" sz="1800" dirty="0" smtClean="0"/>
              <a:t>These </a:t>
            </a:r>
            <a:r>
              <a:rPr lang="en-GB" sz="1800" dirty="0"/>
              <a:t>can include: at a technical level, cross-platform issues; at an operational level, business workflow issues; and at a business level, risks associated with ownership of regression issues associated with change in one system possibly having a knock-on effect on other systems.</a:t>
            </a:r>
          </a:p>
        </p:txBody>
      </p:sp>
      <p:sp>
        <p:nvSpPr>
          <p:cNvPr id="2" name="Slide Number Placeholder 1"/>
          <p:cNvSpPr>
            <a:spLocks noGrp="1"/>
          </p:cNvSpPr>
          <p:nvPr>
            <p:ph type="sldNum" sz="quarter" idx="12"/>
          </p:nvPr>
        </p:nvSpPr>
        <p:spPr/>
        <p:txBody>
          <a:bodyPr/>
          <a:lstStyle/>
          <a:p>
            <a:fld id="{243F0035-4B67-4B88-B2A0-536AE2AEED21}" type="slidenum">
              <a:rPr lang="en-US" smtClean="0"/>
              <a:pPr/>
              <a:t>21</a:t>
            </a:fld>
            <a:endParaRPr lang="en-US"/>
          </a:p>
        </p:txBody>
      </p:sp>
    </p:spTree>
    <p:extLst>
      <p:ext uri="{BB962C8B-B14F-4D97-AF65-F5344CB8AC3E}">
        <p14:creationId xmlns:p14="http://schemas.microsoft.com/office/powerpoint/2010/main" val="195896561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Test Levels – System Testing</a:t>
            </a:r>
            <a:endParaRPr lang="en-US" sz="2800" dirty="0"/>
          </a:p>
        </p:txBody>
      </p:sp>
      <p:sp>
        <p:nvSpPr>
          <p:cNvPr id="7" name="Content Placeholder 2"/>
          <p:cNvSpPr>
            <a:spLocks noGrp="1"/>
          </p:cNvSpPr>
          <p:nvPr>
            <p:ph idx="1"/>
          </p:nvPr>
        </p:nvSpPr>
        <p:spPr>
          <a:xfrm>
            <a:off x="609600" y="533400"/>
            <a:ext cx="8229600" cy="6172200"/>
          </a:xfrm>
        </p:spPr>
        <p:txBody>
          <a:bodyPr>
            <a:noAutofit/>
          </a:bodyPr>
          <a:lstStyle/>
          <a:p>
            <a:r>
              <a:rPr lang="en-GB" sz="2000" dirty="0" smtClean="0"/>
              <a:t>System testing is to </a:t>
            </a:r>
            <a:r>
              <a:rPr lang="en-GB" sz="2000" dirty="0"/>
              <a:t>consider the functionality from an end-to-end </a:t>
            </a:r>
            <a:r>
              <a:rPr lang="en-GB" sz="2000" dirty="0" smtClean="0"/>
              <a:t>perspective.</a:t>
            </a:r>
          </a:p>
          <a:p>
            <a:r>
              <a:rPr lang="en-GB" sz="2000" dirty="0" smtClean="0"/>
              <a:t>To test the system for functional and non functional requirements in detail.</a:t>
            </a:r>
          </a:p>
          <a:p>
            <a:r>
              <a:rPr lang="en-GB" sz="2000" dirty="0"/>
              <a:t>The amount of testing required at system testing, however, can be influenced by the amount of testing carried out (if any) at the previous stages. </a:t>
            </a:r>
            <a:endParaRPr lang="en-GB" sz="2000" dirty="0" smtClean="0"/>
          </a:p>
          <a:p>
            <a:r>
              <a:rPr lang="en-GB" sz="2000" dirty="0" smtClean="0"/>
              <a:t>In </a:t>
            </a:r>
            <a:r>
              <a:rPr lang="en-GB" sz="2000" dirty="0"/>
              <a:t>addition, the amount of testing advisable would also depend on the amount of verification carried out on the </a:t>
            </a:r>
            <a:r>
              <a:rPr lang="en-GB" sz="2000" dirty="0" smtClean="0"/>
              <a:t>requirements.</a:t>
            </a:r>
          </a:p>
          <a:p>
            <a:r>
              <a:rPr lang="en-GB" sz="2000" dirty="0"/>
              <a:t>Test bases for system testing can include: system and software requirement specifications; use cases; functional specifications; risk analysis reports; and system, user and operation manuals. </a:t>
            </a:r>
          </a:p>
          <a:p>
            <a:r>
              <a:rPr lang="en-GB" sz="2000" dirty="0"/>
              <a:t>The test object will generally be the system under test.</a:t>
            </a:r>
          </a:p>
          <a:p>
            <a:endParaRPr lang="en-GB" sz="2000" dirty="0" smtClean="0"/>
          </a:p>
        </p:txBody>
      </p:sp>
      <p:sp>
        <p:nvSpPr>
          <p:cNvPr id="2" name="Slide Number Placeholder 1"/>
          <p:cNvSpPr>
            <a:spLocks noGrp="1"/>
          </p:cNvSpPr>
          <p:nvPr>
            <p:ph type="sldNum" sz="quarter" idx="12"/>
          </p:nvPr>
        </p:nvSpPr>
        <p:spPr/>
        <p:txBody>
          <a:bodyPr/>
          <a:lstStyle/>
          <a:p>
            <a:fld id="{243F0035-4B67-4B88-B2A0-536AE2AEED21}" type="slidenum">
              <a:rPr lang="en-US" smtClean="0"/>
              <a:pPr/>
              <a:t>22</a:t>
            </a:fld>
            <a:endParaRPr lang="en-US"/>
          </a:p>
        </p:txBody>
      </p:sp>
    </p:spTree>
    <p:extLst>
      <p:ext uri="{BB962C8B-B14F-4D97-AF65-F5344CB8AC3E}">
        <p14:creationId xmlns:p14="http://schemas.microsoft.com/office/powerpoint/2010/main" val="31796108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533400"/>
          </a:xfrm>
        </p:spPr>
        <p:txBody>
          <a:bodyPr>
            <a:noAutofit/>
          </a:bodyPr>
          <a:lstStyle/>
          <a:p>
            <a:r>
              <a:rPr lang="en-GB" sz="2400" dirty="0" smtClean="0"/>
              <a:t>Test Levels – Acceptance Testing</a:t>
            </a:r>
            <a:endParaRPr lang="en-US" sz="2400" dirty="0"/>
          </a:p>
        </p:txBody>
      </p:sp>
      <p:sp>
        <p:nvSpPr>
          <p:cNvPr id="7" name="Content Placeholder 2"/>
          <p:cNvSpPr>
            <a:spLocks noGrp="1"/>
          </p:cNvSpPr>
          <p:nvPr>
            <p:ph idx="1"/>
          </p:nvPr>
        </p:nvSpPr>
        <p:spPr>
          <a:xfrm>
            <a:off x="609600" y="457200"/>
            <a:ext cx="8229600" cy="6400800"/>
          </a:xfrm>
        </p:spPr>
        <p:txBody>
          <a:bodyPr>
            <a:noAutofit/>
          </a:bodyPr>
          <a:lstStyle/>
          <a:p>
            <a:r>
              <a:rPr lang="en-GB" sz="1800" dirty="0" smtClean="0"/>
              <a:t>The </a:t>
            </a:r>
            <a:r>
              <a:rPr lang="en-GB" sz="1800" dirty="0"/>
              <a:t>purpose of acceptance testing is to provide the end users with confidence that the system will function according to their expectations</a:t>
            </a:r>
            <a:r>
              <a:rPr lang="en-GB" sz="1800" dirty="0" smtClean="0"/>
              <a:t>.</a:t>
            </a:r>
          </a:p>
          <a:p>
            <a:r>
              <a:rPr lang="en-GB" sz="1800" dirty="0"/>
              <a:t>Referring once more to the V-model, acceptance testing will be carried out using the requirement specification as a basis for test.</a:t>
            </a:r>
          </a:p>
          <a:p>
            <a:r>
              <a:rPr lang="en-GB" sz="1800" b="1" dirty="0" smtClean="0"/>
              <a:t>The </a:t>
            </a:r>
            <a:r>
              <a:rPr lang="en-GB" sz="1800" b="1" dirty="0"/>
              <a:t>test bases can include: </a:t>
            </a:r>
            <a:r>
              <a:rPr lang="en-GB" sz="1800" dirty="0"/>
              <a:t>user requirements; system requirements; use cases; business processes; and risk analysis reports. </a:t>
            </a:r>
          </a:p>
          <a:p>
            <a:r>
              <a:rPr lang="en-GB" sz="1800" b="1" dirty="0"/>
              <a:t>The test objects can include: </a:t>
            </a:r>
            <a:r>
              <a:rPr lang="en-GB" sz="1800" dirty="0"/>
              <a:t>the fully integrated system; forms and reports produced by the system</a:t>
            </a:r>
            <a:r>
              <a:rPr lang="en-GB" sz="1800" dirty="0" smtClean="0"/>
              <a:t>.</a:t>
            </a:r>
          </a:p>
          <a:p>
            <a:r>
              <a:rPr lang="en-GB" sz="1800" dirty="0" smtClean="0"/>
              <a:t>Acceptance </a:t>
            </a:r>
            <a:r>
              <a:rPr lang="en-GB" sz="1800" dirty="0"/>
              <a:t>testing may assess the system’s readiness for deployment and use.</a:t>
            </a:r>
          </a:p>
          <a:p>
            <a:r>
              <a:rPr lang="en-GB" sz="1800" dirty="0"/>
              <a:t>Acceptance testing is often the responsibility of the customers or users of a system, although other project team members may be involved as well</a:t>
            </a:r>
            <a:r>
              <a:rPr lang="en-GB" sz="1800" dirty="0" smtClean="0"/>
              <a:t>.</a:t>
            </a:r>
          </a:p>
          <a:p>
            <a:r>
              <a:rPr lang="en-GB" sz="1800" b="1" dirty="0" smtClean="0"/>
              <a:t>Forms of acceptance testing</a:t>
            </a:r>
            <a:r>
              <a:rPr lang="en-GB" sz="1800" dirty="0" smtClean="0"/>
              <a:t>:</a:t>
            </a:r>
            <a:endParaRPr lang="en-GB" sz="1800" dirty="0"/>
          </a:p>
          <a:p>
            <a:endParaRPr lang="en-GB" sz="2000" dirty="0"/>
          </a:p>
          <a:p>
            <a:endParaRPr lang="en-GB" sz="20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23</a:t>
            </a:fld>
            <a:endParaRPr lang="en-US"/>
          </a:p>
        </p:txBody>
      </p:sp>
      <p:cxnSp>
        <p:nvCxnSpPr>
          <p:cNvPr id="4" name="Straight Connector 3"/>
          <p:cNvCxnSpPr/>
          <p:nvPr/>
        </p:nvCxnSpPr>
        <p:spPr>
          <a:xfrm>
            <a:off x="1524000" y="4114800"/>
            <a:ext cx="0" cy="2362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524000" y="4419600"/>
            <a:ext cx="990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524000" y="4953000"/>
            <a:ext cx="990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1524000" y="5638800"/>
            <a:ext cx="990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1524000" y="6477000"/>
            <a:ext cx="990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2514600" y="6248400"/>
            <a:ext cx="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2514600" y="6248400"/>
            <a:ext cx="3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514600" y="6621780"/>
            <a:ext cx="3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590800" y="4267200"/>
            <a:ext cx="5562600" cy="523220"/>
          </a:xfrm>
          <a:prstGeom prst="rect">
            <a:avLst/>
          </a:prstGeom>
          <a:noFill/>
        </p:spPr>
        <p:txBody>
          <a:bodyPr wrap="square" rtlCol="0">
            <a:spAutoFit/>
          </a:bodyPr>
          <a:lstStyle/>
          <a:p>
            <a:r>
              <a:rPr lang="en-GB" sz="1400" b="1" dirty="0" smtClean="0"/>
              <a:t>User </a:t>
            </a:r>
            <a:r>
              <a:rPr lang="en-GB" sz="1400" b="1" dirty="0"/>
              <a:t>acceptance testing </a:t>
            </a:r>
            <a:r>
              <a:rPr lang="en-GB" sz="1400" dirty="0"/>
              <a:t>-  testing by user representatives to check that the system meets their business needs. </a:t>
            </a:r>
            <a:endParaRPr lang="en-US" sz="1400" dirty="0"/>
          </a:p>
        </p:txBody>
      </p:sp>
      <p:sp>
        <p:nvSpPr>
          <p:cNvPr id="21" name="TextBox 20"/>
          <p:cNvSpPr txBox="1"/>
          <p:nvPr/>
        </p:nvSpPr>
        <p:spPr>
          <a:xfrm>
            <a:off x="2590800" y="4749820"/>
            <a:ext cx="5562600" cy="738664"/>
          </a:xfrm>
          <a:prstGeom prst="rect">
            <a:avLst/>
          </a:prstGeom>
          <a:noFill/>
        </p:spPr>
        <p:txBody>
          <a:bodyPr wrap="square" rtlCol="0">
            <a:spAutoFit/>
          </a:bodyPr>
          <a:lstStyle/>
          <a:p>
            <a:r>
              <a:rPr lang="en-GB" sz="1400" b="1" dirty="0" smtClean="0"/>
              <a:t>Operational acceptance </a:t>
            </a:r>
            <a:r>
              <a:rPr lang="en-GB" sz="1400" b="1" dirty="0"/>
              <a:t>testing </a:t>
            </a:r>
            <a:r>
              <a:rPr lang="en-GB" sz="1400" dirty="0" smtClean="0"/>
              <a:t>(operational </a:t>
            </a:r>
            <a:r>
              <a:rPr lang="en-GB" sz="1400" dirty="0"/>
              <a:t>readiness </a:t>
            </a:r>
            <a:r>
              <a:rPr lang="en-GB" sz="1400" dirty="0" smtClean="0"/>
              <a:t>testing) -  </a:t>
            </a:r>
            <a:r>
              <a:rPr lang="en-GB" sz="1400" dirty="0"/>
              <a:t>involves checking that the processes and procedures are in place to allow the system to be used and maintained.</a:t>
            </a:r>
            <a:endParaRPr lang="en-US" sz="1400" dirty="0"/>
          </a:p>
        </p:txBody>
      </p:sp>
      <p:sp>
        <p:nvSpPr>
          <p:cNvPr id="22" name="TextBox 21"/>
          <p:cNvSpPr txBox="1"/>
          <p:nvPr/>
        </p:nvSpPr>
        <p:spPr>
          <a:xfrm>
            <a:off x="2590800" y="5463602"/>
            <a:ext cx="5562600" cy="307777"/>
          </a:xfrm>
          <a:prstGeom prst="rect">
            <a:avLst/>
          </a:prstGeom>
          <a:noFill/>
        </p:spPr>
        <p:txBody>
          <a:bodyPr wrap="square" rtlCol="0">
            <a:spAutoFit/>
          </a:bodyPr>
          <a:lstStyle/>
          <a:p>
            <a:r>
              <a:rPr lang="en-GB" sz="1400" b="1" dirty="0"/>
              <a:t>Contract and regulation acceptance testing</a:t>
            </a:r>
          </a:p>
        </p:txBody>
      </p:sp>
      <p:sp>
        <p:nvSpPr>
          <p:cNvPr id="23" name="TextBox 22"/>
          <p:cNvSpPr txBox="1"/>
          <p:nvPr/>
        </p:nvSpPr>
        <p:spPr>
          <a:xfrm>
            <a:off x="2910840" y="6080760"/>
            <a:ext cx="5562600" cy="307777"/>
          </a:xfrm>
          <a:prstGeom prst="rect">
            <a:avLst/>
          </a:prstGeom>
          <a:noFill/>
        </p:spPr>
        <p:txBody>
          <a:bodyPr wrap="square" rtlCol="0">
            <a:spAutoFit/>
          </a:bodyPr>
          <a:lstStyle/>
          <a:p>
            <a:r>
              <a:rPr lang="en-GB" sz="1400" b="1" dirty="0" smtClean="0"/>
              <a:t>Alpha </a:t>
            </a:r>
            <a:r>
              <a:rPr lang="en-GB" sz="1400" b="1" dirty="0"/>
              <a:t>testing </a:t>
            </a:r>
            <a:r>
              <a:rPr lang="en-GB" sz="1400" dirty="0"/>
              <a:t>- takes place at the developer’s site </a:t>
            </a:r>
          </a:p>
        </p:txBody>
      </p:sp>
      <p:sp>
        <p:nvSpPr>
          <p:cNvPr id="24" name="TextBox 23"/>
          <p:cNvSpPr txBox="1"/>
          <p:nvPr/>
        </p:nvSpPr>
        <p:spPr>
          <a:xfrm>
            <a:off x="2910840" y="6469380"/>
            <a:ext cx="5562600" cy="307777"/>
          </a:xfrm>
          <a:prstGeom prst="rect">
            <a:avLst/>
          </a:prstGeom>
          <a:noFill/>
        </p:spPr>
        <p:txBody>
          <a:bodyPr wrap="square" rtlCol="0">
            <a:spAutoFit/>
          </a:bodyPr>
          <a:lstStyle/>
          <a:p>
            <a:r>
              <a:rPr lang="en-GB" sz="1400" b="1" dirty="0"/>
              <a:t>Beta </a:t>
            </a:r>
            <a:r>
              <a:rPr lang="en-GB" sz="1400" b="1" dirty="0" smtClean="0"/>
              <a:t>testing (field testing) </a:t>
            </a:r>
            <a:r>
              <a:rPr lang="en-GB" sz="1400" dirty="0"/>
              <a:t>-  takes place at the customer’s site</a:t>
            </a:r>
          </a:p>
        </p:txBody>
      </p:sp>
    </p:spTree>
    <p:extLst>
      <p:ext uri="{BB962C8B-B14F-4D97-AF65-F5344CB8AC3E}">
        <p14:creationId xmlns:p14="http://schemas.microsoft.com/office/powerpoint/2010/main" val="56953792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Test Types</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a:t>Test types fall into the following categories:</a:t>
            </a:r>
          </a:p>
          <a:p>
            <a:pPr lvl="1"/>
            <a:r>
              <a:rPr lang="en-GB" sz="1800" b="1" dirty="0"/>
              <a:t>Functional testing </a:t>
            </a:r>
            <a:r>
              <a:rPr lang="en-GB" sz="1800" dirty="0"/>
              <a:t>- looks at the specific functionality of a system,</a:t>
            </a:r>
            <a:endParaRPr lang="en-GB" sz="1800" dirty="0" smtClean="0"/>
          </a:p>
          <a:p>
            <a:pPr lvl="1"/>
            <a:r>
              <a:rPr lang="en-GB" sz="1800" b="1" dirty="0" smtClean="0"/>
              <a:t>Non-functional </a:t>
            </a:r>
            <a:r>
              <a:rPr lang="en-GB" sz="1800" b="1" dirty="0"/>
              <a:t>testing </a:t>
            </a:r>
            <a:r>
              <a:rPr lang="en-GB" sz="1800" dirty="0"/>
              <a:t>- This is where the behavioural aspects of the system are tested. </a:t>
            </a:r>
            <a:endParaRPr lang="en-GB" sz="1800" dirty="0" smtClean="0"/>
          </a:p>
          <a:p>
            <a:pPr lvl="1"/>
            <a:r>
              <a:rPr lang="en-GB" sz="1800" b="1" dirty="0" smtClean="0"/>
              <a:t>Structural </a:t>
            </a:r>
            <a:r>
              <a:rPr lang="en-GB" sz="1800" b="1" dirty="0"/>
              <a:t>testing </a:t>
            </a:r>
            <a:r>
              <a:rPr lang="en-GB" sz="1800" dirty="0"/>
              <a:t>- In structural testing, we change our measure to focus on the structural aspects of the system. This could be the code itself, or an architectural definition of the system.</a:t>
            </a:r>
            <a:endParaRPr lang="en-GB" sz="1800" dirty="0" smtClean="0"/>
          </a:p>
          <a:p>
            <a:pPr lvl="1"/>
            <a:r>
              <a:rPr lang="en-GB" sz="1800" b="1" dirty="0" smtClean="0"/>
              <a:t>Testing </a:t>
            </a:r>
            <a:r>
              <a:rPr lang="en-GB" sz="1800" b="1" dirty="0"/>
              <a:t>after code has been </a:t>
            </a:r>
            <a:r>
              <a:rPr lang="en-GB" sz="1800" b="1" dirty="0" smtClean="0"/>
              <a:t>changed</a:t>
            </a:r>
            <a:r>
              <a:rPr lang="en-GB" sz="1800" b="1" dirty="0"/>
              <a:t> </a:t>
            </a:r>
            <a:r>
              <a:rPr lang="en-GB" sz="1800" dirty="0" smtClean="0"/>
              <a:t>– retesting and regression testing</a:t>
            </a:r>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24</a:t>
            </a:fld>
            <a:endParaRPr lang="en-US"/>
          </a:p>
        </p:txBody>
      </p:sp>
    </p:spTree>
    <p:extLst>
      <p:ext uri="{BB962C8B-B14F-4D97-AF65-F5344CB8AC3E}">
        <p14:creationId xmlns:p14="http://schemas.microsoft.com/office/powerpoint/2010/main" val="264471950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Maintenance Testing</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a:t> </a:t>
            </a:r>
            <a:r>
              <a:rPr lang="en-GB" sz="1800" dirty="0" smtClean="0"/>
              <a:t>Maintenance testing is a testing </a:t>
            </a:r>
            <a:r>
              <a:rPr lang="en-GB" sz="1800" dirty="0"/>
              <a:t>required when a system has been released, but a change has become necessary </a:t>
            </a:r>
            <a:endParaRPr lang="en-GB" sz="1800" dirty="0" smtClean="0"/>
          </a:p>
          <a:p>
            <a:r>
              <a:rPr lang="en-GB" sz="1800" dirty="0"/>
              <a:t> </a:t>
            </a:r>
            <a:r>
              <a:rPr lang="en-GB" sz="1800" dirty="0" smtClean="0"/>
              <a:t>There is a </a:t>
            </a:r>
            <a:r>
              <a:rPr lang="en-GB" sz="1800" dirty="0"/>
              <a:t>need for impact analysis in deciding how much regression testing to do after the changes have been implemented. </a:t>
            </a:r>
          </a:p>
        </p:txBody>
      </p:sp>
      <p:sp>
        <p:nvSpPr>
          <p:cNvPr id="2" name="Slide Number Placeholder 1"/>
          <p:cNvSpPr>
            <a:spLocks noGrp="1"/>
          </p:cNvSpPr>
          <p:nvPr>
            <p:ph type="sldNum" sz="quarter" idx="12"/>
          </p:nvPr>
        </p:nvSpPr>
        <p:spPr/>
        <p:txBody>
          <a:bodyPr/>
          <a:lstStyle/>
          <a:p>
            <a:fld id="{243F0035-4B67-4B88-B2A0-536AE2AEED21}" type="slidenum">
              <a:rPr lang="en-US" smtClean="0"/>
              <a:pPr/>
              <a:t>25</a:t>
            </a:fld>
            <a:endParaRPr lang="en-US"/>
          </a:p>
        </p:txBody>
      </p:sp>
    </p:spTree>
    <p:extLst>
      <p:ext uri="{BB962C8B-B14F-4D97-AF65-F5344CB8AC3E}">
        <p14:creationId xmlns:p14="http://schemas.microsoft.com/office/powerpoint/2010/main" val="416239512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V model and </a:t>
            </a:r>
            <a:r>
              <a:rPr lang="en-GB" sz="2800" dirty="0"/>
              <a:t>V</a:t>
            </a:r>
            <a:r>
              <a:rPr lang="en-GB" sz="2800" dirty="0" smtClean="0"/>
              <a:t>erification Validation</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a:t>The V-model typically has the following work-products and activities:</a:t>
            </a:r>
          </a:p>
          <a:p>
            <a:pPr marL="800100" lvl="1" indent="-342900">
              <a:buAutoNum type="arabicParenBoth"/>
            </a:pPr>
            <a:r>
              <a:rPr lang="en-GB" sz="1800" dirty="0" smtClean="0"/>
              <a:t>Requirement specification</a:t>
            </a:r>
          </a:p>
          <a:p>
            <a:pPr marL="800100" lvl="1" indent="-342900">
              <a:buAutoNum type="arabicParenBoth"/>
            </a:pPr>
            <a:r>
              <a:rPr lang="en-GB" sz="1800" dirty="0" smtClean="0"/>
              <a:t>Functional specification</a:t>
            </a:r>
          </a:p>
          <a:p>
            <a:pPr marL="800100" lvl="1" indent="-342900">
              <a:buAutoNum type="arabicParenBoth"/>
            </a:pPr>
            <a:r>
              <a:rPr lang="en-GB" sz="1800" dirty="0" smtClean="0"/>
              <a:t>Technical specification</a:t>
            </a:r>
          </a:p>
          <a:p>
            <a:pPr marL="800100" lvl="1" indent="-342900">
              <a:buAutoNum type="arabicParenBoth"/>
            </a:pPr>
            <a:r>
              <a:rPr lang="en-GB" sz="1800" dirty="0" smtClean="0"/>
              <a:t>Program specification</a:t>
            </a:r>
          </a:p>
          <a:p>
            <a:pPr marL="800100" lvl="1" indent="-342900">
              <a:buAutoNum type="arabicParenBoth"/>
            </a:pPr>
            <a:r>
              <a:rPr lang="en-GB" sz="1800" dirty="0" smtClean="0"/>
              <a:t>Code</a:t>
            </a:r>
          </a:p>
          <a:p>
            <a:pPr marL="800100" lvl="1" indent="-342900">
              <a:buAutoNum type="arabicParenBoth"/>
            </a:pPr>
            <a:r>
              <a:rPr lang="en-GB" sz="1800" dirty="0" smtClean="0"/>
              <a:t>Unit testing</a:t>
            </a:r>
          </a:p>
          <a:p>
            <a:pPr marL="800100" lvl="1" indent="-342900">
              <a:buAutoNum type="arabicParenBoth"/>
            </a:pPr>
            <a:r>
              <a:rPr lang="en-GB" sz="1800" dirty="0" smtClean="0"/>
              <a:t>Integration testing</a:t>
            </a:r>
          </a:p>
          <a:p>
            <a:pPr marL="800100" lvl="1" indent="-342900">
              <a:buAutoNum type="arabicParenBoth"/>
            </a:pPr>
            <a:r>
              <a:rPr lang="en-GB" sz="1800" dirty="0" smtClean="0"/>
              <a:t>System testing</a:t>
            </a:r>
          </a:p>
          <a:p>
            <a:pPr marL="800100" lvl="1" indent="-342900">
              <a:buAutoNum type="arabicParenBoth"/>
            </a:pPr>
            <a:r>
              <a:rPr lang="en-GB" sz="1800" dirty="0" smtClean="0"/>
              <a:t>Acceptance </a:t>
            </a:r>
            <a:r>
              <a:rPr lang="en-GB" sz="1800" dirty="0"/>
              <a:t>testing</a:t>
            </a:r>
          </a:p>
          <a:p>
            <a:r>
              <a:rPr lang="en-GB" sz="1800" dirty="0"/>
              <a:t>Work-products 1–5 would be subject to verification, to ensure that they have been created following the rules set out. For example, the program specification would be assessed to ensure that it meets the requirements set out in the technical specification, and that it contains sufficient detail for the code to be produced.</a:t>
            </a:r>
          </a:p>
          <a:p>
            <a:r>
              <a:rPr lang="en-GB" sz="1800" dirty="0"/>
              <a:t>In activities 6–9, the code is assessed progressively for compliance to user needs, as captured in the specifications for each level.</a:t>
            </a:r>
          </a:p>
        </p:txBody>
      </p:sp>
      <p:sp>
        <p:nvSpPr>
          <p:cNvPr id="2" name="Slide Number Placeholder 1"/>
          <p:cNvSpPr>
            <a:spLocks noGrp="1"/>
          </p:cNvSpPr>
          <p:nvPr>
            <p:ph type="sldNum" sz="quarter" idx="12"/>
          </p:nvPr>
        </p:nvSpPr>
        <p:spPr/>
        <p:txBody>
          <a:bodyPr/>
          <a:lstStyle/>
          <a:p>
            <a:fld id="{243F0035-4B67-4B88-B2A0-536AE2AEED21}" type="slidenum">
              <a:rPr lang="en-US" smtClean="0"/>
              <a:pPr/>
              <a:t>26</a:t>
            </a:fld>
            <a:endParaRPr lang="en-US"/>
          </a:p>
        </p:txBody>
      </p:sp>
    </p:spTree>
    <p:extLst>
      <p:ext uri="{BB962C8B-B14F-4D97-AF65-F5344CB8AC3E}">
        <p14:creationId xmlns:p14="http://schemas.microsoft.com/office/powerpoint/2010/main" val="258552743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584</TotalTime>
  <Words>3162</Words>
  <Application>Microsoft Office PowerPoint</Application>
  <PresentationFormat>On-screen Show (4:3)</PresentationFormat>
  <Paragraphs>248</Paragraphs>
  <Slides>26</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PowerPoint Presentation</vt:lpstr>
      <vt:lpstr>Testing</vt:lpstr>
      <vt:lpstr>Resources triangle</vt:lpstr>
      <vt:lpstr>Static and Dynamic Testing</vt:lpstr>
      <vt:lpstr>Retesting and Regression testing</vt:lpstr>
      <vt:lpstr>Effectiveness of the Tests</vt:lpstr>
      <vt:lpstr>Principles of testing</vt:lpstr>
      <vt:lpstr>Principles of testing</vt:lpstr>
      <vt:lpstr>Principles of testing</vt:lpstr>
      <vt:lpstr>SDLC</vt:lpstr>
      <vt:lpstr>Waterfall Model</vt:lpstr>
      <vt:lpstr>Remedy</vt:lpstr>
      <vt:lpstr>Remedy</vt:lpstr>
      <vt:lpstr>The V Model</vt:lpstr>
      <vt:lpstr>The V Model</vt:lpstr>
      <vt:lpstr>The V Model</vt:lpstr>
      <vt:lpstr>Test Levels</vt:lpstr>
      <vt:lpstr>Test Levels – Unit (Component) Testing …</vt:lpstr>
      <vt:lpstr>Test Levels – Unit (Component) Testing</vt:lpstr>
      <vt:lpstr>Test Levels – Integration Testing</vt:lpstr>
      <vt:lpstr>Test Levels – Integration Testing …</vt:lpstr>
      <vt:lpstr>Test Levels – System Testing</vt:lpstr>
      <vt:lpstr>Test Levels – Acceptance Testing</vt:lpstr>
      <vt:lpstr>Test Types</vt:lpstr>
      <vt:lpstr>Maintenance Testing</vt:lpstr>
      <vt:lpstr>V model and Verification Validation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Analysis</dc:title>
  <dc:creator>gulraiz</dc:creator>
  <cp:lastModifiedBy>Windows User</cp:lastModifiedBy>
  <cp:revision>170</cp:revision>
  <dcterms:created xsi:type="dcterms:W3CDTF">2014-08-12T16:29:38Z</dcterms:created>
  <dcterms:modified xsi:type="dcterms:W3CDTF">2023-10-18T08:31:07Z</dcterms:modified>
</cp:coreProperties>
</file>