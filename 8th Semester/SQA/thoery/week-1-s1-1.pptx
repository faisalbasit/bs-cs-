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7" r:id="rId2"/>
    <p:sldId id="258" r:id="rId3"/>
    <p:sldId id="279" r:id="rId4"/>
    <p:sldId id="280" r:id="rId5"/>
    <p:sldId id="282" r:id="rId6"/>
    <p:sldId id="283" r:id="rId7"/>
    <p:sldId id="284" r:id="rId8"/>
    <p:sldId id="278" r:id="rId9"/>
    <p:sldId id="259" r:id="rId10"/>
    <p:sldId id="260" r:id="rId11"/>
    <p:sldId id="263" r:id="rId12"/>
    <p:sldId id="264"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10/12/2023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10/12/2023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10/12/2023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10/12/2023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10/12/2023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cseducationlecture.wordpress.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99D8964A-8303-45DF-99A6-7A9E5BD07E42}"/>
              </a:ext>
            </a:extLst>
          </p:cNvPr>
          <p:cNvSpPr txBox="1"/>
          <p:nvPr/>
        </p:nvSpPr>
        <p:spPr>
          <a:xfrm>
            <a:off x="1603513" y="192155"/>
            <a:ext cx="7474226" cy="371061"/>
          </a:xfrm>
          <a:prstGeom prst="rect">
            <a:avLst/>
          </a:prstGeom>
          <a:noFill/>
        </p:spPr>
        <p:txBody>
          <a:bodyPr wrap="square" rtlCol="0">
            <a:spAutoFit/>
          </a:bodyPr>
          <a:lstStyle/>
          <a:p>
            <a:r>
              <a:rPr lang="en-US" dirty="0"/>
              <a:t>Sir Syed University of Engineering &amp; Technology, Karachi</a:t>
            </a:r>
          </a:p>
        </p:txBody>
      </p:sp>
      <p:sp>
        <p:nvSpPr>
          <p:cNvPr id="9" name="Title 1">
            <a:extLst>
              <a:ext uri="{FF2B5EF4-FFF2-40B4-BE49-F238E27FC236}">
                <a16:creationId xmlns="" xmlns:a16="http://schemas.microsoft.com/office/drawing/2014/main" id="{11F3346B-A340-42AA-BA33-0DABD69A99CA}"/>
              </a:ext>
            </a:extLst>
          </p:cNvPr>
          <p:cNvSpPr txBox="1">
            <a:spLocks/>
          </p:cNvSpPr>
          <p:nvPr/>
        </p:nvSpPr>
        <p:spPr>
          <a:xfrm>
            <a:off x="165942" y="1981200"/>
            <a:ext cx="8825658" cy="2016763"/>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CS-468</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Software Quality Assurance &amp; Testing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0" name="Subtitle 2">
            <a:extLst>
              <a:ext uri="{FF2B5EF4-FFF2-40B4-BE49-F238E27FC236}">
                <a16:creationId xmlns="" xmlns:a16="http://schemas.microsoft.com/office/drawing/2014/main" id="{726CA34A-B113-49BC-A1A5-0573BEE18E05}"/>
              </a:ext>
            </a:extLst>
          </p:cNvPr>
          <p:cNvSpPr txBox="1">
            <a:spLocks/>
          </p:cNvSpPr>
          <p:nvPr/>
        </p:nvSpPr>
        <p:spPr>
          <a:xfrm>
            <a:off x="0" y="3962400"/>
            <a:ext cx="9144000" cy="1655762"/>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Week 1</a:t>
            </a: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Session 1</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608" y="0"/>
            <a:ext cx="1324160" cy="1324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Course Overview</a:t>
            </a:r>
            <a:endParaRPr lang="en-US" dirty="0"/>
          </a:p>
        </p:txBody>
      </p:sp>
      <p:sp>
        <p:nvSpPr>
          <p:cNvPr id="7" name="Content Placeholder 2"/>
          <p:cNvSpPr>
            <a:spLocks noGrp="1"/>
          </p:cNvSpPr>
          <p:nvPr>
            <p:ph idx="1"/>
          </p:nvPr>
        </p:nvSpPr>
        <p:spPr>
          <a:xfrm>
            <a:off x="457200" y="1600200"/>
            <a:ext cx="8229600" cy="4525963"/>
          </a:xfrm>
        </p:spPr>
        <p:txBody>
          <a:bodyPr>
            <a:normAutofit/>
          </a:bodyPr>
          <a:lstStyle/>
          <a:p>
            <a:pPr>
              <a:buNone/>
            </a:pPr>
            <a:endParaRPr lang="en-GB" sz="2400" dirty="0"/>
          </a:p>
          <a:p>
            <a:pPr algn="ctr">
              <a:buNone/>
            </a:pPr>
            <a:r>
              <a:rPr lang="en-US" dirty="0" smtClean="0"/>
              <a:t>CS – 468</a:t>
            </a:r>
          </a:p>
          <a:p>
            <a:pPr algn="ctr">
              <a:buNone/>
            </a:pPr>
            <a:r>
              <a:rPr lang="en-US" dirty="0" smtClean="0"/>
              <a:t>Software Quality Assurance &amp; Testing</a:t>
            </a:r>
          </a:p>
          <a:p>
            <a:pPr algn="ctr">
              <a:buNone/>
            </a:pPr>
            <a:r>
              <a:rPr lang="en-US" dirty="0" smtClean="0"/>
              <a:t>(3 credit hour)</a:t>
            </a:r>
          </a:p>
          <a:p>
            <a:pPr>
              <a:buNone/>
            </a:pPr>
            <a:endParaRPr lang="en-US" dirty="0" smtClean="0"/>
          </a:p>
          <a:p>
            <a:pPr>
              <a:buNone/>
            </a:pPr>
            <a:r>
              <a:rPr lang="en-US" dirty="0" smtClean="0"/>
              <a:t>Pre-</a:t>
            </a:r>
            <a:r>
              <a:rPr lang="en-US" dirty="0" err="1" smtClean="0"/>
              <a:t>req</a:t>
            </a:r>
            <a:r>
              <a:rPr lang="en-US" dirty="0" smtClean="0"/>
              <a:t>:  </a:t>
            </a:r>
            <a:r>
              <a:rPr lang="en-US" smtClean="0"/>
              <a:t>Software Engineering </a:t>
            </a:r>
            <a:endParaRPr lang="en-US"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2</a:t>
            </a:fld>
            <a:endParaRPr lang="en-US"/>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 Course Overview …</a:t>
            </a:r>
            <a:endParaRPr lang="en-US" dirty="0"/>
          </a:p>
        </p:txBody>
      </p:sp>
      <p:sp>
        <p:nvSpPr>
          <p:cNvPr id="7" name="Content Placeholder 2"/>
          <p:cNvSpPr>
            <a:spLocks noGrp="1"/>
          </p:cNvSpPr>
          <p:nvPr>
            <p:ph idx="1"/>
          </p:nvPr>
        </p:nvSpPr>
        <p:spPr>
          <a:xfrm>
            <a:off x="457200" y="1600200"/>
            <a:ext cx="8229600" cy="4525963"/>
          </a:xfrm>
        </p:spPr>
        <p:txBody>
          <a:bodyPr>
            <a:normAutofit/>
          </a:bodyPr>
          <a:lstStyle/>
          <a:p>
            <a:pPr>
              <a:buNone/>
            </a:pPr>
            <a:endParaRPr lang="en-GB" sz="2400" dirty="0"/>
          </a:p>
          <a:p>
            <a:pPr>
              <a:buNone/>
            </a:pPr>
            <a:r>
              <a:rPr lang="en-US" dirty="0" smtClean="0"/>
              <a:t>Instructor Name: </a:t>
            </a:r>
            <a:r>
              <a:rPr lang="en-US" dirty="0" err="1" smtClean="0"/>
              <a:t>Farhana</a:t>
            </a:r>
            <a:r>
              <a:rPr lang="en-US" dirty="0" smtClean="0"/>
              <a:t> </a:t>
            </a:r>
            <a:r>
              <a:rPr lang="en-US" dirty="0" err="1" smtClean="0"/>
              <a:t>Ashraf</a:t>
            </a:r>
            <a:endParaRPr lang="en-US" dirty="0" smtClean="0"/>
          </a:p>
          <a:p>
            <a:pPr>
              <a:buNone/>
            </a:pPr>
            <a:r>
              <a:rPr lang="en-US" dirty="0" smtClean="0"/>
              <a:t>Office:		  HS-12B</a:t>
            </a:r>
          </a:p>
          <a:p>
            <a:pPr>
              <a:buNone/>
            </a:pPr>
            <a:r>
              <a:rPr lang="en-GB" dirty="0"/>
              <a:t>Website:                </a:t>
            </a:r>
            <a:r>
              <a:rPr lang="en-GB" dirty="0">
                <a:hlinkClick r:id="rId2"/>
              </a:rPr>
              <a:t>https://cseducationlecture.wordpress.com</a:t>
            </a:r>
            <a:r>
              <a:rPr lang="en-GB" dirty="0" smtClean="0">
                <a:hlinkClick r:id="rId2"/>
              </a:rPr>
              <a:t>/</a:t>
            </a:r>
            <a:endParaRPr lang="en-GB" dirty="0" smtClean="0"/>
          </a:p>
          <a:p>
            <a:pPr>
              <a:buNone/>
            </a:pPr>
            <a:r>
              <a:rPr lang="en-GB" dirty="0"/>
              <a:t> </a:t>
            </a:r>
            <a:r>
              <a:rPr lang="en-GB" dirty="0" smtClean="0"/>
              <a:t>   password</a:t>
            </a:r>
            <a:r>
              <a:rPr lang="en-GB" smtClean="0"/>
              <a:t>:          abc123</a:t>
            </a:r>
          </a:p>
          <a:p>
            <a:pPr>
              <a:buNone/>
            </a:pPr>
            <a:endParaRPr lang="en-US" dirty="0" smtClean="0"/>
          </a:p>
          <a:p>
            <a:pPr>
              <a:buNone/>
            </a:pPr>
            <a:endParaRPr lang="en-US" dirty="0" smtClean="0"/>
          </a:p>
          <a:p>
            <a:pPr>
              <a:buNone/>
            </a:pPr>
            <a:endParaRPr lang="en-US"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3</a:t>
            </a:fld>
            <a:endParaRPr lang="en-US"/>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 Course Overview …</a:t>
            </a:r>
            <a:endParaRPr lang="en-US" dirty="0"/>
          </a:p>
        </p:txBody>
      </p:sp>
      <p:sp>
        <p:nvSpPr>
          <p:cNvPr id="7" name="Content Placeholder 2"/>
          <p:cNvSpPr>
            <a:spLocks noGrp="1"/>
          </p:cNvSpPr>
          <p:nvPr>
            <p:ph idx="1"/>
          </p:nvPr>
        </p:nvSpPr>
        <p:spPr>
          <a:xfrm>
            <a:off x="457200" y="1600200"/>
            <a:ext cx="8229600" cy="4525963"/>
          </a:xfrm>
        </p:spPr>
        <p:txBody>
          <a:bodyPr>
            <a:normAutofit fontScale="77500" lnSpcReduction="20000"/>
          </a:bodyPr>
          <a:lstStyle/>
          <a:p>
            <a:pPr>
              <a:buNone/>
            </a:pPr>
            <a:r>
              <a:rPr lang="en-US" b="1" u="sng" dirty="0" smtClean="0"/>
              <a:t>Course Outline</a:t>
            </a:r>
          </a:p>
          <a:p>
            <a:r>
              <a:rPr lang="en-US" dirty="0" smtClean="0"/>
              <a:t>Software error fault and failure, Causes of Software errors, </a:t>
            </a:r>
          </a:p>
          <a:p>
            <a:r>
              <a:rPr lang="en-US" dirty="0" smtClean="0"/>
              <a:t>Software quality factors</a:t>
            </a:r>
          </a:p>
          <a:p>
            <a:r>
              <a:rPr lang="en-US" dirty="0" smtClean="0"/>
              <a:t>Software Process and Process Improvement, Models, Standards, Guidelines, Capability Maturity Model (CMM), ISO software quality standard</a:t>
            </a:r>
          </a:p>
          <a:p>
            <a:r>
              <a:rPr lang="en-US" dirty="0" smtClean="0"/>
              <a:t>Introduction to testing, principles of testing, fundamental test process, Test cases, Testing and test cases design techniques, The psychology of testing, Code of ethics</a:t>
            </a:r>
          </a:p>
          <a:p>
            <a:r>
              <a:rPr lang="en-US" dirty="0" smtClean="0"/>
              <a:t>Test Management, Incident Management, Configuration Management, Introduction to automated mode of testing, Testing Maturity Model, Defect and experienced based testing</a:t>
            </a:r>
          </a:p>
          <a:p>
            <a:pPr>
              <a:buNone/>
            </a:pPr>
            <a:endParaRPr lang="en-US"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4</a:t>
            </a:fld>
            <a:endParaRPr lang="en-US"/>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 Course Overview …</a:t>
            </a:r>
            <a:endParaRPr lang="en-US" dirty="0"/>
          </a:p>
        </p:txBody>
      </p:sp>
      <p:sp>
        <p:nvSpPr>
          <p:cNvPr id="7" name="Content Placeholder 2"/>
          <p:cNvSpPr>
            <a:spLocks noGrp="1"/>
          </p:cNvSpPr>
          <p:nvPr>
            <p:ph idx="1"/>
          </p:nvPr>
        </p:nvSpPr>
        <p:spPr>
          <a:xfrm>
            <a:off x="457200" y="1600200"/>
            <a:ext cx="8229600" cy="4525963"/>
          </a:xfrm>
        </p:spPr>
        <p:txBody>
          <a:bodyPr>
            <a:normAutofit/>
          </a:bodyPr>
          <a:lstStyle/>
          <a:p>
            <a:pPr>
              <a:buNone/>
            </a:pPr>
            <a:endParaRPr lang="en-GB" sz="2400" dirty="0"/>
          </a:p>
          <a:p>
            <a:pPr>
              <a:buNone/>
            </a:pPr>
            <a:r>
              <a:rPr lang="en-US" u="sng" dirty="0" smtClean="0"/>
              <a:t>Course Assessment Methods:</a:t>
            </a:r>
          </a:p>
          <a:p>
            <a:r>
              <a:rPr lang="en-US" dirty="0" smtClean="0"/>
              <a:t>Quizzes/Assignments		20%</a:t>
            </a:r>
          </a:p>
          <a:p>
            <a:r>
              <a:rPr lang="en-US" dirty="0" smtClean="0"/>
              <a:t>Midterm Exam 			30%</a:t>
            </a:r>
          </a:p>
          <a:p>
            <a:r>
              <a:rPr lang="en-US" dirty="0" smtClean="0"/>
              <a:t>Final Exam 				50%</a:t>
            </a:r>
          </a:p>
          <a:p>
            <a:r>
              <a:rPr lang="en-US" b="1" dirty="0" smtClean="0"/>
              <a:t>Total 					100 Marks</a:t>
            </a:r>
            <a:endParaRPr lang="en-US" dirty="0" smtClean="0"/>
          </a:p>
          <a:p>
            <a:pPr>
              <a:buNone/>
            </a:pPr>
            <a:endParaRPr lang="en-US" dirty="0" smtClean="0"/>
          </a:p>
          <a:p>
            <a:pPr>
              <a:buNone/>
            </a:pPr>
            <a:endParaRPr lang="en-US"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5</a:t>
            </a:fld>
            <a:endParaRPr lang="en-US"/>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 Course Overview …</a:t>
            </a:r>
            <a:endParaRPr lang="en-US" dirty="0"/>
          </a:p>
        </p:txBody>
      </p:sp>
      <p:sp>
        <p:nvSpPr>
          <p:cNvPr id="7" name="Content Placeholder 2"/>
          <p:cNvSpPr>
            <a:spLocks noGrp="1"/>
          </p:cNvSpPr>
          <p:nvPr>
            <p:ph idx="1"/>
          </p:nvPr>
        </p:nvSpPr>
        <p:spPr>
          <a:xfrm>
            <a:off x="457200" y="1600200"/>
            <a:ext cx="8229600" cy="4525963"/>
          </a:xfrm>
        </p:spPr>
        <p:txBody>
          <a:bodyPr>
            <a:normAutofit fontScale="70000" lnSpcReduction="20000"/>
          </a:bodyPr>
          <a:lstStyle/>
          <a:p>
            <a:pPr>
              <a:buNone/>
            </a:pPr>
            <a:endParaRPr lang="en-GB" sz="2400" dirty="0"/>
          </a:p>
          <a:p>
            <a:pPr>
              <a:buNone/>
            </a:pPr>
            <a:r>
              <a:rPr lang="en-US" b="1" dirty="0" smtClean="0"/>
              <a:t>TEXT BOOK: </a:t>
            </a:r>
            <a:endParaRPr lang="en-US" dirty="0" smtClean="0"/>
          </a:p>
          <a:p>
            <a:pPr lvl="0"/>
            <a:r>
              <a:rPr lang="en-US" dirty="0" smtClean="0"/>
              <a:t>Daniel </a:t>
            </a:r>
            <a:r>
              <a:rPr lang="en-US" dirty="0" err="1" smtClean="0"/>
              <a:t>Galin</a:t>
            </a:r>
            <a:r>
              <a:rPr lang="en-US" dirty="0" smtClean="0"/>
              <a:t>, </a:t>
            </a:r>
            <a:r>
              <a:rPr lang="en-US" b="1" dirty="0" smtClean="0"/>
              <a:t>Software Quality Assurance From theory to implementation</a:t>
            </a:r>
            <a:r>
              <a:rPr lang="en-US" dirty="0" smtClean="0"/>
              <a:t>, Pearson, Latest Edition.</a:t>
            </a:r>
          </a:p>
          <a:p>
            <a:pPr lvl="0"/>
            <a:r>
              <a:rPr lang="en-US" dirty="0" smtClean="0"/>
              <a:t>Brian </a:t>
            </a:r>
            <a:r>
              <a:rPr lang="en-US" dirty="0" err="1" smtClean="0"/>
              <a:t>Hambling</a:t>
            </a:r>
            <a:r>
              <a:rPr lang="en-US" dirty="0" smtClean="0"/>
              <a:t>, </a:t>
            </a:r>
            <a:r>
              <a:rPr lang="en-US" b="1" dirty="0" smtClean="0"/>
              <a:t>Software Testing, ISTQB–ISEB Foundation Guide</a:t>
            </a:r>
            <a:r>
              <a:rPr lang="en-US" dirty="0" smtClean="0"/>
              <a:t>, Latest Edition</a:t>
            </a:r>
          </a:p>
          <a:p>
            <a:pPr>
              <a:buNone/>
            </a:pPr>
            <a:r>
              <a:rPr lang="en-US" b="1" dirty="0" smtClean="0"/>
              <a:t>REFERENCE BOOKS:</a:t>
            </a:r>
            <a:endParaRPr lang="en-US" dirty="0" smtClean="0"/>
          </a:p>
          <a:p>
            <a:pPr lvl="0"/>
            <a:r>
              <a:rPr lang="en-US" dirty="0" err="1" smtClean="0"/>
              <a:t>Kshirasagar</a:t>
            </a:r>
            <a:r>
              <a:rPr lang="en-US" dirty="0" smtClean="0"/>
              <a:t> </a:t>
            </a:r>
            <a:r>
              <a:rPr lang="en-US" dirty="0" err="1" smtClean="0"/>
              <a:t>Naik</a:t>
            </a:r>
            <a:r>
              <a:rPr lang="en-US" dirty="0" smtClean="0"/>
              <a:t>, </a:t>
            </a:r>
            <a:r>
              <a:rPr lang="en-US" dirty="0" err="1" smtClean="0"/>
              <a:t>Priyadarshi</a:t>
            </a:r>
            <a:r>
              <a:rPr lang="en-US" dirty="0" smtClean="0"/>
              <a:t> </a:t>
            </a:r>
            <a:r>
              <a:rPr lang="en-US" dirty="0" err="1" smtClean="0"/>
              <a:t>Tripathy</a:t>
            </a:r>
            <a:r>
              <a:rPr lang="en-US" dirty="0" smtClean="0"/>
              <a:t>, </a:t>
            </a:r>
            <a:r>
              <a:rPr lang="en-US" b="1" dirty="0" smtClean="0"/>
              <a:t>Software Testing and Quality Assurance – Theory and Practice</a:t>
            </a:r>
            <a:r>
              <a:rPr lang="en-US" dirty="0" smtClean="0"/>
              <a:t>, Wiley, Latest Edition</a:t>
            </a:r>
          </a:p>
          <a:p>
            <a:pPr lvl="0"/>
            <a:endParaRPr lang="en-US" dirty="0" smtClean="0"/>
          </a:p>
          <a:p>
            <a:pPr lvl="0"/>
            <a:r>
              <a:rPr lang="en-US" dirty="0" smtClean="0"/>
              <a:t>Rex Black, </a:t>
            </a:r>
            <a:r>
              <a:rPr lang="en-US" b="1" dirty="0" smtClean="0"/>
              <a:t>Advanced Software Testing Guide to the ISTQB Advanced Certification as an Advanced Technical Test Analyst</a:t>
            </a:r>
            <a:r>
              <a:rPr lang="en-US" dirty="0" smtClean="0"/>
              <a:t>, ISTQB, Latest Edition</a:t>
            </a:r>
          </a:p>
          <a:p>
            <a:pPr>
              <a:buNone/>
            </a:pPr>
            <a:endParaRPr lang="en-US" dirty="0" smtClean="0"/>
          </a:p>
          <a:p>
            <a:pPr>
              <a:buNone/>
            </a:pPr>
            <a:endParaRPr lang="en-US"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 Course Overview</a:t>
            </a:r>
            <a:endParaRPr lang="en-US" dirty="0"/>
          </a:p>
        </p:txBody>
      </p:sp>
      <p:sp>
        <p:nvSpPr>
          <p:cNvPr id="7" name="Content Placeholder 2"/>
          <p:cNvSpPr>
            <a:spLocks noGrp="1"/>
          </p:cNvSpPr>
          <p:nvPr>
            <p:ph idx="1"/>
          </p:nvPr>
        </p:nvSpPr>
        <p:spPr>
          <a:xfrm>
            <a:off x="457200" y="1600200"/>
            <a:ext cx="8229600" cy="4525963"/>
          </a:xfrm>
        </p:spPr>
        <p:txBody>
          <a:bodyPr>
            <a:normAutofit/>
          </a:bodyPr>
          <a:lstStyle/>
          <a:p>
            <a:pPr>
              <a:buNone/>
            </a:pPr>
            <a:endParaRPr lang="en-GB" sz="2400" dirty="0"/>
          </a:p>
          <a:p>
            <a:r>
              <a:rPr lang="en-US" dirty="0" smtClean="0"/>
              <a:t>Course Information Sheet (CIS)</a:t>
            </a:r>
          </a:p>
          <a:p>
            <a:pPr>
              <a:buNone/>
            </a:pPr>
            <a:endParaRPr lang="en-US"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7</a:t>
            </a:fld>
            <a:endParaRPr lang="en-US"/>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Introduction</a:t>
            </a:r>
            <a:endParaRPr lang="en-US" dirty="0"/>
          </a:p>
        </p:txBody>
      </p:sp>
      <p:sp>
        <p:nvSpPr>
          <p:cNvPr id="7" name="Content Placeholder 2"/>
          <p:cNvSpPr>
            <a:spLocks noGrp="1"/>
          </p:cNvSpPr>
          <p:nvPr>
            <p:ph idx="1"/>
          </p:nvPr>
        </p:nvSpPr>
        <p:spPr>
          <a:xfrm>
            <a:off x="457200" y="1600200"/>
            <a:ext cx="8229600" cy="4525963"/>
          </a:xfrm>
        </p:spPr>
        <p:txBody>
          <a:bodyPr>
            <a:normAutofit/>
          </a:bodyPr>
          <a:lstStyle/>
          <a:p>
            <a:r>
              <a:rPr lang="en-GB" sz="2400" b="1" dirty="0" smtClean="0"/>
              <a:t>Software</a:t>
            </a:r>
            <a:r>
              <a:rPr lang="en-GB" sz="2400" b="1" dirty="0"/>
              <a:t>, </a:t>
            </a:r>
            <a:r>
              <a:rPr lang="en-GB" sz="2400" dirty="0"/>
              <a:t>from the SQA perspective, is the combination of computer programs (the “code”), procedures, documentation, and data </a:t>
            </a:r>
            <a:r>
              <a:rPr lang="en-GB" sz="2400" dirty="0" smtClean="0"/>
              <a:t>necessary for </a:t>
            </a:r>
            <a:r>
              <a:rPr lang="en-GB" sz="2400" dirty="0"/>
              <a:t>operating the software system. The combination of all four components is needed to assure the quality of the </a:t>
            </a:r>
            <a:r>
              <a:rPr lang="en-GB" sz="2400" dirty="0" smtClean="0"/>
              <a:t>development process as well as the </a:t>
            </a:r>
            <a:r>
              <a:rPr lang="en-GB" sz="2400" dirty="0"/>
              <a:t>ensuing long </a:t>
            </a:r>
            <a:r>
              <a:rPr lang="en-GB" sz="2400" dirty="0" smtClean="0"/>
              <a:t>years of maintenance</a:t>
            </a:r>
            <a:r>
              <a:rPr lang="en-GB" sz="2400" dirty="0"/>
              <a:t>. </a:t>
            </a:r>
            <a:endParaRPr lang="en-GB" sz="2400" dirty="0" smtClean="0"/>
          </a:p>
          <a:p>
            <a:endParaRPr lang="en-GB" sz="2400" dirty="0"/>
          </a:p>
          <a:p>
            <a:endParaRPr lang="en-US" sz="24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8</a:t>
            </a:fld>
            <a:endParaRPr lang="en-US"/>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 Introduction …</a:t>
            </a:r>
            <a:endParaRPr lang="en-US" dirty="0"/>
          </a:p>
        </p:txBody>
      </p:sp>
      <p:sp>
        <p:nvSpPr>
          <p:cNvPr id="7" name="Content Placeholder 2"/>
          <p:cNvSpPr>
            <a:spLocks noGrp="1"/>
          </p:cNvSpPr>
          <p:nvPr>
            <p:ph idx="1"/>
          </p:nvPr>
        </p:nvSpPr>
        <p:spPr>
          <a:xfrm>
            <a:off x="457200" y="1600200"/>
            <a:ext cx="8229600" cy="4525963"/>
          </a:xfrm>
        </p:spPr>
        <p:txBody>
          <a:bodyPr>
            <a:normAutofit/>
          </a:bodyPr>
          <a:lstStyle/>
          <a:p>
            <a:r>
              <a:rPr lang="en-GB" sz="2400" b="1" dirty="0"/>
              <a:t>Software quality, </a:t>
            </a:r>
            <a:r>
              <a:rPr lang="en-GB" sz="2400" dirty="0"/>
              <a:t>according to Pressman’s definition, is the degree of conformance to specific functional requirements, specified software quality standards, and Good Software Engineering Practices (GSEP).</a:t>
            </a:r>
          </a:p>
          <a:p>
            <a:endParaRPr lang="en-GB" sz="2400" b="1" dirty="0"/>
          </a:p>
          <a:p>
            <a:endParaRPr lang="en-GB" sz="2400" dirty="0"/>
          </a:p>
          <a:p>
            <a:endParaRPr lang="en-US" sz="24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9</a:t>
            </a:fld>
            <a:endParaRPr lang="en-US"/>
          </a:p>
        </p:txBody>
      </p:sp>
    </p:spTree>
    <p:extLst>
      <p:ext uri="{BB962C8B-B14F-4D97-AF65-F5344CB8AC3E}">
        <p14:creationId xmlns:p14="http://schemas.microsoft.com/office/powerpoint/2010/main" val="26357268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 Introduction …</a:t>
            </a:r>
            <a:endParaRPr lang="en-US" dirty="0"/>
          </a:p>
        </p:txBody>
      </p:sp>
      <p:sp>
        <p:nvSpPr>
          <p:cNvPr id="7" name="Content Placeholder 2"/>
          <p:cNvSpPr>
            <a:spLocks noGrp="1"/>
          </p:cNvSpPr>
          <p:nvPr>
            <p:ph idx="1"/>
          </p:nvPr>
        </p:nvSpPr>
        <p:spPr>
          <a:xfrm>
            <a:off x="457200" y="1600200"/>
            <a:ext cx="8229600" cy="4525963"/>
          </a:xfrm>
        </p:spPr>
        <p:txBody>
          <a:bodyPr>
            <a:normAutofit/>
          </a:bodyPr>
          <a:lstStyle/>
          <a:p>
            <a:r>
              <a:rPr lang="en-GB" sz="2400" b="1" dirty="0"/>
              <a:t>Software quality assurance:</a:t>
            </a:r>
            <a:r>
              <a:rPr lang="en-GB" sz="2400" dirty="0"/>
              <a:t> </a:t>
            </a:r>
            <a:r>
              <a:rPr lang="en-GB" sz="2400" dirty="0" smtClean="0"/>
              <a:t>According to </a:t>
            </a:r>
            <a:r>
              <a:rPr lang="en-GB" sz="2400" dirty="0"/>
              <a:t>the </a:t>
            </a:r>
            <a:r>
              <a:rPr lang="en-GB" sz="2400" dirty="0" smtClean="0"/>
              <a:t>IEEE expanded </a:t>
            </a:r>
            <a:r>
              <a:rPr lang="en-GB" sz="2400" dirty="0"/>
              <a:t>definition, software quality assurance is the systematic, planned set of actions necessary to provide adequate confidence that a software development or maintenance process conforms to established functional technical requirements as well as the managerial requirements of keeping to schedules and operating within the budget.</a:t>
            </a:r>
          </a:p>
        </p:txBody>
      </p:sp>
      <p:sp>
        <p:nvSpPr>
          <p:cNvPr id="2" name="Slide Number Placeholder 1"/>
          <p:cNvSpPr>
            <a:spLocks noGrp="1"/>
          </p:cNvSpPr>
          <p:nvPr>
            <p:ph type="sldNum" sz="quarter" idx="12"/>
          </p:nvPr>
        </p:nvSpPr>
        <p:spPr/>
        <p:txBody>
          <a:bodyPr/>
          <a:lstStyle/>
          <a:p>
            <a:fld id="{243F0035-4B67-4B88-B2A0-536AE2AEED21}" type="slidenum">
              <a:rPr lang="en-US" smtClean="0"/>
              <a:pPr/>
              <a:t>10</a:t>
            </a:fld>
            <a:endParaRPr lang="en-US"/>
          </a:p>
        </p:txBody>
      </p:sp>
    </p:spTree>
    <p:extLst>
      <p:ext uri="{BB962C8B-B14F-4D97-AF65-F5344CB8AC3E}">
        <p14:creationId xmlns:p14="http://schemas.microsoft.com/office/powerpoint/2010/main" val="29914423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 Introduction …</a:t>
            </a:r>
            <a:endParaRPr lang="en-US" dirty="0"/>
          </a:p>
        </p:txBody>
      </p:sp>
      <p:sp>
        <p:nvSpPr>
          <p:cNvPr id="7" name="Content Placeholder 2"/>
          <p:cNvSpPr>
            <a:spLocks noGrp="1"/>
          </p:cNvSpPr>
          <p:nvPr>
            <p:ph idx="1"/>
          </p:nvPr>
        </p:nvSpPr>
        <p:spPr>
          <a:xfrm>
            <a:off x="457200" y="1600200"/>
            <a:ext cx="8229600" cy="4525963"/>
          </a:xfrm>
        </p:spPr>
        <p:txBody>
          <a:bodyPr>
            <a:normAutofit/>
          </a:bodyPr>
          <a:lstStyle/>
          <a:p>
            <a:r>
              <a:rPr lang="en-GB" sz="2400" b="1" dirty="0" smtClean="0"/>
              <a:t>Objectives of SQA </a:t>
            </a:r>
            <a:r>
              <a:rPr lang="en-GB" sz="2400" b="1" dirty="0"/>
              <a:t>activities for software development and maintenance are</a:t>
            </a:r>
            <a:r>
              <a:rPr lang="en-GB" sz="2400" b="1" dirty="0" smtClean="0"/>
              <a:t>:</a:t>
            </a:r>
          </a:p>
          <a:p>
            <a:pPr lvl="1"/>
            <a:r>
              <a:rPr lang="en-GB" sz="2000" dirty="0"/>
              <a:t>Assuring, with acceptable levels of confidence, conformance to functional technical </a:t>
            </a:r>
            <a:r>
              <a:rPr lang="en-GB" sz="2000" dirty="0" smtClean="0"/>
              <a:t>requirements.</a:t>
            </a:r>
          </a:p>
          <a:p>
            <a:pPr lvl="1"/>
            <a:r>
              <a:rPr lang="en-GB" sz="2000" dirty="0" smtClean="0"/>
              <a:t>Assuring</a:t>
            </a:r>
            <a:r>
              <a:rPr lang="en-GB" sz="2000" dirty="0"/>
              <a:t>, with acceptable levels of confidence, conformance to managerial requirements of scheduling and </a:t>
            </a:r>
            <a:r>
              <a:rPr lang="en-GB" sz="2000" dirty="0" smtClean="0"/>
              <a:t>budgets.</a:t>
            </a:r>
          </a:p>
          <a:p>
            <a:pPr lvl="1"/>
            <a:r>
              <a:rPr lang="en-GB" sz="2000" dirty="0" smtClean="0"/>
              <a:t>Initiating </a:t>
            </a:r>
            <a:r>
              <a:rPr lang="en-GB" sz="2000" dirty="0"/>
              <a:t>and managing activities for the improvement and greater efficiency of software development and SQA activities.</a:t>
            </a:r>
          </a:p>
          <a:p>
            <a:pPr lvl="1"/>
            <a:endParaRPr lang="en-GB" sz="20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11</a:t>
            </a:fld>
            <a:endParaRPr lang="en-US"/>
          </a:p>
        </p:txBody>
      </p:sp>
    </p:spTree>
    <p:extLst>
      <p:ext uri="{BB962C8B-B14F-4D97-AF65-F5344CB8AC3E}">
        <p14:creationId xmlns:p14="http://schemas.microsoft.com/office/powerpoint/2010/main" val="29464960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a:bodyPr>
          <a:lstStyle/>
          <a:p>
            <a:r>
              <a:rPr lang="en-US" dirty="0" smtClean="0"/>
              <a:t>… Introduction …</a:t>
            </a:r>
            <a:endParaRPr lang="en-US" dirty="0"/>
          </a:p>
        </p:txBody>
      </p:sp>
      <p:sp>
        <p:nvSpPr>
          <p:cNvPr id="7" name="Content Placeholder 2"/>
          <p:cNvSpPr>
            <a:spLocks noGrp="1"/>
          </p:cNvSpPr>
          <p:nvPr>
            <p:ph idx="1"/>
          </p:nvPr>
        </p:nvSpPr>
        <p:spPr>
          <a:xfrm>
            <a:off x="457200" y="1600200"/>
            <a:ext cx="8229600" cy="4525963"/>
          </a:xfrm>
        </p:spPr>
        <p:txBody>
          <a:bodyPr>
            <a:normAutofit/>
          </a:bodyPr>
          <a:lstStyle/>
          <a:p>
            <a:r>
              <a:rPr lang="en-GB" sz="2400" b="1" dirty="0" smtClean="0"/>
              <a:t>Relationship </a:t>
            </a:r>
            <a:r>
              <a:rPr lang="en-GB" sz="2400" b="1" dirty="0"/>
              <a:t>between software </a:t>
            </a:r>
            <a:r>
              <a:rPr lang="en-GB" sz="2400" b="1" dirty="0" smtClean="0"/>
              <a:t>quality assurance </a:t>
            </a:r>
            <a:r>
              <a:rPr lang="en-GB" sz="2400" b="1" dirty="0"/>
              <a:t>and software </a:t>
            </a:r>
            <a:r>
              <a:rPr lang="en-GB" sz="2400" b="1" dirty="0" smtClean="0"/>
              <a:t>engineering</a:t>
            </a:r>
            <a:r>
              <a:rPr lang="en-GB" sz="2400" b="1" dirty="0"/>
              <a:t>:</a:t>
            </a:r>
          </a:p>
          <a:p>
            <a:pPr lvl="1"/>
            <a:r>
              <a:rPr lang="en-GB" sz="2000" dirty="0"/>
              <a:t>Software engineering is the application of a systematic, disciplined, quantifiable approach to the development, operation and maintenance of software. </a:t>
            </a:r>
            <a:endParaRPr lang="en-GB" sz="2000" dirty="0" smtClean="0"/>
          </a:p>
          <a:p>
            <a:pPr lvl="1"/>
            <a:r>
              <a:rPr lang="en-GB" sz="2000" dirty="0" smtClean="0"/>
              <a:t>The </a:t>
            </a:r>
            <a:r>
              <a:rPr lang="en-GB" sz="2000" dirty="0"/>
              <a:t>characteristics of software engineering, especially its systematic, disciplined and quantitative approach, make software engineering a good environment for achieving SQA objectives. </a:t>
            </a:r>
            <a:endParaRPr lang="en-GB" sz="2000" dirty="0" smtClean="0"/>
          </a:p>
          <a:p>
            <a:pPr lvl="1"/>
            <a:r>
              <a:rPr lang="en-GB" sz="2000" dirty="0" smtClean="0"/>
              <a:t>It </a:t>
            </a:r>
            <a:r>
              <a:rPr lang="en-GB" sz="2000" dirty="0"/>
              <a:t>is commonly accepted that cooperation between software engineers and the SQA team is the way to achieve efficient and economic development and maintenance activities that, at the same time, assure the quality of the products of these activities.</a:t>
            </a:r>
          </a:p>
        </p:txBody>
      </p:sp>
      <p:sp>
        <p:nvSpPr>
          <p:cNvPr id="2" name="Slide Number Placeholder 1"/>
          <p:cNvSpPr>
            <a:spLocks noGrp="1"/>
          </p:cNvSpPr>
          <p:nvPr>
            <p:ph type="sldNum" sz="quarter" idx="12"/>
          </p:nvPr>
        </p:nvSpPr>
        <p:spPr/>
        <p:txBody>
          <a:bodyPr/>
          <a:lstStyle/>
          <a:p>
            <a:fld id="{243F0035-4B67-4B88-B2A0-536AE2AEED21}" type="slidenum">
              <a:rPr lang="en-US" smtClean="0"/>
              <a:pPr/>
              <a:t>12</a:t>
            </a:fld>
            <a:endParaRPr lang="en-US"/>
          </a:p>
        </p:txBody>
      </p:sp>
    </p:spTree>
    <p:extLst>
      <p:ext uri="{BB962C8B-B14F-4D97-AF65-F5344CB8AC3E}">
        <p14:creationId xmlns:p14="http://schemas.microsoft.com/office/powerpoint/2010/main" val="11914448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TotalTime>
  <Words>567</Words>
  <Application>Microsoft Office PowerPoint</Application>
  <PresentationFormat>On-screen Show (4:3)</PresentationFormat>
  <Paragraphs>72</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Course Overview</vt:lpstr>
      <vt:lpstr>… Course Overview …</vt:lpstr>
      <vt:lpstr>… Course Overview …</vt:lpstr>
      <vt:lpstr>… Course Overview …</vt:lpstr>
      <vt:lpstr>… Course Overview …</vt:lpstr>
      <vt:lpstr>… Course Overview</vt:lpstr>
      <vt:lpstr>Introduction</vt:lpstr>
      <vt:lpstr>… Introduction …</vt:lpstr>
      <vt:lpstr>… Introduction …</vt:lpstr>
      <vt:lpstr>… Introduction …</vt:lpstr>
      <vt:lpstr>… Introduction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164</cp:revision>
  <dcterms:created xsi:type="dcterms:W3CDTF">2014-08-12T16:29:38Z</dcterms:created>
  <dcterms:modified xsi:type="dcterms:W3CDTF">2023-10-12T07:28:37Z</dcterms:modified>
</cp:coreProperties>
</file>