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79" r:id="rId2"/>
    <p:sldId id="271" r:id="rId3"/>
    <p:sldId id="272" r:id="rId4"/>
    <p:sldId id="273" r:id="rId5"/>
    <p:sldId id="274" r:id="rId6"/>
    <p:sldId id="275"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10/12/2023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a:t>
            </a:fld>
            <a:endParaRPr lang="en-US"/>
          </a:p>
        </p:txBody>
      </p:sp>
      <p:sp>
        <p:nvSpPr>
          <p:cNvPr id="6" name="TextBox 5">
            <a:extLst>
              <a:ext uri="{FF2B5EF4-FFF2-40B4-BE49-F238E27FC236}">
                <a16:creationId xmlns:lc="http://schemas.openxmlformats.org/drawingml/2006/lockedCanvas" xmlns:a16="http://schemas.microsoft.com/office/drawing/2014/main" xmlns="" id="{99D8964A-8303-45DF-99A6-7A9E5BD07E42}"/>
              </a:ext>
            </a:extLst>
          </p:cNvPr>
          <p:cNvSpPr txBox="1"/>
          <p:nvPr/>
        </p:nvSpPr>
        <p:spPr>
          <a:xfrm>
            <a:off x="1558317" y="570896"/>
            <a:ext cx="7474226" cy="37106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Sir Syed University of Engineering &amp; Technology, Karachi</a:t>
            </a:r>
          </a:p>
        </p:txBody>
      </p:sp>
      <p:sp>
        <p:nvSpPr>
          <p:cNvPr id="9" name="Title 1">
            <a:extLst>
              <a:ext uri="{FF2B5EF4-FFF2-40B4-BE49-F238E27FC236}">
                <a16:creationId xmlns:lc="http://schemas.openxmlformats.org/drawingml/2006/lockedCanvas" xmlns:a16="http://schemas.microsoft.com/office/drawing/2014/main" xmlns="" id="{11F3346B-A340-42AA-BA33-0DABD69A99CA}"/>
              </a:ext>
            </a:extLst>
          </p:cNvPr>
          <p:cNvSpPr txBox="1">
            <a:spLocks/>
          </p:cNvSpPr>
          <p:nvPr/>
        </p:nvSpPr>
        <p:spPr>
          <a:xfrm>
            <a:off x="165942" y="1932557"/>
            <a:ext cx="8825658" cy="2016763"/>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0" name="Subtitle 2">
            <a:extLst>
              <a:ext uri="{FF2B5EF4-FFF2-40B4-BE49-F238E27FC236}">
                <a16:creationId xmlns:lc="http://schemas.openxmlformats.org/drawingml/2006/lockedCanvas" xmlns:a16="http://schemas.microsoft.com/office/drawing/2014/main" xmlns="" id="{726CA34A-B113-49BC-A1A5-0573BEE18E05}"/>
              </a:ext>
            </a:extLst>
          </p:cNvPr>
          <p:cNvSpPr txBox="1">
            <a:spLocks/>
          </p:cNvSpPr>
          <p:nvPr/>
        </p:nvSpPr>
        <p:spPr>
          <a:xfrm>
            <a:off x="0" y="3913757"/>
            <a:ext cx="9144000" cy="1655762"/>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2</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 2</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942" y="0"/>
            <a:ext cx="1324160" cy="1324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GB" sz="4000" dirty="0" smtClean="0"/>
              <a:t>... 9 Causes of software errors ...</a:t>
            </a:r>
            <a:endParaRPr lang="en-US" sz="4000" dirty="0"/>
          </a:p>
        </p:txBody>
      </p:sp>
      <p:sp>
        <p:nvSpPr>
          <p:cNvPr id="7" name="Content Placeholder 2"/>
          <p:cNvSpPr>
            <a:spLocks noGrp="1"/>
          </p:cNvSpPr>
          <p:nvPr>
            <p:ph idx="1"/>
          </p:nvPr>
        </p:nvSpPr>
        <p:spPr>
          <a:xfrm>
            <a:off x="457200" y="1600200"/>
            <a:ext cx="8229600" cy="4525963"/>
          </a:xfrm>
        </p:spPr>
        <p:txBody>
          <a:bodyPr>
            <a:normAutofit/>
          </a:bodyPr>
          <a:lstStyle/>
          <a:p>
            <a:r>
              <a:rPr lang="en-GB" sz="2000" b="1" dirty="0" smtClean="0"/>
              <a:t>coding </a:t>
            </a:r>
            <a:r>
              <a:rPr lang="en-GB" sz="2000" b="1" dirty="0"/>
              <a:t>errors</a:t>
            </a:r>
            <a:endParaRPr lang="en-GB" sz="2000" b="1" dirty="0" smtClean="0"/>
          </a:p>
          <a:p>
            <a:pPr lvl="2"/>
            <a:r>
              <a:rPr lang="en-GB" sz="2000" dirty="0"/>
              <a:t>misunderstanding the design documentation</a:t>
            </a:r>
          </a:p>
          <a:p>
            <a:pPr lvl="2"/>
            <a:r>
              <a:rPr lang="en-GB" sz="2000" dirty="0"/>
              <a:t>linguistic errors in the programming languages</a:t>
            </a:r>
          </a:p>
          <a:p>
            <a:pPr lvl="2"/>
            <a:r>
              <a:rPr lang="en-GB" sz="2000" dirty="0"/>
              <a:t>errors in the application of </a:t>
            </a:r>
            <a:r>
              <a:rPr lang="en-GB" sz="2000" dirty="0" smtClean="0"/>
              <a:t>development </a:t>
            </a:r>
            <a:r>
              <a:rPr lang="en-GB" sz="2000" dirty="0"/>
              <a:t>tools</a:t>
            </a:r>
          </a:p>
          <a:p>
            <a:pPr lvl="2"/>
            <a:r>
              <a:rPr lang="en-GB" sz="2000" dirty="0"/>
              <a:t>errors in data selection</a:t>
            </a:r>
            <a:endParaRPr lang="en-GB" sz="16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33803641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762000"/>
          </a:xfrm>
        </p:spPr>
        <p:txBody>
          <a:bodyPr>
            <a:normAutofit/>
          </a:bodyPr>
          <a:lstStyle/>
          <a:p>
            <a:r>
              <a:rPr lang="en-GB" sz="4000" dirty="0" smtClean="0"/>
              <a:t>... 9 Causes of software errors ...</a:t>
            </a:r>
            <a:endParaRPr lang="en-US" sz="4000" dirty="0"/>
          </a:p>
        </p:txBody>
      </p:sp>
      <p:sp>
        <p:nvSpPr>
          <p:cNvPr id="7" name="Content Placeholder 2"/>
          <p:cNvSpPr>
            <a:spLocks noGrp="1"/>
          </p:cNvSpPr>
          <p:nvPr>
            <p:ph idx="1"/>
          </p:nvPr>
        </p:nvSpPr>
        <p:spPr>
          <a:xfrm>
            <a:off x="228600" y="609600"/>
            <a:ext cx="8915400" cy="6248400"/>
          </a:xfrm>
        </p:spPr>
        <p:txBody>
          <a:bodyPr>
            <a:normAutofit fontScale="92500" lnSpcReduction="10000"/>
          </a:bodyPr>
          <a:lstStyle/>
          <a:p>
            <a:r>
              <a:rPr lang="en-GB" sz="2000" b="1" dirty="0" smtClean="0"/>
              <a:t>Non-compliance with documentation and coding instructions.</a:t>
            </a:r>
          </a:p>
          <a:p>
            <a:pPr lvl="2"/>
            <a:r>
              <a:rPr lang="en-GB" sz="1900" dirty="0"/>
              <a:t>Team members who need to coordinate their own codes with code modules developed by “non-complying” team members can be expected to encounter more than the usual number of difficulties when trying to understand the software developed by the other team members</a:t>
            </a:r>
            <a:r>
              <a:rPr lang="en-GB" sz="1900" dirty="0" smtClean="0"/>
              <a:t>.</a:t>
            </a:r>
          </a:p>
          <a:p>
            <a:pPr lvl="2"/>
            <a:r>
              <a:rPr lang="en-GB" sz="1900" dirty="0" smtClean="0"/>
              <a:t>If </a:t>
            </a:r>
            <a:r>
              <a:rPr lang="en-GB" sz="1900" dirty="0"/>
              <a:t>the quality of the “non-complying” software is acceptable, future handling of this software (by the development and/or maintenance teams) is expected to increase the rate of errors:</a:t>
            </a:r>
          </a:p>
          <a:p>
            <a:pPr lvl="3"/>
            <a:r>
              <a:rPr lang="en-GB" sz="1900" dirty="0"/>
              <a:t>Individuals replacing the “non-complying” team member (who has retired or been promoted) will find it difficult to fully understand his or her work. The design review team will find it more difficult to review a design prepared by a non-complying team.</a:t>
            </a:r>
          </a:p>
          <a:p>
            <a:pPr lvl="3"/>
            <a:r>
              <a:rPr lang="en-GB" sz="1900" dirty="0"/>
              <a:t>The test team will find it more difficult to test the module; consequently, their efficiency is expected to be lower, leaving more errors undetected. Moreover, team members required to correct the detected errors can be expected to encounter greater difficulties when doing so. They may leave some errors only partially corrected, and even introduce new errors as a result of their incomplete grasp of the other team members’ work.</a:t>
            </a:r>
          </a:p>
          <a:p>
            <a:pPr lvl="3"/>
            <a:r>
              <a:rPr lang="en-GB" sz="1900" dirty="0"/>
              <a:t>Maintenance teams required to contend with the “bugs” detected by users and to change or add to the existing software will face difficulties when trying to understand the software and its documentation. This is expected to result in an excessive number of errors and the expenditure of an excessive amount of maintenance effort. </a:t>
            </a:r>
          </a:p>
          <a:p>
            <a:pPr marL="457200" lvl="1" indent="0">
              <a:buNone/>
            </a:pPr>
            <a:endParaRPr lang="en-GB" sz="2000" b="1"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spTree>
    <p:extLst>
      <p:ext uri="{BB962C8B-B14F-4D97-AF65-F5344CB8AC3E}">
        <p14:creationId xmlns:p14="http://schemas.microsoft.com/office/powerpoint/2010/main" val="24611115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GB" sz="4000" dirty="0" smtClean="0"/>
              <a:t>... 9 Causes of software errors ...</a:t>
            </a:r>
            <a:endParaRPr lang="en-US" sz="4000" dirty="0"/>
          </a:p>
        </p:txBody>
      </p:sp>
      <p:sp>
        <p:nvSpPr>
          <p:cNvPr id="7" name="Content Placeholder 2"/>
          <p:cNvSpPr>
            <a:spLocks noGrp="1"/>
          </p:cNvSpPr>
          <p:nvPr>
            <p:ph idx="1"/>
          </p:nvPr>
        </p:nvSpPr>
        <p:spPr>
          <a:xfrm>
            <a:off x="457200" y="1295400"/>
            <a:ext cx="8229600" cy="5562600"/>
          </a:xfrm>
        </p:spPr>
        <p:txBody>
          <a:bodyPr>
            <a:normAutofit/>
          </a:bodyPr>
          <a:lstStyle/>
          <a:p>
            <a:r>
              <a:rPr lang="en-GB" sz="2000" b="1" dirty="0" smtClean="0"/>
              <a:t>Shortcoming of the testing process.</a:t>
            </a:r>
          </a:p>
          <a:p>
            <a:pPr lvl="2"/>
            <a:r>
              <a:rPr lang="en-GB" sz="2000" dirty="0"/>
              <a:t>Shortcomings of the testing process affect the error rate by leaving a greater number of errors undetected or uncorrected.</a:t>
            </a:r>
          </a:p>
          <a:p>
            <a:pPr lvl="2"/>
            <a:r>
              <a:rPr lang="en-GB" sz="2000" dirty="0"/>
              <a:t>These shortcomings result from the following causes: </a:t>
            </a:r>
          </a:p>
          <a:p>
            <a:pPr lvl="3"/>
            <a:r>
              <a:rPr lang="en-GB" dirty="0"/>
              <a:t>Incomplete test plans leave untreated portions of the software or the application functions and states of the system.</a:t>
            </a:r>
          </a:p>
          <a:p>
            <a:pPr lvl="3"/>
            <a:r>
              <a:rPr lang="en-GB" dirty="0"/>
              <a:t>Failures to document and report detected errors and faults.</a:t>
            </a:r>
          </a:p>
          <a:p>
            <a:pPr lvl="3"/>
            <a:r>
              <a:rPr lang="en-GB" dirty="0"/>
              <a:t>Failure to promptly correct detected software faults as a result of inappropriate indications of the reasons for the fault.</a:t>
            </a:r>
          </a:p>
          <a:p>
            <a:pPr lvl="3"/>
            <a:r>
              <a:rPr lang="en-GB" dirty="0"/>
              <a:t>Incomplete correction of detected errors due to negligence or time pressures.</a:t>
            </a:r>
          </a:p>
          <a:p>
            <a:pPr lvl="1"/>
            <a:endParaRPr lang="en-GB" sz="20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20487616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GB" sz="4000" dirty="0" smtClean="0"/>
              <a:t>... 9 Causes of software errors ...</a:t>
            </a:r>
            <a:endParaRPr lang="en-US" sz="4000" dirty="0"/>
          </a:p>
        </p:txBody>
      </p:sp>
      <p:sp>
        <p:nvSpPr>
          <p:cNvPr id="7" name="Content Placeholder 2"/>
          <p:cNvSpPr>
            <a:spLocks noGrp="1"/>
          </p:cNvSpPr>
          <p:nvPr>
            <p:ph idx="1"/>
          </p:nvPr>
        </p:nvSpPr>
        <p:spPr>
          <a:xfrm>
            <a:off x="457200" y="1600200"/>
            <a:ext cx="8229600" cy="4525963"/>
          </a:xfrm>
        </p:spPr>
        <p:txBody>
          <a:bodyPr>
            <a:normAutofit/>
          </a:bodyPr>
          <a:lstStyle/>
          <a:p>
            <a:pPr lvl="1"/>
            <a:r>
              <a:rPr lang="en-GB" sz="2000" b="1" dirty="0" smtClean="0"/>
              <a:t>Procedure errors.</a:t>
            </a:r>
          </a:p>
          <a:p>
            <a:pPr lvl="2"/>
            <a:r>
              <a:rPr lang="en-GB" sz="2000" dirty="0"/>
              <a:t>Procedures direct the user with respect to the activities required at each step of the process</a:t>
            </a:r>
            <a:r>
              <a:rPr lang="en-GB" sz="2000" dirty="0" smtClean="0"/>
              <a:t>.</a:t>
            </a:r>
          </a:p>
          <a:p>
            <a:pPr lvl="2"/>
            <a:r>
              <a:rPr lang="en-GB" sz="2000" dirty="0" smtClean="0"/>
              <a:t> </a:t>
            </a:r>
            <a:r>
              <a:rPr lang="en-GB" sz="2000" dirty="0"/>
              <a:t>They are of special importance in complex software systems where the processing is conducted in several steps, each of which may feed a variety of types of data and allow for examination of the intermediate results.</a:t>
            </a:r>
            <a:endParaRPr lang="en-GB" sz="20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32436155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1143000"/>
          </a:xfrm>
        </p:spPr>
        <p:txBody>
          <a:bodyPr>
            <a:normAutofit/>
          </a:bodyPr>
          <a:lstStyle/>
          <a:p>
            <a:r>
              <a:rPr lang="en-GB" sz="4000" dirty="0" smtClean="0"/>
              <a:t>... 9 Causes of software errors</a:t>
            </a:r>
            <a:endParaRPr lang="en-US" sz="4000" dirty="0"/>
          </a:p>
        </p:txBody>
      </p:sp>
      <p:sp>
        <p:nvSpPr>
          <p:cNvPr id="7" name="Content Placeholder 2"/>
          <p:cNvSpPr>
            <a:spLocks noGrp="1"/>
          </p:cNvSpPr>
          <p:nvPr>
            <p:ph idx="1"/>
          </p:nvPr>
        </p:nvSpPr>
        <p:spPr>
          <a:xfrm>
            <a:off x="457200" y="1219200"/>
            <a:ext cx="8229600" cy="5638800"/>
          </a:xfrm>
        </p:spPr>
        <p:txBody>
          <a:bodyPr>
            <a:normAutofit/>
          </a:bodyPr>
          <a:lstStyle/>
          <a:p>
            <a:pPr lvl="1"/>
            <a:r>
              <a:rPr lang="en-GB" sz="2000" b="1" dirty="0" smtClean="0"/>
              <a:t>Documentation errors.</a:t>
            </a:r>
          </a:p>
          <a:p>
            <a:pPr lvl="2"/>
            <a:r>
              <a:rPr lang="en-GB" sz="2000" dirty="0"/>
              <a:t>Errors in the design documents and in the documentation integrated into the body of the software. </a:t>
            </a:r>
          </a:p>
          <a:p>
            <a:pPr lvl="2"/>
            <a:r>
              <a:rPr lang="en-GB" sz="2000" dirty="0"/>
              <a:t>These errors can cause additional errors in further stages of development and during maintenance.</a:t>
            </a:r>
          </a:p>
          <a:p>
            <a:pPr lvl="2"/>
            <a:r>
              <a:rPr lang="en-GB" sz="2000" dirty="0"/>
              <a:t>Another type of documentation error, one that affects mainly the users, is an error in the user manuals and in the “help” displays incorporated in the software. Typical errors of this type are:</a:t>
            </a:r>
          </a:p>
          <a:p>
            <a:pPr lvl="3"/>
            <a:r>
              <a:rPr lang="en-GB" dirty="0"/>
              <a:t>Omission of software functions.</a:t>
            </a:r>
          </a:p>
          <a:p>
            <a:pPr lvl="3"/>
            <a:r>
              <a:rPr lang="en-GB" dirty="0"/>
              <a:t>Errors in the explanations and instructions given to users, resulting in “dead ends” or incorrect applications.</a:t>
            </a:r>
          </a:p>
          <a:p>
            <a:pPr lvl="3"/>
            <a:r>
              <a:rPr lang="en-GB" dirty="0"/>
              <a:t>Listing of non-existing software functions, that is, functions planned in the early stages of development but later dropped, and functions that were active in previous versions of the software but cancelled in the current version</a:t>
            </a:r>
            <a:r>
              <a:rPr lang="en-GB" dirty="0" smtClean="0"/>
              <a:t>.</a:t>
            </a:r>
            <a:endParaRPr lang="en-GB"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Tree>
    <p:extLst>
      <p:ext uri="{BB962C8B-B14F-4D97-AF65-F5344CB8AC3E}">
        <p14:creationId xmlns:p14="http://schemas.microsoft.com/office/powerpoint/2010/main" val="17221298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1008</TotalTime>
  <Words>636</Words>
  <Application>Microsoft Office PowerPoint</Application>
  <PresentationFormat>On-screen Show (4:3)</PresentationFormat>
  <Paragraphs>43</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 9 Causes of software errors ...</vt:lpstr>
      <vt:lpstr>... 9 Causes of software errors ...</vt:lpstr>
      <vt:lpstr>... 9 Causes of software errors ...</vt:lpstr>
      <vt:lpstr>... 9 Causes of software errors ...</vt:lpstr>
      <vt:lpstr>... 9 Causes of software errors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148</cp:revision>
  <dcterms:created xsi:type="dcterms:W3CDTF">2014-08-12T16:29:38Z</dcterms:created>
  <dcterms:modified xsi:type="dcterms:W3CDTF">2023-10-12T07:27:30Z</dcterms:modified>
</cp:coreProperties>
</file>