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77" r:id="rId2"/>
    <p:sldId id="270" r:id="rId3"/>
    <p:sldId id="271" r:id="rId4"/>
    <p:sldId id="272" r:id="rId5"/>
    <p:sldId id="273" r:id="rId6"/>
    <p:sldId id="274" r:id="rId7"/>
    <p:sldId id="275" r:id="rId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2A68BC-087B-4804-80E7-54E6BF9D6720}" type="datetimeFigureOut">
              <a:rPr lang="en-US" smtClean="0"/>
              <a:pPr/>
              <a:t>10/12/2023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A53098-A02F-43AC-83B0-8400FDBB11FC}" type="slidenum">
              <a:rPr lang="en-US" smtClean="0"/>
              <a:pPr/>
              <a:t>‹#›</a:t>
            </a:fld>
            <a:endParaRPr lang="en-US"/>
          </a:p>
        </p:txBody>
      </p:sp>
    </p:spTree>
    <p:extLst>
      <p:ext uri="{BB962C8B-B14F-4D97-AF65-F5344CB8AC3E}">
        <p14:creationId xmlns:p14="http://schemas.microsoft.com/office/powerpoint/2010/main" val="3679706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3EF4250-741B-442A-9703-012BAF15BAAC}"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3D816B4-16E8-4062-88BC-ECA9BFE00428}"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3CF6598-E98D-41E9-AC1F-40993110B2E2}"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291D4A01-3715-4476-A057-955DFD278091}"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F793C02-4A9B-4362-AC6F-20FFF8DED461}" type="datetime1">
              <a:rPr lang="en-US" smtClean="0"/>
              <a:pPr/>
              <a:t>10/12/2023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1A3C571-B71D-45C8-8B1B-35BCC2DA467A}" type="datetime1">
              <a:rPr lang="en-US" smtClean="0"/>
              <a:pPr/>
              <a:t>10/12/2023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B3D478-9CFC-4269-8AE4-00D2F07081AD}" type="datetime1">
              <a:rPr lang="en-US" smtClean="0"/>
              <a:pPr/>
              <a:t>10/12/2023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DAC7258-29DB-40D6-BF3F-E918B183B515}"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5CD29DC-3073-4B54-8EE5-E93562EFCDAC}" type="datetime1">
              <a:rPr lang="en-US" smtClean="0"/>
              <a:pPr/>
              <a:t>10/12/2023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65975A9-2543-49D8-B35B-ED476DA0ED73}"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EF7BFD3-FA8E-4E08-91B4-E94DC0FF8BBB}" type="datetime1">
              <a:rPr lang="en-US" smtClean="0"/>
              <a:pPr/>
              <a:t>10/12/2023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pPr/>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5BFD0B-D7A9-4808-B8C9-44A20956DF29}" type="datetime1">
              <a:rPr lang="en-US" smtClean="0"/>
              <a:pPr/>
              <a:t>10/12/2023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pPr/>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 xmlns:a16="http://schemas.microsoft.com/office/drawing/2014/main" id="{99D8964A-8303-45DF-99A6-7A9E5BD07E42}"/>
              </a:ext>
            </a:extLst>
          </p:cNvPr>
          <p:cNvSpPr txBox="1"/>
          <p:nvPr/>
        </p:nvSpPr>
        <p:spPr>
          <a:xfrm>
            <a:off x="1603513" y="192155"/>
            <a:ext cx="7474226" cy="371061"/>
          </a:xfrm>
          <a:prstGeom prst="rect">
            <a:avLst/>
          </a:prstGeom>
          <a:noFill/>
        </p:spPr>
        <p:txBody>
          <a:bodyPr wrap="square" rtlCol="0">
            <a:spAutoFit/>
          </a:bodyPr>
          <a:lstStyle/>
          <a:p>
            <a:r>
              <a:rPr lang="en-US" dirty="0"/>
              <a:t>Sir Syed University of Engineering &amp; Technology, Karachi</a:t>
            </a:r>
          </a:p>
        </p:txBody>
      </p:sp>
      <p:sp>
        <p:nvSpPr>
          <p:cNvPr id="9" name="Title 1">
            <a:extLst>
              <a:ext uri="{FF2B5EF4-FFF2-40B4-BE49-F238E27FC236}">
                <a16:creationId xmlns="" xmlns:a16="http://schemas.microsoft.com/office/drawing/2014/main" id="{11F3346B-A340-42AA-BA33-0DABD69A99CA}"/>
              </a:ext>
            </a:extLst>
          </p:cNvPr>
          <p:cNvSpPr txBox="1">
            <a:spLocks/>
          </p:cNvSpPr>
          <p:nvPr/>
        </p:nvSpPr>
        <p:spPr>
          <a:xfrm>
            <a:off x="165942" y="1981200"/>
            <a:ext cx="8825658" cy="2016763"/>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4400" b="0" i="0" u="none" strike="noStrike" kern="1200" cap="none" spc="0" normalizeH="0" baseline="0" noProof="0" dirty="0" smtClean="0">
                <a:ln>
                  <a:noFill/>
                </a:ln>
                <a:solidFill>
                  <a:schemeClr val="tx1"/>
                </a:solidFill>
                <a:effectLst/>
                <a:uLnTx/>
                <a:uFillTx/>
                <a:latin typeface="+mj-lt"/>
                <a:ea typeface="+mj-ea"/>
                <a:cs typeface="+mj-cs"/>
              </a:rPr>
              <a:t>CS-468</a:t>
            </a:r>
            <a:br>
              <a:rPr kumimoji="0" lang="en-US" sz="4400" b="0" i="0" u="none" strike="noStrike" kern="1200" cap="none" spc="0" normalizeH="0" baseline="0" noProof="0" dirty="0" smtClean="0">
                <a:ln>
                  <a:noFill/>
                </a:ln>
                <a:solidFill>
                  <a:schemeClr val="tx1"/>
                </a:solidFill>
                <a:effectLst/>
                <a:uLnTx/>
                <a:uFillTx/>
                <a:latin typeface="+mj-lt"/>
                <a:ea typeface="+mj-ea"/>
                <a:cs typeface="+mj-cs"/>
              </a:rPr>
            </a:br>
            <a:r>
              <a:rPr kumimoji="0" lang="en-US" sz="4400" b="0" i="0" u="none" strike="noStrike" kern="1200" cap="none" spc="0" normalizeH="0" baseline="0" noProof="0" dirty="0" smtClean="0">
                <a:ln>
                  <a:noFill/>
                </a:ln>
                <a:solidFill>
                  <a:schemeClr val="tx1"/>
                </a:solidFill>
                <a:effectLst/>
                <a:uLnTx/>
                <a:uFillTx/>
                <a:latin typeface="+mj-lt"/>
                <a:ea typeface="+mj-ea"/>
                <a:cs typeface="+mj-cs"/>
              </a:rPr>
              <a:t>Software Quality Assurance &amp; Testing</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p:sp>
        <p:nvSpPr>
          <p:cNvPr id="10" name="Subtitle 2">
            <a:extLst>
              <a:ext uri="{FF2B5EF4-FFF2-40B4-BE49-F238E27FC236}">
                <a16:creationId xmlns="" xmlns:a16="http://schemas.microsoft.com/office/drawing/2014/main" id="{726CA34A-B113-49BC-A1A5-0573BEE18E05}"/>
              </a:ext>
            </a:extLst>
          </p:cNvPr>
          <p:cNvSpPr txBox="1">
            <a:spLocks/>
          </p:cNvSpPr>
          <p:nvPr/>
        </p:nvSpPr>
        <p:spPr>
          <a:xfrm>
            <a:off x="0" y="3962400"/>
            <a:ext cx="9144000" cy="1655762"/>
          </a:xfrm>
          <a:prstGeom prst="rect">
            <a:avLst/>
          </a:prstGeom>
        </p:spPr>
        <p:txBody>
          <a:bodyPr vert="horz" lIns="91440" tIns="45720" rIns="91440" bIns="45720" rtlCol="0">
            <a:normAutofit/>
          </a:bodyPr>
          <a:lstStyle/>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Week 1</a:t>
            </a:r>
          </a:p>
          <a:p>
            <a:pPr marL="342900" marR="0" lvl="0" indent="-342900" algn="ctr" defTabSz="914400" rtl="0" eaLnBrk="1" fontAlgn="auto" latinLnBrk="0" hangingPunct="1">
              <a:lnSpc>
                <a:spcPct val="100000"/>
              </a:lnSpc>
              <a:spcBef>
                <a:spcPct val="20000"/>
              </a:spcBef>
              <a:spcAft>
                <a:spcPts val="0"/>
              </a:spcAft>
              <a:buClrTx/>
              <a:buSzTx/>
              <a:tabLst/>
              <a:defRPr/>
            </a:pPr>
            <a:r>
              <a:rPr kumimoji="0" lang="en-US" sz="3200" b="0" i="0" u="none" strike="noStrike" kern="1200" cap="none" spc="0" normalizeH="0" baseline="0" noProof="0" dirty="0" smtClean="0">
                <a:ln>
                  <a:noFill/>
                </a:ln>
                <a:solidFill>
                  <a:schemeClr val="tx1"/>
                </a:solidFill>
                <a:effectLst/>
                <a:uLnTx/>
                <a:uFillTx/>
                <a:latin typeface="+mn-lt"/>
                <a:ea typeface="+mn-ea"/>
                <a:cs typeface="+mn-cs"/>
              </a:rPr>
              <a:t>Session</a:t>
            </a:r>
            <a:r>
              <a:rPr kumimoji="0" lang="en-US" sz="3200" b="0" i="0" u="none" strike="noStrike" kern="1200" cap="none" spc="0" normalizeH="0" noProof="0" dirty="0" smtClean="0">
                <a:ln>
                  <a:noFill/>
                </a:ln>
                <a:solidFill>
                  <a:schemeClr val="tx1"/>
                </a:solidFill>
                <a:effectLst/>
                <a:uLnTx/>
                <a:uFillTx/>
                <a:latin typeface="+mn-lt"/>
                <a:ea typeface="+mn-ea"/>
                <a:cs typeface="+mn-cs"/>
              </a:rPr>
              <a:t> 2</a:t>
            </a:r>
            <a:endParaRPr kumimoji="0" lang="en-US" sz="3200" b="0" i="0" u="none" strike="noStrike" kern="1200" cap="none" spc="0" normalizeH="0" baseline="0" noProof="0" dirty="0">
              <a:ln>
                <a:noFill/>
              </a:ln>
              <a:solidFill>
                <a:schemeClr val="tx1"/>
              </a:solidFill>
              <a:effectLst/>
              <a:uLnTx/>
              <a:uFillTx/>
              <a:latin typeface="+mn-lt"/>
              <a:ea typeface="+mn-ea"/>
              <a:cs typeface="+mn-cs"/>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8" y="22746"/>
            <a:ext cx="1324160" cy="1324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fontScale="90000"/>
          </a:bodyPr>
          <a:lstStyle/>
          <a:p>
            <a:r>
              <a:rPr lang="en-GB" dirty="0" smtClean="0"/>
              <a:t>Quality Control &amp; Quality Assurance ...</a:t>
            </a:r>
            <a:endParaRPr lang="en-US" dirty="0"/>
          </a:p>
        </p:txBody>
      </p:sp>
      <p:sp>
        <p:nvSpPr>
          <p:cNvPr id="7" name="Content Placeholder 2"/>
          <p:cNvSpPr>
            <a:spLocks noGrp="1"/>
          </p:cNvSpPr>
          <p:nvPr>
            <p:ph idx="1"/>
          </p:nvPr>
        </p:nvSpPr>
        <p:spPr>
          <a:xfrm>
            <a:off x="457200" y="1647458"/>
            <a:ext cx="8229600" cy="4525963"/>
          </a:xfrm>
        </p:spPr>
        <p:txBody>
          <a:bodyPr>
            <a:normAutofit fontScale="92500" lnSpcReduction="20000"/>
          </a:bodyPr>
          <a:lstStyle/>
          <a:p>
            <a:r>
              <a:rPr lang="en-GB" sz="2400" b="1" dirty="0" smtClean="0"/>
              <a:t>Quality control </a:t>
            </a:r>
            <a:r>
              <a:rPr lang="en-GB" sz="2400" dirty="0" smtClean="0"/>
              <a:t>is defined as “a set of activities designed to evaluate the quality of a developed or manufactured product” (IEEE, 1991); in other words, activities whose main objective is the withholding of any product that does not qualify. Accordingly, quality control inspection and other activities take place as the development or manufacturing of the product is completed yet before the product is shipped to the client.</a:t>
            </a:r>
          </a:p>
          <a:p>
            <a:endParaRPr lang="en-GB" sz="2400" b="1" dirty="0" smtClean="0"/>
          </a:p>
          <a:p>
            <a:r>
              <a:rPr lang="en-GB" sz="2400" b="1" dirty="0" smtClean="0"/>
              <a:t>The main objective of quality assurance </a:t>
            </a:r>
            <a:r>
              <a:rPr lang="en-GB" sz="2400" dirty="0" smtClean="0"/>
              <a:t>is to minimize the cost of guaranteeing quality by a variety of activities performed throughout the development and manufacturing processes/stages. These activities prevent the causes of errors, and detect and correct them early in the development process. As a result, quality assurance activities substantially reduce the rate of products that do not qualify for shipment and, at the same time, reduce the costs of guaranteeing quality in most cases.</a:t>
            </a:r>
            <a:endParaRPr lang="en-GB" sz="24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2</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fontScale="90000"/>
          </a:bodyPr>
          <a:lstStyle/>
          <a:p>
            <a:r>
              <a:rPr lang="en-GB" dirty="0" smtClean="0"/>
              <a:t>... Quality Control &amp; Quality Assurance </a:t>
            </a:r>
            <a:endParaRPr lang="en-US"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3</a:t>
            </a:fld>
            <a:endParaRPr lang="en-US"/>
          </a:p>
        </p:txBody>
      </p:sp>
      <p:graphicFrame>
        <p:nvGraphicFramePr>
          <p:cNvPr id="5" name="Content Placeholder 2"/>
          <p:cNvGraphicFramePr>
            <a:graphicFrameLocks noGrp="1"/>
          </p:cNvGraphicFramePr>
          <p:nvPr>
            <p:ph idx="1"/>
            <p:extLst>
              <p:ext uri="{D42A27DB-BD31-4B8C-83A1-F6EECF244321}">
                <p14:modId xmlns:p14="http://schemas.microsoft.com/office/powerpoint/2010/main" val="2725780223"/>
              </p:ext>
            </p:extLst>
          </p:nvPr>
        </p:nvGraphicFramePr>
        <p:xfrm>
          <a:off x="533400" y="2590800"/>
          <a:ext cx="8229600" cy="1752600"/>
        </p:xfrm>
        <a:graphic>
          <a:graphicData uri="http://schemas.openxmlformats.org/drawingml/2006/table">
            <a:tbl>
              <a:tblPr firstRow="1" bandRow="1">
                <a:tableStyleId>{5C22544A-7EE6-4342-B048-85BDC9FD1C3A}</a:tableStyleId>
              </a:tblPr>
              <a:tblGrid>
                <a:gridCol w="4114800"/>
                <a:gridCol w="4114800"/>
              </a:tblGrid>
              <a:tr h="370840">
                <a:tc>
                  <a:txBody>
                    <a:bodyPr/>
                    <a:lstStyle/>
                    <a:p>
                      <a:pPr algn="ctr"/>
                      <a:r>
                        <a:rPr lang="en-GB" dirty="0" smtClean="0"/>
                        <a:t>Quality Assurance (QA)</a:t>
                      </a:r>
                      <a:endParaRPr lang="en-US" dirty="0"/>
                    </a:p>
                  </a:txBody>
                  <a:tcPr/>
                </a:tc>
                <a:tc>
                  <a:txBody>
                    <a:bodyPr/>
                    <a:lstStyle/>
                    <a:p>
                      <a:pPr algn="ctr"/>
                      <a:r>
                        <a:rPr lang="en-GB" dirty="0" smtClean="0"/>
                        <a:t>Quality Control (QC)</a:t>
                      </a:r>
                      <a:endParaRPr lang="en-US" dirty="0"/>
                    </a:p>
                  </a:txBody>
                  <a:tcPr/>
                </a:tc>
              </a:tr>
              <a:tr h="370840">
                <a:tc>
                  <a:txBody>
                    <a:bodyPr/>
                    <a:lstStyle/>
                    <a:p>
                      <a:r>
                        <a:rPr lang="en-GB" dirty="0" smtClean="0"/>
                        <a:t>It is process related. </a:t>
                      </a:r>
                      <a:endParaRPr lang="en-US" dirty="0"/>
                    </a:p>
                  </a:txBody>
                  <a:tcPr/>
                </a:tc>
                <a:tc>
                  <a:txBody>
                    <a:bodyPr/>
                    <a:lstStyle/>
                    <a:p>
                      <a:r>
                        <a:rPr lang="en-GB" dirty="0" smtClean="0"/>
                        <a:t>It is product related. </a:t>
                      </a:r>
                      <a:endParaRPr lang="en-US" dirty="0"/>
                    </a:p>
                  </a:txBody>
                  <a:tcPr/>
                </a:tc>
              </a:tr>
              <a:tr h="370840">
                <a:tc>
                  <a:txBody>
                    <a:bodyPr/>
                    <a:lstStyle/>
                    <a:p>
                      <a:r>
                        <a:rPr lang="en-GB" dirty="0" smtClean="0"/>
                        <a:t>It focuses on the process used to develop</a:t>
                      </a:r>
                      <a:r>
                        <a:rPr lang="en-GB" baseline="0" dirty="0" smtClean="0"/>
                        <a:t> a product.</a:t>
                      </a:r>
                      <a:endParaRPr lang="en-US" dirty="0"/>
                    </a:p>
                  </a:txBody>
                  <a:tcPr/>
                </a:tc>
                <a:tc>
                  <a:txBody>
                    <a:bodyPr/>
                    <a:lstStyle/>
                    <a:p>
                      <a:r>
                        <a:rPr lang="en-GB" dirty="0" smtClean="0"/>
                        <a:t>It focuses on testing of a product .</a:t>
                      </a:r>
                      <a:endParaRPr lang="en-US" dirty="0"/>
                    </a:p>
                  </a:txBody>
                  <a:tcPr/>
                </a:tc>
              </a:tr>
              <a:tr h="370840">
                <a:tc>
                  <a:txBody>
                    <a:bodyPr/>
                    <a:lstStyle/>
                    <a:p>
                      <a:r>
                        <a:rPr lang="en-GB" dirty="0" smtClean="0"/>
                        <a:t>QA </a:t>
                      </a:r>
                      <a:r>
                        <a:rPr lang="en-GB" dirty="0" smtClean="0">
                          <a:sym typeface="Wingdings" panose="05000000000000000000" pitchFamily="2" charset="2"/>
                        </a:rPr>
                        <a:t> </a:t>
                      </a:r>
                      <a:r>
                        <a:rPr lang="en-GB" dirty="0" smtClean="0"/>
                        <a:t>SQA</a:t>
                      </a:r>
                      <a:endParaRPr lang="en-US" dirty="0"/>
                    </a:p>
                  </a:txBody>
                  <a:tcPr/>
                </a:tc>
                <a:tc>
                  <a:txBody>
                    <a:bodyPr/>
                    <a:lstStyle/>
                    <a:p>
                      <a:r>
                        <a:rPr lang="en-GB" dirty="0" smtClean="0"/>
                        <a:t>QC </a:t>
                      </a:r>
                      <a:r>
                        <a:rPr lang="en-GB" dirty="0" smtClean="0">
                          <a:sym typeface="Wingdings" panose="05000000000000000000" pitchFamily="2" charset="2"/>
                        </a:rPr>
                        <a:t> </a:t>
                      </a:r>
                      <a:r>
                        <a:rPr lang="en-GB" dirty="0" smtClean="0"/>
                        <a:t>tester.</a:t>
                      </a:r>
                      <a:endParaRPr lang="en-US" dirty="0"/>
                    </a:p>
                  </a:txBody>
                  <a:tcPr/>
                </a:tc>
              </a:tr>
            </a:tbl>
          </a:graphicData>
        </a:graphic>
      </p:graphicFrame>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fontScale="90000"/>
          </a:bodyPr>
          <a:lstStyle/>
          <a:p>
            <a:r>
              <a:rPr lang="en-GB" dirty="0"/>
              <a:t>The uniqueness of software quality assurance.</a:t>
            </a:r>
            <a:endParaRPr lang="en-US" dirty="0"/>
          </a:p>
        </p:txBody>
      </p:sp>
      <p:sp>
        <p:nvSpPr>
          <p:cNvPr id="7" name="Content Placeholder 2"/>
          <p:cNvSpPr>
            <a:spLocks noGrp="1"/>
          </p:cNvSpPr>
          <p:nvPr>
            <p:ph idx="1"/>
          </p:nvPr>
        </p:nvSpPr>
        <p:spPr>
          <a:xfrm>
            <a:off x="457200" y="1647458"/>
            <a:ext cx="8229600" cy="4525963"/>
          </a:xfrm>
        </p:spPr>
        <p:txBody>
          <a:bodyPr>
            <a:normAutofit/>
          </a:bodyPr>
          <a:lstStyle/>
          <a:p>
            <a:r>
              <a:rPr lang="en-GB" sz="2400" dirty="0"/>
              <a:t>The fundamental differences between software products (including firmware) and other products are caused by the higher product complexity, by the invisibility of software and by the nature of the product development and production process. </a:t>
            </a:r>
            <a:endParaRPr lang="en-GB" sz="2400" dirty="0" smtClean="0"/>
          </a:p>
          <a:p>
            <a:r>
              <a:rPr lang="en-GB" sz="2400" dirty="0" smtClean="0"/>
              <a:t>These </a:t>
            </a:r>
            <a:r>
              <a:rPr lang="en-GB" sz="2400" dirty="0"/>
              <a:t>differences create the need for an SQA methodology and tools for SQA that </a:t>
            </a:r>
            <a:r>
              <a:rPr lang="en-GB" sz="2400" dirty="0" smtClean="0"/>
              <a:t>will meet the special and different challenges for </a:t>
            </a:r>
            <a:r>
              <a:rPr lang="en-GB" sz="2400" dirty="0"/>
              <a:t>the </a:t>
            </a:r>
            <a:r>
              <a:rPr lang="en-GB" sz="2400" dirty="0" smtClean="0"/>
              <a:t>development and </a:t>
            </a:r>
            <a:r>
              <a:rPr lang="en-GB" sz="2400" dirty="0"/>
              <a:t>operation of quality assurance for software.</a:t>
            </a:r>
            <a:endParaRPr lang="en-US" sz="2400" dirty="0" smtClean="0"/>
          </a:p>
        </p:txBody>
      </p:sp>
      <p:sp>
        <p:nvSpPr>
          <p:cNvPr id="2" name="Slide Number Placeholder 1"/>
          <p:cNvSpPr>
            <a:spLocks noGrp="1"/>
          </p:cNvSpPr>
          <p:nvPr>
            <p:ph type="sldNum" sz="quarter" idx="12"/>
          </p:nvPr>
        </p:nvSpPr>
        <p:spPr/>
        <p:txBody>
          <a:bodyPr/>
          <a:lstStyle/>
          <a:p>
            <a:fld id="{243F0035-4B67-4B88-B2A0-536AE2AEED21}" type="slidenum">
              <a:rPr lang="en-US" smtClean="0"/>
              <a:pPr/>
              <a:t>4</a:t>
            </a:fld>
            <a:endParaRPr lang="en-US"/>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274638"/>
            <a:ext cx="8229600" cy="1143000"/>
          </a:xfrm>
        </p:spPr>
        <p:txBody>
          <a:bodyPr>
            <a:normAutofit fontScale="90000"/>
          </a:bodyPr>
          <a:lstStyle/>
          <a:p>
            <a:r>
              <a:rPr lang="en-GB" dirty="0"/>
              <a:t>The uniqueness of software quality assurance.</a:t>
            </a:r>
            <a:endParaRPr lang="en-US" dirty="0"/>
          </a:p>
        </p:txBody>
      </p:sp>
      <p:pic>
        <p:nvPicPr>
          <p:cNvPr id="3" name="Content Placeholder 2"/>
          <p:cNvPicPr>
            <a:picLocks noGrp="1" noChangeAspect="1"/>
          </p:cNvPicPr>
          <p:nvPr>
            <p:ph idx="1"/>
          </p:nvPr>
        </p:nvPicPr>
        <p:blipFill>
          <a:blip r:embed="rId2" cstate="print"/>
          <a:stretch>
            <a:fillRect/>
          </a:stretch>
        </p:blipFill>
        <p:spPr>
          <a:xfrm>
            <a:off x="360221" y="1649413"/>
            <a:ext cx="8423558" cy="4522788"/>
          </a:xfrm>
          <a:prstGeom prst="rect">
            <a:avLst/>
          </a:prstGeom>
        </p:spPr>
      </p:pic>
      <p:sp>
        <p:nvSpPr>
          <p:cNvPr id="2" name="Slide Number Placeholder 1"/>
          <p:cNvSpPr>
            <a:spLocks noGrp="1"/>
          </p:cNvSpPr>
          <p:nvPr>
            <p:ph type="sldNum" sz="quarter" idx="12"/>
          </p:nvPr>
        </p:nvSpPr>
        <p:spPr/>
        <p:txBody>
          <a:bodyPr/>
          <a:lstStyle/>
          <a:p>
            <a:fld id="{243F0035-4B67-4B88-B2A0-536AE2AEED21}" type="slidenum">
              <a:rPr lang="en-US" smtClean="0"/>
              <a:pPr/>
              <a:t>5</a:t>
            </a:fld>
            <a:endParaRPr lang="en-US"/>
          </a:p>
        </p:txBody>
      </p:sp>
    </p:spTree>
    <p:extLst>
      <p:ext uri="{BB962C8B-B14F-4D97-AF65-F5344CB8AC3E}">
        <p14:creationId xmlns:p14="http://schemas.microsoft.com/office/powerpoint/2010/main" val="33317133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rmAutofit fontScale="90000"/>
          </a:bodyPr>
          <a:lstStyle/>
          <a:p>
            <a:r>
              <a:rPr lang="en-GB" dirty="0" smtClean="0"/>
              <a:t>Characteristics for SQA Environments...</a:t>
            </a:r>
            <a:endParaRPr lang="en-US" dirty="0"/>
          </a:p>
        </p:txBody>
      </p:sp>
      <p:sp>
        <p:nvSpPr>
          <p:cNvPr id="7" name="Content Placeholder 2"/>
          <p:cNvSpPr>
            <a:spLocks noGrp="1"/>
          </p:cNvSpPr>
          <p:nvPr>
            <p:ph idx="1"/>
          </p:nvPr>
        </p:nvSpPr>
        <p:spPr>
          <a:xfrm>
            <a:off x="609600" y="685800"/>
            <a:ext cx="8229600" cy="6172200"/>
          </a:xfrm>
        </p:spPr>
        <p:txBody>
          <a:bodyPr>
            <a:noAutofit/>
          </a:bodyPr>
          <a:lstStyle/>
          <a:p>
            <a:pPr marL="0" indent="0">
              <a:buNone/>
            </a:pPr>
            <a:r>
              <a:rPr lang="en-GB" sz="1800" dirty="0" smtClean="0"/>
              <a:t>The </a:t>
            </a:r>
            <a:r>
              <a:rPr lang="en-GB" sz="1800" dirty="0"/>
              <a:t>SQA </a:t>
            </a:r>
            <a:r>
              <a:rPr lang="en-GB" sz="1800" dirty="0" smtClean="0"/>
              <a:t>methods and </a:t>
            </a:r>
            <a:r>
              <a:rPr lang="en-GB" sz="1800" dirty="0"/>
              <a:t>tools for professional software development and maintenance, activities where quality problems appear in their most severe form, and where the most painful losses are expected. Therefore any method or tool to be applied is subject to the environmental characteristics of their activities, namely:</a:t>
            </a:r>
          </a:p>
          <a:p>
            <a:r>
              <a:rPr lang="en-GB" sz="1800" dirty="0"/>
              <a:t>Contract conditions and commitments defining the contents and timetable.</a:t>
            </a:r>
          </a:p>
          <a:p>
            <a:r>
              <a:rPr lang="en-GB" sz="1800" dirty="0"/>
              <a:t>The conditions of the customer–supplier relationship, as realized by the need for consultation with the customer and the acquisition of his approval.</a:t>
            </a:r>
          </a:p>
          <a:p>
            <a:r>
              <a:rPr lang="en-GB" sz="1800" dirty="0" smtClean="0"/>
              <a:t>Teamwork requirements</a:t>
            </a:r>
            <a:r>
              <a:rPr lang="en-GB" sz="1800" dirty="0"/>
              <a:t>.</a:t>
            </a:r>
          </a:p>
          <a:p>
            <a:r>
              <a:rPr lang="en-GB" sz="1800" dirty="0"/>
              <a:t>Need for cooperation and coordination with other software and hardware development teams both internally and externally.</a:t>
            </a:r>
          </a:p>
          <a:p>
            <a:r>
              <a:rPr lang="en-GB" sz="1800" dirty="0"/>
              <a:t>Need for interfaces with other software systems.</a:t>
            </a:r>
          </a:p>
          <a:p>
            <a:r>
              <a:rPr lang="en-GB" sz="1800" dirty="0"/>
              <a:t>Need to continue carrying out a project when team members change.</a:t>
            </a:r>
          </a:p>
          <a:p>
            <a:r>
              <a:rPr lang="en-GB" sz="1800" dirty="0"/>
              <a:t>Need to conduct maintenance of the software system for several years.</a:t>
            </a:r>
          </a:p>
          <a:p>
            <a:r>
              <a:rPr lang="en-GB" sz="1800" dirty="0"/>
              <a:t>These environmental characteristics also apply to internal development of software and firmware, though only informal contract or informal customer–supplier relationships exist in these cases.</a:t>
            </a:r>
          </a:p>
          <a:p>
            <a:r>
              <a:rPr lang="en-GB" sz="1800" dirty="0"/>
              <a:t>These characteristics demand that intensive and continuous managerial efforts be expended in parallel to the professional efforts that have to be invested in order to ensure the project’s quality or, in other words, to assure the project’s success.</a:t>
            </a:r>
          </a:p>
          <a:p>
            <a:endParaRPr lang="en-GB" sz="1800" dirty="0"/>
          </a:p>
        </p:txBody>
      </p:sp>
      <p:sp>
        <p:nvSpPr>
          <p:cNvPr id="2" name="Slide Number Placeholder 1"/>
          <p:cNvSpPr>
            <a:spLocks noGrp="1"/>
          </p:cNvSpPr>
          <p:nvPr>
            <p:ph type="sldNum" sz="quarter" idx="12"/>
          </p:nvPr>
        </p:nvSpPr>
        <p:spPr/>
        <p:txBody>
          <a:bodyPr/>
          <a:lstStyle/>
          <a:p>
            <a:fld id="{243F0035-4B67-4B88-B2A0-536AE2AEED21}" type="slidenum">
              <a:rPr lang="en-US" smtClean="0"/>
              <a:pPr/>
              <a:t>6</a:t>
            </a:fld>
            <a:endParaRPr lang="en-US"/>
          </a:p>
        </p:txBody>
      </p:sp>
    </p:spTree>
    <p:extLst>
      <p:ext uri="{BB962C8B-B14F-4D97-AF65-F5344CB8AC3E}">
        <p14:creationId xmlns:p14="http://schemas.microsoft.com/office/powerpoint/2010/main" val="19446904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457200" y="0"/>
            <a:ext cx="8229600" cy="685800"/>
          </a:xfrm>
        </p:spPr>
        <p:txBody>
          <a:bodyPr>
            <a:normAutofit/>
          </a:bodyPr>
          <a:lstStyle/>
          <a:p>
            <a:r>
              <a:rPr lang="en-GB" sz="3600" dirty="0" smtClean="0"/>
              <a:t>...Characteristics </a:t>
            </a:r>
            <a:r>
              <a:rPr lang="en-GB" sz="3600" dirty="0"/>
              <a:t>for SQA </a:t>
            </a:r>
            <a:r>
              <a:rPr lang="en-GB" sz="3600" dirty="0" smtClean="0"/>
              <a:t>Environments...</a:t>
            </a:r>
            <a:endParaRPr lang="en-US" sz="3600" dirty="0"/>
          </a:p>
        </p:txBody>
      </p:sp>
      <p:pic>
        <p:nvPicPr>
          <p:cNvPr id="3" name="Content Placeholder 2"/>
          <p:cNvPicPr>
            <a:picLocks noGrp="1" noChangeAspect="1"/>
          </p:cNvPicPr>
          <p:nvPr>
            <p:ph idx="1"/>
          </p:nvPr>
        </p:nvPicPr>
        <p:blipFill>
          <a:blip r:embed="rId2" cstate="print"/>
          <a:stretch>
            <a:fillRect/>
          </a:stretch>
        </p:blipFill>
        <p:spPr>
          <a:xfrm>
            <a:off x="1585912" y="890587"/>
            <a:ext cx="6276975" cy="5762625"/>
          </a:xfrm>
          <a:prstGeom prst="rect">
            <a:avLst/>
          </a:prstGeom>
        </p:spPr>
      </p:pic>
      <p:sp>
        <p:nvSpPr>
          <p:cNvPr id="2" name="Slide Number Placeholder 1"/>
          <p:cNvSpPr>
            <a:spLocks noGrp="1"/>
          </p:cNvSpPr>
          <p:nvPr>
            <p:ph type="sldNum" sz="quarter" idx="12"/>
          </p:nvPr>
        </p:nvSpPr>
        <p:spPr/>
        <p:txBody>
          <a:bodyPr/>
          <a:lstStyle/>
          <a:p>
            <a:fld id="{243F0035-4B67-4B88-B2A0-536AE2AEED21}" type="slidenum">
              <a:rPr lang="en-US" smtClean="0"/>
              <a:pPr/>
              <a:t>7</a:t>
            </a:fld>
            <a:endParaRPr lang="en-US"/>
          </a:p>
        </p:txBody>
      </p:sp>
    </p:spTree>
    <p:extLst>
      <p:ext uri="{BB962C8B-B14F-4D97-AF65-F5344CB8AC3E}">
        <p14:creationId xmlns:p14="http://schemas.microsoft.com/office/powerpoint/2010/main" val="215036183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479</TotalTime>
  <Words>536</Words>
  <Application>Microsoft Office PowerPoint</Application>
  <PresentationFormat>On-screen Show (4:3)</PresentationFormat>
  <Paragraphs>39</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Wingdings</vt:lpstr>
      <vt:lpstr>Office Theme</vt:lpstr>
      <vt:lpstr>PowerPoint Presentation</vt:lpstr>
      <vt:lpstr>Quality Control &amp; Quality Assurance ...</vt:lpstr>
      <vt:lpstr>... Quality Control &amp; Quality Assurance </vt:lpstr>
      <vt:lpstr>The uniqueness of software quality assurance.</vt:lpstr>
      <vt:lpstr>The uniqueness of software quality assurance.</vt:lpstr>
      <vt:lpstr>Characteristics for SQA Environments...</vt:lpstr>
      <vt:lpstr>...Characteristics for SQA Environments...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Windows User</cp:lastModifiedBy>
  <cp:revision>145</cp:revision>
  <dcterms:created xsi:type="dcterms:W3CDTF">2014-08-12T16:29:38Z</dcterms:created>
  <dcterms:modified xsi:type="dcterms:W3CDTF">2023-10-12T07:28:15Z</dcterms:modified>
</cp:coreProperties>
</file>