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
  </p:notesMasterIdLst>
  <p:sldIdLst>
    <p:sldId id="263" r:id="rId2"/>
    <p:sldId id="264" r:id="rId3"/>
    <p:sldId id="265" r:id="rId4"/>
    <p:sldId id="266" r:id="rId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397" autoAdjust="0"/>
    <p:restoredTop sz="87092" autoAdjust="0"/>
  </p:normalViewPr>
  <p:slideViewPr>
    <p:cSldViewPr>
      <p:cViewPr varScale="1">
        <p:scale>
          <a:sx n="75" d="100"/>
          <a:sy n="75" d="100"/>
        </p:scale>
        <p:origin x="1200" y="54"/>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D2A68BC-087B-4804-80E7-54E6BF9D6720}" type="datetimeFigureOut">
              <a:rPr lang="en-US" smtClean="0"/>
              <a:t>8/26/2019</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CA53098-A02F-43AC-83B0-8400FDBB11FC}" type="slidenum">
              <a:rPr lang="en-US" smtClean="0"/>
              <a:t>‹#›</a:t>
            </a:fld>
            <a:endParaRPr lang="en-US"/>
          </a:p>
        </p:txBody>
      </p:sp>
    </p:spTree>
    <p:extLst>
      <p:ext uri="{BB962C8B-B14F-4D97-AF65-F5344CB8AC3E}">
        <p14:creationId xmlns:p14="http://schemas.microsoft.com/office/powerpoint/2010/main" val="36797065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CA53098-A02F-43AC-83B0-8400FDBB11FC}" type="slidenum">
              <a:rPr lang="en-US" smtClean="0"/>
              <a:t>1</a:t>
            </a:fld>
            <a:endParaRPr lang="en-US"/>
          </a:p>
        </p:txBody>
      </p:sp>
    </p:spTree>
    <p:extLst>
      <p:ext uri="{BB962C8B-B14F-4D97-AF65-F5344CB8AC3E}">
        <p14:creationId xmlns:p14="http://schemas.microsoft.com/office/powerpoint/2010/main" val="14293358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CA53098-A02F-43AC-83B0-8400FDBB11FC}" type="slidenum">
              <a:rPr lang="en-US" smtClean="0"/>
              <a:t>2</a:t>
            </a:fld>
            <a:endParaRPr lang="en-US"/>
          </a:p>
        </p:txBody>
      </p:sp>
    </p:spTree>
    <p:extLst>
      <p:ext uri="{BB962C8B-B14F-4D97-AF65-F5344CB8AC3E}">
        <p14:creationId xmlns:p14="http://schemas.microsoft.com/office/powerpoint/2010/main" val="3100348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CA53098-A02F-43AC-83B0-8400FDBB11FC}" type="slidenum">
              <a:rPr lang="en-US" smtClean="0"/>
              <a:t>3</a:t>
            </a:fld>
            <a:endParaRPr lang="en-US"/>
          </a:p>
        </p:txBody>
      </p:sp>
    </p:spTree>
    <p:extLst>
      <p:ext uri="{BB962C8B-B14F-4D97-AF65-F5344CB8AC3E}">
        <p14:creationId xmlns:p14="http://schemas.microsoft.com/office/powerpoint/2010/main" val="3124013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CA53098-A02F-43AC-83B0-8400FDBB11FC}" type="slidenum">
              <a:rPr lang="en-US" smtClean="0"/>
              <a:t>4</a:t>
            </a:fld>
            <a:endParaRPr lang="en-US"/>
          </a:p>
        </p:txBody>
      </p:sp>
    </p:spTree>
    <p:extLst>
      <p:ext uri="{BB962C8B-B14F-4D97-AF65-F5344CB8AC3E}">
        <p14:creationId xmlns:p14="http://schemas.microsoft.com/office/powerpoint/2010/main" val="33344377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3EF4250-741B-442A-9703-012BAF15BAAC}" type="datetime1">
              <a:rPr lang="en-US" smtClean="0"/>
              <a:t>8/26/2019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3F0035-4B67-4B88-B2A0-536AE2AEED21}" type="slidenum">
              <a:rPr lang="en-US" smtClean="0"/>
              <a:t>‹#›</a:t>
            </a:fld>
            <a:endParaRPr lang="en-US"/>
          </a:p>
        </p:txBody>
      </p:sp>
    </p:spTree>
    <p:extLst>
      <p:ext uri="{BB962C8B-B14F-4D97-AF65-F5344CB8AC3E}">
        <p14:creationId xmlns:p14="http://schemas.microsoft.com/office/powerpoint/2010/main" val="24669785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3D816B4-16E8-4062-88BC-ECA9BFE00428}" type="datetime1">
              <a:rPr lang="en-US" smtClean="0"/>
              <a:t>8/26/2019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3F0035-4B67-4B88-B2A0-536AE2AEED21}" type="slidenum">
              <a:rPr lang="en-US" smtClean="0"/>
              <a:t>‹#›</a:t>
            </a:fld>
            <a:endParaRPr lang="en-US"/>
          </a:p>
        </p:txBody>
      </p:sp>
    </p:spTree>
    <p:extLst>
      <p:ext uri="{BB962C8B-B14F-4D97-AF65-F5344CB8AC3E}">
        <p14:creationId xmlns:p14="http://schemas.microsoft.com/office/powerpoint/2010/main" val="17225507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3CF6598-E98D-41E9-AC1F-40993110B2E2}" type="datetime1">
              <a:rPr lang="en-US" smtClean="0"/>
              <a:t>8/26/2019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3F0035-4B67-4B88-B2A0-536AE2AEED21}" type="slidenum">
              <a:rPr lang="en-US" smtClean="0"/>
              <a:t>‹#›</a:t>
            </a:fld>
            <a:endParaRPr lang="en-US"/>
          </a:p>
        </p:txBody>
      </p:sp>
    </p:spTree>
    <p:extLst>
      <p:ext uri="{BB962C8B-B14F-4D97-AF65-F5344CB8AC3E}">
        <p14:creationId xmlns:p14="http://schemas.microsoft.com/office/powerpoint/2010/main" val="11295726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291D4A01-3715-4476-A057-955DFD278091}" type="datetime1">
              <a:rPr lang="en-US" smtClean="0"/>
              <a:t>8/26/2019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43F0035-4B67-4B88-B2A0-536AE2AEED21}" type="slidenum">
              <a:rPr lang="en-US" smtClean="0"/>
              <a:t>‹#›</a:t>
            </a:fld>
            <a:endParaRPr lang="en-US"/>
          </a:p>
        </p:txBody>
      </p:sp>
    </p:spTree>
    <p:extLst>
      <p:ext uri="{BB962C8B-B14F-4D97-AF65-F5344CB8AC3E}">
        <p14:creationId xmlns:p14="http://schemas.microsoft.com/office/powerpoint/2010/main" val="859152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AF793C02-4A9B-4362-AC6F-20FFF8DED461}" type="datetime1">
              <a:rPr lang="en-US" smtClean="0"/>
              <a:t>8/26/2019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43F0035-4B67-4B88-B2A0-536AE2AEED21}" type="slidenum">
              <a:rPr lang="en-US" smtClean="0"/>
              <a:t>‹#›</a:t>
            </a:fld>
            <a:endParaRPr lang="en-US"/>
          </a:p>
        </p:txBody>
      </p:sp>
    </p:spTree>
    <p:extLst>
      <p:ext uri="{BB962C8B-B14F-4D97-AF65-F5344CB8AC3E}">
        <p14:creationId xmlns:p14="http://schemas.microsoft.com/office/powerpoint/2010/main" val="40950850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1A3C571-B71D-45C8-8B1B-35BCC2DA467A}" type="datetime1">
              <a:rPr lang="en-US" smtClean="0"/>
              <a:t>8/26/2019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43F0035-4B67-4B88-B2A0-536AE2AEED21}" type="slidenum">
              <a:rPr lang="en-US" smtClean="0"/>
              <a:t>‹#›</a:t>
            </a:fld>
            <a:endParaRPr lang="en-US"/>
          </a:p>
        </p:txBody>
      </p:sp>
    </p:spTree>
    <p:extLst>
      <p:ext uri="{BB962C8B-B14F-4D97-AF65-F5344CB8AC3E}">
        <p14:creationId xmlns:p14="http://schemas.microsoft.com/office/powerpoint/2010/main" val="34553100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B3D478-9CFC-4269-8AE4-00D2F07081AD}" type="datetime1">
              <a:rPr lang="en-US" smtClean="0"/>
              <a:t>8/26/2019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43F0035-4B67-4B88-B2A0-536AE2AEED21}" type="slidenum">
              <a:rPr lang="en-US" smtClean="0"/>
              <a:t>‹#›</a:t>
            </a:fld>
            <a:endParaRPr lang="en-US"/>
          </a:p>
        </p:txBody>
      </p:sp>
    </p:spTree>
    <p:extLst>
      <p:ext uri="{BB962C8B-B14F-4D97-AF65-F5344CB8AC3E}">
        <p14:creationId xmlns:p14="http://schemas.microsoft.com/office/powerpoint/2010/main" val="26433688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DAC7258-29DB-40D6-BF3F-E918B183B515}" type="datetime1">
              <a:rPr lang="en-US" smtClean="0"/>
              <a:t>8/26/2019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43F0035-4B67-4B88-B2A0-536AE2AEED21}" type="slidenum">
              <a:rPr lang="en-US" smtClean="0"/>
              <a:t>‹#›</a:t>
            </a:fld>
            <a:endParaRPr lang="en-US"/>
          </a:p>
        </p:txBody>
      </p:sp>
    </p:spTree>
    <p:extLst>
      <p:ext uri="{BB962C8B-B14F-4D97-AF65-F5344CB8AC3E}">
        <p14:creationId xmlns:p14="http://schemas.microsoft.com/office/powerpoint/2010/main" val="11002106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5CD29DC-3073-4B54-8EE5-E93562EFCDAC}" type="datetime1">
              <a:rPr lang="en-US" smtClean="0"/>
              <a:t>8/26/2019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43F0035-4B67-4B88-B2A0-536AE2AEED21}" type="slidenum">
              <a:rPr lang="en-US" smtClean="0"/>
              <a:t>‹#›</a:t>
            </a:fld>
            <a:endParaRPr lang="en-US"/>
          </a:p>
        </p:txBody>
      </p:sp>
    </p:spTree>
    <p:extLst>
      <p:ext uri="{BB962C8B-B14F-4D97-AF65-F5344CB8AC3E}">
        <p14:creationId xmlns:p14="http://schemas.microsoft.com/office/powerpoint/2010/main" val="42834486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65975A9-2543-49D8-B35B-ED476DA0ED73}" type="datetime1">
              <a:rPr lang="en-US" smtClean="0"/>
              <a:t>8/26/2019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3F0035-4B67-4B88-B2A0-536AE2AEED21}" type="slidenum">
              <a:rPr lang="en-US" smtClean="0"/>
              <a:t>‹#›</a:t>
            </a:fld>
            <a:endParaRPr lang="en-US"/>
          </a:p>
        </p:txBody>
      </p:sp>
    </p:spTree>
    <p:extLst>
      <p:ext uri="{BB962C8B-B14F-4D97-AF65-F5344CB8AC3E}">
        <p14:creationId xmlns:p14="http://schemas.microsoft.com/office/powerpoint/2010/main" val="21209799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EF7BFD3-FA8E-4E08-91B4-E94DC0FF8BBB}" type="datetime1">
              <a:rPr lang="en-US" smtClean="0"/>
              <a:t>8/26/2019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3F0035-4B67-4B88-B2A0-536AE2AEED21}" type="slidenum">
              <a:rPr lang="en-US" smtClean="0"/>
              <a:t>‹#›</a:t>
            </a:fld>
            <a:endParaRPr lang="en-US"/>
          </a:p>
        </p:txBody>
      </p:sp>
    </p:spTree>
    <p:extLst>
      <p:ext uri="{BB962C8B-B14F-4D97-AF65-F5344CB8AC3E}">
        <p14:creationId xmlns:p14="http://schemas.microsoft.com/office/powerpoint/2010/main" val="19385642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05BFD0B-D7A9-4808-B8C9-44A20956DF29}" type="datetime1">
              <a:rPr lang="en-US" smtClean="0"/>
              <a:t>8/26/2019</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43F0035-4B67-4B88-B2A0-536AE2AEED21}" type="slidenum">
              <a:rPr lang="en-US" smtClean="0"/>
              <a:t>‹#›</a:t>
            </a:fld>
            <a:endParaRPr lang="en-US"/>
          </a:p>
        </p:txBody>
      </p:sp>
    </p:spTree>
    <p:extLst>
      <p:ext uri="{BB962C8B-B14F-4D97-AF65-F5344CB8AC3E}">
        <p14:creationId xmlns:p14="http://schemas.microsoft.com/office/powerpoint/2010/main" val="1255663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0"/>
            <a:ext cx="8229600" cy="685800"/>
          </a:xfrm>
        </p:spPr>
        <p:txBody>
          <a:bodyPr>
            <a:noAutofit/>
          </a:bodyPr>
          <a:lstStyle/>
          <a:p>
            <a:r>
              <a:rPr lang="en-GB" sz="2800" dirty="0" smtClean="0"/>
              <a:t>Use case Testing</a:t>
            </a:r>
            <a:endParaRPr lang="en-GB" sz="2800" dirty="0"/>
          </a:p>
        </p:txBody>
      </p:sp>
      <p:sp>
        <p:nvSpPr>
          <p:cNvPr id="7" name="Content Placeholder 2"/>
          <p:cNvSpPr>
            <a:spLocks noGrp="1"/>
          </p:cNvSpPr>
          <p:nvPr>
            <p:ph idx="1"/>
          </p:nvPr>
        </p:nvSpPr>
        <p:spPr>
          <a:xfrm>
            <a:off x="609600" y="685800"/>
            <a:ext cx="8229600" cy="6172200"/>
          </a:xfrm>
        </p:spPr>
        <p:txBody>
          <a:bodyPr>
            <a:noAutofit/>
          </a:bodyPr>
          <a:lstStyle/>
          <a:p>
            <a:r>
              <a:rPr lang="en-GB" sz="1800" dirty="0"/>
              <a:t>Use cases are one way of specifying functionality as business scenarios or </a:t>
            </a:r>
            <a:r>
              <a:rPr lang="en-GB" sz="1800" dirty="0" smtClean="0"/>
              <a:t>process flows</a:t>
            </a:r>
            <a:r>
              <a:rPr lang="en-GB" sz="1800" dirty="0"/>
              <a:t>. </a:t>
            </a:r>
            <a:endParaRPr lang="en-GB" sz="1800" dirty="0" smtClean="0"/>
          </a:p>
          <a:p>
            <a:r>
              <a:rPr lang="en-GB" sz="1800" dirty="0" smtClean="0"/>
              <a:t>They </a:t>
            </a:r>
            <a:r>
              <a:rPr lang="en-GB" sz="1800" dirty="0"/>
              <a:t>capture the individual interactions between ‘actors’ and the system.</a:t>
            </a:r>
          </a:p>
          <a:p>
            <a:r>
              <a:rPr lang="en-GB" sz="1800" dirty="0"/>
              <a:t>An actor represents a particular type of user and the use cases capture the </a:t>
            </a:r>
            <a:r>
              <a:rPr lang="en-GB" sz="1800" dirty="0" smtClean="0"/>
              <a:t>interactions </a:t>
            </a:r>
            <a:r>
              <a:rPr lang="en-GB" sz="1800" dirty="0"/>
              <a:t>that each user takes part in to produce some output that is of value.</a:t>
            </a:r>
          </a:p>
          <a:p>
            <a:r>
              <a:rPr lang="en-GB" sz="1800" dirty="0"/>
              <a:t>Test cases based on use cases at the business process level, often called </a:t>
            </a:r>
            <a:r>
              <a:rPr lang="en-GB" sz="1800" dirty="0" smtClean="0"/>
              <a:t>scenarios, are </a:t>
            </a:r>
            <a:r>
              <a:rPr lang="en-GB" sz="1800" dirty="0"/>
              <a:t>particularly useful in exercising business rules or process flows and will </a:t>
            </a:r>
            <a:r>
              <a:rPr lang="en-GB" sz="1800" dirty="0" smtClean="0"/>
              <a:t>often identify </a:t>
            </a:r>
            <a:r>
              <a:rPr lang="en-GB" sz="1800" dirty="0"/>
              <a:t>gaps or weaknesses in these that would not be found by exercising </a:t>
            </a:r>
            <a:r>
              <a:rPr lang="en-GB" sz="1800" dirty="0" smtClean="0"/>
              <a:t>individual </a:t>
            </a:r>
            <a:r>
              <a:rPr lang="en-GB" sz="1800" dirty="0"/>
              <a:t>components in isolation. </a:t>
            </a:r>
            <a:endParaRPr lang="en-GB" sz="1800" dirty="0" smtClean="0"/>
          </a:p>
          <a:p>
            <a:r>
              <a:rPr lang="en-GB" sz="1800" dirty="0" smtClean="0"/>
              <a:t>This </a:t>
            </a:r>
            <a:r>
              <a:rPr lang="en-GB" sz="1800" dirty="0"/>
              <a:t>makes use case testing very effective </a:t>
            </a:r>
            <a:r>
              <a:rPr lang="en-GB" sz="1800" dirty="0" smtClean="0"/>
              <a:t>in defining </a:t>
            </a:r>
            <a:r>
              <a:rPr lang="en-GB" sz="1800" dirty="0"/>
              <a:t>acceptance tests because the use cases represent actual likely use</a:t>
            </a:r>
            <a:r>
              <a:rPr lang="en-GB" sz="1800" dirty="0" smtClean="0"/>
              <a:t>.</a:t>
            </a:r>
            <a:endParaRPr lang="en-GB" sz="1800" dirty="0"/>
          </a:p>
        </p:txBody>
      </p:sp>
      <p:sp>
        <p:nvSpPr>
          <p:cNvPr id="2" name="Slide Number Placeholder 1"/>
          <p:cNvSpPr>
            <a:spLocks noGrp="1"/>
          </p:cNvSpPr>
          <p:nvPr>
            <p:ph type="sldNum" sz="quarter" idx="12"/>
          </p:nvPr>
        </p:nvSpPr>
        <p:spPr/>
        <p:txBody>
          <a:bodyPr/>
          <a:lstStyle/>
          <a:p>
            <a:fld id="{243F0035-4B67-4B88-B2A0-536AE2AEED21}" type="slidenum">
              <a:rPr lang="en-US" smtClean="0"/>
              <a:t>1</a:t>
            </a:fld>
            <a:endParaRPr lang="en-US" dirty="0"/>
          </a:p>
        </p:txBody>
      </p:sp>
    </p:spTree>
    <p:extLst>
      <p:ext uri="{BB962C8B-B14F-4D97-AF65-F5344CB8AC3E}">
        <p14:creationId xmlns:p14="http://schemas.microsoft.com/office/powerpoint/2010/main" val="195540493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0"/>
            <a:ext cx="8229600" cy="685800"/>
          </a:xfrm>
        </p:spPr>
        <p:txBody>
          <a:bodyPr>
            <a:noAutofit/>
          </a:bodyPr>
          <a:lstStyle/>
          <a:p>
            <a:r>
              <a:rPr lang="en-GB" sz="2800" dirty="0" smtClean="0"/>
              <a:t>Use case Testing</a:t>
            </a:r>
            <a:endParaRPr lang="en-GB" sz="2800" dirty="0"/>
          </a:p>
        </p:txBody>
      </p:sp>
      <p:sp>
        <p:nvSpPr>
          <p:cNvPr id="7" name="Content Placeholder 2"/>
          <p:cNvSpPr>
            <a:spLocks noGrp="1"/>
          </p:cNvSpPr>
          <p:nvPr>
            <p:ph idx="1"/>
          </p:nvPr>
        </p:nvSpPr>
        <p:spPr>
          <a:xfrm>
            <a:off x="609600" y="685800"/>
            <a:ext cx="8229600" cy="6172200"/>
          </a:xfrm>
        </p:spPr>
        <p:txBody>
          <a:bodyPr>
            <a:noAutofit/>
          </a:bodyPr>
          <a:lstStyle/>
          <a:p>
            <a:r>
              <a:rPr lang="en-GB" sz="1800" dirty="0" smtClean="0"/>
              <a:t>Use </a:t>
            </a:r>
            <a:r>
              <a:rPr lang="en-GB" sz="1800" dirty="0"/>
              <a:t>cases may also be defined at the system level, with preconditions that define the state the system needs to be in on entry to a use case to enable the use case to complete successfully, and post conditions that define the state of the system on completion of the use case. </a:t>
            </a:r>
          </a:p>
          <a:p>
            <a:r>
              <a:rPr lang="en-GB" sz="1800" dirty="0"/>
              <a:t>Use cases typically have a mainstream path, defining the expected behaviour, and one or more alternative paths related to such aspects as error conditions. Well defined use cases can therefore be an excellent basis for system level testing, and they can also help to uncover integration defects caused by incorrect interaction or communication between components.</a:t>
            </a:r>
          </a:p>
          <a:p>
            <a:r>
              <a:rPr lang="en-GB" sz="1800" dirty="0"/>
              <a:t>In practice, writing a test case to represent each use case is often a good starting point for testing, and use case testing can be combined with other specification based testing.</a:t>
            </a:r>
          </a:p>
          <a:p>
            <a:endParaRPr lang="en-GB" sz="1800" dirty="0"/>
          </a:p>
          <a:p>
            <a:endParaRPr lang="en-GB" sz="1800" dirty="0"/>
          </a:p>
          <a:p>
            <a:endParaRPr lang="en-GB" sz="1800" dirty="0"/>
          </a:p>
          <a:p>
            <a:endParaRPr lang="en-GB" sz="1800" dirty="0"/>
          </a:p>
          <a:p>
            <a:endParaRPr lang="en-GB" sz="1800" dirty="0"/>
          </a:p>
          <a:p>
            <a:endParaRPr lang="en-GB" sz="1800" dirty="0"/>
          </a:p>
          <a:p>
            <a:endParaRPr lang="en-GB" sz="1800" dirty="0"/>
          </a:p>
        </p:txBody>
      </p:sp>
      <p:sp>
        <p:nvSpPr>
          <p:cNvPr id="2" name="Slide Number Placeholder 1"/>
          <p:cNvSpPr>
            <a:spLocks noGrp="1"/>
          </p:cNvSpPr>
          <p:nvPr>
            <p:ph type="sldNum" sz="quarter" idx="12"/>
          </p:nvPr>
        </p:nvSpPr>
        <p:spPr/>
        <p:txBody>
          <a:bodyPr/>
          <a:lstStyle/>
          <a:p>
            <a:fld id="{243F0035-4B67-4B88-B2A0-536AE2AEED21}" type="slidenum">
              <a:rPr lang="en-US" smtClean="0"/>
              <a:t>2</a:t>
            </a:fld>
            <a:endParaRPr lang="en-US" dirty="0"/>
          </a:p>
        </p:txBody>
      </p:sp>
    </p:spTree>
    <p:extLst>
      <p:ext uri="{BB962C8B-B14F-4D97-AF65-F5344CB8AC3E}">
        <p14:creationId xmlns:p14="http://schemas.microsoft.com/office/powerpoint/2010/main" val="216795962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0"/>
            <a:ext cx="8229600" cy="685800"/>
          </a:xfrm>
        </p:spPr>
        <p:txBody>
          <a:bodyPr>
            <a:noAutofit/>
          </a:bodyPr>
          <a:lstStyle/>
          <a:p>
            <a:r>
              <a:rPr lang="en-GB" sz="2800" dirty="0"/>
              <a:t>Use case </a:t>
            </a:r>
            <a:r>
              <a:rPr lang="en-GB" sz="2800" dirty="0" smtClean="0"/>
              <a:t>example 1</a:t>
            </a:r>
            <a:endParaRPr lang="en-GB" sz="2800" dirty="0"/>
          </a:p>
        </p:txBody>
      </p:sp>
      <p:sp>
        <p:nvSpPr>
          <p:cNvPr id="7" name="Content Placeholder 2"/>
          <p:cNvSpPr>
            <a:spLocks noGrp="1"/>
          </p:cNvSpPr>
          <p:nvPr>
            <p:ph idx="1"/>
          </p:nvPr>
        </p:nvSpPr>
        <p:spPr>
          <a:xfrm>
            <a:off x="609600" y="685800"/>
            <a:ext cx="8229600" cy="6172200"/>
          </a:xfrm>
        </p:spPr>
        <p:txBody>
          <a:bodyPr>
            <a:noAutofit/>
          </a:bodyPr>
          <a:lstStyle/>
          <a:p>
            <a:r>
              <a:rPr lang="en-GB" sz="1800" dirty="0"/>
              <a:t>In a use case diagram each type of user is known as an actor, </a:t>
            </a:r>
            <a:r>
              <a:rPr lang="en-GB" sz="1800" dirty="0" smtClean="0"/>
              <a:t>and an </a:t>
            </a:r>
            <a:r>
              <a:rPr lang="en-GB" sz="1800" dirty="0"/>
              <a:t>actor stands for all users of the type. Use cases are activities carried out </a:t>
            </a:r>
            <a:r>
              <a:rPr lang="en-GB" sz="1800" dirty="0" smtClean="0"/>
              <a:t>for that </a:t>
            </a:r>
            <a:r>
              <a:rPr lang="en-GB" sz="1800" dirty="0"/>
              <a:t>actor by the system. </a:t>
            </a:r>
            <a:endParaRPr lang="en-GB" sz="1800" dirty="0" smtClean="0"/>
          </a:p>
          <a:p>
            <a:r>
              <a:rPr lang="en-GB" sz="1800" dirty="0" smtClean="0"/>
              <a:t>This </a:t>
            </a:r>
            <a:r>
              <a:rPr lang="en-GB" sz="1800" dirty="0"/>
              <a:t>is, in effect, a high-level view of requirements.</a:t>
            </a:r>
          </a:p>
          <a:p>
            <a:r>
              <a:rPr lang="en-GB" sz="1800" dirty="0"/>
              <a:t>The diagram alone does not provide enough detail for testing, so we need </a:t>
            </a:r>
            <a:r>
              <a:rPr lang="en-GB" sz="1800" dirty="0" smtClean="0"/>
              <a:t>some textual </a:t>
            </a:r>
            <a:r>
              <a:rPr lang="en-GB" sz="1800" dirty="0"/>
              <a:t>description of the processes involved as well</a:t>
            </a:r>
            <a:r>
              <a:rPr lang="en-GB" sz="1800" dirty="0" smtClean="0"/>
              <a:t>.</a:t>
            </a:r>
          </a:p>
          <a:p>
            <a:r>
              <a:rPr lang="en-GB" sz="1800" dirty="0"/>
              <a:t>Use case testing has the major benefit that it relates to real user processes, so </a:t>
            </a:r>
            <a:r>
              <a:rPr lang="en-GB" sz="1800" dirty="0" smtClean="0"/>
              <a:t>it offers </a:t>
            </a:r>
            <a:r>
              <a:rPr lang="en-GB" sz="1800" dirty="0"/>
              <a:t>an opportunity to exercise a complete process flow. </a:t>
            </a:r>
            <a:endParaRPr lang="en-GB" sz="1800" dirty="0" smtClean="0"/>
          </a:p>
          <a:p>
            <a:r>
              <a:rPr lang="en-GB" sz="1800" dirty="0" smtClean="0"/>
              <a:t>The </a:t>
            </a:r>
            <a:r>
              <a:rPr lang="en-GB" sz="1800" dirty="0"/>
              <a:t>principles </a:t>
            </a:r>
            <a:r>
              <a:rPr lang="en-GB" sz="1800" dirty="0" smtClean="0"/>
              <a:t>applied elsewhere </a:t>
            </a:r>
            <a:r>
              <a:rPr lang="en-GB" sz="1800" dirty="0"/>
              <a:t>can be applied here: first test the highest priority (highest value) </a:t>
            </a:r>
            <a:r>
              <a:rPr lang="en-GB" sz="1800" dirty="0" smtClean="0"/>
              <a:t>use cases </a:t>
            </a:r>
            <a:r>
              <a:rPr lang="en-GB" sz="1800" dirty="0"/>
              <a:t>by taking typical examples; then exercise some attempts at </a:t>
            </a:r>
            <a:r>
              <a:rPr lang="en-GB" sz="1800" dirty="0" smtClean="0"/>
              <a:t>incorrect process </a:t>
            </a:r>
            <a:r>
              <a:rPr lang="en-GB" sz="1800" dirty="0"/>
              <a:t>flows; and then exercise the boundaries.</a:t>
            </a:r>
          </a:p>
          <a:p>
            <a:endParaRPr lang="en-GB" sz="1800" dirty="0" smtClean="0"/>
          </a:p>
          <a:p>
            <a:endParaRPr lang="en-GB" sz="1800" dirty="0"/>
          </a:p>
          <a:p>
            <a:endParaRPr lang="en-GB" sz="1800" dirty="0"/>
          </a:p>
          <a:p>
            <a:endParaRPr lang="en-GB" sz="1800" dirty="0"/>
          </a:p>
          <a:p>
            <a:endParaRPr lang="en-GB" sz="1800" dirty="0"/>
          </a:p>
          <a:p>
            <a:endParaRPr lang="en-GB" sz="1800" dirty="0"/>
          </a:p>
        </p:txBody>
      </p:sp>
      <p:sp>
        <p:nvSpPr>
          <p:cNvPr id="2" name="Slide Number Placeholder 1"/>
          <p:cNvSpPr>
            <a:spLocks noGrp="1"/>
          </p:cNvSpPr>
          <p:nvPr>
            <p:ph type="sldNum" sz="quarter" idx="12"/>
          </p:nvPr>
        </p:nvSpPr>
        <p:spPr/>
        <p:txBody>
          <a:bodyPr/>
          <a:lstStyle/>
          <a:p>
            <a:fld id="{243F0035-4B67-4B88-B2A0-536AE2AEED21}" type="slidenum">
              <a:rPr lang="en-US" smtClean="0"/>
              <a:t>3</a:t>
            </a:fld>
            <a:endParaRPr lang="en-US" dirty="0"/>
          </a:p>
        </p:txBody>
      </p:sp>
      <p:pic>
        <p:nvPicPr>
          <p:cNvPr id="3" name="Picture 2"/>
          <p:cNvPicPr>
            <a:picLocks noChangeAspect="1"/>
          </p:cNvPicPr>
          <p:nvPr/>
        </p:nvPicPr>
        <p:blipFill>
          <a:blip r:embed="rId3"/>
          <a:stretch>
            <a:fillRect/>
          </a:stretch>
        </p:blipFill>
        <p:spPr>
          <a:xfrm>
            <a:off x="2533650" y="3937000"/>
            <a:ext cx="3867150" cy="2771775"/>
          </a:xfrm>
          <a:prstGeom prst="rect">
            <a:avLst/>
          </a:prstGeom>
        </p:spPr>
      </p:pic>
    </p:spTree>
    <p:extLst>
      <p:ext uri="{BB962C8B-B14F-4D97-AF65-F5344CB8AC3E}">
        <p14:creationId xmlns:p14="http://schemas.microsoft.com/office/powerpoint/2010/main" val="360120564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0"/>
            <a:ext cx="8229600" cy="685800"/>
          </a:xfrm>
        </p:spPr>
        <p:txBody>
          <a:bodyPr>
            <a:noAutofit/>
          </a:bodyPr>
          <a:lstStyle/>
          <a:p>
            <a:r>
              <a:rPr lang="en-GB" sz="2800" dirty="0"/>
              <a:t>Use case </a:t>
            </a:r>
            <a:r>
              <a:rPr lang="en-GB" sz="2800" dirty="0" smtClean="0"/>
              <a:t>example 2</a:t>
            </a:r>
            <a:endParaRPr lang="en-GB" sz="2800" dirty="0"/>
          </a:p>
        </p:txBody>
      </p:sp>
      <p:sp>
        <p:nvSpPr>
          <p:cNvPr id="7" name="Content Placeholder 2"/>
          <p:cNvSpPr>
            <a:spLocks noGrp="1"/>
          </p:cNvSpPr>
          <p:nvPr>
            <p:ph idx="1"/>
          </p:nvPr>
        </p:nvSpPr>
        <p:spPr>
          <a:xfrm>
            <a:off x="609600" y="685800"/>
            <a:ext cx="8229600" cy="6172200"/>
          </a:xfrm>
        </p:spPr>
        <p:txBody>
          <a:bodyPr>
            <a:noAutofit/>
          </a:bodyPr>
          <a:lstStyle/>
          <a:p>
            <a:r>
              <a:rPr lang="en-GB" sz="1800" dirty="0"/>
              <a:t>System requirements can also be specified as a set of use cases. </a:t>
            </a:r>
            <a:endParaRPr lang="en-GB" sz="1800" dirty="0" smtClean="0"/>
          </a:p>
          <a:p>
            <a:r>
              <a:rPr lang="en-GB" sz="1800" dirty="0" smtClean="0"/>
              <a:t>This approach </a:t>
            </a:r>
            <a:r>
              <a:rPr lang="en-GB" sz="1800" dirty="0"/>
              <a:t>can make it easier to involve the users in the requirements </a:t>
            </a:r>
            <a:r>
              <a:rPr lang="en-GB" sz="1800" dirty="0" smtClean="0"/>
              <a:t>gathering and </a:t>
            </a:r>
            <a:r>
              <a:rPr lang="en-GB" sz="1800" dirty="0"/>
              <a:t>definition process</a:t>
            </a:r>
            <a:r>
              <a:rPr lang="en-GB" sz="1800" dirty="0" smtClean="0"/>
              <a:t>.</a:t>
            </a:r>
          </a:p>
          <a:p>
            <a:r>
              <a:rPr lang="en-GB" sz="1800" dirty="0" smtClean="0"/>
              <a:t>ATM </a:t>
            </a:r>
            <a:r>
              <a:rPr lang="en-GB" sz="1800" smtClean="0"/>
              <a:t>cash withdrawal:</a:t>
            </a:r>
            <a:endParaRPr lang="en-GB" sz="1800" dirty="0" smtClean="0"/>
          </a:p>
          <a:p>
            <a:endParaRPr lang="en-GB" sz="1800" dirty="0"/>
          </a:p>
          <a:p>
            <a:endParaRPr lang="en-GB" sz="1800" dirty="0"/>
          </a:p>
          <a:p>
            <a:endParaRPr lang="en-GB" sz="1800" dirty="0"/>
          </a:p>
          <a:p>
            <a:endParaRPr lang="en-GB" sz="1800" dirty="0"/>
          </a:p>
          <a:p>
            <a:endParaRPr lang="en-GB" sz="1800" dirty="0"/>
          </a:p>
        </p:txBody>
      </p:sp>
      <p:sp>
        <p:nvSpPr>
          <p:cNvPr id="2" name="Slide Number Placeholder 1"/>
          <p:cNvSpPr>
            <a:spLocks noGrp="1"/>
          </p:cNvSpPr>
          <p:nvPr>
            <p:ph type="sldNum" sz="quarter" idx="12"/>
          </p:nvPr>
        </p:nvSpPr>
        <p:spPr/>
        <p:txBody>
          <a:bodyPr/>
          <a:lstStyle/>
          <a:p>
            <a:fld id="{243F0035-4B67-4B88-B2A0-536AE2AEED21}" type="slidenum">
              <a:rPr lang="en-US" smtClean="0"/>
              <a:t>4</a:t>
            </a:fld>
            <a:endParaRPr lang="en-US" dirty="0"/>
          </a:p>
        </p:txBody>
      </p:sp>
      <p:pic>
        <p:nvPicPr>
          <p:cNvPr id="4" name="Picture 3"/>
          <p:cNvPicPr>
            <a:picLocks noChangeAspect="1"/>
          </p:cNvPicPr>
          <p:nvPr/>
        </p:nvPicPr>
        <p:blipFill>
          <a:blip r:embed="rId3"/>
          <a:stretch>
            <a:fillRect/>
          </a:stretch>
        </p:blipFill>
        <p:spPr>
          <a:xfrm>
            <a:off x="1757362" y="2719387"/>
            <a:ext cx="5629275" cy="3819525"/>
          </a:xfrm>
          <a:prstGeom prst="rect">
            <a:avLst/>
          </a:prstGeom>
        </p:spPr>
      </p:pic>
    </p:spTree>
    <p:extLst>
      <p:ext uri="{BB962C8B-B14F-4D97-AF65-F5344CB8AC3E}">
        <p14:creationId xmlns:p14="http://schemas.microsoft.com/office/powerpoint/2010/main" val="832336978"/>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1234</TotalTime>
  <Words>473</Words>
  <Application>Microsoft Office PowerPoint</Application>
  <PresentationFormat>On-screen Show (4:3)</PresentationFormat>
  <Paragraphs>40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Use case Testing</vt:lpstr>
      <vt:lpstr>Use case Testing</vt:lpstr>
      <vt:lpstr>Use case example 1</vt:lpstr>
      <vt:lpstr>Use case example 2</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Risk Analysis</dc:title>
  <dc:creator>gulraiz</dc:creator>
  <cp:lastModifiedBy>Windows User</cp:lastModifiedBy>
  <cp:revision>310</cp:revision>
  <dcterms:created xsi:type="dcterms:W3CDTF">2014-08-12T16:29:38Z</dcterms:created>
  <dcterms:modified xsi:type="dcterms:W3CDTF">2019-08-26T05:01:22Z</dcterms:modified>
</cp:coreProperties>
</file>