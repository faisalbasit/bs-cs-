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65" r:id="rId2"/>
    <p:sldId id="277" r:id="rId3"/>
    <p:sldId id="279" r:id="rId4"/>
    <p:sldId id="280" r:id="rId5"/>
    <p:sldId id="281" r:id="rId6"/>
    <p:sldId id="283" r:id="rId7"/>
    <p:sldId id="284" r:id="rId8"/>
    <p:sldId id="285" r:id="rId9"/>
    <p:sldId id="286" r:id="rId10"/>
    <p:sldId id="287"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13" autoAdjust="0"/>
    <p:restoredTop sz="94624" autoAdjust="0"/>
  </p:normalViewPr>
  <p:slideViewPr>
    <p:cSldViewPr>
      <p:cViewPr varScale="1">
        <p:scale>
          <a:sx n="70" d="100"/>
          <a:sy n="70" d="100"/>
        </p:scale>
        <p:origin x="1392"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2A68BC-087B-4804-80E7-54E6BF9D6720}" type="datetimeFigureOut">
              <a:rPr lang="en-US" smtClean="0"/>
              <a:pPr/>
              <a:t>10/18/2023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A53098-A02F-43AC-83B0-8400FDBB11FC}" type="slidenum">
              <a:rPr lang="en-US" smtClean="0"/>
              <a:pPr/>
              <a:t>‹#›</a:t>
            </a:fld>
            <a:endParaRPr lang="en-US"/>
          </a:p>
        </p:txBody>
      </p:sp>
    </p:spTree>
    <p:extLst>
      <p:ext uri="{BB962C8B-B14F-4D97-AF65-F5344CB8AC3E}">
        <p14:creationId xmlns:p14="http://schemas.microsoft.com/office/powerpoint/2010/main" val="3679706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2</a:t>
            </a:fld>
            <a:endParaRPr lang="en-US"/>
          </a:p>
        </p:txBody>
      </p:sp>
    </p:spTree>
    <p:extLst>
      <p:ext uri="{BB962C8B-B14F-4D97-AF65-F5344CB8AC3E}">
        <p14:creationId xmlns:p14="http://schemas.microsoft.com/office/powerpoint/2010/main" val="2434406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3</a:t>
            </a:fld>
            <a:endParaRPr lang="en-US"/>
          </a:p>
        </p:txBody>
      </p:sp>
    </p:spTree>
    <p:extLst>
      <p:ext uri="{BB962C8B-B14F-4D97-AF65-F5344CB8AC3E}">
        <p14:creationId xmlns:p14="http://schemas.microsoft.com/office/powerpoint/2010/main" val="2434406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4</a:t>
            </a:fld>
            <a:endParaRPr lang="en-US"/>
          </a:p>
        </p:txBody>
      </p:sp>
    </p:spTree>
    <p:extLst>
      <p:ext uri="{BB962C8B-B14F-4D97-AF65-F5344CB8AC3E}">
        <p14:creationId xmlns:p14="http://schemas.microsoft.com/office/powerpoint/2010/main" val="2434406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5</a:t>
            </a:fld>
            <a:endParaRPr lang="en-US"/>
          </a:p>
        </p:txBody>
      </p:sp>
    </p:spTree>
    <p:extLst>
      <p:ext uri="{BB962C8B-B14F-4D97-AF65-F5344CB8AC3E}">
        <p14:creationId xmlns:p14="http://schemas.microsoft.com/office/powerpoint/2010/main" val="2434406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6</a:t>
            </a:fld>
            <a:endParaRPr lang="en-US"/>
          </a:p>
        </p:txBody>
      </p:sp>
    </p:spTree>
    <p:extLst>
      <p:ext uri="{BB962C8B-B14F-4D97-AF65-F5344CB8AC3E}">
        <p14:creationId xmlns:p14="http://schemas.microsoft.com/office/powerpoint/2010/main" val="13138920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7</a:t>
            </a:fld>
            <a:endParaRPr lang="en-US"/>
          </a:p>
        </p:txBody>
      </p:sp>
    </p:spTree>
    <p:extLst>
      <p:ext uri="{BB962C8B-B14F-4D97-AF65-F5344CB8AC3E}">
        <p14:creationId xmlns:p14="http://schemas.microsoft.com/office/powerpoint/2010/main" val="11793380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8</a:t>
            </a:fld>
            <a:endParaRPr lang="en-US"/>
          </a:p>
        </p:txBody>
      </p:sp>
    </p:spTree>
    <p:extLst>
      <p:ext uri="{BB962C8B-B14F-4D97-AF65-F5344CB8AC3E}">
        <p14:creationId xmlns:p14="http://schemas.microsoft.com/office/powerpoint/2010/main" val="12046991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9</a:t>
            </a:fld>
            <a:endParaRPr lang="en-US"/>
          </a:p>
        </p:txBody>
      </p:sp>
    </p:spTree>
    <p:extLst>
      <p:ext uri="{BB962C8B-B14F-4D97-AF65-F5344CB8AC3E}">
        <p14:creationId xmlns:p14="http://schemas.microsoft.com/office/powerpoint/2010/main" val="31037050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10</a:t>
            </a:fld>
            <a:endParaRPr lang="en-US"/>
          </a:p>
        </p:txBody>
      </p:sp>
    </p:spTree>
    <p:extLst>
      <p:ext uri="{BB962C8B-B14F-4D97-AF65-F5344CB8AC3E}">
        <p14:creationId xmlns:p14="http://schemas.microsoft.com/office/powerpoint/2010/main" val="4249995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3EF4250-741B-442A-9703-012BAF15BAAC}" type="datetime1">
              <a:rPr lang="en-US" smtClean="0"/>
              <a:pPr/>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2466978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D816B4-16E8-4062-88BC-ECA9BFE00428}" type="datetime1">
              <a:rPr lang="en-US" smtClean="0"/>
              <a:pPr/>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1722550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3CF6598-E98D-41E9-AC1F-40993110B2E2}" type="datetime1">
              <a:rPr lang="en-US" smtClean="0"/>
              <a:pPr/>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1129572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91D4A01-3715-4476-A057-955DFD278091}" type="datetime1">
              <a:rPr lang="en-US" smtClean="0"/>
              <a:pPr/>
              <a:t>10/18/2023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85915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F793C02-4A9B-4362-AC6F-20FFF8DED461}" type="datetime1">
              <a:rPr lang="en-US" smtClean="0"/>
              <a:pPr/>
              <a:t>10/18/2023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4095085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1A3C571-B71D-45C8-8B1B-35BCC2DA467A}" type="datetime1">
              <a:rPr lang="en-US" smtClean="0"/>
              <a:pPr/>
              <a:t>10/18/2023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3455310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3D478-9CFC-4269-8AE4-00D2F07081AD}" type="datetime1">
              <a:rPr lang="en-US" smtClean="0"/>
              <a:pPr/>
              <a:t>10/18/2023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2643368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DAC7258-29DB-40D6-BF3F-E918B183B515}" type="datetime1">
              <a:rPr lang="en-US" smtClean="0"/>
              <a:pPr/>
              <a:t>10/18/2023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1100210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5CD29DC-3073-4B54-8EE5-E93562EFCDAC}" type="datetime1">
              <a:rPr lang="en-US" smtClean="0"/>
              <a:pPr/>
              <a:t>10/18/2023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4283448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65975A9-2543-49D8-B35B-ED476DA0ED73}" type="datetime1">
              <a:rPr lang="en-US" smtClean="0"/>
              <a:pPr/>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2120979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EF7BFD3-FA8E-4E08-91B4-E94DC0FF8BBB}" type="datetime1">
              <a:rPr lang="en-US" smtClean="0"/>
              <a:pPr/>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1938564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5BFD0B-D7A9-4808-B8C9-44A20956DF29}" type="datetime1">
              <a:rPr lang="en-US" smtClean="0"/>
              <a:pPr/>
              <a:t>10/18/2023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3F0035-4B67-4B88-B2A0-536AE2AEED21}" type="slidenum">
              <a:rPr lang="en-US" smtClean="0"/>
              <a:pPr/>
              <a:t>‹#›</a:t>
            </a:fld>
            <a:endParaRPr lang="en-US"/>
          </a:p>
        </p:txBody>
      </p:sp>
    </p:spTree>
    <p:extLst>
      <p:ext uri="{BB962C8B-B14F-4D97-AF65-F5344CB8AC3E}">
        <p14:creationId xmlns:p14="http://schemas.microsoft.com/office/powerpoint/2010/main" val="1255663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2"/>
          </p:nvPr>
        </p:nvSpPr>
        <p:spPr>
          <a:xfrm>
            <a:off x="6553200" y="6356350"/>
            <a:ext cx="2133600" cy="365125"/>
          </a:xfrm>
        </p:spPr>
        <p:txBody>
          <a:bodyPr/>
          <a:lstStyle/>
          <a:p>
            <a:fld id="{243F0035-4B67-4B88-B2A0-536AE2AEED21}" type="slidenum">
              <a:rPr lang="en-US" smtClean="0"/>
              <a:pPr/>
              <a:t>1</a:t>
            </a:fld>
            <a:endParaRPr lang="en-US"/>
          </a:p>
        </p:txBody>
      </p:sp>
      <p:sp>
        <p:nvSpPr>
          <p:cNvPr id="7" name="TextBox 6">
            <a:extLst>
              <a:ext uri="{FF2B5EF4-FFF2-40B4-BE49-F238E27FC236}">
                <a16:creationId xmlns:a16="http://schemas.microsoft.com/office/drawing/2014/main" xmlns="" id="{99D8964A-8303-45DF-99A6-7A9E5BD07E42}"/>
              </a:ext>
            </a:extLst>
          </p:cNvPr>
          <p:cNvSpPr txBox="1"/>
          <p:nvPr/>
        </p:nvSpPr>
        <p:spPr>
          <a:xfrm>
            <a:off x="1603513" y="192155"/>
            <a:ext cx="7474226" cy="371061"/>
          </a:xfrm>
          <a:prstGeom prst="rect">
            <a:avLst/>
          </a:prstGeom>
          <a:noFill/>
        </p:spPr>
        <p:txBody>
          <a:bodyPr wrap="square" rtlCol="0">
            <a:spAutoFit/>
          </a:bodyPr>
          <a:lstStyle/>
          <a:p>
            <a:r>
              <a:rPr lang="en-US" dirty="0"/>
              <a:t>Sir Syed University of Engineering &amp; Technology, Karachi</a:t>
            </a:r>
          </a:p>
        </p:txBody>
      </p:sp>
      <p:sp>
        <p:nvSpPr>
          <p:cNvPr id="10" name="Title 1">
            <a:extLst>
              <a:ext uri="{FF2B5EF4-FFF2-40B4-BE49-F238E27FC236}">
                <a16:creationId xmlns:a16="http://schemas.microsoft.com/office/drawing/2014/main" xmlns="" id="{11F3346B-A340-42AA-BA33-0DABD69A99CA}"/>
              </a:ext>
            </a:extLst>
          </p:cNvPr>
          <p:cNvSpPr txBox="1">
            <a:spLocks/>
          </p:cNvSpPr>
          <p:nvPr/>
        </p:nvSpPr>
        <p:spPr>
          <a:xfrm>
            <a:off x="165942" y="1981200"/>
            <a:ext cx="8825658" cy="2016763"/>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smtClean="0">
                <a:ln>
                  <a:noFill/>
                </a:ln>
                <a:solidFill>
                  <a:schemeClr val="tx1"/>
                </a:solidFill>
                <a:effectLst/>
                <a:uLnTx/>
                <a:uFillTx/>
                <a:latin typeface="+mj-lt"/>
                <a:ea typeface="+mj-ea"/>
                <a:cs typeface="+mj-cs"/>
              </a:rPr>
              <a:t>CS-468</a:t>
            </a:r>
            <a:br>
              <a:rPr kumimoji="0" lang="en-US" sz="4400" b="0" i="0" u="none" strike="noStrike" kern="1200" cap="none" spc="0" normalizeH="0" baseline="0" noProof="0" dirty="0" smtClean="0">
                <a:ln>
                  <a:noFill/>
                </a:ln>
                <a:solidFill>
                  <a:schemeClr val="tx1"/>
                </a:solidFill>
                <a:effectLst/>
                <a:uLnTx/>
                <a:uFillTx/>
                <a:latin typeface="+mj-lt"/>
                <a:ea typeface="+mj-ea"/>
                <a:cs typeface="+mj-cs"/>
              </a:rPr>
            </a:br>
            <a:r>
              <a:rPr kumimoji="0" lang="en-US" sz="4400" b="0" i="0" u="none" strike="noStrike" kern="1200" cap="none" spc="0" normalizeH="0" baseline="0" noProof="0" dirty="0" smtClean="0">
                <a:ln>
                  <a:noFill/>
                </a:ln>
                <a:solidFill>
                  <a:schemeClr val="tx1"/>
                </a:solidFill>
                <a:effectLst/>
                <a:uLnTx/>
                <a:uFillTx/>
                <a:latin typeface="+mj-lt"/>
                <a:ea typeface="+mj-ea"/>
                <a:cs typeface="+mj-cs"/>
              </a:rPr>
              <a:t>Software Quality Assurance &amp; Testing</a:t>
            </a: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11" name="Subtitle 2">
            <a:extLst>
              <a:ext uri="{FF2B5EF4-FFF2-40B4-BE49-F238E27FC236}">
                <a16:creationId xmlns:a16="http://schemas.microsoft.com/office/drawing/2014/main" xmlns="" id="{726CA34A-B113-49BC-A1A5-0573BEE18E05}"/>
              </a:ext>
            </a:extLst>
          </p:cNvPr>
          <p:cNvSpPr txBox="1">
            <a:spLocks/>
          </p:cNvSpPr>
          <p:nvPr/>
        </p:nvSpPr>
        <p:spPr>
          <a:xfrm>
            <a:off x="0" y="3962400"/>
            <a:ext cx="9144000" cy="1655762"/>
          </a:xfrm>
          <a:prstGeom prst="rect">
            <a:avLst/>
          </a:prstGeom>
        </p:spPr>
        <p:txBody>
          <a:bodyPr vert="horz" lIns="91440" tIns="45720" rIns="91440" bIns="45720" rtlCol="0">
            <a:normAutofit/>
          </a:bodyPr>
          <a:lstStyle/>
          <a:p>
            <a:pPr marL="342900" marR="0" lvl="0" indent="-342900" algn="ctr" defTabSz="914400" rtl="0" eaLnBrk="1" fontAlgn="auto" latinLnBrk="0" hangingPunct="1">
              <a:lnSpc>
                <a:spcPct val="100000"/>
              </a:lnSpc>
              <a:spcBef>
                <a:spcPct val="20000"/>
              </a:spcBef>
              <a:spcAft>
                <a:spcPts val="0"/>
              </a:spcAft>
              <a:buClrTx/>
              <a:buSzTx/>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Week 7</a:t>
            </a:r>
          </a:p>
          <a:p>
            <a:pPr marL="342900" marR="0" lvl="0" indent="-342900" algn="ctr" defTabSz="914400" rtl="0" eaLnBrk="1" fontAlgn="auto" latinLnBrk="0" hangingPunct="1">
              <a:lnSpc>
                <a:spcPct val="100000"/>
              </a:lnSpc>
              <a:spcBef>
                <a:spcPct val="20000"/>
              </a:spcBef>
              <a:spcAft>
                <a:spcPts val="0"/>
              </a:spcAft>
              <a:buClrTx/>
              <a:buSzTx/>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Session 1 </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942" y="192155"/>
            <a:ext cx="1324160" cy="1324160"/>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title"/>
          </p:nvPr>
        </p:nvSpPr>
        <p:spPr>
          <a:xfrm>
            <a:off x="457200" y="0"/>
            <a:ext cx="8229600" cy="685800"/>
          </a:xfrm>
        </p:spPr>
        <p:txBody>
          <a:bodyPr>
            <a:noAutofit/>
          </a:bodyPr>
          <a:lstStyle/>
          <a:p>
            <a:r>
              <a:rPr lang="en-US" sz="2800" dirty="0" smtClean="0"/>
              <a:t>Equivalence Partitioning &amp; Boundary Value Analysis –Case Study</a:t>
            </a:r>
          </a:p>
        </p:txBody>
      </p:sp>
      <p:sp>
        <p:nvSpPr>
          <p:cNvPr id="10" name="Content Placeholder 2"/>
          <p:cNvSpPr>
            <a:spLocks noGrp="1"/>
          </p:cNvSpPr>
          <p:nvPr>
            <p:ph idx="1"/>
          </p:nvPr>
        </p:nvSpPr>
        <p:spPr>
          <a:xfrm>
            <a:off x="609600" y="685800"/>
            <a:ext cx="8229600" cy="5638800"/>
          </a:xfrm>
        </p:spPr>
        <p:txBody>
          <a:bodyPr>
            <a:noAutofit/>
          </a:bodyPr>
          <a:lstStyle/>
          <a:p>
            <a:pPr>
              <a:buNone/>
            </a:pPr>
            <a:r>
              <a:rPr lang="en-US" sz="1800" dirty="0" smtClean="0"/>
              <a:t>For examination system, the result of students are being generated according to the following table.</a:t>
            </a:r>
          </a:p>
          <a:p>
            <a:pPr>
              <a:buNone/>
            </a:pPr>
            <a:endParaRPr lang="en-US" sz="1800" dirty="0" smtClean="0"/>
          </a:p>
          <a:p>
            <a:pPr>
              <a:buNone/>
            </a:pPr>
            <a:endParaRPr lang="en-US" sz="1800" dirty="0" smtClean="0"/>
          </a:p>
          <a:p>
            <a:pPr>
              <a:buNone/>
            </a:pPr>
            <a:endParaRPr lang="en-US" sz="1800" dirty="0" smtClean="0"/>
          </a:p>
          <a:p>
            <a:pPr>
              <a:buNone/>
            </a:pPr>
            <a:endParaRPr lang="en-US" sz="1800" dirty="0" smtClean="0"/>
          </a:p>
          <a:p>
            <a:pPr>
              <a:buNone/>
            </a:pPr>
            <a:endParaRPr lang="en-US" sz="1800" dirty="0" smtClean="0"/>
          </a:p>
          <a:p>
            <a:pPr>
              <a:buNone/>
            </a:pPr>
            <a:endParaRPr lang="en-US" sz="1800" dirty="0" smtClean="0"/>
          </a:p>
          <a:p>
            <a:pPr>
              <a:buNone/>
            </a:pPr>
            <a:endParaRPr lang="en-US" sz="1800" dirty="0" smtClean="0"/>
          </a:p>
          <a:p>
            <a:pPr>
              <a:buNone/>
            </a:pPr>
            <a:endParaRPr lang="en-US" sz="1800" dirty="0" smtClean="0"/>
          </a:p>
          <a:p>
            <a:pPr>
              <a:buNone/>
            </a:pPr>
            <a:endParaRPr lang="en-US" sz="1800" dirty="0" smtClean="0"/>
          </a:p>
          <a:p>
            <a:pPr>
              <a:buNone/>
            </a:pPr>
            <a:endParaRPr lang="en-US" sz="1800" dirty="0" smtClean="0"/>
          </a:p>
          <a:p>
            <a:pPr>
              <a:buNone/>
            </a:pPr>
            <a:endParaRPr lang="en-US" sz="1800" dirty="0" smtClean="0"/>
          </a:p>
          <a:p>
            <a:r>
              <a:rPr lang="en-US" sz="1800" b="1" dirty="0" smtClean="0"/>
              <a:t>Required:</a:t>
            </a:r>
          </a:p>
          <a:p>
            <a:pPr lvl="1"/>
            <a:r>
              <a:rPr lang="en-US" sz="2000" dirty="0" smtClean="0"/>
              <a:t>Using equivalence partitioning, identify </a:t>
            </a:r>
            <a:r>
              <a:rPr lang="en-US" sz="2000" b="1" dirty="0" smtClean="0"/>
              <a:t>valid and invalid partitions</a:t>
            </a:r>
            <a:r>
              <a:rPr lang="en-US" sz="2000" dirty="0" smtClean="0"/>
              <a:t>. 			</a:t>
            </a:r>
          </a:p>
          <a:p>
            <a:pPr lvl="1"/>
            <a:r>
              <a:rPr lang="en-US" sz="2000" dirty="0" smtClean="0"/>
              <a:t>Generate test data and </a:t>
            </a:r>
            <a:r>
              <a:rPr lang="en-US" sz="2000" b="1" dirty="0" smtClean="0"/>
              <a:t>test cases </a:t>
            </a:r>
            <a:r>
              <a:rPr lang="en-US" sz="2000" dirty="0" smtClean="0"/>
              <a:t>using boundary value analysis. </a:t>
            </a:r>
            <a:endParaRPr lang="en-US" sz="1400" dirty="0" smtClean="0"/>
          </a:p>
          <a:p>
            <a:pPr>
              <a:buNone/>
            </a:pPr>
            <a:endParaRPr lang="en-US" sz="1800" dirty="0"/>
          </a:p>
        </p:txBody>
      </p:sp>
      <p:sp>
        <p:nvSpPr>
          <p:cNvPr id="11" name="Slide Number Placeholder 1"/>
          <p:cNvSpPr>
            <a:spLocks noGrp="1"/>
          </p:cNvSpPr>
          <p:nvPr>
            <p:ph type="sldNum" sz="quarter" idx="12"/>
          </p:nvPr>
        </p:nvSpPr>
        <p:spPr>
          <a:xfrm>
            <a:off x="6553200" y="6356350"/>
            <a:ext cx="2133600" cy="365125"/>
          </a:xfrm>
        </p:spPr>
        <p:txBody>
          <a:bodyPr/>
          <a:lstStyle/>
          <a:p>
            <a:fld id="{243F0035-4B67-4B88-B2A0-536AE2AEED21}" type="slidenum">
              <a:rPr lang="en-US" smtClean="0"/>
              <a:pPr/>
              <a:t>2</a:t>
            </a:fld>
            <a:endParaRPr lang="en-US"/>
          </a:p>
        </p:txBody>
      </p:sp>
      <p:pic>
        <p:nvPicPr>
          <p:cNvPr id="5" name="Picture 4"/>
          <p:cNvPicPr/>
          <p:nvPr/>
        </p:nvPicPr>
        <p:blipFill>
          <a:blip r:embed="rId3" cstate="print"/>
          <a:srcRect l="25321" t="47009" r="25961" b="24501"/>
          <a:stretch>
            <a:fillRect/>
          </a:stretch>
        </p:blipFill>
        <p:spPr bwMode="auto">
          <a:xfrm>
            <a:off x="914400" y="1390650"/>
            <a:ext cx="7391400" cy="3257550"/>
          </a:xfrm>
          <a:prstGeom prst="rect">
            <a:avLst/>
          </a:prstGeom>
          <a:noFill/>
          <a:ln w="9525">
            <a:noFill/>
            <a:miter lim="800000"/>
            <a:headEnd/>
            <a:tailEnd/>
          </a:ln>
        </p:spPr>
      </p:pic>
    </p:spTree>
    <p:extLst>
      <p:ext uri="{BB962C8B-B14F-4D97-AF65-F5344CB8AC3E}">
        <p14:creationId xmlns:p14="http://schemas.microsoft.com/office/powerpoint/2010/main" val="38812361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title"/>
          </p:nvPr>
        </p:nvSpPr>
        <p:spPr>
          <a:xfrm>
            <a:off x="457200" y="0"/>
            <a:ext cx="8229600" cy="685800"/>
          </a:xfrm>
        </p:spPr>
        <p:txBody>
          <a:bodyPr>
            <a:noAutofit/>
          </a:bodyPr>
          <a:lstStyle/>
          <a:p>
            <a:r>
              <a:rPr lang="en-US" sz="2800" dirty="0" smtClean="0"/>
              <a:t>Equivalence Partitioning &amp; Boundary Value Analysis –Case Study</a:t>
            </a:r>
          </a:p>
        </p:txBody>
      </p:sp>
      <p:sp>
        <p:nvSpPr>
          <p:cNvPr id="10" name="Content Placeholder 2"/>
          <p:cNvSpPr>
            <a:spLocks noGrp="1"/>
          </p:cNvSpPr>
          <p:nvPr>
            <p:ph idx="1"/>
          </p:nvPr>
        </p:nvSpPr>
        <p:spPr>
          <a:xfrm>
            <a:off x="609600" y="685800"/>
            <a:ext cx="8229600" cy="5638800"/>
          </a:xfrm>
        </p:spPr>
        <p:txBody>
          <a:bodyPr>
            <a:noAutofit/>
          </a:bodyPr>
          <a:lstStyle/>
          <a:p>
            <a:r>
              <a:rPr lang="en-US" sz="1800" dirty="0" smtClean="0"/>
              <a:t>Partitions:</a:t>
            </a:r>
          </a:p>
          <a:p>
            <a:endParaRPr lang="en-US" sz="1800" dirty="0" smtClean="0"/>
          </a:p>
          <a:p>
            <a:pPr>
              <a:buNone/>
            </a:pPr>
            <a:r>
              <a:rPr lang="en-US" sz="2000" dirty="0" smtClean="0"/>
              <a:t> </a:t>
            </a:r>
            <a:endParaRPr lang="en-US" sz="1400" dirty="0" smtClean="0"/>
          </a:p>
          <a:p>
            <a:pPr>
              <a:buNone/>
            </a:pPr>
            <a:endParaRPr lang="en-US" sz="1800" dirty="0"/>
          </a:p>
        </p:txBody>
      </p:sp>
      <p:sp>
        <p:nvSpPr>
          <p:cNvPr id="11" name="Slide Number Placeholder 1"/>
          <p:cNvSpPr>
            <a:spLocks noGrp="1"/>
          </p:cNvSpPr>
          <p:nvPr>
            <p:ph type="sldNum" sz="quarter" idx="12"/>
          </p:nvPr>
        </p:nvSpPr>
        <p:spPr>
          <a:xfrm>
            <a:off x="6553200" y="6356350"/>
            <a:ext cx="2133600" cy="365125"/>
          </a:xfrm>
        </p:spPr>
        <p:txBody>
          <a:bodyPr/>
          <a:lstStyle/>
          <a:p>
            <a:fld id="{243F0035-4B67-4B88-B2A0-536AE2AEED21}" type="slidenum">
              <a:rPr lang="en-US" smtClean="0"/>
              <a:pPr/>
              <a:t>3</a:t>
            </a:fld>
            <a:endParaRPr lang="en-US"/>
          </a:p>
        </p:txBody>
      </p:sp>
      <p:pic>
        <p:nvPicPr>
          <p:cNvPr id="5" name="Picture 4"/>
          <p:cNvPicPr/>
          <p:nvPr/>
        </p:nvPicPr>
        <p:blipFill>
          <a:blip r:embed="rId3" cstate="print"/>
          <a:srcRect l="40224" t="33618" r="41346" b="27351"/>
          <a:stretch>
            <a:fillRect/>
          </a:stretch>
        </p:blipFill>
        <p:spPr bwMode="auto">
          <a:xfrm>
            <a:off x="2209801" y="1523998"/>
            <a:ext cx="4724398" cy="4724402"/>
          </a:xfrm>
          <a:prstGeom prst="rect">
            <a:avLst/>
          </a:prstGeom>
          <a:noFill/>
          <a:ln w="9525">
            <a:noFill/>
            <a:miter lim="800000"/>
            <a:headEnd/>
            <a:tailEnd/>
          </a:ln>
        </p:spPr>
      </p:pic>
    </p:spTree>
    <p:extLst>
      <p:ext uri="{BB962C8B-B14F-4D97-AF65-F5344CB8AC3E}">
        <p14:creationId xmlns:p14="http://schemas.microsoft.com/office/powerpoint/2010/main" val="38812361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title"/>
          </p:nvPr>
        </p:nvSpPr>
        <p:spPr>
          <a:xfrm>
            <a:off x="457200" y="0"/>
            <a:ext cx="8229600" cy="685800"/>
          </a:xfrm>
        </p:spPr>
        <p:txBody>
          <a:bodyPr>
            <a:noAutofit/>
          </a:bodyPr>
          <a:lstStyle/>
          <a:p>
            <a:r>
              <a:rPr lang="en-US" sz="2800" dirty="0" smtClean="0"/>
              <a:t>Equivalence Partitioning &amp; Boundary Value Analysis –Case Study</a:t>
            </a:r>
          </a:p>
        </p:txBody>
      </p:sp>
      <p:sp>
        <p:nvSpPr>
          <p:cNvPr id="10" name="Content Placeholder 2"/>
          <p:cNvSpPr>
            <a:spLocks noGrp="1"/>
          </p:cNvSpPr>
          <p:nvPr>
            <p:ph idx="1"/>
          </p:nvPr>
        </p:nvSpPr>
        <p:spPr>
          <a:xfrm>
            <a:off x="609600" y="685800"/>
            <a:ext cx="8229600" cy="5638800"/>
          </a:xfrm>
        </p:spPr>
        <p:txBody>
          <a:bodyPr>
            <a:noAutofit/>
          </a:bodyPr>
          <a:lstStyle/>
          <a:p>
            <a:r>
              <a:rPr lang="en-US" sz="1800" dirty="0" smtClean="0"/>
              <a:t>Test data and test cases …:</a:t>
            </a:r>
          </a:p>
          <a:p>
            <a:endParaRPr lang="en-US" sz="1800" dirty="0" smtClean="0"/>
          </a:p>
          <a:p>
            <a:pPr>
              <a:buNone/>
            </a:pPr>
            <a:r>
              <a:rPr lang="en-US" sz="2000" dirty="0" smtClean="0"/>
              <a:t> </a:t>
            </a:r>
            <a:endParaRPr lang="en-US" sz="1400" dirty="0" smtClean="0"/>
          </a:p>
          <a:p>
            <a:pPr>
              <a:buNone/>
            </a:pPr>
            <a:endParaRPr lang="en-US" sz="1800" dirty="0"/>
          </a:p>
        </p:txBody>
      </p:sp>
      <p:sp>
        <p:nvSpPr>
          <p:cNvPr id="11" name="Slide Number Placeholder 1"/>
          <p:cNvSpPr>
            <a:spLocks noGrp="1"/>
          </p:cNvSpPr>
          <p:nvPr>
            <p:ph type="sldNum" sz="quarter" idx="12"/>
          </p:nvPr>
        </p:nvSpPr>
        <p:spPr>
          <a:xfrm>
            <a:off x="6553200" y="6356350"/>
            <a:ext cx="2133600" cy="365125"/>
          </a:xfrm>
        </p:spPr>
        <p:txBody>
          <a:bodyPr/>
          <a:lstStyle/>
          <a:p>
            <a:fld id="{243F0035-4B67-4B88-B2A0-536AE2AEED21}" type="slidenum">
              <a:rPr lang="en-US" smtClean="0"/>
              <a:pPr/>
              <a:t>4</a:t>
            </a:fld>
            <a:endParaRPr lang="en-US"/>
          </a:p>
        </p:txBody>
      </p:sp>
      <p:pic>
        <p:nvPicPr>
          <p:cNvPr id="6" name="Picture 5"/>
          <p:cNvPicPr/>
          <p:nvPr/>
        </p:nvPicPr>
        <p:blipFill>
          <a:blip r:embed="rId3" cstate="print"/>
          <a:srcRect l="29968" t="12251" r="30769" b="11681"/>
          <a:stretch>
            <a:fillRect/>
          </a:stretch>
        </p:blipFill>
        <p:spPr bwMode="auto">
          <a:xfrm>
            <a:off x="2209801" y="1142998"/>
            <a:ext cx="4724398" cy="5334002"/>
          </a:xfrm>
          <a:prstGeom prst="rect">
            <a:avLst/>
          </a:prstGeom>
          <a:noFill/>
          <a:ln w="9525">
            <a:noFill/>
            <a:miter lim="800000"/>
            <a:headEnd/>
            <a:tailEnd/>
          </a:ln>
        </p:spPr>
      </p:pic>
    </p:spTree>
    <p:extLst>
      <p:ext uri="{BB962C8B-B14F-4D97-AF65-F5344CB8AC3E}">
        <p14:creationId xmlns:p14="http://schemas.microsoft.com/office/powerpoint/2010/main" val="38812361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title"/>
          </p:nvPr>
        </p:nvSpPr>
        <p:spPr>
          <a:xfrm>
            <a:off x="457200" y="0"/>
            <a:ext cx="8229600" cy="685800"/>
          </a:xfrm>
        </p:spPr>
        <p:txBody>
          <a:bodyPr>
            <a:noAutofit/>
          </a:bodyPr>
          <a:lstStyle/>
          <a:p>
            <a:r>
              <a:rPr lang="en-US" sz="2800" dirty="0" smtClean="0"/>
              <a:t>Equivalence Partitioning &amp; Boundary Value Analysis –Case Study</a:t>
            </a:r>
          </a:p>
        </p:txBody>
      </p:sp>
      <p:sp>
        <p:nvSpPr>
          <p:cNvPr id="10" name="Content Placeholder 2"/>
          <p:cNvSpPr>
            <a:spLocks noGrp="1"/>
          </p:cNvSpPr>
          <p:nvPr>
            <p:ph idx="1"/>
          </p:nvPr>
        </p:nvSpPr>
        <p:spPr>
          <a:xfrm>
            <a:off x="609600" y="685800"/>
            <a:ext cx="8229600" cy="5638800"/>
          </a:xfrm>
        </p:spPr>
        <p:txBody>
          <a:bodyPr>
            <a:noAutofit/>
          </a:bodyPr>
          <a:lstStyle/>
          <a:p>
            <a:r>
              <a:rPr lang="en-US" sz="1800" dirty="0" smtClean="0"/>
              <a:t>….Test data and test cases:</a:t>
            </a:r>
          </a:p>
          <a:p>
            <a:endParaRPr lang="en-US" sz="1800" dirty="0" smtClean="0"/>
          </a:p>
          <a:p>
            <a:pPr>
              <a:buNone/>
            </a:pPr>
            <a:r>
              <a:rPr lang="en-US" sz="2000" dirty="0" smtClean="0"/>
              <a:t> </a:t>
            </a:r>
            <a:endParaRPr lang="en-US" sz="1400" dirty="0" smtClean="0"/>
          </a:p>
          <a:p>
            <a:pPr>
              <a:buNone/>
            </a:pPr>
            <a:endParaRPr lang="en-US" sz="1800" dirty="0"/>
          </a:p>
        </p:txBody>
      </p:sp>
      <p:sp>
        <p:nvSpPr>
          <p:cNvPr id="11" name="Slide Number Placeholder 1"/>
          <p:cNvSpPr>
            <a:spLocks noGrp="1"/>
          </p:cNvSpPr>
          <p:nvPr>
            <p:ph type="sldNum" sz="quarter" idx="12"/>
          </p:nvPr>
        </p:nvSpPr>
        <p:spPr>
          <a:xfrm>
            <a:off x="6553200" y="6356350"/>
            <a:ext cx="2133600" cy="365125"/>
          </a:xfrm>
        </p:spPr>
        <p:txBody>
          <a:bodyPr/>
          <a:lstStyle/>
          <a:p>
            <a:fld id="{243F0035-4B67-4B88-B2A0-536AE2AEED21}" type="slidenum">
              <a:rPr lang="en-US" smtClean="0"/>
              <a:pPr/>
              <a:t>5</a:t>
            </a:fld>
            <a:endParaRPr lang="en-US"/>
          </a:p>
        </p:txBody>
      </p:sp>
      <p:pic>
        <p:nvPicPr>
          <p:cNvPr id="7" name="Picture 6"/>
          <p:cNvPicPr/>
          <p:nvPr/>
        </p:nvPicPr>
        <p:blipFill>
          <a:blip r:embed="rId3" cstate="print"/>
          <a:srcRect l="29808" t="20513" r="31250" b="34758"/>
          <a:stretch>
            <a:fillRect/>
          </a:stretch>
        </p:blipFill>
        <p:spPr bwMode="auto">
          <a:xfrm>
            <a:off x="1752601" y="1295398"/>
            <a:ext cx="5638798" cy="5181602"/>
          </a:xfrm>
          <a:prstGeom prst="rect">
            <a:avLst/>
          </a:prstGeom>
          <a:noFill/>
          <a:ln w="9525">
            <a:noFill/>
            <a:miter lim="800000"/>
            <a:headEnd/>
            <a:tailEnd/>
          </a:ln>
        </p:spPr>
      </p:pic>
    </p:spTree>
    <p:extLst>
      <p:ext uri="{BB962C8B-B14F-4D97-AF65-F5344CB8AC3E}">
        <p14:creationId xmlns:p14="http://schemas.microsoft.com/office/powerpoint/2010/main" val="38812361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US" sz="2800" dirty="0" smtClean="0"/>
              <a:t>The Psychology of testing …</a:t>
            </a:r>
            <a:endParaRPr lang="en-GB" sz="2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6</a:t>
            </a:fld>
            <a:endParaRPr lang="en-US"/>
          </a:p>
        </p:txBody>
      </p:sp>
      <p:sp>
        <p:nvSpPr>
          <p:cNvPr id="8" name="Content Placeholder 2"/>
          <p:cNvSpPr>
            <a:spLocks noGrp="1"/>
          </p:cNvSpPr>
          <p:nvPr>
            <p:ph idx="1"/>
          </p:nvPr>
        </p:nvSpPr>
        <p:spPr>
          <a:xfrm>
            <a:off x="609600" y="838200"/>
            <a:ext cx="8229600" cy="5486400"/>
          </a:xfrm>
        </p:spPr>
        <p:txBody>
          <a:bodyPr>
            <a:noAutofit/>
          </a:bodyPr>
          <a:lstStyle/>
          <a:p>
            <a:r>
              <a:rPr lang="en-US" sz="2000" dirty="0" smtClean="0"/>
              <a:t>A variety of different people may be involved in the total testing effort, and they may be drawn from a broad set of backgrounds. </a:t>
            </a:r>
          </a:p>
          <a:p>
            <a:r>
              <a:rPr lang="en-US" sz="2000" dirty="0" smtClean="0"/>
              <a:t>Some will be developers, some professional testers, and some will be specialists, such as those with performance testing skills, whilst others may be users drafted in to assist with acceptance testing.</a:t>
            </a:r>
          </a:p>
          <a:p>
            <a:r>
              <a:rPr lang="en-US" sz="2000" dirty="0" smtClean="0"/>
              <a:t>Who ever is involved in testing needs at least some understanding of the skills and techniques of testing to make an effective contribution to the overall testing effort.</a:t>
            </a:r>
          </a:p>
          <a:p>
            <a:r>
              <a:rPr lang="en-US" sz="2000" dirty="0" smtClean="0"/>
              <a:t>Testing can be more effective if it is not undertaken by the individual(s) who wrote the code, for the simple reason that the creator of anything (whether it is software or a work of art) has a special relationship with the created object. </a:t>
            </a:r>
          </a:p>
          <a:p>
            <a:r>
              <a:rPr lang="en-US" sz="2000" dirty="0" smtClean="0"/>
              <a:t> The nature of that relationship is such that flaws in the created object are rendered invisible to the creator. For that reason it is important that someone other than the creator should test the object.</a:t>
            </a:r>
          </a:p>
          <a:p>
            <a:r>
              <a:rPr lang="en-US" sz="2000" dirty="0" smtClean="0"/>
              <a:t>Testers and developers think in different ways.</a:t>
            </a:r>
          </a:p>
          <a:p>
            <a:endParaRPr lang="en-US" sz="2000" dirty="0" smtClean="0"/>
          </a:p>
          <a:p>
            <a:endParaRPr lang="en-US" sz="2000" dirty="0" smtClean="0"/>
          </a:p>
          <a:p>
            <a:endParaRPr lang="en-US" sz="2000" dirty="0" smtClean="0"/>
          </a:p>
        </p:txBody>
      </p:sp>
    </p:spTree>
    <p:extLst>
      <p:ext uri="{BB962C8B-B14F-4D97-AF65-F5344CB8AC3E}">
        <p14:creationId xmlns:p14="http://schemas.microsoft.com/office/powerpoint/2010/main" val="99376211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US" sz="2800" dirty="0" smtClean="0"/>
              <a:t>… The Psychology of testing …</a:t>
            </a:r>
            <a:endParaRPr lang="en-GB" sz="2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7</a:t>
            </a:fld>
            <a:endParaRPr lang="en-US"/>
          </a:p>
        </p:txBody>
      </p:sp>
      <p:sp>
        <p:nvSpPr>
          <p:cNvPr id="8" name="Content Placeholder 2"/>
          <p:cNvSpPr>
            <a:spLocks noGrp="1"/>
          </p:cNvSpPr>
          <p:nvPr>
            <p:ph idx="1"/>
          </p:nvPr>
        </p:nvSpPr>
        <p:spPr>
          <a:xfrm>
            <a:off x="609600" y="838200"/>
            <a:ext cx="8229600" cy="5486400"/>
          </a:xfrm>
        </p:spPr>
        <p:txBody>
          <a:bodyPr>
            <a:noAutofit/>
          </a:bodyPr>
          <a:lstStyle/>
          <a:p>
            <a:r>
              <a:rPr lang="en-US" sz="2000" dirty="0" smtClean="0"/>
              <a:t>Developers can test their own code, but it requires a mindset change, from that of a developer (to prove it works) to that of a tester (trying to show that it does not work). </a:t>
            </a:r>
          </a:p>
          <a:p>
            <a:r>
              <a:rPr lang="en-US" sz="2000" dirty="0" smtClean="0"/>
              <a:t>If there are separate individuals involved, there are no potential conflicts of interest. </a:t>
            </a:r>
          </a:p>
          <a:p>
            <a:r>
              <a:rPr lang="en-US" sz="2000" dirty="0" smtClean="0"/>
              <a:t>We therefore aim to have the software tested by someone who was not involved in the creation of the software; this approach is called test independence.</a:t>
            </a:r>
          </a:p>
          <a:p>
            <a:r>
              <a:rPr lang="en-US" sz="2000" dirty="0" smtClean="0"/>
              <a:t>If a defect is found in software, the software author may see this as criticism.</a:t>
            </a:r>
          </a:p>
          <a:p>
            <a:r>
              <a:rPr lang="en-US" sz="2000" dirty="0" smtClean="0"/>
              <a:t>Testers need to use tact and diplomacy when raising defect reports.</a:t>
            </a:r>
          </a:p>
          <a:p>
            <a:r>
              <a:rPr lang="en-US" sz="2000" dirty="0" smtClean="0"/>
              <a:t>Defect reports need to be raised against the software, not against the individual who made the mistake. </a:t>
            </a:r>
          </a:p>
          <a:p>
            <a:r>
              <a:rPr lang="en-US" sz="2000" dirty="0" smtClean="0"/>
              <a:t>The mistake may be in the code written, or in one of the documents upon which the code is based (requirement documents or system specification).</a:t>
            </a:r>
          </a:p>
          <a:p>
            <a:r>
              <a:rPr lang="en-US" sz="2000" dirty="0" smtClean="0"/>
              <a:t> When we raise defects in a constructive way, bad feeling can be avoided.</a:t>
            </a:r>
          </a:p>
          <a:p>
            <a:endParaRPr lang="en-US" sz="2000" dirty="0" smtClean="0"/>
          </a:p>
          <a:p>
            <a:endParaRPr lang="en-US" sz="2000" dirty="0" smtClean="0"/>
          </a:p>
          <a:p>
            <a:endParaRPr lang="en-US" sz="2000" dirty="0" smtClean="0"/>
          </a:p>
          <a:p>
            <a:r>
              <a:rPr lang="en-US" sz="2000" dirty="0" smtClean="0"/>
              <a:t>As testers and developers, one of our goals is better quality systems delivered in a timely manner. Good communication between testers and the development teams is one way that this goal can be reached.</a:t>
            </a:r>
          </a:p>
          <a:p>
            <a:endParaRPr lang="en-US" sz="2000" dirty="0" smtClean="0"/>
          </a:p>
        </p:txBody>
      </p:sp>
    </p:spTree>
    <p:extLst>
      <p:ext uri="{BB962C8B-B14F-4D97-AF65-F5344CB8AC3E}">
        <p14:creationId xmlns:p14="http://schemas.microsoft.com/office/powerpoint/2010/main" val="196354833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US" sz="2800" dirty="0" smtClean="0"/>
              <a:t>… The Psychology of testing</a:t>
            </a:r>
            <a:endParaRPr lang="en-GB" sz="2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8</a:t>
            </a:fld>
            <a:endParaRPr lang="en-US"/>
          </a:p>
        </p:txBody>
      </p:sp>
      <p:sp>
        <p:nvSpPr>
          <p:cNvPr id="8" name="Content Placeholder 2"/>
          <p:cNvSpPr>
            <a:spLocks noGrp="1"/>
          </p:cNvSpPr>
          <p:nvPr>
            <p:ph idx="1"/>
          </p:nvPr>
        </p:nvSpPr>
        <p:spPr>
          <a:xfrm>
            <a:off x="609600" y="838200"/>
            <a:ext cx="8229600" cy="5486400"/>
          </a:xfrm>
        </p:spPr>
        <p:txBody>
          <a:bodyPr>
            <a:noAutofit/>
          </a:bodyPr>
          <a:lstStyle/>
          <a:p>
            <a:r>
              <a:rPr lang="en-US" sz="2000" dirty="0" smtClean="0"/>
              <a:t>As testers and developers, one of our goals is better quality systems delivered in a timely manner. </a:t>
            </a:r>
          </a:p>
          <a:p>
            <a:r>
              <a:rPr lang="en-US" sz="2000" dirty="0" smtClean="0"/>
              <a:t>Good communication between testers and the development teams is one way that this goal can be reached.</a:t>
            </a:r>
          </a:p>
          <a:p>
            <a:r>
              <a:rPr lang="en-US" sz="2000" dirty="0" smtClean="0"/>
              <a:t>Testers and developers are not opposed, but working together, with the joint target of better quality systems. </a:t>
            </a:r>
          </a:p>
          <a:p>
            <a:r>
              <a:rPr lang="en-US" sz="2000" dirty="0" smtClean="0"/>
              <a:t>Communication needs to be objective, and expressed in impersonal ways:</a:t>
            </a:r>
          </a:p>
          <a:p>
            <a:pPr lvl="1"/>
            <a:r>
              <a:rPr lang="en-US" sz="2000" dirty="0" smtClean="0"/>
              <a:t>The aim is to work together rather than be confrontational. Keep the focus on delivering a quality product.</a:t>
            </a:r>
          </a:p>
          <a:p>
            <a:pPr lvl="1"/>
            <a:r>
              <a:rPr lang="en-US" sz="2000" dirty="0" smtClean="0"/>
              <a:t>Results should be presented in a non-personal way. The work-product may be wrong, so say this in a non-personal way.</a:t>
            </a:r>
          </a:p>
          <a:p>
            <a:pPr lvl="1"/>
            <a:r>
              <a:rPr lang="en-US" sz="2000" dirty="0" smtClean="0"/>
              <a:t>Attempt to understand how others feel; it is possible to discuss problems and still leave all parties feeling positive.</a:t>
            </a:r>
          </a:p>
          <a:p>
            <a:endParaRPr lang="en-US" sz="2000" dirty="0" smtClean="0"/>
          </a:p>
          <a:p>
            <a:endParaRPr lang="en-US" sz="2000" dirty="0" smtClean="0"/>
          </a:p>
        </p:txBody>
      </p:sp>
    </p:spTree>
    <p:extLst>
      <p:ext uri="{BB962C8B-B14F-4D97-AF65-F5344CB8AC3E}">
        <p14:creationId xmlns:p14="http://schemas.microsoft.com/office/powerpoint/2010/main" val="280059899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US" sz="2800" dirty="0" smtClean="0"/>
              <a:t>Code of ethics …</a:t>
            </a:r>
            <a:endParaRPr lang="en-US" sz="2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9</a:t>
            </a:fld>
            <a:endParaRPr lang="en-US"/>
          </a:p>
        </p:txBody>
      </p:sp>
      <p:sp>
        <p:nvSpPr>
          <p:cNvPr id="8" name="Content Placeholder 2"/>
          <p:cNvSpPr>
            <a:spLocks noGrp="1"/>
          </p:cNvSpPr>
          <p:nvPr>
            <p:ph idx="1"/>
          </p:nvPr>
        </p:nvSpPr>
        <p:spPr>
          <a:xfrm>
            <a:off x="609600" y="838200"/>
            <a:ext cx="8229600" cy="5486400"/>
          </a:xfrm>
        </p:spPr>
        <p:txBody>
          <a:bodyPr>
            <a:noAutofit/>
          </a:bodyPr>
          <a:lstStyle/>
          <a:p>
            <a:r>
              <a:rPr lang="en-US" sz="2000" dirty="0" smtClean="0"/>
              <a:t>Testers must adhere to a code of ethics: they are required to act in a professional manner. </a:t>
            </a:r>
          </a:p>
          <a:p>
            <a:r>
              <a:rPr lang="en-US" sz="2000" dirty="0" smtClean="0"/>
              <a:t>Testers can have access to confidential and/or privileged information, and they are to treat any information with care and attention, and act responsibly to the owner(s) of this information, employers and the wider public interest. </a:t>
            </a:r>
          </a:p>
          <a:p>
            <a:r>
              <a:rPr lang="en-US" sz="2000" dirty="0" smtClean="0"/>
              <a:t>Of course, anyone can test software, so the declaration of this code of conduct applies to those who have achieved software testing certification! The code of ethics applies to the following areas:</a:t>
            </a:r>
          </a:p>
          <a:p>
            <a:r>
              <a:rPr lang="en-US" sz="2000" b="1" dirty="0" smtClean="0"/>
              <a:t>Public</a:t>
            </a:r>
            <a:r>
              <a:rPr lang="en-US" sz="2000" dirty="0" smtClean="0"/>
              <a:t> – Certified software testers shall consider the wider public interest in their actions.</a:t>
            </a:r>
          </a:p>
          <a:p>
            <a:r>
              <a:rPr lang="en-US" sz="2000" b="1" dirty="0" smtClean="0"/>
              <a:t>Client and employer </a:t>
            </a:r>
            <a:r>
              <a:rPr lang="en-US" sz="2000" dirty="0" smtClean="0"/>
              <a:t>– Certified software testers shall act in the best interests of their client and employer (being consistent with the wider public interest).</a:t>
            </a:r>
          </a:p>
          <a:p>
            <a:r>
              <a:rPr lang="en-US" sz="2000" b="1" dirty="0" smtClean="0"/>
              <a:t>Product</a:t>
            </a:r>
            <a:r>
              <a:rPr lang="en-US" sz="2000" dirty="0" smtClean="0"/>
              <a:t> – Certified software testers shall ensure that the deliverables they provide (for any products and systems they work on) meet the highest professional standards possible.</a:t>
            </a:r>
          </a:p>
        </p:txBody>
      </p:sp>
    </p:spTree>
    <p:extLst>
      <p:ext uri="{BB962C8B-B14F-4D97-AF65-F5344CB8AC3E}">
        <p14:creationId xmlns:p14="http://schemas.microsoft.com/office/powerpoint/2010/main" val="259732660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US" sz="2800" dirty="0" smtClean="0"/>
              <a:t>… Code of ethics</a:t>
            </a:r>
            <a:endParaRPr lang="en-US" sz="2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10</a:t>
            </a:fld>
            <a:endParaRPr lang="en-US"/>
          </a:p>
        </p:txBody>
      </p:sp>
      <p:sp>
        <p:nvSpPr>
          <p:cNvPr id="8" name="Content Placeholder 2"/>
          <p:cNvSpPr>
            <a:spLocks noGrp="1"/>
          </p:cNvSpPr>
          <p:nvPr>
            <p:ph idx="1"/>
          </p:nvPr>
        </p:nvSpPr>
        <p:spPr>
          <a:xfrm>
            <a:off x="609600" y="838200"/>
            <a:ext cx="8229600" cy="5486400"/>
          </a:xfrm>
        </p:spPr>
        <p:txBody>
          <a:bodyPr>
            <a:noAutofit/>
          </a:bodyPr>
          <a:lstStyle/>
          <a:p>
            <a:r>
              <a:rPr lang="en-US" sz="2000" b="1" dirty="0" err="1" smtClean="0"/>
              <a:t>Judgement</a:t>
            </a:r>
            <a:r>
              <a:rPr lang="en-US" sz="2000" dirty="0" smtClean="0"/>
              <a:t> – Certified software testers shall maintain integrity and independence in their professional </a:t>
            </a:r>
            <a:r>
              <a:rPr lang="en-US" sz="2000" dirty="0" err="1" smtClean="0"/>
              <a:t>judgement</a:t>
            </a:r>
            <a:r>
              <a:rPr lang="en-US" sz="2000" dirty="0" smtClean="0"/>
              <a:t>.</a:t>
            </a:r>
          </a:p>
          <a:p>
            <a:r>
              <a:rPr lang="en-US" sz="2000" b="1" dirty="0" smtClean="0"/>
              <a:t>Management</a:t>
            </a:r>
            <a:r>
              <a:rPr lang="en-US" sz="2000" dirty="0" smtClean="0"/>
              <a:t> – Certified software test managers and leaders shall subscribe to and promote and ethical approach to the management of software testing.</a:t>
            </a:r>
          </a:p>
          <a:p>
            <a:r>
              <a:rPr lang="en-US" sz="2000" b="1" dirty="0" smtClean="0"/>
              <a:t>Profession</a:t>
            </a:r>
            <a:r>
              <a:rPr lang="en-US" sz="2000" dirty="0" smtClean="0"/>
              <a:t> – Certified software testers shall advance the integrity and reputation of the profession consistent with the public interest.</a:t>
            </a:r>
          </a:p>
          <a:p>
            <a:r>
              <a:rPr lang="en-US" sz="2000" b="1" dirty="0" smtClean="0"/>
              <a:t>Colleagues</a:t>
            </a:r>
            <a:r>
              <a:rPr lang="en-US" sz="2000" dirty="0" smtClean="0"/>
              <a:t> – Certified software testers shall be fair to and supportive of their colleagues, and promote cooperation with software developers.</a:t>
            </a:r>
          </a:p>
          <a:p>
            <a:r>
              <a:rPr lang="en-US" sz="2000" b="1" dirty="0" smtClean="0"/>
              <a:t>Self</a:t>
            </a:r>
            <a:r>
              <a:rPr lang="en-US" sz="2000" dirty="0" smtClean="0"/>
              <a:t> – Certified software testers shall participate in lifelong learning regarding the practice of their profession, and shall promote an ethical approach to the practice of the profession.</a:t>
            </a:r>
            <a:endParaRPr lang="en-US" sz="2000" dirty="0"/>
          </a:p>
        </p:txBody>
      </p:sp>
    </p:spTree>
    <p:extLst>
      <p:ext uri="{BB962C8B-B14F-4D97-AF65-F5344CB8AC3E}">
        <p14:creationId xmlns:p14="http://schemas.microsoft.com/office/powerpoint/2010/main" val="139308957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701</TotalTime>
  <Words>946</Words>
  <Application>Microsoft Office PowerPoint</Application>
  <PresentationFormat>On-screen Show (4:3)</PresentationFormat>
  <Paragraphs>93</Paragraphs>
  <Slides>10</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Equivalence Partitioning &amp; Boundary Value Analysis –Case Study</vt:lpstr>
      <vt:lpstr>Equivalence Partitioning &amp; Boundary Value Analysis –Case Study</vt:lpstr>
      <vt:lpstr>Equivalence Partitioning &amp; Boundary Value Analysis –Case Study</vt:lpstr>
      <vt:lpstr>Equivalence Partitioning &amp; Boundary Value Analysis –Case Study</vt:lpstr>
      <vt:lpstr>The Psychology of testing …</vt:lpstr>
      <vt:lpstr>… The Psychology of testing …</vt:lpstr>
      <vt:lpstr>… The Psychology of testing</vt:lpstr>
      <vt:lpstr>Code of ethics …</vt:lpstr>
      <vt:lpstr>… Code of ethics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Analysis</dc:title>
  <dc:creator>gulraiz</dc:creator>
  <cp:lastModifiedBy>Windows User</cp:lastModifiedBy>
  <cp:revision>190</cp:revision>
  <dcterms:created xsi:type="dcterms:W3CDTF">2014-08-12T16:29:38Z</dcterms:created>
  <dcterms:modified xsi:type="dcterms:W3CDTF">2023-10-18T09:25:21Z</dcterms:modified>
</cp:coreProperties>
</file>