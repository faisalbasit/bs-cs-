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4"/>
  </p:notesMasterIdLst>
  <p:sldIdLst>
    <p:sldId id="265" r:id="rId2"/>
    <p:sldId id="266" r:id="rId3"/>
    <p:sldId id="267" r:id="rId4"/>
    <p:sldId id="268" r:id="rId5"/>
    <p:sldId id="269" r:id="rId6"/>
    <p:sldId id="270" r:id="rId7"/>
    <p:sldId id="272" r:id="rId8"/>
    <p:sldId id="273" r:id="rId9"/>
    <p:sldId id="274" r:id="rId10"/>
    <p:sldId id="275" r:id="rId11"/>
    <p:sldId id="276" r:id="rId12"/>
    <p:sldId id="277" r:id="rId13"/>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70" d="100"/>
          <a:sy n="70" d="100"/>
        </p:scale>
        <p:origin x="1386" y="72"/>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D2A68BC-087B-4804-80E7-54E6BF9D6720}" type="datetimeFigureOut">
              <a:rPr lang="en-US" smtClean="0"/>
              <a:pPr/>
              <a:t>10/18/2023</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CA53098-A02F-43AC-83B0-8400FDBB11FC}" type="slidenum">
              <a:rPr lang="en-US" smtClean="0"/>
              <a:pPr/>
              <a:t>‹#›</a:t>
            </a:fld>
            <a:endParaRPr lang="en-US"/>
          </a:p>
        </p:txBody>
      </p:sp>
    </p:spTree>
    <p:extLst>
      <p:ext uri="{BB962C8B-B14F-4D97-AF65-F5344CB8AC3E}">
        <p14:creationId xmlns:p14="http://schemas.microsoft.com/office/powerpoint/2010/main" val="367970658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CA53098-A02F-43AC-83B0-8400FDBB11FC}" type="slidenum">
              <a:rPr lang="en-US" smtClean="0"/>
              <a:pPr/>
              <a:t>2</a:t>
            </a:fld>
            <a:endParaRPr lang="en-US"/>
          </a:p>
        </p:txBody>
      </p:sp>
    </p:spTree>
    <p:extLst>
      <p:ext uri="{BB962C8B-B14F-4D97-AF65-F5344CB8AC3E}">
        <p14:creationId xmlns:p14="http://schemas.microsoft.com/office/powerpoint/2010/main" val="374308174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CA53098-A02F-43AC-83B0-8400FDBB11FC}" type="slidenum">
              <a:rPr lang="en-US" smtClean="0"/>
              <a:pPr/>
              <a:t>3</a:t>
            </a:fld>
            <a:endParaRPr lang="en-US"/>
          </a:p>
        </p:txBody>
      </p:sp>
    </p:spTree>
    <p:extLst>
      <p:ext uri="{BB962C8B-B14F-4D97-AF65-F5344CB8AC3E}">
        <p14:creationId xmlns:p14="http://schemas.microsoft.com/office/powerpoint/2010/main" val="42902240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CA53098-A02F-43AC-83B0-8400FDBB11FC}" type="slidenum">
              <a:rPr lang="en-US" smtClean="0"/>
              <a:pPr/>
              <a:t>4</a:t>
            </a:fld>
            <a:endParaRPr lang="en-US"/>
          </a:p>
        </p:txBody>
      </p:sp>
    </p:spTree>
    <p:extLst>
      <p:ext uri="{BB962C8B-B14F-4D97-AF65-F5344CB8AC3E}">
        <p14:creationId xmlns:p14="http://schemas.microsoft.com/office/powerpoint/2010/main" val="324314418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CA53098-A02F-43AC-83B0-8400FDBB11FC}" type="slidenum">
              <a:rPr lang="en-US" smtClean="0"/>
              <a:pPr/>
              <a:t>5</a:t>
            </a:fld>
            <a:endParaRPr lang="en-US"/>
          </a:p>
        </p:txBody>
      </p:sp>
    </p:spTree>
    <p:extLst>
      <p:ext uri="{BB962C8B-B14F-4D97-AF65-F5344CB8AC3E}">
        <p14:creationId xmlns:p14="http://schemas.microsoft.com/office/powerpoint/2010/main" val="399056620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CA53098-A02F-43AC-83B0-8400FDBB11FC}" type="slidenum">
              <a:rPr lang="en-US" smtClean="0"/>
              <a:pPr/>
              <a:t>6</a:t>
            </a:fld>
            <a:endParaRPr lang="en-US"/>
          </a:p>
        </p:txBody>
      </p:sp>
    </p:spTree>
    <p:extLst>
      <p:ext uri="{BB962C8B-B14F-4D97-AF65-F5344CB8AC3E}">
        <p14:creationId xmlns:p14="http://schemas.microsoft.com/office/powerpoint/2010/main" val="95530546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CA53098-A02F-43AC-83B0-8400FDBB11FC}" type="slidenum">
              <a:rPr lang="en-US" smtClean="0"/>
              <a:pPr/>
              <a:t>7</a:t>
            </a:fld>
            <a:endParaRPr lang="en-US"/>
          </a:p>
        </p:txBody>
      </p:sp>
    </p:spTree>
    <p:extLst>
      <p:ext uri="{BB962C8B-B14F-4D97-AF65-F5344CB8AC3E}">
        <p14:creationId xmlns:p14="http://schemas.microsoft.com/office/powerpoint/2010/main" val="24344064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CA53098-A02F-43AC-83B0-8400FDBB11FC}" type="slidenum">
              <a:rPr lang="en-US" smtClean="0"/>
              <a:pPr/>
              <a:t>8</a:t>
            </a:fld>
            <a:endParaRPr lang="en-US"/>
          </a:p>
        </p:txBody>
      </p:sp>
    </p:spTree>
    <p:extLst>
      <p:ext uri="{BB962C8B-B14F-4D97-AF65-F5344CB8AC3E}">
        <p14:creationId xmlns:p14="http://schemas.microsoft.com/office/powerpoint/2010/main" val="12147925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CA53098-A02F-43AC-83B0-8400FDBB11FC}" type="slidenum">
              <a:rPr lang="en-US" smtClean="0"/>
              <a:pPr/>
              <a:t>9</a:t>
            </a:fld>
            <a:endParaRPr lang="en-US"/>
          </a:p>
        </p:txBody>
      </p:sp>
    </p:spTree>
    <p:extLst>
      <p:ext uri="{BB962C8B-B14F-4D97-AF65-F5344CB8AC3E}">
        <p14:creationId xmlns:p14="http://schemas.microsoft.com/office/powerpoint/2010/main" val="234666893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CA53098-A02F-43AC-83B0-8400FDBB11FC}" type="slidenum">
              <a:rPr lang="en-US" smtClean="0"/>
              <a:pPr/>
              <a:t>10</a:t>
            </a:fld>
            <a:endParaRPr lang="en-US"/>
          </a:p>
        </p:txBody>
      </p:sp>
    </p:spTree>
    <p:extLst>
      <p:ext uri="{BB962C8B-B14F-4D97-AF65-F5344CB8AC3E}">
        <p14:creationId xmlns:p14="http://schemas.microsoft.com/office/powerpoint/2010/main" val="266230854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CA53098-A02F-43AC-83B0-8400FDBB11FC}" type="slidenum">
              <a:rPr lang="en-US" smtClean="0"/>
              <a:pPr/>
              <a:t>11</a:t>
            </a:fld>
            <a:endParaRPr lang="en-US"/>
          </a:p>
        </p:txBody>
      </p:sp>
    </p:spTree>
    <p:extLst>
      <p:ext uri="{BB962C8B-B14F-4D97-AF65-F5344CB8AC3E}">
        <p14:creationId xmlns:p14="http://schemas.microsoft.com/office/powerpoint/2010/main" val="60770051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CA53098-A02F-43AC-83B0-8400FDBB11FC}" type="slidenum">
              <a:rPr lang="en-US" smtClean="0"/>
              <a:pPr/>
              <a:t>12</a:t>
            </a:fld>
            <a:endParaRPr lang="en-US"/>
          </a:p>
        </p:txBody>
      </p:sp>
    </p:spTree>
    <p:extLst>
      <p:ext uri="{BB962C8B-B14F-4D97-AF65-F5344CB8AC3E}">
        <p14:creationId xmlns:p14="http://schemas.microsoft.com/office/powerpoint/2010/main" val="155999898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3EF4250-741B-442A-9703-012BAF15BAAC}" type="datetime1">
              <a:rPr lang="en-US" smtClean="0"/>
              <a:pPr/>
              <a:t>10/18/2023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43F0035-4B67-4B88-B2A0-536AE2AEED21}" type="slidenum">
              <a:rPr lang="en-US" smtClean="0"/>
              <a:pPr/>
              <a:t>‹#›</a:t>
            </a:fld>
            <a:endParaRPr lang="en-US"/>
          </a:p>
        </p:txBody>
      </p:sp>
    </p:spTree>
    <p:extLst>
      <p:ext uri="{BB962C8B-B14F-4D97-AF65-F5344CB8AC3E}">
        <p14:creationId xmlns:p14="http://schemas.microsoft.com/office/powerpoint/2010/main" val="246697853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D3D816B4-16E8-4062-88BC-ECA9BFE00428}" type="datetime1">
              <a:rPr lang="en-US" smtClean="0"/>
              <a:pPr/>
              <a:t>10/18/2023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43F0035-4B67-4B88-B2A0-536AE2AEED21}" type="slidenum">
              <a:rPr lang="en-US" smtClean="0"/>
              <a:pPr/>
              <a:t>‹#›</a:t>
            </a:fld>
            <a:endParaRPr lang="en-US"/>
          </a:p>
        </p:txBody>
      </p:sp>
    </p:spTree>
    <p:extLst>
      <p:ext uri="{BB962C8B-B14F-4D97-AF65-F5344CB8AC3E}">
        <p14:creationId xmlns:p14="http://schemas.microsoft.com/office/powerpoint/2010/main" val="172255077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A3CF6598-E98D-41E9-AC1F-40993110B2E2}" type="datetime1">
              <a:rPr lang="en-US" smtClean="0"/>
              <a:pPr/>
              <a:t>10/18/2023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43F0035-4B67-4B88-B2A0-536AE2AEED21}" type="slidenum">
              <a:rPr lang="en-US" smtClean="0"/>
              <a:pPr/>
              <a:t>‹#›</a:t>
            </a:fld>
            <a:endParaRPr lang="en-US"/>
          </a:p>
        </p:txBody>
      </p:sp>
    </p:spTree>
    <p:extLst>
      <p:ext uri="{BB962C8B-B14F-4D97-AF65-F5344CB8AC3E}">
        <p14:creationId xmlns:p14="http://schemas.microsoft.com/office/powerpoint/2010/main" val="112957262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291D4A01-3715-4476-A057-955DFD278091}" type="datetime1">
              <a:rPr lang="en-US" smtClean="0"/>
              <a:pPr/>
              <a:t>10/18/2023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43F0035-4B67-4B88-B2A0-536AE2AEED21}" type="slidenum">
              <a:rPr lang="en-US" smtClean="0"/>
              <a:pPr/>
              <a:t>‹#›</a:t>
            </a:fld>
            <a:endParaRPr lang="en-US"/>
          </a:p>
        </p:txBody>
      </p:sp>
    </p:spTree>
    <p:extLst>
      <p:ext uri="{BB962C8B-B14F-4D97-AF65-F5344CB8AC3E}">
        <p14:creationId xmlns:p14="http://schemas.microsoft.com/office/powerpoint/2010/main" val="8591528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AF793C02-4A9B-4362-AC6F-20FFF8DED461}" type="datetime1">
              <a:rPr lang="en-US" smtClean="0"/>
              <a:pPr/>
              <a:t>10/18/2023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243F0035-4B67-4B88-B2A0-536AE2AEED21}" type="slidenum">
              <a:rPr lang="en-US" smtClean="0"/>
              <a:pPr/>
              <a:t>‹#›</a:t>
            </a:fld>
            <a:endParaRPr lang="en-US"/>
          </a:p>
        </p:txBody>
      </p:sp>
    </p:spTree>
    <p:extLst>
      <p:ext uri="{BB962C8B-B14F-4D97-AF65-F5344CB8AC3E}">
        <p14:creationId xmlns:p14="http://schemas.microsoft.com/office/powerpoint/2010/main" val="409508509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1A3C571-B71D-45C8-8B1B-35BCC2DA467A}" type="datetime1">
              <a:rPr lang="en-US" smtClean="0"/>
              <a:pPr/>
              <a:t>10/18/2023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243F0035-4B67-4B88-B2A0-536AE2AEED21}" type="slidenum">
              <a:rPr lang="en-US" smtClean="0"/>
              <a:pPr/>
              <a:t>‹#›</a:t>
            </a:fld>
            <a:endParaRPr lang="en-US"/>
          </a:p>
        </p:txBody>
      </p:sp>
    </p:spTree>
    <p:extLst>
      <p:ext uri="{BB962C8B-B14F-4D97-AF65-F5344CB8AC3E}">
        <p14:creationId xmlns:p14="http://schemas.microsoft.com/office/powerpoint/2010/main" val="34553100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B3D478-9CFC-4269-8AE4-00D2F07081AD}" type="datetime1">
              <a:rPr lang="en-US" smtClean="0"/>
              <a:pPr/>
              <a:t>10/18/2023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243F0035-4B67-4B88-B2A0-536AE2AEED21}" type="slidenum">
              <a:rPr lang="en-US" smtClean="0"/>
              <a:pPr/>
              <a:t>‹#›</a:t>
            </a:fld>
            <a:endParaRPr lang="en-US"/>
          </a:p>
        </p:txBody>
      </p:sp>
    </p:spTree>
    <p:extLst>
      <p:ext uri="{BB962C8B-B14F-4D97-AF65-F5344CB8AC3E}">
        <p14:creationId xmlns:p14="http://schemas.microsoft.com/office/powerpoint/2010/main" val="264336887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EDAC7258-29DB-40D6-BF3F-E918B183B515}" type="datetime1">
              <a:rPr lang="en-US" smtClean="0"/>
              <a:pPr/>
              <a:t>10/18/2023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43F0035-4B67-4B88-B2A0-536AE2AEED21}" type="slidenum">
              <a:rPr lang="en-US" smtClean="0"/>
              <a:pPr/>
              <a:t>‹#›</a:t>
            </a:fld>
            <a:endParaRPr lang="en-US"/>
          </a:p>
        </p:txBody>
      </p:sp>
    </p:spTree>
    <p:extLst>
      <p:ext uri="{BB962C8B-B14F-4D97-AF65-F5344CB8AC3E}">
        <p14:creationId xmlns:p14="http://schemas.microsoft.com/office/powerpoint/2010/main" val="110021063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F5CD29DC-3073-4B54-8EE5-E93562EFCDAC}" type="datetime1">
              <a:rPr lang="en-US" smtClean="0"/>
              <a:pPr/>
              <a:t>10/18/2023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43F0035-4B67-4B88-B2A0-536AE2AEED21}" type="slidenum">
              <a:rPr lang="en-US" smtClean="0"/>
              <a:pPr/>
              <a:t>‹#›</a:t>
            </a:fld>
            <a:endParaRPr lang="en-US"/>
          </a:p>
        </p:txBody>
      </p:sp>
    </p:spTree>
    <p:extLst>
      <p:ext uri="{BB962C8B-B14F-4D97-AF65-F5344CB8AC3E}">
        <p14:creationId xmlns:p14="http://schemas.microsoft.com/office/powerpoint/2010/main" val="428344863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665975A9-2543-49D8-B35B-ED476DA0ED73}" type="datetime1">
              <a:rPr lang="en-US" smtClean="0"/>
              <a:pPr/>
              <a:t>10/18/2023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43F0035-4B67-4B88-B2A0-536AE2AEED21}" type="slidenum">
              <a:rPr lang="en-US" smtClean="0"/>
              <a:pPr/>
              <a:t>‹#›</a:t>
            </a:fld>
            <a:endParaRPr lang="en-US"/>
          </a:p>
        </p:txBody>
      </p:sp>
    </p:spTree>
    <p:extLst>
      <p:ext uri="{BB962C8B-B14F-4D97-AF65-F5344CB8AC3E}">
        <p14:creationId xmlns:p14="http://schemas.microsoft.com/office/powerpoint/2010/main" val="212097992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DEF7BFD3-FA8E-4E08-91B4-E94DC0FF8BBB}" type="datetime1">
              <a:rPr lang="en-US" smtClean="0"/>
              <a:pPr/>
              <a:t>10/18/2023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43F0035-4B67-4B88-B2A0-536AE2AEED21}" type="slidenum">
              <a:rPr lang="en-US" smtClean="0"/>
              <a:pPr/>
              <a:t>‹#›</a:t>
            </a:fld>
            <a:endParaRPr lang="en-US"/>
          </a:p>
        </p:txBody>
      </p:sp>
    </p:spTree>
    <p:extLst>
      <p:ext uri="{BB962C8B-B14F-4D97-AF65-F5344CB8AC3E}">
        <p14:creationId xmlns:p14="http://schemas.microsoft.com/office/powerpoint/2010/main" val="193856429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05BFD0B-D7A9-4808-B8C9-44A20956DF29}" type="datetime1">
              <a:rPr lang="en-US" smtClean="0"/>
              <a:pPr/>
              <a:t>10/18/2023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43F0035-4B67-4B88-B2A0-536AE2AEED21}" type="slidenum">
              <a:rPr lang="en-US" smtClean="0"/>
              <a:pPr/>
              <a:t>‹#›</a:t>
            </a:fld>
            <a:endParaRPr lang="en-US"/>
          </a:p>
        </p:txBody>
      </p:sp>
    </p:spTree>
    <p:extLst>
      <p:ext uri="{BB962C8B-B14F-4D97-AF65-F5344CB8AC3E}">
        <p14:creationId xmlns:p14="http://schemas.microsoft.com/office/powerpoint/2010/main" val="12556634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3"/>
          <p:cNvSpPr>
            <a:spLocks noGrp="1"/>
          </p:cNvSpPr>
          <p:nvPr>
            <p:ph type="sldNum" sz="quarter" idx="12"/>
          </p:nvPr>
        </p:nvSpPr>
        <p:spPr>
          <a:xfrm>
            <a:off x="6553200" y="6356350"/>
            <a:ext cx="2133600" cy="365125"/>
          </a:xfrm>
        </p:spPr>
        <p:txBody>
          <a:bodyPr/>
          <a:lstStyle/>
          <a:p>
            <a:fld id="{243F0035-4B67-4B88-B2A0-536AE2AEED21}" type="slidenum">
              <a:rPr lang="en-US" smtClean="0"/>
              <a:pPr/>
              <a:t>1</a:t>
            </a:fld>
            <a:endParaRPr lang="en-US"/>
          </a:p>
        </p:txBody>
      </p:sp>
      <p:sp>
        <p:nvSpPr>
          <p:cNvPr id="7" name="TextBox 6">
            <a:extLst>
              <a:ext uri="{FF2B5EF4-FFF2-40B4-BE49-F238E27FC236}">
                <a16:creationId xmlns="" xmlns:a16="http://schemas.microsoft.com/office/drawing/2014/main" id="{99D8964A-8303-45DF-99A6-7A9E5BD07E42}"/>
              </a:ext>
            </a:extLst>
          </p:cNvPr>
          <p:cNvSpPr txBox="1"/>
          <p:nvPr/>
        </p:nvSpPr>
        <p:spPr>
          <a:xfrm>
            <a:off x="1603513" y="192155"/>
            <a:ext cx="7474226" cy="371061"/>
          </a:xfrm>
          <a:prstGeom prst="rect">
            <a:avLst/>
          </a:prstGeom>
          <a:noFill/>
        </p:spPr>
        <p:txBody>
          <a:bodyPr wrap="square" rtlCol="0">
            <a:spAutoFit/>
          </a:bodyPr>
          <a:lstStyle/>
          <a:p>
            <a:r>
              <a:rPr lang="en-US" dirty="0"/>
              <a:t>Sir Syed University of Engineering &amp; Technology, Karachi</a:t>
            </a:r>
          </a:p>
        </p:txBody>
      </p:sp>
      <p:sp>
        <p:nvSpPr>
          <p:cNvPr id="10" name="Title 1">
            <a:extLst>
              <a:ext uri="{FF2B5EF4-FFF2-40B4-BE49-F238E27FC236}">
                <a16:creationId xmlns="" xmlns:a16="http://schemas.microsoft.com/office/drawing/2014/main" id="{11F3346B-A340-42AA-BA33-0DABD69A99CA}"/>
              </a:ext>
            </a:extLst>
          </p:cNvPr>
          <p:cNvSpPr txBox="1">
            <a:spLocks/>
          </p:cNvSpPr>
          <p:nvPr/>
        </p:nvSpPr>
        <p:spPr>
          <a:xfrm>
            <a:off x="165942" y="1981200"/>
            <a:ext cx="8825658" cy="2016763"/>
          </a:xfrm>
          <a:prstGeom prst="rect">
            <a:avLst/>
          </a:prstGeom>
        </p:spPr>
        <p:txBody>
          <a:bodyPr vert="horz" lIns="91440" tIns="45720" rIns="91440" bIns="45720" rtlCol="0" anchor="ctr">
            <a:norm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4400" b="0" i="0" u="none" strike="noStrike" kern="1200" cap="none" spc="0" normalizeH="0" baseline="0" noProof="0" dirty="0" smtClean="0">
                <a:ln>
                  <a:noFill/>
                </a:ln>
                <a:solidFill>
                  <a:schemeClr val="tx1"/>
                </a:solidFill>
                <a:effectLst/>
                <a:uLnTx/>
                <a:uFillTx/>
                <a:latin typeface="+mj-lt"/>
                <a:ea typeface="+mj-ea"/>
                <a:cs typeface="+mj-cs"/>
              </a:rPr>
              <a:t>CS-468</a:t>
            </a:r>
            <a:r>
              <a:rPr kumimoji="0" lang="en-US" sz="4400" b="0" i="0" u="none" strike="noStrike" kern="1200" cap="none" spc="0" normalizeH="0" baseline="0" noProof="0" dirty="0" smtClean="0">
                <a:ln>
                  <a:noFill/>
                </a:ln>
                <a:solidFill>
                  <a:schemeClr val="tx1"/>
                </a:solidFill>
                <a:effectLst/>
                <a:uLnTx/>
                <a:uFillTx/>
                <a:latin typeface="+mj-lt"/>
                <a:ea typeface="+mj-ea"/>
                <a:cs typeface="+mj-cs"/>
              </a:rPr>
              <a:t/>
            </a:r>
            <a:br>
              <a:rPr kumimoji="0" lang="en-US" sz="4400" b="0" i="0" u="none" strike="noStrike" kern="1200" cap="none" spc="0" normalizeH="0" baseline="0" noProof="0" dirty="0" smtClean="0">
                <a:ln>
                  <a:noFill/>
                </a:ln>
                <a:solidFill>
                  <a:schemeClr val="tx1"/>
                </a:solidFill>
                <a:effectLst/>
                <a:uLnTx/>
                <a:uFillTx/>
                <a:latin typeface="+mj-lt"/>
                <a:ea typeface="+mj-ea"/>
                <a:cs typeface="+mj-cs"/>
              </a:rPr>
            </a:br>
            <a:r>
              <a:rPr kumimoji="0" lang="en-US" sz="4400" b="0" i="0" u="none" strike="noStrike" kern="1200" cap="none" spc="0" normalizeH="0" baseline="0" noProof="0" dirty="0" smtClean="0">
                <a:ln>
                  <a:noFill/>
                </a:ln>
                <a:solidFill>
                  <a:schemeClr val="tx1"/>
                </a:solidFill>
                <a:effectLst/>
                <a:uLnTx/>
                <a:uFillTx/>
                <a:latin typeface="+mj-lt"/>
                <a:ea typeface="+mj-ea"/>
                <a:cs typeface="+mj-cs"/>
              </a:rPr>
              <a:t>Software Quality Assurance &amp; Testing</a:t>
            </a:r>
            <a:endParaRPr kumimoji="0" lang="en-US" sz="4400" b="0" i="0" u="none" strike="noStrike" kern="1200" cap="none" spc="0" normalizeH="0" baseline="0" noProof="0" dirty="0">
              <a:ln>
                <a:noFill/>
              </a:ln>
              <a:solidFill>
                <a:schemeClr val="tx1"/>
              </a:solidFill>
              <a:effectLst/>
              <a:uLnTx/>
              <a:uFillTx/>
              <a:latin typeface="+mj-lt"/>
              <a:ea typeface="+mj-ea"/>
              <a:cs typeface="+mj-cs"/>
            </a:endParaRPr>
          </a:p>
        </p:txBody>
      </p:sp>
      <p:sp>
        <p:nvSpPr>
          <p:cNvPr id="11" name="Subtitle 2">
            <a:extLst>
              <a:ext uri="{FF2B5EF4-FFF2-40B4-BE49-F238E27FC236}">
                <a16:creationId xmlns="" xmlns:a16="http://schemas.microsoft.com/office/drawing/2014/main" id="{726CA34A-B113-49BC-A1A5-0573BEE18E05}"/>
              </a:ext>
            </a:extLst>
          </p:cNvPr>
          <p:cNvSpPr txBox="1">
            <a:spLocks/>
          </p:cNvSpPr>
          <p:nvPr/>
        </p:nvSpPr>
        <p:spPr>
          <a:xfrm>
            <a:off x="0" y="3962400"/>
            <a:ext cx="9144000" cy="1655762"/>
          </a:xfrm>
          <a:prstGeom prst="rect">
            <a:avLst/>
          </a:prstGeom>
        </p:spPr>
        <p:txBody>
          <a:bodyPr vert="horz" lIns="91440" tIns="45720" rIns="91440" bIns="45720" rtlCol="0">
            <a:normAutofit/>
          </a:bodyPr>
          <a:lstStyle/>
          <a:p>
            <a:pPr marL="342900" marR="0" lvl="0" indent="-342900" algn="ctr" defTabSz="914400" rtl="0" eaLnBrk="1" fontAlgn="auto" latinLnBrk="0" hangingPunct="1">
              <a:lnSpc>
                <a:spcPct val="100000"/>
              </a:lnSpc>
              <a:spcBef>
                <a:spcPct val="20000"/>
              </a:spcBef>
              <a:spcAft>
                <a:spcPts val="0"/>
              </a:spcAft>
              <a:buClrTx/>
              <a:buSzTx/>
              <a:tabLst/>
              <a:defRPr/>
            </a:pPr>
            <a:r>
              <a:rPr kumimoji="0" lang="en-US" sz="3200" b="0" i="0" u="none" strike="noStrike" kern="1200" cap="none" spc="0" normalizeH="0" baseline="0" noProof="0" dirty="0" smtClean="0">
                <a:ln>
                  <a:noFill/>
                </a:ln>
                <a:solidFill>
                  <a:schemeClr val="tx1"/>
                </a:solidFill>
                <a:effectLst/>
                <a:uLnTx/>
                <a:uFillTx/>
                <a:latin typeface="+mn-lt"/>
                <a:ea typeface="+mn-ea"/>
                <a:cs typeface="+mn-cs"/>
              </a:rPr>
              <a:t>Week 5</a:t>
            </a:r>
          </a:p>
          <a:p>
            <a:pPr marL="342900" marR="0" lvl="0" indent="-342900" algn="ctr" defTabSz="914400" rtl="0" eaLnBrk="1" fontAlgn="auto" latinLnBrk="0" hangingPunct="1">
              <a:lnSpc>
                <a:spcPct val="100000"/>
              </a:lnSpc>
              <a:spcBef>
                <a:spcPct val="20000"/>
              </a:spcBef>
              <a:spcAft>
                <a:spcPts val="0"/>
              </a:spcAft>
              <a:buClrTx/>
              <a:buSzTx/>
              <a:tabLst/>
              <a:defRPr/>
            </a:pPr>
            <a:r>
              <a:rPr kumimoji="0" lang="en-US" sz="3200" b="0" i="0" u="none" strike="noStrike" kern="1200" cap="none" spc="0" normalizeH="0" baseline="0" noProof="0" dirty="0" smtClean="0">
                <a:ln>
                  <a:noFill/>
                </a:ln>
                <a:solidFill>
                  <a:schemeClr val="tx1"/>
                </a:solidFill>
                <a:effectLst/>
                <a:uLnTx/>
                <a:uFillTx/>
                <a:latin typeface="+mn-lt"/>
                <a:ea typeface="+mn-ea"/>
                <a:cs typeface="+mn-cs"/>
              </a:rPr>
              <a:t>Session 2</a:t>
            </a:r>
            <a:endParaRPr kumimoji="0" lang="en-US" sz="3200" b="0" i="0" u="none" strike="noStrike" kern="1200" cap="none" spc="0" normalizeH="0" baseline="0" noProof="0" dirty="0">
              <a:ln>
                <a:noFill/>
              </a:ln>
              <a:solidFill>
                <a:schemeClr val="tx1"/>
              </a:solidFill>
              <a:effectLst/>
              <a:uLnTx/>
              <a:uFillTx/>
              <a:latin typeface="+mn-lt"/>
              <a:ea typeface="+mn-ea"/>
              <a:cs typeface="+mn-cs"/>
            </a:endParaRPr>
          </a:p>
        </p:txBody>
      </p:sp>
      <p:pic>
        <p:nvPicPr>
          <p:cNvPr id="12" name="Picture 1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79353" y="18197"/>
            <a:ext cx="1324160" cy="132416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457200" y="0"/>
            <a:ext cx="8229600" cy="685800"/>
          </a:xfrm>
        </p:spPr>
        <p:txBody>
          <a:bodyPr>
            <a:noAutofit/>
          </a:bodyPr>
          <a:lstStyle/>
          <a:p>
            <a:r>
              <a:rPr lang="en-GB" sz="2800" dirty="0" smtClean="0"/>
              <a:t>Fundamental Test Process</a:t>
            </a:r>
            <a:endParaRPr lang="en-US" sz="2800" dirty="0"/>
          </a:p>
        </p:txBody>
      </p:sp>
      <p:sp>
        <p:nvSpPr>
          <p:cNvPr id="2" name="Slide Number Placeholder 1"/>
          <p:cNvSpPr>
            <a:spLocks noGrp="1"/>
          </p:cNvSpPr>
          <p:nvPr>
            <p:ph type="sldNum" sz="quarter" idx="12"/>
          </p:nvPr>
        </p:nvSpPr>
        <p:spPr/>
        <p:txBody>
          <a:bodyPr/>
          <a:lstStyle/>
          <a:p>
            <a:fld id="{243F0035-4B67-4B88-B2A0-536AE2AEED21}" type="slidenum">
              <a:rPr lang="en-US" smtClean="0"/>
              <a:pPr/>
              <a:t>2</a:t>
            </a:fld>
            <a:endParaRPr lang="en-US"/>
          </a:p>
        </p:txBody>
      </p:sp>
      <p:pic>
        <p:nvPicPr>
          <p:cNvPr id="4" name="Picture 3"/>
          <p:cNvPicPr>
            <a:picLocks noChangeAspect="1"/>
          </p:cNvPicPr>
          <p:nvPr/>
        </p:nvPicPr>
        <p:blipFill>
          <a:blip r:embed="rId3" cstate="print"/>
          <a:stretch>
            <a:fillRect/>
          </a:stretch>
        </p:blipFill>
        <p:spPr>
          <a:xfrm>
            <a:off x="2133600" y="869950"/>
            <a:ext cx="5126604" cy="5302250"/>
          </a:xfrm>
          <a:prstGeom prst="rect">
            <a:avLst/>
          </a:prstGeom>
        </p:spPr>
      </p:pic>
    </p:spTree>
    <p:extLst>
      <p:ext uri="{BB962C8B-B14F-4D97-AF65-F5344CB8AC3E}">
        <p14:creationId xmlns:p14="http://schemas.microsoft.com/office/powerpoint/2010/main" val="81444672"/>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457200" y="0"/>
            <a:ext cx="8229600" cy="685800"/>
          </a:xfrm>
        </p:spPr>
        <p:txBody>
          <a:bodyPr>
            <a:noAutofit/>
          </a:bodyPr>
          <a:lstStyle/>
          <a:p>
            <a:r>
              <a:rPr lang="en-GB" sz="2800" dirty="0"/>
              <a:t>Fundamental Test Process</a:t>
            </a:r>
            <a:endParaRPr lang="en-US" sz="2800" dirty="0"/>
          </a:p>
        </p:txBody>
      </p:sp>
      <p:sp>
        <p:nvSpPr>
          <p:cNvPr id="7" name="Content Placeholder 2"/>
          <p:cNvSpPr>
            <a:spLocks noGrp="1"/>
          </p:cNvSpPr>
          <p:nvPr>
            <p:ph idx="1"/>
          </p:nvPr>
        </p:nvSpPr>
        <p:spPr>
          <a:xfrm>
            <a:off x="609600" y="685800"/>
            <a:ext cx="8229600" cy="6172200"/>
          </a:xfrm>
        </p:spPr>
        <p:txBody>
          <a:bodyPr>
            <a:noAutofit/>
          </a:bodyPr>
          <a:lstStyle/>
          <a:p>
            <a:r>
              <a:rPr lang="en-GB" sz="1800" b="1" dirty="0"/>
              <a:t>Test planning and </a:t>
            </a:r>
            <a:r>
              <a:rPr lang="en-GB" sz="1800" b="1" dirty="0" smtClean="0"/>
              <a:t>control:</a:t>
            </a:r>
          </a:p>
          <a:p>
            <a:pPr lvl="1"/>
            <a:r>
              <a:rPr lang="en-GB" sz="1800" dirty="0"/>
              <a:t>Planning is determining what is going to be tested, and how this will be achieved</a:t>
            </a:r>
            <a:r>
              <a:rPr lang="en-GB" sz="1800" dirty="0" smtClean="0"/>
              <a:t>.</a:t>
            </a:r>
            <a:endParaRPr lang="en-GB" sz="1800" dirty="0"/>
          </a:p>
          <a:p>
            <a:pPr lvl="1"/>
            <a:r>
              <a:rPr lang="en-GB" sz="1800" dirty="0" smtClean="0"/>
              <a:t>How </a:t>
            </a:r>
            <a:r>
              <a:rPr lang="en-GB" sz="1800" dirty="0"/>
              <a:t>activities will be done; and who will do them. </a:t>
            </a:r>
          </a:p>
          <a:p>
            <a:pPr lvl="1"/>
            <a:r>
              <a:rPr lang="en-GB" sz="1800" dirty="0"/>
              <a:t>Test planning is also where we define the test completion criteria. </a:t>
            </a:r>
            <a:endParaRPr lang="en-GB" sz="1800" dirty="0" smtClean="0"/>
          </a:p>
          <a:p>
            <a:pPr lvl="1"/>
            <a:r>
              <a:rPr lang="en-GB" sz="1800" dirty="0" smtClean="0"/>
              <a:t>Completion </a:t>
            </a:r>
            <a:r>
              <a:rPr lang="en-GB" sz="1800" dirty="0"/>
              <a:t>criteria are how we know when testing is finished</a:t>
            </a:r>
            <a:r>
              <a:rPr lang="en-GB" sz="1800" dirty="0" smtClean="0"/>
              <a:t>.</a:t>
            </a:r>
            <a:endParaRPr lang="en-GB" sz="1800" dirty="0"/>
          </a:p>
          <a:p>
            <a:pPr lvl="1"/>
            <a:r>
              <a:rPr lang="en-GB" sz="1800" dirty="0"/>
              <a:t>Control, is what we do when the activities do not match up with the plans</a:t>
            </a:r>
            <a:r>
              <a:rPr lang="en-GB" sz="1800" dirty="0" smtClean="0"/>
              <a:t>.</a:t>
            </a:r>
            <a:endParaRPr lang="en-GB" sz="1800" dirty="0"/>
          </a:p>
          <a:p>
            <a:pPr lvl="1"/>
            <a:r>
              <a:rPr lang="en-GB" sz="1800" dirty="0"/>
              <a:t>It is the ongoing activity where we compare the progress against the plan</a:t>
            </a:r>
            <a:r>
              <a:rPr lang="en-GB" sz="1800" dirty="0" smtClean="0"/>
              <a:t>.</a:t>
            </a:r>
            <a:endParaRPr lang="en-GB" sz="1800" dirty="0"/>
          </a:p>
          <a:p>
            <a:pPr lvl="1"/>
            <a:r>
              <a:rPr lang="en-GB" sz="1800" dirty="0"/>
              <a:t>As progress takes place, we may need to adjust plans to meet the targets, if this is possible. </a:t>
            </a:r>
          </a:p>
          <a:p>
            <a:pPr lvl="1"/>
            <a:r>
              <a:rPr lang="en-GB" sz="1800" dirty="0"/>
              <a:t>Therefore we need to undertake both planning and control throughout the testing activities. </a:t>
            </a:r>
          </a:p>
          <a:p>
            <a:pPr lvl="1"/>
            <a:r>
              <a:rPr lang="en-GB" sz="1800" dirty="0"/>
              <a:t>We plan at the outset, but as testing progresses, undertake monitoring and control activities (monitoring to measure what has happened, control to adjust future activities in the light of experience). </a:t>
            </a:r>
          </a:p>
          <a:p>
            <a:pPr lvl="1"/>
            <a:r>
              <a:rPr lang="en-GB" sz="1800" dirty="0"/>
              <a:t>Monitoring and control feed back into the continual activity of planning. </a:t>
            </a:r>
            <a:endParaRPr lang="en-GB" sz="1800" dirty="0" smtClean="0"/>
          </a:p>
        </p:txBody>
      </p:sp>
      <p:sp>
        <p:nvSpPr>
          <p:cNvPr id="2" name="Slide Number Placeholder 1"/>
          <p:cNvSpPr>
            <a:spLocks noGrp="1"/>
          </p:cNvSpPr>
          <p:nvPr>
            <p:ph type="sldNum" sz="quarter" idx="12"/>
          </p:nvPr>
        </p:nvSpPr>
        <p:spPr/>
        <p:txBody>
          <a:bodyPr/>
          <a:lstStyle/>
          <a:p>
            <a:fld id="{243F0035-4B67-4B88-B2A0-536AE2AEED21}" type="slidenum">
              <a:rPr lang="en-US" smtClean="0"/>
              <a:pPr/>
              <a:t>3</a:t>
            </a:fld>
            <a:endParaRPr lang="en-US"/>
          </a:p>
        </p:txBody>
      </p:sp>
    </p:spTree>
    <p:extLst>
      <p:ext uri="{BB962C8B-B14F-4D97-AF65-F5344CB8AC3E}">
        <p14:creationId xmlns:p14="http://schemas.microsoft.com/office/powerpoint/2010/main" val="1165427881"/>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457200" y="0"/>
            <a:ext cx="8229600" cy="685800"/>
          </a:xfrm>
        </p:spPr>
        <p:txBody>
          <a:bodyPr>
            <a:noAutofit/>
          </a:bodyPr>
          <a:lstStyle/>
          <a:p>
            <a:r>
              <a:rPr lang="en-GB" sz="2800" dirty="0"/>
              <a:t>Fundamental Test Process</a:t>
            </a:r>
            <a:endParaRPr lang="en-US" sz="2800" dirty="0"/>
          </a:p>
        </p:txBody>
      </p:sp>
      <p:sp>
        <p:nvSpPr>
          <p:cNvPr id="7" name="Content Placeholder 2"/>
          <p:cNvSpPr>
            <a:spLocks noGrp="1"/>
          </p:cNvSpPr>
          <p:nvPr>
            <p:ph idx="1"/>
          </p:nvPr>
        </p:nvSpPr>
        <p:spPr>
          <a:xfrm>
            <a:off x="609600" y="685800"/>
            <a:ext cx="8229600" cy="6172200"/>
          </a:xfrm>
        </p:spPr>
        <p:txBody>
          <a:bodyPr>
            <a:noAutofit/>
          </a:bodyPr>
          <a:lstStyle/>
          <a:p>
            <a:r>
              <a:rPr lang="en-GB" sz="1800" b="1" dirty="0"/>
              <a:t>Test analysis and </a:t>
            </a:r>
            <a:r>
              <a:rPr lang="en-GB" sz="1800" b="1" dirty="0" smtClean="0"/>
              <a:t>design:</a:t>
            </a:r>
          </a:p>
          <a:p>
            <a:pPr lvl="1"/>
            <a:r>
              <a:rPr lang="en-GB" sz="1800" dirty="0"/>
              <a:t>Analysis and design are concerned with the fine detail </a:t>
            </a:r>
            <a:r>
              <a:rPr lang="en-GB" sz="1800" dirty="0" smtClean="0"/>
              <a:t>of:</a:t>
            </a:r>
          </a:p>
          <a:p>
            <a:pPr lvl="2"/>
            <a:r>
              <a:rPr lang="en-GB" sz="1600" b="1" dirty="0" smtClean="0"/>
              <a:t>what </a:t>
            </a:r>
            <a:r>
              <a:rPr lang="en-GB" sz="1600" b="1" dirty="0"/>
              <a:t>to test (test conditions), </a:t>
            </a:r>
            <a:endParaRPr lang="en-GB" sz="1600" b="1" dirty="0" smtClean="0"/>
          </a:p>
          <a:p>
            <a:pPr lvl="2"/>
            <a:r>
              <a:rPr lang="en-GB" sz="1600" b="1" dirty="0" smtClean="0"/>
              <a:t>and </a:t>
            </a:r>
            <a:r>
              <a:rPr lang="en-GB" sz="1600" b="1" dirty="0"/>
              <a:t>how to combine test conditions into test cases, </a:t>
            </a:r>
            <a:endParaRPr lang="en-GB" sz="1600" b="1" dirty="0" smtClean="0"/>
          </a:p>
          <a:p>
            <a:pPr lvl="2"/>
            <a:r>
              <a:rPr lang="en-GB" sz="1600" b="1" dirty="0" smtClean="0"/>
              <a:t>so </a:t>
            </a:r>
            <a:r>
              <a:rPr lang="en-GB" sz="1600" b="1" dirty="0"/>
              <a:t>that a small number of test cases can cover as many of the test conditions as possible. </a:t>
            </a:r>
          </a:p>
          <a:p>
            <a:pPr lvl="1"/>
            <a:r>
              <a:rPr lang="en-GB" sz="1800" dirty="0"/>
              <a:t>The analysis and design stage is the bridge between </a:t>
            </a:r>
            <a:r>
              <a:rPr lang="en-GB" sz="1800" b="1" dirty="0"/>
              <a:t>planning and test execution.</a:t>
            </a:r>
          </a:p>
          <a:p>
            <a:pPr lvl="1"/>
            <a:r>
              <a:rPr lang="en-GB" sz="1800" dirty="0"/>
              <a:t>It is looking backward to the planning (schedules, people, what is going to be tested) and forward to the execution activity (test expected results, what environment will be needed).</a:t>
            </a:r>
          </a:p>
          <a:p>
            <a:pPr lvl="1"/>
            <a:r>
              <a:rPr lang="en-GB" sz="1800" dirty="0"/>
              <a:t>A part of the design process </a:t>
            </a:r>
            <a:r>
              <a:rPr lang="en-GB" sz="1800" b="1" dirty="0"/>
              <a:t>needs to consider the test data</a:t>
            </a:r>
            <a:r>
              <a:rPr lang="en-GB" sz="1800" dirty="0"/>
              <a:t> that will be required for </a:t>
            </a:r>
            <a:r>
              <a:rPr lang="en-GB" sz="1800" b="1" dirty="0"/>
              <a:t>the test conditions and test cases </a:t>
            </a:r>
            <a:r>
              <a:rPr lang="en-GB" sz="1800" dirty="0"/>
              <a:t>that have been drawn up.</a:t>
            </a:r>
          </a:p>
          <a:p>
            <a:pPr lvl="1"/>
            <a:r>
              <a:rPr lang="en-GB" sz="1800" b="1" dirty="0"/>
              <a:t>Test design involves predicting how the software under test should behave in a given set of circumstances.</a:t>
            </a:r>
          </a:p>
          <a:p>
            <a:pPr lvl="1"/>
            <a:r>
              <a:rPr lang="en-GB" sz="1800" dirty="0" smtClean="0"/>
              <a:t>If </a:t>
            </a:r>
            <a:r>
              <a:rPr lang="en-GB" sz="1800" dirty="0"/>
              <a:t>we do not detail </a:t>
            </a:r>
            <a:r>
              <a:rPr lang="en-GB" sz="1800" b="1" dirty="0"/>
              <a:t>expected outcomes </a:t>
            </a:r>
            <a:r>
              <a:rPr lang="en-GB" sz="1800" dirty="0"/>
              <a:t>before starting test execution, there is a real danger that we will miss the one item of detail that is vital, but wrong.</a:t>
            </a:r>
          </a:p>
          <a:p>
            <a:pPr lvl="1"/>
            <a:endParaRPr lang="en-GB" sz="1800" dirty="0"/>
          </a:p>
          <a:p>
            <a:pPr lvl="1"/>
            <a:endParaRPr lang="en-GB" sz="1800" b="1" dirty="0"/>
          </a:p>
          <a:p>
            <a:pPr lvl="1"/>
            <a:endParaRPr lang="en-GB" sz="1800" dirty="0"/>
          </a:p>
        </p:txBody>
      </p:sp>
      <p:sp>
        <p:nvSpPr>
          <p:cNvPr id="2" name="Slide Number Placeholder 1"/>
          <p:cNvSpPr>
            <a:spLocks noGrp="1"/>
          </p:cNvSpPr>
          <p:nvPr>
            <p:ph type="sldNum" sz="quarter" idx="12"/>
          </p:nvPr>
        </p:nvSpPr>
        <p:spPr/>
        <p:txBody>
          <a:bodyPr/>
          <a:lstStyle/>
          <a:p>
            <a:fld id="{243F0035-4B67-4B88-B2A0-536AE2AEED21}" type="slidenum">
              <a:rPr lang="en-US" smtClean="0"/>
              <a:pPr/>
              <a:t>4</a:t>
            </a:fld>
            <a:endParaRPr lang="en-US"/>
          </a:p>
        </p:txBody>
      </p:sp>
    </p:spTree>
    <p:extLst>
      <p:ext uri="{BB962C8B-B14F-4D97-AF65-F5344CB8AC3E}">
        <p14:creationId xmlns:p14="http://schemas.microsoft.com/office/powerpoint/2010/main" val="3004000165"/>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457200" y="0"/>
            <a:ext cx="8229600" cy="549275"/>
          </a:xfrm>
        </p:spPr>
        <p:txBody>
          <a:bodyPr>
            <a:noAutofit/>
          </a:bodyPr>
          <a:lstStyle/>
          <a:p>
            <a:r>
              <a:rPr lang="en-GB" sz="2800" dirty="0"/>
              <a:t>Fundamental Test Process</a:t>
            </a:r>
            <a:endParaRPr lang="en-US" sz="2800" dirty="0"/>
          </a:p>
        </p:txBody>
      </p:sp>
      <p:sp>
        <p:nvSpPr>
          <p:cNvPr id="7" name="Content Placeholder 2"/>
          <p:cNvSpPr>
            <a:spLocks noGrp="1"/>
          </p:cNvSpPr>
          <p:nvPr>
            <p:ph idx="1"/>
          </p:nvPr>
        </p:nvSpPr>
        <p:spPr>
          <a:xfrm>
            <a:off x="609600" y="412750"/>
            <a:ext cx="8229600" cy="6521450"/>
          </a:xfrm>
        </p:spPr>
        <p:txBody>
          <a:bodyPr>
            <a:noAutofit/>
          </a:bodyPr>
          <a:lstStyle/>
          <a:p>
            <a:r>
              <a:rPr lang="en-GB" sz="1800" b="1" dirty="0"/>
              <a:t>Test implementation and execution :</a:t>
            </a:r>
            <a:endParaRPr lang="en-GB" sz="1800" b="1" dirty="0" smtClean="0"/>
          </a:p>
          <a:p>
            <a:pPr lvl="1"/>
            <a:r>
              <a:rPr lang="en-GB" sz="1800" dirty="0"/>
              <a:t>The test implementation and execution activity involves running tests, and this will include where necessary any set-up/tear-down activities for the testing.</a:t>
            </a:r>
          </a:p>
          <a:p>
            <a:pPr lvl="1"/>
            <a:r>
              <a:rPr lang="en-GB" sz="1800" dirty="0"/>
              <a:t>It will also involve checking the test environment before testing begins.</a:t>
            </a:r>
          </a:p>
          <a:p>
            <a:pPr lvl="1"/>
            <a:r>
              <a:rPr lang="en-GB" sz="1800" dirty="0"/>
              <a:t>Test execution is the most visible part of testing, but it is not possible without other parts of the fundamental test process.</a:t>
            </a:r>
          </a:p>
          <a:p>
            <a:pPr lvl="1"/>
            <a:r>
              <a:rPr lang="en-GB" sz="1800" dirty="0"/>
              <a:t>It is not just about running tests.</a:t>
            </a:r>
          </a:p>
          <a:p>
            <a:pPr lvl="1"/>
            <a:r>
              <a:rPr lang="en-GB" sz="1800" b="1" dirty="0"/>
              <a:t>The most important tests need to be run first. </a:t>
            </a:r>
            <a:r>
              <a:rPr lang="en-GB" sz="1800" dirty="0"/>
              <a:t>This is determined during the planning stages, and refined as part of test design. </a:t>
            </a:r>
          </a:p>
          <a:p>
            <a:pPr lvl="1"/>
            <a:r>
              <a:rPr lang="en-GB" sz="1800" dirty="0"/>
              <a:t>One important aspect undertaken at this stage is combining test cases into an overall run procedure, so that test time can be utilised efficiently.</a:t>
            </a:r>
          </a:p>
          <a:p>
            <a:pPr lvl="1"/>
            <a:r>
              <a:rPr lang="en-GB" sz="1800" b="1" dirty="0"/>
              <a:t>Here the logical ordering of tests is important so that, where possible, the outcome of one test creates the preconditions for one or more tests that are later in the execution sequence.</a:t>
            </a:r>
          </a:p>
          <a:p>
            <a:pPr lvl="1"/>
            <a:r>
              <a:rPr lang="en-GB" sz="1800" b="1" dirty="0"/>
              <a:t>As tests are run, their outcome needs to be logged, and a comparison made between expected results and actual results</a:t>
            </a:r>
            <a:r>
              <a:rPr lang="en-GB" sz="1800" dirty="0"/>
              <a:t>.</a:t>
            </a:r>
          </a:p>
          <a:p>
            <a:pPr lvl="1"/>
            <a:r>
              <a:rPr lang="en-GB" sz="1800" b="1" dirty="0"/>
              <a:t>Whenever there is a discrepancy between the expected and actual results, this needs to be investigated. </a:t>
            </a:r>
          </a:p>
          <a:p>
            <a:pPr lvl="1"/>
            <a:r>
              <a:rPr lang="en-GB" sz="1800" b="1" dirty="0"/>
              <a:t>If necessary a test incident should be raised. </a:t>
            </a:r>
          </a:p>
          <a:p>
            <a:pPr lvl="1"/>
            <a:r>
              <a:rPr lang="en-GB" sz="1800" dirty="0"/>
              <a:t>Each incident requires investigation, although corrective action will not be necessary in every case.</a:t>
            </a:r>
          </a:p>
          <a:p>
            <a:pPr lvl="1"/>
            <a:endParaRPr lang="en-GB" sz="1800" dirty="0"/>
          </a:p>
          <a:p>
            <a:pPr lvl="1"/>
            <a:endParaRPr lang="en-GB" sz="1800" dirty="0"/>
          </a:p>
          <a:p>
            <a:pPr lvl="1"/>
            <a:endParaRPr lang="en-GB" sz="1800" b="1" dirty="0"/>
          </a:p>
          <a:p>
            <a:pPr lvl="1"/>
            <a:endParaRPr lang="en-GB" sz="1800" dirty="0"/>
          </a:p>
        </p:txBody>
      </p:sp>
      <p:sp>
        <p:nvSpPr>
          <p:cNvPr id="2" name="Slide Number Placeholder 1"/>
          <p:cNvSpPr>
            <a:spLocks noGrp="1"/>
          </p:cNvSpPr>
          <p:nvPr>
            <p:ph type="sldNum" sz="quarter" idx="12"/>
          </p:nvPr>
        </p:nvSpPr>
        <p:spPr/>
        <p:txBody>
          <a:bodyPr/>
          <a:lstStyle/>
          <a:p>
            <a:fld id="{243F0035-4B67-4B88-B2A0-536AE2AEED21}" type="slidenum">
              <a:rPr lang="en-US" smtClean="0"/>
              <a:pPr/>
              <a:t>5</a:t>
            </a:fld>
            <a:endParaRPr lang="en-US"/>
          </a:p>
        </p:txBody>
      </p:sp>
    </p:spTree>
    <p:extLst>
      <p:ext uri="{BB962C8B-B14F-4D97-AF65-F5344CB8AC3E}">
        <p14:creationId xmlns:p14="http://schemas.microsoft.com/office/powerpoint/2010/main" val="2579084903"/>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457200" y="0"/>
            <a:ext cx="8229600" cy="549275"/>
          </a:xfrm>
        </p:spPr>
        <p:txBody>
          <a:bodyPr>
            <a:noAutofit/>
          </a:bodyPr>
          <a:lstStyle/>
          <a:p>
            <a:r>
              <a:rPr lang="en-GB" sz="2800" dirty="0"/>
              <a:t>Fundamental Test Process</a:t>
            </a:r>
            <a:endParaRPr lang="en-US" sz="2800" dirty="0"/>
          </a:p>
        </p:txBody>
      </p:sp>
      <p:sp>
        <p:nvSpPr>
          <p:cNvPr id="7" name="Content Placeholder 2"/>
          <p:cNvSpPr>
            <a:spLocks noGrp="1"/>
          </p:cNvSpPr>
          <p:nvPr>
            <p:ph idx="1"/>
          </p:nvPr>
        </p:nvSpPr>
        <p:spPr>
          <a:xfrm>
            <a:off x="609600" y="412750"/>
            <a:ext cx="8229600" cy="6521450"/>
          </a:xfrm>
        </p:spPr>
        <p:txBody>
          <a:bodyPr>
            <a:noAutofit/>
          </a:bodyPr>
          <a:lstStyle/>
          <a:p>
            <a:r>
              <a:rPr lang="en-GB" sz="1800" b="1" dirty="0"/>
              <a:t>Evaluating exit criteria and reporting:</a:t>
            </a:r>
            <a:endParaRPr lang="en-GB" sz="1800" b="1" dirty="0" smtClean="0"/>
          </a:p>
          <a:p>
            <a:pPr lvl="1"/>
            <a:r>
              <a:rPr lang="en-GB" sz="1800" dirty="0"/>
              <a:t>Exit criteria were defined during test planning and before test execution started.</a:t>
            </a:r>
          </a:p>
          <a:p>
            <a:pPr lvl="1"/>
            <a:r>
              <a:rPr lang="en-GB" sz="1800" dirty="0"/>
              <a:t>At the end of test execution, the test manager checks to see if these have been met.</a:t>
            </a:r>
          </a:p>
          <a:p>
            <a:pPr lvl="1"/>
            <a:r>
              <a:rPr lang="en-GB" sz="1800" dirty="0"/>
              <a:t>If the criterion was that there would be 85 per cent statement coverage (i.e. 85 per cent of all executable statements have been executed, and as a result of execution the figure is 75 per cent, there are two possible actions: </a:t>
            </a:r>
          </a:p>
          <a:p>
            <a:pPr lvl="1"/>
            <a:r>
              <a:rPr lang="en-GB" sz="1800" dirty="0"/>
              <a:t>change the exit criteria, </a:t>
            </a:r>
          </a:p>
          <a:p>
            <a:pPr lvl="1"/>
            <a:r>
              <a:rPr lang="en-GB" sz="1800" dirty="0"/>
              <a:t>or run more tests. </a:t>
            </a:r>
          </a:p>
          <a:p>
            <a:pPr lvl="1"/>
            <a:r>
              <a:rPr lang="en-GB" sz="1800" dirty="0"/>
              <a:t>It is possible that even if the </a:t>
            </a:r>
            <a:r>
              <a:rPr lang="en-GB" sz="1800" dirty="0" smtClean="0"/>
              <a:t>pre-set </a:t>
            </a:r>
            <a:r>
              <a:rPr lang="en-GB" sz="1800" dirty="0"/>
              <a:t>criteria were met, more tests would be required. </a:t>
            </a:r>
          </a:p>
          <a:p>
            <a:pPr lvl="1"/>
            <a:r>
              <a:rPr lang="en-GB" sz="1800" dirty="0"/>
              <a:t>Also, writing a test summary for stakeholders would say what was planned, what was achieved, highlight any differences and in particular things that were not tested</a:t>
            </a:r>
            <a:r>
              <a:rPr lang="en-GB" sz="1800" dirty="0" smtClean="0"/>
              <a:t>.</a:t>
            </a:r>
            <a:endParaRPr lang="en-GB" sz="1800" dirty="0"/>
          </a:p>
          <a:p>
            <a:pPr lvl="1"/>
            <a:endParaRPr lang="en-GB" sz="1800" dirty="0"/>
          </a:p>
          <a:p>
            <a:pPr lvl="1"/>
            <a:endParaRPr lang="en-GB" sz="1800" b="1" dirty="0"/>
          </a:p>
          <a:p>
            <a:pPr lvl="1"/>
            <a:endParaRPr lang="en-GB" sz="1800" dirty="0"/>
          </a:p>
        </p:txBody>
      </p:sp>
      <p:sp>
        <p:nvSpPr>
          <p:cNvPr id="2" name="Slide Number Placeholder 1"/>
          <p:cNvSpPr>
            <a:spLocks noGrp="1"/>
          </p:cNvSpPr>
          <p:nvPr>
            <p:ph type="sldNum" sz="quarter" idx="12"/>
          </p:nvPr>
        </p:nvSpPr>
        <p:spPr/>
        <p:txBody>
          <a:bodyPr/>
          <a:lstStyle/>
          <a:p>
            <a:fld id="{243F0035-4B67-4B88-B2A0-536AE2AEED21}" type="slidenum">
              <a:rPr lang="en-US" smtClean="0"/>
              <a:pPr/>
              <a:t>6</a:t>
            </a:fld>
            <a:endParaRPr lang="en-US"/>
          </a:p>
        </p:txBody>
      </p:sp>
    </p:spTree>
    <p:extLst>
      <p:ext uri="{BB962C8B-B14F-4D97-AF65-F5344CB8AC3E}">
        <p14:creationId xmlns:p14="http://schemas.microsoft.com/office/powerpoint/2010/main" val="1421696844"/>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457200" y="0"/>
            <a:ext cx="8229600" cy="685800"/>
          </a:xfrm>
        </p:spPr>
        <p:txBody>
          <a:bodyPr>
            <a:noAutofit/>
          </a:bodyPr>
          <a:lstStyle/>
          <a:p>
            <a:r>
              <a:rPr lang="en-GB" sz="2800" dirty="0" smtClean="0"/>
              <a:t>Terminologies and Test Case Design Basics</a:t>
            </a:r>
            <a:endParaRPr lang="en-US" sz="2800" dirty="0"/>
          </a:p>
        </p:txBody>
      </p:sp>
      <p:sp>
        <p:nvSpPr>
          <p:cNvPr id="7" name="Content Placeholder 2"/>
          <p:cNvSpPr>
            <a:spLocks noGrp="1"/>
          </p:cNvSpPr>
          <p:nvPr>
            <p:ph idx="1"/>
          </p:nvPr>
        </p:nvSpPr>
        <p:spPr>
          <a:xfrm>
            <a:off x="609600" y="685800"/>
            <a:ext cx="8229600" cy="6172200"/>
          </a:xfrm>
        </p:spPr>
        <p:txBody>
          <a:bodyPr>
            <a:noAutofit/>
          </a:bodyPr>
          <a:lstStyle/>
          <a:p>
            <a:r>
              <a:rPr lang="en-GB" sz="1800" b="1" dirty="0"/>
              <a:t>A test condition </a:t>
            </a:r>
            <a:r>
              <a:rPr lang="en-GB" sz="1800" dirty="0" smtClean="0"/>
              <a:t>:</a:t>
            </a:r>
          </a:p>
          <a:p>
            <a:pPr lvl="1"/>
            <a:r>
              <a:rPr lang="en-GB" sz="1600" dirty="0" smtClean="0"/>
              <a:t>An </a:t>
            </a:r>
            <a:r>
              <a:rPr lang="en-GB" sz="1600" dirty="0"/>
              <a:t>item or event of a component or system that could be veriﬁed by one or more test cases, e.g. a function, transaction, feature, quality attribute, or structural element</a:t>
            </a:r>
            <a:r>
              <a:rPr lang="en-GB" sz="1600" dirty="0" smtClean="0"/>
              <a:t>.</a:t>
            </a:r>
          </a:p>
          <a:p>
            <a:pPr lvl="1"/>
            <a:r>
              <a:rPr lang="en-GB" sz="1600" dirty="0"/>
              <a:t>In other words, a test condition is some characteristic of our software that we can check with a test or a set of tests.</a:t>
            </a:r>
          </a:p>
          <a:p>
            <a:r>
              <a:rPr lang="en-GB" sz="1800" b="1" dirty="0"/>
              <a:t>A test </a:t>
            </a:r>
            <a:r>
              <a:rPr lang="en-GB" sz="1800" b="1" dirty="0" smtClean="0"/>
              <a:t>case:</a:t>
            </a:r>
          </a:p>
          <a:p>
            <a:pPr lvl="1"/>
            <a:r>
              <a:rPr lang="en-GB" sz="1600" dirty="0" smtClean="0"/>
              <a:t>A </a:t>
            </a:r>
            <a:r>
              <a:rPr lang="en-GB" sz="1600" dirty="0"/>
              <a:t>set of input values, execution preconditions, expected results and execution </a:t>
            </a:r>
            <a:r>
              <a:rPr lang="en-GB" sz="1600" dirty="0" smtClean="0"/>
              <a:t>post conditions</a:t>
            </a:r>
            <a:r>
              <a:rPr lang="en-GB" sz="1600" dirty="0"/>
              <a:t>, developed for a particular objective or test condition, such as to exercise a particular program path or to verify compliance with a speciﬁc requirement</a:t>
            </a:r>
            <a:r>
              <a:rPr lang="en-GB" sz="1600" dirty="0" smtClean="0"/>
              <a:t>.</a:t>
            </a:r>
          </a:p>
          <a:p>
            <a:pPr lvl="1"/>
            <a:r>
              <a:rPr lang="en-GB" sz="1600" dirty="0"/>
              <a:t>In other words, a test case: gets the system to some starting point for the test (</a:t>
            </a:r>
            <a:r>
              <a:rPr lang="en-GB" sz="1600" b="1" dirty="0"/>
              <a:t>execution preconditions</a:t>
            </a:r>
            <a:r>
              <a:rPr lang="en-GB" sz="1600" dirty="0"/>
              <a:t>); then applies a set of input values that should achieve a given outcome (</a:t>
            </a:r>
            <a:r>
              <a:rPr lang="en-GB" sz="1600" b="1" dirty="0"/>
              <a:t>expected result</a:t>
            </a:r>
            <a:r>
              <a:rPr lang="en-GB" sz="1600" dirty="0"/>
              <a:t>), and leaves the system at some end point (</a:t>
            </a:r>
            <a:r>
              <a:rPr lang="en-GB" sz="1600" b="1" dirty="0"/>
              <a:t>execution </a:t>
            </a:r>
            <a:r>
              <a:rPr lang="en-GB" sz="1600" b="1" dirty="0" smtClean="0"/>
              <a:t>post condition</a:t>
            </a:r>
            <a:r>
              <a:rPr lang="en-GB" sz="1600" b="1" dirty="0"/>
              <a:t>).</a:t>
            </a:r>
          </a:p>
          <a:p>
            <a:r>
              <a:rPr lang="en-GB" sz="1800" dirty="0"/>
              <a:t>Our test design activity will generate the set of input values and we will predict the expected outcome by, for example, identifying from the specification what should happen when those input values are applied. </a:t>
            </a:r>
          </a:p>
          <a:p>
            <a:r>
              <a:rPr lang="en-GB" sz="1800" dirty="0"/>
              <a:t>We have to define what state the system is in when we start so that it is ready to receive the inputs and we have to decide what state it is in after the test so that we can check that it ends up in the right place.</a:t>
            </a:r>
          </a:p>
          <a:p>
            <a:endParaRPr lang="en-GB" sz="2000" dirty="0"/>
          </a:p>
        </p:txBody>
      </p:sp>
      <p:sp>
        <p:nvSpPr>
          <p:cNvPr id="2" name="Slide Number Placeholder 1"/>
          <p:cNvSpPr>
            <a:spLocks noGrp="1"/>
          </p:cNvSpPr>
          <p:nvPr>
            <p:ph type="sldNum" sz="quarter" idx="12"/>
          </p:nvPr>
        </p:nvSpPr>
        <p:spPr/>
        <p:txBody>
          <a:bodyPr/>
          <a:lstStyle/>
          <a:p>
            <a:fld id="{243F0035-4B67-4B88-B2A0-536AE2AEED21}" type="slidenum">
              <a:rPr lang="en-US" smtClean="0"/>
              <a:pPr/>
              <a:t>7</a:t>
            </a:fld>
            <a:endParaRPr lang="en-US"/>
          </a:p>
        </p:txBody>
      </p:sp>
    </p:spTree>
    <p:extLst>
      <p:ext uri="{BB962C8B-B14F-4D97-AF65-F5344CB8AC3E}">
        <p14:creationId xmlns:p14="http://schemas.microsoft.com/office/powerpoint/2010/main" val="388123610"/>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457200" y="0"/>
            <a:ext cx="8229600" cy="685800"/>
          </a:xfrm>
        </p:spPr>
        <p:txBody>
          <a:bodyPr>
            <a:noAutofit/>
          </a:bodyPr>
          <a:lstStyle/>
          <a:p>
            <a:r>
              <a:rPr lang="en-GB" sz="2800" dirty="0"/>
              <a:t>Terminologies and Test Case Design </a:t>
            </a:r>
            <a:r>
              <a:rPr lang="en-GB" sz="2800" dirty="0" smtClean="0"/>
              <a:t>Basics …</a:t>
            </a:r>
            <a:endParaRPr lang="en-US" sz="2800" dirty="0"/>
          </a:p>
        </p:txBody>
      </p:sp>
      <p:sp>
        <p:nvSpPr>
          <p:cNvPr id="7" name="Content Placeholder 2"/>
          <p:cNvSpPr>
            <a:spLocks noGrp="1"/>
          </p:cNvSpPr>
          <p:nvPr>
            <p:ph idx="1"/>
          </p:nvPr>
        </p:nvSpPr>
        <p:spPr>
          <a:xfrm>
            <a:off x="609600" y="685800"/>
            <a:ext cx="8229600" cy="6172200"/>
          </a:xfrm>
        </p:spPr>
        <p:txBody>
          <a:bodyPr>
            <a:noAutofit/>
          </a:bodyPr>
          <a:lstStyle/>
          <a:p>
            <a:r>
              <a:rPr lang="en-GB" sz="1800" b="1" dirty="0"/>
              <a:t>A test procedure </a:t>
            </a:r>
            <a:r>
              <a:rPr lang="en-GB" sz="1800" b="1" dirty="0" smtClean="0"/>
              <a:t>speciﬁcation:</a:t>
            </a:r>
          </a:p>
          <a:p>
            <a:pPr lvl="1"/>
            <a:r>
              <a:rPr lang="en-GB" sz="1800" dirty="0" smtClean="0"/>
              <a:t>A </a:t>
            </a:r>
            <a:r>
              <a:rPr lang="en-GB" sz="1800" dirty="0"/>
              <a:t>sequence of actions for the execution of a test</a:t>
            </a:r>
            <a:r>
              <a:rPr lang="en-GB" sz="1800" dirty="0" smtClean="0"/>
              <a:t>.</a:t>
            </a:r>
          </a:p>
          <a:p>
            <a:pPr lvl="1"/>
            <a:r>
              <a:rPr lang="en-GB" sz="1800" dirty="0"/>
              <a:t>A test procedure therefore identifies all the necessary actions in sequence to execute a test. </a:t>
            </a:r>
            <a:endParaRPr lang="en-GB" sz="1800" dirty="0" smtClean="0"/>
          </a:p>
          <a:p>
            <a:pPr lvl="1"/>
            <a:r>
              <a:rPr lang="en-GB" sz="1800" dirty="0" smtClean="0"/>
              <a:t>Test </a:t>
            </a:r>
            <a:r>
              <a:rPr lang="en-GB" sz="1800" dirty="0"/>
              <a:t>procedure specifications are often called test scripts (or sometimes manual test </a:t>
            </a:r>
            <a:r>
              <a:rPr lang="en-GB" sz="1800" dirty="0" smtClean="0"/>
              <a:t>scripts) </a:t>
            </a:r>
          </a:p>
          <a:p>
            <a:r>
              <a:rPr lang="en-GB" sz="1800" dirty="0" smtClean="0"/>
              <a:t>So</a:t>
            </a:r>
            <a:r>
              <a:rPr lang="en-GB" sz="1800" dirty="0"/>
              <a:t>, going back to our three step process above, we:</a:t>
            </a:r>
          </a:p>
          <a:p>
            <a:pPr lvl="1"/>
            <a:r>
              <a:rPr lang="en-GB" sz="1800" dirty="0" smtClean="0"/>
              <a:t>decide </a:t>
            </a:r>
            <a:r>
              <a:rPr lang="en-GB" sz="1800" dirty="0"/>
              <a:t>on a test condition, which would typically be a small section of the specification for our software under test; </a:t>
            </a:r>
            <a:endParaRPr lang="en-GB" sz="1800" dirty="0" smtClean="0"/>
          </a:p>
          <a:p>
            <a:pPr lvl="1"/>
            <a:r>
              <a:rPr lang="en-GB" sz="1800" dirty="0" smtClean="0"/>
              <a:t>design </a:t>
            </a:r>
            <a:r>
              <a:rPr lang="en-GB" sz="1800" dirty="0"/>
              <a:t>a test case that will verify the test condition; </a:t>
            </a:r>
            <a:endParaRPr lang="en-GB" sz="1800" dirty="0" smtClean="0"/>
          </a:p>
          <a:p>
            <a:pPr lvl="1"/>
            <a:r>
              <a:rPr lang="en-GB" sz="1800" dirty="0" smtClean="0"/>
              <a:t>write </a:t>
            </a:r>
            <a:r>
              <a:rPr lang="en-GB" sz="1800" dirty="0"/>
              <a:t>a test procedure to execute the test, i.e. get it into the right starting state, input the values, and check the outcome</a:t>
            </a:r>
            <a:r>
              <a:rPr lang="en-GB" sz="1800" dirty="0" smtClean="0"/>
              <a:t>.</a:t>
            </a:r>
          </a:p>
          <a:p>
            <a:r>
              <a:rPr lang="en-GB" sz="1800" dirty="0"/>
              <a:t>To test a whole system we write a test execution schedule, which puts all the individual test procedures in the right sequence and sets up the system so that they can be run</a:t>
            </a:r>
            <a:r>
              <a:rPr lang="en-GB" sz="1800" dirty="0" smtClean="0"/>
              <a:t>.</a:t>
            </a:r>
          </a:p>
          <a:p>
            <a:r>
              <a:rPr lang="en-GB" sz="1800" dirty="0"/>
              <a:t>In some situations it may be appropriate to produce very little documentation and in others a very formal and documented process may be appropriate. It all depends on the context of the testing, taking account of factors such as maturity of development and test processes, the amount of time available and the nature of the system under test. </a:t>
            </a:r>
          </a:p>
          <a:p>
            <a:endParaRPr lang="en-GB" sz="2200" dirty="0"/>
          </a:p>
          <a:p>
            <a:pPr lvl="1"/>
            <a:endParaRPr lang="en-GB" sz="1800" dirty="0"/>
          </a:p>
        </p:txBody>
      </p:sp>
      <p:sp>
        <p:nvSpPr>
          <p:cNvPr id="2" name="Slide Number Placeholder 1"/>
          <p:cNvSpPr>
            <a:spLocks noGrp="1"/>
          </p:cNvSpPr>
          <p:nvPr>
            <p:ph type="sldNum" sz="quarter" idx="12"/>
          </p:nvPr>
        </p:nvSpPr>
        <p:spPr/>
        <p:txBody>
          <a:bodyPr/>
          <a:lstStyle/>
          <a:p>
            <a:fld id="{243F0035-4B67-4B88-B2A0-536AE2AEED21}" type="slidenum">
              <a:rPr lang="en-US" smtClean="0"/>
              <a:pPr/>
              <a:t>8</a:t>
            </a:fld>
            <a:endParaRPr lang="en-US"/>
          </a:p>
        </p:txBody>
      </p:sp>
    </p:spTree>
    <p:extLst>
      <p:ext uri="{BB962C8B-B14F-4D97-AF65-F5344CB8AC3E}">
        <p14:creationId xmlns:p14="http://schemas.microsoft.com/office/powerpoint/2010/main" val="2282021349"/>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457200" y="0"/>
            <a:ext cx="8229600" cy="685800"/>
          </a:xfrm>
        </p:spPr>
        <p:txBody>
          <a:bodyPr>
            <a:noAutofit/>
          </a:bodyPr>
          <a:lstStyle/>
          <a:p>
            <a:r>
              <a:rPr lang="en-GB" sz="2800" dirty="0"/>
              <a:t>Terminologies and Test Case Design </a:t>
            </a:r>
            <a:r>
              <a:rPr lang="en-GB" sz="2800" dirty="0" smtClean="0"/>
              <a:t>Basics - Example</a:t>
            </a:r>
            <a:endParaRPr lang="en-GB" sz="2800" dirty="0"/>
          </a:p>
        </p:txBody>
      </p:sp>
      <p:sp>
        <p:nvSpPr>
          <p:cNvPr id="7" name="Content Placeholder 2"/>
          <p:cNvSpPr>
            <a:spLocks noGrp="1"/>
          </p:cNvSpPr>
          <p:nvPr>
            <p:ph idx="1"/>
          </p:nvPr>
        </p:nvSpPr>
        <p:spPr>
          <a:xfrm>
            <a:off x="609600" y="685800"/>
            <a:ext cx="8229600" cy="6172200"/>
          </a:xfrm>
        </p:spPr>
        <p:txBody>
          <a:bodyPr>
            <a:noAutofit/>
          </a:bodyPr>
          <a:lstStyle/>
          <a:p>
            <a:r>
              <a:rPr lang="en-GB" sz="1800" dirty="0"/>
              <a:t>Suppose we have a system that contains the following specification for an input screen:</a:t>
            </a:r>
          </a:p>
          <a:p>
            <a:pPr lvl="1"/>
            <a:r>
              <a:rPr lang="en-GB" sz="1800" b="1" dirty="0"/>
              <a:t> The input screen shall have three ﬁelds: a title ﬁeld with a drop-down selector; a surname ﬁeld that can accept up to 20 alphabetic characters and the hyphen (-) character; a ﬁrst name ﬁeld which can accept up to 20 alphabetic characters. All alphabetic characters shall be case insensitive. All ﬁelds must be completed. The data is validated when the Enter key is pressed. If the data is valid the system moves on to the job input screen; if not, an error message is displayed</a:t>
            </a:r>
            <a:r>
              <a:rPr lang="en-GB" sz="1800" b="1" dirty="0" smtClean="0"/>
              <a:t>.</a:t>
            </a:r>
          </a:p>
          <a:p>
            <a:pPr lvl="1"/>
            <a:r>
              <a:rPr lang="en-GB" sz="1800" dirty="0"/>
              <a:t>This specification enables us to define test conditions; for example, we could define a </a:t>
            </a:r>
            <a:r>
              <a:rPr lang="en-GB" sz="1800" b="1" dirty="0"/>
              <a:t>test condition for the surname field (i.e. it can accept up to 20 alphabetic characters and the hyphen (-) character) </a:t>
            </a:r>
            <a:r>
              <a:rPr lang="en-GB" sz="1800" dirty="0"/>
              <a:t>and define a set of test cases to test that field</a:t>
            </a:r>
            <a:r>
              <a:rPr lang="en-GB" sz="1800" dirty="0" smtClean="0"/>
              <a:t>.</a:t>
            </a:r>
          </a:p>
          <a:p>
            <a:pPr lvl="1"/>
            <a:endParaRPr lang="en-GB" sz="1800" b="1" dirty="0"/>
          </a:p>
          <a:p>
            <a:pPr lvl="1"/>
            <a:endParaRPr lang="en-GB" sz="1800" dirty="0"/>
          </a:p>
        </p:txBody>
      </p:sp>
      <p:sp>
        <p:nvSpPr>
          <p:cNvPr id="2" name="Slide Number Placeholder 1"/>
          <p:cNvSpPr>
            <a:spLocks noGrp="1"/>
          </p:cNvSpPr>
          <p:nvPr>
            <p:ph type="sldNum" sz="quarter" idx="12"/>
          </p:nvPr>
        </p:nvSpPr>
        <p:spPr/>
        <p:txBody>
          <a:bodyPr/>
          <a:lstStyle/>
          <a:p>
            <a:fld id="{243F0035-4B67-4B88-B2A0-536AE2AEED21}" type="slidenum">
              <a:rPr lang="en-US" smtClean="0"/>
              <a:pPr/>
              <a:t>9</a:t>
            </a:fld>
            <a:endParaRPr lang="en-US"/>
          </a:p>
        </p:txBody>
      </p:sp>
    </p:spTree>
    <p:extLst>
      <p:ext uri="{BB962C8B-B14F-4D97-AF65-F5344CB8AC3E}">
        <p14:creationId xmlns:p14="http://schemas.microsoft.com/office/powerpoint/2010/main" val="581348743"/>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457200" y="0"/>
            <a:ext cx="8229600" cy="685800"/>
          </a:xfrm>
        </p:spPr>
        <p:txBody>
          <a:bodyPr>
            <a:noAutofit/>
          </a:bodyPr>
          <a:lstStyle/>
          <a:p>
            <a:r>
              <a:rPr lang="en-GB" sz="2800" dirty="0"/>
              <a:t>Terminologies and Test Case Design </a:t>
            </a:r>
            <a:r>
              <a:rPr lang="en-GB" sz="2800" dirty="0" smtClean="0"/>
              <a:t>Basics - Example</a:t>
            </a:r>
            <a:endParaRPr lang="en-GB" sz="2800" dirty="0"/>
          </a:p>
        </p:txBody>
      </p:sp>
      <p:sp>
        <p:nvSpPr>
          <p:cNvPr id="7" name="Content Placeholder 2"/>
          <p:cNvSpPr>
            <a:spLocks noGrp="1"/>
          </p:cNvSpPr>
          <p:nvPr>
            <p:ph idx="1"/>
          </p:nvPr>
        </p:nvSpPr>
        <p:spPr>
          <a:xfrm>
            <a:off x="609600" y="685800"/>
            <a:ext cx="8229600" cy="6172200"/>
          </a:xfrm>
        </p:spPr>
        <p:txBody>
          <a:bodyPr>
            <a:noAutofit/>
          </a:bodyPr>
          <a:lstStyle/>
          <a:p>
            <a:pPr lvl="1"/>
            <a:r>
              <a:rPr lang="en-GB" sz="1800" dirty="0" smtClean="0"/>
              <a:t>To </a:t>
            </a:r>
            <a:r>
              <a:rPr lang="en-GB" sz="1800" dirty="0"/>
              <a:t>test the surname field we would have to </a:t>
            </a:r>
            <a:endParaRPr lang="en-GB" sz="1800" dirty="0" smtClean="0"/>
          </a:p>
          <a:p>
            <a:pPr lvl="2"/>
            <a:r>
              <a:rPr lang="en-GB" sz="1800" b="1" dirty="0" smtClean="0"/>
              <a:t>navigate </a:t>
            </a:r>
            <a:r>
              <a:rPr lang="en-GB" sz="1800" b="1" dirty="0"/>
              <a:t>the system to the appropriate input screen</a:t>
            </a:r>
            <a:r>
              <a:rPr lang="en-GB" sz="1800" b="1" dirty="0" smtClean="0"/>
              <a:t>,</a:t>
            </a:r>
          </a:p>
          <a:p>
            <a:pPr lvl="2"/>
            <a:r>
              <a:rPr lang="en-GB" sz="1800" b="1" dirty="0" smtClean="0"/>
              <a:t> </a:t>
            </a:r>
            <a:r>
              <a:rPr lang="en-GB" sz="1800" b="1" dirty="0"/>
              <a:t>select a title, </a:t>
            </a:r>
            <a:endParaRPr lang="en-GB" sz="1800" b="1" dirty="0" smtClean="0"/>
          </a:p>
          <a:p>
            <a:pPr lvl="2"/>
            <a:r>
              <a:rPr lang="en-GB" sz="1800" b="1" dirty="0" smtClean="0"/>
              <a:t>tab </a:t>
            </a:r>
            <a:r>
              <a:rPr lang="en-GB" sz="1800" b="1" dirty="0"/>
              <a:t>to the surname field (all this would be setting the test precondition), </a:t>
            </a:r>
            <a:endParaRPr lang="en-GB" sz="1800" b="1" dirty="0" smtClean="0"/>
          </a:p>
          <a:p>
            <a:pPr lvl="2"/>
            <a:r>
              <a:rPr lang="en-GB" sz="1800" b="1" dirty="0" smtClean="0"/>
              <a:t>enter </a:t>
            </a:r>
            <a:r>
              <a:rPr lang="en-GB" sz="1800" b="1" dirty="0"/>
              <a:t>a value (the first part of the set of input values), </a:t>
            </a:r>
            <a:endParaRPr lang="en-GB" sz="1800" b="1" dirty="0" smtClean="0"/>
          </a:p>
          <a:p>
            <a:pPr lvl="2"/>
            <a:r>
              <a:rPr lang="en-GB" sz="1800" b="1" dirty="0" smtClean="0"/>
              <a:t>tab </a:t>
            </a:r>
            <a:r>
              <a:rPr lang="en-GB" sz="1800" b="1" dirty="0"/>
              <a:t>to the first name </a:t>
            </a:r>
            <a:r>
              <a:rPr lang="en-GB" sz="1800" b="1" dirty="0" smtClean="0"/>
              <a:t>field</a:t>
            </a:r>
          </a:p>
          <a:p>
            <a:pPr lvl="2"/>
            <a:r>
              <a:rPr lang="en-GB" sz="1800" b="1" dirty="0" smtClean="0"/>
              <a:t> </a:t>
            </a:r>
            <a:r>
              <a:rPr lang="en-GB" sz="1800" b="1" dirty="0"/>
              <a:t>and enter a value (the second part of the set of input values that we need because all fields must be completed), </a:t>
            </a:r>
            <a:endParaRPr lang="en-GB" sz="1800" b="1" dirty="0" smtClean="0"/>
          </a:p>
          <a:p>
            <a:pPr lvl="2"/>
            <a:r>
              <a:rPr lang="en-GB" sz="1800" b="1" dirty="0" smtClean="0"/>
              <a:t>then </a:t>
            </a:r>
            <a:r>
              <a:rPr lang="en-GB" sz="1800" b="1" dirty="0"/>
              <a:t>press the Enter key. </a:t>
            </a:r>
            <a:endParaRPr lang="en-GB" sz="1800" b="1" dirty="0" smtClean="0"/>
          </a:p>
          <a:p>
            <a:pPr lvl="2"/>
            <a:r>
              <a:rPr lang="en-GB" sz="1800" b="1" dirty="0" smtClean="0"/>
              <a:t>The </a:t>
            </a:r>
            <a:r>
              <a:rPr lang="en-GB" sz="1800" b="1" dirty="0"/>
              <a:t>system should either move on to the job input screen (if the data we input was valid) </a:t>
            </a:r>
            <a:endParaRPr lang="en-GB" sz="1800" b="1" dirty="0" smtClean="0"/>
          </a:p>
          <a:p>
            <a:pPr lvl="2"/>
            <a:r>
              <a:rPr lang="en-GB" sz="1800" b="1" dirty="0" smtClean="0"/>
              <a:t>or </a:t>
            </a:r>
            <a:r>
              <a:rPr lang="en-GB" sz="1800" b="1" dirty="0"/>
              <a:t>display an error message (if the input data was not valid). </a:t>
            </a:r>
            <a:endParaRPr lang="en-GB" sz="1400" b="1" dirty="0" smtClean="0"/>
          </a:p>
          <a:p>
            <a:pPr lvl="1"/>
            <a:r>
              <a:rPr lang="en-GB" sz="1800" dirty="0" smtClean="0"/>
              <a:t>Of </a:t>
            </a:r>
            <a:r>
              <a:rPr lang="en-GB" sz="1800" dirty="0"/>
              <a:t>course, we would need to test both of these cases.</a:t>
            </a:r>
          </a:p>
          <a:p>
            <a:pPr lvl="1"/>
            <a:endParaRPr lang="en-GB" sz="1800" b="1" dirty="0"/>
          </a:p>
          <a:p>
            <a:pPr lvl="1"/>
            <a:endParaRPr lang="en-GB" sz="1800" dirty="0"/>
          </a:p>
        </p:txBody>
      </p:sp>
      <p:sp>
        <p:nvSpPr>
          <p:cNvPr id="2" name="Slide Number Placeholder 1"/>
          <p:cNvSpPr>
            <a:spLocks noGrp="1"/>
          </p:cNvSpPr>
          <p:nvPr>
            <p:ph type="sldNum" sz="quarter" idx="12"/>
          </p:nvPr>
        </p:nvSpPr>
        <p:spPr/>
        <p:txBody>
          <a:bodyPr/>
          <a:lstStyle/>
          <a:p>
            <a:fld id="{243F0035-4B67-4B88-B2A0-536AE2AEED21}" type="slidenum">
              <a:rPr lang="en-US" smtClean="0"/>
              <a:pPr/>
              <a:t>10</a:t>
            </a:fld>
            <a:endParaRPr lang="en-US"/>
          </a:p>
        </p:txBody>
      </p:sp>
    </p:spTree>
    <p:extLst>
      <p:ext uri="{BB962C8B-B14F-4D97-AF65-F5344CB8AC3E}">
        <p14:creationId xmlns:p14="http://schemas.microsoft.com/office/powerpoint/2010/main" val="2194394259"/>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457200" y="0"/>
            <a:ext cx="8229600" cy="549275"/>
          </a:xfrm>
        </p:spPr>
        <p:txBody>
          <a:bodyPr>
            <a:noAutofit/>
          </a:bodyPr>
          <a:lstStyle/>
          <a:p>
            <a:r>
              <a:rPr lang="en-GB" sz="2800" dirty="0" smtClean="0"/>
              <a:t>Test Case Design Example</a:t>
            </a:r>
            <a:endParaRPr lang="en-GB" sz="2800" dirty="0"/>
          </a:p>
        </p:txBody>
      </p:sp>
      <p:sp>
        <p:nvSpPr>
          <p:cNvPr id="7" name="Content Placeholder 2"/>
          <p:cNvSpPr>
            <a:spLocks noGrp="1"/>
          </p:cNvSpPr>
          <p:nvPr>
            <p:ph idx="1"/>
          </p:nvPr>
        </p:nvSpPr>
        <p:spPr>
          <a:xfrm>
            <a:off x="609600" y="685800"/>
            <a:ext cx="8229600" cy="6172200"/>
          </a:xfrm>
        </p:spPr>
        <p:txBody>
          <a:bodyPr>
            <a:noAutofit/>
          </a:bodyPr>
          <a:lstStyle/>
          <a:p>
            <a:r>
              <a:rPr lang="en-GB" sz="1800" dirty="0" smtClean="0"/>
              <a:t>As </a:t>
            </a:r>
            <a:r>
              <a:rPr lang="en-GB" sz="1800" dirty="0"/>
              <a:t>an example, we could key in the following test cases:</a:t>
            </a:r>
          </a:p>
          <a:p>
            <a:endParaRPr lang="en-GB" sz="1800" dirty="0" smtClean="0"/>
          </a:p>
          <a:p>
            <a:endParaRPr lang="en-GB" sz="1800" dirty="0" smtClean="0"/>
          </a:p>
          <a:p>
            <a:endParaRPr lang="en-GB" sz="1800" dirty="0"/>
          </a:p>
          <a:p>
            <a:endParaRPr lang="en-GB" sz="1800" dirty="0" smtClean="0"/>
          </a:p>
          <a:p>
            <a:r>
              <a:rPr lang="en-GB" sz="1800" dirty="0" smtClean="0"/>
              <a:t>All </a:t>
            </a:r>
            <a:r>
              <a:rPr lang="en-GB" sz="1800" dirty="0"/>
              <a:t>these would be valid test cases; even though Compo </a:t>
            </a:r>
            <a:r>
              <a:rPr lang="en-GB" sz="1800" dirty="0" err="1"/>
              <a:t>Simmonite</a:t>
            </a:r>
            <a:r>
              <a:rPr lang="en-GB" sz="1800" dirty="0"/>
              <a:t> was an imaginary male character in a TV series, the input is correct according to the specification.</a:t>
            </a:r>
          </a:p>
          <a:p>
            <a:r>
              <a:rPr lang="en-GB" sz="1800" dirty="0"/>
              <a:t>We should also test some invalid inputs, such as:</a:t>
            </a:r>
          </a:p>
          <a:p>
            <a:endParaRPr lang="en-GB" sz="1800" dirty="0" smtClean="0"/>
          </a:p>
          <a:p>
            <a:endParaRPr lang="en-GB" sz="1800" dirty="0"/>
          </a:p>
          <a:p>
            <a:endParaRPr lang="en-GB" sz="1800" dirty="0" smtClean="0"/>
          </a:p>
        </p:txBody>
      </p:sp>
      <p:sp>
        <p:nvSpPr>
          <p:cNvPr id="2" name="Slide Number Placeholder 1"/>
          <p:cNvSpPr>
            <a:spLocks noGrp="1"/>
          </p:cNvSpPr>
          <p:nvPr>
            <p:ph type="sldNum" sz="quarter" idx="12"/>
          </p:nvPr>
        </p:nvSpPr>
        <p:spPr/>
        <p:txBody>
          <a:bodyPr/>
          <a:lstStyle/>
          <a:p>
            <a:fld id="{243F0035-4B67-4B88-B2A0-536AE2AEED21}" type="slidenum">
              <a:rPr lang="en-US" smtClean="0"/>
              <a:pPr/>
              <a:t>11</a:t>
            </a:fld>
            <a:endParaRPr lang="en-US"/>
          </a:p>
        </p:txBody>
      </p:sp>
      <p:pic>
        <p:nvPicPr>
          <p:cNvPr id="3" name="Picture 2"/>
          <p:cNvPicPr>
            <a:picLocks noChangeAspect="1"/>
          </p:cNvPicPr>
          <p:nvPr/>
        </p:nvPicPr>
        <p:blipFill>
          <a:blip r:embed="rId3" cstate="print"/>
          <a:stretch>
            <a:fillRect/>
          </a:stretch>
        </p:blipFill>
        <p:spPr>
          <a:xfrm>
            <a:off x="2286000" y="1038224"/>
            <a:ext cx="3591390" cy="1095376"/>
          </a:xfrm>
          <a:prstGeom prst="rect">
            <a:avLst/>
          </a:prstGeom>
        </p:spPr>
      </p:pic>
      <p:pic>
        <p:nvPicPr>
          <p:cNvPr id="4" name="Picture 3"/>
          <p:cNvPicPr>
            <a:picLocks noChangeAspect="1"/>
          </p:cNvPicPr>
          <p:nvPr/>
        </p:nvPicPr>
        <p:blipFill>
          <a:blip r:embed="rId4" cstate="print"/>
          <a:stretch>
            <a:fillRect/>
          </a:stretch>
        </p:blipFill>
        <p:spPr>
          <a:xfrm>
            <a:off x="2286000" y="3730624"/>
            <a:ext cx="3416496" cy="917576"/>
          </a:xfrm>
          <a:prstGeom prst="rect">
            <a:avLst/>
          </a:prstGeom>
        </p:spPr>
      </p:pic>
    </p:spTree>
    <p:extLst>
      <p:ext uri="{BB962C8B-B14F-4D97-AF65-F5344CB8AC3E}">
        <p14:creationId xmlns:p14="http://schemas.microsoft.com/office/powerpoint/2010/main" val="3143898524"/>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457200" y="0"/>
            <a:ext cx="8229600" cy="549275"/>
          </a:xfrm>
        </p:spPr>
        <p:txBody>
          <a:bodyPr>
            <a:noAutofit/>
          </a:bodyPr>
          <a:lstStyle/>
          <a:p>
            <a:r>
              <a:rPr lang="en-GB" sz="2800" dirty="0" smtClean="0"/>
              <a:t>Test Case Design Example</a:t>
            </a:r>
            <a:endParaRPr lang="en-GB" sz="2800" dirty="0"/>
          </a:p>
        </p:txBody>
      </p:sp>
      <p:sp>
        <p:nvSpPr>
          <p:cNvPr id="7" name="Content Placeholder 2"/>
          <p:cNvSpPr>
            <a:spLocks noGrp="1"/>
          </p:cNvSpPr>
          <p:nvPr>
            <p:ph idx="1"/>
          </p:nvPr>
        </p:nvSpPr>
        <p:spPr>
          <a:xfrm>
            <a:off x="609600" y="549275"/>
            <a:ext cx="8229600" cy="6308725"/>
          </a:xfrm>
        </p:spPr>
        <p:txBody>
          <a:bodyPr>
            <a:noAutofit/>
          </a:bodyPr>
          <a:lstStyle/>
          <a:p>
            <a:r>
              <a:rPr lang="en-GB" sz="1800" dirty="0" smtClean="0"/>
              <a:t>The </a:t>
            </a:r>
            <a:r>
              <a:rPr lang="en-GB" sz="1800" b="1" dirty="0"/>
              <a:t>test procedure </a:t>
            </a:r>
            <a:r>
              <a:rPr lang="en-GB" sz="1800" dirty="0"/>
              <a:t>would need to add some details along the following lines</a:t>
            </a:r>
            <a:r>
              <a:rPr lang="en-GB" sz="1800" dirty="0" smtClean="0"/>
              <a:t>:</a:t>
            </a:r>
          </a:p>
          <a:p>
            <a:endParaRPr lang="en-GB" sz="1800" dirty="0" smtClean="0"/>
          </a:p>
          <a:p>
            <a:endParaRPr lang="en-GB" sz="1800" dirty="0" smtClean="0"/>
          </a:p>
          <a:p>
            <a:endParaRPr lang="en-GB" sz="1800" dirty="0" smtClean="0"/>
          </a:p>
          <a:p>
            <a:endParaRPr lang="en-GB" sz="1800" dirty="0" smtClean="0"/>
          </a:p>
          <a:p>
            <a:endParaRPr lang="en-GB" sz="1800" dirty="0" smtClean="0"/>
          </a:p>
          <a:p>
            <a:endParaRPr lang="en-GB" sz="1800" dirty="0" smtClean="0"/>
          </a:p>
          <a:p>
            <a:endParaRPr lang="en-GB" sz="1800" dirty="0" smtClean="0"/>
          </a:p>
          <a:p>
            <a:endParaRPr lang="en-GB" sz="1800" dirty="0"/>
          </a:p>
        </p:txBody>
      </p:sp>
      <p:sp>
        <p:nvSpPr>
          <p:cNvPr id="2" name="Slide Number Placeholder 1"/>
          <p:cNvSpPr>
            <a:spLocks noGrp="1"/>
          </p:cNvSpPr>
          <p:nvPr>
            <p:ph type="sldNum" sz="quarter" idx="12"/>
          </p:nvPr>
        </p:nvSpPr>
        <p:spPr/>
        <p:txBody>
          <a:bodyPr/>
          <a:lstStyle/>
          <a:p>
            <a:fld id="{243F0035-4B67-4B88-B2A0-536AE2AEED21}" type="slidenum">
              <a:rPr lang="en-US" smtClean="0"/>
              <a:pPr/>
              <a:t>12</a:t>
            </a:fld>
            <a:endParaRPr lang="en-US"/>
          </a:p>
        </p:txBody>
      </p:sp>
      <p:pic>
        <p:nvPicPr>
          <p:cNvPr id="5" name="Picture 4"/>
          <p:cNvPicPr>
            <a:picLocks noChangeAspect="1"/>
          </p:cNvPicPr>
          <p:nvPr/>
        </p:nvPicPr>
        <p:blipFill>
          <a:blip r:embed="rId3" cstate="print"/>
          <a:stretch>
            <a:fillRect/>
          </a:stretch>
        </p:blipFill>
        <p:spPr>
          <a:xfrm>
            <a:off x="1973803" y="1128712"/>
            <a:ext cx="5501194" cy="2324100"/>
          </a:xfrm>
          <a:prstGeom prst="rect">
            <a:avLst/>
          </a:prstGeom>
        </p:spPr>
      </p:pic>
    </p:spTree>
    <p:extLst>
      <p:ext uri="{BB962C8B-B14F-4D97-AF65-F5344CB8AC3E}">
        <p14:creationId xmlns:p14="http://schemas.microsoft.com/office/powerpoint/2010/main" val="2064449531"/>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518</TotalTime>
  <Words>1643</Words>
  <Application>Microsoft Office PowerPoint</Application>
  <PresentationFormat>On-screen Show (4:3)</PresentationFormat>
  <Paragraphs>130</Paragraphs>
  <Slides>12</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PowerPoint Presentation</vt:lpstr>
      <vt:lpstr>Fundamental Test Process</vt:lpstr>
      <vt:lpstr>Fundamental Test Process</vt:lpstr>
      <vt:lpstr>Fundamental Test Process</vt:lpstr>
      <vt:lpstr>Fundamental Test Process</vt:lpstr>
      <vt:lpstr>Fundamental Test Process</vt:lpstr>
      <vt:lpstr>Terminologies and Test Case Design Basics</vt:lpstr>
      <vt:lpstr>Terminologies and Test Case Design Basics …</vt:lpstr>
      <vt:lpstr>Terminologies and Test Case Design Basics - Example</vt:lpstr>
      <vt:lpstr>Terminologies and Test Case Design Basics - Example</vt:lpstr>
      <vt:lpstr>Test Case Design Example</vt:lpstr>
      <vt:lpstr>Test Case Design Example</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Risk Analysis</dc:title>
  <dc:creator>gulraiz</dc:creator>
  <cp:lastModifiedBy>Windows User</cp:lastModifiedBy>
  <cp:revision>160</cp:revision>
  <dcterms:created xsi:type="dcterms:W3CDTF">2014-08-12T16:29:38Z</dcterms:created>
  <dcterms:modified xsi:type="dcterms:W3CDTF">2023-10-18T08:44:49Z</dcterms:modified>
</cp:coreProperties>
</file>