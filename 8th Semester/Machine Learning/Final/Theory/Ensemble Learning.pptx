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980" y="559688"/>
            <a:ext cx="2238959" cy="8529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3536" y="1485391"/>
            <a:ext cx="9751695" cy="4244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94211" y="6464680"/>
            <a:ext cx="2190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60" y="957961"/>
            <a:ext cx="10869295" cy="33147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408301" y="4543170"/>
            <a:ext cx="791718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Arial MT"/>
              <a:buChar char="•"/>
              <a:tabLst>
                <a:tab pos="297815" algn="l"/>
              </a:tabLst>
            </a:pPr>
            <a:r>
              <a:rPr dirty="0" sz="2400" b="1">
                <a:solidFill>
                  <a:srgbClr val="FF0000"/>
                </a:solidFill>
                <a:latin typeface="Calibri"/>
                <a:cs typeface="Calibri"/>
              </a:rPr>
              <a:t>Ensemble</a:t>
            </a:r>
            <a:r>
              <a:rPr dirty="0" sz="2400" spc="-5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0000"/>
                </a:solidFill>
                <a:latin typeface="Calibri"/>
                <a:cs typeface="Calibri"/>
              </a:rPr>
              <a:t>means</a:t>
            </a:r>
            <a:r>
              <a:rPr dirty="0" sz="2400" spc="-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0000"/>
                </a:solidFill>
                <a:latin typeface="Calibri"/>
                <a:cs typeface="Calibri"/>
              </a:rPr>
              <a:t>group</a:t>
            </a:r>
            <a:r>
              <a:rPr dirty="0" sz="2400" spc="-6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dirty="0" sz="2400" spc="-6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Calibri"/>
                <a:cs typeface="Calibri"/>
              </a:rPr>
              <a:t>collection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collection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machine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learning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models.</a:t>
            </a:r>
            <a:endParaRPr sz="2400">
              <a:latin typeface="Calibri"/>
              <a:cs typeface="Calibri"/>
            </a:endParaRPr>
          </a:p>
          <a:p>
            <a:pPr lvl="1" marL="1212850" indent="-285750">
              <a:lnSpc>
                <a:spcPct val="100000"/>
              </a:lnSpc>
              <a:buFont typeface="Wingdings"/>
              <a:buChar char=""/>
              <a:tabLst>
                <a:tab pos="1212850" algn="l"/>
              </a:tabLst>
            </a:pPr>
            <a:r>
              <a:rPr dirty="0" sz="2400">
                <a:latin typeface="Calibri"/>
                <a:cs typeface="Calibri"/>
              </a:rPr>
              <a:t>New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model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generated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collection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1412" y="1114475"/>
            <a:ext cx="9581261" cy="52345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453" y="371475"/>
            <a:ext cx="10737974" cy="54197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2757" y="514095"/>
            <a:ext cx="7904226" cy="41885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54707" y="215900"/>
            <a:ext cx="10076180" cy="5149850"/>
            <a:chOff x="1854707" y="215900"/>
            <a:chExt cx="10076180" cy="5149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4707" y="215900"/>
              <a:ext cx="10075672" cy="51497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81876" y="3352800"/>
              <a:ext cx="0" cy="209550"/>
            </a:xfrm>
            <a:custGeom>
              <a:avLst/>
              <a:gdLst/>
              <a:ahLst/>
              <a:cxnLst/>
              <a:rect l="l" t="t" r="r" b="b"/>
              <a:pathLst>
                <a:path w="0" h="209550">
                  <a:moveTo>
                    <a:pt x="0" y="0"/>
                  </a:moveTo>
                  <a:lnTo>
                    <a:pt x="0" y="0"/>
                  </a:lnTo>
                  <a:lnTo>
                    <a:pt x="0" y="203453"/>
                  </a:lnTo>
                  <a:lnTo>
                    <a:pt x="0" y="209550"/>
                  </a:lnTo>
                </a:path>
              </a:pathLst>
            </a:custGeom>
            <a:ln w="1905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75701" y="3108578"/>
              <a:ext cx="177801" cy="1838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550653" y="2952876"/>
              <a:ext cx="12700" cy="203835"/>
            </a:xfrm>
            <a:custGeom>
              <a:avLst/>
              <a:gdLst/>
              <a:ahLst/>
              <a:cxnLst/>
              <a:rect l="l" t="t" r="r" b="b"/>
              <a:pathLst>
                <a:path w="12700" h="203835">
                  <a:moveTo>
                    <a:pt x="0" y="0"/>
                  </a:moveTo>
                  <a:lnTo>
                    <a:pt x="0" y="0"/>
                  </a:lnTo>
                  <a:lnTo>
                    <a:pt x="0" y="95376"/>
                  </a:lnTo>
                  <a:lnTo>
                    <a:pt x="6476" y="101473"/>
                  </a:lnTo>
                  <a:lnTo>
                    <a:pt x="6476" y="203453"/>
                  </a:lnTo>
                  <a:lnTo>
                    <a:pt x="12573" y="203453"/>
                  </a:lnTo>
                </a:path>
              </a:pathLst>
            </a:custGeom>
            <a:ln w="1905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99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30"/>
              <a:t>Voting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456" rIns="0" bIns="0" rtlCol="0" vert="horz">
            <a:spAutoFit/>
          </a:bodyPr>
          <a:lstStyle/>
          <a:p>
            <a:pPr marL="600075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Bagging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 algn="just" marL="12700" marR="6350">
              <a:lnSpc>
                <a:spcPct val="90000"/>
              </a:lnSpc>
              <a:spcBef>
                <a:spcPts val="415"/>
              </a:spcBef>
            </a:pPr>
            <a:r>
              <a:rPr dirty="0"/>
              <a:t>Bagging</a:t>
            </a:r>
            <a:r>
              <a:rPr dirty="0" spc="235"/>
              <a:t> </a:t>
            </a:r>
            <a:r>
              <a:rPr dirty="0"/>
              <a:t>is</a:t>
            </a:r>
            <a:r>
              <a:rPr dirty="0" spc="235"/>
              <a:t> </a:t>
            </a:r>
            <a:r>
              <a:rPr dirty="0"/>
              <a:t>a</a:t>
            </a:r>
            <a:r>
              <a:rPr dirty="0" spc="240"/>
              <a:t> </a:t>
            </a:r>
            <a:r>
              <a:rPr dirty="0"/>
              <a:t>method</a:t>
            </a:r>
            <a:r>
              <a:rPr dirty="0" spc="225"/>
              <a:t> </a:t>
            </a:r>
            <a:r>
              <a:rPr dirty="0"/>
              <a:t>of</a:t>
            </a:r>
            <a:r>
              <a:rPr dirty="0" spc="240"/>
              <a:t> </a:t>
            </a:r>
            <a:r>
              <a:rPr dirty="0"/>
              <a:t>ensemble</a:t>
            </a:r>
            <a:r>
              <a:rPr dirty="0" spc="245"/>
              <a:t> </a:t>
            </a:r>
            <a:r>
              <a:rPr dirty="0"/>
              <a:t>modeling,</a:t>
            </a:r>
            <a:r>
              <a:rPr dirty="0" spc="235"/>
              <a:t> </a:t>
            </a:r>
            <a:r>
              <a:rPr dirty="0"/>
              <a:t>which</a:t>
            </a:r>
            <a:r>
              <a:rPr dirty="0" spc="250"/>
              <a:t> </a:t>
            </a:r>
            <a:r>
              <a:rPr dirty="0"/>
              <a:t>is</a:t>
            </a:r>
            <a:r>
              <a:rPr dirty="0" spc="229"/>
              <a:t> </a:t>
            </a:r>
            <a:r>
              <a:rPr dirty="0"/>
              <a:t>primarily</a:t>
            </a:r>
            <a:r>
              <a:rPr dirty="0" spc="245"/>
              <a:t> </a:t>
            </a:r>
            <a:r>
              <a:rPr dirty="0"/>
              <a:t>used</a:t>
            </a:r>
            <a:r>
              <a:rPr dirty="0" spc="240"/>
              <a:t> </a:t>
            </a:r>
            <a:r>
              <a:rPr dirty="0" spc="-25"/>
              <a:t>to </a:t>
            </a:r>
            <a:r>
              <a:rPr dirty="0"/>
              <a:t>solve</a:t>
            </a:r>
            <a:r>
              <a:rPr dirty="0" spc="-55"/>
              <a:t> </a:t>
            </a:r>
            <a:r>
              <a:rPr dirty="0"/>
              <a:t>supervised</a:t>
            </a:r>
            <a:r>
              <a:rPr dirty="0" spc="-35"/>
              <a:t> </a:t>
            </a:r>
            <a:r>
              <a:rPr dirty="0"/>
              <a:t>machine</a:t>
            </a:r>
            <a:r>
              <a:rPr dirty="0" spc="-35"/>
              <a:t> </a:t>
            </a:r>
            <a:r>
              <a:rPr dirty="0"/>
              <a:t>learning</a:t>
            </a:r>
            <a:r>
              <a:rPr dirty="0" spc="-40"/>
              <a:t> </a:t>
            </a:r>
            <a:r>
              <a:rPr dirty="0"/>
              <a:t>problems.</a:t>
            </a:r>
            <a:r>
              <a:rPr dirty="0" spc="-30"/>
              <a:t> </a:t>
            </a:r>
            <a:r>
              <a:rPr dirty="0"/>
              <a:t>It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generally</a:t>
            </a:r>
            <a:r>
              <a:rPr dirty="0" spc="-50"/>
              <a:t> </a:t>
            </a:r>
            <a:r>
              <a:rPr dirty="0"/>
              <a:t>completed</a:t>
            </a:r>
            <a:r>
              <a:rPr dirty="0" spc="-40"/>
              <a:t> </a:t>
            </a:r>
            <a:r>
              <a:rPr dirty="0" spc="-25"/>
              <a:t>in </a:t>
            </a:r>
            <a:r>
              <a:rPr dirty="0"/>
              <a:t>two</a:t>
            </a:r>
            <a:r>
              <a:rPr dirty="0" spc="-45"/>
              <a:t> </a:t>
            </a:r>
            <a:r>
              <a:rPr dirty="0"/>
              <a:t>steps</a:t>
            </a:r>
            <a:r>
              <a:rPr dirty="0" spc="-95"/>
              <a:t> </a:t>
            </a:r>
            <a:r>
              <a:rPr dirty="0"/>
              <a:t>as</a:t>
            </a:r>
            <a:r>
              <a:rPr dirty="0" spc="-45"/>
              <a:t> </a:t>
            </a:r>
            <a:r>
              <a:rPr dirty="0" spc="-10"/>
              <a:t>follows:</a:t>
            </a:r>
          </a:p>
          <a:p>
            <a:pPr algn="just" marL="241300" marR="5080" indent="-228600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b="1">
                <a:latin typeface="Calibri"/>
                <a:cs typeface="Calibri"/>
              </a:rPr>
              <a:t>Bootstrapping:</a:t>
            </a:r>
            <a:r>
              <a:rPr dirty="0" spc="135" b="1">
                <a:latin typeface="Calibri"/>
                <a:cs typeface="Calibri"/>
              </a:rPr>
              <a:t> </a:t>
            </a:r>
            <a:r>
              <a:rPr dirty="0"/>
              <a:t>It</a:t>
            </a:r>
            <a:r>
              <a:rPr dirty="0" spc="135"/>
              <a:t> </a:t>
            </a:r>
            <a:r>
              <a:rPr dirty="0"/>
              <a:t>is</a:t>
            </a:r>
            <a:r>
              <a:rPr dirty="0" spc="140"/>
              <a:t> </a:t>
            </a:r>
            <a:r>
              <a:rPr dirty="0"/>
              <a:t>a</a:t>
            </a:r>
            <a:r>
              <a:rPr dirty="0" spc="120"/>
              <a:t> </a:t>
            </a:r>
            <a:r>
              <a:rPr dirty="0"/>
              <a:t>random</a:t>
            </a:r>
            <a:r>
              <a:rPr dirty="0" spc="125"/>
              <a:t> </a:t>
            </a:r>
            <a:r>
              <a:rPr dirty="0"/>
              <a:t>sampling</a:t>
            </a:r>
            <a:r>
              <a:rPr dirty="0" spc="120"/>
              <a:t> </a:t>
            </a:r>
            <a:r>
              <a:rPr dirty="0"/>
              <a:t>method</a:t>
            </a:r>
            <a:r>
              <a:rPr dirty="0" spc="130"/>
              <a:t> </a:t>
            </a:r>
            <a:r>
              <a:rPr dirty="0"/>
              <a:t>that</a:t>
            </a:r>
            <a:r>
              <a:rPr dirty="0" spc="140"/>
              <a:t> </a:t>
            </a:r>
            <a:r>
              <a:rPr dirty="0"/>
              <a:t>is</a:t>
            </a:r>
            <a:r>
              <a:rPr dirty="0" spc="125"/>
              <a:t> </a:t>
            </a:r>
            <a:r>
              <a:rPr dirty="0"/>
              <a:t>used</a:t>
            </a:r>
            <a:r>
              <a:rPr dirty="0" spc="140"/>
              <a:t> </a:t>
            </a:r>
            <a:r>
              <a:rPr dirty="0"/>
              <a:t>to</a:t>
            </a:r>
            <a:r>
              <a:rPr dirty="0" spc="130"/>
              <a:t> </a:t>
            </a:r>
            <a:r>
              <a:rPr dirty="0" spc="-10"/>
              <a:t>derive </a:t>
            </a:r>
            <a:r>
              <a:rPr dirty="0"/>
              <a:t>samples</a:t>
            </a:r>
            <a:r>
              <a:rPr dirty="0" spc="100"/>
              <a:t>  </a:t>
            </a:r>
            <a:r>
              <a:rPr dirty="0"/>
              <a:t>from</a:t>
            </a:r>
            <a:r>
              <a:rPr dirty="0" spc="100"/>
              <a:t>  </a:t>
            </a:r>
            <a:r>
              <a:rPr dirty="0"/>
              <a:t>the</a:t>
            </a:r>
            <a:r>
              <a:rPr dirty="0" spc="105"/>
              <a:t>  </a:t>
            </a:r>
            <a:r>
              <a:rPr dirty="0"/>
              <a:t>data</a:t>
            </a:r>
            <a:r>
              <a:rPr dirty="0" spc="105"/>
              <a:t>  </a:t>
            </a:r>
            <a:r>
              <a:rPr dirty="0"/>
              <a:t>using</a:t>
            </a:r>
            <a:r>
              <a:rPr dirty="0" spc="105"/>
              <a:t>  </a:t>
            </a:r>
            <a:r>
              <a:rPr dirty="0"/>
              <a:t>the</a:t>
            </a:r>
            <a:r>
              <a:rPr dirty="0" spc="105"/>
              <a:t>  </a:t>
            </a:r>
            <a:r>
              <a:rPr dirty="0"/>
              <a:t>replacement</a:t>
            </a:r>
            <a:r>
              <a:rPr dirty="0" spc="110"/>
              <a:t>  </a:t>
            </a:r>
            <a:r>
              <a:rPr dirty="0"/>
              <a:t>procedure.</a:t>
            </a:r>
            <a:r>
              <a:rPr dirty="0" spc="105"/>
              <a:t>  </a:t>
            </a:r>
            <a:r>
              <a:rPr dirty="0"/>
              <a:t>In</a:t>
            </a:r>
            <a:r>
              <a:rPr dirty="0" spc="100"/>
              <a:t>  </a:t>
            </a:r>
            <a:r>
              <a:rPr dirty="0" spc="-20"/>
              <a:t>this </a:t>
            </a:r>
            <a:r>
              <a:rPr dirty="0"/>
              <a:t>method, first,</a:t>
            </a:r>
            <a:r>
              <a:rPr dirty="0" spc="15"/>
              <a:t> </a:t>
            </a:r>
            <a:r>
              <a:rPr dirty="0"/>
              <a:t>random</a:t>
            </a:r>
            <a:r>
              <a:rPr dirty="0" spc="5"/>
              <a:t> </a:t>
            </a:r>
            <a:r>
              <a:rPr dirty="0"/>
              <a:t>data</a:t>
            </a:r>
            <a:r>
              <a:rPr dirty="0" spc="15"/>
              <a:t> </a:t>
            </a:r>
            <a:r>
              <a:rPr dirty="0"/>
              <a:t>samples</a:t>
            </a:r>
            <a:r>
              <a:rPr dirty="0" spc="10"/>
              <a:t> </a:t>
            </a:r>
            <a:r>
              <a:rPr dirty="0"/>
              <a:t>are</a:t>
            </a:r>
            <a:r>
              <a:rPr dirty="0" spc="15"/>
              <a:t> </a:t>
            </a:r>
            <a:r>
              <a:rPr dirty="0"/>
              <a:t>fed</a:t>
            </a:r>
            <a:r>
              <a:rPr dirty="0" spc="2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/>
              <a:t>primary</a:t>
            </a:r>
            <a:r>
              <a:rPr dirty="0" spc="15"/>
              <a:t> </a:t>
            </a:r>
            <a:r>
              <a:rPr dirty="0"/>
              <a:t>model,</a:t>
            </a:r>
            <a:r>
              <a:rPr dirty="0" spc="20"/>
              <a:t> </a:t>
            </a:r>
            <a:r>
              <a:rPr dirty="0" spc="-25"/>
              <a:t>and </a:t>
            </a:r>
            <a:r>
              <a:rPr dirty="0"/>
              <a:t>then</a:t>
            </a:r>
            <a:r>
              <a:rPr dirty="0" spc="125"/>
              <a:t> </a:t>
            </a:r>
            <a:r>
              <a:rPr dirty="0"/>
              <a:t>a</a:t>
            </a:r>
            <a:r>
              <a:rPr dirty="0" spc="135"/>
              <a:t> </a:t>
            </a:r>
            <a:r>
              <a:rPr dirty="0"/>
              <a:t>base</a:t>
            </a:r>
            <a:r>
              <a:rPr dirty="0" spc="135"/>
              <a:t> </a:t>
            </a:r>
            <a:r>
              <a:rPr dirty="0"/>
              <a:t>learning</a:t>
            </a:r>
            <a:r>
              <a:rPr dirty="0" spc="114"/>
              <a:t> </a:t>
            </a:r>
            <a:r>
              <a:rPr dirty="0"/>
              <a:t>algorithm</a:t>
            </a:r>
            <a:r>
              <a:rPr dirty="0" spc="135"/>
              <a:t> </a:t>
            </a:r>
            <a:r>
              <a:rPr dirty="0"/>
              <a:t>is</a:t>
            </a:r>
            <a:r>
              <a:rPr dirty="0" spc="140"/>
              <a:t> </a:t>
            </a:r>
            <a:r>
              <a:rPr dirty="0"/>
              <a:t>run</a:t>
            </a:r>
            <a:r>
              <a:rPr dirty="0" spc="135"/>
              <a:t> </a:t>
            </a:r>
            <a:r>
              <a:rPr dirty="0"/>
              <a:t>on</a:t>
            </a:r>
            <a:r>
              <a:rPr dirty="0" spc="135"/>
              <a:t> </a:t>
            </a:r>
            <a:r>
              <a:rPr dirty="0"/>
              <a:t>the</a:t>
            </a:r>
            <a:r>
              <a:rPr dirty="0" spc="135"/>
              <a:t> </a:t>
            </a:r>
            <a:r>
              <a:rPr dirty="0"/>
              <a:t>samples</a:t>
            </a:r>
            <a:r>
              <a:rPr dirty="0" spc="135"/>
              <a:t> </a:t>
            </a:r>
            <a:r>
              <a:rPr dirty="0"/>
              <a:t>to</a:t>
            </a:r>
            <a:r>
              <a:rPr dirty="0" spc="130"/>
              <a:t> </a:t>
            </a:r>
            <a:r>
              <a:rPr dirty="0"/>
              <a:t>complete</a:t>
            </a:r>
            <a:r>
              <a:rPr dirty="0" spc="114"/>
              <a:t> </a:t>
            </a:r>
            <a:r>
              <a:rPr dirty="0" spc="-25"/>
              <a:t>the </a:t>
            </a:r>
            <a:r>
              <a:rPr dirty="0"/>
              <a:t>learning</a:t>
            </a:r>
            <a:r>
              <a:rPr dirty="0" spc="-10"/>
              <a:t> process.</a:t>
            </a:r>
          </a:p>
          <a:p>
            <a:pPr algn="just" marL="241300" marR="6350" indent="-228600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b="1">
                <a:latin typeface="Calibri"/>
                <a:cs typeface="Calibri"/>
              </a:rPr>
              <a:t>Aggregation:</a:t>
            </a:r>
            <a:r>
              <a:rPr dirty="0" spc="110" b="1">
                <a:latin typeface="Calibri"/>
                <a:cs typeface="Calibri"/>
              </a:rPr>
              <a:t> </a:t>
            </a:r>
            <a:r>
              <a:rPr dirty="0"/>
              <a:t>This</a:t>
            </a:r>
            <a:r>
              <a:rPr dirty="0" spc="100"/>
              <a:t> </a:t>
            </a:r>
            <a:r>
              <a:rPr dirty="0"/>
              <a:t>is</a:t>
            </a:r>
            <a:r>
              <a:rPr dirty="0" spc="110"/>
              <a:t> </a:t>
            </a:r>
            <a:r>
              <a:rPr dirty="0"/>
              <a:t>a</a:t>
            </a:r>
            <a:r>
              <a:rPr dirty="0" spc="85"/>
              <a:t> </a:t>
            </a:r>
            <a:r>
              <a:rPr dirty="0"/>
              <a:t>step</a:t>
            </a:r>
            <a:r>
              <a:rPr dirty="0" spc="105"/>
              <a:t> </a:t>
            </a:r>
            <a:r>
              <a:rPr dirty="0"/>
              <a:t>that</a:t>
            </a:r>
            <a:r>
              <a:rPr dirty="0" spc="100"/>
              <a:t> </a:t>
            </a:r>
            <a:r>
              <a:rPr dirty="0"/>
              <a:t>involves</a:t>
            </a:r>
            <a:r>
              <a:rPr dirty="0" spc="110"/>
              <a:t> </a:t>
            </a:r>
            <a:r>
              <a:rPr dirty="0"/>
              <a:t>the</a:t>
            </a:r>
            <a:r>
              <a:rPr dirty="0" spc="100"/>
              <a:t> </a:t>
            </a:r>
            <a:r>
              <a:rPr dirty="0"/>
              <a:t>process</a:t>
            </a:r>
            <a:r>
              <a:rPr dirty="0" spc="105"/>
              <a:t> </a:t>
            </a:r>
            <a:r>
              <a:rPr dirty="0"/>
              <a:t>of</a:t>
            </a:r>
            <a:r>
              <a:rPr dirty="0" spc="90"/>
              <a:t> </a:t>
            </a:r>
            <a:r>
              <a:rPr dirty="0"/>
              <a:t>combining</a:t>
            </a:r>
            <a:r>
              <a:rPr dirty="0" spc="100"/>
              <a:t> </a:t>
            </a:r>
            <a:r>
              <a:rPr dirty="0" spc="-25"/>
              <a:t>the </a:t>
            </a:r>
            <a:r>
              <a:rPr dirty="0"/>
              <a:t>output</a:t>
            </a:r>
            <a:r>
              <a:rPr dirty="0" spc="330"/>
              <a:t> </a:t>
            </a:r>
            <a:r>
              <a:rPr dirty="0"/>
              <a:t>of</a:t>
            </a:r>
            <a:r>
              <a:rPr dirty="0" spc="310"/>
              <a:t> </a:t>
            </a:r>
            <a:r>
              <a:rPr dirty="0"/>
              <a:t>all</a:t>
            </a:r>
            <a:r>
              <a:rPr dirty="0" spc="345"/>
              <a:t> </a:t>
            </a:r>
            <a:r>
              <a:rPr dirty="0"/>
              <a:t>base</a:t>
            </a:r>
            <a:r>
              <a:rPr dirty="0" spc="325"/>
              <a:t> </a:t>
            </a:r>
            <a:r>
              <a:rPr dirty="0"/>
              <a:t>models</a:t>
            </a:r>
            <a:r>
              <a:rPr dirty="0" spc="330"/>
              <a:t> </a:t>
            </a:r>
            <a:r>
              <a:rPr dirty="0"/>
              <a:t>and,</a:t>
            </a:r>
            <a:r>
              <a:rPr dirty="0" spc="310"/>
              <a:t> </a:t>
            </a:r>
            <a:r>
              <a:rPr dirty="0"/>
              <a:t>based</a:t>
            </a:r>
            <a:r>
              <a:rPr dirty="0" spc="325"/>
              <a:t> </a:t>
            </a:r>
            <a:r>
              <a:rPr dirty="0"/>
              <a:t>on</a:t>
            </a:r>
            <a:r>
              <a:rPr dirty="0" spc="340"/>
              <a:t> </a:t>
            </a:r>
            <a:r>
              <a:rPr dirty="0"/>
              <a:t>their</a:t>
            </a:r>
            <a:r>
              <a:rPr dirty="0" spc="330"/>
              <a:t> </a:t>
            </a:r>
            <a:r>
              <a:rPr dirty="0"/>
              <a:t>output,</a:t>
            </a:r>
            <a:r>
              <a:rPr dirty="0" spc="335"/>
              <a:t> </a:t>
            </a:r>
            <a:r>
              <a:rPr dirty="0"/>
              <a:t>predicting</a:t>
            </a:r>
            <a:r>
              <a:rPr dirty="0" spc="345"/>
              <a:t> </a:t>
            </a:r>
            <a:r>
              <a:rPr dirty="0" spc="-25"/>
              <a:t>an </a:t>
            </a:r>
            <a:r>
              <a:rPr dirty="0" spc="-10"/>
              <a:t>aggregate</a:t>
            </a:r>
            <a:r>
              <a:rPr dirty="0" spc="-75"/>
              <a:t> </a:t>
            </a:r>
            <a:r>
              <a:rPr dirty="0"/>
              <a:t>result</a:t>
            </a:r>
            <a:r>
              <a:rPr dirty="0" spc="-80"/>
              <a:t> </a:t>
            </a:r>
            <a:r>
              <a:rPr dirty="0"/>
              <a:t>with</a:t>
            </a:r>
            <a:r>
              <a:rPr dirty="0" spc="-60"/>
              <a:t> </a:t>
            </a:r>
            <a:r>
              <a:rPr dirty="0"/>
              <a:t>greater</a:t>
            </a:r>
            <a:r>
              <a:rPr dirty="0" spc="-85"/>
              <a:t> </a:t>
            </a:r>
            <a:r>
              <a:rPr dirty="0"/>
              <a:t>accuracy</a:t>
            </a:r>
            <a:r>
              <a:rPr dirty="0" spc="-80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/>
              <a:t>reduced</a:t>
            </a:r>
            <a:r>
              <a:rPr dirty="0" spc="-85"/>
              <a:t> </a:t>
            </a:r>
            <a:r>
              <a:rPr dirty="0" spc="-10"/>
              <a:t>variance.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1907" y="549275"/>
            <a:ext cx="8920734" cy="374662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8166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Bagging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400" y="173494"/>
            <a:ext cx="11895836" cy="64885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86508" y="609676"/>
            <a:ext cx="862520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000000"/>
                </a:solidFill>
                <a:latin typeface="Calibri Light"/>
                <a:cs typeface="Calibri Light"/>
              </a:rPr>
              <a:t>Bias,</a:t>
            </a:r>
            <a:r>
              <a:rPr dirty="0" sz="4400" spc="-18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4400" spc="-55">
                <a:solidFill>
                  <a:srgbClr val="000000"/>
                </a:solidFill>
                <a:latin typeface="Calibri Light"/>
                <a:cs typeface="Calibri Light"/>
              </a:rPr>
              <a:t>Variance,</a:t>
            </a:r>
            <a:r>
              <a:rPr dirty="0" sz="4400" spc="-175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4400" spc="-35">
                <a:solidFill>
                  <a:srgbClr val="000000"/>
                </a:solidFill>
                <a:latin typeface="Calibri Light"/>
                <a:cs typeface="Calibri Light"/>
              </a:rPr>
              <a:t>Overfitting,</a:t>
            </a:r>
            <a:r>
              <a:rPr dirty="0" sz="4400" spc="-18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4400" spc="-10">
                <a:solidFill>
                  <a:srgbClr val="000000"/>
                </a:solidFill>
                <a:latin typeface="Calibri Light"/>
                <a:cs typeface="Calibri Light"/>
              </a:rPr>
              <a:t>Underfitting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0216" y="2138298"/>
            <a:ext cx="922655" cy="497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3100" spc="-20" b="1">
                <a:solidFill>
                  <a:srgbClr val="FF0000"/>
                </a:solidFill>
                <a:latin typeface="Calibri"/>
                <a:cs typeface="Calibri"/>
              </a:rPr>
              <a:t>Bias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9270" y="2150490"/>
            <a:ext cx="253492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:</a:t>
            </a:r>
            <a:r>
              <a:rPr dirty="0" sz="3000" spc="590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Training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errors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0216" y="2595498"/>
            <a:ext cx="1956435" cy="497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3100" b="1">
                <a:solidFill>
                  <a:srgbClr val="FF0000"/>
                </a:solidFill>
                <a:latin typeface="Calibri"/>
                <a:cs typeface="Calibri"/>
              </a:rPr>
              <a:t>Variance</a:t>
            </a:r>
            <a:r>
              <a:rPr dirty="0" sz="3100" spc="509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 spc="-50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216" y="3052394"/>
            <a:ext cx="2023745" cy="497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3100" spc="-10" b="1">
                <a:solidFill>
                  <a:srgbClr val="FF0000"/>
                </a:solidFill>
                <a:latin typeface="Calibri"/>
                <a:cs typeface="Calibri"/>
              </a:rPr>
              <a:t>Overfitting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07409" y="2550155"/>
            <a:ext cx="3625215" cy="176911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3000" spc="-30">
                <a:latin typeface="Calibri"/>
                <a:cs typeface="Calibri"/>
              </a:rPr>
              <a:t>Testing</a:t>
            </a:r>
            <a:r>
              <a:rPr dirty="0" sz="3000" spc="-13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errors</a:t>
            </a:r>
            <a:endParaRPr sz="3000">
              <a:latin typeface="Calibri"/>
              <a:cs typeface="Calibri"/>
            </a:endParaRPr>
          </a:p>
          <a:p>
            <a:pPr marL="568325">
              <a:lnSpc>
                <a:spcPts val="2885"/>
              </a:lnSpc>
              <a:spcBef>
                <a:spcPts val="400"/>
              </a:spcBef>
            </a:pPr>
            <a:r>
              <a:rPr dirty="0" sz="2600" spc="-50">
                <a:latin typeface="Calibri"/>
                <a:cs typeface="Calibri"/>
              </a:rPr>
              <a:t>:</a:t>
            </a:r>
            <a:endParaRPr sz="2600">
              <a:latin typeface="Calibri"/>
              <a:cs typeface="Calibri"/>
            </a:endParaRPr>
          </a:p>
          <a:p>
            <a:pPr marL="450215" indent="-340995">
              <a:lnSpc>
                <a:spcPts val="3075"/>
              </a:lnSpc>
              <a:buSzPct val="96666"/>
              <a:buFont typeface="Wingdings"/>
              <a:buChar char=""/>
              <a:tabLst>
                <a:tab pos="450215" algn="l"/>
              </a:tabLst>
            </a:pPr>
            <a:r>
              <a:rPr dirty="0" sz="3000" spc="-20">
                <a:latin typeface="Calibri"/>
                <a:cs typeface="Calibri"/>
              </a:rPr>
              <a:t>Training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errors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:</a:t>
            </a:r>
            <a:r>
              <a:rPr dirty="0" sz="3000" spc="-130">
                <a:latin typeface="Calibri"/>
                <a:cs typeface="Calibri"/>
              </a:rPr>
              <a:t> </a:t>
            </a:r>
            <a:r>
              <a:rPr dirty="0" sz="3000" spc="-25" b="1">
                <a:solidFill>
                  <a:srgbClr val="FF0000"/>
                </a:solidFill>
                <a:latin typeface="Calibri"/>
                <a:cs typeface="Calibri"/>
              </a:rPr>
              <a:t>Low</a:t>
            </a:r>
            <a:endParaRPr sz="3000">
              <a:latin typeface="Calibri"/>
              <a:cs typeface="Calibri"/>
            </a:endParaRPr>
          </a:p>
          <a:p>
            <a:pPr marL="450215" indent="-340995">
              <a:lnSpc>
                <a:spcPts val="3310"/>
              </a:lnSpc>
              <a:buSzPct val="96666"/>
              <a:buFont typeface="Wingdings"/>
              <a:buChar char=""/>
              <a:tabLst>
                <a:tab pos="450215" algn="l"/>
              </a:tabLst>
            </a:pPr>
            <a:r>
              <a:rPr dirty="0" sz="3000" spc="-30">
                <a:latin typeface="Calibri"/>
                <a:cs typeface="Calibri"/>
              </a:rPr>
              <a:t>Testing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errors</a:t>
            </a:r>
            <a:r>
              <a:rPr dirty="0" sz="3000" spc="-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: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20" b="1">
                <a:solidFill>
                  <a:srgbClr val="FF0000"/>
                </a:solidFill>
                <a:latin typeface="Calibri"/>
                <a:cs typeface="Calibri"/>
              </a:rPr>
              <a:t>High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0216" y="4278248"/>
            <a:ext cx="5053330" cy="1264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6230" indent="-303530">
              <a:lnSpc>
                <a:spcPts val="3435"/>
              </a:lnSpc>
              <a:spcBef>
                <a:spcPts val="95"/>
              </a:spcBef>
              <a:buClr>
                <a:srgbClr val="000000"/>
              </a:buClr>
              <a:buSzPct val="83870"/>
              <a:buFont typeface="Arial MT"/>
              <a:buChar char="•"/>
              <a:tabLst>
                <a:tab pos="316230" algn="l"/>
                <a:tab pos="2755900" algn="l"/>
              </a:tabLst>
            </a:pPr>
            <a:r>
              <a:rPr dirty="0" sz="3100" spc="-10" b="1">
                <a:solidFill>
                  <a:srgbClr val="FF0000"/>
                </a:solidFill>
                <a:latin typeface="Calibri"/>
                <a:cs typeface="Calibri"/>
              </a:rPr>
              <a:t>Underfitting</a:t>
            </a:r>
            <a:r>
              <a:rPr dirty="0" sz="3100" b="1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dirty="0" sz="2600" spc="-50">
                <a:latin typeface="Calibri"/>
                <a:cs typeface="Calibri"/>
              </a:rPr>
              <a:t>:</a:t>
            </a:r>
            <a:endParaRPr sz="2600">
              <a:latin typeface="Calibri"/>
              <a:cs typeface="Calibri"/>
            </a:endParaRPr>
          </a:p>
          <a:p>
            <a:pPr lvl="1" marL="1724025" indent="-341630">
              <a:lnSpc>
                <a:spcPts val="3020"/>
              </a:lnSpc>
              <a:buSzPct val="96666"/>
              <a:buFont typeface="Wingdings"/>
              <a:buChar char=""/>
              <a:tabLst>
                <a:tab pos="1724025" algn="l"/>
              </a:tabLst>
            </a:pPr>
            <a:r>
              <a:rPr dirty="0" sz="3000">
                <a:latin typeface="Calibri"/>
                <a:cs typeface="Calibri"/>
              </a:rPr>
              <a:t>Training</a:t>
            </a:r>
            <a:r>
              <a:rPr dirty="0" sz="3000" spc="47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errors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: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 spc="-20" b="1">
                <a:solidFill>
                  <a:srgbClr val="FF0000"/>
                </a:solidFill>
                <a:latin typeface="Calibri"/>
                <a:cs typeface="Calibri"/>
              </a:rPr>
              <a:t>High</a:t>
            </a:r>
            <a:endParaRPr sz="3000">
              <a:latin typeface="Calibri"/>
              <a:cs typeface="Calibri"/>
            </a:endParaRPr>
          </a:p>
          <a:p>
            <a:pPr lvl="1" marL="1723389" indent="-340995">
              <a:lnSpc>
                <a:spcPts val="3310"/>
              </a:lnSpc>
              <a:buSzPct val="96666"/>
              <a:buFont typeface="Wingdings"/>
              <a:buChar char=""/>
              <a:tabLst>
                <a:tab pos="1723389" algn="l"/>
              </a:tabLst>
            </a:pPr>
            <a:r>
              <a:rPr dirty="0" sz="3000" spc="-30">
                <a:latin typeface="Calibri"/>
                <a:cs typeface="Calibri"/>
              </a:rPr>
              <a:t>Testing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errors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: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 spc="-25" b="1">
                <a:solidFill>
                  <a:srgbClr val="FF0000"/>
                </a:solidFill>
                <a:latin typeface="Calibri"/>
                <a:cs typeface="Calibri"/>
              </a:rPr>
              <a:t>Low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58772" y="3071876"/>
            <a:ext cx="5150485" cy="60960"/>
          </a:xfrm>
          <a:custGeom>
            <a:avLst/>
            <a:gdLst/>
            <a:ahLst/>
            <a:cxnLst/>
            <a:rect l="l" t="t" r="r" b="b"/>
            <a:pathLst>
              <a:path w="5150484" h="60960">
                <a:moveTo>
                  <a:pt x="0" y="60451"/>
                </a:moveTo>
                <a:lnTo>
                  <a:pt x="5149977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658" y="238125"/>
            <a:ext cx="11766423" cy="63817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43" y="176656"/>
            <a:ext cx="7582661" cy="59912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43011" y="176644"/>
            <a:ext cx="4087240" cy="62484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447" y="1273175"/>
            <a:ext cx="9691878" cy="377329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3306" y="1891741"/>
            <a:ext cx="12827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Boosting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16939" y="575852"/>
            <a:ext cx="10359390" cy="3778885"/>
          </a:xfrm>
          <a:prstGeom prst="rect">
            <a:avLst/>
          </a:prstGeom>
        </p:spPr>
        <p:txBody>
          <a:bodyPr wrap="square" lIns="0" tIns="193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dirty="0" sz="2800">
                <a:solidFill>
                  <a:srgbClr val="FF0000"/>
                </a:solidFill>
                <a:latin typeface="Calibri"/>
                <a:cs typeface="Calibri"/>
              </a:rPr>
              <a:t>Stacking</a:t>
            </a:r>
            <a:r>
              <a:rPr dirty="0" sz="2800" spc="-8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0000"/>
                </a:solidFill>
                <a:latin typeface="Calibri"/>
                <a:cs typeface="Calibri"/>
              </a:rPr>
              <a:t>Ensemble</a:t>
            </a:r>
            <a:r>
              <a:rPr dirty="0" sz="2800" spc="-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Calibri"/>
                <a:cs typeface="Calibri"/>
              </a:rPr>
              <a:t>Learning</a:t>
            </a:r>
            <a:endParaRPr sz="2800">
              <a:latin typeface="Calibri"/>
              <a:cs typeface="Calibri"/>
            </a:endParaRPr>
          </a:p>
          <a:p>
            <a:pPr algn="just" marL="240029" marR="5080" indent="-227965">
              <a:lnSpc>
                <a:spcPts val="3460"/>
              </a:lnSpc>
              <a:spcBef>
                <a:spcPts val="20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3200">
                <a:latin typeface="Calibri"/>
                <a:cs typeface="Calibri"/>
              </a:rPr>
              <a:t>Heterogeneous</a:t>
            </a:r>
            <a:r>
              <a:rPr dirty="0" sz="3200" spc="7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weak</a:t>
            </a:r>
            <a:r>
              <a:rPr dirty="0" sz="3200" spc="7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learners.</a:t>
            </a:r>
            <a:r>
              <a:rPr dirty="0" sz="3200" spc="7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E.g.</a:t>
            </a:r>
            <a:r>
              <a:rPr dirty="0" sz="3200" spc="7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Regression,</a:t>
            </a:r>
            <a:r>
              <a:rPr dirty="0" sz="3200" spc="7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SVM,</a:t>
            </a:r>
            <a:r>
              <a:rPr dirty="0" sz="3200" spc="72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KNN </a:t>
            </a:r>
            <a:r>
              <a:rPr dirty="0" sz="3200" spc="-25">
                <a:latin typeface="Calibri"/>
                <a:cs typeface="Calibri"/>
              </a:rPr>
              <a:t>	</a:t>
            </a:r>
            <a:r>
              <a:rPr dirty="0" sz="3200" spc="-20">
                <a:latin typeface="Calibri"/>
                <a:cs typeface="Calibri"/>
              </a:rPr>
              <a:t>etc.</a:t>
            </a:r>
            <a:endParaRPr sz="3200">
              <a:latin typeface="Calibri"/>
              <a:cs typeface="Calibri"/>
            </a:endParaRPr>
          </a:p>
          <a:p>
            <a:pPr algn="just" marL="240665" indent="-227965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3200">
                <a:latin typeface="Calibri"/>
                <a:cs typeface="Calibri"/>
              </a:rPr>
              <a:t>Meta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Model.</a:t>
            </a:r>
            <a:endParaRPr sz="3200">
              <a:latin typeface="Calibri"/>
              <a:cs typeface="Calibri"/>
            </a:endParaRPr>
          </a:p>
          <a:p>
            <a:pPr algn="just" marL="240029" marR="6985" indent="-227965">
              <a:lnSpc>
                <a:spcPct val="9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3200">
                <a:latin typeface="Calibri"/>
                <a:cs typeface="Calibri"/>
              </a:rPr>
              <a:t>Stacking</a:t>
            </a:r>
            <a:r>
              <a:rPr dirty="0" sz="3200" spc="1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enables</a:t>
            </a:r>
            <a:r>
              <a:rPr dirty="0" sz="3200" spc="1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</a:t>
            </a:r>
            <a:r>
              <a:rPr dirty="0" sz="3200" spc="1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1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train</a:t>
            </a:r>
            <a:r>
              <a:rPr dirty="0" sz="3200" spc="1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multiple</a:t>
            </a:r>
            <a:r>
              <a:rPr dirty="0" sz="3200" spc="1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models</a:t>
            </a:r>
            <a:r>
              <a:rPr dirty="0" sz="3200" spc="1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1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solve</a:t>
            </a:r>
            <a:r>
              <a:rPr dirty="0" sz="3200" spc="1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similar </a:t>
            </a:r>
            <a:r>
              <a:rPr dirty="0" sz="3200" spc="-1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problems,</a:t>
            </a:r>
            <a:r>
              <a:rPr dirty="0" sz="3200" spc="3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3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based</a:t>
            </a:r>
            <a:r>
              <a:rPr dirty="0" sz="3200" spc="3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on</a:t>
            </a:r>
            <a:r>
              <a:rPr dirty="0" sz="3200" spc="3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their</a:t>
            </a:r>
            <a:r>
              <a:rPr dirty="0" sz="3200" spc="3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combined</a:t>
            </a:r>
            <a:r>
              <a:rPr dirty="0" sz="3200" spc="3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output,</a:t>
            </a:r>
            <a:r>
              <a:rPr dirty="0" sz="3200" spc="3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it</a:t>
            </a:r>
            <a:r>
              <a:rPr dirty="0" sz="3200" spc="3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builds</a:t>
            </a:r>
            <a:r>
              <a:rPr dirty="0" sz="3200" spc="375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a </a:t>
            </a:r>
            <a:r>
              <a:rPr dirty="0" sz="3200" spc="-5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new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model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with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improved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performance.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929" y="604837"/>
            <a:ext cx="11498961" cy="56483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500" y="236537"/>
            <a:ext cx="11553825" cy="5829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1182" y="622300"/>
            <a:ext cx="9094978" cy="47605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28980" y="1492377"/>
            <a:ext cx="17348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Stacking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Shardha Nand</dc:creator>
  <dc:title>regression</dc:title>
  <dcterms:created xsi:type="dcterms:W3CDTF">2026-07-03T17:53:53Z</dcterms:created>
  <dcterms:modified xsi:type="dcterms:W3CDTF">2026-07-03T17:53:53Z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2026-06-04T00:00:00Z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2026-07-03T00:00:00Z</vt:filetime>
  </property>
  <property fmtid="{D5CDD505-2E9C-101B-9397-08002B2CF9AE}" pid="6" name="Producer">
    <vt:lpwstr>Microsoft® PowerPoint® 2021</vt:lpwstr>
  </property>
</Properties>
</file>