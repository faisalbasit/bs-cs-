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4"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120"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88DD24B-CD44-427B-874A-8A6978EA4E35}"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26DA2-B4F4-4C47-9F6A-DA7B4CC2DF78}" type="slidenum">
              <a:rPr lang="en-US" smtClean="0"/>
              <a:t>‹#›</a:t>
            </a:fld>
            <a:endParaRPr lang="en-US"/>
          </a:p>
        </p:txBody>
      </p:sp>
    </p:spTree>
    <p:extLst>
      <p:ext uri="{BB962C8B-B14F-4D97-AF65-F5344CB8AC3E}">
        <p14:creationId xmlns:p14="http://schemas.microsoft.com/office/powerpoint/2010/main" val="3199802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8DD24B-CD44-427B-874A-8A6978EA4E35}"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26DA2-B4F4-4C47-9F6A-DA7B4CC2DF78}" type="slidenum">
              <a:rPr lang="en-US" smtClean="0"/>
              <a:t>‹#›</a:t>
            </a:fld>
            <a:endParaRPr lang="en-US"/>
          </a:p>
        </p:txBody>
      </p:sp>
    </p:spTree>
    <p:extLst>
      <p:ext uri="{BB962C8B-B14F-4D97-AF65-F5344CB8AC3E}">
        <p14:creationId xmlns:p14="http://schemas.microsoft.com/office/powerpoint/2010/main" val="1644030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8DD24B-CD44-427B-874A-8A6978EA4E35}"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26DA2-B4F4-4C47-9F6A-DA7B4CC2DF78}" type="slidenum">
              <a:rPr lang="en-US" smtClean="0"/>
              <a:t>‹#›</a:t>
            </a:fld>
            <a:endParaRPr lang="en-US"/>
          </a:p>
        </p:txBody>
      </p:sp>
    </p:spTree>
    <p:extLst>
      <p:ext uri="{BB962C8B-B14F-4D97-AF65-F5344CB8AC3E}">
        <p14:creationId xmlns:p14="http://schemas.microsoft.com/office/powerpoint/2010/main" val="901485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88DD24B-CD44-427B-874A-8A6978EA4E35}"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A26DA2-B4F4-4C47-9F6A-DA7B4CC2DF78}" type="slidenum">
              <a:rPr lang="en-US" smtClean="0"/>
              <a:t>‹#›</a:t>
            </a:fld>
            <a:endParaRPr lang="en-US"/>
          </a:p>
        </p:txBody>
      </p:sp>
    </p:spTree>
    <p:extLst>
      <p:ext uri="{BB962C8B-B14F-4D97-AF65-F5344CB8AC3E}">
        <p14:creationId xmlns:p14="http://schemas.microsoft.com/office/powerpoint/2010/main" val="90258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88DD24B-CD44-427B-874A-8A6978EA4E35}"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A26DA2-B4F4-4C47-9F6A-DA7B4CC2DF78}" type="slidenum">
              <a:rPr lang="en-US" smtClean="0"/>
              <a:t>‹#›</a:t>
            </a:fld>
            <a:endParaRPr lang="en-US"/>
          </a:p>
        </p:txBody>
      </p:sp>
    </p:spTree>
    <p:extLst>
      <p:ext uri="{BB962C8B-B14F-4D97-AF65-F5344CB8AC3E}">
        <p14:creationId xmlns:p14="http://schemas.microsoft.com/office/powerpoint/2010/main" val="2130338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8DD24B-CD44-427B-874A-8A6978EA4E35}"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A26DA2-B4F4-4C47-9F6A-DA7B4CC2DF78}" type="slidenum">
              <a:rPr lang="en-US" smtClean="0"/>
              <a:t>‹#›</a:t>
            </a:fld>
            <a:endParaRPr lang="en-US"/>
          </a:p>
        </p:txBody>
      </p:sp>
    </p:spTree>
    <p:extLst>
      <p:ext uri="{BB962C8B-B14F-4D97-AF65-F5344CB8AC3E}">
        <p14:creationId xmlns:p14="http://schemas.microsoft.com/office/powerpoint/2010/main" val="2757357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8DD24B-CD44-427B-874A-8A6978EA4E35}"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A26DA2-B4F4-4C47-9F6A-DA7B4CC2DF78}" type="slidenum">
              <a:rPr lang="en-US" smtClean="0"/>
              <a:t>‹#›</a:t>
            </a:fld>
            <a:endParaRPr lang="en-US"/>
          </a:p>
        </p:txBody>
      </p:sp>
    </p:spTree>
    <p:extLst>
      <p:ext uri="{BB962C8B-B14F-4D97-AF65-F5344CB8AC3E}">
        <p14:creationId xmlns:p14="http://schemas.microsoft.com/office/powerpoint/2010/main" val="2598177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8DD24B-CD44-427B-874A-8A6978EA4E35}"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A26DA2-B4F4-4C47-9F6A-DA7B4CC2DF78}" type="slidenum">
              <a:rPr lang="en-US" smtClean="0"/>
              <a:t>‹#›</a:t>
            </a:fld>
            <a:endParaRPr lang="en-US"/>
          </a:p>
        </p:txBody>
      </p:sp>
    </p:spTree>
    <p:extLst>
      <p:ext uri="{BB962C8B-B14F-4D97-AF65-F5344CB8AC3E}">
        <p14:creationId xmlns:p14="http://schemas.microsoft.com/office/powerpoint/2010/main" val="2077752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8DD24B-CD44-427B-874A-8A6978EA4E35}"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A26DA2-B4F4-4C47-9F6A-DA7B4CC2DF78}" type="slidenum">
              <a:rPr lang="en-US" smtClean="0"/>
              <a:t>‹#›</a:t>
            </a:fld>
            <a:endParaRPr lang="en-US"/>
          </a:p>
        </p:txBody>
      </p:sp>
    </p:spTree>
    <p:extLst>
      <p:ext uri="{BB962C8B-B14F-4D97-AF65-F5344CB8AC3E}">
        <p14:creationId xmlns:p14="http://schemas.microsoft.com/office/powerpoint/2010/main" val="3334927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8DD24B-CD44-427B-874A-8A6978EA4E35}"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26DA2-B4F4-4C47-9F6A-DA7B4CC2DF78}" type="slidenum">
              <a:rPr lang="en-US" smtClean="0"/>
              <a:t>‹#›</a:t>
            </a:fld>
            <a:endParaRPr lang="en-US"/>
          </a:p>
        </p:txBody>
      </p:sp>
    </p:spTree>
    <p:extLst>
      <p:ext uri="{BB962C8B-B14F-4D97-AF65-F5344CB8AC3E}">
        <p14:creationId xmlns:p14="http://schemas.microsoft.com/office/powerpoint/2010/main" val="2620087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8DD24B-CD44-427B-874A-8A6978EA4E35}"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A26DA2-B4F4-4C47-9F6A-DA7B4CC2DF78}" type="slidenum">
              <a:rPr lang="en-US" smtClean="0"/>
              <a:t>‹#›</a:t>
            </a:fld>
            <a:endParaRPr lang="en-US"/>
          </a:p>
        </p:txBody>
      </p:sp>
    </p:spTree>
    <p:extLst>
      <p:ext uri="{BB962C8B-B14F-4D97-AF65-F5344CB8AC3E}">
        <p14:creationId xmlns:p14="http://schemas.microsoft.com/office/powerpoint/2010/main" val="3780404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8DD24B-CD44-427B-874A-8A6978EA4E35}" type="datetimeFigureOut">
              <a:rPr lang="en-US" smtClean="0"/>
              <a:t>1/14/2025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A26DA2-B4F4-4C47-9F6A-DA7B4CC2DF78}" type="slidenum">
              <a:rPr lang="en-US" smtClean="0"/>
              <a:t>‹#›</a:t>
            </a:fld>
            <a:endParaRPr lang="en-US"/>
          </a:p>
        </p:txBody>
      </p:sp>
    </p:spTree>
    <p:extLst>
      <p:ext uri="{BB962C8B-B14F-4D97-AF65-F5344CB8AC3E}">
        <p14:creationId xmlns:p14="http://schemas.microsoft.com/office/powerpoint/2010/main" val="1996159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57816" y="1045552"/>
            <a:ext cx="6010275" cy="2000250"/>
          </a:xfrm>
          <a:prstGeom prst="rect">
            <a:avLst/>
          </a:prstGeom>
        </p:spPr>
      </p:pic>
    </p:spTree>
    <p:extLst>
      <p:ext uri="{BB962C8B-B14F-4D97-AF65-F5344CB8AC3E}">
        <p14:creationId xmlns:p14="http://schemas.microsoft.com/office/powerpoint/2010/main" val="4178000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37693" y="668215"/>
            <a:ext cx="6096000" cy="3716215"/>
          </a:xfrm>
          <a:prstGeom prst="rect">
            <a:avLst/>
          </a:prstGeom>
        </p:spPr>
      </p:pic>
    </p:spTree>
    <p:extLst>
      <p:ext uri="{BB962C8B-B14F-4D97-AF65-F5344CB8AC3E}">
        <p14:creationId xmlns:p14="http://schemas.microsoft.com/office/powerpoint/2010/main" val="3947891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29508" y="398584"/>
            <a:ext cx="8405446" cy="4196861"/>
          </a:xfrm>
          <a:prstGeom prst="rect">
            <a:avLst/>
          </a:prstGeom>
        </p:spPr>
      </p:pic>
    </p:spTree>
    <p:extLst>
      <p:ext uri="{BB962C8B-B14F-4D97-AF65-F5344CB8AC3E}">
        <p14:creationId xmlns:p14="http://schemas.microsoft.com/office/powerpoint/2010/main" val="2831812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21473" y="326414"/>
            <a:ext cx="6134100" cy="1914525"/>
          </a:xfrm>
          <a:prstGeom prst="rect">
            <a:avLst/>
          </a:prstGeom>
        </p:spPr>
      </p:pic>
      <p:pic>
        <p:nvPicPr>
          <p:cNvPr id="3" name="Picture 2"/>
          <p:cNvPicPr>
            <a:picLocks noChangeAspect="1"/>
          </p:cNvPicPr>
          <p:nvPr/>
        </p:nvPicPr>
        <p:blipFill>
          <a:blip r:embed="rId3"/>
          <a:stretch>
            <a:fillRect/>
          </a:stretch>
        </p:blipFill>
        <p:spPr>
          <a:xfrm>
            <a:off x="2831123" y="1924784"/>
            <a:ext cx="5124450" cy="1085850"/>
          </a:xfrm>
          <a:prstGeom prst="rect">
            <a:avLst/>
          </a:prstGeom>
        </p:spPr>
      </p:pic>
    </p:spTree>
    <p:extLst>
      <p:ext uri="{BB962C8B-B14F-4D97-AF65-F5344CB8AC3E}">
        <p14:creationId xmlns:p14="http://schemas.microsoft.com/office/powerpoint/2010/main" val="2479703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17077" y="1190258"/>
            <a:ext cx="5181600" cy="561975"/>
          </a:xfrm>
          <a:prstGeom prst="rect">
            <a:avLst/>
          </a:prstGeom>
        </p:spPr>
      </p:pic>
      <p:pic>
        <p:nvPicPr>
          <p:cNvPr id="3" name="Picture 2"/>
          <p:cNvPicPr>
            <a:picLocks noChangeAspect="1"/>
          </p:cNvPicPr>
          <p:nvPr/>
        </p:nvPicPr>
        <p:blipFill>
          <a:blip r:embed="rId3"/>
          <a:stretch>
            <a:fillRect/>
          </a:stretch>
        </p:blipFill>
        <p:spPr>
          <a:xfrm>
            <a:off x="2250831" y="2501045"/>
            <a:ext cx="6096000" cy="1762125"/>
          </a:xfrm>
          <a:prstGeom prst="rect">
            <a:avLst/>
          </a:prstGeom>
        </p:spPr>
      </p:pic>
    </p:spTree>
    <p:extLst>
      <p:ext uri="{BB962C8B-B14F-4D97-AF65-F5344CB8AC3E}">
        <p14:creationId xmlns:p14="http://schemas.microsoft.com/office/powerpoint/2010/main" val="3592988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66547" y="1182932"/>
            <a:ext cx="6172200" cy="3343275"/>
          </a:xfrm>
          <a:prstGeom prst="rect">
            <a:avLst/>
          </a:prstGeom>
        </p:spPr>
      </p:pic>
    </p:spTree>
    <p:extLst>
      <p:ext uri="{BB962C8B-B14F-4D97-AF65-F5344CB8AC3E}">
        <p14:creationId xmlns:p14="http://schemas.microsoft.com/office/powerpoint/2010/main" val="4189770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305342"/>
            <a:ext cx="6096000" cy="4247317"/>
          </a:xfrm>
          <a:prstGeom prst="rect">
            <a:avLst/>
          </a:prstGeom>
        </p:spPr>
        <p:txBody>
          <a:bodyPr>
            <a:spAutoFit/>
          </a:bodyPr>
          <a:lstStyle/>
          <a:p>
            <a:r>
              <a:rPr lang="en-US" dirty="0"/>
              <a:t>The </a:t>
            </a:r>
            <a:r>
              <a:rPr lang="en-US" b="1" dirty="0"/>
              <a:t>Poisson distribution</a:t>
            </a:r>
            <a:r>
              <a:rPr lang="en-US" dirty="0"/>
              <a:t> is used when modeling the number of occurrences of an event within a fixed interval of time, space, or another domain, given the following conditions:</a:t>
            </a:r>
          </a:p>
          <a:p>
            <a:r>
              <a:rPr lang="en-US" b="1" dirty="0"/>
              <a:t>When to Apply the Poisson Distribution:</a:t>
            </a:r>
          </a:p>
          <a:p>
            <a:pPr>
              <a:buFont typeface="+mj-lt"/>
              <a:buAutoNum type="arabicPeriod"/>
            </a:pPr>
            <a:r>
              <a:rPr lang="en-US" b="1" dirty="0"/>
              <a:t>Counting Discrete Events</a:t>
            </a:r>
            <a:r>
              <a:rPr lang="en-US" dirty="0"/>
              <a:t>: The distribution applies to the count of discrete events that occur in a fixed interval.</a:t>
            </a:r>
          </a:p>
          <a:p>
            <a:pPr>
              <a:buFont typeface="+mj-lt"/>
              <a:buAutoNum type="arabicPeriod"/>
            </a:pPr>
            <a:r>
              <a:rPr lang="en-US" b="1" dirty="0"/>
              <a:t>Independence of Events</a:t>
            </a:r>
            <a:r>
              <a:rPr lang="en-US" dirty="0"/>
              <a:t>: Events occur independently of each other.</a:t>
            </a:r>
          </a:p>
          <a:p>
            <a:pPr>
              <a:buFont typeface="+mj-lt"/>
              <a:buAutoNum type="arabicPeriod"/>
            </a:pPr>
            <a:r>
              <a:rPr lang="en-US" b="1" dirty="0"/>
              <a:t>Constant Average Rate (λ\</a:t>
            </a:r>
            <a:r>
              <a:rPr lang="en-US" b="1" dirty="0" err="1"/>
              <a:t>lambdaλ</a:t>
            </a:r>
            <a:r>
              <a:rPr lang="en-US" b="1" dirty="0"/>
              <a:t>)</a:t>
            </a:r>
            <a:r>
              <a:rPr lang="en-US" dirty="0"/>
              <a:t>: The average rate of events (λ\</a:t>
            </a:r>
            <a:r>
              <a:rPr lang="en-US" dirty="0" err="1"/>
              <a:t>lambdaλ</a:t>
            </a:r>
            <a:r>
              <a:rPr lang="en-US" dirty="0"/>
              <a:t>) in the interval is constant over time or space.</a:t>
            </a:r>
          </a:p>
          <a:p>
            <a:pPr>
              <a:buFont typeface="+mj-lt"/>
              <a:buAutoNum type="arabicPeriod"/>
            </a:pPr>
            <a:r>
              <a:rPr lang="en-US" b="1" dirty="0"/>
              <a:t>Rare Events</a:t>
            </a:r>
            <a:r>
              <a:rPr lang="en-US" dirty="0"/>
              <a:t>: The events are relatively rare compared to the total possible occurrences.</a:t>
            </a:r>
          </a:p>
          <a:p>
            <a:pPr>
              <a:buFont typeface="+mj-lt"/>
              <a:buAutoNum type="arabicPeriod"/>
            </a:pPr>
            <a:r>
              <a:rPr lang="en-US" b="1" dirty="0"/>
              <a:t>Single Event per Instant</a:t>
            </a:r>
            <a:r>
              <a:rPr lang="en-US" dirty="0"/>
              <a:t>: Two events cannot occur simultaneously or in an infinitesimally small interval.</a:t>
            </a:r>
          </a:p>
        </p:txBody>
      </p:sp>
    </p:spTree>
    <p:extLst>
      <p:ext uri="{BB962C8B-B14F-4D97-AF65-F5344CB8AC3E}">
        <p14:creationId xmlns:p14="http://schemas.microsoft.com/office/powerpoint/2010/main" val="1712349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36985" y="671790"/>
            <a:ext cx="6096000" cy="1200329"/>
          </a:xfrm>
          <a:prstGeom prst="rect">
            <a:avLst/>
          </a:prstGeom>
        </p:spPr>
        <p:txBody>
          <a:bodyPr>
            <a:spAutoFit/>
          </a:bodyPr>
          <a:lstStyle/>
          <a:p>
            <a:r>
              <a:rPr lang="en-US" dirty="0"/>
              <a:t>On average, 3 traffic accidents per month occur at a certain intersection. What is the probability that in any given month at this intersection (a) exactly 5 accidents will occur? (b) fewer than 3 accidents will occur? (c) at least 2 accidents will occur?</a:t>
            </a:r>
          </a:p>
        </p:txBody>
      </p:sp>
      <p:pic>
        <p:nvPicPr>
          <p:cNvPr id="4" name="Picture 3"/>
          <p:cNvPicPr>
            <a:picLocks noChangeAspect="1"/>
          </p:cNvPicPr>
          <p:nvPr/>
        </p:nvPicPr>
        <p:blipFill>
          <a:blip r:embed="rId2"/>
          <a:stretch>
            <a:fillRect/>
          </a:stretch>
        </p:blipFill>
        <p:spPr>
          <a:xfrm>
            <a:off x="2836985" y="2461113"/>
            <a:ext cx="5086350" cy="1466850"/>
          </a:xfrm>
          <a:prstGeom prst="rect">
            <a:avLst/>
          </a:prstGeom>
        </p:spPr>
      </p:pic>
    </p:spTree>
    <p:extLst>
      <p:ext uri="{BB962C8B-B14F-4D97-AF65-F5344CB8AC3E}">
        <p14:creationId xmlns:p14="http://schemas.microsoft.com/office/powerpoint/2010/main" val="249459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19387" y="809625"/>
            <a:ext cx="6753225" cy="5238750"/>
          </a:xfrm>
          <a:prstGeom prst="rect">
            <a:avLst/>
          </a:prstGeom>
        </p:spPr>
      </p:pic>
    </p:spTree>
    <p:extLst>
      <p:ext uri="{BB962C8B-B14F-4D97-AF65-F5344CB8AC3E}">
        <p14:creationId xmlns:p14="http://schemas.microsoft.com/office/powerpoint/2010/main" val="1214654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51930" y="924658"/>
            <a:ext cx="6867525" cy="3390900"/>
          </a:xfrm>
          <a:prstGeom prst="rect">
            <a:avLst/>
          </a:prstGeom>
        </p:spPr>
      </p:pic>
    </p:spTree>
    <p:extLst>
      <p:ext uri="{BB962C8B-B14F-4D97-AF65-F5344CB8AC3E}">
        <p14:creationId xmlns:p14="http://schemas.microsoft.com/office/powerpoint/2010/main" val="1720583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66179" y="370742"/>
            <a:ext cx="7212990" cy="3790949"/>
          </a:xfrm>
          <a:prstGeom prst="rect">
            <a:avLst/>
          </a:prstGeom>
        </p:spPr>
      </p:pic>
    </p:spTree>
    <p:extLst>
      <p:ext uri="{BB962C8B-B14F-4D97-AF65-F5344CB8AC3E}">
        <p14:creationId xmlns:p14="http://schemas.microsoft.com/office/powerpoint/2010/main" val="1373316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274838"/>
            <a:ext cx="6096000" cy="2308324"/>
          </a:xfrm>
          <a:prstGeom prst="rect">
            <a:avLst/>
          </a:prstGeom>
        </p:spPr>
        <p:txBody>
          <a:bodyPr>
            <a:spAutoFit/>
          </a:bodyPr>
          <a:lstStyle/>
          <a:p>
            <a:r>
              <a:rPr lang="en-US" b="0" i="0" dirty="0">
                <a:solidFill>
                  <a:srgbClr val="001D35"/>
                </a:solidFill>
                <a:effectLst/>
                <a:latin typeface="Google Sans"/>
              </a:rPr>
              <a:t>The negative binomial distribution is a generalization of the geometric distribution. Both distributions are related to the binomial distribution, but they differ in how the random variable is defined. The geometric distribution is used when trials are performed until the first success, while the negative binomial distribution is used when trials are performed until a specific number of successes are achieved. </a:t>
            </a:r>
            <a:endParaRPr lang="en-US" dirty="0"/>
          </a:p>
        </p:txBody>
      </p:sp>
    </p:spTree>
    <p:extLst>
      <p:ext uri="{BB962C8B-B14F-4D97-AF65-F5344CB8AC3E}">
        <p14:creationId xmlns:p14="http://schemas.microsoft.com/office/powerpoint/2010/main" val="842547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69756" y="124191"/>
            <a:ext cx="9582150" cy="1685925"/>
          </a:xfrm>
          <a:prstGeom prst="rect">
            <a:avLst/>
          </a:prstGeom>
        </p:spPr>
      </p:pic>
      <p:pic>
        <p:nvPicPr>
          <p:cNvPr id="3" name="Picture 2"/>
          <p:cNvPicPr>
            <a:picLocks noChangeAspect="1"/>
          </p:cNvPicPr>
          <p:nvPr/>
        </p:nvPicPr>
        <p:blipFill>
          <a:blip r:embed="rId3"/>
          <a:stretch>
            <a:fillRect/>
          </a:stretch>
        </p:blipFill>
        <p:spPr>
          <a:xfrm>
            <a:off x="1007818" y="2227750"/>
            <a:ext cx="10106025" cy="4371975"/>
          </a:xfrm>
          <a:prstGeom prst="rect">
            <a:avLst/>
          </a:prstGeom>
        </p:spPr>
      </p:pic>
    </p:spTree>
    <p:extLst>
      <p:ext uri="{BB962C8B-B14F-4D97-AF65-F5344CB8AC3E}">
        <p14:creationId xmlns:p14="http://schemas.microsoft.com/office/powerpoint/2010/main" val="2212178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60305" y="1036759"/>
            <a:ext cx="6877050" cy="1619250"/>
          </a:xfrm>
          <a:prstGeom prst="rect">
            <a:avLst/>
          </a:prstGeom>
        </p:spPr>
      </p:pic>
    </p:spTree>
    <p:extLst>
      <p:ext uri="{BB962C8B-B14F-4D97-AF65-F5344CB8AC3E}">
        <p14:creationId xmlns:p14="http://schemas.microsoft.com/office/powerpoint/2010/main" val="2220114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76021" y="512885"/>
            <a:ext cx="8172450" cy="1447800"/>
          </a:xfrm>
          <a:prstGeom prst="rect">
            <a:avLst/>
          </a:prstGeom>
        </p:spPr>
      </p:pic>
      <p:pic>
        <p:nvPicPr>
          <p:cNvPr id="3" name="Picture 2"/>
          <p:cNvPicPr>
            <a:picLocks noChangeAspect="1"/>
          </p:cNvPicPr>
          <p:nvPr/>
        </p:nvPicPr>
        <p:blipFill>
          <a:blip r:embed="rId3"/>
          <a:stretch>
            <a:fillRect/>
          </a:stretch>
        </p:blipFill>
        <p:spPr>
          <a:xfrm>
            <a:off x="1162050" y="2609850"/>
            <a:ext cx="9867900" cy="1638300"/>
          </a:xfrm>
          <a:prstGeom prst="rect">
            <a:avLst/>
          </a:prstGeom>
        </p:spPr>
      </p:pic>
    </p:spTree>
    <p:extLst>
      <p:ext uri="{BB962C8B-B14F-4D97-AF65-F5344CB8AC3E}">
        <p14:creationId xmlns:p14="http://schemas.microsoft.com/office/powerpoint/2010/main" val="832013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36014" y="1136771"/>
            <a:ext cx="9991725" cy="3248025"/>
          </a:xfrm>
          <a:prstGeom prst="rect">
            <a:avLst/>
          </a:prstGeom>
        </p:spPr>
      </p:pic>
      <p:pic>
        <p:nvPicPr>
          <p:cNvPr id="3" name="Picture 2"/>
          <p:cNvPicPr>
            <a:picLocks noChangeAspect="1"/>
          </p:cNvPicPr>
          <p:nvPr/>
        </p:nvPicPr>
        <p:blipFill>
          <a:blip r:embed="rId3"/>
          <a:stretch>
            <a:fillRect/>
          </a:stretch>
        </p:blipFill>
        <p:spPr>
          <a:xfrm>
            <a:off x="2416419" y="4775321"/>
            <a:ext cx="8343900" cy="1762125"/>
          </a:xfrm>
          <a:prstGeom prst="rect">
            <a:avLst/>
          </a:prstGeom>
        </p:spPr>
      </p:pic>
      <p:sp>
        <p:nvSpPr>
          <p:cNvPr id="5" name="TextBox 4">
            <a:extLst>
              <a:ext uri="{FF2B5EF4-FFF2-40B4-BE49-F238E27FC236}">
                <a16:creationId xmlns:a16="http://schemas.microsoft.com/office/drawing/2014/main" id="{68E1842B-08D2-3112-C733-9FDAB3C463C0}"/>
              </a:ext>
            </a:extLst>
          </p:cNvPr>
          <p:cNvSpPr txBox="1"/>
          <p:nvPr/>
        </p:nvSpPr>
        <p:spPr>
          <a:xfrm>
            <a:off x="4664319" y="4449532"/>
            <a:ext cx="6096000" cy="369332"/>
          </a:xfrm>
          <a:prstGeom prst="rect">
            <a:avLst/>
          </a:prstGeom>
          <a:noFill/>
        </p:spPr>
        <p:txBody>
          <a:bodyPr wrap="square">
            <a:spAutoFit/>
          </a:bodyPr>
          <a:lstStyle/>
          <a:p>
            <a:r>
              <a:rPr lang="nn-NO" b="0" i="0" dirty="0">
                <a:solidFill>
                  <a:srgbClr val="333333"/>
                </a:solidFill>
                <a:effectLst/>
                <a:latin typeface="Untitled Sans"/>
              </a:rPr>
              <a:t>P(X = x) = (1 - p)</a:t>
            </a:r>
            <a:r>
              <a:rPr lang="nn-NO" b="0" i="0" baseline="30000" dirty="0">
                <a:solidFill>
                  <a:srgbClr val="333333"/>
                </a:solidFill>
                <a:effectLst/>
                <a:latin typeface="Untitled Sans"/>
              </a:rPr>
              <a:t>x - 1</a:t>
            </a:r>
            <a:r>
              <a:rPr lang="nn-NO" b="0" i="0" dirty="0">
                <a:solidFill>
                  <a:srgbClr val="333333"/>
                </a:solidFill>
                <a:effectLst/>
                <a:latin typeface="Untitled Sans"/>
              </a:rPr>
              <a:t>p</a:t>
            </a:r>
            <a:endParaRPr lang="en-US" dirty="0"/>
          </a:p>
        </p:txBody>
      </p:sp>
    </p:spTree>
    <p:extLst>
      <p:ext uri="{BB962C8B-B14F-4D97-AF65-F5344CB8AC3E}">
        <p14:creationId xmlns:p14="http://schemas.microsoft.com/office/powerpoint/2010/main" val="1002366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117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6454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0321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266</Words>
  <Application>Microsoft Office PowerPoint</Application>
  <PresentationFormat>Widescreen</PresentationFormat>
  <Paragraphs>10</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Google Sans</vt:lpstr>
      <vt:lpstr>Untitled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student</cp:lastModifiedBy>
  <cp:revision>10</cp:revision>
  <dcterms:created xsi:type="dcterms:W3CDTF">2025-01-13T09:20:44Z</dcterms:created>
  <dcterms:modified xsi:type="dcterms:W3CDTF">2025-01-14T05:26:15Z</dcterms:modified>
</cp:coreProperties>
</file>