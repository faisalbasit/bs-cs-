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 id="273"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54" y="5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9B98F9-3DE3-448C-B593-AA9BA4258C1A}"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3802163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9B98F9-3DE3-448C-B593-AA9BA4258C1A}"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1702548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9B98F9-3DE3-448C-B593-AA9BA4258C1A}"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3221399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9B98F9-3DE3-448C-B593-AA9BA4258C1A}"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2418569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9B98F9-3DE3-448C-B593-AA9BA4258C1A}" type="datetimeFigureOut">
              <a:rPr lang="en-US" smtClean="0"/>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2262654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9B98F9-3DE3-448C-B593-AA9BA4258C1A}" type="datetimeFigureOut">
              <a:rPr lang="en-US" smtClean="0"/>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2602462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9B98F9-3DE3-448C-B593-AA9BA4258C1A}" type="datetimeFigureOut">
              <a:rPr lang="en-US" smtClean="0"/>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1112352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9B98F9-3DE3-448C-B593-AA9BA4258C1A}"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485838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9B98F9-3DE3-448C-B593-AA9BA4258C1A}"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3074155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9B98F9-3DE3-448C-B593-AA9BA4258C1A}"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3329404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9B98F9-3DE3-448C-B593-AA9BA4258C1A}"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77B32-8FDD-4949-8E87-A9AC1A0F9C9B}" type="slidenum">
              <a:rPr lang="en-US" smtClean="0"/>
              <a:t>‹#›</a:t>
            </a:fld>
            <a:endParaRPr lang="en-US"/>
          </a:p>
        </p:txBody>
      </p:sp>
    </p:spTree>
    <p:extLst>
      <p:ext uri="{BB962C8B-B14F-4D97-AF65-F5344CB8AC3E}">
        <p14:creationId xmlns:p14="http://schemas.microsoft.com/office/powerpoint/2010/main" val="671858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9B98F9-3DE3-448C-B593-AA9BA4258C1A}" type="datetimeFigureOut">
              <a:rPr lang="en-US" smtClean="0"/>
              <a:t>11/18/2024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477B32-8FDD-4949-8E87-A9AC1A0F9C9B}" type="slidenum">
              <a:rPr lang="en-US" smtClean="0"/>
              <a:t>‹#›</a:t>
            </a:fld>
            <a:endParaRPr lang="en-US"/>
          </a:p>
        </p:txBody>
      </p:sp>
    </p:spTree>
    <p:extLst>
      <p:ext uri="{BB962C8B-B14F-4D97-AF65-F5344CB8AC3E}">
        <p14:creationId xmlns:p14="http://schemas.microsoft.com/office/powerpoint/2010/main" val="3026716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93183" y="495146"/>
            <a:ext cx="3486150" cy="5248275"/>
          </a:xfrm>
          <a:prstGeom prst="rect">
            <a:avLst/>
          </a:prstGeom>
        </p:spPr>
      </p:pic>
      <p:pic>
        <p:nvPicPr>
          <p:cNvPr id="4" name="Picture 3"/>
          <p:cNvPicPr>
            <a:picLocks noChangeAspect="1"/>
          </p:cNvPicPr>
          <p:nvPr/>
        </p:nvPicPr>
        <p:blipFill>
          <a:blip r:embed="rId3"/>
          <a:stretch>
            <a:fillRect/>
          </a:stretch>
        </p:blipFill>
        <p:spPr>
          <a:xfrm>
            <a:off x="5479333" y="707924"/>
            <a:ext cx="6210300" cy="5035498"/>
          </a:xfrm>
          <a:prstGeom prst="rect">
            <a:avLst/>
          </a:prstGeom>
        </p:spPr>
      </p:pic>
    </p:spTree>
    <p:extLst>
      <p:ext uri="{BB962C8B-B14F-4D97-AF65-F5344CB8AC3E}">
        <p14:creationId xmlns:p14="http://schemas.microsoft.com/office/powerpoint/2010/main" val="2743043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7358" y="1507715"/>
            <a:ext cx="3429000" cy="3105150"/>
          </a:xfrm>
          <a:prstGeom prst="rect">
            <a:avLst/>
          </a:prstGeom>
        </p:spPr>
      </p:pic>
      <p:pic>
        <p:nvPicPr>
          <p:cNvPr id="3" name="Picture 2"/>
          <p:cNvPicPr>
            <a:picLocks noChangeAspect="1"/>
          </p:cNvPicPr>
          <p:nvPr/>
        </p:nvPicPr>
        <p:blipFill>
          <a:blip r:embed="rId3"/>
          <a:stretch>
            <a:fillRect/>
          </a:stretch>
        </p:blipFill>
        <p:spPr>
          <a:xfrm>
            <a:off x="4424518" y="998127"/>
            <a:ext cx="2802192" cy="5564905"/>
          </a:xfrm>
          <a:prstGeom prst="rect">
            <a:avLst/>
          </a:prstGeom>
        </p:spPr>
      </p:pic>
      <p:pic>
        <p:nvPicPr>
          <p:cNvPr id="4" name="Picture 3"/>
          <p:cNvPicPr>
            <a:picLocks noChangeAspect="1"/>
          </p:cNvPicPr>
          <p:nvPr/>
        </p:nvPicPr>
        <p:blipFill>
          <a:blip r:embed="rId4"/>
          <a:stretch>
            <a:fillRect/>
          </a:stretch>
        </p:blipFill>
        <p:spPr>
          <a:xfrm>
            <a:off x="7344698" y="1288179"/>
            <a:ext cx="3613354" cy="5053627"/>
          </a:xfrm>
          <a:prstGeom prst="rect">
            <a:avLst/>
          </a:prstGeom>
        </p:spPr>
      </p:pic>
    </p:spTree>
    <p:extLst>
      <p:ext uri="{BB962C8B-B14F-4D97-AF65-F5344CB8AC3E}">
        <p14:creationId xmlns:p14="http://schemas.microsoft.com/office/powerpoint/2010/main" val="48781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53494" y="43258"/>
            <a:ext cx="3141116" cy="646331"/>
          </a:xfrm>
          <a:prstGeom prst="rect">
            <a:avLst/>
          </a:prstGeom>
        </p:spPr>
        <p:txBody>
          <a:bodyPr wrap="none">
            <a:spAutoFit/>
          </a:bodyPr>
          <a:lstStyle/>
          <a:p>
            <a:r>
              <a:rPr lang="en-US" sz="3600" dirty="0" smtClean="0"/>
              <a:t>Dual-axis charts</a:t>
            </a:r>
            <a:endParaRPr lang="en-US" sz="3600" dirty="0"/>
          </a:p>
        </p:txBody>
      </p:sp>
      <p:sp>
        <p:nvSpPr>
          <p:cNvPr id="3" name="Rectangle 2"/>
          <p:cNvSpPr/>
          <p:nvPr/>
        </p:nvSpPr>
        <p:spPr>
          <a:xfrm>
            <a:off x="865239" y="1840694"/>
            <a:ext cx="9517626" cy="923330"/>
          </a:xfrm>
          <a:prstGeom prst="rect">
            <a:avLst/>
          </a:prstGeom>
        </p:spPr>
        <p:txBody>
          <a:bodyPr wrap="square">
            <a:spAutoFit/>
          </a:bodyPr>
          <a:lstStyle/>
          <a:p>
            <a:r>
              <a:rPr lang="en-US" dirty="0" smtClean="0"/>
              <a:t>Dual-axis charts are popular because they offer a way to compare two different sets of data that may have different units or scales on the same chart, making it easier to observe relationships, patterns, or correlations</a:t>
            </a:r>
            <a:endParaRPr lang="en-US" dirty="0"/>
          </a:p>
        </p:txBody>
      </p:sp>
      <p:sp>
        <p:nvSpPr>
          <p:cNvPr id="4" name="Rectangle 3"/>
          <p:cNvSpPr/>
          <p:nvPr/>
        </p:nvSpPr>
        <p:spPr>
          <a:xfrm>
            <a:off x="977272" y="3088543"/>
            <a:ext cx="9154869" cy="1754326"/>
          </a:xfrm>
          <a:prstGeom prst="rect">
            <a:avLst/>
          </a:prstGeom>
        </p:spPr>
        <p:txBody>
          <a:bodyPr wrap="square">
            <a:spAutoFit/>
          </a:bodyPr>
          <a:lstStyle/>
          <a:p>
            <a:r>
              <a:rPr lang="en-US" b="1" dirty="0" smtClean="0"/>
              <a:t> Applications</a:t>
            </a:r>
          </a:p>
          <a:p>
            <a:pPr>
              <a:buFont typeface="Arial" panose="020B0604020202020204" pitchFamily="34" charset="0"/>
              <a:buChar char="•"/>
            </a:pPr>
            <a:r>
              <a:rPr lang="en-US" b="1" dirty="0" smtClean="0"/>
              <a:t>Finance</a:t>
            </a:r>
            <a:r>
              <a:rPr lang="en-US" dirty="0" smtClean="0"/>
              <a:t>: Visualizing stock price against trading volume to show the relationship between price movements and market activity.</a:t>
            </a:r>
          </a:p>
          <a:p>
            <a:pPr>
              <a:buFont typeface="Arial" panose="020B0604020202020204" pitchFamily="34" charset="0"/>
              <a:buChar char="•"/>
            </a:pPr>
            <a:r>
              <a:rPr lang="en-US" b="1" dirty="0" smtClean="0"/>
              <a:t>Marketing</a:t>
            </a:r>
            <a:r>
              <a:rPr lang="en-US" dirty="0" smtClean="0"/>
              <a:t>: Comparing website traffic against conversion rates to see if traffic changes correlate with user engagement or sales.</a:t>
            </a:r>
          </a:p>
          <a:p>
            <a:pPr>
              <a:buFont typeface="Arial" panose="020B0604020202020204" pitchFamily="34" charset="0"/>
              <a:buChar char="•"/>
            </a:pPr>
            <a:r>
              <a:rPr lang="en-US" b="1" dirty="0" smtClean="0"/>
              <a:t>Operations</a:t>
            </a:r>
            <a:r>
              <a:rPr lang="en-US" dirty="0" smtClean="0"/>
              <a:t>: Monitoring production output against labor hours to assess productivity.</a:t>
            </a:r>
            <a:endParaRPr lang="en-US" dirty="0"/>
          </a:p>
        </p:txBody>
      </p:sp>
      <p:sp>
        <p:nvSpPr>
          <p:cNvPr id="5" name="Rectangle 4"/>
          <p:cNvSpPr/>
          <p:nvPr/>
        </p:nvSpPr>
        <p:spPr>
          <a:xfrm>
            <a:off x="1005494" y="641894"/>
            <a:ext cx="8285990" cy="923330"/>
          </a:xfrm>
          <a:prstGeom prst="rect">
            <a:avLst/>
          </a:prstGeom>
        </p:spPr>
        <p:txBody>
          <a:bodyPr wrap="square">
            <a:spAutoFit/>
          </a:bodyPr>
          <a:lstStyle/>
          <a:p>
            <a:r>
              <a:rPr lang="en-US" dirty="0" smtClean="0"/>
              <a:t>A dual-axis chart is a type of data visualization that displays two sets of data on the same chart but uses two different y-axes for each dataset. This is particularly useful when comparing two data series with different units or scales.</a:t>
            </a:r>
            <a:endParaRPr lang="en-US" dirty="0"/>
          </a:p>
        </p:txBody>
      </p:sp>
    </p:spTree>
    <p:extLst>
      <p:ext uri="{BB962C8B-B14F-4D97-AF65-F5344CB8AC3E}">
        <p14:creationId xmlns:p14="http://schemas.microsoft.com/office/powerpoint/2010/main" val="1308494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42310" y="746945"/>
            <a:ext cx="8629650" cy="5010150"/>
          </a:xfrm>
          <a:prstGeom prst="rect">
            <a:avLst/>
          </a:prstGeom>
        </p:spPr>
      </p:pic>
    </p:spTree>
    <p:extLst>
      <p:ext uri="{BB962C8B-B14F-4D97-AF65-F5344CB8AC3E}">
        <p14:creationId xmlns:p14="http://schemas.microsoft.com/office/powerpoint/2010/main" val="2526550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2787" y="492826"/>
            <a:ext cx="11198942" cy="923330"/>
          </a:xfrm>
          <a:prstGeom prst="rect">
            <a:avLst/>
          </a:prstGeom>
        </p:spPr>
        <p:txBody>
          <a:bodyPr wrap="square">
            <a:spAutoFit/>
          </a:bodyPr>
          <a:lstStyle/>
          <a:p>
            <a:r>
              <a:rPr lang="en-US" dirty="0" smtClean="0"/>
              <a:t>A retail company wants to evaluate how its marketing expenditures influence product sales over a one-year period. The company has monthly data on total sales revenue and marketing spend. The challenge is that these two metrics have different units (dollars for sales and dollars for marketing).</a:t>
            </a:r>
            <a:endParaRPr lang="en-US" dirty="0"/>
          </a:p>
        </p:txBody>
      </p:sp>
      <p:sp>
        <p:nvSpPr>
          <p:cNvPr id="3" name="Rectangle 2"/>
          <p:cNvSpPr/>
          <p:nvPr/>
        </p:nvSpPr>
        <p:spPr>
          <a:xfrm>
            <a:off x="526025" y="3085322"/>
            <a:ext cx="8662219" cy="646331"/>
          </a:xfrm>
          <a:prstGeom prst="rect">
            <a:avLst/>
          </a:prstGeom>
        </p:spPr>
        <p:txBody>
          <a:bodyPr wrap="square">
            <a:spAutoFit/>
          </a:bodyPr>
          <a:lstStyle/>
          <a:p>
            <a:r>
              <a:rPr lang="en-US" b="1" dirty="0" smtClean="0"/>
              <a:t>Objective</a:t>
            </a:r>
            <a:r>
              <a:rPr lang="en-US" dirty="0" smtClean="0"/>
              <a:t>: Determine if there is a correlation between marketing spending and sales revenue and understand how changes in marketing budget affect sales.</a:t>
            </a:r>
            <a:endParaRPr lang="en-US" dirty="0"/>
          </a:p>
        </p:txBody>
      </p:sp>
    </p:spTree>
    <p:extLst>
      <p:ext uri="{BB962C8B-B14F-4D97-AF65-F5344CB8AC3E}">
        <p14:creationId xmlns:p14="http://schemas.microsoft.com/office/powerpoint/2010/main" val="331208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24112" y="995362"/>
            <a:ext cx="7343775" cy="4867275"/>
          </a:xfrm>
          <a:prstGeom prst="rect">
            <a:avLst/>
          </a:prstGeom>
        </p:spPr>
      </p:pic>
    </p:spTree>
    <p:extLst>
      <p:ext uri="{BB962C8B-B14F-4D97-AF65-F5344CB8AC3E}">
        <p14:creationId xmlns:p14="http://schemas.microsoft.com/office/powerpoint/2010/main" val="659378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2503" y="915443"/>
            <a:ext cx="8308258" cy="2585323"/>
          </a:xfrm>
          <a:prstGeom prst="rect">
            <a:avLst/>
          </a:prstGeom>
        </p:spPr>
        <p:txBody>
          <a:bodyPr wrap="square">
            <a:spAutoFit/>
          </a:bodyPr>
          <a:lstStyle/>
          <a:p>
            <a:r>
              <a:rPr lang="en-US" b="1" dirty="0" smtClean="0"/>
              <a:t>Approach</a:t>
            </a:r>
            <a:r>
              <a:rPr lang="en-US" dirty="0" smtClean="0"/>
              <a:t>:</a:t>
            </a:r>
          </a:p>
          <a:p>
            <a:pPr>
              <a:buFont typeface="+mj-lt"/>
              <a:buAutoNum type="arabicPeriod"/>
            </a:pPr>
            <a:r>
              <a:rPr lang="en-US" b="1" dirty="0" smtClean="0"/>
              <a:t>Dual-Axis Chart</a:t>
            </a:r>
            <a:r>
              <a:rPr lang="en-US" dirty="0" smtClean="0"/>
              <a:t>: Plot the sales revenue on the left y-axis and the marketing spend on the right y-axis, with both datasets sharing the same x-axis representing the months.</a:t>
            </a:r>
          </a:p>
          <a:p>
            <a:pPr>
              <a:buFont typeface="+mj-lt"/>
              <a:buAutoNum type="arabicPeriod"/>
            </a:pPr>
            <a:r>
              <a:rPr lang="en-US" b="1" dirty="0" smtClean="0"/>
              <a:t>Visualization Details</a:t>
            </a:r>
            <a:r>
              <a:rPr lang="en-US" dirty="0" smtClean="0"/>
              <a:t>:</a:t>
            </a:r>
          </a:p>
          <a:p>
            <a:pPr marL="742950" lvl="1" indent="-285750">
              <a:buFont typeface="+mj-lt"/>
              <a:buAutoNum type="arabicPeriod"/>
            </a:pPr>
            <a:r>
              <a:rPr lang="en-US" b="1" dirty="0" smtClean="0"/>
              <a:t>Primary Y-axis (left)</a:t>
            </a:r>
            <a:r>
              <a:rPr lang="en-US" dirty="0" smtClean="0"/>
              <a:t>: Total sales revenue.</a:t>
            </a:r>
          </a:p>
          <a:p>
            <a:pPr marL="742950" lvl="1" indent="-285750">
              <a:buFont typeface="+mj-lt"/>
              <a:buAutoNum type="arabicPeriod"/>
            </a:pPr>
            <a:r>
              <a:rPr lang="en-US" b="1" dirty="0" smtClean="0"/>
              <a:t>Secondary Y-axis (right)</a:t>
            </a:r>
            <a:r>
              <a:rPr lang="en-US" dirty="0" smtClean="0"/>
              <a:t>: Marketing spend.</a:t>
            </a:r>
          </a:p>
          <a:p>
            <a:pPr marL="742950" lvl="1" indent="-285750">
              <a:buFont typeface="+mj-lt"/>
              <a:buAutoNum type="arabicPeriod"/>
            </a:pPr>
            <a:r>
              <a:rPr lang="en-US" b="1" dirty="0" smtClean="0"/>
              <a:t>X-axis</a:t>
            </a:r>
            <a:r>
              <a:rPr lang="en-US" dirty="0" smtClean="0"/>
              <a:t>: Months of the year.</a:t>
            </a:r>
          </a:p>
          <a:p>
            <a:pPr marL="742950" lvl="1" indent="-285750">
              <a:buFont typeface="+mj-lt"/>
              <a:buAutoNum type="arabicPeriod"/>
            </a:pPr>
            <a:r>
              <a:rPr lang="en-US" b="1" dirty="0" smtClean="0"/>
              <a:t>Series Representation</a:t>
            </a:r>
            <a:r>
              <a:rPr lang="en-US" dirty="0" smtClean="0"/>
              <a:t>: Sales revenue can be shown as a line chart (e.g., green line), and marketing spend as another line or bar chart (e.g., blue line).</a:t>
            </a:r>
            <a:endParaRPr lang="en-US" dirty="0"/>
          </a:p>
        </p:txBody>
      </p:sp>
    </p:spTree>
    <p:extLst>
      <p:ext uri="{BB962C8B-B14F-4D97-AF65-F5344CB8AC3E}">
        <p14:creationId xmlns:p14="http://schemas.microsoft.com/office/powerpoint/2010/main" val="288429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14475" y="593622"/>
            <a:ext cx="7334250" cy="4343400"/>
          </a:xfrm>
          <a:prstGeom prst="rect">
            <a:avLst/>
          </a:prstGeom>
        </p:spPr>
      </p:pic>
    </p:spTree>
    <p:extLst>
      <p:ext uri="{BB962C8B-B14F-4D97-AF65-F5344CB8AC3E}">
        <p14:creationId xmlns:p14="http://schemas.microsoft.com/office/powerpoint/2010/main" val="3655404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0" y="1321958"/>
            <a:ext cx="8691716" cy="1477328"/>
          </a:xfrm>
          <a:prstGeom prst="rect">
            <a:avLst/>
          </a:prstGeom>
        </p:spPr>
        <p:txBody>
          <a:bodyPr wrap="square">
            <a:spAutoFit/>
          </a:bodyPr>
          <a:lstStyle/>
          <a:p>
            <a:r>
              <a:rPr lang="en-US" dirty="0" smtClean="0"/>
              <a:t>The dual-axis chart shows a positive relationship between marketing spend and sales revenue, with both peaking in November and December. This suggests that increased marketing investments are correlated with higher sales, especially during the holiday season. This insight can guide better budget planning and targeted marketing strategies for maximizing revenue.</a:t>
            </a:r>
            <a:endParaRPr lang="en-US" dirty="0"/>
          </a:p>
        </p:txBody>
      </p:sp>
    </p:spTree>
    <p:extLst>
      <p:ext uri="{BB962C8B-B14F-4D97-AF65-F5344CB8AC3E}">
        <p14:creationId xmlns:p14="http://schemas.microsoft.com/office/powerpoint/2010/main" val="3355649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5458" y="846787"/>
            <a:ext cx="7998542" cy="923330"/>
          </a:xfrm>
          <a:prstGeom prst="rect">
            <a:avLst/>
          </a:prstGeom>
        </p:spPr>
        <p:txBody>
          <a:bodyPr wrap="square">
            <a:spAutoFit/>
          </a:bodyPr>
          <a:lstStyle/>
          <a:p>
            <a:r>
              <a:rPr lang="en-US" dirty="0" smtClean="0"/>
              <a:t>Pie charts are used in data science to visually represent the proportion of different categories within a dataset. While they are popular for showing simple composition, modern data science practices often use them selectively due to their limitations. </a:t>
            </a:r>
            <a:endParaRPr lang="en-US" dirty="0"/>
          </a:p>
        </p:txBody>
      </p:sp>
    </p:spTree>
    <p:extLst>
      <p:ext uri="{BB962C8B-B14F-4D97-AF65-F5344CB8AC3E}">
        <p14:creationId xmlns:p14="http://schemas.microsoft.com/office/powerpoint/2010/main" val="4265674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8770" y="789021"/>
            <a:ext cx="6096000" cy="1200329"/>
          </a:xfrm>
          <a:prstGeom prst="rect">
            <a:avLst/>
          </a:prstGeom>
        </p:spPr>
        <p:txBody>
          <a:bodyPr>
            <a:spAutoFit/>
          </a:bodyPr>
          <a:lstStyle/>
          <a:p>
            <a:r>
              <a:rPr lang="en-US" dirty="0">
                <a:solidFill>
                  <a:srgbClr val="525252"/>
                </a:solidFill>
                <a:latin typeface="Poppins"/>
              </a:rPr>
              <a:t>Pie charts are used to represent the proportional data or relative data in a single chart. The concept of pie slices is used to show the percentage of a particular data from the whole pie.</a:t>
            </a:r>
            <a:endParaRPr lang="en-US" dirty="0"/>
          </a:p>
        </p:txBody>
      </p:sp>
      <p:sp>
        <p:nvSpPr>
          <p:cNvPr id="3" name="Rectangle 2"/>
          <p:cNvSpPr/>
          <p:nvPr/>
        </p:nvSpPr>
        <p:spPr>
          <a:xfrm>
            <a:off x="2028092" y="2697704"/>
            <a:ext cx="6096000" cy="2031325"/>
          </a:xfrm>
          <a:prstGeom prst="rect">
            <a:avLst/>
          </a:prstGeom>
        </p:spPr>
        <p:txBody>
          <a:bodyPr>
            <a:spAutoFit/>
          </a:bodyPr>
          <a:lstStyle/>
          <a:p>
            <a:r>
              <a:rPr lang="en-US" dirty="0">
                <a:solidFill>
                  <a:srgbClr val="525252"/>
                </a:solidFill>
                <a:latin typeface="Poppins"/>
              </a:rPr>
              <a:t>Measure the angle of each slice of the pie chart and divide by 360 degrees. </a:t>
            </a:r>
            <a:endParaRPr lang="en-US" dirty="0" smtClean="0">
              <a:solidFill>
                <a:srgbClr val="525252"/>
              </a:solidFill>
              <a:latin typeface="Poppins"/>
            </a:endParaRPr>
          </a:p>
          <a:p>
            <a:endParaRPr lang="en-US" dirty="0">
              <a:solidFill>
                <a:srgbClr val="525252"/>
              </a:solidFill>
              <a:latin typeface="Poppins"/>
            </a:endParaRPr>
          </a:p>
          <a:p>
            <a:r>
              <a:rPr lang="en-US" b="1" dirty="0"/>
              <a:t>(Given Data/Total value of Data) × 360°</a:t>
            </a:r>
            <a:endParaRPr lang="en-US" dirty="0" smtClean="0">
              <a:solidFill>
                <a:srgbClr val="525252"/>
              </a:solidFill>
              <a:latin typeface="Poppins"/>
            </a:endParaRPr>
          </a:p>
          <a:p>
            <a:endParaRPr lang="en-US" dirty="0">
              <a:solidFill>
                <a:srgbClr val="525252"/>
              </a:solidFill>
              <a:latin typeface="Poppins"/>
            </a:endParaRPr>
          </a:p>
          <a:p>
            <a:r>
              <a:rPr lang="en-US" dirty="0" smtClean="0">
                <a:solidFill>
                  <a:srgbClr val="525252"/>
                </a:solidFill>
                <a:latin typeface="Poppins"/>
              </a:rPr>
              <a:t>Now </a:t>
            </a:r>
            <a:r>
              <a:rPr lang="en-US" dirty="0">
                <a:solidFill>
                  <a:srgbClr val="525252"/>
                </a:solidFill>
                <a:latin typeface="Poppins"/>
              </a:rPr>
              <a:t>multiply the value by 100. The percentage of particular data will be calculated.</a:t>
            </a:r>
            <a:endParaRPr lang="en-US" dirty="0"/>
          </a:p>
        </p:txBody>
      </p:sp>
    </p:spTree>
    <p:extLst>
      <p:ext uri="{BB962C8B-B14F-4D97-AF65-F5344CB8AC3E}">
        <p14:creationId xmlns:p14="http://schemas.microsoft.com/office/powerpoint/2010/main" val="1805875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44831" y="0"/>
            <a:ext cx="6924675" cy="1085850"/>
          </a:xfrm>
          <a:prstGeom prst="rect">
            <a:avLst/>
          </a:prstGeom>
        </p:spPr>
      </p:pic>
      <p:pic>
        <p:nvPicPr>
          <p:cNvPr id="3" name="Picture 2"/>
          <p:cNvPicPr>
            <a:picLocks noChangeAspect="1"/>
          </p:cNvPicPr>
          <p:nvPr/>
        </p:nvPicPr>
        <p:blipFill>
          <a:blip r:embed="rId3"/>
          <a:stretch>
            <a:fillRect/>
          </a:stretch>
        </p:blipFill>
        <p:spPr>
          <a:xfrm>
            <a:off x="1230555" y="1386620"/>
            <a:ext cx="6753225" cy="1552575"/>
          </a:xfrm>
          <a:prstGeom prst="rect">
            <a:avLst/>
          </a:prstGeom>
        </p:spPr>
      </p:pic>
      <p:pic>
        <p:nvPicPr>
          <p:cNvPr id="4" name="Picture 3"/>
          <p:cNvPicPr>
            <a:picLocks noChangeAspect="1"/>
          </p:cNvPicPr>
          <p:nvPr/>
        </p:nvPicPr>
        <p:blipFill>
          <a:blip r:embed="rId4"/>
          <a:stretch>
            <a:fillRect/>
          </a:stretch>
        </p:blipFill>
        <p:spPr>
          <a:xfrm>
            <a:off x="2156679" y="3429000"/>
            <a:ext cx="5229225" cy="3429000"/>
          </a:xfrm>
          <a:prstGeom prst="rect">
            <a:avLst/>
          </a:prstGeom>
        </p:spPr>
      </p:pic>
    </p:spTree>
    <p:extLst>
      <p:ext uri="{BB962C8B-B14F-4D97-AF65-F5344CB8AC3E}">
        <p14:creationId xmlns:p14="http://schemas.microsoft.com/office/powerpoint/2010/main" val="3773493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7049" y="-85019"/>
            <a:ext cx="5575501" cy="369332"/>
          </a:xfrm>
          <a:prstGeom prst="rect">
            <a:avLst/>
          </a:prstGeom>
        </p:spPr>
        <p:txBody>
          <a:bodyPr wrap="none">
            <a:spAutoFit/>
          </a:bodyPr>
          <a:lstStyle/>
          <a:p>
            <a:r>
              <a:rPr lang="en-US" dirty="0"/>
              <a:t>histogram is used to visualize the distribution of a dataset</a:t>
            </a:r>
          </a:p>
        </p:txBody>
      </p:sp>
      <p:sp>
        <p:nvSpPr>
          <p:cNvPr id="3" name="Rectangle 2"/>
          <p:cNvSpPr/>
          <p:nvPr/>
        </p:nvSpPr>
        <p:spPr>
          <a:xfrm>
            <a:off x="1418493" y="822011"/>
            <a:ext cx="6096000" cy="923330"/>
          </a:xfrm>
          <a:prstGeom prst="rect">
            <a:avLst/>
          </a:prstGeom>
        </p:spPr>
        <p:txBody>
          <a:bodyPr>
            <a:spAutoFit/>
          </a:bodyPr>
          <a:lstStyle/>
          <a:p>
            <a:r>
              <a:rPr lang="en-US" b="1" dirty="0"/>
              <a:t>Identifying </a:t>
            </a:r>
            <a:r>
              <a:rPr lang="en-US" b="1" dirty="0" err="1"/>
              <a:t>Skewness</a:t>
            </a:r>
            <a:r>
              <a:rPr lang="en-US" dirty="0"/>
              <a:t>: Histograms can reveal whether data is skewed to the left or right, indicating if most of the data points are concentrated on one side of the distribution.</a:t>
            </a:r>
          </a:p>
        </p:txBody>
      </p:sp>
    </p:spTree>
    <p:extLst>
      <p:ext uri="{BB962C8B-B14F-4D97-AF65-F5344CB8AC3E}">
        <p14:creationId xmlns:p14="http://schemas.microsoft.com/office/powerpoint/2010/main" val="2850345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86329" y="106973"/>
            <a:ext cx="5429250" cy="2095500"/>
          </a:xfrm>
          <a:prstGeom prst="rect">
            <a:avLst/>
          </a:prstGeom>
        </p:spPr>
      </p:pic>
      <p:pic>
        <p:nvPicPr>
          <p:cNvPr id="3" name="Picture 2"/>
          <p:cNvPicPr>
            <a:picLocks noChangeAspect="1"/>
          </p:cNvPicPr>
          <p:nvPr/>
        </p:nvPicPr>
        <p:blipFill>
          <a:blip r:embed="rId3"/>
          <a:stretch>
            <a:fillRect/>
          </a:stretch>
        </p:blipFill>
        <p:spPr>
          <a:xfrm>
            <a:off x="1986329" y="2820499"/>
            <a:ext cx="5324475" cy="3209925"/>
          </a:xfrm>
          <a:prstGeom prst="rect">
            <a:avLst/>
          </a:prstGeom>
        </p:spPr>
      </p:pic>
    </p:spTree>
    <p:extLst>
      <p:ext uri="{BB962C8B-B14F-4D97-AF65-F5344CB8AC3E}">
        <p14:creationId xmlns:p14="http://schemas.microsoft.com/office/powerpoint/2010/main" val="1468788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28750" y="712910"/>
            <a:ext cx="6591300" cy="742950"/>
          </a:xfrm>
          <a:prstGeom prst="rect">
            <a:avLst/>
          </a:prstGeom>
        </p:spPr>
      </p:pic>
      <p:pic>
        <p:nvPicPr>
          <p:cNvPr id="3" name="Picture 2"/>
          <p:cNvPicPr>
            <a:picLocks noChangeAspect="1"/>
          </p:cNvPicPr>
          <p:nvPr/>
        </p:nvPicPr>
        <p:blipFill>
          <a:blip r:embed="rId3"/>
          <a:stretch>
            <a:fillRect/>
          </a:stretch>
        </p:blipFill>
        <p:spPr>
          <a:xfrm>
            <a:off x="1390650" y="2372091"/>
            <a:ext cx="6667500" cy="1152525"/>
          </a:xfrm>
          <a:prstGeom prst="rect">
            <a:avLst/>
          </a:prstGeom>
        </p:spPr>
      </p:pic>
      <p:pic>
        <p:nvPicPr>
          <p:cNvPr id="4" name="Picture 3"/>
          <p:cNvPicPr>
            <a:picLocks noChangeAspect="1"/>
          </p:cNvPicPr>
          <p:nvPr/>
        </p:nvPicPr>
        <p:blipFill>
          <a:blip r:embed="rId4"/>
          <a:stretch>
            <a:fillRect/>
          </a:stretch>
        </p:blipFill>
        <p:spPr>
          <a:xfrm>
            <a:off x="1648924" y="4026144"/>
            <a:ext cx="6619875" cy="1619250"/>
          </a:xfrm>
          <a:prstGeom prst="rect">
            <a:avLst/>
          </a:prstGeom>
        </p:spPr>
      </p:pic>
    </p:spTree>
    <p:extLst>
      <p:ext uri="{BB962C8B-B14F-4D97-AF65-F5344CB8AC3E}">
        <p14:creationId xmlns:p14="http://schemas.microsoft.com/office/powerpoint/2010/main" val="1172304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6726" y="466358"/>
            <a:ext cx="6905625" cy="2314575"/>
          </a:xfrm>
          <a:prstGeom prst="rect">
            <a:avLst/>
          </a:prstGeom>
        </p:spPr>
      </p:pic>
      <p:pic>
        <p:nvPicPr>
          <p:cNvPr id="3" name="Picture 2"/>
          <p:cNvPicPr>
            <a:picLocks noChangeAspect="1"/>
          </p:cNvPicPr>
          <p:nvPr/>
        </p:nvPicPr>
        <p:blipFill>
          <a:blip r:embed="rId3"/>
          <a:stretch>
            <a:fillRect/>
          </a:stretch>
        </p:blipFill>
        <p:spPr>
          <a:xfrm>
            <a:off x="1862870" y="3762741"/>
            <a:ext cx="4410075" cy="2333625"/>
          </a:xfrm>
          <a:prstGeom prst="rect">
            <a:avLst/>
          </a:prstGeom>
        </p:spPr>
      </p:pic>
    </p:spTree>
    <p:extLst>
      <p:ext uri="{BB962C8B-B14F-4D97-AF65-F5344CB8AC3E}">
        <p14:creationId xmlns:p14="http://schemas.microsoft.com/office/powerpoint/2010/main" val="1840972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66646" y="1323927"/>
            <a:ext cx="6096000" cy="646331"/>
          </a:xfrm>
          <a:prstGeom prst="rect">
            <a:avLst/>
          </a:prstGeom>
        </p:spPr>
        <p:txBody>
          <a:bodyPr>
            <a:spAutoFit/>
          </a:bodyPr>
          <a:lstStyle/>
          <a:p>
            <a:r>
              <a:rPr lang="en-US" dirty="0" smtClean="0"/>
              <a:t>Doughnut </a:t>
            </a:r>
            <a:r>
              <a:rPr lang="en-US" dirty="0"/>
              <a:t>charts are used for visualizing data that represents parts of a whole</a:t>
            </a:r>
          </a:p>
        </p:txBody>
      </p:sp>
      <p:sp>
        <p:nvSpPr>
          <p:cNvPr id="4" name="Rectangle 3"/>
          <p:cNvSpPr/>
          <p:nvPr/>
        </p:nvSpPr>
        <p:spPr>
          <a:xfrm>
            <a:off x="2672861" y="2313021"/>
            <a:ext cx="6096000" cy="1200329"/>
          </a:xfrm>
          <a:prstGeom prst="rect">
            <a:avLst/>
          </a:prstGeom>
        </p:spPr>
        <p:txBody>
          <a:bodyPr>
            <a:spAutoFit/>
          </a:bodyPr>
          <a:lstStyle/>
          <a:p>
            <a:r>
              <a:rPr lang="en-US" b="1" dirty="0"/>
              <a:t>Clear Representation of Proportions</a:t>
            </a:r>
            <a:r>
              <a:rPr lang="en-US" dirty="0"/>
              <a:t>: Doughnut charts help show the proportion of categories in a dataset relative to the total. This is useful for quickly understanding the contribution of each category to the whole</a:t>
            </a:r>
          </a:p>
        </p:txBody>
      </p:sp>
      <p:sp>
        <p:nvSpPr>
          <p:cNvPr id="5" name="Rectangle 4"/>
          <p:cNvSpPr/>
          <p:nvPr/>
        </p:nvSpPr>
        <p:spPr>
          <a:xfrm>
            <a:off x="2766646" y="4069304"/>
            <a:ext cx="6096000" cy="923330"/>
          </a:xfrm>
          <a:prstGeom prst="rect">
            <a:avLst/>
          </a:prstGeom>
        </p:spPr>
        <p:txBody>
          <a:bodyPr>
            <a:spAutoFit/>
          </a:bodyPr>
          <a:lstStyle/>
          <a:p>
            <a:r>
              <a:rPr lang="en-US" b="1" dirty="0"/>
              <a:t>Data Comparison</a:t>
            </a:r>
            <a:r>
              <a:rPr lang="en-US" dirty="0"/>
              <a:t>: When comparing different segments of categorical data, a doughnut chart makes it easy to visualize which segments are larger or smaller and by how much.</a:t>
            </a:r>
          </a:p>
        </p:txBody>
      </p:sp>
    </p:spTree>
    <p:extLst>
      <p:ext uri="{BB962C8B-B14F-4D97-AF65-F5344CB8AC3E}">
        <p14:creationId xmlns:p14="http://schemas.microsoft.com/office/powerpoint/2010/main" val="1585138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1200" y="1312204"/>
            <a:ext cx="6096000" cy="646331"/>
          </a:xfrm>
          <a:prstGeom prst="rect">
            <a:avLst/>
          </a:prstGeom>
        </p:spPr>
        <p:txBody>
          <a:bodyPr>
            <a:spAutoFit/>
          </a:bodyPr>
          <a:lstStyle/>
          <a:p>
            <a:r>
              <a:rPr lang="en-US" dirty="0"/>
              <a:t>to calculate the percentage or proportion each segment contributes to the whole</a:t>
            </a:r>
          </a:p>
        </p:txBody>
      </p:sp>
      <p:pic>
        <p:nvPicPr>
          <p:cNvPr id="3" name="Picture 2"/>
          <p:cNvPicPr>
            <a:picLocks noChangeAspect="1"/>
          </p:cNvPicPr>
          <p:nvPr/>
        </p:nvPicPr>
        <p:blipFill>
          <a:blip r:embed="rId2"/>
          <a:stretch>
            <a:fillRect/>
          </a:stretch>
        </p:blipFill>
        <p:spPr>
          <a:xfrm>
            <a:off x="1834295" y="2164373"/>
            <a:ext cx="7210425" cy="4381500"/>
          </a:xfrm>
          <a:prstGeom prst="rect">
            <a:avLst/>
          </a:prstGeom>
        </p:spPr>
      </p:pic>
    </p:spTree>
    <p:extLst>
      <p:ext uri="{BB962C8B-B14F-4D97-AF65-F5344CB8AC3E}">
        <p14:creationId xmlns:p14="http://schemas.microsoft.com/office/powerpoint/2010/main" val="285697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05050" y="490537"/>
            <a:ext cx="7581900" cy="5876925"/>
          </a:xfrm>
          <a:prstGeom prst="rect">
            <a:avLst/>
          </a:prstGeom>
        </p:spPr>
      </p:pic>
    </p:spTree>
    <p:extLst>
      <p:ext uri="{BB962C8B-B14F-4D97-AF65-F5344CB8AC3E}">
        <p14:creationId xmlns:p14="http://schemas.microsoft.com/office/powerpoint/2010/main" val="1058497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7676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611</Words>
  <Application>Microsoft Office PowerPoint</Application>
  <PresentationFormat>Widescreen</PresentationFormat>
  <Paragraphs>30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abc</cp:lastModifiedBy>
  <cp:revision>18</cp:revision>
  <dcterms:created xsi:type="dcterms:W3CDTF">2024-11-14T07:19:52Z</dcterms:created>
  <dcterms:modified xsi:type="dcterms:W3CDTF">2024-11-18T09:31:49Z</dcterms:modified>
</cp:coreProperties>
</file>