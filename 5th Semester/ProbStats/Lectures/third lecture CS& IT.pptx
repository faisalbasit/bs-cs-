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F83B957-2899-46D0-BE3F-ECEB1127D8C7}"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4262356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83B957-2899-46D0-BE3F-ECEB1127D8C7}"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284011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F83B957-2899-46D0-BE3F-ECEB1127D8C7}"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1760019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F83B957-2899-46D0-BE3F-ECEB1127D8C7}" type="datetimeFigureOut">
              <a:rPr lang="en-US" smtClean="0"/>
              <a:t>10/26/2024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148029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F83B957-2899-46D0-BE3F-ECEB1127D8C7}" type="datetimeFigureOut">
              <a:rPr lang="en-US" smtClean="0"/>
              <a:t>10/26/2024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2182875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F83B957-2899-46D0-BE3F-ECEB1127D8C7}" type="datetimeFigureOut">
              <a:rPr lang="en-US" smtClean="0"/>
              <a:t>10/26/2024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3963562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83B957-2899-46D0-BE3F-ECEB1127D8C7}" type="datetimeFigureOut">
              <a:rPr lang="en-US" smtClean="0"/>
              <a:t>10/26/2024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2352646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F83B957-2899-46D0-BE3F-ECEB1127D8C7}" type="datetimeFigureOut">
              <a:rPr lang="en-US" smtClean="0"/>
              <a:t>10/26/2024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1591350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F83B957-2899-46D0-BE3F-ECEB1127D8C7}" type="datetimeFigureOut">
              <a:rPr lang="en-US" smtClean="0"/>
              <a:t>10/26/2024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4203441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83B957-2899-46D0-BE3F-ECEB1127D8C7}"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41087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83B957-2899-46D0-BE3F-ECEB1127D8C7}" type="datetimeFigureOut">
              <a:rPr lang="en-US" smtClean="0"/>
              <a:t>10/26/2024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634E01-B1AF-4213-892B-FE4F4CD2576D}" type="slidenum">
              <a:rPr lang="en-US" smtClean="0"/>
              <a:t>‹#›</a:t>
            </a:fld>
            <a:endParaRPr lang="en-US"/>
          </a:p>
        </p:txBody>
      </p:sp>
    </p:spTree>
    <p:extLst>
      <p:ext uri="{BB962C8B-B14F-4D97-AF65-F5344CB8AC3E}">
        <p14:creationId xmlns:p14="http://schemas.microsoft.com/office/powerpoint/2010/main" val="1493348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83B957-2899-46D0-BE3F-ECEB1127D8C7}" type="datetimeFigureOut">
              <a:rPr lang="en-US" smtClean="0"/>
              <a:t>10/26/2024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634E01-B1AF-4213-892B-FE4F4CD2576D}" type="slidenum">
              <a:rPr lang="en-US" smtClean="0"/>
              <a:t>‹#›</a:t>
            </a:fld>
            <a:endParaRPr lang="en-US"/>
          </a:p>
        </p:txBody>
      </p:sp>
    </p:spTree>
    <p:extLst>
      <p:ext uri="{BB962C8B-B14F-4D97-AF65-F5344CB8AC3E}">
        <p14:creationId xmlns:p14="http://schemas.microsoft.com/office/powerpoint/2010/main" val="16357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DESCRIPTIVE </a:t>
            </a:r>
            <a:r>
              <a:rPr lang="en-US" b="1" dirty="0"/>
              <a:t>Statistics: </a:t>
            </a:r>
            <a:r>
              <a:rPr lang="en-US" dirty="0"/>
              <a:t/>
            </a:r>
            <a:br>
              <a:rPr lang="en-US" dirty="0"/>
            </a:br>
            <a:r>
              <a:rPr lang="en-US" dirty="0"/>
              <a:t>Measure of central tendency</a:t>
            </a:r>
            <a:br>
              <a:rPr lang="en-US" dirty="0"/>
            </a:br>
            <a:endParaRPr lang="en-US" dirty="0"/>
          </a:p>
        </p:txBody>
      </p:sp>
      <p:sp>
        <p:nvSpPr>
          <p:cNvPr id="3" name="Content Placeholder 2"/>
          <p:cNvSpPr>
            <a:spLocks noGrp="1"/>
          </p:cNvSpPr>
          <p:nvPr>
            <p:ph idx="1"/>
          </p:nvPr>
        </p:nvSpPr>
        <p:spPr/>
        <p:txBody>
          <a:bodyPr/>
          <a:lstStyle/>
          <a:p>
            <a:endParaRPr lang="en-US" dirty="0" smtClean="0"/>
          </a:p>
          <a:p>
            <a:endParaRPr lang="en-US" dirty="0"/>
          </a:p>
        </p:txBody>
      </p:sp>
      <p:sp>
        <p:nvSpPr>
          <p:cNvPr id="5" name="object 2"/>
          <p:cNvSpPr/>
          <p:nvPr/>
        </p:nvSpPr>
        <p:spPr>
          <a:xfrm>
            <a:off x="254000" y="1508760"/>
            <a:ext cx="11267440" cy="534924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485985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Measure of central tendency</a:t>
            </a:r>
            <a:endParaRPr lang="en-US" dirty="0"/>
          </a:p>
        </p:txBody>
      </p:sp>
      <p:sp>
        <p:nvSpPr>
          <p:cNvPr id="4" name="object 2"/>
          <p:cNvSpPr>
            <a:spLocks noGrp="1"/>
          </p:cNvSpPr>
          <p:nvPr>
            <p:ph idx="1"/>
          </p:nvPr>
        </p:nvSpPr>
        <p:spPr>
          <a:xfrm>
            <a:off x="726440" y="1947545"/>
            <a:ext cx="10515600" cy="4351338"/>
          </a:xfrm>
          <a:prstGeom prst="rect">
            <a:avLst/>
          </a:prstGeom>
          <a:blipFill>
            <a:blip r:embed="rId2" cstate="print"/>
            <a:stretch>
              <a:fillRect/>
            </a:stretch>
          </a:blipFill>
        </p:spPr>
        <p:txBody>
          <a:bodyPr wrap="square" lIns="0" tIns="0" rIns="0" bIns="0" rtlCol="0"/>
          <a:lstStyle/>
          <a:p>
            <a:endParaRPr lang="en-US"/>
          </a:p>
        </p:txBody>
      </p:sp>
    </p:spTree>
    <p:extLst>
      <p:ext uri="{BB962C8B-B14F-4D97-AF65-F5344CB8AC3E}">
        <p14:creationId xmlns:p14="http://schemas.microsoft.com/office/powerpoint/2010/main" val="1831922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a:spLocks noGrp="1"/>
          </p:cNvSpPr>
          <p:nvPr>
            <p:ph idx="1"/>
          </p:nvPr>
        </p:nvSpPr>
        <p:spPr>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81028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a:p>
        </p:txBody>
      </p:sp>
      <p:sp>
        <p:nvSpPr>
          <p:cNvPr id="4" name="object 2"/>
          <p:cNvSpPr/>
          <p:nvPr/>
        </p:nvSpPr>
        <p:spPr>
          <a:xfrm>
            <a:off x="838200" y="588263"/>
            <a:ext cx="11353800" cy="547116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62880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object 2"/>
          <p:cNvSpPr>
            <a:spLocks noGrp="1"/>
          </p:cNvSpPr>
          <p:nvPr>
            <p:ph idx="1"/>
          </p:nvPr>
        </p:nvSpPr>
        <p:spPr>
          <a:xfrm>
            <a:off x="838200" y="254000"/>
            <a:ext cx="10515600" cy="5922963"/>
          </a:xfrm>
          <a:prstGeom prst="rect">
            <a:avLst/>
          </a:prstGeom>
          <a:blipFill>
            <a:blip r:embed="rId2" cstate="print"/>
            <a:stretch>
              <a:fillRect/>
            </a:stretch>
          </a:blipFill>
        </p:spPr>
        <p:txBody>
          <a:bodyPr wrap="square" lIns="0" tIns="0" rIns="0" bIns="0" rtlCol="0"/>
          <a:lstStyle/>
          <a:p>
            <a:endParaRPr lang="en-US"/>
          </a:p>
        </p:txBody>
      </p:sp>
    </p:spTree>
    <p:extLst>
      <p:ext uri="{BB962C8B-B14F-4D97-AF65-F5344CB8AC3E}">
        <p14:creationId xmlns:p14="http://schemas.microsoft.com/office/powerpoint/2010/main" val="2699234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object 2"/>
          <p:cNvSpPr>
            <a:spLocks noGrp="1"/>
          </p:cNvSpPr>
          <p:nvPr>
            <p:ph idx="1"/>
          </p:nvPr>
        </p:nvSpPr>
        <p:spPr>
          <a:xfrm>
            <a:off x="838200" y="751840"/>
            <a:ext cx="10515600" cy="5425123"/>
          </a:xfrm>
          <a:prstGeom prst="rect">
            <a:avLst/>
          </a:prstGeom>
          <a:blipFill>
            <a:blip r:embed="rId2" cstate="print"/>
            <a:stretch>
              <a:fillRect/>
            </a:stretch>
          </a:blipFill>
        </p:spPr>
        <p:txBody>
          <a:bodyPr wrap="square" lIns="0" tIns="0" rIns="0" bIns="0" rtlCol="0"/>
          <a:lstStyle/>
          <a:p>
            <a:endParaRPr lang="en-US"/>
          </a:p>
        </p:txBody>
      </p:sp>
    </p:spTree>
    <p:extLst>
      <p:ext uri="{BB962C8B-B14F-4D97-AF65-F5344CB8AC3E}">
        <p14:creationId xmlns:p14="http://schemas.microsoft.com/office/powerpoint/2010/main" val="292213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object 2"/>
          <p:cNvSpPr/>
          <p:nvPr/>
        </p:nvSpPr>
        <p:spPr>
          <a:xfrm>
            <a:off x="1581911" y="640080"/>
            <a:ext cx="8790432" cy="528218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030756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a:spLocks noGrp="1"/>
          </p:cNvSpPr>
          <p:nvPr>
            <p:ph idx="1"/>
          </p:nvPr>
        </p:nvSpPr>
        <p:spPr>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492851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a:spLocks noGrp="1"/>
          </p:cNvSpPr>
          <p:nvPr>
            <p:ph idx="1"/>
          </p:nvPr>
        </p:nvSpPr>
        <p:spPr>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2152806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Scenario: Analyzing Test Scores in a School</a:t>
            </a:r>
            <a:br>
              <a:rPr lang="en-US" b="1" dirty="0" smtClean="0"/>
            </a:br>
            <a:endParaRPr lang="en-US" dirty="0"/>
          </a:p>
        </p:txBody>
      </p:sp>
      <p:sp>
        <p:nvSpPr>
          <p:cNvPr id="3" name="Content Placeholder 2"/>
          <p:cNvSpPr>
            <a:spLocks noGrp="1"/>
          </p:cNvSpPr>
          <p:nvPr>
            <p:ph idx="1"/>
          </p:nvPr>
        </p:nvSpPr>
        <p:spPr/>
        <p:txBody>
          <a:bodyPr/>
          <a:lstStyle/>
          <a:p>
            <a:endParaRPr lang="en-US" dirty="0" smtClean="0"/>
          </a:p>
          <a:p>
            <a:r>
              <a:rPr lang="en-US" dirty="0" smtClean="0"/>
              <a:t>A high school teacher wants to understand the overall performance of students in a mathematics exam to identify trends in class performance. The teacher has recorded the scores of 30 students and wants to compute the mean score to analyze whether the class performed well as a whole.</a:t>
            </a:r>
          </a:p>
          <a:p>
            <a:endParaRPr lang="en-US" dirty="0"/>
          </a:p>
        </p:txBody>
      </p:sp>
      <p:pic>
        <p:nvPicPr>
          <p:cNvPr id="4" name="Picture 3"/>
          <p:cNvPicPr>
            <a:picLocks noChangeAspect="1"/>
          </p:cNvPicPr>
          <p:nvPr/>
        </p:nvPicPr>
        <p:blipFill>
          <a:blip r:embed="rId2"/>
          <a:stretch>
            <a:fillRect/>
          </a:stretch>
        </p:blipFill>
        <p:spPr>
          <a:xfrm>
            <a:off x="1812839" y="5092530"/>
            <a:ext cx="5782482" cy="1219370"/>
          </a:xfrm>
          <a:prstGeom prst="rect">
            <a:avLst/>
          </a:prstGeom>
        </p:spPr>
      </p:pic>
      <p:pic>
        <p:nvPicPr>
          <p:cNvPr id="5" name="Picture 4"/>
          <p:cNvPicPr>
            <a:picLocks noChangeAspect="1"/>
          </p:cNvPicPr>
          <p:nvPr/>
        </p:nvPicPr>
        <p:blipFill>
          <a:blip r:embed="rId3"/>
          <a:stretch>
            <a:fillRect/>
          </a:stretch>
        </p:blipFill>
        <p:spPr>
          <a:xfrm>
            <a:off x="838200" y="4286771"/>
            <a:ext cx="10278909" cy="1305107"/>
          </a:xfrm>
          <a:prstGeom prst="rect">
            <a:avLst/>
          </a:prstGeom>
        </p:spPr>
      </p:pic>
    </p:spTree>
    <p:extLst>
      <p:ext uri="{BB962C8B-B14F-4D97-AF65-F5344CB8AC3E}">
        <p14:creationId xmlns:p14="http://schemas.microsoft.com/office/powerpoint/2010/main" val="1017595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r>
              <a:rPr lang="en-US" dirty="0" smtClean="0"/>
              <a:t>The mean score of the class is 74. This indicates that, on average, students performed reasonably well on the exam. However, the mean alone does not provide the entire picture, as it does not capture the spread of the data or how individual students performed relative to each other.</a:t>
            </a:r>
            <a:endParaRPr lang="en-US" dirty="0"/>
          </a:p>
        </p:txBody>
      </p:sp>
    </p:spTree>
    <p:extLst>
      <p:ext uri="{BB962C8B-B14F-4D97-AF65-F5344CB8AC3E}">
        <p14:creationId xmlns:p14="http://schemas.microsoft.com/office/powerpoint/2010/main" val="2794779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 of the Mean</a:t>
            </a:r>
            <a:endParaRPr lang="en-US" dirty="0"/>
          </a:p>
        </p:txBody>
      </p:sp>
      <p:sp>
        <p:nvSpPr>
          <p:cNvPr id="3" name="Content Placeholder 2"/>
          <p:cNvSpPr>
            <a:spLocks noGrp="1"/>
          </p:cNvSpPr>
          <p:nvPr>
            <p:ph idx="1"/>
          </p:nvPr>
        </p:nvSpPr>
        <p:spPr/>
        <p:txBody>
          <a:bodyPr/>
          <a:lstStyle/>
          <a:p>
            <a:endParaRPr lang="en-US" dirty="0" smtClean="0"/>
          </a:p>
          <a:p>
            <a:r>
              <a:rPr lang="en-US" dirty="0" smtClean="0"/>
              <a:t>While the mean provides a quick summary of the data, it is sensitive to extreme values (outliers). For example, if one student had an unusually low score (e.g., 10), the mean would decrease significantly, even though most students performed around the average. To understand the distribution of scores, it may be necessary to calculate other statistics like the median, mode, or standard deviation.</a:t>
            </a:r>
            <a:endParaRPr lang="en-US" dirty="0"/>
          </a:p>
        </p:txBody>
      </p:sp>
    </p:spTree>
    <p:extLst>
      <p:ext uri="{BB962C8B-B14F-4D97-AF65-F5344CB8AC3E}">
        <p14:creationId xmlns:p14="http://schemas.microsoft.com/office/powerpoint/2010/main" val="1348336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Sensitivity to Outliers:</a:t>
            </a:r>
            <a:br>
              <a:rPr lang="en-US" b="1" dirty="0" smtClean="0"/>
            </a:br>
            <a:endParaRPr lang="en-US" dirty="0"/>
          </a:p>
        </p:txBody>
      </p:sp>
      <p:sp>
        <p:nvSpPr>
          <p:cNvPr id="3" name="Content Placeholder 2"/>
          <p:cNvSpPr>
            <a:spLocks noGrp="1"/>
          </p:cNvSpPr>
          <p:nvPr>
            <p:ph idx="1"/>
          </p:nvPr>
        </p:nvSpPr>
        <p:spPr>
          <a:xfrm>
            <a:off x="838200" y="1214063"/>
            <a:ext cx="10515600" cy="4351338"/>
          </a:xfrm>
        </p:spPr>
        <p:txBody>
          <a:bodyPr/>
          <a:lstStyle/>
          <a:p>
            <a:endParaRPr lang="en-US" dirty="0" smtClean="0"/>
          </a:p>
          <a:p>
            <a:r>
              <a:rPr lang="en-US" b="1" dirty="0" smtClean="0"/>
              <a:t>Mean</a:t>
            </a:r>
            <a:r>
              <a:rPr lang="en-US" dirty="0" smtClean="0"/>
              <a:t>: The mean is sensitive to extreme values (outliers). A single very large or very small value can significantly affect the mean, pulling it in the direction of the outlier and providing a misleading sense of the dataset's central tendency.</a:t>
            </a:r>
          </a:p>
          <a:p>
            <a:r>
              <a:rPr lang="en-US" b="1" dirty="0" smtClean="0"/>
              <a:t>Example</a:t>
            </a:r>
            <a:r>
              <a:rPr lang="en-US" dirty="0" smtClean="0"/>
              <a:t>: Consider the test scores: 40, 45, 50, 55, 60, 65, 70, 500. The mean would be pulled up because of the 500, even though most of the data points are much lower.</a:t>
            </a:r>
          </a:p>
          <a:p>
            <a:endParaRPr lang="en-US" dirty="0"/>
          </a:p>
        </p:txBody>
      </p:sp>
      <p:pic>
        <p:nvPicPr>
          <p:cNvPr id="4" name="Picture 3"/>
          <p:cNvPicPr>
            <a:picLocks noChangeAspect="1"/>
          </p:cNvPicPr>
          <p:nvPr/>
        </p:nvPicPr>
        <p:blipFill>
          <a:blip r:embed="rId2"/>
          <a:stretch>
            <a:fillRect/>
          </a:stretch>
        </p:blipFill>
        <p:spPr>
          <a:xfrm>
            <a:off x="995633" y="4775810"/>
            <a:ext cx="9774014" cy="1638529"/>
          </a:xfrm>
          <a:prstGeom prst="rect">
            <a:avLst/>
          </a:prstGeom>
        </p:spPr>
      </p:pic>
    </p:spTree>
    <p:extLst>
      <p:ext uri="{BB962C8B-B14F-4D97-AF65-F5344CB8AC3E}">
        <p14:creationId xmlns:p14="http://schemas.microsoft.com/office/powerpoint/2010/main" val="2832907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object 2"/>
          <p:cNvSpPr>
            <a:spLocks noGrp="1"/>
          </p:cNvSpPr>
          <p:nvPr>
            <p:ph idx="1"/>
          </p:nvPr>
        </p:nvSpPr>
        <p:spPr>
          <a:xfrm>
            <a:off x="838200" y="365125"/>
            <a:ext cx="10515600" cy="5811838"/>
          </a:xfrm>
          <a:prstGeom prst="rect">
            <a:avLst/>
          </a:prstGeom>
          <a:blipFill>
            <a:blip r:embed="rId2" cstate="print"/>
            <a:stretch>
              <a:fillRect/>
            </a:stretch>
          </a:blipFill>
        </p:spPr>
        <p:txBody>
          <a:bodyPr wrap="square" lIns="0" tIns="0" rIns="0" bIns="0" rtlCol="0"/>
          <a:lstStyle/>
          <a:p>
            <a:endParaRPr lang="en-US"/>
          </a:p>
        </p:txBody>
      </p:sp>
    </p:spTree>
    <p:extLst>
      <p:ext uri="{BB962C8B-B14F-4D97-AF65-F5344CB8AC3E}">
        <p14:creationId xmlns:p14="http://schemas.microsoft.com/office/powerpoint/2010/main" val="879918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object 2"/>
          <p:cNvSpPr/>
          <p:nvPr/>
        </p:nvSpPr>
        <p:spPr>
          <a:xfrm>
            <a:off x="1636776" y="1438655"/>
            <a:ext cx="8927592" cy="434949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464306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object 2"/>
          <p:cNvSpPr/>
          <p:nvPr/>
        </p:nvSpPr>
        <p:spPr>
          <a:xfrm>
            <a:off x="751840" y="365125"/>
            <a:ext cx="11023600" cy="594118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77032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smtClean="0"/>
          </a:p>
          <a:p>
            <a:endParaRPr lang="en-US" dirty="0"/>
          </a:p>
        </p:txBody>
      </p:sp>
      <p:sp>
        <p:nvSpPr>
          <p:cNvPr id="4" name="object 2"/>
          <p:cNvSpPr/>
          <p:nvPr/>
        </p:nvSpPr>
        <p:spPr>
          <a:xfrm>
            <a:off x="1392936" y="847344"/>
            <a:ext cx="8665464" cy="506272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08476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a:spLocks noGrp="1"/>
          </p:cNvSpPr>
          <p:nvPr>
            <p:ph idx="1"/>
          </p:nvPr>
        </p:nvSpPr>
        <p:spPr>
          <a:xfrm>
            <a:off x="838200" y="375920"/>
            <a:ext cx="10515600" cy="5801043"/>
          </a:xfrm>
          <a:prstGeom prst="rect">
            <a:avLst/>
          </a:prstGeom>
          <a:blipFill>
            <a:blip r:embed="rId2" cstate="print"/>
            <a:stretch>
              <a:fillRect/>
            </a:stretch>
          </a:blipFill>
        </p:spPr>
        <p:txBody>
          <a:bodyPr wrap="square" lIns="0" tIns="0" rIns="0" bIns="0" rtlCol="0"/>
          <a:lstStyle/>
          <a:p>
            <a:endParaRPr lang="en-US" dirty="0"/>
          </a:p>
        </p:txBody>
      </p:sp>
    </p:spTree>
    <p:extLst>
      <p:ext uri="{BB962C8B-B14F-4D97-AF65-F5344CB8AC3E}">
        <p14:creationId xmlns:p14="http://schemas.microsoft.com/office/powerpoint/2010/main" val="2453419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object 2"/>
          <p:cNvSpPr/>
          <p:nvPr/>
        </p:nvSpPr>
        <p:spPr>
          <a:xfrm>
            <a:off x="1200911" y="1091183"/>
            <a:ext cx="9226296" cy="474878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46171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1636776" y="655319"/>
            <a:ext cx="7860792" cy="537667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935284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a:spLocks noGrp="1"/>
          </p:cNvSpPr>
          <p:nvPr>
            <p:ph idx="1"/>
          </p:nvPr>
        </p:nvSpPr>
        <p:spPr>
          <a:xfrm>
            <a:off x="838200" y="670560"/>
            <a:ext cx="10515600" cy="5506403"/>
          </a:xfrm>
          <a:prstGeom prst="rect">
            <a:avLst/>
          </a:prstGeom>
          <a:blipFill>
            <a:blip r:embed="rId2" cstate="print"/>
            <a:stretch>
              <a:fillRect/>
            </a:stretch>
          </a:blipFill>
        </p:spPr>
        <p:txBody>
          <a:bodyPr wrap="square" lIns="0" tIns="0" rIns="0" bIns="0" rtlCol="0"/>
          <a:lstStyle/>
          <a:p>
            <a:endParaRPr lang="en-US"/>
          </a:p>
        </p:txBody>
      </p:sp>
    </p:spTree>
    <p:extLst>
      <p:ext uri="{BB962C8B-B14F-4D97-AF65-F5344CB8AC3E}">
        <p14:creationId xmlns:p14="http://schemas.microsoft.com/office/powerpoint/2010/main" val="3859260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1405127" y="859536"/>
            <a:ext cx="9555480" cy="517245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52817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smtClean="0"/>
          </a:p>
          <a:p>
            <a:r>
              <a:rPr lang="en-US" b="1" dirty="0" smtClean="0"/>
              <a:t>Mode</a:t>
            </a:r>
            <a:r>
              <a:rPr lang="en-US" dirty="0" smtClean="0"/>
              <a:t> is the most appropriate measure of central tendency for </a:t>
            </a:r>
            <a:r>
              <a:rPr lang="en-US" b="1" dirty="0" smtClean="0"/>
              <a:t>categorical</a:t>
            </a:r>
            <a:r>
              <a:rPr lang="en-US" dirty="0" smtClean="0"/>
              <a:t> data (data that can be divided into distinct categories, such as colors, brands, etc.).</a:t>
            </a:r>
          </a:p>
          <a:p>
            <a:r>
              <a:rPr lang="en-US" dirty="0" smtClean="0"/>
              <a:t>Since categorical data doesn’t have a meaningful order or numerical value, you can’t calculate a median or mean. The mode tells you which category occurs most frequently.</a:t>
            </a:r>
            <a:endParaRPr lang="en-US" dirty="0"/>
          </a:p>
        </p:txBody>
      </p:sp>
    </p:spTree>
    <p:extLst>
      <p:ext uri="{BB962C8B-B14F-4D97-AF65-F5344CB8AC3E}">
        <p14:creationId xmlns:p14="http://schemas.microsoft.com/office/powerpoint/2010/main" val="3371833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object 2"/>
          <p:cNvSpPr/>
          <p:nvPr/>
        </p:nvSpPr>
        <p:spPr>
          <a:xfrm>
            <a:off x="1569719" y="423672"/>
            <a:ext cx="9128760" cy="543153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758798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object 2"/>
          <p:cNvSpPr/>
          <p:nvPr/>
        </p:nvSpPr>
        <p:spPr>
          <a:xfrm>
            <a:off x="2401823" y="792480"/>
            <a:ext cx="7287768" cy="496824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48088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object 2"/>
          <p:cNvSpPr/>
          <p:nvPr/>
        </p:nvSpPr>
        <p:spPr>
          <a:xfrm>
            <a:off x="838200" y="573023"/>
            <a:ext cx="10896600" cy="523951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675329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dirty="0" smtClean="0"/>
              <a:t>The mean is best when data is </a:t>
            </a:r>
            <a:r>
              <a:rPr lang="en-US" b="1" dirty="0" smtClean="0"/>
              <a:t>symmetrically distributed</a:t>
            </a:r>
            <a:r>
              <a:rPr lang="en-US" dirty="0" smtClean="0"/>
              <a:t> (not heavily skewed) and there are no extreme outliers, as these can distort the average.</a:t>
            </a:r>
          </a:p>
          <a:p>
            <a:r>
              <a:rPr lang="en-US" dirty="0" smtClean="0"/>
              <a:t>The median is useful when dealing with </a:t>
            </a:r>
            <a:r>
              <a:rPr lang="en-US" b="1" dirty="0" smtClean="0"/>
              <a:t>skewed data</a:t>
            </a:r>
            <a:r>
              <a:rPr lang="en-US" dirty="0" smtClean="0"/>
              <a:t> (distributions with outliers) because it is </a:t>
            </a:r>
            <a:r>
              <a:rPr lang="en-US" b="1" dirty="0" smtClean="0"/>
              <a:t>not sensitive to extreme values</a:t>
            </a:r>
            <a:r>
              <a:rPr lang="en-US" dirty="0" smtClean="0"/>
              <a:t>.</a:t>
            </a:r>
          </a:p>
          <a:p>
            <a:r>
              <a:rPr lang="en-US" dirty="0" smtClean="0"/>
              <a:t>MODE Use when you are interested in the </a:t>
            </a:r>
            <a:r>
              <a:rPr lang="en-US" b="1" dirty="0" smtClean="0"/>
              <a:t>most frequent occurrence</a:t>
            </a:r>
            <a:r>
              <a:rPr lang="en-US" dirty="0" smtClean="0"/>
              <a:t>, especially with </a:t>
            </a:r>
            <a:r>
              <a:rPr lang="en-US" b="1" dirty="0" smtClean="0"/>
              <a:t>categorical data</a:t>
            </a:r>
            <a:r>
              <a:rPr lang="en-US" dirty="0" smtClean="0"/>
              <a:t> or multimodal distributions.</a:t>
            </a:r>
            <a:endParaRPr lang="en-US" dirty="0"/>
          </a:p>
        </p:txBody>
      </p:sp>
    </p:spTree>
    <p:extLst>
      <p:ext uri="{BB962C8B-B14F-4D97-AF65-F5344CB8AC3E}">
        <p14:creationId xmlns:p14="http://schemas.microsoft.com/office/powerpoint/2010/main" val="2470989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Measure of variability</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A </a:t>
            </a:r>
            <a:r>
              <a:rPr lang="en-US" b="1" dirty="0"/>
              <a:t>measure of variability</a:t>
            </a:r>
            <a:r>
              <a:rPr lang="en-US" dirty="0"/>
              <a:t> (or spread) is essential in statistics because it provides insight into how data points differ from one another and from the central tendency (like the mean or median). Here’s why it’s important</a:t>
            </a:r>
            <a:r>
              <a:rPr lang="en-US" dirty="0" smtClean="0"/>
              <a:t>:</a:t>
            </a:r>
          </a:p>
          <a:p>
            <a:r>
              <a:rPr lang="en-US" b="1" dirty="0"/>
              <a:t>Understanding Data Distribution</a:t>
            </a:r>
            <a:r>
              <a:rPr lang="en-US" dirty="0"/>
              <a:t>: Variability indicates whether data points are close to the mean (low variability) or spread out (high variability). This helps in interpreting the data's overall structure</a:t>
            </a:r>
            <a:r>
              <a:rPr lang="en-US" dirty="0" smtClean="0"/>
              <a:t>.</a:t>
            </a:r>
          </a:p>
          <a:p>
            <a:r>
              <a:rPr lang="en-US" b="1" dirty="0"/>
              <a:t>Comparing Datasets</a:t>
            </a:r>
            <a:r>
              <a:rPr lang="en-US" dirty="0"/>
              <a:t>: Measures like range, variance, and standard deviation allow comparisons between different datasets. For instance, if two datasets have similar means but different variabilities, they represent different distribution</a:t>
            </a:r>
            <a:endParaRPr lang="en-US" dirty="0"/>
          </a:p>
        </p:txBody>
      </p:sp>
    </p:spTree>
    <p:extLst>
      <p:ext uri="{BB962C8B-B14F-4D97-AF65-F5344CB8AC3E}">
        <p14:creationId xmlns:p14="http://schemas.microsoft.com/office/powerpoint/2010/main" val="228930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Predicting Reliability</a:t>
            </a:r>
            <a:r>
              <a:rPr lang="en-US" dirty="0"/>
              <a:t>: Low variability suggests that data points are consistent, which can imply reliability. High variability, on the other hand, might indicate greater uncertainty or fluctuations in data</a:t>
            </a:r>
            <a:r>
              <a:rPr lang="en-US" dirty="0" smtClean="0"/>
              <a:t>.</a:t>
            </a:r>
          </a:p>
          <a:p>
            <a:endParaRPr lang="en-US" dirty="0"/>
          </a:p>
        </p:txBody>
      </p:sp>
    </p:spTree>
    <p:extLst>
      <p:ext uri="{BB962C8B-B14F-4D97-AF65-F5344CB8AC3E}">
        <p14:creationId xmlns:p14="http://schemas.microsoft.com/office/powerpoint/2010/main" val="3198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p:cNvSpPr/>
          <p:nvPr/>
        </p:nvSpPr>
        <p:spPr>
          <a:xfrm>
            <a:off x="1200911" y="1267967"/>
            <a:ext cx="8516112" cy="494080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604375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655319" y="1295400"/>
            <a:ext cx="9238488" cy="490118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066940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p:nvPr/>
        </p:nvSpPr>
        <p:spPr>
          <a:xfrm>
            <a:off x="1664207" y="1514855"/>
            <a:ext cx="8174735" cy="445008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768000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p:nvPr/>
        </p:nvSpPr>
        <p:spPr>
          <a:xfrm>
            <a:off x="1475232" y="1542288"/>
            <a:ext cx="8555736" cy="4245864"/>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056827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996696" y="1133855"/>
            <a:ext cx="8842248" cy="484327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715582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p:cNvSpPr/>
          <p:nvPr/>
        </p:nvSpPr>
        <p:spPr>
          <a:xfrm>
            <a:off x="1554480" y="1487424"/>
            <a:ext cx="8189976" cy="445008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225715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3012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54024" y="1188719"/>
            <a:ext cx="8927592" cy="463905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545993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65503" y="1161288"/>
            <a:ext cx="8500872" cy="495604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416144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78991" y="560831"/>
            <a:ext cx="9988296" cy="574548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130010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691639" y="423672"/>
            <a:ext cx="7848600" cy="567537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4481747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0536" y="1283208"/>
            <a:ext cx="8598408" cy="485851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528241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49096" y="1432560"/>
            <a:ext cx="8799576" cy="446227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931633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28344" y="847344"/>
            <a:ext cx="8461248" cy="543153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2032334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41832" y="1060703"/>
            <a:ext cx="8775192" cy="498043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698428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81455" y="1106424"/>
            <a:ext cx="8708136" cy="530656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647767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78991" y="941832"/>
            <a:ext cx="8653272" cy="522732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311413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28344" y="941832"/>
            <a:ext cx="8476488" cy="511759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785716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78991" y="941832"/>
            <a:ext cx="8653272" cy="522732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813095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28344" y="941832"/>
            <a:ext cx="8476488" cy="511759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3102420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56915" y="1485629"/>
            <a:ext cx="7478169" cy="3886742"/>
          </a:xfrm>
          <a:prstGeom prst="rect">
            <a:avLst/>
          </a:prstGeom>
        </p:spPr>
      </p:pic>
    </p:spTree>
    <p:extLst>
      <p:ext uri="{BB962C8B-B14F-4D97-AF65-F5344CB8AC3E}">
        <p14:creationId xmlns:p14="http://schemas.microsoft.com/office/powerpoint/2010/main" val="38124350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80160" y="2690336"/>
            <a:ext cx="8503920" cy="923330"/>
          </a:xfrm>
          <a:prstGeom prst="rect">
            <a:avLst/>
          </a:prstGeom>
        </p:spPr>
        <p:txBody>
          <a:bodyPr wrap="square">
            <a:spAutoFit/>
          </a:bodyPr>
          <a:lstStyle/>
          <a:p>
            <a:r>
              <a:rPr lang="en-US" dirty="0">
                <a:solidFill>
                  <a:srgbClr val="333333"/>
                </a:solidFill>
                <a:latin typeface="Untitled Sans"/>
              </a:rPr>
              <a:t>If two data sets having similar values need to be compared then the standard deviation can be used. However, if two data sets having different unit need to be compared then the coefficient of variation needs to be used</a:t>
            </a:r>
            <a:endParaRPr lang="en-US" dirty="0"/>
          </a:p>
        </p:txBody>
      </p:sp>
    </p:spTree>
    <p:extLst>
      <p:ext uri="{BB962C8B-B14F-4D97-AF65-F5344CB8AC3E}">
        <p14:creationId xmlns:p14="http://schemas.microsoft.com/office/powerpoint/2010/main" val="1970227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18784" y="1337970"/>
            <a:ext cx="7754432" cy="4182059"/>
          </a:xfrm>
          <a:prstGeom prst="rect">
            <a:avLst/>
          </a:prstGeom>
        </p:spPr>
      </p:pic>
    </p:spTree>
    <p:extLst>
      <p:ext uri="{BB962C8B-B14F-4D97-AF65-F5344CB8AC3E}">
        <p14:creationId xmlns:p14="http://schemas.microsoft.com/office/powerpoint/2010/main" val="18358323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85468" y="1337970"/>
            <a:ext cx="7621064" cy="4182059"/>
          </a:xfrm>
          <a:prstGeom prst="rect">
            <a:avLst/>
          </a:prstGeom>
        </p:spPr>
      </p:pic>
    </p:spTree>
    <p:extLst>
      <p:ext uri="{BB962C8B-B14F-4D97-AF65-F5344CB8AC3E}">
        <p14:creationId xmlns:p14="http://schemas.microsoft.com/office/powerpoint/2010/main" val="24060030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52179" y="1780945"/>
            <a:ext cx="7287642" cy="3296110"/>
          </a:xfrm>
          <a:prstGeom prst="rect">
            <a:avLst/>
          </a:prstGeom>
        </p:spPr>
      </p:pic>
    </p:spTree>
    <p:extLst>
      <p:ext uri="{BB962C8B-B14F-4D97-AF65-F5344CB8AC3E}">
        <p14:creationId xmlns:p14="http://schemas.microsoft.com/office/powerpoint/2010/main" val="37485962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23547" y="1566602"/>
            <a:ext cx="7744906" cy="3724795"/>
          </a:xfrm>
          <a:prstGeom prst="rect">
            <a:avLst/>
          </a:prstGeom>
        </p:spPr>
      </p:pic>
    </p:spTree>
    <p:extLst>
      <p:ext uri="{BB962C8B-B14F-4D97-AF65-F5344CB8AC3E}">
        <p14:creationId xmlns:p14="http://schemas.microsoft.com/office/powerpoint/2010/main" val="9596717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56968" y="1585655"/>
            <a:ext cx="7078063" cy="3686689"/>
          </a:xfrm>
          <a:prstGeom prst="rect">
            <a:avLst/>
          </a:prstGeom>
        </p:spPr>
      </p:pic>
    </p:spTree>
    <p:extLst>
      <p:ext uri="{BB962C8B-B14F-4D97-AF65-F5344CB8AC3E}">
        <p14:creationId xmlns:p14="http://schemas.microsoft.com/office/powerpoint/2010/main" val="1310149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TotalTime>
  <Words>613</Words>
  <Application>Microsoft Office PowerPoint</Application>
  <PresentationFormat>Widescreen</PresentationFormat>
  <Paragraphs>27</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Untitled Sans</vt:lpstr>
      <vt:lpstr>Office Theme</vt:lpstr>
      <vt:lpstr> DESCRIPTIVE Statistics:  Measure of central tendency </vt:lpstr>
      <vt:lpstr>Measure of central tendency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Scenario: Analyzing Test Scores in a School </vt:lpstr>
      <vt:lpstr>PowerPoint Presentation</vt:lpstr>
      <vt:lpstr>Limitations of the Mean</vt:lpstr>
      <vt:lpstr>1. Sensitivity to Outliers: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Measure of variability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DESCRIPTIVE Statistics:  Measure of central tendency </dc:title>
  <dc:creator>wajiz.pk</dc:creator>
  <cp:lastModifiedBy>wajiz.pk</cp:lastModifiedBy>
  <cp:revision>26</cp:revision>
  <dcterms:created xsi:type="dcterms:W3CDTF">2024-10-02T05:14:43Z</dcterms:created>
  <dcterms:modified xsi:type="dcterms:W3CDTF">2024-10-26T18:42:07Z</dcterms:modified>
</cp:coreProperties>
</file>