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6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72" y="9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8242B94-22E5-4E33-A6C0-01AA6808BC41}"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8FE1F2-1C2D-4520-ACB3-0C5BE7C3994D}" type="slidenum">
              <a:rPr lang="en-US" smtClean="0"/>
              <a:t>‹#›</a:t>
            </a:fld>
            <a:endParaRPr lang="en-US"/>
          </a:p>
        </p:txBody>
      </p:sp>
    </p:spTree>
    <p:extLst>
      <p:ext uri="{BB962C8B-B14F-4D97-AF65-F5344CB8AC3E}">
        <p14:creationId xmlns:p14="http://schemas.microsoft.com/office/powerpoint/2010/main" val="1186939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8242B94-22E5-4E33-A6C0-01AA6808BC41}"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8FE1F2-1C2D-4520-ACB3-0C5BE7C3994D}" type="slidenum">
              <a:rPr lang="en-US" smtClean="0"/>
              <a:t>‹#›</a:t>
            </a:fld>
            <a:endParaRPr lang="en-US"/>
          </a:p>
        </p:txBody>
      </p:sp>
    </p:spTree>
    <p:extLst>
      <p:ext uri="{BB962C8B-B14F-4D97-AF65-F5344CB8AC3E}">
        <p14:creationId xmlns:p14="http://schemas.microsoft.com/office/powerpoint/2010/main" val="1838585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8242B94-22E5-4E33-A6C0-01AA6808BC41}"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8FE1F2-1C2D-4520-ACB3-0C5BE7C3994D}" type="slidenum">
              <a:rPr lang="en-US" smtClean="0"/>
              <a:t>‹#›</a:t>
            </a:fld>
            <a:endParaRPr lang="en-US"/>
          </a:p>
        </p:txBody>
      </p:sp>
    </p:spTree>
    <p:extLst>
      <p:ext uri="{BB962C8B-B14F-4D97-AF65-F5344CB8AC3E}">
        <p14:creationId xmlns:p14="http://schemas.microsoft.com/office/powerpoint/2010/main" val="3489846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8242B94-22E5-4E33-A6C0-01AA6808BC41}" type="datetimeFigureOut">
              <a:rPr lang="en-US" smtClean="0"/>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8FE1F2-1C2D-4520-ACB3-0C5BE7C3994D}" type="slidenum">
              <a:rPr lang="en-US" smtClean="0"/>
              <a:t>‹#›</a:t>
            </a:fld>
            <a:endParaRPr lang="en-US"/>
          </a:p>
        </p:txBody>
      </p:sp>
    </p:spTree>
    <p:extLst>
      <p:ext uri="{BB962C8B-B14F-4D97-AF65-F5344CB8AC3E}">
        <p14:creationId xmlns:p14="http://schemas.microsoft.com/office/powerpoint/2010/main" val="3783586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8242B94-22E5-4E33-A6C0-01AA6808BC41}" type="datetimeFigureOut">
              <a:rPr lang="en-US" smtClean="0"/>
              <a:t>11/14/2024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E8FE1F2-1C2D-4520-ACB3-0C5BE7C3994D}" type="slidenum">
              <a:rPr lang="en-US" smtClean="0"/>
              <a:t>‹#›</a:t>
            </a:fld>
            <a:endParaRPr lang="en-US"/>
          </a:p>
        </p:txBody>
      </p:sp>
    </p:spTree>
    <p:extLst>
      <p:ext uri="{BB962C8B-B14F-4D97-AF65-F5344CB8AC3E}">
        <p14:creationId xmlns:p14="http://schemas.microsoft.com/office/powerpoint/2010/main" val="3386842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8242B94-22E5-4E33-A6C0-01AA6808BC41}" type="datetimeFigureOut">
              <a:rPr lang="en-US" smtClean="0"/>
              <a:t>11/14/2024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E8FE1F2-1C2D-4520-ACB3-0C5BE7C3994D}" type="slidenum">
              <a:rPr lang="en-US" smtClean="0"/>
              <a:t>‹#›</a:t>
            </a:fld>
            <a:endParaRPr lang="en-US"/>
          </a:p>
        </p:txBody>
      </p:sp>
    </p:spTree>
    <p:extLst>
      <p:ext uri="{BB962C8B-B14F-4D97-AF65-F5344CB8AC3E}">
        <p14:creationId xmlns:p14="http://schemas.microsoft.com/office/powerpoint/2010/main" val="3110588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242B94-22E5-4E33-A6C0-01AA6808BC41}" type="datetimeFigureOut">
              <a:rPr lang="en-US" smtClean="0"/>
              <a:t>11/14/2024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E8FE1F2-1C2D-4520-ACB3-0C5BE7C3994D}" type="slidenum">
              <a:rPr lang="en-US" smtClean="0"/>
              <a:t>‹#›</a:t>
            </a:fld>
            <a:endParaRPr lang="en-US"/>
          </a:p>
        </p:txBody>
      </p:sp>
    </p:spTree>
    <p:extLst>
      <p:ext uri="{BB962C8B-B14F-4D97-AF65-F5344CB8AC3E}">
        <p14:creationId xmlns:p14="http://schemas.microsoft.com/office/powerpoint/2010/main" val="2845865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8242B94-22E5-4E33-A6C0-01AA6808BC41}" type="datetimeFigureOut">
              <a:rPr lang="en-US" smtClean="0"/>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8FE1F2-1C2D-4520-ACB3-0C5BE7C3994D}" type="slidenum">
              <a:rPr lang="en-US" smtClean="0"/>
              <a:t>‹#›</a:t>
            </a:fld>
            <a:endParaRPr lang="en-US"/>
          </a:p>
        </p:txBody>
      </p:sp>
    </p:spTree>
    <p:extLst>
      <p:ext uri="{BB962C8B-B14F-4D97-AF65-F5344CB8AC3E}">
        <p14:creationId xmlns:p14="http://schemas.microsoft.com/office/powerpoint/2010/main" val="14321350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8242B94-22E5-4E33-A6C0-01AA6808BC41}" type="datetimeFigureOut">
              <a:rPr lang="en-US" smtClean="0"/>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8FE1F2-1C2D-4520-ACB3-0C5BE7C3994D}" type="slidenum">
              <a:rPr lang="en-US" smtClean="0"/>
              <a:t>‹#›</a:t>
            </a:fld>
            <a:endParaRPr lang="en-US"/>
          </a:p>
        </p:txBody>
      </p:sp>
    </p:spTree>
    <p:extLst>
      <p:ext uri="{BB962C8B-B14F-4D97-AF65-F5344CB8AC3E}">
        <p14:creationId xmlns:p14="http://schemas.microsoft.com/office/powerpoint/2010/main" val="1079533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8242B94-22E5-4E33-A6C0-01AA6808BC41}"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8FE1F2-1C2D-4520-ACB3-0C5BE7C3994D}" type="slidenum">
              <a:rPr lang="en-US" smtClean="0"/>
              <a:t>‹#›</a:t>
            </a:fld>
            <a:endParaRPr lang="en-US"/>
          </a:p>
        </p:txBody>
      </p:sp>
    </p:spTree>
    <p:extLst>
      <p:ext uri="{BB962C8B-B14F-4D97-AF65-F5344CB8AC3E}">
        <p14:creationId xmlns:p14="http://schemas.microsoft.com/office/powerpoint/2010/main" val="4083455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8242B94-22E5-4E33-A6C0-01AA6808BC41}"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8FE1F2-1C2D-4520-ACB3-0C5BE7C3994D}" type="slidenum">
              <a:rPr lang="en-US" smtClean="0"/>
              <a:t>‹#›</a:t>
            </a:fld>
            <a:endParaRPr lang="en-US"/>
          </a:p>
        </p:txBody>
      </p:sp>
    </p:spTree>
    <p:extLst>
      <p:ext uri="{BB962C8B-B14F-4D97-AF65-F5344CB8AC3E}">
        <p14:creationId xmlns:p14="http://schemas.microsoft.com/office/powerpoint/2010/main" val="914933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242B94-22E5-4E33-A6C0-01AA6808BC41}" type="datetimeFigureOut">
              <a:rPr lang="en-US" smtClean="0"/>
              <a:t>11/14/2024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8FE1F2-1C2D-4520-ACB3-0C5BE7C3994D}" type="slidenum">
              <a:rPr lang="en-US" smtClean="0"/>
              <a:t>‹#›</a:t>
            </a:fld>
            <a:endParaRPr lang="en-US"/>
          </a:p>
        </p:txBody>
      </p:sp>
    </p:spTree>
    <p:extLst>
      <p:ext uri="{BB962C8B-B14F-4D97-AF65-F5344CB8AC3E}">
        <p14:creationId xmlns:p14="http://schemas.microsoft.com/office/powerpoint/2010/main" val="12350604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2016370" y="1428708"/>
            <a:ext cx="5634876"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smtClean="0">
                <a:ln>
                  <a:noFill/>
                </a:ln>
                <a:solidFill>
                  <a:srgbClr val="3A4F66"/>
                </a:solidFill>
                <a:effectLst/>
                <a:latin typeface="-apple-system"/>
              </a:rPr>
              <a:t>.</a:t>
            </a:r>
            <a:endParaRPr kumimoji="0" lang="en-US" sz="1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var(--fontFamily)"/>
              </a:rPr>
              <a:t>Disparity is when the data in a dataset is unbalanced.</a:t>
            </a: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2"/>
          <p:cNvSpPr/>
          <p:nvPr/>
        </p:nvSpPr>
        <p:spPr>
          <a:xfrm>
            <a:off x="1699847" y="386081"/>
            <a:ext cx="6096000" cy="646331"/>
          </a:xfrm>
          <a:prstGeom prst="rect">
            <a:avLst/>
          </a:prstGeom>
        </p:spPr>
        <p:txBody>
          <a:bodyPr>
            <a:spAutoFit/>
          </a:bodyPr>
          <a:lstStyle/>
          <a:p>
            <a:r>
              <a:rPr kumimoji="0" lang="en-US" b="1" i="0" u="none" strike="noStrike" cap="none" normalizeH="0" baseline="0" dirty="0" smtClean="0">
                <a:ln>
                  <a:noFill/>
                </a:ln>
                <a:solidFill>
                  <a:srgbClr val="3A4F66"/>
                </a:solidFill>
                <a:effectLst/>
                <a:latin typeface="-apple-system"/>
              </a:rPr>
              <a:t>When doing Data Science, it’s important to know how to analyze the disparity of a dataset</a:t>
            </a:r>
            <a:endParaRPr lang="en-US" dirty="0"/>
          </a:p>
        </p:txBody>
      </p:sp>
      <p:sp>
        <p:nvSpPr>
          <p:cNvPr id="4" name="Rectangle 3"/>
          <p:cNvSpPr/>
          <p:nvPr/>
        </p:nvSpPr>
        <p:spPr>
          <a:xfrm>
            <a:off x="2192216" y="3037673"/>
            <a:ext cx="6096000" cy="923330"/>
          </a:xfrm>
          <a:prstGeom prst="rect">
            <a:avLst/>
          </a:prstGeom>
        </p:spPr>
        <p:txBody>
          <a:bodyPr>
            <a:spAutoFit/>
          </a:bodyPr>
          <a:lstStyle/>
          <a:p>
            <a:r>
              <a:rPr lang="en-US" b="0" i="0" dirty="0" smtClean="0">
                <a:solidFill>
                  <a:srgbClr val="3A4F66"/>
                </a:solidFill>
                <a:effectLst/>
                <a:latin typeface="-apple-system"/>
              </a:rPr>
              <a:t>For example, if you measure the age of people in a children’s playground where there are 20 children and 6 adults. The age of these people will be disparate.</a:t>
            </a:r>
            <a:endParaRPr lang="en-US" dirty="0"/>
          </a:p>
        </p:txBody>
      </p:sp>
    </p:spTree>
    <p:extLst>
      <p:ext uri="{BB962C8B-B14F-4D97-AF65-F5344CB8AC3E}">
        <p14:creationId xmlns:p14="http://schemas.microsoft.com/office/powerpoint/2010/main" val="414659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smtClean="0"/>
              <a:t>Skewness</a:t>
            </a:r>
            <a:r>
              <a:rPr lang="en-US" b="1" i="1" dirty="0" smtClean="0"/>
              <a:t> essentially measures the symmetry of the distribution</a:t>
            </a:r>
            <a:endParaRPr lang="en-US" dirty="0"/>
          </a:p>
        </p:txBody>
      </p:sp>
      <p:sp>
        <p:nvSpPr>
          <p:cNvPr id="3" name="Content Placeholder 2"/>
          <p:cNvSpPr>
            <a:spLocks noGrp="1"/>
          </p:cNvSpPr>
          <p:nvPr>
            <p:ph idx="1"/>
          </p:nvPr>
        </p:nvSpPr>
        <p:spPr/>
        <p:txBody>
          <a:bodyPr/>
          <a:lstStyle/>
          <a:p>
            <a:r>
              <a:rPr lang="en-US" dirty="0" smtClean="0"/>
              <a:t>The </a:t>
            </a:r>
            <a:r>
              <a:rPr lang="en-US" dirty="0"/>
              <a:t>normal distribution helps to know a </a:t>
            </a:r>
            <a:r>
              <a:rPr lang="en-US" dirty="0" err="1"/>
              <a:t>skewness</a:t>
            </a:r>
            <a:r>
              <a:rPr lang="en-US" dirty="0"/>
              <a:t>. When we talk about normal distribution, data symmetrically distributed. The symmetrical distribution has zero </a:t>
            </a:r>
            <a:r>
              <a:rPr lang="en-US" dirty="0" err="1"/>
              <a:t>skewness</a:t>
            </a:r>
            <a:r>
              <a:rPr lang="en-US" dirty="0"/>
              <a:t> as all measures of a central tendency lies in the middle.</a:t>
            </a:r>
            <a:r>
              <a:rPr lang="en-US" b="1" dirty="0"/>
              <a:t>        </a:t>
            </a:r>
            <a:endParaRPr lang="en-US" dirty="0"/>
          </a:p>
          <a:p>
            <a:endParaRPr lang="en-US" dirty="0"/>
          </a:p>
        </p:txBody>
      </p:sp>
      <p:pic>
        <p:nvPicPr>
          <p:cNvPr id="4" name="Picture 3"/>
          <p:cNvPicPr>
            <a:picLocks noChangeAspect="1"/>
          </p:cNvPicPr>
          <p:nvPr/>
        </p:nvPicPr>
        <p:blipFill>
          <a:blip r:embed="rId2"/>
          <a:stretch>
            <a:fillRect/>
          </a:stretch>
        </p:blipFill>
        <p:spPr>
          <a:xfrm>
            <a:off x="1690688" y="3376613"/>
            <a:ext cx="6677025" cy="2800350"/>
          </a:xfrm>
          <a:prstGeom prst="rect">
            <a:avLst/>
          </a:prstGeom>
        </p:spPr>
      </p:pic>
    </p:spTree>
    <p:extLst>
      <p:ext uri="{BB962C8B-B14F-4D97-AF65-F5344CB8AC3E}">
        <p14:creationId xmlns:p14="http://schemas.microsoft.com/office/powerpoint/2010/main" val="4181549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a:t>
            </a:r>
            <a:r>
              <a:rPr lang="en-US" b="1" dirty="0" err="1"/>
              <a:t>skewness</a:t>
            </a:r>
            <a:r>
              <a:rPr lang="en-US" dirty="0"/>
              <a:t/>
            </a:r>
            <a:br>
              <a:rPr lang="en-US" dirty="0"/>
            </a:br>
            <a:endParaRPr lang="en-US" dirty="0"/>
          </a:p>
        </p:txBody>
      </p:sp>
      <p:sp>
        <p:nvSpPr>
          <p:cNvPr id="3" name="Content Placeholder 2"/>
          <p:cNvSpPr>
            <a:spLocks noGrp="1"/>
          </p:cNvSpPr>
          <p:nvPr>
            <p:ph idx="1"/>
          </p:nvPr>
        </p:nvSpPr>
        <p:spPr/>
        <p:txBody>
          <a:bodyPr/>
          <a:lstStyle/>
          <a:p>
            <a:r>
              <a:rPr lang="en-US" b="1" dirty="0"/>
              <a:t>Positive skewed or right-skewed</a:t>
            </a:r>
            <a:endParaRPr lang="en-US" dirty="0"/>
          </a:p>
          <a:p>
            <a:endParaRPr lang="en-US" dirty="0" smtClean="0"/>
          </a:p>
          <a:p>
            <a:endParaRPr lang="en-US" dirty="0"/>
          </a:p>
          <a:p>
            <a:endParaRPr lang="en-US" dirty="0"/>
          </a:p>
        </p:txBody>
      </p:sp>
      <p:pic>
        <p:nvPicPr>
          <p:cNvPr id="4" name="Picture 3"/>
          <p:cNvPicPr>
            <a:picLocks noChangeAspect="1"/>
          </p:cNvPicPr>
          <p:nvPr/>
        </p:nvPicPr>
        <p:blipFill>
          <a:blip r:embed="rId2"/>
          <a:stretch>
            <a:fillRect/>
          </a:stretch>
        </p:blipFill>
        <p:spPr>
          <a:xfrm>
            <a:off x="0" y="2986088"/>
            <a:ext cx="7058025" cy="3190875"/>
          </a:xfrm>
          <a:prstGeom prst="rect">
            <a:avLst/>
          </a:prstGeom>
        </p:spPr>
      </p:pic>
      <p:pic>
        <p:nvPicPr>
          <p:cNvPr id="5" name="Picture 4"/>
          <p:cNvPicPr>
            <a:picLocks noChangeAspect="1"/>
          </p:cNvPicPr>
          <p:nvPr/>
        </p:nvPicPr>
        <p:blipFill>
          <a:blip r:embed="rId3"/>
          <a:stretch>
            <a:fillRect/>
          </a:stretch>
        </p:blipFill>
        <p:spPr>
          <a:xfrm>
            <a:off x="1663944" y="2371786"/>
            <a:ext cx="2228850" cy="381000"/>
          </a:xfrm>
          <a:prstGeom prst="rect">
            <a:avLst/>
          </a:prstGeom>
        </p:spPr>
      </p:pic>
    </p:spTree>
    <p:extLst>
      <p:ext uri="{BB962C8B-B14F-4D97-AF65-F5344CB8AC3E}">
        <p14:creationId xmlns:p14="http://schemas.microsoft.com/office/powerpoint/2010/main" val="3382405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Negative skewed or left-skewed</a:t>
            </a:r>
            <a:r>
              <a:rPr lang="en-US" dirty="0"/>
              <a:t/>
            </a:r>
            <a:br>
              <a:rPr lang="en-US" dirty="0"/>
            </a:br>
            <a:endParaRPr lang="en-US" dirty="0"/>
          </a:p>
        </p:txBody>
      </p:sp>
      <p:pic>
        <p:nvPicPr>
          <p:cNvPr id="4" name="Content Placeholder 3"/>
          <p:cNvPicPr>
            <a:picLocks noGrp="1" noChangeAspect="1"/>
          </p:cNvPicPr>
          <p:nvPr>
            <p:ph idx="1"/>
          </p:nvPr>
        </p:nvPicPr>
        <p:blipFill>
          <a:blip r:embed="rId2"/>
          <a:stretch>
            <a:fillRect/>
          </a:stretch>
        </p:blipFill>
        <p:spPr>
          <a:xfrm>
            <a:off x="838200" y="2586099"/>
            <a:ext cx="5334000" cy="3533775"/>
          </a:xfrm>
          <a:prstGeom prst="rect">
            <a:avLst/>
          </a:prstGeom>
        </p:spPr>
      </p:pic>
      <p:pic>
        <p:nvPicPr>
          <p:cNvPr id="5" name="Picture 4"/>
          <p:cNvPicPr>
            <a:picLocks noChangeAspect="1"/>
          </p:cNvPicPr>
          <p:nvPr/>
        </p:nvPicPr>
        <p:blipFill>
          <a:blip r:embed="rId3"/>
          <a:stretch>
            <a:fillRect/>
          </a:stretch>
        </p:blipFill>
        <p:spPr>
          <a:xfrm>
            <a:off x="2142393" y="1347788"/>
            <a:ext cx="2209800" cy="342900"/>
          </a:xfrm>
          <a:prstGeom prst="rect">
            <a:avLst/>
          </a:prstGeom>
        </p:spPr>
      </p:pic>
    </p:spTree>
    <p:extLst>
      <p:ext uri="{BB962C8B-B14F-4D97-AF65-F5344CB8AC3E}">
        <p14:creationId xmlns:p14="http://schemas.microsoft.com/office/powerpoint/2010/main" val="1718244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Calculate the </a:t>
            </a:r>
            <a:r>
              <a:rPr lang="en-US" b="1" dirty="0" err="1"/>
              <a:t>skewness</a:t>
            </a:r>
            <a:r>
              <a:rPr lang="en-US" b="1" dirty="0"/>
              <a:t> coefficient of the sample</a:t>
            </a:r>
            <a:r>
              <a:rPr lang="en-US" dirty="0"/>
              <a:t/>
            </a:r>
            <a:br>
              <a:rPr lang="en-US" dirty="0"/>
            </a:br>
            <a:endParaRPr lang="en-US" dirty="0"/>
          </a:p>
        </p:txBody>
      </p:sp>
      <p:pic>
        <p:nvPicPr>
          <p:cNvPr id="4" name="Content Placeholder 3"/>
          <p:cNvPicPr>
            <a:picLocks noGrp="1" noChangeAspect="1"/>
          </p:cNvPicPr>
          <p:nvPr>
            <p:ph idx="1"/>
          </p:nvPr>
        </p:nvPicPr>
        <p:blipFill>
          <a:blip r:embed="rId2"/>
          <a:stretch>
            <a:fillRect/>
          </a:stretch>
        </p:blipFill>
        <p:spPr>
          <a:xfrm>
            <a:off x="1846385" y="1388513"/>
            <a:ext cx="7772400" cy="2552700"/>
          </a:xfrm>
          <a:prstGeom prst="rect">
            <a:avLst/>
          </a:prstGeom>
        </p:spPr>
      </p:pic>
    </p:spTree>
    <p:extLst>
      <p:ext uri="{BB962C8B-B14F-4D97-AF65-F5344CB8AC3E}">
        <p14:creationId xmlns:p14="http://schemas.microsoft.com/office/powerpoint/2010/main" val="6943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457892" y="846626"/>
            <a:ext cx="7963232" cy="4351338"/>
          </a:xfrm>
          <a:prstGeom prst="rect">
            <a:avLst/>
          </a:prstGeom>
        </p:spPr>
      </p:pic>
    </p:spTree>
    <p:extLst>
      <p:ext uri="{BB962C8B-B14F-4D97-AF65-F5344CB8AC3E}">
        <p14:creationId xmlns:p14="http://schemas.microsoft.com/office/powerpoint/2010/main" val="1265278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Kurtosis </a:t>
            </a:r>
            <a:r>
              <a:rPr lang="en-US" dirty="0"/>
              <a:t>is a measure of the </a:t>
            </a:r>
            <a:r>
              <a:rPr lang="en-US" dirty="0" err="1"/>
              <a:t>tailedness</a:t>
            </a:r>
            <a:r>
              <a:rPr lang="en-US" dirty="0"/>
              <a:t> of a distribution</a:t>
            </a:r>
          </a:p>
        </p:txBody>
      </p:sp>
      <p:sp>
        <p:nvSpPr>
          <p:cNvPr id="3" name="Content Placeholder 2"/>
          <p:cNvSpPr>
            <a:spLocks noGrp="1"/>
          </p:cNvSpPr>
          <p:nvPr>
            <p:ph idx="1"/>
          </p:nvPr>
        </p:nvSpPr>
        <p:spPr/>
        <p:txBody>
          <a:bodyPr/>
          <a:lstStyle/>
          <a:p>
            <a:r>
              <a:rPr lang="en-US" b="1" dirty="0"/>
              <a:t>Types of kurtosis</a:t>
            </a:r>
          </a:p>
          <a:p>
            <a:r>
              <a:rPr lang="en-US" dirty="0"/>
              <a:t>A </a:t>
            </a:r>
            <a:r>
              <a:rPr lang="en-US" b="1" dirty="0" err="1"/>
              <a:t>mesokurtic</a:t>
            </a:r>
            <a:r>
              <a:rPr lang="en-US" b="1" dirty="0"/>
              <a:t> </a:t>
            </a:r>
            <a:r>
              <a:rPr lang="en-US" dirty="0"/>
              <a:t>distribution is medium-tailed, so outliers are neither highly frequent, nor highly </a:t>
            </a:r>
            <a:r>
              <a:rPr lang="en-US" dirty="0" smtClean="0"/>
              <a:t>infrequent.</a:t>
            </a:r>
          </a:p>
          <a:p>
            <a:r>
              <a:rPr lang="en-US" i="1" dirty="0" err="1"/>
              <a:t>Mesokurtic</a:t>
            </a:r>
            <a:r>
              <a:rPr lang="en-US" i="1" dirty="0"/>
              <a:t> (kurtosis same as the normal distribution).</a:t>
            </a:r>
            <a:endParaRPr lang="en-US" dirty="0"/>
          </a:p>
          <a:p>
            <a:endParaRPr lang="en-US" dirty="0"/>
          </a:p>
        </p:txBody>
      </p:sp>
      <p:pic>
        <p:nvPicPr>
          <p:cNvPr id="4" name="Picture 3"/>
          <p:cNvPicPr>
            <a:picLocks noChangeAspect="1"/>
          </p:cNvPicPr>
          <p:nvPr/>
        </p:nvPicPr>
        <p:blipFill>
          <a:blip r:embed="rId2"/>
          <a:stretch>
            <a:fillRect/>
          </a:stretch>
        </p:blipFill>
        <p:spPr>
          <a:xfrm>
            <a:off x="3086100" y="3725374"/>
            <a:ext cx="3276600" cy="2314575"/>
          </a:xfrm>
          <a:prstGeom prst="rect">
            <a:avLst/>
          </a:prstGeom>
        </p:spPr>
      </p:pic>
    </p:spTree>
    <p:extLst>
      <p:ext uri="{BB962C8B-B14F-4D97-AF65-F5344CB8AC3E}">
        <p14:creationId xmlns:p14="http://schemas.microsoft.com/office/powerpoint/2010/main" val="1428292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Leptokurtic (kurtosis &gt; 3)</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Leptokurtic </a:t>
            </a:r>
            <a:r>
              <a:rPr lang="en-US" dirty="0"/>
              <a:t>is having very long and skinny tails, which means there are more chances of outliers. Positive values of kurtosis indicate that distribution is peaked and possesses thick tails. An extreme positive kurtosis indicates a distribution where more of the numbers are located in the tails of the distribution instead of around the mean.</a:t>
            </a:r>
          </a:p>
          <a:p>
            <a:endParaRPr lang="en-US" dirty="0"/>
          </a:p>
        </p:txBody>
      </p:sp>
      <p:pic>
        <p:nvPicPr>
          <p:cNvPr id="4" name="Picture 3"/>
          <p:cNvPicPr>
            <a:picLocks noChangeAspect="1"/>
          </p:cNvPicPr>
          <p:nvPr/>
        </p:nvPicPr>
        <p:blipFill>
          <a:blip r:embed="rId2"/>
          <a:stretch>
            <a:fillRect/>
          </a:stretch>
        </p:blipFill>
        <p:spPr>
          <a:xfrm>
            <a:off x="3756514" y="3825875"/>
            <a:ext cx="3295650" cy="2486025"/>
          </a:xfrm>
          <a:prstGeom prst="rect">
            <a:avLst/>
          </a:prstGeom>
        </p:spPr>
      </p:pic>
    </p:spTree>
    <p:extLst>
      <p:ext uri="{BB962C8B-B14F-4D97-AF65-F5344CB8AC3E}">
        <p14:creationId xmlns:p14="http://schemas.microsoft.com/office/powerpoint/2010/main" val="3349021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err="1" smtClean="0"/>
              <a:t>platykurtic</a:t>
            </a:r>
            <a:r>
              <a:rPr lang="en-US" b="1" dirty="0" smtClean="0"/>
              <a:t> </a:t>
            </a:r>
            <a:r>
              <a:rPr lang="en-US" b="1" dirty="0"/>
              <a:t>(kurtosis &lt; 3)</a:t>
            </a:r>
            <a:r>
              <a:rPr lang="en-US" dirty="0"/>
              <a:t/>
            </a:r>
            <a:br>
              <a:rPr lang="en-US" dirty="0"/>
            </a:br>
            <a:r>
              <a:rPr lang="en-US" dirty="0"/>
              <a:t>A </a:t>
            </a:r>
            <a:r>
              <a:rPr lang="en-US" dirty="0" err="1"/>
              <a:t>platykurtic</a:t>
            </a:r>
            <a:r>
              <a:rPr lang="en-US" dirty="0"/>
              <a:t> distribution is flatter (less peaked) when compared with the normal distribution.</a:t>
            </a:r>
          </a:p>
        </p:txBody>
      </p:sp>
      <p:pic>
        <p:nvPicPr>
          <p:cNvPr id="2050" name="Picture 2" descr="https://www.isixsigma.com/wp-content/uploads/2018/11/platykurtic-distribution.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86708" y="3270433"/>
            <a:ext cx="5826370" cy="2047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47033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38400" y="728662"/>
            <a:ext cx="7315200" cy="5400675"/>
          </a:xfrm>
          <a:prstGeom prst="rect">
            <a:avLst/>
          </a:prstGeom>
        </p:spPr>
      </p:pic>
    </p:spTree>
    <p:extLst>
      <p:ext uri="{BB962C8B-B14F-4D97-AF65-F5344CB8AC3E}">
        <p14:creationId xmlns:p14="http://schemas.microsoft.com/office/powerpoint/2010/main" val="2710894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38475" y="1933575"/>
            <a:ext cx="6115050" cy="2990850"/>
          </a:xfrm>
          <a:prstGeom prst="rect">
            <a:avLst/>
          </a:prstGeom>
        </p:spPr>
      </p:pic>
    </p:spTree>
    <p:extLst>
      <p:ext uri="{BB962C8B-B14F-4D97-AF65-F5344CB8AC3E}">
        <p14:creationId xmlns:p14="http://schemas.microsoft.com/office/powerpoint/2010/main" val="1223587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90800" y="1785937"/>
            <a:ext cx="7010400" cy="3286125"/>
          </a:xfrm>
          <a:prstGeom prst="rect">
            <a:avLst/>
          </a:prstGeom>
        </p:spPr>
      </p:pic>
    </p:spTree>
    <p:extLst>
      <p:ext uri="{BB962C8B-B14F-4D97-AF65-F5344CB8AC3E}">
        <p14:creationId xmlns:p14="http://schemas.microsoft.com/office/powerpoint/2010/main" val="17940238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14587" y="1066800"/>
            <a:ext cx="7362825" cy="4724400"/>
          </a:xfrm>
          <a:prstGeom prst="rect">
            <a:avLst/>
          </a:prstGeom>
        </p:spPr>
      </p:pic>
    </p:spTree>
    <p:extLst>
      <p:ext uri="{BB962C8B-B14F-4D97-AF65-F5344CB8AC3E}">
        <p14:creationId xmlns:p14="http://schemas.microsoft.com/office/powerpoint/2010/main" val="729722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86025" y="1685925"/>
            <a:ext cx="7219950" cy="3486150"/>
          </a:xfrm>
          <a:prstGeom prst="rect">
            <a:avLst/>
          </a:prstGeom>
        </p:spPr>
      </p:pic>
    </p:spTree>
    <p:extLst>
      <p:ext uri="{BB962C8B-B14F-4D97-AF65-F5344CB8AC3E}">
        <p14:creationId xmlns:p14="http://schemas.microsoft.com/office/powerpoint/2010/main" val="690638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miro.medium.com/max/624/1*fUZDvPyK-d9aIqCusu_R4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246" y="351692"/>
            <a:ext cx="8733692" cy="62132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550787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1309</TotalTime>
  <Words>194</Words>
  <Application>Microsoft Office PowerPoint</Application>
  <PresentationFormat>Widescreen</PresentationFormat>
  <Paragraphs>18</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-apple-system</vt:lpstr>
      <vt:lpstr>Arial</vt:lpstr>
      <vt:lpstr>Calibri</vt:lpstr>
      <vt:lpstr>Calibri Light</vt:lpstr>
      <vt:lpstr>var(--fontFamily)</vt:lpstr>
      <vt:lpstr>Office Theme</vt:lpstr>
      <vt:lpstr>PowerPoint Presentation</vt:lpstr>
      <vt:lpstr>Skewness essentially measures the symmetry of the distribution</vt:lpstr>
      <vt:lpstr>Types of skewness </vt:lpstr>
      <vt:lpstr>Negative skewed or left-skewed </vt:lpstr>
      <vt:lpstr>Calculate the skewness coefficient of the sample </vt:lpstr>
      <vt:lpstr>PowerPoint Presentation</vt:lpstr>
      <vt:lpstr>Kurtosis is a measure of the tailedness of a distribution</vt:lpstr>
      <vt:lpstr>Leptokurtic (kurtosis &gt; 3) </vt:lpstr>
      <vt:lpstr> platykurtic (kurtosis &lt; 3) A platykurtic distribution is flatter (less peaked) when compared with the normal distribution.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abc</cp:lastModifiedBy>
  <cp:revision>15</cp:revision>
  <dcterms:created xsi:type="dcterms:W3CDTF">2022-11-07T11:23:41Z</dcterms:created>
  <dcterms:modified xsi:type="dcterms:W3CDTF">2024-11-14T11:55:22Z</dcterms:modified>
</cp:coreProperties>
</file>