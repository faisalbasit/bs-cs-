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4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CF59-4437-41AE-AC3D-2C4A6E69270A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39AE3-6DB6-4D6B-A2D6-C2ACA9AC0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92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CF59-4437-41AE-AC3D-2C4A6E69270A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39AE3-6DB6-4D6B-A2D6-C2ACA9AC0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32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CF59-4437-41AE-AC3D-2C4A6E69270A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39AE3-6DB6-4D6B-A2D6-C2ACA9AC0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819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CF59-4437-41AE-AC3D-2C4A6E69270A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39AE3-6DB6-4D6B-A2D6-C2ACA9AC0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74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CF59-4437-41AE-AC3D-2C4A6E69270A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39AE3-6DB6-4D6B-A2D6-C2ACA9AC0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38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CF59-4437-41AE-AC3D-2C4A6E69270A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39AE3-6DB6-4D6B-A2D6-C2ACA9AC0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330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CF59-4437-41AE-AC3D-2C4A6E69270A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39AE3-6DB6-4D6B-A2D6-C2ACA9AC0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69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CF59-4437-41AE-AC3D-2C4A6E69270A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39AE3-6DB6-4D6B-A2D6-C2ACA9AC0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64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CF59-4437-41AE-AC3D-2C4A6E69270A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39AE3-6DB6-4D6B-A2D6-C2ACA9AC0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08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CF59-4437-41AE-AC3D-2C4A6E69270A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39AE3-6DB6-4D6B-A2D6-C2ACA9AC0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3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CF59-4437-41AE-AC3D-2C4A6E69270A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39AE3-6DB6-4D6B-A2D6-C2ACA9AC0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05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6CF59-4437-41AE-AC3D-2C4A6E69270A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39AE3-6DB6-4D6B-A2D6-C2ACA9AC0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49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Why do we study probability and statistics in the modern era?"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US" b="1" u="sng" dirty="0" smtClean="0"/>
              <a:t>Decision Making in Uncertainty </a:t>
            </a:r>
            <a:r>
              <a:rPr lang="en-US" dirty="0" smtClean="0"/>
              <a:t>:</a:t>
            </a:r>
          </a:p>
          <a:p>
            <a:r>
              <a:rPr lang="en-US" dirty="0" smtClean="0"/>
              <a:t>using chances and data to help choose the best option when we don't know what will happen for sure.</a:t>
            </a:r>
          </a:p>
          <a:p>
            <a:pPr algn="ctr"/>
            <a:r>
              <a:rPr lang="en-US" u="sng" dirty="0" smtClean="0"/>
              <a:t>Data-Driven World</a:t>
            </a:r>
          </a:p>
          <a:p>
            <a:r>
              <a:rPr lang="en-US" dirty="0" smtClean="0"/>
              <a:t>to analyze data, find patterns, make predictions, and help in making better decisions based on that information.</a:t>
            </a:r>
            <a:endParaRPr lang="en-US" dirty="0"/>
          </a:p>
          <a:p>
            <a:pPr algn="ctr"/>
            <a:r>
              <a:rPr lang="en-US" b="1" dirty="0" smtClean="0"/>
              <a:t>Scientific Research</a:t>
            </a:r>
          </a:p>
          <a:p>
            <a:r>
              <a:rPr lang="en-US" dirty="0" smtClean="0"/>
              <a:t>validate hypotheses, and ensure that experimental results are reliable and significant.</a:t>
            </a:r>
            <a:endParaRPr lang="en-US" dirty="0"/>
          </a:p>
          <a:p>
            <a:pPr algn="ctr"/>
            <a:r>
              <a:rPr lang="en-US" b="1" dirty="0" smtClean="0"/>
              <a:t>Machine Learning &amp; AI</a:t>
            </a:r>
          </a:p>
          <a:p>
            <a:r>
              <a:rPr lang="en-US" dirty="0" smtClean="0"/>
              <a:t>to build models that learn from data, make predictions, and handle uncertainty in decision-making.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81345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Why do we study probability and statistics in the modern era?"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Healthcare</a:t>
            </a:r>
          </a:p>
          <a:p>
            <a:r>
              <a:rPr lang="en-US" dirty="0" smtClean="0"/>
              <a:t>to analyze patient data, assess treatment effectiveness, predict disease outbreaks, and guide public health decisions.</a:t>
            </a:r>
            <a:endParaRPr lang="en-US" dirty="0"/>
          </a:p>
          <a:p>
            <a:pPr algn="ctr"/>
            <a:r>
              <a:rPr lang="en-US" b="1" dirty="0" smtClean="0"/>
              <a:t>Policy Making</a:t>
            </a:r>
          </a:p>
          <a:p>
            <a:r>
              <a:rPr lang="en-US" dirty="0" smtClean="0"/>
              <a:t>predict the outcomes of different policies, and make informed decisions to address social, economic, and public health issues.</a:t>
            </a:r>
            <a:endParaRPr lang="en-US" dirty="0"/>
          </a:p>
          <a:p>
            <a:pPr algn="ctr"/>
            <a:r>
              <a:rPr lang="en-US" b="1" u="sng" dirty="0" smtClean="0"/>
              <a:t>Sports &amp; Gaming</a:t>
            </a:r>
          </a:p>
          <a:p>
            <a:pPr marL="0" indent="0">
              <a:buNone/>
            </a:pPr>
            <a:r>
              <a:rPr lang="en-US" dirty="0" smtClean="0"/>
              <a:t>o analyze player performance, predict outcomes, set betting odds, and optimize strategies for both teams and individuals.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855926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b="1" dirty="0" smtClean="0"/>
              <a:t>Statistics</a:t>
            </a:r>
            <a:r>
              <a:rPr lang="en-US" dirty="0" smtClean="0"/>
              <a:t> is the science of collecting, analyzing, interpreting, presenting, and organizing data. It helps in understanding patterns, trends, and making decisions based on data.</a:t>
            </a:r>
          </a:p>
          <a:p>
            <a:endParaRPr lang="en-US" dirty="0"/>
          </a:p>
          <a:p>
            <a:r>
              <a:rPr lang="en-US" dirty="0" smtClean="0"/>
              <a:t>probability deals with predicting future events.</a:t>
            </a:r>
          </a:p>
          <a:p>
            <a:endParaRPr lang="en-US" dirty="0"/>
          </a:p>
          <a:p>
            <a:r>
              <a:rPr lang="en-US" dirty="0" smtClean="0"/>
              <a:t>statistics involves analyzing past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156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Data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collection of facts, figures, observations, or values that can be processed and analyzed to gain insights, inform decisions, and draw conclusions</a:t>
            </a:r>
          </a:p>
          <a:p>
            <a:endParaRPr lang="en-US" dirty="0" smtClean="0"/>
          </a:p>
          <a:p>
            <a:r>
              <a:rPr lang="en-US" dirty="0" smtClean="0"/>
              <a:t>Data is a collection of information, numbers, or observations that can be looked at and analyzed to help us understand things, make decisions, and reach conclusions.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834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Types of Data in Statistics: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b="1" dirty="0" smtClean="0"/>
              <a:t>Quantitative Data</a:t>
            </a:r>
            <a:r>
              <a:rPr lang="en-US" dirty="0" smtClean="0"/>
              <a:t>:</a:t>
            </a:r>
          </a:p>
          <a:p>
            <a:pPr marL="0" lvl="0" indent="0">
              <a:buNone/>
            </a:pPr>
            <a:r>
              <a:rPr lang="en-US" altLang="en-US" dirty="0">
                <a:latin typeface="Arial" panose="020B0604020202020204" pitchFamily="34" charset="0"/>
              </a:rPr>
              <a:t>Data that can be measured and expressed numerically (e.g., height, weight, age, income).</a:t>
            </a:r>
          </a:p>
          <a:p>
            <a:endParaRPr lang="en-US" dirty="0" smtClean="0"/>
          </a:p>
          <a:p>
            <a:r>
              <a:rPr lang="en-US" b="1" dirty="0" smtClean="0"/>
              <a:t>Qualitative Data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Data that describe characteristics or categories and cannot be measured numerically (e.g., gender, color, type of product).</a:t>
            </a:r>
          </a:p>
          <a:p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446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Study: Customer Satisfaction at a Restaurant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b="1" dirty="0" smtClean="0"/>
              <a:t>1. Quantitative Data Example</a:t>
            </a:r>
          </a:p>
          <a:p>
            <a:r>
              <a:rPr lang="en-US" dirty="0" smtClean="0"/>
              <a:t>The restaurant wants to evaluate customer satisfaction based on measurable factors.</a:t>
            </a:r>
          </a:p>
          <a:p>
            <a:r>
              <a:rPr lang="en-US" dirty="0" smtClean="0"/>
              <a:t>They collect </a:t>
            </a:r>
            <a:r>
              <a:rPr lang="en-US" b="1" dirty="0" smtClean="0"/>
              <a:t>quantitative data</a:t>
            </a:r>
            <a:r>
              <a:rPr lang="en-US" dirty="0" smtClean="0"/>
              <a:t> through a customer feedback survey that includes questions like:</a:t>
            </a:r>
          </a:p>
          <a:p>
            <a:pPr lvl="1"/>
            <a:r>
              <a:rPr lang="en-US" b="1" dirty="0" smtClean="0"/>
              <a:t>How many times per month do you visit the restaurant?</a:t>
            </a:r>
            <a:endParaRPr lang="en-US" dirty="0" smtClean="0"/>
          </a:p>
          <a:p>
            <a:pPr lvl="1"/>
            <a:r>
              <a:rPr lang="en-US" b="1" dirty="0" smtClean="0"/>
              <a:t>Rate your dining experience on a scale of 1 to 10.</a:t>
            </a:r>
            <a:endParaRPr lang="en-US" dirty="0" smtClean="0"/>
          </a:p>
          <a:p>
            <a:pPr lvl="1"/>
            <a:r>
              <a:rPr lang="en-US" b="1" dirty="0" smtClean="0"/>
              <a:t>How long did you wait for your food (in minutes)?</a:t>
            </a:r>
            <a:endParaRPr lang="en-US" dirty="0" smtClean="0"/>
          </a:p>
          <a:p>
            <a:pPr lvl="1"/>
            <a:r>
              <a:rPr lang="en-US" b="1" dirty="0" smtClean="0"/>
              <a:t>How much did you spend on your meal?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405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 Qualitative Data Example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restaurant also wants to understand customer opinions about their overall dining experience.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They collect </a:t>
            </a:r>
            <a:r>
              <a:rPr lang="en-US" altLang="en-US" b="1" dirty="0">
                <a:latin typeface="Arial" panose="020B0604020202020204" pitchFamily="34" charset="0"/>
              </a:rPr>
              <a:t>qualitative data</a:t>
            </a:r>
            <a:r>
              <a:rPr lang="en-US" altLang="en-US" dirty="0">
                <a:latin typeface="Arial" panose="020B0604020202020204" pitchFamily="34" charset="0"/>
              </a:rPr>
              <a:t> by asking open-ended questions such </a:t>
            </a:r>
            <a:r>
              <a:rPr lang="en-US" altLang="en-US" dirty="0" smtClean="0">
                <a:latin typeface="Arial" panose="020B0604020202020204" pitchFamily="34" charset="0"/>
              </a:rPr>
              <a:t>as: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 smtClean="0"/>
              <a:t>What did you like most about your visit?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Is there anything you would like us to improve?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How would you describe the atmosphere of the restaurant</a:t>
            </a:r>
            <a:r>
              <a:rPr lang="en-US" altLang="en-US" b="1" dirty="0">
                <a:latin typeface="Arial" panose="020B0604020202020204" pitchFamily="34" charset="0"/>
              </a:rPr>
              <a:t>?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-461665"/>
            <a:ext cx="24878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22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Quantitative Data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lvl="0"/>
            <a:r>
              <a:rPr lang="en-US" altLang="en-US" b="1" dirty="0">
                <a:latin typeface="Arial" panose="020B0604020202020204" pitchFamily="34" charset="0"/>
              </a:rPr>
              <a:t>Discrete Data</a:t>
            </a:r>
            <a:r>
              <a:rPr lang="en-US" altLang="en-US" dirty="0">
                <a:latin typeface="Arial" panose="020B0604020202020204" pitchFamily="34" charset="0"/>
              </a:rPr>
              <a:t>: Data that can take specific values (e.g., number of students in a class).</a:t>
            </a:r>
          </a:p>
          <a:p>
            <a:endParaRPr lang="en-US" dirty="0" smtClean="0"/>
          </a:p>
          <a:p>
            <a:pPr marL="228600" lvl="1">
              <a:spcBef>
                <a:spcPts val="1000"/>
              </a:spcBef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Data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Data that can take any value within a range (e.g., height, weight, temperature).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70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Qualitative Data</a:t>
            </a:r>
            <a:r>
              <a:rPr lang="en-US" dirty="0" smtClean="0"/>
              <a:t> (Categorical Data):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b="1" dirty="0" smtClean="0"/>
              <a:t>4. Based on Measurement Scale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 smtClean="0">
                <a:latin typeface="Arial" panose="020B0604020202020204" pitchFamily="34" charset="0"/>
              </a:rPr>
              <a:t>1)Nominal </a:t>
            </a:r>
            <a:r>
              <a:rPr lang="en-US" altLang="en-US" b="1" dirty="0">
                <a:latin typeface="Arial" panose="020B0604020202020204" pitchFamily="34" charset="0"/>
              </a:rPr>
              <a:t>Scale</a:t>
            </a:r>
            <a:r>
              <a:rPr lang="en-US" altLang="en-US" dirty="0"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Definition</a:t>
            </a:r>
            <a:r>
              <a:rPr lang="en-US" altLang="en-US" dirty="0">
                <a:latin typeface="Arial" panose="020B0604020202020204" pitchFamily="34" charset="0"/>
              </a:rPr>
              <a:t>: Used for labeling variables without a quantitative value (e.g., gender, nationality).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 smtClean="0"/>
              <a:t>2)</a:t>
            </a:r>
            <a:r>
              <a:rPr lang="en-US" altLang="en-US" b="1" dirty="0">
                <a:latin typeface="Arial" panose="020B0604020202020204" pitchFamily="34" charset="0"/>
              </a:rPr>
              <a:t> Ordinal Scale</a:t>
            </a:r>
            <a:r>
              <a:rPr lang="en-US" altLang="en-US" dirty="0"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Definition</a:t>
            </a:r>
            <a:r>
              <a:rPr lang="en-US" altLang="en-US" dirty="0">
                <a:latin typeface="Arial" panose="020B0604020202020204" pitchFamily="34" charset="0"/>
              </a:rPr>
              <a:t>: Used for variables with a defined order but no fixed distance (e.g., education level).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379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Interval Scale</a:t>
            </a:r>
            <a:r>
              <a:rPr lang="en-US" altLang="en-US" dirty="0"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Definition</a:t>
            </a:r>
            <a:r>
              <a:rPr lang="en-US" altLang="en-US" dirty="0">
                <a:latin typeface="Arial" panose="020B0604020202020204" pitchFamily="34" charset="0"/>
              </a:rPr>
              <a:t>: Numeric data with meaningful intervals but no true zero (e.g., temperature in Celsius).</a:t>
            </a:r>
          </a:p>
          <a:p>
            <a:r>
              <a:rPr lang="en-US" b="1" dirty="0" smtClean="0"/>
              <a:t>Ratio </a:t>
            </a:r>
            <a:r>
              <a:rPr lang="en-US" b="1" dirty="0" err="1" smtClean="0"/>
              <a:t>Scale</a:t>
            </a:r>
            <a:r>
              <a:rPr lang="en-US" dirty="0" err="1" smtClean="0"/>
              <a:t>:</a:t>
            </a:r>
            <a:r>
              <a:rPr lang="en-US" b="1" dirty="0" err="1" smtClean="0"/>
              <a:t>Definition</a:t>
            </a:r>
            <a:r>
              <a:rPr lang="en-US" dirty="0" smtClean="0"/>
              <a:t>: Numeric data with meaningful intervals and a true zero (e.g., weight, height)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885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" y="182880"/>
            <a:ext cx="10627360" cy="588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375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100" y="166232"/>
            <a:ext cx="7163800" cy="65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72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657" y="365125"/>
            <a:ext cx="9821646" cy="30865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062" y="3352800"/>
            <a:ext cx="6554115" cy="319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660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47444"/>
            <a:ext cx="9865359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71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5520" y="1016000"/>
            <a:ext cx="9702800" cy="516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882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310" y="2015054"/>
            <a:ext cx="7735380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528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practical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1279"/>
            <a:ext cx="10515600" cy="434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658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Ctr</a:t>
            </a:r>
            <a:r>
              <a:rPr lang="en-US" dirty="0" smtClean="0"/>
              <a:t> shift enter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890" y="2790736"/>
            <a:ext cx="659222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984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154" y="2571630"/>
            <a:ext cx="4953691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8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</TotalTime>
  <Words>620</Words>
  <Application>Microsoft Office PowerPoint</Application>
  <PresentationFormat>Widescreen</PresentationFormat>
  <Paragraphs>73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Why do we study probability and statistics in the modern era?"</vt:lpstr>
      <vt:lpstr>Why do we study probability and statistics in the modern era?"</vt:lpstr>
      <vt:lpstr>DEFINATION </vt:lpstr>
      <vt:lpstr>Data</vt:lpstr>
      <vt:lpstr>Types of Data in Statistics: </vt:lpstr>
      <vt:lpstr>Case Study: Customer Satisfaction at a Restaurant</vt:lpstr>
      <vt:lpstr>2. Qualitative Data Example </vt:lpstr>
      <vt:lpstr>Quantitative Data: Types</vt:lpstr>
      <vt:lpstr>Qualitative Data (Categorical Data):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First practical</vt:lpstr>
      <vt:lpstr>Ctr shift enter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wajiz.pk</dc:creator>
  <cp:lastModifiedBy>abc</cp:lastModifiedBy>
  <cp:revision>23</cp:revision>
  <dcterms:created xsi:type="dcterms:W3CDTF">2024-09-30T07:34:52Z</dcterms:created>
  <dcterms:modified xsi:type="dcterms:W3CDTF">2024-10-15T07:46:34Z</dcterms:modified>
</cp:coreProperties>
</file>