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63" r:id="rId16"/>
    <p:sldId id="271" r:id="rId17"/>
    <p:sldId id="272" r:id="rId18"/>
    <p:sldId id="273" r:id="rId19"/>
    <p:sldId id="274" r:id="rId20"/>
    <p:sldId id="276" r:id="rId21"/>
    <p:sldId id="277" r:id="rId22"/>
    <p:sldId id="27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1" d="100"/>
          <a:sy n="91" d="100"/>
        </p:scale>
        <p:origin x="-306"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38E16D8-ADC4-4E2F-AE92-DD1D7A5353C9}"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95BD0-F408-4B62-891B-BD2EAE585FB4}" type="slidenum">
              <a:rPr lang="en-US" smtClean="0"/>
              <a:t>‹#›</a:t>
            </a:fld>
            <a:endParaRPr lang="en-US"/>
          </a:p>
        </p:txBody>
      </p:sp>
    </p:spTree>
    <p:extLst>
      <p:ext uri="{BB962C8B-B14F-4D97-AF65-F5344CB8AC3E}">
        <p14:creationId xmlns:p14="http://schemas.microsoft.com/office/powerpoint/2010/main" val="3961008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8E16D8-ADC4-4E2F-AE92-DD1D7A5353C9}"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95BD0-F408-4B62-891B-BD2EAE585FB4}" type="slidenum">
              <a:rPr lang="en-US" smtClean="0"/>
              <a:t>‹#›</a:t>
            </a:fld>
            <a:endParaRPr lang="en-US"/>
          </a:p>
        </p:txBody>
      </p:sp>
    </p:spTree>
    <p:extLst>
      <p:ext uri="{BB962C8B-B14F-4D97-AF65-F5344CB8AC3E}">
        <p14:creationId xmlns:p14="http://schemas.microsoft.com/office/powerpoint/2010/main" val="426947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38E16D8-ADC4-4E2F-AE92-DD1D7A5353C9}"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95BD0-F408-4B62-891B-BD2EAE585FB4}" type="slidenum">
              <a:rPr lang="en-US" smtClean="0"/>
              <a:t>‹#›</a:t>
            </a:fld>
            <a:endParaRPr lang="en-US"/>
          </a:p>
        </p:txBody>
      </p:sp>
    </p:spTree>
    <p:extLst>
      <p:ext uri="{BB962C8B-B14F-4D97-AF65-F5344CB8AC3E}">
        <p14:creationId xmlns:p14="http://schemas.microsoft.com/office/powerpoint/2010/main" val="3810722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38E16D8-ADC4-4E2F-AE92-DD1D7A5353C9}" type="datetimeFigureOut">
              <a:rPr lang="en-US" smtClean="0"/>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595BD0-F408-4B62-891B-BD2EAE585FB4}" type="slidenum">
              <a:rPr lang="en-US" smtClean="0"/>
              <a:t>‹#›</a:t>
            </a:fld>
            <a:endParaRPr lang="en-US"/>
          </a:p>
        </p:txBody>
      </p:sp>
    </p:spTree>
    <p:extLst>
      <p:ext uri="{BB962C8B-B14F-4D97-AF65-F5344CB8AC3E}">
        <p14:creationId xmlns:p14="http://schemas.microsoft.com/office/powerpoint/2010/main" val="1073556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38E16D8-ADC4-4E2F-AE92-DD1D7A5353C9}" type="datetimeFigureOut">
              <a:rPr lang="en-US" smtClean="0"/>
              <a:t>10/15/2024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595BD0-F408-4B62-891B-BD2EAE585FB4}" type="slidenum">
              <a:rPr lang="en-US" smtClean="0"/>
              <a:t>‹#›</a:t>
            </a:fld>
            <a:endParaRPr lang="en-US"/>
          </a:p>
        </p:txBody>
      </p:sp>
    </p:spTree>
    <p:extLst>
      <p:ext uri="{BB962C8B-B14F-4D97-AF65-F5344CB8AC3E}">
        <p14:creationId xmlns:p14="http://schemas.microsoft.com/office/powerpoint/2010/main" val="1719534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38E16D8-ADC4-4E2F-AE92-DD1D7A5353C9}" type="datetimeFigureOut">
              <a:rPr lang="en-US" smtClean="0"/>
              <a:t>10/15/2024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595BD0-F408-4B62-891B-BD2EAE585FB4}" type="slidenum">
              <a:rPr lang="en-US" smtClean="0"/>
              <a:t>‹#›</a:t>
            </a:fld>
            <a:endParaRPr lang="en-US"/>
          </a:p>
        </p:txBody>
      </p:sp>
    </p:spTree>
    <p:extLst>
      <p:ext uri="{BB962C8B-B14F-4D97-AF65-F5344CB8AC3E}">
        <p14:creationId xmlns:p14="http://schemas.microsoft.com/office/powerpoint/2010/main" val="2809392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8E16D8-ADC4-4E2F-AE92-DD1D7A5353C9}" type="datetimeFigureOut">
              <a:rPr lang="en-US" smtClean="0"/>
              <a:t>10/15/2024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595BD0-F408-4B62-891B-BD2EAE585FB4}" type="slidenum">
              <a:rPr lang="en-US" smtClean="0"/>
              <a:t>‹#›</a:t>
            </a:fld>
            <a:endParaRPr lang="en-US"/>
          </a:p>
        </p:txBody>
      </p:sp>
    </p:spTree>
    <p:extLst>
      <p:ext uri="{BB962C8B-B14F-4D97-AF65-F5344CB8AC3E}">
        <p14:creationId xmlns:p14="http://schemas.microsoft.com/office/powerpoint/2010/main" val="2218919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38E16D8-ADC4-4E2F-AE92-DD1D7A5353C9}" type="datetimeFigureOut">
              <a:rPr lang="en-US" smtClean="0"/>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595BD0-F408-4B62-891B-BD2EAE585FB4}" type="slidenum">
              <a:rPr lang="en-US" smtClean="0"/>
              <a:t>‹#›</a:t>
            </a:fld>
            <a:endParaRPr lang="en-US"/>
          </a:p>
        </p:txBody>
      </p:sp>
    </p:spTree>
    <p:extLst>
      <p:ext uri="{BB962C8B-B14F-4D97-AF65-F5344CB8AC3E}">
        <p14:creationId xmlns:p14="http://schemas.microsoft.com/office/powerpoint/2010/main" val="2341147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38E16D8-ADC4-4E2F-AE92-DD1D7A5353C9}" type="datetimeFigureOut">
              <a:rPr lang="en-US" smtClean="0"/>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595BD0-F408-4B62-891B-BD2EAE585FB4}" type="slidenum">
              <a:rPr lang="en-US" smtClean="0"/>
              <a:t>‹#›</a:t>
            </a:fld>
            <a:endParaRPr lang="en-US"/>
          </a:p>
        </p:txBody>
      </p:sp>
    </p:spTree>
    <p:extLst>
      <p:ext uri="{BB962C8B-B14F-4D97-AF65-F5344CB8AC3E}">
        <p14:creationId xmlns:p14="http://schemas.microsoft.com/office/powerpoint/2010/main" val="580989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8E16D8-ADC4-4E2F-AE92-DD1D7A5353C9}"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95BD0-F408-4B62-891B-BD2EAE585FB4}" type="slidenum">
              <a:rPr lang="en-US" smtClean="0"/>
              <a:t>‹#›</a:t>
            </a:fld>
            <a:endParaRPr lang="en-US"/>
          </a:p>
        </p:txBody>
      </p:sp>
    </p:spTree>
    <p:extLst>
      <p:ext uri="{BB962C8B-B14F-4D97-AF65-F5344CB8AC3E}">
        <p14:creationId xmlns:p14="http://schemas.microsoft.com/office/powerpoint/2010/main" val="2543898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38E16D8-ADC4-4E2F-AE92-DD1D7A5353C9}"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595BD0-F408-4B62-891B-BD2EAE585FB4}" type="slidenum">
              <a:rPr lang="en-US" smtClean="0"/>
              <a:t>‹#›</a:t>
            </a:fld>
            <a:endParaRPr lang="en-US"/>
          </a:p>
        </p:txBody>
      </p:sp>
    </p:spTree>
    <p:extLst>
      <p:ext uri="{BB962C8B-B14F-4D97-AF65-F5344CB8AC3E}">
        <p14:creationId xmlns:p14="http://schemas.microsoft.com/office/powerpoint/2010/main" val="3992208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8E16D8-ADC4-4E2F-AE92-DD1D7A5353C9}" type="datetimeFigureOut">
              <a:rPr lang="en-US" smtClean="0"/>
              <a:t>10/15/2024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595BD0-F408-4B62-891B-BD2EAE585FB4}" type="slidenum">
              <a:rPr lang="en-US" smtClean="0"/>
              <a:t>‹#›</a:t>
            </a:fld>
            <a:endParaRPr lang="en-US"/>
          </a:p>
        </p:txBody>
      </p:sp>
    </p:spTree>
    <p:extLst>
      <p:ext uri="{BB962C8B-B14F-4D97-AF65-F5344CB8AC3E}">
        <p14:creationId xmlns:p14="http://schemas.microsoft.com/office/powerpoint/2010/main" val="638164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online.hbs.edu/blog/post/descriptive-analytic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cap="all" dirty="0" smtClean="0"/>
              <a:t/>
            </a:r>
            <a:br>
              <a:rPr lang="en-US" cap="all" dirty="0" smtClean="0"/>
            </a:br>
            <a:r>
              <a:rPr lang="en-US" cap="all" dirty="0"/>
              <a:t/>
            </a:r>
            <a:br>
              <a:rPr lang="en-US" cap="all" dirty="0"/>
            </a:br>
            <a:r>
              <a:rPr lang="en-US" cap="all" dirty="0" smtClean="0"/>
              <a:t>4 </a:t>
            </a:r>
            <a:r>
              <a:rPr lang="en-US" cap="all" dirty="0"/>
              <a:t>Key Types of Data Analytics</a:t>
            </a:r>
            <a:br>
              <a:rPr lang="en-US" cap="all" dirty="0"/>
            </a:b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endParaRPr lang="en-US" dirty="0" smtClean="0"/>
          </a:p>
          <a:p>
            <a:endParaRPr lang="en-US" dirty="0"/>
          </a:p>
          <a:p>
            <a:pPr marL="0" indent="0">
              <a:buNone/>
            </a:pPr>
            <a:r>
              <a:rPr lang="en-US" dirty="0"/>
              <a:t>1. Descriptive Analytics</a:t>
            </a:r>
          </a:p>
          <a:p>
            <a:pPr marL="0" indent="0">
              <a:buNone/>
            </a:pPr>
            <a:r>
              <a:rPr lang="en-US" dirty="0" smtClean="0"/>
              <a:t/>
            </a:r>
            <a:br>
              <a:rPr lang="en-US" dirty="0" smtClean="0"/>
            </a:br>
            <a:r>
              <a:rPr lang="en-US" dirty="0"/>
              <a:t>2. Diagnostic Analytics</a:t>
            </a:r>
          </a:p>
          <a:p>
            <a:pPr marL="0" indent="0">
              <a:buNone/>
            </a:pPr>
            <a:r>
              <a:rPr lang="en-US" dirty="0"/>
              <a:t>3. Predictive Analytics</a:t>
            </a:r>
          </a:p>
          <a:p>
            <a:pPr marL="0" indent="0">
              <a:buNone/>
            </a:pPr>
            <a:r>
              <a:rPr lang="en-US" dirty="0"/>
              <a:t>4. Prescriptive Analytics</a:t>
            </a:r>
          </a:p>
          <a:p>
            <a:pPr marL="0" indent="0">
              <a:buNone/>
            </a:pPr>
            <a:r>
              <a:rPr lang="en-US" dirty="0" smtClean="0"/>
              <a:t/>
            </a:r>
            <a:br>
              <a:rPr lang="en-US" dirty="0" smtClean="0"/>
            </a:br>
            <a:r>
              <a:rPr lang="en-US" dirty="0" smtClean="0"/>
              <a:t/>
            </a:r>
            <a:br>
              <a:rPr lang="en-US" dirty="0" smtClean="0"/>
            </a:br>
            <a:endParaRPr lang="en-US" dirty="0"/>
          </a:p>
        </p:txBody>
      </p:sp>
    </p:spTree>
    <p:extLst>
      <p:ext uri="{BB962C8B-B14F-4D97-AF65-F5344CB8AC3E}">
        <p14:creationId xmlns:p14="http://schemas.microsoft.com/office/powerpoint/2010/main" val="3524041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hlinkClick r:id="rId2"/>
              </a:rPr>
              <a:t>Descriptive analytics</a:t>
            </a:r>
            <a:endParaRPr lang="en-US" dirty="0"/>
          </a:p>
        </p:txBody>
      </p:sp>
      <p:sp>
        <p:nvSpPr>
          <p:cNvPr id="3" name="Content Placeholder 2"/>
          <p:cNvSpPr>
            <a:spLocks noGrp="1"/>
          </p:cNvSpPr>
          <p:nvPr>
            <p:ph idx="1"/>
          </p:nvPr>
        </p:nvSpPr>
        <p:spPr/>
        <p:txBody>
          <a:bodyPr/>
          <a:lstStyle/>
          <a:p>
            <a:endParaRPr lang="en-US" dirty="0" smtClean="0"/>
          </a:p>
          <a:p>
            <a:r>
              <a:rPr lang="en-US" dirty="0" smtClean="0"/>
              <a:t>Descriptive analytics refers to the process of analyzing historical data to understand what has happened in the past. It is the foundation of data analytics, used to summarize and interpret raw data to make it more understandable. Typically, descriptive analytics involves aggregating and visualizing data to find patterns, trends, and insights that help organizations make informed decisions..</a:t>
            </a:r>
            <a:endParaRPr lang="en-US" dirty="0"/>
          </a:p>
        </p:txBody>
      </p:sp>
    </p:spTree>
    <p:extLst>
      <p:ext uri="{BB962C8B-B14F-4D97-AF65-F5344CB8AC3E}">
        <p14:creationId xmlns:p14="http://schemas.microsoft.com/office/powerpoint/2010/main" val="1393244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features of descriptive analytics include:</a:t>
            </a:r>
            <a:br>
              <a:rPr lang="en-US" dirty="0" smtClean="0"/>
            </a:br>
            <a:endParaRPr lang="en-US" dirty="0"/>
          </a:p>
        </p:txBody>
      </p:sp>
      <p:sp>
        <p:nvSpPr>
          <p:cNvPr id="4" name="Rectangle 1"/>
          <p:cNvSpPr>
            <a:spLocks noGrp="1" noChangeArrowheads="1"/>
          </p:cNvSpPr>
          <p:nvPr>
            <p:ph idx="1"/>
          </p:nvPr>
        </p:nvSpPr>
        <p:spPr bwMode="auto">
          <a:xfrm>
            <a:off x="838200" y="2847133"/>
            <a:ext cx="906632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Summarization</a:t>
            </a:r>
            <a:r>
              <a:rPr kumimoji="0" lang="en-US" sz="1800" b="0" i="0" u="none" strike="noStrike" cap="none" normalizeH="0" baseline="0" dirty="0" smtClean="0">
                <a:ln>
                  <a:noFill/>
                </a:ln>
                <a:solidFill>
                  <a:schemeClr val="tx1"/>
                </a:solidFill>
                <a:effectLst/>
                <a:latin typeface="Arial" panose="020B0604020202020204" pitchFamily="34" charset="0"/>
              </a:rPr>
              <a:t>: It uses techniques like averages, sums, counts, and percentages</a:t>
            </a:r>
          </a:p>
          <a:p>
            <a:pPr marL="0" marR="0" lvl="0" indent="0" algn="l" defTabSz="914400" rtl="0" eaLnBrk="0" fontAlgn="base" latinLnBrk="0" hangingPunct="0">
              <a:lnSpc>
                <a:spcPct val="100000"/>
              </a:lnSpc>
              <a:spcBef>
                <a:spcPct val="0"/>
              </a:spcBef>
              <a:spcAft>
                <a:spcPct val="0"/>
              </a:spcAft>
              <a:buClrTx/>
              <a:buSzTx/>
              <a:buNone/>
              <a:tabLst/>
            </a:pPr>
            <a:r>
              <a:rPr kumimoji="0" lang="en-US" sz="1800" b="0" i="0" u="none" strike="noStrike" cap="none" normalizeH="0" baseline="0" dirty="0" smtClean="0">
                <a:ln>
                  <a:noFill/>
                </a:ln>
                <a:solidFill>
                  <a:schemeClr val="tx1"/>
                </a:solidFill>
                <a:effectLst/>
                <a:latin typeface="Arial" panose="020B0604020202020204" pitchFamily="34" charset="0"/>
              </a:rPr>
              <a:t> to summarize large datasets.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Data Visualization</a:t>
            </a:r>
            <a:r>
              <a:rPr kumimoji="0" lang="en-US" sz="1800" b="0" i="0" u="none" strike="noStrike" cap="none" normalizeH="0" baseline="0" dirty="0" smtClean="0">
                <a:ln>
                  <a:noFill/>
                </a:ln>
                <a:solidFill>
                  <a:schemeClr val="tx1"/>
                </a:solidFill>
                <a:effectLst/>
                <a:latin typeface="Arial" panose="020B0604020202020204" pitchFamily="34" charset="0"/>
              </a:rPr>
              <a:t>: Charts, graphs, tables, and dashboards are common tools to</a:t>
            </a:r>
          </a:p>
          <a:p>
            <a:pPr marL="0" marR="0" lvl="0" indent="0" algn="l" defTabSz="914400" rtl="0" eaLnBrk="0" fontAlgn="base" latinLnBrk="0" hangingPunct="0">
              <a:lnSpc>
                <a:spcPct val="100000"/>
              </a:lnSpc>
              <a:spcBef>
                <a:spcPct val="0"/>
              </a:spcBef>
              <a:spcAft>
                <a:spcPct val="0"/>
              </a:spcAft>
              <a:buClrTx/>
              <a:buSzTx/>
              <a:buNone/>
              <a:tabLst/>
            </a:pPr>
            <a:r>
              <a:rPr kumimoji="0" lang="en-US" sz="1800" b="0" i="0" u="none" strike="noStrike" cap="none" normalizeH="0" baseline="0" dirty="0" smtClean="0">
                <a:ln>
                  <a:noFill/>
                </a:ln>
                <a:solidFill>
                  <a:schemeClr val="tx1"/>
                </a:solidFill>
                <a:effectLst/>
                <a:latin typeface="Arial" panose="020B0604020202020204" pitchFamily="34" charset="0"/>
              </a:rPr>
              <a:t> visualize data and make trends more evident.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Historical Analysis</a:t>
            </a:r>
            <a:r>
              <a:rPr kumimoji="0" lang="en-US" sz="1800" b="0" i="0" u="none" strike="noStrike" cap="none" normalizeH="0" baseline="0" dirty="0" smtClean="0">
                <a:ln>
                  <a:noFill/>
                </a:ln>
                <a:solidFill>
                  <a:schemeClr val="tx1"/>
                </a:solidFill>
                <a:effectLst/>
                <a:latin typeface="Arial" panose="020B0604020202020204" pitchFamily="34" charset="0"/>
              </a:rPr>
              <a:t>: Descriptive analytics only looks at past data and does not predict</a:t>
            </a:r>
          </a:p>
          <a:p>
            <a:pPr marL="0" marR="0" lvl="0" indent="0" algn="l" defTabSz="914400" rtl="0" eaLnBrk="0" fontAlgn="base" latinLnBrk="0" hangingPunct="0">
              <a:lnSpc>
                <a:spcPct val="100000"/>
              </a:lnSpc>
              <a:spcBef>
                <a:spcPct val="0"/>
              </a:spcBef>
              <a:spcAft>
                <a:spcPct val="0"/>
              </a:spcAft>
              <a:buClrTx/>
              <a:buSzTx/>
              <a:buNone/>
              <a:tabLst/>
            </a:pPr>
            <a:r>
              <a:rPr kumimoji="0" lang="en-US" sz="1800" b="0" i="0" u="none" strike="noStrike" cap="none" normalizeH="0" baseline="0" dirty="0" smtClean="0">
                <a:ln>
                  <a:noFill/>
                </a:ln>
                <a:solidFill>
                  <a:schemeClr val="tx1"/>
                </a:solidFill>
                <a:effectLst/>
                <a:latin typeface="Arial" panose="020B0604020202020204" pitchFamily="34" charset="0"/>
              </a:rPr>
              <a:t>future outcomes. Its purpose is to answer questions such as "What happened?"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panose="020B0604020202020204" pitchFamily="34" charset="0"/>
              </a:rPr>
              <a:t>Reporting</a:t>
            </a:r>
            <a:r>
              <a:rPr kumimoji="0" lang="en-US" sz="1800" b="0" i="0" u="none" strike="noStrike" cap="none" normalizeH="0" baseline="0" dirty="0" smtClean="0">
                <a:ln>
                  <a:noFill/>
                </a:ln>
                <a:solidFill>
                  <a:schemeClr val="tx1"/>
                </a:solidFill>
                <a:effectLst/>
                <a:latin typeface="Arial" panose="020B0604020202020204" pitchFamily="34" charset="0"/>
              </a:rPr>
              <a:t>: It generates reports that are essential for regular performance tracking, </a:t>
            </a:r>
          </a:p>
          <a:p>
            <a:pPr marL="0" marR="0" lvl="0" indent="0" algn="l" defTabSz="914400" rtl="0" eaLnBrk="0" fontAlgn="base" latinLnBrk="0" hangingPunct="0">
              <a:lnSpc>
                <a:spcPct val="100000"/>
              </a:lnSpc>
              <a:spcBef>
                <a:spcPct val="0"/>
              </a:spcBef>
              <a:spcAft>
                <a:spcPct val="0"/>
              </a:spcAft>
              <a:buClrTx/>
              <a:buSzTx/>
              <a:buNone/>
              <a:tabLst/>
            </a:pPr>
            <a:r>
              <a:rPr kumimoji="0" lang="en-US" sz="1800" b="0" i="0" u="none" strike="noStrike" cap="none" normalizeH="0" baseline="0" dirty="0" smtClean="0">
                <a:ln>
                  <a:noFill/>
                </a:ln>
                <a:solidFill>
                  <a:schemeClr val="tx1"/>
                </a:solidFill>
                <a:effectLst/>
                <a:latin typeface="Arial" panose="020B0604020202020204" pitchFamily="34" charset="0"/>
              </a:rPr>
              <a:t>helping businesses measure key performance indicators (KPIs).</a:t>
            </a:r>
          </a:p>
        </p:txBody>
      </p:sp>
    </p:spTree>
    <p:extLst>
      <p:ext uri="{BB962C8B-B14F-4D97-AF65-F5344CB8AC3E}">
        <p14:creationId xmlns:p14="http://schemas.microsoft.com/office/powerpoint/2010/main" val="3051211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 Retail Store Sales Performance</a:t>
            </a:r>
            <a:endParaRPr lang="en-US" dirty="0"/>
          </a:p>
        </p:txBody>
      </p:sp>
      <p:sp>
        <p:nvSpPr>
          <p:cNvPr id="3" name="Content Placeholder 2"/>
          <p:cNvSpPr>
            <a:spLocks noGrp="1"/>
          </p:cNvSpPr>
          <p:nvPr>
            <p:ph idx="1"/>
          </p:nvPr>
        </p:nvSpPr>
        <p:spPr/>
        <p:txBody>
          <a:bodyPr/>
          <a:lstStyle/>
          <a:p>
            <a:endParaRPr lang="en-US" dirty="0" smtClean="0"/>
          </a:p>
          <a:p>
            <a:r>
              <a:rPr lang="en-US" dirty="0" smtClean="0"/>
              <a:t>A nationwide retail chain, "</a:t>
            </a:r>
            <a:r>
              <a:rPr lang="en-US" dirty="0" err="1" smtClean="0"/>
              <a:t>FashionCo</a:t>
            </a:r>
            <a:r>
              <a:rPr lang="en-US" dirty="0" smtClean="0"/>
              <a:t>," is looking to improve its understanding of sales performance across its stores. The company operates in multiple cities and sells clothing, accessories, and footwear. They have been collecting sales data for years but haven't used this data to its full potential.</a:t>
            </a:r>
            <a:endParaRPr lang="en-US" dirty="0"/>
          </a:p>
        </p:txBody>
      </p:sp>
    </p:spTree>
    <p:extLst>
      <p:ext uri="{BB962C8B-B14F-4D97-AF65-F5344CB8AC3E}">
        <p14:creationId xmlns:p14="http://schemas.microsoft.com/office/powerpoint/2010/main" val="554732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31743" y="1836554"/>
            <a:ext cx="7038975" cy="4048125"/>
          </a:xfrm>
          <a:prstGeom prst="rect">
            <a:avLst/>
          </a:prstGeom>
        </p:spPr>
      </p:pic>
    </p:spTree>
    <p:extLst>
      <p:ext uri="{BB962C8B-B14F-4D97-AF65-F5344CB8AC3E}">
        <p14:creationId xmlns:p14="http://schemas.microsoft.com/office/powerpoint/2010/main" val="2966350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44906" y="786240"/>
            <a:ext cx="6943725" cy="4343400"/>
          </a:xfrm>
          <a:prstGeom prst="rect">
            <a:avLst/>
          </a:prstGeom>
        </p:spPr>
      </p:pic>
    </p:spTree>
    <p:extLst>
      <p:ext uri="{BB962C8B-B14F-4D97-AF65-F5344CB8AC3E}">
        <p14:creationId xmlns:p14="http://schemas.microsoft.com/office/powerpoint/2010/main" val="3135458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26124" y="1043355"/>
            <a:ext cx="9425354" cy="3268906"/>
          </a:xfrm>
          <a:prstGeom prst="rect">
            <a:avLst/>
          </a:prstGeom>
        </p:spPr>
      </p:pic>
    </p:spTree>
    <p:extLst>
      <p:ext uri="{BB962C8B-B14F-4D97-AF65-F5344CB8AC3E}">
        <p14:creationId xmlns:p14="http://schemas.microsoft.com/office/powerpoint/2010/main" val="1092500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8200" y="1148862"/>
            <a:ext cx="8980610" cy="3943350"/>
          </a:xfrm>
          <a:prstGeom prst="rect">
            <a:avLst/>
          </a:prstGeom>
        </p:spPr>
      </p:pic>
    </p:spTree>
    <p:extLst>
      <p:ext uri="{BB962C8B-B14F-4D97-AF65-F5344CB8AC3E}">
        <p14:creationId xmlns:p14="http://schemas.microsoft.com/office/powerpoint/2010/main" val="2171333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63262" y="1081454"/>
            <a:ext cx="7315200" cy="4343400"/>
          </a:xfrm>
          <a:prstGeom prst="rect">
            <a:avLst/>
          </a:prstGeom>
        </p:spPr>
      </p:pic>
    </p:spTree>
    <p:extLst>
      <p:ext uri="{BB962C8B-B14F-4D97-AF65-F5344CB8AC3E}">
        <p14:creationId xmlns:p14="http://schemas.microsoft.com/office/powerpoint/2010/main" val="1050897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843212" y="1719262"/>
            <a:ext cx="6505575" cy="3419475"/>
          </a:xfrm>
          <a:prstGeom prst="rect">
            <a:avLst/>
          </a:prstGeom>
        </p:spPr>
      </p:pic>
    </p:spTree>
    <p:extLst>
      <p:ext uri="{BB962C8B-B14F-4D97-AF65-F5344CB8AC3E}">
        <p14:creationId xmlns:p14="http://schemas.microsoft.com/office/powerpoint/2010/main" val="3472246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92924" y="690563"/>
            <a:ext cx="6600825" cy="1000125"/>
          </a:xfrm>
          <a:prstGeom prst="rect">
            <a:avLst/>
          </a:prstGeom>
        </p:spPr>
      </p:pic>
      <p:pic>
        <p:nvPicPr>
          <p:cNvPr id="5" name="Picture 4"/>
          <p:cNvPicPr>
            <a:picLocks noChangeAspect="1"/>
          </p:cNvPicPr>
          <p:nvPr/>
        </p:nvPicPr>
        <p:blipFill>
          <a:blip r:embed="rId3"/>
          <a:stretch>
            <a:fillRect/>
          </a:stretch>
        </p:blipFill>
        <p:spPr>
          <a:xfrm>
            <a:off x="1992924" y="1690688"/>
            <a:ext cx="2114550" cy="4467225"/>
          </a:xfrm>
          <a:prstGeom prst="rect">
            <a:avLst/>
          </a:prstGeom>
        </p:spPr>
      </p:pic>
      <p:pic>
        <p:nvPicPr>
          <p:cNvPr id="6" name="Picture 5"/>
          <p:cNvPicPr>
            <a:picLocks noChangeAspect="1"/>
          </p:cNvPicPr>
          <p:nvPr/>
        </p:nvPicPr>
        <p:blipFill>
          <a:blip r:embed="rId4"/>
          <a:stretch>
            <a:fillRect/>
          </a:stretch>
        </p:blipFill>
        <p:spPr>
          <a:xfrm>
            <a:off x="5597402" y="2530352"/>
            <a:ext cx="2333625" cy="2219325"/>
          </a:xfrm>
          <a:prstGeom prst="rect">
            <a:avLst/>
          </a:prstGeom>
        </p:spPr>
      </p:pic>
    </p:spTree>
    <p:extLst>
      <p:ext uri="{BB962C8B-B14F-4D97-AF65-F5344CB8AC3E}">
        <p14:creationId xmlns:p14="http://schemas.microsoft.com/office/powerpoint/2010/main" val="1476708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53344" y="1742708"/>
            <a:ext cx="7172325" cy="3114675"/>
          </a:xfrm>
          <a:prstGeom prst="rect">
            <a:avLst/>
          </a:prstGeom>
        </p:spPr>
      </p:pic>
    </p:spTree>
    <p:extLst>
      <p:ext uri="{BB962C8B-B14F-4D97-AF65-F5344CB8AC3E}">
        <p14:creationId xmlns:p14="http://schemas.microsoft.com/office/powerpoint/2010/main" val="683702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77902" y="2604783"/>
            <a:ext cx="6829425" cy="1409700"/>
          </a:xfrm>
          <a:prstGeom prst="rect">
            <a:avLst/>
          </a:prstGeom>
        </p:spPr>
      </p:pic>
    </p:spTree>
    <p:extLst>
      <p:ext uri="{BB962C8B-B14F-4D97-AF65-F5344CB8AC3E}">
        <p14:creationId xmlns:p14="http://schemas.microsoft.com/office/powerpoint/2010/main" val="1640450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8979767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r>
              <a:rPr lang="en-US" b="1" dirty="0"/>
              <a:t>Diagnostic Analytics</a:t>
            </a:r>
            <a:r>
              <a:rPr lang="en-US" dirty="0"/>
              <a:t> refers to the process of examining historical data to determine </a:t>
            </a:r>
            <a:r>
              <a:rPr lang="en-US" i="1" dirty="0"/>
              <a:t>why</a:t>
            </a:r>
            <a:r>
              <a:rPr lang="en-US" dirty="0"/>
              <a:t> something happened. Unlike descriptive analytics, which focuses on summarizing what happened, diagnostic analytics digs deeper to identify the underlying causes of observed outcomes or trends.</a:t>
            </a:r>
          </a:p>
          <a:p>
            <a:endParaRPr lang="en-US" dirty="0"/>
          </a:p>
        </p:txBody>
      </p:sp>
    </p:spTree>
    <p:extLst>
      <p:ext uri="{BB962C8B-B14F-4D97-AF65-F5344CB8AC3E}">
        <p14:creationId xmlns:p14="http://schemas.microsoft.com/office/powerpoint/2010/main" val="2351363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Aspects of Diagnostic Analytics:</a:t>
            </a:r>
            <a:br>
              <a:rPr lang="en-US" b="1" dirty="0"/>
            </a:br>
            <a:endParaRPr lang="en-US" dirty="0"/>
          </a:p>
        </p:txBody>
      </p:sp>
      <p:sp>
        <p:nvSpPr>
          <p:cNvPr id="3" name="Content Placeholder 2"/>
          <p:cNvSpPr>
            <a:spLocks noGrp="1"/>
          </p:cNvSpPr>
          <p:nvPr>
            <p:ph idx="1"/>
          </p:nvPr>
        </p:nvSpPr>
        <p:spPr/>
        <p:txBody>
          <a:bodyPr/>
          <a:lstStyle/>
          <a:p>
            <a:r>
              <a:rPr lang="en-US" b="1" dirty="0"/>
              <a:t>Identifying Patterns and Anomalies</a:t>
            </a:r>
            <a:r>
              <a:rPr lang="en-US" dirty="0"/>
              <a:t>: It looks for correlations, trends, and unusual behaviors in data.</a:t>
            </a:r>
          </a:p>
          <a:p>
            <a:r>
              <a:rPr lang="en-US" b="1" dirty="0"/>
              <a:t>Root Cause Analysis</a:t>
            </a:r>
            <a:r>
              <a:rPr lang="en-US" dirty="0"/>
              <a:t>: Diagnostic analytics helps to uncover the reasons behind certain outcomes by analyzing data relationships.</a:t>
            </a:r>
          </a:p>
          <a:p>
            <a:r>
              <a:rPr lang="en-US" b="1" dirty="0"/>
              <a:t>Use of Statistical Techniques</a:t>
            </a:r>
            <a:r>
              <a:rPr lang="en-US" dirty="0"/>
              <a:t>: Methods like regression analysis, drill-down, and data mining are commonly used to isolate factors contributing to the outcome.</a:t>
            </a:r>
          </a:p>
          <a:p>
            <a:r>
              <a:rPr lang="en-US" b="1" dirty="0"/>
              <a:t>Interactive Reporting</a:t>
            </a:r>
            <a:r>
              <a:rPr lang="en-US" dirty="0"/>
              <a:t>: Tools like dashboards and visualizations help users investigate data in real-time and explore potential causes.</a:t>
            </a:r>
          </a:p>
          <a:p>
            <a:endParaRPr lang="en-US" dirty="0"/>
          </a:p>
        </p:txBody>
      </p:sp>
    </p:spTree>
    <p:extLst>
      <p:ext uri="{BB962C8B-B14F-4D97-AF65-F5344CB8AC3E}">
        <p14:creationId xmlns:p14="http://schemas.microsoft.com/office/powerpoint/2010/main" val="3301149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Predictive Analytics</a:t>
            </a:r>
            <a:endParaRPr lang="en-US" dirty="0"/>
          </a:p>
        </p:txBody>
      </p:sp>
      <p:sp>
        <p:nvSpPr>
          <p:cNvPr id="3" name="Content Placeholder 2"/>
          <p:cNvSpPr>
            <a:spLocks noGrp="1"/>
          </p:cNvSpPr>
          <p:nvPr>
            <p:ph idx="1"/>
          </p:nvPr>
        </p:nvSpPr>
        <p:spPr/>
        <p:txBody>
          <a:bodyPr/>
          <a:lstStyle/>
          <a:p>
            <a:r>
              <a:rPr lang="en-US" b="1" dirty="0"/>
              <a:t>Predictive Analytics</a:t>
            </a:r>
            <a:r>
              <a:rPr lang="en-US" dirty="0"/>
              <a:t> involves using historical data, statistical algorithms, and machine learning techniques to predict future outcomes. The goal of predictive analytics is to forecast potential future events or trends, allowing businesses or individuals to make more informed decisions based on likely scenarios.</a:t>
            </a:r>
          </a:p>
          <a:p>
            <a:endParaRPr lang="en-US" dirty="0"/>
          </a:p>
        </p:txBody>
      </p:sp>
    </p:spTree>
    <p:extLst>
      <p:ext uri="{BB962C8B-B14F-4D97-AF65-F5344CB8AC3E}">
        <p14:creationId xmlns:p14="http://schemas.microsoft.com/office/powerpoint/2010/main" val="1461181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Predictive Analytics</a:t>
            </a:r>
            <a:endParaRPr lang="en-US" dirty="0"/>
          </a:p>
        </p:txBody>
      </p:sp>
      <p:sp>
        <p:nvSpPr>
          <p:cNvPr id="3" name="Content Placeholder 2"/>
          <p:cNvSpPr>
            <a:spLocks noGrp="1"/>
          </p:cNvSpPr>
          <p:nvPr>
            <p:ph idx="1"/>
          </p:nvPr>
        </p:nvSpPr>
        <p:spPr/>
        <p:txBody>
          <a:bodyPr>
            <a:normAutofit fontScale="92500"/>
          </a:bodyPr>
          <a:lstStyle/>
          <a:p>
            <a:r>
              <a:rPr lang="en-US" b="1" dirty="0"/>
              <a:t>Key Aspects of Predictive Analytics:</a:t>
            </a:r>
          </a:p>
          <a:p>
            <a:r>
              <a:rPr lang="en-US" b="1" dirty="0"/>
              <a:t>Data Patterns and Trends</a:t>
            </a:r>
            <a:r>
              <a:rPr lang="en-US" dirty="0"/>
              <a:t>: Predictive models analyze past data to identify patterns and trends that can be extended to predict future events.</a:t>
            </a:r>
          </a:p>
          <a:p>
            <a:r>
              <a:rPr lang="en-US" b="1" dirty="0"/>
              <a:t>Machine Learning</a:t>
            </a:r>
            <a:r>
              <a:rPr lang="en-US" dirty="0"/>
              <a:t>: It often involves advanced machine learning models, such as regression models, decision trees, neural networks, and time-series forecasting.</a:t>
            </a:r>
          </a:p>
          <a:p>
            <a:r>
              <a:rPr lang="en-US" b="1" dirty="0"/>
              <a:t>Probabilities and Scenarios</a:t>
            </a:r>
            <a:r>
              <a:rPr lang="en-US" dirty="0"/>
              <a:t>: Predictive analytics doesn’t provide exact answers but estimates the likelihood of various outcomes happening.</a:t>
            </a:r>
          </a:p>
          <a:p>
            <a:r>
              <a:rPr lang="en-US" b="1" dirty="0"/>
              <a:t>Data-Driven Decision-Making</a:t>
            </a:r>
            <a:r>
              <a:rPr lang="en-US" dirty="0"/>
              <a:t>: The insights gained are used to anticipate potential risks, opportunities, and trends, allowing for proactive strategies.</a:t>
            </a:r>
          </a:p>
          <a:p>
            <a:endParaRPr lang="en-US" dirty="0"/>
          </a:p>
        </p:txBody>
      </p:sp>
    </p:spTree>
    <p:extLst>
      <p:ext uri="{BB962C8B-B14F-4D97-AF65-F5344CB8AC3E}">
        <p14:creationId xmlns:p14="http://schemas.microsoft.com/office/powerpoint/2010/main" val="3015113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r>
              <a:rPr lang="en-US" b="1" dirty="0"/>
              <a:t>Prescriptive Analytics</a:t>
            </a:r>
            <a:r>
              <a:rPr lang="en-US" dirty="0"/>
              <a:t> is an advanced form of data analysis that not only predicts future outcomes but also recommends specific actions to achieve desired results. It suggests the best course of action by analyzing data, considering business constraints, and optimizing for desired objectives. In essence, it answers the question: </a:t>
            </a:r>
            <a:r>
              <a:rPr lang="en-US" i="1" dirty="0"/>
              <a:t>What should be done?</a:t>
            </a:r>
            <a:endParaRPr lang="en-US" dirty="0"/>
          </a:p>
          <a:p>
            <a:endParaRPr lang="en-US" dirty="0"/>
          </a:p>
        </p:txBody>
      </p:sp>
    </p:spTree>
    <p:extLst>
      <p:ext uri="{BB962C8B-B14F-4D97-AF65-F5344CB8AC3E}">
        <p14:creationId xmlns:p14="http://schemas.microsoft.com/office/powerpoint/2010/main" val="741323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pPr marL="0" lvl="0" indent="0" eaLnBrk="0" fontAlgn="base" hangingPunct="0">
              <a:lnSpc>
                <a:spcPct val="100000"/>
              </a:lnSpc>
              <a:spcBef>
                <a:spcPct val="0"/>
              </a:spcBef>
              <a:spcAft>
                <a:spcPct val="0"/>
              </a:spcAft>
              <a:buFontTx/>
              <a:buChar char="•"/>
            </a:pPr>
            <a:r>
              <a:rPr lang="en-US" b="1" dirty="0">
                <a:latin typeface="Arial" panose="020B0604020202020204" pitchFamily="34" charset="0"/>
              </a:rPr>
              <a:t>Recommendations for Action</a:t>
            </a:r>
            <a:r>
              <a:rPr lang="en-US" dirty="0">
                <a:latin typeface="Arial" panose="020B0604020202020204" pitchFamily="34" charset="0"/>
              </a:rPr>
              <a:t>: Instead of just forecasting, prescriptive analytics provides actionable suggestions </a:t>
            </a:r>
            <a:endParaRPr lang="en-US" dirty="0" smtClean="0">
              <a:latin typeface="Arial" panose="020B0604020202020204" pitchFamily="34" charset="0"/>
            </a:endParaRPr>
          </a:p>
          <a:p>
            <a:pPr marL="0" lvl="0" indent="0" eaLnBrk="0" fontAlgn="base" hangingPunct="0">
              <a:lnSpc>
                <a:spcPct val="100000"/>
              </a:lnSpc>
              <a:spcBef>
                <a:spcPct val="0"/>
              </a:spcBef>
              <a:spcAft>
                <a:spcPct val="0"/>
              </a:spcAft>
              <a:buNone/>
            </a:pPr>
            <a:r>
              <a:rPr lang="en-US" dirty="0" smtClean="0">
                <a:latin typeface="Arial" panose="020B0604020202020204" pitchFamily="34" charset="0"/>
              </a:rPr>
              <a:t>to </a:t>
            </a:r>
            <a:r>
              <a:rPr lang="en-US" dirty="0">
                <a:latin typeface="Arial" panose="020B0604020202020204" pitchFamily="34" charset="0"/>
              </a:rPr>
              <a:t>optimize decision-making</a:t>
            </a:r>
            <a:r>
              <a:rPr lang="en-US" dirty="0" smtClean="0">
                <a:latin typeface="Arial" panose="020B0604020202020204" pitchFamily="34" charset="0"/>
              </a:rPr>
              <a:t>.</a:t>
            </a:r>
          </a:p>
          <a:p>
            <a:pPr marL="0" lvl="0" indent="0" eaLnBrk="0" fontAlgn="base" hangingPunct="0">
              <a:lnSpc>
                <a:spcPct val="100000"/>
              </a:lnSpc>
              <a:spcBef>
                <a:spcPct val="0"/>
              </a:spcBef>
              <a:spcAft>
                <a:spcPct val="0"/>
              </a:spcAft>
              <a:buNone/>
            </a:pPr>
            <a:r>
              <a:rPr lang="en-US" dirty="0" smtClean="0">
                <a:latin typeface="Arial" panose="020B0604020202020204" pitchFamily="34" charset="0"/>
              </a:rPr>
              <a:t>.</a:t>
            </a:r>
          </a:p>
          <a:p>
            <a:pPr marL="0" lvl="0" indent="0" eaLnBrk="0" fontAlgn="base" hangingPunct="0">
              <a:lnSpc>
                <a:spcPct val="100000"/>
              </a:lnSpc>
              <a:spcBef>
                <a:spcPct val="0"/>
              </a:spcBef>
              <a:spcAft>
                <a:spcPct val="0"/>
              </a:spcAft>
              <a:buNone/>
            </a:pPr>
            <a:r>
              <a:rPr lang="en-US" b="1" dirty="0"/>
              <a:t>Optimization Algorithms</a:t>
            </a:r>
            <a:r>
              <a:rPr lang="en-US" dirty="0"/>
              <a:t>: Techniques like linear programming</a:t>
            </a:r>
            <a:r>
              <a:rPr lang="en-US" dirty="0" smtClean="0"/>
              <a:t>,</a:t>
            </a:r>
          </a:p>
          <a:p>
            <a:pPr marL="0" lvl="0" indent="0" eaLnBrk="0" fontAlgn="base" hangingPunct="0">
              <a:lnSpc>
                <a:spcPct val="100000"/>
              </a:lnSpc>
              <a:spcBef>
                <a:spcPct val="0"/>
              </a:spcBef>
              <a:spcAft>
                <a:spcPct val="0"/>
              </a:spcAft>
              <a:buNone/>
            </a:pPr>
            <a:r>
              <a:rPr lang="en-US" dirty="0" smtClean="0"/>
              <a:t> </a:t>
            </a:r>
            <a:r>
              <a:rPr lang="en-US" dirty="0"/>
              <a:t>genetic algorithms, and heuristic methods are used to </a:t>
            </a:r>
            <a:endParaRPr lang="en-US" dirty="0" smtClean="0"/>
          </a:p>
          <a:p>
            <a:pPr marL="0" lvl="0" indent="0" eaLnBrk="0" fontAlgn="base" hangingPunct="0">
              <a:lnSpc>
                <a:spcPct val="100000"/>
              </a:lnSpc>
              <a:spcBef>
                <a:spcPct val="0"/>
              </a:spcBef>
              <a:spcAft>
                <a:spcPct val="0"/>
              </a:spcAft>
              <a:buNone/>
            </a:pPr>
            <a:r>
              <a:rPr lang="en-US" dirty="0" smtClean="0"/>
              <a:t>provide </a:t>
            </a:r>
            <a:r>
              <a:rPr lang="en-US" dirty="0"/>
              <a:t>the best outcomes under specific circumstances</a:t>
            </a:r>
            <a:endParaRPr lang="en-US" dirty="0">
              <a:latin typeface="Arial" panose="020B0604020202020204" pitchFamily="34" charset="0"/>
            </a:endParaRPr>
          </a:p>
          <a:p>
            <a:pPr marL="0" lvl="0" indent="0" eaLnBrk="0" fontAlgn="base" hangingPunct="0">
              <a:lnSpc>
                <a:spcPct val="100000"/>
              </a:lnSpc>
              <a:spcBef>
                <a:spcPct val="0"/>
              </a:spcBef>
              <a:spcAft>
                <a:spcPct val="0"/>
              </a:spcAft>
              <a:buFontTx/>
              <a:buChar char="•"/>
            </a:pPr>
            <a:endParaRPr lang="en-US" dirty="0">
              <a:latin typeface="Arial" panose="020B0604020202020204" pitchFamily="34" charset="0"/>
            </a:endParaRPr>
          </a:p>
          <a:p>
            <a:endParaRPr lang="en-US" dirty="0"/>
          </a:p>
        </p:txBody>
      </p:sp>
    </p:spTree>
    <p:extLst>
      <p:ext uri="{BB962C8B-B14F-4D97-AF65-F5344CB8AC3E}">
        <p14:creationId xmlns:p14="http://schemas.microsoft.com/office/powerpoint/2010/main" val="40982188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4" name="Rectangle 1"/>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1800" b="1" i="0" u="none" strike="noStrike" cap="none" normalizeH="0" baseline="0" dirty="0" smtClean="0">
                <a:ln>
                  <a:noFill/>
                </a:ln>
                <a:solidFill>
                  <a:schemeClr val="tx1"/>
                </a:solidFill>
                <a:effectLst/>
                <a:latin typeface="Arial" panose="020B0604020202020204" pitchFamily="34" charset="0"/>
              </a:rPr>
              <a:t>Descriptive Analytics</a:t>
            </a:r>
            <a:r>
              <a:rPr kumimoji="0" lang="en-US" sz="1800" b="0" i="0" u="none" strike="noStrike" cap="none" normalizeH="0" baseline="0" dirty="0" smtClean="0">
                <a:ln>
                  <a:noFill/>
                </a:ln>
                <a:solidFill>
                  <a:schemeClr val="tx1"/>
                </a:solidFill>
                <a:effectLst/>
                <a:latin typeface="Arial" panose="020B0604020202020204" pitchFamily="34" charset="0"/>
              </a:rPr>
              <a:t>: Summarizes historical data to show what happened.</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1800" b="1" i="0" u="none" strike="noStrike" cap="none" normalizeH="0" baseline="0" dirty="0" smtClean="0">
                <a:ln>
                  <a:noFill/>
                </a:ln>
                <a:solidFill>
                  <a:schemeClr val="tx1"/>
                </a:solidFill>
                <a:effectLst/>
                <a:latin typeface="Arial" panose="020B0604020202020204" pitchFamily="34" charset="0"/>
              </a:rPr>
              <a:t>Diagnostic Analytics</a:t>
            </a:r>
            <a:r>
              <a:rPr kumimoji="0" lang="en-US" sz="1800" b="0" i="0" u="none" strike="noStrike" cap="none" normalizeH="0" baseline="0" dirty="0" smtClean="0">
                <a:ln>
                  <a:noFill/>
                </a:ln>
                <a:solidFill>
                  <a:schemeClr val="tx1"/>
                </a:solidFill>
                <a:effectLst/>
                <a:latin typeface="Arial" panose="020B0604020202020204" pitchFamily="34" charset="0"/>
              </a:rPr>
              <a:t>: Explains </a:t>
            </a:r>
            <a:r>
              <a:rPr kumimoji="0" lang="en-US" sz="1800" b="0" i="1" u="none" strike="noStrike" cap="none" normalizeH="0" baseline="0" dirty="0" smtClean="0">
                <a:ln>
                  <a:noFill/>
                </a:ln>
                <a:solidFill>
                  <a:schemeClr val="tx1"/>
                </a:solidFill>
                <a:effectLst/>
                <a:latin typeface="Arial" panose="020B0604020202020204" pitchFamily="34" charset="0"/>
              </a:rPr>
              <a:t>why</a:t>
            </a:r>
            <a:r>
              <a:rPr kumimoji="0" lang="en-US" sz="1800" b="0" i="0" u="none" strike="noStrike" cap="none" normalizeH="0" baseline="0" dirty="0" smtClean="0">
                <a:ln>
                  <a:noFill/>
                </a:ln>
                <a:solidFill>
                  <a:schemeClr val="tx1"/>
                </a:solidFill>
                <a:effectLst/>
                <a:latin typeface="Arial" panose="020B0604020202020204" pitchFamily="34" charset="0"/>
              </a:rPr>
              <a:t> something happened by identifying causes.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sz="1800" b="1" i="0" u="none" strike="noStrike" cap="none" normalizeH="0" baseline="0" dirty="0" smtClean="0">
                <a:ln>
                  <a:noFill/>
                </a:ln>
                <a:solidFill>
                  <a:schemeClr val="tx1"/>
                </a:solidFill>
                <a:effectLst/>
                <a:latin typeface="Arial" panose="020B0604020202020204" pitchFamily="34" charset="0"/>
              </a:rPr>
              <a:t>Predictive Analytics</a:t>
            </a:r>
            <a:r>
              <a:rPr kumimoji="0" lang="en-US" sz="1800" b="0" i="0" u="none" strike="noStrike" cap="none" normalizeH="0" baseline="0" dirty="0" smtClean="0">
                <a:ln>
                  <a:noFill/>
                </a:ln>
                <a:solidFill>
                  <a:schemeClr val="tx1"/>
                </a:solidFill>
                <a:effectLst/>
                <a:latin typeface="Arial" panose="020B0604020202020204" pitchFamily="34" charset="0"/>
              </a:rPr>
              <a:t>: Forecasts future outcomes based on historical data.</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sz="1800" b="1" i="0" u="none" strike="noStrike" cap="none" normalizeH="0" baseline="0" dirty="0" smtClean="0">
                <a:ln>
                  <a:noFill/>
                </a:ln>
                <a:solidFill>
                  <a:schemeClr val="tx1"/>
                </a:solidFill>
                <a:effectLst/>
                <a:latin typeface="Arial" panose="020B0604020202020204" pitchFamily="34" charset="0"/>
              </a:rPr>
              <a:t>Prescriptive Analytics</a:t>
            </a:r>
            <a:r>
              <a:rPr kumimoji="0" lang="en-US" sz="1800" b="0" i="0" u="none" strike="noStrike" cap="none" normalizeH="0" baseline="0" dirty="0" smtClean="0">
                <a:ln>
                  <a:noFill/>
                </a:ln>
                <a:solidFill>
                  <a:schemeClr val="tx1"/>
                </a:solidFill>
                <a:effectLst/>
                <a:latin typeface="Arial" panose="020B0604020202020204" pitchFamily="34" charset="0"/>
              </a:rPr>
              <a:t>: Recommends actions to optimize outcomes based on predictions.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54902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651509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315</TotalTime>
  <Words>661</Words>
  <Application>Microsoft Office PowerPoint</Application>
  <PresentationFormat>Widescreen</PresentationFormat>
  <Paragraphs>53</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  4 Key Types of Data Analytics  </vt:lpstr>
      <vt:lpstr>Descriptive analytics</vt:lpstr>
      <vt:lpstr>Key features of descriptive analytics include: </vt:lpstr>
      <vt:lpstr>Case Study: Retail Store Sales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Aspects of Diagnostic Analytics: </vt:lpstr>
      <vt:lpstr>Predictive Analytics</vt:lpstr>
      <vt:lpstr>Predictive Analytics</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4 Key Types of Data Analytics  </dc:title>
  <dc:creator>abc</dc:creator>
  <cp:lastModifiedBy>abc</cp:lastModifiedBy>
  <cp:revision>11</cp:revision>
  <dcterms:created xsi:type="dcterms:W3CDTF">2024-10-14T08:01:07Z</dcterms:created>
  <dcterms:modified xsi:type="dcterms:W3CDTF">2024-10-15T07:52:58Z</dcterms:modified>
</cp:coreProperties>
</file>