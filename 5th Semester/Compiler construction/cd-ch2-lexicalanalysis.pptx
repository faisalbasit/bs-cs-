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4" r:id="rId38"/>
    <p:sldId id="292"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66FF"/>
    <a:srgbClr val="3333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p:scale>
          <a:sx n="76" d="100"/>
          <a:sy n="76" d="100"/>
        </p:scale>
        <p:origin x="1670" y="19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CF61D-D8F9-4C7E-AE39-40BE30B98C01}" type="datetimeFigureOut">
              <a:rPr lang="en-US" smtClean="0"/>
              <a:t>11/13/2024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5C3FFB-5954-401F-A574-AE9F6E0FF826}" type="slidenum">
              <a:rPr lang="en-US" smtClean="0"/>
              <a:t>‹#›</a:t>
            </a:fld>
            <a:endParaRPr lang="en-US"/>
          </a:p>
        </p:txBody>
      </p:sp>
    </p:spTree>
    <p:extLst>
      <p:ext uri="{BB962C8B-B14F-4D97-AF65-F5344CB8AC3E}">
        <p14:creationId xmlns:p14="http://schemas.microsoft.com/office/powerpoint/2010/main" val="1768292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5C3FFB-5954-401F-A574-AE9F6E0FF826}" type="slidenum">
              <a:rPr lang="en-US" smtClean="0"/>
              <a:t>2</a:t>
            </a:fld>
            <a:endParaRPr lang="en-US" dirty="0"/>
          </a:p>
        </p:txBody>
      </p:sp>
    </p:spTree>
    <p:extLst>
      <p:ext uri="{BB962C8B-B14F-4D97-AF65-F5344CB8AC3E}">
        <p14:creationId xmlns:p14="http://schemas.microsoft.com/office/powerpoint/2010/main" val="2371055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95C3FFB-5954-401F-A574-AE9F6E0FF826}" type="slidenum">
              <a:rPr lang="en-US" smtClean="0"/>
              <a:t>22</a:t>
            </a:fld>
            <a:endParaRPr lang="en-US"/>
          </a:p>
        </p:txBody>
      </p:sp>
    </p:spTree>
    <p:extLst>
      <p:ext uri="{BB962C8B-B14F-4D97-AF65-F5344CB8AC3E}">
        <p14:creationId xmlns:p14="http://schemas.microsoft.com/office/powerpoint/2010/main" val="2246433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7200430-9278-497F-9870-37C826FDA12C}" type="datetime1">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3088986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DDDB6-EB00-4686-AD96-BCE1BFA90B14}" type="datetime1">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793465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ECF59D-7991-4BA0-81B0-CFEA14EAC928}" type="datetime1">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925871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A6E19C-07BA-4960-897B-B636A3D0C559}" type="datetime1">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2524837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C9A336C-24B9-408C-96E2-1FA1CA410478}" type="datetime1">
              <a:rPr lang="en-US" smtClean="0"/>
              <a:t>11/13/2024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3359428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1C586D8-B999-4AC8-9180-DF6A4E8FD238}" type="datetime1">
              <a:rPr lang="en-US" smtClean="0"/>
              <a:t>11/13/2024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1187857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AB7C16-8344-4692-8D16-C35830442FB3}" type="datetime1">
              <a:rPr lang="en-US" smtClean="0"/>
              <a:t>11/13/2024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91140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AE432B-423E-4027-AB53-C12C29B1D572}" type="datetime1">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2123138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61E535-5D9C-4855-BC37-E93A032FB95B}" type="datetime1">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3205212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87ADE-068B-40CA-9180-9E7675951670}" type="datetime1">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3851057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E50234-1E8A-4216-AB47-D005949F4E5D}" type="datetime1">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343A0-757D-4032-BC20-DF0A67BD0A50}" type="slidenum">
              <a:rPr lang="en-US" smtClean="0"/>
              <a:t>‹#›</a:t>
            </a:fld>
            <a:endParaRPr lang="en-US"/>
          </a:p>
        </p:txBody>
      </p:sp>
    </p:spTree>
    <p:extLst>
      <p:ext uri="{BB962C8B-B14F-4D97-AF65-F5344CB8AC3E}">
        <p14:creationId xmlns:p14="http://schemas.microsoft.com/office/powerpoint/2010/main" val="2967781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C4A816-C954-44C2-81B4-0E9BBAAEB83F}" type="datetime1">
              <a:rPr lang="en-US" smtClean="0"/>
              <a:t>11/13/2024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C343A0-757D-4032-BC20-DF0A67BD0A50}" type="slidenum">
              <a:rPr lang="en-US" smtClean="0"/>
              <a:t>‹#›</a:t>
            </a:fld>
            <a:endParaRPr lang="en-US"/>
          </a:p>
        </p:txBody>
      </p:sp>
    </p:spTree>
    <p:extLst>
      <p:ext uri="{BB962C8B-B14F-4D97-AF65-F5344CB8AC3E}">
        <p14:creationId xmlns:p14="http://schemas.microsoft.com/office/powerpoint/2010/main" val="121196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CSE 4310 – Compiler Design</a:t>
            </a:r>
          </a:p>
        </p:txBody>
      </p:sp>
      <p:sp>
        <p:nvSpPr>
          <p:cNvPr id="3" name="Subtitle 2"/>
          <p:cNvSpPr>
            <a:spLocks noGrp="1"/>
          </p:cNvSpPr>
          <p:nvPr>
            <p:ph type="subTitle" idx="1"/>
          </p:nvPr>
        </p:nvSpPr>
        <p:spPr/>
        <p:txBody>
          <a:bodyPr/>
          <a:lstStyle/>
          <a:p>
            <a:r>
              <a:rPr lang="en-US" b="1" dirty="0"/>
              <a:t>CH2 – Lexical Analysis</a:t>
            </a:r>
          </a:p>
        </p:txBody>
      </p:sp>
      <p:sp>
        <p:nvSpPr>
          <p:cNvPr id="4" name="Slide Number Placeholder 3"/>
          <p:cNvSpPr>
            <a:spLocks noGrp="1"/>
          </p:cNvSpPr>
          <p:nvPr>
            <p:ph type="sldNum" sz="quarter" idx="12"/>
          </p:nvPr>
        </p:nvSpPr>
        <p:spPr/>
        <p:txBody>
          <a:bodyPr/>
          <a:lstStyle/>
          <a:p>
            <a:fld id="{C2C343A0-757D-4032-BC20-DF0A67BD0A50}" type="slidenum">
              <a:rPr lang="en-US" smtClean="0"/>
              <a:t>1</a:t>
            </a:fld>
            <a:endParaRPr lang="en-US"/>
          </a:p>
        </p:txBody>
      </p:sp>
    </p:spTree>
    <p:extLst>
      <p:ext uri="{BB962C8B-B14F-4D97-AF65-F5344CB8AC3E}">
        <p14:creationId xmlns:p14="http://schemas.microsoft.com/office/powerpoint/2010/main" val="3411203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rgbClr val="000099"/>
                </a:solidFill>
              </a:rPr>
              <a:t>Outline</a:t>
            </a:r>
          </a:p>
        </p:txBody>
      </p:sp>
      <p:sp>
        <p:nvSpPr>
          <p:cNvPr id="3" name="Content Placeholder 2"/>
          <p:cNvSpPr>
            <a:spLocks noGrp="1"/>
          </p:cNvSpPr>
          <p:nvPr>
            <p:ph idx="1"/>
          </p:nvPr>
        </p:nvSpPr>
        <p:spPr/>
        <p:txBody>
          <a:bodyPr>
            <a:normAutofit fontScale="92500" lnSpcReduction="10000"/>
          </a:bodyPr>
          <a:lstStyle/>
          <a:p>
            <a:r>
              <a:rPr lang="en-US" b="1" dirty="0">
                <a:solidFill>
                  <a:schemeClr val="accent5">
                    <a:lumMod val="50000"/>
                  </a:schemeClr>
                </a:solidFill>
              </a:rPr>
              <a:t>Introduction – What is Lexical Analysis?</a:t>
            </a:r>
          </a:p>
          <a:p>
            <a:r>
              <a:rPr lang="en-US" b="1" dirty="0">
                <a:solidFill>
                  <a:schemeClr val="accent5">
                    <a:lumMod val="50000"/>
                  </a:schemeClr>
                </a:solidFill>
              </a:rPr>
              <a:t>Tokens, Patterns, Lexemes</a:t>
            </a:r>
          </a:p>
          <a:p>
            <a:r>
              <a:rPr lang="en-US" b="1" dirty="0">
                <a:solidFill>
                  <a:schemeClr val="accent5">
                    <a:lumMod val="50000"/>
                  </a:schemeClr>
                </a:solidFill>
              </a:rPr>
              <a:t>The Role of Lexical Analyzer</a:t>
            </a:r>
          </a:p>
          <a:p>
            <a:r>
              <a:rPr lang="en-US" b="1" dirty="0">
                <a:solidFill>
                  <a:schemeClr val="accent5">
                    <a:lumMod val="50000"/>
                  </a:schemeClr>
                </a:solidFill>
              </a:rPr>
              <a:t>Lexical Analyzer versus Parsing</a:t>
            </a:r>
          </a:p>
          <a:p>
            <a:r>
              <a:rPr lang="en-US" b="1" dirty="0">
                <a:solidFill>
                  <a:schemeClr val="accent5">
                    <a:lumMod val="50000"/>
                  </a:schemeClr>
                </a:solidFill>
              </a:rPr>
              <a:t>Specification of Tokens</a:t>
            </a:r>
          </a:p>
          <a:p>
            <a:pPr lvl="1"/>
            <a:r>
              <a:rPr lang="en-US" b="1" dirty="0">
                <a:solidFill>
                  <a:schemeClr val="accent5">
                    <a:lumMod val="50000"/>
                  </a:schemeClr>
                </a:solidFill>
              </a:rPr>
              <a:t>Regular Expressions and Regular Definitions</a:t>
            </a:r>
          </a:p>
          <a:p>
            <a:r>
              <a:rPr lang="en-US" b="1" dirty="0">
                <a:solidFill>
                  <a:schemeClr val="accent5">
                    <a:lumMod val="50000"/>
                  </a:schemeClr>
                </a:solidFill>
              </a:rPr>
              <a:t>Recognition of Tokens</a:t>
            </a:r>
          </a:p>
          <a:p>
            <a:pPr lvl="1"/>
            <a:r>
              <a:rPr lang="en-US" b="1" dirty="0">
                <a:solidFill>
                  <a:schemeClr val="accent5">
                    <a:lumMod val="50000"/>
                  </a:schemeClr>
                </a:solidFill>
              </a:rPr>
              <a:t>Finite Automata and Transition Diagrams</a:t>
            </a:r>
          </a:p>
          <a:p>
            <a:r>
              <a:rPr lang="en-US" b="1" dirty="0">
                <a:solidFill>
                  <a:schemeClr val="accent5">
                    <a:lumMod val="50000"/>
                  </a:schemeClr>
                </a:solidFill>
              </a:rPr>
              <a:t>Lex – a lexical analyzer generator</a:t>
            </a:r>
          </a:p>
        </p:txBody>
      </p:sp>
      <p:sp>
        <p:nvSpPr>
          <p:cNvPr id="4" name="Slide Number Placeholder 3"/>
          <p:cNvSpPr>
            <a:spLocks noGrp="1"/>
          </p:cNvSpPr>
          <p:nvPr>
            <p:ph type="sldNum" sz="quarter" idx="12"/>
          </p:nvPr>
        </p:nvSpPr>
        <p:spPr/>
        <p:txBody>
          <a:bodyPr/>
          <a:lstStyle/>
          <a:p>
            <a:fld id="{C2C343A0-757D-4032-BC20-DF0A67BD0A50}" type="slidenum">
              <a:rPr lang="en-US" smtClean="0"/>
              <a:t>2</a:t>
            </a:fld>
            <a:endParaRPr lang="en-US"/>
          </a:p>
        </p:txBody>
      </p:sp>
    </p:spTree>
    <p:extLst>
      <p:ext uri="{BB962C8B-B14F-4D97-AF65-F5344CB8AC3E}">
        <p14:creationId xmlns:p14="http://schemas.microsoft.com/office/powerpoint/2010/main" val="3711929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Introduction</a:t>
            </a:r>
          </a:p>
        </p:txBody>
      </p:sp>
      <p:sp>
        <p:nvSpPr>
          <p:cNvPr id="3" name="Content Placeholder 2"/>
          <p:cNvSpPr>
            <a:spLocks noGrp="1"/>
          </p:cNvSpPr>
          <p:nvPr>
            <p:ph idx="1"/>
          </p:nvPr>
        </p:nvSpPr>
        <p:spPr>
          <a:xfrm>
            <a:off x="457200" y="1600200"/>
            <a:ext cx="8458200" cy="4953000"/>
          </a:xfrm>
        </p:spPr>
        <p:txBody>
          <a:bodyPr>
            <a:normAutofit fontScale="92500" lnSpcReduction="20000"/>
          </a:bodyPr>
          <a:lstStyle/>
          <a:p>
            <a:r>
              <a:rPr lang="en-US" dirty="0"/>
              <a:t>Lexical analysis is the first phase of a compiler.</a:t>
            </a:r>
          </a:p>
          <a:p>
            <a:r>
              <a:rPr lang="en-US" dirty="0"/>
              <a:t>In this chapter you will learn about the role of Lexical Analyzer (</a:t>
            </a:r>
            <a:r>
              <a:rPr lang="en-US" b="1" i="1" dirty="0"/>
              <a:t>LA</a:t>
            </a:r>
            <a:r>
              <a:rPr lang="en-US" dirty="0"/>
              <a:t>) :</a:t>
            </a:r>
          </a:p>
          <a:p>
            <a:pPr lvl="1"/>
            <a:r>
              <a:rPr lang="en-US" dirty="0"/>
              <a:t>by understanding the terms </a:t>
            </a:r>
            <a:r>
              <a:rPr lang="en-US" b="1" i="1" dirty="0">
                <a:solidFill>
                  <a:srgbClr val="000099"/>
                </a:solidFill>
              </a:rPr>
              <a:t>tokens</a:t>
            </a:r>
            <a:r>
              <a:rPr lang="en-US" dirty="0"/>
              <a:t>, </a:t>
            </a:r>
            <a:r>
              <a:rPr lang="en-US" b="1" i="1" dirty="0">
                <a:solidFill>
                  <a:srgbClr val="000099"/>
                </a:solidFill>
              </a:rPr>
              <a:t>patterns</a:t>
            </a:r>
            <a:r>
              <a:rPr lang="en-US" dirty="0"/>
              <a:t>, </a:t>
            </a:r>
            <a:r>
              <a:rPr lang="en-US" b="1" i="1" dirty="0">
                <a:solidFill>
                  <a:srgbClr val="000099"/>
                </a:solidFill>
              </a:rPr>
              <a:t>lexemes</a:t>
            </a:r>
            <a:r>
              <a:rPr lang="en-US" dirty="0"/>
              <a:t>, </a:t>
            </a:r>
            <a:r>
              <a:rPr lang="en-US" b="1" i="1" dirty="0">
                <a:solidFill>
                  <a:srgbClr val="000099"/>
                </a:solidFill>
              </a:rPr>
              <a:t>attributes</a:t>
            </a:r>
            <a:r>
              <a:rPr lang="en-US" dirty="0">
                <a:solidFill>
                  <a:srgbClr val="000099"/>
                </a:solidFill>
              </a:rPr>
              <a:t> </a:t>
            </a:r>
            <a:r>
              <a:rPr lang="en-US" b="1" i="1" dirty="0">
                <a:solidFill>
                  <a:srgbClr val="000099"/>
                </a:solidFill>
              </a:rPr>
              <a:t>of tokens</a:t>
            </a:r>
            <a:r>
              <a:rPr lang="en-US" dirty="0">
                <a:solidFill>
                  <a:srgbClr val="000099"/>
                </a:solidFill>
              </a:rPr>
              <a:t> </a:t>
            </a:r>
            <a:r>
              <a:rPr lang="en-US" dirty="0"/>
              <a:t>and </a:t>
            </a:r>
            <a:r>
              <a:rPr lang="en-US" b="1" i="1" dirty="0">
                <a:solidFill>
                  <a:srgbClr val="000099"/>
                </a:solidFill>
              </a:rPr>
              <a:t>lexical errors</a:t>
            </a:r>
            <a:r>
              <a:rPr lang="en-US" dirty="0"/>
              <a:t>.</a:t>
            </a:r>
          </a:p>
          <a:p>
            <a:pPr lvl="1"/>
            <a:r>
              <a:rPr lang="en-US" dirty="0"/>
              <a:t>the </a:t>
            </a:r>
            <a:r>
              <a:rPr lang="en-US" b="1" dirty="0"/>
              <a:t>specification of tokens </a:t>
            </a:r>
            <a:r>
              <a:rPr lang="en-US" dirty="0"/>
              <a:t>by understanding </a:t>
            </a:r>
            <a:r>
              <a:rPr lang="en-US" b="1" i="1" dirty="0"/>
              <a:t>strings and languages</a:t>
            </a:r>
            <a:r>
              <a:rPr lang="en-US" dirty="0"/>
              <a:t>, </a:t>
            </a:r>
            <a:r>
              <a:rPr lang="en-US" b="1" i="1" dirty="0"/>
              <a:t>operations on languages</a:t>
            </a:r>
            <a:r>
              <a:rPr lang="en-US" dirty="0"/>
              <a:t>, </a:t>
            </a:r>
            <a:r>
              <a:rPr lang="en-US" b="1" i="1" dirty="0"/>
              <a:t>regular expressions</a:t>
            </a:r>
            <a:r>
              <a:rPr lang="en-US" dirty="0"/>
              <a:t>, and </a:t>
            </a:r>
            <a:r>
              <a:rPr lang="en-US" b="1" i="1" dirty="0"/>
              <a:t>regular definitions</a:t>
            </a:r>
            <a:r>
              <a:rPr lang="en-US" dirty="0"/>
              <a:t>.</a:t>
            </a:r>
          </a:p>
          <a:p>
            <a:pPr lvl="1"/>
            <a:r>
              <a:rPr lang="en-US" dirty="0"/>
              <a:t>the </a:t>
            </a:r>
            <a:r>
              <a:rPr lang="en-US" b="1" i="1" dirty="0"/>
              <a:t>generation (recognition) of tokens </a:t>
            </a:r>
            <a:r>
              <a:rPr lang="en-US" dirty="0"/>
              <a:t>using </a:t>
            </a:r>
            <a:r>
              <a:rPr lang="en-US" b="1" i="1" dirty="0"/>
              <a:t>finite automaton</a:t>
            </a:r>
            <a:r>
              <a:rPr lang="en-US" dirty="0"/>
              <a:t>, </a:t>
            </a:r>
            <a:r>
              <a:rPr lang="en-US" b="1" i="1" dirty="0"/>
              <a:t>transition diagrams </a:t>
            </a:r>
            <a:r>
              <a:rPr lang="en-US" dirty="0"/>
              <a:t>– recognition of </a:t>
            </a:r>
            <a:r>
              <a:rPr lang="en-US" b="1" i="1" dirty="0"/>
              <a:t>reserved words</a:t>
            </a:r>
            <a:r>
              <a:rPr lang="en-US" dirty="0"/>
              <a:t>, </a:t>
            </a:r>
            <a:r>
              <a:rPr lang="en-US" b="1" i="1" dirty="0"/>
              <a:t>identifiers</a:t>
            </a:r>
            <a:r>
              <a:rPr lang="en-US" dirty="0"/>
              <a:t>, etc.</a:t>
            </a:r>
          </a:p>
          <a:p>
            <a:r>
              <a:rPr lang="en-US" dirty="0"/>
              <a:t>You will also learn about </a:t>
            </a:r>
            <a:r>
              <a:rPr lang="en-US" b="1" i="1" dirty="0"/>
              <a:t>Lex</a:t>
            </a:r>
            <a:r>
              <a:rPr lang="en-US" dirty="0"/>
              <a:t> – a lexical analyzer generator tool.</a:t>
            </a:r>
          </a:p>
        </p:txBody>
      </p:sp>
      <p:sp>
        <p:nvSpPr>
          <p:cNvPr id="4" name="Slide Number Placeholder 3"/>
          <p:cNvSpPr>
            <a:spLocks noGrp="1"/>
          </p:cNvSpPr>
          <p:nvPr>
            <p:ph type="sldNum" sz="quarter" idx="12"/>
          </p:nvPr>
        </p:nvSpPr>
        <p:spPr/>
        <p:txBody>
          <a:bodyPr/>
          <a:lstStyle/>
          <a:p>
            <a:fld id="{C2C343A0-757D-4032-BC20-DF0A67BD0A50}" type="slidenum">
              <a:rPr lang="en-US" smtClean="0"/>
              <a:t>3</a:t>
            </a:fld>
            <a:endParaRPr lang="en-US"/>
          </a:p>
        </p:txBody>
      </p:sp>
    </p:spTree>
    <p:extLst>
      <p:ext uri="{BB962C8B-B14F-4D97-AF65-F5344CB8AC3E}">
        <p14:creationId xmlns:p14="http://schemas.microsoft.com/office/powerpoint/2010/main" val="3156329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What is Lexical Analysis?</a:t>
            </a:r>
          </a:p>
        </p:txBody>
      </p:sp>
      <p:sp>
        <p:nvSpPr>
          <p:cNvPr id="3" name="Content Placeholder 2"/>
          <p:cNvSpPr>
            <a:spLocks noGrp="1"/>
          </p:cNvSpPr>
          <p:nvPr>
            <p:ph idx="1"/>
          </p:nvPr>
        </p:nvSpPr>
        <p:spPr>
          <a:xfrm>
            <a:off x="457200" y="1600200"/>
            <a:ext cx="8458200" cy="4953000"/>
          </a:xfrm>
        </p:spPr>
        <p:txBody>
          <a:bodyPr>
            <a:normAutofit fontScale="77500" lnSpcReduction="20000"/>
          </a:bodyPr>
          <a:lstStyle/>
          <a:p>
            <a:r>
              <a:rPr lang="en-US" dirty="0"/>
              <a:t>The role of the lexical analyzer is to read a sequence of characters from the source program and produce </a:t>
            </a:r>
            <a:r>
              <a:rPr lang="en-US" b="1" i="1" dirty="0">
                <a:solidFill>
                  <a:srgbClr val="000099"/>
                </a:solidFill>
              </a:rPr>
              <a:t>tokens</a:t>
            </a:r>
            <a:r>
              <a:rPr lang="en-US" dirty="0">
                <a:solidFill>
                  <a:srgbClr val="000099"/>
                </a:solidFill>
              </a:rPr>
              <a:t> </a:t>
            </a:r>
            <a:r>
              <a:rPr lang="en-US" dirty="0"/>
              <a:t>to be used by the parser. </a:t>
            </a:r>
          </a:p>
          <a:p>
            <a:pPr lvl="1"/>
            <a:r>
              <a:rPr lang="en-US" dirty="0"/>
              <a:t>The lexical analysis phase of the compiler is often called </a:t>
            </a:r>
            <a:r>
              <a:rPr lang="en-US" b="1" dirty="0"/>
              <a:t>tokenization</a:t>
            </a:r>
          </a:p>
          <a:p>
            <a:r>
              <a:rPr lang="en-US" dirty="0"/>
              <a:t>The </a:t>
            </a:r>
            <a:r>
              <a:rPr lang="en-US" b="1" i="1" dirty="0"/>
              <a:t>lexical analyzer (LA)</a:t>
            </a:r>
            <a:r>
              <a:rPr lang="en-US" dirty="0"/>
              <a:t> reads the stream of characters making up the source program and groups the characters into meaningful sequences called </a:t>
            </a:r>
            <a:r>
              <a:rPr lang="en-US" b="1" i="1" dirty="0"/>
              <a:t>lexemes</a:t>
            </a:r>
            <a:r>
              <a:rPr lang="en-US" dirty="0"/>
              <a:t>. </a:t>
            </a:r>
          </a:p>
          <a:p>
            <a:endParaRPr lang="en-US" dirty="0"/>
          </a:p>
          <a:p>
            <a:endParaRPr lang="en-US" dirty="0"/>
          </a:p>
          <a:p>
            <a:endParaRPr lang="en-US" dirty="0"/>
          </a:p>
          <a:p>
            <a:endParaRPr lang="en-US" dirty="0"/>
          </a:p>
          <a:p>
            <a:endParaRPr lang="en-US" dirty="0"/>
          </a:p>
          <a:p>
            <a:pPr marL="0" indent="0">
              <a:buNone/>
            </a:pPr>
            <a:r>
              <a:rPr lang="en-US" dirty="0"/>
              <a:t> </a:t>
            </a:r>
          </a:p>
        </p:txBody>
      </p:sp>
      <p:pic>
        <p:nvPicPr>
          <p:cNvPr id="4" name="Picture 3"/>
          <p:cNvPicPr>
            <a:picLocks noChangeAspect="1"/>
          </p:cNvPicPr>
          <p:nvPr/>
        </p:nvPicPr>
        <p:blipFill>
          <a:blip r:embed="rId2"/>
          <a:stretch>
            <a:fillRect/>
          </a:stretch>
        </p:blipFill>
        <p:spPr>
          <a:xfrm>
            <a:off x="1752600" y="4355068"/>
            <a:ext cx="5867400" cy="2045732"/>
          </a:xfrm>
          <a:prstGeom prst="rect">
            <a:avLst/>
          </a:prstGeom>
        </p:spPr>
      </p:pic>
      <p:sp>
        <p:nvSpPr>
          <p:cNvPr id="5" name="Slide Number Placeholder 4"/>
          <p:cNvSpPr>
            <a:spLocks noGrp="1"/>
          </p:cNvSpPr>
          <p:nvPr>
            <p:ph type="sldNum" sz="quarter" idx="12"/>
          </p:nvPr>
        </p:nvSpPr>
        <p:spPr/>
        <p:txBody>
          <a:bodyPr/>
          <a:lstStyle/>
          <a:p>
            <a:fld id="{C2C343A0-757D-4032-BC20-DF0A67BD0A50}" type="slidenum">
              <a:rPr lang="en-US" smtClean="0"/>
              <a:t>4</a:t>
            </a:fld>
            <a:endParaRPr lang="en-US"/>
          </a:p>
        </p:txBody>
      </p:sp>
    </p:spTree>
    <p:extLst>
      <p:ext uri="{BB962C8B-B14F-4D97-AF65-F5344CB8AC3E}">
        <p14:creationId xmlns:p14="http://schemas.microsoft.com/office/powerpoint/2010/main" val="1332283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What is Lexical Analysis?</a:t>
            </a:r>
          </a:p>
        </p:txBody>
      </p:sp>
      <p:sp>
        <p:nvSpPr>
          <p:cNvPr id="3" name="Content Placeholder 2"/>
          <p:cNvSpPr>
            <a:spLocks noGrp="1"/>
          </p:cNvSpPr>
          <p:nvPr>
            <p:ph idx="1"/>
          </p:nvPr>
        </p:nvSpPr>
        <p:spPr>
          <a:xfrm>
            <a:off x="457200" y="1600200"/>
            <a:ext cx="8458200" cy="4953000"/>
          </a:xfrm>
        </p:spPr>
        <p:txBody>
          <a:bodyPr>
            <a:normAutofit fontScale="92500" lnSpcReduction="10000"/>
          </a:bodyPr>
          <a:lstStyle/>
          <a:p>
            <a:r>
              <a:rPr lang="en-US" dirty="0"/>
              <a:t>For each lexeme, </a:t>
            </a:r>
          </a:p>
          <a:p>
            <a:pPr lvl="1"/>
            <a:r>
              <a:rPr lang="en-US" dirty="0"/>
              <a:t>the lexical analyzer produces as output a </a:t>
            </a:r>
            <a:r>
              <a:rPr lang="en-US" b="1" i="1" dirty="0">
                <a:solidFill>
                  <a:srgbClr val="000099"/>
                </a:solidFill>
              </a:rPr>
              <a:t>token</a:t>
            </a:r>
            <a:r>
              <a:rPr lang="en-US" dirty="0">
                <a:solidFill>
                  <a:srgbClr val="000099"/>
                </a:solidFill>
              </a:rPr>
              <a:t> </a:t>
            </a:r>
            <a:r>
              <a:rPr lang="en-US" dirty="0"/>
              <a:t>of the form </a:t>
            </a:r>
            <a:r>
              <a:rPr lang="en-US" b="1" dirty="0">
                <a:solidFill>
                  <a:srgbClr val="003399"/>
                </a:solidFill>
              </a:rPr>
              <a:t>&lt;</a:t>
            </a:r>
            <a:r>
              <a:rPr lang="en-US" b="1" i="1" dirty="0">
                <a:solidFill>
                  <a:srgbClr val="003399"/>
                </a:solidFill>
              </a:rPr>
              <a:t>token–name, attribute–value</a:t>
            </a:r>
            <a:r>
              <a:rPr lang="en-US" b="1" dirty="0">
                <a:solidFill>
                  <a:srgbClr val="003399"/>
                </a:solidFill>
              </a:rPr>
              <a:t>&gt;</a:t>
            </a:r>
            <a:r>
              <a:rPr lang="en-US" b="1" i="1" dirty="0"/>
              <a:t> </a:t>
            </a:r>
            <a:r>
              <a:rPr lang="en-US" dirty="0"/>
              <a:t>that it passes on to the subsequent phase, </a:t>
            </a:r>
            <a:r>
              <a:rPr lang="en-US" b="1" i="1" dirty="0"/>
              <a:t>syntax analysis</a:t>
            </a:r>
            <a:r>
              <a:rPr lang="en-US" dirty="0"/>
              <a:t>.  </a:t>
            </a:r>
          </a:p>
          <a:p>
            <a:r>
              <a:rPr lang="en-US" dirty="0"/>
              <a:t>Where, </a:t>
            </a:r>
          </a:p>
          <a:p>
            <a:pPr lvl="1"/>
            <a:r>
              <a:rPr lang="en-US" b="1" i="1" dirty="0">
                <a:solidFill>
                  <a:srgbClr val="000099"/>
                </a:solidFill>
              </a:rPr>
              <a:t>token–name</a:t>
            </a:r>
            <a:r>
              <a:rPr lang="en-US" b="1" i="1" dirty="0"/>
              <a:t> </a:t>
            </a:r>
            <a:r>
              <a:rPr lang="en-US" dirty="0"/>
              <a:t>is an abstract symbol that is used during syntax analysis , and </a:t>
            </a:r>
          </a:p>
          <a:p>
            <a:pPr lvl="1"/>
            <a:r>
              <a:rPr lang="en-US" b="1" i="1" dirty="0">
                <a:solidFill>
                  <a:srgbClr val="000099"/>
                </a:solidFill>
              </a:rPr>
              <a:t>attribute-value</a:t>
            </a:r>
            <a:r>
              <a:rPr lang="en-US" dirty="0"/>
              <a:t> points to an entry in the </a:t>
            </a:r>
            <a:r>
              <a:rPr lang="en-US" b="1" i="1" dirty="0">
                <a:solidFill>
                  <a:srgbClr val="000099"/>
                </a:solidFill>
              </a:rPr>
              <a:t>symbol table </a:t>
            </a:r>
            <a:r>
              <a:rPr lang="en-US" dirty="0"/>
              <a:t>for this token. </a:t>
            </a:r>
          </a:p>
          <a:p>
            <a:r>
              <a:rPr lang="en-US" dirty="0"/>
              <a:t>Information from the symbol-table entry is needed for semantic analysis and code generation.</a:t>
            </a:r>
          </a:p>
        </p:txBody>
      </p:sp>
      <p:sp>
        <p:nvSpPr>
          <p:cNvPr id="4" name="Slide Number Placeholder 3"/>
          <p:cNvSpPr>
            <a:spLocks noGrp="1"/>
          </p:cNvSpPr>
          <p:nvPr>
            <p:ph type="sldNum" sz="quarter" idx="12"/>
          </p:nvPr>
        </p:nvSpPr>
        <p:spPr/>
        <p:txBody>
          <a:bodyPr/>
          <a:lstStyle/>
          <a:p>
            <a:fld id="{C2C343A0-757D-4032-BC20-DF0A67BD0A50}" type="slidenum">
              <a:rPr lang="en-US" smtClean="0"/>
              <a:t>5</a:t>
            </a:fld>
            <a:endParaRPr lang="en-US"/>
          </a:p>
        </p:txBody>
      </p:sp>
    </p:spTree>
    <p:extLst>
      <p:ext uri="{BB962C8B-B14F-4D97-AF65-F5344CB8AC3E}">
        <p14:creationId xmlns:p14="http://schemas.microsoft.com/office/powerpoint/2010/main" val="3868076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What is Lexical Analysis?</a:t>
            </a:r>
          </a:p>
        </p:txBody>
      </p:sp>
      <p:sp>
        <p:nvSpPr>
          <p:cNvPr id="3" name="Content Placeholder 2"/>
          <p:cNvSpPr>
            <a:spLocks noGrp="1"/>
          </p:cNvSpPr>
          <p:nvPr>
            <p:ph idx="1"/>
          </p:nvPr>
        </p:nvSpPr>
        <p:spPr>
          <a:xfrm>
            <a:off x="457200" y="1600200"/>
            <a:ext cx="8458200" cy="4953000"/>
          </a:xfrm>
        </p:spPr>
        <p:txBody>
          <a:bodyPr>
            <a:normAutofit fontScale="70000" lnSpcReduction="20000"/>
          </a:bodyPr>
          <a:lstStyle/>
          <a:p>
            <a:pPr marL="0" indent="0">
              <a:buNone/>
            </a:pPr>
            <a:r>
              <a:rPr lang="en-US" b="1" dirty="0"/>
              <a:t>Example</a:t>
            </a:r>
            <a:r>
              <a:rPr lang="en-US" dirty="0"/>
              <a:t>:</a:t>
            </a:r>
          </a:p>
          <a:p>
            <a:r>
              <a:rPr lang="en-US" dirty="0"/>
              <a:t>For example, suppose a source program contains the assignment statement</a:t>
            </a:r>
          </a:p>
          <a:p>
            <a:pPr marL="0" indent="0" algn="ctr">
              <a:buNone/>
            </a:pPr>
            <a:r>
              <a:rPr lang="en-US" b="1" dirty="0">
                <a:solidFill>
                  <a:schemeClr val="accent2"/>
                </a:solidFill>
                <a:latin typeface="Courier New" panose="02070309020205020404" pitchFamily="49" charset="0"/>
                <a:cs typeface="Courier New" panose="02070309020205020404" pitchFamily="49" charset="0"/>
              </a:rPr>
              <a:t>position = initial + rate * 60 </a:t>
            </a:r>
          </a:p>
          <a:p>
            <a:r>
              <a:rPr lang="en-US" dirty="0"/>
              <a:t>The characters in this assignment could be grouped into the following </a:t>
            </a:r>
            <a:r>
              <a:rPr lang="en-US" b="1" dirty="0">
                <a:solidFill>
                  <a:srgbClr val="000099"/>
                </a:solidFill>
              </a:rPr>
              <a:t>lexemes</a:t>
            </a:r>
            <a:r>
              <a:rPr lang="en-US" dirty="0">
                <a:solidFill>
                  <a:srgbClr val="000099"/>
                </a:solidFill>
              </a:rPr>
              <a:t> </a:t>
            </a:r>
            <a:r>
              <a:rPr lang="en-US" dirty="0"/>
              <a:t>and mapped into the following </a:t>
            </a:r>
            <a:r>
              <a:rPr lang="en-US" b="1" i="1" dirty="0">
                <a:solidFill>
                  <a:srgbClr val="000099"/>
                </a:solidFill>
              </a:rPr>
              <a:t>tokens</a:t>
            </a:r>
            <a:r>
              <a:rPr lang="en-US" dirty="0"/>
              <a:t> passed on to the syntax analyzer:</a:t>
            </a:r>
          </a:p>
          <a:p>
            <a:pPr marL="971550" lvl="1" indent="-514350">
              <a:buFont typeface="+mj-lt"/>
              <a:buAutoNum type="arabicPeriod"/>
            </a:pPr>
            <a:r>
              <a:rPr lang="en-US" sz="3200" b="1" dirty="0">
                <a:solidFill>
                  <a:schemeClr val="accent2"/>
                </a:solidFill>
                <a:latin typeface="Courier New" panose="02070309020205020404" pitchFamily="49" charset="0"/>
                <a:cs typeface="Courier New" panose="02070309020205020404" pitchFamily="49" charset="0"/>
              </a:rPr>
              <a:t>position</a:t>
            </a:r>
            <a:r>
              <a:rPr lang="en-US" sz="3200" dirty="0"/>
              <a:t> is a lexeme that would be mapped into a token </a:t>
            </a:r>
            <a:r>
              <a:rPr lang="en-US" sz="3200" b="1" dirty="0">
                <a:solidFill>
                  <a:schemeClr val="accent2"/>
                </a:solidFill>
                <a:latin typeface="Courier New" panose="02070309020205020404" pitchFamily="49" charset="0"/>
                <a:cs typeface="Courier New" panose="02070309020205020404" pitchFamily="49" charset="0"/>
              </a:rPr>
              <a:t>&lt;id, 1&gt;</a:t>
            </a:r>
            <a:r>
              <a:rPr lang="en-US" sz="3200" dirty="0"/>
              <a:t>, where </a:t>
            </a:r>
            <a:r>
              <a:rPr lang="en-US" sz="3200" b="1" dirty="0">
                <a:solidFill>
                  <a:schemeClr val="accent5">
                    <a:lumMod val="50000"/>
                  </a:schemeClr>
                </a:solidFill>
                <a:latin typeface="Courier New" panose="02070309020205020404" pitchFamily="49" charset="0"/>
                <a:cs typeface="Courier New" panose="02070309020205020404" pitchFamily="49" charset="0"/>
              </a:rPr>
              <a:t>id</a:t>
            </a:r>
            <a:r>
              <a:rPr lang="en-US" sz="3200" dirty="0"/>
              <a:t> is an abstract symbol standing for </a:t>
            </a:r>
            <a:r>
              <a:rPr lang="en-US" sz="3200" b="1" i="1" dirty="0"/>
              <a:t>identifier</a:t>
            </a:r>
            <a:r>
              <a:rPr lang="en-US" sz="3200" dirty="0"/>
              <a:t> and </a:t>
            </a:r>
            <a:r>
              <a:rPr lang="en-US" sz="3200" b="1" i="1" dirty="0">
                <a:solidFill>
                  <a:schemeClr val="accent5">
                    <a:lumMod val="50000"/>
                  </a:schemeClr>
                </a:solidFill>
              </a:rPr>
              <a:t>1</a:t>
            </a:r>
            <a:r>
              <a:rPr lang="en-US" sz="3200" dirty="0"/>
              <a:t> points to the symbol table entry for </a:t>
            </a:r>
            <a:r>
              <a:rPr lang="en-US" sz="3200" b="1" dirty="0">
                <a:solidFill>
                  <a:schemeClr val="accent2"/>
                </a:solidFill>
                <a:latin typeface="Courier New" panose="02070309020205020404" pitchFamily="49" charset="0"/>
                <a:cs typeface="Courier New" panose="02070309020205020404" pitchFamily="49" charset="0"/>
              </a:rPr>
              <a:t>position</a:t>
            </a:r>
            <a:r>
              <a:rPr lang="en-US" sz="3200" dirty="0"/>
              <a:t>. </a:t>
            </a:r>
          </a:p>
          <a:p>
            <a:pPr lvl="2">
              <a:buFont typeface="Wingdings" panose="05000000000000000000" pitchFamily="2" charset="2"/>
              <a:buChar char="§"/>
            </a:pPr>
            <a:r>
              <a:rPr lang="en-US" dirty="0"/>
              <a:t>The symbol-table entry for an identifier holds information about the identifier, such as its </a:t>
            </a:r>
            <a:r>
              <a:rPr lang="en-US" b="1" i="1" dirty="0">
                <a:solidFill>
                  <a:srgbClr val="003399"/>
                </a:solidFill>
              </a:rPr>
              <a:t>name</a:t>
            </a:r>
            <a:r>
              <a:rPr lang="en-US" dirty="0">
                <a:solidFill>
                  <a:srgbClr val="003399"/>
                </a:solidFill>
              </a:rPr>
              <a:t> </a:t>
            </a:r>
            <a:r>
              <a:rPr lang="en-US" dirty="0"/>
              <a:t>and </a:t>
            </a:r>
            <a:r>
              <a:rPr lang="en-US" b="1" i="1" dirty="0">
                <a:solidFill>
                  <a:srgbClr val="003399"/>
                </a:solidFill>
              </a:rPr>
              <a:t>type</a:t>
            </a:r>
            <a:r>
              <a:rPr lang="en-US" dirty="0"/>
              <a:t>.</a:t>
            </a:r>
          </a:p>
          <a:p>
            <a:pPr marL="914400" lvl="2" indent="0">
              <a:buNone/>
            </a:pPr>
            <a:endParaRPr lang="en-US" dirty="0"/>
          </a:p>
          <a:p>
            <a:pPr marL="971550" lvl="1" indent="-514350">
              <a:buFont typeface="+mj-lt"/>
              <a:buAutoNum type="arabicPeriod"/>
            </a:pPr>
            <a:r>
              <a:rPr lang="en-US" dirty="0"/>
              <a:t>The assignment symbol </a:t>
            </a:r>
            <a:r>
              <a:rPr lang="en-US" sz="3200" b="1" dirty="0">
                <a:solidFill>
                  <a:schemeClr val="accent2"/>
                </a:solidFill>
                <a:latin typeface="Courier New" panose="02070309020205020404" pitchFamily="49" charset="0"/>
                <a:cs typeface="Courier New" panose="02070309020205020404" pitchFamily="49" charset="0"/>
              </a:rPr>
              <a:t>=</a:t>
            </a:r>
            <a:r>
              <a:rPr lang="en-US" dirty="0"/>
              <a:t> is a lexeme that is mapped into the token </a:t>
            </a:r>
            <a:r>
              <a:rPr lang="en-US" sz="3200" b="1" dirty="0">
                <a:solidFill>
                  <a:schemeClr val="accent2"/>
                </a:solidFill>
                <a:latin typeface="Courier New" panose="02070309020205020404" pitchFamily="49" charset="0"/>
                <a:cs typeface="Courier New" panose="02070309020205020404" pitchFamily="49" charset="0"/>
              </a:rPr>
              <a:t>&lt;=, &gt;</a:t>
            </a:r>
            <a:r>
              <a:rPr lang="en-US" sz="2900" dirty="0"/>
              <a:t>.</a:t>
            </a:r>
            <a:r>
              <a:rPr lang="en-US" dirty="0"/>
              <a:t> </a:t>
            </a:r>
          </a:p>
          <a:p>
            <a:pPr lvl="2">
              <a:buFont typeface="Wingdings" panose="05000000000000000000" pitchFamily="2" charset="2"/>
              <a:buChar char="§"/>
            </a:pPr>
            <a:r>
              <a:rPr lang="en-US" dirty="0"/>
              <a:t>Since this token needs no attribute-value, the second component is omitted. </a:t>
            </a:r>
          </a:p>
        </p:txBody>
      </p:sp>
      <p:sp>
        <p:nvSpPr>
          <p:cNvPr id="4" name="Slide Number Placeholder 3"/>
          <p:cNvSpPr>
            <a:spLocks noGrp="1"/>
          </p:cNvSpPr>
          <p:nvPr>
            <p:ph type="sldNum" sz="quarter" idx="12"/>
          </p:nvPr>
        </p:nvSpPr>
        <p:spPr/>
        <p:txBody>
          <a:bodyPr/>
          <a:lstStyle/>
          <a:p>
            <a:fld id="{C2C343A0-757D-4032-BC20-DF0A67BD0A50}" type="slidenum">
              <a:rPr lang="en-US" smtClean="0"/>
              <a:t>6</a:t>
            </a:fld>
            <a:endParaRPr lang="en-US"/>
          </a:p>
        </p:txBody>
      </p:sp>
    </p:spTree>
    <p:extLst>
      <p:ext uri="{BB962C8B-B14F-4D97-AF65-F5344CB8AC3E}">
        <p14:creationId xmlns:p14="http://schemas.microsoft.com/office/powerpoint/2010/main" val="994696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What is Lexical Analysis?</a:t>
            </a:r>
          </a:p>
        </p:txBody>
      </p:sp>
      <p:sp>
        <p:nvSpPr>
          <p:cNvPr id="3" name="Content Placeholder 2"/>
          <p:cNvSpPr>
            <a:spLocks noGrp="1"/>
          </p:cNvSpPr>
          <p:nvPr>
            <p:ph idx="1"/>
          </p:nvPr>
        </p:nvSpPr>
        <p:spPr>
          <a:xfrm>
            <a:off x="457200" y="1600200"/>
            <a:ext cx="8458200" cy="4953000"/>
          </a:xfrm>
        </p:spPr>
        <p:txBody>
          <a:bodyPr>
            <a:normAutofit fontScale="85000" lnSpcReduction="10000"/>
          </a:bodyPr>
          <a:lstStyle/>
          <a:p>
            <a:pPr marL="0" indent="0">
              <a:buNone/>
            </a:pPr>
            <a:r>
              <a:rPr lang="en-US" b="1" dirty="0"/>
              <a:t>Example</a:t>
            </a:r>
            <a:r>
              <a:rPr lang="en-US" dirty="0"/>
              <a:t>:</a:t>
            </a:r>
          </a:p>
          <a:p>
            <a:pPr marL="1143000" lvl="1" indent="-742950">
              <a:buFont typeface="+mj-lt"/>
              <a:buAutoNum type="arabicPeriod" startAt="3"/>
            </a:pPr>
            <a:r>
              <a:rPr lang="en-US" b="1" dirty="0">
                <a:solidFill>
                  <a:schemeClr val="accent2"/>
                </a:solidFill>
                <a:latin typeface="Courier New" panose="02070309020205020404" pitchFamily="49" charset="0"/>
                <a:cs typeface="Courier New" panose="02070309020205020404" pitchFamily="49" charset="0"/>
              </a:rPr>
              <a:t>initial</a:t>
            </a:r>
            <a:r>
              <a:rPr lang="en-US" dirty="0"/>
              <a:t> is a lexeme that is mapped into the token </a:t>
            </a:r>
            <a:r>
              <a:rPr lang="en-US" b="1" dirty="0">
                <a:solidFill>
                  <a:schemeClr val="accent2"/>
                </a:solidFill>
                <a:latin typeface="Courier New" panose="02070309020205020404" pitchFamily="49" charset="0"/>
                <a:cs typeface="Courier New" panose="02070309020205020404" pitchFamily="49" charset="0"/>
              </a:rPr>
              <a:t>&lt;id, 2&gt;</a:t>
            </a:r>
            <a:r>
              <a:rPr lang="en-US" dirty="0"/>
              <a:t>, where </a:t>
            </a:r>
            <a:r>
              <a:rPr lang="en-US" b="1" dirty="0">
                <a:solidFill>
                  <a:schemeClr val="accent2"/>
                </a:solidFill>
                <a:latin typeface="Courier New" panose="02070309020205020404" pitchFamily="49" charset="0"/>
                <a:cs typeface="Courier New" panose="02070309020205020404" pitchFamily="49" charset="0"/>
              </a:rPr>
              <a:t>2</a:t>
            </a:r>
            <a:r>
              <a:rPr lang="en-US" dirty="0"/>
              <a:t> points to the symbol-table entry for initial.</a:t>
            </a:r>
          </a:p>
          <a:p>
            <a:pPr marL="1143000" lvl="1" indent="-742950">
              <a:buFont typeface="+mj-lt"/>
              <a:buAutoNum type="arabicPeriod" startAt="3"/>
            </a:pPr>
            <a:r>
              <a:rPr lang="en-US" b="1" dirty="0">
                <a:solidFill>
                  <a:schemeClr val="accent2"/>
                </a:solidFill>
                <a:latin typeface="Courier New" panose="02070309020205020404" pitchFamily="49" charset="0"/>
                <a:cs typeface="Courier New" panose="02070309020205020404" pitchFamily="49" charset="0"/>
              </a:rPr>
              <a:t>+</a:t>
            </a:r>
            <a:r>
              <a:rPr lang="en-US" dirty="0"/>
              <a:t> is a lexeme that is mapped into the token </a:t>
            </a:r>
            <a:r>
              <a:rPr lang="en-US" b="1" dirty="0">
                <a:solidFill>
                  <a:schemeClr val="accent2"/>
                </a:solidFill>
                <a:latin typeface="Courier New" panose="02070309020205020404" pitchFamily="49" charset="0"/>
                <a:cs typeface="Courier New" panose="02070309020205020404" pitchFamily="49" charset="0"/>
              </a:rPr>
              <a:t>&lt;+, &gt;</a:t>
            </a:r>
            <a:r>
              <a:rPr lang="en-US" dirty="0"/>
              <a:t>.</a:t>
            </a:r>
          </a:p>
          <a:p>
            <a:pPr marL="1143000" lvl="1" indent="-742950">
              <a:buFont typeface="+mj-lt"/>
              <a:buAutoNum type="arabicPeriod" startAt="3"/>
            </a:pPr>
            <a:r>
              <a:rPr lang="en-US" b="1" dirty="0">
                <a:solidFill>
                  <a:schemeClr val="accent2"/>
                </a:solidFill>
                <a:latin typeface="Courier New" panose="02070309020205020404" pitchFamily="49" charset="0"/>
                <a:cs typeface="Courier New" panose="02070309020205020404" pitchFamily="49" charset="0"/>
              </a:rPr>
              <a:t>rate</a:t>
            </a:r>
            <a:r>
              <a:rPr lang="en-US" dirty="0"/>
              <a:t> is a lexeme that is mapped into the token </a:t>
            </a:r>
            <a:r>
              <a:rPr lang="en-US" b="1" dirty="0">
                <a:solidFill>
                  <a:schemeClr val="accent2"/>
                </a:solidFill>
                <a:latin typeface="Courier New" panose="02070309020205020404" pitchFamily="49" charset="0"/>
                <a:cs typeface="Courier New" panose="02070309020205020404" pitchFamily="49" charset="0"/>
              </a:rPr>
              <a:t>&lt;id, 3&gt;</a:t>
            </a:r>
            <a:r>
              <a:rPr lang="en-US" dirty="0"/>
              <a:t>, where </a:t>
            </a:r>
            <a:r>
              <a:rPr lang="en-US" b="1" dirty="0">
                <a:solidFill>
                  <a:schemeClr val="accent2"/>
                </a:solidFill>
                <a:latin typeface="Courier New" panose="02070309020205020404" pitchFamily="49" charset="0"/>
                <a:cs typeface="Courier New" panose="02070309020205020404" pitchFamily="49" charset="0"/>
              </a:rPr>
              <a:t>3</a:t>
            </a:r>
            <a:r>
              <a:rPr lang="en-US" dirty="0"/>
              <a:t> points to the symbol-table entry for rate.</a:t>
            </a:r>
          </a:p>
          <a:p>
            <a:pPr marL="1143000" lvl="1" indent="-742950">
              <a:buFont typeface="+mj-lt"/>
              <a:buAutoNum type="arabicPeriod" startAt="3"/>
            </a:pPr>
            <a:r>
              <a:rPr lang="en-US" b="1" dirty="0">
                <a:solidFill>
                  <a:schemeClr val="accent2"/>
                </a:solidFill>
                <a:latin typeface="Courier New" panose="02070309020205020404" pitchFamily="49" charset="0"/>
                <a:cs typeface="Courier New" panose="02070309020205020404" pitchFamily="49" charset="0"/>
              </a:rPr>
              <a:t>*</a:t>
            </a:r>
            <a:r>
              <a:rPr lang="en-US" dirty="0"/>
              <a:t> is a lexeme that is mapped into the token </a:t>
            </a:r>
            <a:r>
              <a:rPr lang="en-US" b="1" dirty="0">
                <a:solidFill>
                  <a:schemeClr val="accent2"/>
                </a:solidFill>
                <a:latin typeface="Courier New" panose="02070309020205020404" pitchFamily="49" charset="0"/>
                <a:cs typeface="Courier New" panose="02070309020205020404" pitchFamily="49" charset="0"/>
              </a:rPr>
              <a:t>&lt;*, &gt;</a:t>
            </a:r>
            <a:r>
              <a:rPr lang="en-US" dirty="0"/>
              <a:t>.</a:t>
            </a:r>
          </a:p>
          <a:p>
            <a:pPr marL="1143000" lvl="1" indent="-742950">
              <a:buFont typeface="+mj-lt"/>
              <a:buAutoNum type="arabicPeriod" startAt="3"/>
            </a:pPr>
            <a:r>
              <a:rPr lang="en-US" b="1" dirty="0">
                <a:solidFill>
                  <a:schemeClr val="accent2"/>
                </a:solidFill>
                <a:latin typeface="Courier New" panose="02070309020205020404" pitchFamily="49" charset="0"/>
                <a:cs typeface="Courier New" panose="02070309020205020404" pitchFamily="49" charset="0"/>
              </a:rPr>
              <a:t>60</a:t>
            </a:r>
            <a:r>
              <a:rPr lang="en-US" dirty="0"/>
              <a:t> is a lexeme that is mapped into the token </a:t>
            </a:r>
            <a:r>
              <a:rPr lang="en-US" b="1" dirty="0">
                <a:solidFill>
                  <a:schemeClr val="accent2"/>
                </a:solidFill>
                <a:latin typeface="Courier New" panose="02070309020205020404" pitchFamily="49" charset="0"/>
                <a:cs typeface="Courier New" panose="02070309020205020404" pitchFamily="49" charset="0"/>
              </a:rPr>
              <a:t>&lt;60, &gt;</a:t>
            </a:r>
            <a:r>
              <a:rPr lang="en-US" dirty="0"/>
              <a:t>.</a:t>
            </a:r>
          </a:p>
          <a:p>
            <a:endParaRPr lang="en-US" dirty="0"/>
          </a:p>
          <a:p>
            <a:r>
              <a:rPr lang="en-US" dirty="0"/>
              <a:t>Blanks separating the lexemes would be discarded by the lexical analyzer.</a:t>
            </a:r>
          </a:p>
        </p:txBody>
      </p:sp>
      <p:sp>
        <p:nvSpPr>
          <p:cNvPr id="4" name="Slide Number Placeholder 3"/>
          <p:cNvSpPr>
            <a:spLocks noGrp="1"/>
          </p:cNvSpPr>
          <p:nvPr>
            <p:ph type="sldNum" sz="quarter" idx="12"/>
          </p:nvPr>
        </p:nvSpPr>
        <p:spPr/>
        <p:txBody>
          <a:bodyPr/>
          <a:lstStyle/>
          <a:p>
            <a:fld id="{C2C343A0-757D-4032-BC20-DF0A67BD0A50}" type="slidenum">
              <a:rPr lang="en-US" smtClean="0"/>
              <a:t>7</a:t>
            </a:fld>
            <a:endParaRPr lang="en-US"/>
          </a:p>
        </p:txBody>
      </p:sp>
    </p:spTree>
    <p:extLst>
      <p:ext uri="{BB962C8B-B14F-4D97-AF65-F5344CB8AC3E}">
        <p14:creationId xmlns:p14="http://schemas.microsoft.com/office/powerpoint/2010/main" val="848852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524000" y="76200"/>
            <a:ext cx="6705600" cy="6660411"/>
          </a:xfrm>
          <a:prstGeom prst="rect">
            <a:avLst/>
          </a:prstGeom>
        </p:spPr>
      </p:pic>
      <p:sp>
        <p:nvSpPr>
          <p:cNvPr id="2" name="Slide Number Placeholder 1"/>
          <p:cNvSpPr>
            <a:spLocks noGrp="1"/>
          </p:cNvSpPr>
          <p:nvPr>
            <p:ph type="sldNum" sz="quarter" idx="12"/>
          </p:nvPr>
        </p:nvSpPr>
        <p:spPr/>
        <p:txBody>
          <a:bodyPr/>
          <a:lstStyle/>
          <a:p>
            <a:fld id="{C2C343A0-757D-4032-BC20-DF0A67BD0A50}" type="slidenum">
              <a:rPr lang="en-US" smtClean="0"/>
              <a:t>8</a:t>
            </a:fld>
            <a:endParaRPr lang="en-US"/>
          </a:p>
        </p:txBody>
      </p:sp>
    </p:spTree>
    <p:extLst>
      <p:ext uri="{BB962C8B-B14F-4D97-AF65-F5344CB8AC3E}">
        <p14:creationId xmlns:p14="http://schemas.microsoft.com/office/powerpoint/2010/main" val="3280504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The Role of Lexical Analyzer</a:t>
            </a:r>
          </a:p>
        </p:txBody>
      </p:sp>
      <p:sp>
        <p:nvSpPr>
          <p:cNvPr id="3" name="Content Placeholder 2"/>
          <p:cNvSpPr>
            <a:spLocks noGrp="1"/>
          </p:cNvSpPr>
          <p:nvPr>
            <p:ph idx="1"/>
          </p:nvPr>
        </p:nvSpPr>
        <p:spPr>
          <a:xfrm>
            <a:off x="457200" y="1600200"/>
            <a:ext cx="8458200" cy="4953000"/>
          </a:xfrm>
        </p:spPr>
        <p:txBody>
          <a:bodyPr>
            <a:normAutofit fontScale="700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It is common for the lexical analyzer to interact with the </a:t>
            </a:r>
            <a:r>
              <a:rPr lang="en-US" b="1" i="1" dirty="0"/>
              <a:t>symbol table</a:t>
            </a:r>
            <a:r>
              <a:rPr lang="en-US" dirty="0"/>
              <a:t>. </a:t>
            </a:r>
          </a:p>
          <a:p>
            <a:pPr lvl="1"/>
            <a:endParaRPr lang="en-US" dirty="0"/>
          </a:p>
          <a:p>
            <a:pPr lvl="1"/>
            <a:r>
              <a:rPr lang="en-US" dirty="0"/>
              <a:t>When the lexical analyzer discovers a lexeme constituting an identifier, it needs to enter that lexeme into the symbol table. </a:t>
            </a:r>
          </a:p>
          <a:p>
            <a:pPr lvl="1"/>
            <a:endParaRPr lang="en-US" dirty="0"/>
          </a:p>
          <a:p>
            <a:pPr lvl="1"/>
            <a:r>
              <a:rPr lang="en-US" dirty="0"/>
              <a:t>In some cases, information regarding the kind of identifier may be read from the symbol table by the lexical analyzer to assist it in determining the proper token it must pass to the parser.</a:t>
            </a:r>
          </a:p>
        </p:txBody>
      </p:sp>
      <p:pic>
        <p:nvPicPr>
          <p:cNvPr id="19" name="Picture 18"/>
          <p:cNvPicPr>
            <a:picLocks noChangeAspect="1"/>
          </p:cNvPicPr>
          <p:nvPr/>
        </p:nvPicPr>
        <p:blipFill>
          <a:blip r:embed="rId2"/>
          <a:stretch>
            <a:fillRect/>
          </a:stretch>
        </p:blipFill>
        <p:spPr>
          <a:xfrm>
            <a:off x="1388200" y="1752600"/>
            <a:ext cx="6367600" cy="1983772"/>
          </a:xfrm>
          <a:prstGeom prst="rect">
            <a:avLst/>
          </a:prstGeom>
        </p:spPr>
      </p:pic>
      <p:sp>
        <p:nvSpPr>
          <p:cNvPr id="4" name="Slide Number Placeholder 3"/>
          <p:cNvSpPr>
            <a:spLocks noGrp="1"/>
          </p:cNvSpPr>
          <p:nvPr>
            <p:ph type="sldNum" sz="quarter" idx="12"/>
          </p:nvPr>
        </p:nvSpPr>
        <p:spPr/>
        <p:txBody>
          <a:bodyPr/>
          <a:lstStyle/>
          <a:p>
            <a:fld id="{C2C343A0-757D-4032-BC20-DF0A67BD0A50}" type="slidenum">
              <a:rPr lang="en-US" smtClean="0"/>
              <a:t>9</a:t>
            </a:fld>
            <a:endParaRPr lang="en-US"/>
          </a:p>
        </p:txBody>
      </p:sp>
    </p:spTree>
    <p:extLst>
      <p:ext uri="{BB962C8B-B14F-4D97-AF65-F5344CB8AC3E}">
        <p14:creationId xmlns:p14="http://schemas.microsoft.com/office/powerpoint/2010/main" val="4084658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Other tasks of an LA</a:t>
            </a:r>
          </a:p>
        </p:txBody>
      </p:sp>
      <p:sp>
        <p:nvSpPr>
          <p:cNvPr id="3" name="Content Placeholder 2"/>
          <p:cNvSpPr>
            <a:spLocks noGrp="1"/>
          </p:cNvSpPr>
          <p:nvPr>
            <p:ph idx="1"/>
          </p:nvPr>
        </p:nvSpPr>
        <p:spPr>
          <a:xfrm>
            <a:off x="457200" y="1417638"/>
            <a:ext cx="8458200" cy="5287962"/>
          </a:xfrm>
        </p:spPr>
        <p:txBody>
          <a:bodyPr>
            <a:normAutofit fontScale="62500" lnSpcReduction="20000"/>
          </a:bodyPr>
          <a:lstStyle/>
          <a:p>
            <a:pPr>
              <a:spcAft>
                <a:spcPts val="600"/>
              </a:spcAft>
            </a:pPr>
            <a:r>
              <a:rPr lang="en-US" dirty="0"/>
              <a:t>Since LA is the part of the compiler that reads the source text, it may perform certain other tasks besides identification of lexemes such as:</a:t>
            </a:r>
          </a:p>
          <a:p>
            <a:pPr marL="971550" lvl="1" indent="-514350">
              <a:spcAft>
                <a:spcPts val="600"/>
              </a:spcAft>
              <a:buFont typeface="+mj-lt"/>
              <a:buAutoNum type="arabicPeriod"/>
            </a:pPr>
            <a:r>
              <a:rPr lang="en-US" dirty="0"/>
              <a:t>Stripping out </a:t>
            </a:r>
            <a:r>
              <a:rPr lang="en-US" b="1" i="1" dirty="0"/>
              <a:t>comments </a:t>
            </a:r>
            <a:r>
              <a:rPr lang="en-US" dirty="0"/>
              <a:t>and</a:t>
            </a:r>
            <a:r>
              <a:rPr lang="en-US" b="1" i="1" dirty="0"/>
              <a:t> whitespace </a:t>
            </a:r>
            <a:r>
              <a:rPr lang="en-US" dirty="0"/>
              <a:t>(</a:t>
            </a:r>
            <a:r>
              <a:rPr lang="en-US" b="1" i="1" dirty="0"/>
              <a:t>blank</a:t>
            </a:r>
            <a:r>
              <a:rPr lang="en-US" dirty="0"/>
              <a:t>, </a:t>
            </a:r>
            <a:r>
              <a:rPr lang="en-US" b="1" i="1" dirty="0"/>
              <a:t>newline</a:t>
            </a:r>
            <a:r>
              <a:rPr lang="en-US" dirty="0"/>
              <a:t>, </a:t>
            </a:r>
            <a:r>
              <a:rPr lang="en-US" b="1" i="1" dirty="0"/>
              <a:t>tab</a:t>
            </a:r>
            <a:r>
              <a:rPr lang="en-US" dirty="0"/>
              <a:t>, and perhaps other characters that are used to </a:t>
            </a:r>
            <a:r>
              <a:rPr lang="en-US" b="1" i="1" dirty="0"/>
              <a:t>separate tokens </a:t>
            </a:r>
            <a:r>
              <a:rPr lang="en-US" dirty="0"/>
              <a:t>in the input). </a:t>
            </a:r>
          </a:p>
          <a:p>
            <a:pPr marL="971550" lvl="1" indent="-514350">
              <a:spcAft>
                <a:spcPts val="600"/>
              </a:spcAft>
              <a:buFont typeface="+mj-lt"/>
              <a:buAutoNum type="arabicPeriod"/>
            </a:pPr>
            <a:r>
              <a:rPr lang="en-US" b="1" i="1" dirty="0"/>
              <a:t>Correlating error messages </a:t>
            </a:r>
            <a:r>
              <a:rPr lang="en-US" dirty="0"/>
              <a:t>generated by the compiler with the source program. </a:t>
            </a:r>
          </a:p>
          <a:p>
            <a:pPr lvl="2">
              <a:spcAft>
                <a:spcPts val="600"/>
              </a:spcAft>
            </a:pPr>
            <a:r>
              <a:rPr lang="en-US" dirty="0"/>
              <a:t>For instance, the LA may keep track of the number of newline characters seen, so it can associate a line number with each error message.</a:t>
            </a:r>
          </a:p>
          <a:p>
            <a:pPr marL="971550" lvl="1" indent="-514350">
              <a:spcAft>
                <a:spcPts val="600"/>
              </a:spcAft>
              <a:buFont typeface="+mj-lt"/>
              <a:buAutoNum type="arabicPeriod"/>
            </a:pPr>
            <a:r>
              <a:rPr lang="en-US" dirty="0"/>
              <a:t>If the source program uses a </a:t>
            </a:r>
            <a:r>
              <a:rPr lang="en-US" b="1" i="1" dirty="0"/>
              <a:t>macro-preprocessor</a:t>
            </a:r>
            <a:r>
              <a:rPr lang="en-US" dirty="0"/>
              <a:t>, the expansion of macros may also be performed by the lexical analyzer.</a:t>
            </a:r>
          </a:p>
          <a:p>
            <a:pPr>
              <a:spcAft>
                <a:spcPts val="600"/>
              </a:spcAft>
            </a:pPr>
            <a:r>
              <a:rPr lang="en-US" dirty="0"/>
              <a:t>Sometimes, lexical analyzers are divided into a cascade of two processes:</a:t>
            </a:r>
          </a:p>
          <a:p>
            <a:pPr marL="971550" lvl="1" indent="-514350">
              <a:spcAft>
                <a:spcPts val="600"/>
              </a:spcAft>
              <a:buFont typeface="+mj-lt"/>
              <a:buAutoNum type="alphaUcPeriod"/>
            </a:pPr>
            <a:r>
              <a:rPr lang="en-US" b="1" dirty="0">
                <a:solidFill>
                  <a:srgbClr val="003399"/>
                </a:solidFill>
              </a:rPr>
              <a:t>Scanning</a:t>
            </a:r>
            <a:r>
              <a:rPr lang="en-US" dirty="0">
                <a:solidFill>
                  <a:srgbClr val="003399"/>
                </a:solidFill>
              </a:rPr>
              <a:t> </a:t>
            </a:r>
            <a:r>
              <a:rPr lang="en-US" dirty="0"/>
              <a:t>consists of the simple processes that do not require tokenization of the input, such as deletion of comments and compaction of consecutive whitespace characters into one.</a:t>
            </a:r>
          </a:p>
          <a:p>
            <a:pPr marL="971550" lvl="1" indent="-514350">
              <a:spcAft>
                <a:spcPts val="600"/>
              </a:spcAft>
              <a:buFont typeface="+mj-lt"/>
              <a:buAutoNum type="alphaUcPeriod"/>
            </a:pPr>
            <a:r>
              <a:rPr lang="en-US" b="1" dirty="0">
                <a:solidFill>
                  <a:srgbClr val="003399"/>
                </a:solidFill>
              </a:rPr>
              <a:t>Lexical analysis </a:t>
            </a:r>
            <a:r>
              <a:rPr lang="en-US" dirty="0"/>
              <a:t>is the more complex portion, where the scanner produces the sequence of tokens as output (</a:t>
            </a:r>
            <a:r>
              <a:rPr lang="en-US" b="1" i="1" dirty="0">
                <a:solidFill>
                  <a:srgbClr val="003399"/>
                </a:solidFill>
              </a:rPr>
              <a:t>tokenization</a:t>
            </a:r>
            <a:r>
              <a:rPr lang="en-US" dirty="0"/>
              <a:t>)</a:t>
            </a:r>
          </a:p>
        </p:txBody>
      </p:sp>
      <p:sp>
        <p:nvSpPr>
          <p:cNvPr id="4" name="Slide Number Placeholder 3"/>
          <p:cNvSpPr>
            <a:spLocks noGrp="1"/>
          </p:cNvSpPr>
          <p:nvPr>
            <p:ph type="sldNum" sz="quarter" idx="12"/>
          </p:nvPr>
        </p:nvSpPr>
        <p:spPr/>
        <p:txBody>
          <a:bodyPr/>
          <a:lstStyle/>
          <a:p>
            <a:fld id="{C2C343A0-757D-4032-BC20-DF0A67BD0A50}" type="slidenum">
              <a:rPr lang="en-US" smtClean="0"/>
              <a:t>10</a:t>
            </a:fld>
            <a:endParaRPr lang="en-US"/>
          </a:p>
        </p:txBody>
      </p:sp>
    </p:spTree>
    <p:extLst>
      <p:ext uri="{BB962C8B-B14F-4D97-AF65-F5344CB8AC3E}">
        <p14:creationId xmlns:p14="http://schemas.microsoft.com/office/powerpoint/2010/main" val="276798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Lexical Analysis versus Parsing</a:t>
            </a:r>
          </a:p>
        </p:txBody>
      </p:sp>
      <p:sp>
        <p:nvSpPr>
          <p:cNvPr id="3" name="Content Placeholder 2"/>
          <p:cNvSpPr>
            <a:spLocks noGrp="1"/>
          </p:cNvSpPr>
          <p:nvPr>
            <p:ph idx="1"/>
          </p:nvPr>
        </p:nvSpPr>
        <p:spPr>
          <a:xfrm>
            <a:off x="457200" y="1600200"/>
            <a:ext cx="8458200" cy="4953000"/>
          </a:xfrm>
        </p:spPr>
        <p:txBody>
          <a:bodyPr>
            <a:normAutofit fontScale="70000" lnSpcReduction="20000"/>
          </a:bodyPr>
          <a:lstStyle/>
          <a:p>
            <a:pPr>
              <a:spcAft>
                <a:spcPts val="600"/>
              </a:spcAft>
            </a:pPr>
            <a:r>
              <a:rPr lang="en-US" dirty="0"/>
              <a:t>There are a number of reasons why the analysis portion of a compiler is normally separated into lexical analysis and parsing (syntax analysis) phases:</a:t>
            </a:r>
          </a:p>
          <a:p>
            <a:pPr marL="914400" lvl="1" indent="-514350">
              <a:spcAft>
                <a:spcPts val="600"/>
              </a:spcAft>
              <a:buFont typeface="+mj-lt"/>
              <a:buAutoNum type="arabicPeriod"/>
            </a:pPr>
            <a:r>
              <a:rPr lang="en-US" b="1" dirty="0">
                <a:solidFill>
                  <a:srgbClr val="003399"/>
                </a:solidFill>
              </a:rPr>
              <a:t>Simplicity of Design</a:t>
            </a:r>
            <a:r>
              <a:rPr lang="en-US" dirty="0"/>
              <a:t>:- is the most important consideration that often allows us to simplify compilation tasks. </a:t>
            </a:r>
          </a:p>
          <a:p>
            <a:pPr lvl="2">
              <a:spcAft>
                <a:spcPts val="600"/>
              </a:spcAft>
            </a:pPr>
            <a:r>
              <a:rPr lang="en-US" dirty="0"/>
              <a:t>For example, a parser that had to deal with comments and whitespace as syntactic units would be considerably more complex than one that can assume comments and whitespace have already been removed by the lexical analyzer. </a:t>
            </a:r>
          </a:p>
          <a:p>
            <a:pPr lvl="2">
              <a:spcAft>
                <a:spcPts val="600"/>
              </a:spcAft>
            </a:pPr>
            <a:r>
              <a:rPr lang="en-US" dirty="0"/>
              <a:t>If we are designing a new language, separating lexical and syntactic concerns can lead to a cleaner overall language design.</a:t>
            </a:r>
          </a:p>
          <a:p>
            <a:pPr marL="971550" lvl="1" indent="-514350">
              <a:spcAft>
                <a:spcPts val="600"/>
              </a:spcAft>
              <a:buFont typeface="+mj-lt"/>
              <a:buAutoNum type="arabicPeriod"/>
            </a:pPr>
            <a:r>
              <a:rPr lang="en-US" b="1" dirty="0">
                <a:solidFill>
                  <a:srgbClr val="003399"/>
                </a:solidFill>
              </a:rPr>
              <a:t>Compiler efficiency is improved</a:t>
            </a:r>
            <a:r>
              <a:rPr lang="en-US" dirty="0"/>
              <a:t>:- a separate lexical analyzer allows us to apply specialized techniques that serve only the lexical task, not the job of parsing. </a:t>
            </a:r>
          </a:p>
          <a:p>
            <a:pPr lvl="2">
              <a:spcAft>
                <a:spcPts val="600"/>
              </a:spcAft>
            </a:pPr>
            <a:r>
              <a:rPr lang="en-US" dirty="0"/>
              <a:t>In addition, specialized buffering techniques for reading input characters can speed up the compiler significantly.</a:t>
            </a:r>
          </a:p>
          <a:p>
            <a:pPr marL="971550" lvl="1" indent="-514350">
              <a:spcAft>
                <a:spcPts val="600"/>
              </a:spcAft>
              <a:buFont typeface="+mj-lt"/>
              <a:buAutoNum type="arabicPeriod"/>
            </a:pPr>
            <a:r>
              <a:rPr lang="en-US" b="1" dirty="0">
                <a:solidFill>
                  <a:srgbClr val="003399"/>
                </a:solidFill>
              </a:rPr>
              <a:t>Compiler portability is enhanced</a:t>
            </a:r>
            <a:r>
              <a:rPr lang="en-US" dirty="0"/>
              <a:t>:- input-device-specific peculiarities can be restricted to the lexical analyzer.</a:t>
            </a:r>
          </a:p>
        </p:txBody>
      </p:sp>
      <p:sp>
        <p:nvSpPr>
          <p:cNvPr id="4" name="Slide Number Placeholder 3"/>
          <p:cNvSpPr>
            <a:spLocks noGrp="1"/>
          </p:cNvSpPr>
          <p:nvPr>
            <p:ph type="sldNum" sz="quarter" idx="12"/>
          </p:nvPr>
        </p:nvSpPr>
        <p:spPr/>
        <p:txBody>
          <a:bodyPr/>
          <a:lstStyle/>
          <a:p>
            <a:fld id="{C2C343A0-757D-4032-BC20-DF0A67BD0A50}" type="slidenum">
              <a:rPr lang="en-US" smtClean="0"/>
              <a:t>11</a:t>
            </a:fld>
            <a:endParaRPr lang="en-US"/>
          </a:p>
        </p:txBody>
      </p:sp>
    </p:spTree>
    <p:extLst>
      <p:ext uri="{BB962C8B-B14F-4D97-AF65-F5344CB8AC3E}">
        <p14:creationId xmlns:p14="http://schemas.microsoft.com/office/powerpoint/2010/main" val="4072756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Tokens, Patterns, and Lexemes</a:t>
            </a:r>
          </a:p>
        </p:txBody>
      </p:sp>
      <p:sp>
        <p:nvSpPr>
          <p:cNvPr id="3" name="Content Placeholder 2"/>
          <p:cNvSpPr>
            <a:spLocks noGrp="1"/>
          </p:cNvSpPr>
          <p:nvPr>
            <p:ph idx="1"/>
          </p:nvPr>
        </p:nvSpPr>
        <p:spPr>
          <a:xfrm>
            <a:off x="457200" y="1600200"/>
            <a:ext cx="8458200" cy="4953000"/>
          </a:xfrm>
        </p:spPr>
        <p:txBody>
          <a:bodyPr>
            <a:normAutofit fontScale="55000" lnSpcReduction="20000"/>
          </a:bodyPr>
          <a:lstStyle/>
          <a:p>
            <a:pPr>
              <a:spcAft>
                <a:spcPts val="600"/>
              </a:spcAft>
            </a:pPr>
            <a:r>
              <a:rPr lang="en-US" dirty="0"/>
              <a:t>A </a:t>
            </a:r>
            <a:r>
              <a:rPr lang="en-US" b="1" dirty="0">
                <a:solidFill>
                  <a:srgbClr val="003399"/>
                </a:solidFill>
              </a:rPr>
              <a:t>lexeme</a:t>
            </a:r>
            <a:r>
              <a:rPr lang="en-US" dirty="0">
                <a:solidFill>
                  <a:srgbClr val="003399"/>
                </a:solidFill>
              </a:rPr>
              <a:t> </a:t>
            </a:r>
            <a:r>
              <a:rPr lang="en-US" dirty="0"/>
              <a:t>is a sequence of characters in the source program that matches the pattern for a token.</a:t>
            </a:r>
          </a:p>
          <a:p>
            <a:pPr lvl="1">
              <a:spcAft>
                <a:spcPts val="600"/>
              </a:spcAft>
            </a:pPr>
            <a:r>
              <a:rPr lang="en-US" b="1" dirty="0"/>
              <a:t>Example</a:t>
            </a:r>
            <a:r>
              <a:rPr lang="en-US" dirty="0"/>
              <a:t>: </a:t>
            </a:r>
            <a:r>
              <a:rPr lang="en-US" b="1" dirty="0">
                <a:solidFill>
                  <a:srgbClr val="FF0000"/>
                </a:solidFill>
                <a:latin typeface="Courier New" panose="02070309020205020404" pitchFamily="49" charset="0"/>
                <a:cs typeface="Courier New" panose="02070309020205020404" pitchFamily="49" charset="0"/>
              </a:rPr>
              <a:t>-5, </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sum, 100, for ;  </a:t>
            </a:r>
            <a:r>
              <a:rPr lang="en-US" b="1" dirty="0" err="1">
                <a:solidFill>
                  <a:srgbClr val="FF0000"/>
                </a:solidFill>
                <a:latin typeface="Courier New" panose="02070309020205020404" pitchFamily="49" charset="0"/>
                <a:cs typeface="Courier New" panose="02070309020205020404" pitchFamily="49" charset="0"/>
              </a:rPr>
              <a:t>int</a:t>
            </a:r>
            <a:r>
              <a:rPr lang="en-US" b="1" dirty="0">
                <a:solidFill>
                  <a:srgbClr val="FF0000"/>
                </a:solidFill>
                <a:latin typeface="Courier New" panose="02070309020205020404" pitchFamily="49" charset="0"/>
                <a:cs typeface="Courier New" panose="02070309020205020404" pitchFamily="49" charset="0"/>
              </a:rPr>
              <a:t>  10 + -</a:t>
            </a:r>
          </a:p>
          <a:p>
            <a:pPr>
              <a:spcAft>
                <a:spcPts val="600"/>
              </a:spcAft>
            </a:pPr>
            <a:r>
              <a:rPr lang="en-US" b="1" dirty="0">
                <a:solidFill>
                  <a:srgbClr val="000099"/>
                </a:solidFill>
              </a:rPr>
              <a:t>Token</a:t>
            </a:r>
            <a:r>
              <a:rPr lang="en-US" dirty="0"/>
              <a:t>:- is a pair consisting of a token name and an optional attribute value. </a:t>
            </a:r>
          </a:p>
          <a:p>
            <a:pPr lvl="1">
              <a:spcAft>
                <a:spcPts val="600"/>
              </a:spcAft>
            </a:pPr>
            <a:r>
              <a:rPr lang="en-US" b="1" dirty="0"/>
              <a:t>Example</a:t>
            </a:r>
            <a:r>
              <a:rPr lang="en-US" dirty="0"/>
              <a:t>: </a:t>
            </a:r>
          </a:p>
          <a:p>
            <a:pPr marL="857250" lvl="2" indent="0">
              <a:spcAft>
                <a:spcPts val="600"/>
              </a:spcAft>
              <a:buNone/>
            </a:pPr>
            <a:r>
              <a:rPr lang="en-US" b="1" dirty="0">
                <a:solidFill>
                  <a:srgbClr val="FF0000"/>
                </a:solidFill>
                <a:latin typeface="Courier New" panose="02070309020205020404" pitchFamily="49" charset="0"/>
                <a:cs typeface="Courier New" panose="02070309020205020404" pitchFamily="49" charset="0"/>
              </a:rPr>
              <a:t>Identifiers</a:t>
            </a:r>
            <a:r>
              <a:rPr lang="en-US" b="1" dirty="0">
                <a:solidFill>
                  <a:srgbClr val="003399"/>
                </a:solidFill>
                <a:latin typeface="Courier New" panose="02070309020205020404" pitchFamily="49" charset="0"/>
                <a:cs typeface="Courier New" panose="02070309020205020404" pitchFamily="49" charset="0"/>
              </a:rPr>
              <a:t> = { </a:t>
            </a:r>
            <a:r>
              <a:rPr lang="en-US" b="1" dirty="0" err="1">
                <a:solidFill>
                  <a:srgbClr val="003399"/>
                </a:solidFill>
                <a:latin typeface="Courier New" panose="02070309020205020404" pitchFamily="49" charset="0"/>
                <a:cs typeface="Courier New" panose="02070309020205020404" pitchFamily="49" charset="0"/>
              </a:rPr>
              <a:t>i</a:t>
            </a:r>
            <a:r>
              <a:rPr lang="en-US" b="1" dirty="0">
                <a:solidFill>
                  <a:srgbClr val="003399"/>
                </a:solidFill>
                <a:latin typeface="Courier New" panose="02070309020205020404" pitchFamily="49" charset="0"/>
                <a:cs typeface="Courier New" panose="02070309020205020404" pitchFamily="49" charset="0"/>
              </a:rPr>
              <a:t>, sum } </a:t>
            </a:r>
          </a:p>
          <a:p>
            <a:pPr marL="857250" lvl="2" indent="0">
              <a:spcAft>
                <a:spcPts val="600"/>
              </a:spcAft>
              <a:buNone/>
            </a:pPr>
            <a:r>
              <a:rPr lang="en-US" b="1" dirty="0" err="1">
                <a:solidFill>
                  <a:srgbClr val="FF0000"/>
                </a:solidFill>
                <a:latin typeface="Courier New" panose="02070309020205020404" pitchFamily="49" charset="0"/>
                <a:cs typeface="Courier New" panose="02070309020205020404" pitchFamily="49" charset="0"/>
              </a:rPr>
              <a:t>int_Constatnt</a:t>
            </a:r>
            <a:r>
              <a:rPr lang="en-US" b="1" dirty="0">
                <a:solidFill>
                  <a:srgbClr val="FF0000"/>
                </a:solidFill>
                <a:latin typeface="Courier New" panose="02070309020205020404" pitchFamily="49" charset="0"/>
                <a:cs typeface="Courier New" panose="02070309020205020404" pitchFamily="49" charset="0"/>
              </a:rPr>
              <a:t> </a:t>
            </a:r>
            <a:r>
              <a:rPr lang="en-US" b="1" dirty="0">
                <a:solidFill>
                  <a:srgbClr val="003399"/>
                </a:solidFill>
                <a:latin typeface="Courier New" panose="02070309020205020404" pitchFamily="49" charset="0"/>
                <a:cs typeface="Courier New" panose="02070309020205020404" pitchFamily="49" charset="0"/>
              </a:rPr>
              <a:t>= { 10, 100, -5 } </a:t>
            </a:r>
          </a:p>
          <a:p>
            <a:pPr marL="857250" lvl="2" indent="0">
              <a:spcAft>
                <a:spcPts val="600"/>
              </a:spcAft>
              <a:buNone/>
            </a:pPr>
            <a:r>
              <a:rPr lang="en-US" b="1" dirty="0" err="1">
                <a:solidFill>
                  <a:srgbClr val="FF0000"/>
                </a:solidFill>
                <a:latin typeface="Courier New" panose="02070309020205020404" pitchFamily="49" charset="0"/>
                <a:cs typeface="Courier New" panose="02070309020205020404" pitchFamily="49" charset="0"/>
              </a:rPr>
              <a:t>Opr</a:t>
            </a:r>
            <a:r>
              <a:rPr lang="en-US" b="1" dirty="0">
                <a:solidFill>
                  <a:srgbClr val="FF0000"/>
                </a:solidFill>
                <a:latin typeface="Courier New" panose="02070309020205020404" pitchFamily="49" charset="0"/>
                <a:cs typeface="Courier New" panose="02070309020205020404" pitchFamily="49" charset="0"/>
              </a:rPr>
              <a:t> </a:t>
            </a:r>
            <a:r>
              <a:rPr lang="en-US" b="1" dirty="0">
                <a:solidFill>
                  <a:srgbClr val="003399"/>
                </a:solidFill>
                <a:latin typeface="Courier New" panose="02070309020205020404" pitchFamily="49" charset="0"/>
                <a:cs typeface="Courier New" panose="02070309020205020404" pitchFamily="49" charset="0"/>
              </a:rPr>
              <a:t>= { +, -}</a:t>
            </a:r>
          </a:p>
          <a:p>
            <a:pPr marL="857250" lvl="2" indent="0">
              <a:spcAft>
                <a:spcPts val="600"/>
              </a:spcAft>
              <a:buNone/>
            </a:pPr>
            <a:r>
              <a:rPr lang="en-US" b="1" dirty="0" err="1">
                <a:solidFill>
                  <a:srgbClr val="FF0000"/>
                </a:solidFill>
                <a:latin typeface="Courier New" panose="02070309020205020404" pitchFamily="49" charset="0"/>
                <a:cs typeface="Courier New" panose="02070309020205020404" pitchFamily="49" charset="0"/>
              </a:rPr>
              <a:t>rev_Words</a:t>
            </a:r>
            <a:r>
              <a:rPr lang="en-US" b="1" dirty="0">
                <a:solidFill>
                  <a:srgbClr val="FF0000"/>
                </a:solidFill>
                <a:latin typeface="Courier New" panose="02070309020205020404" pitchFamily="49" charset="0"/>
                <a:cs typeface="Courier New" panose="02070309020205020404" pitchFamily="49" charset="0"/>
              </a:rPr>
              <a:t> </a:t>
            </a:r>
            <a:r>
              <a:rPr lang="en-US" b="1" dirty="0">
                <a:solidFill>
                  <a:srgbClr val="003399"/>
                </a:solidFill>
                <a:latin typeface="Courier New" panose="02070309020205020404" pitchFamily="49" charset="0"/>
                <a:cs typeface="Courier New" panose="02070309020205020404" pitchFamily="49" charset="0"/>
              </a:rPr>
              <a:t>= { for, </a:t>
            </a:r>
            <a:r>
              <a:rPr lang="en-US" b="1" dirty="0" err="1">
                <a:solidFill>
                  <a:srgbClr val="003399"/>
                </a:solidFill>
                <a:latin typeface="Courier New" panose="02070309020205020404" pitchFamily="49" charset="0"/>
                <a:cs typeface="Courier New" panose="02070309020205020404" pitchFamily="49" charset="0"/>
              </a:rPr>
              <a:t>int</a:t>
            </a:r>
            <a:r>
              <a:rPr lang="en-US" b="1" dirty="0">
                <a:solidFill>
                  <a:srgbClr val="003399"/>
                </a:solidFill>
                <a:latin typeface="Courier New" panose="02070309020205020404" pitchFamily="49" charset="0"/>
                <a:cs typeface="Courier New" panose="02070309020205020404" pitchFamily="49" charset="0"/>
              </a:rPr>
              <a:t>}</a:t>
            </a:r>
          </a:p>
          <a:p>
            <a:pPr marL="857250" lvl="2" indent="0">
              <a:spcAft>
                <a:spcPts val="600"/>
              </a:spcAft>
              <a:buNone/>
            </a:pPr>
            <a:r>
              <a:rPr lang="en-US" b="1" dirty="0">
                <a:solidFill>
                  <a:srgbClr val="FF0000"/>
                </a:solidFill>
                <a:latin typeface="Courier New" panose="02070309020205020404" pitchFamily="49" charset="0"/>
                <a:cs typeface="Courier New" panose="02070309020205020404" pitchFamily="49" charset="0"/>
              </a:rPr>
              <a:t>Separators</a:t>
            </a:r>
            <a:r>
              <a:rPr lang="en-US" b="1" dirty="0">
                <a:solidFill>
                  <a:srgbClr val="003399"/>
                </a:solidFill>
                <a:latin typeface="Courier New" panose="02070309020205020404" pitchFamily="49" charset="0"/>
                <a:cs typeface="Courier New" panose="02070309020205020404" pitchFamily="49" charset="0"/>
              </a:rPr>
              <a:t> = { ;, ,}</a:t>
            </a:r>
          </a:p>
          <a:p>
            <a:pPr lvl="1">
              <a:spcAft>
                <a:spcPts val="600"/>
              </a:spcAft>
            </a:pPr>
            <a:r>
              <a:rPr lang="en-US" dirty="0"/>
              <a:t>One token  for  each  </a:t>
            </a:r>
            <a:r>
              <a:rPr lang="en-US" b="1" dirty="0"/>
              <a:t>keyword</a:t>
            </a:r>
            <a:r>
              <a:rPr lang="en-US" dirty="0"/>
              <a:t>.  The pattern for a keyword  is  the  same  as  the keyword itself. </a:t>
            </a:r>
          </a:p>
          <a:p>
            <a:pPr lvl="1">
              <a:spcAft>
                <a:spcPts val="600"/>
              </a:spcAft>
            </a:pPr>
            <a:r>
              <a:rPr lang="en-US" dirty="0"/>
              <a:t>Tokens  for  the  </a:t>
            </a:r>
            <a:r>
              <a:rPr lang="en-US" b="1" dirty="0"/>
              <a:t>operators</a:t>
            </a:r>
            <a:r>
              <a:rPr lang="en-US" dirty="0"/>
              <a:t> , either  individually  or in classes  such as the  token in comparison operators</a:t>
            </a:r>
          </a:p>
          <a:p>
            <a:pPr lvl="1">
              <a:spcAft>
                <a:spcPts val="600"/>
              </a:spcAft>
            </a:pPr>
            <a:r>
              <a:rPr lang="en-US" dirty="0"/>
              <a:t>One token representing all </a:t>
            </a:r>
            <a:r>
              <a:rPr lang="en-US" b="1" dirty="0"/>
              <a:t>identifiers</a:t>
            </a:r>
            <a:r>
              <a:rPr lang="en-US" dirty="0"/>
              <a:t>. </a:t>
            </a:r>
          </a:p>
          <a:p>
            <a:pPr lvl="1">
              <a:spcAft>
                <a:spcPts val="600"/>
              </a:spcAft>
            </a:pPr>
            <a:r>
              <a:rPr lang="en-US" dirty="0"/>
              <a:t>One or  more tokens  representing  </a:t>
            </a:r>
            <a:r>
              <a:rPr lang="en-US" b="1" dirty="0"/>
              <a:t>constants</a:t>
            </a:r>
            <a:r>
              <a:rPr lang="en-US" dirty="0"/>
              <a:t>,  such  as  numbers  and  literal strings . </a:t>
            </a:r>
          </a:p>
          <a:p>
            <a:pPr lvl="1">
              <a:spcAft>
                <a:spcPts val="600"/>
              </a:spcAft>
            </a:pPr>
            <a:r>
              <a:rPr lang="en-US" dirty="0"/>
              <a:t>Tokens  for  each  </a:t>
            </a:r>
            <a:r>
              <a:rPr lang="en-US" b="1" dirty="0"/>
              <a:t>punctuation</a:t>
            </a:r>
            <a:r>
              <a:rPr lang="en-US" dirty="0"/>
              <a:t>  </a:t>
            </a:r>
            <a:r>
              <a:rPr lang="en-US" b="1" dirty="0"/>
              <a:t>symbol</a:t>
            </a:r>
            <a:r>
              <a:rPr lang="en-US" dirty="0"/>
              <a:t>,  such  as left  and  right  parentheses, comma, and semicolon</a:t>
            </a:r>
          </a:p>
        </p:txBody>
      </p:sp>
      <p:sp>
        <p:nvSpPr>
          <p:cNvPr id="4" name="Slide Number Placeholder 3"/>
          <p:cNvSpPr>
            <a:spLocks noGrp="1"/>
          </p:cNvSpPr>
          <p:nvPr>
            <p:ph type="sldNum" sz="quarter" idx="12"/>
          </p:nvPr>
        </p:nvSpPr>
        <p:spPr/>
        <p:txBody>
          <a:bodyPr/>
          <a:lstStyle/>
          <a:p>
            <a:fld id="{C2C343A0-757D-4032-BC20-DF0A67BD0A50}" type="slidenum">
              <a:rPr lang="en-US" smtClean="0"/>
              <a:t>12</a:t>
            </a:fld>
            <a:endParaRPr lang="en-US"/>
          </a:p>
        </p:txBody>
      </p:sp>
    </p:spTree>
    <p:extLst>
      <p:ext uri="{BB962C8B-B14F-4D97-AF65-F5344CB8AC3E}">
        <p14:creationId xmlns:p14="http://schemas.microsoft.com/office/powerpoint/2010/main" val="3717002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Tokens, Patterns, and Lexemes</a:t>
            </a:r>
          </a:p>
        </p:txBody>
      </p:sp>
      <p:sp>
        <p:nvSpPr>
          <p:cNvPr id="3" name="Content Placeholder 2"/>
          <p:cNvSpPr>
            <a:spLocks noGrp="1"/>
          </p:cNvSpPr>
          <p:nvPr>
            <p:ph idx="1"/>
          </p:nvPr>
        </p:nvSpPr>
        <p:spPr>
          <a:xfrm>
            <a:off x="457200" y="1600200"/>
            <a:ext cx="8458200" cy="4953000"/>
          </a:xfrm>
        </p:spPr>
        <p:txBody>
          <a:bodyPr>
            <a:normAutofit fontScale="92500" lnSpcReduction="20000"/>
          </a:bodyPr>
          <a:lstStyle/>
          <a:p>
            <a:pPr>
              <a:spcAft>
                <a:spcPts val="600"/>
              </a:spcAft>
            </a:pPr>
            <a:r>
              <a:rPr lang="en-US" b="1" dirty="0">
                <a:solidFill>
                  <a:srgbClr val="000099"/>
                </a:solidFill>
              </a:rPr>
              <a:t>Pattern</a:t>
            </a:r>
            <a:r>
              <a:rPr lang="en-US" dirty="0">
                <a:solidFill>
                  <a:srgbClr val="000099"/>
                </a:solidFill>
              </a:rPr>
              <a:t> </a:t>
            </a:r>
            <a:r>
              <a:rPr lang="en-US" dirty="0"/>
              <a:t>is a rule describing the set of lexemes that  can represent a particular token in source program</a:t>
            </a:r>
          </a:p>
          <a:p>
            <a:pPr lvl="1">
              <a:spcAft>
                <a:spcPts val="600"/>
              </a:spcAft>
            </a:pPr>
            <a:r>
              <a:rPr lang="en-US" dirty="0"/>
              <a:t>It is a description of the form that the lexemes of a token may take.</a:t>
            </a:r>
          </a:p>
          <a:p>
            <a:pPr lvl="1">
              <a:spcAft>
                <a:spcPts val="600"/>
              </a:spcAft>
            </a:pPr>
            <a:r>
              <a:rPr lang="en-US" dirty="0"/>
              <a:t>In the case of a keyword as a token, the pattern is just the sequence of characters that form the keyword. </a:t>
            </a:r>
          </a:p>
          <a:p>
            <a:pPr lvl="1">
              <a:spcAft>
                <a:spcPts val="600"/>
              </a:spcAft>
            </a:pPr>
            <a:r>
              <a:rPr lang="en-US" dirty="0"/>
              <a:t>For identifiers and some other tokens, the pattern is a more complex structure that is matched by many strings.</a:t>
            </a:r>
          </a:p>
          <a:p>
            <a:pPr>
              <a:spcAft>
                <a:spcPts val="600"/>
              </a:spcAft>
            </a:pPr>
            <a:r>
              <a:rPr lang="en-US" dirty="0"/>
              <a:t>One efficient but complex </a:t>
            </a:r>
            <a:r>
              <a:rPr lang="en-US" b="1" i="1" dirty="0"/>
              <a:t>brute-force approach </a:t>
            </a:r>
            <a:r>
              <a:rPr lang="en-US" dirty="0"/>
              <a:t>is to read character by character to check if each one follows the right sequence of a token.</a:t>
            </a:r>
          </a:p>
        </p:txBody>
      </p:sp>
      <p:sp>
        <p:nvSpPr>
          <p:cNvPr id="4" name="Slide Number Placeholder 3"/>
          <p:cNvSpPr>
            <a:spLocks noGrp="1"/>
          </p:cNvSpPr>
          <p:nvPr>
            <p:ph type="sldNum" sz="quarter" idx="12"/>
          </p:nvPr>
        </p:nvSpPr>
        <p:spPr/>
        <p:txBody>
          <a:bodyPr/>
          <a:lstStyle/>
          <a:p>
            <a:fld id="{C2C343A0-757D-4032-BC20-DF0A67BD0A50}" type="slidenum">
              <a:rPr lang="en-US" smtClean="0"/>
              <a:t>13</a:t>
            </a:fld>
            <a:endParaRPr lang="en-US"/>
          </a:p>
        </p:txBody>
      </p:sp>
    </p:spTree>
    <p:extLst>
      <p:ext uri="{BB962C8B-B14F-4D97-AF65-F5344CB8AC3E}">
        <p14:creationId xmlns:p14="http://schemas.microsoft.com/office/powerpoint/2010/main" val="4003969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Tokens, Patterns, and Lexemes</a:t>
            </a:r>
          </a:p>
        </p:txBody>
      </p:sp>
      <p:sp>
        <p:nvSpPr>
          <p:cNvPr id="3" name="Content Placeholder 2"/>
          <p:cNvSpPr>
            <a:spLocks noGrp="1"/>
          </p:cNvSpPr>
          <p:nvPr>
            <p:ph idx="1"/>
          </p:nvPr>
        </p:nvSpPr>
        <p:spPr>
          <a:xfrm>
            <a:off x="457200" y="1600200"/>
            <a:ext cx="8458200" cy="4953000"/>
          </a:xfrm>
        </p:spPr>
        <p:txBody>
          <a:bodyPr>
            <a:normAutofit fontScale="55000" lnSpcReduction="20000"/>
          </a:bodyPr>
          <a:lstStyle/>
          <a:p>
            <a:pPr>
              <a:spcAft>
                <a:spcPts val="600"/>
              </a:spcAft>
            </a:pPr>
            <a:r>
              <a:rPr lang="en-US" dirty="0"/>
              <a:t>The below example shows a partial code for this brute-force lexical analyzer.</a:t>
            </a:r>
          </a:p>
          <a:p>
            <a:pPr>
              <a:spcAft>
                <a:spcPts val="600"/>
              </a:spcAft>
            </a:pPr>
            <a:r>
              <a:rPr lang="en-US" dirty="0"/>
              <a:t>What we’d like is a set of tools that will allow us to easily create and modify a lexical analyzer that has the same run-time efficiency as the brute-force method. </a:t>
            </a:r>
          </a:p>
          <a:p>
            <a:pPr>
              <a:spcAft>
                <a:spcPts val="600"/>
              </a:spcAft>
            </a:pPr>
            <a:r>
              <a:rPr lang="en-US" dirty="0"/>
              <a:t>The first tool that we use to attack this problem is Deterministic Finite Automata (DFA).</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if (c = </a:t>
            </a:r>
            <a:r>
              <a:rPr lang="en-US" sz="2300" b="1" dirty="0" err="1">
                <a:solidFill>
                  <a:srgbClr val="7030A0"/>
                </a:solidFill>
                <a:latin typeface="Courier New" panose="02070309020205020404" pitchFamily="49" charset="0"/>
                <a:cs typeface="Courier New" panose="02070309020205020404" pitchFamily="49" charset="0"/>
              </a:rPr>
              <a:t>nextchar</a:t>
            </a:r>
            <a:r>
              <a:rPr lang="en-US" sz="2300" b="1" dirty="0">
                <a:solidFill>
                  <a:srgbClr val="7030A0"/>
                </a:solidFill>
                <a:latin typeface="Courier New" panose="02070309020205020404" pitchFamily="49" charset="0"/>
                <a:cs typeface="Courier New" panose="02070309020205020404" pitchFamily="49" charset="0"/>
              </a:rPr>
              <a:t>() == ‘c’)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if (c = </a:t>
            </a:r>
            <a:r>
              <a:rPr lang="en-US" sz="2300" b="1" dirty="0" err="1">
                <a:solidFill>
                  <a:srgbClr val="7030A0"/>
                </a:solidFill>
                <a:latin typeface="Courier New" panose="02070309020205020404" pitchFamily="49" charset="0"/>
                <a:cs typeface="Courier New" panose="02070309020205020404" pitchFamily="49" charset="0"/>
              </a:rPr>
              <a:t>nextchar</a:t>
            </a:r>
            <a:r>
              <a:rPr lang="en-US" sz="2300" b="1" dirty="0">
                <a:solidFill>
                  <a:srgbClr val="7030A0"/>
                </a:solidFill>
                <a:latin typeface="Courier New" panose="02070309020205020404" pitchFamily="49" charset="0"/>
                <a:cs typeface="Courier New" panose="02070309020205020404" pitchFamily="49" charset="0"/>
              </a:rPr>
              <a:t>() == ‘l’)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 code to handle the rest of either “class” or any identifier that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starts with “cl”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 else if (c == ‘a’)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 code to handle the rest of either “case” or any identifier that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starts with “ca”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 else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 code to handle any identifier that starts with c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else if ( c = …..) {</a:t>
            </a:r>
          </a:p>
          <a:p>
            <a:pPr marL="914400" lvl="2" indent="0">
              <a:spcAft>
                <a:spcPts val="600"/>
              </a:spcAft>
              <a:buNone/>
            </a:pPr>
            <a:r>
              <a:rPr lang="en-US" sz="2300" b="1" dirty="0">
                <a:solidFill>
                  <a:srgbClr val="7030A0"/>
                </a:solidFill>
                <a:latin typeface="Courier New" panose="02070309020205020404" pitchFamily="49" charset="0"/>
                <a:cs typeface="Courier New" panose="02070309020205020404" pitchFamily="49" charset="0"/>
              </a:rPr>
              <a:t>     // many more nested ifs for the rest of the lexical analyzer</a:t>
            </a:r>
          </a:p>
        </p:txBody>
      </p:sp>
      <p:sp>
        <p:nvSpPr>
          <p:cNvPr id="4" name="Slide Number Placeholder 3"/>
          <p:cNvSpPr>
            <a:spLocks noGrp="1"/>
          </p:cNvSpPr>
          <p:nvPr>
            <p:ph type="sldNum" sz="quarter" idx="12"/>
          </p:nvPr>
        </p:nvSpPr>
        <p:spPr/>
        <p:txBody>
          <a:bodyPr/>
          <a:lstStyle/>
          <a:p>
            <a:fld id="{C2C343A0-757D-4032-BC20-DF0A67BD0A50}" type="slidenum">
              <a:rPr lang="en-US" smtClean="0"/>
              <a:t>14</a:t>
            </a:fld>
            <a:endParaRPr lang="en-US"/>
          </a:p>
        </p:txBody>
      </p:sp>
    </p:spTree>
    <p:extLst>
      <p:ext uri="{BB962C8B-B14F-4D97-AF65-F5344CB8AC3E}">
        <p14:creationId xmlns:p14="http://schemas.microsoft.com/office/powerpoint/2010/main" val="4081919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Tokens, Patterns, and Lexemes</a:t>
            </a:r>
          </a:p>
        </p:txBody>
      </p:sp>
      <p:sp>
        <p:nvSpPr>
          <p:cNvPr id="3" name="Content Placeholder 2"/>
          <p:cNvSpPr>
            <a:spLocks noGrp="1"/>
          </p:cNvSpPr>
          <p:nvPr>
            <p:ph idx="1"/>
          </p:nvPr>
        </p:nvSpPr>
        <p:spPr>
          <a:xfrm>
            <a:off x="457200" y="1600200"/>
            <a:ext cx="8458200" cy="4953000"/>
          </a:xfrm>
        </p:spPr>
        <p:txBody>
          <a:bodyPr>
            <a:normAutofit/>
          </a:bodyPr>
          <a:lstStyle/>
          <a:p>
            <a:pPr>
              <a:spcAft>
                <a:spcPts val="600"/>
              </a:spcAft>
            </a:pPr>
            <a:endParaRPr lang="en-US" dirty="0"/>
          </a:p>
        </p:txBody>
      </p:sp>
      <p:pic>
        <p:nvPicPr>
          <p:cNvPr id="5" name="Picture 4"/>
          <p:cNvPicPr>
            <a:picLocks noChangeAspect="1"/>
          </p:cNvPicPr>
          <p:nvPr/>
        </p:nvPicPr>
        <p:blipFill>
          <a:blip r:embed="rId2"/>
          <a:stretch>
            <a:fillRect/>
          </a:stretch>
        </p:blipFill>
        <p:spPr>
          <a:xfrm>
            <a:off x="457200" y="1497680"/>
            <a:ext cx="8610600" cy="5158039"/>
          </a:xfrm>
          <a:prstGeom prst="rect">
            <a:avLst/>
          </a:prstGeom>
        </p:spPr>
      </p:pic>
      <p:sp>
        <p:nvSpPr>
          <p:cNvPr id="4" name="Slide Number Placeholder 3"/>
          <p:cNvSpPr>
            <a:spLocks noGrp="1"/>
          </p:cNvSpPr>
          <p:nvPr>
            <p:ph type="sldNum" sz="quarter" idx="12"/>
          </p:nvPr>
        </p:nvSpPr>
        <p:spPr/>
        <p:txBody>
          <a:bodyPr/>
          <a:lstStyle/>
          <a:p>
            <a:fld id="{C2C343A0-757D-4032-BC20-DF0A67BD0A50}" type="slidenum">
              <a:rPr lang="en-US" smtClean="0"/>
              <a:t>15</a:t>
            </a:fld>
            <a:endParaRPr lang="en-US"/>
          </a:p>
        </p:txBody>
      </p:sp>
    </p:spTree>
    <p:extLst>
      <p:ext uri="{BB962C8B-B14F-4D97-AF65-F5344CB8AC3E}">
        <p14:creationId xmlns:p14="http://schemas.microsoft.com/office/powerpoint/2010/main" val="719599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pPr algn="l"/>
            <a:r>
              <a:rPr lang="en-US" sz="2800" b="1" dirty="0"/>
              <a:t>Consideration for a simple design of Lexical Analyzer</a:t>
            </a:r>
          </a:p>
        </p:txBody>
      </p:sp>
      <p:sp>
        <p:nvSpPr>
          <p:cNvPr id="3" name="Content Placeholder 2"/>
          <p:cNvSpPr>
            <a:spLocks noGrp="1"/>
          </p:cNvSpPr>
          <p:nvPr>
            <p:ph idx="1"/>
          </p:nvPr>
        </p:nvSpPr>
        <p:spPr>
          <a:xfrm>
            <a:off x="457200" y="1143000"/>
            <a:ext cx="8458200" cy="5638800"/>
          </a:xfrm>
        </p:spPr>
        <p:txBody>
          <a:bodyPr>
            <a:normAutofit fontScale="62500" lnSpcReduction="20000"/>
          </a:bodyPr>
          <a:lstStyle/>
          <a:p>
            <a:pPr>
              <a:spcAft>
                <a:spcPts val="600"/>
              </a:spcAft>
            </a:pPr>
            <a:r>
              <a:rPr lang="en-US" dirty="0"/>
              <a:t>Lexical Analyzer can allow source program to be</a:t>
            </a:r>
          </a:p>
          <a:p>
            <a:pPr marL="971550" lvl="1" indent="-514350">
              <a:spcAft>
                <a:spcPts val="600"/>
              </a:spcAft>
              <a:buFont typeface="+mj-lt"/>
              <a:buAutoNum type="arabicPeriod"/>
            </a:pPr>
            <a:r>
              <a:rPr lang="en-US" b="1" dirty="0"/>
              <a:t>Free-Format Input</a:t>
            </a:r>
            <a:r>
              <a:rPr lang="en-US" dirty="0"/>
              <a:t>:- the alignment of lexeme should not be necessary in determining the correctness of the source program, such restriction put extra load on Lexical Analyzer</a:t>
            </a:r>
          </a:p>
          <a:p>
            <a:pPr marL="971550" lvl="1" indent="-514350">
              <a:spcAft>
                <a:spcPts val="600"/>
              </a:spcAft>
              <a:buFont typeface="+mj-lt"/>
              <a:buAutoNum type="arabicPeriod"/>
            </a:pPr>
            <a:r>
              <a:rPr lang="en-US" b="1" dirty="0"/>
              <a:t>Blanks Significance</a:t>
            </a:r>
            <a:r>
              <a:rPr lang="en-US" dirty="0"/>
              <a:t>:- Simplify the task of identifying tokens</a:t>
            </a:r>
          </a:p>
          <a:p>
            <a:pPr lvl="2">
              <a:spcAft>
                <a:spcPts val="600"/>
              </a:spcAft>
            </a:pPr>
            <a:r>
              <a:rPr lang="en-US" dirty="0"/>
              <a:t>E.g.  	</a:t>
            </a:r>
            <a:r>
              <a:rPr lang="en-US" b="1" dirty="0" err="1">
                <a:solidFill>
                  <a:srgbClr val="FF0000"/>
                </a:solidFill>
                <a:latin typeface="Courier New" panose="02070309020205020404" pitchFamily="49" charset="0"/>
                <a:cs typeface="Courier New" panose="02070309020205020404" pitchFamily="49" charset="0"/>
              </a:rPr>
              <a:t>int</a:t>
            </a:r>
            <a:r>
              <a:rPr lang="en-US" b="1" dirty="0">
                <a:solidFill>
                  <a:srgbClr val="FF0000"/>
                </a:solidFill>
                <a:latin typeface="Courier New" panose="02070309020205020404" pitchFamily="49" charset="0"/>
                <a:cs typeface="Courier New" panose="02070309020205020404" pitchFamily="49" charset="0"/>
              </a:rPr>
              <a:t> a</a:t>
            </a:r>
            <a:r>
              <a:rPr lang="en-US" dirty="0"/>
              <a:t> indicates </a:t>
            </a:r>
            <a:r>
              <a:rPr lang="en-US" b="1" dirty="0">
                <a:latin typeface="Courier New" panose="02070309020205020404" pitchFamily="49" charset="0"/>
                <a:cs typeface="Courier New" panose="02070309020205020404" pitchFamily="49" charset="0"/>
              </a:rPr>
              <a:t>&lt;</a:t>
            </a:r>
            <a:r>
              <a:rPr lang="en-US" b="1" dirty="0" err="1">
                <a:latin typeface="Courier New" panose="02070309020205020404" pitchFamily="49" charset="0"/>
                <a:cs typeface="Courier New" panose="02070309020205020404" pitchFamily="49" charset="0"/>
              </a:rPr>
              <a:t>int</a:t>
            </a:r>
            <a:r>
              <a:rPr lang="en-US" b="1" dirty="0">
                <a:latin typeface="Courier New" panose="02070309020205020404" pitchFamily="49" charset="0"/>
                <a:cs typeface="Courier New" panose="02070309020205020404" pitchFamily="49" charset="0"/>
              </a:rPr>
              <a:t> is keyword&gt; &lt;a is identifier&gt;</a:t>
            </a:r>
          </a:p>
          <a:p>
            <a:pPr marL="914400" lvl="2" indent="0">
              <a:spcAft>
                <a:spcPts val="600"/>
              </a:spcAft>
              <a:buNone/>
            </a:pPr>
            <a:r>
              <a:rPr lang="en-US" b="1" dirty="0">
                <a:latin typeface="Courier New" panose="02070309020205020404" pitchFamily="49" charset="0"/>
                <a:cs typeface="Courier New" panose="02070309020205020404" pitchFamily="49" charset="0"/>
              </a:rPr>
              <a:t>	</a:t>
            </a:r>
            <a:r>
              <a:rPr lang="en-US" b="1" dirty="0" err="1">
                <a:solidFill>
                  <a:srgbClr val="FF0000"/>
                </a:solidFill>
                <a:latin typeface="Courier New" panose="02070309020205020404" pitchFamily="49" charset="0"/>
                <a:cs typeface="Courier New" panose="02070309020205020404" pitchFamily="49" charset="0"/>
              </a:rPr>
              <a:t>inta</a:t>
            </a:r>
            <a:r>
              <a:rPr lang="en-US" dirty="0">
                <a:solidFill>
                  <a:srgbClr val="FF0000"/>
                </a:solidFill>
              </a:rPr>
              <a:t> </a:t>
            </a:r>
            <a:r>
              <a:rPr lang="en-US" dirty="0"/>
              <a:t>indicates </a:t>
            </a:r>
            <a:r>
              <a:rPr lang="en-US" b="1" dirty="0">
                <a:latin typeface="Courier New" panose="02070309020205020404" pitchFamily="49" charset="0"/>
                <a:cs typeface="Courier New" panose="02070309020205020404" pitchFamily="49" charset="0"/>
              </a:rPr>
              <a:t>&lt;</a:t>
            </a:r>
            <a:r>
              <a:rPr lang="en-US" b="1" dirty="0" err="1">
                <a:latin typeface="Courier New" panose="02070309020205020404" pitchFamily="49" charset="0"/>
                <a:cs typeface="Courier New" panose="02070309020205020404" pitchFamily="49" charset="0"/>
              </a:rPr>
              <a:t>inta</a:t>
            </a:r>
            <a:r>
              <a:rPr lang="en-US" b="1" dirty="0">
                <a:latin typeface="Courier New" panose="02070309020205020404" pitchFamily="49" charset="0"/>
                <a:cs typeface="Courier New" panose="02070309020205020404" pitchFamily="49" charset="0"/>
              </a:rPr>
              <a:t> is Identifier&gt;</a:t>
            </a:r>
          </a:p>
          <a:p>
            <a:pPr marL="914400" lvl="1" indent="-514350">
              <a:spcAft>
                <a:spcPts val="600"/>
              </a:spcAft>
              <a:buFont typeface="+mj-lt"/>
              <a:buAutoNum type="arabicPeriod"/>
            </a:pPr>
            <a:r>
              <a:rPr lang="en-US" b="1" dirty="0"/>
              <a:t>Keyword must be reserved</a:t>
            </a:r>
            <a:r>
              <a:rPr lang="en-US" dirty="0"/>
              <a:t>:- Keywords should be reserved otherwise LA will have to predict whether the given lexeme should be treated as a </a:t>
            </a:r>
            <a:r>
              <a:rPr lang="en-US" b="1" i="1" dirty="0"/>
              <a:t>keyword</a:t>
            </a:r>
            <a:r>
              <a:rPr lang="en-US" dirty="0"/>
              <a:t> or as </a:t>
            </a:r>
            <a:r>
              <a:rPr lang="en-US" b="1" i="1" dirty="0"/>
              <a:t>identifier</a:t>
            </a:r>
          </a:p>
          <a:p>
            <a:pPr lvl="2">
              <a:spcAft>
                <a:spcPts val="600"/>
              </a:spcAft>
            </a:pPr>
            <a:r>
              <a:rPr lang="en-US" dirty="0"/>
              <a:t>E.g. 	</a:t>
            </a:r>
            <a:r>
              <a:rPr lang="en-US" b="1" dirty="0">
                <a:solidFill>
                  <a:srgbClr val="FF0000"/>
                </a:solidFill>
                <a:latin typeface="Courier New" panose="02070309020205020404" pitchFamily="49" charset="0"/>
                <a:cs typeface="Courier New" panose="02070309020205020404" pitchFamily="49" charset="0"/>
              </a:rPr>
              <a:t>if then then then = else;</a:t>
            </a:r>
          </a:p>
          <a:p>
            <a:pPr marL="457200" lvl="1" indent="0">
              <a:spcAft>
                <a:spcPts val="600"/>
              </a:spcAft>
              <a:buNone/>
            </a:pPr>
            <a:r>
              <a:rPr lang="en-US" dirty="0"/>
              <a:t>		</a:t>
            </a:r>
            <a:r>
              <a:rPr lang="en-US" b="1" dirty="0">
                <a:solidFill>
                  <a:srgbClr val="FF0000"/>
                </a:solidFill>
                <a:latin typeface="Courier New" panose="02070309020205020404" pitchFamily="49" charset="0"/>
                <a:cs typeface="Courier New" panose="02070309020205020404" pitchFamily="49" charset="0"/>
              </a:rPr>
              <a:t>else </a:t>
            </a:r>
            <a:r>
              <a:rPr lang="en-US" b="1" dirty="0" err="1">
                <a:solidFill>
                  <a:srgbClr val="FF0000"/>
                </a:solidFill>
                <a:latin typeface="Courier New" panose="02070309020205020404" pitchFamily="49" charset="0"/>
                <a:cs typeface="Courier New" panose="02070309020205020404" pitchFamily="49" charset="0"/>
              </a:rPr>
              <a:t>else</a:t>
            </a:r>
            <a:r>
              <a:rPr lang="en-US" b="1" dirty="0">
                <a:solidFill>
                  <a:srgbClr val="FF0000"/>
                </a:solidFill>
                <a:latin typeface="Courier New" panose="02070309020205020404" pitchFamily="49" charset="0"/>
                <a:cs typeface="Courier New" panose="02070309020205020404" pitchFamily="49" charset="0"/>
              </a:rPr>
              <a:t> = then;</a:t>
            </a:r>
          </a:p>
          <a:p>
            <a:pPr lvl="2">
              <a:spcAft>
                <a:spcPts val="600"/>
              </a:spcAft>
            </a:pPr>
            <a:r>
              <a:rPr lang="en-US" dirty="0"/>
              <a:t>The above statements are misleading as </a:t>
            </a:r>
            <a:r>
              <a:rPr lang="en-US" b="1" i="1" dirty="0"/>
              <a:t>then</a:t>
            </a:r>
            <a:r>
              <a:rPr lang="en-US" dirty="0"/>
              <a:t> and </a:t>
            </a:r>
            <a:r>
              <a:rPr lang="en-US" b="1" i="1" dirty="0"/>
              <a:t>else</a:t>
            </a:r>
            <a:r>
              <a:rPr lang="en-US" dirty="0"/>
              <a:t> keywords are not reserved.</a:t>
            </a:r>
          </a:p>
          <a:p>
            <a:pPr>
              <a:spcAft>
                <a:spcPts val="600"/>
              </a:spcAft>
            </a:pPr>
            <a:endParaRPr lang="en-US" sz="200" b="1" dirty="0">
              <a:solidFill>
                <a:srgbClr val="7030A0"/>
              </a:solidFill>
            </a:endParaRPr>
          </a:p>
          <a:p>
            <a:pPr>
              <a:spcAft>
                <a:spcPts val="600"/>
              </a:spcAft>
            </a:pPr>
            <a:r>
              <a:rPr lang="en-US" b="1" dirty="0">
                <a:solidFill>
                  <a:srgbClr val="7030A0"/>
                </a:solidFill>
              </a:rPr>
              <a:t>Approaches to implementation </a:t>
            </a:r>
          </a:p>
          <a:p>
            <a:pPr lvl="1">
              <a:spcAft>
                <a:spcPts val="600"/>
              </a:spcAft>
            </a:pPr>
            <a:r>
              <a:rPr lang="en-US" dirty="0"/>
              <a:t>Use </a:t>
            </a:r>
            <a:r>
              <a:rPr lang="en-US" b="1" dirty="0"/>
              <a:t>assembly language-  </a:t>
            </a:r>
            <a:r>
              <a:rPr lang="en-US" dirty="0"/>
              <a:t>Most efficient but most difficult to implement </a:t>
            </a:r>
          </a:p>
          <a:p>
            <a:pPr lvl="1">
              <a:spcAft>
                <a:spcPts val="600"/>
              </a:spcAft>
            </a:pPr>
            <a:r>
              <a:rPr lang="en-US" dirty="0"/>
              <a:t>Use</a:t>
            </a:r>
            <a:r>
              <a:rPr lang="en-US" b="1" dirty="0"/>
              <a:t> high level languages </a:t>
            </a:r>
            <a:r>
              <a:rPr lang="en-US" dirty="0"/>
              <a:t>like C- Efficient but difficult to implement</a:t>
            </a:r>
          </a:p>
          <a:p>
            <a:pPr lvl="1">
              <a:spcAft>
                <a:spcPts val="600"/>
              </a:spcAft>
            </a:pPr>
            <a:r>
              <a:rPr lang="en-US" dirty="0"/>
              <a:t>Use </a:t>
            </a:r>
            <a:r>
              <a:rPr lang="en-US" b="1" dirty="0"/>
              <a:t>tools</a:t>
            </a:r>
            <a:r>
              <a:rPr lang="en-US" dirty="0"/>
              <a:t> like </a:t>
            </a:r>
            <a:r>
              <a:rPr lang="en-US" b="1" i="1" dirty="0"/>
              <a:t>Lex</a:t>
            </a:r>
            <a:r>
              <a:rPr lang="en-US" dirty="0"/>
              <a:t>, </a:t>
            </a:r>
            <a:r>
              <a:rPr lang="en-US" b="1" i="1" dirty="0"/>
              <a:t>flex</a:t>
            </a:r>
            <a:r>
              <a:rPr lang="en-US" dirty="0"/>
              <a:t>, </a:t>
            </a:r>
            <a:r>
              <a:rPr lang="en-US" b="1" i="1" dirty="0" err="1"/>
              <a:t>javacc</a:t>
            </a:r>
            <a:r>
              <a:rPr lang="en-US" dirty="0"/>
              <a:t>… Easy to implement but not as efficient as the first two cases </a:t>
            </a:r>
          </a:p>
        </p:txBody>
      </p:sp>
      <p:sp>
        <p:nvSpPr>
          <p:cNvPr id="4" name="Slide Number Placeholder 3"/>
          <p:cNvSpPr>
            <a:spLocks noGrp="1"/>
          </p:cNvSpPr>
          <p:nvPr>
            <p:ph type="sldNum" sz="quarter" idx="12"/>
          </p:nvPr>
        </p:nvSpPr>
        <p:spPr/>
        <p:txBody>
          <a:bodyPr/>
          <a:lstStyle/>
          <a:p>
            <a:fld id="{C2C343A0-757D-4032-BC20-DF0A67BD0A50}" type="slidenum">
              <a:rPr lang="en-US" smtClean="0"/>
              <a:t>16</a:t>
            </a:fld>
            <a:endParaRPr lang="en-US"/>
          </a:p>
        </p:txBody>
      </p:sp>
    </p:spTree>
    <p:extLst>
      <p:ext uri="{BB962C8B-B14F-4D97-AF65-F5344CB8AC3E}">
        <p14:creationId xmlns:p14="http://schemas.microsoft.com/office/powerpoint/2010/main" val="2639297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Lexical Errors</a:t>
            </a:r>
          </a:p>
        </p:txBody>
      </p:sp>
      <p:sp>
        <p:nvSpPr>
          <p:cNvPr id="3" name="Content Placeholder 2"/>
          <p:cNvSpPr>
            <a:spLocks noGrp="1"/>
          </p:cNvSpPr>
          <p:nvPr>
            <p:ph idx="1"/>
          </p:nvPr>
        </p:nvSpPr>
        <p:spPr>
          <a:xfrm>
            <a:off x="457200" y="1600200"/>
            <a:ext cx="8458200" cy="4953000"/>
          </a:xfrm>
        </p:spPr>
        <p:txBody>
          <a:bodyPr>
            <a:normAutofit fontScale="92500" lnSpcReduction="10000"/>
          </a:bodyPr>
          <a:lstStyle/>
          <a:p>
            <a:pPr>
              <a:spcAft>
                <a:spcPts val="600"/>
              </a:spcAft>
            </a:pPr>
            <a:r>
              <a:rPr lang="en-US" dirty="0"/>
              <a:t>Are primarily of two kinds:</a:t>
            </a:r>
          </a:p>
          <a:p>
            <a:pPr marL="914400" lvl="1" indent="-514350">
              <a:spcAft>
                <a:spcPts val="600"/>
              </a:spcAft>
              <a:buFont typeface="+mj-lt"/>
              <a:buAutoNum type="arabicPeriod"/>
            </a:pPr>
            <a:r>
              <a:rPr lang="en-US" dirty="0"/>
              <a:t>Lexemes whose </a:t>
            </a:r>
            <a:r>
              <a:rPr lang="en-US" b="1" i="1" dirty="0"/>
              <a:t>length exceed the bound</a:t>
            </a:r>
            <a:r>
              <a:rPr lang="en-US" dirty="0"/>
              <a:t> specified by the language.</a:t>
            </a:r>
          </a:p>
          <a:p>
            <a:pPr lvl="2">
              <a:spcAft>
                <a:spcPts val="600"/>
              </a:spcAft>
            </a:pPr>
            <a:r>
              <a:rPr lang="en-US" dirty="0"/>
              <a:t>Most languages have bound on the precision of numeric constants. </a:t>
            </a:r>
          </a:p>
          <a:p>
            <a:pPr lvl="2">
              <a:spcAft>
                <a:spcPts val="600"/>
              </a:spcAft>
            </a:pPr>
            <a:r>
              <a:rPr lang="en-US" dirty="0"/>
              <a:t>A constant whose bound exceeds this bound is a lexical error.</a:t>
            </a:r>
          </a:p>
          <a:p>
            <a:pPr marL="914400" lvl="1" indent="-514350">
              <a:spcAft>
                <a:spcPts val="600"/>
              </a:spcAft>
              <a:buFont typeface="+mj-lt"/>
              <a:buAutoNum type="arabicPeriod"/>
            </a:pPr>
            <a:r>
              <a:rPr lang="en-US" b="1" i="1" dirty="0"/>
              <a:t>Illegal character </a:t>
            </a:r>
            <a:r>
              <a:rPr lang="en-US" dirty="0"/>
              <a:t>in the program</a:t>
            </a:r>
          </a:p>
          <a:p>
            <a:pPr lvl="2">
              <a:spcAft>
                <a:spcPts val="600"/>
              </a:spcAft>
            </a:pPr>
            <a:r>
              <a:rPr lang="en-US" dirty="0"/>
              <a:t>Characters like </a:t>
            </a:r>
            <a:r>
              <a:rPr lang="en-US" b="1" dirty="0">
                <a:latin typeface="Symbol" panose="05050102010706020507" pitchFamily="18" charset="2"/>
                <a:cs typeface="Times New Roman" panose="02020603050405020304" pitchFamily="18" charset="0"/>
              </a:rPr>
              <a:t>~</a:t>
            </a:r>
            <a:r>
              <a:rPr lang="en-US" dirty="0">
                <a:latin typeface="Symbol" panose="05050102010706020507" pitchFamily="18" charset="2"/>
                <a:cs typeface="Times New Roman" panose="02020603050405020304" pitchFamily="18" charset="0"/>
              </a:rPr>
              <a:t>, </a:t>
            </a:r>
            <a:r>
              <a:rPr lang="en-US" b="1" dirty="0">
                <a:latin typeface="Symbol" panose="05050102010706020507" pitchFamily="18" charset="2"/>
                <a:cs typeface="Times New Roman" panose="02020603050405020304" pitchFamily="18" charset="0"/>
              </a:rPr>
              <a:t></a:t>
            </a:r>
            <a:r>
              <a:rPr lang="en-US" dirty="0">
                <a:latin typeface="Symbol" panose="05050102010706020507" pitchFamily="18" charset="2"/>
                <a:cs typeface="Times New Roman" panose="02020603050405020304" pitchFamily="18" charset="0"/>
              </a:rPr>
              <a:t>, </a:t>
            </a:r>
            <a:r>
              <a:rPr lang="en-US" b="1" dirty="0">
                <a:latin typeface="Symbol" panose="05050102010706020507" pitchFamily="18" charset="2"/>
                <a:cs typeface="Times New Roman" panose="02020603050405020304" pitchFamily="18" charset="0"/>
              </a:rPr>
              <a:t></a:t>
            </a:r>
            <a:r>
              <a:rPr lang="en-US" dirty="0">
                <a:latin typeface="Symbol" panose="05050102010706020507" pitchFamily="18" charset="2"/>
                <a:cs typeface="Times New Roman" panose="02020603050405020304" pitchFamily="18" charset="0"/>
              </a:rPr>
              <a:t>, </a:t>
            </a:r>
            <a:r>
              <a:rPr lang="en-US" b="1" dirty="0">
                <a:latin typeface="Symbol" panose="05050102010706020507" pitchFamily="18" charset="2"/>
                <a:cs typeface="Times New Roman" panose="02020603050405020304" pitchFamily="18" charset="0"/>
              </a:rPr>
              <a:t></a:t>
            </a:r>
            <a:r>
              <a:rPr lang="en-US" dirty="0">
                <a:latin typeface="Symbol" panose="05050102010706020507" pitchFamily="18" charset="2"/>
                <a:cs typeface="Times New Roman" panose="02020603050405020304" pitchFamily="18" charset="0"/>
              </a:rPr>
              <a:t> </a:t>
            </a:r>
            <a:r>
              <a:rPr lang="en-US" dirty="0"/>
              <a:t>occurring in a given programming language (but not within a string or comment) are lexical errors.</a:t>
            </a:r>
          </a:p>
          <a:p>
            <a:pPr marL="914400" lvl="1" indent="-514350">
              <a:spcAft>
                <a:spcPts val="600"/>
              </a:spcAft>
              <a:buFont typeface="+mj-lt"/>
              <a:buAutoNum type="arabicPeriod"/>
            </a:pPr>
            <a:r>
              <a:rPr lang="en-US" b="1" i="1" dirty="0"/>
              <a:t>Unterminated </a:t>
            </a:r>
            <a:r>
              <a:rPr lang="en-US" dirty="0"/>
              <a:t>strings or comments. </a:t>
            </a:r>
          </a:p>
        </p:txBody>
      </p:sp>
      <p:sp>
        <p:nvSpPr>
          <p:cNvPr id="4" name="Slide Number Placeholder 3"/>
          <p:cNvSpPr>
            <a:spLocks noGrp="1"/>
          </p:cNvSpPr>
          <p:nvPr>
            <p:ph type="sldNum" sz="quarter" idx="12"/>
          </p:nvPr>
        </p:nvSpPr>
        <p:spPr/>
        <p:txBody>
          <a:bodyPr/>
          <a:lstStyle/>
          <a:p>
            <a:fld id="{C2C343A0-757D-4032-BC20-DF0A67BD0A50}" type="slidenum">
              <a:rPr lang="en-US" smtClean="0"/>
              <a:t>17</a:t>
            </a:fld>
            <a:endParaRPr lang="en-US"/>
          </a:p>
        </p:txBody>
      </p:sp>
    </p:spTree>
    <p:extLst>
      <p:ext uri="{BB962C8B-B14F-4D97-AF65-F5344CB8AC3E}">
        <p14:creationId xmlns:p14="http://schemas.microsoft.com/office/powerpoint/2010/main" val="644907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Handling Lexical Errors</a:t>
            </a:r>
          </a:p>
        </p:txBody>
      </p:sp>
      <p:sp>
        <p:nvSpPr>
          <p:cNvPr id="3" name="Content Placeholder 2"/>
          <p:cNvSpPr>
            <a:spLocks noGrp="1"/>
          </p:cNvSpPr>
          <p:nvPr>
            <p:ph idx="1"/>
          </p:nvPr>
        </p:nvSpPr>
        <p:spPr>
          <a:xfrm>
            <a:off x="457200" y="1600200"/>
            <a:ext cx="8458200" cy="4953000"/>
          </a:xfrm>
        </p:spPr>
        <p:txBody>
          <a:bodyPr>
            <a:normAutofit fontScale="77500" lnSpcReduction="20000"/>
          </a:bodyPr>
          <a:lstStyle/>
          <a:p>
            <a:pPr>
              <a:spcAft>
                <a:spcPts val="600"/>
              </a:spcAft>
            </a:pPr>
            <a:r>
              <a:rPr lang="en-US" dirty="0"/>
              <a:t>It is hard for a LA to tell, without the aid of other components, that there is a source-code error.</a:t>
            </a:r>
          </a:p>
          <a:p>
            <a:pPr lvl="1">
              <a:spcAft>
                <a:spcPts val="600"/>
              </a:spcAft>
            </a:pPr>
            <a:r>
              <a:rPr lang="en-US" dirty="0"/>
              <a:t>For instance, if the string </a:t>
            </a:r>
            <a:r>
              <a:rPr lang="en-US" b="1" dirty="0">
                <a:solidFill>
                  <a:srgbClr val="FF0000"/>
                </a:solidFill>
                <a:latin typeface="Courier New" panose="02070309020205020404" pitchFamily="49" charset="0"/>
                <a:cs typeface="Courier New" panose="02070309020205020404" pitchFamily="49" charset="0"/>
              </a:rPr>
              <a:t>fi</a:t>
            </a:r>
            <a:r>
              <a:rPr lang="en-US" dirty="0">
                <a:solidFill>
                  <a:srgbClr val="FF0000"/>
                </a:solidFill>
              </a:rPr>
              <a:t> </a:t>
            </a:r>
            <a:r>
              <a:rPr lang="en-US" dirty="0"/>
              <a:t>is encountered for the first time in a java program in the context: </a:t>
            </a:r>
            <a:r>
              <a:rPr lang="en-US" b="1" dirty="0">
                <a:solidFill>
                  <a:srgbClr val="FF0000"/>
                </a:solidFill>
                <a:latin typeface="Courier New" panose="02070309020205020404" pitchFamily="49" charset="0"/>
                <a:cs typeface="Courier New" panose="02070309020205020404" pitchFamily="49" charset="0"/>
              </a:rPr>
              <a:t>fi(a == 2*4+3)</a:t>
            </a:r>
            <a:r>
              <a:rPr lang="en-US" dirty="0"/>
              <a:t> a lexical analyzer cannot tell whether </a:t>
            </a:r>
            <a:r>
              <a:rPr lang="en-US" b="1" dirty="0">
                <a:solidFill>
                  <a:srgbClr val="FF0000"/>
                </a:solidFill>
                <a:latin typeface="Courier New" panose="02070309020205020404" pitchFamily="49" charset="0"/>
                <a:cs typeface="Courier New" panose="02070309020205020404" pitchFamily="49" charset="0"/>
              </a:rPr>
              <a:t>fi</a:t>
            </a:r>
            <a:r>
              <a:rPr lang="en-US" dirty="0">
                <a:solidFill>
                  <a:srgbClr val="FF0000"/>
                </a:solidFill>
              </a:rPr>
              <a:t> </a:t>
            </a:r>
            <a:r>
              <a:rPr lang="en-US" dirty="0"/>
              <a:t>is a misspelling of the </a:t>
            </a:r>
            <a:r>
              <a:rPr lang="en-US" b="1" dirty="0"/>
              <a:t>keyword </a:t>
            </a:r>
            <a:r>
              <a:rPr lang="en-US" b="1" dirty="0">
                <a:solidFill>
                  <a:srgbClr val="0066FF"/>
                </a:solidFill>
                <a:latin typeface="Courier New" panose="02070309020205020404" pitchFamily="49" charset="0"/>
                <a:cs typeface="Courier New" panose="02070309020205020404" pitchFamily="49" charset="0"/>
              </a:rPr>
              <a:t>if</a:t>
            </a:r>
            <a:r>
              <a:rPr lang="en-US" b="1" dirty="0"/>
              <a:t> </a:t>
            </a:r>
            <a:r>
              <a:rPr lang="en-US" dirty="0"/>
              <a:t>or an </a:t>
            </a:r>
            <a:r>
              <a:rPr lang="en-US" b="1" dirty="0"/>
              <a:t>undeclared function identifier</a:t>
            </a:r>
            <a:r>
              <a:rPr lang="en-US" dirty="0"/>
              <a:t>. </a:t>
            </a:r>
          </a:p>
          <a:p>
            <a:pPr>
              <a:spcAft>
                <a:spcPts val="600"/>
              </a:spcAft>
            </a:pPr>
            <a:r>
              <a:rPr lang="en-US" dirty="0"/>
              <a:t>However, suppose a situation arises in which the lexical analyzer is  </a:t>
            </a:r>
            <a:r>
              <a:rPr lang="en-US" b="1" dirty="0">
                <a:solidFill>
                  <a:srgbClr val="000099"/>
                </a:solidFill>
              </a:rPr>
              <a:t>unable to proceed </a:t>
            </a:r>
            <a:r>
              <a:rPr lang="en-US" dirty="0"/>
              <a:t>because none of the patterns for tokens matches  any prefix of the remaining input.  </a:t>
            </a:r>
          </a:p>
          <a:p>
            <a:pPr lvl="1">
              <a:spcAft>
                <a:spcPts val="600"/>
              </a:spcAft>
            </a:pPr>
            <a:r>
              <a:rPr lang="en-US" dirty="0"/>
              <a:t>The simplest recovery strategy is  "</a:t>
            </a:r>
            <a:r>
              <a:rPr lang="en-US" b="1" i="1" dirty="0"/>
              <a:t>panic mode</a:t>
            </a:r>
            <a:r>
              <a:rPr lang="en-US" dirty="0"/>
              <a:t>"  recovery.  </a:t>
            </a:r>
          </a:p>
          <a:p>
            <a:pPr lvl="2">
              <a:spcAft>
                <a:spcPts val="600"/>
              </a:spcAft>
              <a:buFont typeface="Wingdings" panose="05000000000000000000" pitchFamily="2" charset="2"/>
              <a:buChar char="§"/>
            </a:pPr>
            <a:r>
              <a:rPr lang="en-US" dirty="0"/>
              <a:t>We  delete successive characters from the remaining input, until the lexical analyzer can find a well-formed token at the beginning of what input is left.  </a:t>
            </a:r>
          </a:p>
          <a:p>
            <a:pPr lvl="1">
              <a:spcAft>
                <a:spcPts val="600"/>
              </a:spcAft>
            </a:pPr>
            <a:r>
              <a:rPr lang="en-US" dirty="0"/>
              <a:t>This recovery technique may confuse the parser, but in an interactive computing environment it may be quite adequate.</a:t>
            </a:r>
          </a:p>
        </p:txBody>
      </p:sp>
      <p:sp>
        <p:nvSpPr>
          <p:cNvPr id="4" name="Slide Number Placeholder 3"/>
          <p:cNvSpPr>
            <a:spLocks noGrp="1"/>
          </p:cNvSpPr>
          <p:nvPr>
            <p:ph type="sldNum" sz="quarter" idx="12"/>
          </p:nvPr>
        </p:nvSpPr>
        <p:spPr/>
        <p:txBody>
          <a:bodyPr/>
          <a:lstStyle/>
          <a:p>
            <a:fld id="{C2C343A0-757D-4032-BC20-DF0A67BD0A50}" type="slidenum">
              <a:rPr lang="en-US" smtClean="0"/>
              <a:t>18</a:t>
            </a:fld>
            <a:endParaRPr lang="en-US"/>
          </a:p>
        </p:txBody>
      </p:sp>
    </p:spTree>
    <p:extLst>
      <p:ext uri="{BB962C8B-B14F-4D97-AF65-F5344CB8AC3E}">
        <p14:creationId xmlns:p14="http://schemas.microsoft.com/office/powerpoint/2010/main" val="229453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Handling Lexical Errors</a:t>
            </a:r>
          </a:p>
        </p:txBody>
      </p:sp>
      <p:sp>
        <p:nvSpPr>
          <p:cNvPr id="3" name="Content Placeholder 2"/>
          <p:cNvSpPr>
            <a:spLocks noGrp="1"/>
          </p:cNvSpPr>
          <p:nvPr>
            <p:ph idx="1"/>
          </p:nvPr>
        </p:nvSpPr>
        <p:spPr>
          <a:xfrm>
            <a:off x="457200" y="1600200"/>
            <a:ext cx="8458200" cy="4953000"/>
          </a:xfrm>
        </p:spPr>
        <p:txBody>
          <a:bodyPr>
            <a:normAutofit fontScale="92500"/>
          </a:bodyPr>
          <a:lstStyle/>
          <a:p>
            <a:pPr>
              <a:spcAft>
                <a:spcPts val="600"/>
              </a:spcAft>
            </a:pPr>
            <a:r>
              <a:rPr lang="en-US" dirty="0"/>
              <a:t>Other possible error-recovery actions  are: </a:t>
            </a:r>
          </a:p>
          <a:p>
            <a:pPr marL="914400" lvl="1" indent="-514350">
              <a:spcAft>
                <a:spcPts val="600"/>
              </a:spcAft>
              <a:buFont typeface="+mj-lt"/>
              <a:buAutoNum type="arabicPeriod"/>
            </a:pPr>
            <a:r>
              <a:rPr lang="en-US" dirty="0"/>
              <a:t>Insert a missing character into the remaining input. </a:t>
            </a:r>
          </a:p>
          <a:p>
            <a:pPr marL="914400" lvl="1" indent="-514350">
              <a:spcAft>
                <a:spcPts val="600"/>
              </a:spcAft>
              <a:buFont typeface="+mj-lt"/>
              <a:buAutoNum type="arabicPeriod"/>
            </a:pPr>
            <a:r>
              <a:rPr lang="en-US" dirty="0"/>
              <a:t>Replacing an incorrect character by a correct character</a:t>
            </a:r>
          </a:p>
          <a:p>
            <a:pPr marL="914400" lvl="1" indent="-514350">
              <a:spcAft>
                <a:spcPts val="600"/>
              </a:spcAft>
              <a:buFont typeface="+mj-lt"/>
              <a:buAutoNum type="arabicPeriod"/>
            </a:pPr>
            <a:r>
              <a:rPr lang="en-US" dirty="0"/>
              <a:t>Transpose two  adjacent  characters (such as , fi =&gt; if). </a:t>
            </a:r>
          </a:p>
          <a:p>
            <a:pPr marL="914400" lvl="1" indent="-514350">
              <a:spcAft>
                <a:spcPts val="600"/>
              </a:spcAft>
              <a:buFont typeface="+mj-lt"/>
              <a:buAutoNum type="arabicPeriod"/>
            </a:pPr>
            <a:r>
              <a:rPr lang="en-US" dirty="0"/>
              <a:t>Deleting an extraneous character</a:t>
            </a:r>
          </a:p>
          <a:p>
            <a:pPr marL="914400" lvl="1" indent="-514350">
              <a:spcAft>
                <a:spcPts val="600"/>
              </a:spcAft>
              <a:buFont typeface="+mj-lt"/>
              <a:buAutoNum type="arabicPeriod"/>
            </a:pPr>
            <a:r>
              <a:rPr lang="en-US" dirty="0"/>
              <a:t>Pre-scanning </a:t>
            </a:r>
          </a:p>
          <a:p>
            <a:pPr marL="400050" lvl="1" indent="0">
              <a:spcAft>
                <a:spcPts val="600"/>
              </a:spcAft>
              <a:buNone/>
            </a:pPr>
            <a:endParaRPr lang="en-US" dirty="0"/>
          </a:p>
          <a:p>
            <a:pPr marL="400050" lvl="1" indent="0">
              <a:spcAft>
                <a:spcPts val="600"/>
              </a:spcAft>
              <a:buNone/>
            </a:pPr>
            <a:r>
              <a:rPr lang="en-US" dirty="0"/>
              <a:t> </a:t>
            </a:r>
          </a:p>
        </p:txBody>
      </p:sp>
      <p:sp>
        <p:nvSpPr>
          <p:cNvPr id="4" name="Slide Number Placeholder 3"/>
          <p:cNvSpPr>
            <a:spLocks noGrp="1"/>
          </p:cNvSpPr>
          <p:nvPr>
            <p:ph type="sldNum" sz="quarter" idx="12"/>
          </p:nvPr>
        </p:nvSpPr>
        <p:spPr/>
        <p:txBody>
          <a:bodyPr/>
          <a:lstStyle/>
          <a:p>
            <a:fld id="{C2C343A0-757D-4032-BC20-DF0A67BD0A50}" type="slidenum">
              <a:rPr lang="en-US" smtClean="0"/>
              <a:t>19</a:t>
            </a:fld>
            <a:endParaRPr lang="en-US"/>
          </a:p>
        </p:txBody>
      </p:sp>
    </p:spTree>
    <p:extLst>
      <p:ext uri="{BB962C8B-B14F-4D97-AF65-F5344CB8AC3E}">
        <p14:creationId xmlns:p14="http://schemas.microsoft.com/office/powerpoint/2010/main" val="2195597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Input Buffering</a:t>
            </a:r>
          </a:p>
        </p:txBody>
      </p:sp>
      <p:sp>
        <p:nvSpPr>
          <p:cNvPr id="3" name="Content Placeholder 2"/>
          <p:cNvSpPr>
            <a:spLocks noGrp="1"/>
          </p:cNvSpPr>
          <p:nvPr>
            <p:ph idx="1"/>
          </p:nvPr>
        </p:nvSpPr>
        <p:spPr>
          <a:xfrm>
            <a:off x="457200" y="1600200"/>
            <a:ext cx="8458200" cy="4953000"/>
          </a:xfrm>
        </p:spPr>
        <p:txBody>
          <a:bodyPr>
            <a:normAutofit fontScale="62500" lnSpcReduction="20000"/>
          </a:bodyPr>
          <a:lstStyle/>
          <a:p>
            <a:pPr>
              <a:spcAft>
                <a:spcPts val="600"/>
              </a:spcAft>
            </a:pPr>
            <a:r>
              <a:rPr lang="en-US" dirty="0"/>
              <a:t>There are some ways that the task of reading the source program can be speed up</a:t>
            </a:r>
          </a:p>
          <a:p>
            <a:pPr>
              <a:spcAft>
                <a:spcPts val="600"/>
              </a:spcAft>
            </a:pPr>
            <a:r>
              <a:rPr lang="en-US" dirty="0"/>
              <a:t>This task is made difficult by the fact that we often have to look one or more characters beyond the next lexeme before we can be sure we have the right lexeme</a:t>
            </a:r>
          </a:p>
          <a:p>
            <a:pPr lvl="1">
              <a:spcAft>
                <a:spcPts val="600"/>
              </a:spcAft>
              <a:buFont typeface="Wingdings" panose="05000000000000000000" pitchFamily="2" charset="2"/>
              <a:buChar char="§"/>
            </a:pPr>
            <a:r>
              <a:rPr lang="en-US" dirty="0"/>
              <a:t>In </a:t>
            </a:r>
            <a:r>
              <a:rPr lang="en-US" b="1" dirty="0"/>
              <a:t>C language</a:t>
            </a:r>
            <a:r>
              <a:rPr lang="en-US" dirty="0"/>
              <a:t>: we need to look after </a:t>
            </a:r>
            <a:r>
              <a:rPr lang="en-US" b="1" dirty="0">
                <a:solidFill>
                  <a:srgbClr val="FF0000"/>
                </a:solidFill>
                <a:latin typeface="Courier New" panose="02070309020205020404" pitchFamily="49" charset="0"/>
                <a:cs typeface="Courier New" panose="02070309020205020404" pitchFamily="49" charset="0"/>
              </a:rPr>
              <a:t>-</a:t>
            </a:r>
            <a:r>
              <a:rPr lang="en-US" dirty="0"/>
              <a:t>, </a:t>
            </a:r>
            <a:r>
              <a:rPr lang="en-US" sz="2900" b="1" dirty="0">
                <a:solidFill>
                  <a:srgbClr val="FF0000"/>
                </a:solidFill>
                <a:latin typeface="Courier New" panose="02070309020205020404" pitchFamily="49" charset="0"/>
                <a:cs typeface="Courier New" panose="02070309020205020404" pitchFamily="49" charset="0"/>
              </a:rPr>
              <a:t>=</a:t>
            </a:r>
            <a:r>
              <a:rPr lang="en-US" dirty="0"/>
              <a:t> or </a:t>
            </a:r>
            <a:r>
              <a:rPr lang="en-US" sz="2900" b="1" dirty="0">
                <a:solidFill>
                  <a:srgbClr val="FF0000"/>
                </a:solidFill>
                <a:latin typeface="Courier New" panose="02070309020205020404" pitchFamily="49" charset="0"/>
                <a:cs typeface="Courier New" panose="02070309020205020404" pitchFamily="49" charset="0"/>
              </a:rPr>
              <a:t>&lt;</a:t>
            </a:r>
            <a:r>
              <a:rPr lang="en-US" dirty="0"/>
              <a:t> to decide what token to return</a:t>
            </a:r>
          </a:p>
          <a:p>
            <a:pPr lvl="1">
              <a:spcAft>
                <a:spcPts val="600"/>
              </a:spcAft>
              <a:buFont typeface="Wingdings" panose="05000000000000000000" pitchFamily="2" charset="2"/>
              <a:buChar char="§"/>
            </a:pPr>
            <a:r>
              <a:rPr lang="en-US" dirty="0"/>
              <a:t>We shall introduce a </a:t>
            </a:r>
            <a:r>
              <a:rPr lang="en-US" b="1" i="1" dirty="0"/>
              <a:t>two-buffer</a:t>
            </a:r>
            <a:r>
              <a:rPr lang="en-US" dirty="0"/>
              <a:t> </a:t>
            </a:r>
            <a:r>
              <a:rPr lang="en-US" b="1" i="1" dirty="0"/>
              <a:t>scheme</a:t>
            </a:r>
            <a:r>
              <a:rPr lang="en-US" dirty="0"/>
              <a:t> that handles large </a:t>
            </a:r>
            <a:r>
              <a:rPr lang="en-US" b="1" i="1" dirty="0"/>
              <a:t>look-</a:t>
            </a:r>
            <a:r>
              <a:rPr lang="en-US" b="1" i="1" dirty="0" err="1"/>
              <a:t>aheads</a:t>
            </a:r>
            <a:r>
              <a:rPr lang="en-US" dirty="0"/>
              <a:t> safely</a:t>
            </a:r>
          </a:p>
          <a:p>
            <a:pPr>
              <a:spcAft>
                <a:spcPts val="600"/>
              </a:spcAft>
            </a:pPr>
            <a:r>
              <a:rPr lang="en-US" dirty="0"/>
              <a:t>We then consider an improvement involving </a:t>
            </a:r>
            <a:r>
              <a:rPr lang="en-US" b="1" i="1" dirty="0"/>
              <a:t>sentinels</a:t>
            </a:r>
            <a:r>
              <a:rPr lang="en-US" dirty="0"/>
              <a:t> that saves time checking for the ends of buffers</a:t>
            </a:r>
          </a:p>
          <a:p>
            <a:pPr>
              <a:spcAft>
                <a:spcPts val="600"/>
              </a:spcAft>
            </a:pPr>
            <a:r>
              <a:rPr lang="en-US" dirty="0"/>
              <a:t>Because of the amount of time taken to process characters and the large number of characters that must be processed during compilation of a large source program, </a:t>
            </a:r>
          </a:p>
          <a:p>
            <a:pPr lvl="1">
              <a:spcAft>
                <a:spcPts val="600"/>
              </a:spcAft>
              <a:buFont typeface="Wingdings" panose="05000000000000000000" pitchFamily="2" charset="2"/>
              <a:buChar char="§"/>
            </a:pPr>
            <a:r>
              <a:rPr lang="en-US" dirty="0"/>
              <a:t>specialized </a:t>
            </a:r>
            <a:r>
              <a:rPr lang="en-US" b="1" i="1" dirty="0"/>
              <a:t>buffering techniques </a:t>
            </a:r>
            <a:r>
              <a:rPr lang="en-US" dirty="0"/>
              <a:t>have been developed to reduce the amount of overhead to process a single input character</a:t>
            </a:r>
          </a:p>
          <a:p>
            <a:pPr>
              <a:spcAft>
                <a:spcPts val="600"/>
              </a:spcAft>
            </a:pPr>
            <a:r>
              <a:rPr lang="en-US" dirty="0"/>
              <a:t>An important scheme involves two buffers that are alternatively reloaded, as shown in the  Figure  next slide</a:t>
            </a:r>
          </a:p>
        </p:txBody>
      </p:sp>
      <p:sp>
        <p:nvSpPr>
          <p:cNvPr id="4" name="Slide Number Placeholder 3"/>
          <p:cNvSpPr>
            <a:spLocks noGrp="1"/>
          </p:cNvSpPr>
          <p:nvPr>
            <p:ph type="sldNum" sz="quarter" idx="12"/>
          </p:nvPr>
        </p:nvSpPr>
        <p:spPr/>
        <p:txBody>
          <a:bodyPr/>
          <a:lstStyle/>
          <a:p>
            <a:fld id="{C2C343A0-757D-4032-BC20-DF0A67BD0A50}" type="slidenum">
              <a:rPr lang="en-US" smtClean="0"/>
              <a:t>20</a:t>
            </a:fld>
            <a:endParaRPr lang="en-US"/>
          </a:p>
        </p:txBody>
      </p:sp>
    </p:spTree>
    <p:extLst>
      <p:ext uri="{BB962C8B-B14F-4D97-AF65-F5344CB8AC3E}">
        <p14:creationId xmlns:p14="http://schemas.microsoft.com/office/powerpoint/2010/main" val="1357746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Input Buffering</a:t>
            </a:r>
          </a:p>
        </p:txBody>
      </p:sp>
      <p:sp>
        <p:nvSpPr>
          <p:cNvPr id="3" name="Content Placeholder 2"/>
          <p:cNvSpPr>
            <a:spLocks noGrp="1"/>
          </p:cNvSpPr>
          <p:nvPr>
            <p:ph idx="1"/>
          </p:nvPr>
        </p:nvSpPr>
        <p:spPr>
          <a:xfrm>
            <a:off x="457200" y="1600200"/>
            <a:ext cx="8458200" cy="4953000"/>
          </a:xfrm>
        </p:spPr>
        <p:txBody>
          <a:bodyPr>
            <a:normAutofit fontScale="70000" lnSpcReduction="20000"/>
          </a:bodyPr>
          <a:lstStyle/>
          <a:p>
            <a:pPr>
              <a:spcAft>
                <a:spcPts val="600"/>
              </a:spcAft>
            </a:pPr>
            <a:endParaRPr lang="en-US" dirty="0"/>
          </a:p>
          <a:p>
            <a:pPr>
              <a:spcAft>
                <a:spcPts val="600"/>
              </a:spcAft>
            </a:pPr>
            <a:endParaRPr lang="en-US" dirty="0"/>
          </a:p>
          <a:p>
            <a:pPr>
              <a:spcAft>
                <a:spcPts val="600"/>
              </a:spcAft>
            </a:pPr>
            <a:endParaRPr lang="en-US" dirty="0"/>
          </a:p>
          <a:p>
            <a:pPr>
              <a:spcAft>
                <a:spcPts val="600"/>
              </a:spcAft>
            </a:pPr>
            <a:r>
              <a:rPr lang="en-US" dirty="0"/>
              <a:t>Each buffer is of the same size N, and N is usually the size of a disk block, e.g., 4096 bytes</a:t>
            </a:r>
          </a:p>
          <a:p>
            <a:pPr>
              <a:spcAft>
                <a:spcPts val="600"/>
              </a:spcAft>
            </a:pPr>
            <a:r>
              <a:rPr lang="en-US" dirty="0"/>
              <a:t>Using one system read command we can read N characters into a buffer, rather than using one system call per character</a:t>
            </a:r>
          </a:p>
          <a:p>
            <a:pPr lvl="1">
              <a:spcAft>
                <a:spcPts val="600"/>
              </a:spcAft>
            </a:pPr>
            <a:r>
              <a:rPr lang="en-US" dirty="0"/>
              <a:t>If fewer than N characters remain in the input file, then a special character, represented by </a:t>
            </a:r>
            <a:r>
              <a:rPr lang="en-US" b="1" i="1" dirty="0" err="1"/>
              <a:t>eof</a:t>
            </a:r>
            <a:r>
              <a:rPr lang="en-US" dirty="0"/>
              <a:t>, marks the end of the source file and is different from any possible character of the source program</a:t>
            </a:r>
          </a:p>
          <a:p>
            <a:pPr>
              <a:spcAft>
                <a:spcPts val="600"/>
              </a:spcAft>
            </a:pPr>
            <a:r>
              <a:rPr lang="en-US" dirty="0"/>
              <a:t>Two pointers to the input are maintained:</a:t>
            </a:r>
          </a:p>
          <a:p>
            <a:pPr lvl="1">
              <a:spcAft>
                <a:spcPts val="600"/>
              </a:spcAft>
            </a:pPr>
            <a:r>
              <a:rPr lang="en-US" b="1" dirty="0"/>
              <a:t>Pointer</a:t>
            </a:r>
            <a:r>
              <a:rPr lang="en-US" dirty="0"/>
              <a:t> </a:t>
            </a:r>
            <a:r>
              <a:rPr lang="en-US" b="1" i="1" dirty="0" err="1"/>
              <a:t>lexemeBegin</a:t>
            </a:r>
            <a:r>
              <a:rPr lang="en-US" dirty="0"/>
              <a:t>, marks the beginning of the current lexeme, whose extent we are attempting to determine</a:t>
            </a:r>
          </a:p>
          <a:p>
            <a:pPr lvl="1">
              <a:spcAft>
                <a:spcPts val="600"/>
              </a:spcAft>
            </a:pPr>
            <a:r>
              <a:rPr lang="en-US" b="1" dirty="0"/>
              <a:t>Pointer</a:t>
            </a:r>
            <a:r>
              <a:rPr lang="en-US" dirty="0"/>
              <a:t> </a:t>
            </a:r>
            <a:r>
              <a:rPr lang="en-US" b="1" i="1" dirty="0"/>
              <a:t>forward</a:t>
            </a:r>
            <a:r>
              <a:rPr lang="en-US" dirty="0"/>
              <a:t> scans ahead until a pattern match is found</a:t>
            </a:r>
          </a:p>
        </p:txBody>
      </p:sp>
      <p:pic>
        <p:nvPicPr>
          <p:cNvPr id="5" name="Picture 4"/>
          <p:cNvPicPr>
            <a:picLocks noChangeAspect="1"/>
          </p:cNvPicPr>
          <p:nvPr/>
        </p:nvPicPr>
        <p:blipFill>
          <a:blip r:embed="rId2"/>
          <a:stretch>
            <a:fillRect/>
          </a:stretch>
        </p:blipFill>
        <p:spPr>
          <a:xfrm>
            <a:off x="914083" y="1383294"/>
            <a:ext cx="7315834" cy="1103472"/>
          </a:xfrm>
          <a:prstGeom prst="rect">
            <a:avLst/>
          </a:prstGeom>
        </p:spPr>
      </p:pic>
      <p:sp>
        <p:nvSpPr>
          <p:cNvPr id="4" name="Slide Number Placeholder 3"/>
          <p:cNvSpPr>
            <a:spLocks noGrp="1"/>
          </p:cNvSpPr>
          <p:nvPr>
            <p:ph type="sldNum" sz="quarter" idx="12"/>
          </p:nvPr>
        </p:nvSpPr>
        <p:spPr/>
        <p:txBody>
          <a:bodyPr/>
          <a:lstStyle/>
          <a:p>
            <a:fld id="{C2C343A0-757D-4032-BC20-DF0A67BD0A50}" type="slidenum">
              <a:rPr lang="en-US" smtClean="0"/>
              <a:t>21</a:t>
            </a:fld>
            <a:endParaRPr lang="en-US"/>
          </a:p>
        </p:txBody>
      </p:sp>
    </p:spTree>
    <p:extLst>
      <p:ext uri="{BB962C8B-B14F-4D97-AF65-F5344CB8AC3E}">
        <p14:creationId xmlns:p14="http://schemas.microsoft.com/office/powerpoint/2010/main" val="2888813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Input Buffering</a:t>
            </a:r>
          </a:p>
        </p:txBody>
      </p:sp>
      <p:sp>
        <p:nvSpPr>
          <p:cNvPr id="3" name="Content Placeholder 2"/>
          <p:cNvSpPr>
            <a:spLocks noGrp="1"/>
          </p:cNvSpPr>
          <p:nvPr>
            <p:ph idx="1"/>
          </p:nvPr>
        </p:nvSpPr>
        <p:spPr>
          <a:xfrm>
            <a:off x="457200" y="1600200"/>
            <a:ext cx="8458200" cy="4953000"/>
          </a:xfrm>
        </p:spPr>
        <p:txBody>
          <a:bodyPr>
            <a:normAutofit fontScale="62500" lnSpcReduction="20000"/>
          </a:bodyPr>
          <a:lstStyle/>
          <a:p>
            <a:pPr>
              <a:spcAft>
                <a:spcPts val="600"/>
              </a:spcAft>
            </a:pPr>
            <a:r>
              <a:rPr lang="en-US" dirty="0"/>
              <a:t>Once the lexeme is determined, </a:t>
            </a:r>
            <a:r>
              <a:rPr lang="en-US" b="1" i="1" dirty="0"/>
              <a:t>forward</a:t>
            </a:r>
            <a:r>
              <a:rPr lang="en-US" dirty="0"/>
              <a:t> is set to the character at its right end (involves retracting)</a:t>
            </a:r>
          </a:p>
          <a:p>
            <a:pPr lvl="1">
              <a:spcAft>
                <a:spcPts val="600"/>
              </a:spcAft>
              <a:buFont typeface="Wingdings" panose="05000000000000000000" pitchFamily="2" charset="2"/>
              <a:buChar char="§"/>
            </a:pPr>
            <a:r>
              <a:rPr lang="en-US" dirty="0"/>
              <a:t>Then, after the lexeme is recorded as an attribute value of the token returned to the parser, </a:t>
            </a:r>
            <a:r>
              <a:rPr lang="en-US" b="1" i="1" dirty="0" err="1"/>
              <a:t>lexemeBegin</a:t>
            </a:r>
            <a:r>
              <a:rPr lang="en-US" dirty="0"/>
              <a:t> is set to the character immediately after the lexeme just found</a:t>
            </a:r>
          </a:p>
          <a:p>
            <a:pPr>
              <a:spcAft>
                <a:spcPts val="600"/>
              </a:spcAft>
            </a:pPr>
            <a:r>
              <a:rPr lang="en-US" dirty="0"/>
              <a:t>Advancing forward requires that we first test whether we have reached the end of one of the buffers, and if so, we must reload the other buffer from the input, and move forward to the beginning of the newly loaded buffer</a:t>
            </a:r>
          </a:p>
          <a:p>
            <a:pPr marL="0" indent="0">
              <a:spcAft>
                <a:spcPts val="600"/>
              </a:spcAft>
              <a:buNone/>
            </a:pPr>
            <a:r>
              <a:rPr lang="en-US" sz="3800" b="1" dirty="0">
                <a:solidFill>
                  <a:srgbClr val="000099"/>
                </a:solidFill>
              </a:rPr>
              <a:t>Sentinels</a:t>
            </a:r>
            <a:endParaRPr lang="en-US" b="1" dirty="0">
              <a:solidFill>
                <a:srgbClr val="000099"/>
              </a:solidFill>
            </a:endParaRPr>
          </a:p>
          <a:p>
            <a:pPr>
              <a:spcAft>
                <a:spcPts val="600"/>
              </a:spcAft>
            </a:pPr>
            <a:r>
              <a:rPr lang="en-US" dirty="0"/>
              <a:t>If we use the previous scheme, we must check each time we advance forward, that we have not moved off one of the buffers; if we do, then we must also reload the other buffer</a:t>
            </a:r>
          </a:p>
          <a:p>
            <a:pPr lvl="1">
              <a:spcAft>
                <a:spcPts val="600"/>
              </a:spcAft>
              <a:buFont typeface="Wingdings" panose="05000000000000000000" pitchFamily="2" charset="2"/>
              <a:buChar char="§"/>
            </a:pPr>
            <a:r>
              <a:rPr lang="en-US" dirty="0"/>
              <a:t>Thus, for each character read, we must make two tests: one for the end of the buffer, and one to determine which character is read</a:t>
            </a:r>
          </a:p>
          <a:p>
            <a:pPr lvl="1">
              <a:spcAft>
                <a:spcPts val="600"/>
              </a:spcAft>
              <a:buFont typeface="Wingdings" panose="05000000000000000000" pitchFamily="2" charset="2"/>
              <a:buChar char="§"/>
            </a:pPr>
            <a:r>
              <a:rPr lang="en-US" dirty="0"/>
              <a:t>We can combine the buffer-end test with the test for the current character if we extend each buffer to hold sentinel character at the end</a:t>
            </a:r>
          </a:p>
        </p:txBody>
      </p:sp>
      <p:sp>
        <p:nvSpPr>
          <p:cNvPr id="4" name="Slide Number Placeholder 3"/>
          <p:cNvSpPr>
            <a:spLocks noGrp="1"/>
          </p:cNvSpPr>
          <p:nvPr>
            <p:ph type="sldNum" sz="quarter" idx="12"/>
          </p:nvPr>
        </p:nvSpPr>
        <p:spPr/>
        <p:txBody>
          <a:bodyPr/>
          <a:lstStyle/>
          <a:p>
            <a:fld id="{C2C343A0-757D-4032-BC20-DF0A67BD0A50}" type="slidenum">
              <a:rPr lang="en-US" smtClean="0"/>
              <a:t>22</a:t>
            </a:fld>
            <a:endParaRPr lang="en-US"/>
          </a:p>
        </p:txBody>
      </p:sp>
    </p:spTree>
    <p:extLst>
      <p:ext uri="{BB962C8B-B14F-4D97-AF65-F5344CB8AC3E}">
        <p14:creationId xmlns:p14="http://schemas.microsoft.com/office/powerpoint/2010/main" val="2222658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Input Buffering</a:t>
            </a:r>
          </a:p>
        </p:txBody>
      </p:sp>
      <p:sp>
        <p:nvSpPr>
          <p:cNvPr id="3" name="Content Placeholder 2"/>
          <p:cNvSpPr>
            <a:spLocks noGrp="1"/>
          </p:cNvSpPr>
          <p:nvPr>
            <p:ph idx="1"/>
          </p:nvPr>
        </p:nvSpPr>
        <p:spPr>
          <a:xfrm>
            <a:off x="457200" y="1600200"/>
            <a:ext cx="4267200" cy="4953000"/>
          </a:xfrm>
        </p:spPr>
        <p:txBody>
          <a:bodyPr>
            <a:normAutofit fontScale="62500" lnSpcReduction="20000"/>
          </a:bodyPr>
          <a:lstStyle/>
          <a:p>
            <a:pPr>
              <a:spcAft>
                <a:spcPts val="600"/>
              </a:spcAft>
            </a:pPr>
            <a:endParaRPr lang="en-US" dirty="0"/>
          </a:p>
          <a:p>
            <a:pPr>
              <a:spcAft>
                <a:spcPts val="600"/>
              </a:spcAft>
            </a:pPr>
            <a:endParaRPr lang="en-US" dirty="0"/>
          </a:p>
          <a:p>
            <a:pPr>
              <a:spcAft>
                <a:spcPts val="600"/>
              </a:spcAft>
            </a:pPr>
            <a:endParaRPr lang="en-US" dirty="0"/>
          </a:p>
          <a:p>
            <a:pPr>
              <a:spcAft>
                <a:spcPts val="600"/>
              </a:spcAft>
            </a:pPr>
            <a:r>
              <a:rPr lang="en-US" dirty="0"/>
              <a:t>The </a:t>
            </a:r>
            <a:r>
              <a:rPr lang="en-US" b="1" i="1" dirty="0"/>
              <a:t>sentinel</a:t>
            </a:r>
            <a:r>
              <a:rPr lang="en-US" dirty="0"/>
              <a:t> is a special character that cannot be part of the source program, and a natural choice is the character </a:t>
            </a:r>
            <a:r>
              <a:rPr lang="en-US" b="1" i="1" dirty="0" err="1"/>
              <a:t>eof</a:t>
            </a:r>
            <a:endParaRPr lang="en-US" b="1" i="1" dirty="0"/>
          </a:p>
          <a:p>
            <a:pPr>
              <a:spcAft>
                <a:spcPts val="600"/>
              </a:spcAft>
            </a:pPr>
            <a:r>
              <a:rPr lang="en-US" dirty="0"/>
              <a:t>Note that </a:t>
            </a:r>
            <a:r>
              <a:rPr lang="en-US" b="1" i="1" dirty="0" err="1"/>
              <a:t>eof</a:t>
            </a:r>
            <a:r>
              <a:rPr lang="en-US" dirty="0"/>
              <a:t> retains its use as a marker for the end of the entire input</a:t>
            </a:r>
          </a:p>
          <a:p>
            <a:pPr>
              <a:spcAft>
                <a:spcPts val="600"/>
              </a:spcAft>
            </a:pPr>
            <a:r>
              <a:rPr lang="en-US" dirty="0"/>
              <a:t>Any </a:t>
            </a:r>
            <a:r>
              <a:rPr lang="en-US" b="1" i="1" dirty="0" err="1"/>
              <a:t>eof</a:t>
            </a:r>
            <a:r>
              <a:rPr lang="en-US" dirty="0"/>
              <a:t> that appears other than at the end of buffer means the input is at an end</a:t>
            </a:r>
          </a:p>
          <a:p>
            <a:pPr>
              <a:spcAft>
                <a:spcPts val="600"/>
              </a:spcAft>
            </a:pPr>
            <a:r>
              <a:rPr lang="en-US" dirty="0"/>
              <a:t>The above Figure shows the same arrangement as Figure in slide no. </a:t>
            </a:r>
            <a:r>
              <a:rPr lang="en-US"/>
              <a:t>21, </a:t>
            </a:r>
            <a:r>
              <a:rPr lang="en-US" dirty="0"/>
              <a:t>but with the sentinels added.</a:t>
            </a:r>
          </a:p>
        </p:txBody>
      </p:sp>
      <p:pic>
        <p:nvPicPr>
          <p:cNvPr id="4" name="Picture 3"/>
          <p:cNvPicPr>
            <a:picLocks noChangeAspect="1"/>
          </p:cNvPicPr>
          <p:nvPr/>
        </p:nvPicPr>
        <p:blipFill>
          <a:blip r:embed="rId2"/>
          <a:stretch>
            <a:fillRect/>
          </a:stretch>
        </p:blipFill>
        <p:spPr>
          <a:xfrm>
            <a:off x="572677" y="1417638"/>
            <a:ext cx="7998645" cy="1085182"/>
          </a:xfrm>
          <a:prstGeom prst="rect">
            <a:avLst/>
          </a:prstGeom>
        </p:spPr>
      </p:pic>
      <p:sp>
        <p:nvSpPr>
          <p:cNvPr id="7" name="Rectangle 6"/>
          <p:cNvSpPr/>
          <p:nvPr/>
        </p:nvSpPr>
        <p:spPr>
          <a:xfrm>
            <a:off x="762000" y="2151702"/>
            <a:ext cx="3537828" cy="351118"/>
          </a:xfrm>
          <a:prstGeom prst="rect">
            <a:avLst/>
          </a:prstGeom>
        </p:spPr>
        <p:txBody>
          <a:bodyPr wrap="none">
            <a:spAutoFit/>
          </a:bodyPr>
          <a:lstStyle/>
          <a:p>
            <a:r>
              <a:rPr lang="en-US" b="1" dirty="0">
                <a:latin typeface="Perpetua" pitchFamily="18" charset="0"/>
              </a:rPr>
              <a:t>Fig.</a:t>
            </a:r>
            <a:r>
              <a:rPr lang="en-US" dirty="0">
                <a:latin typeface="Perpetua" pitchFamily="18" charset="0"/>
              </a:rPr>
              <a:t> Sentinels  at  the end of each buffer </a:t>
            </a:r>
            <a:endParaRPr lang="en-US" dirty="0"/>
          </a:p>
        </p:txBody>
      </p:sp>
      <p:sp>
        <p:nvSpPr>
          <p:cNvPr id="8" name="Rectangle 7"/>
          <p:cNvSpPr/>
          <p:nvPr/>
        </p:nvSpPr>
        <p:spPr>
          <a:xfrm>
            <a:off x="4724400" y="2767548"/>
            <a:ext cx="4343400" cy="3785652"/>
          </a:xfrm>
          <a:prstGeom prst="rect">
            <a:avLst/>
          </a:prstGeom>
          <a:noFill/>
          <a:ln w="0">
            <a:solidFill>
              <a:schemeClr val="accent1"/>
            </a:solidFill>
          </a:ln>
        </p:spPr>
        <p:txBody>
          <a:bodyPr wrap="square">
            <a:spAutoFit/>
          </a:bodyPr>
          <a:lstStyle/>
          <a:p>
            <a:r>
              <a:rPr lang="en-US" sz="1600" b="1" dirty="0">
                <a:solidFill>
                  <a:srgbClr val="0000FF"/>
                </a:solidFill>
                <a:latin typeface="Perpetua" pitchFamily="18" charset="0"/>
              </a:rPr>
              <a:t>Switch</a:t>
            </a:r>
            <a:r>
              <a:rPr lang="en-US" sz="1600" dirty="0">
                <a:latin typeface="Perpetua" pitchFamily="18" charset="0"/>
              </a:rPr>
              <a:t> (*forward++) {</a:t>
            </a:r>
          </a:p>
          <a:p>
            <a:r>
              <a:rPr lang="en-US" sz="1600" dirty="0">
                <a:latin typeface="Perpetua" pitchFamily="18" charset="0"/>
              </a:rPr>
              <a:t>     </a:t>
            </a:r>
            <a:r>
              <a:rPr lang="en-US" sz="1600" b="1" dirty="0">
                <a:solidFill>
                  <a:srgbClr val="0000FF"/>
                </a:solidFill>
                <a:latin typeface="Perpetua" pitchFamily="18" charset="0"/>
              </a:rPr>
              <a:t>case</a:t>
            </a:r>
            <a:r>
              <a:rPr lang="en-US" sz="1600" dirty="0">
                <a:latin typeface="Perpetua" pitchFamily="18" charset="0"/>
              </a:rPr>
              <a:t> </a:t>
            </a:r>
            <a:r>
              <a:rPr lang="en-US" sz="1600" dirty="0" err="1">
                <a:latin typeface="Perpetua" pitchFamily="18" charset="0"/>
              </a:rPr>
              <a:t>eof</a:t>
            </a:r>
            <a:r>
              <a:rPr lang="en-US" sz="1600" dirty="0">
                <a:latin typeface="Perpetua" pitchFamily="18" charset="0"/>
              </a:rPr>
              <a:t>:</a:t>
            </a:r>
          </a:p>
          <a:p>
            <a:r>
              <a:rPr lang="en-US" sz="1600" dirty="0">
                <a:latin typeface="Perpetua" pitchFamily="18" charset="0"/>
              </a:rPr>
              <a:t>       </a:t>
            </a:r>
            <a:r>
              <a:rPr lang="en-US" sz="1600" dirty="0">
                <a:solidFill>
                  <a:srgbClr val="0000FF"/>
                </a:solidFill>
                <a:latin typeface="Perpetua" pitchFamily="18" charset="0"/>
              </a:rPr>
              <a:t> </a:t>
            </a:r>
            <a:r>
              <a:rPr lang="en-US" sz="1600" b="1" dirty="0">
                <a:solidFill>
                  <a:srgbClr val="0000FF"/>
                </a:solidFill>
                <a:latin typeface="Perpetua" pitchFamily="18" charset="0"/>
              </a:rPr>
              <a:t>if</a:t>
            </a:r>
            <a:r>
              <a:rPr lang="en-US" sz="1600" dirty="0">
                <a:solidFill>
                  <a:srgbClr val="0000FF"/>
                </a:solidFill>
                <a:latin typeface="Perpetua" pitchFamily="18" charset="0"/>
              </a:rPr>
              <a:t> </a:t>
            </a:r>
            <a:r>
              <a:rPr lang="en-US" sz="1600" dirty="0">
                <a:latin typeface="Perpetua" pitchFamily="18" charset="0"/>
              </a:rPr>
              <a:t>(forward is at end of first buffer) {</a:t>
            </a:r>
          </a:p>
          <a:p>
            <a:r>
              <a:rPr lang="en-US" sz="1600" dirty="0">
                <a:latin typeface="Perpetua" pitchFamily="18" charset="0"/>
              </a:rPr>
              <a:t>	reload second buffer;</a:t>
            </a:r>
          </a:p>
          <a:p>
            <a:r>
              <a:rPr lang="en-US" sz="1600" dirty="0">
                <a:latin typeface="Perpetua" pitchFamily="18" charset="0"/>
              </a:rPr>
              <a:t>	forward = beginning of second buffer;</a:t>
            </a:r>
          </a:p>
          <a:p>
            <a:r>
              <a:rPr lang="en-US" sz="1600" dirty="0">
                <a:latin typeface="Perpetua" pitchFamily="18" charset="0"/>
              </a:rPr>
              <a:t>             }</a:t>
            </a:r>
          </a:p>
          <a:p>
            <a:r>
              <a:rPr lang="en-US" sz="1600" dirty="0">
                <a:latin typeface="Perpetua" pitchFamily="18" charset="0"/>
              </a:rPr>
              <a:t>        </a:t>
            </a:r>
            <a:r>
              <a:rPr lang="en-US" sz="1600" b="1" dirty="0">
                <a:solidFill>
                  <a:srgbClr val="0000FF"/>
                </a:solidFill>
                <a:latin typeface="Perpetua" pitchFamily="18" charset="0"/>
              </a:rPr>
              <a:t>else if </a:t>
            </a:r>
            <a:r>
              <a:rPr lang="en-US" sz="1600" dirty="0">
                <a:latin typeface="Perpetua" pitchFamily="18" charset="0"/>
              </a:rPr>
              <a:t>{forward is at end of second buffer) {</a:t>
            </a:r>
          </a:p>
          <a:p>
            <a:r>
              <a:rPr lang="en-US" sz="1600" dirty="0">
                <a:latin typeface="Perpetua" pitchFamily="18" charset="0"/>
              </a:rPr>
              <a:t>	reload first buffer;</a:t>
            </a:r>
          </a:p>
          <a:p>
            <a:r>
              <a:rPr lang="en-US" sz="1600" dirty="0">
                <a:latin typeface="Perpetua" pitchFamily="18" charset="0"/>
              </a:rPr>
              <a:t>	forward = beginning of first buffer;</a:t>
            </a:r>
          </a:p>
          <a:p>
            <a:r>
              <a:rPr lang="en-US" sz="1600" dirty="0">
                <a:latin typeface="Perpetua" pitchFamily="18" charset="0"/>
              </a:rPr>
              <a:t>             }</a:t>
            </a:r>
          </a:p>
          <a:p>
            <a:r>
              <a:rPr lang="en-US" sz="1600" dirty="0">
                <a:latin typeface="Perpetua" pitchFamily="18" charset="0"/>
              </a:rPr>
              <a:t>        </a:t>
            </a:r>
            <a:r>
              <a:rPr lang="en-US" sz="1500" b="1" dirty="0">
                <a:solidFill>
                  <a:srgbClr val="0000FF"/>
                </a:solidFill>
                <a:latin typeface="Perpetua" pitchFamily="18" charset="0"/>
              </a:rPr>
              <a:t>else</a:t>
            </a:r>
            <a:r>
              <a:rPr lang="en-US" sz="1600" dirty="0">
                <a:latin typeface="Perpetua" pitchFamily="18" charset="0"/>
              </a:rPr>
              <a:t> /*</a:t>
            </a:r>
            <a:r>
              <a:rPr lang="en-US" sz="1600" dirty="0" err="1">
                <a:latin typeface="Perpetua" pitchFamily="18" charset="0"/>
              </a:rPr>
              <a:t>eof</a:t>
            </a:r>
            <a:r>
              <a:rPr lang="en-US" sz="1600" dirty="0">
                <a:latin typeface="Perpetua" pitchFamily="18" charset="0"/>
              </a:rPr>
              <a:t> within buffer marks the end of input */</a:t>
            </a:r>
          </a:p>
          <a:p>
            <a:r>
              <a:rPr lang="en-US" sz="1600" dirty="0">
                <a:latin typeface="Perpetua" pitchFamily="18" charset="0"/>
              </a:rPr>
              <a:t>                   terminate lexical analysis;</a:t>
            </a:r>
          </a:p>
          <a:p>
            <a:r>
              <a:rPr lang="en-US" sz="1600" dirty="0">
                <a:latin typeface="Perpetua" pitchFamily="18" charset="0"/>
              </a:rPr>
              <a:t>	</a:t>
            </a:r>
            <a:r>
              <a:rPr lang="en-US" sz="1600" b="1" dirty="0">
                <a:solidFill>
                  <a:srgbClr val="0000FF"/>
                </a:solidFill>
                <a:latin typeface="Perpetua" pitchFamily="18" charset="0"/>
              </a:rPr>
              <a:t>break</a:t>
            </a:r>
            <a:r>
              <a:rPr lang="en-US" sz="1600" dirty="0">
                <a:solidFill>
                  <a:srgbClr val="0000FF"/>
                </a:solidFill>
                <a:latin typeface="Perpetua" pitchFamily="18" charset="0"/>
              </a:rPr>
              <a:t>;</a:t>
            </a:r>
          </a:p>
          <a:p>
            <a:r>
              <a:rPr lang="en-US" sz="1600" dirty="0">
                <a:latin typeface="Perpetua" pitchFamily="18" charset="0"/>
              </a:rPr>
              <a:t>	cases for the other characters;</a:t>
            </a:r>
          </a:p>
          <a:p>
            <a:r>
              <a:rPr lang="en-US" sz="1600" dirty="0">
                <a:latin typeface="Perpetua" pitchFamily="18" charset="0"/>
              </a:rPr>
              <a:t>}</a:t>
            </a:r>
          </a:p>
        </p:txBody>
      </p:sp>
      <p:sp>
        <p:nvSpPr>
          <p:cNvPr id="5" name="Slide Number Placeholder 4"/>
          <p:cNvSpPr>
            <a:spLocks noGrp="1"/>
          </p:cNvSpPr>
          <p:nvPr>
            <p:ph type="sldNum" sz="quarter" idx="12"/>
          </p:nvPr>
        </p:nvSpPr>
        <p:spPr/>
        <p:txBody>
          <a:bodyPr/>
          <a:lstStyle/>
          <a:p>
            <a:fld id="{C2C343A0-757D-4032-BC20-DF0A67BD0A50}" type="slidenum">
              <a:rPr lang="en-US" smtClean="0"/>
              <a:t>23</a:t>
            </a:fld>
            <a:endParaRPr lang="en-US"/>
          </a:p>
        </p:txBody>
      </p:sp>
    </p:spTree>
    <p:extLst>
      <p:ext uri="{BB962C8B-B14F-4D97-AF65-F5344CB8AC3E}">
        <p14:creationId xmlns:p14="http://schemas.microsoft.com/office/powerpoint/2010/main" val="665106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p:sp>
        <p:nvSpPr>
          <p:cNvPr id="3" name="Content Placeholder 2"/>
          <p:cNvSpPr>
            <a:spLocks noGrp="1"/>
          </p:cNvSpPr>
          <p:nvPr>
            <p:ph idx="1"/>
          </p:nvPr>
        </p:nvSpPr>
        <p:spPr>
          <a:xfrm>
            <a:off x="457200" y="1600200"/>
            <a:ext cx="8458200" cy="4953000"/>
          </a:xfrm>
        </p:spPr>
        <p:txBody>
          <a:bodyPr>
            <a:normAutofit fontScale="62500" lnSpcReduction="20000"/>
          </a:bodyPr>
          <a:lstStyle/>
          <a:p>
            <a:pPr>
              <a:spcAft>
                <a:spcPts val="600"/>
              </a:spcAft>
            </a:pPr>
            <a:r>
              <a:rPr lang="en-US" b="1" i="1" dirty="0"/>
              <a:t>Regular expressions </a:t>
            </a:r>
            <a:r>
              <a:rPr lang="en-US" dirty="0"/>
              <a:t>are an important notation for specifying lexeme patterns. </a:t>
            </a:r>
          </a:p>
          <a:p>
            <a:pPr>
              <a:spcAft>
                <a:spcPts val="600"/>
              </a:spcAft>
            </a:pPr>
            <a:r>
              <a:rPr lang="en-US" dirty="0"/>
              <a:t>While they cannot express all possible patterns, they are very effective in specifying those types of patterns that we actually need for tokens.</a:t>
            </a:r>
          </a:p>
          <a:p>
            <a:pPr>
              <a:spcAft>
                <a:spcPts val="600"/>
              </a:spcAft>
            </a:pPr>
            <a:r>
              <a:rPr lang="en-US" dirty="0"/>
              <a:t>In theory of compilation regular expressions are used to formalize the </a:t>
            </a:r>
            <a:r>
              <a:rPr lang="en-US" b="1" i="1" dirty="0"/>
              <a:t>specification of tokens</a:t>
            </a:r>
          </a:p>
          <a:p>
            <a:pPr>
              <a:spcAft>
                <a:spcPts val="600"/>
              </a:spcAft>
            </a:pPr>
            <a:r>
              <a:rPr lang="en-US" dirty="0"/>
              <a:t>Regular expressions are means for specifying regular languages</a:t>
            </a:r>
          </a:p>
          <a:p>
            <a:pPr marL="0" indent="0">
              <a:spcAft>
                <a:spcPts val="600"/>
              </a:spcAft>
              <a:buNone/>
            </a:pPr>
            <a:r>
              <a:rPr lang="en-US" b="1" dirty="0"/>
              <a:t>Strings  and  Languages</a:t>
            </a:r>
          </a:p>
          <a:p>
            <a:pPr>
              <a:spcAft>
                <a:spcPts val="600"/>
              </a:spcAft>
            </a:pPr>
            <a:r>
              <a:rPr lang="en-US" dirty="0"/>
              <a:t>An  alphabet is any finite set of symbols.  Typical  examples  of  symbols are let­ters,  digits, and punctuation.  </a:t>
            </a:r>
          </a:p>
          <a:p>
            <a:pPr lvl="1">
              <a:spcAft>
                <a:spcPts val="600"/>
              </a:spcAft>
              <a:buFont typeface="Wingdings" panose="05000000000000000000" pitchFamily="2" charset="2"/>
              <a:buChar char="§"/>
            </a:pPr>
            <a:r>
              <a:rPr lang="en-US" dirty="0"/>
              <a:t>The set  {0,  1 } is the  binary  alphabet.</a:t>
            </a:r>
          </a:p>
          <a:p>
            <a:pPr lvl="1">
              <a:spcAft>
                <a:spcPts val="600"/>
              </a:spcAft>
              <a:buFont typeface="Wingdings" panose="05000000000000000000" pitchFamily="2" charset="2"/>
              <a:buChar char="§"/>
            </a:pPr>
            <a:r>
              <a:rPr lang="en-US" b="1" dirty="0"/>
              <a:t>ASCII</a:t>
            </a:r>
            <a:r>
              <a:rPr lang="en-US" dirty="0"/>
              <a:t> is an important example of an alphabet; it is used in many software systems.  </a:t>
            </a:r>
          </a:p>
          <a:p>
            <a:pPr lvl="1">
              <a:spcAft>
                <a:spcPts val="600"/>
              </a:spcAft>
            </a:pPr>
            <a:r>
              <a:rPr lang="en-US" b="1" dirty="0"/>
              <a:t>Unicode</a:t>
            </a:r>
            <a:r>
              <a:rPr lang="en-US" dirty="0"/>
              <a:t>, which includes approximately 100,000 characters from alphabets around the world, is another important example of an alphabet. </a:t>
            </a:r>
          </a:p>
        </p:txBody>
      </p:sp>
      <p:sp>
        <p:nvSpPr>
          <p:cNvPr id="4" name="Slide Number Placeholder 3"/>
          <p:cNvSpPr>
            <a:spLocks noGrp="1"/>
          </p:cNvSpPr>
          <p:nvPr>
            <p:ph type="sldNum" sz="quarter" idx="12"/>
          </p:nvPr>
        </p:nvSpPr>
        <p:spPr/>
        <p:txBody>
          <a:bodyPr/>
          <a:lstStyle/>
          <a:p>
            <a:fld id="{C2C343A0-757D-4032-BC20-DF0A67BD0A50}" type="slidenum">
              <a:rPr lang="en-US" smtClean="0"/>
              <a:t>24</a:t>
            </a:fld>
            <a:endParaRPr lang="en-US"/>
          </a:p>
        </p:txBody>
      </p:sp>
    </p:spTree>
    <p:extLst>
      <p:ext uri="{BB962C8B-B14F-4D97-AF65-F5344CB8AC3E}">
        <p14:creationId xmlns:p14="http://schemas.microsoft.com/office/powerpoint/2010/main" val="3717985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p:sp>
        <p:nvSpPr>
          <p:cNvPr id="3" name="Content Placeholder 2"/>
          <p:cNvSpPr>
            <a:spLocks noGrp="1"/>
          </p:cNvSpPr>
          <p:nvPr>
            <p:ph idx="1"/>
          </p:nvPr>
        </p:nvSpPr>
        <p:spPr>
          <a:xfrm>
            <a:off x="457200" y="1600200"/>
            <a:ext cx="8458200" cy="4953000"/>
          </a:xfrm>
        </p:spPr>
        <p:txBody>
          <a:bodyPr>
            <a:normAutofit fontScale="62500" lnSpcReduction="20000"/>
          </a:bodyPr>
          <a:lstStyle/>
          <a:p>
            <a:pPr>
              <a:spcAft>
                <a:spcPts val="600"/>
              </a:spcAft>
            </a:pPr>
            <a:r>
              <a:rPr lang="en-US" dirty="0"/>
              <a:t>A  </a:t>
            </a:r>
            <a:r>
              <a:rPr lang="en-US" b="1" dirty="0"/>
              <a:t>string</a:t>
            </a:r>
            <a:r>
              <a:rPr lang="en-US" dirty="0"/>
              <a:t> over an alphabet is a finite sequence of symbols drawn from that alphabet.  </a:t>
            </a:r>
          </a:p>
          <a:p>
            <a:pPr lvl="1">
              <a:spcAft>
                <a:spcPts val="600"/>
              </a:spcAft>
              <a:buFont typeface="Wingdings" panose="05000000000000000000" pitchFamily="2" charset="2"/>
              <a:buChar char="§"/>
            </a:pPr>
            <a:r>
              <a:rPr lang="en-US" dirty="0"/>
              <a:t>In language theory, the terms "</a:t>
            </a:r>
            <a:r>
              <a:rPr lang="en-US" b="1" i="1" dirty="0"/>
              <a:t>sentence</a:t>
            </a:r>
            <a:r>
              <a:rPr lang="en-US" dirty="0"/>
              <a:t>" and "</a:t>
            </a:r>
            <a:r>
              <a:rPr lang="en-US" b="1" i="1" dirty="0"/>
              <a:t>word</a:t>
            </a:r>
            <a:r>
              <a:rPr lang="en-US" dirty="0"/>
              <a:t>" are often used as synonyms for  "</a:t>
            </a:r>
            <a:r>
              <a:rPr lang="en-US" b="1" i="1" dirty="0"/>
              <a:t>string</a:t>
            </a:r>
            <a:r>
              <a:rPr lang="en-US" dirty="0"/>
              <a:t>"  </a:t>
            </a:r>
          </a:p>
          <a:p>
            <a:pPr lvl="1">
              <a:spcAft>
                <a:spcPts val="600"/>
              </a:spcAft>
              <a:buFont typeface="Wingdings" panose="05000000000000000000" pitchFamily="2" charset="2"/>
              <a:buChar char="§"/>
            </a:pPr>
            <a:r>
              <a:rPr lang="en-US" dirty="0"/>
              <a:t>The </a:t>
            </a:r>
            <a:r>
              <a:rPr lang="en-US" b="1" i="1" dirty="0"/>
              <a:t>length</a:t>
            </a:r>
            <a:r>
              <a:rPr lang="en-US" dirty="0"/>
              <a:t> of a string </a:t>
            </a:r>
            <a:r>
              <a:rPr lang="en-US" b="1" i="1" dirty="0"/>
              <a:t>s</a:t>
            </a:r>
            <a:r>
              <a:rPr lang="en-US" dirty="0"/>
              <a:t>, usually written </a:t>
            </a:r>
            <a:r>
              <a:rPr lang="en-US" b="1" dirty="0"/>
              <a:t>|</a:t>
            </a:r>
            <a:r>
              <a:rPr lang="en-US" b="1" i="1" dirty="0"/>
              <a:t>s</a:t>
            </a:r>
            <a:r>
              <a:rPr lang="en-US" b="1" dirty="0"/>
              <a:t>|</a:t>
            </a:r>
            <a:r>
              <a:rPr lang="en-US" dirty="0"/>
              <a:t>, is the number of occurrences of symbols in </a:t>
            </a:r>
            <a:r>
              <a:rPr lang="en-US" b="1" i="1" dirty="0"/>
              <a:t>s</a:t>
            </a:r>
            <a:r>
              <a:rPr lang="en-US" dirty="0"/>
              <a:t>.  </a:t>
            </a:r>
          </a:p>
          <a:p>
            <a:pPr lvl="2">
              <a:spcAft>
                <a:spcPts val="600"/>
              </a:spcAft>
            </a:pPr>
            <a:r>
              <a:rPr lang="en-US" dirty="0"/>
              <a:t>For example,  </a:t>
            </a:r>
            <a:r>
              <a:rPr lang="en-US" b="1" dirty="0">
                <a:solidFill>
                  <a:srgbClr val="FF0000"/>
                </a:solidFill>
              </a:rPr>
              <a:t>banana</a:t>
            </a:r>
            <a:r>
              <a:rPr lang="en-US" dirty="0"/>
              <a:t>  is  a  string  of  length  six. </a:t>
            </a:r>
          </a:p>
          <a:p>
            <a:pPr lvl="1">
              <a:spcAft>
                <a:spcPts val="600"/>
              </a:spcAft>
            </a:pPr>
            <a:r>
              <a:rPr lang="en-US" dirty="0"/>
              <a:t>The empty string, denoted </a:t>
            </a:r>
            <a:r>
              <a:rPr lang="en-US" b="1" i="1" dirty="0">
                <a:solidFill>
                  <a:srgbClr val="FF0000"/>
                </a:solidFill>
              </a:rPr>
              <a:t>Ɛ</a:t>
            </a:r>
            <a:r>
              <a:rPr lang="en-US" dirty="0"/>
              <a:t>, is the string of length zero.</a:t>
            </a:r>
          </a:p>
          <a:p>
            <a:pPr>
              <a:spcAft>
                <a:spcPts val="600"/>
              </a:spcAft>
            </a:pPr>
            <a:r>
              <a:rPr lang="en-US" dirty="0"/>
              <a:t>A </a:t>
            </a:r>
            <a:r>
              <a:rPr lang="en-US" b="1" dirty="0"/>
              <a:t>language</a:t>
            </a:r>
            <a:r>
              <a:rPr lang="en-US" dirty="0"/>
              <a:t> is any countable set of strings over some fixed alphabet.</a:t>
            </a:r>
          </a:p>
          <a:p>
            <a:pPr lvl="1">
              <a:spcAft>
                <a:spcPts val="600"/>
              </a:spcAft>
            </a:pPr>
            <a:r>
              <a:rPr lang="en-US" dirty="0"/>
              <a:t>Abstract languages like </a:t>
            </a:r>
            <a:r>
              <a:rPr lang="en-US" b="1" i="1" dirty="0">
                <a:latin typeface="Symbol" panose="05050102010706020507" pitchFamily="18" charset="2"/>
              </a:rPr>
              <a:t></a:t>
            </a:r>
            <a:r>
              <a:rPr lang="en-US" dirty="0"/>
              <a:t> , the empty set, or </a:t>
            </a:r>
            <a:r>
              <a:rPr lang="en-US" b="1" dirty="0"/>
              <a:t>{</a:t>
            </a:r>
            <a:r>
              <a:rPr lang="en-US" b="1" i="1" dirty="0"/>
              <a:t>Ɛ</a:t>
            </a:r>
            <a:r>
              <a:rPr lang="en-US" b="1" dirty="0"/>
              <a:t>}</a:t>
            </a:r>
            <a:r>
              <a:rPr lang="en-US" dirty="0"/>
              <a:t> , the set containing only the  empty string, are languages under this definition.  </a:t>
            </a:r>
          </a:p>
          <a:p>
            <a:pPr lvl="1">
              <a:spcAft>
                <a:spcPts val="600"/>
              </a:spcAft>
            </a:pPr>
            <a:r>
              <a:rPr lang="en-US" dirty="0"/>
              <a:t>So too are the set of all syntactically well-formed java/c/</a:t>
            </a:r>
            <a:r>
              <a:rPr lang="en-US" dirty="0" err="1"/>
              <a:t>c</a:t>
            </a:r>
            <a:r>
              <a:rPr lang="en-US" baseline="30000" dirty="0" err="1"/>
              <a:t>++</a:t>
            </a:r>
            <a:r>
              <a:rPr lang="en-US" dirty="0"/>
              <a:t> programs and the  set of all grammatically correct English sentences, although the latter two languages are difficult to specify exactly.</a:t>
            </a:r>
          </a:p>
          <a:p>
            <a:pPr>
              <a:spcAft>
                <a:spcPts val="600"/>
              </a:spcAft>
            </a:pPr>
            <a:r>
              <a:rPr lang="en-US" dirty="0"/>
              <a:t>Note that the definition of "</a:t>
            </a:r>
            <a:r>
              <a:rPr lang="en-US" b="1" i="1" dirty="0"/>
              <a:t>language</a:t>
            </a:r>
            <a:r>
              <a:rPr lang="en-US" dirty="0"/>
              <a:t>" does not require that any “meaning” be ascribed to the strings in the language.</a:t>
            </a:r>
          </a:p>
          <a:p>
            <a:pPr>
              <a:spcAft>
                <a:spcPts val="600"/>
              </a:spcAft>
            </a:pPr>
            <a:endParaRPr lang="en-US" dirty="0"/>
          </a:p>
        </p:txBody>
      </p:sp>
      <p:sp>
        <p:nvSpPr>
          <p:cNvPr id="4" name="Slide Number Placeholder 3"/>
          <p:cNvSpPr>
            <a:spLocks noGrp="1"/>
          </p:cNvSpPr>
          <p:nvPr>
            <p:ph type="sldNum" sz="quarter" idx="12"/>
          </p:nvPr>
        </p:nvSpPr>
        <p:spPr/>
        <p:txBody>
          <a:bodyPr/>
          <a:lstStyle/>
          <a:p>
            <a:fld id="{C2C343A0-757D-4032-BC20-DF0A67BD0A50}" type="slidenum">
              <a:rPr lang="en-US" smtClean="0"/>
              <a:t>25</a:t>
            </a:fld>
            <a:endParaRPr lang="en-US"/>
          </a:p>
        </p:txBody>
      </p:sp>
    </p:spTree>
    <p:extLst>
      <p:ext uri="{BB962C8B-B14F-4D97-AF65-F5344CB8AC3E}">
        <p14:creationId xmlns:p14="http://schemas.microsoft.com/office/powerpoint/2010/main" val="3028025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p:sp>
        <p:nvSpPr>
          <p:cNvPr id="3" name="Content Placeholder 2"/>
          <p:cNvSpPr>
            <a:spLocks noGrp="1"/>
          </p:cNvSpPr>
          <p:nvPr>
            <p:ph idx="1"/>
          </p:nvPr>
        </p:nvSpPr>
        <p:spPr>
          <a:xfrm>
            <a:off x="457200" y="1600200"/>
            <a:ext cx="8458200" cy="4953000"/>
          </a:xfrm>
        </p:spPr>
        <p:txBody>
          <a:bodyPr>
            <a:normAutofit fontScale="62500" lnSpcReduction="20000"/>
          </a:bodyPr>
          <a:lstStyle/>
          <a:p>
            <a:pPr marL="0" indent="0">
              <a:spcAft>
                <a:spcPts val="600"/>
              </a:spcAft>
              <a:buNone/>
            </a:pPr>
            <a:r>
              <a:rPr lang="en-US" b="1" dirty="0"/>
              <a:t>Terms for Parts of String</a:t>
            </a:r>
          </a:p>
          <a:p>
            <a:pPr>
              <a:spcAft>
                <a:spcPts val="600"/>
              </a:spcAft>
            </a:pPr>
            <a:r>
              <a:rPr lang="en-US" dirty="0"/>
              <a:t>The following string-related terms are commonly used:</a:t>
            </a:r>
          </a:p>
          <a:p>
            <a:pPr marL="914400" lvl="1" indent="-514350">
              <a:spcAft>
                <a:spcPts val="600"/>
              </a:spcAft>
              <a:buFont typeface="+mj-lt"/>
              <a:buAutoNum type="arabicPeriod"/>
            </a:pPr>
            <a:r>
              <a:rPr lang="en-US" dirty="0"/>
              <a:t>A </a:t>
            </a:r>
            <a:r>
              <a:rPr lang="en-US" b="1" i="1" dirty="0"/>
              <a:t>prefix</a:t>
            </a:r>
            <a:r>
              <a:rPr lang="en-US" dirty="0"/>
              <a:t> of string </a:t>
            </a:r>
            <a:r>
              <a:rPr lang="en-US" b="1" i="1" dirty="0"/>
              <a:t>S</a:t>
            </a:r>
            <a:r>
              <a:rPr lang="en-US" dirty="0"/>
              <a:t> is any string obtained by removing zero or more symbols from the end of </a:t>
            </a:r>
            <a:r>
              <a:rPr lang="en-US" b="1" i="1" dirty="0"/>
              <a:t>S</a:t>
            </a:r>
            <a:r>
              <a:rPr lang="en-US" dirty="0"/>
              <a:t>. </a:t>
            </a:r>
          </a:p>
          <a:p>
            <a:pPr lvl="2">
              <a:spcAft>
                <a:spcPts val="600"/>
              </a:spcAft>
            </a:pPr>
            <a:r>
              <a:rPr lang="en-US" dirty="0"/>
              <a:t>For example, </a:t>
            </a:r>
            <a:r>
              <a:rPr lang="en-US" b="1" i="1" dirty="0">
                <a:solidFill>
                  <a:srgbClr val="FF0000"/>
                </a:solidFill>
              </a:rPr>
              <a:t>ban</a:t>
            </a:r>
            <a:r>
              <a:rPr lang="en-US" dirty="0"/>
              <a:t>, </a:t>
            </a:r>
            <a:r>
              <a:rPr lang="en-US" b="1" i="1" dirty="0">
                <a:solidFill>
                  <a:srgbClr val="FF0000"/>
                </a:solidFill>
              </a:rPr>
              <a:t>banana</a:t>
            </a:r>
            <a:r>
              <a:rPr lang="en-US" dirty="0"/>
              <a:t>, and </a:t>
            </a:r>
            <a:r>
              <a:rPr lang="en-US" b="1" i="1" dirty="0">
                <a:solidFill>
                  <a:srgbClr val="FF0000"/>
                </a:solidFill>
              </a:rPr>
              <a:t>Ɛ</a:t>
            </a:r>
            <a:r>
              <a:rPr lang="en-US" dirty="0"/>
              <a:t> are prefixes of </a:t>
            </a:r>
            <a:r>
              <a:rPr lang="en-US" b="1" i="1" dirty="0">
                <a:solidFill>
                  <a:srgbClr val="FF0000"/>
                </a:solidFill>
              </a:rPr>
              <a:t>banana</a:t>
            </a:r>
            <a:r>
              <a:rPr lang="en-US" dirty="0"/>
              <a:t>.</a:t>
            </a:r>
          </a:p>
          <a:p>
            <a:pPr marL="914400" lvl="1" indent="-514350">
              <a:spcAft>
                <a:spcPts val="600"/>
              </a:spcAft>
              <a:buFont typeface="+mj-lt"/>
              <a:buAutoNum type="arabicPeriod"/>
            </a:pPr>
            <a:r>
              <a:rPr lang="en-US" dirty="0"/>
              <a:t>A </a:t>
            </a:r>
            <a:r>
              <a:rPr lang="en-US" b="1" i="1" dirty="0"/>
              <a:t>suffix</a:t>
            </a:r>
            <a:r>
              <a:rPr lang="en-US" dirty="0"/>
              <a:t> of string </a:t>
            </a:r>
            <a:r>
              <a:rPr lang="en-US" b="1" i="1" dirty="0"/>
              <a:t>S</a:t>
            </a:r>
            <a:r>
              <a:rPr lang="en-US" dirty="0"/>
              <a:t> is any string obtained by removing zero or more symbols from the beginning of </a:t>
            </a:r>
            <a:r>
              <a:rPr lang="en-US" b="1" i="1" dirty="0"/>
              <a:t>S</a:t>
            </a:r>
            <a:r>
              <a:rPr lang="en-US" dirty="0"/>
              <a:t>. </a:t>
            </a:r>
          </a:p>
          <a:p>
            <a:pPr lvl="2">
              <a:spcAft>
                <a:spcPts val="600"/>
              </a:spcAft>
            </a:pPr>
            <a:r>
              <a:rPr lang="en-US" dirty="0"/>
              <a:t>For example, </a:t>
            </a:r>
            <a:r>
              <a:rPr lang="en-US" b="1" i="1" dirty="0">
                <a:solidFill>
                  <a:srgbClr val="FF0000"/>
                </a:solidFill>
              </a:rPr>
              <a:t>nana</a:t>
            </a:r>
            <a:r>
              <a:rPr lang="en-US" dirty="0"/>
              <a:t>, </a:t>
            </a:r>
            <a:r>
              <a:rPr lang="en-US" b="1" i="1" dirty="0">
                <a:solidFill>
                  <a:srgbClr val="FF0000"/>
                </a:solidFill>
              </a:rPr>
              <a:t>banana</a:t>
            </a:r>
            <a:r>
              <a:rPr lang="en-US" dirty="0"/>
              <a:t>, and </a:t>
            </a:r>
            <a:r>
              <a:rPr lang="en-US" b="1" i="1" dirty="0">
                <a:solidFill>
                  <a:srgbClr val="FF0000"/>
                </a:solidFill>
              </a:rPr>
              <a:t>Ɛ</a:t>
            </a:r>
            <a:r>
              <a:rPr lang="en-US" dirty="0"/>
              <a:t> are suffixes of </a:t>
            </a:r>
            <a:r>
              <a:rPr lang="en-US" b="1" i="1" dirty="0">
                <a:solidFill>
                  <a:srgbClr val="FF0000"/>
                </a:solidFill>
              </a:rPr>
              <a:t>banana</a:t>
            </a:r>
            <a:r>
              <a:rPr lang="en-US" dirty="0"/>
              <a:t>.</a:t>
            </a:r>
          </a:p>
          <a:p>
            <a:pPr marL="914400" lvl="1" indent="-514350">
              <a:spcAft>
                <a:spcPts val="600"/>
              </a:spcAft>
              <a:buFont typeface="+mj-lt"/>
              <a:buAutoNum type="arabicPeriod"/>
            </a:pPr>
            <a:r>
              <a:rPr lang="en-US" dirty="0"/>
              <a:t>A </a:t>
            </a:r>
            <a:r>
              <a:rPr lang="en-US" b="1" i="1" dirty="0"/>
              <a:t>substring</a:t>
            </a:r>
            <a:r>
              <a:rPr lang="en-US" dirty="0"/>
              <a:t> of </a:t>
            </a:r>
            <a:r>
              <a:rPr lang="en-US" b="1" i="1" dirty="0"/>
              <a:t>S </a:t>
            </a:r>
            <a:r>
              <a:rPr lang="en-US" dirty="0"/>
              <a:t>is obtained by deleting any prefix and any suffix from </a:t>
            </a:r>
            <a:r>
              <a:rPr lang="en-US" b="1" i="1" dirty="0"/>
              <a:t>S</a:t>
            </a:r>
            <a:r>
              <a:rPr lang="en-US" dirty="0"/>
              <a:t>. </a:t>
            </a:r>
          </a:p>
          <a:p>
            <a:pPr lvl="2">
              <a:spcAft>
                <a:spcPts val="600"/>
              </a:spcAft>
            </a:pPr>
            <a:r>
              <a:rPr lang="en-US" dirty="0"/>
              <a:t>For instance, </a:t>
            </a:r>
            <a:r>
              <a:rPr lang="en-US" b="1" i="1" dirty="0">
                <a:solidFill>
                  <a:srgbClr val="FF0000"/>
                </a:solidFill>
              </a:rPr>
              <a:t>banana</a:t>
            </a:r>
            <a:r>
              <a:rPr lang="en-US" dirty="0"/>
              <a:t>, </a:t>
            </a:r>
            <a:r>
              <a:rPr lang="en-US" b="1" i="1" dirty="0">
                <a:solidFill>
                  <a:srgbClr val="FF0000"/>
                </a:solidFill>
              </a:rPr>
              <a:t>nan</a:t>
            </a:r>
            <a:r>
              <a:rPr lang="en-US" dirty="0"/>
              <a:t>, and </a:t>
            </a:r>
            <a:r>
              <a:rPr lang="en-US" b="1" i="1" dirty="0">
                <a:solidFill>
                  <a:srgbClr val="FF0000"/>
                </a:solidFill>
              </a:rPr>
              <a:t>Ɛ</a:t>
            </a:r>
            <a:r>
              <a:rPr lang="en-US" dirty="0"/>
              <a:t> are substrings of </a:t>
            </a:r>
            <a:r>
              <a:rPr lang="en-US" b="1" i="1" dirty="0">
                <a:solidFill>
                  <a:srgbClr val="FF0000"/>
                </a:solidFill>
              </a:rPr>
              <a:t>banana</a:t>
            </a:r>
            <a:r>
              <a:rPr lang="en-US" dirty="0"/>
              <a:t>.</a:t>
            </a:r>
          </a:p>
          <a:p>
            <a:pPr marL="971550" lvl="1" indent="-514350">
              <a:spcAft>
                <a:spcPts val="600"/>
              </a:spcAft>
              <a:buFont typeface="+mj-lt"/>
              <a:buAutoNum type="arabicPeriod"/>
            </a:pPr>
            <a:r>
              <a:rPr lang="en-US" dirty="0"/>
              <a:t>The </a:t>
            </a:r>
            <a:r>
              <a:rPr lang="en-US" b="1" i="1" dirty="0"/>
              <a:t>proper prefixes</a:t>
            </a:r>
            <a:r>
              <a:rPr lang="en-US" dirty="0"/>
              <a:t>, </a:t>
            </a:r>
            <a:r>
              <a:rPr lang="en-US" b="1" i="1" dirty="0"/>
              <a:t>suffixes</a:t>
            </a:r>
            <a:r>
              <a:rPr lang="en-US" dirty="0"/>
              <a:t>, and </a:t>
            </a:r>
            <a:r>
              <a:rPr lang="en-US" b="1" i="1" dirty="0"/>
              <a:t>substrings</a:t>
            </a:r>
            <a:r>
              <a:rPr lang="en-US" dirty="0"/>
              <a:t> of a string </a:t>
            </a:r>
            <a:r>
              <a:rPr lang="en-US" b="1" i="1" dirty="0"/>
              <a:t>S</a:t>
            </a:r>
            <a:r>
              <a:rPr lang="en-US" dirty="0"/>
              <a:t> are those, prefixes, suffixes, and substrings, respectively, of </a:t>
            </a:r>
            <a:r>
              <a:rPr lang="en-US" b="1" i="1" dirty="0"/>
              <a:t>S</a:t>
            </a:r>
            <a:r>
              <a:rPr lang="en-US" dirty="0"/>
              <a:t> that are not </a:t>
            </a:r>
            <a:r>
              <a:rPr lang="en-US" b="1" i="1" dirty="0">
                <a:solidFill>
                  <a:srgbClr val="C00000"/>
                </a:solidFill>
              </a:rPr>
              <a:t>Ɛ</a:t>
            </a:r>
            <a:r>
              <a:rPr lang="en-US" dirty="0"/>
              <a:t> or not equal to </a:t>
            </a:r>
            <a:r>
              <a:rPr lang="en-US" b="1" i="1" dirty="0"/>
              <a:t>S</a:t>
            </a:r>
            <a:r>
              <a:rPr lang="en-US" dirty="0"/>
              <a:t> itself. </a:t>
            </a:r>
          </a:p>
          <a:p>
            <a:pPr marL="914400" lvl="1" indent="-514350">
              <a:spcAft>
                <a:spcPts val="600"/>
              </a:spcAft>
              <a:buFont typeface="+mj-lt"/>
              <a:buAutoNum type="arabicPeriod"/>
            </a:pPr>
            <a:r>
              <a:rPr lang="en-US" dirty="0"/>
              <a:t>A </a:t>
            </a:r>
            <a:r>
              <a:rPr lang="en-US" b="1" i="1" dirty="0"/>
              <a:t>subsequence</a:t>
            </a:r>
            <a:r>
              <a:rPr lang="en-US" dirty="0"/>
              <a:t> of </a:t>
            </a:r>
            <a:r>
              <a:rPr lang="en-US" b="1" i="1" dirty="0"/>
              <a:t>S</a:t>
            </a:r>
            <a:r>
              <a:rPr lang="en-US" dirty="0"/>
              <a:t> is any string formed by deleting zero or more not necessarily consecutive positions of </a:t>
            </a:r>
            <a:r>
              <a:rPr lang="en-US" b="1" i="1" dirty="0"/>
              <a:t>S</a:t>
            </a:r>
            <a:r>
              <a:rPr lang="en-US" dirty="0"/>
              <a:t>. </a:t>
            </a:r>
          </a:p>
          <a:p>
            <a:pPr lvl="2">
              <a:spcAft>
                <a:spcPts val="600"/>
              </a:spcAft>
            </a:pPr>
            <a:r>
              <a:rPr lang="en-US" dirty="0"/>
              <a:t>For example, </a:t>
            </a:r>
            <a:r>
              <a:rPr lang="en-US" b="1" i="1" dirty="0" err="1">
                <a:solidFill>
                  <a:srgbClr val="C00000"/>
                </a:solidFill>
              </a:rPr>
              <a:t>baan</a:t>
            </a:r>
            <a:r>
              <a:rPr lang="en-US" dirty="0">
                <a:solidFill>
                  <a:srgbClr val="C00000"/>
                </a:solidFill>
              </a:rPr>
              <a:t> </a:t>
            </a:r>
            <a:r>
              <a:rPr lang="en-US" dirty="0"/>
              <a:t>is a subsequence of </a:t>
            </a:r>
            <a:r>
              <a:rPr lang="en-US"/>
              <a:t>banana.</a:t>
            </a:r>
            <a:endParaRPr lang="en-US" dirty="0"/>
          </a:p>
        </p:txBody>
      </p:sp>
      <p:sp>
        <p:nvSpPr>
          <p:cNvPr id="4" name="Slide Number Placeholder 3"/>
          <p:cNvSpPr>
            <a:spLocks noGrp="1"/>
          </p:cNvSpPr>
          <p:nvPr>
            <p:ph type="sldNum" sz="quarter" idx="12"/>
          </p:nvPr>
        </p:nvSpPr>
        <p:spPr/>
        <p:txBody>
          <a:bodyPr/>
          <a:lstStyle/>
          <a:p>
            <a:fld id="{C2C343A0-757D-4032-BC20-DF0A67BD0A50}" type="slidenum">
              <a:rPr lang="en-US" smtClean="0"/>
              <a:t>26</a:t>
            </a:fld>
            <a:endParaRPr lang="en-US"/>
          </a:p>
        </p:txBody>
      </p:sp>
    </p:spTree>
    <p:extLst>
      <p:ext uri="{BB962C8B-B14F-4D97-AF65-F5344CB8AC3E}">
        <p14:creationId xmlns:p14="http://schemas.microsoft.com/office/powerpoint/2010/main" val="762285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458200" cy="4953000"/>
              </a:xfrm>
            </p:spPr>
            <p:txBody>
              <a:bodyPr>
                <a:normAutofit fontScale="55000" lnSpcReduction="20000"/>
              </a:bodyPr>
              <a:lstStyle/>
              <a:p>
                <a:pPr marL="0" indent="0">
                  <a:spcAft>
                    <a:spcPts val="600"/>
                  </a:spcAft>
                  <a:buNone/>
                </a:pPr>
                <a:r>
                  <a:rPr lang="en-US" b="1" dirty="0"/>
                  <a:t>Operations on Languages</a:t>
                </a:r>
              </a:p>
              <a:p>
                <a:pPr>
                  <a:spcAft>
                    <a:spcPts val="600"/>
                  </a:spcAft>
                </a:pPr>
                <a:r>
                  <a:rPr lang="en-US" dirty="0"/>
                  <a:t>The following string-related terms are commonly used:</a:t>
                </a:r>
              </a:p>
              <a:p>
                <a:pPr>
                  <a:spcAft>
                    <a:spcPts val="600"/>
                  </a:spcAft>
                </a:pPr>
                <a:r>
                  <a:rPr lang="en-US" dirty="0"/>
                  <a:t>In lexical analysis, the most important operations on languages are </a:t>
                </a:r>
                <a:r>
                  <a:rPr lang="en-US" b="1" i="1" dirty="0"/>
                  <a:t>union</a:t>
                </a:r>
                <a:r>
                  <a:rPr lang="en-US" dirty="0"/>
                  <a:t>, </a:t>
                </a:r>
                <a:r>
                  <a:rPr lang="en-US" b="1" i="1" dirty="0"/>
                  <a:t>concatenation</a:t>
                </a:r>
                <a:r>
                  <a:rPr lang="en-US" dirty="0"/>
                  <a:t>, and </a:t>
                </a:r>
                <a:r>
                  <a:rPr lang="en-US" b="1" i="1" dirty="0"/>
                  <a:t>closure</a:t>
                </a:r>
                <a:r>
                  <a:rPr lang="en-US" dirty="0"/>
                  <a:t>, which are defined formally below:</a:t>
                </a:r>
              </a:p>
              <a:p>
                <a:pPr marL="914400" lvl="1" indent="-514350">
                  <a:spcAft>
                    <a:spcPts val="600"/>
                  </a:spcAft>
                  <a:buFont typeface="+mj-lt"/>
                  <a:buAutoNum type="arabicPeriod"/>
                </a:pPr>
                <a:r>
                  <a:rPr lang="en-US" b="1" dirty="0">
                    <a:solidFill>
                      <a:srgbClr val="000099"/>
                    </a:solidFill>
                  </a:rPr>
                  <a:t>Union (U)</a:t>
                </a:r>
                <a:r>
                  <a:rPr lang="en-US" dirty="0"/>
                  <a:t>:- is the familiar operation on sets. </a:t>
                </a:r>
              </a:p>
              <a:p>
                <a:pPr lvl="2">
                  <a:spcAft>
                    <a:spcPts val="600"/>
                  </a:spcAft>
                </a:pPr>
                <a:r>
                  <a:rPr lang="en-US" dirty="0"/>
                  <a:t>Example Union of </a:t>
                </a:r>
                <a:r>
                  <a:rPr lang="en-US" b="1" i="1" dirty="0"/>
                  <a:t>L</a:t>
                </a:r>
                <a:r>
                  <a:rPr lang="en-US" dirty="0"/>
                  <a:t> and </a:t>
                </a:r>
                <a:r>
                  <a:rPr lang="en-US" b="1" i="1" dirty="0"/>
                  <a:t>M</a:t>
                </a:r>
                <a:r>
                  <a:rPr lang="en-US" dirty="0"/>
                  <a:t>, </a:t>
                </a:r>
                <a14:m>
                  <m:oMath xmlns:m="http://schemas.openxmlformats.org/officeDocument/2006/math">
                    <m:r>
                      <a:rPr lang="en-US" b="1" i="1" dirty="0" smtClean="0">
                        <a:latin typeface="Cambria Math" panose="02040503050406030204" pitchFamily="18" charset="0"/>
                      </a:rPr>
                      <m:t>𝑳𝑼𝑴</m:t>
                    </m:r>
                    <m:r>
                      <a:rPr lang="en-US" b="1" i="1" dirty="0" smtClean="0">
                        <a:latin typeface="Cambria Math" panose="02040503050406030204" pitchFamily="18" charset="0"/>
                      </a:rPr>
                      <m:t> = </m:t>
                    </m:r>
                    <m:d>
                      <m:dPr>
                        <m:begChr m:val="{"/>
                        <m:endChr m:val="|"/>
                        <m:ctrlPr>
                          <a:rPr lang="en-US" b="1" i="1" dirty="0" smtClean="0">
                            <a:latin typeface="Cambria Math" panose="02040503050406030204" pitchFamily="18" charset="0"/>
                          </a:rPr>
                        </m:ctrlPr>
                      </m:dPr>
                      <m:e>
                        <m:r>
                          <a:rPr lang="en-US" b="1" i="1" dirty="0" smtClean="0">
                            <a:latin typeface="Cambria Math" panose="02040503050406030204" pitchFamily="18" charset="0"/>
                          </a:rPr>
                          <m:t> </m:t>
                        </m:r>
                        <m:r>
                          <a:rPr lang="en-US" b="1" i="1" dirty="0" err="1">
                            <a:latin typeface="Cambria Math" panose="02040503050406030204" pitchFamily="18" charset="0"/>
                          </a:rPr>
                          <m:t>𝒔</m:t>
                        </m:r>
                        <m:r>
                          <a:rPr lang="en-US" b="1" i="1" dirty="0" smtClean="0">
                            <a:latin typeface="Cambria Math" panose="02040503050406030204" pitchFamily="18" charset="0"/>
                          </a:rPr>
                          <m:t> </m:t>
                        </m:r>
                      </m:e>
                    </m:d>
                    <m:r>
                      <a:rPr lang="en-US" b="1" i="1" dirty="0" smtClean="0">
                        <a:latin typeface="Cambria Math" panose="02040503050406030204" pitchFamily="18" charset="0"/>
                      </a:rPr>
                      <m:t> </m:t>
                    </m:r>
                    <m:r>
                      <a:rPr lang="en-US" b="1" i="1" dirty="0" err="1">
                        <a:latin typeface="Cambria Math" panose="02040503050406030204" pitchFamily="18" charset="0"/>
                      </a:rPr>
                      <m:t>𝒔</m:t>
                    </m:r>
                    <m:r>
                      <a:rPr lang="en-US" b="1" i="1" dirty="0" smtClean="0">
                        <a:latin typeface="Cambria Math" panose="02040503050406030204" pitchFamily="18" charset="0"/>
                      </a:rPr>
                      <m:t> </m:t>
                    </m:r>
                    <m:r>
                      <a:rPr lang="en-US" b="1" i="1" dirty="0">
                        <a:latin typeface="Cambria Math" panose="02040503050406030204" pitchFamily="18" charset="0"/>
                      </a:rPr>
                      <m:t> </m:t>
                    </m:r>
                    <m:r>
                      <a:rPr lang="en-US" b="1" i="1" dirty="0">
                        <a:latin typeface="Cambria Math" panose="02040503050406030204" pitchFamily="18" charset="0"/>
                      </a:rPr>
                      <m:t>𝒊𝒔</m:t>
                    </m:r>
                    <m:r>
                      <a:rPr lang="en-US" b="1" i="1" dirty="0">
                        <a:latin typeface="Cambria Math" panose="02040503050406030204" pitchFamily="18" charset="0"/>
                      </a:rPr>
                      <m:t> </m:t>
                    </m:r>
                    <m:r>
                      <a:rPr lang="en-US" b="1" i="1" dirty="0">
                        <a:latin typeface="Cambria Math" panose="02040503050406030204" pitchFamily="18" charset="0"/>
                      </a:rPr>
                      <m:t>𝒊𝒏</m:t>
                    </m:r>
                    <m:r>
                      <a:rPr lang="en-US" b="1" i="1" dirty="0">
                        <a:latin typeface="Cambria Math" panose="02040503050406030204" pitchFamily="18" charset="0"/>
                      </a:rPr>
                      <m:t> </m:t>
                    </m:r>
                    <m:r>
                      <a:rPr lang="en-US" b="1" i="1" dirty="0">
                        <a:latin typeface="Cambria Math" panose="02040503050406030204" pitchFamily="18" charset="0"/>
                      </a:rPr>
                      <m:t>𝑳</m:t>
                    </m:r>
                    <m:r>
                      <a:rPr lang="en-US" b="1" i="1" dirty="0">
                        <a:latin typeface="Cambria Math" panose="02040503050406030204" pitchFamily="18" charset="0"/>
                      </a:rPr>
                      <m:t> </m:t>
                    </m:r>
                    <m:r>
                      <a:rPr lang="en-US" b="1" i="1" dirty="0">
                        <a:latin typeface="Cambria Math" panose="02040503050406030204" pitchFamily="18" charset="0"/>
                      </a:rPr>
                      <m:t>𝒐𝒓</m:t>
                    </m:r>
                    <m:r>
                      <a:rPr lang="en-US" b="1" i="1" dirty="0">
                        <a:latin typeface="Cambria Math" panose="02040503050406030204" pitchFamily="18" charset="0"/>
                      </a:rPr>
                      <m:t> </m:t>
                    </m:r>
                    <m:r>
                      <a:rPr lang="en-US" b="1" i="1" dirty="0">
                        <a:latin typeface="Cambria Math" panose="02040503050406030204" pitchFamily="18" charset="0"/>
                      </a:rPr>
                      <m:t>𝒔</m:t>
                    </m:r>
                    <m:r>
                      <a:rPr lang="en-US" b="1" i="1" dirty="0">
                        <a:latin typeface="Cambria Math" panose="02040503050406030204" pitchFamily="18" charset="0"/>
                      </a:rPr>
                      <m:t> </m:t>
                    </m:r>
                    <m:r>
                      <a:rPr lang="en-US" b="1" i="1" dirty="0">
                        <a:latin typeface="Cambria Math" panose="02040503050406030204" pitchFamily="18" charset="0"/>
                      </a:rPr>
                      <m:t>𝒊𝒔</m:t>
                    </m:r>
                    <m:r>
                      <a:rPr lang="en-US" b="1" i="1" dirty="0">
                        <a:latin typeface="Cambria Math" panose="02040503050406030204" pitchFamily="18" charset="0"/>
                      </a:rPr>
                      <m:t> </m:t>
                    </m:r>
                    <m:r>
                      <a:rPr lang="en-US" b="1" i="1" dirty="0">
                        <a:latin typeface="Cambria Math" panose="02040503050406030204" pitchFamily="18" charset="0"/>
                      </a:rPr>
                      <m:t>𝒊𝒏</m:t>
                    </m:r>
                    <m:r>
                      <a:rPr lang="en-US" b="1" i="1" dirty="0">
                        <a:latin typeface="Cambria Math" panose="02040503050406030204" pitchFamily="18" charset="0"/>
                      </a:rPr>
                      <m:t> </m:t>
                    </m:r>
                    <m:r>
                      <a:rPr lang="en-US" b="1" i="1" dirty="0">
                        <a:latin typeface="Cambria Math" panose="02040503050406030204" pitchFamily="18" charset="0"/>
                      </a:rPr>
                      <m:t>𝑴</m:t>
                    </m:r>
                    <m:r>
                      <a:rPr lang="en-US" b="1" i="1" dirty="0">
                        <a:latin typeface="Cambria Math" panose="02040503050406030204" pitchFamily="18" charset="0"/>
                      </a:rPr>
                      <m:t>}</m:t>
                    </m:r>
                  </m:oMath>
                </a14:m>
                <a:endParaRPr lang="en-US" b="1" dirty="0"/>
              </a:p>
              <a:p>
                <a:pPr marL="914400" lvl="1" indent="-514350">
                  <a:spcAft>
                    <a:spcPts val="600"/>
                  </a:spcAft>
                  <a:buFont typeface="+mj-lt"/>
                  <a:buAutoNum type="arabicPeriod"/>
                </a:pPr>
                <a:r>
                  <a:rPr lang="en-US" b="1" dirty="0">
                    <a:solidFill>
                      <a:srgbClr val="000099"/>
                    </a:solidFill>
                  </a:rPr>
                  <a:t>Concatenation</a:t>
                </a:r>
                <a:r>
                  <a:rPr lang="en-US" dirty="0"/>
                  <a:t>:- is all strings formed by taking a string from the first language and a string from the second language, in all possible ways, and concatenating them.</a:t>
                </a:r>
              </a:p>
              <a:p>
                <a:pPr lvl="2">
                  <a:spcAft>
                    <a:spcPts val="600"/>
                  </a:spcAft>
                </a:pPr>
                <a:r>
                  <a:rPr lang="en-US" dirty="0"/>
                  <a:t>Example Concatenation of </a:t>
                </a:r>
                <a:r>
                  <a:rPr lang="en-US" b="1" i="1" dirty="0"/>
                  <a:t>L </a:t>
                </a:r>
                <a:r>
                  <a:rPr lang="en-US" dirty="0"/>
                  <a:t>and </a:t>
                </a:r>
                <a:r>
                  <a:rPr lang="en-US" b="1" i="1" dirty="0"/>
                  <a:t>M</a:t>
                </a:r>
                <a:r>
                  <a:rPr lang="en-US" dirty="0"/>
                  <a:t>, </a:t>
                </a:r>
                <a14:m>
                  <m:oMath xmlns:m="http://schemas.openxmlformats.org/officeDocument/2006/math">
                    <m:r>
                      <a:rPr lang="en-US" b="1" i="1" dirty="0" smtClean="0">
                        <a:latin typeface="Cambria Math" panose="02040503050406030204" pitchFamily="18" charset="0"/>
                      </a:rPr>
                      <m:t>𝑳𝑴</m:t>
                    </m:r>
                    <m:r>
                      <a:rPr lang="en-US" b="1" i="1" dirty="0" smtClean="0">
                        <a:latin typeface="Cambria Math" panose="02040503050406030204" pitchFamily="18" charset="0"/>
                      </a:rPr>
                      <m:t> = </m:t>
                    </m:r>
                    <m:d>
                      <m:dPr>
                        <m:begChr m:val="{"/>
                        <m:endChr m:val="|"/>
                        <m:ctrlPr>
                          <a:rPr lang="en-US" b="1" i="1" dirty="0" smtClean="0">
                            <a:latin typeface="Cambria Math" panose="02040503050406030204" pitchFamily="18" charset="0"/>
                          </a:rPr>
                        </m:ctrlPr>
                      </m:dPr>
                      <m:e>
                        <m:r>
                          <a:rPr lang="en-US" b="1" i="1" dirty="0" smtClean="0">
                            <a:latin typeface="Cambria Math" panose="02040503050406030204" pitchFamily="18" charset="0"/>
                          </a:rPr>
                          <m:t> </m:t>
                        </m:r>
                        <m:r>
                          <a:rPr lang="en-US" b="1" i="1" dirty="0" err="1">
                            <a:latin typeface="Cambria Math" panose="02040503050406030204" pitchFamily="18" charset="0"/>
                          </a:rPr>
                          <m:t>𝒔𝒕</m:t>
                        </m:r>
                        <m:r>
                          <a:rPr lang="en-US" b="1" i="1" dirty="0" smtClean="0">
                            <a:latin typeface="Cambria Math" panose="02040503050406030204" pitchFamily="18" charset="0"/>
                          </a:rPr>
                          <m:t> </m:t>
                        </m:r>
                      </m:e>
                    </m:d>
                    <m:r>
                      <a:rPr lang="en-US" b="1" i="1" dirty="0" smtClean="0">
                        <a:latin typeface="Cambria Math" panose="02040503050406030204" pitchFamily="18" charset="0"/>
                      </a:rPr>
                      <m:t> </m:t>
                    </m:r>
                    <m:r>
                      <a:rPr lang="en-US" b="1" i="1" dirty="0" err="1">
                        <a:latin typeface="Cambria Math" panose="02040503050406030204" pitchFamily="18" charset="0"/>
                      </a:rPr>
                      <m:t>𝒔</m:t>
                    </m:r>
                    <m:r>
                      <a:rPr lang="en-US" b="1" i="1" dirty="0">
                        <a:latin typeface="Cambria Math" panose="02040503050406030204" pitchFamily="18" charset="0"/>
                      </a:rPr>
                      <m:t> </m:t>
                    </m:r>
                    <m:r>
                      <a:rPr lang="en-US" b="1" i="1" dirty="0">
                        <a:latin typeface="Cambria Math" panose="02040503050406030204" pitchFamily="18" charset="0"/>
                      </a:rPr>
                      <m:t>𝒊𝒔</m:t>
                    </m:r>
                    <m:r>
                      <a:rPr lang="en-US" b="1" i="1" dirty="0">
                        <a:latin typeface="Cambria Math" panose="02040503050406030204" pitchFamily="18" charset="0"/>
                      </a:rPr>
                      <m:t> </m:t>
                    </m:r>
                    <m:r>
                      <a:rPr lang="en-US" b="1" i="1" dirty="0">
                        <a:latin typeface="Cambria Math" panose="02040503050406030204" pitchFamily="18" charset="0"/>
                      </a:rPr>
                      <m:t>𝒊𝒏</m:t>
                    </m:r>
                    <m:r>
                      <a:rPr lang="en-US" b="1" i="1" dirty="0">
                        <a:latin typeface="Cambria Math" panose="02040503050406030204" pitchFamily="18" charset="0"/>
                      </a:rPr>
                      <m:t> </m:t>
                    </m:r>
                    <m:r>
                      <a:rPr lang="en-US" b="1" i="1" dirty="0">
                        <a:latin typeface="Cambria Math" panose="02040503050406030204" pitchFamily="18" charset="0"/>
                      </a:rPr>
                      <m:t>𝑳</m:t>
                    </m:r>
                    <m:r>
                      <a:rPr lang="en-US" b="1" i="1" dirty="0">
                        <a:latin typeface="Cambria Math" panose="02040503050406030204" pitchFamily="18" charset="0"/>
                      </a:rPr>
                      <m:t> </m:t>
                    </m:r>
                    <m:r>
                      <a:rPr lang="en-US" b="1" i="1" dirty="0">
                        <a:latin typeface="Cambria Math" panose="02040503050406030204" pitchFamily="18" charset="0"/>
                      </a:rPr>
                      <m:t>𝒂𝒏𝒅</m:t>
                    </m:r>
                    <m:r>
                      <a:rPr lang="en-US" b="1" i="1" dirty="0">
                        <a:latin typeface="Cambria Math" panose="02040503050406030204" pitchFamily="18" charset="0"/>
                      </a:rPr>
                      <m:t> </m:t>
                    </m:r>
                    <m:r>
                      <a:rPr lang="en-US" b="1" i="1" dirty="0">
                        <a:latin typeface="Cambria Math" panose="02040503050406030204" pitchFamily="18" charset="0"/>
                      </a:rPr>
                      <m:t>𝒕</m:t>
                    </m:r>
                    <m:r>
                      <a:rPr lang="en-US" b="1" i="1" dirty="0">
                        <a:latin typeface="Cambria Math" panose="02040503050406030204" pitchFamily="18" charset="0"/>
                      </a:rPr>
                      <m:t> </m:t>
                    </m:r>
                    <m:r>
                      <a:rPr lang="en-US" b="1" i="1" dirty="0">
                        <a:latin typeface="Cambria Math" panose="02040503050406030204" pitchFamily="18" charset="0"/>
                      </a:rPr>
                      <m:t>𝒊𝒔</m:t>
                    </m:r>
                    <m:r>
                      <a:rPr lang="en-US" b="1" i="1" dirty="0">
                        <a:latin typeface="Cambria Math" panose="02040503050406030204" pitchFamily="18" charset="0"/>
                      </a:rPr>
                      <m:t> </m:t>
                    </m:r>
                    <m:r>
                      <a:rPr lang="en-US" b="1" i="1" dirty="0">
                        <a:latin typeface="Cambria Math" panose="02040503050406030204" pitchFamily="18" charset="0"/>
                      </a:rPr>
                      <m:t>𝒊𝒏</m:t>
                    </m:r>
                    <m:r>
                      <a:rPr lang="en-US" b="1" i="1" dirty="0">
                        <a:latin typeface="Cambria Math" panose="02040503050406030204" pitchFamily="18" charset="0"/>
                      </a:rPr>
                      <m:t> </m:t>
                    </m:r>
                    <m:r>
                      <a:rPr lang="en-US" b="1" i="1" dirty="0">
                        <a:latin typeface="Cambria Math" panose="02040503050406030204" pitchFamily="18" charset="0"/>
                      </a:rPr>
                      <m:t>𝑴</m:t>
                    </m:r>
                    <m:r>
                      <a:rPr lang="en-US" b="1" i="1" dirty="0">
                        <a:latin typeface="Cambria Math" panose="02040503050406030204" pitchFamily="18" charset="0"/>
                      </a:rPr>
                      <m:t>}</m:t>
                    </m:r>
                  </m:oMath>
                </a14:m>
                <a:endParaRPr lang="en-US" b="1" dirty="0"/>
              </a:p>
              <a:p>
                <a:pPr marL="914400" lvl="1" indent="-514350">
                  <a:spcAft>
                    <a:spcPts val="600"/>
                  </a:spcAft>
                  <a:buFont typeface="+mj-lt"/>
                  <a:buAutoNum type="arabicPeriod"/>
                </a:pPr>
                <a:r>
                  <a:rPr lang="en-US" b="1" dirty="0">
                    <a:solidFill>
                      <a:srgbClr val="000099"/>
                    </a:solidFill>
                  </a:rPr>
                  <a:t>Kleene closure</a:t>
                </a:r>
                <a:r>
                  <a:rPr lang="en-US" dirty="0"/>
                  <a:t>:- the </a:t>
                </a:r>
                <a:r>
                  <a:rPr lang="en-US" dirty="0" err="1"/>
                  <a:t>kleene</a:t>
                </a:r>
                <a:r>
                  <a:rPr lang="en-US" dirty="0"/>
                  <a:t> closure of a language </a:t>
                </a:r>
                <a:r>
                  <a:rPr lang="en-US" b="1" i="1" dirty="0"/>
                  <a:t>L</a:t>
                </a:r>
                <a:r>
                  <a:rPr lang="en-US" dirty="0"/>
                  <a:t>, denoted by </a:t>
                </a:r>
                <a:r>
                  <a:rPr lang="en-US" b="1" i="1" dirty="0"/>
                  <a:t>L*</a:t>
                </a:r>
                <a:r>
                  <a:rPr lang="en-US" dirty="0"/>
                  <a:t>, is the set of strings you get by concatenating </a:t>
                </a:r>
                <a:r>
                  <a:rPr lang="en-US" b="1" i="1" dirty="0"/>
                  <a:t>L</a:t>
                </a:r>
                <a:r>
                  <a:rPr lang="en-US" dirty="0"/>
                  <a:t> zero, or more times.</a:t>
                </a:r>
              </a:p>
              <a:p>
                <a:pPr lvl="2">
                  <a:spcAft>
                    <a:spcPts val="600"/>
                  </a:spcAft>
                </a:pPr>
                <a:r>
                  <a:rPr lang="en-US" dirty="0"/>
                  <a:t>Example Kleene closure of </a:t>
                </a:r>
                <a:r>
                  <a:rPr lang="en-US" b="1" i="1" dirty="0"/>
                  <a:t>L</a:t>
                </a:r>
                <a:r>
                  <a:rPr lang="en-US" dirty="0"/>
                  <a:t>,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𝑳</m:t>
                        </m:r>
                      </m:e>
                      <m:sup>
                        <m:r>
                          <a:rPr lang="en-US" b="1" i="1" smtClean="0">
                            <a:latin typeface="Cambria Math" panose="02040503050406030204" pitchFamily="18" charset="0"/>
                          </a:rPr>
                          <m:t>∗</m:t>
                        </m:r>
                      </m:sup>
                    </m:sSup>
                    <m:r>
                      <a:rPr lang="en-US" b="1" i="1" smtClean="0">
                        <a:latin typeface="Cambria Math" panose="02040503050406030204" pitchFamily="18" charset="0"/>
                      </a:rPr>
                      <m:t>= </m:t>
                    </m:r>
                    <m:nary>
                      <m:naryPr>
                        <m:chr m:val="⋃"/>
                        <m:limLoc m:val="subSup"/>
                        <m:ctrlPr>
                          <a:rPr lang="en-US" b="1" i="1" smtClean="0">
                            <a:latin typeface="Cambria Math" panose="02040503050406030204" pitchFamily="18" charset="0"/>
                          </a:rPr>
                        </m:ctrlPr>
                      </m:naryPr>
                      <m:sub>
                        <m:r>
                          <m:rPr>
                            <m:brk m:alnAt="25"/>
                          </m:rP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𝟎</m:t>
                        </m:r>
                      </m:sub>
                      <m:sup>
                        <m:r>
                          <a:rPr lang="en-US" b="1" i="1">
                            <a:latin typeface="Cambria Math" panose="02040503050406030204" pitchFamily="18" charset="0"/>
                          </a:rPr>
                          <m:t>∞</m:t>
                        </m:r>
                      </m:sup>
                      <m:e>
                        <m:sSup>
                          <m:sSupPr>
                            <m:ctrlPr>
                              <a:rPr lang="en-US" b="1" i="1" smtClean="0">
                                <a:latin typeface="Cambria Math" panose="02040503050406030204" pitchFamily="18" charset="0"/>
                              </a:rPr>
                            </m:ctrlPr>
                          </m:sSupPr>
                          <m:e>
                            <m:r>
                              <a:rPr lang="en-US" b="1" i="1" smtClean="0">
                                <a:latin typeface="Cambria Math" panose="02040503050406030204" pitchFamily="18" charset="0"/>
                              </a:rPr>
                              <m:t>𝑳</m:t>
                            </m:r>
                          </m:e>
                          <m:sup>
                            <m:r>
                              <a:rPr lang="en-US" b="1" i="1" smtClean="0">
                                <a:latin typeface="Cambria Math" panose="02040503050406030204" pitchFamily="18" charset="0"/>
                              </a:rPr>
                              <m:t>𝒊</m:t>
                            </m:r>
                          </m:sup>
                        </m:sSup>
                      </m:e>
                    </m:nary>
                  </m:oMath>
                </a14:m>
                <a:r>
                  <a:rPr lang="en-US" dirty="0"/>
                  <a:t>.</a:t>
                </a:r>
              </a:p>
              <a:p>
                <a:pPr lvl="2">
                  <a:spcAft>
                    <a:spcPts val="600"/>
                  </a:spcAft>
                </a:pPr>
                <a:r>
                  <a:rPr lang="en-US" dirty="0"/>
                  <a:t>Note that:-  </a:t>
                </a:r>
                <a14:m>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𝑳</m:t>
                        </m:r>
                      </m:e>
                      <m:sup>
                        <m:r>
                          <a:rPr lang="en-US" b="1" i="1" dirty="0" smtClean="0">
                            <a:latin typeface="Cambria Math" panose="02040503050406030204" pitchFamily="18" charset="0"/>
                          </a:rPr>
                          <m:t>𝟎</m:t>
                        </m:r>
                      </m:sup>
                    </m:sSup>
                  </m:oMath>
                </a14:m>
                <a:r>
                  <a:rPr lang="en-US" dirty="0"/>
                  <a:t>, the "concatenation of </a:t>
                </a:r>
                <a:r>
                  <a:rPr lang="en-US" b="1" i="1" dirty="0"/>
                  <a:t>L</a:t>
                </a:r>
                <a:r>
                  <a:rPr lang="en-US" dirty="0"/>
                  <a:t> zero times," is defined to be </a:t>
                </a:r>
                <a14:m>
                  <m:oMath xmlns:m="http://schemas.openxmlformats.org/officeDocument/2006/math">
                    <m:r>
                      <a:rPr lang="en-US" b="1" i="1" dirty="0" smtClean="0">
                        <a:latin typeface="Cambria Math" panose="02040503050406030204" pitchFamily="18" charset="0"/>
                      </a:rPr>
                      <m:t>{Ɛ}</m:t>
                    </m:r>
                  </m:oMath>
                </a14:m>
                <a:r>
                  <a:rPr lang="en-US" dirty="0"/>
                  <a:t> , and inductively,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𝐿</m:t>
                        </m:r>
                      </m:e>
                      <m:sup>
                        <m:r>
                          <a:rPr lang="en-US" b="0" i="1" dirty="0" smtClean="0">
                            <a:latin typeface="Cambria Math" panose="02040503050406030204" pitchFamily="18" charset="0"/>
                          </a:rPr>
                          <m:t>𝑖</m:t>
                        </m:r>
                      </m:sup>
                    </m:sSup>
                  </m:oMath>
                </a14:m>
                <a:r>
                  <a:rPr lang="en-US" dirty="0"/>
                  <a:t> is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𝐿</m:t>
                        </m:r>
                      </m:e>
                      <m:sup>
                        <m:r>
                          <a:rPr lang="en-US" b="0" i="1" dirty="0" smtClean="0">
                            <a:latin typeface="Cambria Math" panose="02040503050406030204" pitchFamily="18" charset="0"/>
                          </a:rPr>
                          <m:t>𝑖</m:t>
                        </m:r>
                        <m:r>
                          <a:rPr lang="en-US" b="0" i="1" dirty="0" smtClean="0">
                            <a:latin typeface="Cambria Math" panose="02040503050406030204" pitchFamily="18" charset="0"/>
                          </a:rPr>
                          <m:t>−1</m:t>
                        </m:r>
                      </m:sup>
                    </m:sSup>
                    <m:r>
                      <a:rPr lang="en-US" b="0" i="1" dirty="0" smtClean="0">
                        <a:latin typeface="Cambria Math" panose="02040503050406030204" pitchFamily="18" charset="0"/>
                      </a:rPr>
                      <m:t>𝐿</m:t>
                    </m:r>
                  </m:oMath>
                </a14:m>
                <a:r>
                  <a:rPr lang="en-US" dirty="0"/>
                  <a:t>. </a:t>
                </a:r>
              </a:p>
              <a:p>
                <a:pPr marL="914400" lvl="1" indent="-514350">
                  <a:spcAft>
                    <a:spcPts val="600"/>
                  </a:spcAft>
                  <a:buFont typeface="+mj-lt"/>
                  <a:buAutoNum type="arabicPeriod"/>
                </a:pPr>
                <a:r>
                  <a:rPr lang="en-US" b="1" dirty="0">
                    <a:solidFill>
                      <a:srgbClr val="000099"/>
                    </a:solidFill>
                  </a:rPr>
                  <a:t>Positive closure</a:t>
                </a:r>
                <a:r>
                  <a:rPr lang="en-US" dirty="0"/>
                  <a:t>:- is the positive closure of a language </a:t>
                </a:r>
                <a:r>
                  <a:rPr lang="en-US" b="1" i="1" dirty="0"/>
                  <a:t>L</a:t>
                </a:r>
                <a:r>
                  <a:rPr lang="en-US" dirty="0"/>
                  <a:t>, denoted by </a:t>
                </a:r>
                <a14:m>
                  <m:oMath xmlns:m="http://schemas.openxmlformats.org/officeDocument/2006/math">
                    <m:sSup>
                      <m:sSupPr>
                        <m:ctrlPr>
                          <a:rPr lang="en-US" i="1" dirty="0" smtClean="0">
                            <a:latin typeface="Cambria Math" panose="02040503050406030204" pitchFamily="18" charset="0"/>
                          </a:rPr>
                        </m:ctrlPr>
                      </m:sSupPr>
                      <m:e>
                        <m:r>
                          <a:rPr lang="en-US" b="1" i="1" dirty="0" smtClean="0">
                            <a:latin typeface="Cambria Math" panose="02040503050406030204" pitchFamily="18" charset="0"/>
                          </a:rPr>
                          <m:t>𝑳</m:t>
                        </m:r>
                      </m:e>
                      <m:sup>
                        <m:r>
                          <a:rPr lang="en-US" b="1" i="1" dirty="0" smtClean="0">
                            <a:latin typeface="Cambria Math" panose="02040503050406030204" pitchFamily="18" charset="0"/>
                          </a:rPr>
                          <m:t>+</m:t>
                        </m:r>
                      </m:sup>
                    </m:sSup>
                  </m:oMath>
                </a14:m>
                <a:r>
                  <a:rPr lang="en-US" dirty="0"/>
                  <a:t>, is the same as the Kleene closure, but without the term </a:t>
                </a:r>
                <a14:m>
                  <m:oMath xmlns:m="http://schemas.openxmlformats.org/officeDocument/2006/math">
                    <m:sSup>
                      <m:sSupPr>
                        <m:ctrlPr>
                          <a:rPr lang="en-US" b="1" i="1" dirty="0">
                            <a:latin typeface="Cambria Math" panose="02040503050406030204" pitchFamily="18" charset="0"/>
                          </a:rPr>
                        </m:ctrlPr>
                      </m:sSupPr>
                      <m:e>
                        <m:r>
                          <a:rPr lang="en-US" b="1" i="1" dirty="0">
                            <a:latin typeface="Cambria Math" panose="02040503050406030204" pitchFamily="18" charset="0"/>
                          </a:rPr>
                          <m:t>𝑳</m:t>
                        </m:r>
                      </m:e>
                      <m:sup>
                        <m:r>
                          <a:rPr lang="en-US" b="1" i="1" dirty="0">
                            <a:latin typeface="Cambria Math" panose="02040503050406030204" pitchFamily="18" charset="0"/>
                          </a:rPr>
                          <m:t>𝟎</m:t>
                        </m:r>
                      </m:sup>
                    </m:sSup>
                  </m:oMath>
                </a14:m>
                <a:r>
                  <a:rPr lang="en-US" dirty="0"/>
                  <a:t>. That is, </a:t>
                </a:r>
                <a14:m>
                  <m:oMath xmlns:m="http://schemas.openxmlformats.org/officeDocument/2006/math">
                    <m:r>
                      <a:rPr lang="en-US" b="0" i="1" dirty="0" smtClean="0">
                        <a:latin typeface="Cambria Math" panose="02040503050406030204" pitchFamily="18" charset="0"/>
                      </a:rPr>
                      <m:t>Ɛ</m:t>
                    </m:r>
                  </m:oMath>
                </a14:m>
                <a:r>
                  <a:rPr lang="en-US" dirty="0"/>
                  <a:t> will not be in </a:t>
                </a:r>
                <a14:m>
                  <m:oMath xmlns:m="http://schemas.openxmlformats.org/officeDocument/2006/math">
                    <m:sSup>
                      <m:sSupPr>
                        <m:ctrlPr>
                          <a:rPr lang="en-US" i="1" dirty="0">
                            <a:latin typeface="Cambria Math" panose="02040503050406030204" pitchFamily="18" charset="0"/>
                          </a:rPr>
                        </m:ctrlPr>
                      </m:sSupPr>
                      <m:e>
                        <m:r>
                          <a:rPr lang="en-US" b="1" i="1" dirty="0">
                            <a:latin typeface="Cambria Math" panose="02040503050406030204" pitchFamily="18" charset="0"/>
                          </a:rPr>
                          <m:t>𝑳</m:t>
                        </m:r>
                      </m:e>
                      <m:sup>
                        <m:r>
                          <a:rPr lang="en-US" b="1" i="1" dirty="0">
                            <a:latin typeface="Cambria Math" panose="02040503050406030204" pitchFamily="18" charset="0"/>
                          </a:rPr>
                          <m:t>+</m:t>
                        </m:r>
                      </m:sup>
                    </m:sSup>
                  </m:oMath>
                </a14:m>
                <a:r>
                  <a:rPr lang="en-US" dirty="0"/>
                  <a:t> unless it is </a:t>
                </a:r>
                <a:r>
                  <a:rPr lang="en-US" b="1" i="1" dirty="0"/>
                  <a:t>L</a:t>
                </a:r>
                <a:r>
                  <a:rPr lang="en-US" dirty="0"/>
                  <a:t> in itself.</a:t>
                </a:r>
              </a:p>
              <a:p>
                <a:pPr lvl="2">
                  <a:spcAft>
                    <a:spcPts val="600"/>
                  </a:spcAft>
                </a:pPr>
                <a:r>
                  <a:rPr lang="en-US" dirty="0"/>
                  <a:t>Example Positive Kleene closure of </a:t>
                </a:r>
                <a:r>
                  <a:rPr lang="en-US" b="1" i="1" dirty="0"/>
                  <a:t>L</a:t>
                </a:r>
                <a:r>
                  <a:rPr lang="en-US" dirty="0"/>
                  <a:t>,</a:t>
                </a:r>
                <a:r>
                  <a:rPr lang="en-US" b="1" dirty="0"/>
                  <a:t>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𝑳</m:t>
                        </m:r>
                      </m:e>
                      <m:sup>
                        <m:r>
                          <a:rPr lang="en-US" b="1" i="1" smtClean="0">
                            <a:latin typeface="Cambria Math" panose="02040503050406030204" pitchFamily="18" charset="0"/>
                          </a:rPr>
                          <m:t>+</m:t>
                        </m:r>
                      </m:sup>
                    </m:sSup>
                    <m:r>
                      <a:rPr lang="en-US" b="1" i="1">
                        <a:latin typeface="Cambria Math" panose="02040503050406030204" pitchFamily="18" charset="0"/>
                      </a:rPr>
                      <m:t>= </m:t>
                    </m:r>
                    <m:nary>
                      <m:naryPr>
                        <m:chr m:val="⋃"/>
                        <m:limLoc m:val="subSup"/>
                        <m:ctrlPr>
                          <a:rPr lang="en-US" b="1" i="1">
                            <a:latin typeface="Cambria Math" panose="02040503050406030204" pitchFamily="18" charset="0"/>
                          </a:rPr>
                        </m:ctrlPr>
                      </m:naryPr>
                      <m:sub>
                        <m:r>
                          <m:rPr>
                            <m:brk m:alnAt="25"/>
                          </m:rPr>
                          <a:rPr lang="en-US" b="1" i="1">
                            <a:latin typeface="Cambria Math" panose="02040503050406030204" pitchFamily="18" charset="0"/>
                          </a:rPr>
                          <m:t>𝒊</m:t>
                        </m:r>
                        <m:r>
                          <a:rPr lang="en-US" b="1" i="1">
                            <a:latin typeface="Cambria Math" panose="02040503050406030204" pitchFamily="18" charset="0"/>
                          </a:rPr>
                          <m:t>=</m:t>
                        </m:r>
                        <m:r>
                          <a:rPr lang="en-US" b="1" i="1" smtClean="0">
                            <a:latin typeface="Cambria Math" panose="02040503050406030204" pitchFamily="18" charset="0"/>
                          </a:rPr>
                          <m:t>𝟏</m:t>
                        </m:r>
                      </m:sub>
                      <m:sup>
                        <m:r>
                          <a:rPr lang="en-US" b="1" i="1">
                            <a:latin typeface="Cambria Math" panose="02040503050406030204" pitchFamily="18" charset="0"/>
                          </a:rPr>
                          <m:t>∞</m:t>
                        </m:r>
                      </m:sup>
                      <m:e>
                        <m:sSup>
                          <m:sSupPr>
                            <m:ctrlPr>
                              <a:rPr lang="en-US" b="1" i="1">
                                <a:latin typeface="Cambria Math" panose="02040503050406030204" pitchFamily="18" charset="0"/>
                              </a:rPr>
                            </m:ctrlPr>
                          </m:sSupPr>
                          <m:e>
                            <m:r>
                              <a:rPr lang="en-US" b="1" i="1">
                                <a:latin typeface="Cambria Math" panose="02040503050406030204" pitchFamily="18" charset="0"/>
                              </a:rPr>
                              <m:t>𝑳</m:t>
                            </m:r>
                          </m:e>
                          <m:sup>
                            <m:r>
                              <a:rPr lang="en-US" b="1" i="1">
                                <a:latin typeface="Cambria Math" panose="02040503050406030204" pitchFamily="18" charset="0"/>
                              </a:rPr>
                              <m:t>𝒊</m:t>
                            </m:r>
                          </m:sup>
                        </m:sSup>
                      </m:e>
                    </m:nary>
                  </m:oMath>
                </a14:m>
                <a:r>
                  <a:rPr lang="en-US" dirty="0"/>
                  <a:t>.</a:t>
                </a:r>
              </a:p>
              <a:p>
                <a:pPr marL="0" indent="0">
                  <a:spcAft>
                    <a:spcPts val="600"/>
                  </a:spcAft>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458200" cy="4953000"/>
              </a:xfrm>
              <a:blipFill rotWithShape="0">
                <a:blip r:embed="rId2"/>
                <a:stretch>
                  <a:fillRect l="-576" t="-1724" r="-36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C2C343A0-757D-4032-BC20-DF0A67BD0A50}" type="slidenum">
              <a:rPr lang="en-US" smtClean="0"/>
              <a:t>27</a:t>
            </a:fld>
            <a:endParaRPr lang="en-US"/>
          </a:p>
        </p:txBody>
      </p:sp>
    </p:spTree>
    <p:extLst>
      <p:ext uri="{BB962C8B-B14F-4D97-AF65-F5344CB8AC3E}">
        <p14:creationId xmlns:p14="http://schemas.microsoft.com/office/powerpoint/2010/main" val="3827926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458200" cy="4953000"/>
              </a:xfrm>
            </p:spPr>
            <p:txBody>
              <a:bodyPr>
                <a:normAutofit fontScale="55000" lnSpcReduction="20000"/>
              </a:bodyPr>
              <a:lstStyle/>
              <a:p>
                <a:pPr marL="0" indent="0">
                  <a:spcAft>
                    <a:spcPts val="600"/>
                  </a:spcAft>
                  <a:buNone/>
                </a:pPr>
                <a:r>
                  <a:rPr lang="en-US" b="1" dirty="0"/>
                  <a:t>Operations on Languages</a:t>
                </a:r>
              </a:p>
              <a:p>
                <a:pPr>
                  <a:spcAft>
                    <a:spcPts val="600"/>
                  </a:spcAft>
                </a:pPr>
                <a:r>
                  <a:rPr lang="en-US" dirty="0"/>
                  <a:t>Let </a:t>
                </a:r>
                <a:r>
                  <a:rPr lang="en-US" b="1" i="1" dirty="0"/>
                  <a:t>L</a:t>
                </a:r>
                <a:r>
                  <a:rPr lang="en-US" dirty="0"/>
                  <a:t> be the set of letters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𝐴</m:t>
                    </m:r>
                    <m:r>
                      <a:rPr lang="en-US" i="1" dirty="0" smtClean="0">
                        <a:latin typeface="Cambria Math" panose="02040503050406030204" pitchFamily="18" charset="0"/>
                      </a:rPr>
                      <m:t>, </m:t>
                    </m:r>
                    <m:r>
                      <a:rPr lang="en-US" i="1" dirty="0" smtClean="0">
                        <a:latin typeface="Cambria Math" panose="02040503050406030204" pitchFamily="18" charset="0"/>
                      </a:rPr>
                      <m:t>𝐵</m:t>
                    </m:r>
                    <m:r>
                      <a:rPr lang="en-US" i="1" dirty="0" smtClean="0">
                        <a:latin typeface="Cambria Math" panose="02040503050406030204" pitchFamily="18" charset="0"/>
                      </a:rPr>
                      <m:t> , . . . , </m:t>
                    </m:r>
                    <m:r>
                      <a:rPr lang="en-US" i="1" dirty="0" smtClean="0">
                        <a:latin typeface="Cambria Math" panose="02040503050406030204" pitchFamily="18" charset="0"/>
                      </a:rPr>
                      <m:t>𝑍</m:t>
                    </m:r>
                    <m:r>
                      <a:rPr lang="en-US" i="1" dirty="0" smtClean="0">
                        <a:latin typeface="Cambria Math" panose="02040503050406030204" pitchFamily="18" charset="0"/>
                      </a:rPr>
                      <m:t> , </m:t>
                    </m:r>
                    <m:r>
                      <a:rPr lang="en-US" i="1" dirty="0" smtClean="0">
                        <a:latin typeface="Cambria Math" panose="02040503050406030204" pitchFamily="18" charset="0"/>
                      </a:rPr>
                      <m:t>𝑎</m:t>
                    </m:r>
                    <m:r>
                      <a:rPr lang="en-US" i="1" dirty="0" smtClean="0">
                        <a:latin typeface="Cambria Math" panose="02040503050406030204" pitchFamily="18" charset="0"/>
                      </a:rPr>
                      <m:t>, </m:t>
                    </m:r>
                    <m:r>
                      <a:rPr lang="en-US" i="1" dirty="0" smtClean="0">
                        <a:latin typeface="Cambria Math" panose="02040503050406030204" pitchFamily="18" charset="0"/>
                      </a:rPr>
                      <m:t>𝑏</m:t>
                    </m:r>
                    <m:r>
                      <a:rPr lang="en-US" i="1" dirty="0" smtClean="0">
                        <a:latin typeface="Cambria Math" panose="02040503050406030204" pitchFamily="18" charset="0"/>
                      </a:rPr>
                      <m:t>, . . . , </m:t>
                    </m:r>
                    <m:r>
                      <a:rPr lang="en-US" i="1" dirty="0" smtClean="0">
                        <a:latin typeface="Cambria Math" panose="02040503050406030204" pitchFamily="18" charset="0"/>
                      </a:rPr>
                      <m:t>𝑧</m:t>
                    </m:r>
                    <m:r>
                      <a:rPr lang="en-US" i="1" dirty="0" smtClean="0">
                        <a:latin typeface="Cambria Math" panose="02040503050406030204" pitchFamily="18" charset="0"/>
                      </a:rPr>
                      <m:t>}</m:t>
                    </m:r>
                  </m:oMath>
                </a14:m>
                <a:r>
                  <a:rPr lang="en-US" dirty="0"/>
                  <a:t> and let </a:t>
                </a:r>
                <a:r>
                  <a:rPr lang="en-US" b="1" i="1" dirty="0"/>
                  <a:t>D</a:t>
                </a:r>
                <a:r>
                  <a:rPr lang="en-US" dirty="0"/>
                  <a:t> be the set of digits </a:t>
                </a:r>
                <a14:m>
                  <m:oMath xmlns:m="http://schemas.openxmlformats.org/officeDocument/2006/math">
                    <m:r>
                      <a:rPr lang="en-US" i="1" dirty="0" smtClean="0">
                        <a:latin typeface="Cambria Math" panose="02040503050406030204" pitchFamily="18" charset="0"/>
                      </a:rPr>
                      <m:t>{0, 1, . . .</m:t>
                    </m:r>
                    <m:r>
                      <a:rPr lang="en-US" b="0" i="1" dirty="0" smtClean="0">
                        <a:latin typeface="Cambria Math" panose="02040503050406030204" pitchFamily="18" charset="0"/>
                      </a:rPr>
                      <m:t>,</m:t>
                    </m:r>
                    <m:r>
                      <a:rPr lang="en-US" i="1" dirty="0" smtClean="0">
                        <a:latin typeface="Cambria Math" panose="02040503050406030204" pitchFamily="18" charset="0"/>
                      </a:rPr>
                      <m:t> 9}</m:t>
                    </m:r>
                  </m:oMath>
                </a14:m>
                <a:r>
                  <a:rPr lang="en-US" dirty="0"/>
                  <a:t>. We may think of </a:t>
                </a:r>
                <a:r>
                  <a:rPr lang="en-US" b="1" i="1" dirty="0"/>
                  <a:t>L</a:t>
                </a:r>
                <a:r>
                  <a:rPr lang="en-US" dirty="0"/>
                  <a:t> and </a:t>
                </a:r>
                <a:r>
                  <a:rPr lang="en-US" b="1" i="1" dirty="0"/>
                  <a:t>D</a:t>
                </a:r>
                <a:r>
                  <a:rPr lang="en-US" dirty="0"/>
                  <a:t> in two, essentially equivalent, ways. </a:t>
                </a:r>
              </a:p>
              <a:p>
                <a:pPr lvl="1">
                  <a:spcAft>
                    <a:spcPts val="600"/>
                  </a:spcAft>
                  <a:buFont typeface="Wingdings" panose="05000000000000000000" pitchFamily="2" charset="2"/>
                  <a:buChar char="§"/>
                </a:pPr>
                <a:r>
                  <a:rPr lang="en-US" dirty="0"/>
                  <a:t>One way is that </a:t>
                </a:r>
                <a:r>
                  <a:rPr lang="en-US" b="1" i="1" dirty="0"/>
                  <a:t>L</a:t>
                </a:r>
                <a:r>
                  <a:rPr lang="en-US" dirty="0"/>
                  <a:t> and </a:t>
                </a:r>
                <a:r>
                  <a:rPr lang="en-US" b="1" i="1" dirty="0"/>
                  <a:t>D</a:t>
                </a:r>
                <a:r>
                  <a:rPr lang="en-US" dirty="0"/>
                  <a:t> are, respectively, the alphabets of uppercase and lowercase letters and of digits. </a:t>
                </a:r>
              </a:p>
              <a:p>
                <a:pPr lvl="1">
                  <a:spcAft>
                    <a:spcPts val="600"/>
                  </a:spcAft>
                  <a:buFont typeface="Wingdings" panose="05000000000000000000" pitchFamily="2" charset="2"/>
                  <a:buChar char="§"/>
                </a:pPr>
                <a:r>
                  <a:rPr lang="en-US" dirty="0"/>
                  <a:t>The second way is that </a:t>
                </a:r>
                <a:r>
                  <a:rPr lang="en-US" b="1" i="1" dirty="0"/>
                  <a:t>L</a:t>
                </a:r>
                <a:r>
                  <a:rPr lang="en-US" dirty="0"/>
                  <a:t> and </a:t>
                </a:r>
                <a:r>
                  <a:rPr lang="en-US" b="1" i="1" dirty="0"/>
                  <a:t>D</a:t>
                </a:r>
                <a:r>
                  <a:rPr lang="en-US" dirty="0"/>
                  <a:t> are languages, all of whose strings happen to be of length one. </a:t>
                </a:r>
              </a:p>
              <a:p>
                <a:pPr>
                  <a:spcAft>
                    <a:spcPts val="600"/>
                  </a:spcAft>
                </a:pPr>
                <a:r>
                  <a:rPr lang="en-US" dirty="0"/>
                  <a:t>Here are some other languages that can be constructed from languages </a:t>
                </a:r>
                <a:r>
                  <a:rPr lang="en-US" b="1" i="1" dirty="0"/>
                  <a:t>L</a:t>
                </a:r>
                <a:r>
                  <a:rPr lang="en-US" dirty="0"/>
                  <a:t> and </a:t>
                </a:r>
                <a:r>
                  <a:rPr lang="en-US" b="1" i="1" dirty="0"/>
                  <a:t>D</a:t>
                </a:r>
                <a:r>
                  <a:rPr lang="en-US" dirty="0"/>
                  <a:t>, using the above operators:</a:t>
                </a:r>
              </a:p>
              <a:p>
                <a:pPr marL="971550" lvl="1" indent="-514350">
                  <a:spcAft>
                    <a:spcPts val="600"/>
                  </a:spcAft>
                  <a:buFont typeface="+mj-lt"/>
                  <a:buAutoNum type="arabicPeriod"/>
                </a:pP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𝑫</m:t>
                    </m:r>
                  </m:oMath>
                </a14:m>
                <a:r>
                  <a:rPr lang="en-US" b="1" i="1" dirty="0"/>
                  <a:t>  </a:t>
                </a:r>
                <a:r>
                  <a:rPr lang="en-US" dirty="0"/>
                  <a:t>is the set of letters and digits - strictly speaking the language with 62 strings of length one, each of which strings is either one letter or one digit.</a:t>
                </a:r>
              </a:p>
              <a:p>
                <a:pPr marL="971550" lvl="1" indent="-514350">
                  <a:spcAft>
                    <a:spcPts val="600"/>
                  </a:spcAft>
                  <a:buFont typeface="+mj-lt"/>
                  <a:buAutoNum type="arabicPeriod"/>
                </a:pPr>
                <a14:m>
                  <m:oMath xmlns:m="http://schemas.openxmlformats.org/officeDocument/2006/math">
                    <m:r>
                      <a:rPr lang="en-US" b="1" i="1" dirty="0" smtClean="0">
                        <a:latin typeface="Cambria Math" panose="02040503050406030204" pitchFamily="18" charset="0"/>
                      </a:rPr>
                      <m:t>𝑳𝑫</m:t>
                    </m:r>
                    <m:r>
                      <a:rPr lang="en-US" b="1" i="1" dirty="0" smtClean="0">
                        <a:latin typeface="Cambria Math" panose="02040503050406030204" pitchFamily="18" charset="0"/>
                      </a:rPr>
                      <m:t> </m:t>
                    </m:r>
                  </m:oMath>
                </a14:m>
                <a:r>
                  <a:rPr lang="en-US" dirty="0"/>
                  <a:t> is the set of 520 strings of length two, each consisting of one letter followed by one digit.</a:t>
                </a:r>
              </a:p>
              <a:p>
                <a:pPr marL="971550" lvl="1" indent="-514350">
                  <a:spcAft>
                    <a:spcPts val="600"/>
                  </a:spcAft>
                  <a:buFont typeface="+mj-lt"/>
                  <a:buAutoNum type="arabicPeriod"/>
                </a:pPr>
                <a14:m>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𝑳</m:t>
                        </m:r>
                      </m:e>
                      <m:sup>
                        <m:r>
                          <a:rPr lang="en-US" b="1" i="1" dirty="0" smtClean="0">
                            <a:latin typeface="Cambria Math" panose="02040503050406030204" pitchFamily="18" charset="0"/>
                          </a:rPr>
                          <m:t>𝟒</m:t>
                        </m:r>
                      </m:sup>
                    </m:sSup>
                    <m:r>
                      <a:rPr lang="en-US" i="1" dirty="0" smtClean="0">
                        <a:latin typeface="Cambria Math" panose="02040503050406030204" pitchFamily="18" charset="0"/>
                      </a:rPr>
                      <m:t> </m:t>
                    </m:r>
                    <m:r>
                      <a:rPr lang="en-US" b="0" i="1" dirty="0" smtClean="0">
                        <a:latin typeface="Cambria Math" panose="02040503050406030204" pitchFamily="18" charset="0"/>
                      </a:rPr>
                      <m:t>  </m:t>
                    </m:r>
                  </m:oMath>
                </a14:m>
                <a:r>
                  <a:rPr lang="en-US" dirty="0"/>
                  <a:t>is the set of all </a:t>
                </a:r>
                <a:r>
                  <a:rPr lang="en-US" i="1" dirty="0"/>
                  <a:t>4-letter</a:t>
                </a:r>
                <a:r>
                  <a:rPr lang="en-US" dirty="0"/>
                  <a:t> strings.</a:t>
                </a:r>
              </a:p>
              <a:p>
                <a:pPr marL="971550" lvl="1" indent="-514350">
                  <a:spcAft>
                    <a:spcPts val="600"/>
                  </a:spcAft>
                  <a:buFont typeface="+mj-lt"/>
                  <a:buAutoNum type="arabicPeriod"/>
                </a:pPr>
                <a14:m>
                  <m:oMath xmlns:m="http://schemas.openxmlformats.org/officeDocument/2006/math">
                    <m:sSup>
                      <m:sSupPr>
                        <m:ctrlPr>
                          <a:rPr lang="en-US" b="1" i="1" dirty="0">
                            <a:latin typeface="Cambria Math" panose="02040503050406030204" pitchFamily="18" charset="0"/>
                          </a:rPr>
                        </m:ctrlPr>
                      </m:sSupPr>
                      <m:e>
                        <m:r>
                          <a:rPr lang="en-US" b="1" i="1" dirty="0">
                            <a:latin typeface="Cambria Math" panose="02040503050406030204" pitchFamily="18" charset="0"/>
                          </a:rPr>
                          <m:t>𝑳</m:t>
                        </m:r>
                      </m:e>
                      <m:sup>
                        <m:r>
                          <a:rPr lang="en-US" b="1" i="1" dirty="0" smtClean="0">
                            <a:latin typeface="Cambria Math" panose="02040503050406030204" pitchFamily="18" charset="0"/>
                          </a:rPr>
                          <m:t>∗</m:t>
                        </m:r>
                      </m:sup>
                    </m:sSup>
                  </m:oMath>
                </a14:m>
                <a:r>
                  <a:rPr lang="en-US" dirty="0"/>
                  <a:t>   is the set of all strings of letters, including </a:t>
                </a:r>
                <a:r>
                  <a:rPr lang="en-US" b="1" i="1" dirty="0"/>
                  <a:t>Ɛ</a:t>
                </a:r>
                <a:r>
                  <a:rPr lang="en-US" dirty="0"/>
                  <a:t>, the empty string.</a:t>
                </a:r>
              </a:p>
              <a:p>
                <a:pPr marL="971550" lvl="1" indent="-514350">
                  <a:spcAft>
                    <a:spcPts val="600"/>
                  </a:spcAft>
                  <a:buFont typeface="+mj-lt"/>
                  <a:buAutoNum type="arabicPeriod"/>
                </a:pPr>
                <a14:m>
                  <m:oMath xmlns:m="http://schemas.openxmlformats.org/officeDocument/2006/math">
                    <m:r>
                      <a:rPr lang="en-US" b="1" i="1" dirty="0" smtClean="0">
                        <a:latin typeface="Cambria Math" panose="02040503050406030204" pitchFamily="18" charset="0"/>
                      </a:rPr>
                      <m:t>𝑳</m:t>
                    </m:r>
                    <m:sSup>
                      <m:sSupPr>
                        <m:ctrlPr>
                          <a:rPr lang="en-US" b="1" i="1" dirty="0" smtClean="0">
                            <a:latin typeface="Cambria Math" panose="02040503050406030204" pitchFamily="18" charset="0"/>
                          </a:rPr>
                        </m:ctrlPr>
                      </m:sSupPr>
                      <m:e>
                        <m:r>
                          <a:rPr lang="en-US" b="1" i="1" dirty="0">
                            <a:latin typeface="Cambria Math" panose="02040503050406030204" pitchFamily="18" charset="0"/>
                          </a:rPr>
                          <m:t>(</m:t>
                        </m:r>
                        <m:r>
                          <a:rPr lang="en-US" b="1" i="1" dirty="0">
                            <a:latin typeface="Cambria Math" panose="02040503050406030204" pitchFamily="18" charset="0"/>
                          </a:rPr>
                          <m:t>𝑳</m:t>
                        </m:r>
                        <m:r>
                          <a:rPr lang="en-US" b="1" i="1" dirty="0">
                            <a:latin typeface="Cambria Math" panose="02040503050406030204" pitchFamily="18" charset="0"/>
                            <a:ea typeface="Cambria Math" panose="02040503050406030204" pitchFamily="18" charset="0"/>
                          </a:rPr>
                          <m:t>∪</m:t>
                        </m:r>
                        <m:r>
                          <a:rPr lang="en-US" b="1" i="1" dirty="0">
                            <a:latin typeface="Cambria Math" panose="02040503050406030204" pitchFamily="18" charset="0"/>
                          </a:rPr>
                          <m:t>𝑫</m:t>
                        </m:r>
                        <m:r>
                          <a:rPr lang="en-US" b="1" i="1" dirty="0">
                            <a:latin typeface="Cambria Math" panose="02040503050406030204" pitchFamily="18" charset="0"/>
                          </a:rPr>
                          <m:t>)</m:t>
                        </m:r>
                      </m:e>
                      <m:sup>
                        <m:r>
                          <a:rPr lang="en-US" b="1" i="1" dirty="0" smtClean="0">
                            <a:latin typeface="Cambria Math" panose="02040503050406030204" pitchFamily="18" charset="0"/>
                          </a:rPr>
                          <m:t>∗</m:t>
                        </m:r>
                      </m:sup>
                    </m:sSup>
                  </m:oMath>
                </a14:m>
                <a:r>
                  <a:rPr lang="en-US" dirty="0"/>
                  <a:t>   is the set of all strings of letters and digits beginning with a letter.</a:t>
                </a:r>
              </a:p>
              <a:p>
                <a:pPr marL="971550" lvl="1" indent="-514350">
                  <a:spcAft>
                    <a:spcPts val="600"/>
                  </a:spcAft>
                  <a:buFont typeface="+mj-lt"/>
                  <a:buAutoNum type="arabicPeriod"/>
                </a:pPr>
                <a14:m>
                  <m:oMath xmlns:m="http://schemas.openxmlformats.org/officeDocument/2006/math">
                    <m:sSup>
                      <m:sSupPr>
                        <m:ctrlPr>
                          <a:rPr lang="en-US" b="1" i="1" dirty="0">
                            <a:latin typeface="Cambria Math" panose="02040503050406030204" pitchFamily="18" charset="0"/>
                          </a:rPr>
                        </m:ctrlPr>
                      </m:sSupPr>
                      <m:e>
                        <m:r>
                          <a:rPr lang="en-US" b="1" i="1" dirty="0" smtClean="0">
                            <a:latin typeface="Cambria Math" panose="02040503050406030204" pitchFamily="18" charset="0"/>
                          </a:rPr>
                          <m:t>𝑫</m:t>
                        </m:r>
                      </m:e>
                      <m:sup>
                        <m:r>
                          <a:rPr lang="en-US" b="1" i="1" dirty="0" smtClean="0">
                            <a:latin typeface="Cambria Math" panose="02040503050406030204" pitchFamily="18" charset="0"/>
                          </a:rPr>
                          <m:t>+</m:t>
                        </m:r>
                      </m:sup>
                    </m:sSup>
                  </m:oMath>
                </a14:m>
                <a:r>
                  <a:rPr lang="en-US" dirty="0"/>
                  <a:t>   is the set of all strings of one or more digits.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458200" cy="4953000"/>
              </a:xfrm>
              <a:blipFill rotWithShape="0">
                <a:blip r:embed="rId2"/>
                <a:stretch>
                  <a:fillRect l="-576" t="-1724" r="-72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C2C343A0-757D-4032-BC20-DF0A67BD0A50}" type="slidenum">
              <a:rPr lang="en-US" smtClean="0"/>
              <a:t>28</a:t>
            </a:fld>
            <a:endParaRPr lang="en-US"/>
          </a:p>
        </p:txBody>
      </p:sp>
    </p:spTree>
    <p:extLst>
      <p:ext uri="{BB962C8B-B14F-4D97-AF65-F5344CB8AC3E}">
        <p14:creationId xmlns:p14="http://schemas.microsoft.com/office/powerpoint/2010/main" val="4101773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458200" cy="4953000"/>
              </a:xfrm>
            </p:spPr>
            <p:txBody>
              <a:bodyPr>
                <a:normAutofit fontScale="55000" lnSpcReduction="20000"/>
              </a:bodyPr>
              <a:lstStyle/>
              <a:p>
                <a:pPr marL="0" indent="0">
                  <a:spcAft>
                    <a:spcPts val="600"/>
                  </a:spcAft>
                  <a:buNone/>
                </a:pPr>
                <a:r>
                  <a:rPr lang="en-US" b="1" dirty="0"/>
                  <a:t>Regular Expressions</a:t>
                </a:r>
              </a:p>
              <a:p>
                <a:pPr>
                  <a:spcAft>
                    <a:spcPts val="600"/>
                  </a:spcAft>
                </a:pPr>
                <a:r>
                  <a:rPr lang="en-US" dirty="0"/>
                  <a:t>In theory of compilation regular expressions are used to formalize the specification of tokens.</a:t>
                </a:r>
              </a:p>
              <a:p>
                <a:pPr>
                  <a:spcAft>
                    <a:spcPts val="600"/>
                  </a:spcAft>
                </a:pPr>
                <a:r>
                  <a:rPr lang="en-US" dirty="0"/>
                  <a:t>Regular expressions are means for specifying </a:t>
                </a:r>
                <a:r>
                  <a:rPr lang="en-US" b="1" i="1" dirty="0"/>
                  <a:t>regular languages</a:t>
                </a:r>
              </a:p>
              <a:p>
                <a:pPr lvl="1"/>
                <a:r>
                  <a:rPr lang="en-US" dirty="0"/>
                  <a:t>Example:     	</a:t>
                </a:r>
                <a:r>
                  <a:rPr lang="en-US" b="1" dirty="0">
                    <a:latin typeface="Courier New" panose="02070309020205020404" pitchFamily="49" charset="0"/>
                    <a:cs typeface="Courier New" panose="02070309020205020404" pitchFamily="49" charset="0"/>
                  </a:rPr>
                  <a:t>ID </a:t>
                </a:r>
                <a:r>
                  <a:rPr lang="en-US" b="1" dirty="0">
                    <a:latin typeface="Courier New" panose="02070309020205020404" pitchFamily="49" charset="0"/>
                    <a:cs typeface="Courier New" panose="02070309020205020404" pitchFamily="49" charset="0"/>
                    <a:sym typeface="Symbol" panose="05050102010706020507" pitchFamily="18" charset="2"/>
                  </a:rPr>
                  <a:t></a:t>
                </a:r>
                <a:r>
                  <a:rPr lang="en-US" b="1" dirty="0">
                    <a:latin typeface="Courier New" panose="02070309020205020404" pitchFamily="49" charset="0"/>
                    <a:cs typeface="Courier New" panose="02070309020205020404" pitchFamily="49" charset="0"/>
                  </a:rPr>
                  <a:t> letter_(</a:t>
                </a:r>
                <a:r>
                  <a:rPr lang="en-US" b="1" dirty="0" err="1">
                    <a:latin typeface="Courier New" panose="02070309020205020404" pitchFamily="49" charset="0"/>
                    <a:cs typeface="Courier New" panose="02070309020205020404" pitchFamily="49" charset="0"/>
                  </a:rPr>
                  <a:t>letter|digit</a:t>
                </a:r>
                <a:r>
                  <a:rPr lang="en-US" b="1" dirty="0">
                    <a:latin typeface="Courier New" panose="02070309020205020404" pitchFamily="49" charset="0"/>
                    <a:cs typeface="Courier New" panose="02070309020205020404" pitchFamily="49" charset="0"/>
                  </a:rPr>
                  <a:t>)* </a:t>
                </a:r>
              </a:p>
              <a:p>
                <a:pPr marL="0" indent="0">
                  <a:buNone/>
                </a:pPr>
                <a:r>
                  <a:rPr lang="en-US" b="1" dirty="0">
                    <a:latin typeface="Courier New" panose="02070309020205020404" pitchFamily="49" charset="0"/>
                    <a:cs typeface="Courier New" panose="02070309020205020404" pitchFamily="49" charset="0"/>
                  </a:rPr>
                  <a:t>       	letter </a:t>
                </a:r>
                <a:r>
                  <a:rPr lang="en-US" b="1" dirty="0">
                    <a:latin typeface="Courier New" panose="02070309020205020404" pitchFamily="49" charset="0"/>
                    <a:cs typeface="Courier New" panose="02070309020205020404" pitchFamily="49" charset="0"/>
                    <a:sym typeface="Symbol" panose="05050102010706020507" pitchFamily="18" charset="2"/>
                  </a:rPr>
                  <a:t> </a:t>
                </a:r>
                <a:r>
                  <a:rPr lang="en-US" b="1" dirty="0">
                    <a:latin typeface="Courier New" panose="02070309020205020404" pitchFamily="49" charset="0"/>
                    <a:cs typeface="Courier New" panose="02070309020205020404" pitchFamily="49" charset="0"/>
                  </a:rPr>
                  <a:t>A|B|…|</a:t>
                </a:r>
                <a:r>
                  <a:rPr lang="en-US" b="1" dirty="0" err="1">
                    <a:latin typeface="Courier New" panose="02070309020205020404" pitchFamily="49" charset="0"/>
                    <a:cs typeface="Courier New" panose="02070309020205020404" pitchFamily="49" charset="0"/>
                  </a:rPr>
                  <a:t>Z|a|b</a:t>
                </a:r>
                <a:r>
                  <a:rPr lang="en-US" b="1" dirty="0">
                    <a:latin typeface="Courier New" panose="02070309020205020404" pitchFamily="49" charset="0"/>
                    <a:cs typeface="Courier New" panose="02070309020205020404" pitchFamily="49" charset="0"/>
                  </a:rPr>
                  <a:t>|…|z|_</a:t>
                </a:r>
              </a:p>
              <a:p>
                <a:pPr marL="0" indent="0">
                  <a:buNone/>
                </a:pPr>
                <a:r>
                  <a:rPr lang="en-US" b="1" dirty="0">
                    <a:latin typeface="Courier New" panose="02070309020205020404" pitchFamily="49" charset="0"/>
                    <a:cs typeface="Courier New" panose="02070309020205020404" pitchFamily="49" charset="0"/>
                  </a:rPr>
                  <a:t>       	digit </a:t>
                </a:r>
                <a:r>
                  <a:rPr lang="en-US" b="1" dirty="0">
                    <a:latin typeface="Courier New" panose="02070309020205020404" pitchFamily="49" charset="0"/>
                    <a:cs typeface="Courier New" panose="02070309020205020404" pitchFamily="49" charset="0"/>
                    <a:sym typeface="Symbol" panose="05050102010706020507" pitchFamily="18" charset="2"/>
                  </a:rPr>
                  <a:t> </a:t>
                </a:r>
                <a:r>
                  <a:rPr lang="en-US" b="1" dirty="0">
                    <a:latin typeface="Courier New" panose="02070309020205020404" pitchFamily="49" charset="0"/>
                    <a:cs typeface="Courier New" panose="02070309020205020404" pitchFamily="49" charset="0"/>
                  </a:rPr>
                  <a:t>0|1|2|…|9</a:t>
                </a:r>
              </a:p>
              <a:p>
                <a:pPr lvl="1">
                  <a:spcAft>
                    <a:spcPts val="600"/>
                  </a:spcAft>
                </a:pPr>
                <a:r>
                  <a:rPr lang="en-US" dirty="0"/>
                  <a:t>Each regular expression is a pattern specifying the form of strings</a:t>
                </a:r>
              </a:p>
              <a:p>
                <a:pPr>
                  <a:spcAft>
                    <a:spcPts val="600"/>
                  </a:spcAft>
                </a:pPr>
                <a:r>
                  <a:rPr lang="en-US" dirty="0"/>
                  <a:t>The regular expressions are built recursively out of smaller regular expres­sions, using the following two rules:</a:t>
                </a:r>
              </a:p>
              <a:p>
                <a:pPr marL="457200" lvl="1" indent="0">
                  <a:spcAft>
                    <a:spcPts val="600"/>
                  </a:spcAft>
                  <a:buNone/>
                </a:pPr>
                <a:r>
                  <a:rPr lang="en-US" b="1" dirty="0"/>
                  <a:t>R1</a:t>
                </a:r>
                <a:r>
                  <a:rPr lang="en-US" dirty="0"/>
                  <a:t>:- </a:t>
                </a:r>
                <a14:m>
                  <m:oMath xmlns:m="http://schemas.openxmlformats.org/officeDocument/2006/math">
                    <m:r>
                      <a:rPr lang="en-US" b="1" i="1" dirty="0" smtClean="0">
                        <a:latin typeface="Cambria Math" panose="02040503050406030204" pitchFamily="18" charset="0"/>
                      </a:rPr>
                      <m:t>Ɛ</m:t>
                    </m:r>
                  </m:oMath>
                </a14:m>
                <a:r>
                  <a:rPr lang="en-US" dirty="0"/>
                  <a:t> is a regular expression,  and </a:t>
                </a: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rPr>
                      <m:t>(Ɛ)={Ɛ}</m:t>
                    </m:r>
                  </m:oMath>
                </a14:m>
                <a:r>
                  <a:rPr lang="en-US" dirty="0"/>
                  <a:t>,  that is, the language whose sole member is the empty string.</a:t>
                </a:r>
              </a:p>
              <a:p>
                <a:pPr marL="457200" lvl="1" indent="0">
                  <a:spcAft>
                    <a:spcPts val="600"/>
                  </a:spcAft>
                  <a:buNone/>
                </a:pPr>
                <a:r>
                  <a:rPr lang="en-US" b="1" dirty="0"/>
                  <a:t>R2</a:t>
                </a:r>
                <a:r>
                  <a:rPr lang="en-US" dirty="0"/>
                  <a:t>:- If </a:t>
                </a:r>
                <a14:m>
                  <m:oMath xmlns:m="http://schemas.openxmlformats.org/officeDocument/2006/math">
                    <m:r>
                      <a:rPr lang="en-US" b="1" i="1" dirty="0" smtClean="0">
                        <a:latin typeface="Cambria Math" panose="02040503050406030204" pitchFamily="18" charset="0"/>
                      </a:rPr>
                      <m:t>𝒂</m:t>
                    </m:r>
                  </m:oMath>
                </a14:m>
                <a:r>
                  <a:rPr lang="en-US" dirty="0"/>
                  <a:t> is a symbol in </a:t>
                </a:r>
                <a:r>
                  <a:rPr lang="en-US" b="1" dirty="0"/>
                  <a:t>∑</a:t>
                </a:r>
                <a:r>
                  <a:rPr lang="en-US" dirty="0"/>
                  <a:t> then </a:t>
                </a:r>
                <a14:m>
                  <m:oMath xmlns:m="http://schemas.openxmlformats.org/officeDocument/2006/math">
                    <m:r>
                      <a:rPr lang="en-US" b="1" i="1" dirty="0" smtClean="0">
                        <a:latin typeface="Cambria Math" panose="02040503050406030204" pitchFamily="18" charset="0"/>
                      </a:rPr>
                      <m:t>𝒂</m:t>
                    </m:r>
                    <m:r>
                      <a:rPr lang="en-US" b="1" i="1" dirty="0" smtClean="0">
                        <a:latin typeface="Cambria Math" panose="02040503050406030204" pitchFamily="18" charset="0"/>
                      </a:rPr>
                      <m:t> </m:t>
                    </m:r>
                  </m:oMath>
                </a14:m>
                <a:r>
                  <a:rPr lang="en-US" dirty="0"/>
                  <a:t>is a regular expression, </a:t>
                </a: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𝒂</m:t>
                    </m:r>
                    <m:r>
                      <a:rPr lang="en-US" b="1" i="1" dirty="0" smtClean="0">
                        <a:latin typeface="Cambria Math" panose="02040503050406030204" pitchFamily="18" charset="0"/>
                      </a:rPr>
                      <m:t>)={</m:t>
                    </m:r>
                    <m:r>
                      <a:rPr lang="en-US" b="1" i="1" dirty="0" smtClean="0">
                        <a:latin typeface="Cambria Math" panose="02040503050406030204" pitchFamily="18" charset="0"/>
                      </a:rPr>
                      <m:t>𝒂</m:t>
                    </m:r>
                    <m:r>
                      <a:rPr lang="en-US" b="1" i="1" dirty="0" smtClean="0">
                        <a:latin typeface="Cambria Math" panose="02040503050406030204" pitchFamily="18" charset="0"/>
                      </a:rPr>
                      <m:t>}</m:t>
                    </m:r>
                  </m:oMath>
                </a14:m>
                <a:r>
                  <a:rPr lang="en-US" dirty="0"/>
                  <a:t>, that is, the language with one string, of length one, with a in its one position. </a:t>
                </a:r>
              </a:p>
              <a:p>
                <a:pPr marL="457200" lvl="1" indent="0">
                  <a:spcAft>
                    <a:spcPts val="600"/>
                  </a:spcAft>
                  <a:buNone/>
                </a:pPr>
                <a:r>
                  <a:rPr lang="en-US" b="1" dirty="0"/>
                  <a:t>Note</a:t>
                </a:r>
                <a:r>
                  <a:rPr lang="en-US" dirty="0"/>
                  <a:t>:- By convention, we use italics for symbols, and  boldface for their  corresponding regular expression.</a:t>
                </a:r>
              </a:p>
              <a:p>
                <a:pPr lvl="1">
                  <a:spcAft>
                    <a:spcPts val="600"/>
                  </a:spcAft>
                </a:pPr>
                <a:r>
                  <a:rPr lang="en-US" dirty="0"/>
                  <a:t>Each regular expression </a:t>
                </a:r>
                <a14:m>
                  <m:oMath xmlns:m="http://schemas.openxmlformats.org/officeDocument/2006/math">
                    <m:r>
                      <a:rPr lang="en-US" b="1" i="1" dirty="0" smtClean="0">
                        <a:latin typeface="Cambria Math" panose="02040503050406030204" pitchFamily="18" charset="0"/>
                      </a:rPr>
                      <m:t>𝒓</m:t>
                    </m:r>
                  </m:oMath>
                </a14:m>
                <a:r>
                  <a:rPr lang="en-US" dirty="0"/>
                  <a:t> denotes a language </a:t>
                </a: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m:t>
                    </m:r>
                  </m:oMath>
                </a14:m>
                <a:r>
                  <a:rPr lang="en-US" dirty="0"/>
                  <a:t>, which is also defined recursively from the languages denoted by </a:t>
                </a:r>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oMath>
                </a14:m>
                <a:r>
                  <a:rPr lang="en-US" dirty="0"/>
                  <a:t>sub expressions.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458200" cy="4953000"/>
              </a:xfrm>
              <a:blipFill rotWithShape="0">
                <a:blip r:embed="rId2"/>
                <a:stretch>
                  <a:fillRect l="-576" t="-1724" r="-10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C2C343A0-757D-4032-BC20-DF0A67BD0A50}" type="slidenum">
              <a:rPr lang="en-US" smtClean="0"/>
              <a:t>29</a:t>
            </a:fld>
            <a:endParaRPr lang="en-US"/>
          </a:p>
        </p:txBody>
      </p:sp>
    </p:spTree>
    <p:extLst>
      <p:ext uri="{BB962C8B-B14F-4D97-AF65-F5344CB8AC3E}">
        <p14:creationId xmlns:p14="http://schemas.microsoft.com/office/powerpoint/2010/main" val="1516782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458200" cy="4953000"/>
              </a:xfrm>
            </p:spPr>
            <p:txBody>
              <a:bodyPr>
                <a:normAutofit fontScale="47500" lnSpcReduction="20000"/>
              </a:bodyPr>
              <a:lstStyle/>
              <a:p>
                <a:pPr marL="0" indent="0">
                  <a:spcAft>
                    <a:spcPts val="600"/>
                  </a:spcAft>
                  <a:buNone/>
                </a:pPr>
                <a:r>
                  <a:rPr lang="en-US" b="1" dirty="0"/>
                  <a:t>Regular Expressions</a:t>
                </a:r>
              </a:p>
              <a:p>
                <a:pPr>
                  <a:spcAft>
                    <a:spcPts val="600"/>
                  </a:spcAft>
                </a:pPr>
                <a:r>
                  <a:rPr lang="en-US" dirty="0"/>
                  <a:t>There are four parts to the induction whereby larger regular expressions are built from smaller ones.  </a:t>
                </a:r>
              </a:p>
              <a:p>
                <a:pPr>
                  <a:spcAft>
                    <a:spcPts val="600"/>
                  </a:spcAft>
                </a:pPr>
                <a:r>
                  <a:rPr lang="en-US" dirty="0"/>
                  <a:t>Suppose </a:t>
                </a:r>
                <a14:m>
                  <m:oMath xmlns:m="http://schemas.openxmlformats.org/officeDocument/2006/math">
                    <m:r>
                      <a:rPr lang="en-US" b="1" i="1" dirty="0" smtClean="0">
                        <a:latin typeface="Cambria Math" panose="02040503050406030204" pitchFamily="18" charset="0"/>
                      </a:rPr>
                      <m:t>𝒓</m:t>
                    </m:r>
                  </m:oMath>
                </a14:m>
                <a:r>
                  <a:rPr lang="en-US" dirty="0"/>
                  <a:t> and </a:t>
                </a:r>
                <a14:m>
                  <m:oMath xmlns:m="http://schemas.openxmlformats.org/officeDocument/2006/math">
                    <m:r>
                      <a:rPr lang="en-US" b="1" i="1" dirty="0" smtClean="0">
                        <a:latin typeface="Cambria Math" panose="02040503050406030204" pitchFamily="18" charset="0"/>
                      </a:rPr>
                      <m:t>𝒔</m:t>
                    </m:r>
                  </m:oMath>
                </a14:m>
                <a:r>
                  <a:rPr lang="en-US" dirty="0"/>
                  <a:t> are regular expressions denoting languages </a:t>
                </a: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m:t>
                    </m:r>
                  </m:oMath>
                </a14:m>
                <a:r>
                  <a:rPr lang="en-US" dirty="0"/>
                  <a:t> and </a:t>
                </a: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𝒔</m:t>
                    </m:r>
                    <m:r>
                      <a:rPr lang="en-US" b="1" i="1" dirty="0" smtClean="0">
                        <a:latin typeface="Cambria Math" panose="02040503050406030204" pitchFamily="18" charset="0"/>
                      </a:rPr>
                      <m:t>)</m:t>
                    </m:r>
                  </m:oMath>
                </a14:m>
                <a:r>
                  <a:rPr lang="en-US" dirty="0"/>
                  <a:t>, respectively. </a:t>
                </a:r>
              </a:p>
              <a:p>
                <a:pPr marL="971550" lvl="1" indent="-514350">
                  <a:spcAft>
                    <a:spcPts val="600"/>
                  </a:spcAft>
                  <a:buFont typeface="+mj-lt"/>
                  <a:buAutoNum type="arabicPeriod"/>
                </a:pPr>
                <a:r>
                  <a:rPr lang="en-US" b="1" dirty="0"/>
                  <a:t> </a:t>
                </a:r>
                <a14:m>
                  <m:oMath xmlns:m="http://schemas.openxmlformats.org/officeDocument/2006/math">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 </m:t>
                    </m:r>
                    <m:r>
                      <a:rPr lang="en-US" b="1" i="1" dirty="0" smtClean="0">
                        <a:latin typeface="Cambria Math" panose="02040503050406030204" pitchFamily="18" charset="0"/>
                      </a:rPr>
                      <m:t>𝒔</m:t>
                    </m:r>
                    <m:r>
                      <a:rPr lang="en-US" b="1" i="1" dirty="0" smtClean="0">
                        <a:latin typeface="Cambria Math" panose="02040503050406030204" pitchFamily="18" charset="0"/>
                      </a:rPr>
                      <m:t>)</m:t>
                    </m:r>
                  </m:oMath>
                </a14:m>
                <a:r>
                  <a:rPr lang="en-US" b="1" dirty="0"/>
                  <a:t> 	</a:t>
                </a:r>
                <a:r>
                  <a:rPr lang="en-US" dirty="0"/>
                  <a:t>is a regular expression denoting the language  </a:t>
                </a: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m:t>
                    </m:r>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𝒔</m:t>
                    </m:r>
                    <m:r>
                      <a:rPr lang="en-US" b="1" i="1" dirty="0" smtClean="0">
                        <a:latin typeface="Cambria Math" panose="02040503050406030204" pitchFamily="18" charset="0"/>
                      </a:rPr>
                      <m:t>)</m:t>
                    </m:r>
                  </m:oMath>
                </a14:m>
                <a:r>
                  <a:rPr lang="en-US" dirty="0"/>
                  <a:t>. </a:t>
                </a:r>
              </a:p>
              <a:p>
                <a:pPr marL="971550" lvl="1" indent="-514350">
                  <a:spcAft>
                    <a:spcPts val="600"/>
                  </a:spcAft>
                  <a:buFont typeface="+mj-lt"/>
                  <a:buAutoNum type="arabicPeriod"/>
                </a:pPr>
                <a:r>
                  <a:rPr lang="en-US" b="1" dirty="0"/>
                  <a:t> </a:t>
                </a:r>
                <a14:m>
                  <m:oMath xmlns:m="http://schemas.openxmlformats.org/officeDocument/2006/math">
                    <m:r>
                      <a:rPr lang="en-US" b="1" i="1" dirty="0" smtClean="0">
                        <a:latin typeface="Cambria Math" panose="02040503050406030204" pitchFamily="18" charset="0"/>
                      </a:rPr>
                      <m:t>(</m:t>
                    </m:r>
                    <m:r>
                      <a:rPr lang="en-US" b="1" i="1" dirty="0">
                        <a:latin typeface="Cambria Math" panose="02040503050406030204" pitchFamily="18" charset="0"/>
                      </a:rPr>
                      <m:t>𝒓</m:t>
                    </m:r>
                    <m:r>
                      <a:rPr lang="en-US" b="1" i="1" dirty="0">
                        <a:latin typeface="Cambria Math" panose="02040503050406030204" pitchFamily="18" charset="0"/>
                      </a:rPr>
                      <m:t>)(</m:t>
                    </m:r>
                    <m:r>
                      <a:rPr lang="en-US" b="1" i="1" dirty="0">
                        <a:latin typeface="Cambria Math" panose="02040503050406030204" pitchFamily="18" charset="0"/>
                      </a:rPr>
                      <m:t>𝒔</m:t>
                    </m:r>
                    <m:r>
                      <a:rPr lang="en-US" b="1" i="1" dirty="0">
                        <a:latin typeface="Cambria Math" panose="02040503050406030204" pitchFamily="18" charset="0"/>
                      </a:rPr>
                      <m:t>) </m:t>
                    </m:r>
                  </m:oMath>
                </a14:m>
                <a:r>
                  <a:rPr lang="en-US" b="1" dirty="0"/>
                  <a:t>	</a:t>
                </a:r>
                <a:r>
                  <a:rPr lang="en-US" dirty="0"/>
                  <a:t>is a regular expression  denoting the  language  </a:t>
                </a: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m:t>
                    </m:r>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𝒔</m:t>
                    </m:r>
                    <m:r>
                      <a:rPr lang="en-US" b="1" i="1" dirty="0" smtClean="0">
                        <a:latin typeface="Cambria Math" panose="02040503050406030204" pitchFamily="18" charset="0"/>
                      </a:rPr>
                      <m:t>)</m:t>
                    </m:r>
                  </m:oMath>
                </a14:m>
                <a:r>
                  <a:rPr lang="en-US" dirty="0"/>
                  <a:t>. </a:t>
                </a:r>
              </a:p>
              <a:p>
                <a:pPr marL="971550" lvl="1" indent="-514350">
                  <a:spcAft>
                    <a:spcPts val="600"/>
                  </a:spcAft>
                  <a:buFont typeface="+mj-lt"/>
                  <a:buAutoNum type="arabicPeriod"/>
                </a:pPr>
                <a14:m>
                  <m:oMath xmlns:m="http://schemas.openxmlformats.org/officeDocument/2006/math">
                    <m:r>
                      <a:rPr lang="en-US" b="1" i="0" dirty="0">
                        <a:latin typeface="Cambria Math" panose="02040503050406030204" pitchFamily="18" charset="0"/>
                      </a:rPr>
                      <m:t> </m:t>
                    </m:r>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m:t>
                        </m:r>
                      </m:e>
                      <m:sup>
                        <m:r>
                          <a:rPr lang="en-US" b="1" i="1" dirty="0">
                            <a:latin typeface="Cambria Math" panose="02040503050406030204" pitchFamily="18" charset="0"/>
                          </a:rPr>
                          <m:t>∗</m:t>
                        </m:r>
                      </m:sup>
                    </m:sSup>
                    <m:r>
                      <a:rPr lang="en-US" b="1" i="1" dirty="0">
                        <a:latin typeface="Cambria Math" panose="02040503050406030204" pitchFamily="18" charset="0"/>
                      </a:rPr>
                      <m:t> </m:t>
                    </m:r>
                  </m:oMath>
                </a14:m>
                <a:r>
                  <a:rPr lang="en-US" dirty="0"/>
                  <a:t>	is a regular expression denoting  </a:t>
                </a:r>
                <a14:m>
                  <m:oMath xmlns:m="http://schemas.openxmlformats.org/officeDocument/2006/math">
                    <m:sSup>
                      <m:sSupPr>
                        <m:ctrlPr>
                          <a:rPr lang="en-US" i="1" dirty="0" smtClean="0">
                            <a:latin typeface="Cambria Math" panose="02040503050406030204" pitchFamily="18" charset="0"/>
                          </a:rPr>
                        </m:ctrlPr>
                      </m:sSupPr>
                      <m:e>
                        <m:r>
                          <a:rPr lang="en-US" i="1" dirty="0">
                            <a:latin typeface="Cambria Math" panose="02040503050406030204" pitchFamily="18" charset="0"/>
                          </a:rPr>
                          <m:t>(</m:t>
                        </m:r>
                        <m:r>
                          <a:rPr lang="en-US" i="1" dirty="0">
                            <a:latin typeface="Cambria Math" panose="02040503050406030204" pitchFamily="18" charset="0"/>
                          </a:rPr>
                          <m:t>𝐿</m:t>
                        </m:r>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e>
                      <m:sup>
                        <m:r>
                          <a:rPr lang="en-US" b="0" i="1" dirty="0" smtClean="0">
                            <a:latin typeface="Cambria Math" panose="02040503050406030204" pitchFamily="18" charset="0"/>
                          </a:rPr>
                          <m:t>∗</m:t>
                        </m:r>
                      </m:sup>
                    </m:sSup>
                  </m:oMath>
                </a14:m>
                <a:r>
                  <a:rPr lang="en-US" dirty="0"/>
                  <a:t>. </a:t>
                </a:r>
              </a:p>
              <a:p>
                <a:pPr marL="971550" lvl="1" indent="-514350">
                  <a:spcAft>
                    <a:spcPts val="600"/>
                  </a:spcAft>
                  <a:buFont typeface="+mj-lt"/>
                  <a:buAutoNum type="arabicPeriod"/>
                </a:pPr>
                <a:r>
                  <a:rPr lang="en-US" b="1" dirty="0"/>
                  <a:t> </a:t>
                </a:r>
                <a14:m>
                  <m:oMath xmlns:m="http://schemas.openxmlformats.org/officeDocument/2006/math">
                    <m:r>
                      <a:rPr lang="en-US" b="1" i="1" dirty="0" smtClean="0">
                        <a:latin typeface="Cambria Math" panose="02040503050406030204" pitchFamily="18" charset="0"/>
                      </a:rPr>
                      <m:t>(</m:t>
                    </m:r>
                    <m:r>
                      <a:rPr lang="en-US" b="1" i="1" dirty="0">
                        <a:latin typeface="Cambria Math" panose="02040503050406030204" pitchFamily="18" charset="0"/>
                      </a:rPr>
                      <m:t>𝒓</m:t>
                    </m:r>
                    <m:r>
                      <a:rPr lang="en-US" b="1" i="1" dirty="0">
                        <a:latin typeface="Cambria Math" panose="02040503050406030204" pitchFamily="18" charset="0"/>
                      </a:rPr>
                      <m:t>)</m:t>
                    </m:r>
                  </m:oMath>
                </a14:m>
                <a:r>
                  <a:rPr lang="en-US" b="1" dirty="0"/>
                  <a:t>  	</a:t>
                </a:r>
                <a:r>
                  <a:rPr lang="en-US" dirty="0"/>
                  <a:t>is  a regular expression denoting </a:t>
                </a: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m:t>
                    </m:r>
                  </m:oMath>
                </a14:m>
                <a:r>
                  <a:rPr lang="en-US" dirty="0"/>
                  <a:t>.  </a:t>
                </a:r>
              </a:p>
              <a:p>
                <a:pPr lvl="2">
                  <a:spcAft>
                    <a:spcPts val="600"/>
                  </a:spcAft>
                </a:pPr>
                <a:r>
                  <a:rPr lang="en-US" dirty="0"/>
                  <a:t>This last rule says that we can add additional pairs of parentheses around expressions without  changing the language they denote. </a:t>
                </a:r>
              </a:p>
              <a:p>
                <a:pPr>
                  <a:spcAft>
                    <a:spcPts val="600"/>
                  </a:spcAft>
                </a:pPr>
                <a:r>
                  <a:rPr lang="en-US" dirty="0"/>
                  <a:t>Regular expressions often contain unnecessary pairs of parentheses.  </a:t>
                </a:r>
              </a:p>
              <a:p>
                <a:pPr>
                  <a:spcAft>
                    <a:spcPts val="600"/>
                  </a:spcAft>
                </a:pPr>
                <a:r>
                  <a:rPr lang="en-US" dirty="0"/>
                  <a:t>We may drop certain pairs of parentheses if we adopt the conventions that: </a:t>
                </a:r>
              </a:p>
              <a:p>
                <a:pPr marL="971550" lvl="1" indent="-457200">
                  <a:spcAft>
                    <a:spcPts val="600"/>
                  </a:spcAft>
                  <a:buFont typeface="+mj-lt"/>
                  <a:buAutoNum type="alphaLcParenR"/>
                </a:pPr>
                <a:r>
                  <a:rPr lang="en-US" dirty="0"/>
                  <a:t>The unary operator *  has highest precedence and is left associative. </a:t>
                </a:r>
              </a:p>
              <a:p>
                <a:pPr marL="971550" lvl="1" indent="-457200">
                  <a:spcAft>
                    <a:spcPts val="600"/>
                  </a:spcAft>
                  <a:buFont typeface="+mj-lt"/>
                  <a:buAutoNum type="alphaLcParenR"/>
                </a:pPr>
                <a:r>
                  <a:rPr lang="en-US" dirty="0"/>
                  <a:t>Concatenation has second highest precedence and is left associative. </a:t>
                </a:r>
              </a:p>
              <a:p>
                <a:pPr marL="971550" lvl="1" indent="-457200">
                  <a:spcAft>
                    <a:spcPts val="600"/>
                  </a:spcAft>
                  <a:buFont typeface="+mj-lt"/>
                  <a:buAutoNum type="alphaLcParenR"/>
                </a:pPr>
                <a:r>
                  <a:rPr lang="en-US" dirty="0"/>
                  <a:t>Union has lowest precedence and is left associative. </a:t>
                </a:r>
              </a:p>
              <a:p>
                <a:pPr lvl="1">
                  <a:spcAft>
                    <a:spcPts val="600"/>
                  </a:spcAft>
                </a:pPr>
                <a:endParaRPr lang="en-US" b="1" dirty="0"/>
              </a:p>
              <a:p>
                <a:pPr marL="457200" lvl="1" indent="0">
                  <a:spcAft>
                    <a:spcPts val="600"/>
                  </a:spcAft>
                  <a:buNone/>
                </a:pPr>
                <a:r>
                  <a:rPr lang="en-US" b="1" dirty="0"/>
                  <a:t>Example</a:t>
                </a:r>
                <a:r>
                  <a:rPr lang="en-US" dirty="0"/>
                  <a:t>:- </a:t>
                </a:r>
                <a14:m>
                  <m:oMath xmlns:m="http://schemas.openxmlformats.org/officeDocument/2006/math">
                    <m:r>
                      <a:rPr lang="en-US" b="1" i="1" dirty="0" smtClean="0">
                        <a:latin typeface="Cambria Math" panose="02040503050406030204" pitchFamily="18" charset="0"/>
                      </a:rPr>
                      <m:t>(</m:t>
                    </m:r>
                    <m:r>
                      <a:rPr lang="en-US" b="1" i="1" dirty="0" smtClean="0">
                        <a:latin typeface="Cambria Math" panose="02040503050406030204" pitchFamily="18" charset="0"/>
                      </a:rPr>
                      <m:t>𝒂</m:t>
                    </m:r>
                    <m:r>
                      <a:rPr lang="en-US" b="1" i="1" dirty="0" smtClean="0">
                        <a:latin typeface="Cambria Math" panose="02040503050406030204" pitchFamily="18" charset="0"/>
                      </a:rPr>
                      <m:t>) |(</m:t>
                    </m:r>
                    <m:sSup>
                      <m:sSupPr>
                        <m:ctrlPr>
                          <a:rPr lang="en-US" b="1" i="1" dirty="0" smtClean="0">
                            <a:latin typeface="Cambria Math" panose="02040503050406030204" pitchFamily="18" charset="0"/>
                          </a:rPr>
                        </m:ctrlPr>
                      </m:sSupPr>
                      <m:e>
                        <m:r>
                          <a:rPr lang="en-US" b="1" i="1" dirty="0">
                            <a:latin typeface="Cambria Math" panose="02040503050406030204" pitchFamily="18" charset="0"/>
                          </a:rPr>
                          <m:t>(</m:t>
                        </m:r>
                        <m:r>
                          <a:rPr lang="en-US" b="1" i="1" dirty="0">
                            <a:latin typeface="Cambria Math" panose="02040503050406030204" pitchFamily="18" charset="0"/>
                          </a:rPr>
                          <m:t>𝒃</m:t>
                        </m:r>
                        <m:r>
                          <a:rPr lang="en-US" b="1" i="1" dirty="0">
                            <a:latin typeface="Cambria Math" panose="02040503050406030204" pitchFamily="18" charset="0"/>
                          </a:rPr>
                          <m:t>)</m:t>
                        </m:r>
                      </m:e>
                      <m:sup>
                        <m:r>
                          <a:rPr lang="en-US" b="1" i="1" dirty="0" smtClean="0">
                            <a:latin typeface="Cambria Math" panose="02040503050406030204" pitchFamily="18" charset="0"/>
                          </a:rPr>
                          <m:t>∗</m:t>
                        </m:r>
                      </m:sup>
                    </m:sSup>
                    <m:r>
                      <a:rPr lang="en-US" b="1" i="1" dirty="0" smtClean="0">
                        <a:latin typeface="Cambria Math" panose="02040503050406030204" pitchFamily="18" charset="0"/>
                      </a:rPr>
                      <m:t>(</m:t>
                    </m:r>
                    <m:r>
                      <a:rPr lang="en-US" b="1" i="1" dirty="0" smtClean="0">
                        <a:latin typeface="Cambria Math" panose="02040503050406030204" pitchFamily="18" charset="0"/>
                      </a:rPr>
                      <m:t>𝒄</m:t>
                    </m:r>
                    <m:r>
                      <a:rPr lang="en-US" b="1" i="1" dirty="0" smtClean="0">
                        <a:latin typeface="Cambria Math" panose="02040503050406030204" pitchFamily="18" charset="0"/>
                      </a:rPr>
                      <m:t>))</m:t>
                    </m:r>
                  </m:oMath>
                </a14:m>
                <a:r>
                  <a:rPr lang="en-US" dirty="0"/>
                  <a:t> can be represented by </a:t>
                </a:r>
                <a14:m>
                  <m:oMath xmlns:m="http://schemas.openxmlformats.org/officeDocument/2006/math">
                    <m:r>
                      <a:rPr lang="en-US" i="1" dirty="0" smtClean="0">
                        <a:latin typeface="Cambria Math" panose="02040503050406030204" pitchFamily="18" charset="0"/>
                      </a:rPr>
                      <m:t>𝑎</m:t>
                    </m:r>
                    <m:r>
                      <a:rPr lang="en-US" i="1"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a:latin typeface="Cambria Math" panose="02040503050406030204" pitchFamily="18" charset="0"/>
                          </a:rPr>
                          <m:t>𝑏</m:t>
                        </m:r>
                      </m:e>
                      <m:sup>
                        <m:r>
                          <a:rPr lang="en-US" b="0" i="1" dirty="0" smtClean="0">
                            <a:latin typeface="Cambria Math" panose="02040503050406030204" pitchFamily="18" charset="0"/>
                          </a:rPr>
                          <m:t>∗</m:t>
                        </m:r>
                      </m:sup>
                    </m:sSup>
                    <m:r>
                      <a:rPr lang="en-US" i="1" dirty="0">
                        <a:latin typeface="Cambria Math" panose="02040503050406030204" pitchFamily="18" charset="0"/>
                      </a:rPr>
                      <m:t>𝑐</m:t>
                    </m:r>
                  </m:oMath>
                </a14:m>
                <a:r>
                  <a:rPr lang="en-US" dirty="0"/>
                  <a:t>.  </a:t>
                </a:r>
              </a:p>
              <a:p>
                <a:pPr lvl="1">
                  <a:spcAft>
                    <a:spcPts val="600"/>
                  </a:spcAft>
                </a:pPr>
                <a:r>
                  <a:rPr lang="en-US" dirty="0"/>
                  <a:t>Both expressions denote the set of strings that are either a single a or are zero or more b' s followed by one c.</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458200" cy="4953000"/>
              </a:xfrm>
              <a:blipFill rotWithShape="0">
                <a:blip r:embed="rId2"/>
                <a:stretch>
                  <a:fillRect l="-288" t="-110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C2C343A0-757D-4032-BC20-DF0A67BD0A50}" type="slidenum">
              <a:rPr lang="en-US" smtClean="0"/>
              <a:t>30</a:t>
            </a:fld>
            <a:endParaRPr lang="en-US"/>
          </a:p>
        </p:txBody>
      </p:sp>
    </p:spTree>
    <p:extLst>
      <p:ext uri="{BB962C8B-B14F-4D97-AF65-F5344CB8AC3E}">
        <p14:creationId xmlns:p14="http://schemas.microsoft.com/office/powerpoint/2010/main" val="506821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458200" cy="4953000"/>
              </a:xfrm>
            </p:spPr>
            <p:txBody>
              <a:bodyPr>
                <a:normAutofit fontScale="47500" lnSpcReduction="20000"/>
              </a:bodyPr>
              <a:lstStyle/>
              <a:p>
                <a:pPr marL="0" indent="0">
                  <a:spcAft>
                    <a:spcPts val="600"/>
                  </a:spcAft>
                  <a:buNone/>
                </a:pPr>
                <a:r>
                  <a:rPr lang="en-US" b="1" dirty="0"/>
                  <a:t>Regular Expressions</a:t>
                </a:r>
              </a:p>
              <a:p>
                <a:pPr>
                  <a:spcAft>
                    <a:spcPts val="600"/>
                  </a:spcAft>
                </a:pPr>
                <a:r>
                  <a:rPr lang="en-US" dirty="0"/>
                  <a:t>A language that can be defined by a regular expression is called a </a:t>
                </a:r>
                <a:r>
                  <a:rPr lang="en-US" b="1" i="1" dirty="0"/>
                  <a:t>regular set</a:t>
                </a:r>
                <a:r>
                  <a:rPr lang="en-US" dirty="0"/>
                  <a:t>.  </a:t>
                </a:r>
              </a:p>
              <a:p>
                <a:pPr>
                  <a:spcAft>
                    <a:spcPts val="600"/>
                  </a:spcAft>
                </a:pPr>
                <a:r>
                  <a:rPr lang="en-US" dirty="0"/>
                  <a:t>If two regular expressions </a:t>
                </a:r>
                <a14:m>
                  <m:oMath xmlns:m="http://schemas.openxmlformats.org/officeDocument/2006/math">
                    <m:r>
                      <a:rPr lang="en-US" b="1" i="1" dirty="0" smtClean="0">
                        <a:latin typeface="Cambria Math" panose="02040503050406030204" pitchFamily="18" charset="0"/>
                      </a:rPr>
                      <m:t>𝒓</m:t>
                    </m:r>
                  </m:oMath>
                </a14:m>
                <a:r>
                  <a:rPr lang="en-US" dirty="0"/>
                  <a:t> and </a:t>
                </a:r>
                <a14:m>
                  <m:oMath xmlns:m="http://schemas.openxmlformats.org/officeDocument/2006/math">
                    <m:r>
                      <a:rPr lang="en-US" b="1" i="1" dirty="0" smtClean="0">
                        <a:latin typeface="Cambria Math" panose="02040503050406030204" pitchFamily="18" charset="0"/>
                      </a:rPr>
                      <m:t>𝒔</m:t>
                    </m:r>
                  </m:oMath>
                </a14:m>
                <a:r>
                  <a:rPr lang="en-US" dirty="0"/>
                  <a:t> denote the same regular set, we say they are equivalent and write </a:t>
                </a:r>
                <a14:m>
                  <m:oMath xmlns:m="http://schemas.openxmlformats.org/officeDocument/2006/math">
                    <m:r>
                      <a:rPr lang="en-US" b="1" i="1" dirty="0" smtClean="0">
                        <a:latin typeface="Cambria Math" panose="02040503050406030204" pitchFamily="18" charset="0"/>
                      </a:rPr>
                      <m:t>𝒓</m:t>
                    </m:r>
                    <m:r>
                      <a:rPr lang="en-US" b="1" i="1" dirty="0" smtClean="0">
                        <a:latin typeface="Cambria Math" panose="02040503050406030204" pitchFamily="18" charset="0"/>
                      </a:rPr>
                      <m:t>=</m:t>
                    </m:r>
                    <m:r>
                      <a:rPr lang="en-US" b="1" i="1" dirty="0" smtClean="0">
                        <a:latin typeface="Cambria Math" panose="02040503050406030204" pitchFamily="18" charset="0"/>
                      </a:rPr>
                      <m:t>𝒔</m:t>
                    </m:r>
                  </m:oMath>
                </a14:m>
                <a:r>
                  <a:rPr lang="en-US" dirty="0"/>
                  <a:t>.  </a:t>
                </a:r>
              </a:p>
              <a:p>
                <a:pPr lvl="1">
                  <a:spcAft>
                    <a:spcPts val="600"/>
                  </a:spcAft>
                </a:pPr>
                <a:r>
                  <a:rPr lang="en-US" dirty="0"/>
                  <a:t>For instance, </a:t>
                </a:r>
                <a14:m>
                  <m:oMath xmlns:m="http://schemas.openxmlformats.org/officeDocument/2006/math">
                    <m:d>
                      <m:dPr>
                        <m:ctrlPr>
                          <a:rPr lang="en-US" b="1" i="1" dirty="0" smtClean="0">
                            <a:latin typeface="Cambria Math" panose="02040503050406030204" pitchFamily="18" charset="0"/>
                          </a:rPr>
                        </m:ctrlPr>
                      </m:dPr>
                      <m:e>
                        <m:r>
                          <a:rPr lang="en-US" b="1" i="1" dirty="0" err="1">
                            <a:latin typeface="Cambria Math" panose="02040503050406030204" pitchFamily="18" charset="0"/>
                          </a:rPr>
                          <m:t>𝒂</m:t>
                        </m:r>
                      </m:e>
                      <m:e>
                        <m:r>
                          <a:rPr lang="en-US" b="1" i="1" dirty="0" err="1">
                            <a:latin typeface="Cambria Math" panose="02040503050406030204" pitchFamily="18" charset="0"/>
                          </a:rPr>
                          <m:t>𝒃</m:t>
                        </m:r>
                      </m:e>
                    </m:d>
                    <m:r>
                      <a:rPr lang="en-US" b="1" i="1" dirty="0">
                        <a:latin typeface="Cambria Math" panose="02040503050406030204" pitchFamily="18" charset="0"/>
                      </a:rPr>
                      <m:t>=(</m:t>
                    </m:r>
                    <m:r>
                      <a:rPr lang="en-US" b="1" i="1" dirty="0" err="1">
                        <a:latin typeface="Cambria Math" panose="02040503050406030204" pitchFamily="18" charset="0"/>
                      </a:rPr>
                      <m:t>𝒃</m:t>
                    </m:r>
                    <m:r>
                      <a:rPr lang="en-US" b="1" i="1" dirty="0" err="1">
                        <a:latin typeface="Cambria Math" panose="02040503050406030204" pitchFamily="18" charset="0"/>
                      </a:rPr>
                      <m:t>|</m:t>
                    </m:r>
                    <m:r>
                      <a:rPr lang="en-US" b="1" i="1" dirty="0" err="1">
                        <a:latin typeface="Cambria Math" panose="02040503050406030204" pitchFamily="18" charset="0"/>
                      </a:rPr>
                      <m:t>𝒂</m:t>
                    </m:r>
                    <m:r>
                      <a:rPr lang="en-US" b="1" i="1" dirty="0">
                        <a:latin typeface="Cambria Math" panose="02040503050406030204" pitchFamily="18" charset="0"/>
                      </a:rPr>
                      <m:t>)</m:t>
                    </m:r>
                  </m:oMath>
                </a14:m>
                <a:r>
                  <a:rPr lang="en-US" dirty="0"/>
                  <a:t>. </a:t>
                </a:r>
              </a:p>
              <a:p>
                <a:pPr>
                  <a:spcAft>
                    <a:spcPts val="600"/>
                  </a:spcAft>
                </a:pPr>
                <a:r>
                  <a:rPr lang="en-US" dirty="0"/>
                  <a:t>There are a number of algebraic laws for regular expressions; each law asserts that expressions of  two different forms are  equivalent. </a:t>
                </a:r>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marL="0" indent="0">
                  <a:spcAft>
                    <a:spcPts val="600"/>
                  </a:spcAft>
                  <a:buNone/>
                </a:pPr>
                <a:endParaRPr lang="en-US" dirty="0"/>
              </a:p>
              <a:p>
                <a:pPr marL="0" indent="0">
                  <a:spcAft>
                    <a:spcPts val="600"/>
                  </a:spcAft>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458200" cy="4953000"/>
              </a:xfrm>
              <a:blipFill rotWithShape="0">
                <a:blip r:embed="rId2"/>
                <a:stretch>
                  <a:fillRect l="-288" t="-1108" r="-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300999911"/>
                  </p:ext>
                </p:extLst>
              </p:nvPr>
            </p:nvGraphicFramePr>
            <p:xfrm>
              <a:off x="1524000" y="3489960"/>
              <a:ext cx="5638800" cy="298704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279918">
                    <a:tc>
                      <a:txBody>
                        <a:bodyPr/>
                        <a:lstStyle/>
                        <a:p>
                          <a:pPr algn="ctr"/>
                          <a:r>
                            <a:rPr lang="en-US" sz="1400" dirty="0">
                              <a:solidFill>
                                <a:srgbClr val="000000"/>
                              </a:solidFill>
                              <a:latin typeface="Perpetua" pitchFamily="18" charset="0"/>
                            </a:rPr>
                            <a:t>LAW</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rgbClr val="000000"/>
                              </a:solidFill>
                              <a:latin typeface="Perpetua" pitchFamily="18" charset="0"/>
                            </a:rPr>
                            <a:t>DESCRIPTION </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7910">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1" i="1" dirty="0" smtClean="0">
                                    <a:solidFill>
                                      <a:srgbClr val="000000"/>
                                    </a:solidFill>
                                    <a:latin typeface="Cambria Math" panose="02040503050406030204" pitchFamily="18" charset="0"/>
                                  </a:rPr>
                                  <m:t>𝒓</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𝒔</m:t>
                                </m:r>
                                <m:r>
                                  <a:rPr lang="en-US" sz="1600" b="1" i="1" dirty="0" smtClean="0">
                                    <a:solidFill>
                                      <a:srgbClr val="000000"/>
                                    </a:solidFill>
                                    <a:latin typeface="Cambria Math" panose="02040503050406030204" pitchFamily="18" charset="0"/>
                                  </a:rPr>
                                  <m:t> = </m:t>
                                </m:r>
                                <m:r>
                                  <a:rPr lang="en-US" sz="1600" b="1" i="1" dirty="0" err="1" smtClean="0">
                                    <a:solidFill>
                                      <a:srgbClr val="000000"/>
                                    </a:solidFill>
                                    <a:latin typeface="Cambria Math" panose="02040503050406030204" pitchFamily="18" charset="0"/>
                                  </a:rPr>
                                  <m:t>𝒔</m:t>
                                </m:r>
                                <m:r>
                                  <a:rPr lang="en-US" sz="1600" b="1" i="1" dirty="0" err="1" smtClean="0">
                                    <a:solidFill>
                                      <a:srgbClr val="000000"/>
                                    </a:solidFill>
                                    <a:latin typeface="Cambria Math" panose="02040503050406030204" pitchFamily="18" charset="0"/>
                                  </a:rPr>
                                  <m:t>|</m:t>
                                </m:r>
                                <m:r>
                                  <a:rPr lang="en-US" sz="1600" b="1" i="1" dirty="0" err="1" smtClean="0">
                                    <a:solidFill>
                                      <a:srgbClr val="000000"/>
                                    </a:solidFill>
                                    <a:latin typeface="Cambria Math" panose="02040503050406030204" pitchFamily="18" charset="0"/>
                                  </a:rPr>
                                  <m:t>𝒓</m:t>
                                </m:r>
                              </m:oMath>
                            </m:oMathPara>
                          </a14:m>
                          <a:endParaRPr lang="en-US" sz="1600" b="1" dirty="0">
                            <a:solidFill>
                              <a:srgbClr val="000000"/>
                            </a:solidFill>
                            <a:latin typeface="Perpetua"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r>
                            <a:rPr lang="en-US" sz="1600" b="1" dirty="0">
                              <a:solidFill>
                                <a:srgbClr val="000000"/>
                              </a:solidFill>
                              <a:latin typeface="Perpetua" pitchFamily="18" charset="0"/>
                            </a:rPr>
                            <a:t>|</a:t>
                          </a:r>
                          <a:r>
                            <a:rPr lang="en-US" sz="1600" dirty="0">
                              <a:solidFill>
                                <a:srgbClr val="000000"/>
                              </a:solidFill>
                              <a:latin typeface="Perpetua" pitchFamily="18" charset="0"/>
                            </a:rPr>
                            <a:t> is  commutative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7910">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1" i="1" dirty="0" smtClean="0">
                                    <a:solidFill>
                                      <a:srgbClr val="000000"/>
                                    </a:solidFill>
                                    <a:latin typeface="Cambria Math" panose="02040503050406030204" pitchFamily="18" charset="0"/>
                                  </a:rPr>
                                  <m:t>𝒓</m:t>
                                </m:r>
                                <m:r>
                                  <a:rPr lang="en-US" sz="1600" b="1" i="1" dirty="0" smtClean="0">
                                    <a:solidFill>
                                      <a:srgbClr val="000000"/>
                                    </a:solidFill>
                                    <a:latin typeface="Cambria Math" panose="02040503050406030204" pitchFamily="18" charset="0"/>
                                  </a:rPr>
                                  <m:t>|(</m:t>
                                </m:r>
                                <m:r>
                                  <a:rPr lang="en-US" sz="1600" b="1" i="1" dirty="0" err="1" smtClean="0">
                                    <a:solidFill>
                                      <a:srgbClr val="000000"/>
                                    </a:solidFill>
                                    <a:latin typeface="Cambria Math" panose="02040503050406030204" pitchFamily="18" charset="0"/>
                                  </a:rPr>
                                  <m:t>𝒔</m:t>
                                </m:r>
                                <m:r>
                                  <a:rPr lang="en-US" sz="1600" b="1" i="1" dirty="0" err="1" smtClean="0">
                                    <a:solidFill>
                                      <a:srgbClr val="000000"/>
                                    </a:solidFill>
                                    <a:latin typeface="Cambria Math" panose="02040503050406030204" pitchFamily="18" charset="0"/>
                                  </a:rPr>
                                  <m:t>|</m:t>
                                </m:r>
                                <m:r>
                                  <a:rPr lang="en-US" sz="1600" b="1" i="1" dirty="0" err="1" smtClean="0">
                                    <a:solidFill>
                                      <a:srgbClr val="000000"/>
                                    </a:solidFill>
                                    <a:latin typeface="Cambria Math" panose="02040503050406030204" pitchFamily="18" charset="0"/>
                                  </a:rPr>
                                  <m:t>𝒕</m:t>
                                </m:r>
                                <m:r>
                                  <a:rPr lang="en-US" sz="1600" b="1" i="1" dirty="0" smtClean="0">
                                    <a:solidFill>
                                      <a:srgbClr val="000000"/>
                                    </a:solidFill>
                                    <a:latin typeface="Cambria Math" panose="02040503050406030204" pitchFamily="18" charset="0"/>
                                  </a:rPr>
                                  <m:t>) = (</m:t>
                                </m:r>
                                <m:r>
                                  <a:rPr lang="en-US" sz="1600" b="1" i="1" dirty="0" err="1" smtClean="0">
                                    <a:solidFill>
                                      <a:srgbClr val="000000"/>
                                    </a:solidFill>
                                    <a:latin typeface="Cambria Math" panose="02040503050406030204" pitchFamily="18" charset="0"/>
                                  </a:rPr>
                                  <m:t>𝒓</m:t>
                                </m:r>
                                <m:r>
                                  <a:rPr lang="en-US" sz="1600" b="1" i="1" dirty="0" err="1" smtClean="0">
                                    <a:solidFill>
                                      <a:srgbClr val="000000"/>
                                    </a:solidFill>
                                    <a:latin typeface="Cambria Math" panose="02040503050406030204" pitchFamily="18" charset="0"/>
                                  </a:rPr>
                                  <m:t>|</m:t>
                                </m:r>
                                <m:r>
                                  <a:rPr lang="en-US" sz="1600" b="1" i="1" dirty="0" err="1" smtClean="0">
                                    <a:solidFill>
                                      <a:srgbClr val="000000"/>
                                    </a:solidFill>
                                    <a:latin typeface="Cambria Math" panose="02040503050406030204" pitchFamily="18" charset="0"/>
                                  </a:rPr>
                                  <m:t>𝒔</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𝒕</m:t>
                                </m:r>
                              </m:oMath>
                            </m:oMathPara>
                          </a14:m>
                          <a:endParaRPr lang="en-US" sz="1600" b="1" dirty="0">
                            <a:solidFill>
                              <a:srgbClr val="000000"/>
                            </a:solidFill>
                            <a:latin typeface="Perpetua"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r>
                            <a:rPr lang="en-US" sz="1600" b="1" dirty="0">
                              <a:solidFill>
                                <a:srgbClr val="000000"/>
                              </a:solidFill>
                              <a:latin typeface="Perpetua" pitchFamily="18" charset="0"/>
                            </a:rPr>
                            <a:t>| </a:t>
                          </a:r>
                          <a:r>
                            <a:rPr lang="en-US" sz="1600" dirty="0">
                              <a:solidFill>
                                <a:srgbClr val="000000"/>
                              </a:solidFill>
                              <a:latin typeface="Perpetua" pitchFamily="18" charset="0"/>
                            </a:rPr>
                            <a:t>is  associative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7910">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1" i="1" dirty="0" smtClean="0">
                                    <a:solidFill>
                                      <a:srgbClr val="000000"/>
                                    </a:solidFill>
                                    <a:latin typeface="Cambria Math" panose="02040503050406030204" pitchFamily="18" charset="0"/>
                                  </a:rPr>
                                  <m:t>𝒓</m:t>
                                </m:r>
                                <m:r>
                                  <a:rPr lang="en-US" sz="1600" b="1" i="1" dirty="0" smtClean="0">
                                    <a:solidFill>
                                      <a:srgbClr val="000000"/>
                                    </a:solidFill>
                                    <a:latin typeface="Cambria Math" panose="02040503050406030204" pitchFamily="18" charset="0"/>
                                  </a:rPr>
                                  <m:t>(</m:t>
                                </m:r>
                                <m:r>
                                  <a:rPr lang="en-US" sz="1600" b="1" i="1" dirty="0" err="1" smtClean="0">
                                    <a:solidFill>
                                      <a:srgbClr val="000000"/>
                                    </a:solidFill>
                                    <a:latin typeface="Cambria Math" panose="02040503050406030204" pitchFamily="18" charset="0"/>
                                  </a:rPr>
                                  <m:t>𝒔𝒕</m:t>
                                </m:r>
                                <m:r>
                                  <a:rPr lang="en-US" sz="1600" b="1" i="1" dirty="0" smtClean="0">
                                    <a:solidFill>
                                      <a:srgbClr val="000000"/>
                                    </a:solidFill>
                                    <a:latin typeface="Cambria Math" panose="02040503050406030204" pitchFamily="18" charset="0"/>
                                  </a:rPr>
                                  <m:t>) = (</m:t>
                                </m:r>
                                <m:r>
                                  <a:rPr lang="en-US" sz="1600" b="1" i="1" dirty="0" err="1" smtClean="0">
                                    <a:solidFill>
                                      <a:srgbClr val="000000"/>
                                    </a:solidFill>
                                    <a:latin typeface="Cambria Math" panose="02040503050406030204" pitchFamily="18" charset="0"/>
                                  </a:rPr>
                                  <m:t>𝒓𝒔</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𝒕</m:t>
                                </m:r>
                              </m:oMath>
                            </m:oMathPara>
                          </a14:m>
                          <a:endParaRPr lang="en-US" sz="1600" b="1" dirty="0">
                            <a:solidFill>
                              <a:srgbClr val="000000"/>
                            </a:solidFill>
                            <a:latin typeface="Perpetua"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rgbClr val="000000"/>
                              </a:solidFill>
                              <a:latin typeface="Perpetua" pitchFamily="18" charset="0"/>
                            </a:rPr>
                            <a:t>Concatenation is associative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7910">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1" i="1" dirty="0" smtClean="0">
                                    <a:solidFill>
                                      <a:srgbClr val="000000"/>
                                    </a:solidFill>
                                    <a:latin typeface="Cambria Math" panose="02040503050406030204" pitchFamily="18" charset="0"/>
                                  </a:rPr>
                                  <m:t>𝒓</m:t>
                                </m:r>
                                <m:r>
                                  <a:rPr lang="en-US" sz="1600" b="1" i="1" dirty="0" smtClean="0">
                                    <a:solidFill>
                                      <a:srgbClr val="000000"/>
                                    </a:solidFill>
                                    <a:latin typeface="Cambria Math" panose="02040503050406030204" pitchFamily="18" charset="0"/>
                                  </a:rPr>
                                  <m:t>(</m:t>
                                </m:r>
                                <m:r>
                                  <a:rPr lang="en-US" sz="1600" b="1" i="1" dirty="0" err="1" smtClean="0">
                                    <a:solidFill>
                                      <a:srgbClr val="000000"/>
                                    </a:solidFill>
                                    <a:latin typeface="Cambria Math" panose="02040503050406030204" pitchFamily="18" charset="0"/>
                                  </a:rPr>
                                  <m:t>𝒔</m:t>
                                </m:r>
                                <m:r>
                                  <a:rPr lang="en-US" sz="1600" b="1" i="1" dirty="0" err="1" smtClean="0">
                                    <a:solidFill>
                                      <a:srgbClr val="000000"/>
                                    </a:solidFill>
                                    <a:latin typeface="Cambria Math" panose="02040503050406030204" pitchFamily="18" charset="0"/>
                                  </a:rPr>
                                  <m:t>|</m:t>
                                </m:r>
                                <m:r>
                                  <a:rPr lang="en-US" sz="1600" b="1" i="1" dirty="0" err="1" smtClean="0">
                                    <a:solidFill>
                                      <a:srgbClr val="000000"/>
                                    </a:solidFill>
                                    <a:latin typeface="Cambria Math" panose="02040503050406030204" pitchFamily="18" charset="0"/>
                                  </a:rPr>
                                  <m:t>𝒕</m:t>
                                </m:r>
                                <m:r>
                                  <a:rPr lang="en-US" sz="1600" b="1" i="1" dirty="0" smtClean="0">
                                    <a:solidFill>
                                      <a:srgbClr val="000000"/>
                                    </a:solidFill>
                                    <a:latin typeface="Cambria Math" panose="02040503050406030204" pitchFamily="18" charset="0"/>
                                  </a:rPr>
                                  <m:t>) = </m:t>
                                </m:r>
                                <m:r>
                                  <a:rPr lang="en-US" sz="1600" b="1" i="1" dirty="0" err="1" smtClean="0">
                                    <a:solidFill>
                                      <a:srgbClr val="000000"/>
                                    </a:solidFill>
                                    <a:latin typeface="Cambria Math" panose="02040503050406030204" pitchFamily="18" charset="0"/>
                                  </a:rPr>
                                  <m:t>𝒓𝒔</m:t>
                                </m:r>
                                <m:r>
                                  <a:rPr lang="en-US" sz="1600" b="1" i="1" dirty="0" err="1" smtClean="0">
                                    <a:solidFill>
                                      <a:srgbClr val="000000"/>
                                    </a:solidFill>
                                    <a:latin typeface="Cambria Math" panose="02040503050406030204" pitchFamily="18" charset="0"/>
                                  </a:rPr>
                                  <m:t>|</m:t>
                                </m:r>
                                <m:r>
                                  <a:rPr lang="en-US" sz="1600" b="1" i="1" dirty="0" err="1" smtClean="0">
                                    <a:solidFill>
                                      <a:srgbClr val="000000"/>
                                    </a:solidFill>
                                    <a:latin typeface="Cambria Math" panose="02040503050406030204" pitchFamily="18" charset="0"/>
                                  </a:rPr>
                                  <m:t>𝒓𝒕</m:t>
                                </m:r>
                              </m:oMath>
                            </m:oMathPara>
                          </a14:m>
                          <a:endParaRPr lang="en-US" sz="1600" b="1" dirty="0">
                            <a:solidFill>
                              <a:srgbClr val="000000"/>
                            </a:solidFill>
                            <a:latin typeface="Perpetua"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n-US" sz="1600" dirty="0">
                              <a:solidFill>
                                <a:srgbClr val="000000"/>
                              </a:solidFill>
                              <a:latin typeface="Perpetua" pitchFamily="18" charset="0"/>
                            </a:rPr>
                            <a:t>Concatenation distributes over |</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7910">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600" b="1" i="1" kern="1200" dirty="0">
                              <a:solidFill>
                                <a:srgbClr val="000000"/>
                              </a:solidFill>
                              <a:latin typeface="Cambria Math" panose="02040503050406030204" pitchFamily="18" charset="0"/>
                              <a:ea typeface="+mn-ea"/>
                              <a:cs typeface="+mn-cs"/>
                            </a:rPr>
                            <a:t> </a:t>
                          </a:r>
                          <a14:m>
                            <m:oMath xmlns:m="http://schemas.openxmlformats.org/officeDocument/2006/math">
                              <m:r>
                                <a:rPr lang="en-US" sz="1600" b="1" i="1" kern="1200" dirty="0" smtClean="0">
                                  <a:solidFill>
                                    <a:srgbClr val="000000"/>
                                  </a:solidFill>
                                  <a:latin typeface="Cambria Math" panose="02040503050406030204" pitchFamily="18" charset="0"/>
                                  <a:ea typeface="+mn-ea"/>
                                  <a:cs typeface="+mn-cs"/>
                                </a:rPr>
                                <m:t>(</m:t>
                              </m:r>
                              <m:r>
                                <a:rPr lang="en-US" sz="1600" b="1" i="1" kern="1200" dirty="0" err="1" smtClean="0">
                                  <a:solidFill>
                                    <a:srgbClr val="000000"/>
                                  </a:solidFill>
                                  <a:latin typeface="Cambria Math" panose="02040503050406030204" pitchFamily="18" charset="0"/>
                                  <a:ea typeface="+mn-ea"/>
                                  <a:cs typeface="+mn-cs"/>
                                </a:rPr>
                                <m:t>𝒔</m:t>
                              </m:r>
                              <m:r>
                                <a:rPr lang="en-US" sz="1600" b="1" i="1" kern="1200" dirty="0" err="1" smtClean="0">
                                  <a:solidFill>
                                    <a:srgbClr val="000000"/>
                                  </a:solidFill>
                                  <a:latin typeface="Cambria Math" panose="02040503050406030204" pitchFamily="18" charset="0"/>
                                  <a:ea typeface="+mn-ea"/>
                                  <a:cs typeface="+mn-cs"/>
                                </a:rPr>
                                <m:t>|</m:t>
                              </m:r>
                              <m:r>
                                <a:rPr lang="en-US" sz="1600" b="1" i="1" kern="1200" dirty="0" err="1" smtClean="0">
                                  <a:solidFill>
                                    <a:srgbClr val="000000"/>
                                  </a:solidFill>
                                  <a:latin typeface="Cambria Math" panose="02040503050406030204" pitchFamily="18" charset="0"/>
                                  <a:ea typeface="+mn-ea"/>
                                  <a:cs typeface="+mn-cs"/>
                                </a:rPr>
                                <m:t>𝒕</m:t>
                              </m:r>
                              <m:r>
                                <a:rPr lang="en-US" sz="1600" b="1" i="1" kern="1200" dirty="0" smtClean="0">
                                  <a:solidFill>
                                    <a:srgbClr val="000000"/>
                                  </a:solidFill>
                                  <a:latin typeface="Cambria Math" panose="02040503050406030204" pitchFamily="18" charset="0"/>
                                  <a:ea typeface="+mn-ea"/>
                                  <a:cs typeface="+mn-cs"/>
                                </a:rPr>
                                <m:t>)</m:t>
                              </m:r>
                              <m:r>
                                <a:rPr lang="en-US" sz="1600" b="1" i="1" kern="1200" dirty="0" smtClean="0">
                                  <a:solidFill>
                                    <a:srgbClr val="000000"/>
                                  </a:solidFill>
                                  <a:latin typeface="Cambria Math" panose="02040503050406030204" pitchFamily="18" charset="0"/>
                                  <a:ea typeface="+mn-ea"/>
                                  <a:cs typeface="+mn-cs"/>
                                </a:rPr>
                                <m:t>𝒓</m:t>
                              </m:r>
                              <m:r>
                                <a:rPr lang="en-US" sz="1600" b="1" i="1" kern="1200" dirty="0" smtClean="0">
                                  <a:solidFill>
                                    <a:srgbClr val="000000"/>
                                  </a:solidFill>
                                  <a:latin typeface="Cambria Math" panose="02040503050406030204" pitchFamily="18" charset="0"/>
                                  <a:ea typeface="+mn-ea"/>
                                  <a:cs typeface="+mn-cs"/>
                                </a:rPr>
                                <m:t>= </m:t>
                              </m:r>
                              <m:r>
                                <a:rPr lang="en-US" sz="1600" b="1" i="1" kern="1200" dirty="0" err="1" smtClean="0">
                                  <a:solidFill>
                                    <a:srgbClr val="000000"/>
                                  </a:solidFill>
                                  <a:latin typeface="Cambria Math" panose="02040503050406030204" pitchFamily="18" charset="0"/>
                                  <a:ea typeface="+mn-ea"/>
                                  <a:cs typeface="+mn-cs"/>
                                </a:rPr>
                                <m:t>𝒔𝒓</m:t>
                              </m:r>
                              <m:r>
                                <a:rPr lang="en-US" sz="1600" b="1" i="1" kern="1200" dirty="0" err="1" smtClean="0">
                                  <a:solidFill>
                                    <a:srgbClr val="000000"/>
                                  </a:solidFill>
                                  <a:latin typeface="Cambria Math" panose="02040503050406030204" pitchFamily="18" charset="0"/>
                                  <a:ea typeface="+mn-ea"/>
                                  <a:cs typeface="+mn-cs"/>
                                </a:rPr>
                                <m:t>|</m:t>
                              </m:r>
                              <m:r>
                                <a:rPr lang="en-US" sz="1600" b="1" i="1" kern="1200" dirty="0" err="1" smtClean="0">
                                  <a:solidFill>
                                    <a:srgbClr val="000000"/>
                                  </a:solidFill>
                                  <a:latin typeface="Cambria Math" panose="02040503050406030204" pitchFamily="18" charset="0"/>
                                  <a:ea typeface="+mn-ea"/>
                                  <a:cs typeface="+mn-cs"/>
                                </a:rPr>
                                <m:t>𝒕𝒓</m:t>
                              </m:r>
                            </m:oMath>
                          </a14:m>
                          <a:endParaRPr lang="en-US" sz="1600" b="1" i="1" kern="1200" dirty="0">
                            <a:solidFill>
                              <a:srgbClr val="000000"/>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p>
                      </a:txBody>
                      <a:tcPr/>
                    </a:tc>
                    <a:extLst>
                      <a:ext uri="{0D108BD9-81ED-4DB2-BD59-A6C34878D82A}">
                        <a16:rowId xmlns:a16="http://schemas.microsoft.com/office/drawing/2014/main" val="10005"/>
                      </a:ext>
                    </a:extLst>
                  </a:tr>
                  <a:tr h="307910">
                    <a:tc>
                      <a:txBody>
                        <a:bodyPr/>
                        <a:lstStyle/>
                        <a:p>
                          <a:pPr algn="ctr"/>
                          <a14:m>
                            <m:oMathPara xmlns:m="http://schemas.openxmlformats.org/officeDocument/2006/math">
                              <m:oMathParaPr>
                                <m:jc m:val="centerGroup"/>
                              </m:oMathParaPr>
                              <m:oMath xmlns:m="http://schemas.openxmlformats.org/officeDocument/2006/math">
                                <m:r>
                                  <a:rPr lang="en-US" sz="1600" b="1" i="1" dirty="0" smtClean="0">
                                    <a:solidFill>
                                      <a:srgbClr val="000000"/>
                                    </a:solidFill>
                                    <a:latin typeface="Cambria Math" panose="02040503050406030204" pitchFamily="18" charset="0"/>
                                  </a:rPr>
                                  <m:t>Ɛ</m:t>
                                </m:r>
                                <m:r>
                                  <a:rPr lang="en-US" sz="1600" b="1" i="1" dirty="0" smtClean="0">
                                    <a:solidFill>
                                      <a:srgbClr val="000000"/>
                                    </a:solidFill>
                                    <a:latin typeface="Cambria Math" panose="02040503050406030204" pitchFamily="18" charset="0"/>
                                  </a:rPr>
                                  <m:t>𝒓</m:t>
                                </m:r>
                                <m:r>
                                  <a:rPr lang="en-US" sz="1600" b="1" i="1" dirty="0" smtClean="0">
                                    <a:solidFill>
                                      <a:srgbClr val="000000"/>
                                    </a:solidFill>
                                    <a:latin typeface="Cambria Math" panose="02040503050406030204" pitchFamily="18" charset="0"/>
                                  </a:rPr>
                                  <m:t>=</m:t>
                                </m:r>
                                <m:r>
                                  <a:rPr lang="en-US" sz="1600" b="1" i="1" dirty="0" err="1" smtClean="0">
                                    <a:solidFill>
                                      <a:srgbClr val="000000"/>
                                    </a:solidFill>
                                    <a:latin typeface="Cambria Math" panose="02040503050406030204" pitchFamily="18" charset="0"/>
                                  </a:rPr>
                                  <m:t>𝒓</m:t>
                                </m:r>
                                <m:r>
                                  <a:rPr lang="en-US" sz="1600" b="1" i="1" dirty="0" err="1" smtClean="0">
                                    <a:solidFill>
                                      <a:srgbClr val="000000"/>
                                    </a:solidFill>
                                    <a:latin typeface="Cambria Math" panose="02040503050406030204" pitchFamily="18" charset="0"/>
                                  </a:rPr>
                                  <m:t>Ɛ=</m:t>
                                </m:r>
                                <m:r>
                                  <a:rPr lang="en-US" sz="1600" b="1" i="1" dirty="0" smtClean="0">
                                    <a:solidFill>
                                      <a:srgbClr val="000000"/>
                                    </a:solidFill>
                                    <a:latin typeface="Cambria Math" panose="02040503050406030204" pitchFamily="18" charset="0"/>
                                  </a:rPr>
                                  <m:t>𝒓</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solidFill>
                                <a:srgbClr val="000000"/>
                              </a:solidFill>
                              <a:latin typeface="Perpetua" pitchFamily="18" charset="0"/>
                            </a:rPr>
                            <a:t>Ɛ </a:t>
                          </a:r>
                          <a:r>
                            <a:rPr lang="en-US" sz="1600" b="0" dirty="0">
                              <a:solidFill>
                                <a:srgbClr val="000000"/>
                              </a:solidFill>
                              <a:latin typeface="Perpetua" pitchFamily="18" charset="0"/>
                            </a:rPr>
                            <a:t>is</a:t>
                          </a:r>
                          <a:r>
                            <a:rPr lang="en-US" sz="1600" b="1" dirty="0">
                              <a:solidFill>
                                <a:srgbClr val="000000"/>
                              </a:solidFill>
                              <a:latin typeface="Perpetua" pitchFamily="18" charset="0"/>
                            </a:rPr>
                            <a:t> </a:t>
                          </a:r>
                          <a:r>
                            <a:rPr lang="en-US" sz="1600" dirty="0">
                              <a:solidFill>
                                <a:srgbClr val="000000"/>
                              </a:solidFill>
                              <a:latin typeface="Perpetua" pitchFamily="18" charset="0"/>
                            </a:rPr>
                            <a:t>the identity  for  concatenation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07910">
                    <a:tc>
                      <a:txBody>
                        <a:bodyPr/>
                        <a:lstStyle/>
                        <a:p>
                          <a:pPr marL="0" marR="0" lvl="2" indent="0" algn="ctr" defTabSz="914400" eaLnBrk="1" fontAlgn="auto" latinLnBrk="0" hangingPunct="1">
                            <a:lnSpc>
                              <a:spcPct val="100000"/>
                            </a:lnSpc>
                            <a:spcBef>
                              <a:spcPts val="0"/>
                            </a:spcBef>
                            <a:spcAft>
                              <a:spcPts val="0"/>
                            </a:spcAft>
                            <a:buClrTx/>
                            <a:buSzTx/>
                            <a:buFontTx/>
                            <a:buNone/>
                            <a:tabLst/>
                            <a:defRPr/>
                          </a:pPr>
                          <a:r>
                            <a:rPr lang="en-US" sz="1600" b="1" dirty="0">
                              <a:solidFill>
                                <a:srgbClr val="000000"/>
                              </a:solidFill>
                              <a:latin typeface="Perpetua" pitchFamily="18" charset="0"/>
                            </a:rPr>
                            <a:t>r* = (r|Ɛ)*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solidFill>
                                <a:srgbClr val="000000"/>
                              </a:solidFill>
                              <a:latin typeface="Perpetua" pitchFamily="18" charset="0"/>
                            </a:rPr>
                            <a:t>Ɛ </a:t>
                          </a:r>
                          <a:r>
                            <a:rPr lang="en-US" sz="1600" b="0" dirty="0">
                              <a:solidFill>
                                <a:srgbClr val="000000"/>
                              </a:solidFill>
                              <a:latin typeface="Perpetua" pitchFamily="18" charset="0"/>
                            </a:rPr>
                            <a:t>is</a:t>
                          </a:r>
                          <a:r>
                            <a:rPr lang="en-US" sz="1600" b="1" dirty="0">
                              <a:solidFill>
                                <a:srgbClr val="000000"/>
                              </a:solidFill>
                              <a:latin typeface="Perpetua" pitchFamily="18" charset="0"/>
                            </a:rPr>
                            <a:t> </a:t>
                          </a:r>
                          <a:r>
                            <a:rPr lang="en-US" sz="1600" dirty="0">
                              <a:solidFill>
                                <a:srgbClr val="000000"/>
                              </a:solidFill>
                              <a:latin typeface="Perpetua" pitchFamily="18" charset="0"/>
                            </a:rPr>
                            <a:t>guaranteed in a closure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07910">
                    <a:tc>
                      <a:txBody>
                        <a:bodyPr/>
                        <a:lstStyle/>
                        <a:p>
                          <a:pPr marL="0" marR="0" lvl="2" indent="0" algn="ctr" defTabSz="914400" eaLnBrk="1" fontAlgn="auto" latinLnBrk="0" hangingPunct="1">
                            <a:lnSpc>
                              <a:spcPct val="100000"/>
                            </a:lnSpc>
                            <a:spcBef>
                              <a:spcPts val="0"/>
                            </a:spcBef>
                            <a:spcAft>
                              <a:spcPts val="0"/>
                            </a:spcAft>
                            <a:buClrTx/>
                            <a:buSzTx/>
                            <a:buFontTx/>
                            <a:buNone/>
                            <a:tabLst/>
                            <a:defRPr/>
                          </a:pPr>
                          <a:r>
                            <a:rPr lang="en-US" sz="1600" b="1" dirty="0">
                              <a:solidFill>
                                <a:srgbClr val="000000"/>
                              </a:solidFill>
                              <a:latin typeface="Perpetua" pitchFamily="18" charset="0"/>
                            </a:rPr>
                            <a:t>r** = 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r>
                            <a:rPr lang="en-US" sz="1600" b="1" dirty="0">
                              <a:solidFill>
                                <a:srgbClr val="000000"/>
                              </a:solidFill>
                              <a:latin typeface="Perpetua" pitchFamily="18" charset="0"/>
                            </a:rPr>
                            <a:t>* </a:t>
                          </a:r>
                          <a:r>
                            <a:rPr lang="en-US" sz="1600" dirty="0">
                              <a:solidFill>
                                <a:srgbClr val="000000"/>
                              </a:solidFill>
                              <a:latin typeface="Perpetua" pitchFamily="18" charset="0"/>
                            </a:rPr>
                            <a:t>is  idempotent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300999911"/>
                  </p:ext>
                </p:extLst>
              </p:nvPr>
            </p:nvGraphicFramePr>
            <p:xfrm>
              <a:off x="1524000" y="3489960"/>
              <a:ext cx="5638800" cy="2987040"/>
            </p:xfrm>
            <a:graphic>
              <a:graphicData uri="http://schemas.openxmlformats.org/drawingml/2006/table">
                <a:tbl>
                  <a:tblPr firstRow="1" bandRow="1">
                    <a:tableStyleId>{5C22544A-7EE6-4342-B048-85BDC9FD1C3A}</a:tableStyleId>
                  </a:tblPr>
                  <a:tblGrid>
                    <a:gridCol w="1905000"/>
                    <a:gridCol w="3733800"/>
                  </a:tblGrid>
                  <a:tr h="304800">
                    <a:tc>
                      <a:txBody>
                        <a:bodyPr/>
                        <a:lstStyle/>
                        <a:p>
                          <a:pPr algn="ctr"/>
                          <a:r>
                            <a:rPr lang="en-US" sz="1400" dirty="0" smtClean="0">
                              <a:solidFill>
                                <a:srgbClr val="000000"/>
                              </a:solidFill>
                              <a:latin typeface="Perpetua" pitchFamily="18" charset="0"/>
                            </a:rPr>
                            <a:t>LAW</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rgbClr val="000000"/>
                              </a:solidFill>
                              <a:latin typeface="Perpetua" pitchFamily="18" charset="0"/>
                            </a:rPr>
                            <a:t>DESCRIPTION </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639" t="-92727" r="-196486" b="-725455"/>
                          </a:stretch>
                        </a:blipFill>
                      </a:tcPr>
                    </a:tc>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r>
                            <a:rPr lang="en-US" sz="1600" b="1" dirty="0" smtClean="0">
                              <a:solidFill>
                                <a:srgbClr val="000000"/>
                              </a:solidFill>
                              <a:latin typeface="Perpetua" pitchFamily="18" charset="0"/>
                            </a:rPr>
                            <a:t>|</a:t>
                          </a:r>
                          <a:r>
                            <a:rPr lang="en-US" sz="1600" dirty="0" smtClean="0">
                              <a:solidFill>
                                <a:srgbClr val="000000"/>
                              </a:solidFill>
                              <a:latin typeface="Perpetua" pitchFamily="18" charset="0"/>
                            </a:rPr>
                            <a:t> is  commutative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639" t="-192727" r="-196486" b="-625455"/>
                          </a:stretch>
                        </a:blipFill>
                      </a:tcPr>
                    </a:tc>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r>
                            <a:rPr lang="en-US" sz="1600" b="1" dirty="0" smtClean="0">
                              <a:solidFill>
                                <a:srgbClr val="000000"/>
                              </a:solidFill>
                              <a:latin typeface="Perpetua" pitchFamily="18" charset="0"/>
                            </a:rPr>
                            <a:t>| </a:t>
                          </a:r>
                          <a:r>
                            <a:rPr lang="en-US" sz="1600" dirty="0" smtClean="0">
                              <a:solidFill>
                                <a:srgbClr val="000000"/>
                              </a:solidFill>
                              <a:latin typeface="Perpetua" pitchFamily="18" charset="0"/>
                            </a:rPr>
                            <a:t>is  </a:t>
                          </a:r>
                          <a:r>
                            <a:rPr lang="en-US" sz="1600" dirty="0" smtClean="0">
                              <a:solidFill>
                                <a:srgbClr val="000000"/>
                              </a:solidFill>
                              <a:latin typeface="Perpetua" pitchFamily="18" charset="0"/>
                            </a:rPr>
                            <a:t>associative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639" t="-292727" r="-196486" b="-525455"/>
                          </a:stretch>
                        </a:blipFill>
                      </a:tcPr>
                    </a:tc>
                    <a:tc>
                      <a:txBody>
                        <a:bodyPr/>
                        <a:lstStyle/>
                        <a:p>
                          <a:r>
                            <a:rPr lang="en-US" sz="1600" dirty="0" smtClean="0">
                              <a:solidFill>
                                <a:srgbClr val="000000"/>
                              </a:solidFill>
                              <a:latin typeface="Perpetua" pitchFamily="18" charset="0"/>
                            </a:rPr>
                            <a:t>Concatenation is </a:t>
                          </a:r>
                          <a:r>
                            <a:rPr lang="en-US" sz="1600" dirty="0" smtClean="0">
                              <a:solidFill>
                                <a:srgbClr val="000000"/>
                              </a:solidFill>
                              <a:latin typeface="Perpetua" pitchFamily="18" charset="0"/>
                            </a:rPr>
                            <a:t>associative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639" t="-385714" r="-196486" b="-416071"/>
                          </a:stretch>
                        </a:blipFill>
                      </a:tcPr>
                    </a:tc>
                    <a:tc rowSpan="2">
                      <a:txBody>
                        <a:bodyPr/>
                        <a:lstStyle/>
                        <a:p>
                          <a:r>
                            <a:rPr lang="en-US" sz="1600" dirty="0" smtClean="0">
                              <a:solidFill>
                                <a:srgbClr val="000000"/>
                              </a:solidFill>
                              <a:latin typeface="Perpetua" pitchFamily="18" charset="0"/>
                            </a:rPr>
                            <a:t>Concatenation </a:t>
                          </a:r>
                          <a:r>
                            <a:rPr lang="en-US" sz="1600" dirty="0" smtClean="0">
                              <a:solidFill>
                                <a:srgbClr val="000000"/>
                              </a:solidFill>
                              <a:latin typeface="Perpetua" pitchFamily="18" charset="0"/>
                            </a:rPr>
                            <a:t>distributes over |</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639" t="-494545" r="-196486" b="-323636"/>
                          </a:stretch>
                        </a:blipFill>
                      </a:tcPr>
                    </a:tc>
                    <a:tc vMerge="1">
                      <a:txBody>
                        <a:bodyPr/>
                        <a:lstStyle/>
                        <a:p>
                          <a:endParaRPr lang="en-US" dirty="0"/>
                        </a:p>
                      </a:txBody>
                      <a:tcPr/>
                    </a:tc>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639" t="-594545" r="-196486" b="-223636"/>
                          </a:stretch>
                        </a:blipFill>
                      </a:tcPr>
                    </a:tc>
                    <a:tc>
                      <a:txBody>
                        <a:bodyPr/>
                        <a:lstStyle/>
                        <a:p>
                          <a:r>
                            <a:rPr lang="en-US" sz="1600" b="1" dirty="0" smtClean="0">
                              <a:solidFill>
                                <a:srgbClr val="000000"/>
                              </a:solidFill>
                              <a:latin typeface="Perpetua" pitchFamily="18" charset="0"/>
                            </a:rPr>
                            <a:t>Ɛ </a:t>
                          </a:r>
                          <a:r>
                            <a:rPr lang="en-US" sz="1600" b="0" dirty="0" smtClean="0">
                              <a:solidFill>
                                <a:srgbClr val="000000"/>
                              </a:solidFill>
                              <a:latin typeface="Perpetua" pitchFamily="18" charset="0"/>
                            </a:rPr>
                            <a:t>is</a:t>
                          </a:r>
                          <a:r>
                            <a:rPr lang="en-US" sz="1600" b="1" dirty="0" smtClean="0">
                              <a:solidFill>
                                <a:srgbClr val="000000"/>
                              </a:solidFill>
                              <a:latin typeface="Perpetua" pitchFamily="18" charset="0"/>
                            </a:rPr>
                            <a:t> </a:t>
                          </a:r>
                          <a:r>
                            <a:rPr lang="en-US" sz="1600" dirty="0" smtClean="0">
                              <a:solidFill>
                                <a:srgbClr val="000000"/>
                              </a:solidFill>
                              <a:latin typeface="Perpetua" pitchFamily="18" charset="0"/>
                            </a:rPr>
                            <a:t>the identity  for  concatenation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5280">
                    <a:tc>
                      <a:txBody>
                        <a:bodyPr/>
                        <a:lstStyle/>
                        <a:p>
                          <a:pPr marL="0" marR="0" lvl="2" indent="0" algn="ctr" defTabSz="914400" eaLnBrk="1" fontAlgn="auto" latinLnBrk="0" hangingPunct="1">
                            <a:lnSpc>
                              <a:spcPct val="100000"/>
                            </a:lnSpc>
                            <a:spcBef>
                              <a:spcPts val="0"/>
                            </a:spcBef>
                            <a:spcAft>
                              <a:spcPts val="0"/>
                            </a:spcAft>
                            <a:buClrTx/>
                            <a:buSzTx/>
                            <a:buFontTx/>
                            <a:buNone/>
                            <a:tabLst/>
                            <a:defRPr/>
                          </a:pPr>
                          <a:r>
                            <a:rPr lang="en-US" sz="1600" b="1" dirty="0" smtClean="0">
                              <a:solidFill>
                                <a:srgbClr val="000000"/>
                              </a:solidFill>
                              <a:latin typeface="Perpetua" pitchFamily="18" charset="0"/>
                            </a:rPr>
                            <a:t>r* = (r|Ɛ)*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smtClean="0">
                              <a:solidFill>
                                <a:srgbClr val="000000"/>
                              </a:solidFill>
                              <a:latin typeface="Perpetua" pitchFamily="18" charset="0"/>
                            </a:rPr>
                            <a:t>Ɛ </a:t>
                          </a:r>
                          <a:r>
                            <a:rPr lang="en-US" sz="1600" b="0" dirty="0" smtClean="0">
                              <a:solidFill>
                                <a:srgbClr val="000000"/>
                              </a:solidFill>
                              <a:latin typeface="Perpetua" pitchFamily="18" charset="0"/>
                            </a:rPr>
                            <a:t>is</a:t>
                          </a:r>
                          <a:r>
                            <a:rPr lang="en-US" sz="1600" b="1" dirty="0" smtClean="0">
                              <a:solidFill>
                                <a:srgbClr val="000000"/>
                              </a:solidFill>
                              <a:latin typeface="Perpetua" pitchFamily="18" charset="0"/>
                            </a:rPr>
                            <a:t> </a:t>
                          </a:r>
                          <a:r>
                            <a:rPr lang="en-US" sz="1600" dirty="0" smtClean="0">
                              <a:solidFill>
                                <a:srgbClr val="000000"/>
                              </a:solidFill>
                              <a:latin typeface="Perpetua" pitchFamily="18" charset="0"/>
                            </a:rPr>
                            <a:t>guaranteed in </a:t>
                          </a:r>
                          <a:r>
                            <a:rPr lang="en-US" sz="1600" dirty="0" smtClean="0">
                              <a:solidFill>
                                <a:srgbClr val="000000"/>
                              </a:solidFill>
                              <a:latin typeface="Perpetua" pitchFamily="18" charset="0"/>
                            </a:rPr>
                            <a:t>a </a:t>
                          </a:r>
                          <a:r>
                            <a:rPr lang="en-US" sz="1600" dirty="0" smtClean="0">
                              <a:solidFill>
                                <a:srgbClr val="000000"/>
                              </a:solidFill>
                              <a:latin typeface="Perpetua" pitchFamily="18" charset="0"/>
                            </a:rPr>
                            <a:t>closure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5280">
                    <a:tc>
                      <a:txBody>
                        <a:bodyPr/>
                        <a:lstStyle/>
                        <a:p>
                          <a:pPr marL="0" marR="0" lvl="2" indent="0" algn="ctr" defTabSz="914400" eaLnBrk="1" fontAlgn="auto" latinLnBrk="0" hangingPunct="1">
                            <a:lnSpc>
                              <a:spcPct val="100000"/>
                            </a:lnSpc>
                            <a:spcBef>
                              <a:spcPts val="0"/>
                            </a:spcBef>
                            <a:spcAft>
                              <a:spcPts val="0"/>
                            </a:spcAft>
                            <a:buClrTx/>
                            <a:buSzTx/>
                            <a:buFontTx/>
                            <a:buNone/>
                            <a:tabLst/>
                            <a:defRPr/>
                          </a:pPr>
                          <a:r>
                            <a:rPr lang="en-US" sz="1600" b="1" dirty="0" smtClean="0">
                              <a:solidFill>
                                <a:srgbClr val="000000"/>
                              </a:solidFill>
                              <a:latin typeface="Perpetua" pitchFamily="18" charset="0"/>
                            </a:rPr>
                            <a:t>r** = 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2" indent="0" algn="just" defTabSz="914400" eaLnBrk="1" fontAlgn="auto" latinLnBrk="0" hangingPunct="1">
                            <a:lnSpc>
                              <a:spcPct val="100000"/>
                            </a:lnSpc>
                            <a:spcBef>
                              <a:spcPts val="0"/>
                            </a:spcBef>
                            <a:spcAft>
                              <a:spcPts val="0"/>
                            </a:spcAft>
                            <a:buClrTx/>
                            <a:buSzTx/>
                            <a:buFontTx/>
                            <a:buNone/>
                            <a:tabLst/>
                            <a:defRPr/>
                          </a:pPr>
                          <a:r>
                            <a:rPr lang="en-US" sz="1600" b="1" dirty="0" smtClean="0">
                              <a:solidFill>
                                <a:srgbClr val="000000"/>
                              </a:solidFill>
                              <a:latin typeface="Perpetua" pitchFamily="18" charset="0"/>
                            </a:rPr>
                            <a:t>* </a:t>
                          </a:r>
                          <a:r>
                            <a:rPr lang="en-US" sz="1600" dirty="0" smtClean="0">
                              <a:solidFill>
                                <a:srgbClr val="000000"/>
                              </a:solidFill>
                              <a:latin typeface="Perpetua" pitchFamily="18" charset="0"/>
                            </a:rPr>
                            <a:t>is  idempotent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5" name="Rectangle 4"/>
          <p:cNvSpPr/>
          <p:nvPr/>
        </p:nvSpPr>
        <p:spPr>
          <a:xfrm>
            <a:off x="1295400" y="6420957"/>
            <a:ext cx="6400800" cy="437043"/>
          </a:xfrm>
          <a:prstGeom prst="rect">
            <a:avLst/>
          </a:prstGeom>
        </p:spPr>
        <p:txBody>
          <a:bodyPr wrap="square">
            <a:spAutoFit/>
          </a:bodyPr>
          <a:lstStyle/>
          <a:p>
            <a:pPr marL="0" lvl="2" algn="just">
              <a:lnSpc>
                <a:spcPct val="140000"/>
              </a:lnSpc>
              <a:buSzPct val="85000"/>
              <a:tabLst>
                <a:tab pos="795338" algn="l"/>
              </a:tabLst>
            </a:pPr>
            <a:r>
              <a:rPr lang="en-US" sz="1600" b="1" dirty="0">
                <a:solidFill>
                  <a:srgbClr val="000000"/>
                </a:solidFill>
                <a:latin typeface="Perpetua" pitchFamily="18" charset="0"/>
              </a:rPr>
              <a:t>Table: </a:t>
            </a:r>
            <a:r>
              <a:rPr lang="en-US" sz="1600" dirty="0">
                <a:solidFill>
                  <a:srgbClr val="000000"/>
                </a:solidFill>
                <a:latin typeface="Perpetua" pitchFamily="18" charset="0"/>
              </a:rPr>
              <a:t>The  algebraic laws that  hold for arbitrary regular expressions  </a:t>
            </a:r>
            <a:r>
              <a:rPr lang="en-US" sz="1600" b="1" dirty="0">
                <a:solidFill>
                  <a:srgbClr val="000000"/>
                </a:solidFill>
                <a:latin typeface="Perpetua" pitchFamily="18" charset="0"/>
              </a:rPr>
              <a:t>r,  s, </a:t>
            </a:r>
            <a:r>
              <a:rPr lang="en-US" sz="1600" dirty="0">
                <a:solidFill>
                  <a:srgbClr val="000000"/>
                </a:solidFill>
                <a:latin typeface="Perpetua" pitchFamily="18" charset="0"/>
              </a:rPr>
              <a:t>and </a:t>
            </a:r>
            <a:r>
              <a:rPr lang="en-US" sz="1600" b="1" dirty="0">
                <a:solidFill>
                  <a:srgbClr val="000000"/>
                </a:solidFill>
                <a:latin typeface="Perpetua" pitchFamily="18" charset="0"/>
              </a:rPr>
              <a:t>t</a:t>
            </a:r>
            <a:r>
              <a:rPr lang="en-US" sz="1600" dirty="0">
                <a:solidFill>
                  <a:srgbClr val="000000"/>
                </a:solidFill>
                <a:latin typeface="Perpetua" pitchFamily="18" charset="0"/>
              </a:rPr>
              <a:t>. </a:t>
            </a:r>
          </a:p>
        </p:txBody>
      </p:sp>
      <p:sp>
        <p:nvSpPr>
          <p:cNvPr id="6" name="Slide Number Placeholder 5"/>
          <p:cNvSpPr>
            <a:spLocks noGrp="1"/>
          </p:cNvSpPr>
          <p:nvPr>
            <p:ph type="sldNum" sz="quarter" idx="12"/>
          </p:nvPr>
        </p:nvSpPr>
        <p:spPr/>
        <p:txBody>
          <a:bodyPr/>
          <a:lstStyle/>
          <a:p>
            <a:fld id="{C2C343A0-757D-4032-BC20-DF0A67BD0A50}" type="slidenum">
              <a:rPr lang="en-US" smtClean="0"/>
              <a:t>31</a:t>
            </a:fld>
            <a:endParaRPr lang="en-US"/>
          </a:p>
        </p:txBody>
      </p:sp>
    </p:spTree>
    <p:extLst>
      <p:ext uri="{BB962C8B-B14F-4D97-AF65-F5344CB8AC3E}">
        <p14:creationId xmlns:p14="http://schemas.microsoft.com/office/powerpoint/2010/main" val="2992629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458200" cy="4953000"/>
              </a:xfrm>
            </p:spPr>
            <p:txBody>
              <a:bodyPr>
                <a:normAutofit fontScale="62500" lnSpcReduction="20000"/>
              </a:bodyPr>
              <a:lstStyle/>
              <a:p>
                <a:pPr marL="0" lvl="2" indent="0" algn="just">
                  <a:lnSpc>
                    <a:spcPct val="140000"/>
                  </a:lnSpc>
                  <a:buSzPct val="85000"/>
                  <a:buNone/>
                </a:pPr>
                <a:r>
                  <a:rPr lang="en-US" b="1" dirty="0"/>
                  <a:t>Regular Definitions</a:t>
                </a:r>
              </a:p>
              <a:p>
                <a:pPr marL="342900" lvl="2" indent="-342900" algn="just">
                  <a:lnSpc>
                    <a:spcPct val="140000"/>
                  </a:lnSpc>
                  <a:buSzPct val="85000"/>
                </a:pPr>
                <a:r>
                  <a:rPr lang="en-US" dirty="0"/>
                  <a:t>If </a:t>
                </a:r>
                <a:r>
                  <a:rPr lang="en-US" dirty="0">
                    <a:latin typeface="Symbol" panose="05050102010706020507" pitchFamily="18" charset="2"/>
                  </a:rPr>
                  <a:t>S</a:t>
                </a:r>
                <a:r>
                  <a:rPr lang="en-US" dirty="0"/>
                  <a:t> is an alphabet of basic symbols, then a regular definition is a sequence of definitions of the form : </a:t>
                </a:r>
              </a:p>
              <a:p>
                <a:pPr marL="914400" lvl="4" indent="0" algn="just">
                  <a:lnSpc>
                    <a:spcPct val="140000"/>
                  </a:lnSpc>
                  <a:buSzPct val="85000"/>
                  <a:buNone/>
                </a:pPr>
                <a14:m>
                  <m:oMathPara xmlns:m="http://schemas.openxmlformats.org/officeDocument/2006/math">
                    <m:oMathParaPr>
                      <m:jc m:val="left"/>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1</m:t>
                          </m:r>
                        </m:sub>
                      </m:sSub>
                      <m:r>
                        <a:rPr lang="en-US" i="1" dirty="0" smtClean="0">
                          <a:latin typeface="Cambria Math" panose="02040503050406030204" pitchFamily="18" charset="0"/>
                        </a:rPr>
                        <m:t> </m:t>
                      </m:r>
                      <m:r>
                        <a:rPr lang="en-US" i="1" dirty="0" smtClean="0">
                          <a:latin typeface="Cambria Math" panose="02040503050406030204" pitchFamily="18" charset="0"/>
                          <a:sym typeface="Symbol" panose="05050102010706020507" pitchFamily="18" charset="2"/>
                        </a:rPr>
                        <m:t></m:t>
                      </m:r>
                      <m:r>
                        <a:rPr lang="en-US" b="0" i="1" dirty="0" smtClean="0">
                          <a:latin typeface="Cambria Math" panose="02040503050406030204" pitchFamily="18" charset="0"/>
                          <a:sym typeface="Symbol" panose="05050102010706020507" pitchFamily="18" charset="2"/>
                        </a:rPr>
                        <m:t> </m:t>
                      </m:r>
                      <m:sSub>
                        <m:sSubPr>
                          <m:ctrlPr>
                            <a:rPr lang="en-US" i="1" dirty="0">
                              <a:latin typeface="Cambria Math" panose="02040503050406030204" pitchFamily="18" charset="0"/>
                            </a:rPr>
                          </m:ctrlPr>
                        </m:sSubPr>
                        <m:e>
                          <m:r>
                            <a:rPr lang="en-US" b="0" i="1" dirty="0" smtClean="0">
                              <a:latin typeface="Cambria Math" panose="02040503050406030204" pitchFamily="18" charset="0"/>
                            </a:rPr>
                            <m:t>𝑟</m:t>
                          </m:r>
                        </m:e>
                        <m:sub>
                          <m:r>
                            <a:rPr lang="en-US" i="1" dirty="0">
                              <a:latin typeface="Cambria Math" panose="02040503050406030204" pitchFamily="18" charset="0"/>
                            </a:rPr>
                            <m:t>1</m:t>
                          </m:r>
                        </m:sub>
                      </m:sSub>
                    </m:oMath>
                  </m:oMathPara>
                </a14:m>
                <a:endParaRPr lang="en-US" dirty="0"/>
              </a:p>
              <a:p>
                <a:pPr marL="914400" lvl="4" indent="0" algn="just">
                  <a:lnSpc>
                    <a:spcPct val="140000"/>
                  </a:lnSpc>
                  <a:buSzPct val="85000"/>
                  <a:buNone/>
                </a:pPr>
                <a14:m>
                  <m:oMathPara xmlns:m="http://schemas.openxmlformats.org/officeDocument/2006/math">
                    <m:oMathParaPr>
                      <m:jc m:val="left"/>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b="0" i="1" dirty="0" smtClean="0">
                              <a:latin typeface="Cambria Math" panose="02040503050406030204" pitchFamily="18" charset="0"/>
                            </a:rPr>
                            <m:t>2</m:t>
                          </m:r>
                        </m:sub>
                      </m:sSub>
                      <m:r>
                        <a:rPr lang="en-US" i="1" dirty="0">
                          <a:latin typeface="Cambria Math" panose="02040503050406030204" pitchFamily="18" charset="0"/>
                        </a:rPr>
                        <m:t> </m:t>
                      </m:r>
                      <m:r>
                        <a:rPr lang="en-US" i="1" dirty="0">
                          <a:latin typeface="Cambria Math" panose="02040503050406030204" pitchFamily="18" charset="0"/>
                          <a:sym typeface="Symbol" panose="05050102010706020507" pitchFamily="18" charset="2"/>
                        </a:rPr>
                        <m:t> </m:t>
                      </m:r>
                      <m:sSub>
                        <m:sSubPr>
                          <m:ctrlPr>
                            <a:rPr lang="en-US" i="1" dirty="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2</m:t>
                          </m:r>
                        </m:sub>
                      </m:sSub>
                    </m:oMath>
                  </m:oMathPara>
                </a14:m>
                <a:endParaRPr lang="en-US" dirty="0"/>
              </a:p>
              <a:p>
                <a:pPr marL="914400" lvl="4" indent="0" algn="just">
                  <a:lnSpc>
                    <a:spcPct val="140000"/>
                  </a:lnSpc>
                  <a:buSzPct val="85000"/>
                  <a:buNone/>
                </a:pPr>
                <a:r>
                  <a:rPr lang="en-US" dirty="0"/>
                  <a:t>…</a:t>
                </a:r>
              </a:p>
              <a:p>
                <a:pPr marL="914400" lvl="4" indent="0" algn="just">
                  <a:lnSpc>
                    <a:spcPct val="140000"/>
                  </a:lnSpc>
                  <a:buSzPct val="85000"/>
                  <a:buNone/>
                </a:pPr>
                <a14:m>
                  <m:oMathPara xmlns:m="http://schemas.openxmlformats.org/officeDocument/2006/math">
                    <m:oMathParaPr>
                      <m:jc m:val="left"/>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b="0" i="1" dirty="0" smtClean="0">
                              <a:latin typeface="Cambria Math" panose="02040503050406030204" pitchFamily="18" charset="0"/>
                            </a:rPr>
                            <m:t>𝑛</m:t>
                          </m:r>
                        </m:sub>
                      </m:sSub>
                      <m:r>
                        <a:rPr lang="en-US" i="1" dirty="0">
                          <a:latin typeface="Cambria Math" panose="02040503050406030204" pitchFamily="18" charset="0"/>
                        </a:rPr>
                        <m:t> </m:t>
                      </m:r>
                      <m:r>
                        <a:rPr lang="en-US" i="1" dirty="0">
                          <a:latin typeface="Cambria Math" panose="02040503050406030204" pitchFamily="18" charset="0"/>
                          <a:sym typeface="Symbol" panose="05050102010706020507" pitchFamily="18" charset="2"/>
                        </a:rPr>
                        <m:t> </m:t>
                      </m:r>
                      <m:sSub>
                        <m:sSubPr>
                          <m:ctrlPr>
                            <a:rPr lang="en-US" i="1" dirty="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𝑛</m:t>
                          </m:r>
                        </m:sub>
                      </m:sSub>
                    </m:oMath>
                  </m:oMathPara>
                </a14:m>
                <a:endParaRPr lang="en-US" dirty="0"/>
              </a:p>
              <a:p>
                <a:pPr marL="342900" lvl="2" indent="-342900" algn="just">
                  <a:lnSpc>
                    <a:spcPct val="140000"/>
                  </a:lnSpc>
                  <a:buSzPct val="85000"/>
                </a:pPr>
                <a:r>
                  <a:rPr lang="en-US" b="1" dirty="0"/>
                  <a:t>Examples</a:t>
                </a:r>
              </a:p>
              <a:p>
                <a:pPr marL="914400" lvl="3" indent="-457200" algn="just">
                  <a:lnSpc>
                    <a:spcPct val="140000"/>
                  </a:lnSpc>
                  <a:buSzPct val="85000"/>
                  <a:buFont typeface="+mj-lt"/>
                  <a:buAutoNum type="alphaLcParenR"/>
                </a:pPr>
                <a:r>
                  <a:rPr lang="en-US" dirty="0"/>
                  <a:t>Regular definition for C</a:t>
                </a:r>
                <a:r>
                  <a:rPr lang="en-US" baseline="30000" dirty="0"/>
                  <a:t>++</a:t>
                </a:r>
                <a:r>
                  <a:rPr lang="en-US" dirty="0"/>
                  <a:t> identifiers:</a:t>
                </a:r>
              </a:p>
              <a:p>
                <a:pPr marL="457200" lvl="3" indent="0" algn="just">
                  <a:lnSpc>
                    <a:spcPct val="140000"/>
                  </a:lnSpc>
                  <a:buSzPct val="85000"/>
                  <a:buNone/>
                </a:pPr>
                <a:r>
                  <a:rPr lang="en-US" dirty="0"/>
                  <a:t>	    </a:t>
                </a:r>
                <a:r>
                  <a:rPr lang="en-US" sz="1600" b="1" dirty="0">
                    <a:latin typeface="Courier New" panose="02070309020205020404" pitchFamily="49" charset="0"/>
                    <a:cs typeface="Courier New" panose="02070309020205020404" pitchFamily="49" charset="0"/>
                  </a:rPr>
                  <a:t>ID </a:t>
                </a:r>
                <a:r>
                  <a:rPr lang="en-US" sz="1600" b="1" dirty="0">
                    <a:latin typeface="Symbol" panose="05050102010706020507" pitchFamily="18" charset="2"/>
                    <a:cs typeface="Courier New" panose="02070309020205020404" pitchFamily="49" charset="0"/>
                  </a:rPr>
                  <a:t></a:t>
                </a:r>
                <a:r>
                  <a:rPr lang="en-US" sz="1600" b="1" dirty="0">
                    <a:latin typeface="Courier New" panose="02070309020205020404" pitchFamily="49" charset="0"/>
                    <a:cs typeface="Courier New" panose="02070309020205020404" pitchFamily="49" charset="0"/>
                  </a:rPr>
                  <a:t> letter(</a:t>
                </a:r>
                <a:r>
                  <a:rPr lang="en-US" sz="1600" b="1" dirty="0" err="1">
                    <a:latin typeface="Courier New" panose="02070309020205020404" pitchFamily="49" charset="0"/>
                    <a:cs typeface="Courier New" panose="02070309020205020404" pitchFamily="49" charset="0"/>
                  </a:rPr>
                  <a:t>letter|digit</a:t>
                </a:r>
                <a:r>
                  <a:rPr lang="en-US" sz="1600" b="1" dirty="0">
                    <a:latin typeface="Courier New" panose="02070309020205020404" pitchFamily="49" charset="0"/>
                    <a:cs typeface="Courier New" panose="02070309020205020404" pitchFamily="49" charset="0"/>
                  </a:rPr>
                  <a:t>)* </a:t>
                </a:r>
              </a:p>
              <a:p>
                <a:pPr marL="457200" lvl="3" indent="0" algn="just">
                  <a:lnSpc>
                    <a:spcPct val="140000"/>
                  </a:lnSpc>
                  <a:buSzPct val="85000"/>
                  <a:buNone/>
                </a:pPr>
                <a:r>
                  <a:rPr lang="en-US" sz="1600" b="1" dirty="0">
                    <a:latin typeface="Courier New" panose="02070309020205020404" pitchFamily="49" charset="0"/>
                    <a:cs typeface="Courier New" panose="02070309020205020404" pitchFamily="49" charset="0"/>
                  </a:rPr>
                  <a:t>	  letter </a:t>
                </a:r>
                <a:r>
                  <a:rPr lang="en-US" sz="1600" b="1" dirty="0">
                    <a:latin typeface="Symbol" panose="05050102010706020507" pitchFamily="18" charset="2"/>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A|B|…|</a:t>
                </a:r>
                <a:r>
                  <a:rPr lang="en-US" sz="1600" b="1" dirty="0" err="1">
                    <a:latin typeface="Courier New" panose="02070309020205020404" pitchFamily="49" charset="0"/>
                    <a:cs typeface="Courier New" panose="02070309020205020404" pitchFamily="49" charset="0"/>
                  </a:rPr>
                  <a:t>Z|a|b</a:t>
                </a:r>
                <a:r>
                  <a:rPr lang="en-US" sz="1600" b="1" dirty="0">
                    <a:latin typeface="Courier New" panose="02070309020205020404" pitchFamily="49" charset="0"/>
                    <a:cs typeface="Courier New" panose="02070309020205020404" pitchFamily="49" charset="0"/>
                  </a:rPr>
                  <a:t>|…|z|_</a:t>
                </a:r>
              </a:p>
              <a:p>
                <a:pPr marL="457200" lvl="3" indent="0" algn="just">
                  <a:lnSpc>
                    <a:spcPct val="140000"/>
                  </a:lnSpc>
                  <a:buSzPct val="85000"/>
                  <a:buNone/>
                </a:pPr>
                <a:r>
                  <a:rPr lang="en-US" sz="1600" b="1" dirty="0">
                    <a:latin typeface="Courier New" panose="02070309020205020404" pitchFamily="49" charset="0"/>
                    <a:cs typeface="Courier New" panose="02070309020205020404" pitchFamily="49" charset="0"/>
                  </a:rPr>
                  <a:t>	  digit </a:t>
                </a:r>
                <a:r>
                  <a:rPr lang="en-US" sz="1600" b="1" dirty="0">
                    <a:latin typeface="Symbol" panose="05050102010706020507" pitchFamily="18" charset="2"/>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0|1|2|…|9</a:t>
                </a:r>
              </a:p>
              <a:p>
                <a:pPr marL="457200" lvl="3" indent="0" algn="just">
                  <a:lnSpc>
                    <a:spcPct val="140000"/>
                  </a:lnSpc>
                  <a:buSzPct val="85000"/>
                  <a:buNone/>
                </a:pPr>
                <a:endParaRPr lang="en-US" sz="1600" b="1" dirty="0">
                  <a:latin typeface="Courier New" panose="02070309020205020404" pitchFamily="49" charset="0"/>
                  <a:cs typeface="Courier New" panose="02070309020205020404" pitchFamily="49" charset="0"/>
                </a:endParaRPr>
              </a:p>
              <a:p>
                <a:pPr marL="457200" lvl="3" indent="0" algn="just">
                  <a:lnSpc>
                    <a:spcPct val="140000"/>
                  </a:lnSpc>
                  <a:buSzPct val="85000"/>
                  <a:buNone/>
                </a:pPr>
                <a:endParaRPr lang="en-US" sz="1600" b="1" dirty="0">
                  <a:latin typeface="Courier New" panose="02070309020205020404" pitchFamily="49" charset="0"/>
                  <a:cs typeface="Courier New" panose="02070309020205020404" pitchFamily="49" charset="0"/>
                </a:endParaRPr>
              </a:p>
              <a:p>
                <a:pPr marL="457200" lvl="3" indent="0" algn="just">
                  <a:lnSpc>
                    <a:spcPct val="140000"/>
                  </a:lnSpc>
                  <a:buSzPct val="85000"/>
                  <a:buNone/>
                </a:pPr>
                <a:endParaRPr lang="en-US" sz="1600" b="1" dirty="0">
                  <a:latin typeface="Courier New" panose="02070309020205020404" pitchFamily="49" charset="0"/>
                  <a:cs typeface="Courier New" panose="02070309020205020404" pitchFamily="49" charset="0"/>
                </a:endParaRPr>
              </a:p>
              <a:p>
                <a:pPr marL="457200" lvl="3" indent="0" algn="just">
                  <a:lnSpc>
                    <a:spcPct val="140000"/>
                  </a:lnSpc>
                  <a:buSzPct val="85000"/>
                  <a:buNone/>
                </a:pPr>
                <a:endParaRPr lang="en-US" sz="1600" b="1" dirty="0">
                  <a:latin typeface="Courier New" panose="02070309020205020404" pitchFamily="49" charset="0"/>
                  <a:cs typeface="Courier New" panose="02070309020205020404" pitchFamily="49" charset="0"/>
                </a:endParaRPr>
              </a:p>
              <a:p>
                <a:pPr marL="457200" lvl="3" indent="0" algn="just">
                  <a:lnSpc>
                    <a:spcPct val="140000"/>
                  </a:lnSpc>
                  <a:buSzPct val="85000"/>
                  <a:buNone/>
                </a:pPr>
                <a:endParaRPr lang="en-US" sz="1600" b="1" dirty="0">
                  <a:latin typeface="Courier New" panose="02070309020205020404" pitchFamily="49" charset="0"/>
                  <a:cs typeface="Courier New" panose="02070309020205020404" pitchFamily="49" charset="0"/>
                </a:endParaRPr>
              </a:p>
              <a:p>
                <a:pPr marL="457200" lvl="3" indent="0" algn="just">
                  <a:lnSpc>
                    <a:spcPct val="140000"/>
                  </a:lnSpc>
                  <a:buSzPct val="85000"/>
                  <a:buNone/>
                </a:pPr>
                <a:r>
                  <a:rPr lang="en-US" sz="1600" b="1" dirty="0">
                    <a:latin typeface="Courier New" panose="02070309020205020404" pitchFamily="49" charset="0"/>
                    <a:cs typeface="Courier New" panose="02070309020205020404" pitchFamily="49" charset="0"/>
                  </a:rPr>
                  <a:t> </a:t>
                </a:r>
              </a:p>
              <a:p>
                <a:pPr marL="342900" lvl="2" indent="-342900" algn="just">
                  <a:lnSpc>
                    <a:spcPct val="140000"/>
                  </a:lnSpc>
                  <a:buSzPct val="85000"/>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458200" cy="4953000"/>
              </a:xfrm>
              <a:blipFill rotWithShape="0">
                <a:blip r:embed="rId2"/>
                <a:stretch>
                  <a:fillRect l="-2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895600" y="2209800"/>
                <a:ext cx="5943600" cy="1212640"/>
              </a:xfrm>
              <a:prstGeom prst="rect">
                <a:avLst/>
              </a:prstGeom>
            </p:spPr>
            <p:txBody>
              <a:bodyPr wrap="square">
                <a:spAutoFit/>
              </a:bodyPr>
              <a:lstStyle/>
              <a:p>
                <a:pPr marL="461963" lvl="2" indent="-461963">
                  <a:lnSpc>
                    <a:spcPct val="130000"/>
                  </a:lnSpc>
                  <a:buSzPct val="85000"/>
                </a:pPr>
                <a:r>
                  <a:rPr lang="en-US" sz="1400" b="1" dirty="0"/>
                  <a:t>Where</a:t>
                </a:r>
              </a:p>
              <a:p>
                <a:pPr marL="461963" lvl="2" indent="-461963">
                  <a:lnSpc>
                    <a:spcPct val="130000"/>
                  </a:lnSpc>
                  <a:buSzPct val="85000"/>
                  <a:buFont typeface="+mj-lt"/>
                  <a:buAutoNum type="arabicPeriod"/>
                </a:pPr>
                <a:r>
                  <a:rPr lang="en-US" sz="1400" dirty="0"/>
                  <a:t>Each </a:t>
                </a:r>
                <a14:m>
                  <m:oMath xmlns:m="http://schemas.openxmlformats.org/officeDocument/2006/math">
                    <m:sSub>
                      <m:sSubPr>
                        <m:ctrlPr>
                          <a:rPr lang="en-US" sz="1400" i="1" dirty="0" smtClean="0">
                            <a:latin typeface="Cambria Math" panose="02040503050406030204" pitchFamily="18" charset="0"/>
                          </a:rPr>
                        </m:ctrlPr>
                      </m:sSubPr>
                      <m:e>
                        <m:r>
                          <a:rPr lang="en-US" sz="1400" i="1" dirty="0">
                            <a:latin typeface="Cambria Math" panose="02040503050406030204" pitchFamily="18" charset="0"/>
                          </a:rPr>
                          <m:t>𝑑</m:t>
                        </m:r>
                      </m:e>
                      <m:sub>
                        <m:r>
                          <a:rPr lang="en-US" sz="1400" i="1" dirty="0">
                            <a:latin typeface="Cambria Math" panose="02040503050406030204" pitchFamily="18" charset="0"/>
                          </a:rPr>
                          <m:t>𝑖</m:t>
                        </m:r>
                      </m:sub>
                    </m:sSub>
                    <m:r>
                      <a:rPr lang="en-US" sz="1400" i="1" dirty="0" smtClean="0">
                        <a:latin typeface="Cambria Math" panose="02040503050406030204" pitchFamily="18" charset="0"/>
                      </a:rPr>
                      <m:t> </m:t>
                    </m:r>
                  </m:oMath>
                </a14:m>
                <a:r>
                  <a:rPr lang="en-US" sz="1400" dirty="0"/>
                  <a:t>is a new symbol, not in </a:t>
                </a:r>
                <a:r>
                  <a:rPr lang="en-US" sz="1400" dirty="0">
                    <a:latin typeface="Symbol" panose="05050102010706020507" pitchFamily="18" charset="2"/>
                  </a:rPr>
                  <a:t>S</a:t>
                </a:r>
                <a:r>
                  <a:rPr lang="en-US" sz="1400" dirty="0"/>
                  <a:t> and not the same as any other of the </a:t>
                </a:r>
                <a14:m>
                  <m:oMath xmlns:m="http://schemas.openxmlformats.org/officeDocument/2006/math">
                    <m:r>
                      <a:rPr lang="en-US" sz="1400" i="1" dirty="0" smtClean="0">
                        <a:latin typeface="Cambria Math" panose="02040503050406030204" pitchFamily="18" charset="0"/>
                      </a:rPr>
                      <m:t>𝑑</m:t>
                    </m:r>
                    <m:r>
                      <a:rPr lang="en-US" sz="1400" i="1" dirty="0" smtClean="0">
                        <a:latin typeface="Cambria Math" panose="02040503050406030204" pitchFamily="18" charset="0"/>
                      </a:rPr>
                      <m:t>′</m:t>
                    </m:r>
                  </m:oMath>
                </a14:m>
                <a:r>
                  <a:rPr lang="en-US" sz="1400" dirty="0"/>
                  <a:t>s, and </a:t>
                </a:r>
              </a:p>
              <a:p>
                <a:pPr marL="461963" lvl="2" indent="-461963">
                  <a:lnSpc>
                    <a:spcPct val="130000"/>
                  </a:lnSpc>
                  <a:buSzPct val="85000"/>
                  <a:buFont typeface="+mj-lt"/>
                  <a:buAutoNum type="arabicPeriod"/>
                </a:pPr>
                <a:r>
                  <a:rPr lang="en-US" sz="1400" dirty="0"/>
                  <a:t>Each </a:t>
                </a:r>
                <a14:m>
                  <m:oMath xmlns:m="http://schemas.openxmlformats.org/officeDocument/2006/math">
                    <m:sSub>
                      <m:sSubPr>
                        <m:ctrlPr>
                          <a:rPr lang="en-US" sz="1400" i="1" dirty="0">
                            <a:latin typeface="Cambria Math" panose="02040503050406030204" pitchFamily="18" charset="0"/>
                          </a:rPr>
                        </m:ctrlPr>
                      </m:sSubPr>
                      <m:e>
                        <m:r>
                          <a:rPr lang="en-US" sz="1400" b="0" i="1" dirty="0" smtClean="0">
                            <a:latin typeface="Cambria Math" panose="02040503050406030204" pitchFamily="18" charset="0"/>
                          </a:rPr>
                          <m:t>𝑟</m:t>
                        </m:r>
                      </m:e>
                      <m:sub>
                        <m:r>
                          <a:rPr lang="en-US" sz="1400" i="1" dirty="0">
                            <a:latin typeface="Cambria Math" panose="02040503050406030204" pitchFamily="18" charset="0"/>
                          </a:rPr>
                          <m:t>𝑖</m:t>
                        </m:r>
                      </m:sub>
                    </m:sSub>
                  </m:oMath>
                </a14:m>
                <a:r>
                  <a:rPr lang="en-US" sz="1400" dirty="0"/>
                  <a:t> is a regular expression over the  alphabet </a:t>
                </a:r>
                <a14:m>
                  <m:oMath xmlns:m="http://schemas.openxmlformats.org/officeDocument/2006/math">
                    <m:r>
                      <m:rPr>
                        <m:sty m:val="p"/>
                      </m:rPr>
                      <a:rPr lang="el-GR" sz="1400" i="1" dirty="0" smtClean="0">
                        <a:latin typeface="Cambria Math" panose="02040503050406030204" pitchFamily="18" charset="0"/>
                        <a:ea typeface="Cambria Math" panose="02040503050406030204" pitchFamily="18" charset="0"/>
                      </a:rPr>
                      <m:t>Σ</m:t>
                    </m:r>
                    <m:r>
                      <a:rPr lang="en-US" sz="1400" i="1" dirty="0" smtClean="0">
                        <a:latin typeface="Cambria Math" panose="02040503050406030204" pitchFamily="18" charset="0"/>
                        <a:ea typeface="Cambria Math" panose="02040503050406030204" pitchFamily="18" charset="0"/>
                      </a:rPr>
                      <m:t>∪</m:t>
                    </m:r>
                    <m:r>
                      <a:rPr lang="en-US" sz="1400" i="1" dirty="0">
                        <a:latin typeface="Cambria Math" panose="02040503050406030204" pitchFamily="18" charset="0"/>
                      </a:rPr>
                      <m:t>{</m:t>
                    </m:r>
                    <m:sSub>
                      <m:sSubPr>
                        <m:ctrlPr>
                          <a:rPr lang="en-US" sz="1400" i="1" dirty="0">
                            <a:latin typeface="Cambria Math" panose="02040503050406030204" pitchFamily="18" charset="0"/>
                          </a:rPr>
                        </m:ctrlPr>
                      </m:sSubPr>
                      <m:e>
                        <m:r>
                          <a:rPr lang="en-US" sz="1400" i="1" dirty="0">
                            <a:latin typeface="Cambria Math" panose="02040503050406030204" pitchFamily="18" charset="0"/>
                          </a:rPr>
                          <m:t>𝑑</m:t>
                        </m:r>
                      </m:e>
                      <m:sub>
                        <m:r>
                          <a:rPr lang="en-US" sz="1400" b="0" i="1" dirty="0" smtClean="0">
                            <a:latin typeface="Cambria Math" panose="02040503050406030204" pitchFamily="18" charset="0"/>
                          </a:rPr>
                          <m:t>1</m:t>
                        </m:r>
                      </m:sub>
                    </m:sSub>
                    <m:r>
                      <a:rPr lang="en-US" sz="1400" i="1" dirty="0">
                        <a:latin typeface="Cambria Math" panose="02040503050406030204" pitchFamily="18" charset="0"/>
                      </a:rPr>
                      <m:t>,</m:t>
                    </m:r>
                    <m:sSub>
                      <m:sSubPr>
                        <m:ctrlPr>
                          <a:rPr lang="en-US" sz="1400" i="1" dirty="0">
                            <a:latin typeface="Cambria Math" panose="02040503050406030204" pitchFamily="18" charset="0"/>
                          </a:rPr>
                        </m:ctrlPr>
                      </m:sSubPr>
                      <m:e>
                        <m:r>
                          <a:rPr lang="en-US" sz="1400" i="1" dirty="0">
                            <a:latin typeface="Cambria Math" panose="02040503050406030204" pitchFamily="18" charset="0"/>
                          </a:rPr>
                          <m:t>𝑑</m:t>
                        </m:r>
                      </m:e>
                      <m:sub>
                        <m:r>
                          <a:rPr lang="en-US" sz="1400" b="0" i="1" dirty="0" smtClean="0">
                            <a:latin typeface="Cambria Math" panose="02040503050406030204" pitchFamily="18" charset="0"/>
                          </a:rPr>
                          <m:t>2</m:t>
                        </m:r>
                      </m:sub>
                    </m:sSub>
                    <m:r>
                      <a:rPr lang="en-US" sz="1400" i="1" dirty="0">
                        <a:latin typeface="Cambria Math" panose="02040503050406030204" pitchFamily="18" charset="0"/>
                      </a:rPr>
                      <m:t>, </m:t>
                    </m:r>
                    <m:r>
                      <a:rPr lang="en-US" sz="1400" i="1" dirty="0" smtClean="0">
                        <a:latin typeface="Cambria Math" panose="02040503050406030204" pitchFamily="18" charset="0"/>
                      </a:rPr>
                      <m:t>…</m:t>
                    </m:r>
                    <m:r>
                      <a:rPr lang="en-US" sz="1400" i="1" dirty="0">
                        <a:latin typeface="Cambria Math" panose="02040503050406030204" pitchFamily="18" charset="0"/>
                      </a:rPr>
                      <m:t>,</m:t>
                    </m:r>
                    <m:sSub>
                      <m:sSubPr>
                        <m:ctrlPr>
                          <a:rPr lang="en-US" sz="1400" i="1" dirty="0">
                            <a:latin typeface="Cambria Math" panose="02040503050406030204" pitchFamily="18" charset="0"/>
                          </a:rPr>
                        </m:ctrlPr>
                      </m:sSubPr>
                      <m:e>
                        <m:r>
                          <a:rPr lang="en-US" sz="1400" i="1" dirty="0">
                            <a:latin typeface="Cambria Math" panose="02040503050406030204" pitchFamily="18" charset="0"/>
                          </a:rPr>
                          <m:t>𝑑</m:t>
                        </m:r>
                      </m:e>
                      <m:sub>
                        <m:r>
                          <a:rPr lang="en-US" sz="1400" i="1" dirty="0">
                            <a:latin typeface="Cambria Math" panose="02040503050406030204" pitchFamily="18" charset="0"/>
                          </a:rPr>
                          <m:t>𝑖</m:t>
                        </m:r>
                        <m:r>
                          <a:rPr lang="en-US" sz="1400" b="0" i="1" dirty="0" smtClean="0">
                            <a:latin typeface="Cambria Math" panose="02040503050406030204" pitchFamily="18" charset="0"/>
                          </a:rPr>
                          <m:t>−1</m:t>
                        </m:r>
                      </m:sub>
                    </m:sSub>
                    <m:r>
                      <a:rPr lang="en-US" sz="1400" i="1" dirty="0">
                        <a:latin typeface="Cambria Math" panose="02040503050406030204" pitchFamily="18" charset="0"/>
                      </a:rPr>
                      <m:t>}</m:t>
                    </m:r>
                  </m:oMath>
                </a14:m>
                <a:r>
                  <a:rPr lang="en-US" sz="1400" dirty="0"/>
                  <a:t>. </a:t>
                </a:r>
              </a:p>
            </p:txBody>
          </p:sp>
        </mc:Choice>
        <mc:Fallback xmlns="">
          <p:sp>
            <p:nvSpPr>
              <p:cNvPr id="6" name="Rectangle 5"/>
              <p:cNvSpPr>
                <a:spLocks noRot="1" noChangeAspect="1" noMove="1" noResize="1" noEditPoints="1" noAdjustHandles="1" noChangeArrowheads="1" noChangeShapeType="1" noTextEdit="1"/>
              </p:cNvSpPr>
              <p:nvPr/>
            </p:nvSpPr>
            <p:spPr>
              <a:xfrm>
                <a:off x="2895600" y="2209800"/>
                <a:ext cx="5943600" cy="1212640"/>
              </a:xfrm>
              <a:prstGeom prst="rect">
                <a:avLst/>
              </a:prstGeom>
              <a:blipFill rotWithShape="0">
                <a:blip r:embed="rId3"/>
                <a:stretch>
                  <a:fillRect l="-308" b="-3030"/>
                </a:stretch>
              </a:blipFill>
            </p:spPr>
            <p:txBody>
              <a:bodyPr/>
              <a:lstStyle/>
              <a:p>
                <a:r>
                  <a:rPr lang="en-US">
                    <a:noFill/>
                  </a:rPr>
                  <a:t> </a:t>
                </a:r>
              </a:p>
            </p:txBody>
          </p:sp>
        </mc:Fallback>
      </mc:AlternateContent>
      <p:sp>
        <p:nvSpPr>
          <p:cNvPr id="8" name="Rectangle 7"/>
          <p:cNvSpPr/>
          <p:nvPr/>
        </p:nvSpPr>
        <p:spPr>
          <a:xfrm>
            <a:off x="5038343" y="3657600"/>
            <a:ext cx="3648457" cy="2197525"/>
          </a:xfrm>
          <a:prstGeom prst="rect">
            <a:avLst/>
          </a:prstGeom>
        </p:spPr>
        <p:txBody>
          <a:bodyPr wrap="square">
            <a:spAutoFit/>
          </a:bodyPr>
          <a:lstStyle/>
          <a:p>
            <a:pPr marL="0" lvl="2" algn="just">
              <a:lnSpc>
                <a:spcPct val="120000"/>
              </a:lnSpc>
              <a:buSzPct val="85000"/>
            </a:pPr>
            <a:r>
              <a:rPr lang="en-US" altLang="zh-CN" sz="1300" dirty="0"/>
              <a:t>b) Regular definition for C++ statements     </a:t>
            </a:r>
          </a:p>
          <a:p>
            <a:pPr marL="0" lvl="2" algn="just">
              <a:lnSpc>
                <a:spcPct val="120000"/>
              </a:lnSpc>
              <a:buSzPct val="85000"/>
            </a:pPr>
            <a:r>
              <a:rPr lang="en-US" sz="1400" b="1" dirty="0">
                <a:solidFill>
                  <a:srgbClr val="0000FF"/>
                </a:solidFill>
                <a:latin typeface="Perpetua" pitchFamily="18" charset="0"/>
                <a:ea typeface="新細明體" pitchFamily="18" charset="-120"/>
              </a:rPr>
              <a:t>        </a:t>
            </a:r>
            <a:r>
              <a:rPr lang="en-US" sz="1400" b="1" dirty="0" err="1">
                <a:solidFill>
                  <a:srgbClr val="0000FF"/>
                </a:solidFill>
                <a:latin typeface="Perpetua" pitchFamily="18" charset="0"/>
                <a:ea typeface="新細明體" pitchFamily="18" charset="-120"/>
              </a:rPr>
              <a:t>stmt</a:t>
            </a:r>
            <a:r>
              <a:rPr lang="en-US" sz="1400" b="1" dirty="0">
                <a:solidFill>
                  <a:srgbClr val="0000FF"/>
                </a:solidFill>
                <a:latin typeface="Perpetua" pitchFamily="18" charset="0"/>
                <a:ea typeface="新細明體" pitchFamily="18" charset="-120"/>
              </a:rPr>
              <a:t> </a:t>
            </a:r>
            <a:r>
              <a:rPr lang="en-US" altLang="zh-CN" sz="1400" b="1" dirty="0">
                <a:solidFill>
                  <a:srgbClr val="0000FF"/>
                </a:solidFill>
                <a:latin typeface="Perpetua" pitchFamily="18" charset="0"/>
                <a:ea typeface="新細明體" pitchFamily="18" charset="-120"/>
                <a:sym typeface="Symbol" pitchFamily="-80" charset="2"/>
              </a:rPr>
              <a:t></a:t>
            </a:r>
            <a:r>
              <a:rPr lang="en-US" sz="1400" b="1" dirty="0">
                <a:solidFill>
                  <a:srgbClr val="0000FF"/>
                </a:solidFill>
                <a:latin typeface="Perpetua" pitchFamily="18" charset="0"/>
                <a:ea typeface="新細明體" pitchFamily="18" charset="-120"/>
              </a:rPr>
              <a:t> if expr then </a:t>
            </a:r>
            <a:r>
              <a:rPr lang="en-US" sz="1400" b="1" dirty="0" err="1">
                <a:solidFill>
                  <a:srgbClr val="0000FF"/>
                </a:solidFill>
                <a:latin typeface="Perpetua" pitchFamily="18" charset="0"/>
                <a:ea typeface="新細明體" pitchFamily="18" charset="-120"/>
              </a:rPr>
              <a:t>stmt</a:t>
            </a:r>
            <a:endParaRPr lang="en-US" sz="1400" b="1" dirty="0">
              <a:solidFill>
                <a:srgbClr val="0000FF"/>
              </a:solidFill>
              <a:latin typeface="Perpetua" pitchFamily="18" charset="0"/>
              <a:ea typeface="新細明體" pitchFamily="18" charset="-120"/>
            </a:endParaRPr>
          </a:p>
          <a:p>
            <a:pPr marL="0" lvl="2" algn="just">
              <a:lnSpc>
                <a:spcPct val="120000"/>
              </a:lnSpc>
              <a:buSzPct val="85000"/>
            </a:pPr>
            <a:r>
              <a:rPr lang="en-US" sz="1400" b="1" dirty="0">
                <a:solidFill>
                  <a:srgbClr val="0000FF"/>
                </a:solidFill>
                <a:latin typeface="Perpetua" pitchFamily="18" charset="0"/>
                <a:ea typeface="新細明體" pitchFamily="18" charset="-120"/>
              </a:rPr>
              <a:t>                   | if </a:t>
            </a:r>
            <a:r>
              <a:rPr lang="en-US" sz="1400" b="1" dirty="0" err="1">
                <a:solidFill>
                  <a:srgbClr val="0000FF"/>
                </a:solidFill>
                <a:latin typeface="Perpetua" pitchFamily="18" charset="0"/>
                <a:ea typeface="新細明體" pitchFamily="18" charset="-120"/>
              </a:rPr>
              <a:t>expr</a:t>
            </a:r>
            <a:r>
              <a:rPr lang="en-US" sz="1400" b="1" dirty="0">
                <a:solidFill>
                  <a:srgbClr val="0000FF"/>
                </a:solidFill>
                <a:latin typeface="Perpetua" pitchFamily="18" charset="0"/>
                <a:ea typeface="新細明體" pitchFamily="18" charset="-120"/>
              </a:rPr>
              <a:t> then </a:t>
            </a:r>
            <a:r>
              <a:rPr lang="en-US" sz="1400" b="1" dirty="0" err="1">
                <a:solidFill>
                  <a:srgbClr val="0000FF"/>
                </a:solidFill>
                <a:latin typeface="Perpetua" pitchFamily="18" charset="0"/>
                <a:ea typeface="新細明體" pitchFamily="18" charset="-120"/>
              </a:rPr>
              <a:t>stmt</a:t>
            </a:r>
            <a:r>
              <a:rPr lang="en-US" sz="1400" b="1" dirty="0">
                <a:solidFill>
                  <a:srgbClr val="0000FF"/>
                </a:solidFill>
                <a:latin typeface="Perpetua" pitchFamily="18" charset="0"/>
                <a:ea typeface="新細明體" pitchFamily="18" charset="-120"/>
              </a:rPr>
              <a:t> else </a:t>
            </a:r>
            <a:r>
              <a:rPr lang="en-US" sz="1400" b="1" dirty="0" err="1">
                <a:solidFill>
                  <a:srgbClr val="0000FF"/>
                </a:solidFill>
                <a:latin typeface="Perpetua" pitchFamily="18" charset="0"/>
                <a:ea typeface="新細明體" pitchFamily="18" charset="-120"/>
              </a:rPr>
              <a:t>stmt</a:t>
            </a:r>
            <a:endParaRPr lang="en-US" sz="1400" b="1" dirty="0">
              <a:solidFill>
                <a:srgbClr val="0000FF"/>
              </a:solidFill>
              <a:latin typeface="Perpetua" pitchFamily="18" charset="0"/>
              <a:ea typeface="新細明體" pitchFamily="18" charset="-120"/>
            </a:endParaRPr>
          </a:p>
          <a:p>
            <a:pPr marL="0" lvl="2" algn="just">
              <a:lnSpc>
                <a:spcPct val="120000"/>
              </a:lnSpc>
              <a:buSzPct val="85000"/>
            </a:pPr>
            <a:r>
              <a:rPr lang="en-US" sz="1400" b="1" dirty="0">
                <a:solidFill>
                  <a:srgbClr val="0000FF"/>
                </a:solidFill>
                <a:latin typeface="Perpetua" pitchFamily="18" charset="0"/>
                <a:ea typeface="新細明體" pitchFamily="18" charset="-120"/>
              </a:rPr>
              <a:t>                   | Ɛ</a:t>
            </a:r>
          </a:p>
          <a:p>
            <a:pPr marL="0" lvl="2" algn="just">
              <a:lnSpc>
                <a:spcPct val="120000"/>
              </a:lnSpc>
              <a:buSzPct val="85000"/>
            </a:pPr>
            <a:r>
              <a:rPr lang="en-US" sz="1400" b="1" dirty="0">
                <a:solidFill>
                  <a:srgbClr val="0000FF"/>
                </a:solidFill>
                <a:latin typeface="Perpetua" pitchFamily="18" charset="0"/>
                <a:ea typeface="新細明體" pitchFamily="18" charset="-120"/>
              </a:rPr>
              <a:t>        expr </a:t>
            </a:r>
            <a:r>
              <a:rPr lang="en-US" altLang="zh-CN" sz="1400" b="1" dirty="0">
                <a:solidFill>
                  <a:srgbClr val="0000FF"/>
                </a:solidFill>
                <a:latin typeface="Perpetua" pitchFamily="18" charset="0"/>
                <a:ea typeface="新細明體" pitchFamily="18" charset="-120"/>
                <a:sym typeface="Symbol" pitchFamily="-80" charset="2"/>
              </a:rPr>
              <a:t> </a:t>
            </a:r>
            <a:r>
              <a:rPr lang="en-US" sz="1400" b="1" dirty="0">
                <a:solidFill>
                  <a:srgbClr val="0000FF"/>
                </a:solidFill>
                <a:latin typeface="Perpetua" pitchFamily="18" charset="0"/>
                <a:ea typeface="新細明體" pitchFamily="18" charset="-120"/>
              </a:rPr>
              <a:t>term relop term</a:t>
            </a:r>
          </a:p>
          <a:p>
            <a:pPr marL="0" lvl="2" algn="just">
              <a:lnSpc>
                <a:spcPct val="120000"/>
              </a:lnSpc>
              <a:buSzPct val="85000"/>
            </a:pPr>
            <a:r>
              <a:rPr lang="en-US" sz="1400" b="1" dirty="0">
                <a:solidFill>
                  <a:srgbClr val="0000FF"/>
                </a:solidFill>
                <a:latin typeface="Perpetua" pitchFamily="18" charset="0"/>
                <a:ea typeface="新細明體" pitchFamily="18" charset="-120"/>
              </a:rPr>
              <a:t>                   |  term</a:t>
            </a:r>
          </a:p>
          <a:p>
            <a:pPr marL="0" lvl="2" algn="just">
              <a:lnSpc>
                <a:spcPct val="120000"/>
              </a:lnSpc>
              <a:buSzPct val="85000"/>
            </a:pPr>
            <a:r>
              <a:rPr lang="en-US" sz="1400" b="1" dirty="0">
                <a:solidFill>
                  <a:srgbClr val="0000FF"/>
                </a:solidFill>
                <a:latin typeface="Perpetua" pitchFamily="18" charset="0"/>
                <a:ea typeface="新細明體" pitchFamily="18" charset="-120"/>
              </a:rPr>
              <a:t>        term </a:t>
            </a:r>
            <a:r>
              <a:rPr lang="en-US" altLang="zh-CN" sz="1400" b="1" dirty="0">
                <a:solidFill>
                  <a:srgbClr val="0000FF"/>
                </a:solidFill>
                <a:latin typeface="Perpetua" pitchFamily="18" charset="0"/>
                <a:ea typeface="新細明體" pitchFamily="18" charset="-120"/>
                <a:sym typeface="Symbol" pitchFamily="-80" charset="2"/>
              </a:rPr>
              <a:t> </a:t>
            </a:r>
            <a:r>
              <a:rPr lang="en-US" sz="1400" b="1" dirty="0">
                <a:solidFill>
                  <a:srgbClr val="0000FF"/>
                </a:solidFill>
                <a:latin typeface="Perpetua" pitchFamily="18" charset="0"/>
                <a:ea typeface="新細明體" pitchFamily="18" charset="-120"/>
              </a:rPr>
              <a:t> id</a:t>
            </a:r>
          </a:p>
          <a:p>
            <a:pPr marL="0" lvl="2" algn="just">
              <a:lnSpc>
                <a:spcPct val="120000"/>
              </a:lnSpc>
              <a:buSzPct val="85000"/>
            </a:pPr>
            <a:r>
              <a:rPr lang="en-US" sz="1400" b="1" dirty="0">
                <a:solidFill>
                  <a:srgbClr val="0000FF"/>
                </a:solidFill>
                <a:latin typeface="Perpetua" pitchFamily="18" charset="0"/>
                <a:ea typeface="新細明體" pitchFamily="18" charset="-120"/>
              </a:rPr>
              <a:t>                   |  number</a:t>
            </a:r>
          </a:p>
        </p:txBody>
      </p:sp>
      <p:sp>
        <p:nvSpPr>
          <p:cNvPr id="9" name="Rectangle 8"/>
          <p:cNvSpPr/>
          <p:nvPr/>
        </p:nvSpPr>
        <p:spPr>
          <a:xfrm>
            <a:off x="914400" y="4686680"/>
            <a:ext cx="4234803" cy="1846659"/>
          </a:xfrm>
          <a:prstGeom prst="rect">
            <a:avLst/>
          </a:prstGeom>
        </p:spPr>
        <p:txBody>
          <a:bodyPr wrap="square">
            <a:spAutoFit/>
          </a:bodyPr>
          <a:lstStyle/>
          <a:p>
            <a:pPr marL="344488" lvl="2" indent="-344488">
              <a:buSzPct val="85000"/>
            </a:pPr>
            <a:r>
              <a:rPr lang="en-US" altLang="zh-CN" sz="1300" dirty="0"/>
              <a:t>c)      Regular Definition for unsigned numbers such as 5280,  0.0 1 234, 6.  336E4, or  1.  89E-4      </a:t>
            </a:r>
          </a:p>
          <a:p>
            <a:pPr marL="0" lvl="2" algn="just">
              <a:lnSpc>
                <a:spcPct val="110000"/>
              </a:lnSpc>
              <a:buSzPct val="85000"/>
            </a:pPr>
            <a:r>
              <a:rPr lang="en-US" altLang="zh-CN" sz="1600" b="1" dirty="0">
                <a:solidFill>
                  <a:srgbClr val="0000FF"/>
                </a:solidFill>
                <a:latin typeface="Perpetua" pitchFamily="18" charset="0"/>
                <a:ea typeface="新細明體" pitchFamily="18" charset="-120"/>
                <a:sym typeface="Symbol" pitchFamily="-80" charset="2"/>
              </a:rPr>
              <a:t>           </a:t>
            </a:r>
            <a:r>
              <a:rPr lang="en-US" altLang="zh-CN" sz="1600" b="1" dirty="0">
                <a:solidFill>
                  <a:srgbClr val="CC00FF"/>
                </a:solidFill>
                <a:latin typeface="Perpetua" pitchFamily="18" charset="0"/>
                <a:ea typeface="新細明體" pitchFamily="18" charset="-120"/>
                <a:sym typeface="Symbol" pitchFamily="-80" charset="2"/>
              </a:rPr>
              <a:t>digit</a:t>
            </a:r>
            <a:r>
              <a:rPr lang="en-US" altLang="zh-CN" sz="1600" b="1" dirty="0">
                <a:solidFill>
                  <a:srgbClr val="CC00FF"/>
                </a:solidFill>
                <a:latin typeface="Perpetua" pitchFamily="18" charset="0"/>
                <a:ea typeface="新細明體" pitchFamily="18" charset="-120"/>
              </a:rPr>
              <a:t> </a:t>
            </a:r>
            <a:r>
              <a:rPr lang="en-US" altLang="zh-CN" sz="1600" b="1" dirty="0">
                <a:solidFill>
                  <a:srgbClr val="CC00FF"/>
                </a:solidFill>
                <a:latin typeface="Perpetua" pitchFamily="18" charset="0"/>
                <a:ea typeface="新細明體" pitchFamily="18" charset="-120"/>
                <a:sym typeface="Symbol" pitchFamily="-80" charset="2"/>
              </a:rPr>
              <a:t>0|1|2|…|9</a:t>
            </a:r>
          </a:p>
          <a:p>
            <a:pPr marL="0" lvl="2" algn="just">
              <a:lnSpc>
                <a:spcPct val="110000"/>
              </a:lnSpc>
              <a:buSzPct val="85000"/>
            </a:pPr>
            <a:r>
              <a:rPr lang="en-US" altLang="zh-CN" sz="1600" b="1" dirty="0">
                <a:solidFill>
                  <a:srgbClr val="CC00FF"/>
                </a:solidFill>
                <a:latin typeface="Perpetua" pitchFamily="18" charset="0"/>
                <a:ea typeface="新細明體" pitchFamily="18" charset="-120"/>
                <a:sym typeface="Symbol" pitchFamily="-80" charset="2"/>
              </a:rPr>
              <a:t>       </a:t>
            </a:r>
            <a:r>
              <a:rPr lang="en-US" altLang="zh-CN" sz="1600" b="1" dirty="0">
                <a:solidFill>
                  <a:srgbClr val="0000FF"/>
                </a:solidFill>
                <a:latin typeface="Perpetua" pitchFamily="18" charset="0"/>
                <a:ea typeface="新細明體" pitchFamily="18" charset="-120"/>
                <a:sym typeface="Symbol" pitchFamily="-80" charset="2"/>
              </a:rPr>
              <a:t>    </a:t>
            </a:r>
            <a:r>
              <a:rPr lang="en-US" altLang="zh-CN" sz="1600" b="1" dirty="0">
                <a:solidFill>
                  <a:srgbClr val="CC00FF"/>
                </a:solidFill>
                <a:latin typeface="Perpetua" pitchFamily="18" charset="0"/>
                <a:ea typeface="新細明體" pitchFamily="18" charset="-120"/>
                <a:sym typeface="Symbol" pitchFamily="-80" charset="2"/>
              </a:rPr>
              <a:t>digits</a:t>
            </a:r>
            <a:r>
              <a:rPr lang="en-US" altLang="zh-CN" sz="1600" b="1" dirty="0">
                <a:solidFill>
                  <a:srgbClr val="CC00FF"/>
                </a:solidFill>
                <a:latin typeface="Perpetua" pitchFamily="18" charset="0"/>
                <a:ea typeface="新細明體" pitchFamily="18" charset="-120"/>
              </a:rPr>
              <a:t> </a:t>
            </a:r>
            <a:r>
              <a:rPr lang="en-US" altLang="zh-CN" sz="1600" b="1" dirty="0">
                <a:solidFill>
                  <a:srgbClr val="CC00FF"/>
                </a:solidFill>
                <a:latin typeface="Perpetua" pitchFamily="18" charset="0"/>
                <a:ea typeface="新細明體" pitchFamily="18" charset="-120"/>
                <a:sym typeface="Symbol" pitchFamily="-80" charset="2"/>
              </a:rPr>
              <a:t>digit digit*</a:t>
            </a:r>
          </a:p>
          <a:p>
            <a:pPr marL="0" lvl="2" algn="just">
              <a:lnSpc>
                <a:spcPct val="110000"/>
              </a:lnSpc>
              <a:buSzPct val="85000"/>
            </a:pPr>
            <a:r>
              <a:rPr lang="en-US" sz="1600" b="1" dirty="0">
                <a:solidFill>
                  <a:srgbClr val="CC00FF"/>
                </a:solidFill>
                <a:latin typeface="Perpetua" pitchFamily="18" charset="0"/>
                <a:ea typeface="新細明體" pitchFamily="18" charset="-120"/>
                <a:sym typeface="Symbol" pitchFamily="-80" charset="2"/>
              </a:rPr>
              <a:t>           </a:t>
            </a:r>
            <a:r>
              <a:rPr lang="en-US" sz="1600" b="1" dirty="0" err="1">
                <a:solidFill>
                  <a:srgbClr val="CC00FF"/>
                </a:solidFill>
                <a:latin typeface="Perpetua" pitchFamily="18" charset="0"/>
                <a:ea typeface="新細明體" pitchFamily="18" charset="-120"/>
                <a:sym typeface="Symbol" pitchFamily="-80" charset="2"/>
              </a:rPr>
              <a:t>optFrac</a:t>
            </a:r>
            <a:r>
              <a:rPr lang="en-US" altLang="zh-CN" sz="1600" b="1" dirty="0">
                <a:solidFill>
                  <a:srgbClr val="CC00FF"/>
                </a:solidFill>
                <a:latin typeface="Perpetua" pitchFamily="18" charset="0"/>
                <a:ea typeface="新細明體" pitchFamily="18" charset="-120"/>
                <a:sym typeface="Symbol" pitchFamily="-80" charset="2"/>
              </a:rPr>
              <a:t> </a:t>
            </a:r>
            <a:r>
              <a:rPr lang="en-US" sz="1600" b="1" dirty="0">
                <a:solidFill>
                  <a:srgbClr val="CC00FF"/>
                </a:solidFill>
                <a:latin typeface="Perpetua" pitchFamily="18" charset="0"/>
                <a:ea typeface="新細明體" pitchFamily="18" charset="-120"/>
              </a:rPr>
              <a:t> . digts|Ɛ   </a:t>
            </a:r>
          </a:p>
          <a:p>
            <a:pPr marL="0" lvl="2" algn="just">
              <a:lnSpc>
                <a:spcPct val="110000"/>
              </a:lnSpc>
              <a:buSzPct val="85000"/>
            </a:pPr>
            <a:r>
              <a:rPr lang="en-US" sz="1600" b="1" dirty="0">
                <a:solidFill>
                  <a:srgbClr val="CC00FF"/>
                </a:solidFill>
                <a:latin typeface="Perpetua" pitchFamily="18" charset="0"/>
                <a:ea typeface="新細明體" pitchFamily="18" charset="-120"/>
                <a:sym typeface="Symbol" pitchFamily="-80" charset="2"/>
              </a:rPr>
              <a:t>           </a:t>
            </a:r>
            <a:r>
              <a:rPr lang="en-US" sz="1600" b="1" dirty="0" err="1">
                <a:solidFill>
                  <a:srgbClr val="CC00FF"/>
                </a:solidFill>
                <a:latin typeface="Perpetua" pitchFamily="18" charset="0"/>
                <a:ea typeface="新細明體" pitchFamily="18" charset="-120"/>
                <a:sym typeface="Symbol" pitchFamily="-80" charset="2"/>
              </a:rPr>
              <a:t>optExp</a:t>
            </a:r>
            <a:r>
              <a:rPr lang="en-US" altLang="zh-CN" sz="1600" b="1" dirty="0">
                <a:solidFill>
                  <a:srgbClr val="CC00FF"/>
                </a:solidFill>
                <a:latin typeface="Perpetua" pitchFamily="18" charset="0"/>
                <a:ea typeface="新細明體" pitchFamily="18" charset="-120"/>
                <a:sym typeface="Symbol" pitchFamily="-80" charset="2"/>
              </a:rPr>
              <a:t> </a:t>
            </a:r>
            <a:r>
              <a:rPr lang="en-US" sz="1600" b="1" dirty="0">
                <a:solidFill>
                  <a:srgbClr val="CC00FF"/>
                </a:solidFill>
                <a:latin typeface="Perpetua" pitchFamily="18" charset="0"/>
                <a:ea typeface="新細明體" pitchFamily="18" charset="-120"/>
              </a:rPr>
              <a:t> (E(+|-|Ɛ) digts|Ɛ </a:t>
            </a:r>
          </a:p>
          <a:p>
            <a:pPr marL="0" lvl="2" algn="just">
              <a:lnSpc>
                <a:spcPct val="110000"/>
              </a:lnSpc>
              <a:buSzPct val="85000"/>
            </a:pPr>
            <a:r>
              <a:rPr lang="en-US" sz="1600" b="1" dirty="0">
                <a:solidFill>
                  <a:srgbClr val="CC00FF"/>
                </a:solidFill>
                <a:latin typeface="Perpetua" pitchFamily="18" charset="0"/>
                <a:ea typeface="新細明體" pitchFamily="18" charset="-120"/>
              </a:rPr>
              <a:t>           number </a:t>
            </a:r>
            <a:r>
              <a:rPr lang="en-US" altLang="zh-CN" sz="1600" b="1" dirty="0">
                <a:solidFill>
                  <a:srgbClr val="CC00FF"/>
                </a:solidFill>
                <a:latin typeface="Perpetua" pitchFamily="18" charset="0"/>
                <a:ea typeface="新細明體" pitchFamily="18" charset="-120"/>
                <a:sym typeface="Symbol" pitchFamily="-80" charset="2"/>
              </a:rPr>
              <a:t> digits optFrac OptExp</a:t>
            </a:r>
            <a:r>
              <a:rPr lang="en-US" sz="1600" b="1" dirty="0">
                <a:solidFill>
                  <a:srgbClr val="CC00FF"/>
                </a:solidFill>
                <a:latin typeface="Perpetua" pitchFamily="18" charset="0"/>
                <a:ea typeface="新細明體" pitchFamily="18" charset="-120"/>
              </a:rPr>
              <a:t>          </a:t>
            </a:r>
          </a:p>
        </p:txBody>
      </p:sp>
      <p:sp>
        <p:nvSpPr>
          <p:cNvPr id="4" name="Slide Number Placeholder 3"/>
          <p:cNvSpPr>
            <a:spLocks noGrp="1"/>
          </p:cNvSpPr>
          <p:nvPr>
            <p:ph type="sldNum" sz="quarter" idx="12"/>
          </p:nvPr>
        </p:nvSpPr>
        <p:spPr/>
        <p:txBody>
          <a:bodyPr/>
          <a:lstStyle/>
          <a:p>
            <a:fld id="{C2C343A0-757D-4032-BC20-DF0A67BD0A50}" type="slidenum">
              <a:rPr lang="en-US" smtClean="0"/>
              <a:t>32</a:t>
            </a:fld>
            <a:endParaRPr lang="en-US"/>
          </a:p>
        </p:txBody>
      </p:sp>
    </p:spTree>
    <p:extLst>
      <p:ext uri="{BB962C8B-B14F-4D97-AF65-F5344CB8AC3E}">
        <p14:creationId xmlns:p14="http://schemas.microsoft.com/office/powerpoint/2010/main" val="21305644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458200" cy="4953000"/>
              </a:xfrm>
            </p:spPr>
            <p:txBody>
              <a:bodyPr>
                <a:normAutofit fontScale="70000" lnSpcReduction="20000"/>
              </a:bodyPr>
              <a:lstStyle/>
              <a:p>
                <a:pPr marL="0" lvl="2" indent="0">
                  <a:lnSpc>
                    <a:spcPct val="140000"/>
                  </a:lnSpc>
                  <a:buSzPct val="85000"/>
                  <a:buNone/>
                </a:pPr>
                <a:r>
                  <a:rPr lang="en-US" b="1" dirty="0"/>
                  <a:t>Extension of Regular Expressions</a:t>
                </a:r>
              </a:p>
              <a:p>
                <a:pPr marL="342900" lvl="2" indent="-342900">
                  <a:lnSpc>
                    <a:spcPct val="140000"/>
                  </a:lnSpc>
                  <a:buSzPct val="85000"/>
                </a:pPr>
                <a:r>
                  <a:rPr lang="en-US" dirty="0"/>
                  <a:t>Many extensions have been added to regular expressions to enhance their ability to specify string patterns. </a:t>
                </a:r>
              </a:p>
              <a:p>
                <a:pPr marL="342900" lvl="2" indent="-342900">
                  <a:lnSpc>
                    <a:spcPct val="140000"/>
                  </a:lnSpc>
                  <a:buSzPct val="85000"/>
                </a:pPr>
                <a:r>
                  <a:rPr lang="en-US" dirty="0"/>
                  <a:t>Here are few notational extensions:</a:t>
                </a:r>
              </a:p>
              <a:p>
                <a:pPr marL="914400" lvl="3" indent="-457200">
                  <a:lnSpc>
                    <a:spcPct val="140000"/>
                  </a:lnSpc>
                  <a:buSzPct val="85000"/>
                  <a:buFont typeface="+mj-lt"/>
                  <a:buAutoNum type="arabicPeriod"/>
                </a:pPr>
                <a:r>
                  <a:rPr lang="en-US" b="1" dirty="0">
                    <a:solidFill>
                      <a:srgbClr val="000099"/>
                    </a:solidFill>
                  </a:rPr>
                  <a:t>One or more instances(+)</a:t>
                </a:r>
                <a:r>
                  <a:rPr lang="en-US" dirty="0"/>
                  <a:t>:- is a </a:t>
                </a:r>
                <a:r>
                  <a:rPr lang="en-US" b="1" i="1" dirty="0"/>
                  <a:t>unary postfix operator </a:t>
                </a:r>
                <a:r>
                  <a:rPr lang="en-US" dirty="0"/>
                  <a:t>that represents the positive closure of a regular expression and its language.  That is,  if  </a:t>
                </a:r>
                <a14:m>
                  <m:oMath xmlns:m="http://schemas.openxmlformats.org/officeDocument/2006/math">
                    <m:r>
                      <a:rPr lang="en-US" b="1" i="1" dirty="0" smtClean="0">
                        <a:latin typeface="Cambria Math" panose="02040503050406030204" pitchFamily="18" charset="0"/>
                      </a:rPr>
                      <m:t>𝒓</m:t>
                    </m:r>
                    <m:r>
                      <a:rPr lang="en-US" b="1" i="1" dirty="0" smtClean="0">
                        <a:latin typeface="Cambria Math" panose="02040503050406030204" pitchFamily="18" charset="0"/>
                      </a:rPr>
                      <m:t> </m:t>
                    </m:r>
                  </m:oMath>
                </a14:m>
                <a:r>
                  <a:rPr lang="en-US" dirty="0"/>
                  <a:t> is a regular  expression, then  </a:t>
                </a:r>
                <a14:m>
                  <m:oMath xmlns:m="http://schemas.openxmlformats.org/officeDocument/2006/math">
                    <m:sSup>
                      <m:sSupPr>
                        <m:ctrlPr>
                          <a:rPr lang="en-US" i="1" dirty="0" smtClean="0">
                            <a:latin typeface="Cambria Math" panose="02040503050406030204" pitchFamily="18" charset="0"/>
                          </a:rPr>
                        </m:ctrlPr>
                      </m:sSupPr>
                      <m:e>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e>
                      <m:sup>
                        <m:r>
                          <a:rPr lang="en-US" i="1" dirty="0">
                            <a:latin typeface="Cambria Math" panose="02040503050406030204" pitchFamily="18" charset="0"/>
                          </a:rPr>
                          <m:t>+</m:t>
                        </m:r>
                      </m:sup>
                    </m:sSup>
                    <m:r>
                      <a:rPr lang="en-US" i="1" dirty="0" smtClean="0">
                        <a:latin typeface="Cambria Math" panose="02040503050406030204" pitchFamily="18" charset="0"/>
                      </a:rPr>
                      <m:t> </m:t>
                    </m:r>
                  </m:oMath>
                </a14:m>
                <a:r>
                  <a:rPr lang="en-US" dirty="0"/>
                  <a:t>denotes the language  </a:t>
                </a:r>
                <a14:m>
                  <m:oMath xmlns:m="http://schemas.openxmlformats.org/officeDocument/2006/math">
                    <m:sSup>
                      <m:sSupPr>
                        <m:ctrlPr>
                          <a:rPr lang="en-US" i="1" dirty="0">
                            <a:latin typeface="Cambria Math" panose="02040503050406030204" pitchFamily="18" charset="0"/>
                          </a:rPr>
                        </m:ctrlPr>
                      </m:sSupPr>
                      <m:e>
                        <m:r>
                          <a:rPr lang="en-US" b="0" i="1" dirty="0" smtClean="0">
                            <a:latin typeface="Cambria Math" panose="02040503050406030204" pitchFamily="18" charset="0"/>
                          </a:rPr>
                          <m:t>(</m:t>
                        </m:r>
                        <m:r>
                          <a:rPr lang="en-US" b="0" i="1" dirty="0" smtClean="0">
                            <a:latin typeface="Cambria Math" panose="02040503050406030204" pitchFamily="18" charset="0"/>
                          </a:rPr>
                          <m:t>𝐿</m:t>
                        </m:r>
                        <m:d>
                          <m:dPr>
                            <m:ctrlPr>
                              <a:rPr lang="en-US" b="0" i="1" dirty="0">
                                <a:latin typeface="Cambria Math" panose="02040503050406030204" pitchFamily="18" charset="0"/>
                              </a:rPr>
                            </m:ctrlPr>
                          </m:dPr>
                          <m:e>
                            <m:r>
                              <a:rPr lang="en-US" i="1" dirty="0">
                                <a:latin typeface="Cambria Math" panose="02040503050406030204" pitchFamily="18" charset="0"/>
                              </a:rPr>
                              <m:t>𝑟</m:t>
                            </m:r>
                          </m:e>
                        </m:d>
                        <m:r>
                          <a:rPr lang="en-US" b="0" i="1" dirty="0" smtClean="0">
                            <a:latin typeface="Cambria Math" panose="02040503050406030204" pitchFamily="18" charset="0"/>
                          </a:rPr>
                          <m:t>)</m:t>
                        </m:r>
                      </m:e>
                      <m:sup>
                        <m:r>
                          <a:rPr lang="en-US" i="1" dirty="0">
                            <a:latin typeface="Cambria Math" panose="02040503050406030204" pitchFamily="18" charset="0"/>
                          </a:rPr>
                          <m:t>+</m:t>
                        </m:r>
                      </m:sup>
                    </m:sSup>
                  </m:oMath>
                </a14:m>
                <a:r>
                  <a:rPr lang="en-US" dirty="0"/>
                  <a:t>.  </a:t>
                </a:r>
              </a:p>
              <a:p>
                <a:pPr marL="1257300" lvl="4" indent="-342900">
                  <a:lnSpc>
                    <a:spcPct val="140000"/>
                  </a:lnSpc>
                  <a:buSzPct val="85000"/>
                </a:pPr>
                <a:r>
                  <a:rPr lang="en-US" dirty="0"/>
                  <a:t>The operator + has  the  same precedence and associativity as the operator *.  </a:t>
                </a:r>
              </a:p>
              <a:p>
                <a:pPr marL="1257300" lvl="4" indent="-342900">
                  <a:lnSpc>
                    <a:spcPct val="140000"/>
                  </a:lnSpc>
                  <a:buSzPct val="85000"/>
                </a:pPr>
                <a:r>
                  <a:rPr lang="en-US" dirty="0"/>
                  <a:t>Two useful  algebraic  laws</a:t>
                </a:r>
                <a14:m>
                  <m:oMath xmlns:m="http://schemas.openxmlformats.org/officeDocument/2006/math">
                    <m:r>
                      <a:rPr lang="en-US" i="1" dirty="0" smtClean="0">
                        <a:latin typeface="Cambria Math" panose="02040503050406030204" pitchFamily="18" charset="0"/>
                      </a:rPr>
                      <m:t>, </m:t>
                    </m:r>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 </m:t>
                        </m:r>
                        <m:r>
                          <a:rPr lang="en-US" b="1" i="1" dirty="0">
                            <a:latin typeface="Cambria Math" panose="02040503050406030204" pitchFamily="18" charset="0"/>
                          </a:rPr>
                          <m:t>𝒓</m:t>
                        </m:r>
                      </m:e>
                      <m:sup>
                        <m:r>
                          <a:rPr lang="en-US" b="1" i="1" dirty="0">
                            <a:latin typeface="Cambria Math" panose="02040503050406030204" pitchFamily="18" charset="0"/>
                          </a:rPr>
                          <m:t>∗</m:t>
                        </m:r>
                      </m:sup>
                    </m:sSup>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 Ɛ</m:t>
                    </m:r>
                  </m:oMath>
                </a14:m>
                <a:r>
                  <a:rPr lang="en-US" b="1" dirty="0"/>
                  <a:t>  </a:t>
                </a:r>
                <a:r>
                  <a:rPr lang="en-US" dirty="0"/>
                  <a:t>and  </a:t>
                </a:r>
                <a14:m>
                  <m:oMath xmlns:m="http://schemas.openxmlformats.org/officeDocument/2006/math">
                    <m:sSup>
                      <m:sSupPr>
                        <m:ctrlPr>
                          <a:rPr lang="en-US" b="1" i="1" dirty="0">
                            <a:latin typeface="Cambria Math" panose="02040503050406030204" pitchFamily="18" charset="0"/>
                          </a:rPr>
                        </m:ctrlPr>
                      </m:sSupPr>
                      <m:e>
                        <m:r>
                          <a:rPr lang="en-US" b="1" i="1" dirty="0">
                            <a:latin typeface="Cambria Math" panose="02040503050406030204" pitchFamily="18" charset="0"/>
                          </a:rPr>
                          <m:t>𝒓</m:t>
                        </m:r>
                      </m:e>
                      <m:sup>
                        <m:r>
                          <a:rPr lang="en-US" b="1" i="1" dirty="0" smtClean="0">
                            <a:latin typeface="Cambria Math" panose="02040503050406030204" pitchFamily="18" charset="0"/>
                          </a:rPr>
                          <m:t>+</m:t>
                        </m:r>
                      </m:sup>
                    </m:sSup>
                    <m:r>
                      <a:rPr lang="en-US" b="1" i="1" dirty="0" smtClean="0">
                        <a:latin typeface="Cambria Math" panose="02040503050406030204" pitchFamily="18" charset="0"/>
                      </a:rPr>
                      <m:t>=</m:t>
                    </m:r>
                    <m:r>
                      <a:rPr lang="en-US" b="1" i="1" dirty="0" err="1">
                        <a:latin typeface="Cambria Math" panose="02040503050406030204" pitchFamily="18" charset="0"/>
                      </a:rPr>
                      <m:t>𝒓</m:t>
                    </m:r>
                    <m:sSup>
                      <m:sSupPr>
                        <m:ctrlPr>
                          <a:rPr lang="en-US" b="1" i="1" dirty="0">
                            <a:latin typeface="Cambria Math" panose="02040503050406030204" pitchFamily="18" charset="0"/>
                          </a:rPr>
                        </m:ctrlPr>
                      </m:sSupPr>
                      <m:e>
                        <m:r>
                          <a:rPr lang="en-US" b="1" i="1" dirty="0">
                            <a:latin typeface="Cambria Math" panose="02040503050406030204" pitchFamily="18" charset="0"/>
                          </a:rPr>
                          <m:t>𝒓</m:t>
                        </m:r>
                      </m:e>
                      <m:sup>
                        <m:r>
                          <a:rPr lang="en-US" b="1" i="1" dirty="0">
                            <a:latin typeface="Cambria Math" panose="02040503050406030204" pitchFamily="18" charset="0"/>
                          </a:rPr>
                          <m:t>∗</m:t>
                        </m:r>
                      </m:sup>
                    </m:sSup>
                    <m:r>
                      <a:rPr lang="en-US" b="1" i="1" dirty="0">
                        <a:latin typeface="Cambria Math" panose="02040503050406030204" pitchFamily="18" charset="0"/>
                      </a:rPr>
                      <m:t>=</m:t>
                    </m:r>
                    <m:sSup>
                      <m:sSupPr>
                        <m:ctrlPr>
                          <a:rPr lang="en-US" b="1" i="1" dirty="0">
                            <a:latin typeface="Cambria Math" panose="02040503050406030204" pitchFamily="18" charset="0"/>
                          </a:rPr>
                        </m:ctrlPr>
                      </m:sSupPr>
                      <m:e>
                        <m:r>
                          <a:rPr lang="en-US" b="1" i="1" dirty="0">
                            <a:latin typeface="Cambria Math" panose="02040503050406030204" pitchFamily="18" charset="0"/>
                          </a:rPr>
                          <m:t>𝒓</m:t>
                        </m:r>
                      </m:e>
                      <m:sup>
                        <m:r>
                          <a:rPr lang="en-US" b="1" i="1" dirty="0">
                            <a:latin typeface="Cambria Math" panose="02040503050406030204" pitchFamily="18" charset="0"/>
                          </a:rPr>
                          <m:t>∗</m:t>
                        </m:r>
                      </m:sup>
                    </m:sSup>
                    <m:r>
                      <a:rPr lang="en-US" b="1" i="1" dirty="0">
                        <a:latin typeface="Cambria Math" panose="02040503050406030204" pitchFamily="18" charset="0"/>
                      </a:rPr>
                      <m:t>𝒓</m:t>
                    </m:r>
                  </m:oMath>
                </a14:m>
                <a:r>
                  <a:rPr lang="en-US" dirty="0"/>
                  <a:t>. </a:t>
                </a:r>
              </a:p>
              <a:p>
                <a:pPr marL="914400" lvl="3" indent="-457200">
                  <a:lnSpc>
                    <a:spcPct val="140000"/>
                  </a:lnSpc>
                  <a:buSzPct val="85000"/>
                  <a:buFont typeface="+mj-lt"/>
                  <a:buAutoNum type="arabicPeriod"/>
                </a:pPr>
                <a:r>
                  <a:rPr lang="en-US" b="1" dirty="0">
                    <a:solidFill>
                      <a:srgbClr val="000099"/>
                    </a:solidFill>
                  </a:rPr>
                  <a:t>Zero or one instance(?)</a:t>
                </a:r>
                <a:r>
                  <a:rPr lang="en-US" dirty="0"/>
                  <a:t>:-  </a:t>
                </a:r>
                <a14:m>
                  <m:oMath xmlns:m="http://schemas.openxmlformats.org/officeDocument/2006/math">
                    <m:r>
                      <a:rPr lang="en-US" b="1" i="1" dirty="0" smtClean="0">
                        <a:latin typeface="Cambria Math" panose="02040503050406030204" pitchFamily="18" charset="0"/>
                      </a:rPr>
                      <m:t>𝒓</m:t>
                    </m:r>
                    <m:r>
                      <a:rPr lang="en-US" b="1" i="1" dirty="0" smtClean="0">
                        <a:latin typeface="Cambria Math" panose="02040503050406030204" pitchFamily="18" charset="0"/>
                      </a:rPr>
                      <m:t>?</m:t>
                    </m:r>
                  </m:oMath>
                </a14:m>
                <a:r>
                  <a:rPr lang="en-US" dirty="0"/>
                  <a:t> is equivalent to </a:t>
                </a:r>
                <a14:m>
                  <m:oMath xmlns:m="http://schemas.openxmlformats.org/officeDocument/2006/math">
                    <m:r>
                      <a:rPr lang="en-US" b="1" i="1" dirty="0" smtClean="0">
                        <a:latin typeface="Cambria Math" panose="02040503050406030204" pitchFamily="18" charset="0"/>
                      </a:rPr>
                      <m:t>𝒓</m:t>
                    </m:r>
                    <m:r>
                      <a:rPr lang="en-US" b="1" i="1" dirty="0" smtClean="0">
                        <a:latin typeface="Cambria Math" panose="02040503050406030204" pitchFamily="18" charset="0"/>
                      </a:rPr>
                      <m:t>|Ɛ</m:t>
                    </m:r>
                  </m:oMath>
                </a14:m>
                <a:r>
                  <a:rPr lang="en-US" dirty="0"/>
                  <a:t>,  or put another way, </a:t>
                </a:r>
                <a14:m>
                  <m:oMath xmlns:m="http://schemas.openxmlformats.org/officeDocument/2006/math">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m:t>
                    </m:r>
                    <m:r>
                      <a:rPr lang="en-US" b="1" i="1" dirty="0" smtClean="0">
                        <a:latin typeface="Cambria Math" panose="02040503050406030204" pitchFamily="18" charset="0"/>
                      </a:rPr>
                      <m:t>𝑳</m:t>
                    </m:r>
                    <m:r>
                      <a:rPr lang="en-US" b="1" i="1" dirty="0" smtClean="0">
                        <a:latin typeface="Cambria Math" panose="02040503050406030204" pitchFamily="18" charset="0"/>
                      </a:rPr>
                      <m:t>(</m:t>
                    </m:r>
                    <m:r>
                      <a:rPr lang="en-US" b="1" i="1" dirty="0" smtClean="0">
                        <a:latin typeface="Cambria Math" panose="02040503050406030204" pitchFamily="18" charset="0"/>
                      </a:rPr>
                      <m:t>𝒓</m:t>
                    </m:r>
                    <m:r>
                      <a:rPr lang="en-US" b="1" i="1" dirty="0" smtClean="0">
                        <a:latin typeface="Cambria Math" panose="02040503050406030204" pitchFamily="18" charset="0"/>
                      </a:rPr>
                      <m:t>)∪{Ɛ}</m:t>
                    </m:r>
                  </m:oMath>
                </a14:m>
                <a:r>
                  <a:rPr lang="en-US" dirty="0"/>
                  <a:t>.  </a:t>
                </a:r>
              </a:p>
              <a:p>
                <a:pPr marL="1257300" lvl="4" indent="-342900">
                  <a:lnSpc>
                    <a:spcPct val="140000"/>
                  </a:lnSpc>
                  <a:buSzPct val="85000"/>
                </a:pPr>
                <a:r>
                  <a:rPr lang="en-US" dirty="0"/>
                  <a:t>The </a:t>
                </a:r>
                <a:r>
                  <a:rPr lang="en-US" b="1" dirty="0"/>
                  <a:t>?</a:t>
                </a:r>
                <a:r>
                  <a:rPr lang="en-US" dirty="0"/>
                  <a:t>  operator has the  same precedence and associativity as * and  +. </a:t>
                </a:r>
              </a:p>
              <a:p>
                <a:pPr marL="914400" lvl="3" indent="-457200">
                  <a:lnSpc>
                    <a:spcPct val="140000"/>
                  </a:lnSpc>
                  <a:buSzPct val="85000"/>
                  <a:buFont typeface="+mj-lt"/>
                  <a:buAutoNum type="arabicPeriod"/>
                </a:pPr>
                <a:r>
                  <a:rPr lang="en-US" b="1" dirty="0">
                    <a:solidFill>
                      <a:srgbClr val="000099"/>
                    </a:solidFill>
                  </a:rPr>
                  <a:t>Character  classes</a:t>
                </a:r>
                <a:r>
                  <a:rPr lang="en-US" dirty="0"/>
                  <a:t>:-  A regular expression </a:t>
                </a:r>
                <a14:m>
                  <m:oMath xmlns:m="http://schemas.openxmlformats.org/officeDocument/2006/math">
                    <m:sSub>
                      <m:sSubPr>
                        <m:ctrlPr>
                          <a:rPr lang="en-US" b="1" i="1" dirty="0" smtClean="0">
                            <a:latin typeface="Cambria Math" panose="02040503050406030204" pitchFamily="18" charset="0"/>
                          </a:rPr>
                        </m:ctrlPr>
                      </m:sSubPr>
                      <m:e>
                        <m:r>
                          <a:rPr lang="en-US" b="1" i="1" dirty="0">
                            <a:latin typeface="Cambria Math" panose="02040503050406030204" pitchFamily="18" charset="0"/>
                          </a:rPr>
                          <m:t>𝒂</m:t>
                        </m:r>
                      </m:e>
                      <m:sub>
                        <m:r>
                          <a:rPr lang="en-US" b="1" i="1" dirty="0">
                            <a:latin typeface="Cambria Math" panose="02040503050406030204" pitchFamily="18" charset="0"/>
                          </a:rPr>
                          <m:t>𝟏</m:t>
                        </m:r>
                      </m:sub>
                    </m:sSub>
                    <m:r>
                      <a:rPr lang="en-US" b="1" i="1" dirty="0" smtClean="0">
                        <a:latin typeface="Cambria Math" panose="02040503050406030204" pitchFamily="18" charset="0"/>
                      </a:rPr>
                      <m:t>|</m:t>
                    </m:r>
                    <m:sSub>
                      <m:sSubPr>
                        <m:ctrlPr>
                          <a:rPr lang="en-US" b="1" i="1" dirty="0">
                            <a:latin typeface="Cambria Math" panose="02040503050406030204" pitchFamily="18" charset="0"/>
                          </a:rPr>
                        </m:ctrlPr>
                      </m:sSubPr>
                      <m:e>
                        <m:r>
                          <a:rPr lang="en-US" b="1" i="1" dirty="0">
                            <a:latin typeface="Cambria Math" panose="02040503050406030204" pitchFamily="18" charset="0"/>
                          </a:rPr>
                          <m:t>𝒂</m:t>
                        </m:r>
                      </m:e>
                      <m:sub>
                        <m:r>
                          <a:rPr lang="en-US" b="1" i="1" dirty="0" smtClean="0">
                            <a:latin typeface="Cambria Math" panose="02040503050406030204" pitchFamily="18" charset="0"/>
                          </a:rPr>
                          <m:t>𝟐</m:t>
                        </m:r>
                      </m:sub>
                    </m:sSub>
                    <m:r>
                      <a:rPr lang="en-US" b="1" i="1" dirty="0">
                        <a:latin typeface="Cambria Math" panose="02040503050406030204" pitchFamily="18" charset="0"/>
                      </a:rPr>
                      <m:t>|·· ·|</m:t>
                    </m:r>
                    <m:sSub>
                      <m:sSubPr>
                        <m:ctrlPr>
                          <a:rPr lang="en-US" b="1" i="1" dirty="0">
                            <a:latin typeface="Cambria Math" panose="02040503050406030204" pitchFamily="18" charset="0"/>
                          </a:rPr>
                        </m:ctrlPr>
                      </m:sSubPr>
                      <m:e>
                        <m:r>
                          <a:rPr lang="en-US" b="1" i="1" dirty="0">
                            <a:latin typeface="Cambria Math" panose="02040503050406030204" pitchFamily="18" charset="0"/>
                          </a:rPr>
                          <m:t>𝒂</m:t>
                        </m:r>
                      </m:e>
                      <m:sub>
                        <m:r>
                          <a:rPr lang="en-US" b="1" i="1" dirty="0" smtClean="0">
                            <a:latin typeface="Cambria Math" panose="02040503050406030204" pitchFamily="18" charset="0"/>
                          </a:rPr>
                          <m:t>𝒏</m:t>
                        </m:r>
                      </m:sub>
                    </m:sSub>
                  </m:oMath>
                </a14:m>
                <a:r>
                  <a:rPr lang="en-US" dirty="0"/>
                  <a:t>,  where the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b="0" i="1" dirty="0" smtClean="0">
                            <a:latin typeface="Cambria Math" panose="02040503050406030204" pitchFamily="18" charset="0"/>
                          </a:rPr>
                          <m:t>𝑖</m:t>
                        </m:r>
                      </m:sub>
                    </m:sSub>
                  </m:oMath>
                </a14:m>
                <a:r>
                  <a:rPr lang="en-US" dirty="0"/>
                  <a:t>'s are each symbols of the alphabet,  can be replaced by the shorthand </a:t>
                </a:r>
                <a14:m>
                  <m:oMath xmlns:m="http://schemas.openxmlformats.org/officeDocument/2006/math">
                    <m:r>
                      <a:rPr lang="en-US" b="1" i="1" dirty="0" smtClean="0">
                        <a:latin typeface="Cambria Math" panose="02040503050406030204" pitchFamily="18" charset="0"/>
                      </a:rPr>
                      <m:t>[</m:t>
                    </m:r>
                    <m:sSub>
                      <m:sSubPr>
                        <m:ctrlPr>
                          <a:rPr lang="en-US" b="1" i="1" dirty="0">
                            <a:latin typeface="Cambria Math" panose="02040503050406030204" pitchFamily="18" charset="0"/>
                          </a:rPr>
                        </m:ctrlPr>
                      </m:sSubPr>
                      <m:e>
                        <m:r>
                          <a:rPr lang="en-US" b="1" i="1" dirty="0">
                            <a:latin typeface="Cambria Math" panose="02040503050406030204" pitchFamily="18" charset="0"/>
                          </a:rPr>
                          <m:t>𝒂</m:t>
                        </m:r>
                      </m:e>
                      <m:sub>
                        <m:r>
                          <a:rPr lang="en-US" b="1" i="1" dirty="0">
                            <a:latin typeface="Cambria Math" panose="02040503050406030204" pitchFamily="18" charset="0"/>
                          </a:rPr>
                          <m:t>𝟏</m:t>
                        </m:r>
                      </m:sub>
                    </m:sSub>
                    <m:sSub>
                      <m:sSubPr>
                        <m:ctrlPr>
                          <a:rPr lang="en-US" b="1" i="1" dirty="0">
                            <a:latin typeface="Cambria Math" panose="02040503050406030204" pitchFamily="18" charset="0"/>
                          </a:rPr>
                        </m:ctrlPr>
                      </m:sSubPr>
                      <m:e>
                        <m:r>
                          <a:rPr lang="en-US" b="1" i="1" dirty="0">
                            <a:latin typeface="Cambria Math" panose="02040503050406030204" pitchFamily="18" charset="0"/>
                          </a:rPr>
                          <m:t>𝒂</m:t>
                        </m:r>
                      </m:e>
                      <m:sub>
                        <m:r>
                          <a:rPr lang="en-US" b="1" i="1" dirty="0" smtClean="0">
                            <a:latin typeface="Cambria Math" panose="02040503050406030204" pitchFamily="18" charset="0"/>
                          </a:rPr>
                          <m:t>𝟐</m:t>
                        </m:r>
                      </m:sub>
                    </m:sSub>
                    <m:r>
                      <a:rPr lang="en-US" b="1" i="1" dirty="0" smtClean="0">
                        <a:latin typeface="Cambria Math" panose="02040503050406030204" pitchFamily="18" charset="0"/>
                      </a:rPr>
                      <m:t>…</m:t>
                    </m:r>
                    <m:sSub>
                      <m:sSubPr>
                        <m:ctrlPr>
                          <a:rPr lang="en-US" b="1" i="1" dirty="0" smtClean="0">
                            <a:latin typeface="Cambria Math" panose="02040503050406030204" pitchFamily="18" charset="0"/>
                          </a:rPr>
                        </m:ctrlPr>
                      </m:sSubPr>
                      <m:e>
                        <m:r>
                          <a:rPr lang="en-US" b="1" i="1" dirty="0">
                            <a:latin typeface="Cambria Math" panose="02040503050406030204" pitchFamily="18" charset="0"/>
                          </a:rPr>
                          <m:t>𝒂</m:t>
                        </m:r>
                      </m:e>
                      <m:sub>
                        <m:r>
                          <a:rPr lang="en-US" b="1" i="1" dirty="0">
                            <a:latin typeface="Cambria Math" panose="02040503050406030204" pitchFamily="18" charset="0"/>
                          </a:rPr>
                          <m:t>𝒏</m:t>
                        </m:r>
                      </m:sub>
                    </m:sSub>
                    <m:r>
                      <a:rPr lang="en-US" b="1" i="1" dirty="0" smtClean="0">
                        <a:latin typeface="Cambria Math" panose="02040503050406030204" pitchFamily="18" charset="0"/>
                      </a:rPr>
                      <m:t>]</m:t>
                    </m:r>
                  </m:oMath>
                </a14:m>
                <a:r>
                  <a:rPr lang="en-US" dirty="0"/>
                  <a:t>.  </a:t>
                </a:r>
              </a:p>
              <a:p>
                <a:pPr marL="457200" lvl="3" indent="0">
                  <a:lnSpc>
                    <a:spcPct val="140000"/>
                  </a:lnSpc>
                  <a:buSzPct val="85000"/>
                  <a:buNone/>
                </a:pPr>
                <a:r>
                  <a:rPr lang="en-US" b="1" dirty="0"/>
                  <a:t>	Example</a:t>
                </a:r>
                <a:r>
                  <a:rPr lang="en-US" dirty="0"/>
                  <a:t>:</a:t>
                </a:r>
              </a:p>
              <a:p>
                <a:pPr marL="914400" lvl="4" indent="0">
                  <a:lnSpc>
                    <a:spcPct val="140000"/>
                  </a:lnSpc>
                  <a:buSzPct val="85000"/>
                  <a:buNone/>
                </a:pPr>
                <a:r>
                  <a:rPr lang="en-US" dirty="0"/>
                  <a:t>	</a:t>
                </a:r>
                <a14:m>
                  <m:oMath xmlns:m="http://schemas.openxmlformats.org/officeDocument/2006/math">
                    <m:r>
                      <a:rPr lang="en-US" b="1" i="1" dirty="0" smtClean="0">
                        <a:latin typeface="Cambria Math" panose="02040503050406030204" pitchFamily="18" charset="0"/>
                      </a:rPr>
                      <m:t>[</m:t>
                    </m:r>
                    <m:r>
                      <a:rPr lang="en-US" b="1" i="1" dirty="0" err="1">
                        <a:latin typeface="Cambria Math" panose="02040503050406030204" pitchFamily="18" charset="0"/>
                      </a:rPr>
                      <m:t>𝒂𝒃𝒄</m:t>
                    </m:r>
                    <m:r>
                      <a:rPr lang="en-US" b="1" i="1" dirty="0">
                        <a:latin typeface="Cambria Math" panose="02040503050406030204" pitchFamily="18" charset="0"/>
                      </a:rPr>
                      <m:t>]</m:t>
                    </m:r>
                    <m:r>
                      <a:rPr lang="en-US" i="1" dirty="0">
                        <a:latin typeface="Cambria Math" panose="02040503050406030204" pitchFamily="18" charset="0"/>
                      </a:rPr>
                      <m:t>  </m:t>
                    </m:r>
                  </m:oMath>
                </a14:m>
                <a:r>
                  <a:rPr lang="en-US" dirty="0"/>
                  <a:t>is  shorthand for </a:t>
                </a:r>
                <a14:m>
                  <m:oMath xmlns:m="http://schemas.openxmlformats.org/officeDocument/2006/math">
                    <m:r>
                      <a:rPr lang="en-US" b="1" i="1" dirty="0" smtClean="0">
                        <a:latin typeface="Cambria Math" panose="02040503050406030204" pitchFamily="18" charset="0"/>
                      </a:rPr>
                      <m:t>𝒂</m:t>
                    </m:r>
                    <m:r>
                      <a:rPr lang="en-US" b="1" i="1" dirty="0" smtClean="0">
                        <a:latin typeface="Cambria Math" panose="02040503050406030204" pitchFamily="18" charset="0"/>
                      </a:rPr>
                      <m:t>| </m:t>
                    </m:r>
                    <m:r>
                      <a:rPr lang="en-US" b="1" i="1" dirty="0" smtClean="0">
                        <a:latin typeface="Cambria Math" panose="02040503050406030204" pitchFamily="18" charset="0"/>
                      </a:rPr>
                      <m:t>𝒃</m:t>
                    </m:r>
                    <m:r>
                      <a:rPr lang="en-US" b="1" i="1" dirty="0" smtClean="0">
                        <a:latin typeface="Cambria Math" panose="02040503050406030204" pitchFamily="18" charset="0"/>
                      </a:rPr>
                      <m:t> | </m:t>
                    </m:r>
                    <m:r>
                      <a:rPr lang="en-US" b="1" i="1" dirty="0" smtClean="0">
                        <a:latin typeface="Cambria Math" panose="02040503050406030204" pitchFamily="18" charset="0"/>
                      </a:rPr>
                      <m:t>𝒄</m:t>
                    </m:r>
                  </m:oMath>
                </a14:m>
                <a:r>
                  <a:rPr lang="en-US" dirty="0"/>
                  <a:t>,  and  </a:t>
                </a:r>
              </a:p>
              <a:p>
                <a:pPr marL="914400" lvl="4" indent="0">
                  <a:lnSpc>
                    <a:spcPct val="140000"/>
                  </a:lnSpc>
                  <a:buSzPct val="85000"/>
                  <a:buNone/>
                </a:pPr>
                <a:r>
                  <a:rPr lang="en-US" dirty="0"/>
                  <a:t>	</a:t>
                </a:r>
                <a14:m>
                  <m:oMath xmlns:m="http://schemas.openxmlformats.org/officeDocument/2006/math">
                    <m:r>
                      <a:rPr lang="en-US" b="1" i="1" dirty="0" smtClean="0">
                        <a:latin typeface="Cambria Math" panose="02040503050406030204" pitchFamily="18" charset="0"/>
                      </a:rPr>
                      <m:t>[</m:t>
                    </m:r>
                    <m:r>
                      <a:rPr lang="en-US" b="1" i="1" dirty="0">
                        <a:latin typeface="Cambria Math" panose="02040503050406030204" pitchFamily="18" charset="0"/>
                      </a:rPr>
                      <m:t>𝒂</m:t>
                    </m:r>
                    <m:r>
                      <a:rPr lang="en-US" b="1" i="1" dirty="0">
                        <a:latin typeface="Cambria Math" panose="02040503050406030204" pitchFamily="18" charset="0"/>
                      </a:rPr>
                      <m:t>− </m:t>
                    </m:r>
                    <m:r>
                      <a:rPr lang="en-US" b="1" i="1" dirty="0">
                        <a:latin typeface="Cambria Math" panose="02040503050406030204" pitchFamily="18" charset="0"/>
                      </a:rPr>
                      <m:t>𝒛</m:t>
                    </m:r>
                    <m:r>
                      <a:rPr lang="en-US" b="1" i="1" dirty="0">
                        <a:latin typeface="Cambria Math" panose="02040503050406030204" pitchFamily="18" charset="0"/>
                      </a:rPr>
                      <m:t>]</m:t>
                    </m:r>
                    <m:r>
                      <a:rPr lang="en-US" i="1" dirty="0">
                        <a:latin typeface="Cambria Math" panose="02040503050406030204" pitchFamily="18" charset="0"/>
                      </a:rPr>
                      <m:t>  </m:t>
                    </m:r>
                  </m:oMath>
                </a14:m>
                <a:r>
                  <a:rPr lang="en-US" dirty="0"/>
                  <a:t>is  shorthand  for </a:t>
                </a:r>
                <a14:m>
                  <m:oMath xmlns:m="http://schemas.openxmlformats.org/officeDocument/2006/math">
                    <m:r>
                      <a:rPr lang="en-US" b="1" i="1" dirty="0" smtClean="0">
                        <a:latin typeface="Cambria Math" panose="02040503050406030204" pitchFamily="18" charset="0"/>
                      </a:rPr>
                      <m:t>𝒂</m:t>
                    </m:r>
                    <m:r>
                      <a:rPr lang="en-US" b="1" i="1" dirty="0" smtClean="0">
                        <a:latin typeface="Cambria Math" panose="02040503050406030204" pitchFamily="18" charset="0"/>
                      </a:rPr>
                      <m:t> |</m:t>
                    </m:r>
                    <m:r>
                      <a:rPr lang="en-US" b="1" i="1" dirty="0" smtClean="0">
                        <a:latin typeface="Cambria Math" panose="02040503050406030204" pitchFamily="18" charset="0"/>
                      </a:rPr>
                      <m:t>𝒃</m:t>
                    </m:r>
                    <m:r>
                      <a:rPr lang="en-US" b="1" i="1" dirty="0" smtClean="0">
                        <a:latin typeface="Cambria Math" panose="02040503050406030204" pitchFamily="18" charset="0"/>
                      </a:rPr>
                      <m:t> |</m:t>
                    </m:r>
                    <m:r>
                      <a:rPr lang="en-US" b="1" i="1" dirty="0" smtClean="0">
                        <a:latin typeface="Cambria Math" panose="02040503050406030204" pitchFamily="18" charset="0"/>
                      </a:rPr>
                      <m:t>𝒄</m:t>
                    </m:r>
                    <m:r>
                      <a:rPr lang="en-US" b="1" i="1" dirty="0" smtClean="0">
                        <a:latin typeface="Cambria Math" panose="02040503050406030204" pitchFamily="18" charset="0"/>
                      </a:rPr>
                      <m:t> |··· |</m:t>
                    </m:r>
                    <m:r>
                      <a:rPr lang="en-US" b="1" i="1" dirty="0" smtClean="0">
                        <a:latin typeface="Cambria Math" panose="02040503050406030204" pitchFamily="18" charset="0"/>
                      </a:rPr>
                      <m:t>𝒛</m:t>
                    </m:r>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458200" cy="4953000"/>
              </a:xfrm>
              <a:blipFill rotWithShape="0">
                <a:blip r:embed="rId2"/>
                <a:stretch>
                  <a:fillRect l="-43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C2C343A0-757D-4032-BC20-DF0A67BD0A50}" type="slidenum">
              <a:rPr lang="en-US" smtClean="0"/>
              <a:t>33</a:t>
            </a:fld>
            <a:endParaRPr lang="en-US"/>
          </a:p>
        </p:txBody>
      </p:sp>
    </p:spTree>
    <p:extLst>
      <p:ext uri="{BB962C8B-B14F-4D97-AF65-F5344CB8AC3E}">
        <p14:creationId xmlns:p14="http://schemas.microsoft.com/office/powerpoint/2010/main" val="3356688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p:sp>
        <p:nvSpPr>
          <p:cNvPr id="3" name="Content Placeholder 2"/>
          <p:cNvSpPr>
            <a:spLocks noGrp="1"/>
          </p:cNvSpPr>
          <p:nvPr>
            <p:ph idx="1"/>
          </p:nvPr>
        </p:nvSpPr>
        <p:spPr>
          <a:xfrm>
            <a:off x="457200" y="1600200"/>
            <a:ext cx="8458200" cy="4953000"/>
          </a:xfrm>
        </p:spPr>
        <p:txBody>
          <a:bodyPr>
            <a:normAutofit fontScale="85000" lnSpcReduction="20000"/>
          </a:bodyPr>
          <a:lstStyle/>
          <a:p>
            <a:pPr marL="0" lvl="2" indent="0">
              <a:lnSpc>
                <a:spcPct val="140000"/>
              </a:lnSpc>
              <a:buSzPct val="85000"/>
              <a:buNone/>
            </a:pPr>
            <a:r>
              <a:rPr lang="en-US" b="1" dirty="0"/>
              <a:t>Extension of Regular Expressions</a:t>
            </a:r>
          </a:p>
          <a:p>
            <a:pPr marL="342900" lvl="2" indent="-342900">
              <a:lnSpc>
                <a:spcPct val="140000"/>
              </a:lnSpc>
              <a:buSzPct val="85000"/>
            </a:pPr>
            <a:r>
              <a:rPr lang="en-US" dirty="0"/>
              <a:t>Using the above short hands we can rewrite the regular expression for examples a) and c) in slide number 32 as follows: </a:t>
            </a:r>
          </a:p>
          <a:p>
            <a:pPr marL="0" lvl="2" indent="0">
              <a:lnSpc>
                <a:spcPct val="140000"/>
              </a:lnSpc>
              <a:buSzPct val="85000"/>
              <a:buNone/>
            </a:pPr>
            <a:r>
              <a:rPr lang="en-US" b="1" dirty="0"/>
              <a:t>      Examples</a:t>
            </a:r>
          </a:p>
          <a:p>
            <a:pPr marL="457200" lvl="3" indent="0">
              <a:lnSpc>
                <a:spcPct val="140000"/>
              </a:lnSpc>
              <a:buSzPct val="85000"/>
              <a:buNone/>
            </a:pPr>
            <a:r>
              <a:rPr lang="en-US" dirty="0"/>
              <a:t>a)  Regular definitions for C</a:t>
            </a:r>
            <a:r>
              <a:rPr lang="en-US" baseline="30000" dirty="0"/>
              <a:t>++</a:t>
            </a:r>
            <a:r>
              <a:rPr lang="en-US" dirty="0"/>
              <a:t> identifiers</a:t>
            </a:r>
          </a:p>
          <a:p>
            <a:pPr marL="0" lvl="2" indent="0">
              <a:lnSpc>
                <a:spcPct val="140000"/>
              </a:lnSpc>
              <a:buSzPct val="85000"/>
              <a:buNone/>
            </a:pPr>
            <a:r>
              <a:rPr lang="en-US" dirty="0"/>
              <a:t>	</a:t>
            </a:r>
            <a:r>
              <a:rPr lang="en-US" sz="1900" b="1" dirty="0">
                <a:latin typeface="Courier New" panose="02070309020205020404" pitchFamily="49" charset="0"/>
                <a:cs typeface="Courier New" panose="02070309020205020404" pitchFamily="49" charset="0"/>
              </a:rPr>
              <a:t>ID </a:t>
            </a:r>
            <a:r>
              <a:rPr lang="en-US" sz="1900" b="1" dirty="0">
                <a:latin typeface="Symbol" panose="05050102010706020507" pitchFamily="18" charset="2"/>
                <a:cs typeface="Courier New" panose="02070309020205020404" pitchFamily="49" charset="0"/>
              </a:rPr>
              <a:t></a:t>
            </a:r>
            <a:r>
              <a:rPr lang="en-US" sz="1900" b="1" dirty="0">
                <a:latin typeface="Courier New" panose="02070309020205020404" pitchFamily="49" charset="0"/>
                <a:cs typeface="Courier New" panose="02070309020205020404" pitchFamily="49" charset="0"/>
              </a:rPr>
              <a:t> letter(</a:t>
            </a:r>
            <a:r>
              <a:rPr lang="en-US" sz="1900" b="1" dirty="0" err="1">
                <a:latin typeface="Courier New" panose="02070309020205020404" pitchFamily="49" charset="0"/>
                <a:cs typeface="Courier New" panose="02070309020205020404" pitchFamily="49" charset="0"/>
              </a:rPr>
              <a:t>letter|digit</a:t>
            </a:r>
            <a:r>
              <a:rPr lang="en-US" sz="1900" b="1" dirty="0">
                <a:latin typeface="Courier New" panose="02070309020205020404" pitchFamily="49" charset="0"/>
                <a:cs typeface="Courier New" panose="02070309020205020404" pitchFamily="49" charset="0"/>
              </a:rPr>
              <a:t>)* </a:t>
            </a:r>
          </a:p>
          <a:p>
            <a:pPr marL="0" lvl="2" indent="0">
              <a:lnSpc>
                <a:spcPct val="140000"/>
              </a:lnSpc>
              <a:buSzPct val="85000"/>
              <a:buNone/>
            </a:pPr>
            <a:r>
              <a:rPr lang="en-US" sz="1900" b="1" dirty="0">
                <a:latin typeface="Courier New" panose="02070309020205020404" pitchFamily="49" charset="0"/>
                <a:cs typeface="Courier New" panose="02070309020205020404" pitchFamily="49" charset="0"/>
              </a:rPr>
              <a:t>       	letter </a:t>
            </a:r>
            <a:r>
              <a:rPr lang="en-US" sz="1900" b="1" dirty="0">
                <a:latin typeface="Symbol" panose="05050102010706020507" pitchFamily="18" charset="2"/>
                <a:cs typeface="Courier New" panose="02070309020205020404" pitchFamily="49" charset="0"/>
              </a:rPr>
              <a:t></a:t>
            </a:r>
            <a:r>
              <a:rPr lang="en-US" sz="1900" b="1" dirty="0">
                <a:latin typeface="Courier New" panose="02070309020205020404" pitchFamily="49" charset="0"/>
                <a:cs typeface="Courier New" panose="02070309020205020404" pitchFamily="49" charset="0"/>
              </a:rPr>
              <a:t>[A-</a:t>
            </a:r>
            <a:r>
              <a:rPr lang="en-US" sz="1900" b="1" dirty="0" err="1">
                <a:latin typeface="Courier New" panose="02070309020205020404" pitchFamily="49" charset="0"/>
                <a:cs typeface="Courier New" panose="02070309020205020404" pitchFamily="49" charset="0"/>
              </a:rPr>
              <a:t>Za</a:t>
            </a:r>
            <a:r>
              <a:rPr lang="en-US" sz="1900" b="1" dirty="0">
                <a:latin typeface="Courier New" panose="02070309020205020404" pitchFamily="49" charset="0"/>
                <a:cs typeface="Courier New" panose="02070309020205020404" pitchFamily="49" charset="0"/>
              </a:rPr>
              <a:t>-z_]</a:t>
            </a:r>
          </a:p>
          <a:p>
            <a:pPr marL="0" lvl="2" indent="0">
              <a:lnSpc>
                <a:spcPct val="140000"/>
              </a:lnSpc>
              <a:buSzPct val="85000"/>
              <a:buNone/>
            </a:pPr>
            <a:r>
              <a:rPr lang="en-US" sz="1900" b="1" dirty="0">
                <a:latin typeface="Courier New" panose="02070309020205020404" pitchFamily="49" charset="0"/>
                <a:cs typeface="Courier New" panose="02070309020205020404" pitchFamily="49" charset="0"/>
              </a:rPr>
              <a:t>       	digit </a:t>
            </a:r>
            <a:r>
              <a:rPr lang="en-US" sz="1900" b="1" dirty="0">
                <a:latin typeface="Symbol" panose="05050102010706020507" pitchFamily="18" charset="2"/>
                <a:cs typeface="Courier New" panose="02070309020205020404" pitchFamily="49" charset="0"/>
              </a:rPr>
              <a:t></a:t>
            </a:r>
            <a:r>
              <a:rPr lang="en-US" sz="1900" b="1" dirty="0">
                <a:latin typeface="Courier New" panose="02070309020205020404" pitchFamily="49" charset="0"/>
                <a:cs typeface="Courier New" panose="02070309020205020404" pitchFamily="49" charset="0"/>
              </a:rPr>
              <a:t>[0-9]</a:t>
            </a:r>
          </a:p>
          <a:p>
            <a:pPr marL="0" lvl="2" indent="0">
              <a:lnSpc>
                <a:spcPct val="140000"/>
              </a:lnSpc>
              <a:buSzPct val="85000"/>
              <a:buNone/>
            </a:pPr>
            <a:endParaRPr lang="en-US" sz="1900" b="1" dirty="0">
              <a:latin typeface="Courier New" panose="02070309020205020404" pitchFamily="49" charset="0"/>
              <a:cs typeface="Courier New" panose="02070309020205020404" pitchFamily="49" charset="0"/>
            </a:endParaRPr>
          </a:p>
          <a:p>
            <a:pPr marL="0" lvl="2" indent="0">
              <a:lnSpc>
                <a:spcPct val="140000"/>
              </a:lnSpc>
              <a:buSzPct val="85000"/>
              <a:buNone/>
            </a:pPr>
            <a:endParaRPr lang="en-US" sz="1900" b="1" dirty="0">
              <a:latin typeface="Courier New" panose="02070309020205020404" pitchFamily="49" charset="0"/>
              <a:cs typeface="Courier New" panose="02070309020205020404" pitchFamily="49" charset="0"/>
            </a:endParaRPr>
          </a:p>
          <a:p>
            <a:pPr marL="0" lvl="2" indent="0">
              <a:lnSpc>
                <a:spcPct val="140000"/>
              </a:lnSpc>
              <a:buSzPct val="85000"/>
              <a:buNone/>
            </a:pPr>
            <a:r>
              <a:rPr lang="en-US" sz="1900" b="1" dirty="0">
                <a:latin typeface="Courier New" panose="02070309020205020404" pitchFamily="49" charset="0"/>
                <a:cs typeface="Courier New" panose="02070309020205020404" pitchFamily="49" charset="0"/>
              </a:rPr>
              <a:t>   </a:t>
            </a:r>
          </a:p>
          <a:p>
            <a:pPr marL="0" lvl="2" indent="0">
              <a:lnSpc>
                <a:spcPct val="140000"/>
              </a:lnSpc>
              <a:buSzPct val="85000"/>
              <a:buNone/>
            </a:pPr>
            <a:endParaRPr lang="en-US" sz="1900" b="1" dirty="0">
              <a:latin typeface="Courier New" panose="02070309020205020404" pitchFamily="49" charset="0"/>
              <a:cs typeface="Courier New" panose="02070309020205020404" pitchFamily="49" charset="0"/>
            </a:endParaRPr>
          </a:p>
          <a:p>
            <a:pPr marL="0" lvl="2" indent="0">
              <a:lnSpc>
                <a:spcPct val="140000"/>
              </a:lnSpc>
              <a:buSzPct val="85000"/>
              <a:buNone/>
            </a:pPr>
            <a:r>
              <a:rPr lang="en-US" sz="1900" b="1" dirty="0">
                <a:latin typeface="Courier New" panose="02070309020205020404" pitchFamily="49" charset="0"/>
                <a:cs typeface="Courier New" panose="02070309020205020404" pitchFamily="49" charset="0"/>
              </a:rPr>
              <a:t> </a:t>
            </a:r>
          </a:p>
        </p:txBody>
      </p:sp>
      <p:sp>
        <p:nvSpPr>
          <p:cNvPr id="4" name="Rectangle 3"/>
          <p:cNvSpPr/>
          <p:nvPr/>
        </p:nvSpPr>
        <p:spPr>
          <a:xfrm>
            <a:off x="838200" y="4953000"/>
            <a:ext cx="5638800" cy="1458861"/>
          </a:xfrm>
          <a:prstGeom prst="rect">
            <a:avLst/>
          </a:prstGeom>
        </p:spPr>
        <p:txBody>
          <a:bodyPr wrap="square">
            <a:spAutoFit/>
          </a:bodyPr>
          <a:lstStyle/>
          <a:p>
            <a:pPr marL="344488" lvl="2" indent="-344488" algn="just">
              <a:buSzPct val="85000"/>
            </a:pPr>
            <a:r>
              <a:rPr lang="en-US" altLang="zh-CN" dirty="0"/>
              <a:t>c)</a:t>
            </a:r>
            <a:r>
              <a:rPr lang="en-US" altLang="zh-CN" dirty="0">
                <a:solidFill>
                  <a:srgbClr val="0000FF"/>
                </a:solidFill>
                <a:latin typeface="Perpetua" pitchFamily="18" charset="0"/>
                <a:ea typeface="新細明體" pitchFamily="18" charset="-120"/>
              </a:rPr>
              <a:t>   </a:t>
            </a:r>
            <a:r>
              <a:rPr lang="en-US" altLang="zh-CN" dirty="0"/>
              <a:t>Regular Definition for unsigned numbers such as  5280 ,  0.0 1 234, 6.  336E4, or  1.  89E-4      </a:t>
            </a:r>
            <a:endParaRPr lang="en-US" altLang="zh-CN" sz="1600" dirty="0">
              <a:solidFill>
                <a:srgbClr val="0000FF"/>
              </a:solidFill>
              <a:latin typeface="Perpetua" pitchFamily="18" charset="0"/>
              <a:ea typeface="新細明體" pitchFamily="18" charset="-120"/>
            </a:endParaRPr>
          </a:p>
          <a:p>
            <a:pPr marL="0" lvl="2" algn="just">
              <a:lnSpc>
                <a:spcPct val="110000"/>
              </a:lnSpc>
              <a:buSzPct val="85000"/>
            </a:pPr>
            <a:r>
              <a:rPr lang="en-US" altLang="zh-CN" sz="1600" b="1" dirty="0">
                <a:solidFill>
                  <a:srgbClr val="0000FF"/>
                </a:solidFill>
                <a:latin typeface="Perpetua" pitchFamily="18" charset="0"/>
                <a:ea typeface="新細明體" pitchFamily="18" charset="-120"/>
                <a:sym typeface="Symbol" pitchFamily="-80" charset="2"/>
              </a:rPr>
              <a:t>              </a:t>
            </a:r>
            <a:r>
              <a:rPr lang="en-US" altLang="zh-CN" sz="1600" b="1" dirty="0">
                <a:solidFill>
                  <a:srgbClr val="CC00FF"/>
                </a:solidFill>
                <a:latin typeface="Perpetua" pitchFamily="18" charset="0"/>
                <a:ea typeface="新細明體" pitchFamily="18" charset="-120"/>
                <a:sym typeface="Symbol" pitchFamily="-80" charset="2"/>
              </a:rPr>
              <a:t>digit</a:t>
            </a:r>
            <a:r>
              <a:rPr lang="en-US" altLang="zh-CN" sz="1600" b="1" dirty="0">
                <a:solidFill>
                  <a:srgbClr val="CC00FF"/>
                </a:solidFill>
                <a:latin typeface="Perpetua" pitchFamily="18" charset="0"/>
                <a:ea typeface="新細明體" pitchFamily="18" charset="-120"/>
              </a:rPr>
              <a:t> </a:t>
            </a:r>
            <a:r>
              <a:rPr lang="en-US" altLang="zh-CN" sz="1600" b="1" dirty="0">
                <a:solidFill>
                  <a:srgbClr val="CC00FF"/>
                </a:solidFill>
                <a:latin typeface="Perpetua" pitchFamily="18" charset="0"/>
                <a:ea typeface="新細明體" pitchFamily="18" charset="-120"/>
                <a:sym typeface="Symbol" pitchFamily="-80" charset="2"/>
              </a:rPr>
              <a:t>[0-9]</a:t>
            </a:r>
          </a:p>
          <a:p>
            <a:pPr marL="0" lvl="2" algn="just">
              <a:lnSpc>
                <a:spcPct val="110000"/>
              </a:lnSpc>
              <a:buSzPct val="85000"/>
            </a:pPr>
            <a:r>
              <a:rPr lang="en-US" altLang="zh-CN" sz="1600" b="1" dirty="0">
                <a:solidFill>
                  <a:srgbClr val="CC00FF"/>
                </a:solidFill>
                <a:latin typeface="Perpetua" pitchFamily="18" charset="0"/>
                <a:ea typeface="新細明體" pitchFamily="18" charset="-120"/>
                <a:sym typeface="Symbol" pitchFamily="-80" charset="2"/>
              </a:rPr>
              <a:t>              digits</a:t>
            </a:r>
            <a:r>
              <a:rPr lang="en-US" altLang="zh-CN" sz="1600" b="1" dirty="0">
                <a:solidFill>
                  <a:srgbClr val="CC00FF"/>
                </a:solidFill>
                <a:latin typeface="Perpetua" pitchFamily="18" charset="0"/>
                <a:ea typeface="新細明體" pitchFamily="18" charset="-120"/>
              </a:rPr>
              <a:t> </a:t>
            </a:r>
            <a:r>
              <a:rPr lang="en-US" altLang="zh-CN" sz="1600" b="1" dirty="0">
                <a:solidFill>
                  <a:srgbClr val="CC00FF"/>
                </a:solidFill>
                <a:latin typeface="Perpetua" pitchFamily="18" charset="0"/>
                <a:ea typeface="新細明體" pitchFamily="18" charset="-120"/>
                <a:sym typeface="Symbol" pitchFamily="-80" charset="2"/>
              </a:rPr>
              <a:t>digit</a:t>
            </a:r>
            <a:r>
              <a:rPr lang="en-US" altLang="zh-CN" sz="1600" b="1" baseline="30000" dirty="0">
                <a:solidFill>
                  <a:srgbClr val="CC00FF"/>
                </a:solidFill>
                <a:latin typeface="Perpetua" pitchFamily="18" charset="0"/>
                <a:ea typeface="新細明體" pitchFamily="18" charset="-120"/>
                <a:sym typeface="Symbol" pitchFamily="-80" charset="2"/>
              </a:rPr>
              <a:t>+</a:t>
            </a:r>
          </a:p>
          <a:p>
            <a:pPr marL="0" lvl="2" algn="just">
              <a:lnSpc>
                <a:spcPct val="110000"/>
              </a:lnSpc>
              <a:buSzPct val="85000"/>
            </a:pPr>
            <a:r>
              <a:rPr lang="en-US" sz="1600" b="1" dirty="0">
                <a:solidFill>
                  <a:srgbClr val="CC00FF"/>
                </a:solidFill>
                <a:latin typeface="Perpetua" pitchFamily="18" charset="0"/>
                <a:ea typeface="新細明體" pitchFamily="18" charset="-120"/>
              </a:rPr>
              <a:t>              number </a:t>
            </a:r>
            <a:r>
              <a:rPr lang="en-US" altLang="zh-CN" sz="1600" b="1" dirty="0">
                <a:solidFill>
                  <a:srgbClr val="CC00FF"/>
                </a:solidFill>
                <a:latin typeface="Perpetua" pitchFamily="18" charset="0"/>
                <a:ea typeface="新細明體" pitchFamily="18" charset="-120"/>
                <a:sym typeface="Symbol" pitchFamily="-80" charset="2"/>
              </a:rPr>
              <a:t> digits (. digits)? (E [+ -]? digits)?</a:t>
            </a:r>
            <a:r>
              <a:rPr lang="en-US" sz="1600" b="1" dirty="0">
                <a:solidFill>
                  <a:srgbClr val="CC00FF"/>
                </a:solidFill>
                <a:latin typeface="Perpetua" pitchFamily="18" charset="0"/>
                <a:ea typeface="新細明體" pitchFamily="18" charset="-120"/>
              </a:rPr>
              <a:t> </a:t>
            </a:r>
          </a:p>
        </p:txBody>
      </p:sp>
      <p:sp>
        <p:nvSpPr>
          <p:cNvPr id="5" name="Slide Number Placeholder 4"/>
          <p:cNvSpPr>
            <a:spLocks noGrp="1"/>
          </p:cNvSpPr>
          <p:nvPr>
            <p:ph type="sldNum" sz="quarter" idx="12"/>
          </p:nvPr>
        </p:nvSpPr>
        <p:spPr/>
        <p:txBody>
          <a:bodyPr/>
          <a:lstStyle/>
          <a:p>
            <a:fld id="{C2C343A0-757D-4032-BC20-DF0A67BD0A50}" type="slidenum">
              <a:rPr lang="en-US" smtClean="0"/>
              <a:t>34</a:t>
            </a:fld>
            <a:endParaRPr lang="en-US"/>
          </a:p>
        </p:txBody>
      </p:sp>
    </p:spTree>
    <p:extLst>
      <p:ext uri="{BB962C8B-B14F-4D97-AF65-F5344CB8AC3E}">
        <p14:creationId xmlns:p14="http://schemas.microsoft.com/office/powerpoint/2010/main" val="3865750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Specification of Tokens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458200" cy="4953000"/>
              </a:xfrm>
            </p:spPr>
            <p:txBody>
              <a:bodyPr>
                <a:normAutofit fontScale="62500" lnSpcReduction="20000"/>
              </a:bodyPr>
              <a:lstStyle/>
              <a:p>
                <a:pPr marL="0" lvl="2" indent="0">
                  <a:lnSpc>
                    <a:spcPct val="140000"/>
                  </a:lnSpc>
                  <a:buSzPct val="85000"/>
                  <a:buNone/>
                </a:pPr>
                <a:r>
                  <a:rPr lang="en-US" b="1" dirty="0"/>
                  <a:t>Extension of Regular Expressions</a:t>
                </a:r>
              </a:p>
              <a:p>
                <a:pPr marL="0" lvl="2" indent="0">
                  <a:lnSpc>
                    <a:spcPct val="140000"/>
                  </a:lnSpc>
                  <a:buSzPct val="85000"/>
                  <a:buNone/>
                </a:pPr>
                <a:r>
                  <a:rPr lang="en-US" b="1" dirty="0">
                    <a:solidFill>
                      <a:srgbClr val="000099"/>
                    </a:solidFill>
                  </a:rPr>
                  <a:t>Exercises  - Assignments</a:t>
                </a:r>
              </a:p>
              <a:p>
                <a:pPr marL="914400" lvl="3" indent="-457200">
                  <a:lnSpc>
                    <a:spcPct val="140000"/>
                  </a:lnSpc>
                  <a:buSzPct val="85000"/>
                  <a:buFont typeface="+mj-lt"/>
                  <a:buAutoNum type="arabicPeriod"/>
                </a:pPr>
                <a:r>
                  <a:rPr lang="en-US" dirty="0"/>
                  <a:t>Consult the language reference manuals for C</a:t>
                </a:r>
                <a:r>
                  <a:rPr lang="en-US" baseline="30000" dirty="0"/>
                  <a:t>++</a:t>
                </a:r>
                <a:r>
                  <a:rPr lang="en-US" dirty="0"/>
                  <a:t> and java programming languages to determine  </a:t>
                </a:r>
              </a:p>
              <a:p>
                <a:pPr marL="1371600" lvl="4" indent="-457200">
                  <a:lnSpc>
                    <a:spcPct val="140000"/>
                  </a:lnSpc>
                  <a:buSzPct val="85000"/>
                  <a:buFont typeface="+mj-lt"/>
                  <a:buAutoNum type="alphaUcPeriod"/>
                </a:pPr>
                <a:r>
                  <a:rPr lang="en-US" dirty="0"/>
                  <a:t>The sets of characters that form the input alphabet  (excluding those that may only appear in  character strings or comments) ,  </a:t>
                </a:r>
              </a:p>
              <a:p>
                <a:pPr marL="1371600" lvl="4" indent="-457200">
                  <a:lnSpc>
                    <a:spcPct val="140000"/>
                  </a:lnSpc>
                  <a:buSzPct val="85000"/>
                  <a:buFont typeface="+mj-lt"/>
                  <a:buAutoNum type="alphaUcPeriod"/>
                </a:pPr>
                <a:r>
                  <a:rPr lang="en-US" dirty="0"/>
                  <a:t>The lexical form of numerical constants,  and  </a:t>
                </a:r>
              </a:p>
              <a:p>
                <a:pPr marL="1371600" lvl="4" indent="-457200">
                  <a:lnSpc>
                    <a:spcPct val="140000"/>
                  </a:lnSpc>
                  <a:buSzPct val="85000"/>
                  <a:buFont typeface="+mj-lt"/>
                  <a:buAutoNum type="alphaUcPeriod"/>
                </a:pPr>
                <a:r>
                  <a:rPr lang="en-US" dirty="0"/>
                  <a:t>The lexical form of identifiers. </a:t>
                </a:r>
              </a:p>
              <a:p>
                <a:pPr marL="914400" lvl="3" indent="-457200">
                  <a:lnSpc>
                    <a:spcPct val="140000"/>
                  </a:lnSpc>
                  <a:buSzPct val="85000"/>
                  <a:buFont typeface="+mj-lt"/>
                  <a:buAutoNum type="arabicPeriod"/>
                </a:pPr>
                <a:r>
                  <a:rPr lang="en-US" dirty="0"/>
                  <a:t>Describe the languages denoted by the following regular ex­pressions: </a:t>
                </a:r>
              </a:p>
              <a:p>
                <a:pPr marL="457200" lvl="3" indent="0">
                  <a:lnSpc>
                    <a:spcPct val="140000"/>
                  </a:lnSpc>
                  <a:buSzPct val="85000"/>
                  <a:buNone/>
                </a:pPr>
                <a:r>
                  <a:rPr lang="en-US" dirty="0"/>
                  <a:t>	a)   </a:t>
                </a:r>
                <a14:m>
                  <m:oMath xmlns:m="http://schemas.openxmlformats.org/officeDocument/2006/math">
                    <m:sSup>
                      <m:sSupPr>
                        <m:ctrlPr>
                          <a:rPr lang="en-US" i="1" dirty="0" smtClean="0">
                            <a:latin typeface="Cambria Math" panose="02040503050406030204" pitchFamily="18" charset="0"/>
                          </a:rPr>
                        </m:ctrlPr>
                      </m:sSupPr>
                      <m:e>
                        <m:r>
                          <a:rPr lang="en-US" i="1" dirty="0">
                            <a:latin typeface="Cambria Math" panose="02040503050406030204" pitchFamily="18" charset="0"/>
                          </a:rPr>
                          <m:t>𝑎</m:t>
                        </m:r>
                        <m:r>
                          <a:rPr lang="en-US" i="1" dirty="0">
                            <a:latin typeface="Cambria Math" panose="02040503050406030204" pitchFamily="18" charset="0"/>
                          </a:rPr>
                          <m:t>(</m:t>
                        </m:r>
                        <m:r>
                          <a:rPr lang="en-US" i="1" dirty="0" err="1">
                            <a:latin typeface="Cambria Math" panose="02040503050406030204" pitchFamily="18" charset="0"/>
                          </a:rPr>
                          <m:t>𝑎</m:t>
                        </m:r>
                        <m:r>
                          <a:rPr lang="en-US" i="1" dirty="0" err="1">
                            <a:latin typeface="Cambria Math" panose="02040503050406030204" pitchFamily="18" charset="0"/>
                          </a:rPr>
                          <m:t>|</m:t>
                        </m:r>
                        <m:r>
                          <a:rPr lang="en-US" i="1" dirty="0" err="1">
                            <a:latin typeface="Cambria Math" panose="02040503050406030204" pitchFamily="18" charset="0"/>
                          </a:rPr>
                          <m:t>𝑏</m:t>
                        </m:r>
                        <m:r>
                          <a:rPr lang="en-US" i="1" dirty="0">
                            <a:latin typeface="Cambria Math" panose="02040503050406030204" pitchFamily="18" charset="0"/>
                          </a:rPr>
                          <m:t>)</m:t>
                        </m:r>
                      </m:e>
                      <m:sup>
                        <m:r>
                          <a:rPr lang="en-US" i="1" dirty="0">
                            <a:latin typeface="Cambria Math" panose="02040503050406030204" pitchFamily="18" charset="0"/>
                          </a:rPr>
                          <m:t>∗</m:t>
                        </m:r>
                      </m:sup>
                    </m:sSup>
                    <m:r>
                      <a:rPr lang="en-US" i="1" dirty="0">
                        <a:latin typeface="Cambria Math" panose="02040503050406030204" pitchFamily="18" charset="0"/>
                      </a:rPr>
                      <m:t>𝑎</m:t>
                    </m:r>
                  </m:oMath>
                </a14:m>
                <a:r>
                  <a:rPr lang="en-US" dirty="0"/>
                  <a:t>  	b) </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   </m:t>
                        </m:r>
                        <m:r>
                          <a:rPr lang="en-US" i="1" dirty="0">
                            <a:latin typeface="Cambria Math" panose="02040503050406030204" pitchFamily="18" charset="0"/>
                          </a:rPr>
                          <m:t>((</m:t>
                        </m:r>
                        <m:r>
                          <a:rPr lang="en-US" i="1" dirty="0" err="1">
                            <a:latin typeface="Cambria Math" panose="02040503050406030204" pitchFamily="18" charset="0"/>
                          </a:rPr>
                          <m:t>Ɛ|</m:t>
                        </m:r>
                        <m:r>
                          <a:rPr lang="en-US" i="1" dirty="0" err="1">
                            <a:latin typeface="Cambria Math" panose="02040503050406030204" pitchFamily="18" charset="0"/>
                          </a:rPr>
                          <m:t>𝑎</m:t>
                        </m:r>
                        <m:r>
                          <a:rPr lang="en-US" i="1" dirty="0">
                            <a:latin typeface="Cambria Math" panose="02040503050406030204" pitchFamily="18" charset="0"/>
                          </a:rPr>
                          <m:t>) </m:t>
                        </m:r>
                        <m:sSup>
                          <m:sSupPr>
                            <m:ctrlPr>
                              <a:rPr lang="en-US" i="1" dirty="0">
                                <a:latin typeface="Cambria Math" panose="02040503050406030204" pitchFamily="18" charset="0"/>
                              </a:rPr>
                            </m:ctrlPr>
                          </m:sSupPr>
                          <m:e>
                            <m:r>
                              <a:rPr lang="en-US" i="1" dirty="0">
                                <a:latin typeface="Cambria Math" panose="02040503050406030204" pitchFamily="18" charset="0"/>
                              </a:rPr>
                              <m:t>𝑏</m:t>
                            </m:r>
                          </m:e>
                          <m:sup>
                            <m:r>
                              <a:rPr lang="en-US" i="1" dirty="0">
                                <a:latin typeface="Cambria Math" panose="02040503050406030204" pitchFamily="18" charset="0"/>
                              </a:rPr>
                              <m:t>∗</m:t>
                            </m:r>
                          </m:sup>
                        </m:sSup>
                        <m:r>
                          <a:rPr lang="en-US" i="1" dirty="0">
                            <a:latin typeface="Cambria Math" panose="02040503050406030204" pitchFamily="18" charset="0"/>
                          </a:rPr>
                          <m:t>)</m:t>
                        </m:r>
                      </m:e>
                      <m:sup>
                        <m:r>
                          <a:rPr lang="en-US" i="1" dirty="0">
                            <a:latin typeface="Cambria Math" panose="02040503050406030204" pitchFamily="18" charset="0"/>
                          </a:rPr>
                          <m:t>∗</m:t>
                        </m:r>
                      </m:sup>
                    </m:sSup>
                    <m:r>
                      <a:rPr lang="en-US" dirty="0">
                        <a:latin typeface="Cambria Math" panose="02040503050406030204" pitchFamily="18" charset="0"/>
                      </a:rPr>
                      <m:t>  </m:t>
                    </m:r>
                  </m:oMath>
                </a14:m>
                <a:r>
                  <a:rPr lang="en-US" dirty="0"/>
                  <a:t>	c) </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 </m:t>
                        </m:r>
                        <m:r>
                          <a:rPr lang="en-US" i="1" dirty="0">
                            <a:latin typeface="Cambria Math" panose="02040503050406030204" pitchFamily="18" charset="0"/>
                          </a:rPr>
                          <m:t>(</m:t>
                        </m:r>
                        <m:r>
                          <a:rPr lang="en-US" i="1" dirty="0" err="1">
                            <a:latin typeface="Cambria Math" panose="02040503050406030204" pitchFamily="18" charset="0"/>
                          </a:rPr>
                          <m:t>𝑎</m:t>
                        </m:r>
                        <m:r>
                          <a:rPr lang="en-US" i="1" dirty="0" err="1">
                            <a:latin typeface="Cambria Math" panose="02040503050406030204" pitchFamily="18" charset="0"/>
                          </a:rPr>
                          <m:t>|</m:t>
                        </m:r>
                        <m:r>
                          <a:rPr lang="en-US" i="1" dirty="0" err="1">
                            <a:latin typeface="Cambria Math" panose="02040503050406030204" pitchFamily="18" charset="0"/>
                          </a:rPr>
                          <m:t>𝑏</m:t>
                        </m:r>
                        <m:r>
                          <a:rPr lang="en-US" i="1" dirty="0">
                            <a:latin typeface="Cambria Math" panose="02040503050406030204" pitchFamily="18" charset="0"/>
                          </a:rPr>
                          <m:t>)</m:t>
                        </m:r>
                      </m:e>
                      <m:sup>
                        <m:r>
                          <a:rPr lang="en-US" i="1" dirty="0">
                            <a:latin typeface="Cambria Math" panose="02040503050406030204" pitchFamily="18" charset="0"/>
                          </a:rPr>
                          <m:t>∗</m:t>
                        </m:r>
                      </m:sup>
                    </m:sSup>
                    <m:r>
                      <a:rPr lang="en-US" i="1" dirty="0">
                        <a:latin typeface="Cambria Math" panose="02040503050406030204" pitchFamily="18" charset="0"/>
                      </a:rPr>
                      <m:t>𝑎</m:t>
                    </m:r>
                    <m:r>
                      <a:rPr lang="en-US" i="1" dirty="0">
                        <a:latin typeface="Cambria Math" panose="02040503050406030204" pitchFamily="18" charset="0"/>
                      </a:rPr>
                      <m:t>(</m:t>
                    </m:r>
                    <m:r>
                      <a:rPr lang="en-US" i="1" dirty="0" err="1">
                        <a:latin typeface="Cambria Math" panose="02040503050406030204" pitchFamily="18" charset="0"/>
                      </a:rPr>
                      <m:t>𝑎</m:t>
                    </m:r>
                    <m:r>
                      <a:rPr lang="en-US" i="1" dirty="0" err="1">
                        <a:latin typeface="Cambria Math" panose="02040503050406030204" pitchFamily="18" charset="0"/>
                      </a:rPr>
                      <m:t>|</m:t>
                    </m:r>
                    <m:r>
                      <a:rPr lang="en-US" i="1" dirty="0" err="1">
                        <a:latin typeface="Cambria Math" panose="02040503050406030204" pitchFamily="18" charset="0"/>
                      </a:rPr>
                      <m:t>𝑏</m:t>
                    </m:r>
                    <m:r>
                      <a:rPr lang="en-US" i="1" dirty="0">
                        <a:latin typeface="Cambria Math" panose="02040503050406030204" pitchFamily="18" charset="0"/>
                      </a:rPr>
                      <m:t>)</m:t>
                    </m:r>
                    <m:r>
                      <a:rPr lang="en-US" i="1" dirty="0" smtClean="0">
                        <a:latin typeface="Cambria Math" panose="02040503050406030204" pitchFamily="18" charset="0"/>
                      </a:rPr>
                      <m:t>(</m:t>
                    </m:r>
                    <m:r>
                      <a:rPr lang="en-US" i="1" dirty="0" err="1">
                        <a:latin typeface="Cambria Math" panose="02040503050406030204" pitchFamily="18" charset="0"/>
                      </a:rPr>
                      <m:t>𝑎</m:t>
                    </m:r>
                    <m:r>
                      <a:rPr lang="en-US" i="1" dirty="0" err="1">
                        <a:latin typeface="Cambria Math" panose="02040503050406030204" pitchFamily="18" charset="0"/>
                      </a:rPr>
                      <m:t>|</m:t>
                    </m:r>
                    <m:r>
                      <a:rPr lang="en-US" i="1" dirty="0" err="1">
                        <a:latin typeface="Cambria Math" panose="02040503050406030204" pitchFamily="18" charset="0"/>
                      </a:rPr>
                      <m:t>𝑏</m:t>
                    </m:r>
                    <m:r>
                      <a:rPr lang="en-US" i="1" dirty="0">
                        <a:latin typeface="Cambria Math" panose="02040503050406030204" pitchFamily="18" charset="0"/>
                      </a:rPr>
                      <m:t>)</m:t>
                    </m:r>
                  </m:oMath>
                </a14:m>
                <a:endParaRPr lang="en-US" dirty="0"/>
              </a:p>
              <a:p>
                <a:pPr marL="457200" lvl="3" indent="0">
                  <a:lnSpc>
                    <a:spcPct val="140000"/>
                  </a:lnSpc>
                  <a:buSzPct val="85000"/>
                  <a:buNone/>
                </a:pPr>
                <a:r>
                  <a:rPr lang="en-US" dirty="0"/>
                  <a:t>	d)  </a:t>
                </a:r>
                <a14:m>
                  <m:oMath xmlns:m="http://schemas.openxmlformats.org/officeDocument/2006/math">
                    <m:sSup>
                      <m:sSupPr>
                        <m:ctrlPr>
                          <a:rPr lang="en-US" i="1" dirty="0">
                            <a:latin typeface="Cambria Math" panose="02040503050406030204" pitchFamily="18" charset="0"/>
                          </a:rPr>
                        </m:ctrlPr>
                      </m:sSupPr>
                      <m:e>
                        <m:r>
                          <a:rPr lang="en-US" b="0" i="1" dirty="0" smtClean="0">
                            <a:latin typeface="Cambria Math" panose="02040503050406030204" pitchFamily="18" charset="0"/>
                          </a:rPr>
                          <m:t> </m:t>
                        </m:r>
                        <m:r>
                          <a:rPr lang="en-US" b="0" i="1" dirty="0" smtClean="0">
                            <a:latin typeface="Cambria Math" panose="02040503050406030204" pitchFamily="18" charset="0"/>
                          </a:rPr>
                          <m:t>𝑎</m:t>
                        </m:r>
                      </m:e>
                      <m:sup>
                        <m:r>
                          <a:rPr lang="en-US" i="1" dirty="0">
                            <a:latin typeface="Cambria Math" panose="02040503050406030204" pitchFamily="18" charset="0"/>
                          </a:rPr>
                          <m:t>∗</m:t>
                        </m:r>
                      </m:sup>
                    </m:sSup>
                    <m:r>
                      <a:rPr lang="en-US" i="1" dirty="0" err="1">
                        <a:latin typeface="Cambria Math" panose="02040503050406030204" pitchFamily="18" charset="0"/>
                      </a:rPr>
                      <m:t>𝑏</m:t>
                    </m:r>
                    <m:sSup>
                      <m:sSupPr>
                        <m:ctrlPr>
                          <a:rPr lang="en-US" i="1" dirty="0">
                            <a:latin typeface="Cambria Math" panose="02040503050406030204" pitchFamily="18" charset="0"/>
                          </a:rPr>
                        </m:ctrlPr>
                      </m:sSupPr>
                      <m:e>
                        <m:r>
                          <a:rPr lang="en-US" i="1" dirty="0">
                            <a:latin typeface="Cambria Math" panose="02040503050406030204" pitchFamily="18" charset="0"/>
                          </a:rPr>
                          <m:t>𝑎</m:t>
                        </m:r>
                      </m:e>
                      <m:sup>
                        <m:r>
                          <a:rPr lang="en-US" i="1" dirty="0">
                            <a:latin typeface="Cambria Math" panose="02040503050406030204" pitchFamily="18" charset="0"/>
                          </a:rPr>
                          <m:t>∗</m:t>
                        </m:r>
                      </m:sup>
                    </m:sSup>
                    <m:r>
                      <a:rPr lang="en-US" i="1" dirty="0" err="1">
                        <a:latin typeface="Cambria Math" panose="02040503050406030204" pitchFamily="18" charset="0"/>
                      </a:rPr>
                      <m:t>𝑏</m:t>
                    </m:r>
                    <m:sSup>
                      <m:sSupPr>
                        <m:ctrlPr>
                          <a:rPr lang="en-US" i="1" dirty="0">
                            <a:latin typeface="Cambria Math" panose="02040503050406030204" pitchFamily="18" charset="0"/>
                          </a:rPr>
                        </m:ctrlPr>
                      </m:sSupPr>
                      <m:e>
                        <m:r>
                          <a:rPr lang="en-US" i="1" dirty="0">
                            <a:latin typeface="Cambria Math" panose="02040503050406030204" pitchFamily="18" charset="0"/>
                          </a:rPr>
                          <m:t>𝑎</m:t>
                        </m:r>
                      </m:e>
                      <m:sup>
                        <m:r>
                          <a:rPr lang="en-US" i="1" dirty="0">
                            <a:latin typeface="Cambria Math" panose="02040503050406030204" pitchFamily="18" charset="0"/>
                          </a:rPr>
                          <m:t>∗</m:t>
                        </m:r>
                      </m:sup>
                    </m:sSup>
                    <m:r>
                      <a:rPr lang="en-US" i="1" dirty="0" err="1">
                        <a:latin typeface="Cambria Math" panose="02040503050406030204" pitchFamily="18" charset="0"/>
                      </a:rPr>
                      <m:t>𝑏</m:t>
                    </m:r>
                    <m:sSup>
                      <m:sSupPr>
                        <m:ctrlPr>
                          <a:rPr lang="en-US" i="1" dirty="0">
                            <a:latin typeface="Cambria Math" panose="02040503050406030204" pitchFamily="18" charset="0"/>
                          </a:rPr>
                        </m:ctrlPr>
                      </m:sSupPr>
                      <m:e>
                        <m:r>
                          <a:rPr lang="en-US" i="1" dirty="0">
                            <a:latin typeface="Cambria Math" panose="02040503050406030204" pitchFamily="18" charset="0"/>
                          </a:rPr>
                          <m:t>𝑎</m:t>
                        </m:r>
                      </m:e>
                      <m:sup>
                        <m:r>
                          <a:rPr lang="en-US" i="1" dirty="0">
                            <a:latin typeface="Cambria Math" panose="02040503050406030204" pitchFamily="18" charset="0"/>
                          </a:rPr>
                          <m:t>∗</m:t>
                        </m:r>
                      </m:sup>
                    </m:sSup>
                  </m:oMath>
                </a14:m>
                <a:r>
                  <a:rPr lang="en-US" dirty="0"/>
                  <a:t>	e)  </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𝑎𝑎</m:t>
                        </m:r>
                        <m:d>
                          <m:dPr>
                            <m:begChr m:val="|"/>
                            <m:ctrlPr>
                              <a:rPr lang="en-US" i="1" dirty="0">
                                <a:latin typeface="Cambria Math" panose="02040503050406030204" pitchFamily="18" charset="0"/>
                              </a:rPr>
                            </m:ctrlPr>
                          </m:dPr>
                          <m:e>
                            <m:r>
                              <a:rPr lang="en-US" i="1" dirty="0">
                                <a:latin typeface="Cambria Math" panose="02040503050406030204" pitchFamily="18" charset="0"/>
                              </a:rPr>
                              <m:t>𝑏𝑏</m:t>
                            </m:r>
                          </m:e>
                        </m:d>
                      </m:e>
                      <m:sup>
                        <m:r>
                          <a:rPr lang="en-US" i="1" dirty="0">
                            <a:latin typeface="Cambria Math" panose="02040503050406030204" pitchFamily="18" charset="0"/>
                          </a:rPr>
                          <m:t>∗</m:t>
                        </m:r>
                      </m:sup>
                    </m:sSup>
                    <m:sSup>
                      <m:sSupPr>
                        <m:ctrlPr>
                          <a:rPr lang="en-US" i="1" dirty="0" smtClean="0">
                            <a:latin typeface="Cambria Math" panose="02040503050406030204" pitchFamily="18" charset="0"/>
                          </a:rPr>
                        </m:ctrlPr>
                      </m:sSupPr>
                      <m:e>
                        <m:d>
                          <m:dPr>
                            <m:ctrlPr>
                              <a:rPr lang="en-US" i="1" dirty="0">
                                <a:latin typeface="Cambria Math" panose="02040503050406030204" pitchFamily="18" charset="0"/>
                              </a:rPr>
                            </m:ctrlPr>
                          </m:dPr>
                          <m:e>
                            <m:d>
                              <m:dPr>
                                <m:ctrlPr>
                                  <a:rPr lang="en-US" i="1" dirty="0">
                                    <a:latin typeface="Cambria Math" panose="02040503050406030204" pitchFamily="18" charset="0"/>
                                  </a:rPr>
                                </m:ctrlPr>
                              </m:dPr>
                              <m:e>
                                <m:r>
                                  <a:rPr lang="en-US" i="1" dirty="0">
                                    <a:latin typeface="Cambria Math" panose="02040503050406030204" pitchFamily="18" charset="0"/>
                                  </a:rPr>
                                  <m:t>𝑎𝑏</m:t>
                                </m:r>
                              </m:e>
                              <m:e>
                                <m:r>
                                  <a:rPr lang="en-US" i="1" dirty="0" err="1">
                                    <a:latin typeface="Cambria Math" panose="02040503050406030204" pitchFamily="18" charset="0"/>
                                  </a:rPr>
                                  <m:t>𝑏𝑎</m:t>
                                </m:r>
                              </m:e>
                            </m:d>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a:rPr lang="en-US" i="1" dirty="0">
                                        <a:latin typeface="Cambria Math" panose="02040503050406030204" pitchFamily="18" charset="0"/>
                                      </a:rPr>
                                      <m:t>𝑎𝑎</m:t>
                                    </m:r>
                                  </m:e>
                                  <m:e>
                                    <m:r>
                                      <a:rPr lang="en-US" i="1" dirty="0">
                                        <a:latin typeface="Cambria Math" panose="02040503050406030204" pitchFamily="18" charset="0"/>
                                      </a:rPr>
                                      <m:t>𝑏𝑏</m:t>
                                    </m:r>
                                  </m:e>
                                </m:d>
                              </m:e>
                              <m:sup>
                                <m:r>
                                  <a:rPr lang="en-US" i="1" dirty="0">
                                    <a:latin typeface="Cambria Math" panose="02040503050406030204" pitchFamily="18" charset="0"/>
                                  </a:rPr>
                                  <m:t>∗</m:t>
                                </m:r>
                              </m:sup>
                            </m:sSup>
                            <m:r>
                              <a:rPr lang="en-US" i="1" dirty="0">
                                <a:latin typeface="Cambria Math" panose="02040503050406030204" pitchFamily="18" charset="0"/>
                              </a:rPr>
                              <m:t> </m:t>
                            </m:r>
                            <m:d>
                              <m:dPr>
                                <m:ctrlPr>
                                  <a:rPr lang="en-US" i="1" dirty="0">
                                    <a:latin typeface="Cambria Math" panose="02040503050406030204" pitchFamily="18" charset="0"/>
                                  </a:rPr>
                                </m:ctrlPr>
                              </m:dPr>
                              <m:e>
                                <m:r>
                                  <a:rPr lang="en-US" i="1" dirty="0" err="1">
                                    <a:latin typeface="Cambria Math" panose="02040503050406030204" pitchFamily="18" charset="0"/>
                                  </a:rPr>
                                  <m:t>𝑎𝑏</m:t>
                                </m:r>
                              </m:e>
                              <m:e>
                                <m:r>
                                  <a:rPr lang="en-US" i="1" dirty="0" err="1">
                                    <a:latin typeface="Cambria Math" panose="02040503050406030204" pitchFamily="18" charset="0"/>
                                  </a:rPr>
                                  <m:t>𝑏𝑎</m:t>
                                </m:r>
                              </m:e>
                            </m:d>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a:rPr lang="en-US" i="1" dirty="0">
                                        <a:latin typeface="Cambria Math" panose="02040503050406030204" pitchFamily="18" charset="0"/>
                                      </a:rPr>
                                      <m:t>𝑎𝑎</m:t>
                                    </m:r>
                                  </m:e>
                                  <m:e>
                                    <m:r>
                                      <a:rPr lang="en-US" i="1" dirty="0">
                                        <a:latin typeface="Cambria Math" panose="02040503050406030204" pitchFamily="18" charset="0"/>
                                      </a:rPr>
                                      <m:t>𝑏𝑏</m:t>
                                    </m:r>
                                  </m:e>
                                </m:d>
                              </m:e>
                              <m:sup>
                                <m:r>
                                  <a:rPr lang="en-US" i="1" dirty="0">
                                    <a:latin typeface="Cambria Math" panose="02040503050406030204" pitchFamily="18" charset="0"/>
                                  </a:rPr>
                                  <m:t>∗</m:t>
                                </m:r>
                              </m:sup>
                            </m:sSup>
                          </m:e>
                        </m:d>
                      </m:e>
                      <m:sup>
                        <m:r>
                          <a:rPr lang="en-US" i="1" dirty="0">
                            <a:latin typeface="Cambria Math" panose="02040503050406030204" pitchFamily="18" charset="0"/>
                          </a:rPr>
                          <m:t>∗</m:t>
                        </m:r>
                      </m:sup>
                    </m:sSup>
                  </m:oMath>
                </a14:m>
                <a:endParaRPr lang="en-US" dirty="0"/>
              </a:p>
              <a:p>
                <a:pPr marL="914400" lvl="3" indent="-457200">
                  <a:lnSpc>
                    <a:spcPct val="140000"/>
                  </a:lnSpc>
                  <a:buSzPct val="85000"/>
                  <a:buFont typeface="+mj-lt"/>
                  <a:buAutoNum type="arabicPeriod" startAt="3"/>
                </a:pPr>
                <a:r>
                  <a:rPr lang="en-US" sz="2100" dirty="0"/>
                  <a:t>Write  regular definitions for the following languages: </a:t>
                </a:r>
              </a:p>
              <a:p>
                <a:pPr marL="1371600" lvl="4" indent="-457200">
                  <a:lnSpc>
                    <a:spcPct val="140000"/>
                  </a:lnSpc>
                  <a:buSzPct val="85000"/>
                  <a:buFont typeface="+mj-lt"/>
                  <a:buAutoNum type="alphaLcParenR"/>
                </a:pPr>
                <a:r>
                  <a:rPr lang="en-US" dirty="0"/>
                  <a:t>All strings of  lowercase letters  that  contain the five vowels in order. </a:t>
                </a:r>
              </a:p>
              <a:p>
                <a:pPr marL="1371600" lvl="4" indent="-457200">
                  <a:lnSpc>
                    <a:spcPct val="140000"/>
                  </a:lnSpc>
                  <a:buSzPct val="85000"/>
                  <a:buAutoNum type="alphaLcParenR"/>
                </a:pPr>
                <a:r>
                  <a:rPr lang="en-US" dirty="0"/>
                  <a:t>All strings of lowercase letters in which the letters are in ascending lexicographic order. </a:t>
                </a:r>
              </a:p>
              <a:p>
                <a:pPr marL="1371600" lvl="4" indent="-457200">
                  <a:lnSpc>
                    <a:spcPct val="140000"/>
                  </a:lnSpc>
                  <a:buSzPct val="85000"/>
                  <a:buAutoNum type="alphaLcParenR"/>
                </a:pPr>
                <a:r>
                  <a:rPr lang="en-US" dirty="0"/>
                  <a:t>All strings of binary digits with no repeated digits. </a:t>
                </a:r>
              </a:p>
              <a:p>
                <a:pPr marL="1371600" lvl="4" indent="-457200">
                  <a:lnSpc>
                    <a:spcPct val="140000"/>
                  </a:lnSpc>
                  <a:buSzPct val="85000"/>
                  <a:buAutoNum type="alphaLcParenR"/>
                </a:pPr>
                <a:r>
                  <a:rPr lang="en-US" dirty="0"/>
                  <a:t>All strings of binary digits with at most one repeated digit. </a:t>
                </a:r>
              </a:p>
              <a:p>
                <a:pPr marL="1371600" lvl="4" indent="-457200">
                  <a:lnSpc>
                    <a:spcPct val="140000"/>
                  </a:lnSpc>
                  <a:buSzPct val="85000"/>
                  <a:buAutoNum type="alphaLcParenR"/>
                </a:pPr>
                <a:r>
                  <a:rPr lang="en-US" dirty="0"/>
                  <a:t>All strings of </a:t>
                </a:r>
                <a14:m>
                  <m:oMath xmlns:m="http://schemas.openxmlformats.org/officeDocument/2006/math">
                    <m:r>
                      <a:rPr lang="en-US" i="1" dirty="0" smtClean="0">
                        <a:latin typeface="Cambria Math" panose="02040503050406030204" pitchFamily="18" charset="0"/>
                      </a:rPr>
                      <m:t>𝑎</m:t>
                    </m:r>
                  </m:oMath>
                </a14:m>
                <a:r>
                  <a:rPr lang="en-US" dirty="0"/>
                  <a:t>'s  and  </a:t>
                </a:r>
                <a14:m>
                  <m:oMath xmlns:m="http://schemas.openxmlformats.org/officeDocument/2006/math">
                    <m:r>
                      <a:rPr lang="en-US" i="1" dirty="0" smtClean="0">
                        <a:latin typeface="Cambria Math" panose="02040503050406030204" pitchFamily="18" charset="0"/>
                      </a:rPr>
                      <m:t>𝑏</m:t>
                    </m:r>
                  </m:oMath>
                </a14:m>
                <a:r>
                  <a:rPr lang="en-US" dirty="0"/>
                  <a:t>'s where every </a:t>
                </a:r>
                <a14:m>
                  <m:oMath xmlns:m="http://schemas.openxmlformats.org/officeDocument/2006/math">
                    <m:r>
                      <a:rPr lang="en-US" i="1" dirty="0" smtClean="0">
                        <a:latin typeface="Cambria Math" panose="02040503050406030204" pitchFamily="18" charset="0"/>
                      </a:rPr>
                      <m:t>𝑎</m:t>
                    </m:r>
                  </m:oMath>
                </a14:m>
                <a:r>
                  <a:rPr lang="en-US" dirty="0"/>
                  <a:t> is preceded by </a:t>
                </a:r>
                <a14:m>
                  <m:oMath xmlns:m="http://schemas.openxmlformats.org/officeDocument/2006/math">
                    <m:r>
                      <a:rPr lang="en-US" i="1" dirty="0" smtClean="0">
                        <a:latin typeface="Cambria Math" panose="02040503050406030204" pitchFamily="18" charset="0"/>
                      </a:rPr>
                      <m:t>𝑏</m:t>
                    </m:r>
                  </m:oMath>
                </a14:m>
                <a:r>
                  <a:rPr lang="en-US" dirty="0"/>
                  <a:t>. </a:t>
                </a:r>
              </a:p>
              <a:p>
                <a:pPr marL="1371600" lvl="4" indent="-457200">
                  <a:lnSpc>
                    <a:spcPct val="140000"/>
                  </a:lnSpc>
                  <a:buSzPct val="85000"/>
                  <a:buAutoNum type="alphaLcParenR"/>
                </a:pPr>
                <a:r>
                  <a:rPr lang="en-US" dirty="0"/>
                  <a:t>All strings of </a:t>
                </a:r>
                <a14:m>
                  <m:oMath xmlns:m="http://schemas.openxmlformats.org/officeDocument/2006/math">
                    <m:r>
                      <a:rPr lang="en-US" i="1" dirty="0">
                        <a:latin typeface="Cambria Math" panose="02040503050406030204" pitchFamily="18" charset="0"/>
                      </a:rPr>
                      <m:t>𝑎</m:t>
                    </m:r>
                  </m:oMath>
                </a14:m>
                <a:r>
                  <a:rPr lang="en-US" dirty="0"/>
                  <a:t>'s  and  </a:t>
                </a:r>
                <a14:m>
                  <m:oMath xmlns:m="http://schemas.openxmlformats.org/officeDocument/2006/math">
                    <m:r>
                      <a:rPr lang="en-US" i="1" dirty="0">
                        <a:latin typeface="Cambria Math" panose="02040503050406030204" pitchFamily="18" charset="0"/>
                      </a:rPr>
                      <m:t>𝑏</m:t>
                    </m:r>
                  </m:oMath>
                </a14:m>
                <a:r>
                  <a:rPr lang="en-US" dirty="0"/>
                  <a:t>'s that contain substring </a:t>
                </a:r>
                <a14:m>
                  <m:oMath xmlns:m="http://schemas.openxmlformats.org/officeDocument/2006/math">
                    <m:r>
                      <a:rPr lang="en-US" i="1" dirty="0" smtClean="0">
                        <a:latin typeface="Cambria Math" panose="02040503050406030204" pitchFamily="18" charset="0"/>
                      </a:rPr>
                      <m:t>𝑎𝑏𝑎𝑏</m:t>
                    </m:r>
                  </m:oMath>
                </a14:m>
                <a:r>
                  <a:rPr lang="en-US" dirty="0"/>
                  <a:t>.</a:t>
                </a:r>
              </a:p>
              <a:p>
                <a:pPr marL="457200" lvl="2" indent="-457200">
                  <a:lnSpc>
                    <a:spcPct val="140000"/>
                  </a:lnSpc>
                  <a:buSzPct val="85000"/>
                  <a:buAutoNum type="arabicPeriod"/>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458200" cy="4953000"/>
              </a:xfrm>
              <a:blipFill rotWithShape="0">
                <a:blip r:embed="rId2"/>
                <a:stretch>
                  <a:fillRect l="-28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C2C343A0-757D-4032-BC20-DF0A67BD0A50}" type="slidenum">
              <a:rPr lang="en-US" smtClean="0"/>
              <a:t>35</a:t>
            </a:fld>
            <a:endParaRPr lang="en-US"/>
          </a:p>
        </p:txBody>
      </p:sp>
    </p:spTree>
    <p:extLst>
      <p:ext uri="{BB962C8B-B14F-4D97-AF65-F5344CB8AC3E}">
        <p14:creationId xmlns:p14="http://schemas.microsoft.com/office/powerpoint/2010/main" val="1587787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Recognition of Tokens</a:t>
            </a:r>
          </a:p>
        </p:txBody>
      </p:sp>
      <p:sp>
        <p:nvSpPr>
          <p:cNvPr id="3" name="Content Placeholder 2"/>
          <p:cNvSpPr>
            <a:spLocks noGrp="1"/>
          </p:cNvSpPr>
          <p:nvPr>
            <p:ph idx="1"/>
          </p:nvPr>
        </p:nvSpPr>
        <p:spPr>
          <a:xfrm>
            <a:off x="457200" y="1600200"/>
            <a:ext cx="8458200" cy="4953000"/>
          </a:xfrm>
        </p:spPr>
        <p:txBody>
          <a:bodyPr>
            <a:normAutofit fontScale="92500" lnSpcReduction="10000"/>
          </a:bodyPr>
          <a:lstStyle/>
          <a:p>
            <a:pPr marL="457200" lvl="2" indent="-457200">
              <a:lnSpc>
                <a:spcPct val="140000"/>
              </a:lnSpc>
              <a:buSzPct val="85000"/>
            </a:pPr>
            <a:r>
              <a:rPr lang="en-US" dirty="0"/>
              <a:t>Regular definitions, a mechanism based on regular expressions are very popular for specification of tokens.</a:t>
            </a:r>
          </a:p>
          <a:p>
            <a:pPr marL="914400" lvl="3" indent="-457200">
              <a:lnSpc>
                <a:spcPct val="140000"/>
              </a:lnSpc>
              <a:buSzPct val="85000"/>
            </a:pPr>
            <a:r>
              <a:rPr lang="en-US" dirty="0"/>
              <a:t>Has been implemented in the lexical analyzer generator tool, </a:t>
            </a:r>
            <a:r>
              <a:rPr lang="en-US" b="1" i="1" dirty="0"/>
              <a:t>LEX</a:t>
            </a:r>
            <a:r>
              <a:rPr lang="en-US" dirty="0"/>
              <a:t>.</a:t>
            </a:r>
          </a:p>
          <a:p>
            <a:pPr marL="914400" lvl="3" indent="-457200">
              <a:lnSpc>
                <a:spcPct val="140000"/>
              </a:lnSpc>
              <a:buSzPct val="85000"/>
            </a:pPr>
            <a:r>
              <a:rPr lang="en-US" dirty="0"/>
              <a:t>In our lab session, we will see token specification using </a:t>
            </a:r>
            <a:r>
              <a:rPr lang="en-US" b="1" i="1" dirty="0"/>
              <a:t>LEX</a:t>
            </a:r>
            <a:r>
              <a:rPr lang="en-US" dirty="0"/>
              <a:t>.</a:t>
            </a:r>
          </a:p>
          <a:p>
            <a:pPr marL="457200" lvl="2" indent="-457200">
              <a:lnSpc>
                <a:spcPct val="140000"/>
              </a:lnSpc>
              <a:buSzPct val="85000"/>
            </a:pPr>
            <a:r>
              <a:rPr lang="en-US" dirty="0"/>
              <a:t>Transition diagrams, a variant of finite state automata, are used to implement regular definitions and to </a:t>
            </a:r>
            <a:r>
              <a:rPr lang="en-US" b="1" i="1" dirty="0"/>
              <a:t>recognize tokens</a:t>
            </a:r>
            <a:r>
              <a:rPr lang="en-US" dirty="0"/>
              <a:t>.</a:t>
            </a:r>
          </a:p>
          <a:p>
            <a:pPr marL="914400" lvl="3" indent="-457200">
              <a:lnSpc>
                <a:spcPct val="140000"/>
              </a:lnSpc>
              <a:buSzPct val="85000"/>
            </a:pPr>
            <a:r>
              <a:rPr lang="en-US" dirty="0"/>
              <a:t>Transition diagrams are usually used to model a Lexical Analyzer before translating them to programs by hand.</a:t>
            </a:r>
          </a:p>
          <a:p>
            <a:pPr marL="914400" lvl="3" indent="-457200">
              <a:lnSpc>
                <a:spcPct val="140000"/>
              </a:lnSpc>
              <a:buSzPct val="85000"/>
            </a:pPr>
            <a:r>
              <a:rPr lang="en-US" dirty="0"/>
              <a:t>LEX automatically generates optimized FSA from regular definitions</a:t>
            </a:r>
          </a:p>
          <a:p>
            <a:pPr marL="914400" lvl="3" indent="-457200">
              <a:lnSpc>
                <a:spcPct val="140000"/>
              </a:lnSpc>
              <a:buSzPct val="85000"/>
            </a:pPr>
            <a:r>
              <a:rPr lang="en-US" dirty="0"/>
              <a:t>We studied FSA and their generation from regular expressions, then we will see the relation between transition diagrams and LEX.</a:t>
            </a:r>
          </a:p>
        </p:txBody>
      </p:sp>
      <p:sp>
        <p:nvSpPr>
          <p:cNvPr id="4" name="Slide Number Placeholder 3"/>
          <p:cNvSpPr>
            <a:spLocks noGrp="1"/>
          </p:cNvSpPr>
          <p:nvPr>
            <p:ph type="sldNum" sz="quarter" idx="12"/>
          </p:nvPr>
        </p:nvSpPr>
        <p:spPr/>
        <p:txBody>
          <a:bodyPr/>
          <a:lstStyle/>
          <a:p>
            <a:fld id="{C2C343A0-757D-4032-BC20-DF0A67BD0A50}" type="slidenum">
              <a:rPr lang="en-US" smtClean="0"/>
              <a:t>36</a:t>
            </a:fld>
            <a:endParaRPr lang="en-US"/>
          </a:p>
        </p:txBody>
      </p:sp>
    </p:spTree>
    <p:extLst>
      <p:ext uri="{BB962C8B-B14F-4D97-AF65-F5344CB8AC3E}">
        <p14:creationId xmlns:p14="http://schemas.microsoft.com/office/powerpoint/2010/main" val="3845235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Recognition of Tokens</a:t>
            </a:r>
          </a:p>
        </p:txBody>
      </p:sp>
      <p:sp>
        <p:nvSpPr>
          <p:cNvPr id="3" name="Content Placeholder 2"/>
          <p:cNvSpPr>
            <a:spLocks noGrp="1"/>
          </p:cNvSpPr>
          <p:nvPr>
            <p:ph idx="1"/>
          </p:nvPr>
        </p:nvSpPr>
        <p:spPr>
          <a:xfrm>
            <a:off x="457200" y="1600200"/>
            <a:ext cx="8458200" cy="4953000"/>
          </a:xfrm>
        </p:spPr>
        <p:txBody>
          <a:bodyPr>
            <a:normAutofit lnSpcReduction="10000"/>
          </a:bodyPr>
          <a:lstStyle/>
          <a:p>
            <a:pPr marL="0" lvl="2" indent="0">
              <a:lnSpc>
                <a:spcPct val="110000"/>
              </a:lnSpc>
              <a:spcBef>
                <a:spcPts val="0"/>
              </a:spcBef>
              <a:spcAft>
                <a:spcPts val="600"/>
              </a:spcAft>
              <a:buSzPct val="85000"/>
              <a:buNone/>
            </a:pPr>
            <a:r>
              <a:rPr lang="en-US" b="1" dirty="0"/>
              <a:t>Transition Diagrams</a:t>
            </a:r>
          </a:p>
          <a:p>
            <a:pPr marL="457200" lvl="2" indent="-457200">
              <a:lnSpc>
                <a:spcPct val="110000"/>
              </a:lnSpc>
              <a:spcBef>
                <a:spcPts val="0"/>
              </a:spcBef>
              <a:spcAft>
                <a:spcPts val="600"/>
              </a:spcAft>
              <a:buSzPct val="85000"/>
            </a:pPr>
            <a:r>
              <a:rPr lang="en-US" dirty="0"/>
              <a:t>Transition diagrams are generalized DFAs with the following differences</a:t>
            </a:r>
          </a:p>
          <a:p>
            <a:pPr marL="914400" lvl="3" indent="-457200">
              <a:lnSpc>
                <a:spcPct val="110000"/>
              </a:lnSpc>
              <a:spcBef>
                <a:spcPts val="0"/>
              </a:spcBef>
              <a:spcAft>
                <a:spcPts val="600"/>
              </a:spcAft>
              <a:buSzPct val="85000"/>
              <a:buFont typeface="Wingdings" panose="05000000000000000000" pitchFamily="2" charset="2"/>
              <a:buChar char="§"/>
            </a:pPr>
            <a:r>
              <a:rPr lang="en-US" dirty="0"/>
              <a:t>Edges may be labelled by </a:t>
            </a:r>
            <a:r>
              <a:rPr lang="en-US" b="1" i="1" dirty="0"/>
              <a:t>a symbol</a:t>
            </a:r>
            <a:r>
              <a:rPr lang="en-US" dirty="0"/>
              <a:t>, </a:t>
            </a:r>
            <a:r>
              <a:rPr lang="en-US" b="1" i="1" dirty="0"/>
              <a:t>a set of symbols</a:t>
            </a:r>
            <a:r>
              <a:rPr lang="en-US" dirty="0"/>
              <a:t>, or </a:t>
            </a:r>
            <a:r>
              <a:rPr lang="en-US" b="1" i="1" dirty="0"/>
              <a:t>a regular definition</a:t>
            </a:r>
            <a:r>
              <a:rPr lang="en-US" dirty="0"/>
              <a:t>.</a:t>
            </a:r>
          </a:p>
          <a:p>
            <a:pPr marL="914400" lvl="3" indent="-457200">
              <a:lnSpc>
                <a:spcPct val="110000"/>
              </a:lnSpc>
              <a:spcBef>
                <a:spcPts val="0"/>
              </a:spcBef>
              <a:spcAft>
                <a:spcPts val="600"/>
              </a:spcAft>
              <a:buSzPct val="85000"/>
              <a:buFont typeface="Wingdings" panose="05000000000000000000" pitchFamily="2" charset="2"/>
              <a:buChar char="§"/>
            </a:pPr>
            <a:r>
              <a:rPr lang="en-US" dirty="0"/>
              <a:t>Some accepting states may be indicated as </a:t>
            </a:r>
            <a:r>
              <a:rPr lang="en-US" b="1" i="1" dirty="0"/>
              <a:t>retracting states</a:t>
            </a:r>
            <a:r>
              <a:rPr lang="en-US" dirty="0"/>
              <a:t>, indicating that the lexeme does not include the symbol that brought us to the accepting state.</a:t>
            </a:r>
          </a:p>
          <a:p>
            <a:pPr marL="914400" lvl="3" indent="-457200">
              <a:lnSpc>
                <a:spcPct val="110000"/>
              </a:lnSpc>
              <a:spcBef>
                <a:spcPts val="0"/>
              </a:spcBef>
              <a:spcAft>
                <a:spcPts val="600"/>
              </a:spcAft>
              <a:buSzPct val="85000"/>
              <a:buFont typeface="Wingdings" panose="05000000000000000000" pitchFamily="2" charset="2"/>
              <a:buChar char="§"/>
            </a:pPr>
            <a:r>
              <a:rPr lang="en-US" dirty="0"/>
              <a:t>Each accepting state has an action attached to it, which is executed when that state is reached. Typically, such an action returns a token and its attribute value.</a:t>
            </a:r>
          </a:p>
          <a:p>
            <a:pPr marL="457200" lvl="2" indent="-457200">
              <a:lnSpc>
                <a:spcPct val="110000"/>
              </a:lnSpc>
              <a:spcBef>
                <a:spcPts val="0"/>
              </a:spcBef>
              <a:spcAft>
                <a:spcPts val="600"/>
              </a:spcAft>
              <a:buSzPct val="85000"/>
              <a:buFont typeface="Wingdings" panose="05000000000000000000" pitchFamily="2" charset="2"/>
              <a:buChar char="§"/>
            </a:pPr>
            <a:r>
              <a:rPr lang="en-US" dirty="0"/>
              <a:t>Transition diagrams are not meant for machine translation but only for manual translation.</a:t>
            </a:r>
          </a:p>
        </p:txBody>
      </p:sp>
      <p:sp>
        <p:nvSpPr>
          <p:cNvPr id="4" name="Slide Number Placeholder 3"/>
          <p:cNvSpPr>
            <a:spLocks noGrp="1"/>
          </p:cNvSpPr>
          <p:nvPr>
            <p:ph type="sldNum" sz="quarter" idx="12"/>
          </p:nvPr>
        </p:nvSpPr>
        <p:spPr/>
        <p:txBody>
          <a:bodyPr/>
          <a:lstStyle/>
          <a:p>
            <a:fld id="{C2C343A0-757D-4032-BC20-DF0A67BD0A50}" type="slidenum">
              <a:rPr lang="en-US" smtClean="0"/>
              <a:t>37</a:t>
            </a:fld>
            <a:endParaRPr lang="en-US"/>
          </a:p>
        </p:txBody>
      </p:sp>
    </p:spTree>
    <p:extLst>
      <p:ext uri="{BB962C8B-B14F-4D97-AF65-F5344CB8AC3E}">
        <p14:creationId xmlns:p14="http://schemas.microsoft.com/office/powerpoint/2010/main" val="5824456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Recognition of Tokens</a:t>
            </a:r>
          </a:p>
        </p:txBody>
      </p:sp>
      <p:sp>
        <p:nvSpPr>
          <p:cNvPr id="4" name="TextShape 2"/>
          <p:cNvSpPr txBox="1"/>
          <p:nvPr/>
        </p:nvSpPr>
        <p:spPr>
          <a:xfrm>
            <a:off x="433086" y="1417638"/>
            <a:ext cx="8584760" cy="2392362"/>
          </a:xfrm>
          <a:prstGeom prst="rect">
            <a:avLst/>
          </a:prstGeom>
        </p:spPr>
        <p:txBody>
          <a:bodyPr/>
          <a:lstStyle/>
          <a:p>
            <a:pPr marL="342900" lvl="2" indent="-342900" algn="just">
              <a:lnSpc>
                <a:spcPct val="150000"/>
              </a:lnSpc>
              <a:buSzPct val="85000"/>
              <a:buFont typeface="+mj-lt"/>
              <a:buAutoNum type="arabicPeriod"/>
            </a:pPr>
            <a:r>
              <a:rPr lang="en-US" sz="1600" dirty="0"/>
              <a:t>Starting point is the language grammar to understand the tokens:</a:t>
            </a:r>
          </a:p>
          <a:p>
            <a:pPr marL="0" lvl="2" algn="just">
              <a:lnSpc>
                <a:spcPct val="150000"/>
              </a:lnSpc>
              <a:buSzPct val="85000"/>
            </a:pPr>
            <a:r>
              <a:rPr lang="en-US" sz="1700" b="1" dirty="0">
                <a:solidFill>
                  <a:srgbClr val="0000FF"/>
                </a:solidFill>
                <a:latin typeface="Perpetua" pitchFamily="18" charset="0"/>
                <a:ea typeface="新細明體" pitchFamily="18" charset="-120"/>
              </a:rPr>
              <a:t>         </a:t>
            </a:r>
            <a:r>
              <a:rPr lang="en-US" sz="1400" b="1" dirty="0" err="1">
                <a:solidFill>
                  <a:srgbClr val="0000FF"/>
                </a:solidFill>
                <a:latin typeface="Perpetua" pitchFamily="18" charset="0"/>
                <a:ea typeface="新細明體" pitchFamily="18" charset="-120"/>
              </a:rPr>
              <a:t>stmt</a:t>
            </a:r>
            <a:r>
              <a:rPr lang="en-US" sz="1400" b="1" dirty="0">
                <a:solidFill>
                  <a:srgbClr val="0000FF"/>
                </a:solidFill>
                <a:latin typeface="Perpetua" pitchFamily="18" charset="0"/>
                <a:ea typeface="新細明體" pitchFamily="18" charset="-120"/>
              </a:rPr>
              <a:t> </a:t>
            </a:r>
            <a:r>
              <a:rPr lang="en-US" altLang="zh-CN" sz="1400" b="1" dirty="0">
                <a:solidFill>
                  <a:srgbClr val="0000FF"/>
                </a:solidFill>
                <a:latin typeface="Perpetua" pitchFamily="18" charset="0"/>
                <a:ea typeface="新細明體" pitchFamily="18" charset="-120"/>
                <a:sym typeface="Symbol" pitchFamily="-80" charset="2"/>
              </a:rPr>
              <a:t></a:t>
            </a:r>
            <a:r>
              <a:rPr lang="en-US" sz="1400" b="1" dirty="0">
                <a:solidFill>
                  <a:srgbClr val="0000FF"/>
                </a:solidFill>
                <a:latin typeface="Perpetua" pitchFamily="18" charset="0"/>
                <a:ea typeface="新細明體" pitchFamily="18" charset="-120"/>
              </a:rPr>
              <a:t> if expr then </a:t>
            </a:r>
            <a:r>
              <a:rPr lang="en-US" sz="1400" b="1" dirty="0" err="1">
                <a:solidFill>
                  <a:srgbClr val="0000FF"/>
                </a:solidFill>
                <a:latin typeface="Perpetua" pitchFamily="18" charset="0"/>
                <a:ea typeface="新細明體" pitchFamily="18" charset="-120"/>
              </a:rPr>
              <a:t>stmt</a:t>
            </a:r>
            <a:endParaRPr lang="en-US" sz="1400" b="1" dirty="0">
              <a:solidFill>
                <a:srgbClr val="0000FF"/>
              </a:solidFill>
              <a:latin typeface="Perpetua" pitchFamily="18" charset="0"/>
              <a:ea typeface="新細明體" pitchFamily="18" charset="-120"/>
            </a:endParaRPr>
          </a:p>
          <a:p>
            <a:pPr marL="0" lvl="2" algn="just">
              <a:lnSpc>
                <a:spcPct val="120000"/>
              </a:lnSpc>
              <a:buSzPct val="85000"/>
            </a:pPr>
            <a:r>
              <a:rPr lang="en-US" sz="1400" b="1" dirty="0">
                <a:solidFill>
                  <a:srgbClr val="0000FF"/>
                </a:solidFill>
                <a:latin typeface="Perpetua" pitchFamily="18" charset="0"/>
                <a:ea typeface="新細明體" pitchFamily="18" charset="-120"/>
              </a:rPr>
              <a:t>                   | if </a:t>
            </a:r>
            <a:r>
              <a:rPr lang="en-US" sz="1400" b="1" dirty="0" err="1">
                <a:solidFill>
                  <a:srgbClr val="0000FF"/>
                </a:solidFill>
                <a:latin typeface="Perpetua" pitchFamily="18" charset="0"/>
                <a:ea typeface="新細明體" pitchFamily="18" charset="-120"/>
              </a:rPr>
              <a:t>expr</a:t>
            </a:r>
            <a:r>
              <a:rPr lang="en-US" sz="1400" b="1" dirty="0">
                <a:solidFill>
                  <a:srgbClr val="0000FF"/>
                </a:solidFill>
                <a:latin typeface="Perpetua" pitchFamily="18" charset="0"/>
                <a:ea typeface="新細明體" pitchFamily="18" charset="-120"/>
              </a:rPr>
              <a:t> then </a:t>
            </a:r>
            <a:r>
              <a:rPr lang="en-US" sz="1400" b="1" dirty="0" err="1">
                <a:solidFill>
                  <a:srgbClr val="0000FF"/>
                </a:solidFill>
                <a:latin typeface="Perpetua" pitchFamily="18" charset="0"/>
                <a:ea typeface="新細明體" pitchFamily="18" charset="-120"/>
              </a:rPr>
              <a:t>stmt</a:t>
            </a:r>
            <a:r>
              <a:rPr lang="en-US" sz="1400" b="1" dirty="0">
                <a:solidFill>
                  <a:srgbClr val="0000FF"/>
                </a:solidFill>
                <a:latin typeface="Perpetua" pitchFamily="18" charset="0"/>
                <a:ea typeface="新細明體" pitchFamily="18" charset="-120"/>
              </a:rPr>
              <a:t> else </a:t>
            </a:r>
            <a:r>
              <a:rPr lang="en-US" sz="1400" b="1" dirty="0" err="1">
                <a:solidFill>
                  <a:srgbClr val="0000FF"/>
                </a:solidFill>
                <a:latin typeface="Perpetua" pitchFamily="18" charset="0"/>
                <a:ea typeface="新細明體" pitchFamily="18" charset="-120"/>
              </a:rPr>
              <a:t>stmt</a:t>
            </a:r>
            <a:endParaRPr lang="en-US" sz="1400" b="1" dirty="0">
              <a:solidFill>
                <a:srgbClr val="0000FF"/>
              </a:solidFill>
              <a:latin typeface="Perpetua" pitchFamily="18" charset="0"/>
              <a:ea typeface="新細明體" pitchFamily="18" charset="-120"/>
            </a:endParaRPr>
          </a:p>
          <a:p>
            <a:pPr marL="0" lvl="2" algn="just">
              <a:lnSpc>
                <a:spcPct val="120000"/>
              </a:lnSpc>
              <a:buSzPct val="85000"/>
            </a:pPr>
            <a:r>
              <a:rPr lang="en-US" sz="1400" b="1" dirty="0">
                <a:solidFill>
                  <a:srgbClr val="0000FF"/>
                </a:solidFill>
                <a:latin typeface="Perpetua" pitchFamily="18" charset="0"/>
                <a:ea typeface="新細明體" pitchFamily="18" charset="-120"/>
              </a:rPr>
              <a:t>                   | Ɛ</a:t>
            </a:r>
          </a:p>
          <a:p>
            <a:pPr marL="0" lvl="2" algn="just">
              <a:lnSpc>
                <a:spcPct val="120000"/>
              </a:lnSpc>
              <a:buSzPct val="85000"/>
            </a:pPr>
            <a:r>
              <a:rPr lang="en-US" sz="1400" b="1" dirty="0">
                <a:solidFill>
                  <a:srgbClr val="0000FF"/>
                </a:solidFill>
                <a:latin typeface="Perpetua" pitchFamily="18" charset="0"/>
                <a:ea typeface="新細明體" pitchFamily="18" charset="-120"/>
              </a:rPr>
              <a:t>           expr </a:t>
            </a:r>
            <a:r>
              <a:rPr lang="en-US" altLang="zh-CN" sz="1400" b="1" dirty="0">
                <a:solidFill>
                  <a:srgbClr val="0000FF"/>
                </a:solidFill>
                <a:latin typeface="Perpetua" pitchFamily="18" charset="0"/>
                <a:ea typeface="新細明體" pitchFamily="18" charset="-120"/>
                <a:sym typeface="Symbol" pitchFamily="-80" charset="2"/>
              </a:rPr>
              <a:t> </a:t>
            </a:r>
            <a:r>
              <a:rPr lang="en-US" sz="1400" b="1" dirty="0">
                <a:solidFill>
                  <a:srgbClr val="0000FF"/>
                </a:solidFill>
                <a:latin typeface="Perpetua" pitchFamily="18" charset="0"/>
                <a:ea typeface="新細明體" pitchFamily="18" charset="-120"/>
              </a:rPr>
              <a:t>term relop term</a:t>
            </a:r>
          </a:p>
          <a:p>
            <a:pPr marL="0" lvl="2" algn="just">
              <a:lnSpc>
                <a:spcPct val="120000"/>
              </a:lnSpc>
              <a:buSzPct val="85000"/>
            </a:pPr>
            <a:r>
              <a:rPr lang="en-US" sz="1400" b="1" dirty="0">
                <a:solidFill>
                  <a:srgbClr val="0000FF"/>
                </a:solidFill>
                <a:latin typeface="Perpetua" pitchFamily="18" charset="0"/>
                <a:ea typeface="新細明體" pitchFamily="18" charset="-120"/>
              </a:rPr>
              <a:t>                   |  term</a:t>
            </a:r>
          </a:p>
          <a:p>
            <a:pPr marL="0" lvl="2" algn="just">
              <a:lnSpc>
                <a:spcPct val="120000"/>
              </a:lnSpc>
              <a:buSzPct val="85000"/>
            </a:pPr>
            <a:r>
              <a:rPr lang="en-US" sz="1400" b="1" dirty="0">
                <a:solidFill>
                  <a:srgbClr val="0000FF"/>
                </a:solidFill>
                <a:latin typeface="Perpetua" pitchFamily="18" charset="0"/>
                <a:ea typeface="新細明體" pitchFamily="18" charset="-120"/>
              </a:rPr>
              <a:t>            term </a:t>
            </a:r>
            <a:r>
              <a:rPr lang="en-US" altLang="zh-CN" sz="1400" b="1" dirty="0">
                <a:solidFill>
                  <a:srgbClr val="0000FF"/>
                </a:solidFill>
                <a:latin typeface="Perpetua" pitchFamily="18" charset="0"/>
                <a:ea typeface="新細明體" pitchFamily="18" charset="-120"/>
                <a:sym typeface="Symbol" pitchFamily="-80" charset="2"/>
              </a:rPr>
              <a:t> </a:t>
            </a:r>
            <a:r>
              <a:rPr lang="en-US" sz="1400" b="1" dirty="0">
                <a:solidFill>
                  <a:srgbClr val="0000FF"/>
                </a:solidFill>
                <a:latin typeface="Perpetua" pitchFamily="18" charset="0"/>
                <a:ea typeface="新細明體" pitchFamily="18" charset="-120"/>
              </a:rPr>
              <a:t> id</a:t>
            </a:r>
          </a:p>
          <a:p>
            <a:pPr marL="0" lvl="2" algn="just">
              <a:lnSpc>
                <a:spcPct val="120000"/>
              </a:lnSpc>
              <a:buSzPct val="85000"/>
            </a:pPr>
            <a:r>
              <a:rPr lang="en-US" sz="1400" b="1" dirty="0">
                <a:solidFill>
                  <a:srgbClr val="0000FF"/>
                </a:solidFill>
                <a:latin typeface="Perpetua" pitchFamily="18" charset="0"/>
                <a:ea typeface="新細明體" pitchFamily="18" charset="-120"/>
              </a:rPr>
              <a:t>                   |  number</a:t>
            </a:r>
          </a:p>
          <a:p>
            <a:pPr marL="0" lvl="2" algn="just">
              <a:lnSpc>
                <a:spcPct val="140000"/>
              </a:lnSpc>
              <a:buSzPct val="85000"/>
            </a:pPr>
            <a:endParaRPr lang="en-US" dirty="0">
              <a:latin typeface="Perpetua" pitchFamily="18" charset="0"/>
              <a:ea typeface="新細明體" pitchFamily="18" charset="-120"/>
            </a:endParaRPr>
          </a:p>
        </p:txBody>
      </p:sp>
      <p:sp>
        <p:nvSpPr>
          <p:cNvPr id="5" name="TextShape 2"/>
          <p:cNvSpPr txBox="1"/>
          <p:nvPr/>
        </p:nvSpPr>
        <p:spPr>
          <a:xfrm>
            <a:off x="3276600" y="2807109"/>
            <a:ext cx="5217740" cy="2933760"/>
          </a:xfrm>
          <a:prstGeom prst="rect">
            <a:avLst/>
          </a:prstGeom>
        </p:spPr>
        <p:txBody>
          <a:bodyPr/>
          <a:lstStyle/>
          <a:p>
            <a:pPr marL="342900" lvl="2" indent="-342900" algn="just">
              <a:lnSpc>
                <a:spcPct val="130000"/>
              </a:lnSpc>
              <a:buSzPct val="85000"/>
              <a:buFont typeface="+mj-lt"/>
              <a:buAutoNum type="arabicPeriod" startAt="2"/>
            </a:pPr>
            <a:r>
              <a:rPr lang="en-US" dirty="0"/>
              <a:t>The next step is to formalize the patterns:</a:t>
            </a:r>
          </a:p>
          <a:p>
            <a:pPr lvl="1">
              <a:lnSpc>
                <a:spcPct val="130000"/>
              </a:lnSpc>
            </a:pPr>
            <a:r>
              <a:rPr lang="en-US" sz="1400" b="1" dirty="0">
                <a:solidFill>
                  <a:srgbClr val="0000FF"/>
                </a:solidFill>
                <a:latin typeface="Perpetua" pitchFamily="18" charset="0"/>
              </a:rPr>
              <a:t>    digit </a:t>
            </a:r>
            <a:r>
              <a:rPr lang="en-US" altLang="zh-CN" sz="1400" b="1" dirty="0">
                <a:solidFill>
                  <a:srgbClr val="0000FF"/>
                </a:solidFill>
                <a:latin typeface="Perpetua" pitchFamily="18" charset="0"/>
                <a:ea typeface="新細明體" pitchFamily="18" charset="-120"/>
                <a:sym typeface="Symbol" pitchFamily="-80" charset="2"/>
              </a:rPr>
              <a:t></a:t>
            </a:r>
            <a:r>
              <a:rPr lang="en-US" sz="1400" b="1" dirty="0">
                <a:solidFill>
                  <a:srgbClr val="0000FF"/>
                </a:solidFill>
                <a:latin typeface="Perpetua" pitchFamily="18" charset="0"/>
              </a:rPr>
              <a:t> [0-9]</a:t>
            </a:r>
          </a:p>
          <a:p>
            <a:pPr lvl="1">
              <a:lnSpc>
                <a:spcPct val="120000"/>
              </a:lnSpc>
            </a:pPr>
            <a:r>
              <a:rPr lang="en-US" sz="1400" b="1" dirty="0">
                <a:solidFill>
                  <a:srgbClr val="0000FF"/>
                </a:solidFill>
                <a:latin typeface="Perpetua" pitchFamily="18" charset="0"/>
              </a:rPr>
              <a:t>    Digits </a:t>
            </a:r>
            <a:r>
              <a:rPr lang="en-US" altLang="zh-CN" sz="1400" b="1" dirty="0">
                <a:solidFill>
                  <a:srgbClr val="0000FF"/>
                </a:solidFill>
                <a:latin typeface="Perpetua" pitchFamily="18" charset="0"/>
                <a:ea typeface="新細明體" pitchFamily="18" charset="-120"/>
                <a:sym typeface="Symbol" pitchFamily="-80" charset="2"/>
              </a:rPr>
              <a:t></a:t>
            </a:r>
            <a:r>
              <a:rPr lang="en-US" sz="1400" b="1" dirty="0">
                <a:solidFill>
                  <a:srgbClr val="0000FF"/>
                </a:solidFill>
                <a:latin typeface="Perpetua" pitchFamily="18" charset="0"/>
              </a:rPr>
              <a:t> digit+</a:t>
            </a:r>
          </a:p>
          <a:p>
            <a:pPr lvl="1">
              <a:lnSpc>
                <a:spcPct val="120000"/>
              </a:lnSpc>
            </a:pPr>
            <a:r>
              <a:rPr lang="en-US" sz="1400" b="1" dirty="0">
                <a:solidFill>
                  <a:srgbClr val="0000FF"/>
                </a:solidFill>
                <a:latin typeface="Perpetua" pitchFamily="18" charset="0"/>
              </a:rPr>
              <a:t>    number </a:t>
            </a:r>
            <a:r>
              <a:rPr lang="en-US" altLang="zh-CN" sz="1400" b="1" dirty="0">
                <a:solidFill>
                  <a:srgbClr val="0000FF"/>
                </a:solidFill>
                <a:latin typeface="Perpetua" pitchFamily="18" charset="0"/>
                <a:ea typeface="新細明體" pitchFamily="18" charset="-120"/>
                <a:sym typeface="Symbol" pitchFamily="-80" charset="2"/>
              </a:rPr>
              <a:t></a:t>
            </a:r>
            <a:r>
              <a:rPr lang="en-US" sz="1400" b="1" dirty="0">
                <a:solidFill>
                  <a:srgbClr val="0000FF"/>
                </a:solidFill>
                <a:latin typeface="Perpetua" pitchFamily="18" charset="0"/>
              </a:rPr>
              <a:t> digit(.digits)? (E[+-]? Digit)?</a:t>
            </a:r>
          </a:p>
          <a:p>
            <a:pPr lvl="1">
              <a:lnSpc>
                <a:spcPct val="120000"/>
              </a:lnSpc>
            </a:pPr>
            <a:r>
              <a:rPr lang="en-US" sz="1400" b="1" dirty="0">
                <a:solidFill>
                  <a:srgbClr val="0000FF"/>
                </a:solidFill>
                <a:latin typeface="Perpetua" pitchFamily="18" charset="0"/>
              </a:rPr>
              <a:t>    letter </a:t>
            </a:r>
            <a:r>
              <a:rPr lang="en-US" altLang="zh-CN" sz="1400" b="1" dirty="0">
                <a:solidFill>
                  <a:srgbClr val="0000FF"/>
                </a:solidFill>
                <a:latin typeface="Perpetua" pitchFamily="18" charset="0"/>
                <a:ea typeface="新細明體" pitchFamily="18" charset="-120"/>
                <a:sym typeface="Symbol" pitchFamily="-80" charset="2"/>
              </a:rPr>
              <a:t></a:t>
            </a:r>
            <a:r>
              <a:rPr lang="en-US" sz="1400" b="1" dirty="0">
                <a:solidFill>
                  <a:srgbClr val="0000FF"/>
                </a:solidFill>
                <a:latin typeface="Perpetua" pitchFamily="18" charset="0"/>
              </a:rPr>
              <a:t> [A-</a:t>
            </a:r>
            <a:r>
              <a:rPr lang="en-US" sz="1400" b="1" dirty="0" err="1">
                <a:solidFill>
                  <a:srgbClr val="0000FF"/>
                </a:solidFill>
                <a:latin typeface="Perpetua" pitchFamily="18" charset="0"/>
              </a:rPr>
              <a:t>Za</a:t>
            </a:r>
            <a:r>
              <a:rPr lang="en-US" sz="1400" b="1" dirty="0">
                <a:solidFill>
                  <a:srgbClr val="0000FF"/>
                </a:solidFill>
                <a:latin typeface="Perpetua" pitchFamily="18" charset="0"/>
              </a:rPr>
              <a:t>-z_]</a:t>
            </a:r>
          </a:p>
          <a:p>
            <a:pPr lvl="1">
              <a:lnSpc>
                <a:spcPct val="120000"/>
              </a:lnSpc>
            </a:pPr>
            <a:r>
              <a:rPr lang="en-US" sz="1400" b="1" dirty="0">
                <a:solidFill>
                  <a:srgbClr val="0000FF"/>
                </a:solidFill>
                <a:latin typeface="Perpetua" pitchFamily="18" charset="0"/>
              </a:rPr>
              <a:t>    id </a:t>
            </a:r>
            <a:r>
              <a:rPr lang="en-US" altLang="zh-CN" sz="1400" b="1" dirty="0">
                <a:solidFill>
                  <a:srgbClr val="0000FF"/>
                </a:solidFill>
                <a:latin typeface="Perpetua" pitchFamily="18" charset="0"/>
                <a:ea typeface="新細明體" pitchFamily="18" charset="-120"/>
                <a:sym typeface="Symbol" pitchFamily="-80" charset="2"/>
              </a:rPr>
              <a:t> </a:t>
            </a:r>
            <a:r>
              <a:rPr lang="en-US" sz="1400" b="1" dirty="0">
                <a:solidFill>
                  <a:srgbClr val="0000FF"/>
                </a:solidFill>
                <a:latin typeface="Perpetua" pitchFamily="18" charset="0"/>
              </a:rPr>
              <a:t>letter (</a:t>
            </a:r>
            <a:r>
              <a:rPr lang="en-US" sz="1400" b="1" dirty="0" err="1">
                <a:solidFill>
                  <a:srgbClr val="0000FF"/>
                </a:solidFill>
                <a:latin typeface="Perpetua" pitchFamily="18" charset="0"/>
              </a:rPr>
              <a:t>letter|digit</a:t>
            </a:r>
            <a:r>
              <a:rPr lang="en-US" sz="1400" b="1" dirty="0">
                <a:solidFill>
                  <a:srgbClr val="0000FF"/>
                </a:solidFill>
                <a:latin typeface="Perpetua" pitchFamily="18" charset="0"/>
              </a:rPr>
              <a:t>)*</a:t>
            </a:r>
          </a:p>
          <a:p>
            <a:pPr lvl="1">
              <a:lnSpc>
                <a:spcPct val="120000"/>
              </a:lnSpc>
            </a:pPr>
            <a:r>
              <a:rPr lang="en-US" sz="1400" b="1" dirty="0">
                <a:solidFill>
                  <a:srgbClr val="0000FF"/>
                </a:solidFill>
                <a:latin typeface="Perpetua" pitchFamily="18" charset="0"/>
              </a:rPr>
              <a:t>    If </a:t>
            </a:r>
            <a:r>
              <a:rPr lang="en-US" altLang="zh-CN" sz="1400" b="1" dirty="0">
                <a:solidFill>
                  <a:srgbClr val="0000FF"/>
                </a:solidFill>
                <a:latin typeface="Perpetua" pitchFamily="18" charset="0"/>
                <a:ea typeface="新細明體" pitchFamily="18" charset="-120"/>
                <a:sym typeface="Symbol" pitchFamily="-80" charset="2"/>
              </a:rPr>
              <a:t> </a:t>
            </a:r>
            <a:r>
              <a:rPr lang="en-US" sz="1400" b="1" dirty="0">
                <a:solidFill>
                  <a:srgbClr val="0000FF"/>
                </a:solidFill>
                <a:latin typeface="Perpetua" pitchFamily="18" charset="0"/>
              </a:rPr>
              <a:t> if</a:t>
            </a:r>
          </a:p>
          <a:p>
            <a:pPr lvl="1">
              <a:lnSpc>
                <a:spcPct val="120000"/>
              </a:lnSpc>
            </a:pPr>
            <a:r>
              <a:rPr lang="en-US" sz="1400" b="1" dirty="0">
                <a:solidFill>
                  <a:srgbClr val="0000FF"/>
                </a:solidFill>
                <a:latin typeface="Perpetua" pitchFamily="18" charset="0"/>
              </a:rPr>
              <a:t>    Then </a:t>
            </a:r>
            <a:r>
              <a:rPr lang="en-US" altLang="zh-CN" sz="1400" b="1" dirty="0">
                <a:solidFill>
                  <a:srgbClr val="0000FF"/>
                </a:solidFill>
                <a:latin typeface="Perpetua" pitchFamily="18" charset="0"/>
                <a:ea typeface="新細明體" pitchFamily="18" charset="-120"/>
                <a:sym typeface="Symbol" pitchFamily="-80" charset="2"/>
              </a:rPr>
              <a:t></a:t>
            </a:r>
            <a:r>
              <a:rPr lang="en-US" sz="1400" b="1" dirty="0">
                <a:solidFill>
                  <a:srgbClr val="0000FF"/>
                </a:solidFill>
                <a:latin typeface="Perpetua" pitchFamily="18" charset="0"/>
              </a:rPr>
              <a:t> then</a:t>
            </a:r>
          </a:p>
          <a:p>
            <a:pPr lvl="1">
              <a:lnSpc>
                <a:spcPct val="120000"/>
              </a:lnSpc>
            </a:pPr>
            <a:r>
              <a:rPr lang="en-US" sz="1400" b="1" dirty="0">
                <a:solidFill>
                  <a:srgbClr val="0000FF"/>
                </a:solidFill>
                <a:latin typeface="Perpetua" pitchFamily="18" charset="0"/>
              </a:rPr>
              <a:t>    Else </a:t>
            </a:r>
            <a:r>
              <a:rPr lang="en-US" altLang="zh-CN" sz="1400" b="1" dirty="0">
                <a:solidFill>
                  <a:srgbClr val="0000FF"/>
                </a:solidFill>
                <a:latin typeface="Perpetua" pitchFamily="18" charset="0"/>
                <a:ea typeface="新細明體" pitchFamily="18" charset="-120"/>
                <a:sym typeface="Symbol" pitchFamily="-80" charset="2"/>
              </a:rPr>
              <a:t> </a:t>
            </a:r>
            <a:r>
              <a:rPr lang="en-US" sz="1400" b="1" dirty="0">
                <a:solidFill>
                  <a:srgbClr val="0000FF"/>
                </a:solidFill>
                <a:latin typeface="Perpetua" pitchFamily="18" charset="0"/>
              </a:rPr>
              <a:t>else</a:t>
            </a:r>
          </a:p>
          <a:p>
            <a:pPr lvl="1">
              <a:lnSpc>
                <a:spcPct val="120000"/>
              </a:lnSpc>
            </a:pPr>
            <a:r>
              <a:rPr lang="en-US" sz="1400" b="1" dirty="0">
                <a:solidFill>
                  <a:srgbClr val="0000FF"/>
                </a:solidFill>
                <a:latin typeface="Perpetua" pitchFamily="18" charset="0"/>
              </a:rPr>
              <a:t>    </a:t>
            </a:r>
            <a:r>
              <a:rPr lang="en-US" sz="1400" b="1" dirty="0" err="1">
                <a:solidFill>
                  <a:srgbClr val="0000FF"/>
                </a:solidFill>
                <a:latin typeface="Perpetua" pitchFamily="18" charset="0"/>
              </a:rPr>
              <a:t>Relop</a:t>
            </a:r>
            <a:r>
              <a:rPr lang="en-US" sz="1400" b="1" dirty="0">
                <a:solidFill>
                  <a:srgbClr val="0000FF"/>
                </a:solidFill>
                <a:latin typeface="Perpetua" pitchFamily="18" charset="0"/>
              </a:rPr>
              <a:t> </a:t>
            </a:r>
            <a:r>
              <a:rPr lang="en-US" altLang="zh-CN" sz="1400" b="1" dirty="0">
                <a:solidFill>
                  <a:srgbClr val="0000FF"/>
                </a:solidFill>
                <a:latin typeface="Perpetua" pitchFamily="18" charset="0"/>
                <a:ea typeface="新細明體" pitchFamily="18" charset="-120"/>
                <a:sym typeface="Symbol" pitchFamily="-80" charset="2"/>
              </a:rPr>
              <a:t></a:t>
            </a:r>
            <a:r>
              <a:rPr lang="en-US" sz="1400" b="1" dirty="0">
                <a:solidFill>
                  <a:srgbClr val="0000FF"/>
                </a:solidFill>
                <a:latin typeface="Perpetua" pitchFamily="18" charset="0"/>
              </a:rPr>
              <a:t> &lt; | &gt; | &lt;= | &gt;= | = | &lt;&gt;</a:t>
            </a:r>
            <a:endParaRPr lang="en-US" sz="1400" dirty="0">
              <a:solidFill>
                <a:srgbClr val="000000"/>
              </a:solidFill>
              <a:latin typeface="Perpetua" pitchFamily="18" charset="0"/>
            </a:endParaRPr>
          </a:p>
        </p:txBody>
      </p:sp>
      <p:sp>
        <p:nvSpPr>
          <p:cNvPr id="7" name="TextShape 2"/>
          <p:cNvSpPr txBox="1"/>
          <p:nvPr/>
        </p:nvSpPr>
        <p:spPr>
          <a:xfrm>
            <a:off x="4672694" y="5740869"/>
            <a:ext cx="4002300" cy="964731"/>
          </a:xfrm>
          <a:prstGeom prst="rect">
            <a:avLst/>
          </a:prstGeom>
        </p:spPr>
        <p:txBody>
          <a:bodyPr/>
          <a:lstStyle/>
          <a:p>
            <a:pPr marL="342900" lvl="2" indent="-342900">
              <a:lnSpc>
                <a:spcPct val="150000"/>
              </a:lnSpc>
              <a:buSzPct val="85000"/>
              <a:buFont typeface="+mj-lt"/>
              <a:buAutoNum type="arabicPeriod" startAt="3"/>
            </a:pPr>
            <a:r>
              <a:rPr lang="en-US" dirty="0"/>
              <a:t>We also need to handle whitespaces:</a:t>
            </a:r>
          </a:p>
          <a:p>
            <a:pPr lvl="1">
              <a:lnSpc>
                <a:spcPct val="150000"/>
              </a:lnSpc>
            </a:pPr>
            <a:r>
              <a:rPr lang="en-US" sz="1700" b="1" dirty="0" err="1">
                <a:solidFill>
                  <a:srgbClr val="0000FF"/>
                </a:solidFill>
                <a:latin typeface="Perpetua" pitchFamily="18" charset="0"/>
              </a:rPr>
              <a:t>ws</a:t>
            </a:r>
            <a:r>
              <a:rPr lang="en-US" sz="1700" b="1" dirty="0">
                <a:solidFill>
                  <a:srgbClr val="0000FF"/>
                </a:solidFill>
                <a:latin typeface="Perpetua" pitchFamily="18" charset="0"/>
              </a:rPr>
              <a:t> </a:t>
            </a:r>
            <a:r>
              <a:rPr lang="en-US" altLang="zh-CN" sz="1700" b="1" dirty="0">
                <a:solidFill>
                  <a:srgbClr val="0000FF"/>
                </a:solidFill>
                <a:latin typeface="Perpetua" pitchFamily="18" charset="0"/>
                <a:ea typeface="新細明體" pitchFamily="18" charset="-120"/>
                <a:sym typeface="Symbol" pitchFamily="-80" charset="2"/>
              </a:rPr>
              <a:t></a:t>
            </a:r>
            <a:r>
              <a:rPr lang="en-US" sz="1700" b="1" dirty="0">
                <a:solidFill>
                  <a:srgbClr val="0000FF"/>
                </a:solidFill>
                <a:latin typeface="Perpetua" pitchFamily="18" charset="0"/>
              </a:rPr>
              <a:t> (blank | tab | newline</a:t>
            </a:r>
            <a:r>
              <a:rPr lang="en-US" sz="1700" b="1" baseline="30000" dirty="0">
                <a:solidFill>
                  <a:srgbClr val="0000FF"/>
                </a:solidFill>
                <a:latin typeface="Perpetua" pitchFamily="18" charset="0"/>
              </a:rPr>
              <a:t>)+</a:t>
            </a:r>
          </a:p>
          <a:p>
            <a:pPr marL="342900" lvl="2" indent="-342900" algn="just">
              <a:lnSpc>
                <a:spcPct val="140000"/>
              </a:lnSpc>
              <a:buSzPct val="85000"/>
              <a:buFont typeface="Webdings" pitchFamily="18" charset="2"/>
              <a:buChar char="ÿ"/>
            </a:pPr>
            <a:endParaRPr lang="en-US" dirty="0">
              <a:solidFill>
                <a:srgbClr val="000000"/>
              </a:solidFill>
              <a:latin typeface="Perpetua" pitchFamily="18" charset="0"/>
            </a:endParaRPr>
          </a:p>
        </p:txBody>
      </p:sp>
      <p:sp>
        <p:nvSpPr>
          <p:cNvPr id="3" name="Slide Number Placeholder 2"/>
          <p:cNvSpPr>
            <a:spLocks noGrp="1"/>
          </p:cNvSpPr>
          <p:nvPr>
            <p:ph type="sldNum" sz="quarter" idx="12"/>
          </p:nvPr>
        </p:nvSpPr>
        <p:spPr/>
        <p:txBody>
          <a:bodyPr/>
          <a:lstStyle/>
          <a:p>
            <a:fld id="{C2C343A0-757D-4032-BC20-DF0A67BD0A50}" type="slidenum">
              <a:rPr lang="en-US" smtClean="0"/>
              <a:t>38</a:t>
            </a:fld>
            <a:endParaRPr lang="en-US"/>
          </a:p>
        </p:txBody>
      </p:sp>
    </p:spTree>
    <p:extLst>
      <p:ext uri="{BB962C8B-B14F-4D97-AF65-F5344CB8AC3E}">
        <p14:creationId xmlns:p14="http://schemas.microsoft.com/office/powerpoint/2010/main" val="3574154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Recognitions of Tokens</a:t>
            </a:r>
          </a:p>
        </p:txBody>
      </p:sp>
      <p:sp>
        <p:nvSpPr>
          <p:cNvPr id="3" name="Content Placeholder 2"/>
          <p:cNvSpPr>
            <a:spLocks noGrp="1"/>
          </p:cNvSpPr>
          <p:nvPr>
            <p:ph idx="1"/>
          </p:nvPr>
        </p:nvSpPr>
        <p:spPr>
          <a:xfrm>
            <a:off x="457200" y="1600200"/>
            <a:ext cx="8382000" cy="5105400"/>
          </a:xfrm>
        </p:spPr>
        <p:txBody>
          <a:bodyPr>
            <a:normAutofit fontScale="77500" lnSpcReduction="20000"/>
          </a:bodyPr>
          <a:lstStyle/>
          <a:p>
            <a:r>
              <a:rPr lang="en-US" dirty="0"/>
              <a:t>To understand the recognition of  tokens, consider the regular expression of tokens, together with attribute values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 </a:t>
            </a:r>
          </a:p>
        </p:txBody>
      </p:sp>
      <p:graphicFrame>
        <p:nvGraphicFramePr>
          <p:cNvPr id="4" name="Table 3"/>
          <p:cNvGraphicFramePr>
            <a:graphicFrameLocks noGrp="1"/>
          </p:cNvGraphicFramePr>
          <p:nvPr>
            <p:extLst>
              <p:ext uri="{D42A27DB-BD31-4B8C-83A1-F6EECF244321}">
                <p14:modId xmlns:p14="http://schemas.microsoft.com/office/powerpoint/2010/main" val="2676422361"/>
              </p:ext>
            </p:extLst>
          </p:nvPr>
        </p:nvGraphicFramePr>
        <p:xfrm>
          <a:off x="332415" y="2362200"/>
          <a:ext cx="4322224" cy="3764280"/>
        </p:xfrm>
        <a:graphic>
          <a:graphicData uri="http://schemas.openxmlformats.org/drawingml/2006/table">
            <a:tbl>
              <a:tblPr firstRow="1" bandRow="1">
                <a:tableStyleId>{5C22544A-7EE6-4342-B048-85BDC9FD1C3A}</a:tableStyleId>
              </a:tblPr>
              <a:tblGrid>
                <a:gridCol w="1110031">
                  <a:extLst>
                    <a:ext uri="{9D8B030D-6E8A-4147-A177-3AD203B41FA5}">
                      <a16:colId xmlns:a16="http://schemas.microsoft.com/office/drawing/2014/main" val="20000"/>
                    </a:ext>
                  </a:extLst>
                </a:gridCol>
                <a:gridCol w="1332037">
                  <a:extLst>
                    <a:ext uri="{9D8B030D-6E8A-4147-A177-3AD203B41FA5}">
                      <a16:colId xmlns:a16="http://schemas.microsoft.com/office/drawing/2014/main" val="20001"/>
                    </a:ext>
                  </a:extLst>
                </a:gridCol>
                <a:gridCol w="1880156">
                  <a:extLst>
                    <a:ext uri="{9D8B030D-6E8A-4147-A177-3AD203B41FA5}">
                      <a16:colId xmlns:a16="http://schemas.microsoft.com/office/drawing/2014/main" val="20002"/>
                    </a:ext>
                  </a:extLst>
                </a:gridCol>
              </a:tblGrid>
              <a:tr h="279400">
                <a:tc>
                  <a:txBody>
                    <a:bodyPr/>
                    <a:lstStyle/>
                    <a:p>
                      <a:r>
                        <a:rPr lang="en-US" sz="1300" dirty="0"/>
                        <a:t>Lexemes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Token Names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Attribute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64222">
                <a:tc>
                  <a:txBody>
                    <a:bodyPr/>
                    <a:lstStyle/>
                    <a:p>
                      <a:pPr algn="ctr"/>
                      <a:r>
                        <a:rPr lang="en-US" sz="1300" dirty="0"/>
                        <a:t>Any </a:t>
                      </a:r>
                      <a:r>
                        <a:rPr lang="en-US" sz="1300" dirty="0" err="1"/>
                        <a:t>ws</a:t>
                      </a:r>
                      <a:endParaRPr lang="en-US"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a:t>
                      </a:r>
                      <a:endParaRPr lang="en-US"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64222">
                <a:tc>
                  <a:txBody>
                    <a:bodyPr/>
                    <a:lstStyle/>
                    <a:p>
                      <a:pPr algn="ctr"/>
                      <a:r>
                        <a:rPr lang="en-US" sz="1300" dirty="0">
                          <a:solidFill>
                            <a:schemeClr val="dk1"/>
                          </a:solidFill>
                          <a:latin typeface="+mn-lt"/>
                          <a:ea typeface="+mn-ea"/>
                          <a:cs typeface="+mn-cs"/>
                        </a:rPr>
                        <a:t>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a:t>
                      </a:r>
                      <a:endParaRPr lang="en-US"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64222">
                <a:tc>
                  <a:txBody>
                    <a:bodyPr/>
                    <a:lstStyle/>
                    <a:p>
                      <a:pPr algn="ctr"/>
                      <a:r>
                        <a:rPr lang="en-US" sz="1300" dirty="0">
                          <a:solidFill>
                            <a:schemeClr val="dk1"/>
                          </a:solidFill>
                          <a:latin typeface="+mn-lt"/>
                          <a:ea typeface="+mn-ea"/>
                          <a:cs typeface="+mn-cs"/>
                        </a:rPr>
                        <a:t>then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then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a:t>
                      </a:r>
                      <a:endParaRPr lang="en-US"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64222">
                <a:tc>
                  <a:txBody>
                    <a:bodyPr/>
                    <a:lstStyle/>
                    <a:p>
                      <a:pPr algn="ctr"/>
                      <a:r>
                        <a:rPr lang="en-US" sz="1300" dirty="0">
                          <a:solidFill>
                            <a:schemeClr val="dk1"/>
                          </a:solidFill>
                          <a:latin typeface="+mn-lt"/>
                          <a:ea typeface="+mn-ea"/>
                          <a:cs typeface="+mn-cs"/>
                        </a:rPr>
                        <a:t>else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else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64222">
                <a:tc>
                  <a:txBody>
                    <a:bodyPr/>
                    <a:lstStyle/>
                    <a:p>
                      <a:pPr algn="ctr"/>
                      <a:r>
                        <a:rPr lang="en-US" sz="1300" dirty="0">
                          <a:solidFill>
                            <a:schemeClr val="dk1"/>
                          </a:solidFill>
                          <a:latin typeface="+mn-lt"/>
                          <a:ea typeface="+mn-ea"/>
                          <a:cs typeface="+mn-cs"/>
                        </a:rPr>
                        <a:t>Any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solidFill>
                            <a:schemeClr val="dk1"/>
                          </a:solidFill>
                          <a:latin typeface="+mn-lt"/>
                          <a:ea typeface="+mn-ea"/>
                          <a:cs typeface="+mn-cs"/>
                        </a:rPr>
                        <a:t>Pointer to table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64222">
                <a:tc>
                  <a:txBody>
                    <a:bodyPr/>
                    <a:lstStyle/>
                    <a:p>
                      <a:pPr marL="0" marR="0" indent="0" algn="ctr" defTabSz="914400" eaLnBrk="1" fontAlgn="auto" latinLnBrk="0" hangingPunct="1">
                        <a:lnSpc>
                          <a:spcPct val="100000"/>
                        </a:lnSpc>
                        <a:spcBef>
                          <a:spcPts val="0"/>
                        </a:spcBef>
                        <a:spcAft>
                          <a:spcPts val="0"/>
                        </a:spcAft>
                        <a:buClrTx/>
                        <a:buSzTx/>
                        <a:buFontTx/>
                        <a:buNone/>
                        <a:tabLst/>
                        <a:defRPr/>
                      </a:pPr>
                      <a:r>
                        <a:rPr lang="en-US" sz="1300" dirty="0">
                          <a:solidFill>
                            <a:schemeClr val="dk1"/>
                          </a:solidFill>
                          <a:latin typeface="+mn-lt"/>
                          <a:ea typeface="+mn-ea"/>
                          <a:cs typeface="+mn-cs"/>
                        </a:rPr>
                        <a:t>Any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eaLnBrk="1" fontAlgn="auto" latinLnBrk="0" hangingPunct="1">
                        <a:lnSpc>
                          <a:spcPct val="100000"/>
                        </a:lnSpc>
                        <a:spcBef>
                          <a:spcPts val="0"/>
                        </a:spcBef>
                        <a:spcAft>
                          <a:spcPts val="0"/>
                        </a:spcAft>
                        <a:buClrTx/>
                        <a:buSzTx/>
                        <a:buFontTx/>
                        <a:buNone/>
                        <a:tabLst/>
                        <a:defRPr/>
                      </a:pPr>
                      <a:r>
                        <a:rPr lang="en-US" sz="1200" dirty="0">
                          <a:solidFill>
                            <a:schemeClr val="dk1"/>
                          </a:solidFill>
                          <a:latin typeface="+mn-lt"/>
                          <a:ea typeface="+mn-ea"/>
                          <a:cs typeface="+mn-cs"/>
                        </a:rPr>
                        <a:t>Pointer to table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64222">
                <a:tc>
                  <a:txBody>
                    <a:bodyPr/>
                    <a:lstStyle/>
                    <a:p>
                      <a:pPr algn="ctr"/>
                      <a:r>
                        <a:rPr lang="en-US" sz="1300" dirty="0">
                          <a:solidFill>
                            <a:schemeClr val="dk1"/>
                          </a:solidFill>
                          <a:latin typeface="+mn-lt"/>
                          <a:ea typeface="+mn-ea"/>
                          <a:cs typeface="+mn-cs"/>
                        </a:rPr>
                        <a:t>&lt;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relop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64222">
                <a:tc>
                  <a:txBody>
                    <a:bodyPr/>
                    <a:lstStyle/>
                    <a:p>
                      <a:pPr algn="ctr"/>
                      <a:r>
                        <a:rPr lang="en-US" sz="1300" dirty="0">
                          <a:solidFill>
                            <a:schemeClr val="dk1"/>
                          </a:solidFill>
                          <a:latin typeface="+mn-lt"/>
                          <a:ea typeface="+mn-ea"/>
                          <a:cs typeface="+mn-cs"/>
                        </a:rPr>
                        <a:t>&lt;=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eaLnBrk="1" fontAlgn="auto" latinLnBrk="0" hangingPunct="1">
                        <a:lnSpc>
                          <a:spcPct val="100000"/>
                        </a:lnSpc>
                        <a:spcBef>
                          <a:spcPts val="0"/>
                        </a:spcBef>
                        <a:spcAft>
                          <a:spcPts val="0"/>
                        </a:spcAft>
                        <a:buClrTx/>
                        <a:buSzTx/>
                        <a:buFontTx/>
                        <a:buNone/>
                        <a:tabLst/>
                        <a:defRPr/>
                      </a:pPr>
                      <a:r>
                        <a:rPr lang="en-US" sz="1300" dirty="0">
                          <a:solidFill>
                            <a:schemeClr val="dk1"/>
                          </a:solidFill>
                          <a:latin typeface="+mn-lt"/>
                          <a:ea typeface="+mn-ea"/>
                          <a:cs typeface="+mn-cs"/>
                        </a:rPr>
                        <a:t>relop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64222">
                <a:tc>
                  <a:txBody>
                    <a:bodyPr/>
                    <a:lstStyle/>
                    <a:p>
                      <a:pPr algn="ctr"/>
                      <a:r>
                        <a:rPr lang="en-US" sz="1300" dirty="0">
                          <a:solidFill>
                            <a:schemeClr val="dk1"/>
                          </a:solidFill>
                          <a:latin typeface="+mn-lt"/>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eaLnBrk="1" fontAlgn="auto" latinLnBrk="0" hangingPunct="1">
                        <a:lnSpc>
                          <a:spcPct val="100000"/>
                        </a:lnSpc>
                        <a:spcBef>
                          <a:spcPts val="0"/>
                        </a:spcBef>
                        <a:spcAft>
                          <a:spcPts val="0"/>
                        </a:spcAft>
                        <a:buClrTx/>
                        <a:buSzTx/>
                        <a:buFontTx/>
                        <a:buNone/>
                        <a:tabLst/>
                        <a:defRPr/>
                      </a:pPr>
                      <a:r>
                        <a:rPr lang="en-US" sz="1300" dirty="0">
                          <a:solidFill>
                            <a:schemeClr val="dk1"/>
                          </a:solidFill>
                          <a:latin typeface="+mn-lt"/>
                          <a:ea typeface="+mn-ea"/>
                          <a:cs typeface="+mn-cs"/>
                        </a:rPr>
                        <a:t>relop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EQ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64222">
                <a:tc>
                  <a:txBody>
                    <a:bodyPr/>
                    <a:lstStyle/>
                    <a:p>
                      <a:pPr algn="ctr"/>
                      <a:r>
                        <a:rPr lang="en-US" sz="1300" dirty="0">
                          <a:solidFill>
                            <a:schemeClr val="dk1"/>
                          </a:solidFill>
                          <a:latin typeface="+mn-lt"/>
                          <a:ea typeface="+mn-ea"/>
                          <a:cs typeface="+mn-cs"/>
                        </a:rPr>
                        <a:t>&lt;&gt;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eaLnBrk="1" fontAlgn="auto" latinLnBrk="0" hangingPunct="1">
                        <a:lnSpc>
                          <a:spcPct val="100000"/>
                        </a:lnSpc>
                        <a:spcBef>
                          <a:spcPts val="0"/>
                        </a:spcBef>
                        <a:spcAft>
                          <a:spcPts val="0"/>
                        </a:spcAft>
                        <a:buClrTx/>
                        <a:buSzTx/>
                        <a:buFontTx/>
                        <a:buNone/>
                        <a:tabLst/>
                        <a:defRPr/>
                      </a:pPr>
                      <a:r>
                        <a:rPr lang="en-US" sz="1300" dirty="0">
                          <a:solidFill>
                            <a:schemeClr val="dk1"/>
                          </a:solidFill>
                          <a:latin typeface="+mn-lt"/>
                          <a:ea typeface="+mn-ea"/>
                          <a:cs typeface="+mn-cs"/>
                        </a:rPr>
                        <a:t>relop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64222">
                <a:tc>
                  <a:txBody>
                    <a:bodyPr/>
                    <a:lstStyle/>
                    <a:p>
                      <a:pPr algn="ctr"/>
                      <a:r>
                        <a:rPr lang="en-US" sz="1300" dirty="0">
                          <a:solidFill>
                            <a:schemeClr val="dk1"/>
                          </a:solidFill>
                          <a:latin typeface="+mn-lt"/>
                          <a:ea typeface="+mn-ea"/>
                          <a:cs typeface="+mn-cs"/>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eaLnBrk="1" fontAlgn="auto" latinLnBrk="0" hangingPunct="1">
                        <a:lnSpc>
                          <a:spcPct val="100000"/>
                        </a:lnSpc>
                        <a:spcBef>
                          <a:spcPts val="0"/>
                        </a:spcBef>
                        <a:spcAft>
                          <a:spcPts val="0"/>
                        </a:spcAft>
                        <a:buClrTx/>
                        <a:buSzTx/>
                        <a:buFontTx/>
                        <a:buNone/>
                        <a:tabLst/>
                        <a:defRPr/>
                      </a:pPr>
                      <a:r>
                        <a:rPr lang="en-US" sz="1300" dirty="0">
                          <a:solidFill>
                            <a:schemeClr val="dk1"/>
                          </a:solidFill>
                          <a:latin typeface="+mn-lt"/>
                          <a:ea typeface="+mn-ea"/>
                          <a:cs typeface="+mn-cs"/>
                        </a:rPr>
                        <a:t>relop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64222">
                <a:tc>
                  <a:txBody>
                    <a:bodyPr/>
                    <a:lstStyle/>
                    <a:p>
                      <a:pPr algn="ctr"/>
                      <a:r>
                        <a:rPr lang="en-US" sz="1300" dirty="0">
                          <a:solidFill>
                            <a:schemeClr val="dk1"/>
                          </a:solidFill>
                          <a:latin typeface="+mn-lt"/>
                          <a:ea typeface="+mn-ea"/>
                          <a:cs typeface="+mn-cs"/>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eaLnBrk="1" fontAlgn="auto" latinLnBrk="0" hangingPunct="1">
                        <a:lnSpc>
                          <a:spcPct val="100000"/>
                        </a:lnSpc>
                        <a:spcBef>
                          <a:spcPts val="0"/>
                        </a:spcBef>
                        <a:spcAft>
                          <a:spcPts val="0"/>
                        </a:spcAft>
                        <a:buClrTx/>
                        <a:buSzTx/>
                        <a:buFontTx/>
                        <a:buNone/>
                        <a:tabLst/>
                        <a:defRPr/>
                      </a:pPr>
                      <a:r>
                        <a:rPr lang="en-US" sz="1300" dirty="0">
                          <a:solidFill>
                            <a:schemeClr val="dk1"/>
                          </a:solidFill>
                          <a:latin typeface="+mn-lt"/>
                          <a:ea typeface="+mn-ea"/>
                          <a:cs typeface="+mn-cs"/>
                        </a:rPr>
                        <a:t>relop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solidFill>
                            <a:schemeClr val="dk1"/>
                          </a:solidFill>
                          <a:latin typeface="+mn-lt"/>
                          <a:ea typeface="+mn-ea"/>
                          <a:cs typeface="+mn-cs"/>
                        </a:rPr>
                        <a:t>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5" name="TextBox 4"/>
          <p:cNvSpPr txBox="1"/>
          <p:nvPr/>
        </p:nvSpPr>
        <p:spPr>
          <a:xfrm>
            <a:off x="4779425" y="2602468"/>
            <a:ext cx="4059775" cy="369332"/>
          </a:xfrm>
          <a:prstGeom prst="rect">
            <a:avLst/>
          </a:prstGeom>
          <a:noFill/>
        </p:spPr>
        <p:txBody>
          <a:bodyPr wrap="square" rtlCol="0">
            <a:spAutoFit/>
          </a:bodyPr>
          <a:lstStyle/>
          <a:p>
            <a:pPr marL="285750" indent="-285750">
              <a:buFont typeface="Arial" panose="020B0604020202020204" pitchFamily="34" charset="0"/>
              <a:buChar char="•"/>
            </a:pPr>
            <a:r>
              <a:rPr lang="en-US" dirty="0"/>
              <a:t>Transition diagram  for  </a:t>
            </a:r>
            <a:r>
              <a:rPr lang="en-US" b="1" dirty="0" err="1"/>
              <a:t>relop</a:t>
            </a:r>
            <a:r>
              <a:rPr lang="en-US" b="1" dirty="0"/>
              <a:t> </a:t>
            </a:r>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276600"/>
            <a:ext cx="4236367" cy="292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C2C343A0-757D-4032-BC20-DF0A67BD0A50}" type="slidenum">
              <a:rPr lang="en-US" smtClean="0"/>
              <a:t>39</a:t>
            </a:fld>
            <a:endParaRPr lang="en-US"/>
          </a:p>
        </p:txBody>
      </p:sp>
    </p:spTree>
    <p:extLst>
      <p:ext uri="{BB962C8B-B14F-4D97-AF65-F5344CB8AC3E}">
        <p14:creationId xmlns:p14="http://schemas.microsoft.com/office/powerpoint/2010/main" val="570210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Recognitions of Tokens</a:t>
            </a:r>
          </a:p>
        </p:txBody>
      </p:sp>
      <p:sp>
        <p:nvSpPr>
          <p:cNvPr id="3" name="Content Placeholder 2"/>
          <p:cNvSpPr>
            <a:spLocks noGrp="1"/>
          </p:cNvSpPr>
          <p:nvPr>
            <p:ph idx="1"/>
          </p:nvPr>
        </p:nvSpPr>
        <p:spPr>
          <a:xfrm>
            <a:off x="457200" y="1600200"/>
            <a:ext cx="8382000" cy="5105400"/>
          </a:xfrm>
        </p:spPr>
        <p:txBody>
          <a:bodyPr>
            <a:normAutofit fontScale="62500" lnSpcReduction="20000"/>
          </a:bodyPr>
          <a:lstStyle/>
          <a:p>
            <a:r>
              <a:rPr lang="en-US" dirty="0"/>
              <a:t>Transition diagram Transition diagram for </a:t>
            </a:r>
            <a:r>
              <a:rPr lang="en-US" b="1" i="1" dirty="0"/>
              <a:t>reserved words </a:t>
            </a:r>
            <a:r>
              <a:rPr lang="en-US" dirty="0"/>
              <a:t>and </a:t>
            </a:r>
            <a:r>
              <a:rPr lang="en-US" b="1" i="1" dirty="0"/>
              <a:t>identifiers</a:t>
            </a:r>
            <a:r>
              <a:rPr lang="en-US" dirty="0"/>
              <a:t>:</a:t>
            </a:r>
          </a:p>
          <a:p>
            <a:endParaRPr lang="en-US" dirty="0"/>
          </a:p>
          <a:p>
            <a:endParaRPr lang="en-US" dirty="0"/>
          </a:p>
          <a:p>
            <a:endParaRPr lang="en-US" dirty="0"/>
          </a:p>
          <a:p>
            <a:r>
              <a:rPr lang="en-US" dirty="0"/>
              <a:t>Transition diagram for </a:t>
            </a:r>
            <a:r>
              <a:rPr lang="en-US" b="1" i="1" dirty="0"/>
              <a:t>unsigned numbers</a:t>
            </a:r>
            <a:r>
              <a:rPr lang="en-US" dirty="0"/>
              <a:t>:</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Transition diagram for </a:t>
            </a:r>
            <a:r>
              <a:rPr lang="en-US" b="1" i="1" dirty="0"/>
              <a:t>white spaces </a:t>
            </a:r>
            <a:r>
              <a:rPr lang="en-US" dirty="0"/>
              <a:t>where </a:t>
            </a:r>
            <a:r>
              <a:rPr lang="en-US" b="1" i="1" dirty="0" err="1"/>
              <a:t>delim</a:t>
            </a:r>
            <a:r>
              <a:rPr lang="en-US" dirty="0"/>
              <a:t> represents one or more whitespace characters:</a:t>
            </a:r>
          </a:p>
          <a:p>
            <a:pPr marL="0" indent="0">
              <a:buNone/>
            </a:pPr>
            <a:endParaRPr lang="en-US" dirty="0"/>
          </a:p>
          <a:p>
            <a:pPr marL="0" indent="0">
              <a:buNone/>
            </a:pPr>
            <a:r>
              <a:rPr lang="en-US" dirty="0"/>
              <a:t> </a:t>
            </a:r>
          </a:p>
        </p:txBody>
      </p:sp>
      <p:pic>
        <p:nvPicPr>
          <p:cNvPr id="1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05000"/>
            <a:ext cx="5715000" cy="810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202908"/>
            <a:ext cx="6324599" cy="2056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5638800"/>
            <a:ext cx="3179700" cy="1052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p:cNvSpPr txBox="1"/>
          <p:nvPr/>
        </p:nvSpPr>
        <p:spPr>
          <a:xfrm>
            <a:off x="6858489" y="2008604"/>
            <a:ext cx="2056911" cy="2862322"/>
          </a:xfrm>
          <a:prstGeom prst="rect">
            <a:avLst/>
          </a:prstGeom>
          <a:noFill/>
        </p:spPr>
        <p:txBody>
          <a:bodyPr wrap="square" rtlCol="0">
            <a:spAutoFit/>
          </a:bodyPr>
          <a:lstStyle/>
          <a:p>
            <a:pPr marL="285750" indent="-285750">
              <a:buFont typeface="Arial" panose="020B0604020202020204" pitchFamily="34" charset="0"/>
              <a:buChar char="•"/>
            </a:pPr>
            <a:r>
              <a:rPr lang="en-US" dirty="0"/>
              <a:t>‘</a:t>
            </a:r>
            <a:r>
              <a:rPr lang="en-US" b="1" dirty="0">
                <a:latin typeface="Courier New" panose="02070309020205020404" pitchFamily="49" charset="0"/>
                <a:cs typeface="Courier New" panose="02070309020205020404" pitchFamily="49" charset="0"/>
              </a:rPr>
              <a:t>*</a:t>
            </a:r>
            <a:r>
              <a:rPr lang="en-US" dirty="0"/>
              <a:t>’ indicates the </a:t>
            </a:r>
            <a:r>
              <a:rPr lang="en-US" b="1" i="1" dirty="0"/>
              <a:t>retraction state</a:t>
            </a:r>
            <a:r>
              <a:rPr lang="en-US" dirty="0"/>
              <a:t>.</a:t>
            </a:r>
          </a:p>
          <a:p>
            <a:pPr marL="285750" indent="-285750">
              <a:buFont typeface="Arial" panose="020B0604020202020204" pitchFamily="34" charset="0"/>
              <a:buChar char="•"/>
            </a:pPr>
            <a:r>
              <a:rPr lang="en-US" b="1" i="1" dirty="0" err="1">
                <a:latin typeface="Courier New" panose="02070309020205020404" pitchFamily="49" charset="0"/>
                <a:cs typeface="Courier New" panose="02070309020205020404" pitchFamily="49" charset="0"/>
              </a:rPr>
              <a:t>getToken</a:t>
            </a:r>
            <a:r>
              <a:rPr lang="en-US" b="1" dirty="0">
                <a:latin typeface="Courier New" panose="02070309020205020404" pitchFamily="49" charset="0"/>
                <a:cs typeface="Courier New" panose="02070309020205020404" pitchFamily="49" charset="0"/>
              </a:rPr>
              <a:t>()</a:t>
            </a:r>
            <a:r>
              <a:rPr lang="en-US" dirty="0"/>
              <a:t> searches a table to check if the </a:t>
            </a:r>
            <a:r>
              <a:rPr lang="en-US" b="1" i="1" dirty="0"/>
              <a:t>name</a:t>
            </a:r>
            <a:r>
              <a:rPr lang="en-US" dirty="0"/>
              <a:t> is a reserved word and returns its integer code if so.</a:t>
            </a:r>
          </a:p>
        </p:txBody>
      </p:sp>
      <p:sp>
        <p:nvSpPr>
          <p:cNvPr id="4" name="Slide Number Placeholder 3"/>
          <p:cNvSpPr>
            <a:spLocks noGrp="1"/>
          </p:cNvSpPr>
          <p:nvPr>
            <p:ph type="sldNum" sz="quarter" idx="12"/>
          </p:nvPr>
        </p:nvSpPr>
        <p:spPr/>
        <p:txBody>
          <a:bodyPr/>
          <a:lstStyle/>
          <a:p>
            <a:fld id="{C2C343A0-757D-4032-BC20-DF0A67BD0A50}" type="slidenum">
              <a:rPr lang="en-US" smtClean="0"/>
              <a:t>40</a:t>
            </a:fld>
            <a:endParaRPr lang="en-US"/>
          </a:p>
        </p:txBody>
      </p:sp>
    </p:spTree>
    <p:extLst>
      <p:ext uri="{BB962C8B-B14F-4D97-AF65-F5344CB8AC3E}">
        <p14:creationId xmlns:p14="http://schemas.microsoft.com/office/powerpoint/2010/main" val="16156613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alphaModFix/>
            <a:extLst>
              <a:ext uri="{BEBA8EAE-BF5A-486C-A8C5-ECC9F3942E4B}">
                <a14:imgProps xmlns:a14="http://schemas.microsoft.com/office/drawing/2010/main">
                  <a14:imgLayer r:embed="rId3">
                    <a14:imgEffect>
                      <a14:brightnessContrast contrast="20000"/>
                    </a14:imgEffect>
                  </a14:imgLayer>
                </a14:imgProps>
              </a:ext>
            </a:extLst>
          </a:blip>
          <a:srcRect/>
          <a:stretch>
            <a:fillRect/>
          </a:stretch>
        </p:blipFill>
        <p:spPr>
          <a:xfrm>
            <a:off x="1066801" y="2579629"/>
            <a:ext cx="7467600" cy="4125971"/>
          </a:xfrm>
          <a:prstGeom prst="rect">
            <a:avLst/>
          </a:prstGeom>
          <a:noFill/>
          <a:ln>
            <a:noFill/>
          </a:ln>
        </p:spPr>
      </p:pic>
      <p:sp>
        <p:nvSpPr>
          <p:cNvPr id="2" name="Title 1"/>
          <p:cNvSpPr>
            <a:spLocks noGrp="1"/>
          </p:cNvSpPr>
          <p:nvPr>
            <p:ph type="title"/>
          </p:nvPr>
        </p:nvSpPr>
        <p:spPr/>
        <p:txBody>
          <a:bodyPr/>
          <a:lstStyle/>
          <a:p>
            <a:pPr algn="l"/>
            <a:r>
              <a:rPr lang="en-US" b="1" dirty="0"/>
              <a:t>Recognitions of Tokens</a:t>
            </a:r>
          </a:p>
        </p:txBody>
      </p:sp>
      <p:sp>
        <p:nvSpPr>
          <p:cNvPr id="3" name="Content Placeholder 2"/>
          <p:cNvSpPr>
            <a:spLocks noGrp="1"/>
          </p:cNvSpPr>
          <p:nvPr>
            <p:ph idx="1"/>
          </p:nvPr>
        </p:nvSpPr>
        <p:spPr>
          <a:xfrm>
            <a:off x="457200" y="1600200"/>
            <a:ext cx="8382000" cy="5105400"/>
          </a:xfrm>
        </p:spPr>
        <p:txBody>
          <a:bodyPr>
            <a:normAutofit fontScale="70000" lnSpcReduction="20000"/>
          </a:bodyPr>
          <a:lstStyle/>
          <a:p>
            <a:pPr lvl="0">
              <a:buSzPct val="45000"/>
              <a:buFont typeface="StarSymbol"/>
              <a:buChar char="●"/>
            </a:pPr>
            <a:r>
              <a:rPr lang="en-US" dirty="0"/>
              <a:t>In a similar way, transition diagrams for other program constructs can be designed as follows:</a:t>
            </a:r>
          </a:p>
          <a:p>
            <a:pPr>
              <a:buSzPct val="45000"/>
              <a:buFont typeface="StarSymbol"/>
              <a:buChar char="●"/>
            </a:pPr>
            <a:r>
              <a:rPr lang="en-US" dirty="0"/>
              <a:t>For </a:t>
            </a:r>
            <a:r>
              <a:rPr lang="en-US" b="1" dirty="0"/>
              <a:t>hexadecimal</a:t>
            </a:r>
            <a:r>
              <a:rPr lang="en-US" dirty="0"/>
              <a:t> and </a:t>
            </a:r>
            <a:r>
              <a:rPr lang="en-US" b="1" dirty="0"/>
              <a:t>octal constants</a:t>
            </a:r>
            <a:r>
              <a:rPr lang="en-US" dirty="0"/>
              <a:t>:</a:t>
            </a:r>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marL="0" lvl="0" indent="0">
              <a:buSzPct val="45000"/>
              <a:buNone/>
            </a:pPr>
            <a:r>
              <a:rPr lang="en-US" dirty="0"/>
              <a:t> </a:t>
            </a:r>
          </a:p>
        </p:txBody>
      </p:sp>
      <p:sp>
        <p:nvSpPr>
          <p:cNvPr id="4" name="Slide Number Placeholder 3"/>
          <p:cNvSpPr>
            <a:spLocks noGrp="1"/>
          </p:cNvSpPr>
          <p:nvPr>
            <p:ph type="sldNum" sz="quarter" idx="12"/>
          </p:nvPr>
        </p:nvSpPr>
        <p:spPr/>
        <p:txBody>
          <a:bodyPr/>
          <a:lstStyle/>
          <a:p>
            <a:fld id="{C2C343A0-757D-4032-BC20-DF0A67BD0A50}" type="slidenum">
              <a:rPr lang="en-US" smtClean="0"/>
              <a:t>41</a:t>
            </a:fld>
            <a:endParaRPr lang="en-US"/>
          </a:p>
        </p:txBody>
      </p:sp>
    </p:spTree>
    <p:extLst>
      <p:ext uri="{BB962C8B-B14F-4D97-AF65-F5344CB8AC3E}">
        <p14:creationId xmlns:p14="http://schemas.microsoft.com/office/powerpoint/2010/main" val="3168906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82000" cy="5105400"/>
          </a:xfrm>
        </p:spPr>
        <p:txBody>
          <a:bodyPr>
            <a:normAutofit/>
          </a:bodyPr>
          <a:lstStyle/>
          <a:p>
            <a:pPr lvl="0">
              <a:buSzPct val="45000"/>
              <a:buFont typeface="StarSymbol"/>
              <a:buChar char="●"/>
            </a:pPr>
            <a:r>
              <a:rPr lang="en-US" dirty="0"/>
              <a:t>For </a:t>
            </a:r>
            <a:r>
              <a:rPr lang="en-US" b="1" dirty="0"/>
              <a:t>Integer constants</a:t>
            </a:r>
            <a:r>
              <a:rPr lang="en-US" dirty="0"/>
              <a:t>:</a:t>
            </a:r>
          </a:p>
        </p:txBody>
      </p:sp>
      <p:sp>
        <p:nvSpPr>
          <p:cNvPr id="2" name="Title 1"/>
          <p:cNvSpPr>
            <a:spLocks noGrp="1"/>
          </p:cNvSpPr>
          <p:nvPr>
            <p:ph type="title"/>
          </p:nvPr>
        </p:nvSpPr>
        <p:spPr/>
        <p:txBody>
          <a:bodyPr/>
          <a:lstStyle/>
          <a:p>
            <a:pPr algn="l"/>
            <a:r>
              <a:rPr lang="en-US" b="1" dirty="0"/>
              <a:t>Recognitions of Tokens</a:t>
            </a:r>
          </a:p>
        </p:txBody>
      </p:sp>
      <p:pic>
        <p:nvPicPr>
          <p:cNvPr id="5" name="Picture 4"/>
          <p:cNvPicPr>
            <a:picLocks noChangeAspect="1"/>
          </p:cNvPicPr>
          <p:nvPr/>
        </p:nvPicPr>
        <p:blipFill>
          <a:blip r:embed="rId2">
            <a:alphaModFix/>
          </a:blip>
          <a:srcRect/>
          <a:stretch>
            <a:fillRect/>
          </a:stretch>
        </p:blipFill>
        <p:spPr>
          <a:xfrm>
            <a:off x="914399" y="2438400"/>
            <a:ext cx="6788727" cy="3733800"/>
          </a:xfrm>
          <a:prstGeom prst="rect">
            <a:avLst/>
          </a:prstGeom>
          <a:noFill/>
          <a:ln>
            <a:noFill/>
          </a:ln>
        </p:spPr>
      </p:pic>
      <p:sp>
        <p:nvSpPr>
          <p:cNvPr id="4" name="Slide Number Placeholder 3"/>
          <p:cNvSpPr>
            <a:spLocks noGrp="1"/>
          </p:cNvSpPr>
          <p:nvPr>
            <p:ph type="sldNum" sz="quarter" idx="12"/>
          </p:nvPr>
        </p:nvSpPr>
        <p:spPr/>
        <p:txBody>
          <a:bodyPr/>
          <a:lstStyle/>
          <a:p>
            <a:fld id="{C2C343A0-757D-4032-BC20-DF0A67BD0A50}" type="slidenum">
              <a:rPr lang="en-US" smtClean="0"/>
              <a:t>42</a:t>
            </a:fld>
            <a:endParaRPr lang="en-US"/>
          </a:p>
        </p:txBody>
      </p:sp>
    </p:spTree>
    <p:extLst>
      <p:ext uri="{BB962C8B-B14F-4D97-AF65-F5344CB8AC3E}">
        <p14:creationId xmlns:p14="http://schemas.microsoft.com/office/powerpoint/2010/main" val="35132387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82000" cy="5105400"/>
          </a:xfrm>
        </p:spPr>
        <p:txBody>
          <a:bodyPr>
            <a:normAutofit/>
          </a:bodyPr>
          <a:lstStyle/>
          <a:p>
            <a:pPr lvl="0">
              <a:buSzPct val="45000"/>
              <a:buFont typeface="StarSymbol"/>
              <a:buChar char="●"/>
            </a:pPr>
            <a:r>
              <a:rPr lang="en-US" dirty="0"/>
              <a:t>For </a:t>
            </a:r>
            <a:r>
              <a:rPr lang="en-US" b="1" dirty="0"/>
              <a:t>Real constants</a:t>
            </a:r>
            <a:r>
              <a:rPr lang="en-US" dirty="0"/>
              <a:t>:</a:t>
            </a:r>
          </a:p>
        </p:txBody>
      </p:sp>
      <p:sp>
        <p:nvSpPr>
          <p:cNvPr id="2" name="Title 1"/>
          <p:cNvSpPr>
            <a:spLocks noGrp="1"/>
          </p:cNvSpPr>
          <p:nvPr>
            <p:ph type="title"/>
          </p:nvPr>
        </p:nvSpPr>
        <p:spPr/>
        <p:txBody>
          <a:bodyPr/>
          <a:lstStyle/>
          <a:p>
            <a:pPr algn="l"/>
            <a:r>
              <a:rPr lang="en-US" b="1" dirty="0"/>
              <a:t>Recognitions of Tokens</a:t>
            </a:r>
          </a:p>
        </p:txBody>
      </p:sp>
      <p:pic>
        <p:nvPicPr>
          <p:cNvPr id="6" name="Picture 5"/>
          <p:cNvPicPr>
            <a:picLocks noChangeAspect="1"/>
          </p:cNvPicPr>
          <p:nvPr/>
        </p:nvPicPr>
        <p:blipFill>
          <a:blip r:embed="rId2">
            <a:alphaModFix/>
            <a:extLst>
              <a:ext uri="{BEBA8EAE-BF5A-486C-A8C5-ECC9F3942E4B}">
                <a14:imgProps xmlns:a14="http://schemas.microsoft.com/office/drawing/2010/main">
                  <a14:imgLayer r:embed="rId3">
                    <a14:imgEffect>
                      <a14:brightnessContrast contrast="40000"/>
                    </a14:imgEffect>
                  </a14:imgLayer>
                </a14:imgProps>
              </a:ext>
            </a:extLst>
          </a:blip>
          <a:srcRect/>
          <a:stretch>
            <a:fillRect/>
          </a:stretch>
        </p:blipFill>
        <p:spPr>
          <a:xfrm>
            <a:off x="568847" y="2514600"/>
            <a:ext cx="8270353" cy="3810000"/>
          </a:xfrm>
          <a:prstGeom prst="rect">
            <a:avLst/>
          </a:prstGeom>
          <a:noFill/>
          <a:ln>
            <a:noFill/>
          </a:ln>
        </p:spPr>
      </p:pic>
      <p:sp>
        <p:nvSpPr>
          <p:cNvPr id="4" name="Slide Number Placeholder 3"/>
          <p:cNvSpPr>
            <a:spLocks noGrp="1"/>
          </p:cNvSpPr>
          <p:nvPr>
            <p:ph type="sldNum" sz="quarter" idx="12"/>
          </p:nvPr>
        </p:nvSpPr>
        <p:spPr/>
        <p:txBody>
          <a:bodyPr/>
          <a:lstStyle/>
          <a:p>
            <a:fld id="{C2C343A0-757D-4032-BC20-DF0A67BD0A50}" type="slidenum">
              <a:rPr lang="en-US" smtClean="0"/>
              <a:t>43</a:t>
            </a:fld>
            <a:endParaRPr lang="en-US"/>
          </a:p>
        </p:txBody>
      </p:sp>
    </p:spTree>
    <p:extLst>
      <p:ext uri="{BB962C8B-B14F-4D97-AF65-F5344CB8AC3E}">
        <p14:creationId xmlns:p14="http://schemas.microsoft.com/office/powerpoint/2010/main" val="42448814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82000" cy="5105400"/>
          </a:xfrm>
        </p:spPr>
        <p:txBody>
          <a:bodyPr>
            <a:normAutofit/>
          </a:bodyPr>
          <a:lstStyle/>
          <a:p>
            <a:pPr lvl="0">
              <a:buSzPct val="45000"/>
              <a:buFont typeface="StarSymbol"/>
              <a:buChar char="●"/>
            </a:pPr>
            <a:r>
              <a:rPr lang="en-US" dirty="0"/>
              <a:t>For </a:t>
            </a:r>
            <a:r>
              <a:rPr lang="en-US" b="1" dirty="0"/>
              <a:t>a few operators</a:t>
            </a:r>
            <a:r>
              <a:rPr lang="en-US" dirty="0"/>
              <a:t>:</a:t>
            </a:r>
          </a:p>
        </p:txBody>
      </p:sp>
      <p:sp>
        <p:nvSpPr>
          <p:cNvPr id="2" name="Title 1"/>
          <p:cNvSpPr>
            <a:spLocks noGrp="1"/>
          </p:cNvSpPr>
          <p:nvPr>
            <p:ph type="title"/>
          </p:nvPr>
        </p:nvSpPr>
        <p:spPr/>
        <p:txBody>
          <a:bodyPr/>
          <a:lstStyle/>
          <a:p>
            <a:pPr algn="l"/>
            <a:r>
              <a:rPr lang="en-US" b="1" dirty="0"/>
              <a:t>Recognitions of Tokens</a:t>
            </a:r>
          </a:p>
        </p:txBody>
      </p:sp>
      <p:pic>
        <p:nvPicPr>
          <p:cNvPr id="5" name="Picture 4"/>
          <p:cNvPicPr>
            <a:picLocks noChangeAspect="1"/>
          </p:cNvPicPr>
          <p:nvPr/>
        </p:nvPicPr>
        <p:blipFill>
          <a:blip r:embed="rId2">
            <a:alphaModFix/>
            <a:extLst>
              <a:ext uri="{BEBA8EAE-BF5A-486C-A8C5-ECC9F3942E4B}">
                <a14:imgProps xmlns:a14="http://schemas.microsoft.com/office/drawing/2010/main">
                  <a14:imgLayer r:embed="rId3">
                    <a14:imgEffect>
                      <a14:brightnessContrast contrast="40000"/>
                    </a14:imgEffect>
                  </a14:imgLayer>
                </a14:imgProps>
              </a:ext>
            </a:extLst>
          </a:blip>
          <a:srcRect/>
          <a:stretch>
            <a:fillRect/>
          </a:stretch>
        </p:blipFill>
        <p:spPr>
          <a:xfrm>
            <a:off x="685800" y="2209800"/>
            <a:ext cx="7866394" cy="4038600"/>
          </a:xfrm>
          <a:prstGeom prst="rect">
            <a:avLst/>
          </a:prstGeom>
          <a:noFill/>
          <a:ln>
            <a:noFill/>
          </a:ln>
        </p:spPr>
      </p:pic>
      <p:sp>
        <p:nvSpPr>
          <p:cNvPr id="4" name="Slide Number Placeholder 3"/>
          <p:cNvSpPr>
            <a:spLocks noGrp="1"/>
          </p:cNvSpPr>
          <p:nvPr>
            <p:ph type="sldNum" sz="quarter" idx="12"/>
          </p:nvPr>
        </p:nvSpPr>
        <p:spPr/>
        <p:txBody>
          <a:bodyPr/>
          <a:lstStyle/>
          <a:p>
            <a:fld id="{C2C343A0-757D-4032-BC20-DF0A67BD0A50}" type="slidenum">
              <a:rPr lang="en-US" smtClean="0"/>
              <a:t>44</a:t>
            </a:fld>
            <a:endParaRPr lang="en-US"/>
          </a:p>
        </p:txBody>
      </p:sp>
    </p:spTree>
    <p:extLst>
      <p:ext uri="{BB962C8B-B14F-4D97-AF65-F5344CB8AC3E}">
        <p14:creationId xmlns:p14="http://schemas.microsoft.com/office/powerpoint/2010/main" val="3904205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82000" cy="5105400"/>
          </a:xfrm>
        </p:spPr>
        <p:txBody>
          <a:bodyPr>
            <a:normAutofit fontScale="85000" lnSpcReduction="20000"/>
          </a:bodyPr>
          <a:lstStyle/>
          <a:p>
            <a:pPr lvl="0">
              <a:buSzPct val="45000"/>
              <a:buFont typeface="StarSymbol"/>
              <a:buChar char="●"/>
            </a:pPr>
            <a:r>
              <a:rPr lang="en-US" dirty="0"/>
              <a:t>Different transition diagrams must be combined appropriately to yield a Lexical Analyzer.</a:t>
            </a:r>
          </a:p>
          <a:p>
            <a:pPr lvl="1">
              <a:buSzPct val="45000"/>
              <a:buFont typeface="StarSymbol"/>
              <a:buChar char="●"/>
            </a:pPr>
            <a:r>
              <a:rPr lang="en-US" dirty="0"/>
              <a:t>Combining TDs is not trivial</a:t>
            </a:r>
          </a:p>
          <a:p>
            <a:pPr lvl="1">
              <a:buSzPct val="45000"/>
              <a:buFont typeface="StarSymbol"/>
              <a:buChar char="●"/>
            </a:pPr>
            <a:r>
              <a:rPr lang="en-US" dirty="0"/>
              <a:t>It is possible to try different transition diagrams one after another</a:t>
            </a:r>
          </a:p>
          <a:p>
            <a:pPr lvl="1">
              <a:buSzPct val="45000"/>
              <a:buFont typeface="StarSymbol"/>
              <a:buChar char="●"/>
            </a:pPr>
            <a:r>
              <a:rPr lang="en-US" dirty="0"/>
              <a:t>For example, TDs for reserved words, constants, identifiers, and operators could be tried in that order</a:t>
            </a:r>
          </a:p>
          <a:p>
            <a:pPr lvl="1">
              <a:buSzPct val="45000"/>
              <a:buFont typeface="StarSymbol"/>
              <a:buChar char="●"/>
            </a:pPr>
            <a:r>
              <a:rPr lang="en-US" dirty="0"/>
              <a:t>However, this does not use the “</a:t>
            </a:r>
            <a:r>
              <a:rPr lang="en-US" b="1" i="1" dirty="0"/>
              <a:t>longest match</a:t>
            </a:r>
            <a:r>
              <a:rPr lang="en-US" dirty="0"/>
              <a:t>" characteristic (the </a:t>
            </a:r>
            <a:r>
              <a:rPr lang="en-US" b="1" i="1" dirty="0"/>
              <a:t>next</a:t>
            </a:r>
            <a:r>
              <a:rPr lang="en-US" dirty="0"/>
              <a:t> would be an identifier, and not reserved word then followed by identifier </a:t>
            </a:r>
            <a:r>
              <a:rPr lang="en-US" b="1" i="1" dirty="0" err="1"/>
              <a:t>ext</a:t>
            </a:r>
            <a:r>
              <a:rPr lang="en-US" dirty="0"/>
              <a:t>)</a:t>
            </a:r>
          </a:p>
          <a:p>
            <a:pPr lvl="1">
              <a:buSzPct val="45000"/>
              <a:buFont typeface="StarSymbol"/>
              <a:buChar char="●"/>
            </a:pPr>
            <a:r>
              <a:rPr lang="en-US" dirty="0"/>
              <a:t>To find the longest match, all TDs must be tried and the longest match must be used</a:t>
            </a:r>
          </a:p>
          <a:p>
            <a:pPr lvl="1">
              <a:buSzPct val="45000"/>
              <a:buFont typeface="StarSymbol"/>
              <a:buChar char="●"/>
            </a:pPr>
            <a:r>
              <a:rPr lang="en-US" dirty="0"/>
              <a:t>Using LEX to generate a lexical analyzer makes it easy for the compiler writer</a:t>
            </a:r>
          </a:p>
        </p:txBody>
      </p:sp>
      <p:sp>
        <p:nvSpPr>
          <p:cNvPr id="2" name="Title 1"/>
          <p:cNvSpPr>
            <a:spLocks noGrp="1"/>
          </p:cNvSpPr>
          <p:nvPr>
            <p:ph type="title"/>
          </p:nvPr>
        </p:nvSpPr>
        <p:spPr/>
        <p:txBody>
          <a:bodyPr>
            <a:normAutofit/>
          </a:bodyPr>
          <a:lstStyle/>
          <a:p>
            <a:pPr algn="l"/>
            <a:r>
              <a:rPr lang="en-US" sz="3600" b="1" dirty="0"/>
              <a:t>Combining TDs to form Lexical Analyzer</a:t>
            </a:r>
          </a:p>
        </p:txBody>
      </p:sp>
      <p:sp>
        <p:nvSpPr>
          <p:cNvPr id="4" name="Slide Number Placeholder 3"/>
          <p:cNvSpPr>
            <a:spLocks noGrp="1"/>
          </p:cNvSpPr>
          <p:nvPr>
            <p:ph type="sldNum" sz="quarter" idx="12"/>
          </p:nvPr>
        </p:nvSpPr>
        <p:spPr/>
        <p:txBody>
          <a:bodyPr/>
          <a:lstStyle/>
          <a:p>
            <a:fld id="{C2C343A0-757D-4032-BC20-DF0A67BD0A50}" type="slidenum">
              <a:rPr lang="en-US" smtClean="0"/>
              <a:t>45</a:t>
            </a:fld>
            <a:endParaRPr lang="en-US"/>
          </a:p>
        </p:txBody>
      </p:sp>
    </p:spTree>
    <p:extLst>
      <p:ext uri="{BB962C8B-B14F-4D97-AF65-F5344CB8AC3E}">
        <p14:creationId xmlns:p14="http://schemas.microsoft.com/office/powerpoint/2010/main" val="8133870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82000" cy="5105400"/>
          </a:xfrm>
        </p:spPr>
        <p:txBody>
          <a:bodyPr>
            <a:normAutofit fontScale="77500" lnSpcReduction="20000"/>
          </a:bodyPr>
          <a:lstStyle/>
          <a:p>
            <a:pPr lvl="0">
              <a:buSzPct val="45000"/>
              <a:buFont typeface="StarSymbol"/>
              <a:buChar char="●"/>
            </a:pPr>
            <a:r>
              <a:rPr lang="en-US" dirty="0"/>
              <a:t>The following code can be constructed by combining the transition diagrams:</a:t>
            </a:r>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marL="0" lvl="0" indent="0">
              <a:buSzPct val="45000"/>
              <a:buNone/>
            </a:pPr>
            <a:r>
              <a:rPr lang="en-US" dirty="0"/>
              <a:t> </a:t>
            </a:r>
          </a:p>
          <a:p>
            <a:pPr lvl="0">
              <a:buSzPct val="45000"/>
              <a:buFont typeface="StarSymbol"/>
              <a:buChar char="●"/>
            </a:pPr>
            <a:endParaRPr lang="en-US" dirty="0"/>
          </a:p>
        </p:txBody>
      </p:sp>
      <p:sp>
        <p:nvSpPr>
          <p:cNvPr id="2" name="Title 1"/>
          <p:cNvSpPr>
            <a:spLocks noGrp="1"/>
          </p:cNvSpPr>
          <p:nvPr>
            <p:ph type="title"/>
          </p:nvPr>
        </p:nvSpPr>
        <p:spPr/>
        <p:txBody>
          <a:bodyPr>
            <a:normAutofit/>
          </a:bodyPr>
          <a:lstStyle/>
          <a:p>
            <a:pPr algn="l"/>
            <a:r>
              <a:rPr lang="en-US" sz="3600" b="1" dirty="0"/>
              <a:t>Lexical Analyzer Implementation for TDs</a:t>
            </a:r>
          </a:p>
        </p:txBody>
      </p:sp>
      <p:pic>
        <p:nvPicPr>
          <p:cNvPr id="4" name="Picture 3"/>
          <p:cNvPicPr>
            <a:picLocks noChangeAspect="1"/>
          </p:cNvPicPr>
          <p:nvPr/>
        </p:nvPicPr>
        <p:blipFill>
          <a:blip r:embed="rId2">
            <a:alphaModFix/>
            <a:extLst>
              <a:ext uri="{BEBA8EAE-BF5A-486C-A8C5-ECC9F3942E4B}">
                <a14:imgProps xmlns:a14="http://schemas.microsoft.com/office/drawing/2010/main">
                  <a14:imgLayer r:embed="rId3">
                    <a14:imgEffect>
                      <a14:brightnessContrast contrast="-40000"/>
                    </a14:imgEffect>
                  </a14:imgLayer>
                </a14:imgProps>
              </a:ext>
            </a:extLst>
          </a:blip>
          <a:srcRect/>
          <a:stretch>
            <a:fillRect/>
          </a:stretch>
        </p:blipFill>
        <p:spPr>
          <a:xfrm>
            <a:off x="838200" y="2362200"/>
            <a:ext cx="7467600" cy="4240711"/>
          </a:xfrm>
          <a:prstGeom prst="rect">
            <a:avLst/>
          </a:prstGeom>
        </p:spPr>
      </p:pic>
      <p:sp>
        <p:nvSpPr>
          <p:cNvPr id="5" name="Slide Number Placeholder 4"/>
          <p:cNvSpPr>
            <a:spLocks noGrp="1"/>
          </p:cNvSpPr>
          <p:nvPr>
            <p:ph type="sldNum" sz="quarter" idx="12"/>
          </p:nvPr>
        </p:nvSpPr>
        <p:spPr/>
        <p:txBody>
          <a:bodyPr/>
          <a:lstStyle/>
          <a:p>
            <a:fld id="{C2C343A0-757D-4032-BC20-DF0A67BD0A50}" type="slidenum">
              <a:rPr lang="en-US" smtClean="0"/>
              <a:t>46</a:t>
            </a:fld>
            <a:endParaRPr lang="en-US"/>
          </a:p>
        </p:txBody>
      </p:sp>
    </p:spTree>
    <p:extLst>
      <p:ext uri="{BB962C8B-B14F-4D97-AF65-F5344CB8AC3E}">
        <p14:creationId xmlns:p14="http://schemas.microsoft.com/office/powerpoint/2010/main" val="31716354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82000" cy="5105400"/>
          </a:xfrm>
        </p:spPr>
        <p:txBody>
          <a:bodyPr>
            <a:normAutofit fontScale="92500" lnSpcReduction="20000"/>
          </a:bodyPr>
          <a:lstStyle/>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marL="0" lvl="0" indent="0">
              <a:buSzPct val="45000"/>
              <a:buNone/>
            </a:pPr>
            <a:r>
              <a:rPr lang="en-US" dirty="0"/>
              <a:t> </a:t>
            </a:r>
          </a:p>
          <a:p>
            <a:pPr lvl="0">
              <a:buSzPct val="45000"/>
              <a:buFont typeface="StarSymbol"/>
              <a:buChar char="●"/>
            </a:pPr>
            <a:endParaRPr lang="en-US" dirty="0"/>
          </a:p>
        </p:txBody>
      </p:sp>
      <p:sp>
        <p:nvSpPr>
          <p:cNvPr id="2" name="Title 1"/>
          <p:cNvSpPr>
            <a:spLocks noGrp="1"/>
          </p:cNvSpPr>
          <p:nvPr>
            <p:ph type="title"/>
          </p:nvPr>
        </p:nvSpPr>
        <p:spPr/>
        <p:txBody>
          <a:bodyPr>
            <a:normAutofit/>
          </a:bodyPr>
          <a:lstStyle/>
          <a:p>
            <a:pPr algn="l"/>
            <a:r>
              <a:rPr lang="en-US" sz="3600" b="1" dirty="0"/>
              <a:t>Lexical Analyzer Implementation for TDs</a:t>
            </a:r>
          </a:p>
        </p:txBody>
      </p:sp>
      <p:pic>
        <p:nvPicPr>
          <p:cNvPr id="5" name="Picture 4"/>
          <p:cNvPicPr>
            <a:picLocks noChangeAspect="1"/>
          </p:cNvPicPr>
          <p:nvPr/>
        </p:nvPicPr>
        <p:blipFill>
          <a:blip r:embed="rId2">
            <a:alphaModFix/>
            <a:extLst>
              <a:ext uri="{BEBA8EAE-BF5A-486C-A8C5-ECC9F3942E4B}">
                <a14:imgProps xmlns:a14="http://schemas.microsoft.com/office/drawing/2010/main">
                  <a14:imgLayer r:embed="rId3">
                    <a14:imgEffect>
                      <a14:brightnessContrast contrast="-40000"/>
                    </a14:imgEffect>
                  </a14:imgLayer>
                </a14:imgProps>
              </a:ext>
            </a:extLst>
          </a:blip>
          <a:srcRect/>
          <a:stretch>
            <a:fillRect/>
          </a:stretch>
        </p:blipFill>
        <p:spPr>
          <a:xfrm>
            <a:off x="457199" y="1600200"/>
            <a:ext cx="8319059" cy="4800600"/>
          </a:xfrm>
          <a:prstGeom prst="rect">
            <a:avLst/>
          </a:prstGeom>
          <a:noFill/>
          <a:ln>
            <a:noFill/>
          </a:ln>
        </p:spPr>
      </p:pic>
      <p:sp>
        <p:nvSpPr>
          <p:cNvPr id="4" name="Slide Number Placeholder 3"/>
          <p:cNvSpPr>
            <a:spLocks noGrp="1"/>
          </p:cNvSpPr>
          <p:nvPr>
            <p:ph type="sldNum" sz="quarter" idx="12"/>
          </p:nvPr>
        </p:nvSpPr>
        <p:spPr/>
        <p:txBody>
          <a:bodyPr/>
          <a:lstStyle/>
          <a:p>
            <a:fld id="{C2C343A0-757D-4032-BC20-DF0A67BD0A50}" type="slidenum">
              <a:rPr lang="en-US" smtClean="0"/>
              <a:t>47</a:t>
            </a:fld>
            <a:endParaRPr lang="en-US"/>
          </a:p>
        </p:txBody>
      </p:sp>
    </p:spTree>
    <p:extLst>
      <p:ext uri="{BB962C8B-B14F-4D97-AF65-F5344CB8AC3E}">
        <p14:creationId xmlns:p14="http://schemas.microsoft.com/office/powerpoint/2010/main" val="34231060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82000" cy="5105400"/>
          </a:xfrm>
        </p:spPr>
        <p:txBody>
          <a:bodyPr>
            <a:normAutofit fontScale="92500" lnSpcReduction="20000"/>
          </a:bodyPr>
          <a:lstStyle/>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marL="0" lvl="0" indent="0">
              <a:buSzPct val="45000"/>
              <a:buNone/>
            </a:pPr>
            <a:r>
              <a:rPr lang="en-US" dirty="0"/>
              <a:t> </a:t>
            </a:r>
          </a:p>
          <a:p>
            <a:pPr lvl="0">
              <a:buSzPct val="45000"/>
              <a:buFont typeface="StarSymbol"/>
              <a:buChar char="●"/>
            </a:pPr>
            <a:endParaRPr lang="en-US" dirty="0"/>
          </a:p>
        </p:txBody>
      </p:sp>
      <p:sp>
        <p:nvSpPr>
          <p:cNvPr id="2" name="Title 1"/>
          <p:cNvSpPr>
            <a:spLocks noGrp="1"/>
          </p:cNvSpPr>
          <p:nvPr>
            <p:ph type="title"/>
          </p:nvPr>
        </p:nvSpPr>
        <p:spPr/>
        <p:txBody>
          <a:bodyPr>
            <a:normAutofit/>
          </a:bodyPr>
          <a:lstStyle/>
          <a:p>
            <a:pPr algn="l"/>
            <a:r>
              <a:rPr lang="en-US" sz="3600" b="1" dirty="0"/>
              <a:t>Lexical Analyzer Implementation for TDs</a:t>
            </a:r>
          </a:p>
        </p:txBody>
      </p:sp>
      <p:pic>
        <p:nvPicPr>
          <p:cNvPr id="6" name="Picture 5"/>
          <p:cNvPicPr>
            <a:picLocks noChangeAspect="1"/>
          </p:cNvPicPr>
          <p:nvPr/>
        </p:nvPicPr>
        <p:blipFill>
          <a:blip r:embed="rId2">
            <a:alphaModFix/>
          </a:blip>
          <a:srcRect/>
          <a:stretch>
            <a:fillRect/>
          </a:stretch>
        </p:blipFill>
        <p:spPr>
          <a:xfrm>
            <a:off x="457200" y="1600200"/>
            <a:ext cx="7987417" cy="4876800"/>
          </a:xfrm>
          <a:prstGeom prst="rect">
            <a:avLst/>
          </a:prstGeom>
          <a:noFill/>
          <a:ln>
            <a:noFill/>
          </a:ln>
        </p:spPr>
      </p:pic>
      <p:sp>
        <p:nvSpPr>
          <p:cNvPr id="4" name="Slide Number Placeholder 3"/>
          <p:cNvSpPr>
            <a:spLocks noGrp="1"/>
          </p:cNvSpPr>
          <p:nvPr>
            <p:ph type="sldNum" sz="quarter" idx="12"/>
          </p:nvPr>
        </p:nvSpPr>
        <p:spPr/>
        <p:txBody>
          <a:bodyPr/>
          <a:lstStyle/>
          <a:p>
            <a:fld id="{C2C343A0-757D-4032-BC20-DF0A67BD0A50}" type="slidenum">
              <a:rPr lang="en-US" smtClean="0"/>
              <a:t>48</a:t>
            </a:fld>
            <a:endParaRPr lang="en-US"/>
          </a:p>
        </p:txBody>
      </p:sp>
    </p:spTree>
    <p:extLst>
      <p:ext uri="{BB962C8B-B14F-4D97-AF65-F5344CB8AC3E}">
        <p14:creationId xmlns:p14="http://schemas.microsoft.com/office/powerpoint/2010/main" val="24337714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82000" cy="5105400"/>
          </a:xfrm>
        </p:spPr>
        <p:txBody>
          <a:bodyPr>
            <a:normAutofit fontScale="92500" lnSpcReduction="20000"/>
          </a:bodyPr>
          <a:lstStyle/>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marL="0" lvl="0" indent="0">
              <a:buSzPct val="45000"/>
              <a:buNone/>
            </a:pPr>
            <a:r>
              <a:rPr lang="en-US" dirty="0"/>
              <a:t> </a:t>
            </a:r>
          </a:p>
          <a:p>
            <a:pPr lvl="0">
              <a:buSzPct val="45000"/>
              <a:buFont typeface="StarSymbol"/>
              <a:buChar char="●"/>
            </a:pPr>
            <a:endParaRPr lang="en-US" dirty="0"/>
          </a:p>
        </p:txBody>
      </p:sp>
      <p:sp>
        <p:nvSpPr>
          <p:cNvPr id="2" name="Title 1"/>
          <p:cNvSpPr>
            <a:spLocks noGrp="1"/>
          </p:cNvSpPr>
          <p:nvPr>
            <p:ph type="title"/>
          </p:nvPr>
        </p:nvSpPr>
        <p:spPr/>
        <p:txBody>
          <a:bodyPr>
            <a:normAutofit/>
          </a:bodyPr>
          <a:lstStyle/>
          <a:p>
            <a:pPr algn="l"/>
            <a:r>
              <a:rPr lang="en-US" sz="3600" b="1" dirty="0"/>
              <a:t>Lexical Analyzer Implementation for TDs</a:t>
            </a:r>
          </a:p>
        </p:txBody>
      </p:sp>
      <p:pic>
        <p:nvPicPr>
          <p:cNvPr id="5" name="Picture 4"/>
          <p:cNvPicPr>
            <a:picLocks noChangeAspect="1"/>
          </p:cNvPicPr>
          <p:nvPr/>
        </p:nvPicPr>
        <p:blipFill>
          <a:blip r:embed="rId2">
            <a:alphaModFix/>
          </a:blip>
          <a:srcRect/>
          <a:stretch>
            <a:fillRect/>
          </a:stretch>
        </p:blipFill>
        <p:spPr>
          <a:xfrm>
            <a:off x="463639" y="1600200"/>
            <a:ext cx="8003880" cy="4249800"/>
          </a:xfrm>
          <a:prstGeom prst="rect">
            <a:avLst/>
          </a:prstGeom>
          <a:noFill/>
          <a:ln>
            <a:noFill/>
          </a:ln>
        </p:spPr>
      </p:pic>
      <p:sp>
        <p:nvSpPr>
          <p:cNvPr id="4" name="Slide Number Placeholder 3"/>
          <p:cNvSpPr>
            <a:spLocks noGrp="1"/>
          </p:cNvSpPr>
          <p:nvPr>
            <p:ph type="sldNum" sz="quarter" idx="12"/>
          </p:nvPr>
        </p:nvSpPr>
        <p:spPr/>
        <p:txBody>
          <a:bodyPr/>
          <a:lstStyle/>
          <a:p>
            <a:fld id="{C2C343A0-757D-4032-BC20-DF0A67BD0A50}" type="slidenum">
              <a:rPr lang="en-US" smtClean="0"/>
              <a:t>49</a:t>
            </a:fld>
            <a:endParaRPr lang="en-US"/>
          </a:p>
        </p:txBody>
      </p:sp>
    </p:spTree>
    <p:extLst>
      <p:ext uri="{BB962C8B-B14F-4D97-AF65-F5344CB8AC3E}">
        <p14:creationId xmlns:p14="http://schemas.microsoft.com/office/powerpoint/2010/main" val="33204150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82000" cy="5105400"/>
          </a:xfrm>
        </p:spPr>
        <p:txBody>
          <a:bodyPr>
            <a:normAutofit fontScale="92500" lnSpcReduction="20000"/>
          </a:bodyPr>
          <a:lstStyle/>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lvl="0">
              <a:buSzPct val="45000"/>
              <a:buFont typeface="StarSymbol"/>
              <a:buChar char="●"/>
            </a:pPr>
            <a:endParaRPr lang="en-US" dirty="0"/>
          </a:p>
          <a:p>
            <a:pPr marL="0" lvl="0" indent="0">
              <a:buSzPct val="45000"/>
              <a:buNone/>
            </a:pPr>
            <a:r>
              <a:rPr lang="en-US" dirty="0"/>
              <a:t> </a:t>
            </a:r>
          </a:p>
          <a:p>
            <a:pPr lvl="0">
              <a:buSzPct val="45000"/>
              <a:buFont typeface="StarSymbol"/>
              <a:buChar char="●"/>
            </a:pPr>
            <a:endParaRPr lang="en-US" dirty="0"/>
          </a:p>
        </p:txBody>
      </p:sp>
      <p:sp>
        <p:nvSpPr>
          <p:cNvPr id="2" name="Title 1"/>
          <p:cNvSpPr>
            <a:spLocks noGrp="1"/>
          </p:cNvSpPr>
          <p:nvPr>
            <p:ph type="title"/>
          </p:nvPr>
        </p:nvSpPr>
        <p:spPr/>
        <p:txBody>
          <a:bodyPr>
            <a:normAutofit/>
          </a:bodyPr>
          <a:lstStyle/>
          <a:p>
            <a:pPr algn="l"/>
            <a:r>
              <a:rPr lang="en-US" sz="3600" b="1" dirty="0"/>
              <a:t>Lexical Analyzer Implementation for TDs</a:t>
            </a:r>
          </a:p>
        </p:txBody>
      </p:sp>
      <p:pic>
        <p:nvPicPr>
          <p:cNvPr id="6" name="Picture 5"/>
          <p:cNvPicPr>
            <a:picLocks noChangeAspect="1"/>
          </p:cNvPicPr>
          <p:nvPr/>
        </p:nvPicPr>
        <p:blipFill>
          <a:blip r:embed="rId2">
            <a:alphaModFix/>
            <a:extLst>
              <a:ext uri="{BEBA8EAE-BF5A-486C-A8C5-ECC9F3942E4B}">
                <a14:imgProps xmlns:a14="http://schemas.microsoft.com/office/drawing/2010/main">
                  <a14:imgLayer r:embed="rId3">
                    <a14:imgEffect>
                      <a14:brightnessContrast contrast="-40000"/>
                    </a14:imgEffect>
                  </a14:imgLayer>
                </a14:imgProps>
              </a:ext>
            </a:extLst>
          </a:blip>
          <a:srcRect/>
          <a:stretch>
            <a:fillRect/>
          </a:stretch>
        </p:blipFill>
        <p:spPr>
          <a:xfrm>
            <a:off x="457200" y="1600200"/>
            <a:ext cx="8001000" cy="4936794"/>
          </a:xfrm>
          <a:prstGeom prst="rect">
            <a:avLst/>
          </a:prstGeom>
          <a:noFill/>
          <a:ln>
            <a:noFill/>
          </a:ln>
        </p:spPr>
      </p:pic>
      <p:sp>
        <p:nvSpPr>
          <p:cNvPr id="4" name="Slide Number Placeholder 3"/>
          <p:cNvSpPr>
            <a:spLocks noGrp="1"/>
          </p:cNvSpPr>
          <p:nvPr>
            <p:ph type="sldNum" sz="quarter" idx="12"/>
          </p:nvPr>
        </p:nvSpPr>
        <p:spPr/>
        <p:txBody>
          <a:bodyPr/>
          <a:lstStyle/>
          <a:p>
            <a:fld id="{C2C343A0-757D-4032-BC20-DF0A67BD0A50}" type="slidenum">
              <a:rPr lang="en-US" smtClean="0"/>
              <a:t>50</a:t>
            </a:fld>
            <a:endParaRPr lang="en-US"/>
          </a:p>
        </p:txBody>
      </p:sp>
    </p:spTree>
    <p:extLst>
      <p:ext uri="{BB962C8B-B14F-4D97-AF65-F5344CB8AC3E}">
        <p14:creationId xmlns:p14="http://schemas.microsoft.com/office/powerpoint/2010/main" val="2772998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0"/>
            <a:ext cx="8229600" cy="1981200"/>
          </a:xfrm>
        </p:spPr>
        <p:txBody>
          <a:bodyPr>
            <a:normAutofit/>
          </a:bodyPr>
          <a:lstStyle/>
          <a:p>
            <a:r>
              <a:rPr lang="en-US" sz="6700" b="1" dirty="0"/>
              <a:t>Introduction to </a:t>
            </a:r>
            <a:r>
              <a:rPr lang="en-US" sz="6700" b="1" i="1" dirty="0"/>
              <a:t>Lex</a:t>
            </a:r>
            <a:br>
              <a:rPr lang="en-US" sz="3600" b="1" dirty="0"/>
            </a:br>
            <a:r>
              <a:rPr lang="en-US" sz="3600" b="1" dirty="0"/>
              <a:t>A lexical analyzer generator tool</a:t>
            </a:r>
          </a:p>
        </p:txBody>
      </p:sp>
      <p:sp>
        <p:nvSpPr>
          <p:cNvPr id="3" name="Slide Number Placeholder 2"/>
          <p:cNvSpPr>
            <a:spLocks noGrp="1"/>
          </p:cNvSpPr>
          <p:nvPr>
            <p:ph type="sldNum" sz="quarter" idx="12"/>
          </p:nvPr>
        </p:nvSpPr>
        <p:spPr/>
        <p:txBody>
          <a:bodyPr/>
          <a:lstStyle/>
          <a:p>
            <a:fld id="{C2C343A0-757D-4032-BC20-DF0A67BD0A50}" type="slidenum">
              <a:rPr lang="en-US" smtClean="0"/>
              <a:t>51</a:t>
            </a:fld>
            <a:endParaRPr lang="en-US"/>
          </a:p>
        </p:txBody>
      </p:sp>
    </p:spTree>
    <p:extLst>
      <p:ext uri="{BB962C8B-B14F-4D97-AF65-F5344CB8AC3E}">
        <p14:creationId xmlns:p14="http://schemas.microsoft.com/office/powerpoint/2010/main" val="38990912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Introduction to </a:t>
            </a:r>
            <a:r>
              <a:rPr lang="en-US" b="1" i="1" dirty="0"/>
              <a:t>Lex</a:t>
            </a:r>
          </a:p>
        </p:txBody>
      </p:sp>
      <p:sp>
        <p:nvSpPr>
          <p:cNvPr id="3" name="Content Placeholder 2"/>
          <p:cNvSpPr>
            <a:spLocks noGrp="1"/>
          </p:cNvSpPr>
          <p:nvPr>
            <p:ph idx="1"/>
          </p:nvPr>
        </p:nvSpPr>
        <p:spPr>
          <a:xfrm>
            <a:off x="457200" y="1600200"/>
            <a:ext cx="8458200" cy="5029200"/>
          </a:xfrm>
        </p:spPr>
        <p:txBody>
          <a:bodyPr>
            <a:normAutofit fontScale="62500" lnSpcReduction="20000"/>
          </a:bodyPr>
          <a:lstStyle/>
          <a:p>
            <a:r>
              <a:rPr lang="en-US" b="1" i="1" dirty="0"/>
              <a:t>LEX</a:t>
            </a:r>
            <a:r>
              <a:rPr lang="en-US" dirty="0"/>
              <a:t> – is </a:t>
            </a:r>
            <a:r>
              <a:rPr lang="en-US" b="1" i="1" dirty="0"/>
              <a:t>pattern-action language </a:t>
            </a:r>
            <a:r>
              <a:rPr lang="en-US" dirty="0"/>
              <a:t>/ </a:t>
            </a:r>
            <a:r>
              <a:rPr lang="en-US" b="1" i="1" dirty="0"/>
              <a:t>pattern directed programming </a:t>
            </a:r>
            <a:r>
              <a:rPr lang="en-US" dirty="0"/>
              <a:t>used for specifying lexical analyzers.</a:t>
            </a:r>
          </a:p>
          <a:p>
            <a:r>
              <a:rPr lang="en-US" b="1" i="1" dirty="0"/>
              <a:t>LEX</a:t>
            </a:r>
            <a:r>
              <a:rPr lang="en-US" dirty="0"/>
              <a:t> has a language for describing regular expressions</a:t>
            </a:r>
          </a:p>
          <a:p>
            <a:pPr lvl="1"/>
            <a:r>
              <a:rPr lang="en-US" dirty="0"/>
              <a:t>It generates a pattern matcher for the regular expression specifications provided to it as input.</a:t>
            </a:r>
          </a:p>
          <a:p>
            <a:pPr lvl="1"/>
            <a:r>
              <a:rPr lang="en-US" b="1" dirty="0"/>
              <a:t>General structure of a LEX program is:</a:t>
            </a:r>
          </a:p>
          <a:p>
            <a:pPr marL="457200" lvl="1" indent="0">
              <a:buNone/>
            </a:pPr>
            <a:endParaRPr lang="en-US" b="1" dirty="0"/>
          </a:p>
          <a:p>
            <a:pPr marL="457200" lvl="1" indent="0">
              <a:buNone/>
            </a:pPr>
            <a:r>
              <a:rPr lang="en-US" dirty="0"/>
              <a:t>		</a:t>
            </a:r>
            <a:r>
              <a:rPr lang="en-US" sz="3200" dirty="0">
                <a:solidFill>
                  <a:srgbClr val="000099"/>
                </a:solidFill>
              </a:rPr>
              <a:t>{</a:t>
            </a:r>
            <a:r>
              <a:rPr lang="en-US" sz="3200" b="1" i="1" dirty="0">
                <a:solidFill>
                  <a:srgbClr val="000099"/>
                </a:solidFill>
              </a:rPr>
              <a:t>definitions</a:t>
            </a:r>
            <a:r>
              <a:rPr lang="en-US" sz="3200" dirty="0">
                <a:solidFill>
                  <a:srgbClr val="000099"/>
                </a:solidFill>
              </a:rPr>
              <a:t>} 		Optional</a:t>
            </a:r>
          </a:p>
          <a:p>
            <a:pPr marL="457200" lvl="1" indent="0">
              <a:buNone/>
            </a:pPr>
            <a:r>
              <a:rPr lang="en-US" sz="3200" dirty="0">
                <a:solidFill>
                  <a:srgbClr val="000099"/>
                </a:solidFill>
              </a:rPr>
              <a:t>		%%</a:t>
            </a:r>
          </a:p>
          <a:p>
            <a:pPr marL="457200" lvl="1" indent="0">
              <a:buNone/>
            </a:pPr>
            <a:r>
              <a:rPr lang="en-US" sz="3200" dirty="0">
                <a:solidFill>
                  <a:srgbClr val="000099"/>
                </a:solidFill>
              </a:rPr>
              <a:t>		{</a:t>
            </a:r>
            <a:r>
              <a:rPr lang="en-US" sz="3200" b="1" i="1" dirty="0">
                <a:solidFill>
                  <a:srgbClr val="000099"/>
                </a:solidFill>
              </a:rPr>
              <a:t>rules</a:t>
            </a:r>
            <a:r>
              <a:rPr lang="en-US" sz="3200" dirty="0">
                <a:solidFill>
                  <a:srgbClr val="000099"/>
                </a:solidFill>
              </a:rPr>
              <a:t>} 			Essential</a:t>
            </a:r>
          </a:p>
          <a:p>
            <a:pPr marL="457200" lvl="1" indent="0">
              <a:buNone/>
            </a:pPr>
            <a:r>
              <a:rPr lang="en-US" sz="3200" dirty="0">
                <a:solidFill>
                  <a:srgbClr val="000099"/>
                </a:solidFill>
              </a:rPr>
              <a:t>		%%</a:t>
            </a:r>
          </a:p>
          <a:p>
            <a:pPr marL="457200" lvl="1" indent="0">
              <a:buNone/>
            </a:pPr>
            <a:r>
              <a:rPr lang="en-US" sz="3200" dirty="0">
                <a:solidFill>
                  <a:srgbClr val="000099"/>
                </a:solidFill>
              </a:rPr>
              <a:t>		{</a:t>
            </a:r>
            <a:r>
              <a:rPr lang="en-US" sz="3200" b="1" i="1" dirty="0">
                <a:solidFill>
                  <a:srgbClr val="000099"/>
                </a:solidFill>
              </a:rPr>
              <a:t>user subroutines</a:t>
            </a:r>
            <a:r>
              <a:rPr lang="en-US" sz="3200" dirty="0">
                <a:solidFill>
                  <a:srgbClr val="000099"/>
                </a:solidFill>
              </a:rPr>
              <a:t>} 	Essential</a:t>
            </a:r>
          </a:p>
          <a:p>
            <a:pPr marL="457200" lvl="1" indent="0">
              <a:buNone/>
            </a:pPr>
            <a:endParaRPr lang="en-US" dirty="0"/>
          </a:p>
          <a:p>
            <a:pPr lvl="1"/>
            <a:r>
              <a:rPr lang="en-US" b="1" dirty="0"/>
              <a:t>Commands to create an LA</a:t>
            </a:r>
          </a:p>
          <a:p>
            <a:pPr marL="457200" lvl="1" indent="0">
              <a:buNone/>
            </a:pPr>
            <a:r>
              <a:rPr lang="en-US" dirty="0"/>
              <a:t>		</a:t>
            </a:r>
            <a:r>
              <a:rPr lang="en-US" b="1" i="1" dirty="0" err="1">
                <a:latin typeface="Courier New" panose="02070309020205020404" pitchFamily="49" charset="0"/>
                <a:cs typeface="Courier New" panose="02070309020205020404" pitchFamily="49" charset="0"/>
              </a:rPr>
              <a:t>lex</a:t>
            </a:r>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ex.l</a:t>
            </a:r>
            <a:r>
              <a:rPr lang="en-US" b="1" i="1" dirty="0">
                <a:latin typeface="Courier New" panose="02070309020205020404" pitchFamily="49" charset="0"/>
                <a:cs typeface="Courier New" panose="02070309020205020404" pitchFamily="49" charset="0"/>
              </a:rPr>
              <a:t> </a:t>
            </a:r>
            <a:r>
              <a:rPr lang="en-US" dirty="0"/>
              <a:t>– creates a C-program </a:t>
            </a:r>
            <a:r>
              <a:rPr lang="en-US" sz="2900" b="1" i="1" dirty="0" err="1">
                <a:latin typeface="Courier New" panose="02070309020205020404" pitchFamily="49" charset="0"/>
                <a:cs typeface="Courier New" panose="02070309020205020404" pitchFamily="49" charset="0"/>
              </a:rPr>
              <a:t>lex.yy.c</a:t>
            </a:r>
            <a:endParaRPr lang="en-US" sz="2900" b="1" i="1" dirty="0">
              <a:latin typeface="Courier New" panose="02070309020205020404" pitchFamily="49" charset="0"/>
              <a:cs typeface="Courier New" panose="02070309020205020404" pitchFamily="49" charset="0"/>
            </a:endParaRPr>
          </a:p>
          <a:p>
            <a:pPr marL="457200" lvl="1" indent="0">
              <a:buNone/>
            </a:pPr>
            <a:r>
              <a:rPr lang="en-US" dirty="0"/>
              <a:t>		</a:t>
            </a:r>
            <a:r>
              <a:rPr lang="en-US" sz="2900" b="1" i="1" dirty="0" err="1">
                <a:latin typeface="Courier New" panose="02070309020205020404" pitchFamily="49" charset="0"/>
                <a:cs typeface="Courier New" panose="02070309020205020404" pitchFamily="49" charset="0"/>
              </a:rPr>
              <a:t>gcc</a:t>
            </a:r>
            <a:r>
              <a:rPr lang="en-US" sz="2900" b="1" i="1" dirty="0">
                <a:latin typeface="Courier New" panose="02070309020205020404" pitchFamily="49" charset="0"/>
                <a:cs typeface="Courier New" panose="02070309020205020404" pitchFamily="49" charset="0"/>
              </a:rPr>
              <a:t> -o </a:t>
            </a:r>
            <a:r>
              <a:rPr lang="en-US" sz="2900" b="1" i="1" dirty="0" err="1">
                <a:latin typeface="Courier New" panose="02070309020205020404" pitchFamily="49" charset="0"/>
                <a:cs typeface="Courier New" panose="02070309020205020404" pitchFamily="49" charset="0"/>
              </a:rPr>
              <a:t>ex.o</a:t>
            </a:r>
            <a:r>
              <a:rPr lang="en-US" sz="2900" b="1" i="1" dirty="0">
                <a:latin typeface="Courier New" panose="02070309020205020404" pitchFamily="49" charset="0"/>
                <a:cs typeface="Courier New" panose="02070309020205020404" pitchFamily="49" charset="0"/>
              </a:rPr>
              <a:t> </a:t>
            </a:r>
            <a:r>
              <a:rPr lang="en-US" sz="2900" b="1" i="1" dirty="0" err="1">
                <a:latin typeface="Courier New" panose="02070309020205020404" pitchFamily="49" charset="0"/>
                <a:cs typeface="Courier New" panose="02070309020205020404" pitchFamily="49" charset="0"/>
              </a:rPr>
              <a:t>lex.yy.c</a:t>
            </a:r>
            <a:r>
              <a:rPr lang="en-US" sz="2900" b="1" i="1" dirty="0">
                <a:latin typeface="Courier New" panose="02070309020205020404" pitchFamily="49" charset="0"/>
                <a:cs typeface="Courier New" panose="02070309020205020404" pitchFamily="49" charset="0"/>
              </a:rPr>
              <a:t> </a:t>
            </a:r>
            <a:r>
              <a:rPr lang="en-US" dirty="0"/>
              <a:t>– produces </a:t>
            </a:r>
            <a:r>
              <a:rPr lang="en-US" sz="2900" b="1" i="1" dirty="0" err="1">
                <a:latin typeface="Courier New" panose="02070309020205020404" pitchFamily="49" charset="0"/>
                <a:cs typeface="Courier New" panose="02070309020205020404" pitchFamily="49" charset="0"/>
              </a:rPr>
              <a:t>ex.o</a:t>
            </a:r>
            <a:endParaRPr lang="en-US" sz="2900" b="1" i="1" dirty="0">
              <a:latin typeface="Courier New" panose="02070309020205020404" pitchFamily="49" charset="0"/>
              <a:cs typeface="Courier New" panose="02070309020205020404" pitchFamily="49" charset="0"/>
            </a:endParaRPr>
          </a:p>
          <a:p>
            <a:pPr marL="457200" lvl="1" indent="0">
              <a:buNone/>
            </a:pPr>
            <a:r>
              <a:rPr lang="en-US" dirty="0"/>
              <a:t>		</a:t>
            </a:r>
            <a:r>
              <a:rPr lang="en-US" sz="2900" b="1" i="1" dirty="0" err="1">
                <a:latin typeface="Courier New" panose="02070309020205020404" pitchFamily="49" charset="0"/>
                <a:cs typeface="Courier New" panose="02070309020205020404" pitchFamily="49" charset="0"/>
              </a:rPr>
              <a:t>ex.o</a:t>
            </a:r>
            <a:r>
              <a:rPr lang="en-US" dirty="0"/>
              <a:t> is a lexical analyzer, that carves tokens from its input</a:t>
            </a:r>
          </a:p>
        </p:txBody>
      </p:sp>
      <p:sp>
        <p:nvSpPr>
          <p:cNvPr id="4" name="Right Brace 3"/>
          <p:cNvSpPr/>
          <p:nvPr/>
        </p:nvSpPr>
        <p:spPr>
          <a:xfrm>
            <a:off x="3962400" y="4038600"/>
            <a:ext cx="1066800" cy="381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ight Brace 4"/>
          <p:cNvSpPr/>
          <p:nvPr/>
        </p:nvSpPr>
        <p:spPr>
          <a:xfrm>
            <a:off x="3962400" y="3429000"/>
            <a:ext cx="1065727" cy="381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p:cNvSpPr/>
          <p:nvPr/>
        </p:nvSpPr>
        <p:spPr>
          <a:xfrm>
            <a:off x="3962400" y="4648200"/>
            <a:ext cx="1065727" cy="381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C2C343A0-757D-4032-BC20-DF0A67BD0A50}" type="slidenum">
              <a:rPr lang="en-US" smtClean="0"/>
              <a:t>52</a:t>
            </a:fld>
            <a:endParaRPr lang="en-US"/>
          </a:p>
        </p:txBody>
      </p:sp>
    </p:spTree>
    <p:extLst>
      <p:ext uri="{BB962C8B-B14F-4D97-AF65-F5344CB8AC3E}">
        <p14:creationId xmlns:p14="http://schemas.microsoft.com/office/powerpoint/2010/main" val="26943406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Introduction to </a:t>
            </a:r>
            <a:r>
              <a:rPr lang="en-US" b="1" i="1" dirty="0"/>
              <a:t>Lex</a:t>
            </a:r>
          </a:p>
        </p:txBody>
      </p:sp>
      <p:sp>
        <p:nvSpPr>
          <p:cNvPr id="3" name="Content Placeholder 2"/>
          <p:cNvSpPr>
            <a:spLocks noGrp="1"/>
          </p:cNvSpPr>
          <p:nvPr>
            <p:ph idx="1"/>
          </p:nvPr>
        </p:nvSpPr>
        <p:spPr>
          <a:xfrm>
            <a:off x="457200" y="1600200"/>
            <a:ext cx="8458200" cy="5029200"/>
          </a:xfrm>
        </p:spPr>
        <p:txBody>
          <a:bodyPr>
            <a:normAutofit fontScale="70000" lnSpcReduction="20000"/>
          </a:bodyPr>
          <a:lstStyle/>
          <a:p>
            <a:pPr marL="0" indent="0">
              <a:buNone/>
            </a:pPr>
            <a:r>
              <a:rPr lang="en-US" b="1" dirty="0"/>
              <a:t>Lex Example 1</a:t>
            </a:r>
            <a:r>
              <a:rPr lang="en-US" dirty="0"/>
              <a:t>: LEX specification for the recognizing Capital Letter</a:t>
            </a:r>
          </a:p>
          <a:p>
            <a:pPr marL="457200" lvl="1" indent="0">
              <a:buNone/>
            </a:pPr>
            <a:endParaRPr lang="en-US" dirty="0">
              <a:latin typeface="Courier New" panose="02070309020205020404" pitchFamily="49" charset="0"/>
              <a:cs typeface="Courier New" panose="02070309020205020404" pitchFamily="49" charset="0"/>
            </a:endParaRPr>
          </a:p>
          <a:p>
            <a:pPr marL="457200" lvl="1" indent="0">
              <a:buNone/>
            </a:pPr>
            <a:r>
              <a:rPr lang="en-US" dirty="0">
                <a:latin typeface="Courier New" panose="02070309020205020404" pitchFamily="49" charset="0"/>
                <a:cs typeface="Courier New" panose="02070309020205020404" pitchFamily="49" charset="0"/>
              </a:rPr>
              <a:t>/* no definition </a:t>
            </a:r>
            <a:r>
              <a:rPr lang="en-US" dirty="0" err="1">
                <a:latin typeface="Courier New" panose="02070309020205020404" pitchFamily="49" charset="0"/>
                <a:cs typeface="Courier New" panose="02070309020205020404" pitchFamily="49" charset="0"/>
              </a:rPr>
              <a:t>sectin</a:t>
            </a:r>
            <a:r>
              <a:rPr lang="en-US" dirty="0">
                <a:latin typeface="Courier New" panose="02070309020205020404" pitchFamily="49" charset="0"/>
                <a:cs typeface="Courier New" panose="02070309020205020404" pitchFamily="49" charset="0"/>
              </a:rPr>
              <a:t> */</a:t>
            </a:r>
          </a:p>
          <a:p>
            <a:pPr marL="457200" lvl="1" indent="0">
              <a:buNone/>
            </a:pPr>
            <a:r>
              <a:rPr lang="en-US" b="1" dirty="0">
                <a:latin typeface="Courier New" panose="02070309020205020404" pitchFamily="49" charset="0"/>
                <a:cs typeface="Courier New" panose="02070309020205020404" pitchFamily="49" charset="0"/>
              </a:rPr>
              <a:t>%%</a:t>
            </a:r>
          </a:p>
          <a:p>
            <a:pPr marL="457200" lvl="1" indent="0">
              <a:buNone/>
            </a:pPr>
            <a:r>
              <a:rPr lang="en-US" dirty="0">
                <a:latin typeface="Courier New" panose="02070309020205020404" pitchFamily="49" charset="0"/>
                <a:cs typeface="Courier New" panose="02070309020205020404" pitchFamily="49" charset="0"/>
              </a:rPr>
              <a:t>[A-Z]+	{ ECHO;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("\n"); }</a:t>
            </a:r>
          </a:p>
          <a:p>
            <a:pPr marL="457200" lvl="1" indent="0">
              <a:buNone/>
            </a:pPr>
            <a:r>
              <a:rPr lang="en-US" dirty="0">
                <a:latin typeface="Courier New" panose="02070309020205020404" pitchFamily="49" charset="0"/>
                <a:cs typeface="Courier New" panose="02070309020205020404" pitchFamily="49" charset="0"/>
              </a:rPr>
              <a:t>.|\n	;</a:t>
            </a:r>
          </a:p>
          <a:p>
            <a:pPr marL="457200" lvl="1" indent="0">
              <a:buNone/>
            </a:pPr>
            <a:r>
              <a:rPr lang="en-US" b="1" dirty="0">
                <a:latin typeface="Courier New" panose="02070309020205020404" pitchFamily="49" charset="0"/>
                <a:cs typeface="Courier New" panose="02070309020205020404" pitchFamily="49" charset="0"/>
              </a:rPr>
              <a:t>%%</a:t>
            </a:r>
          </a:p>
          <a:p>
            <a:pPr marL="457200" lvl="1" indent="0">
              <a:buNone/>
            </a:pPr>
            <a:r>
              <a:rPr lang="en-US" dirty="0" err="1">
                <a:latin typeface="Courier New" panose="02070309020205020404" pitchFamily="49" charset="0"/>
                <a:cs typeface="Courier New" panose="02070309020205020404" pitchFamily="49" charset="0"/>
              </a:rPr>
              <a:t>yywrap</a:t>
            </a:r>
            <a:r>
              <a:rPr lang="en-US" dirty="0">
                <a:latin typeface="Courier New" panose="02070309020205020404" pitchFamily="49" charset="0"/>
                <a:cs typeface="Courier New" panose="02070309020205020404" pitchFamily="49" charset="0"/>
              </a:rPr>
              <a:t>(){}</a:t>
            </a:r>
          </a:p>
          <a:p>
            <a:pPr marL="457200" lvl="1" indent="0">
              <a:buNone/>
            </a:pPr>
            <a:r>
              <a:rPr lang="en-US" dirty="0">
                <a:latin typeface="Courier New" panose="02070309020205020404" pitchFamily="49" charset="0"/>
                <a:cs typeface="Courier New" panose="02070309020205020404" pitchFamily="49" charset="0"/>
              </a:rPr>
              <a:t>main(){</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yylex</a:t>
            </a:r>
            <a:r>
              <a:rPr lang="en-US" dirty="0">
                <a:latin typeface="Courier New" panose="02070309020205020404" pitchFamily="49" charset="0"/>
                <a:cs typeface="Courier New" panose="02070309020205020404" pitchFamily="49" charset="0"/>
              </a:rPr>
              <a:t>();</a:t>
            </a:r>
          </a:p>
          <a:p>
            <a:pPr marL="457200" lvl="1" indent="0">
              <a:buNone/>
            </a:pPr>
            <a:r>
              <a:rPr lang="en-US" dirty="0">
                <a:latin typeface="Courier New" panose="02070309020205020404" pitchFamily="49" charset="0"/>
                <a:cs typeface="Courier New" panose="02070309020205020404" pitchFamily="49" charset="0"/>
              </a:rPr>
              <a:t>}</a:t>
            </a:r>
          </a:p>
          <a:p>
            <a:endParaRPr lang="en-US" dirty="0"/>
          </a:p>
          <a:p>
            <a:pPr marL="0" indent="0">
              <a:buNone/>
            </a:pPr>
            <a:endParaRPr lang="en-US" dirty="0"/>
          </a:p>
          <a:p>
            <a:pPr marL="0" indent="0">
              <a:buNone/>
            </a:pPr>
            <a:r>
              <a:rPr lang="en-US" dirty="0"/>
              <a:t> </a:t>
            </a:r>
          </a:p>
        </p:txBody>
      </p:sp>
      <p:sp>
        <p:nvSpPr>
          <p:cNvPr id="7" name="Right Brace 6"/>
          <p:cNvSpPr/>
          <p:nvPr/>
        </p:nvSpPr>
        <p:spPr>
          <a:xfrm>
            <a:off x="5497132" y="2743200"/>
            <a:ext cx="914400" cy="762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e 7"/>
          <p:cNvSpPr/>
          <p:nvPr/>
        </p:nvSpPr>
        <p:spPr>
          <a:xfrm>
            <a:off x="1973187" y="3695700"/>
            <a:ext cx="1676937" cy="11049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2545385" y="5100371"/>
            <a:ext cx="2951747" cy="875324"/>
          </a:xfrm>
          <a:prstGeom prst="rect">
            <a:avLst/>
          </a:prstGeom>
          <a:noFill/>
          <a:ln w="0">
            <a:solidFill>
              <a:schemeClr val="tx2">
                <a:lumMod val="20000"/>
                <a:lumOff val="80000"/>
              </a:schemeClr>
            </a:solidFill>
            <a:prstDash val="solid"/>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1" i="0" u="sng" strike="noStrike" kern="1200" cap="none" dirty="0">
                <a:ln>
                  <a:noFill/>
                </a:ln>
                <a:latin typeface="Courier New" pitchFamily="49"/>
                <a:ea typeface="Droid Sans Fallback" pitchFamily="2"/>
                <a:cs typeface="FreeSans" pitchFamily="2"/>
              </a:rPr>
              <a:t>/* Input */</a:t>
            </a:r>
          </a:p>
          <a:p>
            <a:pPr marL="0" marR="0" lvl="0" indent="0" rtl="0" hangingPunct="0">
              <a:lnSpc>
                <a:spcPct val="100000"/>
              </a:lnSpc>
              <a:spcBef>
                <a:spcPts val="0"/>
              </a:spcBef>
              <a:spcAft>
                <a:spcPts val="0"/>
              </a:spcAft>
              <a:buNone/>
              <a:tabLst/>
            </a:pPr>
            <a:r>
              <a:rPr lang="en-US" sz="1800" i="0" u="none" strike="noStrike" kern="1200" cap="none" dirty="0" err="1">
                <a:ln>
                  <a:noFill/>
                </a:ln>
                <a:latin typeface="Courier New" pitchFamily="49"/>
                <a:ea typeface="Droid Sans Fallback" pitchFamily="2"/>
                <a:cs typeface="FreeSans" pitchFamily="2"/>
              </a:rPr>
              <a:t>wewevWEUFWIGhHkkH</a:t>
            </a:r>
            <a:endParaRPr lang="en-US" sz="1800" i="0" u="none" strike="noStrike" kern="1200" cap="none" dirty="0">
              <a:ln>
                <a:noFill/>
              </a:ln>
              <a:latin typeface="Courier New" pitchFamily="49"/>
              <a:ea typeface="Droid Sans Fallback" pitchFamily="2"/>
              <a:cs typeface="FreeSans" pitchFamily="2"/>
            </a:endParaRPr>
          </a:p>
          <a:p>
            <a:pPr marL="0" marR="0" lvl="0" indent="0" rtl="0" hangingPunct="0">
              <a:lnSpc>
                <a:spcPct val="100000"/>
              </a:lnSpc>
              <a:spcBef>
                <a:spcPts val="0"/>
              </a:spcBef>
              <a:spcAft>
                <a:spcPts val="0"/>
              </a:spcAft>
              <a:buNone/>
              <a:tabLst/>
            </a:pPr>
            <a:r>
              <a:rPr lang="en-US" sz="1800" i="0" u="none" strike="noStrike" kern="1200" cap="none" dirty="0" err="1">
                <a:ln>
                  <a:noFill/>
                </a:ln>
                <a:latin typeface="Courier New" pitchFamily="49"/>
                <a:ea typeface="Droid Sans Fallback" pitchFamily="2"/>
                <a:cs typeface="FreeSans" pitchFamily="2"/>
              </a:rPr>
              <a:t>sdcwehSDWEhTkFLksewT</a:t>
            </a:r>
            <a:endParaRPr lang="en-US" sz="1800" i="0" u="none" strike="noStrike" kern="1200" cap="none" dirty="0">
              <a:ln>
                <a:noFill/>
              </a:ln>
              <a:latin typeface="Courier New" pitchFamily="49"/>
              <a:ea typeface="Droid Sans Fallback" pitchFamily="2"/>
              <a:cs typeface="FreeSans" pitchFamily="2"/>
            </a:endParaRPr>
          </a:p>
        </p:txBody>
      </p:sp>
      <p:sp>
        <p:nvSpPr>
          <p:cNvPr id="10" name="TextBox 9"/>
          <p:cNvSpPr txBox="1"/>
          <p:nvPr/>
        </p:nvSpPr>
        <p:spPr>
          <a:xfrm>
            <a:off x="6843049" y="4446666"/>
            <a:ext cx="1843751" cy="2182734"/>
          </a:xfrm>
          <a:prstGeom prst="rect">
            <a:avLst/>
          </a:prstGeom>
          <a:noFill/>
          <a:ln w="0">
            <a:solidFill>
              <a:schemeClr val="accent1">
                <a:lumMod val="20000"/>
                <a:lumOff val="80000"/>
              </a:schemeClr>
            </a:solidFill>
            <a:prstDash val="solid"/>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1" i="0" u="sng" strike="noStrike" kern="1200" cap="none" dirty="0">
                <a:ln>
                  <a:noFill/>
                </a:ln>
                <a:latin typeface="Courier New" pitchFamily="49"/>
                <a:ea typeface="Droid Sans Fallback" pitchFamily="2"/>
                <a:cs typeface="FreeSans" pitchFamily="2"/>
              </a:rPr>
              <a:t>/* Output */</a:t>
            </a:r>
          </a:p>
          <a:p>
            <a:pPr marL="0" marR="0" lvl="0" indent="0" algn="l" rtl="0" hangingPunct="0">
              <a:lnSpc>
                <a:spcPct val="100000"/>
              </a:lnSpc>
              <a:spcBef>
                <a:spcPts val="0"/>
              </a:spcBef>
              <a:spcAft>
                <a:spcPts val="0"/>
              </a:spcAft>
              <a:buNone/>
              <a:tabLst/>
            </a:pPr>
            <a:r>
              <a:rPr lang="en-US" sz="1800" b="1" i="0" u="none" strike="noStrike" kern="1200" cap="none" dirty="0">
                <a:ln>
                  <a:noFill/>
                </a:ln>
                <a:latin typeface="Courier New" pitchFamily="49"/>
                <a:ea typeface="Droid Sans Fallback" pitchFamily="2"/>
                <a:cs typeface="FreeSans" pitchFamily="2"/>
              </a:rPr>
              <a:t>WEUFWIG</a:t>
            </a:r>
          </a:p>
          <a:p>
            <a:pPr marL="0" marR="0" lvl="0" indent="0" rtl="0" hangingPunct="0">
              <a:lnSpc>
                <a:spcPct val="100000"/>
              </a:lnSpc>
              <a:spcBef>
                <a:spcPts val="0"/>
              </a:spcBef>
              <a:spcAft>
                <a:spcPts val="0"/>
              </a:spcAft>
              <a:buNone/>
              <a:tabLst/>
            </a:pPr>
            <a:r>
              <a:rPr lang="en-US" sz="1800" b="1" i="0" u="none" strike="noStrike" kern="1200" cap="none" dirty="0">
                <a:ln>
                  <a:noFill/>
                </a:ln>
                <a:latin typeface="Courier New" pitchFamily="49"/>
                <a:ea typeface="Droid Sans Fallback" pitchFamily="2"/>
                <a:cs typeface="FreeSans" pitchFamily="2"/>
              </a:rPr>
              <a:t>H</a:t>
            </a:r>
          </a:p>
          <a:p>
            <a:pPr marL="0" marR="0" lvl="0" indent="0" rtl="0" hangingPunct="0">
              <a:lnSpc>
                <a:spcPct val="100000"/>
              </a:lnSpc>
              <a:spcBef>
                <a:spcPts val="0"/>
              </a:spcBef>
              <a:spcAft>
                <a:spcPts val="0"/>
              </a:spcAft>
              <a:buNone/>
              <a:tabLst/>
            </a:pPr>
            <a:r>
              <a:rPr lang="en-US" sz="1800" b="1" i="0" u="none" strike="noStrike" kern="1200" cap="none" dirty="0">
                <a:ln>
                  <a:noFill/>
                </a:ln>
                <a:latin typeface="Courier New" pitchFamily="49"/>
                <a:ea typeface="Droid Sans Fallback" pitchFamily="2"/>
                <a:cs typeface="FreeSans" pitchFamily="2"/>
              </a:rPr>
              <a:t>H</a:t>
            </a:r>
          </a:p>
          <a:p>
            <a:pPr marL="0" marR="0" lvl="0" indent="0" rtl="0" hangingPunct="0">
              <a:lnSpc>
                <a:spcPct val="100000"/>
              </a:lnSpc>
              <a:spcBef>
                <a:spcPts val="0"/>
              </a:spcBef>
              <a:spcAft>
                <a:spcPts val="0"/>
              </a:spcAft>
              <a:buNone/>
              <a:tabLst/>
            </a:pPr>
            <a:r>
              <a:rPr lang="en-US" sz="1800" b="1" i="0" u="none" strike="noStrike" kern="1200" cap="none" dirty="0">
                <a:ln>
                  <a:noFill/>
                </a:ln>
                <a:latin typeface="Courier New" pitchFamily="49"/>
                <a:ea typeface="Droid Sans Fallback" pitchFamily="2"/>
                <a:cs typeface="FreeSans" pitchFamily="2"/>
              </a:rPr>
              <a:t>SDWE</a:t>
            </a:r>
          </a:p>
          <a:p>
            <a:pPr marL="0" marR="0" lvl="0" indent="0" rtl="0" hangingPunct="0">
              <a:lnSpc>
                <a:spcPct val="100000"/>
              </a:lnSpc>
              <a:spcBef>
                <a:spcPts val="0"/>
              </a:spcBef>
              <a:spcAft>
                <a:spcPts val="0"/>
              </a:spcAft>
              <a:buNone/>
              <a:tabLst/>
            </a:pPr>
            <a:r>
              <a:rPr lang="en-US" sz="1800" b="1" i="0" u="none" strike="noStrike" kern="1200" cap="none" dirty="0">
                <a:ln>
                  <a:noFill/>
                </a:ln>
                <a:latin typeface="Courier New" pitchFamily="49"/>
                <a:ea typeface="Droid Sans Fallback" pitchFamily="2"/>
                <a:cs typeface="FreeSans" pitchFamily="2"/>
              </a:rPr>
              <a:t>T</a:t>
            </a:r>
          </a:p>
          <a:p>
            <a:pPr marL="0" marR="0" lvl="0" indent="0" rtl="0" hangingPunct="0">
              <a:lnSpc>
                <a:spcPct val="100000"/>
              </a:lnSpc>
              <a:spcBef>
                <a:spcPts val="0"/>
              </a:spcBef>
              <a:spcAft>
                <a:spcPts val="0"/>
              </a:spcAft>
              <a:buNone/>
              <a:tabLst/>
            </a:pPr>
            <a:r>
              <a:rPr lang="en-US" sz="1800" b="1" i="0" u="none" strike="noStrike" kern="1200" cap="none" dirty="0">
                <a:ln>
                  <a:noFill/>
                </a:ln>
                <a:latin typeface="Courier New" pitchFamily="49"/>
                <a:ea typeface="Droid Sans Fallback" pitchFamily="2"/>
                <a:cs typeface="FreeSans" pitchFamily="2"/>
              </a:rPr>
              <a:t>FL</a:t>
            </a:r>
          </a:p>
          <a:p>
            <a:pPr marL="0" marR="0" lvl="0" indent="0" rtl="0" hangingPunct="0">
              <a:lnSpc>
                <a:spcPct val="100000"/>
              </a:lnSpc>
              <a:spcBef>
                <a:spcPts val="0"/>
              </a:spcBef>
              <a:spcAft>
                <a:spcPts val="0"/>
              </a:spcAft>
              <a:buNone/>
              <a:tabLst/>
            </a:pPr>
            <a:r>
              <a:rPr lang="en-US" sz="1800" b="1" i="0" u="none" strike="noStrike" kern="1200" cap="none" dirty="0">
                <a:ln>
                  <a:noFill/>
                </a:ln>
                <a:latin typeface="Courier New" pitchFamily="49"/>
                <a:ea typeface="Droid Sans Fallback" pitchFamily="2"/>
                <a:cs typeface="FreeSans" pitchFamily="2"/>
              </a:rPr>
              <a:t>T</a:t>
            </a:r>
          </a:p>
        </p:txBody>
      </p:sp>
      <p:sp>
        <p:nvSpPr>
          <p:cNvPr id="11" name="TextBox 10"/>
          <p:cNvSpPr txBox="1"/>
          <p:nvPr/>
        </p:nvSpPr>
        <p:spPr>
          <a:xfrm>
            <a:off x="6553200" y="2939534"/>
            <a:ext cx="1348446" cy="369332"/>
          </a:xfrm>
          <a:prstGeom prst="rect">
            <a:avLst/>
          </a:prstGeom>
          <a:noFill/>
        </p:spPr>
        <p:txBody>
          <a:bodyPr wrap="none" rtlCol="0">
            <a:spAutoFit/>
          </a:bodyPr>
          <a:lstStyle/>
          <a:p>
            <a:r>
              <a:rPr lang="en-US" b="1" i="1" dirty="0"/>
              <a:t>Rule section</a:t>
            </a:r>
          </a:p>
        </p:txBody>
      </p:sp>
      <p:sp>
        <p:nvSpPr>
          <p:cNvPr id="12" name="TextBox 11"/>
          <p:cNvSpPr txBox="1"/>
          <p:nvPr/>
        </p:nvSpPr>
        <p:spPr>
          <a:xfrm>
            <a:off x="3810000" y="4063484"/>
            <a:ext cx="1965603" cy="369332"/>
          </a:xfrm>
          <a:prstGeom prst="rect">
            <a:avLst/>
          </a:prstGeom>
          <a:noFill/>
        </p:spPr>
        <p:txBody>
          <a:bodyPr wrap="none" rtlCol="0">
            <a:spAutoFit/>
          </a:bodyPr>
          <a:lstStyle/>
          <a:p>
            <a:r>
              <a:rPr lang="en-US" b="1" i="1" dirty="0"/>
              <a:t>Subroutine section</a:t>
            </a:r>
          </a:p>
        </p:txBody>
      </p:sp>
      <p:sp>
        <p:nvSpPr>
          <p:cNvPr id="4" name="Slide Number Placeholder 3"/>
          <p:cNvSpPr>
            <a:spLocks noGrp="1"/>
          </p:cNvSpPr>
          <p:nvPr>
            <p:ph type="sldNum" sz="quarter" idx="12"/>
          </p:nvPr>
        </p:nvSpPr>
        <p:spPr/>
        <p:txBody>
          <a:bodyPr/>
          <a:lstStyle/>
          <a:p>
            <a:fld id="{C2C343A0-757D-4032-BC20-DF0A67BD0A50}" type="slidenum">
              <a:rPr lang="en-US" smtClean="0"/>
              <a:t>53</a:t>
            </a:fld>
            <a:endParaRPr lang="en-US"/>
          </a:p>
        </p:txBody>
      </p:sp>
    </p:spTree>
    <p:extLst>
      <p:ext uri="{BB962C8B-B14F-4D97-AF65-F5344CB8AC3E}">
        <p14:creationId xmlns:p14="http://schemas.microsoft.com/office/powerpoint/2010/main" val="42463791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Introduction to </a:t>
            </a:r>
            <a:r>
              <a:rPr lang="en-US" b="1" i="1" dirty="0"/>
              <a:t>Lex</a:t>
            </a:r>
          </a:p>
        </p:txBody>
      </p:sp>
      <p:sp>
        <p:nvSpPr>
          <p:cNvPr id="3" name="Content Placeholder 2"/>
          <p:cNvSpPr>
            <a:spLocks noGrp="1"/>
          </p:cNvSpPr>
          <p:nvPr>
            <p:ph idx="1"/>
          </p:nvPr>
        </p:nvSpPr>
        <p:spPr>
          <a:xfrm>
            <a:off x="457200" y="1600200"/>
            <a:ext cx="8458200" cy="5029200"/>
          </a:xfrm>
        </p:spPr>
        <p:txBody>
          <a:bodyPr>
            <a:normAutofit fontScale="85000" lnSpcReduction="20000"/>
          </a:bodyPr>
          <a:lstStyle/>
          <a:p>
            <a:pPr marL="0" lvl="0" indent="0">
              <a:buSzPct val="45000"/>
              <a:buNone/>
            </a:pPr>
            <a:r>
              <a:rPr lang="en-US" b="1" u="sng" dirty="0"/>
              <a:t>Lex – Definition Section</a:t>
            </a:r>
          </a:p>
          <a:p>
            <a:pPr>
              <a:buSzPct val="45000"/>
              <a:buFont typeface="StarSymbol"/>
              <a:buChar char="●"/>
            </a:pPr>
            <a:r>
              <a:rPr lang="en-US" dirty="0"/>
              <a:t>contains definitions and included code.</a:t>
            </a:r>
          </a:p>
          <a:p>
            <a:pPr lvl="1" hangingPunct="0">
              <a:spcBef>
                <a:spcPts val="1417"/>
              </a:spcBef>
              <a:buSzPct val="75000"/>
              <a:buFont typeface="StarSymbol"/>
              <a:buChar char="–"/>
            </a:pPr>
            <a:r>
              <a:rPr lang="en-US" dirty="0"/>
              <a:t>Definitions are like macros and have the following form:</a:t>
            </a:r>
          </a:p>
          <a:p>
            <a:pPr lvl="2" hangingPunct="0">
              <a:spcBef>
                <a:spcPts val="1417"/>
              </a:spcBef>
              <a:buNone/>
            </a:pPr>
            <a:r>
              <a:rPr lang="en-US" sz="3200" b="1" dirty="0">
                <a:highlight>
                  <a:scrgbClr r="0" g="0" b="0">
                    <a:alpha val="0"/>
                  </a:scrgbClr>
                </a:highlight>
                <a:latin typeface="Courier New" pitchFamily="49"/>
              </a:rPr>
              <a:t>name</a:t>
            </a:r>
            <a:r>
              <a:rPr lang="en-US" sz="3200" dirty="0">
                <a:highlight>
                  <a:scrgbClr r="0" g="0" b="0">
                    <a:alpha val="0"/>
                  </a:scrgbClr>
                </a:highlight>
                <a:latin typeface="Courier New" pitchFamily="49"/>
              </a:rPr>
              <a:t> 		</a:t>
            </a:r>
            <a:r>
              <a:rPr lang="en-US" sz="3200" b="1" dirty="0">
                <a:highlight>
                  <a:scrgbClr r="0" g="0" b="0">
                    <a:alpha val="0"/>
                  </a:scrgbClr>
                </a:highlight>
                <a:latin typeface="Courier New" pitchFamily="49"/>
              </a:rPr>
              <a:t>translation</a:t>
            </a:r>
          </a:p>
          <a:p>
            <a:pPr lvl="2" hangingPunct="0">
              <a:spcBef>
                <a:spcPts val="1417"/>
              </a:spcBef>
              <a:buNone/>
            </a:pPr>
            <a:r>
              <a:rPr lang="en-US" sz="3200" dirty="0">
                <a:highlight>
                  <a:scrgbClr r="0" g="0" b="0">
                    <a:alpha val="0"/>
                  </a:scrgbClr>
                </a:highlight>
                <a:latin typeface="Courier New" pitchFamily="49"/>
              </a:rPr>
              <a:t>digit 		[0-9]</a:t>
            </a:r>
          </a:p>
          <a:p>
            <a:pPr lvl="2" hangingPunct="0">
              <a:spcBef>
                <a:spcPts val="1417"/>
              </a:spcBef>
              <a:buNone/>
            </a:pPr>
            <a:r>
              <a:rPr lang="en-US" sz="3200" dirty="0">
                <a:highlight>
                  <a:scrgbClr r="0" g="0" b="0">
                    <a:alpha val="0"/>
                  </a:scrgbClr>
                </a:highlight>
                <a:latin typeface="Courier New" pitchFamily="49"/>
              </a:rPr>
              <a:t>number 		{digit}{digit}*</a:t>
            </a:r>
          </a:p>
          <a:p>
            <a:pPr lvl="1" hangingPunct="0">
              <a:spcBef>
                <a:spcPts val="1417"/>
              </a:spcBef>
              <a:buSzPct val="75000"/>
              <a:buFont typeface="StarSymbol"/>
              <a:buChar char="–"/>
            </a:pPr>
            <a:r>
              <a:rPr lang="en-US" dirty="0"/>
              <a:t>Included code is all code included between %{ and %}:</a:t>
            </a:r>
          </a:p>
          <a:p>
            <a:pPr lvl="2" hangingPunct="0">
              <a:spcBef>
                <a:spcPts val="1417"/>
              </a:spcBef>
              <a:buNone/>
            </a:pPr>
            <a:r>
              <a:rPr lang="en-US" sz="3200" dirty="0">
                <a:highlight>
                  <a:scrgbClr r="0" g="0" b="0">
                    <a:alpha val="0"/>
                  </a:scrgbClr>
                </a:highlight>
                <a:latin typeface="Courier New" pitchFamily="49"/>
              </a:rPr>
              <a:t>%{</a:t>
            </a:r>
          </a:p>
          <a:p>
            <a:pPr lvl="2" hangingPunct="0">
              <a:spcBef>
                <a:spcPts val="1417"/>
              </a:spcBef>
              <a:buNone/>
            </a:pPr>
            <a:r>
              <a:rPr lang="en-US" sz="3200" dirty="0">
                <a:highlight>
                  <a:scrgbClr r="0" g="0" b="0">
                    <a:alpha val="0"/>
                  </a:scrgbClr>
                </a:highlight>
                <a:latin typeface="Courier New" pitchFamily="49"/>
              </a:rPr>
              <a:t> 		float number; </a:t>
            </a:r>
            <a:r>
              <a:rPr lang="en-US" sz="3200" dirty="0" err="1">
                <a:highlight>
                  <a:scrgbClr r="0" g="0" b="0">
                    <a:alpha val="0"/>
                  </a:scrgbClr>
                </a:highlight>
                <a:latin typeface="Courier New" pitchFamily="49"/>
              </a:rPr>
              <a:t>int</a:t>
            </a:r>
            <a:r>
              <a:rPr lang="en-US" sz="3200" dirty="0">
                <a:highlight>
                  <a:scrgbClr r="0" g="0" b="0">
                    <a:alpha val="0"/>
                  </a:scrgbClr>
                </a:highlight>
                <a:latin typeface="Courier New" pitchFamily="49"/>
              </a:rPr>
              <a:t> count=0;</a:t>
            </a:r>
          </a:p>
          <a:p>
            <a:pPr lvl="2" hangingPunct="0">
              <a:spcBef>
                <a:spcPts val="1417"/>
              </a:spcBef>
              <a:buNone/>
            </a:pPr>
            <a:r>
              <a:rPr lang="en-US" sz="3200" dirty="0">
                <a:highlight>
                  <a:scrgbClr r="0" g="0" b="0">
                    <a:alpha val="0"/>
                  </a:scrgbClr>
                </a:highlight>
                <a:latin typeface="Courier New" pitchFamily="49"/>
              </a:rPr>
              <a:t>%}</a:t>
            </a:r>
          </a:p>
          <a:p>
            <a:pPr marL="0" indent="0">
              <a:buNone/>
            </a:pPr>
            <a:endParaRPr lang="en-US" dirty="0"/>
          </a:p>
        </p:txBody>
      </p:sp>
      <p:sp>
        <p:nvSpPr>
          <p:cNvPr id="4" name="Slide Number Placeholder 3"/>
          <p:cNvSpPr>
            <a:spLocks noGrp="1"/>
          </p:cNvSpPr>
          <p:nvPr>
            <p:ph type="sldNum" sz="quarter" idx="12"/>
          </p:nvPr>
        </p:nvSpPr>
        <p:spPr/>
        <p:txBody>
          <a:bodyPr/>
          <a:lstStyle/>
          <a:p>
            <a:fld id="{C2C343A0-757D-4032-BC20-DF0A67BD0A50}" type="slidenum">
              <a:rPr lang="en-US" smtClean="0"/>
              <a:t>54</a:t>
            </a:fld>
            <a:endParaRPr lang="en-US"/>
          </a:p>
        </p:txBody>
      </p:sp>
    </p:spTree>
    <p:extLst>
      <p:ext uri="{BB962C8B-B14F-4D97-AF65-F5344CB8AC3E}">
        <p14:creationId xmlns:p14="http://schemas.microsoft.com/office/powerpoint/2010/main" val="18170337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Introduction to </a:t>
            </a:r>
            <a:r>
              <a:rPr lang="en-US" b="1" i="1" dirty="0"/>
              <a:t>Lex</a:t>
            </a:r>
          </a:p>
        </p:txBody>
      </p:sp>
      <p:sp>
        <p:nvSpPr>
          <p:cNvPr id="3" name="Content Placeholder 2"/>
          <p:cNvSpPr>
            <a:spLocks noGrp="1"/>
          </p:cNvSpPr>
          <p:nvPr>
            <p:ph idx="1"/>
          </p:nvPr>
        </p:nvSpPr>
        <p:spPr>
          <a:xfrm>
            <a:off x="457200" y="1600200"/>
            <a:ext cx="8458200" cy="5029200"/>
          </a:xfrm>
        </p:spPr>
        <p:txBody>
          <a:bodyPr>
            <a:normAutofit fontScale="77500" lnSpcReduction="20000"/>
          </a:bodyPr>
          <a:lstStyle/>
          <a:p>
            <a:pPr marL="0" lvl="0" indent="0">
              <a:buSzPct val="45000"/>
              <a:buNone/>
            </a:pPr>
            <a:r>
              <a:rPr lang="en-US" b="1" u="sng" dirty="0"/>
              <a:t>Lex – Rule Section</a:t>
            </a:r>
          </a:p>
          <a:p>
            <a:pPr>
              <a:buSzPct val="45000"/>
              <a:buFont typeface="StarSymbol"/>
              <a:buChar char="●"/>
            </a:pPr>
            <a:r>
              <a:rPr lang="en-US" dirty="0"/>
              <a:t>Contains </a:t>
            </a:r>
            <a:r>
              <a:rPr lang="en-US" b="1" i="1" dirty="0"/>
              <a:t>patterns</a:t>
            </a:r>
            <a:r>
              <a:rPr lang="en-US" dirty="0"/>
              <a:t> and </a:t>
            </a:r>
            <a:r>
              <a:rPr lang="en-US" b="1" i="1" dirty="0"/>
              <a:t>C-code</a:t>
            </a:r>
          </a:p>
          <a:p>
            <a:pPr lvl="1">
              <a:buSzPct val="45000"/>
              <a:buFont typeface="StarSymbol"/>
              <a:buChar char="●"/>
            </a:pPr>
            <a:r>
              <a:rPr lang="en-US" dirty="0"/>
              <a:t>A line starting with white space or material enclosed in %{ and %} is a C-code.</a:t>
            </a:r>
          </a:p>
          <a:p>
            <a:pPr lvl="1">
              <a:buSzPct val="45000"/>
              <a:buFont typeface="StarSymbol"/>
              <a:buChar char="●"/>
            </a:pPr>
            <a:r>
              <a:rPr lang="en-US" dirty="0"/>
              <a:t>A line starting with anything else is a pattern line.</a:t>
            </a:r>
          </a:p>
          <a:p>
            <a:pPr lvl="1">
              <a:buSzPct val="45000"/>
              <a:buFont typeface="StarSymbol"/>
              <a:buChar char="●"/>
            </a:pPr>
            <a:r>
              <a:rPr lang="en-US" dirty="0"/>
              <a:t>Pattern lines contain a pattern followed by some white space and C-code:</a:t>
            </a:r>
          </a:p>
          <a:p>
            <a:pPr marL="457200" lvl="1" indent="0">
              <a:buSzPct val="45000"/>
              <a:buNone/>
            </a:pPr>
            <a:r>
              <a:rPr lang="en-US" dirty="0"/>
              <a:t>        </a:t>
            </a:r>
            <a:r>
              <a:rPr lang="en-US" b="1" dirty="0">
                <a:solidFill>
                  <a:srgbClr val="000099"/>
                </a:solidFill>
                <a:latin typeface="Courier New" panose="02070309020205020404" pitchFamily="49" charset="0"/>
                <a:cs typeface="Courier New" panose="02070309020205020404" pitchFamily="49" charset="0"/>
              </a:rPr>
              <a:t>{ pattern }		{ action (C − code) }</a:t>
            </a:r>
          </a:p>
          <a:p>
            <a:pPr lvl="1">
              <a:buSzPct val="45000"/>
              <a:buFont typeface="StarSymbol"/>
              <a:buChar char="●"/>
            </a:pPr>
            <a:r>
              <a:rPr lang="en-US" dirty="0"/>
              <a:t>C-code lines are copied verbatim to the generated C-file (</a:t>
            </a:r>
            <a:r>
              <a:rPr lang="en-US" b="1" i="1" dirty="0" err="1"/>
              <a:t>lex.yy.c</a:t>
            </a:r>
            <a:r>
              <a:rPr lang="en-US" dirty="0"/>
              <a:t>).</a:t>
            </a:r>
          </a:p>
          <a:p>
            <a:pPr>
              <a:buSzPct val="45000"/>
              <a:buFont typeface="StarSymbol"/>
              <a:buChar char="●"/>
            </a:pPr>
            <a:r>
              <a:rPr lang="en-US" b="1" i="1" dirty="0"/>
              <a:t>Patterns</a:t>
            </a:r>
            <a:r>
              <a:rPr lang="en-US" dirty="0"/>
              <a:t> are translated into </a:t>
            </a:r>
            <a:r>
              <a:rPr lang="en-US" b="1" i="1" dirty="0"/>
              <a:t>NFA</a:t>
            </a:r>
            <a:r>
              <a:rPr lang="en-US" dirty="0"/>
              <a:t> which are then converted into </a:t>
            </a:r>
            <a:r>
              <a:rPr lang="en-US" b="1" i="1" dirty="0"/>
              <a:t>DFA</a:t>
            </a:r>
            <a:r>
              <a:rPr lang="en-US" dirty="0"/>
              <a:t>, optimized, and stored in the form of a state table and a driver routine.</a:t>
            </a:r>
          </a:p>
          <a:p>
            <a:pPr>
              <a:buSzPct val="45000"/>
              <a:buFont typeface="StarSymbol"/>
              <a:buChar char="●"/>
            </a:pPr>
            <a:r>
              <a:rPr lang="en-US" dirty="0"/>
              <a:t>The </a:t>
            </a:r>
            <a:r>
              <a:rPr lang="en-US" b="1" i="1" dirty="0"/>
              <a:t>action</a:t>
            </a:r>
            <a:r>
              <a:rPr lang="en-US" dirty="0"/>
              <a:t> associated with a pattern is executed when the </a:t>
            </a:r>
            <a:r>
              <a:rPr lang="en-US" b="1" i="1" dirty="0"/>
              <a:t>DFA</a:t>
            </a:r>
            <a:r>
              <a:rPr lang="en-US" dirty="0"/>
              <a:t> recognizes a string corresponding to that pattern and reaches a final state.</a:t>
            </a:r>
          </a:p>
        </p:txBody>
      </p:sp>
      <p:sp>
        <p:nvSpPr>
          <p:cNvPr id="4" name="Slide Number Placeholder 3"/>
          <p:cNvSpPr>
            <a:spLocks noGrp="1"/>
          </p:cNvSpPr>
          <p:nvPr>
            <p:ph type="sldNum" sz="quarter" idx="12"/>
          </p:nvPr>
        </p:nvSpPr>
        <p:spPr/>
        <p:txBody>
          <a:bodyPr/>
          <a:lstStyle/>
          <a:p>
            <a:fld id="{C2C343A0-757D-4032-BC20-DF0A67BD0A50}" type="slidenum">
              <a:rPr lang="en-US" smtClean="0"/>
              <a:t>55</a:t>
            </a:fld>
            <a:endParaRPr lang="en-US"/>
          </a:p>
        </p:txBody>
      </p:sp>
    </p:spTree>
    <p:extLst>
      <p:ext uri="{BB962C8B-B14F-4D97-AF65-F5344CB8AC3E}">
        <p14:creationId xmlns:p14="http://schemas.microsoft.com/office/powerpoint/2010/main" val="31039359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Introduction to </a:t>
            </a:r>
            <a:r>
              <a:rPr lang="en-US" b="1" i="1" dirty="0"/>
              <a:t>Lex</a:t>
            </a:r>
          </a:p>
        </p:txBody>
      </p:sp>
      <p:sp>
        <p:nvSpPr>
          <p:cNvPr id="3" name="Content Placeholder 2"/>
          <p:cNvSpPr>
            <a:spLocks noGrp="1"/>
          </p:cNvSpPr>
          <p:nvPr>
            <p:ph idx="1"/>
          </p:nvPr>
        </p:nvSpPr>
        <p:spPr>
          <a:xfrm>
            <a:off x="457200" y="1600200"/>
            <a:ext cx="8458200" cy="5029200"/>
          </a:xfrm>
        </p:spPr>
        <p:txBody>
          <a:bodyPr>
            <a:normAutofit fontScale="77500" lnSpcReduction="20000"/>
          </a:bodyPr>
          <a:lstStyle/>
          <a:p>
            <a:pPr marL="0" lvl="0" indent="0">
              <a:buSzPct val="45000"/>
              <a:buNone/>
            </a:pPr>
            <a:r>
              <a:rPr lang="en-US" b="1" u="sng" dirty="0"/>
              <a:t>Lex – </a:t>
            </a:r>
            <a:r>
              <a:rPr lang="en-US" b="1" i="1" u="sng" dirty="0"/>
              <a:t>Metacharacters</a:t>
            </a:r>
            <a:r>
              <a:rPr lang="en-US" b="1" u="sng" dirty="0"/>
              <a:t> and </a:t>
            </a:r>
            <a:r>
              <a:rPr lang="en-US" b="1" i="1" u="sng" dirty="0"/>
              <a:t>Matches</a:t>
            </a:r>
          </a:p>
          <a:p>
            <a:pPr>
              <a:buSzPct val="45000"/>
              <a:buFont typeface="StarSymbol"/>
              <a:buChar char="●"/>
            </a:pPr>
            <a:r>
              <a:rPr lang="en-US" dirty="0"/>
              <a:t>Regular expressions in </a:t>
            </a:r>
            <a:r>
              <a:rPr lang="en-US" b="1" i="1" dirty="0" err="1"/>
              <a:t>lex</a:t>
            </a:r>
            <a:r>
              <a:rPr lang="en-US" dirty="0"/>
              <a:t> are composed of </a:t>
            </a:r>
            <a:r>
              <a:rPr lang="en-US" b="1" i="1" dirty="0"/>
              <a:t>metacharacters</a:t>
            </a:r>
            <a:r>
              <a:rPr lang="en-US" dirty="0"/>
              <a:t>.</a:t>
            </a:r>
          </a:p>
          <a:p>
            <a:pPr marL="0" indent="0" algn="ctr">
              <a:buSzPct val="45000"/>
              <a:buNone/>
            </a:pPr>
            <a:r>
              <a:rPr lang="en-US" b="1" i="1" u="sng" dirty="0"/>
              <a:t>Pattern Matching Primitives</a:t>
            </a:r>
          </a:p>
          <a:p>
            <a:pPr>
              <a:buSzPct val="45000"/>
              <a:buFont typeface="StarSymbol"/>
              <a:buChar char="●"/>
            </a:pPr>
            <a:endParaRPr lang="en-US" dirty="0"/>
          </a:p>
          <a:p>
            <a:pPr>
              <a:buSzPct val="45000"/>
              <a:buFont typeface="StarSymbol"/>
              <a:buChar char="●"/>
            </a:pPr>
            <a:endParaRPr lang="en-US" dirty="0"/>
          </a:p>
          <a:p>
            <a:pPr>
              <a:buSzPct val="45000"/>
              <a:buFont typeface="StarSymbol"/>
              <a:buChar char="●"/>
            </a:pPr>
            <a:endParaRPr lang="en-US" dirty="0"/>
          </a:p>
          <a:p>
            <a:pPr>
              <a:buSzPct val="45000"/>
              <a:buFont typeface="StarSymbol"/>
              <a:buChar char="●"/>
            </a:pPr>
            <a:endParaRPr lang="en-US" dirty="0"/>
          </a:p>
          <a:p>
            <a:pPr>
              <a:buSzPct val="45000"/>
              <a:buFont typeface="StarSymbol"/>
              <a:buChar char="●"/>
            </a:pPr>
            <a:endParaRPr lang="en-US" dirty="0"/>
          </a:p>
          <a:p>
            <a:pPr>
              <a:buSzPct val="45000"/>
              <a:buFont typeface="StarSymbol"/>
              <a:buChar char="●"/>
            </a:pPr>
            <a:endParaRPr lang="en-US" dirty="0"/>
          </a:p>
          <a:p>
            <a:pPr>
              <a:buSzPct val="45000"/>
              <a:buFont typeface="StarSymbol"/>
              <a:buChar char="●"/>
            </a:pPr>
            <a:endParaRPr lang="en-US" dirty="0"/>
          </a:p>
          <a:p>
            <a:pPr>
              <a:buSzPct val="45000"/>
              <a:buFont typeface="StarSymbol"/>
              <a:buChar char="●"/>
            </a:pPr>
            <a:endParaRPr lang="en-US" dirty="0"/>
          </a:p>
          <a:p>
            <a:pPr marL="0" indent="0">
              <a:buSzPct val="45000"/>
              <a:buNone/>
            </a:pPr>
            <a:r>
              <a:rPr lang="en-US" dirty="0"/>
              <a:t> </a:t>
            </a:r>
          </a:p>
        </p:txBody>
      </p:sp>
      <p:pic>
        <p:nvPicPr>
          <p:cNvPr id="4" name="Picture 3"/>
          <p:cNvPicPr>
            <a:picLocks noChangeAspect="1"/>
          </p:cNvPicPr>
          <p:nvPr/>
        </p:nvPicPr>
        <p:blipFill>
          <a:blip r:embed="rId2">
            <a:alphaModFix/>
          </a:blip>
          <a:srcRect/>
          <a:stretch>
            <a:fillRect/>
          </a:stretch>
        </p:blipFill>
        <p:spPr>
          <a:xfrm>
            <a:off x="912240" y="2714203"/>
            <a:ext cx="7622160" cy="4067597"/>
          </a:xfrm>
          <a:prstGeom prst="rect">
            <a:avLst/>
          </a:prstGeom>
          <a:noFill/>
          <a:ln>
            <a:noFill/>
          </a:ln>
        </p:spPr>
      </p:pic>
      <p:sp>
        <p:nvSpPr>
          <p:cNvPr id="5" name="Slide Number Placeholder 4"/>
          <p:cNvSpPr>
            <a:spLocks noGrp="1"/>
          </p:cNvSpPr>
          <p:nvPr>
            <p:ph type="sldNum" sz="quarter" idx="12"/>
          </p:nvPr>
        </p:nvSpPr>
        <p:spPr/>
        <p:txBody>
          <a:bodyPr/>
          <a:lstStyle/>
          <a:p>
            <a:fld id="{C2C343A0-757D-4032-BC20-DF0A67BD0A50}" type="slidenum">
              <a:rPr lang="en-US" smtClean="0"/>
              <a:t>56</a:t>
            </a:fld>
            <a:endParaRPr lang="en-US"/>
          </a:p>
        </p:txBody>
      </p:sp>
    </p:spTree>
    <p:extLst>
      <p:ext uri="{BB962C8B-B14F-4D97-AF65-F5344CB8AC3E}">
        <p14:creationId xmlns:p14="http://schemas.microsoft.com/office/powerpoint/2010/main" val="19155811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Introduction to </a:t>
            </a:r>
            <a:r>
              <a:rPr lang="en-US" b="1" i="1" dirty="0"/>
              <a:t>Lex</a:t>
            </a:r>
          </a:p>
        </p:txBody>
      </p:sp>
      <p:sp>
        <p:nvSpPr>
          <p:cNvPr id="3" name="Content Placeholder 2"/>
          <p:cNvSpPr>
            <a:spLocks noGrp="1"/>
          </p:cNvSpPr>
          <p:nvPr>
            <p:ph idx="1"/>
          </p:nvPr>
        </p:nvSpPr>
        <p:spPr>
          <a:xfrm>
            <a:off x="457200" y="1600200"/>
            <a:ext cx="8458200" cy="5029200"/>
          </a:xfrm>
        </p:spPr>
        <p:txBody>
          <a:bodyPr>
            <a:normAutofit fontScale="70000" lnSpcReduction="20000"/>
          </a:bodyPr>
          <a:lstStyle/>
          <a:p>
            <a:pPr marL="0" lvl="0" indent="0">
              <a:buSzPct val="45000"/>
              <a:buNone/>
            </a:pPr>
            <a:r>
              <a:rPr lang="en-US" b="1" u="sng" dirty="0"/>
              <a:t>Lex – </a:t>
            </a:r>
            <a:r>
              <a:rPr lang="en-US" b="1" i="1" u="sng" dirty="0"/>
              <a:t>Metacharacters</a:t>
            </a:r>
            <a:r>
              <a:rPr lang="en-US" b="1" u="sng" dirty="0"/>
              <a:t> and </a:t>
            </a:r>
            <a:r>
              <a:rPr lang="en-US" b="1" i="1" u="sng" dirty="0"/>
              <a:t>Matches</a:t>
            </a:r>
          </a:p>
          <a:p>
            <a:pPr>
              <a:buSzPct val="45000"/>
            </a:pPr>
            <a:r>
              <a:rPr lang="en-US" dirty="0"/>
              <a:t>Pattern matching example:</a:t>
            </a:r>
          </a:p>
          <a:p>
            <a:pPr>
              <a:buSzPct val="45000"/>
            </a:pPr>
            <a:endParaRPr lang="en-US" dirty="0"/>
          </a:p>
          <a:p>
            <a:pPr>
              <a:buSzPct val="45000"/>
            </a:pPr>
            <a:endParaRPr lang="en-US" dirty="0"/>
          </a:p>
          <a:p>
            <a:pPr>
              <a:buSzPct val="45000"/>
            </a:pPr>
            <a:endParaRPr lang="en-US" dirty="0"/>
          </a:p>
          <a:p>
            <a:pPr>
              <a:buSzPct val="45000"/>
            </a:pPr>
            <a:endParaRPr lang="en-US" dirty="0"/>
          </a:p>
          <a:p>
            <a:pPr>
              <a:buSzPct val="45000"/>
            </a:pPr>
            <a:endParaRPr lang="en-US" dirty="0"/>
          </a:p>
          <a:p>
            <a:pPr>
              <a:buSzPct val="45000"/>
            </a:pPr>
            <a:endParaRPr lang="en-US" dirty="0"/>
          </a:p>
          <a:p>
            <a:pPr>
              <a:buSzPct val="45000"/>
            </a:pPr>
            <a:endParaRPr lang="en-US" dirty="0"/>
          </a:p>
          <a:p>
            <a:pPr>
              <a:buSzPct val="45000"/>
            </a:pPr>
            <a:endParaRPr lang="en-US" dirty="0"/>
          </a:p>
          <a:p>
            <a:pPr>
              <a:buSzPct val="45000"/>
            </a:pPr>
            <a:endParaRPr lang="en-US" dirty="0"/>
          </a:p>
          <a:p>
            <a:pPr>
              <a:buSzPct val="45000"/>
            </a:pPr>
            <a:endParaRPr lang="en-US" dirty="0"/>
          </a:p>
          <a:p>
            <a:pPr marL="0" indent="0">
              <a:buSzPct val="45000"/>
              <a:buNone/>
            </a:pPr>
            <a:endParaRPr lang="en-US" dirty="0"/>
          </a:p>
          <a:p>
            <a:pPr marL="0" indent="0">
              <a:buSzPct val="45000"/>
              <a:buNone/>
            </a:pPr>
            <a:r>
              <a:rPr lang="en-US" dirty="0"/>
              <a:t> </a:t>
            </a:r>
          </a:p>
        </p:txBody>
      </p:sp>
      <p:pic>
        <p:nvPicPr>
          <p:cNvPr id="5" name="Picture 4"/>
          <p:cNvPicPr>
            <a:picLocks noChangeAspect="1"/>
          </p:cNvPicPr>
          <p:nvPr/>
        </p:nvPicPr>
        <p:blipFill>
          <a:blip r:embed="rId2">
            <a:alphaModFix/>
          </a:blip>
          <a:srcRect/>
          <a:stretch>
            <a:fillRect/>
          </a:stretch>
        </p:blipFill>
        <p:spPr>
          <a:xfrm>
            <a:off x="1752600" y="2216706"/>
            <a:ext cx="6553200" cy="4402782"/>
          </a:xfrm>
          <a:prstGeom prst="rect">
            <a:avLst/>
          </a:prstGeom>
          <a:noFill/>
          <a:ln>
            <a:noFill/>
          </a:ln>
        </p:spPr>
      </p:pic>
      <p:sp>
        <p:nvSpPr>
          <p:cNvPr id="4" name="Slide Number Placeholder 3"/>
          <p:cNvSpPr>
            <a:spLocks noGrp="1"/>
          </p:cNvSpPr>
          <p:nvPr>
            <p:ph type="sldNum" sz="quarter" idx="12"/>
          </p:nvPr>
        </p:nvSpPr>
        <p:spPr/>
        <p:txBody>
          <a:bodyPr/>
          <a:lstStyle/>
          <a:p>
            <a:fld id="{C2C343A0-757D-4032-BC20-DF0A67BD0A50}" type="slidenum">
              <a:rPr lang="en-US" smtClean="0"/>
              <a:t>57</a:t>
            </a:fld>
            <a:endParaRPr lang="en-US"/>
          </a:p>
        </p:txBody>
      </p:sp>
    </p:spTree>
    <p:extLst>
      <p:ext uri="{BB962C8B-B14F-4D97-AF65-F5344CB8AC3E}">
        <p14:creationId xmlns:p14="http://schemas.microsoft.com/office/powerpoint/2010/main" val="31425488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 – Strings and Operators</a:t>
            </a:r>
            <a:endParaRPr lang="en-US" b="1" i="1" dirty="0"/>
          </a:p>
        </p:txBody>
      </p:sp>
      <p:sp>
        <p:nvSpPr>
          <p:cNvPr id="3" name="Content Placeholder 2"/>
          <p:cNvSpPr>
            <a:spLocks noGrp="1"/>
          </p:cNvSpPr>
          <p:nvPr>
            <p:ph idx="1"/>
          </p:nvPr>
        </p:nvSpPr>
        <p:spPr>
          <a:xfrm>
            <a:off x="457200" y="1600200"/>
            <a:ext cx="8458200" cy="5029200"/>
          </a:xfrm>
        </p:spPr>
        <p:txBody>
          <a:bodyPr>
            <a:normAutofit fontScale="62500" lnSpcReduction="20000"/>
          </a:bodyPr>
          <a:lstStyle/>
          <a:p>
            <a:pPr lvl="0">
              <a:buSzPct val="45000"/>
              <a:buFont typeface="StarSymbol"/>
              <a:buChar char="●"/>
            </a:pPr>
            <a:r>
              <a:rPr lang="en-US" b="1" dirty="0"/>
              <a:t>Examples</a:t>
            </a:r>
            <a:r>
              <a:rPr lang="en-US" dirty="0"/>
              <a:t> </a:t>
            </a:r>
            <a:r>
              <a:rPr lang="en-US" b="1" dirty="0"/>
              <a:t>of</a:t>
            </a:r>
            <a:r>
              <a:rPr lang="en-US" dirty="0"/>
              <a:t> </a:t>
            </a:r>
            <a:r>
              <a:rPr lang="en-US" b="1" dirty="0"/>
              <a:t>strings</a:t>
            </a:r>
            <a:r>
              <a:rPr lang="en-US" dirty="0"/>
              <a:t>: </a:t>
            </a:r>
            <a:r>
              <a:rPr lang="en-US" i="1" dirty="0"/>
              <a:t>integer a57d hello</a:t>
            </a:r>
          </a:p>
          <a:p>
            <a:pPr lvl="0">
              <a:buSzPct val="45000"/>
              <a:buFont typeface="StarSymbol"/>
              <a:buChar char="●"/>
            </a:pPr>
            <a:endParaRPr lang="en-US" b="1" dirty="0"/>
          </a:p>
          <a:p>
            <a:pPr lvl="0">
              <a:buSzPct val="45000"/>
              <a:buFont typeface="StarSymbol"/>
              <a:buChar char="●"/>
            </a:pPr>
            <a:r>
              <a:rPr lang="en-US" b="1" dirty="0"/>
              <a:t>Operators</a:t>
            </a:r>
            <a:r>
              <a:rPr lang="en-US" dirty="0"/>
              <a:t>:   </a:t>
            </a:r>
            <a:r>
              <a:rPr lang="en-US" b="1" dirty="0">
                <a:latin typeface="Courier New" pitchFamily="49"/>
              </a:rPr>
              <a:t>" \ [] ^ - ? . * + | () $ {} % &lt;&gt;</a:t>
            </a:r>
          </a:p>
          <a:p>
            <a:pPr lvl="1">
              <a:buSzPct val="45000"/>
              <a:buFont typeface="StarSymbol"/>
              <a:buChar char="●"/>
            </a:pPr>
            <a:r>
              <a:rPr lang="en-US" b="1" dirty="0">
                <a:latin typeface="Courier New" panose="02070309020205020404" pitchFamily="49" charset="0"/>
                <a:cs typeface="Courier New" panose="02070309020205020404" pitchFamily="49" charset="0"/>
              </a:rPr>
              <a:t>\</a:t>
            </a:r>
            <a:r>
              <a:rPr lang="en-US" dirty="0"/>
              <a:t>   (backslash)   can be used as an escape character as in C</a:t>
            </a:r>
          </a:p>
          <a:p>
            <a:pPr lvl="0">
              <a:buSzPct val="45000"/>
              <a:buFont typeface="StarSymbol"/>
              <a:buChar char="●"/>
            </a:pPr>
            <a:r>
              <a:rPr lang="en-US" b="1" dirty="0"/>
              <a:t>Character classes</a:t>
            </a:r>
            <a:r>
              <a:rPr lang="en-US" dirty="0"/>
              <a:t>: enclosed in </a:t>
            </a:r>
            <a:r>
              <a:rPr lang="en-US" b="1" dirty="0"/>
              <a:t>[</a:t>
            </a:r>
            <a:r>
              <a:rPr lang="en-US" dirty="0"/>
              <a:t> and </a:t>
            </a:r>
            <a:r>
              <a:rPr lang="en-US" b="1" dirty="0"/>
              <a:t>]</a:t>
            </a:r>
          </a:p>
          <a:p>
            <a:pPr lvl="1">
              <a:buSzPct val="45000"/>
              <a:buFont typeface="StarSymbol"/>
              <a:buChar char="●"/>
            </a:pPr>
            <a:r>
              <a:rPr lang="en-US" dirty="0"/>
              <a:t>Only </a:t>
            </a:r>
            <a:r>
              <a:rPr lang="en-US" sz="3200" b="1" dirty="0">
                <a:latin typeface="Courier New" panose="02070309020205020404" pitchFamily="49" charset="0"/>
                <a:cs typeface="Courier New" panose="02070309020205020404" pitchFamily="49" charset="0"/>
              </a:rPr>
              <a:t>\</a:t>
            </a:r>
            <a:r>
              <a:rPr lang="en-US" sz="3200" dirty="0">
                <a:latin typeface="Courier New" panose="02070309020205020404" pitchFamily="49" charset="0"/>
                <a:cs typeface="Courier New" panose="02070309020205020404" pitchFamily="49" charset="0"/>
              </a:rPr>
              <a:t>, </a:t>
            </a:r>
            <a:r>
              <a:rPr lang="en-US" sz="3200" b="1" dirty="0">
                <a:latin typeface="Courier New" panose="02070309020205020404" pitchFamily="49" charset="0"/>
                <a:cs typeface="Courier New" panose="02070309020205020404" pitchFamily="49" charset="0"/>
              </a:rPr>
              <a:t>-</a:t>
            </a:r>
            <a:r>
              <a:rPr lang="en-US" sz="3200" dirty="0">
                <a:latin typeface="Courier New" panose="02070309020205020404" pitchFamily="49" charset="0"/>
                <a:cs typeface="Courier New" panose="02070309020205020404" pitchFamily="49" charset="0"/>
              </a:rPr>
              <a:t>, </a:t>
            </a:r>
            <a:r>
              <a:rPr lang="en-US" dirty="0"/>
              <a:t>and </a:t>
            </a:r>
            <a:r>
              <a:rPr lang="en-US" sz="3200" b="1" dirty="0">
                <a:latin typeface="Courier New" panose="02070309020205020404" pitchFamily="49" charset="0"/>
                <a:cs typeface="Courier New" panose="02070309020205020404" pitchFamily="49" charset="0"/>
              </a:rPr>
              <a:t>^</a:t>
            </a:r>
            <a:r>
              <a:rPr lang="en-US" dirty="0"/>
              <a:t> are special inside </a:t>
            </a:r>
            <a:r>
              <a:rPr lang="en-US" sz="2800" b="1" dirty="0">
                <a:highlight>
                  <a:scrgbClr r="0" g="0" b="0">
                    <a:alpha val="0"/>
                  </a:scrgbClr>
                </a:highlight>
                <a:latin typeface="Courier New" pitchFamily="49"/>
              </a:rPr>
              <a:t>[ ]</a:t>
            </a:r>
            <a:r>
              <a:rPr lang="en-US" sz="2800" dirty="0">
                <a:highlight>
                  <a:scrgbClr r="0" g="0" b="0">
                    <a:alpha val="0"/>
                  </a:scrgbClr>
                </a:highlight>
                <a:latin typeface="Liberation Sans" pitchFamily="18"/>
              </a:rPr>
              <a:t>. </a:t>
            </a:r>
          </a:p>
          <a:p>
            <a:pPr lvl="1">
              <a:buSzPct val="45000"/>
              <a:buFont typeface="StarSymbol"/>
              <a:buChar char="●"/>
            </a:pPr>
            <a:r>
              <a:rPr lang="en-US" dirty="0"/>
              <a:t>All other operators are irrelevant inside </a:t>
            </a:r>
            <a:r>
              <a:rPr lang="en-US" sz="2800" b="1" dirty="0">
                <a:highlight>
                  <a:scrgbClr r="0" g="0" b="0">
                    <a:alpha val="0"/>
                  </a:scrgbClr>
                </a:highlight>
                <a:latin typeface="Courier New" pitchFamily="49"/>
              </a:rPr>
              <a:t>[ ]</a:t>
            </a:r>
            <a:r>
              <a:rPr lang="en-US" sz="2800" dirty="0">
                <a:highlight>
                  <a:scrgbClr r="0" g="0" b="0">
                    <a:alpha val="0"/>
                  </a:scrgbClr>
                </a:highlight>
                <a:latin typeface="Liberation Sans" pitchFamily="18"/>
              </a:rPr>
              <a:t>.</a:t>
            </a:r>
          </a:p>
          <a:p>
            <a:pPr lvl="0">
              <a:buSzPct val="45000"/>
              <a:buFont typeface="StarSymbol"/>
              <a:buChar char="●"/>
            </a:pPr>
            <a:r>
              <a:rPr lang="en-US" b="1" dirty="0"/>
              <a:t>Examples</a:t>
            </a:r>
            <a:r>
              <a:rPr lang="en-US" dirty="0"/>
              <a:t>:</a:t>
            </a:r>
          </a:p>
          <a:p>
            <a:pPr lvl="1" hangingPunct="0">
              <a:spcBef>
                <a:spcPts val="1417"/>
              </a:spcBef>
              <a:buNone/>
            </a:pPr>
            <a:r>
              <a:rPr lang="en-US" sz="3200" b="1" dirty="0">
                <a:solidFill>
                  <a:srgbClr val="0000CC"/>
                </a:solidFill>
                <a:highlight>
                  <a:scrgbClr r="0" g="0" b="0">
                    <a:alpha val="0"/>
                  </a:scrgbClr>
                </a:highlight>
                <a:latin typeface="Courier New" pitchFamily="49"/>
              </a:rPr>
              <a:t>[-+][0-9]+</a:t>
            </a:r>
            <a:r>
              <a:rPr lang="en-US" sz="3200" b="1" dirty="0">
                <a:highlight>
                  <a:scrgbClr r="0" g="0" b="0">
                    <a:alpha val="0"/>
                  </a:scrgbClr>
                </a:highlight>
                <a:latin typeface="Courier New" pitchFamily="49"/>
              </a:rPr>
              <a:t>      –--&gt;   </a:t>
            </a:r>
            <a:r>
              <a:rPr lang="en-US" sz="3200" b="1" dirty="0">
                <a:solidFill>
                  <a:srgbClr val="006600"/>
                </a:solidFill>
                <a:highlight>
                  <a:scrgbClr r="0" g="0" b="0">
                    <a:alpha val="0"/>
                  </a:scrgbClr>
                </a:highlight>
                <a:latin typeface="Courier New" pitchFamily="49"/>
              </a:rPr>
              <a:t>(-|+)(0|1|2|3|4|5|6|7|8|9)+</a:t>
            </a:r>
          </a:p>
          <a:p>
            <a:pPr lvl="1" hangingPunct="0">
              <a:spcBef>
                <a:spcPts val="1417"/>
              </a:spcBef>
              <a:buNone/>
            </a:pPr>
            <a:r>
              <a:rPr lang="en-US" sz="3200" b="1" dirty="0">
                <a:solidFill>
                  <a:srgbClr val="0000CC"/>
                </a:solidFill>
                <a:highlight>
                  <a:scrgbClr r="0" g="0" b="0">
                    <a:alpha val="0"/>
                  </a:scrgbClr>
                </a:highlight>
                <a:latin typeface="Courier New" pitchFamily="49"/>
              </a:rPr>
              <a:t>[a-d][0-4][A-C]</a:t>
            </a:r>
            <a:r>
              <a:rPr lang="en-US" sz="3200" b="1" dirty="0">
                <a:highlight>
                  <a:scrgbClr r="0" g="0" b="0">
                    <a:alpha val="0"/>
                  </a:scrgbClr>
                </a:highlight>
                <a:latin typeface="Courier New" pitchFamily="49"/>
              </a:rPr>
              <a:t> ---&gt;   </a:t>
            </a:r>
            <a:r>
              <a:rPr lang="en-US" sz="3200" b="1" dirty="0">
                <a:solidFill>
                  <a:srgbClr val="006600"/>
                </a:solidFill>
                <a:highlight>
                  <a:scrgbClr r="0" g="0" b="0">
                    <a:alpha val="0"/>
                  </a:scrgbClr>
                </a:highlight>
                <a:latin typeface="Courier New" pitchFamily="49"/>
              </a:rPr>
              <a:t>a|b|c|d|0|1|2|3|4|A|B|C</a:t>
            </a:r>
          </a:p>
          <a:p>
            <a:pPr lvl="1" hangingPunct="0">
              <a:spcBef>
                <a:spcPts val="1417"/>
              </a:spcBef>
              <a:buNone/>
            </a:pPr>
            <a:r>
              <a:rPr lang="en-US" sz="3200" b="1" dirty="0">
                <a:solidFill>
                  <a:srgbClr val="000099"/>
                </a:solidFill>
                <a:highlight>
                  <a:scrgbClr r="0" g="0" b="0">
                    <a:alpha val="0"/>
                  </a:scrgbClr>
                </a:highlight>
                <a:latin typeface="Courier New" pitchFamily="49"/>
              </a:rPr>
              <a:t>[^</a:t>
            </a:r>
            <a:r>
              <a:rPr lang="en-US" sz="3200" b="1" dirty="0" err="1">
                <a:solidFill>
                  <a:srgbClr val="000099"/>
                </a:solidFill>
                <a:highlight>
                  <a:scrgbClr r="0" g="0" b="0">
                    <a:alpha val="0"/>
                  </a:scrgbClr>
                </a:highlight>
                <a:latin typeface="Courier New" pitchFamily="49"/>
              </a:rPr>
              <a:t>abc</a:t>
            </a:r>
            <a:r>
              <a:rPr lang="en-US" sz="3200" b="1" dirty="0">
                <a:solidFill>
                  <a:srgbClr val="000099"/>
                </a:solidFill>
                <a:highlight>
                  <a:scrgbClr r="0" g="0" b="0">
                    <a:alpha val="0"/>
                  </a:scrgbClr>
                </a:highlight>
                <a:latin typeface="Courier New" pitchFamily="49"/>
              </a:rPr>
              <a:t>]</a:t>
            </a:r>
            <a:r>
              <a:rPr lang="en-US" sz="3200" b="1" dirty="0">
                <a:highlight>
                  <a:scrgbClr r="0" g="0" b="0">
                    <a:alpha val="0"/>
                  </a:scrgbClr>
                </a:highlight>
                <a:latin typeface="Courier New" pitchFamily="49"/>
              </a:rPr>
              <a:t>          ---&gt;</a:t>
            </a:r>
            <a:r>
              <a:rPr lang="en-US" sz="3200" dirty="0">
                <a:highlight>
                  <a:scrgbClr r="0" g="0" b="0">
                    <a:alpha val="0"/>
                  </a:scrgbClr>
                </a:highlight>
                <a:latin typeface="Courier New" pitchFamily="49"/>
              </a:rPr>
              <a:t>   </a:t>
            </a:r>
            <a:r>
              <a:rPr lang="en-US" dirty="0"/>
              <a:t>all char except </a:t>
            </a:r>
            <a:r>
              <a:rPr lang="en-US" sz="3200" b="1" dirty="0">
                <a:solidFill>
                  <a:srgbClr val="006600"/>
                </a:solidFill>
                <a:highlight>
                  <a:scrgbClr r="0" g="0" b="0">
                    <a:alpha val="0"/>
                  </a:scrgbClr>
                </a:highlight>
                <a:latin typeface="Courier New" pitchFamily="49"/>
              </a:rPr>
              <a:t>a</a:t>
            </a:r>
            <a:r>
              <a:rPr lang="en-US" sz="3200" dirty="0">
                <a:highlight>
                  <a:scrgbClr r="0" g="0" b="0">
                    <a:alpha val="0"/>
                  </a:scrgbClr>
                </a:highlight>
                <a:latin typeface="Liberation Sans" pitchFamily="18"/>
              </a:rPr>
              <a:t>, </a:t>
            </a:r>
            <a:r>
              <a:rPr lang="en-US" sz="3200" b="1" dirty="0">
                <a:solidFill>
                  <a:srgbClr val="006600"/>
                </a:solidFill>
                <a:highlight>
                  <a:scrgbClr r="0" g="0" b="0">
                    <a:alpha val="0"/>
                  </a:scrgbClr>
                </a:highlight>
                <a:latin typeface="Courier New" pitchFamily="49"/>
              </a:rPr>
              <a:t>b</a:t>
            </a:r>
            <a:r>
              <a:rPr lang="en-US" sz="3200" dirty="0">
                <a:highlight>
                  <a:scrgbClr r="0" g="0" b="0">
                    <a:alpha val="0"/>
                  </a:scrgbClr>
                </a:highlight>
                <a:latin typeface="Liberation Sans" pitchFamily="18"/>
              </a:rPr>
              <a:t>, </a:t>
            </a:r>
            <a:r>
              <a:rPr lang="en-US" dirty="0"/>
              <a:t>or </a:t>
            </a:r>
            <a:r>
              <a:rPr lang="en-US" sz="3200" b="1" dirty="0">
                <a:solidFill>
                  <a:srgbClr val="006600"/>
                </a:solidFill>
                <a:highlight>
                  <a:scrgbClr r="0" g="0" b="0">
                    <a:alpha val="0"/>
                  </a:scrgbClr>
                </a:highlight>
                <a:latin typeface="Courier New" pitchFamily="49"/>
              </a:rPr>
              <a:t>c</a:t>
            </a:r>
            <a:r>
              <a:rPr lang="en-US" sz="3200" dirty="0">
                <a:highlight>
                  <a:scrgbClr r="0" g="0" b="0">
                    <a:alpha val="0"/>
                  </a:scrgbClr>
                </a:highlight>
                <a:latin typeface="Liberation Sans" pitchFamily="18"/>
              </a:rPr>
              <a:t>, </a:t>
            </a:r>
            <a:r>
              <a:rPr lang="en-US" dirty="0"/>
              <a:t>including  </a:t>
            </a:r>
            <a:r>
              <a:rPr lang="en-US" sz="3200" dirty="0">
                <a:highlight>
                  <a:scrgbClr r="0" g="0" b="0">
                    <a:alpha val="0"/>
                  </a:scrgbClr>
                </a:highlight>
                <a:latin typeface="Liberation Sans" pitchFamily="18"/>
              </a:rPr>
              <a:t>					</a:t>
            </a:r>
            <a:r>
              <a:rPr lang="en-US" dirty="0"/>
              <a:t>      special and control char.</a:t>
            </a:r>
          </a:p>
          <a:p>
            <a:pPr lvl="1" hangingPunct="0">
              <a:spcBef>
                <a:spcPts val="1417"/>
              </a:spcBef>
              <a:buNone/>
            </a:pPr>
            <a:r>
              <a:rPr lang="en-US" sz="3200" b="1" dirty="0">
                <a:solidFill>
                  <a:srgbClr val="000099"/>
                </a:solidFill>
                <a:highlight>
                  <a:scrgbClr r="0" g="0" b="0">
                    <a:alpha val="0"/>
                  </a:scrgbClr>
                </a:highlight>
                <a:latin typeface="Courier New" pitchFamily="49"/>
              </a:rPr>
              <a:t>[+\-][0-5]+</a:t>
            </a:r>
            <a:r>
              <a:rPr lang="en-US" sz="3200" b="1" dirty="0">
                <a:highlight>
                  <a:scrgbClr r="0" g="0" b="0">
                    <a:alpha val="0"/>
                  </a:scrgbClr>
                </a:highlight>
                <a:latin typeface="Courier New" pitchFamily="49"/>
              </a:rPr>
              <a:t>     ---&gt;   </a:t>
            </a:r>
            <a:r>
              <a:rPr lang="en-US" sz="3200" b="1" dirty="0">
                <a:solidFill>
                  <a:srgbClr val="006600"/>
                </a:solidFill>
                <a:highlight>
                  <a:scrgbClr r="0" g="0" b="0">
                    <a:alpha val="0"/>
                  </a:scrgbClr>
                </a:highlight>
                <a:latin typeface="Courier New" pitchFamily="49"/>
              </a:rPr>
              <a:t>(+|-)(0|1|2|3|4|5)+</a:t>
            </a:r>
          </a:p>
          <a:p>
            <a:pPr lvl="1" hangingPunct="0">
              <a:spcBef>
                <a:spcPts val="1417"/>
              </a:spcBef>
              <a:buNone/>
            </a:pPr>
            <a:r>
              <a:rPr lang="en-US" sz="3200" b="1" dirty="0">
                <a:solidFill>
                  <a:srgbClr val="000099"/>
                </a:solidFill>
                <a:highlight>
                  <a:scrgbClr r="0" g="0" b="0">
                    <a:alpha val="0"/>
                  </a:scrgbClr>
                </a:highlight>
                <a:latin typeface="Courier New" pitchFamily="49"/>
              </a:rPr>
              <a:t>[^a-</a:t>
            </a:r>
            <a:r>
              <a:rPr lang="en-US" sz="3200" b="1" dirty="0" err="1">
                <a:solidFill>
                  <a:srgbClr val="000099"/>
                </a:solidFill>
                <a:highlight>
                  <a:scrgbClr r="0" g="0" b="0">
                    <a:alpha val="0"/>
                  </a:scrgbClr>
                </a:highlight>
                <a:latin typeface="Courier New" pitchFamily="49"/>
              </a:rPr>
              <a:t>zA</a:t>
            </a:r>
            <a:r>
              <a:rPr lang="en-US" sz="3200" b="1" dirty="0">
                <a:solidFill>
                  <a:srgbClr val="000099"/>
                </a:solidFill>
                <a:highlight>
                  <a:scrgbClr r="0" g="0" b="0">
                    <a:alpha val="0"/>
                  </a:scrgbClr>
                </a:highlight>
                <a:latin typeface="Courier New" pitchFamily="49"/>
              </a:rPr>
              <a:t>-Z]</a:t>
            </a:r>
            <a:r>
              <a:rPr lang="en-US" sz="3200" b="1" dirty="0">
                <a:highlight>
                  <a:scrgbClr r="0" g="0" b="0">
                    <a:alpha val="0"/>
                  </a:scrgbClr>
                </a:highlight>
                <a:latin typeface="Courier New" pitchFamily="49"/>
              </a:rPr>
              <a:t>       ---&gt;</a:t>
            </a:r>
            <a:r>
              <a:rPr lang="en-US" sz="3200" dirty="0">
                <a:highlight>
                  <a:scrgbClr r="0" g="0" b="0">
                    <a:alpha val="0"/>
                  </a:scrgbClr>
                </a:highlight>
                <a:latin typeface="Liberation Sans" pitchFamily="18"/>
              </a:rPr>
              <a:t>       </a:t>
            </a:r>
            <a:r>
              <a:rPr lang="en-US" dirty="0"/>
              <a:t>all char which are not letters</a:t>
            </a:r>
            <a:endParaRPr lang="en-US" sz="3200" dirty="0">
              <a:highlight>
                <a:scrgbClr r="0" g="0" b="0">
                  <a:alpha val="0"/>
                </a:scrgbClr>
              </a:highlight>
              <a:latin typeface="Liberation Sans" pitchFamily="18"/>
            </a:endParaRPr>
          </a:p>
        </p:txBody>
      </p:sp>
      <p:sp>
        <p:nvSpPr>
          <p:cNvPr id="4" name="Slide Number Placeholder 3"/>
          <p:cNvSpPr>
            <a:spLocks noGrp="1"/>
          </p:cNvSpPr>
          <p:nvPr>
            <p:ph type="sldNum" sz="quarter" idx="12"/>
          </p:nvPr>
        </p:nvSpPr>
        <p:spPr/>
        <p:txBody>
          <a:bodyPr/>
          <a:lstStyle/>
          <a:p>
            <a:fld id="{C2C343A0-757D-4032-BC20-DF0A67BD0A50}" type="slidenum">
              <a:rPr lang="en-US" smtClean="0"/>
              <a:t>58</a:t>
            </a:fld>
            <a:endParaRPr lang="en-US"/>
          </a:p>
        </p:txBody>
      </p:sp>
    </p:spTree>
    <p:extLst>
      <p:ext uri="{BB962C8B-B14F-4D97-AF65-F5344CB8AC3E}">
        <p14:creationId xmlns:p14="http://schemas.microsoft.com/office/powerpoint/2010/main" val="42568491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 – Strings and Operators</a:t>
            </a:r>
            <a:endParaRPr lang="en-US" b="1" i="1" dirty="0"/>
          </a:p>
        </p:txBody>
      </p:sp>
      <p:sp>
        <p:nvSpPr>
          <p:cNvPr id="3" name="Content Placeholder 2"/>
          <p:cNvSpPr>
            <a:spLocks noGrp="1"/>
          </p:cNvSpPr>
          <p:nvPr>
            <p:ph idx="1"/>
          </p:nvPr>
        </p:nvSpPr>
        <p:spPr>
          <a:xfrm>
            <a:off x="457200" y="1600200"/>
            <a:ext cx="8458200" cy="5029200"/>
          </a:xfrm>
        </p:spPr>
        <p:txBody>
          <a:bodyPr>
            <a:normAutofit fontScale="62500" lnSpcReduction="20000"/>
          </a:bodyPr>
          <a:lstStyle/>
          <a:p>
            <a:pPr lvl="0">
              <a:buSzPct val="45000"/>
              <a:buFont typeface="StarSymbol"/>
              <a:buChar char="●"/>
            </a:pPr>
            <a:r>
              <a:rPr lang="en-US" b="1" dirty="0">
                <a:latin typeface="Courier New" panose="02070309020205020404" pitchFamily="49" charset="0"/>
                <a:cs typeface="Courier New" panose="02070309020205020404" pitchFamily="49" charset="0"/>
              </a:rPr>
              <a:t>The</a:t>
            </a:r>
            <a:r>
              <a:rPr lang="en-US" dirty="0"/>
              <a:t> </a:t>
            </a:r>
            <a:r>
              <a:rPr lang="en-US" sz="3600" dirty="0">
                <a:solidFill>
                  <a:srgbClr val="000099"/>
                </a:solidFill>
                <a:latin typeface="Courier New" pitchFamily="49"/>
              </a:rPr>
              <a:t>.</a:t>
            </a:r>
            <a:r>
              <a:rPr lang="en-US" sz="1400" dirty="0">
                <a:solidFill>
                  <a:srgbClr val="000099"/>
                </a:solidFill>
                <a:latin typeface="Courier New" pitchFamily="49"/>
              </a:rPr>
              <a:t> </a:t>
            </a:r>
            <a:r>
              <a:rPr lang="en-US" b="1" dirty="0">
                <a:latin typeface="Courier New" pitchFamily="49"/>
              </a:rPr>
              <a:t>operator</a:t>
            </a:r>
            <a:r>
              <a:rPr lang="en-US" dirty="0"/>
              <a:t>: matches any character except newline.</a:t>
            </a:r>
          </a:p>
          <a:p>
            <a:pPr lvl="0">
              <a:buSzPct val="45000"/>
              <a:buFont typeface="StarSymbol"/>
              <a:buChar char="●"/>
            </a:pPr>
            <a:r>
              <a:rPr lang="en-US" b="1" dirty="0">
                <a:latin typeface="Courier New" pitchFamily="49"/>
              </a:rPr>
              <a:t>The</a:t>
            </a:r>
            <a:r>
              <a:rPr lang="en-US" b="1" dirty="0">
                <a:solidFill>
                  <a:srgbClr val="000099"/>
                </a:solidFill>
                <a:latin typeface="Courier New" pitchFamily="49"/>
              </a:rPr>
              <a:t> ?</a:t>
            </a:r>
            <a:r>
              <a:rPr lang="en-US" b="1" dirty="0">
                <a:latin typeface="Courier New" pitchFamily="49"/>
              </a:rPr>
              <a:t> operator</a:t>
            </a:r>
            <a:r>
              <a:rPr lang="en-US" dirty="0"/>
              <a:t>: used to implement option </a:t>
            </a:r>
            <a:r>
              <a:rPr lang="en-US" b="1" dirty="0" err="1">
                <a:solidFill>
                  <a:srgbClr val="000099"/>
                </a:solidFill>
                <a:latin typeface="Courier New" pitchFamily="49"/>
              </a:rPr>
              <a:t>ab?c</a:t>
            </a:r>
            <a:r>
              <a:rPr lang="en-US" dirty="0"/>
              <a:t> stands for </a:t>
            </a:r>
            <a:r>
              <a:rPr lang="en-US" b="1" dirty="0">
                <a:solidFill>
                  <a:srgbClr val="000099"/>
                </a:solidFill>
                <a:latin typeface="Courier New" pitchFamily="49"/>
              </a:rPr>
              <a:t>a(</a:t>
            </a:r>
            <a:r>
              <a:rPr lang="en-US" b="1" dirty="0" err="1">
                <a:solidFill>
                  <a:srgbClr val="000099"/>
                </a:solidFill>
                <a:latin typeface="Courier New" pitchFamily="49"/>
              </a:rPr>
              <a:t>b|</a:t>
            </a:r>
            <a:r>
              <a:rPr lang="en-US" b="1" dirty="0" err="1">
                <a:solidFill>
                  <a:srgbClr val="000099"/>
                </a:solidFill>
                <a:latin typeface="Symbol" pitchFamily="18"/>
              </a:rPr>
              <a:t>e</a:t>
            </a:r>
            <a:r>
              <a:rPr lang="en-US" b="1" dirty="0">
                <a:solidFill>
                  <a:srgbClr val="000099"/>
                </a:solidFill>
                <a:latin typeface="Courier New" pitchFamily="49"/>
              </a:rPr>
              <a:t>)c</a:t>
            </a:r>
          </a:p>
          <a:p>
            <a:pPr lvl="0">
              <a:buSzPct val="45000"/>
              <a:buFont typeface="StarSymbol"/>
              <a:buChar char="●"/>
            </a:pPr>
            <a:r>
              <a:rPr lang="en-US" b="1" dirty="0">
                <a:latin typeface="Courier New" pitchFamily="49"/>
              </a:rPr>
              <a:t>Repetition, alternation, and grouping</a:t>
            </a:r>
            <a:r>
              <a:rPr lang="en-US" dirty="0"/>
              <a:t>:</a:t>
            </a:r>
          </a:p>
          <a:p>
            <a:pPr marL="457200" lvl="1" indent="0">
              <a:buSzPct val="45000"/>
              <a:buNone/>
            </a:pPr>
            <a:r>
              <a:rPr lang="en-US" b="1" dirty="0">
                <a:latin typeface="Courier New" pitchFamily="49"/>
              </a:rPr>
              <a:t>Example</a:t>
            </a:r>
            <a:r>
              <a:rPr lang="en-US" b="1" dirty="0">
                <a:solidFill>
                  <a:srgbClr val="000099"/>
                </a:solidFill>
                <a:latin typeface="Courier New" pitchFamily="49"/>
              </a:rPr>
              <a:t>: (</a:t>
            </a:r>
            <a:r>
              <a:rPr lang="en-US" b="1" dirty="0" err="1">
                <a:solidFill>
                  <a:srgbClr val="000099"/>
                </a:solidFill>
                <a:latin typeface="Courier New" pitchFamily="49"/>
              </a:rPr>
              <a:t>ab|cd</a:t>
            </a:r>
            <a:r>
              <a:rPr lang="en-US" b="1" dirty="0">
                <a:solidFill>
                  <a:srgbClr val="000099"/>
                </a:solidFill>
                <a:latin typeface="Courier New" pitchFamily="49"/>
              </a:rPr>
              <a:t>+)?(</a:t>
            </a:r>
            <a:r>
              <a:rPr lang="en-US" b="1" dirty="0" err="1">
                <a:solidFill>
                  <a:srgbClr val="000099"/>
                </a:solidFill>
                <a:latin typeface="Courier New" pitchFamily="49"/>
              </a:rPr>
              <a:t>ef</a:t>
            </a:r>
            <a:r>
              <a:rPr lang="en-US" b="1" dirty="0">
                <a:solidFill>
                  <a:srgbClr val="000099"/>
                </a:solidFill>
                <a:latin typeface="Courier New" pitchFamily="49"/>
              </a:rPr>
              <a:t>)∗   —--&gt; (</a:t>
            </a:r>
            <a:r>
              <a:rPr lang="en-US" b="1" dirty="0" err="1">
                <a:solidFill>
                  <a:srgbClr val="000099"/>
                </a:solidFill>
                <a:latin typeface="Courier New" pitchFamily="49"/>
              </a:rPr>
              <a:t>ab|c</a:t>
            </a:r>
            <a:r>
              <a:rPr lang="en-US" b="1" dirty="0">
                <a:solidFill>
                  <a:srgbClr val="000099"/>
                </a:solidFill>
                <a:latin typeface="Courier New" pitchFamily="49"/>
              </a:rPr>
              <a:t>(d)+ | </a:t>
            </a:r>
            <a:r>
              <a:rPr lang="en-US" b="1" dirty="0">
                <a:solidFill>
                  <a:srgbClr val="000099"/>
                </a:solidFill>
                <a:latin typeface="Symbol" pitchFamily="18"/>
              </a:rPr>
              <a:t>e </a:t>
            </a:r>
            <a:r>
              <a:rPr lang="en-US" b="1" dirty="0">
                <a:solidFill>
                  <a:srgbClr val="000099"/>
                </a:solidFill>
                <a:latin typeface="Courier New" pitchFamily="49"/>
              </a:rPr>
              <a:t>)(</a:t>
            </a:r>
            <a:r>
              <a:rPr lang="en-US" b="1" dirty="0" err="1">
                <a:solidFill>
                  <a:srgbClr val="000099"/>
                </a:solidFill>
                <a:latin typeface="Courier New" pitchFamily="49"/>
              </a:rPr>
              <a:t>ef</a:t>
            </a:r>
            <a:r>
              <a:rPr lang="en-US" b="1" dirty="0">
                <a:solidFill>
                  <a:srgbClr val="000099"/>
                </a:solidFill>
                <a:latin typeface="Courier New" pitchFamily="49"/>
              </a:rPr>
              <a:t>)∗</a:t>
            </a:r>
          </a:p>
          <a:p>
            <a:pPr lvl="0">
              <a:buSzPct val="45000"/>
              <a:buFont typeface="StarSymbol"/>
              <a:buChar char="●"/>
            </a:pPr>
            <a:r>
              <a:rPr lang="en-US" b="1" dirty="0">
                <a:latin typeface="Courier New" pitchFamily="49"/>
              </a:rPr>
              <a:t>Context sensitivity</a:t>
            </a:r>
            <a:r>
              <a:rPr lang="en-US" dirty="0"/>
              <a:t>: </a:t>
            </a:r>
            <a:r>
              <a:rPr lang="en-US" b="1" dirty="0">
                <a:solidFill>
                  <a:srgbClr val="000099"/>
                </a:solidFill>
                <a:latin typeface="Courier New" pitchFamily="49"/>
              </a:rPr>
              <a:t>/</a:t>
            </a:r>
            <a:r>
              <a:rPr lang="en-US" dirty="0"/>
              <a:t>, </a:t>
            </a:r>
            <a:r>
              <a:rPr lang="en-US" b="1" dirty="0">
                <a:solidFill>
                  <a:srgbClr val="000099"/>
                </a:solidFill>
                <a:latin typeface="Courier New" pitchFamily="49"/>
              </a:rPr>
              <a:t>^</a:t>
            </a:r>
            <a:r>
              <a:rPr lang="en-US" dirty="0"/>
              <a:t>, </a:t>
            </a:r>
            <a:r>
              <a:rPr lang="en-US" b="1" dirty="0">
                <a:solidFill>
                  <a:srgbClr val="000099"/>
                </a:solidFill>
                <a:latin typeface="Courier New" pitchFamily="49"/>
              </a:rPr>
              <a:t>$</a:t>
            </a:r>
            <a:r>
              <a:rPr lang="en-US" dirty="0"/>
              <a:t>, are context-sensitive operators</a:t>
            </a:r>
          </a:p>
          <a:p>
            <a:pPr lvl="1">
              <a:buSzPct val="45000"/>
              <a:buFont typeface="StarSymbol"/>
              <a:buChar char="●"/>
            </a:pPr>
            <a:r>
              <a:rPr lang="en-US" sz="2800" b="1" dirty="0">
                <a:solidFill>
                  <a:srgbClr val="000099"/>
                </a:solidFill>
                <a:highlight>
                  <a:scrgbClr r="0" g="0" b="0">
                    <a:alpha val="0"/>
                  </a:scrgbClr>
                </a:highlight>
                <a:latin typeface="Courier New" pitchFamily="49"/>
              </a:rPr>
              <a:t>^ </a:t>
            </a:r>
            <a:r>
              <a:rPr lang="en-US" sz="2800" dirty="0">
                <a:highlight>
                  <a:scrgbClr r="0" g="0" b="0">
                    <a:alpha val="0"/>
                  </a:scrgbClr>
                </a:highlight>
                <a:latin typeface="Liberation Sans" pitchFamily="18"/>
              </a:rPr>
              <a:t>:  </a:t>
            </a:r>
            <a:r>
              <a:rPr lang="en-US" dirty="0"/>
              <a:t>If the first char of an expression is </a:t>
            </a:r>
            <a:r>
              <a:rPr lang="en-US" sz="3200" b="1" dirty="0">
                <a:solidFill>
                  <a:srgbClr val="000099"/>
                </a:solidFill>
                <a:highlight>
                  <a:scrgbClr r="0" g="0" b="0">
                    <a:alpha val="0"/>
                  </a:scrgbClr>
                </a:highlight>
                <a:latin typeface="Courier New" pitchFamily="49"/>
              </a:rPr>
              <a:t>^</a:t>
            </a:r>
            <a:r>
              <a:rPr lang="en-US" dirty="0"/>
              <a:t>, then that expression is matched only  	     	     at the beginning of a line. Holds only outside [] operator.</a:t>
            </a:r>
          </a:p>
          <a:p>
            <a:pPr lvl="1">
              <a:buSzPct val="45000"/>
              <a:buFont typeface="StarSymbol"/>
              <a:buChar char="●"/>
            </a:pPr>
            <a:r>
              <a:rPr lang="en-US" sz="3200" b="1" dirty="0">
                <a:solidFill>
                  <a:srgbClr val="000099"/>
                </a:solidFill>
                <a:highlight>
                  <a:scrgbClr r="0" g="0" b="0">
                    <a:alpha val="0"/>
                  </a:scrgbClr>
                </a:highlight>
                <a:latin typeface="Courier New" pitchFamily="49"/>
              </a:rPr>
              <a:t>$ </a:t>
            </a:r>
            <a:r>
              <a:rPr lang="en-US" sz="3200" dirty="0">
                <a:highlight>
                  <a:scrgbClr r="0" g="0" b="0">
                    <a:alpha val="0"/>
                  </a:scrgbClr>
                </a:highlight>
                <a:latin typeface="Liberation Sans" pitchFamily="18"/>
              </a:rPr>
              <a:t>: </a:t>
            </a:r>
            <a:r>
              <a:rPr lang="en-US" dirty="0"/>
              <a:t>If the last char of an expression is </a:t>
            </a:r>
            <a:r>
              <a:rPr lang="en-US" sz="3200" b="1" dirty="0">
                <a:solidFill>
                  <a:srgbClr val="000099"/>
                </a:solidFill>
                <a:highlight>
                  <a:scrgbClr r="0" g="0" b="0">
                    <a:alpha val="0"/>
                  </a:scrgbClr>
                </a:highlight>
                <a:latin typeface="Courier New" pitchFamily="49"/>
              </a:rPr>
              <a:t>$</a:t>
            </a:r>
            <a:r>
              <a:rPr lang="en-US" dirty="0"/>
              <a:t>, then that expression is matched only at  	     the end of a line.</a:t>
            </a:r>
          </a:p>
          <a:p>
            <a:pPr lvl="1">
              <a:buSzPct val="45000"/>
              <a:buFont typeface="StarSymbol"/>
              <a:buChar char="●"/>
            </a:pPr>
            <a:r>
              <a:rPr lang="en-US" sz="3200" b="1" dirty="0">
                <a:solidFill>
                  <a:srgbClr val="000099"/>
                </a:solidFill>
                <a:highlight>
                  <a:scrgbClr r="0" g="0" b="0">
                    <a:alpha val="0"/>
                  </a:scrgbClr>
                </a:highlight>
                <a:latin typeface="Courier New" pitchFamily="49"/>
              </a:rPr>
              <a:t>/ </a:t>
            </a:r>
            <a:r>
              <a:rPr lang="en-US" sz="3200" dirty="0">
                <a:highlight>
                  <a:scrgbClr r="0" g="0" b="0">
                    <a:alpha val="0"/>
                  </a:scrgbClr>
                </a:highlight>
                <a:latin typeface="Liberation Sans" pitchFamily="18"/>
              </a:rPr>
              <a:t>: </a:t>
            </a:r>
            <a:r>
              <a:rPr lang="en-US" b="1" i="1" dirty="0"/>
              <a:t>Look ahead operator</a:t>
            </a:r>
            <a:r>
              <a:rPr lang="en-US" dirty="0"/>
              <a:t>, indicates trailing context.</a:t>
            </a:r>
          </a:p>
          <a:p>
            <a:pPr marL="457200" lvl="1" indent="0">
              <a:buSzPct val="45000"/>
              <a:buNone/>
            </a:pPr>
            <a:r>
              <a:rPr lang="en-US" b="1" dirty="0"/>
              <a:t>Examples</a:t>
            </a:r>
            <a:r>
              <a:rPr lang="en-US" dirty="0"/>
              <a:t>:</a:t>
            </a:r>
          </a:p>
          <a:p>
            <a:pPr lvl="1" hangingPunct="0">
              <a:spcBef>
                <a:spcPts val="1417"/>
              </a:spcBef>
              <a:buSzPct val="75000"/>
              <a:buFont typeface="Wingdings" panose="05000000000000000000" pitchFamily="2" charset="2"/>
              <a:buChar char="§"/>
            </a:pPr>
            <a:r>
              <a:rPr lang="en-US" sz="3200" dirty="0">
                <a:highlight>
                  <a:scrgbClr r="0" g="0" b="0">
                    <a:alpha val="0"/>
                  </a:scrgbClr>
                </a:highlight>
                <a:latin typeface="Liberation Sans" pitchFamily="18"/>
              </a:rPr>
              <a:t>   </a:t>
            </a:r>
            <a:r>
              <a:rPr lang="en-US" sz="3200" b="1" dirty="0">
                <a:solidFill>
                  <a:srgbClr val="000099"/>
                </a:solidFill>
                <a:highlight>
                  <a:scrgbClr r="0" g="0" b="0">
                    <a:alpha val="0"/>
                  </a:scrgbClr>
                </a:highlight>
                <a:latin typeface="Courier New" pitchFamily="49"/>
              </a:rPr>
              <a:t>^ab</a:t>
            </a:r>
            <a:r>
              <a:rPr lang="en-US" sz="3200" dirty="0">
                <a:highlight>
                  <a:scrgbClr r="0" g="0" b="0">
                    <a:alpha val="0"/>
                  </a:scrgbClr>
                </a:highlight>
                <a:latin typeface="Liberation Sans" pitchFamily="18"/>
              </a:rPr>
              <a:t>      </a:t>
            </a:r>
            <a:r>
              <a:rPr lang="en-US" sz="3200" b="1" dirty="0">
                <a:highlight>
                  <a:scrgbClr r="0" g="0" b="0">
                    <a:alpha val="0"/>
                  </a:scrgbClr>
                </a:highlight>
                <a:latin typeface="Courier New" panose="02070309020205020404" pitchFamily="49" charset="0"/>
                <a:cs typeface="Courier New" panose="02070309020205020404" pitchFamily="49" charset="0"/>
              </a:rPr>
              <a:t>---&gt;</a:t>
            </a:r>
            <a:r>
              <a:rPr lang="en-US" sz="3200" dirty="0">
                <a:highlight>
                  <a:scrgbClr r="0" g="0" b="0">
                    <a:alpha val="0"/>
                  </a:scrgbClr>
                </a:highlight>
                <a:latin typeface="Liberation Sans" pitchFamily="18"/>
              </a:rPr>
              <a:t>      line beginning with </a:t>
            </a:r>
            <a:r>
              <a:rPr lang="en-US" sz="3200" b="1" dirty="0">
                <a:solidFill>
                  <a:srgbClr val="000099"/>
                </a:solidFill>
                <a:highlight>
                  <a:scrgbClr r="0" g="0" b="0">
                    <a:alpha val="0"/>
                  </a:scrgbClr>
                </a:highlight>
                <a:latin typeface="Courier New" pitchFamily="49"/>
              </a:rPr>
              <a:t>ab</a:t>
            </a:r>
          </a:p>
          <a:p>
            <a:pPr lvl="1" hangingPunct="0">
              <a:spcBef>
                <a:spcPts val="1417"/>
              </a:spcBef>
              <a:buSzPct val="75000"/>
              <a:buFont typeface="Wingdings" panose="05000000000000000000" pitchFamily="2" charset="2"/>
              <a:buChar char="§"/>
            </a:pPr>
            <a:r>
              <a:rPr lang="en-US" sz="3200" b="1" dirty="0">
                <a:solidFill>
                  <a:srgbClr val="000099"/>
                </a:solidFill>
                <a:highlight>
                  <a:scrgbClr r="0" g="0" b="0">
                    <a:alpha val="0"/>
                  </a:scrgbClr>
                </a:highlight>
                <a:latin typeface="Courier New" pitchFamily="49"/>
              </a:rPr>
              <a:t> </a:t>
            </a:r>
            <a:r>
              <a:rPr lang="en-US" sz="3200" dirty="0">
                <a:highlight>
                  <a:scrgbClr r="0" g="0" b="0">
                    <a:alpha val="0"/>
                  </a:scrgbClr>
                </a:highlight>
                <a:latin typeface="Liberation Sans" pitchFamily="18"/>
              </a:rPr>
              <a:t>  </a:t>
            </a:r>
            <a:r>
              <a:rPr lang="en-US" sz="3200" b="1" dirty="0">
                <a:solidFill>
                  <a:srgbClr val="000099"/>
                </a:solidFill>
                <a:highlight>
                  <a:scrgbClr r="0" g="0" b="0">
                    <a:alpha val="0"/>
                  </a:scrgbClr>
                </a:highlight>
                <a:latin typeface="Courier New" pitchFamily="49"/>
              </a:rPr>
              <a:t>ab$</a:t>
            </a:r>
            <a:r>
              <a:rPr lang="en-US" sz="3200" dirty="0">
                <a:highlight>
                  <a:scrgbClr r="0" g="0" b="0">
                    <a:alpha val="0"/>
                  </a:scrgbClr>
                </a:highlight>
                <a:latin typeface="Liberation Sans" pitchFamily="18"/>
              </a:rPr>
              <a:t>     </a:t>
            </a:r>
            <a:r>
              <a:rPr lang="en-US" sz="3200" b="1" dirty="0">
                <a:highlight>
                  <a:scrgbClr r="0" g="0" b="0">
                    <a:alpha val="0"/>
                  </a:scrgbClr>
                </a:highlight>
                <a:latin typeface="Courier New" panose="02070309020205020404" pitchFamily="49" charset="0"/>
                <a:cs typeface="Courier New" panose="02070309020205020404" pitchFamily="49" charset="0"/>
              </a:rPr>
              <a:t>---&gt; </a:t>
            </a:r>
            <a:r>
              <a:rPr lang="en-US" sz="3200" dirty="0">
                <a:highlight>
                  <a:scrgbClr r="0" g="0" b="0">
                    <a:alpha val="0"/>
                  </a:scrgbClr>
                </a:highlight>
                <a:latin typeface="Liberation Sans" pitchFamily="18"/>
              </a:rPr>
              <a:t>   line ending with ab (same as </a:t>
            </a:r>
            <a:r>
              <a:rPr lang="en-US" sz="3200" b="1" dirty="0">
                <a:solidFill>
                  <a:srgbClr val="000099"/>
                </a:solidFill>
                <a:highlight>
                  <a:scrgbClr r="0" g="0" b="0">
                    <a:alpha val="0"/>
                  </a:scrgbClr>
                </a:highlight>
                <a:latin typeface="Courier New" pitchFamily="49"/>
              </a:rPr>
              <a:t>ab/\n</a:t>
            </a:r>
            <a:r>
              <a:rPr lang="en-US" sz="3200" dirty="0">
                <a:highlight>
                  <a:scrgbClr r="0" g="0" b="0">
                    <a:alpha val="0"/>
                  </a:scrgbClr>
                </a:highlight>
                <a:latin typeface="Liberation Sans" pitchFamily="18"/>
              </a:rPr>
              <a:t>)</a:t>
            </a:r>
          </a:p>
          <a:p>
            <a:pPr lvl="1" hangingPunct="0">
              <a:spcBef>
                <a:spcPts val="1417"/>
              </a:spcBef>
              <a:buSzPct val="75000"/>
              <a:buFont typeface="Wingdings" panose="05000000000000000000" pitchFamily="2" charset="2"/>
              <a:buChar char="§"/>
            </a:pPr>
            <a:r>
              <a:rPr lang="en-US" sz="3200" b="1" dirty="0">
                <a:solidFill>
                  <a:srgbClr val="000099"/>
                </a:solidFill>
                <a:highlight>
                  <a:scrgbClr r="0" g="0" b="0">
                    <a:alpha val="0"/>
                  </a:scrgbClr>
                </a:highlight>
                <a:latin typeface="Liberation Sans" pitchFamily="18"/>
              </a:rPr>
              <a:t>    </a:t>
            </a:r>
            <a:r>
              <a:rPr lang="en-US" sz="3200" b="1" dirty="0">
                <a:solidFill>
                  <a:srgbClr val="000099"/>
                </a:solidFill>
                <a:highlight>
                  <a:scrgbClr r="0" g="0" b="0">
                    <a:alpha val="0"/>
                  </a:scrgbClr>
                </a:highlight>
                <a:latin typeface="Courier New" pitchFamily="49"/>
              </a:rPr>
              <a:t>DO/({letter}|{digit})*  = ({letter}|{digit})*</a:t>
            </a:r>
          </a:p>
          <a:p>
            <a:pPr lvl="0">
              <a:buSzPct val="45000"/>
              <a:buFont typeface="StarSymbol"/>
              <a:buChar char="●"/>
            </a:pPr>
            <a:endParaRPr lang="en-US" dirty="0"/>
          </a:p>
        </p:txBody>
      </p:sp>
      <p:sp>
        <p:nvSpPr>
          <p:cNvPr id="4" name="Slide Number Placeholder 3"/>
          <p:cNvSpPr>
            <a:spLocks noGrp="1"/>
          </p:cNvSpPr>
          <p:nvPr>
            <p:ph type="sldNum" sz="quarter" idx="12"/>
          </p:nvPr>
        </p:nvSpPr>
        <p:spPr/>
        <p:txBody>
          <a:bodyPr/>
          <a:lstStyle/>
          <a:p>
            <a:fld id="{C2C343A0-757D-4032-BC20-DF0A67BD0A50}" type="slidenum">
              <a:rPr lang="en-US" smtClean="0"/>
              <a:t>59</a:t>
            </a:fld>
            <a:endParaRPr lang="en-US"/>
          </a:p>
        </p:txBody>
      </p:sp>
    </p:spTree>
    <p:extLst>
      <p:ext uri="{BB962C8B-B14F-4D97-AF65-F5344CB8AC3E}">
        <p14:creationId xmlns:p14="http://schemas.microsoft.com/office/powerpoint/2010/main" val="22163852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 – Actions</a:t>
            </a:r>
            <a:endParaRPr lang="en-US" b="1" i="1" dirty="0"/>
          </a:p>
        </p:txBody>
      </p:sp>
      <p:sp>
        <p:nvSpPr>
          <p:cNvPr id="3" name="Content Placeholder 2"/>
          <p:cNvSpPr>
            <a:spLocks noGrp="1"/>
          </p:cNvSpPr>
          <p:nvPr>
            <p:ph idx="1"/>
          </p:nvPr>
        </p:nvSpPr>
        <p:spPr>
          <a:xfrm>
            <a:off x="457200" y="1600200"/>
            <a:ext cx="8458200" cy="5029200"/>
          </a:xfrm>
        </p:spPr>
        <p:txBody>
          <a:bodyPr>
            <a:normAutofit fontScale="62500" lnSpcReduction="20000"/>
          </a:bodyPr>
          <a:lstStyle/>
          <a:p>
            <a:pPr lvl="0">
              <a:buSzPct val="45000"/>
              <a:buFont typeface="StarSymbol"/>
              <a:buChar char="●"/>
            </a:pPr>
            <a:r>
              <a:rPr lang="en-US" b="1" i="1" dirty="0"/>
              <a:t>Default action </a:t>
            </a:r>
            <a:r>
              <a:rPr lang="en-US" dirty="0"/>
              <a:t>is to copy input to output those characters which are unmatched.</a:t>
            </a:r>
          </a:p>
          <a:p>
            <a:pPr lvl="0">
              <a:buSzPct val="45000"/>
              <a:buFont typeface="StarSymbol"/>
              <a:buChar char="●"/>
            </a:pPr>
            <a:r>
              <a:rPr lang="en-US" dirty="0"/>
              <a:t>We need to provide patterns to catch characters.</a:t>
            </a:r>
          </a:p>
          <a:p>
            <a:pPr lvl="7">
              <a:buSzPct val="45000"/>
              <a:buFont typeface="StarSymbol"/>
              <a:buChar char="●"/>
            </a:pPr>
            <a:endParaRPr lang="en-US" b="1" dirty="0">
              <a:latin typeface="Courier New" panose="02070309020205020404" pitchFamily="49" charset="0"/>
              <a:cs typeface="Courier New" panose="02070309020205020404" pitchFamily="49" charset="0"/>
            </a:endParaRPr>
          </a:p>
          <a:p>
            <a:pPr lvl="1">
              <a:buSzPct val="45000"/>
              <a:buFont typeface="StarSymbol"/>
              <a:buChar char="●"/>
            </a:pPr>
            <a:r>
              <a:rPr lang="en-US" b="1" dirty="0" err="1">
                <a:latin typeface="Courier New" panose="02070309020205020404" pitchFamily="49" charset="0"/>
                <a:cs typeface="Courier New" panose="02070309020205020404" pitchFamily="49" charset="0"/>
              </a:rPr>
              <a:t>yytext</a:t>
            </a:r>
            <a:r>
              <a:rPr lang="en-US" dirty="0"/>
              <a:t>: contains the text matched against a pattern</a:t>
            </a:r>
          </a:p>
          <a:p>
            <a:pPr lvl="2">
              <a:buSzPct val="45000"/>
              <a:buFont typeface="StarSymbol"/>
              <a:buChar char="●"/>
            </a:pPr>
            <a:r>
              <a:rPr lang="en-US" dirty="0"/>
              <a:t>copying </a:t>
            </a:r>
            <a:r>
              <a:rPr lang="en-US" b="1" dirty="0" err="1">
                <a:latin typeface="Courier New" panose="02070309020205020404" pitchFamily="49" charset="0"/>
                <a:cs typeface="Courier New" panose="02070309020205020404" pitchFamily="49" charset="0"/>
              </a:rPr>
              <a:t>yytext</a:t>
            </a:r>
            <a:r>
              <a:rPr lang="en-US" dirty="0"/>
              <a:t> can be done by the action </a:t>
            </a:r>
            <a:r>
              <a:rPr lang="en-US" b="1" dirty="0">
                <a:latin typeface="Courier New" panose="02070309020205020404" pitchFamily="49" charset="0"/>
                <a:cs typeface="Courier New" panose="02070309020205020404" pitchFamily="49" charset="0"/>
              </a:rPr>
              <a:t>ECHO</a:t>
            </a:r>
            <a:endParaRPr lang="en-US" dirty="0"/>
          </a:p>
          <a:p>
            <a:pPr lvl="5">
              <a:buSzPct val="45000"/>
              <a:buFont typeface="StarSymbol"/>
              <a:buChar char="●"/>
            </a:pPr>
            <a:endParaRPr lang="en-US" b="1" dirty="0">
              <a:latin typeface="Courier New" panose="02070309020205020404" pitchFamily="49" charset="0"/>
              <a:cs typeface="Courier New" panose="02070309020205020404" pitchFamily="49" charset="0"/>
            </a:endParaRPr>
          </a:p>
          <a:p>
            <a:pPr lvl="1">
              <a:buSzPct val="45000"/>
              <a:buFont typeface="StarSymbol"/>
              <a:buChar char="●"/>
            </a:pPr>
            <a:r>
              <a:rPr lang="en-US" b="1" dirty="0" err="1">
                <a:latin typeface="Courier New" panose="02070309020205020404" pitchFamily="49" charset="0"/>
                <a:cs typeface="Courier New" panose="02070309020205020404" pitchFamily="49" charset="0"/>
              </a:rPr>
              <a:t>yyleng</a:t>
            </a:r>
            <a:r>
              <a:rPr lang="en-US" dirty="0"/>
              <a:t>: provides the number of characters matched.</a:t>
            </a:r>
          </a:p>
          <a:p>
            <a:pPr lvl="5">
              <a:buSzPct val="45000"/>
              <a:buFont typeface="StarSymbol"/>
              <a:buChar char="●"/>
            </a:pPr>
            <a:endParaRPr lang="en-US" b="1" dirty="0"/>
          </a:p>
          <a:p>
            <a:pPr lvl="0">
              <a:buSzPct val="45000"/>
              <a:buFont typeface="StarSymbol"/>
              <a:buChar char="●"/>
            </a:pPr>
            <a:r>
              <a:rPr lang="en-US" b="1" dirty="0"/>
              <a:t>LEX</a:t>
            </a:r>
            <a:r>
              <a:rPr lang="en-US" dirty="0"/>
              <a:t> always tries the rules in the order written down and the longest match is preferred</a:t>
            </a:r>
          </a:p>
          <a:p>
            <a:pPr lvl="1">
              <a:buSzPct val="45000"/>
              <a:buFont typeface="StarSymbol"/>
              <a:buChar char="●"/>
            </a:pPr>
            <a:r>
              <a:rPr lang="en-US" b="1" dirty="0"/>
              <a:t>Example</a:t>
            </a:r>
            <a:r>
              <a:rPr lang="en-US" dirty="0"/>
              <a:t>:</a:t>
            </a:r>
          </a:p>
          <a:p>
            <a:pPr marL="457200" lvl="1" indent="0">
              <a:buSzPct val="45000"/>
              <a:buNone/>
            </a:pPr>
            <a:r>
              <a:rPr lang="en-US" dirty="0"/>
              <a:t>		</a:t>
            </a:r>
            <a:r>
              <a:rPr lang="en-US" b="1" dirty="0">
                <a:solidFill>
                  <a:srgbClr val="000099"/>
                </a:solidFill>
                <a:latin typeface="Courier New" panose="02070309020205020404" pitchFamily="49" charset="0"/>
                <a:cs typeface="Courier New" panose="02070309020205020404" pitchFamily="49" charset="0"/>
              </a:rPr>
              <a:t>%%</a:t>
            </a:r>
          </a:p>
          <a:p>
            <a:pPr marL="457200" lvl="1" indent="0">
              <a:buSzPct val="45000"/>
              <a:buNone/>
            </a:pPr>
            <a:r>
              <a:rPr lang="en-US" b="1" dirty="0">
                <a:solidFill>
                  <a:srgbClr val="000099"/>
                </a:solidFill>
                <a:latin typeface="Courier New" panose="02070309020205020404" pitchFamily="49" charset="0"/>
                <a:cs typeface="Courier New" panose="02070309020205020404" pitchFamily="49" charset="0"/>
              </a:rPr>
              <a:t>		integer	action1;</a:t>
            </a:r>
          </a:p>
          <a:p>
            <a:pPr marL="457200" lvl="1" indent="0">
              <a:buSzPct val="45000"/>
              <a:buNone/>
            </a:pPr>
            <a:r>
              <a:rPr lang="en-US" b="1" dirty="0">
                <a:solidFill>
                  <a:srgbClr val="000099"/>
                </a:solidFill>
                <a:latin typeface="Courier New" panose="02070309020205020404" pitchFamily="49" charset="0"/>
                <a:cs typeface="Courier New" panose="02070309020205020404" pitchFamily="49" charset="0"/>
              </a:rPr>
              <a:t>		[a-z]+		action2;</a:t>
            </a:r>
          </a:p>
          <a:p>
            <a:pPr marL="457200" lvl="1" indent="0">
              <a:buSzPct val="45000"/>
              <a:buNone/>
            </a:pPr>
            <a:r>
              <a:rPr lang="en-US" b="1" dirty="0">
                <a:solidFill>
                  <a:srgbClr val="000099"/>
                </a:solidFill>
                <a:latin typeface="Courier New" panose="02070309020205020404" pitchFamily="49" charset="0"/>
                <a:cs typeface="Courier New" panose="02070309020205020404" pitchFamily="49" charset="0"/>
              </a:rPr>
              <a:t>		%%</a:t>
            </a:r>
          </a:p>
          <a:p>
            <a:pPr lvl="1">
              <a:buSzPct val="45000"/>
              <a:buFont typeface="StarSymbol"/>
              <a:buChar char="●"/>
            </a:pPr>
            <a:r>
              <a:rPr lang="en-US" dirty="0"/>
              <a:t>The </a:t>
            </a:r>
            <a:r>
              <a:rPr lang="en-US"/>
              <a:t>input </a:t>
            </a:r>
            <a:r>
              <a:rPr lang="en-US" b="1" i="1">
                <a:latin typeface="Courier New" panose="02070309020205020404" pitchFamily="49" charset="0"/>
                <a:cs typeface="Courier New" panose="02070309020205020404" pitchFamily="49" charset="0"/>
              </a:rPr>
              <a:t>integers</a:t>
            </a:r>
            <a:r>
              <a:rPr lang="en-US"/>
              <a:t> </a:t>
            </a:r>
            <a:r>
              <a:rPr lang="en-US" dirty="0"/>
              <a:t>will match the second pattern &amp; </a:t>
            </a:r>
            <a:r>
              <a:rPr lang="en-US" b="1" dirty="0">
                <a:latin typeface="Courier New" panose="02070309020205020404" pitchFamily="49" charset="0"/>
                <a:cs typeface="Courier New" panose="02070309020205020404" pitchFamily="49" charset="0"/>
              </a:rPr>
              <a:t>action2</a:t>
            </a:r>
            <a:r>
              <a:rPr lang="en-US" dirty="0"/>
              <a:t> will be performed.</a:t>
            </a:r>
          </a:p>
        </p:txBody>
      </p:sp>
      <p:sp>
        <p:nvSpPr>
          <p:cNvPr id="4" name="Slide Number Placeholder 3"/>
          <p:cNvSpPr>
            <a:spLocks noGrp="1"/>
          </p:cNvSpPr>
          <p:nvPr>
            <p:ph type="sldNum" sz="quarter" idx="12"/>
          </p:nvPr>
        </p:nvSpPr>
        <p:spPr/>
        <p:txBody>
          <a:bodyPr/>
          <a:lstStyle/>
          <a:p>
            <a:fld id="{C2C343A0-757D-4032-BC20-DF0A67BD0A50}" type="slidenum">
              <a:rPr lang="en-US" smtClean="0"/>
              <a:t>60</a:t>
            </a:fld>
            <a:endParaRPr lang="en-US"/>
          </a:p>
        </p:txBody>
      </p:sp>
    </p:spTree>
    <p:extLst>
      <p:ext uri="{BB962C8B-B14F-4D97-AF65-F5344CB8AC3E}">
        <p14:creationId xmlns:p14="http://schemas.microsoft.com/office/powerpoint/2010/main" val="4735669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 – Actions</a:t>
            </a:r>
            <a:endParaRPr lang="en-US" b="1" i="1" dirty="0"/>
          </a:p>
        </p:txBody>
      </p:sp>
      <p:sp>
        <p:nvSpPr>
          <p:cNvPr id="3" name="Content Placeholder 2"/>
          <p:cNvSpPr>
            <a:spLocks noGrp="1"/>
          </p:cNvSpPr>
          <p:nvPr>
            <p:ph idx="1"/>
          </p:nvPr>
        </p:nvSpPr>
        <p:spPr>
          <a:xfrm>
            <a:off x="457200" y="1600200"/>
            <a:ext cx="8458200" cy="5029200"/>
          </a:xfrm>
        </p:spPr>
        <p:txBody>
          <a:bodyPr>
            <a:normAutofit fontScale="77500" lnSpcReduction="20000"/>
          </a:bodyPr>
          <a:lstStyle/>
          <a:p>
            <a:pPr marL="0" lvl="0" indent="0" algn="ctr">
              <a:buSzPct val="45000"/>
              <a:buNone/>
            </a:pPr>
            <a:r>
              <a:rPr lang="en-US" b="1" u="sng" dirty="0">
                <a:latin typeface="Courier New" panose="02070309020205020404" pitchFamily="49" charset="0"/>
                <a:cs typeface="Courier New" panose="02070309020205020404" pitchFamily="49" charset="0"/>
              </a:rPr>
              <a:t>Lex Predefined Variables</a:t>
            </a: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endParaRPr lang="en-US" b="1" u="sng" dirty="0">
              <a:latin typeface="Courier New" panose="02070309020205020404" pitchFamily="49" charset="0"/>
              <a:cs typeface="Courier New" panose="02070309020205020404" pitchFamily="49" charset="0"/>
            </a:endParaRPr>
          </a:p>
          <a:p>
            <a:pPr marL="0" lvl="0" indent="0" algn="ctr">
              <a:buSzPct val="45000"/>
              <a:buNone/>
            </a:pPr>
            <a:r>
              <a:rPr lang="en-US" b="1" u="sng" dirty="0">
                <a:latin typeface="Courier New" panose="02070309020205020404" pitchFamily="49" charset="0"/>
                <a:cs typeface="Courier New" panose="02070309020205020404" pitchFamily="49" charset="0"/>
              </a:rPr>
              <a:t> </a:t>
            </a:r>
          </a:p>
        </p:txBody>
      </p:sp>
      <p:pic>
        <p:nvPicPr>
          <p:cNvPr id="4" name="Picture 3"/>
          <p:cNvPicPr>
            <a:picLocks noChangeAspect="1"/>
          </p:cNvPicPr>
          <p:nvPr/>
        </p:nvPicPr>
        <p:blipFill>
          <a:blip r:embed="rId2">
            <a:alphaModFix/>
          </a:blip>
          <a:srcRect/>
          <a:stretch>
            <a:fillRect/>
          </a:stretch>
        </p:blipFill>
        <p:spPr>
          <a:xfrm>
            <a:off x="274320" y="2146039"/>
            <a:ext cx="8595360" cy="4330961"/>
          </a:xfrm>
          <a:prstGeom prst="rect">
            <a:avLst/>
          </a:prstGeom>
          <a:noFill/>
          <a:ln>
            <a:noFill/>
          </a:ln>
        </p:spPr>
      </p:pic>
      <p:sp>
        <p:nvSpPr>
          <p:cNvPr id="5" name="Slide Number Placeholder 4"/>
          <p:cNvSpPr>
            <a:spLocks noGrp="1"/>
          </p:cNvSpPr>
          <p:nvPr>
            <p:ph type="sldNum" sz="quarter" idx="12"/>
          </p:nvPr>
        </p:nvSpPr>
        <p:spPr/>
        <p:txBody>
          <a:bodyPr/>
          <a:lstStyle/>
          <a:p>
            <a:fld id="{C2C343A0-757D-4032-BC20-DF0A67BD0A50}" type="slidenum">
              <a:rPr lang="en-US" smtClean="0"/>
              <a:t>61</a:t>
            </a:fld>
            <a:endParaRPr lang="en-US"/>
          </a:p>
        </p:txBody>
      </p:sp>
    </p:spTree>
    <p:extLst>
      <p:ext uri="{BB962C8B-B14F-4D97-AF65-F5344CB8AC3E}">
        <p14:creationId xmlns:p14="http://schemas.microsoft.com/office/powerpoint/2010/main" val="9043692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 – Examples</a:t>
            </a:r>
            <a:endParaRPr lang="en-US" b="1" i="1" dirty="0"/>
          </a:p>
        </p:txBody>
      </p:sp>
      <p:sp>
        <p:nvSpPr>
          <p:cNvPr id="3" name="Content Placeholder 2"/>
          <p:cNvSpPr>
            <a:spLocks noGrp="1"/>
          </p:cNvSpPr>
          <p:nvPr>
            <p:ph idx="1"/>
          </p:nvPr>
        </p:nvSpPr>
        <p:spPr>
          <a:xfrm>
            <a:off x="457200" y="1600200"/>
            <a:ext cx="8458200" cy="5029200"/>
          </a:xfrm>
        </p:spPr>
        <p:txBody>
          <a:bodyPr>
            <a:normAutofit fontScale="70000" lnSpcReduction="20000"/>
          </a:bodyPr>
          <a:lstStyle/>
          <a:p>
            <a:pPr>
              <a:buSzPct val="45000"/>
            </a:pPr>
            <a:r>
              <a:rPr lang="en-US" b="1" u="sng" dirty="0">
                <a:latin typeface="Courier New" panose="02070309020205020404" pitchFamily="49" charset="0"/>
                <a:cs typeface="Courier New" panose="02070309020205020404" pitchFamily="49" charset="0"/>
              </a:rPr>
              <a:t>Example 2</a:t>
            </a:r>
            <a:r>
              <a:rPr lang="en-US" b="1" dirty="0">
                <a:latin typeface="Courier New" panose="02070309020205020404" pitchFamily="49" charset="0"/>
                <a:cs typeface="Courier New" panose="02070309020205020404" pitchFamily="49" charset="0"/>
              </a:rPr>
              <a:t>:number of lines</a:t>
            </a:r>
          </a:p>
          <a:p>
            <a:pPr marL="457200" lvl="1" indent="0">
              <a:buNone/>
            </a:pPr>
            <a:r>
              <a:rPr lang="en-US" b="1" dirty="0">
                <a:latin typeface="Courier New" pitchFamily="49"/>
              </a:rPr>
              <a:t>%%</a:t>
            </a:r>
          </a:p>
          <a:p>
            <a:pPr marL="457200" lvl="1" indent="0">
              <a:buNone/>
            </a:pPr>
            <a:r>
              <a:rPr lang="en-US" b="1" dirty="0">
                <a:solidFill>
                  <a:srgbClr val="007826"/>
                </a:solidFill>
                <a:latin typeface="Courier New" pitchFamily="49"/>
              </a:rPr>
              <a:t>^[ ]*\n</a:t>
            </a:r>
          </a:p>
          <a:p>
            <a:pPr marL="457200" lvl="1" indent="0">
              <a:buNone/>
            </a:pPr>
            <a:r>
              <a:rPr lang="en-US" b="1" dirty="0">
                <a:solidFill>
                  <a:srgbClr val="007826"/>
                </a:solidFill>
                <a:latin typeface="Courier New" pitchFamily="49"/>
              </a:rPr>
              <a:t>\n		</a:t>
            </a:r>
            <a:r>
              <a:rPr lang="en-US" b="1" dirty="0">
                <a:solidFill>
                  <a:srgbClr val="000099"/>
                </a:solidFill>
                <a:latin typeface="Courier New" pitchFamily="49"/>
              </a:rPr>
              <a:t>{ECHO; </a:t>
            </a:r>
            <a:r>
              <a:rPr lang="en-US" b="1" dirty="0" err="1">
                <a:solidFill>
                  <a:srgbClr val="000099"/>
                </a:solidFill>
                <a:latin typeface="Courier New" pitchFamily="49"/>
              </a:rPr>
              <a:t>yylineno</a:t>
            </a:r>
            <a:r>
              <a:rPr lang="en-US" b="1" dirty="0">
                <a:solidFill>
                  <a:srgbClr val="000099"/>
                </a:solidFill>
                <a:latin typeface="Courier New" pitchFamily="49"/>
              </a:rPr>
              <a:t>++;}</a:t>
            </a:r>
          </a:p>
          <a:p>
            <a:pPr marL="457200" lvl="1" indent="0">
              <a:buNone/>
            </a:pPr>
            <a:r>
              <a:rPr lang="en-US" b="1" dirty="0">
                <a:solidFill>
                  <a:srgbClr val="007826"/>
                </a:solidFill>
                <a:latin typeface="Courier New" pitchFamily="49"/>
              </a:rPr>
              <a:t>.*		</a:t>
            </a:r>
            <a:r>
              <a:rPr lang="en-US" b="1" dirty="0">
                <a:solidFill>
                  <a:srgbClr val="000099"/>
                </a:solidFill>
                <a:latin typeface="Courier New" pitchFamily="49"/>
              </a:rPr>
              <a:t>{</a:t>
            </a:r>
            <a:r>
              <a:rPr lang="en-US" b="1" dirty="0" err="1">
                <a:solidFill>
                  <a:srgbClr val="000099"/>
                </a:solidFill>
                <a:latin typeface="Courier New" pitchFamily="49"/>
              </a:rPr>
              <a:t>printf</a:t>
            </a:r>
            <a:r>
              <a:rPr lang="en-US" b="1" dirty="0">
                <a:solidFill>
                  <a:srgbClr val="000099"/>
                </a:solidFill>
                <a:latin typeface="Courier New" pitchFamily="49"/>
              </a:rPr>
              <a:t>("%d\</a:t>
            </a:r>
            <a:r>
              <a:rPr lang="en-US" b="1" dirty="0" err="1">
                <a:solidFill>
                  <a:srgbClr val="000099"/>
                </a:solidFill>
                <a:latin typeface="Courier New" pitchFamily="49"/>
              </a:rPr>
              <a:t>t%s</a:t>
            </a:r>
            <a:r>
              <a:rPr lang="en-US" b="1" dirty="0">
                <a:solidFill>
                  <a:srgbClr val="000099"/>
                </a:solidFill>
                <a:latin typeface="Courier New" pitchFamily="49"/>
              </a:rPr>
              <a:t>",</a:t>
            </a:r>
            <a:r>
              <a:rPr lang="en-US" b="1" dirty="0" err="1">
                <a:solidFill>
                  <a:srgbClr val="000099"/>
                </a:solidFill>
                <a:latin typeface="Courier New" pitchFamily="49"/>
              </a:rPr>
              <a:t>yylineno,yytext</a:t>
            </a:r>
            <a:r>
              <a:rPr lang="en-US" b="1" dirty="0">
                <a:solidFill>
                  <a:srgbClr val="000099"/>
                </a:solidFill>
                <a:latin typeface="Courier New" pitchFamily="49"/>
              </a:rPr>
              <a:t>);}</a:t>
            </a:r>
          </a:p>
          <a:p>
            <a:pPr marL="457200" lvl="1" indent="0">
              <a:buNone/>
            </a:pPr>
            <a:r>
              <a:rPr lang="en-US" b="1" dirty="0">
                <a:latin typeface="Courier New" pitchFamily="49"/>
              </a:rPr>
              <a:t>%%</a:t>
            </a:r>
          </a:p>
          <a:p>
            <a:pPr marL="457200" lvl="1" indent="0">
              <a:buNone/>
            </a:pPr>
            <a:r>
              <a:rPr lang="en-US" b="1" dirty="0" err="1">
                <a:latin typeface="Courier New" pitchFamily="49"/>
              </a:rPr>
              <a:t>yywrap</a:t>
            </a:r>
            <a:r>
              <a:rPr lang="en-US" b="1" dirty="0">
                <a:latin typeface="Courier New" pitchFamily="49"/>
              </a:rPr>
              <a:t>(){}</a:t>
            </a:r>
          </a:p>
          <a:p>
            <a:pPr marL="457200" lvl="1" indent="0">
              <a:buNone/>
            </a:pPr>
            <a:r>
              <a:rPr lang="en-US" b="1" dirty="0">
                <a:latin typeface="Courier New" pitchFamily="49"/>
              </a:rPr>
              <a:t>main(){</a:t>
            </a:r>
          </a:p>
          <a:p>
            <a:pPr marL="457200" lvl="1" indent="0">
              <a:buNone/>
            </a:pPr>
            <a:r>
              <a:rPr lang="en-US" b="1" dirty="0">
                <a:latin typeface="Courier New" pitchFamily="49"/>
              </a:rPr>
              <a:t>  </a:t>
            </a:r>
            <a:r>
              <a:rPr lang="en-US" b="1" dirty="0" err="1">
                <a:latin typeface="Courier New" pitchFamily="49"/>
              </a:rPr>
              <a:t>yylineno</a:t>
            </a:r>
            <a:r>
              <a:rPr lang="en-US" b="1" dirty="0">
                <a:latin typeface="Courier New" pitchFamily="49"/>
              </a:rPr>
              <a:t> = 1;</a:t>
            </a:r>
          </a:p>
          <a:p>
            <a:pPr marL="457200" lvl="1" indent="0">
              <a:buNone/>
            </a:pPr>
            <a:r>
              <a:rPr lang="en-US" b="1" dirty="0">
                <a:latin typeface="Courier New" pitchFamily="49"/>
              </a:rPr>
              <a:t>  </a:t>
            </a:r>
            <a:r>
              <a:rPr lang="en-US" b="1" dirty="0" err="1">
                <a:latin typeface="Courier New" pitchFamily="49"/>
              </a:rPr>
              <a:t>yylex</a:t>
            </a:r>
            <a:r>
              <a:rPr lang="en-US" b="1" dirty="0">
                <a:latin typeface="Courier New" pitchFamily="49"/>
              </a:rPr>
              <a:t>();</a:t>
            </a:r>
          </a:p>
          <a:p>
            <a:pPr marL="457200" lvl="1" indent="0">
              <a:buNone/>
            </a:pPr>
            <a:r>
              <a:rPr lang="en-US" b="1" dirty="0">
                <a:latin typeface="Courier New" pitchFamily="49"/>
              </a:rPr>
              <a:t>}</a:t>
            </a:r>
          </a:p>
          <a:p>
            <a:pPr marL="457200" lvl="1" indent="0">
              <a:buNone/>
            </a:pPr>
            <a:endParaRPr lang="en-US" b="1" dirty="0">
              <a:latin typeface="Courier New" pitchFamily="49"/>
            </a:endParaRPr>
          </a:p>
          <a:p>
            <a:pPr marL="457200" lvl="1" indent="0">
              <a:buNone/>
            </a:pPr>
            <a:endParaRPr lang="en-US" b="1" dirty="0">
              <a:latin typeface="Courier New" pitchFamily="49"/>
            </a:endParaRPr>
          </a:p>
          <a:p>
            <a:pPr marL="457200" lvl="1" indent="0">
              <a:buNone/>
            </a:pPr>
            <a:endParaRPr lang="en-US" b="1" dirty="0">
              <a:latin typeface="Courier New" pitchFamily="49"/>
            </a:endParaRPr>
          </a:p>
          <a:p>
            <a:pPr marL="457200" lvl="1" indent="0">
              <a:buNone/>
            </a:pPr>
            <a:r>
              <a:rPr lang="en-US" b="1" dirty="0">
                <a:latin typeface="Courier New" pitchFamily="49"/>
              </a:rPr>
              <a:t> </a:t>
            </a:r>
          </a:p>
          <a:p>
            <a:pPr marL="0" lvl="0" indent="0">
              <a:buNone/>
            </a:pPr>
            <a:endParaRPr lang="en-US" b="1" dirty="0">
              <a:latin typeface="Courier New" pitchFamily="49"/>
            </a:endParaRPr>
          </a:p>
        </p:txBody>
      </p:sp>
      <p:sp>
        <p:nvSpPr>
          <p:cNvPr id="4" name="Slide Number Placeholder 3"/>
          <p:cNvSpPr>
            <a:spLocks noGrp="1"/>
          </p:cNvSpPr>
          <p:nvPr>
            <p:ph type="sldNum" sz="quarter" idx="12"/>
          </p:nvPr>
        </p:nvSpPr>
        <p:spPr/>
        <p:txBody>
          <a:bodyPr/>
          <a:lstStyle/>
          <a:p>
            <a:fld id="{C2C343A0-757D-4032-BC20-DF0A67BD0A50}" type="slidenum">
              <a:rPr lang="en-US" smtClean="0"/>
              <a:t>62</a:t>
            </a:fld>
            <a:endParaRPr lang="en-US"/>
          </a:p>
        </p:txBody>
      </p:sp>
    </p:spTree>
    <p:extLst>
      <p:ext uri="{BB962C8B-B14F-4D97-AF65-F5344CB8AC3E}">
        <p14:creationId xmlns:p14="http://schemas.microsoft.com/office/powerpoint/2010/main" val="14972860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 – Examples</a:t>
            </a:r>
            <a:endParaRPr lang="en-US" b="1" i="1" dirty="0"/>
          </a:p>
        </p:txBody>
      </p:sp>
      <p:sp>
        <p:nvSpPr>
          <p:cNvPr id="3" name="Content Placeholder 2"/>
          <p:cNvSpPr>
            <a:spLocks noGrp="1"/>
          </p:cNvSpPr>
          <p:nvPr>
            <p:ph idx="1"/>
          </p:nvPr>
        </p:nvSpPr>
        <p:spPr>
          <a:xfrm>
            <a:off x="457200" y="1600200"/>
            <a:ext cx="8458200" cy="5029200"/>
          </a:xfrm>
        </p:spPr>
        <p:txBody>
          <a:bodyPr>
            <a:normAutofit fontScale="55000" lnSpcReduction="20000"/>
          </a:bodyPr>
          <a:lstStyle/>
          <a:p>
            <a:pPr>
              <a:buSzPct val="45000"/>
            </a:pPr>
            <a:r>
              <a:rPr lang="en-US" b="1" u="sng" dirty="0">
                <a:latin typeface="Courier New" panose="02070309020205020404" pitchFamily="49" charset="0"/>
                <a:cs typeface="Courier New" panose="02070309020205020404" pitchFamily="49" charset="0"/>
              </a:rPr>
              <a:t>Example 3</a:t>
            </a:r>
            <a:r>
              <a:rPr lang="en-US" b="1" dirty="0">
                <a:latin typeface="Courier New" panose="02070309020205020404" pitchFamily="49" charset="0"/>
                <a:cs typeface="Courier New" panose="02070309020205020404" pitchFamily="49" charset="0"/>
              </a:rPr>
              <a:t>: </a:t>
            </a:r>
            <a:r>
              <a:rPr lang="en-US" b="1" dirty="0"/>
              <a:t>declaration statements</a:t>
            </a:r>
            <a:endParaRPr lang="en-US" b="1" dirty="0">
              <a:latin typeface="Courier New" panose="02070309020205020404" pitchFamily="49" charset="0"/>
              <a:cs typeface="Courier New" panose="02070309020205020404" pitchFamily="49" charset="0"/>
            </a:endParaRPr>
          </a:p>
          <a:p>
            <a:pPr marL="457200" lvl="1" indent="0">
              <a:buNone/>
            </a:pPr>
            <a:r>
              <a:rPr lang="en-US" b="1" dirty="0">
                <a:solidFill>
                  <a:srgbClr val="800000"/>
                </a:solidFill>
                <a:latin typeface="Courier New" pitchFamily="49"/>
              </a:rPr>
              <a:t>%{</a:t>
            </a:r>
          </a:p>
          <a:p>
            <a:pPr marL="457200" lvl="1" indent="0">
              <a:buNone/>
            </a:pPr>
            <a:r>
              <a:rPr lang="en-US" b="1" dirty="0">
                <a:solidFill>
                  <a:srgbClr val="800000"/>
                </a:solidFill>
                <a:latin typeface="Courier New" pitchFamily="49"/>
              </a:rPr>
              <a:t>     FILE *</a:t>
            </a:r>
            <a:r>
              <a:rPr lang="en-US" b="1" dirty="0" err="1">
                <a:solidFill>
                  <a:srgbClr val="800000"/>
                </a:solidFill>
                <a:latin typeface="Courier New" pitchFamily="49"/>
              </a:rPr>
              <a:t>declfile</a:t>
            </a:r>
            <a:r>
              <a:rPr lang="en-US" b="1" dirty="0">
                <a:solidFill>
                  <a:srgbClr val="800000"/>
                </a:solidFill>
                <a:latin typeface="Courier New" pitchFamily="49"/>
              </a:rPr>
              <a:t>;</a:t>
            </a:r>
          </a:p>
          <a:p>
            <a:pPr marL="457200" lvl="1" indent="0">
              <a:buNone/>
            </a:pPr>
            <a:r>
              <a:rPr lang="en-US" b="1" dirty="0">
                <a:solidFill>
                  <a:srgbClr val="800000"/>
                </a:solidFill>
                <a:latin typeface="Courier New" pitchFamily="49"/>
              </a:rPr>
              <a:t>%}</a:t>
            </a:r>
          </a:p>
          <a:p>
            <a:pPr marL="457200" lvl="1" indent="0">
              <a:buNone/>
            </a:pPr>
            <a:r>
              <a:rPr lang="en-US" b="1" dirty="0">
                <a:solidFill>
                  <a:srgbClr val="006600"/>
                </a:solidFill>
                <a:latin typeface="Courier New" pitchFamily="49"/>
              </a:rPr>
              <a:t>Blanks</a:t>
            </a:r>
            <a:r>
              <a:rPr lang="en-US" b="1" dirty="0">
                <a:solidFill>
                  <a:srgbClr val="000099"/>
                </a:solidFill>
                <a:latin typeface="Courier New" pitchFamily="49"/>
              </a:rPr>
              <a:t>	[ \t]*</a:t>
            </a:r>
          </a:p>
          <a:p>
            <a:pPr marL="457200" lvl="1" indent="0">
              <a:buNone/>
            </a:pPr>
            <a:r>
              <a:rPr lang="en-US" b="1" dirty="0">
                <a:solidFill>
                  <a:srgbClr val="006600"/>
                </a:solidFill>
                <a:latin typeface="Courier New" pitchFamily="49"/>
              </a:rPr>
              <a:t>Letter</a:t>
            </a:r>
            <a:r>
              <a:rPr lang="en-US" b="1" dirty="0">
                <a:solidFill>
                  <a:srgbClr val="000099"/>
                </a:solidFill>
                <a:latin typeface="Courier New" pitchFamily="49"/>
              </a:rPr>
              <a:t>	[a-z]</a:t>
            </a:r>
          </a:p>
          <a:p>
            <a:pPr marL="457200" lvl="1" indent="0">
              <a:buNone/>
            </a:pPr>
            <a:r>
              <a:rPr lang="en-US" b="1" dirty="0">
                <a:solidFill>
                  <a:srgbClr val="006600"/>
                </a:solidFill>
                <a:latin typeface="Courier New" pitchFamily="49"/>
              </a:rPr>
              <a:t>Digit</a:t>
            </a:r>
            <a:r>
              <a:rPr lang="en-US" b="1" dirty="0">
                <a:solidFill>
                  <a:srgbClr val="000099"/>
                </a:solidFill>
                <a:latin typeface="Courier New" pitchFamily="49"/>
              </a:rPr>
              <a:t>	[0-9]</a:t>
            </a:r>
          </a:p>
          <a:p>
            <a:pPr marL="457200" lvl="1" indent="0">
              <a:buNone/>
            </a:pPr>
            <a:r>
              <a:rPr lang="en-US" b="1" dirty="0">
                <a:solidFill>
                  <a:srgbClr val="006600"/>
                </a:solidFill>
                <a:latin typeface="Courier New" pitchFamily="49"/>
              </a:rPr>
              <a:t>id</a:t>
            </a:r>
            <a:r>
              <a:rPr lang="en-US" b="1" dirty="0">
                <a:solidFill>
                  <a:srgbClr val="000099"/>
                </a:solidFill>
                <a:latin typeface="Courier New" pitchFamily="49"/>
              </a:rPr>
              <a:t>		({letter}|_)({letter}|{digit}|_)*</a:t>
            </a:r>
          </a:p>
          <a:p>
            <a:pPr marL="457200" lvl="1" indent="0">
              <a:buNone/>
            </a:pPr>
            <a:r>
              <a:rPr lang="en-US" b="1" dirty="0">
                <a:solidFill>
                  <a:srgbClr val="006600"/>
                </a:solidFill>
                <a:latin typeface="Courier New" pitchFamily="49"/>
              </a:rPr>
              <a:t>number</a:t>
            </a:r>
            <a:r>
              <a:rPr lang="en-US" b="1" dirty="0">
                <a:solidFill>
                  <a:srgbClr val="000099"/>
                </a:solidFill>
                <a:latin typeface="Courier New" pitchFamily="49"/>
              </a:rPr>
              <a:t>	{digit}+</a:t>
            </a:r>
          </a:p>
          <a:p>
            <a:pPr marL="457200" lvl="1" indent="0">
              <a:buNone/>
            </a:pPr>
            <a:r>
              <a:rPr lang="en-US" b="1" dirty="0" err="1">
                <a:solidFill>
                  <a:srgbClr val="006600"/>
                </a:solidFill>
                <a:latin typeface="Courier New" pitchFamily="49"/>
              </a:rPr>
              <a:t>arraydeclpart</a:t>
            </a:r>
            <a:r>
              <a:rPr lang="en-US" b="1" dirty="0">
                <a:solidFill>
                  <a:srgbClr val="000099"/>
                </a:solidFill>
                <a:latin typeface="Courier New" pitchFamily="49"/>
              </a:rPr>
              <a:t> {id}"["{number}"]"</a:t>
            </a:r>
          </a:p>
          <a:p>
            <a:pPr marL="457200" lvl="1" indent="0">
              <a:buNone/>
            </a:pPr>
            <a:r>
              <a:rPr lang="en-US" b="1" dirty="0" err="1">
                <a:solidFill>
                  <a:srgbClr val="006600"/>
                </a:solidFill>
                <a:latin typeface="Courier New" pitchFamily="49"/>
              </a:rPr>
              <a:t>declpart</a:t>
            </a:r>
            <a:r>
              <a:rPr lang="en-US" b="1" dirty="0">
                <a:solidFill>
                  <a:srgbClr val="006600"/>
                </a:solidFill>
                <a:latin typeface="Courier New" pitchFamily="49"/>
              </a:rPr>
              <a:t>	</a:t>
            </a:r>
            <a:r>
              <a:rPr lang="en-US" b="1" dirty="0">
                <a:solidFill>
                  <a:srgbClr val="000099"/>
                </a:solidFill>
                <a:latin typeface="Courier New" pitchFamily="49"/>
              </a:rPr>
              <a:t>({</a:t>
            </a:r>
            <a:r>
              <a:rPr lang="en-US" b="1" dirty="0" err="1">
                <a:solidFill>
                  <a:srgbClr val="000099"/>
                </a:solidFill>
                <a:latin typeface="Courier New" pitchFamily="49"/>
              </a:rPr>
              <a:t>arraydeclpart</a:t>
            </a:r>
            <a:r>
              <a:rPr lang="en-US" b="1" dirty="0">
                <a:solidFill>
                  <a:srgbClr val="000099"/>
                </a:solidFill>
                <a:latin typeface="Courier New" pitchFamily="49"/>
              </a:rPr>
              <a:t>}|{id})</a:t>
            </a:r>
          </a:p>
          <a:p>
            <a:pPr marL="457200" lvl="1" indent="0">
              <a:buNone/>
            </a:pPr>
            <a:r>
              <a:rPr lang="en-US" b="1" dirty="0" err="1">
                <a:solidFill>
                  <a:srgbClr val="006600"/>
                </a:solidFill>
                <a:latin typeface="Courier New" pitchFamily="49"/>
              </a:rPr>
              <a:t>decllist</a:t>
            </a:r>
            <a:r>
              <a:rPr lang="en-US" b="1" dirty="0">
                <a:solidFill>
                  <a:srgbClr val="006600"/>
                </a:solidFill>
                <a:latin typeface="Courier New" pitchFamily="49"/>
              </a:rPr>
              <a:t>  </a:t>
            </a:r>
            <a:r>
              <a:rPr lang="en-US" b="1" dirty="0">
                <a:solidFill>
                  <a:srgbClr val="000099"/>
                </a:solidFill>
                <a:latin typeface="Courier New" pitchFamily="49"/>
              </a:rPr>
              <a:t>({</a:t>
            </a:r>
            <a:r>
              <a:rPr lang="en-US" b="1" dirty="0" err="1">
                <a:solidFill>
                  <a:srgbClr val="000099"/>
                </a:solidFill>
                <a:latin typeface="Courier New" pitchFamily="49"/>
              </a:rPr>
              <a:t>declpart</a:t>
            </a:r>
            <a:r>
              <a:rPr lang="en-US" b="1" dirty="0">
                <a:solidFill>
                  <a:srgbClr val="000099"/>
                </a:solidFill>
                <a:latin typeface="Courier New" pitchFamily="49"/>
              </a:rPr>
              <a:t>}{blanks}","{blanks})*{blanks}{</a:t>
            </a:r>
            <a:r>
              <a:rPr lang="en-US" b="1" dirty="0" err="1">
                <a:solidFill>
                  <a:srgbClr val="000099"/>
                </a:solidFill>
                <a:latin typeface="Courier New" pitchFamily="49"/>
              </a:rPr>
              <a:t>declpart</a:t>
            </a:r>
            <a:r>
              <a:rPr lang="en-US" b="1" dirty="0">
                <a:solidFill>
                  <a:srgbClr val="000099"/>
                </a:solidFill>
                <a:latin typeface="Courier New" pitchFamily="49"/>
              </a:rPr>
              <a:t>}{blanks}</a:t>
            </a:r>
          </a:p>
          <a:p>
            <a:pPr marL="457200" lvl="1" indent="0">
              <a:buNone/>
            </a:pPr>
            <a:r>
              <a:rPr lang="en-US" b="1" dirty="0">
                <a:solidFill>
                  <a:srgbClr val="006600"/>
                </a:solidFill>
                <a:latin typeface="Courier New" pitchFamily="49"/>
              </a:rPr>
              <a:t>declaration</a:t>
            </a:r>
            <a:r>
              <a:rPr lang="en-US" b="1" dirty="0">
                <a:solidFill>
                  <a:srgbClr val="000099"/>
                </a:solidFill>
                <a:latin typeface="Courier New" pitchFamily="49"/>
              </a:rPr>
              <a:t>	(("</a:t>
            </a:r>
            <a:r>
              <a:rPr lang="en-US" b="1" dirty="0" err="1">
                <a:solidFill>
                  <a:srgbClr val="000099"/>
                </a:solidFill>
                <a:latin typeface="Courier New" pitchFamily="49"/>
              </a:rPr>
              <a:t>int</a:t>
            </a:r>
            <a:r>
              <a:rPr lang="en-US" b="1" dirty="0">
                <a:solidFill>
                  <a:srgbClr val="000099"/>
                </a:solidFill>
                <a:latin typeface="Courier New" pitchFamily="49"/>
              </a:rPr>
              <a:t>")|("float")){blanks}{</a:t>
            </a:r>
            <a:r>
              <a:rPr lang="en-US" b="1" dirty="0" err="1">
                <a:solidFill>
                  <a:srgbClr val="000099"/>
                </a:solidFill>
                <a:latin typeface="Courier New" pitchFamily="49"/>
              </a:rPr>
              <a:t>decllist</a:t>
            </a:r>
            <a:r>
              <a:rPr lang="en-US" b="1" dirty="0">
                <a:solidFill>
                  <a:srgbClr val="000099"/>
                </a:solidFill>
                <a:latin typeface="Courier New" pitchFamily="49"/>
              </a:rPr>
              <a:t>}{blanks};</a:t>
            </a:r>
          </a:p>
          <a:p>
            <a:pPr marL="457200" lvl="1" indent="0">
              <a:buNone/>
            </a:pPr>
            <a:r>
              <a:rPr lang="en-US" b="1" dirty="0">
                <a:latin typeface="Courier New" pitchFamily="49"/>
              </a:rPr>
              <a:t>%%</a:t>
            </a:r>
          </a:p>
          <a:p>
            <a:pPr marL="457200" lvl="1" indent="0">
              <a:buNone/>
            </a:pPr>
            <a:r>
              <a:rPr lang="en-US" b="1" dirty="0">
                <a:solidFill>
                  <a:srgbClr val="006600"/>
                </a:solidFill>
                <a:latin typeface="Courier New" pitchFamily="49"/>
              </a:rPr>
              <a:t>{declaration}</a:t>
            </a:r>
            <a:r>
              <a:rPr lang="en-US" b="1" dirty="0">
                <a:solidFill>
                  <a:srgbClr val="000099"/>
                </a:solidFill>
                <a:latin typeface="Courier New" pitchFamily="49"/>
              </a:rPr>
              <a:t>  </a:t>
            </a:r>
            <a:r>
              <a:rPr lang="en-US" b="1" dirty="0" err="1">
                <a:solidFill>
                  <a:srgbClr val="000099"/>
                </a:solidFill>
                <a:latin typeface="Courier New" pitchFamily="49"/>
              </a:rPr>
              <a:t>fprintf</a:t>
            </a:r>
            <a:r>
              <a:rPr lang="en-US" b="1" dirty="0">
                <a:solidFill>
                  <a:srgbClr val="000099"/>
                </a:solidFill>
                <a:latin typeface="Courier New" pitchFamily="49"/>
              </a:rPr>
              <a:t>(</a:t>
            </a:r>
            <a:r>
              <a:rPr lang="en-US" b="1" dirty="0" err="1">
                <a:solidFill>
                  <a:srgbClr val="000099"/>
                </a:solidFill>
                <a:latin typeface="Courier New" pitchFamily="49"/>
              </a:rPr>
              <a:t>declfile</a:t>
            </a:r>
            <a:r>
              <a:rPr lang="en-US" b="1" dirty="0">
                <a:solidFill>
                  <a:srgbClr val="000099"/>
                </a:solidFill>
                <a:latin typeface="Courier New" pitchFamily="49"/>
              </a:rPr>
              <a:t>,"%s\n",</a:t>
            </a:r>
            <a:r>
              <a:rPr lang="en-US" b="1" dirty="0" err="1">
                <a:solidFill>
                  <a:srgbClr val="000099"/>
                </a:solidFill>
                <a:latin typeface="Courier New" pitchFamily="49"/>
              </a:rPr>
              <a:t>yytext</a:t>
            </a:r>
            <a:r>
              <a:rPr lang="en-US" b="1" dirty="0">
                <a:solidFill>
                  <a:srgbClr val="000099"/>
                </a:solidFill>
                <a:latin typeface="Courier New" pitchFamily="49"/>
              </a:rPr>
              <a:t>);</a:t>
            </a:r>
          </a:p>
          <a:p>
            <a:pPr marL="457200" lvl="1" indent="0">
              <a:buNone/>
            </a:pPr>
            <a:r>
              <a:rPr lang="en-US" b="1" dirty="0">
                <a:latin typeface="Courier New" pitchFamily="49"/>
              </a:rPr>
              <a:t>%%</a:t>
            </a:r>
          </a:p>
          <a:p>
            <a:pPr marL="457200" lvl="1" indent="0">
              <a:buNone/>
            </a:pPr>
            <a:r>
              <a:rPr lang="en-US" b="1" dirty="0" err="1">
                <a:latin typeface="Courier New" pitchFamily="49"/>
              </a:rPr>
              <a:t>yywrap</a:t>
            </a:r>
            <a:r>
              <a:rPr lang="en-US" b="1" dirty="0">
                <a:latin typeface="Courier New" pitchFamily="49"/>
              </a:rPr>
              <a:t>(){ </a:t>
            </a:r>
            <a:r>
              <a:rPr lang="en-US" b="1" dirty="0" err="1">
                <a:latin typeface="Courier New" pitchFamily="49"/>
              </a:rPr>
              <a:t>fclose</a:t>
            </a:r>
            <a:r>
              <a:rPr lang="en-US" b="1" dirty="0">
                <a:latin typeface="Courier New" pitchFamily="49"/>
              </a:rPr>
              <a:t>(</a:t>
            </a:r>
            <a:r>
              <a:rPr lang="en-US" b="1" dirty="0" err="1">
                <a:latin typeface="Courier New" pitchFamily="49"/>
              </a:rPr>
              <a:t>declfile</a:t>
            </a:r>
            <a:r>
              <a:rPr lang="en-US" b="1" dirty="0">
                <a:latin typeface="Courier New" pitchFamily="49"/>
              </a:rPr>
              <a:t>); }</a:t>
            </a:r>
          </a:p>
          <a:p>
            <a:pPr marL="457200" lvl="1" indent="0">
              <a:buNone/>
            </a:pPr>
            <a:r>
              <a:rPr lang="en-US" b="1" dirty="0">
                <a:latin typeface="Courier New" pitchFamily="49"/>
              </a:rPr>
              <a:t>main(){ </a:t>
            </a:r>
            <a:r>
              <a:rPr lang="en-US" b="1" dirty="0" err="1">
                <a:latin typeface="Courier New" pitchFamily="49"/>
              </a:rPr>
              <a:t>declfile</a:t>
            </a:r>
            <a:r>
              <a:rPr lang="en-US" b="1" dirty="0">
                <a:latin typeface="Courier New" pitchFamily="49"/>
              </a:rPr>
              <a:t> = </a:t>
            </a:r>
            <a:r>
              <a:rPr lang="en-US" b="1" dirty="0" err="1">
                <a:latin typeface="Courier New" pitchFamily="49"/>
              </a:rPr>
              <a:t>fopen</a:t>
            </a:r>
            <a:r>
              <a:rPr lang="en-US" b="1" dirty="0">
                <a:latin typeface="Courier New" pitchFamily="49"/>
              </a:rPr>
              <a:t>("</a:t>
            </a:r>
            <a:r>
              <a:rPr lang="en-US" b="1" dirty="0" err="1">
                <a:latin typeface="Courier New" pitchFamily="49"/>
              </a:rPr>
              <a:t>declfile</a:t>
            </a:r>
            <a:r>
              <a:rPr lang="en-US" b="1" dirty="0">
                <a:latin typeface="Courier New" pitchFamily="49"/>
              </a:rPr>
              <a:t>","w"); </a:t>
            </a:r>
            <a:r>
              <a:rPr lang="en-US" b="1" dirty="0" err="1">
                <a:latin typeface="Courier New" pitchFamily="49"/>
              </a:rPr>
              <a:t>yylex</a:t>
            </a:r>
            <a:r>
              <a:rPr lang="en-US" b="1" dirty="0">
                <a:latin typeface="Courier New" pitchFamily="49"/>
              </a:rPr>
              <a:t>(); }</a:t>
            </a:r>
          </a:p>
        </p:txBody>
      </p:sp>
      <p:sp>
        <p:nvSpPr>
          <p:cNvPr id="4" name="Slide Number Placeholder 3"/>
          <p:cNvSpPr>
            <a:spLocks noGrp="1"/>
          </p:cNvSpPr>
          <p:nvPr>
            <p:ph type="sldNum" sz="quarter" idx="12"/>
          </p:nvPr>
        </p:nvSpPr>
        <p:spPr/>
        <p:txBody>
          <a:bodyPr/>
          <a:lstStyle/>
          <a:p>
            <a:fld id="{C2C343A0-757D-4032-BC20-DF0A67BD0A50}" type="slidenum">
              <a:rPr lang="en-US" smtClean="0"/>
              <a:t>63</a:t>
            </a:fld>
            <a:endParaRPr lang="en-US"/>
          </a:p>
        </p:txBody>
      </p:sp>
    </p:spTree>
    <p:extLst>
      <p:ext uri="{BB962C8B-B14F-4D97-AF65-F5344CB8AC3E}">
        <p14:creationId xmlns:p14="http://schemas.microsoft.com/office/powerpoint/2010/main" val="26715744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 – Examples</a:t>
            </a:r>
            <a:endParaRPr lang="en-US" b="1" i="1" dirty="0"/>
          </a:p>
        </p:txBody>
      </p:sp>
      <p:sp>
        <p:nvSpPr>
          <p:cNvPr id="3" name="Content Placeholder 2"/>
          <p:cNvSpPr>
            <a:spLocks noGrp="1"/>
          </p:cNvSpPr>
          <p:nvPr>
            <p:ph idx="1"/>
          </p:nvPr>
        </p:nvSpPr>
        <p:spPr>
          <a:xfrm>
            <a:off x="457200" y="1600200"/>
            <a:ext cx="8458200" cy="5029200"/>
          </a:xfrm>
        </p:spPr>
        <p:txBody>
          <a:bodyPr>
            <a:normAutofit fontScale="70000" lnSpcReduction="20000"/>
          </a:bodyPr>
          <a:lstStyle/>
          <a:p>
            <a:pPr>
              <a:buSzPct val="45000"/>
            </a:pPr>
            <a:r>
              <a:rPr lang="en-US" b="1" u="sng" dirty="0">
                <a:latin typeface="Courier New" panose="02070309020205020404" pitchFamily="49" charset="0"/>
                <a:cs typeface="Courier New" panose="02070309020205020404" pitchFamily="49" charset="0"/>
              </a:rPr>
              <a:t>Example 4</a:t>
            </a:r>
            <a:r>
              <a:rPr lang="en-US" b="1" dirty="0">
                <a:latin typeface="Courier New" panose="02070309020205020404" pitchFamily="49" charset="0"/>
                <a:cs typeface="Courier New" panose="02070309020205020404" pitchFamily="49" charset="0"/>
              </a:rPr>
              <a:t>:</a:t>
            </a:r>
            <a:r>
              <a:rPr lang="en-US" b="1" dirty="0"/>
              <a:t>Identifier, Reserved words,  and constants  </a:t>
            </a:r>
            <a:endParaRPr lang="en-US" b="1" dirty="0">
              <a:latin typeface="Courier New" panose="02070309020205020404" pitchFamily="49" charset="0"/>
              <a:cs typeface="Courier New" panose="02070309020205020404" pitchFamily="49" charset="0"/>
            </a:endParaRPr>
          </a:p>
          <a:p>
            <a:pPr marL="457200" lvl="1" indent="0">
              <a:buNone/>
            </a:pPr>
            <a:r>
              <a:rPr lang="en-US" b="1" dirty="0">
                <a:solidFill>
                  <a:srgbClr val="800000"/>
                </a:solidFill>
                <a:latin typeface="Courier New" pitchFamily="49"/>
              </a:rPr>
              <a:t>%{</a:t>
            </a:r>
          </a:p>
          <a:p>
            <a:pPr marL="457200" lvl="1" indent="0">
              <a:buNone/>
            </a:pPr>
            <a:r>
              <a:rPr lang="en-US" b="1" dirty="0">
                <a:solidFill>
                  <a:srgbClr val="800000"/>
                </a:solidFill>
                <a:latin typeface="Courier New" pitchFamily="49"/>
              </a:rPr>
              <a:t>	</a:t>
            </a:r>
            <a:r>
              <a:rPr lang="en-US" b="1" dirty="0" err="1">
                <a:solidFill>
                  <a:srgbClr val="800000"/>
                </a:solidFill>
                <a:latin typeface="Courier New" pitchFamily="49"/>
              </a:rPr>
              <a:t>int</a:t>
            </a:r>
            <a:r>
              <a:rPr lang="en-US" b="1" dirty="0">
                <a:solidFill>
                  <a:srgbClr val="800000"/>
                </a:solidFill>
                <a:latin typeface="Courier New" pitchFamily="49"/>
              </a:rPr>
              <a:t> hex = 0; </a:t>
            </a:r>
            <a:r>
              <a:rPr lang="en-US" b="1" dirty="0" err="1">
                <a:solidFill>
                  <a:srgbClr val="800000"/>
                </a:solidFill>
                <a:latin typeface="Courier New" pitchFamily="49"/>
              </a:rPr>
              <a:t>int</a:t>
            </a:r>
            <a:r>
              <a:rPr lang="en-US" b="1" dirty="0">
                <a:solidFill>
                  <a:srgbClr val="800000"/>
                </a:solidFill>
                <a:latin typeface="Courier New" pitchFamily="49"/>
              </a:rPr>
              <a:t> </a:t>
            </a:r>
            <a:r>
              <a:rPr lang="en-US" b="1" dirty="0" err="1">
                <a:solidFill>
                  <a:srgbClr val="800000"/>
                </a:solidFill>
                <a:latin typeface="Courier New" pitchFamily="49"/>
              </a:rPr>
              <a:t>oct</a:t>
            </a:r>
            <a:r>
              <a:rPr lang="en-US" b="1" dirty="0">
                <a:solidFill>
                  <a:srgbClr val="800000"/>
                </a:solidFill>
                <a:latin typeface="Courier New" pitchFamily="49"/>
              </a:rPr>
              <a:t> = 0; </a:t>
            </a:r>
            <a:r>
              <a:rPr lang="en-US" b="1" dirty="0" err="1">
                <a:solidFill>
                  <a:srgbClr val="800000"/>
                </a:solidFill>
                <a:latin typeface="Courier New" pitchFamily="49"/>
              </a:rPr>
              <a:t>int</a:t>
            </a:r>
            <a:r>
              <a:rPr lang="en-US" b="1" dirty="0">
                <a:solidFill>
                  <a:srgbClr val="800000"/>
                </a:solidFill>
                <a:latin typeface="Courier New" pitchFamily="49"/>
              </a:rPr>
              <a:t> regular =0;</a:t>
            </a:r>
          </a:p>
          <a:p>
            <a:pPr marL="457200" lvl="1" indent="0">
              <a:buNone/>
            </a:pPr>
            <a:r>
              <a:rPr lang="en-US" b="1" dirty="0">
                <a:solidFill>
                  <a:srgbClr val="800000"/>
                </a:solidFill>
                <a:latin typeface="Courier New" pitchFamily="49"/>
              </a:rPr>
              <a:t>%}</a:t>
            </a:r>
          </a:p>
          <a:p>
            <a:pPr marL="457200" lvl="1" indent="0">
              <a:buNone/>
            </a:pPr>
            <a:r>
              <a:rPr lang="en-US" b="1" dirty="0">
                <a:solidFill>
                  <a:srgbClr val="006600"/>
                </a:solidFill>
                <a:latin typeface="Courier New" pitchFamily="49"/>
              </a:rPr>
              <a:t>letter</a:t>
            </a:r>
            <a:r>
              <a:rPr lang="en-US" b="1" dirty="0">
                <a:solidFill>
                  <a:srgbClr val="000099"/>
                </a:solidFill>
                <a:latin typeface="Courier New" pitchFamily="49"/>
              </a:rPr>
              <a:t>		[a-</a:t>
            </a:r>
            <a:r>
              <a:rPr lang="en-US" b="1" dirty="0" err="1">
                <a:solidFill>
                  <a:srgbClr val="000099"/>
                </a:solidFill>
                <a:latin typeface="Courier New" pitchFamily="49"/>
              </a:rPr>
              <a:t>zA</a:t>
            </a:r>
            <a:r>
              <a:rPr lang="en-US" b="1" dirty="0">
                <a:solidFill>
                  <a:srgbClr val="000099"/>
                </a:solidFill>
                <a:latin typeface="Courier New" pitchFamily="49"/>
              </a:rPr>
              <a:t>-Z_]</a:t>
            </a:r>
          </a:p>
          <a:p>
            <a:pPr marL="457200" lvl="1" indent="0">
              <a:buNone/>
            </a:pPr>
            <a:r>
              <a:rPr lang="en-US" b="1" dirty="0">
                <a:solidFill>
                  <a:srgbClr val="006600"/>
                </a:solidFill>
                <a:latin typeface="Courier New" pitchFamily="49"/>
              </a:rPr>
              <a:t>digit</a:t>
            </a:r>
            <a:r>
              <a:rPr lang="en-US" b="1" dirty="0">
                <a:solidFill>
                  <a:srgbClr val="000099"/>
                </a:solidFill>
                <a:latin typeface="Courier New" pitchFamily="49"/>
              </a:rPr>
              <a:t>		[0-9]</a:t>
            </a:r>
          </a:p>
          <a:p>
            <a:pPr marL="457200" lvl="1" indent="0">
              <a:buNone/>
            </a:pPr>
            <a:r>
              <a:rPr lang="en-US" b="1" dirty="0">
                <a:solidFill>
                  <a:srgbClr val="006600"/>
                </a:solidFill>
                <a:latin typeface="Courier New" pitchFamily="49"/>
              </a:rPr>
              <a:t>digits</a:t>
            </a:r>
            <a:r>
              <a:rPr lang="en-US" b="1" dirty="0">
                <a:solidFill>
                  <a:srgbClr val="000099"/>
                </a:solidFill>
                <a:latin typeface="Courier New" pitchFamily="49"/>
              </a:rPr>
              <a:t>		{digit}+</a:t>
            </a:r>
          </a:p>
          <a:p>
            <a:pPr marL="457200" lvl="1" indent="0">
              <a:buNone/>
            </a:pPr>
            <a:r>
              <a:rPr lang="en-US" b="1" dirty="0" err="1">
                <a:solidFill>
                  <a:srgbClr val="006600"/>
                </a:solidFill>
                <a:latin typeface="Courier New" pitchFamily="49"/>
              </a:rPr>
              <a:t>digit_oct</a:t>
            </a:r>
            <a:r>
              <a:rPr lang="en-US" b="1" dirty="0">
                <a:solidFill>
                  <a:srgbClr val="000099"/>
                </a:solidFill>
                <a:latin typeface="Courier New" pitchFamily="49"/>
              </a:rPr>
              <a:t>	[0-7]</a:t>
            </a:r>
          </a:p>
          <a:p>
            <a:pPr marL="457200" lvl="1" indent="0">
              <a:buNone/>
            </a:pPr>
            <a:r>
              <a:rPr lang="en-US" b="1" dirty="0" err="1">
                <a:solidFill>
                  <a:srgbClr val="006600"/>
                </a:solidFill>
                <a:latin typeface="Courier New" pitchFamily="49"/>
              </a:rPr>
              <a:t>digit_hex</a:t>
            </a:r>
            <a:r>
              <a:rPr lang="en-US" b="1" dirty="0">
                <a:solidFill>
                  <a:srgbClr val="000099"/>
                </a:solidFill>
                <a:latin typeface="Courier New" pitchFamily="49"/>
              </a:rPr>
              <a:t>	[0-9A-F]</a:t>
            </a:r>
          </a:p>
          <a:p>
            <a:pPr marL="457200" lvl="1" indent="0">
              <a:buNone/>
            </a:pPr>
            <a:r>
              <a:rPr lang="en-US" b="1" dirty="0" err="1">
                <a:solidFill>
                  <a:srgbClr val="006600"/>
                </a:solidFill>
                <a:latin typeface="Courier New" pitchFamily="49"/>
              </a:rPr>
              <a:t>int_qualifier</a:t>
            </a:r>
            <a:r>
              <a:rPr lang="en-US" b="1" dirty="0">
                <a:solidFill>
                  <a:srgbClr val="000099"/>
                </a:solidFill>
                <a:latin typeface="Courier New" pitchFamily="49"/>
              </a:rPr>
              <a:t>	[</a:t>
            </a:r>
            <a:r>
              <a:rPr lang="en-US" b="1" dirty="0" err="1">
                <a:solidFill>
                  <a:srgbClr val="000099"/>
                </a:solidFill>
                <a:latin typeface="Courier New" pitchFamily="49"/>
              </a:rPr>
              <a:t>uUlL</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blanks</a:t>
            </a:r>
            <a:r>
              <a:rPr lang="en-US" b="1" dirty="0">
                <a:solidFill>
                  <a:srgbClr val="000099"/>
                </a:solidFill>
                <a:latin typeface="Courier New" pitchFamily="49"/>
              </a:rPr>
              <a:t>		[ \t]+</a:t>
            </a:r>
          </a:p>
          <a:p>
            <a:pPr marL="457200" lvl="1" indent="0">
              <a:buNone/>
            </a:pPr>
            <a:r>
              <a:rPr lang="en-US" b="1" dirty="0">
                <a:solidFill>
                  <a:srgbClr val="006600"/>
                </a:solidFill>
                <a:latin typeface="Courier New" pitchFamily="49"/>
              </a:rPr>
              <a:t>identifier</a:t>
            </a:r>
            <a:r>
              <a:rPr lang="en-US" b="1" dirty="0">
                <a:solidFill>
                  <a:srgbClr val="000099"/>
                </a:solidFill>
                <a:latin typeface="Courier New" pitchFamily="49"/>
              </a:rPr>
              <a:t>	{letter}({letter}|{digit})*</a:t>
            </a:r>
          </a:p>
          <a:p>
            <a:pPr marL="457200" lvl="1" indent="0">
              <a:buNone/>
            </a:pPr>
            <a:r>
              <a:rPr lang="en-US" b="1" dirty="0">
                <a:solidFill>
                  <a:srgbClr val="006600"/>
                </a:solidFill>
                <a:latin typeface="Courier New" pitchFamily="49"/>
              </a:rPr>
              <a:t>integer</a:t>
            </a:r>
            <a:r>
              <a:rPr lang="en-US" b="1" dirty="0">
                <a:solidFill>
                  <a:srgbClr val="000099"/>
                </a:solidFill>
                <a:latin typeface="Courier New" pitchFamily="49"/>
              </a:rPr>
              <a:t>		{digits}{</a:t>
            </a:r>
            <a:r>
              <a:rPr lang="en-US" b="1" dirty="0" err="1">
                <a:solidFill>
                  <a:srgbClr val="000099"/>
                </a:solidFill>
                <a:latin typeface="Courier New" pitchFamily="49"/>
              </a:rPr>
              <a:t>int_qualifier</a:t>
            </a:r>
            <a:r>
              <a:rPr lang="en-US" b="1" dirty="0">
                <a:solidFill>
                  <a:srgbClr val="000099"/>
                </a:solidFill>
                <a:latin typeface="Courier New" pitchFamily="49"/>
              </a:rPr>
              <a:t>}?</a:t>
            </a:r>
          </a:p>
          <a:p>
            <a:pPr marL="457200" lvl="1" indent="0">
              <a:buNone/>
            </a:pPr>
            <a:r>
              <a:rPr lang="en-US" b="1" dirty="0" err="1">
                <a:solidFill>
                  <a:srgbClr val="006600"/>
                </a:solidFill>
                <a:latin typeface="Courier New" pitchFamily="49"/>
              </a:rPr>
              <a:t>hex_const</a:t>
            </a:r>
            <a:r>
              <a:rPr lang="en-US" b="1" dirty="0">
                <a:solidFill>
                  <a:srgbClr val="000099"/>
                </a:solidFill>
                <a:latin typeface="Courier New" pitchFamily="49"/>
              </a:rPr>
              <a:t>	0[</a:t>
            </a:r>
            <a:r>
              <a:rPr lang="en-US" b="1" dirty="0" err="1">
                <a:solidFill>
                  <a:srgbClr val="000099"/>
                </a:solidFill>
                <a:latin typeface="Courier New" pitchFamily="49"/>
              </a:rPr>
              <a:t>xX</a:t>
            </a:r>
            <a:r>
              <a:rPr lang="en-US" b="1" dirty="0">
                <a:solidFill>
                  <a:srgbClr val="000099"/>
                </a:solidFill>
                <a:latin typeface="Courier New" pitchFamily="49"/>
              </a:rPr>
              <a:t>]{</a:t>
            </a:r>
            <a:r>
              <a:rPr lang="en-US" b="1" dirty="0" err="1">
                <a:solidFill>
                  <a:srgbClr val="000099"/>
                </a:solidFill>
                <a:latin typeface="Courier New" pitchFamily="49"/>
              </a:rPr>
              <a:t>digit_hex</a:t>
            </a:r>
            <a:r>
              <a:rPr lang="en-US" b="1" dirty="0">
                <a:solidFill>
                  <a:srgbClr val="000099"/>
                </a:solidFill>
                <a:latin typeface="Courier New" pitchFamily="49"/>
              </a:rPr>
              <a:t>}+{</a:t>
            </a:r>
            <a:r>
              <a:rPr lang="en-US" b="1" dirty="0" err="1">
                <a:solidFill>
                  <a:srgbClr val="000099"/>
                </a:solidFill>
                <a:latin typeface="Courier New" pitchFamily="49"/>
              </a:rPr>
              <a:t>int_qualifier</a:t>
            </a:r>
            <a:r>
              <a:rPr lang="en-US" b="1" dirty="0">
                <a:solidFill>
                  <a:srgbClr val="000099"/>
                </a:solidFill>
                <a:latin typeface="Courier New" pitchFamily="49"/>
              </a:rPr>
              <a:t>}?</a:t>
            </a:r>
          </a:p>
          <a:p>
            <a:pPr marL="457200" lvl="1" indent="0">
              <a:buNone/>
            </a:pPr>
            <a:r>
              <a:rPr lang="en-US" b="1" dirty="0" err="1">
                <a:solidFill>
                  <a:srgbClr val="006600"/>
                </a:solidFill>
                <a:latin typeface="Courier New" pitchFamily="49"/>
              </a:rPr>
              <a:t>oct_const</a:t>
            </a:r>
            <a:r>
              <a:rPr lang="en-US" b="1" dirty="0">
                <a:solidFill>
                  <a:srgbClr val="000099"/>
                </a:solidFill>
                <a:latin typeface="Courier New" pitchFamily="49"/>
              </a:rPr>
              <a:t>	0{</a:t>
            </a:r>
            <a:r>
              <a:rPr lang="en-US" b="1" dirty="0" err="1">
                <a:solidFill>
                  <a:srgbClr val="000099"/>
                </a:solidFill>
                <a:latin typeface="Courier New" pitchFamily="49"/>
              </a:rPr>
              <a:t>digit_oct</a:t>
            </a:r>
            <a:r>
              <a:rPr lang="en-US" b="1" dirty="0">
                <a:solidFill>
                  <a:srgbClr val="000099"/>
                </a:solidFill>
                <a:latin typeface="Courier New" pitchFamily="49"/>
              </a:rPr>
              <a:t>}+{</a:t>
            </a:r>
            <a:r>
              <a:rPr lang="en-US" b="1" dirty="0" err="1">
                <a:solidFill>
                  <a:srgbClr val="000099"/>
                </a:solidFill>
                <a:latin typeface="Courier New" pitchFamily="49"/>
              </a:rPr>
              <a:t>int_qualifier</a:t>
            </a:r>
            <a:r>
              <a:rPr lang="en-US" b="1" dirty="0">
                <a:solidFill>
                  <a:srgbClr val="000099"/>
                </a:solidFill>
                <a:latin typeface="Courier New" pitchFamily="49"/>
              </a:rPr>
              <a:t>}?</a:t>
            </a:r>
          </a:p>
        </p:txBody>
      </p:sp>
      <p:sp>
        <p:nvSpPr>
          <p:cNvPr id="4" name="Slide Number Placeholder 3"/>
          <p:cNvSpPr>
            <a:spLocks noGrp="1"/>
          </p:cNvSpPr>
          <p:nvPr>
            <p:ph type="sldNum" sz="quarter" idx="12"/>
          </p:nvPr>
        </p:nvSpPr>
        <p:spPr/>
        <p:txBody>
          <a:bodyPr/>
          <a:lstStyle/>
          <a:p>
            <a:fld id="{C2C343A0-757D-4032-BC20-DF0A67BD0A50}" type="slidenum">
              <a:rPr lang="en-US" smtClean="0"/>
              <a:t>64</a:t>
            </a:fld>
            <a:endParaRPr lang="en-US"/>
          </a:p>
        </p:txBody>
      </p:sp>
    </p:spTree>
    <p:extLst>
      <p:ext uri="{BB962C8B-B14F-4D97-AF65-F5344CB8AC3E}">
        <p14:creationId xmlns:p14="http://schemas.microsoft.com/office/powerpoint/2010/main" val="30986628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 – Examples</a:t>
            </a:r>
            <a:endParaRPr lang="en-US" b="1" i="1" dirty="0"/>
          </a:p>
        </p:txBody>
      </p:sp>
      <p:sp>
        <p:nvSpPr>
          <p:cNvPr id="3" name="Content Placeholder 2"/>
          <p:cNvSpPr>
            <a:spLocks noGrp="1"/>
          </p:cNvSpPr>
          <p:nvPr>
            <p:ph idx="1"/>
          </p:nvPr>
        </p:nvSpPr>
        <p:spPr>
          <a:xfrm>
            <a:off x="457200" y="1600200"/>
            <a:ext cx="8458200" cy="5029200"/>
          </a:xfrm>
        </p:spPr>
        <p:txBody>
          <a:bodyPr>
            <a:normAutofit fontScale="62500" lnSpcReduction="20000"/>
          </a:bodyPr>
          <a:lstStyle/>
          <a:p>
            <a:pPr>
              <a:buSzPct val="45000"/>
            </a:pPr>
            <a:r>
              <a:rPr lang="en-US" b="1" u="sng" dirty="0">
                <a:latin typeface="Courier New" panose="02070309020205020404" pitchFamily="49" charset="0"/>
                <a:cs typeface="Courier New" panose="02070309020205020404" pitchFamily="49" charset="0"/>
              </a:rPr>
              <a:t>Example 4</a:t>
            </a:r>
            <a:r>
              <a:rPr lang="en-US" b="1" dirty="0">
                <a:latin typeface="Courier New" panose="02070309020205020404" pitchFamily="49" charset="0"/>
                <a:cs typeface="Courier New" panose="02070309020205020404" pitchFamily="49" charset="0"/>
              </a:rPr>
              <a:t>: </a:t>
            </a:r>
            <a:r>
              <a:rPr lang="en-US" b="1" dirty="0"/>
              <a:t>Identifier, Reserved words,  and constants </a:t>
            </a:r>
            <a:endParaRPr lang="en-US" b="1" dirty="0">
              <a:latin typeface="Courier New" panose="02070309020205020404" pitchFamily="49" charset="0"/>
              <a:cs typeface="Courier New" panose="02070309020205020404" pitchFamily="49" charset="0"/>
            </a:endParaRPr>
          </a:p>
          <a:p>
            <a:pPr marL="457200" lvl="1" indent="0">
              <a:buNone/>
            </a:pPr>
            <a:r>
              <a:rPr lang="en-US" b="1" dirty="0">
                <a:latin typeface="Courier New" pitchFamily="49"/>
              </a:rPr>
              <a:t>%%</a:t>
            </a:r>
          </a:p>
          <a:p>
            <a:pPr marL="457200" lvl="1" indent="0">
              <a:buNone/>
            </a:pPr>
            <a:r>
              <a:rPr lang="en-US" b="1" dirty="0">
                <a:solidFill>
                  <a:srgbClr val="006600"/>
                </a:solidFill>
                <a:latin typeface="Courier New" pitchFamily="49"/>
              </a:rPr>
              <a:t>if</a:t>
            </a:r>
            <a:r>
              <a:rPr lang="en-US" b="1" dirty="0">
                <a:solidFill>
                  <a:srgbClr val="000099"/>
                </a:solidFill>
                <a:latin typeface="Courier New" pitchFamily="49"/>
              </a:rPr>
              <a:t>		{</a:t>
            </a:r>
            <a:r>
              <a:rPr lang="en-US" b="1" dirty="0" err="1">
                <a:solidFill>
                  <a:srgbClr val="000099"/>
                </a:solidFill>
                <a:latin typeface="Courier New" pitchFamily="49"/>
              </a:rPr>
              <a:t>printf</a:t>
            </a:r>
            <a:r>
              <a:rPr lang="en-US" b="1" dirty="0">
                <a:solidFill>
                  <a:srgbClr val="000099"/>
                </a:solidFill>
                <a:latin typeface="Courier New" pitchFamily="49"/>
              </a:rPr>
              <a:t>("reserved word:%s\n",</a:t>
            </a:r>
            <a:r>
              <a:rPr lang="en-US" b="1" dirty="0" err="1">
                <a:solidFill>
                  <a:srgbClr val="000099"/>
                </a:solidFill>
                <a:latin typeface="Courier New" pitchFamily="49"/>
              </a:rPr>
              <a:t>yytext</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else</a:t>
            </a:r>
            <a:r>
              <a:rPr lang="en-US" b="1" dirty="0">
                <a:solidFill>
                  <a:srgbClr val="000099"/>
                </a:solidFill>
                <a:latin typeface="Courier New" pitchFamily="49"/>
              </a:rPr>
              <a:t>	{</a:t>
            </a:r>
            <a:r>
              <a:rPr lang="en-US" b="1" dirty="0" err="1">
                <a:solidFill>
                  <a:srgbClr val="000099"/>
                </a:solidFill>
                <a:latin typeface="Courier New" pitchFamily="49"/>
              </a:rPr>
              <a:t>printf</a:t>
            </a:r>
            <a:r>
              <a:rPr lang="en-US" b="1" dirty="0">
                <a:solidFill>
                  <a:srgbClr val="000099"/>
                </a:solidFill>
                <a:latin typeface="Courier New" pitchFamily="49"/>
              </a:rPr>
              <a:t>("reserved word:%s\n",</a:t>
            </a:r>
            <a:r>
              <a:rPr lang="en-US" b="1" dirty="0" err="1">
                <a:solidFill>
                  <a:srgbClr val="000099"/>
                </a:solidFill>
                <a:latin typeface="Courier New" pitchFamily="49"/>
              </a:rPr>
              <a:t>yytext</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while</a:t>
            </a:r>
            <a:r>
              <a:rPr lang="en-US" b="1" dirty="0">
                <a:solidFill>
                  <a:srgbClr val="000099"/>
                </a:solidFill>
                <a:latin typeface="Courier New" pitchFamily="49"/>
              </a:rPr>
              <a:t> 	{</a:t>
            </a:r>
            <a:r>
              <a:rPr lang="en-US" b="1" dirty="0" err="1">
                <a:solidFill>
                  <a:srgbClr val="000099"/>
                </a:solidFill>
                <a:latin typeface="Courier New" pitchFamily="49"/>
              </a:rPr>
              <a:t>printf</a:t>
            </a:r>
            <a:r>
              <a:rPr lang="en-US" b="1" dirty="0">
                <a:solidFill>
                  <a:srgbClr val="000099"/>
                </a:solidFill>
                <a:latin typeface="Courier New" pitchFamily="49"/>
              </a:rPr>
              <a:t>("reserved word:%s\n",</a:t>
            </a:r>
            <a:r>
              <a:rPr lang="en-US" b="1" dirty="0" err="1">
                <a:solidFill>
                  <a:srgbClr val="000099"/>
                </a:solidFill>
                <a:latin typeface="Courier New" pitchFamily="49"/>
              </a:rPr>
              <a:t>yytext</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switch</a:t>
            </a:r>
            <a:r>
              <a:rPr lang="en-US" b="1" dirty="0">
                <a:solidFill>
                  <a:srgbClr val="000099"/>
                </a:solidFill>
                <a:latin typeface="Courier New" pitchFamily="49"/>
              </a:rPr>
              <a:t>  	{</a:t>
            </a:r>
            <a:r>
              <a:rPr lang="en-US" b="1" dirty="0" err="1">
                <a:solidFill>
                  <a:srgbClr val="000099"/>
                </a:solidFill>
                <a:latin typeface="Courier New" pitchFamily="49"/>
              </a:rPr>
              <a:t>printf</a:t>
            </a:r>
            <a:r>
              <a:rPr lang="en-US" b="1" dirty="0">
                <a:solidFill>
                  <a:srgbClr val="000099"/>
                </a:solidFill>
                <a:latin typeface="Courier New" pitchFamily="49"/>
              </a:rPr>
              <a:t>("reserved word:%s\n",</a:t>
            </a:r>
            <a:r>
              <a:rPr lang="en-US" b="1" dirty="0" err="1">
                <a:solidFill>
                  <a:srgbClr val="000099"/>
                </a:solidFill>
                <a:latin typeface="Courier New" pitchFamily="49"/>
              </a:rPr>
              <a:t>yytext</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{identifier}</a:t>
            </a:r>
            <a:r>
              <a:rPr lang="en-US" b="1" dirty="0">
                <a:solidFill>
                  <a:srgbClr val="000099"/>
                </a:solidFill>
                <a:latin typeface="Courier New" pitchFamily="49"/>
              </a:rPr>
              <a:t> 	{</a:t>
            </a:r>
            <a:r>
              <a:rPr lang="en-US" b="1" dirty="0" err="1">
                <a:solidFill>
                  <a:srgbClr val="000099"/>
                </a:solidFill>
                <a:latin typeface="Courier New" pitchFamily="49"/>
              </a:rPr>
              <a:t>printf</a:t>
            </a:r>
            <a:r>
              <a:rPr lang="en-US" b="1" dirty="0">
                <a:solidFill>
                  <a:srgbClr val="000099"/>
                </a:solidFill>
                <a:latin typeface="Courier New" pitchFamily="49"/>
              </a:rPr>
              <a:t>("identifier :%s\n",</a:t>
            </a:r>
            <a:r>
              <a:rPr lang="en-US" b="1" dirty="0" err="1">
                <a:solidFill>
                  <a:srgbClr val="000099"/>
                </a:solidFill>
                <a:latin typeface="Courier New" pitchFamily="49"/>
              </a:rPr>
              <a:t>yytext</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a:t>
            </a:r>
            <a:r>
              <a:rPr lang="en-US" b="1" dirty="0" err="1">
                <a:solidFill>
                  <a:srgbClr val="006600"/>
                </a:solidFill>
                <a:latin typeface="Courier New" pitchFamily="49"/>
              </a:rPr>
              <a:t>hex_const</a:t>
            </a:r>
            <a:r>
              <a:rPr lang="en-US" b="1" dirty="0">
                <a:solidFill>
                  <a:srgbClr val="006600"/>
                </a:solidFill>
                <a:latin typeface="Courier New" pitchFamily="49"/>
              </a:rPr>
              <a:t>}</a:t>
            </a:r>
            <a:r>
              <a:rPr lang="en-US" b="1" dirty="0">
                <a:solidFill>
                  <a:srgbClr val="000099"/>
                </a:solidFill>
                <a:latin typeface="Courier New" pitchFamily="49"/>
              </a:rPr>
              <a:t> 	{</a:t>
            </a:r>
            <a:r>
              <a:rPr lang="en-US" b="1" dirty="0" err="1">
                <a:solidFill>
                  <a:srgbClr val="000099"/>
                </a:solidFill>
                <a:latin typeface="Courier New" pitchFamily="49"/>
              </a:rPr>
              <a:t>sscanf</a:t>
            </a:r>
            <a:r>
              <a:rPr lang="en-US" b="1" dirty="0">
                <a:solidFill>
                  <a:srgbClr val="000099"/>
                </a:solidFill>
                <a:latin typeface="Courier New" pitchFamily="49"/>
              </a:rPr>
              <a:t>(</a:t>
            </a:r>
            <a:r>
              <a:rPr lang="en-US" b="1" dirty="0" err="1">
                <a:solidFill>
                  <a:srgbClr val="000099"/>
                </a:solidFill>
                <a:latin typeface="Courier New" pitchFamily="49"/>
              </a:rPr>
              <a:t>yytext</a:t>
            </a:r>
            <a:r>
              <a:rPr lang="en-US" b="1" dirty="0">
                <a:solidFill>
                  <a:srgbClr val="000099"/>
                </a:solidFill>
                <a:latin typeface="Courier New" pitchFamily="49"/>
              </a:rPr>
              <a:t>,"%</a:t>
            </a:r>
            <a:r>
              <a:rPr lang="en-US" b="1" dirty="0" err="1">
                <a:solidFill>
                  <a:srgbClr val="000099"/>
                </a:solidFill>
                <a:latin typeface="Courier New" pitchFamily="49"/>
              </a:rPr>
              <a:t>i</a:t>
            </a:r>
            <a:r>
              <a:rPr lang="en-US" b="1" dirty="0">
                <a:solidFill>
                  <a:srgbClr val="000099"/>
                </a:solidFill>
                <a:latin typeface="Courier New" pitchFamily="49"/>
              </a:rPr>
              <a:t>",&amp;hex); </a:t>
            </a:r>
            <a:r>
              <a:rPr lang="en-US" b="1" dirty="0" err="1">
                <a:solidFill>
                  <a:srgbClr val="000099"/>
                </a:solidFill>
                <a:latin typeface="Courier New" pitchFamily="49"/>
              </a:rPr>
              <a:t>printf</a:t>
            </a:r>
            <a:r>
              <a:rPr lang="en-US" b="1" dirty="0">
                <a:solidFill>
                  <a:srgbClr val="000099"/>
                </a:solidFill>
                <a:latin typeface="Courier New" pitchFamily="49"/>
              </a:rPr>
              <a:t>("hex </a:t>
            </a:r>
          </a:p>
          <a:p>
            <a:pPr marL="457200" lvl="1" indent="0">
              <a:buNone/>
            </a:pPr>
            <a:r>
              <a:rPr lang="en-US" b="1" dirty="0">
                <a:solidFill>
                  <a:srgbClr val="000099"/>
                </a:solidFill>
                <a:latin typeface="Courier New" pitchFamily="49"/>
              </a:rPr>
              <a:t>			 constant:%s = %</a:t>
            </a:r>
            <a:r>
              <a:rPr lang="en-US" b="1" dirty="0" err="1">
                <a:solidFill>
                  <a:srgbClr val="000099"/>
                </a:solidFill>
                <a:latin typeface="Courier New" pitchFamily="49"/>
              </a:rPr>
              <a:t>i</a:t>
            </a:r>
            <a:r>
              <a:rPr lang="en-US" b="1" dirty="0">
                <a:solidFill>
                  <a:srgbClr val="000099"/>
                </a:solidFill>
                <a:latin typeface="Courier New" pitchFamily="49"/>
              </a:rPr>
              <a:t>\n",</a:t>
            </a:r>
            <a:r>
              <a:rPr lang="en-US" b="1" dirty="0" err="1">
                <a:solidFill>
                  <a:srgbClr val="000099"/>
                </a:solidFill>
                <a:latin typeface="Courier New" pitchFamily="49"/>
              </a:rPr>
              <a:t>yytext,hex</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a:t>
            </a:r>
            <a:r>
              <a:rPr lang="en-US" b="1" dirty="0" err="1">
                <a:solidFill>
                  <a:srgbClr val="006600"/>
                </a:solidFill>
                <a:latin typeface="Courier New" pitchFamily="49"/>
              </a:rPr>
              <a:t>oct_const</a:t>
            </a:r>
            <a:r>
              <a:rPr lang="en-US" b="1" dirty="0">
                <a:solidFill>
                  <a:srgbClr val="006600"/>
                </a:solidFill>
                <a:latin typeface="Courier New" pitchFamily="49"/>
              </a:rPr>
              <a:t>}</a:t>
            </a:r>
            <a:r>
              <a:rPr lang="en-US" b="1" dirty="0">
                <a:solidFill>
                  <a:srgbClr val="000099"/>
                </a:solidFill>
                <a:latin typeface="Courier New" pitchFamily="49"/>
              </a:rPr>
              <a:t> 	{</a:t>
            </a:r>
            <a:r>
              <a:rPr lang="en-US" b="1" dirty="0" err="1">
                <a:solidFill>
                  <a:srgbClr val="000099"/>
                </a:solidFill>
                <a:latin typeface="Courier New" pitchFamily="49"/>
              </a:rPr>
              <a:t>sscanf</a:t>
            </a:r>
            <a:r>
              <a:rPr lang="en-US" b="1" dirty="0">
                <a:solidFill>
                  <a:srgbClr val="000099"/>
                </a:solidFill>
                <a:latin typeface="Courier New" pitchFamily="49"/>
              </a:rPr>
              <a:t>(</a:t>
            </a:r>
            <a:r>
              <a:rPr lang="en-US" b="1" dirty="0" err="1">
                <a:solidFill>
                  <a:srgbClr val="000099"/>
                </a:solidFill>
                <a:latin typeface="Courier New" pitchFamily="49"/>
              </a:rPr>
              <a:t>yytext</a:t>
            </a:r>
            <a:r>
              <a:rPr lang="en-US" b="1" dirty="0">
                <a:solidFill>
                  <a:srgbClr val="000099"/>
                </a:solidFill>
                <a:latin typeface="Courier New" pitchFamily="49"/>
              </a:rPr>
              <a:t>,"%</a:t>
            </a:r>
            <a:r>
              <a:rPr lang="en-US" b="1" dirty="0" err="1">
                <a:solidFill>
                  <a:srgbClr val="000099"/>
                </a:solidFill>
                <a:latin typeface="Courier New" pitchFamily="49"/>
              </a:rPr>
              <a:t>i</a:t>
            </a:r>
            <a:r>
              <a:rPr lang="en-US" b="1" dirty="0">
                <a:solidFill>
                  <a:srgbClr val="000099"/>
                </a:solidFill>
                <a:latin typeface="Courier New" pitchFamily="49"/>
              </a:rPr>
              <a:t>",&amp;</a:t>
            </a:r>
            <a:r>
              <a:rPr lang="en-US" b="1" dirty="0" err="1">
                <a:solidFill>
                  <a:srgbClr val="000099"/>
                </a:solidFill>
                <a:latin typeface="Courier New" pitchFamily="49"/>
              </a:rPr>
              <a:t>oct</a:t>
            </a:r>
            <a:r>
              <a:rPr lang="en-US" b="1" dirty="0">
                <a:solidFill>
                  <a:srgbClr val="000099"/>
                </a:solidFill>
                <a:latin typeface="Courier New" pitchFamily="49"/>
              </a:rPr>
              <a:t>); </a:t>
            </a:r>
            <a:r>
              <a:rPr lang="en-US" b="1" dirty="0" err="1">
                <a:solidFill>
                  <a:srgbClr val="000099"/>
                </a:solidFill>
                <a:latin typeface="Courier New" pitchFamily="49"/>
              </a:rPr>
              <a:t>printf</a:t>
            </a:r>
            <a:r>
              <a:rPr lang="en-US" b="1" dirty="0">
                <a:solidFill>
                  <a:srgbClr val="000099"/>
                </a:solidFill>
                <a:latin typeface="Courier New" pitchFamily="49"/>
              </a:rPr>
              <a:t>("</a:t>
            </a:r>
            <a:r>
              <a:rPr lang="en-US" b="1" dirty="0" err="1">
                <a:solidFill>
                  <a:srgbClr val="000099"/>
                </a:solidFill>
                <a:latin typeface="Courier New" pitchFamily="49"/>
              </a:rPr>
              <a:t>oct</a:t>
            </a:r>
            <a:r>
              <a:rPr lang="en-US" b="1" dirty="0">
                <a:solidFill>
                  <a:srgbClr val="000099"/>
                </a:solidFill>
                <a:latin typeface="Courier New" pitchFamily="49"/>
              </a:rPr>
              <a:t> </a:t>
            </a:r>
          </a:p>
          <a:p>
            <a:pPr marL="457200" lvl="1" indent="0">
              <a:buNone/>
            </a:pPr>
            <a:r>
              <a:rPr lang="en-US" b="1" dirty="0">
                <a:solidFill>
                  <a:srgbClr val="000099"/>
                </a:solidFill>
                <a:latin typeface="Courier New" pitchFamily="49"/>
              </a:rPr>
              <a:t>			 constant:%s = %</a:t>
            </a:r>
            <a:r>
              <a:rPr lang="en-US" b="1" dirty="0" err="1">
                <a:solidFill>
                  <a:srgbClr val="000099"/>
                </a:solidFill>
                <a:latin typeface="Courier New" pitchFamily="49"/>
              </a:rPr>
              <a:t>i</a:t>
            </a:r>
            <a:r>
              <a:rPr lang="en-US" b="1" dirty="0">
                <a:solidFill>
                  <a:srgbClr val="000099"/>
                </a:solidFill>
                <a:latin typeface="Courier New" pitchFamily="49"/>
              </a:rPr>
              <a:t>\n",</a:t>
            </a:r>
            <a:r>
              <a:rPr lang="en-US" b="1" dirty="0" err="1">
                <a:solidFill>
                  <a:srgbClr val="000099"/>
                </a:solidFill>
                <a:latin typeface="Courier New" pitchFamily="49"/>
              </a:rPr>
              <a:t>yytext,oct</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{integer}</a:t>
            </a:r>
            <a:r>
              <a:rPr lang="en-US" b="1" dirty="0">
                <a:solidFill>
                  <a:srgbClr val="000099"/>
                </a:solidFill>
                <a:latin typeface="Courier New" pitchFamily="49"/>
              </a:rPr>
              <a:t> 		{</a:t>
            </a:r>
            <a:r>
              <a:rPr lang="en-US" b="1" dirty="0" err="1">
                <a:solidFill>
                  <a:srgbClr val="000099"/>
                </a:solidFill>
                <a:latin typeface="Courier New" pitchFamily="49"/>
              </a:rPr>
              <a:t>sscanf</a:t>
            </a:r>
            <a:r>
              <a:rPr lang="en-US" b="1" dirty="0">
                <a:solidFill>
                  <a:srgbClr val="000099"/>
                </a:solidFill>
                <a:latin typeface="Courier New" pitchFamily="49"/>
              </a:rPr>
              <a:t>(</a:t>
            </a:r>
            <a:r>
              <a:rPr lang="en-US" b="1" dirty="0" err="1">
                <a:solidFill>
                  <a:srgbClr val="000099"/>
                </a:solidFill>
                <a:latin typeface="Courier New" pitchFamily="49"/>
              </a:rPr>
              <a:t>yytext</a:t>
            </a:r>
            <a:r>
              <a:rPr lang="en-US" b="1" dirty="0">
                <a:solidFill>
                  <a:srgbClr val="000099"/>
                </a:solidFill>
                <a:latin typeface="Courier New" pitchFamily="49"/>
              </a:rPr>
              <a:t>,"%</a:t>
            </a:r>
            <a:r>
              <a:rPr lang="en-US" b="1" dirty="0" err="1">
                <a:solidFill>
                  <a:srgbClr val="000099"/>
                </a:solidFill>
                <a:latin typeface="Courier New" pitchFamily="49"/>
              </a:rPr>
              <a:t>i</a:t>
            </a:r>
            <a:r>
              <a:rPr lang="en-US" b="1" dirty="0">
                <a:solidFill>
                  <a:srgbClr val="000099"/>
                </a:solidFill>
                <a:latin typeface="Courier New" pitchFamily="49"/>
              </a:rPr>
              <a:t>",&amp;regular); </a:t>
            </a:r>
            <a:r>
              <a:rPr lang="en-US" b="1" dirty="0" err="1">
                <a:solidFill>
                  <a:srgbClr val="000099"/>
                </a:solidFill>
                <a:latin typeface="Courier New" pitchFamily="49"/>
              </a:rPr>
              <a:t>printf</a:t>
            </a:r>
            <a:r>
              <a:rPr lang="en-US" b="1" dirty="0">
                <a:solidFill>
                  <a:srgbClr val="000099"/>
                </a:solidFill>
                <a:latin typeface="Courier New" pitchFamily="49"/>
              </a:rPr>
              <a:t>( </a:t>
            </a:r>
          </a:p>
          <a:p>
            <a:pPr marL="457200" lvl="1" indent="0">
              <a:buNone/>
            </a:pPr>
            <a:r>
              <a:rPr lang="en-US" b="1" dirty="0">
                <a:solidFill>
                  <a:srgbClr val="000099"/>
                </a:solidFill>
                <a:latin typeface="Courier New" pitchFamily="49"/>
              </a:rPr>
              <a:t>			“integer :%s = %</a:t>
            </a:r>
            <a:r>
              <a:rPr lang="en-US" b="1" dirty="0" err="1">
                <a:solidFill>
                  <a:srgbClr val="000099"/>
                </a:solidFill>
                <a:latin typeface="Courier New" pitchFamily="49"/>
              </a:rPr>
              <a:t>i</a:t>
            </a:r>
            <a:r>
              <a:rPr lang="en-US" b="1" dirty="0">
                <a:solidFill>
                  <a:srgbClr val="000099"/>
                </a:solidFill>
                <a:latin typeface="Courier New" pitchFamily="49"/>
              </a:rPr>
              <a:t>\n",</a:t>
            </a:r>
            <a:r>
              <a:rPr lang="en-US" b="1" dirty="0" err="1">
                <a:solidFill>
                  <a:srgbClr val="000099"/>
                </a:solidFill>
                <a:latin typeface="Courier New" pitchFamily="49"/>
              </a:rPr>
              <a:t>yytext</a:t>
            </a:r>
            <a:r>
              <a:rPr lang="en-US" b="1" dirty="0">
                <a:solidFill>
                  <a:srgbClr val="000099"/>
                </a:solidFill>
                <a:latin typeface="Courier New" pitchFamily="49"/>
              </a:rPr>
              <a:t>, regular);}</a:t>
            </a:r>
          </a:p>
          <a:p>
            <a:pPr marL="457200" lvl="1" indent="0">
              <a:buNone/>
            </a:pPr>
            <a:r>
              <a:rPr lang="en-US" b="1" dirty="0">
                <a:solidFill>
                  <a:srgbClr val="006600"/>
                </a:solidFill>
                <a:latin typeface="Courier New" pitchFamily="49"/>
              </a:rPr>
              <a:t>.|\n           	</a:t>
            </a:r>
            <a:r>
              <a:rPr lang="en-US" b="1" dirty="0">
                <a:solidFill>
                  <a:srgbClr val="000099"/>
                </a:solidFill>
                <a:latin typeface="Courier New" pitchFamily="49"/>
              </a:rPr>
              <a:t>;</a:t>
            </a:r>
          </a:p>
          <a:p>
            <a:pPr marL="457200" lvl="1" indent="0">
              <a:buNone/>
            </a:pPr>
            <a:r>
              <a:rPr lang="en-US" b="1" dirty="0">
                <a:latin typeface="Courier New" pitchFamily="49"/>
              </a:rPr>
              <a:t>%%</a:t>
            </a:r>
          </a:p>
          <a:p>
            <a:pPr marL="457200" lvl="1" indent="0">
              <a:buNone/>
            </a:pPr>
            <a:r>
              <a:rPr lang="en-US" b="1" dirty="0" err="1">
                <a:solidFill>
                  <a:srgbClr val="000099"/>
                </a:solidFill>
                <a:latin typeface="Courier New" pitchFamily="49"/>
              </a:rPr>
              <a:t>yywrap</a:t>
            </a:r>
            <a:r>
              <a:rPr lang="en-US" b="1" dirty="0">
                <a:solidFill>
                  <a:srgbClr val="000099"/>
                </a:solidFill>
                <a:latin typeface="Courier New" pitchFamily="49"/>
              </a:rPr>
              <a:t>(){}</a:t>
            </a:r>
          </a:p>
          <a:p>
            <a:pPr marL="457200" lvl="1" indent="0">
              <a:buNone/>
            </a:pPr>
            <a:r>
              <a:rPr lang="en-US" b="1" dirty="0" err="1">
                <a:solidFill>
                  <a:srgbClr val="000099"/>
                </a:solidFill>
                <a:latin typeface="Courier New" pitchFamily="49"/>
              </a:rPr>
              <a:t>int</a:t>
            </a:r>
            <a:r>
              <a:rPr lang="en-US" b="1" dirty="0">
                <a:solidFill>
                  <a:srgbClr val="000099"/>
                </a:solidFill>
                <a:latin typeface="Courier New" pitchFamily="49"/>
              </a:rPr>
              <a:t> main(){</a:t>
            </a:r>
            <a:r>
              <a:rPr lang="en-US" b="1" dirty="0" err="1">
                <a:solidFill>
                  <a:srgbClr val="000099"/>
                </a:solidFill>
                <a:latin typeface="Courier New" pitchFamily="49"/>
              </a:rPr>
              <a:t>yylex</a:t>
            </a:r>
            <a:r>
              <a:rPr lang="en-US" b="1" dirty="0">
                <a:solidFill>
                  <a:srgbClr val="000099"/>
                </a:solidFill>
                <a:latin typeface="Courier New" pitchFamily="49"/>
              </a:rPr>
              <a:t>();}</a:t>
            </a:r>
          </a:p>
        </p:txBody>
      </p:sp>
      <p:sp>
        <p:nvSpPr>
          <p:cNvPr id="4" name="Slide Number Placeholder 3"/>
          <p:cNvSpPr>
            <a:spLocks noGrp="1"/>
          </p:cNvSpPr>
          <p:nvPr>
            <p:ph type="sldNum" sz="quarter" idx="12"/>
          </p:nvPr>
        </p:nvSpPr>
        <p:spPr/>
        <p:txBody>
          <a:bodyPr/>
          <a:lstStyle/>
          <a:p>
            <a:fld id="{C2C343A0-757D-4032-BC20-DF0A67BD0A50}" type="slidenum">
              <a:rPr lang="en-US" smtClean="0"/>
              <a:t>65</a:t>
            </a:fld>
            <a:endParaRPr lang="en-US"/>
          </a:p>
        </p:txBody>
      </p:sp>
    </p:spTree>
    <p:extLst>
      <p:ext uri="{BB962C8B-B14F-4D97-AF65-F5344CB8AC3E}">
        <p14:creationId xmlns:p14="http://schemas.microsoft.com/office/powerpoint/2010/main" val="36741408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Lex – Examples</a:t>
            </a:r>
            <a:endParaRPr lang="en-US" b="1" i="1" dirty="0"/>
          </a:p>
        </p:txBody>
      </p:sp>
      <p:sp>
        <p:nvSpPr>
          <p:cNvPr id="3" name="Content Placeholder 2"/>
          <p:cNvSpPr>
            <a:spLocks noGrp="1"/>
          </p:cNvSpPr>
          <p:nvPr>
            <p:ph idx="1"/>
          </p:nvPr>
        </p:nvSpPr>
        <p:spPr>
          <a:xfrm>
            <a:off x="457200" y="1600200"/>
            <a:ext cx="8458200" cy="5029200"/>
          </a:xfrm>
        </p:spPr>
        <p:txBody>
          <a:bodyPr>
            <a:normAutofit fontScale="62500" lnSpcReduction="20000"/>
          </a:bodyPr>
          <a:lstStyle/>
          <a:p>
            <a:pPr>
              <a:buSzPct val="45000"/>
            </a:pPr>
            <a:r>
              <a:rPr lang="en-US" b="1" u="sng" dirty="0">
                <a:latin typeface="Courier New" panose="02070309020205020404" pitchFamily="49" charset="0"/>
                <a:cs typeface="Courier New" panose="02070309020205020404" pitchFamily="49" charset="0"/>
              </a:rPr>
              <a:t>Example 5</a:t>
            </a:r>
            <a:r>
              <a:rPr lang="en-US" b="1" dirty="0">
                <a:latin typeface="Courier New" panose="02070309020205020404" pitchFamily="49" charset="0"/>
                <a:cs typeface="Courier New" panose="02070309020205020404" pitchFamily="49" charset="0"/>
              </a:rPr>
              <a:t>: Floats in c</a:t>
            </a:r>
          </a:p>
          <a:p>
            <a:pPr marL="457200" lvl="1" indent="0">
              <a:buNone/>
            </a:pPr>
            <a:r>
              <a:rPr lang="en-US" b="1" dirty="0">
                <a:solidFill>
                  <a:srgbClr val="006600"/>
                </a:solidFill>
                <a:latin typeface="Courier New" pitchFamily="49"/>
              </a:rPr>
              <a:t>digits</a:t>
            </a:r>
            <a:r>
              <a:rPr lang="en-US" b="1" dirty="0">
                <a:latin typeface="Courier New" pitchFamily="49"/>
              </a:rPr>
              <a:t>	</a:t>
            </a:r>
            <a:r>
              <a:rPr lang="en-US" b="1" dirty="0">
                <a:solidFill>
                  <a:srgbClr val="000099"/>
                </a:solidFill>
                <a:latin typeface="Courier New" pitchFamily="49"/>
              </a:rPr>
              <a:t>[0-9]+</a:t>
            </a:r>
          </a:p>
          <a:p>
            <a:pPr marL="457200" lvl="1" indent="0">
              <a:buNone/>
            </a:pPr>
            <a:r>
              <a:rPr lang="en-US" b="1" dirty="0" err="1">
                <a:solidFill>
                  <a:srgbClr val="006600"/>
                </a:solidFill>
                <a:latin typeface="Courier New" pitchFamily="49"/>
              </a:rPr>
              <a:t>exp</a:t>
            </a:r>
            <a:r>
              <a:rPr lang="en-US" b="1" dirty="0">
                <a:latin typeface="Courier New" pitchFamily="49"/>
              </a:rPr>
              <a:t>  	</a:t>
            </a:r>
            <a:r>
              <a:rPr lang="en-US" b="1" dirty="0">
                <a:solidFill>
                  <a:srgbClr val="000099"/>
                </a:solidFill>
                <a:latin typeface="Courier New" pitchFamily="49"/>
              </a:rPr>
              <a:t>([</a:t>
            </a:r>
            <a:r>
              <a:rPr lang="en-US" b="1" dirty="0" err="1">
                <a:solidFill>
                  <a:srgbClr val="000099"/>
                </a:solidFill>
                <a:latin typeface="Courier New" pitchFamily="49"/>
              </a:rPr>
              <a:t>Ee</a:t>
            </a:r>
            <a:r>
              <a:rPr lang="en-US" b="1" dirty="0">
                <a:solidFill>
                  <a:srgbClr val="000099"/>
                </a:solidFill>
                <a:latin typeface="Courier New" pitchFamily="49"/>
              </a:rPr>
              <a:t>](\+|\-)?{digits})</a:t>
            </a:r>
          </a:p>
          <a:p>
            <a:pPr marL="457200" lvl="1" indent="0">
              <a:buNone/>
            </a:pPr>
            <a:r>
              <a:rPr lang="en-US" b="1" dirty="0">
                <a:solidFill>
                  <a:srgbClr val="006600"/>
                </a:solidFill>
                <a:latin typeface="Courier New" pitchFamily="49"/>
              </a:rPr>
              <a:t>blanks</a:t>
            </a:r>
            <a:r>
              <a:rPr lang="en-US" b="1" dirty="0">
                <a:latin typeface="Courier New" pitchFamily="49"/>
              </a:rPr>
              <a:t>  	</a:t>
            </a:r>
            <a:r>
              <a:rPr lang="en-US" b="1" dirty="0">
                <a:solidFill>
                  <a:srgbClr val="000099"/>
                </a:solidFill>
                <a:latin typeface="Courier New" pitchFamily="49"/>
              </a:rPr>
              <a:t>[ \t\n]+</a:t>
            </a:r>
          </a:p>
          <a:p>
            <a:pPr marL="457200" lvl="1" indent="0">
              <a:buNone/>
            </a:pPr>
            <a:r>
              <a:rPr lang="en-US" b="1" dirty="0" err="1">
                <a:solidFill>
                  <a:srgbClr val="006600"/>
                </a:solidFill>
                <a:latin typeface="Courier New" pitchFamily="49"/>
              </a:rPr>
              <a:t>float_qual</a:t>
            </a:r>
            <a:r>
              <a:rPr lang="en-US" b="1" dirty="0">
                <a:latin typeface="Courier New" pitchFamily="49"/>
              </a:rPr>
              <a:t> 	</a:t>
            </a:r>
            <a:r>
              <a:rPr lang="en-US" b="1" dirty="0">
                <a:solidFill>
                  <a:srgbClr val="000099"/>
                </a:solidFill>
                <a:latin typeface="Courier New" pitchFamily="49"/>
              </a:rPr>
              <a:t>[</a:t>
            </a:r>
            <a:r>
              <a:rPr lang="en-US" b="1" dirty="0" err="1">
                <a:solidFill>
                  <a:srgbClr val="000099"/>
                </a:solidFill>
                <a:latin typeface="Courier New" pitchFamily="49"/>
              </a:rPr>
              <a:t>fFlL</a:t>
            </a:r>
            <a:r>
              <a:rPr lang="en-US" b="1" dirty="0">
                <a:solidFill>
                  <a:srgbClr val="000099"/>
                </a:solidFill>
                <a:latin typeface="Courier New" pitchFamily="49"/>
              </a:rPr>
              <a:t>]</a:t>
            </a:r>
          </a:p>
          <a:p>
            <a:pPr marL="457200" lvl="1" indent="0">
              <a:buNone/>
            </a:pPr>
            <a:r>
              <a:rPr lang="en-US" b="1" dirty="0">
                <a:latin typeface="Courier New" pitchFamily="49"/>
              </a:rPr>
              <a:t>%%</a:t>
            </a:r>
          </a:p>
          <a:p>
            <a:pPr marL="457200" lvl="1" indent="0">
              <a:buNone/>
            </a:pPr>
            <a:r>
              <a:rPr lang="en-US" b="1" dirty="0">
                <a:solidFill>
                  <a:srgbClr val="006600"/>
                </a:solidFill>
                <a:latin typeface="Courier New" pitchFamily="49"/>
              </a:rPr>
              <a:t>{digits}{</a:t>
            </a:r>
            <a:r>
              <a:rPr lang="en-US" b="1" dirty="0" err="1">
                <a:solidFill>
                  <a:srgbClr val="006600"/>
                </a:solidFill>
                <a:latin typeface="Courier New" pitchFamily="49"/>
              </a:rPr>
              <a:t>exp</a:t>
            </a:r>
            <a:r>
              <a:rPr lang="en-US" b="1" dirty="0">
                <a:solidFill>
                  <a:srgbClr val="006600"/>
                </a:solidFill>
                <a:latin typeface="Courier New" pitchFamily="49"/>
              </a:rPr>
              <a:t>}{</a:t>
            </a:r>
            <a:r>
              <a:rPr lang="en-US" b="1" dirty="0" err="1">
                <a:solidFill>
                  <a:srgbClr val="006600"/>
                </a:solidFill>
                <a:latin typeface="Courier New" pitchFamily="49"/>
              </a:rPr>
              <a:t>float_qual</a:t>
            </a:r>
            <a:r>
              <a:rPr lang="en-US" b="1" dirty="0">
                <a:solidFill>
                  <a:srgbClr val="006600"/>
                </a:solidFill>
                <a:latin typeface="Courier New" pitchFamily="49"/>
              </a:rPr>
              <a:t>}?/{blanks}	</a:t>
            </a:r>
          </a:p>
          <a:p>
            <a:pPr marL="457200" lvl="1" indent="0">
              <a:buNone/>
            </a:pPr>
            <a:r>
              <a:rPr lang="en-US" b="1" dirty="0">
                <a:solidFill>
                  <a:srgbClr val="006600"/>
                </a:solidFill>
                <a:latin typeface="Courier New" pitchFamily="49"/>
              </a:rPr>
              <a:t>		</a:t>
            </a:r>
            <a:r>
              <a:rPr lang="en-US" b="1" dirty="0">
                <a:solidFill>
                  <a:srgbClr val="000099"/>
                </a:solidFill>
                <a:latin typeface="Courier New" pitchFamily="49"/>
              </a:rPr>
              <a:t>{</a:t>
            </a:r>
            <a:r>
              <a:rPr lang="en-US" b="1" dirty="0" err="1">
                <a:solidFill>
                  <a:srgbClr val="000099"/>
                </a:solidFill>
                <a:latin typeface="Courier New" pitchFamily="49"/>
              </a:rPr>
              <a:t>printf</a:t>
            </a:r>
            <a:r>
              <a:rPr lang="en-US" b="1" dirty="0">
                <a:solidFill>
                  <a:srgbClr val="000099"/>
                </a:solidFill>
                <a:latin typeface="Courier New" pitchFamily="49"/>
              </a:rPr>
              <a:t>("float no fraction: %s\n",</a:t>
            </a:r>
            <a:r>
              <a:rPr lang="en-US" b="1" dirty="0" err="1">
                <a:solidFill>
                  <a:srgbClr val="000099"/>
                </a:solidFill>
                <a:latin typeface="Courier New" pitchFamily="49"/>
              </a:rPr>
              <a:t>yytext</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[0-9]*\.{digits}{</a:t>
            </a:r>
            <a:r>
              <a:rPr lang="en-US" b="1" dirty="0" err="1">
                <a:solidFill>
                  <a:srgbClr val="006600"/>
                </a:solidFill>
                <a:latin typeface="Courier New" pitchFamily="49"/>
              </a:rPr>
              <a:t>exp</a:t>
            </a:r>
            <a:r>
              <a:rPr lang="en-US" b="1" dirty="0">
                <a:solidFill>
                  <a:srgbClr val="006600"/>
                </a:solidFill>
                <a:latin typeface="Courier New" pitchFamily="49"/>
              </a:rPr>
              <a:t>}?{</a:t>
            </a:r>
            <a:r>
              <a:rPr lang="en-US" b="1" dirty="0" err="1">
                <a:solidFill>
                  <a:srgbClr val="006600"/>
                </a:solidFill>
                <a:latin typeface="Courier New" pitchFamily="49"/>
              </a:rPr>
              <a:t>float_qual</a:t>
            </a:r>
            <a:r>
              <a:rPr lang="en-US" b="1" dirty="0">
                <a:solidFill>
                  <a:srgbClr val="006600"/>
                </a:solidFill>
                <a:latin typeface="Courier New" pitchFamily="49"/>
              </a:rPr>
              <a:t>}?/{blanks}</a:t>
            </a:r>
          </a:p>
          <a:p>
            <a:pPr marL="457200" lvl="1" indent="0">
              <a:buNone/>
            </a:pPr>
            <a:r>
              <a:rPr lang="en-US" b="1" dirty="0">
                <a:solidFill>
                  <a:srgbClr val="006600"/>
                </a:solidFill>
                <a:latin typeface="Courier New" pitchFamily="49"/>
              </a:rPr>
              <a:t>		</a:t>
            </a:r>
            <a:r>
              <a:rPr lang="en-US" b="1" dirty="0">
                <a:solidFill>
                  <a:srgbClr val="000099"/>
                </a:solidFill>
                <a:latin typeface="Courier New" pitchFamily="49"/>
              </a:rPr>
              <a:t>{</a:t>
            </a:r>
            <a:r>
              <a:rPr lang="en-US" b="1" dirty="0" err="1">
                <a:solidFill>
                  <a:srgbClr val="000099"/>
                </a:solidFill>
                <a:latin typeface="Courier New" pitchFamily="49"/>
              </a:rPr>
              <a:t>printf</a:t>
            </a:r>
            <a:r>
              <a:rPr lang="en-US" b="1" dirty="0">
                <a:solidFill>
                  <a:srgbClr val="000099"/>
                </a:solidFill>
                <a:latin typeface="Courier New" pitchFamily="49"/>
              </a:rPr>
              <a:t>("float with </a:t>
            </a:r>
            <a:r>
              <a:rPr lang="en-US" b="1" dirty="0" err="1">
                <a:solidFill>
                  <a:srgbClr val="000099"/>
                </a:solidFill>
                <a:latin typeface="Courier New" pitchFamily="49"/>
              </a:rPr>
              <a:t>optionalinteger</a:t>
            </a:r>
            <a:r>
              <a:rPr lang="en-US" b="1" dirty="0">
                <a:solidFill>
                  <a:srgbClr val="000099"/>
                </a:solidFill>
                <a:latin typeface="Courier New" pitchFamily="49"/>
              </a:rPr>
              <a:t> part: </a:t>
            </a:r>
          </a:p>
          <a:p>
            <a:pPr marL="457200" lvl="1" indent="0">
              <a:buNone/>
            </a:pPr>
            <a:r>
              <a:rPr lang="en-US" b="1" dirty="0">
                <a:solidFill>
                  <a:srgbClr val="000099"/>
                </a:solidFill>
                <a:latin typeface="Courier New" pitchFamily="49"/>
              </a:rPr>
              <a:t>		 %s\n",</a:t>
            </a:r>
            <a:r>
              <a:rPr lang="en-US" b="1" dirty="0" err="1">
                <a:solidFill>
                  <a:srgbClr val="000099"/>
                </a:solidFill>
                <a:latin typeface="Courier New" pitchFamily="49"/>
              </a:rPr>
              <a:t>yytext</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{digits}\.[0-9]*{</a:t>
            </a:r>
            <a:r>
              <a:rPr lang="en-US" b="1" dirty="0" err="1">
                <a:solidFill>
                  <a:srgbClr val="006600"/>
                </a:solidFill>
                <a:latin typeface="Courier New" pitchFamily="49"/>
              </a:rPr>
              <a:t>exp</a:t>
            </a:r>
            <a:r>
              <a:rPr lang="en-US" b="1" dirty="0">
                <a:solidFill>
                  <a:srgbClr val="006600"/>
                </a:solidFill>
                <a:latin typeface="Courier New" pitchFamily="49"/>
              </a:rPr>
              <a:t>}?{</a:t>
            </a:r>
            <a:r>
              <a:rPr lang="en-US" b="1" dirty="0" err="1">
                <a:solidFill>
                  <a:srgbClr val="006600"/>
                </a:solidFill>
                <a:latin typeface="Courier New" pitchFamily="49"/>
              </a:rPr>
              <a:t>float_qual</a:t>
            </a:r>
            <a:r>
              <a:rPr lang="en-US" b="1" dirty="0">
                <a:solidFill>
                  <a:srgbClr val="006600"/>
                </a:solidFill>
                <a:latin typeface="Courier New" pitchFamily="49"/>
              </a:rPr>
              <a:t>}?/{blanks}</a:t>
            </a:r>
          </a:p>
          <a:p>
            <a:pPr marL="457200" lvl="1" indent="0">
              <a:buNone/>
            </a:pPr>
            <a:r>
              <a:rPr lang="en-US" b="1" dirty="0">
                <a:solidFill>
                  <a:srgbClr val="006600"/>
                </a:solidFill>
                <a:latin typeface="Courier New" pitchFamily="49"/>
              </a:rPr>
              <a:t>		</a:t>
            </a:r>
            <a:r>
              <a:rPr lang="en-US" b="1" dirty="0" err="1">
                <a:solidFill>
                  <a:srgbClr val="000099"/>
                </a:solidFill>
                <a:latin typeface="Courier New" pitchFamily="49"/>
              </a:rPr>
              <a:t>printf</a:t>
            </a:r>
            <a:r>
              <a:rPr lang="en-US" b="1" dirty="0">
                <a:solidFill>
                  <a:srgbClr val="000099"/>
                </a:solidFill>
                <a:latin typeface="Courier New" pitchFamily="49"/>
              </a:rPr>
              <a:t>("float with optional fraction: </a:t>
            </a:r>
          </a:p>
          <a:p>
            <a:pPr marL="457200" lvl="1" indent="0">
              <a:buNone/>
            </a:pPr>
            <a:r>
              <a:rPr lang="en-US" b="1" dirty="0">
                <a:solidFill>
                  <a:srgbClr val="000099"/>
                </a:solidFill>
                <a:latin typeface="Courier New" pitchFamily="49"/>
              </a:rPr>
              <a:t>		%s\n",</a:t>
            </a:r>
            <a:r>
              <a:rPr lang="en-US" b="1" dirty="0" err="1">
                <a:solidFill>
                  <a:srgbClr val="000099"/>
                </a:solidFill>
                <a:latin typeface="Courier New" pitchFamily="49"/>
              </a:rPr>
              <a:t>yytext</a:t>
            </a:r>
            <a:r>
              <a:rPr lang="en-US" b="1" dirty="0">
                <a:solidFill>
                  <a:srgbClr val="000099"/>
                </a:solidFill>
                <a:latin typeface="Courier New" pitchFamily="49"/>
              </a:rPr>
              <a:t>);}</a:t>
            </a:r>
          </a:p>
          <a:p>
            <a:pPr marL="457200" lvl="1" indent="0">
              <a:buNone/>
            </a:pPr>
            <a:r>
              <a:rPr lang="en-US" b="1" dirty="0">
                <a:solidFill>
                  <a:srgbClr val="006600"/>
                </a:solidFill>
                <a:latin typeface="Courier New" pitchFamily="49"/>
              </a:rPr>
              <a:t>.|\n</a:t>
            </a:r>
            <a:r>
              <a:rPr lang="en-US" b="1" dirty="0">
                <a:latin typeface="Courier New" pitchFamily="49"/>
              </a:rPr>
              <a:t>         </a:t>
            </a:r>
            <a:r>
              <a:rPr lang="en-US" b="1" dirty="0">
                <a:solidFill>
                  <a:srgbClr val="000099"/>
                </a:solidFill>
                <a:latin typeface="Courier New" pitchFamily="49"/>
              </a:rPr>
              <a:t>;</a:t>
            </a:r>
          </a:p>
          <a:p>
            <a:pPr marL="457200" lvl="1" indent="0">
              <a:buNone/>
            </a:pPr>
            <a:r>
              <a:rPr lang="en-US" b="1" dirty="0">
                <a:latin typeface="Courier New" pitchFamily="49"/>
              </a:rPr>
              <a:t>%%</a:t>
            </a:r>
          </a:p>
          <a:p>
            <a:pPr marL="457200" lvl="1" indent="0">
              <a:buNone/>
            </a:pPr>
            <a:r>
              <a:rPr lang="en-US" b="1" dirty="0" err="1">
                <a:latin typeface="Courier New" pitchFamily="49"/>
              </a:rPr>
              <a:t>yywrap</a:t>
            </a:r>
            <a:r>
              <a:rPr lang="en-US" b="1" dirty="0">
                <a:latin typeface="Courier New" pitchFamily="49"/>
              </a:rPr>
              <a:t>(){}</a:t>
            </a:r>
          </a:p>
          <a:p>
            <a:pPr marL="457200" lvl="1" indent="0">
              <a:buNone/>
            </a:pPr>
            <a:r>
              <a:rPr lang="en-US" b="1" dirty="0" err="1">
                <a:latin typeface="Courier New" pitchFamily="49"/>
              </a:rPr>
              <a:t>int</a:t>
            </a:r>
            <a:r>
              <a:rPr lang="en-US" b="1" dirty="0">
                <a:latin typeface="Courier New" pitchFamily="49"/>
              </a:rPr>
              <a:t> main(){</a:t>
            </a:r>
            <a:r>
              <a:rPr lang="en-US" b="1" dirty="0" err="1">
                <a:latin typeface="Courier New" pitchFamily="49"/>
              </a:rPr>
              <a:t>yylex</a:t>
            </a:r>
            <a:r>
              <a:rPr lang="en-US" b="1" dirty="0">
                <a:latin typeface="Courier New" pitchFamily="49"/>
              </a:rPr>
              <a:t>();}</a:t>
            </a:r>
          </a:p>
        </p:txBody>
      </p:sp>
      <p:sp>
        <p:nvSpPr>
          <p:cNvPr id="4" name="Slide Number Placeholder 3"/>
          <p:cNvSpPr>
            <a:spLocks noGrp="1"/>
          </p:cNvSpPr>
          <p:nvPr>
            <p:ph type="sldNum" sz="quarter" idx="12"/>
          </p:nvPr>
        </p:nvSpPr>
        <p:spPr/>
        <p:txBody>
          <a:bodyPr/>
          <a:lstStyle/>
          <a:p>
            <a:fld id="{C2C343A0-757D-4032-BC20-DF0A67BD0A50}" type="slidenum">
              <a:rPr lang="en-US" smtClean="0"/>
              <a:t>66</a:t>
            </a:fld>
            <a:endParaRPr lang="en-US"/>
          </a:p>
        </p:txBody>
      </p:sp>
    </p:spTree>
    <p:extLst>
      <p:ext uri="{BB962C8B-B14F-4D97-AF65-F5344CB8AC3E}">
        <p14:creationId xmlns:p14="http://schemas.microsoft.com/office/powerpoint/2010/main" val="4114171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End of CH2!</a:t>
            </a:r>
          </a:p>
        </p:txBody>
      </p:sp>
      <p:sp>
        <p:nvSpPr>
          <p:cNvPr id="3" name="Content Placeholder 2"/>
          <p:cNvSpPr>
            <a:spLocks noGrp="1"/>
          </p:cNvSpPr>
          <p:nvPr>
            <p:ph idx="1"/>
          </p:nvPr>
        </p:nvSpPr>
        <p:spPr/>
        <p:txBody>
          <a:bodyPr/>
          <a:lstStyle/>
          <a:p>
            <a:r>
              <a:rPr lang="en-US" b="1" dirty="0"/>
              <a:t>Thank You!</a:t>
            </a:r>
          </a:p>
          <a:p>
            <a:pPr lvl="1"/>
            <a:r>
              <a:rPr lang="en-US" b="1" dirty="0"/>
              <a:t>Any Questions…?</a:t>
            </a:r>
          </a:p>
        </p:txBody>
      </p:sp>
      <p:sp>
        <p:nvSpPr>
          <p:cNvPr id="4" name="Slide Number Placeholder 3"/>
          <p:cNvSpPr>
            <a:spLocks noGrp="1"/>
          </p:cNvSpPr>
          <p:nvPr>
            <p:ph type="sldNum" sz="quarter" idx="12"/>
          </p:nvPr>
        </p:nvSpPr>
        <p:spPr/>
        <p:txBody>
          <a:bodyPr/>
          <a:lstStyle/>
          <a:p>
            <a:fld id="{C2C343A0-757D-4032-BC20-DF0A67BD0A50}" type="slidenum">
              <a:rPr lang="en-US" smtClean="0"/>
              <a:t>67</a:t>
            </a:fld>
            <a:endParaRPr lang="en-US"/>
          </a:p>
        </p:txBody>
      </p:sp>
    </p:spTree>
    <p:extLst>
      <p:ext uri="{BB962C8B-B14F-4D97-AF65-F5344CB8AC3E}">
        <p14:creationId xmlns:p14="http://schemas.microsoft.com/office/powerpoint/2010/main" val="2068117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1807</TotalTime>
  <Words>7268</Words>
  <Application>Microsoft Office PowerPoint</Application>
  <PresentationFormat>On-screen Show (4:3)</PresentationFormat>
  <Paragraphs>921</Paragraphs>
  <Slides>67</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67</vt:i4>
      </vt:variant>
    </vt:vector>
  </HeadingPairs>
  <TitlesOfParts>
    <vt:vector size="78" baseType="lpstr">
      <vt:lpstr>Arial</vt:lpstr>
      <vt:lpstr>Calibri</vt:lpstr>
      <vt:lpstr>Cambria Math</vt:lpstr>
      <vt:lpstr>Courier New</vt:lpstr>
      <vt:lpstr>Liberation Sans</vt:lpstr>
      <vt:lpstr>Perpetua</vt:lpstr>
      <vt:lpstr>StarSymbol</vt:lpstr>
      <vt:lpstr>Symbol</vt:lpstr>
      <vt:lpstr>Webdings</vt:lpstr>
      <vt:lpstr>Wingdings</vt:lpstr>
      <vt:lpstr>Office Theme</vt:lpstr>
      <vt:lpstr>CSE 4310 – Compiler Design</vt:lpstr>
      <vt:lpstr>Outline</vt:lpstr>
      <vt:lpstr>Introduction</vt:lpstr>
      <vt:lpstr>What is Lexical Analysis?</vt:lpstr>
      <vt:lpstr>What is Lexical Analysis?</vt:lpstr>
      <vt:lpstr>What is Lexical Analysis?</vt:lpstr>
      <vt:lpstr>What is Lexical Analysis?</vt:lpstr>
      <vt:lpstr>PowerPoint Presentation</vt:lpstr>
      <vt:lpstr>The Role of Lexical Analyzer</vt:lpstr>
      <vt:lpstr>Other tasks of an LA</vt:lpstr>
      <vt:lpstr>Lexical Analysis versus Parsing</vt:lpstr>
      <vt:lpstr>Tokens, Patterns, and Lexemes</vt:lpstr>
      <vt:lpstr>Tokens, Patterns, and Lexemes</vt:lpstr>
      <vt:lpstr>Tokens, Patterns, and Lexemes</vt:lpstr>
      <vt:lpstr>Tokens, Patterns, and Lexemes</vt:lpstr>
      <vt:lpstr>Consideration for a simple design of Lexical Analyzer</vt:lpstr>
      <vt:lpstr>Lexical Errors</vt:lpstr>
      <vt:lpstr>Handling Lexical Errors</vt:lpstr>
      <vt:lpstr>Handling Lexical Errors</vt:lpstr>
      <vt:lpstr>Input Buffering</vt:lpstr>
      <vt:lpstr>Input Buffering</vt:lpstr>
      <vt:lpstr>Input Buffering</vt:lpstr>
      <vt:lpstr>Input Buffering</vt:lpstr>
      <vt:lpstr>Specification of Tokens</vt:lpstr>
      <vt:lpstr>Specification of Tokens</vt:lpstr>
      <vt:lpstr>Specification of Tokens</vt:lpstr>
      <vt:lpstr>Specification of Tokens</vt:lpstr>
      <vt:lpstr>Specification of Tokens</vt:lpstr>
      <vt:lpstr>Specification of Tokens</vt:lpstr>
      <vt:lpstr>Specification of Tokens</vt:lpstr>
      <vt:lpstr>Specification of Tokens</vt:lpstr>
      <vt:lpstr>Specification of Tokens</vt:lpstr>
      <vt:lpstr>Specification of Tokens</vt:lpstr>
      <vt:lpstr>Specification of Tokens</vt:lpstr>
      <vt:lpstr>Specification of Tokens</vt:lpstr>
      <vt:lpstr>Recognition of Tokens</vt:lpstr>
      <vt:lpstr>Recognition of Tokens</vt:lpstr>
      <vt:lpstr>Recognition of Tokens</vt:lpstr>
      <vt:lpstr>Recognitions of Tokens</vt:lpstr>
      <vt:lpstr>Recognitions of Tokens</vt:lpstr>
      <vt:lpstr>Recognitions of Tokens</vt:lpstr>
      <vt:lpstr>Recognitions of Tokens</vt:lpstr>
      <vt:lpstr>Recognitions of Tokens</vt:lpstr>
      <vt:lpstr>Recognitions of Tokens</vt:lpstr>
      <vt:lpstr>Combining TDs to form Lexical Analyzer</vt:lpstr>
      <vt:lpstr>Lexical Analyzer Implementation for TDs</vt:lpstr>
      <vt:lpstr>Lexical Analyzer Implementation for TDs</vt:lpstr>
      <vt:lpstr>Lexical Analyzer Implementation for TDs</vt:lpstr>
      <vt:lpstr>Lexical Analyzer Implementation for TDs</vt:lpstr>
      <vt:lpstr>Lexical Analyzer Implementation for TDs</vt:lpstr>
      <vt:lpstr>Introduction to Lex A lexical analyzer generator tool</vt:lpstr>
      <vt:lpstr>Introduction to Lex</vt:lpstr>
      <vt:lpstr>Introduction to Lex</vt:lpstr>
      <vt:lpstr>Introduction to Lex</vt:lpstr>
      <vt:lpstr>Introduction to Lex</vt:lpstr>
      <vt:lpstr>Introduction to Lex</vt:lpstr>
      <vt:lpstr>Introduction to Lex</vt:lpstr>
      <vt:lpstr>Lex – Strings and Operators</vt:lpstr>
      <vt:lpstr>Lex – Strings and Operators</vt:lpstr>
      <vt:lpstr>Lex – Actions</vt:lpstr>
      <vt:lpstr>Lex – Actions</vt:lpstr>
      <vt:lpstr>Lex – Examples</vt:lpstr>
      <vt:lpstr>Lex – Examples</vt:lpstr>
      <vt:lpstr>Lex – Examples</vt:lpstr>
      <vt:lpstr>Lex – Examples</vt:lpstr>
      <vt:lpstr>Lex – Examples</vt:lpstr>
      <vt:lpstr>End of CH2!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4310 – Compiler Design</dc:title>
  <dc:creator>user</dc:creator>
  <cp:lastModifiedBy>mehwish wahid</cp:lastModifiedBy>
  <cp:revision>118</cp:revision>
  <dcterms:created xsi:type="dcterms:W3CDTF">2020-03-03T08:03:42Z</dcterms:created>
  <dcterms:modified xsi:type="dcterms:W3CDTF">2024-11-13T09:38:50Z</dcterms:modified>
</cp:coreProperties>
</file>