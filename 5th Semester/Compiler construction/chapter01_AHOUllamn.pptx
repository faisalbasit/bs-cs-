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png" ContentType="image/png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7038" y="461594"/>
            <a:ext cx="6849922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39" y="1607565"/>
            <a:ext cx="8072120" cy="3830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01557" y="6464909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933" y="461594"/>
            <a:ext cx="334264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1.1</a:t>
            </a:r>
            <a:r>
              <a:rPr dirty="0" spc="-85"/>
              <a:t> </a:t>
            </a:r>
            <a:r>
              <a:rPr dirty="0" spc="-10"/>
              <a:t>Compilers: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2465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compiler is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20">
                <a:latin typeface="Calibri"/>
                <a:cs typeface="Calibri"/>
              </a:rPr>
              <a:t>program </a:t>
            </a:r>
            <a:r>
              <a:rPr dirty="0" sz="3200" spc="-5">
                <a:latin typeface="Calibri"/>
                <a:cs typeface="Calibri"/>
              </a:rPr>
              <a:t>that </a:t>
            </a:r>
            <a:r>
              <a:rPr dirty="0" sz="3200" spc="-10">
                <a:latin typeface="Calibri"/>
                <a:cs typeface="Calibri"/>
              </a:rPr>
              <a:t>reads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20">
                <a:latin typeface="Calibri"/>
                <a:cs typeface="Calibri"/>
              </a:rPr>
              <a:t>program </a:t>
            </a:r>
            <a:r>
              <a:rPr dirty="0" sz="3200" spc="-15">
                <a:latin typeface="Calibri"/>
                <a:cs typeface="Calibri"/>
              </a:rPr>
              <a:t> written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</a:t>
            </a:r>
            <a:r>
              <a:rPr dirty="0" sz="3200">
                <a:latin typeface="Calibri"/>
                <a:cs typeface="Calibri"/>
              </a:rPr>
              <a:t> one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language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––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source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language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––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translates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into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equivalent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program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another</a:t>
            </a:r>
            <a:r>
              <a:rPr dirty="0" sz="3200">
                <a:latin typeface="Calibri"/>
                <a:cs typeface="Calibri"/>
              </a:rPr>
              <a:t> language</a:t>
            </a:r>
            <a:r>
              <a:rPr dirty="0" sz="3200" spc="7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––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target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language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933" y="461594"/>
            <a:ext cx="33445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1.1</a:t>
            </a:r>
            <a:r>
              <a:rPr dirty="0" spc="-70"/>
              <a:t> </a:t>
            </a:r>
            <a:r>
              <a:rPr dirty="0" spc="-10"/>
              <a:t>Compilers: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As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5">
                <a:latin typeface="Calibri"/>
                <a:cs typeface="Calibri"/>
              </a:rPr>
              <a:t>an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important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part</a:t>
            </a:r>
            <a:r>
              <a:rPr dirty="0" sz="3200">
                <a:latin typeface="Calibri"/>
                <a:cs typeface="Calibri"/>
              </a:rPr>
              <a:t> 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this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translation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process,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compiler </a:t>
            </a:r>
            <a:r>
              <a:rPr dirty="0" sz="3200" spc="-10">
                <a:latin typeface="Calibri"/>
                <a:cs typeface="Calibri"/>
              </a:rPr>
              <a:t>reports </a:t>
            </a:r>
            <a:r>
              <a:rPr dirty="0" sz="3200" spc="-20">
                <a:latin typeface="Calibri"/>
                <a:cs typeface="Calibri"/>
              </a:rPr>
              <a:t>to </a:t>
            </a:r>
            <a:r>
              <a:rPr dirty="0" sz="3200" spc="5">
                <a:latin typeface="Calibri"/>
                <a:cs typeface="Calibri"/>
              </a:rPr>
              <a:t>its </a:t>
            </a:r>
            <a:r>
              <a:rPr dirty="0" sz="3200" spc="-5">
                <a:latin typeface="Calibri"/>
                <a:cs typeface="Calibri"/>
              </a:rPr>
              <a:t>user </a:t>
            </a:r>
            <a:r>
              <a:rPr dirty="0" sz="3200" spc="5">
                <a:latin typeface="Calibri"/>
                <a:cs typeface="Calibri"/>
              </a:rPr>
              <a:t>the 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presence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errors </a:t>
            </a:r>
            <a:r>
              <a:rPr dirty="0" sz="3200" spc="-5">
                <a:latin typeface="Calibri"/>
                <a:cs typeface="Calibri"/>
              </a:rPr>
              <a:t>in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source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program.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933" y="461594"/>
            <a:ext cx="33445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1.1</a:t>
            </a:r>
            <a:r>
              <a:rPr dirty="0" spc="-70"/>
              <a:t> </a:t>
            </a:r>
            <a:r>
              <a:rPr dirty="0" spc="-10"/>
              <a:t>Compilers: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" y="3003265"/>
            <a:ext cx="7466111" cy="181633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933" y="461594"/>
            <a:ext cx="33445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1.1</a:t>
            </a:r>
            <a:r>
              <a:rPr dirty="0" spc="-70"/>
              <a:t> </a:t>
            </a:r>
            <a:r>
              <a:rPr dirty="0" spc="-10"/>
              <a:t>Compilers: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4025" cy="36360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698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45">
                <a:latin typeface="Calibri"/>
                <a:cs typeface="Calibri"/>
              </a:rPr>
              <a:t>At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first </a:t>
            </a:r>
            <a:r>
              <a:rPr dirty="0" sz="3200">
                <a:latin typeface="Calibri"/>
                <a:cs typeface="Calibri"/>
              </a:rPr>
              <a:t>glance, the </a:t>
            </a:r>
            <a:r>
              <a:rPr dirty="0" sz="3200" spc="-10">
                <a:latin typeface="Calibri"/>
                <a:cs typeface="Calibri"/>
              </a:rPr>
              <a:t>variety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15">
                <a:latin typeface="Calibri"/>
                <a:cs typeface="Calibri"/>
              </a:rPr>
              <a:t>compilers </a:t>
            </a:r>
            <a:r>
              <a:rPr dirty="0" sz="3200" spc="-20">
                <a:latin typeface="Calibri"/>
                <a:cs typeface="Calibri"/>
              </a:rPr>
              <a:t>may 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appear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overwhelming.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15">
                <a:latin typeface="Calibri"/>
                <a:cs typeface="Calibri"/>
              </a:rPr>
              <a:t>There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thousands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source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languages,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ranging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from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traditional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programming 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languages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such</a:t>
            </a:r>
            <a:r>
              <a:rPr dirty="0" sz="3200">
                <a:latin typeface="Calibri"/>
                <a:cs typeface="Calibri"/>
              </a:rPr>
              <a:t> as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FORTRAN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Pascal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to 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specialized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languages.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933" y="461594"/>
            <a:ext cx="33445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1.1</a:t>
            </a:r>
            <a:r>
              <a:rPr dirty="0" spc="-70"/>
              <a:t> </a:t>
            </a:r>
            <a:r>
              <a:rPr dirty="0" spc="-10"/>
              <a:t>Compilers: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672274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60">
                <a:latin typeface="Calibri"/>
                <a:cs typeface="Calibri"/>
              </a:rPr>
              <a:t>Target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languages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 </a:t>
            </a:r>
            <a:r>
              <a:rPr dirty="0" sz="3200" spc="-5">
                <a:latin typeface="Calibri"/>
                <a:cs typeface="Calibri"/>
              </a:rPr>
              <a:t>equally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 </a:t>
            </a:r>
            <a:r>
              <a:rPr dirty="0" sz="3200" spc="-5">
                <a:latin typeface="Calibri"/>
                <a:cs typeface="Calibri"/>
              </a:rPr>
              <a:t>varied;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778379"/>
            <a:ext cx="21037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100455" algn="l"/>
              </a:tabLst>
            </a:pPr>
            <a:r>
              <a:rPr dirty="0" sz="320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5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5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g</a:t>
            </a:r>
            <a:r>
              <a:rPr dirty="0" sz="3200" spc="-2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2778379"/>
            <a:ext cx="4245610" cy="100139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245360">
              <a:lnSpc>
                <a:spcPct val="100000"/>
              </a:lnSpc>
              <a:spcBef>
                <a:spcPts val="105"/>
              </a:spcBef>
              <a:tabLst>
                <a:tab pos="2633980" algn="l"/>
              </a:tabLst>
            </a:pPr>
            <a:r>
              <a:rPr dirty="0" sz="3200">
                <a:latin typeface="Calibri"/>
                <a:cs typeface="Calibri"/>
              </a:rPr>
              <a:t>language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</a:t>
            </a:r>
            <a:r>
              <a:rPr dirty="0" sz="3200" spc="-55">
                <a:latin typeface="Calibri"/>
                <a:cs typeface="Calibri"/>
              </a:rPr>
              <a:t>r</a:t>
            </a:r>
            <a:r>
              <a:rPr dirty="0" sz="3200" spc="-5">
                <a:latin typeface="Calibri"/>
                <a:cs typeface="Calibri"/>
              </a:rPr>
              <a:t>og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amming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langua</a:t>
            </a:r>
            <a:r>
              <a:rPr dirty="0" sz="3200" spc="-15">
                <a:latin typeface="Calibri"/>
                <a:cs typeface="Calibri"/>
              </a:rPr>
              <a:t>g</a:t>
            </a:r>
            <a:r>
              <a:rPr dirty="0" sz="3200">
                <a:latin typeface="Calibri"/>
                <a:cs typeface="Calibri"/>
              </a:rPr>
              <a:t>e,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9910" y="2778379"/>
            <a:ext cx="3479165" cy="100139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66395" marR="5080" indent="-354330">
              <a:lnSpc>
                <a:spcPct val="100000"/>
              </a:lnSpc>
              <a:spcBef>
                <a:spcPts val="105"/>
              </a:spcBef>
              <a:tabLst>
                <a:tab pos="1108075" algn="l"/>
                <a:tab pos="1219835" algn="l"/>
                <a:tab pos="2048510" algn="l"/>
                <a:tab pos="2148205" algn="l"/>
              </a:tabLst>
            </a:pPr>
            <a:r>
              <a:rPr dirty="0" sz="3200">
                <a:latin typeface="Calibri"/>
                <a:cs typeface="Calibri"/>
              </a:rPr>
              <a:t>m</a:t>
            </a:r>
            <a:r>
              <a:rPr dirty="0" sz="3200" spc="-65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y</a:t>
            </a:r>
            <a:r>
              <a:rPr dirty="0" sz="3200">
                <a:latin typeface="Calibri"/>
                <a:cs typeface="Calibri"/>
              </a:rPr>
              <a:t>		</a:t>
            </a:r>
            <a:r>
              <a:rPr dirty="0" sz="3200" spc="5">
                <a:latin typeface="Calibri"/>
                <a:cs typeface="Calibri"/>
              </a:rPr>
              <a:t>b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	</a:t>
            </a:r>
            <a:r>
              <a:rPr dirty="0" sz="3200">
                <a:latin typeface="Calibri"/>
                <a:cs typeface="Calibri"/>
              </a:rPr>
              <a:t>another  or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 spc="10">
                <a:latin typeface="Calibri"/>
                <a:cs typeface="Calibri"/>
              </a:rPr>
              <a:t>h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machine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839" y="3753688"/>
            <a:ext cx="43935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Calibri"/>
                <a:cs typeface="Calibri"/>
              </a:rPr>
              <a:t>language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any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computer.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933" y="461594"/>
            <a:ext cx="33445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1.1</a:t>
            </a:r>
            <a:r>
              <a:rPr dirty="0" spc="-70"/>
              <a:t> </a:t>
            </a:r>
            <a:r>
              <a:rPr dirty="0" spc="-10"/>
              <a:t>Compilers: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973"/>
            <a:ext cx="6704330" cy="317754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Compilers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-5">
                <a:latin typeface="Calibri"/>
                <a:cs typeface="Calibri"/>
              </a:rPr>
              <a:t> sometimes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classified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as:</a:t>
            </a:r>
            <a:endParaRPr sz="32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0">
                <a:latin typeface="Calibri"/>
                <a:cs typeface="Calibri"/>
              </a:rPr>
              <a:t>single-pass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0">
                <a:latin typeface="Calibri"/>
                <a:cs typeface="Calibri"/>
              </a:rPr>
              <a:t>multi-pass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0">
                <a:latin typeface="Calibri"/>
                <a:cs typeface="Calibri"/>
              </a:rPr>
              <a:t>load-and-go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>
                <a:latin typeface="Calibri"/>
                <a:cs typeface="Calibri"/>
              </a:rPr>
              <a:t>Debugging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0">
                <a:latin typeface="Calibri"/>
                <a:cs typeface="Calibri"/>
              </a:rPr>
              <a:t>optimizing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933" y="461594"/>
            <a:ext cx="33445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1.1</a:t>
            </a:r>
            <a:r>
              <a:rPr dirty="0" spc="-70"/>
              <a:t> </a:t>
            </a:r>
            <a:r>
              <a:rPr dirty="0" spc="-10"/>
              <a:t>Compilers: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1484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283335" algn="l"/>
                <a:tab pos="1891664" algn="l"/>
                <a:tab pos="2429510" algn="l"/>
                <a:tab pos="3568700" algn="l"/>
                <a:tab pos="4560570" algn="l"/>
                <a:tab pos="5459730" algn="l"/>
                <a:tab pos="7228205" algn="l"/>
              </a:tabLst>
            </a:pPr>
            <a:r>
              <a:rPr dirty="0" sz="3200" spc="-5">
                <a:latin typeface="Calibri"/>
                <a:cs typeface="Calibri"/>
              </a:rPr>
              <a:t>Th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basi</a:t>
            </a:r>
            <a:r>
              <a:rPr dirty="0" sz="3200">
                <a:latin typeface="Calibri"/>
                <a:cs typeface="Calibri"/>
              </a:rPr>
              <a:t>c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5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as</a:t>
            </a:r>
            <a:r>
              <a:rPr dirty="0" sz="3200" spc="-35">
                <a:latin typeface="Calibri"/>
                <a:cs typeface="Calibri"/>
              </a:rPr>
              <a:t>k</a:t>
            </a:r>
            <a:r>
              <a:rPr dirty="0" sz="320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</a:t>
            </a:r>
            <a:r>
              <a:rPr dirty="0" sz="3200" spc="-2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5">
                <a:latin typeface="Calibri"/>
                <a:cs typeface="Calibri"/>
              </a:rPr>
              <a:t>a</a:t>
            </a:r>
            <a:r>
              <a:rPr dirty="0" sz="3200" spc="-65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y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c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 spc="5">
                <a:latin typeface="Calibri"/>
                <a:cs typeface="Calibri"/>
              </a:rPr>
              <a:t>m</a:t>
            </a:r>
            <a:r>
              <a:rPr dirty="0" sz="3200" spc="-5">
                <a:latin typeface="Calibri"/>
                <a:cs typeface="Calibri"/>
              </a:rPr>
              <a:t>pile</a:t>
            </a:r>
            <a:r>
              <a:rPr dirty="0" sz="320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mu</a:t>
            </a:r>
            <a:r>
              <a:rPr dirty="0" sz="3200" spc="-35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t  </a:t>
            </a:r>
            <a:r>
              <a:rPr dirty="0" sz="3200" spc="-15">
                <a:latin typeface="Calibri"/>
                <a:cs typeface="Calibri"/>
              </a:rPr>
              <a:t>perform	are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essentially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">
                <a:latin typeface="Calibri"/>
                <a:cs typeface="Calibri"/>
              </a:rPr>
              <a:t> same.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266059"/>
            <a:ext cx="48742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156970" algn="l"/>
                <a:tab pos="3946525" algn="l"/>
              </a:tabLst>
            </a:pPr>
            <a:r>
              <a:rPr dirty="0" sz="3200" spc="-40">
                <a:latin typeface="Calibri"/>
                <a:cs typeface="Calibri"/>
              </a:rPr>
              <a:t>B</a:t>
            </a:r>
            <a:r>
              <a:rPr dirty="0" sz="3200">
                <a:latin typeface="Calibri"/>
                <a:cs typeface="Calibri"/>
              </a:rPr>
              <a:t>y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5">
                <a:latin typeface="Calibri"/>
                <a:cs typeface="Calibri"/>
              </a:rPr>
              <a:t>u</a:t>
            </a:r>
            <a:r>
              <a:rPr dirty="0" sz="3200" spc="-5">
                <a:latin typeface="Calibri"/>
                <a:cs typeface="Calibri"/>
              </a:rPr>
              <a:t>nde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 spc="-45">
                <a:latin typeface="Calibri"/>
                <a:cs typeface="Calibri"/>
              </a:rPr>
              <a:t>st</a:t>
            </a:r>
            <a:r>
              <a:rPr dirty="0" sz="3200">
                <a:latin typeface="Calibri"/>
                <a:cs typeface="Calibri"/>
              </a:rPr>
              <a:t>andi</a:t>
            </a:r>
            <a:r>
              <a:rPr dirty="0" sz="3200" spc="5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g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these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3266059"/>
            <a:ext cx="585724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4904740">
              <a:lnSpc>
                <a:spcPct val="100000"/>
              </a:lnSpc>
              <a:spcBef>
                <a:spcPts val="105"/>
              </a:spcBef>
              <a:tabLst>
                <a:tab pos="1831975" algn="l"/>
                <a:tab pos="3707129" algn="l"/>
                <a:tab pos="4448175" algn="l"/>
                <a:tab pos="4911090" algn="l"/>
              </a:tabLst>
            </a:pPr>
            <a:r>
              <a:rPr dirty="0" sz="3200" spc="-45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as</a:t>
            </a:r>
            <a:r>
              <a:rPr dirty="0" sz="3200" spc="-35">
                <a:latin typeface="Calibri"/>
                <a:cs typeface="Calibri"/>
              </a:rPr>
              <a:t>k</a:t>
            </a:r>
            <a:r>
              <a:rPr dirty="0" sz="3200" spc="-5">
                <a:latin typeface="Calibri"/>
                <a:cs typeface="Calibri"/>
              </a:rPr>
              <a:t>s,  </a:t>
            </a:r>
            <a:r>
              <a:rPr dirty="0" sz="3200" spc="-10">
                <a:latin typeface="Calibri"/>
                <a:cs typeface="Calibri"/>
              </a:rPr>
              <a:t>construct	</a:t>
            </a:r>
            <a:r>
              <a:rPr dirty="0" sz="3200" spc="-15">
                <a:latin typeface="Calibri"/>
                <a:cs typeface="Calibri"/>
              </a:rPr>
              <a:t>compilers	</a:t>
            </a:r>
            <a:r>
              <a:rPr dirty="0" sz="3200" spc="-30">
                <a:latin typeface="Calibri"/>
                <a:cs typeface="Calibri"/>
              </a:rPr>
              <a:t>for	</a:t>
            </a:r>
            <a:r>
              <a:rPr dirty="0" sz="3200">
                <a:latin typeface="Calibri"/>
                <a:cs typeface="Calibri"/>
              </a:rPr>
              <a:t>a	wide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47713" y="3266059"/>
            <a:ext cx="176276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63525">
              <a:lnSpc>
                <a:spcPct val="100000"/>
              </a:lnSpc>
              <a:spcBef>
                <a:spcPts val="105"/>
              </a:spcBef>
              <a:tabLst>
                <a:tab pos="1167765" algn="l"/>
                <a:tab pos="1410335" algn="l"/>
              </a:tabLst>
            </a:pPr>
            <a:r>
              <a:rPr dirty="0" sz="3200" spc="-25">
                <a:latin typeface="Calibri"/>
                <a:cs typeface="Calibri"/>
              </a:rPr>
              <a:t>w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35">
                <a:latin typeface="Calibri"/>
                <a:cs typeface="Calibri"/>
              </a:rPr>
              <a:t>c</a:t>
            </a:r>
            <a:r>
              <a:rPr dirty="0" sz="3200" spc="5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n  </a:t>
            </a:r>
            <a:r>
              <a:rPr dirty="0" sz="3200" spc="-45">
                <a:latin typeface="Calibri"/>
                <a:cs typeface="Calibri"/>
              </a:rPr>
              <a:t>v</a:t>
            </a:r>
            <a:r>
              <a:rPr dirty="0" sz="3200">
                <a:latin typeface="Calibri"/>
                <a:cs typeface="Calibri"/>
              </a:rPr>
              <a:t>ari</a:t>
            </a:r>
            <a:r>
              <a:rPr dirty="0" sz="3200" spc="-25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ty</a:t>
            </a:r>
            <a:r>
              <a:rPr dirty="0" sz="3200">
                <a:latin typeface="Calibri"/>
                <a:cs typeface="Calibri"/>
              </a:rPr>
              <a:t>		</a:t>
            </a:r>
            <a:r>
              <a:rPr dirty="0" sz="3200"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839" y="4241672"/>
            <a:ext cx="7729855" cy="10013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288415" algn="l"/>
                <a:tab pos="3120390" algn="l"/>
                <a:tab pos="3921760" algn="l"/>
                <a:tab pos="5091430" algn="l"/>
                <a:tab pos="6844030" algn="l"/>
              </a:tabLst>
            </a:pPr>
            <a:r>
              <a:rPr dirty="0" sz="3200" spc="-5">
                <a:latin typeface="Calibri"/>
                <a:cs typeface="Calibri"/>
              </a:rPr>
              <a:t>sou</a:t>
            </a:r>
            <a:r>
              <a:rPr dirty="0" sz="3200" spc="-5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ce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langua</a:t>
            </a:r>
            <a:r>
              <a:rPr dirty="0" sz="3200" spc="-15">
                <a:latin typeface="Calibri"/>
                <a:cs typeface="Calibri"/>
              </a:rPr>
              <a:t>g</a:t>
            </a:r>
            <a:r>
              <a:rPr dirty="0" sz="3200">
                <a:latin typeface="Calibri"/>
                <a:cs typeface="Calibri"/>
              </a:rPr>
              <a:t>es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5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d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30">
                <a:latin typeface="Calibri"/>
                <a:cs typeface="Calibri"/>
              </a:rPr>
              <a:t>t</a:t>
            </a:r>
            <a:r>
              <a:rPr dirty="0" sz="3200" spc="5">
                <a:latin typeface="Calibri"/>
                <a:cs typeface="Calibri"/>
              </a:rPr>
              <a:t>a</a:t>
            </a:r>
            <a:r>
              <a:rPr dirty="0" sz="3200" spc="-55">
                <a:latin typeface="Calibri"/>
                <a:cs typeface="Calibri"/>
              </a:rPr>
              <a:t>r</a:t>
            </a:r>
            <a:r>
              <a:rPr dirty="0" sz="3200" spc="-25">
                <a:latin typeface="Calibri"/>
                <a:cs typeface="Calibri"/>
              </a:rPr>
              <a:t>g</a:t>
            </a:r>
            <a:r>
              <a:rPr dirty="0" sz="3200" spc="-15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machines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us</a:t>
            </a:r>
            <a:r>
              <a:rPr dirty="0" sz="3200" spc="5">
                <a:latin typeface="Calibri"/>
                <a:cs typeface="Calibri"/>
              </a:rPr>
              <a:t>i</a:t>
            </a:r>
            <a:r>
              <a:rPr dirty="0" sz="3200" spc="-5">
                <a:latin typeface="Calibri"/>
                <a:cs typeface="Calibri"/>
              </a:rPr>
              <a:t>ng 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same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basic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techniques.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1539" y="4356100"/>
            <a:ext cx="4550410" cy="407034"/>
          </a:xfrm>
          <a:custGeom>
            <a:avLst/>
            <a:gdLst/>
            <a:ahLst/>
            <a:cxnLst/>
            <a:rect l="l" t="t" r="r" b="b"/>
            <a:pathLst>
              <a:path w="4550410" h="407035">
                <a:moveTo>
                  <a:pt x="4549834" y="6"/>
                </a:moveTo>
                <a:lnTo>
                  <a:pt x="0" y="6"/>
                </a:lnTo>
                <a:lnTo>
                  <a:pt x="0" y="406908"/>
                </a:lnTo>
                <a:lnTo>
                  <a:pt x="4549834" y="406908"/>
                </a:lnTo>
                <a:lnTo>
                  <a:pt x="4549834" y="6"/>
                </a:lnTo>
                <a:close/>
              </a:path>
            </a:pathLst>
          </a:custGeom>
          <a:solidFill>
            <a:srgbClr val="FF61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00933" y="461594"/>
            <a:ext cx="33445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1.1</a:t>
            </a:r>
            <a:r>
              <a:rPr dirty="0" spc="-70"/>
              <a:t> </a:t>
            </a:r>
            <a:r>
              <a:rPr dirty="0" spc="-10"/>
              <a:t>Compilers: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535940" y="1607565"/>
            <a:ext cx="8071484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Throughout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1950’s,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compilers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were 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considered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notoriously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difficult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programs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to 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write.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8382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</a:t>
            </a:r>
            <a:r>
              <a:rPr dirty="0" sz="3200" spc="-25">
                <a:latin typeface="Calibri"/>
                <a:cs typeface="Calibri"/>
              </a:rPr>
              <a:t>first </a:t>
            </a:r>
            <a:r>
              <a:rPr dirty="0" sz="3200" spc="-10">
                <a:latin typeface="Calibri"/>
                <a:cs typeface="Calibri"/>
              </a:rPr>
              <a:t>FORTRAN </a:t>
            </a:r>
            <a:r>
              <a:rPr dirty="0" sz="3200" spc="-40">
                <a:latin typeface="Calibri"/>
                <a:cs typeface="Calibri"/>
              </a:rPr>
              <a:t>compiler, </a:t>
            </a:r>
            <a:r>
              <a:rPr dirty="0" sz="3200" spc="-30">
                <a:latin typeface="Calibri"/>
                <a:cs typeface="Calibri"/>
              </a:rPr>
              <a:t>for </a:t>
            </a:r>
            <a:r>
              <a:rPr dirty="0" sz="3200" spc="-15">
                <a:latin typeface="Calibri"/>
                <a:cs typeface="Calibri"/>
              </a:rPr>
              <a:t>example, </a:t>
            </a:r>
            <a:r>
              <a:rPr dirty="0" sz="3200" spc="-10">
                <a:latin typeface="Calibri"/>
                <a:cs typeface="Calibri"/>
              </a:rPr>
              <a:t>took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18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staff-years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to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implement.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266" y="191465"/>
            <a:ext cx="6814184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51685" marR="5080" indent="-2039620">
              <a:lnSpc>
                <a:spcPct val="100000"/>
              </a:lnSpc>
              <a:spcBef>
                <a:spcPts val="95"/>
              </a:spcBef>
            </a:pPr>
            <a:r>
              <a:rPr dirty="0" sz="4000" spc="-5"/>
              <a:t>The</a:t>
            </a:r>
            <a:r>
              <a:rPr dirty="0" sz="4000" spc="-40"/>
              <a:t> </a:t>
            </a:r>
            <a:r>
              <a:rPr dirty="0" sz="4000" spc="-10"/>
              <a:t>Analysis-Synthesis</a:t>
            </a:r>
            <a:r>
              <a:rPr dirty="0" sz="4000" spc="25"/>
              <a:t> </a:t>
            </a:r>
            <a:r>
              <a:rPr dirty="0" sz="4000" spc="-5"/>
              <a:t>Model of </a:t>
            </a:r>
            <a:r>
              <a:rPr dirty="0" sz="4000" spc="-890"/>
              <a:t> </a:t>
            </a:r>
            <a:r>
              <a:rPr dirty="0" sz="4000" spc="-10"/>
              <a:t>Compilation: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6197600" cy="2052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There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two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parts</a:t>
            </a:r>
            <a:r>
              <a:rPr dirty="0" sz="3200">
                <a:latin typeface="Calibri"/>
                <a:cs typeface="Calibri"/>
              </a:rPr>
              <a:t> of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compilation: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385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dirty="0" sz="2800" spc="-1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5">
                <a:latin typeface="Calibri"/>
                <a:cs typeface="Calibri"/>
              </a:rPr>
              <a:t>Synthesis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266" y="191465"/>
            <a:ext cx="6814184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51685" marR="5080" indent="-2039620">
              <a:lnSpc>
                <a:spcPct val="100000"/>
              </a:lnSpc>
              <a:spcBef>
                <a:spcPts val="95"/>
              </a:spcBef>
            </a:pPr>
            <a:r>
              <a:rPr dirty="0" sz="4000" spc="-5"/>
              <a:t>The</a:t>
            </a:r>
            <a:r>
              <a:rPr dirty="0" sz="4000" spc="-40"/>
              <a:t> </a:t>
            </a:r>
            <a:r>
              <a:rPr dirty="0" sz="4000" spc="-10"/>
              <a:t>Analysis-Synthesis</a:t>
            </a:r>
            <a:r>
              <a:rPr dirty="0" sz="4000" spc="25"/>
              <a:t> </a:t>
            </a:r>
            <a:r>
              <a:rPr dirty="0" sz="4000" spc="-5"/>
              <a:t>Model of </a:t>
            </a:r>
            <a:r>
              <a:rPr dirty="0" sz="4000" spc="-890"/>
              <a:t> </a:t>
            </a:r>
            <a:r>
              <a:rPr dirty="0" sz="4000" spc="-10"/>
              <a:t>Compilation: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4025" cy="2660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294130" algn="l"/>
                <a:tab pos="2908300" algn="l"/>
                <a:tab pos="3920490" algn="l"/>
                <a:tab pos="5332095" algn="l"/>
                <a:tab pos="6084570" algn="l"/>
                <a:tab pos="6962775" algn="l"/>
              </a:tabLst>
            </a:pPr>
            <a:r>
              <a:rPr dirty="0" sz="3200" spc="-5">
                <a:latin typeface="Calibri"/>
                <a:cs typeface="Calibri"/>
              </a:rPr>
              <a:t>Th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anal</a:t>
            </a:r>
            <a:r>
              <a:rPr dirty="0" sz="3200" spc="-25">
                <a:latin typeface="Calibri"/>
                <a:cs typeface="Calibri"/>
              </a:rPr>
              <a:t>y</a:t>
            </a:r>
            <a:r>
              <a:rPr dirty="0" sz="3200" spc="-5">
                <a:latin typeface="Calibri"/>
                <a:cs typeface="Calibri"/>
              </a:rPr>
              <a:t>s</a:t>
            </a:r>
            <a:r>
              <a:rPr dirty="0" sz="3200" spc="-10">
                <a:latin typeface="Calibri"/>
                <a:cs typeface="Calibri"/>
              </a:rPr>
              <a:t>i</a:t>
            </a:r>
            <a:r>
              <a:rPr dirty="0" sz="320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par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b</a:t>
            </a:r>
            <a:r>
              <a:rPr dirty="0" sz="3200" spc="-4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ea</a:t>
            </a:r>
            <a:r>
              <a:rPr dirty="0" sz="3200" spc="-45">
                <a:latin typeface="Calibri"/>
                <a:cs typeface="Calibri"/>
              </a:rPr>
              <a:t>k</a:t>
            </a:r>
            <a:r>
              <a:rPr dirty="0" sz="320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u</a:t>
            </a:r>
            <a:r>
              <a:rPr dirty="0" sz="3200">
                <a:latin typeface="Calibri"/>
                <a:cs typeface="Calibri"/>
              </a:rPr>
              <a:t>p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sou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ce  </a:t>
            </a:r>
            <a:r>
              <a:rPr dirty="0" sz="3200" spc="-20">
                <a:latin typeface="Calibri"/>
                <a:cs typeface="Calibri"/>
              </a:rPr>
              <a:t>program into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constituent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pieces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marL="355600" marR="635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20">
                <a:latin typeface="Calibri"/>
                <a:cs typeface="Calibri"/>
              </a:rPr>
              <a:t>creates</a:t>
            </a:r>
            <a:r>
              <a:rPr dirty="0" sz="3200" spc="24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an</a:t>
            </a:r>
            <a:r>
              <a:rPr dirty="0" sz="3200" spc="2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intermediate</a:t>
            </a:r>
            <a:r>
              <a:rPr dirty="0" sz="3200" spc="24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representation</a:t>
            </a:r>
            <a:r>
              <a:rPr dirty="0" sz="3200" spc="2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2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source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program.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266" y="191465"/>
            <a:ext cx="6814184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51685" marR="5080" indent="-2039620">
              <a:lnSpc>
                <a:spcPct val="100000"/>
              </a:lnSpc>
              <a:spcBef>
                <a:spcPts val="95"/>
              </a:spcBef>
            </a:pPr>
            <a:r>
              <a:rPr dirty="0" sz="4000" spc="-5"/>
              <a:t>The</a:t>
            </a:r>
            <a:r>
              <a:rPr dirty="0" sz="4000" spc="-40"/>
              <a:t> </a:t>
            </a:r>
            <a:r>
              <a:rPr dirty="0" sz="4000" spc="-10"/>
              <a:t>Analysis-Synthesis</a:t>
            </a:r>
            <a:r>
              <a:rPr dirty="0" sz="4000" spc="25"/>
              <a:t> </a:t>
            </a:r>
            <a:r>
              <a:rPr dirty="0" sz="4000" spc="-5"/>
              <a:t>Model of </a:t>
            </a:r>
            <a:r>
              <a:rPr dirty="0" sz="4000" spc="-890"/>
              <a:t> </a:t>
            </a:r>
            <a:r>
              <a:rPr dirty="0" sz="4000" spc="-10"/>
              <a:t>Compilation: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27736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250315" algn="l"/>
              </a:tabLst>
            </a:pPr>
            <a:r>
              <a:rPr dirty="0" sz="3200" spc="-5">
                <a:latin typeface="Calibri"/>
                <a:cs typeface="Calibri"/>
              </a:rPr>
              <a:t>Th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65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y</a:t>
            </a:r>
            <a:r>
              <a:rPr dirty="0" sz="3200" spc="-15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th</a:t>
            </a:r>
            <a:r>
              <a:rPr dirty="0" sz="3200" spc="-10">
                <a:latin typeface="Calibri"/>
                <a:cs typeface="Calibri"/>
              </a:rPr>
              <a:t>e</a:t>
            </a:r>
            <a:r>
              <a:rPr dirty="0" sz="3200" spc="-5">
                <a:latin typeface="Calibri"/>
                <a:cs typeface="Calibri"/>
              </a:rPr>
              <a:t>s</a:t>
            </a:r>
            <a:r>
              <a:rPr dirty="0" sz="3200" spc="-10">
                <a:latin typeface="Calibri"/>
                <a:cs typeface="Calibri"/>
              </a:rPr>
              <a:t>i</a:t>
            </a:r>
            <a:r>
              <a:rPr dirty="0" sz="320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66286" y="2192858"/>
            <a:ext cx="7124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Calibri"/>
                <a:cs typeface="Calibri"/>
              </a:rPr>
              <a:t>part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4027" y="2192858"/>
            <a:ext cx="17367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>
                <a:latin typeface="Calibri"/>
                <a:cs typeface="Calibri"/>
              </a:rPr>
              <a:t>constructs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7672" y="2192858"/>
            <a:ext cx="20808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46455" algn="l"/>
              </a:tabLst>
            </a:pPr>
            <a:r>
              <a:rPr dirty="0" sz="3200">
                <a:latin typeface="Calibri"/>
                <a:cs typeface="Calibri"/>
              </a:rPr>
              <a:t>the	</a:t>
            </a:r>
            <a:r>
              <a:rPr dirty="0" sz="3200" spc="-10">
                <a:latin typeface="Calibri"/>
                <a:cs typeface="Calibri"/>
              </a:rPr>
              <a:t>desired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839" y="2680843"/>
            <a:ext cx="28771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54150" algn="l"/>
              </a:tabLst>
            </a:pPr>
            <a:r>
              <a:rPr dirty="0" sz="3200" spc="-25">
                <a:latin typeface="Calibri"/>
                <a:cs typeface="Calibri"/>
              </a:rPr>
              <a:t>target	</a:t>
            </a:r>
            <a:r>
              <a:rPr dirty="0" sz="3200" spc="-20">
                <a:latin typeface="Calibri"/>
                <a:cs typeface="Calibri"/>
              </a:rPr>
              <a:t>program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83507" y="2680843"/>
            <a:ext cx="44265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65555" algn="l"/>
                <a:tab pos="2272665" algn="l"/>
              </a:tabLst>
            </a:pPr>
            <a:r>
              <a:rPr dirty="0" sz="3200" spc="-15">
                <a:latin typeface="Calibri"/>
                <a:cs typeface="Calibri"/>
              </a:rPr>
              <a:t>from	</a:t>
            </a:r>
            <a:r>
              <a:rPr dirty="0" sz="3200">
                <a:latin typeface="Calibri"/>
                <a:cs typeface="Calibri"/>
              </a:rPr>
              <a:t>the	</a:t>
            </a:r>
            <a:r>
              <a:rPr dirty="0" sz="3200" spc="-15">
                <a:latin typeface="Calibri"/>
                <a:cs typeface="Calibri"/>
              </a:rPr>
              <a:t>intermediate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8839" y="3168523"/>
            <a:ext cx="25736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5">
                <a:latin typeface="Calibri"/>
                <a:cs typeface="Calibri"/>
              </a:rPr>
              <a:t>representation.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266" y="191465"/>
            <a:ext cx="6814184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51685" marR="5080" indent="-2039620">
              <a:lnSpc>
                <a:spcPct val="100000"/>
              </a:lnSpc>
              <a:spcBef>
                <a:spcPts val="95"/>
              </a:spcBef>
            </a:pPr>
            <a:r>
              <a:rPr dirty="0" sz="4000" spc="-5"/>
              <a:t>The</a:t>
            </a:r>
            <a:r>
              <a:rPr dirty="0" sz="4000" spc="-40"/>
              <a:t> </a:t>
            </a:r>
            <a:r>
              <a:rPr dirty="0" sz="4000" spc="-10"/>
              <a:t>Analysis-Synthesis</a:t>
            </a:r>
            <a:r>
              <a:rPr dirty="0" sz="4000" spc="25"/>
              <a:t> </a:t>
            </a:r>
            <a:r>
              <a:rPr dirty="0" sz="4000" spc="-5"/>
              <a:t>Model of </a:t>
            </a:r>
            <a:r>
              <a:rPr dirty="0" sz="4000" spc="-890"/>
              <a:t> </a:t>
            </a:r>
            <a:r>
              <a:rPr dirty="0" sz="4000" spc="-10"/>
              <a:t>Compilation: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971675" y="2286000"/>
            <a:ext cx="1676400" cy="1066800"/>
          </a:xfrm>
          <a:custGeom>
            <a:avLst/>
            <a:gdLst/>
            <a:ahLst/>
            <a:cxnLst/>
            <a:rect l="l" t="t" r="r" b="b"/>
            <a:pathLst>
              <a:path w="1676400" h="1066800">
                <a:moveTo>
                  <a:pt x="0" y="1066800"/>
                </a:moveTo>
                <a:lnTo>
                  <a:pt x="1676400" y="1066800"/>
                </a:lnTo>
                <a:lnTo>
                  <a:pt x="16764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37054" y="2354656"/>
            <a:ext cx="93218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Arial"/>
                <a:cs typeface="Arial"/>
              </a:rPr>
              <a:t>Fro</a:t>
            </a:r>
            <a:r>
              <a:rPr dirty="0" sz="2800" spc="-20" b="1">
                <a:latin typeface="Arial"/>
                <a:cs typeface="Arial"/>
              </a:rPr>
              <a:t>n</a:t>
            </a:r>
            <a:r>
              <a:rPr dirty="0" sz="2800" spc="-5" b="1">
                <a:latin typeface="Arial"/>
                <a:cs typeface="Arial"/>
              </a:rPr>
              <a:t>t  </a:t>
            </a:r>
            <a:r>
              <a:rPr dirty="0" sz="2800" spc="-10" b="1">
                <a:latin typeface="Arial"/>
                <a:cs typeface="Arial"/>
              </a:rPr>
              <a:t>End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43475" y="2286000"/>
            <a:ext cx="1676400" cy="1066800"/>
          </a:xfrm>
          <a:custGeom>
            <a:avLst/>
            <a:gdLst/>
            <a:ahLst/>
            <a:cxnLst/>
            <a:rect l="l" t="t" r="r" b="b"/>
            <a:pathLst>
              <a:path w="1676400" h="1066800">
                <a:moveTo>
                  <a:pt x="0" y="1066800"/>
                </a:moveTo>
                <a:lnTo>
                  <a:pt x="1676400" y="1066800"/>
                </a:lnTo>
                <a:lnTo>
                  <a:pt x="16764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37809" y="2354656"/>
            <a:ext cx="87503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Arial"/>
                <a:cs typeface="Arial"/>
              </a:rPr>
              <a:t>Back  </a:t>
            </a:r>
            <a:r>
              <a:rPr dirty="0" sz="2800" spc="-10" b="1">
                <a:latin typeface="Arial"/>
                <a:cs typeface="Arial"/>
              </a:rPr>
              <a:t>End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1583" y="2685288"/>
            <a:ext cx="1647825" cy="315595"/>
            <a:chOff x="481583" y="2685288"/>
            <a:chExt cx="1647825" cy="3155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583" y="2685288"/>
              <a:ext cx="1647443" cy="3154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3874" y="2762250"/>
              <a:ext cx="1447800" cy="114300"/>
            </a:xfrm>
            <a:custGeom>
              <a:avLst/>
              <a:gdLst/>
              <a:ahLst/>
              <a:cxnLst/>
              <a:rect l="l" t="t" r="r" b="b"/>
              <a:pathLst>
                <a:path w="1447800" h="114300">
                  <a:moveTo>
                    <a:pt x="1333500" y="0"/>
                  </a:moveTo>
                  <a:lnTo>
                    <a:pt x="1333500" y="114300"/>
                  </a:lnTo>
                  <a:lnTo>
                    <a:pt x="1409700" y="76200"/>
                  </a:lnTo>
                  <a:lnTo>
                    <a:pt x="1352550" y="76200"/>
                  </a:lnTo>
                  <a:lnTo>
                    <a:pt x="1352550" y="38100"/>
                  </a:lnTo>
                  <a:lnTo>
                    <a:pt x="1409700" y="38100"/>
                  </a:lnTo>
                  <a:lnTo>
                    <a:pt x="1333500" y="0"/>
                  </a:lnTo>
                  <a:close/>
                </a:path>
                <a:path w="1447800" h="114300">
                  <a:moveTo>
                    <a:pt x="133350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33500" y="76200"/>
                  </a:lnTo>
                  <a:lnTo>
                    <a:pt x="1333500" y="38100"/>
                  </a:lnTo>
                  <a:close/>
                </a:path>
                <a:path w="1447800" h="114300">
                  <a:moveTo>
                    <a:pt x="1409700" y="38100"/>
                  </a:moveTo>
                  <a:lnTo>
                    <a:pt x="1352550" y="38100"/>
                  </a:lnTo>
                  <a:lnTo>
                    <a:pt x="1352550" y="76200"/>
                  </a:lnTo>
                  <a:lnTo>
                    <a:pt x="1409700" y="76200"/>
                  </a:lnTo>
                  <a:lnTo>
                    <a:pt x="1447800" y="57150"/>
                  </a:lnTo>
                  <a:lnTo>
                    <a:pt x="1409700" y="3810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23112" y="2344038"/>
            <a:ext cx="1189990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1610" marR="5080" indent="-169545">
              <a:lnSpc>
                <a:spcPts val="3020"/>
              </a:lnSpc>
              <a:spcBef>
                <a:spcPts val="480"/>
              </a:spcBef>
            </a:pPr>
            <a:r>
              <a:rPr dirty="0" sz="2800" spc="-5" b="1" i="1">
                <a:latin typeface="Arial"/>
                <a:cs typeface="Arial"/>
              </a:rPr>
              <a:t>source  </a:t>
            </a:r>
            <a:r>
              <a:rPr dirty="0" sz="2800" spc="-5" b="1" i="1">
                <a:latin typeface="Arial"/>
                <a:cs typeface="Arial"/>
              </a:rPr>
              <a:t>code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51760" y="2685288"/>
            <a:ext cx="5973445" cy="1839595"/>
            <a:chOff x="2651760" y="2685288"/>
            <a:chExt cx="5973445" cy="183959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1984" y="2685288"/>
              <a:ext cx="1418843" cy="3154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724275" y="2762250"/>
              <a:ext cx="1219200" cy="114300"/>
            </a:xfrm>
            <a:custGeom>
              <a:avLst/>
              <a:gdLst/>
              <a:ahLst/>
              <a:cxnLst/>
              <a:rect l="l" t="t" r="r" b="b"/>
              <a:pathLst>
                <a:path w="1219200" h="114300">
                  <a:moveTo>
                    <a:pt x="1104900" y="0"/>
                  </a:moveTo>
                  <a:lnTo>
                    <a:pt x="1104900" y="114300"/>
                  </a:lnTo>
                  <a:lnTo>
                    <a:pt x="1181100" y="76200"/>
                  </a:lnTo>
                  <a:lnTo>
                    <a:pt x="1123950" y="76200"/>
                  </a:lnTo>
                  <a:lnTo>
                    <a:pt x="1123950" y="38100"/>
                  </a:lnTo>
                  <a:lnTo>
                    <a:pt x="1181100" y="38100"/>
                  </a:lnTo>
                  <a:lnTo>
                    <a:pt x="1104900" y="0"/>
                  </a:lnTo>
                  <a:close/>
                </a:path>
                <a:path w="1219200" h="114300">
                  <a:moveTo>
                    <a:pt x="110490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104900" y="76200"/>
                  </a:lnTo>
                  <a:lnTo>
                    <a:pt x="1104900" y="38100"/>
                  </a:lnTo>
                  <a:close/>
                </a:path>
                <a:path w="1219200" h="114300">
                  <a:moveTo>
                    <a:pt x="1181100" y="38100"/>
                  </a:moveTo>
                  <a:lnTo>
                    <a:pt x="1123950" y="38100"/>
                  </a:lnTo>
                  <a:lnTo>
                    <a:pt x="1123950" y="76200"/>
                  </a:lnTo>
                  <a:lnTo>
                    <a:pt x="1181100" y="76200"/>
                  </a:lnTo>
                  <a:lnTo>
                    <a:pt x="1219200" y="57150"/>
                  </a:lnTo>
                  <a:lnTo>
                    <a:pt x="1181100" y="3810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3307" y="2761765"/>
              <a:ext cx="1961794" cy="16251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696075" y="2762250"/>
              <a:ext cx="1905000" cy="114300"/>
            </a:xfrm>
            <a:custGeom>
              <a:avLst/>
              <a:gdLst/>
              <a:ahLst/>
              <a:cxnLst/>
              <a:rect l="l" t="t" r="r" b="b"/>
              <a:pathLst>
                <a:path w="1905000" h="114300">
                  <a:moveTo>
                    <a:pt x="1790700" y="0"/>
                  </a:moveTo>
                  <a:lnTo>
                    <a:pt x="1790700" y="114300"/>
                  </a:lnTo>
                  <a:lnTo>
                    <a:pt x="1866900" y="76200"/>
                  </a:lnTo>
                  <a:lnTo>
                    <a:pt x="1809750" y="76200"/>
                  </a:lnTo>
                  <a:lnTo>
                    <a:pt x="1809750" y="38100"/>
                  </a:lnTo>
                  <a:lnTo>
                    <a:pt x="1866900" y="38100"/>
                  </a:lnTo>
                  <a:lnTo>
                    <a:pt x="1790700" y="0"/>
                  </a:lnTo>
                  <a:close/>
                </a:path>
                <a:path w="1905000" h="114300">
                  <a:moveTo>
                    <a:pt x="179070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790700" y="76200"/>
                  </a:lnTo>
                  <a:lnTo>
                    <a:pt x="1790700" y="38100"/>
                  </a:lnTo>
                  <a:close/>
                </a:path>
                <a:path w="1905000" h="114300">
                  <a:moveTo>
                    <a:pt x="1866900" y="38100"/>
                  </a:moveTo>
                  <a:lnTo>
                    <a:pt x="1809750" y="38100"/>
                  </a:lnTo>
                  <a:lnTo>
                    <a:pt x="1809750" y="76200"/>
                  </a:lnTo>
                  <a:lnTo>
                    <a:pt x="1866900" y="76200"/>
                  </a:lnTo>
                  <a:lnTo>
                    <a:pt x="1905000" y="57150"/>
                  </a:lnTo>
                  <a:lnTo>
                    <a:pt x="1866900" y="3810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77108" y="4285765"/>
              <a:ext cx="4552580" cy="16251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809875" y="4286250"/>
              <a:ext cx="4495800" cy="114300"/>
            </a:xfrm>
            <a:custGeom>
              <a:avLst/>
              <a:gdLst/>
              <a:ahLst/>
              <a:cxnLst/>
              <a:rect l="l" t="t" r="r" b="b"/>
              <a:pathLst>
                <a:path w="4495800" h="114300">
                  <a:moveTo>
                    <a:pt x="4381500" y="0"/>
                  </a:moveTo>
                  <a:lnTo>
                    <a:pt x="4381500" y="114300"/>
                  </a:lnTo>
                  <a:lnTo>
                    <a:pt x="4457700" y="76200"/>
                  </a:lnTo>
                  <a:lnTo>
                    <a:pt x="4400550" y="76200"/>
                  </a:lnTo>
                  <a:lnTo>
                    <a:pt x="4400550" y="38100"/>
                  </a:lnTo>
                  <a:lnTo>
                    <a:pt x="4457700" y="38100"/>
                  </a:lnTo>
                  <a:lnTo>
                    <a:pt x="4381500" y="0"/>
                  </a:lnTo>
                  <a:close/>
                </a:path>
                <a:path w="4495800" h="114300">
                  <a:moveTo>
                    <a:pt x="438150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4381500" y="76200"/>
                  </a:lnTo>
                  <a:lnTo>
                    <a:pt x="4381500" y="38100"/>
                  </a:lnTo>
                  <a:close/>
                </a:path>
                <a:path w="4495800" h="114300">
                  <a:moveTo>
                    <a:pt x="4457700" y="38100"/>
                  </a:moveTo>
                  <a:lnTo>
                    <a:pt x="4400550" y="38100"/>
                  </a:lnTo>
                  <a:lnTo>
                    <a:pt x="4400550" y="76200"/>
                  </a:lnTo>
                  <a:lnTo>
                    <a:pt x="4457700" y="76200"/>
                  </a:lnTo>
                  <a:lnTo>
                    <a:pt x="4495800" y="57150"/>
                  </a:lnTo>
                  <a:lnTo>
                    <a:pt x="4457700" y="3810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1760" y="3332988"/>
              <a:ext cx="315468" cy="119176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52725" y="3352800"/>
              <a:ext cx="114300" cy="990600"/>
            </a:xfrm>
            <a:custGeom>
              <a:avLst/>
              <a:gdLst/>
              <a:ahLst/>
              <a:cxnLst/>
              <a:rect l="l" t="t" r="r" b="b"/>
              <a:pathLst>
                <a:path w="114300" h="990600">
                  <a:moveTo>
                    <a:pt x="38100" y="876300"/>
                  </a:moveTo>
                  <a:lnTo>
                    <a:pt x="0" y="876300"/>
                  </a:lnTo>
                  <a:lnTo>
                    <a:pt x="57150" y="990600"/>
                  </a:lnTo>
                  <a:lnTo>
                    <a:pt x="104775" y="895350"/>
                  </a:lnTo>
                  <a:lnTo>
                    <a:pt x="38100" y="895350"/>
                  </a:lnTo>
                  <a:lnTo>
                    <a:pt x="38100" y="876300"/>
                  </a:lnTo>
                  <a:close/>
                </a:path>
                <a:path w="114300" h="990600">
                  <a:moveTo>
                    <a:pt x="76200" y="0"/>
                  </a:moveTo>
                  <a:lnTo>
                    <a:pt x="38100" y="0"/>
                  </a:lnTo>
                  <a:lnTo>
                    <a:pt x="38100" y="895350"/>
                  </a:lnTo>
                  <a:lnTo>
                    <a:pt x="76200" y="895350"/>
                  </a:lnTo>
                  <a:lnTo>
                    <a:pt x="76200" y="0"/>
                  </a:lnTo>
                  <a:close/>
                </a:path>
                <a:path w="114300" h="990600">
                  <a:moveTo>
                    <a:pt x="114300" y="876300"/>
                  </a:moveTo>
                  <a:lnTo>
                    <a:pt x="76200" y="876300"/>
                  </a:lnTo>
                  <a:lnTo>
                    <a:pt x="76200" y="895350"/>
                  </a:lnTo>
                  <a:lnTo>
                    <a:pt x="104775" y="895350"/>
                  </a:lnTo>
                  <a:lnTo>
                    <a:pt x="114300" y="87630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23560" y="3332988"/>
              <a:ext cx="315467" cy="119176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724525" y="3352800"/>
              <a:ext cx="114300" cy="990600"/>
            </a:xfrm>
            <a:custGeom>
              <a:avLst/>
              <a:gdLst/>
              <a:ahLst/>
              <a:cxnLst/>
              <a:rect l="l" t="t" r="r" b="b"/>
              <a:pathLst>
                <a:path w="114300" h="990600">
                  <a:moveTo>
                    <a:pt x="38100" y="876300"/>
                  </a:moveTo>
                  <a:lnTo>
                    <a:pt x="0" y="876300"/>
                  </a:lnTo>
                  <a:lnTo>
                    <a:pt x="57150" y="990600"/>
                  </a:lnTo>
                  <a:lnTo>
                    <a:pt x="104775" y="895350"/>
                  </a:lnTo>
                  <a:lnTo>
                    <a:pt x="38100" y="895350"/>
                  </a:lnTo>
                  <a:lnTo>
                    <a:pt x="38100" y="876300"/>
                  </a:lnTo>
                  <a:close/>
                </a:path>
                <a:path w="114300" h="990600">
                  <a:moveTo>
                    <a:pt x="76200" y="0"/>
                  </a:moveTo>
                  <a:lnTo>
                    <a:pt x="38100" y="0"/>
                  </a:lnTo>
                  <a:lnTo>
                    <a:pt x="38100" y="895350"/>
                  </a:lnTo>
                  <a:lnTo>
                    <a:pt x="76200" y="895350"/>
                  </a:lnTo>
                  <a:lnTo>
                    <a:pt x="76200" y="0"/>
                  </a:lnTo>
                  <a:close/>
                </a:path>
                <a:path w="114300" h="990600">
                  <a:moveTo>
                    <a:pt x="114300" y="876300"/>
                  </a:moveTo>
                  <a:lnTo>
                    <a:pt x="76200" y="876300"/>
                  </a:lnTo>
                  <a:lnTo>
                    <a:pt x="76200" y="895350"/>
                  </a:lnTo>
                  <a:lnTo>
                    <a:pt x="104775" y="895350"/>
                  </a:lnTo>
                  <a:lnTo>
                    <a:pt x="114300" y="87630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067936" y="2324861"/>
            <a:ext cx="3816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Arial"/>
                <a:cs typeface="Arial"/>
              </a:rPr>
              <a:t>IR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3" name="object 23"/>
          <p:cNvSpPr txBox="1"/>
          <p:nvPr/>
        </p:nvSpPr>
        <p:spPr>
          <a:xfrm>
            <a:off x="6773418" y="2344038"/>
            <a:ext cx="1466850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18770" marR="5080" indent="-306705">
              <a:lnSpc>
                <a:spcPts val="3020"/>
              </a:lnSpc>
              <a:spcBef>
                <a:spcPts val="480"/>
              </a:spcBef>
            </a:pPr>
            <a:r>
              <a:rPr dirty="0" sz="2800" spc="-5" b="1" i="1">
                <a:latin typeface="Arial"/>
                <a:cs typeface="Arial"/>
              </a:rPr>
              <a:t>ma</a:t>
            </a:r>
            <a:r>
              <a:rPr dirty="0" sz="2800" b="1" i="1">
                <a:latin typeface="Arial"/>
                <a:cs typeface="Arial"/>
              </a:rPr>
              <a:t>c</a:t>
            </a:r>
            <a:r>
              <a:rPr dirty="0" sz="2800" spc="-5" b="1" i="1">
                <a:latin typeface="Arial"/>
                <a:cs typeface="Arial"/>
              </a:rPr>
              <a:t>hine  </a:t>
            </a:r>
            <a:r>
              <a:rPr dirty="0" sz="2800" spc="-5" b="1" i="1">
                <a:latin typeface="Arial"/>
                <a:cs typeface="Arial"/>
              </a:rPr>
              <a:t>code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98257" y="4077715"/>
            <a:ext cx="10528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Arial"/>
                <a:cs typeface="Arial"/>
              </a:rPr>
              <a:t>e</a:t>
            </a:r>
            <a:r>
              <a:rPr dirty="0" sz="2800" b="1" i="1">
                <a:latin typeface="Arial"/>
                <a:cs typeface="Arial"/>
              </a:rPr>
              <a:t>r</a:t>
            </a:r>
            <a:r>
              <a:rPr dirty="0" sz="2800" spc="-5" b="1" i="1">
                <a:latin typeface="Arial"/>
                <a:cs typeface="Arial"/>
              </a:rPr>
              <a:t>rors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266" y="191465"/>
            <a:ext cx="6814184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51685" marR="5080" indent="-2039620">
              <a:lnSpc>
                <a:spcPct val="100000"/>
              </a:lnSpc>
              <a:spcBef>
                <a:spcPts val="95"/>
              </a:spcBef>
            </a:pPr>
            <a:r>
              <a:rPr dirty="0" sz="4000" spc="-5"/>
              <a:t>The</a:t>
            </a:r>
            <a:r>
              <a:rPr dirty="0" sz="4000" spc="-40"/>
              <a:t> </a:t>
            </a:r>
            <a:r>
              <a:rPr dirty="0" sz="4000" spc="-10"/>
              <a:t>Analysis-Synthesis</a:t>
            </a:r>
            <a:r>
              <a:rPr dirty="0" sz="4000" spc="25"/>
              <a:t> </a:t>
            </a:r>
            <a:r>
              <a:rPr dirty="0" sz="4000" spc="-5"/>
              <a:t>Model of </a:t>
            </a:r>
            <a:r>
              <a:rPr dirty="0" sz="4000" spc="-890"/>
              <a:t> </a:t>
            </a:r>
            <a:r>
              <a:rPr dirty="0" sz="4000" spc="-10"/>
              <a:t>Compilation: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3390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During analysis,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operations </a:t>
            </a:r>
            <a:r>
              <a:rPr dirty="0" sz="3200">
                <a:latin typeface="Calibri"/>
                <a:cs typeface="Calibri"/>
              </a:rPr>
              <a:t>implied </a:t>
            </a:r>
            <a:r>
              <a:rPr dirty="0" sz="3200" spc="-10">
                <a:latin typeface="Calibri"/>
                <a:cs typeface="Calibri"/>
              </a:rPr>
              <a:t>by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source </a:t>
            </a:r>
            <a:r>
              <a:rPr dirty="0" sz="3200" spc="-20">
                <a:latin typeface="Calibri"/>
                <a:cs typeface="Calibri"/>
              </a:rPr>
              <a:t>program </a:t>
            </a:r>
            <a:r>
              <a:rPr dirty="0" sz="3200" spc="-15">
                <a:latin typeface="Calibri"/>
                <a:cs typeface="Calibri"/>
              </a:rPr>
              <a:t>are </a:t>
            </a:r>
            <a:r>
              <a:rPr dirty="0" sz="3200" spc="-10">
                <a:latin typeface="Calibri"/>
                <a:cs typeface="Calibri"/>
              </a:rPr>
              <a:t>determined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20">
                <a:latin typeface="Calibri"/>
                <a:cs typeface="Calibri"/>
              </a:rPr>
              <a:t>recorded 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hierarchical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structure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called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tree.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Often,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special</a:t>
            </a:r>
            <a:r>
              <a:rPr dirty="0" sz="3200">
                <a:latin typeface="Calibri"/>
                <a:cs typeface="Calibri"/>
              </a:rPr>
              <a:t> kind of </a:t>
            </a:r>
            <a:r>
              <a:rPr dirty="0" sz="3200" spc="-10">
                <a:latin typeface="Calibri"/>
                <a:cs typeface="Calibri"/>
              </a:rPr>
              <a:t>tree</a:t>
            </a:r>
            <a:r>
              <a:rPr dirty="0" sz="3200" spc="7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called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25">
                <a:latin typeface="Calibri"/>
                <a:cs typeface="Calibri"/>
              </a:rPr>
              <a:t>syntax 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tree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used.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266" y="191465"/>
            <a:ext cx="6814184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51685" marR="5080" indent="-2039620">
              <a:lnSpc>
                <a:spcPct val="100000"/>
              </a:lnSpc>
              <a:spcBef>
                <a:spcPts val="95"/>
              </a:spcBef>
            </a:pPr>
            <a:r>
              <a:rPr dirty="0" sz="4000" spc="-5"/>
              <a:t>The</a:t>
            </a:r>
            <a:r>
              <a:rPr dirty="0" sz="4000" spc="-40"/>
              <a:t> </a:t>
            </a:r>
            <a:r>
              <a:rPr dirty="0" sz="4000" spc="-10"/>
              <a:t>Analysis-Synthesis</a:t>
            </a:r>
            <a:r>
              <a:rPr dirty="0" sz="4000" spc="25"/>
              <a:t> </a:t>
            </a:r>
            <a:r>
              <a:rPr dirty="0" sz="4000" spc="-5"/>
              <a:t>Model of </a:t>
            </a:r>
            <a:r>
              <a:rPr dirty="0" sz="4000" spc="-890"/>
              <a:t> </a:t>
            </a:r>
            <a:r>
              <a:rPr dirty="0" sz="4000" spc="-10"/>
              <a:t>Compilation: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204406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983615" algn="l"/>
              </a:tabLst>
            </a:pPr>
            <a:r>
              <a:rPr dirty="0" sz="3200" spc="-5">
                <a:latin typeface="Calibri"/>
                <a:cs typeface="Calibri"/>
              </a:rPr>
              <a:t>I</a:t>
            </a:r>
            <a:r>
              <a:rPr dirty="0" sz="3200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65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y</a:t>
            </a:r>
            <a:r>
              <a:rPr dirty="0" sz="3200" spc="-15">
                <a:latin typeface="Calibri"/>
                <a:cs typeface="Calibri"/>
              </a:rPr>
              <a:t>n</a:t>
            </a:r>
            <a:r>
              <a:rPr dirty="0" sz="3200" spc="-45">
                <a:latin typeface="Calibri"/>
                <a:cs typeface="Calibri"/>
              </a:rPr>
              <a:t>t</a:t>
            </a:r>
            <a:r>
              <a:rPr dirty="0" sz="3200" spc="-25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2192858"/>
            <a:ext cx="772985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985645">
              <a:lnSpc>
                <a:spcPct val="100000"/>
              </a:lnSpc>
              <a:spcBef>
                <a:spcPts val="105"/>
              </a:spcBef>
              <a:tabLst>
                <a:tab pos="1931035" algn="l"/>
                <a:tab pos="2862580" algn="l"/>
                <a:tab pos="2986405" algn="l"/>
                <a:tab pos="3721100" algn="l"/>
                <a:tab pos="4080510" algn="l"/>
                <a:tab pos="5236210" algn="l"/>
                <a:tab pos="5368290" algn="l"/>
                <a:tab pos="6013450" algn="l"/>
                <a:tab pos="6871334" algn="l"/>
                <a:tab pos="7304405" algn="l"/>
              </a:tabLst>
            </a:pPr>
            <a:r>
              <a:rPr dirty="0" sz="3200">
                <a:latin typeface="Calibri"/>
                <a:cs typeface="Calibri"/>
              </a:rPr>
              <a:t>t</a:t>
            </a:r>
            <a:r>
              <a:rPr dirty="0" sz="3200" spc="-4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ee</a:t>
            </a:r>
            <a:r>
              <a:rPr dirty="0" sz="3200">
                <a:latin typeface="Calibri"/>
                <a:cs typeface="Calibri"/>
              </a:rPr>
              <a:t>		</a:t>
            </a:r>
            <a:r>
              <a:rPr dirty="0" sz="3200">
                <a:latin typeface="Calibri"/>
                <a:cs typeface="Calibri"/>
              </a:rPr>
              <a:t>each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nod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ep</a:t>
            </a:r>
            <a:r>
              <a:rPr dirty="0" sz="3200" spc="-5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ese</a:t>
            </a:r>
            <a:r>
              <a:rPr dirty="0" sz="3200" spc="-35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ts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10">
                <a:latin typeface="Calibri"/>
                <a:cs typeface="Calibri"/>
              </a:rPr>
              <a:t>an  </a:t>
            </a:r>
            <a:r>
              <a:rPr dirty="0" sz="3200" spc="-5">
                <a:latin typeface="Calibri"/>
                <a:cs typeface="Calibri"/>
              </a:rPr>
              <a:t>ope</a:t>
            </a:r>
            <a:r>
              <a:rPr dirty="0" sz="3200" spc="-75">
                <a:latin typeface="Calibri"/>
                <a:cs typeface="Calibri"/>
              </a:rPr>
              <a:t>r</a:t>
            </a:r>
            <a:r>
              <a:rPr dirty="0" sz="3200" spc="-25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 spc="-10">
                <a:latin typeface="Calibri"/>
                <a:cs typeface="Calibri"/>
              </a:rPr>
              <a:t>i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5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d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chi</a:t>
            </a:r>
            <a:r>
              <a:rPr dirty="0" sz="3200" spc="10">
                <a:latin typeface="Calibri"/>
                <a:cs typeface="Calibri"/>
              </a:rPr>
              <a:t>l</a:t>
            </a:r>
            <a:r>
              <a:rPr dirty="0" sz="3200" spc="-5">
                <a:latin typeface="Calibri"/>
                <a:cs typeface="Calibri"/>
              </a:rPr>
              <a:t>d</a:t>
            </a:r>
            <a:r>
              <a:rPr dirty="0" sz="3200" spc="-4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en</a:t>
            </a:r>
            <a:r>
              <a:rPr dirty="0" sz="3200">
                <a:latin typeface="Calibri"/>
                <a:cs typeface="Calibri"/>
              </a:rPr>
              <a:t>		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5">
                <a:latin typeface="Calibri"/>
                <a:cs typeface="Calibri"/>
              </a:rPr>
              <a:t>n</a:t>
            </a:r>
            <a:r>
              <a:rPr dirty="0" sz="3200" spc="-5">
                <a:latin typeface="Calibri"/>
                <a:cs typeface="Calibri"/>
              </a:rPr>
              <a:t>ode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168523"/>
            <a:ext cx="8073390" cy="21723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3200" spc="-15">
                <a:latin typeface="Calibri"/>
                <a:cs typeface="Calibri"/>
              </a:rPr>
              <a:t>represent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arguments</a:t>
            </a:r>
            <a:r>
              <a:rPr dirty="0" sz="3200">
                <a:latin typeface="Calibri"/>
                <a:cs typeface="Calibri"/>
              </a:rPr>
              <a:t> of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operation.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  <a:tab pos="1052195" algn="l"/>
                <a:tab pos="2708910" algn="l"/>
                <a:tab pos="3063875" algn="l"/>
                <a:tab pos="4267835" algn="l"/>
                <a:tab pos="5106670" algn="l"/>
                <a:tab pos="5603240" algn="l"/>
                <a:tab pos="6171565" algn="l"/>
              </a:tabLst>
            </a:pPr>
            <a:r>
              <a:rPr dirty="0" sz="3200" spc="-45">
                <a:latin typeface="Calibri"/>
                <a:cs typeface="Calibri"/>
              </a:rPr>
              <a:t>F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0">
                <a:latin typeface="Calibri"/>
                <a:cs typeface="Calibri"/>
              </a:rPr>
              <a:t>e</a:t>
            </a:r>
            <a:r>
              <a:rPr dirty="0" sz="3200" spc="-55">
                <a:latin typeface="Calibri"/>
                <a:cs typeface="Calibri"/>
              </a:rPr>
              <a:t>x</a:t>
            </a:r>
            <a:r>
              <a:rPr dirty="0" sz="3200">
                <a:latin typeface="Calibri"/>
                <a:cs typeface="Calibri"/>
              </a:rPr>
              <a:t>ample,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65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y</a:t>
            </a:r>
            <a:r>
              <a:rPr dirty="0" sz="3200" spc="-25">
                <a:latin typeface="Calibri"/>
                <a:cs typeface="Calibri"/>
              </a:rPr>
              <a:t>n</a:t>
            </a:r>
            <a:r>
              <a:rPr dirty="0" sz="3200" spc="-45">
                <a:latin typeface="Calibri"/>
                <a:cs typeface="Calibri"/>
              </a:rPr>
              <a:t>t</a:t>
            </a:r>
            <a:r>
              <a:rPr dirty="0" sz="3200" spc="-25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x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 spc="-3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an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assig</a:t>
            </a:r>
            <a:r>
              <a:rPr dirty="0" sz="3200" spc="5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me</a:t>
            </a:r>
            <a:r>
              <a:rPr dirty="0" sz="3200" spc="-20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t  </a:t>
            </a:r>
            <a:r>
              <a:rPr dirty="0" sz="3200" spc="-20">
                <a:latin typeface="Calibri"/>
                <a:cs typeface="Calibri"/>
              </a:rPr>
              <a:t>statement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shown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40">
                <a:latin typeface="Calibri"/>
                <a:cs typeface="Calibri"/>
              </a:rPr>
              <a:t>below.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266" y="191465"/>
            <a:ext cx="6814184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51685" marR="5080" indent="-2039620">
              <a:lnSpc>
                <a:spcPct val="100000"/>
              </a:lnSpc>
              <a:spcBef>
                <a:spcPts val="95"/>
              </a:spcBef>
            </a:pPr>
            <a:r>
              <a:rPr dirty="0" sz="4000" spc="-5"/>
              <a:t>The</a:t>
            </a:r>
            <a:r>
              <a:rPr dirty="0" sz="4000" spc="-40"/>
              <a:t> </a:t>
            </a:r>
            <a:r>
              <a:rPr dirty="0" sz="4000" spc="-10"/>
              <a:t>Analysis-Synthesis</a:t>
            </a:r>
            <a:r>
              <a:rPr dirty="0" sz="4000" spc="25"/>
              <a:t> </a:t>
            </a:r>
            <a:r>
              <a:rPr dirty="0" sz="4000" spc="-5"/>
              <a:t>Model of </a:t>
            </a:r>
            <a:r>
              <a:rPr dirty="0" sz="4000" spc="-890"/>
              <a:t> </a:t>
            </a:r>
            <a:r>
              <a:rPr dirty="0" sz="4000" spc="-10"/>
              <a:t>Compilation: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4044" y="2575667"/>
            <a:ext cx="4118095" cy="281397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850" y="461594"/>
            <a:ext cx="738124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Analysis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15"/>
              <a:t>Source</a:t>
            </a:r>
            <a:r>
              <a:rPr dirty="0" spc="-5"/>
              <a:t> </a:t>
            </a:r>
            <a:r>
              <a:rPr dirty="0" spc="-20"/>
              <a:t>Program: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21320" cy="2564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compiling,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analysis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consists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10">
                <a:latin typeface="Calibri"/>
                <a:cs typeface="Calibri"/>
              </a:rPr>
              <a:t>three </a:t>
            </a:r>
            <a:r>
              <a:rPr dirty="0" sz="3200" spc="-5">
                <a:latin typeface="Calibri"/>
                <a:cs typeface="Calibri"/>
              </a:rPr>
              <a:t>phases: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385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dirty="0" sz="2800" spc="-5" b="1">
                <a:latin typeface="Calibri"/>
                <a:cs typeface="Calibri"/>
              </a:rPr>
              <a:t>Linear</a:t>
            </a:r>
            <a:r>
              <a:rPr dirty="0" sz="2800" spc="-2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Analysis</a:t>
            </a:r>
            <a:r>
              <a:rPr dirty="0" sz="2800" spc="-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5" b="1">
                <a:latin typeface="Calibri"/>
                <a:cs typeface="Calibri"/>
              </a:rPr>
              <a:t>Hierarchical</a:t>
            </a:r>
            <a:r>
              <a:rPr dirty="0" sz="2800" spc="1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Analysis: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 b="1">
                <a:latin typeface="Calibri"/>
                <a:cs typeface="Calibri"/>
              </a:rPr>
              <a:t>Semantic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Analysis: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850" y="461594"/>
            <a:ext cx="738124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Analysis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15"/>
              <a:t>Source</a:t>
            </a:r>
            <a:r>
              <a:rPr dirty="0" spc="-5"/>
              <a:t> </a:t>
            </a:r>
            <a:r>
              <a:rPr dirty="0" spc="-20"/>
              <a:t>Program: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2755" cy="282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b="1">
                <a:latin typeface="Calibri"/>
                <a:cs typeface="Calibri"/>
              </a:rPr>
              <a:t>Linear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Analysis</a:t>
            </a:r>
            <a:r>
              <a:rPr dirty="0" sz="320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</a:pPr>
            <a:r>
              <a:rPr dirty="0" sz="2800" spc="-5">
                <a:latin typeface="Arial MT"/>
                <a:cs typeface="Arial MT"/>
              </a:rPr>
              <a:t>– </a:t>
            </a:r>
            <a:r>
              <a:rPr dirty="0" sz="2800" spc="-5">
                <a:latin typeface="Calibri"/>
                <a:cs typeface="Calibri"/>
              </a:rPr>
              <a:t>In which the </a:t>
            </a:r>
            <a:r>
              <a:rPr dirty="0" sz="2800" spc="-20">
                <a:latin typeface="Calibri"/>
                <a:cs typeface="Calibri"/>
              </a:rPr>
              <a:t>stream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20">
                <a:latin typeface="Calibri"/>
                <a:cs typeface="Calibri"/>
              </a:rPr>
              <a:t>characters </a:t>
            </a:r>
            <a:r>
              <a:rPr dirty="0" sz="2800" spc="-5">
                <a:latin typeface="Calibri"/>
                <a:cs typeface="Calibri"/>
              </a:rPr>
              <a:t>making </a:t>
            </a:r>
            <a:r>
              <a:rPr dirty="0" sz="2800">
                <a:latin typeface="Calibri"/>
                <a:cs typeface="Calibri"/>
              </a:rPr>
              <a:t>up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source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program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read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from</a:t>
            </a:r>
            <a:r>
              <a:rPr dirty="0" sz="2800" spc="-10">
                <a:latin typeface="Calibri"/>
                <a:cs typeface="Calibri"/>
              </a:rPr>
              <a:t> left-to-right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 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grouped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into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tokens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that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are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sequences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characters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having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collective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meaning.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038" y="191465"/>
            <a:ext cx="7418705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694940" marR="5080" indent="-2682875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Scanning</a:t>
            </a:r>
            <a:r>
              <a:rPr dirty="0" sz="4000" spc="15"/>
              <a:t> </a:t>
            </a:r>
            <a:r>
              <a:rPr dirty="0" sz="4000" spc="-5"/>
              <a:t>or</a:t>
            </a:r>
            <a:r>
              <a:rPr dirty="0" sz="4000"/>
              <a:t> </a:t>
            </a:r>
            <a:r>
              <a:rPr dirty="0" sz="4000" spc="-15"/>
              <a:t>Lexical</a:t>
            </a:r>
            <a:r>
              <a:rPr dirty="0" sz="4000"/>
              <a:t> </a:t>
            </a:r>
            <a:r>
              <a:rPr dirty="0" sz="4000" spc="-5"/>
              <a:t>Analysis</a:t>
            </a:r>
            <a:r>
              <a:rPr dirty="0" sz="4000" spc="15"/>
              <a:t> </a:t>
            </a:r>
            <a:r>
              <a:rPr dirty="0" sz="4000" spc="-5"/>
              <a:t>(Linear </a:t>
            </a:r>
            <a:r>
              <a:rPr dirty="0" sz="4000" spc="-890"/>
              <a:t> </a:t>
            </a:r>
            <a:r>
              <a:rPr dirty="0" sz="4000" spc="-5"/>
              <a:t>Analysis):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066366"/>
            <a:ext cx="8074025" cy="3821429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  <a:tab pos="884555" algn="l"/>
                <a:tab pos="1297305" algn="l"/>
                <a:tab pos="2952750" algn="l"/>
                <a:tab pos="4065270" algn="l"/>
                <a:tab pos="5505450" algn="l"/>
                <a:tab pos="5975350" algn="l"/>
                <a:tab pos="7110730" algn="l"/>
              </a:tabLst>
            </a:pPr>
            <a:r>
              <a:rPr dirty="0" sz="3000" spc="-5">
                <a:latin typeface="Calibri"/>
                <a:cs typeface="Calibri"/>
              </a:rPr>
              <a:t>I</a:t>
            </a:r>
            <a:r>
              <a:rPr dirty="0" sz="3000">
                <a:latin typeface="Calibri"/>
                <a:cs typeface="Calibri"/>
              </a:rPr>
              <a:t>n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 spc="-25">
                <a:latin typeface="Calibri"/>
                <a:cs typeface="Calibri"/>
              </a:rPr>
              <a:t>c</a:t>
            </a:r>
            <a:r>
              <a:rPr dirty="0" sz="3000" spc="-5">
                <a:latin typeface="Calibri"/>
                <a:cs typeface="Calibri"/>
              </a:rPr>
              <a:t>ompi</a:t>
            </a:r>
            <a:r>
              <a:rPr dirty="0" sz="3000" spc="-20">
                <a:latin typeface="Calibri"/>
                <a:cs typeface="Calibri"/>
              </a:rPr>
              <a:t>l</a:t>
            </a:r>
            <a:r>
              <a:rPr dirty="0" sz="3000">
                <a:latin typeface="Calibri"/>
                <a:cs typeface="Calibri"/>
              </a:rPr>
              <a:t>e</a:t>
            </a:r>
            <a:r>
              <a:rPr dirty="0" sz="3000" spc="-265">
                <a:latin typeface="Calibri"/>
                <a:cs typeface="Calibri"/>
              </a:rPr>
              <a:t>r</a:t>
            </a:r>
            <a:r>
              <a:rPr dirty="0" sz="3000">
                <a:latin typeface="Calibri"/>
                <a:cs typeface="Calibri"/>
              </a:rPr>
              <a:t>,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>
                <a:latin typeface="Calibri"/>
                <a:cs typeface="Calibri"/>
              </a:rPr>
              <a:t>lin</a:t>
            </a:r>
            <a:r>
              <a:rPr dirty="0" sz="3000" spc="-15">
                <a:latin typeface="Calibri"/>
                <a:cs typeface="Calibri"/>
              </a:rPr>
              <a:t>e</a:t>
            </a:r>
            <a:r>
              <a:rPr dirty="0" sz="3000">
                <a:latin typeface="Calibri"/>
                <a:cs typeface="Calibri"/>
              </a:rPr>
              <a:t>ar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>
                <a:latin typeface="Calibri"/>
                <a:cs typeface="Calibri"/>
              </a:rPr>
              <a:t>anal</a:t>
            </a:r>
            <a:r>
              <a:rPr dirty="0" sz="3000" spc="-40">
                <a:latin typeface="Calibri"/>
                <a:cs typeface="Calibri"/>
              </a:rPr>
              <a:t>y</a:t>
            </a:r>
            <a:r>
              <a:rPr dirty="0" sz="3000" spc="-5">
                <a:latin typeface="Calibri"/>
                <a:cs typeface="Calibri"/>
              </a:rPr>
              <a:t>si</a:t>
            </a:r>
            <a:r>
              <a:rPr dirty="0" sz="3000">
                <a:latin typeface="Calibri"/>
                <a:cs typeface="Calibri"/>
              </a:rPr>
              <a:t>s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 spc="-5">
                <a:latin typeface="Calibri"/>
                <a:cs typeface="Calibri"/>
              </a:rPr>
              <a:t>i</a:t>
            </a:r>
            <a:r>
              <a:rPr dirty="0" sz="3000">
                <a:latin typeface="Calibri"/>
                <a:cs typeface="Calibri"/>
              </a:rPr>
              <a:t>s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 spc="-35">
                <a:latin typeface="Calibri"/>
                <a:cs typeface="Calibri"/>
              </a:rPr>
              <a:t>c</a:t>
            </a:r>
            <a:r>
              <a:rPr dirty="0" sz="3000">
                <a:latin typeface="Calibri"/>
                <a:cs typeface="Calibri"/>
              </a:rPr>
              <a:t>al</a:t>
            </a:r>
            <a:r>
              <a:rPr dirty="0" sz="3000" spc="-15">
                <a:latin typeface="Calibri"/>
                <a:cs typeface="Calibri"/>
              </a:rPr>
              <a:t>l</a:t>
            </a:r>
            <a:r>
              <a:rPr dirty="0" sz="3000">
                <a:latin typeface="Calibri"/>
                <a:cs typeface="Calibri"/>
              </a:rPr>
              <a:t>ed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>
                <a:latin typeface="Calibri"/>
                <a:cs typeface="Calibri"/>
              </a:rPr>
              <a:t>l</a:t>
            </a:r>
            <a:r>
              <a:rPr dirty="0" sz="3000" spc="-65">
                <a:latin typeface="Calibri"/>
                <a:cs typeface="Calibri"/>
              </a:rPr>
              <a:t>e</a:t>
            </a:r>
            <a:r>
              <a:rPr dirty="0" sz="3000" spc="-5">
                <a:latin typeface="Calibri"/>
                <a:cs typeface="Calibri"/>
              </a:rPr>
              <a:t>xi</a:t>
            </a:r>
            <a:r>
              <a:rPr dirty="0" sz="3000" spc="-25">
                <a:latin typeface="Calibri"/>
                <a:cs typeface="Calibri"/>
              </a:rPr>
              <a:t>c</a:t>
            </a:r>
            <a:r>
              <a:rPr dirty="0" sz="3000" spc="-10">
                <a:latin typeface="Calibri"/>
                <a:cs typeface="Calibri"/>
              </a:rPr>
              <a:t>a</a:t>
            </a:r>
            <a:r>
              <a:rPr dirty="0" sz="3000">
                <a:latin typeface="Calibri"/>
                <a:cs typeface="Calibri"/>
              </a:rPr>
              <a:t>l  </a:t>
            </a:r>
            <a:r>
              <a:rPr dirty="0" sz="3000" spc="-5">
                <a:latin typeface="Calibri"/>
                <a:cs typeface="Calibri"/>
              </a:rPr>
              <a:t>analysis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 </a:t>
            </a:r>
            <a:r>
              <a:rPr dirty="0" sz="3000" spc="-5">
                <a:latin typeface="Calibri"/>
                <a:cs typeface="Calibri"/>
              </a:rPr>
              <a:t>scanning.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3800">
              <a:latin typeface="Calibri"/>
              <a:cs typeface="Calibri"/>
            </a:endParaRPr>
          </a:p>
          <a:p>
            <a:pPr marL="355600" marR="6350" indent="-342900">
              <a:lnSpc>
                <a:spcPts val="3240"/>
              </a:lnSpc>
              <a:buFont typeface="Arial MT"/>
              <a:buChar char="•"/>
              <a:tabLst>
                <a:tab pos="354965" algn="l"/>
                <a:tab pos="355600" algn="l"/>
                <a:tab pos="996950" algn="l"/>
                <a:tab pos="2531745" algn="l"/>
                <a:tab pos="2955925" algn="l"/>
                <a:tab pos="4042410" algn="l"/>
                <a:tab pos="5385435" algn="l"/>
                <a:tab pos="6036310" algn="l"/>
                <a:tab pos="7772400" algn="l"/>
              </a:tabLst>
            </a:pPr>
            <a:r>
              <a:rPr dirty="0" sz="3000" spc="-35">
                <a:latin typeface="Calibri"/>
                <a:cs typeface="Calibri"/>
              </a:rPr>
              <a:t>F</a:t>
            </a:r>
            <a:r>
              <a:rPr dirty="0" sz="3000" spc="-5">
                <a:latin typeface="Calibri"/>
                <a:cs typeface="Calibri"/>
              </a:rPr>
              <a:t>o</a:t>
            </a:r>
            <a:r>
              <a:rPr dirty="0" sz="3000">
                <a:latin typeface="Calibri"/>
                <a:cs typeface="Calibri"/>
              </a:rPr>
              <a:t>r	</a:t>
            </a:r>
            <a:r>
              <a:rPr dirty="0" sz="3000" spc="-55">
                <a:latin typeface="Calibri"/>
                <a:cs typeface="Calibri"/>
              </a:rPr>
              <a:t>ex</a:t>
            </a:r>
            <a:r>
              <a:rPr dirty="0" sz="3000">
                <a:latin typeface="Calibri"/>
                <a:cs typeface="Calibri"/>
              </a:rPr>
              <a:t>am</a:t>
            </a:r>
            <a:r>
              <a:rPr dirty="0" sz="3000" spc="-10">
                <a:latin typeface="Calibri"/>
                <a:cs typeface="Calibri"/>
              </a:rPr>
              <a:t>p</a:t>
            </a:r>
            <a:r>
              <a:rPr dirty="0" sz="3000">
                <a:latin typeface="Calibri"/>
                <a:cs typeface="Calibri"/>
              </a:rPr>
              <a:t>l</a:t>
            </a:r>
            <a:r>
              <a:rPr dirty="0" sz="3000" spc="-15">
                <a:latin typeface="Calibri"/>
                <a:cs typeface="Calibri"/>
              </a:rPr>
              <a:t>e</a:t>
            </a:r>
            <a:r>
              <a:rPr dirty="0" sz="3000">
                <a:latin typeface="Calibri"/>
                <a:cs typeface="Calibri"/>
              </a:rPr>
              <a:t>,	</a:t>
            </a:r>
            <a:r>
              <a:rPr dirty="0" sz="3000" spc="-5">
                <a:latin typeface="Calibri"/>
                <a:cs typeface="Calibri"/>
              </a:rPr>
              <a:t>i</a:t>
            </a:r>
            <a:r>
              <a:rPr dirty="0" sz="3000">
                <a:latin typeface="Calibri"/>
                <a:cs typeface="Calibri"/>
              </a:rPr>
              <a:t>n	l</a:t>
            </a:r>
            <a:r>
              <a:rPr dirty="0" sz="3000" spc="-60">
                <a:latin typeface="Calibri"/>
                <a:cs typeface="Calibri"/>
              </a:rPr>
              <a:t>e</a:t>
            </a:r>
            <a:r>
              <a:rPr dirty="0" sz="3000" spc="-5">
                <a:latin typeface="Calibri"/>
                <a:cs typeface="Calibri"/>
              </a:rPr>
              <a:t>xi</a:t>
            </a:r>
            <a:r>
              <a:rPr dirty="0" sz="3000" spc="-35">
                <a:latin typeface="Calibri"/>
                <a:cs typeface="Calibri"/>
              </a:rPr>
              <a:t>c</a:t>
            </a:r>
            <a:r>
              <a:rPr dirty="0" sz="3000">
                <a:latin typeface="Calibri"/>
                <a:cs typeface="Calibri"/>
              </a:rPr>
              <a:t>al	ana</a:t>
            </a:r>
            <a:r>
              <a:rPr dirty="0" sz="3000" spc="-15">
                <a:latin typeface="Calibri"/>
                <a:cs typeface="Calibri"/>
              </a:rPr>
              <a:t>l</a:t>
            </a:r>
            <a:r>
              <a:rPr dirty="0" sz="3000" spc="-30">
                <a:latin typeface="Calibri"/>
                <a:cs typeface="Calibri"/>
              </a:rPr>
              <a:t>y</a:t>
            </a:r>
            <a:r>
              <a:rPr dirty="0" sz="3000" spc="-5">
                <a:latin typeface="Calibri"/>
                <a:cs typeface="Calibri"/>
              </a:rPr>
              <a:t>si</a:t>
            </a:r>
            <a:r>
              <a:rPr dirty="0" sz="3000">
                <a:latin typeface="Calibri"/>
                <a:cs typeface="Calibri"/>
              </a:rPr>
              <a:t>s	the	c</a:t>
            </a:r>
            <a:r>
              <a:rPr dirty="0" sz="3000" spc="-15">
                <a:latin typeface="Calibri"/>
                <a:cs typeface="Calibri"/>
              </a:rPr>
              <a:t>h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60">
                <a:latin typeface="Calibri"/>
                <a:cs typeface="Calibri"/>
              </a:rPr>
              <a:t>r</a:t>
            </a:r>
            <a:r>
              <a:rPr dirty="0" sz="3000">
                <a:latin typeface="Calibri"/>
                <a:cs typeface="Calibri"/>
              </a:rPr>
              <a:t>ac</a:t>
            </a:r>
            <a:r>
              <a:rPr dirty="0" sz="3000" spc="-30">
                <a:latin typeface="Calibri"/>
                <a:cs typeface="Calibri"/>
              </a:rPr>
              <a:t>t</a:t>
            </a:r>
            <a:r>
              <a:rPr dirty="0" sz="3000">
                <a:latin typeface="Calibri"/>
                <a:cs typeface="Calibri"/>
              </a:rPr>
              <a:t>e</a:t>
            </a:r>
            <a:r>
              <a:rPr dirty="0" sz="3000" spc="-60">
                <a:latin typeface="Calibri"/>
                <a:cs typeface="Calibri"/>
              </a:rPr>
              <a:t>r</a:t>
            </a:r>
            <a:r>
              <a:rPr dirty="0" sz="3000">
                <a:latin typeface="Calibri"/>
                <a:cs typeface="Calibri"/>
              </a:rPr>
              <a:t>s	</a:t>
            </a:r>
            <a:r>
              <a:rPr dirty="0" sz="3000" spc="-5">
                <a:latin typeface="Calibri"/>
                <a:cs typeface="Calibri"/>
              </a:rPr>
              <a:t>in 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assignment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statement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3500">
              <a:latin typeface="Calibri"/>
              <a:cs typeface="Calibri"/>
            </a:endParaRPr>
          </a:p>
          <a:p>
            <a:pPr lvl="1" marL="2061210" indent="-342900">
              <a:lnSpc>
                <a:spcPct val="100000"/>
              </a:lnSpc>
              <a:buFont typeface="Arial MT"/>
              <a:buChar char="•"/>
              <a:tabLst>
                <a:tab pos="2060575" algn="l"/>
                <a:tab pos="2061210" algn="l"/>
              </a:tabLst>
            </a:pPr>
            <a:r>
              <a:rPr dirty="0" sz="3000" spc="-15">
                <a:latin typeface="Calibri"/>
                <a:cs typeface="Calibri"/>
              </a:rPr>
              <a:t>Position: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=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initial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+ </a:t>
            </a:r>
            <a:r>
              <a:rPr dirty="0" sz="3000" spc="-35">
                <a:latin typeface="Calibri"/>
                <a:cs typeface="Calibri"/>
              </a:rPr>
              <a:t>rate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*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60</a:t>
            </a:r>
            <a:endParaRPr sz="3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000" spc="-30">
                <a:latin typeface="Calibri"/>
                <a:cs typeface="Calibri"/>
              </a:rPr>
              <a:t>Would</a:t>
            </a:r>
            <a:r>
              <a:rPr dirty="0" sz="3000" spc="-5">
                <a:latin typeface="Calibri"/>
                <a:cs typeface="Calibri"/>
              </a:rPr>
              <a:t> be</a:t>
            </a:r>
            <a:r>
              <a:rPr dirty="0" sz="3000" spc="-15">
                <a:latin typeface="Calibri"/>
                <a:cs typeface="Calibri"/>
              </a:rPr>
              <a:t> grouped</a:t>
            </a:r>
            <a:r>
              <a:rPr dirty="0" sz="3000" spc="15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into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15">
                <a:latin typeface="Calibri"/>
                <a:cs typeface="Calibri"/>
              </a:rPr>
              <a:t> following</a:t>
            </a:r>
            <a:r>
              <a:rPr dirty="0" sz="3000" spc="20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tokens: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038" y="191465"/>
            <a:ext cx="7418705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694940" marR="5080" indent="-2682875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Scanning</a:t>
            </a:r>
            <a:r>
              <a:rPr dirty="0" sz="4000" spc="15"/>
              <a:t> </a:t>
            </a:r>
            <a:r>
              <a:rPr dirty="0" sz="4000" spc="-5"/>
              <a:t>or</a:t>
            </a:r>
            <a:r>
              <a:rPr dirty="0" sz="4000"/>
              <a:t> </a:t>
            </a:r>
            <a:r>
              <a:rPr dirty="0" sz="4000" spc="-15"/>
              <a:t>Lexical</a:t>
            </a:r>
            <a:r>
              <a:rPr dirty="0" sz="4000"/>
              <a:t> </a:t>
            </a:r>
            <a:r>
              <a:rPr dirty="0" sz="4000" spc="-5"/>
              <a:t>Analysis</a:t>
            </a:r>
            <a:r>
              <a:rPr dirty="0" sz="4000" spc="15"/>
              <a:t> </a:t>
            </a:r>
            <a:r>
              <a:rPr dirty="0" sz="4000" spc="-5"/>
              <a:t>(Linear </a:t>
            </a:r>
            <a:r>
              <a:rPr dirty="0" sz="4000" spc="-890"/>
              <a:t> </a:t>
            </a:r>
            <a:r>
              <a:rPr dirty="0" sz="4000" spc="-5"/>
              <a:t>Analysis):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10635"/>
            <a:ext cx="4639310" cy="4123054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identifier,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position.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assignment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symbol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:=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identifier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initial.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plus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sign.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identifier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rate.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multiplication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sign.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number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60.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038" y="191465"/>
            <a:ext cx="7418705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694940" marR="5080" indent="-2682875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Scanning</a:t>
            </a:r>
            <a:r>
              <a:rPr dirty="0" sz="4000" spc="15"/>
              <a:t> </a:t>
            </a:r>
            <a:r>
              <a:rPr dirty="0" sz="4000" spc="-5"/>
              <a:t>or</a:t>
            </a:r>
            <a:r>
              <a:rPr dirty="0" sz="4000"/>
              <a:t> </a:t>
            </a:r>
            <a:r>
              <a:rPr dirty="0" sz="4000" spc="-15"/>
              <a:t>Lexical</a:t>
            </a:r>
            <a:r>
              <a:rPr dirty="0" sz="4000"/>
              <a:t> </a:t>
            </a:r>
            <a:r>
              <a:rPr dirty="0" sz="4000" spc="-5"/>
              <a:t>Analysis</a:t>
            </a:r>
            <a:r>
              <a:rPr dirty="0" sz="4000" spc="15"/>
              <a:t> </a:t>
            </a:r>
            <a:r>
              <a:rPr dirty="0" sz="4000" spc="-5"/>
              <a:t>(Linear </a:t>
            </a:r>
            <a:r>
              <a:rPr dirty="0" sz="4000" spc="-890"/>
              <a:t> </a:t>
            </a:r>
            <a:r>
              <a:rPr dirty="0" sz="4000" spc="-5"/>
              <a:t>Analysis):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1484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blanks </a:t>
            </a:r>
            <a:r>
              <a:rPr dirty="0" sz="3200" spc="-15">
                <a:latin typeface="Calibri"/>
                <a:cs typeface="Calibri"/>
              </a:rPr>
              <a:t>separating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characters </a:t>
            </a:r>
            <a:r>
              <a:rPr dirty="0" sz="3200">
                <a:latin typeface="Calibri"/>
                <a:cs typeface="Calibri"/>
              </a:rPr>
              <a:t>of these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tokens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would</a:t>
            </a:r>
            <a:r>
              <a:rPr dirty="0" sz="3200" spc="-5">
                <a:latin typeface="Calibri"/>
                <a:cs typeface="Calibri"/>
              </a:rPr>
              <a:t> normally be eliminated during 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-15">
                <a:latin typeface="Calibri"/>
                <a:cs typeface="Calibri"/>
              </a:rPr>
              <a:t> lexical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analysis.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850" y="461594"/>
            <a:ext cx="738124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Analysis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15"/>
              <a:t>Source</a:t>
            </a:r>
            <a:r>
              <a:rPr dirty="0" spc="-5"/>
              <a:t> </a:t>
            </a:r>
            <a:r>
              <a:rPr dirty="0" spc="-20"/>
              <a:t>Program: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3974465" cy="2393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15" b="1">
                <a:latin typeface="Calibri"/>
                <a:cs typeface="Calibri"/>
              </a:rPr>
              <a:t>Hierarchical</a:t>
            </a:r>
            <a:r>
              <a:rPr dirty="0" sz="3200" spc="-6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Analysis</a:t>
            </a:r>
            <a:r>
              <a:rPr dirty="0" sz="320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tabLst>
                <a:tab pos="1320165" algn="l"/>
                <a:tab pos="2469515" algn="l"/>
                <a:tab pos="3082290" algn="l"/>
              </a:tabLst>
            </a:pPr>
            <a:r>
              <a:rPr dirty="0" sz="2800" spc="-5">
                <a:latin typeface="Arial MT"/>
                <a:cs typeface="Arial MT"/>
              </a:rPr>
              <a:t>–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5">
                <a:latin typeface="Calibri"/>
                <a:cs typeface="Calibri"/>
              </a:rPr>
              <a:t>In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5">
                <a:latin typeface="Calibri"/>
                <a:cs typeface="Calibri"/>
              </a:rPr>
              <a:t>whi</a:t>
            </a:r>
            <a:r>
              <a:rPr dirty="0" sz="2800">
                <a:latin typeface="Calibri"/>
                <a:cs typeface="Calibri"/>
              </a:rPr>
              <a:t>c</a:t>
            </a:r>
            <a:r>
              <a:rPr dirty="0" sz="2800" spc="-5">
                <a:latin typeface="Calibri"/>
                <a:cs typeface="Calibri"/>
              </a:rPr>
              <a:t>h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5">
                <a:latin typeface="Calibri"/>
                <a:cs typeface="Calibri"/>
              </a:rPr>
              <a:t>cha</a:t>
            </a:r>
            <a:r>
              <a:rPr dirty="0" sz="2800" spc="-65">
                <a:latin typeface="Calibri"/>
                <a:cs typeface="Calibri"/>
              </a:rPr>
              <a:t>r</a:t>
            </a:r>
            <a:r>
              <a:rPr dirty="0" sz="2800" spc="-5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c</a:t>
            </a:r>
            <a:r>
              <a:rPr dirty="0" sz="2800" spc="-35">
                <a:latin typeface="Calibri"/>
                <a:cs typeface="Calibri"/>
              </a:rPr>
              <a:t>t</a:t>
            </a:r>
            <a:r>
              <a:rPr dirty="0" sz="2800" spc="-15">
                <a:latin typeface="Calibri"/>
                <a:cs typeface="Calibri"/>
              </a:rPr>
              <a:t>e</a:t>
            </a:r>
            <a:r>
              <a:rPr dirty="0" sz="2800" spc="-60">
                <a:latin typeface="Calibri"/>
                <a:cs typeface="Calibri"/>
              </a:rPr>
              <a:t>r</a:t>
            </a:r>
            <a:r>
              <a:rPr dirty="0" sz="2800" spc="-5">
                <a:latin typeface="Calibri"/>
                <a:cs typeface="Calibri"/>
              </a:rPr>
              <a:t>s  </a:t>
            </a:r>
            <a:r>
              <a:rPr dirty="0" sz="2800" spc="-15">
                <a:latin typeface="Calibri"/>
                <a:cs typeface="Calibri"/>
              </a:rPr>
              <a:t>hierarchically	</a:t>
            </a:r>
            <a:r>
              <a:rPr dirty="0" sz="2800" spc="-20">
                <a:latin typeface="Calibri"/>
                <a:cs typeface="Calibri"/>
              </a:rPr>
              <a:t>into 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collective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meaning.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3295" y="3281298"/>
            <a:ext cx="383412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1505" algn="l"/>
                <a:tab pos="1856739" algn="l"/>
                <a:tab pos="2611120" algn="l"/>
              </a:tabLst>
            </a:pPr>
            <a:r>
              <a:rPr dirty="0" sz="2800" spc="-5">
                <a:latin typeface="Calibri"/>
                <a:cs typeface="Calibri"/>
              </a:rPr>
              <a:t>or	</a:t>
            </a:r>
            <a:r>
              <a:rPr dirty="0" sz="2800" spc="-20">
                <a:latin typeface="Calibri"/>
                <a:cs typeface="Calibri"/>
              </a:rPr>
              <a:t>tokens	are	</a:t>
            </a:r>
            <a:r>
              <a:rPr dirty="0" sz="2800" spc="-15">
                <a:latin typeface="Calibri"/>
                <a:cs typeface="Calibri"/>
              </a:rPr>
              <a:t>grouped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0415" y="3707968"/>
            <a:ext cx="40163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05255" algn="l"/>
                <a:tab pos="3361054" algn="l"/>
              </a:tabLst>
            </a:pPr>
            <a:r>
              <a:rPr dirty="0" sz="2800" spc="-10">
                <a:latin typeface="Calibri"/>
                <a:cs typeface="Calibri"/>
              </a:rPr>
              <a:t>ne</a:t>
            </a:r>
            <a:r>
              <a:rPr dirty="0" sz="2800" spc="-55">
                <a:latin typeface="Calibri"/>
                <a:cs typeface="Calibri"/>
              </a:rPr>
              <a:t>s</a:t>
            </a:r>
            <a:r>
              <a:rPr dirty="0" sz="2800" spc="-35">
                <a:latin typeface="Calibri"/>
                <a:cs typeface="Calibri"/>
              </a:rPr>
              <a:t>t</a:t>
            </a:r>
            <a:r>
              <a:rPr dirty="0" sz="2800" spc="-5">
                <a:latin typeface="Calibri"/>
                <a:cs typeface="Calibri"/>
              </a:rPr>
              <a:t>ed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c</a:t>
            </a:r>
            <a:r>
              <a:rPr dirty="0" sz="2800" spc="-10">
                <a:latin typeface="Calibri"/>
                <a:cs typeface="Calibri"/>
              </a:rPr>
              <a:t>ol</a:t>
            </a:r>
            <a:r>
              <a:rPr dirty="0" sz="2800" spc="-20">
                <a:latin typeface="Calibri"/>
                <a:cs typeface="Calibri"/>
              </a:rPr>
              <a:t>l</a:t>
            </a:r>
            <a:r>
              <a:rPr dirty="0" sz="2800" spc="-5">
                <a:latin typeface="Calibri"/>
                <a:cs typeface="Calibri"/>
              </a:rPr>
              <a:t>ections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5">
                <a:latin typeface="Calibri"/>
                <a:cs typeface="Calibri"/>
              </a:rPr>
              <a:t>with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8264" y="191465"/>
            <a:ext cx="6433820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01750" marR="5080" indent="-1289685">
              <a:lnSpc>
                <a:spcPct val="100000"/>
              </a:lnSpc>
              <a:spcBef>
                <a:spcPts val="95"/>
              </a:spcBef>
            </a:pPr>
            <a:r>
              <a:rPr dirty="0" sz="4000" spc="-30"/>
              <a:t>Syntax</a:t>
            </a:r>
            <a:r>
              <a:rPr dirty="0" sz="4000" spc="-15"/>
              <a:t> </a:t>
            </a:r>
            <a:r>
              <a:rPr dirty="0" sz="4000" spc="-5"/>
              <a:t>Analysis</a:t>
            </a:r>
            <a:r>
              <a:rPr dirty="0" sz="4000" spc="10"/>
              <a:t> </a:t>
            </a:r>
            <a:r>
              <a:rPr dirty="0" sz="4000" spc="-5"/>
              <a:t>or</a:t>
            </a:r>
            <a:r>
              <a:rPr dirty="0" sz="4000" spc="-10"/>
              <a:t> </a:t>
            </a:r>
            <a:r>
              <a:rPr dirty="0" sz="4000" spc="-20"/>
              <a:t>Hierarchical </a:t>
            </a:r>
            <a:r>
              <a:rPr dirty="0" sz="4000" spc="-890"/>
              <a:t> </a:t>
            </a:r>
            <a:r>
              <a:rPr dirty="0" sz="4000" spc="-5"/>
              <a:t>Analysis</a:t>
            </a:r>
            <a:r>
              <a:rPr dirty="0" sz="4000"/>
              <a:t> </a:t>
            </a:r>
            <a:r>
              <a:rPr dirty="0" sz="4000" spc="-15"/>
              <a:t>(Parsing):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4025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15">
                <a:latin typeface="Calibri"/>
                <a:cs typeface="Calibri"/>
              </a:rPr>
              <a:t>Hierarchical </a:t>
            </a:r>
            <a:r>
              <a:rPr dirty="0" sz="3200" spc="-5">
                <a:latin typeface="Calibri"/>
                <a:cs typeface="Calibri"/>
              </a:rPr>
              <a:t>analysis is called </a:t>
            </a:r>
            <a:r>
              <a:rPr dirty="0" sz="3200" spc="-15">
                <a:latin typeface="Calibri"/>
                <a:cs typeface="Calibri"/>
              </a:rPr>
              <a:t>parsing </a:t>
            </a:r>
            <a:r>
              <a:rPr dirty="0" sz="3200">
                <a:latin typeface="Calibri"/>
                <a:cs typeface="Calibri"/>
              </a:rPr>
              <a:t>or </a:t>
            </a:r>
            <a:r>
              <a:rPr dirty="0" sz="3200" spc="-25">
                <a:latin typeface="Calibri"/>
                <a:cs typeface="Calibri"/>
              </a:rPr>
              <a:t>syntax 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analysis.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It </a:t>
            </a:r>
            <a:r>
              <a:rPr dirty="0" sz="3200" spc="-15">
                <a:latin typeface="Calibri"/>
                <a:cs typeface="Calibri"/>
              </a:rPr>
              <a:t>involves </a:t>
            </a:r>
            <a:r>
              <a:rPr dirty="0" sz="3200" spc="-10">
                <a:latin typeface="Calibri"/>
                <a:cs typeface="Calibri"/>
              </a:rPr>
              <a:t>grouping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5">
                <a:latin typeface="Calibri"/>
                <a:cs typeface="Calibri"/>
              </a:rPr>
              <a:t>tokens </a:t>
            </a:r>
            <a:r>
              <a:rPr dirty="0" sz="3200">
                <a:latin typeface="Calibri"/>
                <a:cs typeface="Calibri"/>
              </a:rPr>
              <a:t>of the </a:t>
            </a:r>
            <a:r>
              <a:rPr dirty="0" sz="3200" spc="-15">
                <a:latin typeface="Calibri"/>
                <a:cs typeface="Calibri"/>
              </a:rPr>
              <a:t>source 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program</a:t>
            </a:r>
            <a:r>
              <a:rPr dirty="0" sz="3200" spc="-15">
                <a:latin typeface="Calibri"/>
                <a:cs typeface="Calibri"/>
              </a:rPr>
              <a:t> into</a:t>
            </a:r>
            <a:r>
              <a:rPr dirty="0" sz="3200" spc="-10">
                <a:latin typeface="Calibri"/>
                <a:cs typeface="Calibri"/>
              </a:rPr>
              <a:t> grammatical</a:t>
            </a:r>
            <a:r>
              <a:rPr dirty="0" sz="3200" spc="-5">
                <a:latin typeface="Calibri"/>
                <a:cs typeface="Calibri"/>
              </a:rPr>
              <a:t> phases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that</a:t>
            </a:r>
            <a:r>
              <a:rPr dirty="0" sz="3200" spc="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 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used</a:t>
            </a:r>
            <a:r>
              <a:rPr dirty="0" sz="3200" spc="-10">
                <a:latin typeface="Calibri"/>
                <a:cs typeface="Calibri"/>
              </a:rPr>
              <a:t> by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compiler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synthesize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output.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8264" y="191465"/>
            <a:ext cx="6433820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01750" marR="5080" indent="-1289685">
              <a:lnSpc>
                <a:spcPct val="100000"/>
              </a:lnSpc>
              <a:spcBef>
                <a:spcPts val="95"/>
              </a:spcBef>
            </a:pPr>
            <a:r>
              <a:rPr dirty="0" sz="4000" spc="-30"/>
              <a:t>Syntax</a:t>
            </a:r>
            <a:r>
              <a:rPr dirty="0" sz="4000" spc="-15"/>
              <a:t> </a:t>
            </a:r>
            <a:r>
              <a:rPr dirty="0" sz="4000" spc="-5"/>
              <a:t>Analysis</a:t>
            </a:r>
            <a:r>
              <a:rPr dirty="0" sz="4000" spc="10"/>
              <a:t> </a:t>
            </a:r>
            <a:r>
              <a:rPr dirty="0" sz="4000" spc="-5"/>
              <a:t>or</a:t>
            </a:r>
            <a:r>
              <a:rPr dirty="0" sz="4000" spc="-10"/>
              <a:t> </a:t>
            </a:r>
            <a:r>
              <a:rPr dirty="0" sz="4000" spc="-20"/>
              <a:t>Hierarchical </a:t>
            </a:r>
            <a:r>
              <a:rPr dirty="0" sz="4000" spc="-890"/>
              <a:t> </a:t>
            </a:r>
            <a:r>
              <a:rPr dirty="0" sz="4000" spc="-5"/>
              <a:t>Analysis</a:t>
            </a:r>
            <a:r>
              <a:rPr dirty="0" sz="4000"/>
              <a:t> </a:t>
            </a:r>
            <a:r>
              <a:rPr dirty="0" sz="4000" spc="-15"/>
              <a:t>(Parsing):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339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324610" algn="l"/>
                <a:tab pos="3731260" algn="l"/>
                <a:tab pos="5362575" algn="l"/>
                <a:tab pos="6055995" algn="l"/>
                <a:tab pos="6964680" algn="l"/>
              </a:tabLst>
            </a:pPr>
            <a:r>
              <a:rPr dirty="0" sz="3200" spc="-5">
                <a:latin typeface="Calibri"/>
                <a:cs typeface="Calibri"/>
              </a:rPr>
              <a:t>Th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g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am</a:t>
            </a:r>
            <a:r>
              <a:rPr dirty="0" sz="3200" spc="-10">
                <a:latin typeface="Calibri"/>
                <a:cs typeface="Calibri"/>
              </a:rPr>
              <a:t>m</a:t>
            </a:r>
            <a:r>
              <a:rPr dirty="0" sz="3200" spc="-25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ti</a:t>
            </a:r>
            <a:r>
              <a:rPr dirty="0" sz="3200" spc="-25">
                <a:latin typeface="Calibri"/>
                <a:cs typeface="Calibri"/>
              </a:rPr>
              <a:t>c</a:t>
            </a:r>
            <a:r>
              <a:rPr dirty="0" sz="3200">
                <a:latin typeface="Calibri"/>
                <a:cs typeface="Calibri"/>
              </a:rPr>
              <a:t>al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ph</a:t>
            </a:r>
            <a:r>
              <a:rPr dirty="0" sz="3200" spc="-7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ases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sou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 spc="-15">
                <a:latin typeface="Calibri"/>
                <a:cs typeface="Calibri"/>
              </a:rPr>
              <a:t>c</a:t>
            </a:r>
            <a:r>
              <a:rPr dirty="0" sz="3200">
                <a:latin typeface="Calibri"/>
                <a:cs typeface="Calibri"/>
              </a:rPr>
              <a:t>e  </a:t>
            </a:r>
            <a:r>
              <a:rPr dirty="0" sz="3200" spc="-20">
                <a:latin typeface="Calibri"/>
                <a:cs typeface="Calibri"/>
              </a:rPr>
              <a:t>program</a:t>
            </a:r>
            <a:r>
              <a:rPr dirty="0" sz="3200" spc="-15">
                <a:latin typeface="Calibri"/>
                <a:cs typeface="Calibri"/>
              </a:rPr>
              <a:t> are represented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parse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tree.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8264" y="191465"/>
            <a:ext cx="6433820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01750" marR="5080" indent="-1289685">
              <a:lnSpc>
                <a:spcPct val="100000"/>
              </a:lnSpc>
              <a:spcBef>
                <a:spcPts val="95"/>
              </a:spcBef>
            </a:pPr>
            <a:r>
              <a:rPr dirty="0" sz="4000" spc="-30"/>
              <a:t>Syntax</a:t>
            </a:r>
            <a:r>
              <a:rPr dirty="0" sz="4000" spc="-15"/>
              <a:t> </a:t>
            </a:r>
            <a:r>
              <a:rPr dirty="0" sz="4000" spc="-5"/>
              <a:t>Analysis</a:t>
            </a:r>
            <a:r>
              <a:rPr dirty="0" sz="4000" spc="10"/>
              <a:t> </a:t>
            </a:r>
            <a:r>
              <a:rPr dirty="0" sz="4000" spc="-5"/>
              <a:t>or</a:t>
            </a:r>
            <a:r>
              <a:rPr dirty="0" sz="4000" spc="-10"/>
              <a:t> </a:t>
            </a:r>
            <a:r>
              <a:rPr dirty="0" sz="4000" spc="-20"/>
              <a:t>Hierarchical </a:t>
            </a:r>
            <a:r>
              <a:rPr dirty="0" sz="4000" spc="-890"/>
              <a:t> </a:t>
            </a:r>
            <a:r>
              <a:rPr dirty="0" sz="4000" spc="-5"/>
              <a:t>Analysis</a:t>
            </a:r>
            <a:r>
              <a:rPr dirty="0" sz="4000"/>
              <a:t> </a:t>
            </a:r>
            <a:r>
              <a:rPr dirty="0" sz="4000" spc="-15"/>
              <a:t>(Parsing):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371470" y="1902967"/>
            <a:ext cx="111125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5">
                <a:latin typeface="Calibri"/>
                <a:cs typeface="Calibri"/>
              </a:rPr>
              <a:t>sig</a:t>
            </a:r>
            <a:r>
              <a:rPr dirty="0" sz="1800">
                <a:latin typeface="Calibri"/>
                <a:cs typeface="Calibri"/>
              </a:rPr>
              <a:t>nment  </a:t>
            </a:r>
            <a:r>
              <a:rPr dirty="0" sz="1800" spc="-10">
                <a:latin typeface="Calibri"/>
                <a:cs typeface="Calibri"/>
              </a:rPr>
              <a:t>Statement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-5">
                <a:latin typeface="Calibri"/>
                <a:cs typeface="Calibri"/>
              </a:rPr>
              <a:t>:=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9825" y="2817367"/>
            <a:ext cx="88074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 marR="5080" indent="-5651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Ide</a:t>
            </a:r>
            <a:r>
              <a:rPr dirty="0" sz="1800" spc="-5">
                <a:latin typeface="Calibri"/>
                <a:cs typeface="Calibri"/>
              </a:rPr>
              <a:t>n</a:t>
            </a:r>
            <a:r>
              <a:rPr dirty="0" sz="1800">
                <a:latin typeface="Calibri"/>
                <a:cs typeface="Calibri"/>
              </a:rPr>
              <a:t>t</a:t>
            </a:r>
            <a:r>
              <a:rPr dirty="0" sz="1800" spc="-10">
                <a:latin typeface="Calibri"/>
                <a:cs typeface="Calibri"/>
              </a:rPr>
              <a:t>i</a:t>
            </a:r>
            <a:r>
              <a:rPr dirty="0" sz="1800" spc="-5">
                <a:latin typeface="Calibri"/>
                <a:cs typeface="Calibri"/>
              </a:rPr>
              <a:t>fier  </a:t>
            </a:r>
            <a:r>
              <a:rPr dirty="0" sz="1800" spc="-15">
                <a:latin typeface="Calibri"/>
                <a:cs typeface="Calibri"/>
              </a:rPr>
              <a:t>Position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3365" y="2817367"/>
            <a:ext cx="10191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Expression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7191" y="3457702"/>
            <a:ext cx="101917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Exp</a:t>
            </a:r>
            <a:r>
              <a:rPr dirty="0" sz="1800" spc="-30">
                <a:latin typeface="Calibri"/>
                <a:cs typeface="Calibri"/>
              </a:rPr>
              <a:t>r</a:t>
            </a:r>
            <a:r>
              <a:rPr dirty="0" sz="1800">
                <a:latin typeface="Calibri"/>
                <a:cs typeface="Calibri"/>
              </a:rPr>
              <a:t>e</a:t>
            </a:r>
            <a:r>
              <a:rPr dirty="0" sz="1800" spc="5">
                <a:latin typeface="Calibri"/>
                <a:cs typeface="Calibri"/>
              </a:rPr>
              <a:t>s</a:t>
            </a:r>
            <a:r>
              <a:rPr dirty="0" sz="1800" spc="-5">
                <a:latin typeface="Calibri"/>
                <a:cs typeface="Calibri"/>
              </a:rPr>
              <a:t>sion  </a:t>
            </a:r>
            <a:r>
              <a:rPr dirty="0" sz="1800" spc="-5">
                <a:latin typeface="Calibri"/>
                <a:cs typeface="Calibri"/>
              </a:rPr>
              <a:t>Identifier 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Initial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2365" y="3457702"/>
            <a:ext cx="993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Exp</a:t>
            </a:r>
            <a:r>
              <a:rPr dirty="0" sz="1800" spc="-30">
                <a:latin typeface="Calibri"/>
                <a:cs typeface="Calibri"/>
              </a:rPr>
              <a:t>r</a:t>
            </a:r>
            <a:r>
              <a:rPr dirty="0" sz="1800">
                <a:latin typeface="Calibri"/>
                <a:cs typeface="Calibri"/>
              </a:rPr>
              <a:t>e</a:t>
            </a:r>
            <a:r>
              <a:rPr dirty="0" sz="1800" spc="5">
                <a:latin typeface="Calibri"/>
                <a:cs typeface="Calibri"/>
              </a:rPr>
              <a:t>s</a:t>
            </a:r>
            <a:r>
              <a:rPr dirty="0" sz="1800" spc="-5">
                <a:latin typeface="Calibri"/>
                <a:cs typeface="Calibri"/>
              </a:rPr>
              <a:t>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1278" y="3732021"/>
            <a:ext cx="114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3365" y="4372102"/>
            <a:ext cx="101917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Exp</a:t>
            </a:r>
            <a:r>
              <a:rPr dirty="0" sz="1800" spc="-30">
                <a:latin typeface="Calibri"/>
                <a:cs typeface="Calibri"/>
              </a:rPr>
              <a:t>r</a:t>
            </a:r>
            <a:r>
              <a:rPr dirty="0" sz="1800">
                <a:latin typeface="Calibri"/>
                <a:cs typeface="Calibri"/>
              </a:rPr>
              <a:t>e</a:t>
            </a:r>
            <a:r>
              <a:rPr dirty="0" sz="1800" spc="5">
                <a:latin typeface="Calibri"/>
                <a:cs typeface="Calibri"/>
              </a:rPr>
              <a:t>s</a:t>
            </a:r>
            <a:r>
              <a:rPr dirty="0" sz="1800" spc="-5">
                <a:latin typeface="Calibri"/>
                <a:cs typeface="Calibri"/>
              </a:rPr>
              <a:t>sion  </a:t>
            </a:r>
            <a:r>
              <a:rPr dirty="0" sz="1800" spc="-5">
                <a:latin typeface="Calibri"/>
                <a:cs typeface="Calibri"/>
              </a:rPr>
              <a:t>Identifier 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Rate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5840" y="4372102"/>
            <a:ext cx="101917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Exp</a:t>
            </a:r>
            <a:r>
              <a:rPr dirty="0" sz="1800" spc="-30">
                <a:latin typeface="Calibri"/>
                <a:cs typeface="Calibri"/>
              </a:rPr>
              <a:t>r</a:t>
            </a:r>
            <a:r>
              <a:rPr dirty="0" sz="1800">
                <a:latin typeface="Calibri"/>
                <a:cs typeface="Calibri"/>
              </a:rPr>
              <a:t>e</a:t>
            </a:r>
            <a:r>
              <a:rPr dirty="0" sz="1800" spc="5">
                <a:latin typeface="Calibri"/>
                <a:cs typeface="Calibri"/>
              </a:rPr>
              <a:t>s</a:t>
            </a:r>
            <a:r>
              <a:rPr dirty="0" sz="1800" spc="-5">
                <a:latin typeface="Calibri"/>
                <a:cs typeface="Calibri"/>
              </a:rPr>
              <a:t>sion  </a:t>
            </a:r>
            <a:r>
              <a:rPr dirty="0" sz="1800" spc="-5">
                <a:latin typeface="Calibri"/>
                <a:cs typeface="Calibri"/>
              </a:rPr>
              <a:t>Number 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60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76400" y="2341879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533400"/>
                </a:moveTo>
                <a:lnTo>
                  <a:pt x="685800" y="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05200" y="2418079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45720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29000" y="3103879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>
                <a:moveTo>
                  <a:pt x="0" y="381000"/>
                </a:moveTo>
                <a:lnTo>
                  <a:pt x="533400" y="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05400" y="3103879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>
                <a:moveTo>
                  <a:pt x="0" y="0"/>
                </a:moveTo>
                <a:lnTo>
                  <a:pt x="533400" y="38100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81800" y="3713479"/>
            <a:ext cx="838200" cy="685800"/>
          </a:xfrm>
          <a:custGeom>
            <a:avLst/>
            <a:gdLst/>
            <a:ahLst/>
            <a:cxnLst/>
            <a:rect l="l" t="t" r="r" b="b"/>
            <a:pathLst>
              <a:path w="838200" h="685800">
                <a:moveTo>
                  <a:pt x="0" y="0"/>
                </a:moveTo>
                <a:lnTo>
                  <a:pt x="838200" y="68580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53000" y="3789679"/>
            <a:ext cx="762000" cy="533400"/>
          </a:xfrm>
          <a:custGeom>
            <a:avLst/>
            <a:gdLst/>
            <a:ahLst/>
            <a:cxnLst/>
            <a:rect l="l" t="t" r="r" b="b"/>
            <a:pathLst>
              <a:path w="762000" h="533400">
                <a:moveTo>
                  <a:pt x="0" y="533400"/>
                </a:moveTo>
                <a:lnTo>
                  <a:pt x="762000" y="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8264" y="191465"/>
            <a:ext cx="6433820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01750" marR="5080" indent="-1289685">
              <a:lnSpc>
                <a:spcPct val="100000"/>
              </a:lnSpc>
              <a:spcBef>
                <a:spcPts val="95"/>
              </a:spcBef>
            </a:pPr>
            <a:r>
              <a:rPr dirty="0" sz="4000" spc="-30"/>
              <a:t>Syntax</a:t>
            </a:r>
            <a:r>
              <a:rPr dirty="0" sz="4000" spc="-15"/>
              <a:t> </a:t>
            </a:r>
            <a:r>
              <a:rPr dirty="0" sz="4000" spc="-5"/>
              <a:t>Analysis</a:t>
            </a:r>
            <a:r>
              <a:rPr dirty="0" sz="4000" spc="10"/>
              <a:t> </a:t>
            </a:r>
            <a:r>
              <a:rPr dirty="0" sz="4000" spc="-5"/>
              <a:t>or</a:t>
            </a:r>
            <a:r>
              <a:rPr dirty="0" sz="4000" spc="-10"/>
              <a:t> </a:t>
            </a:r>
            <a:r>
              <a:rPr dirty="0" sz="4000" spc="-20"/>
              <a:t>Hierarchical </a:t>
            </a:r>
            <a:r>
              <a:rPr dirty="0" sz="4000" spc="-890"/>
              <a:t> </a:t>
            </a:r>
            <a:r>
              <a:rPr dirty="0" sz="4000" spc="-5"/>
              <a:t>Analysis</a:t>
            </a:r>
            <a:r>
              <a:rPr dirty="0" sz="4000"/>
              <a:t> </a:t>
            </a:r>
            <a:r>
              <a:rPr dirty="0" sz="4000" spc="-15"/>
              <a:t>(Parsing):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40265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In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expression </a:t>
            </a:r>
            <a:r>
              <a:rPr dirty="0" sz="3200" spc="-5" b="1">
                <a:latin typeface="Calibri"/>
                <a:cs typeface="Calibri"/>
              </a:rPr>
              <a:t>initial </a:t>
            </a:r>
            <a:r>
              <a:rPr dirty="0" sz="3200" b="1">
                <a:latin typeface="Calibri"/>
                <a:cs typeface="Calibri"/>
              </a:rPr>
              <a:t>+ </a:t>
            </a:r>
            <a:r>
              <a:rPr dirty="0" sz="3200" spc="-35" b="1">
                <a:latin typeface="Calibri"/>
                <a:cs typeface="Calibri"/>
              </a:rPr>
              <a:t>rate </a:t>
            </a:r>
            <a:r>
              <a:rPr dirty="0" sz="3200" b="1">
                <a:latin typeface="Calibri"/>
                <a:cs typeface="Calibri"/>
              </a:rPr>
              <a:t>* </a:t>
            </a:r>
            <a:r>
              <a:rPr dirty="0" sz="3200" spc="-5" b="1">
                <a:latin typeface="Calibri"/>
                <a:cs typeface="Calibri"/>
              </a:rPr>
              <a:t>60</a:t>
            </a:r>
            <a:r>
              <a:rPr dirty="0" sz="3200" spc="-5">
                <a:latin typeface="Calibri"/>
                <a:cs typeface="Calibri"/>
              </a:rPr>
              <a:t>,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phrase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rate </a:t>
            </a:r>
            <a:r>
              <a:rPr dirty="0" sz="3200">
                <a:latin typeface="Calibri"/>
                <a:cs typeface="Calibri"/>
              </a:rPr>
              <a:t>* </a:t>
            </a:r>
            <a:r>
              <a:rPr dirty="0" sz="3200" spc="5">
                <a:latin typeface="Calibri"/>
                <a:cs typeface="Calibri"/>
              </a:rPr>
              <a:t>60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5">
                <a:latin typeface="Calibri"/>
                <a:cs typeface="Calibri"/>
              </a:rPr>
              <a:t>logical </a:t>
            </a:r>
            <a:r>
              <a:rPr dirty="0" sz="3200">
                <a:latin typeface="Calibri"/>
                <a:cs typeface="Calibri"/>
              </a:rPr>
              <a:t>unit </a:t>
            </a:r>
            <a:r>
              <a:rPr dirty="0" sz="3200" spc="-5">
                <a:latin typeface="Calibri"/>
                <a:cs typeface="Calibri"/>
              </a:rPr>
              <a:t>because </a:t>
            </a:r>
            <a:r>
              <a:rPr dirty="0" sz="3200">
                <a:latin typeface="Calibri"/>
                <a:cs typeface="Calibri"/>
              </a:rPr>
              <a:t>the usual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conventions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5">
                <a:latin typeface="Calibri"/>
                <a:cs typeface="Calibri"/>
              </a:rPr>
              <a:t>arithmetic </a:t>
            </a:r>
            <a:r>
              <a:rPr dirty="0" sz="3200" spc="-15">
                <a:latin typeface="Calibri"/>
                <a:cs typeface="Calibri"/>
              </a:rPr>
              <a:t>expressions </a:t>
            </a:r>
            <a:r>
              <a:rPr dirty="0" sz="3200" spc="-10">
                <a:latin typeface="Calibri"/>
                <a:cs typeface="Calibri"/>
              </a:rPr>
              <a:t>tell </a:t>
            </a:r>
            <a:r>
              <a:rPr dirty="0" sz="3200" spc="-5">
                <a:latin typeface="Calibri"/>
                <a:cs typeface="Calibri"/>
              </a:rPr>
              <a:t>us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that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multiplication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performed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before 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addition.</a:t>
            </a:r>
            <a:endParaRPr sz="32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Because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expression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initial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+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 spc="-35" b="1">
                <a:latin typeface="Calibri"/>
                <a:cs typeface="Calibri"/>
              </a:rPr>
              <a:t>rate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followed </a:t>
            </a:r>
            <a:r>
              <a:rPr dirty="0" sz="3200" spc="-10">
                <a:latin typeface="Calibri"/>
                <a:cs typeface="Calibri"/>
              </a:rPr>
              <a:t>by </a:t>
            </a:r>
            <a:r>
              <a:rPr dirty="0" sz="3200">
                <a:latin typeface="Calibri"/>
                <a:cs typeface="Calibri"/>
              </a:rPr>
              <a:t>a *, it </a:t>
            </a:r>
            <a:r>
              <a:rPr dirty="0" sz="3200" spc="-5">
                <a:latin typeface="Calibri"/>
                <a:cs typeface="Calibri"/>
              </a:rPr>
              <a:t>is not </a:t>
            </a:r>
            <a:r>
              <a:rPr dirty="0" sz="3200" spc="-10">
                <a:latin typeface="Calibri"/>
                <a:cs typeface="Calibri"/>
              </a:rPr>
              <a:t>grouped </a:t>
            </a:r>
            <a:r>
              <a:rPr dirty="0" sz="3200" spc="-15">
                <a:latin typeface="Calibri"/>
                <a:cs typeface="Calibri"/>
              </a:rPr>
              <a:t>into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single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phrase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itself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8264" y="191465"/>
            <a:ext cx="6433820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01750" marR="5080" indent="-1289685">
              <a:lnSpc>
                <a:spcPct val="100000"/>
              </a:lnSpc>
              <a:spcBef>
                <a:spcPts val="95"/>
              </a:spcBef>
            </a:pPr>
            <a:r>
              <a:rPr dirty="0" sz="4000" spc="-30"/>
              <a:t>Syntax</a:t>
            </a:r>
            <a:r>
              <a:rPr dirty="0" sz="4000" spc="-15"/>
              <a:t> </a:t>
            </a:r>
            <a:r>
              <a:rPr dirty="0" sz="4000" spc="-5"/>
              <a:t>Analysis</a:t>
            </a:r>
            <a:r>
              <a:rPr dirty="0" sz="4000" spc="10"/>
              <a:t> </a:t>
            </a:r>
            <a:r>
              <a:rPr dirty="0" sz="4000" spc="-5"/>
              <a:t>or</a:t>
            </a:r>
            <a:r>
              <a:rPr dirty="0" sz="4000" spc="-10"/>
              <a:t> </a:t>
            </a:r>
            <a:r>
              <a:rPr dirty="0" sz="4000" spc="-20"/>
              <a:t>Hierarchical </a:t>
            </a:r>
            <a:r>
              <a:rPr dirty="0" sz="4000" spc="-890"/>
              <a:t> </a:t>
            </a:r>
            <a:r>
              <a:rPr dirty="0" sz="4000" spc="-5"/>
              <a:t>Analysis</a:t>
            </a:r>
            <a:r>
              <a:rPr dirty="0" sz="4000"/>
              <a:t> </a:t>
            </a:r>
            <a:r>
              <a:rPr dirty="0" sz="4000" spc="-15"/>
              <a:t>(Parsing):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2755" cy="2660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214755" algn="l"/>
                <a:tab pos="3371850" algn="l"/>
                <a:tab pos="5123180" algn="l"/>
                <a:tab pos="5706745" algn="l"/>
                <a:tab pos="6148705" algn="l"/>
                <a:tab pos="7804150" algn="l"/>
              </a:tabLst>
            </a:pPr>
            <a:r>
              <a:rPr dirty="0" sz="3200" spc="-5">
                <a:latin typeface="Calibri"/>
                <a:cs typeface="Calibri"/>
              </a:rPr>
              <a:t>Th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hie</a:t>
            </a:r>
            <a:r>
              <a:rPr dirty="0" sz="3200" spc="-7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5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chi</a:t>
            </a:r>
            <a:r>
              <a:rPr dirty="0" sz="3200" spc="-35">
                <a:latin typeface="Calibri"/>
                <a:cs typeface="Calibri"/>
              </a:rPr>
              <a:t>c</a:t>
            </a:r>
            <a:r>
              <a:rPr dirty="0" sz="3200">
                <a:latin typeface="Calibri"/>
                <a:cs typeface="Calibri"/>
              </a:rPr>
              <a:t>al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5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tr</a:t>
            </a:r>
            <a:r>
              <a:rPr dirty="0" sz="3200" spc="-15">
                <a:latin typeface="Calibri"/>
                <a:cs typeface="Calibri"/>
              </a:rPr>
              <a:t>u</a:t>
            </a:r>
            <a:r>
              <a:rPr dirty="0" sz="3200">
                <a:latin typeface="Calibri"/>
                <a:cs typeface="Calibri"/>
              </a:rPr>
              <a:t>ctu</a:t>
            </a:r>
            <a:r>
              <a:rPr dirty="0" sz="3200" spc="-3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p</a:t>
            </a:r>
            <a:r>
              <a:rPr dirty="0" sz="3200" spc="-45">
                <a:latin typeface="Calibri"/>
                <a:cs typeface="Calibri"/>
              </a:rPr>
              <a:t>r</a:t>
            </a:r>
            <a:r>
              <a:rPr dirty="0" sz="3200" spc="-5">
                <a:latin typeface="Calibri"/>
                <a:cs typeface="Calibri"/>
              </a:rPr>
              <a:t>og</a:t>
            </a:r>
            <a:r>
              <a:rPr dirty="0" sz="3200" spc="-7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am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5">
                <a:latin typeface="Calibri"/>
                <a:cs typeface="Calibri"/>
              </a:rPr>
              <a:t>is  </a:t>
            </a:r>
            <a:r>
              <a:rPr dirty="0" sz="3200" spc="-5">
                <a:latin typeface="Calibri"/>
                <a:cs typeface="Calibri"/>
              </a:rPr>
              <a:t>usually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expressed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recursive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rules.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marL="355600" marR="8255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  <a:tab pos="1120775" algn="l"/>
                <a:tab pos="2844800" algn="l"/>
                <a:tab pos="3561079" algn="l"/>
                <a:tab pos="4745355" algn="l"/>
                <a:tab pos="5756910" algn="l"/>
                <a:tab pos="6537325" algn="l"/>
              </a:tabLst>
            </a:pPr>
            <a:r>
              <a:rPr dirty="0" sz="3200" spc="-50">
                <a:latin typeface="Calibri"/>
                <a:cs typeface="Calibri"/>
              </a:rPr>
              <a:t>F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0">
                <a:latin typeface="Calibri"/>
                <a:cs typeface="Calibri"/>
              </a:rPr>
              <a:t>e</a:t>
            </a:r>
            <a:r>
              <a:rPr dirty="0" sz="3200" spc="-60">
                <a:latin typeface="Calibri"/>
                <a:cs typeface="Calibri"/>
              </a:rPr>
              <a:t>x</a:t>
            </a:r>
            <a:r>
              <a:rPr dirty="0" sz="3200" spc="-15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mple,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0">
                <a:latin typeface="Calibri"/>
                <a:cs typeface="Calibri"/>
              </a:rPr>
              <a:t>w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5">
                <a:latin typeface="Calibri"/>
                <a:cs typeface="Calibri"/>
              </a:rPr>
              <a:t>m</a:t>
            </a:r>
            <a:r>
              <a:rPr dirty="0" sz="3200" spc="-15">
                <a:latin typeface="Calibri"/>
                <a:cs typeface="Calibri"/>
              </a:rPr>
              <a:t>i</a:t>
            </a:r>
            <a:r>
              <a:rPr dirty="0" sz="3200">
                <a:latin typeface="Calibri"/>
                <a:cs typeface="Calibri"/>
              </a:rPr>
              <a:t>g</a:t>
            </a:r>
            <a:r>
              <a:rPr dirty="0" sz="3200" spc="-25">
                <a:latin typeface="Calibri"/>
                <a:cs typeface="Calibri"/>
              </a:rPr>
              <a:t>h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h</a:t>
            </a:r>
            <a:r>
              <a:rPr dirty="0" sz="3200" spc="-55">
                <a:latin typeface="Calibri"/>
                <a:cs typeface="Calibri"/>
              </a:rPr>
              <a:t>a</a:t>
            </a:r>
            <a:r>
              <a:rPr dirty="0" sz="3200" spc="-35">
                <a:latin typeface="Calibri"/>
                <a:cs typeface="Calibri"/>
              </a:rPr>
              <a:t>v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80">
                <a:latin typeface="Calibri"/>
                <a:cs typeface="Calibri"/>
              </a:rPr>
              <a:t>f</a:t>
            </a:r>
            <a:r>
              <a:rPr dirty="0" sz="3200" spc="-5">
                <a:latin typeface="Calibri"/>
                <a:cs typeface="Calibri"/>
              </a:rPr>
              <a:t>ollow</a:t>
            </a:r>
            <a:r>
              <a:rPr dirty="0" sz="3200" spc="-15">
                <a:latin typeface="Calibri"/>
                <a:cs typeface="Calibri"/>
              </a:rPr>
              <a:t>i</a:t>
            </a:r>
            <a:r>
              <a:rPr dirty="0" sz="3200" spc="-5">
                <a:latin typeface="Calibri"/>
                <a:cs typeface="Calibri"/>
              </a:rPr>
              <a:t>ng  </a:t>
            </a:r>
            <a:r>
              <a:rPr dirty="0" sz="3200" spc="-5">
                <a:latin typeface="Calibri"/>
                <a:cs typeface="Calibri"/>
              </a:rPr>
              <a:t>rules,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 </a:t>
            </a:r>
            <a:r>
              <a:rPr dirty="0" sz="3200" spc="-5">
                <a:latin typeface="Calibri"/>
                <a:cs typeface="Calibri"/>
              </a:rPr>
              <a:t>part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definition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expression: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8264" y="191465"/>
            <a:ext cx="6433820" cy="12452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01750" marR="5080" indent="-1289685">
              <a:lnSpc>
                <a:spcPct val="100000"/>
              </a:lnSpc>
              <a:spcBef>
                <a:spcPts val="95"/>
              </a:spcBef>
            </a:pPr>
            <a:r>
              <a:rPr dirty="0" sz="4000" spc="-30"/>
              <a:t>Syntax</a:t>
            </a:r>
            <a:r>
              <a:rPr dirty="0" sz="4000" spc="-15"/>
              <a:t> </a:t>
            </a:r>
            <a:r>
              <a:rPr dirty="0" sz="4000" spc="-5"/>
              <a:t>Analysis</a:t>
            </a:r>
            <a:r>
              <a:rPr dirty="0" sz="4000" spc="10"/>
              <a:t> </a:t>
            </a:r>
            <a:r>
              <a:rPr dirty="0" sz="4000" spc="-5"/>
              <a:t>or</a:t>
            </a:r>
            <a:r>
              <a:rPr dirty="0" sz="4000" spc="-10"/>
              <a:t> </a:t>
            </a:r>
            <a:r>
              <a:rPr dirty="0" sz="4000" spc="-20"/>
              <a:t>Hierarchical </a:t>
            </a:r>
            <a:r>
              <a:rPr dirty="0" sz="4000" spc="-890"/>
              <a:t> </a:t>
            </a:r>
            <a:r>
              <a:rPr dirty="0" sz="4000" spc="-5"/>
              <a:t>Analysis</a:t>
            </a:r>
            <a:r>
              <a:rPr dirty="0" sz="4000"/>
              <a:t> </a:t>
            </a:r>
            <a:r>
              <a:rPr dirty="0" sz="4000" spc="-15"/>
              <a:t>(Parsing):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23240" y="1510635"/>
            <a:ext cx="8064500" cy="380746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dirty="0" sz="3200" spc="-25">
                <a:latin typeface="Calibri"/>
                <a:cs typeface="Calibri"/>
              </a:rPr>
              <a:t>Any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identifier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expression.</a:t>
            </a:r>
            <a:endParaRPr sz="320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dirty="0" sz="3200" spc="-20">
                <a:latin typeface="Calibri"/>
                <a:cs typeface="Calibri"/>
              </a:rPr>
              <a:t>Any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number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 </a:t>
            </a:r>
            <a:r>
              <a:rPr dirty="0" sz="3200" spc="-10">
                <a:latin typeface="Calibri"/>
                <a:cs typeface="Calibri"/>
              </a:rPr>
              <a:t>expression</a:t>
            </a:r>
            <a:endParaRPr sz="3200">
              <a:latin typeface="Calibri"/>
              <a:cs typeface="Calibri"/>
            </a:endParaRPr>
          </a:p>
          <a:p>
            <a:pPr marL="368300" marR="177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dirty="0" sz="3200">
                <a:latin typeface="Calibri"/>
                <a:cs typeface="Calibri"/>
              </a:rPr>
              <a:t>If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expression</a:t>
            </a:r>
            <a:r>
              <a:rPr dirty="0" baseline="-21164" sz="3150" spc="-15">
                <a:latin typeface="Calibri"/>
                <a:cs typeface="Calibri"/>
              </a:rPr>
              <a:t>1</a:t>
            </a:r>
            <a:r>
              <a:rPr dirty="0" baseline="-21164" sz="3150" spc="359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expression</a:t>
            </a:r>
            <a:r>
              <a:rPr dirty="0" baseline="-21164" sz="3150" spc="-15">
                <a:latin typeface="Calibri"/>
                <a:cs typeface="Calibri"/>
              </a:rPr>
              <a:t>2</a:t>
            </a:r>
            <a:r>
              <a:rPr dirty="0" baseline="-21164" sz="3150" spc="352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expressions,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then</a:t>
            </a:r>
            <a:r>
              <a:rPr dirty="0" sz="3200" spc="-5">
                <a:latin typeface="Calibri"/>
                <a:cs typeface="Calibri"/>
              </a:rPr>
              <a:t> so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endParaRPr sz="3200">
              <a:latin typeface="Calibri"/>
              <a:cs typeface="Calibri"/>
            </a:endParaRPr>
          </a:p>
          <a:p>
            <a:pPr lvl="1" marL="768985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69620" algn="l"/>
              </a:tabLst>
            </a:pPr>
            <a:r>
              <a:rPr dirty="0" sz="2800" spc="-10">
                <a:latin typeface="Calibri"/>
                <a:cs typeface="Calibri"/>
              </a:rPr>
              <a:t>Expression</a:t>
            </a:r>
            <a:r>
              <a:rPr dirty="0" baseline="-21021" sz="2775" spc="-15">
                <a:latin typeface="Calibri"/>
                <a:cs typeface="Calibri"/>
              </a:rPr>
              <a:t>1</a:t>
            </a:r>
            <a:r>
              <a:rPr dirty="0" baseline="-21021" sz="2775" spc="3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+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expression</a:t>
            </a:r>
            <a:r>
              <a:rPr dirty="0" baseline="-21021" sz="2775" spc="-22">
                <a:latin typeface="Calibri"/>
                <a:cs typeface="Calibri"/>
              </a:rPr>
              <a:t>2</a:t>
            </a:r>
            <a:endParaRPr baseline="-21021" sz="2775">
              <a:latin typeface="Calibri"/>
              <a:cs typeface="Calibri"/>
            </a:endParaRPr>
          </a:p>
          <a:p>
            <a:pPr lvl="1" marL="7689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69620" algn="l"/>
              </a:tabLst>
            </a:pPr>
            <a:r>
              <a:rPr dirty="0" sz="2800" spc="-10">
                <a:latin typeface="Calibri"/>
                <a:cs typeface="Calibri"/>
              </a:rPr>
              <a:t>Expression</a:t>
            </a:r>
            <a:r>
              <a:rPr dirty="0" baseline="-21021" sz="2775" spc="-15">
                <a:latin typeface="Calibri"/>
                <a:cs typeface="Calibri"/>
              </a:rPr>
              <a:t>1</a:t>
            </a:r>
            <a:r>
              <a:rPr dirty="0" baseline="-21021" sz="2775" spc="3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*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expression</a:t>
            </a:r>
            <a:r>
              <a:rPr dirty="0" baseline="-21021" sz="2775" spc="-22">
                <a:latin typeface="Calibri"/>
                <a:cs typeface="Calibri"/>
              </a:rPr>
              <a:t>2</a:t>
            </a:r>
            <a:endParaRPr baseline="-21021" sz="2775">
              <a:latin typeface="Calibri"/>
              <a:cs typeface="Calibri"/>
            </a:endParaRPr>
          </a:p>
          <a:p>
            <a:pPr lvl="1" marL="7689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69620" algn="l"/>
              </a:tabLst>
            </a:pPr>
            <a:r>
              <a:rPr dirty="0" sz="2800" spc="-10">
                <a:latin typeface="Calibri"/>
                <a:cs typeface="Calibri"/>
              </a:rPr>
              <a:t>(Expression</a:t>
            </a:r>
            <a:r>
              <a:rPr dirty="0" baseline="-21021" sz="2775" spc="-15">
                <a:latin typeface="Calibri"/>
                <a:cs typeface="Calibri"/>
              </a:rPr>
              <a:t>1</a:t>
            </a:r>
            <a:r>
              <a:rPr dirty="0" baseline="-21021" sz="27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850" y="461594"/>
            <a:ext cx="738124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Analysis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15"/>
              <a:t>Source</a:t>
            </a:r>
            <a:r>
              <a:rPr dirty="0" spc="-5"/>
              <a:t> </a:t>
            </a:r>
            <a:r>
              <a:rPr dirty="0" spc="-20"/>
              <a:t>Program: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5295" cy="2393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 b="1">
                <a:latin typeface="Calibri"/>
                <a:cs typeface="Calibri"/>
              </a:rPr>
              <a:t>Semantic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Analysis</a:t>
            </a:r>
            <a:r>
              <a:rPr dirty="0" sz="320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</a:pPr>
            <a:r>
              <a:rPr dirty="0" sz="2800" spc="-5">
                <a:latin typeface="Arial MT"/>
                <a:cs typeface="Arial MT"/>
              </a:rPr>
              <a:t>– </a:t>
            </a:r>
            <a:r>
              <a:rPr dirty="0" sz="2800" spc="-5">
                <a:latin typeface="Calibri"/>
                <a:cs typeface="Calibri"/>
              </a:rPr>
              <a:t>In which </a:t>
            </a:r>
            <a:r>
              <a:rPr dirty="0" sz="2800" spc="-10">
                <a:latin typeface="Calibri"/>
                <a:cs typeface="Calibri"/>
              </a:rPr>
              <a:t>certain checks </a:t>
            </a:r>
            <a:r>
              <a:rPr dirty="0" sz="2800" spc="-20">
                <a:latin typeface="Calibri"/>
                <a:cs typeface="Calibri"/>
              </a:rPr>
              <a:t>are </a:t>
            </a:r>
            <a:r>
              <a:rPr dirty="0" sz="2800" spc="-15">
                <a:latin typeface="Calibri"/>
                <a:cs typeface="Calibri"/>
              </a:rPr>
              <a:t>performed </a:t>
            </a:r>
            <a:r>
              <a:rPr dirty="0" sz="2800" spc="-10">
                <a:latin typeface="Calibri"/>
                <a:cs typeface="Calibri"/>
              </a:rPr>
              <a:t>to ensure 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that</a:t>
            </a:r>
            <a:r>
              <a:rPr dirty="0" sz="2800" spc="-5">
                <a:latin typeface="Calibri"/>
                <a:cs typeface="Calibri"/>
              </a:rPr>
              <a:t> 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components</a:t>
            </a:r>
            <a:r>
              <a:rPr dirty="0" sz="2800" spc="-5">
                <a:latin typeface="Calibri"/>
                <a:cs typeface="Calibri"/>
              </a:rPr>
              <a:t> 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program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fit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together 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meaningfully.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776" y="461594"/>
            <a:ext cx="43307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Semantic</a:t>
            </a:r>
            <a:r>
              <a:rPr dirty="0" spc="-75"/>
              <a:t> </a:t>
            </a:r>
            <a:r>
              <a:rPr dirty="0" spc="-10"/>
              <a:t>Analysis</a:t>
            </a:r>
            <a:r>
              <a:rPr dirty="0" spc="-10" b="0">
                <a:latin typeface="Calibri"/>
                <a:cs typeface="Calibri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4659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semantic </a:t>
            </a:r>
            <a:r>
              <a:rPr dirty="0" sz="3200" spc="-5">
                <a:latin typeface="Calibri"/>
                <a:cs typeface="Calibri"/>
              </a:rPr>
              <a:t>analysis </a:t>
            </a:r>
            <a:r>
              <a:rPr dirty="0" sz="3200">
                <a:latin typeface="Calibri"/>
                <a:cs typeface="Calibri"/>
              </a:rPr>
              <a:t>phase </a:t>
            </a:r>
            <a:r>
              <a:rPr dirty="0" sz="3200" spc="-5">
                <a:latin typeface="Calibri"/>
                <a:cs typeface="Calibri"/>
              </a:rPr>
              <a:t>checks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source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program </a:t>
            </a:r>
            <a:r>
              <a:rPr dirty="0" sz="3200" spc="-30">
                <a:latin typeface="Calibri"/>
                <a:cs typeface="Calibri"/>
              </a:rPr>
              <a:t>for </a:t>
            </a:r>
            <a:r>
              <a:rPr dirty="0" sz="3200" spc="-10">
                <a:latin typeface="Calibri"/>
                <a:cs typeface="Calibri"/>
              </a:rPr>
              <a:t>semantic </a:t>
            </a:r>
            <a:r>
              <a:rPr dirty="0" sz="3200" spc="-20">
                <a:latin typeface="Calibri"/>
                <a:cs typeface="Calibri"/>
              </a:rPr>
              <a:t>errors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20">
                <a:latin typeface="Calibri"/>
                <a:cs typeface="Calibri"/>
              </a:rPr>
              <a:t>gathers </a:t>
            </a:r>
            <a:r>
              <a:rPr dirty="0" sz="3200">
                <a:latin typeface="Calibri"/>
                <a:cs typeface="Calibri"/>
              </a:rPr>
              <a:t>type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information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for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subsequent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code-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generation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phase.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776" y="461594"/>
            <a:ext cx="43307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Semantic</a:t>
            </a:r>
            <a:r>
              <a:rPr dirty="0" spc="-75"/>
              <a:t> </a:t>
            </a:r>
            <a:r>
              <a:rPr dirty="0" spc="-10"/>
              <a:t>Analysis</a:t>
            </a:r>
            <a:r>
              <a:rPr dirty="0" spc="-10" b="0">
                <a:latin typeface="Calibri"/>
                <a:cs typeface="Calibri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3390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It uses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hierarchical </a:t>
            </a:r>
            <a:r>
              <a:rPr dirty="0" sz="3200" spc="-10">
                <a:latin typeface="Calibri"/>
                <a:cs typeface="Calibri"/>
              </a:rPr>
              <a:t>structure determined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syntax-analysis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phase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identify</a:t>
            </a:r>
            <a:r>
              <a:rPr dirty="0" sz="3200">
                <a:latin typeface="Calibri"/>
                <a:cs typeface="Calibri"/>
              </a:rPr>
              <a:t> the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operators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operand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expressions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statements.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776" y="461594"/>
            <a:ext cx="43307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Semantic</a:t>
            </a:r>
            <a:r>
              <a:rPr dirty="0" spc="-75"/>
              <a:t> </a:t>
            </a:r>
            <a:r>
              <a:rPr dirty="0" spc="-10"/>
              <a:t>Analysis</a:t>
            </a:r>
            <a:r>
              <a:rPr dirty="0" spc="-10" b="0">
                <a:latin typeface="Calibri"/>
                <a:cs typeface="Calibri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2755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698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An </a:t>
            </a:r>
            <a:r>
              <a:rPr dirty="0" sz="3200" spc="-10">
                <a:latin typeface="Calibri"/>
                <a:cs typeface="Calibri"/>
              </a:rPr>
              <a:t>important component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5">
                <a:latin typeface="Calibri"/>
                <a:cs typeface="Calibri"/>
              </a:rPr>
              <a:t>semantic analysis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type checking.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15">
                <a:latin typeface="Calibri"/>
                <a:cs typeface="Calibri"/>
              </a:rPr>
              <a:t>Here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are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compiler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checks</a:t>
            </a:r>
            <a:r>
              <a:rPr dirty="0" sz="3200" spc="-5">
                <a:latin typeface="Calibri"/>
                <a:cs typeface="Calibri"/>
              </a:rPr>
              <a:t> that</a:t>
            </a:r>
            <a:r>
              <a:rPr dirty="0" sz="3200">
                <a:latin typeface="Calibri"/>
                <a:cs typeface="Calibri"/>
              </a:rPr>
              <a:t> each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operator </a:t>
            </a:r>
            <a:r>
              <a:rPr dirty="0" sz="3200" spc="-5">
                <a:latin typeface="Calibri"/>
                <a:cs typeface="Calibri"/>
              </a:rPr>
              <a:t>has </a:t>
            </a:r>
            <a:r>
              <a:rPr dirty="0" sz="3200" spc="-10">
                <a:latin typeface="Calibri"/>
                <a:cs typeface="Calibri"/>
              </a:rPr>
              <a:t>operands </a:t>
            </a:r>
            <a:r>
              <a:rPr dirty="0" sz="3200" spc="-5">
                <a:latin typeface="Calibri"/>
                <a:cs typeface="Calibri"/>
              </a:rPr>
              <a:t>that </a:t>
            </a:r>
            <a:r>
              <a:rPr dirty="0" sz="3200" spc="-15">
                <a:latin typeface="Calibri"/>
                <a:cs typeface="Calibri"/>
              </a:rPr>
              <a:t>are permitted </a:t>
            </a:r>
            <a:r>
              <a:rPr dirty="0" sz="3200" spc="-5">
                <a:latin typeface="Calibri"/>
                <a:cs typeface="Calibri"/>
              </a:rPr>
              <a:t>by 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source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language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specification.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776" y="461594"/>
            <a:ext cx="43307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Semantic</a:t>
            </a:r>
            <a:r>
              <a:rPr dirty="0" spc="-75"/>
              <a:t> </a:t>
            </a:r>
            <a:r>
              <a:rPr dirty="0" spc="-10"/>
              <a:t>Analysis</a:t>
            </a:r>
            <a:r>
              <a:rPr dirty="0" spc="-10" b="0">
                <a:latin typeface="Calibri"/>
                <a:cs typeface="Calibri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27628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252855" algn="l"/>
              </a:tabLst>
            </a:pPr>
            <a:r>
              <a:rPr dirty="0" sz="3200" spc="-50">
                <a:latin typeface="Calibri"/>
                <a:cs typeface="Calibri"/>
              </a:rPr>
              <a:t>F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0">
                <a:latin typeface="Calibri"/>
                <a:cs typeface="Calibri"/>
              </a:rPr>
              <a:t>e</a:t>
            </a:r>
            <a:r>
              <a:rPr dirty="0" sz="3200" spc="-60">
                <a:latin typeface="Calibri"/>
                <a:cs typeface="Calibri"/>
              </a:rPr>
              <a:t>x</a:t>
            </a:r>
            <a:r>
              <a:rPr dirty="0" sz="3200" spc="-15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mple,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33342" y="2192858"/>
            <a:ext cx="49752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92225" algn="l"/>
                <a:tab pos="1849120" algn="l"/>
                <a:tab pos="3254375" algn="l"/>
              </a:tabLst>
            </a:pPr>
            <a:r>
              <a:rPr dirty="0" sz="3200">
                <a:latin typeface="Calibri"/>
                <a:cs typeface="Calibri"/>
              </a:rPr>
              <a:t>when	a	</a:t>
            </a:r>
            <a:r>
              <a:rPr dirty="0" sz="3200" spc="-5">
                <a:latin typeface="Calibri"/>
                <a:cs typeface="Calibri"/>
              </a:rPr>
              <a:t>binary	arithmetic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2680843"/>
            <a:ext cx="7729220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spc="-20">
                <a:latin typeface="Calibri"/>
                <a:cs typeface="Calibri"/>
              </a:rPr>
              <a:t>operator </a:t>
            </a:r>
            <a:r>
              <a:rPr dirty="0" sz="3200" spc="-5">
                <a:latin typeface="Calibri"/>
                <a:cs typeface="Calibri"/>
              </a:rPr>
              <a:t>is </a:t>
            </a:r>
            <a:r>
              <a:rPr dirty="0" sz="3200">
                <a:latin typeface="Calibri"/>
                <a:cs typeface="Calibri"/>
              </a:rPr>
              <a:t>applied </a:t>
            </a:r>
            <a:r>
              <a:rPr dirty="0" sz="3200" spc="-2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an </a:t>
            </a:r>
            <a:r>
              <a:rPr dirty="0" sz="3200" spc="-15">
                <a:latin typeface="Calibri"/>
                <a:cs typeface="Calibri"/>
              </a:rPr>
              <a:t>integer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10">
                <a:latin typeface="Calibri"/>
                <a:cs typeface="Calibri"/>
              </a:rPr>
              <a:t>real. </a:t>
            </a:r>
            <a:r>
              <a:rPr dirty="0" sz="3200" spc="-5">
                <a:latin typeface="Calibri"/>
                <a:cs typeface="Calibri"/>
              </a:rPr>
              <a:t>In </a:t>
            </a:r>
            <a:r>
              <a:rPr dirty="0" sz="3200">
                <a:latin typeface="Calibri"/>
                <a:cs typeface="Calibri"/>
              </a:rPr>
              <a:t> this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case,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compiler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may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need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be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converting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integer </a:t>
            </a:r>
            <a:r>
              <a:rPr dirty="0" sz="3200" spc="-20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latin typeface="Calibri"/>
                <a:cs typeface="Calibri"/>
              </a:rPr>
              <a:t>real. </a:t>
            </a:r>
            <a:r>
              <a:rPr dirty="0" sz="3200">
                <a:latin typeface="Calibri"/>
                <a:cs typeface="Calibri"/>
              </a:rPr>
              <a:t>As </a:t>
            </a:r>
            <a:r>
              <a:rPr dirty="0" sz="3200" spc="-5">
                <a:latin typeface="Calibri"/>
                <a:cs typeface="Calibri"/>
              </a:rPr>
              <a:t>shown </a:t>
            </a:r>
            <a:r>
              <a:rPr dirty="0" sz="3200" spc="5">
                <a:latin typeface="Calibri"/>
                <a:cs typeface="Calibri"/>
              </a:rPr>
              <a:t>in 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figure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given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below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776" y="461594"/>
            <a:ext cx="43307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Semantic</a:t>
            </a:r>
            <a:r>
              <a:rPr dirty="0" spc="-75"/>
              <a:t> </a:t>
            </a:r>
            <a:r>
              <a:rPr dirty="0" spc="-10"/>
              <a:t>Analysis</a:t>
            </a:r>
            <a:r>
              <a:rPr dirty="0" spc="-10" b="0">
                <a:latin typeface="Calibri"/>
                <a:cs typeface="Calibri"/>
              </a:rPr>
              <a:t>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6836" y="2427594"/>
            <a:ext cx="3948299" cy="31161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/>
              <a:t>A</a:t>
            </a:r>
            <a:r>
              <a:rPr dirty="0" spc="-15"/>
              <a:t> </a:t>
            </a:r>
            <a:r>
              <a:rPr dirty="0" spc="-10"/>
              <a:t>compiler</a:t>
            </a:r>
            <a:r>
              <a:rPr dirty="0" spc="-5"/>
              <a:t> </a:t>
            </a:r>
            <a:r>
              <a:rPr dirty="0" spc="-20"/>
              <a:t>operates </a:t>
            </a:r>
            <a:r>
              <a:rPr dirty="0" spc="-5"/>
              <a:t>in</a:t>
            </a:r>
            <a:r>
              <a:rPr dirty="0" spc="15"/>
              <a:t> </a:t>
            </a:r>
            <a:r>
              <a:rPr dirty="0" spc="-5"/>
              <a:t>phases.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/>
          </a:p>
          <a:p>
            <a:pPr marL="355600" marR="762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pc="-15"/>
              <a:t>Each</a:t>
            </a:r>
            <a:r>
              <a:rPr dirty="0" spc="265"/>
              <a:t> </a:t>
            </a:r>
            <a:r>
              <a:rPr dirty="0"/>
              <a:t>of</a:t>
            </a:r>
            <a:r>
              <a:rPr dirty="0" spc="265"/>
              <a:t> </a:t>
            </a:r>
            <a:r>
              <a:rPr dirty="0"/>
              <a:t>which</a:t>
            </a:r>
            <a:r>
              <a:rPr dirty="0" spc="275"/>
              <a:t> </a:t>
            </a:r>
            <a:r>
              <a:rPr dirty="0" spc="-20"/>
              <a:t>transforms</a:t>
            </a:r>
            <a:r>
              <a:rPr dirty="0" spc="280"/>
              <a:t> </a:t>
            </a:r>
            <a:r>
              <a:rPr dirty="0"/>
              <a:t>the</a:t>
            </a:r>
            <a:r>
              <a:rPr dirty="0" spc="265"/>
              <a:t> </a:t>
            </a:r>
            <a:r>
              <a:rPr dirty="0" spc="-10"/>
              <a:t>source</a:t>
            </a:r>
            <a:r>
              <a:rPr dirty="0" spc="275"/>
              <a:t> </a:t>
            </a:r>
            <a:r>
              <a:rPr dirty="0" spc="-25"/>
              <a:t>program </a:t>
            </a:r>
            <a:r>
              <a:rPr dirty="0" spc="-705"/>
              <a:t> </a:t>
            </a:r>
            <a:r>
              <a:rPr dirty="0" spc="-15"/>
              <a:t>from </a:t>
            </a:r>
            <a:r>
              <a:rPr dirty="0" spc="-5"/>
              <a:t>one </a:t>
            </a:r>
            <a:r>
              <a:rPr dirty="0" spc="-15"/>
              <a:t>representation</a:t>
            </a:r>
            <a:r>
              <a:rPr dirty="0" spc="-25"/>
              <a:t> to</a:t>
            </a:r>
            <a:r>
              <a:rPr dirty="0" spc="10"/>
              <a:t> </a:t>
            </a:r>
            <a:r>
              <a:rPr dirty="0" spc="-45"/>
              <a:t>another.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/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  <a:tab pos="869315" algn="l"/>
                <a:tab pos="2235835" algn="l"/>
                <a:tab pos="4979670" algn="l"/>
                <a:tab pos="5596890" algn="l"/>
                <a:tab pos="6072505" algn="l"/>
                <a:tab pos="7807325" algn="l"/>
              </a:tabLst>
            </a:pPr>
            <a:r>
              <a:rPr dirty="0"/>
              <a:t>A</a:t>
            </a:r>
            <a:r>
              <a:rPr dirty="0"/>
              <a:t>	</a:t>
            </a:r>
            <a:r>
              <a:rPr dirty="0"/>
              <a:t>typi</a:t>
            </a:r>
            <a:r>
              <a:rPr dirty="0" spc="-25"/>
              <a:t>c</a:t>
            </a:r>
            <a:r>
              <a:rPr dirty="0" spc="5"/>
              <a:t>a</a:t>
            </a:r>
            <a:r>
              <a:rPr dirty="0"/>
              <a:t>l</a:t>
            </a:r>
            <a:r>
              <a:rPr dirty="0"/>
              <a:t>	</a:t>
            </a:r>
            <a:r>
              <a:rPr dirty="0" spc="-5"/>
              <a:t>de</a:t>
            </a:r>
            <a:r>
              <a:rPr dirty="0" spc="-30"/>
              <a:t>c</a:t>
            </a:r>
            <a:r>
              <a:rPr dirty="0" spc="-5"/>
              <a:t>ompositio</a:t>
            </a:r>
            <a:r>
              <a:rPr dirty="0"/>
              <a:t>n</a:t>
            </a:r>
            <a:r>
              <a:rPr dirty="0"/>
              <a:t>	</a:t>
            </a:r>
            <a:r>
              <a:rPr dirty="0"/>
              <a:t>of</a:t>
            </a:r>
            <a:r>
              <a:rPr dirty="0"/>
              <a:t>	</a:t>
            </a:r>
            <a:r>
              <a:rPr dirty="0"/>
              <a:t>a</a:t>
            </a:r>
            <a:r>
              <a:rPr dirty="0"/>
              <a:t>	</a:t>
            </a:r>
            <a:r>
              <a:rPr dirty="0" spc="-15"/>
              <a:t>c</a:t>
            </a:r>
            <a:r>
              <a:rPr dirty="0" spc="-5"/>
              <a:t>ompile</a:t>
            </a:r>
            <a:r>
              <a:rPr dirty="0"/>
              <a:t>r</a:t>
            </a:r>
            <a:r>
              <a:rPr dirty="0"/>
              <a:t>	</a:t>
            </a:r>
            <a:r>
              <a:rPr dirty="0" spc="-5"/>
              <a:t>is  </a:t>
            </a:r>
            <a:r>
              <a:rPr dirty="0" spc="-5"/>
              <a:t>shown</a:t>
            </a:r>
            <a:r>
              <a:rPr dirty="0" spc="-10"/>
              <a:t> </a:t>
            </a:r>
            <a:r>
              <a:rPr dirty="0" spc="-5"/>
              <a:t>in</a:t>
            </a:r>
            <a:r>
              <a:rPr dirty="0" spc="15"/>
              <a:t> </a:t>
            </a:r>
            <a:r>
              <a:rPr dirty="0" spc="-10"/>
              <a:t>fig</a:t>
            </a:r>
            <a:r>
              <a:rPr dirty="0" spc="10"/>
              <a:t> </a:t>
            </a:r>
            <a:r>
              <a:rPr dirty="0" spc="-10"/>
              <a:t>given</a:t>
            </a:r>
            <a:r>
              <a:rPr dirty="0" spc="10"/>
              <a:t> </a:t>
            </a:r>
            <a:r>
              <a:rPr dirty="0" spc="-5"/>
              <a:t>below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8126" y="1655798"/>
            <a:ext cx="5580279" cy="43114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2755" cy="282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b="1">
                <a:latin typeface="Calibri"/>
                <a:cs typeface="Calibri"/>
              </a:rPr>
              <a:t>Linear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Analysis</a:t>
            </a:r>
            <a:r>
              <a:rPr dirty="0" sz="320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</a:pPr>
            <a:r>
              <a:rPr dirty="0" sz="2800" spc="-5">
                <a:latin typeface="Arial MT"/>
                <a:cs typeface="Arial MT"/>
              </a:rPr>
              <a:t>– </a:t>
            </a:r>
            <a:r>
              <a:rPr dirty="0" sz="2800" spc="-5">
                <a:latin typeface="Calibri"/>
                <a:cs typeface="Calibri"/>
              </a:rPr>
              <a:t>In which the </a:t>
            </a:r>
            <a:r>
              <a:rPr dirty="0" sz="2800" spc="-20">
                <a:latin typeface="Calibri"/>
                <a:cs typeface="Calibri"/>
              </a:rPr>
              <a:t>stream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20">
                <a:latin typeface="Calibri"/>
                <a:cs typeface="Calibri"/>
              </a:rPr>
              <a:t>characters </a:t>
            </a:r>
            <a:r>
              <a:rPr dirty="0" sz="2800" spc="-5">
                <a:latin typeface="Calibri"/>
                <a:cs typeface="Calibri"/>
              </a:rPr>
              <a:t>making </a:t>
            </a:r>
            <a:r>
              <a:rPr dirty="0" sz="2800">
                <a:latin typeface="Calibri"/>
                <a:cs typeface="Calibri"/>
              </a:rPr>
              <a:t>up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source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program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read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from</a:t>
            </a:r>
            <a:r>
              <a:rPr dirty="0" sz="2800" spc="-10">
                <a:latin typeface="Calibri"/>
                <a:cs typeface="Calibri"/>
              </a:rPr>
              <a:t> left-to-right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 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grouped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into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tokens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that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are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sequences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characters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having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collective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meaning.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66366"/>
            <a:ext cx="8074025" cy="3821429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  <a:tab pos="884555" algn="l"/>
                <a:tab pos="1297305" algn="l"/>
                <a:tab pos="2952750" algn="l"/>
                <a:tab pos="4065270" algn="l"/>
                <a:tab pos="5505450" algn="l"/>
                <a:tab pos="5975350" algn="l"/>
                <a:tab pos="7110730" algn="l"/>
              </a:tabLst>
            </a:pPr>
            <a:r>
              <a:rPr dirty="0" sz="3000" spc="-5">
                <a:latin typeface="Calibri"/>
                <a:cs typeface="Calibri"/>
              </a:rPr>
              <a:t>I</a:t>
            </a:r>
            <a:r>
              <a:rPr dirty="0" sz="3000">
                <a:latin typeface="Calibri"/>
                <a:cs typeface="Calibri"/>
              </a:rPr>
              <a:t>n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 spc="-25">
                <a:latin typeface="Calibri"/>
                <a:cs typeface="Calibri"/>
              </a:rPr>
              <a:t>c</a:t>
            </a:r>
            <a:r>
              <a:rPr dirty="0" sz="3000" spc="-5">
                <a:latin typeface="Calibri"/>
                <a:cs typeface="Calibri"/>
              </a:rPr>
              <a:t>ompi</a:t>
            </a:r>
            <a:r>
              <a:rPr dirty="0" sz="3000" spc="-20">
                <a:latin typeface="Calibri"/>
                <a:cs typeface="Calibri"/>
              </a:rPr>
              <a:t>l</a:t>
            </a:r>
            <a:r>
              <a:rPr dirty="0" sz="3000">
                <a:latin typeface="Calibri"/>
                <a:cs typeface="Calibri"/>
              </a:rPr>
              <a:t>e</a:t>
            </a:r>
            <a:r>
              <a:rPr dirty="0" sz="3000" spc="-265">
                <a:latin typeface="Calibri"/>
                <a:cs typeface="Calibri"/>
              </a:rPr>
              <a:t>r</a:t>
            </a:r>
            <a:r>
              <a:rPr dirty="0" sz="3000">
                <a:latin typeface="Calibri"/>
                <a:cs typeface="Calibri"/>
              </a:rPr>
              <a:t>,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>
                <a:latin typeface="Calibri"/>
                <a:cs typeface="Calibri"/>
              </a:rPr>
              <a:t>lin</a:t>
            </a:r>
            <a:r>
              <a:rPr dirty="0" sz="3000" spc="-15">
                <a:latin typeface="Calibri"/>
                <a:cs typeface="Calibri"/>
              </a:rPr>
              <a:t>e</a:t>
            </a:r>
            <a:r>
              <a:rPr dirty="0" sz="3000">
                <a:latin typeface="Calibri"/>
                <a:cs typeface="Calibri"/>
              </a:rPr>
              <a:t>ar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>
                <a:latin typeface="Calibri"/>
                <a:cs typeface="Calibri"/>
              </a:rPr>
              <a:t>anal</a:t>
            </a:r>
            <a:r>
              <a:rPr dirty="0" sz="3000" spc="-40">
                <a:latin typeface="Calibri"/>
                <a:cs typeface="Calibri"/>
              </a:rPr>
              <a:t>y</a:t>
            </a:r>
            <a:r>
              <a:rPr dirty="0" sz="3000" spc="-5">
                <a:latin typeface="Calibri"/>
                <a:cs typeface="Calibri"/>
              </a:rPr>
              <a:t>si</a:t>
            </a:r>
            <a:r>
              <a:rPr dirty="0" sz="3000">
                <a:latin typeface="Calibri"/>
                <a:cs typeface="Calibri"/>
              </a:rPr>
              <a:t>s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 spc="-5">
                <a:latin typeface="Calibri"/>
                <a:cs typeface="Calibri"/>
              </a:rPr>
              <a:t>i</a:t>
            </a:r>
            <a:r>
              <a:rPr dirty="0" sz="3000">
                <a:latin typeface="Calibri"/>
                <a:cs typeface="Calibri"/>
              </a:rPr>
              <a:t>s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 spc="-35">
                <a:latin typeface="Calibri"/>
                <a:cs typeface="Calibri"/>
              </a:rPr>
              <a:t>c</a:t>
            </a:r>
            <a:r>
              <a:rPr dirty="0" sz="3000">
                <a:latin typeface="Calibri"/>
                <a:cs typeface="Calibri"/>
              </a:rPr>
              <a:t>al</a:t>
            </a:r>
            <a:r>
              <a:rPr dirty="0" sz="3000" spc="-15">
                <a:latin typeface="Calibri"/>
                <a:cs typeface="Calibri"/>
              </a:rPr>
              <a:t>l</a:t>
            </a:r>
            <a:r>
              <a:rPr dirty="0" sz="3000">
                <a:latin typeface="Calibri"/>
                <a:cs typeface="Calibri"/>
              </a:rPr>
              <a:t>ed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>
                <a:latin typeface="Calibri"/>
                <a:cs typeface="Calibri"/>
              </a:rPr>
              <a:t>l</a:t>
            </a:r>
            <a:r>
              <a:rPr dirty="0" sz="3000" spc="-65">
                <a:latin typeface="Calibri"/>
                <a:cs typeface="Calibri"/>
              </a:rPr>
              <a:t>e</a:t>
            </a:r>
            <a:r>
              <a:rPr dirty="0" sz="3000" spc="-5">
                <a:latin typeface="Calibri"/>
                <a:cs typeface="Calibri"/>
              </a:rPr>
              <a:t>xi</a:t>
            </a:r>
            <a:r>
              <a:rPr dirty="0" sz="3000" spc="-25">
                <a:latin typeface="Calibri"/>
                <a:cs typeface="Calibri"/>
              </a:rPr>
              <a:t>c</a:t>
            </a:r>
            <a:r>
              <a:rPr dirty="0" sz="3000" spc="-10">
                <a:latin typeface="Calibri"/>
                <a:cs typeface="Calibri"/>
              </a:rPr>
              <a:t>a</a:t>
            </a:r>
            <a:r>
              <a:rPr dirty="0" sz="3000">
                <a:latin typeface="Calibri"/>
                <a:cs typeface="Calibri"/>
              </a:rPr>
              <a:t>l  </a:t>
            </a:r>
            <a:r>
              <a:rPr dirty="0" sz="3000" spc="-5">
                <a:latin typeface="Calibri"/>
                <a:cs typeface="Calibri"/>
              </a:rPr>
              <a:t>analysis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or </a:t>
            </a:r>
            <a:r>
              <a:rPr dirty="0" sz="3000" spc="-5">
                <a:latin typeface="Calibri"/>
                <a:cs typeface="Calibri"/>
              </a:rPr>
              <a:t>scanning.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3800">
              <a:latin typeface="Calibri"/>
              <a:cs typeface="Calibri"/>
            </a:endParaRPr>
          </a:p>
          <a:p>
            <a:pPr marL="355600" marR="6350" indent="-342900">
              <a:lnSpc>
                <a:spcPts val="3240"/>
              </a:lnSpc>
              <a:buFont typeface="Arial MT"/>
              <a:buChar char="•"/>
              <a:tabLst>
                <a:tab pos="354965" algn="l"/>
                <a:tab pos="355600" algn="l"/>
                <a:tab pos="996950" algn="l"/>
                <a:tab pos="2531745" algn="l"/>
                <a:tab pos="2955925" algn="l"/>
                <a:tab pos="4042410" algn="l"/>
                <a:tab pos="5385435" algn="l"/>
                <a:tab pos="6036310" algn="l"/>
                <a:tab pos="7772400" algn="l"/>
              </a:tabLst>
            </a:pPr>
            <a:r>
              <a:rPr dirty="0" sz="3000" spc="-35">
                <a:latin typeface="Calibri"/>
                <a:cs typeface="Calibri"/>
              </a:rPr>
              <a:t>F</a:t>
            </a:r>
            <a:r>
              <a:rPr dirty="0" sz="3000" spc="-5">
                <a:latin typeface="Calibri"/>
                <a:cs typeface="Calibri"/>
              </a:rPr>
              <a:t>o</a:t>
            </a:r>
            <a:r>
              <a:rPr dirty="0" sz="3000">
                <a:latin typeface="Calibri"/>
                <a:cs typeface="Calibri"/>
              </a:rPr>
              <a:t>r	</a:t>
            </a:r>
            <a:r>
              <a:rPr dirty="0" sz="3000" spc="-55">
                <a:latin typeface="Calibri"/>
                <a:cs typeface="Calibri"/>
              </a:rPr>
              <a:t>ex</a:t>
            </a:r>
            <a:r>
              <a:rPr dirty="0" sz="3000">
                <a:latin typeface="Calibri"/>
                <a:cs typeface="Calibri"/>
              </a:rPr>
              <a:t>am</a:t>
            </a:r>
            <a:r>
              <a:rPr dirty="0" sz="3000" spc="-10">
                <a:latin typeface="Calibri"/>
                <a:cs typeface="Calibri"/>
              </a:rPr>
              <a:t>p</a:t>
            </a:r>
            <a:r>
              <a:rPr dirty="0" sz="3000">
                <a:latin typeface="Calibri"/>
                <a:cs typeface="Calibri"/>
              </a:rPr>
              <a:t>l</a:t>
            </a:r>
            <a:r>
              <a:rPr dirty="0" sz="3000" spc="-15">
                <a:latin typeface="Calibri"/>
                <a:cs typeface="Calibri"/>
              </a:rPr>
              <a:t>e</a:t>
            </a:r>
            <a:r>
              <a:rPr dirty="0" sz="3000">
                <a:latin typeface="Calibri"/>
                <a:cs typeface="Calibri"/>
              </a:rPr>
              <a:t>,	</a:t>
            </a:r>
            <a:r>
              <a:rPr dirty="0" sz="3000" spc="-5">
                <a:latin typeface="Calibri"/>
                <a:cs typeface="Calibri"/>
              </a:rPr>
              <a:t>i</a:t>
            </a:r>
            <a:r>
              <a:rPr dirty="0" sz="3000">
                <a:latin typeface="Calibri"/>
                <a:cs typeface="Calibri"/>
              </a:rPr>
              <a:t>n	l</a:t>
            </a:r>
            <a:r>
              <a:rPr dirty="0" sz="3000" spc="-60">
                <a:latin typeface="Calibri"/>
                <a:cs typeface="Calibri"/>
              </a:rPr>
              <a:t>e</a:t>
            </a:r>
            <a:r>
              <a:rPr dirty="0" sz="3000" spc="-5">
                <a:latin typeface="Calibri"/>
                <a:cs typeface="Calibri"/>
              </a:rPr>
              <a:t>xi</a:t>
            </a:r>
            <a:r>
              <a:rPr dirty="0" sz="3000" spc="-35">
                <a:latin typeface="Calibri"/>
                <a:cs typeface="Calibri"/>
              </a:rPr>
              <a:t>c</a:t>
            </a:r>
            <a:r>
              <a:rPr dirty="0" sz="3000">
                <a:latin typeface="Calibri"/>
                <a:cs typeface="Calibri"/>
              </a:rPr>
              <a:t>al	ana</a:t>
            </a:r>
            <a:r>
              <a:rPr dirty="0" sz="3000" spc="-15">
                <a:latin typeface="Calibri"/>
                <a:cs typeface="Calibri"/>
              </a:rPr>
              <a:t>l</a:t>
            </a:r>
            <a:r>
              <a:rPr dirty="0" sz="3000" spc="-30">
                <a:latin typeface="Calibri"/>
                <a:cs typeface="Calibri"/>
              </a:rPr>
              <a:t>y</a:t>
            </a:r>
            <a:r>
              <a:rPr dirty="0" sz="3000" spc="-5">
                <a:latin typeface="Calibri"/>
                <a:cs typeface="Calibri"/>
              </a:rPr>
              <a:t>si</a:t>
            </a:r>
            <a:r>
              <a:rPr dirty="0" sz="3000">
                <a:latin typeface="Calibri"/>
                <a:cs typeface="Calibri"/>
              </a:rPr>
              <a:t>s	the	c</a:t>
            </a:r>
            <a:r>
              <a:rPr dirty="0" sz="3000" spc="-15">
                <a:latin typeface="Calibri"/>
                <a:cs typeface="Calibri"/>
              </a:rPr>
              <a:t>h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60">
                <a:latin typeface="Calibri"/>
                <a:cs typeface="Calibri"/>
              </a:rPr>
              <a:t>r</a:t>
            </a:r>
            <a:r>
              <a:rPr dirty="0" sz="3000">
                <a:latin typeface="Calibri"/>
                <a:cs typeface="Calibri"/>
              </a:rPr>
              <a:t>ac</a:t>
            </a:r>
            <a:r>
              <a:rPr dirty="0" sz="3000" spc="-30">
                <a:latin typeface="Calibri"/>
                <a:cs typeface="Calibri"/>
              </a:rPr>
              <a:t>t</a:t>
            </a:r>
            <a:r>
              <a:rPr dirty="0" sz="3000">
                <a:latin typeface="Calibri"/>
                <a:cs typeface="Calibri"/>
              </a:rPr>
              <a:t>e</a:t>
            </a:r>
            <a:r>
              <a:rPr dirty="0" sz="3000" spc="-60">
                <a:latin typeface="Calibri"/>
                <a:cs typeface="Calibri"/>
              </a:rPr>
              <a:t>r</a:t>
            </a:r>
            <a:r>
              <a:rPr dirty="0" sz="3000">
                <a:latin typeface="Calibri"/>
                <a:cs typeface="Calibri"/>
              </a:rPr>
              <a:t>s	</a:t>
            </a:r>
            <a:r>
              <a:rPr dirty="0" sz="3000" spc="-5">
                <a:latin typeface="Calibri"/>
                <a:cs typeface="Calibri"/>
              </a:rPr>
              <a:t>in 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assignment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statement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3500">
              <a:latin typeface="Calibri"/>
              <a:cs typeface="Calibri"/>
            </a:endParaRPr>
          </a:p>
          <a:p>
            <a:pPr lvl="1" marL="2061210" indent="-342900">
              <a:lnSpc>
                <a:spcPct val="100000"/>
              </a:lnSpc>
              <a:buFont typeface="Arial MT"/>
              <a:buChar char="•"/>
              <a:tabLst>
                <a:tab pos="2060575" algn="l"/>
                <a:tab pos="2061210" algn="l"/>
              </a:tabLst>
            </a:pPr>
            <a:r>
              <a:rPr dirty="0" sz="3000" spc="-15">
                <a:latin typeface="Calibri"/>
                <a:cs typeface="Calibri"/>
              </a:rPr>
              <a:t>Position: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=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initial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+ </a:t>
            </a:r>
            <a:r>
              <a:rPr dirty="0" sz="3000" spc="-35">
                <a:latin typeface="Calibri"/>
                <a:cs typeface="Calibri"/>
              </a:rPr>
              <a:t>rate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*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60</a:t>
            </a:r>
            <a:endParaRPr sz="3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000" spc="-30">
                <a:latin typeface="Calibri"/>
                <a:cs typeface="Calibri"/>
              </a:rPr>
              <a:t>Would</a:t>
            </a:r>
            <a:r>
              <a:rPr dirty="0" sz="3000" spc="-5">
                <a:latin typeface="Calibri"/>
                <a:cs typeface="Calibri"/>
              </a:rPr>
              <a:t> be</a:t>
            </a:r>
            <a:r>
              <a:rPr dirty="0" sz="3000" spc="-15">
                <a:latin typeface="Calibri"/>
                <a:cs typeface="Calibri"/>
              </a:rPr>
              <a:t> grouped</a:t>
            </a:r>
            <a:r>
              <a:rPr dirty="0" sz="3000" spc="15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into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the</a:t>
            </a:r>
            <a:r>
              <a:rPr dirty="0" sz="3000" spc="-15">
                <a:latin typeface="Calibri"/>
                <a:cs typeface="Calibri"/>
              </a:rPr>
              <a:t> following</a:t>
            </a:r>
            <a:r>
              <a:rPr dirty="0" sz="3000" spc="20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tokens: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0635"/>
            <a:ext cx="4639310" cy="4123054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identifier,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position.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assignment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symbol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:=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identifier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initial.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plus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sign.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identifier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rate.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multiplication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sign.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number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60.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1484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blanks </a:t>
            </a:r>
            <a:r>
              <a:rPr dirty="0" sz="3200" spc="-15">
                <a:latin typeface="Calibri"/>
                <a:cs typeface="Calibri"/>
              </a:rPr>
              <a:t>separating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characters </a:t>
            </a:r>
            <a:r>
              <a:rPr dirty="0" sz="3200">
                <a:latin typeface="Calibri"/>
                <a:cs typeface="Calibri"/>
              </a:rPr>
              <a:t>of these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tokens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would</a:t>
            </a:r>
            <a:r>
              <a:rPr dirty="0" sz="3200" spc="-5">
                <a:latin typeface="Calibri"/>
                <a:cs typeface="Calibri"/>
              </a:rPr>
              <a:t> normally be eliminated during 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-15">
                <a:latin typeface="Calibri"/>
                <a:cs typeface="Calibri"/>
              </a:rPr>
              <a:t> lexical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analysis.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3974465" cy="2393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15" b="1">
                <a:latin typeface="Calibri"/>
                <a:cs typeface="Calibri"/>
              </a:rPr>
              <a:t>Hierarchical</a:t>
            </a:r>
            <a:r>
              <a:rPr dirty="0" sz="3200" spc="-6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Analysis</a:t>
            </a:r>
            <a:r>
              <a:rPr dirty="0" sz="320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tabLst>
                <a:tab pos="1320165" algn="l"/>
                <a:tab pos="2469515" algn="l"/>
                <a:tab pos="3082290" algn="l"/>
              </a:tabLst>
            </a:pPr>
            <a:r>
              <a:rPr dirty="0" sz="2800" spc="-5">
                <a:latin typeface="Arial MT"/>
                <a:cs typeface="Arial MT"/>
              </a:rPr>
              <a:t>–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5">
                <a:latin typeface="Calibri"/>
                <a:cs typeface="Calibri"/>
              </a:rPr>
              <a:t>In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5">
                <a:latin typeface="Calibri"/>
                <a:cs typeface="Calibri"/>
              </a:rPr>
              <a:t>whi</a:t>
            </a:r>
            <a:r>
              <a:rPr dirty="0" sz="2800">
                <a:latin typeface="Calibri"/>
                <a:cs typeface="Calibri"/>
              </a:rPr>
              <a:t>c</a:t>
            </a:r>
            <a:r>
              <a:rPr dirty="0" sz="2800" spc="-5">
                <a:latin typeface="Calibri"/>
                <a:cs typeface="Calibri"/>
              </a:rPr>
              <a:t>h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5">
                <a:latin typeface="Calibri"/>
                <a:cs typeface="Calibri"/>
              </a:rPr>
              <a:t>cha</a:t>
            </a:r>
            <a:r>
              <a:rPr dirty="0" sz="2800" spc="-65">
                <a:latin typeface="Calibri"/>
                <a:cs typeface="Calibri"/>
              </a:rPr>
              <a:t>r</a:t>
            </a:r>
            <a:r>
              <a:rPr dirty="0" sz="2800" spc="-5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c</a:t>
            </a:r>
            <a:r>
              <a:rPr dirty="0" sz="2800" spc="-35">
                <a:latin typeface="Calibri"/>
                <a:cs typeface="Calibri"/>
              </a:rPr>
              <a:t>t</a:t>
            </a:r>
            <a:r>
              <a:rPr dirty="0" sz="2800" spc="-15">
                <a:latin typeface="Calibri"/>
                <a:cs typeface="Calibri"/>
              </a:rPr>
              <a:t>e</a:t>
            </a:r>
            <a:r>
              <a:rPr dirty="0" sz="2800" spc="-60">
                <a:latin typeface="Calibri"/>
                <a:cs typeface="Calibri"/>
              </a:rPr>
              <a:t>r</a:t>
            </a:r>
            <a:r>
              <a:rPr dirty="0" sz="2800" spc="-5">
                <a:latin typeface="Calibri"/>
                <a:cs typeface="Calibri"/>
              </a:rPr>
              <a:t>s  </a:t>
            </a:r>
            <a:r>
              <a:rPr dirty="0" sz="2800" spc="-15">
                <a:latin typeface="Calibri"/>
                <a:cs typeface="Calibri"/>
              </a:rPr>
              <a:t>hierarchically	</a:t>
            </a:r>
            <a:r>
              <a:rPr dirty="0" sz="2800" spc="-20">
                <a:latin typeface="Calibri"/>
                <a:cs typeface="Calibri"/>
              </a:rPr>
              <a:t>into 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collective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meaning.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3295" y="3281298"/>
            <a:ext cx="3834129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1505" algn="l"/>
                <a:tab pos="1856739" algn="l"/>
                <a:tab pos="2611120" algn="l"/>
              </a:tabLst>
            </a:pPr>
            <a:r>
              <a:rPr dirty="0" sz="2800" spc="-5">
                <a:latin typeface="Calibri"/>
                <a:cs typeface="Calibri"/>
              </a:rPr>
              <a:t>or	</a:t>
            </a:r>
            <a:r>
              <a:rPr dirty="0" sz="2800" spc="-20">
                <a:latin typeface="Calibri"/>
                <a:cs typeface="Calibri"/>
              </a:rPr>
              <a:t>tokens	are	</a:t>
            </a:r>
            <a:r>
              <a:rPr dirty="0" sz="2800" spc="-15">
                <a:latin typeface="Calibri"/>
                <a:cs typeface="Calibri"/>
              </a:rPr>
              <a:t>grouped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0415" y="3707968"/>
            <a:ext cx="40163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05255" algn="l"/>
                <a:tab pos="3361054" algn="l"/>
              </a:tabLst>
            </a:pPr>
            <a:r>
              <a:rPr dirty="0" sz="2800" spc="-10">
                <a:latin typeface="Calibri"/>
                <a:cs typeface="Calibri"/>
              </a:rPr>
              <a:t>ne</a:t>
            </a:r>
            <a:r>
              <a:rPr dirty="0" sz="2800" spc="-55">
                <a:latin typeface="Calibri"/>
                <a:cs typeface="Calibri"/>
              </a:rPr>
              <a:t>s</a:t>
            </a:r>
            <a:r>
              <a:rPr dirty="0" sz="2800" spc="-35">
                <a:latin typeface="Calibri"/>
                <a:cs typeface="Calibri"/>
              </a:rPr>
              <a:t>t</a:t>
            </a:r>
            <a:r>
              <a:rPr dirty="0" sz="2800" spc="-5">
                <a:latin typeface="Calibri"/>
                <a:cs typeface="Calibri"/>
              </a:rPr>
              <a:t>ed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25">
                <a:latin typeface="Calibri"/>
                <a:cs typeface="Calibri"/>
              </a:rPr>
              <a:t>c</a:t>
            </a:r>
            <a:r>
              <a:rPr dirty="0" sz="2800" spc="-10">
                <a:latin typeface="Calibri"/>
                <a:cs typeface="Calibri"/>
              </a:rPr>
              <a:t>ol</a:t>
            </a:r>
            <a:r>
              <a:rPr dirty="0" sz="2800" spc="-20">
                <a:latin typeface="Calibri"/>
                <a:cs typeface="Calibri"/>
              </a:rPr>
              <a:t>l</a:t>
            </a:r>
            <a:r>
              <a:rPr dirty="0" sz="2800" spc="-5">
                <a:latin typeface="Calibri"/>
                <a:cs typeface="Calibri"/>
              </a:rPr>
              <a:t>ections</a:t>
            </a:r>
            <a:r>
              <a:rPr dirty="0" sz="2800">
                <a:latin typeface="Calibri"/>
                <a:cs typeface="Calibri"/>
              </a:rPr>
              <a:t>	</a:t>
            </a:r>
            <a:r>
              <a:rPr dirty="0" sz="2800" spc="-5">
                <a:latin typeface="Calibri"/>
                <a:cs typeface="Calibri"/>
              </a:rPr>
              <a:t>with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4025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15">
                <a:latin typeface="Calibri"/>
                <a:cs typeface="Calibri"/>
              </a:rPr>
              <a:t>Hierarchical </a:t>
            </a:r>
            <a:r>
              <a:rPr dirty="0" sz="3200" spc="-5">
                <a:latin typeface="Calibri"/>
                <a:cs typeface="Calibri"/>
              </a:rPr>
              <a:t>analysis is called </a:t>
            </a:r>
            <a:r>
              <a:rPr dirty="0" sz="3200" spc="-15">
                <a:latin typeface="Calibri"/>
                <a:cs typeface="Calibri"/>
              </a:rPr>
              <a:t>parsing </a:t>
            </a:r>
            <a:r>
              <a:rPr dirty="0" sz="3200">
                <a:latin typeface="Calibri"/>
                <a:cs typeface="Calibri"/>
              </a:rPr>
              <a:t>or </a:t>
            </a:r>
            <a:r>
              <a:rPr dirty="0" sz="3200" spc="-25">
                <a:latin typeface="Calibri"/>
                <a:cs typeface="Calibri"/>
              </a:rPr>
              <a:t>syntax 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analysis.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It </a:t>
            </a:r>
            <a:r>
              <a:rPr dirty="0" sz="3200" spc="-15">
                <a:latin typeface="Calibri"/>
                <a:cs typeface="Calibri"/>
              </a:rPr>
              <a:t>involves </a:t>
            </a:r>
            <a:r>
              <a:rPr dirty="0" sz="3200" spc="-10">
                <a:latin typeface="Calibri"/>
                <a:cs typeface="Calibri"/>
              </a:rPr>
              <a:t>grouping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5">
                <a:latin typeface="Calibri"/>
                <a:cs typeface="Calibri"/>
              </a:rPr>
              <a:t>tokens </a:t>
            </a:r>
            <a:r>
              <a:rPr dirty="0" sz="3200">
                <a:latin typeface="Calibri"/>
                <a:cs typeface="Calibri"/>
              </a:rPr>
              <a:t>of the </a:t>
            </a:r>
            <a:r>
              <a:rPr dirty="0" sz="3200" spc="-15">
                <a:latin typeface="Calibri"/>
                <a:cs typeface="Calibri"/>
              </a:rPr>
              <a:t>source 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program</a:t>
            </a:r>
            <a:r>
              <a:rPr dirty="0" sz="3200" spc="-15">
                <a:latin typeface="Calibri"/>
                <a:cs typeface="Calibri"/>
              </a:rPr>
              <a:t> into</a:t>
            </a:r>
            <a:r>
              <a:rPr dirty="0" sz="3200" spc="-10">
                <a:latin typeface="Calibri"/>
                <a:cs typeface="Calibri"/>
              </a:rPr>
              <a:t> grammatical</a:t>
            </a:r>
            <a:r>
              <a:rPr dirty="0" sz="3200" spc="-5">
                <a:latin typeface="Calibri"/>
                <a:cs typeface="Calibri"/>
              </a:rPr>
              <a:t> phases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that</a:t>
            </a:r>
            <a:r>
              <a:rPr dirty="0" sz="3200" spc="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 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used</a:t>
            </a:r>
            <a:r>
              <a:rPr dirty="0" sz="3200" spc="-10">
                <a:latin typeface="Calibri"/>
                <a:cs typeface="Calibri"/>
              </a:rPr>
              <a:t> by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compiler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synthesize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output.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339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324610" algn="l"/>
                <a:tab pos="3731260" algn="l"/>
                <a:tab pos="5362575" algn="l"/>
                <a:tab pos="6055995" algn="l"/>
                <a:tab pos="6964680" algn="l"/>
              </a:tabLst>
            </a:pPr>
            <a:r>
              <a:rPr dirty="0" sz="3200" spc="-5">
                <a:latin typeface="Calibri"/>
                <a:cs typeface="Calibri"/>
              </a:rPr>
              <a:t>Th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g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am</a:t>
            </a:r>
            <a:r>
              <a:rPr dirty="0" sz="3200" spc="-10">
                <a:latin typeface="Calibri"/>
                <a:cs typeface="Calibri"/>
              </a:rPr>
              <a:t>m</a:t>
            </a:r>
            <a:r>
              <a:rPr dirty="0" sz="3200" spc="-25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ti</a:t>
            </a:r>
            <a:r>
              <a:rPr dirty="0" sz="3200" spc="-25">
                <a:latin typeface="Calibri"/>
                <a:cs typeface="Calibri"/>
              </a:rPr>
              <a:t>c</a:t>
            </a:r>
            <a:r>
              <a:rPr dirty="0" sz="3200">
                <a:latin typeface="Calibri"/>
                <a:cs typeface="Calibri"/>
              </a:rPr>
              <a:t>al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ph</a:t>
            </a:r>
            <a:r>
              <a:rPr dirty="0" sz="3200" spc="-7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ases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sou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 spc="-15">
                <a:latin typeface="Calibri"/>
                <a:cs typeface="Calibri"/>
              </a:rPr>
              <a:t>c</a:t>
            </a:r>
            <a:r>
              <a:rPr dirty="0" sz="3200">
                <a:latin typeface="Calibri"/>
                <a:cs typeface="Calibri"/>
              </a:rPr>
              <a:t>e  </a:t>
            </a:r>
            <a:r>
              <a:rPr dirty="0" sz="3200" spc="-20">
                <a:latin typeface="Calibri"/>
                <a:cs typeface="Calibri"/>
              </a:rPr>
              <a:t>program</a:t>
            </a:r>
            <a:r>
              <a:rPr dirty="0" sz="3200" spc="-15">
                <a:latin typeface="Calibri"/>
                <a:cs typeface="Calibri"/>
              </a:rPr>
              <a:t> are represented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parse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tree.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1470" y="1902967"/>
            <a:ext cx="111125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5">
                <a:latin typeface="Calibri"/>
                <a:cs typeface="Calibri"/>
              </a:rPr>
              <a:t>sig</a:t>
            </a:r>
            <a:r>
              <a:rPr dirty="0" sz="1800">
                <a:latin typeface="Calibri"/>
                <a:cs typeface="Calibri"/>
              </a:rPr>
              <a:t>nment  </a:t>
            </a:r>
            <a:r>
              <a:rPr dirty="0" sz="1800" spc="-10">
                <a:latin typeface="Calibri"/>
                <a:cs typeface="Calibri"/>
              </a:rPr>
              <a:t>Statement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-5">
                <a:latin typeface="Calibri"/>
                <a:cs typeface="Calibri"/>
              </a:rPr>
              <a:t>:=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9825" y="2817367"/>
            <a:ext cx="88074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 marR="5080" indent="-5651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Ide</a:t>
            </a:r>
            <a:r>
              <a:rPr dirty="0" sz="1800" spc="-5">
                <a:latin typeface="Calibri"/>
                <a:cs typeface="Calibri"/>
              </a:rPr>
              <a:t>n</a:t>
            </a:r>
            <a:r>
              <a:rPr dirty="0" sz="1800">
                <a:latin typeface="Calibri"/>
                <a:cs typeface="Calibri"/>
              </a:rPr>
              <a:t>t</a:t>
            </a:r>
            <a:r>
              <a:rPr dirty="0" sz="1800" spc="-10">
                <a:latin typeface="Calibri"/>
                <a:cs typeface="Calibri"/>
              </a:rPr>
              <a:t>i</a:t>
            </a:r>
            <a:r>
              <a:rPr dirty="0" sz="1800" spc="-5">
                <a:latin typeface="Calibri"/>
                <a:cs typeface="Calibri"/>
              </a:rPr>
              <a:t>fier  </a:t>
            </a:r>
            <a:r>
              <a:rPr dirty="0" sz="1800" spc="-15">
                <a:latin typeface="Calibri"/>
                <a:cs typeface="Calibri"/>
              </a:rPr>
              <a:t>Position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3365" y="2817367"/>
            <a:ext cx="10191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Expression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7191" y="3457702"/>
            <a:ext cx="101917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Exp</a:t>
            </a:r>
            <a:r>
              <a:rPr dirty="0" sz="1800" spc="-30">
                <a:latin typeface="Calibri"/>
                <a:cs typeface="Calibri"/>
              </a:rPr>
              <a:t>r</a:t>
            </a:r>
            <a:r>
              <a:rPr dirty="0" sz="1800">
                <a:latin typeface="Calibri"/>
                <a:cs typeface="Calibri"/>
              </a:rPr>
              <a:t>e</a:t>
            </a:r>
            <a:r>
              <a:rPr dirty="0" sz="1800" spc="5">
                <a:latin typeface="Calibri"/>
                <a:cs typeface="Calibri"/>
              </a:rPr>
              <a:t>s</a:t>
            </a:r>
            <a:r>
              <a:rPr dirty="0" sz="1800" spc="-5">
                <a:latin typeface="Calibri"/>
                <a:cs typeface="Calibri"/>
              </a:rPr>
              <a:t>sion  </a:t>
            </a:r>
            <a:r>
              <a:rPr dirty="0" sz="1800" spc="-5">
                <a:latin typeface="Calibri"/>
                <a:cs typeface="Calibri"/>
              </a:rPr>
              <a:t>Identifier 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Initial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2365" y="3457702"/>
            <a:ext cx="993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Exp</a:t>
            </a:r>
            <a:r>
              <a:rPr dirty="0" sz="1800" spc="-30">
                <a:latin typeface="Calibri"/>
                <a:cs typeface="Calibri"/>
              </a:rPr>
              <a:t>r</a:t>
            </a:r>
            <a:r>
              <a:rPr dirty="0" sz="1800">
                <a:latin typeface="Calibri"/>
                <a:cs typeface="Calibri"/>
              </a:rPr>
              <a:t>e</a:t>
            </a:r>
            <a:r>
              <a:rPr dirty="0" sz="1800" spc="5">
                <a:latin typeface="Calibri"/>
                <a:cs typeface="Calibri"/>
              </a:rPr>
              <a:t>s</a:t>
            </a:r>
            <a:r>
              <a:rPr dirty="0" sz="1800" spc="-5">
                <a:latin typeface="Calibri"/>
                <a:cs typeface="Calibri"/>
              </a:rPr>
              <a:t>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1278" y="3732021"/>
            <a:ext cx="114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*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3365" y="4372102"/>
            <a:ext cx="101917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Exp</a:t>
            </a:r>
            <a:r>
              <a:rPr dirty="0" sz="1800" spc="-30">
                <a:latin typeface="Calibri"/>
                <a:cs typeface="Calibri"/>
              </a:rPr>
              <a:t>r</a:t>
            </a:r>
            <a:r>
              <a:rPr dirty="0" sz="1800">
                <a:latin typeface="Calibri"/>
                <a:cs typeface="Calibri"/>
              </a:rPr>
              <a:t>e</a:t>
            </a:r>
            <a:r>
              <a:rPr dirty="0" sz="1800" spc="5">
                <a:latin typeface="Calibri"/>
                <a:cs typeface="Calibri"/>
              </a:rPr>
              <a:t>s</a:t>
            </a:r>
            <a:r>
              <a:rPr dirty="0" sz="1800" spc="-5">
                <a:latin typeface="Calibri"/>
                <a:cs typeface="Calibri"/>
              </a:rPr>
              <a:t>sion  </a:t>
            </a:r>
            <a:r>
              <a:rPr dirty="0" sz="1800" spc="-5">
                <a:latin typeface="Calibri"/>
                <a:cs typeface="Calibri"/>
              </a:rPr>
              <a:t>Identifier 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Rate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5840" y="4372102"/>
            <a:ext cx="101917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Exp</a:t>
            </a:r>
            <a:r>
              <a:rPr dirty="0" sz="1800" spc="-30">
                <a:latin typeface="Calibri"/>
                <a:cs typeface="Calibri"/>
              </a:rPr>
              <a:t>r</a:t>
            </a:r>
            <a:r>
              <a:rPr dirty="0" sz="1800">
                <a:latin typeface="Calibri"/>
                <a:cs typeface="Calibri"/>
              </a:rPr>
              <a:t>e</a:t>
            </a:r>
            <a:r>
              <a:rPr dirty="0" sz="1800" spc="5">
                <a:latin typeface="Calibri"/>
                <a:cs typeface="Calibri"/>
              </a:rPr>
              <a:t>s</a:t>
            </a:r>
            <a:r>
              <a:rPr dirty="0" sz="1800" spc="-5">
                <a:latin typeface="Calibri"/>
                <a:cs typeface="Calibri"/>
              </a:rPr>
              <a:t>sion  </a:t>
            </a:r>
            <a:r>
              <a:rPr dirty="0" sz="1800" spc="-5">
                <a:latin typeface="Calibri"/>
                <a:cs typeface="Calibri"/>
              </a:rPr>
              <a:t>Number 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60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76400" y="2341879"/>
            <a:ext cx="685800" cy="533400"/>
          </a:xfrm>
          <a:custGeom>
            <a:avLst/>
            <a:gdLst/>
            <a:ahLst/>
            <a:cxnLst/>
            <a:rect l="l" t="t" r="r" b="b"/>
            <a:pathLst>
              <a:path w="685800" h="533400">
                <a:moveTo>
                  <a:pt x="0" y="533400"/>
                </a:moveTo>
                <a:lnTo>
                  <a:pt x="685800" y="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05200" y="2418079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45720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29000" y="3103879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>
                <a:moveTo>
                  <a:pt x="0" y="381000"/>
                </a:moveTo>
                <a:lnTo>
                  <a:pt x="533400" y="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05400" y="3103879"/>
            <a:ext cx="533400" cy="381000"/>
          </a:xfrm>
          <a:custGeom>
            <a:avLst/>
            <a:gdLst/>
            <a:ahLst/>
            <a:cxnLst/>
            <a:rect l="l" t="t" r="r" b="b"/>
            <a:pathLst>
              <a:path w="533400" h="381000">
                <a:moveTo>
                  <a:pt x="0" y="0"/>
                </a:moveTo>
                <a:lnTo>
                  <a:pt x="533400" y="38100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81800" y="3713479"/>
            <a:ext cx="838200" cy="685800"/>
          </a:xfrm>
          <a:custGeom>
            <a:avLst/>
            <a:gdLst/>
            <a:ahLst/>
            <a:cxnLst/>
            <a:rect l="l" t="t" r="r" b="b"/>
            <a:pathLst>
              <a:path w="838200" h="685800">
                <a:moveTo>
                  <a:pt x="0" y="0"/>
                </a:moveTo>
                <a:lnTo>
                  <a:pt x="838200" y="68580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53000" y="3789679"/>
            <a:ext cx="762000" cy="533400"/>
          </a:xfrm>
          <a:custGeom>
            <a:avLst/>
            <a:gdLst/>
            <a:ahLst/>
            <a:cxnLst/>
            <a:rect l="l" t="t" r="r" b="b"/>
            <a:pathLst>
              <a:path w="762000" h="533400">
                <a:moveTo>
                  <a:pt x="0" y="533400"/>
                </a:moveTo>
                <a:lnTo>
                  <a:pt x="762000" y="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40265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In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expression </a:t>
            </a:r>
            <a:r>
              <a:rPr dirty="0" sz="3200" spc="-5" b="1">
                <a:latin typeface="Calibri"/>
                <a:cs typeface="Calibri"/>
              </a:rPr>
              <a:t>initial </a:t>
            </a:r>
            <a:r>
              <a:rPr dirty="0" sz="3200" b="1">
                <a:latin typeface="Calibri"/>
                <a:cs typeface="Calibri"/>
              </a:rPr>
              <a:t>+ </a:t>
            </a:r>
            <a:r>
              <a:rPr dirty="0" sz="3200" spc="-35" b="1">
                <a:latin typeface="Calibri"/>
                <a:cs typeface="Calibri"/>
              </a:rPr>
              <a:t>rate </a:t>
            </a:r>
            <a:r>
              <a:rPr dirty="0" sz="3200" b="1">
                <a:latin typeface="Calibri"/>
                <a:cs typeface="Calibri"/>
              </a:rPr>
              <a:t>* </a:t>
            </a:r>
            <a:r>
              <a:rPr dirty="0" sz="3200" spc="-5" b="1">
                <a:latin typeface="Calibri"/>
                <a:cs typeface="Calibri"/>
              </a:rPr>
              <a:t>60</a:t>
            </a:r>
            <a:r>
              <a:rPr dirty="0" sz="3200" spc="-5">
                <a:latin typeface="Calibri"/>
                <a:cs typeface="Calibri"/>
              </a:rPr>
              <a:t>,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phrase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rate </a:t>
            </a:r>
            <a:r>
              <a:rPr dirty="0" sz="3200">
                <a:latin typeface="Calibri"/>
                <a:cs typeface="Calibri"/>
              </a:rPr>
              <a:t>* </a:t>
            </a:r>
            <a:r>
              <a:rPr dirty="0" sz="3200" spc="5">
                <a:latin typeface="Calibri"/>
                <a:cs typeface="Calibri"/>
              </a:rPr>
              <a:t>60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5">
                <a:latin typeface="Calibri"/>
                <a:cs typeface="Calibri"/>
              </a:rPr>
              <a:t>logical </a:t>
            </a:r>
            <a:r>
              <a:rPr dirty="0" sz="3200">
                <a:latin typeface="Calibri"/>
                <a:cs typeface="Calibri"/>
              </a:rPr>
              <a:t>unit </a:t>
            </a:r>
            <a:r>
              <a:rPr dirty="0" sz="3200" spc="-5">
                <a:latin typeface="Calibri"/>
                <a:cs typeface="Calibri"/>
              </a:rPr>
              <a:t>because </a:t>
            </a:r>
            <a:r>
              <a:rPr dirty="0" sz="3200">
                <a:latin typeface="Calibri"/>
                <a:cs typeface="Calibri"/>
              </a:rPr>
              <a:t>the usual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conventions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5">
                <a:latin typeface="Calibri"/>
                <a:cs typeface="Calibri"/>
              </a:rPr>
              <a:t>arithmetic </a:t>
            </a:r>
            <a:r>
              <a:rPr dirty="0" sz="3200" spc="-15">
                <a:latin typeface="Calibri"/>
                <a:cs typeface="Calibri"/>
              </a:rPr>
              <a:t>expressions </a:t>
            </a:r>
            <a:r>
              <a:rPr dirty="0" sz="3200" spc="-10">
                <a:latin typeface="Calibri"/>
                <a:cs typeface="Calibri"/>
              </a:rPr>
              <a:t>tell </a:t>
            </a:r>
            <a:r>
              <a:rPr dirty="0" sz="3200" spc="-5">
                <a:latin typeface="Calibri"/>
                <a:cs typeface="Calibri"/>
              </a:rPr>
              <a:t>us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that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multiplication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performed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before 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addition.</a:t>
            </a:r>
            <a:endParaRPr sz="32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Because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expression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initial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+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 spc="-35" b="1">
                <a:latin typeface="Calibri"/>
                <a:cs typeface="Calibri"/>
              </a:rPr>
              <a:t>rate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followed </a:t>
            </a:r>
            <a:r>
              <a:rPr dirty="0" sz="3200" spc="-10">
                <a:latin typeface="Calibri"/>
                <a:cs typeface="Calibri"/>
              </a:rPr>
              <a:t>by </a:t>
            </a:r>
            <a:r>
              <a:rPr dirty="0" sz="3200">
                <a:latin typeface="Calibri"/>
                <a:cs typeface="Calibri"/>
              </a:rPr>
              <a:t>a *, it </a:t>
            </a:r>
            <a:r>
              <a:rPr dirty="0" sz="3200" spc="-5">
                <a:latin typeface="Calibri"/>
                <a:cs typeface="Calibri"/>
              </a:rPr>
              <a:t>is not </a:t>
            </a:r>
            <a:r>
              <a:rPr dirty="0" sz="3200" spc="-10">
                <a:latin typeface="Calibri"/>
                <a:cs typeface="Calibri"/>
              </a:rPr>
              <a:t>grouped </a:t>
            </a:r>
            <a:r>
              <a:rPr dirty="0" sz="3200" spc="-15">
                <a:latin typeface="Calibri"/>
                <a:cs typeface="Calibri"/>
              </a:rPr>
              <a:t>into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single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phrase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itself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2755" cy="2660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214755" algn="l"/>
                <a:tab pos="3371850" algn="l"/>
                <a:tab pos="5123180" algn="l"/>
                <a:tab pos="5706745" algn="l"/>
                <a:tab pos="6148705" algn="l"/>
                <a:tab pos="7804150" algn="l"/>
              </a:tabLst>
            </a:pPr>
            <a:r>
              <a:rPr dirty="0" sz="3200" spc="-5">
                <a:latin typeface="Calibri"/>
                <a:cs typeface="Calibri"/>
              </a:rPr>
              <a:t>Th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hie</a:t>
            </a:r>
            <a:r>
              <a:rPr dirty="0" sz="3200" spc="-7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5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chi</a:t>
            </a:r>
            <a:r>
              <a:rPr dirty="0" sz="3200" spc="-35">
                <a:latin typeface="Calibri"/>
                <a:cs typeface="Calibri"/>
              </a:rPr>
              <a:t>c</a:t>
            </a:r>
            <a:r>
              <a:rPr dirty="0" sz="3200">
                <a:latin typeface="Calibri"/>
                <a:cs typeface="Calibri"/>
              </a:rPr>
              <a:t>al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5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tr</a:t>
            </a:r>
            <a:r>
              <a:rPr dirty="0" sz="3200" spc="-15">
                <a:latin typeface="Calibri"/>
                <a:cs typeface="Calibri"/>
              </a:rPr>
              <a:t>u</a:t>
            </a:r>
            <a:r>
              <a:rPr dirty="0" sz="3200">
                <a:latin typeface="Calibri"/>
                <a:cs typeface="Calibri"/>
              </a:rPr>
              <a:t>ctu</a:t>
            </a:r>
            <a:r>
              <a:rPr dirty="0" sz="3200" spc="-3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p</a:t>
            </a:r>
            <a:r>
              <a:rPr dirty="0" sz="3200" spc="-45">
                <a:latin typeface="Calibri"/>
                <a:cs typeface="Calibri"/>
              </a:rPr>
              <a:t>r</a:t>
            </a:r>
            <a:r>
              <a:rPr dirty="0" sz="3200" spc="-5">
                <a:latin typeface="Calibri"/>
                <a:cs typeface="Calibri"/>
              </a:rPr>
              <a:t>og</a:t>
            </a:r>
            <a:r>
              <a:rPr dirty="0" sz="3200" spc="-7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am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5">
                <a:latin typeface="Calibri"/>
                <a:cs typeface="Calibri"/>
              </a:rPr>
              <a:t>is  </a:t>
            </a:r>
            <a:r>
              <a:rPr dirty="0" sz="3200" spc="-5">
                <a:latin typeface="Calibri"/>
                <a:cs typeface="Calibri"/>
              </a:rPr>
              <a:t>usually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expressed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recursive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rules.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marL="355600" marR="8255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  <a:tab pos="1120775" algn="l"/>
                <a:tab pos="2844800" algn="l"/>
                <a:tab pos="3561079" algn="l"/>
                <a:tab pos="4745355" algn="l"/>
                <a:tab pos="5756910" algn="l"/>
                <a:tab pos="6537325" algn="l"/>
              </a:tabLst>
            </a:pPr>
            <a:r>
              <a:rPr dirty="0" sz="3200" spc="-50">
                <a:latin typeface="Calibri"/>
                <a:cs typeface="Calibri"/>
              </a:rPr>
              <a:t>F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0">
                <a:latin typeface="Calibri"/>
                <a:cs typeface="Calibri"/>
              </a:rPr>
              <a:t>e</a:t>
            </a:r>
            <a:r>
              <a:rPr dirty="0" sz="3200" spc="-60">
                <a:latin typeface="Calibri"/>
                <a:cs typeface="Calibri"/>
              </a:rPr>
              <a:t>x</a:t>
            </a:r>
            <a:r>
              <a:rPr dirty="0" sz="3200" spc="-15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mple,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0">
                <a:latin typeface="Calibri"/>
                <a:cs typeface="Calibri"/>
              </a:rPr>
              <a:t>w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5">
                <a:latin typeface="Calibri"/>
                <a:cs typeface="Calibri"/>
              </a:rPr>
              <a:t>m</a:t>
            </a:r>
            <a:r>
              <a:rPr dirty="0" sz="3200" spc="-15">
                <a:latin typeface="Calibri"/>
                <a:cs typeface="Calibri"/>
              </a:rPr>
              <a:t>i</a:t>
            </a:r>
            <a:r>
              <a:rPr dirty="0" sz="3200">
                <a:latin typeface="Calibri"/>
                <a:cs typeface="Calibri"/>
              </a:rPr>
              <a:t>g</a:t>
            </a:r>
            <a:r>
              <a:rPr dirty="0" sz="3200" spc="-25">
                <a:latin typeface="Calibri"/>
                <a:cs typeface="Calibri"/>
              </a:rPr>
              <a:t>h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h</a:t>
            </a:r>
            <a:r>
              <a:rPr dirty="0" sz="3200" spc="-55">
                <a:latin typeface="Calibri"/>
                <a:cs typeface="Calibri"/>
              </a:rPr>
              <a:t>a</a:t>
            </a:r>
            <a:r>
              <a:rPr dirty="0" sz="3200" spc="-35">
                <a:latin typeface="Calibri"/>
                <a:cs typeface="Calibri"/>
              </a:rPr>
              <a:t>v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80">
                <a:latin typeface="Calibri"/>
                <a:cs typeface="Calibri"/>
              </a:rPr>
              <a:t>f</a:t>
            </a:r>
            <a:r>
              <a:rPr dirty="0" sz="3200" spc="-5">
                <a:latin typeface="Calibri"/>
                <a:cs typeface="Calibri"/>
              </a:rPr>
              <a:t>ollow</a:t>
            </a:r>
            <a:r>
              <a:rPr dirty="0" sz="3200" spc="-15">
                <a:latin typeface="Calibri"/>
                <a:cs typeface="Calibri"/>
              </a:rPr>
              <a:t>i</a:t>
            </a:r>
            <a:r>
              <a:rPr dirty="0" sz="3200" spc="-5">
                <a:latin typeface="Calibri"/>
                <a:cs typeface="Calibri"/>
              </a:rPr>
              <a:t>ng  </a:t>
            </a:r>
            <a:r>
              <a:rPr dirty="0" sz="3200" spc="-5">
                <a:latin typeface="Calibri"/>
                <a:cs typeface="Calibri"/>
              </a:rPr>
              <a:t>rules,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 </a:t>
            </a:r>
            <a:r>
              <a:rPr dirty="0" sz="3200" spc="-5">
                <a:latin typeface="Calibri"/>
                <a:cs typeface="Calibri"/>
              </a:rPr>
              <a:t>part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definition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expression: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510635"/>
            <a:ext cx="8089900" cy="380746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dirty="0" sz="3200" spc="-25">
                <a:latin typeface="Calibri"/>
                <a:cs typeface="Calibri"/>
              </a:rPr>
              <a:t>Any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identifier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expression.</a:t>
            </a:r>
            <a:endParaRPr sz="3200">
              <a:latin typeface="Calibri"/>
              <a:cs typeface="Calibri"/>
            </a:endParaRPr>
          </a:p>
          <a:p>
            <a:pPr marL="3810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dirty="0" sz="3200" spc="-20">
                <a:latin typeface="Calibri"/>
                <a:cs typeface="Calibri"/>
              </a:rPr>
              <a:t>Any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number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 </a:t>
            </a:r>
            <a:r>
              <a:rPr dirty="0" sz="3200" spc="-10">
                <a:latin typeface="Calibri"/>
                <a:cs typeface="Calibri"/>
              </a:rPr>
              <a:t>expression</a:t>
            </a:r>
            <a:endParaRPr sz="3200">
              <a:latin typeface="Calibri"/>
              <a:cs typeface="Calibri"/>
            </a:endParaRPr>
          </a:p>
          <a:p>
            <a:pPr marL="381000" marR="304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dirty="0" sz="3200">
                <a:latin typeface="Calibri"/>
                <a:cs typeface="Calibri"/>
              </a:rPr>
              <a:t>If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expression</a:t>
            </a:r>
            <a:r>
              <a:rPr dirty="0" baseline="-21164" sz="3150" spc="-15">
                <a:latin typeface="Calibri"/>
                <a:cs typeface="Calibri"/>
              </a:rPr>
              <a:t>1</a:t>
            </a:r>
            <a:r>
              <a:rPr dirty="0" baseline="-21164" sz="3150" spc="359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expression</a:t>
            </a:r>
            <a:r>
              <a:rPr dirty="0" baseline="-21164" sz="3150" spc="-15">
                <a:latin typeface="Calibri"/>
                <a:cs typeface="Calibri"/>
              </a:rPr>
              <a:t>2</a:t>
            </a:r>
            <a:r>
              <a:rPr dirty="0" baseline="-21164" sz="3150" spc="352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expressions,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then</a:t>
            </a:r>
            <a:r>
              <a:rPr dirty="0" sz="3200" spc="-5">
                <a:latin typeface="Calibri"/>
                <a:cs typeface="Calibri"/>
              </a:rPr>
              <a:t> so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endParaRPr sz="3200">
              <a:latin typeface="Calibri"/>
              <a:cs typeface="Calibri"/>
            </a:endParaRPr>
          </a:p>
          <a:p>
            <a:pPr lvl="1" marL="781685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dirty="0" sz="2800" spc="-10">
                <a:latin typeface="Calibri"/>
                <a:cs typeface="Calibri"/>
              </a:rPr>
              <a:t>Expression</a:t>
            </a:r>
            <a:r>
              <a:rPr dirty="0" baseline="-21021" sz="2775" spc="-15">
                <a:latin typeface="Calibri"/>
                <a:cs typeface="Calibri"/>
              </a:rPr>
              <a:t>1</a:t>
            </a:r>
            <a:r>
              <a:rPr dirty="0" baseline="-21021" sz="2775" spc="3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+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expression</a:t>
            </a:r>
            <a:r>
              <a:rPr dirty="0" baseline="-21021" sz="2775" spc="-22">
                <a:latin typeface="Calibri"/>
                <a:cs typeface="Calibri"/>
              </a:rPr>
              <a:t>2</a:t>
            </a:r>
            <a:endParaRPr baseline="-21021" sz="2775">
              <a:latin typeface="Calibri"/>
              <a:cs typeface="Calibri"/>
            </a:endParaRPr>
          </a:p>
          <a:p>
            <a:pPr lvl="1" marL="7816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82320" algn="l"/>
              </a:tabLst>
            </a:pPr>
            <a:r>
              <a:rPr dirty="0" sz="2800" spc="-10">
                <a:latin typeface="Calibri"/>
                <a:cs typeface="Calibri"/>
              </a:rPr>
              <a:t>Expression</a:t>
            </a:r>
            <a:r>
              <a:rPr dirty="0" baseline="-21021" sz="2775" spc="-15">
                <a:latin typeface="Calibri"/>
                <a:cs typeface="Calibri"/>
              </a:rPr>
              <a:t>1</a:t>
            </a:r>
            <a:r>
              <a:rPr dirty="0" baseline="-21021" sz="2775" spc="3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*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expression</a:t>
            </a:r>
            <a:r>
              <a:rPr dirty="0" baseline="-21021" sz="2775" spc="-22">
                <a:latin typeface="Calibri"/>
                <a:cs typeface="Calibri"/>
              </a:rPr>
              <a:t>2</a:t>
            </a:r>
            <a:endParaRPr baseline="-21021" sz="2775">
              <a:latin typeface="Calibri"/>
              <a:cs typeface="Calibri"/>
            </a:endParaRPr>
          </a:p>
          <a:p>
            <a:pPr lvl="1" marL="7816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dirty="0" sz="2800" spc="-10">
                <a:latin typeface="Calibri"/>
                <a:cs typeface="Calibri"/>
              </a:rPr>
              <a:t>(Expression</a:t>
            </a:r>
            <a:r>
              <a:rPr dirty="0" baseline="-21021" sz="2775" spc="-15">
                <a:latin typeface="Calibri"/>
                <a:cs typeface="Calibri"/>
              </a:rPr>
              <a:t>1</a:t>
            </a:r>
            <a:r>
              <a:rPr dirty="0" baseline="-21021" sz="27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5295" cy="2393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 b="1">
                <a:latin typeface="Calibri"/>
                <a:cs typeface="Calibri"/>
              </a:rPr>
              <a:t>Semantic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Analysis</a:t>
            </a:r>
            <a:r>
              <a:rPr dirty="0" sz="320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</a:pPr>
            <a:r>
              <a:rPr dirty="0" sz="2800" spc="-5">
                <a:latin typeface="Arial MT"/>
                <a:cs typeface="Arial MT"/>
              </a:rPr>
              <a:t>– </a:t>
            </a:r>
            <a:r>
              <a:rPr dirty="0" sz="2800" spc="-5">
                <a:latin typeface="Calibri"/>
                <a:cs typeface="Calibri"/>
              </a:rPr>
              <a:t>In which </a:t>
            </a:r>
            <a:r>
              <a:rPr dirty="0" sz="2800" spc="-10">
                <a:latin typeface="Calibri"/>
                <a:cs typeface="Calibri"/>
              </a:rPr>
              <a:t>certain checks </a:t>
            </a:r>
            <a:r>
              <a:rPr dirty="0" sz="2800" spc="-20">
                <a:latin typeface="Calibri"/>
                <a:cs typeface="Calibri"/>
              </a:rPr>
              <a:t>are </a:t>
            </a:r>
            <a:r>
              <a:rPr dirty="0" sz="2800" spc="-15">
                <a:latin typeface="Calibri"/>
                <a:cs typeface="Calibri"/>
              </a:rPr>
              <a:t>performed </a:t>
            </a:r>
            <a:r>
              <a:rPr dirty="0" sz="2800" spc="-10">
                <a:latin typeface="Calibri"/>
                <a:cs typeface="Calibri"/>
              </a:rPr>
              <a:t>to ensure 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that</a:t>
            </a:r>
            <a:r>
              <a:rPr dirty="0" sz="2800" spc="-5">
                <a:latin typeface="Calibri"/>
                <a:cs typeface="Calibri"/>
              </a:rPr>
              <a:t> 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components</a:t>
            </a:r>
            <a:r>
              <a:rPr dirty="0" sz="2800" spc="-5">
                <a:latin typeface="Calibri"/>
                <a:cs typeface="Calibri"/>
              </a:rPr>
              <a:t> 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program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fit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together 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meaningfully.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4659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semantic </a:t>
            </a:r>
            <a:r>
              <a:rPr dirty="0" sz="3200" spc="-5">
                <a:latin typeface="Calibri"/>
                <a:cs typeface="Calibri"/>
              </a:rPr>
              <a:t>analysis </a:t>
            </a:r>
            <a:r>
              <a:rPr dirty="0" sz="3200">
                <a:latin typeface="Calibri"/>
                <a:cs typeface="Calibri"/>
              </a:rPr>
              <a:t>phase </a:t>
            </a:r>
            <a:r>
              <a:rPr dirty="0" sz="3200" spc="-5">
                <a:latin typeface="Calibri"/>
                <a:cs typeface="Calibri"/>
              </a:rPr>
              <a:t>checks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source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program </a:t>
            </a:r>
            <a:r>
              <a:rPr dirty="0" sz="3200" spc="-30">
                <a:latin typeface="Calibri"/>
                <a:cs typeface="Calibri"/>
              </a:rPr>
              <a:t>for </a:t>
            </a:r>
            <a:r>
              <a:rPr dirty="0" sz="3200" spc="-10">
                <a:latin typeface="Calibri"/>
                <a:cs typeface="Calibri"/>
              </a:rPr>
              <a:t>semantic </a:t>
            </a:r>
            <a:r>
              <a:rPr dirty="0" sz="3200" spc="-20">
                <a:latin typeface="Calibri"/>
                <a:cs typeface="Calibri"/>
              </a:rPr>
              <a:t>errors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20">
                <a:latin typeface="Calibri"/>
                <a:cs typeface="Calibri"/>
              </a:rPr>
              <a:t>gathers </a:t>
            </a:r>
            <a:r>
              <a:rPr dirty="0" sz="3200">
                <a:latin typeface="Calibri"/>
                <a:cs typeface="Calibri"/>
              </a:rPr>
              <a:t>type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information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for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subsequent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code-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generation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phase.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3390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It uses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hierarchical </a:t>
            </a:r>
            <a:r>
              <a:rPr dirty="0" sz="3200" spc="-10">
                <a:latin typeface="Calibri"/>
                <a:cs typeface="Calibri"/>
              </a:rPr>
              <a:t>structure determined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syntax-analysis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phase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identify</a:t>
            </a:r>
            <a:r>
              <a:rPr dirty="0" sz="3200">
                <a:latin typeface="Calibri"/>
                <a:cs typeface="Calibri"/>
              </a:rPr>
              <a:t> the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operators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operand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expressions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statements.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8072755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698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An </a:t>
            </a:r>
            <a:r>
              <a:rPr dirty="0" sz="3200" spc="-10">
                <a:latin typeface="Calibri"/>
                <a:cs typeface="Calibri"/>
              </a:rPr>
              <a:t>important component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5">
                <a:latin typeface="Calibri"/>
                <a:cs typeface="Calibri"/>
              </a:rPr>
              <a:t>semantic analysis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type checking.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15">
                <a:latin typeface="Calibri"/>
                <a:cs typeface="Calibri"/>
              </a:rPr>
              <a:t>Here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are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compiler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checks</a:t>
            </a:r>
            <a:r>
              <a:rPr dirty="0" sz="3200" spc="-5">
                <a:latin typeface="Calibri"/>
                <a:cs typeface="Calibri"/>
              </a:rPr>
              <a:t> that</a:t>
            </a:r>
            <a:r>
              <a:rPr dirty="0" sz="3200">
                <a:latin typeface="Calibri"/>
                <a:cs typeface="Calibri"/>
              </a:rPr>
              <a:t> each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operator </a:t>
            </a:r>
            <a:r>
              <a:rPr dirty="0" sz="3200" spc="-5">
                <a:latin typeface="Calibri"/>
                <a:cs typeface="Calibri"/>
              </a:rPr>
              <a:t>has </a:t>
            </a:r>
            <a:r>
              <a:rPr dirty="0" sz="3200" spc="-10">
                <a:latin typeface="Calibri"/>
                <a:cs typeface="Calibri"/>
              </a:rPr>
              <a:t>operands </a:t>
            </a:r>
            <a:r>
              <a:rPr dirty="0" sz="3200" spc="-5">
                <a:latin typeface="Calibri"/>
                <a:cs typeface="Calibri"/>
              </a:rPr>
              <a:t>that </a:t>
            </a:r>
            <a:r>
              <a:rPr dirty="0" sz="3200" spc="-15">
                <a:latin typeface="Calibri"/>
                <a:cs typeface="Calibri"/>
              </a:rPr>
              <a:t>are permitted </a:t>
            </a:r>
            <a:r>
              <a:rPr dirty="0" sz="3200" spc="-5">
                <a:latin typeface="Calibri"/>
                <a:cs typeface="Calibri"/>
              </a:rPr>
              <a:t>by 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source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language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specification.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92858"/>
            <a:ext cx="27628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252855" algn="l"/>
              </a:tabLst>
            </a:pPr>
            <a:r>
              <a:rPr dirty="0" sz="3200" spc="-50">
                <a:latin typeface="Calibri"/>
                <a:cs typeface="Calibri"/>
              </a:rPr>
              <a:t>F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0">
                <a:latin typeface="Calibri"/>
                <a:cs typeface="Calibri"/>
              </a:rPr>
              <a:t>e</a:t>
            </a:r>
            <a:r>
              <a:rPr dirty="0" sz="3200" spc="-60">
                <a:latin typeface="Calibri"/>
                <a:cs typeface="Calibri"/>
              </a:rPr>
              <a:t>x</a:t>
            </a:r>
            <a:r>
              <a:rPr dirty="0" sz="3200" spc="-15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mple,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33342" y="2192858"/>
            <a:ext cx="497522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92225" algn="l"/>
                <a:tab pos="1849120" algn="l"/>
                <a:tab pos="3254375" algn="l"/>
              </a:tabLst>
            </a:pPr>
            <a:r>
              <a:rPr dirty="0" sz="3200">
                <a:latin typeface="Calibri"/>
                <a:cs typeface="Calibri"/>
              </a:rPr>
              <a:t>when	a	</a:t>
            </a:r>
            <a:r>
              <a:rPr dirty="0" sz="3200" spc="-5">
                <a:latin typeface="Calibri"/>
                <a:cs typeface="Calibri"/>
              </a:rPr>
              <a:t>binary	arithmetic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2680843"/>
            <a:ext cx="7729220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spc="-20">
                <a:latin typeface="Calibri"/>
                <a:cs typeface="Calibri"/>
              </a:rPr>
              <a:t>operator </a:t>
            </a:r>
            <a:r>
              <a:rPr dirty="0" sz="3200" spc="-5">
                <a:latin typeface="Calibri"/>
                <a:cs typeface="Calibri"/>
              </a:rPr>
              <a:t>is </a:t>
            </a:r>
            <a:r>
              <a:rPr dirty="0" sz="3200">
                <a:latin typeface="Calibri"/>
                <a:cs typeface="Calibri"/>
              </a:rPr>
              <a:t>applied </a:t>
            </a:r>
            <a:r>
              <a:rPr dirty="0" sz="3200" spc="-2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an </a:t>
            </a:r>
            <a:r>
              <a:rPr dirty="0" sz="3200" spc="-15">
                <a:latin typeface="Calibri"/>
                <a:cs typeface="Calibri"/>
              </a:rPr>
              <a:t>integer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10">
                <a:latin typeface="Calibri"/>
                <a:cs typeface="Calibri"/>
              </a:rPr>
              <a:t>real. </a:t>
            </a:r>
            <a:r>
              <a:rPr dirty="0" sz="3200" spc="-5">
                <a:latin typeface="Calibri"/>
                <a:cs typeface="Calibri"/>
              </a:rPr>
              <a:t>In </a:t>
            </a:r>
            <a:r>
              <a:rPr dirty="0" sz="3200">
                <a:latin typeface="Calibri"/>
                <a:cs typeface="Calibri"/>
              </a:rPr>
              <a:t> this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case,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compiler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may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need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be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converting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integer </a:t>
            </a:r>
            <a:r>
              <a:rPr dirty="0" sz="3200" spc="-20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latin typeface="Calibri"/>
                <a:cs typeface="Calibri"/>
              </a:rPr>
              <a:t>real. </a:t>
            </a:r>
            <a:r>
              <a:rPr dirty="0" sz="3200">
                <a:latin typeface="Calibri"/>
                <a:cs typeface="Calibri"/>
              </a:rPr>
              <a:t>As </a:t>
            </a:r>
            <a:r>
              <a:rPr dirty="0" sz="3200" spc="-5">
                <a:latin typeface="Calibri"/>
                <a:cs typeface="Calibri"/>
              </a:rPr>
              <a:t>shown </a:t>
            </a:r>
            <a:r>
              <a:rPr dirty="0" sz="3200" spc="5">
                <a:latin typeface="Calibri"/>
                <a:cs typeface="Calibri"/>
              </a:rPr>
              <a:t>in 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figure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given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below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6836" y="2427594"/>
            <a:ext cx="3948299" cy="31161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973"/>
            <a:ext cx="8073390" cy="428752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10" b="1">
                <a:latin typeface="Calibri"/>
                <a:cs typeface="Calibri"/>
              </a:rPr>
              <a:t>Symbol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spc="-50" b="1">
                <a:latin typeface="Calibri"/>
                <a:cs typeface="Calibri"/>
              </a:rPr>
              <a:t>Table</a:t>
            </a:r>
            <a:r>
              <a:rPr dirty="0" sz="3200" spc="-1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Management</a:t>
            </a:r>
            <a:r>
              <a:rPr dirty="0" sz="3200" spc="-1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algn="just" lvl="1" marL="756285" marR="5715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>
                <a:latin typeface="Calibri"/>
                <a:cs typeface="Calibri"/>
              </a:rPr>
              <a:t>An essential function of a </a:t>
            </a:r>
            <a:r>
              <a:rPr dirty="0" sz="2800" spc="-10">
                <a:latin typeface="Calibri"/>
                <a:cs typeface="Calibri"/>
              </a:rPr>
              <a:t>compiler is </a:t>
            </a:r>
            <a:r>
              <a:rPr dirty="0" sz="2800" spc="-20">
                <a:latin typeface="Calibri"/>
                <a:cs typeface="Calibri"/>
              </a:rPr>
              <a:t>to record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identifiers </a:t>
            </a:r>
            <a:r>
              <a:rPr dirty="0" sz="2800" spc="-10">
                <a:latin typeface="Calibri"/>
                <a:cs typeface="Calibri"/>
              </a:rPr>
              <a:t>used </a:t>
            </a:r>
            <a:r>
              <a:rPr dirty="0" sz="2800">
                <a:latin typeface="Calibri"/>
                <a:cs typeface="Calibri"/>
              </a:rPr>
              <a:t>in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source </a:t>
            </a:r>
            <a:r>
              <a:rPr dirty="0" sz="2800" spc="-20">
                <a:latin typeface="Calibri"/>
                <a:cs typeface="Calibri"/>
              </a:rPr>
              <a:t>program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0">
                <a:latin typeface="Calibri"/>
                <a:cs typeface="Calibri"/>
              </a:rPr>
              <a:t>collect 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information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about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various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attributes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each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identifier.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 MT"/>
              <a:buChar char="–"/>
            </a:pPr>
            <a:endParaRPr sz="385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dirty="0" sz="2800" spc="-10">
                <a:latin typeface="Calibri"/>
                <a:cs typeface="Calibri"/>
              </a:rPr>
              <a:t>These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attributes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may</a:t>
            </a:r>
            <a:r>
              <a:rPr dirty="0" sz="2800" spc="-15">
                <a:latin typeface="Calibri"/>
                <a:cs typeface="Calibri"/>
              </a:rPr>
              <a:t> provide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information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about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storage </a:t>
            </a:r>
            <a:r>
              <a:rPr dirty="0" sz="2800" spc="-15">
                <a:latin typeface="Calibri"/>
                <a:cs typeface="Calibri"/>
              </a:rPr>
              <a:t>allocated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an </a:t>
            </a:r>
            <a:r>
              <a:rPr dirty="0" sz="2800" spc="-30">
                <a:latin typeface="Calibri"/>
                <a:cs typeface="Calibri"/>
              </a:rPr>
              <a:t>identifier, </a:t>
            </a:r>
            <a:r>
              <a:rPr dirty="0" sz="2800" spc="-5">
                <a:latin typeface="Calibri"/>
                <a:cs typeface="Calibri"/>
              </a:rPr>
              <a:t>its type, its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scope.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10613"/>
            <a:ext cx="7616190" cy="3183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9085" marR="5080" indent="-287020">
              <a:lnSpc>
                <a:spcPct val="100000"/>
              </a:lnSpc>
              <a:spcBef>
                <a:spcPts val="95"/>
              </a:spcBef>
              <a:buFont typeface="Arial MT"/>
              <a:buChar char="–"/>
              <a:tabLst>
                <a:tab pos="299720" algn="l"/>
              </a:tabLst>
            </a:pPr>
            <a:r>
              <a:rPr dirty="0" sz="2800" spc="-10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symbol </a:t>
            </a:r>
            <a:r>
              <a:rPr dirty="0" sz="2800" spc="-10">
                <a:latin typeface="Calibri"/>
                <a:cs typeface="Calibri"/>
              </a:rPr>
              <a:t>table </a:t>
            </a:r>
            <a:r>
              <a:rPr dirty="0" sz="2800">
                <a:latin typeface="Calibri"/>
                <a:cs typeface="Calibri"/>
              </a:rPr>
              <a:t>is </a:t>
            </a:r>
            <a:r>
              <a:rPr dirty="0" sz="2800" spc="-5">
                <a:latin typeface="Calibri"/>
                <a:cs typeface="Calibri"/>
              </a:rPr>
              <a:t>a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 spc="-15">
                <a:latin typeface="Calibri"/>
                <a:cs typeface="Calibri"/>
              </a:rPr>
              <a:t>structure containing </a:t>
            </a:r>
            <a:r>
              <a:rPr dirty="0" sz="2800" spc="-5">
                <a:latin typeface="Calibri"/>
                <a:cs typeface="Calibri"/>
              </a:rPr>
              <a:t>a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record</a:t>
            </a:r>
            <a:r>
              <a:rPr dirty="0" sz="2800" spc="-20">
                <a:latin typeface="Calibri"/>
                <a:cs typeface="Calibri"/>
              </a:rPr>
              <a:t> for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each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identifier</a:t>
            </a:r>
            <a:r>
              <a:rPr dirty="0" sz="2800" spc="-5">
                <a:latin typeface="Calibri"/>
                <a:cs typeface="Calibri"/>
              </a:rPr>
              <a:t> with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fields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for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attributes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identifier.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–"/>
            </a:pPr>
            <a:endParaRPr sz="3850">
              <a:latin typeface="Calibri"/>
              <a:cs typeface="Calibri"/>
            </a:endParaRPr>
          </a:p>
          <a:p>
            <a:pPr algn="just" marL="299085" marR="5080" indent="-287020">
              <a:lnSpc>
                <a:spcPct val="100000"/>
              </a:lnSpc>
              <a:buFont typeface="Arial MT"/>
              <a:buChar char="–"/>
              <a:tabLst>
                <a:tab pos="299720" algn="l"/>
              </a:tabLst>
            </a:pPr>
            <a:r>
              <a:rPr dirty="0" sz="2800" spc="-5">
                <a:latin typeface="Calibri"/>
                <a:cs typeface="Calibri"/>
              </a:rPr>
              <a:t>When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an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identifier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</a:t>
            </a:r>
            <a:r>
              <a:rPr dirty="0" sz="2800" spc="-5">
                <a:latin typeface="Calibri"/>
                <a:cs typeface="Calibri"/>
              </a:rPr>
              <a:t> 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source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program</a:t>
            </a:r>
            <a:r>
              <a:rPr dirty="0" sz="2800" spc="-15">
                <a:latin typeface="Calibri"/>
                <a:cs typeface="Calibri"/>
              </a:rPr>
              <a:t> is 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detected by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lexical </a:t>
            </a:r>
            <a:r>
              <a:rPr dirty="0" sz="2800" spc="-40">
                <a:latin typeface="Calibri"/>
                <a:cs typeface="Calibri"/>
              </a:rPr>
              <a:t>analyzer,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 identifier </a:t>
            </a:r>
            <a:r>
              <a:rPr dirty="0" sz="2800">
                <a:latin typeface="Calibri"/>
                <a:cs typeface="Calibri"/>
              </a:rPr>
              <a:t>is 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entered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into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symbol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table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55650" marR="5080" indent="-287020">
              <a:lnSpc>
                <a:spcPct val="100000"/>
              </a:lnSpc>
              <a:spcBef>
                <a:spcPts val="95"/>
              </a:spcBef>
              <a:buFont typeface="Arial MT"/>
              <a:buChar char="–"/>
              <a:tabLst>
                <a:tab pos="756920" algn="l"/>
                <a:tab pos="2286635" algn="l"/>
                <a:tab pos="2949575" algn="l"/>
                <a:tab pos="4542155" algn="l"/>
                <a:tab pos="5019675" algn="l"/>
                <a:tab pos="5558790" algn="l"/>
                <a:tab pos="7060565" algn="l"/>
              </a:tabLst>
            </a:pPr>
            <a:r>
              <a:rPr dirty="0" sz="2800" spc="-10"/>
              <a:t>H</a:t>
            </a:r>
            <a:r>
              <a:rPr dirty="0" sz="2800" spc="-20"/>
              <a:t>o</a:t>
            </a:r>
            <a:r>
              <a:rPr dirty="0" sz="2800" spc="-25"/>
              <a:t>w</a:t>
            </a:r>
            <a:r>
              <a:rPr dirty="0" sz="2800" spc="-15"/>
              <a:t>e</a:t>
            </a:r>
            <a:r>
              <a:rPr dirty="0" sz="2800" spc="-35"/>
              <a:t>v</a:t>
            </a:r>
            <a:r>
              <a:rPr dirty="0" sz="2800" spc="-5"/>
              <a:t>e</a:t>
            </a:r>
            <a:r>
              <a:rPr dirty="0" sz="2800" spc="-250"/>
              <a:t>r</a:t>
            </a:r>
            <a:r>
              <a:rPr dirty="0" sz="2800" spc="-5"/>
              <a:t>,</a:t>
            </a:r>
            <a:r>
              <a:rPr dirty="0" sz="2800"/>
              <a:t>	</a:t>
            </a:r>
            <a:r>
              <a:rPr dirty="0" sz="2800" spc="-5"/>
              <a:t>the</a:t>
            </a:r>
            <a:r>
              <a:rPr dirty="0" sz="2800"/>
              <a:t>	</a:t>
            </a:r>
            <a:r>
              <a:rPr dirty="0" sz="2800" spc="-25"/>
              <a:t>a</a:t>
            </a:r>
            <a:r>
              <a:rPr dirty="0" sz="2800" spc="-45"/>
              <a:t>t</a:t>
            </a:r>
            <a:r>
              <a:rPr dirty="0" sz="2800" spc="-5"/>
              <a:t>tri</a:t>
            </a:r>
            <a:r>
              <a:rPr dirty="0" sz="2800"/>
              <a:t>b</a:t>
            </a:r>
            <a:r>
              <a:rPr dirty="0" sz="2800" spc="-10"/>
              <a:t>u</a:t>
            </a:r>
            <a:r>
              <a:rPr dirty="0" sz="2800" spc="-35"/>
              <a:t>t</a:t>
            </a:r>
            <a:r>
              <a:rPr dirty="0" sz="2800" spc="-5"/>
              <a:t>es</a:t>
            </a:r>
            <a:r>
              <a:rPr dirty="0" sz="2800"/>
              <a:t>	</a:t>
            </a:r>
            <a:r>
              <a:rPr dirty="0" sz="2800" spc="-5"/>
              <a:t>of</a:t>
            </a:r>
            <a:r>
              <a:rPr dirty="0" sz="2800"/>
              <a:t>	</a:t>
            </a:r>
            <a:r>
              <a:rPr dirty="0" sz="2800" spc="10"/>
              <a:t>a</a:t>
            </a:r>
            <a:r>
              <a:rPr dirty="0" sz="2800" spc="-5"/>
              <a:t>n</a:t>
            </a:r>
            <a:r>
              <a:rPr dirty="0" sz="2800"/>
              <a:t>	</a:t>
            </a:r>
            <a:r>
              <a:rPr dirty="0" sz="2800" spc="-5"/>
              <a:t>id</a:t>
            </a:r>
            <a:r>
              <a:rPr dirty="0" sz="2800" spc="5"/>
              <a:t>e</a:t>
            </a:r>
            <a:r>
              <a:rPr dirty="0" sz="2800" spc="-35"/>
              <a:t>n</a:t>
            </a:r>
            <a:r>
              <a:rPr dirty="0" sz="2800" spc="-5"/>
              <a:t>ti</a:t>
            </a:r>
            <a:r>
              <a:rPr dirty="0" sz="2800" spc="-15"/>
              <a:t>f</a:t>
            </a:r>
            <a:r>
              <a:rPr dirty="0" sz="2800" spc="-5"/>
              <a:t>ier</a:t>
            </a:r>
            <a:r>
              <a:rPr dirty="0" sz="2800"/>
              <a:t>	</a:t>
            </a:r>
            <a:r>
              <a:rPr dirty="0" sz="2800" spc="-25"/>
              <a:t>c</a:t>
            </a:r>
            <a:r>
              <a:rPr dirty="0" sz="2800" spc="-5"/>
              <a:t>a</a:t>
            </a:r>
            <a:r>
              <a:rPr dirty="0" sz="2800" spc="5"/>
              <a:t>n</a:t>
            </a:r>
            <a:r>
              <a:rPr dirty="0" sz="2800" spc="-10"/>
              <a:t>not  </a:t>
            </a:r>
            <a:r>
              <a:rPr dirty="0" sz="2800" spc="-10"/>
              <a:t>normally</a:t>
            </a:r>
            <a:r>
              <a:rPr dirty="0" sz="2800" spc="5"/>
              <a:t> </a:t>
            </a:r>
            <a:r>
              <a:rPr dirty="0" sz="2800" spc="-10"/>
              <a:t>be</a:t>
            </a:r>
            <a:r>
              <a:rPr dirty="0" sz="2800"/>
              <a:t> </a:t>
            </a:r>
            <a:r>
              <a:rPr dirty="0" sz="2800" spc="-10"/>
              <a:t>determined</a:t>
            </a:r>
            <a:r>
              <a:rPr dirty="0" sz="2800" spc="20"/>
              <a:t> </a:t>
            </a:r>
            <a:r>
              <a:rPr dirty="0" sz="2800" spc="-10"/>
              <a:t>during</a:t>
            </a:r>
            <a:r>
              <a:rPr dirty="0" sz="2800" spc="35"/>
              <a:t> </a:t>
            </a:r>
            <a:r>
              <a:rPr dirty="0" sz="2800" spc="-15"/>
              <a:t>lexical</a:t>
            </a:r>
            <a:r>
              <a:rPr dirty="0" sz="2800"/>
              <a:t> </a:t>
            </a:r>
            <a:r>
              <a:rPr dirty="0" sz="2800" spc="-10"/>
              <a:t>analysis.</a:t>
            </a:r>
            <a:endParaRPr sz="2800"/>
          </a:p>
          <a:p>
            <a:pPr marL="456565">
              <a:lnSpc>
                <a:spcPct val="100000"/>
              </a:lnSpc>
              <a:spcBef>
                <a:spcPts val="5"/>
              </a:spcBef>
              <a:buChar char="–"/>
            </a:pPr>
            <a:endParaRPr sz="3850"/>
          </a:p>
          <a:p>
            <a:pPr marL="755650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dirty="0" sz="2800" spc="-20"/>
              <a:t>For</a:t>
            </a:r>
            <a:r>
              <a:rPr dirty="0" sz="2800" spc="-15"/>
              <a:t> </a:t>
            </a:r>
            <a:r>
              <a:rPr dirty="0" sz="2800" spc="-20"/>
              <a:t>example,</a:t>
            </a:r>
            <a:r>
              <a:rPr dirty="0" sz="2800" spc="15"/>
              <a:t> </a:t>
            </a:r>
            <a:r>
              <a:rPr dirty="0" sz="2800" spc="-5"/>
              <a:t>in</a:t>
            </a:r>
            <a:r>
              <a:rPr dirty="0" sz="2800" spc="15"/>
              <a:t> </a:t>
            </a:r>
            <a:r>
              <a:rPr dirty="0" sz="2800" spc="-5"/>
              <a:t>a </a:t>
            </a:r>
            <a:r>
              <a:rPr dirty="0" sz="2800" spc="-20"/>
              <a:t>Pascal</a:t>
            </a:r>
            <a:r>
              <a:rPr dirty="0" sz="2800" spc="15"/>
              <a:t> </a:t>
            </a:r>
            <a:r>
              <a:rPr dirty="0" sz="2800" spc="-15"/>
              <a:t>declaration</a:t>
            </a:r>
            <a:r>
              <a:rPr dirty="0" sz="2800" spc="5"/>
              <a:t> </a:t>
            </a:r>
            <a:r>
              <a:rPr dirty="0" sz="2800" spc="-30"/>
              <a:t>like</a:t>
            </a:r>
            <a:endParaRPr sz="2800"/>
          </a:p>
          <a:p>
            <a:pPr marL="755650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60">
                <a:solidFill>
                  <a:srgbClr val="FF0000"/>
                </a:solidFill>
              </a:rPr>
              <a:t>Var</a:t>
            </a:r>
            <a:r>
              <a:rPr dirty="0" sz="2800" spc="-15">
                <a:solidFill>
                  <a:srgbClr val="FF0000"/>
                </a:solidFill>
              </a:rPr>
              <a:t> </a:t>
            </a:r>
            <a:r>
              <a:rPr dirty="0" sz="2800" spc="-10">
                <a:solidFill>
                  <a:srgbClr val="FF0000"/>
                </a:solidFill>
              </a:rPr>
              <a:t>position,</a:t>
            </a:r>
            <a:r>
              <a:rPr dirty="0" sz="2800" spc="35">
                <a:solidFill>
                  <a:srgbClr val="FF0000"/>
                </a:solidFill>
              </a:rPr>
              <a:t> </a:t>
            </a:r>
            <a:r>
              <a:rPr dirty="0" sz="2800" spc="-5">
                <a:solidFill>
                  <a:srgbClr val="FF0000"/>
                </a:solidFill>
              </a:rPr>
              <a:t>initial,</a:t>
            </a:r>
            <a:r>
              <a:rPr dirty="0" sz="2800" spc="10">
                <a:solidFill>
                  <a:srgbClr val="FF0000"/>
                </a:solidFill>
              </a:rPr>
              <a:t> </a:t>
            </a:r>
            <a:r>
              <a:rPr dirty="0" sz="2800" spc="-35">
                <a:solidFill>
                  <a:srgbClr val="FF0000"/>
                </a:solidFill>
              </a:rPr>
              <a:t>rate</a:t>
            </a:r>
            <a:r>
              <a:rPr dirty="0" sz="2800">
                <a:solidFill>
                  <a:srgbClr val="FF0000"/>
                </a:solidFill>
              </a:rPr>
              <a:t> </a:t>
            </a:r>
            <a:r>
              <a:rPr dirty="0" sz="2800" spc="-5">
                <a:solidFill>
                  <a:srgbClr val="FF0000"/>
                </a:solidFill>
              </a:rPr>
              <a:t>: </a:t>
            </a:r>
            <a:r>
              <a:rPr dirty="0" sz="2800" spc="-10">
                <a:solidFill>
                  <a:srgbClr val="FF0000"/>
                </a:solidFill>
              </a:rPr>
              <a:t>real;</a:t>
            </a:r>
            <a:endParaRPr sz="2800"/>
          </a:p>
          <a:p>
            <a:pPr marL="755650" marR="571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  <a:tab pos="1420495" algn="l"/>
                <a:tab pos="2190115" algn="l"/>
                <a:tab pos="2867660" algn="l"/>
                <a:tab pos="3215005" algn="l"/>
                <a:tab pos="3835400" algn="l"/>
                <a:tab pos="4939030" algn="l"/>
                <a:tab pos="5871210" algn="l"/>
                <a:tab pos="7257415" algn="l"/>
              </a:tabLst>
            </a:pPr>
            <a:r>
              <a:rPr dirty="0" sz="2800" spc="-10"/>
              <a:t>Th</a:t>
            </a:r>
            <a:r>
              <a:rPr dirty="0" sz="2800" spc="-5"/>
              <a:t>e</a:t>
            </a:r>
            <a:r>
              <a:rPr dirty="0" sz="2800"/>
              <a:t>	</a:t>
            </a:r>
            <a:r>
              <a:rPr dirty="0" sz="2800" spc="-5"/>
              <a:t>ty</a:t>
            </a:r>
            <a:r>
              <a:rPr dirty="0" sz="2800" spc="-20"/>
              <a:t>p</a:t>
            </a:r>
            <a:r>
              <a:rPr dirty="0" sz="2800" spc="-5"/>
              <a:t>e</a:t>
            </a:r>
            <a:r>
              <a:rPr dirty="0" sz="2800"/>
              <a:t>	</a:t>
            </a:r>
            <a:r>
              <a:rPr dirty="0" sz="2800" spc="-35"/>
              <a:t>r</a:t>
            </a:r>
            <a:r>
              <a:rPr dirty="0" sz="2800" spc="-5"/>
              <a:t>eal</a:t>
            </a:r>
            <a:r>
              <a:rPr dirty="0" sz="2800"/>
              <a:t>	</a:t>
            </a:r>
            <a:r>
              <a:rPr dirty="0" sz="2800" spc="-15"/>
              <a:t>i</a:t>
            </a:r>
            <a:r>
              <a:rPr dirty="0" sz="2800" spc="-5"/>
              <a:t>s</a:t>
            </a:r>
            <a:r>
              <a:rPr dirty="0" sz="2800"/>
              <a:t>	</a:t>
            </a:r>
            <a:r>
              <a:rPr dirty="0" sz="2800" spc="-10"/>
              <a:t>no</a:t>
            </a:r>
            <a:r>
              <a:rPr dirty="0" sz="2800" spc="-5"/>
              <a:t>t</a:t>
            </a:r>
            <a:r>
              <a:rPr dirty="0" sz="2800"/>
              <a:t>	</a:t>
            </a:r>
            <a:r>
              <a:rPr dirty="0" sz="2800" spc="-5"/>
              <a:t>kn</a:t>
            </a:r>
            <a:r>
              <a:rPr dirty="0" sz="2800" spc="-20"/>
              <a:t>o</a:t>
            </a:r>
            <a:r>
              <a:rPr dirty="0" sz="2800" spc="5"/>
              <a:t>w</a:t>
            </a:r>
            <a:r>
              <a:rPr dirty="0" sz="2800" spc="-5"/>
              <a:t>n</a:t>
            </a:r>
            <a:r>
              <a:rPr dirty="0" sz="2800"/>
              <a:t>	</a:t>
            </a:r>
            <a:r>
              <a:rPr dirty="0" sz="2800" spc="-5"/>
              <a:t>w</a:t>
            </a:r>
            <a:r>
              <a:rPr dirty="0" sz="2800" spc="5"/>
              <a:t>h</a:t>
            </a:r>
            <a:r>
              <a:rPr dirty="0" sz="2800" spc="-5"/>
              <a:t>en</a:t>
            </a:r>
            <a:r>
              <a:rPr dirty="0" sz="2800"/>
              <a:t>	</a:t>
            </a:r>
            <a:r>
              <a:rPr dirty="0" sz="2800" spc="-10"/>
              <a:t>p</a:t>
            </a:r>
            <a:r>
              <a:rPr dirty="0" sz="2800"/>
              <a:t>o</a:t>
            </a:r>
            <a:r>
              <a:rPr dirty="0" sz="2800" spc="-10"/>
              <a:t>si</a:t>
            </a:r>
            <a:r>
              <a:rPr dirty="0" sz="2800" spc="-15"/>
              <a:t>t</a:t>
            </a:r>
            <a:r>
              <a:rPr dirty="0" sz="2800" spc="-5"/>
              <a:t>ion,</a:t>
            </a:r>
            <a:r>
              <a:rPr dirty="0" sz="2800"/>
              <a:t>	</a:t>
            </a:r>
            <a:r>
              <a:rPr dirty="0" sz="2800" spc="-5"/>
              <a:t>init</a:t>
            </a:r>
            <a:r>
              <a:rPr dirty="0" sz="2800" spc="-20"/>
              <a:t>i</a:t>
            </a:r>
            <a:r>
              <a:rPr dirty="0" sz="2800" spc="-5"/>
              <a:t>al  </a:t>
            </a:r>
            <a:r>
              <a:rPr dirty="0" sz="2800" spc="-5"/>
              <a:t>and</a:t>
            </a:r>
            <a:r>
              <a:rPr dirty="0" sz="2800" spc="-10"/>
              <a:t> </a:t>
            </a:r>
            <a:r>
              <a:rPr dirty="0" sz="2800" spc="-35"/>
              <a:t>rate</a:t>
            </a:r>
            <a:r>
              <a:rPr dirty="0" sz="2800" spc="5"/>
              <a:t> </a:t>
            </a:r>
            <a:r>
              <a:rPr dirty="0" sz="2800" spc="-20"/>
              <a:t>are</a:t>
            </a:r>
            <a:r>
              <a:rPr dirty="0" sz="2800" spc="-10"/>
              <a:t> seen</a:t>
            </a:r>
            <a:r>
              <a:rPr dirty="0" sz="2800" spc="15"/>
              <a:t> </a:t>
            </a:r>
            <a:r>
              <a:rPr dirty="0" sz="2800" spc="-15"/>
              <a:t>by</a:t>
            </a:r>
            <a:r>
              <a:rPr dirty="0" sz="2800" spc="5"/>
              <a:t> </a:t>
            </a:r>
            <a:r>
              <a:rPr dirty="0" sz="2800" spc="-5"/>
              <a:t>the</a:t>
            </a:r>
            <a:r>
              <a:rPr dirty="0" sz="2800" spc="10"/>
              <a:t> </a:t>
            </a:r>
            <a:r>
              <a:rPr dirty="0" sz="2800" spc="-15"/>
              <a:t>lexical</a:t>
            </a:r>
            <a:r>
              <a:rPr dirty="0" sz="2800" spc="5"/>
              <a:t> </a:t>
            </a:r>
            <a:r>
              <a:rPr dirty="0" sz="2800" spc="-45"/>
              <a:t>analyzer.</a:t>
            </a:r>
            <a:endParaRPr sz="28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567942"/>
            <a:ext cx="7616825" cy="407987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299085" marR="6985" indent="-287020">
              <a:lnSpc>
                <a:spcPct val="90000"/>
              </a:lnSpc>
              <a:spcBef>
                <a:spcPts val="430"/>
              </a:spcBef>
              <a:buFont typeface="Arial MT"/>
              <a:buChar char="–"/>
              <a:tabLst>
                <a:tab pos="299720" algn="l"/>
              </a:tabLst>
            </a:pPr>
            <a:r>
              <a:rPr dirty="0" sz="2800" spc="-10">
                <a:latin typeface="Calibri"/>
                <a:cs typeface="Calibri"/>
              </a:rPr>
              <a:t>The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remaining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phases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gets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information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about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identifiers </a:t>
            </a:r>
            <a:r>
              <a:rPr dirty="0" sz="2800" spc="-20">
                <a:latin typeface="Calibri"/>
                <a:cs typeface="Calibri"/>
              </a:rPr>
              <a:t>into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symbol table </a:t>
            </a:r>
            <a:r>
              <a:rPr dirty="0" sz="2800" spc="-5">
                <a:latin typeface="Calibri"/>
                <a:cs typeface="Calibri"/>
              </a:rPr>
              <a:t>and then use this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information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various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ways.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–"/>
            </a:pPr>
            <a:endParaRPr sz="3550">
              <a:latin typeface="Calibri"/>
              <a:cs typeface="Calibri"/>
            </a:endParaRPr>
          </a:p>
          <a:p>
            <a:pPr algn="just" marL="299085" marR="5080" indent="-287020">
              <a:lnSpc>
                <a:spcPct val="90000"/>
              </a:lnSpc>
              <a:buFont typeface="Arial MT"/>
              <a:buChar char="–"/>
              <a:tabLst>
                <a:tab pos="299720" algn="l"/>
              </a:tabLst>
            </a:pPr>
            <a:r>
              <a:rPr dirty="0" sz="2800" spc="-20">
                <a:latin typeface="Calibri"/>
                <a:cs typeface="Calibri"/>
              </a:rPr>
              <a:t>For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example,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when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doing</a:t>
            </a:r>
            <a:r>
              <a:rPr dirty="0" sz="2800" spc="-5">
                <a:latin typeface="Calibri"/>
                <a:cs typeface="Calibri"/>
              </a:rPr>
              <a:t> semantic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analysis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intermediate </a:t>
            </a:r>
            <a:r>
              <a:rPr dirty="0" sz="2800" spc="-10">
                <a:latin typeface="Calibri"/>
                <a:cs typeface="Calibri"/>
              </a:rPr>
              <a:t>code </a:t>
            </a:r>
            <a:r>
              <a:rPr dirty="0" sz="2800" spc="-15">
                <a:latin typeface="Calibri"/>
                <a:cs typeface="Calibri"/>
              </a:rPr>
              <a:t>generation, we </a:t>
            </a:r>
            <a:r>
              <a:rPr dirty="0" sz="2800" spc="-5">
                <a:latin typeface="Calibri"/>
                <a:cs typeface="Calibri"/>
              </a:rPr>
              <a:t>need </a:t>
            </a:r>
            <a:r>
              <a:rPr dirty="0" sz="2800" spc="-20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know 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what </a:t>
            </a:r>
            <a:r>
              <a:rPr dirty="0" sz="2800" spc="-5">
                <a:latin typeface="Calibri"/>
                <a:cs typeface="Calibri"/>
              </a:rPr>
              <a:t>the types of </a:t>
            </a:r>
            <a:r>
              <a:rPr dirty="0" sz="2800" spc="-10">
                <a:latin typeface="Calibri"/>
                <a:cs typeface="Calibri"/>
              </a:rPr>
              <a:t>identifiers are, </a:t>
            </a:r>
            <a:r>
              <a:rPr dirty="0" sz="2800" spc="-5">
                <a:latin typeface="Calibri"/>
                <a:cs typeface="Calibri"/>
              </a:rPr>
              <a:t>so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5">
                <a:latin typeface="Calibri"/>
                <a:cs typeface="Calibri"/>
              </a:rPr>
              <a:t>check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source </a:t>
            </a:r>
            <a:r>
              <a:rPr dirty="0" sz="2800" spc="-20">
                <a:latin typeface="Calibri"/>
                <a:cs typeface="Calibri"/>
              </a:rPr>
              <a:t>program </a:t>
            </a:r>
            <a:r>
              <a:rPr dirty="0" sz="2800" spc="-10">
                <a:latin typeface="Calibri"/>
                <a:cs typeface="Calibri"/>
              </a:rPr>
              <a:t>uses </a:t>
            </a:r>
            <a:r>
              <a:rPr dirty="0" sz="2800" spc="-5">
                <a:latin typeface="Calibri"/>
                <a:cs typeface="Calibri"/>
              </a:rPr>
              <a:t>them </a:t>
            </a:r>
            <a:r>
              <a:rPr dirty="0" sz="2800">
                <a:latin typeface="Calibri"/>
                <a:cs typeface="Calibri"/>
              </a:rPr>
              <a:t>in </a:t>
            </a:r>
            <a:r>
              <a:rPr dirty="0" sz="2800" spc="-15">
                <a:latin typeface="Calibri"/>
                <a:cs typeface="Calibri"/>
              </a:rPr>
              <a:t>valid </a:t>
            </a:r>
            <a:r>
              <a:rPr dirty="0" sz="2800" spc="-30">
                <a:latin typeface="Calibri"/>
                <a:cs typeface="Calibri"/>
              </a:rPr>
              <a:t>ways, 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so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that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we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can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generate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6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proper 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operations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on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them.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/>
              <a:t>1.3</a:t>
            </a:r>
            <a:r>
              <a:rPr dirty="0" spc="-25"/>
              <a:t> </a:t>
            </a:r>
            <a:r>
              <a:rPr dirty="0" spc="-5"/>
              <a:t>The Phases</a:t>
            </a:r>
            <a:r>
              <a:rPr dirty="0" spc="-30"/>
              <a:t> </a:t>
            </a:r>
            <a:r>
              <a:rPr dirty="0"/>
              <a:t>of a</a:t>
            </a:r>
            <a:r>
              <a:rPr dirty="0" spc="-5"/>
              <a:t> 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10613"/>
            <a:ext cx="7613650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9085" marR="5080" indent="-28702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Arial MT"/>
                <a:cs typeface="Arial MT"/>
              </a:rPr>
              <a:t>– </a:t>
            </a:r>
            <a:r>
              <a:rPr dirty="0" sz="2800" spc="-10">
                <a:latin typeface="Calibri"/>
                <a:cs typeface="Calibri"/>
              </a:rPr>
              <a:t>The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code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generator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typically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enters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uses 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detailed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information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about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62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storage</a:t>
            </a:r>
            <a:r>
              <a:rPr dirty="0" sz="2800" spc="58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assigned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to identifiers.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0150" y="461594"/>
            <a:ext cx="715073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Error Detection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10"/>
              <a:t> Reporting: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15">
                <a:latin typeface="Calibri"/>
                <a:cs typeface="Calibri"/>
              </a:rPr>
              <a:t>Each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phase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can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encounter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errors.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50">
                <a:latin typeface="Calibri"/>
                <a:cs typeface="Calibri"/>
              </a:rPr>
              <a:t>However,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after</a:t>
            </a:r>
            <a:r>
              <a:rPr dirty="0" sz="3200" spc="-10">
                <a:latin typeface="Calibri"/>
                <a:cs typeface="Calibri"/>
              </a:rPr>
              <a:t> detecting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60">
                <a:latin typeface="Calibri"/>
                <a:cs typeface="Calibri"/>
              </a:rPr>
              <a:t>error,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phase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must </a:t>
            </a:r>
            <a:r>
              <a:rPr dirty="0" sz="3200">
                <a:latin typeface="Calibri"/>
                <a:cs typeface="Calibri"/>
              </a:rPr>
              <a:t>somehow </a:t>
            </a:r>
            <a:r>
              <a:rPr dirty="0" sz="3200" spc="-5">
                <a:latin typeface="Calibri"/>
                <a:cs typeface="Calibri"/>
              </a:rPr>
              <a:t>deal </a:t>
            </a:r>
            <a:r>
              <a:rPr dirty="0" sz="3200">
                <a:latin typeface="Calibri"/>
                <a:cs typeface="Calibri"/>
              </a:rPr>
              <a:t>with </a:t>
            </a:r>
            <a:r>
              <a:rPr dirty="0" sz="3200" spc="-5">
                <a:latin typeface="Calibri"/>
                <a:cs typeface="Calibri"/>
              </a:rPr>
              <a:t>that </a:t>
            </a:r>
            <a:r>
              <a:rPr dirty="0" sz="3200" spc="-60">
                <a:latin typeface="Calibri"/>
                <a:cs typeface="Calibri"/>
              </a:rPr>
              <a:t>error,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so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compilation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can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proceed,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allowing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further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errors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source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program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be </a:t>
            </a:r>
            <a:r>
              <a:rPr dirty="0" sz="3200" spc="-15">
                <a:latin typeface="Calibri"/>
                <a:cs typeface="Calibri"/>
              </a:rPr>
              <a:t>detected.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0150" y="461594"/>
            <a:ext cx="715073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Error Detection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10"/>
              <a:t> Reporting: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2755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698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compiler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20">
                <a:latin typeface="Calibri"/>
                <a:cs typeface="Calibri"/>
              </a:rPr>
              <a:t>stops </a:t>
            </a:r>
            <a:r>
              <a:rPr dirty="0" sz="3200">
                <a:latin typeface="Calibri"/>
                <a:cs typeface="Calibri"/>
              </a:rPr>
              <a:t>when it </a:t>
            </a:r>
            <a:r>
              <a:rPr dirty="0" sz="3200" spc="-5">
                <a:latin typeface="Calibri"/>
                <a:cs typeface="Calibri"/>
              </a:rPr>
              <a:t>finds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5">
                <a:latin typeface="Calibri"/>
                <a:cs typeface="Calibri"/>
              </a:rPr>
              <a:t>first 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error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not</a:t>
            </a:r>
            <a:r>
              <a:rPr dirty="0" sz="3200">
                <a:latin typeface="Calibri"/>
                <a:cs typeface="Calibri"/>
              </a:rPr>
              <a:t> as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helpful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it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could</a:t>
            </a:r>
            <a:r>
              <a:rPr dirty="0" sz="3200">
                <a:latin typeface="Calibri"/>
                <a:cs typeface="Calibri"/>
              </a:rPr>
              <a:t> be.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syntax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semantic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analysis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phases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usually</a:t>
            </a:r>
            <a:r>
              <a:rPr dirty="0" sz="3200">
                <a:latin typeface="Calibri"/>
                <a:cs typeface="Calibri"/>
              </a:rPr>
              <a:t> handle a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large</a:t>
            </a:r>
            <a:r>
              <a:rPr dirty="0" sz="3200" spc="-10">
                <a:latin typeface="Calibri"/>
                <a:cs typeface="Calibri"/>
              </a:rPr>
              <a:t> fraction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 the </a:t>
            </a:r>
            <a:r>
              <a:rPr dirty="0" sz="3200" spc="-20">
                <a:latin typeface="Calibri"/>
                <a:cs typeface="Calibri"/>
              </a:rPr>
              <a:t>errors 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detectable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45">
                <a:latin typeface="Calibri"/>
                <a:cs typeface="Calibri"/>
              </a:rPr>
              <a:t>compiler.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0150" y="461594"/>
            <a:ext cx="715073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Error Detection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10"/>
              <a:t> Reporting: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36360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25">
                <a:latin typeface="Calibri"/>
                <a:cs typeface="Calibri"/>
              </a:rPr>
              <a:t>Errors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where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token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stream</a:t>
            </a:r>
            <a:r>
              <a:rPr dirty="0" sz="3200" spc="-10">
                <a:latin typeface="Calibri"/>
                <a:cs typeface="Calibri"/>
              </a:rPr>
              <a:t> violates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structure</a:t>
            </a:r>
            <a:r>
              <a:rPr dirty="0" sz="3200" spc="-5">
                <a:latin typeface="Calibri"/>
                <a:cs typeface="Calibri"/>
              </a:rPr>
              <a:t> rules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(syntax)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language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determined by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syntax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analysis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phase.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635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lexical </a:t>
            </a:r>
            <a:r>
              <a:rPr dirty="0" sz="3200" spc="-5">
                <a:latin typeface="Calibri"/>
                <a:cs typeface="Calibri"/>
              </a:rPr>
              <a:t>phase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15">
                <a:latin typeface="Calibri"/>
                <a:cs typeface="Calibri"/>
              </a:rPr>
              <a:t>detect </a:t>
            </a:r>
            <a:r>
              <a:rPr dirty="0" sz="3200" spc="-20">
                <a:latin typeface="Calibri"/>
                <a:cs typeface="Calibri"/>
              </a:rPr>
              <a:t>errors </a:t>
            </a:r>
            <a:r>
              <a:rPr dirty="0" sz="3200" spc="-10">
                <a:latin typeface="Calibri"/>
                <a:cs typeface="Calibri"/>
              </a:rPr>
              <a:t>where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characters </a:t>
            </a:r>
            <a:r>
              <a:rPr dirty="0" sz="3200" spc="-5">
                <a:latin typeface="Calibri"/>
                <a:cs typeface="Calibri"/>
              </a:rPr>
              <a:t>remaining in </a:t>
            </a:r>
            <a:r>
              <a:rPr dirty="0" sz="3200">
                <a:latin typeface="Calibri"/>
                <a:cs typeface="Calibri"/>
              </a:rPr>
              <a:t>the input </a:t>
            </a:r>
            <a:r>
              <a:rPr dirty="0" sz="3200" spc="-5">
                <a:latin typeface="Calibri"/>
                <a:cs typeface="Calibri"/>
              </a:rPr>
              <a:t>do not </a:t>
            </a:r>
            <a:r>
              <a:rPr dirty="0" sz="3200" spc="-20">
                <a:latin typeface="Calibri"/>
                <a:cs typeface="Calibri"/>
              </a:rPr>
              <a:t>form 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any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token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 the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language.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382" y="461594"/>
            <a:ext cx="72485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Intermediate</a:t>
            </a:r>
            <a:r>
              <a:rPr dirty="0" spc="-25"/>
              <a:t> </a:t>
            </a:r>
            <a:r>
              <a:rPr dirty="0" spc="-5"/>
              <a:t>Code</a:t>
            </a:r>
            <a:r>
              <a:rPr dirty="0" spc="-40"/>
              <a:t> </a:t>
            </a:r>
            <a:r>
              <a:rPr dirty="0" spc="-15"/>
              <a:t>Generation: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2755" cy="36360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71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15">
                <a:latin typeface="Calibri"/>
                <a:cs typeface="Calibri"/>
              </a:rPr>
              <a:t>After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Syntax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semantic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analysis,</a:t>
            </a:r>
            <a:r>
              <a:rPr dirty="0" sz="3200">
                <a:latin typeface="Calibri"/>
                <a:cs typeface="Calibri"/>
              </a:rPr>
              <a:t> some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compilers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generate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explicit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intermediate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representation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source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program.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60">
                <a:latin typeface="Calibri"/>
                <a:cs typeface="Calibri"/>
              </a:rPr>
              <a:t>We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can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5">
                <a:latin typeface="Calibri"/>
                <a:cs typeface="Calibri"/>
              </a:rPr>
              <a:t>think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this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intermediate 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representation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program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for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5">
                <a:latin typeface="Calibri"/>
                <a:cs typeface="Calibri"/>
              </a:rPr>
              <a:t>an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abstract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machine.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382" y="461594"/>
            <a:ext cx="72485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Intermediate</a:t>
            </a:r>
            <a:r>
              <a:rPr dirty="0" spc="-25"/>
              <a:t> </a:t>
            </a:r>
            <a:r>
              <a:rPr dirty="0" spc="-5"/>
              <a:t>Code</a:t>
            </a:r>
            <a:r>
              <a:rPr dirty="0" spc="-40"/>
              <a:t> </a:t>
            </a:r>
            <a:r>
              <a:rPr dirty="0" spc="-15"/>
              <a:t>Generation: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160145" algn="l"/>
                <a:tab pos="3440429" algn="l"/>
                <a:tab pos="6022340" algn="l"/>
                <a:tab pos="7273925" algn="l"/>
              </a:tabLst>
            </a:pPr>
            <a:r>
              <a:rPr dirty="0" spc="-5"/>
              <a:t>Thi</a:t>
            </a:r>
            <a:r>
              <a:rPr dirty="0"/>
              <a:t>s</a:t>
            </a:r>
            <a:r>
              <a:rPr dirty="0"/>
              <a:t>	</a:t>
            </a:r>
            <a:r>
              <a:rPr dirty="0"/>
              <a:t>i</a:t>
            </a:r>
            <a:r>
              <a:rPr dirty="0" spc="-20"/>
              <a:t>n</a:t>
            </a:r>
            <a:r>
              <a:rPr dirty="0" spc="-45"/>
              <a:t>t</a:t>
            </a:r>
            <a:r>
              <a:rPr dirty="0"/>
              <a:t>ermed</a:t>
            </a:r>
            <a:r>
              <a:rPr dirty="0" spc="-15"/>
              <a:t>i</a:t>
            </a:r>
            <a:r>
              <a:rPr dirty="0" spc="-25"/>
              <a:t>a</a:t>
            </a:r>
            <a:r>
              <a:rPr dirty="0" spc="-45"/>
              <a:t>t</a:t>
            </a:r>
            <a:r>
              <a:rPr dirty="0"/>
              <a:t>e</a:t>
            </a:r>
            <a:r>
              <a:rPr dirty="0"/>
              <a:t>	</a:t>
            </a:r>
            <a:r>
              <a:rPr dirty="0" spc="-40"/>
              <a:t>r</a:t>
            </a:r>
            <a:r>
              <a:rPr dirty="0"/>
              <a:t>e</a:t>
            </a:r>
            <a:r>
              <a:rPr dirty="0" spc="-15"/>
              <a:t>p</a:t>
            </a:r>
            <a:r>
              <a:rPr dirty="0" spc="-40"/>
              <a:t>r</a:t>
            </a:r>
            <a:r>
              <a:rPr dirty="0"/>
              <a:t>e</a:t>
            </a:r>
            <a:r>
              <a:rPr dirty="0" spc="-15"/>
              <a:t>se</a:t>
            </a:r>
            <a:r>
              <a:rPr dirty="0" spc="-30"/>
              <a:t>n</a:t>
            </a:r>
            <a:r>
              <a:rPr dirty="0" spc="-45"/>
              <a:t>t</a:t>
            </a:r>
            <a:r>
              <a:rPr dirty="0" spc="-25"/>
              <a:t>a</a:t>
            </a:r>
            <a:r>
              <a:rPr dirty="0"/>
              <a:t>t</a:t>
            </a:r>
            <a:r>
              <a:rPr dirty="0" spc="-10"/>
              <a:t>i</a:t>
            </a:r>
            <a:r>
              <a:rPr dirty="0" spc="-5"/>
              <a:t>o</a:t>
            </a:r>
            <a:r>
              <a:rPr dirty="0"/>
              <a:t>n</a:t>
            </a:r>
            <a:r>
              <a:rPr dirty="0"/>
              <a:t>	</a:t>
            </a:r>
            <a:r>
              <a:rPr dirty="0" spc="-5"/>
              <a:t>shou</a:t>
            </a:r>
            <a:r>
              <a:rPr dirty="0" spc="5"/>
              <a:t>l</a:t>
            </a:r>
            <a:r>
              <a:rPr dirty="0"/>
              <a:t>d</a:t>
            </a:r>
            <a:r>
              <a:rPr dirty="0"/>
              <a:t>	</a:t>
            </a:r>
            <a:r>
              <a:rPr dirty="0" spc="-5"/>
              <a:t>h</a:t>
            </a:r>
            <a:r>
              <a:rPr dirty="0" spc="-50"/>
              <a:t>a</a:t>
            </a:r>
            <a:r>
              <a:rPr dirty="0" spc="-35"/>
              <a:t>v</a:t>
            </a:r>
            <a:r>
              <a:rPr dirty="0"/>
              <a:t>e  </a:t>
            </a:r>
            <a:r>
              <a:rPr dirty="0" spc="-10"/>
              <a:t>two</a:t>
            </a:r>
            <a:r>
              <a:rPr dirty="0" spc="-20"/>
              <a:t> </a:t>
            </a:r>
            <a:r>
              <a:rPr dirty="0" spc="-10"/>
              <a:t>important</a:t>
            </a:r>
            <a:r>
              <a:rPr dirty="0" spc="15"/>
              <a:t> </a:t>
            </a:r>
            <a:r>
              <a:rPr dirty="0" spc="-10"/>
              <a:t>properties;</a:t>
            </a:r>
          </a:p>
          <a:p>
            <a:pPr lvl="1" marL="756285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0">
                <a:latin typeface="Calibri"/>
                <a:cs typeface="Calibri"/>
              </a:rPr>
              <a:t>it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should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be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easy to produce,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5">
                <a:latin typeface="Calibri"/>
                <a:cs typeface="Calibri"/>
              </a:rPr>
              <a:t>easy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translate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into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target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program.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382" y="461594"/>
            <a:ext cx="72485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Intermediate</a:t>
            </a:r>
            <a:r>
              <a:rPr dirty="0" spc="-25"/>
              <a:t> </a:t>
            </a:r>
            <a:r>
              <a:rPr dirty="0" spc="-5"/>
              <a:t>Code</a:t>
            </a:r>
            <a:r>
              <a:rPr dirty="0" spc="-40"/>
              <a:t> </a:t>
            </a:r>
            <a:r>
              <a:rPr dirty="0" spc="-15"/>
              <a:t>Generation: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1484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5">
                <a:latin typeface="Calibri"/>
                <a:cs typeface="Calibri"/>
              </a:rPr>
              <a:t>We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consider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intermediate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form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called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“three-address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code,”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which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like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5">
                <a:latin typeface="Calibri"/>
                <a:cs typeface="Calibri"/>
              </a:rPr>
              <a:t>the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assembly</a:t>
            </a:r>
            <a:r>
              <a:rPr dirty="0" sz="3200">
                <a:latin typeface="Calibri"/>
                <a:cs typeface="Calibri"/>
              </a:rPr>
              <a:t> language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for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machine </a:t>
            </a:r>
            <a:r>
              <a:rPr dirty="0" sz="3200" spc="-5">
                <a:latin typeface="Calibri"/>
                <a:cs typeface="Calibri"/>
              </a:rPr>
              <a:t>in </a:t>
            </a:r>
            <a:r>
              <a:rPr dirty="0" sz="3200">
                <a:latin typeface="Calibri"/>
                <a:cs typeface="Calibri"/>
              </a:rPr>
              <a:t>which </a:t>
            </a:r>
            <a:r>
              <a:rPr dirty="0" sz="3200" spc="-10">
                <a:latin typeface="Calibri"/>
                <a:cs typeface="Calibri"/>
              </a:rPr>
              <a:t>every </a:t>
            </a:r>
            <a:r>
              <a:rPr dirty="0" sz="3200">
                <a:latin typeface="Calibri"/>
                <a:cs typeface="Calibri"/>
              </a:rPr>
              <a:t>memory </a:t>
            </a:r>
            <a:r>
              <a:rPr dirty="0" sz="3200" spc="-10">
                <a:latin typeface="Calibri"/>
                <a:cs typeface="Calibri"/>
              </a:rPr>
              <a:t>location can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act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like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register.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382" y="461594"/>
            <a:ext cx="72485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Intermediate</a:t>
            </a:r>
            <a:r>
              <a:rPr dirty="0" spc="-25"/>
              <a:t> </a:t>
            </a:r>
            <a:r>
              <a:rPr dirty="0" spc="-5"/>
              <a:t>Code</a:t>
            </a:r>
            <a:r>
              <a:rPr dirty="0" spc="-40"/>
              <a:t> </a:t>
            </a:r>
            <a:r>
              <a:rPr dirty="0" spc="-15"/>
              <a:t>Generation: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821295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Three-address code </a:t>
            </a:r>
            <a:r>
              <a:rPr dirty="0" sz="3200" spc="-15">
                <a:latin typeface="Calibri"/>
                <a:cs typeface="Calibri"/>
              </a:rPr>
              <a:t>consists </a:t>
            </a:r>
            <a:r>
              <a:rPr dirty="0" sz="3200">
                <a:latin typeface="Calibri"/>
                <a:cs typeface="Calibri"/>
              </a:rPr>
              <a:t>of a </a:t>
            </a:r>
            <a:r>
              <a:rPr dirty="0" sz="3200" spc="-5">
                <a:latin typeface="Calibri"/>
                <a:cs typeface="Calibri"/>
              </a:rPr>
              <a:t>sequence of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instructions, </a:t>
            </a:r>
            <a:r>
              <a:rPr dirty="0" sz="3200">
                <a:latin typeface="Calibri"/>
                <a:cs typeface="Calibri"/>
              </a:rPr>
              <a:t>each of which </a:t>
            </a:r>
            <a:r>
              <a:rPr dirty="0" sz="3200" spc="-5">
                <a:latin typeface="Calibri"/>
                <a:cs typeface="Calibri"/>
              </a:rPr>
              <a:t>has </a:t>
            </a:r>
            <a:r>
              <a:rPr dirty="0" sz="3200" spc="-15">
                <a:latin typeface="Calibri"/>
                <a:cs typeface="Calibri"/>
              </a:rPr>
              <a:t>at </a:t>
            </a:r>
            <a:r>
              <a:rPr dirty="0" sz="3200" spc="-10">
                <a:latin typeface="Calibri"/>
                <a:cs typeface="Calibri"/>
              </a:rPr>
              <a:t>most three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operands.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marL="355600" marR="198755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source </a:t>
            </a:r>
            <a:r>
              <a:rPr dirty="0" sz="3200" spc="-20">
                <a:latin typeface="Calibri"/>
                <a:cs typeface="Calibri"/>
              </a:rPr>
              <a:t>program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5">
                <a:latin typeface="Calibri"/>
                <a:cs typeface="Calibri"/>
              </a:rPr>
              <a:t>(1.1) might </a:t>
            </a:r>
            <a:r>
              <a:rPr dirty="0" sz="3200">
                <a:latin typeface="Calibri"/>
                <a:cs typeface="Calibri"/>
              </a:rPr>
              <a:t>appear in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three-address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382" y="461594"/>
            <a:ext cx="72485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Intermediate</a:t>
            </a:r>
            <a:r>
              <a:rPr dirty="0" spc="-25"/>
              <a:t> </a:t>
            </a:r>
            <a:r>
              <a:rPr dirty="0" spc="-5"/>
              <a:t>Code</a:t>
            </a:r>
            <a:r>
              <a:rPr dirty="0" spc="-40"/>
              <a:t> </a:t>
            </a:r>
            <a:r>
              <a:rPr dirty="0" spc="-15"/>
              <a:t>Generation: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661"/>
            <a:ext cx="5949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"/>
                <a:cs typeface="Calibri"/>
              </a:rPr>
              <a:t>(1.3)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16890" y="2122212"/>
          <a:ext cx="4963795" cy="1640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2589"/>
                <a:gridCol w="800735"/>
                <a:gridCol w="2490470"/>
              </a:tblGrid>
              <a:tr h="527967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3545"/>
                        </a:lnSpc>
                        <a:buFont typeface="Arial MT"/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dirty="0" sz="3200" spc="-60">
                          <a:latin typeface="Calibri"/>
                          <a:cs typeface="Calibri"/>
                        </a:rPr>
                        <a:t>Temp1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3545"/>
                        </a:lnSpc>
                      </a:pPr>
                      <a:r>
                        <a:rPr dirty="0" sz="3200" spc="-10">
                          <a:latin typeface="Calibri"/>
                          <a:cs typeface="Calibri"/>
                        </a:rPr>
                        <a:t>:=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ts val="3545"/>
                        </a:lnSpc>
                      </a:pPr>
                      <a:r>
                        <a:rPr dirty="0" sz="3200" spc="-20">
                          <a:latin typeface="Calibri"/>
                          <a:cs typeface="Calibri"/>
                        </a:rPr>
                        <a:t>inttoreal</a:t>
                      </a:r>
                      <a:r>
                        <a:rPr dirty="0" sz="32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200" spc="-5">
                          <a:latin typeface="Calibri"/>
                          <a:cs typeface="Calibri"/>
                        </a:rPr>
                        <a:t>(60)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85177">
                <a:tc>
                  <a:txBody>
                    <a:bodyPr/>
                    <a:lstStyle/>
                    <a:p>
                      <a:pPr marL="374650" indent="-342900">
                        <a:lnSpc>
                          <a:spcPct val="100000"/>
                        </a:lnSpc>
                        <a:spcBef>
                          <a:spcPts val="150"/>
                        </a:spcBef>
                        <a:buFont typeface="Arial MT"/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dirty="0" sz="3200" spc="-60">
                          <a:latin typeface="Calibri"/>
                          <a:cs typeface="Calibri"/>
                        </a:rPr>
                        <a:t>Temp2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3200" spc="-10">
                          <a:latin typeface="Calibri"/>
                          <a:cs typeface="Calibri"/>
                        </a:rPr>
                        <a:t>:=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3200">
                          <a:latin typeface="Calibri"/>
                          <a:cs typeface="Calibri"/>
                        </a:rPr>
                        <a:t>id3</a:t>
                      </a:r>
                      <a:r>
                        <a:rPr dirty="0" sz="3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200">
                          <a:latin typeface="Calibri"/>
                          <a:cs typeface="Calibri"/>
                        </a:rPr>
                        <a:t>*</a:t>
                      </a:r>
                      <a:r>
                        <a:rPr dirty="0" sz="3200" spc="-10">
                          <a:latin typeface="Calibri"/>
                          <a:cs typeface="Calibri"/>
                        </a:rPr>
                        <a:t> temp1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</a:tr>
              <a:tr h="527653">
                <a:tc>
                  <a:txBody>
                    <a:bodyPr/>
                    <a:lstStyle/>
                    <a:p>
                      <a:pPr marL="374650" indent="-342900">
                        <a:lnSpc>
                          <a:spcPct val="100000"/>
                        </a:lnSpc>
                        <a:spcBef>
                          <a:spcPts val="150"/>
                        </a:spcBef>
                        <a:buFont typeface="Arial MT"/>
                        <a:buChar char="•"/>
                        <a:tabLst>
                          <a:tab pos="374015" algn="l"/>
                          <a:tab pos="374650" algn="l"/>
                        </a:tabLst>
                      </a:pPr>
                      <a:r>
                        <a:rPr dirty="0" sz="3200" spc="-60">
                          <a:latin typeface="Calibri"/>
                          <a:cs typeface="Calibri"/>
                        </a:rPr>
                        <a:t>Temp3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3200" spc="-10">
                          <a:latin typeface="Calibri"/>
                          <a:cs typeface="Calibri"/>
                        </a:rPr>
                        <a:t>:=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3200">
                          <a:latin typeface="Calibri"/>
                          <a:cs typeface="Calibri"/>
                        </a:rPr>
                        <a:t>id2</a:t>
                      </a:r>
                      <a:r>
                        <a:rPr dirty="0" sz="32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2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3200" spc="-10">
                          <a:latin typeface="Calibri"/>
                          <a:cs typeface="Calibri"/>
                        </a:rPr>
                        <a:t> temp2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1905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35940" y="3826840"/>
            <a:ext cx="125031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id1</a:t>
            </a:r>
            <a:r>
              <a:rPr dirty="0" sz="3200" spc="-2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:=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4994" y="3826840"/>
            <a:ext cx="11042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45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em</a:t>
            </a:r>
            <a:r>
              <a:rPr dirty="0" sz="3200" spc="-10">
                <a:latin typeface="Calibri"/>
                <a:cs typeface="Calibri"/>
              </a:rPr>
              <a:t>p</a:t>
            </a:r>
            <a:r>
              <a:rPr dirty="0" sz="320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957" y="461594"/>
            <a:ext cx="45053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Code</a:t>
            </a:r>
            <a:r>
              <a:rPr dirty="0" spc="-55"/>
              <a:t> </a:t>
            </a:r>
            <a:r>
              <a:rPr dirty="0" spc="-10"/>
              <a:t>Optimization: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4659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optimization</a:t>
            </a:r>
            <a:r>
              <a:rPr dirty="0" sz="3200" spc="-5">
                <a:latin typeface="Calibri"/>
                <a:cs typeface="Calibri"/>
              </a:rPr>
              <a:t> phase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attempts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to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improve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intermediate </a:t>
            </a:r>
            <a:r>
              <a:rPr dirty="0" sz="3200" spc="-10">
                <a:latin typeface="Calibri"/>
                <a:cs typeface="Calibri"/>
              </a:rPr>
              <a:t>code, </a:t>
            </a:r>
            <a:r>
              <a:rPr dirty="0" sz="3200" spc="-5">
                <a:latin typeface="Calibri"/>
                <a:cs typeface="Calibri"/>
              </a:rPr>
              <a:t>so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20">
                <a:latin typeface="Calibri"/>
                <a:cs typeface="Calibri"/>
              </a:rPr>
              <a:t>faster- 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running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machine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will </a:t>
            </a:r>
            <a:r>
              <a:rPr dirty="0" sz="3200" spc="-10">
                <a:latin typeface="Calibri"/>
                <a:cs typeface="Calibri"/>
              </a:rPr>
              <a:t>result.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957" y="461594"/>
            <a:ext cx="45053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Code</a:t>
            </a:r>
            <a:r>
              <a:rPr dirty="0" spc="-55"/>
              <a:t> </a:t>
            </a:r>
            <a:r>
              <a:rPr dirty="0" spc="-10"/>
              <a:t>Optimization: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2755" cy="1684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Some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optimizations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trivial.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  <a:tab pos="1106805" algn="l"/>
                <a:tab pos="2816860" algn="l"/>
                <a:tab pos="3225800" algn="l"/>
                <a:tab pos="4617085" algn="l"/>
                <a:tab pos="6433820" algn="l"/>
              </a:tabLst>
            </a:pPr>
            <a:r>
              <a:rPr dirty="0" sz="3200" spc="-15">
                <a:latin typeface="Calibri"/>
                <a:cs typeface="Calibri"/>
              </a:rPr>
              <a:t>For	example,	</a:t>
            </a:r>
            <a:r>
              <a:rPr dirty="0" sz="3200">
                <a:latin typeface="Calibri"/>
                <a:cs typeface="Calibri"/>
              </a:rPr>
              <a:t>a	</a:t>
            </a:r>
            <a:r>
              <a:rPr dirty="0" sz="3200" spc="-15">
                <a:latin typeface="Calibri"/>
                <a:cs typeface="Calibri"/>
              </a:rPr>
              <a:t>natural	</a:t>
            </a:r>
            <a:r>
              <a:rPr dirty="0" sz="3200" spc="-5">
                <a:latin typeface="Calibri"/>
                <a:cs typeface="Calibri"/>
              </a:rPr>
              <a:t>algorithm	</a:t>
            </a:r>
            <a:r>
              <a:rPr dirty="0" sz="3200" spc="-20">
                <a:latin typeface="Calibri"/>
                <a:cs typeface="Calibri"/>
              </a:rPr>
              <a:t>generates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3266059"/>
            <a:ext cx="56191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77265" algn="l"/>
                <a:tab pos="3530600" algn="l"/>
                <a:tab pos="4740910" algn="l"/>
              </a:tabLst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i</a:t>
            </a:r>
            <a:r>
              <a:rPr dirty="0" sz="3200" spc="-20">
                <a:latin typeface="Calibri"/>
                <a:cs typeface="Calibri"/>
              </a:rPr>
              <a:t>n</a:t>
            </a:r>
            <a:r>
              <a:rPr dirty="0" sz="3200" spc="-3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ermed</a:t>
            </a:r>
            <a:r>
              <a:rPr dirty="0" sz="3200" spc="-15">
                <a:latin typeface="Calibri"/>
                <a:cs typeface="Calibri"/>
              </a:rPr>
              <a:t>i</a:t>
            </a:r>
            <a:r>
              <a:rPr dirty="0" sz="3200" spc="-25">
                <a:latin typeface="Calibri"/>
                <a:cs typeface="Calibri"/>
              </a:rPr>
              <a:t>a</a:t>
            </a:r>
            <a:r>
              <a:rPr dirty="0" sz="3200" spc="-45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c</a:t>
            </a:r>
            <a:r>
              <a:rPr dirty="0" sz="3200" spc="-5">
                <a:latin typeface="Calibri"/>
                <a:cs typeface="Calibri"/>
              </a:rPr>
              <a:t>od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10">
                <a:latin typeface="Calibri"/>
                <a:cs typeface="Calibri"/>
              </a:rPr>
              <a:t>(</a:t>
            </a:r>
            <a:r>
              <a:rPr dirty="0" sz="3200" spc="-5">
                <a:latin typeface="Calibri"/>
                <a:cs typeface="Calibri"/>
              </a:rPr>
              <a:t>1</a:t>
            </a:r>
            <a:r>
              <a:rPr dirty="0" sz="3200" spc="5">
                <a:latin typeface="Calibri"/>
                <a:cs typeface="Calibri"/>
              </a:rPr>
              <a:t>.</a:t>
            </a:r>
            <a:r>
              <a:rPr dirty="0" sz="3200" spc="-5">
                <a:latin typeface="Calibri"/>
                <a:cs typeface="Calibri"/>
              </a:rPr>
              <a:t>3</a:t>
            </a:r>
            <a:r>
              <a:rPr dirty="0" sz="3200">
                <a:latin typeface="Calibri"/>
                <a:cs typeface="Calibri"/>
              </a:rPr>
              <a:t>),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3753688"/>
            <a:ext cx="59385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77720" algn="l"/>
                <a:tab pos="2830830" algn="l"/>
                <a:tab pos="3894454" algn="l"/>
                <a:tab pos="5618480" algn="l"/>
              </a:tabLst>
            </a:pP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-4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tr</a:t>
            </a:r>
            <a:r>
              <a:rPr dirty="0" sz="3200" spc="-15">
                <a:latin typeface="Calibri"/>
                <a:cs typeface="Calibri"/>
              </a:rPr>
              <a:t>u</a:t>
            </a:r>
            <a:r>
              <a:rPr dirty="0" sz="3200">
                <a:latin typeface="Calibri"/>
                <a:cs typeface="Calibri"/>
              </a:rPr>
              <a:t>ct</a:t>
            </a:r>
            <a:r>
              <a:rPr dirty="0" sz="3200" spc="10">
                <a:latin typeface="Calibri"/>
                <a:cs typeface="Calibri"/>
              </a:rPr>
              <a:t>i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80">
                <a:latin typeface="Calibri"/>
                <a:cs typeface="Calibri"/>
              </a:rPr>
              <a:t>f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each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ope</a:t>
            </a:r>
            <a:r>
              <a:rPr dirty="0" sz="3200" spc="-80">
                <a:latin typeface="Calibri"/>
                <a:cs typeface="Calibri"/>
              </a:rPr>
              <a:t>r</a:t>
            </a:r>
            <a:r>
              <a:rPr dirty="0" sz="3200" spc="-25">
                <a:latin typeface="Calibri"/>
                <a:cs typeface="Calibri"/>
              </a:rPr>
              <a:t>a</a:t>
            </a:r>
            <a:r>
              <a:rPr dirty="0" sz="3200" spc="-45">
                <a:latin typeface="Calibri"/>
                <a:cs typeface="Calibri"/>
              </a:rPr>
              <a:t>t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in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7336" y="3266059"/>
            <a:ext cx="172275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8120" marR="5080" indent="-186055">
              <a:lnSpc>
                <a:spcPct val="100000"/>
              </a:lnSpc>
              <a:spcBef>
                <a:spcPts val="105"/>
              </a:spcBef>
              <a:tabLst>
                <a:tab pos="1030605" algn="l"/>
                <a:tab pos="1297305" algn="l"/>
              </a:tabLst>
            </a:pPr>
            <a:r>
              <a:rPr dirty="0" sz="3200" spc="-5">
                <a:latin typeface="Calibri"/>
                <a:cs typeface="Calibri"/>
              </a:rPr>
              <a:t>usin</a:t>
            </a:r>
            <a:r>
              <a:rPr dirty="0" sz="3200">
                <a:latin typeface="Calibri"/>
                <a:cs typeface="Calibri"/>
              </a:rPr>
              <a:t>g</a:t>
            </a:r>
            <a:r>
              <a:rPr dirty="0" sz="3200">
                <a:latin typeface="Calibri"/>
                <a:cs typeface="Calibri"/>
              </a:rPr>
              <a:t>		</a:t>
            </a:r>
            <a:r>
              <a:rPr dirty="0" sz="3200" spc="10">
                <a:latin typeface="Calibri"/>
                <a:cs typeface="Calibri"/>
              </a:rPr>
              <a:t>an 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 spc="-4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839" y="4241672"/>
            <a:ext cx="7730490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200" spc="-20">
                <a:latin typeface="Calibri"/>
                <a:cs typeface="Calibri"/>
              </a:rPr>
              <a:t>representation</a:t>
            </a:r>
            <a:r>
              <a:rPr dirty="0" sz="3200" spc="-15">
                <a:latin typeface="Calibri"/>
                <a:cs typeface="Calibri"/>
              </a:rPr>
              <a:t> after</a:t>
            </a:r>
            <a:r>
              <a:rPr dirty="0" sz="3200" spc="-10">
                <a:latin typeface="Calibri"/>
                <a:cs typeface="Calibri"/>
              </a:rPr>
              <a:t> semantic</a:t>
            </a:r>
            <a:r>
              <a:rPr dirty="0" sz="3200" spc="-5">
                <a:latin typeface="Calibri"/>
                <a:cs typeface="Calibri"/>
              </a:rPr>
              <a:t> analysis,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even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though </a:t>
            </a:r>
            <a:r>
              <a:rPr dirty="0" sz="3200" spc="-10">
                <a:latin typeface="Calibri"/>
                <a:cs typeface="Calibri"/>
              </a:rPr>
              <a:t>there </a:t>
            </a:r>
            <a:r>
              <a:rPr dirty="0" sz="3200" spc="-5">
                <a:latin typeface="Calibri"/>
                <a:cs typeface="Calibri"/>
              </a:rPr>
              <a:t>is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20">
                <a:latin typeface="Calibri"/>
                <a:cs typeface="Calibri"/>
              </a:rPr>
              <a:t>better </a:t>
            </a:r>
            <a:r>
              <a:rPr dirty="0" sz="3200" spc="-30">
                <a:latin typeface="Calibri"/>
                <a:cs typeface="Calibri"/>
              </a:rPr>
              <a:t>way </a:t>
            </a:r>
            <a:r>
              <a:rPr dirty="0" sz="3200" spc="-25">
                <a:latin typeface="Calibri"/>
                <a:cs typeface="Calibri"/>
              </a:rPr>
              <a:t>to </a:t>
            </a:r>
            <a:r>
              <a:rPr dirty="0" sz="3200" spc="-15">
                <a:latin typeface="Calibri"/>
                <a:cs typeface="Calibri"/>
              </a:rPr>
              <a:t>perform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same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calculation,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using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two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instructions.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957" y="461594"/>
            <a:ext cx="45053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Code</a:t>
            </a:r>
            <a:r>
              <a:rPr dirty="0" spc="-55"/>
              <a:t> </a:t>
            </a:r>
            <a:r>
              <a:rPr dirty="0" spc="-10"/>
              <a:t>Optimization: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161"/>
            <a:ext cx="1477645" cy="16256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2400" spc="-10">
                <a:latin typeface="Calibri"/>
                <a:cs typeface="Calibri"/>
              </a:rPr>
              <a:t>(1.4)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29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em</a:t>
            </a:r>
            <a:r>
              <a:rPr dirty="0" sz="3200" spc="-10">
                <a:latin typeface="Calibri"/>
                <a:cs typeface="Calibri"/>
              </a:rPr>
              <a:t>p</a:t>
            </a:r>
            <a:r>
              <a:rPr dirty="0" sz="3200"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  <a:tab pos="927100" algn="l"/>
              </a:tabLst>
            </a:pPr>
            <a:r>
              <a:rPr dirty="0" sz="3200" spc="-5">
                <a:latin typeface="Calibri"/>
                <a:cs typeface="Calibri"/>
              </a:rPr>
              <a:t>id	</a:t>
            </a:r>
            <a:r>
              <a:rPr dirty="0" sz="3200" spc="-10">
                <a:latin typeface="Calibri"/>
                <a:cs typeface="Calibri"/>
              </a:rPr>
              <a:t>:=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994" y="1974000"/>
            <a:ext cx="2560955" cy="1196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dirty="0" sz="3200" spc="-5">
                <a:latin typeface="Calibri"/>
                <a:cs typeface="Calibri"/>
              </a:rPr>
              <a:t>:=	</a:t>
            </a:r>
            <a:r>
              <a:rPr dirty="0" sz="3200">
                <a:latin typeface="Calibri"/>
                <a:cs typeface="Calibri"/>
              </a:rPr>
              <a:t>id3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*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60.0 </a:t>
            </a:r>
            <a:r>
              <a:rPr dirty="0" sz="3200" spc="-7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id2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+ </a:t>
            </a:r>
            <a:r>
              <a:rPr dirty="0" sz="3200" spc="-10">
                <a:latin typeface="Calibri"/>
                <a:cs typeface="Calibri"/>
              </a:rPr>
              <a:t>temp1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826840"/>
            <a:ext cx="8073390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There</a:t>
            </a:r>
            <a:r>
              <a:rPr dirty="0" sz="3200" spc="-5">
                <a:latin typeface="Calibri"/>
                <a:cs typeface="Calibri"/>
              </a:rPr>
              <a:t> is</a:t>
            </a:r>
            <a:r>
              <a:rPr dirty="0" sz="3200">
                <a:latin typeface="Calibri"/>
                <a:cs typeface="Calibri"/>
              </a:rPr>
              <a:t> nothing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wrong</a:t>
            </a:r>
            <a:r>
              <a:rPr dirty="0" sz="3200" spc="-5">
                <a:latin typeface="Calibri"/>
                <a:cs typeface="Calibri"/>
              </a:rPr>
              <a:t> with</a:t>
            </a:r>
            <a:r>
              <a:rPr dirty="0" sz="3200">
                <a:latin typeface="Calibri"/>
                <a:cs typeface="Calibri"/>
              </a:rPr>
              <a:t> this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simple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algorithm,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since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problem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can</a:t>
            </a:r>
            <a:r>
              <a:rPr dirty="0" sz="3200" spc="-5">
                <a:latin typeface="Calibri"/>
                <a:cs typeface="Calibri"/>
              </a:rPr>
              <a:t> be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fixed 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during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code-optimization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phase.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957" y="461594"/>
            <a:ext cx="45053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Code</a:t>
            </a:r>
            <a:r>
              <a:rPr dirty="0" spc="-55"/>
              <a:t> </a:t>
            </a:r>
            <a:r>
              <a:rPr dirty="0" spc="-10"/>
              <a:t>Optimization: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2465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That</a:t>
            </a:r>
            <a:r>
              <a:rPr dirty="0" sz="3200" spc="-5">
                <a:latin typeface="Calibri"/>
                <a:cs typeface="Calibri"/>
              </a:rPr>
              <a:t> is,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compiler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can</a:t>
            </a:r>
            <a:r>
              <a:rPr dirty="0" sz="3200" spc="-5">
                <a:latin typeface="Calibri"/>
                <a:cs typeface="Calibri"/>
              </a:rPr>
              <a:t> deduce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that</a:t>
            </a:r>
            <a:r>
              <a:rPr dirty="0" sz="3200">
                <a:latin typeface="Calibri"/>
                <a:cs typeface="Calibri"/>
              </a:rPr>
              <a:t> the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conversion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60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from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integer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to</a:t>
            </a:r>
            <a:r>
              <a:rPr dirty="0" sz="3200" spc="-15">
                <a:latin typeface="Calibri"/>
                <a:cs typeface="Calibri"/>
              </a:rPr>
              <a:t> real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representation </a:t>
            </a:r>
            <a:r>
              <a:rPr dirty="0" sz="3200" spc="-5">
                <a:latin typeface="Calibri"/>
                <a:cs typeface="Calibri"/>
              </a:rPr>
              <a:t>can be </a:t>
            </a:r>
            <a:r>
              <a:rPr dirty="0" sz="3200">
                <a:latin typeface="Calibri"/>
                <a:cs typeface="Calibri"/>
              </a:rPr>
              <a:t>done </a:t>
            </a:r>
            <a:r>
              <a:rPr dirty="0" sz="3200" spc="-5">
                <a:latin typeface="Calibri"/>
                <a:cs typeface="Calibri"/>
              </a:rPr>
              <a:t>once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30">
                <a:latin typeface="Calibri"/>
                <a:cs typeface="Calibri"/>
              </a:rPr>
              <a:t>for </a:t>
            </a:r>
            <a:r>
              <a:rPr dirty="0" sz="3200">
                <a:latin typeface="Calibri"/>
                <a:cs typeface="Calibri"/>
              </a:rPr>
              <a:t>all </a:t>
            </a:r>
            <a:r>
              <a:rPr dirty="0" sz="3200" spc="-25">
                <a:latin typeface="Calibri"/>
                <a:cs typeface="Calibri"/>
              </a:rPr>
              <a:t>at 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compile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time, </a:t>
            </a:r>
            <a:r>
              <a:rPr dirty="0" sz="3200" spc="-5">
                <a:latin typeface="Calibri"/>
                <a:cs typeface="Calibri"/>
              </a:rPr>
              <a:t>so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inttoreal</a:t>
            </a:r>
            <a:r>
              <a:rPr dirty="0" sz="3200" spc="-15">
                <a:latin typeface="Calibri"/>
                <a:cs typeface="Calibri"/>
              </a:rPr>
              <a:t> operation</a:t>
            </a:r>
            <a:r>
              <a:rPr dirty="0" sz="3200" spc="69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 be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eliminated.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957" y="461594"/>
            <a:ext cx="450532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Code</a:t>
            </a:r>
            <a:r>
              <a:rPr dirty="0" spc="-55"/>
              <a:t> </a:t>
            </a:r>
            <a:r>
              <a:rPr dirty="0" spc="-10"/>
              <a:t>Optimization: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pc="-5"/>
              <a:t>Besides, </a:t>
            </a:r>
            <a:r>
              <a:rPr dirty="0" spc="-10"/>
              <a:t>temp3 </a:t>
            </a:r>
            <a:r>
              <a:rPr dirty="0" spc="-5"/>
              <a:t>is used </a:t>
            </a:r>
            <a:r>
              <a:rPr dirty="0"/>
              <a:t>only </a:t>
            </a:r>
            <a:r>
              <a:rPr dirty="0" spc="-5"/>
              <a:t>once, </a:t>
            </a:r>
            <a:r>
              <a:rPr dirty="0" spc="-25"/>
              <a:t>to </a:t>
            </a:r>
            <a:r>
              <a:rPr dirty="0" spc="-10"/>
              <a:t>transmit </a:t>
            </a:r>
            <a:r>
              <a:rPr dirty="0" spc="-5"/>
              <a:t> its</a:t>
            </a:r>
            <a:r>
              <a:rPr dirty="0"/>
              <a:t> </a:t>
            </a:r>
            <a:r>
              <a:rPr dirty="0" spc="-10"/>
              <a:t>value</a:t>
            </a:r>
            <a:r>
              <a:rPr dirty="0" spc="-5"/>
              <a:t> </a:t>
            </a:r>
            <a:r>
              <a:rPr dirty="0" spc="-20"/>
              <a:t>to</a:t>
            </a:r>
            <a:r>
              <a:rPr dirty="0" spc="-15"/>
              <a:t> </a:t>
            </a:r>
            <a:r>
              <a:rPr dirty="0"/>
              <a:t>id1.</a:t>
            </a:r>
            <a:r>
              <a:rPr dirty="0" spc="5"/>
              <a:t> </a:t>
            </a:r>
            <a:r>
              <a:rPr dirty="0" spc="-5"/>
              <a:t>It</a:t>
            </a:r>
            <a:r>
              <a:rPr dirty="0"/>
              <a:t> then</a:t>
            </a:r>
            <a:r>
              <a:rPr dirty="0" spc="5"/>
              <a:t> </a:t>
            </a:r>
            <a:r>
              <a:rPr dirty="0" spc="-10"/>
              <a:t>becomes</a:t>
            </a:r>
            <a:r>
              <a:rPr dirty="0" spc="-5"/>
              <a:t> </a:t>
            </a:r>
            <a:r>
              <a:rPr dirty="0" spc="-30"/>
              <a:t>safe</a:t>
            </a:r>
            <a:r>
              <a:rPr dirty="0" spc="-25"/>
              <a:t> </a:t>
            </a:r>
            <a:r>
              <a:rPr dirty="0" spc="-45"/>
              <a:t>to </a:t>
            </a:r>
            <a:r>
              <a:rPr dirty="0" spc="-40"/>
              <a:t> </a:t>
            </a:r>
            <a:r>
              <a:rPr dirty="0" spc="-10"/>
              <a:t>substitute </a:t>
            </a:r>
            <a:r>
              <a:rPr dirty="0"/>
              <a:t>id1 </a:t>
            </a:r>
            <a:r>
              <a:rPr dirty="0" spc="-30"/>
              <a:t>for </a:t>
            </a:r>
            <a:r>
              <a:rPr dirty="0" spc="-10"/>
              <a:t>temp3, </a:t>
            </a:r>
            <a:r>
              <a:rPr dirty="0" spc="-5"/>
              <a:t>whereupon </a:t>
            </a:r>
            <a:r>
              <a:rPr dirty="0"/>
              <a:t>the </a:t>
            </a:r>
            <a:r>
              <a:rPr dirty="0" spc="-10"/>
              <a:t>last </a:t>
            </a:r>
            <a:r>
              <a:rPr dirty="0" spc="-5"/>
              <a:t> </a:t>
            </a:r>
            <a:r>
              <a:rPr dirty="0" spc="-20"/>
              <a:t>statement</a:t>
            </a:r>
            <a:r>
              <a:rPr dirty="0" spc="365"/>
              <a:t> </a:t>
            </a:r>
            <a:r>
              <a:rPr dirty="0"/>
              <a:t>of</a:t>
            </a:r>
            <a:r>
              <a:rPr dirty="0" spc="370"/>
              <a:t> </a:t>
            </a:r>
            <a:r>
              <a:rPr dirty="0"/>
              <a:t>1.3</a:t>
            </a:r>
            <a:r>
              <a:rPr dirty="0" spc="385"/>
              <a:t> </a:t>
            </a:r>
            <a:r>
              <a:rPr dirty="0"/>
              <a:t>is</a:t>
            </a:r>
            <a:r>
              <a:rPr dirty="0" spc="370"/>
              <a:t> </a:t>
            </a:r>
            <a:r>
              <a:rPr dirty="0" spc="-5"/>
              <a:t>not</a:t>
            </a:r>
            <a:r>
              <a:rPr dirty="0" spc="385"/>
              <a:t> </a:t>
            </a:r>
            <a:r>
              <a:rPr dirty="0" spc="-5"/>
              <a:t>needed</a:t>
            </a:r>
            <a:r>
              <a:rPr dirty="0" spc="380"/>
              <a:t> </a:t>
            </a:r>
            <a:r>
              <a:rPr dirty="0"/>
              <a:t>and</a:t>
            </a:r>
            <a:r>
              <a:rPr dirty="0" spc="375"/>
              <a:t> </a:t>
            </a:r>
            <a:r>
              <a:rPr dirty="0"/>
              <a:t>the</a:t>
            </a:r>
            <a:r>
              <a:rPr dirty="0" spc="385"/>
              <a:t> </a:t>
            </a:r>
            <a:r>
              <a:rPr dirty="0" spc="-10"/>
              <a:t>code </a:t>
            </a:r>
            <a:r>
              <a:rPr dirty="0" spc="-71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5"/>
              <a:t>1.4</a:t>
            </a:r>
            <a:r>
              <a:rPr dirty="0" spc="15"/>
              <a:t> </a:t>
            </a:r>
            <a:r>
              <a:rPr dirty="0" spc="-10"/>
              <a:t>results.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373" y="461594"/>
            <a:ext cx="39376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Code</a:t>
            </a:r>
            <a:r>
              <a:rPr dirty="0" spc="-85"/>
              <a:t> </a:t>
            </a:r>
            <a:r>
              <a:rPr dirty="0" spc="-15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6628130" cy="2660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288415" algn="l"/>
                <a:tab pos="2329180" algn="l"/>
                <a:tab pos="3634104" algn="l"/>
                <a:tab pos="4290695" algn="l"/>
                <a:tab pos="5162550" algn="l"/>
              </a:tabLst>
            </a:pPr>
            <a:r>
              <a:rPr dirty="0" sz="3200" spc="-5">
                <a:latin typeface="Calibri"/>
                <a:cs typeface="Calibri"/>
              </a:rPr>
              <a:t>Th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fi</a:t>
            </a:r>
            <a:r>
              <a:rPr dirty="0" sz="3200" spc="5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al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pha</a:t>
            </a:r>
            <a:r>
              <a:rPr dirty="0" sz="3200" spc="1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c</a:t>
            </a:r>
            <a:r>
              <a:rPr dirty="0" sz="3200" spc="-5">
                <a:latin typeface="Calibri"/>
                <a:cs typeface="Calibri"/>
              </a:rPr>
              <a:t>ompi</a:t>
            </a:r>
            <a:r>
              <a:rPr dirty="0" sz="3200" spc="-15">
                <a:latin typeface="Calibri"/>
                <a:cs typeface="Calibri"/>
              </a:rPr>
              <a:t>l</a:t>
            </a:r>
            <a:r>
              <a:rPr dirty="0" sz="3200">
                <a:latin typeface="Calibri"/>
                <a:cs typeface="Calibri"/>
              </a:rPr>
              <a:t>er  </a:t>
            </a:r>
            <a:r>
              <a:rPr dirty="0" sz="3200" spc="-15">
                <a:latin typeface="Calibri"/>
                <a:cs typeface="Calibri"/>
              </a:rPr>
              <a:t>generation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target</a:t>
            </a:r>
            <a:r>
              <a:rPr dirty="0" sz="3200" spc="-10">
                <a:latin typeface="Calibri"/>
                <a:cs typeface="Calibri"/>
              </a:rPr>
              <a:t> code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marL="355600" marR="227965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  <a:tab pos="2245360" algn="l"/>
                <a:tab pos="3958590" algn="l"/>
                <a:tab pos="4546600" algn="l"/>
              </a:tabLst>
            </a:pPr>
            <a:r>
              <a:rPr dirty="0" sz="3200" spc="-25">
                <a:latin typeface="Calibri"/>
                <a:cs typeface="Calibri"/>
              </a:rPr>
              <a:t>c</a:t>
            </a:r>
            <a:r>
              <a:rPr dirty="0" sz="3200" spc="-5">
                <a:latin typeface="Calibri"/>
                <a:cs typeface="Calibri"/>
              </a:rPr>
              <a:t>onsi</a:t>
            </a:r>
            <a:r>
              <a:rPr dirty="0" sz="3200" spc="-5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ti</a:t>
            </a:r>
            <a:r>
              <a:rPr dirty="0" sz="3200" spc="5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g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normall</a:t>
            </a:r>
            <a:r>
              <a:rPr dirty="0" sz="3200">
                <a:latin typeface="Calibri"/>
                <a:cs typeface="Calibri"/>
              </a:rPr>
              <a:t>y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elo</a:t>
            </a:r>
            <a:r>
              <a:rPr dirty="0" sz="3200" spc="-25">
                <a:latin typeface="Calibri"/>
                <a:cs typeface="Calibri"/>
              </a:rPr>
              <a:t>ca</a:t>
            </a:r>
            <a:r>
              <a:rPr dirty="0" sz="3200" spc="-45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able  </a:t>
            </a:r>
            <a:r>
              <a:rPr dirty="0" sz="3200" spc="-10">
                <a:latin typeface="Calibri"/>
                <a:cs typeface="Calibri"/>
              </a:rPr>
              <a:t>code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assembly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57693" y="1607565"/>
            <a:ext cx="114998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3565" algn="l"/>
              </a:tabLst>
            </a:pPr>
            <a:r>
              <a:rPr dirty="0" sz="3200" spc="-5">
                <a:latin typeface="Calibri"/>
                <a:cs typeface="Calibri"/>
              </a:rPr>
              <a:t>i</a:t>
            </a:r>
            <a:r>
              <a:rPr dirty="0" sz="320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64705" y="3266059"/>
            <a:ext cx="144335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Calibri"/>
                <a:cs typeface="Calibri"/>
              </a:rPr>
              <a:t>ma</a:t>
            </a:r>
            <a:r>
              <a:rPr dirty="0" sz="3200" spc="5">
                <a:latin typeface="Calibri"/>
                <a:cs typeface="Calibri"/>
              </a:rPr>
              <a:t>c</a:t>
            </a:r>
            <a:r>
              <a:rPr dirty="0" sz="3200" spc="-5">
                <a:latin typeface="Calibri"/>
                <a:cs typeface="Calibri"/>
              </a:rPr>
              <a:t>hi</a:t>
            </a:r>
            <a:r>
              <a:rPr dirty="0" sz="3200" spc="10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373" y="461594"/>
            <a:ext cx="39376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Code</a:t>
            </a:r>
            <a:r>
              <a:rPr dirty="0" spc="-85"/>
              <a:t> </a:t>
            </a:r>
            <a:r>
              <a:rPr dirty="0" spc="-15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797"/>
            <a:ext cx="8074025" cy="441642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algn="just" marL="355600" marR="5715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Memory </a:t>
            </a:r>
            <a:r>
              <a:rPr dirty="0" sz="3200" spc="-10">
                <a:latin typeface="Calibri"/>
                <a:cs typeface="Calibri"/>
              </a:rPr>
              <a:t>locations </a:t>
            </a:r>
            <a:r>
              <a:rPr dirty="0" sz="3200" spc="-15">
                <a:latin typeface="Calibri"/>
                <a:cs typeface="Calibri"/>
              </a:rPr>
              <a:t>are </a:t>
            </a:r>
            <a:r>
              <a:rPr dirty="0" sz="3200" spc="-10">
                <a:latin typeface="Calibri"/>
                <a:cs typeface="Calibri"/>
              </a:rPr>
              <a:t>selected </a:t>
            </a:r>
            <a:r>
              <a:rPr dirty="0" sz="3200" spc="-30">
                <a:latin typeface="Calibri"/>
                <a:cs typeface="Calibri"/>
              </a:rPr>
              <a:t>for </a:t>
            </a:r>
            <a:r>
              <a:rPr dirty="0" sz="3200">
                <a:latin typeface="Calibri"/>
                <a:cs typeface="Calibri"/>
              </a:rPr>
              <a:t>each of the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variables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used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program.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4050">
              <a:latin typeface="Calibri"/>
              <a:cs typeface="Calibri"/>
            </a:endParaRPr>
          </a:p>
          <a:p>
            <a:pPr algn="just" marL="355600" marR="6350" indent="-342900">
              <a:lnSpc>
                <a:spcPts val="346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Then,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intermediate</a:t>
            </a:r>
            <a:r>
              <a:rPr dirty="0" sz="3200" spc="-5">
                <a:latin typeface="Calibri"/>
                <a:cs typeface="Calibri"/>
              </a:rPr>
              <a:t> instructions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each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translated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into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sequence</a:t>
            </a:r>
            <a:r>
              <a:rPr dirty="0" sz="3200">
                <a:latin typeface="Calibri"/>
                <a:cs typeface="Calibri"/>
              </a:rPr>
              <a:t> 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machine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instructions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that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perform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same</a:t>
            </a:r>
            <a:r>
              <a:rPr dirty="0" sz="3200" spc="-10">
                <a:latin typeface="Calibri"/>
                <a:cs typeface="Calibri"/>
              </a:rPr>
              <a:t> task.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4050">
              <a:latin typeface="Calibri"/>
              <a:cs typeface="Calibri"/>
            </a:endParaRPr>
          </a:p>
          <a:p>
            <a:pPr algn="just" marL="355600" marR="5080" indent="-342900">
              <a:lnSpc>
                <a:spcPts val="346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A crucial aspect is the assignment of </a:t>
            </a:r>
            <a:r>
              <a:rPr dirty="0" sz="3200" spc="-5">
                <a:latin typeface="Calibri"/>
                <a:cs typeface="Calibri"/>
              </a:rPr>
              <a:t>variables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registers.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373" y="461594"/>
            <a:ext cx="39376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Code</a:t>
            </a:r>
            <a:r>
              <a:rPr dirty="0" spc="-85"/>
              <a:t> </a:t>
            </a:r>
            <a:r>
              <a:rPr dirty="0" spc="-15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797"/>
            <a:ext cx="8073390" cy="417258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4965" algn="l"/>
                <a:tab pos="355600" algn="l"/>
                <a:tab pos="1136015" algn="l"/>
                <a:tab pos="2875280" algn="l"/>
                <a:tab pos="3990340" algn="l"/>
                <a:tab pos="5638165" algn="l"/>
                <a:tab pos="6087745" algn="l"/>
                <a:tab pos="6955155" algn="l"/>
                <a:tab pos="7506970" algn="l"/>
              </a:tabLst>
            </a:pPr>
            <a:r>
              <a:rPr dirty="0" sz="3200" spc="-45">
                <a:latin typeface="Calibri"/>
                <a:cs typeface="Calibri"/>
              </a:rPr>
              <a:t>F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0">
                <a:latin typeface="Calibri"/>
                <a:cs typeface="Calibri"/>
              </a:rPr>
              <a:t>e</a:t>
            </a:r>
            <a:r>
              <a:rPr dirty="0" sz="3200" spc="-55">
                <a:latin typeface="Calibri"/>
                <a:cs typeface="Calibri"/>
              </a:rPr>
              <a:t>x</a:t>
            </a:r>
            <a:r>
              <a:rPr dirty="0" sz="3200" spc="-1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mple,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usin</a:t>
            </a:r>
            <a:r>
              <a:rPr dirty="0" sz="3200">
                <a:latin typeface="Calibri"/>
                <a:cs typeface="Calibri"/>
              </a:rPr>
              <a:t>g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egi</a:t>
            </a:r>
            <a:r>
              <a:rPr dirty="0" sz="3200" spc="-45">
                <a:latin typeface="Calibri"/>
                <a:cs typeface="Calibri"/>
              </a:rPr>
              <a:t>st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1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5">
                <a:latin typeface="Calibri"/>
                <a:cs typeface="Calibri"/>
              </a:rPr>
              <a:t>a</a:t>
            </a:r>
            <a:r>
              <a:rPr dirty="0" sz="3200" spc="-5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d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2</a:t>
            </a:r>
            <a:r>
              <a:rPr dirty="0" sz="3200">
                <a:latin typeface="Calibri"/>
                <a:cs typeface="Calibri"/>
              </a:rPr>
              <a:t>,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  </a:t>
            </a:r>
            <a:r>
              <a:rPr dirty="0" sz="3200" spc="-10">
                <a:latin typeface="Calibri"/>
                <a:cs typeface="Calibri"/>
              </a:rPr>
              <a:t>translation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1.4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might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become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37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  <a:tab pos="1841500" algn="l"/>
              </a:tabLst>
            </a:pPr>
            <a:r>
              <a:rPr dirty="0" sz="3200" spc="-10">
                <a:latin typeface="Calibri"/>
                <a:cs typeface="Calibri"/>
              </a:rPr>
              <a:t>MOVF	</a:t>
            </a:r>
            <a:r>
              <a:rPr dirty="0" sz="3200" spc="-5">
                <a:latin typeface="Calibri"/>
                <a:cs typeface="Calibri"/>
              </a:rPr>
              <a:t>id3,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r2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4965" algn="l"/>
                <a:tab pos="355600" algn="l"/>
                <a:tab pos="1504950" algn="l"/>
              </a:tabLst>
            </a:pPr>
            <a:r>
              <a:rPr dirty="0" sz="3200" spc="-5">
                <a:latin typeface="Calibri"/>
                <a:cs typeface="Calibri"/>
              </a:rPr>
              <a:t>MULF	#60.0,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r2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354965" algn="l"/>
                <a:tab pos="355600" algn="l"/>
                <a:tab pos="1567180" algn="l"/>
              </a:tabLst>
            </a:pPr>
            <a:r>
              <a:rPr dirty="0" sz="3200" spc="-10">
                <a:latin typeface="Calibri"/>
                <a:cs typeface="Calibri"/>
              </a:rPr>
              <a:t>MOVF	</a:t>
            </a:r>
            <a:r>
              <a:rPr dirty="0" sz="3200">
                <a:latin typeface="Calibri"/>
                <a:cs typeface="Calibri"/>
              </a:rPr>
              <a:t>id2,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r1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4965" algn="l"/>
                <a:tab pos="355600" algn="l"/>
                <a:tab pos="1553845" algn="l"/>
              </a:tabLst>
            </a:pPr>
            <a:r>
              <a:rPr dirty="0" sz="3200" spc="-5">
                <a:latin typeface="Calibri"/>
                <a:cs typeface="Calibri"/>
              </a:rPr>
              <a:t>ADDF	r2,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r1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354965" algn="l"/>
                <a:tab pos="355600" algn="l"/>
                <a:tab pos="1567180" algn="l"/>
              </a:tabLst>
            </a:pPr>
            <a:r>
              <a:rPr dirty="0" sz="3200" spc="-10">
                <a:latin typeface="Calibri"/>
                <a:cs typeface="Calibri"/>
              </a:rPr>
              <a:t>MOVF	</a:t>
            </a:r>
            <a:r>
              <a:rPr dirty="0" sz="3200">
                <a:latin typeface="Calibri"/>
                <a:cs typeface="Calibri"/>
              </a:rPr>
              <a:t>r1,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id1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373" y="461594"/>
            <a:ext cx="39376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Code</a:t>
            </a:r>
            <a:r>
              <a:rPr dirty="0" spc="-85"/>
              <a:t> </a:t>
            </a:r>
            <a:r>
              <a:rPr dirty="0" spc="-15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2755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first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second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operands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each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instruction </a:t>
            </a:r>
            <a:r>
              <a:rPr dirty="0" sz="3200">
                <a:latin typeface="Calibri"/>
                <a:cs typeface="Calibri"/>
              </a:rPr>
              <a:t>specify a </a:t>
            </a:r>
            <a:r>
              <a:rPr dirty="0" sz="3200" spc="-10">
                <a:latin typeface="Calibri"/>
                <a:cs typeface="Calibri"/>
              </a:rPr>
              <a:t>source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5">
                <a:latin typeface="Calibri"/>
                <a:cs typeface="Calibri"/>
              </a:rPr>
              <a:t>destination,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respectively.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 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each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instruction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tells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that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instructions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deal </a:t>
            </a:r>
            <a:r>
              <a:rPr dirty="0" sz="3200">
                <a:latin typeface="Calibri"/>
                <a:cs typeface="Calibri"/>
              </a:rPr>
              <a:t>with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floating-point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numbers.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373" y="461594"/>
            <a:ext cx="39376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Code</a:t>
            </a:r>
            <a:r>
              <a:rPr dirty="0" spc="-85"/>
              <a:t> </a:t>
            </a:r>
            <a:r>
              <a:rPr dirty="0" spc="-15"/>
              <a:t>Generation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pc="-5"/>
              <a:t>This </a:t>
            </a:r>
            <a:r>
              <a:rPr dirty="0" spc="-10"/>
              <a:t>code moves </a:t>
            </a:r>
            <a:r>
              <a:rPr dirty="0"/>
              <a:t>the </a:t>
            </a:r>
            <a:r>
              <a:rPr dirty="0" spc="-15"/>
              <a:t>contents </a:t>
            </a:r>
            <a:r>
              <a:rPr dirty="0"/>
              <a:t>of the </a:t>
            </a:r>
            <a:r>
              <a:rPr dirty="0" spc="-10"/>
              <a:t>address </a:t>
            </a:r>
            <a:r>
              <a:rPr dirty="0" spc="-5"/>
              <a:t> id3 </a:t>
            </a:r>
            <a:r>
              <a:rPr dirty="0" spc="-15"/>
              <a:t>into register </a:t>
            </a:r>
            <a:r>
              <a:rPr dirty="0" spc="-5"/>
              <a:t>2, </a:t>
            </a:r>
            <a:r>
              <a:rPr dirty="0"/>
              <a:t>and then multiplies it </a:t>
            </a:r>
            <a:r>
              <a:rPr dirty="0" spc="5"/>
              <a:t>with 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-15"/>
              <a:t> real-constant</a:t>
            </a:r>
            <a:r>
              <a:rPr dirty="0" spc="-10"/>
              <a:t> </a:t>
            </a:r>
            <a:r>
              <a:rPr dirty="0" spc="-5"/>
              <a:t>60.0.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/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pc="-5"/>
              <a:t>The </a:t>
            </a:r>
            <a:r>
              <a:rPr dirty="0"/>
              <a:t># </a:t>
            </a:r>
            <a:r>
              <a:rPr dirty="0" spc="-5"/>
              <a:t>signifies that 60.0 </a:t>
            </a:r>
            <a:r>
              <a:rPr dirty="0"/>
              <a:t>is </a:t>
            </a:r>
            <a:r>
              <a:rPr dirty="0" spc="-20"/>
              <a:t>to </a:t>
            </a:r>
            <a:r>
              <a:rPr dirty="0"/>
              <a:t>be </a:t>
            </a:r>
            <a:r>
              <a:rPr dirty="0" spc="-15"/>
              <a:t>treated </a:t>
            </a:r>
            <a:r>
              <a:rPr dirty="0"/>
              <a:t>as a </a:t>
            </a:r>
            <a:r>
              <a:rPr dirty="0" spc="5"/>
              <a:t> </a:t>
            </a:r>
            <a:r>
              <a:rPr dirty="0" spc="-20"/>
              <a:t>constant.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373" y="461594"/>
            <a:ext cx="39376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Code</a:t>
            </a:r>
            <a:r>
              <a:rPr dirty="0" spc="-85"/>
              <a:t> </a:t>
            </a:r>
            <a:r>
              <a:rPr dirty="0" spc="-15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2755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71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third </a:t>
            </a:r>
            <a:r>
              <a:rPr dirty="0" sz="3200" spc="-5">
                <a:latin typeface="Calibri"/>
                <a:cs typeface="Calibri"/>
              </a:rPr>
              <a:t>instruction </a:t>
            </a:r>
            <a:r>
              <a:rPr dirty="0" sz="3200" spc="-10">
                <a:latin typeface="Calibri"/>
                <a:cs typeface="Calibri"/>
              </a:rPr>
              <a:t>moves </a:t>
            </a:r>
            <a:r>
              <a:rPr dirty="0" sz="3200">
                <a:latin typeface="Calibri"/>
                <a:cs typeface="Calibri"/>
              </a:rPr>
              <a:t>id2 </a:t>
            </a:r>
            <a:r>
              <a:rPr dirty="0" sz="3200" spc="-15">
                <a:latin typeface="Calibri"/>
                <a:cs typeface="Calibri"/>
              </a:rPr>
              <a:t>into register </a:t>
            </a:r>
            <a:r>
              <a:rPr dirty="0" sz="3200">
                <a:latin typeface="Calibri"/>
                <a:cs typeface="Calibri"/>
              </a:rPr>
              <a:t>1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 adds </a:t>
            </a:r>
            <a:r>
              <a:rPr dirty="0" sz="3200" spc="-20">
                <a:latin typeface="Calibri"/>
                <a:cs typeface="Calibri"/>
              </a:rPr>
              <a:t>to </a:t>
            </a:r>
            <a:r>
              <a:rPr dirty="0" sz="3200" spc="-5">
                <a:latin typeface="Calibri"/>
                <a:cs typeface="Calibri"/>
              </a:rPr>
              <a:t>it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value previously computed </a:t>
            </a:r>
            <a:r>
              <a:rPr dirty="0" sz="3200" spc="-5">
                <a:latin typeface="Calibri"/>
                <a:cs typeface="Calibri"/>
              </a:rPr>
              <a:t> in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register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35">
                <a:latin typeface="Calibri"/>
                <a:cs typeface="Calibri"/>
              </a:rPr>
              <a:t>Finally,</a:t>
            </a:r>
            <a:r>
              <a:rPr dirty="0" sz="3200" spc="6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value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5">
                <a:latin typeface="Calibri"/>
                <a:cs typeface="Calibri"/>
              </a:rPr>
              <a:t>register </a:t>
            </a:r>
            <a:r>
              <a:rPr dirty="0" sz="3200">
                <a:latin typeface="Calibri"/>
                <a:cs typeface="Calibri"/>
              </a:rPr>
              <a:t>1 </a:t>
            </a:r>
            <a:r>
              <a:rPr dirty="0" sz="3200" spc="-5">
                <a:latin typeface="Calibri"/>
                <a:cs typeface="Calibri"/>
              </a:rPr>
              <a:t>is </a:t>
            </a:r>
            <a:r>
              <a:rPr dirty="0" sz="3200" spc="-10">
                <a:latin typeface="Calibri"/>
                <a:cs typeface="Calibri"/>
              </a:rPr>
              <a:t>moved </a:t>
            </a:r>
            <a:r>
              <a:rPr dirty="0" sz="3200" spc="-15">
                <a:latin typeface="Calibri"/>
                <a:cs typeface="Calibri"/>
              </a:rPr>
              <a:t>into 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address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id1.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4925" y="461594"/>
            <a:ext cx="65405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1.4</a:t>
            </a:r>
            <a:r>
              <a:rPr dirty="0" spc="-30"/>
              <a:t> </a:t>
            </a:r>
            <a:r>
              <a:rPr dirty="0" spc="-5"/>
              <a:t>Cousins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5"/>
              <a:t>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2465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As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we</a:t>
            </a:r>
            <a:r>
              <a:rPr dirty="0" sz="3200" spc="-10">
                <a:latin typeface="Calibri"/>
                <a:cs typeface="Calibri"/>
              </a:rPr>
              <a:t> saw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given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figure,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input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compiler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may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produced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or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more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preprocessors,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5">
                <a:latin typeface="Calibri"/>
                <a:cs typeface="Calibri"/>
              </a:rPr>
              <a:t>further </a:t>
            </a:r>
            <a:r>
              <a:rPr dirty="0" sz="3200" spc="-10">
                <a:latin typeface="Calibri"/>
                <a:cs typeface="Calibri"/>
              </a:rPr>
              <a:t>processing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5">
                <a:latin typeface="Calibri"/>
                <a:cs typeface="Calibri"/>
              </a:rPr>
              <a:t>the 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compiler’s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output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may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be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needed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before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running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machine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obtained.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5628" y="5127116"/>
            <a:ext cx="1721485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Calibri"/>
                <a:cs typeface="Calibri"/>
              </a:rPr>
              <a:t>L</a:t>
            </a:r>
            <a:r>
              <a:rPr dirty="0" sz="1400" b="1">
                <a:latin typeface="Calibri"/>
                <a:cs typeface="Calibri"/>
              </a:rPr>
              <a:t>IBRA</a:t>
            </a:r>
            <a:r>
              <a:rPr dirty="0" sz="1400" spc="-25" b="1">
                <a:latin typeface="Calibri"/>
                <a:cs typeface="Calibri"/>
              </a:rPr>
              <a:t>R</a:t>
            </a:r>
            <a:r>
              <a:rPr dirty="0" sz="1400" spc="-165" b="1">
                <a:latin typeface="Calibri"/>
                <a:cs typeface="Calibri"/>
              </a:rPr>
              <a:t>Y</a:t>
            </a:r>
            <a:r>
              <a:rPr dirty="0" sz="1400" b="1">
                <a:latin typeface="Calibri"/>
                <a:cs typeface="Calibri"/>
              </a:rPr>
              <a:t>,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RE</a:t>
            </a:r>
            <a:r>
              <a:rPr dirty="0" sz="1400" spc="-30" b="1">
                <a:latin typeface="Calibri"/>
                <a:cs typeface="Calibri"/>
              </a:rPr>
              <a:t>L</a:t>
            </a:r>
            <a:r>
              <a:rPr dirty="0" sz="1400" spc="-5" b="1">
                <a:latin typeface="Calibri"/>
                <a:cs typeface="Calibri"/>
              </a:rPr>
              <a:t>OC</a:t>
            </a:r>
            <a:r>
              <a:rPr dirty="0" sz="1400" spc="-110" b="1">
                <a:latin typeface="Calibri"/>
                <a:cs typeface="Calibri"/>
              </a:rPr>
              <a:t>AT</a:t>
            </a:r>
            <a:r>
              <a:rPr dirty="0" sz="1400" b="1">
                <a:latin typeface="Calibri"/>
                <a:cs typeface="Calibri"/>
              </a:rPr>
              <a:t>AB</a:t>
            </a:r>
            <a:r>
              <a:rPr dirty="0" sz="1400" spc="-10" b="1">
                <a:latin typeface="Calibri"/>
                <a:cs typeface="Calibri"/>
              </a:rPr>
              <a:t>L</a:t>
            </a:r>
            <a:r>
              <a:rPr dirty="0" sz="1400" b="1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Calibri"/>
                <a:cs typeface="Calibri"/>
              </a:rPr>
              <a:t>OBJECT</a:t>
            </a:r>
            <a:r>
              <a:rPr dirty="0" sz="1400" spc="-70" b="1">
                <a:latin typeface="Calibri"/>
                <a:cs typeface="Calibri"/>
              </a:rPr>
              <a:t> </a:t>
            </a:r>
            <a:r>
              <a:rPr dirty="0" sz="1400" spc="-5" b="1">
                <a:latin typeface="Calibri"/>
                <a:cs typeface="Calibri"/>
              </a:rPr>
              <a:t>FILES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6394" y="703834"/>
            <a:ext cx="226695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0">
                <a:latin typeface="Calibri"/>
                <a:cs typeface="Calibri"/>
              </a:rPr>
              <a:t>Skeletal</a:t>
            </a:r>
            <a:r>
              <a:rPr dirty="0" sz="1800" spc="-35" b="0">
                <a:latin typeface="Calibri"/>
                <a:cs typeface="Calibri"/>
              </a:rPr>
              <a:t> </a:t>
            </a:r>
            <a:r>
              <a:rPr dirty="0" sz="1800" spc="-10" b="0">
                <a:latin typeface="Calibri"/>
                <a:cs typeface="Calibri"/>
              </a:rPr>
              <a:t>Source</a:t>
            </a:r>
            <a:r>
              <a:rPr dirty="0" sz="1800" spc="-5" b="0">
                <a:latin typeface="Calibri"/>
                <a:cs typeface="Calibri"/>
              </a:rPr>
              <a:t> </a:t>
            </a:r>
            <a:r>
              <a:rPr dirty="0" sz="1800" spc="-15" b="0"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7400" y="1325880"/>
            <a:ext cx="2971800" cy="3657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1800" spc="-10">
                <a:latin typeface="Calibri"/>
                <a:cs typeface="Calibri"/>
              </a:rPr>
              <a:t>Preprocessor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6394" y="1983994"/>
            <a:ext cx="1501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Source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7400" y="2606039"/>
            <a:ext cx="2971800" cy="3657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3111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4"/>
              </a:spcBef>
            </a:pPr>
            <a:r>
              <a:rPr dirty="0" sz="1800" spc="-5">
                <a:latin typeface="Calibri"/>
                <a:cs typeface="Calibri"/>
              </a:rPr>
              <a:t>Compiler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6394" y="3264534"/>
            <a:ext cx="2354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latin typeface="Calibri"/>
                <a:cs typeface="Calibri"/>
              </a:rPr>
              <a:t>Target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assembly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program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7400" y="3886200"/>
            <a:ext cx="2971800" cy="3657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3111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dirty="0" sz="1800">
                <a:latin typeface="Calibri"/>
                <a:cs typeface="Calibri"/>
              </a:rPr>
              <a:t>Assembler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6394" y="4544948"/>
            <a:ext cx="2454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Relocatable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machine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7400" y="5166359"/>
            <a:ext cx="2971800" cy="3657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dirty="0" sz="1800" spc="-5">
                <a:latin typeface="Calibri"/>
                <a:cs typeface="Calibri"/>
              </a:rPr>
              <a:t>Loader/link-editor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36394" y="5825438"/>
            <a:ext cx="2195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Absolute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machine </a:t>
            </a:r>
            <a:r>
              <a:rPr dirty="0" sz="1800" spc="-1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23767" y="996441"/>
            <a:ext cx="103505" cy="304165"/>
          </a:xfrm>
          <a:custGeom>
            <a:avLst/>
            <a:gdLst/>
            <a:ahLst/>
            <a:cxnLst/>
            <a:rect l="l" t="t" r="r" b="b"/>
            <a:pathLst>
              <a:path w="103504" h="304165">
                <a:moveTo>
                  <a:pt x="7112" y="207772"/>
                </a:moveTo>
                <a:lnTo>
                  <a:pt x="1015" y="211328"/>
                </a:lnTo>
                <a:lnTo>
                  <a:pt x="0" y="215137"/>
                </a:lnTo>
                <a:lnTo>
                  <a:pt x="1777" y="218186"/>
                </a:lnTo>
                <a:lnTo>
                  <a:pt x="51307" y="304038"/>
                </a:lnTo>
                <a:lnTo>
                  <a:pt x="58717" y="291465"/>
                </a:lnTo>
                <a:lnTo>
                  <a:pt x="44957" y="291465"/>
                </a:lnTo>
                <a:lnTo>
                  <a:pt x="45080" y="268012"/>
                </a:lnTo>
                <a:lnTo>
                  <a:pt x="12700" y="211836"/>
                </a:lnTo>
                <a:lnTo>
                  <a:pt x="11049" y="208787"/>
                </a:lnTo>
                <a:lnTo>
                  <a:pt x="7112" y="207772"/>
                </a:lnTo>
                <a:close/>
              </a:path>
              <a:path w="103504" h="304165">
                <a:moveTo>
                  <a:pt x="45080" y="268012"/>
                </a:moveTo>
                <a:lnTo>
                  <a:pt x="44957" y="291465"/>
                </a:lnTo>
                <a:lnTo>
                  <a:pt x="57657" y="291465"/>
                </a:lnTo>
                <a:lnTo>
                  <a:pt x="57674" y="288290"/>
                </a:lnTo>
                <a:lnTo>
                  <a:pt x="45846" y="288290"/>
                </a:lnTo>
                <a:lnTo>
                  <a:pt x="51368" y="278920"/>
                </a:lnTo>
                <a:lnTo>
                  <a:pt x="45080" y="268012"/>
                </a:lnTo>
                <a:close/>
              </a:path>
              <a:path w="103504" h="304165">
                <a:moveTo>
                  <a:pt x="96393" y="208280"/>
                </a:moveTo>
                <a:lnTo>
                  <a:pt x="92456" y="209296"/>
                </a:lnTo>
                <a:lnTo>
                  <a:pt x="90678" y="212217"/>
                </a:lnTo>
                <a:lnTo>
                  <a:pt x="57780" y="268040"/>
                </a:lnTo>
                <a:lnTo>
                  <a:pt x="57657" y="291465"/>
                </a:lnTo>
                <a:lnTo>
                  <a:pt x="58717" y="291465"/>
                </a:lnTo>
                <a:lnTo>
                  <a:pt x="101599" y="218694"/>
                </a:lnTo>
                <a:lnTo>
                  <a:pt x="103378" y="215773"/>
                </a:lnTo>
                <a:lnTo>
                  <a:pt x="102361" y="211836"/>
                </a:lnTo>
                <a:lnTo>
                  <a:pt x="99441" y="210058"/>
                </a:lnTo>
                <a:lnTo>
                  <a:pt x="96393" y="208280"/>
                </a:lnTo>
                <a:close/>
              </a:path>
              <a:path w="103504" h="304165">
                <a:moveTo>
                  <a:pt x="51368" y="278920"/>
                </a:moveTo>
                <a:lnTo>
                  <a:pt x="45846" y="288290"/>
                </a:lnTo>
                <a:lnTo>
                  <a:pt x="56768" y="288290"/>
                </a:lnTo>
                <a:lnTo>
                  <a:pt x="51368" y="278920"/>
                </a:lnTo>
                <a:close/>
              </a:path>
              <a:path w="103504" h="304165">
                <a:moveTo>
                  <a:pt x="57780" y="268040"/>
                </a:moveTo>
                <a:lnTo>
                  <a:pt x="51368" y="278920"/>
                </a:lnTo>
                <a:lnTo>
                  <a:pt x="56768" y="288290"/>
                </a:lnTo>
                <a:lnTo>
                  <a:pt x="57674" y="288290"/>
                </a:lnTo>
                <a:lnTo>
                  <a:pt x="57780" y="268040"/>
                </a:lnTo>
                <a:close/>
              </a:path>
              <a:path w="103504" h="304165">
                <a:moveTo>
                  <a:pt x="46481" y="0"/>
                </a:moveTo>
                <a:lnTo>
                  <a:pt x="45080" y="268012"/>
                </a:lnTo>
                <a:lnTo>
                  <a:pt x="51368" y="278920"/>
                </a:lnTo>
                <a:lnTo>
                  <a:pt x="57780" y="268040"/>
                </a:lnTo>
                <a:lnTo>
                  <a:pt x="59181" y="127"/>
                </a:lnTo>
                <a:lnTo>
                  <a:pt x="46481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26561" y="4267200"/>
            <a:ext cx="103505" cy="295910"/>
          </a:xfrm>
          <a:custGeom>
            <a:avLst/>
            <a:gdLst/>
            <a:ahLst/>
            <a:cxnLst/>
            <a:rect l="l" t="t" r="r" b="b"/>
            <a:pathLst>
              <a:path w="103504" h="295910">
                <a:moveTo>
                  <a:pt x="7112" y="199770"/>
                </a:moveTo>
                <a:lnTo>
                  <a:pt x="1015" y="203326"/>
                </a:lnTo>
                <a:lnTo>
                  <a:pt x="0" y="207263"/>
                </a:lnTo>
                <a:lnTo>
                  <a:pt x="1777" y="210185"/>
                </a:lnTo>
                <a:lnTo>
                  <a:pt x="51688" y="295782"/>
                </a:lnTo>
                <a:lnTo>
                  <a:pt x="59020" y="283210"/>
                </a:lnTo>
                <a:lnTo>
                  <a:pt x="45338" y="283210"/>
                </a:lnTo>
                <a:lnTo>
                  <a:pt x="45328" y="259769"/>
                </a:lnTo>
                <a:lnTo>
                  <a:pt x="10921" y="200787"/>
                </a:lnTo>
                <a:lnTo>
                  <a:pt x="7112" y="199770"/>
                </a:lnTo>
                <a:close/>
              </a:path>
              <a:path w="103504" h="295910">
                <a:moveTo>
                  <a:pt x="45328" y="259769"/>
                </a:moveTo>
                <a:lnTo>
                  <a:pt x="45338" y="283210"/>
                </a:lnTo>
                <a:lnTo>
                  <a:pt x="58038" y="283210"/>
                </a:lnTo>
                <a:lnTo>
                  <a:pt x="58037" y="280035"/>
                </a:lnTo>
                <a:lnTo>
                  <a:pt x="46227" y="280035"/>
                </a:lnTo>
                <a:lnTo>
                  <a:pt x="51688" y="270673"/>
                </a:lnTo>
                <a:lnTo>
                  <a:pt x="45328" y="259769"/>
                </a:lnTo>
                <a:close/>
              </a:path>
              <a:path w="103504" h="295910">
                <a:moveTo>
                  <a:pt x="96265" y="199770"/>
                </a:moveTo>
                <a:lnTo>
                  <a:pt x="92455" y="200787"/>
                </a:lnTo>
                <a:lnTo>
                  <a:pt x="58049" y="259769"/>
                </a:lnTo>
                <a:lnTo>
                  <a:pt x="58038" y="283210"/>
                </a:lnTo>
                <a:lnTo>
                  <a:pt x="59020" y="283210"/>
                </a:lnTo>
                <a:lnTo>
                  <a:pt x="103377" y="207137"/>
                </a:lnTo>
                <a:lnTo>
                  <a:pt x="102362" y="203326"/>
                </a:lnTo>
                <a:lnTo>
                  <a:pt x="96265" y="199770"/>
                </a:lnTo>
                <a:close/>
              </a:path>
              <a:path w="103504" h="295910">
                <a:moveTo>
                  <a:pt x="51688" y="270673"/>
                </a:moveTo>
                <a:lnTo>
                  <a:pt x="46227" y="280035"/>
                </a:lnTo>
                <a:lnTo>
                  <a:pt x="57150" y="280035"/>
                </a:lnTo>
                <a:lnTo>
                  <a:pt x="51688" y="270673"/>
                </a:lnTo>
                <a:close/>
              </a:path>
              <a:path w="103504" h="295910">
                <a:moveTo>
                  <a:pt x="58028" y="259805"/>
                </a:moveTo>
                <a:lnTo>
                  <a:pt x="51688" y="270673"/>
                </a:lnTo>
                <a:lnTo>
                  <a:pt x="57150" y="280035"/>
                </a:lnTo>
                <a:lnTo>
                  <a:pt x="58037" y="280035"/>
                </a:lnTo>
                <a:lnTo>
                  <a:pt x="58028" y="259805"/>
                </a:lnTo>
                <a:close/>
              </a:path>
              <a:path w="103504" h="295910">
                <a:moveTo>
                  <a:pt x="57912" y="0"/>
                </a:moveTo>
                <a:lnTo>
                  <a:pt x="45212" y="0"/>
                </a:lnTo>
                <a:lnTo>
                  <a:pt x="45301" y="199770"/>
                </a:lnTo>
                <a:lnTo>
                  <a:pt x="45349" y="259805"/>
                </a:lnTo>
                <a:lnTo>
                  <a:pt x="51688" y="270673"/>
                </a:lnTo>
                <a:lnTo>
                  <a:pt x="58028" y="259805"/>
                </a:lnTo>
                <a:lnTo>
                  <a:pt x="57912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26561" y="2291079"/>
            <a:ext cx="103505" cy="295910"/>
          </a:xfrm>
          <a:custGeom>
            <a:avLst/>
            <a:gdLst/>
            <a:ahLst/>
            <a:cxnLst/>
            <a:rect l="l" t="t" r="r" b="b"/>
            <a:pathLst>
              <a:path w="103504" h="295910">
                <a:moveTo>
                  <a:pt x="7112" y="199771"/>
                </a:moveTo>
                <a:lnTo>
                  <a:pt x="1015" y="203327"/>
                </a:lnTo>
                <a:lnTo>
                  <a:pt x="0" y="207264"/>
                </a:lnTo>
                <a:lnTo>
                  <a:pt x="1777" y="210185"/>
                </a:lnTo>
                <a:lnTo>
                  <a:pt x="51688" y="295783"/>
                </a:lnTo>
                <a:lnTo>
                  <a:pt x="59020" y="283210"/>
                </a:lnTo>
                <a:lnTo>
                  <a:pt x="45338" y="283210"/>
                </a:lnTo>
                <a:lnTo>
                  <a:pt x="45328" y="259769"/>
                </a:lnTo>
                <a:lnTo>
                  <a:pt x="10921" y="200787"/>
                </a:lnTo>
                <a:lnTo>
                  <a:pt x="7112" y="199771"/>
                </a:lnTo>
                <a:close/>
              </a:path>
              <a:path w="103504" h="295910">
                <a:moveTo>
                  <a:pt x="45328" y="259769"/>
                </a:moveTo>
                <a:lnTo>
                  <a:pt x="45338" y="283210"/>
                </a:lnTo>
                <a:lnTo>
                  <a:pt x="58038" y="283210"/>
                </a:lnTo>
                <a:lnTo>
                  <a:pt x="58037" y="280035"/>
                </a:lnTo>
                <a:lnTo>
                  <a:pt x="46227" y="280035"/>
                </a:lnTo>
                <a:lnTo>
                  <a:pt x="51688" y="270673"/>
                </a:lnTo>
                <a:lnTo>
                  <a:pt x="45328" y="259769"/>
                </a:lnTo>
                <a:close/>
              </a:path>
              <a:path w="103504" h="295910">
                <a:moveTo>
                  <a:pt x="96265" y="199771"/>
                </a:moveTo>
                <a:lnTo>
                  <a:pt x="92455" y="200787"/>
                </a:lnTo>
                <a:lnTo>
                  <a:pt x="58049" y="259769"/>
                </a:lnTo>
                <a:lnTo>
                  <a:pt x="58038" y="283210"/>
                </a:lnTo>
                <a:lnTo>
                  <a:pt x="59020" y="283210"/>
                </a:lnTo>
                <a:lnTo>
                  <a:pt x="103377" y="207137"/>
                </a:lnTo>
                <a:lnTo>
                  <a:pt x="102362" y="203327"/>
                </a:lnTo>
                <a:lnTo>
                  <a:pt x="96265" y="199771"/>
                </a:lnTo>
                <a:close/>
              </a:path>
              <a:path w="103504" h="295910">
                <a:moveTo>
                  <a:pt x="51688" y="270673"/>
                </a:moveTo>
                <a:lnTo>
                  <a:pt x="46227" y="280035"/>
                </a:lnTo>
                <a:lnTo>
                  <a:pt x="57150" y="280035"/>
                </a:lnTo>
                <a:lnTo>
                  <a:pt x="51688" y="270673"/>
                </a:lnTo>
                <a:close/>
              </a:path>
              <a:path w="103504" h="295910">
                <a:moveTo>
                  <a:pt x="58028" y="259805"/>
                </a:moveTo>
                <a:lnTo>
                  <a:pt x="51688" y="270673"/>
                </a:lnTo>
                <a:lnTo>
                  <a:pt x="57150" y="280035"/>
                </a:lnTo>
                <a:lnTo>
                  <a:pt x="58037" y="280035"/>
                </a:lnTo>
                <a:lnTo>
                  <a:pt x="58028" y="259805"/>
                </a:lnTo>
                <a:close/>
              </a:path>
              <a:path w="103504" h="295910">
                <a:moveTo>
                  <a:pt x="57912" y="0"/>
                </a:moveTo>
                <a:lnTo>
                  <a:pt x="45212" y="0"/>
                </a:lnTo>
                <a:lnTo>
                  <a:pt x="45301" y="199771"/>
                </a:lnTo>
                <a:lnTo>
                  <a:pt x="45349" y="259805"/>
                </a:lnTo>
                <a:lnTo>
                  <a:pt x="51688" y="270673"/>
                </a:lnTo>
                <a:lnTo>
                  <a:pt x="58028" y="259805"/>
                </a:lnTo>
                <a:lnTo>
                  <a:pt x="57912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26561" y="1757679"/>
            <a:ext cx="103505" cy="295910"/>
          </a:xfrm>
          <a:custGeom>
            <a:avLst/>
            <a:gdLst/>
            <a:ahLst/>
            <a:cxnLst/>
            <a:rect l="l" t="t" r="r" b="b"/>
            <a:pathLst>
              <a:path w="103504" h="295910">
                <a:moveTo>
                  <a:pt x="7112" y="199771"/>
                </a:moveTo>
                <a:lnTo>
                  <a:pt x="1015" y="203327"/>
                </a:lnTo>
                <a:lnTo>
                  <a:pt x="0" y="207264"/>
                </a:lnTo>
                <a:lnTo>
                  <a:pt x="1777" y="210185"/>
                </a:lnTo>
                <a:lnTo>
                  <a:pt x="51688" y="295783"/>
                </a:lnTo>
                <a:lnTo>
                  <a:pt x="59020" y="283210"/>
                </a:lnTo>
                <a:lnTo>
                  <a:pt x="45338" y="283210"/>
                </a:lnTo>
                <a:lnTo>
                  <a:pt x="45328" y="259769"/>
                </a:lnTo>
                <a:lnTo>
                  <a:pt x="10921" y="200787"/>
                </a:lnTo>
                <a:lnTo>
                  <a:pt x="7112" y="199771"/>
                </a:lnTo>
                <a:close/>
              </a:path>
              <a:path w="103504" h="295910">
                <a:moveTo>
                  <a:pt x="45328" y="259769"/>
                </a:moveTo>
                <a:lnTo>
                  <a:pt x="45338" y="283210"/>
                </a:lnTo>
                <a:lnTo>
                  <a:pt x="58038" y="283210"/>
                </a:lnTo>
                <a:lnTo>
                  <a:pt x="58037" y="280035"/>
                </a:lnTo>
                <a:lnTo>
                  <a:pt x="46227" y="280035"/>
                </a:lnTo>
                <a:lnTo>
                  <a:pt x="51688" y="270673"/>
                </a:lnTo>
                <a:lnTo>
                  <a:pt x="45328" y="259769"/>
                </a:lnTo>
                <a:close/>
              </a:path>
              <a:path w="103504" h="295910">
                <a:moveTo>
                  <a:pt x="96265" y="199771"/>
                </a:moveTo>
                <a:lnTo>
                  <a:pt x="92455" y="200787"/>
                </a:lnTo>
                <a:lnTo>
                  <a:pt x="58049" y="259769"/>
                </a:lnTo>
                <a:lnTo>
                  <a:pt x="58038" y="283210"/>
                </a:lnTo>
                <a:lnTo>
                  <a:pt x="59020" y="283210"/>
                </a:lnTo>
                <a:lnTo>
                  <a:pt x="103377" y="207137"/>
                </a:lnTo>
                <a:lnTo>
                  <a:pt x="102362" y="203327"/>
                </a:lnTo>
                <a:lnTo>
                  <a:pt x="96265" y="199771"/>
                </a:lnTo>
                <a:close/>
              </a:path>
              <a:path w="103504" h="295910">
                <a:moveTo>
                  <a:pt x="51688" y="270673"/>
                </a:moveTo>
                <a:lnTo>
                  <a:pt x="46227" y="280035"/>
                </a:lnTo>
                <a:lnTo>
                  <a:pt x="57150" y="280035"/>
                </a:lnTo>
                <a:lnTo>
                  <a:pt x="51688" y="270673"/>
                </a:lnTo>
                <a:close/>
              </a:path>
              <a:path w="103504" h="295910">
                <a:moveTo>
                  <a:pt x="58028" y="259805"/>
                </a:moveTo>
                <a:lnTo>
                  <a:pt x="51688" y="270673"/>
                </a:lnTo>
                <a:lnTo>
                  <a:pt x="57150" y="280035"/>
                </a:lnTo>
                <a:lnTo>
                  <a:pt x="58037" y="280035"/>
                </a:lnTo>
                <a:lnTo>
                  <a:pt x="58028" y="259805"/>
                </a:lnTo>
                <a:close/>
              </a:path>
              <a:path w="103504" h="295910">
                <a:moveTo>
                  <a:pt x="57912" y="0"/>
                </a:moveTo>
                <a:lnTo>
                  <a:pt x="45212" y="0"/>
                </a:lnTo>
                <a:lnTo>
                  <a:pt x="45301" y="199771"/>
                </a:lnTo>
                <a:lnTo>
                  <a:pt x="45349" y="259805"/>
                </a:lnTo>
                <a:lnTo>
                  <a:pt x="51688" y="270673"/>
                </a:lnTo>
                <a:lnTo>
                  <a:pt x="58028" y="259805"/>
                </a:lnTo>
                <a:lnTo>
                  <a:pt x="57912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26561" y="3048000"/>
            <a:ext cx="103505" cy="295910"/>
          </a:xfrm>
          <a:custGeom>
            <a:avLst/>
            <a:gdLst/>
            <a:ahLst/>
            <a:cxnLst/>
            <a:rect l="l" t="t" r="r" b="b"/>
            <a:pathLst>
              <a:path w="103504" h="295910">
                <a:moveTo>
                  <a:pt x="7112" y="199771"/>
                </a:moveTo>
                <a:lnTo>
                  <a:pt x="1015" y="203326"/>
                </a:lnTo>
                <a:lnTo>
                  <a:pt x="0" y="207263"/>
                </a:lnTo>
                <a:lnTo>
                  <a:pt x="1777" y="210185"/>
                </a:lnTo>
                <a:lnTo>
                  <a:pt x="51688" y="295783"/>
                </a:lnTo>
                <a:lnTo>
                  <a:pt x="59020" y="283210"/>
                </a:lnTo>
                <a:lnTo>
                  <a:pt x="45338" y="283210"/>
                </a:lnTo>
                <a:lnTo>
                  <a:pt x="45328" y="259769"/>
                </a:lnTo>
                <a:lnTo>
                  <a:pt x="10921" y="200787"/>
                </a:lnTo>
                <a:lnTo>
                  <a:pt x="7112" y="199771"/>
                </a:lnTo>
                <a:close/>
              </a:path>
              <a:path w="103504" h="295910">
                <a:moveTo>
                  <a:pt x="45328" y="259769"/>
                </a:moveTo>
                <a:lnTo>
                  <a:pt x="45338" y="283210"/>
                </a:lnTo>
                <a:lnTo>
                  <a:pt x="58038" y="283210"/>
                </a:lnTo>
                <a:lnTo>
                  <a:pt x="58037" y="280035"/>
                </a:lnTo>
                <a:lnTo>
                  <a:pt x="46227" y="280035"/>
                </a:lnTo>
                <a:lnTo>
                  <a:pt x="51688" y="270673"/>
                </a:lnTo>
                <a:lnTo>
                  <a:pt x="45328" y="259769"/>
                </a:lnTo>
                <a:close/>
              </a:path>
              <a:path w="103504" h="295910">
                <a:moveTo>
                  <a:pt x="96265" y="199771"/>
                </a:moveTo>
                <a:lnTo>
                  <a:pt x="92455" y="200787"/>
                </a:lnTo>
                <a:lnTo>
                  <a:pt x="58049" y="259769"/>
                </a:lnTo>
                <a:lnTo>
                  <a:pt x="58038" y="283210"/>
                </a:lnTo>
                <a:lnTo>
                  <a:pt x="59020" y="283210"/>
                </a:lnTo>
                <a:lnTo>
                  <a:pt x="103377" y="207137"/>
                </a:lnTo>
                <a:lnTo>
                  <a:pt x="102362" y="203326"/>
                </a:lnTo>
                <a:lnTo>
                  <a:pt x="96265" y="199771"/>
                </a:lnTo>
                <a:close/>
              </a:path>
              <a:path w="103504" h="295910">
                <a:moveTo>
                  <a:pt x="51688" y="270673"/>
                </a:moveTo>
                <a:lnTo>
                  <a:pt x="46227" y="280035"/>
                </a:lnTo>
                <a:lnTo>
                  <a:pt x="57150" y="280035"/>
                </a:lnTo>
                <a:lnTo>
                  <a:pt x="51688" y="270673"/>
                </a:lnTo>
                <a:close/>
              </a:path>
              <a:path w="103504" h="295910">
                <a:moveTo>
                  <a:pt x="58028" y="259805"/>
                </a:moveTo>
                <a:lnTo>
                  <a:pt x="51688" y="270673"/>
                </a:lnTo>
                <a:lnTo>
                  <a:pt x="57150" y="280035"/>
                </a:lnTo>
                <a:lnTo>
                  <a:pt x="58037" y="280035"/>
                </a:lnTo>
                <a:lnTo>
                  <a:pt x="58028" y="259805"/>
                </a:lnTo>
                <a:close/>
              </a:path>
              <a:path w="103504" h="295910">
                <a:moveTo>
                  <a:pt x="57912" y="0"/>
                </a:moveTo>
                <a:lnTo>
                  <a:pt x="45212" y="0"/>
                </a:lnTo>
                <a:lnTo>
                  <a:pt x="45301" y="199771"/>
                </a:lnTo>
                <a:lnTo>
                  <a:pt x="45349" y="259805"/>
                </a:lnTo>
                <a:lnTo>
                  <a:pt x="51688" y="270673"/>
                </a:lnTo>
                <a:lnTo>
                  <a:pt x="58028" y="259805"/>
                </a:lnTo>
                <a:lnTo>
                  <a:pt x="57912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26561" y="4881879"/>
            <a:ext cx="103505" cy="295910"/>
          </a:xfrm>
          <a:custGeom>
            <a:avLst/>
            <a:gdLst/>
            <a:ahLst/>
            <a:cxnLst/>
            <a:rect l="l" t="t" r="r" b="b"/>
            <a:pathLst>
              <a:path w="103504" h="295910">
                <a:moveTo>
                  <a:pt x="7112" y="199771"/>
                </a:moveTo>
                <a:lnTo>
                  <a:pt x="1015" y="203327"/>
                </a:lnTo>
                <a:lnTo>
                  <a:pt x="0" y="207264"/>
                </a:lnTo>
                <a:lnTo>
                  <a:pt x="1777" y="210185"/>
                </a:lnTo>
                <a:lnTo>
                  <a:pt x="51688" y="295783"/>
                </a:lnTo>
                <a:lnTo>
                  <a:pt x="59020" y="283210"/>
                </a:lnTo>
                <a:lnTo>
                  <a:pt x="45338" y="283210"/>
                </a:lnTo>
                <a:lnTo>
                  <a:pt x="45328" y="259769"/>
                </a:lnTo>
                <a:lnTo>
                  <a:pt x="10921" y="200787"/>
                </a:lnTo>
                <a:lnTo>
                  <a:pt x="7112" y="199771"/>
                </a:lnTo>
                <a:close/>
              </a:path>
              <a:path w="103504" h="295910">
                <a:moveTo>
                  <a:pt x="45328" y="259769"/>
                </a:moveTo>
                <a:lnTo>
                  <a:pt x="45338" y="283210"/>
                </a:lnTo>
                <a:lnTo>
                  <a:pt x="58038" y="283210"/>
                </a:lnTo>
                <a:lnTo>
                  <a:pt x="58037" y="280035"/>
                </a:lnTo>
                <a:lnTo>
                  <a:pt x="46227" y="280035"/>
                </a:lnTo>
                <a:lnTo>
                  <a:pt x="51688" y="270673"/>
                </a:lnTo>
                <a:lnTo>
                  <a:pt x="45328" y="259769"/>
                </a:lnTo>
                <a:close/>
              </a:path>
              <a:path w="103504" h="295910">
                <a:moveTo>
                  <a:pt x="96265" y="199771"/>
                </a:moveTo>
                <a:lnTo>
                  <a:pt x="92455" y="200787"/>
                </a:lnTo>
                <a:lnTo>
                  <a:pt x="58049" y="259769"/>
                </a:lnTo>
                <a:lnTo>
                  <a:pt x="58038" y="283210"/>
                </a:lnTo>
                <a:lnTo>
                  <a:pt x="59020" y="283210"/>
                </a:lnTo>
                <a:lnTo>
                  <a:pt x="103377" y="207137"/>
                </a:lnTo>
                <a:lnTo>
                  <a:pt x="102362" y="203327"/>
                </a:lnTo>
                <a:lnTo>
                  <a:pt x="96265" y="199771"/>
                </a:lnTo>
                <a:close/>
              </a:path>
              <a:path w="103504" h="295910">
                <a:moveTo>
                  <a:pt x="51688" y="270673"/>
                </a:moveTo>
                <a:lnTo>
                  <a:pt x="46227" y="280035"/>
                </a:lnTo>
                <a:lnTo>
                  <a:pt x="57150" y="280035"/>
                </a:lnTo>
                <a:lnTo>
                  <a:pt x="51688" y="270673"/>
                </a:lnTo>
                <a:close/>
              </a:path>
              <a:path w="103504" h="295910">
                <a:moveTo>
                  <a:pt x="58028" y="259805"/>
                </a:moveTo>
                <a:lnTo>
                  <a:pt x="51688" y="270673"/>
                </a:lnTo>
                <a:lnTo>
                  <a:pt x="57150" y="280035"/>
                </a:lnTo>
                <a:lnTo>
                  <a:pt x="58037" y="280035"/>
                </a:lnTo>
                <a:lnTo>
                  <a:pt x="58028" y="259805"/>
                </a:lnTo>
                <a:close/>
              </a:path>
              <a:path w="103504" h="295910">
                <a:moveTo>
                  <a:pt x="57912" y="0"/>
                </a:moveTo>
                <a:lnTo>
                  <a:pt x="45212" y="0"/>
                </a:lnTo>
                <a:lnTo>
                  <a:pt x="45301" y="199771"/>
                </a:lnTo>
                <a:lnTo>
                  <a:pt x="45349" y="259805"/>
                </a:lnTo>
                <a:lnTo>
                  <a:pt x="51688" y="270673"/>
                </a:lnTo>
                <a:lnTo>
                  <a:pt x="58028" y="259805"/>
                </a:lnTo>
                <a:lnTo>
                  <a:pt x="57912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24910" y="5643879"/>
            <a:ext cx="103505" cy="295910"/>
          </a:xfrm>
          <a:custGeom>
            <a:avLst/>
            <a:gdLst/>
            <a:ahLst/>
            <a:cxnLst/>
            <a:rect l="l" t="t" r="r" b="b"/>
            <a:pathLst>
              <a:path w="103504" h="295910">
                <a:moveTo>
                  <a:pt x="7112" y="199783"/>
                </a:moveTo>
                <a:lnTo>
                  <a:pt x="1015" y="203314"/>
                </a:lnTo>
                <a:lnTo>
                  <a:pt x="0" y="207200"/>
                </a:lnTo>
                <a:lnTo>
                  <a:pt x="51815" y="295821"/>
                </a:lnTo>
                <a:lnTo>
                  <a:pt x="59159" y="283222"/>
                </a:lnTo>
                <a:lnTo>
                  <a:pt x="45465" y="283222"/>
                </a:lnTo>
                <a:lnTo>
                  <a:pt x="45351" y="259575"/>
                </a:lnTo>
                <a:lnTo>
                  <a:pt x="11049" y="200799"/>
                </a:lnTo>
                <a:lnTo>
                  <a:pt x="7112" y="199783"/>
                </a:lnTo>
                <a:close/>
              </a:path>
              <a:path w="103504" h="295910">
                <a:moveTo>
                  <a:pt x="45455" y="259753"/>
                </a:moveTo>
                <a:lnTo>
                  <a:pt x="45465" y="283222"/>
                </a:lnTo>
                <a:lnTo>
                  <a:pt x="58165" y="283210"/>
                </a:lnTo>
                <a:lnTo>
                  <a:pt x="58164" y="280022"/>
                </a:lnTo>
                <a:lnTo>
                  <a:pt x="46227" y="280022"/>
                </a:lnTo>
                <a:lnTo>
                  <a:pt x="51754" y="270547"/>
                </a:lnTo>
                <a:lnTo>
                  <a:pt x="45455" y="259753"/>
                </a:lnTo>
                <a:close/>
              </a:path>
              <a:path w="103504" h="295910">
                <a:moveTo>
                  <a:pt x="96392" y="199745"/>
                </a:moveTo>
                <a:lnTo>
                  <a:pt x="92455" y="200774"/>
                </a:lnTo>
                <a:lnTo>
                  <a:pt x="58155" y="259575"/>
                </a:lnTo>
                <a:lnTo>
                  <a:pt x="58165" y="283210"/>
                </a:lnTo>
                <a:lnTo>
                  <a:pt x="45465" y="283222"/>
                </a:lnTo>
                <a:lnTo>
                  <a:pt x="59167" y="283210"/>
                </a:lnTo>
                <a:lnTo>
                  <a:pt x="101726" y="210197"/>
                </a:lnTo>
                <a:lnTo>
                  <a:pt x="103504" y="207175"/>
                </a:lnTo>
                <a:lnTo>
                  <a:pt x="102362" y="203288"/>
                </a:lnTo>
                <a:lnTo>
                  <a:pt x="99440" y="201510"/>
                </a:lnTo>
                <a:lnTo>
                  <a:pt x="96392" y="199745"/>
                </a:lnTo>
                <a:close/>
              </a:path>
              <a:path w="103504" h="295910">
                <a:moveTo>
                  <a:pt x="51754" y="270547"/>
                </a:moveTo>
                <a:lnTo>
                  <a:pt x="46227" y="280022"/>
                </a:lnTo>
                <a:lnTo>
                  <a:pt x="57276" y="280009"/>
                </a:lnTo>
                <a:lnTo>
                  <a:pt x="51754" y="270547"/>
                </a:lnTo>
                <a:close/>
              </a:path>
              <a:path w="103504" h="295910">
                <a:moveTo>
                  <a:pt x="58155" y="259575"/>
                </a:moveTo>
                <a:lnTo>
                  <a:pt x="51754" y="270547"/>
                </a:lnTo>
                <a:lnTo>
                  <a:pt x="57276" y="280009"/>
                </a:lnTo>
                <a:lnTo>
                  <a:pt x="46227" y="280022"/>
                </a:lnTo>
                <a:lnTo>
                  <a:pt x="58164" y="280022"/>
                </a:lnTo>
                <a:lnTo>
                  <a:pt x="58155" y="259575"/>
                </a:lnTo>
                <a:close/>
              </a:path>
              <a:path w="103504" h="295910">
                <a:moveTo>
                  <a:pt x="58038" y="0"/>
                </a:moveTo>
                <a:lnTo>
                  <a:pt x="45338" y="0"/>
                </a:lnTo>
                <a:lnTo>
                  <a:pt x="45455" y="259753"/>
                </a:lnTo>
                <a:lnTo>
                  <a:pt x="51754" y="270547"/>
                </a:lnTo>
                <a:lnTo>
                  <a:pt x="58051" y="259753"/>
                </a:lnTo>
                <a:lnTo>
                  <a:pt x="58038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24910" y="3581400"/>
            <a:ext cx="103505" cy="295910"/>
          </a:xfrm>
          <a:custGeom>
            <a:avLst/>
            <a:gdLst/>
            <a:ahLst/>
            <a:cxnLst/>
            <a:rect l="l" t="t" r="r" b="b"/>
            <a:pathLst>
              <a:path w="103504" h="295910">
                <a:moveTo>
                  <a:pt x="7112" y="199770"/>
                </a:moveTo>
                <a:lnTo>
                  <a:pt x="1015" y="203326"/>
                </a:lnTo>
                <a:lnTo>
                  <a:pt x="0" y="207263"/>
                </a:lnTo>
                <a:lnTo>
                  <a:pt x="1777" y="210185"/>
                </a:lnTo>
                <a:lnTo>
                  <a:pt x="51815" y="295782"/>
                </a:lnTo>
                <a:lnTo>
                  <a:pt x="59147" y="283210"/>
                </a:lnTo>
                <a:lnTo>
                  <a:pt x="45465" y="283210"/>
                </a:lnTo>
                <a:lnTo>
                  <a:pt x="45349" y="259588"/>
                </a:lnTo>
                <a:lnTo>
                  <a:pt x="11049" y="200787"/>
                </a:lnTo>
                <a:lnTo>
                  <a:pt x="7112" y="199770"/>
                </a:lnTo>
                <a:close/>
              </a:path>
              <a:path w="103504" h="295910">
                <a:moveTo>
                  <a:pt x="45455" y="259769"/>
                </a:moveTo>
                <a:lnTo>
                  <a:pt x="45465" y="283210"/>
                </a:lnTo>
                <a:lnTo>
                  <a:pt x="58165" y="283210"/>
                </a:lnTo>
                <a:lnTo>
                  <a:pt x="58164" y="280035"/>
                </a:lnTo>
                <a:lnTo>
                  <a:pt x="46227" y="280035"/>
                </a:lnTo>
                <a:lnTo>
                  <a:pt x="51752" y="270564"/>
                </a:lnTo>
                <a:lnTo>
                  <a:pt x="45455" y="259769"/>
                </a:lnTo>
                <a:close/>
              </a:path>
              <a:path w="103504" h="295910">
                <a:moveTo>
                  <a:pt x="96392" y="199770"/>
                </a:moveTo>
                <a:lnTo>
                  <a:pt x="92455" y="200787"/>
                </a:lnTo>
                <a:lnTo>
                  <a:pt x="58155" y="259588"/>
                </a:lnTo>
                <a:lnTo>
                  <a:pt x="58165" y="283210"/>
                </a:lnTo>
                <a:lnTo>
                  <a:pt x="59147" y="283210"/>
                </a:lnTo>
                <a:lnTo>
                  <a:pt x="103504" y="207137"/>
                </a:lnTo>
                <a:lnTo>
                  <a:pt x="102488" y="203326"/>
                </a:lnTo>
                <a:lnTo>
                  <a:pt x="96392" y="199770"/>
                </a:lnTo>
                <a:close/>
              </a:path>
              <a:path w="103504" h="295910">
                <a:moveTo>
                  <a:pt x="51752" y="270564"/>
                </a:moveTo>
                <a:lnTo>
                  <a:pt x="46227" y="280035"/>
                </a:lnTo>
                <a:lnTo>
                  <a:pt x="57276" y="280035"/>
                </a:lnTo>
                <a:lnTo>
                  <a:pt x="51752" y="270564"/>
                </a:lnTo>
                <a:close/>
              </a:path>
              <a:path w="103504" h="295910">
                <a:moveTo>
                  <a:pt x="58155" y="259588"/>
                </a:moveTo>
                <a:lnTo>
                  <a:pt x="51752" y="270564"/>
                </a:lnTo>
                <a:lnTo>
                  <a:pt x="57276" y="280035"/>
                </a:lnTo>
                <a:lnTo>
                  <a:pt x="58164" y="280035"/>
                </a:lnTo>
                <a:lnTo>
                  <a:pt x="58155" y="259588"/>
                </a:lnTo>
                <a:close/>
              </a:path>
              <a:path w="103504" h="295910">
                <a:moveTo>
                  <a:pt x="58038" y="0"/>
                </a:moveTo>
                <a:lnTo>
                  <a:pt x="45338" y="0"/>
                </a:lnTo>
                <a:lnTo>
                  <a:pt x="45455" y="259769"/>
                </a:lnTo>
                <a:lnTo>
                  <a:pt x="51752" y="270564"/>
                </a:lnTo>
                <a:lnTo>
                  <a:pt x="58049" y="259769"/>
                </a:lnTo>
                <a:lnTo>
                  <a:pt x="58038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105400" y="5282438"/>
            <a:ext cx="838200" cy="103505"/>
          </a:xfrm>
          <a:custGeom>
            <a:avLst/>
            <a:gdLst/>
            <a:ahLst/>
            <a:cxnLst/>
            <a:rect l="l" t="t" r="r" b="b"/>
            <a:pathLst>
              <a:path w="838200" h="103504">
                <a:moveTo>
                  <a:pt x="88646" y="0"/>
                </a:moveTo>
                <a:lnTo>
                  <a:pt x="85725" y="1778"/>
                </a:lnTo>
                <a:lnTo>
                  <a:pt x="0" y="51562"/>
                </a:lnTo>
                <a:lnTo>
                  <a:pt x="88519" y="103378"/>
                </a:lnTo>
                <a:lnTo>
                  <a:pt x="92455" y="102362"/>
                </a:lnTo>
                <a:lnTo>
                  <a:pt x="94107" y="99440"/>
                </a:lnTo>
                <a:lnTo>
                  <a:pt x="95885" y="96393"/>
                </a:lnTo>
                <a:lnTo>
                  <a:pt x="94869" y="92456"/>
                </a:lnTo>
                <a:lnTo>
                  <a:pt x="91948" y="90678"/>
                </a:lnTo>
                <a:lnTo>
                  <a:pt x="36011" y="57955"/>
                </a:lnTo>
                <a:lnTo>
                  <a:pt x="12573" y="57912"/>
                </a:lnTo>
                <a:lnTo>
                  <a:pt x="12573" y="45212"/>
                </a:lnTo>
                <a:lnTo>
                  <a:pt x="36139" y="45212"/>
                </a:lnTo>
                <a:lnTo>
                  <a:pt x="95123" y="11049"/>
                </a:lnTo>
                <a:lnTo>
                  <a:pt x="96138" y="7112"/>
                </a:lnTo>
                <a:lnTo>
                  <a:pt x="92583" y="1015"/>
                </a:lnTo>
                <a:lnTo>
                  <a:pt x="88646" y="0"/>
                </a:lnTo>
                <a:close/>
              </a:path>
              <a:path w="838200" h="103504">
                <a:moveTo>
                  <a:pt x="36065" y="45255"/>
                </a:moveTo>
                <a:lnTo>
                  <a:pt x="25129" y="51589"/>
                </a:lnTo>
                <a:lnTo>
                  <a:pt x="36011" y="57955"/>
                </a:lnTo>
                <a:lnTo>
                  <a:pt x="838200" y="59436"/>
                </a:lnTo>
                <a:lnTo>
                  <a:pt x="838200" y="46736"/>
                </a:lnTo>
                <a:lnTo>
                  <a:pt x="36065" y="45255"/>
                </a:lnTo>
                <a:close/>
              </a:path>
              <a:path w="838200" h="103504">
                <a:moveTo>
                  <a:pt x="12573" y="45212"/>
                </a:moveTo>
                <a:lnTo>
                  <a:pt x="12573" y="57912"/>
                </a:lnTo>
                <a:lnTo>
                  <a:pt x="36011" y="57955"/>
                </a:lnTo>
                <a:lnTo>
                  <a:pt x="34418" y="57023"/>
                </a:lnTo>
                <a:lnTo>
                  <a:pt x="15748" y="57023"/>
                </a:lnTo>
                <a:lnTo>
                  <a:pt x="15748" y="46100"/>
                </a:lnTo>
                <a:lnTo>
                  <a:pt x="34605" y="46100"/>
                </a:lnTo>
                <a:lnTo>
                  <a:pt x="36065" y="45255"/>
                </a:lnTo>
                <a:lnTo>
                  <a:pt x="12573" y="45212"/>
                </a:lnTo>
                <a:close/>
              </a:path>
              <a:path w="838200" h="103504">
                <a:moveTo>
                  <a:pt x="15748" y="46100"/>
                </a:moveTo>
                <a:lnTo>
                  <a:pt x="15748" y="57023"/>
                </a:lnTo>
                <a:lnTo>
                  <a:pt x="25129" y="51589"/>
                </a:lnTo>
                <a:lnTo>
                  <a:pt x="15748" y="46100"/>
                </a:lnTo>
                <a:close/>
              </a:path>
              <a:path w="838200" h="103504">
                <a:moveTo>
                  <a:pt x="25129" y="51589"/>
                </a:moveTo>
                <a:lnTo>
                  <a:pt x="15748" y="57023"/>
                </a:lnTo>
                <a:lnTo>
                  <a:pt x="34418" y="57023"/>
                </a:lnTo>
                <a:lnTo>
                  <a:pt x="25129" y="51589"/>
                </a:lnTo>
                <a:close/>
              </a:path>
              <a:path w="838200" h="103504">
                <a:moveTo>
                  <a:pt x="34605" y="46100"/>
                </a:moveTo>
                <a:lnTo>
                  <a:pt x="15748" y="46100"/>
                </a:lnTo>
                <a:lnTo>
                  <a:pt x="25129" y="51589"/>
                </a:lnTo>
                <a:lnTo>
                  <a:pt x="34605" y="46100"/>
                </a:lnTo>
                <a:close/>
              </a:path>
              <a:path w="838200" h="103504">
                <a:moveTo>
                  <a:pt x="36139" y="45212"/>
                </a:moveTo>
                <a:lnTo>
                  <a:pt x="12573" y="45212"/>
                </a:lnTo>
                <a:lnTo>
                  <a:pt x="36065" y="45255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990850" y="6346647"/>
            <a:ext cx="29356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Calibri"/>
                <a:cs typeface="Calibri"/>
              </a:rPr>
              <a:t>1.3.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5" b="1">
                <a:latin typeface="Calibri"/>
                <a:cs typeface="Calibri"/>
              </a:rPr>
              <a:t>LANGUAGE-PROCESSING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15" b="1"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26957" y="642680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88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4925" y="461594"/>
            <a:ext cx="65405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1.4</a:t>
            </a:r>
            <a:r>
              <a:rPr dirty="0" spc="-30"/>
              <a:t> </a:t>
            </a:r>
            <a:r>
              <a:rPr dirty="0" spc="-5"/>
              <a:t>Cousins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5"/>
              <a:t>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0635"/>
            <a:ext cx="8072755" cy="431990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10" b="1">
                <a:latin typeface="Calibri"/>
                <a:cs typeface="Calibri"/>
              </a:rPr>
              <a:t>Preprocessors: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  <a:tab pos="2943860" algn="l"/>
                <a:tab pos="4583430" algn="l"/>
                <a:tab pos="5729605" algn="l"/>
                <a:tab pos="6350000" algn="l"/>
              </a:tabLst>
            </a:pPr>
            <a:r>
              <a:rPr dirty="0" sz="3200" spc="-5">
                <a:latin typeface="Calibri"/>
                <a:cs typeface="Calibri"/>
              </a:rPr>
              <a:t>p</a:t>
            </a:r>
            <a:r>
              <a:rPr dirty="0" sz="3200" spc="-4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ep</a:t>
            </a:r>
            <a:r>
              <a:rPr dirty="0" sz="3200" spc="-55">
                <a:latin typeface="Calibri"/>
                <a:cs typeface="Calibri"/>
              </a:rPr>
              <a:t>r</a:t>
            </a:r>
            <a:r>
              <a:rPr dirty="0" sz="3200" spc="-1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c</a:t>
            </a:r>
            <a:r>
              <a:rPr dirty="0" sz="3200" spc="-15">
                <a:latin typeface="Calibri"/>
                <a:cs typeface="Calibri"/>
              </a:rPr>
              <a:t>e</a:t>
            </a:r>
            <a:r>
              <a:rPr dirty="0" sz="3200" spc="-5">
                <a:latin typeface="Calibri"/>
                <a:cs typeface="Calibri"/>
              </a:rPr>
              <a:t>s</a:t>
            </a:r>
            <a:r>
              <a:rPr dirty="0" sz="3200" spc="-15">
                <a:latin typeface="Calibri"/>
                <a:cs typeface="Calibri"/>
              </a:rPr>
              <a:t>s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 spc="-6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p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 spc="-5">
                <a:latin typeface="Calibri"/>
                <a:cs typeface="Calibri"/>
              </a:rPr>
              <a:t>oduc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input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5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30">
                <a:latin typeface="Calibri"/>
                <a:cs typeface="Calibri"/>
              </a:rPr>
              <a:t>c</a:t>
            </a:r>
            <a:r>
              <a:rPr dirty="0" sz="3200" spc="-5">
                <a:latin typeface="Calibri"/>
                <a:cs typeface="Calibri"/>
              </a:rPr>
              <a:t>ompile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 spc="5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.  </a:t>
            </a:r>
            <a:r>
              <a:rPr dirty="0" sz="3200" spc="-10">
                <a:latin typeface="Calibri"/>
                <a:cs typeface="Calibri"/>
              </a:rPr>
              <a:t>They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may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perform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following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functions: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43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dirty="0" sz="2800" spc="-10" b="1">
                <a:latin typeface="Calibri"/>
                <a:cs typeface="Calibri"/>
              </a:rPr>
              <a:t>Macro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Processing: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 b="1">
                <a:latin typeface="Calibri"/>
                <a:cs typeface="Calibri"/>
              </a:rPr>
              <a:t>File</a:t>
            </a:r>
            <a:r>
              <a:rPr dirty="0" sz="2800" spc="-2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inclusion: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0" b="1">
                <a:latin typeface="Calibri"/>
                <a:cs typeface="Calibri"/>
              </a:rPr>
              <a:t>“Rational”</a:t>
            </a:r>
            <a:r>
              <a:rPr dirty="0" sz="2800" spc="-5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Preprocessors: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0" b="1">
                <a:latin typeface="Calibri"/>
                <a:cs typeface="Calibri"/>
              </a:rPr>
              <a:t>Language </a:t>
            </a:r>
            <a:r>
              <a:rPr dirty="0" sz="2800" spc="-15" b="1">
                <a:latin typeface="Calibri"/>
                <a:cs typeface="Calibri"/>
              </a:rPr>
              <a:t>extensions: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833" y="461594"/>
            <a:ext cx="34220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Preprocessors: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pc="-10" b="1">
                <a:latin typeface="Calibri"/>
                <a:cs typeface="Calibri"/>
              </a:rPr>
              <a:t>Macro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spc="-5" b="1">
                <a:latin typeface="Calibri"/>
                <a:cs typeface="Calibri"/>
              </a:rPr>
              <a:t>Processing: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</a:pPr>
            <a:r>
              <a:rPr dirty="0" sz="2800" spc="-5">
                <a:latin typeface="Arial MT"/>
                <a:cs typeface="Arial MT"/>
              </a:rPr>
              <a:t>–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5"/>
              <a:t>A</a:t>
            </a:r>
            <a:r>
              <a:rPr dirty="0" sz="2800" spc="125"/>
              <a:t> </a:t>
            </a:r>
            <a:r>
              <a:rPr dirty="0" sz="2800" spc="-10"/>
              <a:t>preprocessor</a:t>
            </a:r>
            <a:r>
              <a:rPr dirty="0" sz="2800" spc="114"/>
              <a:t> </a:t>
            </a:r>
            <a:r>
              <a:rPr dirty="0" sz="2800" spc="-20"/>
              <a:t>may</a:t>
            </a:r>
            <a:r>
              <a:rPr dirty="0" sz="2800" spc="100"/>
              <a:t> </a:t>
            </a:r>
            <a:r>
              <a:rPr dirty="0" sz="2800" spc="-10"/>
              <a:t>allow</a:t>
            </a:r>
            <a:r>
              <a:rPr dirty="0" sz="2800" spc="114"/>
              <a:t> </a:t>
            </a:r>
            <a:r>
              <a:rPr dirty="0" sz="2800" spc="-5"/>
              <a:t>a</a:t>
            </a:r>
            <a:r>
              <a:rPr dirty="0" sz="2800" spc="110"/>
              <a:t> </a:t>
            </a:r>
            <a:r>
              <a:rPr dirty="0" sz="2800"/>
              <a:t>user</a:t>
            </a:r>
            <a:r>
              <a:rPr dirty="0" sz="2800" spc="110"/>
              <a:t> </a:t>
            </a:r>
            <a:r>
              <a:rPr dirty="0" sz="2800" spc="-15"/>
              <a:t>to</a:t>
            </a:r>
            <a:r>
              <a:rPr dirty="0" sz="2800" spc="110"/>
              <a:t> </a:t>
            </a:r>
            <a:r>
              <a:rPr dirty="0" sz="2800" spc="-10"/>
              <a:t>define</a:t>
            </a:r>
            <a:r>
              <a:rPr dirty="0" sz="2800" spc="114"/>
              <a:t> </a:t>
            </a:r>
            <a:r>
              <a:rPr dirty="0" sz="2800" spc="-15"/>
              <a:t>macros </a:t>
            </a:r>
            <a:r>
              <a:rPr dirty="0" sz="2800" spc="-615"/>
              <a:t> </a:t>
            </a:r>
            <a:r>
              <a:rPr dirty="0" sz="2800" spc="-10"/>
              <a:t>that</a:t>
            </a:r>
            <a:r>
              <a:rPr dirty="0" sz="2800"/>
              <a:t> </a:t>
            </a:r>
            <a:r>
              <a:rPr dirty="0" sz="2800" spc="-20"/>
              <a:t>are</a:t>
            </a:r>
            <a:r>
              <a:rPr dirty="0" sz="2800" spc="-10"/>
              <a:t> </a:t>
            </a:r>
            <a:r>
              <a:rPr dirty="0" sz="2800" spc="-25"/>
              <a:t>shorthand’s</a:t>
            </a:r>
            <a:r>
              <a:rPr dirty="0" sz="2800" spc="50"/>
              <a:t> </a:t>
            </a:r>
            <a:r>
              <a:rPr dirty="0" sz="2800" spc="-25"/>
              <a:t>for</a:t>
            </a:r>
            <a:r>
              <a:rPr dirty="0" sz="2800"/>
              <a:t> </a:t>
            </a:r>
            <a:r>
              <a:rPr dirty="0" sz="2800" spc="-10"/>
              <a:t>longer</a:t>
            </a:r>
            <a:r>
              <a:rPr dirty="0" sz="2800" spc="5"/>
              <a:t> </a:t>
            </a:r>
            <a:r>
              <a:rPr dirty="0" sz="2800" spc="-10"/>
              <a:t>constructs.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833" y="461594"/>
            <a:ext cx="34220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Preprocessors: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973"/>
            <a:ext cx="8074025" cy="386016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b="1">
                <a:latin typeface="Calibri"/>
                <a:cs typeface="Calibri"/>
              </a:rPr>
              <a:t>File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inclusion:</a:t>
            </a:r>
            <a:endParaRPr sz="3200">
              <a:latin typeface="Calibri"/>
              <a:cs typeface="Calibri"/>
            </a:endParaRPr>
          </a:p>
          <a:p>
            <a:pPr algn="just" lvl="1" marL="756285" marR="6350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preprocessor </a:t>
            </a:r>
            <a:r>
              <a:rPr dirty="0" sz="2800" spc="-20">
                <a:latin typeface="Calibri"/>
                <a:cs typeface="Calibri"/>
              </a:rPr>
              <a:t>may </a:t>
            </a:r>
            <a:r>
              <a:rPr dirty="0" sz="2800" spc="-5">
                <a:latin typeface="Calibri"/>
                <a:cs typeface="Calibri"/>
              </a:rPr>
              <a:t>include header </a:t>
            </a:r>
            <a:r>
              <a:rPr dirty="0" sz="2800" spc="-10">
                <a:latin typeface="Calibri"/>
                <a:cs typeface="Calibri"/>
              </a:rPr>
              <a:t>files </a:t>
            </a:r>
            <a:r>
              <a:rPr dirty="0" sz="2800" spc="-20">
                <a:latin typeface="Calibri"/>
                <a:cs typeface="Calibri"/>
              </a:rPr>
              <a:t>into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program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text.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 MT"/>
              <a:buChar char="–"/>
            </a:pPr>
            <a:endParaRPr sz="385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dirty="0" sz="2800" spc="-20">
                <a:latin typeface="Calibri"/>
                <a:cs typeface="Calibri"/>
              </a:rPr>
              <a:t>For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example,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C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preprocessor</a:t>
            </a:r>
            <a:r>
              <a:rPr dirty="0" sz="2800" spc="-5">
                <a:latin typeface="Calibri"/>
                <a:cs typeface="Calibri"/>
              </a:rPr>
              <a:t> causes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contents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file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&lt;global.h&gt;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10">
                <a:latin typeface="Calibri"/>
                <a:cs typeface="Calibri"/>
              </a:rPr>
              <a:t> replace</a:t>
            </a:r>
            <a:r>
              <a:rPr dirty="0" sz="2800" spc="-5">
                <a:latin typeface="Calibri"/>
                <a:cs typeface="Calibri"/>
              </a:rPr>
              <a:t> the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statement </a:t>
            </a:r>
            <a:r>
              <a:rPr dirty="0" sz="2800" spc="-5">
                <a:latin typeface="Calibri"/>
                <a:cs typeface="Calibri"/>
              </a:rPr>
              <a:t>#include &lt;global.h&gt; when </a:t>
            </a:r>
            <a:r>
              <a:rPr dirty="0" sz="2800" spc="-10">
                <a:latin typeface="Calibri"/>
                <a:cs typeface="Calibri"/>
              </a:rPr>
              <a:t>it </a:t>
            </a:r>
            <a:r>
              <a:rPr dirty="0" sz="2800" spc="-15">
                <a:latin typeface="Calibri"/>
                <a:cs typeface="Calibri"/>
              </a:rPr>
              <a:t>processes </a:t>
            </a:r>
            <a:r>
              <a:rPr dirty="0" sz="2800" spc="-5">
                <a:latin typeface="Calibri"/>
                <a:cs typeface="Calibri"/>
              </a:rPr>
              <a:t>a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file</a:t>
            </a:r>
            <a:r>
              <a:rPr dirty="0" sz="2800" spc="-15">
                <a:latin typeface="Calibri"/>
                <a:cs typeface="Calibri"/>
              </a:rPr>
              <a:t> containing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this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statement.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833" y="461594"/>
            <a:ext cx="34220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Preprocessors: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853"/>
            <a:ext cx="6038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Times New Roman"/>
                <a:cs typeface="Times New Roman"/>
              </a:rPr>
              <a:t>defs.h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2126360"/>
            <a:ext cx="1884045" cy="21056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Times New Roman"/>
              <a:cs typeface="Times New Roman"/>
            </a:endParaRPr>
          </a:p>
          <a:p>
            <a:pPr marL="58674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//////</a:t>
            </a:r>
            <a:endParaRPr sz="1800">
              <a:latin typeface="Times New Roman"/>
              <a:cs typeface="Times New Roman"/>
            </a:endParaRPr>
          </a:p>
          <a:p>
            <a:pPr marL="586740">
              <a:lnSpc>
                <a:spcPct val="100000"/>
              </a:lnSpc>
              <a:spcBef>
                <a:spcPts val="480"/>
              </a:spcBef>
            </a:pPr>
            <a:r>
              <a:rPr dirty="0" sz="1800" b="1">
                <a:latin typeface="Times New Roman"/>
                <a:cs typeface="Times New Roman"/>
              </a:rPr>
              <a:t>//////</a:t>
            </a:r>
            <a:endParaRPr sz="1800">
              <a:latin typeface="Times New Roman"/>
              <a:cs typeface="Times New Roman"/>
            </a:endParaRPr>
          </a:p>
          <a:p>
            <a:pPr marL="586740">
              <a:lnSpc>
                <a:spcPct val="100000"/>
              </a:lnSpc>
              <a:spcBef>
                <a:spcPts val="434"/>
              </a:spcBef>
            </a:pPr>
            <a:r>
              <a:rPr dirty="0" sz="1800" b="1">
                <a:latin typeface="Times New Roman"/>
                <a:cs typeface="Times New Roman"/>
              </a:rPr>
              <a:t>//////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6732" y="1625853"/>
            <a:ext cx="6800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Times New Roman"/>
                <a:cs typeface="Times New Roman"/>
              </a:rPr>
              <a:t>main.c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38551" y="2126360"/>
            <a:ext cx="2479040" cy="21056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</a:pPr>
            <a:r>
              <a:rPr dirty="0" sz="1800" spc="-5" b="1">
                <a:latin typeface="Times New Roman"/>
                <a:cs typeface="Times New Roman"/>
              </a:rPr>
              <a:t>#include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“defs.h”</a:t>
            </a:r>
            <a:endParaRPr sz="18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1080"/>
              </a:spcBef>
            </a:pPr>
            <a:r>
              <a:rPr dirty="0" sz="1800" spc="-5" b="1">
                <a:latin typeface="Times New Roman"/>
                <a:cs typeface="Times New Roman"/>
              </a:rPr>
              <a:t>…---…---…---</a:t>
            </a:r>
            <a:endParaRPr sz="18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160"/>
              </a:spcBef>
            </a:pPr>
            <a:r>
              <a:rPr dirty="0" sz="1800" b="1">
                <a:latin typeface="Times New Roman"/>
                <a:cs typeface="Times New Roman"/>
              </a:rPr>
              <a:t>…---…---…---</a:t>
            </a:r>
            <a:endParaRPr sz="18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…---…---…---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10175" y="2435860"/>
            <a:ext cx="805815" cy="2960370"/>
            <a:chOff x="5210175" y="2435860"/>
            <a:chExt cx="805815" cy="2960370"/>
          </a:xfrm>
        </p:grpSpPr>
        <p:sp>
          <p:nvSpPr>
            <p:cNvPr id="8" name="object 8"/>
            <p:cNvSpPr/>
            <p:nvPr/>
          </p:nvSpPr>
          <p:spPr>
            <a:xfrm>
              <a:off x="5216525" y="2442210"/>
              <a:ext cx="793115" cy="1263650"/>
            </a:xfrm>
            <a:custGeom>
              <a:avLst/>
              <a:gdLst/>
              <a:ahLst/>
              <a:cxnLst/>
              <a:rect l="l" t="t" r="r" b="b"/>
              <a:pathLst>
                <a:path w="793114" h="1263650">
                  <a:moveTo>
                    <a:pt x="0" y="105282"/>
                  </a:moveTo>
                  <a:lnTo>
                    <a:pt x="19258" y="107888"/>
                  </a:lnTo>
                  <a:lnTo>
                    <a:pt x="35004" y="114982"/>
                  </a:lnTo>
                  <a:lnTo>
                    <a:pt x="45630" y="125481"/>
                  </a:lnTo>
                  <a:lnTo>
                    <a:pt x="49529" y="138302"/>
                  </a:lnTo>
                  <a:lnTo>
                    <a:pt x="49529" y="282701"/>
                  </a:lnTo>
                  <a:lnTo>
                    <a:pt x="53429" y="295596"/>
                  </a:lnTo>
                  <a:lnTo>
                    <a:pt x="64055" y="306133"/>
                  </a:lnTo>
                  <a:lnTo>
                    <a:pt x="79801" y="313241"/>
                  </a:lnTo>
                  <a:lnTo>
                    <a:pt x="99060" y="315849"/>
                  </a:lnTo>
                  <a:lnTo>
                    <a:pt x="79801" y="318436"/>
                  </a:lnTo>
                  <a:lnTo>
                    <a:pt x="64055" y="325500"/>
                  </a:lnTo>
                  <a:lnTo>
                    <a:pt x="53429" y="335994"/>
                  </a:lnTo>
                  <a:lnTo>
                    <a:pt x="49529" y="348868"/>
                  </a:lnTo>
                  <a:lnTo>
                    <a:pt x="49529" y="493267"/>
                  </a:lnTo>
                  <a:lnTo>
                    <a:pt x="45630" y="506142"/>
                  </a:lnTo>
                  <a:lnTo>
                    <a:pt x="35004" y="516636"/>
                  </a:lnTo>
                  <a:lnTo>
                    <a:pt x="19258" y="523700"/>
                  </a:lnTo>
                  <a:lnTo>
                    <a:pt x="0" y="526288"/>
                  </a:lnTo>
                </a:path>
                <a:path w="793114" h="1263650">
                  <a:moveTo>
                    <a:pt x="793114" y="1263141"/>
                  </a:moveTo>
                  <a:lnTo>
                    <a:pt x="735266" y="1255341"/>
                  </a:lnTo>
                  <a:lnTo>
                    <a:pt x="687990" y="1234074"/>
                  </a:lnTo>
                  <a:lnTo>
                    <a:pt x="656097" y="1202545"/>
                  </a:lnTo>
                  <a:lnTo>
                    <a:pt x="644398" y="1163954"/>
                  </a:lnTo>
                  <a:lnTo>
                    <a:pt x="644398" y="730757"/>
                  </a:lnTo>
                  <a:lnTo>
                    <a:pt x="632715" y="692114"/>
                  </a:lnTo>
                  <a:lnTo>
                    <a:pt x="600852" y="660590"/>
                  </a:lnTo>
                  <a:lnTo>
                    <a:pt x="553583" y="639353"/>
                  </a:lnTo>
                  <a:lnTo>
                    <a:pt x="495680" y="631570"/>
                  </a:lnTo>
                  <a:lnTo>
                    <a:pt x="553583" y="623770"/>
                  </a:lnTo>
                  <a:lnTo>
                    <a:pt x="600852" y="602503"/>
                  </a:lnTo>
                  <a:lnTo>
                    <a:pt x="632715" y="570974"/>
                  </a:lnTo>
                  <a:lnTo>
                    <a:pt x="644398" y="532384"/>
                  </a:lnTo>
                  <a:lnTo>
                    <a:pt x="644398" y="99187"/>
                  </a:lnTo>
                  <a:lnTo>
                    <a:pt x="656097" y="60596"/>
                  </a:lnTo>
                  <a:lnTo>
                    <a:pt x="687990" y="29067"/>
                  </a:lnTo>
                  <a:lnTo>
                    <a:pt x="735266" y="7800"/>
                  </a:lnTo>
                  <a:lnTo>
                    <a:pt x="79311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312282" y="2752598"/>
              <a:ext cx="499109" cy="321310"/>
            </a:xfrm>
            <a:custGeom>
              <a:avLst/>
              <a:gdLst/>
              <a:ahLst/>
              <a:cxnLst/>
              <a:rect l="l" t="t" r="r" b="b"/>
              <a:pathLst>
                <a:path w="499110" h="321310">
                  <a:moveTo>
                    <a:pt x="431472" y="285593"/>
                  </a:moveTo>
                  <a:lnTo>
                    <a:pt x="414400" y="312419"/>
                  </a:lnTo>
                  <a:lnTo>
                    <a:pt x="499109" y="321182"/>
                  </a:lnTo>
                  <a:lnTo>
                    <a:pt x="481812" y="292353"/>
                  </a:lnTo>
                  <a:lnTo>
                    <a:pt x="442087" y="292353"/>
                  </a:lnTo>
                  <a:lnTo>
                    <a:pt x="431472" y="285593"/>
                  </a:lnTo>
                  <a:close/>
                </a:path>
                <a:path w="499110" h="321310">
                  <a:moveTo>
                    <a:pt x="438281" y="274893"/>
                  </a:moveTo>
                  <a:lnTo>
                    <a:pt x="431472" y="285593"/>
                  </a:lnTo>
                  <a:lnTo>
                    <a:pt x="442087" y="292353"/>
                  </a:lnTo>
                  <a:lnTo>
                    <a:pt x="448944" y="281686"/>
                  </a:lnTo>
                  <a:lnTo>
                    <a:pt x="438281" y="274893"/>
                  </a:lnTo>
                  <a:close/>
                </a:path>
                <a:path w="499110" h="321310">
                  <a:moveTo>
                    <a:pt x="455294" y="248157"/>
                  </a:moveTo>
                  <a:lnTo>
                    <a:pt x="438281" y="274893"/>
                  </a:lnTo>
                  <a:lnTo>
                    <a:pt x="448944" y="281686"/>
                  </a:lnTo>
                  <a:lnTo>
                    <a:pt x="442087" y="292353"/>
                  </a:lnTo>
                  <a:lnTo>
                    <a:pt x="481812" y="292353"/>
                  </a:lnTo>
                  <a:lnTo>
                    <a:pt x="455294" y="248157"/>
                  </a:lnTo>
                  <a:close/>
                </a:path>
                <a:path w="499110" h="321310">
                  <a:moveTo>
                    <a:pt x="6730" y="0"/>
                  </a:moveTo>
                  <a:lnTo>
                    <a:pt x="0" y="10794"/>
                  </a:lnTo>
                  <a:lnTo>
                    <a:pt x="431472" y="285593"/>
                  </a:lnTo>
                  <a:lnTo>
                    <a:pt x="438281" y="274893"/>
                  </a:lnTo>
                  <a:lnTo>
                    <a:pt x="67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216525" y="3179064"/>
              <a:ext cx="793115" cy="2210435"/>
            </a:xfrm>
            <a:custGeom>
              <a:avLst/>
              <a:gdLst/>
              <a:ahLst/>
              <a:cxnLst/>
              <a:rect l="l" t="t" r="r" b="b"/>
              <a:pathLst>
                <a:path w="793114" h="2210435">
                  <a:moveTo>
                    <a:pt x="0" y="0"/>
                  </a:moveTo>
                  <a:lnTo>
                    <a:pt x="38570" y="5840"/>
                  </a:lnTo>
                  <a:lnTo>
                    <a:pt x="70056" y="21764"/>
                  </a:lnTo>
                  <a:lnTo>
                    <a:pt x="91279" y="45380"/>
                  </a:lnTo>
                  <a:lnTo>
                    <a:pt x="99060" y="74295"/>
                  </a:lnTo>
                  <a:lnTo>
                    <a:pt x="99060" y="399288"/>
                  </a:lnTo>
                  <a:lnTo>
                    <a:pt x="106860" y="428202"/>
                  </a:lnTo>
                  <a:lnTo>
                    <a:pt x="128127" y="451818"/>
                  </a:lnTo>
                  <a:lnTo>
                    <a:pt x="159656" y="467742"/>
                  </a:lnTo>
                  <a:lnTo>
                    <a:pt x="198247" y="473583"/>
                  </a:lnTo>
                  <a:lnTo>
                    <a:pt x="159656" y="479425"/>
                  </a:lnTo>
                  <a:lnTo>
                    <a:pt x="128127" y="495363"/>
                  </a:lnTo>
                  <a:lnTo>
                    <a:pt x="106860" y="519017"/>
                  </a:lnTo>
                  <a:lnTo>
                    <a:pt x="99060" y="548005"/>
                  </a:lnTo>
                  <a:lnTo>
                    <a:pt x="99060" y="872871"/>
                  </a:lnTo>
                  <a:lnTo>
                    <a:pt x="91279" y="901858"/>
                  </a:lnTo>
                  <a:lnTo>
                    <a:pt x="70056" y="925512"/>
                  </a:lnTo>
                  <a:lnTo>
                    <a:pt x="38570" y="941451"/>
                  </a:lnTo>
                  <a:lnTo>
                    <a:pt x="0" y="947293"/>
                  </a:lnTo>
                </a:path>
                <a:path w="793114" h="2210435">
                  <a:moveTo>
                    <a:pt x="793114" y="2210308"/>
                  </a:moveTo>
                  <a:lnTo>
                    <a:pt x="754544" y="2201860"/>
                  </a:lnTo>
                  <a:lnTo>
                    <a:pt x="723058" y="2178827"/>
                  </a:lnTo>
                  <a:lnTo>
                    <a:pt x="701835" y="2144674"/>
                  </a:lnTo>
                  <a:lnTo>
                    <a:pt x="694054" y="2102866"/>
                  </a:lnTo>
                  <a:lnTo>
                    <a:pt x="694054" y="1633601"/>
                  </a:lnTo>
                  <a:lnTo>
                    <a:pt x="686254" y="1591792"/>
                  </a:lnTo>
                  <a:lnTo>
                    <a:pt x="664987" y="1557639"/>
                  </a:lnTo>
                  <a:lnTo>
                    <a:pt x="633458" y="1534606"/>
                  </a:lnTo>
                  <a:lnTo>
                    <a:pt x="594867" y="1526159"/>
                  </a:lnTo>
                  <a:lnTo>
                    <a:pt x="633458" y="1517711"/>
                  </a:lnTo>
                  <a:lnTo>
                    <a:pt x="664987" y="1494678"/>
                  </a:lnTo>
                  <a:lnTo>
                    <a:pt x="686254" y="1460525"/>
                  </a:lnTo>
                  <a:lnTo>
                    <a:pt x="694054" y="1418717"/>
                  </a:lnTo>
                  <a:lnTo>
                    <a:pt x="694054" y="949452"/>
                  </a:lnTo>
                  <a:lnTo>
                    <a:pt x="701835" y="907643"/>
                  </a:lnTo>
                  <a:lnTo>
                    <a:pt x="723058" y="873490"/>
                  </a:lnTo>
                  <a:lnTo>
                    <a:pt x="754544" y="850457"/>
                  </a:lnTo>
                  <a:lnTo>
                    <a:pt x="793114" y="84201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408929" y="3702812"/>
              <a:ext cx="408305" cy="949960"/>
            </a:xfrm>
            <a:custGeom>
              <a:avLst/>
              <a:gdLst/>
              <a:ahLst/>
              <a:cxnLst/>
              <a:rect l="l" t="t" r="r" b="b"/>
              <a:pathLst>
                <a:path w="408304" h="949960">
                  <a:moveTo>
                    <a:pt x="367186" y="881940"/>
                  </a:moveTo>
                  <a:lnTo>
                    <a:pt x="337947" y="894207"/>
                  </a:lnTo>
                  <a:lnTo>
                    <a:pt x="402463" y="949832"/>
                  </a:lnTo>
                  <a:lnTo>
                    <a:pt x="406233" y="893699"/>
                  </a:lnTo>
                  <a:lnTo>
                    <a:pt x="372110" y="893699"/>
                  </a:lnTo>
                  <a:lnTo>
                    <a:pt x="367186" y="881940"/>
                  </a:lnTo>
                  <a:close/>
                </a:path>
                <a:path w="408304" h="949960">
                  <a:moveTo>
                    <a:pt x="378888" y="877030"/>
                  </a:moveTo>
                  <a:lnTo>
                    <a:pt x="367186" y="881940"/>
                  </a:lnTo>
                  <a:lnTo>
                    <a:pt x="372110" y="893699"/>
                  </a:lnTo>
                  <a:lnTo>
                    <a:pt x="383794" y="888745"/>
                  </a:lnTo>
                  <a:lnTo>
                    <a:pt x="378888" y="877030"/>
                  </a:lnTo>
                  <a:close/>
                </a:path>
                <a:path w="408304" h="949960">
                  <a:moveTo>
                    <a:pt x="408178" y="864743"/>
                  </a:moveTo>
                  <a:lnTo>
                    <a:pt x="378888" y="877030"/>
                  </a:lnTo>
                  <a:lnTo>
                    <a:pt x="383794" y="888745"/>
                  </a:lnTo>
                  <a:lnTo>
                    <a:pt x="372110" y="893699"/>
                  </a:lnTo>
                  <a:lnTo>
                    <a:pt x="406233" y="893699"/>
                  </a:lnTo>
                  <a:lnTo>
                    <a:pt x="408178" y="864743"/>
                  </a:lnTo>
                  <a:close/>
                </a:path>
                <a:path w="408304" h="949960">
                  <a:moveTo>
                    <a:pt x="11684" y="0"/>
                  </a:moveTo>
                  <a:lnTo>
                    <a:pt x="0" y="4952"/>
                  </a:lnTo>
                  <a:lnTo>
                    <a:pt x="367186" y="881940"/>
                  </a:lnTo>
                  <a:lnTo>
                    <a:pt x="378888" y="877030"/>
                  </a:lnTo>
                  <a:lnTo>
                    <a:pt x="116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2341117" y="3140964"/>
            <a:ext cx="297815" cy="76200"/>
          </a:xfrm>
          <a:custGeom>
            <a:avLst/>
            <a:gdLst/>
            <a:ahLst/>
            <a:cxnLst/>
            <a:rect l="l" t="t" r="r" b="b"/>
            <a:pathLst>
              <a:path w="297814" h="76200">
                <a:moveTo>
                  <a:pt x="221233" y="0"/>
                </a:moveTo>
                <a:lnTo>
                  <a:pt x="221233" y="76200"/>
                </a:lnTo>
                <a:lnTo>
                  <a:pt x="284733" y="44450"/>
                </a:lnTo>
                <a:lnTo>
                  <a:pt x="233933" y="44450"/>
                </a:lnTo>
                <a:lnTo>
                  <a:pt x="233933" y="31750"/>
                </a:lnTo>
                <a:lnTo>
                  <a:pt x="284733" y="31750"/>
                </a:lnTo>
                <a:lnTo>
                  <a:pt x="221233" y="0"/>
                </a:lnTo>
                <a:close/>
              </a:path>
              <a:path w="297814" h="76200">
                <a:moveTo>
                  <a:pt x="22123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1233" y="44450"/>
                </a:lnTo>
                <a:lnTo>
                  <a:pt x="221233" y="31750"/>
                </a:lnTo>
                <a:close/>
              </a:path>
              <a:path w="297814" h="76200">
                <a:moveTo>
                  <a:pt x="284733" y="31750"/>
                </a:moveTo>
                <a:lnTo>
                  <a:pt x="233933" y="31750"/>
                </a:lnTo>
                <a:lnTo>
                  <a:pt x="233933" y="44450"/>
                </a:lnTo>
                <a:lnTo>
                  <a:pt x="284733" y="44450"/>
                </a:lnTo>
                <a:lnTo>
                  <a:pt x="297433" y="38100"/>
                </a:lnTo>
                <a:lnTo>
                  <a:pt x="284733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108827" y="2126424"/>
            <a:ext cx="2578100" cy="399986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//////</a:t>
            </a:r>
            <a:endParaRPr sz="18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  <a:spcBef>
                <a:spcPts val="480"/>
              </a:spcBef>
            </a:pPr>
            <a:r>
              <a:rPr dirty="0" sz="1800" b="1">
                <a:latin typeface="Times New Roman"/>
                <a:cs typeface="Times New Roman"/>
              </a:rPr>
              <a:t>//////</a:t>
            </a:r>
            <a:endParaRPr sz="18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  <a:spcBef>
                <a:spcPts val="434"/>
              </a:spcBef>
            </a:pPr>
            <a:r>
              <a:rPr dirty="0" sz="1800" b="1">
                <a:latin typeface="Times New Roman"/>
                <a:cs typeface="Times New Roman"/>
              </a:rPr>
              <a:t>//////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latin typeface="Times New Roman"/>
                <a:cs typeface="Times New Roman"/>
              </a:rPr>
              <a:t>…---…---…---</a:t>
            </a:r>
            <a:endParaRPr sz="18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  <a:spcBef>
                <a:spcPts val="155"/>
              </a:spcBef>
            </a:pPr>
            <a:r>
              <a:rPr dirty="0" sz="1800" b="1">
                <a:latin typeface="Times New Roman"/>
                <a:cs typeface="Times New Roman"/>
              </a:rPr>
              <a:t>…---…---…---</a:t>
            </a:r>
            <a:endParaRPr sz="18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…---…---…---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833" y="461594"/>
            <a:ext cx="34220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Preprocessors: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973"/>
            <a:ext cx="8075295" cy="198247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 b="1">
                <a:latin typeface="Calibri"/>
                <a:cs typeface="Calibri"/>
              </a:rPr>
              <a:t>“Rational”</a:t>
            </a:r>
            <a:r>
              <a:rPr dirty="0" sz="3200" spc="-6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Preprocessors:</a:t>
            </a:r>
            <a:endParaRPr sz="320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690"/>
              </a:spcBef>
            </a:pPr>
            <a:r>
              <a:rPr dirty="0" sz="2800" spc="-5">
                <a:latin typeface="Arial MT"/>
                <a:cs typeface="Arial MT"/>
              </a:rPr>
              <a:t>–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5">
                <a:latin typeface="Calibri"/>
                <a:cs typeface="Calibri"/>
              </a:rPr>
              <a:t>These</a:t>
            </a:r>
            <a:r>
              <a:rPr dirty="0" sz="2800" spc="6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processors</a:t>
            </a:r>
            <a:r>
              <a:rPr dirty="0" sz="2800" spc="5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augment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older</a:t>
            </a:r>
            <a:r>
              <a:rPr dirty="0" sz="2800" spc="58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languages</a:t>
            </a:r>
            <a:r>
              <a:rPr dirty="0" sz="2800" spc="59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more </a:t>
            </a:r>
            <a:r>
              <a:rPr dirty="0" sz="2800" spc="-5">
                <a:latin typeface="Calibri"/>
                <a:cs typeface="Calibri"/>
              </a:rPr>
              <a:t>modern </a:t>
            </a:r>
            <a:r>
              <a:rPr dirty="0" sz="2800" spc="-15">
                <a:latin typeface="Calibri"/>
                <a:cs typeface="Calibri"/>
              </a:rPr>
              <a:t>flow-of-control </a:t>
            </a:r>
            <a:r>
              <a:rPr dirty="0" sz="2800">
                <a:latin typeface="Calibri"/>
                <a:cs typeface="Calibri"/>
              </a:rPr>
              <a:t>and </a:t>
            </a:r>
            <a:r>
              <a:rPr dirty="0" sz="2800" spc="-10">
                <a:latin typeface="Calibri"/>
                <a:cs typeface="Calibri"/>
              </a:rPr>
              <a:t>data-structuring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facilities.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833" y="461594"/>
            <a:ext cx="34220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Preprocessors: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973"/>
            <a:ext cx="8073390" cy="420179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 b="1">
                <a:latin typeface="Calibri"/>
                <a:cs typeface="Calibri"/>
              </a:rPr>
              <a:t>Language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extensions:</a:t>
            </a:r>
            <a:endParaRPr sz="3200">
              <a:latin typeface="Calibri"/>
              <a:cs typeface="Calibri"/>
            </a:endParaRPr>
          </a:p>
          <a:p>
            <a:pPr algn="just" lvl="1" marL="756285" marR="10795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>
                <a:latin typeface="Calibri"/>
                <a:cs typeface="Calibri"/>
              </a:rPr>
              <a:t>These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processors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attempt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to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add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capabilities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to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language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by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what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amounts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built-in</a:t>
            </a:r>
            <a:r>
              <a:rPr dirty="0" sz="2800" spc="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macros.</a:t>
            </a:r>
            <a:endParaRPr sz="28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20">
                <a:latin typeface="Calibri"/>
                <a:cs typeface="Calibri"/>
              </a:rPr>
              <a:t>For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example,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language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Equal</a:t>
            </a:r>
            <a:r>
              <a:rPr dirty="0" sz="2800" spc="-10">
                <a:latin typeface="Calibri"/>
                <a:cs typeface="Calibri"/>
              </a:rPr>
              <a:t> is</a:t>
            </a:r>
            <a:r>
              <a:rPr dirty="0" sz="2800" spc="-5">
                <a:latin typeface="Calibri"/>
                <a:cs typeface="Calibri"/>
              </a:rPr>
              <a:t> a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database 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query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language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embedded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C.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Statements </a:t>
            </a:r>
            <a:r>
              <a:rPr dirty="0" sz="2800" spc="-10">
                <a:latin typeface="Calibri"/>
                <a:cs typeface="Calibri"/>
              </a:rPr>
              <a:t> beginning</a:t>
            </a:r>
            <a:r>
              <a:rPr dirty="0" sz="2800" spc="-5">
                <a:latin typeface="Calibri"/>
                <a:cs typeface="Calibri"/>
              </a:rPr>
              <a:t> with ## </a:t>
            </a:r>
            <a:r>
              <a:rPr dirty="0" sz="2800" spc="-20">
                <a:latin typeface="Calibri"/>
                <a:cs typeface="Calibri"/>
              </a:rPr>
              <a:t>are</a:t>
            </a:r>
            <a:r>
              <a:rPr dirty="0" sz="2800" spc="59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taken</a:t>
            </a:r>
            <a:r>
              <a:rPr dirty="0" sz="2800" spc="57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by the </a:t>
            </a:r>
            <a:r>
              <a:rPr dirty="0" sz="2800" spc="-15">
                <a:latin typeface="Calibri"/>
                <a:cs typeface="Calibri"/>
              </a:rPr>
              <a:t>preprocessor 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be </a:t>
            </a:r>
            <a:r>
              <a:rPr dirty="0" sz="2800" spc="-10">
                <a:latin typeface="Calibri"/>
                <a:cs typeface="Calibri"/>
              </a:rPr>
              <a:t>database-access </a:t>
            </a:r>
            <a:r>
              <a:rPr dirty="0" sz="2800" spc="-20">
                <a:latin typeface="Calibri"/>
                <a:cs typeface="Calibri"/>
              </a:rPr>
              <a:t>statements, </a:t>
            </a:r>
            <a:r>
              <a:rPr dirty="0" sz="2800" spc="-15">
                <a:latin typeface="Calibri"/>
                <a:cs typeface="Calibri"/>
              </a:rPr>
              <a:t>unrelated to </a:t>
            </a:r>
            <a:r>
              <a:rPr dirty="0" sz="2800" spc="-20">
                <a:latin typeface="Calibri"/>
                <a:cs typeface="Calibri"/>
              </a:rPr>
              <a:t>C, 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0">
                <a:latin typeface="Calibri"/>
                <a:cs typeface="Calibri"/>
              </a:rPr>
              <a:t>are </a:t>
            </a:r>
            <a:r>
              <a:rPr dirty="0" sz="2800" spc="-15">
                <a:latin typeface="Calibri"/>
                <a:cs typeface="Calibri"/>
              </a:rPr>
              <a:t>translated </a:t>
            </a:r>
            <a:r>
              <a:rPr dirty="0" sz="2800" spc="-20">
                <a:latin typeface="Calibri"/>
                <a:cs typeface="Calibri"/>
              </a:rPr>
              <a:t>into </a:t>
            </a:r>
            <a:r>
              <a:rPr dirty="0" sz="2800" spc="-15">
                <a:latin typeface="Calibri"/>
                <a:cs typeface="Calibri"/>
              </a:rPr>
              <a:t>procedure </a:t>
            </a:r>
            <a:r>
              <a:rPr dirty="0" sz="2800" spc="-10">
                <a:latin typeface="Calibri"/>
                <a:cs typeface="Calibri"/>
              </a:rPr>
              <a:t>calls </a:t>
            </a:r>
            <a:r>
              <a:rPr dirty="0" sz="2800" spc="-5">
                <a:latin typeface="Calibri"/>
                <a:cs typeface="Calibri"/>
              </a:rPr>
              <a:t>on </a:t>
            </a:r>
            <a:r>
              <a:rPr dirty="0" sz="2800" spc="-15">
                <a:latin typeface="Calibri"/>
                <a:cs typeface="Calibri"/>
              </a:rPr>
              <a:t>routines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that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perform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database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access.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5442" y="461594"/>
            <a:ext cx="28378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Assemblers: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Some</a:t>
            </a:r>
            <a:r>
              <a:rPr dirty="0" sz="3200" spc="53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compilers</a:t>
            </a:r>
            <a:r>
              <a:rPr dirty="0" sz="3200" spc="5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produce</a:t>
            </a:r>
            <a:r>
              <a:rPr dirty="0" sz="3200" spc="5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assembly</a:t>
            </a:r>
            <a:r>
              <a:rPr dirty="0" sz="3200" spc="5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</a:t>
            </a:r>
            <a:r>
              <a:rPr dirty="0" sz="3200" spc="5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that </a:t>
            </a:r>
            <a:r>
              <a:rPr dirty="0" sz="3200" spc="-7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passed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to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5">
                <a:latin typeface="Calibri"/>
                <a:cs typeface="Calibri"/>
              </a:rPr>
              <a:t>an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assembler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for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further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processing.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753688"/>
            <a:ext cx="32378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620520" algn="l"/>
              </a:tabLst>
            </a:pPr>
            <a:r>
              <a:rPr dirty="0" sz="3200" spc="-5">
                <a:latin typeface="Calibri"/>
                <a:cs typeface="Calibri"/>
              </a:rPr>
              <a:t>Other	</a:t>
            </a:r>
            <a:r>
              <a:rPr dirty="0" sz="3200" spc="-15">
                <a:latin typeface="Calibri"/>
                <a:cs typeface="Calibri"/>
              </a:rPr>
              <a:t>compilers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0919" y="3753688"/>
            <a:ext cx="13785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Calibri"/>
                <a:cs typeface="Calibri"/>
              </a:rPr>
              <a:t>per</a:t>
            </a:r>
            <a:r>
              <a:rPr dirty="0" sz="3200" spc="-90">
                <a:latin typeface="Calibri"/>
                <a:cs typeface="Calibri"/>
              </a:rPr>
              <a:t>f</a:t>
            </a:r>
            <a:r>
              <a:rPr dirty="0" sz="3200" spc="-5">
                <a:latin typeface="Calibri"/>
                <a:cs typeface="Calibri"/>
              </a:rPr>
              <a:t>orm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06236" y="3753688"/>
            <a:ext cx="14084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8680" algn="l"/>
              </a:tabLst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job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0638" y="3753688"/>
            <a:ext cx="121856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52145" algn="l"/>
              </a:tabLst>
            </a:pP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839" y="4241672"/>
            <a:ext cx="3786504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2645" algn="l"/>
              </a:tabLst>
            </a:pPr>
            <a:r>
              <a:rPr dirty="0" sz="3200" spc="-30">
                <a:latin typeface="Calibri"/>
                <a:cs typeface="Calibri"/>
              </a:rPr>
              <a:t>assembler,	</a:t>
            </a:r>
            <a:r>
              <a:rPr dirty="0" sz="3200" spc="-10">
                <a:latin typeface="Calibri"/>
                <a:cs typeface="Calibri"/>
              </a:rPr>
              <a:t>producing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82083" y="4241672"/>
            <a:ext cx="18707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>
                <a:latin typeface="Calibri"/>
                <a:cs typeface="Calibri"/>
              </a:rPr>
              <a:t>relocatable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66229" y="4241672"/>
            <a:ext cx="14427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libri"/>
                <a:cs typeface="Calibri"/>
              </a:rPr>
              <a:t>machi</a:t>
            </a:r>
            <a:r>
              <a:rPr dirty="0" sz="3200" spc="10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8839" y="4729352"/>
            <a:ext cx="475932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1565" algn="l"/>
                <a:tab pos="2048510" algn="l"/>
                <a:tab pos="2907030" algn="l"/>
                <a:tab pos="3601720" algn="l"/>
              </a:tabLst>
            </a:pPr>
            <a:r>
              <a:rPr dirty="0" sz="3200" spc="-25">
                <a:latin typeface="Calibri"/>
                <a:cs typeface="Calibri"/>
              </a:rPr>
              <a:t>c</a:t>
            </a:r>
            <a:r>
              <a:rPr dirty="0" sz="3200" spc="-5">
                <a:latin typeface="Calibri"/>
                <a:cs typeface="Calibri"/>
              </a:rPr>
              <a:t>od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</a:t>
            </a:r>
            <a:r>
              <a:rPr dirty="0" sz="3200" spc="-2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c</a:t>
            </a:r>
            <a:r>
              <a:rPr dirty="0" sz="3200">
                <a:latin typeface="Calibri"/>
                <a:cs typeface="Calibri"/>
              </a:rPr>
              <a:t>an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b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pas</a:t>
            </a:r>
            <a:r>
              <a:rPr dirty="0" sz="3200" spc="5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92165" y="4729352"/>
            <a:ext cx="27171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4635" algn="l"/>
                <a:tab pos="2150745" algn="l"/>
              </a:tabLst>
            </a:pPr>
            <a:r>
              <a:rPr dirty="0" sz="3200" spc="5">
                <a:latin typeface="Calibri"/>
                <a:cs typeface="Calibri"/>
              </a:rPr>
              <a:t>d</a:t>
            </a:r>
            <a:r>
              <a:rPr dirty="0" sz="3200">
                <a:latin typeface="Calibri"/>
                <a:cs typeface="Calibri"/>
              </a:rPr>
              <a:t>i</a:t>
            </a:r>
            <a:r>
              <a:rPr dirty="0" sz="3200" spc="-4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 spc="-10">
                <a:latin typeface="Calibri"/>
                <a:cs typeface="Calibri"/>
              </a:rPr>
              <a:t>c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 spc="-10">
                <a:latin typeface="Calibri"/>
                <a:cs typeface="Calibri"/>
              </a:rPr>
              <a:t>l</a:t>
            </a:r>
            <a:r>
              <a:rPr dirty="0" sz="3200">
                <a:latin typeface="Calibri"/>
                <a:cs typeface="Calibri"/>
              </a:rPr>
              <a:t>y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45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8839" y="5217058"/>
            <a:ext cx="30111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25">
                <a:latin typeface="Calibri"/>
                <a:cs typeface="Calibri"/>
              </a:rPr>
              <a:t>loader/link-editor.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5442" y="461594"/>
            <a:ext cx="28378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Assemblers: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778379"/>
            <a:ext cx="8070215" cy="100139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15">
                <a:latin typeface="Calibri"/>
                <a:cs typeface="Calibri"/>
              </a:rPr>
              <a:t>Here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we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shall</a:t>
            </a:r>
            <a:r>
              <a:rPr dirty="0" sz="3200" spc="5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review</a:t>
            </a:r>
            <a:r>
              <a:rPr dirty="0" sz="3200" spc="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relationship</a:t>
            </a:r>
            <a:r>
              <a:rPr dirty="0" sz="3200" spc="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between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assembly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machine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5442" y="461594"/>
            <a:ext cx="28378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Assemblers: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600519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2190115" algn="l"/>
                <a:tab pos="3254375" algn="l"/>
                <a:tab pos="3771265" algn="l"/>
                <a:tab pos="4231640" algn="l"/>
              </a:tabLst>
            </a:pP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5">
                <a:latin typeface="Calibri"/>
                <a:cs typeface="Calibri"/>
              </a:rPr>
              <a:t>s</a:t>
            </a:r>
            <a:r>
              <a:rPr dirty="0" sz="3200" spc="-5">
                <a:latin typeface="Calibri"/>
                <a:cs typeface="Calibri"/>
              </a:rPr>
              <a:t>sem</a:t>
            </a:r>
            <a:r>
              <a:rPr dirty="0" sz="3200" spc="-10">
                <a:latin typeface="Calibri"/>
                <a:cs typeface="Calibri"/>
              </a:rPr>
              <a:t>b</a:t>
            </a:r>
            <a:r>
              <a:rPr dirty="0" sz="3200">
                <a:latin typeface="Calibri"/>
                <a:cs typeface="Calibri"/>
              </a:rPr>
              <a:t>ly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c</a:t>
            </a:r>
            <a:r>
              <a:rPr dirty="0" sz="3200" spc="-5">
                <a:latin typeface="Calibri"/>
                <a:cs typeface="Calibri"/>
              </a:rPr>
              <a:t>od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i</a:t>
            </a:r>
            <a:r>
              <a:rPr dirty="0" sz="320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mnemonic  </a:t>
            </a:r>
            <a:r>
              <a:rPr dirty="0" sz="3200" spc="-5">
                <a:latin typeface="Calibri"/>
                <a:cs typeface="Calibri"/>
              </a:rPr>
              <a:t>machine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0656" y="1607565"/>
            <a:ext cx="18268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4470" algn="l"/>
              </a:tabLst>
            </a:pPr>
            <a:r>
              <a:rPr dirty="0" sz="3200" spc="-35">
                <a:latin typeface="Calibri"/>
                <a:cs typeface="Calibri"/>
              </a:rPr>
              <a:t>v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 spc="-5">
                <a:latin typeface="Calibri"/>
                <a:cs typeface="Calibri"/>
              </a:rPr>
              <a:t>s</a:t>
            </a:r>
            <a:r>
              <a:rPr dirty="0" sz="3200" spc="-10">
                <a:latin typeface="Calibri"/>
                <a:cs typeface="Calibri"/>
              </a:rPr>
              <a:t>i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n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71828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pc="-5"/>
              <a:t>In</a:t>
            </a:r>
            <a:r>
              <a:rPr dirty="0"/>
              <a:t> which</a:t>
            </a:r>
            <a:r>
              <a:rPr dirty="0" spc="5"/>
              <a:t> </a:t>
            </a:r>
            <a:r>
              <a:rPr dirty="0"/>
              <a:t>names</a:t>
            </a:r>
            <a:r>
              <a:rPr dirty="0" spc="5"/>
              <a:t> </a:t>
            </a:r>
            <a:r>
              <a:rPr dirty="0" spc="-15"/>
              <a:t>are</a:t>
            </a:r>
            <a:r>
              <a:rPr dirty="0" spc="-10"/>
              <a:t> </a:t>
            </a:r>
            <a:r>
              <a:rPr dirty="0" spc="-5"/>
              <a:t>used</a:t>
            </a:r>
            <a:r>
              <a:rPr dirty="0"/>
              <a:t> </a:t>
            </a:r>
            <a:r>
              <a:rPr dirty="0" spc="-10"/>
              <a:t>instead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binary </a:t>
            </a:r>
            <a:r>
              <a:rPr dirty="0" spc="5"/>
              <a:t> </a:t>
            </a:r>
            <a:r>
              <a:rPr dirty="0" spc="-10"/>
              <a:t>codes</a:t>
            </a:r>
            <a:r>
              <a:rPr dirty="0" spc="-5"/>
              <a:t> </a:t>
            </a:r>
            <a:r>
              <a:rPr dirty="0" spc="-30"/>
              <a:t>for</a:t>
            </a:r>
            <a:r>
              <a:rPr dirty="0" spc="-25"/>
              <a:t> </a:t>
            </a:r>
            <a:r>
              <a:rPr dirty="0" spc="-15"/>
              <a:t>operations,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5"/>
              <a:t> </a:t>
            </a:r>
            <a:r>
              <a:rPr dirty="0" spc="-5"/>
              <a:t>names</a:t>
            </a:r>
            <a:r>
              <a:rPr dirty="0" spc="710"/>
              <a:t> </a:t>
            </a:r>
            <a:r>
              <a:rPr dirty="0" spc="-15"/>
              <a:t>are</a:t>
            </a:r>
            <a:r>
              <a:rPr dirty="0" spc="695"/>
              <a:t> </a:t>
            </a:r>
            <a:r>
              <a:rPr dirty="0"/>
              <a:t>also </a:t>
            </a:r>
            <a:r>
              <a:rPr dirty="0" spc="5"/>
              <a:t> </a:t>
            </a:r>
            <a:r>
              <a:rPr dirty="0" spc="-10"/>
              <a:t>given </a:t>
            </a:r>
            <a:r>
              <a:rPr dirty="0" spc="-25"/>
              <a:t>to</a:t>
            </a:r>
            <a:r>
              <a:rPr dirty="0" spc="10"/>
              <a:t> </a:t>
            </a:r>
            <a:r>
              <a:rPr dirty="0"/>
              <a:t>memory</a:t>
            </a:r>
            <a:r>
              <a:rPr dirty="0" spc="5"/>
              <a:t> </a:t>
            </a:r>
            <a:r>
              <a:rPr dirty="0" spc="-5"/>
              <a:t>addresses.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5442" y="461594"/>
            <a:ext cx="28378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Assemblers: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53618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typical sequence of </a:t>
            </a:r>
            <a:r>
              <a:rPr dirty="0" sz="3200">
                <a:latin typeface="Calibri"/>
                <a:cs typeface="Calibri"/>
              </a:rPr>
              <a:t>assembly </a:t>
            </a:r>
            <a:r>
              <a:rPr dirty="0" sz="3200" spc="-5">
                <a:latin typeface="Calibri"/>
                <a:cs typeface="Calibri"/>
              </a:rPr>
              <a:t>instructions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might be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169256"/>
            <a:ext cx="1212215" cy="178117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M</a:t>
            </a:r>
            <a:r>
              <a:rPr dirty="0" sz="3200" spc="-40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ADD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M</a:t>
            </a:r>
            <a:r>
              <a:rPr dirty="0" sz="3200" spc="-40">
                <a:latin typeface="Calibri"/>
                <a:cs typeface="Calibri"/>
              </a:rPr>
              <a:t>O</a:t>
            </a:r>
            <a:r>
              <a:rPr dirty="0" sz="320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2136" y="3169256"/>
            <a:ext cx="1148715" cy="1781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335">
              <a:lnSpc>
                <a:spcPct val="120000"/>
              </a:lnSpc>
              <a:spcBef>
                <a:spcPts val="95"/>
              </a:spcBef>
            </a:pPr>
            <a:r>
              <a:rPr dirty="0" sz="3200">
                <a:latin typeface="Calibri"/>
                <a:cs typeface="Calibri"/>
              </a:rPr>
              <a:t>a , R1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#2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,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R1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R1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,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5442" y="461594"/>
            <a:ext cx="28378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Assemblers: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5295" cy="2952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This </a:t>
            </a:r>
            <a:r>
              <a:rPr dirty="0" sz="3200" spc="-10">
                <a:latin typeface="Calibri"/>
                <a:cs typeface="Calibri"/>
              </a:rPr>
              <a:t>code moves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contents </a:t>
            </a:r>
            <a:r>
              <a:rPr dirty="0" sz="3200">
                <a:latin typeface="Calibri"/>
                <a:cs typeface="Calibri"/>
              </a:rPr>
              <a:t>of the </a:t>
            </a:r>
            <a:r>
              <a:rPr dirty="0" sz="3200" spc="-10">
                <a:latin typeface="Calibri"/>
                <a:cs typeface="Calibri"/>
              </a:rPr>
              <a:t>address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into register </a:t>
            </a:r>
            <a:r>
              <a:rPr dirty="0" sz="3200" spc="-5">
                <a:latin typeface="Calibri"/>
                <a:cs typeface="Calibri"/>
              </a:rPr>
              <a:t>1, </a:t>
            </a:r>
            <a:r>
              <a:rPr dirty="0" sz="3200">
                <a:latin typeface="Calibri"/>
                <a:cs typeface="Calibri"/>
              </a:rPr>
              <a:t>then adds the </a:t>
            </a:r>
            <a:r>
              <a:rPr dirty="0" sz="3200" spc="-20">
                <a:latin typeface="Calibri"/>
                <a:cs typeface="Calibri"/>
              </a:rPr>
              <a:t>constant </a:t>
            </a:r>
            <a:r>
              <a:rPr dirty="0" sz="3200">
                <a:latin typeface="Calibri"/>
                <a:cs typeface="Calibri"/>
              </a:rPr>
              <a:t>2 </a:t>
            </a:r>
            <a:r>
              <a:rPr dirty="0" sz="3200" spc="-20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it,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reading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contents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20">
                <a:latin typeface="Calibri"/>
                <a:cs typeface="Calibri"/>
              </a:rPr>
              <a:t>register </a:t>
            </a:r>
            <a:r>
              <a:rPr dirty="0" sz="3200">
                <a:latin typeface="Calibri"/>
                <a:cs typeface="Calibri"/>
              </a:rPr>
              <a:t>1 as a </a:t>
            </a:r>
            <a:r>
              <a:rPr dirty="0" sz="3200" spc="-20">
                <a:latin typeface="Calibri"/>
                <a:cs typeface="Calibri"/>
              </a:rPr>
              <a:t>fixed- 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point </a:t>
            </a:r>
            <a:r>
              <a:rPr dirty="0" sz="3200" spc="-40">
                <a:latin typeface="Calibri"/>
                <a:cs typeface="Calibri"/>
              </a:rPr>
              <a:t>number, </a:t>
            </a:r>
            <a:r>
              <a:rPr dirty="0" sz="3200" spc="5">
                <a:latin typeface="Calibri"/>
                <a:cs typeface="Calibri"/>
              </a:rPr>
              <a:t>and </a:t>
            </a:r>
            <a:r>
              <a:rPr dirty="0" sz="3200" spc="-5">
                <a:latin typeface="Calibri"/>
                <a:cs typeface="Calibri"/>
              </a:rPr>
              <a:t>finally </a:t>
            </a:r>
            <a:r>
              <a:rPr dirty="0" sz="3200" spc="-25">
                <a:latin typeface="Calibri"/>
                <a:cs typeface="Calibri"/>
              </a:rPr>
              <a:t>stores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result </a:t>
            </a:r>
            <a:r>
              <a:rPr dirty="0" sz="3200" spc="5">
                <a:latin typeface="Calibri"/>
                <a:cs typeface="Calibri"/>
              </a:rPr>
              <a:t>in 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location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named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by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b.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thus,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it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computes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b:=a+2.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952" y="461594"/>
            <a:ext cx="456247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Two-Pass</a:t>
            </a:r>
            <a:r>
              <a:rPr dirty="0" spc="-70"/>
              <a:t> </a:t>
            </a:r>
            <a:r>
              <a:rPr dirty="0" spc="-5"/>
              <a:t>Compiler: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952" y="461594"/>
            <a:ext cx="456247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Two-Pass</a:t>
            </a:r>
            <a:r>
              <a:rPr dirty="0" spc="-70"/>
              <a:t> </a:t>
            </a:r>
            <a:r>
              <a:rPr dirty="0" spc="-5"/>
              <a:t>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42505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simplest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form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of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assembler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makes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two </a:t>
            </a:r>
            <a:r>
              <a:rPr dirty="0" sz="3200" spc="-70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passes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over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input.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952" y="461594"/>
            <a:ext cx="456247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Two-Pass</a:t>
            </a:r>
            <a:r>
              <a:rPr dirty="0" spc="-70"/>
              <a:t> </a:t>
            </a:r>
            <a:r>
              <a:rPr dirty="0" spc="-5"/>
              <a:t>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797"/>
            <a:ext cx="8074025" cy="422148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355600" marR="5080" indent="-342900">
              <a:lnSpc>
                <a:spcPct val="90000"/>
              </a:lnSpc>
              <a:spcBef>
                <a:spcPts val="484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in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first </a:t>
            </a:r>
            <a:r>
              <a:rPr dirty="0" sz="3200">
                <a:latin typeface="Calibri"/>
                <a:cs typeface="Calibri"/>
              </a:rPr>
              <a:t>pass, all the </a:t>
            </a:r>
            <a:r>
              <a:rPr dirty="0" sz="3200" spc="-10">
                <a:latin typeface="Calibri"/>
                <a:cs typeface="Calibri"/>
              </a:rPr>
              <a:t>identifiers </a:t>
            </a:r>
            <a:r>
              <a:rPr dirty="0" sz="3200" spc="-5">
                <a:latin typeface="Calibri"/>
                <a:cs typeface="Calibri"/>
              </a:rPr>
              <a:t>that </a:t>
            </a:r>
            <a:r>
              <a:rPr dirty="0" sz="3200" spc="-10">
                <a:latin typeface="Calibri"/>
                <a:cs typeface="Calibri"/>
              </a:rPr>
              <a:t>denote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storage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locations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found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stored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</a:t>
            </a:r>
            <a:r>
              <a:rPr dirty="0" sz="3200">
                <a:latin typeface="Calibri"/>
                <a:cs typeface="Calibri"/>
              </a:rPr>
              <a:t> a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symbol table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405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9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10">
                <a:latin typeface="Calibri"/>
                <a:cs typeface="Calibri"/>
              </a:rPr>
              <a:t>Identifiers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assigned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storage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locations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they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encountered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for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first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time,</a:t>
            </a:r>
            <a:r>
              <a:rPr dirty="0" sz="3200" spc="7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after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reading</a:t>
            </a:r>
            <a:r>
              <a:rPr dirty="0" sz="3200">
                <a:latin typeface="Calibri"/>
                <a:cs typeface="Calibri"/>
              </a:rPr>
              <a:t> 1.6,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for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example,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5">
                <a:latin typeface="Calibri"/>
                <a:cs typeface="Calibri"/>
              </a:rPr>
              <a:t>the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symbol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table </a:t>
            </a:r>
            <a:r>
              <a:rPr dirty="0" sz="3200" spc="-5">
                <a:latin typeface="Calibri"/>
                <a:cs typeface="Calibri"/>
              </a:rPr>
              <a:t>might </a:t>
            </a:r>
            <a:r>
              <a:rPr dirty="0" sz="3200" spc="-15">
                <a:latin typeface="Calibri"/>
                <a:cs typeface="Calibri"/>
              </a:rPr>
              <a:t>contain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entries shown in given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40">
                <a:latin typeface="Calibri"/>
                <a:cs typeface="Calibri"/>
              </a:rPr>
              <a:t>below.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952" y="461594"/>
            <a:ext cx="456247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Two-Pass</a:t>
            </a:r>
            <a:r>
              <a:rPr dirty="0" spc="-70"/>
              <a:t> </a:t>
            </a:r>
            <a:r>
              <a:rPr dirty="0" spc="-5"/>
              <a:t>Compiler:</a:t>
            </a:r>
          </a:p>
        </p:txBody>
      </p:sp>
      <p:sp>
        <p:nvSpPr>
          <p:cNvPr id="3" name="object 3"/>
          <p:cNvSpPr/>
          <p:nvPr/>
        </p:nvSpPr>
        <p:spPr>
          <a:xfrm>
            <a:off x="450850" y="1822450"/>
            <a:ext cx="8242300" cy="4203700"/>
          </a:xfrm>
          <a:custGeom>
            <a:avLst/>
            <a:gdLst/>
            <a:ahLst/>
            <a:cxnLst/>
            <a:rect l="l" t="t" r="r" b="b"/>
            <a:pathLst>
              <a:path w="8242300" h="4203700">
                <a:moveTo>
                  <a:pt x="4121150" y="0"/>
                </a:moveTo>
                <a:lnTo>
                  <a:pt x="4121150" y="4203700"/>
                </a:lnTo>
              </a:path>
              <a:path w="8242300" h="4203700">
                <a:moveTo>
                  <a:pt x="6350" y="0"/>
                </a:moveTo>
                <a:lnTo>
                  <a:pt x="6350" y="4203700"/>
                </a:lnTo>
              </a:path>
              <a:path w="8242300" h="4203700">
                <a:moveTo>
                  <a:pt x="8235950" y="0"/>
                </a:moveTo>
                <a:lnTo>
                  <a:pt x="8235950" y="4203700"/>
                </a:lnTo>
              </a:path>
              <a:path w="8242300" h="4203700">
                <a:moveTo>
                  <a:pt x="0" y="6350"/>
                </a:moveTo>
                <a:lnTo>
                  <a:pt x="8242300" y="6350"/>
                </a:lnTo>
              </a:path>
              <a:path w="8242300" h="4203700">
                <a:moveTo>
                  <a:pt x="0" y="4197350"/>
                </a:moveTo>
                <a:lnTo>
                  <a:pt x="8242300" y="419735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5940" y="1836166"/>
            <a:ext cx="2251710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116330" algn="l"/>
              </a:tabLst>
            </a:pPr>
            <a:r>
              <a:rPr dirty="0" sz="3200" spc="-15">
                <a:latin typeface="Calibri"/>
                <a:cs typeface="Calibri"/>
              </a:rPr>
              <a:t>MOV	</a:t>
            </a:r>
            <a:r>
              <a:rPr dirty="0" sz="3200">
                <a:latin typeface="Calibri"/>
                <a:cs typeface="Calibri"/>
              </a:rPr>
              <a:t>a , R1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ADD	</a:t>
            </a:r>
            <a:r>
              <a:rPr dirty="0" sz="3200" spc="-5">
                <a:latin typeface="Calibri"/>
                <a:cs typeface="Calibri"/>
              </a:rPr>
              <a:t>#2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,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R1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MOV	</a:t>
            </a:r>
            <a:r>
              <a:rPr dirty="0" sz="3200">
                <a:latin typeface="Calibri"/>
                <a:cs typeface="Calibri"/>
              </a:rPr>
              <a:t>R1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,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1375" y="1836166"/>
            <a:ext cx="1694814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3200" spc="-10">
                <a:latin typeface="Calibri"/>
                <a:cs typeface="Calibri"/>
              </a:rPr>
              <a:t>Identifiers</a:t>
            </a:r>
            <a:endParaRPr sz="3200">
              <a:latin typeface="Calibri"/>
              <a:cs typeface="Calibri"/>
            </a:endParaRPr>
          </a:p>
          <a:p>
            <a:pPr algn="ctr" marL="655955" marR="817244" indent="-19050">
              <a:lnSpc>
                <a:spcPct val="100000"/>
              </a:lnSpc>
            </a:pP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49907" y="1836166"/>
            <a:ext cx="1346835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7190" marR="5080" indent="-365125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Calibri"/>
                <a:cs typeface="Calibri"/>
              </a:rPr>
              <a:t>Add</a:t>
            </a:r>
            <a:r>
              <a:rPr dirty="0" sz="3200" spc="-45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ess  </a:t>
            </a:r>
            <a:r>
              <a:rPr dirty="0" sz="3200">
                <a:latin typeface="Calibri"/>
                <a:cs typeface="Calibri"/>
              </a:rPr>
              <a:t>0</a:t>
            </a:r>
            <a:endParaRPr sz="3200">
              <a:latin typeface="Calibri"/>
              <a:cs typeface="Calibri"/>
            </a:endParaRPr>
          </a:p>
          <a:p>
            <a:pPr marL="395605">
              <a:lnSpc>
                <a:spcPct val="100000"/>
              </a:lnSpc>
            </a:pPr>
            <a:r>
              <a:rPr dirty="0" sz="3200">
                <a:latin typeface="Calibri"/>
                <a:cs typeface="Calibri"/>
              </a:rPr>
              <a:t>4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0952" y="461594"/>
            <a:ext cx="456247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Two-Pass</a:t>
            </a:r>
            <a:r>
              <a:rPr dirty="0" spc="-70"/>
              <a:t> </a:t>
            </a:r>
            <a:r>
              <a:rPr dirty="0" spc="-5"/>
              <a:t>Compiler: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797"/>
            <a:ext cx="8073390" cy="290449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algn="just" marL="355600" marR="508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In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second </a:t>
            </a:r>
            <a:r>
              <a:rPr dirty="0" sz="3200" spc="-5">
                <a:latin typeface="Calibri"/>
                <a:cs typeface="Calibri"/>
              </a:rPr>
              <a:t>pass, </a:t>
            </a:r>
            <a:r>
              <a:rPr dirty="0" sz="3200">
                <a:latin typeface="Calibri"/>
                <a:cs typeface="Calibri"/>
              </a:rPr>
              <a:t>the assembler </a:t>
            </a:r>
            <a:r>
              <a:rPr dirty="0" sz="3200" spc="-10">
                <a:latin typeface="Calibri"/>
                <a:cs typeface="Calibri"/>
              </a:rPr>
              <a:t>scans </a:t>
            </a:r>
            <a:r>
              <a:rPr dirty="0" sz="3200" spc="5">
                <a:latin typeface="Calibri"/>
                <a:cs typeface="Calibri"/>
              </a:rPr>
              <a:t>the 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input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again.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4050">
              <a:latin typeface="Calibri"/>
              <a:cs typeface="Calibri"/>
            </a:endParaRPr>
          </a:p>
          <a:p>
            <a:pPr algn="just" marL="355600" marR="6350" indent="-342900">
              <a:lnSpc>
                <a:spcPts val="346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This</a:t>
            </a:r>
            <a:r>
              <a:rPr dirty="0" sz="3200">
                <a:latin typeface="Calibri"/>
                <a:cs typeface="Calibri"/>
              </a:rPr>
              <a:t> time,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translates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each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operation</a:t>
            </a:r>
            <a:r>
              <a:rPr dirty="0" sz="3200" spc="-10">
                <a:latin typeface="Calibri"/>
                <a:cs typeface="Calibri"/>
              </a:rPr>
              <a:t> code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into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sequence</a:t>
            </a:r>
            <a:r>
              <a:rPr dirty="0" sz="3200">
                <a:latin typeface="Calibri"/>
                <a:cs typeface="Calibri"/>
              </a:rPr>
              <a:t> 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bits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representing</a:t>
            </a:r>
            <a:r>
              <a:rPr dirty="0" sz="3200" spc="-5">
                <a:latin typeface="Calibri"/>
                <a:cs typeface="Calibri"/>
              </a:rPr>
              <a:t> that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operation </a:t>
            </a:r>
            <a:r>
              <a:rPr dirty="0" sz="3200" spc="-5">
                <a:latin typeface="Calibri"/>
                <a:cs typeface="Calibri"/>
              </a:rPr>
              <a:t>in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machine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language.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5054" y="4899736"/>
            <a:ext cx="5702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6493" sz="4800" spc="22">
                <a:latin typeface="Calibri"/>
                <a:cs typeface="Calibri"/>
              </a:rPr>
              <a:t>2</a:t>
            </a:r>
            <a:r>
              <a:rPr dirty="0" sz="2100" spc="15">
                <a:latin typeface="Calibri"/>
                <a:cs typeface="Calibri"/>
              </a:rPr>
              <a:t>nd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5022037"/>
            <a:ext cx="807148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316990" algn="l"/>
                <a:tab pos="2797175" algn="l"/>
                <a:tab pos="3484879" algn="l"/>
                <a:tab pos="5228590" algn="l"/>
                <a:tab pos="6303010" algn="l"/>
                <a:tab pos="6904990" algn="l"/>
              </a:tabLst>
            </a:pPr>
            <a:r>
              <a:rPr dirty="0" sz="3200" spc="-5">
                <a:latin typeface="Calibri"/>
                <a:cs typeface="Calibri"/>
              </a:rPr>
              <a:t>Th</a:t>
            </a:r>
            <a:r>
              <a:rPr dirty="0" sz="3200">
                <a:latin typeface="Calibri"/>
                <a:cs typeface="Calibri"/>
              </a:rPr>
              <a:t>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o</a:t>
            </a:r>
            <a:r>
              <a:rPr dirty="0" sz="3200" spc="5">
                <a:latin typeface="Calibri"/>
                <a:cs typeface="Calibri"/>
              </a:rPr>
              <a:t>u</a:t>
            </a:r>
            <a:r>
              <a:rPr dirty="0" sz="3200">
                <a:latin typeface="Calibri"/>
                <a:cs typeface="Calibri"/>
              </a:rPr>
              <a:t>tp</a:t>
            </a:r>
            <a:r>
              <a:rPr dirty="0" sz="3200" spc="5">
                <a:latin typeface="Calibri"/>
                <a:cs typeface="Calibri"/>
              </a:rPr>
              <a:t>u</a:t>
            </a:r>
            <a:r>
              <a:rPr dirty="0" sz="3200">
                <a:latin typeface="Calibri"/>
                <a:cs typeface="Calibri"/>
              </a:rPr>
              <a:t>t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pas</a:t>
            </a:r>
            <a:r>
              <a:rPr dirty="0" sz="320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i</a:t>
            </a:r>
            <a:r>
              <a:rPr dirty="0" sz="3200">
                <a:latin typeface="Calibri"/>
                <a:cs typeface="Calibri"/>
              </a:rPr>
              <a:t>s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us</a:t>
            </a:r>
            <a:r>
              <a:rPr dirty="0" sz="3200" spc="5">
                <a:latin typeface="Calibri"/>
                <a:cs typeface="Calibri"/>
              </a:rPr>
              <a:t>u</a:t>
            </a:r>
            <a:r>
              <a:rPr dirty="0" sz="3200">
                <a:latin typeface="Calibri"/>
                <a:cs typeface="Calibri"/>
              </a:rPr>
              <a:t>al</a:t>
            </a:r>
            <a:r>
              <a:rPr dirty="0" sz="3200" spc="-10">
                <a:latin typeface="Calibri"/>
                <a:cs typeface="Calibri"/>
              </a:rPr>
              <a:t>l</a:t>
            </a:r>
            <a:r>
              <a:rPr dirty="0" sz="3200">
                <a:latin typeface="Calibri"/>
                <a:cs typeface="Calibri"/>
              </a:rPr>
              <a:t>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5461203"/>
            <a:ext cx="436880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>
                <a:latin typeface="Calibri"/>
                <a:cs typeface="Calibri"/>
              </a:rPr>
              <a:t>relocatable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machine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445" y="461594"/>
            <a:ext cx="58375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Loaders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15"/>
              <a:t>Link-Editors: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021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771014" algn="l"/>
                <a:tab pos="2155190" algn="l"/>
                <a:tab pos="3752850" algn="l"/>
                <a:tab pos="4909820" algn="l"/>
                <a:tab pos="5293995" algn="l"/>
                <a:tab pos="6544945" algn="l"/>
              </a:tabLst>
            </a:pPr>
            <a:r>
              <a:rPr dirty="0" sz="3200" spc="-5">
                <a:latin typeface="Calibri"/>
                <a:cs typeface="Calibri"/>
              </a:rPr>
              <a:t>usuall</a:t>
            </a:r>
            <a:r>
              <a:rPr dirty="0" sz="3200" spc="-240">
                <a:latin typeface="Calibri"/>
                <a:cs typeface="Calibri"/>
              </a:rPr>
              <a:t>y</a:t>
            </a:r>
            <a:r>
              <a:rPr dirty="0" sz="3200">
                <a:latin typeface="Calibri"/>
                <a:cs typeface="Calibri"/>
              </a:rPr>
              <a:t>,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p</a:t>
            </a:r>
            <a:r>
              <a:rPr dirty="0" sz="3200" spc="-55">
                <a:latin typeface="Calibri"/>
                <a:cs typeface="Calibri"/>
              </a:rPr>
              <a:t>r</a:t>
            </a:r>
            <a:r>
              <a:rPr dirty="0" sz="3200" spc="-5">
                <a:latin typeface="Calibri"/>
                <a:cs typeface="Calibri"/>
              </a:rPr>
              <a:t>og</a:t>
            </a:r>
            <a:r>
              <a:rPr dirty="0" sz="3200" spc="-60">
                <a:latin typeface="Calibri"/>
                <a:cs typeface="Calibri"/>
              </a:rPr>
              <a:t>r</a:t>
            </a:r>
            <a:r>
              <a:rPr dirty="0" sz="3200" spc="-1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m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25">
                <a:latin typeface="Calibri"/>
                <a:cs typeface="Calibri"/>
              </a:rPr>
              <a:t>c</a:t>
            </a:r>
            <a:r>
              <a:rPr dirty="0" sz="3200">
                <a:latin typeface="Calibri"/>
                <a:cs typeface="Calibri"/>
              </a:rPr>
              <a:t>alled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>
                <a:latin typeface="Calibri"/>
                <a:cs typeface="Calibri"/>
              </a:rPr>
              <a:t>lo</a:t>
            </a:r>
            <a:r>
              <a:rPr dirty="0" sz="3200" spc="10">
                <a:latin typeface="Calibri"/>
                <a:cs typeface="Calibri"/>
              </a:rPr>
              <a:t>a</a:t>
            </a:r>
            <a:r>
              <a:rPr dirty="0" sz="3200" spc="-5">
                <a:latin typeface="Calibri"/>
                <a:cs typeface="Calibri"/>
              </a:rPr>
              <a:t>de</a:t>
            </a:r>
            <a:r>
              <a:rPr dirty="0" sz="3200">
                <a:latin typeface="Calibri"/>
                <a:cs typeface="Calibri"/>
              </a:rPr>
              <a:t>r</a:t>
            </a:r>
            <a:r>
              <a:rPr dirty="0" sz="3200">
                <a:latin typeface="Calibri"/>
                <a:cs typeface="Calibri"/>
              </a:rPr>
              <a:t>	</a:t>
            </a:r>
            <a:r>
              <a:rPr dirty="0" sz="3200" spc="-5">
                <a:latin typeface="Calibri"/>
                <a:cs typeface="Calibri"/>
              </a:rPr>
              <a:t>per</a:t>
            </a:r>
            <a:r>
              <a:rPr dirty="0" sz="3200" spc="-85">
                <a:latin typeface="Calibri"/>
                <a:cs typeface="Calibri"/>
              </a:rPr>
              <a:t>f</a:t>
            </a:r>
            <a:r>
              <a:rPr dirty="0" sz="3200" spc="-5">
                <a:latin typeface="Calibri"/>
                <a:cs typeface="Calibri"/>
              </a:rPr>
              <a:t>orms 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two</a:t>
            </a:r>
            <a:r>
              <a:rPr dirty="0" sz="3200" spc="-5">
                <a:latin typeface="Calibri"/>
                <a:cs typeface="Calibri"/>
              </a:rPr>
              <a:t> functions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loading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link-editing.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445" y="461594"/>
            <a:ext cx="58375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Loaders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15"/>
              <a:t>Link-Editors: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2755" cy="2465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process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loading</a:t>
            </a:r>
            <a:r>
              <a:rPr dirty="0" sz="3200" b="1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consists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taking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relocatable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machine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code,</a:t>
            </a:r>
            <a:r>
              <a:rPr dirty="0" sz="3200" spc="-5">
                <a:latin typeface="Calibri"/>
                <a:cs typeface="Calibri"/>
              </a:rPr>
              <a:t> altering</a:t>
            </a:r>
            <a:r>
              <a:rPr dirty="0" sz="3200">
                <a:latin typeface="Calibri"/>
                <a:cs typeface="Calibri"/>
              </a:rPr>
              <a:t> the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relocatable </a:t>
            </a:r>
            <a:r>
              <a:rPr dirty="0" sz="3200" spc="-5">
                <a:latin typeface="Calibri"/>
                <a:cs typeface="Calibri"/>
              </a:rPr>
              <a:t>addresses,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5">
                <a:latin typeface="Calibri"/>
                <a:cs typeface="Calibri"/>
              </a:rPr>
              <a:t>placing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altered 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instructions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20">
                <a:latin typeface="Calibri"/>
                <a:cs typeface="Calibri"/>
              </a:rPr>
              <a:t>data </a:t>
            </a:r>
            <a:r>
              <a:rPr dirty="0" sz="3200" spc="-5">
                <a:latin typeface="Calibri"/>
                <a:cs typeface="Calibri"/>
              </a:rPr>
              <a:t>in </a:t>
            </a:r>
            <a:r>
              <a:rPr dirty="0" sz="3200">
                <a:latin typeface="Calibri"/>
                <a:cs typeface="Calibri"/>
              </a:rPr>
              <a:t>memory </a:t>
            </a:r>
            <a:r>
              <a:rPr dirty="0" sz="3200" spc="-15">
                <a:latin typeface="Calibri"/>
                <a:cs typeface="Calibri"/>
              </a:rPr>
              <a:t>at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proper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location.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445" y="461594"/>
            <a:ext cx="58375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Loaders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15"/>
              <a:t>Link-Editors: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link-editor</a:t>
            </a:r>
            <a:r>
              <a:rPr dirty="0" sz="3200" b="1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allows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make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single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program</a:t>
            </a:r>
            <a:r>
              <a:rPr dirty="0" sz="3200" spc="-15">
                <a:latin typeface="Calibri"/>
                <a:cs typeface="Calibri"/>
              </a:rPr>
              <a:t> from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several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files</a:t>
            </a:r>
            <a:r>
              <a:rPr dirty="0" sz="3200">
                <a:latin typeface="Calibri"/>
                <a:cs typeface="Calibri"/>
              </a:rPr>
              <a:t> 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relocatable 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machine </a:t>
            </a:r>
            <a:r>
              <a:rPr dirty="0" sz="3200" spc="-5">
                <a:latin typeface="Calibri"/>
                <a:cs typeface="Calibri"/>
              </a:rPr>
              <a:t>code.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25525" y="1401890"/>
            <a:ext cx="7698105" cy="222059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40"/>
              </a:spcBef>
            </a:pPr>
            <a:r>
              <a:rPr dirty="0" sz="6000" b="1">
                <a:latin typeface="Calibri"/>
                <a:cs typeface="Calibri"/>
              </a:rPr>
              <a:t>1.5</a:t>
            </a:r>
            <a:endParaRPr sz="6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dirty="0" sz="6000" spc="-5" b="1">
                <a:latin typeface="Calibri"/>
                <a:cs typeface="Calibri"/>
              </a:rPr>
              <a:t>The</a:t>
            </a:r>
            <a:r>
              <a:rPr dirty="0" sz="6000" spc="-20" b="1">
                <a:latin typeface="Calibri"/>
                <a:cs typeface="Calibri"/>
              </a:rPr>
              <a:t> </a:t>
            </a:r>
            <a:r>
              <a:rPr dirty="0" sz="6000" spc="-10" b="1">
                <a:latin typeface="Calibri"/>
                <a:cs typeface="Calibri"/>
              </a:rPr>
              <a:t>Grouping</a:t>
            </a:r>
            <a:r>
              <a:rPr dirty="0" sz="6000" spc="10" b="1">
                <a:latin typeface="Calibri"/>
                <a:cs typeface="Calibri"/>
              </a:rPr>
              <a:t> </a:t>
            </a:r>
            <a:r>
              <a:rPr dirty="0" sz="6000" b="1">
                <a:latin typeface="Calibri"/>
                <a:cs typeface="Calibri"/>
              </a:rPr>
              <a:t>of</a:t>
            </a:r>
            <a:r>
              <a:rPr dirty="0" sz="6000" spc="-15" b="1">
                <a:latin typeface="Calibri"/>
                <a:cs typeface="Calibri"/>
              </a:rPr>
              <a:t> </a:t>
            </a:r>
            <a:r>
              <a:rPr dirty="0" sz="6000" spc="-5" b="1">
                <a:latin typeface="Calibri"/>
                <a:cs typeface="Calibri"/>
              </a:rPr>
              <a:t>Phases: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1601" y="461594"/>
            <a:ext cx="48647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Front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5"/>
              <a:t>Back</a:t>
            </a:r>
            <a:r>
              <a:rPr dirty="0" spc="-15"/>
              <a:t> </a:t>
            </a:r>
            <a:r>
              <a:rPr dirty="0" spc="-5"/>
              <a:t>Ends: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2755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698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</a:t>
            </a:r>
            <a:r>
              <a:rPr dirty="0" sz="3200">
                <a:latin typeface="Calibri"/>
                <a:cs typeface="Calibri"/>
              </a:rPr>
              <a:t>phases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-10">
                <a:latin typeface="Calibri"/>
                <a:cs typeface="Calibri"/>
              </a:rPr>
              <a:t> collected </a:t>
            </a:r>
            <a:r>
              <a:rPr dirty="0" sz="3200" spc="-15">
                <a:latin typeface="Calibri"/>
                <a:cs typeface="Calibri"/>
              </a:rPr>
              <a:t>into</a:t>
            </a:r>
            <a:r>
              <a:rPr dirty="0" sz="3200" spc="6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20">
                <a:latin typeface="Calibri"/>
                <a:cs typeface="Calibri"/>
              </a:rPr>
              <a:t>front</a:t>
            </a:r>
            <a:r>
              <a:rPr dirty="0" sz="3200" spc="6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end </a:t>
            </a:r>
            <a:r>
              <a:rPr dirty="0" sz="3200" spc="5">
                <a:latin typeface="Calibri"/>
                <a:cs typeface="Calibri"/>
              </a:rPr>
              <a:t>and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back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end.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67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front</a:t>
            </a:r>
            <a:r>
              <a:rPr dirty="0" sz="3200" spc="6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end</a:t>
            </a:r>
            <a:r>
              <a:rPr dirty="0" sz="3200" spc="6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consists</a:t>
            </a:r>
            <a:r>
              <a:rPr dirty="0" sz="3200" spc="6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6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those</a:t>
            </a:r>
            <a:r>
              <a:rPr dirty="0" sz="3200" spc="67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phases</a:t>
            </a:r>
            <a:r>
              <a:rPr dirty="0" sz="3200" spc="68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that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depend primarily </a:t>
            </a:r>
            <a:r>
              <a:rPr dirty="0" sz="3200">
                <a:latin typeface="Calibri"/>
                <a:cs typeface="Calibri"/>
              </a:rPr>
              <a:t>on the </a:t>
            </a:r>
            <a:r>
              <a:rPr dirty="0" sz="3200" spc="-10">
                <a:latin typeface="Calibri"/>
                <a:cs typeface="Calibri"/>
              </a:rPr>
              <a:t>source </a:t>
            </a:r>
            <a:r>
              <a:rPr dirty="0" sz="3200" spc="-5">
                <a:latin typeface="Calibri"/>
                <a:cs typeface="Calibri"/>
              </a:rPr>
              <a:t>language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largely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independent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target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machine.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1601" y="461594"/>
            <a:ext cx="48647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Front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5"/>
              <a:t>Back</a:t>
            </a:r>
            <a:r>
              <a:rPr dirty="0" spc="-15"/>
              <a:t> </a:t>
            </a:r>
            <a:r>
              <a:rPr dirty="0" spc="-5"/>
              <a:t>Ends: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36360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These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normally</a:t>
            </a:r>
            <a:r>
              <a:rPr dirty="0" sz="3200">
                <a:latin typeface="Calibri"/>
                <a:cs typeface="Calibri"/>
              </a:rPr>
              <a:t> include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lexical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syntactic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analysis,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creating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symbol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table,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semantic</a:t>
            </a:r>
            <a:r>
              <a:rPr dirty="0" sz="3200" spc="-5">
                <a:latin typeface="Calibri"/>
                <a:cs typeface="Calibri"/>
              </a:rPr>
              <a:t> analysis,</a:t>
            </a:r>
            <a:r>
              <a:rPr dirty="0" sz="3200">
                <a:latin typeface="Calibri"/>
                <a:cs typeface="Calibri"/>
              </a:rPr>
              <a:t> 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generation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intermediate</a:t>
            </a:r>
            <a:r>
              <a:rPr dirty="0" sz="3200" spc="-10">
                <a:latin typeface="Calibri"/>
                <a:cs typeface="Calibri"/>
              </a:rPr>
              <a:t> code.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635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certain </a:t>
            </a:r>
            <a:r>
              <a:rPr dirty="0" sz="3200">
                <a:latin typeface="Calibri"/>
                <a:cs typeface="Calibri"/>
              </a:rPr>
              <a:t>among of </a:t>
            </a:r>
            <a:r>
              <a:rPr dirty="0" sz="3200" spc="-10">
                <a:latin typeface="Calibri"/>
                <a:cs typeface="Calibri"/>
              </a:rPr>
              <a:t>code optimization can </a:t>
            </a:r>
            <a:r>
              <a:rPr dirty="0" sz="3200" spc="-5">
                <a:latin typeface="Calibri"/>
                <a:cs typeface="Calibri"/>
              </a:rPr>
              <a:t>be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done</a:t>
            </a:r>
            <a:r>
              <a:rPr dirty="0" sz="3200" spc="-10">
                <a:latin typeface="Calibri"/>
                <a:cs typeface="Calibri"/>
              </a:rPr>
              <a:t> by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front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end as</a:t>
            </a:r>
            <a:r>
              <a:rPr dirty="0" sz="3200" spc="-10">
                <a:latin typeface="Calibri"/>
                <a:cs typeface="Calibri"/>
              </a:rPr>
              <a:t> well.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1601" y="461594"/>
            <a:ext cx="48647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Front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5"/>
              <a:t>Back</a:t>
            </a:r>
            <a:r>
              <a:rPr dirty="0" spc="-15"/>
              <a:t> </a:t>
            </a:r>
            <a:r>
              <a:rPr dirty="0" spc="-5"/>
              <a:t>Ends: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6894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16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front</a:t>
            </a:r>
            <a:r>
              <a:rPr dirty="0" sz="3200" spc="1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end</a:t>
            </a:r>
            <a:r>
              <a:rPr dirty="0" sz="3200" spc="1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also</a:t>
            </a:r>
            <a:r>
              <a:rPr dirty="0" sz="3200" spc="1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includes</a:t>
            </a:r>
            <a:r>
              <a:rPr dirty="0" sz="3200" spc="1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1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error</a:t>
            </a:r>
            <a:r>
              <a:rPr dirty="0" sz="3200" spc="1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handling </a:t>
            </a:r>
            <a:r>
              <a:rPr dirty="0" sz="3200" spc="-70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that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goes </a:t>
            </a:r>
            <a:r>
              <a:rPr dirty="0" sz="3200">
                <a:latin typeface="Calibri"/>
                <a:cs typeface="Calibri"/>
              </a:rPr>
              <a:t>along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with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each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5">
                <a:latin typeface="Calibri"/>
                <a:cs typeface="Calibri"/>
              </a:rPr>
              <a:t> these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phases.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1601" y="461594"/>
            <a:ext cx="48647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Front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5"/>
              <a:t>Back</a:t>
            </a:r>
            <a:r>
              <a:rPr dirty="0" spc="-15"/>
              <a:t> </a:t>
            </a:r>
            <a:r>
              <a:rPr dirty="0" spc="-5"/>
              <a:t>Ends: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314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back </a:t>
            </a:r>
            <a:r>
              <a:rPr dirty="0" sz="3200">
                <a:latin typeface="Calibri"/>
                <a:cs typeface="Calibri"/>
              </a:rPr>
              <a:t>end includes those </a:t>
            </a:r>
            <a:r>
              <a:rPr dirty="0" sz="3200" spc="-5">
                <a:latin typeface="Calibri"/>
                <a:cs typeface="Calibri"/>
              </a:rPr>
              <a:t>portions </a:t>
            </a:r>
            <a:r>
              <a:rPr dirty="0" sz="3200">
                <a:latin typeface="Calibri"/>
                <a:cs typeface="Calibri"/>
              </a:rPr>
              <a:t>of the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compiler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that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depend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on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5">
                <a:latin typeface="Calibri"/>
                <a:cs typeface="Calibri"/>
              </a:rPr>
              <a:t>target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machine.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35">
                <a:latin typeface="Calibri"/>
                <a:cs typeface="Calibri"/>
              </a:rPr>
              <a:t>generally, </a:t>
            </a:r>
            <a:r>
              <a:rPr dirty="0" sz="3200" spc="-5">
                <a:latin typeface="Calibri"/>
                <a:cs typeface="Calibri"/>
              </a:rPr>
              <a:t>these portions do </a:t>
            </a:r>
            <a:r>
              <a:rPr dirty="0" sz="3200">
                <a:latin typeface="Calibri"/>
                <a:cs typeface="Calibri"/>
              </a:rPr>
              <a:t>not </a:t>
            </a:r>
            <a:r>
              <a:rPr dirty="0" sz="3200" spc="-5">
                <a:latin typeface="Calibri"/>
                <a:cs typeface="Calibri"/>
              </a:rPr>
              <a:t>depend </a:t>
            </a:r>
            <a:r>
              <a:rPr dirty="0" sz="3200">
                <a:latin typeface="Calibri"/>
                <a:cs typeface="Calibri"/>
              </a:rPr>
              <a:t> on the </a:t>
            </a:r>
            <a:r>
              <a:rPr dirty="0" sz="3200" spc="-10">
                <a:latin typeface="Calibri"/>
                <a:cs typeface="Calibri"/>
              </a:rPr>
              <a:t>source </a:t>
            </a:r>
            <a:r>
              <a:rPr dirty="0" sz="3200" spc="-5">
                <a:latin typeface="Calibri"/>
                <a:cs typeface="Calibri"/>
              </a:rPr>
              <a:t>language, depend </a:t>
            </a:r>
            <a:r>
              <a:rPr dirty="0" sz="3200">
                <a:latin typeface="Calibri"/>
                <a:cs typeface="Calibri"/>
              </a:rPr>
              <a:t>on </a:t>
            </a:r>
            <a:r>
              <a:rPr dirty="0" sz="3200" spc="-15">
                <a:latin typeface="Calibri"/>
                <a:cs typeface="Calibri"/>
              </a:rPr>
              <a:t>just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intermediate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language.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1601" y="461594"/>
            <a:ext cx="48647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Front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5"/>
              <a:t>Back</a:t>
            </a:r>
            <a:r>
              <a:rPr dirty="0" spc="-15"/>
              <a:t> </a:t>
            </a:r>
            <a:r>
              <a:rPr dirty="0" spc="-5"/>
              <a:t>Ends: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In </a:t>
            </a:r>
            <a:r>
              <a:rPr dirty="0" sz="3200">
                <a:latin typeface="Calibri"/>
                <a:cs typeface="Calibri"/>
              </a:rPr>
              <a:t>the back end, </a:t>
            </a:r>
            <a:r>
              <a:rPr dirty="0" sz="3200" spc="-15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find </a:t>
            </a:r>
            <a:r>
              <a:rPr dirty="0" sz="3200">
                <a:latin typeface="Calibri"/>
                <a:cs typeface="Calibri"/>
              </a:rPr>
              <a:t>aspects of the </a:t>
            </a:r>
            <a:r>
              <a:rPr dirty="0" sz="3200" spc="-10">
                <a:latin typeface="Calibri"/>
                <a:cs typeface="Calibri"/>
              </a:rPr>
              <a:t>code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optimization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phase,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we</a:t>
            </a:r>
            <a:r>
              <a:rPr dirty="0" sz="3200" spc="-5">
                <a:latin typeface="Calibri"/>
                <a:cs typeface="Calibri"/>
              </a:rPr>
              <a:t> find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code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generation,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along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with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necessary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error 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handling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symbol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table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operations.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6941" y="461594"/>
            <a:ext cx="169608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5"/>
              <a:t>P</a:t>
            </a:r>
            <a:r>
              <a:rPr dirty="0"/>
              <a:t>asses: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461594"/>
            <a:ext cx="673798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Compiler-Construction</a:t>
            </a:r>
            <a:r>
              <a:rPr dirty="0" spc="-120"/>
              <a:t> </a:t>
            </a:r>
            <a:r>
              <a:rPr dirty="0" spc="-65"/>
              <a:t>Tools: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2755" cy="3052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1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compiler</a:t>
            </a:r>
            <a:r>
              <a:rPr dirty="0" sz="3200" spc="195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writer,</a:t>
            </a:r>
            <a:r>
              <a:rPr dirty="0" sz="3200" spc="195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like</a:t>
            </a:r>
            <a:r>
              <a:rPr dirty="0" sz="3200" spc="19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any</a:t>
            </a:r>
            <a:r>
              <a:rPr dirty="0" sz="3200" spc="204">
                <a:latin typeface="Calibri"/>
                <a:cs typeface="Calibri"/>
              </a:rPr>
              <a:t> </a:t>
            </a:r>
            <a:r>
              <a:rPr dirty="0" sz="3200" spc="-40">
                <a:latin typeface="Calibri"/>
                <a:cs typeface="Calibri"/>
              </a:rPr>
              <a:t>programmer,</a:t>
            </a:r>
            <a:r>
              <a:rPr dirty="0" sz="3200" spc="204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70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profitably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use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tools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such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385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dirty="0" sz="2800" spc="-15">
                <a:latin typeface="Calibri"/>
                <a:cs typeface="Calibri"/>
              </a:rPr>
              <a:t>Debuggers,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35">
                <a:latin typeface="Calibri"/>
                <a:cs typeface="Calibri"/>
              </a:rPr>
              <a:t>Version</a:t>
            </a:r>
            <a:r>
              <a:rPr dirty="0" sz="2800" spc="-15">
                <a:latin typeface="Calibri"/>
                <a:cs typeface="Calibri"/>
              </a:rPr>
              <a:t> managers,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20">
                <a:latin typeface="Calibri"/>
                <a:cs typeface="Calibri"/>
              </a:rPr>
              <a:t>Profilers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and so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461594"/>
            <a:ext cx="673798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Compiler-Construction</a:t>
            </a:r>
            <a:r>
              <a:rPr dirty="0" spc="-120"/>
              <a:t> </a:t>
            </a:r>
            <a:r>
              <a:rPr dirty="0" spc="-65"/>
              <a:t>Tools: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4025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In</a:t>
            </a:r>
            <a:r>
              <a:rPr dirty="0" sz="3200">
                <a:latin typeface="Calibri"/>
                <a:cs typeface="Calibri"/>
              </a:rPr>
              <a:t> addition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these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software-development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tools, </a:t>
            </a:r>
            <a:r>
              <a:rPr dirty="0" sz="3200" spc="-5">
                <a:latin typeface="Calibri"/>
                <a:cs typeface="Calibri"/>
              </a:rPr>
              <a:t>other </a:t>
            </a:r>
            <a:r>
              <a:rPr dirty="0" sz="3200" spc="-10">
                <a:latin typeface="Calibri"/>
                <a:cs typeface="Calibri"/>
              </a:rPr>
              <a:t>more specialized tools </a:t>
            </a:r>
            <a:r>
              <a:rPr dirty="0" sz="3200" spc="-25">
                <a:latin typeface="Calibri"/>
                <a:cs typeface="Calibri"/>
              </a:rPr>
              <a:t>have </a:t>
            </a:r>
            <a:r>
              <a:rPr dirty="0" sz="3200" spc="-5">
                <a:latin typeface="Calibri"/>
                <a:cs typeface="Calibri"/>
              </a:rPr>
              <a:t>been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developed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for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helping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implement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various </a:t>
            </a:r>
            <a:r>
              <a:rPr dirty="0" sz="3200" spc="-5">
                <a:latin typeface="Calibri"/>
                <a:cs typeface="Calibri"/>
              </a:rPr>
              <a:t> phases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 a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compiler.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461594"/>
            <a:ext cx="673798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Compiler-Construction</a:t>
            </a:r>
            <a:r>
              <a:rPr dirty="0" spc="-120"/>
              <a:t> </a:t>
            </a:r>
            <a:r>
              <a:rPr dirty="0" spc="-65"/>
              <a:t>Tools: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3613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Shortly </a:t>
            </a:r>
            <a:r>
              <a:rPr dirty="0" sz="3200" spc="-15">
                <a:latin typeface="Calibri"/>
                <a:cs typeface="Calibri"/>
              </a:rPr>
              <a:t>after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5">
                <a:latin typeface="Calibri"/>
                <a:cs typeface="Calibri"/>
              </a:rPr>
              <a:t>first </a:t>
            </a:r>
            <a:r>
              <a:rPr dirty="0" sz="3200" spc="-15">
                <a:latin typeface="Calibri"/>
                <a:cs typeface="Calibri"/>
              </a:rPr>
              <a:t>compilers </a:t>
            </a:r>
            <a:r>
              <a:rPr dirty="0" sz="3200" spc="-25">
                <a:latin typeface="Calibri"/>
                <a:cs typeface="Calibri"/>
              </a:rPr>
              <a:t>were </a:t>
            </a:r>
            <a:r>
              <a:rPr dirty="0" sz="3200" spc="-15">
                <a:latin typeface="Calibri"/>
                <a:cs typeface="Calibri"/>
              </a:rPr>
              <a:t>written, 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systems</a:t>
            </a:r>
            <a:r>
              <a:rPr dirty="0" sz="3200" spc="-20">
                <a:latin typeface="Calibri"/>
                <a:cs typeface="Calibri"/>
              </a:rPr>
              <a:t> to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help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5">
                <a:latin typeface="Calibri"/>
                <a:cs typeface="Calibri"/>
              </a:rPr>
              <a:t>with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compiler-writing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process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appeared.</a:t>
            </a:r>
            <a:endParaRPr sz="3200">
              <a:latin typeface="Calibri"/>
              <a:cs typeface="Calibri"/>
            </a:endParaRPr>
          </a:p>
          <a:p>
            <a:pPr algn="just"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These</a:t>
            </a:r>
            <a:r>
              <a:rPr dirty="0" sz="3200" spc="-25">
                <a:latin typeface="Calibri"/>
                <a:cs typeface="Calibri"/>
              </a:rPr>
              <a:t> systems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have</a:t>
            </a:r>
            <a:r>
              <a:rPr dirty="0" sz="3200" spc="-10">
                <a:latin typeface="Calibri"/>
                <a:cs typeface="Calibri"/>
              </a:rPr>
              <a:t> often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been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referred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endParaRPr sz="32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5">
                <a:latin typeface="Calibri"/>
                <a:cs typeface="Calibri"/>
              </a:rPr>
              <a:t>Compiler-compilers,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5">
                <a:latin typeface="Calibri"/>
                <a:cs typeface="Calibri"/>
              </a:rPr>
              <a:t>Compiler-generators,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>
                <a:latin typeface="Calibri"/>
                <a:cs typeface="Calibri"/>
              </a:rPr>
              <a:t>Or</a:t>
            </a:r>
            <a:r>
              <a:rPr dirty="0" sz="2800" spc="-20">
                <a:latin typeface="Calibri"/>
                <a:cs typeface="Calibri"/>
              </a:rPr>
              <a:t> Translator-writing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systems.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461594"/>
            <a:ext cx="673798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Compiler-Construction</a:t>
            </a:r>
            <a:r>
              <a:rPr dirty="0" spc="-120"/>
              <a:t> </a:t>
            </a:r>
            <a:r>
              <a:rPr dirty="0" spc="-65"/>
              <a:t>Tools: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35382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Some </a:t>
            </a:r>
            <a:r>
              <a:rPr dirty="0" sz="3200" spc="-20">
                <a:latin typeface="Calibri"/>
                <a:cs typeface="Calibri"/>
              </a:rPr>
              <a:t>general </a:t>
            </a:r>
            <a:r>
              <a:rPr dirty="0" sz="3200" spc="-15">
                <a:latin typeface="Calibri"/>
                <a:cs typeface="Calibri"/>
              </a:rPr>
              <a:t>tools </a:t>
            </a:r>
            <a:r>
              <a:rPr dirty="0" sz="3200" spc="-25">
                <a:latin typeface="Calibri"/>
                <a:cs typeface="Calibri"/>
              </a:rPr>
              <a:t>have </a:t>
            </a:r>
            <a:r>
              <a:rPr dirty="0" sz="3200">
                <a:latin typeface="Calibri"/>
                <a:cs typeface="Calibri"/>
              </a:rPr>
              <a:t>been </a:t>
            </a:r>
            <a:r>
              <a:rPr dirty="0" sz="3200" spc="-20">
                <a:latin typeface="Calibri"/>
                <a:cs typeface="Calibri"/>
              </a:rPr>
              <a:t>created </a:t>
            </a:r>
            <a:r>
              <a:rPr dirty="0" sz="3200" spc="-30">
                <a:latin typeface="Calibri"/>
                <a:cs typeface="Calibri"/>
              </a:rPr>
              <a:t>for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automatic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design</a:t>
            </a:r>
            <a:r>
              <a:rPr dirty="0" sz="3200">
                <a:latin typeface="Calibri"/>
                <a:cs typeface="Calibri"/>
              </a:rPr>
              <a:t> of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specific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compiler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components.</a:t>
            </a:r>
            <a:endParaRPr sz="32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These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tools</a:t>
            </a:r>
            <a:r>
              <a:rPr dirty="0" sz="3200" spc="-5">
                <a:latin typeface="Calibri"/>
                <a:cs typeface="Calibri"/>
              </a:rPr>
              <a:t> use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specialized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languages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specifying and </a:t>
            </a:r>
            <a:r>
              <a:rPr dirty="0" sz="3200" spc="-5">
                <a:latin typeface="Calibri"/>
                <a:cs typeface="Calibri"/>
              </a:rPr>
              <a:t>implementing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component,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many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use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algorithms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that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are</a:t>
            </a:r>
            <a:r>
              <a:rPr dirty="0" sz="3200" spc="6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quite 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sophisticated.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461594"/>
            <a:ext cx="673798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Compiler-Construction</a:t>
            </a:r>
            <a:r>
              <a:rPr dirty="0" spc="-120"/>
              <a:t> </a:t>
            </a:r>
            <a:r>
              <a:rPr dirty="0" spc="-65"/>
              <a:t>Tools: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2755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most successful </a:t>
            </a:r>
            <a:r>
              <a:rPr dirty="0" sz="3200" spc="-15">
                <a:latin typeface="Calibri"/>
                <a:cs typeface="Calibri"/>
              </a:rPr>
              <a:t>tools are </a:t>
            </a:r>
            <a:r>
              <a:rPr dirty="0" sz="3200">
                <a:latin typeface="Calibri"/>
                <a:cs typeface="Calibri"/>
              </a:rPr>
              <a:t>those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5">
                <a:latin typeface="Calibri"/>
                <a:cs typeface="Calibri"/>
              </a:rPr>
              <a:t>hide </a:t>
            </a:r>
            <a:r>
              <a:rPr dirty="0" sz="3200">
                <a:latin typeface="Calibri"/>
                <a:cs typeface="Calibri"/>
              </a:rPr>
              <a:t> the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details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5">
                <a:latin typeface="Calibri"/>
                <a:cs typeface="Calibri"/>
              </a:rPr>
              <a:t> the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generation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algorithm</a:t>
            </a:r>
            <a:r>
              <a:rPr dirty="0" sz="3200">
                <a:latin typeface="Calibri"/>
                <a:cs typeface="Calibri"/>
              </a:rPr>
              <a:t> and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produce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components</a:t>
            </a:r>
            <a:r>
              <a:rPr dirty="0" sz="3200" spc="-5">
                <a:latin typeface="Calibri"/>
                <a:cs typeface="Calibri"/>
              </a:rPr>
              <a:t> that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can</a:t>
            </a:r>
            <a:r>
              <a:rPr dirty="0" sz="3200" spc="-5">
                <a:latin typeface="Calibri"/>
                <a:cs typeface="Calibri"/>
              </a:rPr>
              <a:t> be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easily 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integrated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into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remainder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 a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compiler.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461594"/>
            <a:ext cx="673798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Compiler-Construction</a:t>
            </a:r>
            <a:r>
              <a:rPr dirty="0" spc="-120"/>
              <a:t> </a:t>
            </a:r>
            <a:r>
              <a:rPr dirty="0" spc="-65"/>
              <a:t>Tools: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35642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</a:t>
            </a:r>
            <a:r>
              <a:rPr dirty="0" sz="3200" spc="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following</a:t>
            </a:r>
            <a:r>
              <a:rPr dirty="0" sz="3200" spc="9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is</a:t>
            </a:r>
            <a:r>
              <a:rPr dirty="0" sz="3200" spc="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list</a:t>
            </a:r>
            <a:r>
              <a:rPr dirty="0" sz="3200" spc="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some</a:t>
            </a:r>
            <a:r>
              <a:rPr dirty="0" sz="3200" spc="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useful</a:t>
            </a:r>
            <a:r>
              <a:rPr dirty="0" sz="3200" spc="8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compiler- </a:t>
            </a:r>
            <a:r>
              <a:rPr dirty="0" sz="3200" spc="-7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construction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tools:</a:t>
            </a:r>
            <a:endParaRPr sz="32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20" b="1">
                <a:latin typeface="Calibri"/>
                <a:cs typeface="Calibri"/>
              </a:rPr>
              <a:t>Parser</a:t>
            </a:r>
            <a:r>
              <a:rPr dirty="0" sz="2800" spc="-15" b="1">
                <a:latin typeface="Calibri"/>
                <a:cs typeface="Calibri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generators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 b="1">
                <a:latin typeface="Calibri"/>
                <a:cs typeface="Calibri"/>
              </a:rPr>
              <a:t>Scanner</a:t>
            </a:r>
            <a:r>
              <a:rPr dirty="0" sz="2800" spc="-20" b="1">
                <a:latin typeface="Calibri"/>
                <a:cs typeface="Calibri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generators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25" b="1">
                <a:latin typeface="Calibri"/>
                <a:cs typeface="Calibri"/>
              </a:rPr>
              <a:t>Syntax</a:t>
            </a:r>
            <a:r>
              <a:rPr dirty="0" sz="2800" spc="-5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directed</a:t>
            </a:r>
            <a:r>
              <a:rPr dirty="0" sz="2800" spc="35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translation</a:t>
            </a:r>
            <a:r>
              <a:rPr dirty="0" sz="2800" spc="2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engines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0" b="1">
                <a:latin typeface="Calibri"/>
                <a:cs typeface="Calibri"/>
              </a:rPr>
              <a:t>Automatic</a:t>
            </a:r>
            <a:r>
              <a:rPr dirty="0" sz="2800" spc="-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code</a:t>
            </a:r>
            <a:r>
              <a:rPr dirty="0" sz="2800" b="1">
                <a:latin typeface="Calibri"/>
                <a:cs typeface="Calibri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generators</a:t>
            </a:r>
            <a:endParaRPr sz="2800">
              <a:latin typeface="Calibri"/>
              <a:cs typeface="Calibri"/>
            </a:endParaRPr>
          </a:p>
          <a:p>
            <a:pPr lvl="1" marL="75628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5" b="1">
                <a:latin typeface="Calibri"/>
                <a:cs typeface="Calibri"/>
              </a:rPr>
              <a:t>Data-flow</a:t>
            </a:r>
            <a:r>
              <a:rPr dirty="0" sz="2800" spc="-5" b="1">
                <a:latin typeface="Calibri"/>
                <a:cs typeface="Calibri"/>
              </a:rPr>
              <a:t> engines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461594"/>
            <a:ext cx="673798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Compiler-Construction</a:t>
            </a:r>
            <a:r>
              <a:rPr dirty="0" spc="-120"/>
              <a:t> </a:t>
            </a:r>
            <a:r>
              <a:rPr dirty="0" spc="-65"/>
              <a:t>Tools: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973"/>
            <a:ext cx="8074659" cy="428752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15" b="1">
                <a:latin typeface="Calibri"/>
                <a:cs typeface="Calibri"/>
              </a:rPr>
              <a:t>Parser</a:t>
            </a:r>
            <a:r>
              <a:rPr dirty="0" sz="3200" spc="-60" b="1">
                <a:latin typeface="Calibri"/>
                <a:cs typeface="Calibri"/>
              </a:rPr>
              <a:t> </a:t>
            </a:r>
            <a:r>
              <a:rPr dirty="0" sz="3200" spc="-25" b="1">
                <a:latin typeface="Calibri"/>
                <a:cs typeface="Calibri"/>
              </a:rPr>
              <a:t>generators</a:t>
            </a:r>
            <a:endParaRPr sz="3200">
              <a:latin typeface="Calibri"/>
              <a:cs typeface="Calibri"/>
            </a:endParaRPr>
          </a:p>
          <a:p>
            <a:pPr algn="just" lvl="1" marL="756285" marR="6985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>
                <a:latin typeface="Calibri"/>
                <a:cs typeface="Calibri"/>
              </a:rPr>
              <a:t>These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produce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syntax</a:t>
            </a:r>
            <a:r>
              <a:rPr dirty="0" sz="2800" spc="-20">
                <a:latin typeface="Calibri"/>
                <a:cs typeface="Calibri"/>
              </a:rPr>
              <a:t> analyzers,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normally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from 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input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that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is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based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on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context-free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45">
                <a:latin typeface="Calibri"/>
                <a:cs typeface="Calibri"/>
              </a:rPr>
              <a:t>grammar.</a:t>
            </a:r>
            <a:endParaRPr sz="28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>
                <a:latin typeface="Calibri"/>
                <a:cs typeface="Calibri"/>
              </a:rPr>
              <a:t>In early </a:t>
            </a:r>
            <a:r>
              <a:rPr dirty="0" sz="2800" spc="-15">
                <a:latin typeface="Calibri"/>
                <a:cs typeface="Calibri"/>
              </a:rPr>
              <a:t>compilers, </a:t>
            </a:r>
            <a:r>
              <a:rPr dirty="0" sz="2800" spc="-30">
                <a:latin typeface="Calibri"/>
                <a:cs typeface="Calibri"/>
              </a:rPr>
              <a:t>syntax </a:t>
            </a:r>
            <a:r>
              <a:rPr dirty="0" sz="2800" spc="-10">
                <a:latin typeface="Calibri"/>
                <a:cs typeface="Calibri"/>
              </a:rPr>
              <a:t>analysis </a:t>
            </a:r>
            <a:r>
              <a:rPr dirty="0" sz="2800" spc="-5">
                <a:latin typeface="Calibri"/>
                <a:cs typeface="Calibri"/>
              </a:rPr>
              <a:t>consumed not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only</a:t>
            </a:r>
            <a:r>
              <a:rPr dirty="0" sz="2800" spc="-5">
                <a:latin typeface="Calibri"/>
                <a:cs typeface="Calibri"/>
              </a:rPr>
              <a:t> a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large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fraction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running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time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compiler,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but</a:t>
            </a:r>
            <a:r>
              <a:rPr dirty="0" sz="2800" spc="-5">
                <a:latin typeface="Calibri"/>
                <a:cs typeface="Calibri"/>
              </a:rPr>
              <a:t> a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large</a:t>
            </a:r>
            <a:r>
              <a:rPr dirty="0" sz="2800" spc="-10">
                <a:latin typeface="Calibri"/>
                <a:cs typeface="Calibri"/>
              </a:rPr>
              <a:t> fraction</a:t>
            </a:r>
            <a:r>
              <a:rPr dirty="0" sz="2800" spc="-5">
                <a:latin typeface="Calibri"/>
                <a:cs typeface="Calibri"/>
              </a:rPr>
              <a:t> 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intellectual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effort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writing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40">
                <a:latin typeface="Calibri"/>
                <a:cs typeface="Calibri"/>
              </a:rPr>
              <a:t>compiler.</a:t>
            </a:r>
            <a:endParaRPr sz="2800">
              <a:latin typeface="Calibri"/>
              <a:cs typeface="Calibri"/>
            </a:endParaRPr>
          </a:p>
          <a:p>
            <a:pPr algn="just" lvl="1" marL="756285" marR="10160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10">
                <a:latin typeface="Calibri"/>
                <a:cs typeface="Calibri"/>
              </a:rPr>
              <a:t>This</a:t>
            </a:r>
            <a:r>
              <a:rPr dirty="0" sz="2800" spc="-5">
                <a:latin typeface="Calibri"/>
                <a:cs typeface="Calibri"/>
              </a:rPr>
              <a:t> phase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considered</a:t>
            </a:r>
            <a:r>
              <a:rPr dirty="0" sz="2800" spc="-5">
                <a:latin typeface="Calibri"/>
                <a:cs typeface="Calibri"/>
              </a:rPr>
              <a:t> one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easiest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implement.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461594"/>
            <a:ext cx="673798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Compiler-Construction</a:t>
            </a:r>
            <a:r>
              <a:rPr dirty="0" spc="-120"/>
              <a:t> </a:t>
            </a:r>
            <a:r>
              <a:rPr dirty="0" spc="-65"/>
              <a:t>Tools: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973"/>
            <a:ext cx="8074025" cy="343344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 b="1">
                <a:latin typeface="Calibri"/>
                <a:cs typeface="Calibri"/>
              </a:rPr>
              <a:t>Scanner</a:t>
            </a:r>
            <a:r>
              <a:rPr dirty="0" sz="3200" spc="-60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generators:</a:t>
            </a:r>
            <a:endParaRPr sz="320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>
                <a:latin typeface="Calibri"/>
                <a:cs typeface="Calibri"/>
              </a:rPr>
              <a:t>These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tools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automatically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generate</a:t>
            </a:r>
            <a:r>
              <a:rPr dirty="0" sz="2800" spc="-15">
                <a:latin typeface="Calibri"/>
                <a:cs typeface="Calibri"/>
              </a:rPr>
              <a:t> lexical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analyzers, </a:t>
            </a:r>
            <a:r>
              <a:rPr dirty="0" sz="2800" spc="-10">
                <a:latin typeface="Calibri"/>
                <a:cs typeface="Calibri"/>
              </a:rPr>
              <a:t>normally </a:t>
            </a:r>
            <a:r>
              <a:rPr dirty="0" sz="2800" spc="-20">
                <a:latin typeface="Calibri"/>
                <a:cs typeface="Calibri"/>
              </a:rPr>
              <a:t>from </a:t>
            </a:r>
            <a:r>
              <a:rPr dirty="0" sz="2800" spc="-5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specification </a:t>
            </a:r>
            <a:r>
              <a:rPr dirty="0" sz="2800" spc="-5">
                <a:latin typeface="Calibri"/>
                <a:cs typeface="Calibri"/>
              </a:rPr>
              <a:t>based on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regular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expressions.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 MT"/>
              <a:buChar char="–"/>
            </a:pPr>
            <a:endParaRPr sz="3850">
              <a:latin typeface="Calibri"/>
              <a:cs typeface="Calibri"/>
            </a:endParaRPr>
          </a:p>
          <a:p>
            <a:pPr algn="just" lvl="1" marL="756285" marR="6985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dirty="0" sz="2800" spc="-10">
                <a:latin typeface="Calibri"/>
                <a:cs typeface="Calibri"/>
              </a:rPr>
              <a:t>The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basic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organization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resulting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lexical 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analyzer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is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effect</a:t>
            </a:r>
            <a:r>
              <a:rPr dirty="0" sz="2800" spc="-5">
                <a:latin typeface="Calibri"/>
                <a:cs typeface="Calibri"/>
              </a:rPr>
              <a:t> a </a:t>
            </a:r>
            <a:r>
              <a:rPr dirty="0" sz="2800" spc="-15">
                <a:latin typeface="Calibri"/>
                <a:cs typeface="Calibri"/>
              </a:rPr>
              <a:t>finite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automaton.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461594"/>
            <a:ext cx="673798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Compiler-Construction</a:t>
            </a:r>
            <a:r>
              <a:rPr dirty="0" spc="-120"/>
              <a:t> </a:t>
            </a:r>
            <a:r>
              <a:rPr dirty="0" spc="-65"/>
              <a:t>Tools: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973"/>
            <a:ext cx="8074025" cy="386016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25" b="1">
                <a:latin typeface="Calibri"/>
                <a:cs typeface="Calibri"/>
              </a:rPr>
              <a:t>Syntax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directed</a:t>
            </a:r>
            <a:r>
              <a:rPr dirty="0" sz="3200" spc="-2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translation</a:t>
            </a:r>
            <a:r>
              <a:rPr dirty="0" sz="3200" spc="-6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engines:</a:t>
            </a:r>
            <a:endParaRPr sz="3200">
              <a:latin typeface="Calibri"/>
              <a:cs typeface="Calibri"/>
            </a:endParaRPr>
          </a:p>
          <a:p>
            <a:pPr algn="just" lvl="1" marL="756285" marR="6350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dirty="0" sz="2800" spc="-5">
                <a:latin typeface="Calibri"/>
                <a:cs typeface="Calibri"/>
              </a:rPr>
              <a:t>These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produce</a:t>
            </a:r>
            <a:r>
              <a:rPr dirty="0" sz="2800" spc="-5">
                <a:latin typeface="Calibri"/>
                <a:cs typeface="Calibri"/>
              </a:rPr>
              <a:t> collections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routines</a:t>
            </a:r>
            <a:r>
              <a:rPr dirty="0" sz="2800" spc="-10">
                <a:latin typeface="Calibri"/>
                <a:cs typeface="Calibri"/>
              </a:rPr>
              <a:t> that</a:t>
            </a:r>
            <a:r>
              <a:rPr dirty="0" sz="2800" spc="6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walk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parse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tree,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generating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intermediate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code.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 MT"/>
              <a:buChar char="–"/>
            </a:pPr>
            <a:endParaRPr sz="3850">
              <a:latin typeface="Calibri"/>
              <a:cs typeface="Calibri"/>
            </a:endParaRPr>
          </a:p>
          <a:p>
            <a:pPr algn="just" lvl="1" marL="756285" marR="5080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basic </a:t>
            </a:r>
            <a:r>
              <a:rPr dirty="0" sz="2800" spc="-5">
                <a:latin typeface="Calibri"/>
                <a:cs typeface="Calibri"/>
              </a:rPr>
              <a:t>idea </a:t>
            </a:r>
            <a:r>
              <a:rPr dirty="0" sz="2800" spc="-10">
                <a:latin typeface="Calibri"/>
                <a:cs typeface="Calibri"/>
              </a:rPr>
              <a:t>is that </a:t>
            </a:r>
            <a:r>
              <a:rPr dirty="0" sz="2800" spc="-5">
                <a:latin typeface="Calibri"/>
                <a:cs typeface="Calibri"/>
              </a:rPr>
              <a:t>one or </a:t>
            </a:r>
            <a:r>
              <a:rPr dirty="0" sz="2800" spc="-15">
                <a:latin typeface="Calibri"/>
                <a:cs typeface="Calibri"/>
              </a:rPr>
              <a:t>more “translations” 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are </a:t>
            </a:r>
            <a:r>
              <a:rPr dirty="0" sz="2800" spc="-10">
                <a:latin typeface="Calibri"/>
                <a:cs typeface="Calibri"/>
              </a:rPr>
              <a:t>associated </a:t>
            </a:r>
            <a:r>
              <a:rPr dirty="0" sz="2800" spc="-5">
                <a:latin typeface="Calibri"/>
                <a:cs typeface="Calibri"/>
              </a:rPr>
              <a:t>with each node of the </a:t>
            </a:r>
            <a:r>
              <a:rPr dirty="0" sz="2800" spc="-15">
                <a:latin typeface="Calibri"/>
                <a:cs typeface="Calibri"/>
              </a:rPr>
              <a:t>parse </a:t>
            </a:r>
            <a:r>
              <a:rPr dirty="0" sz="2800" spc="-10">
                <a:latin typeface="Calibri"/>
                <a:cs typeface="Calibri"/>
              </a:rPr>
              <a:t>tree, </a:t>
            </a:r>
            <a:r>
              <a:rPr dirty="0" sz="2800" spc="-5">
                <a:latin typeface="Calibri"/>
                <a:cs typeface="Calibri"/>
              </a:rPr>
              <a:t> and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each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translation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defined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terms</a:t>
            </a:r>
            <a:r>
              <a:rPr dirty="0" sz="2800" spc="-5">
                <a:latin typeface="Calibri"/>
                <a:cs typeface="Calibri"/>
              </a:rPr>
              <a:t> of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translations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at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its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neighbor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nodes</a:t>
            </a:r>
            <a:r>
              <a:rPr dirty="0" sz="2800" spc="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tree.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461594"/>
            <a:ext cx="673798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Compiler-Construction</a:t>
            </a:r>
            <a:r>
              <a:rPr dirty="0" spc="-120"/>
              <a:t> </a:t>
            </a:r>
            <a:r>
              <a:rPr dirty="0" spc="-65"/>
              <a:t>Tools: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4659" cy="282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5" b="1">
                <a:latin typeface="Calibri"/>
                <a:cs typeface="Calibri"/>
              </a:rPr>
              <a:t>Automatic</a:t>
            </a:r>
            <a:r>
              <a:rPr dirty="0" sz="3200" spc="-2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code</a:t>
            </a:r>
            <a:r>
              <a:rPr dirty="0" sz="3200" spc="-55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generators: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</a:pPr>
            <a:r>
              <a:rPr dirty="0" sz="2800" spc="-5">
                <a:latin typeface="Arial MT"/>
                <a:cs typeface="Arial MT"/>
              </a:rPr>
              <a:t>– </a:t>
            </a:r>
            <a:r>
              <a:rPr dirty="0" sz="2800" spc="-5">
                <a:latin typeface="Calibri"/>
                <a:cs typeface="Calibri"/>
              </a:rPr>
              <a:t>Such a </a:t>
            </a:r>
            <a:r>
              <a:rPr dirty="0" sz="2800" spc="-10">
                <a:latin typeface="Calibri"/>
                <a:cs typeface="Calibri"/>
              </a:rPr>
              <a:t>tool </a:t>
            </a:r>
            <a:r>
              <a:rPr dirty="0" sz="2800" spc="-30">
                <a:latin typeface="Calibri"/>
                <a:cs typeface="Calibri"/>
              </a:rPr>
              <a:t>takes </a:t>
            </a:r>
            <a:r>
              <a:rPr dirty="0" sz="2800" spc="-5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collection </a:t>
            </a:r>
            <a:r>
              <a:rPr dirty="0" sz="2800" spc="-5">
                <a:latin typeface="Calibri"/>
                <a:cs typeface="Calibri"/>
              </a:rPr>
              <a:t>of rules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15">
                <a:latin typeface="Calibri"/>
                <a:cs typeface="Calibri"/>
              </a:rPr>
              <a:t>define 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translation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each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operation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intermediate </a:t>
            </a:r>
            <a:r>
              <a:rPr dirty="0" sz="2800" spc="-10">
                <a:latin typeface="Calibri"/>
                <a:cs typeface="Calibri"/>
              </a:rPr>
              <a:t>language </a:t>
            </a:r>
            <a:r>
              <a:rPr dirty="0" sz="2800" spc="-20">
                <a:latin typeface="Calibri"/>
                <a:cs typeface="Calibri"/>
              </a:rPr>
              <a:t>into </a:t>
            </a:r>
            <a:r>
              <a:rPr dirty="0" sz="2800" spc="-5">
                <a:latin typeface="Calibri"/>
                <a:cs typeface="Calibri"/>
              </a:rPr>
              <a:t>the machine </a:t>
            </a:r>
            <a:r>
              <a:rPr dirty="0" sz="2800" spc="-10">
                <a:latin typeface="Calibri"/>
                <a:cs typeface="Calibri"/>
              </a:rPr>
              <a:t>language 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for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target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machine.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23833" y="6464909"/>
            <a:ext cx="30988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5940" y="1607565"/>
            <a:ext cx="8073390" cy="3247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 sz="3200" spc="-10" b="1">
                <a:latin typeface="Calibri"/>
                <a:cs typeface="Calibri"/>
              </a:rPr>
              <a:t>Data-flow</a:t>
            </a:r>
            <a:r>
              <a:rPr dirty="0" sz="3200" spc="-7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engines: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Calibri"/>
              <a:cs typeface="Calibri"/>
            </a:endParaRPr>
          </a:p>
          <a:p>
            <a:pPr algn="just" marL="756285" marR="5080" indent="-287020">
              <a:lnSpc>
                <a:spcPct val="100000"/>
              </a:lnSpc>
            </a:pPr>
            <a:r>
              <a:rPr dirty="0" sz="2800" spc="-5">
                <a:latin typeface="Arial MT"/>
                <a:cs typeface="Arial MT"/>
              </a:rPr>
              <a:t>– </a:t>
            </a:r>
            <a:r>
              <a:rPr dirty="0" sz="2800">
                <a:latin typeface="Calibri"/>
                <a:cs typeface="Calibri"/>
              </a:rPr>
              <a:t>Much </a:t>
            </a:r>
            <a:r>
              <a:rPr dirty="0" sz="2800" spc="-5">
                <a:latin typeface="Calibri"/>
                <a:cs typeface="Calibri"/>
              </a:rPr>
              <a:t>of the </a:t>
            </a:r>
            <a:r>
              <a:rPr dirty="0" sz="2800" spc="-15">
                <a:latin typeface="Calibri"/>
                <a:cs typeface="Calibri"/>
              </a:rPr>
              <a:t>information </a:t>
            </a:r>
            <a:r>
              <a:rPr dirty="0" sz="2800" spc="-10">
                <a:latin typeface="Calibri"/>
                <a:cs typeface="Calibri"/>
              </a:rPr>
              <a:t>needed </a:t>
            </a:r>
            <a:r>
              <a:rPr dirty="0" sz="2800" spc="-15">
                <a:latin typeface="Calibri"/>
                <a:cs typeface="Calibri"/>
              </a:rPr>
              <a:t>to perform </a:t>
            </a:r>
            <a:r>
              <a:rPr dirty="0" sz="2800" spc="-10">
                <a:latin typeface="Calibri"/>
                <a:cs typeface="Calibri"/>
              </a:rPr>
              <a:t>good 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code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optimization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involves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“data-flow</a:t>
            </a:r>
            <a:r>
              <a:rPr dirty="0" sz="2800" spc="58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analysis,” 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gathering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information</a:t>
            </a:r>
            <a:r>
              <a:rPr dirty="0" sz="2800" spc="6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how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values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62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transmitted from </a:t>
            </a:r>
            <a:r>
              <a:rPr dirty="0" sz="2800" spc="-5">
                <a:latin typeface="Calibri"/>
                <a:cs typeface="Calibri"/>
              </a:rPr>
              <a:t>one </a:t>
            </a:r>
            <a:r>
              <a:rPr dirty="0" sz="2800" spc="-10">
                <a:latin typeface="Calibri"/>
                <a:cs typeface="Calibri"/>
              </a:rPr>
              <a:t>part </a:t>
            </a:r>
            <a:r>
              <a:rPr dirty="0" sz="2800" spc="-5">
                <a:latin typeface="Calibri"/>
                <a:cs typeface="Calibri"/>
              </a:rPr>
              <a:t>of a </a:t>
            </a:r>
            <a:r>
              <a:rPr dirty="0" sz="2800" spc="-25">
                <a:latin typeface="Calibri"/>
                <a:cs typeface="Calibri"/>
              </a:rPr>
              <a:t>program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each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other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2024-12-12T11:35:23Z</dcterms:created>
  <dcterms:modified xsi:type="dcterms:W3CDTF">2024-12-12T11:35:23Z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2010-06-12T00:00:00Z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2024-12-12T00:00:00Z</vt:filetime>
  </property>
</Properties>
</file>