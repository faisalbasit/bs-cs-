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79"/>
  </p:notesMasterIdLst>
  <p:sldIdLst>
    <p:sldId id="256" r:id="rId2"/>
    <p:sldId id="385" r:id="rId3"/>
    <p:sldId id="386" r:id="rId4"/>
    <p:sldId id="387" r:id="rId5"/>
    <p:sldId id="388" r:id="rId6"/>
    <p:sldId id="389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2" r:id="rId19"/>
    <p:sldId id="403" r:id="rId20"/>
    <p:sldId id="404" r:id="rId21"/>
    <p:sldId id="405" r:id="rId22"/>
    <p:sldId id="406" r:id="rId23"/>
    <p:sldId id="407" r:id="rId24"/>
    <p:sldId id="408" r:id="rId25"/>
    <p:sldId id="409" r:id="rId26"/>
    <p:sldId id="410" r:id="rId27"/>
    <p:sldId id="411" r:id="rId28"/>
    <p:sldId id="412" r:id="rId29"/>
    <p:sldId id="413" r:id="rId30"/>
    <p:sldId id="414" r:id="rId31"/>
    <p:sldId id="415" r:id="rId32"/>
    <p:sldId id="416" r:id="rId33"/>
    <p:sldId id="417" r:id="rId34"/>
    <p:sldId id="418" r:id="rId35"/>
    <p:sldId id="419" r:id="rId36"/>
    <p:sldId id="420" r:id="rId37"/>
    <p:sldId id="421" r:id="rId38"/>
    <p:sldId id="422" r:id="rId39"/>
    <p:sldId id="423" r:id="rId40"/>
    <p:sldId id="424" r:id="rId41"/>
    <p:sldId id="425" r:id="rId42"/>
    <p:sldId id="426" r:id="rId43"/>
    <p:sldId id="427" r:id="rId44"/>
    <p:sldId id="428" r:id="rId45"/>
    <p:sldId id="429" r:id="rId46"/>
    <p:sldId id="430" r:id="rId47"/>
    <p:sldId id="431" r:id="rId48"/>
    <p:sldId id="432" r:id="rId49"/>
    <p:sldId id="433" r:id="rId50"/>
    <p:sldId id="434" r:id="rId51"/>
    <p:sldId id="435" r:id="rId52"/>
    <p:sldId id="436" r:id="rId53"/>
    <p:sldId id="437" r:id="rId54"/>
    <p:sldId id="438" r:id="rId55"/>
    <p:sldId id="439" r:id="rId56"/>
    <p:sldId id="440" r:id="rId57"/>
    <p:sldId id="441" r:id="rId58"/>
    <p:sldId id="442" r:id="rId59"/>
    <p:sldId id="443" r:id="rId60"/>
    <p:sldId id="444" r:id="rId61"/>
    <p:sldId id="445" r:id="rId62"/>
    <p:sldId id="446" r:id="rId63"/>
    <p:sldId id="450" r:id="rId64"/>
    <p:sldId id="448" r:id="rId65"/>
    <p:sldId id="452" r:id="rId66"/>
    <p:sldId id="453" r:id="rId67"/>
    <p:sldId id="454" r:id="rId68"/>
    <p:sldId id="451" r:id="rId69"/>
    <p:sldId id="458" r:id="rId70"/>
    <p:sldId id="457" r:id="rId71"/>
    <p:sldId id="456" r:id="rId72"/>
    <p:sldId id="455" r:id="rId73"/>
    <p:sldId id="459" r:id="rId74"/>
    <p:sldId id="460" r:id="rId75"/>
    <p:sldId id="461" r:id="rId76"/>
    <p:sldId id="462" r:id="rId77"/>
    <p:sldId id="463" r:id="rId7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70" d="100"/>
          <a:sy n="70" d="100"/>
        </p:scale>
        <p:origin x="-744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B7D76C-E7FF-4AE9-ADEE-EF7B37267BFF}" type="datetimeFigureOut">
              <a:rPr lang="en-US" smtClean="0"/>
              <a:t>02-Jun-21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09BC5-28EE-49A0-8A19-C327A5B85A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7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B4817-40C8-4DD2-8D80-7D7D195F839C}" type="datetime1">
              <a:rPr lang="en-US" smtClean="0"/>
              <a:t>02-Jun-21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071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D61C0-B644-4AA6-8C21-75A368A6C421}" type="datetime1">
              <a:rPr lang="en-US" smtClean="0"/>
              <a:t>02-Jun-21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4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5FFD9-B47D-495C-A79C-D2FD559F44A1}" type="datetime1">
              <a:rPr lang="en-US" smtClean="0"/>
              <a:t>02-Jun-21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53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1C95-F112-4718-A36F-4D254CA69C36}" type="datetime1">
              <a:rPr lang="en-US" smtClean="0"/>
              <a:t>02-Jun-21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62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DE888-7A3A-4427-9E77-11F79A3C426C}" type="datetime1">
              <a:rPr lang="en-US" smtClean="0"/>
              <a:t>02-Jun-21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48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7B95-B9F7-4814-A76E-E90C76FFB9A8}" type="datetime1">
              <a:rPr lang="en-US" smtClean="0"/>
              <a:t>02-Jun-21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9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4BDDE-DD5F-4429-B63F-693E6761B23B}" type="datetime1">
              <a:rPr lang="en-US" smtClean="0"/>
              <a:t>02-Jun-21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0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A29B3-1320-4541-8C4B-399020D66E92}" type="datetime1">
              <a:rPr lang="en-US" smtClean="0"/>
              <a:t>02-Jun-21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6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16A2B26-3C56-4F22-BA0A-27823D430CE6}" type="datetime1">
              <a:rPr lang="en-US" smtClean="0"/>
              <a:t>02-Jun-21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2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F081-CA01-4A79-B520-A6E5105053BA}" type="datetime1">
              <a:rPr lang="en-US" smtClean="0"/>
              <a:t>02-Jun-21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5B9A-CA93-4DFB-B420-7FF96A6694B9}" type="datetime1">
              <a:rPr lang="en-US" smtClean="0"/>
              <a:t>02-Jun-21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6B8251A-55FA-4CF9-8648-FF68C061B29A}" type="datetime1">
              <a:rPr lang="en-US" smtClean="0"/>
              <a:t>02-Jun-21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8B52F9D-109B-4FE1-A15C-71D504CF7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94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2530C7-A9D6-4E22-8C02-120A2D14B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Syntax Directed Translation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4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25" y="252176"/>
            <a:ext cx="11317095" cy="604488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Syntax Directed Translation  (SDT)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Used at third phase of Complier.  ( Semantic Analysis)</a:t>
            </a: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2 Notations of Syntax Direction Translation:</a:t>
            </a:r>
          </a:p>
          <a:p>
            <a:pPr marL="228600" lvl="1" indent="0">
              <a:buNone/>
            </a:pPr>
            <a:endParaRPr lang="en-US" sz="8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2" indent="-342900">
              <a:buFont typeface="+mj-lt"/>
              <a:buAutoNum type="arabicParenR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Syntax Directed Definition.(SDD)</a:t>
            </a:r>
          </a:p>
          <a:p>
            <a:pPr marL="457200" lvl="2" indent="0">
              <a:buNone/>
            </a:pPr>
            <a:endParaRPr lang="en-US" sz="100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Contains the actions that need to be performed.</a:t>
            </a:r>
          </a:p>
          <a:p>
            <a:pPr marL="800100" lvl="2" indent="-342900">
              <a:buFont typeface="+mj-lt"/>
              <a:buAutoNum type="arabicParenR"/>
            </a:pPr>
            <a:endParaRPr lang="en-US" sz="400" dirty="0" smtClean="0">
              <a:latin typeface="Times New Roman" pitchFamily="18" charset="0"/>
              <a:cs typeface="Times New Roman" pitchFamily="18" charset="0"/>
            </a:endParaRPr>
          </a:p>
          <a:p>
            <a:pPr marL="800100" lvl="2" indent="-342900">
              <a:buFont typeface="+mj-lt"/>
              <a:buAutoNum type="arabicParenR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Translation Schemes.  (TS)</a:t>
            </a:r>
          </a:p>
          <a:p>
            <a:pPr lvl="3">
              <a:buFont typeface="Wingdings" pitchFamily="2" charset="2"/>
              <a:buChar char="ü"/>
            </a:pPr>
            <a:endParaRPr lang="en-US" sz="300" dirty="0" smtClean="0">
              <a:latin typeface="Times New Roman" pitchFamily="18" charset="0"/>
              <a:cs typeface="Times New Roman" pitchFamily="18" charset="0"/>
            </a:endParaRPr>
          </a:p>
          <a:p>
            <a:pPr lvl="3">
              <a:buFont typeface="Wingdings" pitchFamily="2" charset="2"/>
              <a:buChar char="ü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Define the different schemes how the rules will be implemented or performed.</a:t>
            </a:r>
          </a:p>
          <a:p>
            <a:pPr marL="0" indent="0">
              <a:buNone/>
            </a:pPr>
            <a:endParaRPr lang="en-US" sz="105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Conceptual View of SDT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8515" y="5704762"/>
            <a:ext cx="76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55132" y="5723632"/>
            <a:ext cx="121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Parse Tree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64774" y="5730038"/>
            <a:ext cx="216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Dependency Graph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208532" y="5719593"/>
            <a:ext cx="2446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Evaluation order for SR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81464" y="5924218"/>
            <a:ext cx="1201003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642568" y="5910570"/>
            <a:ext cx="1201003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945384" y="5910570"/>
            <a:ext cx="1201003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43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Types of Attributes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Synthesized Attributes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Any grammar having all synthesized attributes than that grammar is known as  “S” attributed grammar.</a:t>
            </a:r>
          </a:p>
          <a:p>
            <a:pPr lvl="2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this type of grammar attributes are shifted from bottom to top.</a:t>
            </a:r>
          </a:p>
          <a:p>
            <a:pPr lvl="2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Inherited Attributes.</a:t>
            </a:r>
          </a:p>
          <a:p>
            <a:pPr lvl="2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An attribute is said to be Inherited attribute if its parse tree node value is determined by the attribute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value from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parent and/or siblings node.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2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(Synthesized Attribute)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903388" y="156495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5542" y="24543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9996" y="3564383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469990" y="351206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33478" y="45788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7471" y="56866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5425823" y="456977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8624950" y="23815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80783" y="338467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644241" y="3881730"/>
            <a:ext cx="24085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784053" y="3932873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544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903388" y="156495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5542" y="24543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9996" y="3564383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469990" y="351206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33478" y="45788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7471" y="56866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5425823" y="456977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8624950" y="23815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80783" y="338467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644241" y="3881730"/>
            <a:ext cx="24085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784053" y="3932873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73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903388" y="156495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5542" y="24543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9996" y="3564383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469990" y="351206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33478" y="45788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74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24950" y="23815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784053" y="3932873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93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903388" y="156495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25702" y="2454351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9996" y="3564383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427404" y="3512063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882525" y="4578879"/>
            <a:ext cx="190549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F=: </a:t>
            </a:r>
            <a:r>
              <a:rPr lang="en-US" b="1" dirty="0" err="1" smtClean="0"/>
              <a:t>digit.lexval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2162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24950" y="23815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835274" y="3932873"/>
            <a:ext cx="445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27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903388" y="156495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43921" y="2454351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8644" y="3564383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T1=: 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427404" y="3512063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882525" y="4578879"/>
            <a:ext cx="190549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F=: </a:t>
            </a:r>
            <a:r>
              <a:rPr lang="en-US" b="1" dirty="0" err="1" smtClean="0"/>
              <a:t>digit.lexval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2162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24950" y="23815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835274" y="3932873"/>
            <a:ext cx="445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0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903388" y="156495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1822" y="2454351"/>
            <a:ext cx="222859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= : T1.val *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8644" y="3564383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T1=: 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5427404" y="3512063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882525" y="4578879"/>
            <a:ext cx="190549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F=: </a:t>
            </a:r>
            <a:r>
              <a:rPr lang="en-US" b="1" dirty="0" err="1" smtClean="0"/>
              <a:t>digit.lexval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2162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24950" y="23815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835274" y="3932873"/>
            <a:ext cx="445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41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903388" y="156495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1822" y="2454351"/>
            <a:ext cx="222859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= : T1.val *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8644" y="3564383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T1=: 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4634866" y="3512063"/>
            <a:ext cx="202599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=: </a:t>
            </a:r>
            <a:r>
              <a:rPr lang="en-US" dirty="0" err="1" smtClean="0"/>
              <a:t>digit.lexval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882525" y="4578879"/>
            <a:ext cx="190549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F=: </a:t>
            </a:r>
            <a:r>
              <a:rPr lang="en-US" b="1" dirty="0" err="1" smtClean="0"/>
              <a:t>digit.lexval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2162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24950" y="23815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835274" y="3932873"/>
            <a:ext cx="445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16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494855" y="15649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 =: </a:t>
            </a:r>
            <a:r>
              <a:rPr lang="en-US" dirty="0" err="1" smtClean="0"/>
              <a:t>T.val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1822" y="2454351"/>
            <a:ext cx="222859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= : T1.val *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8644" y="3564383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T1=: 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4634866" y="3512063"/>
            <a:ext cx="202599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=: </a:t>
            </a:r>
            <a:r>
              <a:rPr lang="en-US" dirty="0" err="1" smtClean="0"/>
              <a:t>digit.lexval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882525" y="4578879"/>
            <a:ext cx="190549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F=: </a:t>
            </a:r>
            <a:r>
              <a:rPr lang="en-US" b="1" dirty="0" err="1" smtClean="0"/>
              <a:t>digit.lexval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2162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24950" y="238155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835274" y="3932873"/>
            <a:ext cx="445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41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494855" y="15649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 =: </a:t>
            </a:r>
            <a:r>
              <a:rPr lang="en-US" dirty="0" err="1" smtClean="0"/>
              <a:t>T.val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8056294" y="15535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1822" y="2454351"/>
            <a:ext cx="222859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= : T1.val *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8644" y="3564383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T1=: 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4634866" y="3512063"/>
            <a:ext cx="202599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=: </a:t>
            </a:r>
            <a:r>
              <a:rPr lang="en-US" dirty="0" err="1" smtClean="0"/>
              <a:t>digit.lexval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882525" y="4578879"/>
            <a:ext cx="190549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F=: </a:t>
            </a:r>
            <a:r>
              <a:rPr lang="en-US" b="1" dirty="0" err="1" smtClean="0"/>
              <a:t>digit.lexval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2162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938339" y="2381551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=: </a:t>
            </a:r>
            <a:r>
              <a:rPr lang="en-US" dirty="0" err="1" smtClean="0"/>
              <a:t>dig.lexval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653201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835274" y="3932873"/>
            <a:ext cx="445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419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6084166" y="79612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494855" y="15649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 =: </a:t>
            </a:r>
            <a:r>
              <a:rPr lang="en-US" dirty="0" err="1" smtClean="0"/>
              <a:t>T.val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7514980" y="155358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=: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3011822" y="2454351"/>
            <a:ext cx="222859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= : T1.val *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8644" y="3564383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T1=: 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4634866" y="3512063"/>
            <a:ext cx="202599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=: </a:t>
            </a:r>
            <a:r>
              <a:rPr lang="en-US" dirty="0" err="1" smtClean="0"/>
              <a:t>digit.lexval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882525" y="4578879"/>
            <a:ext cx="190549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F=: </a:t>
            </a:r>
            <a:r>
              <a:rPr lang="en-US" b="1" dirty="0" err="1" smtClean="0"/>
              <a:t>digit.lexval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2162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938339" y="2381551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=: </a:t>
            </a:r>
            <a:r>
              <a:rPr lang="en-US" dirty="0" err="1" smtClean="0"/>
              <a:t>dig.lexval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344302" y="1164617"/>
            <a:ext cx="1755785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111887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835274" y="3932873"/>
            <a:ext cx="445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53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5710" y="3797536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62534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8715937" y="771106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5120446" y="796127"/>
            <a:ext cx="222859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 =: E1.val + </a:t>
            </a:r>
            <a:r>
              <a:rPr lang="en-US" dirty="0" err="1" smtClean="0"/>
              <a:t>T.val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100086" y="143985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494855" y="15649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 =: </a:t>
            </a:r>
            <a:r>
              <a:rPr lang="en-US" dirty="0" err="1" smtClean="0"/>
              <a:t>T.val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7514980" y="155358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=: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3011822" y="2454351"/>
            <a:ext cx="222859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= : T1.val *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005110" y="343927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8644" y="3564383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T1=:  </a:t>
            </a:r>
            <a:r>
              <a:rPr lang="en-US" dirty="0" err="1" smtClean="0"/>
              <a:t>F.val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4634866" y="3512063"/>
            <a:ext cx="202599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=: </a:t>
            </a:r>
            <a:r>
              <a:rPr lang="en-US" dirty="0" err="1" smtClean="0"/>
              <a:t>digit.lexval</a:t>
            </a:r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1882525" y="4578879"/>
            <a:ext cx="190549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F=: </a:t>
            </a:r>
            <a:r>
              <a:rPr lang="en-US" b="1" dirty="0" err="1" smtClean="0"/>
              <a:t>digit.lexval</a:t>
            </a:r>
            <a:endParaRPr lang="en-US" b="1" dirty="0"/>
          </a:p>
        </p:txBody>
      </p:sp>
      <p:sp>
        <p:nvSpPr>
          <p:cNvPr id="29" name="Rectangle 28"/>
          <p:cNvSpPr/>
          <p:nvPr/>
        </p:nvSpPr>
        <p:spPr>
          <a:xfrm>
            <a:off x="2216271" y="5686639"/>
            <a:ext cx="120931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sz="1200" b="1" dirty="0"/>
          </a:p>
        </p:txBody>
      </p:sp>
      <p:sp>
        <p:nvSpPr>
          <p:cNvPr id="30" name="Rectangle 29"/>
          <p:cNvSpPr/>
          <p:nvPr/>
        </p:nvSpPr>
        <p:spPr>
          <a:xfrm>
            <a:off x="5344040" y="4548231"/>
            <a:ext cx="122053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bg1"/>
                </a:solidFill>
              </a:rPr>
              <a:t>Dig.</a:t>
            </a:r>
            <a:r>
              <a:rPr lang="en-US" sz="1200" b="1" dirty="0" err="1" smtClean="0">
                <a:solidFill>
                  <a:schemeClr val="bg1"/>
                </a:solidFill>
              </a:rPr>
              <a:t>lexval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938339" y="2381551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 =: </a:t>
            </a:r>
            <a:r>
              <a:rPr lang="en-US" dirty="0" err="1" smtClean="0"/>
              <a:t>dig.lexval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8303458" y="3384671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</a:t>
            </a:r>
            <a:r>
              <a:rPr lang="en-US" sz="1200" b="1" dirty="0" err="1" smtClean="0"/>
              <a:t>.lexval</a:t>
            </a:r>
            <a:endParaRPr lang="en-US" b="1" dirty="0"/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6401236" y="468572"/>
            <a:ext cx="1097777" cy="32755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" idx="2"/>
          </p:cNvCxnSpPr>
          <p:nvPr/>
        </p:nvCxnSpPr>
        <p:spPr>
          <a:xfrm>
            <a:off x="7513109" y="436729"/>
            <a:ext cx="1262416" cy="3343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634866" y="1164617"/>
            <a:ext cx="1465222" cy="40034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3093" y="1164617"/>
            <a:ext cx="1260591" cy="38896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21" idx="0"/>
          </p:cNvCxnSpPr>
          <p:nvPr/>
        </p:nvCxnSpPr>
        <p:spPr>
          <a:xfrm flipH="1">
            <a:off x="6250661" y="1182826"/>
            <a:ext cx="10027" cy="25702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23845" y="194948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4139765" y="2852529"/>
            <a:ext cx="23676" cy="54796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42476" y="2822857"/>
            <a:ext cx="962635" cy="74605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4276692" y="2852529"/>
            <a:ext cx="1193298" cy="68569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30" idx="0"/>
          </p:cNvCxnSpPr>
          <p:nvPr/>
        </p:nvCxnSpPr>
        <p:spPr>
          <a:xfrm>
            <a:off x="5562458" y="3860186"/>
            <a:ext cx="391849" cy="68804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28" idx="0"/>
          </p:cNvCxnSpPr>
          <p:nvPr/>
        </p:nvCxnSpPr>
        <p:spPr>
          <a:xfrm flipH="1">
            <a:off x="2835274" y="3932873"/>
            <a:ext cx="445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799973" y="4988361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8798928" y="2754488"/>
            <a:ext cx="24357" cy="646006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8222342" y="1912980"/>
            <a:ext cx="402608" cy="45948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014441" y="726749"/>
            <a:ext cx="1519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{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.val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1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3524581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874749"/>
              </p:ext>
            </p:extLst>
          </p:nvPr>
        </p:nvGraphicFramePr>
        <p:xfrm>
          <a:off x="122832" y="109181"/>
          <a:ext cx="511942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66"/>
                <a:gridCol w="35893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Semantic 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{</a:t>
                      </a:r>
                      <a:r>
                        <a:rPr lang="en-US" dirty="0" err="1" smtClean="0"/>
                        <a:t>E.val</a:t>
                      </a:r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E1 + 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  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T1 *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(E)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dig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22" y="477675"/>
            <a:ext cx="7724878" cy="506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81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3524581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010805"/>
              </p:ext>
            </p:extLst>
          </p:nvPr>
        </p:nvGraphicFramePr>
        <p:xfrm>
          <a:off x="122832" y="109181"/>
          <a:ext cx="511942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66"/>
                <a:gridCol w="35893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Semantic 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{</a:t>
                      </a:r>
                      <a:r>
                        <a:rPr lang="en-US" dirty="0" err="1" smtClean="0"/>
                        <a:t>E.val</a:t>
                      </a:r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E1 + 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E.Val</a:t>
                      </a:r>
                      <a:r>
                        <a:rPr lang="en-US" dirty="0" smtClean="0"/>
                        <a:t> :=</a:t>
                      </a:r>
                      <a:r>
                        <a:rPr lang="en-US" baseline="0" dirty="0" smtClean="0"/>
                        <a:t> E1.val + </a:t>
                      </a:r>
                      <a:r>
                        <a:rPr lang="en-US" baseline="0" dirty="0" err="1" smtClean="0"/>
                        <a:t>T.val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  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T1 *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(E)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dig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22" y="477675"/>
            <a:ext cx="7724878" cy="506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3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3524581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177032"/>
              </p:ext>
            </p:extLst>
          </p:nvPr>
        </p:nvGraphicFramePr>
        <p:xfrm>
          <a:off x="122832" y="109181"/>
          <a:ext cx="511942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66"/>
                <a:gridCol w="35893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Semantic 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{</a:t>
                      </a:r>
                      <a:r>
                        <a:rPr lang="en-US" dirty="0" err="1" smtClean="0"/>
                        <a:t>E.val</a:t>
                      </a:r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E1 + 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E.Val</a:t>
                      </a:r>
                      <a:r>
                        <a:rPr lang="en-US" dirty="0" smtClean="0"/>
                        <a:t> :=</a:t>
                      </a:r>
                      <a:r>
                        <a:rPr lang="en-US" baseline="0" dirty="0" smtClean="0"/>
                        <a:t> E1.val + </a:t>
                      </a:r>
                      <a:r>
                        <a:rPr lang="en-US" baseline="0" dirty="0" err="1" smtClean="0"/>
                        <a:t>T.val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  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E1:= </a:t>
                      </a:r>
                      <a:r>
                        <a:rPr lang="en-US" dirty="0" err="1" smtClean="0"/>
                        <a:t>T.val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T1 *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(E)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dig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22" y="477675"/>
            <a:ext cx="7724878" cy="506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9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3524581"/>
            <a:ext cx="151926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Input String</a:t>
            </a:r>
          </a:p>
          <a:p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 * 5 + 4n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553880"/>
              </p:ext>
            </p:extLst>
          </p:nvPr>
        </p:nvGraphicFramePr>
        <p:xfrm>
          <a:off x="122832" y="109181"/>
          <a:ext cx="511942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066"/>
                <a:gridCol w="358936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Semantic 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{</a:t>
                      </a:r>
                      <a:r>
                        <a:rPr lang="en-US" dirty="0" err="1" smtClean="0"/>
                        <a:t>E.val</a:t>
                      </a:r>
                      <a:r>
                        <a:rPr lang="en-US" dirty="0" smtClean="0"/>
                        <a:t>}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E1 + 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E.Val</a:t>
                      </a:r>
                      <a:r>
                        <a:rPr lang="en-US" dirty="0" smtClean="0"/>
                        <a:t> :=</a:t>
                      </a:r>
                      <a:r>
                        <a:rPr lang="en-US" baseline="0" dirty="0" smtClean="0"/>
                        <a:t> E1.val + </a:t>
                      </a:r>
                      <a:r>
                        <a:rPr lang="en-US" baseline="0" dirty="0" err="1" smtClean="0"/>
                        <a:t>T.val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smtClean="0">
                          <a:sym typeface="Wingdings" pitchFamily="2" charset="2"/>
                        </a:rPr>
                        <a:t>  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E1:= </a:t>
                      </a:r>
                      <a:r>
                        <a:rPr lang="en-US" dirty="0" err="1" smtClean="0"/>
                        <a:t>T.val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T1 *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T.Val</a:t>
                      </a:r>
                      <a:r>
                        <a:rPr lang="en-US" dirty="0" smtClean="0"/>
                        <a:t> := T1.val * </a:t>
                      </a:r>
                      <a:r>
                        <a:rPr lang="en-US" dirty="0" err="1" smtClean="0"/>
                        <a:t>F.val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T1 := </a:t>
                      </a:r>
                      <a:r>
                        <a:rPr lang="en-US" dirty="0" err="1" smtClean="0"/>
                        <a:t>F.val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(E)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F.Val</a:t>
                      </a:r>
                      <a:r>
                        <a:rPr lang="en-US" dirty="0" smtClean="0"/>
                        <a:t> := (</a:t>
                      </a:r>
                      <a:r>
                        <a:rPr lang="en-US" dirty="0" err="1" smtClean="0"/>
                        <a:t>E.val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  </a:t>
                      </a:r>
                      <a:r>
                        <a:rPr lang="en-US" dirty="0" smtClean="0">
                          <a:sym typeface="Wingdings" pitchFamily="2" charset="2"/>
                        </a:rPr>
                        <a:t>  dig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F:= </a:t>
                      </a:r>
                      <a:r>
                        <a:rPr lang="en-US" dirty="0" err="1" smtClean="0"/>
                        <a:t>dig.lexval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22" y="477675"/>
            <a:ext cx="7724878" cy="506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3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99510" y="315267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979423" y="6177967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993730" y="395567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177020" y="392837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057718" y="463575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7084998" y="53863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072914" y="5472382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178489" y="468079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91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36" grpId="0" animBg="1"/>
      <p:bldP spid="37" grpId="0" animBg="1"/>
      <p:bldP spid="38" grpId="0" animBg="1"/>
      <p:bldP spid="49" grpId="0" animBg="1"/>
      <p:bldP spid="50" grpId="0" animBg="1"/>
      <p:bldP spid="53" grpId="0" animBg="1"/>
      <p:bldP spid="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99510" y="315267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979423" y="6177967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993730" y="395567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177020" y="392837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057718" y="463575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7084998" y="53863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072914" y="5472382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178489" y="468079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240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99510" y="315267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993730" y="395567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177020" y="392837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057718" y="463575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7084998" y="53863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072914" y="5472382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178489" y="468079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3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99510" y="315267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993730" y="395567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177020" y="392837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057718" y="463575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072914" y="5472382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178489" y="468079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92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99510" y="315267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993730" y="395567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177020" y="392837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579303" y="46357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072914" y="5472382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178489" y="468079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62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99510" y="315267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544343" y="395567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E1.val :=2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177020" y="392837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579303" y="46357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072914" y="5472382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dig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178489" y="468079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3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99510" y="315267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544343" y="395567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E1.val :=2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177020" y="392837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579303" y="46357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554338" y="5472382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 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178489" y="468079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22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099510" y="315267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544343" y="395567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E1.val :=2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635706" y="3928377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579303" y="46357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554338" y="5472382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 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567986" y="4680798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2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092694" y="1535391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489007" y="3277106"/>
            <a:ext cx="1522157" cy="228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E.Val</a:t>
            </a:r>
            <a:r>
              <a:rPr lang="en-US" dirty="0" smtClean="0"/>
              <a:t> : =5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119974" y="228601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544343" y="395567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E1.val :=2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635706" y="3928377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579303" y="46357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554338" y="5472382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 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567986" y="4680798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72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76774" y="755183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551380" y="1535391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 5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489007" y="3277106"/>
            <a:ext cx="1522157" cy="228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E.Val</a:t>
            </a:r>
            <a:r>
              <a:rPr lang="en-US" dirty="0" smtClean="0"/>
              <a:t> : =5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641559" y="2286015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 := 5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544343" y="395567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E1.val :=2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635706" y="3928377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579303" y="46357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554338" y="5472382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 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567986" y="4680798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50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535460" y="75518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E.Val</a:t>
            </a:r>
            <a:r>
              <a:rPr lang="en-US" dirty="0" smtClean="0"/>
              <a:t> := 5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551380" y="1535391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 5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489007" y="3277106"/>
            <a:ext cx="1522157" cy="228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E.Val</a:t>
            </a:r>
            <a:r>
              <a:rPr lang="en-US" dirty="0" smtClean="0"/>
              <a:t> : =5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641559" y="2286015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 := 5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544343" y="395567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E1.val :=2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635706" y="3928377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579303" y="46357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554338" y="5472382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 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567986" y="4680798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35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1317"/>
            <a:ext cx="12192000" cy="5837216"/>
          </a:xfrm>
        </p:spPr>
        <p:txBody>
          <a:bodyPr>
            <a:normAutofit/>
          </a:bodyPr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Annotated Parse Tree (Decoration the Parse tree from S attributed Tree)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En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T1 *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F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 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  digit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(2 + 3)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40982" y="68239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34817" y="620978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535460" y="75518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E.Val</a:t>
            </a:r>
            <a:r>
              <a:rPr lang="en-US" dirty="0" smtClean="0"/>
              <a:t> := 5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551380" y="1535391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 5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489007" y="3277106"/>
            <a:ext cx="1522157" cy="228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E.Val</a:t>
            </a:r>
            <a:r>
              <a:rPr lang="en-US" dirty="0" smtClean="0"/>
              <a:t> : =5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546008" y="2847913"/>
            <a:ext cx="33126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(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615180" y="2902505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98387" y="6177967"/>
            <a:ext cx="1674373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7641559" y="2286015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 := 5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8425745" y="468572"/>
            <a:ext cx="451718" cy="28661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8891557" y="436729"/>
            <a:ext cx="631208" cy="1956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8243269" y="1131662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8247813" y="2659068"/>
            <a:ext cx="23676" cy="49815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861124" y="2676794"/>
            <a:ext cx="250637" cy="17003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439393" y="2623697"/>
            <a:ext cx="176575" cy="2975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7221925" y="5737439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8270549" y="1931486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101782" y="387828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6544343" y="3955673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E1.val :=2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635706" y="3928377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36437" y="3501217"/>
            <a:ext cx="23676" cy="3742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7239394" y="3534825"/>
            <a:ext cx="876039" cy="39804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399189" y="3509915"/>
            <a:ext cx="807972" cy="42295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6579303" y="4635759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T.val</a:t>
            </a:r>
            <a:r>
              <a:rPr lang="en-US" dirty="0" smtClean="0"/>
              <a:t> :=2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6606583" y="5386383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:=2</a:t>
            </a:r>
            <a:endParaRPr lang="en-US" dirty="0"/>
          </a:p>
        </p:txBody>
      </p:sp>
      <p:cxnSp>
        <p:nvCxnSpPr>
          <p:cNvPr id="51" name="Straight Arrow Connector 50"/>
          <p:cNvCxnSpPr/>
          <p:nvPr/>
        </p:nvCxnSpPr>
        <p:spPr>
          <a:xfrm flipH="1">
            <a:off x="7235573" y="5031854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7224197" y="4324430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554338" y="5472382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Dig.lexval</a:t>
            </a:r>
            <a:r>
              <a:rPr lang="en-US" dirty="0" smtClean="0"/>
              <a:t>:= 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9315416" y="50318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8567986" y="4680798"/>
            <a:ext cx="15221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F.val</a:t>
            </a:r>
            <a:r>
              <a:rPr lang="en-US" dirty="0" smtClean="0"/>
              <a:t> := 3</a:t>
            </a:r>
            <a:endParaRPr lang="en-US" dirty="0"/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9329064" y="4326269"/>
            <a:ext cx="5038" cy="3542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860617" y="562973"/>
            <a:ext cx="1519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{5}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48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25142" y="1150975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229925" y="216786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208597" y="320738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90173" y="421958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26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4" grpId="0" animBg="1"/>
      <p:bldP spid="18" grpId="0" animBg="1"/>
      <p:bldP spid="38" grpId="0" animBg="1"/>
      <p:bldP spid="73" grpId="0" animBg="1"/>
      <p:bldP spid="74" grpId="0" animBg="1"/>
      <p:bldP spid="75" grpId="0" animBg="1"/>
      <p:bldP spid="7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239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25142" y="1150975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207880" y="2167860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186552" y="3207380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68128" y="421958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67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239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25142" y="1150975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207880" y="2167860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186552" y="3207380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68128" y="421958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</p:spTree>
    <p:extLst>
      <p:ext uri="{BB962C8B-B14F-4D97-AF65-F5344CB8AC3E}">
        <p14:creationId xmlns:p14="http://schemas.microsoft.com/office/powerpoint/2010/main" val="199074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239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25142" y="1150975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207880" y="2167860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186552" y="3207380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68128" y="421958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</p:spTree>
    <p:extLst>
      <p:ext uri="{BB962C8B-B14F-4D97-AF65-F5344CB8AC3E}">
        <p14:creationId xmlns:p14="http://schemas.microsoft.com/office/powerpoint/2010/main" val="240870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61231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472326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7" y="1494444"/>
            <a:ext cx="240659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464646" y="3168614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484472" cy="2502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61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472326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464646" y="3168614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10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00894" y="2156390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</a:t>
            </a:r>
            <a:r>
              <a:rPr lang="en-US" dirty="0" err="1" smtClean="0"/>
              <a:t>int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464646" y="3168614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90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00894" y="2156390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</a:t>
            </a:r>
            <a:r>
              <a:rPr lang="en-US" dirty="0" err="1" smtClean="0"/>
              <a:t>int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056113" y="3168614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17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00894" y="2156390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</a:t>
            </a:r>
            <a:r>
              <a:rPr lang="en-US" dirty="0" err="1" smtClean="0"/>
              <a:t>int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056113" y="3168614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26835"/>
              </p:ext>
            </p:extLst>
          </p:nvPr>
        </p:nvGraphicFramePr>
        <p:xfrm>
          <a:off x="108482" y="758838"/>
          <a:ext cx="4837256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430"/>
                <a:gridCol w="3008826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D 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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</a:t>
                      </a:r>
                      <a:r>
                        <a:rPr lang="en-US" sz="2200" dirty="0" err="1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int</a:t>
                      </a:r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L1 ,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9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00894" y="2156390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</a:t>
            </a:r>
            <a:r>
              <a:rPr lang="en-US" dirty="0" err="1" smtClean="0"/>
              <a:t>int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056113" y="3168614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97158"/>
              </p:ext>
            </p:extLst>
          </p:nvPr>
        </p:nvGraphicFramePr>
        <p:xfrm>
          <a:off x="108482" y="717894"/>
          <a:ext cx="4837256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430"/>
                <a:gridCol w="3008826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D 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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L.in :=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T.type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</a:t>
                      </a:r>
                      <a:r>
                        <a:rPr lang="en-US" sz="2200" dirty="0" err="1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int</a:t>
                      </a:r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L1 ,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81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00894" y="2156390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</a:t>
            </a:r>
            <a:r>
              <a:rPr lang="en-US" dirty="0" err="1" smtClean="0"/>
              <a:t>int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056113" y="3168614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095209"/>
              </p:ext>
            </p:extLst>
          </p:nvPr>
        </p:nvGraphicFramePr>
        <p:xfrm>
          <a:off x="149426" y="649654"/>
          <a:ext cx="4837256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430"/>
                <a:gridCol w="3008826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D 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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L.in :=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T.type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</a:t>
                      </a:r>
                      <a:r>
                        <a:rPr lang="en-US" sz="2200" dirty="0" err="1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int</a:t>
                      </a:r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T.type</a:t>
                      </a:r>
                      <a:r>
                        <a:rPr lang="en-US" dirty="0" smtClean="0"/>
                        <a:t> := </a:t>
                      </a:r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L1 ,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97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00894" y="2156390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</a:t>
            </a:r>
            <a:r>
              <a:rPr lang="en-US" dirty="0" err="1" smtClean="0"/>
              <a:t>int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056113" y="3168614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18510"/>
              </p:ext>
            </p:extLst>
          </p:nvPr>
        </p:nvGraphicFramePr>
        <p:xfrm>
          <a:off x="149426" y="649654"/>
          <a:ext cx="4837256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430"/>
                <a:gridCol w="3008826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D 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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L.in :=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T.type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</a:t>
                      </a:r>
                      <a:r>
                        <a:rPr lang="en-US" sz="2200" dirty="0" err="1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int</a:t>
                      </a:r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T.type</a:t>
                      </a:r>
                      <a:r>
                        <a:rPr lang="en-US" dirty="0" smtClean="0"/>
                        <a:t> := </a:t>
                      </a:r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T.type</a:t>
                      </a:r>
                      <a:r>
                        <a:rPr lang="en-US" dirty="0" smtClean="0"/>
                        <a:t> := real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L1 ,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698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00894" y="2156390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</a:t>
            </a:r>
            <a:r>
              <a:rPr lang="en-US" dirty="0" err="1" smtClean="0"/>
              <a:t>int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056113" y="3168614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68491"/>
              </p:ext>
            </p:extLst>
          </p:nvPr>
        </p:nvGraphicFramePr>
        <p:xfrm>
          <a:off x="149426" y="649654"/>
          <a:ext cx="4837256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430"/>
                <a:gridCol w="3008826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D 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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L.in :=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T.type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</a:t>
                      </a:r>
                      <a:r>
                        <a:rPr lang="en-US" sz="2200" dirty="0" err="1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int</a:t>
                      </a:r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T.type</a:t>
                      </a:r>
                      <a:r>
                        <a:rPr lang="en-US" dirty="0" smtClean="0"/>
                        <a:t> := </a:t>
                      </a:r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T.type</a:t>
                      </a:r>
                      <a:r>
                        <a:rPr lang="en-US" dirty="0" smtClean="0"/>
                        <a:t> := real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L1 ,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L1.in := L.in</a:t>
                      </a:r>
                    </a:p>
                    <a:p>
                      <a:r>
                        <a:rPr lang="en-US" dirty="0" err="1" smtClean="0"/>
                        <a:t>addtype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id.entry,L.in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88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430"/>
            <a:ext cx="12192000" cy="583721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(Inherited Attributes)</a:t>
            </a: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endParaRPr lang="en-US" sz="1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id1, id2, id3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171618" y="1125954"/>
            <a:ext cx="114361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L.in 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665684" y="1150975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T.type</a:t>
            </a:r>
            <a:r>
              <a:rPr lang="en-US" dirty="0" smtClean="0"/>
              <a:t>:=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161503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833511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000894" y="2156390"/>
            <a:ext cx="1383779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</a:t>
            </a:r>
            <a:r>
              <a:rPr lang="en-US" dirty="0" err="1" smtClean="0"/>
              <a:t>int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402970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387141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094990" y="213143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id3</a:t>
            </a:r>
            <a:endParaRPr lang="en-US" dirty="0"/>
          </a:p>
        </p:txBody>
      </p:sp>
      <p:cxnSp>
        <p:nvCxnSpPr>
          <p:cNvPr id="54" name="Straight Arrow Connector 53"/>
          <p:cNvCxnSpPr>
            <a:stCxn id="6" idx="2"/>
            <a:endCxn id="14" idx="0"/>
          </p:cNvCxnSpPr>
          <p:nvPr/>
        </p:nvCxnSpPr>
        <p:spPr>
          <a:xfrm>
            <a:off x="8743428" y="1494444"/>
            <a:ext cx="240658" cy="5140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>
            <a:off x="7942193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731624" y="1519465"/>
            <a:ext cx="1363366" cy="61197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593815" y="3020742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056113" y="3168614"/>
            <a:ext cx="125798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L1.in :=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500456" y="3180084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id2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720033" y="2539678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934513" y="2533964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723944" y="2531689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454736" y="4192293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id1</a:t>
            </a:r>
            <a:endParaRPr lang="en-US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6717011" y="3537104"/>
            <a:ext cx="7524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41194" y="3891994"/>
            <a:ext cx="1746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Synthesized</a:t>
            </a:r>
          </a:p>
          <a:p>
            <a:r>
              <a:rPr lang="en-US" dirty="0" smtClean="0"/>
              <a:t>We can use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val</a:t>
            </a:r>
            <a:endParaRPr lang="en-US" dirty="0" smtClean="0"/>
          </a:p>
          <a:p>
            <a:r>
              <a:rPr lang="en-US" dirty="0" smtClean="0"/>
              <a:t>.type</a:t>
            </a:r>
          </a:p>
          <a:p>
            <a:r>
              <a:rPr lang="en-US" dirty="0" smtClean="0"/>
              <a:t>.</a:t>
            </a:r>
            <a:r>
              <a:rPr lang="en-US" dirty="0" err="1" smtClean="0"/>
              <a:t>syn</a:t>
            </a:r>
            <a:endParaRPr lang="en-US" dirty="0" smtClean="0"/>
          </a:p>
          <a:p>
            <a:r>
              <a:rPr lang="en-US" dirty="0" smtClean="0"/>
              <a:t>.</a:t>
            </a:r>
            <a:r>
              <a:rPr lang="en-US" dirty="0" err="1" smtClean="0"/>
              <a:t>lexval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527110" y="3898082"/>
            <a:ext cx="1746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Inherited</a:t>
            </a:r>
          </a:p>
          <a:p>
            <a:r>
              <a:rPr lang="en-US" dirty="0" smtClean="0"/>
              <a:t>We use</a:t>
            </a:r>
          </a:p>
          <a:p>
            <a:r>
              <a:rPr lang="en-US" dirty="0" smtClean="0"/>
              <a:t>.in</a:t>
            </a: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 flipV="1">
            <a:off x="7076759" y="1310199"/>
            <a:ext cx="1094859" cy="250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173026"/>
              </p:ext>
            </p:extLst>
          </p:nvPr>
        </p:nvGraphicFramePr>
        <p:xfrm>
          <a:off x="149426" y="540470"/>
          <a:ext cx="483725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430"/>
                <a:gridCol w="3008826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Productions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Rules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D  </a:t>
                      </a: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 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L.</a:t>
                      </a:r>
                    </a:p>
                    <a:p>
                      <a:r>
                        <a:rPr lang="en-US" dirty="0" smtClean="0"/>
                        <a:t>in :=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T.type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</a:t>
                      </a:r>
                      <a:r>
                        <a:rPr lang="en-US" sz="2200" dirty="0" err="1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int</a:t>
                      </a:r>
                      <a:endParaRPr lang="en-US" sz="2200" dirty="0" smtClean="0">
                        <a:latin typeface="Times New Roman" pitchFamily="18" charset="0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T.type</a:t>
                      </a:r>
                      <a:r>
                        <a:rPr lang="en-US" dirty="0" smtClean="0"/>
                        <a:t> := </a:t>
                      </a:r>
                      <a:r>
                        <a:rPr lang="en-US" dirty="0" err="1" smtClean="0"/>
                        <a:t>int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T   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T.type</a:t>
                      </a:r>
                      <a:r>
                        <a:rPr lang="en-US" dirty="0" smtClean="0"/>
                        <a:t> := real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L1 ,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L1.in := L.in</a:t>
                      </a:r>
                    </a:p>
                    <a:p>
                      <a:r>
                        <a:rPr lang="en-US" dirty="0" err="1" smtClean="0"/>
                        <a:t>addtype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id.entry,L.in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Times New Roman" pitchFamily="18" charset="0"/>
                          <a:cs typeface="Times New Roman" pitchFamily="18" charset="0"/>
                          <a:sym typeface="Wingdings" pitchFamily="2" charset="2"/>
                        </a:rPr>
                        <a:t>L  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addtype</a:t>
                      </a:r>
                      <a:r>
                        <a:rPr lang="en-US" dirty="0" smtClean="0"/>
                        <a:t>(id.entry,L1.in)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68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25142" y="1150975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229925" y="216786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8208597" y="320738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90173" y="4219589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53147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35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4" grpId="0" animBg="1"/>
      <p:bldP spid="18" grpId="0" animBg="1"/>
      <p:bldP spid="38" grpId="0" animBg="1"/>
      <p:bldP spid="73" grpId="0" animBg="1"/>
      <p:bldP spid="74" grpId="0" animBg="1"/>
      <p:bldP spid="75" grpId="0" animBg="1"/>
      <p:bldP spid="79" grpId="0" animBg="1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25142" y="1150975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0956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53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25142" y="1150975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095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70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925142" y="1150975"/>
            <a:ext cx="400831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0956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52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49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0956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6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220284" y="1125954"/>
            <a:ext cx="364392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0956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58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0956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82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0956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33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0956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44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7172070" y="215639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13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6872700" y="215639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(7)  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28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6872700" y="215639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(7)  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7:=n5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308836" y="152745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40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6872700" y="215639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(7)  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7:=n5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308836" y="152745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590345" y="2797865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(n2, n7)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endCxn id="33" idx="1"/>
          </p:cNvCxnSpPr>
          <p:nvPr/>
        </p:nvCxnSpPr>
        <p:spPr>
          <a:xfrm>
            <a:off x="7912354" y="2515124"/>
            <a:ext cx="1677991" cy="51929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864084" y="3350893"/>
            <a:ext cx="731682" cy="8161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70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6872700" y="215639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(7)  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6150742" y="3195910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7:=n5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n8:=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(n2,n7)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308836" y="152745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590345" y="2797865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(n2, n7)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endCxn id="33" idx="1"/>
          </p:cNvCxnSpPr>
          <p:nvPr/>
        </p:nvCxnSpPr>
        <p:spPr>
          <a:xfrm>
            <a:off x="7912354" y="2515124"/>
            <a:ext cx="1677991" cy="51929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858663" y="3310088"/>
            <a:ext cx="731682" cy="8161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36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59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6872700" y="215639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(7)  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5941590" y="319591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(9)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7:=n5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n8:=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(n2,n7)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308836" y="152745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590345" y="2797865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(n2, n7)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endCxn id="33" idx="1"/>
          </p:cNvCxnSpPr>
          <p:nvPr/>
        </p:nvCxnSpPr>
        <p:spPr>
          <a:xfrm>
            <a:off x="7912354" y="2515124"/>
            <a:ext cx="1677991" cy="51929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858663" y="3310088"/>
            <a:ext cx="731682" cy="8161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14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6872700" y="215639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(7)  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5941590" y="319591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(9)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997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7:=n5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n8:=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(n2,n7)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n9:=n7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308836" y="152745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590345" y="2797865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(n2, n7)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endCxn id="33" idx="1"/>
          </p:cNvCxnSpPr>
          <p:nvPr/>
        </p:nvCxnSpPr>
        <p:spPr>
          <a:xfrm>
            <a:off x="7912354" y="2515124"/>
            <a:ext cx="1677991" cy="51929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858663" y="3310088"/>
            <a:ext cx="731682" cy="8161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193686" y="256697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56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6872700" y="215639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(7)  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Depandancy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5941590" y="319591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(9)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40913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7:=n5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n8:=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(n2,n7)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n9:=n7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308836" y="152745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590345" y="2797865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(n2, n7)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endCxn id="33" idx="1"/>
          </p:cNvCxnSpPr>
          <p:nvPr/>
        </p:nvCxnSpPr>
        <p:spPr>
          <a:xfrm>
            <a:off x="7912354" y="2515124"/>
            <a:ext cx="1677991" cy="51929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858663" y="3310088"/>
            <a:ext cx="731682" cy="8161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193686" y="256697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934971" y="3983034"/>
            <a:ext cx="2035238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n10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(n1, n9)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740995" y="3570951"/>
            <a:ext cx="1171359" cy="41208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6864531" y="4374532"/>
            <a:ext cx="1047823" cy="8161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2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007686" y="218367"/>
            <a:ext cx="30115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047432" y="1125954"/>
            <a:ext cx="71009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  (5)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735004" y="1150975"/>
            <a:ext cx="78110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  (4)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915839" y="1924377"/>
            <a:ext cx="44091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01239" y="200851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6872700" y="215639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(7)   </a:t>
            </a:r>
            <a:endParaRPr lang="en-US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6356753" y="605052"/>
            <a:ext cx="787414" cy="545923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2"/>
          </p:cNvCxnSpPr>
          <p:nvPr/>
        </p:nvCxnSpPr>
        <p:spPr>
          <a:xfrm>
            <a:off x="7158261" y="586857"/>
            <a:ext cx="1062023" cy="56411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141477" y="1527454"/>
            <a:ext cx="10027" cy="41394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930555" y="2167860"/>
            <a:ext cx="1039654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8427457" y="152745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Dependency Graph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real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L1 ,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a, b,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 flipH="1">
            <a:off x="7641937" y="152174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8431368" y="151946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279911" y="3048038"/>
            <a:ext cx="301150" cy="4458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,</a:t>
            </a:r>
            <a:endParaRPr lang="en-US" sz="2400" dirty="0"/>
          </a:p>
        </p:txBody>
      </p:sp>
      <p:sp>
        <p:nvSpPr>
          <p:cNvPr id="74" name="Rectangle 73"/>
          <p:cNvSpPr/>
          <p:nvPr/>
        </p:nvSpPr>
        <p:spPr>
          <a:xfrm>
            <a:off x="5941590" y="319591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L1  (9)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7999445" y="3207380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(2)</a:t>
            </a:r>
            <a:endParaRPr lang="en-US" dirty="0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7406129" y="2566974"/>
            <a:ext cx="24357" cy="48535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620609" y="2561260"/>
            <a:ext cx="787414" cy="64612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7410040" y="2558985"/>
            <a:ext cx="798557" cy="63692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938060" y="4219589"/>
            <a:ext cx="945140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  (1)</a:t>
            </a:r>
            <a:endParaRPr lang="en-US" dirty="0"/>
          </a:p>
        </p:txBody>
      </p:sp>
      <p:cxnSp>
        <p:nvCxnSpPr>
          <p:cNvPr id="80" name="Straight Arrow Connector 79"/>
          <p:cNvCxnSpPr>
            <a:endCxn id="79" idx="0"/>
          </p:cNvCxnSpPr>
          <p:nvPr/>
        </p:nvCxnSpPr>
        <p:spPr>
          <a:xfrm>
            <a:off x="6403107" y="3564400"/>
            <a:ext cx="7523" cy="6551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7265" y="5425274"/>
            <a:ext cx="7451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Starting  from bottom to assign first id’s and than to non-terminals sequence number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139" y="3310088"/>
            <a:ext cx="236157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1:= a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2:= 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3:= c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4:=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5:= n4.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(n3,n5)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7:=n5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n8:=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(n2,n7)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n9:=n7</a:t>
            </a:r>
          </a:p>
          <a:p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n10:=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(n1,n9)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endCxn id="6" idx="1"/>
          </p:cNvCxnSpPr>
          <p:nvPr/>
        </p:nvCxnSpPr>
        <p:spPr>
          <a:xfrm>
            <a:off x="6519038" y="1310199"/>
            <a:ext cx="1528394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888321" y="1336378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(n3, n5)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0" name="Straight Arrow Connector 29"/>
          <p:cNvCxnSpPr>
            <a:endCxn id="3" idx="1"/>
          </p:cNvCxnSpPr>
          <p:nvPr/>
        </p:nvCxnSpPr>
        <p:spPr>
          <a:xfrm>
            <a:off x="8757529" y="1336378"/>
            <a:ext cx="1130792" cy="2365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970209" y="1844800"/>
            <a:ext cx="265612" cy="31159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7308836" y="152745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590345" y="2797865"/>
            <a:ext cx="1847384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(n2, n7)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endCxn id="33" idx="1"/>
          </p:cNvCxnSpPr>
          <p:nvPr/>
        </p:nvCxnSpPr>
        <p:spPr>
          <a:xfrm>
            <a:off x="7912354" y="2515124"/>
            <a:ext cx="1677991" cy="51929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858663" y="3310088"/>
            <a:ext cx="731682" cy="8161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193686" y="2566974"/>
            <a:ext cx="758375" cy="58116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934971" y="3983034"/>
            <a:ext cx="2035238" cy="4731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n10  </a:t>
            </a:r>
            <a:r>
              <a:rPr lang="en-US" sz="16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addtype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(n1, n9) 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740995" y="3570951"/>
            <a:ext cx="1171359" cy="41208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6864531" y="4374532"/>
            <a:ext cx="1047823" cy="8161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54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63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522162" y="739255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3420968" y="345212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76" name="Rectangle 75"/>
          <p:cNvSpPr/>
          <p:nvPr/>
        </p:nvSpPr>
        <p:spPr>
          <a:xfrm>
            <a:off x="4987688" y="298670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84" name="Straight Arrow Connector 83"/>
          <p:cNvCxnSpPr/>
          <p:nvPr/>
        </p:nvCxnSpPr>
        <p:spPr>
          <a:xfrm flipH="1">
            <a:off x="5200885" y="2263665"/>
            <a:ext cx="24357" cy="66416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74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8" grpId="0" animBg="1"/>
      <p:bldP spid="75" grpId="0" animBg="1"/>
      <p:bldP spid="7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64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44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65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25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66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64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67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04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68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210906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41" idx="0"/>
          </p:cNvCxnSpPr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5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69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04681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638587"/>
              </p:ext>
            </p:extLst>
          </p:nvPr>
        </p:nvGraphicFramePr>
        <p:xfrm>
          <a:off x="8131300" y="464291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91"/>
                <a:gridCol w="312530"/>
                <a:gridCol w="2797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9550" y="4978537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4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35309" y="3748215"/>
            <a:ext cx="735485" cy="84724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73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70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432071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092497"/>
              </p:ext>
            </p:extLst>
          </p:nvPr>
        </p:nvGraphicFramePr>
        <p:xfrm>
          <a:off x="8131300" y="464291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91"/>
                <a:gridCol w="312530"/>
                <a:gridCol w="2797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588109"/>
              </p:ext>
            </p:extLst>
          </p:nvPr>
        </p:nvGraphicFramePr>
        <p:xfrm>
          <a:off x="10777739" y="310997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9550" y="4978537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4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91387" y="3466262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c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35309" y="3748215"/>
            <a:ext cx="735485" cy="84724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0579512" y="2221507"/>
            <a:ext cx="652595" cy="86947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28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71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447482"/>
              </p:ext>
            </p:extLst>
          </p:nvPr>
        </p:nvGraphicFramePr>
        <p:xfrm>
          <a:off x="5512280" y="3618356"/>
          <a:ext cx="131170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497829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037332"/>
              </p:ext>
            </p:extLst>
          </p:nvPr>
        </p:nvGraphicFramePr>
        <p:xfrm>
          <a:off x="8131300" y="464291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91"/>
                <a:gridCol w="312530"/>
                <a:gridCol w="2797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3256"/>
              </p:ext>
            </p:extLst>
          </p:nvPr>
        </p:nvGraphicFramePr>
        <p:xfrm>
          <a:off x="10777739" y="310997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9550" y="4978537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4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91387" y="3466262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c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458435" y="2241631"/>
            <a:ext cx="423750" cy="139390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35309" y="3748215"/>
            <a:ext cx="735485" cy="84724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0579512" y="2221507"/>
            <a:ext cx="652595" cy="86947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5243838" y="3851573"/>
            <a:ext cx="908449" cy="162985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6569195" y="3869971"/>
            <a:ext cx="1683308" cy="800867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48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72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931324"/>
              </p:ext>
            </p:extLst>
          </p:nvPr>
        </p:nvGraphicFramePr>
        <p:xfrm>
          <a:off x="8127606" y="2187745"/>
          <a:ext cx="131170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881379"/>
              </p:ext>
            </p:extLst>
          </p:nvPr>
        </p:nvGraphicFramePr>
        <p:xfrm>
          <a:off x="5512280" y="3618356"/>
          <a:ext cx="131170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37167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35842"/>
              </p:ext>
            </p:extLst>
          </p:nvPr>
        </p:nvGraphicFramePr>
        <p:xfrm>
          <a:off x="8131300" y="464291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91"/>
                <a:gridCol w="312530"/>
                <a:gridCol w="2797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679312"/>
              </p:ext>
            </p:extLst>
          </p:nvPr>
        </p:nvGraphicFramePr>
        <p:xfrm>
          <a:off x="10777739" y="310997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9550" y="4978537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4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91387" y="3466262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c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934212" y="728194"/>
            <a:ext cx="636582" cy="1479660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458435" y="2241631"/>
            <a:ext cx="423750" cy="139390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35309" y="3748215"/>
            <a:ext cx="735485" cy="84724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0579512" y="2221507"/>
            <a:ext cx="652595" cy="86947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5243838" y="3851573"/>
            <a:ext cx="908449" cy="162985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6569195" y="3869971"/>
            <a:ext cx="1683308" cy="800867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6569195" y="2428857"/>
            <a:ext cx="2214262" cy="118382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172353" y="2428857"/>
            <a:ext cx="1605386" cy="662128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3899" y="4595464"/>
            <a:ext cx="193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 = </a:t>
            </a:r>
            <a:r>
              <a:rPr lang="en-US" dirty="0" err="1" smtClean="0"/>
              <a:t>mkleaf</a:t>
            </a:r>
            <a:r>
              <a:rPr lang="en-US" dirty="0" smtClean="0"/>
              <a:t>(</a:t>
            </a:r>
            <a:r>
              <a:rPr lang="en-US" dirty="0" err="1" smtClean="0"/>
              <a:t>id,a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99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73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09356"/>
              </p:ext>
            </p:extLst>
          </p:nvPr>
        </p:nvGraphicFramePr>
        <p:xfrm>
          <a:off x="8127606" y="2187745"/>
          <a:ext cx="131170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144494"/>
              </p:ext>
            </p:extLst>
          </p:nvPr>
        </p:nvGraphicFramePr>
        <p:xfrm>
          <a:off x="5512280" y="3618356"/>
          <a:ext cx="131170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111449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45362"/>
              </p:ext>
            </p:extLst>
          </p:nvPr>
        </p:nvGraphicFramePr>
        <p:xfrm>
          <a:off x="8131300" y="464291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91"/>
                <a:gridCol w="312530"/>
                <a:gridCol w="2797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653660"/>
              </p:ext>
            </p:extLst>
          </p:nvPr>
        </p:nvGraphicFramePr>
        <p:xfrm>
          <a:off x="10777739" y="310997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9550" y="4978537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4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91387" y="3466262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c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934212" y="728194"/>
            <a:ext cx="636582" cy="1479660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458435" y="2241631"/>
            <a:ext cx="423750" cy="139390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35309" y="3748215"/>
            <a:ext cx="735485" cy="84724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0579512" y="2221507"/>
            <a:ext cx="652595" cy="86947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5243838" y="3851573"/>
            <a:ext cx="908449" cy="162985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6569195" y="3869971"/>
            <a:ext cx="1683308" cy="800867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6569195" y="2428857"/>
            <a:ext cx="2214262" cy="118382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172353" y="2428857"/>
            <a:ext cx="1605386" cy="662128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3899" y="4595464"/>
            <a:ext cx="2374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 = </a:t>
            </a:r>
            <a:r>
              <a:rPr lang="en-US" dirty="0" err="1" smtClean="0"/>
              <a:t>mkleaf</a:t>
            </a:r>
            <a:r>
              <a:rPr lang="en-US" dirty="0" smtClean="0"/>
              <a:t>(</a:t>
            </a:r>
            <a:r>
              <a:rPr lang="en-US" dirty="0" err="1" smtClean="0"/>
              <a:t>id,a</a:t>
            </a:r>
            <a:r>
              <a:rPr lang="en-US" dirty="0" smtClean="0"/>
              <a:t>)</a:t>
            </a:r>
          </a:p>
          <a:p>
            <a:r>
              <a:rPr lang="en-US" dirty="0" smtClean="0"/>
              <a:t>P2 = </a:t>
            </a:r>
            <a:r>
              <a:rPr lang="en-US" dirty="0" err="1" smtClean="0"/>
              <a:t>mkleaf</a:t>
            </a:r>
            <a:r>
              <a:rPr lang="en-US" dirty="0" smtClean="0"/>
              <a:t>(num,4)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01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74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730655"/>
              </p:ext>
            </p:extLst>
          </p:nvPr>
        </p:nvGraphicFramePr>
        <p:xfrm>
          <a:off x="8127606" y="2187745"/>
          <a:ext cx="131170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783693"/>
              </p:ext>
            </p:extLst>
          </p:nvPr>
        </p:nvGraphicFramePr>
        <p:xfrm>
          <a:off x="5512280" y="3618356"/>
          <a:ext cx="131170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657866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480148"/>
              </p:ext>
            </p:extLst>
          </p:nvPr>
        </p:nvGraphicFramePr>
        <p:xfrm>
          <a:off x="8131300" y="464291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91"/>
                <a:gridCol w="312530"/>
                <a:gridCol w="2797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3813"/>
              </p:ext>
            </p:extLst>
          </p:nvPr>
        </p:nvGraphicFramePr>
        <p:xfrm>
          <a:off x="10777739" y="310997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9550" y="4978537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4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91387" y="3466262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c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934212" y="728194"/>
            <a:ext cx="636582" cy="1479660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458435" y="2241631"/>
            <a:ext cx="423750" cy="139390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35309" y="3748215"/>
            <a:ext cx="735485" cy="84724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0579512" y="2221507"/>
            <a:ext cx="652595" cy="86947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5243838" y="3851573"/>
            <a:ext cx="908449" cy="162985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6569195" y="3869971"/>
            <a:ext cx="1683308" cy="800867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6569195" y="2428857"/>
            <a:ext cx="2214262" cy="118382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172353" y="2428857"/>
            <a:ext cx="1605386" cy="662128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3899" y="4595464"/>
            <a:ext cx="2374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 = </a:t>
            </a:r>
            <a:r>
              <a:rPr lang="en-US" dirty="0" err="1" smtClean="0"/>
              <a:t>mkleaf</a:t>
            </a:r>
            <a:r>
              <a:rPr lang="en-US" dirty="0" smtClean="0"/>
              <a:t>(</a:t>
            </a:r>
            <a:r>
              <a:rPr lang="en-US" dirty="0" err="1" smtClean="0"/>
              <a:t>id,a</a:t>
            </a:r>
            <a:r>
              <a:rPr lang="en-US" dirty="0" smtClean="0"/>
              <a:t>)</a:t>
            </a:r>
          </a:p>
          <a:p>
            <a:r>
              <a:rPr lang="en-US" dirty="0" smtClean="0"/>
              <a:t>P2 = </a:t>
            </a:r>
            <a:r>
              <a:rPr lang="en-US" dirty="0" err="1" smtClean="0"/>
              <a:t>mkleaf</a:t>
            </a:r>
            <a:r>
              <a:rPr lang="en-US" dirty="0" smtClean="0"/>
              <a:t>(num,4)</a:t>
            </a:r>
          </a:p>
          <a:p>
            <a:r>
              <a:rPr lang="en-US" dirty="0" smtClean="0"/>
              <a:t>P3 = </a:t>
            </a:r>
            <a:r>
              <a:rPr lang="en-US" dirty="0" err="1" smtClean="0"/>
              <a:t>mkleaf</a:t>
            </a:r>
            <a:r>
              <a:rPr lang="en-US" dirty="0" smtClean="0"/>
              <a:t>(</a:t>
            </a:r>
            <a:r>
              <a:rPr lang="en-US" dirty="0" err="1" smtClean="0"/>
              <a:t>id,c</a:t>
            </a:r>
            <a:r>
              <a:rPr lang="en-US" dirty="0" smtClean="0"/>
              <a:t>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873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75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170410"/>
              </p:ext>
            </p:extLst>
          </p:nvPr>
        </p:nvGraphicFramePr>
        <p:xfrm>
          <a:off x="8127606" y="2187745"/>
          <a:ext cx="131170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958254"/>
              </p:ext>
            </p:extLst>
          </p:nvPr>
        </p:nvGraphicFramePr>
        <p:xfrm>
          <a:off x="5512280" y="3618356"/>
          <a:ext cx="131170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50292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602747"/>
              </p:ext>
            </p:extLst>
          </p:nvPr>
        </p:nvGraphicFramePr>
        <p:xfrm>
          <a:off x="8131300" y="464291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91"/>
                <a:gridCol w="312530"/>
                <a:gridCol w="2797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96480"/>
              </p:ext>
            </p:extLst>
          </p:nvPr>
        </p:nvGraphicFramePr>
        <p:xfrm>
          <a:off x="10777739" y="310997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9550" y="4978537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4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91387" y="3466262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c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934212" y="728194"/>
            <a:ext cx="636582" cy="1479660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458435" y="2241631"/>
            <a:ext cx="423750" cy="139390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35309" y="3748215"/>
            <a:ext cx="735485" cy="84724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0579512" y="2221507"/>
            <a:ext cx="652595" cy="86947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5243838" y="3851573"/>
            <a:ext cx="908449" cy="162985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6569195" y="3869971"/>
            <a:ext cx="1683308" cy="800867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6569195" y="2428857"/>
            <a:ext cx="2214262" cy="118382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172353" y="2428857"/>
            <a:ext cx="1605386" cy="662128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3899" y="4595464"/>
            <a:ext cx="2374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 = </a:t>
            </a:r>
            <a:r>
              <a:rPr lang="en-US" dirty="0" err="1" smtClean="0"/>
              <a:t>mkleaf</a:t>
            </a:r>
            <a:r>
              <a:rPr lang="en-US" dirty="0" smtClean="0"/>
              <a:t>(</a:t>
            </a:r>
            <a:r>
              <a:rPr lang="en-US" dirty="0" err="1" smtClean="0"/>
              <a:t>id,a</a:t>
            </a:r>
            <a:r>
              <a:rPr lang="en-US" dirty="0" smtClean="0"/>
              <a:t>)</a:t>
            </a:r>
          </a:p>
          <a:p>
            <a:r>
              <a:rPr lang="en-US" dirty="0" smtClean="0"/>
              <a:t>P2 = </a:t>
            </a:r>
            <a:r>
              <a:rPr lang="en-US" dirty="0" err="1" smtClean="0"/>
              <a:t>mkleaf</a:t>
            </a:r>
            <a:r>
              <a:rPr lang="en-US" dirty="0" smtClean="0"/>
              <a:t>(num,4)</a:t>
            </a:r>
          </a:p>
          <a:p>
            <a:r>
              <a:rPr lang="en-US" dirty="0" smtClean="0"/>
              <a:t>P3 = </a:t>
            </a:r>
            <a:r>
              <a:rPr lang="en-US" dirty="0" err="1" smtClean="0"/>
              <a:t>mkleaf</a:t>
            </a:r>
            <a:r>
              <a:rPr lang="en-US" dirty="0" smtClean="0"/>
              <a:t>(</a:t>
            </a:r>
            <a:r>
              <a:rPr lang="en-US" dirty="0" err="1" smtClean="0"/>
              <a:t>id,c</a:t>
            </a:r>
            <a:r>
              <a:rPr lang="en-US" dirty="0" smtClean="0"/>
              <a:t>)</a:t>
            </a:r>
          </a:p>
          <a:p>
            <a:r>
              <a:rPr lang="en-US" dirty="0" smtClean="0"/>
              <a:t>P4 = </a:t>
            </a:r>
            <a:r>
              <a:rPr lang="en-US" dirty="0" err="1" smtClean="0"/>
              <a:t>mknode</a:t>
            </a:r>
            <a:r>
              <a:rPr lang="en-US" dirty="0" smtClean="0"/>
              <a:t>(-,P1,P2)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51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76</a:t>
            </a:fld>
            <a:endParaRPr lang="en-US"/>
          </a:p>
        </p:txBody>
      </p:sp>
      <p:sp>
        <p:nvSpPr>
          <p:cNvPr id="42" name="Content Placeholder 2"/>
          <p:cNvSpPr txBox="1">
            <a:spLocks/>
          </p:cNvSpPr>
          <p:nvPr/>
        </p:nvSpPr>
        <p:spPr>
          <a:xfrm>
            <a:off x="-1" y="68239"/>
            <a:ext cx="12192000" cy="5837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Construction of Syntax Tree 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known as Directed Acyclic Graph (DAG)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E1 +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E1 –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   T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 (E)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  id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 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num</a:t>
            </a:r>
            <a:endParaRPr lang="en-US" sz="22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Input String is   a -4 + 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Slide Number Placeholder 3"/>
          <p:cNvSpPr txBox="1">
            <a:spLocks/>
          </p:cNvSpPr>
          <p:nvPr/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B52F9D-109B-4FE1-A15C-71D504CF7A83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074994" y="359704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E.nptr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4786324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3556926" y="5481429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369820" y="3428438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E1.nptr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085703" y="3392602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9918521" y="1857477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3369820" y="4566925"/>
            <a:ext cx="859218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T.nptr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0014007" y="3109976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</a:t>
            </a:r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7248452" y="4670838"/>
            <a:ext cx="586857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num</a:t>
            </a:r>
            <a:endParaRPr lang="en-US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873739"/>
              </p:ext>
            </p:extLst>
          </p:nvPr>
        </p:nvGraphicFramePr>
        <p:xfrm>
          <a:off x="8127606" y="2187745"/>
          <a:ext cx="131170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899490"/>
              </p:ext>
            </p:extLst>
          </p:nvPr>
        </p:nvGraphicFramePr>
        <p:xfrm>
          <a:off x="5512280" y="3618356"/>
          <a:ext cx="131170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640590"/>
              </p:ext>
            </p:extLst>
          </p:nvPr>
        </p:nvGraphicFramePr>
        <p:xfrm>
          <a:off x="4333840" y="551242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893297"/>
              </p:ext>
            </p:extLst>
          </p:nvPr>
        </p:nvGraphicFramePr>
        <p:xfrm>
          <a:off x="8131300" y="464291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391"/>
                <a:gridCol w="312530"/>
                <a:gridCol w="27978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924012"/>
              </p:ext>
            </p:extLst>
          </p:nvPr>
        </p:nvGraphicFramePr>
        <p:xfrm>
          <a:off x="10777739" y="3109976"/>
          <a:ext cx="13117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4"/>
                <a:gridCol w="437234"/>
                <a:gridCol w="43723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4347003" y="5849919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a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9550" y="4978537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4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91387" y="3466262"/>
            <a:ext cx="12528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Entry for c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248452" y="1450765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+</a:t>
            </a:r>
            <a:endParaRPr lang="en-US" dirty="0"/>
          </a:p>
        </p:txBody>
      </p:sp>
      <p:cxnSp>
        <p:nvCxnSpPr>
          <p:cNvPr id="49" name="Straight Arrow Connector 48"/>
          <p:cNvCxnSpPr/>
          <p:nvPr/>
        </p:nvCxnSpPr>
        <p:spPr>
          <a:xfrm flipH="1">
            <a:off x="7490955" y="7301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645542" y="755178"/>
            <a:ext cx="1847307" cy="106407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7494866" y="752903"/>
            <a:ext cx="2577182" cy="106635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36" idx="0"/>
          </p:cNvCxnSpPr>
          <p:nvPr/>
        </p:nvCxnSpPr>
        <p:spPr>
          <a:xfrm flipH="1">
            <a:off x="10256510" y="2225967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973430" y="2918461"/>
            <a:ext cx="485005" cy="368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cxnSp>
        <p:nvCxnSpPr>
          <p:cNvPr id="55" name="Straight Arrow Connector 54"/>
          <p:cNvCxnSpPr/>
          <p:nvPr/>
        </p:nvCxnSpPr>
        <p:spPr>
          <a:xfrm flipH="1">
            <a:off x="5219480" y="2207854"/>
            <a:ext cx="24357" cy="7106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026090" y="2230144"/>
            <a:ext cx="1217748" cy="119829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5229580" y="2241631"/>
            <a:ext cx="1845414" cy="1186807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7515312" y="3773869"/>
            <a:ext cx="24357" cy="88400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3799429" y="3813796"/>
            <a:ext cx="24357" cy="7816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788719" y="4978537"/>
            <a:ext cx="24357" cy="533889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934212" y="728194"/>
            <a:ext cx="636582" cy="1479660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458435" y="2241631"/>
            <a:ext cx="423750" cy="139390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35" idx="3"/>
          </p:cNvCxnSpPr>
          <p:nvPr/>
        </p:nvCxnSpPr>
        <p:spPr>
          <a:xfrm>
            <a:off x="4229038" y="4751170"/>
            <a:ext cx="405926" cy="73025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7835309" y="3748215"/>
            <a:ext cx="735485" cy="847249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0579512" y="2221507"/>
            <a:ext cx="652595" cy="869478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>
            <a:off x="5243838" y="3851573"/>
            <a:ext cx="908449" cy="162985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6569195" y="3869971"/>
            <a:ext cx="1683308" cy="800867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>
            <a:off x="6569195" y="2428857"/>
            <a:ext cx="2214262" cy="1183826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9172353" y="2428857"/>
            <a:ext cx="1605386" cy="662128"/>
          </a:xfrm>
          <a:prstGeom prst="straightConnector1">
            <a:avLst/>
          </a:prstGeom>
          <a:ln w="22225">
            <a:solidFill>
              <a:srgbClr val="00B0F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3899" y="4595464"/>
            <a:ext cx="23747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 = </a:t>
            </a:r>
            <a:r>
              <a:rPr lang="en-US" dirty="0" err="1" smtClean="0"/>
              <a:t>mkleaf</a:t>
            </a:r>
            <a:r>
              <a:rPr lang="en-US" dirty="0" smtClean="0"/>
              <a:t>(</a:t>
            </a:r>
            <a:r>
              <a:rPr lang="en-US" dirty="0" err="1" smtClean="0"/>
              <a:t>id,a</a:t>
            </a:r>
            <a:r>
              <a:rPr lang="en-US" dirty="0" smtClean="0"/>
              <a:t>)</a:t>
            </a:r>
          </a:p>
          <a:p>
            <a:r>
              <a:rPr lang="en-US" dirty="0" smtClean="0"/>
              <a:t>P2 = </a:t>
            </a:r>
            <a:r>
              <a:rPr lang="en-US" dirty="0" err="1" smtClean="0"/>
              <a:t>mkleaf</a:t>
            </a:r>
            <a:r>
              <a:rPr lang="en-US" dirty="0" smtClean="0"/>
              <a:t>(num,4)</a:t>
            </a:r>
          </a:p>
          <a:p>
            <a:r>
              <a:rPr lang="en-US" dirty="0" smtClean="0"/>
              <a:t>P3 = </a:t>
            </a:r>
            <a:r>
              <a:rPr lang="en-US" dirty="0" err="1" smtClean="0"/>
              <a:t>mkleaf</a:t>
            </a:r>
            <a:r>
              <a:rPr lang="en-US" dirty="0" smtClean="0"/>
              <a:t>(</a:t>
            </a:r>
            <a:r>
              <a:rPr lang="en-US" dirty="0" err="1" smtClean="0"/>
              <a:t>id,c</a:t>
            </a:r>
            <a:r>
              <a:rPr lang="en-US" dirty="0" smtClean="0"/>
              <a:t>)</a:t>
            </a:r>
          </a:p>
          <a:p>
            <a:r>
              <a:rPr lang="en-US" dirty="0" smtClean="0"/>
              <a:t>P4 = </a:t>
            </a:r>
            <a:r>
              <a:rPr lang="en-US" dirty="0" err="1" smtClean="0"/>
              <a:t>mknode</a:t>
            </a:r>
            <a:r>
              <a:rPr lang="en-US" dirty="0" smtClean="0"/>
              <a:t>(-,P1,P2)</a:t>
            </a:r>
          </a:p>
          <a:p>
            <a:r>
              <a:rPr lang="en-US" dirty="0" smtClean="0"/>
              <a:t>P5 = </a:t>
            </a:r>
            <a:r>
              <a:rPr lang="en-US" dirty="0" err="1" smtClean="0"/>
              <a:t>mknode</a:t>
            </a:r>
            <a:r>
              <a:rPr lang="en-US" dirty="0" smtClean="0"/>
              <a:t>(+,P4,P3)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4178475" y="3784621"/>
            <a:ext cx="811216" cy="1727805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080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59" y="72262"/>
            <a:ext cx="11853353" cy="662196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Type Expression: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Types have structure, which we shall represent using type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expressions:.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type expression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either a basic type or is formed by applying an operator called a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type constructor to a type expression.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sets of basic types and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constructors depend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 the language to be checked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 1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array of pointer to real, where that array have range form 1 to 100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Array(1..100,Pointer(real))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:2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array type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[2][3] can be read as \array of 2 arrays of 3 integers each"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array(2; array(3; integer)).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E.g.3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2D array of integer where rows are indexed from 0 to 9 and columns are indexed from -10 to 10.</a:t>
            </a:r>
          </a:p>
          <a:p>
            <a:pPr lvl="1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Array(0..9,array(-10..10,int))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>
                <a:latin typeface="Times New Roman" pitchFamily="18" charset="0"/>
                <a:cs typeface="Times New Roman" pitchFamily="18" charset="0"/>
              </a:rPr>
            </a:b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52F9D-109B-4FE1-A15C-71D504CF7A83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4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1156</TotalTime>
  <Words>5564</Words>
  <Application>Microsoft Office PowerPoint</Application>
  <PresentationFormat>Custom</PresentationFormat>
  <Paragraphs>2030</Paragraphs>
  <Slides>77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78" baseType="lpstr">
      <vt:lpstr>Parcel</vt:lpstr>
      <vt:lpstr>Syntax Directed Translation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Bottom Up Parsing</dc:title>
  <dc:creator>Natiq Hussain</dc:creator>
  <cp:lastModifiedBy>lenovo</cp:lastModifiedBy>
  <cp:revision>119</cp:revision>
  <dcterms:created xsi:type="dcterms:W3CDTF">2021-05-22T15:09:30Z</dcterms:created>
  <dcterms:modified xsi:type="dcterms:W3CDTF">2021-06-02T06:39:06Z</dcterms:modified>
</cp:coreProperties>
</file>