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9"/>
  </p:notesMasterIdLst>
  <p:sldIdLst>
    <p:sldId id="256" r:id="rId2"/>
    <p:sldId id="262" r:id="rId3"/>
    <p:sldId id="258" r:id="rId4"/>
    <p:sldId id="259" r:id="rId5"/>
    <p:sldId id="260" r:id="rId6"/>
    <p:sldId id="261" r:id="rId7"/>
    <p:sldId id="263" r:id="rId8"/>
    <p:sldId id="267" r:id="rId9"/>
    <p:sldId id="264" r:id="rId10"/>
    <p:sldId id="265" r:id="rId11"/>
    <p:sldId id="266" r:id="rId12"/>
    <p:sldId id="268" r:id="rId13"/>
    <p:sldId id="269" r:id="rId14"/>
    <p:sldId id="271" r:id="rId15"/>
    <p:sldId id="273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7" r:id="rId30"/>
    <p:sldId id="288" r:id="rId31"/>
    <p:sldId id="289" r:id="rId32"/>
    <p:sldId id="311" r:id="rId33"/>
    <p:sldId id="312" r:id="rId34"/>
    <p:sldId id="313" r:id="rId35"/>
    <p:sldId id="298" r:id="rId36"/>
    <p:sldId id="310" r:id="rId37"/>
    <p:sldId id="299" r:id="rId38"/>
    <p:sldId id="300" r:id="rId39"/>
    <p:sldId id="301" r:id="rId40"/>
    <p:sldId id="302" r:id="rId41"/>
    <p:sldId id="303" r:id="rId42"/>
    <p:sldId id="308" r:id="rId43"/>
    <p:sldId id="309" r:id="rId44"/>
    <p:sldId id="305" r:id="rId45"/>
    <p:sldId id="306" r:id="rId46"/>
    <p:sldId id="307" r:id="rId47"/>
    <p:sldId id="295" r:id="rId48"/>
    <p:sldId id="290" r:id="rId49"/>
    <p:sldId id="291" r:id="rId50"/>
    <p:sldId id="292" r:id="rId51"/>
    <p:sldId id="293" r:id="rId52"/>
    <p:sldId id="294" r:id="rId53"/>
    <p:sldId id="314" r:id="rId54"/>
    <p:sldId id="315" r:id="rId55"/>
    <p:sldId id="316" r:id="rId56"/>
    <p:sldId id="317" r:id="rId57"/>
    <p:sldId id="318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>
      <p:cViewPr varScale="1">
        <p:scale>
          <a:sx n="79" d="100"/>
          <a:sy n="79" d="100"/>
        </p:scale>
        <p:origin x="82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E628F7-C1E3-4760-9195-39B50397F4C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F8510A-C018-4549-98A7-B52A2C017F4D}">
      <dgm:prSet phldrT="[Text]"/>
      <dgm:spPr/>
      <dgm:t>
        <a:bodyPr/>
        <a:lstStyle/>
        <a:p>
          <a:r>
            <a:rPr lang="en-US" dirty="0" smtClean="0"/>
            <a:t>Parsers</a:t>
          </a:r>
          <a:endParaRPr lang="en-US" dirty="0"/>
        </a:p>
      </dgm:t>
    </dgm:pt>
    <dgm:pt modelId="{38336EBF-06ED-422C-A769-4047E63649A8}" type="parTrans" cxnId="{59C528DE-8E8A-4E04-B956-A7D8383975EA}">
      <dgm:prSet/>
      <dgm:spPr/>
      <dgm:t>
        <a:bodyPr/>
        <a:lstStyle/>
        <a:p>
          <a:endParaRPr lang="en-US"/>
        </a:p>
      </dgm:t>
    </dgm:pt>
    <dgm:pt modelId="{EFED6CFE-BB32-4570-A570-1D1C18E14712}" type="sibTrans" cxnId="{59C528DE-8E8A-4E04-B956-A7D8383975EA}">
      <dgm:prSet/>
      <dgm:spPr/>
      <dgm:t>
        <a:bodyPr/>
        <a:lstStyle/>
        <a:p>
          <a:endParaRPr lang="en-US"/>
        </a:p>
      </dgm:t>
    </dgm:pt>
    <dgm:pt modelId="{3F97AE5B-B40F-4E86-9991-9F3764C3381D}" type="asst">
      <dgm:prSet phldrT="[Text]"/>
      <dgm:spPr/>
      <dgm:t>
        <a:bodyPr/>
        <a:lstStyle/>
        <a:p>
          <a:r>
            <a:rPr lang="en-US" dirty="0" smtClean="0"/>
            <a:t>Top down</a:t>
          </a:r>
          <a:endParaRPr lang="en-US" dirty="0"/>
        </a:p>
      </dgm:t>
    </dgm:pt>
    <dgm:pt modelId="{CB60F58C-65AC-4EB8-B722-9B725C3353C7}" type="parTrans" cxnId="{C0396889-C002-4758-A345-930068413ECA}">
      <dgm:prSet/>
      <dgm:spPr/>
      <dgm:t>
        <a:bodyPr/>
        <a:lstStyle/>
        <a:p>
          <a:endParaRPr lang="en-US"/>
        </a:p>
      </dgm:t>
    </dgm:pt>
    <dgm:pt modelId="{AA41377E-F976-44B1-A5AD-67F347091AC5}" type="sibTrans" cxnId="{C0396889-C002-4758-A345-930068413ECA}">
      <dgm:prSet/>
      <dgm:spPr/>
      <dgm:t>
        <a:bodyPr/>
        <a:lstStyle/>
        <a:p>
          <a:endParaRPr lang="en-US"/>
        </a:p>
      </dgm:t>
    </dgm:pt>
    <dgm:pt modelId="{C586E080-D89B-4DAC-AACA-8B88CFB05EA1}" type="asst">
      <dgm:prSet phldrT="[Text]"/>
      <dgm:spPr/>
      <dgm:t>
        <a:bodyPr/>
        <a:lstStyle/>
        <a:p>
          <a:r>
            <a:rPr lang="en-US" dirty="0" smtClean="0"/>
            <a:t>Bottom up</a:t>
          </a:r>
          <a:endParaRPr lang="en-US" dirty="0"/>
        </a:p>
      </dgm:t>
    </dgm:pt>
    <dgm:pt modelId="{51E24BBE-C4CB-4DE6-B754-2A145640CD10}" type="parTrans" cxnId="{482A45C4-A31D-4C76-B731-259616FBF494}">
      <dgm:prSet/>
      <dgm:spPr/>
      <dgm:t>
        <a:bodyPr/>
        <a:lstStyle/>
        <a:p>
          <a:endParaRPr lang="en-US"/>
        </a:p>
      </dgm:t>
    </dgm:pt>
    <dgm:pt modelId="{CF71488C-67DA-4DE3-B61A-D97D42F84BBA}" type="sibTrans" cxnId="{482A45C4-A31D-4C76-B731-259616FBF494}">
      <dgm:prSet/>
      <dgm:spPr/>
      <dgm:t>
        <a:bodyPr/>
        <a:lstStyle/>
        <a:p>
          <a:endParaRPr lang="en-US"/>
        </a:p>
      </dgm:t>
    </dgm:pt>
    <dgm:pt modelId="{43CBE11A-0892-42F3-BD43-0A12C40A9CFD}" type="asst">
      <dgm:prSet phldrT="[Text]"/>
      <dgm:spPr/>
      <dgm:t>
        <a:bodyPr/>
        <a:lstStyle/>
        <a:p>
          <a:r>
            <a:rPr lang="en-US" dirty="0" smtClean="0"/>
            <a:t>LR(K)</a:t>
          </a:r>
          <a:endParaRPr lang="en-US" dirty="0"/>
        </a:p>
      </dgm:t>
    </dgm:pt>
    <dgm:pt modelId="{33F4705B-10CA-4C70-A274-2168389C6CEC}" type="parTrans" cxnId="{07ED7B92-D73B-4FE3-B946-C97E44E84D3D}">
      <dgm:prSet/>
      <dgm:spPr/>
      <dgm:t>
        <a:bodyPr/>
        <a:lstStyle/>
        <a:p>
          <a:endParaRPr lang="en-US"/>
        </a:p>
      </dgm:t>
    </dgm:pt>
    <dgm:pt modelId="{CCA8C5BC-67BC-46D6-A4F0-09E468A2EE40}" type="sibTrans" cxnId="{07ED7B92-D73B-4FE3-B946-C97E44E84D3D}">
      <dgm:prSet/>
      <dgm:spPr/>
      <dgm:t>
        <a:bodyPr/>
        <a:lstStyle/>
        <a:p>
          <a:endParaRPr lang="en-US"/>
        </a:p>
      </dgm:t>
    </dgm:pt>
    <dgm:pt modelId="{61E6A20A-85B0-4CF5-8F19-FFF7EA283E82}" type="asst">
      <dgm:prSet phldrT="[Text]"/>
      <dgm:spPr/>
      <dgm:t>
        <a:bodyPr/>
        <a:lstStyle/>
        <a:p>
          <a:r>
            <a:rPr lang="en-US" dirty="0" smtClean="0"/>
            <a:t>Operator precedence</a:t>
          </a:r>
          <a:endParaRPr lang="en-US" dirty="0"/>
        </a:p>
      </dgm:t>
    </dgm:pt>
    <dgm:pt modelId="{3C03C177-ACF4-4EC2-A7E5-DA1A12C02BD3}" type="parTrans" cxnId="{28140B87-D1A4-4321-804E-E54FC59981EC}">
      <dgm:prSet/>
      <dgm:spPr/>
      <dgm:t>
        <a:bodyPr/>
        <a:lstStyle/>
        <a:p>
          <a:endParaRPr lang="en-US"/>
        </a:p>
      </dgm:t>
    </dgm:pt>
    <dgm:pt modelId="{005BCA90-08A5-4374-AF5F-677D4C223FAB}" type="sibTrans" cxnId="{28140B87-D1A4-4321-804E-E54FC59981EC}">
      <dgm:prSet/>
      <dgm:spPr/>
      <dgm:t>
        <a:bodyPr/>
        <a:lstStyle/>
        <a:p>
          <a:endParaRPr lang="en-US"/>
        </a:p>
      </dgm:t>
    </dgm:pt>
    <dgm:pt modelId="{5A5BE83B-061B-4EF9-9DAB-8D13C15780F5}" type="asst">
      <dgm:prSet phldrT="[Text]"/>
      <dgm:spPr/>
      <dgm:t>
        <a:bodyPr/>
        <a:lstStyle/>
        <a:p>
          <a:r>
            <a:rPr lang="en-US" dirty="0" smtClean="0"/>
            <a:t>LR(0)</a:t>
          </a:r>
          <a:endParaRPr lang="en-US" dirty="0"/>
        </a:p>
      </dgm:t>
    </dgm:pt>
    <dgm:pt modelId="{6E5046F3-E7A0-4FEC-A874-9FB85C97859D}" type="parTrans" cxnId="{4372AF6A-42C5-4281-959A-A3405D7DA9AD}">
      <dgm:prSet/>
      <dgm:spPr/>
      <dgm:t>
        <a:bodyPr/>
        <a:lstStyle/>
        <a:p>
          <a:endParaRPr lang="en-US"/>
        </a:p>
      </dgm:t>
    </dgm:pt>
    <dgm:pt modelId="{4017E705-ADD8-4EA7-AD01-886D16085F8D}" type="sibTrans" cxnId="{4372AF6A-42C5-4281-959A-A3405D7DA9AD}">
      <dgm:prSet/>
      <dgm:spPr/>
      <dgm:t>
        <a:bodyPr/>
        <a:lstStyle/>
        <a:p>
          <a:endParaRPr lang="en-US"/>
        </a:p>
      </dgm:t>
    </dgm:pt>
    <dgm:pt modelId="{7424C253-04EB-4BA3-A7F0-58CADAB826D0}" type="asst">
      <dgm:prSet phldrT="[Text]"/>
      <dgm:spPr/>
      <dgm:t>
        <a:bodyPr/>
        <a:lstStyle/>
        <a:p>
          <a:r>
            <a:rPr lang="en-US" dirty="0" smtClean="0"/>
            <a:t>LR(1)</a:t>
          </a:r>
          <a:endParaRPr lang="en-US" dirty="0"/>
        </a:p>
      </dgm:t>
    </dgm:pt>
    <dgm:pt modelId="{17571941-60D8-4FE3-A9E9-87370FBDA8B7}" type="parTrans" cxnId="{EF4DB9AE-8F94-4EA4-868E-C331A26DCD76}">
      <dgm:prSet/>
      <dgm:spPr/>
      <dgm:t>
        <a:bodyPr/>
        <a:lstStyle/>
        <a:p>
          <a:endParaRPr lang="en-US"/>
        </a:p>
      </dgm:t>
    </dgm:pt>
    <dgm:pt modelId="{4EE39E78-ABFB-4254-A851-3326A5CBCE2C}" type="sibTrans" cxnId="{EF4DB9AE-8F94-4EA4-868E-C331A26DCD76}">
      <dgm:prSet/>
      <dgm:spPr/>
      <dgm:t>
        <a:bodyPr/>
        <a:lstStyle/>
        <a:p>
          <a:endParaRPr lang="en-US"/>
        </a:p>
      </dgm:t>
    </dgm:pt>
    <dgm:pt modelId="{B5B008D3-3C2E-4CE6-9F71-CF55B7A1CED0}" type="asst">
      <dgm:prSet phldrT="[Text]"/>
      <dgm:spPr/>
      <dgm:t>
        <a:bodyPr/>
        <a:lstStyle/>
        <a:p>
          <a:r>
            <a:rPr lang="en-US" dirty="0" smtClean="0"/>
            <a:t>LR(0)</a:t>
          </a:r>
          <a:endParaRPr lang="en-US" dirty="0"/>
        </a:p>
      </dgm:t>
    </dgm:pt>
    <dgm:pt modelId="{D4827EF5-4021-4607-8253-6E2C3E23057D}" type="parTrans" cxnId="{31E6FD93-BF41-42B1-8A5E-28822783B4FD}">
      <dgm:prSet/>
      <dgm:spPr/>
      <dgm:t>
        <a:bodyPr/>
        <a:lstStyle/>
        <a:p>
          <a:endParaRPr lang="en-US"/>
        </a:p>
      </dgm:t>
    </dgm:pt>
    <dgm:pt modelId="{F8E89FCF-442B-47DA-B761-99A3628F30A1}" type="sibTrans" cxnId="{31E6FD93-BF41-42B1-8A5E-28822783B4FD}">
      <dgm:prSet/>
      <dgm:spPr/>
      <dgm:t>
        <a:bodyPr/>
        <a:lstStyle/>
        <a:p>
          <a:endParaRPr lang="en-US"/>
        </a:p>
      </dgm:t>
    </dgm:pt>
    <dgm:pt modelId="{6212A81E-1A77-44DD-98AD-C49F9763019F}" type="asst">
      <dgm:prSet phldrT="[Text]"/>
      <dgm:spPr/>
      <dgm:t>
        <a:bodyPr/>
        <a:lstStyle/>
        <a:p>
          <a:r>
            <a:rPr lang="en-US" dirty="0" smtClean="0"/>
            <a:t>SLR</a:t>
          </a:r>
          <a:endParaRPr lang="en-US" dirty="0"/>
        </a:p>
      </dgm:t>
    </dgm:pt>
    <dgm:pt modelId="{B2F0C5FA-91D7-4C84-B6FE-F8E6A0B962AE}" type="parTrans" cxnId="{9ED6E40D-C3AE-4C55-A88F-146500CBD134}">
      <dgm:prSet/>
      <dgm:spPr/>
      <dgm:t>
        <a:bodyPr/>
        <a:lstStyle/>
        <a:p>
          <a:endParaRPr lang="en-US"/>
        </a:p>
      </dgm:t>
    </dgm:pt>
    <dgm:pt modelId="{9A19CD81-11AA-4916-A69C-2B87770C826C}" type="sibTrans" cxnId="{9ED6E40D-C3AE-4C55-A88F-146500CBD134}">
      <dgm:prSet/>
      <dgm:spPr/>
      <dgm:t>
        <a:bodyPr/>
        <a:lstStyle/>
        <a:p>
          <a:endParaRPr lang="en-US"/>
        </a:p>
      </dgm:t>
    </dgm:pt>
    <dgm:pt modelId="{0F2A6A6D-2400-4F98-B67D-735E58B76C06}" type="asst">
      <dgm:prSet phldrT="[Text]"/>
      <dgm:spPr/>
      <dgm:t>
        <a:bodyPr/>
        <a:lstStyle/>
        <a:p>
          <a:r>
            <a:rPr lang="en-US" dirty="0" smtClean="0"/>
            <a:t>LALR</a:t>
          </a:r>
          <a:endParaRPr lang="en-US" dirty="0"/>
        </a:p>
      </dgm:t>
    </dgm:pt>
    <dgm:pt modelId="{831147EE-E9D7-44F7-974B-6E930EC8F136}" type="parTrans" cxnId="{596F9770-B8C5-4509-96DF-80DA8AA95171}">
      <dgm:prSet/>
      <dgm:spPr/>
      <dgm:t>
        <a:bodyPr/>
        <a:lstStyle/>
        <a:p>
          <a:endParaRPr lang="en-US"/>
        </a:p>
      </dgm:t>
    </dgm:pt>
    <dgm:pt modelId="{3825F9DB-437A-44FB-978F-BDC9F481FEB9}" type="sibTrans" cxnId="{596F9770-B8C5-4509-96DF-80DA8AA95171}">
      <dgm:prSet/>
      <dgm:spPr/>
      <dgm:t>
        <a:bodyPr/>
        <a:lstStyle/>
        <a:p>
          <a:endParaRPr lang="en-US"/>
        </a:p>
      </dgm:t>
    </dgm:pt>
    <dgm:pt modelId="{B3FA540B-03A3-42BA-A9D6-6E1E7C2DF708}" type="asst">
      <dgm:prSet phldrT="[Text]"/>
      <dgm:spPr/>
      <dgm:t>
        <a:bodyPr/>
        <a:lstStyle/>
        <a:p>
          <a:r>
            <a:rPr lang="en-US" dirty="0" smtClean="0"/>
            <a:t>CLR</a:t>
          </a:r>
          <a:endParaRPr lang="en-US" dirty="0"/>
        </a:p>
      </dgm:t>
    </dgm:pt>
    <dgm:pt modelId="{84EE524D-42C9-4D0B-923C-67A1FF3C04EE}" type="parTrans" cxnId="{3FC5DF8C-0EA4-4FE6-B438-32D00597A426}">
      <dgm:prSet/>
      <dgm:spPr/>
      <dgm:t>
        <a:bodyPr/>
        <a:lstStyle/>
        <a:p>
          <a:endParaRPr lang="en-US"/>
        </a:p>
      </dgm:t>
    </dgm:pt>
    <dgm:pt modelId="{AC3B7503-A621-4077-B5D4-47E9FB73ABD5}" type="sibTrans" cxnId="{3FC5DF8C-0EA4-4FE6-B438-32D00597A426}">
      <dgm:prSet/>
      <dgm:spPr/>
      <dgm:t>
        <a:bodyPr/>
        <a:lstStyle/>
        <a:p>
          <a:endParaRPr lang="en-US"/>
        </a:p>
      </dgm:t>
    </dgm:pt>
    <dgm:pt modelId="{5AF70E37-63FF-4D2B-8396-C028C0128244}" type="asst">
      <dgm:prSet phldrT="[Text]"/>
      <dgm:spPr/>
      <dgm:t>
        <a:bodyPr/>
        <a:lstStyle/>
        <a:p>
          <a:r>
            <a:rPr lang="en-US" dirty="0" smtClean="0"/>
            <a:t>Recursive descent </a:t>
          </a:r>
          <a:endParaRPr lang="en-US" dirty="0"/>
        </a:p>
      </dgm:t>
    </dgm:pt>
    <dgm:pt modelId="{61DEAA2C-9524-43AC-ABB2-F66676FFF3F4}" type="parTrans" cxnId="{10B0C4AB-B1C2-4B50-8617-141D338F6502}">
      <dgm:prSet/>
      <dgm:spPr/>
      <dgm:t>
        <a:bodyPr/>
        <a:lstStyle/>
        <a:p>
          <a:endParaRPr lang="en-US"/>
        </a:p>
      </dgm:t>
    </dgm:pt>
    <dgm:pt modelId="{E794012C-C8A2-4768-8226-7B89371871DE}" type="sibTrans" cxnId="{10B0C4AB-B1C2-4B50-8617-141D338F6502}">
      <dgm:prSet/>
      <dgm:spPr/>
      <dgm:t>
        <a:bodyPr/>
        <a:lstStyle/>
        <a:p>
          <a:endParaRPr lang="en-US"/>
        </a:p>
      </dgm:t>
    </dgm:pt>
    <dgm:pt modelId="{C7AE168A-5DB7-443F-97BF-B25BF5A5E65D}">
      <dgm:prSet phldrT="[Text]"/>
      <dgm:spPr/>
      <dgm:t>
        <a:bodyPr/>
        <a:lstStyle/>
        <a:p>
          <a:r>
            <a:rPr lang="en-US" dirty="0" smtClean="0"/>
            <a:t>Non-Recursive predictive, LL(1)</a:t>
          </a:r>
          <a:endParaRPr lang="en-US" dirty="0"/>
        </a:p>
      </dgm:t>
    </dgm:pt>
    <dgm:pt modelId="{48DF676E-DA88-4B56-BACE-F8221D622FC4}" type="parTrans" cxnId="{48EA3506-B93C-44BF-A92B-8DEEA92C6348}">
      <dgm:prSet/>
      <dgm:spPr/>
      <dgm:t>
        <a:bodyPr/>
        <a:lstStyle/>
        <a:p>
          <a:endParaRPr lang="en-US"/>
        </a:p>
      </dgm:t>
    </dgm:pt>
    <dgm:pt modelId="{DBA37D19-3F07-4ACE-85A5-6C0CD4646787}" type="sibTrans" cxnId="{48EA3506-B93C-44BF-A92B-8DEEA92C6348}">
      <dgm:prSet/>
      <dgm:spPr/>
      <dgm:t>
        <a:bodyPr/>
        <a:lstStyle/>
        <a:p>
          <a:endParaRPr lang="en-US"/>
        </a:p>
      </dgm:t>
    </dgm:pt>
    <dgm:pt modelId="{ADEC159D-A5C1-4D78-8580-1A6AF3D7C7F8}" type="pres">
      <dgm:prSet presAssocID="{29E628F7-C1E3-4760-9195-39B50397F4C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608F3690-8A6D-4A6F-8D58-04E57A4178CF}" type="pres">
      <dgm:prSet presAssocID="{2BF8510A-C018-4549-98A7-B52A2C017F4D}" presName="hierRoot1" presStyleCnt="0"/>
      <dgm:spPr/>
    </dgm:pt>
    <dgm:pt modelId="{ED027042-9BFA-4C5F-9FDF-04F99CA3C991}" type="pres">
      <dgm:prSet presAssocID="{2BF8510A-C018-4549-98A7-B52A2C017F4D}" presName="composite" presStyleCnt="0"/>
      <dgm:spPr/>
    </dgm:pt>
    <dgm:pt modelId="{8DB3B84C-DC2A-4C93-BD38-351347F98061}" type="pres">
      <dgm:prSet presAssocID="{2BF8510A-C018-4549-98A7-B52A2C017F4D}" presName="background" presStyleLbl="node0" presStyleIdx="0" presStyleCnt="1"/>
      <dgm:spPr/>
    </dgm:pt>
    <dgm:pt modelId="{FAD3A9FF-B1D9-4D1C-977E-FDFE3D6B2624}" type="pres">
      <dgm:prSet presAssocID="{2BF8510A-C018-4549-98A7-B52A2C017F4D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69BD863-0C30-4793-A32A-3825C9942FBF}" type="pres">
      <dgm:prSet presAssocID="{2BF8510A-C018-4549-98A7-B52A2C017F4D}" presName="hierChild2" presStyleCnt="0"/>
      <dgm:spPr/>
    </dgm:pt>
    <dgm:pt modelId="{3E3D6991-DB58-4C70-98E9-042505034308}" type="pres">
      <dgm:prSet presAssocID="{CB60F58C-65AC-4EB8-B722-9B725C3353C7}" presName="Name10" presStyleLbl="parChTrans1D2" presStyleIdx="0" presStyleCnt="2"/>
      <dgm:spPr/>
      <dgm:t>
        <a:bodyPr/>
        <a:lstStyle/>
        <a:p>
          <a:endParaRPr lang="en-US"/>
        </a:p>
      </dgm:t>
    </dgm:pt>
    <dgm:pt modelId="{AABF96B0-91D0-4519-A881-CE4EDE116981}" type="pres">
      <dgm:prSet presAssocID="{3F97AE5B-B40F-4E86-9991-9F3764C3381D}" presName="hierRoot2" presStyleCnt="0"/>
      <dgm:spPr/>
    </dgm:pt>
    <dgm:pt modelId="{CB5961FA-0BB6-4286-92C8-893464E65B5A}" type="pres">
      <dgm:prSet presAssocID="{3F97AE5B-B40F-4E86-9991-9F3764C3381D}" presName="composite2" presStyleCnt="0"/>
      <dgm:spPr/>
    </dgm:pt>
    <dgm:pt modelId="{1668D5F1-001F-4FFB-AEC8-38EE4ECAEB9C}" type="pres">
      <dgm:prSet presAssocID="{3F97AE5B-B40F-4E86-9991-9F3764C3381D}" presName="background2" presStyleLbl="asst1" presStyleIdx="0" presStyleCnt="11"/>
      <dgm:spPr/>
    </dgm:pt>
    <dgm:pt modelId="{92822955-090E-4FE8-8CC0-8A68B4E2BD7A}" type="pres">
      <dgm:prSet presAssocID="{3F97AE5B-B40F-4E86-9991-9F3764C3381D}" presName="text2" presStyleLbl="fgAcc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20D0AB3-4D30-4618-990D-3DC2D29B9BDC}" type="pres">
      <dgm:prSet presAssocID="{3F97AE5B-B40F-4E86-9991-9F3764C3381D}" presName="hierChild3" presStyleCnt="0"/>
      <dgm:spPr/>
    </dgm:pt>
    <dgm:pt modelId="{42B4F584-BE8C-4271-AFF0-C319D838E18B}" type="pres">
      <dgm:prSet presAssocID="{61DEAA2C-9524-43AC-ABB2-F66676FFF3F4}" presName="Name17" presStyleLbl="parChTrans1D3" presStyleIdx="0" presStyleCnt="4"/>
      <dgm:spPr/>
      <dgm:t>
        <a:bodyPr/>
        <a:lstStyle/>
        <a:p>
          <a:endParaRPr lang="en-US"/>
        </a:p>
      </dgm:t>
    </dgm:pt>
    <dgm:pt modelId="{1BD4F75F-7DF7-494A-A56F-AD7A5176D63D}" type="pres">
      <dgm:prSet presAssocID="{5AF70E37-63FF-4D2B-8396-C028C0128244}" presName="hierRoot3" presStyleCnt="0"/>
      <dgm:spPr/>
    </dgm:pt>
    <dgm:pt modelId="{8DB2BDD5-41FA-41E9-8EAC-6681ABA50358}" type="pres">
      <dgm:prSet presAssocID="{5AF70E37-63FF-4D2B-8396-C028C0128244}" presName="composite3" presStyleCnt="0"/>
      <dgm:spPr/>
    </dgm:pt>
    <dgm:pt modelId="{335E8EA0-1DFF-4238-9DC4-0FB5429A7371}" type="pres">
      <dgm:prSet presAssocID="{5AF70E37-63FF-4D2B-8396-C028C0128244}" presName="background3" presStyleLbl="asst1" presStyleIdx="1" presStyleCnt="11"/>
      <dgm:spPr/>
    </dgm:pt>
    <dgm:pt modelId="{21FA5FC1-6AD1-43CD-9373-F50650A26815}" type="pres">
      <dgm:prSet presAssocID="{5AF70E37-63FF-4D2B-8396-C028C0128244}" presName="text3" presStyleLbl="fgAcc3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EE64A55-7A95-47B3-8409-02D3C69864A6}" type="pres">
      <dgm:prSet presAssocID="{5AF70E37-63FF-4D2B-8396-C028C0128244}" presName="hierChild4" presStyleCnt="0"/>
      <dgm:spPr/>
    </dgm:pt>
    <dgm:pt modelId="{3AD8B4B1-03EB-4E47-8812-90C9F3768295}" type="pres">
      <dgm:prSet presAssocID="{48DF676E-DA88-4B56-BACE-F8221D622FC4}" presName="Name17" presStyleLbl="parChTrans1D3" presStyleIdx="1" presStyleCnt="4"/>
      <dgm:spPr/>
      <dgm:t>
        <a:bodyPr/>
        <a:lstStyle/>
        <a:p>
          <a:endParaRPr lang="en-US"/>
        </a:p>
      </dgm:t>
    </dgm:pt>
    <dgm:pt modelId="{75CA97F5-5443-41F2-99BC-7B9C8BB3C929}" type="pres">
      <dgm:prSet presAssocID="{C7AE168A-5DB7-443F-97BF-B25BF5A5E65D}" presName="hierRoot3" presStyleCnt="0"/>
      <dgm:spPr/>
    </dgm:pt>
    <dgm:pt modelId="{7312C5F7-137B-4AB6-B6BC-A63895664CD8}" type="pres">
      <dgm:prSet presAssocID="{C7AE168A-5DB7-443F-97BF-B25BF5A5E65D}" presName="composite3" presStyleCnt="0"/>
      <dgm:spPr/>
    </dgm:pt>
    <dgm:pt modelId="{06FB3540-9BA1-42A4-B260-06BC724B247A}" type="pres">
      <dgm:prSet presAssocID="{C7AE168A-5DB7-443F-97BF-B25BF5A5E65D}" presName="background3" presStyleLbl="node3" presStyleIdx="0" presStyleCnt="1"/>
      <dgm:spPr/>
    </dgm:pt>
    <dgm:pt modelId="{B20A80AD-FD8B-4315-A071-D37420AF70E2}" type="pres">
      <dgm:prSet presAssocID="{C7AE168A-5DB7-443F-97BF-B25BF5A5E65D}" presName="text3" presStyleLbl="fgAcc3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9BDB5FB-A306-4F89-AEBF-A7E927964FF0}" type="pres">
      <dgm:prSet presAssocID="{C7AE168A-5DB7-443F-97BF-B25BF5A5E65D}" presName="hierChild4" presStyleCnt="0"/>
      <dgm:spPr/>
    </dgm:pt>
    <dgm:pt modelId="{91519FE6-DF2A-413B-8946-F5EFD7057D78}" type="pres">
      <dgm:prSet presAssocID="{51E24BBE-C4CB-4DE6-B754-2A145640CD10}" presName="Name10" presStyleLbl="parChTrans1D2" presStyleIdx="1" presStyleCnt="2"/>
      <dgm:spPr/>
      <dgm:t>
        <a:bodyPr/>
        <a:lstStyle/>
        <a:p>
          <a:endParaRPr lang="en-US"/>
        </a:p>
      </dgm:t>
    </dgm:pt>
    <dgm:pt modelId="{1EBA0923-B41A-4D71-A048-BBE0EFFEB445}" type="pres">
      <dgm:prSet presAssocID="{C586E080-D89B-4DAC-AACA-8B88CFB05EA1}" presName="hierRoot2" presStyleCnt="0"/>
      <dgm:spPr/>
    </dgm:pt>
    <dgm:pt modelId="{5B31C618-7979-4D28-97FC-26020F999E6E}" type="pres">
      <dgm:prSet presAssocID="{C586E080-D89B-4DAC-AACA-8B88CFB05EA1}" presName="composite2" presStyleCnt="0"/>
      <dgm:spPr/>
    </dgm:pt>
    <dgm:pt modelId="{8D9D126D-F1FA-4B0B-B1BE-04296CFFB01F}" type="pres">
      <dgm:prSet presAssocID="{C586E080-D89B-4DAC-AACA-8B88CFB05EA1}" presName="background2" presStyleLbl="asst1" presStyleIdx="2" presStyleCnt="11"/>
      <dgm:spPr/>
    </dgm:pt>
    <dgm:pt modelId="{653552D7-9011-4668-BC29-6CD6BE380443}" type="pres">
      <dgm:prSet presAssocID="{C586E080-D89B-4DAC-AACA-8B88CFB05EA1}" presName="text2" presStyleLbl="fgAcc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4490786-F6FF-4A79-9920-4F0EDD76CFC7}" type="pres">
      <dgm:prSet presAssocID="{C586E080-D89B-4DAC-AACA-8B88CFB05EA1}" presName="hierChild3" presStyleCnt="0"/>
      <dgm:spPr/>
    </dgm:pt>
    <dgm:pt modelId="{A4FE9DFF-2886-4529-A5C6-F440C0E5885E}" type="pres">
      <dgm:prSet presAssocID="{33F4705B-10CA-4C70-A274-2168389C6CEC}" presName="Name17" presStyleLbl="parChTrans1D3" presStyleIdx="2" presStyleCnt="4"/>
      <dgm:spPr/>
      <dgm:t>
        <a:bodyPr/>
        <a:lstStyle/>
        <a:p>
          <a:endParaRPr lang="en-US"/>
        </a:p>
      </dgm:t>
    </dgm:pt>
    <dgm:pt modelId="{C13B32B9-3FFC-4A78-B46B-F71F4E0563ED}" type="pres">
      <dgm:prSet presAssocID="{43CBE11A-0892-42F3-BD43-0A12C40A9CFD}" presName="hierRoot3" presStyleCnt="0"/>
      <dgm:spPr/>
    </dgm:pt>
    <dgm:pt modelId="{4E6D8F37-8D60-45B1-A19D-9DB69192BB01}" type="pres">
      <dgm:prSet presAssocID="{43CBE11A-0892-42F3-BD43-0A12C40A9CFD}" presName="composite3" presStyleCnt="0"/>
      <dgm:spPr/>
    </dgm:pt>
    <dgm:pt modelId="{0DCED176-BC85-488D-B966-335CCBE7AE66}" type="pres">
      <dgm:prSet presAssocID="{43CBE11A-0892-42F3-BD43-0A12C40A9CFD}" presName="background3" presStyleLbl="asst1" presStyleIdx="3" presStyleCnt="11"/>
      <dgm:spPr/>
    </dgm:pt>
    <dgm:pt modelId="{9CB89BBC-1F32-4E07-B52E-EABA41621B54}" type="pres">
      <dgm:prSet presAssocID="{43CBE11A-0892-42F3-BD43-0A12C40A9CFD}" presName="text3" presStyleLbl="fgAcc3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AD803ED-C072-461A-8533-BAE97A45FA21}" type="pres">
      <dgm:prSet presAssocID="{43CBE11A-0892-42F3-BD43-0A12C40A9CFD}" presName="hierChild4" presStyleCnt="0"/>
      <dgm:spPr/>
    </dgm:pt>
    <dgm:pt modelId="{0F2E8EB3-811C-4D3B-9470-156EBA34E9A5}" type="pres">
      <dgm:prSet presAssocID="{6E5046F3-E7A0-4FEC-A874-9FB85C97859D}" presName="Name23" presStyleLbl="parChTrans1D4" presStyleIdx="0" presStyleCnt="6"/>
      <dgm:spPr/>
      <dgm:t>
        <a:bodyPr/>
        <a:lstStyle/>
        <a:p>
          <a:endParaRPr lang="en-US"/>
        </a:p>
      </dgm:t>
    </dgm:pt>
    <dgm:pt modelId="{FE3817F5-5EA0-4663-A455-94583265E1A0}" type="pres">
      <dgm:prSet presAssocID="{5A5BE83B-061B-4EF9-9DAB-8D13C15780F5}" presName="hierRoot4" presStyleCnt="0"/>
      <dgm:spPr/>
    </dgm:pt>
    <dgm:pt modelId="{2EC85A8A-9E69-461D-9969-F33B7EB6E652}" type="pres">
      <dgm:prSet presAssocID="{5A5BE83B-061B-4EF9-9DAB-8D13C15780F5}" presName="composite4" presStyleCnt="0"/>
      <dgm:spPr/>
    </dgm:pt>
    <dgm:pt modelId="{76166ECB-C2BD-4686-ADEF-BFE2AB2B4A94}" type="pres">
      <dgm:prSet presAssocID="{5A5BE83B-061B-4EF9-9DAB-8D13C15780F5}" presName="background4" presStyleLbl="asst1" presStyleIdx="4" presStyleCnt="11"/>
      <dgm:spPr/>
    </dgm:pt>
    <dgm:pt modelId="{8857DB5F-6408-4891-A54D-724BF3FDAA52}" type="pres">
      <dgm:prSet presAssocID="{5A5BE83B-061B-4EF9-9DAB-8D13C15780F5}" presName="text4" presStyleLbl="fgAcc4" presStyleIdx="0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854C05D-EFF7-4915-8926-966BC38E28D4}" type="pres">
      <dgm:prSet presAssocID="{5A5BE83B-061B-4EF9-9DAB-8D13C15780F5}" presName="hierChild5" presStyleCnt="0"/>
      <dgm:spPr/>
    </dgm:pt>
    <dgm:pt modelId="{676B677D-5ED6-4652-98BD-6510A363FEBC}" type="pres">
      <dgm:prSet presAssocID="{D4827EF5-4021-4607-8253-6E2C3E23057D}" presName="Name23" presStyleLbl="parChTrans1D4" presStyleIdx="1" presStyleCnt="6"/>
      <dgm:spPr/>
      <dgm:t>
        <a:bodyPr/>
        <a:lstStyle/>
        <a:p>
          <a:endParaRPr lang="en-US"/>
        </a:p>
      </dgm:t>
    </dgm:pt>
    <dgm:pt modelId="{FAC46F22-2738-4FD3-8D23-EF4D850494FC}" type="pres">
      <dgm:prSet presAssocID="{B5B008D3-3C2E-4CE6-9F71-CF55B7A1CED0}" presName="hierRoot4" presStyleCnt="0"/>
      <dgm:spPr/>
    </dgm:pt>
    <dgm:pt modelId="{4B1286B5-2D24-4244-B5B1-E33F03BB53CD}" type="pres">
      <dgm:prSet presAssocID="{B5B008D3-3C2E-4CE6-9F71-CF55B7A1CED0}" presName="composite4" presStyleCnt="0"/>
      <dgm:spPr/>
    </dgm:pt>
    <dgm:pt modelId="{60AA7CF9-E424-420B-AACD-6FC9FFCFF467}" type="pres">
      <dgm:prSet presAssocID="{B5B008D3-3C2E-4CE6-9F71-CF55B7A1CED0}" presName="background4" presStyleLbl="asst1" presStyleIdx="5" presStyleCnt="11"/>
      <dgm:spPr/>
    </dgm:pt>
    <dgm:pt modelId="{0DF03D1D-D821-4281-8822-6E5AB593AEC5}" type="pres">
      <dgm:prSet presAssocID="{B5B008D3-3C2E-4CE6-9F71-CF55B7A1CED0}" presName="text4" presStyleLbl="fgAcc4" presStyleIdx="1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697243A-CCD6-4A3B-A1E8-CE13B81E5D3C}" type="pres">
      <dgm:prSet presAssocID="{B5B008D3-3C2E-4CE6-9F71-CF55B7A1CED0}" presName="hierChild5" presStyleCnt="0"/>
      <dgm:spPr/>
    </dgm:pt>
    <dgm:pt modelId="{AC8A6B62-21F2-4C27-A368-26A8980EB4AB}" type="pres">
      <dgm:prSet presAssocID="{B2F0C5FA-91D7-4C84-B6FE-F8E6A0B962AE}" presName="Name23" presStyleLbl="parChTrans1D4" presStyleIdx="2" presStyleCnt="6"/>
      <dgm:spPr/>
      <dgm:t>
        <a:bodyPr/>
        <a:lstStyle/>
        <a:p>
          <a:endParaRPr lang="en-US"/>
        </a:p>
      </dgm:t>
    </dgm:pt>
    <dgm:pt modelId="{ABEE7684-C46F-4A21-AEEA-7D055ACD9D3A}" type="pres">
      <dgm:prSet presAssocID="{6212A81E-1A77-44DD-98AD-C49F9763019F}" presName="hierRoot4" presStyleCnt="0"/>
      <dgm:spPr/>
    </dgm:pt>
    <dgm:pt modelId="{78BFC171-3C53-4F3F-99CA-3B8BAD2B7E14}" type="pres">
      <dgm:prSet presAssocID="{6212A81E-1A77-44DD-98AD-C49F9763019F}" presName="composite4" presStyleCnt="0"/>
      <dgm:spPr/>
    </dgm:pt>
    <dgm:pt modelId="{CE035EE5-3465-4226-92BD-305A4EE4FA4A}" type="pres">
      <dgm:prSet presAssocID="{6212A81E-1A77-44DD-98AD-C49F9763019F}" presName="background4" presStyleLbl="asst1" presStyleIdx="6" presStyleCnt="11"/>
      <dgm:spPr/>
    </dgm:pt>
    <dgm:pt modelId="{4F2C1BBB-C022-43B4-9357-BDA8B9F4C5B2}" type="pres">
      <dgm:prSet presAssocID="{6212A81E-1A77-44DD-98AD-C49F9763019F}" presName="text4" presStyleLbl="fgAcc4" presStyleIdx="2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F93780F-0721-4C43-BCB1-6C239CC5A998}" type="pres">
      <dgm:prSet presAssocID="{6212A81E-1A77-44DD-98AD-C49F9763019F}" presName="hierChild5" presStyleCnt="0"/>
      <dgm:spPr/>
    </dgm:pt>
    <dgm:pt modelId="{9D2CA38B-A0C4-45E2-B13E-2491BB2F1EB8}" type="pres">
      <dgm:prSet presAssocID="{17571941-60D8-4FE3-A9E9-87370FBDA8B7}" presName="Name23" presStyleLbl="parChTrans1D4" presStyleIdx="3" presStyleCnt="6"/>
      <dgm:spPr/>
      <dgm:t>
        <a:bodyPr/>
        <a:lstStyle/>
        <a:p>
          <a:endParaRPr lang="en-US"/>
        </a:p>
      </dgm:t>
    </dgm:pt>
    <dgm:pt modelId="{C0AEC980-CF14-4B0A-8661-87865CB7977B}" type="pres">
      <dgm:prSet presAssocID="{7424C253-04EB-4BA3-A7F0-58CADAB826D0}" presName="hierRoot4" presStyleCnt="0"/>
      <dgm:spPr/>
    </dgm:pt>
    <dgm:pt modelId="{A6CB24D6-A885-469C-83B7-C38487121366}" type="pres">
      <dgm:prSet presAssocID="{7424C253-04EB-4BA3-A7F0-58CADAB826D0}" presName="composite4" presStyleCnt="0"/>
      <dgm:spPr/>
    </dgm:pt>
    <dgm:pt modelId="{EF361285-53AB-4939-A6F1-6A31F870D23A}" type="pres">
      <dgm:prSet presAssocID="{7424C253-04EB-4BA3-A7F0-58CADAB826D0}" presName="background4" presStyleLbl="asst1" presStyleIdx="7" presStyleCnt="11"/>
      <dgm:spPr/>
    </dgm:pt>
    <dgm:pt modelId="{F8FA1B98-7F71-4696-BC7A-FBE9CBB476AF}" type="pres">
      <dgm:prSet presAssocID="{7424C253-04EB-4BA3-A7F0-58CADAB826D0}" presName="text4" presStyleLbl="fgAcc4" presStyleIdx="3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1B3DB4B-02A5-4FB6-8997-9E5FDAD6A493}" type="pres">
      <dgm:prSet presAssocID="{7424C253-04EB-4BA3-A7F0-58CADAB826D0}" presName="hierChild5" presStyleCnt="0"/>
      <dgm:spPr/>
    </dgm:pt>
    <dgm:pt modelId="{5A89A8FC-758F-447B-B43C-9BE368B3EE94}" type="pres">
      <dgm:prSet presAssocID="{831147EE-E9D7-44F7-974B-6E930EC8F136}" presName="Name23" presStyleLbl="parChTrans1D4" presStyleIdx="4" presStyleCnt="6"/>
      <dgm:spPr/>
      <dgm:t>
        <a:bodyPr/>
        <a:lstStyle/>
        <a:p>
          <a:endParaRPr lang="en-US"/>
        </a:p>
      </dgm:t>
    </dgm:pt>
    <dgm:pt modelId="{B9A04BF2-241A-4FD5-9133-848A2291D896}" type="pres">
      <dgm:prSet presAssocID="{0F2A6A6D-2400-4F98-B67D-735E58B76C06}" presName="hierRoot4" presStyleCnt="0"/>
      <dgm:spPr/>
    </dgm:pt>
    <dgm:pt modelId="{9031BFCE-E690-4DAF-ABAE-DB7E978DC2A9}" type="pres">
      <dgm:prSet presAssocID="{0F2A6A6D-2400-4F98-B67D-735E58B76C06}" presName="composite4" presStyleCnt="0"/>
      <dgm:spPr/>
    </dgm:pt>
    <dgm:pt modelId="{53E762EF-3E62-4A54-81A1-E6024188ADDE}" type="pres">
      <dgm:prSet presAssocID="{0F2A6A6D-2400-4F98-B67D-735E58B76C06}" presName="background4" presStyleLbl="asst1" presStyleIdx="8" presStyleCnt="11"/>
      <dgm:spPr/>
    </dgm:pt>
    <dgm:pt modelId="{E0B5B1A0-AA89-465B-BCCD-065E0A9CA4E4}" type="pres">
      <dgm:prSet presAssocID="{0F2A6A6D-2400-4F98-B67D-735E58B76C06}" presName="text4" presStyleLbl="fgAcc4" presStyleIdx="4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F325337-73E3-4CA0-A3B0-959F6F2E7B68}" type="pres">
      <dgm:prSet presAssocID="{0F2A6A6D-2400-4F98-B67D-735E58B76C06}" presName="hierChild5" presStyleCnt="0"/>
      <dgm:spPr/>
    </dgm:pt>
    <dgm:pt modelId="{B2A6D099-1093-46E7-8756-66EC15DA0A50}" type="pres">
      <dgm:prSet presAssocID="{84EE524D-42C9-4D0B-923C-67A1FF3C04EE}" presName="Name23" presStyleLbl="parChTrans1D4" presStyleIdx="5" presStyleCnt="6"/>
      <dgm:spPr/>
      <dgm:t>
        <a:bodyPr/>
        <a:lstStyle/>
        <a:p>
          <a:endParaRPr lang="en-US"/>
        </a:p>
      </dgm:t>
    </dgm:pt>
    <dgm:pt modelId="{B71D8BEA-B1C2-48B2-8AC7-9C6D52839D75}" type="pres">
      <dgm:prSet presAssocID="{B3FA540B-03A3-42BA-A9D6-6E1E7C2DF708}" presName="hierRoot4" presStyleCnt="0"/>
      <dgm:spPr/>
    </dgm:pt>
    <dgm:pt modelId="{30EAFFC7-7B65-417E-A636-CDAEB24C16A3}" type="pres">
      <dgm:prSet presAssocID="{B3FA540B-03A3-42BA-A9D6-6E1E7C2DF708}" presName="composite4" presStyleCnt="0"/>
      <dgm:spPr/>
    </dgm:pt>
    <dgm:pt modelId="{9083CDE3-E0DC-403A-B4BB-127123FBF8A6}" type="pres">
      <dgm:prSet presAssocID="{B3FA540B-03A3-42BA-A9D6-6E1E7C2DF708}" presName="background4" presStyleLbl="asst1" presStyleIdx="9" presStyleCnt="11"/>
      <dgm:spPr/>
    </dgm:pt>
    <dgm:pt modelId="{2BA1452C-52A7-4550-9AFE-60E8A4580A7F}" type="pres">
      <dgm:prSet presAssocID="{B3FA540B-03A3-42BA-A9D6-6E1E7C2DF708}" presName="text4" presStyleLbl="fgAcc4" presStyleIdx="5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F3BAEED-4E51-406C-BF48-78BE36DDAED1}" type="pres">
      <dgm:prSet presAssocID="{B3FA540B-03A3-42BA-A9D6-6E1E7C2DF708}" presName="hierChild5" presStyleCnt="0"/>
      <dgm:spPr/>
    </dgm:pt>
    <dgm:pt modelId="{F9FC928B-8D10-4D0D-925C-755A645816D8}" type="pres">
      <dgm:prSet presAssocID="{3C03C177-ACF4-4EC2-A7E5-DA1A12C02BD3}" presName="Name17" presStyleLbl="parChTrans1D3" presStyleIdx="3" presStyleCnt="4"/>
      <dgm:spPr/>
      <dgm:t>
        <a:bodyPr/>
        <a:lstStyle/>
        <a:p>
          <a:endParaRPr lang="en-US"/>
        </a:p>
      </dgm:t>
    </dgm:pt>
    <dgm:pt modelId="{A188C706-EE93-4585-A7E4-74EBFC1D6D81}" type="pres">
      <dgm:prSet presAssocID="{61E6A20A-85B0-4CF5-8F19-FFF7EA283E82}" presName="hierRoot3" presStyleCnt="0"/>
      <dgm:spPr/>
    </dgm:pt>
    <dgm:pt modelId="{1D0F8191-D203-46C6-A2B8-CA751877193C}" type="pres">
      <dgm:prSet presAssocID="{61E6A20A-85B0-4CF5-8F19-FFF7EA283E82}" presName="composite3" presStyleCnt="0"/>
      <dgm:spPr/>
    </dgm:pt>
    <dgm:pt modelId="{FAA71861-B2FF-4991-88E4-10812AD89DDC}" type="pres">
      <dgm:prSet presAssocID="{61E6A20A-85B0-4CF5-8F19-FFF7EA283E82}" presName="background3" presStyleLbl="asst1" presStyleIdx="10" presStyleCnt="11"/>
      <dgm:spPr/>
    </dgm:pt>
    <dgm:pt modelId="{1A2DAF95-C333-4FE5-BECE-917CB8DD68FA}" type="pres">
      <dgm:prSet presAssocID="{61E6A20A-85B0-4CF5-8F19-FFF7EA283E82}" presName="text3" presStyleLbl="fgAcc3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AC43F34-8881-4689-9B7E-FA6749EB350A}" type="pres">
      <dgm:prSet presAssocID="{61E6A20A-85B0-4CF5-8F19-FFF7EA283E82}" presName="hierChild4" presStyleCnt="0"/>
      <dgm:spPr/>
    </dgm:pt>
  </dgm:ptLst>
  <dgm:cxnLst>
    <dgm:cxn modelId="{F65C1EAE-9894-4BC4-96EB-283EEA9FA073}" type="presOf" srcId="{48DF676E-DA88-4B56-BACE-F8221D622FC4}" destId="{3AD8B4B1-03EB-4E47-8812-90C9F3768295}" srcOrd="0" destOrd="0" presId="urn:microsoft.com/office/officeart/2005/8/layout/hierarchy1"/>
    <dgm:cxn modelId="{416A0EF1-6D28-4AC4-B2CA-561807ED3B42}" type="presOf" srcId="{2BF8510A-C018-4549-98A7-B52A2C017F4D}" destId="{FAD3A9FF-B1D9-4D1C-977E-FDFE3D6B2624}" srcOrd="0" destOrd="0" presId="urn:microsoft.com/office/officeart/2005/8/layout/hierarchy1"/>
    <dgm:cxn modelId="{E4A60FEE-155C-4A37-A734-604D60065F2F}" type="presOf" srcId="{5A5BE83B-061B-4EF9-9DAB-8D13C15780F5}" destId="{8857DB5F-6408-4891-A54D-724BF3FDAA52}" srcOrd="0" destOrd="0" presId="urn:microsoft.com/office/officeart/2005/8/layout/hierarchy1"/>
    <dgm:cxn modelId="{34B26801-BE88-4547-A90E-57C4705DA974}" type="presOf" srcId="{D4827EF5-4021-4607-8253-6E2C3E23057D}" destId="{676B677D-5ED6-4652-98BD-6510A363FEBC}" srcOrd="0" destOrd="0" presId="urn:microsoft.com/office/officeart/2005/8/layout/hierarchy1"/>
    <dgm:cxn modelId="{59C528DE-8E8A-4E04-B956-A7D8383975EA}" srcId="{29E628F7-C1E3-4760-9195-39B50397F4CF}" destId="{2BF8510A-C018-4549-98A7-B52A2C017F4D}" srcOrd="0" destOrd="0" parTransId="{38336EBF-06ED-422C-A769-4047E63649A8}" sibTransId="{EFED6CFE-BB32-4570-A570-1D1C18E14712}"/>
    <dgm:cxn modelId="{482A45C4-A31D-4C76-B731-259616FBF494}" srcId="{2BF8510A-C018-4549-98A7-B52A2C017F4D}" destId="{C586E080-D89B-4DAC-AACA-8B88CFB05EA1}" srcOrd="1" destOrd="0" parTransId="{51E24BBE-C4CB-4DE6-B754-2A145640CD10}" sibTransId="{CF71488C-67DA-4DE3-B61A-D97D42F84BBA}"/>
    <dgm:cxn modelId="{07ED7B92-D73B-4FE3-B946-C97E44E84D3D}" srcId="{C586E080-D89B-4DAC-AACA-8B88CFB05EA1}" destId="{43CBE11A-0892-42F3-BD43-0A12C40A9CFD}" srcOrd="0" destOrd="0" parTransId="{33F4705B-10CA-4C70-A274-2168389C6CEC}" sibTransId="{CCA8C5BC-67BC-46D6-A4F0-09E468A2EE40}"/>
    <dgm:cxn modelId="{A957D661-5990-4C2E-AE19-C4DEAD87CFBD}" type="presOf" srcId="{0F2A6A6D-2400-4F98-B67D-735E58B76C06}" destId="{E0B5B1A0-AA89-465B-BCCD-065E0A9CA4E4}" srcOrd="0" destOrd="0" presId="urn:microsoft.com/office/officeart/2005/8/layout/hierarchy1"/>
    <dgm:cxn modelId="{EF4DB9AE-8F94-4EA4-868E-C331A26DCD76}" srcId="{43CBE11A-0892-42F3-BD43-0A12C40A9CFD}" destId="{7424C253-04EB-4BA3-A7F0-58CADAB826D0}" srcOrd="1" destOrd="0" parTransId="{17571941-60D8-4FE3-A9E9-87370FBDA8B7}" sibTransId="{4EE39E78-ABFB-4254-A851-3326A5CBCE2C}"/>
    <dgm:cxn modelId="{EAD245C5-533A-41E6-BFF5-EAAB201247CC}" type="presOf" srcId="{B5B008D3-3C2E-4CE6-9F71-CF55B7A1CED0}" destId="{0DF03D1D-D821-4281-8822-6E5AB593AEC5}" srcOrd="0" destOrd="0" presId="urn:microsoft.com/office/officeart/2005/8/layout/hierarchy1"/>
    <dgm:cxn modelId="{4372AF6A-42C5-4281-959A-A3405D7DA9AD}" srcId="{43CBE11A-0892-42F3-BD43-0A12C40A9CFD}" destId="{5A5BE83B-061B-4EF9-9DAB-8D13C15780F5}" srcOrd="0" destOrd="0" parTransId="{6E5046F3-E7A0-4FEC-A874-9FB85C97859D}" sibTransId="{4017E705-ADD8-4EA7-AD01-886D16085F8D}"/>
    <dgm:cxn modelId="{1513EFC6-D78C-4446-AEE1-4DEF3FA02E50}" type="presOf" srcId="{C586E080-D89B-4DAC-AACA-8B88CFB05EA1}" destId="{653552D7-9011-4668-BC29-6CD6BE380443}" srcOrd="0" destOrd="0" presId="urn:microsoft.com/office/officeart/2005/8/layout/hierarchy1"/>
    <dgm:cxn modelId="{D11F1868-E64A-404A-8F28-9B9F5D8FC390}" type="presOf" srcId="{61E6A20A-85B0-4CF5-8F19-FFF7EA283E82}" destId="{1A2DAF95-C333-4FE5-BECE-917CB8DD68FA}" srcOrd="0" destOrd="0" presId="urn:microsoft.com/office/officeart/2005/8/layout/hierarchy1"/>
    <dgm:cxn modelId="{9ED6E40D-C3AE-4C55-A88F-146500CBD134}" srcId="{5A5BE83B-061B-4EF9-9DAB-8D13C15780F5}" destId="{6212A81E-1A77-44DD-98AD-C49F9763019F}" srcOrd="1" destOrd="0" parTransId="{B2F0C5FA-91D7-4C84-B6FE-F8E6A0B962AE}" sibTransId="{9A19CD81-11AA-4916-A69C-2B87770C826C}"/>
    <dgm:cxn modelId="{31E6FD93-BF41-42B1-8A5E-28822783B4FD}" srcId="{5A5BE83B-061B-4EF9-9DAB-8D13C15780F5}" destId="{B5B008D3-3C2E-4CE6-9F71-CF55B7A1CED0}" srcOrd="0" destOrd="0" parTransId="{D4827EF5-4021-4607-8253-6E2C3E23057D}" sibTransId="{F8E89FCF-442B-47DA-B761-99A3628F30A1}"/>
    <dgm:cxn modelId="{10B0C4AB-B1C2-4B50-8617-141D338F6502}" srcId="{3F97AE5B-B40F-4E86-9991-9F3764C3381D}" destId="{5AF70E37-63FF-4D2B-8396-C028C0128244}" srcOrd="0" destOrd="0" parTransId="{61DEAA2C-9524-43AC-ABB2-F66676FFF3F4}" sibTransId="{E794012C-C8A2-4768-8226-7B89371871DE}"/>
    <dgm:cxn modelId="{871CEC04-78D4-43C6-A614-AA660FF653B5}" type="presOf" srcId="{29E628F7-C1E3-4760-9195-39B50397F4CF}" destId="{ADEC159D-A5C1-4D78-8580-1A6AF3D7C7F8}" srcOrd="0" destOrd="0" presId="urn:microsoft.com/office/officeart/2005/8/layout/hierarchy1"/>
    <dgm:cxn modelId="{48EA3506-B93C-44BF-A92B-8DEEA92C6348}" srcId="{3F97AE5B-B40F-4E86-9991-9F3764C3381D}" destId="{C7AE168A-5DB7-443F-97BF-B25BF5A5E65D}" srcOrd="1" destOrd="0" parTransId="{48DF676E-DA88-4B56-BACE-F8221D622FC4}" sibTransId="{DBA37D19-3F07-4ACE-85A5-6C0CD4646787}"/>
    <dgm:cxn modelId="{8AEA28B8-20C4-45BB-9ECB-5C5106B57D21}" type="presOf" srcId="{831147EE-E9D7-44F7-974B-6E930EC8F136}" destId="{5A89A8FC-758F-447B-B43C-9BE368B3EE94}" srcOrd="0" destOrd="0" presId="urn:microsoft.com/office/officeart/2005/8/layout/hierarchy1"/>
    <dgm:cxn modelId="{A334FF57-A224-4B0C-A5A4-2B9CD591420F}" type="presOf" srcId="{51E24BBE-C4CB-4DE6-B754-2A145640CD10}" destId="{91519FE6-DF2A-413B-8946-F5EFD7057D78}" srcOrd="0" destOrd="0" presId="urn:microsoft.com/office/officeart/2005/8/layout/hierarchy1"/>
    <dgm:cxn modelId="{3FC5DF8C-0EA4-4FE6-B438-32D00597A426}" srcId="{7424C253-04EB-4BA3-A7F0-58CADAB826D0}" destId="{B3FA540B-03A3-42BA-A9D6-6E1E7C2DF708}" srcOrd="1" destOrd="0" parTransId="{84EE524D-42C9-4D0B-923C-67A1FF3C04EE}" sibTransId="{AC3B7503-A621-4077-B5D4-47E9FB73ABD5}"/>
    <dgm:cxn modelId="{596F9770-B8C5-4509-96DF-80DA8AA95171}" srcId="{7424C253-04EB-4BA3-A7F0-58CADAB826D0}" destId="{0F2A6A6D-2400-4F98-B67D-735E58B76C06}" srcOrd="0" destOrd="0" parTransId="{831147EE-E9D7-44F7-974B-6E930EC8F136}" sibTransId="{3825F9DB-437A-44FB-978F-BDC9F481FEB9}"/>
    <dgm:cxn modelId="{9F06DBB6-0FB5-4067-872F-395339CACB25}" type="presOf" srcId="{6212A81E-1A77-44DD-98AD-C49F9763019F}" destId="{4F2C1BBB-C022-43B4-9357-BDA8B9F4C5B2}" srcOrd="0" destOrd="0" presId="urn:microsoft.com/office/officeart/2005/8/layout/hierarchy1"/>
    <dgm:cxn modelId="{232DA9B4-2B77-4A24-8992-A37C5427BFF6}" type="presOf" srcId="{5AF70E37-63FF-4D2B-8396-C028C0128244}" destId="{21FA5FC1-6AD1-43CD-9373-F50650A26815}" srcOrd="0" destOrd="0" presId="urn:microsoft.com/office/officeart/2005/8/layout/hierarchy1"/>
    <dgm:cxn modelId="{720F48F8-83BC-4DFD-BC4F-7F789137AEE2}" type="presOf" srcId="{6E5046F3-E7A0-4FEC-A874-9FB85C97859D}" destId="{0F2E8EB3-811C-4D3B-9470-156EBA34E9A5}" srcOrd="0" destOrd="0" presId="urn:microsoft.com/office/officeart/2005/8/layout/hierarchy1"/>
    <dgm:cxn modelId="{2AEFBF0A-2C65-4208-BE4D-E551AA1DCDB0}" type="presOf" srcId="{B2F0C5FA-91D7-4C84-B6FE-F8E6A0B962AE}" destId="{AC8A6B62-21F2-4C27-A368-26A8980EB4AB}" srcOrd="0" destOrd="0" presId="urn:microsoft.com/office/officeart/2005/8/layout/hierarchy1"/>
    <dgm:cxn modelId="{91C15ABC-830F-43F1-90FD-344A56479876}" type="presOf" srcId="{33F4705B-10CA-4C70-A274-2168389C6CEC}" destId="{A4FE9DFF-2886-4529-A5C6-F440C0E5885E}" srcOrd="0" destOrd="0" presId="urn:microsoft.com/office/officeart/2005/8/layout/hierarchy1"/>
    <dgm:cxn modelId="{3B6130ED-5684-4987-8125-150C72D1C39D}" type="presOf" srcId="{7424C253-04EB-4BA3-A7F0-58CADAB826D0}" destId="{F8FA1B98-7F71-4696-BC7A-FBE9CBB476AF}" srcOrd="0" destOrd="0" presId="urn:microsoft.com/office/officeart/2005/8/layout/hierarchy1"/>
    <dgm:cxn modelId="{E9B6706A-51B6-4019-9B30-01A7C319D5FB}" type="presOf" srcId="{84EE524D-42C9-4D0B-923C-67A1FF3C04EE}" destId="{B2A6D099-1093-46E7-8756-66EC15DA0A50}" srcOrd="0" destOrd="0" presId="urn:microsoft.com/office/officeart/2005/8/layout/hierarchy1"/>
    <dgm:cxn modelId="{16D9FF82-E030-4F44-A119-F418259B47DD}" type="presOf" srcId="{CB60F58C-65AC-4EB8-B722-9B725C3353C7}" destId="{3E3D6991-DB58-4C70-98E9-042505034308}" srcOrd="0" destOrd="0" presId="urn:microsoft.com/office/officeart/2005/8/layout/hierarchy1"/>
    <dgm:cxn modelId="{FBE2BA70-0932-4ABE-8ED7-0A10AC6F9A52}" type="presOf" srcId="{3F97AE5B-B40F-4E86-9991-9F3764C3381D}" destId="{92822955-090E-4FE8-8CC0-8A68B4E2BD7A}" srcOrd="0" destOrd="0" presId="urn:microsoft.com/office/officeart/2005/8/layout/hierarchy1"/>
    <dgm:cxn modelId="{C1FE12E5-7E79-4943-A8C4-22A5A0695A0D}" type="presOf" srcId="{B3FA540B-03A3-42BA-A9D6-6E1E7C2DF708}" destId="{2BA1452C-52A7-4550-9AFE-60E8A4580A7F}" srcOrd="0" destOrd="0" presId="urn:microsoft.com/office/officeart/2005/8/layout/hierarchy1"/>
    <dgm:cxn modelId="{C0396889-C002-4758-A345-930068413ECA}" srcId="{2BF8510A-C018-4549-98A7-B52A2C017F4D}" destId="{3F97AE5B-B40F-4E86-9991-9F3764C3381D}" srcOrd="0" destOrd="0" parTransId="{CB60F58C-65AC-4EB8-B722-9B725C3353C7}" sibTransId="{AA41377E-F976-44B1-A5AD-67F347091AC5}"/>
    <dgm:cxn modelId="{773013DD-DDB0-4D2C-9612-13C87E0D9726}" type="presOf" srcId="{17571941-60D8-4FE3-A9E9-87370FBDA8B7}" destId="{9D2CA38B-A0C4-45E2-B13E-2491BB2F1EB8}" srcOrd="0" destOrd="0" presId="urn:microsoft.com/office/officeart/2005/8/layout/hierarchy1"/>
    <dgm:cxn modelId="{28140B87-D1A4-4321-804E-E54FC59981EC}" srcId="{C586E080-D89B-4DAC-AACA-8B88CFB05EA1}" destId="{61E6A20A-85B0-4CF5-8F19-FFF7EA283E82}" srcOrd="1" destOrd="0" parTransId="{3C03C177-ACF4-4EC2-A7E5-DA1A12C02BD3}" sibTransId="{005BCA90-08A5-4374-AF5F-677D4C223FAB}"/>
    <dgm:cxn modelId="{C0244477-9E33-4E3A-BFEF-399997405D75}" type="presOf" srcId="{C7AE168A-5DB7-443F-97BF-B25BF5A5E65D}" destId="{B20A80AD-FD8B-4315-A071-D37420AF70E2}" srcOrd="0" destOrd="0" presId="urn:microsoft.com/office/officeart/2005/8/layout/hierarchy1"/>
    <dgm:cxn modelId="{7DA0500C-F0AA-4E43-B3E6-FF50F7045BE7}" type="presOf" srcId="{3C03C177-ACF4-4EC2-A7E5-DA1A12C02BD3}" destId="{F9FC928B-8D10-4D0D-925C-755A645816D8}" srcOrd="0" destOrd="0" presId="urn:microsoft.com/office/officeart/2005/8/layout/hierarchy1"/>
    <dgm:cxn modelId="{254CF2C0-8799-4234-810E-A89BFA9254CE}" type="presOf" srcId="{43CBE11A-0892-42F3-BD43-0A12C40A9CFD}" destId="{9CB89BBC-1F32-4E07-B52E-EABA41621B54}" srcOrd="0" destOrd="0" presId="urn:microsoft.com/office/officeart/2005/8/layout/hierarchy1"/>
    <dgm:cxn modelId="{C9DA922B-355C-405C-975C-4CAE8D4EF9D3}" type="presOf" srcId="{61DEAA2C-9524-43AC-ABB2-F66676FFF3F4}" destId="{42B4F584-BE8C-4271-AFF0-C319D838E18B}" srcOrd="0" destOrd="0" presId="urn:microsoft.com/office/officeart/2005/8/layout/hierarchy1"/>
    <dgm:cxn modelId="{5D861E9E-C5B0-49AC-89A6-9D0E5CA1E10E}" type="presParOf" srcId="{ADEC159D-A5C1-4D78-8580-1A6AF3D7C7F8}" destId="{608F3690-8A6D-4A6F-8D58-04E57A4178CF}" srcOrd="0" destOrd="0" presId="urn:microsoft.com/office/officeart/2005/8/layout/hierarchy1"/>
    <dgm:cxn modelId="{305FEEB9-946B-4B9A-B1ED-5A5B41EE4598}" type="presParOf" srcId="{608F3690-8A6D-4A6F-8D58-04E57A4178CF}" destId="{ED027042-9BFA-4C5F-9FDF-04F99CA3C991}" srcOrd="0" destOrd="0" presId="urn:microsoft.com/office/officeart/2005/8/layout/hierarchy1"/>
    <dgm:cxn modelId="{25B0756A-80F2-4BFA-A7FC-85B6D886CE35}" type="presParOf" srcId="{ED027042-9BFA-4C5F-9FDF-04F99CA3C991}" destId="{8DB3B84C-DC2A-4C93-BD38-351347F98061}" srcOrd="0" destOrd="0" presId="urn:microsoft.com/office/officeart/2005/8/layout/hierarchy1"/>
    <dgm:cxn modelId="{9CBE219B-EF99-4E93-96B1-7EBEC79C7507}" type="presParOf" srcId="{ED027042-9BFA-4C5F-9FDF-04F99CA3C991}" destId="{FAD3A9FF-B1D9-4D1C-977E-FDFE3D6B2624}" srcOrd="1" destOrd="0" presId="urn:microsoft.com/office/officeart/2005/8/layout/hierarchy1"/>
    <dgm:cxn modelId="{8EE707B6-6C95-4690-8322-74EA64250FF4}" type="presParOf" srcId="{608F3690-8A6D-4A6F-8D58-04E57A4178CF}" destId="{569BD863-0C30-4793-A32A-3825C9942FBF}" srcOrd="1" destOrd="0" presId="urn:microsoft.com/office/officeart/2005/8/layout/hierarchy1"/>
    <dgm:cxn modelId="{9427A1D6-71EF-474B-AEDC-638A1C5B1FEE}" type="presParOf" srcId="{569BD863-0C30-4793-A32A-3825C9942FBF}" destId="{3E3D6991-DB58-4C70-98E9-042505034308}" srcOrd="0" destOrd="0" presId="urn:microsoft.com/office/officeart/2005/8/layout/hierarchy1"/>
    <dgm:cxn modelId="{029AE8D5-473F-46F5-BBE4-5241FE928C86}" type="presParOf" srcId="{569BD863-0C30-4793-A32A-3825C9942FBF}" destId="{AABF96B0-91D0-4519-A881-CE4EDE116981}" srcOrd="1" destOrd="0" presId="urn:microsoft.com/office/officeart/2005/8/layout/hierarchy1"/>
    <dgm:cxn modelId="{3033B462-BE0B-4329-97B7-F4DA36D82794}" type="presParOf" srcId="{AABF96B0-91D0-4519-A881-CE4EDE116981}" destId="{CB5961FA-0BB6-4286-92C8-893464E65B5A}" srcOrd="0" destOrd="0" presId="urn:microsoft.com/office/officeart/2005/8/layout/hierarchy1"/>
    <dgm:cxn modelId="{B6843D10-D60D-4129-93CC-FD2DD349BE5C}" type="presParOf" srcId="{CB5961FA-0BB6-4286-92C8-893464E65B5A}" destId="{1668D5F1-001F-4FFB-AEC8-38EE4ECAEB9C}" srcOrd="0" destOrd="0" presId="urn:microsoft.com/office/officeart/2005/8/layout/hierarchy1"/>
    <dgm:cxn modelId="{4408ECFB-9E3B-4CDB-A83B-F8E0AAA3E60E}" type="presParOf" srcId="{CB5961FA-0BB6-4286-92C8-893464E65B5A}" destId="{92822955-090E-4FE8-8CC0-8A68B4E2BD7A}" srcOrd="1" destOrd="0" presId="urn:microsoft.com/office/officeart/2005/8/layout/hierarchy1"/>
    <dgm:cxn modelId="{416A9765-5B92-4A53-8138-E8EC86744533}" type="presParOf" srcId="{AABF96B0-91D0-4519-A881-CE4EDE116981}" destId="{020D0AB3-4D30-4618-990D-3DC2D29B9BDC}" srcOrd="1" destOrd="0" presId="urn:microsoft.com/office/officeart/2005/8/layout/hierarchy1"/>
    <dgm:cxn modelId="{DF7E88B9-0B91-4915-A8F0-42805944F136}" type="presParOf" srcId="{020D0AB3-4D30-4618-990D-3DC2D29B9BDC}" destId="{42B4F584-BE8C-4271-AFF0-C319D838E18B}" srcOrd="0" destOrd="0" presId="urn:microsoft.com/office/officeart/2005/8/layout/hierarchy1"/>
    <dgm:cxn modelId="{725D5021-8524-4072-B6D7-D901B930C695}" type="presParOf" srcId="{020D0AB3-4D30-4618-990D-3DC2D29B9BDC}" destId="{1BD4F75F-7DF7-494A-A56F-AD7A5176D63D}" srcOrd="1" destOrd="0" presId="urn:microsoft.com/office/officeart/2005/8/layout/hierarchy1"/>
    <dgm:cxn modelId="{6F21F22B-52F4-4C18-B18B-2A4E781B55C8}" type="presParOf" srcId="{1BD4F75F-7DF7-494A-A56F-AD7A5176D63D}" destId="{8DB2BDD5-41FA-41E9-8EAC-6681ABA50358}" srcOrd="0" destOrd="0" presId="urn:microsoft.com/office/officeart/2005/8/layout/hierarchy1"/>
    <dgm:cxn modelId="{BB7C62CB-FFC9-40A0-BB52-3E39DA3247CE}" type="presParOf" srcId="{8DB2BDD5-41FA-41E9-8EAC-6681ABA50358}" destId="{335E8EA0-1DFF-4238-9DC4-0FB5429A7371}" srcOrd="0" destOrd="0" presId="urn:microsoft.com/office/officeart/2005/8/layout/hierarchy1"/>
    <dgm:cxn modelId="{6FB2921C-79ED-4376-A2E7-F07F479A8EB2}" type="presParOf" srcId="{8DB2BDD5-41FA-41E9-8EAC-6681ABA50358}" destId="{21FA5FC1-6AD1-43CD-9373-F50650A26815}" srcOrd="1" destOrd="0" presId="urn:microsoft.com/office/officeart/2005/8/layout/hierarchy1"/>
    <dgm:cxn modelId="{18F5A93E-F18F-48D0-BBBD-0967D445FDA0}" type="presParOf" srcId="{1BD4F75F-7DF7-494A-A56F-AD7A5176D63D}" destId="{0EE64A55-7A95-47B3-8409-02D3C69864A6}" srcOrd="1" destOrd="0" presId="urn:microsoft.com/office/officeart/2005/8/layout/hierarchy1"/>
    <dgm:cxn modelId="{273B59C3-A8AB-420D-BEB7-3429DE2BC3BB}" type="presParOf" srcId="{020D0AB3-4D30-4618-990D-3DC2D29B9BDC}" destId="{3AD8B4B1-03EB-4E47-8812-90C9F3768295}" srcOrd="2" destOrd="0" presId="urn:microsoft.com/office/officeart/2005/8/layout/hierarchy1"/>
    <dgm:cxn modelId="{01258586-CC81-4242-8E5A-6E0E8C7CFDAE}" type="presParOf" srcId="{020D0AB3-4D30-4618-990D-3DC2D29B9BDC}" destId="{75CA97F5-5443-41F2-99BC-7B9C8BB3C929}" srcOrd="3" destOrd="0" presId="urn:microsoft.com/office/officeart/2005/8/layout/hierarchy1"/>
    <dgm:cxn modelId="{352E7163-A424-4948-A83A-0CB5C06A51A6}" type="presParOf" srcId="{75CA97F5-5443-41F2-99BC-7B9C8BB3C929}" destId="{7312C5F7-137B-4AB6-B6BC-A63895664CD8}" srcOrd="0" destOrd="0" presId="urn:microsoft.com/office/officeart/2005/8/layout/hierarchy1"/>
    <dgm:cxn modelId="{F5A6F9C0-0BA7-47B4-9AB1-DFE8584F5C8C}" type="presParOf" srcId="{7312C5F7-137B-4AB6-B6BC-A63895664CD8}" destId="{06FB3540-9BA1-42A4-B260-06BC724B247A}" srcOrd="0" destOrd="0" presId="urn:microsoft.com/office/officeart/2005/8/layout/hierarchy1"/>
    <dgm:cxn modelId="{75283A88-FB8C-4FF9-AB59-871CA5759377}" type="presParOf" srcId="{7312C5F7-137B-4AB6-B6BC-A63895664CD8}" destId="{B20A80AD-FD8B-4315-A071-D37420AF70E2}" srcOrd="1" destOrd="0" presId="urn:microsoft.com/office/officeart/2005/8/layout/hierarchy1"/>
    <dgm:cxn modelId="{AE9EA674-6EA4-465F-A1EE-187242CE19BA}" type="presParOf" srcId="{75CA97F5-5443-41F2-99BC-7B9C8BB3C929}" destId="{69BDB5FB-A306-4F89-AEBF-A7E927964FF0}" srcOrd="1" destOrd="0" presId="urn:microsoft.com/office/officeart/2005/8/layout/hierarchy1"/>
    <dgm:cxn modelId="{FBE3CD95-D74E-4119-A394-FFD76D6F5A3F}" type="presParOf" srcId="{569BD863-0C30-4793-A32A-3825C9942FBF}" destId="{91519FE6-DF2A-413B-8946-F5EFD7057D78}" srcOrd="2" destOrd="0" presId="urn:microsoft.com/office/officeart/2005/8/layout/hierarchy1"/>
    <dgm:cxn modelId="{A2D7C492-CCA7-4CE6-A752-DC5A8D4C7480}" type="presParOf" srcId="{569BD863-0C30-4793-A32A-3825C9942FBF}" destId="{1EBA0923-B41A-4D71-A048-BBE0EFFEB445}" srcOrd="3" destOrd="0" presId="urn:microsoft.com/office/officeart/2005/8/layout/hierarchy1"/>
    <dgm:cxn modelId="{E62418A8-3A61-4DA6-878B-44D58C01CB70}" type="presParOf" srcId="{1EBA0923-B41A-4D71-A048-BBE0EFFEB445}" destId="{5B31C618-7979-4D28-97FC-26020F999E6E}" srcOrd="0" destOrd="0" presId="urn:microsoft.com/office/officeart/2005/8/layout/hierarchy1"/>
    <dgm:cxn modelId="{D9FEB30E-0B85-46E5-A7A3-948EF988E359}" type="presParOf" srcId="{5B31C618-7979-4D28-97FC-26020F999E6E}" destId="{8D9D126D-F1FA-4B0B-B1BE-04296CFFB01F}" srcOrd="0" destOrd="0" presId="urn:microsoft.com/office/officeart/2005/8/layout/hierarchy1"/>
    <dgm:cxn modelId="{5007D0A9-6EBC-4798-989D-90190A1CABD0}" type="presParOf" srcId="{5B31C618-7979-4D28-97FC-26020F999E6E}" destId="{653552D7-9011-4668-BC29-6CD6BE380443}" srcOrd="1" destOrd="0" presId="urn:microsoft.com/office/officeart/2005/8/layout/hierarchy1"/>
    <dgm:cxn modelId="{974DB010-0CCA-4580-A39C-14F511B15CF7}" type="presParOf" srcId="{1EBA0923-B41A-4D71-A048-BBE0EFFEB445}" destId="{94490786-F6FF-4A79-9920-4F0EDD76CFC7}" srcOrd="1" destOrd="0" presId="urn:microsoft.com/office/officeart/2005/8/layout/hierarchy1"/>
    <dgm:cxn modelId="{5E467EB7-9DB8-4066-8ED4-2F7A31C15604}" type="presParOf" srcId="{94490786-F6FF-4A79-9920-4F0EDD76CFC7}" destId="{A4FE9DFF-2886-4529-A5C6-F440C0E5885E}" srcOrd="0" destOrd="0" presId="urn:microsoft.com/office/officeart/2005/8/layout/hierarchy1"/>
    <dgm:cxn modelId="{4DA57911-5892-415E-A979-37C8AAD38D4D}" type="presParOf" srcId="{94490786-F6FF-4A79-9920-4F0EDD76CFC7}" destId="{C13B32B9-3FFC-4A78-B46B-F71F4E0563ED}" srcOrd="1" destOrd="0" presId="urn:microsoft.com/office/officeart/2005/8/layout/hierarchy1"/>
    <dgm:cxn modelId="{73189638-541E-4389-9C49-1979CAF65D97}" type="presParOf" srcId="{C13B32B9-3FFC-4A78-B46B-F71F4E0563ED}" destId="{4E6D8F37-8D60-45B1-A19D-9DB69192BB01}" srcOrd="0" destOrd="0" presId="urn:microsoft.com/office/officeart/2005/8/layout/hierarchy1"/>
    <dgm:cxn modelId="{EAE05AAF-47C7-4D75-82CE-F4885A9426C0}" type="presParOf" srcId="{4E6D8F37-8D60-45B1-A19D-9DB69192BB01}" destId="{0DCED176-BC85-488D-B966-335CCBE7AE66}" srcOrd="0" destOrd="0" presId="urn:microsoft.com/office/officeart/2005/8/layout/hierarchy1"/>
    <dgm:cxn modelId="{183C6201-C9EF-4451-8C0C-479A9A412769}" type="presParOf" srcId="{4E6D8F37-8D60-45B1-A19D-9DB69192BB01}" destId="{9CB89BBC-1F32-4E07-B52E-EABA41621B54}" srcOrd="1" destOrd="0" presId="urn:microsoft.com/office/officeart/2005/8/layout/hierarchy1"/>
    <dgm:cxn modelId="{282DB333-C542-400A-8A50-43B1FCB634FA}" type="presParOf" srcId="{C13B32B9-3FFC-4A78-B46B-F71F4E0563ED}" destId="{0AD803ED-C072-461A-8533-BAE97A45FA21}" srcOrd="1" destOrd="0" presId="urn:microsoft.com/office/officeart/2005/8/layout/hierarchy1"/>
    <dgm:cxn modelId="{5B27E7DE-B9BD-49ED-AD79-DB155430B90A}" type="presParOf" srcId="{0AD803ED-C072-461A-8533-BAE97A45FA21}" destId="{0F2E8EB3-811C-4D3B-9470-156EBA34E9A5}" srcOrd="0" destOrd="0" presId="urn:microsoft.com/office/officeart/2005/8/layout/hierarchy1"/>
    <dgm:cxn modelId="{86D6B214-F6D6-49DC-B663-068AD618297D}" type="presParOf" srcId="{0AD803ED-C072-461A-8533-BAE97A45FA21}" destId="{FE3817F5-5EA0-4663-A455-94583265E1A0}" srcOrd="1" destOrd="0" presId="urn:microsoft.com/office/officeart/2005/8/layout/hierarchy1"/>
    <dgm:cxn modelId="{9D04AFED-FB03-4039-9A5D-2872DB30CE36}" type="presParOf" srcId="{FE3817F5-5EA0-4663-A455-94583265E1A0}" destId="{2EC85A8A-9E69-461D-9969-F33B7EB6E652}" srcOrd="0" destOrd="0" presId="urn:microsoft.com/office/officeart/2005/8/layout/hierarchy1"/>
    <dgm:cxn modelId="{3C74A0DB-FB97-45DE-9159-272E00A1DF2A}" type="presParOf" srcId="{2EC85A8A-9E69-461D-9969-F33B7EB6E652}" destId="{76166ECB-C2BD-4686-ADEF-BFE2AB2B4A94}" srcOrd="0" destOrd="0" presId="urn:microsoft.com/office/officeart/2005/8/layout/hierarchy1"/>
    <dgm:cxn modelId="{F0B99265-8BAC-413C-9909-640268BA4F0B}" type="presParOf" srcId="{2EC85A8A-9E69-461D-9969-F33B7EB6E652}" destId="{8857DB5F-6408-4891-A54D-724BF3FDAA52}" srcOrd="1" destOrd="0" presId="urn:microsoft.com/office/officeart/2005/8/layout/hierarchy1"/>
    <dgm:cxn modelId="{B17679BC-F533-4FD3-9983-85500F01B919}" type="presParOf" srcId="{FE3817F5-5EA0-4663-A455-94583265E1A0}" destId="{E854C05D-EFF7-4915-8926-966BC38E28D4}" srcOrd="1" destOrd="0" presId="urn:microsoft.com/office/officeart/2005/8/layout/hierarchy1"/>
    <dgm:cxn modelId="{6D52648E-43BE-4F15-81B4-A97B31986529}" type="presParOf" srcId="{E854C05D-EFF7-4915-8926-966BC38E28D4}" destId="{676B677D-5ED6-4652-98BD-6510A363FEBC}" srcOrd="0" destOrd="0" presId="urn:microsoft.com/office/officeart/2005/8/layout/hierarchy1"/>
    <dgm:cxn modelId="{5FEFF20D-4331-452B-A547-DD46388A1319}" type="presParOf" srcId="{E854C05D-EFF7-4915-8926-966BC38E28D4}" destId="{FAC46F22-2738-4FD3-8D23-EF4D850494FC}" srcOrd="1" destOrd="0" presId="urn:microsoft.com/office/officeart/2005/8/layout/hierarchy1"/>
    <dgm:cxn modelId="{0591AAD5-4D8B-457E-A1D7-2EB7E6C2D841}" type="presParOf" srcId="{FAC46F22-2738-4FD3-8D23-EF4D850494FC}" destId="{4B1286B5-2D24-4244-B5B1-E33F03BB53CD}" srcOrd="0" destOrd="0" presId="urn:microsoft.com/office/officeart/2005/8/layout/hierarchy1"/>
    <dgm:cxn modelId="{081BFF97-1160-4C1A-B4B0-8E13AA818346}" type="presParOf" srcId="{4B1286B5-2D24-4244-B5B1-E33F03BB53CD}" destId="{60AA7CF9-E424-420B-AACD-6FC9FFCFF467}" srcOrd="0" destOrd="0" presId="urn:microsoft.com/office/officeart/2005/8/layout/hierarchy1"/>
    <dgm:cxn modelId="{773735D7-FDC1-404D-8932-5077D148CACE}" type="presParOf" srcId="{4B1286B5-2D24-4244-B5B1-E33F03BB53CD}" destId="{0DF03D1D-D821-4281-8822-6E5AB593AEC5}" srcOrd="1" destOrd="0" presId="urn:microsoft.com/office/officeart/2005/8/layout/hierarchy1"/>
    <dgm:cxn modelId="{4E012FBC-3402-4EE2-AA4E-80ED5D5AA9EF}" type="presParOf" srcId="{FAC46F22-2738-4FD3-8D23-EF4D850494FC}" destId="{B697243A-CCD6-4A3B-A1E8-CE13B81E5D3C}" srcOrd="1" destOrd="0" presId="urn:microsoft.com/office/officeart/2005/8/layout/hierarchy1"/>
    <dgm:cxn modelId="{038A31E5-9D1D-4F44-AFA8-0FFC939987B7}" type="presParOf" srcId="{E854C05D-EFF7-4915-8926-966BC38E28D4}" destId="{AC8A6B62-21F2-4C27-A368-26A8980EB4AB}" srcOrd="2" destOrd="0" presId="urn:microsoft.com/office/officeart/2005/8/layout/hierarchy1"/>
    <dgm:cxn modelId="{852D2CAF-ACC3-4688-A46E-59C80A9C195D}" type="presParOf" srcId="{E854C05D-EFF7-4915-8926-966BC38E28D4}" destId="{ABEE7684-C46F-4A21-AEEA-7D055ACD9D3A}" srcOrd="3" destOrd="0" presId="urn:microsoft.com/office/officeart/2005/8/layout/hierarchy1"/>
    <dgm:cxn modelId="{012E1E90-9F5A-449E-93D4-839C31E47108}" type="presParOf" srcId="{ABEE7684-C46F-4A21-AEEA-7D055ACD9D3A}" destId="{78BFC171-3C53-4F3F-99CA-3B8BAD2B7E14}" srcOrd="0" destOrd="0" presId="urn:microsoft.com/office/officeart/2005/8/layout/hierarchy1"/>
    <dgm:cxn modelId="{A151B9A9-EB8F-4B39-90FE-18095F2F0CED}" type="presParOf" srcId="{78BFC171-3C53-4F3F-99CA-3B8BAD2B7E14}" destId="{CE035EE5-3465-4226-92BD-305A4EE4FA4A}" srcOrd="0" destOrd="0" presId="urn:microsoft.com/office/officeart/2005/8/layout/hierarchy1"/>
    <dgm:cxn modelId="{719FC3DF-D1F0-44D5-A6B3-54E3267A9F5E}" type="presParOf" srcId="{78BFC171-3C53-4F3F-99CA-3B8BAD2B7E14}" destId="{4F2C1BBB-C022-43B4-9357-BDA8B9F4C5B2}" srcOrd="1" destOrd="0" presId="urn:microsoft.com/office/officeart/2005/8/layout/hierarchy1"/>
    <dgm:cxn modelId="{50B6525A-284F-4D2A-8E34-104423EEF6C3}" type="presParOf" srcId="{ABEE7684-C46F-4A21-AEEA-7D055ACD9D3A}" destId="{0F93780F-0721-4C43-BCB1-6C239CC5A998}" srcOrd="1" destOrd="0" presId="urn:microsoft.com/office/officeart/2005/8/layout/hierarchy1"/>
    <dgm:cxn modelId="{0DA3F5EC-1CF8-41CD-81FA-1A900E75B976}" type="presParOf" srcId="{0AD803ED-C072-461A-8533-BAE97A45FA21}" destId="{9D2CA38B-A0C4-45E2-B13E-2491BB2F1EB8}" srcOrd="2" destOrd="0" presId="urn:microsoft.com/office/officeart/2005/8/layout/hierarchy1"/>
    <dgm:cxn modelId="{3F67FBEE-8825-4E93-AC7B-17EFB55B69A5}" type="presParOf" srcId="{0AD803ED-C072-461A-8533-BAE97A45FA21}" destId="{C0AEC980-CF14-4B0A-8661-87865CB7977B}" srcOrd="3" destOrd="0" presId="urn:microsoft.com/office/officeart/2005/8/layout/hierarchy1"/>
    <dgm:cxn modelId="{4D99B5C7-19BF-4BDE-971B-230CA30006BC}" type="presParOf" srcId="{C0AEC980-CF14-4B0A-8661-87865CB7977B}" destId="{A6CB24D6-A885-469C-83B7-C38487121366}" srcOrd="0" destOrd="0" presId="urn:microsoft.com/office/officeart/2005/8/layout/hierarchy1"/>
    <dgm:cxn modelId="{2045ED71-33D8-4F42-A9AC-579984E4FC1E}" type="presParOf" srcId="{A6CB24D6-A885-469C-83B7-C38487121366}" destId="{EF361285-53AB-4939-A6F1-6A31F870D23A}" srcOrd="0" destOrd="0" presId="urn:microsoft.com/office/officeart/2005/8/layout/hierarchy1"/>
    <dgm:cxn modelId="{3082F46D-9F9E-4EBF-B086-7A04B5F01806}" type="presParOf" srcId="{A6CB24D6-A885-469C-83B7-C38487121366}" destId="{F8FA1B98-7F71-4696-BC7A-FBE9CBB476AF}" srcOrd="1" destOrd="0" presId="urn:microsoft.com/office/officeart/2005/8/layout/hierarchy1"/>
    <dgm:cxn modelId="{3DECE89E-FF1D-4C46-AE9E-5888BB97562D}" type="presParOf" srcId="{C0AEC980-CF14-4B0A-8661-87865CB7977B}" destId="{31B3DB4B-02A5-4FB6-8997-9E5FDAD6A493}" srcOrd="1" destOrd="0" presId="urn:microsoft.com/office/officeart/2005/8/layout/hierarchy1"/>
    <dgm:cxn modelId="{B681D294-FAAF-4EE8-B61F-7FFFBB5EFE43}" type="presParOf" srcId="{31B3DB4B-02A5-4FB6-8997-9E5FDAD6A493}" destId="{5A89A8FC-758F-447B-B43C-9BE368B3EE94}" srcOrd="0" destOrd="0" presId="urn:microsoft.com/office/officeart/2005/8/layout/hierarchy1"/>
    <dgm:cxn modelId="{B09A7EFB-FEBE-4855-81C5-7DE5D89D1559}" type="presParOf" srcId="{31B3DB4B-02A5-4FB6-8997-9E5FDAD6A493}" destId="{B9A04BF2-241A-4FD5-9133-848A2291D896}" srcOrd="1" destOrd="0" presId="urn:microsoft.com/office/officeart/2005/8/layout/hierarchy1"/>
    <dgm:cxn modelId="{12976DB1-86D9-41FF-B7B2-8BDBB6F322EE}" type="presParOf" srcId="{B9A04BF2-241A-4FD5-9133-848A2291D896}" destId="{9031BFCE-E690-4DAF-ABAE-DB7E978DC2A9}" srcOrd="0" destOrd="0" presId="urn:microsoft.com/office/officeart/2005/8/layout/hierarchy1"/>
    <dgm:cxn modelId="{0B856C9A-D70A-49E8-8A7F-B02645D67547}" type="presParOf" srcId="{9031BFCE-E690-4DAF-ABAE-DB7E978DC2A9}" destId="{53E762EF-3E62-4A54-81A1-E6024188ADDE}" srcOrd="0" destOrd="0" presId="urn:microsoft.com/office/officeart/2005/8/layout/hierarchy1"/>
    <dgm:cxn modelId="{586BB4F0-D711-43B5-BC64-FC0FDD1C1670}" type="presParOf" srcId="{9031BFCE-E690-4DAF-ABAE-DB7E978DC2A9}" destId="{E0B5B1A0-AA89-465B-BCCD-065E0A9CA4E4}" srcOrd="1" destOrd="0" presId="urn:microsoft.com/office/officeart/2005/8/layout/hierarchy1"/>
    <dgm:cxn modelId="{C5165437-F52D-4E57-9822-4CC69427D888}" type="presParOf" srcId="{B9A04BF2-241A-4FD5-9133-848A2291D896}" destId="{0F325337-73E3-4CA0-A3B0-959F6F2E7B68}" srcOrd="1" destOrd="0" presId="urn:microsoft.com/office/officeart/2005/8/layout/hierarchy1"/>
    <dgm:cxn modelId="{9E89047D-C5FA-4991-9AA8-6600F0FC2940}" type="presParOf" srcId="{31B3DB4B-02A5-4FB6-8997-9E5FDAD6A493}" destId="{B2A6D099-1093-46E7-8756-66EC15DA0A50}" srcOrd="2" destOrd="0" presId="urn:microsoft.com/office/officeart/2005/8/layout/hierarchy1"/>
    <dgm:cxn modelId="{6DB8FE80-5198-4EE2-80E1-3FCECF136106}" type="presParOf" srcId="{31B3DB4B-02A5-4FB6-8997-9E5FDAD6A493}" destId="{B71D8BEA-B1C2-48B2-8AC7-9C6D52839D75}" srcOrd="3" destOrd="0" presId="urn:microsoft.com/office/officeart/2005/8/layout/hierarchy1"/>
    <dgm:cxn modelId="{715A4593-B89A-46C3-BE7B-4792C02EF137}" type="presParOf" srcId="{B71D8BEA-B1C2-48B2-8AC7-9C6D52839D75}" destId="{30EAFFC7-7B65-417E-A636-CDAEB24C16A3}" srcOrd="0" destOrd="0" presId="urn:microsoft.com/office/officeart/2005/8/layout/hierarchy1"/>
    <dgm:cxn modelId="{D2351474-BBE3-4ADF-8FEE-E51D116C7781}" type="presParOf" srcId="{30EAFFC7-7B65-417E-A636-CDAEB24C16A3}" destId="{9083CDE3-E0DC-403A-B4BB-127123FBF8A6}" srcOrd="0" destOrd="0" presId="urn:microsoft.com/office/officeart/2005/8/layout/hierarchy1"/>
    <dgm:cxn modelId="{45BD64E4-C122-4812-B419-543C193F7C21}" type="presParOf" srcId="{30EAFFC7-7B65-417E-A636-CDAEB24C16A3}" destId="{2BA1452C-52A7-4550-9AFE-60E8A4580A7F}" srcOrd="1" destOrd="0" presId="urn:microsoft.com/office/officeart/2005/8/layout/hierarchy1"/>
    <dgm:cxn modelId="{FE023E28-9673-433C-A59C-24153B3C9F76}" type="presParOf" srcId="{B71D8BEA-B1C2-48B2-8AC7-9C6D52839D75}" destId="{4F3BAEED-4E51-406C-BF48-78BE36DDAED1}" srcOrd="1" destOrd="0" presId="urn:microsoft.com/office/officeart/2005/8/layout/hierarchy1"/>
    <dgm:cxn modelId="{156B08A3-902E-461C-AEA1-B17B6555E899}" type="presParOf" srcId="{94490786-F6FF-4A79-9920-4F0EDD76CFC7}" destId="{F9FC928B-8D10-4D0D-925C-755A645816D8}" srcOrd="2" destOrd="0" presId="urn:microsoft.com/office/officeart/2005/8/layout/hierarchy1"/>
    <dgm:cxn modelId="{18B304E8-9F86-4DCF-AC93-C301B63D8B8C}" type="presParOf" srcId="{94490786-F6FF-4A79-9920-4F0EDD76CFC7}" destId="{A188C706-EE93-4585-A7E4-74EBFC1D6D81}" srcOrd="3" destOrd="0" presId="urn:microsoft.com/office/officeart/2005/8/layout/hierarchy1"/>
    <dgm:cxn modelId="{22DCD335-3685-4A6C-B623-A315278C3353}" type="presParOf" srcId="{A188C706-EE93-4585-A7E4-74EBFC1D6D81}" destId="{1D0F8191-D203-46C6-A2B8-CA751877193C}" srcOrd="0" destOrd="0" presId="urn:microsoft.com/office/officeart/2005/8/layout/hierarchy1"/>
    <dgm:cxn modelId="{3A7F34E4-B72E-4694-9B1D-DE1877719BB1}" type="presParOf" srcId="{1D0F8191-D203-46C6-A2B8-CA751877193C}" destId="{FAA71861-B2FF-4991-88E4-10812AD89DDC}" srcOrd="0" destOrd="0" presId="urn:microsoft.com/office/officeart/2005/8/layout/hierarchy1"/>
    <dgm:cxn modelId="{24730A02-7C12-4F66-9599-E646B3EA1F94}" type="presParOf" srcId="{1D0F8191-D203-46C6-A2B8-CA751877193C}" destId="{1A2DAF95-C333-4FE5-BECE-917CB8DD68FA}" srcOrd="1" destOrd="0" presId="urn:microsoft.com/office/officeart/2005/8/layout/hierarchy1"/>
    <dgm:cxn modelId="{46149908-92ED-437F-AC03-E9B1E648E0C9}" type="presParOf" srcId="{A188C706-EE93-4585-A7E4-74EBFC1D6D81}" destId="{AAC43F34-8881-4689-9B7E-FA6749EB350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FC928B-8D10-4D0D-925C-755A645816D8}">
      <dsp:nvSpPr>
        <dsp:cNvPr id="0" name=""/>
        <dsp:cNvSpPr/>
      </dsp:nvSpPr>
      <dsp:spPr>
        <a:xfrm>
          <a:off x="5036257" y="1739807"/>
          <a:ext cx="680976" cy="3240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0852"/>
              </a:lnTo>
              <a:lnTo>
                <a:pt x="680976" y="220852"/>
              </a:lnTo>
              <a:lnTo>
                <a:pt x="680976" y="324082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A6D099-1093-46E7-8756-66EC15DA0A50}">
      <dsp:nvSpPr>
        <dsp:cNvPr id="0" name=""/>
        <dsp:cNvSpPr/>
      </dsp:nvSpPr>
      <dsp:spPr>
        <a:xfrm>
          <a:off x="5717233" y="3803165"/>
          <a:ext cx="680976" cy="3240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0852"/>
              </a:lnTo>
              <a:lnTo>
                <a:pt x="680976" y="220852"/>
              </a:lnTo>
              <a:lnTo>
                <a:pt x="680976" y="324082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89A8FC-758F-447B-B43C-9BE368B3EE94}">
      <dsp:nvSpPr>
        <dsp:cNvPr id="0" name=""/>
        <dsp:cNvSpPr/>
      </dsp:nvSpPr>
      <dsp:spPr>
        <a:xfrm>
          <a:off x="5036257" y="3803165"/>
          <a:ext cx="680976" cy="324082"/>
        </a:xfrm>
        <a:custGeom>
          <a:avLst/>
          <a:gdLst/>
          <a:ahLst/>
          <a:cxnLst/>
          <a:rect l="0" t="0" r="0" b="0"/>
          <a:pathLst>
            <a:path>
              <a:moveTo>
                <a:pt x="680976" y="0"/>
              </a:moveTo>
              <a:lnTo>
                <a:pt x="680976" y="220852"/>
              </a:lnTo>
              <a:lnTo>
                <a:pt x="0" y="220852"/>
              </a:lnTo>
              <a:lnTo>
                <a:pt x="0" y="324082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2CA38B-A0C4-45E2-B13E-2491BB2F1EB8}">
      <dsp:nvSpPr>
        <dsp:cNvPr id="0" name=""/>
        <dsp:cNvSpPr/>
      </dsp:nvSpPr>
      <dsp:spPr>
        <a:xfrm>
          <a:off x="4355281" y="2771486"/>
          <a:ext cx="1361952" cy="3240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0852"/>
              </a:lnTo>
              <a:lnTo>
                <a:pt x="1361952" y="220852"/>
              </a:lnTo>
              <a:lnTo>
                <a:pt x="1361952" y="324082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8A6B62-21F2-4C27-A368-26A8980EB4AB}">
      <dsp:nvSpPr>
        <dsp:cNvPr id="0" name=""/>
        <dsp:cNvSpPr/>
      </dsp:nvSpPr>
      <dsp:spPr>
        <a:xfrm>
          <a:off x="2993328" y="3803165"/>
          <a:ext cx="680976" cy="3240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0852"/>
              </a:lnTo>
              <a:lnTo>
                <a:pt x="680976" y="220852"/>
              </a:lnTo>
              <a:lnTo>
                <a:pt x="680976" y="324082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6B677D-5ED6-4652-98BD-6510A363FEBC}">
      <dsp:nvSpPr>
        <dsp:cNvPr id="0" name=""/>
        <dsp:cNvSpPr/>
      </dsp:nvSpPr>
      <dsp:spPr>
        <a:xfrm>
          <a:off x="2312352" y="3803165"/>
          <a:ext cx="680976" cy="324082"/>
        </a:xfrm>
        <a:custGeom>
          <a:avLst/>
          <a:gdLst/>
          <a:ahLst/>
          <a:cxnLst/>
          <a:rect l="0" t="0" r="0" b="0"/>
          <a:pathLst>
            <a:path>
              <a:moveTo>
                <a:pt x="680976" y="0"/>
              </a:moveTo>
              <a:lnTo>
                <a:pt x="680976" y="220852"/>
              </a:lnTo>
              <a:lnTo>
                <a:pt x="0" y="220852"/>
              </a:lnTo>
              <a:lnTo>
                <a:pt x="0" y="324082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2E8EB3-811C-4D3B-9470-156EBA34E9A5}">
      <dsp:nvSpPr>
        <dsp:cNvPr id="0" name=""/>
        <dsp:cNvSpPr/>
      </dsp:nvSpPr>
      <dsp:spPr>
        <a:xfrm>
          <a:off x="2993328" y="2771486"/>
          <a:ext cx="1361952" cy="324082"/>
        </a:xfrm>
        <a:custGeom>
          <a:avLst/>
          <a:gdLst/>
          <a:ahLst/>
          <a:cxnLst/>
          <a:rect l="0" t="0" r="0" b="0"/>
          <a:pathLst>
            <a:path>
              <a:moveTo>
                <a:pt x="1361952" y="0"/>
              </a:moveTo>
              <a:lnTo>
                <a:pt x="1361952" y="220852"/>
              </a:lnTo>
              <a:lnTo>
                <a:pt x="0" y="220852"/>
              </a:lnTo>
              <a:lnTo>
                <a:pt x="0" y="324082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FE9DFF-2886-4529-A5C6-F440C0E5885E}">
      <dsp:nvSpPr>
        <dsp:cNvPr id="0" name=""/>
        <dsp:cNvSpPr/>
      </dsp:nvSpPr>
      <dsp:spPr>
        <a:xfrm>
          <a:off x="4355281" y="1739807"/>
          <a:ext cx="680976" cy="324082"/>
        </a:xfrm>
        <a:custGeom>
          <a:avLst/>
          <a:gdLst/>
          <a:ahLst/>
          <a:cxnLst/>
          <a:rect l="0" t="0" r="0" b="0"/>
          <a:pathLst>
            <a:path>
              <a:moveTo>
                <a:pt x="680976" y="0"/>
              </a:moveTo>
              <a:lnTo>
                <a:pt x="680976" y="220852"/>
              </a:lnTo>
              <a:lnTo>
                <a:pt x="0" y="220852"/>
              </a:lnTo>
              <a:lnTo>
                <a:pt x="0" y="324082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519FE6-DF2A-413B-8946-F5EFD7057D78}">
      <dsp:nvSpPr>
        <dsp:cNvPr id="0" name=""/>
        <dsp:cNvSpPr/>
      </dsp:nvSpPr>
      <dsp:spPr>
        <a:xfrm>
          <a:off x="3674305" y="708128"/>
          <a:ext cx="1361952" cy="3240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0852"/>
              </a:lnTo>
              <a:lnTo>
                <a:pt x="1361952" y="220852"/>
              </a:lnTo>
              <a:lnTo>
                <a:pt x="1361952" y="324082"/>
              </a:lnTo>
            </a:path>
          </a:pathLst>
        </a:custGeom>
        <a:noFill/>
        <a:ln w="264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D8B4B1-03EB-4E47-8812-90C9F3768295}">
      <dsp:nvSpPr>
        <dsp:cNvPr id="0" name=""/>
        <dsp:cNvSpPr/>
      </dsp:nvSpPr>
      <dsp:spPr>
        <a:xfrm>
          <a:off x="2312352" y="1739807"/>
          <a:ext cx="680976" cy="3240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0852"/>
              </a:lnTo>
              <a:lnTo>
                <a:pt x="680976" y="220852"/>
              </a:lnTo>
              <a:lnTo>
                <a:pt x="680976" y="324082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B4F584-BE8C-4271-AFF0-C319D838E18B}">
      <dsp:nvSpPr>
        <dsp:cNvPr id="0" name=""/>
        <dsp:cNvSpPr/>
      </dsp:nvSpPr>
      <dsp:spPr>
        <a:xfrm>
          <a:off x="1631376" y="1739807"/>
          <a:ext cx="680976" cy="324082"/>
        </a:xfrm>
        <a:custGeom>
          <a:avLst/>
          <a:gdLst/>
          <a:ahLst/>
          <a:cxnLst/>
          <a:rect l="0" t="0" r="0" b="0"/>
          <a:pathLst>
            <a:path>
              <a:moveTo>
                <a:pt x="680976" y="0"/>
              </a:moveTo>
              <a:lnTo>
                <a:pt x="680976" y="220852"/>
              </a:lnTo>
              <a:lnTo>
                <a:pt x="0" y="220852"/>
              </a:lnTo>
              <a:lnTo>
                <a:pt x="0" y="324082"/>
              </a:lnTo>
            </a:path>
          </a:pathLst>
        </a:custGeom>
        <a:noFill/>
        <a:ln w="264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3D6991-DB58-4C70-98E9-042505034308}">
      <dsp:nvSpPr>
        <dsp:cNvPr id="0" name=""/>
        <dsp:cNvSpPr/>
      </dsp:nvSpPr>
      <dsp:spPr>
        <a:xfrm>
          <a:off x="2312352" y="708128"/>
          <a:ext cx="1361952" cy="324082"/>
        </a:xfrm>
        <a:custGeom>
          <a:avLst/>
          <a:gdLst/>
          <a:ahLst/>
          <a:cxnLst/>
          <a:rect l="0" t="0" r="0" b="0"/>
          <a:pathLst>
            <a:path>
              <a:moveTo>
                <a:pt x="1361952" y="0"/>
              </a:moveTo>
              <a:lnTo>
                <a:pt x="1361952" y="220852"/>
              </a:lnTo>
              <a:lnTo>
                <a:pt x="0" y="220852"/>
              </a:lnTo>
              <a:lnTo>
                <a:pt x="0" y="324082"/>
              </a:lnTo>
            </a:path>
          </a:pathLst>
        </a:custGeom>
        <a:noFill/>
        <a:ln w="264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B3B84C-DC2A-4C93-BD38-351347F98061}">
      <dsp:nvSpPr>
        <dsp:cNvPr id="0" name=""/>
        <dsp:cNvSpPr/>
      </dsp:nvSpPr>
      <dsp:spPr>
        <a:xfrm>
          <a:off x="3117142" y="532"/>
          <a:ext cx="1114324" cy="707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D3A9FF-B1D9-4D1C-977E-FDFE3D6B2624}">
      <dsp:nvSpPr>
        <dsp:cNvPr id="0" name=""/>
        <dsp:cNvSpPr/>
      </dsp:nvSpPr>
      <dsp:spPr>
        <a:xfrm>
          <a:off x="3240956" y="118155"/>
          <a:ext cx="1114324" cy="7075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Parsers</a:t>
          </a:r>
          <a:endParaRPr lang="en-US" sz="1100" kern="1200" dirty="0"/>
        </a:p>
      </dsp:txBody>
      <dsp:txXfrm>
        <a:off x="3261681" y="138880"/>
        <a:ext cx="1072874" cy="666146"/>
      </dsp:txXfrm>
    </dsp:sp>
    <dsp:sp modelId="{1668D5F1-001F-4FFB-AEC8-38EE4ECAEB9C}">
      <dsp:nvSpPr>
        <dsp:cNvPr id="0" name=""/>
        <dsp:cNvSpPr/>
      </dsp:nvSpPr>
      <dsp:spPr>
        <a:xfrm>
          <a:off x="1755190" y="1032211"/>
          <a:ext cx="1114324" cy="707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822955-090E-4FE8-8CC0-8A68B4E2BD7A}">
      <dsp:nvSpPr>
        <dsp:cNvPr id="0" name=""/>
        <dsp:cNvSpPr/>
      </dsp:nvSpPr>
      <dsp:spPr>
        <a:xfrm>
          <a:off x="1879004" y="1149834"/>
          <a:ext cx="1114324" cy="7075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Top down</a:t>
          </a:r>
          <a:endParaRPr lang="en-US" sz="1100" kern="1200" dirty="0"/>
        </a:p>
      </dsp:txBody>
      <dsp:txXfrm>
        <a:off x="1899729" y="1170559"/>
        <a:ext cx="1072874" cy="666146"/>
      </dsp:txXfrm>
    </dsp:sp>
    <dsp:sp modelId="{335E8EA0-1DFF-4238-9DC4-0FB5429A7371}">
      <dsp:nvSpPr>
        <dsp:cNvPr id="0" name=""/>
        <dsp:cNvSpPr/>
      </dsp:nvSpPr>
      <dsp:spPr>
        <a:xfrm>
          <a:off x="1074214" y="2063890"/>
          <a:ext cx="1114324" cy="707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FA5FC1-6AD1-43CD-9373-F50650A26815}">
      <dsp:nvSpPr>
        <dsp:cNvPr id="0" name=""/>
        <dsp:cNvSpPr/>
      </dsp:nvSpPr>
      <dsp:spPr>
        <a:xfrm>
          <a:off x="1198028" y="2181513"/>
          <a:ext cx="1114324" cy="7075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Recursive descent </a:t>
          </a:r>
          <a:endParaRPr lang="en-US" sz="1100" kern="1200" dirty="0"/>
        </a:p>
      </dsp:txBody>
      <dsp:txXfrm>
        <a:off x="1218753" y="2202238"/>
        <a:ext cx="1072874" cy="666146"/>
      </dsp:txXfrm>
    </dsp:sp>
    <dsp:sp modelId="{06FB3540-9BA1-42A4-B260-06BC724B247A}">
      <dsp:nvSpPr>
        <dsp:cNvPr id="0" name=""/>
        <dsp:cNvSpPr/>
      </dsp:nvSpPr>
      <dsp:spPr>
        <a:xfrm>
          <a:off x="2436166" y="2063890"/>
          <a:ext cx="1114324" cy="707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0A80AD-FD8B-4315-A071-D37420AF70E2}">
      <dsp:nvSpPr>
        <dsp:cNvPr id="0" name=""/>
        <dsp:cNvSpPr/>
      </dsp:nvSpPr>
      <dsp:spPr>
        <a:xfrm>
          <a:off x="2559980" y="2181513"/>
          <a:ext cx="1114324" cy="7075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Non-Recursive predictive, LL(1)</a:t>
          </a:r>
          <a:endParaRPr lang="en-US" sz="1100" kern="1200" dirty="0"/>
        </a:p>
      </dsp:txBody>
      <dsp:txXfrm>
        <a:off x="2580705" y="2202238"/>
        <a:ext cx="1072874" cy="666146"/>
      </dsp:txXfrm>
    </dsp:sp>
    <dsp:sp modelId="{8D9D126D-F1FA-4B0B-B1BE-04296CFFB01F}">
      <dsp:nvSpPr>
        <dsp:cNvPr id="0" name=""/>
        <dsp:cNvSpPr/>
      </dsp:nvSpPr>
      <dsp:spPr>
        <a:xfrm>
          <a:off x="4479094" y="1032211"/>
          <a:ext cx="1114324" cy="707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3552D7-9011-4668-BC29-6CD6BE380443}">
      <dsp:nvSpPr>
        <dsp:cNvPr id="0" name=""/>
        <dsp:cNvSpPr/>
      </dsp:nvSpPr>
      <dsp:spPr>
        <a:xfrm>
          <a:off x="4602908" y="1149834"/>
          <a:ext cx="1114324" cy="7075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Bottom up</a:t>
          </a:r>
          <a:endParaRPr lang="en-US" sz="1100" kern="1200" dirty="0"/>
        </a:p>
      </dsp:txBody>
      <dsp:txXfrm>
        <a:off x="4623633" y="1170559"/>
        <a:ext cx="1072874" cy="666146"/>
      </dsp:txXfrm>
    </dsp:sp>
    <dsp:sp modelId="{0DCED176-BC85-488D-B966-335CCBE7AE66}">
      <dsp:nvSpPr>
        <dsp:cNvPr id="0" name=""/>
        <dsp:cNvSpPr/>
      </dsp:nvSpPr>
      <dsp:spPr>
        <a:xfrm>
          <a:off x="3798118" y="2063890"/>
          <a:ext cx="1114324" cy="707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B89BBC-1F32-4E07-B52E-EABA41621B54}">
      <dsp:nvSpPr>
        <dsp:cNvPr id="0" name=""/>
        <dsp:cNvSpPr/>
      </dsp:nvSpPr>
      <dsp:spPr>
        <a:xfrm>
          <a:off x="3921932" y="2181513"/>
          <a:ext cx="1114324" cy="7075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LR(K)</a:t>
          </a:r>
          <a:endParaRPr lang="en-US" sz="1100" kern="1200" dirty="0"/>
        </a:p>
      </dsp:txBody>
      <dsp:txXfrm>
        <a:off x="3942657" y="2202238"/>
        <a:ext cx="1072874" cy="666146"/>
      </dsp:txXfrm>
    </dsp:sp>
    <dsp:sp modelId="{76166ECB-C2BD-4686-ADEF-BFE2AB2B4A94}">
      <dsp:nvSpPr>
        <dsp:cNvPr id="0" name=""/>
        <dsp:cNvSpPr/>
      </dsp:nvSpPr>
      <dsp:spPr>
        <a:xfrm>
          <a:off x="2436166" y="3095569"/>
          <a:ext cx="1114324" cy="707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57DB5F-6408-4891-A54D-724BF3FDAA52}">
      <dsp:nvSpPr>
        <dsp:cNvPr id="0" name=""/>
        <dsp:cNvSpPr/>
      </dsp:nvSpPr>
      <dsp:spPr>
        <a:xfrm>
          <a:off x="2559980" y="3213192"/>
          <a:ext cx="1114324" cy="7075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LR(0)</a:t>
          </a:r>
          <a:endParaRPr lang="en-US" sz="1100" kern="1200" dirty="0"/>
        </a:p>
      </dsp:txBody>
      <dsp:txXfrm>
        <a:off x="2580705" y="3233917"/>
        <a:ext cx="1072874" cy="666146"/>
      </dsp:txXfrm>
    </dsp:sp>
    <dsp:sp modelId="{60AA7CF9-E424-420B-AACD-6FC9FFCFF467}">
      <dsp:nvSpPr>
        <dsp:cNvPr id="0" name=""/>
        <dsp:cNvSpPr/>
      </dsp:nvSpPr>
      <dsp:spPr>
        <a:xfrm>
          <a:off x="1755190" y="4127247"/>
          <a:ext cx="1114324" cy="707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F03D1D-D821-4281-8822-6E5AB593AEC5}">
      <dsp:nvSpPr>
        <dsp:cNvPr id="0" name=""/>
        <dsp:cNvSpPr/>
      </dsp:nvSpPr>
      <dsp:spPr>
        <a:xfrm>
          <a:off x="1879004" y="4244871"/>
          <a:ext cx="1114324" cy="7075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LR(0)</a:t>
          </a:r>
          <a:endParaRPr lang="en-US" sz="1100" kern="1200" dirty="0"/>
        </a:p>
      </dsp:txBody>
      <dsp:txXfrm>
        <a:off x="1899729" y="4265596"/>
        <a:ext cx="1072874" cy="666146"/>
      </dsp:txXfrm>
    </dsp:sp>
    <dsp:sp modelId="{CE035EE5-3465-4226-92BD-305A4EE4FA4A}">
      <dsp:nvSpPr>
        <dsp:cNvPr id="0" name=""/>
        <dsp:cNvSpPr/>
      </dsp:nvSpPr>
      <dsp:spPr>
        <a:xfrm>
          <a:off x="3117142" y="4127247"/>
          <a:ext cx="1114324" cy="707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2C1BBB-C022-43B4-9357-BDA8B9F4C5B2}">
      <dsp:nvSpPr>
        <dsp:cNvPr id="0" name=""/>
        <dsp:cNvSpPr/>
      </dsp:nvSpPr>
      <dsp:spPr>
        <a:xfrm>
          <a:off x="3240956" y="4244871"/>
          <a:ext cx="1114324" cy="7075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SLR</a:t>
          </a:r>
          <a:endParaRPr lang="en-US" sz="1100" kern="1200" dirty="0"/>
        </a:p>
      </dsp:txBody>
      <dsp:txXfrm>
        <a:off x="3261681" y="4265596"/>
        <a:ext cx="1072874" cy="666146"/>
      </dsp:txXfrm>
    </dsp:sp>
    <dsp:sp modelId="{EF361285-53AB-4939-A6F1-6A31F870D23A}">
      <dsp:nvSpPr>
        <dsp:cNvPr id="0" name=""/>
        <dsp:cNvSpPr/>
      </dsp:nvSpPr>
      <dsp:spPr>
        <a:xfrm>
          <a:off x="5160071" y="3095569"/>
          <a:ext cx="1114324" cy="707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FA1B98-7F71-4696-BC7A-FBE9CBB476AF}">
      <dsp:nvSpPr>
        <dsp:cNvPr id="0" name=""/>
        <dsp:cNvSpPr/>
      </dsp:nvSpPr>
      <dsp:spPr>
        <a:xfrm>
          <a:off x="5283884" y="3213192"/>
          <a:ext cx="1114324" cy="7075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LR(1)</a:t>
          </a:r>
          <a:endParaRPr lang="en-US" sz="1100" kern="1200" dirty="0"/>
        </a:p>
      </dsp:txBody>
      <dsp:txXfrm>
        <a:off x="5304609" y="3233917"/>
        <a:ext cx="1072874" cy="666146"/>
      </dsp:txXfrm>
    </dsp:sp>
    <dsp:sp modelId="{53E762EF-3E62-4A54-81A1-E6024188ADDE}">
      <dsp:nvSpPr>
        <dsp:cNvPr id="0" name=""/>
        <dsp:cNvSpPr/>
      </dsp:nvSpPr>
      <dsp:spPr>
        <a:xfrm>
          <a:off x="4479094" y="4127247"/>
          <a:ext cx="1114324" cy="707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B5B1A0-AA89-465B-BCCD-065E0A9CA4E4}">
      <dsp:nvSpPr>
        <dsp:cNvPr id="0" name=""/>
        <dsp:cNvSpPr/>
      </dsp:nvSpPr>
      <dsp:spPr>
        <a:xfrm>
          <a:off x="4602908" y="4244871"/>
          <a:ext cx="1114324" cy="7075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LALR</a:t>
          </a:r>
          <a:endParaRPr lang="en-US" sz="1100" kern="1200" dirty="0"/>
        </a:p>
      </dsp:txBody>
      <dsp:txXfrm>
        <a:off x="4623633" y="4265596"/>
        <a:ext cx="1072874" cy="666146"/>
      </dsp:txXfrm>
    </dsp:sp>
    <dsp:sp modelId="{9083CDE3-E0DC-403A-B4BB-127123FBF8A6}">
      <dsp:nvSpPr>
        <dsp:cNvPr id="0" name=""/>
        <dsp:cNvSpPr/>
      </dsp:nvSpPr>
      <dsp:spPr>
        <a:xfrm>
          <a:off x="5841047" y="4127247"/>
          <a:ext cx="1114324" cy="707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A1452C-52A7-4550-9AFE-60E8A4580A7F}">
      <dsp:nvSpPr>
        <dsp:cNvPr id="0" name=""/>
        <dsp:cNvSpPr/>
      </dsp:nvSpPr>
      <dsp:spPr>
        <a:xfrm>
          <a:off x="5964861" y="4244871"/>
          <a:ext cx="1114324" cy="7075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CLR</a:t>
          </a:r>
          <a:endParaRPr lang="en-US" sz="1100" kern="1200" dirty="0"/>
        </a:p>
      </dsp:txBody>
      <dsp:txXfrm>
        <a:off x="5985586" y="4265596"/>
        <a:ext cx="1072874" cy="666146"/>
      </dsp:txXfrm>
    </dsp:sp>
    <dsp:sp modelId="{FAA71861-B2FF-4991-88E4-10812AD89DDC}">
      <dsp:nvSpPr>
        <dsp:cNvPr id="0" name=""/>
        <dsp:cNvSpPr/>
      </dsp:nvSpPr>
      <dsp:spPr>
        <a:xfrm>
          <a:off x="5160071" y="2063890"/>
          <a:ext cx="1114324" cy="7075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2DAF95-C333-4FE5-BECE-917CB8DD68FA}">
      <dsp:nvSpPr>
        <dsp:cNvPr id="0" name=""/>
        <dsp:cNvSpPr/>
      </dsp:nvSpPr>
      <dsp:spPr>
        <a:xfrm>
          <a:off x="5283884" y="2181513"/>
          <a:ext cx="1114324" cy="7075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Operator precedence</a:t>
          </a:r>
          <a:endParaRPr lang="en-US" sz="1100" kern="1200" dirty="0"/>
        </a:p>
      </dsp:txBody>
      <dsp:txXfrm>
        <a:off x="5304609" y="2202238"/>
        <a:ext cx="1072874" cy="6661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6840E6-63E0-4CEC-BC76-FED26B1D4146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946D9B-6D56-4AB2-9315-1D77B191C6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822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C86-51C7-463A-B008-6115FA55730B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4BF4-1C11-440E-8ADF-9306F6C6CB95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C86-51C7-463A-B008-6115FA55730B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4BF4-1C11-440E-8ADF-9306F6C6CB9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C86-51C7-463A-B008-6115FA55730B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4BF4-1C11-440E-8ADF-9306F6C6CB95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C86-51C7-463A-B008-6115FA55730B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4BF4-1C11-440E-8ADF-9306F6C6CB9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C86-51C7-463A-B008-6115FA55730B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4BF4-1C11-440E-8ADF-9306F6C6CB95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C86-51C7-463A-B008-6115FA55730B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4BF4-1C11-440E-8ADF-9306F6C6CB9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C86-51C7-463A-B008-6115FA55730B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4BF4-1C11-440E-8ADF-9306F6C6CB9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C86-51C7-463A-B008-6115FA55730B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4BF4-1C11-440E-8ADF-9306F6C6CB95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C86-51C7-463A-B008-6115FA55730B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4BF4-1C11-440E-8ADF-9306F6C6CB9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C86-51C7-463A-B008-6115FA55730B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4BF4-1C11-440E-8ADF-9306F6C6CB9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C86-51C7-463A-B008-6115FA55730B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4BF4-1C11-440E-8ADF-9306F6C6CB9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5B76EC86-51C7-463A-B008-6115FA55730B}" type="datetimeFigureOut">
              <a:rPr lang="en-GB" smtClean="0"/>
              <a:t>09/01/2025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D1D14BF4-1C11-440E-8ADF-9306F6C6CB95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85247"/>
            <a:ext cx="7848600" cy="1927225"/>
          </a:xfrm>
        </p:spPr>
        <p:txBody>
          <a:bodyPr/>
          <a:lstStyle/>
          <a:p>
            <a:r>
              <a:rPr lang="en-GB" sz="4400" dirty="0" smtClean="0"/>
              <a:t>Compiler construction</a:t>
            </a:r>
            <a:endParaRPr lang="en-GB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Cs-310</a:t>
            </a:r>
            <a:endParaRPr lang="en-US" dirty="0" smtClean="0"/>
          </a:p>
          <a:p>
            <a:r>
              <a:rPr lang="en-US" dirty="0" smtClean="0"/>
              <a:t>Dr. Anam Akbar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B2B36E-8BDA-4B95-AFC9-7BEEDE66F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369" y="377634"/>
            <a:ext cx="1289461" cy="12894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D8964A-8303-45DF-99A6-7A9E5BD07E42}"/>
              </a:ext>
            </a:extLst>
          </p:cNvPr>
          <p:cNvSpPr txBox="1"/>
          <p:nvPr/>
        </p:nvSpPr>
        <p:spPr>
          <a:xfrm>
            <a:off x="1439441" y="0"/>
            <a:ext cx="7397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Sir Syed University of Engineering &amp; Technology, Karachi</a:t>
            </a:r>
            <a:endParaRPr lang="en-US" sz="1485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0EEC16-E972-4610-A1BD-5ADD6C19E1D8}"/>
              </a:ext>
            </a:extLst>
          </p:cNvPr>
          <p:cNvSpPr txBox="1"/>
          <p:nvPr/>
        </p:nvSpPr>
        <p:spPr>
          <a:xfrm>
            <a:off x="2209800" y="1667095"/>
            <a:ext cx="512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Department of Computer Science</a:t>
            </a:r>
            <a:r>
              <a:rPr lang="en-US" sz="1485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00364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229600" cy="990600"/>
          </a:xfrm>
        </p:spPr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773555331"/>
              </p:ext>
            </p:extLst>
          </p:nvPr>
        </p:nvGraphicFramePr>
        <p:xfrm>
          <a:off x="685800" y="1066800"/>
          <a:ext cx="81534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2400300" y="4063967"/>
            <a:ext cx="5829300" cy="104143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33900" y="4471347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Canonical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276600" y="6324600"/>
            <a:ext cx="3810000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67200" y="63246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Power increases</a:t>
            </a:r>
          </a:p>
        </p:txBody>
      </p:sp>
    </p:spTree>
    <p:extLst>
      <p:ext uri="{BB962C8B-B14F-4D97-AF65-F5344CB8AC3E}">
        <p14:creationId xmlns:p14="http://schemas.microsoft.com/office/powerpoint/2010/main" val="1619884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Parsing is the process of deriving the string from given grammar</a:t>
            </a:r>
          </a:p>
          <a:p>
            <a:pPr marL="0" indent="0" fontAlgn="base">
              <a:buNone/>
            </a:pPr>
            <a:r>
              <a:rPr lang="en-US" b="1" dirty="0" smtClean="0"/>
              <a:t>Top-Down </a:t>
            </a:r>
            <a:r>
              <a:rPr lang="en-US" b="1" dirty="0"/>
              <a:t>Parser:</a:t>
            </a:r>
          </a:p>
          <a:p>
            <a:pPr fontAlgn="base"/>
            <a:r>
              <a:rPr lang="en-US" dirty="0"/>
              <a:t> </a:t>
            </a:r>
            <a:r>
              <a:rPr lang="en-US" b="1" dirty="0"/>
              <a:t>generates parse for the given input string </a:t>
            </a:r>
            <a:r>
              <a:rPr lang="en-US" dirty="0"/>
              <a:t>with the help of grammar productions </a:t>
            </a:r>
            <a:r>
              <a:rPr lang="en-US" i="1" dirty="0"/>
              <a:t>by expanding the non-terminals </a:t>
            </a:r>
            <a:endParaRPr lang="en-US" i="1" dirty="0" smtClean="0"/>
          </a:p>
          <a:p>
            <a:pPr fontAlgn="base"/>
            <a:r>
              <a:rPr lang="en-US" dirty="0" smtClean="0"/>
              <a:t>It </a:t>
            </a:r>
            <a:r>
              <a:rPr lang="en-US" dirty="0"/>
              <a:t>uses left most derivation. </a:t>
            </a:r>
            <a:br>
              <a:rPr lang="en-US" dirty="0"/>
            </a:br>
            <a:endParaRPr lang="en-US" dirty="0" smtClean="0"/>
          </a:p>
          <a:p>
            <a:pPr fontAlgn="base"/>
            <a:r>
              <a:rPr lang="en-US" dirty="0" smtClean="0"/>
              <a:t>Further </a:t>
            </a:r>
            <a:r>
              <a:rPr lang="en-US" dirty="0"/>
              <a:t>Top-down parser is classified into 2 types: A recursive descent parser, and Non-recursive descent parser.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73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Recursive descent parser</a:t>
            </a:r>
          </a:p>
          <a:p>
            <a:pPr marL="0" indent="0">
              <a:buNone/>
            </a:pPr>
            <a:r>
              <a:rPr lang="en-US" dirty="0" smtClean="0"/>
              <a:t>is </a:t>
            </a:r>
            <a:r>
              <a:rPr lang="en-US" dirty="0"/>
              <a:t>also known as the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Brute </a:t>
            </a:r>
            <a:r>
              <a:rPr lang="en-US" dirty="0"/>
              <a:t>force parser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backtracking </a:t>
            </a:r>
            <a:r>
              <a:rPr lang="en-US" dirty="0"/>
              <a:t>parser.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It </a:t>
            </a:r>
            <a:r>
              <a:rPr lang="en-US" dirty="0"/>
              <a:t>basically generates the parse tree by using brute force and backtracking. </a:t>
            </a:r>
          </a:p>
          <a:p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Non-recursive </a:t>
            </a:r>
            <a:r>
              <a:rPr lang="en-US" b="1" dirty="0"/>
              <a:t>descent parser</a:t>
            </a:r>
            <a:r>
              <a:rPr lang="en-US" dirty="0"/>
              <a:t> 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is </a:t>
            </a:r>
            <a:r>
              <a:rPr lang="en-US" dirty="0"/>
              <a:t>also known </a:t>
            </a:r>
            <a:r>
              <a:rPr lang="en-US" dirty="0" smtClean="0"/>
              <a:t>as</a:t>
            </a:r>
          </a:p>
          <a:p>
            <a:pPr marL="0" indent="0">
              <a:buNone/>
            </a:pPr>
            <a:r>
              <a:rPr lang="en-US" dirty="0"/>
              <a:t>-</a:t>
            </a:r>
            <a:r>
              <a:rPr lang="en-US" dirty="0" smtClean="0"/>
              <a:t> </a:t>
            </a:r>
            <a:r>
              <a:rPr lang="en-US" dirty="0"/>
              <a:t>LL(1) parser </a:t>
            </a:r>
            <a:r>
              <a:rPr lang="en-US" dirty="0" smtClean="0"/>
              <a:t>(</a:t>
            </a:r>
            <a:r>
              <a:rPr lang="en-US" sz="1800" dirty="0" smtClean="0"/>
              <a:t>left L represents left to right </a:t>
            </a:r>
            <a:r>
              <a:rPr lang="en-US" sz="1800" dirty="0" err="1" smtClean="0"/>
              <a:t>scans,right</a:t>
            </a:r>
            <a:r>
              <a:rPr lang="en-US" sz="1800" dirty="0" smtClean="0"/>
              <a:t> L represents left most derivation.1 represents look at 1 symbol at once)</a:t>
            </a:r>
          </a:p>
          <a:p>
            <a:pPr marL="0" indent="0">
              <a:buNone/>
            </a:pPr>
            <a:r>
              <a:rPr lang="en-US" dirty="0" smtClean="0"/>
              <a:t>-predictive </a:t>
            </a:r>
            <a:r>
              <a:rPr lang="en-US" dirty="0"/>
              <a:t>parser </a:t>
            </a:r>
          </a:p>
          <a:p>
            <a:pPr marL="0" indent="0">
              <a:buNone/>
            </a:pPr>
            <a:r>
              <a:rPr lang="en-US" dirty="0" smtClean="0"/>
              <a:t>-without </a:t>
            </a:r>
            <a:r>
              <a:rPr lang="en-US" dirty="0"/>
              <a:t>backtracking </a:t>
            </a:r>
            <a:r>
              <a:rPr lang="en-US" dirty="0" smtClean="0"/>
              <a:t>parser</a:t>
            </a:r>
          </a:p>
          <a:p>
            <a:pPr marL="0" indent="0">
              <a:buNone/>
            </a:pPr>
            <a:r>
              <a:rPr lang="en-US" dirty="0"/>
              <a:t>-</a:t>
            </a:r>
            <a:r>
              <a:rPr lang="en-US" dirty="0" smtClean="0"/>
              <a:t>dynamic </a:t>
            </a:r>
            <a:r>
              <a:rPr lang="en-US" dirty="0"/>
              <a:t>parser.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It </a:t>
            </a:r>
            <a:r>
              <a:rPr lang="en-US" dirty="0"/>
              <a:t>uses a parsing table to generate the parse tree instead of backtracking.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15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Bottom-up Parser: </a:t>
            </a:r>
          </a:p>
          <a:p>
            <a:pPr fontAlgn="base"/>
            <a:r>
              <a:rPr lang="en-US" dirty="0"/>
              <a:t> is the parser that generates the parse tree for the given input string with the help of grammar productions </a:t>
            </a:r>
            <a:r>
              <a:rPr lang="en-US" i="1" dirty="0"/>
              <a:t>by compressing the non-terminals </a:t>
            </a:r>
            <a:r>
              <a:rPr lang="en-US" dirty="0"/>
              <a:t>i.e. </a:t>
            </a:r>
            <a:endParaRPr lang="en-US" dirty="0" smtClean="0"/>
          </a:p>
          <a:p>
            <a:pPr fontAlgn="base"/>
            <a:r>
              <a:rPr lang="en-US" dirty="0" smtClean="0"/>
              <a:t>it </a:t>
            </a:r>
            <a:r>
              <a:rPr lang="en-US" dirty="0"/>
              <a:t>starts from non-terminals and ends on the start symbol. It uses the reverse of the rightmost derivation</a:t>
            </a:r>
            <a:r>
              <a:rPr lang="en-US" dirty="0" smtClean="0"/>
              <a:t>.</a:t>
            </a:r>
          </a:p>
          <a:p>
            <a:pPr fontAlgn="base"/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Further Bottom-up parser is classified into two types</a:t>
            </a:r>
            <a:r>
              <a:rPr lang="en-US" dirty="0" smtClean="0"/>
              <a:t>:</a:t>
            </a:r>
          </a:p>
          <a:p>
            <a:pPr marL="0" indent="0" fontAlgn="base">
              <a:buNone/>
            </a:pPr>
            <a:r>
              <a:rPr lang="en-US" dirty="0" smtClean="0"/>
              <a:t> -LR </a:t>
            </a:r>
            <a:r>
              <a:rPr lang="en-US" dirty="0"/>
              <a:t>parser </a:t>
            </a:r>
            <a:r>
              <a:rPr lang="en-US" sz="1600" dirty="0"/>
              <a:t>(left L represents left to right scans</a:t>
            </a:r>
            <a:r>
              <a:rPr lang="en-US" sz="1600" dirty="0" smtClean="0"/>
              <a:t>, right R </a:t>
            </a:r>
            <a:r>
              <a:rPr lang="en-US" sz="1600" dirty="0"/>
              <a:t>represents </a:t>
            </a:r>
            <a:r>
              <a:rPr lang="en-US" sz="1600" dirty="0" smtClean="0"/>
              <a:t>Right </a:t>
            </a:r>
            <a:r>
              <a:rPr lang="en-US" sz="1600" dirty="0"/>
              <a:t>most </a:t>
            </a:r>
            <a:r>
              <a:rPr lang="en-US" sz="1600" dirty="0" smtClean="0"/>
              <a:t>derivation n reverse order.)</a:t>
            </a:r>
            <a:endParaRPr lang="en-US" sz="1600" dirty="0"/>
          </a:p>
          <a:p>
            <a:pPr marL="0" indent="0" fontAlgn="base">
              <a:buNone/>
            </a:pPr>
            <a:r>
              <a:rPr lang="en-US" dirty="0" smtClean="0"/>
              <a:t> -Operator </a:t>
            </a:r>
            <a:r>
              <a:rPr lang="en-US" dirty="0"/>
              <a:t>precedence parser.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433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0"/>
            <a:ext cx="8001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rgbClr val="273239"/>
                </a:solidFill>
                <a:latin typeface="urw-din"/>
              </a:rPr>
              <a:t>LR parser </a:t>
            </a:r>
            <a:endParaRPr lang="en-US" altLang="en-US" b="1" dirty="0" smtClean="0">
              <a:solidFill>
                <a:srgbClr val="273239"/>
              </a:solidFill>
              <a:latin typeface="urw-din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273239"/>
                </a:solidFill>
                <a:latin typeface="urw-din"/>
              </a:rPr>
              <a:t>generates </a:t>
            </a:r>
            <a:r>
              <a:rPr lang="en-US" altLang="en-US" dirty="0">
                <a:solidFill>
                  <a:srgbClr val="273239"/>
                </a:solidFill>
                <a:latin typeface="urw-din"/>
              </a:rPr>
              <a:t>the parse tree for the given string by using unambiguous grammar. </a:t>
            </a:r>
            <a:endParaRPr lang="en-US" altLang="en-US" dirty="0" smtClean="0">
              <a:solidFill>
                <a:srgbClr val="273239"/>
              </a:solidFill>
              <a:latin typeface="urw-din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273239"/>
                </a:solidFill>
                <a:latin typeface="urw-din"/>
              </a:rPr>
              <a:t/>
            </a:r>
            <a:br>
              <a:rPr lang="en-US" altLang="en-US" dirty="0">
                <a:solidFill>
                  <a:srgbClr val="273239"/>
                </a:solidFill>
                <a:latin typeface="urw-din"/>
              </a:rPr>
            </a:br>
            <a:r>
              <a:rPr lang="en-US" altLang="en-US" dirty="0">
                <a:solidFill>
                  <a:srgbClr val="273239"/>
                </a:solidFill>
                <a:latin typeface="urw-din"/>
              </a:rPr>
              <a:t>LR parser is of four types: 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solidFill>
                  <a:srgbClr val="273239"/>
                </a:solidFill>
                <a:latin typeface="Consolas" panose="020B0609020204030204" pitchFamily="49" charset="0"/>
              </a:rPr>
              <a:t>(a)</a:t>
            </a:r>
            <a:r>
              <a:rPr lang="en-US" altLang="en-US" dirty="0" smtClean="0">
                <a:solidFill>
                  <a:srgbClr val="273239"/>
                </a:solidFill>
                <a:latin typeface="Consolas" panose="020B0609020204030204" pitchFamily="49" charset="0"/>
              </a:rPr>
              <a:t>LR(0) </a:t>
            </a:r>
            <a:r>
              <a:rPr lang="en-US" altLang="en-US" b="1" dirty="0" smtClean="0">
                <a:solidFill>
                  <a:srgbClr val="273239"/>
                </a:solidFill>
                <a:latin typeface="Consolas" panose="020B0609020204030204" pitchFamily="49" charset="0"/>
              </a:rPr>
              <a:t>(b)</a:t>
            </a:r>
            <a:r>
              <a:rPr lang="en-US" altLang="en-US" dirty="0">
                <a:solidFill>
                  <a:srgbClr val="273239"/>
                </a:solidFill>
                <a:latin typeface="Consolas" panose="020B0609020204030204" pitchFamily="49" charset="0"/>
              </a:rPr>
              <a:t>SLR(1) </a:t>
            </a:r>
            <a:r>
              <a:rPr lang="en-US" altLang="en-US" sz="1600" dirty="0">
                <a:solidFill>
                  <a:srgbClr val="273239"/>
                </a:solidFill>
                <a:latin typeface="Consolas" panose="020B0609020204030204" pitchFamily="49" charset="0"/>
              </a:rPr>
              <a:t>(simple LR) </a:t>
            </a:r>
            <a:r>
              <a:rPr lang="en-US" altLang="en-US" b="1" dirty="0" smtClean="0">
                <a:solidFill>
                  <a:srgbClr val="273239"/>
                </a:solidFill>
                <a:latin typeface="Consolas" panose="020B0609020204030204" pitchFamily="49" charset="0"/>
              </a:rPr>
              <a:t>(c)</a:t>
            </a:r>
            <a:r>
              <a:rPr lang="en-US" altLang="en-US" dirty="0" smtClean="0">
                <a:solidFill>
                  <a:srgbClr val="273239"/>
                </a:solidFill>
                <a:latin typeface="Consolas" panose="020B0609020204030204" pitchFamily="49" charset="0"/>
              </a:rPr>
              <a:t>LALR(Look ahead)(1) </a:t>
            </a:r>
            <a:r>
              <a:rPr lang="en-US" altLang="en-US" b="1" dirty="0" smtClean="0">
                <a:solidFill>
                  <a:srgbClr val="273239"/>
                </a:solidFill>
                <a:latin typeface="Consolas" panose="020B0609020204030204" pitchFamily="49" charset="0"/>
              </a:rPr>
              <a:t>(d)</a:t>
            </a:r>
            <a:r>
              <a:rPr lang="en-US" altLang="en-US" dirty="0" smtClean="0">
                <a:solidFill>
                  <a:srgbClr val="273239"/>
                </a:solidFill>
                <a:latin typeface="Consolas" panose="020B0609020204030204" pitchFamily="49" charset="0"/>
              </a:rPr>
              <a:t>CLR(1) </a:t>
            </a:r>
            <a:r>
              <a:rPr lang="en-US" altLang="en-US" sz="1600" dirty="0" smtClean="0">
                <a:solidFill>
                  <a:srgbClr val="273239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smtClean="0">
                <a:solidFill>
                  <a:srgbClr val="273239"/>
                </a:solidFill>
                <a:latin typeface="urw-din"/>
              </a:rPr>
              <a:t>Canonical)</a:t>
            </a:r>
            <a:r>
              <a:rPr lang="en-US" altLang="en-US" sz="1600" dirty="0" smtClean="0">
                <a:solidFill>
                  <a:srgbClr val="273239"/>
                </a:solidFill>
                <a:latin typeface="Consolas" panose="020B0609020204030204" pitchFamily="49" charset="0"/>
              </a:rPr>
              <a:t>  </a:t>
            </a:r>
            <a:endParaRPr lang="en-US" altLang="en-US" sz="1600" dirty="0" smtClean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603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28600" y="1371600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smtClean="0">
                <a:solidFill>
                  <a:srgbClr val="273239"/>
                </a:solidFill>
                <a:latin typeface="urw-din"/>
              </a:rPr>
              <a:t>Before moving further  we first know what is </a:t>
            </a:r>
            <a:r>
              <a:rPr lang="en-US" altLang="en-US" b="1" i="1" dirty="0" smtClean="0">
                <a:solidFill>
                  <a:srgbClr val="273239"/>
                </a:solidFill>
                <a:latin typeface="urw-din"/>
              </a:rPr>
              <a:t>First and Follow </a:t>
            </a:r>
            <a:r>
              <a:rPr lang="en-US" altLang="en-US" b="1" dirty="0">
                <a:solidFill>
                  <a:srgbClr val="273239"/>
                </a:solidFill>
                <a:latin typeface="urw-din"/>
              </a:rPr>
              <a:t> </a:t>
            </a:r>
            <a:endParaRPr lang="en-US" altLang="en-US" b="1" dirty="0" smtClean="0">
              <a:solidFill>
                <a:srgbClr val="273239"/>
              </a:solidFill>
              <a:latin typeface="urw-din"/>
            </a:endParaRPr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04800" y="2209800"/>
            <a:ext cx="80772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u="sng" dirty="0"/>
              <a:t>Why FIRST?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We </a:t>
            </a:r>
            <a:r>
              <a:rPr lang="en-US" dirty="0" smtClean="0"/>
              <a:t>now that backtrack is </a:t>
            </a:r>
            <a:r>
              <a:rPr lang="en-US" dirty="0"/>
              <a:t>really a complex process to implement. </a:t>
            </a:r>
          </a:p>
          <a:p>
            <a:pPr fontAlgn="base"/>
            <a:r>
              <a:rPr lang="en-US" dirty="0"/>
              <a:t>If the compiler would have come to know in advance, that what is the “first character of the string produced when a production rule is applied”, and comparing it to the current character or token in the input string it sees, it can wisely take decision on which production rule to apply.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construction of both top-down and bottom-up parsers is aided by two functions, FIRST and FOLLOW, associated with a grammar 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During </a:t>
            </a:r>
            <a:r>
              <a:rPr lang="en-US" dirty="0" err="1"/>
              <a:t>topdown</a:t>
            </a:r>
            <a:r>
              <a:rPr lang="en-US" dirty="0"/>
              <a:t> parsing, FIRST and FOLLOW allow us to choose which production to apply, based on the next input symbol.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During panic-mode error recovery, sets of tokens produced by FOLLOW can be used as synchronizing tokens</a:t>
            </a:r>
          </a:p>
          <a:p>
            <a:pPr fontAlgn="base"/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val="3320557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57200" y="1676400"/>
            <a:ext cx="80772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If α is any string of grammar symbols, let FIRST(α) be the set of terminals that begin the strings derived from </a:t>
            </a:r>
            <a:r>
              <a:rPr lang="en-US" dirty="0" smtClean="0"/>
              <a:t>A. </a:t>
            </a:r>
            <a:r>
              <a:rPr lang="en-US" dirty="0"/>
              <a:t>If </a:t>
            </a:r>
            <a:r>
              <a:rPr lang="en-US" dirty="0" smtClean="0"/>
              <a:t>A </a:t>
            </a:r>
            <a:r>
              <a:rPr lang="en-US" dirty="0"/>
              <a:t>=&gt; Ɛ then Ɛ is also in FIRST(α).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To compute FIRST(X) for all grammar symbols X, apply the following rules until no more terminals or Ɛ can be added to any FIRST set.</a:t>
            </a:r>
          </a:p>
          <a:p>
            <a:pPr fontAlgn="base"/>
            <a:endParaRPr lang="en-US" dirty="0">
              <a:solidFill>
                <a:srgbClr val="273239"/>
              </a:solidFill>
              <a:latin typeface="urw-din"/>
            </a:endParaRPr>
          </a:p>
          <a:p>
            <a:pPr fontAlgn="base"/>
            <a:r>
              <a:rPr lang="en-US" dirty="0" smtClean="0">
                <a:solidFill>
                  <a:srgbClr val="273239"/>
                </a:solidFill>
                <a:latin typeface="urw-din"/>
              </a:rPr>
              <a:t>FIRST(X</a:t>
            </a:r>
            <a:r>
              <a:rPr lang="en-US" dirty="0">
                <a:solidFill>
                  <a:srgbClr val="273239"/>
                </a:solidFill>
                <a:latin typeface="urw-din"/>
              </a:rPr>
              <a:t>) for a grammar symbol X is the set of terminals that begin the strings derivable from X. </a:t>
            </a:r>
          </a:p>
          <a:p>
            <a:pPr fontAlgn="base"/>
            <a:r>
              <a:rPr lang="en-US" b="1" dirty="0">
                <a:solidFill>
                  <a:srgbClr val="273239"/>
                </a:solidFill>
                <a:latin typeface="urw-din"/>
              </a:rPr>
              <a:t>Rules to compute FIRST set:</a:t>
            </a:r>
            <a:r>
              <a:rPr lang="en-US" dirty="0">
                <a:solidFill>
                  <a:srgbClr val="273239"/>
                </a:solidFill>
                <a:latin typeface="urw-din"/>
              </a:rPr>
              <a:t> </a:t>
            </a:r>
          </a:p>
          <a:p>
            <a:pPr fontAlgn="base">
              <a:buFont typeface="+mj-lt"/>
              <a:buAutoNum type="arabicPeriod"/>
            </a:pPr>
            <a:r>
              <a:rPr lang="en-US" dirty="0">
                <a:solidFill>
                  <a:srgbClr val="273239"/>
                </a:solidFill>
                <a:latin typeface="urw-din"/>
              </a:rPr>
              <a:t>If x is a terminal, then FIRST(x) = { ‘x’ }</a:t>
            </a:r>
          </a:p>
          <a:p>
            <a:pPr fontAlgn="base">
              <a:buFont typeface="+mj-lt"/>
              <a:buAutoNum type="arabicPeriod"/>
            </a:pPr>
            <a:r>
              <a:rPr lang="en-US" dirty="0">
                <a:solidFill>
                  <a:srgbClr val="273239"/>
                </a:solidFill>
                <a:latin typeface="urw-din"/>
              </a:rPr>
              <a:t>If x-&gt; Є, is a production rule, then add Є to FIRST(x).</a:t>
            </a:r>
          </a:p>
          <a:p>
            <a:pPr fontAlgn="base">
              <a:buFont typeface="+mj-lt"/>
              <a:buAutoNum type="arabicPeriod"/>
            </a:pPr>
            <a:r>
              <a:rPr lang="en-US" dirty="0">
                <a:solidFill>
                  <a:srgbClr val="273239"/>
                </a:solidFill>
                <a:latin typeface="urw-din"/>
              </a:rPr>
              <a:t>If X-&gt;Y1 Y2 Y3….</a:t>
            </a:r>
            <a:r>
              <a:rPr lang="en-US" dirty="0" err="1">
                <a:solidFill>
                  <a:srgbClr val="273239"/>
                </a:solidFill>
                <a:latin typeface="urw-din"/>
              </a:rPr>
              <a:t>Yn</a:t>
            </a:r>
            <a:r>
              <a:rPr lang="en-US" dirty="0">
                <a:solidFill>
                  <a:srgbClr val="273239"/>
                </a:solidFill>
                <a:latin typeface="urw-din"/>
              </a:rPr>
              <a:t> is a production, </a:t>
            </a:r>
          </a:p>
          <a:p>
            <a:pPr marL="742950" lvl="1" indent="-285750" fontAlgn="base">
              <a:buFont typeface="+mj-lt"/>
              <a:buAutoNum type="arabicPeriod"/>
            </a:pPr>
            <a:r>
              <a:rPr lang="en-US" dirty="0">
                <a:solidFill>
                  <a:srgbClr val="273239"/>
                </a:solidFill>
                <a:latin typeface="urw-din"/>
              </a:rPr>
              <a:t>FIRST(X) = FIRST(Y1)</a:t>
            </a:r>
          </a:p>
          <a:p>
            <a:pPr marL="742950" lvl="1" indent="-285750" fontAlgn="base">
              <a:buFont typeface="+mj-lt"/>
              <a:buAutoNum type="arabicPeriod"/>
            </a:pPr>
            <a:r>
              <a:rPr lang="en-US" dirty="0">
                <a:solidFill>
                  <a:srgbClr val="273239"/>
                </a:solidFill>
                <a:latin typeface="urw-din"/>
              </a:rPr>
              <a:t>If FIRST(Y1) contains Є then FIRST(X) = { FIRST(Y1) – Є } U { FIRST(Y2) }</a:t>
            </a:r>
          </a:p>
          <a:p>
            <a:pPr marL="742950" lvl="1" indent="-285750" fontAlgn="base">
              <a:buFont typeface="+mj-lt"/>
              <a:buAutoNum type="arabicPeriod"/>
            </a:pPr>
            <a:r>
              <a:rPr lang="en-US" dirty="0">
                <a:solidFill>
                  <a:srgbClr val="273239"/>
                </a:solidFill>
                <a:latin typeface="urw-din"/>
              </a:rPr>
              <a:t>If FIRST (Yi) contains Є for all </a:t>
            </a:r>
            <a:r>
              <a:rPr lang="en-US" dirty="0" err="1">
                <a:solidFill>
                  <a:srgbClr val="273239"/>
                </a:solidFill>
                <a:latin typeface="urw-din"/>
              </a:rPr>
              <a:t>i</a:t>
            </a:r>
            <a:r>
              <a:rPr lang="en-US" dirty="0">
                <a:solidFill>
                  <a:srgbClr val="273239"/>
                </a:solidFill>
                <a:latin typeface="urw-din"/>
              </a:rPr>
              <a:t> = 1 to n, then add Є to FIRST(X).</a:t>
            </a:r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val="189124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04800" y="1339334"/>
            <a:ext cx="8077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b="1" i="0" dirty="0" smtClean="0">
                <a:solidFill>
                  <a:srgbClr val="273239"/>
                </a:solidFill>
                <a:effectLst/>
                <a:latin typeface="urw-din"/>
              </a:rPr>
              <a:t>First Example</a:t>
            </a:r>
            <a:endParaRPr lang="en-US" b="1" i="0" dirty="0">
              <a:solidFill>
                <a:srgbClr val="273239"/>
              </a:solidFill>
              <a:effectLst/>
              <a:latin typeface="urw-di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8572" y="1960602"/>
            <a:ext cx="501782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1)</a:t>
            </a:r>
            <a:r>
              <a:rPr lang="en-GB" dirty="0" err="1" smtClean="0"/>
              <a:t>S</a:t>
            </a:r>
            <a:r>
              <a:rPr lang="en-GB" dirty="0" err="1" smtClean="0">
                <a:sym typeface="Wingdings" panose="05000000000000000000" pitchFamily="2" charset="2"/>
              </a:rPr>
              <a:t>ghq</a:t>
            </a:r>
            <a:r>
              <a:rPr lang="en-US" dirty="0" smtClean="0">
                <a:sym typeface="Wingdings" panose="05000000000000000000" pitchFamily="2" charset="2"/>
              </a:rPr>
              <a:t>|</a:t>
            </a:r>
            <a:r>
              <a:rPr lang="en-US" dirty="0" err="1" smtClean="0">
                <a:sym typeface="Wingdings" panose="05000000000000000000" pitchFamily="2" charset="2"/>
              </a:rPr>
              <a:t>xyz|abc</a:t>
            </a:r>
            <a:endParaRPr lang="en-US" dirty="0" smtClean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First(S){</a:t>
            </a:r>
            <a:r>
              <a:rPr lang="en-US" dirty="0" err="1" smtClean="0">
                <a:sym typeface="Wingdings" panose="05000000000000000000" pitchFamily="2" charset="2"/>
              </a:rPr>
              <a:t>g,x,a</a:t>
            </a:r>
            <a:r>
              <a:rPr lang="en-US" dirty="0" smtClean="0">
                <a:sym typeface="Wingdings" panose="05000000000000000000" pitchFamily="2" charset="2"/>
              </a:rPr>
              <a:t>}</a:t>
            </a:r>
          </a:p>
          <a:p>
            <a:endParaRPr lang="en-US" dirty="0" smtClean="0">
              <a:sym typeface="Wingdings" panose="05000000000000000000" pitchFamily="2" charset="2"/>
            </a:endParaRPr>
          </a:p>
          <a:p>
            <a:r>
              <a:rPr lang="en-GB" b="1" dirty="0" smtClean="0">
                <a:solidFill>
                  <a:srgbClr val="273239"/>
                </a:solidFill>
                <a:latin typeface="urw-din"/>
              </a:rPr>
              <a:t>Second Example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2)</a:t>
            </a:r>
            <a:r>
              <a:rPr lang="en-GB" dirty="0" smtClean="0">
                <a:sym typeface="Wingdings" panose="05000000000000000000" pitchFamily="2" charset="2"/>
              </a:rPr>
              <a:t> </a:t>
            </a:r>
            <a:r>
              <a:rPr lang="en-GB" dirty="0" smtClean="0"/>
              <a:t>S</a:t>
            </a:r>
            <a:r>
              <a:rPr lang="en-GB" dirty="0" smtClean="0">
                <a:sym typeface="Wingdings" panose="05000000000000000000" pitchFamily="2" charset="2"/>
              </a:rPr>
              <a:t>ABC</a:t>
            </a:r>
            <a:r>
              <a:rPr lang="en-US" dirty="0" smtClean="0">
                <a:sym typeface="Wingdings" panose="05000000000000000000" pitchFamily="2" charset="2"/>
              </a:rPr>
              <a:t>|</a:t>
            </a:r>
            <a:r>
              <a:rPr lang="en-US" dirty="0" err="1" smtClean="0">
                <a:sym typeface="Wingdings" panose="05000000000000000000" pitchFamily="2" charset="2"/>
              </a:rPr>
              <a:t>xyz|abc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 err="1" smtClean="0">
                <a:sym typeface="Wingdings" panose="05000000000000000000" pitchFamily="2" charset="2"/>
              </a:rPr>
              <a:t>Aa|b|c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 err="1" smtClean="0">
                <a:sym typeface="Wingdings" panose="05000000000000000000" pitchFamily="2" charset="2"/>
              </a:rPr>
              <a:t>Bb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 err="1" smtClean="0">
                <a:sym typeface="Wingdings" panose="05000000000000000000" pitchFamily="2" charset="2"/>
              </a:rPr>
              <a:t>Dd</a:t>
            </a:r>
            <a:endParaRPr lang="en-US" dirty="0" smtClean="0">
              <a:sym typeface="Wingdings" panose="05000000000000000000" pitchFamily="2" charset="2"/>
            </a:endParaRPr>
          </a:p>
          <a:p>
            <a:endParaRPr lang="en-US" dirty="0" smtClean="0">
              <a:sym typeface="Wingdings" panose="05000000000000000000" pitchFamily="2" charset="2"/>
            </a:endParaRPr>
          </a:p>
          <a:p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First(S</a:t>
            </a:r>
            <a:r>
              <a:rPr lang="en-US" dirty="0" smtClean="0">
                <a:sym typeface="Wingdings" panose="05000000000000000000" pitchFamily="2" charset="2"/>
              </a:rPr>
              <a:t>)={First(A)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altLang="en-US" dirty="0" smtClean="0"/>
              <a:t>,</a:t>
            </a:r>
            <a:r>
              <a:rPr lang="en-US" dirty="0" smtClean="0">
                <a:sym typeface="Wingdings" panose="05000000000000000000" pitchFamily="2" charset="2"/>
              </a:rPr>
              <a:t> First(x)</a:t>
            </a:r>
            <a:r>
              <a:rPr lang="en-US" altLang="en-US" dirty="0" smtClean="0"/>
              <a:t>,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First(a)</a:t>
            </a:r>
            <a:r>
              <a:rPr lang="en-US" altLang="en-US" dirty="0" smtClean="0"/>
              <a:t>} </a:t>
            </a:r>
            <a:r>
              <a:rPr lang="en-US" dirty="0" smtClean="0">
                <a:sym typeface="Wingdings" panose="05000000000000000000" pitchFamily="2" charset="2"/>
              </a:rPr>
              <a:t>=</a:t>
            </a:r>
            <a:r>
              <a:rPr lang="en-US" altLang="en-US" dirty="0" smtClean="0"/>
              <a:t>{</a:t>
            </a:r>
            <a:r>
              <a:rPr lang="en-US" altLang="en-US" dirty="0" err="1" smtClean="0"/>
              <a:t>a,b,c,x,a</a:t>
            </a:r>
            <a:r>
              <a:rPr lang="en-US" altLang="en-US" dirty="0" smtClean="0"/>
              <a:t>} </a:t>
            </a:r>
            <a:endParaRPr lang="en-US" altLang="en-US" dirty="0"/>
          </a:p>
          <a:p>
            <a:r>
              <a:rPr lang="en-US" dirty="0" smtClean="0">
                <a:sym typeface="Wingdings" panose="05000000000000000000" pitchFamily="2" charset="2"/>
              </a:rPr>
              <a:t>First(A</a:t>
            </a:r>
            <a:r>
              <a:rPr lang="en-US" dirty="0">
                <a:sym typeface="Wingdings" panose="05000000000000000000" pitchFamily="2" charset="2"/>
              </a:rPr>
              <a:t>)=</a:t>
            </a:r>
            <a:r>
              <a:rPr lang="en-US" altLang="en-US" dirty="0"/>
              <a:t>{</a:t>
            </a:r>
            <a:r>
              <a:rPr lang="en-US" altLang="en-US" dirty="0" err="1"/>
              <a:t>a,b,c</a:t>
            </a:r>
            <a:r>
              <a:rPr lang="en-US" altLang="en-US" dirty="0"/>
              <a:t>} </a:t>
            </a:r>
          </a:p>
          <a:p>
            <a:r>
              <a:rPr lang="en-US" dirty="0">
                <a:sym typeface="Wingdings" panose="05000000000000000000" pitchFamily="2" charset="2"/>
              </a:rPr>
              <a:t>First(B)=</a:t>
            </a:r>
            <a:r>
              <a:rPr lang="en-US" altLang="en-US" dirty="0"/>
              <a:t>{b} </a:t>
            </a:r>
          </a:p>
          <a:p>
            <a:r>
              <a:rPr lang="en-US" dirty="0">
                <a:sym typeface="Wingdings" panose="05000000000000000000" pitchFamily="2" charset="2"/>
              </a:rPr>
              <a:t>First(D)=</a:t>
            </a:r>
            <a:r>
              <a:rPr lang="en-US" altLang="en-US" dirty="0"/>
              <a:t>{d} </a:t>
            </a:r>
          </a:p>
        </p:txBody>
      </p:sp>
    </p:spTree>
    <p:extLst>
      <p:ext uri="{BB962C8B-B14F-4D97-AF65-F5344CB8AC3E}">
        <p14:creationId xmlns:p14="http://schemas.microsoft.com/office/powerpoint/2010/main" val="203564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04800" y="1339334"/>
            <a:ext cx="8077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b="1" dirty="0" smtClean="0">
                <a:solidFill>
                  <a:srgbClr val="273239"/>
                </a:solidFill>
                <a:latin typeface="urw-din"/>
              </a:rPr>
              <a:t>Th</a:t>
            </a:r>
            <a:r>
              <a:rPr lang="en-GB" b="1" i="0" dirty="0" smtClean="0">
                <a:solidFill>
                  <a:srgbClr val="273239"/>
                </a:solidFill>
                <a:effectLst/>
                <a:latin typeface="urw-din"/>
              </a:rPr>
              <a:t>ird Example</a:t>
            </a:r>
            <a:endParaRPr lang="en-US" b="1" i="0" dirty="0">
              <a:solidFill>
                <a:srgbClr val="273239"/>
              </a:solidFill>
              <a:effectLst/>
              <a:latin typeface="urw-di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8572" y="1960602"/>
            <a:ext cx="50178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anose="05000000000000000000" pitchFamily="2" charset="2"/>
              </a:rPr>
              <a:t>2)</a:t>
            </a:r>
            <a:r>
              <a:rPr lang="en-GB" dirty="0" smtClean="0">
                <a:sym typeface="Wingdings" panose="05000000000000000000" pitchFamily="2" charset="2"/>
              </a:rPr>
              <a:t> </a:t>
            </a:r>
            <a:r>
              <a:rPr lang="en-GB" dirty="0" smtClean="0"/>
              <a:t>S</a:t>
            </a:r>
            <a:r>
              <a:rPr lang="en-GB" dirty="0" smtClean="0">
                <a:sym typeface="Wingdings" panose="05000000000000000000" pitchFamily="2" charset="2"/>
              </a:rPr>
              <a:t>ABC</a:t>
            </a:r>
          </a:p>
          <a:p>
            <a:r>
              <a:rPr lang="en-GB" dirty="0" err="1" smtClean="0">
                <a:sym typeface="Wingdings" panose="05000000000000000000" pitchFamily="2" charset="2"/>
              </a:rPr>
              <a:t>Aa|b|Ɛ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GB" dirty="0" err="1" smtClean="0">
                <a:sym typeface="Wingdings" panose="05000000000000000000" pitchFamily="2" charset="2"/>
              </a:rPr>
              <a:t>Bc|d|Ɛ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GB" dirty="0" err="1" smtClean="0">
                <a:sym typeface="Wingdings" panose="05000000000000000000" pitchFamily="2" charset="2"/>
              </a:rPr>
              <a:t>Ce|f|Ɛ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First(S</a:t>
            </a:r>
            <a:r>
              <a:rPr lang="en-US" dirty="0" smtClean="0">
                <a:sym typeface="Wingdings" panose="05000000000000000000" pitchFamily="2" charset="2"/>
              </a:rPr>
              <a:t>)={First(A)</a:t>
            </a:r>
            <a:r>
              <a:rPr lang="en-US" altLang="en-US" dirty="0"/>
              <a:t> }</a:t>
            </a:r>
            <a:r>
              <a:rPr lang="en-US" altLang="en-US" dirty="0" smtClean="0"/>
              <a:t> </a:t>
            </a:r>
            <a:endParaRPr lang="en-US" altLang="en-US" dirty="0"/>
          </a:p>
          <a:p>
            <a:r>
              <a:rPr lang="en-US" dirty="0" smtClean="0">
                <a:sym typeface="Wingdings" panose="05000000000000000000" pitchFamily="2" charset="2"/>
              </a:rPr>
              <a:t>First(A</a:t>
            </a:r>
            <a:r>
              <a:rPr lang="en-US" dirty="0">
                <a:sym typeface="Wingdings" panose="05000000000000000000" pitchFamily="2" charset="2"/>
              </a:rPr>
              <a:t>)=</a:t>
            </a:r>
            <a:r>
              <a:rPr lang="en-US" altLang="en-US" dirty="0"/>
              <a:t>{</a:t>
            </a:r>
            <a:r>
              <a:rPr lang="en-US" altLang="en-US" dirty="0" err="1"/>
              <a:t>a,b</a:t>
            </a:r>
            <a:r>
              <a:rPr lang="en-US" altLang="en-US" dirty="0" smtClean="0"/>
              <a:t>,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 smtClean="0">
                <a:sym typeface="Wingdings" panose="05000000000000000000" pitchFamily="2" charset="2"/>
              </a:rPr>
              <a:t>Ɛ</a:t>
            </a:r>
            <a:r>
              <a:rPr lang="en-US" altLang="en-US" dirty="0" smtClean="0"/>
              <a:t>} </a:t>
            </a:r>
            <a:endParaRPr lang="en-US" altLang="en-US" dirty="0"/>
          </a:p>
          <a:p>
            <a:r>
              <a:rPr lang="en-US" dirty="0">
                <a:sym typeface="Wingdings" panose="05000000000000000000" pitchFamily="2" charset="2"/>
              </a:rPr>
              <a:t>First(B</a:t>
            </a:r>
            <a:r>
              <a:rPr lang="en-US" dirty="0" smtClean="0">
                <a:sym typeface="Wingdings" panose="05000000000000000000" pitchFamily="2" charset="2"/>
              </a:rPr>
              <a:t>)=</a:t>
            </a:r>
            <a:r>
              <a:rPr lang="en-US" altLang="en-US" dirty="0" smtClean="0"/>
              <a:t>{</a:t>
            </a:r>
            <a:r>
              <a:rPr lang="en-US" altLang="en-US" dirty="0" err="1" smtClean="0"/>
              <a:t>c,d</a:t>
            </a:r>
            <a:r>
              <a:rPr lang="en-US" altLang="en-US" dirty="0" smtClean="0"/>
              <a:t>,</a:t>
            </a:r>
            <a:r>
              <a:rPr lang="en-GB" dirty="0" smtClean="0">
                <a:sym typeface="Wingdings" panose="05000000000000000000" pitchFamily="2" charset="2"/>
              </a:rPr>
              <a:t> </a:t>
            </a:r>
            <a:r>
              <a:rPr lang="en-GB" dirty="0">
                <a:sym typeface="Wingdings" panose="05000000000000000000" pitchFamily="2" charset="2"/>
              </a:rPr>
              <a:t>Ɛ</a:t>
            </a:r>
            <a:r>
              <a:rPr lang="en-US" altLang="en-US" dirty="0"/>
              <a:t>} </a:t>
            </a:r>
            <a:r>
              <a:rPr lang="en-US" altLang="en-US" dirty="0" smtClean="0"/>
              <a:t> </a:t>
            </a:r>
            <a:endParaRPr lang="en-US" altLang="en-US" dirty="0"/>
          </a:p>
          <a:p>
            <a:r>
              <a:rPr lang="en-US" dirty="0" smtClean="0">
                <a:sym typeface="Wingdings" panose="05000000000000000000" pitchFamily="2" charset="2"/>
              </a:rPr>
              <a:t>First(C)=</a:t>
            </a:r>
            <a:r>
              <a:rPr lang="en-US" altLang="en-US" dirty="0" smtClean="0"/>
              <a:t>{</a:t>
            </a:r>
            <a:r>
              <a:rPr lang="en-US" altLang="en-US" dirty="0" err="1" smtClean="0"/>
              <a:t>e,f</a:t>
            </a:r>
            <a:r>
              <a:rPr lang="en-US" altLang="en-US" dirty="0" smtClean="0"/>
              <a:t>,</a:t>
            </a:r>
            <a:r>
              <a:rPr lang="en-GB" dirty="0" smtClean="0">
                <a:sym typeface="Wingdings" panose="05000000000000000000" pitchFamily="2" charset="2"/>
              </a:rPr>
              <a:t> </a:t>
            </a:r>
            <a:r>
              <a:rPr lang="en-GB" dirty="0">
                <a:sym typeface="Wingdings" panose="05000000000000000000" pitchFamily="2" charset="2"/>
              </a:rPr>
              <a:t>Ɛ</a:t>
            </a:r>
            <a:r>
              <a:rPr lang="en-US" altLang="en-US" dirty="0"/>
              <a:t>} </a:t>
            </a:r>
          </a:p>
          <a:p>
            <a:r>
              <a:rPr lang="en-US" altLang="en-US" dirty="0" smtClean="0"/>
              <a:t>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8937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57200" y="1542197"/>
            <a:ext cx="2438400" cy="1628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E -&gt; TE’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E’ -&gt; +T E’|Є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T -&gt; F T’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T’ -&gt; *F T’ | 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F -&gt; (E) | id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87907" y="3242846"/>
            <a:ext cx="4655121" cy="215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FIRST sets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rgbClr val="273239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FIRST(E) = FIRST(T) = { ( , id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FIRST(E’) = { +, Є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FIRST(T) = FIRST(F) = { ( , id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FIRST(T’) = { *, Є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FIRST(F) = { ( , id }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235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57200" y="1696086"/>
            <a:ext cx="2438400" cy="1320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S =&gt; A </a:t>
            </a:r>
            <a:r>
              <a:rPr lang="en-US" sz="2000" dirty="0" err="1"/>
              <a:t>a</a:t>
            </a:r>
            <a:endParaRPr lang="en-US" sz="2000" dirty="0"/>
          </a:p>
          <a:p>
            <a:r>
              <a:rPr lang="en-US" sz="2000" dirty="0"/>
              <a:t>A =&gt; </a:t>
            </a:r>
            <a:r>
              <a:rPr lang="en-US" sz="2000" dirty="0" err="1"/>
              <a:t>aB</a:t>
            </a:r>
            <a:r>
              <a:rPr lang="en-US" sz="2000" dirty="0"/>
              <a:t> </a:t>
            </a:r>
            <a:r>
              <a:rPr lang="en-US" sz="2000" dirty="0" smtClean="0"/>
              <a:t>|Ad </a:t>
            </a:r>
            <a:endParaRPr lang="en-US" sz="2000" dirty="0"/>
          </a:p>
          <a:p>
            <a:r>
              <a:rPr lang="en-US" sz="2000" dirty="0"/>
              <a:t>B =&gt; b  </a:t>
            </a:r>
          </a:p>
          <a:p>
            <a:r>
              <a:rPr lang="en-US" sz="2000" dirty="0"/>
              <a:t>C =&gt; g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71985" y="3170820"/>
            <a:ext cx="34290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 smtClean="0">
                <a:solidFill>
                  <a:srgbClr val="273239"/>
                </a:solidFill>
                <a:latin typeface="Consolas" panose="020B0609020204030204" pitchFamily="49" charset="0"/>
              </a:rPr>
              <a:t>Is this left recursive?</a:t>
            </a:r>
            <a:endParaRPr lang="en-US" altLang="en-US" sz="2000" b="1" dirty="0">
              <a:solidFill>
                <a:srgbClr val="273239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85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80829" y="1412525"/>
            <a:ext cx="3276600" cy="1628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smtClean="0"/>
              <a:t>First remove left recursion</a:t>
            </a:r>
          </a:p>
          <a:p>
            <a:r>
              <a:rPr lang="en-US" sz="2000" dirty="0" smtClean="0"/>
              <a:t>S </a:t>
            </a:r>
            <a:r>
              <a:rPr lang="en-US" sz="2000" dirty="0"/>
              <a:t>=&gt; A </a:t>
            </a:r>
            <a:r>
              <a:rPr lang="en-US" sz="2000" dirty="0" err="1"/>
              <a:t>a</a:t>
            </a:r>
            <a:endParaRPr lang="en-US" sz="2000" dirty="0"/>
          </a:p>
          <a:p>
            <a:r>
              <a:rPr lang="en-US" sz="2000" dirty="0"/>
              <a:t>A =&gt; </a:t>
            </a:r>
            <a:r>
              <a:rPr lang="en-US" sz="2000" dirty="0" err="1"/>
              <a:t>aB</a:t>
            </a:r>
            <a:r>
              <a:rPr lang="en-US" sz="2000" dirty="0"/>
              <a:t> </a:t>
            </a:r>
            <a:r>
              <a:rPr lang="en-US" sz="2000" dirty="0" smtClean="0"/>
              <a:t>|Ad </a:t>
            </a:r>
            <a:endParaRPr lang="en-US" sz="2000" dirty="0"/>
          </a:p>
          <a:p>
            <a:r>
              <a:rPr lang="en-US" sz="2000" dirty="0"/>
              <a:t>B =&gt; b  </a:t>
            </a:r>
          </a:p>
          <a:p>
            <a:r>
              <a:rPr lang="en-US" sz="2000" dirty="0"/>
              <a:t>C =&gt; g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950782" y="685800"/>
            <a:ext cx="4736018" cy="2154436"/>
            <a:chOff x="189781" y="2743725"/>
            <a:chExt cx="4632773" cy="2154436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406904" y="2743725"/>
              <a:ext cx="4415650" cy="21544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 dirty="0" smtClean="0">
                  <a:solidFill>
                    <a:srgbClr val="273239"/>
                  </a:solidFill>
                  <a:latin typeface="Consolas" panose="020B0609020204030204" pitchFamily="49" charset="0"/>
                </a:rPr>
                <a:t>Remember we have the production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 dirty="0" smtClean="0">
                  <a:solidFill>
                    <a:srgbClr val="273239"/>
                  </a:solidFill>
                  <a:latin typeface="Consolas" panose="020B0609020204030204" pitchFamily="49" charset="0"/>
                </a:rPr>
                <a:t>rule for left recursion</a:t>
              </a:r>
              <a:endParaRPr lang="en-US" altLang="en-US" sz="2000" b="1" dirty="0">
                <a:solidFill>
                  <a:srgbClr val="273239"/>
                </a:solidFill>
                <a:latin typeface="Consolas" panose="020B0609020204030204" pitchFamily="49" charset="0"/>
              </a:endParaRPr>
            </a:p>
            <a:p>
              <a:r>
                <a:rPr lang="en-US" sz="2000" dirty="0"/>
                <a:t>The production</a:t>
              </a:r>
            </a:p>
            <a:p>
              <a:r>
                <a:rPr lang="en-US" sz="2000" dirty="0"/>
                <a:t>A</a:t>
              </a:r>
              <a:r>
                <a:rPr lang="en-US" sz="2000" dirty="0">
                  <a:sym typeface="Wingdings" panose="05000000000000000000" pitchFamily="2" charset="2"/>
                </a:rPr>
                <a:t>A</a:t>
              </a:r>
              <a:r>
                <a:rPr lang="el-GR" sz="2000" dirty="0">
                  <a:sym typeface="Wingdings" panose="05000000000000000000" pitchFamily="2" charset="2"/>
                </a:rPr>
                <a:t>α</a:t>
              </a:r>
              <a:r>
                <a:rPr lang="en-US" sz="2000" dirty="0">
                  <a:sym typeface="Wingdings" panose="05000000000000000000" pitchFamily="2" charset="2"/>
                </a:rPr>
                <a:t> | </a:t>
              </a:r>
              <a:r>
                <a:rPr lang="el-GR" sz="2000" dirty="0">
                  <a:sym typeface="Wingdings" panose="05000000000000000000" pitchFamily="2" charset="2"/>
                </a:rPr>
                <a:t>β</a:t>
              </a:r>
              <a:endParaRPr lang="en-US" sz="2000" dirty="0">
                <a:sym typeface="Wingdings" panose="05000000000000000000" pitchFamily="2" charset="2"/>
              </a:endParaRPr>
            </a:p>
            <a:p>
              <a:r>
                <a:rPr lang="en-US" sz="2000" dirty="0">
                  <a:sym typeface="Wingdings" panose="05000000000000000000" pitchFamily="2" charset="2"/>
                </a:rPr>
                <a:t> is converted into following production</a:t>
              </a:r>
            </a:p>
            <a:p>
              <a:r>
                <a:rPr lang="en-US" sz="2000" dirty="0">
                  <a:sym typeface="Wingdings" panose="05000000000000000000" pitchFamily="2" charset="2"/>
                </a:rPr>
                <a:t>A</a:t>
              </a:r>
              <a:r>
                <a:rPr lang="el-GR" sz="2000" dirty="0">
                  <a:sym typeface="Wingdings" panose="05000000000000000000" pitchFamily="2" charset="2"/>
                </a:rPr>
                <a:t> β</a:t>
              </a:r>
              <a:r>
                <a:rPr lang="en-US" sz="2000" dirty="0">
                  <a:solidFill>
                    <a:srgbClr val="00B0F0"/>
                  </a:solidFill>
                  <a:sym typeface="Wingdings" panose="05000000000000000000" pitchFamily="2" charset="2"/>
                </a:rPr>
                <a:t>A’</a:t>
              </a:r>
            </a:p>
            <a:p>
              <a:r>
                <a:rPr lang="en-US" sz="2000" dirty="0">
                  <a:solidFill>
                    <a:srgbClr val="00B0F0"/>
                  </a:solidFill>
                  <a:sym typeface="Wingdings" panose="05000000000000000000" pitchFamily="2" charset="2"/>
                </a:rPr>
                <a:t>A’</a:t>
              </a:r>
              <a:r>
                <a:rPr lang="en-US" sz="2000" dirty="0">
                  <a:sym typeface="Wingdings" panose="05000000000000000000" pitchFamily="2" charset="2"/>
                </a:rPr>
                <a:t></a:t>
              </a:r>
              <a:r>
                <a:rPr lang="el-GR" sz="2000" dirty="0">
                  <a:sym typeface="Wingdings" panose="05000000000000000000" pitchFamily="2" charset="2"/>
                </a:rPr>
                <a:t> α</a:t>
              </a:r>
              <a:r>
                <a:rPr lang="en-US" sz="2000" dirty="0">
                  <a:solidFill>
                    <a:srgbClr val="00B0F0"/>
                  </a:solidFill>
                  <a:sym typeface="Wingdings" panose="05000000000000000000" pitchFamily="2" charset="2"/>
                </a:rPr>
                <a:t>A’</a:t>
              </a:r>
              <a:r>
                <a:rPr lang="en-US" sz="2000" dirty="0">
                  <a:sym typeface="Wingdings" panose="05000000000000000000" pitchFamily="2" charset="2"/>
                </a:rPr>
                <a:t>|</a:t>
              </a:r>
              <a:r>
                <a:rPr lang="en-US" sz="2000" dirty="0" smtClean="0">
                  <a:sym typeface="Wingdings" panose="05000000000000000000" pitchFamily="2" charset="2"/>
                </a:rPr>
                <a:t>Ɛ</a:t>
              </a:r>
              <a:endParaRPr lang="en-US" sz="2000" dirty="0">
                <a:sym typeface="Wingdings" panose="05000000000000000000" pitchFamily="2" charset="2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89781" y="4267725"/>
              <a:ext cx="2133600" cy="556197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04800" y="3581400"/>
            <a:ext cx="2639677" cy="2740277"/>
            <a:chOff x="189781" y="4744272"/>
            <a:chExt cx="2639677" cy="2740277"/>
          </a:xfrm>
        </p:grpSpPr>
        <p:grpSp>
          <p:nvGrpSpPr>
            <p:cNvPr id="14" name="Group 13"/>
            <p:cNvGrpSpPr/>
            <p:nvPr/>
          </p:nvGrpSpPr>
          <p:grpSpPr>
            <a:xfrm>
              <a:off x="189781" y="4744272"/>
              <a:ext cx="2050780" cy="917639"/>
              <a:chOff x="152400" y="5181600"/>
              <a:chExt cx="2050780" cy="917639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322997" y="5181600"/>
                <a:ext cx="1462388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A =&gt; </a:t>
                </a:r>
                <a:r>
                  <a:rPr lang="en-US" dirty="0" smtClean="0"/>
                  <a:t>Ad|</a:t>
                </a:r>
                <a:r>
                  <a:rPr lang="en-US" dirty="0"/>
                  <a:t> </a:t>
                </a:r>
                <a:r>
                  <a:rPr lang="en-US" dirty="0" err="1"/>
                  <a:t>aB</a:t>
                </a:r>
                <a:r>
                  <a:rPr lang="en-US" dirty="0" smtClean="0"/>
                  <a:t> </a:t>
                </a:r>
              </a:p>
              <a:p>
                <a:endParaRPr lang="en-US" dirty="0"/>
              </a:p>
            </p:txBody>
          </p:sp>
          <p:cxnSp>
            <p:nvCxnSpPr>
              <p:cNvPr id="6" name="Elbow Connector 5"/>
              <p:cNvCxnSpPr/>
              <p:nvPr/>
            </p:nvCxnSpPr>
            <p:spPr>
              <a:xfrm rot="16200000" flipH="1">
                <a:off x="1345440" y="5536983"/>
                <a:ext cx="398996" cy="137934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Elbow Connector 8"/>
              <p:cNvCxnSpPr/>
              <p:nvPr/>
            </p:nvCxnSpPr>
            <p:spPr>
              <a:xfrm rot="16200000" flipH="1">
                <a:off x="1061444" y="5526258"/>
                <a:ext cx="365034" cy="193341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Elbow Connector 9"/>
              <p:cNvCxnSpPr/>
              <p:nvPr/>
            </p:nvCxnSpPr>
            <p:spPr>
              <a:xfrm rot="16200000" flipH="1">
                <a:off x="782847" y="5605343"/>
                <a:ext cx="371206" cy="29003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Elbow Connector 10"/>
              <p:cNvCxnSpPr/>
              <p:nvPr/>
            </p:nvCxnSpPr>
            <p:spPr>
              <a:xfrm rot="16200000" flipH="1">
                <a:off x="384158" y="5523173"/>
                <a:ext cx="238836" cy="193343"/>
              </a:xfrm>
              <a:prstGeom prst="bentConnector3">
                <a:avLst>
                  <a:gd name="adj1" fmla="val 38572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Rectangle 11"/>
              <p:cNvSpPr/>
              <p:nvPr/>
            </p:nvSpPr>
            <p:spPr>
              <a:xfrm>
                <a:off x="152400" y="5699129"/>
                <a:ext cx="205078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ct val="20000"/>
                  </a:spcBef>
                  <a:buClr>
                    <a:schemeClr val="accent1"/>
                  </a:buClr>
                  <a:buSzPct val="85000"/>
                </a:pPr>
                <a:r>
                  <a:rPr lang="en-US" sz="2000" dirty="0" smtClean="0"/>
                  <a:t>    A</a:t>
                </a:r>
                <a:r>
                  <a:rPr lang="en-US" sz="2000" dirty="0">
                    <a:sym typeface="Wingdings" panose="05000000000000000000" pitchFamily="2" charset="2"/>
                  </a:rPr>
                  <a:t></a:t>
                </a:r>
                <a:r>
                  <a:rPr lang="en-US" sz="2000" dirty="0" smtClean="0">
                    <a:sym typeface="Wingdings" panose="05000000000000000000" pitchFamily="2" charset="2"/>
                  </a:rPr>
                  <a:t>A  </a:t>
                </a:r>
                <a:r>
                  <a:rPr lang="el-GR" sz="2000" dirty="0" smtClean="0">
                    <a:sym typeface="Wingdings" panose="05000000000000000000" pitchFamily="2" charset="2"/>
                  </a:rPr>
                  <a:t>α</a:t>
                </a:r>
                <a:r>
                  <a:rPr lang="en-US" sz="2000" dirty="0" smtClean="0"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ym typeface="Wingdings" panose="05000000000000000000" pitchFamily="2" charset="2"/>
                  </a:rPr>
                  <a:t>| </a:t>
                </a:r>
                <a:r>
                  <a:rPr lang="en-US" sz="2000" dirty="0" smtClean="0">
                    <a:sym typeface="Wingdings" panose="05000000000000000000" pitchFamily="2" charset="2"/>
                  </a:rPr>
                  <a:t> </a:t>
                </a:r>
                <a:r>
                  <a:rPr lang="el-GR" sz="2000" dirty="0" smtClean="0">
                    <a:sym typeface="Wingdings" panose="05000000000000000000" pitchFamily="2" charset="2"/>
                  </a:rPr>
                  <a:t>β</a:t>
                </a:r>
                <a:endParaRPr lang="en-US" sz="2000" dirty="0">
                  <a:sym typeface="Wingdings" panose="05000000000000000000" pitchFamily="2" charset="2"/>
                </a:endParaRPr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335180" y="5668667"/>
              <a:ext cx="2494278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 =&gt; A </a:t>
              </a:r>
              <a:r>
                <a:rPr lang="en-US" dirty="0" err="1"/>
                <a:t>a</a:t>
              </a:r>
              <a:endParaRPr lang="en-US" dirty="0"/>
            </a:p>
            <a:p>
              <a:r>
                <a:rPr lang="en-US" dirty="0" err="1" smtClean="0"/>
                <a:t>A</a:t>
              </a:r>
              <a:r>
                <a:rPr lang="en-US" dirty="0" err="1" smtClean="0">
                  <a:sym typeface="Wingdings" panose="05000000000000000000" pitchFamily="2" charset="2"/>
                </a:rPr>
                <a:t>aB</a:t>
              </a:r>
              <a:r>
                <a:rPr lang="en-US" dirty="0">
                  <a:solidFill>
                    <a:srgbClr val="00B0F0"/>
                  </a:solidFill>
                  <a:sym typeface="Wingdings" panose="05000000000000000000" pitchFamily="2" charset="2"/>
                </a:rPr>
                <a:t> A</a:t>
              </a:r>
              <a:r>
                <a:rPr lang="en-US" dirty="0" smtClean="0">
                  <a:solidFill>
                    <a:srgbClr val="00B0F0"/>
                  </a:solidFill>
                  <a:sym typeface="Wingdings" panose="05000000000000000000" pitchFamily="2" charset="2"/>
                </a:rPr>
                <a:t>’</a:t>
              </a:r>
            </a:p>
            <a:p>
              <a:r>
                <a:rPr lang="en-US" dirty="0" err="1">
                  <a:solidFill>
                    <a:srgbClr val="00B0F0"/>
                  </a:solidFill>
                  <a:sym typeface="Wingdings" panose="05000000000000000000" pitchFamily="2" charset="2"/>
                </a:rPr>
                <a:t>A’</a:t>
              </a:r>
              <a:r>
                <a:rPr lang="en-US" dirty="0" err="1" smtClean="0">
                  <a:sym typeface="Wingdings" panose="05000000000000000000" pitchFamily="2" charset="2"/>
                </a:rPr>
                <a:t>d</a:t>
              </a:r>
              <a:r>
                <a:rPr lang="en-US" dirty="0">
                  <a:solidFill>
                    <a:srgbClr val="00B0F0"/>
                  </a:solidFill>
                  <a:sym typeface="Wingdings" panose="05000000000000000000" pitchFamily="2" charset="2"/>
                </a:rPr>
                <a:t> A</a:t>
              </a:r>
              <a:r>
                <a:rPr lang="en-US" dirty="0" smtClean="0">
                  <a:solidFill>
                    <a:srgbClr val="00B0F0"/>
                  </a:solidFill>
                  <a:sym typeface="Wingdings" panose="05000000000000000000" pitchFamily="2" charset="2"/>
                </a:rPr>
                <a:t>’</a:t>
              </a:r>
              <a:r>
                <a:rPr lang="en-US" dirty="0" smtClean="0">
                  <a:sym typeface="Wingdings" panose="05000000000000000000" pitchFamily="2" charset="2"/>
                </a:rPr>
                <a:t>|Ɛ</a:t>
              </a:r>
              <a:endParaRPr lang="en-US" dirty="0">
                <a:sym typeface="Wingdings" panose="05000000000000000000" pitchFamily="2" charset="2"/>
              </a:endParaRPr>
            </a:p>
            <a:p>
              <a:r>
                <a:rPr lang="en-US" dirty="0"/>
                <a:t>B =&gt; b  </a:t>
              </a:r>
            </a:p>
            <a:p>
              <a:r>
                <a:rPr lang="en-US" dirty="0"/>
                <a:t>C =&gt; g</a:t>
              </a:r>
            </a:p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7799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83358" y="1544472"/>
            <a:ext cx="24942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 =&gt; A </a:t>
            </a:r>
            <a:r>
              <a:rPr lang="en-US" sz="2400" dirty="0" err="1"/>
              <a:t>a</a:t>
            </a:r>
            <a:endParaRPr lang="en-US" sz="2400" dirty="0"/>
          </a:p>
          <a:p>
            <a:r>
              <a:rPr lang="en-US" sz="2400" dirty="0" err="1" smtClean="0"/>
              <a:t>A</a:t>
            </a:r>
            <a:r>
              <a:rPr lang="en-US" sz="2400" dirty="0" err="1" smtClean="0">
                <a:sym typeface="Wingdings" panose="05000000000000000000" pitchFamily="2" charset="2"/>
              </a:rPr>
              <a:t>aB</a:t>
            </a:r>
            <a:r>
              <a:rPr lang="en-US" sz="2400" dirty="0">
                <a:solidFill>
                  <a:srgbClr val="00B0F0"/>
                </a:solidFill>
                <a:sym typeface="Wingdings" panose="05000000000000000000" pitchFamily="2" charset="2"/>
              </a:rPr>
              <a:t> A</a:t>
            </a:r>
            <a:r>
              <a:rPr lang="en-US" sz="2400" dirty="0" smtClean="0">
                <a:solidFill>
                  <a:srgbClr val="00B0F0"/>
                </a:solidFill>
                <a:sym typeface="Wingdings" panose="05000000000000000000" pitchFamily="2" charset="2"/>
              </a:rPr>
              <a:t>’</a:t>
            </a:r>
          </a:p>
          <a:p>
            <a:r>
              <a:rPr lang="en-US" sz="2400" dirty="0" err="1">
                <a:solidFill>
                  <a:srgbClr val="00B0F0"/>
                </a:solidFill>
                <a:sym typeface="Wingdings" panose="05000000000000000000" pitchFamily="2" charset="2"/>
              </a:rPr>
              <a:t>A’</a:t>
            </a:r>
            <a:r>
              <a:rPr lang="en-US" sz="2400" dirty="0" err="1" smtClean="0">
                <a:sym typeface="Wingdings" panose="05000000000000000000" pitchFamily="2" charset="2"/>
              </a:rPr>
              <a:t>d</a:t>
            </a:r>
            <a:r>
              <a:rPr lang="en-US" sz="2400" dirty="0">
                <a:solidFill>
                  <a:srgbClr val="00B0F0"/>
                </a:solidFill>
                <a:sym typeface="Wingdings" panose="05000000000000000000" pitchFamily="2" charset="2"/>
              </a:rPr>
              <a:t> A</a:t>
            </a:r>
            <a:r>
              <a:rPr lang="en-US" sz="2400" dirty="0" smtClean="0">
                <a:solidFill>
                  <a:srgbClr val="00B0F0"/>
                </a:solidFill>
                <a:sym typeface="Wingdings" panose="05000000000000000000" pitchFamily="2" charset="2"/>
              </a:rPr>
              <a:t>’</a:t>
            </a:r>
            <a:r>
              <a:rPr lang="en-US" sz="2400" dirty="0" smtClean="0">
                <a:sym typeface="Wingdings" panose="05000000000000000000" pitchFamily="2" charset="2"/>
              </a:rPr>
              <a:t>|Ɛ</a:t>
            </a:r>
            <a:endParaRPr lang="en-US" sz="2400" dirty="0">
              <a:sym typeface="Wingdings" panose="05000000000000000000" pitchFamily="2" charset="2"/>
            </a:endParaRPr>
          </a:p>
          <a:p>
            <a:r>
              <a:rPr lang="en-US" sz="2400" dirty="0"/>
              <a:t>B =&gt; b  </a:t>
            </a:r>
          </a:p>
          <a:p>
            <a:r>
              <a:rPr lang="en-US" sz="2400" dirty="0"/>
              <a:t>C =&gt; g</a:t>
            </a:r>
          </a:p>
          <a:p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341194" y="3590835"/>
            <a:ext cx="51452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FIRST:</a:t>
            </a:r>
          </a:p>
          <a:p>
            <a:r>
              <a:rPr lang="en-US" dirty="0" smtClean="0"/>
              <a:t>First(S) = First(A) ={ a }</a:t>
            </a:r>
          </a:p>
          <a:p>
            <a:r>
              <a:rPr lang="en-US" dirty="0"/>
              <a:t>First(A) ={ a }</a:t>
            </a:r>
          </a:p>
          <a:p>
            <a:r>
              <a:rPr lang="en-US" dirty="0" smtClean="0"/>
              <a:t>First(A’) </a:t>
            </a:r>
            <a:r>
              <a:rPr lang="en-US" dirty="0"/>
              <a:t>={ </a:t>
            </a:r>
            <a:r>
              <a:rPr lang="en-US" dirty="0" smtClean="0"/>
              <a:t>d , </a:t>
            </a:r>
            <a:r>
              <a:rPr lang="en-US" dirty="0"/>
              <a:t>Ɛ</a:t>
            </a:r>
            <a:r>
              <a:rPr lang="en-US" dirty="0" smtClean="0"/>
              <a:t> }</a:t>
            </a:r>
          </a:p>
          <a:p>
            <a:r>
              <a:rPr lang="en-US" dirty="0" smtClean="0"/>
              <a:t>First(B) </a:t>
            </a:r>
            <a:r>
              <a:rPr lang="en-US" dirty="0"/>
              <a:t>={ </a:t>
            </a:r>
            <a:r>
              <a:rPr lang="en-US" dirty="0" smtClean="0"/>
              <a:t>b }</a:t>
            </a:r>
          </a:p>
          <a:p>
            <a:r>
              <a:rPr lang="en-US" dirty="0" smtClean="0"/>
              <a:t>First(C) </a:t>
            </a:r>
            <a:r>
              <a:rPr lang="en-US" dirty="0"/>
              <a:t>={ </a:t>
            </a:r>
            <a:r>
              <a:rPr lang="en-US" dirty="0" smtClean="0"/>
              <a:t>g 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80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83358" y="1544472"/>
            <a:ext cx="835584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Why FOLLOW?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dirty="0"/>
              <a:t>Follow (A) is defined as the collection of terminal symbols that </a:t>
            </a:r>
            <a:r>
              <a:rPr lang="en-US" dirty="0" smtClean="0"/>
              <a:t>are immediately found at the </a:t>
            </a:r>
            <a:r>
              <a:rPr lang="en-US" dirty="0"/>
              <a:t>right of A.</a:t>
            </a:r>
          </a:p>
          <a:p>
            <a:r>
              <a:rPr lang="en-US" dirty="0" smtClean="0"/>
              <a:t>FOLLOW </a:t>
            </a:r>
            <a:r>
              <a:rPr lang="en-US" dirty="0"/>
              <a:t>can make a Non-terminal vanish out if needed to generate the string from the parse tree</a:t>
            </a:r>
            <a:r>
              <a:rPr lang="en-US" dirty="0" smtClean="0"/>
              <a:t>.</a:t>
            </a:r>
          </a:p>
          <a:p>
            <a:r>
              <a:rPr lang="en-US" dirty="0"/>
              <a:t>FOLLOW(A) = {</a:t>
            </a:r>
            <a:r>
              <a:rPr lang="en-US" dirty="0" err="1"/>
              <a:t>a|S</a:t>
            </a:r>
            <a:r>
              <a:rPr lang="en-US" dirty="0"/>
              <a:t> ⇒* αAaβ where α, β can be any strings</a:t>
            </a:r>
            <a:r>
              <a:rPr lang="en-US" dirty="0" smtClean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042" y="3411603"/>
            <a:ext cx="8686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Rules to find FOLLOW</a:t>
            </a:r>
            <a:endParaRPr lang="en-US" dirty="0"/>
          </a:p>
          <a:p>
            <a:r>
              <a:rPr lang="en-US" dirty="0"/>
              <a:t>If S is the start symbol, FOLLOW (S) </a:t>
            </a:r>
            <a:r>
              <a:rPr lang="en-US" dirty="0" smtClean="0"/>
              <a:t>={$} </a:t>
            </a:r>
            <a:r>
              <a:rPr lang="en-US" i="1" dirty="0" smtClean="0"/>
              <a:t>(the </a:t>
            </a:r>
            <a:r>
              <a:rPr lang="en-US" i="1" dirty="0"/>
              <a:t>end of input marker</a:t>
            </a:r>
            <a:r>
              <a:rPr lang="en-US" i="1" dirty="0" smtClean="0"/>
              <a:t>)</a:t>
            </a:r>
            <a:endParaRPr lang="en-US" i="1" dirty="0"/>
          </a:p>
          <a:p>
            <a:r>
              <a:rPr lang="en-US" dirty="0"/>
              <a:t>If production is of form A → α B β, β ≠ ε.</a:t>
            </a:r>
          </a:p>
          <a:p>
            <a:r>
              <a:rPr lang="en-US" dirty="0"/>
              <a:t>(a) If FIRST (β) does not contain ε then, FOLLOW (B) = {FIRST (β)}</a:t>
            </a:r>
          </a:p>
          <a:p>
            <a:r>
              <a:rPr lang="en-US" dirty="0"/>
              <a:t>Or</a:t>
            </a:r>
          </a:p>
          <a:p>
            <a:r>
              <a:rPr lang="en-US" dirty="0"/>
              <a:t>(b) If FIRST (β) contains ε (</a:t>
            </a:r>
            <a:r>
              <a:rPr lang="en-US" dirty="0" err="1"/>
              <a:t>i</a:t>
            </a:r>
            <a:r>
              <a:rPr lang="en-US" dirty="0"/>
              <a:t>. e. , β ⇒* ε), then</a:t>
            </a:r>
          </a:p>
          <a:p>
            <a:r>
              <a:rPr lang="en-US" dirty="0"/>
              <a:t>        FOLLOW (B) = FIRST (β) − {ε} ∪ FOLLOW (A)</a:t>
            </a:r>
          </a:p>
          <a:p>
            <a:r>
              <a:rPr lang="en-US" dirty="0"/>
              <a:t>∵ when β derives ε, then terminal after A will follow B.</a:t>
            </a:r>
          </a:p>
          <a:p>
            <a:r>
              <a:rPr lang="en-US" dirty="0"/>
              <a:t>If production is of form A → αB, then Follow (B) ={FOLLOW (A)}.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6172200"/>
            <a:ext cx="670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Note: Follow never contain  Ɛ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2946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83358" y="1544472"/>
            <a:ext cx="83558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Example:</a:t>
            </a:r>
            <a:r>
              <a:rPr lang="en-US" dirty="0" smtClean="0"/>
              <a:t> </a:t>
            </a:r>
            <a:r>
              <a:rPr lang="en-US" dirty="0"/>
              <a:t>If S is the start symbol, FOLLOW (S) ={$} </a:t>
            </a:r>
            <a:r>
              <a:rPr lang="en-US" i="1" dirty="0"/>
              <a:t>(the end of input marker</a:t>
            </a:r>
            <a:r>
              <a:rPr lang="en-US" i="1" dirty="0" smtClean="0"/>
              <a:t>)</a:t>
            </a:r>
          </a:p>
          <a:p>
            <a:r>
              <a:rPr lang="en-US" i="1" dirty="0" smtClean="0"/>
              <a:t>1) </a:t>
            </a:r>
            <a:r>
              <a:rPr lang="en-US" dirty="0"/>
              <a:t>S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A</a:t>
            </a:r>
            <a:endParaRPr lang="en-US" i="1" dirty="0" smtClean="0"/>
          </a:p>
          <a:p>
            <a:r>
              <a:rPr lang="en-US" dirty="0"/>
              <a:t>FOLLOW </a:t>
            </a:r>
            <a:r>
              <a:rPr lang="en-US" dirty="0" smtClean="0"/>
              <a:t>(A) =FOLLOW </a:t>
            </a:r>
            <a:r>
              <a:rPr lang="en-US" dirty="0"/>
              <a:t>(S) ={$}</a:t>
            </a:r>
            <a:endParaRPr lang="en-US" i="1" dirty="0"/>
          </a:p>
          <a:p>
            <a:endParaRPr lang="en-US" i="1" dirty="0" smtClean="0"/>
          </a:p>
          <a:p>
            <a:r>
              <a:rPr lang="en-US" i="1" dirty="0" smtClean="0"/>
              <a:t>2) </a:t>
            </a:r>
            <a:r>
              <a:rPr lang="en-US" dirty="0"/>
              <a:t>S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 smtClean="0"/>
              <a:t>ACD</a:t>
            </a:r>
          </a:p>
          <a:p>
            <a:r>
              <a:rPr lang="en-US" dirty="0" smtClean="0"/>
              <a:t>     </a:t>
            </a:r>
            <a:r>
              <a:rPr lang="en-US" dirty="0" err="1" smtClean="0"/>
              <a:t>C</a:t>
            </a:r>
            <a:r>
              <a:rPr lang="en-US" dirty="0" err="1" smtClean="0">
                <a:sym typeface="Wingdings" panose="05000000000000000000" pitchFamily="2" charset="2"/>
              </a:rPr>
              <a:t>a|b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/>
              <a:t>FOLLOW </a:t>
            </a:r>
            <a:r>
              <a:rPr lang="en-US" dirty="0" smtClean="0"/>
              <a:t>(A)</a:t>
            </a:r>
            <a:r>
              <a:rPr lang="en-US" dirty="0" smtClean="0">
                <a:sym typeface="Wingdings" panose="05000000000000000000" pitchFamily="2" charset="2"/>
              </a:rPr>
              <a:t> First(C)={</a:t>
            </a:r>
            <a:r>
              <a:rPr lang="en-US" dirty="0" err="1" smtClean="0">
                <a:sym typeface="Wingdings" panose="05000000000000000000" pitchFamily="2" charset="2"/>
              </a:rPr>
              <a:t>a,b</a:t>
            </a:r>
            <a:r>
              <a:rPr lang="en-US" dirty="0" smtClean="0">
                <a:sym typeface="Wingdings" panose="05000000000000000000" pitchFamily="2" charset="2"/>
              </a:rPr>
              <a:t>}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/>
              <a:t>FOLLOW </a:t>
            </a:r>
            <a:r>
              <a:rPr lang="en-US" dirty="0" smtClean="0"/>
              <a:t>(D)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FOLLOW </a:t>
            </a:r>
            <a:r>
              <a:rPr lang="en-US" dirty="0" smtClean="0"/>
              <a:t>(S) </a:t>
            </a:r>
            <a:r>
              <a:rPr lang="en-US" dirty="0" smtClean="0">
                <a:sym typeface="Wingdings" panose="05000000000000000000" pitchFamily="2" charset="2"/>
              </a:rPr>
              <a:t>=</a:t>
            </a:r>
            <a:r>
              <a:rPr lang="en-US" dirty="0" smtClean="0"/>
              <a:t>{$}</a:t>
            </a:r>
          </a:p>
          <a:p>
            <a:endParaRPr lang="en-US" dirty="0" smtClean="0"/>
          </a:p>
          <a:p>
            <a:r>
              <a:rPr lang="en-US" dirty="0" smtClean="0"/>
              <a:t>Find Follow of S</a:t>
            </a:r>
            <a:endParaRPr lang="en-US" dirty="0"/>
          </a:p>
          <a:p>
            <a:r>
              <a:rPr lang="en-US" dirty="0" smtClean="0"/>
              <a:t>3)</a:t>
            </a:r>
            <a:r>
              <a:rPr lang="en-US" dirty="0" err="1" smtClean="0"/>
              <a:t>S</a:t>
            </a:r>
            <a:r>
              <a:rPr lang="en-US" dirty="0" err="1" smtClean="0">
                <a:sym typeface="Wingdings" panose="05000000000000000000" pitchFamily="2" charset="2"/>
              </a:rPr>
              <a:t>aSbS|bSaS</a:t>
            </a:r>
            <a:r>
              <a:rPr lang="en-US" dirty="0" smtClean="0">
                <a:sym typeface="Wingdings" panose="05000000000000000000" pitchFamily="2" charset="2"/>
              </a:rPr>
              <a:t>|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Ɛ</a:t>
            </a:r>
          </a:p>
          <a:p>
            <a:r>
              <a:rPr lang="en-US" dirty="0"/>
              <a:t>FOLLOW (S</a:t>
            </a:r>
            <a:r>
              <a:rPr lang="en-US" dirty="0" smtClean="0"/>
              <a:t>)={$,</a:t>
            </a:r>
            <a:r>
              <a:rPr lang="en-US" dirty="0" err="1" smtClean="0"/>
              <a:t>b,a</a:t>
            </a:r>
            <a:r>
              <a:rPr lang="en-US" dirty="0" smtClean="0"/>
              <a:t>}</a:t>
            </a:r>
          </a:p>
          <a:p>
            <a:endParaRPr lang="en-US" dirty="0"/>
          </a:p>
          <a:p>
            <a:r>
              <a:rPr lang="en-US" dirty="0" smtClean="0"/>
              <a:t>4)</a:t>
            </a:r>
            <a:r>
              <a:rPr lang="en-US" dirty="0"/>
              <a:t> Find Follow of </a:t>
            </a:r>
            <a:r>
              <a:rPr lang="en-US" dirty="0" smtClean="0"/>
              <a:t>A and Follow of B</a:t>
            </a:r>
          </a:p>
          <a:p>
            <a:r>
              <a:rPr lang="en-US" dirty="0" err="1">
                <a:sym typeface="Wingdings" panose="05000000000000000000" pitchFamily="2" charset="2"/>
              </a:rPr>
              <a:t>S</a:t>
            </a:r>
            <a:r>
              <a:rPr lang="en-US" dirty="0" err="1" smtClean="0">
                <a:sym typeface="Wingdings" panose="05000000000000000000" pitchFamily="2" charset="2"/>
              </a:rPr>
              <a:t>AaAb|BbBa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A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Ɛ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B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Ɛ</a:t>
            </a:r>
            <a:endParaRPr lang="en-US" dirty="0" smtClean="0"/>
          </a:p>
          <a:p>
            <a:r>
              <a:rPr lang="en-US" dirty="0"/>
              <a:t>FOLLOW (</a:t>
            </a:r>
            <a:r>
              <a:rPr lang="en-US" dirty="0" smtClean="0"/>
              <a:t>A)</a:t>
            </a:r>
            <a:r>
              <a:rPr lang="en-US" dirty="0">
                <a:sym typeface="Wingdings" panose="05000000000000000000" pitchFamily="2" charset="2"/>
              </a:rPr>
              <a:t> =</a:t>
            </a:r>
            <a:r>
              <a:rPr lang="en-US" dirty="0" smtClean="0">
                <a:sym typeface="Wingdings" panose="05000000000000000000" pitchFamily="2" charset="2"/>
              </a:rPr>
              <a:t> {</a:t>
            </a:r>
            <a:r>
              <a:rPr lang="en-US" dirty="0" err="1" smtClean="0">
                <a:sym typeface="Wingdings" panose="05000000000000000000" pitchFamily="2" charset="2"/>
              </a:rPr>
              <a:t>a,b</a:t>
            </a:r>
            <a:r>
              <a:rPr lang="en-US" dirty="0">
                <a:sym typeface="Wingdings" panose="05000000000000000000" pitchFamily="2" charset="2"/>
              </a:rPr>
              <a:t>}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/>
              <a:t>FOLLOW </a:t>
            </a:r>
            <a:r>
              <a:rPr lang="en-US" dirty="0" smtClean="0"/>
              <a:t>(B)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= </a:t>
            </a:r>
            <a:r>
              <a:rPr lang="en-US" dirty="0" smtClean="0"/>
              <a:t>{</a:t>
            </a:r>
            <a:r>
              <a:rPr lang="en-US" dirty="0" err="1" smtClean="0"/>
              <a:t>b</a:t>
            </a:r>
            <a:r>
              <a:rPr lang="en-US" dirty="0" err="1" smtClean="0">
                <a:sym typeface="Wingdings" panose="05000000000000000000" pitchFamily="2" charset="2"/>
              </a:rPr>
              <a:t>,a</a:t>
            </a:r>
            <a:r>
              <a:rPr lang="en-US" dirty="0" smtClean="0"/>
              <a:t>}</a:t>
            </a: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01065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83358" y="1544472"/>
            <a:ext cx="83558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i="1" dirty="0" smtClean="0"/>
          </a:p>
          <a:p>
            <a:r>
              <a:rPr lang="en-US" i="1" dirty="0" smtClean="0"/>
              <a:t>5) </a:t>
            </a:r>
            <a:r>
              <a:rPr lang="en-US" dirty="0"/>
              <a:t>S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 smtClean="0"/>
              <a:t>ABC</a:t>
            </a:r>
          </a:p>
          <a:p>
            <a:r>
              <a:rPr lang="en-US" dirty="0" smtClean="0"/>
              <a:t>     A</a:t>
            </a:r>
            <a:r>
              <a:rPr lang="en-US" dirty="0" smtClean="0">
                <a:sym typeface="Wingdings" panose="05000000000000000000" pitchFamily="2" charset="2"/>
              </a:rPr>
              <a:t>DEF</a:t>
            </a:r>
          </a:p>
          <a:p>
            <a:r>
              <a:rPr lang="en-US" dirty="0">
                <a:sym typeface="Wingdings" panose="05000000000000000000" pitchFamily="2" charset="2"/>
              </a:rPr>
              <a:t>B</a:t>
            </a:r>
            <a:r>
              <a:rPr lang="en-US" dirty="0" smtClean="0">
                <a:sym typeface="Wingdings" panose="05000000000000000000" pitchFamily="2" charset="2"/>
              </a:rPr>
              <a:t> Ɛ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C </a:t>
            </a:r>
            <a:r>
              <a:rPr lang="en-US" dirty="0">
                <a:sym typeface="Wingdings" panose="05000000000000000000" pitchFamily="2" charset="2"/>
              </a:rPr>
              <a:t>Ɛ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D </a:t>
            </a:r>
            <a:r>
              <a:rPr lang="en-US" dirty="0">
                <a:sym typeface="Wingdings" panose="05000000000000000000" pitchFamily="2" charset="2"/>
              </a:rPr>
              <a:t>Ɛ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E Ɛ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F </a:t>
            </a:r>
            <a:r>
              <a:rPr lang="en-US" dirty="0">
                <a:sym typeface="Wingdings" panose="05000000000000000000" pitchFamily="2" charset="2"/>
              </a:rPr>
              <a:t>Ɛ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FOLLOW </a:t>
            </a:r>
            <a:r>
              <a:rPr lang="en-US" dirty="0" smtClean="0"/>
              <a:t>(A) =</a:t>
            </a:r>
          </a:p>
          <a:p>
            <a:r>
              <a:rPr lang="en-US" dirty="0"/>
              <a:t>	</a:t>
            </a:r>
            <a:endParaRPr lang="en-US" dirty="0" smtClean="0"/>
          </a:p>
          <a:p>
            <a:r>
              <a:rPr lang="en-US" dirty="0"/>
              <a:t>	</a:t>
            </a:r>
            <a:endParaRPr lang="en-US" dirty="0" smtClean="0"/>
          </a:p>
        </p:txBody>
      </p:sp>
      <p:sp>
        <p:nvSpPr>
          <p:cNvPr id="3" name="Freeform 2"/>
          <p:cNvSpPr/>
          <p:nvPr/>
        </p:nvSpPr>
        <p:spPr>
          <a:xfrm rot="20998206">
            <a:off x="1255327" y="2329315"/>
            <a:ext cx="2141307" cy="1829399"/>
          </a:xfrm>
          <a:custGeom>
            <a:avLst/>
            <a:gdLst>
              <a:gd name="connsiteX0" fmla="*/ 1255594 w 2109170"/>
              <a:gd name="connsiteY0" fmla="*/ 1446662 h 1446662"/>
              <a:gd name="connsiteX1" fmla="*/ 2060812 w 2109170"/>
              <a:gd name="connsiteY1" fmla="*/ 723331 h 1446662"/>
              <a:gd name="connsiteX2" fmla="*/ 0 w 2109170"/>
              <a:gd name="connsiteY2" fmla="*/ 0 h 1446662"/>
              <a:gd name="connsiteX3" fmla="*/ 0 w 2109170"/>
              <a:gd name="connsiteY3" fmla="*/ 0 h 144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9170" h="1446662">
                <a:moveTo>
                  <a:pt x="1255594" y="1446662"/>
                </a:moveTo>
                <a:cubicBezTo>
                  <a:pt x="1762836" y="1205551"/>
                  <a:pt x="2270078" y="964441"/>
                  <a:pt x="2060812" y="723331"/>
                </a:cubicBezTo>
                <a:cubicBezTo>
                  <a:pt x="1851546" y="482221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294833" y="1637502"/>
            <a:ext cx="456062" cy="520026"/>
            <a:chOff x="1296537" y="1842743"/>
            <a:chExt cx="456062" cy="520026"/>
          </a:xfrm>
        </p:grpSpPr>
        <p:cxnSp>
          <p:nvCxnSpPr>
            <p:cNvPr id="6" name="Straight Connector 5"/>
            <p:cNvCxnSpPr/>
            <p:nvPr/>
          </p:nvCxnSpPr>
          <p:spPr>
            <a:xfrm flipH="1">
              <a:off x="1296537" y="2134169"/>
              <a:ext cx="227463" cy="22860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296537" y="1842743"/>
              <a:ext cx="456062" cy="369332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ym typeface="Wingdings" panose="05000000000000000000" pitchFamily="2" charset="2"/>
                </a:rPr>
                <a:t>Ɛ</a:t>
              </a:r>
              <a:endParaRPr lang="en-US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071771" y="4009034"/>
            <a:ext cx="1295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First{B}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127" y="4334956"/>
            <a:ext cx="1295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First{C}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1112384" y="2887145"/>
            <a:ext cx="3002415" cy="1716264"/>
          </a:xfrm>
          <a:custGeom>
            <a:avLst/>
            <a:gdLst>
              <a:gd name="connsiteX0" fmla="*/ 1255594 w 2109170"/>
              <a:gd name="connsiteY0" fmla="*/ 1446662 h 1446662"/>
              <a:gd name="connsiteX1" fmla="*/ 2060812 w 2109170"/>
              <a:gd name="connsiteY1" fmla="*/ 723331 h 1446662"/>
              <a:gd name="connsiteX2" fmla="*/ 0 w 2109170"/>
              <a:gd name="connsiteY2" fmla="*/ 0 h 1446662"/>
              <a:gd name="connsiteX3" fmla="*/ 0 w 2109170"/>
              <a:gd name="connsiteY3" fmla="*/ 0 h 144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9170" h="1446662">
                <a:moveTo>
                  <a:pt x="1255594" y="1446662"/>
                </a:moveTo>
                <a:cubicBezTo>
                  <a:pt x="1762836" y="1205551"/>
                  <a:pt x="2270078" y="964441"/>
                  <a:pt x="2060812" y="723331"/>
                </a:cubicBezTo>
                <a:cubicBezTo>
                  <a:pt x="1851546" y="482221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1427897" y="1940231"/>
            <a:ext cx="227463" cy="22860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37731" y="1637502"/>
            <a:ext cx="456062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Ɛ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69174" y="4620859"/>
            <a:ext cx="180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Follow{S}</a:t>
            </a:r>
            <a:r>
              <a:rPr lang="en-US" dirty="0"/>
              <a:t> =</a:t>
            </a:r>
            <a:r>
              <a:rPr lang="en-US" dirty="0" smtClean="0"/>
              <a:t> </a:t>
            </a:r>
            <a:r>
              <a:rPr lang="en-US" dirty="0"/>
              <a:t>{$}</a:t>
            </a:r>
          </a:p>
        </p:txBody>
      </p:sp>
    </p:spTree>
    <p:extLst>
      <p:ext uri="{BB962C8B-B14F-4D97-AF65-F5344CB8AC3E}">
        <p14:creationId xmlns:p14="http://schemas.microsoft.com/office/powerpoint/2010/main" val="298175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9" grpId="0"/>
      <p:bldP spid="10" grpId="0" animBg="1"/>
      <p:bldP spid="16" grpId="0" animBg="1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57200" y="1828800"/>
            <a:ext cx="7467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Activity:</a:t>
            </a:r>
          </a:p>
          <a:p>
            <a:endParaRPr lang="en-US" dirty="0" smtClean="0"/>
          </a:p>
          <a:p>
            <a:r>
              <a:rPr lang="en-US" dirty="0" smtClean="0"/>
              <a:t>Find Follow of all non-terminals</a:t>
            </a:r>
          </a:p>
          <a:p>
            <a:r>
              <a:rPr lang="en-US" dirty="0" smtClean="0"/>
              <a:t>1)</a:t>
            </a:r>
          </a:p>
          <a:p>
            <a:r>
              <a:rPr lang="en-US" dirty="0" smtClean="0"/>
              <a:t>S </a:t>
            </a:r>
            <a:r>
              <a:rPr lang="en-US" dirty="0"/>
              <a:t>=&gt; A </a:t>
            </a:r>
          </a:p>
          <a:p>
            <a:r>
              <a:rPr lang="en-US" dirty="0" err="1" smtClean="0"/>
              <a:t>A</a:t>
            </a:r>
            <a:r>
              <a:rPr lang="en-US" dirty="0" err="1" smtClean="0">
                <a:sym typeface="Wingdings" panose="05000000000000000000" pitchFamily="2" charset="2"/>
              </a:rPr>
              <a:t>aB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 A</a:t>
            </a:r>
            <a:r>
              <a:rPr lang="en-US" dirty="0" smtClean="0">
                <a:solidFill>
                  <a:srgbClr val="00B0F0"/>
                </a:solidFill>
                <a:sym typeface="Wingdings" panose="05000000000000000000" pitchFamily="2" charset="2"/>
              </a:rPr>
              <a:t>’</a:t>
            </a:r>
          </a:p>
          <a:p>
            <a:r>
              <a:rPr lang="en-US" dirty="0" err="1">
                <a:solidFill>
                  <a:srgbClr val="00B0F0"/>
                </a:solidFill>
                <a:sym typeface="Wingdings" panose="05000000000000000000" pitchFamily="2" charset="2"/>
              </a:rPr>
              <a:t>A’</a:t>
            </a:r>
            <a:r>
              <a:rPr lang="en-US" dirty="0" err="1" smtClean="0">
                <a:sym typeface="Wingdings" panose="05000000000000000000" pitchFamily="2" charset="2"/>
              </a:rPr>
              <a:t>d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 A</a:t>
            </a:r>
            <a:r>
              <a:rPr lang="en-US" dirty="0" smtClean="0">
                <a:solidFill>
                  <a:srgbClr val="00B0F0"/>
                </a:solidFill>
                <a:sym typeface="Wingdings" panose="05000000000000000000" pitchFamily="2" charset="2"/>
              </a:rPr>
              <a:t>’</a:t>
            </a:r>
            <a:r>
              <a:rPr lang="en-US" dirty="0" smtClean="0">
                <a:sym typeface="Wingdings" panose="05000000000000000000" pitchFamily="2" charset="2"/>
              </a:rPr>
              <a:t>|Ɛ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B =&gt; b  </a:t>
            </a:r>
          </a:p>
          <a:p>
            <a:r>
              <a:rPr lang="en-US" dirty="0"/>
              <a:t>C =&gt; g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2972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57200" y="1942237"/>
            <a:ext cx="24942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 =&gt; A </a:t>
            </a:r>
          </a:p>
          <a:p>
            <a:r>
              <a:rPr lang="en-US" dirty="0" err="1"/>
              <a:t>A</a:t>
            </a:r>
            <a:r>
              <a:rPr lang="en-US" dirty="0" err="1">
                <a:sym typeface="Wingdings" panose="05000000000000000000" pitchFamily="2" charset="2"/>
              </a:rPr>
              <a:t>aB</a:t>
            </a:r>
            <a:r>
              <a:rPr lang="en-US" dirty="0">
                <a:sym typeface="Wingdings" panose="05000000000000000000" pitchFamily="2" charset="2"/>
              </a:rPr>
              <a:t> A’</a:t>
            </a:r>
          </a:p>
          <a:p>
            <a:r>
              <a:rPr lang="en-US" dirty="0" err="1">
                <a:sym typeface="Wingdings" panose="05000000000000000000" pitchFamily="2" charset="2"/>
              </a:rPr>
              <a:t>A’d</a:t>
            </a:r>
            <a:r>
              <a:rPr lang="en-US" dirty="0">
                <a:sym typeface="Wingdings" panose="05000000000000000000" pitchFamily="2" charset="2"/>
              </a:rPr>
              <a:t> A’|Ɛ</a:t>
            </a:r>
          </a:p>
          <a:p>
            <a:r>
              <a:rPr lang="en-US" dirty="0"/>
              <a:t>B =&gt; b  </a:t>
            </a:r>
          </a:p>
          <a:p>
            <a:r>
              <a:rPr lang="en-US" dirty="0"/>
              <a:t>C =&gt; g</a:t>
            </a:r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57200" y="4114800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FOLLOW:</a:t>
            </a:r>
            <a:endParaRPr lang="en-US" dirty="0"/>
          </a:p>
          <a:p>
            <a:r>
              <a:rPr lang="en-US" dirty="0"/>
              <a:t>Follow(S) ={ $ }</a:t>
            </a:r>
          </a:p>
          <a:p>
            <a:r>
              <a:rPr lang="en-US" dirty="0"/>
              <a:t>Follow(A) = Follow(S) ={ $ }</a:t>
            </a:r>
          </a:p>
          <a:p>
            <a:r>
              <a:rPr lang="en-US" dirty="0"/>
              <a:t>Follow(A’) = Follow(A) ={ $ }</a:t>
            </a:r>
          </a:p>
          <a:p>
            <a:r>
              <a:rPr lang="en-US" dirty="0"/>
              <a:t>Follow(B) = {First(A’) – Ɛ } U Follow(A) = { d , $ }</a:t>
            </a:r>
          </a:p>
          <a:p>
            <a:r>
              <a:rPr lang="en-US" dirty="0"/>
              <a:t>Follow(C) = NA</a:t>
            </a:r>
          </a:p>
        </p:txBody>
      </p:sp>
    </p:spTree>
    <p:extLst>
      <p:ext uri="{BB962C8B-B14F-4D97-AF65-F5344CB8AC3E}">
        <p14:creationId xmlns:p14="http://schemas.microsoft.com/office/powerpoint/2010/main" val="202925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57200" y="1828800"/>
            <a:ext cx="7467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Find Follow of all non-terminals</a:t>
            </a:r>
          </a:p>
          <a:p>
            <a:r>
              <a:rPr lang="en-US" sz="2400" dirty="0"/>
              <a:t>2</a:t>
            </a:r>
            <a:r>
              <a:rPr lang="en-US" sz="2400" dirty="0" smtClean="0"/>
              <a:t>)</a:t>
            </a:r>
          </a:p>
          <a:p>
            <a:r>
              <a:rPr lang="en-US" sz="2400" dirty="0"/>
              <a:t>S =&gt; A </a:t>
            </a:r>
            <a:r>
              <a:rPr lang="en-US" sz="2400" dirty="0" err="1"/>
              <a:t>a</a:t>
            </a:r>
            <a:r>
              <a:rPr lang="en-US" sz="2400" dirty="0"/>
              <a:t> </a:t>
            </a:r>
          </a:p>
          <a:p>
            <a:r>
              <a:rPr lang="en-US" sz="2400" dirty="0"/>
              <a:t>A =&gt; B D </a:t>
            </a:r>
          </a:p>
          <a:p>
            <a:r>
              <a:rPr lang="en-US" sz="2400" dirty="0"/>
              <a:t>B =&gt; b | Ɛ </a:t>
            </a:r>
          </a:p>
          <a:p>
            <a:r>
              <a:rPr lang="en-US" sz="2400" dirty="0"/>
              <a:t>D =&gt; d | Ɛ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19891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57200" y="1828800"/>
            <a:ext cx="74676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Find Follow of all non-terminals</a:t>
            </a:r>
          </a:p>
          <a:p>
            <a:r>
              <a:rPr lang="en-US" dirty="0"/>
              <a:t>2</a:t>
            </a:r>
            <a:r>
              <a:rPr lang="en-US" dirty="0" smtClean="0"/>
              <a:t>)</a:t>
            </a:r>
          </a:p>
          <a:p>
            <a:r>
              <a:rPr lang="en-US" dirty="0"/>
              <a:t>S =&gt; A </a:t>
            </a:r>
            <a:r>
              <a:rPr lang="en-US" dirty="0" err="1"/>
              <a:t>a</a:t>
            </a:r>
            <a:r>
              <a:rPr lang="en-US" dirty="0"/>
              <a:t> </a:t>
            </a:r>
          </a:p>
          <a:p>
            <a:r>
              <a:rPr lang="en-US" dirty="0"/>
              <a:t>A =&gt; B D </a:t>
            </a:r>
          </a:p>
          <a:p>
            <a:r>
              <a:rPr lang="en-US" dirty="0"/>
              <a:t>B =&gt; b | Ɛ </a:t>
            </a:r>
          </a:p>
          <a:p>
            <a:r>
              <a:rPr lang="en-US" dirty="0"/>
              <a:t>D =&gt; d | Ɛ </a:t>
            </a:r>
          </a:p>
          <a:p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304800" y="4512143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FOLLOW:</a:t>
            </a:r>
          </a:p>
          <a:p>
            <a:r>
              <a:rPr lang="en-US" dirty="0"/>
              <a:t>Follow(S) = {$} </a:t>
            </a:r>
          </a:p>
          <a:p>
            <a:r>
              <a:rPr lang="en-US" dirty="0"/>
              <a:t>Follow(A) = {a} </a:t>
            </a:r>
          </a:p>
          <a:p>
            <a:r>
              <a:rPr lang="en-US" dirty="0"/>
              <a:t>Follow(B) = {d, a} </a:t>
            </a:r>
          </a:p>
          <a:p>
            <a:r>
              <a:rPr lang="en-US" dirty="0"/>
              <a:t>Follow(D) = {a}</a:t>
            </a:r>
          </a:p>
        </p:txBody>
      </p:sp>
    </p:spTree>
    <p:extLst>
      <p:ext uri="{BB962C8B-B14F-4D97-AF65-F5344CB8AC3E}">
        <p14:creationId xmlns:p14="http://schemas.microsoft.com/office/powerpoint/2010/main" val="12156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46964" y="1194138"/>
            <a:ext cx="632051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585858"/>
                </a:solidFill>
                <a:latin typeface="Verdana" panose="020B0604030504040204" pitchFamily="34" charset="0"/>
              </a:rPr>
              <a:t>F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ind the first and follow functions for the given CFG?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S →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aXZh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X →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cY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Y →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bY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 | ∈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Z → EF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E → g | ∈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F → f |∈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24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46964" y="1194138"/>
            <a:ext cx="632051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585858"/>
                </a:solidFill>
                <a:latin typeface="Verdana" panose="020B0604030504040204" pitchFamily="34" charset="0"/>
              </a:rPr>
              <a:t>F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ind the first and follow functions for the given CFG?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S →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aXZh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X →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cY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Y →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bY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 | ∈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Z → EF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E → g | ∈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F → f |∈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62200" y="1833267"/>
            <a:ext cx="6172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585858"/>
                </a:solidFill>
                <a:latin typeface="verdana" panose="020B0604030504040204" pitchFamily="34" charset="0"/>
              </a:rPr>
              <a:t>First Functions</a:t>
            </a:r>
            <a:endParaRPr lang="en-US" dirty="0">
              <a:solidFill>
                <a:srgbClr val="585858"/>
              </a:solidFill>
              <a:latin typeface="verdan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First(S) = { a 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First(X) = { c 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First(Y) = { b , ∈ 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First(Z) = </a:t>
            </a:r>
            <a:r>
              <a:rPr lang="en-US" dirty="0" smtClean="0">
                <a:solidFill>
                  <a:srgbClr val="585858"/>
                </a:solidFill>
                <a:latin typeface="verdana" panose="020B0604030504040204" pitchFamily="34" charset="0"/>
              </a:rPr>
              <a:t>First(E</a:t>
            </a: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) </a:t>
            </a: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  <a:sym typeface="Wingdings" panose="05000000000000000000" pitchFamily="2" charset="2"/>
              </a:rPr>
              <a:t>=</a:t>
            </a:r>
            <a:r>
              <a:rPr lang="en-US" dirty="0" smtClean="0">
                <a:solidFill>
                  <a:srgbClr val="585858"/>
                </a:solidFill>
                <a:latin typeface="verdana" panose="020B0604030504040204" pitchFamily="34" charset="0"/>
              </a:rPr>
              <a:t>{ </a:t>
            </a: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g </a:t>
            </a:r>
            <a:r>
              <a:rPr lang="en-US" dirty="0" smtClean="0">
                <a:solidFill>
                  <a:srgbClr val="585858"/>
                </a:solidFill>
                <a:latin typeface="verdana" panose="020B0604030504040204" pitchFamily="34" charset="0"/>
              </a:rPr>
              <a:t>, </a:t>
            </a: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∈ 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First(E) = { g , ∈ 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First(F) = { f , ∈ }</a:t>
            </a:r>
            <a:endParaRPr lang="en-US" b="0" i="0" dirty="0">
              <a:solidFill>
                <a:srgbClr val="585858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31042" y="4365010"/>
            <a:ext cx="6579358" cy="22159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u="sng" dirty="0">
                <a:solidFill>
                  <a:srgbClr val="585858"/>
                </a:solidFill>
                <a:latin typeface="verdana" panose="020B0604030504040204" pitchFamily="34" charset="0"/>
              </a:rPr>
              <a:t>Follow Functions</a:t>
            </a:r>
          </a:p>
          <a:p>
            <a:pPr marR="0" lvl="0" indent="-1714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solidFill>
                  <a:srgbClr val="585858"/>
                </a:solidFill>
                <a:latin typeface="verdana" panose="020B0604030504040204" pitchFamily="34" charset="0"/>
              </a:rPr>
              <a:t>Follow(S) = { $ }</a:t>
            </a:r>
          </a:p>
          <a:p>
            <a:pPr marR="0" lvl="0" indent="-1714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solidFill>
                  <a:srgbClr val="585858"/>
                </a:solidFill>
                <a:latin typeface="verdana" panose="020B0604030504040204" pitchFamily="34" charset="0"/>
              </a:rPr>
              <a:t>Follow(X) = { First(Z) – ∈ } ∪ </a:t>
            </a:r>
            <a:r>
              <a:rPr lang="en-US" altLang="en-US" dirty="0" smtClean="0">
                <a:solidFill>
                  <a:srgbClr val="585858"/>
                </a:solidFill>
                <a:latin typeface="verdana" panose="020B0604030504040204" pitchFamily="34" charset="0"/>
              </a:rPr>
              <a:t>Follow(Z) </a:t>
            </a:r>
            <a:r>
              <a:rPr lang="en-US" altLang="en-US" dirty="0">
                <a:solidFill>
                  <a:srgbClr val="585858"/>
                </a:solidFill>
                <a:latin typeface="verdana" panose="020B0604030504040204" pitchFamily="34" charset="0"/>
              </a:rPr>
              <a:t>= { g , f , h }</a:t>
            </a:r>
          </a:p>
          <a:p>
            <a:pPr marR="0" lvl="0" indent="-1714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solidFill>
                  <a:srgbClr val="585858"/>
                </a:solidFill>
                <a:latin typeface="verdana" panose="020B0604030504040204" pitchFamily="34" charset="0"/>
              </a:rPr>
              <a:t>Follow(Y) = Follow(X) = { g , f , h }</a:t>
            </a:r>
          </a:p>
          <a:p>
            <a:pPr marR="0" lvl="0" indent="-1714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solidFill>
                  <a:srgbClr val="585858"/>
                </a:solidFill>
                <a:latin typeface="verdana" panose="020B0604030504040204" pitchFamily="34" charset="0"/>
              </a:rPr>
              <a:t>Follow(Z) = </a:t>
            </a:r>
            <a:r>
              <a:rPr lang="en-US" altLang="en-US" dirty="0" smtClean="0">
                <a:solidFill>
                  <a:srgbClr val="585858"/>
                </a:solidFill>
                <a:latin typeface="verdana" panose="020B0604030504040204" pitchFamily="34" charset="0"/>
              </a:rPr>
              <a:t>{ </a:t>
            </a:r>
            <a:r>
              <a:rPr lang="en-US" altLang="en-US" dirty="0">
                <a:solidFill>
                  <a:srgbClr val="585858"/>
                </a:solidFill>
                <a:latin typeface="verdana" panose="020B0604030504040204" pitchFamily="34" charset="0"/>
              </a:rPr>
              <a:t>h }</a:t>
            </a:r>
          </a:p>
          <a:p>
            <a:pPr marR="0" lvl="0" indent="-1714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solidFill>
                  <a:srgbClr val="585858"/>
                </a:solidFill>
                <a:latin typeface="verdana" panose="020B0604030504040204" pitchFamily="34" charset="0"/>
              </a:rPr>
              <a:t>Follow(E) = { First(F) – ∈ } ∪ Follow(Z) = { f , h }</a:t>
            </a:r>
          </a:p>
          <a:p>
            <a:pPr marR="0" lvl="0" indent="-1714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solidFill>
                  <a:srgbClr val="585858"/>
                </a:solidFill>
                <a:latin typeface="verdana" panose="020B0604030504040204" pitchFamily="34" charset="0"/>
              </a:rPr>
              <a:t>Follow(F) = Follow(Z) = { h }</a:t>
            </a:r>
          </a:p>
          <a:p>
            <a:pPr marR="0" lvl="0" indent="-28575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solidFill>
                <a:srgbClr val="585858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71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28600" y="1219200"/>
            <a:ext cx="89154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</a:t>
            </a:r>
            <a:r>
              <a:rPr lang="en-US" dirty="0" smtClean="0"/>
              <a:t>ind </a:t>
            </a:r>
            <a:r>
              <a:rPr lang="en-US" dirty="0"/>
              <a:t>the first and follow functions for the given CFG with Left Recursive production rules.</a:t>
            </a:r>
            <a:endParaRPr lang="en-US" dirty="0" smtClean="0"/>
          </a:p>
          <a:p>
            <a:r>
              <a:rPr lang="en-US" dirty="0" smtClean="0"/>
              <a:t>S </a:t>
            </a:r>
            <a:r>
              <a:rPr lang="en-US" dirty="0"/>
              <a:t>→ X</a:t>
            </a:r>
          </a:p>
          <a:p>
            <a:r>
              <a:rPr lang="en-US" dirty="0"/>
              <a:t>X → </a:t>
            </a:r>
            <a:r>
              <a:rPr lang="en-US" dirty="0" err="1"/>
              <a:t>aY</a:t>
            </a:r>
            <a:r>
              <a:rPr lang="en-US" dirty="0"/>
              <a:t> </a:t>
            </a:r>
            <a:r>
              <a:rPr lang="en-US" dirty="0" smtClean="0"/>
              <a:t>| </a:t>
            </a:r>
            <a:r>
              <a:rPr lang="en-US" dirty="0" err="1"/>
              <a:t>Xd</a:t>
            </a:r>
            <a:endParaRPr lang="en-US" dirty="0"/>
          </a:p>
          <a:p>
            <a:r>
              <a:rPr lang="en-US" dirty="0"/>
              <a:t>Y → b</a:t>
            </a:r>
          </a:p>
          <a:p>
            <a:r>
              <a:rPr lang="en-US" dirty="0"/>
              <a:t>C → 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46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Parsers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46964" y="1471137"/>
            <a:ext cx="632051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585858"/>
                </a:solidFill>
                <a:latin typeface="Verdana" panose="020B0604030504040204" pitchFamily="34" charset="0"/>
              </a:rPr>
              <a:t>F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585858"/>
                </a:solidFill>
                <a:effectLst/>
                <a:latin typeface="Verdana" panose="020B0604030504040204" pitchFamily="34" charset="0"/>
              </a:rPr>
              <a:t>ind the first and follow functions for the given CFG?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lang="en-US" dirty="0"/>
              <a:t>S → X</a:t>
            </a:r>
          </a:p>
          <a:p>
            <a:r>
              <a:rPr lang="en-US" dirty="0"/>
              <a:t>X → </a:t>
            </a:r>
            <a:r>
              <a:rPr lang="en-US" dirty="0" err="1"/>
              <a:t>aY</a:t>
            </a:r>
            <a:r>
              <a:rPr lang="en-US" dirty="0"/>
              <a:t> </a:t>
            </a:r>
            <a:r>
              <a:rPr lang="en-US" dirty="0" smtClean="0"/>
              <a:t>| </a:t>
            </a:r>
            <a:r>
              <a:rPr lang="en-US" dirty="0" err="1"/>
              <a:t>Xd</a:t>
            </a:r>
            <a:endParaRPr lang="en-US" dirty="0"/>
          </a:p>
          <a:p>
            <a:r>
              <a:rPr lang="en-US" dirty="0"/>
              <a:t>Y → b</a:t>
            </a:r>
          </a:p>
          <a:p>
            <a:r>
              <a:rPr lang="en-US" dirty="0"/>
              <a:t>C → t</a:t>
            </a:r>
          </a:p>
        </p:txBody>
      </p:sp>
      <p:sp>
        <p:nvSpPr>
          <p:cNvPr id="3" name="Rectangle 2"/>
          <p:cNvSpPr/>
          <p:nvPr/>
        </p:nvSpPr>
        <p:spPr>
          <a:xfrm>
            <a:off x="386687" y="3352800"/>
            <a:ext cx="827054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After the elimination of left recursion, we get the following grammar.</a:t>
            </a:r>
          </a:p>
          <a:p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S → X</a:t>
            </a:r>
          </a:p>
          <a:p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X→ </a:t>
            </a:r>
            <a:r>
              <a:rPr lang="en-US" dirty="0" err="1">
                <a:solidFill>
                  <a:srgbClr val="585858"/>
                </a:solidFill>
                <a:latin typeface="verdana" panose="020B0604030504040204" pitchFamily="34" charset="0"/>
              </a:rPr>
              <a:t>aYX</a:t>
            </a: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’</a:t>
            </a:r>
          </a:p>
          <a:p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X’ → </a:t>
            </a:r>
            <a:r>
              <a:rPr lang="en-US" dirty="0" err="1">
                <a:solidFill>
                  <a:srgbClr val="585858"/>
                </a:solidFill>
                <a:latin typeface="verdana" panose="020B0604030504040204" pitchFamily="34" charset="0"/>
              </a:rPr>
              <a:t>dX</a:t>
            </a: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’ </a:t>
            </a:r>
            <a:r>
              <a:rPr lang="en-US" dirty="0" smtClean="0">
                <a:solidFill>
                  <a:srgbClr val="585858"/>
                </a:solidFill>
                <a:latin typeface="verdana" panose="020B0604030504040204" pitchFamily="34" charset="0"/>
              </a:rPr>
              <a:t>| </a:t>
            </a: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∈</a:t>
            </a:r>
          </a:p>
          <a:p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Y → b</a:t>
            </a:r>
          </a:p>
          <a:p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C → t</a:t>
            </a:r>
            <a:endParaRPr lang="en-US" b="0" i="0" dirty="0">
              <a:solidFill>
                <a:srgbClr val="585858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5103674"/>
            <a:ext cx="3581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585858"/>
                </a:solidFill>
                <a:latin typeface="verdana" panose="020B0604030504040204" pitchFamily="34" charset="0"/>
              </a:rPr>
              <a:t>First Functions</a:t>
            </a:r>
            <a:endParaRPr lang="en-US" dirty="0">
              <a:solidFill>
                <a:srgbClr val="585858"/>
              </a:solidFill>
              <a:latin typeface="verdan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First(S) = First(X) = { a 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First(X) = { a 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First(X’) = { d , ∈ 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First(Y) = { b 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First(C) = { t }</a:t>
            </a:r>
            <a:endParaRPr lang="en-US" b="0" i="0" dirty="0">
              <a:solidFill>
                <a:srgbClr val="585858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0" y="4826675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u="sng" dirty="0">
                <a:solidFill>
                  <a:srgbClr val="585858"/>
                </a:solidFill>
                <a:latin typeface="verdana" panose="020B0604030504040204" pitchFamily="34" charset="0"/>
              </a:rPr>
              <a:t>Follow Functions-</a:t>
            </a:r>
            <a:endParaRPr lang="en-US" dirty="0">
              <a:solidFill>
                <a:srgbClr val="585858"/>
              </a:solidFill>
              <a:latin typeface="verdan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Follow(S) = { $ 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Follow(X) = Follow(S) = { $ 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Follow(X’) = Follow(X) = { $ 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Follow(Y) = { </a:t>
            </a:r>
            <a:r>
              <a:rPr lang="en-US" dirty="0" smtClean="0">
                <a:solidFill>
                  <a:srgbClr val="585858"/>
                </a:solidFill>
                <a:latin typeface="verdana" panose="020B0604030504040204" pitchFamily="34" charset="0"/>
              </a:rPr>
              <a:t>First(X’) </a:t>
            </a: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– ∈ } ∪ </a:t>
            </a:r>
            <a:r>
              <a:rPr lang="en-US" dirty="0" smtClean="0">
                <a:solidFill>
                  <a:srgbClr val="585858"/>
                </a:solidFill>
                <a:latin typeface="verdana" panose="020B0604030504040204" pitchFamily="34" charset="0"/>
              </a:rPr>
              <a:t>Follow(X) </a:t>
            </a: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= { d , $ 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85858"/>
                </a:solidFill>
                <a:latin typeface="verdana" panose="020B0604030504040204" pitchFamily="34" charset="0"/>
              </a:rPr>
              <a:t>Follow(C) = </a:t>
            </a:r>
            <a:r>
              <a:rPr lang="en-US" dirty="0" smtClean="0">
                <a:solidFill>
                  <a:srgbClr val="585858"/>
                </a:solidFill>
                <a:latin typeface="verdana" panose="020B0604030504040204" pitchFamily="34" charset="0"/>
              </a:rPr>
              <a:t>NA</a:t>
            </a:r>
            <a:endParaRPr lang="en-US" b="0" i="0" dirty="0">
              <a:solidFill>
                <a:srgbClr val="585858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662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85247"/>
            <a:ext cx="7848600" cy="1927225"/>
          </a:xfrm>
        </p:spPr>
        <p:txBody>
          <a:bodyPr/>
          <a:lstStyle/>
          <a:p>
            <a:pPr fontAlgn="base"/>
            <a:r>
              <a:rPr lang="en-US" sz="4000" b="1" dirty="0"/>
              <a:t>LL(1) or Table Driver or Predictive Parser 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B2B36E-8BDA-4B95-AFC9-7BEEDE66F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369" y="377634"/>
            <a:ext cx="1289461" cy="12894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D8964A-8303-45DF-99A6-7A9E5BD07E42}"/>
              </a:ext>
            </a:extLst>
          </p:cNvPr>
          <p:cNvSpPr txBox="1"/>
          <p:nvPr/>
        </p:nvSpPr>
        <p:spPr>
          <a:xfrm>
            <a:off x="1439441" y="0"/>
            <a:ext cx="7397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Sir Syed University of Engineering &amp; Technology, Karachi</a:t>
            </a:r>
            <a:endParaRPr lang="en-US" sz="1485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0EEC16-E972-4610-A1BD-5ADD6C19E1D8}"/>
              </a:ext>
            </a:extLst>
          </p:cNvPr>
          <p:cNvSpPr txBox="1"/>
          <p:nvPr/>
        </p:nvSpPr>
        <p:spPr>
          <a:xfrm>
            <a:off x="2209800" y="1667095"/>
            <a:ext cx="512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Department of Computer Science</a:t>
            </a:r>
            <a:r>
              <a:rPr lang="en-US" sz="1485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3257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LL(1) or Table Driver or Predictive Parser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In LL1, first L stands for Left to Right and second L stands for Left-most Derivation. 1 stands for number of Look </a:t>
            </a:r>
            <a:r>
              <a:rPr lang="en-US" dirty="0" err="1"/>
              <a:t>Aheads</a:t>
            </a:r>
            <a:r>
              <a:rPr lang="en-US" dirty="0"/>
              <a:t> token used by parser while parsing a sentence.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LL(1) parsing is constructed from the grammar which is free from left recursion, common prefix, and ambiguity.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LL(1) parser depends on 1 look ahead symbol to predict the production to expand the parse tree.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This parser is Non-Recursive.</a:t>
            </a:r>
          </a:p>
        </p:txBody>
      </p:sp>
    </p:spTree>
    <p:extLst>
      <p:ext uri="{BB962C8B-B14F-4D97-AF65-F5344CB8AC3E}">
        <p14:creationId xmlns:p14="http://schemas.microsoft.com/office/powerpoint/2010/main" val="142797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LL(1) or Table Driver or Predictive Parser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dirty="0"/>
              <a:t>The construction of a predictive parser is aided by two functions First and Follow associated with a grammar G.  </a:t>
            </a:r>
            <a:endParaRPr lang="en-US" dirty="0" smtClean="0"/>
          </a:p>
          <a:p>
            <a:pPr marL="457200" indent="-457200">
              <a:buFont typeface="+mj-lt"/>
              <a:buAutoNum type="arabicPeriod" startAt="5"/>
            </a:pPr>
            <a:r>
              <a:rPr lang="en-US" dirty="0" smtClean="0"/>
              <a:t>These </a:t>
            </a:r>
            <a:r>
              <a:rPr lang="en-US" dirty="0"/>
              <a:t>functions, FIRST and FOLLOW, allow us to fill in the entries of a predictive parsing table for </a:t>
            </a:r>
            <a:r>
              <a:rPr lang="en-US" dirty="0" smtClean="0"/>
              <a:t>G.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dirty="0" smtClean="0"/>
              <a:t>Sets </a:t>
            </a:r>
            <a:r>
              <a:rPr lang="en-US" dirty="0"/>
              <a:t>of tokens yielded by the FOLLOW function can also be used as synchronizing tokens during panic-mode error recovery</a:t>
            </a:r>
            <a:r>
              <a:rPr lang="en-US" sz="1400" i="1" dirty="0" smtClean="0"/>
              <a:t>.(</a:t>
            </a:r>
            <a:r>
              <a:rPr lang="en-US" sz="1400" i="1" dirty="0"/>
              <a:t>Synchronizing tokens are delimiters such as; or </a:t>
            </a:r>
            <a:r>
              <a:rPr lang="en-US" sz="1400" i="1" dirty="0" smtClean="0"/>
              <a:t>})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4226149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LL(1) or Table Driver or Predictive Parser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Construction of a predictive parsing table (Algorithm) </a:t>
            </a:r>
            <a:r>
              <a:rPr lang="en-US" dirty="0" smtClean="0"/>
              <a:t>Input</a:t>
            </a:r>
            <a:r>
              <a:rPr lang="en-US" dirty="0"/>
              <a:t>: Grammar G</a:t>
            </a:r>
          </a:p>
          <a:p>
            <a:r>
              <a:rPr lang="en-US" dirty="0"/>
              <a:t>Output: Parsing table M</a:t>
            </a:r>
          </a:p>
          <a:p>
            <a:r>
              <a:rPr lang="en-US" dirty="0"/>
              <a:t>Method: For each production A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α of the grammar, do the following:</a:t>
            </a:r>
          </a:p>
          <a:p>
            <a:pPr marL="514350" indent="-514350">
              <a:buAutoNum type="arabicPeriod"/>
            </a:pPr>
            <a:r>
              <a:rPr lang="en-US" dirty="0"/>
              <a:t>For each terminal a in FIRST(α), add A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α to M[A, α]. </a:t>
            </a:r>
          </a:p>
          <a:p>
            <a:pPr marL="514350" indent="-514350">
              <a:buAutoNum type="arabicPeriod"/>
            </a:pPr>
            <a:r>
              <a:rPr lang="en-US" dirty="0"/>
              <a:t>If Ɛ is in FIRST(α), then for each terminal b in FOLLOW(A), add A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α to M[A; b]. If Ɛ is in FIRST(α) and $ is in FOLLOW(A), add A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α to M[A, $] as well. </a:t>
            </a:r>
          </a:p>
          <a:p>
            <a:r>
              <a:rPr lang="en-US" dirty="0"/>
              <a:t>If, after performing the above, there is no production at all in M[A, α], then set M[A, α] to error (which we normally represent by an empty entry in the table).</a:t>
            </a:r>
            <a:endParaRPr lang="en-US" b="1" dirty="0"/>
          </a:p>
          <a:p>
            <a:pPr marL="514350" indent="-514350" fontAlgn="base">
              <a:buAutoNum type="arabicPeriod"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332044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LL(1) or Table Driver or Predictive Parser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Example:</a:t>
            </a:r>
            <a:endParaRPr lang="en-US" b="1" dirty="0"/>
          </a:p>
          <a:p>
            <a:pPr marL="0" indent="0">
              <a:buNone/>
            </a:pPr>
            <a:r>
              <a:rPr lang="en-US" sz="2000" dirty="0" smtClean="0"/>
              <a:t>S</a:t>
            </a:r>
            <a:r>
              <a:rPr lang="en-US" sz="2000" dirty="0" smtClean="0">
                <a:sym typeface="Wingdings" panose="05000000000000000000" pitchFamily="2" charset="2"/>
              </a:rPr>
              <a:t>(L)</a:t>
            </a:r>
            <a:r>
              <a:rPr lang="en-US" sz="2000" baseline="30000" dirty="0" smtClean="0">
                <a:sym typeface="Wingdings" panose="05000000000000000000" pitchFamily="2" charset="2"/>
              </a:rPr>
              <a:t>1</a:t>
            </a:r>
            <a:r>
              <a:rPr lang="en-US" sz="2000" dirty="0" smtClean="0">
                <a:sym typeface="Wingdings" panose="05000000000000000000" pitchFamily="2" charset="2"/>
              </a:rPr>
              <a:t> |a</a:t>
            </a:r>
            <a:r>
              <a:rPr lang="en-US" sz="2000" baseline="30000" dirty="0" smtClean="0">
                <a:sym typeface="Wingdings" panose="05000000000000000000" pitchFamily="2" charset="2"/>
              </a:rPr>
              <a:t>2</a:t>
            </a:r>
          </a:p>
          <a:p>
            <a:pPr marL="0" indent="0">
              <a:buNone/>
            </a:pPr>
            <a:r>
              <a:rPr lang="en-US" sz="2000" dirty="0" smtClean="0">
                <a:sym typeface="Wingdings" panose="05000000000000000000" pitchFamily="2" charset="2"/>
              </a:rPr>
              <a:t>LSL’</a:t>
            </a:r>
            <a:r>
              <a:rPr lang="en-US" sz="2000" baseline="30000" dirty="0" smtClean="0">
                <a:sym typeface="Wingdings" panose="05000000000000000000" pitchFamily="2" charset="2"/>
              </a:rPr>
              <a:t>3</a:t>
            </a:r>
          </a:p>
          <a:p>
            <a:pPr marL="0" indent="0">
              <a:buNone/>
            </a:pPr>
            <a:r>
              <a:rPr lang="en-US" sz="2000" dirty="0" smtClean="0">
                <a:sym typeface="Wingdings" panose="05000000000000000000" pitchFamily="2" charset="2"/>
              </a:rPr>
              <a:t>L’Ɛ</a:t>
            </a:r>
            <a:r>
              <a:rPr lang="en-US" sz="2000" baseline="30000" dirty="0" smtClean="0">
                <a:sym typeface="Wingdings" panose="05000000000000000000" pitchFamily="2" charset="2"/>
              </a:rPr>
              <a:t>4</a:t>
            </a:r>
            <a:r>
              <a:rPr lang="en-US" sz="2000" dirty="0" smtClean="0">
                <a:sym typeface="Wingdings" panose="05000000000000000000" pitchFamily="2" charset="2"/>
              </a:rPr>
              <a:t>|,SL</a:t>
            </a:r>
            <a:r>
              <a:rPr lang="en-US" sz="2000" baseline="30000" dirty="0" smtClean="0">
                <a:sym typeface="Wingdings" panose="05000000000000000000" pitchFamily="2" charset="2"/>
              </a:rPr>
              <a:t>5</a:t>
            </a:r>
          </a:p>
          <a:p>
            <a:pPr marL="0" indent="0">
              <a:buNone/>
            </a:pPr>
            <a:endParaRPr lang="en-US" sz="2000" dirty="0">
              <a:sym typeface="Wingdings" panose="05000000000000000000" pitchFamily="2" charset="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26048"/>
              </p:ext>
            </p:extLst>
          </p:nvPr>
        </p:nvGraphicFramePr>
        <p:xfrm>
          <a:off x="1524000" y="4706620"/>
          <a:ext cx="65532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,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B0F0"/>
                          </a:solidFill>
                        </a:rPr>
                        <a:t>S</a:t>
                      </a:r>
                      <a:endParaRPr lang="en-US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r>
                        <a:rPr lang="en-US" dirty="0" smtClean="0">
                          <a:sym typeface="Wingdings" panose="05000000000000000000" pitchFamily="2" charset="2"/>
                        </a:rPr>
                        <a:t>(L)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</a:t>
                      </a:r>
                      <a:r>
                        <a:rPr lang="en-US" dirty="0" err="1" smtClean="0">
                          <a:sym typeface="Wingdings" panose="05000000000000000000" pitchFamily="2" charset="2"/>
                        </a:rPr>
                        <a:t>a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B0F0"/>
                          </a:solidFill>
                        </a:rPr>
                        <a:t>L</a:t>
                      </a:r>
                      <a:endParaRPr lang="en-US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</a:t>
                      </a:r>
                      <a:r>
                        <a:rPr lang="en-US" dirty="0" smtClean="0">
                          <a:sym typeface="Wingdings" panose="05000000000000000000" pitchFamily="2" charset="2"/>
                        </a:rPr>
                        <a:t>SL’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</a:t>
                      </a:r>
                      <a:r>
                        <a:rPr lang="en-US" dirty="0" smtClean="0">
                          <a:sym typeface="Wingdings" panose="05000000000000000000" pitchFamily="2" charset="2"/>
                        </a:rPr>
                        <a:t>SL’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B0F0"/>
                          </a:solidFill>
                        </a:rPr>
                        <a:t>L’</a:t>
                      </a:r>
                      <a:endParaRPr lang="en-US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L’Ɛ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 smtClean="0"/>
                        <a:t>L</a:t>
                      </a:r>
                      <a:r>
                        <a:rPr lang="en-US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,SL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335363"/>
              </p:ext>
            </p:extLst>
          </p:nvPr>
        </p:nvGraphicFramePr>
        <p:xfrm>
          <a:off x="144439" y="2839720"/>
          <a:ext cx="8855122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7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7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First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Follow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i</a:t>
                      </a:r>
                      <a:r>
                        <a:rPr lang="en-US" dirty="0" smtClean="0"/>
                        <a:t>rst(S) =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{(,a}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Follow(S)=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dirty="0" smtClean="0"/>
                        <a:t>$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,</a:t>
                      </a:r>
                      <a:r>
                        <a:rPr lang="en-US" dirty="0" smtClean="0"/>
                        <a:t> F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i</a:t>
                      </a:r>
                      <a:r>
                        <a:rPr lang="en-US" dirty="0" smtClean="0"/>
                        <a:t>rst(L’) 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}</a:t>
                      </a:r>
                      <a:r>
                        <a:rPr lang="en-US" dirty="0" smtClean="0"/>
                        <a:t> )=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dirty="0" smtClean="0"/>
                        <a:t>$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, ‘,’</a:t>
                      </a:r>
                      <a:r>
                        <a:rPr lang="en-US" dirty="0" smtClean="0"/>
                        <a:t> ) 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}</a:t>
                      </a:r>
                      <a:endParaRPr 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i</a:t>
                      </a:r>
                      <a:r>
                        <a:rPr lang="en-US" dirty="0" smtClean="0"/>
                        <a:t>rst(L)=F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i</a:t>
                      </a:r>
                      <a:r>
                        <a:rPr lang="en-US" dirty="0" smtClean="0"/>
                        <a:t>rst(S) =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{(,a}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Follow(L)=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{ )}</a:t>
                      </a:r>
                      <a:endParaRPr 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i</a:t>
                      </a:r>
                      <a:r>
                        <a:rPr lang="en-US" dirty="0" smtClean="0"/>
                        <a:t>rst(L’) =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{Ɛ,</a:t>
                      </a:r>
                      <a:r>
                        <a:rPr lang="en-US" sz="1800" baseline="0" dirty="0" smtClean="0">
                          <a:sym typeface="Wingdings" panose="05000000000000000000" pitchFamily="2" charset="2"/>
                        </a:rPr>
                        <a:t> ‘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,’}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Follow(L’) =Follow(L)=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{ )}</a:t>
                      </a:r>
                      <a:endParaRPr 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268" y="4329788"/>
            <a:ext cx="738664" cy="161798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 smtClean="0"/>
              <a:t>Non</a:t>
            </a:r>
          </a:p>
          <a:p>
            <a:r>
              <a:rPr lang="en-US" dirty="0" smtClean="0"/>
              <a:t>Terminal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429000" y="4327643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Terminal</a:t>
            </a:r>
          </a:p>
        </p:txBody>
      </p:sp>
      <p:sp>
        <p:nvSpPr>
          <p:cNvPr id="8" name="Cloud Callout 7"/>
          <p:cNvSpPr/>
          <p:nvPr/>
        </p:nvSpPr>
        <p:spPr>
          <a:xfrm>
            <a:off x="6324600" y="1073150"/>
            <a:ext cx="2979761" cy="1290319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For Placement in Parser table use right side first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969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LL(1) or Table Driver or Predictive Parser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Example:</a:t>
            </a:r>
            <a:endParaRPr lang="en-US" b="1" dirty="0"/>
          </a:p>
          <a:p>
            <a:pPr marL="0" indent="0">
              <a:buNone/>
            </a:pPr>
            <a:r>
              <a:rPr lang="en-US" sz="2000" dirty="0" smtClean="0"/>
              <a:t>S</a:t>
            </a:r>
            <a:r>
              <a:rPr lang="en-US" sz="2000" dirty="0" smtClean="0">
                <a:sym typeface="Wingdings" panose="05000000000000000000" pitchFamily="2" charset="2"/>
              </a:rPr>
              <a:t>aSbS</a:t>
            </a:r>
            <a:r>
              <a:rPr lang="en-US" sz="2000" baseline="30000" dirty="0" smtClean="0">
                <a:sym typeface="Wingdings" panose="05000000000000000000" pitchFamily="2" charset="2"/>
              </a:rPr>
              <a:t>1</a:t>
            </a:r>
            <a:r>
              <a:rPr lang="en-US" sz="2000" dirty="0" smtClean="0">
                <a:sym typeface="Wingdings" panose="05000000000000000000" pitchFamily="2" charset="2"/>
              </a:rPr>
              <a:t> |bSaS</a:t>
            </a:r>
            <a:r>
              <a:rPr lang="en-US" sz="2000" baseline="30000" dirty="0" smtClean="0">
                <a:sym typeface="Wingdings" panose="05000000000000000000" pitchFamily="2" charset="2"/>
              </a:rPr>
              <a:t>2 </a:t>
            </a:r>
            <a:r>
              <a:rPr lang="en-US" sz="2000" dirty="0" smtClean="0">
                <a:sym typeface="Wingdings" panose="05000000000000000000" pitchFamily="2" charset="2"/>
              </a:rPr>
              <a:t>| </a:t>
            </a:r>
            <a:r>
              <a:rPr lang="en-US" sz="2000" dirty="0">
                <a:sym typeface="Wingdings" panose="05000000000000000000" pitchFamily="2" charset="2"/>
              </a:rPr>
              <a:t>Ɛ</a:t>
            </a:r>
            <a:r>
              <a:rPr lang="en-US" sz="2000" baseline="30000" dirty="0" smtClean="0">
                <a:sym typeface="Wingdings" panose="05000000000000000000" pitchFamily="2" charset="2"/>
              </a:rPr>
              <a:t>3</a:t>
            </a:r>
          </a:p>
          <a:p>
            <a:pPr marL="0" indent="0">
              <a:buNone/>
            </a:pPr>
            <a:endParaRPr lang="en-US" sz="2000" dirty="0">
              <a:sym typeface="Wingdings" panose="05000000000000000000" pitchFamily="2" charset="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691028"/>
              </p:ext>
            </p:extLst>
          </p:nvPr>
        </p:nvGraphicFramePr>
        <p:xfrm>
          <a:off x="1524000" y="4706620"/>
          <a:ext cx="50292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B0F0"/>
                          </a:solidFill>
                        </a:rPr>
                        <a:t>S</a:t>
                      </a:r>
                      <a:endParaRPr lang="en-US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aSbS</a:t>
                      </a:r>
                      <a:r>
                        <a:rPr lang="en-US" sz="1800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 </a:t>
                      </a:r>
                    </a:p>
                    <a:p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SƐ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bSaS</a:t>
                      </a:r>
                      <a:r>
                        <a:rPr lang="en-US" sz="1800" baseline="30000" dirty="0" smtClean="0">
                          <a:sym typeface="Wingdings" panose="05000000000000000000" pitchFamily="2" charset="2"/>
                        </a:rPr>
                        <a:t>2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SƐ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SƐ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85208"/>
              </p:ext>
            </p:extLst>
          </p:nvPr>
        </p:nvGraphicFramePr>
        <p:xfrm>
          <a:off x="457199" y="2839720"/>
          <a:ext cx="8542362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1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1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First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Follow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i</a:t>
                      </a:r>
                      <a:r>
                        <a:rPr lang="en-US" dirty="0" smtClean="0"/>
                        <a:t>rst(S) =</a:t>
                      </a:r>
                      <a:r>
                        <a:rPr lang="en-US" dirty="0" err="1" smtClean="0"/>
                        <a:t>a</a:t>
                      </a:r>
                      <a:r>
                        <a:rPr lang="en-US" sz="1800" dirty="0" err="1" smtClean="0">
                          <a:sym typeface="Wingdings" panose="05000000000000000000" pitchFamily="2" charset="2"/>
                        </a:rPr>
                        <a:t>,b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, Ɛ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Follow(S)=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{</a:t>
                      </a:r>
                      <a:r>
                        <a:rPr lang="en-US" sz="1800" dirty="0" err="1" smtClean="0">
                          <a:sym typeface="Wingdings" panose="05000000000000000000" pitchFamily="2" charset="2"/>
                        </a:rPr>
                        <a:t>b,a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,</a:t>
                      </a:r>
                      <a:r>
                        <a:rPr lang="en-US" dirty="0" smtClean="0"/>
                        <a:t>$</a:t>
                      </a:r>
                      <a:r>
                        <a:rPr lang="en-US" sz="1800" dirty="0" smtClean="0">
                          <a:sym typeface="Wingdings" panose="05000000000000000000" pitchFamily="2" charset="2"/>
                        </a:rPr>
                        <a:t>}</a:t>
                      </a:r>
                      <a:endParaRPr 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268" y="4065269"/>
            <a:ext cx="738664" cy="161798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dirty="0" smtClean="0"/>
              <a:t>Non</a:t>
            </a:r>
          </a:p>
          <a:p>
            <a:r>
              <a:rPr lang="en-US" dirty="0" smtClean="0"/>
              <a:t>Terminal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429000" y="4327643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Terminal</a:t>
            </a:r>
          </a:p>
        </p:txBody>
      </p:sp>
    </p:spTree>
    <p:extLst>
      <p:ext uri="{BB962C8B-B14F-4D97-AF65-F5344CB8AC3E}">
        <p14:creationId xmlns:p14="http://schemas.microsoft.com/office/powerpoint/2010/main" val="281587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LL(1) or Table Driver or Predictive Parser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87" y="1213855"/>
            <a:ext cx="8229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 smtClean="0"/>
              <a:t>Alternate way:</a:t>
            </a:r>
          </a:p>
          <a:p>
            <a:pPr marL="0" indent="0">
              <a:buNone/>
            </a:pPr>
            <a:r>
              <a:rPr lang="en-GB" sz="2000" dirty="0" err="1"/>
              <a:t>S</a:t>
            </a:r>
            <a:r>
              <a:rPr lang="en-GB" sz="2000" dirty="0" err="1">
                <a:sym typeface="Wingdings" panose="05000000000000000000" pitchFamily="2" charset="2"/>
              </a:rPr>
              <a:t>aSa</a:t>
            </a:r>
            <a:r>
              <a:rPr lang="en-US" sz="2000" dirty="0">
                <a:sym typeface="Wingdings" panose="05000000000000000000" pitchFamily="2" charset="2"/>
              </a:rPr>
              <a:t>|</a:t>
            </a:r>
            <a:r>
              <a:rPr lang="en-US" sz="2000" dirty="0" err="1">
                <a:sym typeface="Wingdings" panose="05000000000000000000" pitchFamily="2" charset="2"/>
              </a:rPr>
              <a:t>bS|c</a:t>
            </a:r>
            <a:endParaRPr lang="en-US" sz="2000" dirty="0"/>
          </a:p>
          <a:p>
            <a:pPr marL="0" indent="0">
              <a:buNone/>
            </a:pPr>
            <a:r>
              <a:rPr lang="en-US" b="1" dirty="0" smtClean="0"/>
              <a:t>Example:</a:t>
            </a:r>
          </a:p>
          <a:p>
            <a:pPr marL="0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Find out the first of all production rule and check if it pure disjoint then it is LL(1) grammar. Means u find no null production.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If you find null then find follow of start state and then obtain disjoint if you find empty set then it is LL(1)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569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LL(1) or Table Driver or Predictive Parser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87" y="1213855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 smtClean="0"/>
              <a:t>Find the given grammar is LL(1) or not ;using alternate method.</a:t>
            </a:r>
          </a:p>
          <a:p>
            <a:r>
              <a:rPr lang="en-US" dirty="0" smtClean="0"/>
              <a:t>Q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err="1" smtClean="0">
                <a:sym typeface="Wingdings" panose="05000000000000000000" pitchFamily="2" charset="2"/>
              </a:rPr>
              <a:t>bPaQQ</a:t>
            </a:r>
            <a:r>
              <a:rPr lang="en-US" dirty="0" smtClean="0">
                <a:sym typeface="Wingdings" panose="05000000000000000000" pitchFamily="2" charset="2"/>
              </a:rPr>
              <a:t>’|t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Q’</a:t>
            </a:r>
            <a:r>
              <a:rPr lang="en-US" dirty="0" err="1" smtClean="0">
                <a:sym typeface="Wingdings" panose="05000000000000000000" pitchFamily="2" charset="2"/>
              </a:rPr>
              <a:t>eQ|Ɛ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 err="1" smtClean="0">
                <a:sym typeface="Wingdings" panose="05000000000000000000" pitchFamily="2" charset="2"/>
              </a:rPr>
              <a:t>Ci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54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LL(1) or Table Driver or Predictive Parser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87" y="1213855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 smtClean="0"/>
              <a:t>Solution</a:t>
            </a:r>
          </a:p>
          <a:p>
            <a:r>
              <a:rPr lang="en-US" dirty="0" smtClean="0"/>
              <a:t>Q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err="1" smtClean="0">
                <a:sym typeface="Wingdings" panose="05000000000000000000" pitchFamily="2" charset="2"/>
              </a:rPr>
              <a:t>bPaQQ</a:t>
            </a:r>
            <a:r>
              <a:rPr lang="en-US" dirty="0" smtClean="0">
                <a:sym typeface="Wingdings" panose="05000000000000000000" pitchFamily="2" charset="2"/>
              </a:rPr>
              <a:t>’|t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Q’</a:t>
            </a:r>
            <a:r>
              <a:rPr lang="en-US" dirty="0" err="1" smtClean="0">
                <a:sym typeface="Wingdings" panose="05000000000000000000" pitchFamily="2" charset="2"/>
              </a:rPr>
              <a:t>eQ|Ɛ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CI</a:t>
            </a:r>
          </a:p>
          <a:p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hint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First(Q)={</a:t>
            </a:r>
            <a:r>
              <a:rPr lang="en-US" dirty="0" err="1" smtClean="0">
                <a:sym typeface="Wingdings" panose="05000000000000000000" pitchFamily="2" charset="2"/>
              </a:rPr>
              <a:t>b,q</a:t>
            </a:r>
            <a:r>
              <a:rPr lang="en-US" dirty="0" smtClean="0">
                <a:sym typeface="Wingdings" panose="05000000000000000000" pitchFamily="2" charset="2"/>
              </a:rPr>
              <a:t>} so intersection  b n q={}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First(Q’)={e, Follow(Q’)=Follow(Q) and we know First(Q’)={e,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Ɛ} 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478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5105"/>
            <a:ext cx="9144000" cy="665202"/>
          </a:xfrm>
        </p:spPr>
        <p:txBody>
          <a:bodyPr>
            <a:normAutofit/>
          </a:bodyPr>
          <a:lstStyle/>
          <a:p>
            <a:r>
              <a:rPr lang="en-US" sz="2000" b="1" dirty="0"/>
              <a:t>LL(1) or Table Driver or Predictive </a:t>
            </a:r>
            <a:r>
              <a:rPr lang="en-US" sz="2000" b="1" dirty="0" smtClean="0"/>
              <a:t>Parser functionality 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52400" y="823436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Q</a:t>
            </a:r>
            <a:r>
              <a:rPr lang="en-GB" dirty="0" smtClean="0">
                <a:sym typeface="Wingdings" panose="05000000000000000000" pitchFamily="2" charset="2"/>
              </a:rPr>
              <a:t>PP</a:t>
            </a:r>
            <a:r>
              <a:rPr lang="en-US" baseline="30000" dirty="0">
                <a:sym typeface="Wingdings" panose="05000000000000000000" pitchFamily="2" charset="2"/>
              </a:rPr>
              <a:t>1</a:t>
            </a:r>
            <a:endParaRPr lang="en-GB" dirty="0" smtClean="0">
              <a:sym typeface="Wingdings" panose="05000000000000000000" pitchFamily="2" charset="2"/>
            </a:endParaRPr>
          </a:p>
          <a:p>
            <a:r>
              <a:rPr lang="en-GB" dirty="0" err="1">
                <a:sym typeface="Wingdings" panose="05000000000000000000" pitchFamily="2" charset="2"/>
              </a:rPr>
              <a:t>P</a:t>
            </a:r>
            <a:r>
              <a:rPr lang="en-GB" dirty="0" err="1" smtClean="0">
                <a:sym typeface="Wingdings" panose="05000000000000000000" pitchFamily="2" charset="2"/>
              </a:rPr>
              <a:t>bP</a:t>
            </a:r>
            <a:r>
              <a:rPr lang="en-US" baseline="30000" dirty="0">
                <a:sym typeface="Wingdings" panose="05000000000000000000" pitchFamily="2" charset="2"/>
              </a:rPr>
              <a:t>2</a:t>
            </a:r>
          </a:p>
          <a:p>
            <a:r>
              <a:rPr lang="en-GB" dirty="0" err="1" smtClean="0">
                <a:sym typeface="Wingdings" panose="05000000000000000000" pitchFamily="2" charset="2"/>
              </a:rPr>
              <a:t>Pt</a:t>
            </a:r>
            <a:r>
              <a:rPr lang="en-US" baseline="30000" dirty="0">
                <a:sym typeface="Wingdings" panose="05000000000000000000" pitchFamily="2" charset="2"/>
              </a:rPr>
              <a:t>3</a:t>
            </a:r>
          </a:p>
          <a:p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3748184" y="2151283"/>
          <a:ext cx="33528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5306"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Elbow Connector 11"/>
          <p:cNvCxnSpPr/>
          <p:nvPr/>
        </p:nvCxnSpPr>
        <p:spPr>
          <a:xfrm rot="10800000">
            <a:off x="3287572" y="2151283"/>
            <a:ext cx="484496" cy="28956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56569" y="2017278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Input Buffer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28066" y="3117007"/>
            <a:ext cx="2590800" cy="3077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LL(1) Parsing Algorithm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4132596" y="2521024"/>
            <a:ext cx="1314165" cy="595983"/>
            <a:chOff x="5093217" y="1451781"/>
            <a:chExt cx="1173948" cy="663622"/>
          </a:xfrm>
        </p:grpSpPr>
        <p:sp>
          <p:nvSpPr>
            <p:cNvPr id="20" name="Freeform 19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 flipV="1">
            <a:off x="4665996" y="3424784"/>
            <a:ext cx="1252870" cy="283948"/>
            <a:chOff x="5093217" y="1451781"/>
            <a:chExt cx="1173948" cy="663622"/>
          </a:xfrm>
        </p:grpSpPr>
        <p:sp>
          <p:nvSpPr>
            <p:cNvPr id="14" name="Freeform 13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3926144" y="3759237"/>
          <a:ext cx="4455856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13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bP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2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t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3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967929" y="3294564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Table</a:t>
            </a:r>
            <a:endParaRPr lang="en-US" sz="1400" dirty="0">
              <a:solidFill>
                <a:srgbClr val="00B05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776274" y="2440844"/>
          <a:ext cx="970247" cy="43891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70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2756612" y="3270895"/>
            <a:ext cx="57145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43684" y="6532526"/>
            <a:ext cx="1279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</a:t>
            </a:r>
            <a:r>
              <a:rPr lang="en-GB" sz="1400" dirty="0" smtClean="0">
                <a:solidFill>
                  <a:srgbClr val="00B050"/>
                </a:solidFill>
              </a:rPr>
              <a:t>Stack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087251" y="1695474"/>
            <a:ext cx="1017842" cy="687475"/>
            <a:chOff x="2009104" y="1032447"/>
            <a:chExt cx="1017842" cy="687475"/>
          </a:xfrm>
        </p:grpSpPr>
        <p:sp>
          <p:nvSpPr>
            <p:cNvPr id="17" name="Freeform 16"/>
            <p:cNvSpPr/>
            <p:nvPr/>
          </p:nvSpPr>
          <p:spPr>
            <a:xfrm>
              <a:off x="2009104" y="1032447"/>
              <a:ext cx="940547" cy="564533"/>
            </a:xfrm>
            <a:custGeom>
              <a:avLst/>
              <a:gdLst>
                <a:gd name="connsiteX0" fmla="*/ 0 w 940547"/>
                <a:gd name="connsiteY0" fmla="*/ 88015 h 564533"/>
                <a:gd name="connsiteX1" fmla="*/ 798490 w 940547"/>
                <a:gd name="connsiteY1" fmla="*/ 36499 h 564533"/>
                <a:gd name="connsiteX2" fmla="*/ 940158 w 940547"/>
                <a:gd name="connsiteY2" fmla="*/ 564533 h 564533"/>
                <a:gd name="connsiteX3" fmla="*/ 940158 w 940547"/>
                <a:gd name="connsiteY3" fmla="*/ 564533 h 56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0547" h="564533">
                  <a:moveTo>
                    <a:pt x="0" y="88015"/>
                  </a:moveTo>
                  <a:cubicBezTo>
                    <a:pt x="320898" y="22547"/>
                    <a:pt x="641797" y="-42921"/>
                    <a:pt x="798490" y="36499"/>
                  </a:cubicBezTo>
                  <a:cubicBezTo>
                    <a:pt x="955183" y="115919"/>
                    <a:pt x="940158" y="564533"/>
                    <a:pt x="940158" y="564533"/>
                  </a:cubicBezTo>
                  <a:lnTo>
                    <a:pt x="940158" y="564533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 flipH="1" flipV="1">
              <a:off x="2867627" y="1575971"/>
              <a:ext cx="159319" cy="14395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20065" y="2078416"/>
            <a:ext cx="1558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Grammar symbol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18516" y="1485664"/>
            <a:ext cx="2429884" cy="30777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Look head symbol 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8" name="Elbow Connector 7"/>
          <p:cNvCxnSpPr/>
          <p:nvPr/>
        </p:nvCxnSpPr>
        <p:spPr>
          <a:xfrm rot="5400000">
            <a:off x="3806663" y="1874018"/>
            <a:ext cx="344431" cy="13851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 flipV="1">
            <a:off x="1403352" y="6352984"/>
            <a:ext cx="31207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849" y="6196370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Top of the stack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2080079" y="620732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6922" y="5410200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Top of the stack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907044" y="5373450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18953" y="5763935"/>
            <a:ext cx="63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073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5105"/>
            <a:ext cx="9144000" cy="665202"/>
          </a:xfrm>
        </p:spPr>
        <p:txBody>
          <a:bodyPr>
            <a:normAutofit/>
          </a:bodyPr>
          <a:lstStyle/>
          <a:p>
            <a:r>
              <a:rPr lang="en-US" sz="2000" b="1" dirty="0"/>
              <a:t>LL(1) or Table Driver or Predictive </a:t>
            </a:r>
            <a:r>
              <a:rPr lang="en-US" sz="2000" b="1" dirty="0" smtClean="0"/>
              <a:t>Parser functionality 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52400" y="823436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Q</a:t>
            </a:r>
            <a:r>
              <a:rPr lang="en-GB" dirty="0" smtClean="0">
                <a:sym typeface="Wingdings" panose="05000000000000000000" pitchFamily="2" charset="2"/>
              </a:rPr>
              <a:t>PP</a:t>
            </a:r>
            <a:r>
              <a:rPr lang="en-US" baseline="30000" dirty="0">
                <a:sym typeface="Wingdings" panose="05000000000000000000" pitchFamily="2" charset="2"/>
              </a:rPr>
              <a:t>1</a:t>
            </a:r>
            <a:endParaRPr lang="en-GB" dirty="0" smtClean="0">
              <a:sym typeface="Wingdings" panose="05000000000000000000" pitchFamily="2" charset="2"/>
            </a:endParaRPr>
          </a:p>
          <a:p>
            <a:r>
              <a:rPr lang="en-GB" dirty="0" err="1">
                <a:sym typeface="Wingdings" panose="05000000000000000000" pitchFamily="2" charset="2"/>
              </a:rPr>
              <a:t>P</a:t>
            </a:r>
            <a:r>
              <a:rPr lang="en-GB" dirty="0" err="1" smtClean="0">
                <a:sym typeface="Wingdings" panose="05000000000000000000" pitchFamily="2" charset="2"/>
              </a:rPr>
              <a:t>bP</a:t>
            </a:r>
            <a:r>
              <a:rPr lang="en-US" baseline="30000" dirty="0">
                <a:sym typeface="Wingdings" panose="05000000000000000000" pitchFamily="2" charset="2"/>
              </a:rPr>
              <a:t>2</a:t>
            </a:r>
          </a:p>
          <a:p>
            <a:r>
              <a:rPr lang="en-GB" dirty="0" err="1" smtClean="0">
                <a:sym typeface="Wingdings" panose="05000000000000000000" pitchFamily="2" charset="2"/>
              </a:rPr>
              <a:t>Pt</a:t>
            </a:r>
            <a:r>
              <a:rPr lang="en-US" baseline="30000" dirty="0">
                <a:sym typeface="Wingdings" panose="05000000000000000000" pitchFamily="2" charset="2"/>
              </a:rPr>
              <a:t>3</a:t>
            </a:r>
          </a:p>
          <a:p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3748184" y="2151283"/>
          <a:ext cx="33528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5306"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Elbow Connector 11"/>
          <p:cNvCxnSpPr/>
          <p:nvPr/>
        </p:nvCxnSpPr>
        <p:spPr>
          <a:xfrm rot="10800000">
            <a:off x="3287572" y="2151283"/>
            <a:ext cx="484496" cy="28956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56569" y="2017278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Input Buffer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28066" y="3117007"/>
            <a:ext cx="2590800" cy="3077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LL(1) Parsing Algorithm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4132596" y="2521024"/>
            <a:ext cx="1314165" cy="595983"/>
            <a:chOff x="5093217" y="1451781"/>
            <a:chExt cx="1173948" cy="663622"/>
          </a:xfrm>
        </p:grpSpPr>
        <p:sp>
          <p:nvSpPr>
            <p:cNvPr id="20" name="Freeform 19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 flipV="1">
            <a:off x="4665996" y="3424784"/>
            <a:ext cx="1252870" cy="283948"/>
            <a:chOff x="5093217" y="1451781"/>
            <a:chExt cx="1173948" cy="663622"/>
          </a:xfrm>
        </p:grpSpPr>
        <p:sp>
          <p:nvSpPr>
            <p:cNvPr id="14" name="Freeform 13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3926144" y="3759237"/>
          <a:ext cx="4455856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13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bP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2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t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3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967929" y="3294564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Table</a:t>
            </a:r>
            <a:endParaRPr lang="en-US" sz="1400" dirty="0">
              <a:solidFill>
                <a:srgbClr val="00B05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776274" y="2440844"/>
          <a:ext cx="970247" cy="43891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70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2756612" y="3270895"/>
            <a:ext cx="57145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43684" y="6532526"/>
            <a:ext cx="1279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</a:t>
            </a:r>
            <a:r>
              <a:rPr lang="en-GB" sz="1400" dirty="0" smtClean="0">
                <a:solidFill>
                  <a:srgbClr val="00B050"/>
                </a:solidFill>
              </a:rPr>
              <a:t>Stack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087251" y="1695474"/>
            <a:ext cx="1017842" cy="687475"/>
            <a:chOff x="2009104" y="1032447"/>
            <a:chExt cx="1017842" cy="687475"/>
          </a:xfrm>
        </p:grpSpPr>
        <p:sp>
          <p:nvSpPr>
            <p:cNvPr id="17" name="Freeform 16"/>
            <p:cNvSpPr/>
            <p:nvPr/>
          </p:nvSpPr>
          <p:spPr>
            <a:xfrm>
              <a:off x="2009104" y="1032447"/>
              <a:ext cx="940547" cy="564533"/>
            </a:xfrm>
            <a:custGeom>
              <a:avLst/>
              <a:gdLst>
                <a:gd name="connsiteX0" fmla="*/ 0 w 940547"/>
                <a:gd name="connsiteY0" fmla="*/ 88015 h 564533"/>
                <a:gd name="connsiteX1" fmla="*/ 798490 w 940547"/>
                <a:gd name="connsiteY1" fmla="*/ 36499 h 564533"/>
                <a:gd name="connsiteX2" fmla="*/ 940158 w 940547"/>
                <a:gd name="connsiteY2" fmla="*/ 564533 h 564533"/>
                <a:gd name="connsiteX3" fmla="*/ 940158 w 940547"/>
                <a:gd name="connsiteY3" fmla="*/ 564533 h 56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0547" h="564533">
                  <a:moveTo>
                    <a:pt x="0" y="88015"/>
                  </a:moveTo>
                  <a:cubicBezTo>
                    <a:pt x="320898" y="22547"/>
                    <a:pt x="641797" y="-42921"/>
                    <a:pt x="798490" y="36499"/>
                  </a:cubicBezTo>
                  <a:cubicBezTo>
                    <a:pt x="955183" y="115919"/>
                    <a:pt x="940158" y="564533"/>
                    <a:pt x="940158" y="564533"/>
                  </a:cubicBezTo>
                  <a:lnTo>
                    <a:pt x="940158" y="564533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 flipH="1" flipV="1">
              <a:off x="2867627" y="1575971"/>
              <a:ext cx="159319" cy="14395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20065" y="2078416"/>
            <a:ext cx="1558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Grammar symbol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18516" y="1485664"/>
            <a:ext cx="2429884" cy="30777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Look head symbol 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8" name="Elbow Connector 7"/>
          <p:cNvCxnSpPr/>
          <p:nvPr/>
        </p:nvCxnSpPr>
        <p:spPr>
          <a:xfrm rot="5400000">
            <a:off x="3806663" y="1874018"/>
            <a:ext cx="344431" cy="13851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2080079" y="620732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6922" y="5410200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Top of the stack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907044" y="5373450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18953" y="5763935"/>
            <a:ext cx="63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47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5105"/>
            <a:ext cx="9144000" cy="665202"/>
          </a:xfrm>
        </p:spPr>
        <p:txBody>
          <a:bodyPr>
            <a:normAutofit/>
          </a:bodyPr>
          <a:lstStyle/>
          <a:p>
            <a:r>
              <a:rPr lang="en-US" sz="2000" b="1" dirty="0"/>
              <a:t>LL(1) or Table Driver or Predictive </a:t>
            </a:r>
            <a:r>
              <a:rPr lang="en-US" sz="2000" b="1" dirty="0" smtClean="0"/>
              <a:t>Parser functionality 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52400" y="823436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Q</a:t>
            </a:r>
            <a:r>
              <a:rPr lang="en-GB" dirty="0" smtClean="0">
                <a:sym typeface="Wingdings" panose="05000000000000000000" pitchFamily="2" charset="2"/>
              </a:rPr>
              <a:t>PP</a:t>
            </a:r>
            <a:r>
              <a:rPr lang="en-US" baseline="30000" dirty="0">
                <a:sym typeface="Wingdings" panose="05000000000000000000" pitchFamily="2" charset="2"/>
              </a:rPr>
              <a:t>1</a:t>
            </a:r>
            <a:endParaRPr lang="en-GB" dirty="0" smtClean="0">
              <a:sym typeface="Wingdings" panose="05000000000000000000" pitchFamily="2" charset="2"/>
            </a:endParaRPr>
          </a:p>
          <a:p>
            <a:r>
              <a:rPr lang="en-GB" dirty="0" err="1">
                <a:sym typeface="Wingdings" panose="05000000000000000000" pitchFamily="2" charset="2"/>
              </a:rPr>
              <a:t>P</a:t>
            </a:r>
            <a:r>
              <a:rPr lang="en-GB" dirty="0" err="1" smtClean="0">
                <a:sym typeface="Wingdings" panose="05000000000000000000" pitchFamily="2" charset="2"/>
              </a:rPr>
              <a:t>bP</a:t>
            </a:r>
            <a:r>
              <a:rPr lang="en-US" baseline="30000" dirty="0">
                <a:sym typeface="Wingdings" panose="05000000000000000000" pitchFamily="2" charset="2"/>
              </a:rPr>
              <a:t>2</a:t>
            </a:r>
          </a:p>
          <a:p>
            <a:r>
              <a:rPr lang="en-GB" dirty="0" err="1" smtClean="0">
                <a:sym typeface="Wingdings" panose="05000000000000000000" pitchFamily="2" charset="2"/>
              </a:rPr>
              <a:t>Pt</a:t>
            </a:r>
            <a:r>
              <a:rPr lang="en-US" baseline="30000" dirty="0">
                <a:sym typeface="Wingdings" panose="05000000000000000000" pitchFamily="2" charset="2"/>
              </a:rPr>
              <a:t>3</a:t>
            </a:r>
          </a:p>
          <a:p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3748184" y="2151283"/>
          <a:ext cx="33528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5306"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Elbow Connector 11"/>
          <p:cNvCxnSpPr/>
          <p:nvPr/>
        </p:nvCxnSpPr>
        <p:spPr>
          <a:xfrm rot="10800000">
            <a:off x="3287572" y="2151283"/>
            <a:ext cx="484496" cy="28956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56569" y="2017278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Input Buffer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28066" y="3117007"/>
            <a:ext cx="2590800" cy="3077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LL(1) Parsing Algorithm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4132596" y="2521024"/>
            <a:ext cx="1314165" cy="595983"/>
            <a:chOff x="5093217" y="1451781"/>
            <a:chExt cx="1173948" cy="663622"/>
          </a:xfrm>
        </p:grpSpPr>
        <p:sp>
          <p:nvSpPr>
            <p:cNvPr id="20" name="Freeform 19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 flipV="1">
            <a:off x="4665996" y="3424784"/>
            <a:ext cx="1252870" cy="283948"/>
            <a:chOff x="5093217" y="1451781"/>
            <a:chExt cx="1173948" cy="663622"/>
          </a:xfrm>
        </p:grpSpPr>
        <p:sp>
          <p:nvSpPr>
            <p:cNvPr id="14" name="Freeform 13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3926144" y="3759237"/>
          <a:ext cx="4455856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13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bP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2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t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3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967929" y="3294564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Table</a:t>
            </a:r>
            <a:endParaRPr lang="en-US" sz="1400" dirty="0">
              <a:solidFill>
                <a:srgbClr val="00B05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776274" y="2440844"/>
          <a:ext cx="970247" cy="43891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70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2756612" y="3270895"/>
            <a:ext cx="57145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43684" y="6532526"/>
            <a:ext cx="1279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</a:t>
            </a:r>
            <a:r>
              <a:rPr lang="en-GB" sz="1400" dirty="0" smtClean="0">
                <a:solidFill>
                  <a:srgbClr val="00B050"/>
                </a:solidFill>
              </a:rPr>
              <a:t>Stack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087251" y="1695474"/>
            <a:ext cx="1017842" cy="687475"/>
            <a:chOff x="2009104" y="1032447"/>
            <a:chExt cx="1017842" cy="687475"/>
          </a:xfrm>
        </p:grpSpPr>
        <p:sp>
          <p:nvSpPr>
            <p:cNvPr id="17" name="Freeform 16"/>
            <p:cNvSpPr/>
            <p:nvPr/>
          </p:nvSpPr>
          <p:spPr>
            <a:xfrm>
              <a:off x="2009104" y="1032447"/>
              <a:ext cx="940547" cy="564533"/>
            </a:xfrm>
            <a:custGeom>
              <a:avLst/>
              <a:gdLst>
                <a:gd name="connsiteX0" fmla="*/ 0 w 940547"/>
                <a:gd name="connsiteY0" fmla="*/ 88015 h 564533"/>
                <a:gd name="connsiteX1" fmla="*/ 798490 w 940547"/>
                <a:gd name="connsiteY1" fmla="*/ 36499 h 564533"/>
                <a:gd name="connsiteX2" fmla="*/ 940158 w 940547"/>
                <a:gd name="connsiteY2" fmla="*/ 564533 h 564533"/>
                <a:gd name="connsiteX3" fmla="*/ 940158 w 940547"/>
                <a:gd name="connsiteY3" fmla="*/ 564533 h 56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0547" h="564533">
                  <a:moveTo>
                    <a:pt x="0" y="88015"/>
                  </a:moveTo>
                  <a:cubicBezTo>
                    <a:pt x="320898" y="22547"/>
                    <a:pt x="641797" y="-42921"/>
                    <a:pt x="798490" y="36499"/>
                  </a:cubicBezTo>
                  <a:cubicBezTo>
                    <a:pt x="955183" y="115919"/>
                    <a:pt x="940158" y="564533"/>
                    <a:pt x="940158" y="564533"/>
                  </a:cubicBezTo>
                  <a:lnTo>
                    <a:pt x="940158" y="564533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 flipH="1" flipV="1">
              <a:off x="2867627" y="1575971"/>
              <a:ext cx="159319" cy="14395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20065" y="2078416"/>
            <a:ext cx="1558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Grammar symbol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18516" y="1485664"/>
            <a:ext cx="2429884" cy="30777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Look head symbol 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8" name="Elbow Connector 7"/>
          <p:cNvCxnSpPr/>
          <p:nvPr/>
        </p:nvCxnSpPr>
        <p:spPr>
          <a:xfrm rot="5400000">
            <a:off x="3806663" y="1874018"/>
            <a:ext cx="344431" cy="13851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2080079" y="620732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907044" y="5373450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18953" y="5763935"/>
            <a:ext cx="63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18660" y="4994592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07043" y="4676753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b</a:t>
            </a:r>
            <a:endParaRPr lang="en-US" dirty="0"/>
          </a:p>
        </p:txBody>
      </p:sp>
      <p:cxnSp>
        <p:nvCxnSpPr>
          <p:cNvPr id="56" name="Straight Connector 55"/>
          <p:cNvCxnSpPr/>
          <p:nvPr/>
        </p:nvCxnSpPr>
        <p:spPr>
          <a:xfrm flipV="1">
            <a:off x="2040840" y="5484885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24776" y="4676753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Top of the stack</a:t>
            </a:r>
            <a:endParaRPr lang="en-US" sz="1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797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5105"/>
            <a:ext cx="9144000" cy="665202"/>
          </a:xfrm>
        </p:spPr>
        <p:txBody>
          <a:bodyPr>
            <a:normAutofit/>
          </a:bodyPr>
          <a:lstStyle/>
          <a:p>
            <a:r>
              <a:rPr lang="en-US" sz="2000" b="1" dirty="0"/>
              <a:t>LL(1) or Table Driver or Predictive </a:t>
            </a:r>
            <a:r>
              <a:rPr lang="en-US" sz="2000" b="1" dirty="0" smtClean="0"/>
              <a:t>Parser functionality 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52400" y="823436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Q</a:t>
            </a:r>
            <a:r>
              <a:rPr lang="en-GB" dirty="0" smtClean="0">
                <a:sym typeface="Wingdings" panose="05000000000000000000" pitchFamily="2" charset="2"/>
              </a:rPr>
              <a:t>PP</a:t>
            </a:r>
            <a:r>
              <a:rPr lang="en-US" baseline="30000" dirty="0">
                <a:sym typeface="Wingdings" panose="05000000000000000000" pitchFamily="2" charset="2"/>
              </a:rPr>
              <a:t>1</a:t>
            </a:r>
            <a:endParaRPr lang="en-GB" dirty="0" smtClean="0">
              <a:sym typeface="Wingdings" panose="05000000000000000000" pitchFamily="2" charset="2"/>
            </a:endParaRPr>
          </a:p>
          <a:p>
            <a:r>
              <a:rPr lang="en-GB" dirty="0" err="1">
                <a:sym typeface="Wingdings" panose="05000000000000000000" pitchFamily="2" charset="2"/>
              </a:rPr>
              <a:t>P</a:t>
            </a:r>
            <a:r>
              <a:rPr lang="en-GB" dirty="0" err="1" smtClean="0">
                <a:sym typeface="Wingdings" panose="05000000000000000000" pitchFamily="2" charset="2"/>
              </a:rPr>
              <a:t>bP</a:t>
            </a:r>
            <a:r>
              <a:rPr lang="en-US" baseline="30000" dirty="0">
                <a:sym typeface="Wingdings" panose="05000000000000000000" pitchFamily="2" charset="2"/>
              </a:rPr>
              <a:t>2</a:t>
            </a:r>
          </a:p>
          <a:p>
            <a:r>
              <a:rPr lang="en-GB" dirty="0" err="1" smtClean="0">
                <a:sym typeface="Wingdings" panose="05000000000000000000" pitchFamily="2" charset="2"/>
              </a:rPr>
              <a:t>Pt</a:t>
            </a:r>
            <a:r>
              <a:rPr lang="en-US" baseline="30000" dirty="0">
                <a:sym typeface="Wingdings" panose="05000000000000000000" pitchFamily="2" charset="2"/>
              </a:rPr>
              <a:t>3</a:t>
            </a:r>
          </a:p>
          <a:p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3748184" y="2151283"/>
          <a:ext cx="33528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5306"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Elbow Connector 11"/>
          <p:cNvCxnSpPr/>
          <p:nvPr/>
        </p:nvCxnSpPr>
        <p:spPr>
          <a:xfrm rot="10800000">
            <a:off x="3287572" y="2151283"/>
            <a:ext cx="484496" cy="28956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56569" y="2017278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Input Buffer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28066" y="3117007"/>
            <a:ext cx="2590800" cy="3077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LL(1) Parsing Algorithm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4132596" y="2521024"/>
            <a:ext cx="1314165" cy="595983"/>
            <a:chOff x="5093217" y="1451781"/>
            <a:chExt cx="1173948" cy="663622"/>
          </a:xfrm>
        </p:grpSpPr>
        <p:sp>
          <p:nvSpPr>
            <p:cNvPr id="20" name="Freeform 19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 flipV="1">
            <a:off x="4665996" y="3424784"/>
            <a:ext cx="1252870" cy="283948"/>
            <a:chOff x="5093217" y="1451781"/>
            <a:chExt cx="1173948" cy="663622"/>
          </a:xfrm>
        </p:grpSpPr>
        <p:sp>
          <p:nvSpPr>
            <p:cNvPr id="14" name="Freeform 13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3926144" y="3759237"/>
          <a:ext cx="4455856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13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bP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2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t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3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967929" y="3294564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Table</a:t>
            </a:r>
            <a:endParaRPr lang="en-US" sz="1400" dirty="0">
              <a:solidFill>
                <a:srgbClr val="00B05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776274" y="2440844"/>
          <a:ext cx="970247" cy="43891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70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2756612" y="3270895"/>
            <a:ext cx="57145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43684" y="6532526"/>
            <a:ext cx="1279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</a:t>
            </a:r>
            <a:r>
              <a:rPr lang="en-GB" sz="1400" dirty="0" smtClean="0">
                <a:solidFill>
                  <a:srgbClr val="00B050"/>
                </a:solidFill>
              </a:rPr>
              <a:t>Stack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087251" y="1695474"/>
            <a:ext cx="1017842" cy="687475"/>
            <a:chOff x="2009104" y="1032447"/>
            <a:chExt cx="1017842" cy="687475"/>
          </a:xfrm>
        </p:grpSpPr>
        <p:sp>
          <p:nvSpPr>
            <p:cNvPr id="17" name="Freeform 16"/>
            <p:cNvSpPr/>
            <p:nvPr/>
          </p:nvSpPr>
          <p:spPr>
            <a:xfrm>
              <a:off x="2009104" y="1032447"/>
              <a:ext cx="940547" cy="564533"/>
            </a:xfrm>
            <a:custGeom>
              <a:avLst/>
              <a:gdLst>
                <a:gd name="connsiteX0" fmla="*/ 0 w 940547"/>
                <a:gd name="connsiteY0" fmla="*/ 88015 h 564533"/>
                <a:gd name="connsiteX1" fmla="*/ 798490 w 940547"/>
                <a:gd name="connsiteY1" fmla="*/ 36499 h 564533"/>
                <a:gd name="connsiteX2" fmla="*/ 940158 w 940547"/>
                <a:gd name="connsiteY2" fmla="*/ 564533 h 564533"/>
                <a:gd name="connsiteX3" fmla="*/ 940158 w 940547"/>
                <a:gd name="connsiteY3" fmla="*/ 564533 h 56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0547" h="564533">
                  <a:moveTo>
                    <a:pt x="0" y="88015"/>
                  </a:moveTo>
                  <a:cubicBezTo>
                    <a:pt x="320898" y="22547"/>
                    <a:pt x="641797" y="-42921"/>
                    <a:pt x="798490" y="36499"/>
                  </a:cubicBezTo>
                  <a:cubicBezTo>
                    <a:pt x="955183" y="115919"/>
                    <a:pt x="940158" y="564533"/>
                    <a:pt x="940158" y="564533"/>
                  </a:cubicBezTo>
                  <a:lnTo>
                    <a:pt x="940158" y="564533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 flipH="1" flipV="1">
              <a:off x="2867627" y="1575971"/>
              <a:ext cx="159319" cy="14395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20065" y="2078416"/>
            <a:ext cx="1558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Grammar symbol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18516" y="1485664"/>
            <a:ext cx="2429884" cy="30777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Look head symbol 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8" name="Elbow Connector 7"/>
          <p:cNvCxnSpPr/>
          <p:nvPr/>
        </p:nvCxnSpPr>
        <p:spPr>
          <a:xfrm rot="5400000">
            <a:off x="3806663" y="1874018"/>
            <a:ext cx="344431" cy="13851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2080079" y="620732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907044" y="5373450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18953" y="5763935"/>
            <a:ext cx="63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918660" y="4994592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07043" y="4676753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b</a:t>
            </a:r>
            <a:endParaRPr lang="en-US" dirty="0"/>
          </a:p>
        </p:txBody>
      </p:sp>
      <p:cxnSp>
        <p:nvCxnSpPr>
          <p:cNvPr id="56" name="Straight Connector 55"/>
          <p:cNvCxnSpPr/>
          <p:nvPr/>
        </p:nvCxnSpPr>
        <p:spPr>
          <a:xfrm flipV="1">
            <a:off x="2040840" y="5484885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24776" y="4676753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Top of the stack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2006127" y="477860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3741929" y="2203672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485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5105"/>
            <a:ext cx="9144000" cy="665202"/>
          </a:xfrm>
        </p:spPr>
        <p:txBody>
          <a:bodyPr>
            <a:normAutofit/>
          </a:bodyPr>
          <a:lstStyle/>
          <a:p>
            <a:r>
              <a:rPr lang="en-US" sz="2000" b="1" dirty="0"/>
              <a:t>LL(1) or Table Driver or Predictive </a:t>
            </a:r>
            <a:r>
              <a:rPr lang="en-US" sz="2000" b="1" dirty="0" smtClean="0"/>
              <a:t>Parser functionality 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52400" y="823436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Q</a:t>
            </a:r>
            <a:r>
              <a:rPr lang="en-GB" dirty="0" smtClean="0">
                <a:sym typeface="Wingdings" panose="05000000000000000000" pitchFamily="2" charset="2"/>
              </a:rPr>
              <a:t>PP</a:t>
            </a:r>
            <a:r>
              <a:rPr lang="en-US" baseline="30000" dirty="0">
                <a:sym typeface="Wingdings" panose="05000000000000000000" pitchFamily="2" charset="2"/>
              </a:rPr>
              <a:t>1</a:t>
            </a:r>
            <a:endParaRPr lang="en-GB" dirty="0" smtClean="0">
              <a:sym typeface="Wingdings" panose="05000000000000000000" pitchFamily="2" charset="2"/>
            </a:endParaRPr>
          </a:p>
          <a:p>
            <a:r>
              <a:rPr lang="en-GB" dirty="0" err="1">
                <a:sym typeface="Wingdings" panose="05000000000000000000" pitchFamily="2" charset="2"/>
              </a:rPr>
              <a:t>P</a:t>
            </a:r>
            <a:r>
              <a:rPr lang="en-GB" dirty="0" err="1" smtClean="0">
                <a:sym typeface="Wingdings" panose="05000000000000000000" pitchFamily="2" charset="2"/>
              </a:rPr>
              <a:t>bP</a:t>
            </a:r>
            <a:r>
              <a:rPr lang="en-US" baseline="30000" dirty="0">
                <a:sym typeface="Wingdings" panose="05000000000000000000" pitchFamily="2" charset="2"/>
              </a:rPr>
              <a:t>2</a:t>
            </a:r>
          </a:p>
          <a:p>
            <a:r>
              <a:rPr lang="en-GB" dirty="0" err="1" smtClean="0">
                <a:sym typeface="Wingdings" panose="05000000000000000000" pitchFamily="2" charset="2"/>
              </a:rPr>
              <a:t>Pt</a:t>
            </a:r>
            <a:r>
              <a:rPr lang="en-US" baseline="30000" dirty="0">
                <a:sym typeface="Wingdings" panose="05000000000000000000" pitchFamily="2" charset="2"/>
              </a:rPr>
              <a:t>3</a:t>
            </a:r>
          </a:p>
          <a:p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3748184" y="2151283"/>
          <a:ext cx="33528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5306"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Elbow Connector 11"/>
          <p:cNvCxnSpPr/>
          <p:nvPr/>
        </p:nvCxnSpPr>
        <p:spPr>
          <a:xfrm rot="10800000">
            <a:off x="3287572" y="2151283"/>
            <a:ext cx="484496" cy="28956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56569" y="2017278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Input Buffer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28066" y="3117007"/>
            <a:ext cx="2590800" cy="3077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LL(1) Parsing Algorithm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4132596" y="2521024"/>
            <a:ext cx="1314165" cy="595983"/>
            <a:chOff x="5093217" y="1451781"/>
            <a:chExt cx="1173948" cy="663622"/>
          </a:xfrm>
        </p:grpSpPr>
        <p:sp>
          <p:nvSpPr>
            <p:cNvPr id="20" name="Freeform 19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 flipV="1">
            <a:off x="4665996" y="3424784"/>
            <a:ext cx="1252870" cy="283948"/>
            <a:chOff x="5093217" y="1451781"/>
            <a:chExt cx="1173948" cy="663622"/>
          </a:xfrm>
        </p:grpSpPr>
        <p:sp>
          <p:nvSpPr>
            <p:cNvPr id="14" name="Freeform 13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3926144" y="3759237"/>
          <a:ext cx="4455856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13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bP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2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t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3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967929" y="3294564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Table</a:t>
            </a:r>
            <a:endParaRPr lang="en-US" sz="1400" dirty="0">
              <a:solidFill>
                <a:srgbClr val="00B05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776274" y="2440844"/>
          <a:ext cx="970247" cy="43891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70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2756612" y="3270895"/>
            <a:ext cx="57145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43684" y="6532526"/>
            <a:ext cx="1279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</a:t>
            </a:r>
            <a:r>
              <a:rPr lang="en-GB" sz="1400" dirty="0" smtClean="0">
                <a:solidFill>
                  <a:srgbClr val="00B050"/>
                </a:solidFill>
              </a:rPr>
              <a:t>Stack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087251" y="1695474"/>
            <a:ext cx="1017842" cy="687475"/>
            <a:chOff x="2009104" y="1032447"/>
            <a:chExt cx="1017842" cy="687475"/>
          </a:xfrm>
        </p:grpSpPr>
        <p:sp>
          <p:nvSpPr>
            <p:cNvPr id="17" name="Freeform 16"/>
            <p:cNvSpPr/>
            <p:nvPr/>
          </p:nvSpPr>
          <p:spPr>
            <a:xfrm>
              <a:off x="2009104" y="1032447"/>
              <a:ext cx="940547" cy="564533"/>
            </a:xfrm>
            <a:custGeom>
              <a:avLst/>
              <a:gdLst>
                <a:gd name="connsiteX0" fmla="*/ 0 w 940547"/>
                <a:gd name="connsiteY0" fmla="*/ 88015 h 564533"/>
                <a:gd name="connsiteX1" fmla="*/ 798490 w 940547"/>
                <a:gd name="connsiteY1" fmla="*/ 36499 h 564533"/>
                <a:gd name="connsiteX2" fmla="*/ 940158 w 940547"/>
                <a:gd name="connsiteY2" fmla="*/ 564533 h 564533"/>
                <a:gd name="connsiteX3" fmla="*/ 940158 w 940547"/>
                <a:gd name="connsiteY3" fmla="*/ 564533 h 56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0547" h="564533">
                  <a:moveTo>
                    <a:pt x="0" y="88015"/>
                  </a:moveTo>
                  <a:cubicBezTo>
                    <a:pt x="320898" y="22547"/>
                    <a:pt x="641797" y="-42921"/>
                    <a:pt x="798490" y="36499"/>
                  </a:cubicBezTo>
                  <a:cubicBezTo>
                    <a:pt x="955183" y="115919"/>
                    <a:pt x="940158" y="564533"/>
                    <a:pt x="940158" y="564533"/>
                  </a:cubicBezTo>
                  <a:lnTo>
                    <a:pt x="940158" y="564533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 flipH="1" flipV="1">
              <a:off x="2867627" y="1575971"/>
              <a:ext cx="159319" cy="14395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20065" y="2078416"/>
            <a:ext cx="1558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Grammar symbol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86246" y="1474408"/>
            <a:ext cx="2429884" cy="30777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Look head symbol 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8" name="Elbow Connector 7"/>
          <p:cNvCxnSpPr/>
          <p:nvPr/>
        </p:nvCxnSpPr>
        <p:spPr>
          <a:xfrm rot="5400000">
            <a:off x="4467128" y="1898208"/>
            <a:ext cx="344431" cy="13851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2080079" y="620732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907044" y="5373450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18953" y="5763935"/>
            <a:ext cx="63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918660" y="4994592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07043" y="4676753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b</a:t>
            </a:r>
            <a:endParaRPr lang="en-US" dirty="0"/>
          </a:p>
        </p:txBody>
      </p:sp>
      <p:cxnSp>
        <p:nvCxnSpPr>
          <p:cNvPr id="56" name="Straight Connector 55"/>
          <p:cNvCxnSpPr/>
          <p:nvPr/>
        </p:nvCxnSpPr>
        <p:spPr>
          <a:xfrm flipV="1">
            <a:off x="2040840" y="5484885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38512" y="5040857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Top of the stack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2006127" y="477860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3741929" y="2203672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2011444" y="5100214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872330" y="4270390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818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5105"/>
            <a:ext cx="9144000" cy="665202"/>
          </a:xfrm>
        </p:spPr>
        <p:txBody>
          <a:bodyPr>
            <a:normAutofit/>
          </a:bodyPr>
          <a:lstStyle/>
          <a:p>
            <a:r>
              <a:rPr lang="en-US" sz="2000" b="1" dirty="0"/>
              <a:t>LL(1) or Table Driver or Predictive </a:t>
            </a:r>
            <a:r>
              <a:rPr lang="en-US" sz="2000" b="1" dirty="0" smtClean="0"/>
              <a:t>Parser functionality 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52400" y="823436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Q</a:t>
            </a:r>
            <a:r>
              <a:rPr lang="en-GB" dirty="0" smtClean="0">
                <a:sym typeface="Wingdings" panose="05000000000000000000" pitchFamily="2" charset="2"/>
              </a:rPr>
              <a:t>PP</a:t>
            </a:r>
            <a:r>
              <a:rPr lang="en-US" baseline="30000" dirty="0">
                <a:sym typeface="Wingdings" panose="05000000000000000000" pitchFamily="2" charset="2"/>
              </a:rPr>
              <a:t>1</a:t>
            </a:r>
            <a:endParaRPr lang="en-GB" dirty="0" smtClean="0">
              <a:sym typeface="Wingdings" panose="05000000000000000000" pitchFamily="2" charset="2"/>
            </a:endParaRPr>
          </a:p>
          <a:p>
            <a:r>
              <a:rPr lang="en-GB" dirty="0" err="1">
                <a:sym typeface="Wingdings" panose="05000000000000000000" pitchFamily="2" charset="2"/>
              </a:rPr>
              <a:t>P</a:t>
            </a:r>
            <a:r>
              <a:rPr lang="en-GB" dirty="0" err="1" smtClean="0">
                <a:sym typeface="Wingdings" panose="05000000000000000000" pitchFamily="2" charset="2"/>
              </a:rPr>
              <a:t>bP</a:t>
            </a:r>
            <a:r>
              <a:rPr lang="en-US" baseline="30000" dirty="0">
                <a:sym typeface="Wingdings" panose="05000000000000000000" pitchFamily="2" charset="2"/>
              </a:rPr>
              <a:t>2</a:t>
            </a:r>
          </a:p>
          <a:p>
            <a:r>
              <a:rPr lang="en-GB" dirty="0" err="1" smtClean="0">
                <a:sym typeface="Wingdings" panose="05000000000000000000" pitchFamily="2" charset="2"/>
              </a:rPr>
              <a:t>Pt</a:t>
            </a:r>
            <a:r>
              <a:rPr lang="en-US" baseline="30000" dirty="0">
                <a:sym typeface="Wingdings" panose="05000000000000000000" pitchFamily="2" charset="2"/>
              </a:rPr>
              <a:t>3</a:t>
            </a:r>
          </a:p>
          <a:p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3748184" y="2151283"/>
          <a:ext cx="33528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5306"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Elbow Connector 11"/>
          <p:cNvCxnSpPr/>
          <p:nvPr/>
        </p:nvCxnSpPr>
        <p:spPr>
          <a:xfrm rot="10800000">
            <a:off x="3287572" y="2151283"/>
            <a:ext cx="484496" cy="28956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56569" y="2017278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Input Buffer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28066" y="3117007"/>
            <a:ext cx="2590800" cy="3077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LL(1) Parsing Algorithm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4132596" y="2521024"/>
            <a:ext cx="1314165" cy="595983"/>
            <a:chOff x="5093217" y="1451781"/>
            <a:chExt cx="1173948" cy="663622"/>
          </a:xfrm>
        </p:grpSpPr>
        <p:sp>
          <p:nvSpPr>
            <p:cNvPr id="20" name="Freeform 19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 flipV="1">
            <a:off x="4665996" y="3424784"/>
            <a:ext cx="1252870" cy="283948"/>
            <a:chOff x="5093217" y="1451781"/>
            <a:chExt cx="1173948" cy="663622"/>
          </a:xfrm>
        </p:grpSpPr>
        <p:sp>
          <p:nvSpPr>
            <p:cNvPr id="14" name="Freeform 13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3926144" y="3759237"/>
          <a:ext cx="4455856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13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bP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2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t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3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967929" y="3294564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Table</a:t>
            </a:r>
            <a:endParaRPr lang="en-US" sz="1400" dirty="0">
              <a:solidFill>
                <a:srgbClr val="00B05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776274" y="2440844"/>
          <a:ext cx="970247" cy="43891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70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2756612" y="3270895"/>
            <a:ext cx="57145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43684" y="6532526"/>
            <a:ext cx="1279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</a:t>
            </a:r>
            <a:r>
              <a:rPr lang="en-GB" sz="1400" dirty="0" smtClean="0">
                <a:solidFill>
                  <a:srgbClr val="00B050"/>
                </a:solidFill>
              </a:rPr>
              <a:t>Stack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087251" y="1695474"/>
            <a:ext cx="1017842" cy="687475"/>
            <a:chOff x="2009104" y="1032447"/>
            <a:chExt cx="1017842" cy="687475"/>
          </a:xfrm>
        </p:grpSpPr>
        <p:sp>
          <p:nvSpPr>
            <p:cNvPr id="17" name="Freeform 16"/>
            <p:cNvSpPr/>
            <p:nvPr/>
          </p:nvSpPr>
          <p:spPr>
            <a:xfrm>
              <a:off x="2009104" y="1032447"/>
              <a:ext cx="940547" cy="564533"/>
            </a:xfrm>
            <a:custGeom>
              <a:avLst/>
              <a:gdLst>
                <a:gd name="connsiteX0" fmla="*/ 0 w 940547"/>
                <a:gd name="connsiteY0" fmla="*/ 88015 h 564533"/>
                <a:gd name="connsiteX1" fmla="*/ 798490 w 940547"/>
                <a:gd name="connsiteY1" fmla="*/ 36499 h 564533"/>
                <a:gd name="connsiteX2" fmla="*/ 940158 w 940547"/>
                <a:gd name="connsiteY2" fmla="*/ 564533 h 564533"/>
                <a:gd name="connsiteX3" fmla="*/ 940158 w 940547"/>
                <a:gd name="connsiteY3" fmla="*/ 564533 h 56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0547" h="564533">
                  <a:moveTo>
                    <a:pt x="0" y="88015"/>
                  </a:moveTo>
                  <a:cubicBezTo>
                    <a:pt x="320898" y="22547"/>
                    <a:pt x="641797" y="-42921"/>
                    <a:pt x="798490" y="36499"/>
                  </a:cubicBezTo>
                  <a:cubicBezTo>
                    <a:pt x="955183" y="115919"/>
                    <a:pt x="940158" y="564533"/>
                    <a:pt x="940158" y="564533"/>
                  </a:cubicBezTo>
                  <a:lnTo>
                    <a:pt x="940158" y="564533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 flipH="1" flipV="1">
              <a:off x="2867627" y="1575971"/>
              <a:ext cx="159319" cy="14395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20065" y="2078416"/>
            <a:ext cx="1558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Grammar symbol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86246" y="1474408"/>
            <a:ext cx="2429884" cy="30777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Look head symbol 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8" name="Elbow Connector 7"/>
          <p:cNvCxnSpPr/>
          <p:nvPr/>
        </p:nvCxnSpPr>
        <p:spPr>
          <a:xfrm rot="5400000">
            <a:off x="4467128" y="1898208"/>
            <a:ext cx="344431" cy="13851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2080079" y="620732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907044" y="5373450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18953" y="5763935"/>
            <a:ext cx="63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918660" y="4994592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07043" y="4676753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b</a:t>
            </a:r>
            <a:endParaRPr lang="en-US" dirty="0"/>
          </a:p>
        </p:txBody>
      </p:sp>
      <p:cxnSp>
        <p:nvCxnSpPr>
          <p:cNvPr id="56" name="Straight Connector 55"/>
          <p:cNvCxnSpPr/>
          <p:nvPr/>
        </p:nvCxnSpPr>
        <p:spPr>
          <a:xfrm flipV="1">
            <a:off x="2040840" y="5484885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78498" y="4255100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Top of the stack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2006127" y="477860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3741929" y="2203672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2011444" y="5100214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872330" y="4270390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t</a:t>
            </a:r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4432008" y="2239372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2010186" y="4380375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6584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5105"/>
            <a:ext cx="9144000" cy="665202"/>
          </a:xfrm>
        </p:spPr>
        <p:txBody>
          <a:bodyPr>
            <a:normAutofit/>
          </a:bodyPr>
          <a:lstStyle/>
          <a:p>
            <a:r>
              <a:rPr lang="en-US" sz="2000" b="1" dirty="0"/>
              <a:t>LL(1) or Table Driver or Predictive </a:t>
            </a:r>
            <a:r>
              <a:rPr lang="en-US" sz="2000" b="1" dirty="0" smtClean="0"/>
              <a:t>Parser functionality 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52400" y="823436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Q</a:t>
            </a:r>
            <a:r>
              <a:rPr lang="en-GB" dirty="0" smtClean="0">
                <a:sym typeface="Wingdings" panose="05000000000000000000" pitchFamily="2" charset="2"/>
              </a:rPr>
              <a:t>PP</a:t>
            </a:r>
            <a:r>
              <a:rPr lang="en-US" baseline="30000" dirty="0">
                <a:sym typeface="Wingdings" panose="05000000000000000000" pitchFamily="2" charset="2"/>
              </a:rPr>
              <a:t>1</a:t>
            </a:r>
            <a:endParaRPr lang="en-GB" dirty="0" smtClean="0">
              <a:sym typeface="Wingdings" panose="05000000000000000000" pitchFamily="2" charset="2"/>
            </a:endParaRPr>
          </a:p>
          <a:p>
            <a:r>
              <a:rPr lang="en-GB" dirty="0" err="1">
                <a:sym typeface="Wingdings" panose="05000000000000000000" pitchFamily="2" charset="2"/>
              </a:rPr>
              <a:t>P</a:t>
            </a:r>
            <a:r>
              <a:rPr lang="en-GB" dirty="0" err="1" smtClean="0">
                <a:sym typeface="Wingdings" panose="05000000000000000000" pitchFamily="2" charset="2"/>
              </a:rPr>
              <a:t>bP</a:t>
            </a:r>
            <a:r>
              <a:rPr lang="en-US" baseline="30000" dirty="0">
                <a:sym typeface="Wingdings" panose="05000000000000000000" pitchFamily="2" charset="2"/>
              </a:rPr>
              <a:t>2</a:t>
            </a:r>
          </a:p>
          <a:p>
            <a:r>
              <a:rPr lang="en-GB" dirty="0" err="1" smtClean="0">
                <a:sym typeface="Wingdings" panose="05000000000000000000" pitchFamily="2" charset="2"/>
              </a:rPr>
              <a:t>Pt</a:t>
            </a:r>
            <a:r>
              <a:rPr lang="en-US" baseline="30000" dirty="0">
                <a:sym typeface="Wingdings" panose="05000000000000000000" pitchFamily="2" charset="2"/>
              </a:rPr>
              <a:t>3</a:t>
            </a:r>
          </a:p>
          <a:p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3748184" y="2151283"/>
          <a:ext cx="33528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5306"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Elbow Connector 11"/>
          <p:cNvCxnSpPr/>
          <p:nvPr/>
        </p:nvCxnSpPr>
        <p:spPr>
          <a:xfrm rot="10800000">
            <a:off x="3287572" y="2151283"/>
            <a:ext cx="484496" cy="28956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56569" y="2017278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Input Buffer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28066" y="3117007"/>
            <a:ext cx="2590800" cy="3077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LL(1) Parsing Algorithm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4132596" y="2521024"/>
            <a:ext cx="1314165" cy="595983"/>
            <a:chOff x="5093217" y="1451781"/>
            <a:chExt cx="1173948" cy="663622"/>
          </a:xfrm>
        </p:grpSpPr>
        <p:sp>
          <p:nvSpPr>
            <p:cNvPr id="20" name="Freeform 19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 flipV="1">
            <a:off x="4665996" y="3424784"/>
            <a:ext cx="1252870" cy="283948"/>
            <a:chOff x="5093217" y="1451781"/>
            <a:chExt cx="1173948" cy="663622"/>
          </a:xfrm>
        </p:grpSpPr>
        <p:sp>
          <p:nvSpPr>
            <p:cNvPr id="14" name="Freeform 13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3926144" y="3759237"/>
          <a:ext cx="4455856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13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bP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2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t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3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967929" y="3294564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Table</a:t>
            </a:r>
            <a:endParaRPr lang="en-US" sz="1400" dirty="0">
              <a:solidFill>
                <a:srgbClr val="00B05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776274" y="2440844"/>
          <a:ext cx="970247" cy="43891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70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2756612" y="3270895"/>
            <a:ext cx="57145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43684" y="6532526"/>
            <a:ext cx="1279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</a:t>
            </a:r>
            <a:r>
              <a:rPr lang="en-GB" sz="1400" dirty="0" smtClean="0">
                <a:solidFill>
                  <a:srgbClr val="00B050"/>
                </a:solidFill>
              </a:rPr>
              <a:t>Stack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087251" y="1695474"/>
            <a:ext cx="1017842" cy="687475"/>
            <a:chOff x="2009104" y="1032447"/>
            <a:chExt cx="1017842" cy="687475"/>
          </a:xfrm>
        </p:grpSpPr>
        <p:sp>
          <p:nvSpPr>
            <p:cNvPr id="17" name="Freeform 16"/>
            <p:cNvSpPr/>
            <p:nvPr/>
          </p:nvSpPr>
          <p:spPr>
            <a:xfrm>
              <a:off x="2009104" y="1032447"/>
              <a:ext cx="940547" cy="564533"/>
            </a:xfrm>
            <a:custGeom>
              <a:avLst/>
              <a:gdLst>
                <a:gd name="connsiteX0" fmla="*/ 0 w 940547"/>
                <a:gd name="connsiteY0" fmla="*/ 88015 h 564533"/>
                <a:gd name="connsiteX1" fmla="*/ 798490 w 940547"/>
                <a:gd name="connsiteY1" fmla="*/ 36499 h 564533"/>
                <a:gd name="connsiteX2" fmla="*/ 940158 w 940547"/>
                <a:gd name="connsiteY2" fmla="*/ 564533 h 564533"/>
                <a:gd name="connsiteX3" fmla="*/ 940158 w 940547"/>
                <a:gd name="connsiteY3" fmla="*/ 564533 h 56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0547" h="564533">
                  <a:moveTo>
                    <a:pt x="0" y="88015"/>
                  </a:moveTo>
                  <a:cubicBezTo>
                    <a:pt x="320898" y="22547"/>
                    <a:pt x="641797" y="-42921"/>
                    <a:pt x="798490" y="36499"/>
                  </a:cubicBezTo>
                  <a:cubicBezTo>
                    <a:pt x="955183" y="115919"/>
                    <a:pt x="940158" y="564533"/>
                    <a:pt x="940158" y="564533"/>
                  </a:cubicBezTo>
                  <a:lnTo>
                    <a:pt x="940158" y="564533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 flipH="1" flipV="1">
              <a:off x="2867627" y="1575971"/>
              <a:ext cx="159319" cy="14395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20065" y="2078416"/>
            <a:ext cx="1558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Grammar symbol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261783" y="1490272"/>
            <a:ext cx="2429884" cy="30777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Look head symbol 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8" name="Elbow Connector 7"/>
          <p:cNvCxnSpPr/>
          <p:nvPr/>
        </p:nvCxnSpPr>
        <p:spPr>
          <a:xfrm rot="5400000">
            <a:off x="5341348" y="1936085"/>
            <a:ext cx="344431" cy="13851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2080079" y="620732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907044" y="5373450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18953" y="5763935"/>
            <a:ext cx="63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918660" y="4994592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07043" y="4676753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b</a:t>
            </a:r>
            <a:endParaRPr lang="en-US" dirty="0"/>
          </a:p>
        </p:txBody>
      </p:sp>
      <p:cxnSp>
        <p:nvCxnSpPr>
          <p:cNvPr id="56" name="Straight Connector 55"/>
          <p:cNvCxnSpPr/>
          <p:nvPr/>
        </p:nvCxnSpPr>
        <p:spPr>
          <a:xfrm flipV="1">
            <a:off x="2040840" y="5484885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2204" y="5758135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Top of the stack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2006127" y="477860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3741929" y="2203672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2011444" y="5100214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872330" y="4270390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t</a:t>
            </a:r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4414309" y="2227862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2006127" y="4375023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052455" y="5840702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907042" y="3556174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b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1879421" y="3914216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189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5105"/>
            <a:ext cx="9144000" cy="665202"/>
          </a:xfrm>
        </p:spPr>
        <p:txBody>
          <a:bodyPr>
            <a:normAutofit/>
          </a:bodyPr>
          <a:lstStyle/>
          <a:p>
            <a:r>
              <a:rPr lang="en-US" sz="2000" b="1" dirty="0"/>
              <a:t>LL(1) or Table Driver or Predictive </a:t>
            </a:r>
            <a:r>
              <a:rPr lang="en-US" sz="2000" b="1" dirty="0" smtClean="0"/>
              <a:t>Parser functionality 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52400" y="823436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Q</a:t>
            </a:r>
            <a:r>
              <a:rPr lang="en-GB" dirty="0" smtClean="0">
                <a:sym typeface="Wingdings" panose="05000000000000000000" pitchFamily="2" charset="2"/>
              </a:rPr>
              <a:t>PP</a:t>
            </a:r>
            <a:r>
              <a:rPr lang="en-US" baseline="30000" dirty="0">
                <a:sym typeface="Wingdings" panose="05000000000000000000" pitchFamily="2" charset="2"/>
              </a:rPr>
              <a:t>1</a:t>
            </a:r>
            <a:endParaRPr lang="en-GB" dirty="0" smtClean="0">
              <a:sym typeface="Wingdings" panose="05000000000000000000" pitchFamily="2" charset="2"/>
            </a:endParaRPr>
          </a:p>
          <a:p>
            <a:r>
              <a:rPr lang="en-GB" dirty="0" err="1">
                <a:sym typeface="Wingdings" panose="05000000000000000000" pitchFamily="2" charset="2"/>
              </a:rPr>
              <a:t>P</a:t>
            </a:r>
            <a:r>
              <a:rPr lang="en-GB" dirty="0" err="1" smtClean="0">
                <a:sym typeface="Wingdings" panose="05000000000000000000" pitchFamily="2" charset="2"/>
              </a:rPr>
              <a:t>bP</a:t>
            </a:r>
            <a:r>
              <a:rPr lang="en-US" baseline="30000" dirty="0">
                <a:sym typeface="Wingdings" panose="05000000000000000000" pitchFamily="2" charset="2"/>
              </a:rPr>
              <a:t>2</a:t>
            </a:r>
          </a:p>
          <a:p>
            <a:r>
              <a:rPr lang="en-GB" dirty="0" err="1" smtClean="0">
                <a:sym typeface="Wingdings" panose="05000000000000000000" pitchFamily="2" charset="2"/>
              </a:rPr>
              <a:t>Pt</a:t>
            </a:r>
            <a:r>
              <a:rPr lang="en-US" baseline="30000" dirty="0">
                <a:sym typeface="Wingdings" panose="05000000000000000000" pitchFamily="2" charset="2"/>
              </a:rPr>
              <a:t>3</a:t>
            </a:r>
          </a:p>
          <a:p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3748184" y="2151283"/>
          <a:ext cx="33528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5306"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Elbow Connector 11"/>
          <p:cNvCxnSpPr/>
          <p:nvPr/>
        </p:nvCxnSpPr>
        <p:spPr>
          <a:xfrm rot="10800000">
            <a:off x="3287572" y="2151283"/>
            <a:ext cx="484496" cy="28956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56569" y="2017278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Input Buffer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28066" y="3117007"/>
            <a:ext cx="2590800" cy="3077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LL(1) Parsing Algorithm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4132596" y="2521024"/>
            <a:ext cx="1314165" cy="595983"/>
            <a:chOff x="5093217" y="1451781"/>
            <a:chExt cx="1173948" cy="663622"/>
          </a:xfrm>
        </p:grpSpPr>
        <p:sp>
          <p:nvSpPr>
            <p:cNvPr id="20" name="Freeform 19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 flipV="1">
            <a:off x="4665996" y="3424784"/>
            <a:ext cx="1252870" cy="283948"/>
            <a:chOff x="5093217" y="1451781"/>
            <a:chExt cx="1173948" cy="663622"/>
          </a:xfrm>
        </p:grpSpPr>
        <p:sp>
          <p:nvSpPr>
            <p:cNvPr id="14" name="Freeform 13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3926144" y="3759237"/>
          <a:ext cx="4455856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13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bP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2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t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3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967929" y="3294564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Table</a:t>
            </a:r>
            <a:endParaRPr lang="en-US" sz="1400" dirty="0">
              <a:solidFill>
                <a:srgbClr val="00B05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776274" y="2440844"/>
          <a:ext cx="970247" cy="43891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70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2756612" y="3270895"/>
            <a:ext cx="57145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43684" y="6532526"/>
            <a:ext cx="1279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</a:t>
            </a:r>
            <a:r>
              <a:rPr lang="en-GB" sz="1400" dirty="0" smtClean="0">
                <a:solidFill>
                  <a:srgbClr val="00B050"/>
                </a:solidFill>
              </a:rPr>
              <a:t>Stack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087251" y="1695474"/>
            <a:ext cx="1017842" cy="687475"/>
            <a:chOff x="2009104" y="1032447"/>
            <a:chExt cx="1017842" cy="687475"/>
          </a:xfrm>
        </p:grpSpPr>
        <p:sp>
          <p:nvSpPr>
            <p:cNvPr id="17" name="Freeform 16"/>
            <p:cNvSpPr/>
            <p:nvPr/>
          </p:nvSpPr>
          <p:spPr>
            <a:xfrm>
              <a:off x="2009104" y="1032447"/>
              <a:ext cx="940547" cy="564533"/>
            </a:xfrm>
            <a:custGeom>
              <a:avLst/>
              <a:gdLst>
                <a:gd name="connsiteX0" fmla="*/ 0 w 940547"/>
                <a:gd name="connsiteY0" fmla="*/ 88015 h 564533"/>
                <a:gd name="connsiteX1" fmla="*/ 798490 w 940547"/>
                <a:gd name="connsiteY1" fmla="*/ 36499 h 564533"/>
                <a:gd name="connsiteX2" fmla="*/ 940158 w 940547"/>
                <a:gd name="connsiteY2" fmla="*/ 564533 h 564533"/>
                <a:gd name="connsiteX3" fmla="*/ 940158 w 940547"/>
                <a:gd name="connsiteY3" fmla="*/ 564533 h 56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0547" h="564533">
                  <a:moveTo>
                    <a:pt x="0" y="88015"/>
                  </a:moveTo>
                  <a:cubicBezTo>
                    <a:pt x="320898" y="22547"/>
                    <a:pt x="641797" y="-42921"/>
                    <a:pt x="798490" y="36499"/>
                  </a:cubicBezTo>
                  <a:cubicBezTo>
                    <a:pt x="955183" y="115919"/>
                    <a:pt x="940158" y="564533"/>
                    <a:pt x="940158" y="564533"/>
                  </a:cubicBezTo>
                  <a:lnTo>
                    <a:pt x="940158" y="564533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 flipH="1" flipV="1">
              <a:off x="2867627" y="1575971"/>
              <a:ext cx="159319" cy="14395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20065" y="2078416"/>
            <a:ext cx="1558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Grammar symbol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261783" y="1490272"/>
            <a:ext cx="2429884" cy="30777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Look head symbol 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8" name="Elbow Connector 7"/>
          <p:cNvCxnSpPr/>
          <p:nvPr/>
        </p:nvCxnSpPr>
        <p:spPr>
          <a:xfrm rot="5400000">
            <a:off x="5341348" y="1936085"/>
            <a:ext cx="344431" cy="13851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2080079" y="620732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907044" y="5373450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18953" y="5763935"/>
            <a:ext cx="63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918660" y="4994592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07043" y="4676753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b</a:t>
            </a:r>
            <a:endParaRPr lang="en-US" dirty="0"/>
          </a:p>
        </p:txBody>
      </p:sp>
      <p:cxnSp>
        <p:nvCxnSpPr>
          <p:cNvPr id="56" name="Straight Connector 55"/>
          <p:cNvCxnSpPr/>
          <p:nvPr/>
        </p:nvCxnSpPr>
        <p:spPr>
          <a:xfrm flipV="1">
            <a:off x="2040840" y="5484885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09845" y="3558867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Top of the stack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2006127" y="477860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3741929" y="2203672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2011444" y="5100214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872330" y="4270390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t</a:t>
            </a:r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4414309" y="2227862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2006127" y="4375023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052455" y="5840702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907042" y="3556174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b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1879421" y="3914216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</a:t>
            </a:r>
            <a:endParaRPr lang="en-US" dirty="0"/>
          </a:p>
        </p:txBody>
      </p:sp>
      <p:cxnSp>
        <p:nvCxnSpPr>
          <p:cNvPr id="43" name="Straight Connector 42"/>
          <p:cNvCxnSpPr/>
          <p:nvPr/>
        </p:nvCxnSpPr>
        <p:spPr>
          <a:xfrm flipV="1">
            <a:off x="5108623" y="2197919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013216" y="3652974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41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5105"/>
            <a:ext cx="9144000" cy="665202"/>
          </a:xfrm>
        </p:spPr>
        <p:txBody>
          <a:bodyPr>
            <a:normAutofit/>
          </a:bodyPr>
          <a:lstStyle/>
          <a:p>
            <a:r>
              <a:rPr lang="en-US" sz="2000" b="1" dirty="0"/>
              <a:t>LL(1) or Table Driver or Predictive </a:t>
            </a:r>
            <a:r>
              <a:rPr lang="en-US" sz="2000" b="1" dirty="0" smtClean="0"/>
              <a:t>Parser functionality 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52400" y="823436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Q</a:t>
            </a:r>
            <a:r>
              <a:rPr lang="en-GB" dirty="0" smtClean="0">
                <a:sym typeface="Wingdings" panose="05000000000000000000" pitchFamily="2" charset="2"/>
              </a:rPr>
              <a:t>PP</a:t>
            </a:r>
            <a:r>
              <a:rPr lang="en-US" baseline="30000" dirty="0">
                <a:sym typeface="Wingdings" panose="05000000000000000000" pitchFamily="2" charset="2"/>
              </a:rPr>
              <a:t>1</a:t>
            </a:r>
            <a:endParaRPr lang="en-GB" dirty="0" smtClean="0">
              <a:sym typeface="Wingdings" panose="05000000000000000000" pitchFamily="2" charset="2"/>
            </a:endParaRPr>
          </a:p>
          <a:p>
            <a:r>
              <a:rPr lang="en-GB" dirty="0" err="1">
                <a:sym typeface="Wingdings" panose="05000000000000000000" pitchFamily="2" charset="2"/>
              </a:rPr>
              <a:t>P</a:t>
            </a:r>
            <a:r>
              <a:rPr lang="en-GB" dirty="0" err="1" smtClean="0">
                <a:sym typeface="Wingdings" panose="05000000000000000000" pitchFamily="2" charset="2"/>
              </a:rPr>
              <a:t>bP</a:t>
            </a:r>
            <a:r>
              <a:rPr lang="en-US" baseline="30000" dirty="0">
                <a:sym typeface="Wingdings" panose="05000000000000000000" pitchFamily="2" charset="2"/>
              </a:rPr>
              <a:t>2</a:t>
            </a:r>
          </a:p>
          <a:p>
            <a:r>
              <a:rPr lang="en-GB" dirty="0" err="1" smtClean="0">
                <a:sym typeface="Wingdings" panose="05000000000000000000" pitchFamily="2" charset="2"/>
              </a:rPr>
              <a:t>Pt</a:t>
            </a:r>
            <a:r>
              <a:rPr lang="en-US" baseline="30000" dirty="0">
                <a:sym typeface="Wingdings" panose="05000000000000000000" pitchFamily="2" charset="2"/>
              </a:rPr>
              <a:t>3</a:t>
            </a:r>
          </a:p>
          <a:p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3748184" y="2151283"/>
          <a:ext cx="33528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5306"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Elbow Connector 11"/>
          <p:cNvCxnSpPr/>
          <p:nvPr/>
        </p:nvCxnSpPr>
        <p:spPr>
          <a:xfrm rot="10800000">
            <a:off x="3287572" y="2151283"/>
            <a:ext cx="484496" cy="28956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56569" y="2017278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Input Buffer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28066" y="3117007"/>
            <a:ext cx="2590800" cy="3077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LL(1) Parsing Algorithm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4132596" y="2521024"/>
            <a:ext cx="1314165" cy="595983"/>
            <a:chOff x="5093217" y="1451781"/>
            <a:chExt cx="1173948" cy="663622"/>
          </a:xfrm>
        </p:grpSpPr>
        <p:sp>
          <p:nvSpPr>
            <p:cNvPr id="20" name="Freeform 19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 flipV="1">
            <a:off x="4665996" y="3424784"/>
            <a:ext cx="1252870" cy="283948"/>
            <a:chOff x="5093217" y="1451781"/>
            <a:chExt cx="1173948" cy="663622"/>
          </a:xfrm>
        </p:grpSpPr>
        <p:sp>
          <p:nvSpPr>
            <p:cNvPr id="14" name="Freeform 13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3926144" y="3759237"/>
          <a:ext cx="4455856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13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bP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2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t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3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967929" y="3294564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Table</a:t>
            </a:r>
            <a:endParaRPr lang="en-US" sz="1400" dirty="0">
              <a:solidFill>
                <a:srgbClr val="00B05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776274" y="2440844"/>
          <a:ext cx="970247" cy="43891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70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2756612" y="3270895"/>
            <a:ext cx="57145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43684" y="6532526"/>
            <a:ext cx="1279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</a:t>
            </a:r>
            <a:r>
              <a:rPr lang="en-GB" sz="1400" dirty="0" smtClean="0">
                <a:solidFill>
                  <a:srgbClr val="00B050"/>
                </a:solidFill>
              </a:rPr>
              <a:t>Stack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087251" y="1695474"/>
            <a:ext cx="1017842" cy="687475"/>
            <a:chOff x="2009104" y="1032447"/>
            <a:chExt cx="1017842" cy="687475"/>
          </a:xfrm>
        </p:grpSpPr>
        <p:sp>
          <p:nvSpPr>
            <p:cNvPr id="17" name="Freeform 16"/>
            <p:cNvSpPr/>
            <p:nvPr/>
          </p:nvSpPr>
          <p:spPr>
            <a:xfrm>
              <a:off x="2009104" y="1032447"/>
              <a:ext cx="940547" cy="564533"/>
            </a:xfrm>
            <a:custGeom>
              <a:avLst/>
              <a:gdLst>
                <a:gd name="connsiteX0" fmla="*/ 0 w 940547"/>
                <a:gd name="connsiteY0" fmla="*/ 88015 h 564533"/>
                <a:gd name="connsiteX1" fmla="*/ 798490 w 940547"/>
                <a:gd name="connsiteY1" fmla="*/ 36499 h 564533"/>
                <a:gd name="connsiteX2" fmla="*/ 940158 w 940547"/>
                <a:gd name="connsiteY2" fmla="*/ 564533 h 564533"/>
                <a:gd name="connsiteX3" fmla="*/ 940158 w 940547"/>
                <a:gd name="connsiteY3" fmla="*/ 564533 h 56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0547" h="564533">
                  <a:moveTo>
                    <a:pt x="0" y="88015"/>
                  </a:moveTo>
                  <a:cubicBezTo>
                    <a:pt x="320898" y="22547"/>
                    <a:pt x="641797" y="-42921"/>
                    <a:pt x="798490" y="36499"/>
                  </a:cubicBezTo>
                  <a:cubicBezTo>
                    <a:pt x="955183" y="115919"/>
                    <a:pt x="940158" y="564533"/>
                    <a:pt x="940158" y="564533"/>
                  </a:cubicBezTo>
                  <a:lnTo>
                    <a:pt x="940158" y="564533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 flipH="1" flipV="1">
              <a:off x="2867627" y="1575971"/>
              <a:ext cx="159319" cy="14395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20065" y="2078416"/>
            <a:ext cx="1558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Grammar symbol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15646" y="1462581"/>
            <a:ext cx="2429884" cy="30777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Look head symbol 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8" name="Elbow Connector 7"/>
          <p:cNvCxnSpPr/>
          <p:nvPr/>
        </p:nvCxnSpPr>
        <p:spPr>
          <a:xfrm rot="5400000">
            <a:off x="5883416" y="1948022"/>
            <a:ext cx="344431" cy="13851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2080079" y="620732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907044" y="5373450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18953" y="5763935"/>
            <a:ext cx="63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918660" y="4994592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07043" y="4676753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b</a:t>
            </a:r>
            <a:endParaRPr lang="en-US" dirty="0"/>
          </a:p>
        </p:txBody>
      </p:sp>
      <p:cxnSp>
        <p:nvCxnSpPr>
          <p:cNvPr id="56" name="Straight Connector 55"/>
          <p:cNvCxnSpPr/>
          <p:nvPr/>
        </p:nvCxnSpPr>
        <p:spPr>
          <a:xfrm flipV="1">
            <a:off x="2040840" y="5484885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35603" y="3915821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Top of the stack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2006127" y="477860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3741929" y="2203672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2011444" y="5100214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872330" y="4270390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t</a:t>
            </a:r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4414309" y="2227862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2006127" y="4375023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052455" y="5840702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907042" y="3556174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b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1879421" y="3914216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</a:t>
            </a:r>
            <a:endParaRPr lang="en-US" dirty="0"/>
          </a:p>
        </p:txBody>
      </p:sp>
      <p:cxnSp>
        <p:nvCxnSpPr>
          <p:cNvPr id="43" name="Straight Connector 42"/>
          <p:cNvCxnSpPr/>
          <p:nvPr/>
        </p:nvCxnSpPr>
        <p:spPr>
          <a:xfrm flipV="1">
            <a:off x="5108623" y="2197919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013216" y="3652974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070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5105"/>
            <a:ext cx="9144000" cy="665202"/>
          </a:xfrm>
        </p:spPr>
        <p:txBody>
          <a:bodyPr>
            <a:normAutofit/>
          </a:bodyPr>
          <a:lstStyle/>
          <a:p>
            <a:r>
              <a:rPr lang="en-US" sz="2000" b="1" dirty="0"/>
              <a:t>LL(1) or Table Driver or Predictive </a:t>
            </a:r>
            <a:r>
              <a:rPr lang="en-US" sz="2000" b="1" dirty="0" smtClean="0"/>
              <a:t>Parser functionality 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52400" y="823436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Q</a:t>
            </a:r>
            <a:r>
              <a:rPr lang="en-GB" dirty="0" smtClean="0">
                <a:sym typeface="Wingdings" panose="05000000000000000000" pitchFamily="2" charset="2"/>
              </a:rPr>
              <a:t>PP</a:t>
            </a:r>
            <a:r>
              <a:rPr lang="en-US" baseline="30000" dirty="0">
                <a:sym typeface="Wingdings" panose="05000000000000000000" pitchFamily="2" charset="2"/>
              </a:rPr>
              <a:t>1</a:t>
            </a:r>
            <a:endParaRPr lang="en-GB" dirty="0" smtClean="0">
              <a:sym typeface="Wingdings" panose="05000000000000000000" pitchFamily="2" charset="2"/>
            </a:endParaRPr>
          </a:p>
          <a:p>
            <a:r>
              <a:rPr lang="en-GB" dirty="0" err="1">
                <a:sym typeface="Wingdings" panose="05000000000000000000" pitchFamily="2" charset="2"/>
              </a:rPr>
              <a:t>P</a:t>
            </a:r>
            <a:r>
              <a:rPr lang="en-GB" dirty="0" err="1" smtClean="0">
                <a:sym typeface="Wingdings" panose="05000000000000000000" pitchFamily="2" charset="2"/>
              </a:rPr>
              <a:t>bP</a:t>
            </a:r>
            <a:r>
              <a:rPr lang="en-US" baseline="30000" dirty="0">
                <a:sym typeface="Wingdings" panose="05000000000000000000" pitchFamily="2" charset="2"/>
              </a:rPr>
              <a:t>2</a:t>
            </a:r>
          </a:p>
          <a:p>
            <a:r>
              <a:rPr lang="en-GB" dirty="0" err="1" smtClean="0">
                <a:sym typeface="Wingdings" panose="05000000000000000000" pitchFamily="2" charset="2"/>
              </a:rPr>
              <a:t>Pt</a:t>
            </a:r>
            <a:r>
              <a:rPr lang="en-US" baseline="30000" dirty="0">
                <a:sym typeface="Wingdings" panose="05000000000000000000" pitchFamily="2" charset="2"/>
              </a:rPr>
              <a:t>3</a:t>
            </a:r>
          </a:p>
          <a:p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3748184" y="2151283"/>
          <a:ext cx="33528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5306"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Elbow Connector 11"/>
          <p:cNvCxnSpPr/>
          <p:nvPr/>
        </p:nvCxnSpPr>
        <p:spPr>
          <a:xfrm rot="10800000">
            <a:off x="3287572" y="2151283"/>
            <a:ext cx="484496" cy="28956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56569" y="2017278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Input Buffer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28066" y="3117007"/>
            <a:ext cx="2590800" cy="3077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LL(1) Parsing Algorithm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4132596" y="2521024"/>
            <a:ext cx="1314165" cy="595983"/>
            <a:chOff x="5093217" y="1451781"/>
            <a:chExt cx="1173948" cy="663622"/>
          </a:xfrm>
        </p:grpSpPr>
        <p:sp>
          <p:nvSpPr>
            <p:cNvPr id="20" name="Freeform 19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 flipV="1">
            <a:off x="4665996" y="3424784"/>
            <a:ext cx="1252870" cy="283948"/>
            <a:chOff x="5093217" y="1451781"/>
            <a:chExt cx="1173948" cy="663622"/>
          </a:xfrm>
        </p:grpSpPr>
        <p:sp>
          <p:nvSpPr>
            <p:cNvPr id="14" name="Freeform 13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3926144" y="3759237"/>
          <a:ext cx="4455856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13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bP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2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t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3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967929" y="3294564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Table</a:t>
            </a:r>
            <a:endParaRPr lang="en-US" sz="1400" dirty="0">
              <a:solidFill>
                <a:srgbClr val="00B05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776274" y="2440844"/>
          <a:ext cx="970247" cy="43891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70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2756612" y="3270895"/>
            <a:ext cx="57145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43684" y="6532526"/>
            <a:ext cx="1279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</a:t>
            </a:r>
            <a:r>
              <a:rPr lang="en-GB" sz="1400" dirty="0" smtClean="0">
                <a:solidFill>
                  <a:srgbClr val="00B050"/>
                </a:solidFill>
              </a:rPr>
              <a:t>Stack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087251" y="1695474"/>
            <a:ext cx="1017842" cy="687475"/>
            <a:chOff x="2009104" y="1032447"/>
            <a:chExt cx="1017842" cy="687475"/>
          </a:xfrm>
        </p:grpSpPr>
        <p:sp>
          <p:nvSpPr>
            <p:cNvPr id="17" name="Freeform 16"/>
            <p:cNvSpPr/>
            <p:nvPr/>
          </p:nvSpPr>
          <p:spPr>
            <a:xfrm>
              <a:off x="2009104" y="1032447"/>
              <a:ext cx="940547" cy="564533"/>
            </a:xfrm>
            <a:custGeom>
              <a:avLst/>
              <a:gdLst>
                <a:gd name="connsiteX0" fmla="*/ 0 w 940547"/>
                <a:gd name="connsiteY0" fmla="*/ 88015 h 564533"/>
                <a:gd name="connsiteX1" fmla="*/ 798490 w 940547"/>
                <a:gd name="connsiteY1" fmla="*/ 36499 h 564533"/>
                <a:gd name="connsiteX2" fmla="*/ 940158 w 940547"/>
                <a:gd name="connsiteY2" fmla="*/ 564533 h 564533"/>
                <a:gd name="connsiteX3" fmla="*/ 940158 w 940547"/>
                <a:gd name="connsiteY3" fmla="*/ 564533 h 56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0547" h="564533">
                  <a:moveTo>
                    <a:pt x="0" y="88015"/>
                  </a:moveTo>
                  <a:cubicBezTo>
                    <a:pt x="320898" y="22547"/>
                    <a:pt x="641797" y="-42921"/>
                    <a:pt x="798490" y="36499"/>
                  </a:cubicBezTo>
                  <a:cubicBezTo>
                    <a:pt x="955183" y="115919"/>
                    <a:pt x="940158" y="564533"/>
                    <a:pt x="940158" y="564533"/>
                  </a:cubicBezTo>
                  <a:lnTo>
                    <a:pt x="940158" y="564533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 flipH="1" flipV="1">
              <a:off x="2867627" y="1575971"/>
              <a:ext cx="159319" cy="14395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20065" y="2078416"/>
            <a:ext cx="1558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Grammar symbol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822033" y="1462581"/>
            <a:ext cx="2429884" cy="30777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Look head symbol 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8" name="Elbow Connector 7"/>
          <p:cNvCxnSpPr/>
          <p:nvPr/>
        </p:nvCxnSpPr>
        <p:spPr>
          <a:xfrm rot="5400000">
            <a:off x="5886471" y="1923823"/>
            <a:ext cx="344431" cy="13851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2080079" y="620732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907044" y="5373450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18953" y="5763935"/>
            <a:ext cx="63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918660" y="4994592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07043" y="4676753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b</a:t>
            </a:r>
            <a:endParaRPr lang="en-US" dirty="0"/>
          </a:p>
        </p:txBody>
      </p:sp>
      <p:cxnSp>
        <p:nvCxnSpPr>
          <p:cNvPr id="56" name="Straight Connector 55"/>
          <p:cNvCxnSpPr/>
          <p:nvPr/>
        </p:nvCxnSpPr>
        <p:spPr>
          <a:xfrm flipV="1">
            <a:off x="2040840" y="5484885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5815" y="3117007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Top of the stack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2006127" y="477860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3741929" y="2203672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2011444" y="5100214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872330" y="4270390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t</a:t>
            </a:r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4414309" y="2227862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2006127" y="4375023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052455" y="5840702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907042" y="3556174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b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1879421" y="3914216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</a:t>
            </a:r>
            <a:endParaRPr lang="en-US" dirty="0"/>
          </a:p>
        </p:txBody>
      </p:sp>
      <p:cxnSp>
        <p:nvCxnSpPr>
          <p:cNvPr id="43" name="Straight Connector 42"/>
          <p:cNvCxnSpPr/>
          <p:nvPr/>
        </p:nvCxnSpPr>
        <p:spPr>
          <a:xfrm flipV="1">
            <a:off x="5111678" y="2212633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004360" y="3650243"/>
            <a:ext cx="369087" cy="2276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890340" y="3176266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endParaRPr lang="en-US" dirty="0"/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2018817" y="4032427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22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5105"/>
            <a:ext cx="9144000" cy="665202"/>
          </a:xfrm>
        </p:spPr>
        <p:txBody>
          <a:bodyPr>
            <a:normAutofit/>
          </a:bodyPr>
          <a:lstStyle/>
          <a:p>
            <a:r>
              <a:rPr lang="en-US" sz="2000" b="1" dirty="0"/>
              <a:t>LL(1) or Table Driver or Predictive </a:t>
            </a:r>
            <a:r>
              <a:rPr lang="en-US" sz="2000" b="1" dirty="0" smtClean="0"/>
              <a:t>Parser functionality 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52400" y="823436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Q</a:t>
            </a:r>
            <a:r>
              <a:rPr lang="en-GB" dirty="0" smtClean="0">
                <a:sym typeface="Wingdings" panose="05000000000000000000" pitchFamily="2" charset="2"/>
              </a:rPr>
              <a:t>PP</a:t>
            </a:r>
            <a:r>
              <a:rPr lang="en-US" baseline="30000" dirty="0">
                <a:sym typeface="Wingdings" panose="05000000000000000000" pitchFamily="2" charset="2"/>
              </a:rPr>
              <a:t>1</a:t>
            </a:r>
            <a:endParaRPr lang="en-GB" dirty="0" smtClean="0">
              <a:sym typeface="Wingdings" panose="05000000000000000000" pitchFamily="2" charset="2"/>
            </a:endParaRPr>
          </a:p>
          <a:p>
            <a:r>
              <a:rPr lang="en-GB" dirty="0" err="1">
                <a:sym typeface="Wingdings" panose="05000000000000000000" pitchFamily="2" charset="2"/>
              </a:rPr>
              <a:t>P</a:t>
            </a:r>
            <a:r>
              <a:rPr lang="en-GB" dirty="0" err="1" smtClean="0">
                <a:sym typeface="Wingdings" panose="05000000000000000000" pitchFamily="2" charset="2"/>
              </a:rPr>
              <a:t>bP</a:t>
            </a:r>
            <a:r>
              <a:rPr lang="en-US" baseline="30000" dirty="0">
                <a:sym typeface="Wingdings" panose="05000000000000000000" pitchFamily="2" charset="2"/>
              </a:rPr>
              <a:t>2</a:t>
            </a:r>
          </a:p>
          <a:p>
            <a:r>
              <a:rPr lang="en-GB" dirty="0" err="1" smtClean="0">
                <a:sym typeface="Wingdings" panose="05000000000000000000" pitchFamily="2" charset="2"/>
              </a:rPr>
              <a:t>Pt</a:t>
            </a:r>
            <a:r>
              <a:rPr lang="en-US" baseline="30000" dirty="0">
                <a:sym typeface="Wingdings" panose="05000000000000000000" pitchFamily="2" charset="2"/>
              </a:rPr>
              <a:t>3</a:t>
            </a:r>
          </a:p>
          <a:p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3748184" y="2151283"/>
          <a:ext cx="33528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5306"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Elbow Connector 11"/>
          <p:cNvCxnSpPr/>
          <p:nvPr/>
        </p:nvCxnSpPr>
        <p:spPr>
          <a:xfrm rot="10800000">
            <a:off x="3287572" y="2151283"/>
            <a:ext cx="484496" cy="28956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56569" y="2017278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Input Buffer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28066" y="3117007"/>
            <a:ext cx="2590800" cy="3077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LL(1) Parsing Algorithm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4132596" y="2521024"/>
            <a:ext cx="1314165" cy="595983"/>
            <a:chOff x="5093217" y="1451781"/>
            <a:chExt cx="1173948" cy="663622"/>
          </a:xfrm>
        </p:grpSpPr>
        <p:sp>
          <p:nvSpPr>
            <p:cNvPr id="20" name="Freeform 19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 flipV="1">
            <a:off x="4665996" y="3424784"/>
            <a:ext cx="1252870" cy="283948"/>
            <a:chOff x="5093217" y="1451781"/>
            <a:chExt cx="1173948" cy="663622"/>
          </a:xfrm>
        </p:grpSpPr>
        <p:sp>
          <p:nvSpPr>
            <p:cNvPr id="14" name="Freeform 13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3926144" y="3759237"/>
          <a:ext cx="4455856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13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bP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2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t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3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967929" y="3294564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Table</a:t>
            </a:r>
            <a:endParaRPr lang="en-US" sz="1400" dirty="0">
              <a:solidFill>
                <a:srgbClr val="00B05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776274" y="2440844"/>
          <a:ext cx="970247" cy="43891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70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2756612" y="3270895"/>
            <a:ext cx="57145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43684" y="6532526"/>
            <a:ext cx="1279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</a:t>
            </a:r>
            <a:r>
              <a:rPr lang="en-GB" sz="1400" dirty="0" smtClean="0">
                <a:solidFill>
                  <a:srgbClr val="00B050"/>
                </a:solidFill>
              </a:rPr>
              <a:t>Stack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087251" y="1695474"/>
            <a:ext cx="1017842" cy="687475"/>
            <a:chOff x="2009104" y="1032447"/>
            <a:chExt cx="1017842" cy="687475"/>
          </a:xfrm>
        </p:grpSpPr>
        <p:sp>
          <p:nvSpPr>
            <p:cNvPr id="17" name="Freeform 16"/>
            <p:cNvSpPr/>
            <p:nvPr/>
          </p:nvSpPr>
          <p:spPr>
            <a:xfrm>
              <a:off x="2009104" y="1032447"/>
              <a:ext cx="940547" cy="564533"/>
            </a:xfrm>
            <a:custGeom>
              <a:avLst/>
              <a:gdLst>
                <a:gd name="connsiteX0" fmla="*/ 0 w 940547"/>
                <a:gd name="connsiteY0" fmla="*/ 88015 h 564533"/>
                <a:gd name="connsiteX1" fmla="*/ 798490 w 940547"/>
                <a:gd name="connsiteY1" fmla="*/ 36499 h 564533"/>
                <a:gd name="connsiteX2" fmla="*/ 940158 w 940547"/>
                <a:gd name="connsiteY2" fmla="*/ 564533 h 564533"/>
                <a:gd name="connsiteX3" fmla="*/ 940158 w 940547"/>
                <a:gd name="connsiteY3" fmla="*/ 564533 h 56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0547" h="564533">
                  <a:moveTo>
                    <a:pt x="0" y="88015"/>
                  </a:moveTo>
                  <a:cubicBezTo>
                    <a:pt x="320898" y="22547"/>
                    <a:pt x="641797" y="-42921"/>
                    <a:pt x="798490" y="36499"/>
                  </a:cubicBezTo>
                  <a:cubicBezTo>
                    <a:pt x="955183" y="115919"/>
                    <a:pt x="940158" y="564533"/>
                    <a:pt x="940158" y="564533"/>
                  </a:cubicBezTo>
                  <a:lnTo>
                    <a:pt x="940158" y="564533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 flipH="1" flipV="1">
              <a:off x="2867627" y="1575971"/>
              <a:ext cx="159319" cy="14395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20065" y="2078416"/>
            <a:ext cx="1558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Grammar symbol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822033" y="1462581"/>
            <a:ext cx="2429884" cy="30777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Look head symbol 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8" name="Elbow Connector 7"/>
          <p:cNvCxnSpPr/>
          <p:nvPr/>
        </p:nvCxnSpPr>
        <p:spPr>
          <a:xfrm rot="5400000">
            <a:off x="5886471" y="1923823"/>
            <a:ext cx="344431" cy="13851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2080079" y="620732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907044" y="5373450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18953" y="5763935"/>
            <a:ext cx="63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918660" y="4994592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07043" y="4676753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b</a:t>
            </a:r>
            <a:endParaRPr lang="en-US" dirty="0"/>
          </a:p>
        </p:txBody>
      </p:sp>
      <p:cxnSp>
        <p:nvCxnSpPr>
          <p:cNvPr id="56" name="Straight Connector 55"/>
          <p:cNvCxnSpPr/>
          <p:nvPr/>
        </p:nvCxnSpPr>
        <p:spPr>
          <a:xfrm flipV="1">
            <a:off x="2040840" y="5484885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90766" y="3170292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Top of the stack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2006127" y="477860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3741929" y="2203672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2011444" y="5100214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872330" y="4270390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t</a:t>
            </a:r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4414309" y="2227862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2006127" y="4375023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052455" y="5840702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907042" y="3556174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b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1879421" y="3914216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</a:t>
            </a:r>
            <a:endParaRPr lang="en-US" dirty="0"/>
          </a:p>
        </p:txBody>
      </p:sp>
      <p:cxnSp>
        <p:nvCxnSpPr>
          <p:cNvPr id="43" name="Straight Connector 42"/>
          <p:cNvCxnSpPr/>
          <p:nvPr/>
        </p:nvCxnSpPr>
        <p:spPr>
          <a:xfrm flipV="1">
            <a:off x="5111678" y="2212633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004360" y="3650243"/>
            <a:ext cx="369087" cy="2276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890340" y="3176266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endParaRPr lang="en-US" dirty="0"/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2018817" y="4032427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757646" y="2222640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2025433" y="3280581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15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5105"/>
            <a:ext cx="9144000" cy="665202"/>
          </a:xfrm>
        </p:spPr>
        <p:txBody>
          <a:bodyPr>
            <a:normAutofit/>
          </a:bodyPr>
          <a:lstStyle/>
          <a:p>
            <a:r>
              <a:rPr lang="en-US" sz="2000" b="1" dirty="0"/>
              <a:t>LL(1) or Table Driver or Predictive </a:t>
            </a:r>
            <a:r>
              <a:rPr lang="en-US" sz="2000" b="1" dirty="0" smtClean="0"/>
              <a:t>Parser functionality 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52400" y="823436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Q</a:t>
            </a:r>
            <a:r>
              <a:rPr lang="en-GB" dirty="0" smtClean="0">
                <a:sym typeface="Wingdings" panose="05000000000000000000" pitchFamily="2" charset="2"/>
              </a:rPr>
              <a:t>PP</a:t>
            </a:r>
            <a:r>
              <a:rPr lang="en-US" baseline="30000" dirty="0">
                <a:sym typeface="Wingdings" panose="05000000000000000000" pitchFamily="2" charset="2"/>
              </a:rPr>
              <a:t>1</a:t>
            </a:r>
            <a:endParaRPr lang="en-GB" dirty="0" smtClean="0">
              <a:sym typeface="Wingdings" panose="05000000000000000000" pitchFamily="2" charset="2"/>
            </a:endParaRPr>
          </a:p>
          <a:p>
            <a:r>
              <a:rPr lang="en-GB" dirty="0" err="1">
                <a:sym typeface="Wingdings" panose="05000000000000000000" pitchFamily="2" charset="2"/>
              </a:rPr>
              <a:t>P</a:t>
            </a:r>
            <a:r>
              <a:rPr lang="en-GB" dirty="0" err="1" smtClean="0">
                <a:sym typeface="Wingdings" panose="05000000000000000000" pitchFamily="2" charset="2"/>
              </a:rPr>
              <a:t>bP</a:t>
            </a:r>
            <a:r>
              <a:rPr lang="en-US" baseline="30000" dirty="0">
                <a:sym typeface="Wingdings" panose="05000000000000000000" pitchFamily="2" charset="2"/>
              </a:rPr>
              <a:t>2</a:t>
            </a:r>
          </a:p>
          <a:p>
            <a:r>
              <a:rPr lang="en-GB" dirty="0" err="1" smtClean="0">
                <a:sym typeface="Wingdings" panose="05000000000000000000" pitchFamily="2" charset="2"/>
              </a:rPr>
              <a:t>Pt</a:t>
            </a:r>
            <a:r>
              <a:rPr lang="en-US" baseline="30000" dirty="0">
                <a:sym typeface="Wingdings" panose="05000000000000000000" pitchFamily="2" charset="2"/>
              </a:rPr>
              <a:t>3</a:t>
            </a:r>
          </a:p>
          <a:p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3748184" y="2151283"/>
          <a:ext cx="33528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5306"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Elbow Connector 11"/>
          <p:cNvCxnSpPr/>
          <p:nvPr/>
        </p:nvCxnSpPr>
        <p:spPr>
          <a:xfrm rot="10800000">
            <a:off x="3287572" y="2151283"/>
            <a:ext cx="484496" cy="289560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56569" y="2017278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Input Buffer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28066" y="3117007"/>
            <a:ext cx="2590800" cy="30777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LL(1) Parsing Algorithm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4132596" y="2521024"/>
            <a:ext cx="1314165" cy="595983"/>
            <a:chOff x="5093217" y="1451781"/>
            <a:chExt cx="1173948" cy="663622"/>
          </a:xfrm>
        </p:grpSpPr>
        <p:sp>
          <p:nvSpPr>
            <p:cNvPr id="20" name="Freeform 19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 flipV="1">
            <a:off x="4665996" y="3424784"/>
            <a:ext cx="1252870" cy="283948"/>
            <a:chOff x="5093217" y="1451781"/>
            <a:chExt cx="1173948" cy="663622"/>
          </a:xfrm>
        </p:grpSpPr>
        <p:sp>
          <p:nvSpPr>
            <p:cNvPr id="14" name="Freeform 13"/>
            <p:cNvSpPr/>
            <p:nvPr/>
          </p:nvSpPr>
          <p:spPr>
            <a:xfrm>
              <a:off x="5093217" y="1501254"/>
              <a:ext cx="1116514" cy="614149"/>
            </a:xfrm>
            <a:custGeom>
              <a:avLst/>
              <a:gdLst>
                <a:gd name="connsiteX0" fmla="*/ 1116514 w 1116514"/>
                <a:gd name="connsiteY0" fmla="*/ 0 h 614149"/>
                <a:gd name="connsiteX1" fmla="*/ 939093 w 1116514"/>
                <a:gd name="connsiteY1" fmla="*/ 436728 h 614149"/>
                <a:gd name="connsiteX2" fmla="*/ 79284 w 1116514"/>
                <a:gd name="connsiteY2" fmla="*/ 272955 h 614149"/>
                <a:gd name="connsiteX3" fmla="*/ 38341 w 1116514"/>
                <a:gd name="connsiteY3" fmla="*/ 614149 h 614149"/>
                <a:gd name="connsiteX4" fmla="*/ 38341 w 1116514"/>
                <a:gd name="connsiteY4" fmla="*/ 614149 h 61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6514" h="614149">
                  <a:moveTo>
                    <a:pt x="1116514" y="0"/>
                  </a:moveTo>
                  <a:cubicBezTo>
                    <a:pt x="1114239" y="195618"/>
                    <a:pt x="1111965" y="391236"/>
                    <a:pt x="939093" y="436728"/>
                  </a:cubicBezTo>
                  <a:cubicBezTo>
                    <a:pt x="766221" y="482220"/>
                    <a:pt x="229409" y="243385"/>
                    <a:pt x="79284" y="272955"/>
                  </a:cubicBezTo>
                  <a:cubicBezTo>
                    <a:pt x="-70841" y="302525"/>
                    <a:pt x="38341" y="614149"/>
                    <a:pt x="38341" y="614149"/>
                  </a:cubicBezTo>
                  <a:lnTo>
                    <a:pt x="38341" y="61414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6152296" y="1451781"/>
              <a:ext cx="114869" cy="98946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3926144" y="3759237"/>
          <a:ext cx="4455856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113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r>
                        <a:rPr lang="en-GB" dirty="0" smtClean="0">
                          <a:sym typeface="Wingdings" panose="05000000000000000000" pitchFamily="2" charset="2"/>
                        </a:rPr>
                        <a:t>PP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bP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2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</a:t>
                      </a:r>
                      <a:r>
                        <a:rPr lang="en-GB" dirty="0" err="1" smtClean="0">
                          <a:sym typeface="Wingdings" panose="05000000000000000000" pitchFamily="2" charset="2"/>
                        </a:rPr>
                        <a:t>t</a:t>
                      </a:r>
                      <a:r>
                        <a:rPr lang="en-US" baseline="30000" dirty="0" smtClean="0">
                          <a:sym typeface="Wingdings" panose="05000000000000000000" pitchFamily="2" charset="2"/>
                        </a:rPr>
                        <a:t>3</a:t>
                      </a:r>
                      <a:endParaRPr lang="en-US" baseline="30000" dirty="0"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967929" y="3294564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Table</a:t>
            </a:r>
            <a:endParaRPr lang="en-US" sz="1400" dirty="0">
              <a:solidFill>
                <a:srgbClr val="00B05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776274" y="2440844"/>
          <a:ext cx="970247" cy="43891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70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Q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57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$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2756612" y="3270895"/>
            <a:ext cx="57145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43684" y="6532526"/>
            <a:ext cx="1279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Parsing </a:t>
            </a:r>
            <a:r>
              <a:rPr lang="en-GB" sz="1400" dirty="0" smtClean="0">
                <a:solidFill>
                  <a:srgbClr val="00B050"/>
                </a:solidFill>
              </a:rPr>
              <a:t>Stack</a:t>
            </a:r>
            <a:endParaRPr lang="en-US" sz="1400" dirty="0">
              <a:solidFill>
                <a:srgbClr val="00B050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087251" y="1695474"/>
            <a:ext cx="1017842" cy="687475"/>
            <a:chOff x="2009104" y="1032447"/>
            <a:chExt cx="1017842" cy="687475"/>
          </a:xfrm>
        </p:grpSpPr>
        <p:sp>
          <p:nvSpPr>
            <p:cNvPr id="17" name="Freeform 16"/>
            <p:cNvSpPr/>
            <p:nvPr/>
          </p:nvSpPr>
          <p:spPr>
            <a:xfrm>
              <a:off x="2009104" y="1032447"/>
              <a:ext cx="940547" cy="564533"/>
            </a:xfrm>
            <a:custGeom>
              <a:avLst/>
              <a:gdLst>
                <a:gd name="connsiteX0" fmla="*/ 0 w 940547"/>
                <a:gd name="connsiteY0" fmla="*/ 88015 h 564533"/>
                <a:gd name="connsiteX1" fmla="*/ 798490 w 940547"/>
                <a:gd name="connsiteY1" fmla="*/ 36499 h 564533"/>
                <a:gd name="connsiteX2" fmla="*/ 940158 w 940547"/>
                <a:gd name="connsiteY2" fmla="*/ 564533 h 564533"/>
                <a:gd name="connsiteX3" fmla="*/ 940158 w 940547"/>
                <a:gd name="connsiteY3" fmla="*/ 564533 h 56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0547" h="564533">
                  <a:moveTo>
                    <a:pt x="0" y="88015"/>
                  </a:moveTo>
                  <a:cubicBezTo>
                    <a:pt x="320898" y="22547"/>
                    <a:pt x="641797" y="-42921"/>
                    <a:pt x="798490" y="36499"/>
                  </a:cubicBezTo>
                  <a:cubicBezTo>
                    <a:pt x="955183" y="115919"/>
                    <a:pt x="940158" y="564533"/>
                    <a:pt x="940158" y="564533"/>
                  </a:cubicBezTo>
                  <a:lnTo>
                    <a:pt x="940158" y="564533"/>
                  </a:ln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 flipH="1" flipV="1">
              <a:off x="2867627" y="1575971"/>
              <a:ext cx="159319" cy="14395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20065" y="2078416"/>
            <a:ext cx="1558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Grammar symbol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28645" y="1491023"/>
            <a:ext cx="2429884" cy="30777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Look head symbol 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8" name="Elbow Connector 7"/>
          <p:cNvCxnSpPr/>
          <p:nvPr/>
        </p:nvCxnSpPr>
        <p:spPr>
          <a:xfrm rot="5400000">
            <a:off x="6526440" y="1961998"/>
            <a:ext cx="344431" cy="13851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2080079" y="620732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907044" y="5373450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18953" y="5763935"/>
            <a:ext cx="63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1918660" y="4994592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07043" y="4676753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b</a:t>
            </a:r>
            <a:endParaRPr lang="en-US" dirty="0"/>
          </a:p>
        </p:txBody>
      </p:sp>
      <p:cxnSp>
        <p:nvCxnSpPr>
          <p:cNvPr id="56" name="Straight Connector 55"/>
          <p:cNvCxnSpPr/>
          <p:nvPr/>
        </p:nvCxnSpPr>
        <p:spPr>
          <a:xfrm flipV="1">
            <a:off x="2040840" y="5484885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90766" y="3170292"/>
            <a:ext cx="1669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>
                <a:solidFill>
                  <a:srgbClr val="00B050"/>
                </a:solidFill>
              </a:rPr>
              <a:t>Top of the stack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2006127" y="4778609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3741929" y="2203672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2011444" y="5100214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872330" y="4270390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t</a:t>
            </a:r>
            <a:endParaRPr lang="en-US" dirty="0"/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4414309" y="2227862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2006127" y="4375023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052455" y="5840702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907042" y="3556174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b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1879421" y="3914216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</a:t>
            </a:r>
            <a:endParaRPr lang="en-US" dirty="0"/>
          </a:p>
        </p:txBody>
      </p:sp>
      <p:cxnSp>
        <p:nvCxnSpPr>
          <p:cNvPr id="43" name="Straight Connector 42"/>
          <p:cNvCxnSpPr/>
          <p:nvPr/>
        </p:nvCxnSpPr>
        <p:spPr>
          <a:xfrm flipV="1">
            <a:off x="5111678" y="2212633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2004360" y="3650243"/>
            <a:ext cx="369087" cy="2276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890340" y="3176266"/>
            <a:ext cx="620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t</a:t>
            </a:r>
            <a:endParaRPr lang="en-US" dirty="0"/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2018817" y="4032427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757646" y="2222640"/>
            <a:ext cx="412987" cy="246271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2025433" y="3280581"/>
            <a:ext cx="352979" cy="158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911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LL(1) or Table Driver or Predictive Parser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87" y="1213855"/>
            <a:ext cx="8229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Check the given string is acceptable by LL(1) parser or not?</a:t>
            </a:r>
          </a:p>
          <a:p>
            <a:pPr marL="0" indent="0">
              <a:buNone/>
            </a:pPr>
            <a:r>
              <a:rPr lang="en-GB" dirty="0" smtClean="0"/>
              <a:t> </a:t>
            </a:r>
            <a:r>
              <a:rPr lang="en-GB" i="1" dirty="0" err="1" smtClean="0"/>
              <a:t>abba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611291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a typeface="Times New Roman" panose="02020603050405020304" pitchFamily="18" charset="0"/>
              </a:rPr>
              <a:t>Transition Diagrams for Predictive </a:t>
            </a:r>
            <a:r>
              <a:rPr lang="en-US" sz="2800" b="1" dirty="0" smtClean="0">
                <a:ea typeface="Times New Roman" panose="02020603050405020304" pitchFamily="18" charset="0"/>
              </a:rPr>
              <a:t>Parsers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228601" y="1526275"/>
            <a:ext cx="8686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Transition diagrams are useful for visualizing predictive parsers. </a:t>
            </a:r>
            <a:endParaRPr lang="en-US" sz="2400" dirty="0" smtClean="0"/>
          </a:p>
          <a:p>
            <a:pPr fontAlgn="base"/>
            <a:endParaRPr lang="en-US" sz="2400" dirty="0"/>
          </a:p>
          <a:p>
            <a:pPr fontAlgn="base"/>
            <a:r>
              <a:rPr lang="en-US" sz="2400" dirty="0" smtClean="0"/>
              <a:t>To </a:t>
            </a:r>
            <a:r>
              <a:rPr lang="en-US" sz="2400" dirty="0"/>
              <a:t>construct the transition diagram from a grammar, first eliminate left recursion and then left factor the grammar. </a:t>
            </a:r>
            <a:endParaRPr lang="en-US" sz="2400" dirty="0" smtClean="0"/>
          </a:p>
          <a:p>
            <a:pPr fontAlgn="base"/>
            <a:endParaRPr lang="en-US" sz="2400" dirty="0"/>
          </a:p>
          <a:p>
            <a:pPr fontAlgn="base"/>
            <a:r>
              <a:rPr lang="en-US" sz="2400" dirty="0" smtClean="0"/>
              <a:t>Then, for </a:t>
            </a:r>
            <a:r>
              <a:rPr lang="en-US" sz="2400" dirty="0"/>
              <a:t>each nonterminal A, </a:t>
            </a:r>
            <a:endParaRPr lang="en-US" sz="2400" dirty="0" smtClean="0"/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1</a:t>
            </a:r>
            <a:r>
              <a:rPr lang="en-US" sz="2400" dirty="0"/>
              <a:t>. Create an initial and final (return) state.</a:t>
            </a:r>
          </a:p>
          <a:p>
            <a:pPr fontAlgn="base"/>
            <a:r>
              <a:rPr lang="en-US" sz="2400" dirty="0"/>
              <a:t>2. For each production </a:t>
            </a:r>
            <a:r>
              <a:rPr lang="en-US" sz="2400" dirty="0" smtClean="0"/>
              <a:t>A</a:t>
            </a:r>
            <a:r>
              <a:rPr lang="en-US" sz="2400" dirty="0" smtClean="0">
                <a:sym typeface="Wingdings" panose="05000000000000000000" pitchFamily="2" charset="2"/>
              </a:rPr>
              <a:t></a:t>
            </a:r>
            <a:r>
              <a:rPr lang="en-US" sz="2400" dirty="0" smtClean="0"/>
              <a:t> X1X2 … </a:t>
            </a:r>
            <a:r>
              <a:rPr lang="en-US" sz="2400" dirty="0" err="1"/>
              <a:t>Xk</a:t>
            </a:r>
            <a:r>
              <a:rPr lang="en-US" sz="2400" dirty="0"/>
              <a:t>, create a path from the </a:t>
            </a:r>
            <a:r>
              <a:rPr lang="en-US" sz="2400" dirty="0" smtClean="0"/>
              <a:t>initial to </a:t>
            </a:r>
            <a:r>
              <a:rPr lang="en-US" sz="2400" dirty="0"/>
              <a:t>the </a:t>
            </a:r>
            <a:r>
              <a:rPr lang="en-US" sz="2400" dirty="0" smtClean="0"/>
              <a:t>final </a:t>
            </a:r>
            <a:r>
              <a:rPr lang="en-US" sz="2400" dirty="0"/>
              <a:t>state, with edges labeled X1; </a:t>
            </a:r>
            <a:r>
              <a:rPr lang="en-US" sz="2400" dirty="0" smtClean="0"/>
              <a:t>X2 …. </a:t>
            </a:r>
            <a:r>
              <a:rPr lang="en-US" sz="2400" dirty="0" err="1" smtClean="0"/>
              <a:t>Xk</a:t>
            </a:r>
            <a:r>
              <a:rPr lang="en-US" sz="2400" dirty="0"/>
              <a:t>. If A </a:t>
            </a:r>
            <a:r>
              <a:rPr lang="en-US" sz="2400" dirty="0" smtClean="0">
                <a:sym typeface="Wingdings" panose="05000000000000000000" pitchFamily="2" charset="2"/>
              </a:rPr>
              <a:t> </a:t>
            </a:r>
            <a:r>
              <a:rPr lang="en-US" sz="2400" dirty="0" smtClean="0"/>
              <a:t>Ɛ , the path </a:t>
            </a:r>
            <a:r>
              <a:rPr lang="en-US" sz="2400" dirty="0"/>
              <a:t>is an edge labeled </a:t>
            </a:r>
            <a:r>
              <a:rPr lang="en-US" sz="2400" dirty="0" smtClean="0"/>
              <a:t>Ɛ. </a:t>
            </a:r>
            <a:endParaRPr lang="en-US" sz="2400" dirty="0" smtClean="0">
              <a:solidFill>
                <a:schemeClr val="accent1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94271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a typeface="Times New Roman" panose="02020603050405020304" pitchFamily="18" charset="0"/>
              </a:rPr>
              <a:t>Transition Diagrams for Predictive </a:t>
            </a:r>
            <a:r>
              <a:rPr lang="en-US" sz="2800" b="1" dirty="0" smtClean="0">
                <a:ea typeface="Times New Roman" panose="02020603050405020304" pitchFamily="18" charset="0"/>
              </a:rPr>
              <a:t>Parsers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228601" y="1526275"/>
            <a:ext cx="86868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Transition diagrams for predictive parsers differ from those for lexical analyzers. </a:t>
            </a:r>
            <a:endParaRPr lang="en-US" sz="2400" dirty="0" smtClean="0"/>
          </a:p>
          <a:p>
            <a:pPr fontAlgn="base"/>
            <a:endParaRPr lang="en-US" sz="2400" dirty="0"/>
          </a:p>
          <a:p>
            <a:pPr fontAlgn="base"/>
            <a:r>
              <a:rPr lang="en-US" sz="2400" dirty="0" smtClean="0"/>
              <a:t>Parsers </a:t>
            </a:r>
            <a:r>
              <a:rPr lang="en-US" sz="2400" dirty="0"/>
              <a:t>have one diagram for each nonterminal. </a:t>
            </a:r>
            <a:endParaRPr lang="en-US" sz="2400" dirty="0" smtClean="0"/>
          </a:p>
          <a:p>
            <a:pPr fontAlgn="base"/>
            <a:endParaRPr lang="en-US" sz="2400" dirty="0" smtClean="0"/>
          </a:p>
          <a:p>
            <a:pPr fontAlgn="base"/>
            <a:r>
              <a:rPr lang="en-US" sz="2400" dirty="0" smtClean="0"/>
              <a:t>The </a:t>
            </a:r>
            <a:r>
              <a:rPr lang="en-US" sz="2400" dirty="0"/>
              <a:t>labels of edges can be tokens or </a:t>
            </a:r>
            <a:r>
              <a:rPr lang="en-US" sz="2400" dirty="0" smtClean="0"/>
              <a:t>non-terminals</a:t>
            </a:r>
            <a:r>
              <a:rPr lang="en-US" sz="2400" dirty="0"/>
              <a:t>. </a:t>
            </a:r>
            <a:endParaRPr lang="en-US" sz="2400" dirty="0" smtClean="0"/>
          </a:p>
          <a:p>
            <a:pPr fontAlgn="base"/>
            <a:endParaRPr lang="en-US" sz="2400" dirty="0"/>
          </a:p>
          <a:p>
            <a:pPr fontAlgn="base"/>
            <a:r>
              <a:rPr lang="en-US" sz="2400" dirty="0" smtClean="0"/>
              <a:t>A </a:t>
            </a:r>
            <a:r>
              <a:rPr lang="en-US" sz="2400" dirty="0"/>
              <a:t>transition on a token (terminal) means that we take that transition if that token is the next input symbol</a:t>
            </a:r>
            <a:r>
              <a:rPr lang="en-US" sz="2400" dirty="0" smtClean="0"/>
              <a:t>.</a:t>
            </a:r>
            <a:endParaRPr lang="en-US" sz="2400" dirty="0"/>
          </a:p>
          <a:p>
            <a:pPr fontAlgn="base"/>
            <a:r>
              <a:rPr lang="en-US" sz="2400" dirty="0"/>
              <a:t>A transition on a nonterminal A is a call of the procedure for A. </a:t>
            </a:r>
            <a:endParaRPr lang="en-US" sz="2400" dirty="0" smtClean="0"/>
          </a:p>
          <a:p>
            <a:pPr fontAlgn="base"/>
            <a:endParaRPr lang="en-US" sz="2400" dirty="0"/>
          </a:p>
          <a:p>
            <a:pPr fontAlgn="base"/>
            <a:r>
              <a:rPr lang="en-US" sz="2400" dirty="0" smtClean="0"/>
              <a:t>With </a:t>
            </a:r>
            <a:r>
              <a:rPr lang="en-US" sz="2400" dirty="0"/>
              <a:t>an LL(1) grammar, the ambiguity of whether or not to take an Ɛ -edge can be resolved by making Ɛ -transitions the default choice.</a:t>
            </a:r>
            <a:endParaRPr lang="en-US" sz="2400" dirty="0">
              <a:solidFill>
                <a:schemeClr val="accent1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055627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a typeface="Times New Roman" panose="02020603050405020304" pitchFamily="18" charset="0"/>
              </a:rPr>
              <a:t>Transition Diagrams for Predictive </a:t>
            </a:r>
            <a:r>
              <a:rPr lang="en-US" sz="2800" b="1" dirty="0" smtClean="0">
                <a:ea typeface="Times New Roman" panose="02020603050405020304" pitchFamily="18" charset="0"/>
              </a:rPr>
              <a:t>Parsers</a:t>
            </a:r>
            <a:endParaRPr lang="en-US" sz="2800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62000" y="1524000"/>
            <a:ext cx="2438400" cy="1628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273239"/>
                </a:solidFill>
                <a:latin typeface="Consolas" panose="020B0609020204030204" pitchFamily="49" charset="0"/>
              </a:rPr>
              <a:t>E-&gt;TT' </a:t>
            </a:r>
            <a:endParaRPr lang="en-US" altLang="en-US" sz="2000" dirty="0" smtClean="0">
              <a:solidFill>
                <a:srgbClr val="273239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solidFill>
                  <a:srgbClr val="273239"/>
                </a:solidFill>
                <a:latin typeface="Consolas" panose="020B0609020204030204" pitchFamily="49" charset="0"/>
              </a:rPr>
              <a:t>T</a:t>
            </a:r>
            <a:r>
              <a:rPr lang="en-US" altLang="en-US" sz="2000" dirty="0">
                <a:solidFill>
                  <a:srgbClr val="273239"/>
                </a:solidFill>
                <a:latin typeface="Consolas" panose="020B0609020204030204" pitchFamily="49" charset="0"/>
              </a:rPr>
              <a:t>'-&gt;+</a:t>
            </a:r>
            <a:r>
              <a:rPr lang="en-US" altLang="en-US" sz="2000" dirty="0" err="1">
                <a:solidFill>
                  <a:srgbClr val="273239"/>
                </a:solidFill>
                <a:latin typeface="Consolas" panose="020B0609020204030204" pitchFamily="49" charset="0"/>
              </a:rPr>
              <a:t>TT'|ε</a:t>
            </a:r>
            <a:r>
              <a:rPr lang="en-US" altLang="en-US" sz="2000" dirty="0">
                <a:solidFill>
                  <a:srgbClr val="273239"/>
                </a:solidFill>
                <a:latin typeface="Consolas" panose="020B0609020204030204" pitchFamily="49" charset="0"/>
              </a:rPr>
              <a:t> </a:t>
            </a:r>
            <a:endParaRPr lang="en-US" altLang="en-US" sz="2000" dirty="0" smtClean="0">
              <a:solidFill>
                <a:srgbClr val="273239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solidFill>
                  <a:srgbClr val="273239"/>
                </a:solidFill>
                <a:latin typeface="Consolas" panose="020B0609020204030204" pitchFamily="49" charset="0"/>
              </a:rPr>
              <a:t>T-</a:t>
            </a:r>
            <a:r>
              <a:rPr lang="en-US" altLang="en-US" sz="2000" dirty="0">
                <a:solidFill>
                  <a:srgbClr val="273239"/>
                </a:solidFill>
                <a:latin typeface="Consolas" panose="020B0609020204030204" pitchFamily="49" charset="0"/>
              </a:rPr>
              <a:t>&gt;FT'' </a:t>
            </a:r>
            <a:endParaRPr lang="en-US" altLang="en-US" sz="2000" dirty="0" smtClean="0">
              <a:solidFill>
                <a:srgbClr val="273239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solidFill>
                  <a:srgbClr val="273239"/>
                </a:solidFill>
                <a:latin typeface="Consolas" panose="020B0609020204030204" pitchFamily="49" charset="0"/>
              </a:rPr>
              <a:t>T</a:t>
            </a:r>
            <a:r>
              <a:rPr lang="en-US" altLang="en-US" sz="2000" dirty="0">
                <a:solidFill>
                  <a:srgbClr val="273239"/>
                </a:solidFill>
                <a:latin typeface="Consolas" panose="020B0609020204030204" pitchFamily="49" charset="0"/>
              </a:rPr>
              <a:t>''-&gt;*</a:t>
            </a:r>
            <a:r>
              <a:rPr lang="en-US" altLang="en-US" sz="2000" dirty="0" err="1">
                <a:solidFill>
                  <a:srgbClr val="273239"/>
                </a:solidFill>
                <a:latin typeface="Consolas" panose="020B0609020204030204" pitchFamily="49" charset="0"/>
              </a:rPr>
              <a:t>FT''|ε</a:t>
            </a:r>
            <a:r>
              <a:rPr lang="en-US" altLang="en-US" sz="2000" dirty="0">
                <a:solidFill>
                  <a:srgbClr val="273239"/>
                </a:solidFill>
                <a:latin typeface="Consolas" panose="020B0609020204030204" pitchFamily="49" charset="0"/>
              </a:rPr>
              <a:t> </a:t>
            </a:r>
            <a:endParaRPr lang="en-US" altLang="en-US" sz="2000" dirty="0" smtClean="0">
              <a:solidFill>
                <a:srgbClr val="273239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solidFill>
                  <a:srgbClr val="273239"/>
                </a:solidFill>
                <a:latin typeface="Consolas" panose="020B0609020204030204" pitchFamily="49" charset="0"/>
              </a:rPr>
              <a:t>F-</a:t>
            </a:r>
            <a:r>
              <a:rPr lang="en-US" altLang="en-US" sz="2000" dirty="0">
                <a:solidFill>
                  <a:srgbClr val="273239"/>
                </a:solidFill>
                <a:latin typeface="Consolas" panose="020B0609020204030204" pitchFamily="49" charset="0"/>
              </a:rPr>
              <a:t>&gt;(E)|id</a:t>
            </a:r>
            <a:r>
              <a:rPr lang="en-US" altLang="en-US" sz="1100" dirty="0"/>
              <a:t> 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5354" y="3193556"/>
            <a:ext cx="81852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73239"/>
                </a:solidFill>
                <a:latin typeface="urw-din"/>
              </a:rPr>
              <a:t>Make a transition diagram(DFA/NFA) for every rule of grammar.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2057400" y="3744969"/>
            <a:ext cx="3559363" cy="796508"/>
            <a:chOff x="2057400" y="3744969"/>
            <a:chExt cx="3559363" cy="796508"/>
          </a:xfrm>
        </p:grpSpPr>
        <p:grpSp>
          <p:nvGrpSpPr>
            <p:cNvPr id="7" name="Group 6"/>
            <p:cNvGrpSpPr/>
            <p:nvPr/>
          </p:nvGrpSpPr>
          <p:grpSpPr>
            <a:xfrm>
              <a:off x="2057400" y="3744969"/>
              <a:ext cx="3559363" cy="796508"/>
              <a:chOff x="863790" y="4477298"/>
              <a:chExt cx="3559363" cy="796508"/>
            </a:xfrm>
          </p:grpSpPr>
          <p:cxnSp>
            <p:nvCxnSpPr>
              <p:cNvPr id="8" name="Straight Arrow Connector 7"/>
              <p:cNvCxnSpPr/>
              <p:nvPr/>
            </p:nvCxnSpPr>
            <p:spPr>
              <a:xfrm>
                <a:off x="863790" y="4899882"/>
                <a:ext cx="545910" cy="909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1409700" y="4582066"/>
                <a:ext cx="571500" cy="59106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>
                <a:off x="2014182" y="4904431"/>
                <a:ext cx="545910" cy="909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/>
              <p:cNvSpPr/>
              <p:nvPr/>
            </p:nvSpPr>
            <p:spPr>
              <a:xfrm>
                <a:off x="2583406" y="4604348"/>
                <a:ext cx="571500" cy="59106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3" name="Straight Arrow Connector 12"/>
              <p:cNvCxnSpPr/>
              <p:nvPr/>
            </p:nvCxnSpPr>
            <p:spPr>
              <a:xfrm>
                <a:off x="3178220" y="4905879"/>
                <a:ext cx="545910" cy="909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/>
              <p:cNvSpPr/>
              <p:nvPr/>
            </p:nvSpPr>
            <p:spPr>
              <a:xfrm>
                <a:off x="3774173" y="4604348"/>
                <a:ext cx="571500" cy="59106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3696692" y="4544154"/>
                <a:ext cx="726461" cy="72965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2074460" y="4477298"/>
                <a:ext cx="296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solidFill>
                      <a:srgbClr val="00B050"/>
                    </a:solidFill>
                  </a:rPr>
                  <a:t>T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3267073" y="4477298"/>
                <a:ext cx="4296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solidFill>
                      <a:srgbClr val="00B050"/>
                    </a:solidFill>
                  </a:rPr>
                  <a:t>T’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2152365" y="3744969"/>
              <a:ext cx="296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>
                  <a:solidFill>
                    <a:srgbClr val="00B050"/>
                  </a:solidFill>
                </a:rPr>
                <a:t>E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522577" y="4801940"/>
            <a:ext cx="4720628" cy="797435"/>
            <a:chOff x="2057400" y="3744969"/>
            <a:chExt cx="4720628" cy="797435"/>
          </a:xfrm>
        </p:grpSpPr>
        <p:grpSp>
          <p:nvGrpSpPr>
            <p:cNvPr id="21" name="Group 20"/>
            <p:cNvGrpSpPr/>
            <p:nvPr/>
          </p:nvGrpSpPr>
          <p:grpSpPr>
            <a:xfrm>
              <a:off x="2057400" y="3744969"/>
              <a:ext cx="4720628" cy="797435"/>
              <a:chOff x="863790" y="4477298"/>
              <a:chExt cx="4720628" cy="797435"/>
            </a:xfrm>
          </p:grpSpPr>
          <p:cxnSp>
            <p:nvCxnSpPr>
              <p:cNvPr id="23" name="Straight Arrow Connector 22"/>
              <p:cNvCxnSpPr/>
              <p:nvPr/>
            </p:nvCxnSpPr>
            <p:spPr>
              <a:xfrm>
                <a:off x="863790" y="4899882"/>
                <a:ext cx="545910" cy="909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Oval 23"/>
              <p:cNvSpPr/>
              <p:nvPr/>
            </p:nvSpPr>
            <p:spPr>
              <a:xfrm>
                <a:off x="1409700" y="4582066"/>
                <a:ext cx="571500" cy="59106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5" name="Straight Arrow Connector 24"/>
              <p:cNvCxnSpPr/>
              <p:nvPr/>
            </p:nvCxnSpPr>
            <p:spPr>
              <a:xfrm>
                <a:off x="2014182" y="4904431"/>
                <a:ext cx="545910" cy="909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Oval 25"/>
              <p:cNvSpPr/>
              <p:nvPr/>
            </p:nvSpPr>
            <p:spPr>
              <a:xfrm>
                <a:off x="2583406" y="4604348"/>
                <a:ext cx="571500" cy="59106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7" name="Straight Arrow Connector 26"/>
              <p:cNvCxnSpPr/>
              <p:nvPr/>
            </p:nvCxnSpPr>
            <p:spPr>
              <a:xfrm>
                <a:off x="3178220" y="4905879"/>
                <a:ext cx="545910" cy="909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Oval 27"/>
              <p:cNvSpPr/>
              <p:nvPr/>
            </p:nvSpPr>
            <p:spPr>
              <a:xfrm>
                <a:off x="4935437" y="4614373"/>
                <a:ext cx="571500" cy="59106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4857957" y="4545081"/>
                <a:ext cx="726461" cy="72965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2074460" y="4477298"/>
                <a:ext cx="296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solidFill>
                      <a:srgbClr val="00B050"/>
                    </a:solidFill>
                  </a:rPr>
                  <a:t>+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4373392" y="4546201"/>
                <a:ext cx="4296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solidFill>
                      <a:srgbClr val="00B050"/>
                    </a:solidFill>
                  </a:rPr>
                  <a:t>T’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22" name="TextBox 21"/>
            <p:cNvSpPr txBox="1"/>
            <p:nvPr/>
          </p:nvSpPr>
          <p:spPr>
            <a:xfrm>
              <a:off x="2152365" y="3744969"/>
              <a:ext cx="4009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>
                  <a:solidFill>
                    <a:srgbClr val="00B050"/>
                  </a:solidFill>
                </a:rPr>
                <a:t>T’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  <p:sp>
        <p:nvSpPr>
          <p:cNvPr id="32" name="Oval 31"/>
          <p:cNvSpPr/>
          <p:nvPr/>
        </p:nvSpPr>
        <p:spPr>
          <a:xfrm>
            <a:off x="4374597" y="4904660"/>
            <a:ext cx="571500" cy="5910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4957897" y="5224944"/>
            <a:ext cx="545910" cy="909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824992" y="4798592"/>
            <a:ext cx="296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00B050"/>
                </a:solidFill>
              </a:rPr>
              <a:t>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9" name="Bent-Up Arrow 38"/>
          <p:cNvSpPr/>
          <p:nvPr/>
        </p:nvSpPr>
        <p:spPr>
          <a:xfrm>
            <a:off x="1984466" y="5638860"/>
            <a:ext cx="3981383" cy="522793"/>
          </a:xfrm>
          <a:prstGeom prst="bentUpArrow">
            <a:avLst>
              <a:gd name="adj1" fmla="val 23118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/>
          <p:cNvCxnSpPr>
            <a:endCxn id="39" idx="2"/>
          </p:cNvCxnSpPr>
          <p:nvPr/>
        </p:nvCxnSpPr>
        <p:spPr>
          <a:xfrm>
            <a:off x="1982407" y="5294581"/>
            <a:ext cx="2059" cy="80664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519484" y="6095790"/>
            <a:ext cx="543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00B050"/>
                </a:solidFill>
              </a:rPr>
              <a:t> </a:t>
            </a:r>
            <a:r>
              <a:rPr lang="en-US" altLang="en-US" dirty="0">
                <a:solidFill>
                  <a:srgbClr val="00B050"/>
                </a:solidFill>
              </a:rPr>
              <a:t>ε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083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a typeface="Times New Roman" panose="02020603050405020304" pitchFamily="18" charset="0"/>
              </a:rPr>
              <a:t>Transition Diagrams for Predictive </a:t>
            </a:r>
            <a:r>
              <a:rPr lang="en-US" sz="2800" b="1" dirty="0" smtClean="0">
                <a:ea typeface="Times New Roman" panose="02020603050405020304" pitchFamily="18" charset="0"/>
              </a:rPr>
              <a:t>Parsers</a:t>
            </a:r>
            <a:endParaRPr lang="en-US" sz="2800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62000" y="1524000"/>
            <a:ext cx="2438400" cy="1628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273239"/>
                </a:solidFill>
                <a:latin typeface="Consolas" panose="020B0609020204030204" pitchFamily="49" charset="0"/>
              </a:rPr>
              <a:t>E-&gt;TT' </a:t>
            </a:r>
            <a:endParaRPr lang="en-US" altLang="en-US" sz="2000" dirty="0" smtClean="0">
              <a:solidFill>
                <a:srgbClr val="273239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solidFill>
                  <a:srgbClr val="273239"/>
                </a:solidFill>
                <a:latin typeface="Consolas" panose="020B0609020204030204" pitchFamily="49" charset="0"/>
              </a:rPr>
              <a:t>T</a:t>
            </a:r>
            <a:r>
              <a:rPr lang="en-US" altLang="en-US" sz="2000" dirty="0">
                <a:solidFill>
                  <a:srgbClr val="273239"/>
                </a:solidFill>
                <a:latin typeface="Consolas" panose="020B0609020204030204" pitchFamily="49" charset="0"/>
              </a:rPr>
              <a:t>'-&gt;+</a:t>
            </a:r>
            <a:r>
              <a:rPr lang="en-US" altLang="en-US" sz="2000" dirty="0" err="1">
                <a:solidFill>
                  <a:srgbClr val="273239"/>
                </a:solidFill>
                <a:latin typeface="Consolas" panose="020B0609020204030204" pitchFamily="49" charset="0"/>
              </a:rPr>
              <a:t>TT'|ε</a:t>
            </a:r>
            <a:r>
              <a:rPr lang="en-US" altLang="en-US" sz="2000" dirty="0">
                <a:solidFill>
                  <a:srgbClr val="273239"/>
                </a:solidFill>
                <a:latin typeface="Consolas" panose="020B0609020204030204" pitchFamily="49" charset="0"/>
              </a:rPr>
              <a:t> </a:t>
            </a:r>
            <a:endParaRPr lang="en-US" altLang="en-US" sz="2000" dirty="0" smtClean="0">
              <a:solidFill>
                <a:srgbClr val="273239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solidFill>
                  <a:srgbClr val="273239"/>
                </a:solidFill>
                <a:latin typeface="Consolas" panose="020B0609020204030204" pitchFamily="49" charset="0"/>
              </a:rPr>
              <a:t>T-</a:t>
            </a:r>
            <a:r>
              <a:rPr lang="en-US" altLang="en-US" sz="2000" dirty="0">
                <a:solidFill>
                  <a:srgbClr val="273239"/>
                </a:solidFill>
                <a:latin typeface="Consolas" panose="020B0609020204030204" pitchFamily="49" charset="0"/>
              </a:rPr>
              <a:t>&gt;FT'' </a:t>
            </a:r>
            <a:endParaRPr lang="en-US" altLang="en-US" sz="2000" dirty="0" smtClean="0">
              <a:solidFill>
                <a:srgbClr val="273239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solidFill>
                  <a:srgbClr val="273239"/>
                </a:solidFill>
                <a:latin typeface="Consolas" panose="020B0609020204030204" pitchFamily="49" charset="0"/>
              </a:rPr>
              <a:t>T</a:t>
            </a:r>
            <a:r>
              <a:rPr lang="en-US" altLang="en-US" sz="2000" dirty="0">
                <a:solidFill>
                  <a:srgbClr val="273239"/>
                </a:solidFill>
                <a:latin typeface="Consolas" panose="020B0609020204030204" pitchFamily="49" charset="0"/>
              </a:rPr>
              <a:t>''-&gt;*</a:t>
            </a:r>
            <a:r>
              <a:rPr lang="en-US" altLang="en-US" sz="2000" dirty="0" err="1">
                <a:solidFill>
                  <a:srgbClr val="273239"/>
                </a:solidFill>
                <a:latin typeface="Consolas" panose="020B0609020204030204" pitchFamily="49" charset="0"/>
              </a:rPr>
              <a:t>FT''|ε</a:t>
            </a:r>
            <a:r>
              <a:rPr lang="en-US" altLang="en-US" sz="2000" dirty="0">
                <a:solidFill>
                  <a:srgbClr val="273239"/>
                </a:solidFill>
                <a:latin typeface="Consolas" panose="020B0609020204030204" pitchFamily="49" charset="0"/>
              </a:rPr>
              <a:t> </a:t>
            </a:r>
            <a:endParaRPr lang="en-US" altLang="en-US" sz="2000" dirty="0" smtClean="0">
              <a:solidFill>
                <a:srgbClr val="273239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solidFill>
                  <a:srgbClr val="273239"/>
                </a:solidFill>
                <a:latin typeface="Consolas" panose="020B0609020204030204" pitchFamily="49" charset="0"/>
              </a:rPr>
              <a:t>F-</a:t>
            </a:r>
            <a:r>
              <a:rPr lang="en-US" altLang="en-US" sz="2000" dirty="0">
                <a:solidFill>
                  <a:srgbClr val="273239"/>
                </a:solidFill>
                <a:latin typeface="Consolas" panose="020B0609020204030204" pitchFamily="49" charset="0"/>
              </a:rPr>
              <a:t>&gt;(E)|id</a:t>
            </a:r>
            <a:r>
              <a:rPr lang="en-US" altLang="en-US" sz="1100" dirty="0"/>
              <a:t> 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3505200" y="1204972"/>
            <a:ext cx="3559363" cy="796508"/>
            <a:chOff x="2057400" y="3744969"/>
            <a:chExt cx="3559363" cy="796508"/>
          </a:xfrm>
        </p:grpSpPr>
        <p:grpSp>
          <p:nvGrpSpPr>
            <p:cNvPr id="7" name="Group 6"/>
            <p:cNvGrpSpPr/>
            <p:nvPr/>
          </p:nvGrpSpPr>
          <p:grpSpPr>
            <a:xfrm>
              <a:off x="2057400" y="3744969"/>
              <a:ext cx="3559363" cy="796508"/>
              <a:chOff x="863790" y="4477298"/>
              <a:chExt cx="3559363" cy="796508"/>
            </a:xfrm>
          </p:grpSpPr>
          <p:cxnSp>
            <p:nvCxnSpPr>
              <p:cNvPr id="8" name="Straight Arrow Connector 7"/>
              <p:cNvCxnSpPr/>
              <p:nvPr/>
            </p:nvCxnSpPr>
            <p:spPr>
              <a:xfrm>
                <a:off x="863790" y="4899882"/>
                <a:ext cx="545910" cy="909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1409700" y="4582066"/>
                <a:ext cx="571500" cy="59106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>
                <a:off x="2014182" y="4904431"/>
                <a:ext cx="545910" cy="909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/>
              <p:cNvSpPr/>
              <p:nvPr/>
            </p:nvSpPr>
            <p:spPr>
              <a:xfrm>
                <a:off x="2583406" y="4604348"/>
                <a:ext cx="571500" cy="59106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3" name="Straight Arrow Connector 12"/>
              <p:cNvCxnSpPr/>
              <p:nvPr/>
            </p:nvCxnSpPr>
            <p:spPr>
              <a:xfrm>
                <a:off x="3178220" y="4905879"/>
                <a:ext cx="545910" cy="909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/>
              <p:cNvSpPr/>
              <p:nvPr/>
            </p:nvSpPr>
            <p:spPr>
              <a:xfrm>
                <a:off x="3774173" y="4604348"/>
                <a:ext cx="571500" cy="59106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3696692" y="4544154"/>
                <a:ext cx="726461" cy="72965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2074460" y="4477298"/>
                <a:ext cx="296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solidFill>
                      <a:srgbClr val="00B050"/>
                    </a:solidFill>
                  </a:rPr>
                  <a:t>T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3267073" y="4477298"/>
                <a:ext cx="4296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solidFill>
                      <a:srgbClr val="00B050"/>
                    </a:solidFill>
                  </a:rPr>
                  <a:t>T’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2152365" y="3744969"/>
              <a:ext cx="296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>
                  <a:solidFill>
                    <a:srgbClr val="00B050"/>
                  </a:solidFill>
                </a:rPr>
                <a:t>E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200400" y="2080424"/>
            <a:ext cx="4720628" cy="1666530"/>
            <a:chOff x="1522577" y="4798592"/>
            <a:chExt cx="4720628" cy="1666530"/>
          </a:xfrm>
        </p:grpSpPr>
        <p:grpSp>
          <p:nvGrpSpPr>
            <p:cNvPr id="20" name="Group 19"/>
            <p:cNvGrpSpPr/>
            <p:nvPr/>
          </p:nvGrpSpPr>
          <p:grpSpPr>
            <a:xfrm>
              <a:off x="1522577" y="4801940"/>
              <a:ext cx="4720628" cy="797435"/>
              <a:chOff x="2057400" y="3744969"/>
              <a:chExt cx="4720628" cy="797435"/>
            </a:xfrm>
          </p:grpSpPr>
          <p:grpSp>
            <p:nvGrpSpPr>
              <p:cNvPr id="21" name="Group 20"/>
              <p:cNvGrpSpPr/>
              <p:nvPr/>
            </p:nvGrpSpPr>
            <p:grpSpPr>
              <a:xfrm>
                <a:off x="2057400" y="3744969"/>
                <a:ext cx="4720628" cy="797435"/>
                <a:chOff x="863790" y="4477298"/>
                <a:chExt cx="4720628" cy="797435"/>
              </a:xfrm>
            </p:grpSpPr>
            <p:cxnSp>
              <p:nvCxnSpPr>
                <p:cNvPr id="23" name="Straight Arrow Connector 22"/>
                <p:cNvCxnSpPr/>
                <p:nvPr/>
              </p:nvCxnSpPr>
              <p:spPr>
                <a:xfrm>
                  <a:off x="863790" y="4899882"/>
                  <a:ext cx="545910" cy="9099"/>
                </a:xfrm>
                <a:prstGeom prst="straightConnector1">
                  <a:avLst/>
                </a:prstGeom>
                <a:ln w="571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Oval 23"/>
                <p:cNvSpPr/>
                <p:nvPr/>
              </p:nvSpPr>
              <p:spPr>
                <a:xfrm>
                  <a:off x="1409700" y="4582066"/>
                  <a:ext cx="571500" cy="59106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5" name="Straight Arrow Connector 24"/>
                <p:cNvCxnSpPr/>
                <p:nvPr/>
              </p:nvCxnSpPr>
              <p:spPr>
                <a:xfrm>
                  <a:off x="2014182" y="4904431"/>
                  <a:ext cx="545910" cy="9099"/>
                </a:xfrm>
                <a:prstGeom prst="straightConnector1">
                  <a:avLst/>
                </a:prstGeom>
                <a:ln w="571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Oval 25"/>
                <p:cNvSpPr/>
                <p:nvPr/>
              </p:nvSpPr>
              <p:spPr>
                <a:xfrm>
                  <a:off x="2583406" y="4604348"/>
                  <a:ext cx="571500" cy="59106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27" name="Straight Arrow Connector 26"/>
                <p:cNvCxnSpPr/>
                <p:nvPr/>
              </p:nvCxnSpPr>
              <p:spPr>
                <a:xfrm>
                  <a:off x="3178220" y="4905879"/>
                  <a:ext cx="545910" cy="9099"/>
                </a:xfrm>
                <a:prstGeom prst="straightConnector1">
                  <a:avLst/>
                </a:prstGeom>
                <a:ln w="571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Oval 27"/>
                <p:cNvSpPr/>
                <p:nvPr/>
              </p:nvSpPr>
              <p:spPr>
                <a:xfrm>
                  <a:off x="4935437" y="4614373"/>
                  <a:ext cx="571500" cy="59106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9" name="Oval 28"/>
                <p:cNvSpPr/>
                <p:nvPr/>
              </p:nvSpPr>
              <p:spPr>
                <a:xfrm>
                  <a:off x="4857957" y="4545081"/>
                  <a:ext cx="726461" cy="72965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2074460" y="4477298"/>
                  <a:ext cx="2962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 smtClean="0">
                      <a:solidFill>
                        <a:srgbClr val="00B050"/>
                      </a:solidFill>
                    </a:rPr>
                    <a:t>+</a:t>
                  </a:r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4373392" y="4546201"/>
                  <a:ext cx="42961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 smtClean="0">
                      <a:solidFill>
                        <a:srgbClr val="00B050"/>
                      </a:solidFill>
                    </a:rPr>
                    <a:t>T’</a:t>
                  </a:r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</p:grpSp>
          <p:sp>
            <p:nvSpPr>
              <p:cNvPr id="22" name="TextBox 21"/>
              <p:cNvSpPr txBox="1"/>
              <p:nvPr/>
            </p:nvSpPr>
            <p:spPr>
              <a:xfrm>
                <a:off x="2152365" y="3744969"/>
                <a:ext cx="4009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solidFill>
                      <a:srgbClr val="00B050"/>
                    </a:solidFill>
                  </a:rPr>
                  <a:t>T’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32" name="Oval 31"/>
            <p:cNvSpPr/>
            <p:nvPr/>
          </p:nvSpPr>
          <p:spPr>
            <a:xfrm>
              <a:off x="4374597" y="4904660"/>
              <a:ext cx="571500" cy="5910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>
              <a:off x="4957897" y="5224944"/>
              <a:ext cx="545910" cy="909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3824992" y="4798592"/>
              <a:ext cx="296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>
                  <a:solidFill>
                    <a:srgbClr val="00B050"/>
                  </a:solidFill>
                </a:rPr>
                <a:t>T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39" name="Bent-Up Arrow 38"/>
            <p:cNvSpPr/>
            <p:nvPr/>
          </p:nvSpPr>
          <p:spPr>
            <a:xfrm>
              <a:off x="1984466" y="5638860"/>
              <a:ext cx="3981383" cy="522793"/>
            </a:xfrm>
            <a:prstGeom prst="bentUpArrow">
              <a:avLst>
                <a:gd name="adj1" fmla="val 23118"/>
                <a:gd name="adj2" fmla="val 25000"/>
                <a:gd name="adj3" fmla="val 25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/>
            <p:cNvCxnSpPr>
              <a:endCxn id="39" idx="2"/>
            </p:cNvCxnSpPr>
            <p:nvPr/>
          </p:nvCxnSpPr>
          <p:spPr>
            <a:xfrm>
              <a:off x="1982407" y="5294581"/>
              <a:ext cx="2059" cy="806642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3519484" y="6095790"/>
              <a:ext cx="543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>
                  <a:solidFill>
                    <a:srgbClr val="00B050"/>
                  </a:solidFill>
                </a:rPr>
                <a:t> </a:t>
              </a:r>
              <a:r>
                <a:rPr lang="en-US" altLang="en-US" dirty="0">
                  <a:solidFill>
                    <a:srgbClr val="00B050"/>
                  </a:solidFill>
                </a:rPr>
                <a:t>ε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24965" y="3727334"/>
            <a:ext cx="4497645" cy="1468572"/>
            <a:chOff x="466727" y="4864119"/>
            <a:chExt cx="4739039" cy="1703228"/>
          </a:xfrm>
        </p:grpSpPr>
        <p:grpSp>
          <p:nvGrpSpPr>
            <p:cNvPr id="54" name="Group 53"/>
            <p:cNvGrpSpPr/>
            <p:nvPr/>
          </p:nvGrpSpPr>
          <p:grpSpPr>
            <a:xfrm>
              <a:off x="485138" y="4864119"/>
              <a:ext cx="4720628" cy="1703228"/>
              <a:chOff x="1522577" y="4761894"/>
              <a:chExt cx="4720628" cy="1703228"/>
            </a:xfrm>
          </p:grpSpPr>
          <p:grpSp>
            <p:nvGrpSpPr>
              <p:cNvPr id="55" name="Group 54"/>
              <p:cNvGrpSpPr/>
              <p:nvPr/>
            </p:nvGrpSpPr>
            <p:grpSpPr>
              <a:xfrm>
                <a:off x="1522577" y="4761894"/>
                <a:ext cx="4720628" cy="837481"/>
                <a:chOff x="2057400" y="3704923"/>
                <a:chExt cx="4720628" cy="837481"/>
              </a:xfrm>
            </p:grpSpPr>
            <p:grpSp>
              <p:nvGrpSpPr>
                <p:cNvPr id="62" name="Group 61"/>
                <p:cNvGrpSpPr/>
                <p:nvPr/>
              </p:nvGrpSpPr>
              <p:grpSpPr>
                <a:xfrm>
                  <a:off x="2057400" y="3704923"/>
                  <a:ext cx="4720628" cy="837481"/>
                  <a:chOff x="863790" y="4437252"/>
                  <a:chExt cx="4720628" cy="837481"/>
                </a:xfrm>
              </p:grpSpPr>
              <p:cxnSp>
                <p:nvCxnSpPr>
                  <p:cNvPr id="64" name="Straight Arrow Connector 63"/>
                  <p:cNvCxnSpPr/>
                  <p:nvPr/>
                </p:nvCxnSpPr>
                <p:spPr>
                  <a:xfrm>
                    <a:off x="863790" y="4899882"/>
                    <a:ext cx="545910" cy="9099"/>
                  </a:xfrm>
                  <a:prstGeom prst="straightConnector1">
                    <a:avLst/>
                  </a:prstGeom>
                  <a:ln w="571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5" name="Oval 64"/>
                  <p:cNvSpPr/>
                  <p:nvPr/>
                </p:nvSpPr>
                <p:spPr>
                  <a:xfrm>
                    <a:off x="1409700" y="4582066"/>
                    <a:ext cx="571500" cy="59106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66" name="Straight Arrow Connector 65"/>
                  <p:cNvCxnSpPr/>
                  <p:nvPr/>
                </p:nvCxnSpPr>
                <p:spPr>
                  <a:xfrm>
                    <a:off x="2014182" y="4904431"/>
                    <a:ext cx="545910" cy="9099"/>
                  </a:xfrm>
                  <a:prstGeom prst="straightConnector1">
                    <a:avLst/>
                  </a:prstGeom>
                  <a:ln w="571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7" name="Oval 66"/>
                  <p:cNvSpPr/>
                  <p:nvPr/>
                </p:nvSpPr>
                <p:spPr>
                  <a:xfrm>
                    <a:off x="2583406" y="4604348"/>
                    <a:ext cx="571500" cy="59106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68" name="Straight Arrow Connector 67"/>
                  <p:cNvCxnSpPr/>
                  <p:nvPr/>
                </p:nvCxnSpPr>
                <p:spPr>
                  <a:xfrm>
                    <a:off x="3178220" y="4905879"/>
                    <a:ext cx="545910" cy="9099"/>
                  </a:xfrm>
                  <a:prstGeom prst="straightConnector1">
                    <a:avLst/>
                  </a:prstGeom>
                  <a:ln w="571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9" name="Oval 68"/>
                  <p:cNvSpPr/>
                  <p:nvPr/>
                </p:nvSpPr>
                <p:spPr>
                  <a:xfrm>
                    <a:off x="4935437" y="4614373"/>
                    <a:ext cx="571500" cy="59106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70" name="Oval 69"/>
                  <p:cNvSpPr/>
                  <p:nvPr/>
                </p:nvSpPr>
                <p:spPr>
                  <a:xfrm>
                    <a:off x="4857957" y="4545081"/>
                    <a:ext cx="726461" cy="729652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1" name="TextBox 70"/>
                  <p:cNvSpPr txBox="1"/>
                  <p:nvPr/>
                </p:nvSpPr>
                <p:spPr>
                  <a:xfrm>
                    <a:off x="3222500" y="4437252"/>
                    <a:ext cx="29626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dirty="0" smtClean="0">
                        <a:solidFill>
                          <a:srgbClr val="00B050"/>
                        </a:solidFill>
                      </a:rPr>
                      <a:t>F</a:t>
                    </a:r>
                    <a:endParaRPr lang="en-US" dirty="0">
                      <a:solidFill>
                        <a:srgbClr val="00B050"/>
                      </a:solidFill>
                    </a:endParaRPr>
                  </a:p>
                </p:txBody>
              </p:sp>
            </p:grpSp>
            <p:sp>
              <p:nvSpPr>
                <p:cNvPr id="63" name="TextBox 62"/>
                <p:cNvSpPr txBox="1"/>
                <p:nvPr/>
              </p:nvSpPr>
              <p:spPr>
                <a:xfrm>
                  <a:off x="3286048" y="3882044"/>
                  <a:ext cx="40090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 smtClean="0">
                      <a:solidFill>
                        <a:srgbClr val="00B050"/>
                      </a:solidFill>
                    </a:rPr>
                    <a:t>*</a:t>
                  </a:r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</p:grpSp>
          <p:sp>
            <p:nvSpPr>
              <p:cNvPr id="56" name="Oval 55"/>
              <p:cNvSpPr/>
              <p:nvPr/>
            </p:nvSpPr>
            <p:spPr>
              <a:xfrm>
                <a:off x="4374597" y="4904660"/>
                <a:ext cx="571500" cy="59106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7" name="Straight Arrow Connector 56"/>
              <p:cNvCxnSpPr/>
              <p:nvPr/>
            </p:nvCxnSpPr>
            <p:spPr>
              <a:xfrm>
                <a:off x="4957897" y="5224944"/>
                <a:ext cx="545910" cy="909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Bent-Up Arrow 58"/>
              <p:cNvSpPr/>
              <p:nvPr/>
            </p:nvSpPr>
            <p:spPr>
              <a:xfrm>
                <a:off x="1984466" y="5638860"/>
                <a:ext cx="3981383" cy="522793"/>
              </a:xfrm>
              <a:prstGeom prst="bentUpArrow">
                <a:avLst>
                  <a:gd name="adj1" fmla="val 23118"/>
                  <a:gd name="adj2" fmla="val 25000"/>
                  <a:gd name="adj3" fmla="val 2500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Connector 59"/>
              <p:cNvCxnSpPr>
                <a:endCxn id="59" idx="2"/>
              </p:cNvCxnSpPr>
              <p:nvPr/>
            </p:nvCxnSpPr>
            <p:spPr>
              <a:xfrm>
                <a:off x="1982407" y="5294581"/>
                <a:ext cx="2059" cy="806642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/>
              <p:cNvSpPr txBox="1"/>
              <p:nvPr/>
            </p:nvSpPr>
            <p:spPr>
              <a:xfrm>
                <a:off x="3519484" y="6095790"/>
                <a:ext cx="5432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US" altLang="en-US" dirty="0">
                    <a:solidFill>
                      <a:srgbClr val="00B050"/>
                    </a:solidFill>
                  </a:rPr>
                  <a:t>ε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74" name="TextBox 73"/>
            <p:cNvSpPr txBox="1"/>
            <p:nvPr/>
          </p:nvSpPr>
          <p:spPr>
            <a:xfrm>
              <a:off x="3822855" y="4937891"/>
              <a:ext cx="4296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>
                  <a:solidFill>
                    <a:srgbClr val="00B050"/>
                  </a:solidFill>
                </a:rPr>
                <a:t>T’’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466727" y="4952324"/>
              <a:ext cx="4296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>
                  <a:solidFill>
                    <a:srgbClr val="00B050"/>
                  </a:solidFill>
                </a:rPr>
                <a:t>T’’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3717876" y="5036681"/>
            <a:ext cx="4739039" cy="1703228"/>
            <a:chOff x="466727" y="4864119"/>
            <a:chExt cx="4739039" cy="1703228"/>
          </a:xfrm>
        </p:grpSpPr>
        <p:grpSp>
          <p:nvGrpSpPr>
            <p:cNvPr id="77" name="Group 76"/>
            <p:cNvGrpSpPr/>
            <p:nvPr/>
          </p:nvGrpSpPr>
          <p:grpSpPr>
            <a:xfrm>
              <a:off x="485138" y="4864119"/>
              <a:ext cx="4720628" cy="1703228"/>
              <a:chOff x="1522577" y="4761894"/>
              <a:chExt cx="4720628" cy="1703228"/>
            </a:xfrm>
          </p:grpSpPr>
          <p:grpSp>
            <p:nvGrpSpPr>
              <p:cNvPr id="80" name="Group 79"/>
              <p:cNvGrpSpPr/>
              <p:nvPr/>
            </p:nvGrpSpPr>
            <p:grpSpPr>
              <a:xfrm>
                <a:off x="1522577" y="4761894"/>
                <a:ext cx="4720628" cy="837481"/>
                <a:chOff x="2057400" y="3704923"/>
                <a:chExt cx="4720628" cy="837481"/>
              </a:xfrm>
            </p:grpSpPr>
            <p:grpSp>
              <p:nvGrpSpPr>
                <p:cNvPr id="86" name="Group 85"/>
                <p:cNvGrpSpPr/>
                <p:nvPr/>
              </p:nvGrpSpPr>
              <p:grpSpPr>
                <a:xfrm>
                  <a:off x="2057400" y="3704923"/>
                  <a:ext cx="4720628" cy="837481"/>
                  <a:chOff x="863790" y="4437252"/>
                  <a:chExt cx="4720628" cy="837481"/>
                </a:xfrm>
              </p:grpSpPr>
              <p:cxnSp>
                <p:nvCxnSpPr>
                  <p:cNvPr id="88" name="Straight Arrow Connector 87"/>
                  <p:cNvCxnSpPr/>
                  <p:nvPr/>
                </p:nvCxnSpPr>
                <p:spPr>
                  <a:xfrm>
                    <a:off x="863790" y="4899882"/>
                    <a:ext cx="545910" cy="9099"/>
                  </a:xfrm>
                  <a:prstGeom prst="straightConnector1">
                    <a:avLst/>
                  </a:prstGeom>
                  <a:ln w="571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9" name="Oval 88"/>
                  <p:cNvSpPr/>
                  <p:nvPr/>
                </p:nvSpPr>
                <p:spPr>
                  <a:xfrm>
                    <a:off x="1409700" y="4582066"/>
                    <a:ext cx="571500" cy="59106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90" name="Straight Arrow Connector 89"/>
                  <p:cNvCxnSpPr/>
                  <p:nvPr/>
                </p:nvCxnSpPr>
                <p:spPr>
                  <a:xfrm>
                    <a:off x="2014182" y="4904431"/>
                    <a:ext cx="545910" cy="9099"/>
                  </a:xfrm>
                  <a:prstGeom prst="straightConnector1">
                    <a:avLst/>
                  </a:prstGeom>
                  <a:ln w="571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1" name="Oval 90"/>
                  <p:cNvSpPr/>
                  <p:nvPr/>
                </p:nvSpPr>
                <p:spPr>
                  <a:xfrm>
                    <a:off x="2583406" y="4604348"/>
                    <a:ext cx="571500" cy="59106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92" name="Straight Arrow Connector 91"/>
                  <p:cNvCxnSpPr/>
                  <p:nvPr/>
                </p:nvCxnSpPr>
                <p:spPr>
                  <a:xfrm>
                    <a:off x="3178220" y="4905879"/>
                    <a:ext cx="545910" cy="9099"/>
                  </a:xfrm>
                  <a:prstGeom prst="straightConnector1">
                    <a:avLst/>
                  </a:prstGeom>
                  <a:ln w="571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3" name="Oval 92"/>
                  <p:cNvSpPr/>
                  <p:nvPr/>
                </p:nvSpPr>
                <p:spPr>
                  <a:xfrm>
                    <a:off x="4935437" y="4614373"/>
                    <a:ext cx="571500" cy="59106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4" name="Oval 93"/>
                  <p:cNvSpPr/>
                  <p:nvPr/>
                </p:nvSpPr>
                <p:spPr>
                  <a:xfrm>
                    <a:off x="4857957" y="4545081"/>
                    <a:ext cx="726461" cy="729652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5" name="TextBox 94"/>
                  <p:cNvSpPr txBox="1"/>
                  <p:nvPr/>
                </p:nvSpPr>
                <p:spPr>
                  <a:xfrm>
                    <a:off x="3222500" y="4437252"/>
                    <a:ext cx="29626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dirty="0" smtClean="0">
                        <a:solidFill>
                          <a:srgbClr val="00B050"/>
                        </a:solidFill>
                      </a:rPr>
                      <a:t>E</a:t>
                    </a:r>
                    <a:endParaRPr lang="en-US" dirty="0">
                      <a:solidFill>
                        <a:srgbClr val="00B050"/>
                      </a:solidFill>
                    </a:endParaRPr>
                  </a:p>
                </p:txBody>
              </p:sp>
            </p:grpSp>
            <p:sp>
              <p:nvSpPr>
                <p:cNvPr id="87" name="TextBox 86"/>
                <p:cNvSpPr txBox="1"/>
                <p:nvPr/>
              </p:nvSpPr>
              <p:spPr>
                <a:xfrm>
                  <a:off x="3245063" y="3802770"/>
                  <a:ext cx="40090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>
                      <a:solidFill>
                        <a:srgbClr val="00B050"/>
                      </a:solidFill>
                    </a:rPr>
                    <a:t>(</a:t>
                  </a:r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</p:grpSp>
          <p:sp>
            <p:nvSpPr>
              <p:cNvPr id="81" name="Oval 80"/>
              <p:cNvSpPr/>
              <p:nvPr/>
            </p:nvSpPr>
            <p:spPr>
              <a:xfrm>
                <a:off x="4374597" y="4904660"/>
                <a:ext cx="571500" cy="59106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82" name="Straight Arrow Connector 81"/>
              <p:cNvCxnSpPr/>
              <p:nvPr/>
            </p:nvCxnSpPr>
            <p:spPr>
              <a:xfrm>
                <a:off x="4957897" y="5224944"/>
                <a:ext cx="545910" cy="909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Bent-Up Arrow 82"/>
              <p:cNvSpPr/>
              <p:nvPr/>
            </p:nvSpPr>
            <p:spPr>
              <a:xfrm>
                <a:off x="1984466" y="5638860"/>
                <a:ext cx="3981383" cy="522793"/>
              </a:xfrm>
              <a:prstGeom prst="bentUpArrow">
                <a:avLst>
                  <a:gd name="adj1" fmla="val 23118"/>
                  <a:gd name="adj2" fmla="val 25000"/>
                  <a:gd name="adj3" fmla="val 2500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4" name="Straight Connector 83"/>
              <p:cNvCxnSpPr>
                <a:endCxn id="83" idx="2"/>
              </p:cNvCxnSpPr>
              <p:nvPr/>
            </p:nvCxnSpPr>
            <p:spPr>
              <a:xfrm>
                <a:off x="1982407" y="5294581"/>
                <a:ext cx="2059" cy="806642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84"/>
              <p:cNvSpPr txBox="1"/>
              <p:nvPr/>
            </p:nvSpPr>
            <p:spPr>
              <a:xfrm>
                <a:off x="3519484" y="6095790"/>
                <a:ext cx="5432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solidFill>
                      <a:srgbClr val="00B050"/>
                    </a:solidFill>
                  </a:rPr>
                  <a:t> id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4014495" y="4906491"/>
              <a:ext cx="4296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rgbClr val="00B050"/>
                  </a:solidFill>
                </a:rPr>
                <a:t>)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66727" y="4952324"/>
              <a:ext cx="4296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rgbClr val="00B050"/>
                  </a:solidFill>
                </a:rPr>
                <a:t>F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87743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a typeface="Times New Roman" panose="02020603050405020304" pitchFamily="18" charset="0"/>
              </a:rPr>
              <a:t>Transition Diagrams for Predictive </a:t>
            </a:r>
            <a:r>
              <a:rPr lang="en-US" sz="2800" b="1" dirty="0" smtClean="0">
                <a:ea typeface="Times New Roman" panose="02020603050405020304" pitchFamily="18" charset="0"/>
              </a:rPr>
              <a:t>Parsers</a:t>
            </a:r>
            <a:endParaRPr lang="en-US" sz="2800" dirty="0"/>
          </a:p>
        </p:txBody>
      </p:sp>
      <p:grpSp>
        <p:nvGrpSpPr>
          <p:cNvPr id="41" name="Group 40"/>
          <p:cNvGrpSpPr/>
          <p:nvPr/>
        </p:nvGrpSpPr>
        <p:grpSpPr>
          <a:xfrm>
            <a:off x="2145800" y="2327527"/>
            <a:ext cx="1909690" cy="2422527"/>
            <a:chOff x="1981626" y="3592292"/>
            <a:chExt cx="1909690" cy="2422527"/>
          </a:xfrm>
        </p:grpSpPr>
        <p:grpSp>
          <p:nvGrpSpPr>
            <p:cNvPr id="3" name="Group 2"/>
            <p:cNvGrpSpPr/>
            <p:nvPr/>
          </p:nvGrpSpPr>
          <p:grpSpPr>
            <a:xfrm>
              <a:off x="1981626" y="3592292"/>
              <a:ext cx="1909690" cy="2422527"/>
              <a:chOff x="1904003" y="4276084"/>
              <a:chExt cx="1909690" cy="2422527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1904003" y="4645416"/>
                <a:ext cx="1909690" cy="2053195"/>
                <a:chOff x="2438826" y="3588445"/>
                <a:chExt cx="1909690" cy="2053195"/>
              </a:xfrm>
            </p:grpSpPr>
            <p:grpSp>
              <p:nvGrpSpPr>
                <p:cNvPr id="21" name="Group 20"/>
                <p:cNvGrpSpPr/>
                <p:nvPr/>
              </p:nvGrpSpPr>
              <p:grpSpPr>
                <a:xfrm>
                  <a:off x="2525830" y="3797125"/>
                  <a:ext cx="1822686" cy="1844515"/>
                  <a:chOff x="1332220" y="4529454"/>
                  <a:chExt cx="1822686" cy="1844515"/>
                </a:xfrm>
              </p:grpSpPr>
              <p:sp>
                <p:nvSpPr>
                  <p:cNvPr id="24" name="Oval 23"/>
                  <p:cNvSpPr/>
                  <p:nvPr/>
                </p:nvSpPr>
                <p:spPr>
                  <a:xfrm>
                    <a:off x="1409700" y="4582066"/>
                    <a:ext cx="571500" cy="59106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25" name="Straight Arrow Connector 24"/>
                  <p:cNvCxnSpPr/>
                  <p:nvPr/>
                </p:nvCxnSpPr>
                <p:spPr>
                  <a:xfrm>
                    <a:off x="2014182" y="4904431"/>
                    <a:ext cx="545910" cy="9099"/>
                  </a:xfrm>
                  <a:prstGeom prst="straightConnector1">
                    <a:avLst/>
                  </a:prstGeom>
                  <a:ln w="571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" name="Oval 25"/>
                  <p:cNvSpPr/>
                  <p:nvPr/>
                </p:nvSpPr>
                <p:spPr>
                  <a:xfrm>
                    <a:off x="2583406" y="4604348"/>
                    <a:ext cx="571500" cy="59106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8" name="Oval 27"/>
                  <p:cNvSpPr/>
                  <p:nvPr/>
                </p:nvSpPr>
                <p:spPr>
                  <a:xfrm>
                    <a:off x="1409700" y="5713609"/>
                    <a:ext cx="571500" cy="59106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9" name="Oval 28"/>
                  <p:cNvSpPr/>
                  <p:nvPr/>
                </p:nvSpPr>
                <p:spPr>
                  <a:xfrm>
                    <a:off x="1332220" y="5644317"/>
                    <a:ext cx="726461" cy="729652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2200395" y="4529454"/>
                    <a:ext cx="29626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dirty="0" smtClean="0">
                        <a:solidFill>
                          <a:srgbClr val="00B050"/>
                        </a:solidFill>
                      </a:rPr>
                      <a:t>+</a:t>
                    </a:r>
                    <a:endParaRPr lang="en-US" dirty="0">
                      <a:solidFill>
                        <a:srgbClr val="00B050"/>
                      </a:solidFill>
                    </a:endParaRPr>
                  </a:p>
                </p:txBody>
              </p:sp>
            </p:grpSp>
            <p:sp>
              <p:nvSpPr>
                <p:cNvPr id="22" name="TextBox 21"/>
                <p:cNvSpPr txBox="1"/>
                <p:nvPr/>
              </p:nvSpPr>
              <p:spPr>
                <a:xfrm>
                  <a:off x="2438826" y="3588445"/>
                  <a:ext cx="40090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 smtClean="0">
                      <a:solidFill>
                        <a:srgbClr val="00B050"/>
                      </a:solidFill>
                    </a:rPr>
                    <a:t>T’</a:t>
                  </a:r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</p:grpSp>
          <p:sp>
            <p:nvSpPr>
              <p:cNvPr id="36" name="TextBox 35"/>
              <p:cNvSpPr txBox="1"/>
              <p:nvPr/>
            </p:nvSpPr>
            <p:spPr>
              <a:xfrm>
                <a:off x="2672969" y="4276084"/>
                <a:ext cx="296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solidFill>
                      <a:srgbClr val="00B050"/>
                    </a:solidFill>
                  </a:rPr>
                  <a:t>T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2012325" y="5516671"/>
                <a:ext cx="5432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US" altLang="en-US" dirty="0">
                    <a:solidFill>
                      <a:srgbClr val="00B050"/>
                    </a:solidFill>
                  </a:rPr>
                  <a:t>ε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38" name="Freeform 37"/>
            <p:cNvSpPr/>
            <p:nvPr/>
          </p:nvSpPr>
          <p:spPr>
            <a:xfrm>
              <a:off x="2431860" y="3746756"/>
              <a:ext cx="1165247" cy="495055"/>
            </a:xfrm>
            <a:custGeom>
              <a:avLst/>
              <a:gdLst>
                <a:gd name="connsiteX0" fmla="*/ 2852383 w 2852383"/>
                <a:gd name="connsiteY0" fmla="*/ 846303 h 900894"/>
                <a:gd name="connsiteX1" fmla="*/ 2129051 w 2852383"/>
                <a:gd name="connsiteY1" fmla="*/ 142 h 900894"/>
                <a:gd name="connsiteX2" fmla="*/ 0 w 2852383"/>
                <a:gd name="connsiteY2" fmla="*/ 900894 h 900894"/>
                <a:gd name="connsiteX3" fmla="*/ 0 w 2852383"/>
                <a:gd name="connsiteY3" fmla="*/ 900894 h 900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2383" h="900894">
                  <a:moveTo>
                    <a:pt x="2852383" y="846303"/>
                  </a:moveTo>
                  <a:cubicBezTo>
                    <a:pt x="2728415" y="418673"/>
                    <a:pt x="2604448" y="-8956"/>
                    <a:pt x="2129051" y="142"/>
                  </a:cubicBezTo>
                  <a:cubicBezTo>
                    <a:pt x="1653654" y="9240"/>
                    <a:pt x="0" y="900894"/>
                    <a:pt x="0" y="900894"/>
                  </a:cubicBezTo>
                  <a:lnTo>
                    <a:pt x="0" y="900894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484496" y="1521593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 smtClean="0"/>
              <a:t>OPtimized</a:t>
            </a:r>
            <a:endParaRPr lang="en-US" dirty="0"/>
          </a:p>
        </p:txBody>
      </p:sp>
      <p:cxnSp>
        <p:nvCxnSpPr>
          <p:cNvPr id="5" name="Straight Arrow Connector 4"/>
          <p:cNvCxnSpPr>
            <a:stCxn id="24" idx="4"/>
            <a:endCxn id="29" idx="0"/>
          </p:cNvCxnSpPr>
          <p:nvPr/>
        </p:nvCxnSpPr>
        <p:spPr>
          <a:xfrm>
            <a:off x="2596034" y="3549218"/>
            <a:ext cx="1" cy="4711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184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a typeface="Times New Roman" panose="02020603050405020304" pitchFamily="18" charset="0"/>
              </a:rPr>
              <a:t>Transition Diagrams for Predictive </a:t>
            </a:r>
            <a:r>
              <a:rPr lang="en-US" sz="2800" b="1" dirty="0" smtClean="0">
                <a:ea typeface="Times New Roman" panose="02020603050405020304" pitchFamily="18" charset="0"/>
              </a:rPr>
              <a:t>Parsers</a:t>
            </a:r>
            <a:endParaRPr lang="en-US" sz="2800" dirty="0"/>
          </a:p>
        </p:txBody>
      </p:sp>
      <p:grpSp>
        <p:nvGrpSpPr>
          <p:cNvPr id="41" name="Group 40"/>
          <p:cNvGrpSpPr/>
          <p:nvPr/>
        </p:nvGrpSpPr>
        <p:grpSpPr>
          <a:xfrm>
            <a:off x="2254122" y="2327527"/>
            <a:ext cx="1801368" cy="2353234"/>
            <a:chOff x="2089948" y="3592292"/>
            <a:chExt cx="1801368" cy="2353234"/>
          </a:xfrm>
        </p:grpSpPr>
        <p:grpSp>
          <p:nvGrpSpPr>
            <p:cNvPr id="3" name="Group 2"/>
            <p:cNvGrpSpPr/>
            <p:nvPr/>
          </p:nvGrpSpPr>
          <p:grpSpPr>
            <a:xfrm>
              <a:off x="2089948" y="3592292"/>
              <a:ext cx="1801368" cy="2353234"/>
              <a:chOff x="2012325" y="4276084"/>
              <a:chExt cx="1801368" cy="2353234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2068487" y="4723995"/>
                <a:ext cx="1745206" cy="1905323"/>
                <a:chOff x="2603310" y="3667024"/>
                <a:chExt cx="1745206" cy="1905323"/>
              </a:xfrm>
            </p:grpSpPr>
            <p:grpSp>
              <p:nvGrpSpPr>
                <p:cNvPr id="21" name="Group 20"/>
                <p:cNvGrpSpPr/>
                <p:nvPr/>
              </p:nvGrpSpPr>
              <p:grpSpPr>
                <a:xfrm>
                  <a:off x="2603310" y="3797125"/>
                  <a:ext cx="1745206" cy="1775222"/>
                  <a:chOff x="1409700" y="4529454"/>
                  <a:chExt cx="1745206" cy="1775222"/>
                </a:xfrm>
              </p:grpSpPr>
              <p:sp>
                <p:nvSpPr>
                  <p:cNvPr id="24" name="Oval 23"/>
                  <p:cNvSpPr/>
                  <p:nvPr/>
                </p:nvSpPr>
                <p:spPr>
                  <a:xfrm>
                    <a:off x="1409700" y="4582066"/>
                    <a:ext cx="571500" cy="59106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25" name="Straight Arrow Connector 24"/>
                  <p:cNvCxnSpPr/>
                  <p:nvPr/>
                </p:nvCxnSpPr>
                <p:spPr>
                  <a:xfrm>
                    <a:off x="2014182" y="4904431"/>
                    <a:ext cx="545910" cy="9099"/>
                  </a:xfrm>
                  <a:prstGeom prst="straightConnector1">
                    <a:avLst/>
                  </a:prstGeom>
                  <a:ln w="571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" name="Oval 25"/>
                  <p:cNvSpPr/>
                  <p:nvPr/>
                </p:nvSpPr>
                <p:spPr>
                  <a:xfrm>
                    <a:off x="2583406" y="4604348"/>
                    <a:ext cx="571500" cy="59106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8" name="Oval 27"/>
                  <p:cNvSpPr/>
                  <p:nvPr/>
                </p:nvSpPr>
                <p:spPr>
                  <a:xfrm>
                    <a:off x="1409700" y="5713609"/>
                    <a:ext cx="571500" cy="59106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2200395" y="4529454"/>
                    <a:ext cx="29626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dirty="0" smtClean="0">
                        <a:solidFill>
                          <a:srgbClr val="00B050"/>
                        </a:solidFill>
                      </a:rPr>
                      <a:t>+</a:t>
                    </a:r>
                    <a:endParaRPr lang="en-US" dirty="0">
                      <a:solidFill>
                        <a:srgbClr val="00B050"/>
                      </a:solidFill>
                    </a:endParaRPr>
                  </a:p>
                </p:txBody>
              </p:sp>
            </p:grpSp>
            <p:sp>
              <p:nvSpPr>
                <p:cNvPr id="22" name="TextBox 21"/>
                <p:cNvSpPr txBox="1"/>
                <p:nvPr/>
              </p:nvSpPr>
              <p:spPr>
                <a:xfrm>
                  <a:off x="2981446" y="3667024"/>
                  <a:ext cx="40090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 smtClean="0">
                      <a:solidFill>
                        <a:srgbClr val="00B050"/>
                      </a:solidFill>
                    </a:rPr>
                    <a:t>T’</a:t>
                  </a:r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</p:grpSp>
          <p:sp>
            <p:nvSpPr>
              <p:cNvPr id="36" name="TextBox 35"/>
              <p:cNvSpPr txBox="1"/>
              <p:nvPr/>
            </p:nvSpPr>
            <p:spPr>
              <a:xfrm>
                <a:off x="2672969" y="4276084"/>
                <a:ext cx="296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solidFill>
                      <a:srgbClr val="00B050"/>
                    </a:solidFill>
                  </a:rPr>
                  <a:t>T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2012325" y="5516671"/>
                <a:ext cx="5432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US" altLang="en-US" dirty="0">
                    <a:solidFill>
                      <a:srgbClr val="00B050"/>
                    </a:solidFill>
                  </a:rPr>
                  <a:t>ε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38" name="Freeform 37"/>
            <p:cNvSpPr/>
            <p:nvPr/>
          </p:nvSpPr>
          <p:spPr>
            <a:xfrm>
              <a:off x="2431860" y="3746756"/>
              <a:ext cx="1165247" cy="495055"/>
            </a:xfrm>
            <a:custGeom>
              <a:avLst/>
              <a:gdLst>
                <a:gd name="connsiteX0" fmla="*/ 2852383 w 2852383"/>
                <a:gd name="connsiteY0" fmla="*/ 846303 h 900894"/>
                <a:gd name="connsiteX1" fmla="*/ 2129051 w 2852383"/>
                <a:gd name="connsiteY1" fmla="*/ 142 h 900894"/>
                <a:gd name="connsiteX2" fmla="*/ 0 w 2852383"/>
                <a:gd name="connsiteY2" fmla="*/ 900894 h 900894"/>
                <a:gd name="connsiteX3" fmla="*/ 0 w 2852383"/>
                <a:gd name="connsiteY3" fmla="*/ 900894 h 900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2383" h="900894">
                  <a:moveTo>
                    <a:pt x="2852383" y="846303"/>
                  </a:moveTo>
                  <a:cubicBezTo>
                    <a:pt x="2728415" y="418673"/>
                    <a:pt x="2604448" y="-8956"/>
                    <a:pt x="2129051" y="142"/>
                  </a:cubicBezTo>
                  <a:cubicBezTo>
                    <a:pt x="1653654" y="9240"/>
                    <a:pt x="0" y="900894"/>
                    <a:pt x="0" y="900894"/>
                  </a:cubicBezTo>
                  <a:lnTo>
                    <a:pt x="0" y="900894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484496" y="1521593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 smtClean="0"/>
              <a:t>OPtimized</a:t>
            </a:r>
            <a:endParaRPr lang="en-US" dirty="0"/>
          </a:p>
        </p:txBody>
      </p:sp>
      <p:cxnSp>
        <p:nvCxnSpPr>
          <p:cNvPr id="5" name="Straight Arrow Connector 4"/>
          <p:cNvCxnSpPr>
            <a:stCxn id="24" idx="4"/>
          </p:cNvCxnSpPr>
          <p:nvPr/>
        </p:nvCxnSpPr>
        <p:spPr>
          <a:xfrm>
            <a:off x="2596034" y="3549218"/>
            <a:ext cx="1" cy="4711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1148818" y="2647309"/>
            <a:ext cx="1150392" cy="929391"/>
            <a:chOff x="2603310" y="3511413"/>
            <a:chExt cx="1150392" cy="929391"/>
          </a:xfrm>
        </p:grpSpPr>
        <p:grpSp>
          <p:nvGrpSpPr>
            <p:cNvPr id="33" name="Group 32"/>
            <p:cNvGrpSpPr/>
            <p:nvPr/>
          </p:nvGrpSpPr>
          <p:grpSpPr>
            <a:xfrm>
              <a:off x="2603310" y="3744969"/>
              <a:ext cx="1150392" cy="695835"/>
              <a:chOff x="1409700" y="4477298"/>
              <a:chExt cx="1150392" cy="695835"/>
            </a:xfrm>
          </p:grpSpPr>
          <p:sp>
            <p:nvSpPr>
              <p:cNvPr id="35" name="Oval 34"/>
              <p:cNvSpPr/>
              <p:nvPr/>
            </p:nvSpPr>
            <p:spPr>
              <a:xfrm>
                <a:off x="1409700" y="4582066"/>
                <a:ext cx="571500" cy="59106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37" name="Straight Arrow Connector 36"/>
              <p:cNvCxnSpPr/>
              <p:nvPr/>
            </p:nvCxnSpPr>
            <p:spPr>
              <a:xfrm>
                <a:off x="2014182" y="4904431"/>
                <a:ext cx="545910" cy="909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/>
              <p:cNvSpPr txBox="1"/>
              <p:nvPr/>
            </p:nvSpPr>
            <p:spPr>
              <a:xfrm>
                <a:off x="2074460" y="4477298"/>
                <a:ext cx="296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solidFill>
                      <a:srgbClr val="00B050"/>
                    </a:solidFill>
                  </a:rPr>
                  <a:t>T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2689492" y="3511413"/>
              <a:ext cx="296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>
                  <a:solidFill>
                    <a:srgbClr val="00B050"/>
                  </a:solidFill>
                </a:rPr>
                <a:t>E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412051" y="2244896"/>
            <a:ext cx="276370" cy="764636"/>
            <a:chOff x="5940648" y="1521593"/>
            <a:chExt cx="276370" cy="764636"/>
          </a:xfrm>
        </p:grpSpPr>
        <p:cxnSp>
          <p:nvCxnSpPr>
            <p:cNvPr id="8" name="Elbow Connector 7"/>
            <p:cNvCxnSpPr/>
            <p:nvPr/>
          </p:nvCxnSpPr>
          <p:spPr>
            <a:xfrm rot="16200000" flipH="1">
              <a:off x="5571011" y="1896727"/>
              <a:ext cx="764636" cy="14368"/>
            </a:xfrm>
            <a:prstGeom prst="bentConnector2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Elbow Connector 13"/>
            <p:cNvCxnSpPr/>
            <p:nvPr/>
          </p:nvCxnSpPr>
          <p:spPr>
            <a:xfrm rot="16200000" flipH="1">
              <a:off x="5758093" y="1714806"/>
              <a:ext cx="641479" cy="276370"/>
            </a:xfrm>
            <a:prstGeom prst="bentConnector3">
              <a:avLst>
                <a:gd name="adj1" fmla="val 1816"/>
              </a:avLst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Oval 30"/>
          <p:cNvSpPr/>
          <p:nvPr/>
        </p:nvSpPr>
        <p:spPr>
          <a:xfrm>
            <a:off x="3420890" y="2912106"/>
            <a:ext cx="726461" cy="72965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60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a typeface="Times New Roman" panose="02020603050405020304" pitchFamily="18" charset="0"/>
              </a:rPr>
              <a:t>Transition Diagrams for Predictive </a:t>
            </a:r>
            <a:r>
              <a:rPr lang="en-US" sz="2800" b="1" dirty="0" smtClean="0">
                <a:ea typeface="Times New Roman" panose="02020603050405020304" pitchFamily="18" charset="0"/>
              </a:rPr>
              <a:t>Parsers</a:t>
            </a:r>
            <a:endParaRPr lang="en-US" sz="2800" dirty="0"/>
          </a:p>
        </p:txBody>
      </p:sp>
      <p:grpSp>
        <p:nvGrpSpPr>
          <p:cNvPr id="3" name="Group 2"/>
          <p:cNvGrpSpPr/>
          <p:nvPr/>
        </p:nvGrpSpPr>
        <p:grpSpPr>
          <a:xfrm>
            <a:off x="2877261" y="2578979"/>
            <a:ext cx="2651532" cy="1716082"/>
            <a:chOff x="2012325" y="4854096"/>
            <a:chExt cx="2651532" cy="1716082"/>
          </a:xfrm>
        </p:grpSpPr>
        <p:grpSp>
          <p:nvGrpSpPr>
            <p:cNvPr id="21" name="Group 20"/>
            <p:cNvGrpSpPr/>
            <p:nvPr/>
          </p:nvGrpSpPr>
          <p:grpSpPr>
            <a:xfrm>
              <a:off x="2068487" y="4854096"/>
              <a:ext cx="2595370" cy="1716082"/>
              <a:chOff x="1409700" y="4529454"/>
              <a:chExt cx="2595370" cy="1716082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1409700" y="4582066"/>
                <a:ext cx="571500" cy="59106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3433570" y="4594865"/>
                <a:ext cx="571500" cy="59106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1409700" y="5713610"/>
                <a:ext cx="571500" cy="53192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2200395" y="4529454"/>
                <a:ext cx="296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solidFill>
                      <a:srgbClr val="00B050"/>
                    </a:solidFill>
                  </a:rPr>
                  <a:t>+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36" name="TextBox 35"/>
            <p:cNvSpPr txBox="1"/>
            <p:nvPr/>
          </p:nvSpPr>
          <p:spPr>
            <a:xfrm>
              <a:off x="3007316" y="5341415"/>
              <a:ext cx="296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>
                  <a:solidFill>
                    <a:srgbClr val="00B050"/>
                  </a:solidFill>
                </a:rPr>
                <a:t>T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012325" y="5516671"/>
              <a:ext cx="543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>
                  <a:solidFill>
                    <a:srgbClr val="00B050"/>
                  </a:solidFill>
                </a:rPr>
                <a:t> </a:t>
              </a:r>
              <a:r>
                <a:rPr lang="en-US" altLang="en-US" dirty="0">
                  <a:solidFill>
                    <a:srgbClr val="00B050"/>
                  </a:solidFill>
                </a:rPr>
                <a:t>ε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484496" y="1521593"/>
            <a:ext cx="8430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Accordingly, we optimize the other structures to produce the following DFA</a:t>
            </a:r>
          </a:p>
        </p:txBody>
      </p:sp>
      <p:cxnSp>
        <p:nvCxnSpPr>
          <p:cNvPr id="5" name="Straight Arrow Connector 4"/>
          <p:cNvCxnSpPr>
            <a:stCxn id="24" idx="4"/>
          </p:cNvCxnSpPr>
          <p:nvPr/>
        </p:nvCxnSpPr>
        <p:spPr>
          <a:xfrm>
            <a:off x="3219173" y="3222658"/>
            <a:ext cx="1" cy="4711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855943" y="3683110"/>
            <a:ext cx="725457" cy="6614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>
            <a:stCxn id="24" idx="6"/>
            <a:endCxn id="26" idx="2"/>
          </p:cNvCxnSpPr>
          <p:nvPr/>
        </p:nvCxnSpPr>
        <p:spPr>
          <a:xfrm>
            <a:off x="3504923" y="2927125"/>
            <a:ext cx="1452370" cy="1279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3447360" y="3074685"/>
            <a:ext cx="1567495" cy="44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6972" y="4331256"/>
            <a:ext cx="102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Final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04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a typeface="Times New Roman" panose="02020603050405020304" pitchFamily="18" charset="0"/>
              </a:rPr>
              <a:t>Transition Diagrams for Predictive </a:t>
            </a:r>
            <a:r>
              <a:rPr lang="en-US" sz="2800" b="1" dirty="0" smtClean="0">
                <a:ea typeface="Times New Roman" panose="02020603050405020304" pitchFamily="18" charset="0"/>
              </a:rPr>
              <a:t>Parsers</a:t>
            </a:r>
            <a:endParaRPr lang="en-US" sz="2800" dirty="0"/>
          </a:p>
        </p:txBody>
      </p:sp>
      <p:grpSp>
        <p:nvGrpSpPr>
          <p:cNvPr id="3" name="Group 2"/>
          <p:cNvGrpSpPr/>
          <p:nvPr/>
        </p:nvGrpSpPr>
        <p:grpSpPr>
          <a:xfrm>
            <a:off x="2877261" y="2578979"/>
            <a:ext cx="2651532" cy="1716082"/>
            <a:chOff x="2012325" y="4854096"/>
            <a:chExt cx="2651532" cy="1716082"/>
          </a:xfrm>
        </p:grpSpPr>
        <p:grpSp>
          <p:nvGrpSpPr>
            <p:cNvPr id="21" name="Group 20"/>
            <p:cNvGrpSpPr/>
            <p:nvPr/>
          </p:nvGrpSpPr>
          <p:grpSpPr>
            <a:xfrm>
              <a:off x="2068487" y="4854096"/>
              <a:ext cx="2595370" cy="1716082"/>
              <a:chOff x="1409700" y="4529454"/>
              <a:chExt cx="2595370" cy="1716082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1409700" y="4582066"/>
                <a:ext cx="571500" cy="59106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3433570" y="4594865"/>
                <a:ext cx="571500" cy="59106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1409700" y="5713610"/>
                <a:ext cx="571500" cy="53192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2200395" y="4529454"/>
                <a:ext cx="296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solidFill>
                      <a:srgbClr val="00B050"/>
                    </a:solidFill>
                  </a:rPr>
                  <a:t>*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36" name="TextBox 35"/>
            <p:cNvSpPr txBox="1"/>
            <p:nvPr/>
          </p:nvSpPr>
          <p:spPr>
            <a:xfrm>
              <a:off x="3007316" y="5341415"/>
              <a:ext cx="296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rgbClr val="00B050"/>
                  </a:solidFill>
                </a:rPr>
                <a:t>F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012325" y="5516671"/>
              <a:ext cx="543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smtClean="0">
                  <a:solidFill>
                    <a:srgbClr val="00B050"/>
                  </a:solidFill>
                </a:rPr>
                <a:t> </a:t>
              </a:r>
              <a:r>
                <a:rPr lang="en-US" altLang="en-US" dirty="0">
                  <a:solidFill>
                    <a:srgbClr val="00B050"/>
                  </a:solidFill>
                </a:rPr>
                <a:t>ε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484496" y="1521593"/>
            <a:ext cx="8430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Accordingly, we optimize the other structures to produce the following DFA</a:t>
            </a:r>
          </a:p>
        </p:txBody>
      </p:sp>
      <p:cxnSp>
        <p:nvCxnSpPr>
          <p:cNvPr id="5" name="Straight Arrow Connector 4"/>
          <p:cNvCxnSpPr>
            <a:stCxn id="24" idx="4"/>
          </p:cNvCxnSpPr>
          <p:nvPr/>
        </p:nvCxnSpPr>
        <p:spPr>
          <a:xfrm>
            <a:off x="3219173" y="3222658"/>
            <a:ext cx="1" cy="4711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855943" y="3683110"/>
            <a:ext cx="725457" cy="6614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>
            <a:stCxn id="24" idx="6"/>
            <a:endCxn id="26" idx="2"/>
          </p:cNvCxnSpPr>
          <p:nvPr/>
        </p:nvCxnSpPr>
        <p:spPr>
          <a:xfrm>
            <a:off x="3504923" y="2927125"/>
            <a:ext cx="1452370" cy="1279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3447360" y="3074685"/>
            <a:ext cx="1567495" cy="44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6972" y="4331256"/>
            <a:ext cx="1027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Final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656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a typeface="Times New Roman" panose="02020603050405020304" pitchFamily="18" charset="0"/>
              </a:rPr>
              <a:t>Transition Diagrams for Predictive </a:t>
            </a:r>
            <a:r>
              <a:rPr lang="en-US" sz="2800" b="1" dirty="0" smtClean="0">
                <a:ea typeface="Times New Roman" panose="02020603050405020304" pitchFamily="18" charset="0"/>
              </a:rPr>
              <a:t>Parsers</a:t>
            </a:r>
            <a:endParaRPr lang="en-US" sz="2800" dirty="0"/>
          </a:p>
        </p:txBody>
      </p:sp>
      <p:sp>
        <p:nvSpPr>
          <p:cNvPr id="43" name="TextBox 42"/>
          <p:cNvSpPr txBox="1"/>
          <p:nvPr/>
        </p:nvSpPr>
        <p:spPr>
          <a:xfrm>
            <a:off x="484496" y="1521593"/>
            <a:ext cx="8430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Accordingly, we optimize the other structures to produce the following DFA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981200" y="2512193"/>
            <a:ext cx="4739039" cy="1703228"/>
            <a:chOff x="466727" y="4864119"/>
            <a:chExt cx="4739039" cy="1703228"/>
          </a:xfrm>
        </p:grpSpPr>
        <p:grpSp>
          <p:nvGrpSpPr>
            <p:cNvPr id="18" name="Group 17"/>
            <p:cNvGrpSpPr/>
            <p:nvPr/>
          </p:nvGrpSpPr>
          <p:grpSpPr>
            <a:xfrm>
              <a:off x="485138" y="4864119"/>
              <a:ext cx="4720628" cy="1703228"/>
              <a:chOff x="1522577" y="4761894"/>
              <a:chExt cx="4720628" cy="1703228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1522577" y="4761894"/>
                <a:ext cx="4720628" cy="837481"/>
                <a:chOff x="2057400" y="3704923"/>
                <a:chExt cx="4720628" cy="837481"/>
              </a:xfrm>
            </p:grpSpPr>
            <p:grpSp>
              <p:nvGrpSpPr>
                <p:cNvPr id="33" name="Group 32"/>
                <p:cNvGrpSpPr/>
                <p:nvPr/>
              </p:nvGrpSpPr>
              <p:grpSpPr>
                <a:xfrm>
                  <a:off x="2057400" y="3704923"/>
                  <a:ext cx="4720628" cy="837481"/>
                  <a:chOff x="863790" y="4437252"/>
                  <a:chExt cx="4720628" cy="837481"/>
                </a:xfrm>
              </p:grpSpPr>
              <p:cxnSp>
                <p:nvCxnSpPr>
                  <p:cNvPr id="35" name="Straight Arrow Connector 34"/>
                  <p:cNvCxnSpPr/>
                  <p:nvPr/>
                </p:nvCxnSpPr>
                <p:spPr>
                  <a:xfrm>
                    <a:off x="863790" y="4899882"/>
                    <a:ext cx="545910" cy="9099"/>
                  </a:xfrm>
                  <a:prstGeom prst="straightConnector1">
                    <a:avLst/>
                  </a:prstGeom>
                  <a:ln w="571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7" name="Oval 36"/>
                  <p:cNvSpPr/>
                  <p:nvPr/>
                </p:nvSpPr>
                <p:spPr>
                  <a:xfrm>
                    <a:off x="1409700" y="4582066"/>
                    <a:ext cx="571500" cy="59106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38" name="Straight Arrow Connector 37"/>
                  <p:cNvCxnSpPr/>
                  <p:nvPr/>
                </p:nvCxnSpPr>
                <p:spPr>
                  <a:xfrm>
                    <a:off x="2014182" y="4904431"/>
                    <a:ext cx="545910" cy="9099"/>
                  </a:xfrm>
                  <a:prstGeom prst="straightConnector1">
                    <a:avLst/>
                  </a:prstGeom>
                  <a:ln w="571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0" name="Oval 39"/>
                  <p:cNvSpPr/>
                  <p:nvPr/>
                </p:nvSpPr>
                <p:spPr>
                  <a:xfrm>
                    <a:off x="2583406" y="4604348"/>
                    <a:ext cx="571500" cy="59106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cxnSp>
                <p:nvCxnSpPr>
                  <p:cNvPr id="41" name="Straight Arrow Connector 40"/>
                  <p:cNvCxnSpPr/>
                  <p:nvPr/>
                </p:nvCxnSpPr>
                <p:spPr>
                  <a:xfrm>
                    <a:off x="3178220" y="4905879"/>
                    <a:ext cx="545910" cy="9099"/>
                  </a:xfrm>
                  <a:prstGeom prst="straightConnector1">
                    <a:avLst/>
                  </a:prstGeom>
                  <a:ln w="57150"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4" name="Oval 43"/>
                  <p:cNvSpPr/>
                  <p:nvPr/>
                </p:nvSpPr>
                <p:spPr>
                  <a:xfrm>
                    <a:off x="4935437" y="4614373"/>
                    <a:ext cx="571500" cy="59106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46" name="Oval 45"/>
                  <p:cNvSpPr/>
                  <p:nvPr/>
                </p:nvSpPr>
                <p:spPr>
                  <a:xfrm>
                    <a:off x="4857957" y="4545081"/>
                    <a:ext cx="726461" cy="729652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7" name="TextBox 46"/>
                  <p:cNvSpPr txBox="1"/>
                  <p:nvPr/>
                </p:nvSpPr>
                <p:spPr>
                  <a:xfrm>
                    <a:off x="3222500" y="4437252"/>
                    <a:ext cx="29626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dirty="0" smtClean="0">
                        <a:solidFill>
                          <a:srgbClr val="00B050"/>
                        </a:solidFill>
                      </a:rPr>
                      <a:t>E</a:t>
                    </a:r>
                    <a:endParaRPr lang="en-US" dirty="0">
                      <a:solidFill>
                        <a:srgbClr val="00B050"/>
                      </a:solidFill>
                    </a:endParaRPr>
                  </a:p>
                </p:txBody>
              </p:sp>
            </p:grpSp>
            <p:sp>
              <p:nvSpPr>
                <p:cNvPr id="34" name="TextBox 33"/>
                <p:cNvSpPr txBox="1"/>
                <p:nvPr/>
              </p:nvSpPr>
              <p:spPr>
                <a:xfrm>
                  <a:off x="3245063" y="3802770"/>
                  <a:ext cx="40090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>
                      <a:solidFill>
                        <a:srgbClr val="00B050"/>
                      </a:solidFill>
                    </a:rPr>
                    <a:t>(</a:t>
                  </a:r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</p:grpSp>
          <p:sp>
            <p:nvSpPr>
              <p:cNvPr id="23" name="Oval 22"/>
              <p:cNvSpPr/>
              <p:nvPr/>
            </p:nvSpPr>
            <p:spPr>
              <a:xfrm>
                <a:off x="4374597" y="4904660"/>
                <a:ext cx="571500" cy="59106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5" name="Straight Arrow Connector 24"/>
              <p:cNvCxnSpPr/>
              <p:nvPr/>
            </p:nvCxnSpPr>
            <p:spPr>
              <a:xfrm>
                <a:off x="4957897" y="5224944"/>
                <a:ext cx="545910" cy="909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Bent-Up Arrow 26"/>
              <p:cNvSpPr/>
              <p:nvPr/>
            </p:nvSpPr>
            <p:spPr>
              <a:xfrm>
                <a:off x="1984466" y="5638860"/>
                <a:ext cx="3981383" cy="522793"/>
              </a:xfrm>
              <a:prstGeom prst="bentUpArrow">
                <a:avLst>
                  <a:gd name="adj1" fmla="val 23118"/>
                  <a:gd name="adj2" fmla="val 25000"/>
                  <a:gd name="adj3" fmla="val 2500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Connector 28"/>
              <p:cNvCxnSpPr>
                <a:endCxn id="27" idx="2"/>
              </p:cNvCxnSpPr>
              <p:nvPr/>
            </p:nvCxnSpPr>
            <p:spPr>
              <a:xfrm>
                <a:off x="1982407" y="5294581"/>
                <a:ext cx="2059" cy="806642"/>
              </a:xfrm>
              <a:prstGeom prst="line">
                <a:avLst/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/>
              <p:cNvSpPr txBox="1"/>
              <p:nvPr/>
            </p:nvSpPr>
            <p:spPr>
              <a:xfrm>
                <a:off x="3519484" y="6095790"/>
                <a:ext cx="5432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>
                    <a:solidFill>
                      <a:srgbClr val="00B050"/>
                    </a:solidFill>
                  </a:rPr>
                  <a:t> id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4014495" y="4906491"/>
              <a:ext cx="4296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rgbClr val="00B050"/>
                  </a:solidFill>
                </a:rPr>
                <a:t>)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66727" y="4952324"/>
              <a:ext cx="4296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rgbClr val="00B050"/>
                  </a:solidFill>
                </a:rPr>
                <a:t>F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7649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a typeface="Times New Roman" panose="02020603050405020304" pitchFamily="18" charset="0"/>
              </a:rPr>
              <a:t>Transition Diagrams for Predictive </a:t>
            </a:r>
            <a:r>
              <a:rPr lang="en-US" sz="2800" b="1" dirty="0" smtClean="0">
                <a:ea typeface="Times New Roman" panose="02020603050405020304" pitchFamily="18" charset="0"/>
              </a:rPr>
              <a:t>Parsers</a:t>
            </a: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491544" y="1676400"/>
            <a:ext cx="64008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>
                <a:solidFill>
                  <a:srgbClr val="273239"/>
                </a:solidFill>
                <a:latin typeface="urw-din"/>
              </a:rPr>
              <a:t>STEP 3: </a:t>
            </a:r>
            <a:r>
              <a:rPr lang="en-US" dirty="0">
                <a:solidFill>
                  <a:srgbClr val="273239"/>
                </a:solidFill>
                <a:latin typeface="urw-din"/>
              </a:rPr>
              <a:t/>
            </a:r>
            <a:br>
              <a:rPr lang="en-US" dirty="0">
                <a:solidFill>
                  <a:srgbClr val="273239"/>
                </a:solidFill>
                <a:latin typeface="urw-din"/>
              </a:rPr>
            </a:br>
            <a:r>
              <a:rPr lang="en-US" dirty="0">
                <a:solidFill>
                  <a:srgbClr val="273239"/>
                </a:solidFill>
                <a:latin typeface="urw-din"/>
              </a:rPr>
              <a:t>Simulation on the input string.</a:t>
            </a:r>
            <a:br>
              <a:rPr lang="en-US" dirty="0">
                <a:solidFill>
                  <a:srgbClr val="273239"/>
                </a:solidFill>
                <a:latin typeface="urw-din"/>
              </a:rPr>
            </a:br>
            <a:r>
              <a:rPr lang="en-US" dirty="0">
                <a:solidFill>
                  <a:srgbClr val="273239"/>
                </a:solidFill>
                <a:latin typeface="urw-din"/>
              </a:rPr>
              <a:t>Steps involved in the simulation procedure are:</a:t>
            </a:r>
          </a:p>
          <a:p>
            <a:pPr fontAlgn="base">
              <a:buFont typeface="+mj-lt"/>
              <a:buAutoNum type="arabicPeriod"/>
            </a:pPr>
            <a:r>
              <a:rPr lang="en-US" dirty="0">
                <a:solidFill>
                  <a:srgbClr val="273239"/>
                </a:solidFill>
                <a:latin typeface="urw-din"/>
              </a:rPr>
              <a:t>Start from the starting state.</a:t>
            </a:r>
          </a:p>
          <a:p>
            <a:pPr fontAlgn="base">
              <a:buFont typeface="+mj-lt"/>
              <a:buAutoNum type="arabicPeriod"/>
            </a:pPr>
            <a:r>
              <a:rPr lang="en-US" dirty="0">
                <a:solidFill>
                  <a:srgbClr val="273239"/>
                </a:solidFill>
                <a:latin typeface="urw-din"/>
              </a:rPr>
              <a:t>If a terminal arrives consume it, move to the next state.</a:t>
            </a:r>
          </a:p>
          <a:p>
            <a:pPr fontAlgn="base">
              <a:buFont typeface="+mj-lt"/>
              <a:buAutoNum type="arabicPeriod"/>
            </a:pPr>
            <a:r>
              <a:rPr lang="en-US" dirty="0">
                <a:solidFill>
                  <a:srgbClr val="273239"/>
                </a:solidFill>
                <a:latin typeface="urw-din"/>
              </a:rPr>
              <a:t>If a non-terminal arrive go to the state of the DFA of the non-terminal and return on reached up to the final state.</a:t>
            </a:r>
          </a:p>
          <a:p>
            <a:pPr fontAlgn="base">
              <a:buFont typeface="+mj-lt"/>
              <a:buAutoNum type="arabicPeriod"/>
            </a:pPr>
            <a:r>
              <a:rPr lang="en-US" dirty="0">
                <a:solidFill>
                  <a:srgbClr val="273239"/>
                </a:solidFill>
                <a:latin typeface="urw-din"/>
              </a:rPr>
              <a:t>Return to actual DFA and Keep doing parsing.</a:t>
            </a:r>
          </a:p>
          <a:p>
            <a:pPr fontAlgn="base">
              <a:buFont typeface="+mj-lt"/>
              <a:buAutoNum type="arabicPeriod"/>
            </a:pPr>
            <a:r>
              <a:rPr lang="en-US" dirty="0">
                <a:solidFill>
                  <a:srgbClr val="273239"/>
                </a:solidFill>
                <a:latin typeface="urw-din"/>
              </a:rPr>
              <a:t>If one completes reading the input string completely, you reach a final state, and the string is successfully parsed.</a:t>
            </a:r>
          </a:p>
          <a:p>
            <a:r>
              <a:rPr lang="en-US" sz="1200" dirty="0">
                <a:solidFill>
                  <a:srgbClr val="273239"/>
                </a:solidFill>
                <a:latin typeface="urw-din"/>
              </a:rPr>
              <a:t/>
            </a:r>
            <a:br>
              <a:rPr lang="en-US" sz="1200" dirty="0">
                <a:solidFill>
                  <a:srgbClr val="273239"/>
                </a:solidFill>
                <a:latin typeface="urw-din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414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11345</TotalTime>
  <Words>3276</Words>
  <Application>Microsoft Office PowerPoint</Application>
  <PresentationFormat>On-screen Show (4:3)</PresentationFormat>
  <Paragraphs>893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6" baseType="lpstr">
      <vt:lpstr>Arial</vt:lpstr>
      <vt:lpstr>Calibri</vt:lpstr>
      <vt:lpstr>Consolas</vt:lpstr>
      <vt:lpstr>Times New Roman</vt:lpstr>
      <vt:lpstr>urw-din</vt:lpstr>
      <vt:lpstr>Verdana</vt:lpstr>
      <vt:lpstr>Verdana</vt:lpstr>
      <vt:lpstr>Wingdings</vt:lpstr>
      <vt:lpstr>Clarity</vt:lpstr>
      <vt:lpstr>Compiler construction</vt:lpstr>
      <vt:lpstr>Parsers</vt:lpstr>
      <vt:lpstr>Parsers</vt:lpstr>
      <vt:lpstr>Parsers</vt:lpstr>
      <vt:lpstr>Parsers</vt:lpstr>
      <vt:lpstr>Parsers</vt:lpstr>
      <vt:lpstr>Parsers</vt:lpstr>
      <vt:lpstr>Parsers</vt:lpstr>
      <vt:lpstr>Parsers</vt:lpstr>
      <vt:lpstr>Parsers</vt:lpstr>
      <vt:lpstr>Parsers</vt:lpstr>
      <vt:lpstr>Parsers</vt:lpstr>
      <vt:lpstr>Parsers</vt:lpstr>
      <vt:lpstr>Parsers</vt:lpstr>
      <vt:lpstr>Parsers</vt:lpstr>
      <vt:lpstr>Parsers</vt:lpstr>
      <vt:lpstr>Parsers</vt:lpstr>
      <vt:lpstr>Parsers</vt:lpstr>
      <vt:lpstr>Parsers</vt:lpstr>
      <vt:lpstr>Parsers</vt:lpstr>
      <vt:lpstr>Parsers</vt:lpstr>
      <vt:lpstr>Parsers</vt:lpstr>
      <vt:lpstr>Parsers</vt:lpstr>
      <vt:lpstr>Parsers</vt:lpstr>
      <vt:lpstr>Parsers</vt:lpstr>
      <vt:lpstr>LL(1) or Table Driver or Predictive Parser </vt:lpstr>
      <vt:lpstr>LL(1) or Table Driver or Predictive Parser </vt:lpstr>
      <vt:lpstr>LL(1) or Table Driver or Predictive Parser </vt:lpstr>
      <vt:lpstr>LL(1) or Table Driver or Predictive Parser </vt:lpstr>
      <vt:lpstr>LL(1) or Table Driver or Predictive Parser </vt:lpstr>
      <vt:lpstr>LL(1) or Table Driver or Predictive Parser </vt:lpstr>
      <vt:lpstr>LL(1) or Table Driver or Predictive Parser </vt:lpstr>
      <vt:lpstr>LL(1) or Table Driver or Predictive Parser </vt:lpstr>
      <vt:lpstr>LL(1) or Table Driver or Predictive Parser </vt:lpstr>
      <vt:lpstr>LL(1) or Table Driver or Predictive Parser functionality </vt:lpstr>
      <vt:lpstr>LL(1) or Table Driver or Predictive Parser functionality </vt:lpstr>
      <vt:lpstr>LL(1) or Table Driver or Predictive Parser functionality </vt:lpstr>
      <vt:lpstr>LL(1) or Table Driver or Predictive Parser functionality </vt:lpstr>
      <vt:lpstr>LL(1) or Table Driver or Predictive Parser functionality </vt:lpstr>
      <vt:lpstr>LL(1) or Table Driver or Predictive Parser functionality </vt:lpstr>
      <vt:lpstr>LL(1) or Table Driver or Predictive Parser functionality </vt:lpstr>
      <vt:lpstr>LL(1) or Table Driver or Predictive Parser functionality </vt:lpstr>
      <vt:lpstr>LL(1) or Table Driver or Predictive Parser functionality </vt:lpstr>
      <vt:lpstr>LL(1) or Table Driver or Predictive Parser functionality </vt:lpstr>
      <vt:lpstr>LL(1) or Table Driver or Predictive Parser functionality </vt:lpstr>
      <vt:lpstr>LL(1) or Table Driver or Predictive Parser functionality </vt:lpstr>
      <vt:lpstr>LL(1) or Table Driver or Predictive Parser </vt:lpstr>
      <vt:lpstr>Transition Diagrams for Predictive Parsers</vt:lpstr>
      <vt:lpstr>Transition Diagrams for Predictive Parsers</vt:lpstr>
      <vt:lpstr>Transition Diagrams for Predictive Parsers</vt:lpstr>
      <vt:lpstr>Transition Diagrams for Predictive Parsers</vt:lpstr>
      <vt:lpstr>Transition Diagrams for Predictive Parsers</vt:lpstr>
      <vt:lpstr>Transition Diagrams for Predictive Parsers</vt:lpstr>
      <vt:lpstr>Transition Diagrams for Predictive Parsers</vt:lpstr>
      <vt:lpstr>Transition Diagrams for Predictive Parsers</vt:lpstr>
      <vt:lpstr>Transition Diagrams for Predictive Parsers</vt:lpstr>
      <vt:lpstr>Transition Diagrams for Predictive Parsers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</dc:title>
  <dc:creator>Anam</dc:creator>
  <cp:lastModifiedBy>Hp</cp:lastModifiedBy>
  <cp:revision>684</cp:revision>
  <dcterms:created xsi:type="dcterms:W3CDTF">2017-08-14T18:02:58Z</dcterms:created>
  <dcterms:modified xsi:type="dcterms:W3CDTF">2025-01-09T09:52:48Z</dcterms:modified>
</cp:coreProperties>
</file>