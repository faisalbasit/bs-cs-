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7" r:id="rId11"/>
    <p:sldId id="268" r:id="rId12"/>
    <p:sldId id="265" r:id="rId13"/>
    <p:sldId id="269" r:id="rId14"/>
    <p:sldId id="266" r:id="rId15"/>
    <p:sldId id="270" r:id="rId16"/>
    <p:sldId id="271" r:id="rId17"/>
    <p:sldId id="272" r:id="rId18"/>
    <p:sldId id="275" r:id="rId19"/>
    <p:sldId id="276" r:id="rId20"/>
    <p:sldId id="277" r:id="rId21"/>
    <p:sldId id="278" r:id="rId22"/>
    <p:sldId id="279" r:id="rId23"/>
    <p:sldId id="280" r:id="rId24"/>
    <p:sldId id="281" r:id="rId25"/>
    <p:sldId id="282" r:id="rId26"/>
    <p:sldId id="286" r:id="rId27"/>
    <p:sldId id="283" r:id="rId28"/>
    <p:sldId id="287" r:id="rId29"/>
    <p:sldId id="288" r:id="rId30"/>
    <p:sldId id="290" r:id="rId31"/>
    <p:sldId id="291" r:id="rId32"/>
    <p:sldId id="293" r:id="rId33"/>
    <p:sldId id="296" r:id="rId34"/>
    <p:sldId id="295" r:id="rId35"/>
    <p:sldId id="298" r:id="rId36"/>
    <p:sldId id="284" r:id="rId37"/>
    <p:sldId id="299" r:id="rId38"/>
    <p:sldId id="301" r:id="rId39"/>
    <p:sldId id="302" r:id="rId40"/>
    <p:sldId id="285" r:id="rId41"/>
    <p:sldId id="303" r:id="rId42"/>
    <p:sldId id="304"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6840E6-63E0-4CEC-BC76-FED26B1D4146}" type="datetimeFigureOut">
              <a:rPr lang="en-GB" smtClean="0"/>
              <a:t>07/11/2022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946D9B-6D56-4AB2-9315-1D77B191C6B6}" type="slidenum">
              <a:rPr lang="en-GB" smtClean="0"/>
              <a:t>‹#›</a:t>
            </a:fld>
            <a:endParaRPr lang="en-GB"/>
          </a:p>
        </p:txBody>
      </p:sp>
    </p:spTree>
    <p:extLst>
      <p:ext uri="{BB962C8B-B14F-4D97-AF65-F5344CB8AC3E}">
        <p14:creationId xmlns:p14="http://schemas.microsoft.com/office/powerpoint/2010/main" val="2756822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76EC86-51C7-463A-B008-6115FA55730B}" type="datetimeFigureOut">
              <a:rPr lang="en-GB" smtClean="0"/>
              <a:t>07/11/2022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76EC86-51C7-463A-B008-6115FA55730B}" type="datetimeFigureOut">
              <a:rPr lang="en-GB" smtClean="0"/>
              <a:t>07/11/2022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76EC86-51C7-463A-B008-6115FA55730B}" type="datetimeFigureOut">
              <a:rPr lang="en-GB" smtClean="0"/>
              <a:t>07/11/2022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76EC86-51C7-463A-B008-6115FA55730B}" type="datetimeFigureOut">
              <a:rPr lang="en-GB" smtClean="0"/>
              <a:t>07/11/2022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76EC86-51C7-463A-B008-6115FA55730B}" type="datetimeFigureOut">
              <a:rPr lang="en-GB" smtClean="0"/>
              <a:t>07/11/2022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1D14BF4-1C11-440E-8ADF-9306F6C6CB95}" type="slidenum">
              <a:rPr lang="en-GB" smtClean="0"/>
              <a:t>‹#›</a:t>
            </a:fld>
            <a:endParaRPr lang="en-GB"/>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76EC86-51C7-463A-B008-6115FA55730B}" type="datetimeFigureOut">
              <a:rPr lang="en-GB" smtClean="0"/>
              <a:t>07/11/2022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76EC86-51C7-463A-B008-6115FA55730B}" type="datetimeFigureOut">
              <a:rPr lang="en-GB" smtClean="0"/>
              <a:t>07/11/2022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76EC86-51C7-463A-B008-6115FA55730B}" type="datetimeFigureOut">
              <a:rPr lang="en-GB" smtClean="0"/>
              <a:t>07/11/2022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D14BF4-1C11-440E-8ADF-9306F6C6CB95}" type="slidenum">
              <a:rPr lang="en-GB" smtClean="0"/>
              <a:t>‹#›</a:t>
            </a:fld>
            <a:endParaRPr lang="en-GB"/>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76EC86-51C7-463A-B008-6115FA55730B}" type="datetimeFigureOut">
              <a:rPr lang="en-GB" smtClean="0"/>
              <a:t>07/11/2022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76EC86-51C7-463A-B008-6115FA55730B}" type="datetimeFigureOut">
              <a:rPr lang="en-GB" smtClean="0"/>
              <a:t>07/11/2022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76EC86-51C7-463A-B008-6115FA55730B}" type="datetimeFigureOut">
              <a:rPr lang="en-GB" smtClean="0"/>
              <a:t>07/11/2022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D14BF4-1C11-440E-8ADF-9306F6C6CB95}"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5B76EC86-51C7-463A-B008-6115FA55730B}" type="datetimeFigureOut">
              <a:rPr lang="en-GB" smtClean="0"/>
              <a:t>07/11/2022</a:t>
            </a:fld>
            <a:endParaRPr lang="en-GB"/>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GB"/>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D1D14BF4-1C11-440E-8ADF-9306F6C6CB95}"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85247"/>
            <a:ext cx="7848600" cy="1927225"/>
          </a:xfrm>
        </p:spPr>
        <p:txBody>
          <a:bodyPr/>
          <a:lstStyle/>
          <a:p>
            <a:r>
              <a:rPr lang="en-GB" sz="4400" dirty="0" smtClean="0"/>
              <a:t>Compiler construction</a:t>
            </a:r>
            <a:endParaRPr lang="en-GB" sz="4400" dirty="0"/>
          </a:p>
        </p:txBody>
      </p:sp>
      <p:sp>
        <p:nvSpPr>
          <p:cNvPr id="3" name="Subtitle 2"/>
          <p:cNvSpPr>
            <a:spLocks noGrp="1"/>
          </p:cNvSpPr>
          <p:nvPr>
            <p:ph type="subTitle" idx="1"/>
          </p:nvPr>
        </p:nvSpPr>
        <p:spPr/>
        <p:txBody>
          <a:bodyPr/>
          <a:lstStyle/>
          <a:p>
            <a:r>
              <a:rPr lang="en-GB" dirty="0" smtClean="0"/>
              <a:t>Cs-310</a:t>
            </a:r>
            <a:endParaRPr lang="en-US" dirty="0" smtClean="0"/>
          </a:p>
          <a:p>
            <a:r>
              <a:rPr lang="en-US" dirty="0" smtClean="0"/>
              <a:t>Dr. Anam Akbar</a:t>
            </a:r>
            <a:endParaRPr lang="en-GB" dirty="0"/>
          </a:p>
        </p:txBody>
      </p:sp>
      <p:pic>
        <p:nvPicPr>
          <p:cNvPr id="4" name="Picture 3">
            <a:extLst>
              <a:ext uri="{FF2B5EF4-FFF2-40B4-BE49-F238E27FC236}">
                <a16:creationId xmlns="" xmlns:a16="http://schemas.microsoft.com/office/drawing/2014/main" id="{E7B2B36E-8BDA-4B95-AFC9-7BEEDE66F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5369" y="377634"/>
            <a:ext cx="1289461" cy="1289461"/>
          </a:xfrm>
          <a:prstGeom prst="rect">
            <a:avLst/>
          </a:prstGeom>
        </p:spPr>
      </p:pic>
      <p:sp>
        <p:nvSpPr>
          <p:cNvPr id="5" name="TextBox 4">
            <a:extLst>
              <a:ext uri="{FF2B5EF4-FFF2-40B4-BE49-F238E27FC236}">
                <a16:creationId xmlns="" xmlns:a16="http://schemas.microsoft.com/office/drawing/2014/main" id="{99D8964A-8303-45DF-99A6-7A9E5BD07E42}"/>
              </a:ext>
            </a:extLst>
          </p:cNvPr>
          <p:cNvSpPr txBox="1"/>
          <p:nvPr/>
        </p:nvSpPr>
        <p:spPr>
          <a:xfrm>
            <a:off x="1439441" y="0"/>
            <a:ext cx="7397339" cy="400110"/>
          </a:xfrm>
          <a:prstGeom prst="rect">
            <a:avLst/>
          </a:prstGeom>
          <a:noFill/>
        </p:spPr>
        <p:txBody>
          <a:bodyPr wrap="square" rtlCol="0">
            <a:spAutoFit/>
          </a:bodyPr>
          <a:lstStyle/>
          <a:p>
            <a:r>
              <a:rPr lang="en-US" sz="2000" dirty="0"/>
              <a:t>Sir Syed University of Engineering &amp; Technology, Karachi</a:t>
            </a:r>
            <a:endParaRPr lang="en-US" sz="1485" dirty="0"/>
          </a:p>
        </p:txBody>
      </p:sp>
      <p:sp>
        <p:nvSpPr>
          <p:cNvPr id="6" name="TextBox 5">
            <a:extLst>
              <a:ext uri="{FF2B5EF4-FFF2-40B4-BE49-F238E27FC236}">
                <a16:creationId xmlns="" xmlns:a16="http://schemas.microsoft.com/office/drawing/2014/main" id="{B10EEC16-E972-4610-A1BD-5ADD6C19E1D8}"/>
              </a:ext>
            </a:extLst>
          </p:cNvPr>
          <p:cNvSpPr txBox="1"/>
          <p:nvPr/>
        </p:nvSpPr>
        <p:spPr>
          <a:xfrm>
            <a:off x="2209800" y="1667095"/>
            <a:ext cx="5122743" cy="369332"/>
          </a:xfrm>
          <a:prstGeom prst="rect">
            <a:avLst/>
          </a:prstGeom>
          <a:noFill/>
        </p:spPr>
        <p:txBody>
          <a:bodyPr wrap="square" rtlCol="0">
            <a:spAutoFit/>
          </a:bodyPr>
          <a:lstStyle/>
          <a:p>
            <a:pPr algn="ctr"/>
            <a:r>
              <a:rPr lang="en-US" dirty="0"/>
              <a:t>Department of Computer Science</a:t>
            </a:r>
            <a:r>
              <a:rPr lang="en-US" sz="1485" dirty="0"/>
              <a:t> </a:t>
            </a:r>
          </a:p>
        </p:txBody>
      </p:sp>
    </p:spTree>
    <p:extLst>
      <p:ext uri="{BB962C8B-B14F-4D97-AF65-F5344CB8AC3E}">
        <p14:creationId xmlns:p14="http://schemas.microsoft.com/office/powerpoint/2010/main" val="35003649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r>
              <a:rPr lang="en-US" sz="1800" dirty="0"/>
              <a:t>If we generate machine code directly from source code </a:t>
            </a:r>
            <a:r>
              <a:rPr lang="en-US" sz="1800" dirty="0" smtClean="0"/>
              <a:t>then. </a:t>
            </a:r>
            <a:r>
              <a:rPr lang="en-US" sz="1800" dirty="0"/>
              <a:t>for n target machine we will have optimizers and n code </a:t>
            </a:r>
            <a:r>
              <a:rPr lang="en-US" sz="1800" dirty="0" smtClean="0"/>
              <a:t>generator</a:t>
            </a:r>
          </a:p>
          <a:p>
            <a:pPr marL="0" indent="0">
              <a:buNone/>
            </a:pPr>
            <a:r>
              <a:rPr lang="en-US" sz="1800" dirty="0" smtClean="0"/>
              <a:t> </a:t>
            </a:r>
          </a:p>
          <a:p>
            <a:endParaRPr lang="en-US" sz="1800" dirty="0"/>
          </a:p>
          <a:p>
            <a:r>
              <a:rPr lang="en-US" sz="1800" dirty="0" smtClean="0"/>
              <a:t>but </a:t>
            </a:r>
            <a:r>
              <a:rPr lang="en-US" sz="1800" dirty="0"/>
              <a:t>if we will have a machine-independent intermediate code, we will have only one optimizer. Intermediate code can be either language-specific (e.g., Bytecode for Java) or </a:t>
            </a:r>
            <a:r>
              <a:rPr lang="en-US" sz="1800" dirty="0" smtClean="0"/>
              <a:t>language </a:t>
            </a:r>
            <a:r>
              <a:rPr lang="en-US" sz="1800" dirty="0"/>
              <a:t>independent (three-address code). </a:t>
            </a:r>
            <a:endParaRPr lang="en-US" sz="1800" dirty="0" smtClean="0"/>
          </a:p>
          <a:p>
            <a:endParaRPr lang="en-US" sz="1800" dirty="0"/>
          </a:p>
          <a:p>
            <a:r>
              <a:rPr lang="en-US" sz="1800" dirty="0" smtClean="0"/>
              <a:t>The </a:t>
            </a:r>
            <a:r>
              <a:rPr lang="en-US" sz="1800" dirty="0"/>
              <a:t>following are </a:t>
            </a:r>
            <a:r>
              <a:rPr lang="en-US" sz="1800" b="1" dirty="0"/>
              <a:t>commonly used intermediate code representations</a:t>
            </a:r>
            <a:r>
              <a:rPr lang="en-US" sz="1800" b="1" dirty="0" smtClean="0"/>
              <a:t>:</a:t>
            </a:r>
          </a:p>
          <a:p>
            <a:endParaRPr lang="en-GB" sz="1800" dirty="0"/>
          </a:p>
          <a:p>
            <a:r>
              <a:rPr lang="en-US" sz="1800" b="1" dirty="0"/>
              <a:t>Postfix </a:t>
            </a:r>
            <a:r>
              <a:rPr lang="en-US" sz="1800" b="1" dirty="0" smtClean="0"/>
              <a:t>Notation</a:t>
            </a:r>
          </a:p>
          <a:p>
            <a:r>
              <a:rPr lang="en-US" sz="1800" b="1" dirty="0"/>
              <a:t>Three-Address </a:t>
            </a:r>
            <a:r>
              <a:rPr lang="en-US" sz="1800" b="1" dirty="0" smtClean="0"/>
              <a:t>Code</a:t>
            </a:r>
            <a:endParaRPr lang="en-US" sz="1800" b="1" dirty="0"/>
          </a:p>
          <a:p>
            <a:r>
              <a:rPr lang="en-US" sz="1800" b="1"/>
              <a:t>Syntax </a:t>
            </a:r>
            <a:r>
              <a:rPr lang="en-US" sz="1800" b="1" smtClean="0"/>
              <a:t>Tree</a:t>
            </a:r>
            <a:endParaRPr lang="en-US" sz="1800" dirty="0"/>
          </a:p>
        </p:txBody>
      </p:sp>
    </p:spTree>
    <p:extLst>
      <p:ext uri="{BB962C8B-B14F-4D97-AF65-F5344CB8AC3E}">
        <p14:creationId xmlns:p14="http://schemas.microsoft.com/office/powerpoint/2010/main" val="4133823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r>
              <a:rPr lang="en-US" sz="1800" b="1" dirty="0" smtClean="0"/>
              <a:t>Postfix Notation</a:t>
            </a:r>
            <a:endParaRPr lang="en-US" sz="1800" b="1" dirty="0"/>
          </a:p>
          <a:p>
            <a:endParaRPr lang="en-GB" sz="1800" b="1" dirty="0" smtClean="0"/>
          </a:p>
          <a:p>
            <a:r>
              <a:rPr lang="en-US" sz="1800" dirty="0"/>
              <a:t>Also known as reverse </a:t>
            </a:r>
            <a:r>
              <a:rPr lang="en-US" sz="1800" b="1" dirty="0" smtClean="0"/>
              <a:t>Polish notation or suffix notation</a:t>
            </a:r>
            <a:r>
              <a:rPr lang="en-US" sz="1800" dirty="0" smtClean="0"/>
              <a:t>. </a:t>
            </a:r>
          </a:p>
          <a:p>
            <a:r>
              <a:rPr lang="en-US" sz="1800" dirty="0" smtClean="0"/>
              <a:t>Places </a:t>
            </a:r>
            <a:r>
              <a:rPr lang="en-US" sz="1800" dirty="0"/>
              <a:t>the operator at the right end as ab +. </a:t>
            </a:r>
            <a:endParaRPr lang="en-US" sz="1800" dirty="0" smtClean="0"/>
          </a:p>
          <a:p>
            <a:r>
              <a:rPr lang="en-US" sz="1800" dirty="0" smtClean="0"/>
              <a:t>No </a:t>
            </a:r>
            <a:r>
              <a:rPr lang="en-US" sz="1800" dirty="0"/>
              <a:t>parentheses are needed in postfix notation because the position and arity (number of arguments) of the operators permit only one way to decode a postfix expression. In postfix notation, the operator follows the operand. </a:t>
            </a:r>
            <a:br>
              <a:rPr lang="en-US" sz="1800" dirty="0"/>
            </a:br>
            <a:endParaRPr lang="en-US" sz="1800" dirty="0" smtClean="0"/>
          </a:p>
          <a:p>
            <a:r>
              <a:rPr lang="en-US" sz="1800" b="1" dirty="0" smtClean="0"/>
              <a:t>Example </a:t>
            </a:r>
            <a:r>
              <a:rPr lang="en-US" sz="1800" b="1" dirty="0"/>
              <a:t>1:</a:t>
            </a:r>
            <a:r>
              <a:rPr lang="en-US" sz="1800" dirty="0"/>
              <a:t> The postfix representation of the expression (a + b) * c is : ab + c *</a:t>
            </a:r>
            <a:br>
              <a:rPr lang="en-US" sz="1800" dirty="0"/>
            </a:br>
            <a:r>
              <a:rPr lang="en-US" sz="1800" b="1" dirty="0"/>
              <a:t>Example 2: </a:t>
            </a:r>
            <a:r>
              <a:rPr lang="en-US" sz="1800" dirty="0"/>
              <a:t>The postfix representation of the expression (a – b) * (c + d) + (a – b) is :   ab – cd + *ab -+</a:t>
            </a:r>
            <a:endParaRPr lang="en-US" sz="1800" b="1" dirty="0" smtClean="0"/>
          </a:p>
        </p:txBody>
      </p:sp>
    </p:spTree>
    <p:extLst>
      <p:ext uri="{BB962C8B-B14F-4D97-AF65-F5344CB8AC3E}">
        <p14:creationId xmlns:p14="http://schemas.microsoft.com/office/powerpoint/2010/main" val="1713863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r>
              <a:rPr lang="en-GB" sz="1800" b="1" dirty="0" smtClean="0"/>
              <a:t>Why Postfix?</a:t>
            </a:r>
          </a:p>
          <a:p>
            <a:endParaRPr lang="en-GB" sz="1800" b="1" dirty="0"/>
          </a:p>
          <a:p>
            <a:r>
              <a:rPr lang="en-US" sz="1600" b="1" dirty="0"/>
              <a:t>Because Postfix operators use values to their left, any values involving computations will already have been calculated as we go left-to-right</a:t>
            </a:r>
            <a:r>
              <a:rPr lang="en-US" sz="1600" dirty="0"/>
              <a:t>, and so the order of evaluation of the operators is not disrupted in the same way as in Prefix expressions</a:t>
            </a:r>
            <a:r>
              <a:rPr lang="en-US" sz="1600" dirty="0" smtClean="0"/>
              <a:t>.</a:t>
            </a:r>
          </a:p>
          <a:p>
            <a:pPr marL="0" indent="0">
              <a:buNone/>
            </a:pPr>
            <a:r>
              <a:rPr lang="en-GB" sz="1800" b="1" dirty="0" smtClean="0"/>
              <a:t>Benefits:</a:t>
            </a:r>
          </a:p>
          <a:p>
            <a:endParaRPr lang="en-GB" sz="1800" b="1" dirty="0" smtClean="0"/>
          </a:p>
        </p:txBody>
      </p:sp>
      <p:sp>
        <p:nvSpPr>
          <p:cNvPr id="4" name="Rectangle 1"/>
          <p:cNvSpPr>
            <a:spLocks noChangeArrowheads="1"/>
          </p:cNvSpPr>
          <p:nvPr/>
        </p:nvSpPr>
        <p:spPr bwMode="auto">
          <a:xfrm>
            <a:off x="457200" y="3752433"/>
            <a:ext cx="838427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Arial Unicode MS" panose="020B0604020202020204" pitchFamily="34" charset="-128"/>
              </a:rPr>
              <a:t>Postfix has a number of advantages over infix for expressing algebraic formulas.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Arial Unicode MS" panose="020B0604020202020204" pitchFamily="34" charset="-128"/>
              </a:rPr>
              <a:t>-</a:t>
            </a:r>
            <a:r>
              <a:rPr kumimoji="0" lang="en-US" altLang="en-US" sz="1600" b="0" i="0" u="none" strike="noStrike" cap="none" normalizeH="0" baseline="0" dirty="0" smtClean="0">
                <a:ln>
                  <a:noFill/>
                </a:ln>
                <a:solidFill>
                  <a:srgbClr val="000000"/>
                </a:solidFill>
                <a:effectLst/>
                <a:latin typeface="Arial Unicode MS" panose="020B0604020202020204" pitchFamily="34" charset="-128"/>
              </a:rPr>
              <a:t>First, any formula can be expressed without parenthesis.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rgbClr val="000000"/>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Arial Unicode MS" panose="020B0604020202020204" pitchFamily="34" charset="-128"/>
              </a:rPr>
              <a:t>-Second, it is very convenient for evaluating formulas on computers with stacks.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rgbClr val="000000"/>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Arial Unicode MS" panose="020B0604020202020204" pitchFamily="34" charset="-128"/>
              </a:rPr>
              <a:t>Third, infix operators have precedence.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rgbClr val="000000"/>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Arial Unicode MS" panose="020B0604020202020204" pitchFamily="34" charset="-128"/>
              </a:rPr>
              <a:t>For example, we know that a * b + c means (a * b) + c and not a * (b + 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000000"/>
                </a:solidFill>
                <a:effectLst/>
                <a:latin typeface="Arial Unicode MS" panose="020B0604020202020204" pitchFamily="34" charset="-128"/>
              </a:rPr>
              <a:t>because multiplication has been defined to have precedence over addition. Postfix eliminates this nuisance.</a:t>
            </a:r>
            <a:r>
              <a:rPr kumimoji="0" lang="en-US" altLang="en-US" sz="1600" b="0" i="0" u="none" strike="noStrike" cap="none" normalizeH="0" baseline="0" dirty="0" smtClean="0">
                <a:ln>
                  <a:noFill/>
                </a:ln>
                <a:solidFill>
                  <a:schemeClr val="tx1"/>
                </a:solidFill>
                <a:effectLst/>
              </a:rPr>
              <a:t> </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692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6" name="Rectangle 5"/>
          <p:cNvSpPr/>
          <p:nvPr/>
        </p:nvSpPr>
        <p:spPr>
          <a:xfrm>
            <a:off x="533400" y="1525172"/>
            <a:ext cx="7620000" cy="369332"/>
          </a:xfrm>
          <a:prstGeom prst="rect">
            <a:avLst/>
          </a:prstGeom>
        </p:spPr>
        <p:txBody>
          <a:bodyPr wrap="square">
            <a:spAutoFit/>
          </a:bodyPr>
          <a:lstStyle/>
          <a:p>
            <a:r>
              <a:rPr lang="en-US" altLang="en-US" dirty="0">
                <a:solidFill>
                  <a:srgbClr val="000000"/>
                </a:solidFill>
                <a:latin typeface="Arial Unicode MS" panose="020B0604020202020204" pitchFamily="34" charset="-128"/>
              </a:rPr>
              <a:t>One evaluates the postfix expression by the following algorithm:</a:t>
            </a:r>
            <a:endParaRPr lang="en-US" dirty="0"/>
          </a:p>
        </p:txBody>
      </p:sp>
      <p:sp>
        <p:nvSpPr>
          <p:cNvPr id="7" name="Rectangle 6"/>
          <p:cNvSpPr/>
          <p:nvPr/>
        </p:nvSpPr>
        <p:spPr>
          <a:xfrm>
            <a:off x="457200" y="2073413"/>
            <a:ext cx="7848600" cy="369332"/>
          </a:xfrm>
          <a:prstGeom prst="rect">
            <a:avLst/>
          </a:prstGeom>
        </p:spPr>
        <p:txBody>
          <a:bodyPr wrap="square">
            <a:spAutoFit/>
          </a:bodyPr>
          <a:lstStyle/>
          <a:p>
            <a:r>
              <a:rPr lang="en-US" altLang="en-US" dirty="0">
                <a:solidFill>
                  <a:srgbClr val="000000"/>
                </a:solidFill>
                <a:latin typeface="Arial Unicode MS" panose="020B0604020202020204" pitchFamily="34" charset="-128"/>
              </a:rPr>
              <a:t>1. Look at the next symbol. If it is a variable, push its value onto the stack. </a:t>
            </a:r>
            <a:endParaRPr lang="en-US" dirty="0"/>
          </a:p>
        </p:txBody>
      </p:sp>
      <p:sp>
        <p:nvSpPr>
          <p:cNvPr id="8" name="Rectangle 7"/>
          <p:cNvSpPr/>
          <p:nvPr/>
        </p:nvSpPr>
        <p:spPr>
          <a:xfrm>
            <a:off x="527538" y="2630269"/>
            <a:ext cx="7625862" cy="646331"/>
          </a:xfrm>
          <a:prstGeom prst="rect">
            <a:avLst/>
          </a:prstGeom>
        </p:spPr>
        <p:txBody>
          <a:bodyPr wrap="square">
            <a:spAutoFit/>
          </a:bodyPr>
          <a:lstStyle/>
          <a:p>
            <a:r>
              <a:rPr lang="en-US" altLang="en-US" dirty="0">
                <a:solidFill>
                  <a:srgbClr val="000000"/>
                </a:solidFill>
                <a:latin typeface="Arial Unicode MS" panose="020B0604020202020204" pitchFamily="34" charset="-128"/>
              </a:rPr>
              <a:t>2. If the next symbol is an operator, pop the top two items off of the stack, perform the operator on the two symbols, by </a:t>
            </a:r>
            <a:r>
              <a:rPr lang="en-US" altLang="en-US" dirty="0" err="1" smtClean="0">
                <a:solidFill>
                  <a:srgbClr val="000000"/>
                </a:solidFill>
                <a:latin typeface="Arial Unicode MS" panose="020B0604020202020204" pitchFamily="34" charset="-128"/>
              </a:rPr>
              <a:t>next_to_last</a:t>
            </a:r>
            <a:r>
              <a:rPr lang="en-US" altLang="en-US" dirty="0" smtClean="0">
                <a:solidFill>
                  <a:srgbClr val="000000"/>
                </a:solidFill>
                <a:latin typeface="Arial Unicode MS" panose="020B0604020202020204" pitchFamily="34" charset="-128"/>
              </a:rPr>
              <a:t> </a:t>
            </a:r>
            <a:r>
              <a:rPr lang="en-US" altLang="en-US" dirty="0">
                <a:solidFill>
                  <a:srgbClr val="000000"/>
                </a:solidFill>
                <a:latin typeface="Arial Unicode MS" panose="020B0604020202020204" pitchFamily="34" charset="-128"/>
              </a:rPr>
              <a:t>operator last. </a:t>
            </a:r>
            <a:endParaRPr lang="en-US" dirty="0"/>
          </a:p>
        </p:txBody>
      </p:sp>
      <p:sp>
        <p:nvSpPr>
          <p:cNvPr id="9" name="Rectangle 8"/>
          <p:cNvSpPr/>
          <p:nvPr/>
        </p:nvSpPr>
        <p:spPr>
          <a:xfrm>
            <a:off x="505264" y="3374583"/>
            <a:ext cx="4532010" cy="369332"/>
          </a:xfrm>
          <a:prstGeom prst="rect">
            <a:avLst/>
          </a:prstGeom>
        </p:spPr>
        <p:txBody>
          <a:bodyPr wrap="none">
            <a:spAutoFit/>
          </a:bodyPr>
          <a:lstStyle/>
          <a:p>
            <a:r>
              <a:rPr lang="en-US" altLang="en-US" dirty="0">
                <a:solidFill>
                  <a:srgbClr val="000000"/>
                </a:solidFill>
                <a:latin typeface="Arial Unicode MS" panose="020B0604020202020204" pitchFamily="34" charset="-128"/>
              </a:rPr>
              <a:t>3. If there is still symbols left, go to step 1. </a:t>
            </a:r>
            <a:endParaRPr lang="en-US" dirty="0"/>
          </a:p>
        </p:txBody>
      </p:sp>
      <p:sp>
        <p:nvSpPr>
          <p:cNvPr id="10" name="Rectangle 9"/>
          <p:cNvSpPr/>
          <p:nvPr/>
        </p:nvSpPr>
        <p:spPr>
          <a:xfrm>
            <a:off x="502788" y="3944797"/>
            <a:ext cx="8184012" cy="369332"/>
          </a:xfrm>
          <a:prstGeom prst="rect">
            <a:avLst/>
          </a:prstGeom>
        </p:spPr>
        <p:txBody>
          <a:bodyPr wrap="square">
            <a:spAutoFit/>
          </a:bodyPr>
          <a:lstStyle/>
          <a:p>
            <a:pPr lvl="0" eaLnBrk="0" fontAlgn="base" hangingPunct="0">
              <a:spcBef>
                <a:spcPct val="0"/>
              </a:spcBef>
              <a:spcAft>
                <a:spcPct val="0"/>
              </a:spcAft>
            </a:pPr>
            <a:r>
              <a:rPr lang="en-US" altLang="en-US" dirty="0">
                <a:solidFill>
                  <a:srgbClr val="000000"/>
                </a:solidFill>
                <a:latin typeface="Arial Unicode MS" panose="020B0604020202020204" pitchFamily="34" charset="-128"/>
              </a:rPr>
              <a:t>4. Terminate with the evaluation of the expression being at the top of the stack.</a:t>
            </a:r>
            <a:r>
              <a:rPr lang="en-US" altLang="en-US" sz="1400" dirty="0"/>
              <a:t> </a:t>
            </a:r>
            <a:endParaRPr lang="en-US" altLang="en-US" sz="4000" dirty="0">
              <a:latin typeface="Arial" panose="020B0604020202020204" pitchFamily="34" charset="0"/>
            </a:endParaRPr>
          </a:p>
        </p:txBody>
      </p:sp>
    </p:spTree>
    <p:extLst>
      <p:ext uri="{BB962C8B-B14F-4D97-AF65-F5344CB8AC3E}">
        <p14:creationId xmlns:p14="http://schemas.microsoft.com/office/powerpoint/2010/main" val="32933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4" name="Rectangle 3"/>
          <p:cNvSpPr/>
          <p:nvPr/>
        </p:nvSpPr>
        <p:spPr>
          <a:xfrm>
            <a:off x="457200" y="1295317"/>
            <a:ext cx="8229600" cy="646331"/>
          </a:xfrm>
          <a:prstGeom prst="rect">
            <a:avLst/>
          </a:prstGeom>
        </p:spPr>
        <p:txBody>
          <a:bodyPr wrap="square">
            <a:spAutoFit/>
          </a:bodyPr>
          <a:lstStyle/>
          <a:p>
            <a:pPr lvl="0" eaLnBrk="0" fontAlgn="base" hangingPunct="0">
              <a:spcBef>
                <a:spcPct val="0"/>
              </a:spcBef>
              <a:spcAft>
                <a:spcPct val="0"/>
              </a:spcAft>
            </a:pPr>
            <a:r>
              <a:rPr lang="en-US" altLang="en-US" dirty="0">
                <a:solidFill>
                  <a:srgbClr val="000000"/>
                </a:solidFill>
                <a:latin typeface="Arial Unicode MS" panose="020B0604020202020204" pitchFamily="34" charset="-128"/>
              </a:rPr>
              <a:t>Suppose we have the expression in infix of (A+B*C)/(D+E*B-F) where the values of A, B, C, D, E, and F are 8, 2, 5, 1, 3, and 4 respectively.</a:t>
            </a:r>
            <a:r>
              <a:rPr lang="en-US" altLang="en-US" sz="1400" dirty="0"/>
              <a:t> </a:t>
            </a:r>
            <a:endParaRPr lang="en-US" altLang="en-US" sz="4000" dirty="0">
              <a:latin typeface="Arial" panose="020B0604020202020204" pitchFamily="34" charset="0"/>
            </a:endParaRPr>
          </a:p>
        </p:txBody>
      </p:sp>
      <p:sp>
        <p:nvSpPr>
          <p:cNvPr id="16" name="Rectangle 15"/>
          <p:cNvSpPr/>
          <p:nvPr/>
        </p:nvSpPr>
        <p:spPr>
          <a:xfrm>
            <a:off x="459545" y="1901735"/>
            <a:ext cx="8068994" cy="369332"/>
          </a:xfrm>
          <a:prstGeom prst="rect">
            <a:avLst/>
          </a:prstGeom>
        </p:spPr>
        <p:txBody>
          <a:bodyPr wrap="square">
            <a:spAutoFit/>
          </a:bodyPr>
          <a:lstStyle/>
          <a:p>
            <a:pPr lvl="0" eaLnBrk="0" fontAlgn="base" hangingPunct="0">
              <a:spcBef>
                <a:spcPct val="0"/>
              </a:spcBef>
              <a:spcAft>
                <a:spcPct val="0"/>
              </a:spcAft>
            </a:pPr>
            <a:r>
              <a:rPr lang="en-US" altLang="en-US" dirty="0">
                <a:solidFill>
                  <a:srgbClr val="000000"/>
                </a:solidFill>
                <a:latin typeface="Arial Unicode MS" panose="020B0604020202020204" pitchFamily="34" charset="-128"/>
              </a:rPr>
              <a:t>The corresponding postfix expression for the infix formula is ABC*+DEB*+F-/</a:t>
            </a:r>
            <a:r>
              <a:rPr lang="en-US" altLang="en-US" sz="1400" dirty="0"/>
              <a:t> </a:t>
            </a:r>
            <a:endParaRPr lang="en-US" altLang="en-US" sz="4000" dirty="0">
              <a:latin typeface="Arial" panose="020B0604020202020204" pitchFamily="34" charset="0"/>
            </a:endParaRPr>
          </a:p>
        </p:txBody>
      </p:sp>
      <p:pic>
        <p:nvPicPr>
          <p:cNvPr id="21" name="Picture 20"/>
          <p:cNvPicPr>
            <a:picLocks noChangeAspect="1"/>
          </p:cNvPicPr>
          <p:nvPr/>
        </p:nvPicPr>
        <p:blipFill rotWithShape="1">
          <a:blip r:embed="rId2"/>
          <a:srcRect l="3895" t="4108" r="10389" b="5561"/>
          <a:stretch/>
        </p:blipFill>
        <p:spPr>
          <a:xfrm>
            <a:off x="1752600" y="2514600"/>
            <a:ext cx="5029200" cy="3352800"/>
          </a:xfrm>
          <a:prstGeom prst="rect">
            <a:avLst/>
          </a:prstGeom>
        </p:spPr>
      </p:pic>
    </p:spTree>
    <p:extLst>
      <p:ext uri="{BB962C8B-B14F-4D97-AF65-F5344CB8AC3E}">
        <p14:creationId xmlns:p14="http://schemas.microsoft.com/office/powerpoint/2010/main" val="3155855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pic>
        <p:nvPicPr>
          <p:cNvPr id="21" name="Picture 20"/>
          <p:cNvPicPr>
            <a:picLocks noChangeAspect="1"/>
          </p:cNvPicPr>
          <p:nvPr/>
        </p:nvPicPr>
        <p:blipFill rotWithShape="1">
          <a:blip r:embed="rId2"/>
          <a:srcRect l="3895" t="4108" r="10389" b="5561"/>
          <a:stretch/>
        </p:blipFill>
        <p:spPr>
          <a:xfrm>
            <a:off x="1371600" y="1295400"/>
            <a:ext cx="5029200" cy="3352800"/>
          </a:xfrm>
          <a:prstGeom prst="rect">
            <a:avLst/>
          </a:prstGeom>
        </p:spPr>
      </p:pic>
      <p:pic>
        <p:nvPicPr>
          <p:cNvPr id="6" name="Picture 5"/>
          <p:cNvPicPr>
            <a:picLocks noChangeAspect="1"/>
          </p:cNvPicPr>
          <p:nvPr/>
        </p:nvPicPr>
        <p:blipFill>
          <a:blip r:embed="rId3"/>
          <a:stretch>
            <a:fillRect/>
          </a:stretch>
        </p:blipFill>
        <p:spPr>
          <a:xfrm>
            <a:off x="1066800" y="4648200"/>
            <a:ext cx="6858000" cy="1905000"/>
          </a:xfrm>
          <a:prstGeom prst="rect">
            <a:avLst/>
          </a:prstGeom>
        </p:spPr>
      </p:pic>
    </p:spTree>
    <p:extLst>
      <p:ext uri="{BB962C8B-B14F-4D97-AF65-F5344CB8AC3E}">
        <p14:creationId xmlns:p14="http://schemas.microsoft.com/office/powerpoint/2010/main" val="1243550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0" indent="0">
              <a:buNone/>
            </a:pPr>
            <a:r>
              <a:rPr lang="en-US" sz="1800" b="1" dirty="0" smtClean="0"/>
              <a:t>Three-Address Code:</a:t>
            </a:r>
          </a:p>
          <a:p>
            <a:pPr marL="0" indent="0">
              <a:buNone/>
            </a:pPr>
            <a:r>
              <a:rPr lang="en-US" sz="1800" dirty="0" smtClean="0"/>
              <a:t>-can </a:t>
            </a:r>
            <a:r>
              <a:rPr lang="en-US" sz="1800" dirty="0"/>
              <a:t>be easily converted to machine code</a:t>
            </a:r>
            <a:r>
              <a:rPr lang="en-US" sz="1800" dirty="0" smtClean="0"/>
              <a:t>.</a:t>
            </a:r>
          </a:p>
          <a:p>
            <a:pPr marL="0" indent="0">
              <a:buNone/>
            </a:pPr>
            <a:r>
              <a:rPr lang="en-US" sz="1800" dirty="0" smtClean="0"/>
              <a:t>-It </a:t>
            </a:r>
            <a:r>
              <a:rPr lang="en-US" sz="1800" dirty="0"/>
              <a:t>makes use of at most three addresses and one operator to represent an expression and the value computed at each instruction is stored in temporary variable generated by compiler. </a:t>
            </a:r>
            <a:endParaRPr lang="en-US" sz="1800" dirty="0" smtClean="0"/>
          </a:p>
          <a:p>
            <a:pPr marL="0" indent="0">
              <a:buNone/>
            </a:pPr>
            <a:r>
              <a:rPr lang="en-US" sz="1800" dirty="0" smtClean="0"/>
              <a:t>-The </a:t>
            </a:r>
            <a:r>
              <a:rPr lang="en-US" sz="1800" dirty="0"/>
              <a:t>compiler decides the order of operation given by three address code</a:t>
            </a:r>
            <a:r>
              <a:rPr lang="en-US" sz="1800" dirty="0" smtClean="0"/>
              <a:t>.</a:t>
            </a:r>
          </a:p>
          <a:p>
            <a:pPr marL="0" indent="0">
              <a:buNone/>
            </a:pPr>
            <a:endParaRPr lang="en-GB" sz="1800" b="1" dirty="0"/>
          </a:p>
          <a:p>
            <a:pPr fontAlgn="base"/>
            <a:r>
              <a:rPr lang="en-US" sz="1800" b="1" dirty="0"/>
              <a:t>Implementation of Three Address Code </a:t>
            </a:r>
            <a:r>
              <a:rPr lang="en-US" sz="1800" b="1" dirty="0" smtClean="0"/>
              <a:t>:</a:t>
            </a:r>
            <a:r>
              <a:rPr lang="en-US" sz="1800" dirty="0"/>
              <a:t/>
            </a:r>
            <a:br>
              <a:rPr lang="en-US" sz="1800" dirty="0"/>
            </a:br>
            <a:r>
              <a:rPr lang="en-US" sz="1800" dirty="0"/>
              <a:t>There are 3 representations of three address code namely</a:t>
            </a:r>
          </a:p>
          <a:p>
            <a:pPr fontAlgn="base"/>
            <a:r>
              <a:rPr lang="en-US" sz="1800" dirty="0"/>
              <a:t>Quadruple</a:t>
            </a:r>
          </a:p>
          <a:p>
            <a:pPr fontAlgn="base"/>
            <a:r>
              <a:rPr lang="en-US" sz="1800" dirty="0"/>
              <a:t>Triples</a:t>
            </a:r>
          </a:p>
          <a:p>
            <a:pPr fontAlgn="base"/>
            <a:r>
              <a:rPr lang="en-US" sz="1800" dirty="0"/>
              <a:t>Indirect Triples</a:t>
            </a:r>
          </a:p>
          <a:p>
            <a:pPr marL="0" indent="0">
              <a:buNone/>
            </a:pPr>
            <a:endParaRPr lang="en-US" sz="1800" b="1" dirty="0"/>
          </a:p>
        </p:txBody>
      </p:sp>
    </p:spTree>
    <p:extLst>
      <p:ext uri="{BB962C8B-B14F-4D97-AF65-F5344CB8AC3E}">
        <p14:creationId xmlns:p14="http://schemas.microsoft.com/office/powerpoint/2010/main" val="1775387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342900" indent="-342900">
              <a:buAutoNum type="arabicPeriod"/>
            </a:pPr>
            <a:r>
              <a:rPr lang="en-US" sz="1800" b="1" dirty="0" smtClean="0"/>
              <a:t>Quadruple </a:t>
            </a:r>
            <a:r>
              <a:rPr lang="en-US" sz="1800" b="1" dirty="0"/>
              <a:t>–</a:t>
            </a:r>
            <a:r>
              <a:rPr lang="en-US" sz="1800" dirty="0"/>
              <a:t/>
            </a:r>
            <a:br>
              <a:rPr lang="en-US" sz="1800" dirty="0"/>
            </a:br>
            <a:r>
              <a:rPr lang="en-US" sz="1800" dirty="0" smtClean="0"/>
              <a:t>structure with 4 </a:t>
            </a:r>
            <a:r>
              <a:rPr lang="en-US" sz="1800" dirty="0"/>
              <a:t>fields namely </a:t>
            </a:r>
            <a:r>
              <a:rPr lang="en-US" sz="1800" b="1" dirty="0"/>
              <a:t>op, arg1, arg2 and result</a:t>
            </a:r>
            <a:r>
              <a:rPr lang="en-US" sz="1800" dirty="0"/>
              <a:t>. </a:t>
            </a:r>
            <a:endParaRPr lang="en-GB" sz="1800" b="1" dirty="0" smtClean="0"/>
          </a:p>
          <a:p>
            <a:pPr marL="0" indent="0" fontAlgn="base">
              <a:buNone/>
            </a:pPr>
            <a:r>
              <a:rPr lang="en-US" sz="1800" b="1" dirty="0" smtClean="0"/>
              <a:t>Advantage </a:t>
            </a:r>
            <a:r>
              <a:rPr lang="en-US" sz="1800" b="1" dirty="0"/>
              <a:t>–</a:t>
            </a:r>
            <a:endParaRPr lang="en-US" sz="1800" dirty="0"/>
          </a:p>
          <a:p>
            <a:pPr fontAlgn="base"/>
            <a:r>
              <a:rPr lang="en-US" sz="1800" dirty="0"/>
              <a:t>Easy to rearrange code for global optimization.</a:t>
            </a:r>
          </a:p>
          <a:p>
            <a:pPr fontAlgn="base"/>
            <a:r>
              <a:rPr lang="en-US" sz="1800" dirty="0"/>
              <a:t>One can quickly access value of temporary variables using symbol table.</a:t>
            </a:r>
          </a:p>
          <a:p>
            <a:pPr marL="0" indent="0" fontAlgn="base">
              <a:buNone/>
            </a:pPr>
            <a:endParaRPr lang="en-US" sz="1800" b="1" dirty="0" smtClean="0"/>
          </a:p>
          <a:p>
            <a:pPr marL="0" indent="0" fontAlgn="base">
              <a:buNone/>
            </a:pPr>
            <a:r>
              <a:rPr lang="en-US" sz="1800" b="1" dirty="0" smtClean="0"/>
              <a:t>Disadvantage </a:t>
            </a:r>
            <a:r>
              <a:rPr lang="en-US" sz="1800" b="1" dirty="0"/>
              <a:t>–</a:t>
            </a:r>
            <a:endParaRPr lang="en-US" sz="1800" dirty="0"/>
          </a:p>
          <a:p>
            <a:pPr fontAlgn="base"/>
            <a:r>
              <a:rPr lang="en-US" sz="1800" dirty="0"/>
              <a:t>Contain lot of temporaries.</a:t>
            </a:r>
          </a:p>
          <a:p>
            <a:pPr fontAlgn="base"/>
            <a:r>
              <a:rPr lang="en-US" sz="1800" dirty="0"/>
              <a:t>Temporary variable creation increases time and space complexity.</a:t>
            </a:r>
          </a:p>
          <a:p>
            <a:pPr marL="342900" indent="-342900">
              <a:buAutoNum type="arabicPeriod"/>
            </a:pPr>
            <a:endParaRPr lang="en-US" sz="1800" b="1" dirty="0"/>
          </a:p>
        </p:txBody>
      </p:sp>
    </p:spTree>
    <p:extLst>
      <p:ext uri="{BB962C8B-B14F-4D97-AF65-F5344CB8AC3E}">
        <p14:creationId xmlns:p14="http://schemas.microsoft.com/office/powerpoint/2010/main" val="2515787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pic>
        <p:nvPicPr>
          <p:cNvPr id="5" name="Picture 2" descr="Lightbox"/>
          <p:cNvPicPr>
            <a:picLocks noGrp="1" noChangeAspect="1" noChangeArrowheads="1"/>
          </p:cNvPicPr>
          <p:nvPr>
            <p:ph idx="1"/>
          </p:nvPr>
        </p:nvPicPr>
        <p:blipFill>
          <a:blip r:embed="rId2">
            <a:biLevel thresh="75000"/>
            <a:extLst>
              <a:ext uri="{28A0092B-C50C-407E-A947-70E740481C1C}">
                <a14:useLocalDpi xmlns:a14="http://schemas.microsoft.com/office/drawing/2010/main" val="0"/>
              </a:ext>
            </a:extLst>
          </a:blip>
          <a:srcRect/>
          <a:stretch>
            <a:fillRect/>
          </a:stretch>
        </p:blipFill>
        <p:spPr bwMode="auto">
          <a:xfrm>
            <a:off x="3048000" y="2667000"/>
            <a:ext cx="2577582" cy="2286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09600" y="1531108"/>
            <a:ext cx="8077200" cy="369332"/>
          </a:xfrm>
          <a:prstGeom prst="rect">
            <a:avLst/>
          </a:prstGeom>
        </p:spPr>
        <p:txBody>
          <a:bodyPr wrap="square">
            <a:spAutoFit/>
          </a:bodyPr>
          <a:lstStyle/>
          <a:p>
            <a:r>
              <a:rPr lang="en-US" b="1" dirty="0">
                <a:solidFill>
                  <a:srgbClr val="273239"/>
                </a:solidFill>
                <a:latin typeface="urw-din"/>
              </a:rPr>
              <a:t>Example-1:</a:t>
            </a:r>
            <a:r>
              <a:rPr lang="en-US" dirty="0">
                <a:solidFill>
                  <a:srgbClr val="273239"/>
                </a:solidFill>
                <a:latin typeface="urw-din"/>
              </a:rPr>
              <a:t> Convert the expression </a:t>
            </a:r>
            <a:r>
              <a:rPr lang="en-US" b="1" dirty="0">
                <a:solidFill>
                  <a:srgbClr val="273239"/>
                </a:solidFill>
                <a:latin typeface="urw-din"/>
              </a:rPr>
              <a:t>a * – (b + c) </a:t>
            </a:r>
            <a:r>
              <a:rPr lang="en-US" dirty="0">
                <a:solidFill>
                  <a:srgbClr val="273239"/>
                </a:solidFill>
                <a:latin typeface="urw-din"/>
              </a:rPr>
              <a:t>into three address code.</a:t>
            </a:r>
            <a:endParaRPr lang="en-US" dirty="0"/>
          </a:p>
        </p:txBody>
      </p:sp>
    </p:spTree>
    <p:extLst>
      <p:ext uri="{BB962C8B-B14F-4D97-AF65-F5344CB8AC3E}">
        <p14:creationId xmlns:p14="http://schemas.microsoft.com/office/powerpoint/2010/main" val="83707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4" name="Rectangle 3"/>
          <p:cNvSpPr/>
          <p:nvPr/>
        </p:nvSpPr>
        <p:spPr>
          <a:xfrm>
            <a:off x="304800" y="1531108"/>
            <a:ext cx="8686800" cy="369332"/>
          </a:xfrm>
          <a:prstGeom prst="rect">
            <a:avLst/>
          </a:prstGeom>
        </p:spPr>
        <p:txBody>
          <a:bodyPr wrap="square">
            <a:spAutoFit/>
          </a:bodyPr>
          <a:lstStyle/>
          <a:p>
            <a:r>
              <a:rPr lang="en-US" b="1" dirty="0">
                <a:solidFill>
                  <a:srgbClr val="273239"/>
                </a:solidFill>
                <a:latin typeface="urw-din"/>
              </a:rPr>
              <a:t>Example-1:</a:t>
            </a:r>
            <a:r>
              <a:rPr lang="en-US" dirty="0">
                <a:solidFill>
                  <a:srgbClr val="273239"/>
                </a:solidFill>
                <a:latin typeface="urw-din"/>
              </a:rPr>
              <a:t> </a:t>
            </a:r>
            <a:r>
              <a:rPr lang="en-US" dirty="0"/>
              <a:t>Consider expression </a:t>
            </a:r>
            <a:r>
              <a:rPr lang="en-US" b="1" dirty="0"/>
              <a:t>a = b * – c + b * – </a:t>
            </a:r>
            <a:r>
              <a:rPr lang="en-US" b="1" dirty="0" smtClean="0"/>
              <a:t>c </a:t>
            </a:r>
            <a:r>
              <a:rPr lang="en-US" dirty="0" smtClean="0"/>
              <a:t>The </a:t>
            </a:r>
            <a:r>
              <a:rPr lang="en-US" dirty="0"/>
              <a:t>three address code is</a:t>
            </a:r>
            <a:r>
              <a:rPr lang="en-US" dirty="0" smtClean="0"/>
              <a:t>:</a:t>
            </a:r>
            <a:endParaRPr lang="en-US" dirty="0"/>
          </a:p>
        </p:txBody>
      </p:sp>
      <p:sp>
        <p:nvSpPr>
          <p:cNvPr id="3" name="Content Placeholder 2"/>
          <p:cNvSpPr>
            <a:spLocks noGrp="1"/>
          </p:cNvSpPr>
          <p:nvPr>
            <p:ph idx="1"/>
          </p:nvPr>
        </p:nvSpPr>
        <p:spPr/>
        <p:txBody>
          <a:bodyPr/>
          <a:lstStyle/>
          <a:p>
            <a:pPr marL="0" lvl="0" indent="0" eaLnBrk="0" fontAlgn="base" hangingPunct="0">
              <a:spcBef>
                <a:spcPct val="0"/>
              </a:spcBef>
              <a:spcAft>
                <a:spcPct val="0"/>
              </a:spcAft>
              <a:buClrTx/>
              <a:buSzTx/>
              <a:buNone/>
            </a:pPr>
            <a:endParaRPr lang="en-US" altLang="en-US" dirty="0" smtClean="0">
              <a:solidFill>
                <a:srgbClr val="273239"/>
              </a:solidFill>
              <a:latin typeface="Consolas" panose="020B0609020204030204" pitchFamily="49" charset="0"/>
            </a:endParaRPr>
          </a:p>
          <a:p>
            <a:pPr marL="0" lvl="0" indent="0" eaLnBrk="0" fontAlgn="base" hangingPunct="0">
              <a:spcBef>
                <a:spcPct val="0"/>
              </a:spcBef>
              <a:spcAft>
                <a:spcPct val="0"/>
              </a:spcAft>
              <a:buClrTx/>
              <a:buSzTx/>
              <a:buNone/>
            </a:pPr>
            <a:endParaRPr lang="en-US" altLang="en-US" dirty="0">
              <a:solidFill>
                <a:srgbClr val="273239"/>
              </a:solidFill>
              <a:latin typeface="Consolas" panose="020B0609020204030204" pitchFamily="49" charset="0"/>
            </a:endParaRPr>
          </a:p>
          <a:p>
            <a:pPr marL="0" lvl="0" indent="0" eaLnBrk="0" fontAlgn="base" hangingPunct="0">
              <a:spcBef>
                <a:spcPct val="0"/>
              </a:spcBef>
              <a:spcAft>
                <a:spcPct val="0"/>
              </a:spcAft>
              <a:buClrTx/>
              <a:buSzTx/>
              <a:buNone/>
            </a:pPr>
            <a:r>
              <a:rPr lang="en-US" altLang="en-US" dirty="0" smtClean="0">
                <a:solidFill>
                  <a:srgbClr val="273239"/>
                </a:solidFill>
                <a:latin typeface="Consolas" panose="020B0609020204030204" pitchFamily="49" charset="0"/>
              </a:rPr>
              <a:t>t1 </a:t>
            </a:r>
            <a:r>
              <a:rPr lang="en-US" altLang="en-US" dirty="0">
                <a:solidFill>
                  <a:srgbClr val="273239"/>
                </a:solidFill>
                <a:latin typeface="Consolas" panose="020B0609020204030204" pitchFamily="49" charset="0"/>
              </a:rPr>
              <a:t>= </a:t>
            </a:r>
            <a:r>
              <a:rPr lang="en-US" altLang="en-US" dirty="0" err="1">
                <a:solidFill>
                  <a:srgbClr val="273239"/>
                </a:solidFill>
                <a:latin typeface="Consolas" panose="020B0609020204030204" pitchFamily="49" charset="0"/>
              </a:rPr>
              <a:t>uminus</a:t>
            </a:r>
            <a:r>
              <a:rPr lang="en-US" altLang="en-US" dirty="0">
                <a:solidFill>
                  <a:srgbClr val="273239"/>
                </a:solidFill>
                <a:latin typeface="Consolas" panose="020B0609020204030204" pitchFamily="49" charset="0"/>
              </a:rPr>
              <a:t> c </a:t>
            </a:r>
            <a:endParaRPr lang="en-US" altLang="en-US" dirty="0" smtClean="0">
              <a:solidFill>
                <a:srgbClr val="273239"/>
              </a:solidFill>
              <a:latin typeface="Consolas" panose="020B0609020204030204" pitchFamily="49" charset="0"/>
            </a:endParaRPr>
          </a:p>
          <a:p>
            <a:pPr marL="0" lvl="0" indent="0" eaLnBrk="0" fontAlgn="base" hangingPunct="0">
              <a:spcBef>
                <a:spcPct val="0"/>
              </a:spcBef>
              <a:spcAft>
                <a:spcPct val="0"/>
              </a:spcAft>
              <a:buClrTx/>
              <a:buSzTx/>
              <a:buNone/>
            </a:pPr>
            <a:r>
              <a:rPr lang="en-US" altLang="en-US" dirty="0" smtClean="0">
                <a:solidFill>
                  <a:srgbClr val="273239"/>
                </a:solidFill>
                <a:latin typeface="Consolas" panose="020B0609020204030204" pitchFamily="49" charset="0"/>
              </a:rPr>
              <a:t>t2 </a:t>
            </a:r>
            <a:r>
              <a:rPr lang="en-US" altLang="en-US" dirty="0">
                <a:solidFill>
                  <a:srgbClr val="273239"/>
                </a:solidFill>
                <a:latin typeface="Consolas" panose="020B0609020204030204" pitchFamily="49" charset="0"/>
              </a:rPr>
              <a:t>= b * t1 </a:t>
            </a:r>
            <a:endParaRPr lang="en-US" altLang="en-US" dirty="0" smtClean="0">
              <a:solidFill>
                <a:srgbClr val="273239"/>
              </a:solidFill>
              <a:latin typeface="Consolas" panose="020B0609020204030204" pitchFamily="49" charset="0"/>
            </a:endParaRPr>
          </a:p>
          <a:p>
            <a:pPr marL="0" lvl="0" indent="0" eaLnBrk="0" fontAlgn="base" hangingPunct="0">
              <a:spcBef>
                <a:spcPct val="0"/>
              </a:spcBef>
              <a:spcAft>
                <a:spcPct val="0"/>
              </a:spcAft>
              <a:buClrTx/>
              <a:buSzTx/>
              <a:buNone/>
            </a:pPr>
            <a:r>
              <a:rPr lang="en-US" altLang="en-US" dirty="0" smtClean="0">
                <a:solidFill>
                  <a:srgbClr val="273239"/>
                </a:solidFill>
                <a:latin typeface="Consolas" panose="020B0609020204030204" pitchFamily="49" charset="0"/>
              </a:rPr>
              <a:t>t3 </a:t>
            </a:r>
            <a:r>
              <a:rPr lang="en-US" altLang="en-US" dirty="0">
                <a:solidFill>
                  <a:srgbClr val="273239"/>
                </a:solidFill>
                <a:latin typeface="Consolas" panose="020B0609020204030204" pitchFamily="49" charset="0"/>
              </a:rPr>
              <a:t>= </a:t>
            </a:r>
            <a:r>
              <a:rPr lang="en-US" altLang="en-US" dirty="0" err="1">
                <a:solidFill>
                  <a:srgbClr val="273239"/>
                </a:solidFill>
                <a:latin typeface="Consolas" panose="020B0609020204030204" pitchFamily="49" charset="0"/>
              </a:rPr>
              <a:t>uminus</a:t>
            </a:r>
            <a:r>
              <a:rPr lang="en-US" altLang="en-US" dirty="0">
                <a:solidFill>
                  <a:srgbClr val="273239"/>
                </a:solidFill>
                <a:latin typeface="Consolas" panose="020B0609020204030204" pitchFamily="49" charset="0"/>
              </a:rPr>
              <a:t> c </a:t>
            </a:r>
            <a:endParaRPr lang="en-US" altLang="en-US" dirty="0" smtClean="0">
              <a:solidFill>
                <a:srgbClr val="273239"/>
              </a:solidFill>
              <a:latin typeface="Consolas" panose="020B0609020204030204" pitchFamily="49" charset="0"/>
            </a:endParaRPr>
          </a:p>
          <a:p>
            <a:pPr marL="0" lvl="0" indent="0" eaLnBrk="0" fontAlgn="base" hangingPunct="0">
              <a:spcBef>
                <a:spcPct val="0"/>
              </a:spcBef>
              <a:spcAft>
                <a:spcPct val="0"/>
              </a:spcAft>
              <a:buClrTx/>
              <a:buSzTx/>
              <a:buNone/>
            </a:pPr>
            <a:r>
              <a:rPr lang="en-US" altLang="en-US" dirty="0" smtClean="0">
                <a:solidFill>
                  <a:srgbClr val="273239"/>
                </a:solidFill>
                <a:latin typeface="Consolas" panose="020B0609020204030204" pitchFamily="49" charset="0"/>
              </a:rPr>
              <a:t>t4 </a:t>
            </a:r>
            <a:r>
              <a:rPr lang="en-US" altLang="en-US" dirty="0">
                <a:solidFill>
                  <a:srgbClr val="273239"/>
                </a:solidFill>
                <a:latin typeface="Consolas" panose="020B0609020204030204" pitchFamily="49" charset="0"/>
              </a:rPr>
              <a:t>= b * t3 </a:t>
            </a:r>
            <a:endParaRPr lang="en-US" altLang="en-US" dirty="0" smtClean="0">
              <a:solidFill>
                <a:srgbClr val="273239"/>
              </a:solidFill>
              <a:latin typeface="Consolas" panose="020B0609020204030204" pitchFamily="49" charset="0"/>
            </a:endParaRPr>
          </a:p>
          <a:p>
            <a:pPr marL="0" lvl="0" indent="0" eaLnBrk="0" fontAlgn="base" hangingPunct="0">
              <a:spcBef>
                <a:spcPct val="0"/>
              </a:spcBef>
              <a:spcAft>
                <a:spcPct val="0"/>
              </a:spcAft>
              <a:buClrTx/>
              <a:buSzTx/>
              <a:buNone/>
            </a:pPr>
            <a:r>
              <a:rPr lang="en-US" altLang="en-US" dirty="0" smtClean="0">
                <a:solidFill>
                  <a:srgbClr val="273239"/>
                </a:solidFill>
                <a:latin typeface="Consolas" panose="020B0609020204030204" pitchFamily="49" charset="0"/>
              </a:rPr>
              <a:t>t5 </a:t>
            </a:r>
            <a:r>
              <a:rPr lang="en-US" altLang="en-US" dirty="0">
                <a:solidFill>
                  <a:srgbClr val="273239"/>
                </a:solidFill>
                <a:latin typeface="Consolas" panose="020B0609020204030204" pitchFamily="49" charset="0"/>
              </a:rPr>
              <a:t>= t2 + t4 </a:t>
            </a:r>
            <a:endParaRPr lang="en-US" altLang="en-US" dirty="0" smtClean="0">
              <a:solidFill>
                <a:srgbClr val="273239"/>
              </a:solidFill>
              <a:latin typeface="Consolas" panose="020B0609020204030204" pitchFamily="49" charset="0"/>
            </a:endParaRPr>
          </a:p>
          <a:p>
            <a:pPr marL="0" lvl="0" indent="0" eaLnBrk="0" fontAlgn="base" hangingPunct="0">
              <a:spcBef>
                <a:spcPct val="0"/>
              </a:spcBef>
              <a:spcAft>
                <a:spcPct val="0"/>
              </a:spcAft>
              <a:buClrTx/>
              <a:buSzTx/>
              <a:buNone/>
            </a:pPr>
            <a:r>
              <a:rPr lang="en-US" altLang="en-US" dirty="0" smtClean="0">
                <a:solidFill>
                  <a:srgbClr val="273239"/>
                </a:solidFill>
                <a:latin typeface="Consolas" panose="020B0609020204030204" pitchFamily="49" charset="0"/>
              </a:rPr>
              <a:t>a </a:t>
            </a:r>
            <a:r>
              <a:rPr lang="en-US" altLang="en-US" dirty="0">
                <a:solidFill>
                  <a:srgbClr val="273239"/>
                </a:solidFill>
                <a:latin typeface="Consolas" panose="020B0609020204030204" pitchFamily="49" charset="0"/>
              </a:rPr>
              <a:t>= t5 </a:t>
            </a:r>
            <a:endParaRPr lang="en-US" altLang="en-US" sz="3600" dirty="0">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3124199" y="2362200"/>
            <a:ext cx="5715001" cy="3581400"/>
          </a:xfrm>
          <a:prstGeom prst="rect">
            <a:avLst/>
          </a:prstGeom>
        </p:spPr>
      </p:pic>
    </p:spTree>
    <p:extLst>
      <p:ext uri="{BB962C8B-B14F-4D97-AF65-F5344CB8AC3E}">
        <p14:creationId xmlns:p14="http://schemas.microsoft.com/office/powerpoint/2010/main" val="3536883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0" indent="0">
              <a:buNone/>
            </a:pPr>
            <a:r>
              <a:rPr lang="en-US" sz="1800" b="1" dirty="0"/>
              <a:t>2. Triples </a:t>
            </a:r>
            <a:r>
              <a:rPr lang="en-US" sz="1800" b="1" dirty="0" smtClean="0"/>
              <a:t>–</a:t>
            </a:r>
          </a:p>
          <a:p>
            <a:pPr marL="0" indent="0">
              <a:buNone/>
            </a:pPr>
            <a:endParaRPr lang="en-US" sz="1800" b="1" dirty="0"/>
          </a:p>
          <a:p>
            <a:pPr marL="0" indent="0">
              <a:buNone/>
            </a:pPr>
            <a:r>
              <a:rPr lang="en-US" sz="1800" dirty="0" smtClean="0"/>
              <a:t>-Structure </a:t>
            </a:r>
            <a:r>
              <a:rPr lang="en-US" sz="1800" dirty="0"/>
              <a:t>with </a:t>
            </a:r>
            <a:r>
              <a:rPr lang="en-US" sz="1800" dirty="0" smtClean="0"/>
              <a:t>3 </a:t>
            </a:r>
            <a:r>
              <a:rPr lang="en-US" sz="1800" dirty="0"/>
              <a:t>fields namely </a:t>
            </a:r>
            <a:r>
              <a:rPr lang="en-US" sz="1800" b="1" dirty="0"/>
              <a:t>op, arg1, arg2 </a:t>
            </a:r>
            <a:endParaRPr lang="en-US" sz="1800" b="1" dirty="0" smtClean="0"/>
          </a:p>
          <a:p>
            <a:pPr marL="0" indent="0">
              <a:buNone/>
            </a:pPr>
            <a:r>
              <a:rPr lang="en-US" sz="1800" dirty="0" smtClean="0"/>
              <a:t>-No extra </a:t>
            </a:r>
            <a:r>
              <a:rPr lang="en-US" sz="1800" dirty="0"/>
              <a:t>temporary variable to represent a single operation </a:t>
            </a:r>
            <a:endParaRPr lang="en-US" sz="1800" dirty="0" smtClean="0"/>
          </a:p>
          <a:p>
            <a:pPr marL="0" indent="0">
              <a:buNone/>
            </a:pPr>
            <a:r>
              <a:rPr lang="en-US" sz="1800" dirty="0"/>
              <a:t>-</a:t>
            </a:r>
            <a:r>
              <a:rPr lang="en-US" sz="1800" dirty="0" smtClean="0"/>
              <a:t>when </a:t>
            </a:r>
            <a:r>
              <a:rPr lang="en-US" sz="1800" dirty="0"/>
              <a:t>a reference to another triple’s value is needed, a pointer to that triple is used. </a:t>
            </a:r>
          </a:p>
          <a:p>
            <a:pPr marL="0" indent="0">
              <a:buNone/>
            </a:pPr>
            <a:endParaRPr lang="en-GB" sz="1800" b="1" dirty="0"/>
          </a:p>
          <a:p>
            <a:pPr fontAlgn="base"/>
            <a:r>
              <a:rPr lang="en-US" sz="1800" b="1" dirty="0"/>
              <a:t>Disadvantage –</a:t>
            </a:r>
            <a:endParaRPr lang="en-US" sz="1800" dirty="0"/>
          </a:p>
          <a:p>
            <a:pPr fontAlgn="base"/>
            <a:r>
              <a:rPr lang="en-US" sz="1800" dirty="0"/>
              <a:t>Temporaries are implicit and difficult to rearrange code.</a:t>
            </a:r>
          </a:p>
          <a:p>
            <a:pPr fontAlgn="base"/>
            <a:r>
              <a:rPr lang="en-US" sz="1800" dirty="0"/>
              <a:t>It is difficult to optimize because optimization involves moving intermediate code. When a triple is moved, any other triple referring to it must be updated also. With help of pointer one can directly access symbol table entry.</a:t>
            </a:r>
          </a:p>
          <a:p>
            <a:pPr marL="0" indent="0">
              <a:buNone/>
            </a:pPr>
            <a:endParaRPr lang="en-US" sz="1800" b="1" dirty="0"/>
          </a:p>
        </p:txBody>
      </p:sp>
    </p:spTree>
    <p:extLst>
      <p:ext uri="{BB962C8B-B14F-4D97-AF65-F5344CB8AC3E}">
        <p14:creationId xmlns:p14="http://schemas.microsoft.com/office/powerpoint/2010/main" val="1040663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0" indent="0">
              <a:buNone/>
            </a:pPr>
            <a:r>
              <a:rPr lang="en-US" sz="1800" b="1" dirty="0" smtClean="0"/>
              <a:t>Example </a:t>
            </a:r>
            <a:r>
              <a:rPr lang="en-US" sz="1800" b="1" dirty="0"/>
              <a:t>–</a:t>
            </a:r>
            <a:r>
              <a:rPr lang="en-US" sz="1800" dirty="0"/>
              <a:t> Consider expression a = b * – c + b * – c</a:t>
            </a:r>
            <a:endParaRPr lang="en-US" sz="1800" b="1" dirty="0"/>
          </a:p>
        </p:txBody>
      </p:sp>
      <p:pic>
        <p:nvPicPr>
          <p:cNvPr id="4" name="Picture 3"/>
          <p:cNvPicPr>
            <a:picLocks noChangeAspect="1"/>
          </p:cNvPicPr>
          <p:nvPr/>
        </p:nvPicPr>
        <p:blipFill>
          <a:blip r:embed="rId2"/>
          <a:stretch>
            <a:fillRect/>
          </a:stretch>
        </p:blipFill>
        <p:spPr>
          <a:xfrm>
            <a:off x="3871415" y="2295040"/>
            <a:ext cx="4800600" cy="3487119"/>
          </a:xfrm>
          <a:prstGeom prst="rect">
            <a:avLst/>
          </a:prstGeom>
        </p:spPr>
      </p:pic>
      <p:sp>
        <p:nvSpPr>
          <p:cNvPr id="5" name="Rectangle 4"/>
          <p:cNvSpPr/>
          <p:nvPr/>
        </p:nvSpPr>
        <p:spPr>
          <a:xfrm>
            <a:off x="762000" y="2320060"/>
            <a:ext cx="2286000" cy="1754326"/>
          </a:xfrm>
          <a:prstGeom prst="rect">
            <a:avLst/>
          </a:prstGeom>
        </p:spPr>
        <p:txBody>
          <a:bodyPr wrap="square">
            <a:spAutoFit/>
          </a:bodyPr>
          <a:lstStyle/>
          <a:p>
            <a:pPr lvl="0" eaLnBrk="0" fontAlgn="base" hangingPunct="0">
              <a:spcBef>
                <a:spcPct val="0"/>
              </a:spcBef>
              <a:spcAft>
                <a:spcPct val="0"/>
              </a:spcAft>
            </a:pPr>
            <a:r>
              <a:rPr lang="en-US" altLang="en-US" b="1" dirty="0">
                <a:solidFill>
                  <a:srgbClr val="273239"/>
                </a:solidFill>
                <a:latin typeface="Consolas" panose="020B0609020204030204" pitchFamily="49" charset="0"/>
              </a:rPr>
              <a:t>t1 = </a:t>
            </a:r>
            <a:r>
              <a:rPr lang="en-US" altLang="en-US" b="1" dirty="0" err="1">
                <a:solidFill>
                  <a:srgbClr val="273239"/>
                </a:solidFill>
                <a:latin typeface="Consolas" panose="020B0609020204030204" pitchFamily="49" charset="0"/>
              </a:rPr>
              <a:t>uminus</a:t>
            </a:r>
            <a:r>
              <a:rPr lang="en-US" altLang="en-US" b="1" dirty="0">
                <a:solidFill>
                  <a:srgbClr val="273239"/>
                </a:solidFill>
                <a:latin typeface="Consolas" panose="020B0609020204030204" pitchFamily="49" charset="0"/>
              </a:rPr>
              <a:t> c </a:t>
            </a:r>
          </a:p>
          <a:p>
            <a:pPr lvl="0" eaLnBrk="0" fontAlgn="base" hangingPunct="0">
              <a:spcBef>
                <a:spcPct val="0"/>
              </a:spcBef>
              <a:spcAft>
                <a:spcPct val="0"/>
              </a:spcAft>
            </a:pPr>
            <a:r>
              <a:rPr lang="en-US" altLang="en-US" b="1" dirty="0">
                <a:solidFill>
                  <a:srgbClr val="273239"/>
                </a:solidFill>
                <a:latin typeface="Consolas" panose="020B0609020204030204" pitchFamily="49" charset="0"/>
              </a:rPr>
              <a:t>t2 = b * t1 </a:t>
            </a:r>
          </a:p>
          <a:p>
            <a:pPr lvl="0" eaLnBrk="0" fontAlgn="base" hangingPunct="0">
              <a:spcBef>
                <a:spcPct val="0"/>
              </a:spcBef>
              <a:spcAft>
                <a:spcPct val="0"/>
              </a:spcAft>
            </a:pPr>
            <a:r>
              <a:rPr lang="en-US" altLang="en-US" b="1" dirty="0">
                <a:solidFill>
                  <a:srgbClr val="273239"/>
                </a:solidFill>
                <a:latin typeface="Consolas" panose="020B0609020204030204" pitchFamily="49" charset="0"/>
              </a:rPr>
              <a:t>t3 = </a:t>
            </a:r>
            <a:r>
              <a:rPr lang="en-US" altLang="en-US" b="1" dirty="0" err="1">
                <a:solidFill>
                  <a:srgbClr val="273239"/>
                </a:solidFill>
                <a:latin typeface="Consolas" panose="020B0609020204030204" pitchFamily="49" charset="0"/>
              </a:rPr>
              <a:t>uminus</a:t>
            </a:r>
            <a:r>
              <a:rPr lang="en-US" altLang="en-US" b="1" dirty="0">
                <a:solidFill>
                  <a:srgbClr val="273239"/>
                </a:solidFill>
                <a:latin typeface="Consolas" panose="020B0609020204030204" pitchFamily="49" charset="0"/>
              </a:rPr>
              <a:t> c </a:t>
            </a:r>
          </a:p>
          <a:p>
            <a:pPr lvl="0" eaLnBrk="0" fontAlgn="base" hangingPunct="0">
              <a:spcBef>
                <a:spcPct val="0"/>
              </a:spcBef>
              <a:spcAft>
                <a:spcPct val="0"/>
              </a:spcAft>
            </a:pPr>
            <a:r>
              <a:rPr lang="en-US" altLang="en-US" b="1" dirty="0">
                <a:solidFill>
                  <a:srgbClr val="273239"/>
                </a:solidFill>
                <a:latin typeface="Consolas" panose="020B0609020204030204" pitchFamily="49" charset="0"/>
              </a:rPr>
              <a:t>t4 = b * t3 </a:t>
            </a:r>
          </a:p>
          <a:p>
            <a:pPr lvl="0" eaLnBrk="0" fontAlgn="base" hangingPunct="0">
              <a:spcBef>
                <a:spcPct val="0"/>
              </a:spcBef>
              <a:spcAft>
                <a:spcPct val="0"/>
              </a:spcAft>
            </a:pPr>
            <a:r>
              <a:rPr lang="en-US" altLang="en-US" b="1" dirty="0">
                <a:solidFill>
                  <a:srgbClr val="273239"/>
                </a:solidFill>
                <a:latin typeface="Consolas" panose="020B0609020204030204" pitchFamily="49" charset="0"/>
              </a:rPr>
              <a:t>t5 = t2 + t4 </a:t>
            </a:r>
          </a:p>
          <a:p>
            <a:pPr lvl="0" eaLnBrk="0" fontAlgn="base" hangingPunct="0">
              <a:spcBef>
                <a:spcPct val="0"/>
              </a:spcBef>
              <a:spcAft>
                <a:spcPct val="0"/>
              </a:spcAft>
            </a:pPr>
            <a:r>
              <a:rPr lang="en-US" altLang="en-US" b="1" dirty="0">
                <a:solidFill>
                  <a:srgbClr val="273239"/>
                </a:solidFill>
                <a:latin typeface="Consolas" panose="020B0609020204030204" pitchFamily="49" charset="0"/>
              </a:rPr>
              <a:t>a = t5 </a:t>
            </a:r>
            <a:endParaRPr lang="en-US" altLang="en-US" sz="2800" b="1" dirty="0">
              <a:latin typeface="Arial" panose="020B0604020202020204" pitchFamily="34" charset="0"/>
            </a:endParaRPr>
          </a:p>
        </p:txBody>
      </p:sp>
    </p:spTree>
    <p:extLst>
      <p:ext uri="{BB962C8B-B14F-4D97-AF65-F5344CB8AC3E}">
        <p14:creationId xmlns:p14="http://schemas.microsoft.com/office/powerpoint/2010/main" val="3755701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0" indent="0">
              <a:buNone/>
            </a:pPr>
            <a:r>
              <a:rPr lang="en-US" sz="1800" b="1" dirty="0"/>
              <a:t>3. Indirect Triples –</a:t>
            </a:r>
            <a:r>
              <a:rPr lang="en-US" sz="1800"/>
              <a:t/>
            </a:r>
            <a:br>
              <a:rPr lang="en-US" sz="1800"/>
            </a:br>
            <a:endParaRPr lang="en-US" sz="1800" smtClean="0"/>
          </a:p>
          <a:p>
            <a:pPr marL="0" indent="0">
              <a:buNone/>
            </a:pPr>
            <a:r>
              <a:rPr lang="en-US" sz="1800" smtClean="0"/>
              <a:t>-Makes </a:t>
            </a:r>
            <a:r>
              <a:rPr lang="en-US" sz="1800" dirty="0"/>
              <a:t>use of pointer to the listing of all references to computations which is made separately and stored. Its similar in utility as compared to quadruple representation but requires less space than it. Temporaries are implicit and easier to rearrange code.</a:t>
            </a:r>
            <a:endParaRPr lang="en-US" sz="1800" b="1" dirty="0"/>
          </a:p>
        </p:txBody>
      </p:sp>
    </p:spTree>
    <p:extLst>
      <p:ext uri="{BB962C8B-B14F-4D97-AF65-F5344CB8AC3E}">
        <p14:creationId xmlns:p14="http://schemas.microsoft.com/office/powerpoint/2010/main" val="165075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pic>
        <p:nvPicPr>
          <p:cNvPr id="4" name="Content Placeholder 3"/>
          <p:cNvPicPr>
            <a:picLocks noGrp="1" noChangeAspect="1"/>
          </p:cNvPicPr>
          <p:nvPr>
            <p:ph idx="1"/>
          </p:nvPr>
        </p:nvPicPr>
        <p:blipFill>
          <a:blip r:embed="rId2"/>
          <a:stretch>
            <a:fillRect/>
          </a:stretch>
        </p:blipFill>
        <p:spPr>
          <a:xfrm>
            <a:off x="685800" y="1676399"/>
            <a:ext cx="7620000" cy="4253023"/>
          </a:xfrm>
          <a:prstGeom prst="rect">
            <a:avLst/>
          </a:prstGeom>
        </p:spPr>
      </p:pic>
    </p:spTree>
    <p:extLst>
      <p:ext uri="{BB962C8B-B14F-4D97-AF65-F5344CB8AC3E}">
        <p14:creationId xmlns:p14="http://schemas.microsoft.com/office/powerpoint/2010/main" val="1699169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0" indent="0" algn="ctr">
              <a:buNone/>
            </a:pPr>
            <a:r>
              <a:rPr lang="en-US" sz="1800" b="1" u="sng" dirty="0" smtClean="0"/>
              <a:t>Detection </a:t>
            </a:r>
            <a:r>
              <a:rPr lang="en-US" sz="1800" b="1" u="sng" dirty="0"/>
              <a:t>of a Loop in Three Address Code</a:t>
            </a:r>
          </a:p>
          <a:p>
            <a:pPr marL="0" indent="0">
              <a:buNone/>
            </a:pPr>
            <a:endParaRPr lang="en-US" sz="1800" b="1" dirty="0" smtClean="0"/>
          </a:p>
          <a:p>
            <a:pPr marL="0" indent="0">
              <a:buNone/>
            </a:pPr>
            <a:endParaRPr lang="en-US" sz="1800" b="1" dirty="0" smtClean="0"/>
          </a:p>
          <a:p>
            <a:pPr marL="0" indent="0">
              <a:buNone/>
            </a:pPr>
            <a:r>
              <a:rPr lang="en-US" sz="1800" dirty="0" smtClean="0"/>
              <a:t>-</a:t>
            </a:r>
            <a:r>
              <a:rPr lang="en-US" sz="1800" dirty="0"/>
              <a:t>Loop optimization is the phase after the Intermediate Code Generation. </a:t>
            </a:r>
            <a:endParaRPr lang="en-US" sz="1800" dirty="0" smtClean="0"/>
          </a:p>
          <a:p>
            <a:pPr marL="0" indent="0">
              <a:buNone/>
            </a:pPr>
            <a:endParaRPr lang="en-US" sz="1800" dirty="0" smtClean="0"/>
          </a:p>
          <a:p>
            <a:pPr marL="0" indent="0">
              <a:buNone/>
            </a:pPr>
            <a:r>
              <a:rPr lang="en-US" sz="1800" dirty="0" smtClean="0"/>
              <a:t>-The </a:t>
            </a:r>
            <a:r>
              <a:rPr lang="en-US" sz="1800" dirty="0"/>
              <a:t>main intention of this phase is to reduce the number of lines in a program. </a:t>
            </a:r>
            <a:endParaRPr lang="en-US" sz="1800" dirty="0" smtClean="0"/>
          </a:p>
          <a:p>
            <a:pPr marL="0" indent="0">
              <a:buNone/>
            </a:pPr>
            <a:endParaRPr lang="en-US" sz="1800" dirty="0" smtClean="0"/>
          </a:p>
          <a:p>
            <a:pPr marL="0" indent="0">
              <a:buNone/>
            </a:pPr>
            <a:r>
              <a:rPr lang="en-US" sz="1800" dirty="0" smtClean="0"/>
              <a:t>-In </a:t>
            </a:r>
            <a:r>
              <a:rPr lang="en-US" sz="1800" dirty="0"/>
              <a:t>any program majority of the time is spent by any program is actually inside the loop for an iterative program</a:t>
            </a:r>
            <a:r>
              <a:rPr lang="en-US" sz="1800" dirty="0" smtClean="0"/>
              <a:t>.</a:t>
            </a:r>
          </a:p>
          <a:p>
            <a:pPr marL="0" indent="0">
              <a:buNone/>
            </a:pPr>
            <a:endParaRPr lang="en-US" sz="1800" dirty="0"/>
          </a:p>
          <a:p>
            <a:pPr marL="0" indent="0">
              <a:buNone/>
            </a:pPr>
            <a:r>
              <a:rPr lang="en-US" sz="1800" dirty="0" smtClean="0"/>
              <a:t> </a:t>
            </a:r>
            <a:r>
              <a:rPr lang="en-US" sz="1800" dirty="0"/>
              <a:t>In the case of the recursive program a block will be there and the majority of the time will present inside the block.</a:t>
            </a:r>
            <a:r>
              <a:rPr lang="en-US" sz="1800" dirty="0" smtClean="0"/>
              <a:t>.</a:t>
            </a:r>
          </a:p>
          <a:p>
            <a:pPr marL="0" indent="0">
              <a:buNone/>
            </a:pPr>
            <a:endParaRPr lang="en-US" sz="1800" b="1" dirty="0"/>
          </a:p>
        </p:txBody>
      </p:sp>
    </p:spTree>
    <p:extLst>
      <p:ext uri="{BB962C8B-B14F-4D97-AF65-F5344CB8AC3E}">
        <p14:creationId xmlns:p14="http://schemas.microsoft.com/office/powerpoint/2010/main" val="3469331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0" indent="0" algn="ctr">
              <a:buNone/>
            </a:pPr>
            <a:r>
              <a:rPr lang="en-US" sz="1800" b="1" u="sng" dirty="0" smtClean="0"/>
              <a:t>Detection </a:t>
            </a:r>
            <a:r>
              <a:rPr lang="en-US" sz="1800" b="1" u="sng" dirty="0"/>
              <a:t>of a Loop in Three Address Code</a:t>
            </a:r>
          </a:p>
          <a:p>
            <a:pPr marL="0" indent="0">
              <a:buNone/>
            </a:pPr>
            <a:endParaRPr lang="en-US" sz="1800" b="1" dirty="0" smtClean="0"/>
          </a:p>
          <a:p>
            <a:pPr marL="0" indent="0">
              <a:buNone/>
            </a:pPr>
            <a:endParaRPr lang="en-US" sz="1800" b="1" dirty="0" smtClean="0"/>
          </a:p>
          <a:p>
            <a:pPr marL="0" indent="0" fontAlgn="base">
              <a:buNone/>
            </a:pPr>
            <a:r>
              <a:rPr lang="en-US" sz="1800" dirty="0" smtClean="0"/>
              <a:t>-</a:t>
            </a:r>
            <a:r>
              <a:rPr lang="en-US" sz="1800" b="1" dirty="0"/>
              <a:t>Loop Optimization –</a:t>
            </a:r>
            <a:endParaRPr lang="en-US" sz="1800" dirty="0"/>
          </a:p>
          <a:p>
            <a:pPr fontAlgn="base"/>
            <a:endParaRPr lang="en-US" sz="1800" dirty="0" smtClean="0"/>
          </a:p>
          <a:p>
            <a:pPr fontAlgn="base"/>
            <a:r>
              <a:rPr lang="en-US" sz="1800" dirty="0" smtClean="0"/>
              <a:t>To </a:t>
            </a:r>
            <a:r>
              <a:rPr lang="en-US" sz="1800" dirty="0"/>
              <a:t>apply loop optimization we must first detect loops.</a:t>
            </a:r>
          </a:p>
          <a:p>
            <a:pPr fontAlgn="base"/>
            <a:endParaRPr lang="en-US" sz="1800" dirty="0" smtClean="0"/>
          </a:p>
          <a:p>
            <a:pPr fontAlgn="base"/>
            <a:r>
              <a:rPr lang="en-US" sz="1800" dirty="0" smtClean="0"/>
              <a:t>For </a:t>
            </a:r>
            <a:r>
              <a:rPr lang="en-US" sz="1800" dirty="0"/>
              <a:t>detecting loops we use </a:t>
            </a:r>
            <a:r>
              <a:rPr lang="en-US" sz="1800" b="1" dirty="0"/>
              <a:t>Control Flow Analysis(CFA) </a:t>
            </a:r>
            <a:r>
              <a:rPr lang="en-US" sz="1800" dirty="0"/>
              <a:t>using </a:t>
            </a:r>
            <a:r>
              <a:rPr lang="en-US" sz="1800" b="1" dirty="0"/>
              <a:t>Program Flow Graph(PFG).</a:t>
            </a:r>
          </a:p>
          <a:p>
            <a:pPr fontAlgn="base"/>
            <a:endParaRPr lang="en-US" sz="1800" dirty="0" smtClean="0"/>
          </a:p>
          <a:p>
            <a:pPr fontAlgn="base"/>
            <a:r>
              <a:rPr lang="en-US" sz="1800" dirty="0" smtClean="0"/>
              <a:t>To </a:t>
            </a:r>
            <a:r>
              <a:rPr lang="en-US" sz="1800" dirty="0"/>
              <a:t>find program flow graph we need to find Basic Block</a:t>
            </a:r>
          </a:p>
          <a:p>
            <a:pPr marL="0" indent="0">
              <a:buNone/>
            </a:pPr>
            <a:endParaRPr lang="en-US" sz="1800" b="1" dirty="0"/>
          </a:p>
        </p:txBody>
      </p:sp>
    </p:spTree>
    <p:extLst>
      <p:ext uri="{BB962C8B-B14F-4D97-AF65-F5344CB8AC3E}">
        <p14:creationId xmlns:p14="http://schemas.microsoft.com/office/powerpoint/2010/main" val="1941039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0" indent="0" algn="ctr">
              <a:buNone/>
            </a:pPr>
            <a:r>
              <a:rPr lang="en-US" sz="1800" b="1" u="sng" dirty="0" smtClean="0"/>
              <a:t>Detection </a:t>
            </a:r>
            <a:r>
              <a:rPr lang="en-US" sz="1800" b="1" u="sng" dirty="0"/>
              <a:t>of a Loop in Three Address Code</a:t>
            </a:r>
          </a:p>
          <a:p>
            <a:pPr marL="0" indent="0">
              <a:buNone/>
            </a:pPr>
            <a:endParaRPr lang="en-US" sz="1800" b="1" dirty="0" smtClean="0"/>
          </a:p>
          <a:p>
            <a:pPr marL="0" indent="0">
              <a:buNone/>
            </a:pPr>
            <a:endParaRPr lang="en-US" sz="1800" b="1" dirty="0" smtClean="0"/>
          </a:p>
          <a:p>
            <a:pPr fontAlgn="base"/>
            <a:r>
              <a:rPr lang="en-US" sz="1800" b="1" dirty="0"/>
              <a:t>Basic Block </a:t>
            </a:r>
          </a:p>
          <a:p>
            <a:pPr fontAlgn="base"/>
            <a:endParaRPr lang="en-US" sz="1800" b="1" dirty="0" smtClean="0"/>
          </a:p>
          <a:p>
            <a:pPr marL="0" indent="0" fontAlgn="base">
              <a:buNone/>
            </a:pPr>
            <a:r>
              <a:rPr lang="en-US" sz="1800" dirty="0" smtClean="0"/>
              <a:t>A </a:t>
            </a:r>
            <a:r>
              <a:rPr lang="en-US" sz="1800" dirty="0"/>
              <a:t>basic block is a sequence of three address statements where control enters at the beginning and leaves only at the end without any jumps or halts.</a:t>
            </a:r>
          </a:p>
          <a:p>
            <a:pPr fontAlgn="base"/>
            <a:endParaRPr lang="en-US" sz="1800" b="1" dirty="0" smtClean="0"/>
          </a:p>
          <a:p>
            <a:pPr fontAlgn="base"/>
            <a:r>
              <a:rPr lang="en-US" sz="1800" b="1" dirty="0" smtClean="0"/>
              <a:t>Finding </a:t>
            </a:r>
            <a:r>
              <a:rPr lang="en-US" sz="1800" b="1" dirty="0"/>
              <a:t>the Basic Block </a:t>
            </a:r>
            <a:r>
              <a:rPr lang="en-US" sz="1800" dirty="0"/>
              <a:t/>
            </a:r>
            <a:br>
              <a:rPr lang="en-US" sz="1800" dirty="0"/>
            </a:br>
            <a:r>
              <a:rPr lang="en-US" sz="1800" dirty="0"/>
              <a:t>In order to find the basic blocks, we need to find the leaders in the program. Then a basic block will start from one leader to the next leader but not include the next leader. This means if you find out that line no 1 is a leader and line no 15 is the next leader, then the line from 1 to 14 is a basic block, but not including line no 15.</a:t>
            </a:r>
          </a:p>
          <a:p>
            <a:pPr marL="0" indent="0">
              <a:buNone/>
            </a:pPr>
            <a:endParaRPr lang="en-US" sz="1800" b="1" dirty="0"/>
          </a:p>
        </p:txBody>
      </p:sp>
    </p:spTree>
    <p:extLst>
      <p:ext uri="{BB962C8B-B14F-4D97-AF65-F5344CB8AC3E}">
        <p14:creationId xmlns:p14="http://schemas.microsoft.com/office/powerpoint/2010/main" val="175921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fontAlgn="base"/>
            <a:r>
              <a:rPr lang="en-US" sz="1800" b="1" dirty="0"/>
              <a:t>Identifying leader in a Basic Block –</a:t>
            </a:r>
            <a:endParaRPr lang="en-US" sz="1800" dirty="0"/>
          </a:p>
          <a:p>
            <a:pPr fontAlgn="base"/>
            <a:r>
              <a:rPr lang="en-US" sz="1800" dirty="0"/>
              <a:t>First statement is always a leader</a:t>
            </a:r>
          </a:p>
          <a:p>
            <a:pPr fontAlgn="base"/>
            <a:r>
              <a:rPr lang="en-US" sz="1800" dirty="0"/>
              <a:t>Statement that is target of conditional or un-conditional statement is a leader</a:t>
            </a:r>
          </a:p>
          <a:p>
            <a:pPr fontAlgn="base"/>
            <a:r>
              <a:rPr lang="en-US" sz="1800" dirty="0"/>
              <a:t>Statement that follows immediately a conditional or un-conditional statement is a leader</a:t>
            </a:r>
          </a:p>
          <a:p>
            <a:pPr marL="0" indent="0">
              <a:buNone/>
            </a:pPr>
            <a:endParaRPr lang="en-US" sz="1800" b="1" dirty="0"/>
          </a:p>
        </p:txBody>
      </p:sp>
      <p:sp>
        <p:nvSpPr>
          <p:cNvPr id="4" name="Rectangle 3"/>
          <p:cNvSpPr/>
          <p:nvPr/>
        </p:nvSpPr>
        <p:spPr>
          <a:xfrm>
            <a:off x="838200" y="3581400"/>
            <a:ext cx="4572000" cy="2031325"/>
          </a:xfrm>
          <a:prstGeom prst="rect">
            <a:avLst/>
          </a:prstGeom>
        </p:spPr>
        <p:txBody>
          <a:bodyPr>
            <a:spAutoFit/>
          </a:bodyPr>
          <a:lstStyle/>
          <a:p>
            <a:r>
              <a:rPr lang="en-US" dirty="0"/>
              <a:t>fact(x)</a:t>
            </a:r>
          </a:p>
          <a:p>
            <a:r>
              <a:rPr lang="en-US" dirty="0"/>
              <a:t>{</a:t>
            </a:r>
          </a:p>
          <a:p>
            <a:r>
              <a:rPr lang="en-US" dirty="0"/>
              <a:t>	</a:t>
            </a:r>
            <a:r>
              <a:rPr lang="en-US" dirty="0" err="1"/>
              <a:t>int</a:t>
            </a:r>
            <a:r>
              <a:rPr lang="en-US" dirty="0"/>
              <a:t> f = 1;</a:t>
            </a:r>
          </a:p>
          <a:p>
            <a:r>
              <a:rPr lang="en-US" dirty="0"/>
              <a:t>	for (</a:t>
            </a:r>
            <a:r>
              <a:rPr lang="en-US" dirty="0" err="1"/>
              <a:t>i</a:t>
            </a:r>
            <a:r>
              <a:rPr lang="en-US" dirty="0"/>
              <a:t> = 2; </a:t>
            </a:r>
            <a:r>
              <a:rPr lang="en-US" dirty="0" err="1"/>
              <a:t>i</a:t>
            </a:r>
            <a:r>
              <a:rPr lang="en-US" dirty="0"/>
              <a:t> &lt;= x; </a:t>
            </a:r>
            <a:r>
              <a:rPr lang="en-US" dirty="0" err="1"/>
              <a:t>i</a:t>
            </a:r>
            <a:r>
              <a:rPr lang="en-US" dirty="0"/>
              <a:t>++)</a:t>
            </a:r>
          </a:p>
          <a:p>
            <a:r>
              <a:rPr lang="en-US" dirty="0"/>
              <a:t>		f = f * </a:t>
            </a:r>
            <a:r>
              <a:rPr lang="en-US" dirty="0" err="1"/>
              <a:t>i</a:t>
            </a:r>
            <a:r>
              <a:rPr lang="en-US" dirty="0"/>
              <a:t>;</a:t>
            </a:r>
          </a:p>
          <a:p>
            <a:r>
              <a:rPr lang="en-US" dirty="0"/>
              <a:t>	return f;</a:t>
            </a:r>
          </a:p>
          <a:p>
            <a:r>
              <a:rPr lang="en-US" dirty="0"/>
              <a:t>}</a:t>
            </a:r>
          </a:p>
        </p:txBody>
      </p:sp>
    </p:spTree>
    <p:extLst>
      <p:ext uri="{BB962C8B-B14F-4D97-AF65-F5344CB8AC3E}">
        <p14:creationId xmlns:p14="http://schemas.microsoft.com/office/powerpoint/2010/main" val="1928288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fontAlgn="base"/>
            <a:r>
              <a:rPr lang="en-US" sz="1800" b="1" dirty="0"/>
              <a:t>Three Address Code</a:t>
            </a:r>
            <a:r>
              <a:rPr lang="en-US" sz="1800" dirty="0"/>
              <a:t> of the above C code:</a:t>
            </a:r>
          </a:p>
          <a:p>
            <a:pPr fontAlgn="base"/>
            <a:r>
              <a:rPr lang="en-US" sz="1800" dirty="0"/>
              <a:t>f = 1;</a:t>
            </a:r>
          </a:p>
          <a:p>
            <a:pPr fontAlgn="base"/>
            <a:r>
              <a:rPr lang="en-US" sz="1800" dirty="0" err="1"/>
              <a:t>i</a:t>
            </a:r>
            <a:r>
              <a:rPr lang="en-US" sz="1800" dirty="0"/>
              <a:t> = 2;</a:t>
            </a:r>
          </a:p>
          <a:p>
            <a:pPr fontAlgn="base"/>
            <a:r>
              <a:rPr lang="en-US" sz="1800" dirty="0"/>
              <a:t>if (</a:t>
            </a:r>
            <a:r>
              <a:rPr lang="en-US" sz="1800" dirty="0" err="1"/>
              <a:t>i</a:t>
            </a:r>
            <a:r>
              <a:rPr lang="en-US" sz="1800" dirty="0"/>
              <a:t> &gt; x) </a:t>
            </a:r>
            <a:r>
              <a:rPr lang="en-US" sz="1800" dirty="0" err="1"/>
              <a:t>goto</a:t>
            </a:r>
            <a:r>
              <a:rPr lang="en-US" sz="1800" dirty="0"/>
              <a:t> 9</a:t>
            </a:r>
          </a:p>
          <a:p>
            <a:pPr fontAlgn="base"/>
            <a:r>
              <a:rPr lang="en-US" sz="1800" dirty="0"/>
              <a:t>t1 = f * </a:t>
            </a:r>
            <a:r>
              <a:rPr lang="en-US" sz="1800" dirty="0" err="1"/>
              <a:t>i</a:t>
            </a:r>
            <a:r>
              <a:rPr lang="en-US" sz="1800" dirty="0"/>
              <a:t>;</a:t>
            </a:r>
          </a:p>
          <a:p>
            <a:pPr fontAlgn="base"/>
            <a:r>
              <a:rPr lang="en-US" sz="1800" dirty="0"/>
              <a:t>f = t1;</a:t>
            </a:r>
          </a:p>
          <a:p>
            <a:pPr fontAlgn="base"/>
            <a:r>
              <a:rPr lang="en-US" sz="1800" dirty="0"/>
              <a:t>t2 = </a:t>
            </a:r>
            <a:r>
              <a:rPr lang="en-US" sz="1800" dirty="0" err="1"/>
              <a:t>i</a:t>
            </a:r>
            <a:r>
              <a:rPr lang="en-US" sz="1800" dirty="0"/>
              <a:t> + 1</a:t>
            </a:r>
            <a:r>
              <a:rPr lang="en-US" sz="1800" dirty="0" smtClean="0"/>
              <a:t>;  </a:t>
            </a:r>
            <a:endParaRPr lang="en-US" sz="1800" dirty="0"/>
          </a:p>
          <a:p>
            <a:pPr fontAlgn="base"/>
            <a:r>
              <a:rPr lang="en-US" sz="1800" dirty="0" err="1"/>
              <a:t>i</a:t>
            </a:r>
            <a:r>
              <a:rPr lang="en-US" sz="1800" dirty="0"/>
              <a:t> = t2;</a:t>
            </a:r>
          </a:p>
          <a:p>
            <a:pPr fontAlgn="base"/>
            <a:r>
              <a:rPr lang="en-US" sz="1800" dirty="0" err="1"/>
              <a:t>goto</a:t>
            </a:r>
            <a:r>
              <a:rPr lang="en-US" sz="1800" dirty="0"/>
              <a:t>(3)</a:t>
            </a:r>
          </a:p>
          <a:p>
            <a:pPr fontAlgn="base"/>
            <a:r>
              <a:rPr lang="en-US" sz="1800" dirty="0" err="1"/>
              <a:t>goto</a:t>
            </a:r>
            <a:r>
              <a:rPr lang="en-US" sz="1800" dirty="0"/>
              <a:t> calling program</a:t>
            </a:r>
          </a:p>
          <a:p>
            <a:pPr marL="0" indent="0">
              <a:buNone/>
            </a:pPr>
            <a:endParaRPr lang="en-US" sz="1800" b="1" dirty="0"/>
          </a:p>
        </p:txBody>
      </p:sp>
      <p:pic>
        <p:nvPicPr>
          <p:cNvPr id="6" name="Picture 5"/>
          <p:cNvPicPr>
            <a:picLocks noChangeAspect="1"/>
          </p:cNvPicPr>
          <p:nvPr/>
        </p:nvPicPr>
        <p:blipFill>
          <a:blip r:embed="rId2"/>
          <a:stretch>
            <a:fillRect/>
          </a:stretch>
        </p:blipFill>
        <p:spPr>
          <a:xfrm>
            <a:off x="4876800" y="2362200"/>
            <a:ext cx="3382027" cy="3657600"/>
          </a:xfrm>
          <a:prstGeom prst="rect">
            <a:avLst/>
          </a:prstGeom>
        </p:spPr>
      </p:pic>
    </p:spTree>
    <p:extLst>
      <p:ext uri="{BB962C8B-B14F-4D97-AF65-F5344CB8AC3E}">
        <p14:creationId xmlns:p14="http://schemas.microsoft.com/office/powerpoint/2010/main" val="2951615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3" name="Content Placeholder 2"/>
          <p:cNvSpPr>
            <a:spLocks noGrp="1"/>
          </p:cNvSpPr>
          <p:nvPr>
            <p:ph idx="1"/>
          </p:nvPr>
        </p:nvSpPr>
        <p:spPr/>
        <p:txBody>
          <a:bodyPr>
            <a:normAutofit/>
          </a:bodyPr>
          <a:lstStyle/>
          <a:p>
            <a:pPr marL="0" indent="0">
              <a:buNone/>
            </a:pPr>
            <a:endParaRPr lang="en-US" sz="1800" b="1" dirty="0"/>
          </a:p>
        </p:txBody>
      </p:sp>
      <p:pic>
        <p:nvPicPr>
          <p:cNvPr id="4" name="Picture 3"/>
          <p:cNvPicPr>
            <a:picLocks noChangeAspect="1"/>
          </p:cNvPicPr>
          <p:nvPr/>
        </p:nvPicPr>
        <p:blipFill>
          <a:blip r:embed="rId2"/>
          <a:stretch>
            <a:fillRect/>
          </a:stretch>
        </p:blipFill>
        <p:spPr>
          <a:xfrm>
            <a:off x="457200" y="1622946"/>
            <a:ext cx="7086600" cy="4906108"/>
          </a:xfrm>
          <a:prstGeom prst="rect">
            <a:avLst/>
          </a:prstGeom>
        </p:spPr>
      </p:pic>
    </p:spTree>
    <p:extLst>
      <p:ext uri="{BB962C8B-B14F-4D97-AF65-F5344CB8AC3E}">
        <p14:creationId xmlns:p14="http://schemas.microsoft.com/office/powerpoint/2010/main" val="3432452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Intermediate code generation</a:t>
            </a:r>
            <a:endParaRPr lang="en-US" dirty="0"/>
          </a:p>
        </p:txBody>
      </p:sp>
      <p:sp>
        <p:nvSpPr>
          <p:cNvPr id="5" name="Rectangle 4"/>
          <p:cNvSpPr/>
          <p:nvPr/>
        </p:nvSpPr>
        <p:spPr>
          <a:xfrm>
            <a:off x="421942" y="1600200"/>
            <a:ext cx="8264857" cy="2862322"/>
          </a:xfrm>
          <a:prstGeom prst="rect">
            <a:avLst/>
          </a:prstGeom>
        </p:spPr>
        <p:txBody>
          <a:bodyPr wrap="square">
            <a:spAutoFit/>
          </a:bodyPr>
          <a:lstStyle/>
          <a:p>
            <a:r>
              <a:rPr lang="en-US" dirty="0" smtClean="0">
                <a:solidFill>
                  <a:srgbClr val="273239"/>
                </a:solidFill>
                <a:latin typeface="urw-din"/>
              </a:rPr>
              <a:t>-If </a:t>
            </a:r>
            <a:r>
              <a:rPr lang="en-US" dirty="0">
                <a:solidFill>
                  <a:srgbClr val="273239"/>
                </a:solidFill>
                <a:latin typeface="urw-din"/>
              </a:rPr>
              <a:t>the control enter B1 there is no other option after </a:t>
            </a:r>
            <a:r>
              <a:rPr lang="en-US" dirty="0" smtClean="0">
                <a:solidFill>
                  <a:srgbClr val="273239"/>
                </a:solidFill>
                <a:latin typeface="urw-din"/>
              </a:rPr>
              <a:t>B1,It </a:t>
            </a:r>
            <a:r>
              <a:rPr lang="en-US" dirty="0">
                <a:solidFill>
                  <a:srgbClr val="273239"/>
                </a:solidFill>
                <a:latin typeface="urw-din"/>
              </a:rPr>
              <a:t>has to enter B2. </a:t>
            </a:r>
            <a:endParaRPr lang="en-US" dirty="0" smtClean="0">
              <a:solidFill>
                <a:srgbClr val="273239"/>
              </a:solidFill>
              <a:latin typeface="urw-din"/>
            </a:endParaRPr>
          </a:p>
          <a:p>
            <a:endParaRPr lang="en-US" dirty="0" smtClean="0">
              <a:solidFill>
                <a:srgbClr val="273239"/>
              </a:solidFill>
              <a:latin typeface="urw-din"/>
            </a:endParaRPr>
          </a:p>
          <a:p>
            <a:endParaRPr lang="en-US" dirty="0">
              <a:solidFill>
                <a:srgbClr val="273239"/>
              </a:solidFill>
              <a:latin typeface="urw-din"/>
            </a:endParaRPr>
          </a:p>
          <a:p>
            <a:r>
              <a:rPr lang="en-US" dirty="0" smtClean="0">
                <a:solidFill>
                  <a:srgbClr val="273239"/>
                </a:solidFill>
                <a:latin typeface="urw-din"/>
              </a:rPr>
              <a:t>-Now</a:t>
            </a:r>
            <a:r>
              <a:rPr lang="en-US" dirty="0">
                <a:solidFill>
                  <a:srgbClr val="273239"/>
                </a:solidFill>
                <a:latin typeface="urw-din"/>
              </a:rPr>
              <a:t>, if control enters B2, then depending on the condition control will flow, if the condition is true we are going to line no 9, which means 9 is nothing but B4. </a:t>
            </a:r>
            <a:endParaRPr lang="en-US" dirty="0" smtClean="0">
              <a:solidFill>
                <a:srgbClr val="273239"/>
              </a:solidFill>
              <a:latin typeface="urw-din"/>
            </a:endParaRPr>
          </a:p>
          <a:p>
            <a:endParaRPr lang="en-US" dirty="0">
              <a:solidFill>
                <a:srgbClr val="273239"/>
              </a:solidFill>
              <a:latin typeface="urw-din"/>
            </a:endParaRPr>
          </a:p>
          <a:p>
            <a:endParaRPr lang="en-US" dirty="0" smtClean="0">
              <a:solidFill>
                <a:srgbClr val="273239"/>
              </a:solidFill>
              <a:latin typeface="urw-din"/>
            </a:endParaRPr>
          </a:p>
          <a:p>
            <a:r>
              <a:rPr lang="en-US" dirty="0" smtClean="0">
                <a:solidFill>
                  <a:srgbClr val="273239"/>
                </a:solidFill>
                <a:latin typeface="urw-din"/>
              </a:rPr>
              <a:t>-But </a:t>
            </a:r>
            <a:r>
              <a:rPr lang="en-US" dirty="0">
                <a:solidFill>
                  <a:srgbClr val="273239"/>
                </a:solidFill>
                <a:latin typeface="urw-din"/>
              </a:rPr>
              <a:t>if the condition is false control goes to the next block B3. After B3, there is no condition at all we are direct goes to 3rd statement B2. Above control flow graph have a cycle between B2 and B3 which is nothing but a loop.</a:t>
            </a:r>
            <a:endParaRPr lang="en-US" dirty="0"/>
          </a:p>
        </p:txBody>
      </p:sp>
    </p:spTree>
    <p:extLst>
      <p:ext uri="{BB962C8B-B14F-4D97-AF65-F5344CB8AC3E}">
        <p14:creationId xmlns:p14="http://schemas.microsoft.com/office/powerpoint/2010/main" val="2508097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1754326"/>
          </a:xfrm>
          <a:prstGeom prst="rect">
            <a:avLst/>
          </a:prstGeom>
        </p:spPr>
        <p:txBody>
          <a:bodyPr wrap="square">
            <a:spAutoFit/>
          </a:bodyPr>
          <a:lstStyle/>
          <a:p>
            <a:r>
              <a:rPr lang="en-US" b="1" dirty="0"/>
              <a:t>When to Optimize? </a:t>
            </a:r>
          </a:p>
          <a:p>
            <a:endParaRPr lang="en-US" b="1" dirty="0" smtClean="0"/>
          </a:p>
          <a:p>
            <a:endParaRPr lang="en-US" b="1" dirty="0"/>
          </a:p>
          <a:p>
            <a:endParaRPr lang="en-US" b="1" dirty="0" smtClean="0"/>
          </a:p>
          <a:p>
            <a:r>
              <a:rPr lang="en-US" b="1" dirty="0" smtClean="0"/>
              <a:t>Why </a:t>
            </a:r>
            <a:r>
              <a:rPr lang="en-US" b="1" dirty="0"/>
              <a:t>Optimize? </a:t>
            </a:r>
          </a:p>
          <a:p>
            <a:endParaRPr lang="en-US" dirty="0"/>
          </a:p>
        </p:txBody>
      </p:sp>
    </p:spTree>
    <p:extLst>
      <p:ext uri="{BB962C8B-B14F-4D97-AF65-F5344CB8AC3E}">
        <p14:creationId xmlns:p14="http://schemas.microsoft.com/office/powerpoint/2010/main" val="2733985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2862322"/>
          </a:xfrm>
          <a:prstGeom prst="rect">
            <a:avLst/>
          </a:prstGeom>
        </p:spPr>
        <p:txBody>
          <a:bodyPr wrap="square">
            <a:spAutoFit/>
          </a:bodyPr>
          <a:lstStyle/>
          <a:p>
            <a:r>
              <a:rPr lang="en-US" b="1" dirty="0" smtClean="0"/>
              <a:t>Answer: 01 </a:t>
            </a:r>
            <a:r>
              <a:rPr lang="en-US" dirty="0"/>
              <a:t>Optimization of the code is often performed </a:t>
            </a:r>
            <a:r>
              <a:rPr lang="en-US" b="1" dirty="0"/>
              <a:t>at the end of the development stage </a:t>
            </a:r>
            <a:r>
              <a:rPr lang="en-US" dirty="0"/>
              <a:t>since it reduces readability and adds code that is used to increase the performance</a:t>
            </a:r>
            <a:r>
              <a:rPr lang="en-US" dirty="0" smtClean="0"/>
              <a:t>.</a:t>
            </a:r>
          </a:p>
          <a:p>
            <a:endParaRPr lang="en-US" dirty="0"/>
          </a:p>
          <a:p>
            <a:endParaRPr lang="en-US" dirty="0" smtClean="0"/>
          </a:p>
          <a:p>
            <a:r>
              <a:rPr lang="en-US" b="1" dirty="0"/>
              <a:t>Answer: </a:t>
            </a:r>
            <a:r>
              <a:rPr lang="en-US" b="1" dirty="0" smtClean="0"/>
              <a:t>02</a:t>
            </a:r>
          </a:p>
          <a:p>
            <a:endParaRPr lang="en-US" b="1" dirty="0"/>
          </a:p>
          <a:p>
            <a:r>
              <a:rPr lang="en-US" dirty="0" smtClean="0"/>
              <a:t>1-Reduce </a:t>
            </a:r>
            <a:r>
              <a:rPr lang="en-US" dirty="0"/>
              <a:t>the space consumed and increases the speed of compilation.</a:t>
            </a:r>
          </a:p>
          <a:p>
            <a:r>
              <a:rPr lang="en-US" dirty="0" smtClean="0"/>
              <a:t>2-An </a:t>
            </a:r>
            <a:r>
              <a:rPr lang="en-US" dirty="0"/>
              <a:t>optimized code often promotes re-usability.</a:t>
            </a:r>
          </a:p>
          <a:p>
            <a:r>
              <a:rPr lang="en-US" dirty="0"/>
              <a:t> </a:t>
            </a:r>
            <a:endParaRPr lang="en-US" b="1" dirty="0"/>
          </a:p>
        </p:txBody>
      </p:sp>
    </p:spTree>
    <p:extLst>
      <p:ext uri="{BB962C8B-B14F-4D97-AF65-F5344CB8AC3E}">
        <p14:creationId xmlns:p14="http://schemas.microsoft.com/office/powerpoint/2010/main" val="3342553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5078313"/>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endParaRPr lang="en-US" b="1" dirty="0"/>
          </a:p>
          <a:p>
            <a:pPr fontAlgn="base"/>
            <a:r>
              <a:rPr lang="en-US" b="1" dirty="0" smtClean="0"/>
              <a:t>-Machine </a:t>
            </a:r>
            <a:r>
              <a:rPr lang="en-US" b="1" dirty="0"/>
              <a:t>Independent Optimization:</a:t>
            </a:r>
            <a:r>
              <a:rPr lang="en-US" dirty="0"/>
              <a:t> This code optimization phase attempts to improve the </a:t>
            </a:r>
            <a:r>
              <a:rPr lang="en-US" b="1" dirty="0"/>
              <a:t>intermediate code</a:t>
            </a:r>
            <a:r>
              <a:rPr lang="en-US" dirty="0"/>
              <a:t> to get a better target code as the output. The part of the intermediate code which is transformed here does not involve any CPU registers or absolute memory locations.</a:t>
            </a:r>
          </a:p>
          <a:p>
            <a:pPr fontAlgn="base"/>
            <a:endParaRPr lang="en-US" b="1" dirty="0" smtClean="0"/>
          </a:p>
          <a:p>
            <a:pPr fontAlgn="base"/>
            <a:endParaRPr lang="en-US" b="1" dirty="0"/>
          </a:p>
          <a:p>
            <a:pPr fontAlgn="base"/>
            <a:endParaRPr lang="en-US" b="1" dirty="0" smtClean="0"/>
          </a:p>
          <a:p>
            <a:pPr fontAlgn="base"/>
            <a:r>
              <a:rPr lang="en-US" b="1" dirty="0" smtClean="0"/>
              <a:t>-Machine </a:t>
            </a:r>
            <a:r>
              <a:rPr lang="en-US" b="1" dirty="0"/>
              <a:t>Dependent Optimization:</a:t>
            </a:r>
            <a:r>
              <a:rPr lang="en-US" dirty="0"/>
              <a:t> Machine-dependent optimization is done after the </a:t>
            </a:r>
            <a:r>
              <a:rPr lang="en-US" b="1" dirty="0"/>
              <a:t>target code</a:t>
            </a:r>
            <a:r>
              <a:rPr lang="en-US" dirty="0"/>
              <a:t> has been generated and when the code is transformed according to the target machine architecture. It involves CPU registers and may have absolute memory references rather than relative references. Machine-dependent optimizers put efforts to take maximum </a:t>
            </a:r>
            <a:r>
              <a:rPr lang="en-US" b="1" dirty="0"/>
              <a:t>advantage</a:t>
            </a:r>
            <a:r>
              <a:rPr lang="en-US" dirty="0"/>
              <a:t> of the memory hierarchy.</a:t>
            </a:r>
          </a:p>
          <a:p>
            <a:endParaRPr lang="en-US" b="1" dirty="0" smtClean="0"/>
          </a:p>
          <a:p>
            <a:endParaRPr lang="en-US" b="1" dirty="0"/>
          </a:p>
        </p:txBody>
      </p:sp>
    </p:spTree>
    <p:extLst>
      <p:ext uri="{BB962C8B-B14F-4D97-AF65-F5344CB8AC3E}">
        <p14:creationId xmlns:p14="http://schemas.microsoft.com/office/powerpoint/2010/main" val="4137749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5632311"/>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endParaRPr lang="en-US" b="1" dirty="0"/>
          </a:p>
          <a:p>
            <a:pPr fontAlgn="base"/>
            <a:r>
              <a:rPr lang="en-US" dirty="0"/>
              <a:t>Code Optimization is done in the following different ways</a:t>
            </a:r>
            <a:r>
              <a:rPr lang="en-US" dirty="0" smtClean="0"/>
              <a:t>:</a:t>
            </a:r>
          </a:p>
          <a:p>
            <a:pPr fontAlgn="base"/>
            <a:endParaRPr lang="en-US" b="1" dirty="0" smtClean="0"/>
          </a:p>
          <a:p>
            <a:pPr fontAlgn="base"/>
            <a:r>
              <a:rPr lang="en-US" b="1" dirty="0" smtClean="0"/>
              <a:t>1</a:t>
            </a:r>
            <a:r>
              <a:rPr lang="en-US" b="1" dirty="0"/>
              <a:t>. Compile Time Evaluation</a:t>
            </a:r>
          </a:p>
          <a:p>
            <a:pPr fontAlgn="base"/>
            <a:r>
              <a:rPr lang="en-US" b="1" dirty="0"/>
              <a:t>2. Variable </a:t>
            </a:r>
            <a:r>
              <a:rPr lang="en-US" b="1" dirty="0" smtClean="0"/>
              <a:t>Propagation</a:t>
            </a:r>
          </a:p>
          <a:p>
            <a:pPr fontAlgn="base"/>
            <a:r>
              <a:rPr lang="en-US" b="1" dirty="0"/>
              <a:t>3. Constant Propagation</a:t>
            </a:r>
          </a:p>
          <a:p>
            <a:pPr fontAlgn="base"/>
            <a:r>
              <a:rPr lang="en-US" b="1" dirty="0"/>
              <a:t>4. Constant Folding</a:t>
            </a:r>
          </a:p>
          <a:p>
            <a:pPr fontAlgn="base"/>
            <a:r>
              <a:rPr lang="en-US" b="1" dirty="0"/>
              <a:t>5. Copy Propagation</a:t>
            </a:r>
          </a:p>
          <a:p>
            <a:pPr fontAlgn="base"/>
            <a:r>
              <a:rPr lang="en-US" b="1" dirty="0"/>
              <a:t>6. Common Sub Expression Elimination</a:t>
            </a:r>
          </a:p>
          <a:p>
            <a:pPr fontAlgn="base"/>
            <a:r>
              <a:rPr lang="en-US" b="1" dirty="0"/>
              <a:t>7. Dead Code Elimination</a:t>
            </a:r>
          </a:p>
          <a:p>
            <a:pPr fontAlgn="base"/>
            <a:r>
              <a:rPr lang="en-US" b="1" dirty="0"/>
              <a:t>8. Unreachable Code Elimination</a:t>
            </a:r>
          </a:p>
          <a:p>
            <a:pPr fontAlgn="base"/>
            <a:r>
              <a:rPr lang="en-US" b="1" dirty="0"/>
              <a:t>9. Function </a:t>
            </a:r>
            <a:r>
              <a:rPr lang="en-US" b="1" dirty="0" err="1"/>
              <a:t>Inlining</a:t>
            </a:r>
            <a:endParaRPr lang="en-US" b="1" dirty="0"/>
          </a:p>
          <a:p>
            <a:pPr fontAlgn="base"/>
            <a:r>
              <a:rPr lang="en-US" b="1" dirty="0"/>
              <a:t>10. Function Cloning</a:t>
            </a:r>
          </a:p>
          <a:p>
            <a:pPr fontAlgn="base"/>
            <a:r>
              <a:rPr lang="en-US" b="1" dirty="0"/>
              <a:t>11. Induction Variable and Strength Reduction</a:t>
            </a:r>
          </a:p>
          <a:p>
            <a:pPr fontAlgn="base"/>
            <a:endParaRPr lang="en-US" b="1" dirty="0" smtClean="0"/>
          </a:p>
          <a:p>
            <a:pPr fontAlgn="base"/>
            <a:endParaRPr lang="en-US" b="1" dirty="0"/>
          </a:p>
          <a:p>
            <a:pPr fontAlgn="base"/>
            <a:endParaRPr lang="en-US" b="1" dirty="0" smtClean="0"/>
          </a:p>
          <a:p>
            <a:endParaRPr lang="en-US" b="1" dirty="0"/>
          </a:p>
        </p:txBody>
      </p:sp>
    </p:spTree>
    <p:extLst>
      <p:ext uri="{BB962C8B-B14F-4D97-AF65-F5344CB8AC3E}">
        <p14:creationId xmlns:p14="http://schemas.microsoft.com/office/powerpoint/2010/main" val="33987384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3" y="1219200"/>
            <a:ext cx="8264857" cy="5632311"/>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endParaRPr lang="en-US" b="1" dirty="0"/>
          </a:p>
          <a:p>
            <a:pPr fontAlgn="base"/>
            <a:r>
              <a:rPr lang="en-US" dirty="0"/>
              <a:t>Code Optimization is done in the following different ways</a:t>
            </a:r>
            <a:r>
              <a:rPr lang="en-US" dirty="0" smtClean="0"/>
              <a:t>:</a:t>
            </a:r>
          </a:p>
          <a:p>
            <a:pPr fontAlgn="base"/>
            <a:endParaRPr lang="en-US" b="1" dirty="0" smtClean="0"/>
          </a:p>
          <a:p>
            <a:pPr marL="342900" indent="-342900" fontAlgn="base">
              <a:buAutoNum type="arabicPeriod"/>
            </a:pPr>
            <a:r>
              <a:rPr lang="en-US" b="1" dirty="0" smtClean="0"/>
              <a:t>Compile </a:t>
            </a:r>
            <a:r>
              <a:rPr lang="en-US" b="1" dirty="0"/>
              <a:t>Time </a:t>
            </a:r>
            <a:r>
              <a:rPr lang="en-US" b="1" dirty="0" smtClean="0"/>
              <a:t>Evaluation</a:t>
            </a:r>
          </a:p>
          <a:p>
            <a:pPr fontAlgn="base"/>
            <a:endParaRPr lang="en-US" b="1" dirty="0" smtClean="0"/>
          </a:p>
          <a:p>
            <a:pPr fontAlgn="base"/>
            <a:r>
              <a:rPr lang="en-US" dirty="0"/>
              <a:t>(</a:t>
            </a:r>
            <a:r>
              <a:rPr lang="en-US" dirty="0" err="1"/>
              <a:t>i</a:t>
            </a:r>
            <a:r>
              <a:rPr lang="en-US" dirty="0"/>
              <a:t>) A = 2*(22.0/7.0)*r</a:t>
            </a:r>
          </a:p>
          <a:p>
            <a:pPr fontAlgn="base"/>
            <a:r>
              <a:rPr lang="en-US" dirty="0"/>
              <a:t>	Perform 2*(22.0/7.0)*r at compile time.</a:t>
            </a:r>
          </a:p>
          <a:p>
            <a:pPr fontAlgn="base"/>
            <a:r>
              <a:rPr lang="en-US" dirty="0"/>
              <a:t>(ii) x = 12.4</a:t>
            </a:r>
          </a:p>
          <a:p>
            <a:pPr fontAlgn="base"/>
            <a:r>
              <a:rPr lang="en-US" dirty="0"/>
              <a:t>	y = x/2.3</a:t>
            </a:r>
          </a:p>
          <a:p>
            <a:pPr fontAlgn="base"/>
            <a:r>
              <a:rPr lang="en-US" dirty="0"/>
              <a:t>	Evaluate x/2.3 as 12.4/2.3 at compile time.</a:t>
            </a:r>
          </a:p>
          <a:p>
            <a:pPr fontAlgn="base"/>
            <a:endParaRPr lang="en-US" b="1" dirty="0"/>
          </a:p>
          <a:p>
            <a:pPr fontAlgn="base"/>
            <a:r>
              <a:rPr lang="en-US" b="1" dirty="0"/>
              <a:t>2. Variable </a:t>
            </a:r>
            <a:r>
              <a:rPr lang="en-US" b="1" dirty="0" smtClean="0"/>
              <a:t>Propagation</a:t>
            </a:r>
          </a:p>
          <a:p>
            <a:pPr fontAlgn="base"/>
            <a:r>
              <a:rPr lang="en-US" dirty="0"/>
              <a:t>//Before Optimization</a:t>
            </a:r>
          </a:p>
          <a:p>
            <a:pPr fontAlgn="base"/>
            <a:r>
              <a:rPr lang="en-US" dirty="0"/>
              <a:t>c = a * b								</a:t>
            </a:r>
          </a:p>
          <a:p>
            <a:pPr fontAlgn="base"/>
            <a:r>
              <a:rPr lang="en-US" dirty="0"/>
              <a:t>x = a								</a:t>
            </a:r>
          </a:p>
          <a:p>
            <a:pPr fontAlgn="base"/>
            <a:r>
              <a:rPr lang="en-US" dirty="0" smtClean="0"/>
              <a:t>till</a:t>
            </a:r>
            <a:r>
              <a:rPr lang="en-US" b="1" dirty="0"/>
              <a:t>						</a:t>
            </a:r>
          </a:p>
          <a:p>
            <a:pPr fontAlgn="base"/>
            <a:r>
              <a:rPr lang="en-US" dirty="0"/>
              <a:t>d = x * b + 4</a:t>
            </a:r>
          </a:p>
          <a:p>
            <a:pPr fontAlgn="base"/>
            <a:endParaRPr lang="en-US" b="1" dirty="0"/>
          </a:p>
        </p:txBody>
      </p:sp>
      <p:sp>
        <p:nvSpPr>
          <p:cNvPr id="3" name="TextBox 2"/>
          <p:cNvSpPr txBox="1"/>
          <p:nvPr/>
        </p:nvSpPr>
        <p:spPr>
          <a:xfrm>
            <a:off x="5562600" y="5097185"/>
            <a:ext cx="2819400" cy="1754326"/>
          </a:xfrm>
          <a:prstGeom prst="rect">
            <a:avLst/>
          </a:prstGeom>
          <a:noFill/>
        </p:spPr>
        <p:txBody>
          <a:bodyPr wrap="square" rtlCol="0">
            <a:spAutoFit/>
          </a:bodyPr>
          <a:lstStyle/>
          <a:p>
            <a:pPr fontAlgn="base"/>
            <a:r>
              <a:rPr lang="en-US" dirty="0"/>
              <a:t>//After Optimization</a:t>
            </a:r>
          </a:p>
          <a:p>
            <a:pPr fontAlgn="base"/>
            <a:r>
              <a:rPr lang="en-US" dirty="0"/>
              <a:t>c = a * b</a:t>
            </a:r>
          </a:p>
          <a:p>
            <a:pPr fontAlgn="base"/>
            <a:r>
              <a:rPr lang="en-US" dirty="0"/>
              <a:t>x = a</a:t>
            </a:r>
          </a:p>
          <a:p>
            <a:pPr fontAlgn="base"/>
            <a:r>
              <a:rPr lang="en-US" dirty="0"/>
              <a:t>till</a:t>
            </a:r>
          </a:p>
          <a:p>
            <a:pPr fontAlgn="base"/>
            <a:r>
              <a:rPr lang="en-US" dirty="0"/>
              <a:t>d = a * b + 4</a:t>
            </a:r>
          </a:p>
          <a:p>
            <a:endParaRPr lang="en-US" dirty="0"/>
          </a:p>
        </p:txBody>
      </p:sp>
    </p:spTree>
    <p:extLst>
      <p:ext uri="{BB962C8B-B14F-4D97-AF65-F5344CB8AC3E}">
        <p14:creationId xmlns:p14="http://schemas.microsoft.com/office/powerpoint/2010/main" val="31371824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4524315"/>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r>
              <a:rPr lang="en-US" b="1" dirty="0" smtClean="0"/>
              <a:t>3</a:t>
            </a:r>
            <a:r>
              <a:rPr lang="en-US" b="1" dirty="0"/>
              <a:t>. Constant </a:t>
            </a:r>
            <a:r>
              <a:rPr lang="en-US" b="1" dirty="0" smtClean="0"/>
              <a:t>Propagation</a:t>
            </a:r>
          </a:p>
          <a:p>
            <a:pPr fontAlgn="base"/>
            <a:r>
              <a:rPr lang="en-US" dirty="0"/>
              <a:t>If the value of a variable is a constant, then replace the variable with the constant. The variable may not always be a constant</a:t>
            </a:r>
            <a:r>
              <a:rPr lang="en-US" dirty="0" smtClean="0"/>
              <a:t>.</a:t>
            </a:r>
          </a:p>
          <a:p>
            <a:pPr fontAlgn="base"/>
            <a:endParaRPr lang="en-US" dirty="0" smtClean="0"/>
          </a:p>
          <a:p>
            <a:pPr fontAlgn="base"/>
            <a:r>
              <a:rPr lang="en-US" dirty="0" smtClean="0"/>
              <a:t>(</a:t>
            </a:r>
            <a:r>
              <a:rPr lang="en-US" dirty="0" err="1"/>
              <a:t>i</a:t>
            </a:r>
            <a:r>
              <a:rPr lang="en-US" dirty="0"/>
              <a:t>) A = 2*(22.0/7.0)*r</a:t>
            </a:r>
          </a:p>
          <a:p>
            <a:pPr fontAlgn="base"/>
            <a:r>
              <a:rPr lang="en-US" dirty="0"/>
              <a:t>	Performs 2*(22.0/7.0)*r at compile time.</a:t>
            </a:r>
          </a:p>
          <a:p>
            <a:pPr fontAlgn="base"/>
            <a:r>
              <a:rPr lang="en-US" dirty="0"/>
              <a:t>(ii) x = 12.4</a:t>
            </a:r>
          </a:p>
          <a:p>
            <a:pPr fontAlgn="base"/>
            <a:r>
              <a:rPr lang="en-US" dirty="0"/>
              <a:t>	y = x/2.3</a:t>
            </a:r>
          </a:p>
          <a:p>
            <a:pPr fontAlgn="base"/>
            <a:r>
              <a:rPr lang="en-US" dirty="0"/>
              <a:t>	Evaluates x/2.3 as 12.4/2.3 at compile time.</a:t>
            </a:r>
          </a:p>
          <a:p>
            <a:pPr fontAlgn="base"/>
            <a:r>
              <a:rPr lang="en-US" dirty="0"/>
              <a:t>(iii) </a:t>
            </a:r>
            <a:r>
              <a:rPr lang="en-US" dirty="0" err="1"/>
              <a:t>int</a:t>
            </a:r>
            <a:r>
              <a:rPr lang="en-US" dirty="0"/>
              <a:t> k=2;</a:t>
            </a:r>
          </a:p>
          <a:p>
            <a:pPr fontAlgn="base"/>
            <a:r>
              <a:rPr lang="en-US" dirty="0"/>
              <a:t>	if(k) go to L3;</a:t>
            </a:r>
          </a:p>
          <a:p>
            <a:pPr fontAlgn="base"/>
            <a:r>
              <a:rPr lang="en-US" dirty="0"/>
              <a:t>	It is evaluated as :</a:t>
            </a:r>
          </a:p>
          <a:p>
            <a:pPr fontAlgn="base"/>
            <a:r>
              <a:rPr lang="en-US" dirty="0"/>
              <a:t>	go to L3 ( Because k = 2 which implies condition is always true)</a:t>
            </a:r>
          </a:p>
          <a:p>
            <a:pPr fontAlgn="base"/>
            <a:endParaRPr lang="en-US" dirty="0"/>
          </a:p>
        </p:txBody>
      </p:sp>
    </p:spTree>
    <p:extLst>
      <p:ext uri="{BB962C8B-B14F-4D97-AF65-F5344CB8AC3E}">
        <p14:creationId xmlns:p14="http://schemas.microsoft.com/office/powerpoint/2010/main" val="16675081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3" y="1478507"/>
            <a:ext cx="8493457" cy="4524315"/>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r>
              <a:rPr lang="en-US" b="1" dirty="0" smtClean="0"/>
              <a:t>4</a:t>
            </a:r>
            <a:r>
              <a:rPr lang="en-US" b="1" dirty="0"/>
              <a:t>. Constant </a:t>
            </a:r>
            <a:r>
              <a:rPr lang="en-US" b="1" dirty="0" smtClean="0"/>
              <a:t>Folding</a:t>
            </a:r>
          </a:p>
          <a:p>
            <a:pPr fontAlgn="base"/>
            <a:endParaRPr lang="en-US" dirty="0" smtClean="0"/>
          </a:p>
          <a:p>
            <a:pPr fontAlgn="base"/>
            <a:r>
              <a:rPr lang="en-US" dirty="0" smtClean="0"/>
              <a:t>#</a:t>
            </a:r>
            <a:r>
              <a:rPr lang="en-US" dirty="0"/>
              <a:t>define k 5</a:t>
            </a:r>
          </a:p>
          <a:p>
            <a:pPr fontAlgn="base"/>
            <a:r>
              <a:rPr lang="en-US" dirty="0"/>
              <a:t>x = 2 * k</a:t>
            </a:r>
          </a:p>
          <a:p>
            <a:pPr fontAlgn="base"/>
            <a:r>
              <a:rPr lang="en-US" dirty="0"/>
              <a:t>y = k + 5</a:t>
            </a:r>
          </a:p>
          <a:p>
            <a:pPr fontAlgn="base"/>
            <a:endParaRPr lang="en-US" dirty="0"/>
          </a:p>
          <a:p>
            <a:pPr fontAlgn="base"/>
            <a:r>
              <a:rPr lang="en-US" dirty="0"/>
              <a:t>This can be computed at compile time and the values of x and y are :</a:t>
            </a:r>
          </a:p>
          <a:p>
            <a:pPr fontAlgn="base"/>
            <a:r>
              <a:rPr lang="en-US" dirty="0"/>
              <a:t>x = 10</a:t>
            </a:r>
          </a:p>
          <a:p>
            <a:pPr fontAlgn="base"/>
            <a:r>
              <a:rPr lang="en-US" dirty="0"/>
              <a:t>y = 10</a:t>
            </a:r>
          </a:p>
          <a:p>
            <a:pPr fontAlgn="base"/>
            <a:endParaRPr lang="en-GB" b="1" dirty="0" smtClean="0"/>
          </a:p>
          <a:p>
            <a:pPr fontAlgn="base"/>
            <a:r>
              <a:rPr lang="en-US" b="1" i="1" dirty="0"/>
              <a:t>Note: Difference between Constant Propagation and Constant Folding: </a:t>
            </a:r>
            <a:endParaRPr lang="en-US" dirty="0"/>
          </a:p>
          <a:p>
            <a:pPr fontAlgn="base"/>
            <a:r>
              <a:rPr lang="en-US" dirty="0"/>
              <a:t>In Constant Propagation, the variable is substituted with its assigned constant where as in Constant Folding, the variables whose values can be computed at compile time are considered and computed. </a:t>
            </a:r>
          </a:p>
        </p:txBody>
      </p:sp>
    </p:spTree>
    <p:extLst>
      <p:ext uri="{BB962C8B-B14F-4D97-AF65-F5344CB8AC3E}">
        <p14:creationId xmlns:p14="http://schemas.microsoft.com/office/powerpoint/2010/main" val="26780594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3970318"/>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r>
              <a:rPr lang="en-US" b="1" dirty="0"/>
              <a:t>5. Copy </a:t>
            </a:r>
            <a:r>
              <a:rPr lang="en-US" b="1" dirty="0" smtClean="0"/>
              <a:t>Propagation</a:t>
            </a:r>
          </a:p>
          <a:p>
            <a:pPr fontAlgn="base"/>
            <a:r>
              <a:rPr lang="en-US" dirty="0" smtClean="0"/>
              <a:t>-It </a:t>
            </a:r>
            <a:r>
              <a:rPr lang="en-US" dirty="0"/>
              <a:t>is extension of constant propagation.</a:t>
            </a:r>
          </a:p>
          <a:p>
            <a:pPr fontAlgn="base"/>
            <a:r>
              <a:rPr lang="en-US" dirty="0" smtClean="0"/>
              <a:t>-After </a:t>
            </a:r>
            <a:r>
              <a:rPr lang="en-US" dirty="0"/>
              <a:t>a is assigned to x, use a to replace x till a is assigned again to another variable or value or expression.</a:t>
            </a:r>
          </a:p>
          <a:p>
            <a:pPr fontAlgn="base"/>
            <a:r>
              <a:rPr lang="en-US" dirty="0" smtClean="0"/>
              <a:t>-It </a:t>
            </a:r>
            <a:r>
              <a:rPr lang="en-US" dirty="0"/>
              <a:t>helps in reducing the compile time as it reduces copying.</a:t>
            </a:r>
          </a:p>
          <a:p>
            <a:pPr fontAlgn="base"/>
            <a:endParaRPr lang="en-US" b="1" dirty="0" smtClean="0"/>
          </a:p>
          <a:p>
            <a:pPr fontAlgn="base"/>
            <a:r>
              <a:rPr lang="en-US" dirty="0"/>
              <a:t>//Before Optimization</a:t>
            </a:r>
          </a:p>
          <a:p>
            <a:pPr fontAlgn="base"/>
            <a:r>
              <a:rPr lang="en-US" dirty="0"/>
              <a:t>c = a * b								</a:t>
            </a:r>
          </a:p>
          <a:p>
            <a:pPr fontAlgn="base"/>
            <a:r>
              <a:rPr lang="en-US" dirty="0"/>
              <a:t>x = a								</a:t>
            </a:r>
          </a:p>
          <a:p>
            <a:pPr fontAlgn="base"/>
            <a:r>
              <a:rPr lang="en-US" dirty="0"/>
              <a:t>till							</a:t>
            </a:r>
          </a:p>
          <a:p>
            <a:pPr fontAlgn="base"/>
            <a:r>
              <a:rPr lang="en-US" dirty="0"/>
              <a:t>d = x * b + 4</a:t>
            </a:r>
          </a:p>
          <a:p>
            <a:pPr fontAlgn="base"/>
            <a:endParaRPr lang="en-US" b="1" dirty="0"/>
          </a:p>
        </p:txBody>
      </p:sp>
      <p:sp>
        <p:nvSpPr>
          <p:cNvPr id="3" name="TextBox 2"/>
          <p:cNvSpPr txBox="1"/>
          <p:nvPr/>
        </p:nvSpPr>
        <p:spPr>
          <a:xfrm>
            <a:off x="5486400" y="3581400"/>
            <a:ext cx="2971800" cy="1754326"/>
          </a:xfrm>
          <a:prstGeom prst="rect">
            <a:avLst/>
          </a:prstGeom>
          <a:noFill/>
        </p:spPr>
        <p:txBody>
          <a:bodyPr wrap="square" rtlCol="0">
            <a:spAutoFit/>
          </a:bodyPr>
          <a:lstStyle/>
          <a:p>
            <a:pPr fontAlgn="base"/>
            <a:endParaRPr lang="en-US" b="1" dirty="0"/>
          </a:p>
          <a:p>
            <a:pPr fontAlgn="base"/>
            <a:r>
              <a:rPr lang="en-US" dirty="0"/>
              <a:t>//After Optimization</a:t>
            </a:r>
          </a:p>
          <a:p>
            <a:pPr fontAlgn="base"/>
            <a:r>
              <a:rPr lang="en-US" dirty="0"/>
              <a:t>c = a * b</a:t>
            </a:r>
          </a:p>
          <a:p>
            <a:pPr fontAlgn="base"/>
            <a:r>
              <a:rPr lang="en-US" dirty="0"/>
              <a:t>x = a</a:t>
            </a:r>
          </a:p>
          <a:p>
            <a:pPr fontAlgn="base"/>
            <a:r>
              <a:rPr lang="en-US" dirty="0"/>
              <a:t>till</a:t>
            </a:r>
          </a:p>
          <a:p>
            <a:pPr fontAlgn="base"/>
            <a:r>
              <a:rPr lang="en-US" dirty="0"/>
              <a:t>d = a * b + 4</a:t>
            </a:r>
          </a:p>
        </p:txBody>
      </p:sp>
    </p:spTree>
    <p:extLst>
      <p:ext uri="{BB962C8B-B14F-4D97-AF65-F5344CB8AC3E}">
        <p14:creationId xmlns:p14="http://schemas.microsoft.com/office/powerpoint/2010/main" val="42858912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4801314"/>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r>
              <a:rPr lang="en-US" b="1" dirty="0" smtClean="0"/>
              <a:t>6</a:t>
            </a:r>
            <a:r>
              <a:rPr lang="en-US" b="1" dirty="0"/>
              <a:t>. Common Sub Expression </a:t>
            </a:r>
            <a:r>
              <a:rPr lang="en-US" b="1" dirty="0" smtClean="0"/>
              <a:t>Elimination</a:t>
            </a:r>
          </a:p>
          <a:p>
            <a:pPr fontAlgn="base"/>
            <a:endParaRPr lang="en-US" dirty="0" smtClean="0"/>
          </a:p>
          <a:p>
            <a:pPr fontAlgn="base"/>
            <a:r>
              <a:rPr lang="en-US" dirty="0" smtClean="0"/>
              <a:t>In </a:t>
            </a:r>
            <a:r>
              <a:rPr lang="en-US" dirty="0"/>
              <a:t>the above example, a*b and x*b is a common sub expression.</a:t>
            </a:r>
          </a:p>
          <a:p>
            <a:pPr fontAlgn="base"/>
            <a:endParaRPr lang="en-US" b="1" dirty="0"/>
          </a:p>
          <a:p>
            <a:pPr fontAlgn="base"/>
            <a:r>
              <a:rPr lang="en-US" b="1" dirty="0"/>
              <a:t>7. Dead Code </a:t>
            </a:r>
            <a:r>
              <a:rPr lang="en-US" b="1" dirty="0" smtClean="0"/>
              <a:t>Elimination</a:t>
            </a:r>
          </a:p>
          <a:p>
            <a:pPr fontAlgn="base"/>
            <a:r>
              <a:rPr lang="en-US" dirty="0"/>
              <a:t>Copy propagation often leads to making assignment statements into dead code.</a:t>
            </a:r>
          </a:p>
          <a:p>
            <a:pPr fontAlgn="base"/>
            <a:r>
              <a:rPr lang="en-US" dirty="0"/>
              <a:t>A variable is said to be dead if it is never used after its last definition.</a:t>
            </a:r>
          </a:p>
          <a:p>
            <a:pPr fontAlgn="base"/>
            <a:r>
              <a:rPr lang="en-US" dirty="0"/>
              <a:t>In order to find the dead variables, a data flow analysis should be done.</a:t>
            </a:r>
          </a:p>
          <a:p>
            <a:pPr fontAlgn="base"/>
            <a:endParaRPr lang="en-US" b="1" dirty="0"/>
          </a:p>
          <a:p>
            <a:pPr fontAlgn="base"/>
            <a:r>
              <a:rPr lang="en-US" dirty="0"/>
              <a:t>c = a * b								</a:t>
            </a:r>
          </a:p>
          <a:p>
            <a:pPr fontAlgn="base"/>
            <a:r>
              <a:rPr lang="en-US" dirty="0"/>
              <a:t>x = a								</a:t>
            </a:r>
          </a:p>
          <a:p>
            <a:pPr fontAlgn="base"/>
            <a:r>
              <a:rPr lang="en-US" dirty="0"/>
              <a:t>till								</a:t>
            </a:r>
          </a:p>
          <a:p>
            <a:pPr fontAlgn="base"/>
            <a:r>
              <a:rPr lang="en-US" dirty="0"/>
              <a:t>d = a * b + 4</a:t>
            </a:r>
          </a:p>
          <a:p>
            <a:pPr fontAlgn="base"/>
            <a:endParaRPr lang="en-US" dirty="0"/>
          </a:p>
          <a:p>
            <a:pPr fontAlgn="base"/>
            <a:endParaRPr lang="en-US" b="1" dirty="0"/>
          </a:p>
        </p:txBody>
      </p:sp>
      <p:sp>
        <p:nvSpPr>
          <p:cNvPr id="3" name="TextBox 2"/>
          <p:cNvSpPr txBox="1"/>
          <p:nvPr/>
        </p:nvSpPr>
        <p:spPr>
          <a:xfrm>
            <a:off x="6324599" y="4674020"/>
            <a:ext cx="2362199" cy="1754326"/>
          </a:xfrm>
          <a:prstGeom prst="rect">
            <a:avLst/>
          </a:prstGeom>
          <a:noFill/>
        </p:spPr>
        <p:txBody>
          <a:bodyPr wrap="square" rtlCol="0">
            <a:spAutoFit/>
          </a:bodyPr>
          <a:lstStyle/>
          <a:p>
            <a:pPr fontAlgn="base"/>
            <a:r>
              <a:rPr lang="en-US" dirty="0"/>
              <a:t>//After elimination :</a:t>
            </a:r>
          </a:p>
          <a:p>
            <a:pPr fontAlgn="base"/>
            <a:r>
              <a:rPr lang="en-US" dirty="0"/>
              <a:t>c = a * b</a:t>
            </a:r>
          </a:p>
          <a:p>
            <a:pPr fontAlgn="base"/>
            <a:r>
              <a:rPr lang="en-US" dirty="0"/>
              <a:t>till</a:t>
            </a:r>
          </a:p>
          <a:p>
            <a:pPr fontAlgn="base"/>
            <a:r>
              <a:rPr lang="en-US" dirty="0"/>
              <a:t>d = a * b + 4</a:t>
            </a:r>
          </a:p>
          <a:p>
            <a:pPr fontAlgn="base"/>
            <a:endParaRPr lang="en-US" b="1" dirty="0"/>
          </a:p>
          <a:p>
            <a:endParaRPr lang="en-US" dirty="0"/>
          </a:p>
        </p:txBody>
      </p:sp>
    </p:spTree>
    <p:extLst>
      <p:ext uri="{BB962C8B-B14F-4D97-AF65-F5344CB8AC3E}">
        <p14:creationId xmlns:p14="http://schemas.microsoft.com/office/powerpoint/2010/main" val="13712523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5355312"/>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a:p>
          <a:p>
            <a:pPr fontAlgn="base"/>
            <a:r>
              <a:rPr lang="en-US" b="1" dirty="0"/>
              <a:t>8. Unreachable Code </a:t>
            </a:r>
            <a:r>
              <a:rPr lang="en-US" b="1" dirty="0" smtClean="0"/>
              <a:t>Elimination</a:t>
            </a:r>
          </a:p>
          <a:p>
            <a:pPr fontAlgn="base"/>
            <a:r>
              <a:rPr lang="en-US" dirty="0" smtClean="0"/>
              <a:t>-First</a:t>
            </a:r>
            <a:r>
              <a:rPr lang="en-US" dirty="0"/>
              <a:t>, Control Flow Graph should be constructed.</a:t>
            </a:r>
          </a:p>
          <a:p>
            <a:pPr fontAlgn="base"/>
            <a:r>
              <a:rPr lang="en-US" dirty="0" smtClean="0"/>
              <a:t>-The </a:t>
            </a:r>
            <a:r>
              <a:rPr lang="en-US" dirty="0"/>
              <a:t>block which does not have an incoming edge is an Unreachable code block.</a:t>
            </a:r>
          </a:p>
          <a:p>
            <a:pPr fontAlgn="base"/>
            <a:r>
              <a:rPr lang="en-US" dirty="0" smtClean="0"/>
              <a:t>-After </a:t>
            </a:r>
            <a:r>
              <a:rPr lang="en-US" dirty="0"/>
              <a:t>constant propagation and constant folding, the unreachable branches can be eliminated.</a:t>
            </a:r>
          </a:p>
          <a:p>
            <a:pPr fontAlgn="base"/>
            <a:endParaRPr lang="en-GB" dirty="0" smtClean="0"/>
          </a:p>
          <a:p>
            <a:pPr fontAlgn="base"/>
            <a:r>
              <a:rPr lang="en-GB" dirty="0" smtClean="0"/>
              <a:t>#</a:t>
            </a:r>
            <a:r>
              <a:rPr lang="en-GB" dirty="0"/>
              <a:t>include &lt;</a:t>
            </a:r>
            <a:r>
              <a:rPr lang="en-GB" dirty="0" err="1"/>
              <a:t>iostream</a:t>
            </a:r>
            <a:r>
              <a:rPr lang="en-GB" dirty="0"/>
              <a:t>&gt;</a:t>
            </a:r>
          </a:p>
          <a:p>
            <a:pPr fontAlgn="base"/>
            <a:r>
              <a:rPr lang="en-GB" dirty="0"/>
              <a:t>using namespace </a:t>
            </a:r>
            <a:r>
              <a:rPr lang="en-GB" dirty="0" err="1"/>
              <a:t>std</a:t>
            </a:r>
            <a:r>
              <a:rPr lang="en-GB" dirty="0"/>
              <a:t>;</a:t>
            </a:r>
          </a:p>
          <a:p>
            <a:pPr fontAlgn="base"/>
            <a:endParaRPr lang="en-GB" dirty="0"/>
          </a:p>
          <a:p>
            <a:pPr fontAlgn="base"/>
            <a:r>
              <a:rPr lang="en-GB" dirty="0" err="1"/>
              <a:t>int</a:t>
            </a:r>
            <a:r>
              <a:rPr lang="en-GB" dirty="0"/>
              <a:t> main() {</a:t>
            </a:r>
          </a:p>
          <a:p>
            <a:pPr fontAlgn="base"/>
            <a:r>
              <a:rPr lang="en-GB" dirty="0" err="1"/>
              <a:t>int</a:t>
            </a:r>
            <a:r>
              <a:rPr lang="en-GB" dirty="0"/>
              <a:t> </a:t>
            </a:r>
            <a:r>
              <a:rPr lang="en-GB" dirty="0" err="1"/>
              <a:t>num</a:t>
            </a:r>
            <a:r>
              <a:rPr lang="en-GB" dirty="0"/>
              <a:t>;</a:t>
            </a:r>
          </a:p>
          <a:p>
            <a:pPr fontAlgn="base"/>
            <a:r>
              <a:rPr lang="en-GB" dirty="0" err="1"/>
              <a:t>num</a:t>
            </a:r>
            <a:r>
              <a:rPr lang="en-GB" dirty="0"/>
              <a:t>=10;</a:t>
            </a:r>
          </a:p>
          <a:p>
            <a:pPr fontAlgn="base"/>
            <a:r>
              <a:rPr lang="en-GB" dirty="0"/>
              <a:t>	</a:t>
            </a:r>
            <a:r>
              <a:rPr lang="en-GB" dirty="0" err="1"/>
              <a:t>cout</a:t>
            </a:r>
            <a:r>
              <a:rPr lang="en-GB" dirty="0"/>
              <a:t> &lt;&lt; </a:t>
            </a:r>
            <a:r>
              <a:rPr lang="en-GB" dirty="0" smtClean="0"/>
              <a:t>“compiler class!";</a:t>
            </a:r>
            <a:endParaRPr lang="en-GB" dirty="0"/>
          </a:p>
          <a:p>
            <a:pPr fontAlgn="base"/>
            <a:r>
              <a:rPr lang="en-GB" dirty="0"/>
              <a:t>	return 0;</a:t>
            </a:r>
          </a:p>
          <a:p>
            <a:pPr fontAlgn="base"/>
            <a:r>
              <a:rPr lang="en-GB" dirty="0" err="1"/>
              <a:t>cout</a:t>
            </a:r>
            <a:r>
              <a:rPr lang="en-GB" dirty="0"/>
              <a:t> &lt;&lt; </a:t>
            </a:r>
            <a:r>
              <a:rPr lang="en-GB" dirty="0" err="1"/>
              <a:t>num</a:t>
            </a:r>
            <a:r>
              <a:rPr lang="en-GB" dirty="0"/>
              <a:t>; //unreachable code</a:t>
            </a:r>
          </a:p>
          <a:p>
            <a:pPr fontAlgn="base"/>
            <a:r>
              <a:rPr lang="en-GB" dirty="0" smtClean="0"/>
              <a:t>}</a:t>
            </a:r>
            <a:endParaRPr lang="en-GB" dirty="0"/>
          </a:p>
        </p:txBody>
      </p:sp>
      <p:sp>
        <p:nvSpPr>
          <p:cNvPr id="3" name="TextBox 2"/>
          <p:cNvSpPr txBox="1"/>
          <p:nvPr/>
        </p:nvSpPr>
        <p:spPr>
          <a:xfrm>
            <a:off x="4724400" y="3886200"/>
            <a:ext cx="4267200" cy="2308324"/>
          </a:xfrm>
          <a:prstGeom prst="rect">
            <a:avLst/>
          </a:prstGeom>
          <a:noFill/>
        </p:spPr>
        <p:txBody>
          <a:bodyPr wrap="square" rtlCol="0">
            <a:spAutoFit/>
          </a:bodyPr>
          <a:lstStyle/>
          <a:p>
            <a:pPr fontAlgn="base"/>
            <a:r>
              <a:rPr lang="en-GB" dirty="0"/>
              <a:t>//after elimination of unreachable code</a:t>
            </a:r>
          </a:p>
          <a:p>
            <a:pPr fontAlgn="base"/>
            <a:r>
              <a:rPr lang="en-GB" dirty="0" err="1"/>
              <a:t>int</a:t>
            </a:r>
            <a:r>
              <a:rPr lang="en-GB" dirty="0"/>
              <a:t> main() {</a:t>
            </a:r>
          </a:p>
          <a:p>
            <a:pPr fontAlgn="base"/>
            <a:r>
              <a:rPr lang="en-GB" dirty="0" err="1"/>
              <a:t>int</a:t>
            </a:r>
            <a:r>
              <a:rPr lang="en-GB" dirty="0"/>
              <a:t> </a:t>
            </a:r>
            <a:r>
              <a:rPr lang="en-GB" dirty="0" err="1"/>
              <a:t>num</a:t>
            </a:r>
            <a:r>
              <a:rPr lang="en-GB" dirty="0"/>
              <a:t>;</a:t>
            </a:r>
          </a:p>
          <a:p>
            <a:pPr fontAlgn="base"/>
            <a:r>
              <a:rPr lang="en-GB" dirty="0" err="1"/>
              <a:t>num</a:t>
            </a:r>
            <a:r>
              <a:rPr lang="en-GB" dirty="0"/>
              <a:t>=10;</a:t>
            </a:r>
          </a:p>
          <a:p>
            <a:pPr fontAlgn="base"/>
            <a:r>
              <a:rPr lang="en-GB" dirty="0"/>
              <a:t>	</a:t>
            </a:r>
            <a:r>
              <a:rPr lang="en-GB" dirty="0" err="1"/>
              <a:t>cout</a:t>
            </a:r>
            <a:r>
              <a:rPr lang="en-GB" dirty="0"/>
              <a:t> &lt;&lt; </a:t>
            </a:r>
            <a:r>
              <a:rPr lang="en-GB" dirty="0" smtClean="0"/>
              <a:t>“compiler Class!";</a:t>
            </a:r>
            <a:endParaRPr lang="en-GB" dirty="0"/>
          </a:p>
          <a:p>
            <a:pPr fontAlgn="base"/>
            <a:r>
              <a:rPr lang="en-GB" dirty="0"/>
              <a:t>	return 0;</a:t>
            </a:r>
          </a:p>
          <a:p>
            <a:pPr fontAlgn="base"/>
            <a:r>
              <a:rPr lang="en-GB" dirty="0"/>
              <a:t>}</a:t>
            </a:r>
          </a:p>
          <a:p>
            <a:endParaRPr lang="en-US" dirty="0"/>
          </a:p>
        </p:txBody>
      </p:sp>
    </p:spTree>
    <p:extLst>
      <p:ext uri="{BB962C8B-B14F-4D97-AF65-F5344CB8AC3E}">
        <p14:creationId xmlns:p14="http://schemas.microsoft.com/office/powerpoint/2010/main" val="36740646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4247317"/>
          </a:xfrm>
          <a:prstGeom prst="rect">
            <a:avLst/>
          </a:prstGeom>
        </p:spPr>
        <p:txBody>
          <a:bodyPr wrap="square">
            <a:spAutoFit/>
          </a:bodyPr>
          <a:lstStyle/>
          <a:p>
            <a:pPr algn="ctr"/>
            <a:r>
              <a:rPr lang="en-US" b="1" u="sng" dirty="0"/>
              <a:t>Types of Code Optimization: </a:t>
            </a:r>
            <a:endParaRPr lang="en-US" b="1" dirty="0"/>
          </a:p>
          <a:p>
            <a:pPr fontAlgn="base"/>
            <a:r>
              <a:rPr lang="en-US" b="1" dirty="0"/>
              <a:t>9. Function </a:t>
            </a:r>
            <a:r>
              <a:rPr lang="en-US" b="1" dirty="0" err="1" smtClean="0"/>
              <a:t>Inlining</a:t>
            </a:r>
            <a:endParaRPr lang="en-US" b="1" dirty="0" smtClean="0"/>
          </a:p>
          <a:p>
            <a:pPr fontAlgn="base"/>
            <a:r>
              <a:rPr lang="en-US" dirty="0" smtClean="0"/>
              <a:t>-Here</a:t>
            </a:r>
            <a:r>
              <a:rPr lang="en-US" dirty="0"/>
              <a:t>, a function call is replaced by the body of the function itself.</a:t>
            </a:r>
          </a:p>
          <a:p>
            <a:pPr fontAlgn="base"/>
            <a:r>
              <a:rPr lang="en-US" dirty="0" smtClean="0"/>
              <a:t>-This </a:t>
            </a:r>
            <a:r>
              <a:rPr lang="en-US" dirty="0"/>
              <a:t>saves a lot of time in copying all the parameters, storing the return address, etc</a:t>
            </a:r>
            <a:r>
              <a:rPr lang="en-US" dirty="0" smtClean="0"/>
              <a:t>.</a:t>
            </a:r>
          </a:p>
          <a:p>
            <a:pPr fontAlgn="base"/>
            <a:endParaRPr lang="en-US" dirty="0" smtClean="0"/>
          </a:p>
          <a:p>
            <a:pPr fontAlgn="base"/>
            <a:r>
              <a:rPr lang="en-US" dirty="0" smtClean="0"/>
              <a:t>#</a:t>
            </a:r>
            <a:r>
              <a:rPr lang="en-US" dirty="0"/>
              <a:t>include &lt;</a:t>
            </a:r>
            <a:r>
              <a:rPr lang="en-US" dirty="0" err="1"/>
              <a:t>iostream</a:t>
            </a:r>
            <a:r>
              <a:rPr lang="en-US" dirty="0"/>
              <a:t>&gt;</a:t>
            </a:r>
          </a:p>
          <a:p>
            <a:pPr fontAlgn="base"/>
            <a:r>
              <a:rPr lang="en-US" dirty="0"/>
              <a:t>using namespace </a:t>
            </a:r>
            <a:r>
              <a:rPr lang="en-US" dirty="0" err="1"/>
              <a:t>std</a:t>
            </a:r>
            <a:r>
              <a:rPr lang="en-US" dirty="0"/>
              <a:t>;</a:t>
            </a:r>
          </a:p>
          <a:p>
            <a:pPr fontAlgn="base"/>
            <a:endParaRPr lang="en-US" dirty="0"/>
          </a:p>
          <a:p>
            <a:pPr fontAlgn="base"/>
            <a:r>
              <a:rPr lang="en-US" dirty="0"/>
              <a:t>inline void </a:t>
            </a:r>
            <a:r>
              <a:rPr lang="en-US" dirty="0" err="1"/>
              <a:t>displayNum</a:t>
            </a:r>
            <a:r>
              <a:rPr lang="en-US" dirty="0"/>
              <a:t>(</a:t>
            </a:r>
            <a:r>
              <a:rPr lang="en-US" dirty="0" err="1"/>
              <a:t>int</a:t>
            </a:r>
            <a:r>
              <a:rPr lang="en-US" dirty="0"/>
              <a:t> </a:t>
            </a:r>
            <a:r>
              <a:rPr lang="en-US" dirty="0" err="1"/>
              <a:t>num</a:t>
            </a:r>
            <a:r>
              <a:rPr lang="en-US" dirty="0"/>
              <a:t>) {</a:t>
            </a:r>
          </a:p>
          <a:p>
            <a:pPr fontAlgn="base"/>
            <a:r>
              <a:rPr lang="en-US" dirty="0"/>
              <a:t>    </a:t>
            </a:r>
            <a:r>
              <a:rPr lang="en-US" dirty="0" err="1"/>
              <a:t>cout</a:t>
            </a:r>
            <a:r>
              <a:rPr lang="en-US" dirty="0"/>
              <a:t> &lt;&lt; </a:t>
            </a:r>
            <a:r>
              <a:rPr lang="en-US" dirty="0" err="1"/>
              <a:t>num</a:t>
            </a:r>
            <a:r>
              <a:rPr lang="en-US" dirty="0"/>
              <a:t> &lt;&lt; </a:t>
            </a:r>
            <a:r>
              <a:rPr lang="en-US" dirty="0" err="1"/>
              <a:t>endl</a:t>
            </a:r>
            <a:r>
              <a:rPr lang="en-US" dirty="0"/>
              <a:t>;</a:t>
            </a:r>
          </a:p>
          <a:p>
            <a:pPr fontAlgn="base"/>
            <a:r>
              <a:rPr lang="en-US" dirty="0"/>
              <a:t>}</a:t>
            </a:r>
          </a:p>
          <a:p>
            <a:pPr fontAlgn="base"/>
            <a:endParaRPr lang="en-US" dirty="0"/>
          </a:p>
          <a:p>
            <a:pPr fontAlgn="base"/>
            <a:endParaRPr lang="en-US" b="1" dirty="0" smtClean="0"/>
          </a:p>
          <a:p>
            <a:endParaRPr lang="en-US" b="1" dirty="0"/>
          </a:p>
        </p:txBody>
      </p:sp>
      <p:sp>
        <p:nvSpPr>
          <p:cNvPr id="3" name="TextBox 2"/>
          <p:cNvSpPr txBox="1"/>
          <p:nvPr/>
        </p:nvSpPr>
        <p:spPr>
          <a:xfrm>
            <a:off x="5715000" y="3200400"/>
            <a:ext cx="3124200" cy="3416320"/>
          </a:xfrm>
          <a:prstGeom prst="rect">
            <a:avLst/>
          </a:prstGeom>
          <a:noFill/>
        </p:spPr>
        <p:txBody>
          <a:bodyPr wrap="square" rtlCol="0">
            <a:spAutoFit/>
          </a:bodyPr>
          <a:lstStyle/>
          <a:p>
            <a:pPr fontAlgn="base"/>
            <a:r>
              <a:rPr lang="en-US" dirty="0" err="1" smtClean="0"/>
              <a:t>int</a:t>
            </a:r>
            <a:r>
              <a:rPr lang="en-US" dirty="0" smtClean="0"/>
              <a:t> </a:t>
            </a:r>
            <a:r>
              <a:rPr lang="en-US" dirty="0"/>
              <a:t>main() {</a:t>
            </a:r>
          </a:p>
          <a:p>
            <a:pPr fontAlgn="base"/>
            <a:r>
              <a:rPr lang="en-US" dirty="0"/>
              <a:t>    // first function call</a:t>
            </a:r>
          </a:p>
          <a:p>
            <a:pPr fontAlgn="base"/>
            <a:r>
              <a:rPr lang="en-US" dirty="0"/>
              <a:t>    </a:t>
            </a:r>
            <a:r>
              <a:rPr lang="en-US" dirty="0" err="1"/>
              <a:t>displayNum</a:t>
            </a:r>
            <a:r>
              <a:rPr lang="en-US" dirty="0"/>
              <a:t>(5);</a:t>
            </a:r>
          </a:p>
          <a:p>
            <a:pPr fontAlgn="base"/>
            <a:endParaRPr lang="en-US" dirty="0"/>
          </a:p>
          <a:p>
            <a:pPr fontAlgn="base"/>
            <a:r>
              <a:rPr lang="en-US" dirty="0"/>
              <a:t>    // second function call</a:t>
            </a:r>
          </a:p>
          <a:p>
            <a:pPr fontAlgn="base"/>
            <a:r>
              <a:rPr lang="en-US" dirty="0"/>
              <a:t>    </a:t>
            </a:r>
            <a:r>
              <a:rPr lang="en-US" dirty="0" err="1"/>
              <a:t>displayNum</a:t>
            </a:r>
            <a:r>
              <a:rPr lang="en-US" dirty="0"/>
              <a:t>(8);</a:t>
            </a:r>
          </a:p>
          <a:p>
            <a:pPr fontAlgn="base"/>
            <a:endParaRPr lang="en-US" dirty="0"/>
          </a:p>
          <a:p>
            <a:pPr fontAlgn="base"/>
            <a:r>
              <a:rPr lang="en-US" dirty="0"/>
              <a:t>    // third function call</a:t>
            </a:r>
          </a:p>
          <a:p>
            <a:pPr fontAlgn="base"/>
            <a:r>
              <a:rPr lang="en-US" dirty="0"/>
              <a:t>    </a:t>
            </a:r>
            <a:r>
              <a:rPr lang="en-US" dirty="0" err="1"/>
              <a:t>displayNum</a:t>
            </a:r>
            <a:r>
              <a:rPr lang="en-US" dirty="0"/>
              <a:t>(666);</a:t>
            </a:r>
          </a:p>
          <a:p>
            <a:pPr fontAlgn="base"/>
            <a:endParaRPr lang="en-US" dirty="0"/>
          </a:p>
          <a:p>
            <a:pPr fontAlgn="base"/>
            <a:r>
              <a:rPr lang="en-US" dirty="0"/>
              <a:t>    return 0;</a:t>
            </a:r>
          </a:p>
          <a:p>
            <a:pPr fontAlgn="base"/>
            <a:r>
              <a:rPr lang="en-US" dirty="0" smtClean="0"/>
              <a:t>}</a:t>
            </a:r>
            <a:endParaRPr lang="en-US" dirty="0"/>
          </a:p>
        </p:txBody>
      </p:sp>
    </p:spTree>
    <p:extLst>
      <p:ext uri="{BB962C8B-B14F-4D97-AF65-F5344CB8AC3E}">
        <p14:creationId xmlns:p14="http://schemas.microsoft.com/office/powerpoint/2010/main" val="348311024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5078313"/>
          </a:xfrm>
          <a:prstGeom prst="rect">
            <a:avLst/>
          </a:prstGeom>
        </p:spPr>
        <p:txBody>
          <a:bodyPr wrap="square">
            <a:spAutoFit/>
          </a:bodyPr>
          <a:lstStyle/>
          <a:p>
            <a:pPr algn="ctr"/>
            <a:r>
              <a:rPr lang="en-US" b="1" u="sng" dirty="0"/>
              <a:t>Types of Code Optimization: </a:t>
            </a:r>
            <a:endParaRPr lang="en-US" b="1" u="sng" dirty="0" smtClean="0"/>
          </a:p>
          <a:p>
            <a:pPr fontAlgn="base"/>
            <a:r>
              <a:rPr lang="en-US" b="1" dirty="0"/>
              <a:t>10. Function Cloning</a:t>
            </a:r>
          </a:p>
          <a:p>
            <a:pPr fontAlgn="base"/>
            <a:r>
              <a:rPr lang="en-US" dirty="0"/>
              <a:t>Here, specialized codes for a function are created for different calling parameters.</a:t>
            </a:r>
          </a:p>
          <a:p>
            <a:pPr fontAlgn="base"/>
            <a:r>
              <a:rPr lang="en-US" b="1" dirty="0"/>
              <a:t>Example: </a:t>
            </a:r>
            <a:r>
              <a:rPr lang="en-US" dirty="0"/>
              <a:t>Function Overloading</a:t>
            </a:r>
          </a:p>
          <a:p>
            <a:pPr fontAlgn="base"/>
            <a:endParaRPr lang="en-US" b="1" dirty="0"/>
          </a:p>
          <a:p>
            <a:pPr fontAlgn="base"/>
            <a:r>
              <a:rPr lang="en-US" b="1" dirty="0"/>
              <a:t>11. Induction Variable and Strength Reduction</a:t>
            </a:r>
          </a:p>
          <a:p>
            <a:pPr fontAlgn="base"/>
            <a:endParaRPr lang="en-US" b="1" dirty="0"/>
          </a:p>
          <a:p>
            <a:pPr fontAlgn="base"/>
            <a:r>
              <a:rPr lang="en-US" dirty="0" smtClean="0"/>
              <a:t>-An </a:t>
            </a:r>
            <a:r>
              <a:rPr lang="en-US" dirty="0"/>
              <a:t>induction variable is used in the loop for the following kind of assignment </a:t>
            </a:r>
            <a:r>
              <a:rPr lang="en-US" dirty="0" err="1"/>
              <a:t>i</a:t>
            </a:r>
            <a:r>
              <a:rPr lang="en-US" dirty="0"/>
              <a:t> = </a:t>
            </a:r>
            <a:r>
              <a:rPr lang="en-US" dirty="0" err="1"/>
              <a:t>i</a:t>
            </a:r>
            <a:r>
              <a:rPr lang="en-US" dirty="0"/>
              <a:t> + constant. It is a kind of Loop Optimization Technique. </a:t>
            </a:r>
          </a:p>
          <a:p>
            <a:pPr fontAlgn="base"/>
            <a:r>
              <a:rPr lang="en-US" dirty="0" smtClean="0"/>
              <a:t>-Strength </a:t>
            </a:r>
            <a:r>
              <a:rPr lang="en-US" dirty="0"/>
              <a:t>reduction means replacing the high strength operator with a low strength.</a:t>
            </a:r>
          </a:p>
          <a:p>
            <a:pPr fontAlgn="base"/>
            <a:endParaRPr lang="en-US" b="1" dirty="0"/>
          </a:p>
          <a:p>
            <a:pPr fontAlgn="base"/>
            <a:endParaRPr lang="en-US" b="1" dirty="0"/>
          </a:p>
          <a:p>
            <a:pPr fontAlgn="base"/>
            <a:endParaRPr lang="en-US" b="1" dirty="0" smtClean="0"/>
          </a:p>
          <a:p>
            <a:pPr fontAlgn="base"/>
            <a:endParaRPr lang="en-US" b="1" dirty="0"/>
          </a:p>
          <a:p>
            <a:pPr fontAlgn="base"/>
            <a:endParaRPr lang="en-US" b="1" dirty="0" smtClean="0"/>
          </a:p>
          <a:p>
            <a:endParaRPr lang="en-US" b="1" dirty="0"/>
          </a:p>
        </p:txBody>
      </p:sp>
    </p:spTree>
    <p:extLst>
      <p:ext uri="{BB962C8B-B14F-4D97-AF65-F5344CB8AC3E}">
        <p14:creationId xmlns:p14="http://schemas.microsoft.com/office/powerpoint/2010/main" val="403953995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304800" y="1457195"/>
            <a:ext cx="8264857" cy="4247317"/>
          </a:xfrm>
          <a:prstGeom prst="rect">
            <a:avLst/>
          </a:prstGeom>
        </p:spPr>
        <p:txBody>
          <a:bodyPr wrap="square">
            <a:spAutoFit/>
          </a:bodyPr>
          <a:lstStyle/>
          <a:p>
            <a:pPr fontAlgn="base"/>
            <a:r>
              <a:rPr lang="en-US" b="1" dirty="0"/>
              <a:t>Example 1 :</a:t>
            </a:r>
          </a:p>
          <a:p>
            <a:pPr fontAlgn="base"/>
            <a:r>
              <a:rPr lang="en-US" dirty="0"/>
              <a:t>Multiplication with powers of 2 can be replaced by shift right operator which is less</a:t>
            </a:r>
          </a:p>
          <a:p>
            <a:pPr fontAlgn="base"/>
            <a:r>
              <a:rPr lang="en-US" dirty="0"/>
              <a:t>expensive than multiplication</a:t>
            </a:r>
          </a:p>
          <a:p>
            <a:pPr fontAlgn="base"/>
            <a:r>
              <a:rPr lang="en-US" dirty="0"/>
              <a:t>a=a*16</a:t>
            </a:r>
          </a:p>
          <a:p>
            <a:pPr fontAlgn="base"/>
            <a:r>
              <a:rPr lang="en-US" dirty="0"/>
              <a:t>// Can be modified as :</a:t>
            </a:r>
          </a:p>
          <a:p>
            <a:pPr fontAlgn="base"/>
            <a:r>
              <a:rPr lang="en-US" dirty="0"/>
              <a:t>a = a&lt;&lt;4</a:t>
            </a:r>
          </a:p>
          <a:p>
            <a:pPr fontAlgn="base"/>
            <a:endParaRPr lang="en-US" dirty="0"/>
          </a:p>
          <a:p>
            <a:pPr fontAlgn="base"/>
            <a:r>
              <a:rPr lang="en-US" b="1" dirty="0"/>
              <a:t>Example 2 :</a:t>
            </a:r>
          </a:p>
          <a:p>
            <a:pPr fontAlgn="base"/>
            <a:r>
              <a:rPr lang="en-US" dirty="0" err="1"/>
              <a:t>i</a:t>
            </a:r>
            <a:r>
              <a:rPr lang="en-US" dirty="0"/>
              <a:t> = 1;								</a:t>
            </a:r>
          </a:p>
          <a:p>
            <a:pPr fontAlgn="base"/>
            <a:r>
              <a:rPr lang="en-US" dirty="0"/>
              <a:t>while (</a:t>
            </a:r>
            <a:r>
              <a:rPr lang="en-US" dirty="0" err="1"/>
              <a:t>i</a:t>
            </a:r>
            <a:r>
              <a:rPr lang="en-US" dirty="0"/>
              <a:t>&lt;10)														</a:t>
            </a:r>
          </a:p>
          <a:p>
            <a:pPr fontAlgn="base"/>
            <a:r>
              <a:rPr lang="en-US" dirty="0"/>
              <a:t>{							</a:t>
            </a:r>
          </a:p>
          <a:p>
            <a:pPr fontAlgn="base"/>
            <a:r>
              <a:rPr lang="en-US" dirty="0"/>
              <a:t>y = </a:t>
            </a:r>
            <a:r>
              <a:rPr lang="en-US" dirty="0" err="1"/>
              <a:t>i</a:t>
            </a:r>
            <a:r>
              <a:rPr lang="en-US" dirty="0"/>
              <a:t> * 4;</a:t>
            </a:r>
          </a:p>
          <a:p>
            <a:pPr fontAlgn="base"/>
            <a:r>
              <a:rPr lang="en-US" dirty="0" smtClean="0"/>
              <a:t>}</a:t>
            </a:r>
            <a:endParaRPr lang="en-US" dirty="0"/>
          </a:p>
        </p:txBody>
      </p:sp>
      <p:sp>
        <p:nvSpPr>
          <p:cNvPr id="3" name="TextBox 2"/>
          <p:cNvSpPr txBox="1"/>
          <p:nvPr/>
        </p:nvSpPr>
        <p:spPr>
          <a:xfrm>
            <a:off x="4574275" y="3580853"/>
            <a:ext cx="3886200" cy="2585323"/>
          </a:xfrm>
          <a:prstGeom prst="rect">
            <a:avLst/>
          </a:prstGeom>
          <a:noFill/>
        </p:spPr>
        <p:txBody>
          <a:bodyPr wrap="square" rtlCol="0">
            <a:spAutoFit/>
          </a:bodyPr>
          <a:lstStyle/>
          <a:p>
            <a:pPr fontAlgn="base"/>
            <a:endParaRPr lang="en-US" dirty="0"/>
          </a:p>
          <a:p>
            <a:pPr fontAlgn="base"/>
            <a:r>
              <a:rPr lang="en-US" dirty="0"/>
              <a:t>//After Reduction</a:t>
            </a:r>
          </a:p>
          <a:p>
            <a:pPr fontAlgn="base"/>
            <a:r>
              <a:rPr lang="en-US" dirty="0" err="1"/>
              <a:t>i</a:t>
            </a:r>
            <a:r>
              <a:rPr lang="en-US" dirty="0"/>
              <a:t> = 1</a:t>
            </a:r>
          </a:p>
          <a:p>
            <a:pPr fontAlgn="base"/>
            <a:r>
              <a:rPr lang="en-US" dirty="0"/>
              <a:t>t = 4</a:t>
            </a:r>
          </a:p>
          <a:p>
            <a:pPr fontAlgn="base"/>
            <a:r>
              <a:rPr lang="en-US" dirty="0"/>
              <a:t>{</a:t>
            </a:r>
          </a:p>
          <a:p>
            <a:pPr fontAlgn="base"/>
            <a:r>
              <a:rPr lang="en-US" dirty="0"/>
              <a:t>while( t&lt;40)</a:t>
            </a:r>
          </a:p>
          <a:p>
            <a:pPr fontAlgn="base"/>
            <a:r>
              <a:rPr lang="en-US" dirty="0"/>
              <a:t>y = t;</a:t>
            </a:r>
          </a:p>
          <a:p>
            <a:pPr fontAlgn="base"/>
            <a:r>
              <a:rPr lang="en-US" dirty="0"/>
              <a:t>t = t + 4;</a:t>
            </a:r>
          </a:p>
          <a:p>
            <a:pPr fontAlgn="base"/>
            <a:r>
              <a:rPr lang="en-US" dirty="0"/>
              <a:t>}</a:t>
            </a:r>
          </a:p>
        </p:txBody>
      </p:sp>
    </p:spTree>
    <p:extLst>
      <p:ext uri="{BB962C8B-B14F-4D97-AF65-F5344CB8AC3E}">
        <p14:creationId xmlns:p14="http://schemas.microsoft.com/office/powerpoint/2010/main" val="32564512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3693319"/>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endParaRPr lang="en-US" b="1" dirty="0"/>
          </a:p>
          <a:p>
            <a:pPr fontAlgn="base"/>
            <a:r>
              <a:rPr lang="en-US" b="1" u="sng" dirty="0"/>
              <a:t>Loop Optimization Techniques: </a:t>
            </a:r>
          </a:p>
          <a:p>
            <a:pPr fontAlgn="base"/>
            <a:endParaRPr lang="en-US" b="1" dirty="0" smtClean="0"/>
          </a:p>
          <a:p>
            <a:pPr fontAlgn="base"/>
            <a:r>
              <a:rPr lang="en-US" b="1" dirty="0" smtClean="0"/>
              <a:t>1</a:t>
            </a:r>
            <a:r>
              <a:rPr lang="en-US" b="1" dirty="0"/>
              <a:t>. Code Motion or Frequency Reduction: </a:t>
            </a:r>
            <a:endParaRPr lang="en-US" dirty="0"/>
          </a:p>
          <a:p>
            <a:pPr fontAlgn="base"/>
            <a:r>
              <a:rPr lang="en-US" dirty="0" smtClean="0"/>
              <a:t>-The </a:t>
            </a:r>
            <a:r>
              <a:rPr lang="en-US" dirty="0"/>
              <a:t>evaluation frequency of expression is reduced.</a:t>
            </a:r>
          </a:p>
          <a:p>
            <a:pPr fontAlgn="base"/>
            <a:r>
              <a:rPr lang="en-US" dirty="0" smtClean="0"/>
              <a:t>-The </a:t>
            </a:r>
            <a:r>
              <a:rPr lang="en-US" dirty="0"/>
              <a:t>loop invariant statements are brought out of the loop</a:t>
            </a:r>
          </a:p>
          <a:p>
            <a:pPr fontAlgn="base"/>
            <a:endParaRPr lang="en-US" b="1" dirty="0" smtClean="0"/>
          </a:p>
          <a:p>
            <a:pPr fontAlgn="base"/>
            <a:r>
              <a:rPr lang="en-US" b="1" dirty="0"/>
              <a:t>2. Loop </a:t>
            </a:r>
            <a:r>
              <a:rPr lang="en-US" b="1" dirty="0" smtClean="0"/>
              <a:t>Jamming</a:t>
            </a:r>
          </a:p>
          <a:p>
            <a:pPr fontAlgn="base"/>
            <a:r>
              <a:rPr lang="en-US" b="1" dirty="0"/>
              <a:t>3. Loop Unrolling</a:t>
            </a:r>
          </a:p>
          <a:p>
            <a:pPr fontAlgn="base"/>
            <a:endParaRPr lang="en-US" b="1" dirty="0" smtClean="0"/>
          </a:p>
          <a:p>
            <a:endParaRPr lang="en-US" b="1" dirty="0"/>
          </a:p>
        </p:txBody>
      </p:sp>
    </p:spTree>
    <p:extLst>
      <p:ext uri="{BB962C8B-B14F-4D97-AF65-F5344CB8AC3E}">
        <p14:creationId xmlns:p14="http://schemas.microsoft.com/office/powerpoint/2010/main" val="37367273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3" y="1140373"/>
            <a:ext cx="8264857" cy="2031325"/>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a:p>
          <a:p>
            <a:pPr fontAlgn="base"/>
            <a:r>
              <a:rPr lang="en-US" b="1" u="sng" dirty="0"/>
              <a:t>Loop Optimization Techniques: </a:t>
            </a:r>
            <a:endParaRPr lang="en-US" b="1" u="sng" dirty="0" smtClean="0"/>
          </a:p>
          <a:p>
            <a:pPr fontAlgn="base"/>
            <a:endParaRPr lang="en-US" b="1" u="sng" dirty="0"/>
          </a:p>
          <a:p>
            <a:pPr fontAlgn="base"/>
            <a:r>
              <a:rPr lang="en-US" b="1" dirty="0" smtClean="0"/>
              <a:t>1</a:t>
            </a:r>
            <a:r>
              <a:rPr lang="en-US" b="1" dirty="0"/>
              <a:t>. Code Motion or Frequency Reduction: </a:t>
            </a:r>
            <a:endParaRPr lang="en-US" dirty="0"/>
          </a:p>
          <a:p>
            <a:pPr fontAlgn="base"/>
            <a:r>
              <a:rPr lang="en-US" dirty="0" smtClean="0"/>
              <a:t>-The </a:t>
            </a:r>
            <a:r>
              <a:rPr lang="en-US" dirty="0"/>
              <a:t>evaluation frequency of expression is reduced.</a:t>
            </a:r>
          </a:p>
          <a:p>
            <a:pPr fontAlgn="base"/>
            <a:r>
              <a:rPr lang="en-US" dirty="0" smtClean="0"/>
              <a:t>-The </a:t>
            </a:r>
            <a:r>
              <a:rPr lang="en-US" dirty="0"/>
              <a:t>loop invariant statements are brought out of the </a:t>
            </a:r>
            <a:r>
              <a:rPr lang="en-US" dirty="0" smtClean="0"/>
              <a:t>loop</a:t>
            </a:r>
            <a:endParaRPr lang="en-US" dirty="0"/>
          </a:p>
        </p:txBody>
      </p:sp>
      <p:pic>
        <p:nvPicPr>
          <p:cNvPr id="3" name="Picture 2"/>
          <p:cNvPicPr>
            <a:picLocks noChangeAspect="1"/>
          </p:cNvPicPr>
          <p:nvPr/>
        </p:nvPicPr>
        <p:blipFill>
          <a:blip r:embed="rId2"/>
          <a:stretch>
            <a:fillRect/>
          </a:stretch>
        </p:blipFill>
        <p:spPr>
          <a:xfrm>
            <a:off x="990600" y="3137579"/>
            <a:ext cx="4953000" cy="3525672"/>
          </a:xfrm>
          <a:prstGeom prst="rect">
            <a:avLst/>
          </a:prstGeom>
        </p:spPr>
      </p:pic>
    </p:spTree>
    <p:extLst>
      <p:ext uri="{BB962C8B-B14F-4D97-AF65-F5344CB8AC3E}">
        <p14:creationId xmlns:p14="http://schemas.microsoft.com/office/powerpoint/2010/main" val="4103967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2862322"/>
          </a:xfrm>
          <a:prstGeom prst="rect">
            <a:avLst/>
          </a:prstGeom>
        </p:spPr>
        <p:txBody>
          <a:bodyPr wrap="square">
            <a:spAutoFit/>
          </a:bodyPr>
          <a:lstStyle/>
          <a:p>
            <a:pPr algn="ctr"/>
            <a:r>
              <a:rPr lang="en-US" b="1" u="sng" dirty="0"/>
              <a:t>Types of Code Optimization: </a:t>
            </a:r>
            <a:endParaRPr lang="en-US" b="1" dirty="0" smtClean="0"/>
          </a:p>
          <a:p>
            <a:pPr fontAlgn="base"/>
            <a:r>
              <a:rPr lang="en-US" b="1" dirty="0"/>
              <a:t>2. Loop </a:t>
            </a:r>
            <a:r>
              <a:rPr lang="en-US" b="1" dirty="0" smtClean="0"/>
              <a:t>Jamming</a:t>
            </a:r>
          </a:p>
          <a:p>
            <a:pPr fontAlgn="base"/>
            <a:r>
              <a:rPr lang="en-US" dirty="0"/>
              <a:t>Two or more loops are combined in a single loop. It helps in reducing the compile time.</a:t>
            </a:r>
          </a:p>
          <a:p>
            <a:pPr fontAlgn="base"/>
            <a:endParaRPr lang="en-GB" b="1" dirty="0" smtClean="0"/>
          </a:p>
          <a:p>
            <a:pPr fontAlgn="base"/>
            <a:endParaRPr lang="en-GB" b="1" dirty="0" smtClean="0"/>
          </a:p>
          <a:p>
            <a:pPr fontAlgn="base"/>
            <a:endParaRPr lang="en-GB" b="1" dirty="0"/>
          </a:p>
          <a:p>
            <a:pPr fontAlgn="base"/>
            <a:endParaRPr lang="en-US" b="1" dirty="0" smtClean="0"/>
          </a:p>
          <a:p>
            <a:pPr fontAlgn="base"/>
            <a:endParaRPr lang="en-US" b="1" dirty="0" smtClean="0"/>
          </a:p>
          <a:p>
            <a:endParaRPr lang="en-US" b="1" dirty="0"/>
          </a:p>
        </p:txBody>
      </p:sp>
      <p:pic>
        <p:nvPicPr>
          <p:cNvPr id="3" name="Picture 2"/>
          <p:cNvPicPr>
            <a:picLocks noChangeAspect="1"/>
          </p:cNvPicPr>
          <p:nvPr/>
        </p:nvPicPr>
        <p:blipFill>
          <a:blip r:embed="rId2"/>
          <a:stretch>
            <a:fillRect/>
          </a:stretch>
        </p:blipFill>
        <p:spPr>
          <a:xfrm>
            <a:off x="609600" y="2971800"/>
            <a:ext cx="3107169" cy="3678423"/>
          </a:xfrm>
          <a:prstGeom prst="rect">
            <a:avLst/>
          </a:prstGeom>
        </p:spPr>
      </p:pic>
    </p:spTree>
    <p:extLst>
      <p:ext uri="{BB962C8B-B14F-4D97-AF65-F5344CB8AC3E}">
        <p14:creationId xmlns:p14="http://schemas.microsoft.com/office/powerpoint/2010/main" val="168552500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3416320"/>
          </a:xfrm>
          <a:prstGeom prst="rect">
            <a:avLst/>
          </a:prstGeom>
        </p:spPr>
        <p:txBody>
          <a:bodyPr wrap="square">
            <a:spAutoFit/>
          </a:bodyPr>
          <a:lstStyle/>
          <a:p>
            <a:pPr algn="ctr"/>
            <a:r>
              <a:rPr lang="en-US" b="1" u="sng" dirty="0"/>
              <a:t>Types of Code Optimization: </a:t>
            </a:r>
            <a:endParaRPr lang="en-US" b="1" dirty="0" smtClean="0"/>
          </a:p>
          <a:p>
            <a:pPr fontAlgn="base"/>
            <a:r>
              <a:rPr lang="en-US" b="1" dirty="0"/>
              <a:t>3. Loop Unrolling: </a:t>
            </a:r>
            <a:endParaRPr lang="en-US" dirty="0"/>
          </a:p>
          <a:p>
            <a:pPr fontAlgn="base"/>
            <a:r>
              <a:rPr lang="en-US" dirty="0" smtClean="0"/>
              <a:t>-It </a:t>
            </a:r>
            <a:r>
              <a:rPr lang="en-US" dirty="0"/>
              <a:t>helps in optimizing the execution time of the program by reducing the iterations.</a:t>
            </a:r>
          </a:p>
          <a:p>
            <a:pPr fontAlgn="base"/>
            <a:r>
              <a:rPr lang="en-US" dirty="0" smtClean="0"/>
              <a:t>-It </a:t>
            </a:r>
            <a:r>
              <a:rPr lang="en-US" dirty="0"/>
              <a:t>increases the program’s speed by eliminating the loop control and test instructions.</a:t>
            </a:r>
          </a:p>
          <a:p>
            <a:pPr fontAlgn="base"/>
            <a:endParaRPr lang="en-GB" b="1" dirty="0" smtClean="0"/>
          </a:p>
          <a:p>
            <a:pPr fontAlgn="base"/>
            <a:endParaRPr lang="en-GB" b="1" dirty="0" smtClean="0"/>
          </a:p>
          <a:p>
            <a:pPr fontAlgn="base"/>
            <a:endParaRPr lang="en-GB" b="1" dirty="0"/>
          </a:p>
          <a:p>
            <a:pPr fontAlgn="base"/>
            <a:endParaRPr lang="en-US" b="1" dirty="0" smtClean="0"/>
          </a:p>
          <a:p>
            <a:pPr fontAlgn="base"/>
            <a:endParaRPr lang="en-US" b="1" dirty="0" smtClean="0"/>
          </a:p>
          <a:p>
            <a:endParaRPr lang="en-US" b="1" dirty="0"/>
          </a:p>
        </p:txBody>
      </p:sp>
      <p:pic>
        <p:nvPicPr>
          <p:cNvPr id="4" name="Picture 3"/>
          <p:cNvPicPr>
            <a:picLocks noChangeAspect="1"/>
          </p:cNvPicPr>
          <p:nvPr/>
        </p:nvPicPr>
        <p:blipFill>
          <a:blip r:embed="rId2"/>
          <a:stretch>
            <a:fillRect/>
          </a:stretch>
        </p:blipFill>
        <p:spPr>
          <a:xfrm>
            <a:off x="609600" y="3429000"/>
            <a:ext cx="2743200" cy="2992582"/>
          </a:xfrm>
          <a:prstGeom prst="rect">
            <a:avLst/>
          </a:prstGeom>
        </p:spPr>
      </p:pic>
    </p:spTree>
    <p:extLst>
      <p:ext uri="{BB962C8B-B14F-4D97-AF65-F5344CB8AC3E}">
        <p14:creationId xmlns:p14="http://schemas.microsoft.com/office/powerpoint/2010/main" val="3093722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5078313"/>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fontAlgn="base"/>
            <a:r>
              <a:rPr lang="en-US" b="1" dirty="0"/>
              <a:t>Where to apply Optimization? </a:t>
            </a:r>
          </a:p>
          <a:p>
            <a:pPr marL="285750" indent="-285750" fontAlgn="base">
              <a:buFontTx/>
              <a:buChar char="-"/>
            </a:pPr>
            <a:r>
              <a:rPr lang="en-US" b="1" dirty="0" smtClean="0"/>
              <a:t>Source program</a:t>
            </a:r>
          </a:p>
          <a:p>
            <a:pPr fontAlgn="base"/>
            <a:r>
              <a:rPr lang="en-US" dirty="0"/>
              <a:t>Optimizing the source program involves making changes to the algorithm or changing the loop structures. The user is the actor here.</a:t>
            </a:r>
          </a:p>
          <a:p>
            <a:pPr marL="285750" indent="-285750" fontAlgn="base">
              <a:buFontTx/>
              <a:buChar char="-"/>
            </a:pPr>
            <a:r>
              <a:rPr lang="en-US" b="1" dirty="0"/>
              <a:t>Intermediate </a:t>
            </a:r>
            <a:r>
              <a:rPr lang="en-US" b="1" dirty="0" smtClean="0"/>
              <a:t>Code</a:t>
            </a:r>
          </a:p>
          <a:p>
            <a:pPr fontAlgn="base"/>
            <a:r>
              <a:rPr lang="en-US" dirty="0"/>
              <a:t>Optimizing the intermediate code involves changing the address calculations and transforming the procedure calls involved. Here compiler is the actor.</a:t>
            </a:r>
            <a:endParaRPr lang="en-US" dirty="0" smtClean="0"/>
          </a:p>
          <a:p>
            <a:pPr marL="285750" indent="-285750" fontAlgn="base">
              <a:buFontTx/>
              <a:buChar char="-"/>
            </a:pPr>
            <a:r>
              <a:rPr lang="en-US" b="1" dirty="0"/>
              <a:t>Target </a:t>
            </a:r>
            <a:r>
              <a:rPr lang="en-US" b="1" dirty="0" smtClean="0"/>
              <a:t>Code</a:t>
            </a:r>
          </a:p>
          <a:p>
            <a:pPr fontAlgn="base"/>
            <a:r>
              <a:rPr lang="en-US" dirty="0"/>
              <a:t>Optimizing the target code is done by the compiler. Usage of registers, and select and move instructions are part of the optimization involved in the target code.</a:t>
            </a:r>
            <a:endParaRPr lang="en-US" dirty="0" smtClean="0"/>
          </a:p>
          <a:p>
            <a:pPr marL="285750" indent="-285750" fontAlgn="base">
              <a:buFontTx/>
              <a:buChar char="-"/>
            </a:pPr>
            <a:r>
              <a:rPr lang="en-US" dirty="0"/>
              <a:t>Local </a:t>
            </a:r>
            <a:r>
              <a:rPr lang="en-US" dirty="0" smtClean="0"/>
              <a:t>Optimization</a:t>
            </a:r>
          </a:p>
          <a:p>
            <a:pPr marL="285750" indent="-285750" fontAlgn="base">
              <a:buFontTx/>
              <a:buChar char="-"/>
            </a:pPr>
            <a:r>
              <a:rPr lang="en-US" dirty="0"/>
              <a:t>Regional </a:t>
            </a:r>
            <a:r>
              <a:rPr lang="en-US" dirty="0" smtClean="0"/>
              <a:t>Optimization</a:t>
            </a:r>
          </a:p>
          <a:p>
            <a:pPr marL="285750" indent="-285750" fontAlgn="base">
              <a:buFontTx/>
              <a:buChar char="-"/>
            </a:pPr>
            <a:r>
              <a:rPr lang="en-US" dirty="0"/>
              <a:t>Global </a:t>
            </a:r>
            <a:r>
              <a:rPr lang="en-US" dirty="0" smtClean="0"/>
              <a:t>Optimization</a:t>
            </a:r>
          </a:p>
          <a:p>
            <a:pPr marL="285750" indent="-285750" fontAlgn="base">
              <a:buFontTx/>
              <a:buChar char="-"/>
            </a:pPr>
            <a:r>
              <a:rPr lang="en-US" dirty="0" err="1"/>
              <a:t>Interprocedural</a:t>
            </a:r>
            <a:r>
              <a:rPr lang="en-US" dirty="0"/>
              <a:t> Optimization</a:t>
            </a:r>
            <a:endParaRPr lang="en-US" dirty="0" smtClean="0"/>
          </a:p>
          <a:p>
            <a:pPr marL="285750" indent="-285750" fontAlgn="base">
              <a:buFontTx/>
              <a:buChar char="-"/>
            </a:pPr>
            <a:endParaRPr lang="en-US" b="1" dirty="0"/>
          </a:p>
        </p:txBody>
      </p:sp>
    </p:spTree>
    <p:extLst>
      <p:ext uri="{BB962C8B-B14F-4D97-AF65-F5344CB8AC3E}">
        <p14:creationId xmlns:p14="http://schemas.microsoft.com/office/powerpoint/2010/main" val="38361642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Code Optimization in Compiler Design</a:t>
            </a:r>
          </a:p>
        </p:txBody>
      </p:sp>
      <p:sp>
        <p:nvSpPr>
          <p:cNvPr id="5" name="Rectangle 4"/>
          <p:cNvSpPr/>
          <p:nvPr/>
        </p:nvSpPr>
        <p:spPr>
          <a:xfrm>
            <a:off x="421942" y="1600200"/>
            <a:ext cx="8264857" cy="4524315"/>
          </a:xfrm>
          <a:prstGeom prst="rect">
            <a:avLst/>
          </a:prstGeom>
        </p:spPr>
        <p:txBody>
          <a:bodyPr wrap="square">
            <a:spAutoFit/>
          </a:bodyPr>
          <a:lstStyle/>
          <a:p>
            <a:pPr algn="ctr"/>
            <a:r>
              <a:rPr lang="en-US" b="1" u="sng" dirty="0"/>
              <a:t>Types of Code Optimization: </a:t>
            </a:r>
            <a:endParaRPr lang="en-US" b="1" u="sng" dirty="0" smtClean="0"/>
          </a:p>
          <a:p>
            <a:pPr fontAlgn="base"/>
            <a:endParaRPr lang="en-US" b="1" dirty="0" smtClean="0"/>
          </a:p>
          <a:p>
            <a:pPr marL="285750" indent="-285750" fontAlgn="base">
              <a:buFontTx/>
              <a:buChar char="-"/>
            </a:pPr>
            <a:r>
              <a:rPr lang="en-US" b="1" dirty="0" smtClean="0"/>
              <a:t>Local Optimization</a:t>
            </a:r>
          </a:p>
          <a:p>
            <a:pPr fontAlgn="base"/>
            <a:r>
              <a:rPr lang="en-US" dirty="0"/>
              <a:t>Transformations are applied to small basic blocks of statements. Techniques followed are  Local Value Numbering and Tree Height Balancing.</a:t>
            </a:r>
            <a:endParaRPr lang="en-US" b="1" dirty="0" smtClean="0"/>
          </a:p>
          <a:p>
            <a:pPr marL="285750" indent="-285750" fontAlgn="base">
              <a:buFontTx/>
              <a:buChar char="-"/>
            </a:pPr>
            <a:r>
              <a:rPr lang="en-US" b="1" dirty="0"/>
              <a:t>Regional </a:t>
            </a:r>
            <a:r>
              <a:rPr lang="en-US" b="1" dirty="0" smtClean="0"/>
              <a:t>Optimization</a:t>
            </a:r>
          </a:p>
          <a:p>
            <a:pPr fontAlgn="base"/>
            <a:r>
              <a:rPr lang="en-US" dirty="0"/>
              <a:t>Transformations are applied to Extended Basic Blocks. Techniques followed are Super Local Value Numbering and Loop Unrolling.</a:t>
            </a:r>
            <a:endParaRPr lang="en-US" b="1" dirty="0" smtClean="0"/>
          </a:p>
          <a:p>
            <a:pPr marL="285750" indent="-285750" fontAlgn="base">
              <a:buFontTx/>
              <a:buChar char="-"/>
            </a:pPr>
            <a:r>
              <a:rPr lang="en-US" b="1" dirty="0"/>
              <a:t>Global </a:t>
            </a:r>
            <a:r>
              <a:rPr lang="en-US" b="1" dirty="0" smtClean="0"/>
              <a:t>Optimization</a:t>
            </a:r>
          </a:p>
          <a:p>
            <a:pPr fontAlgn="base"/>
            <a:r>
              <a:rPr lang="en-US" dirty="0"/>
              <a:t>Transformations are applied to large program segments that include functions, procedures, and loops. Techniques followed are Live Variable Analysis and Global Code Replacement.</a:t>
            </a:r>
            <a:endParaRPr lang="en-US" b="1" dirty="0" smtClean="0"/>
          </a:p>
          <a:p>
            <a:pPr marL="285750" indent="-285750" fontAlgn="base">
              <a:buFontTx/>
              <a:buChar char="-"/>
            </a:pPr>
            <a:r>
              <a:rPr lang="en-US" b="1" dirty="0" err="1"/>
              <a:t>Interprocedural</a:t>
            </a:r>
            <a:r>
              <a:rPr lang="en-US" b="1" dirty="0"/>
              <a:t> </a:t>
            </a:r>
            <a:r>
              <a:rPr lang="en-US" b="1" dirty="0" smtClean="0"/>
              <a:t>Optimization</a:t>
            </a:r>
          </a:p>
          <a:p>
            <a:pPr fontAlgn="base"/>
            <a:r>
              <a:rPr lang="en-US" dirty="0"/>
              <a:t>As the name indicates, the optimizations are applied inter procedurally. Techniques followed are Inline Substitution and Procedure Placement.</a:t>
            </a:r>
            <a:endParaRPr lang="en-US" b="1" dirty="0" smtClean="0"/>
          </a:p>
          <a:p>
            <a:pPr marL="285750" indent="-285750" fontAlgn="base">
              <a:buFontTx/>
              <a:buChar char="-"/>
            </a:pPr>
            <a:endParaRPr lang="en-US" b="1" dirty="0"/>
          </a:p>
        </p:txBody>
      </p:sp>
    </p:spTree>
    <p:extLst>
      <p:ext uri="{BB962C8B-B14F-4D97-AF65-F5344CB8AC3E}">
        <p14:creationId xmlns:p14="http://schemas.microsoft.com/office/powerpoint/2010/main" val="8497176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Class Activity-5 Marks</a:t>
            </a:r>
            <a:endParaRPr lang="en-US" dirty="0"/>
          </a:p>
        </p:txBody>
      </p:sp>
      <p:sp>
        <p:nvSpPr>
          <p:cNvPr id="3" name="Content Placeholder 2"/>
          <p:cNvSpPr>
            <a:spLocks noGrp="1"/>
          </p:cNvSpPr>
          <p:nvPr>
            <p:ph idx="1"/>
          </p:nvPr>
        </p:nvSpPr>
        <p:spPr/>
        <p:txBody>
          <a:bodyPr>
            <a:normAutofit/>
          </a:bodyPr>
          <a:lstStyle/>
          <a:p>
            <a:r>
              <a:rPr lang="en-GB" dirty="0" smtClean="0"/>
              <a:t>Reading Assignment page number 12-38 from book</a:t>
            </a:r>
          </a:p>
          <a:p>
            <a:pPr marL="0" indent="0">
              <a:buNone/>
            </a:pPr>
            <a:endParaRPr lang="en-US" sz="1600" dirty="0" smtClean="0"/>
          </a:p>
          <a:p>
            <a:pPr marL="0" indent="0">
              <a:buNone/>
            </a:pPr>
            <a:r>
              <a:rPr lang="en-US" sz="1600" dirty="0" smtClean="0"/>
              <a:t>Alfred </a:t>
            </a:r>
            <a:r>
              <a:rPr lang="en-US" sz="1600" dirty="0"/>
              <a:t>V </a:t>
            </a:r>
            <a:r>
              <a:rPr lang="en-US" sz="1600" dirty="0" err="1"/>
              <a:t>Aho</a:t>
            </a:r>
            <a:r>
              <a:rPr lang="en-US" sz="1600" dirty="0"/>
              <a:t> ; Monica S Lam; Ravi </a:t>
            </a:r>
            <a:r>
              <a:rPr lang="en-US" sz="1600" dirty="0" err="1"/>
              <a:t>Sethi</a:t>
            </a:r>
            <a:r>
              <a:rPr lang="en-US" sz="1600" dirty="0"/>
              <a:t>; Jeffrey D Ullman Compilers: Principles, Techniques , and Tools,  </a:t>
            </a:r>
            <a:r>
              <a:rPr lang="en-GB" sz="1600" dirty="0"/>
              <a:t>I</a:t>
            </a:r>
            <a:r>
              <a:rPr lang="en-US" sz="1600" dirty="0" err="1"/>
              <a:t>ndia</a:t>
            </a:r>
            <a:r>
              <a:rPr lang="en-US" sz="1600" dirty="0"/>
              <a:t>  : Pearson India Education Services, 2015</a:t>
            </a:r>
          </a:p>
          <a:p>
            <a:endParaRPr lang="en-GB" sz="1600" dirty="0" smtClean="0"/>
          </a:p>
          <a:p>
            <a:pPr marL="0" indent="0">
              <a:buNone/>
            </a:pPr>
            <a:r>
              <a:rPr lang="en-GB" dirty="0" smtClean="0"/>
              <a:t>Q</a:t>
            </a:r>
            <a:r>
              <a:rPr lang="en-US" dirty="0" smtClean="0"/>
              <a:t>#1: </a:t>
            </a:r>
            <a:r>
              <a:rPr lang="en-GB" dirty="0" smtClean="0"/>
              <a:t>Class discussion and Q/A 			1 marks</a:t>
            </a:r>
          </a:p>
          <a:p>
            <a:endParaRPr lang="en-GB" dirty="0"/>
          </a:p>
          <a:p>
            <a:pPr marL="0" indent="0">
              <a:buNone/>
            </a:pPr>
            <a:r>
              <a:rPr lang="en-GB" dirty="0" smtClean="0"/>
              <a:t>Q#2: Write summary  of the following :    	4 Marks</a:t>
            </a:r>
          </a:p>
          <a:p>
            <a:pPr marL="0" indent="0">
              <a:buNone/>
            </a:pPr>
            <a:r>
              <a:rPr lang="en-GB" dirty="0" smtClean="0"/>
              <a:t>-</a:t>
            </a:r>
            <a:r>
              <a:rPr lang="en-GB" sz="1800" dirty="0" smtClean="0"/>
              <a:t>Parallelism &amp; Memory Hierarchies</a:t>
            </a:r>
          </a:p>
          <a:p>
            <a:pPr marL="0" indent="0">
              <a:buNone/>
            </a:pPr>
            <a:r>
              <a:rPr lang="en-GB" sz="1800" dirty="0" smtClean="0"/>
              <a:t>-Program Translation</a:t>
            </a:r>
          </a:p>
          <a:p>
            <a:pPr marL="0" indent="0">
              <a:buNone/>
            </a:pPr>
            <a:r>
              <a:rPr lang="en-GB" sz="1800" dirty="0" smtClean="0"/>
              <a:t>-Static &amp; Dynamic Distinction</a:t>
            </a:r>
          </a:p>
          <a:p>
            <a:pPr marL="0" indent="0">
              <a:buNone/>
            </a:pPr>
            <a:r>
              <a:rPr lang="en-GB" sz="1800" dirty="0" smtClean="0"/>
              <a:t>-Parameter Passing </a:t>
            </a:r>
            <a:r>
              <a:rPr lang="en-GB" sz="1800" dirty="0" err="1" smtClean="0"/>
              <a:t>mechamism</a:t>
            </a:r>
            <a:endParaRPr lang="en-GB" sz="1800" dirty="0" smtClean="0"/>
          </a:p>
          <a:p>
            <a:endParaRPr lang="en-GB" dirty="0" smtClean="0"/>
          </a:p>
          <a:p>
            <a:endParaRPr lang="en-GB" dirty="0" smtClean="0"/>
          </a:p>
          <a:p>
            <a:endParaRPr lang="en-GB" dirty="0"/>
          </a:p>
        </p:txBody>
      </p:sp>
    </p:spTree>
    <p:extLst>
      <p:ext uri="{BB962C8B-B14F-4D97-AF65-F5344CB8AC3E}">
        <p14:creationId xmlns:p14="http://schemas.microsoft.com/office/powerpoint/2010/main" val="33465938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5149</TotalTime>
  <Words>1513</Words>
  <Application>Microsoft Office PowerPoint</Application>
  <PresentationFormat>On-screen Show (4:3)</PresentationFormat>
  <Paragraphs>463</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 Unicode MS</vt:lpstr>
      <vt:lpstr>Arial</vt:lpstr>
      <vt:lpstr>Calibri</vt:lpstr>
      <vt:lpstr>Consolas</vt:lpstr>
      <vt:lpstr>urw-din</vt:lpstr>
      <vt:lpstr>Clarity</vt:lpstr>
      <vt:lpstr>Compiler construction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Intermediate code generation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Code Optimization in Compiler Design</vt:lpstr>
      <vt:lpstr>Class Activity-5 Marks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dc:title>
  <dc:creator>Anam</dc:creator>
  <cp:lastModifiedBy>Anam Akbar</cp:lastModifiedBy>
  <cp:revision>252</cp:revision>
  <dcterms:created xsi:type="dcterms:W3CDTF">2017-08-14T18:02:58Z</dcterms:created>
  <dcterms:modified xsi:type="dcterms:W3CDTF">2022-11-07T14:31:48Z</dcterms:modified>
</cp:coreProperties>
</file>