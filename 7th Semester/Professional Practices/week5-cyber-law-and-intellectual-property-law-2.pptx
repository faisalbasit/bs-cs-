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77" r:id="rId3"/>
    <p:sldId id="278" r:id="rId4"/>
    <p:sldId id="296" r:id="rId5"/>
    <p:sldId id="279" r:id="rId6"/>
    <p:sldId id="280" r:id="rId7"/>
    <p:sldId id="282" r:id="rId8"/>
    <p:sldId id="284" r:id="rId9"/>
    <p:sldId id="286" r:id="rId10"/>
    <p:sldId id="287" r:id="rId11"/>
    <p:sldId id="293" r:id="rId12"/>
    <p:sldId id="297" r:id="rId13"/>
    <p:sldId id="288" r:id="rId14"/>
    <p:sldId id="291" r:id="rId15"/>
    <p:sldId id="292" r:id="rId16"/>
    <p:sldId id="274" r:id="rId17"/>
  </p:sldIdLst>
  <p:sldSz cx="118872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62" autoAdjust="0"/>
    <p:restoredTop sz="94660"/>
  </p:normalViewPr>
  <p:slideViewPr>
    <p:cSldViewPr>
      <p:cViewPr varScale="1">
        <p:scale>
          <a:sx n="68" d="100"/>
          <a:sy n="68" d="100"/>
        </p:scale>
        <p:origin x="-858" y="-96"/>
      </p:cViewPr>
      <p:guideLst>
        <p:guide orient="horz" pos="2160"/>
        <p:guide pos="3744"/>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B24F12-7F55-4EE2-A832-F284432F2B1A}" type="datetimeFigureOut">
              <a:rPr lang="en-US" smtClean="0"/>
              <a:pPr/>
              <a:t>2/7/2024</a:t>
            </a:fld>
            <a:endParaRPr lang="en-US"/>
          </a:p>
        </p:txBody>
      </p:sp>
      <p:sp>
        <p:nvSpPr>
          <p:cNvPr id="4" name="Slide Image Placeholder 3"/>
          <p:cNvSpPr>
            <a:spLocks noGrp="1" noRot="1" noChangeAspect="1"/>
          </p:cNvSpPr>
          <p:nvPr>
            <p:ph type="sldImg" idx="2"/>
          </p:nvPr>
        </p:nvSpPr>
        <p:spPr>
          <a:xfrm>
            <a:off x="457200" y="685800"/>
            <a:ext cx="59436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412AE-8F67-4BC5-91DD-088A048550E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689080" y="3048"/>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18872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0197" y="6391659"/>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783080" y="2819400"/>
            <a:ext cx="832104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8338D26A-531F-4A0F-A30D-3D4014FA1F1E}" type="datetimeFigureOut">
              <a:rPr lang="en-US" smtClean="0"/>
              <a:pPr/>
              <a:t>2/7/2024</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202085" y="2420112"/>
            <a:ext cx="11483035"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98121" y="152400"/>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547360" y="2115312"/>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670197" y="2209800"/>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646420" y="2199452"/>
            <a:ext cx="594360" cy="441325"/>
          </a:xfrm>
        </p:spPr>
        <p:txBody>
          <a:bodyPr/>
          <a:lstStyle>
            <a:lvl1pPr>
              <a:defRPr>
                <a:solidFill>
                  <a:schemeClr val="accent3">
                    <a:shade val="75000"/>
                  </a:schemeClr>
                </a:solidFill>
              </a:defRPr>
            </a:lvl1pPr>
          </a:lstStyle>
          <a:p>
            <a:fld id="{3EF83B2C-F299-4DEF-A81D-E1A789A0057E}" type="slidenum">
              <a:rPr lang="en-US" smtClean="0"/>
              <a:pPr/>
              <a:t>‹#›</a:t>
            </a:fld>
            <a:endParaRPr lang="en-US"/>
          </a:p>
        </p:txBody>
      </p:sp>
      <p:sp>
        <p:nvSpPr>
          <p:cNvPr id="8" name="Title 7"/>
          <p:cNvSpPr>
            <a:spLocks noGrp="1"/>
          </p:cNvSpPr>
          <p:nvPr>
            <p:ph type="ctrTitle"/>
          </p:nvPr>
        </p:nvSpPr>
        <p:spPr>
          <a:xfrm>
            <a:off x="891540" y="381000"/>
            <a:ext cx="1010412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8338D26A-531F-4A0F-A30D-3D4014FA1F1E}" type="datetimeFigureOut">
              <a:rPr lang="en-US" smtClean="0"/>
              <a:pPr/>
              <a:t>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670195" y="1026375"/>
            <a:ext cx="594360" cy="441325"/>
          </a:xfrm>
        </p:spPr>
        <p:txBody>
          <a:bodyPr/>
          <a:lstStyle/>
          <a:p>
            <a:fld id="{3EF83B2C-F299-4DEF-A81D-E1A789A0057E}" type="slidenum">
              <a:rPr lang="en-US" smtClean="0"/>
              <a:pPr/>
              <a:t>‹#›</a:t>
            </a:fld>
            <a:endParaRPr lang="en-US"/>
          </a:p>
        </p:txBody>
      </p:sp>
      <p:sp>
        <p:nvSpPr>
          <p:cNvPr id="8" name="Content Placeholder 7"/>
          <p:cNvSpPr>
            <a:spLocks noGrp="1"/>
          </p:cNvSpPr>
          <p:nvPr>
            <p:ph sz="quarter" idx="1"/>
          </p:nvPr>
        </p:nvSpPr>
        <p:spPr>
          <a:xfrm>
            <a:off x="392277" y="1527048"/>
            <a:ext cx="1105509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689080" y="1905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98121" y="2286000"/>
            <a:ext cx="11483035"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2085" y="142352"/>
            <a:ext cx="11483035"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778956" y="2743202"/>
            <a:ext cx="8424228"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90197" y="6391659"/>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98121" y="152400"/>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8338D26A-531F-4A0F-A30D-3D4014FA1F1E}" type="datetimeFigureOut">
              <a:rPr lang="en-US" smtClean="0"/>
              <a:pPr/>
              <a:t>2/7/2024</a:t>
            </a:fld>
            <a:endParaRPr lang="en-US"/>
          </a:p>
        </p:txBody>
      </p:sp>
      <p:sp>
        <p:nvSpPr>
          <p:cNvPr id="8" name="Straight Connector 7"/>
          <p:cNvSpPr>
            <a:spLocks noChangeShapeType="1"/>
          </p:cNvSpPr>
          <p:nvPr/>
        </p:nvSpPr>
        <p:spPr bwMode="auto">
          <a:xfrm>
            <a:off x="198121" y="2438400"/>
            <a:ext cx="11483035"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547360" y="2115312"/>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670197" y="2209800"/>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646420" y="2199452"/>
            <a:ext cx="594360" cy="441325"/>
          </a:xfrm>
        </p:spPr>
        <p:txBody>
          <a:bodyPr/>
          <a:lstStyle>
            <a:lvl1pPr>
              <a:defRPr>
                <a:solidFill>
                  <a:schemeClr val="accent3">
                    <a:shade val="75000"/>
                  </a:schemeClr>
                </a:solidFill>
              </a:defRPr>
            </a:lvl1pPr>
          </a:lstStyle>
          <a:p>
            <a:fld id="{3EF83B2C-F299-4DEF-A81D-E1A789A0057E}" type="slidenum">
              <a:rPr lang="en-US" smtClean="0"/>
              <a:pPr/>
              <a:t>‹#›</a:t>
            </a:fld>
            <a:endParaRPr lang="en-US"/>
          </a:p>
        </p:txBody>
      </p:sp>
      <p:sp>
        <p:nvSpPr>
          <p:cNvPr id="2" name="Title 1"/>
          <p:cNvSpPr>
            <a:spLocks noGrp="1"/>
          </p:cNvSpPr>
          <p:nvPr>
            <p:ph type="title"/>
          </p:nvPr>
        </p:nvSpPr>
        <p:spPr>
          <a:xfrm>
            <a:off x="939007" y="533400"/>
            <a:ext cx="1010412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92277" y="228600"/>
            <a:ext cx="1109472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7528560" y="6409944"/>
            <a:ext cx="3958437" cy="365760"/>
          </a:xfrm>
        </p:spPr>
        <p:txBody>
          <a:bodyPr/>
          <a:lstStyle/>
          <a:p>
            <a:fld id="{8338D26A-531F-4A0F-A30D-3D4014FA1F1E}" type="datetimeFigureOut">
              <a:rPr lang="en-US" smtClean="0"/>
              <a:pPr/>
              <a:t>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F83B2C-F299-4DEF-A81D-E1A789A0057E}" type="slidenum">
              <a:rPr lang="en-US" smtClean="0"/>
              <a:pPr/>
              <a:t>‹#›</a:t>
            </a:fld>
            <a:endParaRPr lang="en-US"/>
          </a:p>
        </p:txBody>
      </p:sp>
      <p:sp>
        <p:nvSpPr>
          <p:cNvPr id="8" name="Straight Connector 7"/>
          <p:cNvSpPr>
            <a:spLocks noChangeShapeType="1"/>
          </p:cNvSpPr>
          <p:nvPr/>
        </p:nvSpPr>
        <p:spPr bwMode="auto">
          <a:xfrm flipV="1">
            <a:off x="5932006" y="1575654"/>
            <a:ext cx="11598"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92277" y="1371600"/>
            <a:ext cx="525018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6240780" y="1371600"/>
            <a:ext cx="525018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59436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18872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68908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98121" y="1371600"/>
            <a:ext cx="11483035"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89702" y="6391656"/>
            <a:ext cx="11483035"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92278" y="1524000"/>
            <a:ext cx="5252245"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228730" y="1524000"/>
            <a:ext cx="5254308"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8338D26A-531F-4A0F-A30D-3D4014FA1F1E}" type="datetimeFigureOut">
              <a:rPr lang="en-US" smtClean="0"/>
              <a:pPr/>
              <a:t>2/7/2024</a:t>
            </a:fld>
            <a:endParaRPr lang="en-US"/>
          </a:p>
        </p:txBody>
      </p:sp>
      <p:sp>
        <p:nvSpPr>
          <p:cNvPr id="8" name="Footer Placeholder 7"/>
          <p:cNvSpPr>
            <a:spLocks noGrp="1"/>
          </p:cNvSpPr>
          <p:nvPr>
            <p:ph type="ftr" sz="quarter" idx="11"/>
          </p:nvPr>
        </p:nvSpPr>
        <p:spPr>
          <a:xfrm>
            <a:off x="396240" y="6409944"/>
            <a:ext cx="4655820" cy="365760"/>
          </a:xfrm>
        </p:spPr>
        <p:txBody>
          <a:bodyPr/>
          <a:lstStyle/>
          <a:p>
            <a:endParaRPr lang="en-US"/>
          </a:p>
        </p:txBody>
      </p:sp>
      <p:sp>
        <p:nvSpPr>
          <p:cNvPr id="15" name="Straight Connector 14"/>
          <p:cNvSpPr>
            <a:spLocks noChangeShapeType="1"/>
          </p:cNvSpPr>
          <p:nvPr/>
        </p:nvSpPr>
        <p:spPr bwMode="auto">
          <a:xfrm>
            <a:off x="198121" y="1280160"/>
            <a:ext cx="11483035"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98121" y="155448"/>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92277" y="2471383"/>
            <a:ext cx="5254143"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6240780" y="2471383"/>
            <a:ext cx="525018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5547360" y="956036"/>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670197" y="1050524"/>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646420" y="1042419"/>
            <a:ext cx="594360" cy="441325"/>
          </a:xfrm>
        </p:spPr>
        <p:txBody>
          <a:bodyPr/>
          <a:lstStyle>
            <a:lvl1pPr algn="ctr">
              <a:defRPr/>
            </a:lvl1pPr>
          </a:lstStyle>
          <a:p>
            <a:fld id="{3EF83B2C-F299-4DEF-A81D-E1A789A0057E}"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338D26A-531F-4A0F-A30D-3D4014FA1F1E}" type="datetimeFigureOut">
              <a:rPr lang="en-US" smtClean="0"/>
              <a:pPr/>
              <a:t>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5646420" y="1036022"/>
            <a:ext cx="594360" cy="441325"/>
          </a:xfrm>
        </p:spPr>
        <p:txBody>
          <a:bodyPr/>
          <a:lstStyle/>
          <a:p>
            <a:fld id="{3EF83B2C-F299-4DEF-A81D-E1A789A005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18872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68908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0197" y="6391659"/>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98121" y="158496"/>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8338D26A-531F-4A0F-A30D-3D4014FA1F1E}" type="datetimeFigureOut">
              <a:rPr lang="en-US" smtClean="0"/>
              <a:pPr/>
              <a:t>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5547360" y="6324600"/>
            <a:ext cx="792480" cy="441324"/>
          </a:xfrm>
        </p:spPr>
        <p:txBody>
          <a:bodyPr/>
          <a:lstStyle>
            <a:lvl1pPr>
              <a:defRPr>
                <a:solidFill>
                  <a:srgbClr val="FFFFFF"/>
                </a:solidFill>
              </a:defRPr>
            </a:lvl1pPr>
          </a:lstStyle>
          <a:p>
            <a:fld id="{3EF83B2C-F299-4DEF-A81D-E1A789A005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98121" y="152400"/>
            <a:ext cx="11483035"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68908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18872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98120" y="609600"/>
            <a:ext cx="356616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495300" y="914400"/>
            <a:ext cx="307086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95300" y="1981203"/>
            <a:ext cx="307086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98121" y="152400"/>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98121" y="533400"/>
            <a:ext cx="11483035"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061460" y="685800"/>
            <a:ext cx="733044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684020" y="228600"/>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06854" y="323088"/>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783080" y="312740"/>
            <a:ext cx="594360" cy="441325"/>
          </a:xfrm>
        </p:spPr>
        <p:txBody>
          <a:bodyPr/>
          <a:lstStyle>
            <a:lvl1pPr>
              <a:defRPr>
                <a:solidFill>
                  <a:schemeClr val="accent3">
                    <a:shade val="75000"/>
                  </a:schemeClr>
                </a:solidFill>
              </a:defRPr>
            </a:lvl1pPr>
          </a:lstStyle>
          <a:p>
            <a:fld id="{3EF83B2C-F299-4DEF-A81D-E1A789A0057E}" type="slidenum">
              <a:rPr lang="en-US" smtClean="0"/>
              <a:pPr/>
              <a:t>‹#›</a:t>
            </a:fld>
            <a:endParaRPr lang="en-US"/>
          </a:p>
        </p:txBody>
      </p:sp>
      <p:sp>
        <p:nvSpPr>
          <p:cNvPr id="21" name="Rectangle 20"/>
          <p:cNvSpPr>
            <a:spLocks noChangeArrowheads="1"/>
          </p:cNvSpPr>
          <p:nvPr/>
        </p:nvSpPr>
        <p:spPr bwMode="auto">
          <a:xfrm>
            <a:off x="194158" y="6388388"/>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8338D26A-531F-4A0F-A30D-3D4014FA1F1E}" type="datetimeFigureOut">
              <a:rPr lang="en-US" smtClean="0"/>
              <a:pPr/>
              <a:t>2/7/2024</a:t>
            </a:fld>
            <a:endParaRPr lang="en-US"/>
          </a:p>
        </p:txBody>
      </p:sp>
      <p:sp>
        <p:nvSpPr>
          <p:cNvPr id="6" name="Footer Placeholder 5"/>
          <p:cNvSpPr>
            <a:spLocks noGrp="1"/>
          </p:cNvSpPr>
          <p:nvPr>
            <p:ph type="ftr" sz="quarter" idx="11"/>
          </p:nvPr>
        </p:nvSpPr>
        <p:spPr>
          <a:xfrm>
            <a:off x="392277" y="6410848"/>
            <a:ext cx="4398264"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98121" y="533400"/>
            <a:ext cx="11483035"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68908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98121" y="152400"/>
            <a:ext cx="11483035"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98120" y="609600"/>
            <a:ext cx="356616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98121" y="155448"/>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684020" y="228600"/>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06854" y="323088"/>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783080" y="312740"/>
            <a:ext cx="594360" cy="441325"/>
          </a:xfrm>
        </p:spPr>
        <p:txBody>
          <a:bodyPr/>
          <a:lstStyle/>
          <a:p>
            <a:fld id="{3EF83B2C-F299-4DEF-A81D-E1A789A0057E}" type="slidenum">
              <a:rPr lang="en-US" smtClean="0"/>
              <a:pPr/>
              <a:t>‹#›</a:t>
            </a:fld>
            <a:endParaRPr lang="en-US"/>
          </a:p>
        </p:txBody>
      </p:sp>
      <p:sp>
        <p:nvSpPr>
          <p:cNvPr id="2" name="Title 1"/>
          <p:cNvSpPr>
            <a:spLocks noGrp="1"/>
          </p:cNvSpPr>
          <p:nvPr>
            <p:ph type="title"/>
          </p:nvPr>
        </p:nvSpPr>
        <p:spPr>
          <a:xfrm>
            <a:off x="3900488" y="5029200"/>
            <a:ext cx="762762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900488" y="609600"/>
            <a:ext cx="762762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95300" y="990600"/>
            <a:ext cx="316992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94158" y="6388388"/>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524598" y="6404984"/>
            <a:ext cx="3958437" cy="365760"/>
          </a:xfrm>
        </p:spPr>
        <p:txBody>
          <a:bodyPr/>
          <a:lstStyle/>
          <a:p>
            <a:fld id="{8338D26A-531F-4A0F-A30D-3D4014FA1F1E}" type="datetimeFigureOut">
              <a:rPr lang="en-US" smtClean="0"/>
              <a:pPr/>
              <a:t>2/7/2024</a:t>
            </a:fld>
            <a:endParaRPr lang="en-US"/>
          </a:p>
        </p:txBody>
      </p:sp>
      <p:sp>
        <p:nvSpPr>
          <p:cNvPr id="6" name="Footer Placeholder 5"/>
          <p:cNvSpPr>
            <a:spLocks noGrp="1"/>
          </p:cNvSpPr>
          <p:nvPr>
            <p:ph type="ftr" sz="quarter" idx="11"/>
          </p:nvPr>
        </p:nvSpPr>
        <p:spPr>
          <a:xfrm>
            <a:off x="392277" y="6410848"/>
            <a:ext cx="4659783"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338D26A-531F-4A0F-A30D-3D4014FA1F1E}" type="datetimeFigureOut">
              <a:rPr lang="en-US" smtClean="0"/>
              <a:pPr/>
              <a:t>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F83B2C-F299-4DEF-A81D-E1A789A005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113520" y="0"/>
            <a:ext cx="277368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18872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0197" y="6391659"/>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8121" y="155448"/>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165189"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8891625" y="2925763"/>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014461" y="3020251"/>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8990685" y="3009904"/>
            <a:ext cx="594360" cy="441325"/>
          </a:xfrm>
        </p:spPr>
        <p:txBody>
          <a:bodyPr/>
          <a:lstStyle/>
          <a:p>
            <a:fld id="{3EF83B2C-F299-4DEF-A81D-E1A789A0057E}" type="slidenum">
              <a:rPr lang="en-US" smtClean="0"/>
              <a:pPr/>
              <a:t>‹#›</a:t>
            </a:fld>
            <a:endParaRPr lang="en-US"/>
          </a:p>
        </p:txBody>
      </p:sp>
      <p:sp>
        <p:nvSpPr>
          <p:cNvPr id="3" name="Vertical Text Placeholder 2"/>
          <p:cNvSpPr>
            <a:spLocks noGrp="1"/>
          </p:cNvSpPr>
          <p:nvPr>
            <p:ph type="body" orient="vert" idx="1"/>
          </p:nvPr>
        </p:nvSpPr>
        <p:spPr>
          <a:xfrm>
            <a:off x="396240" y="304800"/>
            <a:ext cx="851916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338D26A-531F-4A0F-A30D-3D4014FA1F1E}" type="datetimeFigureOut">
              <a:rPr lang="en-US" smtClean="0"/>
              <a:pPr/>
              <a:t>2/7/2024</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9608820" y="304804"/>
            <a:ext cx="188214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18872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2"/>
            <a:ext cx="118872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689080" y="0"/>
            <a:ext cx="19812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4158" y="6388388"/>
            <a:ext cx="11483035"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528560" y="6404984"/>
            <a:ext cx="3958437" cy="365760"/>
          </a:xfrm>
          <a:prstGeom prst="rect">
            <a:avLst/>
          </a:prstGeom>
        </p:spPr>
        <p:txBody>
          <a:bodyPr vert="horz"/>
          <a:lstStyle>
            <a:lvl1pPr algn="r" eaLnBrk="1" latinLnBrk="0" hangingPunct="1">
              <a:defRPr kumimoji="0" sz="1400">
                <a:solidFill>
                  <a:srgbClr val="FFFFFF"/>
                </a:solidFill>
              </a:defRPr>
            </a:lvl1pPr>
          </a:lstStyle>
          <a:p>
            <a:fld id="{8338D26A-531F-4A0F-A30D-3D4014FA1F1E}" type="datetimeFigureOut">
              <a:rPr lang="en-US" smtClean="0"/>
              <a:pPr/>
              <a:t>2/7/2024</a:t>
            </a:fld>
            <a:endParaRPr lang="en-US"/>
          </a:p>
        </p:txBody>
      </p:sp>
      <p:sp>
        <p:nvSpPr>
          <p:cNvPr id="3" name="Footer Placeholder 2"/>
          <p:cNvSpPr>
            <a:spLocks noGrp="1"/>
          </p:cNvSpPr>
          <p:nvPr>
            <p:ph type="ftr" sz="quarter" idx="3"/>
          </p:nvPr>
        </p:nvSpPr>
        <p:spPr>
          <a:xfrm>
            <a:off x="396240" y="6410848"/>
            <a:ext cx="465582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98121" y="155448"/>
            <a:ext cx="11483035"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98121" y="1276743"/>
            <a:ext cx="11483035"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547360" y="956036"/>
            <a:ext cx="79248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670197" y="1050524"/>
            <a:ext cx="546811"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646420" y="1040177"/>
            <a:ext cx="59436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3EF83B2C-F299-4DEF-A81D-E1A789A0057E}" type="slidenum">
              <a:rPr lang="en-US" smtClean="0"/>
              <a:pPr/>
              <a:t>‹#›</a:t>
            </a:fld>
            <a:endParaRPr lang="en-US"/>
          </a:p>
        </p:txBody>
      </p:sp>
      <p:sp>
        <p:nvSpPr>
          <p:cNvPr id="22" name="Title Placeholder 21"/>
          <p:cNvSpPr>
            <a:spLocks noGrp="1"/>
          </p:cNvSpPr>
          <p:nvPr>
            <p:ph type="title"/>
          </p:nvPr>
        </p:nvSpPr>
        <p:spPr>
          <a:xfrm>
            <a:off x="392277" y="228600"/>
            <a:ext cx="1109472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92277" y="1524000"/>
            <a:ext cx="1109472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www.fia.gov.pk/en/NR3C.php"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3400" y="2514600"/>
            <a:ext cx="10363200" cy="3810000"/>
          </a:xfrm>
        </p:spPr>
        <p:txBody>
          <a:bodyPr>
            <a:normAutofit lnSpcReduction="10000"/>
          </a:bodyPr>
          <a:lstStyle/>
          <a:p>
            <a:pPr algn="l">
              <a:defRPr/>
            </a:pPr>
            <a:endParaRPr lang="en-US" sz="2000" b="0" dirty="0" smtClean="0">
              <a:latin typeface="Arial" pitchFamily="34" charset="0"/>
              <a:cs typeface="Arial" pitchFamily="34" charset="0"/>
            </a:endParaRPr>
          </a:p>
          <a:p>
            <a:pPr algn="l">
              <a:buFont typeface="Wingdings" pitchFamily="2" charset="2"/>
              <a:buChar char="q"/>
              <a:defRPr/>
            </a:pPr>
            <a:r>
              <a:rPr lang="en-US" sz="2800" dirty="0" smtClean="0">
                <a:solidFill>
                  <a:schemeClr val="tx1">
                    <a:lumMod val="95000"/>
                    <a:lumOff val="5000"/>
                  </a:schemeClr>
                </a:solidFill>
                <a:latin typeface="Arial" pitchFamily="34" charset="0"/>
                <a:cs typeface="Arial" pitchFamily="34" charset="0"/>
              </a:rPr>
              <a:t> INTELLECTUAL  PROPERTY rights and  LAW.</a:t>
            </a:r>
          </a:p>
          <a:p>
            <a:pPr algn="l">
              <a:buFont typeface="Wingdings" pitchFamily="2" charset="2"/>
              <a:buChar char="q"/>
              <a:defRPr/>
            </a:pPr>
            <a:r>
              <a:rPr lang="en-US" sz="2800" dirty="0" smtClean="0">
                <a:solidFill>
                  <a:schemeClr val="tx1">
                    <a:lumMod val="95000"/>
                    <a:lumOff val="5000"/>
                  </a:schemeClr>
                </a:solidFill>
                <a:latin typeface="Arial" pitchFamily="34" charset="0"/>
                <a:cs typeface="Arial" pitchFamily="34" charset="0"/>
              </a:rPr>
              <a:t> HOW TO REGISTER INTELLECTUAL PROPERTY.</a:t>
            </a:r>
          </a:p>
          <a:p>
            <a:pPr algn="l">
              <a:buFont typeface="Wingdings" pitchFamily="2" charset="2"/>
              <a:buChar char="q"/>
              <a:defRPr/>
            </a:pPr>
            <a:r>
              <a:rPr lang="en-US" sz="2800" dirty="0" smtClean="0">
                <a:solidFill>
                  <a:schemeClr val="tx1">
                    <a:lumMod val="95000"/>
                    <a:lumOff val="5000"/>
                  </a:schemeClr>
                </a:solidFill>
                <a:latin typeface="Arial" pitchFamily="34" charset="0"/>
                <a:cs typeface="Arial" pitchFamily="34" charset="0"/>
              </a:rPr>
              <a:t> WHAT IS PLAGIARISM.</a:t>
            </a:r>
          </a:p>
          <a:p>
            <a:pPr algn="l">
              <a:buFont typeface="Wingdings" pitchFamily="2" charset="2"/>
              <a:buChar char="q"/>
              <a:defRPr/>
            </a:pPr>
            <a:r>
              <a:rPr lang="en-US" sz="2800" dirty="0" smtClean="0">
                <a:solidFill>
                  <a:schemeClr val="tx1">
                    <a:lumMod val="95000"/>
                    <a:lumOff val="5000"/>
                  </a:schemeClr>
                </a:solidFill>
                <a:latin typeface="Arial" pitchFamily="34" charset="0"/>
                <a:cs typeface="Arial" pitchFamily="34" charset="0"/>
              </a:rPr>
              <a:t> what is </a:t>
            </a:r>
            <a:r>
              <a:rPr lang="en-US" sz="2800" cap="none" dirty="0" smtClean="0">
                <a:solidFill>
                  <a:schemeClr val="tx1">
                    <a:lumMod val="95000"/>
                    <a:lumOff val="5000"/>
                  </a:schemeClr>
                </a:solidFill>
                <a:latin typeface="Arial" pitchFamily="34" charset="0"/>
                <a:cs typeface="Arial" pitchFamily="34" charset="0"/>
              </a:rPr>
              <a:t>CYBER LAW.</a:t>
            </a:r>
            <a:r>
              <a:rPr lang="en-US" sz="2800" dirty="0" smtClean="0">
                <a:solidFill>
                  <a:schemeClr val="tx1">
                    <a:lumMod val="95000"/>
                    <a:lumOff val="5000"/>
                  </a:schemeClr>
                </a:solidFill>
                <a:latin typeface="Arial" pitchFamily="34" charset="0"/>
                <a:cs typeface="Arial" pitchFamily="34" charset="0"/>
              </a:rPr>
              <a:t> </a:t>
            </a:r>
          </a:p>
          <a:p>
            <a:pPr algn="l">
              <a:buFont typeface="Wingdings" pitchFamily="2" charset="2"/>
              <a:buChar char="q"/>
              <a:defRPr/>
            </a:pPr>
            <a:r>
              <a:rPr lang="en-US" sz="2800" dirty="0" smtClean="0">
                <a:solidFill>
                  <a:schemeClr val="tx1">
                    <a:lumMod val="95000"/>
                    <a:lumOff val="5000"/>
                  </a:schemeClr>
                </a:solidFill>
                <a:latin typeface="Arial" pitchFamily="34" charset="0"/>
                <a:cs typeface="Arial" pitchFamily="34" charset="0"/>
              </a:rPr>
              <a:t> INTERNATIONAL CYBER LAWS.</a:t>
            </a:r>
          </a:p>
          <a:p>
            <a:pPr algn="l">
              <a:buFont typeface="Wingdings" pitchFamily="2" charset="2"/>
              <a:buChar char="q"/>
              <a:defRPr/>
            </a:pPr>
            <a:r>
              <a:rPr lang="en-US" sz="2800" dirty="0" smtClean="0">
                <a:solidFill>
                  <a:schemeClr val="tx1">
                    <a:lumMod val="95000"/>
                    <a:lumOff val="5000"/>
                  </a:schemeClr>
                </a:solidFill>
                <a:latin typeface="Arial" pitchFamily="34" charset="0"/>
                <a:cs typeface="Arial" pitchFamily="34" charset="0"/>
              </a:rPr>
              <a:t> CYBER LAWS IN PAKISTAN.</a:t>
            </a:r>
          </a:p>
          <a:p>
            <a:pPr algn="l">
              <a:buFont typeface="Wingdings" pitchFamily="2" charset="2"/>
              <a:buChar char="q"/>
              <a:defRPr/>
            </a:pPr>
            <a:r>
              <a:rPr lang="en-US" sz="2800" dirty="0" smtClean="0">
                <a:solidFill>
                  <a:schemeClr val="tx1">
                    <a:lumMod val="95000"/>
                    <a:lumOff val="5000"/>
                  </a:schemeClr>
                </a:solidFill>
                <a:latin typeface="Arial" pitchFamily="34" charset="0"/>
                <a:cs typeface="Arial" pitchFamily="34" charset="0"/>
              </a:rPr>
              <a:t> Punishment for committing cyber crime.</a:t>
            </a:r>
          </a:p>
          <a:p>
            <a:pPr algn="l">
              <a:buFont typeface="Wingdings" pitchFamily="2" charset="2"/>
              <a:buChar char="q"/>
              <a:defRPr/>
            </a:pPr>
            <a:endParaRPr lang="en-US" sz="2800" dirty="0">
              <a:solidFill>
                <a:schemeClr val="tx1">
                  <a:lumMod val="95000"/>
                  <a:lumOff val="5000"/>
                </a:schemeClr>
              </a:solidFill>
              <a:latin typeface="Arial" pitchFamily="34" charset="0"/>
              <a:cs typeface="Arial" pitchFamily="34" charset="0"/>
            </a:endParaRPr>
          </a:p>
        </p:txBody>
      </p:sp>
      <p:sp>
        <p:nvSpPr>
          <p:cNvPr id="2" name="Title 1"/>
          <p:cNvSpPr>
            <a:spLocks noGrp="1"/>
          </p:cNvSpPr>
          <p:nvPr>
            <p:ph type="ctrTitle"/>
          </p:nvPr>
        </p:nvSpPr>
        <p:spPr>
          <a:xfrm>
            <a:off x="152400" y="152400"/>
            <a:ext cx="11506200" cy="2057400"/>
          </a:xfrm>
        </p:spPr>
        <p:txBody>
          <a:bodyPr>
            <a:noAutofit/>
          </a:bodyPr>
          <a:lstStyle/>
          <a:p>
            <a:pPr algn="l"/>
            <a:r>
              <a:rPr lang="fr-FR" altLang="en-US" sz="4000" b="1" dirty="0" smtClean="0">
                <a:solidFill>
                  <a:srgbClr val="0070C0"/>
                </a:solidFill>
                <a:latin typeface="Arial" pitchFamily="34" charset="0"/>
                <a:cs typeface="Arial" pitchFamily="34" charset="0"/>
              </a:rPr>
              <a:t>       </a:t>
            </a:r>
            <a:r>
              <a:rPr lang="fr-FR" altLang="en-US" sz="4000" b="1" dirty="0" smtClean="0">
                <a:solidFill>
                  <a:srgbClr val="C00000"/>
                </a:solidFill>
                <a:latin typeface="Arial" pitchFamily="34" charset="0"/>
                <a:cs typeface="Arial" pitchFamily="34" charset="0"/>
              </a:rPr>
              <a:t>Professional Practices- week5</a:t>
            </a:r>
            <a:r>
              <a:rPr lang="fr-FR" altLang="en-US" sz="4000" b="1" dirty="0" smtClean="0">
                <a:latin typeface="Arial" pitchFamily="34" charset="0"/>
                <a:cs typeface="Arial" pitchFamily="34" charset="0"/>
              </a:rPr>
              <a:t/>
            </a:r>
            <a:br>
              <a:rPr lang="fr-FR" altLang="en-US" sz="4000" b="1" dirty="0" smtClean="0">
                <a:latin typeface="Arial" pitchFamily="34" charset="0"/>
                <a:cs typeface="Arial" pitchFamily="34" charset="0"/>
              </a:rPr>
            </a:br>
            <a:r>
              <a:rPr lang="fr-FR" altLang="en-US" sz="4000" b="1" dirty="0" smtClean="0">
                <a:solidFill>
                  <a:srgbClr val="0070C0"/>
                </a:solidFill>
                <a:latin typeface="Arial" pitchFamily="34" charset="0"/>
                <a:cs typeface="Arial" pitchFamily="34" charset="0"/>
              </a:rPr>
              <a:t>           Cyber Law and Intellectuel </a:t>
            </a:r>
            <a:br>
              <a:rPr lang="fr-FR" altLang="en-US" sz="4000" b="1" dirty="0" smtClean="0">
                <a:solidFill>
                  <a:srgbClr val="0070C0"/>
                </a:solidFill>
                <a:latin typeface="Arial" pitchFamily="34" charset="0"/>
                <a:cs typeface="Arial" pitchFamily="34" charset="0"/>
              </a:rPr>
            </a:br>
            <a:r>
              <a:rPr lang="fr-FR" altLang="en-US" sz="4000" b="1" dirty="0" smtClean="0">
                <a:solidFill>
                  <a:srgbClr val="0070C0"/>
                </a:solidFill>
                <a:latin typeface="Arial" pitchFamily="34" charset="0"/>
                <a:cs typeface="Arial" pitchFamily="34" charset="0"/>
              </a:rPr>
              <a:t>                   property Law</a:t>
            </a:r>
            <a:endParaRPr lang="fr-FR" altLang="en-US" sz="4000" b="1" dirty="0">
              <a:solidFill>
                <a:srgbClr val="0070C0"/>
              </a:solidFill>
              <a:latin typeface="Arial" pitchFamily="34" charset="0"/>
              <a:cs typeface="Arial" pitchFamily="34" charset="0"/>
            </a:endParaRPr>
          </a:p>
        </p:txBody>
      </p:sp>
      <p:pic>
        <p:nvPicPr>
          <p:cNvPr id="4" name="Picture 3" descr="PP.jpg"/>
          <p:cNvPicPr>
            <a:picLocks noChangeAspect="1"/>
          </p:cNvPicPr>
          <p:nvPr/>
        </p:nvPicPr>
        <p:blipFill>
          <a:blip r:embed="rId2"/>
          <a:stretch>
            <a:fillRect/>
          </a:stretch>
        </p:blipFill>
        <p:spPr>
          <a:xfrm>
            <a:off x="9906000" y="381000"/>
            <a:ext cx="1676400" cy="16764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bwMode="auto">
          <a:xfrm>
            <a:off x="990600" y="46039"/>
            <a:ext cx="9829800" cy="639761"/>
          </a:xfrm>
          <a:noFill/>
          <a:ln>
            <a:miter lim="800000"/>
            <a:headEnd/>
            <a:tailEnd/>
          </a:ln>
        </p:spPr>
        <p:txBody>
          <a:bodyPr vert="horz" wrap="square" lIns="91440" tIns="45720" rIns="91440" bIns="45720" numCol="1" anchor="t" anchorCtr="0" compatLnSpc="1">
            <a:prstTxWarp prst="textNoShape">
              <a:avLst/>
            </a:prstTxWarp>
            <a:noAutofit/>
          </a:bodyPr>
          <a:lstStyle/>
          <a:p>
            <a:r>
              <a:rPr lang="en-US" altLang="en-US" sz="4000" b="1" dirty="0" smtClean="0">
                <a:solidFill>
                  <a:srgbClr val="C00000"/>
                </a:solidFill>
                <a:latin typeface="Arial" pitchFamily="34" charset="0"/>
                <a:cs typeface="Arial" pitchFamily="34" charset="0"/>
              </a:rPr>
              <a:t>INTELLECTUAL PROPERTY</a:t>
            </a:r>
            <a:br>
              <a:rPr lang="en-US" altLang="en-US" sz="4000" b="1" dirty="0" smtClean="0">
                <a:solidFill>
                  <a:srgbClr val="C00000"/>
                </a:solidFill>
                <a:latin typeface="Arial" pitchFamily="34" charset="0"/>
                <a:cs typeface="Arial" pitchFamily="34" charset="0"/>
              </a:rPr>
            </a:br>
            <a:r>
              <a:rPr lang="en-US" altLang="en-US" sz="4000" b="1" dirty="0" smtClean="0">
                <a:solidFill>
                  <a:srgbClr val="C00000"/>
                </a:solidFill>
                <a:latin typeface="Arial" pitchFamily="34" charset="0"/>
                <a:cs typeface="Arial" pitchFamily="34" charset="0"/>
              </a:rPr>
              <a:t> RIGHTS</a:t>
            </a:r>
          </a:p>
        </p:txBody>
      </p:sp>
      <p:sp>
        <p:nvSpPr>
          <p:cNvPr id="3" name="Content Placeholder 2"/>
          <p:cNvSpPr>
            <a:spLocks noGrp="1"/>
          </p:cNvSpPr>
          <p:nvPr>
            <p:ph idx="1"/>
          </p:nvPr>
        </p:nvSpPr>
        <p:spPr>
          <a:xfrm>
            <a:off x="381000" y="1905000"/>
            <a:ext cx="11201399" cy="4419600"/>
          </a:xfrm>
        </p:spPr>
        <p:txBody>
          <a:bodyPr/>
          <a:lstStyle/>
          <a:p>
            <a:pPr>
              <a:buFont typeface="Wingdings" pitchFamily="2" charset="2"/>
              <a:buChar char="q"/>
              <a:defRPr/>
            </a:pPr>
            <a:r>
              <a:rPr lang="en-US" sz="2800" dirty="0" smtClean="0">
                <a:latin typeface="Arial" pitchFamily="34" charset="0"/>
                <a:cs typeface="Arial" pitchFamily="34" charset="0"/>
              </a:rPr>
              <a:t>Intellectual property and intellectual property rights  are  often the most valuable assets owned by any organization or  company  or institution.</a:t>
            </a:r>
          </a:p>
          <a:p>
            <a:pPr>
              <a:buFont typeface="Wingdings" pitchFamily="2" charset="2"/>
              <a:buChar char="q"/>
              <a:defRPr/>
            </a:pPr>
            <a:r>
              <a:rPr lang="en-US" sz="2800" dirty="0" smtClean="0">
                <a:latin typeface="Arial" pitchFamily="34" charset="0"/>
                <a:cs typeface="Arial" pitchFamily="34" charset="0"/>
              </a:rPr>
              <a:t>The following must be safe and protected :-</a:t>
            </a:r>
            <a:br>
              <a:rPr lang="en-US" sz="2800" dirty="0" smtClean="0">
                <a:latin typeface="Arial" pitchFamily="34" charset="0"/>
                <a:cs typeface="Arial" pitchFamily="34" charset="0"/>
              </a:rPr>
            </a:br>
            <a:r>
              <a:rPr lang="en-US" sz="2800" dirty="0" smtClean="0">
                <a:latin typeface="Arial" pitchFamily="34" charset="0"/>
                <a:cs typeface="Arial" pitchFamily="34" charset="0"/>
              </a:rPr>
              <a:t>- All the information </a:t>
            </a:r>
            <a:r>
              <a:rPr lang="en-US" sz="2800" dirty="0">
                <a:latin typeface="Arial" pitchFamily="34" charset="0"/>
                <a:cs typeface="Arial" pitchFamily="34" charset="0"/>
              </a:rPr>
              <a:t>stored </a:t>
            </a:r>
            <a:r>
              <a:rPr lang="en-US" sz="2800" dirty="0" smtClean="0">
                <a:latin typeface="Arial" pitchFamily="34" charset="0"/>
                <a:cs typeface="Arial" pitchFamily="34" charset="0"/>
              </a:rPr>
              <a:t>on computers  and  electronic devices</a:t>
            </a:r>
            <a:br>
              <a:rPr lang="en-US" sz="2800" dirty="0" smtClean="0">
                <a:latin typeface="Arial" pitchFamily="34" charset="0"/>
                <a:cs typeface="Arial" pitchFamily="34" charset="0"/>
              </a:rPr>
            </a:br>
            <a:r>
              <a:rPr lang="en-US" sz="2800" dirty="0" smtClean="0">
                <a:latin typeface="Arial" pitchFamily="34" charset="0"/>
                <a:cs typeface="Arial" pitchFamily="34" charset="0"/>
              </a:rPr>
              <a:t>- all  of  </a:t>
            </a:r>
            <a:r>
              <a:rPr lang="en-US" sz="2800" dirty="0">
                <a:latin typeface="Arial" pitchFamily="34" charset="0"/>
                <a:cs typeface="Arial" pitchFamily="34" charset="0"/>
              </a:rPr>
              <a:t>the </a:t>
            </a:r>
            <a:r>
              <a:rPr lang="en-US" sz="2800" dirty="0" smtClean="0">
                <a:latin typeface="Arial" pitchFamily="34" charset="0"/>
                <a:cs typeface="Arial" pitchFamily="34" charset="0"/>
              </a:rPr>
              <a:t> paperwork  and  documentation   such  as  computer</a:t>
            </a:r>
            <a:br>
              <a:rPr lang="en-US" sz="2800" dirty="0" smtClean="0">
                <a:latin typeface="Arial" pitchFamily="34" charset="0"/>
                <a:cs typeface="Arial" pitchFamily="34" charset="0"/>
              </a:rPr>
            </a:br>
            <a:r>
              <a:rPr lang="en-US" sz="2800" dirty="0" smtClean="0">
                <a:latin typeface="Arial" pitchFamily="34" charset="0"/>
                <a:cs typeface="Arial" pitchFamily="34" charset="0"/>
              </a:rPr>
              <a:t>  programs, user manuals and information on </a:t>
            </a:r>
            <a:r>
              <a:rPr lang="en-US" sz="2800" dirty="0">
                <a:latin typeface="Arial" pitchFamily="34" charset="0"/>
                <a:cs typeface="Arial" pitchFamily="34" charset="0"/>
              </a:rPr>
              <a:t>the </a:t>
            </a:r>
            <a:r>
              <a:rPr lang="en-US" sz="2800" dirty="0" smtClean="0">
                <a:latin typeface="Arial" pitchFamily="34" charset="0"/>
                <a:cs typeface="Arial" pitchFamily="34" charset="0"/>
              </a:rPr>
              <a:t>Web.</a:t>
            </a:r>
            <a:endParaRPr lang="en-US" sz="2800" dirty="0">
              <a:latin typeface="Arial" pitchFamily="34" charset="0"/>
              <a:cs typeface="Arial" pitchFamily="34" charset="0"/>
            </a:endParaRPr>
          </a:p>
          <a:p>
            <a:pPr>
              <a:defRPr/>
            </a:pPr>
            <a:endParaRPr lang="en-US" sz="2800" dirty="0" smtClean="0"/>
          </a:p>
          <a:p>
            <a:pPr>
              <a:defRPr/>
            </a:pPr>
            <a:endParaRPr lang="en-US" sz="2800" dirty="0" smtClean="0"/>
          </a:p>
          <a:p>
            <a:pPr marL="0" indent="0">
              <a:buFont typeface="Wingdings" panose="05000000000000000000" pitchFamily="2" charset="2"/>
              <a:buNone/>
              <a:defRPr/>
            </a:pPr>
            <a:endParaRPr lang="en-US" sz="28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bwMode="auto">
          <a:xfrm>
            <a:off x="228600" y="76200"/>
            <a:ext cx="10439400" cy="758952"/>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altLang="en-US" sz="3600" b="1" dirty="0" smtClean="0">
                <a:solidFill>
                  <a:srgbClr val="C00000"/>
                </a:solidFill>
                <a:latin typeface="Arial" pitchFamily="34" charset="0"/>
                <a:cs typeface="Arial" pitchFamily="34" charset="0"/>
              </a:rPr>
              <a:t>INTELLECTUAL PROPERTY RIGHTS</a:t>
            </a:r>
            <a:br>
              <a:rPr lang="en-US" altLang="en-US" sz="3600" b="1" dirty="0" smtClean="0">
                <a:solidFill>
                  <a:srgbClr val="C00000"/>
                </a:solidFill>
                <a:latin typeface="Arial" pitchFamily="34" charset="0"/>
                <a:cs typeface="Arial" pitchFamily="34" charset="0"/>
              </a:rPr>
            </a:br>
            <a:r>
              <a:rPr lang="en-US" altLang="en-US" sz="3600" b="1" dirty="0" smtClean="0">
                <a:solidFill>
                  <a:srgbClr val="C00000"/>
                </a:solidFill>
                <a:latin typeface="Arial" pitchFamily="34" charset="0"/>
                <a:cs typeface="Arial" pitchFamily="34" charset="0"/>
              </a:rPr>
              <a:t>(CONTINUE)</a:t>
            </a:r>
            <a:endParaRPr lang="en-US" altLang="en-US" dirty="0" smtClean="0"/>
          </a:p>
        </p:txBody>
      </p:sp>
      <p:sp>
        <p:nvSpPr>
          <p:cNvPr id="3" name="Content Placeholder 2"/>
          <p:cNvSpPr>
            <a:spLocks noGrp="1"/>
          </p:cNvSpPr>
          <p:nvPr>
            <p:ph idx="1"/>
          </p:nvPr>
        </p:nvSpPr>
        <p:spPr>
          <a:xfrm>
            <a:off x="304800" y="1600200"/>
            <a:ext cx="11125200" cy="4852988"/>
          </a:xfrm>
        </p:spPr>
        <p:txBody>
          <a:bodyPr>
            <a:normAutofit lnSpcReduction="10000"/>
          </a:bodyPr>
          <a:lstStyle/>
          <a:p>
            <a:pPr>
              <a:buFont typeface="Wingdings" pitchFamily="2" charset="2"/>
              <a:buChar char="q"/>
              <a:defRPr/>
            </a:pPr>
            <a:r>
              <a:rPr lang="en-US" sz="2800" dirty="0" smtClean="0">
                <a:latin typeface="Arial" pitchFamily="34" charset="0"/>
                <a:cs typeface="Arial" pitchFamily="34" charset="0"/>
              </a:rPr>
              <a:t> Unauthorized use of intellectual property should be stopped by law</a:t>
            </a:r>
            <a:br>
              <a:rPr lang="en-US" sz="2800" dirty="0" smtClean="0">
                <a:latin typeface="Arial" pitchFamily="34" charset="0"/>
                <a:cs typeface="Arial" pitchFamily="34" charset="0"/>
              </a:rPr>
            </a:br>
            <a:r>
              <a:rPr lang="en-US" sz="2800" dirty="0" smtClean="0">
                <a:latin typeface="Arial" pitchFamily="34" charset="0"/>
                <a:cs typeface="Arial" pitchFamily="34" charset="0"/>
              </a:rPr>
              <a:t> and damages should be recovered.</a:t>
            </a:r>
          </a:p>
          <a:p>
            <a:pPr>
              <a:buFont typeface="Wingdings" pitchFamily="2" charset="2"/>
              <a:buChar char="q"/>
              <a:defRPr/>
            </a:pPr>
            <a:r>
              <a:rPr lang="en-US" sz="2800" dirty="0" smtClean="0">
                <a:latin typeface="Arial" pitchFamily="34" charset="0"/>
                <a:cs typeface="Arial" pitchFamily="34" charset="0"/>
              </a:rPr>
              <a:t> The law is constantly changing with technological advance, for that</a:t>
            </a:r>
            <a:br>
              <a:rPr lang="en-US" sz="2800" dirty="0" smtClean="0">
                <a:latin typeface="Arial" pitchFamily="34" charset="0"/>
                <a:cs typeface="Arial" pitchFamily="34" charset="0"/>
              </a:rPr>
            </a:br>
            <a:r>
              <a:rPr lang="en-US" sz="2800" dirty="0" smtClean="0">
                <a:latin typeface="Arial" pitchFamily="34" charset="0"/>
                <a:cs typeface="Arial" pitchFamily="34" charset="0"/>
              </a:rPr>
              <a:t>  GATT is introduced by 23 founding members.</a:t>
            </a:r>
          </a:p>
          <a:p>
            <a:pPr>
              <a:buFont typeface="Wingdings" pitchFamily="2" charset="2"/>
              <a:buChar char="q"/>
              <a:defRPr/>
            </a:pPr>
            <a:r>
              <a:rPr lang="en-US" sz="2800" dirty="0" smtClean="0">
                <a:latin typeface="Arial" pitchFamily="34" charset="0"/>
                <a:cs typeface="Arial" pitchFamily="34" charset="0"/>
              </a:rPr>
              <a:t> General Agreement on Tariffs and Trade (GATT) covers the intelle-</a:t>
            </a:r>
            <a:br>
              <a:rPr lang="en-US" sz="2800" dirty="0" smtClean="0">
                <a:latin typeface="Arial" pitchFamily="34" charset="0"/>
                <a:cs typeface="Arial" pitchFamily="34" charset="0"/>
              </a:rPr>
            </a:br>
            <a:r>
              <a:rPr lang="en-US" sz="2800" dirty="0" smtClean="0">
                <a:latin typeface="Arial" pitchFamily="34" charset="0"/>
                <a:cs typeface="Arial" pitchFamily="34" charset="0"/>
              </a:rPr>
              <a:t> ctual property rights, it is the only multilateral, legally binding.</a:t>
            </a:r>
          </a:p>
          <a:p>
            <a:pPr>
              <a:buFont typeface="Wingdings" pitchFamily="2" charset="2"/>
              <a:buChar char="q"/>
              <a:defRPr/>
            </a:pPr>
            <a:r>
              <a:rPr lang="en-US" sz="2800" dirty="0" smtClean="0">
                <a:latin typeface="Arial" pitchFamily="34" charset="0"/>
                <a:cs typeface="Arial" pitchFamily="34" charset="0"/>
              </a:rPr>
              <a:t> </a:t>
            </a:r>
            <a:r>
              <a:rPr lang="en-US" sz="2800" u="sng" dirty="0" smtClean="0">
                <a:latin typeface="Arial" pitchFamily="34" charset="0"/>
                <a:cs typeface="Arial" pitchFamily="34" charset="0"/>
              </a:rPr>
              <a:t>GATT</a:t>
            </a:r>
            <a:r>
              <a:rPr lang="en-US" sz="2800" dirty="0" smtClean="0">
                <a:latin typeface="Arial" pitchFamily="34" charset="0"/>
                <a:cs typeface="Arial" pitchFamily="34" charset="0"/>
              </a:rPr>
              <a:t> is </a:t>
            </a:r>
            <a:r>
              <a:rPr lang="en-US" sz="2800" dirty="0">
                <a:latin typeface="Arial" pitchFamily="34" charset="0"/>
                <a:cs typeface="Arial" pitchFamily="34" charset="0"/>
              </a:rPr>
              <a:t>a legal agreement between </a:t>
            </a:r>
            <a:r>
              <a:rPr lang="en-US" sz="2800" dirty="0" smtClean="0">
                <a:latin typeface="Arial" pitchFamily="34" charset="0"/>
                <a:cs typeface="Arial" pitchFamily="34" charset="0"/>
              </a:rPr>
              <a:t>companies and  countries and </a:t>
            </a:r>
            <a:br>
              <a:rPr lang="en-US" sz="2800" dirty="0" smtClean="0">
                <a:latin typeface="Arial" pitchFamily="34" charset="0"/>
                <a:cs typeface="Arial" pitchFamily="34" charset="0"/>
              </a:rPr>
            </a:br>
            <a:r>
              <a:rPr lang="en-US" sz="2800" dirty="0" smtClean="0">
                <a:latin typeface="Arial" pitchFamily="34" charset="0"/>
                <a:cs typeface="Arial" pitchFamily="34" charset="0"/>
              </a:rPr>
              <a:t> covers 90% of trade but still some countries are still not a part.</a:t>
            </a:r>
            <a:br>
              <a:rPr lang="en-US" sz="2800" dirty="0" smtClean="0">
                <a:latin typeface="Arial" pitchFamily="34" charset="0"/>
                <a:cs typeface="Arial" pitchFamily="34" charset="0"/>
              </a:rPr>
            </a:br>
            <a:r>
              <a:rPr lang="en-US" sz="2800" dirty="0" smtClean="0">
                <a:latin typeface="Arial" pitchFamily="34" charset="0"/>
                <a:cs typeface="Arial" pitchFamily="34" charset="0"/>
              </a:rPr>
              <a:t/>
            </a:r>
            <a:br>
              <a:rPr lang="en-US" sz="2800" dirty="0" smtClean="0">
                <a:latin typeface="Arial" pitchFamily="34" charset="0"/>
                <a:cs typeface="Arial" pitchFamily="34" charset="0"/>
              </a:rPr>
            </a:br>
            <a:r>
              <a:rPr lang="en-US" sz="2000" dirty="0" smtClean="0"/>
              <a:t/>
            </a:r>
            <a:br>
              <a:rPr lang="en-US" sz="2000" dirty="0" smtClean="0"/>
            </a:br>
            <a:r>
              <a:rPr lang="en-US" sz="2000" dirty="0" smtClean="0"/>
              <a:t/>
            </a:r>
            <a:br>
              <a:rPr lang="en-US" sz="2000" dirty="0" smtClean="0"/>
            </a:br>
            <a:endParaRPr lang="en-US" sz="2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1" y="228600"/>
            <a:ext cx="9906000" cy="758952"/>
          </a:xfrm>
        </p:spPr>
        <p:txBody>
          <a:bodyPr>
            <a:normAutofit/>
          </a:bodyPr>
          <a:lstStyle/>
          <a:p>
            <a:r>
              <a:rPr lang="en-US" sz="4000" b="1" dirty="0" smtClean="0">
                <a:solidFill>
                  <a:srgbClr val="C00000"/>
                </a:solidFill>
                <a:latin typeface="Arial" pitchFamily="34" charset="0"/>
                <a:cs typeface="Arial" pitchFamily="34" charset="0"/>
              </a:rPr>
              <a:t>Does GATT Covers Intellectual Property</a:t>
            </a:r>
            <a:endParaRPr lang="en-US" sz="4000" b="1" dirty="0">
              <a:solidFill>
                <a:srgbClr val="C00000"/>
              </a:solidFill>
              <a:latin typeface="Arial" pitchFamily="34" charset="0"/>
              <a:cs typeface="Arial" pitchFamily="34" charset="0"/>
            </a:endParaRPr>
          </a:p>
        </p:txBody>
      </p:sp>
      <p:sp>
        <p:nvSpPr>
          <p:cNvPr id="3" name="Content Placeholder 2"/>
          <p:cNvSpPr>
            <a:spLocks noGrp="1"/>
          </p:cNvSpPr>
          <p:nvPr>
            <p:ph sz="quarter" idx="1"/>
          </p:nvPr>
        </p:nvSpPr>
        <p:spPr/>
        <p:txBody>
          <a:bodyPr>
            <a:normAutofit lnSpcReduction="10000"/>
          </a:bodyPr>
          <a:lstStyle/>
          <a:p>
            <a:pPr algn="just">
              <a:buFont typeface="Wingdings" pitchFamily="2" charset="2"/>
              <a:buChar char="q"/>
            </a:pPr>
            <a:endParaRPr lang="en-US" sz="2800" dirty="0" smtClean="0">
              <a:latin typeface="Arial" pitchFamily="34" charset="0"/>
              <a:cs typeface="Arial" pitchFamily="34" charset="0"/>
            </a:endParaRPr>
          </a:p>
          <a:p>
            <a:pPr algn="just">
              <a:buFont typeface="Wingdings" pitchFamily="2" charset="2"/>
              <a:buChar char="q"/>
            </a:pPr>
            <a:r>
              <a:rPr lang="en-US" sz="2800" dirty="0" smtClean="0">
                <a:latin typeface="Arial" pitchFamily="34" charset="0"/>
                <a:cs typeface="Arial" pitchFamily="34" charset="0"/>
              </a:rPr>
              <a:t>The General agreement on Tariffs and trade  (GATT)  is  a  legal agreement between many countries whose overall purpose is to</a:t>
            </a:r>
            <a:br>
              <a:rPr lang="en-US" sz="2800" dirty="0" smtClean="0">
                <a:latin typeface="Arial" pitchFamily="34" charset="0"/>
                <a:cs typeface="Arial" pitchFamily="34" charset="0"/>
              </a:rPr>
            </a:br>
            <a:r>
              <a:rPr lang="en-US" sz="2800" dirty="0" smtClean="0">
                <a:latin typeface="Arial" pitchFamily="34" charset="0"/>
                <a:cs typeface="Arial" pitchFamily="34" charset="0"/>
              </a:rPr>
              <a:t>promote international trade by reducing or eliminating trade barriers such as tariffs or quotas. </a:t>
            </a:r>
          </a:p>
          <a:p>
            <a:pPr algn="just">
              <a:buFont typeface="Wingdings" pitchFamily="2" charset="2"/>
              <a:buChar char="q"/>
            </a:pPr>
            <a:r>
              <a:rPr lang="en-US" sz="2800" dirty="0" smtClean="0">
                <a:latin typeface="Arial" pitchFamily="34" charset="0"/>
                <a:cs typeface="Arial" pitchFamily="34" charset="0"/>
              </a:rPr>
              <a:t> </a:t>
            </a:r>
            <a:r>
              <a:rPr lang="en-US" sz="2800" b="1" dirty="0" smtClean="0">
                <a:latin typeface="Arial" pitchFamily="34" charset="0"/>
                <a:cs typeface="Arial" pitchFamily="34" charset="0"/>
              </a:rPr>
              <a:t>International law </a:t>
            </a:r>
            <a:r>
              <a:rPr lang="en-US" sz="2800" dirty="0" smtClean="0">
                <a:latin typeface="Arial" pitchFamily="34" charset="0"/>
                <a:cs typeface="Arial" pitchFamily="34" charset="0"/>
              </a:rPr>
              <a:t>includes Article XX(d) of GATT 1947 now Article</a:t>
            </a:r>
            <a:br>
              <a:rPr lang="en-US" sz="2800" dirty="0" smtClean="0">
                <a:latin typeface="Arial" pitchFamily="34" charset="0"/>
                <a:cs typeface="Arial" pitchFamily="34" charset="0"/>
              </a:rPr>
            </a:br>
            <a:r>
              <a:rPr lang="en-US" sz="2800" dirty="0" smtClean="0">
                <a:latin typeface="Arial" pitchFamily="34" charset="0"/>
                <a:cs typeface="Arial" pitchFamily="34" charset="0"/>
              </a:rPr>
              <a:t> XX(d) of GATT 1994 specifically referred to intellectual property</a:t>
            </a:r>
            <a:br>
              <a:rPr lang="en-US" sz="2800" dirty="0" smtClean="0">
                <a:latin typeface="Arial" pitchFamily="34" charset="0"/>
                <a:cs typeface="Arial" pitchFamily="34" charset="0"/>
              </a:rPr>
            </a:br>
            <a:r>
              <a:rPr lang="en-US" sz="2800" dirty="0" smtClean="0">
                <a:latin typeface="Arial" pitchFamily="34" charset="0"/>
                <a:cs typeface="Arial" pitchFamily="34" charset="0"/>
              </a:rPr>
              <a:t> rights.</a:t>
            </a:r>
          </a:p>
          <a:p>
            <a:pPr algn="just">
              <a:buFont typeface="Wingdings" pitchFamily="2" charset="2"/>
              <a:buChar char="q"/>
            </a:pPr>
            <a:r>
              <a:rPr lang="en-US" sz="2800" b="1" dirty="0" smtClean="0">
                <a:latin typeface="Arial" pitchFamily="34" charset="0"/>
                <a:cs typeface="Arial" pitchFamily="34" charset="0"/>
              </a:rPr>
              <a:t>In Pakistan </a:t>
            </a:r>
            <a:r>
              <a:rPr lang="en-US" sz="2800" dirty="0" smtClean="0">
                <a:latin typeface="Arial" pitchFamily="34" charset="0"/>
                <a:cs typeface="Arial" pitchFamily="34" charset="0"/>
              </a:rPr>
              <a:t>the copyright ordinance 1962, the patent ordinance 2000, and the trade marks ordinance 2001 cover GATT.</a:t>
            </a:r>
            <a:endParaRPr lang="en-US" sz="2800" dirty="0">
              <a:latin typeface="Arial" pitchFamily="34" charset="0"/>
              <a:cs typeface="Arial"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bwMode="auto">
          <a:noFill/>
          <a:ln>
            <a:miter lim="800000"/>
            <a:headEnd/>
            <a:tailEnd/>
          </a:ln>
        </p:spPr>
        <p:txBody>
          <a:bodyPr vert="horz" wrap="square" lIns="91440" tIns="45720" rIns="91440" bIns="45720" numCol="1" anchor="t" anchorCtr="0" compatLnSpc="1">
            <a:prstTxWarp prst="textNoShape">
              <a:avLst/>
            </a:prstTxWarp>
            <a:normAutofit/>
          </a:bodyPr>
          <a:lstStyle/>
          <a:p>
            <a:r>
              <a:rPr lang="en-US" altLang="en-US" sz="4000" b="1" dirty="0" smtClean="0">
                <a:solidFill>
                  <a:srgbClr val="C00000"/>
                </a:solidFill>
                <a:latin typeface="Arial" pitchFamily="34" charset="0"/>
                <a:cs typeface="Arial" pitchFamily="34" charset="0"/>
              </a:rPr>
              <a:t>Confidential Information</a:t>
            </a:r>
          </a:p>
        </p:txBody>
      </p:sp>
      <p:sp>
        <p:nvSpPr>
          <p:cNvPr id="3" name="Content Placeholder 2"/>
          <p:cNvSpPr>
            <a:spLocks noGrp="1"/>
          </p:cNvSpPr>
          <p:nvPr>
            <p:ph idx="1"/>
          </p:nvPr>
        </p:nvSpPr>
        <p:spPr>
          <a:xfrm>
            <a:off x="381000" y="1447800"/>
            <a:ext cx="11277600" cy="5257800"/>
          </a:xfrm>
        </p:spPr>
        <p:txBody>
          <a:bodyPr>
            <a:noAutofit/>
          </a:bodyPr>
          <a:lstStyle/>
          <a:p>
            <a:pPr>
              <a:buFont typeface="Wingdings" pitchFamily="2" charset="2"/>
              <a:buChar char="q"/>
              <a:defRPr/>
            </a:pPr>
            <a:r>
              <a:rPr lang="en-US" sz="2800" dirty="0" smtClean="0">
                <a:solidFill>
                  <a:srgbClr val="C00000"/>
                </a:solidFill>
                <a:latin typeface="Arial" pitchFamily="34" charset="0"/>
                <a:cs typeface="Arial" pitchFamily="34" charset="0"/>
              </a:rPr>
              <a:t>GATT covers :-</a:t>
            </a:r>
            <a:endParaRPr lang="en-US" sz="2800" u="sng" dirty="0" smtClean="0">
              <a:solidFill>
                <a:srgbClr val="C00000"/>
              </a:solidFill>
              <a:latin typeface="Arial" pitchFamily="34" charset="0"/>
              <a:cs typeface="Arial" pitchFamily="34" charset="0"/>
            </a:endParaRPr>
          </a:p>
          <a:p>
            <a:pPr>
              <a:buFont typeface="Wingdings" pitchFamily="2" charset="2"/>
              <a:buChar char="q"/>
              <a:defRPr/>
            </a:pPr>
            <a:r>
              <a:rPr lang="en-US" sz="2800" u="sng" dirty="0" smtClean="0">
                <a:latin typeface="Arial" pitchFamily="34" charset="0"/>
                <a:cs typeface="Arial" pitchFamily="34" charset="0"/>
              </a:rPr>
              <a:t>Confidential Information</a:t>
            </a:r>
            <a:r>
              <a:rPr lang="en-US" sz="2800" dirty="0" smtClean="0">
                <a:latin typeface="Arial" pitchFamily="34" charset="0"/>
                <a:cs typeface="Arial" pitchFamily="34" charset="0"/>
              </a:rPr>
              <a:t/>
            </a:r>
            <a:br>
              <a:rPr lang="en-US" sz="2800" dirty="0" smtClean="0">
                <a:latin typeface="Arial" pitchFamily="34" charset="0"/>
                <a:cs typeface="Arial" pitchFamily="34" charset="0"/>
              </a:rPr>
            </a:br>
            <a:r>
              <a:rPr lang="en-US" sz="2800" dirty="0" smtClean="0">
                <a:latin typeface="Arial" pitchFamily="34" charset="0"/>
                <a:cs typeface="Arial" pitchFamily="34" charset="0"/>
              </a:rPr>
              <a:t>which is not public property and should not be shown to public </a:t>
            </a:r>
          </a:p>
          <a:p>
            <a:pPr>
              <a:buFont typeface="Wingdings" pitchFamily="2" charset="2"/>
              <a:buChar char="q"/>
              <a:defRPr/>
            </a:pPr>
            <a:r>
              <a:rPr lang="en-US" sz="2800" u="sng" dirty="0" smtClean="0">
                <a:latin typeface="Arial" pitchFamily="34" charset="0"/>
                <a:cs typeface="Arial" pitchFamily="34" charset="0"/>
              </a:rPr>
              <a:t>Examples of confidential information</a:t>
            </a:r>
            <a:r>
              <a:rPr lang="en-US" sz="2800" dirty="0" smtClean="0">
                <a:latin typeface="Arial" pitchFamily="34" charset="0"/>
                <a:cs typeface="Arial" pitchFamily="34" charset="0"/>
              </a:rPr>
              <a:t/>
            </a:r>
            <a:br>
              <a:rPr lang="en-US" sz="2800" dirty="0" smtClean="0">
                <a:latin typeface="Arial" pitchFamily="34" charset="0"/>
                <a:cs typeface="Arial" pitchFamily="34" charset="0"/>
              </a:rPr>
            </a:br>
            <a:r>
              <a:rPr lang="en-US" sz="2800" dirty="0" smtClean="0">
                <a:latin typeface="Arial" pitchFamily="34" charset="0"/>
                <a:cs typeface="Arial" pitchFamily="34" charset="0"/>
              </a:rPr>
              <a:t>- personal information e.g. password of your email account</a:t>
            </a:r>
            <a:br>
              <a:rPr lang="en-US" sz="2800" dirty="0" smtClean="0">
                <a:latin typeface="Arial" pitchFamily="34" charset="0"/>
                <a:cs typeface="Arial" pitchFamily="34" charset="0"/>
              </a:rPr>
            </a:br>
            <a:r>
              <a:rPr lang="en-US" sz="2800" dirty="0" smtClean="0">
                <a:latin typeface="Arial" pitchFamily="34" charset="0"/>
                <a:cs typeface="Arial" pitchFamily="34" charset="0"/>
              </a:rPr>
              <a:t>- trade secrets</a:t>
            </a:r>
            <a:br>
              <a:rPr lang="en-US" sz="2800" dirty="0" smtClean="0">
                <a:latin typeface="Arial" pitchFamily="34" charset="0"/>
                <a:cs typeface="Arial" pitchFamily="34" charset="0"/>
              </a:rPr>
            </a:br>
            <a:r>
              <a:rPr lang="en-US" sz="2800" dirty="0" smtClean="0">
                <a:latin typeface="Arial" pitchFamily="34" charset="0"/>
                <a:cs typeface="Arial" pitchFamily="34" charset="0"/>
              </a:rPr>
              <a:t>- sensitive government information</a:t>
            </a:r>
            <a:br>
              <a:rPr lang="en-US" sz="2800" dirty="0" smtClean="0">
                <a:latin typeface="Arial" pitchFamily="34" charset="0"/>
                <a:cs typeface="Arial" pitchFamily="34" charset="0"/>
              </a:rPr>
            </a:br>
            <a:r>
              <a:rPr lang="en-US" sz="2800" dirty="0" smtClean="0">
                <a:latin typeface="Arial" pitchFamily="34" charset="0"/>
                <a:cs typeface="Arial" pitchFamily="34" charset="0"/>
              </a:rPr>
              <a:t>- any or all of which a computer scientist handles in his/her </a:t>
            </a:r>
            <a:br>
              <a:rPr lang="en-US" sz="2800" dirty="0" smtClean="0">
                <a:latin typeface="Arial" pitchFamily="34" charset="0"/>
                <a:cs typeface="Arial" pitchFamily="34" charset="0"/>
              </a:rPr>
            </a:br>
            <a:r>
              <a:rPr lang="en-US" sz="2800" dirty="0" smtClean="0">
                <a:latin typeface="Arial" pitchFamily="34" charset="0"/>
                <a:cs typeface="Arial" pitchFamily="34" charset="0"/>
              </a:rPr>
              <a:t>  work e.g. algorithms, computer programs etc.</a:t>
            </a:r>
            <a:br>
              <a:rPr lang="en-US" sz="2800" dirty="0" smtClean="0">
                <a:latin typeface="Arial" pitchFamily="34" charset="0"/>
                <a:cs typeface="Arial" pitchFamily="34" charset="0"/>
              </a:rPr>
            </a:br>
            <a:r>
              <a:rPr lang="en-US" sz="2800" dirty="0" smtClean="0">
                <a:latin typeface="Arial" pitchFamily="34" charset="0"/>
                <a:cs typeface="Arial" pitchFamily="34" charset="0"/>
              </a:rPr>
              <a:t>- all or any information to protect against unauthorized use or access</a:t>
            </a:r>
          </a:p>
          <a:p>
            <a:pPr>
              <a:buFont typeface="Wingdings" pitchFamily="2" charset="2"/>
              <a:buChar char="q"/>
              <a:defRPr/>
            </a:pPr>
            <a:r>
              <a:rPr lang="en-US" sz="2800" u="sng" dirty="0" smtClean="0">
                <a:latin typeface="Arial" pitchFamily="34" charset="0"/>
                <a:cs typeface="Arial" pitchFamily="34" charset="0"/>
              </a:rPr>
              <a:t>Non-confidential information</a:t>
            </a:r>
            <a:r>
              <a:rPr lang="en-US" sz="2800" dirty="0" smtClean="0">
                <a:latin typeface="Arial" pitchFamily="34" charset="0"/>
                <a:cs typeface="Arial" pitchFamily="34" charset="0"/>
              </a:rPr>
              <a:t> can be used by anybody</a:t>
            </a:r>
            <a:br>
              <a:rPr lang="en-US" sz="2800" dirty="0" smtClean="0">
                <a:latin typeface="Arial" pitchFamily="34" charset="0"/>
                <a:cs typeface="Arial" pitchFamily="34" charset="0"/>
              </a:rPr>
            </a:br>
            <a:r>
              <a:rPr lang="en-US" sz="2800" dirty="0" smtClean="0">
                <a:latin typeface="Arial" pitchFamily="34" charset="0"/>
                <a:cs typeface="Arial" pitchFamily="34" charset="0"/>
              </a:rPr>
              <a:t/>
            </a:r>
            <a:br>
              <a:rPr lang="en-US" sz="2800" dirty="0" smtClean="0">
                <a:latin typeface="Arial" pitchFamily="34" charset="0"/>
                <a:cs typeface="Arial" pitchFamily="34" charset="0"/>
              </a:rPr>
            </a:br>
            <a:r>
              <a:rPr lang="en-US" sz="2800" dirty="0" smtClean="0">
                <a:latin typeface="Arial" pitchFamily="34" charset="0"/>
                <a:cs typeface="Arial" pitchFamily="34" charset="0"/>
              </a:rPr>
              <a:t/>
            </a:r>
            <a:br>
              <a:rPr lang="en-US" sz="2800" dirty="0" smtClean="0">
                <a:latin typeface="Arial" pitchFamily="34" charset="0"/>
                <a:cs typeface="Arial" pitchFamily="34" charset="0"/>
              </a:rPr>
            </a:br>
            <a:r>
              <a:rPr lang="en-US" sz="2800" dirty="0" smtClean="0">
                <a:latin typeface="Arial" pitchFamily="34" charset="0"/>
                <a:cs typeface="Arial" pitchFamily="34" charset="0"/>
              </a:rPr>
              <a:t/>
            </a:r>
            <a:br>
              <a:rPr lang="en-US" sz="2800" dirty="0" smtClean="0">
                <a:latin typeface="Arial" pitchFamily="34" charset="0"/>
                <a:cs typeface="Arial" pitchFamily="34" charset="0"/>
              </a:rPr>
            </a:br>
            <a:endParaRPr lang="en-US" sz="2800" dirty="0">
              <a:latin typeface="Arial" pitchFamily="34" charset="0"/>
              <a:cs typeface="Arial"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bwMode="auto">
          <a:noFill/>
          <a:ln>
            <a:miter lim="800000"/>
            <a:headEnd/>
            <a:tailEnd/>
          </a:ln>
        </p:spPr>
        <p:txBody>
          <a:bodyPr vert="horz" wrap="square" lIns="91440" tIns="45720" rIns="91440" bIns="45720" numCol="1" anchor="t" anchorCtr="0" compatLnSpc="1">
            <a:prstTxWarp prst="textNoShape">
              <a:avLst/>
            </a:prstTxWarp>
            <a:normAutofit/>
          </a:bodyPr>
          <a:lstStyle/>
          <a:p>
            <a:r>
              <a:rPr lang="en-US" altLang="en-US" sz="4000" b="1" dirty="0" smtClean="0">
                <a:solidFill>
                  <a:srgbClr val="C00000"/>
                </a:solidFill>
                <a:latin typeface="Arial" pitchFamily="34" charset="0"/>
                <a:cs typeface="Arial" pitchFamily="34" charset="0"/>
              </a:rPr>
              <a:t>Plagiarism</a:t>
            </a:r>
          </a:p>
        </p:txBody>
      </p:sp>
      <p:sp>
        <p:nvSpPr>
          <p:cNvPr id="3" name="Content Placeholder 2"/>
          <p:cNvSpPr>
            <a:spLocks noGrp="1"/>
          </p:cNvSpPr>
          <p:nvPr>
            <p:ph idx="1"/>
          </p:nvPr>
        </p:nvSpPr>
        <p:spPr>
          <a:xfrm>
            <a:off x="304800" y="1600200"/>
            <a:ext cx="11277599" cy="4648200"/>
          </a:xfrm>
        </p:spPr>
        <p:txBody>
          <a:bodyPr/>
          <a:lstStyle/>
          <a:p>
            <a:pPr algn="just">
              <a:buFont typeface="Wingdings" pitchFamily="2" charset="2"/>
              <a:buChar char="q"/>
              <a:defRPr/>
            </a:pPr>
            <a:r>
              <a:rPr lang="en-US" sz="2800" dirty="0" smtClean="0">
                <a:latin typeface="Arial" pitchFamily="34" charset="0"/>
                <a:cs typeface="Arial" pitchFamily="34" charset="0"/>
              </a:rPr>
              <a:t>If you take someone else's work or ideas and passing them to others showing that it is your own work, it is called </a:t>
            </a:r>
            <a:r>
              <a:rPr lang="en-US" sz="2800" u="sng" dirty="0" smtClean="0">
                <a:latin typeface="Arial" pitchFamily="34" charset="0"/>
                <a:cs typeface="Arial" pitchFamily="34" charset="0"/>
              </a:rPr>
              <a:t>plagiarism</a:t>
            </a:r>
            <a:r>
              <a:rPr lang="en-US" sz="2800" dirty="0" smtClean="0">
                <a:latin typeface="Arial" pitchFamily="34" charset="0"/>
                <a:cs typeface="Arial" pitchFamily="34" charset="0"/>
              </a:rPr>
              <a:t>.</a:t>
            </a:r>
          </a:p>
          <a:p>
            <a:pPr algn="just">
              <a:buFont typeface="Wingdings" pitchFamily="2" charset="2"/>
              <a:buChar char="q"/>
              <a:defRPr/>
            </a:pPr>
            <a:r>
              <a:rPr lang="en-US" sz="2800" dirty="0" smtClean="0">
                <a:latin typeface="Arial" pitchFamily="34" charset="0"/>
                <a:cs typeface="Arial" pitchFamily="34" charset="0"/>
              </a:rPr>
              <a:t>All of the following are considered plagiarism:- </a:t>
            </a:r>
          </a:p>
          <a:p>
            <a:pPr lvl="1" algn="just">
              <a:buFont typeface="Wingdings" pitchFamily="2" charset="2"/>
              <a:buChar char="q"/>
              <a:defRPr/>
            </a:pPr>
            <a:r>
              <a:rPr lang="en-US" sz="2800" dirty="0" smtClean="0">
                <a:solidFill>
                  <a:schemeClr val="tx1"/>
                </a:solidFill>
                <a:latin typeface="Arial" pitchFamily="34" charset="0"/>
                <a:cs typeface="Arial" pitchFamily="34" charset="0"/>
              </a:rPr>
              <a:t>Claiming someone else's work as your own.</a:t>
            </a:r>
          </a:p>
          <a:p>
            <a:pPr lvl="1" algn="just">
              <a:buFont typeface="Wingdings" pitchFamily="2" charset="2"/>
              <a:buChar char="q"/>
              <a:defRPr/>
            </a:pPr>
            <a:r>
              <a:rPr lang="en-US" sz="2800" dirty="0" smtClean="0">
                <a:solidFill>
                  <a:schemeClr val="tx1"/>
                </a:solidFill>
                <a:latin typeface="Arial" pitchFamily="34" charset="0"/>
                <a:cs typeface="Arial" pitchFamily="34" charset="0"/>
              </a:rPr>
              <a:t>Copying words or ideas from someone else without giving credit</a:t>
            </a:r>
            <a:br>
              <a:rPr lang="en-US" sz="2800" dirty="0" smtClean="0">
                <a:solidFill>
                  <a:schemeClr val="tx1"/>
                </a:solidFill>
                <a:latin typeface="Arial" pitchFamily="34" charset="0"/>
                <a:cs typeface="Arial" pitchFamily="34" charset="0"/>
              </a:rPr>
            </a:br>
            <a:r>
              <a:rPr lang="en-US" sz="2800" dirty="0" smtClean="0">
                <a:solidFill>
                  <a:schemeClr val="tx1"/>
                </a:solidFill>
                <a:latin typeface="Arial" pitchFamily="34" charset="0"/>
                <a:cs typeface="Arial" pitchFamily="34" charset="0"/>
              </a:rPr>
              <a:t> or </a:t>
            </a:r>
            <a:r>
              <a:rPr lang="en-US" sz="2800" dirty="0" err="1" smtClean="0">
                <a:solidFill>
                  <a:schemeClr val="tx1"/>
                </a:solidFill>
                <a:latin typeface="Arial" pitchFamily="34" charset="0"/>
                <a:cs typeface="Arial" pitchFamily="34" charset="0"/>
              </a:rPr>
              <a:t>referrence</a:t>
            </a:r>
            <a:r>
              <a:rPr lang="en-US" sz="2800" dirty="0" smtClean="0">
                <a:solidFill>
                  <a:schemeClr val="tx1"/>
                </a:solidFill>
                <a:latin typeface="Arial" pitchFamily="34" charset="0"/>
                <a:cs typeface="Arial" pitchFamily="34" charset="0"/>
              </a:rPr>
              <a:t>.</a:t>
            </a:r>
          </a:p>
          <a:p>
            <a:pPr lvl="1" algn="just">
              <a:buFont typeface="Wingdings" pitchFamily="2" charset="2"/>
              <a:buChar char="q"/>
              <a:defRPr/>
            </a:pPr>
            <a:r>
              <a:rPr lang="en-US" sz="2800" dirty="0" smtClean="0">
                <a:solidFill>
                  <a:schemeClr val="tx1"/>
                </a:solidFill>
                <a:latin typeface="Arial" pitchFamily="34" charset="0"/>
                <a:cs typeface="Arial" pitchFamily="34" charset="0"/>
              </a:rPr>
              <a:t>With out citation use some one’s work.</a:t>
            </a:r>
          </a:p>
          <a:p>
            <a:pPr marL="457200" lvl="1" indent="0">
              <a:buFont typeface="Wingdings" panose="05000000000000000000" pitchFamily="2" charset="2"/>
              <a:buNone/>
              <a:defRPr/>
            </a:pPr>
            <a:endParaRPr lang="en-US" dirty="0" smtClean="0"/>
          </a:p>
          <a:p>
            <a:pPr>
              <a:defRPr/>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bwMode="auto">
          <a:xfrm>
            <a:off x="594360" y="274639"/>
            <a:ext cx="10698480" cy="561975"/>
          </a:xfrm>
          <a:noFill/>
          <a:ln>
            <a:miter lim="800000"/>
            <a:headEnd/>
            <a:tailEnd/>
          </a:ln>
        </p:spPr>
        <p:txBody>
          <a:bodyPr vert="horz" wrap="square" lIns="91440" tIns="45720" rIns="91440" bIns="45720" numCol="1" anchor="t" anchorCtr="0" compatLnSpc="1">
            <a:prstTxWarp prst="textNoShape">
              <a:avLst/>
            </a:prstTxWarp>
            <a:noAutofit/>
          </a:bodyPr>
          <a:lstStyle/>
          <a:p>
            <a:r>
              <a:rPr lang="en-US" altLang="en-US" sz="4000" b="1" dirty="0" smtClean="0">
                <a:solidFill>
                  <a:srgbClr val="C00000"/>
                </a:solidFill>
                <a:latin typeface="Arial" pitchFamily="34" charset="0"/>
                <a:cs typeface="Arial" pitchFamily="34" charset="0"/>
              </a:rPr>
              <a:t>Cybercrime</a:t>
            </a:r>
          </a:p>
        </p:txBody>
      </p:sp>
      <p:sp>
        <p:nvSpPr>
          <p:cNvPr id="3" name="Content Placeholder 2"/>
          <p:cNvSpPr>
            <a:spLocks noGrp="1"/>
          </p:cNvSpPr>
          <p:nvPr>
            <p:ph idx="1"/>
          </p:nvPr>
        </p:nvSpPr>
        <p:spPr>
          <a:xfrm>
            <a:off x="304800" y="1447800"/>
            <a:ext cx="11277600" cy="5105400"/>
          </a:xfrm>
        </p:spPr>
        <p:txBody>
          <a:bodyPr>
            <a:normAutofit/>
          </a:bodyPr>
          <a:lstStyle/>
          <a:p>
            <a:pPr algn="just">
              <a:buFont typeface="Wingdings" pitchFamily="2" charset="2"/>
              <a:buChar char="q"/>
              <a:defRPr/>
            </a:pPr>
            <a:r>
              <a:rPr lang="en-US" dirty="0" smtClean="0">
                <a:latin typeface="Arial" pitchFamily="34" charset="0"/>
                <a:cs typeface="Arial" pitchFamily="34" charset="0"/>
              </a:rPr>
              <a:t>It is </a:t>
            </a:r>
            <a:r>
              <a:rPr lang="en-US" dirty="0">
                <a:latin typeface="Arial" pitchFamily="34" charset="0"/>
                <a:cs typeface="Arial" pitchFamily="34" charset="0"/>
              </a:rPr>
              <a:t>a crime involving a computer or computer </a:t>
            </a:r>
            <a:r>
              <a:rPr lang="en-US" dirty="0" smtClean="0">
                <a:latin typeface="Arial" pitchFamily="34" charset="0"/>
                <a:cs typeface="Arial" pitchFamily="34" charset="0"/>
              </a:rPr>
              <a:t>network.</a:t>
            </a:r>
          </a:p>
          <a:p>
            <a:pPr algn="just">
              <a:buFont typeface="Wingdings" pitchFamily="2" charset="2"/>
              <a:buChar char="q"/>
              <a:defRPr/>
            </a:pPr>
            <a:r>
              <a:rPr lang="en-US" dirty="0" smtClean="0">
                <a:latin typeface="Arial" pitchFamily="34" charset="0"/>
                <a:cs typeface="Arial" pitchFamily="34" charset="0"/>
              </a:rPr>
              <a:t>The </a:t>
            </a:r>
            <a:r>
              <a:rPr lang="en-US" dirty="0">
                <a:latin typeface="Arial" pitchFamily="34" charset="0"/>
                <a:cs typeface="Arial" pitchFamily="34" charset="0"/>
              </a:rPr>
              <a:t>computer may have been used in committing the crime, or it may be the </a:t>
            </a:r>
            <a:r>
              <a:rPr lang="en-US" dirty="0" smtClean="0">
                <a:latin typeface="Arial" pitchFamily="34" charset="0"/>
                <a:cs typeface="Arial" pitchFamily="34" charset="0"/>
              </a:rPr>
              <a:t>target, cybercrime </a:t>
            </a:r>
            <a:r>
              <a:rPr lang="en-US" dirty="0">
                <a:latin typeface="Arial" pitchFamily="34" charset="0"/>
                <a:cs typeface="Arial" pitchFamily="34" charset="0"/>
              </a:rPr>
              <a:t>may harm </a:t>
            </a:r>
            <a:r>
              <a:rPr lang="en-US" dirty="0" smtClean="0">
                <a:latin typeface="Arial" pitchFamily="34" charset="0"/>
                <a:cs typeface="Arial" pitchFamily="34" charset="0"/>
              </a:rPr>
              <a:t>computer hardware, software, data or finances. Types includes :-</a:t>
            </a:r>
          </a:p>
          <a:p>
            <a:pPr>
              <a:defRPr/>
            </a:pPr>
            <a:r>
              <a:rPr lang="en-US" sz="2400" dirty="0" smtClean="0">
                <a:latin typeface="Arial" pitchFamily="34" charset="0"/>
                <a:cs typeface="Arial" pitchFamily="34" charset="0"/>
              </a:rPr>
              <a:t>Fraud.</a:t>
            </a:r>
          </a:p>
          <a:p>
            <a:pPr>
              <a:defRPr/>
            </a:pPr>
            <a:r>
              <a:rPr lang="en-US" sz="2400" dirty="0" smtClean="0">
                <a:latin typeface="Arial" pitchFamily="34" charset="0"/>
                <a:cs typeface="Arial" pitchFamily="34" charset="0"/>
              </a:rPr>
              <a:t>Embezzlement.</a:t>
            </a:r>
          </a:p>
          <a:p>
            <a:pPr>
              <a:defRPr/>
            </a:pPr>
            <a:r>
              <a:rPr lang="en-US" sz="2400" dirty="0" smtClean="0">
                <a:latin typeface="Arial" pitchFamily="34" charset="0"/>
                <a:cs typeface="Arial" pitchFamily="34" charset="0"/>
              </a:rPr>
              <a:t>Software/Information Sabotage.</a:t>
            </a:r>
          </a:p>
          <a:p>
            <a:pPr>
              <a:defRPr/>
            </a:pPr>
            <a:r>
              <a:rPr lang="en-US" sz="2400" dirty="0" smtClean="0">
                <a:latin typeface="Arial" pitchFamily="34" charset="0"/>
                <a:cs typeface="Arial" pitchFamily="34" charset="0"/>
              </a:rPr>
              <a:t>Information (Data) Theft.</a:t>
            </a:r>
          </a:p>
          <a:p>
            <a:pPr>
              <a:defRPr/>
            </a:pPr>
            <a:r>
              <a:rPr lang="en-US" sz="2400" dirty="0" smtClean="0">
                <a:latin typeface="Arial" pitchFamily="34" charset="0"/>
                <a:cs typeface="Arial" pitchFamily="34" charset="0"/>
              </a:rPr>
              <a:t>Hacking and Cracking.</a:t>
            </a:r>
          </a:p>
          <a:p>
            <a:pPr>
              <a:defRPr/>
            </a:pPr>
            <a:r>
              <a:rPr lang="en-US" sz="2400" dirty="0" smtClean="0">
                <a:latin typeface="Arial" pitchFamily="34" charset="0"/>
                <a:cs typeface="Arial" pitchFamily="34" charset="0"/>
              </a:rPr>
              <a:t>Digital Forgery.</a:t>
            </a:r>
          </a:p>
          <a:p>
            <a:pPr algn="just">
              <a:buFont typeface="Wingdings" pitchFamily="2" charset="2"/>
              <a:buChar char="q"/>
              <a:defRPr/>
            </a:pPr>
            <a:endParaRPr lang="en-US" dirty="0">
              <a:latin typeface="Arial" pitchFamily="34" charset="0"/>
              <a:cs typeface="Arial"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bwMode="auto">
          <a:xfrm>
            <a:off x="594360" y="274639"/>
            <a:ext cx="10698480" cy="777875"/>
          </a:xfrm>
          <a:noFill/>
          <a:ln>
            <a:miter lim="800000"/>
            <a:headEnd/>
            <a:tailEnd/>
          </a:ln>
        </p:spPr>
        <p:txBody>
          <a:bodyPr vert="horz" wrap="square" lIns="91440" tIns="45720" rIns="91440" bIns="45720" numCol="1" anchor="t" anchorCtr="0" compatLnSpc="1">
            <a:prstTxWarp prst="textNoShape">
              <a:avLst/>
            </a:prstTxWarp>
            <a:normAutofit/>
          </a:bodyPr>
          <a:lstStyle/>
          <a:p>
            <a:r>
              <a:rPr lang="en-US" altLang="en-US" sz="4000" b="1" dirty="0" smtClean="0">
                <a:solidFill>
                  <a:srgbClr val="C00000"/>
                </a:solidFill>
                <a:latin typeface="Arial" pitchFamily="34" charset="0"/>
                <a:cs typeface="Arial" pitchFamily="34" charset="0"/>
              </a:rPr>
              <a:t>Cyber law</a:t>
            </a:r>
          </a:p>
        </p:txBody>
      </p:sp>
      <p:sp>
        <p:nvSpPr>
          <p:cNvPr id="3" name="Content Placeholder 2"/>
          <p:cNvSpPr>
            <a:spLocks noGrp="1"/>
          </p:cNvSpPr>
          <p:nvPr>
            <p:ph idx="1"/>
          </p:nvPr>
        </p:nvSpPr>
        <p:spPr>
          <a:xfrm>
            <a:off x="228600" y="1524000"/>
            <a:ext cx="11430000" cy="4953000"/>
          </a:xfrm>
        </p:spPr>
        <p:txBody>
          <a:bodyPr>
            <a:normAutofit/>
          </a:bodyPr>
          <a:lstStyle/>
          <a:p>
            <a:pPr algn="just">
              <a:buFont typeface="Wingdings" pitchFamily="2" charset="2"/>
              <a:buChar char="q"/>
              <a:defRPr/>
            </a:pPr>
            <a:r>
              <a:rPr lang="en-US" sz="2800" dirty="0" smtClean="0">
                <a:latin typeface="Arial" pitchFamily="34" charset="0"/>
                <a:cs typeface="Arial" pitchFamily="34" charset="0"/>
              </a:rPr>
              <a:t>It is the </a:t>
            </a:r>
            <a:r>
              <a:rPr lang="en-US" sz="2800" dirty="0">
                <a:latin typeface="Arial" pitchFamily="34" charset="0"/>
                <a:cs typeface="Arial" pitchFamily="34" charset="0"/>
              </a:rPr>
              <a:t>area of law that deals with </a:t>
            </a:r>
            <a:r>
              <a:rPr lang="en-US" sz="2800" dirty="0" smtClean="0">
                <a:latin typeface="Arial" pitchFamily="34" charset="0"/>
                <a:cs typeface="Arial" pitchFamily="34" charset="0"/>
              </a:rPr>
              <a:t>all types of cyber crimes, which are through the Internet.</a:t>
            </a:r>
          </a:p>
          <a:p>
            <a:pPr algn="just">
              <a:buNone/>
              <a:defRPr/>
            </a:pPr>
            <a:endParaRPr lang="en-US" sz="2800" dirty="0" smtClean="0">
              <a:latin typeface="Arial" pitchFamily="34" charset="0"/>
              <a:cs typeface="Arial" pitchFamily="34" charset="0"/>
            </a:endParaRPr>
          </a:p>
          <a:p>
            <a:pPr algn="just">
              <a:buFont typeface="Wingdings" pitchFamily="2" charset="2"/>
              <a:buChar char="q"/>
              <a:defRPr/>
            </a:pPr>
            <a:r>
              <a:rPr lang="en-US" sz="2800" dirty="0" smtClean="0">
                <a:latin typeface="Arial" pitchFamily="34" charset="0"/>
                <a:cs typeface="Arial" pitchFamily="34" charset="0"/>
              </a:rPr>
              <a:t>Cyber law is used to prevent </a:t>
            </a:r>
            <a:r>
              <a:rPr lang="en-US" sz="2800" dirty="0">
                <a:latin typeface="Arial" pitchFamily="34" charset="0"/>
                <a:cs typeface="Arial" pitchFamily="34" charset="0"/>
              </a:rPr>
              <a:t>or reduce </a:t>
            </a:r>
            <a:r>
              <a:rPr lang="en-US" sz="2800" dirty="0" smtClean="0">
                <a:latin typeface="Arial" pitchFamily="34" charset="0"/>
                <a:cs typeface="Arial" pitchFamily="34" charset="0"/>
              </a:rPr>
              <a:t>all types of cyber crimes including unauthorized information access to computers and cell phones, </a:t>
            </a:r>
            <a:r>
              <a:rPr lang="en-US" sz="2800" dirty="0">
                <a:latin typeface="Arial" pitchFamily="34" charset="0"/>
                <a:cs typeface="Arial" pitchFamily="34" charset="0"/>
              </a:rPr>
              <a:t>privacy, </a:t>
            </a:r>
            <a:r>
              <a:rPr lang="en-US" sz="2800" dirty="0" smtClean="0">
                <a:latin typeface="Arial" pitchFamily="34" charset="0"/>
                <a:cs typeface="Arial" pitchFamily="34" charset="0"/>
              </a:rPr>
              <a:t>communications (including emails), </a:t>
            </a:r>
            <a:r>
              <a:rPr lang="en-US" sz="2800" dirty="0">
                <a:latin typeface="Arial" pitchFamily="34" charset="0"/>
                <a:cs typeface="Arial" pitchFamily="34" charset="0"/>
              </a:rPr>
              <a:t>intellectual </a:t>
            </a:r>
            <a:r>
              <a:rPr lang="en-US" sz="2800" dirty="0" smtClean="0">
                <a:latin typeface="Arial" pitchFamily="34" charset="0"/>
                <a:cs typeface="Arial" pitchFamily="34" charset="0"/>
              </a:rPr>
              <a:t>property, websites</a:t>
            </a:r>
            <a:r>
              <a:rPr lang="en-US" sz="2800" dirty="0">
                <a:latin typeface="Arial" pitchFamily="34" charset="0"/>
                <a:cs typeface="Arial" pitchFamily="34" charset="0"/>
              </a:rPr>
              <a:t>, </a:t>
            </a:r>
            <a:r>
              <a:rPr lang="en-US" sz="2800" dirty="0" smtClean="0">
                <a:latin typeface="Arial" pitchFamily="34" charset="0"/>
                <a:cs typeface="Arial" pitchFamily="34" charset="0"/>
              </a:rPr>
              <a:t>software, hardware</a:t>
            </a:r>
            <a:r>
              <a:rPr lang="en-US" sz="2800" dirty="0">
                <a:latin typeface="Arial" pitchFamily="34" charset="0"/>
                <a:cs typeface="Arial" pitchFamily="34" charset="0"/>
              </a:rPr>
              <a:t>, </a:t>
            </a:r>
            <a:r>
              <a:rPr lang="en-US" sz="2800" dirty="0" smtClean="0">
                <a:latin typeface="Arial" pitchFamily="34" charset="0"/>
                <a:cs typeface="Arial" pitchFamily="34" charset="0"/>
              </a:rPr>
              <a:t> data, databases and storage </a:t>
            </a:r>
            <a:r>
              <a:rPr lang="en-US" sz="2800" dirty="0">
                <a:latin typeface="Arial" pitchFamily="34" charset="0"/>
                <a:cs typeface="Arial" pitchFamily="34" charset="0"/>
              </a:rPr>
              <a:t>devices</a:t>
            </a:r>
            <a:r>
              <a:rPr lang="en-US" sz="2800" dirty="0" smtClean="0">
                <a:latin typeface="Arial" pitchFamily="34" charset="0"/>
                <a:cs typeface="Arial" pitchFamily="34" charset="0"/>
              </a:rPr>
              <a:t>.</a:t>
            </a:r>
          </a:p>
          <a:p>
            <a:pPr algn="just">
              <a:buFont typeface="Wingdings" pitchFamily="2" charset="2"/>
              <a:buChar char="q"/>
              <a:defRPr/>
            </a:pPr>
            <a:r>
              <a:rPr lang="en-US" sz="2800" dirty="0" smtClean="0">
                <a:latin typeface="Arial" pitchFamily="34" charset="0"/>
                <a:cs typeface="Arial" pitchFamily="34" charset="0"/>
              </a:rPr>
              <a:t>The cyber laws vary worldwide from country to country.</a:t>
            </a:r>
          </a:p>
          <a:p>
            <a:pPr algn="just">
              <a:buFont typeface="Wingdings" pitchFamily="2" charset="2"/>
              <a:buChar char="q"/>
              <a:defRPr/>
            </a:pPr>
            <a:r>
              <a:rPr lang="en-US" sz="2800" dirty="0" smtClean="0">
                <a:latin typeface="Arial" pitchFamily="34" charset="0"/>
                <a:cs typeface="Arial" pitchFamily="34" charset="0"/>
              </a:rPr>
              <a:t>The punishments include fines and imprisonment.</a:t>
            </a:r>
          </a:p>
          <a:p>
            <a:pPr>
              <a:buFont typeface="Wingdings" pitchFamily="2" charset="2"/>
              <a:buChar char="q"/>
              <a:defRPr/>
            </a:pPr>
            <a:endParaRPr lang="en-US" sz="2800" dirty="0">
              <a:latin typeface="Arial" pitchFamily="34" charset="0"/>
              <a:cs typeface="Arial"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xfrm>
            <a:off x="594360" y="274639"/>
            <a:ext cx="10698480" cy="792161"/>
          </a:xfrm>
          <a:noFill/>
          <a:ln>
            <a:miter lim="800000"/>
            <a:headEnd/>
            <a:tailEnd/>
          </a:ln>
        </p:spPr>
        <p:txBody>
          <a:bodyPr vert="horz" wrap="square" lIns="91440" tIns="45720" rIns="91440" bIns="45720" numCol="1" anchor="t" anchorCtr="0" compatLnSpc="1">
            <a:prstTxWarp prst="textNoShape">
              <a:avLst/>
            </a:prstTxWarp>
            <a:noAutofit/>
          </a:bodyPr>
          <a:lstStyle/>
          <a:p>
            <a:r>
              <a:rPr lang="en-US" altLang="en-US" sz="4000" b="1" dirty="0" smtClean="0">
                <a:solidFill>
                  <a:srgbClr val="C00000"/>
                </a:solidFill>
                <a:latin typeface="Arial" pitchFamily="34" charset="0"/>
                <a:cs typeface="Arial" pitchFamily="34" charset="0"/>
              </a:rPr>
              <a:t>Cyber law in Pakistan</a:t>
            </a:r>
          </a:p>
        </p:txBody>
      </p:sp>
      <p:sp>
        <p:nvSpPr>
          <p:cNvPr id="3" name="Content Placeholder 2"/>
          <p:cNvSpPr>
            <a:spLocks noGrp="1"/>
          </p:cNvSpPr>
          <p:nvPr>
            <p:ph idx="1"/>
          </p:nvPr>
        </p:nvSpPr>
        <p:spPr>
          <a:xfrm>
            <a:off x="304800" y="1524000"/>
            <a:ext cx="11277600" cy="4800600"/>
          </a:xfrm>
        </p:spPr>
        <p:txBody>
          <a:bodyPr>
            <a:normAutofit/>
          </a:bodyPr>
          <a:lstStyle/>
          <a:p>
            <a:pPr algn="just">
              <a:buFont typeface="Wingdings" pitchFamily="2" charset="2"/>
              <a:buChar char="q"/>
              <a:defRPr/>
            </a:pPr>
            <a:endParaRPr lang="en-US" sz="2800" dirty="0" smtClean="0">
              <a:latin typeface="Arial" pitchFamily="34" charset="0"/>
              <a:cs typeface="Arial" pitchFamily="34" charset="0"/>
            </a:endParaRPr>
          </a:p>
          <a:p>
            <a:pPr algn="just">
              <a:buFont typeface="Wingdings" pitchFamily="2" charset="2"/>
              <a:buChar char="q"/>
              <a:defRPr/>
            </a:pPr>
            <a:r>
              <a:rPr lang="en-US" sz="2800" dirty="0" smtClean="0">
                <a:latin typeface="Arial" pitchFamily="34" charset="0"/>
                <a:cs typeface="Arial" pitchFamily="34" charset="0"/>
              </a:rPr>
              <a:t>The </a:t>
            </a:r>
            <a:r>
              <a:rPr lang="en-US" sz="2800" dirty="0">
                <a:latin typeface="Arial" pitchFamily="34" charset="0"/>
                <a:cs typeface="Arial" pitchFamily="34" charset="0"/>
              </a:rPr>
              <a:t>Government of Pakistan has established the “National Response Centre for Cybercrime,” (NR3C) under the administrative control of Federal Investigation Agency (FIA), to investigate the cybercrimes, trace the criminals and use their efforts to stop misuse of the internet</a:t>
            </a:r>
            <a:r>
              <a:rPr lang="en-US" sz="2800" dirty="0" smtClean="0">
                <a:latin typeface="Arial" pitchFamily="34" charset="0"/>
                <a:cs typeface="Arial" pitchFamily="34"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bwMode="auto">
          <a:noFill/>
          <a:ln>
            <a:miter lim="800000"/>
            <a:headEnd/>
            <a:tailEnd/>
          </a:ln>
        </p:spPr>
        <p:txBody>
          <a:bodyPr vert="horz" wrap="square" lIns="91440" tIns="45720" rIns="91440" bIns="45720" numCol="1" anchor="t" anchorCtr="0" compatLnSpc="1">
            <a:prstTxWarp prst="textNoShape">
              <a:avLst/>
            </a:prstTxWarp>
            <a:normAutofit/>
          </a:bodyPr>
          <a:lstStyle/>
          <a:p>
            <a:r>
              <a:rPr lang="en-US" altLang="en-US" sz="4000" b="1" dirty="0" smtClean="0">
                <a:solidFill>
                  <a:srgbClr val="C00000"/>
                </a:solidFill>
                <a:latin typeface="Arial" pitchFamily="34" charset="0"/>
                <a:cs typeface="Arial" pitchFamily="34" charset="0"/>
              </a:rPr>
              <a:t>Link of NR3C</a:t>
            </a:r>
          </a:p>
        </p:txBody>
      </p:sp>
      <p:sp>
        <p:nvSpPr>
          <p:cNvPr id="3" name="Content Placeholder 2"/>
          <p:cNvSpPr>
            <a:spLocks noGrp="1"/>
          </p:cNvSpPr>
          <p:nvPr>
            <p:ph idx="1"/>
          </p:nvPr>
        </p:nvSpPr>
        <p:spPr>
          <a:xfrm>
            <a:off x="594360" y="1905000"/>
            <a:ext cx="10698480" cy="4116388"/>
          </a:xfrm>
        </p:spPr>
        <p:txBody>
          <a:bodyPr/>
          <a:lstStyle/>
          <a:p>
            <a:pPr marL="0" indent="0">
              <a:buFont typeface="Wingdings" panose="05000000000000000000" pitchFamily="2" charset="2"/>
              <a:buNone/>
              <a:defRPr/>
            </a:pPr>
            <a:endParaRPr lang="en-US" altLang="en-US" dirty="0" smtClean="0">
              <a:hlinkClick r:id="rId2"/>
            </a:endParaRPr>
          </a:p>
          <a:p>
            <a:pPr marL="0" indent="0" algn="ctr">
              <a:buFont typeface="Wingdings" panose="05000000000000000000" pitchFamily="2" charset="2"/>
              <a:buNone/>
              <a:defRPr/>
            </a:pPr>
            <a:r>
              <a:rPr lang="en-US" sz="2800" dirty="0" smtClean="0">
                <a:latin typeface="Arial" pitchFamily="34" charset="0"/>
                <a:cs typeface="Arial" pitchFamily="34" charset="0"/>
              </a:rPr>
              <a:t>https://www.nr3c.gov.pk/about_us.html</a:t>
            </a:r>
            <a:endParaRPr lang="en-US" sz="2800" dirty="0">
              <a:latin typeface="Arial" pitchFamily="34" charset="0"/>
              <a:cs typeface="Arial"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bwMode="auto">
          <a:xfrm>
            <a:off x="594360" y="228600"/>
            <a:ext cx="10698480" cy="990600"/>
          </a:xfrm>
          <a:noFill/>
          <a:ln>
            <a:miter lim="800000"/>
            <a:headEnd/>
            <a:tailEnd/>
          </a:ln>
        </p:spPr>
        <p:txBody>
          <a:bodyPr vert="horz" wrap="square" lIns="91440" tIns="45720" rIns="91440" bIns="45720" numCol="1" anchor="t" anchorCtr="0" compatLnSpc="1">
            <a:prstTxWarp prst="textNoShape">
              <a:avLst/>
            </a:prstTxWarp>
            <a:noAutofit/>
          </a:bodyPr>
          <a:lstStyle/>
          <a:p>
            <a:r>
              <a:rPr lang="en-US" altLang="en-US" sz="4000" b="1" dirty="0" smtClean="0">
                <a:solidFill>
                  <a:srgbClr val="C00000"/>
                </a:solidFill>
                <a:latin typeface="Arial" pitchFamily="34" charset="0"/>
                <a:cs typeface="Arial" pitchFamily="34" charset="0"/>
              </a:rPr>
              <a:t>Punishment</a:t>
            </a:r>
            <a:br>
              <a:rPr lang="en-US" altLang="en-US" sz="4000" b="1" dirty="0" smtClean="0">
                <a:solidFill>
                  <a:srgbClr val="C00000"/>
                </a:solidFill>
                <a:latin typeface="Arial" pitchFamily="34" charset="0"/>
                <a:cs typeface="Arial" pitchFamily="34" charset="0"/>
              </a:rPr>
            </a:br>
            <a:endParaRPr lang="en-GB" sz="4000" b="1" dirty="0" smtClean="0">
              <a:solidFill>
                <a:srgbClr val="C00000"/>
              </a:solidFill>
              <a:latin typeface="Arial" pitchFamily="34" charset="0"/>
              <a:cs typeface="Arial" pitchFamily="34" charset="0"/>
            </a:endParaRPr>
          </a:p>
        </p:txBody>
      </p:sp>
      <p:sp>
        <p:nvSpPr>
          <p:cNvPr id="20483" name="Content Placeholder 2"/>
          <p:cNvSpPr>
            <a:spLocks noGrp="1"/>
          </p:cNvSpPr>
          <p:nvPr>
            <p:ph idx="1"/>
          </p:nvPr>
        </p:nvSpPr>
        <p:spPr bwMode="auto">
          <a:xfrm>
            <a:off x="304800" y="1752600"/>
            <a:ext cx="11277600" cy="4572000"/>
          </a:xfrm>
          <a:noFill/>
          <a:ln>
            <a:miter lim="800000"/>
            <a:headEnd/>
            <a:tailEnd/>
          </a:ln>
        </p:spPr>
        <p:txBody>
          <a:bodyPr vert="horz" wrap="square" lIns="91440" tIns="45720" rIns="91440" bIns="45720" numCol="1" anchor="t" anchorCtr="0" compatLnSpc="1">
            <a:prstTxWarp prst="textNoShape">
              <a:avLst/>
            </a:prstTxWarp>
          </a:bodyPr>
          <a:lstStyle/>
          <a:p>
            <a:pPr marL="0" indent="0" algn="just">
              <a:buFont typeface="Wingdings" pitchFamily="2" charset="2"/>
              <a:buChar char="q"/>
            </a:pPr>
            <a:r>
              <a:rPr lang="en-US" altLang="en-US" sz="2800" dirty="0" smtClean="0">
                <a:latin typeface="Arial" pitchFamily="34" charset="0"/>
                <a:cs typeface="Arial" pitchFamily="34" charset="0"/>
              </a:rPr>
              <a:t> </a:t>
            </a:r>
            <a:r>
              <a:rPr lang="en-US" altLang="en-US" sz="2800" dirty="0" smtClean="0">
                <a:solidFill>
                  <a:schemeClr val="tx1"/>
                </a:solidFill>
                <a:latin typeface="Arial" pitchFamily="34" charset="0"/>
                <a:cs typeface="Arial" pitchFamily="34" charset="0"/>
              </a:rPr>
              <a:t>Spreading false information about an individual: up to 3 years in </a:t>
            </a:r>
            <a:br>
              <a:rPr lang="en-US" altLang="en-US" sz="2800" dirty="0" smtClean="0">
                <a:solidFill>
                  <a:schemeClr val="tx1"/>
                </a:solidFill>
                <a:latin typeface="Arial" pitchFamily="34" charset="0"/>
                <a:cs typeface="Arial" pitchFamily="34" charset="0"/>
              </a:rPr>
            </a:br>
            <a:r>
              <a:rPr lang="en-US" altLang="en-US" sz="2800" dirty="0" smtClean="0">
                <a:solidFill>
                  <a:schemeClr val="tx1"/>
                </a:solidFill>
                <a:latin typeface="Arial" pitchFamily="34" charset="0"/>
                <a:cs typeface="Arial" pitchFamily="34" charset="0"/>
              </a:rPr>
              <a:t>    prison or up to PKR 1 million in fine, or both .</a:t>
            </a:r>
          </a:p>
          <a:p>
            <a:pPr marL="0" indent="0" algn="just">
              <a:buFont typeface="Wingdings" pitchFamily="2" charset="2"/>
              <a:buChar char="q"/>
            </a:pPr>
            <a:endParaRPr lang="en-US" altLang="en-US" sz="2800" dirty="0" smtClean="0">
              <a:solidFill>
                <a:schemeClr val="tx1"/>
              </a:solidFill>
              <a:latin typeface="Arial" pitchFamily="34" charset="0"/>
              <a:cs typeface="Arial" pitchFamily="34" charset="0"/>
            </a:endParaRPr>
          </a:p>
          <a:p>
            <a:pPr marL="0" indent="0" algn="just">
              <a:buFont typeface="Wingdings" pitchFamily="2" charset="2"/>
              <a:buChar char="q"/>
            </a:pPr>
            <a:r>
              <a:rPr lang="en-US" altLang="en-US" sz="2800" dirty="0" smtClean="0">
                <a:latin typeface="Arial" pitchFamily="34" charset="0"/>
                <a:cs typeface="Arial" pitchFamily="34" charset="0"/>
              </a:rPr>
              <a:t> I</a:t>
            </a:r>
            <a:r>
              <a:rPr lang="en-US" altLang="en-US" sz="2800" dirty="0" smtClean="0">
                <a:solidFill>
                  <a:schemeClr val="tx1"/>
                </a:solidFill>
                <a:latin typeface="Arial" pitchFamily="34" charset="0"/>
                <a:cs typeface="Arial" pitchFamily="34" charset="0"/>
              </a:rPr>
              <a:t>f someone intentionally and publicly displays any information </a:t>
            </a:r>
            <a:br>
              <a:rPr lang="en-US" altLang="en-US" sz="2800" dirty="0" smtClean="0">
                <a:solidFill>
                  <a:schemeClr val="tx1"/>
                </a:solidFill>
                <a:latin typeface="Arial" pitchFamily="34" charset="0"/>
                <a:cs typeface="Arial" pitchFamily="34" charset="0"/>
              </a:rPr>
            </a:br>
            <a:r>
              <a:rPr lang="en-US" altLang="en-US" sz="2800" dirty="0" smtClean="0">
                <a:solidFill>
                  <a:schemeClr val="tx1"/>
                </a:solidFill>
                <a:latin typeface="Arial" pitchFamily="34" charset="0"/>
                <a:cs typeface="Arial" pitchFamily="34" charset="0"/>
              </a:rPr>
              <a:t>    through any information system, which he or she knows to be false</a:t>
            </a:r>
            <a:br>
              <a:rPr lang="en-US" altLang="en-US" sz="2800" dirty="0" smtClean="0">
                <a:solidFill>
                  <a:schemeClr val="tx1"/>
                </a:solidFill>
                <a:latin typeface="Arial" pitchFamily="34" charset="0"/>
                <a:cs typeface="Arial" pitchFamily="34" charset="0"/>
              </a:rPr>
            </a:br>
            <a:r>
              <a:rPr lang="en-US" altLang="en-US" sz="2800" dirty="0" smtClean="0">
                <a:solidFill>
                  <a:schemeClr val="tx1"/>
                </a:solidFill>
                <a:latin typeface="Arial" pitchFamily="34" charset="0"/>
                <a:cs typeface="Arial" pitchFamily="34" charset="0"/>
              </a:rPr>
              <a:t>    and by which he or she intimidates or harms the reputation or</a:t>
            </a:r>
            <a:br>
              <a:rPr lang="en-US" altLang="en-US" sz="2800" dirty="0" smtClean="0">
                <a:solidFill>
                  <a:schemeClr val="tx1"/>
                </a:solidFill>
                <a:latin typeface="Arial" pitchFamily="34" charset="0"/>
                <a:cs typeface="Arial" pitchFamily="34" charset="0"/>
              </a:rPr>
            </a:br>
            <a:r>
              <a:rPr lang="en-US" altLang="en-US" sz="2800" dirty="0" smtClean="0">
                <a:solidFill>
                  <a:schemeClr val="tx1"/>
                </a:solidFill>
                <a:latin typeface="Arial" pitchFamily="34" charset="0"/>
                <a:cs typeface="Arial" pitchFamily="34" charset="0"/>
              </a:rPr>
              <a:t>    privacy of a natural person</a:t>
            </a:r>
          </a:p>
          <a:p>
            <a:pPr marL="0" indent="0">
              <a:buFont typeface="Wingdings" panose="05000000000000000000" pitchFamily="2" charset="2"/>
              <a:buNone/>
            </a:pPr>
            <a:endParaRPr lang="en-GB" dirty="0" smtClean="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bwMode="auto">
          <a:noFill/>
          <a:ln>
            <a:miter lim="800000"/>
            <a:headEnd/>
            <a:tailEnd/>
          </a:ln>
        </p:spPr>
        <p:txBody>
          <a:bodyPr vert="horz" wrap="square" lIns="91440" tIns="45720" rIns="91440" bIns="45720" numCol="1" anchor="t" anchorCtr="0" compatLnSpc="1">
            <a:prstTxWarp prst="textNoShape">
              <a:avLst/>
            </a:prstTxWarp>
            <a:normAutofit/>
          </a:bodyPr>
          <a:lstStyle/>
          <a:p>
            <a:r>
              <a:rPr lang="en-US" altLang="en-US" sz="4000" b="1" dirty="0" smtClean="0">
                <a:solidFill>
                  <a:srgbClr val="C00000"/>
                </a:solidFill>
                <a:latin typeface="Arial" pitchFamily="34" charset="0"/>
                <a:cs typeface="Arial" pitchFamily="34" charset="0"/>
              </a:rPr>
              <a:t>Cybercrime through Social Media</a:t>
            </a:r>
          </a:p>
        </p:txBody>
      </p:sp>
      <p:sp>
        <p:nvSpPr>
          <p:cNvPr id="15363" name="Content Placeholder 2"/>
          <p:cNvSpPr>
            <a:spLocks noGrp="1"/>
          </p:cNvSpPr>
          <p:nvPr>
            <p:ph idx="1"/>
          </p:nvPr>
        </p:nvSpPr>
        <p:spPr bwMode="auto">
          <a:xfrm>
            <a:off x="594360" y="1600200"/>
            <a:ext cx="10698480" cy="4421188"/>
          </a:xfrm>
          <a:noFill/>
          <a:ln>
            <a:miter lim="800000"/>
            <a:headEnd/>
            <a:tailEnd/>
          </a:ln>
        </p:spPr>
        <p:txBody>
          <a:bodyPr vert="horz" wrap="square" lIns="91440" tIns="45720" rIns="91440" bIns="45720" numCol="1" anchor="t" anchorCtr="0" compatLnSpc="1">
            <a:prstTxWarp prst="textNoShape">
              <a:avLst/>
            </a:prstTxWarp>
          </a:bodyPr>
          <a:lstStyle/>
          <a:p>
            <a:pPr algn="just">
              <a:buFont typeface="Wingdings" pitchFamily="2" charset="2"/>
              <a:buChar char="q"/>
            </a:pPr>
            <a:r>
              <a:rPr lang="en-US" altLang="en-US" sz="2800" dirty="0" smtClean="0">
                <a:solidFill>
                  <a:schemeClr val="tx1"/>
                </a:solidFill>
                <a:latin typeface="Arial" pitchFamily="34" charset="0"/>
                <a:cs typeface="Arial" pitchFamily="34" charset="0"/>
              </a:rPr>
              <a:t>Rafay Baloch is a Pakistani security researcher worked on Android operating system known for ethical hacker.</a:t>
            </a:r>
          </a:p>
          <a:p>
            <a:pPr algn="just">
              <a:buFont typeface="Wingdings" pitchFamily="2" charset="2"/>
              <a:buChar char="q"/>
            </a:pPr>
            <a:endParaRPr lang="en-US" altLang="en-US" sz="2800" dirty="0" smtClean="0">
              <a:solidFill>
                <a:schemeClr val="tx1"/>
              </a:solidFill>
              <a:latin typeface="Arial" pitchFamily="34" charset="0"/>
              <a:cs typeface="Arial" pitchFamily="34" charset="0"/>
            </a:endParaRPr>
          </a:p>
          <a:p>
            <a:pPr algn="just">
              <a:buFont typeface="Wingdings" pitchFamily="2" charset="2"/>
              <a:buChar char="q"/>
            </a:pPr>
            <a:r>
              <a:rPr lang="en-US" altLang="en-US" sz="2800" dirty="0" smtClean="0">
                <a:solidFill>
                  <a:schemeClr val="tx1"/>
                </a:solidFill>
                <a:latin typeface="Arial" pitchFamily="34" charset="0"/>
                <a:cs typeface="Arial" pitchFamily="34" charset="0"/>
              </a:rPr>
              <a:t>Since social media is also used through internet, a lot of crimes are taking place on Facebook, Linkedin, Twitter, WhatsApp, instagram, Twitter, </a:t>
            </a:r>
            <a:r>
              <a:rPr lang="en-US" altLang="en-US" sz="2800" dirty="0" err="1" smtClean="0">
                <a:solidFill>
                  <a:schemeClr val="tx1"/>
                </a:solidFill>
                <a:latin typeface="Arial" pitchFamily="34" charset="0"/>
                <a:cs typeface="Arial" pitchFamily="34" charset="0"/>
              </a:rPr>
              <a:t>Tik</a:t>
            </a:r>
            <a:r>
              <a:rPr lang="en-US" altLang="en-US" sz="2800" dirty="0" smtClean="0">
                <a:solidFill>
                  <a:schemeClr val="tx1"/>
                </a:solidFill>
                <a:latin typeface="Arial" pitchFamily="34" charset="0"/>
                <a:cs typeface="Arial" pitchFamily="34" charset="0"/>
              </a:rPr>
              <a:t> Tok, Twitch, Ramble etc.</a:t>
            </a:r>
          </a:p>
          <a:p>
            <a:pPr>
              <a:buFont typeface="Wingdings" pitchFamily="2" charset="2"/>
              <a:buChar char="q"/>
            </a:pPr>
            <a:endParaRPr lang="en-US" altLang="en-US" dirty="0" smtClean="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bwMode="auto">
          <a:noFill/>
          <a:ln>
            <a:miter lim="800000"/>
            <a:headEnd/>
            <a:tailEnd/>
          </a:ln>
        </p:spPr>
        <p:txBody>
          <a:bodyPr vert="horz" wrap="square" lIns="91440" tIns="45720" rIns="91440" bIns="45720" numCol="1" anchor="t" anchorCtr="0" compatLnSpc="1">
            <a:prstTxWarp prst="textNoShape">
              <a:avLst/>
            </a:prstTxWarp>
            <a:normAutofit/>
          </a:bodyPr>
          <a:lstStyle/>
          <a:p>
            <a:r>
              <a:rPr lang="en-US" altLang="en-US" sz="4000" b="1" dirty="0" smtClean="0">
                <a:solidFill>
                  <a:srgbClr val="C00000"/>
                </a:solidFill>
                <a:latin typeface="Arial" pitchFamily="34" charset="0"/>
                <a:cs typeface="Arial" pitchFamily="34" charset="0"/>
              </a:rPr>
              <a:t>Cybercrime through Social Media</a:t>
            </a:r>
          </a:p>
        </p:txBody>
      </p:sp>
      <p:sp>
        <p:nvSpPr>
          <p:cNvPr id="15363" name="Content Placeholder 2"/>
          <p:cNvSpPr>
            <a:spLocks noGrp="1"/>
          </p:cNvSpPr>
          <p:nvPr>
            <p:ph idx="1"/>
          </p:nvPr>
        </p:nvSpPr>
        <p:spPr bwMode="auto">
          <a:xfrm>
            <a:off x="457200" y="1600200"/>
            <a:ext cx="10835640" cy="4648200"/>
          </a:xfrm>
          <a:noFill/>
          <a:ln>
            <a:miter lim="800000"/>
            <a:headEnd/>
            <a:tailEnd/>
          </a:ln>
        </p:spPr>
        <p:txBody>
          <a:bodyPr vert="horz" wrap="square" lIns="91440" tIns="45720" rIns="91440" bIns="45720" numCol="1" anchor="t" anchorCtr="0" compatLnSpc="1">
            <a:prstTxWarp prst="textNoShape">
              <a:avLst/>
            </a:prstTxWarp>
          </a:bodyPr>
          <a:lstStyle/>
          <a:p>
            <a:pPr algn="just">
              <a:buFont typeface="Wingdings" pitchFamily="2" charset="2"/>
              <a:buChar char="q"/>
            </a:pPr>
            <a:r>
              <a:rPr lang="en-US" altLang="en-US" sz="2800" dirty="0" smtClean="0">
                <a:solidFill>
                  <a:schemeClr val="tx1"/>
                </a:solidFill>
                <a:latin typeface="Arial" pitchFamily="34" charset="0"/>
                <a:cs typeface="Arial" pitchFamily="34" charset="0"/>
              </a:rPr>
              <a:t> Examples includes :-</a:t>
            </a:r>
          </a:p>
          <a:p>
            <a:pPr algn="just">
              <a:buFont typeface="Wingdings" pitchFamily="2" charset="2"/>
              <a:buChar char="q"/>
            </a:pPr>
            <a:r>
              <a:rPr lang="en-US" altLang="en-US" sz="2800" dirty="0" smtClean="0">
                <a:latin typeface="Arial" pitchFamily="34" charset="0"/>
                <a:cs typeface="Arial" pitchFamily="34" charset="0"/>
              </a:rPr>
              <a:t> Phishing attacks (</a:t>
            </a:r>
            <a:r>
              <a:rPr lang="en-US" altLang="en-US" sz="2800" b="1" dirty="0" smtClean="0">
                <a:latin typeface="Arial" pitchFamily="34" charset="0"/>
                <a:cs typeface="Arial" pitchFamily="34" charset="0"/>
              </a:rPr>
              <a:t>Fraudulent attempt</a:t>
            </a:r>
            <a:r>
              <a:rPr lang="en-US" altLang="en-US" sz="2800" dirty="0" smtClean="0">
                <a:latin typeface="Arial" pitchFamily="34" charset="0"/>
                <a:cs typeface="Arial" pitchFamily="34" charset="0"/>
              </a:rPr>
              <a:t>), stealing username</a:t>
            </a:r>
            <a:br>
              <a:rPr lang="en-US" altLang="en-US" sz="2800" dirty="0" smtClean="0">
                <a:latin typeface="Arial" pitchFamily="34" charset="0"/>
                <a:cs typeface="Arial" pitchFamily="34" charset="0"/>
              </a:rPr>
            </a:br>
            <a:r>
              <a:rPr lang="en-US" altLang="en-US" sz="2800" dirty="0" smtClean="0">
                <a:latin typeface="Arial" pitchFamily="34" charset="0"/>
                <a:cs typeface="Arial" pitchFamily="34" charset="0"/>
              </a:rPr>
              <a:t> passwords financial details etc..</a:t>
            </a:r>
          </a:p>
          <a:p>
            <a:pPr algn="just">
              <a:buFont typeface="Wingdings" pitchFamily="2" charset="2"/>
              <a:buChar char="q"/>
            </a:pPr>
            <a:r>
              <a:rPr lang="en-US" altLang="en-US" sz="2800" dirty="0" smtClean="0">
                <a:solidFill>
                  <a:schemeClr val="tx1"/>
                </a:solidFill>
                <a:latin typeface="Arial" pitchFamily="34" charset="0"/>
                <a:cs typeface="Arial" pitchFamily="34" charset="0"/>
              </a:rPr>
              <a:t> </a:t>
            </a:r>
            <a:r>
              <a:rPr lang="en-US" altLang="en-US" sz="2800" b="1" dirty="0" smtClean="0">
                <a:latin typeface="Arial" pitchFamily="34" charset="0"/>
                <a:cs typeface="Arial" pitchFamily="34" charset="0"/>
              </a:rPr>
              <a:t>Identity theft </a:t>
            </a:r>
            <a:r>
              <a:rPr lang="en-US" altLang="en-US" sz="2800" dirty="0" smtClean="0">
                <a:latin typeface="Arial" pitchFamily="34" charset="0"/>
                <a:cs typeface="Arial" pitchFamily="34" charset="0"/>
              </a:rPr>
              <a:t>(stealing someone information and use it for</a:t>
            </a:r>
            <a:br>
              <a:rPr lang="en-US" altLang="en-US" sz="2800" dirty="0" smtClean="0">
                <a:latin typeface="Arial" pitchFamily="34" charset="0"/>
                <a:cs typeface="Arial" pitchFamily="34" charset="0"/>
              </a:rPr>
            </a:br>
            <a:r>
              <a:rPr lang="en-US" altLang="en-US" sz="2800" dirty="0" smtClean="0">
                <a:latin typeface="Arial" pitchFamily="34" charset="0"/>
                <a:cs typeface="Arial" pitchFamily="34" charset="0"/>
              </a:rPr>
              <a:t> malicious purpose.</a:t>
            </a:r>
          </a:p>
          <a:p>
            <a:pPr algn="just">
              <a:buFont typeface="Wingdings" pitchFamily="2" charset="2"/>
              <a:buChar char="q"/>
            </a:pPr>
            <a:r>
              <a:rPr lang="en-US" altLang="en-US" sz="2800" dirty="0" smtClean="0">
                <a:latin typeface="Arial" pitchFamily="34" charset="0"/>
                <a:cs typeface="Arial" pitchFamily="34" charset="0"/>
              </a:rPr>
              <a:t> </a:t>
            </a:r>
            <a:r>
              <a:rPr lang="en-US" altLang="en-US" sz="2800" b="1" dirty="0" smtClean="0">
                <a:latin typeface="Arial" pitchFamily="34" charset="0"/>
                <a:cs typeface="Arial" pitchFamily="34" charset="0"/>
              </a:rPr>
              <a:t>Fake News</a:t>
            </a:r>
            <a:r>
              <a:rPr lang="en-US" altLang="en-US" sz="2800" dirty="0" smtClean="0">
                <a:latin typeface="Arial" pitchFamily="34" charset="0"/>
                <a:cs typeface="Arial" pitchFamily="34" charset="0"/>
              </a:rPr>
              <a:t> about individual or group/ private or Govt</a:t>
            </a:r>
            <a:br>
              <a:rPr lang="en-US" altLang="en-US" sz="2800" dirty="0" smtClean="0">
                <a:latin typeface="Arial" pitchFamily="34" charset="0"/>
                <a:cs typeface="Arial" pitchFamily="34" charset="0"/>
              </a:rPr>
            </a:br>
            <a:r>
              <a:rPr lang="en-US" altLang="en-US" sz="2800" dirty="0" smtClean="0">
                <a:latin typeface="Arial" pitchFamily="34" charset="0"/>
                <a:cs typeface="Arial" pitchFamily="34" charset="0"/>
              </a:rPr>
              <a:t> organization.</a:t>
            </a:r>
          </a:p>
          <a:p>
            <a:pPr algn="just">
              <a:buFont typeface="Wingdings" pitchFamily="2" charset="2"/>
              <a:buChar char="q"/>
            </a:pPr>
            <a:r>
              <a:rPr lang="en-US" altLang="en-US" sz="2800" dirty="0" smtClean="0">
                <a:latin typeface="Arial" pitchFamily="34" charset="0"/>
                <a:cs typeface="Arial" pitchFamily="34" charset="0"/>
              </a:rPr>
              <a:t> Online scams (Fraudulent attempt).</a:t>
            </a:r>
            <a:endParaRPr lang="en-US" altLang="en-US" sz="2800" dirty="0" smtClean="0">
              <a:solidFill>
                <a:schemeClr val="tx1"/>
              </a:solidFill>
              <a:latin typeface="Arial" pitchFamily="34" charset="0"/>
              <a:cs typeface="Arial" pitchFamily="34" charset="0"/>
            </a:endParaRPr>
          </a:p>
          <a:p>
            <a:pPr>
              <a:buFont typeface="Wingdings" pitchFamily="2" charset="2"/>
              <a:buChar char="q"/>
            </a:pPr>
            <a:r>
              <a:rPr lang="en-US" altLang="en-US" dirty="0" smtClean="0">
                <a:solidFill>
                  <a:schemeClr val="tx1"/>
                </a:solidFill>
                <a:latin typeface="Arial" pitchFamily="34" charset="0"/>
                <a:cs typeface="Arial" pitchFamily="34" charset="0"/>
              </a:rPr>
              <a:t> Mental and emotional Health (</a:t>
            </a:r>
            <a:r>
              <a:rPr lang="en-US" altLang="en-US" b="1" dirty="0" smtClean="0">
                <a:solidFill>
                  <a:schemeClr val="tx1"/>
                </a:solidFill>
                <a:latin typeface="Arial" pitchFamily="34" charset="0"/>
                <a:cs typeface="Arial" pitchFamily="34" charset="0"/>
              </a:rPr>
              <a:t>cyber bullying</a:t>
            </a:r>
            <a:r>
              <a:rPr lang="en-US" altLang="en-US" dirty="0" smtClean="0">
                <a:solidFill>
                  <a:schemeClr val="tx1"/>
                </a:solidFill>
                <a:latin typeface="Arial" pitchFamily="34" charset="0"/>
                <a:cs typeface="Arial" pitchFamily="34" charset="0"/>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bwMode="auto">
          <a:xfrm>
            <a:off x="594360" y="274639"/>
            <a:ext cx="10698480" cy="561975"/>
          </a:xfrm>
          <a:noFill/>
          <a:ln>
            <a:miter lim="800000"/>
            <a:headEnd/>
            <a:tailEnd/>
          </a:ln>
        </p:spPr>
        <p:txBody>
          <a:bodyPr vert="horz" wrap="square" lIns="91440" tIns="45720" rIns="91440" bIns="45720" numCol="1" anchor="t" anchorCtr="0" compatLnSpc="1">
            <a:prstTxWarp prst="textNoShape">
              <a:avLst/>
            </a:prstTxWarp>
            <a:noAutofit/>
          </a:bodyPr>
          <a:lstStyle/>
          <a:p>
            <a:r>
              <a:rPr lang="en-US" altLang="en-US" sz="4000" b="1" dirty="0" smtClean="0">
                <a:solidFill>
                  <a:srgbClr val="C00000"/>
                </a:solidFill>
                <a:latin typeface="Arial" pitchFamily="34" charset="0"/>
                <a:cs typeface="Arial" pitchFamily="34" charset="0"/>
              </a:rPr>
              <a:t>Cyber Laws in the World</a:t>
            </a:r>
            <a:endParaRPr lang="en-GB" sz="4000" b="1" dirty="0" smtClean="0">
              <a:solidFill>
                <a:srgbClr val="C00000"/>
              </a:solidFill>
              <a:latin typeface="Arial" pitchFamily="34" charset="0"/>
              <a:cs typeface="Arial" pitchFamily="34" charset="0"/>
            </a:endParaRPr>
          </a:p>
        </p:txBody>
      </p:sp>
      <p:sp>
        <p:nvSpPr>
          <p:cNvPr id="18435" name="Content Placeholder 2"/>
          <p:cNvSpPr>
            <a:spLocks noGrp="1"/>
          </p:cNvSpPr>
          <p:nvPr>
            <p:ph idx="1"/>
          </p:nvPr>
        </p:nvSpPr>
        <p:spPr bwMode="auto">
          <a:xfrm>
            <a:off x="381000" y="1600200"/>
            <a:ext cx="11201400" cy="4648200"/>
          </a:xfrm>
          <a:noFill/>
          <a:ln>
            <a:miter lim="800000"/>
            <a:headEnd/>
            <a:tailEnd/>
          </a:ln>
        </p:spPr>
        <p:txBody>
          <a:bodyPr vert="horz" wrap="square" lIns="91440" tIns="45720" rIns="91440" bIns="45720" numCol="1" anchor="t" anchorCtr="0" compatLnSpc="1">
            <a:prstTxWarp prst="textNoShape">
              <a:avLst/>
            </a:prstTxWarp>
            <a:normAutofit/>
          </a:bodyPr>
          <a:lstStyle/>
          <a:p>
            <a:pPr eaLnBrk="1" hangingPunct="1">
              <a:buFont typeface="Wingdings" pitchFamily="2" charset="2"/>
              <a:buChar char="q"/>
            </a:pPr>
            <a:r>
              <a:rPr lang="en-US" altLang="en-US" sz="2800" dirty="0" smtClean="0">
                <a:solidFill>
                  <a:schemeClr val="tx1"/>
                </a:solidFill>
                <a:latin typeface="Arial" pitchFamily="34" charset="0"/>
                <a:cs typeface="Arial" pitchFamily="34" charset="0"/>
              </a:rPr>
              <a:t> Federal Trade commission ACT(FTCA) </a:t>
            </a:r>
            <a:r>
              <a:rPr lang="en-US" altLang="en-US" sz="2800" b="1" dirty="0" smtClean="0">
                <a:solidFill>
                  <a:schemeClr val="tx1"/>
                </a:solidFill>
                <a:latin typeface="Arial" pitchFamily="34" charset="0"/>
                <a:cs typeface="Arial" pitchFamily="34" charset="0"/>
              </a:rPr>
              <a:t>(USA)</a:t>
            </a:r>
          </a:p>
          <a:p>
            <a:pPr eaLnBrk="1" hangingPunct="1">
              <a:buFont typeface="Wingdings" pitchFamily="2" charset="2"/>
              <a:buChar char="q"/>
            </a:pPr>
            <a:r>
              <a:rPr lang="en-US" altLang="en-US" sz="2800" dirty="0" smtClean="0">
                <a:solidFill>
                  <a:schemeClr val="tx1"/>
                </a:solidFill>
                <a:latin typeface="Arial" pitchFamily="34" charset="0"/>
                <a:cs typeface="Arial" pitchFamily="34" charset="0"/>
              </a:rPr>
              <a:t>Electronic Commerce Act </a:t>
            </a:r>
            <a:r>
              <a:rPr lang="en-US" altLang="en-US" sz="2800" b="1" dirty="0" smtClean="0">
                <a:solidFill>
                  <a:schemeClr val="tx1"/>
                </a:solidFill>
                <a:latin typeface="Arial" pitchFamily="34" charset="0"/>
                <a:cs typeface="Arial" pitchFamily="34" charset="0"/>
              </a:rPr>
              <a:t>(Ireland).</a:t>
            </a:r>
          </a:p>
          <a:p>
            <a:pPr eaLnBrk="1" hangingPunct="1">
              <a:buFont typeface="Wingdings" pitchFamily="2" charset="2"/>
              <a:buChar char="q"/>
            </a:pPr>
            <a:r>
              <a:rPr lang="en-US" altLang="en-US" sz="2800" dirty="0" smtClean="0">
                <a:solidFill>
                  <a:schemeClr val="tx1"/>
                </a:solidFill>
                <a:latin typeface="Arial" pitchFamily="34" charset="0"/>
                <a:cs typeface="Arial" pitchFamily="34" charset="0"/>
              </a:rPr>
              <a:t>Electronic Transactions Act </a:t>
            </a:r>
            <a:r>
              <a:rPr lang="en-US" altLang="en-US" sz="2800" b="1" dirty="0" smtClean="0">
                <a:solidFill>
                  <a:schemeClr val="tx1"/>
                </a:solidFill>
                <a:latin typeface="Arial" pitchFamily="34" charset="0"/>
                <a:cs typeface="Arial" pitchFamily="34" charset="0"/>
              </a:rPr>
              <a:t>(UK, USA, Australia, New Zealand, Singapore).</a:t>
            </a:r>
          </a:p>
          <a:p>
            <a:pPr eaLnBrk="1" hangingPunct="1">
              <a:buFont typeface="Wingdings" pitchFamily="2" charset="2"/>
              <a:buChar char="q"/>
            </a:pPr>
            <a:r>
              <a:rPr lang="en-US" altLang="en-US" sz="2800" dirty="0" smtClean="0">
                <a:solidFill>
                  <a:schemeClr val="tx1"/>
                </a:solidFill>
                <a:latin typeface="Arial" pitchFamily="34" charset="0"/>
                <a:cs typeface="Arial" pitchFamily="34" charset="0"/>
              </a:rPr>
              <a:t>Electronic Transactions Ordinance </a:t>
            </a:r>
            <a:r>
              <a:rPr lang="en-US" altLang="en-US" sz="2800" b="1" dirty="0" smtClean="0">
                <a:solidFill>
                  <a:schemeClr val="tx1"/>
                </a:solidFill>
                <a:latin typeface="Arial" pitchFamily="34" charset="0"/>
                <a:cs typeface="Arial" pitchFamily="34" charset="0"/>
              </a:rPr>
              <a:t>(Hong Kong).</a:t>
            </a:r>
          </a:p>
          <a:p>
            <a:pPr eaLnBrk="1" hangingPunct="1">
              <a:buFont typeface="Wingdings" pitchFamily="2" charset="2"/>
              <a:buChar char="q"/>
            </a:pPr>
            <a:r>
              <a:rPr lang="en-US" altLang="en-US" sz="2800" dirty="0" smtClean="0">
                <a:solidFill>
                  <a:schemeClr val="tx1"/>
                </a:solidFill>
                <a:latin typeface="Arial" pitchFamily="34" charset="0"/>
                <a:cs typeface="Arial" pitchFamily="34" charset="0"/>
              </a:rPr>
              <a:t>Information Technology Act </a:t>
            </a:r>
            <a:r>
              <a:rPr lang="en-US" altLang="en-US" sz="2800" b="1" dirty="0" smtClean="0">
                <a:solidFill>
                  <a:schemeClr val="tx1"/>
                </a:solidFill>
                <a:latin typeface="Arial" pitchFamily="34" charset="0"/>
                <a:cs typeface="Arial" pitchFamily="34" charset="0"/>
              </a:rPr>
              <a:t>(India).</a:t>
            </a:r>
          </a:p>
          <a:p>
            <a:pPr eaLnBrk="1" hangingPunct="1">
              <a:buFont typeface="Wingdings" pitchFamily="2" charset="2"/>
              <a:buChar char="q"/>
            </a:pPr>
            <a:r>
              <a:rPr lang="en-US" altLang="en-US" sz="2800" dirty="0" smtClean="0">
                <a:solidFill>
                  <a:schemeClr val="tx1"/>
                </a:solidFill>
                <a:latin typeface="Arial" pitchFamily="34" charset="0"/>
                <a:cs typeface="Arial" pitchFamily="34" charset="0"/>
              </a:rPr>
              <a:t>Information Communication Technology Act Draft </a:t>
            </a:r>
            <a:r>
              <a:rPr lang="en-US" altLang="en-US" sz="2800" b="1" dirty="0" smtClean="0">
                <a:solidFill>
                  <a:schemeClr val="tx1"/>
                </a:solidFill>
                <a:latin typeface="Arial" pitchFamily="34" charset="0"/>
                <a:cs typeface="Arial" pitchFamily="34" charset="0"/>
              </a:rPr>
              <a:t>(Bangladesh).</a:t>
            </a:r>
            <a:endParaRPr lang="en-GB" sz="2800" dirty="0" smtClean="0">
              <a:solidFill>
                <a:schemeClr val="tx1"/>
              </a:solidFill>
              <a:latin typeface="Arial" pitchFamily="34" charset="0"/>
              <a:cs typeface="Arial"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bwMode="auto">
          <a:xfrm>
            <a:off x="594360" y="274639"/>
            <a:ext cx="10698480" cy="561975"/>
          </a:xfrm>
          <a:noFill/>
          <a:ln>
            <a:miter lim="800000"/>
            <a:headEnd/>
            <a:tailEnd/>
          </a:ln>
        </p:spPr>
        <p:txBody>
          <a:bodyPr vert="horz" wrap="square" lIns="91440" tIns="45720" rIns="91440" bIns="45720" numCol="1" anchor="t" anchorCtr="0" compatLnSpc="1">
            <a:prstTxWarp prst="textNoShape">
              <a:avLst/>
            </a:prstTxWarp>
            <a:noAutofit/>
          </a:bodyPr>
          <a:lstStyle/>
          <a:p>
            <a:r>
              <a:rPr lang="en-US" altLang="en-US" sz="4000" b="1" dirty="0" smtClean="0">
                <a:solidFill>
                  <a:srgbClr val="C00000"/>
                </a:solidFill>
                <a:latin typeface="Arial" pitchFamily="34" charset="0"/>
                <a:cs typeface="Arial" pitchFamily="34" charset="0"/>
              </a:rPr>
              <a:t>Cyber Laws in Pakistan</a:t>
            </a:r>
            <a:endParaRPr lang="en-GB" sz="4000" b="1" dirty="0" smtClean="0">
              <a:solidFill>
                <a:srgbClr val="C00000"/>
              </a:solidFill>
              <a:latin typeface="Arial" pitchFamily="34" charset="0"/>
              <a:cs typeface="Arial" pitchFamily="34" charset="0"/>
            </a:endParaRPr>
          </a:p>
        </p:txBody>
      </p:sp>
      <p:sp>
        <p:nvSpPr>
          <p:cNvPr id="3" name="Content Placeholder 2"/>
          <p:cNvSpPr>
            <a:spLocks noGrp="1"/>
          </p:cNvSpPr>
          <p:nvPr>
            <p:ph idx="1"/>
          </p:nvPr>
        </p:nvSpPr>
        <p:spPr>
          <a:xfrm>
            <a:off x="228600" y="1676400"/>
            <a:ext cx="11353800" cy="4572000"/>
          </a:xfrm>
        </p:spPr>
        <p:txBody>
          <a:bodyPr/>
          <a:lstStyle/>
          <a:p>
            <a:pPr algn="just" eaLnBrk="1" hangingPunct="1">
              <a:defRPr/>
            </a:pPr>
            <a:r>
              <a:rPr lang="en-US" altLang="en-US" sz="2800" dirty="0">
                <a:solidFill>
                  <a:schemeClr val="tx1"/>
                </a:solidFill>
                <a:latin typeface="Arial" pitchFamily="34" charset="0"/>
                <a:cs typeface="Arial" pitchFamily="34" charset="0"/>
              </a:rPr>
              <a:t>There are different </a:t>
            </a:r>
            <a:r>
              <a:rPr lang="en-US" altLang="en-US" sz="2800" dirty="0" smtClean="0">
                <a:solidFill>
                  <a:schemeClr val="tx1"/>
                </a:solidFill>
                <a:latin typeface="Arial" pitchFamily="34" charset="0"/>
                <a:cs typeface="Arial" pitchFamily="34" charset="0"/>
              </a:rPr>
              <a:t>laws </a:t>
            </a:r>
            <a:r>
              <a:rPr lang="en-US" altLang="en-US" sz="2800" dirty="0">
                <a:solidFill>
                  <a:schemeClr val="tx1"/>
                </a:solidFill>
                <a:latin typeface="Arial" pitchFamily="34" charset="0"/>
                <a:cs typeface="Arial" pitchFamily="34" charset="0"/>
              </a:rPr>
              <a:t>in Pakistan.</a:t>
            </a:r>
          </a:p>
          <a:p>
            <a:pPr algn="just" eaLnBrk="1" hangingPunct="1">
              <a:defRPr/>
            </a:pPr>
            <a:r>
              <a:rPr lang="en-US" altLang="en-US" sz="2800" dirty="0">
                <a:solidFill>
                  <a:schemeClr val="tx1"/>
                </a:solidFill>
                <a:latin typeface="Arial" pitchFamily="34" charset="0"/>
                <a:cs typeface="Arial" pitchFamily="34" charset="0"/>
              </a:rPr>
              <a:t>These laws not only deal with crime of </a:t>
            </a:r>
            <a:r>
              <a:rPr lang="en-US" altLang="en-US" sz="2800" dirty="0" smtClean="0">
                <a:solidFill>
                  <a:schemeClr val="tx1"/>
                </a:solidFill>
                <a:latin typeface="Arial" pitchFamily="34" charset="0"/>
                <a:cs typeface="Arial" pitchFamily="34" charset="0"/>
              </a:rPr>
              <a:t>Internet, also </a:t>
            </a:r>
            <a:r>
              <a:rPr lang="en-US" altLang="en-US" sz="2800" dirty="0">
                <a:solidFill>
                  <a:schemeClr val="tx1"/>
                </a:solidFill>
                <a:latin typeface="Arial" pitchFamily="34" charset="0"/>
                <a:cs typeface="Arial" pitchFamily="34" charset="0"/>
              </a:rPr>
              <a:t>deal with all dimensions related to computer &amp; networks.</a:t>
            </a:r>
          </a:p>
          <a:p>
            <a:pPr algn="just" eaLnBrk="1" hangingPunct="1">
              <a:defRPr/>
            </a:pPr>
            <a:r>
              <a:rPr lang="en-US" altLang="en-US" sz="2800" dirty="0">
                <a:solidFill>
                  <a:schemeClr val="tx1"/>
                </a:solidFill>
                <a:latin typeface="Arial" pitchFamily="34" charset="0"/>
                <a:cs typeface="Arial" pitchFamily="34" charset="0"/>
              </a:rPr>
              <a:t>Two of them are most known</a:t>
            </a:r>
            <a:r>
              <a:rPr lang="en-US" altLang="en-US" sz="2800" dirty="0" smtClean="0">
                <a:solidFill>
                  <a:schemeClr val="tx1"/>
                </a:solidFill>
                <a:latin typeface="Arial" pitchFamily="34" charset="0"/>
                <a:cs typeface="Arial" pitchFamily="34" charset="0"/>
              </a:rPr>
              <a:t>. They </a:t>
            </a:r>
            <a:r>
              <a:rPr lang="en-US" altLang="en-US" sz="2800" dirty="0">
                <a:solidFill>
                  <a:schemeClr val="tx1"/>
                </a:solidFill>
                <a:latin typeface="Arial" pitchFamily="34" charset="0"/>
                <a:cs typeface="Arial" pitchFamily="34" charset="0"/>
              </a:rPr>
              <a:t>are:</a:t>
            </a:r>
          </a:p>
          <a:p>
            <a:pPr lvl="1" algn="just" eaLnBrk="1" hangingPunct="1">
              <a:defRPr/>
            </a:pPr>
            <a:r>
              <a:rPr lang="en-US" altLang="en-US" sz="2800" dirty="0">
                <a:solidFill>
                  <a:schemeClr val="tx1"/>
                </a:solidFill>
                <a:latin typeface="Arial" pitchFamily="34" charset="0"/>
                <a:cs typeface="Arial" pitchFamily="34" charset="0"/>
              </a:rPr>
              <a:t>Electronic Transaction </a:t>
            </a:r>
            <a:r>
              <a:rPr lang="en-US" altLang="en-US" sz="2800" b="1" dirty="0">
                <a:solidFill>
                  <a:schemeClr val="tx1"/>
                </a:solidFill>
                <a:latin typeface="Arial" pitchFamily="34" charset="0"/>
                <a:cs typeface="Arial" pitchFamily="34" charset="0"/>
              </a:rPr>
              <a:t>Ordinance 2002</a:t>
            </a:r>
          </a:p>
          <a:p>
            <a:pPr lvl="1" algn="just" eaLnBrk="1" hangingPunct="1">
              <a:defRPr/>
            </a:pPr>
            <a:r>
              <a:rPr lang="en-US" altLang="en-US" sz="2800" dirty="0">
                <a:solidFill>
                  <a:schemeClr val="tx1"/>
                </a:solidFill>
                <a:latin typeface="Arial" pitchFamily="34" charset="0"/>
                <a:cs typeface="Arial" pitchFamily="34" charset="0"/>
              </a:rPr>
              <a:t>Electronic / Cyber Crime </a:t>
            </a:r>
            <a:r>
              <a:rPr lang="en-US" altLang="en-US" sz="2800" b="1" dirty="0">
                <a:solidFill>
                  <a:schemeClr val="tx1"/>
                </a:solidFill>
                <a:latin typeface="Arial" pitchFamily="34" charset="0"/>
                <a:cs typeface="Arial" pitchFamily="34" charset="0"/>
              </a:rPr>
              <a:t>Bill 2007</a:t>
            </a:r>
          </a:p>
          <a:p>
            <a:pPr marL="0" indent="0">
              <a:buFont typeface="Wingdings" panose="05000000000000000000" pitchFamily="2" charset="2"/>
              <a:buNone/>
              <a:defRPr/>
            </a:pPr>
            <a:endParaRPr lang="en-GB" dirty="0">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endParaRPr lang="en-US" dirty="0" smtClean="0"/>
          </a:p>
          <a:p>
            <a:endParaRPr lang="en-US" dirty="0" smtClean="0"/>
          </a:p>
          <a:p>
            <a:pPr>
              <a:buNone/>
            </a:pPr>
            <a:r>
              <a:rPr lang="en-US" sz="6000" dirty="0" smtClean="0">
                <a:latin typeface="Arial" pitchFamily="34" charset="0"/>
                <a:cs typeface="Arial" pitchFamily="34" charset="0"/>
              </a:rPr>
              <a:t>                   </a:t>
            </a:r>
            <a:r>
              <a:rPr lang="en-US" sz="9600" dirty="0" smtClean="0">
                <a:solidFill>
                  <a:srgbClr val="0070C0"/>
                </a:solidFill>
                <a:latin typeface="Arial" pitchFamily="34" charset="0"/>
                <a:cs typeface="Arial" pitchFamily="34" charset="0"/>
              </a:rPr>
              <a:t>END</a:t>
            </a:r>
            <a:endParaRPr lang="en-US" sz="9600" dirty="0">
              <a:solidFill>
                <a:srgbClr val="0070C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2725</TotalTime>
  <Words>553</Words>
  <Application>Microsoft Office PowerPoint</Application>
  <PresentationFormat>Custom</PresentationFormat>
  <Paragraphs>86</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Civic</vt:lpstr>
      <vt:lpstr>       Professional Practices- week5            Cyber Law and Intellectuel                     property Law</vt:lpstr>
      <vt:lpstr>INTELLECTUAL PROPERTY  RIGHTS</vt:lpstr>
      <vt:lpstr>INTELLECTUAL PROPERTY RIGHTS (CONTINUE)</vt:lpstr>
      <vt:lpstr>Does GATT Covers Intellectual Property</vt:lpstr>
      <vt:lpstr>Confidential Information</vt:lpstr>
      <vt:lpstr>Plagiarism</vt:lpstr>
      <vt:lpstr>Cybercrime</vt:lpstr>
      <vt:lpstr>Cyber law</vt:lpstr>
      <vt:lpstr>Cyber law in Pakistan</vt:lpstr>
      <vt:lpstr>Link of NR3C</vt:lpstr>
      <vt:lpstr>Punishment </vt:lpstr>
      <vt:lpstr>Cybercrime through Social Media</vt:lpstr>
      <vt:lpstr>Cybercrime through Social Media</vt:lpstr>
      <vt:lpstr>Cyber Laws in the World</vt:lpstr>
      <vt:lpstr>Cyber Laws in Pakistan</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 Week 1- Profession</dc:title>
  <dc:creator>Faraz Khan</dc:creator>
  <cp:lastModifiedBy>Faraz Khan</cp:lastModifiedBy>
  <cp:revision>244</cp:revision>
  <dcterms:created xsi:type="dcterms:W3CDTF">2023-10-12T07:59:10Z</dcterms:created>
  <dcterms:modified xsi:type="dcterms:W3CDTF">2024-02-06T21:35:57Z</dcterms:modified>
</cp:coreProperties>
</file>