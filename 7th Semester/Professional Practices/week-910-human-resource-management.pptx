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5" r:id="rId3"/>
    <p:sldId id="276" r:id="rId4"/>
    <p:sldId id="277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74" r:id="rId19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34559" autoAdjust="0"/>
    <p:restoredTop sz="86380" autoAdjust="0"/>
  </p:normalViewPr>
  <p:slideViewPr>
    <p:cSldViewPr>
      <p:cViewPr varScale="1">
        <p:scale>
          <a:sx n="73" d="100"/>
          <a:sy n="73" d="100"/>
        </p:scale>
        <p:origin x="-1152" y="-102"/>
      </p:cViewPr>
      <p:guideLst>
        <p:guide orient="horz" pos="2160"/>
        <p:guide pos="3744"/>
      </p:guideLst>
    </p:cSldViewPr>
  </p:slideViewPr>
  <p:outlineViewPr>
    <p:cViewPr>
      <p:scale>
        <a:sx n="33" d="100"/>
        <a:sy n="33" d="100"/>
      </p:scale>
      <p:origin x="240" y="2992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4F12-7F55-4EE2-A832-F284432F2B1A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12AE-8F67-4BC5-91DD-088A048550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3048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83080" y="2819400"/>
            <a:ext cx="832104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2085" y="2420112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91540" y="381000"/>
            <a:ext cx="1010412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70195" y="1026375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92277" y="1527048"/>
            <a:ext cx="1105509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1905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98121" y="2286000"/>
            <a:ext cx="11483035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2085" y="142352"/>
            <a:ext cx="11483035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956" y="2743202"/>
            <a:ext cx="8424228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98121" y="2438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533400"/>
            <a:ext cx="1010412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8560" y="640994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932006" y="1575654"/>
            <a:ext cx="11598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92277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240780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9436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18872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98121" y="1371600"/>
            <a:ext cx="11483035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89702" y="6391656"/>
            <a:ext cx="11483035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8" y="1524000"/>
            <a:ext cx="5252245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28730" y="1524000"/>
            <a:ext cx="5254308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96240" y="6409944"/>
            <a:ext cx="46558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98121" y="128016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92277" y="2471383"/>
            <a:ext cx="5254143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240780" y="2471383"/>
            <a:ext cx="525018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646420" y="1042419"/>
            <a:ext cx="594360" cy="441325"/>
          </a:xfrm>
        </p:spPr>
        <p:txBody>
          <a:bodyPr/>
          <a:lstStyle>
            <a:lvl1pPr algn="ctr">
              <a:defRPr/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46420" y="1036022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121" y="158496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547360" y="6324600"/>
            <a:ext cx="79248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98121" y="152400"/>
            <a:ext cx="11483035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914400"/>
            <a:ext cx="307086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1981203"/>
            <a:ext cx="307086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061460" y="685800"/>
            <a:ext cx="733044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398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8121" y="152400"/>
            <a:ext cx="11483035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488" y="5029200"/>
            <a:ext cx="762762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00488" y="609600"/>
            <a:ext cx="762762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990600"/>
            <a:ext cx="316992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4598" y="640498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659783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113520" y="0"/>
            <a:ext cx="277368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165189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891625" y="2925763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014461" y="3020251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0685" y="3009904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240" y="304800"/>
            <a:ext cx="851916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08820" y="304804"/>
            <a:ext cx="18821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118872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528560" y="6404984"/>
            <a:ext cx="3958437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96240" y="6410848"/>
            <a:ext cx="465582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98121" y="1276743"/>
            <a:ext cx="1148303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646420" y="1040177"/>
            <a:ext cx="59436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92277" y="1524000"/>
            <a:ext cx="1109472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667000"/>
            <a:ext cx="10363200" cy="3505200"/>
          </a:xfrm>
        </p:spPr>
        <p:txBody>
          <a:bodyPr>
            <a:normAutofit/>
          </a:bodyPr>
          <a:lstStyle/>
          <a:p>
            <a:pPr algn="l">
              <a:defRPr/>
            </a:pPr>
            <a:endParaRPr lang="en-US" sz="2000" b="0" dirty="0" smtClean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r>
              <a:rPr lang="en-US" sz="4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HUMAN RESOURCE  </a:t>
            </a:r>
            <a:br>
              <a:rPr lang="en-US" sz="4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4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MANAGEMENT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11430000" cy="1752600"/>
          </a:xfrm>
        </p:spPr>
        <p:txBody>
          <a:bodyPr>
            <a:noAutofit/>
          </a:bodyPr>
          <a:lstStyle/>
          <a:p>
            <a:pPr algn="l"/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>Professional Practices </a:t>
            </a: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fr-FR" altLang="en-US" sz="4800" b="1" dirty="0" smtClean="0">
                <a:latin typeface="Arial" pitchFamily="34" charset="0"/>
                <a:cs typeface="Arial" pitchFamily="34" charset="0"/>
              </a:rPr>
            </a:b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>                week</a:t>
            </a: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>9,10</a:t>
            </a:r>
            <a:endParaRPr lang="fr-FR" altLang="en-US" sz="4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381000"/>
            <a:ext cx="18288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 bwMode="auto">
          <a:xfrm>
            <a:off x="304800" y="274639"/>
            <a:ext cx="9448800" cy="94456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fr-FR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Human Resource Management (HRM)</a:t>
            </a:r>
            <a:r>
              <a:rPr lang="fr-FR" altLang="en-US" sz="4000" b="1" i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fr-FR" altLang="en-US" sz="4000" b="1" i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599"/>
            <a:ext cx="11125200" cy="472440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management of employees of a company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  such  a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way that employees performance is maximized according to company’s strategic objectives.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Strategic objectives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means  aims  and  objectives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of the company.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Like  many  other  fields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HRM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very  important  for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software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development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work in an organization.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 bwMode="auto">
          <a:xfrm>
            <a:off x="609600" y="304800"/>
            <a:ext cx="9361323" cy="75895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Responsibility of HRM</a:t>
            </a:r>
            <a:b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77600" cy="45720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3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An organization 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has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expectations  from 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employees,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hence 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the employees should be able to manage themselves and their work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3600" dirty="0" smtClean="0">
                <a:latin typeface="Arial" pitchFamily="34" charset="0"/>
                <a:cs typeface="Arial" pitchFamily="34" charset="0"/>
              </a:rPr>
              <a:t> HRM  is the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responsibility of management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3600" dirty="0" smtClean="0">
                <a:latin typeface="Arial" pitchFamily="34" charset="0"/>
                <a:cs typeface="Arial" pitchFamily="34" charset="0"/>
              </a:rPr>
              <a:t>The management should make sure the maximum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utilization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of</a:t>
            </a:r>
            <a:br>
              <a:rPr lang="en-US" sz="3600" dirty="0" smtClean="0">
                <a:latin typeface="Arial" pitchFamily="34" charset="0"/>
                <a:cs typeface="Arial" pitchFamily="34" charset="0"/>
              </a:rPr>
            </a:br>
            <a:r>
              <a:rPr lang="en-US" sz="3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human resources available to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the organization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Management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353800" cy="4800600"/>
          </a:xfrm>
        </p:spPr>
        <p:txBody>
          <a:bodyPr/>
          <a:lstStyle/>
          <a:p>
            <a:pPr>
              <a:buNone/>
              <a:defRPr/>
            </a:pPr>
            <a:r>
              <a:rPr lang="en-US" sz="3500" dirty="0" smtClean="0"/>
              <a:t> 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 group of people who take decisions about an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organization.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b="1" u="sng" dirty="0" smtClean="0">
                <a:latin typeface="Arial" pitchFamily="34" charset="0"/>
                <a:cs typeface="Arial" pitchFamily="34" charset="0"/>
              </a:rPr>
              <a:t>Management Levels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-  Strategic (Top Level) Management </a:t>
            </a: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-  Tactical (Middle Level) Management</a:t>
            </a: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-  Operational (Front-line) Management</a:t>
            </a:r>
          </a:p>
          <a:p>
            <a:pPr>
              <a:defRPr/>
            </a:pPr>
            <a:endParaRPr lang="en-US" sz="2800" dirty="0" smtClean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800" dirty="0" smtClean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800" dirty="0" smtClean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Strategic Management</a:t>
            </a:r>
            <a:r>
              <a:rPr 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44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11277599" cy="48768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Includes 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-  Chairman/Managing Director (MD)/Chief 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  Executive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Officer (CEO)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  Board of Directors (BOD)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Develop organizational goals and strategic objectives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E.g. starting a new branch of company or introducing a new product in the market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dirty="0" smtClean="0"/>
              <a:t>   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77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Tactical Management</a:t>
            </a: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111252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Managers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who develop medium range policies, plans, schedules,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budgets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Departmental managers e.g. HR Manager, Accounts Manager etc.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E.g. For a new branch how many staff , or for a new product how much investment is required by the company</a:t>
            </a:r>
          </a:p>
          <a:p>
            <a:pPr eaLnBrk="1" hangingPunct="1">
              <a:defRPr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97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Operational Management</a:t>
            </a: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11353800" cy="4297364"/>
          </a:xfrm>
        </p:spPr>
        <p:txBody>
          <a:bodyPr/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Managers /Supervisors who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develop short range plans &amp; run their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departments.</a:t>
            </a:r>
          </a:p>
          <a:p>
            <a:pPr eaLnBrk="1" hangingPunct="1">
              <a:buNone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e.g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a factory manager makes weekly production schedules, or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checks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performance of factory workers etc.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eaLnBrk="1" hangingPunct="1">
              <a:defRPr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 bwMode="auto">
          <a:xfrm>
            <a:off x="392277" y="228600"/>
            <a:ext cx="9589923" cy="914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Management Level Pyramid</a:t>
            </a:r>
          </a:p>
        </p:txBody>
      </p:sp>
      <p:pic>
        <p:nvPicPr>
          <p:cNvPr id="5" name="Content Placeholder 3" descr="http://wikieducator.org/images/thumb/9/9f/Managementpyramid1.jpg/400px-Managementpyramid1.jpg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10820400" cy="4572000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Basic Elements of HRM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10972800" cy="4651375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sz="2800" dirty="0">
                <a:latin typeface="Arial" pitchFamily="34" charset="0"/>
                <a:cs typeface="Arial" pitchFamily="34" charset="0"/>
              </a:rPr>
              <a:t>Maximum Utilization of Human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Resources.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Disciplined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Approach.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Shifting Employees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Attitudes.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Team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Work.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2800" dirty="0">
                <a:latin typeface="Arial" pitchFamily="34" charset="0"/>
                <a:cs typeface="Arial" pitchFamily="34" charset="0"/>
              </a:rPr>
              <a:t>Performance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Appraisals.</a:t>
            </a:r>
            <a:endParaRPr lang="en-US" alt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2800" dirty="0">
                <a:latin typeface="Arial" pitchFamily="34" charset="0"/>
                <a:cs typeface="Arial" pitchFamily="34" charset="0"/>
              </a:rPr>
              <a:t>Training and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Development.</a:t>
            </a:r>
            <a:endParaRPr lang="en-US" alt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Health and Safety at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Work.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Workplace accidents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injuries.</a:t>
            </a:r>
            <a:r>
              <a:rPr lang="en-US" altLang="en-US" sz="2800" b="1" dirty="0"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2800" b="1" dirty="0">
                <a:latin typeface="Arial" pitchFamily="34" charset="0"/>
                <a:cs typeface="Arial" pitchFamily="34" charset="0"/>
              </a:rPr>
            </a:b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 bwMode="auto">
          <a:xfrm>
            <a:off x="533400" y="0"/>
            <a:ext cx="1007364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Maximum Utilization of Human Resources</a:t>
            </a:r>
            <a:b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endParaRPr lang="en-US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200"/>
            <a:ext cx="11125200" cy="4267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information technology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environment,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it  is  the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prime responsibility of IT manager to distribute balanced responsibilities to all the IT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staff.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400" u="sng" dirty="0" smtClean="0">
                <a:latin typeface="Arial" pitchFamily="34" charset="0"/>
                <a:cs typeface="Arial" pitchFamily="34" charset="0"/>
              </a:rPr>
              <a:t>Balanced </a:t>
            </a:r>
            <a:r>
              <a:rPr lang="en-US" sz="2400" u="sng" dirty="0">
                <a:latin typeface="Arial" pitchFamily="34" charset="0"/>
                <a:cs typeface="Arial" pitchFamily="34" charset="0"/>
              </a:rPr>
              <a:t>responsibilities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means that nobody should be idle or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over-burdened.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The prime responsibility of Software (Project)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Managers  is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to make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sure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that software developers complete their tasks within specified time frames</a:t>
            </a:r>
            <a:br>
              <a:rPr lang="en-US" sz="2400" dirty="0" smtClean="0">
                <a:latin typeface="Arial" pitchFamily="34" charset="0"/>
                <a:cs typeface="Arial" pitchFamily="34" charset="0"/>
              </a:rPr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Disciplined Approach</a:t>
            </a:r>
            <a:br>
              <a:rPr 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endParaRPr lang="en-US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01400" cy="4776788"/>
          </a:xfrm>
        </p:spPr>
        <p:txBody>
          <a:bodyPr>
            <a:normAutofit fontScale="55000" lnSpcReduction="20000"/>
          </a:bodyPr>
          <a:lstStyle/>
          <a:p>
            <a:pPr>
              <a:buNone/>
              <a:defRPr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The problems associated with management in an information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technology</a:t>
            </a:r>
          </a:p>
          <a:p>
            <a:pPr>
              <a:buNone/>
              <a:defRPr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environment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require :-</a:t>
            </a:r>
          </a:p>
          <a:p>
            <a:pPr>
              <a:buNone/>
              <a:defRPr/>
            </a:pPr>
            <a:endParaRPr lang="en-US" sz="4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utilization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personnel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development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, education and training of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employees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construction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of comprehensive human resource </a:t>
            </a:r>
            <a:endParaRPr lang="en-US" sz="4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management policies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These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are not only important for immediate needs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but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also mandatory for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medium  and long-term corporate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requirements</a:t>
            </a:r>
            <a:br>
              <a:rPr lang="en-US" sz="4400" dirty="0" smtClean="0">
                <a:latin typeface="Arial" pitchFamily="34" charset="0"/>
                <a:cs typeface="Arial" pitchFamily="34" charset="0"/>
              </a:rPr>
            </a:br>
            <a:r>
              <a:rPr lang="en-US" sz="3800" dirty="0" smtClean="0"/>
              <a:t/>
            </a:r>
            <a:br>
              <a:rPr lang="en-US" sz="3800" dirty="0" smtClean="0"/>
            </a:br>
            <a:r>
              <a:rPr lang="en-US" sz="3800" dirty="0" smtClean="0"/>
              <a:t/>
            </a:r>
            <a:br>
              <a:rPr lang="en-US" sz="38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8509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Shifting Employees Attitudes</a:t>
            </a:r>
            <a:endParaRPr lang="en-US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11201400" cy="44958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real challenge is to shift employee attitudes towards more commitment and self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motivation.</a:t>
            </a:r>
          </a:p>
          <a:p>
            <a:pPr>
              <a:buNone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This requires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develop discipline in attendance, flexibility, </a:t>
            </a:r>
            <a:br>
              <a:rPr lang="en-US" sz="2800" dirty="0">
                <a:latin typeface="Arial" pitchFamily="34" charset="0"/>
                <a:cs typeface="Arial" pitchFamily="34" charset="0"/>
              </a:rPr>
            </a:br>
            <a:r>
              <a:rPr lang="en-US" sz="2800" dirty="0">
                <a:latin typeface="Arial" pitchFamily="34" charset="0"/>
                <a:cs typeface="Arial" pitchFamily="34" charset="0"/>
              </a:rPr>
              <a:t>  responsibility and efficient productive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work.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Team Work</a:t>
            </a:r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77600" cy="4648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Team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working  is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vital  element  because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teams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complete  projects  not individuals.</a:t>
            </a:r>
          </a:p>
          <a:p>
            <a:pPr>
              <a:buNone/>
              <a:defRPr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Direct and regular face-to-face contact between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managers  and  workers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is necessary. This builds trust and helps maintain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motivation.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  <a:defRPr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Performance Appraisals</a:t>
            </a:r>
            <a:b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endParaRPr lang="en-US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11277599" cy="4343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performance  of  each  and  every employee 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is measured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3000" dirty="0" smtClean="0">
                <a:latin typeface="Arial" pitchFamily="34" charset="0"/>
                <a:cs typeface="Arial" pitchFamily="34" charset="0"/>
              </a:rPr>
            </a:br>
            <a:r>
              <a:rPr lang="en-US" sz="3000" dirty="0" smtClean="0">
                <a:latin typeface="Arial" pitchFamily="34" charset="0"/>
                <a:cs typeface="Arial" pitchFamily="34" charset="0"/>
              </a:rPr>
              <a:t> throughout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the year as well as their loyalty with the company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is</a:t>
            </a:r>
            <a:br>
              <a:rPr lang="en-US" sz="3000" dirty="0" smtClean="0">
                <a:latin typeface="Arial" pitchFamily="34" charset="0"/>
                <a:cs typeface="Arial" pitchFamily="34" charset="0"/>
              </a:rPr>
            </a:br>
            <a:r>
              <a:rPr lang="en-US" sz="3000" dirty="0" smtClean="0">
                <a:latin typeface="Arial" pitchFamily="34" charset="0"/>
                <a:cs typeface="Arial" pitchFamily="34" charset="0"/>
              </a:rPr>
              <a:t> observed.</a:t>
            </a:r>
            <a:endParaRPr lang="en-US" sz="3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 This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task is the responsibility of strategic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management.</a:t>
            </a:r>
            <a:endParaRPr lang="en-US" sz="3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 Promotions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and honorariums are given to eligible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employees.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969264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Training and Development</a:t>
            </a:r>
            <a:r>
              <a:rPr lang="en-US" altLang="en-US" sz="4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02228"/>
            <a:ext cx="11277599" cy="495095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Although universities are providing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IT  and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computing courses, 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candidates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still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require  additional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up-to-date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training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programs to stand with industry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standards.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These programs include latest technological developments including new hardware, software and computer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languages.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 IT  departments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should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also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engage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employees  in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communication skill courses and business and management related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programs.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Health and Safety at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11353800" cy="4648200"/>
          </a:xfrm>
        </p:spPr>
        <p:txBody>
          <a:bodyPr>
            <a:normAutofit fontScale="70000" lnSpcReduction="20000"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Health and safety at work usually only hits the headlines when there is a major 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disaster.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many high risk areas, the safety systems themselves are often computer 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controlled.</a:t>
            </a: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large number of employees throughout the world die as a result of accidents at 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work.</a:t>
            </a: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Health 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and safety act was first introduced in the year 1974 in USA.  </a:t>
            </a:r>
            <a:br>
              <a:rPr lang="en-US" sz="4000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984504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Workplace accidents and injuries</a:t>
            </a:r>
            <a:b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11201400" cy="44958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Slips </a:t>
            </a:r>
            <a:r>
              <a:rPr lang="en-US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falls.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Muscle strains.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Being </a:t>
            </a:r>
            <a:r>
              <a:rPr lang="en-US" dirty="0">
                <a:latin typeface="Arial" pitchFamily="34" charset="0"/>
                <a:cs typeface="Arial" pitchFamily="34" charset="0"/>
              </a:rPr>
              <a:t>hit by falling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objects.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Repetitive </a:t>
            </a:r>
            <a:r>
              <a:rPr lang="en-US" dirty="0">
                <a:latin typeface="Arial" pitchFamily="34" charset="0"/>
                <a:cs typeface="Arial" pitchFamily="34" charset="0"/>
              </a:rPr>
              <a:t>strain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injury and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depression.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Crashes </a:t>
            </a:r>
            <a:r>
              <a:rPr lang="en-US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collisions.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Cuts </a:t>
            </a:r>
            <a:r>
              <a:rPr lang="en-US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scratches.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Inhaling </a:t>
            </a:r>
            <a:r>
              <a:rPr lang="en-US" dirty="0">
                <a:latin typeface="Arial" pitchFamily="34" charset="0"/>
                <a:cs typeface="Arial" pitchFamily="34" charset="0"/>
              </a:rPr>
              <a:t>toxic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fumes.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                   </a:t>
            </a:r>
            <a:r>
              <a:rPr lang="en-US" sz="96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en-US" sz="9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1719</TotalTime>
  <Words>566</Words>
  <Application>Microsoft Office PowerPoint</Application>
  <PresentationFormat>Custom</PresentationFormat>
  <Paragraphs>97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Civic</vt:lpstr>
      <vt:lpstr>       Professional Practices                   week 9,10</vt:lpstr>
      <vt:lpstr>Human Resource Management (HRM) </vt:lpstr>
      <vt:lpstr>Responsibility of HRM  </vt:lpstr>
      <vt:lpstr>Management</vt:lpstr>
      <vt:lpstr>Strategic Management </vt:lpstr>
      <vt:lpstr>Tactical Management</vt:lpstr>
      <vt:lpstr>Operational Management</vt:lpstr>
      <vt:lpstr>Management Level Pyramid</vt:lpstr>
      <vt:lpstr>Basic Elements of HRM</vt:lpstr>
      <vt:lpstr>Maximum Utilization of Human Resources  </vt:lpstr>
      <vt:lpstr>Disciplined Approach   </vt:lpstr>
      <vt:lpstr>Shifting Employees Attitudes</vt:lpstr>
      <vt:lpstr>Team Work </vt:lpstr>
      <vt:lpstr>Performance Appraisals  </vt:lpstr>
      <vt:lpstr>Training and Development  </vt:lpstr>
      <vt:lpstr>Health and Safety at Work</vt:lpstr>
      <vt:lpstr>Workplace accidents and injuries 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Week 1- Profession</dc:title>
  <dc:creator>Faraz Khan</dc:creator>
  <cp:lastModifiedBy>Faraz Khan</cp:lastModifiedBy>
  <cp:revision>168</cp:revision>
  <dcterms:created xsi:type="dcterms:W3CDTF">2023-10-12T07:59:10Z</dcterms:created>
  <dcterms:modified xsi:type="dcterms:W3CDTF">2024-02-11T02:46:23Z</dcterms:modified>
</cp:coreProperties>
</file>