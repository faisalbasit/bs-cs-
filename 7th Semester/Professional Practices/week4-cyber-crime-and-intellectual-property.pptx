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75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9" r:id="rId24"/>
    <p:sldId id="274" r:id="rId25"/>
  </p:sldIdLst>
  <p:sldSz cx="118872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64" y="-96"/>
      </p:cViewPr>
      <p:guideLst>
        <p:guide orient="horz" pos="2160"/>
        <p:guide pos="374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4F12-7F55-4EE2-A832-F284432F2B1A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685800"/>
            <a:ext cx="59436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412AE-8F67-4BC5-91DD-088A048550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689080" y="3048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83080" y="2819400"/>
            <a:ext cx="832104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202085" y="2420112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5547360" y="2115312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5670197" y="2209800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646420" y="2199452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91540" y="381000"/>
            <a:ext cx="1010412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70195" y="1026375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92277" y="1527048"/>
            <a:ext cx="1105509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689080" y="1905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98121" y="2286000"/>
            <a:ext cx="11483035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2085" y="142352"/>
            <a:ext cx="11483035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956" y="2743202"/>
            <a:ext cx="8424228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98121" y="2438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5547360" y="2115312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5670197" y="2209800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46420" y="2199452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533400"/>
            <a:ext cx="1010412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277" y="228600"/>
            <a:ext cx="1109472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8560" y="6409944"/>
            <a:ext cx="3958437" cy="365760"/>
          </a:xfrm>
        </p:spPr>
        <p:txBody>
          <a:bodyPr/>
          <a:lstStyle/>
          <a:p>
            <a:fld id="{8338D26A-531F-4A0F-A30D-3D4014FA1F1E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5932006" y="1575654"/>
            <a:ext cx="11598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92277" y="1371600"/>
            <a:ext cx="525018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240780" y="1371600"/>
            <a:ext cx="525018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59436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18872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98121" y="1371600"/>
            <a:ext cx="11483035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89702" y="6391656"/>
            <a:ext cx="11483035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8" y="1524000"/>
            <a:ext cx="5252245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28730" y="1524000"/>
            <a:ext cx="5254308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96240" y="6409944"/>
            <a:ext cx="46558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98121" y="128016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92277" y="2471383"/>
            <a:ext cx="5254143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240780" y="2471383"/>
            <a:ext cx="525018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5547360" y="956036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5670197" y="1050524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646420" y="1042419"/>
            <a:ext cx="594360" cy="441325"/>
          </a:xfrm>
        </p:spPr>
        <p:txBody>
          <a:bodyPr/>
          <a:lstStyle>
            <a:lvl1pPr algn="ctr">
              <a:defRPr/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646420" y="1036022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18872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8121" y="158496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547360" y="6324600"/>
            <a:ext cx="79248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98121" y="152400"/>
            <a:ext cx="11483035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98120" y="609600"/>
            <a:ext cx="356616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914400"/>
            <a:ext cx="307086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5300" y="1981203"/>
            <a:ext cx="307086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98121" y="533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061460" y="685800"/>
            <a:ext cx="733044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684020" y="228600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806854" y="323088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83080" y="312740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2277" y="6410848"/>
            <a:ext cx="4398264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98121" y="533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98121" y="152400"/>
            <a:ext cx="11483035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98120" y="609600"/>
            <a:ext cx="356616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684020" y="228600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806854" y="323088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83080" y="312740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0488" y="5029200"/>
            <a:ext cx="762762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900488" y="609600"/>
            <a:ext cx="762762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990600"/>
            <a:ext cx="316992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4598" y="6404984"/>
            <a:ext cx="3958437" cy="365760"/>
          </a:xfrm>
        </p:spPr>
        <p:txBody>
          <a:bodyPr/>
          <a:lstStyle/>
          <a:p>
            <a:fld id="{8338D26A-531F-4A0F-A30D-3D4014FA1F1E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2277" y="6410848"/>
            <a:ext cx="4659783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113520" y="0"/>
            <a:ext cx="277368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18872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6165189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891625" y="2925763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9014461" y="3020251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0685" y="3009904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240" y="304800"/>
            <a:ext cx="851916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08820" y="304804"/>
            <a:ext cx="18821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2"/>
            <a:ext cx="118872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528560" y="6404984"/>
            <a:ext cx="3958437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8338D26A-531F-4A0F-A30D-3D4014FA1F1E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96240" y="6410848"/>
            <a:ext cx="465582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98121" y="1276743"/>
            <a:ext cx="1148303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5547360" y="956036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5670197" y="1050524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646420" y="1040177"/>
            <a:ext cx="59436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92277" y="228600"/>
            <a:ext cx="1109472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92277" y="1524000"/>
            <a:ext cx="1109472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2514600"/>
            <a:ext cx="10363200" cy="3657600"/>
          </a:xfrm>
        </p:spPr>
        <p:txBody>
          <a:bodyPr>
            <a:normAutofit/>
          </a:bodyPr>
          <a:lstStyle/>
          <a:p>
            <a:pPr algn="l">
              <a:defRPr/>
            </a:pPr>
            <a:endParaRPr lang="en-US" sz="2000" b="0" dirty="0" smtClean="0">
              <a:latin typeface="Arial" pitchFamily="34" charset="0"/>
              <a:cs typeface="Arial" pitchFamily="34" charset="0"/>
            </a:endParaRP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cap="none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CYBER CRIME.</a:t>
            </a:r>
            <a:endParaRPr lang="en-US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Forms of cyber crime.</a:t>
            </a: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Hacking vs cracking.</a:t>
            </a: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intellectual property.</a:t>
            </a: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types of intellectual property.</a:t>
            </a:r>
          </a:p>
          <a:p>
            <a:pPr algn="l">
              <a:buFont typeface="Wingdings" pitchFamily="2" charset="2"/>
              <a:buChar char="q"/>
              <a:defRPr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52400"/>
            <a:ext cx="11506200" cy="1676400"/>
          </a:xfrm>
        </p:spPr>
        <p:txBody>
          <a:bodyPr>
            <a:noAutofit/>
          </a:bodyPr>
          <a:lstStyle/>
          <a:p>
            <a:pPr algn="l"/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fr-FR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Professional Practices- week4</a:t>
            </a:r>
            <a:r>
              <a:rPr lang="fr-FR" altLang="en-US" sz="40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fr-FR" altLang="en-US" sz="4000" b="1" dirty="0" smtClean="0">
                <a:latin typeface="Arial" pitchFamily="34" charset="0"/>
                <a:cs typeface="Arial" pitchFamily="34" charset="0"/>
              </a:rPr>
            </a:br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Cyber Crime, Intellectuel property</a:t>
            </a:r>
            <a:endParaRPr lang="fr-FR" altLang="en-US" sz="40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 descr="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381000"/>
            <a:ext cx="1676400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000" b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Cyber Crime</a:t>
            </a:r>
            <a:endParaRPr 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594360" y="981076"/>
            <a:ext cx="10698480" cy="504031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endParaRPr lang="en-US" sz="44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We can define cyber crime as :-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Any  kind of crime or  criminal  act  in  which a computer /Mobile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/cellular phone/tablet/landline phone is used as the principal tool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	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Forms of Cyber Crime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04800" y="1752599"/>
            <a:ext cx="11201400" cy="4572001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Fraud.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Embezzlement.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Software/Information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Sabotage.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Information (Data)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Theft.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Hacking and Cracking.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Digital Forgery.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7778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Fraud 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11430000" cy="434498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Wrongful or criminal act intended to result in financial or personal gain.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:-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A bank staff or bank accountant gets the money for salary of  staff  in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his account from bank and runs away.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 smtClean="0"/>
              <a:t>-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A cashier takes cash from super market and don’t put amount in POS</a:t>
            </a:r>
            <a:br>
              <a:rPr lang="en-US" dirty="0" smtClean="0">
                <a:latin typeface="Arial" pitchFamily="34" charset="0"/>
                <a:cs typeface="Arial" pitchFamily="34" charset="0"/>
              </a:rPr>
            </a:br>
            <a:r>
              <a:rPr lang="en-US" dirty="0" smtClean="0">
                <a:latin typeface="Arial" pitchFamily="34" charset="0"/>
                <a:cs typeface="Arial" pitchFamily="34" charset="0"/>
              </a:rPr>
              <a:t>  terminal etc..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7064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Embezzlement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00200"/>
            <a:ext cx="10698480" cy="4421188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when someone with money-handling duties accepts a payment but doesn't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enter  the  transaction  in  computer,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keeps the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money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himself. </a:t>
            </a:r>
          </a:p>
          <a:p>
            <a:pPr marL="0" indent="0"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Example:-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/>
              <a:t>-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 cashier takes cash from super market and don’t put amount in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POS terminal etc..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 bwMode="auto">
          <a:xfrm>
            <a:off x="716280" y="231648"/>
            <a:ext cx="10942320" cy="98755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Fraud and Embezzlement up to Dec 2022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04800" y="1752600"/>
            <a:ext cx="11353800" cy="426878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  <a:defRPr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Losses from credit card fraud about - $2 ~ $6 billion per year.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ATM fraud accounts losses - about $80 million a year.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Telecommunications frauds - $2 to $11 billion each 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5635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Software/Information Sabotage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11201400" cy="4800600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An intentional attempt to damage (corrupt) a software or data.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E.g. Infecting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website.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Sending virus to hit MBR or EXE file.</a:t>
            </a:r>
          </a:p>
          <a:p>
            <a:pPr>
              <a:buFont typeface="Wingdings" pitchFamily="2" charset="2"/>
              <a:buChar char="q"/>
              <a:defRPr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Information (Data) Theft</a:t>
            </a:r>
            <a:endParaRPr 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11506200" cy="4724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It is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 the illegal transfer or storage of personal, confidential, or financial information. 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This is done by disclosing IDs, keys  or  passwords  OR  unauthorized access to computers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Infecting someone’s used id or password.</a:t>
            </a:r>
          </a:p>
          <a:p>
            <a:pPr>
              <a:buNone/>
              <a:defRPr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5635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Hacking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11353800" cy="5029200"/>
          </a:xfrm>
        </p:spPr>
        <p:txBody>
          <a:bodyPr/>
          <a:lstStyle/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It is an attempt to get information of a computer system or a computer network.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It is the unauthorized access to a computer and its information or a computer network for some illegal purpose.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 person who performs hacking is called a Hacker.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Hacking is performed by using computer programs.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Hackers are intelligent computer programmers using their minds negatively.</a:t>
            </a:r>
          </a:p>
          <a:p>
            <a:pPr>
              <a:defRPr/>
            </a:pPr>
            <a:endParaRPr lang="en-US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7159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Cracking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11277600" cy="4572000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Cracking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 Try to get into computer systems in order to steal, corrupt, or illegally view data. 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 person who performs cracking is called a 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Cracker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Crackers are not computer programmers, they use other techniques to break user ID Codes, Pin Codes and Passwords.</a:t>
            </a:r>
          </a:p>
          <a:p>
            <a:pPr>
              <a:defRPr/>
            </a:pPr>
            <a:endParaRPr lang="en-US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4873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Hacking VS Cracking 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11125200" cy="4800600"/>
          </a:xfrm>
        </p:spPr>
        <p:txBody>
          <a:bodyPr/>
          <a:lstStyle/>
          <a:p>
            <a:pPr>
              <a:defRPr/>
            </a:pPr>
            <a:r>
              <a:rPr lang="en-US" sz="2800" dirty="0" smtClean="0"/>
              <a:t>In Hacking, hackers access computer systems or networks but they may or may not harm.</a:t>
            </a:r>
          </a:p>
          <a:p>
            <a:pPr>
              <a:defRPr/>
            </a:pPr>
            <a:r>
              <a:rPr lang="en-US" sz="2800" dirty="0" smtClean="0"/>
              <a:t>In Cracking, crackers access computer systems to steal, corrupt, or illegally view data. </a:t>
            </a:r>
          </a:p>
          <a:p>
            <a:pPr>
              <a:defRPr/>
            </a:pPr>
            <a:r>
              <a:rPr lang="en-US" sz="2800" dirty="0" smtClean="0"/>
              <a:t>Hackers are computer programmers but Crackers are not.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Example of Hacking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11201400" cy="5029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CAM4 Data Breach. Date: March 2020. ...</a:t>
            </a:r>
          </a:p>
          <a:p>
            <a:pPr>
              <a:buFont typeface="Wingdings" pitchFamily="2" charset="2"/>
              <a:buChar char="q"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Yahoo Data Breach (2017) Date: October 2017. ...</a:t>
            </a:r>
          </a:p>
          <a:p>
            <a:pPr>
              <a:buFont typeface="Wingdings" pitchFamily="2" charset="2"/>
              <a:buChar char="q"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Alibaba Data Breach. ...</a:t>
            </a:r>
          </a:p>
          <a:p>
            <a:pPr>
              <a:buFont typeface="Wingdings" pitchFamily="2" charset="2"/>
              <a:buChar char="q"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First American Financial Corporation Data Breach. ...</a:t>
            </a:r>
          </a:p>
          <a:p>
            <a:pPr>
              <a:buFont typeface="Wingdings" pitchFamily="2" charset="2"/>
              <a:buChar char="q"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Verifications.io Data Breach. ...</a:t>
            </a:r>
          </a:p>
          <a:p>
            <a:pPr>
              <a:buFont typeface="Wingdings" pitchFamily="2" charset="2"/>
              <a:buChar char="q"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LinkedIn Data Breach (2021) ...</a:t>
            </a:r>
          </a:p>
          <a:p>
            <a:pPr>
              <a:buFont typeface="Wingdings" pitchFamily="2" charset="2"/>
              <a:buChar char="q"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Facebook Data Breach (2019)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Digital Forgery (Digital Tampering</a:t>
            </a:r>
            <a:r>
              <a:rPr lang="en-US" sz="4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11425397" cy="5029200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It is the process of manipulating documents or images for the purpose of financial, social or political gain.</a:t>
            </a:r>
          </a:p>
          <a:p>
            <a:pPr algn="just"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It is the criminal act that provides misleading information about a product or service.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5619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Security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1524000"/>
            <a:ext cx="11277600" cy="4876800"/>
          </a:xfrm>
        </p:spPr>
        <p:txBody>
          <a:bodyPr/>
          <a:lstStyle/>
          <a:p>
            <a:pPr algn="just">
              <a:buFont typeface="Wingdings" pitchFamily="2" charset="2"/>
              <a:buChar char="q"/>
              <a:defRPr/>
            </a:pPr>
            <a:r>
              <a:rPr lang="en-US" dirty="0" smtClean="0"/>
              <a:t>Electronically </a:t>
            </a:r>
            <a:r>
              <a:rPr lang="en-US" dirty="0"/>
              <a:t>track and record the access to, and activities of, the various users of a computer </a:t>
            </a:r>
            <a:r>
              <a:rPr lang="en-US" dirty="0" smtClean="0"/>
              <a:t>system with the help of servers.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dirty="0" smtClean="0"/>
              <a:t>Assign </a:t>
            </a:r>
            <a:r>
              <a:rPr lang="en-US" dirty="0"/>
              <a:t>an </a:t>
            </a:r>
            <a:r>
              <a:rPr lang="en-US" dirty="0" smtClean="0"/>
              <a:t>individual ID and password</a:t>
            </a:r>
            <a:r>
              <a:rPr lang="en-US" dirty="0"/>
              <a:t> to each </a:t>
            </a:r>
            <a:r>
              <a:rPr lang="en-US" dirty="0" smtClean="0"/>
              <a:t>user of the  system.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dirty="0" smtClean="0"/>
              <a:t>Password should not be simple, it should be combination of alphabetic, numeric and special characters.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5619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Security Measures (continues)</a:t>
            </a:r>
            <a:endParaRPr 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11201400" cy="4724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Each user should change password from time to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time.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Only authorized people should be allowed to enter in servers rooms and places where computers are used.</a:t>
            </a:r>
          </a:p>
          <a:p>
            <a:pPr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Log files should be maintained of the people entering and going out of the sensitive areas having information like date, time-in, time-out, name of person, purpose etc.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7159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Intellectual Property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94360" y="2057400"/>
            <a:ext cx="10698480" cy="4419600"/>
          </a:xfrm>
        </p:spPr>
        <p:txBody>
          <a:bodyPr/>
          <a:lstStyle/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It is the creations of the human mind, whether creative or intellectual (Intelligent), such as art and designs, literary works, music, and the names, symbols, and images used in business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endParaRPr lang="en-US" sz="28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5619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Intellectual Property Examples</a:t>
            </a:r>
            <a:endParaRPr 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00200"/>
            <a:ext cx="10698480" cy="4421189"/>
          </a:xfrm>
        </p:spPr>
        <p:txBody>
          <a:bodyPr/>
          <a:lstStyle/>
          <a:p>
            <a:pPr>
              <a:buNone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Examples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Art</a:t>
            </a:r>
            <a:r>
              <a:rPr lang="en-US" dirty="0">
                <a:latin typeface="Arial" pitchFamily="34" charset="0"/>
                <a:cs typeface="Arial" pitchFamily="34" charset="0"/>
              </a:rPr>
              <a:t>: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painting.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Design</a:t>
            </a:r>
            <a:r>
              <a:rPr lang="en-US" dirty="0">
                <a:latin typeface="Arial" pitchFamily="34" charset="0"/>
                <a:cs typeface="Arial" pitchFamily="34" charset="0"/>
              </a:rPr>
              <a:t>: building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design.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Literary </a:t>
            </a:r>
            <a:r>
              <a:rPr lang="en-US" dirty="0">
                <a:latin typeface="Arial" pitchFamily="34" charset="0"/>
                <a:cs typeface="Arial" pitchFamily="34" charset="0"/>
              </a:rPr>
              <a:t>work: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novel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Music</a:t>
            </a:r>
            <a:r>
              <a:rPr lang="en-US" dirty="0">
                <a:latin typeface="Arial" pitchFamily="34" charset="0"/>
                <a:cs typeface="Arial" pitchFamily="34" charset="0"/>
              </a:rPr>
              <a:t>: new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song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Program, Flow charts, Algorithm, Book, Research Papers.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Symbol</a:t>
            </a:r>
            <a:r>
              <a:rPr lang="en-US" dirty="0">
                <a:latin typeface="Arial" pitchFamily="34" charset="0"/>
                <a:cs typeface="Arial" pitchFamily="34" charset="0"/>
              </a:rPr>
              <a:t>: red light on signal means “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STOP”.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Image</a:t>
            </a:r>
            <a:r>
              <a:rPr lang="en-US" dirty="0">
                <a:latin typeface="Arial" pitchFamily="34" charset="0"/>
                <a:cs typeface="Arial" pitchFamily="34" charset="0"/>
              </a:rPr>
              <a:t>: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scenery.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5619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Types of Intellectual Property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22437"/>
            <a:ext cx="11064240" cy="4602163"/>
          </a:xfrm>
        </p:spPr>
        <p:txBody>
          <a:bodyPr>
            <a:normAutofit/>
          </a:bodyPr>
          <a:lstStyle/>
          <a:p>
            <a:pPr marL="0" indent="0">
              <a:buFont typeface="Arial" charset="0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Intellectual Property are of four types :- 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Copyright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Trademark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Patent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Trade Secrets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5635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Copyright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11201400" cy="4724400"/>
          </a:xfrm>
        </p:spPr>
        <p:txBody>
          <a:bodyPr/>
          <a:lstStyle/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It protect items and does not allow to copy or make exactly similar items.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Applies to books, periodicals (journals, bulletins, magazines, letters etc.), songs, music, theatre productions (dramas, variety programs, talk shows etc.), movies etc.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sz="3200" dirty="0" smtClean="0"/>
          </a:p>
          <a:p>
            <a:pPr marL="0" indent="0">
              <a:buFont typeface="Arial" charset="0"/>
              <a:buNone/>
              <a:defRPr/>
            </a:pPr>
            <a:endParaRPr lang="en-US" sz="3200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Copyright 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11277600" cy="4800600"/>
          </a:xfrm>
        </p:spPr>
        <p:txBody>
          <a:bodyPr>
            <a:normAutofit/>
          </a:bodyPr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The  basic  legal  instrument  governing  copyright  law  in  Pakistan  is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the  Copyright  Ordinance,  1962  as  amended  by  the  Copyright (Amendment) Ordinance, 2000.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5635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Trademark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11425397" cy="4648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It is a exclusive symbol used for an item or company.</a:t>
            </a: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E.g. trademark of McDonald’s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Trademark speaks of the product itself.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It is illegal to copy a trademark, hence a person or company can file a case in the court against the copier.</a:t>
            </a:r>
          </a:p>
        </p:txBody>
      </p:sp>
      <p:pic>
        <p:nvPicPr>
          <p:cNvPr id="46084" name="Picture 2" descr="C:\Users\student\Desktop\temp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10700" y="2100263"/>
            <a:ext cx="1155700" cy="658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5635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Patent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304801" y="1676400"/>
            <a:ext cx="11256328" cy="48006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 government authority permits to produce a specific item, so that the producer can make, use, and sell for a specific time period. 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Only the party who has been given permission can do the business of that item, no other party is allowed to make, use or sell the item.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Example 1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:- “Jam-e-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Shirin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” is produced by Qarshi.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Example 2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:- “Rooh Afza” is produced by  “Hamdard Pakistan”, as Pakistani government has given permission to produce it.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Example 3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:- “Student Biryani”, “Mazaidar Haleem” etc..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Trade Secret 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594360" y="1524000"/>
            <a:ext cx="10698480" cy="4497389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If a company can keep a trade secret, it will have exclusive rights to that product forever.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Generally the trade secrets are the formulas which make a product excusive than other products. </a:t>
            </a:r>
            <a:endParaRPr lang="en-US" sz="36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 The longest running trade secret is the formula for Coca-Cola. The Coca-Cola Corporation never applied for a patent. They relied on their trademark secret. Although many companies have tried to produce the taste of Coca-Cola but failed to do so.</a:t>
            </a:r>
          </a:p>
          <a:p>
            <a:pPr algn="just">
              <a:buFont typeface="Wingdings" pitchFamily="2" charset="2"/>
              <a:buChar char="q"/>
              <a:defRPr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sz="6000" dirty="0" smtClean="0">
                <a:latin typeface="Arial" pitchFamily="34" charset="0"/>
                <a:cs typeface="Arial" pitchFamily="34" charset="0"/>
              </a:rPr>
              <a:t>                   </a:t>
            </a:r>
            <a:r>
              <a:rPr lang="en-US" sz="96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END</a:t>
            </a:r>
            <a:endParaRPr lang="en-US" sz="9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2254</TotalTime>
  <Words>927</Words>
  <Application>Microsoft Office PowerPoint</Application>
  <PresentationFormat>Custom</PresentationFormat>
  <Paragraphs>111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Civic</vt:lpstr>
      <vt:lpstr>       Professional Practices- week4    Cyber Crime, Intellectuel property</vt:lpstr>
      <vt:lpstr>Cyber Crime</vt:lpstr>
      <vt:lpstr>Forms of Cyber Crime</vt:lpstr>
      <vt:lpstr>Fraud </vt:lpstr>
      <vt:lpstr>Embezzlement</vt:lpstr>
      <vt:lpstr>Fraud and Embezzlement up to Dec 2022</vt:lpstr>
      <vt:lpstr>Software/Information Sabotage</vt:lpstr>
      <vt:lpstr>Information (Data) Theft</vt:lpstr>
      <vt:lpstr>Hacking</vt:lpstr>
      <vt:lpstr>Cracking</vt:lpstr>
      <vt:lpstr>Hacking VS Cracking </vt:lpstr>
      <vt:lpstr>Example of Hacking</vt:lpstr>
      <vt:lpstr>Digital Forgery (Digital Tampering)</vt:lpstr>
      <vt:lpstr>Security Measures</vt:lpstr>
      <vt:lpstr>Security Measures (continues)</vt:lpstr>
      <vt:lpstr>Intellectual Property</vt:lpstr>
      <vt:lpstr>Intellectual Property Examples</vt:lpstr>
      <vt:lpstr>Types of Intellectual Property </vt:lpstr>
      <vt:lpstr>Copyright</vt:lpstr>
      <vt:lpstr>Copyright Act</vt:lpstr>
      <vt:lpstr>Trademark</vt:lpstr>
      <vt:lpstr>Patent</vt:lpstr>
      <vt:lpstr>Trade Secret </vt:lpstr>
      <vt:lpstr>Slide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Practices Week 1- Profession</dc:title>
  <dc:creator>Faraz Khan</dc:creator>
  <cp:lastModifiedBy>Faraz Khan</cp:lastModifiedBy>
  <cp:revision>221</cp:revision>
  <dcterms:created xsi:type="dcterms:W3CDTF">2023-10-12T07:59:10Z</dcterms:created>
  <dcterms:modified xsi:type="dcterms:W3CDTF">2024-01-20T13:02:46Z</dcterms:modified>
</cp:coreProperties>
</file>