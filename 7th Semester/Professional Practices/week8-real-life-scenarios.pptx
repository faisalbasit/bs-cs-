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98" r:id="rId3"/>
    <p:sldId id="299" r:id="rId4"/>
    <p:sldId id="296" r:id="rId5"/>
    <p:sldId id="297" r:id="rId6"/>
    <p:sldId id="302" r:id="rId7"/>
    <p:sldId id="303" r:id="rId8"/>
    <p:sldId id="300" r:id="rId9"/>
    <p:sldId id="301" r:id="rId10"/>
    <p:sldId id="304" r:id="rId11"/>
    <p:sldId id="305" r:id="rId12"/>
    <p:sldId id="306" r:id="rId13"/>
    <p:sldId id="307" r:id="rId14"/>
    <p:sldId id="308" r:id="rId15"/>
    <p:sldId id="309" r:id="rId16"/>
    <p:sldId id="274" r:id="rId17"/>
  </p:sldIdLst>
  <p:sldSz cx="118872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inimized" horzBarState="maximized">
    <p:restoredLeft sz="34559" autoAdjust="0"/>
    <p:restoredTop sz="86380" autoAdjust="0"/>
  </p:normalViewPr>
  <p:slideViewPr>
    <p:cSldViewPr>
      <p:cViewPr varScale="1">
        <p:scale>
          <a:sx n="73" d="100"/>
          <a:sy n="73" d="100"/>
        </p:scale>
        <p:origin x="-1152" y="-102"/>
      </p:cViewPr>
      <p:guideLst>
        <p:guide orient="horz" pos="2160"/>
        <p:guide pos="3744"/>
      </p:guideLst>
    </p:cSldViewPr>
  </p:slideViewPr>
  <p:outlineViewPr>
    <p:cViewPr>
      <p:scale>
        <a:sx n="33" d="100"/>
        <a:sy n="33" d="100"/>
      </p:scale>
      <p:origin x="240" y="29924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B24F12-7F55-4EE2-A832-F284432F2B1A}" type="datetimeFigureOut">
              <a:rPr lang="en-US" smtClean="0"/>
              <a:pPr/>
              <a:t>2/11/2024</a:t>
            </a:fld>
            <a:endParaRPr lang="en-US"/>
          </a:p>
        </p:txBody>
      </p:sp>
      <p:sp>
        <p:nvSpPr>
          <p:cNvPr id="4" name="Slide Image Placeholder 3"/>
          <p:cNvSpPr>
            <a:spLocks noGrp="1" noRot="1" noChangeAspect="1"/>
          </p:cNvSpPr>
          <p:nvPr>
            <p:ph type="sldImg" idx="2"/>
          </p:nvPr>
        </p:nvSpPr>
        <p:spPr>
          <a:xfrm>
            <a:off x="457200" y="685800"/>
            <a:ext cx="59436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3412AE-8F67-4BC5-91DD-088A048550E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73412AE-8F67-4BC5-91DD-088A048550E2}" type="slidenum">
              <a:rPr lang="en-US" smtClean="0"/>
              <a:pPr/>
              <a:t>13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689080" y="3048"/>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18872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90197" y="6391659"/>
            <a:ext cx="11483035"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783080" y="2819400"/>
            <a:ext cx="832104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8338D26A-531F-4A0F-A30D-3D4014FA1F1E}" type="datetimeFigureOut">
              <a:rPr lang="en-US" smtClean="0"/>
              <a:pPr/>
              <a:t>2/11/2024</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202085" y="2420112"/>
            <a:ext cx="11483035"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98121" y="152400"/>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5547360" y="2115312"/>
            <a:ext cx="79248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5670197" y="2209800"/>
            <a:ext cx="546811"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5646420" y="2199452"/>
            <a:ext cx="594360" cy="441325"/>
          </a:xfrm>
        </p:spPr>
        <p:txBody>
          <a:bodyPr/>
          <a:lstStyle>
            <a:lvl1pPr>
              <a:defRPr>
                <a:solidFill>
                  <a:schemeClr val="accent3">
                    <a:shade val="75000"/>
                  </a:schemeClr>
                </a:solidFill>
              </a:defRPr>
            </a:lvl1pPr>
          </a:lstStyle>
          <a:p>
            <a:fld id="{3EF83B2C-F299-4DEF-A81D-E1A789A0057E}" type="slidenum">
              <a:rPr lang="en-US" smtClean="0"/>
              <a:pPr/>
              <a:t>‹#›</a:t>
            </a:fld>
            <a:endParaRPr lang="en-US"/>
          </a:p>
        </p:txBody>
      </p:sp>
      <p:sp>
        <p:nvSpPr>
          <p:cNvPr id="8" name="Title 7"/>
          <p:cNvSpPr>
            <a:spLocks noGrp="1"/>
          </p:cNvSpPr>
          <p:nvPr>
            <p:ph type="ctrTitle"/>
          </p:nvPr>
        </p:nvSpPr>
        <p:spPr>
          <a:xfrm>
            <a:off x="891540" y="381000"/>
            <a:ext cx="1010412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8338D26A-531F-4A0F-A30D-3D4014FA1F1E}" type="datetimeFigureOut">
              <a:rPr lang="en-US" smtClean="0"/>
              <a:pPr/>
              <a:t>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5670195" y="1026375"/>
            <a:ext cx="594360" cy="441325"/>
          </a:xfrm>
        </p:spPr>
        <p:txBody>
          <a:bodyPr/>
          <a:lstStyle/>
          <a:p>
            <a:fld id="{3EF83B2C-F299-4DEF-A81D-E1A789A0057E}" type="slidenum">
              <a:rPr lang="en-US" smtClean="0"/>
              <a:pPr/>
              <a:t>‹#›</a:t>
            </a:fld>
            <a:endParaRPr lang="en-US"/>
          </a:p>
        </p:txBody>
      </p:sp>
      <p:sp>
        <p:nvSpPr>
          <p:cNvPr id="8" name="Content Placeholder 7"/>
          <p:cNvSpPr>
            <a:spLocks noGrp="1"/>
          </p:cNvSpPr>
          <p:nvPr>
            <p:ph sz="quarter" idx="1"/>
          </p:nvPr>
        </p:nvSpPr>
        <p:spPr>
          <a:xfrm>
            <a:off x="392277" y="1527048"/>
            <a:ext cx="1105509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689080" y="1905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98121" y="2286000"/>
            <a:ext cx="11483035"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2085" y="142352"/>
            <a:ext cx="11483035"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778956" y="2743202"/>
            <a:ext cx="8424228"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90197" y="6391659"/>
            <a:ext cx="11483035"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98121" y="152400"/>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8338D26A-531F-4A0F-A30D-3D4014FA1F1E}" type="datetimeFigureOut">
              <a:rPr lang="en-US" smtClean="0"/>
              <a:pPr/>
              <a:t>2/11/2024</a:t>
            </a:fld>
            <a:endParaRPr lang="en-US"/>
          </a:p>
        </p:txBody>
      </p:sp>
      <p:sp>
        <p:nvSpPr>
          <p:cNvPr id="8" name="Straight Connector 7"/>
          <p:cNvSpPr>
            <a:spLocks noChangeShapeType="1"/>
          </p:cNvSpPr>
          <p:nvPr/>
        </p:nvSpPr>
        <p:spPr bwMode="auto">
          <a:xfrm>
            <a:off x="198121" y="2438400"/>
            <a:ext cx="11483035"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5547360" y="2115312"/>
            <a:ext cx="79248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5670197" y="2209800"/>
            <a:ext cx="546811"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5646420" y="2199452"/>
            <a:ext cx="594360" cy="441325"/>
          </a:xfrm>
        </p:spPr>
        <p:txBody>
          <a:bodyPr/>
          <a:lstStyle>
            <a:lvl1pPr>
              <a:defRPr>
                <a:solidFill>
                  <a:schemeClr val="accent3">
                    <a:shade val="75000"/>
                  </a:schemeClr>
                </a:solidFill>
              </a:defRPr>
            </a:lvl1pPr>
          </a:lstStyle>
          <a:p>
            <a:fld id="{3EF83B2C-F299-4DEF-A81D-E1A789A0057E}" type="slidenum">
              <a:rPr lang="en-US" smtClean="0"/>
              <a:pPr/>
              <a:t>‹#›</a:t>
            </a:fld>
            <a:endParaRPr lang="en-US"/>
          </a:p>
        </p:txBody>
      </p:sp>
      <p:sp>
        <p:nvSpPr>
          <p:cNvPr id="2" name="Title 1"/>
          <p:cNvSpPr>
            <a:spLocks noGrp="1"/>
          </p:cNvSpPr>
          <p:nvPr>
            <p:ph type="title"/>
          </p:nvPr>
        </p:nvSpPr>
        <p:spPr>
          <a:xfrm>
            <a:off x="939007" y="533400"/>
            <a:ext cx="1010412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92277" y="228600"/>
            <a:ext cx="1109472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7528560" y="6409944"/>
            <a:ext cx="3958437" cy="365760"/>
          </a:xfrm>
        </p:spPr>
        <p:txBody>
          <a:bodyPr/>
          <a:lstStyle/>
          <a:p>
            <a:fld id="{8338D26A-531F-4A0F-A30D-3D4014FA1F1E}" type="datetimeFigureOut">
              <a:rPr lang="en-US" smtClean="0"/>
              <a:pPr/>
              <a:t>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F83B2C-F299-4DEF-A81D-E1A789A0057E}" type="slidenum">
              <a:rPr lang="en-US" smtClean="0"/>
              <a:pPr/>
              <a:t>‹#›</a:t>
            </a:fld>
            <a:endParaRPr lang="en-US"/>
          </a:p>
        </p:txBody>
      </p:sp>
      <p:sp>
        <p:nvSpPr>
          <p:cNvPr id="8" name="Straight Connector 7"/>
          <p:cNvSpPr>
            <a:spLocks noChangeShapeType="1"/>
          </p:cNvSpPr>
          <p:nvPr/>
        </p:nvSpPr>
        <p:spPr bwMode="auto">
          <a:xfrm flipV="1">
            <a:off x="5932006" y="1575654"/>
            <a:ext cx="11598"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92277" y="1371600"/>
            <a:ext cx="525018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6240780" y="1371600"/>
            <a:ext cx="525018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59436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118872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1168908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98121" y="1371600"/>
            <a:ext cx="11483035"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89702" y="6391656"/>
            <a:ext cx="11483035"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92278" y="1524000"/>
            <a:ext cx="5252245"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228730" y="1524000"/>
            <a:ext cx="5254308"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8338D26A-531F-4A0F-A30D-3D4014FA1F1E}" type="datetimeFigureOut">
              <a:rPr lang="en-US" smtClean="0"/>
              <a:pPr/>
              <a:t>2/11/2024</a:t>
            </a:fld>
            <a:endParaRPr lang="en-US"/>
          </a:p>
        </p:txBody>
      </p:sp>
      <p:sp>
        <p:nvSpPr>
          <p:cNvPr id="8" name="Footer Placeholder 7"/>
          <p:cNvSpPr>
            <a:spLocks noGrp="1"/>
          </p:cNvSpPr>
          <p:nvPr>
            <p:ph type="ftr" sz="quarter" idx="11"/>
          </p:nvPr>
        </p:nvSpPr>
        <p:spPr>
          <a:xfrm>
            <a:off x="396240" y="6409944"/>
            <a:ext cx="4655820" cy="365760"/>
          </a:xfrm>
        </p:spPr>
        <p:txBody>
          <a:bodyPr/>
          <a:lstStyle/>
          <a:p>
            <a:endParaRPr lang="en-US"/>
          </a:p>
        </p:txBody>
      </p:sp>
      <p:sp>
        <p:nvSpPr>
          <p:cNvPr id="15" name="Straight Connector 14"/>
          <p:cNvSpPr>
            <a:spLocks noChangeShapeType="1"/>
          </p:cNvSpPr>
          <p:nvPr/>
        </p:nvSpPr>
        <p:spPr bwMode="auto">
          <a:xfrm>
            <a:off x="198121" y="1280160"/>
            <a:ext cx="11483035"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98121" y="155448"/>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92277" y="2471383"/>
            <a:ext cx="5254143"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6240780" y="2471383"/>
            <a:ext cx="525018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5547360" y="956036"/>
            <a:ext cx="79248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5670197" y="1050524"/>
            <a:ext cx="546811"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5646420" y="1042419"/>
            <a:ext cx="594360" cy="441325"/>
          </a:xfrm>
        </p:spPr>
        <p:txBody>
          <a:bodyPr/>
          <a:lstStyle>
            <a:lvl1pPr algn="ctr">
              <a:defRPr/>
            </a:lvl1pPr>
          </a:lstStyle>
          <a:p>
            <a:fld id="{3EF83B2C-F299-4DEF-A81D-E1A789A0057E}" type="slidenum">
              <a:rPr lang="en-US" smtClean="0"/>
              <a:pPr/>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338D26A-531F-4A0F-A30D-3D4014FA1F1E}" type="datetimeFigureOut">
              <a:rPr lang="en-US" smtClean="0"/>
              <a:pPr/>
              <a:t>2/11/2024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5646420" y="1036022"/>
            <a:ext cx="594360" cy="441325"/>
          </a:xfrm>
        </p:spPr>
        <p:txBody>
          <a:bodyPr/>
          <a:lstStyle/>
          <a:p>
            <a:fld id="{3EF83B2C-F299-4DEF-A81D-E1A789A005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118872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1168908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90197" y="6391659"/>
            <a:ext cx="11483035"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98121" y="158496"/>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8338D26A-531F-4A0F-A30D-3D4014FA1F1E}" type="datetimeFigureOut">
              <a:rPr lang="en-US" smtClean="0"/>
              <a:pPr/>
              <a:t>2/11/2024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5547360" y="6324600"/>
            <a:ext cx="792480" cy="441324"/>
          </a:xfrm>
        </p:spPr>
        <p:txBody>
          <a:bodyPr/>
          <a:lstStyle>
            <a:lvl1pPr>
              <a:defRPr>
                <a:solidFill>
                  <a:srgbClr val="FFFFFF"/>
                </a:solidFill>
              </a:defRPr>
            </a:lvl1pPr>
          </a:lstStyle>
          <a:p>
            <a:fld id="{3EF83B2C-F299-4DEF-A81D-E1A789A005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98121" y="152400"/>
            <a:ext cx="11483035"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68908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18872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98120" y="609600"/>
            <a:ext cx="356616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495300" y="914400"/>
            <a:ext cx="307086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95300" y="1981203"/>
            <a:ext cx="307086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98121" y="152400"/>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98121" y="533400"/>
            <a:ext cx="11483035"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4061460" y="685800"/>
            <a:ext cx="733044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684020" y="228600"/>
            <a:ext cx="79248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806854" y="323088"/>
            <a:ext cx="546811"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783080" y="312740"/>
            <a:ext cx="594360" cy="441325"/>
          </a:xfrm>
        </p:spPr>
        <p:txBody>
          <a:bodyPr/>
          <a:lstStyle>
            <a:lvl1pPr>
              <a:defRPr>
                <a:solidFill>
                  <a:schemeClr val="accent3">
                    <a:shade val="75000"/>
                  </a:schemeClr>
                </a:solidFill>
              </a:defRPr>
            </a:lvl1pPr>
          </a:lstStyle>
          <a:p>
            <a:fld id="{3EF83B2C-F299-4DEF-A81D-E1A789A0057E}" type="slidenum">
              <a:rPr lang="en-US" smtClean="0"/>
              <a:pPr/>
              <a:t>‹#›</a:t>
            </a:fld>
            <a:endParaRPr lang="en-US"/>
          </a:p>
        </p:txBody>
      </p:sp>
      <p:sp>
        <p:nvSpPr>
          <p:cNvPr id="21" name="Rectangle 20"/>
          <p:cNvSpPr>
            <a:spLocks noChangeArrowheads="1"/>
          </p:cNvSpPr>
          <p:nvPr/>
        </p:nvSpPr>
        <p:spPr bwMode="auto">
          <a:xfrm>
            <a:off x="194158" y="6388388"/>
            <a:ext cx="11483035"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8338D26A-531F-4A0F-A30D-3D4014FA1F1E}" type="datetimeFigureOut">
              <a:rPr lang="en-US" smtClean="0"/>
              <a:pPr/>
              <a:t>2/11/2024</a:t>
            </a:fld>
            <a:endParaRPr lang="en-US"/>
          </a:p>
        </p:txBody>
      </p:sp>
      <p:sp>
        <p:nvSpPr>
          <p:cNvPr id="6" name="Footer Placeholder 5"/>
          <p:cNvSpPr>
            <a:spLocks noGrp="1"/>
          </p:cNvSpPr>
          <p:nvPr>
            <p:ph type="ftr" sz="quarter" idx="11"/>
          </p:nvPr>
        </p:nvSpPr>
        <p:spPr>
          <a:xfrm>
            <a:off x="392277" y="6410848"/>
            <a:ext cx="4398264"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98121" y="533400"/>
            <a:ext cx="11483035"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1168908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98121" y="152400"/>
            <a:ext cx="11483035"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98120" y="609600"/>
            <a:ext cx="356616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98121" y="155448"/>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684020" y="228600"/>
            <a:ext cx="79248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806854" y="323088"/>
            <a:ext cx="546811"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783080" y="312740"/>
            <a:ext cx="594360" cy="441325"/>
          </a:xfrm>
        </p:spPr>
        <p:txBody>
          <a:bodyPr/>
          <a:lstStyle/>
          <a:p>
            <a:fld id="{3EF83B2C-F299-4DEF-A81D-E1A789A0057E}" type="slidenum">
              <a:rPr lang="en-US" smtClean="0"/>
              <a:pPr/>
              <a:t>‹#›</a:t>
            </a:fld>
            <a:endParaRPr lang="en-US"/>
          </a:p>
        </p:txBody>
      </p:sp>
      <p:sp>
        <p:nvSpPr>
          <p:cNvPr id="2" name="Title 1"/>
          <p:cNvSpPr>
            <a:spLocks noGrp="1"/>
          </p:cNvSpPr>
          <p:nvPr>
            <p:ph type="title"/>
          </p:nvPr>
        </p:nvSpPr>
        <p:spPr>
          <a:xfrm>
            <a:off x="3900488" y="5029200"/>
            <a:ext cx="762762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900488" y="609600"/>
            <a:ext cx="762762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495300" y="990600"/>
            <a:ext cx="316992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94158" y="6388388"/>
            <a:ext cx="11483035"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7524598" y="6404984"/>
            <a:ext cx="3958437" cy="365760"/>
          </a:xfrm>
        </p:spPr>
        <p:txBody>
          <a:bodyPr/>
          <a:lstStyle/>
          <a:p>
            <a:fld id="{8338D26A-531F-4A0F-A30D-3D4014FA1F1E}" type="datetimeFigureOut">
              <a:rPr lang="en-US" smtClean="0"/>
              <a:pPr/>
              <a:t>2/11/2024</a:t>
            </a:fld>
            <a:endParaRPr lang="en-US"/>
          </a:p>
        </p:txBody>
      </p:sp>
      <p:sp>
        <p:nvSpPr>
          <p:cNvPr id="6" name="Footer Placeholder 5"/>
          <p:cNvSpPr>
            <a:spLocks noGrp="1"/>
          </p:cNvSpPr>
          <p:nvPr>
            <p:ph type="ftr" sz="quarter" idx="11"/>
          </p:nvPr>
        </p:nvSpPr>
        <p:spPr>
          <a:xfrm>
            <a:off x="392277" y="6410848"/>
            <a:ext cx="4659783"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338D26A-531F-4A0F-A30D-3D4014FA1F1E}" type="datetimeFigureOut">
              <a:rPr lang="en-US" smtClean="0"/>
              <a:pPr/>
              <a:t>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F83B2C-F299-4DEF-A81D-E1A789A005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9113520" y="0"/>
            <a:ext cx="277368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18872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90197" y="6391659"/>
            <a:ext cx="11483035"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98121" y="155448"/>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6165189"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8891625" y="2925763"/>
            <a:ext cx="79248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9014461" y="3020251"/>
            <a:ext cx="546811"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8990685" y="3009904"/>
            <a:ext cx="594360" cy="441325"/>
          </a:xfrm>
        </p:spPr>
        <p:txBody>
          <a:bodyPr/>
          <a:lstStyle/>
          <a:p>
            <a:fld id="{3EF83B2C-F299-4DEF-A81D-E1A789A0057E}" type="slidenum">
              <a:rPr lang="en-US" smtClean="0"/>
              <a:pPr/>
              <a:t>‹#›</a:t>
            </a:fld>
            <a:endParaRPr lang="en-US"/>
          </a:p>
        </p:txBody>
      </p:sp>
      <p:sp>
        <p:nvSpPr>
          <p:cNvPr id="3" name="Vertical Text Placeholder 2"/>
          <p:cNvSpPr>
            <a:spLocks noGrp="1"/>
          </p:cNvSpPr>
          <p:nvPr>
            <p:ph type="body" orient="vert" idx="1"/>
          </p:nvPr>
        </p:nvSpPr>
        <p:spPr>
          <a:xfrm>
            <a:off x="396240" y="304800"/>
            <a:ext cx="851916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338D26A-531F-4A0F-A30D-3D4014FA1F1E}" type="datetimeFigureOut">
              <a:rPr lang="en-US" smtClean="0"/>
              <a:pPr/>
              <a:t>2/11/2024</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9608820" y="304804"/>
            <a:ext cx="188214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2"/>
            <a:ext cx="118872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68908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94158" y="6388388"/>
            <a:ext cx="11483035"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7528560" y="6404984"/>
            <a:ext cx="3958437" cy="365760"/>
          </a:xfrm>
          <a:prstGeom prst="rect">
            <a:avLst/>
          </a:prstGeom>
        </p:spPr>
        <p:txBody>
          <a:bodyPr vert="horz"/>
          <a:lstStyle>
            <a:lvl1pPr algn="r" eaLnBrk="1" latinLnBrk="0" hangingPunct="1">
              <a:defRPr kumimoji="0" sz="1400">
                <a:solidFill>
                  <a:srgbClr val="FFFFFF"/>
                </a:solidFill>
              </a:defRPr>
            </a:lvl1pPr>
          </a:lstStyle>
          <a:p>
            <a:fld id="{8338D26A-531F-4A0F-A30D-3D4014FA1F1E}" type="datetimeFigureOut">
              <a:rPr lang="en-US" smtClean="0"/>
              <a:pPr/>
              <a:t>2/11/2024</a:t>
            </a:fld>
            <a:endParaRPr lang="en-US"/>
          </a:p>
        </p:txBody>
      </p:sp>
      <p:sp>
        <p:nvSpPr>
          <p:cNvPr id="3" name="Footer Placeholder 2"/>
          <p:cNvSpPr>
            <a:spLocks noGrp="1"/>
          </p:cNvSpPr>
          <p:nvPr>
            <p:ph type="ftr" sz="quarter" idx="3"/>
          </p:nvPr>
        </p:nvSpPr>
        <p:spPr>
          <a:xfrm>
            <a:off x="396240" y="6410848"/>
            <a:ext cx="465582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98121" y="155448"/>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98121" y="1276743"/>
            <a:ext cx="11483035"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5547360" y="956036"/>
            <a:ext cx="79248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5670197" y="1050524"/>
            <a:ext cx="546811"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5646420" y="1040177"/>
            <a:ext cx="59436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3EF83B2C-F299-4DEF-A81D-E1A789A0057E}" type="slidenum">
              <a:rPr lang="en-US" smtClean="0"/>
              <a:pPr/>
              <a:t>‹#›</a:t>
            </a:fld>
            <a:endParaRPr lang="en-US"/>
          </a:p>
        </p:txBody>
      </p:sp>
      <p:sp>
        <p:nvSpPr>
          <p:cNvPr id="22" name="Title Placeholder 21"/>
          <p:cNvSpPr>
            <a:spLocks noGrp="1"/>
          </p:cNvSpPr>
          <p:nvPr>
            <p:ph type="title"/>
          </p:nvPr>
        </p:nvSpPr>
        <p:spPr>
          <a:xfrm>
            <a:off x="392277" y="228600"/>
            <a:ext cx="1109472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92277" y="1524000"/>
            <a:ext cx="1109472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33400" y="2667000"/>
            <a:ext cx="10363200" cy="3505200"/>
          </a:xfrm>
        </p:spPr>
        <p:txBody>
          <a:bodyPr>
            <a:normAutofit/>
          </a:bodyPr>
          <a:lstStyle/>
          <a:p>
            <a:pPr algn="l">
              <a:defRPr/>
            </a:pPr>
            <a:endParaRPr lang="en-US" sz="2000" b="0" dirty="0" smtClean="0">
              <a:latin typeface="Arial" pitchFamily="34" charset="0"/>
              <a:cs typeface="Arial" pitchFamily="34" charset="0"/>
            </a:endParaRPr>
          </a:p>
          <a:p>
            <a:pPr algn="l">
              <a:buFont typeface="Wingdings" pitchFamily="2" charset="2"/>
              <a:buChar char="q"/>
              <a:defRPr/>
            </a:pPr>
            <a:r>
              <a:rPr lang="en-US" sz="2800" dirty="0" smtClean="0">
                <a:solidFill>
                  <a:schemeClr val="tx1">
                    <a:lumMod val="95000"/>
                    <a:lumOff val="5000"/>
                  </a:schemeClr>
                </a:solidFill>
                <a:latin typeface="Arial" pitchFamily="34" charset="0"/>
                <a:cs typeface="Arial" pitchFamily="34" charset="0"/>
              </a:rPr>
              <a:t> </a:t>
            </a:r>
            <a:r>
              <a:rPr lang="fr-FR" sz="4400" cap="none" dirty="0" smtClean="0">
                <a:solidFill>
                  <a:srgbClr val="0070C0"/>
                </a:solidFill>
                <a:latin typeface="Arial" pitchFamily="34" charset="0"/>
                <a:cs typeface="Arial" pitchFamily="34" charset="0"/>
              </a:rPr>
              <a:t>Seven</a:t>
            </a:r>
            <a:r>
              <a:rPr lang="fr-FR" altLang="en-US" sz="4400" cap="none" dirty="0" smtClean="0">
                <a:solidFill>
                  <a:srgbClr val="0070C0"/>
                </a:solidFill>
                <a:latin typeface="Arial" pitchFamily="34" charset="0"/>
                <a:cs typeface="Arial" pitchFamily="34" charset="0"/>
              </a:rPr>
              <a:t> real life scenarios for </a:t>
            </a:r>
            <a:br>
              <a:rPr lang="fr-FR" altLang="en-US" sz="4400" cap="none" dirty="0" smtClean="0">
                <a:solidFill>
                  <a:srgbClr val="0070C0"/>
                </a:solidFill>
                <a:latin typeface="Arial" pitchFamily="34" charset="0"/>
                <a:cs typeface="Arial" pitchFamily="34" charset="0"/>
              </a:rPr>
            </a:br>
            <a:r>
              <a:rPr lang="fr-FR" altLang="en-US" sz="4400" cap="none" dirty="0" smtClean="0">
                <a:solidFill>
                  <a:srgbClr val="0070C0"/>
                </a:solidFill>
                <a:latin typeface="Arial" pitchFamily="34" charset="0"/>
                <a:cs typeface="Arial" pitchFamily="34" charset="0"/>
              </a:rPr>
              <a:t>  Professional</a:t>
            </a:r>
            <a:endParaRPr lang="en-US" sz="4400" dirty="0">
              <a:solidFill>
                <a:schemeClr val="tx1">
                  <a:lumMod val="95000"/>
                  <a:lumOff val="5000"/>
                </a:schemeClr>
              </a:solidFill>
              <a:latin typeface="Arial" pitchFamily="34" charset="0"/>
              <a:cs typeface="Arial" pitchFamily="34" charset="0"/>
            </a:endParaRPr>
          </a:p>
        </p:txBody>
      </p:sp>
      <p:sp>
        <p:nvSpPr>
          <p:cNvPr id="2" name="Title 1"/>
          <p:cNvSpPr>
            <a:spLocks noGrp="1"/>
          </p:cNvSpPr>
          <p:nvPr>
            <p:ph type="ctrTitle"/>
          </p:nvPr>
        </p:nvSpPr>
        <p:spPr>
          <a:xfrm>
            <a:off x="228600" y="457200"/>
            <a:ext cx="11430000" cy="1676400"/>
          </a:xfrm>
        </p:spPr>
        <p:txBody>
          <a:bodyPr>
            <a:noAutofit/>
          </a:bodyPr>
          <a:lstStyle/>
          <a:p>
            <a:pPr algn="l"/>
            <a:r>
              <a:rPr lang="fr-FR" altLang="en-US" sz="4000" b="1" dirty="0" smtClean="0">
                <a:solidFill>
                  <a:srgbClr val="0070C0"/>
                </a:solidFill>
                <a:latin typeface="Arial" pitchFamily="34" charset="0"/>
                <a:cs typeface="Arial" pitchFamily="34" charset="0"/>
              </a:rPr>
              <a:t>   </a:t>
            </a:r>
            <a:r>
              <a:rPr lang="fr-FR" altLang="en-US" sz="4800" b="1" dirty="0" smtClean="0">
                <a:latin typeface="Arial" pitchFamily="34" charset="0"/>
                <a:cs typeface="Arial" pitchFamily="34" charset="0"/>
              </a:rPr>
              <a:t>Professional Practices- week8</a:t>
            </a:r>
            <a:br>
              <a:rPr lang="fr-FR" altLang="en-US" sz="4800" b="1" dirty="0" smtClean="0">
                <a:latin typeface="Arial" pitchFamily="34" charset="0"/>
                <a:cs typeface="Arial" pitchFamily="34" charset="0"/>
              </a:rPr>
            </a:br>
            <a:endParaRPr lang="fr-FR" altLang="en-US" sz="4800" b="1" dirty="0">
              <a:solidFill>
                <a:srgbClr val="0070C0"/>
              </a:solidFill>
              <a:latin typeface="Arial" pitchFamily="34" charset="0"/>
              <a:cs typeface="Arial" pitchFamily="34" charset="0"/>
            </a:endParaRPr>
          </a:p>
        </p:txBody>
      </p:sp>
      <p:pic>
        <p:nvPicPr>
          <p:cNvPr id="4" name="Picture 3" descr="PP.jpg"/>
          <p:cNvPicPr>
            <a:picLocks noChangeAspect="1"/>
          </p:cNvPicPr>
          <p:nvPr/>
        </p:nvPicPr>
        <p:blipFill>
          <a:blip r:embed="rId2"/>
          <a:stretch>
            <a:fillRect/>
          </a:stretch>
        </p:blipFill>
        <p:spPr>
          <a:xfrm>
            <a:off x="9753600" y="381000"/>
            <a:ext cx="1828800" cy="16764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bwMode="auto">
          <a:xfrm>
            <a:off x="304800" y="0"/>
            <a:ext cx="9525000" cy="725488"/>
          </a:xfrm>
          <a:noFill/>
          <a:ln>
            <a:miter lim="800000"/>
            <a:headEnd/>
            <a:tailEnd/>
          </a:ln>
        </p:spPr>
        <p:txBody>
          <a:bodyPr vert="horz" wrap="square" lIns="91440" tIns="45720" rIns="91440" bIns="45720" numCol="1" anchor="t" anchorCtr="0" compatLnSpc="1">
            <a:prstTxWarp prst="textNoShape">
              <a:avLst/>
            </a:prstTxWarp>
            <a:noAutofit/>
          </a:bodyPr>
          <a:lstStyle/>
          <a:p>
            <a:r>
              <a:rPr lang="en-US" altLang="en-US" sz="4000" b="1" dirty="0" smtClean="0">
                <a:solidFill>
                  <a:srgbClr val="C00000"/>
                </a:solidFill>
                <a:latin typeface="Arial" pitchFamily="34" charset="0"/>
                <a:cs typeface="Arial" pitchFamily="34" charset="0"/>
              </a:rPr>
              <a:t>Ethical decision making: Case 1</a:t>
            </a:r>
            <a:br>
              <a:rPr lang="en-US" altLang="en-US" sz="4000" b="1" dirty="0" smtClean="0">
                <a:solidFill>
                  <a:srgbClr val="C00000"/>
                </a:solidFill>
                <a:latin typeface="Arial" pitchFamily="34" charset="0"/>
                <a:cs typeface="Arial" pitchFamily="34" charset="0"/>
              </a:rPr>
            </a:br>
            <a:r>
              <a:rPr lang="en-US" altLang="en-US" sz="4000" b="1" dirty="0" smtClean="0">
                <a:solidFill>
                  <a:srgbClr val="C00000"/>
                </a:solidFill>
                <a:latin typeface="Arial" pitchFamily="34" charset="0"/>
                <a:cs typeface="Arial" pitchFamily="34" charset="0"/>
              </a:rPr>
              <a:t> (Continue) </a:t>
            </a:r>
            <a:br>
              <a:rPr lang="en-US" altLang="en-US" sz="4000" b="1" dirty="0" smtClean="0">
                <a:solidFill>
                  <a:srgbClr val="C00000"/>
                </a:solidFill>
                <a:latin typeface="Arial" pitchFamily="34" charset="0"/>
                <a:cs typeface="Arial" pitchFamily="34" charset="0"/>
              </a:rPr>
            </a:br>
            <a:endParaRPr lang="en-US" altLang="en-US" sz="4000" b="1" dirty="0" smtClean="0">
              <a:solidFill>
                <a:srgbClr val="C00000"/>
              </a:solidFill>
              <a:latin typeface="Arial" pitchFamily="34" charset="0"/>
              <a:cs typeface="Arial" pitchFamily="34" charset="0"/>
            </a:endParaRPr>
          </a:p>
        </p:txBody>
      </p:sp>
      <p:sp>
        <p:nvSpPr>
          <p:cNvPr id="3" name="Content Placeholder 2"/>
          <p:cNvSpPr>
            <a:spLocks noGrp="1"/>
          </p:cNvSpPr>
          <p:nvPr>
            <p:ph idx="1"/>
          </p:nvPr>
        </p:nvSpPr>
        <p:spPr>
          <a:xfrm>
            <a:off x="228601" y="1752600"/>
            <a:ext cx="11425398" cy="4876800"/>
          </a:xfrm>
        </p:spPr>
        <p:txBody>
          <a:bodyPr>
            <a:normAutofit/>
          </a:bodyPr>
          <a:lstStyle/>
          <a:p>
            <a:pPr algn="just">
              <a:buFont typeface="Wingdings" pitchFamily="2" charset="2"/>
              <a:buChar char="q"/>
              <a:defRPr/>
            </a:pPr>
            <a:r>
              <a:rPr lang="en-US" sz="2800" dirty="0" smtClean="0">
                <a:latin typeface="Arial" pitchFamily="34" charset="0"/>
                <a:cs typeface="Arial" pitchFamily="34" charset="0"/>
              </a:rPr>
              <a:t> Alisha is the network manager in a company. The company has contacted with a networking vendor to install a security system. Due to cost issue networking company has offered a  less secure system and the management is in favor of purchasing the system.</a:t>
            </a:r>
            <a:r>
              <a:rPr lang="en-US" sz="2800" dirty="0">
                <a:latin typeface="Arial" pitchFamily="34" charset="0"/>
                <a:cs typeface="Arial" pitchFamily="34" charset="0"/>
              </a:rPr>
              <a:t> </a:t>
            </a:r>
            <a:r>
              <a:rPr lang="en-US" sz="2800" dirty="0" smtClean="0">
                <a:latin typeface="Arial" pitchFamily="34" charset="0"/>
                <a:cs typeface="Arial" pitchFamily="34" charset="0"/>
              </a:rPr>
              <a:t>Alisha </a:t>
            </a:r>
            <a:r>
              <a:rPr lang="en-US" sz="2800" dirty="0">
                <a:latin typeface="Arial" pitchFamily="34" charset="0"/>
                <a:cs typeface="Arial" pitchFamily="34" charset="0"/>
              </a:rPr>
              <a:t>believes information </a:t>
            </a:r>
            <a:r>
              <a:rPr lang="en-US" sz="2800" dirty="0" smtClean="0">
                <a:latin typeface="Arial" pitchFamily="34" charset="0"/>
                <a:cs typeface="Arial" pitchFamily="34" charset="0"/>
              </a:rPr>
              <a:t>to be stored </a:t>
            </a:r>
            <a:r>
              <a:rPr lang="en-US" sz="2800" dirty="0">
                <a:latin typeface="Arial" pitchFamily="34" charset="0"/>
                <a:cs typeface="Arial" pitchFamily="34" charset="0"/>
              </a:rPr>
              <a:t>is extremely </a:t>
            </a:r>
            <a:r>
              <a:rPr lang="en-US" sz="2800" dirty="0" smtClean="0">
                <a:latin typeface="Arial" pitchFamily="34" charset="0"/>
                <a:cs typeface="Arial" pitchFamily="34" charset="0"/>
              </a:rPr>
              <a:t>sensitive and the company should have more secure system. There is always a danger of hacking the systems and data.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bwMode="auto">
          <a:xfrm>
            <a:off x="594360" y="274638"/>
            <a:ext cx="10698480" cy="633412"/>
          </a:xfrm>
          <a:noFill/>
          <a:ln>
            <a:miter lim="800000"/>
            <a:headEnd/>
            <a:tailEnd/>
          </a:ln>
        </p:spPr>
        <p:txBody>
          <a:bodyPr vert="horz" wrap="square" lIns="91440" tIns="45720" rIns="91440" bIns="45720" numCol="1" anchor="t" anchorCtr="0" compatLnSpc="1">
            <a:prstTxWarp prst="textNoShape">
              <a:avLst/>
            </a:prstTxWarp>
            <a:noAutofit/>
          </a:bodyPr>
          <a:lstStyle/>
          <a:p>
            <a:r>
              <a:rPr lang="en-US" altLang="en-US" sz="4000" b="1" dirty="0" smtClean="0">
                <a:solidFill>
                  <a:srgbClr val="C00000"/>
                </a:solidFill>
                <a:latin typeface="Arial" pitchFamily="34" charset="0"/>
                <a:cs typeface="Arial" pitchFamily="34" charset="0"/>
              </a:rPr>
              <a:t>Ethical decision making: Case 1</a:t>
            </a:r>
            <a:endParaRPr lang="en-US" sz="4000" b="1" dirty="0" smtClean="0">
              <a:solidFill>
                <a:srgbClr val="C00000"/>
              </a:solidFill>
              <a:latin typeface="Arial" pitchFamily="34" charset="0"/>
              <a:cs typeface="Arial" pitchFamily="34" charset="0"/>
            </a:endParaRPr>
          </a:p>
        </p:txBody>
      </p:sp>
      <p:sp>
        <p:nvSpPr>
          <p:cNvPr id="3" name="Content Placeholder 2"/>
          <p:cNvSpPr>
            <a:spLocks noGrp="1"/>
          </p:cNvSpPr>
          <p:nvPr>
            <p:ph idx="1"/>
          </p:nvPr>
        </p:nvSpPr>
        <p:spPr>
          <a:xfrm>
            <a:off x="594360" y="1447800"/>
            <a:ext cx="10698480" cy="4573588"/>
          </a:xfrm>
        </p:spPr>
        <p:txBody>
          <a:bodyPr/>
          <a:lstStyle/>
          <a:p>
            <a:pPr>
              <a:buFont typeface="Wingdings" pitchFamily="2" charset="2"/>
              <a:buChar char="q"/>
              <a:defRPr/>
            </a:pPr>
            <a:r>
              <a:rPr lang="en-US" dirty="0" smtClean="0">
                <a:latin typeface="Arial" pitchFamily="34" charset="0"/>
                <a:cs typeface="Arial" pitchFamily="34" charset="0"/>
              </a:rPr>
              <a:t> </a:t>
            </a:r>
            <a:r>
              <a:rPr lang="en-US" u="sng" dirty="0" smtClean="0">
                <a:latin typeface="Arial" pitchFamily="34" charset="0"/>
                <a:cs typeface="Arial" pitchFamily="34" charset="0"/>
              </a:rPr>
              <a:t>Q.1</a:t>
            </a:r>
            <a:r>
              <a:rPr lang="en-US" dirty="0" smtClean="0">
                <a:latin typeface="Arial" pitchFamily="34" charset="0"/>
                <a:cs typeface="Arial" pitchFamily="34" charset="0"/>
              </a:rPr>
              <a:t> </a:t>
            </a:r>
            <a:r>
              <a:rPr lang="en-US" dirty="0">
                <a:latin typeface="Arial" pitchFamily="34" charset="0"/>
                <a:cs typeface="Arial" pitchFamily="34" charset="0"/>
              </a:rPr>
              <a:t>Which type of code of ethics applied here?</a:t>
            </a:r>
          </a:p>
          <a:p>
            <a:pPr>
              <a:buFont typeface="Wingdings" pitchFamily="2" charset="2"/>
              <a:buChar char="q"/>
              <a:defRPr/>
            </a:pPr>
            <a:r>
              <a:rPr lang="en-US" dirty="0" smtClean="0">
                <a:latin typeface="Arial" pitchFamily="34" charset="0"/>
                <a:cs typeface="Arial" pitchFamily="34" charset="0"/>
              </a:rPr>
              <a:t> </a:t>
            </a:r>
            <a:r>
              <a:rPr lang="en-US" u="sng" dirty="0" smtClean="0">
                <a:latin typeface="Arial" pitchFamily="34" charset="0"/>
                <a:cs typeface="Arial" pitchFamily="34" charset="0"/>
              </a:rPr>
              <a:t>Q.2</a:t>
            </a:r>
            <a:r>
              <a:rPr lang="en-US" dirty="0" smtClean="0">
                <a:latin typeface="Arial" pitchFamily="34" charset="0"/>
                <a:cs typeface="Arial" pitchFamily="34" charset="0"/>
              </a:rPr>
              <a:t> what actions should be taken by Alisha?</a:t>
            </a:r>
            <a:br>
              <a:rPr lang="en-US" dirty="0" smtClean="0">
                <a:latin typeface="Arial" pitchFamily="34" charset="0"/>
                <a:cs typeface="Arial" pitchFamily="34" charset="0"/>
              </a:rPr>
            </a:br>
            <a:endParaRPr lang="en-US" dirty="0" smtClean="0">
              <a:latin typeface="Arial" pitchFamily="34" charset="0"/>
              <a:cs typeface="Arial" pitchFamily="34" charset="0"/>
            </a:endParaRPr>
          </a:p>
          <a:p>
            <a:pPr>
              <a:buFont typeface="Wingdings" pitchFamily="2" charset="2"/>
              <a:buChar char="q"/>
              <a:defRPr/>
            </a:pPr>
            <a:r>
              <a:rPr lang="en-US" dirty="0" smtClean="0">
                <a:latin typeface="Arial" pitchFamily="34" charset="0"/>
                <a:cs typeface="Arial" pitchFamily="34" charset="0"/>
              </a:rPr>
              <a:t> </a:t>
            </a:r>
            <a:r>
              <a:rPr lang="en-US" u="sng" dirty="0" smtClean="0">
                <a:latin typeface="Arial" pitchFamily="34" charset="0"/>
                <a:cs typeface="Arial" pitchFamily="34" charset="0"/>
              </a:rPr>
              <a:t>A.1</a:t>
            </a:r>
            <a:r>
              <a:rPr lang="en-US" dirty="0" smtClean="0">
                <a:latin typeface="Arial" pitchFamily="34" charset="0"/>
                <a:cs typeface="Arial" pitchFamily="34" charset="0"/>
              </a:rPr>
              <a:t> </a:t>
            </a:r>
            <a:r>
              <a:rPr lang="en-US" b="1" dirty="0" smtClean="0">
                <a:latin typeface="Arial" pitchFamily="34" charset="0"/>
                <a:cs typeface="Arial" pitchFamily="34" charset="0"/>
              </a:rPr>
              <a:t>Security and Unauthorized Access</a:t>
            </a:r>
            <a:r>
              <a:rPr lang="en-US" dirty="0" smtClean="0">
                <a:latin typeface="Arial" pitchFamily="34" charset="0"/>
                <a:cs typeface="Arial" pitchFamily="34" charset="0"/>
              </a:rPr>
              <a:t>.</a:t>
            </a:r>
            <a:endParaRPr lang="en-US" b="1" dirty="0" smtClean="0">
              <a:latin typeface="Arial" pitchFamily="34" charset="0"/>
              <a:cs typeface="Arial" pitchFamily="34" charset="0"/>
            </a:endParaRPr>
          </a:p>
          <a:p>
            <a:pPr>
              <a:buFont typeface="Wingdings" pitchFamily="2" charset="2"/>
              <a:buChar char="q"/>
              <a:defRPr/>
            </a:pPr>
            <a:r>
              <a:rPr lang="en-US" dirty="0" smtClean="0">
                <a:latin typeface="Arial" pitchFamily="34" charset="0"/>
                <a:cs typeface="Arial" pitchFamily="34" charset="0"/>
              </a:rPr>
              <a:t> </a:t>
            </a:r>
            <a:r>
              <a:rPr lang="en-US" u="sng" dirty="0" smtClean="0">
                <a:latin typeface="Arial" pitchFamily="34" charset="0"/>
                <a:cs typeface="Arial" pitchFamily="34" charset="0"/>
              </a:rPr>
              <a:t>A.2</a:t>
            </a:r>
            <a:r>
              <a:rPr lang="en-US" dirty="0" smtClean="0">
                <a:latin typeface="Arial" pitchFamily="34" charset="0"/>
                <a:cs typeface="Arial" pitchFamily="34" charset="0"/>
              </a:rPr>
              <a:t> (i) Alisha should communicate and convince the management </a:t>
            </a:r>
            <a:br>
              <a:rPr lang="en-US" dirty="0" smtClean="0">
                <a:latin typeface="Arial" pitchFamily="34" charset="0"/>
                <a:cs typeface="Arial" pitchFamily="34" charset="0"/>
              </a:rPr>
            </a:br>
            <a:r>
              <a:rPr lang="en-US" dirty="0" smtClean="0">
                <a:latin typeface="Arial" pitchFamily="34" charset="0"/>
                <a:cs typeface="Arial" pitchFamily="34" charset="0"/>
              </a:rPr>
              <a:t>           not to purchase this system.</a:t>
            </a:r>
            <a:br>
              <a:rPr lang="en-US" dirty="0" smtClean="0">
                <a:latin typeface="Arial" pitchFamily="34" charset="0"/>
                <a:cs typeface="Arial" pitchFamily="34" charset="0"/>
              </a:rPr>
            </a:br>
            <a:r>
              <a:rPr lang="en-US" dirty="0" smtClean="0">
                <a:latin typeface="Arial" pitchFamily="34" charset="0"/>
                <a:cs typeface="Arial" pitchFamily="34" charset="0"/>
              </a:rPr>
              <a:t>       (ii) If the management does not agree with Alisha, she should </a:t>
            </a:r>
            <a:br>
              <a:rPr lang="en-US" dirty="0" smtClean="0">
                <a:latin typeface="Arial" pitchFamily="34" charset="0"/>
                <a:cs typeface="Arial" pitchFamily="34" charset="0"/>
              </a:rPr>
            </a:br>
            <a:r>
              <a:rPr lang="en-US" dirty="0" smtClean="0">
                <a:latin typeface="Arial" pitchFamily="34" charset="0"/>
                <a:cs typeface="Arial" pitchFamily="34" charset="0"/>
              </a:rPr>
              <a:t>            resign from the company  </a:t>
            </a:r>
            <a:endParaRPr lang="en-US"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bwMode="auto">
          <a:xfrm>
            <a:off x="594360" y="76200"/>
            <a:ext cx="9768840" cy="561975"/>
          </a:xfrm>
          <a:noFill/>
          <a:ln>
            <a:miter lim="800000"/>
            <a:headEnd/>
            <a:tailEnd/>
          </a:ln>
        </p:spPr>
        <p:txBody>
          <a:bodyPr vert="horz" wrap="square" lIns="91440" tIns="45720" rIns="91440" bIns="45720" numCol="1" anchor="t" anchorCtr="0" compatLnSpc="1">
            <a:prstTxWarp prst="textNoShape">
              <a:avLst/>
            </a:prstTxWarp>
            <a:noAutofit/>
          </a:bodyPr>
          <a:lstStyle/>
          <a:p>
            <a:r>
              <a:rPr lang="en-US" altLang="en-US" sz="4000" b="1" dirty="0" smtClean="0">
                <a:solidFill>
                  <a:srgbClr val="C00000"/>
                </a:solidFill>
                <a:latin typeface="Arial" pitchFamily="34" charset="0"/>
                <a:cs typeface="Arial" pitchFamily="34" charset="0"/>
              </a:rPr>
              <a:t>Ethical decision making: Case 2</a:t>
            </a:r>
            <a:br>
              <a:rPr lang="en-US" altLang="en-US" sz="4000" b="1" dirty="0" smtClean="0">
                <a:solidFill>
                  <a:srgbClr val="C00000"/>
                </a:solidFill>
                <a:latin typeface="Arial" pitchFamily="34" charset="0"/>
                <a:cs typeface="Arial" pitchFamily="34" charset="0"/>
              </a:rPr>
            </a:br>
            <a:r>
              <a:rPr lang="en-US" altLang="en-US" sz="4000" b="1" dirty="0" smtClean="0">
                <a:solidFill>
                  <a:srgbClr val="C00000"/>
                </a:solidFill>
                <a:latin typeface="Arial" pitchFamily="34" charset="0"/>
                <a:cs typeface="Arial" pitchFamily="34" charset="0"/>
              </a:rPr>
              <a:t> (Continue) </a:t>
            </a:r>
            <a:br>
              <a:rPr lang="en-US" altLang="en-US" sz="4000" b="1" dirty="0" smtClean="0">
                <a:solidFill>
                  <a:srgbClr val="C00000"/>
                </a:solidFill>
                <a:latin typeface="Arial" pitchFamily="34" charset="0"/>
                <a:cs typeface="Arial" pitchFamily="34" charset="0"/>
              </a:rPr>
            </a:br>
            <a:endParaRPr lang="en-US" sz="4000" b="1" dirty="0" smtClean="0">
              <a:solidFill>
                <a:srgbClr val="C00000"/>
              </a:solidFill>
              <a:latin typeface="Arial" pitchFamily="34" charset="0"/>
              <a:cs typeface="Arial" pitchFamily="34" charset="0"/>
            </a:endParaRPr>
          </a:p>
        </p:txBody>
      </p:sp>
      <p:sp>
        <p:nvSpPr>
          <p:cNvPr id="3" name="Content Placeholder 2"/>
          <p:cNvSpPr>
            <a:spLocks noGrp="1"/>
          </p:cNvSpPr>
          <p:nvPr>
            <p:ph idx="1"/>
          </p:nvPr>
        </p:nvSpPr>
        <p:spPr>
          <a:xfrm>
            <a:off x="304801" y="1524000"/>
            <a:ext cx="11349198" cy="4929188"/>
          </a:xfrm>
        </p:spPr>
        <p:txBody>
          <a:bodyPr>
            <a:normAutofit/>
          </a:bodyPr>
          <a:lstStyle/>
          <a:p>
            <a:pPr algn="just">
              <a:buFont typeface="Wingdings" pitchFamily="2" charset="2"/>
              <a:buChar char="q"/>
              <a:defRPr/>
            </a:pPr>
            <a:r>
              <a:rPr lang="en-US" sz="2800" dirty="0" smtClean="0">
                <a:latin typeface="Arial" pitchFamily="34" charset="0"/>
                <a:cs typeface="Arial" pitchFamily="34" charset="0"/>
              </a:rPr>
              <a:t> Ahmed </a:t>
            </a:r>
            <a:r>
              <a:rPr lang="en-US" sz="2800" dirty="0">
                <a:latin typeface="Arial" pitchFamily="34" charset="0"/>
                <a:cs typeface="Arial" pitchFamily="34" charset="0"/>
              </a:rPr>
              <a:t>is a database </a:t>
            </a:r>
            <a:r>
              <a:rPr lang="en-US" sz="2800" dirty="0" smtClean="0">
                <a:latin typeface="Arial" pitchFamily="34" charset="0"/>
                <a:cs typeface="Arial" pitchFamily="34" charset="0"/>
              </a:rPr>
              <a:t>programmer. He is developing a software with other 3 team members. These  3  programmers  wrote programs for Ahmed and Ahmed incorporated   those  programs  in  the  software  but he did not appreciate  their work. Ahmed has a friend Rashid who gave a program, Ahmed added that program in his software but did not tell top management.</a:t>
            </a:r>
            <a:endParaRPr lang="en-US" sz="28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bwMode="auto">
          <a:xfrm>
            <a:off x="594360" y="274639"/>
            <a:ext cx="10698480" cy="561975"/>
          </a:xfrm>
          <a:noFill/>
          <a:ln>
            <a:miter lim="800000"/>
            <a:headEnd/>
            <a:tailEnd/>
          </a:ln>
        </p:spPr>
        <p:txBody>
          <a:bodyPr vert="horz" wrap="square" lIns="91440" tIns="45720" rIns="91440" bIns="45720" numCol="1" anchor="t" anchorCtr="0" compatLnSpc="1">
            <a:prstTxWarp prst="textNoShape">
              <a:avLst/>
            </a:prstTxWarp>
            <a:noAutofit/>
          </a:bodyPr>
          <a:lstStyle/>
          <a:p>
            <a:r>
              <a:rPr lang="en-US" altLang="en-US" sz="4000" b="1" dirty="0" smtClean="0">
                <a:solidFill>
                  <a:srgbClr val="C00000"/>
                </a:solidFill>
                <a:latin typeface="Arial" pitchFamily="34" charset="0"/>
                <a:cs typeface="Arial" pitchFamily="34" charset="0"/>
              </a:rPr>
              <a:t>Ethical decision making: Case 2</a:t>
            </a:r>
            <a:endParaRPr lang="en-US" sz="4000" b="1" dirty="0" smtClean="0">
              <a:solidFill>
                <a:srgbClr val="C00000"/>
              </a:solidFill>
              <a:latin typeface="Arial" pitchFamily="34" charset="0"/>
              <a:cs typeface="Arial" pitchFamily="34" charset="0"/>
            </a:endParaRPr>
          </a:p>
        </p:txBody>
      </p:sp>
      <p:sp>
        <p:nvSpPr>
          <p:cNvPr id="3" name="Content Placeholder 2"/>
          <p:cNvSpPr>
            <a:spLocks noGrp="1"/>
          </p:cNvSpPr>
          <p:nvPr>
            <p:ph idx="1"/>
          </p:nvPr>
        </p:nvSpPr>
        <p:spPr>
          <a:xfrm>
            <a:off x="304801" y="1447800"/>
            <a:ext cx="11256328" cy="4876800"/>
          </a:xfrm>
        </p:spPr>
        <p:txBody>
          <a:bodyPr>
            <a:normAutofit/>
          </a:bodyPr>
          <a:lstStyle/>
          <a:p>
            <a:pPr>
              <a:buFont typeface="Wingdings" pitchFamily="2" charset="2"/>
              <a:buChar char="q"/>
              <a:defRPr/>
            </a:pPr>
            <a:r>
              <a:rPr lang="en-US" sz="2800" dirty="0" smtClean="0">
                <a:latin typeface="Arial" pitchFamily="34" charset="0"/>
                <a:cs typeface="Arial" pitchFamily="34" charset="0"/>
              </a:rPr>
              <a:t> </a:t>
            </a:r>
            <a:r>
              <a:rPr lang="en-US" sz="2800" u="sng" dirty="0" smtClean="0">
                <a:latin typeface="Arial" pitchFamily="34" charset="0"/>
                <a:cs typeface="Arial" pitchFamily="34" charset="0"/>
              </a:rPr>
              <a:t>Q.1</a:t>
            </a:r>
            <a:r>
              <a:rPr lang="en-US" sz="2800" dirty="0" smtClean="0">
                <a:latin typeface="Arial" pitchFamily="34" charset="0"/>
                <a:cs typeface="Arial" pitchFamily="34" charset="0"/>
              </a:rPr>
              <a:t> Which type of code of ethics applied here?</a:t>
            </a:r>
          </a:p>
          <a:p>
            <a:pPr>
              <a:buFont typeface="Wingdings" pitchFamily="2" charset="2"/>
              <a:buChar char="q"/>
              <a:defRPr/>
            </a:pPr>
            <a:r>
              <a:rPr lang="en-US" sz="2800" dirty="0" smtClean="0">
                <a:latin typeface="Arial" pitchFamily="34" charset="0"/>
                <a:cs typeface="Arial" pitchFamily="34" charset="0"/>
              </a:rPr>
              <a:t> </a:t>
            </a:r>
            <a:r>
              <a:rPr lang="en-US" sz="2800" u="sng" dirty="0" smtClean="0">
                <a:latin typeface="Arial" pitchFamily="34" charset="0"/>
                <a:cs typeface="Arial" pitchFamily="34" charset="0"/>
              </a:rPr>
              <a:t>Q.2</a:t>
            </a:r>
            <a:r>
              <a:rPr lang="en-US" sz="2800" dirty="0" smtClean="0">
                <a:latin typeface="Arial" pitchFamily="34" charset="0"/>
                <a:cs typeface="Arial" pitchFamily="34" charset="0"/>
              </a:rPr>
              <a:t> Did Ahmed follow code of ethics, if not then why?</a:t>
            </a:r>
          </a:p>
          <a:p>
            <a:pPr>
              <a:buNone/>
              <a:defRPr/>
            </a:pPr>
            <a:endParaRPr lang="en-US" sz="2800" dirty="0" smtClean="0">
              <a:latin typeface="Arial" pitchFamily="34" charset="0"/>
              <a:cs typeface="Arial" pitchFamily="34" charset="0"/>
            </a:endParaRPr>
          </a:p>
          <a:p>
            <a:pPr>
              <a:buFont typeface="Wingdings" pitchFamily="2" charset="2"/>
              <a:buChar char="q"/>
              <a:defRPr/>
            </a:pPr>
            <a:r>
              <a:rPr lang="en-US" sz="2800" dirty="0" smtClean="0">
                <a:latin typeface="Arial" pitchFamily="34" charset="0"/>
                <a:cs typeface="Arial" pitchFamily="34" charset="0"/>
              </a:rPr>
              <a:t> </a:t>
            </a:r>
            <a:r>
              <a:rPr lang="en-US" sz="2800" u="sng" dirty="0" smtClean="0">
                <a:latin typeface="Arial" pitchFamily="34" charset="0"/>
                <a:cs typeface="Arial" pitchFamily="34" charset="0"/>
              </a:rPr>
              <a:t>A.1</a:t>
            </a:r>
            <a:r>
              <a:rPr lang="en-US" sz="2800" dirty="0" smtClean="0">
                <a:latin typeface="Arial" pitchFamily="34" charset="0"/>
                <a:cs typeface="Arial" pitchFamily="34" charset="0"/>
              </a:rPr>
              <a:t> </a:t>
            </a:r>
            <a:r>
              <a:rPr lang="en-US" sz="2800" b="1" dirty="0" smtClean="0">
                <a:latin typeface="Arial" pitchFamily="34" charset="0"/>
                <a:cs typeface="Arial" pitchFamily="34" charset="0"/>
              </a:rPr>
              <a:t>Intellectual property</a:t>
            </a:r>
            <a:r>
              <a:rPr lang="en-US" sz="2800" dirty="0" smtClean="0">
                <a:latin typeface="Arial" pitchFamily="34" charset="0"/>
                <a:cs typeface="Arial" pitchFamily="34" charset="0"/>
              </a:rPr>
              <a:t>.</a:t>
            </a:r>
          </a:p>
          <a:p>
            <a:pPr>
              <a:buFont typeface="Wingdings" pitchFamily="2" charset="2"/>
              <a:buChar char="q"/>
              <a:defRPr/>
            </a:pPr>
            <a:r>
              <a:rPr lang="en-US" sz="2800" dirty="0" smtClean="0">
                <a:latin typeface="Arial" pitchFamily="34" charset="0"/>
                <a:cs typeface="Arial" pitchFamily="34" charset="0"/>
              </a:rPr>
              <a:t> </a:t>
            </a:r>
            <a:r>
              <a:rPr lang="en-US" sz="2800" u="sng" dirty="0" smtClean="0">
                <a:latin typeface="Arial" pitchFamily="34" charset="0"/>
                <a:cs typeface="Arial" pitchFamily="34" charset="0"/>
              </a:rPr>
              <a:t>A.2</a:t>
            </a:r>
            <a:r>
              <a:rPr lang="en-US" sz="2800" dirty="0" smtClean="0">
                <a:latin typeface="Arial" pitchFamily="34" charset="0"/>
                <a:cs typeface="Arial" pitchFamily="34" charset="0"/>
              </a:rPr>
              <a:t> No, because</a:t>
            </a:r>
            <a:br>
              <a:rPr lang="en-US" sz="2800" dirty="0" smtClean="0">
                <a:latin typeface="Arial" pitchFamily="34" charset="0"/>
                <a:cs typeface="Arial" pitchFamily="34" charset="0"/>
              </a:rPr>
            </a:br>
            <a:r>
              <a:rPr lang="en-US" sz="2800" dirty="0" smtClean="0">
                <a:latin typeface="Arial" pitchFamily="34" charset="0"/>
                <a:cs typeface="Arial" pitchFamily="34" charset="0"/>
              </a:rPr>
              <a:t>   (i)  Ahmed did not appreciate his team members for their </a:t>
            </a:r>
            <a:br>
              <a:rPr lang="en-US" sz="2800" dirty="0" smtClean="0">
                <a:latin typeface="Arial" pitchFamily="34" charset="0"/>
                <a:cs typeface="Arial" pitchFamily="34" charset="0"/>
              </a:rPr>
            </a:br>
            <a:r>
              <a:rPr lang="en-US" sz="2800" dirty="0" smtClean="0">
                <a:latin typeface="Arial" pitchFamily="34" charset="0"/>
                <a:cs typeface="Arial" pitchFamily="34" charset="0"/>
              </a:rPr>
              <a:t>        help.</a:t>
            </a:r>
          </a:p>
          <a:p>
            <a:pPr marL="0" indent="0">
              <a:buFont typeface="Wingdings" panose="05000000000000000000" pitchFamily="2" charset="2"/>
              <a:buNone/>
              <a:defRPr/>
            </a:pPr>
            <a:r>
              <a:rPr lang="en-US" sz="2800" dirty="0">
                <a:latin typeface="Arial" pitchFamily="34" charset="0"/>
                <a:cs typeface="Arial" pitchFamily="34" charset="0"/>
              </a:rPr>
              <a:t> </a:t>
            </a:r>
            <a:r>
              <a:rPr lang="en-US" sz="2800" dirty="0" smtClean="0">
                <a:latin typeface="Arial" pitchFamily="34" charset="0"/>
                <a:cs typeface="Arial" pitchFamily="34" charset="0"/>
              </a:rPr>
              <a:t>     (ii) He took program from Rashid, which is violation </a:t>
            </a:r>
            <a:br>
              <a:rPr lang="en-US" sz="2800" dirty="0" smtClean="0">
                <a:latin typeface="Arial" pitchFamily="34" charset="0"/>
                <a:cs typeface="Arial" pitchFamily="34" charset="0"/>
              </a:rPr>
            </a:br>
            <a:r>
              <a:rPr lang="en-US" sz="2800" dirty="0" smtClean="0">
                <a:latin typeface="Arial" pitchFamily="34" charset="0"/>
                <a:cs typeface="Arial" pitchFamily="34" charset="0"/>
              </a:rPr>
              <a:t>           of copyright act. </a:t>
            </a:r>
            <a:endParaRPr lang="en-US" sz="28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bwMode="auto">
          <a:xfrm>
            <a:off x="594360" y="76200"/>
            <a:ext cx="9387840" cy="633412"/>
          </a:xfrm>
          <a:noFill/>
          <a:ln>
            <a:miter lim="800000"/>
            <a:headEnd/>
            <a:tailEnd/>
          </a:ln>
        </p:spPr>
        <p:txBody>
          <a:bodyPr vert="horz" wrap="square" lIns="91440" tIns="45720" rIns="91440" bIns="45720" numCol="1" anchor="t" anchorCtr="0" compatLnSpc="1">
            <a:prstTxWarp prst="textNoShape">
              <a:avLst/>
            </a:prstTxWarp>
            <a:noAutofit/>
          </a:bodyPr>
          <a:lstStyle/>
          <a:p>
            <a:r>
              <a:rPr lang="en-US" altLang="en-US" sz="4000" b="1" dirty="0" smtClean="0">
                <a:solidFill>
                  <a:srgbClr val="C00000"/>
                </a:solidFill>
                <a:latin typeface="Arial" pitchFamily="34" charset="0"/>
                <a:cs typeface="Arial" pitchFamily="34" charset="0"/>
              </a:rPr>
              <a:t>Ethical decision making: Case 3</a:t>
            </a:r>
            <a:br>
              <a:rPr lang="en-US" altLang="en-US" sz="4000" b="1" dirty="0" smtClean="0">
                <a:solidFill>
                  <a:srgbClr val="C00000"/>
                </a:solidFill>
                <a:latin typeface="Arial" pitchFamily="34" charset="0"/>
                <a:cs typeface="Arial" pitchFamily="34" charset="0"/>
              </a:rPr>
            </a:br>
            <a:r>
              <a:rPr lang="en-US" altLang="en-US" sz="4000" b="1" dirty="0" smtClean="0">
                <a:solidFill>
                  <a:srgbClr val="C00000"/>
                </a:solidFill>
                <a:latin typeface="Arial" pitchFamily="34" charset="0"/>
                <a:cs typeface="Arial" pitchFamily="34" charset="0"/>
              </a:rPr>
              <a:t> (Continue)</a:t>
            </a:r>
            <a:endParaRPr lang="en-US" sz="4000" b="1" dirty="0" smtClean="0">
              <a:solidFill>
                <a:srgbClr val="C00000"/>
              </a:solidFill>
              <a:latin typeface="Arial" pitchFamily="34" charset="0"/>
              <a:cs typeface="Arial" pitchFamily="34" charset="0"/>
            </a:endParaRPr>
          </a:p>
        </p:txBody>
      </p:sp>
      <p:sp>
        <p:nvSpPr>
          <p:cNvPr id="3" name="Content Placeholder 2"/>
          <p:cNvSpPr>
            <a:spLocks noGrp="1"/>
          </p:cNvSpPr>
          <p:nvPr>
            <p:ph idx="1"/>
          </p:nvPr>
        </p:nvSpPr>
        <p:spPr>
          <a:xfrm>
            <a:off x="228600" y="1676400"/>
            <a:ext cx="11429999" cy="4560888"/>
          </a:xfrm>
        </p:spPr>
        <p:txBody>
          <a:bodyPr/>
          <a:lstStyle/>
          <a:p>
            <a:pPr algn="just">
              <a:buFont typeface="Wingdings" pitchFamily="2" charset="2"/>
              <a:buChar char="q"/>
              <a:defRPr/>
            </a:pPr>
            <a:r>
              <a:rPr lang="en-US" sz="2800" dirty="0" smtClean="0">
                <a:latin typeface="Arial" pitchFamily="34" charset="0"/>
                <a:cs typeface="Arial" pitchFamily="34" charset="0"/>
              </a:rPr>
              <a:t> A software house in Canada developed a software package for tax  payments for a number of clients. The software  had a number of errors when delivered to  the clients e.g. wrong tax formulae. The software house signed agreements with the clients. The  clients  run  the  software  and paid taxes to the Canadian Tax department. The Tax Department  sent  notices  to  the clients and penalized for</a:t>
            </a:r>
            <a:br>
              <a:rPr lang="en-US" sz="2800" dirty="0" smtClean="0">
                <a:latin typeface="Arial" pitchFamily="34" charset="0"/>
                <a:cs typeface="Arial" pitchFamily="34" charset="0"/>
              </a:rPr>
            </a:br>
            <a:r>
              <a:rPr lang="en-US" sz="2800" dirty="0" smtClean="0">
                <a:latin typeface="Arial" pitchFamily="34" charset="0"/>
                <a:cs typeface="Arial" pitchFamily="34" charset="0"/>
              </a:rPr>
              <a:t> submitting wrong statements.</a:t>
            </a:r>
          </a:p>
          <a:p>
            <a:pPr algn="just">
              <a:defRPr/>
            </a:pP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bwMode="auto">
          <a:xfrm>
            <a:off x="594360" y="274639"/>
            <a:ext cx="10698480" cy="561975"/>
          </a:xfrm>
          <a:noFill/>
          <a:ln>
            <a:miter lim="800000"/>
            <a:headEnd/>
            <a:tailEnd/>
          </a:ln>
        </p:spPr>
        <p:txBody>
          <a:bodyPr vert="horz" wrap="square" lIns="91440" tIns="45720" rIns="91440" bIns="45720" numCol="1" anchor="t" anchorCtr="0" compatLnSpc="1">
            <a:prstTxWarp prst="textNoShape">
              <a:avLst/>
            </a:prstTxWarp>
            <a:noAutofit/>
          </a:bodyPr>
          <a:lstStyle/>
          <a:p>
            <a:r>
              <a:rPr lang="en-US" altLang="en-US" sz="4000" b="1" dirty="0" smtClean="0">
                <a:solidFill>
                  <a:srgbClr val="C00000"/>
                </a:solidFill>
                <a:latin typeface="Arial" pitchFamily="34" charset="0"/>
                <a:cs typeface="Arial" pitchFamily="34" charset="0"/>
              </a:rPr>
              <a:t>Ethical decision making: Case 3</a:t>
            </a:r>
            <a:endParaRPr lang="en-US" sz="4000" b="1" dirty="0" smtClean="0">
              <a:solidFill>
                <a:srgbClr val="C00000"/>
              </a:solidFill>
              <a:latin typeface="Arial" pitchFamily="34" charset="0"/>
              <a:cs typeface="Arial" pitchFamily="34" charset="0"/>
            </a:endParaRPr>
          </a:p>
        </p:txBody>
      </p:sp>
      <p:sp>
        <p:nvSpPr>
          <p:cNvPr id="3" name="Content Placeholder 2"/>
          <p:cNvSpPr>
            <a:spLocks noGrp="1"/>
          </p:cNvSpPr>
          <p:nvPr>
            <p:ph idx="1"/>
          </p:nvPr>
        </p:nvSpPr>
        <p:spPr>
          <a:xfrm>
            <a:off x="228600" y="1524000"/>
            <a:ext cx="11353800" cy="5073650"/>
          </a:xfrm>
        </p:spPr>
        <p:txBody>
          <a:bodyPr>
            <a:normAutofit/>
          </a:bodyPr>
          <a:lstStyle/>
          <a:p>
            <a:pPr>
              <a:buFont typeface="Wingdings" pitchFamily="2" charset="2"/>
              <a:buChar char="q"/>
              <a:defRPr/>
            </a:pPr>
            <a:r>
              <a:rPr lang="en-US" sz="2800" dirty="0" smtClean="0">
                <a:latin typeface="Arial" pitchFamily="34" charset="0"/>
                <a:cs typeface="Arial" pitchFamily="34" charset="0"/>
              </a:rPr>
              <a:t> </a:t>
            </a:r>
            <a:r>
              <a:rPr lang="en-US" sz="2800" u="sng" dirty="0" smtClean="0">
                <a:latin typeface="Arial" pitchFamily="34" charset="0"/>
                <a:cs typeface="Arial" pitchFamily="34" charset="0"/>
              </a:rPr>
              <a:t>Q.1</a:t>
            </a:r>
            <a:r>
              <a:rPr lang="en-US" sz="2800" dirty="0" smtClean="0">
                <a:latin typeface="Arial" pitchFamily="34" charset="0"/>
                <a:cs typeface="Arial" pitchFamily="34" charset="0"/>
              </a:rPr>
              <a:t> </a:t>
            </a:r>
            <a:r>
              <a:rPr lang="en-US" sz="2800" dirty="0">
                <a:latin typeface="Arial" pitchFamily="34" charset="0"/>
                <a:cs typeface="Arial" pitchFamily="34" charset="0"/>
              </a:rPr>
              <a:t>Which type of code of ethics applied here?</a:t>
            </a:r>
          </a:p>
          <a:p>
            <a:pPr>
              <a:buFont typeface="Wingdings" pitchFamily="2" charset="2"/>
              <a:buChar char="q"/>
              <a:defRPr/>
            </a:pPr>
            <a:r>
              <a:rPr lang="en-US" sz="2800" dirty="0" smtClean="0">
                <a:latin typeface="Arial" pitchFamily="34" charset="0"/>
                <a:cs typeface="Arial" pitchFamily="34" charset="0"/>
              </a:rPr>
              <a:t> </a:t>
            </a:r>
            <a:r>
              <a:rPr lang="en-US" sz="2800" u="sng" dirty="0" smtClean="0">
                <a:latin typeface="Arial" pitchFamily="34" charset="0"/>
                <a:cs typeface="Arial" pitchFamily="34" charset="0"/>
              </a:rPr>
              <a:t>Q.2</a:t>
            </a:r>
            <a:r>
              <a:rPr lang="en-US" sz="2800" dirty="0" smtClean="0">
                <a:latin typeface="Arial" pitchFamily="34" charset="0"/>
                <a:cs typeface="Arial" pitchFamily="34" charset="0"/>
              </a:rPr>
              <a:t> What were the mistakes of software house?</a:t>
            </a:r>
            <a:br>
              <a:rPr lang="en-US" sz="2800" dirty="0" smtClean="0">
                <a:latin typeface="Arial" pitchFamily="34" charset="0"/>
                <a:cs typeface="Arial" pitchFamily="34" charset="0"/>
              </a:rPr>
            </a:br>
            <a:endParaRPr lang="en-US" sz="2800" dirty="0">
              <a:latin typeface="Arial" pitchFamily="34" charset="0"/>
              <a:cs typeface="Arial" pitchFamily="34" charset="0"/>
            </a:endParaRPr>
          </a:p>
          <a:p>
            <a:pPr>
              <a:buFont typeface="Wingdings" pitchFamily="2" charset="2"/>
              <a:buChar char="q"/>
              <a:defRPr/>
            </a:pPr>
            <a:r>
              <a:rPr lang="en-US" sz="2800" dirty="0" smtClean="0">
                <a:latin typeface="Arial" pitchFamily="34" charset="0"/>
                <a:cs typeface="Arial" pitchFamily="34" charset="0"/>
              </a:rPr>
              <a:t> </a:t>
            </a:r>
            <a:r>
              <a:rPr lang="en-US" sz="2800" u="sng" dirty="0" smtClean="0">
                <a:latin typeface="Arial" pitchFamily="34" charset="0"/>
                <a:cs typeface="Arial" pitchFamily="34" charset="0"/>
              </a:rPr>
              <a:t>A.1</a:t>
            </a:r>
            <a:r>
              <a:rPr lang="en-US" sz="2800" dirty="0" smtClean="0">
                <a:latin typeface="Arial" pitchFamily="34" charset="0"/>
                <a:cs typeface="Arial" pitchFamily="34" charset="0"/>
              </a:rPr>
              <a:t>  The software house did  not honor </a:t>
            </a:r>
            <a:r>
              <a:rPr lang="en-US" sz="2800" b="1" dirty="0" smtClean="0">
                <a:latin typeface="Arial" pitchFamily="34" charset="0"/>
                <a:cs typeface="Arial" pitchFamily="34" charset="0"/>
              </a:rPr>
              <a:t>contract,  agreements</a:t>
            </a:r>
            <a:r>
              <a:rPr lang="en-US" sz="2800" b="1" dirty="0">
                <a:latin typeface="Arial" pitchFamily="34" charset="0"/>
                <a:cs typeface="Arial" pitchFamily="34" charset="0"/>
              </a:rPr>
              <a:t>, and </a:t>
            </a:r>
            <a:r>
              <a:rPr lang="en-US" sz="2800" b="1" dirty="0" smtClean="0">
                <a:latin typeface="Arial" pitchFamily="34" charset="0"/>
                <a:cs typeface="Arial" pitchFamily="34" charset="0"/>
              </a:rPr>
              <a:t/>
            </a:r>
            <a:br>
              <a:rPr lang="en-US" sz="2800" b="1" dirty="0" smtClean="0">
                <a:latin typeface="Arial" pitchFamily="34" charset="0"/>
                <a:cs typeface="Arial" pitchFamily="34" charset="0"/>
              </a:rPr>
            </a:br>
            <a:r>
              <a:rPr lang="en-US" sz="2800" b="1" dirty="0" smtClean="0">
                <a:latin typeface="Arial" pitchFamily="34" charset="0"/>
                <a:cs typeface="Arial" pitchFamily="34" charset="0"/>
              </a:rPr>
              <a:t>         assigned </a:t>
            </a:r>
            <a:r>
              <a:rPr lang="en-US" sz="2800" b="1" dirty="0">
                <a:latin typeface="Arial" pitchFamily="34" charset="0"/>
                <a:cs typeface="Arial" pitchFamily="34" charset="0"/>
              </a:rPr>
              <a:t>responsibilities</a:t>
            </a:r>
            <a:r>
              <a:rPr lang="en-US" sz="2800" b="1" dirty="0" smtClean="0">
                <a:latin typeface="Arial" pitchFamily="34" charset="0"/>
                <a:cs typeface="Arial" pitchFamily="34" charset="0"/>
              </a:rPr>
              <a:t>. </a:t>
            </a:r>
            <a:r>
              <a:rPr lang="en-US" sz="2800" dirty="0" smtClean="0">
                <a:latin typeface="Arial" pitchFamily="34" charset="0"/>
                <a:cs typeface="Arial" pitchFamily="34" charset="0"/>
              </a:rPr>
              <a:t>(ACM Code)</a:t>
            </a:r>
            <a:endParaRPr lang="en-US" sz="2800" dirty="0">
              <a:latin typeface="Arial" pitchFamily="34" charset="0"/>
              <a:cs typeface="Arial" pitchFamily="34" charset="0"/>
            </a:endParaRPr>
          </a:p>
          <a:p>
            <a:pPr>
              <a:buFont typeface="Wingdings" pitchFamily="2" charset="2"/>
              <a:buChar char="q"/>
              <a:defRPr/>
            </a:pPr>
            <a:r>
              <a:rPr lang="en-US" sz="2800" dirty="0" smtClean="0">
                <a:latin typeface="Arial" pitchFamily="34" charset="0"/>
                <a:cs typeface="Arial" pitchFamily="34" charset="0"/>
              </a:rPr>
              <a:t> </a:t>
            </a:r>
            <a:r>
              <a:rPr lang="en-US" sz="2800" u="sng" dirty="0" smtClean="0">
                <a:latin typeface="Arial" pitchFamily="34" charset="0"/>
                <a:cs typeface="Arial" pitchFamily="34" charset="0"/>
              </a:rPr>
              <a:t>A.2</a:t>
            </a:r>
            <a:r>
              <a:rPr lang="en-US" sz="2800" dirty="0" smtClean="0">
                <a:latin typeface="Arial" pitchFamily="34" charset="0"/>
                <a:cs typeface="Arial" pitchFamily="34" charset="0"/>
              </a:rPr>
              <a:t> </a:t>
            </a:r>
            <a:r>
              <a:rPr lang="en-US" sz="2800" dirty="0">
                <a:latin typeface="Arial" pitchFamily="34" charset="0"/>
                <a:cs typeface="Arial" pitchFamily="34" charset="0"/>
              </a:rPr>
              <a:t>(i) </a:t>
            </a:r>
            <a:r>
              <a:rPr lang="en-US" sz="2800" dirty="0" smtClean="0">
                <a:latin typeface="Arial" pitchFamily="34" charset="0"/>
                <a:cs typeface="Arial" pitchFamily="34" charset="0"/>
              </a:rPr>
              <a:t>The software house had the responsibility to thoroughly test </a:t>
            </a:r>
            <a:br>
              <a:rPr lang="en-US" sz="2800" dirty="0" smtClean="0">
                <a:latin typeface="Arial" pitchFamily="34" charset="0"/>
                <a:cs typeface="Arial" pitchFamily="34" charset="0"/>
              </a:rPr>
            </a:br>
            <a:r>
              <a:rPr lang="en-US" sz="2800" dirty="0" smtClean="0">
                <a:latin typeface="Arial" pitchFamily="34" charset="0"/>
                <a:cs typeface="Arial" pitchFamily="34" charset="0"/>
              </a:rPr>
              <a:t>            the software before handing over to the clients. </a:t>
            </a:r>
            <a:endParaRPr lang="en-US" sz="2800" dirty="0">
              <a:latin typeface="Arial" pitchFamily="34" charset="0"/>
              <a:cs typeface="Arial" pitchFamily="34" charset="0"/>
            </a:endParaRPr>
          </a:p>
          <a:p>
            <a:pPr marL="0" indent="0">
              <a:buFont typeface="Wingdings" panose="05000000000000000000" pitchFamily="2" charset="2"/>
              <a:buNone/>
              <a:defRPr/>
            </a:pPr>
            <a:r>
              <a:rPr lang="en-US" sz="2800" dirty="0">
                <a:latin typeface="Arial" pitchFamily="34" charset="0"/>
                <a:cs typeface="Arial" pitchFamily="34" charset="0"/>
              </a:rPr>
              <a:t>          </a:t>
            </a:r>
            <a:r>
              <a:rPr lang="en-US" sz="2800" dirty="0" smtClean="0">
                <a:latin typeface="Arial" pitchFamily="34" charset="0"/>
                <a:cs typeface="Arial" pitchFamily="34" charset="0"/>
              </a:rPr>
              <a:t>(</a:t>
            </a:r>
            <a:r>
              <a:rPr lang="en-US" sz="2800" dirty="0">
                <a:latin typeface="Arial" pitchFamily="34" charset="0"/>
                <a:cs typeface="Arial" pitchFamily="34" charset="0"/>
              </a:rPr>
              <a:t>ii) </a:t>
            </a:r>
            <a:r>
              <a:rPr lang="en-US" sz="2800" dirty="0" smtClean="0">
                <a:latin typeface="Arial" pitchFamily="34" charset="0"/>
                <a:cs typeface="Arial" pitchFamily="34" charset="0"/>
              </a:rPr>
              <a:t>The  software  house  had false  contracts  with  the clients.</a:t>
            </a:r>
            <a:endParaRPr lang="en-US" sz="2800" dirty="0">
              <a:latin typeface="Arial" pitchFamily="34" charset="0"/>
              <a:cs typeface="Arial" pitchFamily="34" charset="0"/>
            </a:endParaRPr>
          </a:p>
          <a:p>
            <a:pPr>
              <a:defRPr/>
            </a:pP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bwMode="auto">
          <a:xfrm>
            <a:off x="594360" y="76200"/>
            <a:ext cx="10698480" cy="654050"/>
          </a:xfrm>
          <a:noFill/>
          <a:ln>
            <a:miter lim="800000"/>
            <a:headEnd/>
            <a:tailEnd/>
          </a:ln>
        </p:spPr>
        <p:txBody>
          <a:bodyPr vert="horz" wrap="square" lIns="91440" tIns="45720" rIns="91440" bIns="45720" numCol="1" anchor="t" anchorCtr="0" compatLnSpc="1">
            <a:prstTxWarp prst="textNoShape">
              <a:avLst/>
            </a:prstTxWarp>
            <a:noAutofit/>
          </a:bodyPr>
          <a:lstStyle/>
          <a:p>
            <a:r>
              <a:rPr lang="en-US" altLang="en-US" sz="4000" b="1" dirty="0" smtClean="0">
                <a:solidFill>
                  <a:srgbClr val="C00000"/>
                </a:solidFill>
                <a:latin typeface="Arial" pitchFamily="34" charset="0"/>
                <a:cs typeface="Arial" pitchFamily="34" charset="0"/>
              </a:rPr>
              <a:t>Ethical decision making: Case 4</a:t>
            </a:r>
            <a:br>
              <a:rPr lang="en-US" altLang="en-US" sz="4000" b="1" dirty="0" smtClean="0">
                <a:solidFill>
                  <a:srgbClr val="C00000"/>
                </a:solidFill>
                <a:latin typeface="Arial" pitchFamily="34" charset="0"/>
                <a:cs typeface="Arial" pitchFamily="34" charset="0"/>
              </a:rPr>
            </a:br>
            <a:r>
              <a:rPr lang="en-US" altLang="en-US" sz="4000" b="1" dirty="0" smtClean="0">
                <a:solidFill>
                  <a:srgbClr val="C00000"/>
                </a:solidFill>
                <a:latin typeface="Arial" pitchFamily="34" charset="0"/>
                <a:cs typeface="Arial" pitchFamily="34" charset="0"/>
              </a:rPr>
              <a:t> (Continue)</a:t>
            </a:r>
          </a:p>
        </p:txBody>
      </p:sp>
      <p:sp>
        <p:nvSpPr>
          <p:cNvPr id="3" name="Content Placeholder 2"/>
          <p:cNvSpPr>
            <a:spLocks noGrp="1"/>
          </p:cNvSpPr>
          <p:nvPr>
            <p:ph idx="1"/>
          </p:nvPr>
        </p:nvSpPr>
        <p:spPr>
          <a:xfrm>
            <a:off x="304800" y="1828800"/>
            <a:ext cx="11277600" cy="4495800"/>
          </a:xfrm>
        </p:spPr>
        <p:txBody>
          <a:bodyPr>
            <a:normAutofit/>
          </a:bodyPr>
          <a:lstStyle/>
          <a:p>
            <a:pPr algn="just">
              <a:buFont typeface="Wingdings" pitchFamily="2" charset="2"/>
              <a:buChar char="q"/>
              <a:defRPr/>
            </a:pPr>
            <a:r>
              <a:rPr lang="en-US" sz="2800" dirty="0" smtClean="0">
                <a:latin typeface="Arial" pitchFamily="34" charset="0"/>
                <a:cs typeface="Arial" pitchFamily="34" charset="0"/>
              </a:rPr>
              <a:t>An   organization   wants   to   hire  software engineers,  you  are  the software manager and asked to hire white persons (not black)  by the top management, Further  you are asked to prefer female candidates over male candidates.</a:t>
            </a:r>
            <a:endParaRPr lang="en-US" sz="2800" dirty="0">
              <a:latin typeface="Arial" pitchFamily="34" charset="0"/>
              <a:cs typeface="Arial" pitchFamily="34" charset="0"/>
            </a:endParaRPr>
          </a:p>
          <a:p>
            <a:pPr marL="0" indent="0">
              <a:buNone/>
              <a:defRPr/>
            </a:pPr>
            <a:endParaRPr lang="en-US" sz="28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bwMode="auto">
          <a:xfrm>
            <a:off x="609600" y="46038"/>
            <a:ext cx="9220200" cy="868362"/>
          </a:xfrm>
          <a:noFill/>
          <a:ln>
            <a:miter lim="800000"/>
            <a:headEnd/>
            <a:tailEnd/>
          </a:ln>
        </p:spPr>
        <p:txBody>
          <a:bodyPr vert="horz" wrap="square" lIns="91440" tIns="45720" rIns="91440" bIns="45720" numCol="1" anchor="t" anchorCtr="0" compatLnSpc="1">
            <a:prstTxWarp prst="textNoShape">
              <a:avLst/>
            </a:prstTxWarp>
            <a:noAutofit/>
          </a:bodyPr>
          <a:lstStyle/>
          <a:p>
            <a:r>
              <a:rPr lang="en-US" altLang="en-US" sz="4000" b="1" dirty="0" smtClean="0">
                <a:solidFill>
                  <a:srgbClr val="C00000"/>
                </a:solidFill>
                <a:latin typeface="Arial" pitchFamily="34" charset="0"/>
                <a:cs typeface="Arial" pitchFamily="34" charset="0"/>
              </a:rPr>
              <a:t>Ethical decision making: Case 4 </a:t>
            </a:r>
            <a:br>
              <a:rPr lang="en-US" altLang="en-US" sz="4000" b="1" dirty="0" smtClean="0">
                <a:solidFill>
                  <a:srgbClr val="C00000"/>
                </a:solidFill>
                <a:latin typeface="Arial" pitchFamily="34" charset="0"/>
                <a:cs typeface="Arial" pitchFamily="34" charset="0"/>
              </a:rPr>
            </a:br>
            <a:endParaRPr lang="en-US" sz="4000" b="1" dirty="0" smtClean="0">
              <a:solidFill>
                <a:srgbClr val="C00000"/>
              </a:solidFill>
              <a:latin typeface="Arial" pitchFamily="34" charset="0"/>
              <a:cs typeface="Arial" pitchFamily="34" charset="0"/>
            </a:endParaRPr>
          </a:p>
        </p:txBody>
      </p:sp>
      <p:sp>
        <p:nvSpPr>
          <p:cNvPr id="3" name="Content Placeholder 2"/>
          <p:cNvSpPr>
            <a:spLocks noGrp="1"/>
          </p:cNvSpPr>
          <p:nvPr>
            <p:ph idx="1"/>
          </p:nvPr>
        </p:nvSpPr>
        <p:spPr>
          <a:xfrm>
            <a:off x="228600" y="1524000"/>
            <a:ext cx="11430000" cy="4497388"/>
          </a:xfrm>
        </p:spPr>
        <p:txBody>
          <a:bodyPr>
            <a:normAutofit/>
          </a:bodyPr>
          <a:lstStyle/>
          <a:p>
            <a:pPr>
              <a:buFont typeface="Wingdings" pitchFamily="2" charset="2"/>
              <a:buChar char="q"/>
              <a:defRPr/>
            </a:pPr>
            <a:r>
              <a:rPr lang="en-US" sz="2800" u="sng" dirty="0">
                <a:latin typeface="Arial" pitchFamily="34" charset="0"/>
                <a:cs typeface="Arial" pitchFamily="34" charset="0"/>
              </a:rPr>
              <a:t>Q.1</a:t>
            </a:r>
            <a:r>
              <a:rPr lang="en-US" sz="2800" dirty="0">
                <a:latin typeface="Arial" pitchFamily="34" charset="0"/>
                <a:cs typeface="Arial" pitchFamily="34" charset="0"/>
              </a:rPr>
              <a:t> Which type of code of ethics applied </a:t>
            </a:r>
            <a:r>
              <a:rPr lang="en-US" sz="2800" dirty="0" smtClean="0">
                <a:latin typeface="Arial" pitchFamily="34" charset="0"/>
                <a:cs typeface="Arial" pitchFamily="34" charset="0"/>
              </a:rPr>
              <a:t>here?</a:t>
            </a:r>
          </a:p>
          <a:p>
            <a:pPr>
              <a:buFont typeface="Wingdings" pitchFamily="2" charset="2"/>
              <a:buChar char="q"/>
              <a:defRPr/>
            </a:pPr>
            <a:r>
              <a:rPr lang="en-US" sz="2800" u="sng" dirty="0" smtClean="0">
                <a:latin typeface="Arial" pitchFamily="34" charset="0"/>
                <a:cs typeface="Arial" pitchFamily="34" charset="0"/>
              </a:rPr>
              <a:t>Q.2</a:t>
            </a:r>
            <a:r>
              <a:rPr lang="en-US" sz="2800" dirty="0" smtClean="0">
                <a:latin typeface="Arial" pitchFamily="34" charset="0"/>
                <a:cs typeface="Arial" pitchFamily="34" charset="0"/>
              </a:rPr>
              <a:t> </a:t>
            </a:r>
            <a:r>
              <a:rPr lang="en-US" sz="2800" dirty="0">
                <a:latin typeface="Arial" pitchFamily="34" charset="0"/>
                <a:cs typeface="Arial" pitchFamily="34" charset="0"/>
              </a:rPr>
              <a:t>what actions should </a:t>
            </a:r>
            <a:r>
              <a:rPr lang="en-US" sz="2800" dirty="0" smtClean="0">
                <a:latin typeface="Arial" pitchFamily="34" charset="0"/>
                <a:cs typeface="Arial" pitchFamily="34" charset="0"/>
              </a:rPr>
              <a:t>you take for hiring process?</a:t>
            </a:r>
            <a:br>
              <a:rPr lang="en-US" sz="2800" dirty="0" smtClean="0">
                <a:latin typeface="Arial" pitchFamily="34" charset="0"/>
                <a:cs typeface="Arial" pitchFamily="34" charset="0"/>
              </a:rPr>
            </a:br>
            <a:endParaRPr lang="en-US" sz="2800" dirty="0">
              <a:latin typeface="Arial" pitchFamily="34" charset="0"/>
              <a:cs typeface="Arial" pitchFamily="34" charset="0"/>
            </a:endParaRPr>
          </a:p>
          <a:p>
            <a:pPr>
              <a:buFont typeface="Wingdings" pitchFamily="2" charset="2"/>
              <a:buChar char="q"/>
              <a:defRPr/>
            </a:pPr>
            <a:r>
              <a:rPr lang="en-US" sz="2800" u="sng" dirty="0" smtClean="0">
                <a:latin typeface="Arial" pitchFamily="34" charset="0"/>
                <a:cs typeface="Arial" pitchFamily="34" charset="0"/>
              </a:rPr>
              <a:t>A.1</a:t>
            </a:r>
            <a:r>
              <a:rPr lang="en-US" sz="2800" dirty="0" smtClean="0">
                <a:latin typeface="Arial" pitchFamily="34" charset="0"/>
                <a:cs typeface="Arial" pitchFamily="34" charset="0"/>
              </a:rPr>
              <a:t> </a:t>
            </a:r>
            <a:r>
              <a:rPr lang="en-US" sz="2800" b="1" dirty="0" smtClean="0">
                <a:latin typeface="Arial" pitchFamily="34" charset="0"/>
                <a:cs typeface="Arial" pitchFamily="34" charset="0"/>
              </a:rPr>
              <a:t>Fairness </a:t>
            </a:r>
            <a:r>
              <a:rPr lang="en-US" sz="2800" b="1" dirty="0">
                <a:latin typeface="Arial" pitchFamily="34" charset="0"/>
                <a:cs typeface="Arial" pitchFamily="34" charset="0"/>
              </a:rPr>
              <a:t>and </a:t>
            </a:r>
            <a:r>
              <a:rPr lang="en-US" sz="2800" b="1" dirty="0" smtClean="0">
                <a:latin typeface="Arial" pitchFamily="34" charset="0"/>
                <a:cs typeface="Arial" pitchFamily="34" charset="0"/>
              </a:rPr>
              <a:t>discrimination</a:t>
            </a:r>
            <a:r>
              <a:rPr lang="en-US" sz="2800" dirty="0" smtClean="0">
                <a:latin typeface="Arial" pitchFamily="34" charset="0"/>
                <a:cs typeface="Arial" pitchFamily="34" charset="0"/>
              </a:rPr>
              <a:t>.</a:t>
            </a:r>
          </a:p>
          <a:p>
            <a:pPr>
              <a:buFont typeface="Wingdings" pitchFamily="2" charset="2"/>
              <a:buChar char="q"/>
              <a:defRPr/>
            </a:pPr>
            <a:r>
              <a:rPr lang="en-US" sz="2800" u="sng" dirty="0" smtClean="0">
                <a:latin typeface="Arial" pitchFamily="34" charset="0"/>
                <a:cs typeface="Arial" pitchFamily="34" charset="0"/>
              </a:rPr>
              <a:t>A.2</a:t>
            </a:r>
            <a:r>
              <a:rPr lang="en-US" sz="2800" dirty="0" smtClean="0">
                <a:latin typeface="Arial" pitchFamily="34" charset="0"/>
                <a:cs typeface="Arial" pitchFamily="34" charset="0"/>
              </a:rPr>
              <a:t> </a:t>
            </a:r>
            <a:r>
              <a:rPr lang="en-US" sz="2800" dirty="0">
                <a:latin typeface="Arial" pitchFamily="34" charset="0"/>
                <a:cs typeface="Arial" pitchFamily="34" charset="0"/>
              </a:rPr>
              <a:t>(i) </a:t>
            </a:r>
            <a:r>
              <a:rPr lang="en-US" sz="2800" dirty="0" smtClean="0">
                <a:latin typeface="Arial" pitchFamily="34" charset="0"/>
                <a:cs typeface="Arial" pitchFamily="34" charset="0"/>
              </a:rPr>
              <a:t>You should </a:t>
            </a:r>
            <a:r>
              <a:rPr lang="en-US" sz="2800" dirty="0">
                <a:latin typeface="Arial" pitchFamily="34" charset="0"/>
                <a:cs typeface="Arial" pitchFamily="34" charset="0"/>
              </a:rPr>
              <a:t>communicate </a:t>
            </a:r>
            <a:r>
              <a:rPr lang="en-US" sz="2800" dirty="0" smtClean="0">
                <a:latin typeface="Arial" pitchFamily="34" charset="0"/>
                <a:cs typeface="Arial" pitchFamily="34" charset="0"/>
              </a:rPr>
              <a:t>the disadvantages of discrimination </a:t>
            </a:r>
            <a:br>
              <a:rPr lang="en-US" sz="2800" dirty="0" smtClean="0">
                <a:latin typeface="Arial" pitchFamily="34" charset="0"/>
                <a:cs typeface="Arial" pitchFamily="34" charset="0"/>
              </a:rPr>
            </a:br>
            <a:r>
              <a:rPr lang="en-US" sz="2800" dirty="0" smtClean="0">
                <a:latin typeface="Arial" pitchFamily="34" charset="0"/>
                <a:cs typeface="Arial" pitchFamily="34" charset="0"/>
              </a:rPr>
              <a:t>           with the higher management.</a:t>
            </a:r>
            <a:endParaRPr lang="en-US" sz="2800" dirty="0">
              <a:latin typeface="Arial" pitchFamily="34" charset="0"/>
              <a:cs typeface="Arial" pitchFamily="34" charset="0"/>
            </a:endParaRPr>
          </a:p>
          <a:p>
            <a:pPr marL="0" indent="0">
              <a:buFont typeface="Wingdings" panose="05000000000000000000" pitchFamily="2" charset="2"/>
              <a:buNone/>
              <a:defRPr/>
            </a:pPr>
            <a:r>
              <a:rPr lang="en-US" sz="2800" dirty="0" smtClean="0">
                <a:latin typeface="Arial" pitchFamily="34" charset="0"/>
                <a:cs typeface="Arial" pitchFamily="34" charset="0"/>
              </a:rPr>
              <a:t>         (</a:t>
            </a:r>
            <a:r>
              <a:rPr lang="en-US" sz="2800" dirty="0">
                <a:latin typeface="Arial" pitchFamily="34" charset="0"/>
                <a:cs typeface="Arial" pitchFamily="34" charset="0"/>
              </a:rPr>
              <a:t>ii) If the management does not agree </a:t>
            </a:r>
            <a:r>
              <a:rPr lang="en-US" sz="2800" dirty="0" smtClean="0">
                <a:latin typeface="Arial" pitchFamily="34" charset="0"/>
                <a:cs typeface="Arial" pitchFamily="34" charset="0"/>
              </a:rPr>
              <a:t>then you should refuse to</a:t>
            </a:r>
            <a:br>
              <a:rPr lang="en-US" sz="2800" dirty="0" smtClean="0">
                <a:latin typeface="Arial" pitchFamily="34" charset="0"/>
                <a:cs typeface="Arial" pitchFamily="34" charset="0"/>
              </a:rPr>
            </a:br>
            <a:r>
              <a:rPr lang="en-US" sz="2800" dirty="0" smtClean="0">
                <a:latin typeface="Arial" pitchFamily="34" charset="0"/>
                <a:cs typeface="Arial" pitchFamily="34" charset="0"/>
              </a:rPr>
              <a:t>              take part in the hiring process.</a:t>
            </a:r>
            <a:endParaRPr lang="en-US" sz="2800" dirty="0">
              <a:latin typeface="Arial" pitchFamily="34" charset="0"/>
              <a:cs typeface="Arial" pitchFamily="34" charset="0"/>
            </a:endParaRPr>
          </a:p>
          <a:p>
            <a:pPr>
              <a:defRPr/>
            </a:pPr>
            <a:endParaRPr lang="en-US" sz="28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277" y="228600"/>
            <a:ext cx="10504323" cy="914400"/>
          </a:xfrm>
        </p:spPr>
        <p:txBody>
          <a:bodyPr>
            <a:normAutofit fontScale="90000"/>
          </a:bodyPr>
          <a:lstStyle/>
          <a:p>
            <a:r>
              <a:rPr lang="en-US" altLang="en-US" sz="4000" b="1" dirty="0" smtClean="0">
                <a:solidFill>
                  <a:srgbClr val="C00000"/>
                </a:solidFill>
                <a:latin typeface="Arial" pitchFamily="34" charset="0"/>
                <a:cs typeface="Arial" pitchFamily="34" charset="0"/>
              </a:rPr>
              <a:t>Ethical decision making: </a:t>
            </a:r>
            <a:r>
              <a:rPr lang="en-US" sz="4000" b="1" dirty="0" smtClean="0">
                <a:solidFill>
                  <a:srgbClr val="C00000"/>
                </a:solidFill>
                <a:latin typeface="Arial" pitchFamily="34" charset="0"/>
                <a:cs typeface="Arial" pitchFamily="34" charset="0"/>
              </a:rPr>
              <a:t>Case 5</a:t>
            </a:r>
            <a:r>
              <a:rPr lang="en-US" altLang="en-US" sz="4000" b="1" dirty="0" smtClean="0">
                <a:solidFill>
                  <a:srgbClr val="C00000"/>
                </a:solidFill>
                <a:latin typeface="Arial" pitchFamily="34" charset="0"/>
                <a:cs typeface="Arial" pitchFamily="34" charset="0"/>
              </a:rPr>
              <a:t> (Continue)</a:t>
            </a:r>
            <a:endParaRPr lang="en-US" sz="4000" b="1" dirty="0">
              <a:solidFill>
                <a:srgbClr val="C00000"/>
              </a:solidFill>
              <a:latin typeface="Arial" pitchFamily="34" charset="0"/>
              <a:cs typeface="Arial" pitchFamily="34" charset="0"/>
            </a:endParaRPr>
          </a:p>
        </p:txBody>
      </p:sp>
      <p:sp>
        <p:nvSpPr>
          <p:cNvPr id="3" name="Content Placeholder 2"/>
          <p:cNvSpPr>
            <a:spLocks noGrp="1"/>
          </p:cNvSpPr>
          <p:nvPr>
            <p:ph sz="quarter" idx="1"/>
          </p:nvPr>
        </p:nvSpPr>
        <p:spPr>
          <a:xfrm>
            <a:off x="228600" y="1527048"/>
            <a:ext cx="11429999" cy="4572000"/>
          </a:xfrm>
        </p:spPr>
        <p:txBody>
          <a:bodyPr>
            <a:noAutofit/>
          </a:bodyPr>
          <a:lstStyle/>
          <a:p>
            <a:pPr>
              <a:buFont typeface="Wingdings" pitchFamily="2" charset="2"/>
              <a:buChar char="q"/>
            </a:pPr>
            <a:r>
              <a:rPr lang="en-US" sz="2400" dirty="0" smtClean="0">
                <a:latin typeface="Arial" pitchFamily="34" charset="0"/>
                <a:cs typeface="Arial" pitchFamily="34" charset="0"/>
              </a:rPr>
              <a:t>Suppose you are working as a junior web developer, and your job is to report  to  your   project   manager    according  to  organization’s  organogram,   one   day chairman /CEO calls you and asks you to keep an eye on your project  manager and asks you to keep chairman/CEO  update  about  all  the activities  of  project </a:t>
            </a:r>
            <a:br>
              <a:rPr lang="en-US" sz="2400" dirty="0" smtClean="0">
                <a:latin typeface="Arial" pitchFamily="34" charset="0"/>
                <a:cs typeface="Arial" pitchFamily="34" charset="0"/>
              </a:rPr>
            </a:br>
            <a:r>
              <a:rPr lang="en-US" sz="2400" dirty="0" smtClean="0">
                <a:latin typeface="Arial" pitchFamily="34" charset="0"/>
                <a:cs typeface="Arial" pitchFamily="34" charset="0"/>
              </a:rPr>
              <a:t>manager, who is officially your boss and even offers you lucrative allowance and </a:t>
            </a:r>
            <a:br>
              <a:rPr lang="en-US" sz="2400" dirty="0" smtClean="0">
                <a:latin typeface="Arial" pitchFamily="34" charset="0"/>
                <a:cs typeface="Arial" pitchFamily="34" charset="0"/>
              </a:rPr>
            </a:br>
            <a:r>
              <a:rPr lang="en-US" sz="2400" dirty="0" smtClean="0">
                <a:latin typeface="Arial" pitchFamily="34" charset="0"/>
                <a:cs typeface="Arial" pitchFamily="34" charset="0"/>
              </a:rPr>
              <a:t>other fringe  benefits in return against that favor.</a:t>
            </a:r>
            <a:br>
              <a:rPr lang="en-US" sz="2400" dirty="0" smtClean="0">
                <a:latin typeface="Arial" pitchFamily="34" charset="0"/>
                <a:cs typeface="Arial" pitchFamily="34" charset="0"/>
              </a:rPr>
            </a:br>
            <a:endParaRPr lang="en-US" sz="2400" dirty="0" smtClean="0">
              <a:latin typeface="Arial" pitchFamily="34" charset="0"/>
              <a:cs typeface="Arial" pitchFamily="34" charset="0"/>
            </a:endParaRPr>
          </a:p>
          <a:p>
            <a:pPr>
              <a:buFont typeface="Wingdings" pitchFamily="2" charset="2"/>
              <a:buChar char="q"/>
            </a:pPr>
            <a:r>
              <a:rPr lang="en-US" sz="2400" dirty="0" smtClean="0">
                <a:latin typeface="Arial" pitchFamily="34" charset="0"/>
                <a:cs typeface="Arial" pitchFamily="34" charset="0"/>
              </a:rPr>
              <a:t>(i) Which type of code of ethics applied here?</a:t>
            </a:r>
          </a:p>
          <a:p>
            <a:pPr>
              <a:buFont typeface="Wingdings" pitchFamily="2" charset="2"/>
              <a:buChar char="q"/>
            </a:pPr>
            <a:r>
              <a:rPr lang="en-US" sz="2400" dirty="0" smtClean="0">
                <a:latin typeface="Arial" pitchFamily="34" charset="0"/>
                <a:cs typeface="Arial" pitchFamily="34" charset="0"/>
              </a:rPr>
              <a:t>(ii) How would you respond in such situation in a way that is ethical, moral and </a:t>
            </a:r>
            <a:br>
              <a:rPr lang="en-US" sz="2400" dirty="0" smtClean="0">
                <a:latin typeface="Arial" pitchFamily="34" charset="0"/>
                <a:cs typeface="Arial" pitchFamily="34" charset="0"/>
              </a:rPr>
            </a:br>
            <a:r>
              <a:rPr lang="en-US" sz="2400" dirty="0" smtClean="0">
                <a:latin typeface="Arial" pitchFamily="34" charset="0"/>
                <a:cs typeface="Arial" pitchFamily="34" charset="0"/>
              </a:rPr>
              <a:t>     legal.?</a:t>
            </a:r>
          </a:p>
          <a:p>
            <a:pPr>
              <a:buFont typeface="Wingdings" pitchFamily="2" charset="2"/>
              <a:buChar char="q"/>
            </a:pPr>
            <a:endParaRPr lang="en-US" sz="24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smtClean="0">
                <a:solidFill>
                  <a:srgbClr val="C00000"/>
                </a:solidFill>
                <a:latin typeface="Arial" pitchFamily="34" charset="0"/>
                <a:cs typeface="Arial" pitchFamily="34" charset="0"/>
              </a:rPr>
              <a:t> </a:t>
            </a:r>
            <a:r>
              <a:rPr lang="en-US" altLang="en-US" sz="3600" b="1" dirty="0" smtClean="0">
                <a:solidFill>
                  <a:srgbClr val="C00000"/>
                </a:solidFill>
                <a:latin typeface="Arial" pitchFamily="34" charset="0"/>
                <a:cs typeface="Arial" pitchFamily="34" charset="0"/>
              </a:rPr>
              <a:t>Ethical decision making: </a:t>
            </a:r>
            <a:r>
              <a:rPr lang="en-US" sz="3600" b="1" dirty="0" smtClean="0">
                <a:solidFill>
                  <a:srgbClr val="C00000"/>
                </a:solidFill>
                <a:latin typeface="Arial" pitchFamily="34" charset="0"/>
                <a:cs typeface="Arial" pitchFamily="34" charset="0"/>
              </a:rPr>
              <a:t>Case 5</a:t>
            </a:r>
            <a:endParaRPr lang="en-US" dirty="0"/>
          </a:p>
        </p:txBody>
      </p:sp>
      <p:sp>
        <p:nvSpPr>
          <p:cNvPr id="3" name="Content Placeholder 2"/>
          <p:cNvSpPr>
            <a:spLocks noGrp="1"/>
          </p:cNvSpPr>
          <p:nvPr>
            <p:ph sz="quarter" idx="1"/>
          </p:nvPr>
        </p:nvSpPr>
        <p:spPr>
          <a:xfrm>
            <a:off x="228600" y="1527048"/>
            <a:ext cx="11430000" cy="4873752"/>
          </a:xfrm>
        </p:spPr>
        <p:txBody>
          <a:bodyPr/>
          <a:lstStyle/>
          <a:p>
            <a:pPr>
              <a:buFont typeface="Wingdings" pitchFamily="2" charset="2"/>
              <a:buChar char="q"/>
              <a:defRPr/>
            </a:pPr>
            <a:endParaRPr lang="en-US" sz="2400" u="sng" dirty="0" smtClean="0">
              <a:latin typeface="Arial" pitchFamily="34" charset="0"/>
              <a:cs typeface="Arial" pitchFamily="34" charset="0"/>
            </a:endParaRPr>
          </a:p>
          <a:p>
            <a:pPr>
              <a:buFont typeface="Wingdings" pitchFamily="2" charset="2"/>
              <a:buChar char="q"/>
              <a:defRPr/>
            </a:pPr>
            <a:r>
              <a:rPr lang="en-US" sz="2400" u="sng" dirty="0" smtClean="0">
                <a:latin typeface="Arial" pitchFamily="34" charset="0"/>
                <a:cs typeface="Arial" pitchFamily="34" charset="0"/>
              </a:rPr>
              <a:t>A.1</a:t>
            </a:r>
            <a:r>
              <a:rPr lang="en-US" sz="2400" dirty="0" smtClean="0">
                <a:latin typeface="Arial" pitchFamily="34" charset="0"/>
                <a:cs typeface="Arial" pitchFamily="34" charset="0"/>
              </a:rPr>
              <a:t> </a:t>
            </a:r>
            <a:r>
              <a:rPr lang="en-US" sz="2400" b="1" dirty="0" smtClean="0">
                <a:latin typeface="Arial" pitchFamily="34" charset="0"/>
                <a:cs typeface="Arial" pitchFamily="34" charset="0"/>
              </a:rPr>
              <a:t>Privacy and confidentiality</a:t>
            </a:r>
            <a:r>
              <a:rPr lang="en-US" sz="2400" dirty="0" smtClean="0">
                <a:latin typeface="Arial" pitchFamily="34" charset="0"/>
                <a:cs typeface="Arial" pitchFamily="34" charset="0"/>
              </a:rPr>
              <a:t>.</a:t>
            </a:r>
          </a:p>
          <a:p>
            <a:pPr>
              <a:buFont typeface="Wingdings" pitchFamily="2" charset="2"/>
              <a:buChar char="q"/>
              <a:defRPr/>
            </a:pPr>
            <a:endParaRPr lang="en-US" sz="2400" dirty="0" smtClean="0">
              <a:latin typeface="Arial" pitchFamily="34" charset="0"/>
              <a:cs typeface="Arial" pitchFamily="34" charset="0"/>
            </a:endParaRPr>
          </a:p>
          <a:p>
            <a:pPr>
              <a:buFont typeface="Wingdings" pitchFamily="2" charset="2"/>
              <a:buChar char="q"/>
              <a:defRPr/>
            </a:pPr>
            <a:r>
              <a:rPr lang="en-US" sz="2400" u="sng" dirty="0" smtClean="0">
                <a:latin typeface="Arial" pitchFamily="34" charset="0"/>
                <a:cs typeface="Arial" pitchFamily="34" charset="0"/>
              </a:rPr>
              <a:t>A.2</a:t>
            </a:r>
            <a:r>
              <a:rPr lang="en-US" sz="2400" dirty="0" smtClean="0">
                <a:latin typeface="Arial" pitchFamily="34" charset="0"/>
                <a:cs typeface="Arial" pitchFamily="34" charset="0"/>
              </a:rPr>
              <a:t> (i) You should talk to chairman or CEO in a polite way and tell them  keeping an eye is unethical and someone’s privacy and confidentiality will breach so one </a:t>
            </a:r>
            <a:br>
              <a:rPr lang="en-US" sz="2400" dirty="0" smtClean="0">
                <a:latin typeface="Arial" pitchFamily="34" charset="0"/>
                <a:cs typeface="Arial" pitchFamily="34" charset="0"/>
              </a:rPr>
            </a:br>
            <a:r>
              <a:rPr lang="en-US" sz="2400" dirty="0" smtClean="0">
                <a:latin typeface="Arial" pitchFamily="34" charset="0"/>
                <a:cs typeface="Arial" pitchFamily="34" charset="0"/>
              </a:rPr>
              <a:t>should refuse to be a part and refuse to take any benefit in return.   </a:t>
            </a:r>
          </a:p>
          <a:p>
            <a:pPr marL="0" indent="0">
              <a:buFont typeface="Wingdings" panose="05000000000000000000" pitchFamily="2" charset="2"/>
              <a:buNone/>
              <a:defRPr/>
            </a:pPr>
            <a:r>
              <a:rPr lang="en-US" sz="2400" dirty="0" smtClean="0">
                <a:latin typeface="Arial" pitchFamily="34" charset="0"/>
                <a:cs typeface="Arial" pitchFamily="34" charset="0"/>
              </a:rPr>
              <a:t>           </a:t>
            </a:r>
          </a:p>
          <a:p>
            <a:pPr marL="0" indent="0">
              <a:buFont typeface="Wingdings" panose="05000000000000000000" pitchFamily="2" charset="2"/>
              <a:buNone/>
              <a:defRPr/>
            </a:pPr>
            <a:r>
              <a:rPr lang="en-US" sz="2400" dirty="0" smtClean="0">
                <a:latin typeface="Arial" pitchFamily="34" charset="0"/>
                <a:cs typeface="Arial" pitchFamily="34" charset="0"/>
              </a:rPr>
              <a:t>  (ii) If  the  top  management  does  not  agree  then  its  better to suggest them to</a:t>
            </a:r>
            <a:br>
              <a:rPr lang="en-US" sz="2400" dirty="0" smtClean="0">
                <a:latin typeface="Arial" pitchFamily="34" charset="0"/>
                <a:cs typeface="Arial" pitchFamily="34" charset="0"/>
              </a:rPr>
            </a:br>
            <a:r>
              <a:rPr lang="en-US" sz="2400" dirty="0" smtClean="0">
                <a:latin typeface="Arial" pitchFamily="34" charset="0"/>
                <a:cs typeface="Arial" pitchFamily="34" charset="0"/>
              </a:rPr>
              <a:t>       assign this task to someone who is above </a:t>
            </a:r>
            <a:r>
              <a:rPr lang="en-US" sz="2400" dirty="0" smtClean="0">
                <a:latin typeface="Arial" pitchFamily="34" charset="0"/>
                <a:cs typeface="Arial" pitchFamily="34" charset="0"/>
              </a:rPr>
              <a:t>than </a:t>
            </a:r>
            <a:r>
              <a:rPr lang="en-US" sz="2400" dirty="0" smtClean="0">
                <a:latin typeface="Arial" pitchFamily="34" charset="0"/>
                <a:cs typeface="Arial" pitchFamily="34" charset="0"/>
              </a:rPr>
              <a:t>project manager in company’s</a:t>
            </a:r>
            <a:br>
              <a:rPr lang="en-US" sz="2400" dirty="0" smtClean="0">
                <a:latin typeface="Arial" pitchFamily="34" charset="0"/>
                <a:cs typeface="Arial" pitchFamily="34" charset="0"/>
              </a:rPr>
            </a:br>
            <a:r>
              <a:rPr lang="en-US" sz="2400" dirty="0" smtClean="0">
                <a:latin typeface="Arial" pitchFamily="34" charset="0"/>
                <a:cs typeface="Arial" pitchFamily="34" charset="0"/>
              </a:rPr>
              <a:t>       official organogram or hierarchy than you (junior developer). </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10199523" cy="838200"/>
          </a:xfrm>
        </p:spPr>
        <p:txBody>
          <a:bodyPr>
            <a:normAutofit fontScale="90000"/>
          </a:bodyPr>
          <a:lstStyle/>
          <a:p>
            <a:r>
              <a:rPr lang="en-US" altLang="en-US" sz="4000" b="1" dirty="0" smtClean="0">
                <a:solidFill>
                  <a:srgbClr val="C00000"/>
                </a:solidFill>
                <a:latin typeface="Arial" pitchFamily="34" charset="0"/>
                <a:cs typeface="Arial" pitchFamily="34" charset="0"/>
              </a:rPr>
              <a:t>Ethical decision making: </a:t>
            </a:r>
            <a:r>
              <a:rPr lang="en-US" sz="4000" b="1" dirty="0" smtClean="0">
                <a:solidFill>
                  <a:srgbClr val="C00000"/>
                </a:solidFill>
                <a:latin typeface="Arial" pitchFamily="34" charset="0"/>
                <a:cs typeface="Arial" pitchFamily="34" charset="0"/>
              </a:rPr>
              <a:t>CASE 6 (Continue)</a:t>
            </a:r>
            <a:endParaRPr lang="en-US" sz="4000" b="1" dirty="0">
              <a:solidFill>
                <a:srgbClr val="C00000"/>
              </a:solidFill>
              <a:latin typeface="Arial" pitchFamily="34" charset="0"/>
              <a:cs typeface="Arial" pitchFamily="34" charset="0"/>
            </a:endParaRPr>
          </a:p>
        </p:txBody>
      </p:sp>
      <p:sp>
        <p:nvSpPr>
          <p:cNvPr id="3" name="Content Placeholder 2"/>
          <p:cNvSpPr>
            <a:spLocks noGrp="1"/>
          </p:cNvSpPr>
          <p:nvPr>
            <p:ph sz="quarter" idx="1"/>
          </p:nvPr>
        </p:nvSpPr>
        <p:spPr>
          <a:xfrm>
            <a:off x="304800" y="1527048"/>
            <a:ext cx="11353800" cy="4721352"/>
          </a:xfrm>
        </p:spPr>
        <p:txBody>
          <a:bodyPr/>
          <a:lstStyle/>
          <a:p>
            <a:pPr>
              <a:buFont typeface="Wingdings" pitchFamily="2" charset="2"/>
              <a:buChar char="q"/>
            </a:pPr>
            <a:r>
              <a:rPr lang="en-US" sz="2400" dirty="0" smtClean="0">
                <a:latin typeface="Arial" pitchFamily="34" charset="0"/>
                <a:cs typeface="Arial" pitchFamily="34" charset="0"/>
              </a:rPr>
              <a:t>You  are  working in an university  as an Assistant Professor, one day  suddenly  you receive threatening  email  from  an  individual student or group of students for giving   good sessional marks.</a:t>
            </a:r>
            <a:br>
              <a:rPr lang="en-US" sz="2400" dirty="0" smtClean="0">
                <a:latin typeface="Arial" pitchFamily="34" charset="0"/>
                <a:cs typeface="Arial" pitchFamily="34" charset="0"/>
              </a:rPr>
            </a:br>
            <a:endParaRPr lang="en-US" sz="2400" dirty="0" smtClean="0">
              <a:latin typeface="Arial" pitchFamily="34" charset="0"/>
              <a:cs typeface="Arial" pitchFamily="34" charset="0"/>
            </a:endParaRPr>
          </a:p>
          <a:p>
            <a:pPr>
              <a:buFont typeface="Wingdings" pitchFamily="2" charset="2"/>
              <a:buChar char="q"/>
            </a:pPr>
            <a:r>
              <a:rPr lang="en-US" sz="2400" dirty="0" smtClean="0">
                <a:latin typeface="Arial" pitchFamily="34" charset="0"/>
                <a:cs typeface="Arial" pitchFamily="34" charset="0"/>
              </a:rPr>
              <a:t>(i)  </a:t>
            </a:r>
            <a:r>
              <a:rPr lang="en-US" sz="2400" b="1" dirty="0" smtClean="0">
                <a:latin typeface="Arial" pitchFamily="34" charset="0"/>
                <a:cs typeface="Arial" pitchFamily="34" charset="0"/>
              </a:rPr>
              <a:t>Identify</a:t>
            </a:r>
            <a:r>
              <a:rPr lang="en-US" sz="2400" dirty="0" smtClean="0">
                <a:latin typeface="Arial" pitchFamily="34" charset="0"/>
                <a:cs typeface="Arial" pitchFamily="34" charset="0"/>
              </a:rPr>
              <a:t> type of code of ethics applied here?</a:t>
            </a:r>
          </a:p>
          <a:p>
            <a:pPr>
              <a:buFont typeface="Wingdings" pitchFamily="2" charset="2"/>
              <a:buChar char="q"/>
            </a:pPr>
            <a:r>
              <a:rPr lang="en-US" sz="2400" dirty="0" smtClean="0">
                <a:latin typeface="Arial" pitchFamily="34" charset="0"/>
                <a:cs typeface="Arial" pitchFamily="34" charset="0"/>
              </a:rPr>
              <a:t>(ii) </a:t>
            </a:r>
            <a:r>
              <a:rPr lang="en-US" sz="2400" b="1" dirty="0" smtClean="0">
                <a:latin typeface="Arial" pitchFamily="34" charset="0"/>
                <a:cs typeface="Arial" pitchFamily="34" charset="0"/>
              </a:rPr>
              <a:t>Describe</a:t>
            </a:r>
            <a:r>
              <a:rPr lang="en-US" sz="2400" dirty="0" smtClean="0">
                <a:latin typeface="Arial" pitchFamily="34" charset="0"/>
                <a:cs typeface="Arial" pitchFamily="34" charset="0"/>
              </a:rPr>
              <a:t> How would you respond in such situation in a way that is ethical,</a:t>
            </a:r>
            <a:br>
              <a:rPr lang="en-US" sz="2400" dirty="0" smtClean="0">
                <a:latin typeface="Arial" pitchFamily="34" charset="0"/>
                <a:cs typeface="Arial" pitchFamily="34" charset="0"/>
              </a:rPr>
            </a:br>
            <a:r>
              <a:rPr lang="en-US" sz="2400" dirty="0" smtClean="0">
                <a:latin typeface="Arial" pitchFamily="34" charset="0"/>
                <a:cs typeface="Arial" pitchFamily="34" charset="0"/>
              </a:rPr>
              <a:t>     moral and legal?</a:t>
            </a:r>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1" y="228600"/>
            <a:ext cx="10820400" cy="838200"/>
          </a:xfrm>
        </p:spPr>
        <p:txBody>
          <a:bodyPr/>
          <a:lstStyle/>
          <a:p>
            <a:r>
              <a:rPr lang="en-US" sz="3600" b="1" dirty="0" smtClean="0">
                <a:solidFill>
                  <a:srgbClr val="C00000"/>
                </a:solidFill>
                <a:latin typeface="Arial" pitchFamily="34" charset="0"/>
                <a:cs typeface="Arial" pitchFamily="34" charset="0"/>
              </a:rPr>
              <a:t> </a:t>
            </a:r>
            <a:r>
              <a:rPr lang="en-US" altLang="en-US" sz="3600" b="1" dirty="0" smtClean="0">
                <a:solidFill>
                  <a:srgbClr val="C00000"/>
                </a:solidFill>
                <a:latin typeface="Arial" pitchFamily="34" charset="0"/>
                <a:cs typeface="Arial" pitchFamily="34" charset="0"/>
              </a:rPr>
              <a:t>Ethical decision making: </a:t>
            </a:r>
            <a:r>
              <a:rPr lang="en-US" sz="3600" b="1" dirty="0" smtClean="0">
                <a:solidFill>
                  <a:srgbClr val="C00000"/>
                </a:solidFill>
                <a:latin typeface="Arial" pitchFamily="34" charset="0"/>
                <a:cs typeface="Arial" pitchFamily="34" charset="0"/>
              </a:rPr>
              <a:t>CASE 6</a:t>
            </a:r>
            <a:endParaRPr lang="en-US" dirty="0"/>
          </a:p>
        </p:txBody>
      </p:sp>
      <p:sp>
        <p:nvSpPr>
          <p:cNvPr id="3" name="Content Placeholder 2"/>
          <p:cNvSpPr>
            <a:spLocks noGrp="1"/>
          </p:cNvSpPr>
          <p:nvPr>
            <p:ph sz="quarter" idx="1"/>
          </p:nvPr>
        </p:nvSpPr>
        <p:spPr>
          <a:xfrm>
            <a:off x="228600" y="1527048"/>
            <a:ext cx="11430000" cy="4797552"/>
          </a:xfrm>
        </p:spPr>
        <p:txBody>
          <a:bodyPr>
            <a:normAutofit lnSpcReduction="10000"/>
          </a:bodyPr>
          <a:lstStyle/>
          <a:p>
            <a:pPr>
              <a:buFont typeface="Wingdings" pitchFamily="2" charset="2"/>
              <a:buChar char="q"/>
            </a:pP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Ans</a:t>
            </a:r>
            <a:r>
              <a:rPr lang="en-US" sz="2800" dirty="0" smtClean="0">
                <a:latin typeface="Arial" pitchFamily="34" charset="0"/>
                <a:cs typeface="Arial" pitchFamily="34" charset="0"/>
              </a:rPr>
              <a:t>(</a:t>
            </a:r>
            <a:r>
              <a:rPr lang="en-US" sz="2800" dirty="0" err="1" smtClean="0">
                <a:latin typeface="Arial" pitchFamily="34" charset="0"/>
                <a:cs typeface="Arial" pitchFamily="34" charset="0"/>
              </a:rPr>
              <a:t>i</a:t>
            </a:r>
            <a:r>
              <a:rPr lang="en-US" sz="2800" dirty="0" smtClean="0">
                <a:latin typeface="Arial" pitchFamily="34" charset="0"/>
                <a:cs typeface="Arial" pitchFamily="34" charset="0"/>
              </a:rPr>
              <a:t>)  Code of ethics applied here is </a:t>
            </a:r>
            <a:r>
              <a:rPr lang="en-US" sz="2800" b="1" dirty="0" smtClean="0">
                <a:latin typeface="Arial" pitchFamily="34" charset="0"/>
                <a:cs typeface="Arial" pitchFamily="34" charset="0"/>
              </a:rPr>
              <a:t>Fairness and Discrimination</a:t>
            </a:r>
            <a:br>
              <a:rPr lang="en-US" sz="2800" b="1" dirty="0" smtClean="0">
                <a:latin typeface="Arial" pitchFamily="34" charset="0"/>
                <a:cs typeface="Arial" pitchFamily="34" charset="0"/>
              </a:rPr>
            </a:br>
            <a:r>
              <a:rPr lang="en-US" sz="2800" b="1" dirty="0" smtClean="0">
                <a:latin typeface="Arial" pitchFamily="34" charset="0"/>
                <a:cs typeface="Arial" pitchFamily="34" charset="0"/>
              </a:rPr>
              <a:t>or Cyber threat Bullying</a:t>
            </a:r>
            <a:br>
              <a:rPr lang="en-US" sz="2800" b="1" dirty="0" smtClean="0">
                <a:latin typeface="Arial" pitchFamily="34" charset="0"/>
                <a:cs typeface="Arial" pitchFamily="34" charset="0"/>
              </a:rPr>
            </a:br>
            <a:endParaRPr lang="en-US" sz="2800" b="1" dirty="0" smtClean="0">
              <a:latin typeface="Arial" pitchFamily="34" charset="0"/>
              <a:cs typeface="Arial" pitchFamily="34" charset="0"/>
            </a:endParaRPr>
          </a:p>
          <a:p>
            <a:pPr>
              <a:buFont typeface="Wingdings" pitchFamily="2" charset="2"/>
              <a:buChar char="q"/>
            </a:pP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Ans</a:t>
            </a:r>
            <a:r>
              <a:rPr lang="en-US" sz="2800" dirty="0" smtClean="0">
                <a:latin typeface="Arial" pitchFamily="34" charset="0"/>
                <a:cs typeface="Arial" pitchFamily="34" charset="0"/>
              </a:rPr>
              <a:t>(ii) Being teacher first and foremost </a:t>
            </a:r>
            <a:r>
              <a:rPr lang="en-US" sz="2800" dirty="0" err="1" smtClean="0">
                <a:latin typeface="Arial" pitchFamily="34" charset="0"/>
                <a:cs typeface="Arial" pitchFamily="34" charset="0"/>
              </a:rPr>
              <a:t>i</a:t>
            </a:r>
            <a:r>
              <a:rPr lang="en-US" sz="2800" dirty="0" smtClean="0">
                <a:latin typeface="Arial" pitchFamily="34" charset="0"/>
                <a:cs typeface="Arial" pitchFamily="34" charset="0"/>
              </a:rPr>
              <a:t> will try to do  counselling of students and let them know the serious consequences they can face because   of   that   threatening  email, if   still  they  are  reluctant  to  understand then </a:t>
            </a:r>
            <a:r>
              <a:rPr lang="en-US" sz="2800" dirty="0" err="1" smtClean="0">
                <a:latin typeface="Arial" pitchFamily="34" charset="0"/>
                <a:cs typeface="Arial" pitchFamily="34" charset="0"/>
              </a:rPr>
              <a:t>i</a:t>
            </a:r>
            <a:r>
              <a:rPr lang="en-US" sz="2800" dirty="0" smtClean="0">
                <a:latin typeface="Arial" pitchFamily="34" charset="0"/>
                <a:cs typeface="Arial" pitchFamily="34" charset="0"/>
              </a:rPr>
              <a:t>  will  call  their  parents  via director student affairs or department chairman.</a:t>
            </a:r>
            <a:br>
              <a:rPr lang="en-US" sz="2800" dirty="0" smtClean="0">
                <a:latin typeface="Arial" pitchFamily="34" charset="0"/>
                <a:cs typeface="Arial" pitchFamily="34" charset="0"/>
              </a:rPr>
            </a:br>
            <a:r>
              <a:rPr lang="en-US" sz="2800" dirty="0" smtClean="0">
                <a:latin typeface="Arial" pitchFamily="34" charset="0"/>
                <a:cs typeface="Arial" pitchFamily="34" charset="0"/>
              </a:rPr>
              <a:t>If still he threatens me then as  a  last option </a:t>
            </a:r>
            <a:r>
              <a:rPr lang="en-US" sz="2800" dirty="0" err="1" smtClean="0">
                <a:latin typeface="Arial" pitchFamily="34" charset="0"/>
                <a:cs typeface="Arial" pitchFamily="34" charset="0"/>
              </a:rPr>
              <a:t>i</a:t>
            </a:r>
            <a:r>
              <a:rPr lang="en-US" sz="2800" dirty="0" smtClean="0">
                <a:latin typeface="Arial" pitchFamily="34" charset="0"/>
                <a:cs typeface="Arial" pitchFamily="34" charset="0"/>
              </a:rPr>
              <a:t> reserved  the  right  to complain  in  NR3C  about  those  students  and  </a:t>
            </a:r>
            <a:r>
              <a:rPr lang="en-US" sz="2800" dirty="0" err="1" smtClean="0">
                <a:latin typeface="Arial" pitchFamily="34" charset="0"/>
                <a:cs typeface="Arial" pitchFamily="34" charset="0"/>
              </a:rPr>
              <a:t>i</a:t>
            </a:r>
            <a:r>
              <a:rPr lang="en-US" sz="2800" dirty="0" smtClean="0">
                <a:latin typeface="Arial" pitchFamily="34" charset="0"/>
                <a:cs typeface="Arial" pitchFamily="34" charset="0"/>
              </a:rPr>
              <a:t> definitely use that </a:t>
            </a:r>
            <a:br>
              <a:rPr lang="en-US" sz="2800" dirty="0" smtClean="0">
                <a:latin typeface="Arial" pitchFamily="34" charset="0"/>
                <a:cs typeface="Arial" pitchFamily="34" charset="0"/>
              </a:rPr>
            </a:br>
            <a:r>
              <a:rPr lang="en-US" sz="2800" dirty="0" smtClean="0">
                <a:latin typeface="Arial" pitchFamily="34" charset="0"/>
                <a:cs typeface="Arial" pitchFamily="34" charset="0"/>
              </a:rPr>
              <a:t>option.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277" y="536448"/>
            <a:ext cx="11094720" cy="758952"/>
          </a:xfrm>
        </p:spPr>
        <p:txBody>
          <a:bodyPr>
            <a:noAutofit/>
          </a:bodyPr>
          <a:lstStyle/>
          <a:p>
            <a:r>
              <a:rPr lang="en-US" altLang="en-US" sz="4000" b="1" dirty="0" smtClean="0">
                <a:solidFill>
                  <a:srgbClr val="C00000"/>
                </a:solidFill>
                <a:latin typeface="Arial" pitchFamily="34" charset="0"/>
                <a:cs typeface="Arial" pitchFamily="34" charset="0"/>
              </a:rPr>
              <a:t>Ethical decision making: </a:t>
            </a:r>
            <a:r>
              <a:rPr lang="en-US" sz="4000" b="1" dirty="0" smtClean="0">
                <a:solidFill>
                  <a:srgbClr val="C00000"/>
                </a:solidFill>
                <a:latin typeface="Arial" pitchFamily="34" charset="0"/>
                <a:cs typeface="Arial" pitchFamily="34" charset="0"/>
              </a:rPr>
              <a:t>CASE 7</a:t>
            </a:r>
            <a:br>
              <a:rPr lang="en-US" sz="4000" b="1" dirty="0" smtClean="0">
                <a:solidFill>
                  <a:srgbClr val="C00000"/>
                </a:solidFill>
                <a:latin typeface="Arial" pitchFamily="34" charset="0"/>
                <a:cs typeface="Arial" pitchFamily="34" charset="0"/>
              </a:rPr>
            </a:br>
            <a:r>
              <a:rPr lang="en-US" sz="4000" b="1" dirty="0" smtClean="0">
                <a:solidFill>
                  <a:srgbClr val="C00000"/>
                </a:solidFill>
                <a:latin typeface="Arial" pitchFamily="34" charset="0"/>
                <a:cs typeface="Arial" pitchFamily="34" charset="0"/>
              </a:rPr>
              <a:t>(Continue)</a:t>
            </a:r>
            <a:endParaRPr lang="en-US" sz="4000" dirty="0"/>
          </a:p>
        </p:txBody>
      </p:sp>
      <p:sp>
        <p:nvSpPr>
          <p:cNvPr id="3" name="Content Placeholder 2"/>
          <p:cNvSpPr>
            <a:spLocks noGrp="1"/>
          </p:cNvSpPr>
          <p:nvPr>
            <p:ph sz="quarter" idx="1"/>
          </p:nvPr>
        </p:nvSpPr>
        <p:spPr>
          <a:xfrm>
            <a:off x="228600" y="1527048"/>
            <a:ext cx="11430000" cy="4572000"/>
          </a:xfrm>
        </p:spPr>
        <p:txBody>
          <a:bodyPr>
            <a:normAutofit/>
          </a:bodyPr>
          <a:lstStyle/>
          <a:p>
            <a:pPr>
              <a:buFont typeface="Wingdings" pitchFamily="2" charset="2"/>
              <a:buChar char="q"/>
            </a:pPr>
            <a:r>
              <a:rPr lang="en-US" sz="2800" dirty="0" smtClean="0">
                <a:latin typeface="Arial" pitchFamily="34" charset="0"/>
                <a:cs typeface="Arial" pitchFamily="34" charset="0"/>
              </a:rPr>
              <a:t>Suppose  you  are  working  as  a secretary election commission  and your   job   description  is   to  ensure  transparency  in  elections  and conduct free and fair elections, one  day  chief of a political party asks you to give access to database of all voters so he can manipulate the voters  of  other  party  even  offers you lucrative allowance and other fringe  benefits in return against that favor.</a:t>
            </a:r>
            <a:br>
              <a:rPr lang="en-US" sz="2800" dirty="0" smtClean="0">
                <a:latin typeface="Arial" pitchFamily="34" charset="0"/>
                <a:cs typeface="Arial" pitchFamily="34" charset="0"/>
              </a:rPr>
            </a:br>
            <a:endParaRPr lang="en-US" sz="2800" dirty="0" smtClean="0">
              <a:latin typeface="Arial" pitchFamily="34" charset="0"/>
              <a:cs typeface="Arial" pitchFamily="34" charset="0"/>
            </a:endParaRPr>
          </a:p>
          <a:p>
            <a:pPr>
              <a:buFont typeface="Wingdings" pitchFamily="2" charset="2"/>
              <a:buChar char="q"/>
            </a:pPr>
            <a:r>
              <a:rPr lang="en-US" sz="2800" dirty="0" smtClean="0">
                <a:latin typeface="Arial" pitchFamily="34" charset="0"/>
                <a:cs typeface="Arial" pitchFamily="34" charset="0"/>
              </a:rPr>
              <a:t>(i) Which type of code of ethics applied here?</a:t>
            </a:r>
          </a:p>
          <a:p>
            <a:pPr>
              <a:buFont typeface="Wingdings" pitchFamily="2" charset="2"/>
              <a:buChar char="q"/>
            </a:pPr>
            <a:r>
              <a:rPr lang="en-US" sz="2800" dirty="0" smtClean="0">
                <a:latin typeface="Arial" pitchFamily="34" charset="0"/>
                <a:cs typeface="Arial" pitchFamily="34" charset="0"/>
              </a:rPr>
              <a:t>(ii) How would you respond in such situation in a way that is ethical,</a:t>
            </a:r>
            <a:br>
              <a:rPr lang="en-US" sz="2800" dirty="0" smtClean="0">
                <a:latin typeface="Arial" pitchFamily="34" charset="0"/>
                <a:cs typeface="Arial" pitchFamily="34" charset="0"/>
              </a:rPr>
            </a:br>
            <a:r>
              <a:rPr lang="en-US" sz="2800" dirty="0" smtClean="0">
                <a:latin typeface="Arial" pitchFamily="34" charset="0"/>
                <a:cs typeface="Arial" pitchFamily="34" charset="0"/>
              </a:rPr>
              <a:t>     moral and legal.?</a:t>
            </a:r>
          </a:p>
          <a:p>
            <a:pPr>
              <a:buFont typeface="Wingdings" pitchFamily="2" charset="2"/>
              <a:buChar char="q"/>
            </a:pPr>
            <a:endParaRPr lang="en-US" sz="2800" dirty="0" smtClean="0">
              <a:latin typeface="Arial" pitchFamily="34" charset="0"/>
              <a:cs typeface="Arial" pitchFamily="34" charset="0"/>
            </a:endParaRP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9816906" cy="758952"/>
          </a:xfrm>
        </p:spPr>
        <p:txBody>
          <a:bodyPr>
            <a:normAutofit/>
          </a:bodyPr>
          <a:lstStyle/>
          <a:p>
            <a:r>
              <a:rPr lang="en-US" altLang="en-US" sz="3600" b="1" dirty="0" smtClean="0">
                <a:solidFill>
                  <a:srgbClr val="C00000"/>
                </a:solidFill>
                <a:latin typeface="Arial" pitchFamily="34" charset="0"/>
                <a:cs typeface="Arial" pitchFamily="34" charset="0"/>
              </a:rPr>
              <a:t>Ethical decision making: </a:t>
            </a:r>
            <a:r>
              <a:rPr lang="en-US" sz="3600" b="1" dirty="0" smtClean="0">
                <a:solidFill>
                  <a:srgbClr val="C00000"/>
                </a:solidFill>
                <a:latin typeface="Arial" pitchFamily="34" charset="0"/>
                <a:cs typeface="Arial" pitchFamily="34" charset="0"/>
              </a:rPr>
              <a:t>CASE 7</a:t>
            </a:r>
            <a:endParaRPr lang="en-US" dirty="0"/>
          </a:p>
        </p:txBody>
      </p:sp>
      <p:sp>
        <p:nvSpPr>
          <p:cNvPr id="3" name="Content Placeholder 2"/>
          <p:cNvSpPr>
            <a:spLocks noGrp="1"/>
          </p:cNvSpPr>
          <p:nvPr>
            <p:ph sz="quarter" idx="1"/>
          </p:nvPr>
        </p:nvSpPr>
        <p:spPr>
          <a:xfrm>
            <a:off x="228600" y="1527047"/>
            <a:ext cx="11353800" cy="4662737"/>
          </a:xfrm>
        </p:spPr>
        <p:txBody>
          <a:bodyPr>
            <a:normAutofit/>
          </a:bodyPr>
          <a:lstStyle/>
          <a:p>
            <a:pPr>
              <a:buFont typeface="Wingdings" pitchFamily="2" charset="2"/>
              <a:buChar char="q"/>
              <a:defRPr/>
            </a:pPr>
            <a:endParaRPr lang="en-US" sz="2800" u="sng" dirty="0" smtClean="0">
              <a:latin typeface="Arial" pitchFamily="34" charset="0"/>
              <a:cs typeface="Arial" pitchFamily="34" charset="0"/>
            </a:endParaRPr>
          </a:p>
          <a:p>
            <a:pPr>
              <a:buFont typeface="Wingdings" pitchFamily="2" charset="2"/>
              <a:buChar char="q"/>
              <a:defRPr/>
            </a:pPr>
            <a:r>
              <a:rPr lang="en-US" sz="2800" u="sng" dirty="0" smtClean="0">
                <a:latin typeface="Arial" pitchFamily="34" charset="0"/>
                <a:cs typeface="Arial" pitchFamily="34" charset="0"/>
              </a:rPr>
              <a:t>A.1</a:t>
            </a:r>
            <a:r>
              <a:rPr lang="en-US" sz="2800" dirty="0" smtClean="0">
                <a:latin typeface="Arial" pitchFamily="34" charset="0"/>
                <a:cs typeface="Arial" pitchFamily="34" charset="0"/>
              </a:rPr>
              <a:t> </a:t>
            </a:r>
            <a:r>
              <a:rPr lang="en-US" sz="2800" b="1" dirty="0" smtClean="0">
                <a:latin typeface="Arial" pitchFamily="34" charset="0"/>
                <a:cs typeface="Arial" pitchFamily="34" charset="0"/>
              </a:rPr>
              <a:t>Security and Unauthorized Access</a:t>
            </a:r>
            <a:r>
              <a:rPr lang="en-US" sz="2800" dirty="0" smtClean="0">
                <a:latin typeface="Arial" pitchFamily="34" charset="0"/>
                <a:cs typeface="Arial" pitchFamily="34" charset="0"/>
              </a:rPr>
              <a:t>.</a:t>
            </a:r>
          </a:p>
          <a:p>
            <a:pPr>
              <a:buNone/>
              <a:defRPr/>
            </a:pPr>
            <a:endParaRPr lang="en-US" sz="2800" b="1" dirty="0" smtClean="0">
              <a:latin typeface="Arial" pitchFamily="34" charset="0"/>
              <a:cs typeface="Arial" pitchFamily="34" charset="0"/>
            </a:endParaRPr>
          </a:p>
          <a:p>
            <a:pPr algn="just">
              <a:buFont typeface="Wingdings" pitchFamily="2" charset="2"/>
              <a:buChar char="q"/>
              <a:defRPr/>
            </a:pPr>
            <a:r>
              <a:rPr lang="en-US" sz="2800" dirty="0" smtClean="0">
                <a:latin typeface="Arial" pitchFamily="34" charset="0"/>
                <a:cs typeface="Arial" pitchFamily="34" charset="0"/>
              </a:rPr>
              <a:t> </a:t>
            </a:r>
            <a:r>
              <a:rPr lang="en-US" sz="2800" u="sng" dirty="0" smtClean="0">
                <a:latin typeface="Arial" pitchFamily="34" charset="0"/>
                <a:cs typeface="Arial" pitchFamily="34" charset="0"/>
              </a:rPr>
              <a:t>A.2 </a:t>
            </a:r>
            <a:r>
              <a:rPr lang="en-US" sz="2800" dirty="0" smtClean="0">
                <a:latin typeface="Arial" pitchFamily="34" charset="0"/>
                <a:cs typeface="Arial" pitchFamily="34" charset="0"/>
              </a:rPr>
              <a:t> Being secretary election commission and  your job  description  is   to  ensure  transparency  in  elections  and conduct free and fair elections and you should  immediately refused that offer  because if you  accept  it , you  will  do  injustice  and  dishonesty  with your  job. if still they put pressure on you to do that, then obviously you should resign.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endParaRPr lang="en-US" dirty="0" smtClean="0"/>
          </a:p>
          <a:p>
            <a:endParaRPr lang="en-US" dirty="0" smtClean="0"/>
          </a:p>
          <a:p>
            <a:pPr>
              <a:buNone/>
            </a:pPr>
            <a:r>
              <a:rPr lang="en-US" sz="6000" dirty="0" smtClean="0">
                <a:latin typeface="Arial" pitchFamily="34" charset="0"/>
                <a:cs typeface="Arial" pitchFamily="34" charset="0"/>
              </a:rPr>
              <a:t>                   </a:t>
            </a:r>
            <a:r>
              <a:rPr lang="en-US" sz="9600" dirty="0" smtClean="0">
                <a:solidFill>
                  <a:srgbClr val="0070C0"/>
                </a:solidFill>
                <a:latin typeface="Arial" pitchFamily="34" charset="0"/>
                <a:cs typeface="Arial" pitchFamily="34" charset="0"/>
              </a:rPr>
              <a:t>END</a:t>
            </a:r>
            <a:endParaRPr lang="en-US" sz="9600" dirty="0">
              <a:solidFill>
                <a:srgbClr val="0070C0"/>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1632</TotalTime>
  <Words>727</Words>
  <Application>Microsoft Office PowerPoint</Application>
  <PresentationFormat>Custom</PresentationFormat>
  <Paragraphs>66</Paragraphs>
  <Slides>16</Slides>
  <Notes>1</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Civic</vt:lpstr>
      <vt:lpstr>   Professional Practices- week8 </vt:lpstr>
      <vt:lpstr>Ethical decision making: Case 1  (Continue)  </vt:lpstr>
      <vt:lpstr>Ethical decision making: Case 1</vt:lpstr>
      <vt:lpstr>Ethical decision making: Case 2  (Continue)  </vt:lpstr>
      <vt:lpstr>Ethical decision making: Case 2</vt:lpstr>
      <vt:lpstr>Ethical decision making: Case 3  (Continue)</vt:lpstr>
      <vt:lpstr>Ethical decision making: Case 3</vt:lpstr>
      <vt:lpstr>Ethical decision making: Case 4  (Continue)</vt:lpstr>
      <vt:lpstr>Ethical decision making: Case 4  </vt:lpstr>
      <vt:lpstr>Ethical decision making: Case 5 (Continue)</vt:lpstr>
      <vt:lpstr> Ethical decision making: Case 5</vt:lpstr>
      <vt:lpstr>Ethical decision making: CASE 6 (Continue)</vt:lpstr>
      <vt:lpstr> Ethical decision making: CASE 6</vt:lpstr>
      <vt:lpstr>Ethical decision making: CASE 7 (Continue)</vt:lpstr>
      <vt:lpstr>Ethical decision making: CASE 7</vt:lpstr>
      <vt:lpstr>Slide 16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Practices Week 1- Profession</dc:title>
  <dc:creator>Faraz Khan</dc:creator>
  <cp:lastModifiedBy>Faraz Khan</cp:lastModifiedBy>
  <cp:revision>158</cp:revision>
  <dcterms:created xsi:type="dcterms:W3CDTF">2023-10-12T07:59:10Z</dcterms:created>
  <dcterms:modified xsi:type="dcterms:W3CDTF">2024-02-10T22:18:24Z</dcterms:modified>
</cp:coreProperties>
</file>