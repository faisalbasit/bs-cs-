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75" r:id="rId3"/>
    <p:sldId id="293" r:id="rId4"/>
    <p:sldId id="276" r:id="rId5"/>
    <p:sldId id="277" r:id="rId6"/>
    <p:sldId id="278" r:id="rId7"/>
    <p:sldId id="279" r:id="rId8"/>
    <p:sldId id="280" r:id="rId9"/>
    <p:sldId id="294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74" r:id="rId20"/>
  </p:sldIdLst>
  <p:sldSz cx="118872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15662" autoAdjust="0"/>
    <p:restoredTop sz="94660"/>
  </p:normalViewPr>
  <p:slideViewPr>
    <p:cSldViewPr>
      <p:cViewPr varScale="1">
        <p:scale>
          <a:sx n="68" d="100"/>
          <a:sy n="68" d="100"/>
        </p:scale>
        <p:origin x="-1350" y="-96"/>
      </p:cViewPr>
      <p:guideLst>
        <p:guide orient="horz" pos="2160"/>
        <p:guide pos="374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4F12-7F55-4EE2-A832-F284432F2B1A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685800"/>
            <a:ext cx="5943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412AE-8F67-4BC5-91DD-088A048550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689080" y="3048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83080" y="2819400"/>
            <a:ext cx="832104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202085" y="2420112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5547360" y="2115312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5670197" y="2209800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646420" y="2199452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891540" y="381000"/>
            <a:ext cx="1010412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70195" y="1026375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92277" y="1527048"/>
            <a:ext cx="1105509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689080" y="1905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98121" y="2286000"/>
            <a:ext cx="11483035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2085" y="142352"/>
            <a:ext cx="11483035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956" y="2743202"/>
            <a:ext cx="8424228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98121" y="2438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5547360" y="2115312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5670197" y="2209800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46420" y="2199452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533400"/>
            <a:ext cx="1010412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8560" y="6409944"/>
            <a:ext cx="3958437" cy="365760"/>
          </a:xfrm>
        </p:spPr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5932006" y="1575654"/>
            <a:ext cx="11598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92277" y="1371600"/>
            <a:ext cx="525018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240780" y="1371600"/>
            <a:ext cx="525018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59436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18872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98121" y="1371600"/>
            <a:ext cx="11483035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89702" y="6391656"/>
            <a:ext cx="11483035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8" y="1524000"/>
            <a:ext cx="5252245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28730" y="1524000"/>
            <a:ext cx="5254308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96240" y="6409944"/>
            <a:ext cx="46558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98121" y="128016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92277" y="2471383"/>
            <a:ext cx="5254143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240780" y="2471383"/>
            <a:ext cx="525018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5547360" y="956036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5670197" y="1050524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646420" y="1042419"/>
            <a:ext cx="594360" cy="441325"/>
          </a:xfrm>
        </p:spPr>
        <p:txBody>
          <a:bodyPr/>
          <a:lstStyle>
            <a:lvl1pPr algn="ctr">
              <a:defRPr/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646420" y="1036022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18872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8121" y="158496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547360" y="6324600"/>
            <a:ext cx="79248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98121" y="152400"/>
            <a:ext cx="11483035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18872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98120" y="609600"/>
            <a:ext cx="356616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914400"/>
            <a:ext cx="307086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5300" y="1981203"/>
            <a:ext cx="307086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121" y="152400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98121" y="533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061460" y="685800"/>
            <a:ext cx="733044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684020" y="228600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806854" y="323088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83080" y="312740"/>
            <a:ext cx="59436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7" y="6410848"/>
            <a:ext cx="4398264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98121" y="533400"/>
            <a:ext cx="11483035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98121" y="152400"/>
            <a:ext cx="11483035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98120" y="609600"/>
            <a:ext cx="356616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684020" y="228600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806854" y="323088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83080" y="312740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0488" y="5029200"/>
            <a:ext cx="762762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900488" y="609600"/>
            <a:ext cx="762762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990600"/>
            <a:ext cx="316992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4598" y="6404984"/>
            <a:ext cx="3958437" cy="365760"/>
          </a:xfrm>
        </p:spPr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2277" y="6410848"/>
            <a:ext cx="4659783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113520" y="0"/>
            <a:ext cx="277368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18872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0197" y="6391659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6165189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891625" y="2925763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9014461" y="3020251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0685" y="3009904"/>
            <a:ext cx="594360" cy="441325"/>
          </a:xfrm>
        </p:spPr>
        <p:txBody>
          <a:bodyPr/>
          <a:lstStyle/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240" y="304800"/>
            <a:ext cx="851916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08820" y="304804"/>
            <a:ext cx="188214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18872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118872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689080" y="0"/>
            <a:ext cx="19812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4158" y="6388388"/>
            <a:ext cx="11483035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528560" y="6404984"/>
            <a:ext cx="3958437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338D26A-531F-4A0F-A30D-3D4014FA1F1E}" type="datetimeFigureOut">
              <a:rPr lang="en-US" smtClean="0"/>
              <a:pPr/>
              <a:t>2/11/2024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96240" y="6410848"/>
            <a:ext cx="465582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8121" y="155448"/>
            <a:ext cx="11483035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98121" y="1276743"/>
            <a:ext cx="1148303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5547360" y="956036"/>
            <a:ext cx="79248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5670197" y="1050524"/>
            <a:ext cx="546811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646420" y="1040177"/>
            <a:ext cx="59436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EF83B2C-F299-4DEF-A81D-E1A789A005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92277" y="1524000"/>
            <a:ext cx="1109472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590800"/>
            <a:ext cx="11201400" cy="3733800"/>
          </a:xfrm>
        </p:spPr>
        <p:txBody>
          <a:bodyPr>
            <a:normAutofit/>
          </a:bodyPr>
          <a:lstStyle/>
          <a:p>
            <a:pPr algn="l">
              <a:defRPr/>
            </a:pPr>
            <a:endParaRPr lang="en-US" sz="2000" b="0" dirty="0" smtClean="0">
              <a:latin typeface="Arial" pitchFamily="34" charset="0"/>
              <a:cs typeface="Arial" pitchFamily="34" charset="0"/>
            </a:endParaRP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SOFTWARE HOUSE </a:t>
            </a: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HIERARCHY</a:t>
            </a:r>
            <a: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br>
              <a:rPr lang="en-US" sz="28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l">
              <a:buFont typeface="Wingdings" pitchFamily="2" charset="2"/>
              <a:buChar char="q"/>
              <a:defRPr/>
            </a:pPr>
            <a:r>
              <a:rPr lang="en-US" sz="2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cs typeface="Arial" pitchFamily="34" charset="0"/>
              </a:rPr>
              <a:t> Key features of a software.</a:t>
            </a:r>
          </a:p>
          <a:p>
            <a:pPr algn="l">
              <a:buFont typeface="Wingdings" pitchFamily="2" charset="2"/>
              <a:buChar char="q"/>
              <a:defRPr/>
            </a:pPr>
            <a:endParaRPr lang="en-US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l">
              <a:defRPr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52400"/>
            <a:ext cx="11430000" cy="2057400"/>
          </a:xfrm>
        </p:spPr>
        <p:txBody>
          <a:bodyPr>
            <a:noAutofit/>
          </a:bodyPr>
          <a:lstStyle/>
          <a:p>
            <a:pPr algn="l"/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fr-FR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Professional  Practices  -  week7</a:t>
            </a:r>
            <a:r>
              <a:rPr lang="fr-FR" altLang="en-US" sz="40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fr-FR" altLang="en-US" sz="4000" b="1" dirty="0" smtClean="0">
                <a:latin typeface="Arial" pitchFamily="34" charset="0"/>
                <a:cs typeface="Arial" pitchFamily="34" charset="0"/>
              </a:rPr>
            </a:br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Key features of software house</a:t>
            </a:r>
            <a:b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</a:br>
            <a:r>
              <a:rPr lang="fr-FR" altLang="en-US" sz="4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                             </a:t>
            </a:r>
            <a:endParaRPr lang="fr-FR" altLang="en-US" sz="40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 descr="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381000"/>
            <a:ext cx="1676400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Key features of a software house </a:t>
            </a:r>
            <a:endParaRPr lang="en-GB" altLang="en-US" sz="40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11277600" cy="4876800"/>
          </a:xfrm>
        </p:spPr>
        <p:txBody>
          <a:bodyPr>
            <a:normAutofit fontScale="40000" lnSpcReduction="20000"/>
          </a:bodyPr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7000" dirty="0" smtClean="0">
                <a:latin typeface="Arial" pitchFamily="34" charset="0"/>
                <a:cs typeface="Arial" pitchFamily="34" charset="0"/>
              </a:rPr>
              <a:t>Here </a:t>
            </a:r>
            <a:r>
              <a:rPr lang="en-US" sz="7000" dirty="0">
                <a:latin typeface="Arial" pitchFamily="34" charset="0"/>
                <a:cs typeface="Arial" pitchFamily="34" charset="0"/>
              </a:rPr>
              <a:t>are the essential features of modern software houses </a:t>
            </a:r>
            <a:r>
              <a:rPr lang="en-US" sz="7000" dirty="0" smtClean="0">
                <a:latin typeface="Arial" pitchFamily="34" charset="0"/>
                <a:cs typeface="Arial" pitchFamily="34" charset="0"/>
              </a:rPr>
              <a:t>today:-</a:t>
            </a: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US" sz="7000" dirty="0" smtClean="0">
                <a:latin typeface="Arial" pitchFamily="34" charset="0"/>
                <a:cs typeface="Arial" pitchFamily="34" charset="0"/>
              </a:rPr>
              <a:t> Focus on quality</a:t>
            </a: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US" sz="7000" dirty="0" smtClean="0">
                <a:latin typeface="Arial" pitchFamily="34" charset="0"/>
                <a:cs typeface="Arial" pitchFamily="34" charset="0"/>
              </a:rPr>
              <a:t> Agile Methodology</a:t>
            </a: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US" sz="7000" dirty="0" smtClean="0">
                <a:latin typeface="Arial" pitchFamily="34" charset="0"/>
                <a:cs typeface="Arial" pitchFamily="34" charset="0"/>
              </a:rPr>
              <a:t> Full stack capabilities</a:t>
            </a: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US" sz="7000" dirty="0" smtClean="0">
                <a:latin typeface="Arial" pitchFamily="34" charset="0"/>
                <a:cs typeface="Arial" pitchFamily="34" charset="0"/>
              </a:rPr>
              <a:t> Communication and collaboration</a:t>
            </a: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US" sz="7000" dirty="0" smtClean="0">
                <a:latin typeface="Arial" pitchFamily="34" charset="0"/>
                <a:cs typeface="Arial" pitchFamily="34" charset="0"/>
              </a:rPr>
              <a:t> Flexibility</a:t>
            </a: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US" sz="7000" dirty="0" smtClean="0">
                <a:latin typeface="Arial" pitchFamily="34" charset="0"/>
                <a:cs typeface="Arial" pitchFamily="34" charset="0"/>
              </a:rPr>
              <a:t> Organogram / hierarchical structure</a:t>
            </a: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US" sz="7000" dirty="0" smtClean="0">
                <a:latin typeface="Arial" pitchFamily="34" charset="0"/>
                <a:cs typeface="Arial" pitchFamily="34" charset="0"/>
              </a:rPr>
              <a:t> Centralized </a:t>
            </a:r>
            <a:r>
              <a:rPr lang="en-US" sz="7000" dirty="0" err="1" smtClean="0">
                <a:latin typeface="Arial" pitchFamily="34" charset="0"/>
                <a:cs typeface="Arial" pitchFamily="34" charset="0"/>
              </a:rPr>
              <a:t>vs</a:t>
            </a:r>
            <a:r>
              <a:rPr lang="en-US" sz="7000" dirty="0" smtClean="0">
                <a:latin typeface="Arial" pitchFamily="34" charset="0"/>
                <a:cs typeface="Arial" pitchFamily="34" charset="0"/>
              </a:rPr>
              <a:t> Decentralized Operations.</a:t>
            </a:r>
          </a:p>
          <a:p>
            <a:pPr marL="0" indent="0">
              <a:buFont typeface="Wingdings" pitchFamily="2" charset="2"/>
              <a:buChar char="q"/>
              <a:defRPr/>
            </a:pPr>
            <a:endParaRPr lang="en-US" sz="33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itchFamily="2" charset="2"/>
              <a:buChar char="q"/>
              <a:defRPr/>
            </a:pPr>
            <a:endParaRPr lang="en-US" sz="33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 smtClean="0"/>
              <a:t/>
            </a:r>
            <a:br>
              <a:rPr lang="en-US" dirty="0" smtClean="0"/>
            </a:br>
            <a:endParaRPr lang="en-GB" b="1" dirty="0"/>
          </a:p>
          <a:p>
            <a:pPr>
              <a:defRPr/>
            </a:pPr>
            <a:endParaRPr lang="en-GB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277" y="228600"/>
            <a:ext cx="11094720" cy="914400"/>
          </a:xfrm>
        </p:spPr>
        <p:txBody>
          <a:bodyPr>
            <a:normAutofit fontScale="90000"/>
          </a:bodyPr>
          <a:lstStyle/>
          <a:p>
            <a:r>
              <a:rPr lang="en-US" alt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Key features of a software house </a:t>
            </a:r>
            <a:br>
              <a:rPr lang="en-US" alt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alt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(continue)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Appraisals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Monitoring Financial performance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Software cost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Software revenue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Project costing 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Project sale</a:t>
            </a:r>
          </a:p>
          <a:p>
            <a:pPr>
              <a:buFont typeface="Wingdings" pitchFamily="2" charset="2"/>
              <a:buChar char="q"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Sales report 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4905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Focus on quality</a:t>
            </a:r>
            <a:endParaRPr lang="en-GB" alt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523999"/>
            <a:ext cx="10698480" cy="5000625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 software house that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delivers high-quality code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will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gain the client’s trust and recommendation. 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As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 result, it will be able to attract more customers. 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Since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there are many software houses operating globally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right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now, they do everything they can to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provide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their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clients  with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high-quality code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High-quality code includes :-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Fast running projects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Modify able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GB" sz="2000" dirty="0"/>
          </a:p>
          <a:p>
            <a:pPr>
              <a:defRPr/>
            </a:pP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 bwMode="auto">
          <a:xfrm>
            <a:off x="392277" y="304800"/>
            <a:ext cx="11094720" cy="838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Agile Methodology</a:t>
            </a:r>
            <a:endParaRPr lang="en-GB" alt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11353800" cy="46482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The agile approach to software development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is an industry standard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across the entire globe. 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As compare to Agile, Waterfall and other methodologies are outdated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With  Agile  approach  the  developers  are  closer  to  clients, hence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getting good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Full-stack capabilities</a:t>
            </a:r>
            <a:r>
              <a:rPr lang="en-GB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GB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GB" alt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200"/>
            <a:ext cx="10835640" cy="4421188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If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you  hire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 software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house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to build your application, you can expect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to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get a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complete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product by the end of your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contract.</a:t>
            </a:r>
          </a:p>
          <a:p>
            <a:pPr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This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means that the software house will be responsible for each and every step of the development process.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9845040" cy="7921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Communication and collaboration</a:t>
            </a:r>
            <a:endParaRPr lang="en-GB" alt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11277600" cy="4648200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Smooth and regular communication is essential to the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success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of any project. </a:t>
            </a:r>
            <a:endParaRPr lang="en-US" sz="2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That is why It’s very important for the management and developers of a software house to have good communication skills.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An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experienced software house will often assign a project manager who will act as a bridge between the client and the team.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That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way, it’s possible to build mutual trust and increase engagement.</a:t>
            </a:r>
            <a:endParaRPr lang="en-GB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GB" dirty="0"/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Flexibility</a:t>
            </a:r>
            <a:endParaRPr lang="en-GB" alt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11201400" cy="4724400"/>
          </a:xfrm>
        </p:spPr>
        <p:txBody>
          <a:bodyPr>
            <a:normAutofit/>
          </a:bodyPr>
          <a:lstStyle/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Software  development   process  requires    innovative   and  up-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  to-date technology, hence the managers and teams of a software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   house must be knowledgeable with latest technology. </a:t>
            </a:r>
          </a:p>
          <a:p>
            <a:pPr marL="0" indent="0">
              <a:buFont typeface="Wingdings" pitchFamily="2" charset="2"/>
              <a:buChar char="q"/>
              <a:defRPr/>
            </a:pPr>
            <a:endParaRPr lang="en-GB" sz="280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itchFamily="2" charset="2"/>
              <a:buChar char="q"/>
              <a:defRPr/>
            </a:pPr>
            <a:r>
              <a:rPr lang="en-GB" sz="2800" dirty="0" smtClean="0">
                <a:latin typeface="Arial" pitchFamily="34" charset="0"/>
                <a:cs typeface="Arial" pitchFamily="34" charset="0"/>
              </a:rPr>
              <a:t> Updated version of software or tool should be encouraged.</a:t>
            </a:r>
            <a:endParaRPr lang="en-GB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en-US" sz="2800" smtClean="0"/>
              <a:t>Hierarchical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523999"/>
            <a:ext cx="11349198" cy="521811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dirty="0" smtClean="0"/>
              <a:t>                                                    </a:t>
            </a:r>
            <a:r>
              <a:rPr lang="en-GB" sz="2000" dirty="0" smtClean="0"/>
              <a:t>Chairman (CEO/MD)</a:t>
            </a:r>
            <a:br>
              <a:rPr lang="en-GB" sz="2000" dirty="0" smtClean="0"/>
            </a:br>
            <a:r>
              <a:rPr lang="en-GB" sz="2000" dirty="0" smtClean="0"/>
              <a:t>                                                   </a:t>
            </a:r>
            <a:br>
              <a:rPr lang="en-GB" sz="2000" dirty="0" smtClean="0"/>
            </a:br>
            <a:r>
              <a:rPr lang="en-GB" sz="2000" dirty="0" smtClean="0"/>
              <a:t>    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000" dirty="0"/>
              <a:t> </a:t>
            </a:r>
            <a:r>
              <a:rPr lang="en-GB" sz="2000" dirty="0" smtClean="0"/>
              <a:t>                                  Operations Director                                                   Technical Director</a:t>
            </a:r>
            <a:br>
              <a:rPr lang="en-GB" sz="2000" dirty="0" smtClean="0"/>
            </a:br>
            <a:r>
              <a:rPr lang="en-GB" sz="2000" dirty="0" smtClean="0"/>
              <a:t>                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GB" sz="2000" dirty="0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000" dirty="0" smtClean="0"/>
              <a:t>             Sales/Marketing                                    Finance        Proj-Mngr-1                             Proj-Mngr-2                          </a:t>
            </a:r>
            <a:br>
              <a:rPr lang="en-GB" sz="2000" dirty="0" smtClean="0"/>
            </a:br>
            <a:r>
              <a:rPr lang="en-GB" sz="2000" dirty="0" smtClean="0"/>
              <a:t>                     Manager                                          Manager                                                   </a:t>
            </a:r>
            <a:br>
              <a:rPr lang="en-GB" sz="2000" dirty="0" smtClean="0"/>
            </a:br>
            <a:r>
              <a:rPr lang="en-GB" sz="2000" dirty="0" smtClean="0"/>
              <a:t>                                                                                                        Soft-Engineer                                         ….. </a:t>
            </a:r>
            <a:br>
              <a:rPr lang="en-GB" sz="2000" dirty="0" smtClean="0"/>
            </a:br>
            <a:r>
              <a:rPr lang="en-GB" sz="2000" dirty="0" smtClean="0"/>
              <a:t>          Sales/Marketing                                         Finance        Soft-Developer/ …..</a:t>
            </a:r>
            <a:br>
              <a:rPr lang="en-GB" sz="2000" dirty="0" smtClean="0"/>
            </a:br>
            <a:r>
              <a:rPr lang="en-GB" sz="2000" dirty="0" smtClean="0"/>
              <a:t>                   Personnel                                            Personnel     Computer Programmers …..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000" dirty="0"/>
              <a:t> </a:t>
            </a:r>
            <a:r>
              <a:rPr lang="en-GB" sz="2000" dirty="0" smtClean="0"/>
              <a:t>                     </a:t>
            </a:r>
            <a:br>
              <a:rPr lang="en-GB" sz="2000" dirty="0" smtClean="0"/>
            </a:br>
            <a:r>
              <a:rPr lang="en-GB" sz="2000" dirty="0" smtClean="0"/>
              <a:t>                                          CEO: Chief Executive Officer; MD: Managing Director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000" dirty="0"/>
              <a:t> </a:t>
            </a:r>
            <a:r>
              <a:rPr lang="en-GB" sz="2000" dirty="0" smtClean="0"/>
              <a:t>                     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sz="2000" dirty="0"/>
              <a:t> </a:t>
            </a:r>
            <a:r>
              <a:rPr lang="en-GB" sz="2000" dirty="0" smtClean="0"/>
              <a:t>                            </a:t>
            </a:r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943600" y="1997075"/>
            <a:ext cx="0" cy="288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3433604" y="2290763"/>
            <a:ext cx="5710396" cy="714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29000" y="2378075"/>
            <a:ext cx="0" cy="288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144000" y="2286000"/>
            <a:ext cx="0" cy="288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505200" y="2971800"/>
            <a:ext cx="0" cy="287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9038431" y="3077369"/>
            <a:ext cx="21113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362200" y="3276600"/>
            <a:ext cx="31823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086600" y="3200400"/>
            <a:ext cx="40263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362200" y="3292475"/>
            <a:ext cx="0" cy="288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562600" y="3276600"/>
            <a:ext cx="0" cy="288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086600" y="3200400"/>
            <a:ext cx="0" cy="288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1125200" y="3200400"/>
            <a:ext cx="0" cy="288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086600" y="4038600"/>
            <a:ext cx="0" cy="2873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1125200" y="4038600"/>
            <a:ext cx="0" cy="287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1997075" y="4403726"/>
            <a:ext cx="273846" cy="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5400000">
            <a:off x="5577679" y="4434679"/>
            <a:ext cx="273846" cy="7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GB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Centralized </a:t>
            </a:r>
            <a:r>
              <a:rPr lang="en-GB" altLang="en-US" sz="40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vs</a:t>
            </a:r>
            <a:r>
              <a:rPr lang="en-GB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Decentralized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10860563" cy="4800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GB" sz="2800" b="1" dirty="0" smtClean="0">
                <a:latin typeface="Arial" pitchFamily="34" charset="0"/>
                <a:cs typeface="Arial" pitchFamily="34" charset="0"/>
              </a:rPr>
              <a:t>Centralized Operations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Any operations performed for the whole organization.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e.g. The Chairman decides and circulates office timings for the whole company.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GB" sz="2800" b="1" dirty="0" smtClean="0">
                <a:latin typeface="Arial" pitchFamily="34" charset="0"/>
                <a:cs typeface="Arial" pitchFamily="34" charset="0"/>
              </a:rPr>
              <a:t>De-centralized Operations</a:t>
            </a:r>
            <a:r>
              <a:rPr lang="en-GB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Each department takes its own decisions </a:t>
            </a:r>
            <a:br>
              <a:rPr lang="en-GB" sz="2800" dirty="0" smtClean="0">
                <a:latin typeface="Arial" pitchFamily="34" charset="0"/>
                <a:cs typeface="Arial" pitchFamily="34" charset="0"/>
              </a:rPr>
            </a:br>
            <a:r>
              <a:rPr lang="en-GB" sz="2800" dirty="0" smtClean="0">
                <a:latin typeface="Arial" pitchFamily="34" charset="0"/>
                <a:cs typeface="Arial" pitchFamily="34" charset="0"/>
              </a:rPr>
              <a:t>e.g. attendance system in each department due to full-time and part-time employees.</a:t>
            </a:r>
            <a:endParaRPr lang="en-GB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7064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Appraisals</a:t>
            </a:r>
            <a:endParaRPr lang="en-US" altLang="en-US" sz="4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447800"/>
            <a:ext cx="10698480" cy="4573588"/>
          </a:xfrm>
        </p:spPr>
        <p:txBody>
          <a:bodyPr/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Employees’ achievements and contributions to the company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are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properly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recorded.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Staff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know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what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expected of them and what they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need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to achieve in order to gain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promotions and honorariums.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Proper plans for training and career development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are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made and regularly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reviewed.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226040" cy="715961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Monitoring Financial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199"/>
            <a:ext cx="10842674" cy="4924425"/>
          </a:xfrm>
        </p:spPr>
        <p:txBody>
          <a:bodyPr>
            <a:normAutofit fontScale="92500"/>
          </a:bodyPr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At the end of each month software house’s   financial status is audited.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If revenues (earnings) are more than expenditures, it is a satisfactory condition but if expenditures are more, corrective actions are taken.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To monitor financial performance, company focuses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on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 -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Cost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how much spent on project development including manpower,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machines etc.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 -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Revenue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Total income at the end of each month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 - </a:t>
            </a:r>
            <a:r>
              <a:rPr lang="en-US" sz="2800" u="sng" dirty="0" smtClean="0">
                <a:latin typeface="Arial" pitchFamily="34" charset="0"/>
                <a:cs typeface="Arial" pitchFamily="34" charset="0"/>
              </a:rPr>
              <a:t>Overheads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: Other expenses than costs e.g. office maintenance,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salaries of non-technical staff etc.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       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Software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200"/>
            <a:ext cx="10698480" cy="442118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 the amount of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creating and delivering a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software or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service to your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customer.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These  costs  include  hosting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fees,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 server  and 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cloud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space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, website development and maintenance costs, software license agreements, and the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developer team's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salaries.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Software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0200"/>
            <a:ext cx="10698480" cy="442118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Amount of money collected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and earned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for the software which was developed and delivered to customers.</a:t>
            </a:r>
          </a:p>
          <a:p>
            <a:pPr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Generally this amount is mentioned in an agreement between the software house  and the customer before  developing  the software.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Project Costing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752600"/>
            <a:ext cx="10759441" cy="4700588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costs and revenue of each project are calculated each month and the cumulative gross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margin is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calculated as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total revenue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Profit on a project is calculated as: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 Profit = Revenue – Cost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E.g. Revenue = 5,00,000; Cost = 2,00,000, then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Profit = 5,00,000 – 2,00,000 = 3,00,000.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4905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Software Sale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828800"/>
            <a:ext cx="10698480" cy="4192589"/>
          </a:xfrm>
        </p:spPr>
        <p:txBody>
          <a:bodyPr/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It is a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transaction between the buyer and the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software house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in which the software house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sells a software against money. </a:t>
            </a:r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Sale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is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in the form of a contract (agreement) between the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buyer and the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software house in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the financial market, where the buyer and software house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agree upon a definite price of a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software.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 bwMode="auto">
          <a:xfrm>
            <a:off x="594360" y="274638"/>
            <a:ext cx="10698480" cy="63341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Sales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81200"/>
            <a:ext cx="11201400" cy="4543426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 smtClean="0"/>
              <a:t>It is </a:t>
            </a:r>
            <a:r>
              <a:rPr lang="en-US" dirty="0"/>
              <a:t>a document that outlines sales activities within </a:t>
            </a:r>
            <a:r>
              <a:rPr lang="en-US" dirty="0" smtClean="0"/>
              <a:t>a software house.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 smtClean="0"/>
              <a:t>Sales </a:t>
            </a:r>
            <a:r>
              <a:rPr lang="en-US" dirty="0"/>
              <a:t>reports may also help </a:t>
            </a:r>
            <a:r>
              <a:rPr lang="en-US" dirty="0" smtClean="0"/>
              <a:t>software houses discover </a:t>
            </a:r>
            <a:r>
              <a:rPr lang="en-US" dirty="0"/>
              <a:t>new market opportunities and improve their </a:t>
            </a:r>
            <a:r>
              <a:rPr lang="en-US" dirty="0" smtClean="0"/>
              <a:t>marketing.</a:t>
            </a: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 bwMode="auto">
          <a:xfrm>
            <a:off x="594360" y="274639"/>
            <a:ext cx="10698480" cy="5619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Long Term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11049000" cy="4648200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It is the strategic planning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for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future.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The successful software houses have the ability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to plan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for future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marketing for better business revenues.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q"/>
              <a:defRPr/>
            </a:pPr>
            <a:r>
              <a:rPr lang="en-US" sz="2800" dirty="0" smtClean="0">
                <a:latin typeface="Arial" pitchFamily="34" charset="0"/>
                <a:cs typeface="Arial" pitchFamily="34" charset="0"/>
              </a:rPr>
              <a:t> Long term planning 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identify long-term 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goals 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- determine future problems, hurdles and resistances which may </a:t>
            </a:r>
            <a:br>
              <a:rPr lang="en-US" sz="2800" dirty="0" smtClean="0"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  come across during the software development process.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sz="6000" dirty="0" smtClean="0">
                <a:latin typeface="Arial" pitchFamily="34" charset="0"/>
                <a:cs typeface="Arial" pitchFamily="34" charset="0"/>
              </a:rPr>
              <a:t>                   </a:t>
            </a:r>
            <a:r>
              <a:rPr lang="en-US" sz="9600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END</a:t>
            </a:r>
            <a:endParaRPr lang="en-US" sz="9600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3077</TotalTime>
  <Words>645</Words>
  <Application>Microsoft Office PowerPoint</Application>
  <PresentationFormat>Custom</PresentationFormat>
  <Paragraphs>93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Civic</vt:lpstr>
      <vt:lpstr>       Professional  Practices  -  week7         Key features of software house                               </vt:lpstr>
      <vt:lpstr>Key features of a software house </vt:lpstr>
      <vt:lpstr>Key features of a software house  (continue)</vt:lpstr>
      <vt:lpstr>Focus on quality</vt:lpstr>
      <vt:lpstr>Agile Methodology</vt:lpstr>
      <vt:lpstr>Full-stack capabilities </vt:lpstr>
      <vt:lpstr>Communication and collaboration</vt:lpstr>
      <vt:lpstr>Flexibility</vt:lpstr>
      <vt:lpstr>Hierarchical Structure</vt:lpstr>
      <vt:lpstr>Centralized vs Decentralized Operations</vt:lpstr>
      <vt:lpstr>Appraisals</vt:lpstr>
      <vt:lpstr>Monitoring Financial Performance</vt:lpstr>
      <vt:lpstr>Software Cost</vt:lpstr>
      <vt:lpstr>Software Revenue</vt:lpstr>
      <vt:lpstr>Project Costing</vt:lpstr>
      <vt:lpstr>Software Sale</vt:lpstr>
      <vt:lpstr>Sales Report</vt:lpstr>
      <vt:lpstr>Long Term Planning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Practices Week 1- Profession</dc:title>
  <dc:creator>Faraz Khan</dc:creator>
  <cp:lastModifiedBy>Faraz Khan</cp:lastModifiedBy>
  <cp:revision>284</cp:revision>
  <dcterms:created xsi:type="dcterms:W3CDTF">2023-10-12T07:59:10Z</dcterms:created>
  <dcterms:modified xsi:type="dcterms:W3CDTF">2024-02-10T21:22:34Z</dcterms:modified>
</cp:coreProperties>
</file>