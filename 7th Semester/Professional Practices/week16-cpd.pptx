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5A3006"/>
    <a:srgbClr val="218F3B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4338" autoAdjust="0"/>
    <p:restoredTop sz="94660"/>
  </p:normalViewPr>
  <p:slideViewPr>
    <p:cSldViewPr>
      <p:cViewPr>
        <p:scale>
          <a:sx n="70" d="100"/>
          <a:sy n="70" d="100"/>
        </p:scale>
        <p:origin x="-1842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01DAC-E68C-4B2B-9655-A0670A1811B7}" type="datetimeFigureOut">
              <a:rPr lang="en-US" smtClean="0"/>
              <a:pPr/>
              <a:t>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8B30F-4B4B-454B-B5EB-D2F98618033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838200"/>
          </a:xfrm>
          <a:ln w="38100" cap="sq" cmpd="sng">
            <a:solidFill>
              <a:schemeClr val="tx1"/>
            </a:solidFill>
            <a:bevel/>
          </a:ln>
        </p:spPr>
        <p:txBody>
          <a:bodyPr>
            <a:noAutofit/>
          </a:bodyPr>
          <a:lstStyle/>
          <a:p>
            <a:pPr algn="l"/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  </a:t>
            </a:r>
            <a:br>
              <a:rPr lang="en-US" sz="4000" b="1" dirty="0" smtClean="0"/>
            </a:br>
            <a:r>
              <a:rPr lang="en-US" sz="4000" b="1" dirty="0" smtClean="0"/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Continuing Professional Development cycle</a:t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5410200" cy="44958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        </a:t>
            </a:r>
          </a:p>
          <a:p>
            <a:pPr>
              <a:buNone/>
            </a:pP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3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5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5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52400" y="990600"/>
            <a:ext cx="8839200" cy="4953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vert270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half" idx="2"/>
          </p:nvPr>
        </p:nvSpPr>
        <p:spPr>
          <a:xfrm>
            <a:off x="228600" y="1066800"/>
            <a:ext cx="8686800" cy="4800599"/>
          </a:xfrm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endParaRPr lang="en-US" sz="9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Continuing  professional  development  (CPD)  is  the  ongoing  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process  of  identifying  professional goals, developing  a  plan 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to achieve them, and documenting the experience.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9600" dirty="0" smtClean="0">
                <a:latin typeface="Arial" pitchFamily="34" charset="0"/>
                <a:cs typeface="Arial" pitchFamily="34" charset="0"/>
              </a:rPr>
            </a:br>
            <a:endParaRPr lang="en-US" sz="9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Stages include:-</a:t>
            </a:r>
          </a:p>
          <a:p>
            <a:pPr algn="just">
              <a:buNone/>
            </a:pPr>
            <a:endParaRPr lang="en-US" sz="9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Stage1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:- Identify needs.</a:t>
            </a:r>
          </a:p>
          <a:p>
            <a:pPr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Stage2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:- Planning.</a:t>
            </a:r>
          </a:p>
          <a:p>
            <a:pPr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Stage3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:- Action or doing.</a:t>
            </a:r>
          </a:p>
          <a:p>
            <a:pPr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Stage4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:- Reflecting on learning.</a:t>
            </a:r>
          </a:p>
          <a:p>
            <a:pPr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Stage5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:- Implement your new learning. </a:t>
            </a:r>
          </a:p>
          <a:p>
            <a:pPr algn="just">
              <a:buNone/>
            </a:pP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45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4500" dirty="0" smtClean="0">
                <a:latin typeface="Arial" pitchFamily="34" charset="0"/>
                <a:cs typeface="Arial" pitchFamily="34" charset="0"/>
              </a:rPr>
            </a:b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7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838200"/>
          </a:xfrm>
          <a:ln w="38100" cap="sq" cmpd="sng">
            <a:solidFill>
              <a:schemeClr val="tx1"/>
            </a:solidFill>
            <a:bevel/>
          </a:ln>
        </p:spPr>
        <p:txBody>
          <a:bodyPr>
            <a:noAutofit/>
          </a:bodyPr>
          <a:lstStyle/>
          <a:p>
            <a:pPr algn="l"/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  </a:t>
            </a:r>
            <a:br>
              <a:rPr lang="en-US" sz="4000" b="1" dirty="0" smtClean="0"/>
            </a:br>
            <a:r>
              <a:rPr lang="en-US" sz="4000" b="1" dirty="0" smtClean="0"/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Stages of CPD cycle</a:t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5410200" cy="44958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        </a:t>
            </a:r>
          </a:p>
          <a:p>
            <a:pPr>
              <a:buNone/>
            </a:pP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3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5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5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52400" y="990600"/>
            <a:ext cx="8839200" cy="4953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vert270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half" idx="2"/>
          </p:nvPr>
        </p:nvSpPr>
        <p:spPr>
          <a:xfrm>
            <a:off x="228600" y="1066800"/>
            <a:ext cx="8686800" cy="4800599"/>
          </a:xfrm>
        </p:spPr>
        <p:txBody>
          <a:bodyPr>
            <a:normAutofit fontScale="25000" lnSpcReduction="20000"/>
          </a:bodyPr>
          <a:lstStyle/>
          <a:p>
            <a:pPr algn="just"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Stage1 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:-</a:t>
            </a:r>
            <a:r>
              <a:rPr lang="en-US" sz="9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9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Identifying your  needs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,  means what is your goal. 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pushing you potential in your career involves strategic thinking 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Take  a  moment  to  summarize  your  current career path and 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Imagine great milestones for the future. Now, construct a road-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Map. A roadmap of  achievable small goals that you can actua-</a:t>
            </a:r>
          </a:p>
          <a:p>
            <a:pPr algn="just">
              <a:buNone/>
            </a:pP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ly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achieve your bigger goals.</a:t>
            </a:r>
          </a:p>
          <a:p>
            <a:pPr algn="just">
              <a:buNone/>
            </a:pPr>
            <a:endParaRPr lang="en-US" sz="7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Stage2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:- </a:t>
            </a:r>
            <a:r>
              <a:rPr lang="en-US" sz="9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Planning means </a:t>
            </a:r>
            <a:r>
              <a:rPr lang="en-US" sz="9600" b="1" dirty="0" smtClean="0">
                <a:latin typeface="Arial" pitchFamily="34" charset="0"/>
                <a:cs typeface="Arial" pitchFamily="34" charset="0"/>
              </a:rPr>
              <a:t>s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et goals and make a plan. Identify 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gaps, areas of growth and opportunities  to  help  you progress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 to the next stage in your career. </a:t>
            </a:r>
            <a:r>
              <a:rPr lang="en-US" sz="9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SMART goals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based on these 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needs, outlining  activities  and  resources  required to achieve</a:t>
            </a:r>
          </a:p>
          <a:p>
            <a:pPr algn="just"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your objectives</a:t>
            </a:r>
            <a:r>
              <a:rPr lang="en-US" sz="9600" b="1" dirty="0" smtClean="0">
                <a:latin typeface="Arial" pitchFamily="34" charset="0"/>
                <a:cs typeface="Arial" pitchFamily="34" charset="0"/>
              </a:rPr>
              <a:t>. </a:t>
            </a:r>
          </a:p>
          <a:p>
            <a:pPr>
              <a:buNone/>
            </a:pPr>
            <a:r>
              <a:rPr lang="en-US" sz="45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4500" dirty="0" smtClean="0">
                <a:latin typeface="Arial" pitchFamily="34" charset="0"/>
                <a:cs typeface="Arial" pitchFamily="34" charset="0"/>
              </a:rPr>
            </a:b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7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838200"/>
          </a:xfrm>
          <a:ln w="38100" cap="sq" cmpd="sng">
            <a:solidFill>
              <a:schemeClr val="tx1"/>
            </a:solidFill>
            <a:bevel/>
          </a:ln>
        </p:spPr>
        <p:txBody>
          <a:bodyPr>
            <a:noAutofit/>
          </a:bodyPr>
          <a:lstStyle/>
          <a:p>
            <a:pPr algn="l"/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  </a:t>
            </a:r>
            <a:br>
              <a:rPr lang="en-US" sz="4000" b="1" dirty="0" smtClean="0"/>
            </a:br>
            <a:r>
              <a:rPr lang="en-US" sz="4000" b="1" dirty="0" smtClean="0"/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Stages of CPD cycle (continues)</a:t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5410200" cy="44958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        </a:t>
            </a:r>
          </a:p>
          <a:p>
            <a:pPr>
              <a:buNone/>
            </a:pP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3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5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5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52400" y="990600"/>
            <a:ext cx="8839200" cy="4953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vert270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half" idx="2"/>
          </p:nvPr>
        </p:nvSpPr>
        <p:spPr>
          <a:xfrm>
            <a:off x="228600" y="1066800"/>
            <a:ext cx="8686800" cy="4800599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sz="96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Stage3 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:-</a:t>
            </a:r>
            <a:r>
              <a:rPr lang="en-US" sz="960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9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Action</a:t>
            </a:r>
            <a:r>
              <a:rPr lang="en-US" sz="9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means start planning your learning activities  </a:t>
            </a:r>
          </a:p>
          <a:p>
            <a:pPr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Plan to attend for training or coaching sessions, enroll in </a:t>
            </a: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certi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-</a:t>
            </a:r>
          </a:p>
          <a:p>
            <a:pPr>
              <a:buNone/>
            </a:pP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ficate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  courses,   attend   webinars,  conferences,  and   learn </a:t>
            </a:r>
          </a:p>
          <a:p>
            <a:pPr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courses from </a:t>
            </a: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udemy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/  </a:t>
            </a: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courseera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/ </a:t>
            </a: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udacity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/ the great learning / </a:t>
            </a:r>
            <a:endParaRPr lang="en-US" sz="96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google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free courses. </a:t>
            </a: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None/>
            </a:pPr>
            <a:endParaRPr lang="en-US" sz="96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9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Stage4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:- </a:t>
            </a:r>
            <a:r>
              <a:rPr lang="en-US" sz="96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Reflection</a:t>
            </a:r>
            <a:r>
              <a:rPr lang="en-US" sz="96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on your experiences. Consider  what you </a:t>
            </a:r>
          </a:p>
          <a:p>
            <a:pPr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have  learned and  how it   has  influenced  your work.  Writing </a:t>
            </a:r>
          </a:p>
          <a:p>
            <a:pPr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down these observations helps you reflect on your progression </a:t>
            </a:r>
          </a:p>
          <a:p>
            <a:pPr>
              <a:buNone/>
            </a:pPr>
            <a:r>
              <a:rPr lang="en-US" sz="9600" dirty="0" smtClean="0">
                <a:latin typeface="Arial" pitchFamily="34" charset="0"/>
                <a:cs typeface="Arial" pitchFamily="34" charset="0"/>
              </a:rPr>
              <a:t>and evolve your approach. Identify any personal and  </a:t>
            </a: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professi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-</a:t>
            </a:r>
          </a:p>
          <a:p>
            <a:pPr>
              <a:buNone/>
            </a:pPr>
            <a:r>
              <a:rPr lang="en-US" sz="9600" dirty="0" err="1" smtClean="0">
                <a:latin typeface="Arial" pitchFamily="34" charset="0"/>
                <a:cs typeface="Arial" pitchFamily="34" charset="0"/>
              </a:rPr>
              <a:t>onal</a:t>
            </a:r>
            <a:r>
              <a:rPr lang="en-US" sz="9600" dirty="0" smtClean="0">
                <a:latin typeface="Arial" pitchFamily="34" charset="0"/>
                <a:cs typeface="Arial" pitchFamily="34" charset="0"/>
              </a:rPr>
              <a:t> development needs or areas for further improvement. </a:t>
            </a:r>
            <a:br>
              <a:rPr lang="en-US" sz="9600" dirty="0" smtClean="0">
                <a:latin typeface="Arial" pitchFamily="34" charset="0"/>
                <a:cs typeface="Arial" pitchFamily="34" charset="0"/>
              </a:rPr>
            </a:br>
            <a:endParaRPr lang="en-US" sz="96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7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838200"/>
          </a:xfrm>
          <a:ln w="38100" cap="sq" cmpd="sng">
            <a:solidFill>
              <a:schemeClr val="tx1"/>
            </a:solidFill>
            <a:bevel/>
          </a:ln>
        </p:spPr>
        <p:txBody>
          <a:bodyPr>
            <a:noAutofit/>
          </a:bodyPr>
          <a:lstStyle/>
          <a:p>
            <a:pPr algn="l"/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  </a:t>
            </a:r>
            <a:br>
              <a:rPr lang="en-US" sz="4000" b="1" dirty="0" smtClean="0"/>
            </a:br>
            <a:r>
              <a:rPr lang="en-US" sz="4000" b="1" dirty="0" smtClean="0"/>
              <a:t> 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Stages of CPD cycle (continues)</a:t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5410200" cy="44958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        </a:t>
            </a:r>
          </a:p>
          <a:p>
            <a:pPr>
              <a:buNone/>
            </a:pP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3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5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5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52400" y="990600"/>
            <a:ext cx="8839200" cy="4953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vert270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half" idx="2"/>
          </p:nvPr>
        </p:nvSpPr>
        <p:spPr>
          <a:xfrm>
            <a:off x="228600" y="1066800"/>
            <a:ext cx="8686800" cy="4800599"/>
          </a:xfrm>
        </p:spPr>
        <p:txBody>
          <a:bodyPr>
            <a:normAutofit fontScale="55000" lnSpcReduction="20000"/>
          </a:bodyPr>
          <a:lstStyle/>
          <a:p>
            <a:pPr algn="just">
              <a:buNone/>
            </a:pPr>
            <a:r>
              <a:rPr lang="en-US" sz="3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38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3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Stage5  </a:t>
            </a:r>
            <a:r>
              <a:rPr lang="en-US" sz="3800" dirty="0" smtClean="0">
                <a:latin typeface="Arial" pitchFamily="34" charset="0"/>
                <a:cs typeface="Arial" pitchFamily="34" charset="0"/>
              </a:rPr>
              <a:t>:-</a:t>
            </a:r>
            <a:r>
              <a:rPr lang="en-US" sz="3800" b="1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US" sz="4400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Implementation stage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offers regularly promote intern- </a:t>
            </a:r>
          </a:p>
          <a:p>
            <a:pPr algn="just">
              <a:buNone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al training with links to self-directed learning and  communicate </a:t>
            </a:r>
          </a:p>
          <a:p>
            <a:pPr algn="just">
              <a:buNone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the process for requesting online courses and one  should  not </a:t>
            </a:r>
          </a:p>
          <a:p>
            <a:pPr algn="just">
              <a:buNone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stop  after  completing  one  or two certificate course,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 he </a:t>
            </a:r>
            <a:r>
              <a:rPr lang="en-US" sz="4400" dirty="0" smtClean="0">
                <a:latin typeface="Arial" pitchFamily="34" charset="0"/>
                <a:cs typeface="Arial" pitchFamily="34" charset="0"/>
              </a:rPr>
              <a:t>/ she </a:t>
            </a:r>
          </a:p>
          <a:p>
            <a:pPr algn="just">
              <a:buNone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Should continuously participate in life long learning activities.</a:t>
            </a:r>
            <a:br>
              <a:rPr lang="en-US" sz="4400" dirty="0" smtClean="0">
                <a:latin typeface="Arial" pitchFamily="34" charset="0"/>
                <a:cs typeface="Arial" pitchFamily="34" charset="0"/>
              </a:rPr>
            </a:br>
            <a:endParaRPr lang="en-US" sz="4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7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76200"/>
            <a:ext cx="8839200" cy="838200"/>
          </a:xfrm>
          <a:ln w="38100" cap="sq" cmpd="sng">
            <a:solidFill>
              <a:schemeClr val="tx1"/>
            </a:solidFill>
            <a:bevel/>
          </a:ln>
        </p:spPr>
        <p:txBody>
          <a:bodyPr>
            <a:noAutofit/>
          </a:bodyPr>
          <a:lstStyle/>
          <a:p>
            <a:pPr algn="l"/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  </a:t>
            </a: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Example for CPD cycle using SMART Goal</a:t>
            </a:r>
            <a: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0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      </a:t>
            </a:r>
            <a: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6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6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152400" y="990600"/>
            <a:ext cx="8686800" cy="44958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        </a:t>
            </a:r>
          </a:p>
          <a:p>
            <a:pPr>
              <a:buNone/>
            </a:pP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3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2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2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3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2300" b="1" dirty="0" smtClean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4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</a:br>
            <a:endParaRPr lang="en-US" sz="5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50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5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152400" y="990600"/>
            <a:ext cx="8839200" cy="4953000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vert270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   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half" idx="2"/>
          </p:nvPr>
        </p:nvSpPr>
        <p:spPr>
          <a:xfrm>
            <a:off x="228600" y="1066800"/>
            <a:ext cx="8686800" cy="4800599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3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38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endParaRPr lang="en-US" sz="38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sz="4400" dirty="0" smtClean="0">
                <a:latin typeface="Arial" pitchFamily="34" charset="0"/>
                <a:cs typeface="Arial" pitchFamily="34" charset="0"/>
              </a:rPr>
              <a:t>.</a:t>
            </a:r>
            <a:br>
              <a:rPr lang="en-US" sz="4400" dirty="0" smtClean="0">
                <a:latin typeface="Arial" pitchFamily="34" charset="0"/>
                <a:cs typeface="Arial" pitchFamily="34" charset="0"/>
              </a:rPr>
            </a:br>
            <a:endParaRPr lang="en-US" sz="44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5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7200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42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304800" y="1219200"/>
            <a:ext cx="85344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u="sng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SMART  </a:t>
            </a:r>
            <a:r>
              <a:rPr lang="en-US" sz="2000" u="sng" dirty="0" smtClean="0">
                <a:latin typeface="Arial" pitchFamily="34" charset="0"/>
                <a:cs typeface="Arial" pitchFamily="34" charset="0"/>
              </a:rPr>
              <a:t>goal  example for learning English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:-</a:t>
            </a:r>
          </a:p>
          <a:p>
            <a:pPr algn="just">
              <a:buNone/>
            </a:pPr>
            <a:endParaRPr lang="en-US" sz="20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Specific:-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 want to learn how to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have conversations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in English to have better communication with my clients while doing free lancing.</a:t>
            </a:r>
          </a:p>
          <a:p>
            <a:pPr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Measurable :-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will use a daily language learning App on cell  to hold me accountable and track my progress.</a:t>
            </a:r>
          </a:p>
          <a:p>
            <a:pPr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Attainable:-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 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 know English speakers on my different social media accounts to whom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can practice English with them.</a:t>
            </a:r>
          </a:p>
          <a:p>
            <a:pPr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Relevant:-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   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  am  a  free lancer and most of  my clients    are   native   English   speakers   so    its mandatory  and  relevant  for  me to learn English. </a:t>
            </a:r>
          </a:p>
          <a:p>
            <a:pPr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r>
              <a:rPr lang="en-US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Time-bound:-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 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  want  to  learn  English in next 3 months  so 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 can   at  least  communicate  to  my clients and complete online projects on time. </a:t>
            </a:r>
          </a:p>
          <a:p>
            <a:pPr algn="just">
              <a:buNone/>
            </a:pP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2855</TotalTime>
  <Words>210</Words>
  <Application>Microsoft Office PowerPoint</Application>
  <PresentationFormat>On-screen Show (4:3)</PresentationFormat>
  <Paragraphs>123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     Continuing Professional Development cycle          </vt:lpstr>
      <vt:lpstr>     Stages of CPD cycle          </vt:lpstr>
      <vt:lpstr>     Stages of CPD cycle (continues)          </vt:lpstr>
      <vt:lpstr>     Stages of CPD cycle (continues)          </vt:lpstr>
      <vt:lpstr>   Example for CPD cycle using SMART Goal       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Khan</dc:creator>
  <cp:lastModifiedBy>Faraz Khan</cp:lastModifiedBy>
  <cp:revision>201</cp:revision>
  <dcterms:created xsi:type="dcterms:W3CDTF">2024-06-21T18:42:27Z</dcterms:created>
  <dcterms:modified xsi:type="dcterms:W3CDTF">2025-02-02T23:05:23Z</dcterms:modified>
</cp:coreProperties>
</file>