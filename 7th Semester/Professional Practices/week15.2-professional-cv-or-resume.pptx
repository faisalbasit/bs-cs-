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vertBarState="minimized">
    <p:restoredLeft sz="3824" autoAdjust="0"/>
    <p:restoredTop sz="94660"/>
  </p:normalViewPr>
  <p:slideViewPr>
    <p:cSldViewPr>
      <p:cViewPr varScale="1">
        <p:scale>
          <a:sx n="68" d="100"/>
          <a:sy n="68" d="100"/>
        </p:scale>
        <p:origin x="-194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6848F-D74A-4ED7-8957-84FEF7E84EF8}" type="datetimeFigureOut">
              <a:rPr lang="en-US" smtClean="0"/>
              <a:pPr/>
              <a:t>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5430F-1099-406C-988B-904C8E71030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6848F-D74A-4ED7-8957-84FEF7E84EF8}" type="datetimeFigureOut">
              <a:rPr lang="en-US" smtClean="0"/>
              <a:pPr/>
              <a:t>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5430F-1099-406C-988B-904C8E71030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6848F-D74A-4ED7-8957-84FEF7E84EF8}" type="datetimeFigureOut">
              <a:rPr lang="en-US" smtClean="0"/>
              <a:pPr/>
              <a:t>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5430F-1099-406C-988B-904C8E71030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6848F-D74A-4ED7-8957-84FEF7E84EF8}" type="datetimeFigureOut">
              <a:rPr lang="en-US" smtClean="0"/>
              <a:pPr/>
              <a:t>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5430F-1099-406C-988B-904C8E71030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6848F-D74A-4ED7-8957-84FEF7E84EF8}" type="datetimeFigureOut">
              <a:rPr lang="en-US" smtClean="0"/>
              <a:pPr/>
              <a:t>1/20/2025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5430F-1099-406C-988B-904C8E71030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6848F-D74A-4ED7-8957-84FEF7E84EF8}" type="datetimeFigureOut">
              <a:rPr lang="en-US" smtClean="0"/>
              <a:pPr/>
              <a:t>1/20/2025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5430F-1099-406C-988B-904C8E71030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6848F-D74A-4ED7-8957-84FEF7E84EF8}" type="datetimeFigureOut">
              <a:rPr lang="en-US" smtClean="0"/>
              <a:pPr/>
              <a:t>1/20/2025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5430F-1099-406C-988B-904C8E71030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6848F-D74A-4ED7-8957-84FEF7E84EF8}" type="datetimeFigureOut">
              <a:rPr lang="en-US" smtClean="0"/>
              <a:pPr/>
              <a:t>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5430F-1099-406C-988B-904C8E71030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6848F-D74A-4ED7-8957-84FEF7E84EF8}" type="datetimeFigureOut">
              <a:rPr lang="en-US" smtClean="0"/>
              <a:pPr/>
              <a:t>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5430F-1099-406C-988B-904C8E71030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6848F-D74A-4ED7-8957-84FEF7E84EF8}" type="datetimeFigureOut">
              <a:rPr lang="en-US" smtClean="0"/>
              <a:pPr/>
              <a:t>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5430F-1099-406C-988B-904C8E71030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6848F-D74A-4ED7-8957-84FEF7E84EF8}" type="datetimeFigureOut">
              <a:rPr lang="en-US" smtClean="0"/>
              <a:pPr/>
              <a:t>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5430F-1099-406C-988B-904C8E71030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C6848F-D74A-4ED7-8957-84FEF7E84EF8}" type="datetimeFigureOut">
              <a:rPr lang="en-US" smtClean="0"/>
              <a:pPr/>
              <a:t>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A5430F-1099-406C-988B-904C8E71030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839200" cy="1066800"/>
          </a:xfrm>
          <a:ln w="50800" cap="sq" cmpd="sng">
            <a:solidFill>
              <a:srgbClr val="0070C0"/>
            </a:solidFill>
            <a:round/>
          </a:ln>
        </p:spPr>
        <p:txBody>
          <a:bodyPr>
            <a:normAutofit/>
          </a:bodyPr>
          <a:lstStyle/>
          <a:p>
            <a:pPr algn="l"/>
            <a:r>
              <a:rPr 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WRITING CV / RESUME</a:t>
            </a:r>
            <a:endParaRPr lang="en-US" sz="4000" b="1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" y="1341437"/>
            <a:ext cx="8839200" cy="4754563"/>
          </a:xfrm>
          <a:ln w="50800">
            <a:solidFill>
              <a:srgbClr val="0070C0"/>
            </a:solidFill>
          </a:ln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Cover Letter for CV.</a:t>
            </a:r>
          </a:p>
          <a:p>
            <a:pPr>
              <a:buFont typeface="Wingdings" pitchFamily="2" charset="2"/>
              <a:buChar char="q"/>
            </a:pP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What is CV ?</a:t>
            </a:r>
          </a:p>
          <a:p>
            <a:pPr>
              <a:buFont typeface="Wingdings" pitchFamily="2" charset="2"/>
              <a:buChar char="q"/>
            </a:pPr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What Is a Resume?</a:t>
            </a:r>
          </a:p>
          <a:p>
            <a:pPr>
              <a:buFont typeface="Wingdings" pitchFamily="2" charset="2"/>
              <a:buChar char="q"/>
            </a:pPr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Key Difference b/w CV and Resume.</a:t>
            </a:r>
          </a:p>
          <a:p>
            <a:pPr>
              <a:buFont typeface="Wingdings" pitchFamily="2" charset="2"/>
              <a:buChar char="q"/>
            </a:pPr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</a:pP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839200" cy="1066800"/>
          </a:xfrm>
          <a:ln w="50800" cap="sq" cmpd="sng">
            <a:solidFill>
              <a:srgbClr val="0070C0"/>
            </a:solidFill>
            <a:round/>
          </a:ln>
        </p:spPr>
        <p:txBody>
          <a:bodyPr>
            <a:normAutofit/>
          </a:bodyPr>
          <a:lstStyle/>
          <a:p>
            <a:pPr algn="l"/>
            <a:r>
              <a:rPr 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WRITING CV / RESUME</a:t>
            </a:r>
            <a:endParaRPr lang="en-US" sz="4000" b="1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" y="1341437"/>
            <a:ext cx="8839200" cy="4754563"/>
          </a:xfrm>
          <a:ln w="50800">
            <a:solidFill>
              <a:srgbClr val="0070C0"/>
            </a:solidFill>
          </a:ln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Cover Letter.</a:t>
            </a: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 algn="just">
              <a:buFont typeface="Wingdings" pitchFamily="2" charset="2"/>
              <a:buChar char="q"/>
            </a:pPr>
            <a:r>
              <a:rPr lang="en-US" sz="2600" dirty="0" smtClean="0">
                <a:latin typeface="Arial" pitchFamily="34" charset="0"/>
                <a:cs typeface="Arial" pitchFamily="34" charset="0"/>
              </a:rPr>
              <a:t>Opening  of  CV or  resume </a:t>
            </a:r>
            <a:r>
              <a:rPr lang="en-US" sz="2600" dirty="0" smtClean="0">
                <a:latin typeface="Arial" pitchFamily="34" charset="0"/>
                <a:cs typeface="Arial" pitchFamily="34" charset="0"/>
              </a:rPr>
              <a:t> should  be </a:t>
            </a:r>
            <a:r>
              <a:rPr lang="en-US" sz="2600" dirty="0" smtClean="0">
                <a:latin typeface="Arial" pitchFamily="34" charset="0"/>
                <a:cs typeface="Arial" pitchFamily="34" charset="0"/>
              </a:rPr>
              <a:t>from </a:t>
            </a:r>
            <a:r>
              <a:rPr lang="en-US" sz="2600" dirty="0" smtClean="0">
                <a:latin typeface="Arial" pitchFamily="34" charset="0"/>
                <a:cs typeface="Arial" pitchFamily="34" charset="0"/>
              </a:rPr>
              <a:t>cover </a:t>
            </a:r>
            <a:r>
              <a:rPr lang="en-US" sz="2600" dirty="0" smtClean="0">
                <a:latin typeface="Arial" pitchFamily="34" charset="0"/>
                <a:cs typeface="Arial" pitchFamily="34" charset="0"/>
              </a:rPr>
              <a:t>letter.</a:t>
            </a:r>
          </a:p>
          <a:p>
            <a:pPr algn="just">
              <a:buFont typeface="Wingdings" pitchFamily="2" charset="2"/>
              <a:buChar char="q"/>
            </a:pPr>
            <a:r>
              <a:rPr lang="en-US" sz="2600" dirty="0" smtClean="0">
                <a:latin typeface="Arial" pitchFamily="34" charset="0"/>
                <a:cs typeface="Arial" pitchFamily="34" charset="0"/>
              </a:rPr>
              <a:t>In 1st paragraph you tell about how  did you come to know about this job.</a:t>
            </a:r>
          </a:p>
          <a:p>
            <a:pPr algn="just">
              <a:buFont typeface="Wingdings" pitchFamily="2" charset="2"/>
              <a:buChar char="q"/>
            </a:pPr>
            <a:r>
              <a:rPr lang="en-US" sz="2600" dirty="0" smtClean="0">
                <a:latin typeface="Arial" pitchFamily="34" charset="0"/>
                <a:cs typeface="Arial" pitchFamily="34" charset="0"/>
              </a:rPr>
              <a:t>In 2</a:t>
            </a:r>
            <a:r>
              <a:rPr lang="en-US" sz="2600" baseline="30000" dirty="0" smtClean="0">
                <a:latin typeface="Arial" pitchFamily="34" charset="0"/>
                <a:cs typeface="Arial" pitchFamily="34" charset="0"/>
              </a:rPr>
              <a:t>nd</a:t>
            </a:r>
            <a:r>
              <a:rPr lang="en-US" sz="2600" dirty="0" smtClean="0">
                <a:latin typeface="Arial" pitchFamily="34" charset="0"/>
                <a:cs typeface="Arial" pitchFamily="34" charset="0"/>
              </a:rPr>
              <a:t> paragraph you explain about your experience and skills.</a:t>
            </a:r>
          </a:p>
          <a:p>
            <a:pPr algn="just">
              <a:buFont typeface="Wingdings" pitchFamily="2" charset="2"/>
              <a:buChar char="q"/>
            </a:pPr>
            <a:r>
              <a:rPr lang="en-US" sz="2600" baseline="30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smtClean="0">
                <a:latin typeface="Arial" pitchFamily="34" charset="0"/>
                <a:cs typeface="Arial" pitchFamily="34" charset="0"/>
              </a:rPr>
              <a:t>In 3</a:t>
            </a:r>
            <a:r>
              <a:rPr lang="en-US" sz="2600" baseline="30000" dirty="0" smtClean="0">
                <a:latin typeface="Arial" pitchFamily="34" charset="0"/>
                <a:cs typeface="Arial" pitchFamily="34" charset="0"/>
              </a:rPr>
              <a:t>rd</a:t>
            </a:r>
            <a:r>
              <a:rPr lang="en-US" sz="2600" dirty="0" smtClean="0">
                <a:latin typeface="Arial" pitchFamily="34" charset="0"/>
                <a:cs typeface="Arial" pitchFamily="34" charset="0"/>
              </a:rPr>
              <a:t> paragraph you explain how your skills and </a:t>
            </a:r>
            <a:r>
              <a:rPr lang="en-US" sz="2600" dirty="0" smtClean="0">
                <a:latin typeface="Arial" pitchFamily="34" charset="0"/>
                <a:cs typeface="Arial" pitchFamily="34" charset="0"/>
              </a:rPr>
              <a:t> expertise </a:t>
            </a:r>
            <a:r>
              <a:rPr lang="en-US" sz="2600" dirty="0" smtClean="0">
                <a:latin typeface="Arial" pitchFamily="34" charset="0"/>
                <a:cs typeface="Arial" pitchFamily="34" charset="0"/>
              </a:rPr>
              <a:t>match with job.</a:t>
            </a:r>
          </a:p>
          <a:p>
            <a:pPr algn="just">
              <a:buFont typeface="Wingdings" pitchFamily="2" charset="2"/>
              <a:buChar char="q"/>
            </a:pPr>
            <a:r>
              <a:rPr lang="en-US" sz="2600" dirty="0" smtClean="0">
                <a:latin typeface="Arial" pitchFamily="34" charset="0"/>
                <a:cs typeface="Arial" pitchFamily="34" charset="0"/>
              </a:rPr>
              <a:t>In 4</a:t>
            </a:r>
            <a:r>
              <a:rPr lang="en-US" sz="2600" baseline="30000" dirty="0" smtClean="0">
                <a:latin typeface="Arial" pitchFamily="34" charset="0"/>
                <a:cs typeface="Arial" pitchFamily="34" charset="0"/>
              </a:rPr>
              <a:t>th</a:t>
            </a:r>
            <a:r>
              <a:rPr lang="en-US" sz="2600" dirty="0" smtClean="0">
                <a:latin typeface="Arial" pitchFamily="34" charset="0"/>
                <a:cs typeface="Arial" pitchFamily="34" charset="0"/>
              </a:rPr>
              <a:t> paragraph you wish to meet with interviewer.</a:t>
            </a:r>
          </a:p>
          <a:p>
            <a:pPr>
              <a:buFont typeface="Wingdings" pitchFamily="2" charset="2"/>
              <a:buChar char="q"/>
            </a:pP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</a:pP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</a:pPr>
            <a:endParaRPr lang="en-US" b="1" dirty="0" smtClean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</a:pP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endParaRPr lang="en-US" dirty="0"/>
          </a:p>
          <a:p>
            <a:pPr>
              <a:buFont typeface="Wingdings" pitchFamily="2" charset="2"/>
              <a:buChar char="q"/>
            </a:pP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</a:pP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</a:pP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839200" cy="1066800"/>
          </a:xfrm>
          <a:ln w="50800" cap="sq" cmpd="sng">
            <a:solidFill>
              <a:srgbClr val="0070C0"/>
            </a:solidFill>
            <a:round/>
          </a:ln>
        </p:spPr>
        <p:txBody>
          <a:bodyPr>
            <a:normAutofit/>
          </a:bodyPr>
          <a:lstStyle/>
          <a:p>
            <a:pPr algn="l"/>
            <a:r>
              <a:rPr 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WRITING CV / RESUME</a:t>
            </a:r>
            <a:endParaRPr lang="en-US" sz="4000" b="1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" y="1341437"/>
            <a:ext cx="8839200" cy="4754563"/>
          </a:xfrm>
          <a:ln w="50800">
            <a:solidFill>
              <a:srgbClr val="0070C0"/>
            </a:solidFill>
          </a:ln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</a:pP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What is CV ?</a:t>
            </a:r>
          </a:p>
          <a:p>
            <a:pPr>
              <a:buNone/>
            </a:pPr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pPr algn="just">
              <a:buFont typeface="Wingdings" pitchFamily="2" charset="2"/>
              <a:buChar char="q"/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A 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 CV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 (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short  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for 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Curriculum  Vitae), describes  your   whole  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career. 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 It’s 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usually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2 –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3 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pages long  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but can be over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10 + 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pages if necessary.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A  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CV presents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your 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education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, professio- nal 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career,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publications, awards, etc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. </a:t>
            </a:r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</a:pP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</a:pP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839200" cy="1066800"/>
          </a:xfrm>
          <a:ln w="50800" cap="sq" cmpd="sng">
            <a:solidFill>
              <a:srgbClr val="0070C0"/>
            </a:solidFill>
            <a:round/>
          </a:ln>
        </p:spPr>
        <p:txBody>
          <a:bodyPr>
            <a:normAutofit/>
          </a:bodyPr>
          <a:lstStyle/>
          <a:p>
            <a:pPr algn="l"/>
            <a:r>
              <a:rPr 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WRITING CV / RESUME</a:t>
            </a:r>
            <a:endParaRPr lang="en-US" sz="4000" b="1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" y="1341437"/>
            <a:ext cx="8839200" cy="4754563"/>
          </a:xfrm>
          <a:ln w="50800">
            <a:solidFill>
              <a:srgbClr val="0070C0"/>
            </a:solidFill>
          </a:ln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6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Full </a:t>
            </a:r>
            <a:r>
              <a:rPr lang="en-US" sz="26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list of sections you may use when </a:t>
            </a:r>
            <a:r>
              <a:rPr lang="en-US" sz="26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writing CV.</a:t>
            </a:r>
            <a:endParaRPr lang="en-US" sz="2600" b="1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</a:pPr>
            <a:r>
              <a:rPr lang="en-US" sz="2600" dirty="0">
                <a:latin typeface="Arial" pitchFamily="34" charset="0"/>
                <a:cs typeface="Arial" pitchFamily="34" charset="0"/>
              </a:rPr>
              <a:t>Contact </a:t>
            </a:r>
            <a:r>
              <a:rPr lang="en-US" sz="2600" dirty="0" smtClean="0">
                <a:latin typeface="Arial" pitchFamily="34" charset="0"/>
                <a:cs typeface="Arial" pitchFamily="34" charset="0"/>
              </a:rPr>
              <a:t>information.</a:t>
            </a:r>
            <a:endParaRPr lang="en-US" sz="2600" dirty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</a:pPr>
            <a:r>
              <a:rPr lang="en-US" sz="2600" dirty="0">
                <a:latin typeface="Arial" pitchFamily="34" charset="0"/>
                <a:cs typeface="Arial" pitchFamily="34" charset="0"/>
              </a:rPr>
              <a:t>Research objective, personal </a:t>
            </a:r>
            <a:r>
              <a:rPr lang="en-US" sz="2600" dirty="0" smtClean="0">
                <a:latin typeface="Arial" pitchFamily="34" charset="0"/>
                <a:cs typeface="Arial" pitchFamily="34" charset="0"/>
              </a:rPr>
              <a:t>profile, 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or personal </a:t>
            </a:r>
            <a:r>
              <a:rPr lang="en-US" sz="2600" dirty="0" smtClean="0">
                <a:latin typeface="Arial" pitchFamily="34" charset="0"/>
                <a:cs typeface="Arial" pitchFamily="34" charset="0"/>
              </a:rPr>
              <a:t>statement.</a:t>
            </a:r>
            <a:endParaRPr lang="en-US" sz="2600" dirty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</a:pPr>
            <a:r>
              <a:rPr lang="en-US" sz="2600" dirty="0" smtClean="0">
                <a:latin typeface="Arial" pitchFamily="34" charset="0"/>
                <a:cs typeface="Arial" pitchFamily="34" charset="0"/>
              </a:rPr>
              <a:t>Education.</a:t>
            </a:r>
            <a:endParaRPr lang="en-US" sz="2600" dirty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</a:pPr>
            <a:r>
              <a:rPr lang="en-US" sz="2600" dirty="0">
                <a:latin typeface="Arial" pitchFamily="34" charset="0"/>
                <a:cs typeface="Arial" pitchFamily="34" charset="0"/>
              </a:rPr>
              <a:t>Professional academic </a:t>
            </a:r>
            <a:r>
              <a:rPr lang="en-US" sz="2600" dirty="0" smtClean="0">
                <a:latin typeface="Arial" pitchFamily="34" charset="0"/>
                <a:cs typeface="Arial" pitchFamily="34" charset="0"/>
              </a:rPr>
              <a:t>appointments.</a:t>
            </a:r>
            <a:endParaRPr lang="en-US" sz="2600" dirty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</a:pPr>
            <a:r>
              <a:rPr lang="en-US" sz="2600" dirty="0" smtClean="0">
                <a:latin typeface="Arial" pitchFamily="34" charset="0"/>
                <a:cs typeface="Arial" pitchFamily="34" charset="0"/>
              </a:rPr>
              <a:t>Books.</a:t>
            </a:r>
            <a:endParaRPr lang="en-US" sz="2600" dirty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</a:pPr>
            <a:r>
              <a:rPr lang="en-US" sz="2600" dirty="0">
                <a:latin typeface="Arial" pitchFamily="34" charset="0"/>
                <a:cs typeface="Arial" pitchFamily="34" charset="0"/>
              </a:rPr>
              <a:t>Book </a:t>
            </a:r>
            <a:r>
              <a:rPr lang="en-US" sz="2600" dirty="0" smtClean="0">
                <a:latin typeface="Arial" pitchFamily="34" charset="0"/>
                <a:cs typeface="Arial" pitchFamily="34" charset="0"/>
              </a:rPr>
              <a:t>chapters.</a:t>
            </a:r>
            <a:endParaRPr lang="en-US" sz="2600" dirty="0">
              <a:latin typeface="Arial" pitchFamily="34" charset="0"/>
              <a:cs typeface="Arial" pitchFamily="34" charset="0"/>
            </a:endParaRPr>
          </a:p>
          <a:p>
            <a:endParaRPr lang="en-US" dirty="0"/>
          </a:p>
          <a:p>
            <a:pPr>
              <a:buFont typeface="Wingdings" pitchFamily="2" charset="2"/>
              <a:buChar char="q"/>
            </a:pP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</a:pP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</a:pP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839200" cy="1066800"/>
          </a:xfrm>
          <a:ln w="50800" cap="sq" cmpd="sng">
            <a:solidFill>
              <a:srgbClr val="0070C0"/>
            </a:solidFill>
            <a:round/>
          </a:ln>
        </p:spPr>
        <p:txBody>
          <a:bodyPr>
            <a:normAutofit/>
          </a:bodyPr>
          <a:lstStyle/>
          <a:p>
            <a:pPr algn="l"/>
            <a:r>
              <a:rPr 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WRITING CV / RESUME</a:t>
            </a:r>
            <a:endParaRPr lang="en-US" sz="4000" b="1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" y="1341437"/>
            <a:ext cx="8839200" cy="4754563"/>
          </a:xfrm>
          <a:ln w="50800">
            <a:solidFill>
              <a:srgbClr val="0070C0"/>
            </a:solidFill>
          </a:ln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Peer-reviewed publications.</a:t>
            </a:r>
          </a:p>
          <a:p>
            <a:pPr>
              <a:buFont typeface="Wingdings" pitchFamily="2" charset="2"/>
              <a:buChar char="q"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Other publications.</a:t>
            </a:r>
          </a:p>
          <a:p>
            <a:pPr>
              <a:buFont typeface="Wingdings" pitchFamily="2" charset="2"/>
              <a:buChar char="q"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Awards and honors.</a:t>
            </a:r>
          </a:p>
          <a:p>
            <a:pPr>
              <a:buFont typeface="Wingdings" pitchFamily="2" charset="2"/>
              <a:buChar char="q"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Grants and fellowships.</a:t>
            </a:r>
          </a:p>
          <a:p>
            <a:pPr>
              <a:buFont typeface="Wingdings" pitchFamily="2" charset="2"/>
              <a:buChar char="q"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Conferences.</a:t>
            </a:r>
          </a:p>
          <a:p>
            <a:pPr>
              <a:buFont typeface="Wingdings" pitchFamily="2" charset="2"/>
              <a:buChar char="q"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Teaching experience.</a:t>
            </a:r>
          </a:p>
          <a:p>
            <a:pPr>
              <a:buFont typeface="Wingdings" pitchFamily="2" charset="2"/>
              <a:buChar char="q"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Research experience, lab experience, or graduate fieldwork.</a:t>
            </a:r>
          </a:p>
          <a:p>
            <a:pPr>
              <a:buFont typeface="Wingdings" pitchFamily="2" charset="2"/>
              <a:buChar char="q"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Non-academic activities.</a:t>
            </a:r>
          </a:p>
          <a:p>
            <a:pPr>
              <a:buFont typeface="Wingdings" pitchFamily="2" charset="2"/>
              <a:buChar char="q"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Languages and skills.</a:t>
            </a:r>
          </a:p>
          <a:p>
            <a:pPr>
              <a:buFont typeface="Wingdings" pitchFamily="2" charset="2"/>
              <a:buChar char="q"/>
            </a:pPr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endParaRPr lang="en-US" dirty="0"/>
          </a:p>
          <a:p>
            <a:pPr>
              <a:buFont typeface="Wingdings" pitchFamily="2" charset="2"/>
              <a:buChar char="q"/>
            </a:pP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</a:pP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</a:pP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839200" cy="1066800"/>
          </a:xfrm>
          <a:ln w="50800" cap="sq" cmpd="sng">
            <a:solidFill>
              <a:srgbClr val="0070C0"/>
            </a:solidFill>
            <a:round/>
          </a:ln>
        </p:spPr>
        <p:txBody>
          <a:bodyPr>
            <a:normAutofit/>
          </a:bodyPr>
          <a:lstStyle/>
          <a:p>
            <a:pPr algn="l"/>
            <a:r>
              <a:rPr 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WRITING CV / RESUME</a:t>
            </a:r>
            <a:endParaRPr lang="en-US" sz="4000" b="1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" y="1341437"/>
            <a:ext cx="8839200" cy="4754563"/>
          </a:xfrm>
          <a:ln w="50800">
            <a:solidFill>
              <a:srgbClr val="0070C0"/>
            </a:solidFill>
          </a:ln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Memberships.</a:t>
            </a:r>
          </a:p>
          <a:p>
            <a:pPr>
              <a:buFont typeface="Wingdings" pitchFamily="2" charset="2"/>
              <a:buChar char="q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References.</a:t>
            </a:r>
          </a:p>
          <a:p>
            <a:endParaRPr lang="en-US" dirty="0"/>
          </a:p>
          <a:p>
            <a:pPr>
              <a:buFont typeface="Wingdings" pitchFamily="2" charset="2"/>
              <a:buChar char="q"/>
            </a:pP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</a:pP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</a:pP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839200" cy="1066800"/>
          </a:xfrm>
          <a:ln w="50800" cap="sq" cmpd="sng">
            <a:solidFill>
              <a:srgbClr val="0070C0"/>
            </a:solidFill>
            <a:round/>
          </a:ln>
        </p:spPr>
        <p:txBody>
          <a:bodyPr>
            <a:normAutofit/>
          </a:bodyPr>
          <a:lstStyle/>
          <a:p>
            <a:pPr algn="l"/>
            <a:r>
              <a:rPr 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WRITING CV / RESUME</a:t>
            </a:r>
            <a:endParaRPr lang="en-US" sz="4000" b="1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" y="1341437"/>
            <a:ext cx="8839200" cy="4754563"/>
          </a:xfrm>
          <a:ln w="50800">
            <a:solidFill>
              <a:srgbClr val="0070C0"/>
            </a:solidFill>
          </a:ln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What Is a resume?</a:t>
            </a:r>
          </a:p>
          <a:p>
            <a:pPr>
              <a:buFont typeface="Wingdings" pitchFamily="2" charset="2"/>
              <a:buChar char="q"/>
            </a:pPr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pPr algn="just">
              <a:buFont typeface="Wingdings" pitchFamily="2" charset="2"/>
              <a:buChar char="q"/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A 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resume 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is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a 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short,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concise docum- ent   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used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for  job  applications. The purpose   of   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a resume 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is  to 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provide recruiters with a brief overview of the candidate’s work history. A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good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resume 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should be targeted at a specific job and be 1–2 pages long.</a:t>
            </a:r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</a:pP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endParaRPr lang="en-US" dirty="0"/>
          </a:p>
          <a:p>
            <a:pPr>
              <a:buFont typeface="Wingdings" pitchFamily="2" charset="2"/>
              <a:buChar char="q"/>
            </a:pP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</a:pP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</a:pP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839200" cy="1066800"/>
          </a:xfrm>
          <a:ln w="50800" cap="sq" cmpd="sng">
            <a:solidFill>
              <a:srgbClr val="0070C0"/>
            </a:solidFill>
            <a:round/>
          </a:ln>
        </p:spPr>
        <p:txBody>
          <a:bodyPr>
            <a:normAutofit/>
          </a:bodyPr>
          <a:lstStyle/>
          <a:p>
            <a:pPr algn="l"/>
            <a:r>
              <a:rPr 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WRITING CV / RESUME</a:t>
            </a:r>
            <a:endParaRPr lang="en-US" sz="4000" b="1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" y="1341437"/>
            <a:ext cx="8839200" cy="4754563"/>
          </a:xfrm>
          <a:ln w="50800">
            <a:solidFill>
              <a:srgbClr val="0070C0"/>
            </a:solidFill>
          </a:ln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q"/>
            </a:pPr>
            <a:r>
              <a:rPr lang="en-US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list of sections you may use when writing resume. </a:t>
            </a:r>
          </a:p>
          <a:p>
            <a:pPr>
              <a:buFont typeface="Wingdings" pitchFamily="2" charset="2"/>
              <a:buChar char="q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Contact information including job title.</a:t>
            </a:r>
          </a:p>
          <a:p>
            <a:pPr>
              <a:buFont typeface="Wingdings" pitchFamily="2" charset="2"/>
              <a:buChar char="q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Resume summary or resume objective.</a:t>
            </a:r>
          </a:p>
          <a:p>
            <a:pPr>
              <a:buFont typeface="Wingdings" pitchFamily="2" charset="2"/>
              <a:buChar char="q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Work experience.</a:t>
            </a:r>
          </a:p>
          <a:p>
            <a:pPr>
              <a:buFont typeface="Wingdings" pitchFamily="2" charset="2"/>
              <a:buChar char="q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Education section.</a:t>
            </a:r>
          </a:p>
          <a:p>
            <a:pPr>
              <a:buFont typeface="Wingdings" pitchFamily="2" charset="2"/>
              <a:buChar char="q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Skills section.</a:t>
            </a:r>
          </a:p>
          <a:p>
            <a:pPr>
              <a:buFont typeface="Wingdings" pitchFamily="2" charset="2"/>
              <a:buChar char="q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Additional  resume  details  (awards, courses, resume publications, licen- se  and certifications, personal inter- ests, etc.)</a:t>
            </a:r>
          </a:p>
          <a:p>
            <a:pPr>
              <a:buFont typeface="Wingdings" pitchFamily="2" charset="2"/>
              <a:buChar char="q"/>
            </a:pP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endParaRPr lang="en-US" dirty="0"/>
          </a:p>
          <a:p>
            <a:pPr>
              <a:buFont typeface="Wingdings" pitchFamily="2" charset="2"/>
              <a:buChar char="q"/>
            </a:pP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</a:pP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</a:pP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839200" cy="1066800"/>
          </a:xfrm>
          <a:ln w="50800" cap="sq" cmpd="sng">
            <a:solidFill>
              <a:srgbClr val="0070C0"/>
            </a:solidFill>
            <a:round/>
          </a:ln>
        </p:spPr>
        <p:txBody>
          <a:bodyPr>
            <a:normAutofit/>
          </a:bodyPr>
          <a:lstStyle/>
          <a:p>
            <a:pPr algn="l"/>
            <a:r>
              <a:rPr 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WRITING CV / RESUME</a:t>
            </a:r>
            <a:endParaRPr lang="en-US" sz="4000" b="1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" y="1341437"/>
            <a:ext cx="8839200" cy="4754563"/>
          </a:xfrm>
          <a:ln w="50800">
            <a:solidFill>
              <a:srgbClr val="0070C0"/>
            </a:solidFill>
          </a:ln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Key Difference b/w CV and Resume</a:t>
            </a:r>
            <a:r>
              <a:rPr lang="en-US" sz="24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>
              <a:buNone/>
            </a:pPr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</a:pP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CV</a:t>
            </a:r>
            <a:r>
              <a:rPr lang="en-US" sz="24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has no length limit.</a:t>
            </a:r>
          </a:p>
          <a:p>
            <a:pPr algn="just">
              <a:buFont typeface="Wingdings" pitchFamily="2" charset="2"/>
              <a:buChar char="q"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CV should detail whole course of  your career.</a:t>
            </a:r>
          </a:p>
          <a:p>
            <a:pPr algn="just">
              <a:buFont typeface="Wingdings" pitchFamily="2" charset="2"/>
              <a:buChar char="q"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CV are used for academic  purposes.</a:t>
            </a:r>
          </a:p>
          <a:p>
            <a:pPr algn="just">
              <a:buNone/>
            </a:pPr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pPr algn="just">
              <a:buFont typeface="Wingdings" pitchFamily="2" charset="2"/>
              <a:buChar char="q"/>
            </a:pP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Resume</a:t>
            </a: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 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is  one  to  two  page  long.</a:t>
            </a:r>
          </a:p>
          <a:p>
            <a:pPr algn="just">
              <a:buFont typeface="Wingdings" pitchFamily="2" charset="2"/>
              <a:buChar char="q"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It only includes those details about your work and experience and skills that are relevant to job openings.</a:t>
            </a:r>
          </a:p>
          <a:p>
            <a:pPr algn="just">
              <a:buNone/>
            </a:pP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</a:pP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</a:pPr>
            <a:endParaRPr lang="en-US" b="1" dirty="0" smtClean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</a:pP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endParaRPr lang="en-US" dirty="0"/>
          </a:p>
          <a:p>
            <a:pPr>
              <a:buFont typeface="Wingdings" pitchFamily="2" charset="2"/>
              <a:buChar char="q"/>
            </a:pP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</a:pP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</a:pP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839200" cy="1066800"/>
          </a:xfrm>
          <a:ln w="50800" cap="sq" cmpd="sng">
            <a:solidFill>
              <a:srgbClr val="0070C0"/>
            </a:solidFill>
            <a:round/>
          </a:ln>
        </p:spPr>
        <p:txBody>
          <a:bodyPr>
            <a:normAutofit/>
          </a:bodyPr>
          <a:lstStyle/>
          <a:p>
            <a:pPr algn="l"/>
            <a:r>
              <a:rPr 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WRITING CV / RESUME</a:t>
            </a:r>
            <a:endParaRPr lang="en-US" sz="4000" b="1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" y="1341437"/>
            <a:ext cx="8839200" cy="4754563"/>
          </a:xfrm>
          <a:ln w="50800">
            <a:solidFill>
              <a:srgbClr val="0070C0"/>
            </a:solidFill>
          </a:ln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q"/>
            </a:pPr>
            <a:r>
              <a:rPr lang="en-US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Do</a:t>
            </a:r>
            <a:endParaRPr lang="en-US" b="1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u="sng" dirty="0" smtClean="0">
                <a:latin typeface="Arial" pitchFamily="34" charset="0"/>
                <a:cs typeface="Arial" pitchFamily="34" charset="0"/>
              </a:rPr>
              <a:t>Length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of resume must be 1-2 page.</a:t>
            </a:r>
          </a:p>
          <a:p>
            <a:pPr>
              <a:buFont typeface="Wingdings" pitchFamily="2" charset="2"/>
              <a:buChar char="q"/>
            </a:pPr>
            <a:r>
              <a:rPr lang="en-US" u="sng" dirty="0" smtClean="0">
                <a:latin typeface="Arial" pitchFamily="34" charset="0"/>
                <a:cs typeface="Arial" pitchFamily="34" charset="0"/>
              </a:rPr>
              <a:t>Picture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 is  not  recommended but  if you are applying for brand ambass - ador, sales, marketing,  receptionist, anchoring, model etc.</a:t>
            </a:r>
          </a:p>
          <a:p>
            <a:pPr>
              <a:buFont typeface="Wingdings" pitchFamily="2" charset="2"/>
              <a:buChar char="q"/>
            </a:pPr>
            <a:r>
              <a:rPr lang="en-US" u="sng" dirty="0" smtClean="0">
                <a:latin typeface="Arial" pitchFamily="34" charset="0"/>
                <a:cs typeface="Arial" pitchFamily="34" charset="0"/>
              </a:rPr>
              <a:t>Summary  statement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includes   </a:t>
            </a:r>
            <a:r>
              <a:rPr lang="en-US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soft </a:t>
            </a:r>
            <a:br>
              <a:rPr lang="en-US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</a:br>
            <a:r>
              <a:rPr lang="en-US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skills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(enthusiastic, passionate ,hard-  working etc)    and   </a:t>
            </a:r>
            <a:r>
              <a:rPr lang="en-US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technical   skills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(industry  experience,  strength  and weakness  far as technical skills are concerned.</a:t>
            </a:r>
          </a:p>
          <a:p>
            <a:pPr>
              <a:buFont typeface="Wingdings" pitchFamily="2" charset="2"/>
              <a:buChar char="q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Education  in  reverse chronological order.</a:t>
            </a:r>
          </a:p>
          <a:p>
            <a:pPr algn="just">
              <a:buNone/>
            </a:pP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</a:pP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</a:pPr>
            <a:endParaRPr lang="en-US" b="1" dirty="0" smtClean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</a:pP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endParaRPr lang="en-US" dirty="0"/>
          </a:p>
          <a:p>
            <a:pPr>
              <a:buFont typeface="Wingdings" pitchFamily="2" charset="2"/>
              <a:buChar char="q"/>
            </a:pP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</a:pP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</a:pP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839200" cy="1066800"/>
          </a:xfrm>
          <a:ln w="50800" cap="sq" cmpd="sng">
            <a:solidFill>
              <a:srgbClr val="0070C0"/>
            </a:solidFill>
            <a:round/>
          </a:ln>
        </p:spPr>
        <p:txBody>
          <a:bodyPr>
            <a:normAutofit/>
          </a:bodyPr>
          <a:lstStyle/>
          <a:p>
            <a:pPr algn="l"/>
            <a:r>
              <a:rPr 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WRITING CV / RESUME</a:t>
            </a:r>
            <a:endParaRPr lang="en-US" sz="4000" b="1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" y="1341437"/>
            <a:ext cx="8839200" cy="4754563"/>
          </a:xfrm>
          <a:ln w="50800">
            <a:solidFill>
              <a:srgbClr val="0070C0"/>
            </a:solidFill>
          </a:ln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Don’t.</a:t>
            </a:r>
          </a:p>
          <a:p>
            <a:pPr>
              <a:buFont typeface="Wingdings" pitchFamily="2" charset="2"/>
              <a:buChar char="q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Personal information </a:t>
            </a:r>
            <a:r>
              <a:rPr lang="en-US" smtClean="0">
                <a:latin typeface="Arial" pitchFamily="34" charset="0"/>
                <a:cs typeface="Arial" pitchFamily="34" charset="0"/>
              </a:rPr>
              <a:t>is  </a:t>
            </a:r>
            <a:r>
              <a:rPr lang="en-US" smtClean="0">
                <a:latin typeface="Arial" pitchFamily="34" charset="0"/>
                <a:cs typeface="Arial" pitchFamily="34" charset="0"/>
              </a:rPr>
              <a:t>not 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required if you want to </a:t>
            </a:r>
            <a:r>
              <a:rPr lang="en-US" smtClean="0">
                <a:latin typeface="Arial" pitchFamily="34" charset="0"/>
                <a:cs typeface="Arial" pitchFamily="34" charset="0"/>
              </a:rPr>
              <a:t>give </a:t>
            </a:r>
            <a:r>
              <a:rPr lang="en-US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then at last.</a:t>
            </a:r>
          </a:p>
          <a:p>
            <a:pPr>
              <a:buFont typeface="Wingdings" pitchFamily="2" charset="2"/>
              <a:buChar char="q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Objective.</a:t>
            </a:r>
          </a:p>
          <a:p>
            <a:pPr>
              <a:buFont typeface="Wingdings" pitchFamily="2" charset="2"/>
              <a:buChar char="q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Reference. </a:t>
            </a:r>
          </a:p>
          <a:p>
            <a:pPr>
              <a:buFont typeface="Wingdings" pitchFamily="2" charset="2"/>
              <a:buChar char="q"/>
            </a:pP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</a:pP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</a:pPr>
            <a:endParaRPr lang="en-US" b="1" dirty="0" smtClean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</a:pP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endParaRPr lang="en-US" dirty="0"/>
          </a:p>
          <a:p>
            <a:pPr>
              <a:buFont typeface="Wingdings" pitchFamily="2" charset="2"/>
              <a:buChar char="q"/>
            </a:pP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</a:pP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</a:pP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334</TotalTime>
  <Words>314</Words>
  <Application>Microsoft Office PowerPoint</Application>
  <PresentationFormat>On-screen Show (4:3)</PresentationFormat>
  <Paragraphs>112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WRITING CV / RESUME</vt:lpstr>
      <vt:lpstr>WRITING CV / RESUME</vt:lpstr>
      <vt:lpstr>WRITING CV / RESUME</vt:lpstr>
      <vt:lpstr>WRITING CV / RESUME</vt:lpstr>
      <vt:lpstr>WRITING CV / RESUME</vt:lpstr>
      <vt:lpstr>WRITING CV / RESUME</vt:lpstr>
      <vt:lpstr>WRITING CV / RESUME</vt:lpstr>
      <vt:lpstr>WRITING CV / RESUME</vt:lpstr>
      <vt:lpstr>WRITING CV / RESUME</vt:lpstr>
      <vt:lpstr>WRITING CV / RESUME</vt:lpstr>
      <vt:lpstr>WRITING CV / RESUME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Write a good CV</dc:title>
  <dc:creator>Faraz Khan</dc:creator>
  <cp:lastModifiedBy>Faraz Khan</cp:lastModifiedBy>
  <cp:revision>30</cp:revision>
  <dcterms:created xsi:type="dcterms:W3CDTF">2024-02-25T19:31:51Z</dcterms:created>
  <dcterms:modified xsi:type="dcterms:W3CDTF">2025-01-20T10:56:07Z</dcterms:modified>
</cp:coreProperties>
</file>