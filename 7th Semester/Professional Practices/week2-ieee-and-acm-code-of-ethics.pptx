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8" r:id="rId23"/>
    <p:sldId id="299" r:id="rId24"/>
    <p:sldId id="296" r:id="rId25"/>
    <p:sldId id="297" r:id="rId26"/>
    <p:sldId id="302" r:id="rId27"/>
    <p:sldId id="303" r:id="rId28"/>
    <p:sldId id="300" r:id="rId29"/>
    <p:sldId id="301" r:id="rId30"/>
    <p:sldId id="274" r:id="rId31"/>
  </p:sldIdLst>
  <p:sldSz cx="118872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64" y="-96"/>
      </p:cViewPr>
      <p:guideLst>
        <p:guide orient="horz" pos="2160"/>
        <p:guide pos="37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4F12-7F55-4EE2-A832-F284432F2B1A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685800"/>
            <a:ext cx="59436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412AE-8F67-4BC5-91DD-088A048550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689080" y="3048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18872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83080" y="2819400"/>
            <a:ext cx="832104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202085" y="2420112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8121" y="152400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5547360" y="2115312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5670197" y="2209800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5646420" y="2199452"/>
            <a:ext cx="59436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91540" y="381000"/>
            <a:ext cx="1010412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70195" y="1026375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92277" y="1527048"/>
            <a:ext cx="1105509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689080" y="1905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98121" y="2286000"/>
            <a:ext cx="11483035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2085" y="142352"/>
            <a:ext cx="11483035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956" y="2743202"/>
            <a:ext cx="8424228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98121" y="152400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98121" y="243840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5547360" y="2115312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5670197" y="2209800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46420" y="2199452"/>
            <a:ext cx="59436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007" y="533400"/>
            <a:ext cx="1010412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277" y="228600"/>
            <a:ext cx="1109472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28560" y="6409944"/>
            <a:ext cx="3958437" cy="365760"/>
          </a:xfrm>
        </p:spPr>
        <p:txBody>
          <a:bodyPr/>
          <a:lstStyle/>
          <a:p>
            <a:fld id="{8338D26A-531F-4A0F-A30D-3D4014FA1F1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5932006" y="1575654"/>
            <a:ext cx="11598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92277" y="1371600"/>
            <a:ext cx="525018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240780" y="1371600"/>
            <a:ext cx="525018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59436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18872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98121" y="1371600"/>
            <a:ext cx="11483035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89702" y="6391656"/>
            <a:ext cx="11483035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8" y="1524000"/>
            <a:ext cx="5252245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28730" y="1524000"/>
            <a:ext cx="5254308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96240" y="6409944"/>
            <a:ext cx="46558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98121" y="128016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92277" y="2471383"/>
            <a:ext cx="5254143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6240780" y="2471383"/>
            <a:ext cx="525018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5547360" y="956036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5670197" y="1050524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646420" y="1042419"/>
            <a:ext cx="594360" cy="441325"/>
          </a:xfrm>
        </p:spPr>
        <p:txBody>
          <a:bodyPr/>
          <a:lstStyle>
            <a:lvl1pPr algn="ctr">
              <a:defRPr/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646420" y="1036022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18872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8121" y="158496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547360" y="6324600"/>
            <a:ext cx="79248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98121" y="152400"/>
            <a:ext cx="11483035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18872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98120" y="609600"/>
            <a:ext cx="356616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914400"/>
            <a:ext cx="307086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5300" y="1981203"/>
            <a:ext cx="307086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8121" y="152400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98121" y="53340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4061460" y="685800"/>
            <a:ext cx="733044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684020" y="228600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806854" y="323088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83080" y="312740"/>
            <a:ext cx="59436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4158" y="6388388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2277" y="6410848"/>
            <a:ext cx="4398264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98121" y="53340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98121" y="152400"/>
            <a:ext cx="11483035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98120" y="609600"/>
            <a:ext cx="356616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684020" y="228600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806854" y="323088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83080" y="312740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0488" y="5029200"/>
            <a:ext cx="762762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900488" y="609600"/>
            <a:ext cx="762762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990600"/>
            <a:ext cx="316992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4158" y="6388388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24598" y="6404984"/>
            <a:ext cx="3958437" cy="365760"/>
          </a:xfrm>
        </p:spPr>
        <p:txBody>
          <a:bodyPr/>
          <a:lstStyle/>
          <a:p>
            <a:fld id="{8338D26A-531F-4A0F-A30D-3D4014FA1F1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2277" y="6410848"/>
            <a:ext cx="4659783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113520" y="0"/>
            <a:ext cx="277368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18872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6165189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891625" y="2925763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9014461" y="3020251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0685" y="3009904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240" y="304800"/>
            <a:ext cx="851916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08820" y="304804"/>
            <a:ext cx="18821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2"/>
            <a:ext cx="118872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4158" y="6388388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528560" y="6404984"/>
            <a:ext cx="3958437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8338D26A-531F-4A0F-A30D-3D4014FA1F1E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96240" y="6410848"/>
            <a:ext cx="465582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98121" y="1276743"/>
            <a:ext cx="1148303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5547360" y="956036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5670197" y="1050524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5646420" y="1040177"/>
            <a:ext cx="59436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92277" y="228600"/>
            <a:ext cx="1109472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92277" y="1524000"/>
            <a:ext cx="1109472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2667000"/>
            <a:ext cx="10363200" cy="3505200"/>
          </a:xfrm>
        </p:spPr>
        <p:txBody>
          <a:bodyPr>
            <a:normAutofit/>
          </a:bodyPr>
          <a:lstStyle/>
          <a:p>
            <a:pPr algn="l">
              <a:defRPr/>
            </a:pPr>
            <a:endParaRPr lang="en-US" sz="2000" b="0" dirty="0" smtClean="0">
              <a:latin typeface="Arial" pitchFamily="34" charset="0"/>
              <a:cs typeface="Arial" pitchFamily="34" charset="0"/>
            </a:endParaRPr>
          </a:p>
          <a:p>
            <a:pPr algn="l">
              <a:buFont typeface="Wingdings" pitchFamily="2" charset="2"/>
              <a:buChar char="q"/>
              <a:defRPr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Introduction</a:t>
            </a:r>
          </a:p>
          <a:p>
            <a:pPr algn="l">
              <a:buFont typeface="Wingdings" pitchFamily="2" charset="2"/>
              <a:buChar char="q"/>
              <a:defRPr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IEEE Code of Ethics</a:t>
            </a:r>
          </a:p>
          <a:p>
            <a:pPr algn="l">
              <a:buFont typeface="Wingdings" pitchFamily="2" charset="2"/>
              <a:buChar char="q"/>
              <a:defRPr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ACM Code of Ethics</a:t>
            </a:r>
          </a:p>
          <a:p>
            <a:pPr algn="l">
              <a:buFont typeface="Wingdings" pitchFamily="2" charset="2"/>
              <a:buChar char="q"/>
              <a:defRPr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Different Scenarios</a:t>
            </a:r>
          </a:p>
          <a:p>
            <a:pPr algn="l">
              <a:buFont typeface="Wingdings" pitchFamily="2" charset="2"/>
              <a:buChar char="q"/>
              <a:defRPr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Cyber Ethics</a:t>
            </a:r>
          </a:p>
          <a:p>
            <a:pPr algn="l">
              <a:buFont typeface="Wingdings" pitchFamily="2" charset="2"/>
              <a:buChar char="q"/>
              <a:defRPr/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52400"/>
            <a:ext cx="11353800" cy="1676400"/>
          </a:xfrm>
        </p:spPr>
        <p:txBody>
          <a:bodyPr>
            <a:noAutofit/>
          </a:bodyPr>
          <a:lstStyle/>
          <a:p>
            <a:pPr algn="l"/>
            <a:r>
              <a:rPr lang="fr-FR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</a:t>
            </a:r>
            <a:r>
              <a:rPr lang="fr-FR" altLang="en-US" sz="4000" b="1" dirty="0" smtClean="0">
                <a:latin typeface="Arial" pitchFamily="34" charset="0"/>
                <a:cs typeface="Arial" pitchFamily="34" charset="0"/>
              </a:rPr>
              <a:t>Professional Practices- week2</a:t>
            </a:r>
            <a:br>
              <a:rPr lang="fr-FR" altLang="en-US" sz="4000" b="1" dirty="0" smtClean="0">
                <a:latin typeface="Arial" pitchFamily="34" charset="0"/>
                <a:cs typeface="Arial" pitchFamily="34" charset="0"/>
              </a:rPr>
            </a:br>
            <a:r>
              <a:rPr lang="fr-FR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Professional Ethics &amp; Code of Ethics</a:t>
            </a:r>
            <a:endParaRPr lang="fr-FR" altLang="en-US" sz="40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 descr="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381000"/>
            <a:ext cx="1828800" cy="167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Introduction</a:t>
            </a:r>
            <a:endParaRPr lang="en-US" sz="40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2276" y="1527048"/>
            <a:ext cx="11494924" cy="4721352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 Law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:-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800" dirty="0" smtClean="0">
                <a:latin typeface="Arial" pitchFamily="34" charset="0"/>
                <a:cs typeface="Arial" pitchFamily="34" charset="0"/>
              </a:rPr>
              <a:t>      Constitution of  a  company  or  rules  that   dictate  or   forbid  certain</a:t>
            </a:r>
            <a:br>
              <a:rPr lang="en-US" alt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altLang="en-US" sz="2800" dirty="0" smtClean="0">
                <a:latin typeface="Arial" pitchFamily="34" charset="0"/>
                <a:cs typeface="Arial" pitchFamily="34" charset="0"/>
              </a:rPr>
              <a:t>      behavior in society.</a:t>
            </a:r>
          </a:p>
          <a:p>
            <a:pPr marL="457200" lvl="1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800" dirty="0" smtClean="0">
                <a:latin typeface="Arial" pitchFamily="34" charset="0"/>
                <a:cs typeface="Arial" pitchFamily="34" charset="0"/>
              </a:rPr>
              <a:t>    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 Moral Values:-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     Moral values are principles or standards that guide </a:t>
            </a:r>
            <a:r>
              <a:rPr lang="en-US" sz="3000" smtClean="0">
                <a:latin typeface="Arial" pitchFamily="34" charset="0"/>
                <a:cs typeface="Arial" pitchFamily="34" charset="0"/>
              </a:rPr>
              <a:t>an individual's</a:t>
            </a:r>
            <a:br>
              <a:rPr lang="en-US" sz="3000" smtClean="0">
                <a:latin typeface="Arial" pitchFamily="34" charset="0"/>
                <a:cs typeface="Arial" pitchFamily="34" charset="0"/>
              </a:rPr>
            </a:br>
            <a:r>
              <a:rPr lang="en-US" sz="3000" smtClean="0">
                <a:latin typeface="Arial" pitchFamily="34" charset="0"/>
                <a:cs typeface="Arial" pitchFamily="34" charset="0"/>
              </a:rPr>
              <a:t>    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behavior  and  choices  </a:t>
            </a:r>
            <a:r>
              <a:rPr lang="en-US" sz="3000" smtClean="0">
                <a:latin typeface="Arial" pitchFamily="34" charset="0"/>
                <a:cs typeface="Arial" pitchFamily="34" charset="0"/>
              </a:rPr>
              <a:t>based  on  what  is  considered    right  or </a:t>
            </a:r>
            <a:br>
              <a:rPr lang="en-US" sz="3000" smtClean="0">
                <a:latin typeface="Arial" pitchFamily="34" charset="0"/>
                <a:cs typeface="Arial" pitchFamily="34" charset="0"/>
              </a:rPr>
            </a:br>
            <a:r>
              <a:rPr lang="en-US" sz="3000" smtClean="0">
                <a:latin typeface="Arial" pitchFamily="34" charset="0"/>
                <a:cs typeface="Arial" pitchFamily="34" charset="0"/>
              </a:rPr>
              <a:t>     wrong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.</a:t>
            </a:r>
            <a:br>
              <a:rPr lang="en-US" sz="3000" dirty="0" smtClean="0">
                <a:latin typeface="Arial" pitchFamily="34" charset="0"/>
                <a:cs typeface="Arial" pitchFamily="34" charset="0"/>
              </a:rPr>
            </a:br>
            <a:endParaRPr lang="en-US" sz="30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 Ethics: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sz="2800" dirty="0" smtClean="0">
                <a:latin typeface="Arial" pitchFamily="34" charset="0"/>
                <a:cs typeface="Arial" pitchFamily="34" charset="0"/>
              </a:rPr>
              <a:t>     It defines socially  acceptable behaviors e.g.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Respect  for  employees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   and Customers</a:t>
            </a:r>
            <a:endParaRPr lang="en-US" altLang="en-US" sz="2800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Code of Ethics</a:t>
            </a:r>
            <a:endParaRPr lang="en-US" sz="40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Font typeface="Wingdings" pitchFamily="2" charset="2"/>
              <a:buChar char="q"/>
              <a:defRPr/>
            </a:pPr>
            <a:r>
              <a:rPr lang="en-US" altLang="en-US" sz="2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Establishes responsibility of professionals to act ethically according to the policies and procedures. This applies to the employees  of  a company, business and the society.</a:t>
            </a:r>
            <a:br>
              <a:rPr lang="en-US" altLang="en-US" sz="2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endParaRPr lang="en-US" alt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spcBef>
                <a:spcPct val="10000"/>
              </a:spcBef>
              <a:buFont typeface="Wingdings" pitchFamily="2" charset="2"/>
              <a:buChar char="q"/>
              <a:defRPr/>
            </a:pPr>
            <a:r>
              <a:rPr lang="en-US" altLang="en-US" sz="2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Organizations develop and distribute policies and assume that</a:t>
            </a:r>
            <a:br>
              <a:rPr lang="en-US" altLang="en-US" sz="2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altLang="en-US" sz="2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employees will follow them.</a:t>
            </a:r>
            <a:endParaRPr lang="en-US" sz="28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11094720" cy="838200"/>
          </a:xfrm>
        </p:spPr>
        <p:txBody>
          <a:bodyPr>
            <a:normAutofit fontScale="90000"/>
          </a:bodyPr>
          <a:lstStyle/>
          <a:p>
            <a:r>
              <a:rPr lang="en-US" altLang="en-US" b="1" dirty="0" smtClean="0"/>
              <a:t/>
            </a:r>
            <a:br>
              <a:rPr lang="en-US" altLang="en-US" b="1" dirty="0" smtClean="0"/>
            </a:br>
            <a:r>
              <a:rPr lang="en-US" altLang="en-US" b="1" dirty="0" smtClean="0"/>
              <a:t/>
            </a:r>
            <a:br>
              <a:rPr lang="en-US" altLang="en-US" b="1" dirty="0" smtClean="0"/>
            </a:br>
            <a:r>
              <a:rPr lang="en-US" altLang="en-US" b="1" dirty="0" smtClean="0"/>
              <a:t/>
            </a:r>
            <a:br>
              <a:rPr lang="en-US" altLang="en-US" b="1" dirty="0" smtClean="0"/>
            </a:br>
            <a:r>
              <a:rPr lang="en-US" altLang="en-US" b="1" dirty="0" smtClean="0"/>
              <a:t/>
            </a:r>
            <a:br>
              <a:rPr lang="en-US" altLang="en-US" b="1" dirty="0" smtClean="0"/>
            </a:br>
            <a:r>
              <a:rPr lang="en-US" altLang="en-US" b="1" dirty="0" smtClean="0"/>
              <a:t/>
            </a:r>
            <a:br>
              <a:rPr lang="en-US" altLang="en-US" b="1" dirty="0" smtClean="0"/>
            </a:br>
            <a:r>
              <a:rPr lang="en-US" altLang="en-US" b="1" dirty="0" smtClean="0"/>
              <a:t/>
            </a:r>
            <a:br>
              <a:rPr lang="en-US" altLang="en-US" b="1" dirty="0" smtClean="0"/>
            </a:br>
            <a:r>
              <a:rPr lang="en-US" altLang="en-US" b="1" dirty="0" smtClean="0"/>
              <a:t/>
            </a:r>
            <a:br>
              <a:rPr lang="en-US" altLang="en-US" b="1" dirty="0" smtClean="0"/>
            </a:br>
            <a:r>
              <a:rPr lang="en-US" altLang="en-US" b="1" dirty="0" smtClean="0"/>
              <a:t/>
            </a:r>
            <a:br>
              <a:rPr lang="en-US" altLang="en-US" b="1" dirty="0" smtClean="0"/>
            </a:br>
            <a:r>
              <a:rPr lang="en-US" altLang="en-US" b="1" dirty="0" smtClean="0"/>
              <a:t/>
            </a:r>
            <a:br>
              <a:rPr lang="en-US" altLang="en-US" b="1" dirty="0" smtClean="0"/>
            </a:br>
            <a:r>
              <a:rPr lang="en-US" altLang="en-US" b="1" dirty="0" smtClean="0"/>
              <a:t/>
            </a:r>
            <a:br>
              <a:rPr lang="en-US" altLang="en-US" b="1" dirty="0" smtClean="0"/>
            </a:br>
            <a:r>
              <a:rPr lang="en-US" altLang="en-US" b="1" dirty="0" smtClean="0"/>
              <a:t/>
            </a:r>
            <a:br>
              <a:rPr lang="en-US" altLang="en-US" b="1" dirty="0" smtClean="0"/>
            </a:br>
            <a:r>
              <a:rPr lang="en-US" altLang="en-US" sz="44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Code of Ethics’ Goals</a:t>
            </a:r>
            <a:br>
              <a:rPr lang="en-US" altLang="en-US" sz="44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</a:br>
            <a:endParaRPr lang="en-US" sz="44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2277" y="1527048"/>
            <a:ext cx="11055096" cy="5026152"/>
          </a:xfrm>
        </p:spPr>
        <p:txBody>
          <a:bodyPr>
            <a:normAutofit fontScale="92500" lnSpcReduction="2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Provide  an  aid  to  individual  decision  making. Consists  of  the</a:t>
            </a:r>
            <a:br>
              <a:rPr lang="en-US" sz="3000" dirty="0" smtClean="0">
                <a:latin typeface="Arial" pitchFamily="34" charset="0"/>
                <a:cs typeface="Arial" pitchFamily="34" charset="0"/>
              </a:rPr>
            </a:br>
            <a:r>
              <a:rPr lang="en-US" sz="3000" dirty="0" smtClean="0">
                <a:latin typeface="Arial" pitchFamily="34" charset="0"/>
                <a:cs typeface="Arial" pitchFamily="34" charset="0"/>
              </a:rPr>
              <a:t> following:-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Intellectual property.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Privacy.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Confidentiality.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Professional Quality.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Fairness or Discrimination.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Liability.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Software risks.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Conflicts of interest.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Unauthorized access to computer systems.</a:t>
            </a:r>
          </a:p>
          <a:p>
            <a:pPr>
              <a:buFont typeface="Wingdings" pitchFamily="2" charset="2"/>
              <a:buChar char="q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Code of Ethic's Goal</a:t>
            </a:r>
            <a:endParaRPr lang="en-US" sz="40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527048"/>
            <a:ext cx="11429999" cy="4873752"/>
          </a:xfrm>
        </p:spPr>
        <p:txBody>
          <a:bodyPr/>
          <a:lstStyle/>
          <a:p>
            <a:pPr>
              <a:buNone/>
            </a:pPr>
            <a:r>
              <a:rPr lang="en-US" alt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8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Intellectual property:-</a:t>
            </a:r>
          </a:p>
          <a:p>
            <a:pPr>
              <a:buFont typeface="Wingdings" pitchFamily="2" charset="2"/>
              <a:buChar char="q"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Concerned with mind and intelligence.</a:t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E.g. Software / Algorithm, Flow Charts, Computer Programs, Data Flow Diagrams (DFD), Research Papers, Books, Patent etc.</a:t>
            </a:r>
          </a:p>
          <a:p>
            <a:pPr>
              <a:buNone/>
            </a:pPr>
            <a:r>
              <a:rPr lang="en-US" altLang="en-US" sz="28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Privacy:-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It means not to interfere in other peoples matters, issues.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u="sng" dirty="0" smtClean="0">
                <a:latin typeface="Arial" pitchFamily="34" charset="0"/>
                <a:cs typeface="Arial" pitchFamily="34" charset="0"/>
              </a:rPr>
              <a:t>Example 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>: A meeting is under process between the managers. Do not go into the meeting room or do not listen to their discussions.</a:t>
            </a:r>
          </a:p>
          <a:p>
            <a:pPr>
              <a:buNone/>
            </a:pPr>
            <a:r>
              <a:rPr lang="en-US" altLang="en-US" sz="2800" dirty="0" smtClean="0"/>
              <a:t/>
            </a:r>
            <a:br>
              <a:rPr lang="en-US" altLang="en-US" sz="2800" dirty="0" smtClean="0"/>
            </a:br>
            <a:endParaRPr lang="en-GB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277" y="0"/>
            <a:ext cx="11094720" cy="1447800"/>
          </a:xfrm>
        </p:spPr>
        <p:txBody>
          <a:bodyPr>
            <a:noAutofit/>
          </a:bodyPr>
          <a:lstStyle/>
          <a:p>
            <a:r>
              <a:rPr lang="en-US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Code of Ethics’ Goals(Continues)</a:t>
            </a:r>
            <a:br>
              <a:rPr lang="en-US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447800"/>
            <a:ext cx="11430000" cy="5410200"/>
          </a:xfrm>
        </p:spPr>
        <p:txBody>
          <a:bodyPr>
            <a:normAutofit fontScale="92500" lnSpcReduction="20000"/>
          </a:bodyPr>
          <a:lstStyle/>
          <a:p>
            <a:pPr>
              <a:buNone/>
              <a:defRPr/>
            </a:pPr>
            <a:r>
              <a:rPr lang="en-US" altLang="en-US" sz="30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Confidentiality:-</a:t>
            </a:r>
            <a:r>
              <a:rPr lang="en-US" altLang="en-US" sz="3300" dirty="0" smtClean="0"/>
              <a:t/>
            </a:r>
            <a:br>
              <a:rPr lang="en-US" altLang="en-US" sz="3300" dirty="0" smtClean="0"/>
            </a:br>
            <a:r>
              <a:rPr lang="en-GB" sz="3000" dirty="0" smtClean="0">
                <a:latin typeface="Arial" pitchFamily="34" charset="0"/>
                <a:cs typeface="Arial" pitchFamily="34" charset="0"/>
              </a:rPr>
              <a:t>It   means  to  keep  official  matters  secret  and avoid 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>discussion  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>in public.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3000" u="sng" dirty="0" smtClean="0">
                <a:latin typeface="Arial" pitchFamily="34" charset="0"/>
                <a:cs typeface="Arial" pitchFamily="34" charset="0"/>
              </a:rPr>
              <a:t>Example 1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>:- After  a  meeting  you  have  to keep it confidential 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>that which employees have been terminated.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3000" u="sng" dirty="0" smtClean="0">
                <a:latin typeface="Arial" pitchFamily="34" charset="0"/>
                <a:cs typeface="Arial" pitchFamily="34" charset="0"/>
              </a:rPr>
              <a:t>Example 2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>:- The  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> System   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>Administrators  have   to  keep  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> user IDs 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>and passwords confidential.</a:t>
            </a:r>
            <a:br>
              <a:rPr lang="en-GB" sz="3000" dirty="0" smtClean="0">
                <a:latin typeface="Arial" pitchFamily="34" charset="0"/>
                <a:cs typeface="Arial" pitchFamily="34" charset="0"/>
              </a:rPr>
            </a:br>
            <a:endParaRPr lang="en-GB" sz="3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  <a:defRPr/>
            </a:pPr>
            <a:r>
              <a:rPr lang="en-US" altLang="en-US" sz="30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Professional Quality:-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33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>Whatever work you do should have a good quality. It  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>means people 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GB" sz="3000" dirty="0" smtClean="0">
                <a:latin typeface="Arial" pitchFamily="34" charset="0"/>
                <a:cs typeface="Arial" pitchFamily="34" charset="0"/>
              </a:rPr>
            </a:br>
            <a:r>
              <a:rPr lang="en-GB" sz="3000" dirty="0" smtClean="0">
                <a:latin typeface="Arial" pitchFamily="34" charset="0"/>
                <a:cs typeface="Arial" pitchFamily="34" charset="0"/>
              </a:rPr>
              <a:t> people should not complain about it.</a:t>
            </a:r>
          </a:p>
          <a:p>
            <a:pPr>
              <a:buNone/>
              <a:defRPr/>
            </a:pPr>
            <a:endParaRPr lang="en-GB" sz="28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  <a:defRPr/>
            </a:pPr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277" y="0"/>
            <a:ext cx="11094720" cy="1371600"/>
          </a:xfrm>
        </p:spPr>
        <p:txBody>
          <a:bodyPr>
            <a:noAutofit/>
          </a:bodyPr>
          <a:lstStyle/>
          <a:p>
            <a:r>
              <a:rPr lang="en-US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</a:br>
            <a:r>
              <a:rPr lang="en-US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</a:br>
            <a:r>
              <a:rPr lang="en-US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</a:br>
            <a:r>
              <a:rPr lang="en-US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Code of Ethics’ Goals(Continues)</a:t>
            </a:r>
            <a:br>
              <a:rPr lang="en-US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2276" y="1527048"/>
            <a:ext cx="11266323" cy="4873752"/>
          </a:xfrm>
        </p:spPr>
        <p:txBody>
          <a:bodyPr>
            <a:normAutofit fontScale="92500" lnSpcReduction="20000"/>
          </a:bodyPr>
          <a:lstStyle/>
          <a:p>
            <a:pPr>
              <a:buNone/>
              <a:defRPr/>
            </a:pPr>
            <a:r>
              <a:rPr lang="en-US" altLang="en-US" sz="30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Fairness or Discrimination:-</a:t>
            </a:r>
            <a:r>
              <a:rPr lang="en-US" altLang="en-US" sz="3000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altLang="en-US" sz="3000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</a:br>
            <a:r>
              <a:rPr lang="en-GB" sz="3000" dirty="0" smtClean="0">
                <a:latin typeface="Arial" pitchFamily="34" charset="0"/>
                <a:cs typeface="Arial" pitchFamily="34" charset="0"/>
              </a:rPr>
              <a:t>You should deal with people without biasness. If  you do not do 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> this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GB" sz="3000" dirty="0" smtClean="0">
                <a:latin typeface="Arial" pitchFamily="34" charset="0"/>
                <a:cs typeface="Arial" pitchFamily="34" charset="0"/>
              </a:rPr>
            </a:br>
            <a:r>
              <a:rPr lang="en-GB" sz="3000" dirty="0" smtClean="0">
                <a:latin typeface="Arial" pitchFamily="34" charset="0"/>
                <a:cs typeface="Arial" pitchFamily="34" charset="0"/>
              </a:rPr>
              <a:t> it 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discrimination or biased behavior.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 E.g. A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 manager  promotes  an 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employee  because  the 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employee </a:t>
            </a:r>
            <a:br>
              <a:rPr lang="en-US" sz="3000" dirty="0" smtClean="0">
                <a:latin typeface="Arial" pitchFamily="34" charset="0"/>
                <a:cs typeface="Arial" pitchFamily="34" charset="0"/>
              </a:rPr>
            </a:br>
            <a:r>
              <a:rPr lang="en-US" sz="3000" dirty="0" smtClean="0">
                <a:latin typeface="Arial" pitchFamily="34" charset="0"/>
                <a:cs typeface="Arial" pitchFamily="34" charset="0"/>
              </a:rPr>
              <a:t> who 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in his </a:t>
            </a:r>
            <a:r>
              <a:rPr lang="en-US" sz="3000" smtClean="0">
                <a:latin typeface="Arial" pitchFamily="34" charset="0"/>
                <a:cs typeface="Arial" pitchFamily="34" charset="0"/>
              </a:rPr>
              <a:t>good list,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but according to seniority another </a:t>
            </a:r>
            <a:r>
              <a:rPr lang="en-US" sz="3000" smtClean="0">
                <a:latin typeface="Arial" pitchFamily="34" charset="0"/>
                <a:cs typeface="Arial" pitchFamily="34" charset="0"/>
              </a:rPr>
              <a:t>employee </a:t>
            </a:r>
            <a:r>
              <a:rPr lang="en-US" sz="300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3000" smtClean="0">
                <a:latin typeface="Arial" pitchFamily="34" charset="0"/>
                <a:cs typeface="Arial" pitchFamily="34" charset="0"/>
              </a:rPr>
            </a:br>
            <a:r>
              <a:rPr lang="en-US" sz="3000" smtClean="0">
                <a:latin typeface="Arial" pitchFamily="34" charset="0"/>
                <a:cs typeface="Arial" pitchFamily="34" charset="0"/>
              </a:rPr>
              <a:t> deserved promotion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.</a:t>
            </a:r>
            <a:r>
              <a:rPr lang="en-GB" sz="3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  <a:defRPr/>
            </a:pPr>
            <a:r>
              <a:rPr lang="en-GB" altLang="en-US" sz="30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Liability (Responsibility):-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altLang="en-US" sz="30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altLang="en-US" sz="3000" dirty="0" smtClean="0">
                <a:latin typeface="Arial" pitchFamily="34" charset="0"/>
                <a:cs typeface="Arial" pitchFamily="34" charset="0"/>
              </a:rPr>
              <a:t>Whatever   task  is   assigned  to  you,  take  the  full  responsibility </a:t>
            </a:r>
            <a:br>
              <a:rPr lang="en-GB" altLang="en-US" sz="3000" dirty="0" smtClean="0">
                <a:latin typeface="Arial" pitchFamily="34" charset="0"/>
                <a:cs typeface="Arial" pitchFamily="34" charset="0"/>
              </a:rPr>
            </a:br>
            <a:r>
              <a:rPr lang="en-GB" altLang="en-US" sz="3000" dirty="0" smtClean="0">
                <a:latin typeface="Arial" pitchFamily="34" charset="0"/>
                <a:cs typeface="Arial" pitchFamily="34" charset="0"/>
              </a:rPr>
              <a:t>  of it. Try to become asset for your  organization rather than liability.</a:t>
            </a:r>
            <a:br>
              <a:rPr lang="en-GB" altLang="en-US" sz="3000" dirty="0" smtClean="0">
                <a:latin typeface="Arial" pitchFamily="34" charset="0"/>
                <a:cs typeface="Arial" pitchFamily="34" charset="0"/>
              </a:rPr>
            </a:br>
            <a:endParaRPr lang="en-GB" sz="3000" b="1" dirty="0" smtClean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altLang="en-US" sz="28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altLang="en-US" sz="2800" b="1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</a:br>
            <a:endParaRPr lang="en-US" sz="2800" b="1" dirty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277" y="228600"/>
            <a:ext cx="11094720" cy="1295400"/>
          </a:xfrm>
        </p:spPr>
        <p:txBody>
          <a:bodyPr>
            <a:noAutofit/>
          </a:bodyPr>
          <a:lstStyle/>
          <a:p>
            <a:r>
              <a:rPr lang="en-US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</a:br>
            <a:r>
              <a:rPr lang="en-US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Code of Ethics’ Goals(Continues)</a:t>
            </a:r>
            <a:br>
              <a:rPr lang="en-US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527048"/>
            <a:ext cx="11658600" cy="4873752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altLang="en-US" sz="45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Software Risks</a:t>
            </a:r>
          </a:p>
          <a:p>
            <a:pPr>
              <a:buNone/>
              <a:defRPr/>
            </a:pPr>
            <a:r>
              <a:rPr lang="en-GB" sz="4500" dirty="0" smtClean="0">
                <a:latin typeface="Arial" pitchFamily="34" charset="0"/>
                <a:cs typeface="Arial" pitchFamily="34" charset="0"/>
              </a:rPr>
              <a:t>   There are risks involved in every software during its analysis, design, development and implementation stages.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4500" u="sng" dirty="0" smtClean="0">
                <a:latin typeface="Arial" pitchFamily="34" charset="0"/>
                <a:cs typeface="Arial" pitchFamily="34" charset="0"/>
              </a:rPr>
              <a:t>Example 1</a:t>
            </a:r>
            <a:r>
              <a:rPr lang="en-GB" sz="4500" dirty="0" smtClean="0">
                <a:latin typeface="Arial" pitchFamily="34" charset="0"/>
                <a:cs typeface="Arial" pitchFamily="34" charset="0"/>
              </a:rPr>
              <a:t>:-  During   analysis,  user   requirements    may    change.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4500" u="sng" dirty="0" smtClean="0">
                <a:latin typeface="Arial" pitchFamily="34" charset="0"/>
                <a:cs typeface="Arial" pitchFamily="34" charset="0"/>
              </a:rPr>
              <a:t>Example 2</a:t>
            </a:r>
            <a:r>
              <a:rPr lang="en-GB" sz="4500" dirty="0" smtClean="0">
                <a:latin typeface="Arial" pitchFamily="34" charset="0"/>
                <a:cs typeface="Arial" pitchFamily="34" charset="0"/>
              </a:rPr>
              <a:t>:-  During   implementation,  the   sufficient  resources  are  not available.  </a:t>
            </a:r>
          </a:p>
          <a:p>
            <a:pPr>
              <a:buNone/>
            </a:pPr>
            <a:r>
              <a:rPr lang="en-US" altLang="en-US" sz="45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Conflicts of interest</a:t>
            </a:r>
          </a:p>
          <a:p>
            <a:pPr>
              <a:buNone/>
            </a:pPr>
            <a:r>
              <a:rPr lang="en-US" altLang="en-US" sz="45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altLang="en-US" sz="4500" dirty="0" smtClean="0">
                <a:latin typeface="Arial" pitchFamily="34" charset="0"/>
                <a:cs typeface="Arial" pitchFamily="34" charset="0"/>
              </a:rPr>
              <a:t>There may be conflict of interest or difference of opinions in  different </a:t>
            </a:r>
            <a:br>
              <a:rPr lang="en-US" altLang="en-US" sz="4500" dirty="0" smtClean="0">
                <a:latin typeface="Arial" pitchFamily="34" charset="0"/>
                <a:cs typeface="Arial" pitchFamily="34" charset="0"/>
              </a:rPr>
            </a:br>
            <a:r>
              <a:rPr lang="en-US" altLang="en-US" sz="4500" dirty="0" smtClean="0">
                <a:latin typeface="Arial" pitchFamily="34" charset="0"/>
                <a:cs typeface="Arial" pitchFamily="34" charset="0"/>
              </a:rPr>
              <a:t>scenarios, so deal with logical reasons to such conflicts.</a:t>
            </a:r>
            <a:r>
              <a:rPr lang="en-US" altLang="en-US" sz="45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altLang="en-US" sz="45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US" altLang="en-US" sz="3600" dirty="0" smtClean="0"/>
              <a:t/>
            </a:r>
            <a:br>
              <a:rPr lang="en-US" altLang="en-US" sz="3600" dirty="0" smtClean="0"/>
            </a:br>
            <a:r>
              <a:rPr lang="en-US" altLang="en-US" sz="28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altLang="en-US" sz="28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US" sz="40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277" y="228600"/>
            <a:ext cx="11094720" cy="914400"/>
          </a:xfrm>
        </p:spPr>
        <p:txBody>
          <a:bodyPr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Unauthorized Access</a:t>
            </a:r>
            <a:endParaRPr lang="en-US" sz="40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527048"/>
            <a:ext cx="11658600" cy="4572000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This is not only unethical but a crime.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Everybody has the right to access his/her designated system through </a:t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 User ID and Password.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If somebody tries to access a system which is not designated to him / her, this is not permissible.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5619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IEEE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11235850" cy="5334000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Stands   for  “Institute  of  Electrical  and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Electronics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 Engineers”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It is the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world's largest technical professional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society,  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promoting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the  development  and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application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of  electrical,  electronics  and applied sciences (Computer Science and Information Technology) for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the benefit of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humanity,the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advancement of the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profession and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the well-being of our members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 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7064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IEEE Code of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52600"/>
            <a:ext cx="10698480" cy="4268789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It is about: 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Actions  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Products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Responsibilities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Peers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Self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IEEE Code of Ethics - Actions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676400"/>
            <a:ext cx="10698480" cy="4344988"/>
          </a:xfrm>
        </p:spPr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1. PUBLIC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- Software engineers shall act consistently with the public interest.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2.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CLIENTS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AND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EMPLOYERS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- Software engineers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shall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act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in  a  manner  that  is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in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the  best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interests of their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clients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and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employers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consistent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keeping the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public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interest on priority.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 bwMode="auto">
          <a:xfrm>
            <a:off x="742950" y="214314"/>
            <a:ext cx="10698480" cy="5111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IEEE Code of Ethics -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11353800" cy="5410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  Software engineers shall ensure that their products and related modifications meet the highest professional standards.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dirty="0" smtClean="0"/>
              <a:t>IEEE Code of Ethics – Responsibilities</a:t>
            </a:r>
            <a:br>
              <a:rPr lang="en-US" altLang="en-US" dirty="0" smtClean="0"/>
            </a:br>
            <a:endParaRPr lang="en-US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IEEE Code of Ethics – Responsibilities</a:t>
            </a:r>
            <a:b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US" alt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600200"/>
            <a:ext cx="10698480" cy="4421188"/>
          </a:xfrm>
        </p:spPr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1. JUDGMENT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- Software engineers shall maintain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honesty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and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  independence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in their professional judgment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2.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MANAGEMENT - Software engineering managers and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leaders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  shall maintain and promote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an ethical approach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in the process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  of software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development and maintenance.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IEEE Code of Ethics - Peers</a:t>
            </a:r>
            <a:b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US" alt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11430000" cy="4800600"/>
          </a:xfrm>
        </p:spPr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1.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PROFESSION - Software engineers shall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increase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honesty and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reputation of the profession consistent with the public interest.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b="1" dirty="0" smtClean="0">
                <a:latin typeface="Arial" pitchFamily="34" charset="0"/>
                <a:cs typeface="Arial" pitchFamily="34" charset="0"/>
              </a:rPr>
            </a:b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2.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COLLEAGUES - Software engineers shall be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honest and supportive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  of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their colleagues.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72548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IEEE Code of Ethics - Self</a:t>
            </a:r>
            <a:b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US" alt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11430000" cy="519588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Software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engineers shall participate in lifelong learning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regarding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the practice of their profession and shall promote an ethical approach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for the betterment of the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profession.</a:t>
            </a:r>
          </a:p>
          <a:p>
            <a:pPr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 bwMode="auto">
          <a:xfrm>
            <a:off x="650082" y="276225"/>
            <a:ext cx="10698480" cy="7143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Principles of IEEE Code of Ethics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082" y="1600199"/>
            <a:ext cx="10932318" cy="5029201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Act in public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interest.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Act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in interest of clients and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employers.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Produce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quality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products.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Maintain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independent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judgment.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Manage ethically.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Protect honesty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of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profession.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Support colleagues.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Pursue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lifelong learning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98612"/>
            <a:ext cx="11430000" cy="4649788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Stands for “Association </a:t>
            </a:r>
            <a:r>
              <a:rPr lang="en-US" dirty="0"/>
              <a:t>for Computing </a:t>
            </a:r>
            <a:r>
              <a:rPr lang="en-US" dirty="0" smtClean="0"/>
              <a:t>Machinery”</a:t>
            </a:r>
          </a:p>
          <a:p>
            <a:pPr>
              <a:defRPr/>
            </a:pPr>
            <a:r>
              <a:rPr lang="en-US" dirty="0" smtClean="0"/>
              <a:t>It is </a:t>
            </a:r>
            <a:r>
              <a:rPr lang="en-US" dirty="0"/>
              <a:t>the world's largest educational and scientific society, uniting computing educators, researchers and </a:t>
            </a:r>
            <a:r>
              <a:rPr lang="en-US" dirty="0" smtClean="0"/>
              <a:t>professionals</a:t>
            </a:r>
          </a:p>
          <a:p>
            <a:pPr>
              <a:defRPr/>
            </a:pPr>
            <a:r>
              <a:rPr lang="en-US" dirty="0" smtClean="0"/>
              <a:t>The purpose of ACM is </a:t>
            </a:r>
            <a:r>
              <a:rPr lang="en-US" dirty="0"/>
              <a:t>to </a:t>
            </a:r>
            <a:r>
              <a:rPr lang="en-US" dirty="0" smtClean="0"/>
              <a:t>motivate </a:t>
            </a:r>
            <a:r>
              <a:rPr lang="en-US" dirty="0"/>
              <a:t>dialogue, share resources and address the field's challenges.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 bwMode="auto">
          <a:xfrm>
            <a:off x="650082" y="142876"/>
            <a:ext cx="10698480" cy="84772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ACM Code of Ethics - General Moral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11430000" cy="5257801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4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ACM member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must follow:-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Contribute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to society and human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well-being.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Avoid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harm to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others.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Be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honest and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trustworthy.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Be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fair and take action not to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discriminate.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Honor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property rights including copyrights and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charters/agreements.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Properly concentrate on intellectual property.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Respect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the privacy of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others.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Maintain confidentiality.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 bwMode="auto">
          <a:xfrm>
            <a:off x="594360" y="1"/>
            <a:ext cx="10698480" cy="62071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ACM Code of Ethics - Pr</a:t>
            </a:r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fessional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11658599" cy="5410201"/>
          </a:xfrm>
        </p:spPr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ACM 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computing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professional must know :-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Try  my   best  to  achieve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highest  quality,  giving  best  results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and  improve  both  the  process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and products of professional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work.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Know   and   follow   existing   laws   regarding   professional   work.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Give comprehensive and thorough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evaluations of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computer system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their impacts, including analysis of possible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risks.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Honor    contracts, 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agreements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  and    assigned   responsibilities.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Access   computing   and   communication   resources   only   when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authorized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to do so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Obtain and maintain professional competence.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 bwMode="auto">
          <a:xfrm>
            <a:off x="594360" y="0"/>
            <a:ext cx="10698480" cy="7651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ACM Code of Ethics - Organization Leadership </a:t>
            </a:r>
            <a:endParaRPr lang="en-US" altLang="en-US" sz="40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11430000" cy="5221288"/>
          </a:xfrm>
        </p:spPr>
        <p:txBody>
          <a:bodyPr>
            <a:no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ACM member must follow:- </a:t>
            </a:r>
            <a:br>
              <a:rPr lang="en-US" sz="2800" b="1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Communicate social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responsibilities of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employees to them.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manage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personnel and resources to design and build information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systems (software)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that enhance the quality of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work.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make sure that organization’s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computing and communication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resources are properly utilized.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ensure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that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the developed systems meet user requirements.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make sure that manpower is fully and properly utilized in newly developed computerized information systems.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arrange training programs for the employees working on computer systems.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 bwMode="auto">
          <a:xfrm>
            <a:off x="650082" y="142875"/>
            <a:ext cx="10698480" cy="72548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Ethical decision making: Case 1</a:t>
            </a:r>
            <a:b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US" alt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1" y="1524000"/>
            <a:ext cx="11425398" cy="5105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Alisha is the network manager in a company.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The company has contacted with a networking vendor to install a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security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system.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Due to cost issue networking company has offered a  less secure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system and the management is in favor of purchasing the system.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Alisha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believes information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to be stored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is extremely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sensitive and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the company should have more secure system.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There is always a danger of hacking the systems and data.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Ethical decision making: Case 1 cont…</a:t>
            </a:r>
            <a:b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447800"/>
            <a:ext cx="10698480" cy="4573588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u="sng" dirty="0" smtClean="0">
                <a:latin typeface="Arial" pitchFamily="34" charset="0"/>
                <a:cs typeface="Arial" pitchFamily="34" charset="0"/>
              </a:rPr>
              <a:t>Q.1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Which type of code of ethics applied here?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u="sng" dirty="0" smtClean="0">
                <a:latin typeface="Arial" pitchFamily="34" charset="0"/>
                <a:cs typeface="Arial" pitchFamily="34" charset="0"/>
              </a:rPr>
              <a:t>Q.2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what actions should be taken by Alisha?</a:t>
            </a:r>
            <a:br>
              <a:rPr lang="en-US" dirty="0" smtClean="0">
                <a:latin typeface="Arial" pitchFamily="34" charset="0"/>
                <a:cs typeface="Arial" pitchFamily="34" charset="0"/>
              </a:rPr>
            </a:b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u="sng" dirty="0" smtClean="0">
                <a:latin typeface="Arial" pitchFamily="34" charset="0"/>
                <a:cs typeface="Arial" pitchFamily="34" charset="0"/>
              </a:rPr>
              <a:t>A.1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Security and Unauthorized Access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u="sng" dirty="0" smtClean="0">
                <a:latin typeface="Arial" pitchFamily="34" charset="0"/>
                <a:cs typeface="Arial" pitchFamily="34" charset="0"/>
              </a:rPr>
              <a:t>A.2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(i) Alisha should communicate and convince the </a:t>
            </a:r>
            <a:br>
              <a:rPr lang="en-US" dirty="0" smtClean="0">
                <a:latin typeface="Arial" pitchFamily="34" charset="0"/>
                <a:cs typeface="Arial" pitchFamily="34" charset="0"/>
              </a:rPr>
            </a:br>
            <a:r>
              <a:rPr lang="en-US" dirty="0" smtClean="0">
                <a:latin typeface="Arial" pitchFamily="34" charset="0"/>
                <a:cs typeface="Arial" pitchFamily="34" charset="0"/>
              </a:rPr>
              <a:t>          management not to purchase this system</a:t>
            </a:r>
            <a:br>
              <a:rPr lang="en-US" dirty="0" smtClean="0">
                <a:latin typeface="Arial" pitchFamily="34" charset="0"/>
                <a:cs typeface="Arial" pitchFamily="34" charset="0"/>
              </a:rPr>
            </a:br>
            <a:r>
              <a:rPr lang="en-US" dirty="0" smtClean="0">
                <a:latin typeface="Arial" pitchFamily="34" charset="0"/>
                <a:cs typeface="Arial" pitchFamily="34" charset="0"/>
              </a:rPr>
              <a:t>       (ii) If the management does not agree with Alisha, </a:t>
            </a:r>
            <a:br>
              <a:rPr lang="en-US" dirty="0" smtClean="0">
                <a:latin typeface="Arial" pitchFamily="34" charset="0"/>
                <a:cs typeface="Arial" pitchFamily="34" charset="0"/>
              </a:rPr>
            </a:br>
            <a:r>
              <a:rPr lang="en-US" dirty="0" smtClean="0">
                <a:latin typeface="Arial" pitchFamily="34" charset="0"/>
                <a:cs typeface="Arial" pitchFamily="34" charset="0"/>
              </a:rPr>
              <a:t>            she should resign from the company 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5619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Ethical decision making: Case 2</a:t>
            </a:r>
            <a:b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1524000"/>
            <a:ext cx="11349198" cy="492918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Ahmed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is a database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programmer.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He is developing a software with other 3 team members.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These  3  programmers  wrote programs for Ahmed and Ahmed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incorporated   those  programs  in  the  software  but he did not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appreciate  their work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Ahmed has a friend Rashid who gave a program, Ahmed added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that program in his software but did not tell top management.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5619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Ethical decision making: Case 2 cont…</a:t>
            </a:r>
            <a:b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1447800"/>
            <a:ext cx="11256328" cy="4876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Q.1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Which type of code of ethics applied here?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Q.2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Did Ahmed follow code of ethics, if not then why?</a:t>
            </a:r>
          </a:p>
          <a:p>
            <a:pPr>
              <a:buNone/>
              <a:defRPr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A.1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Intellectual property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A.2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No, because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 (i)  Ahmed did not appreciate his team members for their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      help.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    (ii) He took program from Rashid, which is violation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         of copyright act. 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Ethical decision making: Case 3</a:t>
            </a:r>
            <a:endParaRPr 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11429999" cy="4789488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A software house in Canada developed a software package for tax  payments for a number of clients.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The software  had a number of errors when delivered to  the clients e.g. wrong tax formulae.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The software house signed agreements with the clients.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The  clients  run  the  software  and paid taxes to the Canadian Tax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department.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The Tax Department  sent  notices  to  the clients and penalized for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submitting wrong statements.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5619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Ethical decision making: Case 3 cont…</a:t>
            </a:r>
            <a:endParaRPr 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11353800" cy="507365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Q.1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Which type of code of ethics applied here?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Q.2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What were the mistakes of software house?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A.1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 The software house did  not honor contract,  agreements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, and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       assigned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responsibilities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 (ACM Code)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A.2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(i)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The software house had the responsibility to thoroughly test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          the software before handing over to the clients. 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        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ii)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The  software  house  had false  contracts  with  the clients.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5405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Ethical decision making: Case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11277600" cy="4648200"/>
          </a:xfrm>
        </p:spPr>
        <p:txBody>
          <a:bodyPr>
            <a:normAutofit/>
          </a:bodyPr>
          <a:lstStyle/>
          <a:p>
            <a:pPr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An   organization   wants   to   hire  software engineers,  you  are  the</a:t>
            </a:r>
          </a:p>
          <a:p>
            <a:pPr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software manager and asked to hire white persons (not black)  by the</a:t>
            </a:r>
          </a:p>
          <a:p>
            <a:pPr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top management, Further  you are asked to prefer female candidates</a:t>
            </a:r>
          </a:p>
          <a:p>
            <a:pPr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over male candidates.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  <a:defRPr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Ethical decision making: Case 4 cont…</a:t>
            </a:r>
            <a:endParaRPr 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524000"/>
            <a:ext cx="10698480" cy="449738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u="sng" dirty="0">
                <a:latin typeface="Arial" pitchFamily="34" charset="0"/>
                <a:cs typeface="Arial" pitchFamily="34" charset="0"/>
              </a:rPr>
              <a:t>Q.1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Which type of code of ethics applied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here?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Q.2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what actions should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you take for hiring process?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A.1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Fairness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and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discrimination.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A.2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(i)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You should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communicate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the disadvantages of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         discrimination with the higher management 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       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(ii) If the management does not agree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then you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              should refuse to take part in the hiring process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sz="6000" dirty="0" smtClean="0">
                <a:latin typeface="Arial" pitchFamily="34" charset="0"/>
                <a:cs typeface="Arial" pitchFamily="34" charset="0"/>
              </a:rPr>
              <a:t>                   </a:t>
            </a:r>
            <a:r>
              <a:rPr lang="en-US" sz="96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END</a:t>
            </a:r>
            <a:endParaRPr lang="en-US" sz="96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1457</TotalTime>
  <Words>870</Words>
  <Application>Microsoft Office PowerPoint</Application>
  <PresentationFormat>Custom</PresentationFormat>
  <Paragraphs>179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Civic</vt:lpstr>
      <vt:lpstr>       Professional Practices- week2     Professional Ethics &amp; Code of Ethics</vt:lpstr>
      <vt:lpstr>Introduction</vt:lpstr>
      <vt:lpstr>Code of Ethics</vt:lpstr>
      <vt:lpstr>           Code of Ethics’ Goals </vt:lpstr>
      <vt:lpstr>Code of Ethic's Goal</vt:lpstr>
      <vt:lpstr>Code of Ethics’ Goals(Continues) </vt:lpstr>
      <vt:lpstr>   Code of Ethics’ Goals(Continues) </vt:lpstr>
      <vt:lpstr> Code of Ethics’ Goals(Continues) </vt:lpstr>
      <vt:lpstr>Unauthorized Access</vt:lpstr>
      <vt:lpstr>IEEE</vt:lpstr>
      <vt:lpstr>IEEE Code of Ethics</vt:lpstr>
      <vt:lpstr>IEEE Code of Ethics - Actions </vt:lpstr>
      <vt:lpstr>IEEE Code of Ethics - Products</vt:lpstr>
      <vt:lpstr>IEEE Code of Ethics – Responsibilities </vt:lpstr>
      <vt:lpstr>IEEE Code of Ethics - Peers </vt:lpstr>
      <vt:lpstr>IEEE Code of Ethics - Self </vt:lpstr>
      <vt:lpstr>Principles of IEEE Code of Ethics </vt:lpstr>
      <vt:lpstr>ACM</vt:lpstr>
      <vt:lpstr>ACM Code of Ethics - General Moral Values</vt:lpstr>
      <vt:lpstr>ACM Code of Ethics - Professional Responsibilities</vt:lpstr>
      <vt:lpstr>ACM Code of Ethics - Organization Leadership </vt:lpstr>
      <vt:lpstr>Ethical decision making: Case 1 </vt:lpstr>
      <vt:lpstr>Ethical decision making: Case 1 cont… </vt:lpstr>
      <vt:lpstr>Ethical decision making: Case 2 </vt:lpstr>
      <vt:lpstr>Ethical decision making: Case 2 cont… </vt:lpstr>
      <vt:lpstr>Ethical decision making: Case 3</vt:lpstr>
      <vt:lpstr>Ethical decision making: Case 3 cont…</vt:lpstr>
      <vt:lpstr>Ethical decision making: Case 4</vt:lpstr>
      <vt:lpstr>Ethical decision making: Case 4 cont…</vt:lpstr>
      <vt:lpstr>Slide 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Practices Week 1- Profession</dc:title>
  <dc:creator>Faraz Khan</dc:creator>
  <cp:lastModifiedBy>Faraz Khan</cp:lastModifiedBy>
  <cp:revision>136</cp:revision>
  <dcterms:created xsi:type="dcterms:W3CDTF">2023-10-12T07:59:10Z</dcterms:created>
  <dcterms:modified xsi:type="dcterms:W3CDTF">2025-10-31T11:12:24Z</dcterms:modified>
</cp:coreProperties>
</file>