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76"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5" r:id="rId21"/>
    <p:sldId id="274" r:id="rId22"/>
  </p:sldIdLst>
  <p:sldSz cx="118872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864" y="-96"/>
      </p:cViewPr>
      <p:guideLst>
        <p:guide orient="horz" pos="2160"/>
        <p:guide pos="3744"/>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B24F12-7F55-4EE2-A832-F284432F2B1A}" type="datetimeFigureOut">
              <a:rPr lang="en-US" smtClean="0"/>
              <a:pPr/>
              <a:t>10/19/2023</a:t>
            </a:fld>
            <a:endParaRPr lang="en-US"/>
          </a:p>
        </p:txBody>
      </p:sp>
      <p:sp>
        <p:nvSpPr>
          <p:cNvPr id="4" name="Slide Image Placeholder 3"/>
          <p:cNvSpPr>
            <a:spLocks noGrp="1" noRot="1" noChangeAspect="1"/>
          </p:cNvSpPr>
          <p:nvPr>
            <p:ph type="sldImg" idx="2"/>
          </p:nvPr>
        </p:nvSpPr>
        <p:spPr>
          <a:xfrm>
            <a:off x="457200" y="685800"/>
            <a:ext cx="59436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3412AE-8F67-4BC5-91DD-088A048550E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73412AE-8F67-4BC5-91DD-088A048550E2}" type="slidenum">
              <a:rPr lang="en-US" smtClean="0"/>
              <a:pPr/>
              <a:t>12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689080" y="3048"/>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18872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0197" y="6391659"/>
            <a:ext cx="11483035"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783080" y="2819400"/>
            <a:ext cx="832104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8338D26A-531F-4A0F-A30D-3D4014FA1F1E}" type="datetimeFigureOut">
              <a:rPr lang="en-US" smtClean="0"/>
              <a:pPr/>
              <a:t>10/19/2023</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202085" y="2420112"/>
            <a:ext cx="11483035"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98121" y="152400"/>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5547360" y="2115312"/>
            <a:ext cx="79248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5670197" y="2209800"/>
            <a:ext cx="546811"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5646420" y="2199452"/>
            <a:ext cx="594360" cy="441325"/>
          </a:xfrm>
        </p:spPr>
        <p:txBody>
          <a:bodyPr/>
          <a:lstStyle>
            <a:lvl1pPr>
              <a:defRPr>
                <a:solidFill>
                  <a:schemeClr val="accent3">
                    <a:shade val="75000"/>
                  </a:schemeClr>
                </a:solidFill>
              </a:defRPr>
            </a:lvl1pPr>
          </a:lstStyle>
          <a:p>
            <a:fld id="{3EF83B2C-F299-4DEF-A81D-E1A789A0057E}" type="slidenum">
              <a:rPr lang="en-US" smtClean="0"/>
              <a:pPr/>
              <a:t>‹#›</a:t>
            </a:fld>
            <a:endParaRPr lang="en-US"/>
          </a:p>
        </p:txBody>
      </p:sp>
      <p:sp>
        <p:nvSpPr>
          <p:cNvPr id="8" name="Title 7"/>
          <p:cNvSpPr>
            <a:spLocks noGrp="1"/>
          </p:cNvSpPr>
          <p:nvPr>
            <p:ph type="ctrTitle"/>
          </p:nvPr>
        </p:nvSpPr>
        <p:spPr>
          <a:xfrm>
            <a:off x="891540" y="381000"/>
            <a:ext cx="1010412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8338D26A-531F-4A0F-A30D-3D4014FA1F1E}" type="datetimeFigureOut">
              <a:rPr lang="en-US" smtClean="0"/>
              <a:pPr/>
              <a:t>10/19/2023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5670195" y="1026375"/>
            <a:ext cx="594360" cy="441325"/>
          </a:xfrm>
        </p:spPr>
        <p:txBody>
          <a:bodyPr/>
          <a:lstStyle/>
          <a:p>
            <a:fld id="{3EF83B2C-F299-4DEF-A81D-E1A789A0057E}" type="slidenum">
              <a:rPr lang="en-US" smtClean="0"/>
              <a:pPr/>
              <a:t>‹#›</a:t>
            </a:fld>
            <a:endParaRPr lang="en-US"/>
          </a:p>
        </p:txBody>
      </p:sp>
      <p:sp>
        <p:nvSpPr>
          <p:cNvPr id="8" name="Content Placeholder 7"/>
          <p:cNvSpPr>
            <a:spLocks noGrp="1"/>
          </p:cNvSpPr>
          <p:nvPr>
            <p:ph sz="quarter" idx="1"/>
          </p:nvPr>
        </p:nvSpPr>
        <p:spPr>
          <a:xfrm>
            <a:off x="392277" y="1527048"/>
            <a:ext cx="1105509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689080" y="1905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98121" y="2286000"/>
            <a:ext cx="11483035"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2085" y="142352"/>
            <a:ext cx="11483035"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778956" y="2743202"/>
            <a:ext cx="8424228"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90197" y="6391659"/>
            <a:ext cx="11483035"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98121" y="152400"/>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8338D26A-531F-4A0F-A30D-3D4014FA1F1E}" type="datetimeFigureOut">
              <a:rPr lang="en-US" smtClean="0"/>
              <a:pPr/>
              <a:t>10/19/2023</a:t>
            </a:fld>
            <a:endParaRPr lang="en-US"/>
          </a:p>
        </p:txBody>
      </p:sp>
      <p:sp>
        <p:nvSpPr>
          <p:cNvPr id="8" name="Straight Connector 7"/>
          <p:cNvSpPr>
            <a:spLocks noChangeShapeType="1"/>
          </p:cNvSpPr>
          <p:nvPr/>
        </p:nvSpPr>
        <p:spPr bwMode="auto">
          <a:xfrm>
            <a:off x="198121" y="2438400"/>
            <a:ext cx="11483035"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5547360" y="2115312"/>
            <a:ext cx="79248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5670197" y="2209800"/>
            <a:ext cx="546811"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5646420" y="2199452"/>
            <a:ext cx="594360" cy="441325"/>
          </a:xfrm>
        </p:spPr>
        <p:txBody>
          <a:bodyPr/>
          <a:lstStyle>
            <a:lvl1pPr>
              <a:defRPr>
                <a:solidFill>
                  <a:schemeClr val="accent3">
                    <a:shade val="75000"/>
                  </a:schemeClr>
                </a:solidFill>
              </a:defRPr>
            </a:lvl1pPr>
          </a:lstStyle>
          <a:p>
            <a:fld id="{3EF83B2C-F299-4DEF-A81D-E1A789A0057E}" type="slidenum">
              <a:rPr lang="en-US" smtClean="0"/>
              <a:pPr/>
              <a:t>‹#›</a:t>
            </a:fld>
            <a:endParaRPr lang="en-US"/>
          </a:p>
        </p:txBody>
      </p:sp>
      <p:sp>
        <p:nvSpPr>
          <p:cNvPr id="2" name="Title 1"/>
          <p:cNvSpPr>
            <a:spLocks noGrp="1"/>
          </p:cNvSpPr>
          <p:nvPr>
            <p:ph type="title"/>
          </p:nvPr>
        </p:nvSpPr>
        <p:spPr>
          <a:xfrm>
            <a:off x="939007" y="533400"/>
            <a:ext cx="1010412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92277" y="228600"/>
            <a:ext cx="1109472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7528560" y="6409944"/>
            <a:ext cx="3958437" cy="365760"/>
          </a:xfrm>
        </p:spPr>
        <p:txBody>
          <a:bodyPr/>
          <a:lstStyle/>
          <a:p>
            <a:fld id="{8338D26A-531F-4A0F-A30D-3D4014FA1F1E}" type="datetimeFigureOut">
              <a:rPr lang="en-US" smtClean="0"/>
              <a:pPr/>
              <a:t>10/19/2023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F83B2C-F299-4DEF-A81D-E1A789A0057E}" type="slidenum">
              <a:rPr lang="en-US" smtClean="0"/>
              <a:pPr/>
              <a:t>‹#›</a:t>
            </a:fld>
            <a:endParaRPr lang="en-US"/>
          </a:p>
        </p:txBody>
      </p:sp>
      <p:sp>
        <p:nvSpPr>
          <p:cNvPr id="8" name="Straight Connector 7"/>
          <p:cNvSpPr>
            <a:spLocks noChangeShapeType="1"/>
          </p:cNvSpPr>
          <p:nvPr/>
        </p:nvSpPr>
        <p:spPr bwMode="auto">
          <a:xfrm flipV="1">
            <a:off x="5932006" y="1575654"/>
            <a:ext cx="11598"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92277" y="1371600"/>
            <a:ext cx="525018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6240780" y="1371600"/>
            <a:ext cx="525018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59436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118872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1168908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98121" y="1371600"/>
            <a:ext cx="11483035"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89702" y="6391656"/>
            <a:ext cx="11483035"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92278" y="1524000"/>
            <a:ext cx="5252245"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228730" y="1524000"/>
            <a:ext cx="5254308"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8338D26A-531F-4A0F-A30D-3D4014FA1F1E}" type="datetimeFigureOut">
              <a:rPr lang="en-US" smtClean="0"/>
              <a:pPr/>
              <a:t>10/19/2023</a:t>
            </a:fld>
            <a:endParaRPr lang="en-US"/>
          </a:p>
        </p:txBody>
      </p:sp>
      <p:sp>
        <p:nvSpPr>
          <p:cNvPr id="8" name="Footer Placeholder 7"/>
          <p:cNvSpPr>
            <a:spLocks noGrp="1"/>
          </p:cNvSpPr>
          <p:nvPr>
            <p:ph type="ftr" sz="quarter" idx="11"/>
          </p:nvPr>
        </p:nvSpPr>
        <p:spPr>
          <a:xfrm>
            <a:off x="396240" y="6409944"/>
            <a:ext cx="4655820" cy="365760"/>
          </a:xfrm>
        </p:spPr>
        <p:txBody>
          <a:bodyPr/>
          <a:lstStyle/>
          <a:p>
            <a:endParaRPr lang="en-US"/>
          </a:p>
        </p:txBody>
      </p:sp>
      <p:sp>
        <p:nvSpPr>
          <p:cNvPr id="15" name="Straight Connector 14"/>
          <p:cNvSpPr>
            <a:spLocks noChangeShapeType="1"/>
          </p:cNvSpPr>
          <p:nvPr/>
        </p:nvSpPr>
        <p:spPr bwMode="auto">
          <a:xfrm>
            <a:off x="198121" y="1280160"/>
            <a:ext cx="11483035"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98121" y="155448"/>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92277" y="2471383"/>
            <a:ext cx="5254143"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6240780" y="2471383"/>
            <a:ext cx="525018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5547360" y="956036"/>
            <a:ext cx="79248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5670197" y="1050524"/>
            <a:ext cx="546811"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5646420" y="1042419"/>
            <a:ext cx="594360" cy="441325"/>
          </a:xfrm>
        </p:spPr>
        <p:txBody>
          <a:bodyPr/>
          <a:lstStyle>
            <a:lvl1pPr algn="ctr">
              <a:defRPr/>
            </a:lvl1pPr>
          </a:lstStyle>
          <a:p>
            <a:fld id="{3EF83B2C-F299-4DEF-A81D-E1A789A0057E}"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338D26A-531F-4A0F-A30D-3D4014FA1F1E}" type="datetimeFigureOut">
              <a:rPr lang="en-US" smtClean="0"/>
              <a:pPr/>
              <a:t>10/19/2023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5646420" y="1036022"/>
            <a:ext cx="594360" cy="441325"/>
          </a:xfrm>
        </p:spPr>
        <p:txBody>
          <a:bodyPr/>
          <a:lstStyle/>
          <a:p>
            <a:fld id="{3EF83B2C-F299-4DEF-A81D-E1A789A005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118872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1168908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90197" y="6391659"/>
            <a:ext cx="11483035"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98121" y="158496"/>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8338D26A-531F-4A0F-A30D-3D4014FA1F1E}" type="datetimeFigureOut">
              <a:rPr lang="en-US" smtClean="0"/>
              <a:pPr/>
              <a:t>10/19/2023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5547360" y="6324600"/>
            <a:ext cx="792480" cy="441324"/>
          </a:xfrm>
        </p:spPr>
        <p:txBody>
          <a:bodyPr/>
          <a:lstStyle>
            <a:lvl1pPr>
              <a:defRPr>
                <a:solidFill>
                  <a:srgbClr val="FFFFFF"/>
                </a:solidFill>
              </a:defRPr>
            </a:lvl1pPr>
          </a:lstStyle>
          <a:p>
            <a:fld id="{3EF83B2C-F299-4DEF-A81D-E1A789A005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98121" y="152400"/>
            <a:ext cx="11483035"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68908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18872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98120" y="609600"/>
            <a:ext cx="356616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495300" y="914400"/>
            <a:ext cx="307086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95300" y="1981203"/>
            <a:ext cx="307086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98121" y="152400"/>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98121" y="533400"/>
            <a:ext cx="11483035"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4061460" y="685800"/>
            <a:ext cx="733044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684020" y="228600"/>
            <a:ext cx="79248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806854" y="323088"/>
            <a:ext cx="546811"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783080" y="312740"/>
            <a:ext cx="594360" cy="441325"/>
          </a:xfrm>
        </p:spPr>
        <p:txBody>
          <a:bodyPr/>
          <a:lstStyle>
            <a:lvl1pPr>
              <a:defRPr>
                <a:solidFill>
                  <a:schemeClr val="accent3">
                    <a:shade val="75000"/>
                  </a:schemeClr>
                </a:solidFill>
              </a:defRPr>
            </a:lvl1pPr>
          </a:lstStyle>
          <a:p>
            <a:fld id="{3EF83B2C-F299-4DEF-A81D-E1A789A0057E}" type="slidenum">
              <a:rPr lang="en-US" smtClean="0"/>
              <a:pPr/>
              <a:t>‹#›</a:t>
            </a:fld>
            <a:endParaRPr lang="en-US"/>
          </a:p>
        </p:txBody>
      </p:sp>
      <p:sp>
        <p:nvSpPr>
          <p:cNvPr id="21" name="Rectangle 20"/>
          <p:cNvSpPr>
            <a:spLocks noChangeArrowheads="1"/>
          </p:cNvSpPr>
          <p:nvPr/>
        </p:nvSpPr>
        <p:spPr bwMode="auto">
          <a:xfrm>
            <a:off x="194158" y="6388388"/>
            <a:ext cx="11483035"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8338D26A-531F-4A0F-A30D-3D4014FA1F1E}" type="datetimeFigureOut">
              <a:rPr lang="en-US" smtClean="0"/>
              <a:pPr/>
              <a:t>10/19/2023</a:t>
            </a:fld>
            <a:endParaRPr lang="en-US"/>
          </a:p>
        </p:txBody>
      </p:sp>
      <p:sp>
        <p:nvSpPr>
          <p:cNvPr id="6" name="Footer Placeholder 5"/>
          <p:cNvSpPr>
            <a:spLocks noGrp="1"/>
          </p:cNvSpPr>
          <p:nvPr>
            <p:ph type="ftr" sz="quarter" idx="11"/>
          </p:nvPr>
        </p:nvSpPr>
        <p:spPr>
          <a:xfrm>
            <a:off x="392277" y="6410848"/>
            <a:ext cx="4398264"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98121" y="533400"/>
            <a:ext cx="11483035"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1168908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98121" y="152400"/>
            <a:ext cx="11483035"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98120" y="609600"/>
            <a:ext cx="356616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98121" y="155448"/>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684020" y="228600"/>
            <a:ext cx="79248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806854" y="323088"/>
            <a:ext cx="546811"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783080" y="312740"/>
            <a:ext cx="594360" cy="441325"/>
          </a:xfrm>
        </p:spPr>
        <p:txBody>
          <a:bodyPr/>
          <a:lstStyle/>
          <a:p>
            <a:fld id="{3EF83B2C-F299-4DEF-A81D-E1A789A0057E}" type="slidenum">
              <a:rPr lang="en-US" smtClean="0"/>
              <a:pPr/>
              <a:t>‹#›</a:t>
            </a:fld>
            <a:endParaRPr lang="en-US"/>
          </a:p>
        </p:txBody>
      </p:sp>
      <p:sp>
        <p:nvSpPr>
          <p:cNvPr id="2" name="Title 1"/>
          <p:cNvSpPr>
            <a:spLocks noGrp="1"/>
          </p:cNvSpPr>
          <p:nvPr>
            <p:ph type="title"/>
          </p:nvPr>
        </p:nvSpPr>
        <p:spPr>
          <a:xfrm>
            <a:off x="3900488" y="5029200"/>
            <a:ext cx="762762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900488" y="609600"/>
            <a:ext cx="762762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495300" y="990600"/>
            <a:ext cx="316992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94158" y="6388388"/>
            <a:ext cx="11483035"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7524598" y="6404984"/>
            <a:ext cx="3958437" cy="365760"/>
          </a:xfrm>
        </p:spPr>
        <p:txBody>
          <a:bodyPr/>
          <a:lstStyle/>
          <a:p>
            <a:fld id="{8338D26A-531F-4A0F-A30D-3D4014FA1F1E}" type="datetimeFigureOut">
              <a:rPr lang="en-US" smtClean="0"/>
              <a:pPr/>
              <a:t>10/19/2023</a:t>
            </a:fld>
            <a:endParaRPr lang="en-US"/>
          </a:p>
        </p:txBody>
      </p:sp>
      <p:sp>
        <p:nvSpPr>
          <p:cNvPr id="6" name="Footer Placeholder 5"/>
          <p:cNvSpPr>
            <a:spLocks noGrp="1"/>
          </p:cNvSpPr>
          <p:nvPr>
            <p:ph type="ftr" sz="quarter" idx="11"/>
          </p:nvPr>
        </p:nvSpPr>
        <p:spPr>
          <a:xfrm>
            <a:off x="392277" y="6410848"/>
            <a:ext cx="4659783"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338D26A-531F-4A0F-A30D-3D4014FA1F1E}" type="datetimeFigureOut">
              <a:rPr lang="en-US" smtClean="0"/>
              <a:pPr/>
              <a:t>10/19/2023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F83B2C-F299-4DEF-A81D-E1A789A005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9113520" y="0"/>
            <a:ext cx="277368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18872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90197" y="6391659"/>
            <a:ext cx="11483035"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8121" y="155448"/>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6165189"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8891625" y="2925763"/>
            <a:ext cx="79248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9014461" y="3020251"/>
            <a:ext cx="546811"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8990685" y="3009904"/>
            <a:ext cx="594360" cy="441325"/>
          </a:xfrm>
        </p:spPr>
        <p:txBody>
          <a:bodyPr/>
          <a:lstStyle/>
          <a:p>
            <a:fld id="{3EF83B2C-F299-4DEF-A81D-E1A789A0057E}" type="slidenum">
              <a:rPr lang="en-US" smtClean="0"/>
              <a:pPr/>
              <a:t>‹#›</a:t>
            </a:fld>
            <a:endParaRPr lang="en-US"/>
          </a:p>
        </p:txBody>
      </p:sp>
      <p:sp>
        <p:nvSpPr>
          <p:cNvPr id="3" name="Vertical Text Placeholder 2"/>
          <p:cNvSpPr>
            <a:spLocks noGrp="1"/>
          </p:cNvSpPr>
          <p:nvPr>
            <p:ph type="body" orient="vert" idx="1"/>
          </p:nvPr>
        </p:nvSpPr>
        <p:spPr>
          <a:xfrm>
            <a:off x="396240" y="304800"/>
            <a:ext cx="851916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338D26A-531F-4A0F-A30D-3D4014FA1F1E}" type="datetimeFigureOut">
              <a:rPr lang="en-US" smtClean="0"/>
              <a:pPr/>
              <a:t>10/19/2023</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9608820" y="304804"/>
            <a:ext cx="188214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2"/>
            <a:ext cx="118872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68908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94158" y="6388388"/>
            <a:ext cx="11483035"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7528560" y="6404984"/>
            <a:ext cx="3958437" cy="365760"/>
          </a:xfrm>
          <a:prstGeom prst="rect">
            <a:avLst/>
          </a:prstGeom>
        </p:spPr>
        <p:txBody>
          <a:bodyPr vert="horz"/>
          <a:lstStyle>
            <a:lvl1pPr algn="r" eaLnBrk="1" latinLnBrk="0" hangingPunct="1">
              <a:defRPr kumimoji="0" sz="1400">
                <a:solidFill>
                  <a:srgbClr val="FFFFFF"/>
                </a:solidFill>
              </a:defRPr>
            </a:lvl1pPr>
          </a:lstStyle>
          <a:p>
            <a:fld id="{8338D26A-531F-4A0F-A30D-3D4014FA1F1E}" type="datetimeFigureOut">
              <a:rPr lang="en-US" smtClean="0"/>
              <a:pPr/>
              <a:t>10/19/2023</a:t>
            </a:fld>
            <a:endParaRPr lang="en-US"/>
          </a:p>
        </p:txBody>
      </p:sp>
      <p:sp>
        <p:nvSpPr>
          <p:cNvPr id="3" name="Footer Placeholder 2"/>
          <p:cNvSpPr>
            <a:spLocks noGrp="1"/>
          </p:cNvSpPr>
          <p:nvPr>
            <p:ph type="ftr" sz="quarter" idx="3"/>
          </p:nvPr>
        </p:nvSpPr>
        <p:spPr>
          <a:xfrm>
            <a:off x="396240" y="6410848"/>
            <a:ext cx="465582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98121" y="155448"/>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98121" y="1276743"/>
            <a:ext cx="11483035"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5547360" y="956036"/>
            <a:ext cx="79248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5670197" y="1050524"/>
            <a:ext cx="546811"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5646420" y="1040177"/>
            <a:ext cx="59436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3EF83B2C-F299-4DEF-A81D-E1A789A0057E}" type="slidenum">
              <a:rPr lang="en-US" smtClean="0"/>
              <a:pPr/>
              <a:t>‹#›</a:t>
            </a:fld>
            <a:endParaRPr lang="en-US"/>
          </a:p>
        </p:txBody>
      </p:sp>
      <p:sp>
        <p:nvSpPr>
          <p:cNvPr id="22" name="Title Placeholder 21"/>
          <p:cNvSpPr>
            <a:spLocks noGrp="1"/>
          </p:cNvSpPr>
          <p:nvPr>
            <p:ph type="title"/>
          </p:nvPr>
        </p:nvSpPr>
        <p:spPr>
          <a:xfrm>
            <a:off x="392277" y="228600"/>
            <a:ext cx="1109472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92277" y="1524000"/>
            <a:ext cx="1109472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382000" cy="838200"/>
          </a:xfrm>
        </p:spPr>
        <p:txBody>
          <a:bodyPr>
            <a:normAutofit fontScale="90000"/>
          </a:bodyPr>
          <a:lstStyle/>
          <a:p>
            <a:r>
              <a:rPr lang="fr-FR" altLang="en-US" sz="4400" b="1" dirty="0" smtClean="0">
                <a:solidFill>
                  <a:srgbClr val="0070C0"/>
                </a:solidFill>
                <a:latin typeface="Arial" pitchFamily="34" charset="0"/>
                <a:cs typeface="Arial" pitchFamily="34" charset="0"/>
              </a:rPr>
              <a:t/>
            </a:r>
            <a:br>
              <a:rPr lang="fr-FR" altLang="en-US" sz="4400" b="1" dirty="0" smtClean="0">
                <a:solidFill>
                  <a:srgbClr val="0070C0"/>
                </a:solidFill>
                <a:latin typeface="Arial" pitchFamily="34" charset="0"/>
                <a:cs typeface="Arial" pitchFamily="34" charset="0"/>
              </a:rPr>
            </a:br>
            <a:r>
              <a:rPr lang="fr-FR" altLang="en-US" sz="4400" b="1" dirty="0" smtClean="0">
                <a:solidFill>
                  <a:srgbClr val="0070C0"/>
                </a:solidFill>
                <a:latin typeface="Arial" pitchFamily="34" charset="0"/>
                <a:cs typeface="Arial" pitchFamily="34" charset="0"/>
              </a:rPr>
              <a:t/>
            </a:r>
            <a:br>
              <a:rPr lang="fr-FR" altLang="en-US" sz="4400" b="1" dirty="0" smtClean="0">
                <a:solidFill>
                  <a:srgbClr val="0070C0"/>
                </a:solidFill>
                <a:latin typeface="Arial" pitchFamily="34" charset="0"/>
                <a:cs typeface="Arial" pitchFamily="34" charset="0"/>
              </a:rPr>
            </a:br>
            <a:r>
              <a:rPr lang="fr-FR" altLang="en-US" sz="4400" b="1" dirty="0" smtClean="0">
                <a:solidFill>
                  <a:srgbClr val="0070C0"/>
                </a:solidFill>
                <a:latin typeface="Arial" pitchFamily="34" charset="0"/>
                <a:cs typeface="Arial" pitchFamily="34" charset="0"/>
              </a:rPr>
              <a:t/>
            </a:r>
            <a:br>
              <a:rPr lang="fr-FR" altLang="en-US" sz="4400" b="1" dirty="0" smtClean="0">
                <a:solidFill>
                  <a:srgbClr val="0070C0"/>
                </a:solidFill>
                <a:latin typeface="Arial" pitchFamily="34" charset="0"/>
                <a:cs typeface="Arial" pitchFamily="34" charset="0"/>
              </a:rPr>
            </a:br>
            <a:r>
              <a:rPr lang="fr-FR" altLang="en-US" sz="4400" b="1" dirty="0" smtClean="0">
                <a:solidFill>
                  <a:srgbClr val="0070C0"/>
                </a:solidFill>
                <a:latin typeface="Arial" pitchFamily="34" charset="0"/>
                <a:cs typeface="Arial" pitchFamily="34" charset="0"/>
              </a:rPr>
              <a:t/>
            </a:r>
            <a:br>
              <a:rPr lang="fr-FR" altLang="en-US" sz="4400" b="1" dirty="0" smtClean="0">
                <a:solidFill>
                  <a:srgbClr val="0070C0"/>
                </a:solidFill>
                <a:latin typeface="Arial" pitchFamily="34" charset="0"/>
                <a:cs typeface="Arial" pitchFamily="34" charset="0"/>
              </a:rPr>
            </a:br>
            <a:r>
              <a:rPr lang="fr-FR" altLang="en-US" sz="4400" b="1" dirty="0" smtClean="0">
                <a:solidFill>
                  <a:srgbClr val="0070C0"/>
                </a:solidFill>
                <a:latin typeface="Arial" pitchFamily="34" charset="0"/>
                <a:cs typeface="Arial" pitchFamily="34" charset="0"/>
              </a:rPr>
              <a:t/>
            </a:r>
            <a:br>
              <a:rPr lang="fr-FR" altLang="en-US" sz="4400" b="1" dirty="0" smtClean="0">
                <a:solidFill>
                  <a:srgbClr val="0070C0"/>
                </a:solidFill>
                <a:latin typeface="Arial" pitchFamily="34" charset="0"/>
                <a:cs typeface="Arial" pitchFamily="34" charset="0"/>
              </a:rPr>
            </a:br>
            <a:r>
              <a:rPr lang="fr-FR" altLang="en-US" sz="4400" b="1" dirty="0" smtClean="0">
                <a:solidFill>
                  <a:srgbClr val="0070C0"/>
                </a:solidFill>
                <a:latin typeface="Arial" pitchFamily="34" charset="0"/>
                <a:cs typeface="Arial" pitchFamily="34" charset="0"/>
              </a:rPr>
              <a:t/>
            </a:r>
            <a:br>
              <a:rPr lang="fr-FR" altLang="en-US" sz="4400" b="1" dirty="0" smtClean="0">
                <a:solidFill>
                  <a:srgbClr val="0070C0"/>
                </a:solidFill>
                <a:latin typeface="Arial" pitchFamily="34" charset="0"/>
                <a:cs typeface="Arial" pitchFamily="34" charset="0"/>
              </a:rPr>
            </a:br>
            <a:r>
              <a:rPr lang="fr-FR" altLang="en-US" sz="4400" b="1" dirty="0" smtClean="0">
                <a:solidFill>
                  <a:srgbClr val="0070C0"/>
                </a:solidFill>
                <a:latin typeface="Arial" pitchFamily="34" charset="0"/>
                <a:cs typeface="Arial" pitchFamily="34" charset="0"/>
              </a:rPr>
              <a:t/>
            </a:r>
            <a:br>
              <a:rPr lang="fr-FR" altLang="en-US" sz="4400" b="1" dirty="0" smtClean="0">
                <a:solidFill>
                  <a:srgbClr val="0070C0"/>
                </a:solidFill>
                <a:latin typeface="Arial" pitchFamily="34" charset="0"/>
                <a:cs typeface="Arial" pitchFamily="34" charset="0"/>
              </a:rPr>
            </a:br>
            <a:r>
              <a:rPr lang="fr-FR" altLang="en-US" sz="4400" b="1" dirty="0" smtClean="0">
                <a:solidFill>
                  <a:srgbClr val="0070C0"/>
                </a:solidFill>
                <a:latin typeface="Arial" pitchFamily="34" charset="0"/>
                <a:cs typeface="Arial" pitchFamily="34" charset="0"/>
              </a:rPr>
              <a:t/>
            </a:r>
            <a:br>
              <a:rPr lang="fr-FR" altLang="en-US" sz="4400" b="1" dirty="0" smtClean="0">
                <a:solidFill>
                  <a:srgbClr val="0070C0"/>
                </a:solidFill>
                <a:latin typeface="Arial" pitchFamily="34" charset="0"/>
                <a:cs typeface="Arial" pitchFamily="34" charset="0"/>
              </a:rPr>
            </a:br>
            <a:r>
              <a:rPr lang="fr-FR" altLang="en-US" sz="4400" b="1" dirty="0" smtClean="0">
                <a:solidFill>
                  <a:srgbClr val="0070C0"/>
                </a:solidFill>
                <a:latin typeface="Arial" pitchFamily="34" charset="0"/>
                <a:cs typeface="Arial" pitchFamily="34" charset="0"/>
              </a:rPr>
              <a:t/>
            </a:r>
            <a:br>
              <a:rPr lang="fr-FR" altLang="en-US" sz="4400" b="1" dirty="0" smtClean="0">
                <a:solidFill>
                  <a:srgbClr val="0070C0"/>
                </a:solidFill>
                <a:latin typeface="Arial" pitchFamily="34" charset="0"/>
                <a:cs typeface="Arial" pitchFamily="34" charset="0"/>
              </a:rPr>
            </a:br>
            <a:r>
              <a:rPr lang="fr-FR" altLang="en-US" sz="4400" b="1" dirty="0" smtClean="0">
                <a:solidFill>
                  <a:srgbClr val="0070C0"/>
                </a:solidFill>
                <a:latin typeface="Arial" pitchFamily="34" charset="0"/>
                <a:cs typeface="Arial" pitchFamily="34" charset="0"/>
              </a:rPr>
              <a:t/>
            </a:r>
            <a:br>
              <a:rPr lang="fr-FR" altLang="en-US" sz="4400" b="1" dirty="0" smtClean="0">
                <a:solidFill>
                  <a:srgbClr val="0070C0"/>
                </a:solidFill>
                <a:latin typeface="Arial" pitchFamily="34" charset="0"/>
                <a:cs typeface="Arial" pitchFamily="34" charset="0"/>
              </a:rPr>
            </a:br>
            <a:r>
              <a:rPr lang="fr-FR" altLang="en-US" sz="4400" b="1" dirty="0" smtClean="0">
                <a:solidFill>
                  <a:srgbClr val="0070C0"/>
                </a:solidFill>
                <a:latin typeface="Arial" pitchFamily="34" charset="0"/>
                <a:cs typeface="Arial" pitchFamily="34" charset="0"/>
              </a:rPr>
              <a:t/>
            </a:r>
            <a:br>
              <a:rPr lang="fr-FR" altLang="en-US" sz="4400" b="1" dirty="0" smtClean="0">
                <a:solidFill>
                  <a:srgbClr val="0070C0"/>
                </a:solidFill>
                <a:latin typeface="Arial" pitchFamily="34" charset="0"/>
                <a:cs typeface="Arial" pitchFamily="34" charset="0"/>
              </a:rPr>
            </a:br>
            <a:r>
              <a:rPr lang="fr-FR" altLang="en-US" sz="4400" b="1" dirty="0" smtClean="0">
                <a:solidFill>
                  <a:srgbClr val="0070C0"/>
                </a:solidFill>
                <a:latin typeface="Arial" pitchFamily="34" charset="0"/>
                <a:cs typeface="Arial" pitchFamily="34" charset="0"/>
              </a:rPr>
              <a:t/>
            </a:r>
            <a:br>
              <a:rPr lang="fr-FR" altLang="en-US" sz="4400" b="1" dirty="0" smtClean="0">
                <a:solidFill>
                  <a:srgbClr val="0070C0"/>
                </a:solidFill>
                <a:latin typeface="Arial" pitchFamily="34" charset="0"/>
                <a:cs typeface="Arial" pitchFamily="34" charset="0"/>
              </a:rPr>
            </a:br>
            <a:r>
              <a:rPr lang="fr-FR" altLang="en-US" sz="4400" b="1" dirty="0" smtClean="0">
                <a:solidFill>
                  <a:srgbClr val="0070C0"/>
                </a:solidFill>
                <a:latin typeface="Arial" pitchFamily="34" charset="0"/>
                <a:cs typeface="Arial" pitchFamily="34" charset="0"/>
              </a:rPr>
              <a:t/>
            </a:r>
            <a:br>
              <a:rPr lang="fr-FR" altLang="en-US" sz="4400" b="1" dirty="0" smtClean="0">
                <a:solidFill>
                  <a:srgbClr val="0070C0"/>
                </a:solidFill>
                <a:latin typeface="Arial" pitchFamily="34" charset="0"/>
                <a:cs typeface="Arial" pitchFamily="34" charset="0"/>
              </a:rPr>
            </a:br>
            <a:r>
              <a:rPr lang="fr-FR" altLang="en-US" sz="4400" b="1" dirty="0" smtClean="0">
                <a:solidFill>
                  <a:srgbClr val="0070C0"/>
                </a:solidFill>
                <a:latin typeface="Arial" pitchFamily="34" charset="0"/>
                <a:cs typeface="Arial" pitchFamily="34" charset="0"/>
              </a:rPr>
              <a:t/>
            </a:r>
            <a:br>
              <a:rPr lang="fr-FR" altLang="en-US" sz="4400" b="1" dirty="0" smtClean="0">
                <a:solidFill>
                  <a:srgbClr val="0070C0"/>
                </a:solidFill>
                <a:latin typeface="Arial" pitchFamily="34" charset="0"/>
                <a:cs typeface="Arial" pitchFamily="34" charset="0"/>
              </a:rPr>
            </a:br>
            <a:endParaRPr lang="en-US" sz="4400" dirty="0"/>
          </a:p>
        </p:txBody>
      </p:sp>
      <p:sp>
        <p:nvSpPr>
          <p:cNvPr id="3" name="Content Placeholder 2"/>
          <p:cNvSpPr>
            <a:spLocks noGrp="1"/>
          </p:cNvSpPr>
          <p:nvPr>
            <p:ph sz="quarter" idx="1"/>
          </p:nvPr>
        </p:nvSpPr>
        <p:spPr/>
        <p:txBody>
          <a:bodyPr/>
          <a:lstStyle/>
          <a:p>
            <a:pPr>
              <a:buNone/>
            </a:pPr>
            <a:r>
              <a:rPr lang="en-US" sz="2800" b="1" dirty="0" smtClean="0">
                <a:solidFill>
                  <a:schemeClr val="accent1"/>
                </a:solidFill>
                <a:latin typeface="Arial" pitchFamily="34" charset="0"/>
                <a:cs typeface="Arial" pitchFamily="34" charset="0"/>
              </a:rPr>
              <a:t>   COURSE OBJECTIVE:</a:t>
            </a:r>
            <a:endParaRPr lang="en-US" sz="2800" dirty="0" smtClean="0">
              <a:solidFill>
                <a:schemeClr val="accent1"/>
              </a:solidFill>
              <a:latin typeface="Arial" pitchFamily="34" charset="0"/>
              <a:cs typeface="Arial" pitchFamily="34" charset="0"/>
            </a:endParaRPr>
          </a:p>
          <a:p>
            <a:pPr>
              <a:buNone/>
            </a:pPr>
            <a:endParaRPr lang="en-US" sz="2800" dirty="0" smtClean="0">
              <a:latin typeface="Arial" pitchFamily="34" charset="0"/>
              <a:cs typeface="Arial" pitchFamily="34" charset="0"/>
            </a:endParaRPr>
          </a:p>
          <a:p>
            <a:pPr>
              <a:buFont typeface="Wingdings" pitchFamily="2" charset="2"/>
              <a:buChar char="q"/>
            </a:pPr>
            <a:r>
              <a:rPr lang="en-US" sz="2800" dirty="0" smtClean="0">
                <a:latin typeface="Arial" pitchFamily="34" charset="0"/>
                <a:cs typeface="Arial" pitchFamily="34" charset="0"/>
              </a:rPr>
              <a:t>This  course  develops  student  understanding  about  historical, social, economic, Ethical, and Professional issues related  to the discipline of Computing. </a:t>
            </a:r>
          </a:p>
          <a:p>
            <a:pPr>
              <a:buFont typeface="Wingdings" pitchFamily="2" charset="2"/>
              <a:buChar char="q"/>
            </a:pPr>
            <a:r>
              <a:rPr lang="en-US" sz="2800" dirty="0" smtClean="0">
                <a:latin typeface="Arial" pitchFamily="34" charset="0"/>
                <a:cs typeface="Arial" pitchFamily="34" charset="0"/>
              </a:rPr>
              <a:t>It  identifies   key  sources   for   information  and  opinion  about Professionalism  and ethics. Students   analyze,   evaluate,  and assess ethical and professional computing case studies.</a:t>
            </a:r>
          </a:p>
          <a:p>
            <a:endParaRPr lang="en-US" dirty="0"/>
          </a:p>
        </p:txBody>
      </p:sp>
      <p:sp>
        <p:nvSpPr>
          <p:cNvPr id="4" name="Title 1"/>
          <p:cNvSpPr txBox="1">
            <a:spLocks/>
          </p:cNvSpPr>
          <p:nvPr/>
        </p:nvSpPr>
        <p:spPr>
          <a:xfrm>
            <a:off x="0" y="457200"/>
            <a:ext cx="10104120" cy="1524000"/>
          </a:xfrm>
          <a:prstGeom prst="rect">
            <a:avLst/>
          </a:prstGeom>
        </p:spPr>
        <p:txBody>
          <a:bodyPr vert="horz" anchor="b">
            <a:noAutofit/>
          </a:bodyPr>
          <a:lstStyle/>
          <a:p>
            <a:pPr lvl="0">
              <a:spcBef>
                <a:spcPct val="0"/>
              </a:spcBef>
              <a:defRPr/>
            </a:pPr>
            <a:r>
              <a:rPr kumimoji="0" lang="fr-FR" altLang="en-US" sz="4000" b="1" i="0" u="none" strike="noStrike" kern="1200" cap="none" spc="0" normalizeH="0" baseline="0" noProof="0" dirty="0" smtClean="0">
                <a:ln>
                  <a:noFill/>
                </a:ln>
                <a:solidFill>
                  <a:srgbClr val="0070C0"/>
                </a:solidFill>
                <a:effectLst/>
                <a:uLnTx/>
                <a:uFillTx/>
                <a:latin typeface="Arial" pitchFamily="34" charset="0"/>
                <a:ea typeface="+mj-ea"/>
                <a:cs typeface="Arial" pitchFamily="34" charset="0"/>
              </a:rPr>
              <a:t> </a:t>
            </a:r>
            <a:r>
              <a:rPr kumimoji="0" lang="fr-FR" altLang="en-US" sz="4000" b="1" i="0" u="none" strike="noStrike" kern="1200" cap="none" spc="0" normalizeH="0" noProof="0" dirty="0" smtClean="0">
                <a:ln>
                  <a:noFill/>
                </a:ln>
                <a:solidFill>
                  <a:srgbClr val="0070C0"/>
                </a:solidFill>
                <a:effectLst/>
                <a:uLnTx/>
                <a:uFillTx/>
                <a:latin typeface="Arial" pitchFamily="34" charset="0"/>
                <a:ea typeface="+mj-ea"/>
                <a:cs typeface="Arial" pitchFamily="34" charset="0"/>
              </a:rPr>
              <a:t> </a:t>
            </a:r>
            <a:r>
              <a:rPr kumimoji="0" lang="fr-FR" altLang="en-US" sz="4000" b="1" i="0" u="none" strike="noStrike" kern="1200" cap="none" spc="0" normalizeH="0" baseline="0" noProof="0" dirty="0" smtClean="0">
                <a:ln>
                  <a:noFill/>
                </a:ln>
                <a:solidFill>
                  <a:srgbClr val="0070C0"/>
                </a:solidFill>
                <a:effectLst/>
                <a:uLnTx/>
                <a:uFillTx/>
                <a:latin typeface="Arial" pitchFamily="34" charset="0"/>
                <a:ea typeface="+mj-ea"/>
                <a:cs typeface="Arial" pitchFamily="34" charset="0"/>
              </a:rPr>
              <a:t>Professional Practices in Computing </a:t>
            </a:r>
            <a:br>
              <a:rPr kumimoji="0" lang="fr-FR" altLang="en-US" sz="4000" b="1" i="0" u="none" strike="noStrike" kern="1200" cap="none" spc="0" normalizeH="0" baseline="0" noProof="0" dirty="0" smtClean="0">
                <a:ln>
                  <a:noFill/>
                </a:ln>
                <a:solidFill>
                  <a:srgbClr val="0070C0"/>
                </a:solidFill>
                <a:effectLst/>
                <a:uLnTx/>
                <a:uFillTx/>
                <a:latin typeface="Arial" pitchFamily="34" charset="0"/>
                <a:ea typeface="+mj-ea"/>
                <a:cs typeface="Arial" pitchFamily="34" charset="0"/>
              </a:rPr>
            </a:br>
            <a:r>
              <a:rPr kumimoji="0" lang="fr-FR" altLang="en-US" sz="4000" b="1" i="0" u="none" strike="noStrike" kern="1200" cap="none" spc="0" normalizeH="0" baseline="0" noProof="0" dirty="0" smtClean="0">
                <a:ln>
                  <a:noFill/>
                </a:ln>
                <a:solidFill>
                  <a:srgbClr val="0070C0"/>
                </a:solidFill>
                <a:effectLst/>
                <a:uLnTx/>
                <a:uFillTx/>
                <a:latin typeface="Arial" pitchFamily="34" charset="0"/>
                <a:ea typeface="+mj-ea"/>
                <a:cs typeface="Arial" pitchFamily="34" charset="0"/>
              </a:rPr>
              <a:t>                      </a:t>
            </a:r>
            <a:r>
              <a:rPr kumimoji="0" lang="fr-FR" altLang="en-US" sz="4000" b="1" i="0" u="none" strike="noStrike" kern="1200" cap="none" spc="0" normalizeH="0" baseline="0" noProof="0" dirty="0" smtClean="0">
                <a:ln>
                  <a:noFill/>
                </a:ln>
                <a:solidFill>
                  <a:srgbClr val="0070C0"/>
                </a:solidFill>
                <a:effectLst/>
                <a:uLnTx/>
                <a:uFillTx/>
                <a:latin typeface="Arial" pitchFamily="34" charset="0"/>
                <a:ea typeface="+mj-ea"/>
                <a:cs typeface="Arial" pitchFamily="34" charset="0"/>
              </a:rPr>
              <a:t>   </a:t>
            </a:r>
            <a:r>
              <a:rPr kumimoji="0" lang="fr-FR" altLang="en-US" sz="4000" b="1" i="0" u="none" strike="noStrike" kern="1200" cap="none" spc="0" normalizeH="0" baseline="0" noProof="0" dirty="0" smtClean="0">
                <a:ln>
                  <a:noFill/>
                </a:ln>
                <a:solidFill>
                  <a:srgbClr val="0070C0"/>
                </a:solidFill>
                <a:effectLst/>
                <a:uLnTx/>
                <a:uFillTx/>
                <a:latin typeface="Arial" pitchFamily="34" charset="0"/>
                <a:ea typeface="+mj-ea"/>
                <a:cs typeface="Arial" pitchFamily="34" charset="0"/>
              </a:rPr>
              <a:t>(</a:t>
            </a:r>
            <a:r>
              <a:rPr lang="fr-FR" altLang="en-US" sz="4000" b="1" dirty="0" smtClean="0">
                <a:solidFill>
                  <a:srgbClr val="0070C0"/>
                </a:solidFill>
                <a:latin typeface="Arial" pitchFamily="34" charset="0"/>
                <a:cs typeface="Arial" pitchFamily="34" charset="0"/>
              </a:rPr>
              <a:t>HS-410) </a:t>
            </a:r>
            <a:r>
              <a:rPr kumimoji="0" lang="fr-FR" altLang="en-US" sz="4000" b="1" i="0" u="none" strike="noStrike" kern="1200" cap="none" spc="0" normalizeH="0" baseline="0" noProof="0" dirty="0" smtClean="0">
                <a:ln>
                  <a:noFill/>
                </a:ln>
                <a:solidFill>
                  <a:srgbClr val="0070C0"/>
                </a:solidFill>
                <a:effectLst/>
                <a:uLnTx/>
                <a:uFillTx/>
                <a:latin typeface="Arial" pitchFamily="34" charset="0"/>
                <a:ea typeface="+mj-ea"/>
                <a:cs typeface="Arial" pitchFamily="34" charset="0"/>
              </a:rPr>
              <a:t/>
            </a:r>
            <a:br>
              <a:rPr kumimoji="0" lang="fr-FR" altLang="en-US" sz="4000" b="1" i="0" u="none" strike="noStrike" kern="1200" cap="none" spc="0" normalizeH="0" baseline="0" noProof="0" dirty="0" smtClean="0">
                <a:ln>
                  <a:noFill/>
                </a:ln>
                <a:solidFill>
                  <a:srgbClr val="0070C0"/>
                </a:solidFill>
                <a:effectLst/>
                <a:uLnTx/>
                <a:uFillTx/>
                <a:latin typeface="Arial" pitchFamily="34" charset="0"/>
                <a:ea typeface="+mj-ea"/>
                <a:cs typeface="Arial" pitchFamily="34" charset="0"/>
              </a:rPr>
            </a:br>
            <a:endParaRPr kumimoji="0" lang="en-US" sz="4000" b="0" i="0" u="none" strike="noStrike" kern="1200" cap="none" spc="0" normalizeH="0" baseline="0" noProof="0" dirty="0">
              <a:ln>
                <a:noFill/>
              </a:ln>
              <a:solidFill>
                <a:srgbClr val="0070C0"/>
              </a:solidFill>
              <a:effectLst/>
              <a:uLnTx/>
              <a:uFillTx/>
              <a:latin typeface="Arial" pitchFamily="34" charset="0"/>
              <a:ea typeface="+mj-ea"/>
              <a:cs typeface="Arial" pitchFamily="34" charset="0"/>
            </a:endParaRPr>
          </a:p>
        </p:txBody>
      </p:sp>
      <p:pic>
        <p:nvPicPr>
          <p:cNvPr id="5" name="Picture 4" descr="PP.jpg"/>
          <p:cNvPicPr>
            <a:picLocks noChangeAspect="1"/>
          </p:cNvPicPr>
          <p:nvPr/>
        </p:nvPicPr>
        <p:blipFill>
          <a:blip r:embed="rId2"/>
          <a:stretch>
            <a:fillRect/>
          </a:stretch>
        </p:blipFill>
        <p:spPr>
          <a:xfrm>
            <a:off x="9220200" y="228600"/>
            <a:ext cx="2362200" cy="995363"/>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3400" y="2819400"/>
            <a:ext cx="10363200" cy="3352800"/>
          </a:xfrm>
        </p:spPr>
        <p:txBody>
          <a:bodyPr>
            <a:normAutofit/>
          </a:bodyPr>
          <a:lstStyle/>
          <a:p>
            <a:pPr algn="l">
              <a:defRPr/>
            </a:pPr>
            <a:endParaRPr lang="en-US" sz="2000" b="0" dirty="0" smtClean="0">
              <a:latin typeface="Arial" pitchFamily="34" charset="0"/>
              <a:cs typeface="Arial" pitchFamily="34" charset="0"/>
            </a:endParaRPr>
          </a:p>
          <a:p>
            <a:pPr algn="l">
              <a:buFont typeface="Wingdings" pitchFamily="2" charset="2"/>
              <a:buChar char="q"/>
              <a:defRPr/>
            </a:pPr>
            <a:r>
              <a:rPr lang="en-US" sz="2800" b="0" dirty="0" smtClean="0">
                <a:latin typeface="Arial" pitchFamily="34" charset="0"/>
                <a:cs typeface="Arial" pitchFamily="34" charset="0"/>
              </a:rPr>
              <a:t>  </a:t>
            </a:r>
            <a:r>
              <a:rPr lang="en-US" sz="2800" b="0" dirty="0" smtClean="0">
                <a:solidFill>
                  <a:schemeClr val="tx1"/>
                </a:solidFill>
                <a:latin typeface="Arial" pitchFamily="34" charset="0"/>
                <a:cs typeface="Arial" pitchFamily="34" charset="0"/>
              </a:rPr>
              <a:t>Introduction.</a:t>
            </a:r>
          </a:p>
          <a:p>
            <a:pPr algn="l">
              <a:buFont typeface="Wingdings" pitchFamily="2" charset="2"/>
              <a:buChar char="q"/>
              <a:defRPr/>
            </a:pPr>
            <a:r>
              <a:rPr lang="en-US" sz="2800" b="0" dirty="0" smtClean="0">
                <a:solidFill>
                  <a:schemeClr val="tx1"/>
                </a:solidFill>
                <a:latin typeface="Arial" pitchFamily="34" charset="0"/>
                <a:cs typeface="Arial" pitchFamily="34" charset="0"/>
              </a:rPr>
              <a:t>  Professionalism.</a:t>
            </a:r>
          </a:p>
          <a:p>
            <a:pPr algn="l">
              <a:buFont typeface="Wingdings" pitchFamily="2" charset="2"/>
              <a:buChar char="q"/>
              <a:defRPr/>
            </a:pPr>
            <a:r>
              <a:rPr lang="en-US" sz="2800" b="0" dirty="0" smtClean="0">
                <a:solidFill>
                  <a:schemeClr val="tx1"/>
                </a:solidFill>
                <a:latin typeface="Arial" pitchFamily="34" charset="0"/>
                <a:cs typeface="Arial" pitchFamily="34" charset="0"/>
              </a:rPr>
              <a:t>  Traits of a Professional. </a:t>
            </a:r>
          </a:p>
          <a:p>
            <a:pPr algn="l">
              <a:buFont typeface="Wingdings" pitchFamily="2" charset="2"/>
              <a:buChar char="q"/>
              <a:defRPr/>
            </a:pPr>
            <a:r>
              <a:rPr lang="en-US" sz="2800" b="0" dirty="0" smtClean="0">
                <a:solidFill>
                  <a:schemeClr val="tx1"/>
                </a:solidFill>
                <a:latin typeface="Arial" pitchFamily="34" charset="0"/>
                <a:cs typeface="Arial" pitchFamily="34" charset="0"/>
              </a:rPr>
              <a:t>  </a:t>
            </a:r>
            <a:r>
              <a:rPr lang="en-US" sz="2800" b="0" cap="none" dirty="0" smtClean="0">
                <a:solidFill>
                  <a:schemeClr val="tx1"/>
                </a:solidFill>
                <a:latin typeface="Arial" pitchFamily="34" charset="0"/>
                <a:cs typeface="Arial" pitchFamily="34" charset="0"/>
              </a:rPr>
              <a:t>APPLYING PROFESSIONALISM IN DAILY LIFE.</a:t>
            </a:r>
          </a:p>
          <a:p>
            <a:pPr algn="l"/>
            <a:endParaRPr lang="en-US" sz="2800" dirty="0">
              <a:latin typeface="Arial" pitchFamily="34" charset="0"/>
              <a:cs typeface="Arial" pitchFamily="34" charset="0"/>
            </a:endParaRPr>
          </a:p>
        </p:txBody>
      </p:sp>
      <p:sp>
        <p:nvSpPr>
          <p:cNvPr id="2" name="Title 1"/>
          <p:cNvSpPr>
            <a:spLocks noGrp="1"/>
          </p:cNvSpPr>
          <p:nvPr>
            <p:ph type="ctrTitle"/>
          </p:nvPr>
        </p:nvSpPr>
        <p:spPr>
          <a:xfrm>
            <a:off x="891540" y="381000"/>
            <a:ext cx="10104120" cy="1676400"/>
          </a:xfrm>
        </p:spPr>
        <p:txBody>
          <a:bodyPr>
            <a:normAutofit/>
          </a:bodyPr>
          <a:lstStyle/>
          <a:p>
            <a:r>
              <a:rPr lang="fr-FR" altLang="en-US" sz="4000" b="1" dirty="0" smtClean="0">
                <a:solidFill>
                  <a:srgbClr val="0070C0"/>
                </a:solidFill>
                <a:latin typeface="Arial" pitchFamily="34" charset="0"/>
                <a:cs typeface="Arial" pitchFamily="34" charset="0"/>
              </a:rPr>
              <a:t>Professional Practices</a:t>
            </a:r>
            <a:br>
              <a:rPr lang="fr-FR" altLang="en-US" sz="4000" b="1" dirty="0" smtClean="0">
                <a:solidFill>
                  <a:srgbClr val="0070C0"/>
                </a:solidFill>
                <a:latin typeface="Arial" pitchFamily="34" charset="0"/>
                <a:cs typeface="Arial" pitchFamily="34" charset="0"/>
              </a:rPr>
            </a:br>
            <a:r>
              <a:rPr lang="fr-FR" altLang="en-US" sz="3600" b="1" dirty="0" err="1" smtClean="0">
                <a:solidFill>
                  <a:srgbClr val="0070C0"/>
                </a:solidFill>
                <a:latin typeface="Arial" pitchFamily="34" charset="0"/>
                <a:cs typeface="Arial" pitchFamily="34" charset="0"/>
              </a:rPr>
              <a:t>Week</a:t>
            </a:r>
            <a:r>
              <a:rPr lang="fr-FR" altLang="en-US" sz="3600" b="1" dirty="0" smtClean="0">
                <a:solidFill>
                  <a:srgbClr val="0070C0"/>
                </a:solidFill>
                <a:latin typeface="Arial" pitchFamily="34" charset="0"/>
                <a:cs typeface="Arial" pitchFamily="34" charset="0"/>
              </a:rPr>
              <a:t> 1- Profession</a:t>
            </a:r>
            <a:endParaRPr lang="en-US" dirty="0">
              <a:solidFill>
                <a:srgbClr val="0070C0"/>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000" b="1" dirty="0" smtClean="0">
                <a:solidFill>
                  <a:srgbClr val="0070C0"/>
                </a:solidFill>
                <a:latin typeface="Arial" pitchFamily="34" charset="0"/>
                <a:cs typeface="Arial" pitchFamily="34" charset="0"/>
              </a:rPr>
              <a:t>Introduction</a:t>
            </a:r>
            <a:endParaRPr lang="en-US" sz="4000" b="1" dirty="0">
              <a:solidFill>
                <a:srgbClr val="0070C0"/>
              </a:solidFill>
              <a:latin typeface="Arial" pitchFamily="34" charset="0"/>
              <a:cs typeface="Arial" pitchFamily="34" charset="0"/>
            </a:endParaRPr>
          </a:p>
        </p:txBody>
      </p:sp>
      <p:sp>
        <p:nvSpPr>
          <p:cNvPr id="3" name="Content Placeholder 2"/>
          <p:cNvSpPr>
            <a:spLocks noGrp="1"/>
          </p:cNvSpPr>
          <p:nvPr>
            <p:ph sz="quarter" idx="1"/>
          </p:nvPr>
        </p:nvSpPr>
        <p:spPr/>
        <p:txBody>
          <a:bodyPr/>
          <a:lstStyle/>
          <a:p>
            <a:pPr>
              <a:buFont typeface="Wingdings" pitchFamily="2" charset="2"/>
              <a:buChar char="q"/>
              <a:defRPr/>
            </a:pPr>
            <a:r>
              <a:rPr lang="en-US" b="1" dirty="0" smtClean="0">
                <a:solidFill>
                  <a:srgbClr val="0070C0"/>
                </a:solidFill>
                <a:latin typeface="Arial" pitchFamily="34" charset="0"/>
                <a:cs typeface="Arial" pitchFamily="34" charset="0"/>
              </a:rPr>
              <a:t> </a:t>
            </a:r>
            <a:r>
              <a:rPr lang="en-US" b="1" u="sng" dirty="0" smtClean="0">
                <a:solidFill>
                  <a:srgbClr val="0070C0"/>
                </a:solidFill>
                <a:latin typeface="Arial" pitchFamily="34" charset="0"/>
                <a:cs typeface="Arial" pitchFamily="34" charset="0"/>
              </a:rPr>
              <a:t>Profession</a:t>
            </a:r>
            <a:r>
              <a:rPr lang="en-US" dirty="0" smtClean="0">
                <a:solidFill>
                  <a:srgbClr val="0070C0"/>
                </a:solidFill>
                <a:latin typeface="Arial" pitchFamily="34" charset="0"/>
                <a:cs typeface="Arial" pitchFamily="34" charset="0"/>
              </a:rPr>
              <a:t>:</a:t>
            </a:r>
            <a:r>
              <a:rPr lang="en-US" dirty="0" smtClean="0">
                <a:latin typeface="Arial" pitchFamily="34" charset="0"/>
                <a:cs typeface="Arial" pitchFamily="34" charset="0"/>
              </a:rPr>
              <a:t>  </a:t>
            </a:r>
            <a:r>
              <a:rPr lang="en-US" sz="2800" dirty="0" smtClean="0">
                <a:latin typeface="Arial" pitchFamily="34" charset="0"/>
                <a:cs typeface="Arial" pitchFamily="34" charset="0"/>
              </a:rPr>
              <a:t>A paid occupation, especially  one   that  involves prolonged training and a formal qualification.</a:t>
            </a:r>
            <a:br>
              <a:rPr lang="en-US" sz="2800" dirty="0" smtClean="0">
                <a:latin typeface="Arial" pitchFamily="34" charset="0"/>
                <a:cs typeface="Arial" pitchFamily="34" charset="0"/>
              </a:rPr>
            </a:br>
            <a:endParaRPr lang="en-US" sz="2800" dirty="0" smtClean="0">
              <a:latin typeface="Arial" pitchFamily="34" charset="0"/>
              <a:cs typeface="Arial" pitchFamily="34" charset="0"/>
            </a:endParaRPr>
          </a:p>
          <a:p>
            <a:pPr>
              <a:buFont typeface="Wingdings" pitchFamily="2" charset="2"/>
              <a:buChar char="q"/>
              <a:defRPr/>
            </a:pPr>
            <a:r>
              <a:rPr lang="en-US" sz="2800" b="1" dirty="0" smtClean="0">
                <a:solidFill>
                  <a:srgbClr val="0070C0"/>
                </a:solidFill>
                <a:latin typeface="Arial" pitchFamily="34" charset="0"/>
                <a:cs typeface="Arial" pitchFamily="34" charset="0"/>
              </a:rPr>
              <a:t> </a:t>
            </a:r>
            <a:r>
              <a:rPr lang="en-US" sz="2800" b="1" u="sng" dirty="0" smtClean="0">
                <a:solidFill>
                  <a:srgbClr val="0070C0"/>
                </a:solidFill>
                <a:latin typeface="Arial" pitchFamily="34" charset="0"/>
                <a:cs typeface="Arial" pitchFamily="34" charset="0"/>
              </a:rPr>
              <a:t>Professional</a:t>
            </a:r>
            <a:r>
              <a:rPr lang="en-US" sz="2800" dirty="0" smtClean="0">
                <a:latin typeface="Arial" pitchFamily="34" charset="0"/>
                <a:cs typeface="Arial" pitchFamily="34" charset="0"/>
              </a:rPr>
              <a:t>: A  professional is  a member  of  a  profession or </a:t>
            </a:r>
            <a:br>
              <a:rPr lang="en-US" sz="2800" dirty="0" smtClean="0">
                <a:latin typeface="Arial" pitchFamily="34" charset="0"/>
                <a:cs typeface="Arial" pitchFamily="34" charset="0"/>
              </a:rPr>
            </a:br>
            <a:r>
              <a:rPr lang="en-US" sz="2800" dirty="0" smtClean="0">
                <a:latin typeface="Arial" pitchFamily="34" charset="0"/>
                <a:cs typeface="Arial" pitchFamily="34" charset="0"/>
              </a:rPr>
              <a:t>any  person who earns their living from a specified  professional activity. The term also describes the standards of education and training   that   prepare   members   of   the  profession  with the </a:t>
            </a:r>
            <a:br>
              <a:rPr lang="en-US" sz="2800" dirty="0" smtClean="0">
                <a:latin typeface="Arial" pitchFamily="34" charset="0"/>
                <a:cs typeface="Arial" pitchFamily="34" charset="0"/>
              </a:rPr>
            </a:br>
            <a:r>
              <a:rPr lang="en-US" sz="2800" dirty="0" smtClean="0">
                <a:latin typeface="Arial" pitchFamily="34" charset="0"/>
                <a:cs typeface="Arial" pitchFamily="34" charset="0"/>
              </a:rPr>
              <a:t>particular  knowledge   and   skills   necessary  to  perform  their </a:t>
            </a:r>
            <a:br>
              <a:rPr lang="en-US" sz="2800" dirty="0" smtClean="0">
                <a:latin typeface="Arial" pitchFamily="34" charset="0"/>
                <a:cs typeface="Arial" pitchFamily="34" charset="0"/>
              </a:rPr>
            </a:br>
            <a:r>
              <a:rPr lang="en-US" sz="2800" dirty="0" smtClean="0">
                <a:latin typeface="Arial" pitchFamily="34" charset="0"/>
                <a:cs typeface="Arial" pitchFamily="34" charset="0"/>
              </a:rPr>
              <a:t>specific role within that profession.</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000" b="1" dirty="0" smtClean="0">
                <a:solidFill>
                  <a:srgbClr val="0070C0"/>
                </a:solidFill>
                <a:latin typeface="Arial" pitchFamily="34" charset="0"/>
                <a:cs typeface="Arial" pitchFamily="34" charset="0"/>
              </a:rPr>
              <a:t>Professional Responsibilities</a:t>
            </a:r>
            <a:endParaRPr lang="en-US" sz="4000" b="1" dirty="0">
              <a:solidFill>
                <a:srgbClr val="0070C0"/>
              </a:solidFill>
              <a:latin typeface="Arial" pitchFamily="34" charset="0"/>
              <a:cs typeface="Arial" pitchFamily="34" charset="0"/>
            </a:endParaRPr>
          </a:p>
        </p:txBody>
      </p:sp>
      <p:sp>
        <p:nvSpPr>
          <p:cNvPr id="3" name="Content Placeholder 2"/>
          <p:cNvSpPr>
            <a:spLocks noGrp="1"/>
          </p:cNvSpPr>
          <p:nvPr>
            <p:ph sz="quarter" idx="1"/>
          </p:nvPr>
        </p:nvSpPr>
        <p:spPr/>
        <p:txBody>
          <a:bodyPr/>
          <a:lstStyle/>
          <a:p>
            <a:pPr>
              <a:buNone/>
              <a:defRPr/>
            </a:pPr>
            <a:endParaRPr lang="en-US" sz="2800" dirty="0" smtClean="0">
              <a:latin typeface="Arial" pitchFamily="34" charset="0"/>
              <a:cs typeface="Arial" pitchFamily="34" charset="0"/>
            </a:endParaRPr>
          </a:p>
          <a:p>
            <a:pPr>
              <a:buFont typeface="Wingdings" pitchFamily="2" charset="2"/>
              <a:buChar char="q"/>
              <a:defRPr/>
            </a:pPr>
            <a:r>
              <a:rPr lang="en-US" sz="2800" dirty="0" smtClean="0">
                <a:latin typeface="Arial" pitchFamily="34" charset="0"/>
                <a:cs typeface="Arial" pitchFamily="34" charset="0"/>
              </a:rPr>
              <a:t>Talking   about   Information Technology,  Computer  Science   and   Software Engineering, the responsibilities of working professionals in this area include network administration,  software  development and installation , and the planning and management of a  company or  organization's  technology  life   cycle, by  which  hardware  and software is maintained, upgraded and replaced.</a:t>
            </a:r>
          </a:p>
          <a:p>
            <a:pPr algn="just">
              <a:buNone/>
              <a:defRPr/>
            </a:pPr>
            <a:endParaRPr lang="en-US" sz="2800" dirty="0" smtClean="0">
              <a:latin typeface="Arial" pitchFamily="34" charset="0"/>
              <a:cs typeface="Arial" pitchFamily="34" charset="0"/>
            </a:endParaRPr>
          </a:p>
          <a:p>
            <a:pPr>
              <a:buNone/>
              <a:defRPr/>
            </a:pPr>
            <a:endParaRPr lang="en-US" dirty="0" smtClean="0"/>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277" y="76200"/>
            <a:ext cx="11094720" cy="1295400"/>
          </a:xfrm>
        </p:spPr>
        <p:txBody>
          <a:bodyPr>
            <a:noAutofit/>
          </a:bodyPr>
          <a:lstStyle/>
          <a:p>
            <a:r>
              <a:rPr lang="en-US" altLang="en-US" sz="4000" b="1" dirty="0" smtClean="0">
                <a:solidFill>
                  <a:srgbClr val="0070C0"/>
                </a:solidFill>
                <a:latin typeface="Arial" pitchFamily="34" charset="0"/>
                <a:cs typeface="Arial" pitchFamily="34" charset="0"/>
              </a:rPr>
              <a:t>According to Engineering Council an Engineer must know</a:t>
            </a:r>
            <a:endParaRPr lang="en-US" sz="4000" b="1" dirty="0">
              <a:solidFill>
                <a:srgbClr val="0070C0"/>
              </a:solidFill>
              <a:latin typeface="Arial" pitchFamily="34" charset="0"/>
              <a:cs typeface="Arial" pitchFamily="34" charset="0"/>
            </a:endParaRPr>
          </a:p>
        </p:txBody>
      </p:sp>
      <p:sp>
        <p:nvSpPr>
          <p:cNvPr id="3" name="Content Placeholder 2"/>
          <p:cNvSpPr>
            <a:spLocks noGrp="1"/>
          </p:cNvSpPr>
          <p:nvPr>
            <p:ph sz="quarter" idx="1"/>
          </p:nvPr>
        </p:nvSpPr>
        <p:spPr/>
        <p:txBody>
          <a:bodyPr>
            <a:normAutofit/>
          </a:bodyPr>
          <a:lstStyle/>
          <a:p>
            <a:pPr>
              <a:buFont typeface="Wingdings" pitchFamily="2" charset="2"/>
              <a:buChar char="q"/>
            </a:pPr>
            <a:endParaRPr lang="en-US" sz="2800" dirty="0" smtClean="0">
              <a:latin typeface="Arial" pitchFamily="34" charset="0"/>
              <a:cs typeface="Arial" pitchFamily="34" charset="0"/>
            </a:endParaRPr>
          </a:p>
          <a:p>
            <a:pPr>
              <a:buFont typeface="Wingdings" pitchFamily="2" charset="2"/>
              <a:buChar char="q"/>
            </a:pPr>
            <a:r>
              <a:rPr lang="en-US" sz="2800" dirty="0" smtClean="0">
                <a:latin typeface="Arial" pitchFamily="34" charset="0"/>
                <a:cs typeface="Arial" pitchFamily="34" charset="0"/>
              </a:rPr>
              <a:t>Apart    from   technical   knowledge   and    decision   making. </a:t>
            </a:r>
          </a:p>
          <a:p>
            <a:pPr>
              <a:buFont typeface="Wingdings" pitchFamily="2" charset="2"/>
              <a:buChar char="q"/>
            </a:pPr>
            <a:r>
              <a:rPr lang="en-US" sz="2800" dirty="0" smtClean="0">
                <a:latin typeface="Arial" pitchFamily="34" charset="0"/>
                <a:cs typeface="Arial" pitchFamily="34" charset="0"/>
              </a:rPr>
              <a:t>Knowledge of government legislation affecting work,e.g.safety, health,  environmental  requirements, an  understanding of the principles   of   management   and   industrial  relations,  some knowledge  of  trade unions and their organization,  engineer’s responsibility  to  the  profession,  </a:t>
            </a:r>
            <a:r>
              <a:rPr lang="en-US" sz="2800" smtClean="0">
                <a:latin typeface="Arial" pitchFamily="34" charset="0"/>
                <a:cs typeface="Arial" pitchFamily="34" charset="0"/>
              </a:rPr>
              <a:t>to </a:t>
            </a:r>
            <a:r>
              <a:rPr lang="en-US" sz="2800" smtClean="0">
                <a:latin typeface="Arial" pitchFamily="34" charset="0"/>
                <a:cs typeface="Arial" pitchFamily="34" charset="0"/>
              </a:rPr>
              <a:t> the community </a:t>
            </a:r>
            <a:r>
              <a:rPr lang="en-US" sz="2800" dirty="0" smtClean="0">
                <a:latin typeface="Arial" pitchFamily="34" charset="0"/>
                <a:cs typeface="Arial" pitchFamily="34" charset="0"/>
              </a:rPr>
              <a:t>and to the environment.</a:t>
            </a:r>
          </a:p>
          <a:p>
            <a:pPr>
              <a:buFont typeface="Wingdings" pitchFamily="2" charset="2"/>
              <a:buChar char="q"/>
            </a:pPr>
            <a:r>
              <a:rPr lang="en-US" sz="2800" dirty="0" smtClean="0">
                <a:latin typeface="Arial" pitchFamily="34" charset="0"/>
                <a:cs typeface="Arial" pitchFamily="34" charset="0"/>
              </a:rPr>
              <a:t>Knowledge of income tax , </a:t>
            </a:r>
            <a:r>
              <a:rPr lang="en-US" sz="2800" dirty="0" smtClean="0">
                <a:latin typeface="Arial" pitchFamily="34" charset="0"/>
                <a:cs typeface="Arial" pitchFamily="34" charset="0"/>
              </a:rPr>
              <a:t>sales </a:t>
            </a:r>
            <a:r>
              <a:rPr lang="en-US" sz="2800" dirty="0" smtClean="0">
                <a:latin typeface="Arial" pitchFamily="34" charset="0"/>
                <a:cs typeface="Arial" pitchFamily="34" charset="0"/>
              </a:rPr>
              <a:t>tax</a:t>
            </a:r>
            <a:r>
              <a:rPr lang="en-US" sz="2800" dirty="0" smtClean="0">
                <a:latin typeface="Arial" pitchFamily="34" charset="0"/>
                <a:cs typeface="Arial" pitchFamily="34" charset="0"/>
              </a:rPr>
              <a:t>,  </a:t>
            </a:r>
            <a:r>
              <a:rPr lang="en-US" sz="2800" dirty="0" smtClean="0">
                <a:latin typeface="Arial" pitchFamily="34" charset="0"/>
                <a:cs typeface="Arial" pitchFamily="34" charset="0"/>
              </a:rPr>
              <a:t>property </a:t>
            </a:r>
            <a:r>
              <a:rPr lang="en-US" sz="2800" dirty="0" smtClean="0">
                <a:latin typeface="Arial" pitchFamily="34" charset="0"/>
                <a:cs typeface="Arial" pitchFamily="34" charset="0"/>
              </a:rPr>
              <a:t>tax.</a:t>
            </a:r>
          </a:p>
          <a:p>
            <a:endParaRPr lang="en-US" sz="28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000" b="1" dirty="0" smtClean="0">
                <a:solidFill>
                  <a:srgbClr val="0070C0"/>
                </a:solidFill>
                <a:latin typeface="Arial" pitchFamily="34" charset="0"/>
                <a:cs typeface="Arial" pitchFamily="34" charset="0"/>
              </a:rPr>
              <a:t>The Professionalism</a:t>
            </a:r>
            <a:endParaRPr lang="en-US" sz="4000" b="1" dirty="0">
              <a:solidFill>
                <a:srgbClr val="0070C0"/>
              </a:solidFill>
              <a:latin typeface="Arial" pitchFamily="34" charset="0"/>
              <a:cs typeface="Arial" pitchFamily="34" charset="0"/>
            </a:endParaRPr>
          </a:p>
        </p:txBody>
      </p:sp>
      <p:sp>
        <p:nvSpPr>
          <p:cNvPr id="3" name="Content Placeholder 2"/>
          <p:cNvSpPr>
            <a:spLocks noGrp="1"/>
          </p:cNvSpPr>
          <p:nvPr>
            <p:ph sz="quarter" idx="1"/>
          </p:nvPr>
        </p:nvSpPr>
        <p:spPr>
          <a:xfrm>
            <a:off x="392277" y="1527048"/>
            <a:ext cx="11055096" cy="4797552"/>
          </a:xfrm>
        </p:spPr>
        <p:txBody>
          <a:bodyPr>
            <a:normAutofit fontScale="92500" lnSpcReduction="10000"/>
          </a:bodyPr>
          <a:lstStyle/>
          <a:p>
            <a:pPr>
              <a:buFont typeface="Wingdings" pitchFamily="2" charset="2"/>
              <a:buChar char="q"/>
              <a:defRPr/>
            </a:pPr>
            <a:r>
              <a:rPr lang="en-US" sz="4000" dirty="0" smtClean="0">
                <a:latin typeface="Arial" pitchFamily="34" charset="0"/>
                <a:cs typeface="Arial" pitchFamily="34" charset="0"/>
              </a:rPr>
              <a:t>  </a:t>
            </a:r>
            <a:r>
              <a:rPr lang="en-US" sz="2800" dirty="0" smtClean="0">
                <a:latin typeface="Arial" pitchFamily="34" charset="0"/>
                <a:cs typeface="Arial" pitchFamily="34" charset="0"/>
              </a:rPr>
              <a:t>A  profession  is not  just  what  you  do,   it  is  who  you  are.</a:t>
            </a:r>
          </a:p>
          <a:p>
            <a:pPr>
              <a:buFont typeface="Wingdings" pitchFamily="2" charset="2"/>
              <a:buChar char="q"/>
              <a:defRPr/>
            </a:pPr>
            <a:r>
              <a:rPr lang="en-US" sz="4000" dirty="0" smtClean="0">
                <a:latin typeface="Arial" pitchFamily="34" charset="0"/>
                <a:cs typeface="Arial" pitchFamily="34" charset="0"/>
              </a:rPr>
              <a:t>  </a:t>
            </a:r>
            <a:r>
              <a:rPr lang="en-US" sz="2800" dirty="0" smtClean="0">
                <a:latin typeface="Arial" pitchFamily="34" charset="0"/>
                <a:cs typeface="Arial" pitchFamily="34" charset="0"/>
              </a:rPr>
              <a:t>Professionalism is a way of thinking, behaving and appearing</a:t>
            </a:r>
            <a:br>
              <a:rPr lang="en-US" sz="2800" dirty="0" smtClean="0">
                <a:latin typeface="Arial" pitchFamily="34" charset="0"/>
                <a:cs typeface="Arial" pitchFamily="34" charset="0"/>
              </a:rPr>
            </a:br>
            <a:r>
              <a:rPr lang="en-US" sz="2800" dirty="0" smtClean="0">
                <a:latin typeface="Arial" pitchFamily="34" charset="0"/>
                <a:cs typeface="Arial" pitchFamily="34" charset="0"/>
              </a:rPr>
              <a:t>   that   demonstrates  a   commitment   to  excellence    and  all </a:t>
            </a:r>
            <a:br>
              <a:rPr lang="en-US" sz="2800" dirty="0" smtClean="0">
                <a:latin typeface="Arial" pitchFamily="34" charset="0"/>
                <a:cs typeface="Arial" pitchFamily="34" charset="0"/>
              </a:rPr>
            </a:br>
            <a:r>
              <a:rPr lang="en-US" sz="2800" dirty="0" smtClean="0">
                <a:latin typeface="Arial" pitchFamily="34" charset="0"/>
                <a:cs typeface="Arial" pitchFamily="34" charset="0"/>
              </a:rPr>
              <a:t>   aspects  of  one’s  work. It encompasses a  range of qualities,</a:t>
            </a:r>
            <a:br>
              <a:rPr lang="en-US" sz="2800" dirty="0" smtClean="0">
                <a:latin typeface="Arial" pitchFamily="34" charset="0"/>
                <a:cs typeface="Arial" pitchFamily="34" charset="0"/>
              </a:rPr>
            </a:br>
            <a:r>
              <a:rPr lang="en-US" sz="2800" dirty="0" smtClean="0">
                <a:latin typeface="Arial" pitchFamily="34" charset="0"/>
                <a:cs typeface="Arial" pitchFamily="34" charset="0"/>
              </a:rPr>
              <a:t>   including    a   positive   attitude,   being   coachable,    taking</a:t>
            </a:r>
            <a:br>
              <a:rPr lang="en-US" sz="2800" dirty="0" smtClean="0">
                <a:latin typeface="Arial" pitchFamily="34" charset="0"/>
                <a:cs typeface="Arial" pitchFamily="34" charset="0"/>
              </a:rPr>
            </a:br>
            <a:r>
              <a:rPr lang="en-US" sz="2800" dirty="0" smtClean="0">
                <a:latin typeface="Arial" pitchFamily="34" charset="0"/>
                <a:cs typeface="Arial" pitchFamily="34" charset="0"/>
              </a:rPr>
              <a:t>   responsibility for one’s action.</a:t>
            </a:r>
            <a:br>
              <a:rPr lang="en-US" sz="2800" dirty="0" smtClean="0">
                <a:latin typeface="Arial" pitchFamily="34" charset="0"/>
                <a:cs typeface="Arial" pitchFamily="34" charset="0"/>
              </a:rPr>
            </a:br>
            <a:endParaRPr lang="en-US" sz="2800" dirty="0" smtClean="0">
              <a:latin typeface="Arial" pitchFamily="34" charset="0"/>
              <a:cs typeface="Arial" pitchFamily="34" charset="0"/>
            </a:endParaRPr>
          </a:p>
          <a:p>
            <a:pPr>
              <a:buFont typeface="Wingdings" pitchFamily="2" charset="2"/>
              <a:buChar char="q"/>
              <a:defRPr/>
            </a:pPr>
            <a:r>
              <a:rPr lang="en-US" sz="2800" dirty="0" smtClean="0">
                <a:latin typeface="Arial" pitchFamily="34" charset="0"/>
                <a:cs typeface="Arial" pitchFamily="34" charset="0"/>
              </a:rPr>
              <a:t>  It’s  very  crucial to have them and display them for junior and </a:t>
            </a:r>
            <a:br>
              <a:rPr lang="en-US" sz="2800" dirty="0" smtClean="0">
                <a:latin typeface="Arial" pitchFamily="34" charset="0"/>
                <a:cs typeface="Arial" pitchFamily="34" charset="0"/>
              </a:rPr>
            </a:br>
            <a:r>
              <a:rPr lang="en-US" sz="2800" dirty="0" smtClean="0">
                <a:latin typeface="Arial" pitchFamily="34" charset="0"/>
                <a:cs typeface="Arial" pitchFamily="34" charset="0"/>
              </a:rPr>
              <a:t>  seniors  both  but  especially  for  juniors and startups its  very </a:t>
            </a:r>
            <a:br>
              <a:rPr lang="en-US" sz="2800" dirty="0" smtClean="0">
                <a:latin typeface="Arial" pitchFamily="34" charset="0"/>
                <a:cs typeface="Arial" pitchFamily="34" charset="0"/>
              </a:rPr>
            </a:br>
            <a:r>
              <a:rPr lang="en-US" sz="2800" dirty="0" smtClean="0">
                <a:latin typeface="Arial" pitchFamily="34" charset="0"/>
                <a:cs typeface="Arial" pitchFamily="34" charset="0"/>
              </a:rPr>
              <a:t>  crucial.</a:t>
            </a:r>
            <a:br>
              <a:rPr lang="en-US" sz="2800" dirty="0" smtClean="0">
                <a:latin typeface="Arial" pitchFamily="34" charset="0"/>
                <a:cs typeface="Arial" pitchFamily="34" charset="0"/>
              </a:rPr>
            </a:br>
            <a:r>
              <a:rPr lang="en-US" sz="2800" dirty="0" smtClean="0">
                <a:latin typeface="Arial" pitchFamily="34" charset="0"/>
                <a:cs typeface="Arial" pitchFamily="34" charset="0"/>
              </a:rPr>
              <a:t>   </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000" b="1" dirty="0" smtClean="0">
                <a:solidFill>
                  <a:srgbClr val="0070C0"/>
                </a:solidFill>
                <a:latin typeface="Arial" pitchFamily="34" charset="0"/>
                <a:cs typeface="Arial" pitchFamily="34" charset="0"/>
              </a:rPr>
              <a:t>Characteristics of a Profession</a:t>
            </a:r>
            <a:endParaRPr lang="en-US" sz="4000" b="1" dirty="0">
              <a:solidFill>
                <a:srgbClr val="0070C0"/>
              </a:solidFill>
              <a:latin typeface="Arial" pitchFamily="34" charset="0"/>
              <a:cs typeface="Arial" pitchFamily="34" charset="0"/>
            </a:endParaRPr>
          </a:p>
        </p:txBody>
      </p:sp>
      <p:sp>
        <p:nvSpPr>
          <p:cNvPr id="3" name="Content Placeholder 2"/>
          <p:cNvSpPr>
            <a:spLocks noGrp="1"/>
          </p:cNvSpPr>
          <p:nvPr>
            <p:ph sz="quarter" idx="1"/>
          </p:nvPr>
        </p:nvSpPr>
        <p:spPr/>
        <p:txBody>
          <a:bodyPr>
            <a:normAutofit/>
          </a:bodyPr>
          <a:lstStyle/>
          <a:p>
            <a:pPr marL="0" indent="0">
              <a:buFont typeface="Wingdings" panose="05000000000000000000" pitchFamily="2" charset="2"/>
              <a:buNone/>
            </a:pPr>
            <a:r>
              <a:rPr lang="en-US" altLang="en-US" sz="2800" dirty="0" smtClean="0">
                <a:solidFill>
                  <a:srgbClr val="0D0D0D"/>
                </a:solidFill>
                <a:latin typeface="Arial" pitchFamily="34" charset="0"/>
                <a:cs typeface="Arial" pitchFamily="34" charset="0"/>
              </a:rPr>
              <a:t>     </a:t>
            </a:r>
            <a:br>
              <a:rPr lang="en-US" altLang="en-US" sz="2800" dirty="0" smtClean="0">
                <a:solidFill>
                  <a:srgbClr val="0D0D0D"/>
                </a:solidFill>
                <a:latin typeface="Arial" pitchFamily="34" charset="0"/>
                <a:cs typeface="Arial" pitchFamily="34" charset="0"/>
              </a:rPr>
            </a:br>
            <a:r>
              <a:rPr lang="en-US" altLang="en-US" sz="2800" dirty="0" smtClean="0">
                <a:solidFill>
                  <a:srgbClr val="0D0D0D"/>
                </a:solidFill>
                <a:latin typeface="Arial" pitchFamily="34" charset="0"/>
                <a:cs typeface="Arial" pitchFamily="34" charset="0"/>
              </a:rPr>
              <a:t>     Four Traits (Characteristics) of Profession :-</a:t>
            </a:r>
            <a:br>
              <a:rPr lang="en-US" altLang="en-US" sz="2800" dirty="0" smtClean="0">
                <a:solidFill>
                  <a:srgbClr val="0D0D0D"/>
                </a:solidFill>
                <a:latin typeface="Arial" pitchFamily="34" charset="0"/>
                <a:cs typeface="Arial" pitchFamily="34" charset="0"/>
              </a:rPr>
            </a:br>
            <a:endParaRPr lang="en-US" altLang="en-US" sz="2800" dirty="0" smtClean="0">
              <a:solidFill>
                <a:srgbClr val="0D0D0D"/>
              </a:solidFill>
              <a:latin typeface="Arial" pitchFamily="34" charset="0"/>
              <a:cs typeface="Arial" pitchFamily="34" charset="0"/>
            </a:endParaRPr>
          </a:p>
          <a:p>
            <a:pPr marL="914400" lvl="1" indent="-457200">
              <a:buFontTx/>
              <a:buAutoNum type="arabicPeriod"/>
            </a:pPr>
            <a:r>
              <a:rPr lang="en-US" altLang="en-US" sz="2800" dirty="0" smtClean="0">
                <a:solidFill>
                  <a:srgbClr val="0D0D0D"/>
                </a:solidFill>
                <a:latin typeface="Arial" pitchFamily="34" charset="0"/>
                <a:cs typeface="Arial" pitchFamily="34" charset="0"/>
              </a:rPr>
              <a:t>Different activities requiring special skills</a:t>
            </a:r>
          </a:p>
          <a:p>
            <a:pPr marL="914400" lvl="1" indent="-457200">
              <a:buFontTx/>
              <a:buAutoNum type="arabicPeriod"/>
            </a:pPr>
            <a:r>
              <a:rPr lang="en-US" altLang="en-US" sz="2800" dirty="0" smtClean="0">
                <a:solidFill>
                  <a:srgbClr val="0D0D0D"/>
                </a:solidFill>
                <a:latin typeface="Arial" pitchFamily="34" charset="0"/>
                <a:cs typeface="Arial" pitchFamily="34" charset="0"/>
              </a:rPr>
              <a:t>Society-centric motivation</a:t>
            </a:r>
          </a:p>
          <a:p>
            <a:pPr marL="914400" lvl="1" indent="-457200">
              <a:buFontTx/>
              <a:buAutoNum type="arabicPeriod"/>
            </a:pPr>
            <a:r>
              <a:rPr lang="en-US" altLang="en-US" sz="2800" dirty="0" smtClean="0">
                <a:solidFill>
                  <a:srgbClr val="0D0D0D"/>
                </a:solidFill>
                <a:latin typeface="Arial" pitchFamily="34" charset="0"/>
                <a:cs typeface="Arial" pitchFamily="34" charset="0"/>
              </a:rPr>
              <a:t>Personal standards of excellence</a:t>
            </a:r>
          </a:p>
          <a:p>
            <a:pPr marL="914400" lvl="1" indent="-457200">
              <a:buFontTx/>
              <a:buAutoNum type="arabicPeriod"/>
            </a:pPr>
            <a:r>
              <a:rPr lang="en-US" altLang="en-US" sz="2800" dirty="0" smtClean="0">
                <a:solidFill>
                  <a:srgbClr val="0D0D0D"/>
                </a:solidFill>
                <a:latin typeface="Arial" pitchFamily="34" charset="0"/>
                <a:cs typeface="Arial" pitchFamily="34" charset="0"/>
              </a:rPr>
              <a:t>Giving back to society</a:t>
            </a:r>
          </a:p>
          <a:p>
            <a:endParaRPr lang="en-US" sz="28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000" b="1" dirty="0" smtClean="0">
                <a:solidFill>
                  <a:srgbClr val="0070C0"/>
                </a:solidFill>
                <a:latin typeface="Arial" pitchFamily="34" charset="0"/>
                <a:cs typeface="Arial" pitchFamily="34" charset="0"/>
              </a:rPr>
              <a:t>Traits of a Profession (Continues)</a:t>
            </a:r>
            <a:endParaRPr lang="en-US" sz="4000" b="1" dirty="0">
              <a:solidFill>
                <a:srgbClr val="0070C0"/>
              </a:solidFill>
              <a:latin typeface="Arial" pitchFamily="34" charset="0"/>
              <a:cs typeface="Arial" pitchFamily="34" charset="0"/>
            </a:endParaRPr>
          </a:p>
        </p:txBody>
      </p:sp>
      <p:sp>
        <p:nvSpPr>
          <p:cNvPr id="3" name="Content Placeholder 2"/>
          <p:cNvSpPr>
            <a:spLocks noGrp="1"/>
          </p:cNvSpPr>
          <p:nvPr>
            <p:ph sz="quarter" idx="1"/>
          </p:nvPr>
        </p:nvSpPr>
        <p:spPr>
          <a:xfrm>
            <a:off x="392276" y="1527048"/>
            <a:ext cx="11190123" cy="4572000"/>
          </a:xfrm>
        </p:spPr>
        <p:txBody>
          <a:bodyPr/>
          <a:lstStyle/>
          <a:p>
            <a:pPr marL="0" lvl="1" indent="0">
              <a:buFont typeface="Wingdings" panose="05000000000000000000" pitchFamily="2" charset="2"/>
              <a:buNone/>
              <a:defRPr/>
            </a:pPr>
            <a:r>
              <a:rPr lang="en-US" sz="2800" dirty="0" smtClean="0">
                <a:solidFill>
                  <a:schemeClr val="tx1">
                    <a:lumMod val="75000"/>
                    <a:lumOff val="25000"/>
                  </a:schemeClr>
                </a:solidFill>
                <a:latin typeface="Arial" pitchFamily="34" charset="0"/>
                <a:cs typeface="Arial" pitchFamily="34" charset="0"/>
              </a:rPr>
              <a:t>1. </a:t>
            </a:r>
            <a:r>
              <a:rPr lang="en-US" sz="2800" u="sng" dirty="0" smtClean="0">
                <a:solidFill>
                  <a:srgbClr val="0D0D0D"/>
                </a:solidFill>
                <a:latin typeface="Arial" pitchFamily="34" charset="0"/>
                <a:cs typeface="Arial" pitchFamily="34" charset="0"/>
              </a:rPr>
              <a:t>Different activities requiring special skills</a:t>
            </a:r>
            <a:r>
              <a:rPr lang="en-US" sz="2800" dirty="0" smtClean="0">
                <a:solidFill>
                  <a:srgbClr val="0D0D0D"/>
                </a:solidFill>
                <a:latin typeface="Arial" pitchFamily="34" charset="0"/>
                <a:cs typeface="Arial" pitchFamily="34" charset="0"/>
              </a:rPr>
              <a:t> :-</a:t>
            </a:r>
            <a:r>
              <a:rPr lang="en-US" sz="2800" u="sng" dirty="0" smtClean="0">
                <a:solidFill>
                  <a:srgbClr val="0D0D0D"/>
                </a:solidFill>
                <a:latin typeface="Arial" pitchFamily="34" charset="0"/>
                <a:cs typeface="Arial" pitchFamily="34" charset="0"/>
              </a:rPr>
              <a:t/>
            </a:r>
            <a:br>
              <a:rPr lang="en-US" sz="2800" u="sng" dirty="0" smtClean="0">
                <a:solidFill>
                  <a:srgbClr val="0D0D0D"/>
                </a:solidFill>
                <a:latin typeface="Arial" pitchFamily="34" charset="0"/>
                <a:cs typeface="Arial" pitchFamily="34" charset="0"/>
              </a:rPr>
            </a:br>
            <a:r>
              <a:rPr lang="en-US" sz="2800" dirty="0" smtClean="0">
                <a:solidFill>
                  <a:srgbClr val="0D0D0D"/>
                </a:solidFill>
                <a:latin typeface="Arial" pitchFamily="34" charset="0"/>
                <a:cs typeface="Arial" pitchFamily="34" charset="0"/>
              </a:rPr>
              <a:t>    e.g. computer programmers have  different  skills than electrical </a:t>
            </a:r>
            <a:br>
              <a:rPr lang="en-US" sz="2800" dirty="0" smtClean="0">
                <a:solidFill>
                  <a:srgbClr val="0D0D0D"/>
                </a:solidFill>
                <a:latin typeface="Arial" pitchFamily="34" charset="0"/>
                <a:cs typeface="Arial" pitchFamily="34" charset="0"/>
              </a:rPr>
            </a:br>
            <a:r>
              <a:rPr lang="en-US" sz="2800" dirty="0" smtClean="0">
                <a:solidFill>
                  <a:srgbClr val="0D0D0D"/>
                </a:solidFill>
                <a:latin typeface="Arial" pitchFamily="34" charset="0"/>
                <a:cs typeface="Arial" pitchFamily="34" charset="0"/>
              </a:rPr>
              <a:t>    engineers,  so  every  profession  have own skills and expertise.</a:t>
            </a:r>
            <a:br>
              <a:rPr lang="en-US" sz="2800" dirty="0" smtClean="0">
                <a:solidFill>
                  <a:srgbClr val="0D0D0D"/>
                </a:solidFill>
                <a:latin typeface="Arial" pitchFamily="34" charset="0"/>
                <a:cs typeface="Arial" pitchFamily="34" charset="0"/>
              </a:rPr>
            </a:br>
            <a:endParaRPr lang="en-US" sz="2800" dirty="0" smtClean="0">
              <a:solidFill>
                <a:srgbClr val="0D0D0D"/>
              </a:solidFill>
              <a:latin typeface="Arial" pitchFamily="34" charset="0"/>
              <a:cs typeface="Arial" pitchFamily="34" charset="0"/>
            </a:endParaRPr>
          </a:p>
          <a:p>
            <a:pPr marL="0" lvl="1" indent="0">
              <a:buFont typeface="Wingdings" panose="05000000000000000000" pitchFamily="2" charset="2"/>
              <a:buNone/>
              <a:defRPr/>
            </a:pPr>
            <a:r>
              <a:rPr lang="en-US" sz="2800" dirty="0" smtClean="0">
                <a:solidFill>
                  <a:schemeClr val="tx1">
                    <a:lumMod val="75000"/>
                    <a:lumOff val="25000"/>
                  </a:schemeClr>
                </a:solidFill>
                <a:latin typeface="Arial" pitchFamily="34" charset="0"/>
                <a:cs typeface="Arial" pitchFamily="34" charset="0"/>
              </a:rPr>
              <a:t>2. </a:t>
            </a:r>
            <a:r>
              <a:rPr lang="en-US" sz="2800" u="sng" dirty="0" smtClean="0">
                <a:solidFill>
                  <a:srgbClr val="0D0D0D"/>
                </a:solidFill>
                <a:latin typeface="Arial" pitchFamily="34" charset="0"/>
                <a:cs typeface="Arial" pitchFamily="34" charset="0"/>
              </a:rPr>
              <a:t>Society-centric motivation</a:t>
            </a:r>
            <a:r>
              <a:rPr lang="en-US" sz="2800" dirty="0" smtClean="0">
                <a:solidFill>
                  <a:srgbClr val="0D0D0D"/>
                </a:solidFill>
                <a:latin typeface="Arial" pitchFamily="34" charset="0"/>
                <a:cs typeface="Arial" pitchFamily="34" charset="0"/>
              </a:rPr>
              <a:t> :-</a:t>
            </a:r>
            <a:br>
              <a:rPr lang="en-US" sz="2800" dirty="0" smtClean="0">
                <a:solidFill>
                  <a:srgbClr val="0D0D0D"/>
                </a:solidFill>
                <a:latin typeface="Arial" pitchFamily="34" charset="0"/>
                <a:cs typeface="Arial" pitchFamily="34" charset="0"/>
              </a:rPr>
            </a:br>
            <a:r>
              <a:rPr lang="en-US" sz="2800" dirty="0" smtClean="0">
                <a:solidFill>
                  <a:srgbClr val="0D0D0D"/>
                </a:solidFill>
                <a:latin typeface="Arial" pitchFamily="34" charset="0"/>
                <a:cs typeface="Arial" pitchFamily="34" charset="0"/>
              </a:rPr>
              <a:t>    How  your  profession   affecting  the  society e.g.    A   software </a:t>
            </a:r>
            <a:br>
              <a:rPr lang="en-US" sz="2800" dirty="0" smtClean="0">
                <a:solidFill>
                  <a:srgbClr val="0D0D0D"/>
                </a:solidFill>
                <a:latin typeface="Arial" pitchFamily="34" charset="0"/>
                <a:cs typeface="Arial" pitchFamily="34" charset="0"/>
              </a:rPr>
            </a:br>
            <a:r>
              <a:rPr lang="en-US" sz="2800" dirty="0" smtClean="0">
                <a:solidFill>
                  <a:srgbClr val="0D0D0D"/>
                </a:solidFill>
                <a:latin typeface="Arial" pitchFamily="34" charset="0"/>
                <a:cs typeface="Arial" pitchFamily="34" charset="0"/>
              </a:rPr>
              <a:t>    engineers develops a software for inventory control, attendance</a:t>
            </a:r>
            <a:br>
              <a:rPr lang="en-US" sz="2800" dirty="0" smtClean="0">
                <a:solidFill>
                  <a:srgbClr val="0D0D0D"/>
                </a:solidFill>
                <a:latin typeface="Arial" pitchFamily="34" charset="0"/>
                <a:cs typeface="Arial" pitchFamily="34" charset="0"/>
              </a:rPr>
            </a:br>
            <a:r>
              <a:rPr lang="en-US" sz="2800" dirty="0" smtClean="0">
                <a:solidFill>
                  <a:srgbClr val="0D0D0D"/>
                </a:solidFill>
                <a:latin typeface="Arial" pitchFamily="34" charset="0"/>
                <a:cs typeface="Arial" pitchFamily="34" charset="0"/>
              </a:rPr>
              <a:t>    system, payroll, ecommerce website etc..</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b="1" dirty="0" smtClean="0">
                <a:solidFill>
                  <a:srgbClr val="0070C0"/>
                </a:solidFill>
                <a:latin typeface="Arial" pitchFamily="34" charset="0"/>
                <a:cs typeface="Arial" pitchFamily="34" charset="0"/>
              </a:rPr>
              <a:t>Traits of a Profession (Continues)</a:t>
            </a:r>
            <a:endParaRPr lang="en-US" b="1" dirty="0"/>
          </a:p>
        </p:txBody>
      </p:sp>
      <p:sp>
        <p:nvSpPr>
          <p:cNvPr id="3" name="Content Placeholder 2"/>
          <p:cNvSpPr>
            <a:spLocks noGrp="1"/>
          </p:cNvSpPr>
          <p:nvPr>
            <p:ph sz="quarter" idx="1"/>
          </p:nvPr>
        </p:nvSpPr>
        <p:spPr>
          <a:xfrm>
            <a:off x="392277" y="1527048"/>
            <a:ext cx="11055096" cy="4721352"/>
          </a:xfrm>
        </p:spPr>
        <p:txBody>
          <a:bodyPr/>
          <a:lstStyle/>
          <a:p>
            <a:pPr marL="0" lvl="1" indent="0">
              <a:buFont typeface="Wingdings" panose="05000000000000000000" pitchFamily="2" charset="2"/>
              <a:buNone/>
              <a:defRPr/>
            </a:pPr>
            <a:r>
              <a:rPr lang="en-US" sz="2800" dirty="0" smtClean="0">
                <a:solidFill>
                  <a:schemeClr val="tx1">
                    <a:lumMod val="75000"/>
                    <a:lumOff val="25000"/>
                  </a:schemeClr>
                </a:solidFill>
                <a:latin typeface="Arial" pitchFamily="34" charset="0"/>
                <a:cs typeface="Arial" pitchFamily="34" charset="0"/>
              </a:rPr>
              <a:t>3. </a:t>
            </a:r>
            <a:r>
              <a:rPr lang="en-US" sz="2800" u="sng" dirty="0" smtClean="0">
                <a:solidFill>
                  <a:srgbClr val="0D0D0D"/>
                </a:solidFill>
                <a:latin typeface="Arial" pitchFamily="34" charset="0"/>
                <a:cs typeface="Arial" pitchFamily="34" charset="0"/>
              </a:rPr>
              <a:t>Personal standards of excellence</a:t>
            </a:r>
            <a:r>
              <a:rPr lang="en-US" sz="2800" dirty="0" smtClean="0">
                <a:solidFill>
                  <a:srgbClr val="0D0D0D"/>
                </a:solidFill>
                <a:latin typeface="Arial" pitchFamily="34" charset="0"/>
                <a:cs typeface="Arial" pitchFamily="34" charset="0"/>
              </a:rPr>
              <a:t> :-</a:t>
            </a:r>
            <a:br>
              <a:rPr lang="en-US" sz="2800" dirty="0" smtClean="0">
                <a:solidFill>
                  <a:srgbClr val="0D0D0D"/>
                </a:solidFill>
                <a:latin typeface="Arial" pitchFamily="34" charset="0"/>
                <a:cs typeface="Arial" pitchFamily="34" charset="0"/>
              </a:rPr>
            </a:br>
            <a:r>
              <a:rPr lang="en-US" sz="2800" dirty="0" smtClean="0">
                <a:solidFill>
                  <a:srgbClr val="0D0D0D"/>
                </a:solidFill>
                <a:latin typeface="Arial" pitchFamily="34" charset="0"/>
                <a:cs typeface="Arial" pitchFamily="34" charset="0"/>
              </a:rPr>
              <a:t>    One software engineer is more efficient in his work, one becomes</a:t>
            </a:r>
            <a:br>
              <a:rPr lang="en-US" sz="2800" dirty="0" smtClean="0">
                <a:solidFill>
                  <a:srgbClr val="0D0D0D"/>
                </a:solidFill>
                <a:latin typeface="Arial" pitchFamily="34" charset="0"/>
                <a:cs typeface="Arial" pitchFamily="34" charset="0"/>
              </a:rPr>
            </a:br>
            <a:r>
              <a:rPr lang="en-US" sz="2800" dirty="0" smtClean="0">
                <a:solidFill>
                  <a:srgbClr val="0D0D0D"/>
                </a:solidFill>
                <a:latin typeface="Arial" pitchFamily="34" charset="0"/>
                <a:cs typeface="Arial" pitchFamily="34" charset="0"/>
              </a:rPr>
              <a:t>    IT manager  in  several  years  while  others work in a same posts</a:t>
            </a:r>
            <a:br>
              <a:rPr lang="en-US" sz="2800" dirty="0" smtClean="0">
                <a:solidFill>
                  <a:srgbClr val="0D0D0D"/>
                </a:solidFill>
                <a:latin typeface="Arial" pitchFamily="34" charset="0"/>
                <a:cs typeface="Arial" pitchFamily="34" charset="0"/>
              </a:rPr>
            </a:br>
            <a:r>
              <a:rPr lang="en-US" sz="2800" dirty="0" smtClean="0">
                <a:solidFill>
                  <a:srgbClr val="0D0D0D"/>
                </a:solidFill>
                <a:latin typeface="Arial" pitchFamily="34" charset="0"/>
                <a:cs typeface="Arial" pitchFamily="34" charset="0"/>
              </a:rPr>
              <a:t>    for years.</a:t>
            </a:r>
            <a:br>
              <a:rPr lang="en-US" sz="2800" dirty="0" smtClean="0">
                <a:solidFill>
                  <a:srgbClr val="0D0D0D"/>
                </a:solidFill>
                <a:latin typeface="Arial" pitchFamily="34" charset="0"/>
                <a:cs typeface="Arial" pitchFamily="34" charset="0"/>
              </a:rPr>
            </a:br>
            <a:endParaRPr lang="en-US" sz="2800" dirty="0" smtClean="0">
              <a:solidFill>
                <a:srgbClr val="0D0D0D"/>
              </a:solidFill>
              <a:latin typeface="Arial" pitchFamily="34" charset="0"/>
              <a:cs typeface="Arial" pitchFamily="34" charset="0"/>
            </a:endParaRPr>
          </a:p>
          <a:p>
            <a:pPr marL="0" lvl="1" indent="0">
              <a:buFont typeface="Wingdings" panose="05000000000000000000" pitchFamily="2" charset="2"/>
              <a:buNone/>
              <a:defRPr/>
            </a:pPr>
            <a:r>
              <a:rPr lang="en-US" sz="2800" dirty="0" smtClean="0">
                <a:solidFill>
                  <a:schemeClr val="tx1">
                    <a:lumMod val="75000"/>
                    <a:lumOff val="25000"/>
                  </a:schemeClr>
                </a:solidFill>
                <a:latin typeface="Arial" pitchFamily="34" charset="0"/>
                <a:cs typeface="Arial" pitchFamily="34" charset="0"/>
              </a:rPr>
              <a:t>4.</a:t>
            </a:r>
            <a:r>
              <a:rPr lang="en-US" sz="2800" dirty="0" smtClean="0">
                <a:solidFill>
                  <a:srgbClr val="0D0D0D"/>
                </a:solidFill>
                <a:latin typeface="Arial" pitchFamily="34" charset="0"/>
                <a:cs typeface="Arial" pitchFamily="34" charset="0"/>
              </a:rPr>
              <a:t> </a:t>
            </a:r>
            <a:r>
              <a:rPr lang="en-US" sz="2800" u="sng" dirty="0" smtClean="0">
                <a:solidFill>
                  <a:srgbClr val="0D0D0D"/>
                </a:solidFill>
                <a:latin typeface="Arial" pitchFamily="34" charset="0"/>
                <a:cs typeface="Arial" pitchFamily="34" charset="0"/>
              </a:rPr>
              <a:t>Giving back to society</a:t>
            </a:r>
            <a:r>
              <a:rPr lang="en-US" sz="2800" dirty="0" smtClean="0">
                <a:solidFill>
                  <a:srgbClr val="0D0D0D"/>
                </a:solidFill>
                <a:latin typeface="Arial" pitchFamily="34" charset="0"/>
                <a:cs typeface="Arial" pitchFamily="34" charset="0"/>
              </a:rPr>
              <a:t> :-</a:t>
            </a:r>
            <a:br>
              <a:rPr lang="en-US" sz="2800" dirty="0" smtClean="0">
                <a:solidFill>
                  <a:srgbClr val="0D0D0D"/>
                </a:solidFill>
                <a:latin typeface="Arial" pitchFamily="34" charset="0"/>
                <a:cs typeface="Arial" pitchFamily="34" charset="0"/>
              </a:rPr>
            </a:br>
            <a:r>
              <a:rPr lang="en-US" sz="2800" dirty="0" smtClean="0">
                <a:solidFill>
                  <a:srgbClr val="0D0D0D"/>
                </a:solidFill>
                <a:latin typeface="Arial" pitchFamily="34" charset="0"/>
                <a:cs typeface="Arial" pitchFamily="34" charset="0"/>
              </a:rPr>
              <a:t>    Giving back to society focuses on at least do your job with full of</a:t>
            </a:r>
            <a:br>
              <a:rPr lang="en-US" sz="2800" dirty="0" smtClean="0">
                <a:solidFill>
                  <a:srgbClr val="0D0D0D"/>
                </a:solidFill>
                <a:latin typeface="Arial" pitchFamily="34" charset="0"/>
                <a:cs typeface="Arial" pitchFamily="34" charset="0"/>
              </a:rPr>
            </a:br>
            <a:r>
              <a:rPr lang="en-US" sz="2800" dirty="0" smtClean="0">
                <a:solidFill>
                  <a:srgbClr val="0D0D0D"/>
                </a:solidFill>
                <a:latin typeface="Arial" pitchFamily="34" charset="0"/>
                <a:cs typeface="Arial" pitchFamily="34" charset="0"/>
              </a:rPr>
              <a:t>    honesty  regardless of which profession you belongs to, at least   </a:t>
            </a:r>
            <a:br>
              <a:rPr lang="en-US" sz="2800" dirty="0" smtClean="0">
                <a:solidFill>
                  <a:srgbClr val="0D0D0D"/>
                </a:solidFill>
                <a:latin typeface="Arial" pitchFamily="34" charset="0"/>
                <a:cs typeface="Arial" pitchFamily="34" charset="0"/>
              </a:rPr>
            </a:br>
            <a:r>
              <a:rPr lang="en-US" sz="2800" dirty="0" smtClean="0">
                <a:solidFill>
                  <a:srgbClr val="0D0D0D"/>
                </a:solidFill>
                <a:latin typeface="Arial" pitchFamily="34" charset="0"/>
                <a:cs typeface="Arial" pitchFamily="34" charset="0"/>
              </a:rPr>
              <a:t>    2.5% to 5% work to society and humanity. </a:t>
            </a:r>
          </a:p>
          <a:p>
            <a:pPr marL="0" lvl="1" indent="0">
              <a:buFont typeface="Wingdings" panose="05000000000000000000" pitchFamily="2" charset="2"/>
              <a:buNone/>
              <a:defRPr/>
            </a:pPr>
            <a:endParaRPr lang="en-US" dirty="0" smtClean="0">
              <a:solidFill>
                <a:srgbClr val="0D0D0D"/>
              </a:solidFill>
            </a:endParaRP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000" b="1" dirty="0" smtClean="0">
                <a:solidFill>
                  <a:srgbClr val="0070C0"/>
                </a:solidFill>
                <a:latin typeface="Arial" pitchFamily="34" charset="0"/>
                <a:cs typeface="Arial" pitchFamily="34" charset="0"/>
              </a:rPr>
              <a:t>Ethics</a:t>
            </a:r>
            <a:endParaRPr lang="en-US" sz="4000" b="1" dirty="0">
              <a:solidFill>
                <a:srgbClr val="0070C0"/>
              </a:solidFill>
              <a:latin typeface="Arial" pitchFamily="34" charset="0"/>
              <a:cs typeface="Arial" pitchFamily="34" charset="0"/>
            </a:endParaRPr>
          </a:p>
        </p:txBody>
      </p:sp>
      <p:sp>
        <p:nvSpPr>
          <p:cNvPr id="3" name="Content Placeholder 2"/>
          <p:cNvSpPr>
            <a:spLocks noGrp="1"/>
          </p:cNvSpPr>
          <p:nvPr>
            <p:ph sz="quarter" idx="1"/>
          </p:nvPr>
        </p:nvSpPr>
        <p:spPr/>
        <p:txBody>
          <a:bodyPr/>
          <a:lstStyle/>
          <a:p>
            <a:pPr marL="0" indent="0">
              <a:buFont typeface="Wingdings" panose="05000000000000000000" pitchFamily="2" charset="2"/>
              <a:buNone/>
              <a:defRPr/>
            </a:pPr>
            <a:r>
              <a:rPr lang="en-US" sz="2800" dirty="0" smtClean="0">
                <a:latin typeface="Arial" pitchFamily="34" charset="0"/>
                <a:cs typeface="Arial" pitchFamily="34" charset="0"/>
              </a:rPr>
              <a:t>Ethics is concerned with human conduct, more specifically the behavior of individuals in society or in his /her appropriate firm.</a:t>
            </a:r>
            <a:br>
              <a:rPr lang="en-US" sz="2800" dirty="0" smtClean="0">
                <a:latin typeface="Arial" pitchFamily="34" charset="0"/>
                <a:cs typeface="Arial" pitchFamily="34" charset="0"/>
              </a:rPr>
            </a:br>
            <a:endParaRPr lang="en-US" sz="2800" dirty="0" smtClean="0">
              <a:latin typeface="Arial" pitchFamily="34" charset="0"/>
              <a:cs typeface="Arial" pitchFamily="34" charset="0"/>
            </a:endParaRPr>
          </a:p>
          <a:p>
            <a:pPr marL="0" indent="0">
              <a:buFont typeface="Wingdings" panose="05000000000000000000" pitchFamily="2" charset="2"/>
              <a:buNone/>
              <a:defRPr/>
            </a:pPr>
            <a:r>
              <a:rPr lang="en-US" sz="2800" dirty="0" smtClean="0">
                <a:latin typeface="Arial" pitchFamily="34" charset="0"/>
                <a:cs typeface="Arial" pitchFamily="34" charset="0"/>
              </a:rPr>
              <a:t>E.g. When making a mistake, say “Sorry”or apologize or admit.</a:t>
            </a:r>
            <a:br>
              <a:rPr lang="en-US" sz="2800" dirty="0" smtClean="0">
                <a:latin typeface="Arial" pitchFamily="34" charset="0"/>
                <a:cs typeface="Arial" pitchFamily="34" charset="0"/>
              </a:rPr>
            </a:br>
            <a:r>
              <a:rPr lang="en-US" sz="2800" dirty="0" smtClean="0">
                <a:latin typeface="Arial" pitchFamily="34" charset="0"/>
                <a:cs typeface="Arial" pitchFamily="34" charset="0"/>
              </a:rPr>
              <a:t>          </a:t>
            </a:r>
            <a:r>
              <a:rPr lang="en-US" sz="2800" b="1" dirty="0" smtClean="0">
                <a:solidFill>
                  <a:srgbClr val="0070C0"/>
                </a:solidFill>
                <a:latin typeface="Arial" pitchFamily="34" charset="0"/>
                <a:cs typeface="Arial" pitchFamily="34" charset="0"/>
              </a:rPr>
              <a:t>OR</a:t>
            </a:r>
          </a:p>
          <a:p>
            <a:pPr marL="0" indent="0">
              <a:buFont typeface="Wingdings" panose="05000000000000000000" pitchFamily="2" charset="2"/>
              <a:buNone/>
              <a:defRPr/>
            </a:pPr>
            <a:r>
              <a:rPr lang="en-US" sz="2800" dirty="0" smtClean="0">
                <a:latin typeface="Arial" pitchFamily="34" charset="0"/>
                <a:cs typeface="Arial" pitchFamily="34" charset="0"/>
              </a:rPr>
              <a:t>When somebody does something good to you, say “Thanks” or appreciate it, recognize his/her effort.</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000" b="1" dirty="0" smtClean="0">
                <a:solidFill>
                  <a:srgbClr val="0070C0"/>
                </a:solidFill>
                <a:latin typeface="Arial" pitchFamily="34" charset="0"/>
                <a:cs typeface="Arial" pitchFamily="34" charset="0"/>
              </a:rPr>
              <a:t>Law</a:t>
            </a:r>
            <a:endParaRPr lang="en-US" sz="4000" b="1" dirty="0">
              <a:solidFill>
                <a:srgbClr val="0070C0"/>
              </a:solidFill>
              <a:latin typeface="Arial" pitchFamily="34" charset="0"/>
              <a:cs typeface="Arial" pitchFamily="34" charset="0"/>
            </a:endParaRPr>
          </a:p>
        </p:txBody>
      </p:sp>
      <p:sp>
        <p:nvSpPr>
          <p:cNvPr id="3" name="Content Placeholder 2"/>
          <p:cNvSpPr>
            <a:spLocks noGrp="1"/>
          </p:cNvSpPr>
          <p:nvPr>
            <p:ph sz="quarter" idx="1"/>
          </p:nvPr>
        </p:nvSpPr>
        <p:spPr/>
        <p:txBody>
          <a:bodyPr/>
          <a:lstStyle/>
          <a:p>
            <a:pPr>
              <a:buFont typeface="Wingdings" pitchFamily="2" charset="2"/>
              <a:buChar char="q"/>
              <a:defRPr/>
            </a:pPr>
            <a:r>
              <a:rPr lang="en-US" dirty="0" smtClean="0"/>
              <a:t> </a:t>
            </a:r>
            <a:r>
              <a:rPr lang="en-US" sz="2800" dirty="0" smtClean="0">
                <a:latin typeface="Arial" pitchFamily="34" charset="0"/>
                <a:cs typeface="Arial" pitchFamily="34" charset="0"/>
              </a:rPr>
              <a:t>Law  is  a  rule or  set of rules of actions enforced by a controlling</a:t>
            </a:r>
            <a:br>
              <a:rPr lang="en-US" sz="2800" dirty="0" smtClean="0">
                <a:latin typeface="Arial" pitchFamily="34" charset="0"/>
                <a:cs typeface="Arial" pitchFamily="34" charset="0"/>
              </a:rPr>
            </a:br>
            <a:r>
              <a:rPr lang="en-US" sz="2800" dirty="0" smtClean="0">
                <a:latin typeface="Arial" pitchFamily="34" charset="0"/>
                <a:cs typeface="Arial" pitchFamily="34" charset="0"/>
              </a:rPr>
              <a:t> authority. </a:t>
            </a:r>
          </a:p>
          <a:p>
            <a:pPr marL="0" indent="0">
              <a:buFont typeface="Wingdings" panose="05000000000000000000" pitchFamily="2" charset="2"/>
              <a:buNone/>
              <a:defRPr/>
            </a:pPr>
            <a:r>
              <a:rPr lang="en-US" sz="2800" dirty="0" smtClean="0">
                <a:latin typeface="Arial" pitchFamily="34" charset="0"/>
                <a:cs typeface="Arial" pitchFamily="34" charset="0"/>
              </a:rPr>
              <a:t>    </a:t>
            </a:r>
            <a:r>
              <a:rPr lang="en-US" sz="2800" b="1" dirty="0" smtClean="0">
                <a:solidFill>
                  <a:srgbClr val="0070C0"/>
                </a:solidFill>
                <a:latin typeface="Arial" pitchFamily="34" charset="0"/>
                <a:cs typeface="Arial" pitchFamily="34" charset="0"/>
              </a:rPr>
              <a:t>e.g.</a:t>
            </a:r>
            <a:r>
              <a:rPr lang="en-US" sz="2800" b="1" dirty="0" smtClean="0">
                <a:latin typeface="Arial" pitchFamily="34" charset="0"/>
                <a:cs typeface="Arial" pitchFamily="34" charset="0"/>
              </a:rPr>
              <a:t> </a:t>
            </a:r>
            <a:r>
              <a:rPr lang="en-US" sz="2800" dirty="0" smtClean="0">
                <a:latin typeface="Arial" pitchFamily="34" charset="0"/>
                <a:cs typeface="Arial" pitchFamily="34" charset="0"/>
              </a:rPr>
              <a:t>An organization forms laws for employees to obey like follow </a:t>
            </a:r>
            <a:br>
              <a:rPr lang="en-US" sz="2800" dirty="0" smtClean="0">
                <a:latin typeface="Arial" pitchFamily="34" charset="0"/>
                <a:cs typeface="Arial" pitchFamily="34" charset="0"/>
              </a:rPr>
            </a:br>
            <a:r>
              <a:rPr lang="en-US" sz="2800" dirty="0" smtClean="0">
                <a:latin typeface="Arial" pitchFamily="34" charset="0"/>
                <a:cs typeface="Arial" pitchFamily="34" charset="0"/>
              </a:rPr>
              <a:t>    like  follow  office  timings,  meeting  deadlines etc. Law gives the </a:t>
            </a:r>
            <a:br>
              <a:rPr lang="en-US" sz="2800" dirty="0" smtClean="0">
                <a:latin typeface="Arial" pitchFamily="34" charset="0"/>
                <a:cs typeface="Arial" pitchFamily="34" charset="0"/>
              </a:rPr>
            </a:br>
            <a:r>
              <a:rPr lang="en-US" sz="2800" dirty="0" smtClean="0">
                <a:latin typeface="Arial" pitchFamily="34" charset="0"/>
                <a:cs typeface="Arial" pitchFamily="34" charset="0"/>
              </a:rPr>
              <a:t>    protection to employer and employee both.</a:t>
            </a:r>
            <a:br>
              <a:rPr lang="en-US" sz="2800" dirty="0" smtClean="0">
                <a:latin typeface="Arial" pitchFamily="34" charset="0"/>
                <a:cs typeface="Arial" pitchFamily="34" charset="0"/>
              </a:rPr>
            </a:br>
            <a:endParaRPr lang="en-US" sz="2800" dirty="0" smtClean="0">
              <a:latin typeface="Arial" pitchFamily="34" charset="0"/>
              <a:cs typeface="Arial" pitchFamily="34" charset="0"/>
            </a:endParaRPr>
          </a:p>
          <a:p>
            <a:pPr>
              <a:buFont typeface="Wingdings" pitchFamily="2" charset="2"/>
              <a:buChar char="q"/>
              <a:defRPr/>
            </a:pPr>
            <a:r>
              <a:rPr lang="en-US" sz="2800" dirty="0" smtClean="0">
                <a:latin typeface="Arial" pitchFamily="34" charset="0"/>
                <a:cs typeface="Arial" pitchFamily="34" charset="0"/>
              </a:rPr>
              <a:t>If employees do not follow the rules, they are punished, but only</a:t>
            </a:r>
            <a:br>
              <a:rPr lang="en-US" sz="2800" dirty="0" smtClean="0">
                <a:latin typeface="Arial" pitchFamily="34" charset="0"/>
                <a:cs typeface="Arial" pitchFamily="34" charset="0"/>
              </a:rPr>
            </a:br>
            <a:r>
              <a:rPr lang="en-US" sz="2800" dirty="0" smtClean="0">
                <a:latin typeface="Arial" pitchFamily="34" charset="0"/>
                <a:cs typeface="Arial" pitchFamily="34" charset="0"/>
              </a:rPr>
              <a:t>Punish will not going to work,  do  regard  or give him/her bonus</a:t>
            </a:r>
            <a:br>
              <a:rPr lang="en-US" sz="2800" dirty="0" smtClean="0">
                <a:latin typeface="Arial" pitchFamily="34" charset="0"/>
                <a:cs typeface="Arial" pitchFamily="34" charset="0"/>
              </a:rPr>
            </a:br>
            <a:r>
              <a:rPr lang="en-US" sz="2800" dirty="0" smtClean="0">
                <a:latin typeface="Arial" pitchFamily="34" charset="0"/>
                <a:cs typeface="Arial" pitchFamily="34" charset="0"/>
              </a:rPr>
              <a:t>if he follow the rules and discipline enough. </a:t>
            </a:r>
            <a:endParaRPr lang="en-US" sz="28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000" b="1" dirty="0" smtClean="0">
                <a:solidFill>
                  <a:srgbClr val="0070C0"/>
                </a:solidFill>
                <a:latin typeface="Arial" pitchFamily="34" charset="0"/>
                <a:cs typeface="Arial" pitchFamily="34" charset="0"/>
              </a:rPr>
              <a:t>Difference between Law &amp; Ethics</a:t>
            </a:r>
            <a:endParaRPr lang="en-US" sz="4000" b="1" dirty="0">
              <a:solidFill>
                <a:srgbClr val="0070C0"/>
              </a:solidFill>
              <a:latin typeface="Arial" pitchFamily="34" charset="0"/>
              <a:cs typeface="Arial" pitchFamily="34" charset="0"/>
            </a:endParaRPr>
          </a:p>
        </p:txBody>
      </p:sp>
      <p:sp>
        <p:nvSpPr>
          <p:cNvPr id="3" name="Content Placeholder 2"/>
          <p:cNvSpPr>
            <a:spLocks noGrp="1"/>
          </p:cNvSpPr>
          <p:nvPr>
            <p:ph sz="quarter" idx="1"/>
          </p:nvPr>
        </p:nvSpPr>
        <p:spPr/>
        <p:txBody>
          <a:bodyPr/>
          <a:lstStyle/>
          <a:p>
            <a:pPr marL="0" indent="0">
              <a:buFont typeface="Wingdings" pitchFamily="2" charset="2"/>
              <a:buChar char="q"/>
              <a:defRPr/>
            </a:pPr>
            <a:r>
              <a:rPr lang="en-US" sz="2800" u="sng" dirty="0" smtClean="0">
                <a:latin typeface="Arial" pitchFamily="34" charset="0"/>
                <a:cs typeface="Arial" pitchFamily="34" charset="0"/>
              </a:rPr>
              <a:t>Law</a:t>
            </a:r>
            <a:r>
              <a:rPr lang="en-US" sz="2800" dirty="0" smtClean="0">
                <a:latin typeface="Arial" pitchFamily="34" charset="0"/>
                <a:cs typeface="Arial" pitchFamily="34" charset="0"/>
              </a:rPr>
              <a:t> is enforced e.g. if you do not follow rules or punctual , you will </a:t>
            </a:r>
            <a:br>
              <a:rPr lang="en-US" sz="2800" dirty="0" smtClean="0">
                <a:latin typeface="Arial" pitchFamily="34" charset="0"/>
                <a:cs typeface="Arial" pitchFamily="34" charset="0"/>
              </a:rPr>
            </a:br>
            <a:r>
              <a:rPr lang="en-US" sz="2800" dirty="0" smtClean="0">
                <a:latin typeface="Arial" pitchFamily="34" charset="0"/>
                <a:cs typeface="Arial" pitchFamily="34" charset="0"/>
              </a:rPr>
              <a:t>   be penalized, or show cause will be issued.</a:t>
            </a:r>
          </a:p>
          <a:p>
            <a:pPr marL="0" indent="0">
              <a:buFont typeface="Wingdings" pitchFamily="2" charset="2"/>
              <a:buChar char="q"/>
              <a:defRPr/>
            </a:pPr>
            <a:r>
              <a:rPr lang="en-US" sz="2800" u="sng" dirty="0" smtClean="0">
                <a:latin typeface="Arial" pitchFamily="34" charset="0"/>
                <a:cs typeface="Arial" pitchFamily="34" charset="0"/>
              </a:rPr>
              <a:t>Ethics</a:t>
            </a:r>
            <a:r>
              <a:rPr lang="en-US" sz="2800" dirty="0" smtClean="0">
                <a:latin typeface="Arial" pitchFamily="34" charset="0"/>
                <a:cs typeface="Arial" pitchFamily="34" charset="0"/>
              </a:rPr>
              <a:t> is applied personally e.g.  if  you  do  not keep your working</a:t>
            </a:r>
            <a:br>
              <a:rPr lang="en-US" sz="2800" dirty="0" smtClean="0">
                <a:latin typeface="Arial" pitchFamily="34" charset="0"/>
                <a:cs typeface="Arial" pitchFamily="34" charset="0"/>
              </a:rPr>
            </a:br>
            <a:r>
              <a:rPr lang="en-US" sz="2800" dirty="0" smtClean="0">
                <a:latin typeface="Arial" pitchFamily="34" charset="0"/>
                <a:cs typeface="Arial" pitchFamily="34" charset="0"/>
              </a:rPr>
              <a:t>   place clean, other employees  will  form  a  bad impression  about  </a:t>
            </a:r>
            <a:br>
              <a:rPr lang="en-US" sz="2800" dirty="0" smtClean="0">
                <a:latin typeface="Arial" pitchFamily="34" charset="0"/>
                <a:cs typeface="Arial" pitchFamily="34" charset="0"/>
              </a:rPr>
            </a:br>
            <a:r>
              <a:rPr lang="en-US" sz="2800" dirty="0" smtClean="0">
                <a:latin typeface="Arial" pitchFamily="34" charset="0"/>
                <a:cs typeface="Arial" pitchFamily="34" charset="0"/>
              </a:rPr>
              <a:t>   you but nobody will punish you.</a:t>
            </a:r>
          </a:p>
          <a:p>
            <a:pPr marL="0" indent="0">
              <a:buFont typeface="Wingdings" pitchFamily="2" charset="2"/>
              <a:buChar char="q"/>
              <a:defRPr/>
            </a:pPr>
            <a:r>
              <a:rPr lang="en-US" sz="2800" dirty="0" smtClean="0">
                <a:latin typeface="Arial" pitchFamily="34" charset="0"/>
                <a:cs typeface="Arial" pitchFamily="34" charset="0"/>
              </a:rPr>
              <a:t> Morality is also part of ethics, </a:t>
            </a:r>
            <a:br>
              <a:rPr lang="en-US" sz="2800" dirty="0" smtClean="0">
                <a:latin typeface="Arial" pitchFamily="34" charset="0"/>
                <a:cs typeface="Arial" pitchFamily="34" charset="0"/>
              </a:rPr>
            </a:br>
            <a:r>
              <a:rPr lang="en-US" sz="2800" b="1" dirty="0" smtClean="0">
                <a:solidFill>
                  <a:srgbClr val="0070C0"/>
                </a:solidFill>
                <a:latin typeface="Arial" pitchFamily="34" charset="0"/>
                <a:cs typeface="Arial" pitchFamily="34" charset="0"/>
              </a:rPr>
              <a:t>e.g.  </a:t>
            </a:r>
            <a:r>
              <a:rPr lang="en-US" sz="2800" b="1" dirty="0" smtClean="0">
                <a:solidFill>
                  <a:srgbClr val="C00000"/>
                </a:solidFill>
                <a:latin typeface="Arial" pitchFamily="34" charset="0"/>
                <a:cs typeface="Arial" pitchFamily="34" charset="0"/>
              </a:rPr>
              <a:t>- How are you ?</a:t>
            </a:r>
            <a:br>
              <a:rPr lang="en-US" sz="2800" b="1" dirty="0" smtClean="0">
                <a:solidFill>
                  <a:srgbClr val="C00000"/>
                </a:solidFill>
                <a:latin typeface="Arial" pitchFamily="34" charset="0"/>
                <a:cs typeface="Arial" pitchFamily="34" charset="0"/>
              </a:rPr>
            </a:br>
            <a:r>
              <a:rPr lang="en-US" sz="2800" b="1" dirty="0" smtClean="0">
                <a:solidFill>
                  <a:srgbClr val="C00000"/>
                </a:solidFill>
                <a:latin typeface="Arial" pitchFamily="34" charset="0"/>
                <a:cs typeface="Arial" pitchFamily="34" charset="0"/>
              </a:rPr>
              <a:t>        - You are looking great in this dress.</a:t>
            </a:r>
            <a:br>
              <a:rPr lang="en-US" sz="2800" b="1" dirty="0" smtClean="0">
                <a:solidFill>
                  <a:srgbClr val="C00000"/>
                </a:solidFill>
                <a:latin typeface="Arial" pitchFamily="34" charset="0"/>
                <a:cs typeface="Arial" pitchFamily="34" charset="0"/>
              </a:rPr>
            </a:br>
            <a:r>
              <a:rPr lang="en-US" sz="2800" b="1" dirty="0" smtClean="0">
                <a:solidFill>
                  <a:srgbClr val="C00000"/>
                </a:solidFill>
                <a:latin typeface="Arial" pitchFamily="34" charset="0"/>
                <a:cs typeface="Arial" pitchFamily="34" charset="0"/>
              </a:rPr>
              <a:t>        - you were absent yesterday, was everything alright ?</a:t>
            </a:r>
            <a:r>
              <a:rPr lang="en-US" sz="2800" b="1" dirty="0" smtClean="0">
                <a:solidFill>
                  <a:srgbClr val="0070C0"/>
                </a:solidFill>
                <a:latin typeface="Arial" pitchFamily="34" charset="0"/>
                <a:cs typeface="Arial" pitchFamily="34" charset="0"/>
              </a:rPr>
              <a:t/>
            </a:r>
            <a:br>
              <a:rPr lang="en-US" sz="2800" b="1" dirty="0" smtClean="0">
                <a:solidFill>
                  <a:srgbClr val="0070C0"/>
                </a:solidFill>
                <a:latin typeface="Arial" pitchFamily="34" charset="0"/>
                <a:cs typeface="Arial" pitchFamily="34" charset="0"/>
              </a:rPr>
            </a:br>
            <a:r>
              <a:rPr lang="en-US" sz="2800" b="1" dirty="0" smtClean="0">
                <a:solidFill>
                  <a:srgbClr val="0070C0"/>
                </a:solidFill>
                <a:latin typeface="Arial" pitchFamily="34" charset="0"/>
                <a:cs typeface="Arial" pitchFamily="34" charset="0"/>
              </a:rPr>
              <a:t>                                         </a:t>
            </a:r>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rgbClr val="0070C0"/>
                </a:solidFill>
                <a:latin typeface="Arial" pitchFamily="34" charset="0"/>
                <a:cs typeface="Arial" pitchFamily="34" charset="0"/>
              </a:rPr>
              <a:t>Properties / Characteristics of a professional</a:t>
            </a:r>
            <a:endParaRPr lang="en-US" sz="4000" b="1" dirty="0">
              <a:solidFill>
                <a:srgbClr val="0070C0"/>
              </a:solidFill>
              <a:latin typeface="Arial" pitchFamily="34" charset="0"/>
              <a:cs typeface="Arial" pitchFamily="34" charset="0"/>
            </a:endParaRPr>
          </a:p>
        </p:txBody>
      </p:sp>
      <p:sp>
        <p:nvSpPr>
          <p:cNvPr id="3" name="Content Placeholder 2"/>
          <p:cNvSpPr>
            <a:spLocks noGrp="1"/>
          </p:cNvSpPr>
          <p:nvPr>
            <p:ph sz="quarter" idx="1"/>
          </p:nvPr>
        </p:nvSpPr>
        <p:spPr/>
        <p:txBody>
          <a:bodyPr/>
          <a:lstStyle/>
          <a:p>
            <a:pPr>
              <a:buNone/>
              <a:defRPr/>
            </a:pPr>
            <a:r>
              <a:rPr lang="en-US" dirty="0" smtClean="0"/>
              <a:t> </a:t>
            </a:r>
            <a:r>
              <a:rPr lang="en-US" altLang="en-US" sz="2800" b="1" dirty="0" smtClean="0">
                <a:solidFill>
                  <a:srgbClr val="C00000"/>
                </a:solidFill>
                <a:latin typeface="Arial" pitchFamily="34" charset="0"/>
                <a:cs typeface="Arial" pitchFamily="34" charset="0"/>
              </a:rPr>
              <a:t>Property # 1 </a:t>
            </a:r>
            <a:r>
              <a:rPr lang="en-US" altLang="en-US" sz="2800" b="1" dirty="0" smtClean="0">
                <a:solidFill>
                  <a:srgbClr val="0070C0"/>
                </a:solidFill>
                <a:latin typeface="Arial" pitchFamily="34" charset="0"/>
                <a:cs typeface="Arial" pitchFamily="34" charset="0"/>
              </a:rPr>
              <a:t>Of a professional:- Seriousness.</a:t>
            </a:r>
            <a:endParaRPr lang="en-US" sz="2800" dirty="0" smtClean="0">
              <a:latin typeface="Arial" pitchFamily="34" charset="0"/>
              <a:cs typeface="Arial" pitchFamily="34" charset="0"/>
            </a:endParaRPr>
          </a:p>
          <a:p>
            <a:pPr>
              <a:buFont typeface="Wingdings" pitchFamily="2" charset="2"/>
              <a:buChar char="q"/>
              <a:defRPr/>
            </a:pPr>
            <a:r>
              <a:rPr lang="en-US" sz="2800" dirty="0" smtClean="0">
                <a:latin typeface="Arial" pitchFamily="34" charset="0"/>
                <a:cs typeface="Arial" pitchFamily="34" charset="0"/>
              </a:rPr>
              <a:t>Show sense of responsibility towards your job.</a:t>
            </a:r>
          </a:p>
          <a:p>
            <a:pPr>
              <a:buFont typeface="Wingdings" pitchFamily="2" charset="2"/>
              <a:buChar char="q"/>
              <a:defRPr/>
            </a:pPr>
            <a:r>
              <a:rPr lang="en-US" sz="2800" dirty="0" smtClean="0">
                <a:latin typeface="Arial" pitchFamily="34" charset="0"/>
                <a:cs typeface="Arial" pitchFamily="34" charset="0"/>
              </a:rPr>
              <a:t> Each and every task has to be completed within the given time </a:t>
            </a:r>
            <a:br>
              <a:rPr lang="en-US" sz="2800" dirty="0" smtClean="0">
                <a:latin typeface="Arial" pitchFamily="34" charset="0"/>
                <a:cs typeface="Arial" pitchFamily="34" charset="0"/>
              </a:rPr>
            </a:br>
            <a:r>
              <a:rPr lang="en-US" sz="2800" dirty="0" smtClean="0">
                <a:latin typeface="Arial" pitchFamily="34" charset="0"/>
                <a:cs typeface="Arial" pitchFamily="34" charset="0"/>
              </a:rPr>
              <a:t> frame according to given requirements.</a:t>
            </a:r>
          </a:p>
          <a:p>
            <a:pPr>
              <a:buFont typeface="Wingdings" pitchFamily="2" charset="2"/>
              <a:buChar char="q"/>
              <a:defRPr/>
            </a:pPr>
            <a:r>
              <a:rPr lang="en-US" sz="2800" dirty="0" smtClean="0">
                <a:latin typeface="Arial" pitchFamily="34" charset="0"/>
                <a:cs typeface="Arial" pitchFamily="34" charset="0"/>
              </a:rPr>
              <a:t> Don’t  wait  for  showcase  and other intimation  for  completing </a:t>
            </a:r>
            <a:br>
              <a:rPr lang="en-US" sz="2800" dirty="0" smtClean="0">
                <a:latin typeface="Arial" pitchFamily="34" charset="0"/>
                <a:cs typeface="Arial" pitchFamily="34" charset="0"/>
              </a:rPr>
            </a:br>
            <a:r>
              <a:rPr lang="en-US" sz="2800" dirty="0" smtClean="0">
                <a:latin typeface="Arial" pitchFamily="34" charset="0"/>
                <a:cs typeface="Arial" pitchFamily="34" charset="0"/>
              </a:rPr>
              <a:t> work.</a:t>
            </a:r>
          </a:p>
          <a:p>
            <a:pPr>
              <a:buNone/>
              <a:defRPr/>
            </a:pPr>
            <a:r>
              <a:rPr lang="en-US" altLang="en-US" sz="2800" b="1" dirty="0" smtClean="0">
                <a:solidFill>
                  <a:srgbClr val="C00000"/>
                </a:solidFill>
                <a:latin typeface="Arial" pitchFamily="34" charset="0"/>
                <a:cs typeface="Arial" pitchFamily="34" charset="0"/>
              </a:rPr>
              <a:t>Property # 2 </a:t>
            </a:r>
            <a:r>
              <a:rPr lang="en-US" altLang="en-US" sz="2800" b="1" dirty="0" smtClean="0">
                <a:solidFill>
                  <a:srgbClr val="0070C0"/>
                </a:solidFill>
                <a:latin typeface="Arial" pitchFamily="34" charset="0"/>
                <a:cs typeface="Arial" pitchFamily="34" charset="0"/>
              </a:rPr>
              <a:t>of a professional:- Wanting to do better.</a:t>
            </a:r>
          </a:p>
          <a:p>
            <a:pPr>
              <a:buFont typeface="Wingdings" pitchFamily="2" charset="2"/>
              <a:buChar char="q"/>
              <a:defRPr/>
            </a:pPr>
            <a:r>
              <a:rPr lang="en-US" sz="2800" dirty="0" smtClean="0">
                <a:latin typeface="Arial" pitchFamily="34" charset="0"/>
                <a:cs typeface="Arial" pitchFamily="34" charset="0"/>
              </a:rPr>
              <a:t> Don’t keep your performance constant, improve it day by day for</a:t>
            </a:r>
            <a:br>
              <a:rPr lang="en-US" sz="2800" dirty="0" smtClean="0">
                <a:latin typeface="Arial" pitchFamily="34" charset="0"/>
                <a:cs typeface="Arial" pitchFamily="34" charset="0"/>
              </a:rPr>
            </a:br>
            <a:r>
              <a:rPr lang="en-US" sz="2800" dirty="0" smtClean="0">
                <a:latin typeface="Arial" pitchFamily="34" charset="0"/>
                <a:cs typeface="Arial" pitchFamily="34" charset="0"/>
              </a:rPr>
              <a:t> each project or task.</a:t>
            </a:r>
          </a:p>
          <a:p>
            <a:pPr>
              <a:buNone/>
              <a:defRPr/>
            </a:pPr>
            <a:endParaRPr lang="en-US" sz="2800" b="1" dirty="0" smtClean="0">
              <a:solidFill>
                <a:srgbClr val="0070C0"/>
              </a:solidFill>
              <a:latin typeface="Arial" pitchFamily="34" charset="0"/>
              <a:cs typeface="Arial" pitchFamily="34" charset="0"/>
            </a:endParaRP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277" y="0"/>
            <a:ext cx="11094720" cy="1143000"/>
          </a:xfrm>
        </p:spPr>
        <p:txBody>
          <a:bodyPr>
            <a:normAutofit fontScale="90000"/>
          </a:bodyPr>
          <a:lstStyle/>
          <a:p>
            <a:r>
              <a:rPr lang="en-US" sz="3600" b="1" dirty="0" smtClean="0">
                <a:solidFill>
                  <a:srgbClr val="0070C0"/>
                </a:solidFill>
                <a:latin typeface="Arial" pitchFamily="34" charset="0"/>
                <a:cs typeface="Arial" pitchFamily="34" charset="0"/>
              </a:rPr>
              <a:t>Properties / Characteristics of a professional</a:t>
            </a:r>
            <a:br>
              <a:rPr lang="en-US" sz="3600" b="1" dirty="0" smtClean="0">
                <a:solidFill>
                  <a:srgbClr val="0070C0"/>
                </a:solidFill>
                <a:latin typeface="Arial" pitchFamily="34" charset="0"/>
                <a:cs typeface="Arial" pitchFamily="34" charset="0"/>
              </a:rPr>
            </a:br>
            <a:r>
              <a:rPr lang="en-US" sz="3600" b="1" dirty="0" smtClean="0">
                <a:solidFill>
                  <a:srgbClr val="0070C0"/>
                </a:solidFill>
                <a:latin typeface="Arial" pitchFamily="34" charset="0"/>
                <a:cs typeface="Arial" pitchFamily="34" charset="0"/>
              </a:rPr>
              <a:t>(Continues)</a:t>
            </a:r>
            <a:endParaRPr lang="en-US" dirty="0"/>
          </a:p>
        </p:txBody>
      </p:sp>
      <p:sp>
        <p:nvSpPr>
          <p:cNvPr id="3" name="Content Placeholder 2"/>
          <p:cNvSpPr>
            <a:spLocks noGrp="1"/>
          </p:cNvSpPr>
          <p:nvPr>
            <p:ph sz="quarter" idx="1"/>
          </p:nvPr>
        </p:nvSpPr>
        <p:spPr>
          <a:xfrm>
            <a:off x="392277" y="1527048"/>
            <a:ext cx="11055096" cy="4797552"/>
          </a:xfrm>
        </p:spPr>
        <p:txBody>
          <a:bodyPr>
            <a:normAutofit lnSpcReduction="10000"/>
          </a:bodyPr>
          <a:lstStyle/>
          <a:p>
            <a:pPr>
              <a:buFont typeface="Wingdings" pitchFamily="2" charset="2"/>
              <a:buChar char="q"/>
            </a:pPr>
            <a:r>
              <a:rPr lang="en-US" altLang="en-US" sz="2400" b="1" dirty="0" smtClean="0">
                <a:solidFill>
                  <a:srgbClr val="FF0000"/>
                </a:solidFill>
                <a:latin typeface="Arial" pitchFamily="34" charset="0"/>
                <a:cs typeface="Arial" pitchFamily="34" charset="0"/>
              </a:rPr>
              <a:t> </a:t>
            </a:r>
            <a:r>
              <a:rPr lang="en-US" altLang="en-US" sz="2800" b="1" dirty="0" smtClean="0">
                <a:solidFill>
                  <a:srgbClr val="C00000"/>
                </a:solidFill>
                <a:latin typeface="Arial" pitchFamily="34" charset="0"/>
                <a:cs typeface="Arial" pitchFamily="34" charset="0"/>
              </a:rPr>
              <a:t>Property # 3 </a:t>
            </a:r>
            <a:r>
              <a:rPr lang="en-US" altLang="en-US" sz="2800" b="1" dirty="0" smtClean="0">
                <a:solidFill>
                  <a:srgbClr val="0070C0"/>
                </a:solidFill>
                <a:latin typeface="Arial" pitchFamily="34" charset="0"/>
                <a:cs typeface="Arial" pitchFamily="34" charset="0"/>
              </a:rPr>
              <a:t>of a professional:- Dealing with the Unexpected.</a:t>
            </a:r>
            <a:br>
              <a:rPr lang="en-US" altLang="en-US" sz="2800" b="1" dirty="0" smtClean="0">
                <a:solidFill>
                  <a:srgbClr val="0070C0"/>
                </a:solidFill>
                <a:latin typeface="Arial" pitchFamily="34" charset="0"/>
                <a:cs typeface="Arial" pitchFamily="34" charset="0"/>
              </a:rPr>
            </a:br>
            <a:r>
              <a:rPr lang="en-US" sz="2800" dirty="0" smtClean="0">
                <a:latin typeface="Arial" pitchFamily="34" charset="0"/>
                <a:cs typeface="Arial" pitchFamily="34" charset="0"/>
              </a:rPr>
              <a:t>In professional life problems arise and things change from time to time. You have to adopt changes coup up with different situations which is the success for your career.</a:t>
            </a:r>
          </a:p>
          <a:p>
            <a:pPr>
              <a:buFont typeface="Wingdings" pitchFamily="2" charset="2"/>
              <a:buChar char="q"/>
              <a:defRPr/>
            </a:pPr>
            <a:r>
              <a:rPr lang="en-US" altLang="en-US" sz="2800" b="1" dirty="0" smtClean="0">
                <a:solidFill>
                  <a:srgbClr val="FF0000"/>
                </a:solidFill>
                <a:latin typeface="Arial" pitchFamily="34" charset="0"/>
                <a:cs typeface="Arial" pitchFamily="34" charset="0"/>
              </a:rPr>
              <a:t> </a:t>
            </a:r>
            <a:r>
              <a:rPr lang="en-US" altLang="en-US" sz="2800" b="1" dirty="0" smtClean="0">
                <a:solidFill>
                  <a:srgbClr val="C00000"/>
                </a:solidFill>
                <a:latin typeface="Arial" pitchFamily="34" charset="0"/>
                <a:cs typeface="Arial" pitchFamily="34" charset="0"/>
              </a:rPr>
              <a:t>Property # 4 </a:t>
            </a:r>
            <a:r>
              <a:rPr lang="en-US" altLang="en-US" sz="2800" b="1" dirty="0" smtClean="0">
                <a:solidFill>
                  <a:srgbClr val="0070C0"/>
                </a:solidFill>
                <a:latin typeface="Arial" pitchFamily="34" charset="0"/>
                <a:cs typeface="Arial" pitchFamily="34" charset="0"/>
              </a:rPr>
              <a:t>of a professional:- Communication Skills.</a:t>
            </a:r>
            <a:br>
              <a:rPr lang="en-US" altLang="en-US" sz="2800" b="1" dirty="0" smtClean="0">
                <a:solidFill>
                  <a:srgbClr val="0070C0"/>
                </a:solidFill>
                <a:latin typeface="Arial" pitchFamily="34" charset="0"/>
                <a:cs typeface="Arial" pitchFamily="34" charset="0"/>
              </a:rPr>
            </a:br>
            <a:r>
              <a:rPr lang="en-US" sz="2800" dirty="0" smtClean="0">
                <a:latin typeface="Arial" pitchFamily="34" charset="0"/>
                <a:cs typeface="Arial" pitchFamily="34" charset="0"/>
              </a:rPr>
              <a:t>Two main types of Communication skills:</a:t>
            </a:r>
            <a:br>
              <a:rPr lang="en-US" sz="2800" dirty="0" smtClean="0">
                <a:latin typeface="Arial" pitchFamily="34" charset="0"/>
                <a:cs typeface="Arial" pitchFamily="34" charset="0"/>
              </a:rPr>
            </a:br>
            <a:r>
              <a:rPr lang="en-US" sz="2800" dirty="0" smtClean="0">
                <a:solidFill>
                  <a:srgbClr val="0070C0"/>
                </a:solidFill>
                <a:latin typeface="Arial" pitchFamily="34" charset="0"/>
                <a:cs typeface="Arial" pitchFamily="34" charset="0"/>
              </a:rPr>
              <a:t>Verbal</a:t>
            </a:r>
            <a:r>
              <a:rPr lang="en-US" sz="2800" dirty="0" smtClean="0">
                <a:latin typeface="Arial" pitchFamily="34" charset="0"/>
                <a:cs typeface="Arial" pitchFamily="34" charset="0"/>
              </a:rPr>
              <a:t> and </a:t>
            </a:r>
            <a:r>
              <a:rPr lang="en-US" sz="2800" dirty="0" smtClean="0">
                <a:solidFill>
                  <a:srgbClr val="0070C0"/>
                </a:solidFill>
                <a:latin typeface="Arial" pitchFamily="34" charset="0"/>
                <a:cs typeface="Arial" pitchFamily="34" charset="0"/>
              </a:rPr>
              <a:t>Written</a:t>
            </a:r>
            <a:r>
              <a:rPr lang="en-US" sz="2800" dirty="0" smtClean="0">
                <a:latin typeface="Arial" pitchFamily="34" charset="0"/>
                <a:cs typeface="Arial" pitchFamily="34" charset="0"/>
              </a:rPr>
              <a:t>. They should be:-</a:t>
            </a:r>
            <a:br>
              <a:rPr lang="en-US" sz="2800" dirty="0" smtClean="0">
                <a:latin typeface="Arial" pitchFamily="34" charset="0"/>
                <a:cs typeface="Arial" pitchFamily="34" charset="0"/>
              </a:rPr>
            </a:br>
            <a:endParaRPr lang="en-US" sz="2800" dirty="0" smtClean="0">
              <a:latin typeface="Arial" pitchFamily="34" charset="0"/>
              <a:cs typeface="Arial" pitchFamily="34" charset="0"/>
            </a:endParaRPr>
          </a:p>
          <a:p>
            <a:pPr>
              <a:buNone/>
              <a:defRPr/>
            </a:pPr>
            <a:r>
              <a:rPr lang="en-US" sz="2800" dirty="0" smtClean="0">
                <a:latin typeface="Arial" pitchFamily="34" charset="0"/>
                <a:cs typeface="Arial" pitchFamily="34" charset="0"/>
              </a:rPr>
              <a:t>- Clear (understandable to others)</a:t>
            </a:r>
          </a:p>
          <a:p>
            <a:pPr>
              <a:buNone/>
              <a:defRPr/>
            </a:pPr>
            <a:r>
              <a:rPr lang="en-US" sz="2800" dirty="0" smtClean="0">
                <a:latin typeface="Arial" pitchFamily="34" charset="0"/>
                <a:cs typeface="Arial" pitchFamily="34" charset="0"/>
              </a:rPr>
              <a:t>- Concise (To the point and brief) </a:t>
            </a:r>
          </a:p>
          <a:p>
            <a:pPr>
              <a:buNone/>
              <a:defRPr/>
            </a:pPr>
            <a:r>
              <a:rPr lang="en-US" sz="2800" dirty="0" smtClean="0">
                <a:latin typeface="Arial" pitchFamily="34" charset="0"/>
                <a:cs typeface="Arial" pitchFamily="34" charset="0"/>
              </a:rPr>
              <a:t>- Confident (You must be sure what you want to say)</a:t>
            </a:r>
          </a:p>
          <a:p>
            <a:pPr>
              <a:buFont typeface="Wingdings" pitchFamily="2" charset="2"/>
              <a:buChar char="q"/>
            </a:pPr>
            <a:endParaRPr lang="en-US" sz="2800" b="1" dirty="0" smtClean="0">
              <a:solidFill>
                <a:srgbClr val="0070C0"/>
              </a:solidFill>
              <a:latin typeface="Arial" pitchFamily="34" charset="0"/>
              <a:cs typeface="Arial" pitchFamily="34" charset="0"/>
            </a:endParaRPr>
          </a:p>
          <a:p>
            <a:pPr>
              <a:buFont typeface="Wingdings" pitchFamily="2" charset="2"/>
              <a:buChar char="q"/>
            </a:pPr>
            <a:endParaRPr lang="en-US" sz="2800" b="1" dirty="0">
              <a:solidFill>
                <a:srgbClr val="0070C0"/>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277" y="228600"/>
            <a:ext cx="11094720" cy="914400"/>
          </a:xfrm>
        </p:spPr>
        <p:txBody>
          <a:bodyPr>
            <a:normAutofit fontScale="90000"/>
          </a:bodyPr>
          <a:lstStyle/>
          <a:p>
            <a:r>
              <a:rPr lang="en-US" sz="3200" b="1" dirty="0" smtClean="0">
                <a:solidFill>
                  <a:srgbClr val="0070C0"/>
                </a:solidFill>
                <a:latin typeface="Arial" pitchFamily="34" charset="0"/>
                <a:cs typeface="Arial" pitchFamily="34" charset="0"/>
              </a:rPr>
              <a:t>Properties / Characteristics of a professional</a:t>
            </a:r>
            <a:br>
              <a:rPr lang="en-US" sz="3200" b="1" dirty="0" smtClean="0">
                <a:solidFill>
                  <a:srgbClr val="0070C0"/>
                </a:solidFill>
                <a:latin typeface="Arial" pitchFamily="34" charset="0"/>
                <a:cs typeface="Arial" pitchFamily="34" charset="0"/>
              </a:rPr>
            </a:br>
            <a:r>
              <a:rPr lang="en-US" sz="3200" b="1" dirty="0" smtClean="0">
                <a:solidFill>
                  <a:srgbClr val="0070C0"/>
                </a:solidFill>
                <a:latin typeface="Arial" pitchFamily="34" charset="0"/>
                <a:cs typeface="Arial" pitchFamily="34" charset="0"/>
              </a:rPr>
              <a:t>(Continues)</a:t>
            </a:r>
            <a:endParaRPr lang="en-US" dirty="0"/>
          </a:p>
        </p:txBody>
      </p:sp>
      <p:sp>
        <p:nvSpPr>
          <p:cNvPr id="3" name="Content Placeholder 2"/>
          <p:cNvSpPr>
            <a:spLocks noGrp="1"/>
          </p:cNvSpPr>
          <p:nvPr>
            <p:ph sz="quarter" idx="1"/>
          </p:nvPr>
        </p:nvSpPr>
        <p:spPr>
          <a:xfrm>
            <a:off x="392277" y="1527048"/>
            <a:ext cx="11055096" cy="4873752"/>
          </a:xfrm>
        </p:spPr>
        <p:txBody>
          <a:bodyPr>
            <a:normAutofit/>
          </a:bodyPr>
          <a:lstStyle/>
          <a:p>
            <a:pPr>
              <a:buFont typeface="Wingdings" pitchFamily="2" charset="2"/>
              <a:buChar char="q"/>
            </a:pPr>
            <a:r>
              <a:rPr lang="en-US" dirty="0" smtClean="0"/>
              <a:t> </a:t>
            </a:r>
            <a:r>
              <a:rPr lang="en-US" altLang="en-US" sz="2800" b="1" dirty="0" smtClean="0">
                <a:solidFill>
                  <a:srgbClr val="C00000"/>
                </a:solidFill>
                <a:latin typeface="Arial" pitchFamily="34" charset="0"/>
                <a:cs typeface="Arial" pitchFamily="34" charset="0"/>
              </a:rPr>
              <a:t>Property # 5 </a:t>
            </a:r>
            <a:r>
              <a:rPr lang="en-US" altLang="en-US" sz="2800" b="1" dirty="0" smtClean="0">
                <a:solidFill>
                  <a:srgbClr val="0070C0"/>
                </a:solidFill>
                <a:latin typeface="Arial" pitchFamily="34" charset="0"/>
                <a:cs typeface="Arial" pitchFamily="34" charset="0"/>
              </a:rPr>
              <a:t>of a professional:- Enthusiasm.</a:t>
            </a:r>
            <a:br>
              <a:rPr lang="en-US" altLang="en-US" sz="2800" b="1" dirty="0" smtClean="0">
                <a:solidFill>
                  <a:srgbClr val="0070C0"/>
                </a:solidFill>
                <a:latin typeface="Arial" pitchFamily="34" charset="0"/>
                <a:cs typeface="Arial" pitchFamily="34" charset="0"/>
              </a:rPr>
            </a:br>
            <a:r>
              <a:rPr lang="en-US" altLang="en-US" sz="2800" b="1" dirty="0" smtClean="0">
                <a:solidFill>
                  <a:srgbClr val="0070C0"/>
                </a:solidFill>
                <a:latin typeface="Arial" pitchFamily="34" charset="0"/>
                <a:cs typeface="Arial" pitchFamily="34" charset="0"/>
              </a:rPr>
              <a:t> </a:t>
            </a:r>
            <a:r>
              <a:rPr lang="en-US" sz="2800" dirty="0" smtClean="0">
                <a:latin typeface="Arial" pitchFamily="34" charset="0"/>
                <a:cs typeface="Arial" pitchFamily="34" charset="0"/>
              </a:rPr>
              <a:t>Remember Attitude matters.  Those  who  exhibit enthusiasm for </a:t>
            </a:r>
            <a:br>
              <a:rPr lang="en-US" sz="2800" dirty="0" smtClean="0">
                <a:latin typeface="Arial" pitchFamily="34" charset="0"/>
                <a:cs typeface="Arial" pitchFamily="34" charset="0"/>
              </a:rPr>
            </a:br>
            <a:r>
              <a:rPr lang="en-US" sz="2800" dirty="0" smtClean="0">
                <a:latin typeface="Arial" pitchFamily="34" charset="0"/>
                <a:cs typeface="Arial" pitchFamily="34" charset="0"/>
              </a:rPr>
              <a:t> what they do and greet each day with a positive attitude certainly </a:t>
            </a:r>
            <a:br>
              <a:rPr lang="en-US" sz="2800" dirty="0" smtClean="0">
                <a:latin typeface="Arial" pitchFamily="34" charset="0"/>
                <a:cs typeface="Arial" pitchFamily="34" charset="0"/>
              </a:rPr>
            </a:br>
            <a:r>
              <a:rPr lang="en-US" sz="2800" dirty="0" smtClean="0">
                <a:latin typeface="Arial" pitchFamily="34" charset="0"/>
                <a:cs typeface="Arial" pitchFamily="34" charset="0"/>
              </a:rPr>
              <a:t> become a leader and go to the peak.</a:t>
            </a:r>
          </a:p>
          <a:p>
            <a:pPr>
              <a:buFont typeface="Wingdings" pitchFamily="2" charset="2"/>
              <a:buChar char="q"/>
              <a:defRPr/>
            </a:pPr>
            <a:r>
              <a:rPr lang="en-US" altLang="en-US" sz="2800" b="1" dirty="0" smtClean="0">
                <a:solidFill>
                  <a:srgbClr val="C00000"/>
                </a:solidFill>
                <a:latin typeface="Arial" pitchFamily="34" charset="0"/>
                <a:cs typeface="Arial" pitchFamily="34" charset="0"/>
              </a:rPr>
              <a:t> Property # 6 </a:t>
            </a:r>
            <a:r>
              <a:rPr lang="en-US" altLang="en-US" sz="2800" b="1" dirty="0" smtClean="0">
                <a:solidFill>
                  <a:srgbClr val="0070C0"/>
                </a:solidFill>
                <a:latin typeface="Arial" pitchFamily="34" charset="0"/>
                <a:cs typeface="Arial" pitchFamily="34" charset="0"/>
              </a:rPr>
              <a:t>of a professional:- Helpfulness.</a:t>
            </a:r>
            <a:br>
              <a:rPr lang="en-US" altLang="en-US" sz="2800" b="1" dirty="0" smtClean="0">
                <a:solidFill>
                  <a:srgbClr val="0070C0"/>
                </a:solidFill>
                <a:latin typeface="Arial" pitchFamily="34" charset="0"/>
                <a:cs typeface="Arial" pitchFamily="34" charset="0"/>
              </a:rPr>
            </a:br>
            <a:r>
              <a:rPr lang="en-US" sz="2800" dirty="0" smtClean="0">
                <a:latin typeface="Arial" pitchFamily="34" charset="0"/>
                <a:cs typeface="Arial" pitchFamily="34" charset="0"/>
              </a:rPr>
              <a:t>Understand that real success in the workplace requires teamwork.</a:t>
            </a:r>
          </a:p>
          <a:p>
            <a:pPr>
              <a:defRPr/>
            </a:pPr>
            <a:r>
              <a:rPr lang="en-US" sz="2800" dirty="0" smtClean="0">
                <a:latin typeface="Arial" pitchFamily="34" charset="0"/>
                <a:cs typeface="Arial" pitchFamily="34" charset="0"/>
              </a:rPr>
              <a:t>Always ready to help colleagues.</a:t>
            </a:r>
          </a:p>
          <a:p>
            <a:pPr>
              <a:defRPr/>
            </a:pPr>
            <a:r>
              <a:rPr lang="en-US" sz="2800" dirty="0" smtClean="0">
                <a:latin typeface="Arial" pitchFamily="34" charset="0"/>
                <a:cs typeface="Arial" pitchFamily="34" charset="0"/>
              </a:rPr>
              <a:t>Give a suggestion. </a:t>
            </a:r>
          </a:p>
          <a:p>
            <a:pPr>
              <a:defRPr/>
            </a:pPr>
            <a:r>
              <a:rPr lang="en-US" sz="2800" dirty="0" smtClean="0">
                <a:latin typeface="Arial" pitchFamily="34" charset="0"/>
                <a:cs typeface="Arial" pitchFamily="34" charset="0"/>
              </a:rPr>
              <a:t>Encourage people with appreciation letters/or even with compliments.</a:t>
            </a:r>
          </a:p>
          <a:p>
            <a:pPr>
              <a:buFont typeface="Wingdings" pitchFamily="2" charset="2"/>
              <a:buChar char="q"/>
            </a:pPr>
            <a:endParaRPr lang="en-US" sz="2800" b="1" dirty="0" smtClean="0">
              <a:solidFill>
                <a:srgbClr val="0070C0"/>
              </a:solidFill>
              <a:latin typeface="Arial" pitchFamily="34" charset="0"/>
              <a:cs typeface="Arial" pitchFamily="34" charset="0"/>
            </a:endParaRPr>
          </a:p>
          <a:p>
            <a:pPr>
              <a:buFont typeface="Wingdings" pitchFamily="2" charset="2"/>
              <a:buChar char="q"/>
            </a:pPr>
            <a:endParaRPr lang="en-US" altLang="en-US" sz="2800" b="1" dirty="0" smtClean="0">
              <a:solidFill>
                <a:srgbClr val="0070C0"/>
              </a:solidFill>
              <a:latin typeface="Arial" pitchFamily="34" charset="0"/>
              <a:cs typeface="Arial" pitchFamily="34" charset="0"/>
            </a:endParaRPr>
          </a:p>
          <a:p>
            <a:pPr>
              <a:buNone/>
            </a:pPr>
            <a:endParaRPr lang="en-US" sz="2800"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277" y="228600"/>
            <a:ext cx="11094720" cy="914400"/>
          </a:xfrm>
        </p:spPr>
        <p:txBody>
          <a:bodyPr>
            <a:normAutofit fontScale="90000"/>
          </a:bodyPr>
          <a:lstStyle/>
          <a:p>
            <a:r>
              <a:rPr lang="en-US" sz="3600" b="1" dirty="0" smtClean="0">
                <a:solidFill>
                  <a:srgbClr val="0070C0"/>
                </a:solidFill>
                <a:latin typeface="Arial" pitchFamily="34" charset="0"/>
                <a:cs typeface="Arial" pitchFamily="34" charset="0"/>
              </a:rPr>
              <a:t>Properties / Characteristics of a professional</a:t>
            </a:r>
            <a:br>
              <a:rPr lang="en-US" sz="3600" b="1" dirty="0" smtClean="0">
                <a:solidFill>
                  <a:srgbClr val="0070C0"/>
                </a:solidFill>
                <a:latin typeface="Arial" pitchFamily="34" charset="0"/>
                <a:cs typeface="Arial" pitchFamily="34" charset="0"/>
              </a:rPr>
            </a:br>
            <a:r>
              <a:rPr lang="en-US" sz="3600" b="1" dirty="0" smtClean="0">
                <a:solidFill>
                  <a:srgbClr val="0070C0"/>
                </a:solidFill>
                <a:latin typeface="Arial" pitchFamily="34" charset="0"/>
                <a:cs typeface="Arial" pitchFamily="34" charset="0"/>
              </a:rPr>
              <a:t>(Continues)</a:t>
            </a:r>
            <a:endParaRPr lang="en-US" dirty="0"/>
          </a:p>
        </p:txBody>
      </p:sp>
      <p:sp>
        <p:nvSpPr>
          <p:cNvPr id="3" name="Content Placeholder 2"/>
          <p:cNvSpPr>
            <a:spLocks noGrp="1"/>
          </p:cNvSpPr>
          <p:nvPr>
            <p:ph sz="quarter" idx="1"/>
          </p:nvPr>
        </p:nvSpPr>
        <p:spPr/>
        <p:txBody>
          <a:bodyPr>
            <a:normAutofit/>
          </a:bodyPr>
          <a:lstStyle/>
          <a:p>
            <a:pPr>
              <a:buFont typeface="Wingdings" pitchFamily="2" charset="2"/>
              <a:buChar char="q"/>
            </a:pPr>
            <a:r>
              <a:rPr lang="en-US" altLang="en-US" sz="2800" b="1" dirty="0" smtClean="0">
                <a:solidFill>
                  <a:srgbClr val="C00000"/>
                </a:solidFill>
                <a:latin typeface="Arial" pitchFamily="34" charset="0"/>
                <a:cs typeface="Arial" pitchFamily="34" charset="0"/>
              </a:rPr>
              <a:t>Property # 7  </a:t>
            </a:r>
            <a:r>
              <a:rPr lang="en-US" altLang="en-US" sz="2800" b="1" dirty="0" smtClean="0">
                <a:solidFill>
                  <a:srgbClr val="0070C0"/>
                </a:solidFill>
                <a:latin typeface="Arial" pitchFamily="34" charset="0"/>
                <a:cs typeface="Arial" pitchFamily="34" charset="0"/>
              </a:rPr>
              <a:t>of  a  professional :- Taking the Initiative.</a:t>
            </a:r>
          </a:p>
          <a:p>
            <a:pPr>
              <a:buNone/>
            </a:pPr>
            <a:r>
              <a:rPr lang="en-US" sz="2800" dirty="0" smtClean="0"/>
              <a:t>   </a:t>
            </a:r>
            <a:r>
              <a:rPr lang="en-US" sz="2800" dirty="0" smtClean="0">
                <a:latin typeface="Arial" pitchFamily="34" charset="0"/>
                <a:cs typeface="Arial" pitchFamily="34" charset="0"/>
              </a:rPr>
              <a:t>Don’t be scared to take an initiative.  The  people  who take  the initiative have better chances to lead and go a head than others.</a:t>
            </a:r>
          </a:p>
          <a:p>
            <a:pPr>
              <a:buNone/>
            </a:pPr>
            <a:endParaRPr lang="en-US" sz="2800" dirty="0" smtClean="0"/>
          </a:p>
          <a:p>
            <a:pPr>
              <a:buFont typeface="Wingdings" pitchFamily="2" charset="2"/>
              <a:buChar char="q"/>
            </a:pPr>
            <a:r>
              <a:rPr lang="en-US" altLang="en-US" sz="2800" b="1" dirty="0" smtClean="0">
                <a:solidFill>
                  <a:srgbClr val="C00000"/>
                </a:solidFill>
                <a:latin typeface="Arial" pitchFamily="34" charset="0"/>
                <a:cs typeface="Arial" pitchFamily="34" charset="0"/>
              </a:rPr>
              <a:t>Property # 8 </a:t>
            </a:r>
            <a:r>
              <a:rPr lang="en-US" altLang="en-US" sz="2800" b="1" dirty="0" smtClean="0">
                <a:solidFill>
                  <a:srgbClr val="0070C0"/>
                </a:solidFill>
                <a:latin typeface="Arial" pitchFamily="34" charset="0"/>
                <a:cs typeface="Arial" pitchFamily="34" charset="0"/>
              </a:rPr>
              <a:t>of a professional:- Keep Cool under Pressure.</a:t>
            </a:r>
            <a:endParaRPr lang="en-US" altLang="en-US" sz="2800" b="1" u="sng" dirty="0" smtClean="0">
              <a:solidFill>
                <a:srgbClr val="0070C0"/>
              </a:solidFill>
              <a:latin typeface="Arial" pitchFamily="34" charset="0"/>
              <a:cs typeface="Arial" pitchFamily="34" charset="0"/>
            </a:endParaRPr>
          </a:p>
          <a:p>
            <a:pPr>
              <a:defRPr/>
            </a:pPr>
            <a:r>
              <a:rPr lang="en-US" sz="2800" dirty="0" smtClean="0"/>
              <a:t>Don’t panic and keep yourself calm and patient all the time during your work. Remember in a job or business  we  are  under pressure most of the times. </a:t>
            </a:r>
          </a:p>
          <a:p>
            <a:pPr>
              <a:defRPr/>
            </a:pPr>
            <a:r>
              <a:rPr lang="en-US" sz="2800" dirty="0" smtClean="0"/>
              <a:t>Stress and anxiety destroys performance. </a:t>
            </a:r>
          </a:p>
          <a:p>
            <a:pPr>
              <a:buNone/>
              <a:defRPr/>
            </a:pPr>
            <a:endParaRPr lang="en-US" sz="2800" dirty="0" smtClean="0"/>
          </a:p>
          <a:p>
            <a:pPr>
              <a:buNone/>
            </a:pPr>
            <a:endParaRPr lang="en-US" sz="2800" dirty="0" smtClean="0">
              <a:solidFill>
                <a:srgbClr val="0070C0"/>
              </a:solidFill>
              <a:latin typeface="Arial" pitchFamily="34" charset="0"/>
              <a:cs typeface="Arial" pitchFamily="34" charset="0"/>
            </a:endParaRPr>
          </a:p>
          <a:p>
            <a:pPr>
              <a:buNone/>
            </a:pPr>
            <a:endParaRPr lang="en-US" sz="28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277" y="228600"/>
            <a:ext cx="11094720" cy="914400"/>
          </a:xfrm>
        </p:spPr>
        <p:txBody>
          <a:bodyPr>
            <a:normAutofit fontScale="90000"/>
          </a:bodyPr>
          <a:lstStyle/>
          <a:p>
            <a:r>
              <a:rPr lang="en-US" sz="3200" b="1" dirty="0" smtClean="0">
                <a:solidFill>
                  <a:srgbClr val="0070C0"/>
                </a:solidFill>
                <a:latin typeface="Arial" pitchFamily="34" charset="0"/>
                <a:cs typeface="Arial" pitchFamily="34" charset="0"/>
              </a:rPr>
              <a:t>Properties / Characteristics of a professional</a:t>
            </a:r>
            <a:br>
              <a:rPr lang="en-US" sz="3200" b="1" dirty="0" smtClean="0">
                <a:solidFill>
                  <a:srgbClr val="0070C0"/>
                </a:solidFill>
                <a:latin typeface="Arial" pitchFamily="34" charset="0"/>
                <a:cs typeface="Arial" pitchFamily="34" charset="0"/>
              </a:rPr>
            </a:br>
            <a:r>
              <a:rPr lang="en-US" sz="3200" b="1" dirty="0" smtClean="0">
                <a:solidFill>
                  <a:srgbClr val="0070C0"/>
                </a:solidFill>
                <a:latin typeface="Arial" pitchFamily="34" charset="0"/>
                <a:cs typeface="Arial" pitchFamily="34" charset="0"/>
              </a:rPr>
              <a:t>(Continues)</a:t>
            </a:r>
            <a:endParaRPr lang="en-US" dirty="0"/>
          </a:p>
        </p:txBody>
      </p:sp>
      <p:sp>
        <p:nvSpPr>
          <p:cNvPr id="3" name="Content Placeholder 2"/>
          <p:cNvSpPr>
            <a:spLocks noGrp="1"/>
          </p:cNvSpPr>
          <p:nvPr>
            <p:ph sz="quarter" idx="1"/>
          </p:nvPr>
        </p:nvSpPr>
        <p:spPr>
          <a:xfrm>
            <a:off x="392276" y="1527048"/>
            <a:ext cx="11190123" cy="4873752"/>
          </a:xfrm>
        </p:spPr>
        <p:txBody>
          <a:bodyPr>
            <a:normAutofit/>
          </a:bodyPr>
          <a:lstStyle/>
          <a:p>
            <a:pPr>
              <a:buFont typeface="Wingdings" pitchFamily="2" charset="2"/>
              <a:buChar char="q"/>
            </a:pPr>
            <a:r>
              <a:rPr lang="en-US" altLang="en-US" sz="2800" dirty="0" smtClean="0">
                <a:latin typeface="Arial" pitchFamily="34" charset="0"/>
                <a:cs typeface="Arial" pitchFamily="34" charset="0"/>
              </a:rPr>
              <a:t> </a:t>
            </a:r>
            <a:r>
              <a:rPr lang="en-US" altLang="en-US" sz="2800" b="1" dirty="0" smtClean="0">
                <a:solidFill>
                  <a:srgbClr val="C00000"/>
                </a:solidFill>
                <a:latin typeface="Arial" pitchFamily="34" charset="0"/>
                <a:cs typeface="Arial" pitchFamily="34" charset="0"/>
              </a:rPr>
              <a:t>Property # 9 </a:t>
            </a:r>
            <a:r>
              <a:rPr lang="en-US" altLang="en-US" sz="2800" b="1" dirty="0" smtClean="0">
                <a:solidFill>
                  <a:srgbClr val="0070C0"/>
                </a:solidFill>
                <a:latin typeface="Arial" pitchFamily="34" charset="0"/>
                <a:cs typeface="Arial" pitchFamily="34" charset="0"/>
              </a:rPr>
              <a:t>of a professional: Remains Focused.</a:t>
            </a:r>
            <a:endParaRPr lang="en-US" altLang="en-US" sz="2800" b="1" u="sng" dirty="0" smtClean="0">
              <a:solidFill>
                <a:srgbClr val="0070C0"/>
              </a:solidFill>
              <a:latin typeface="Arial" pitchFamily="34" charset="0"/>
              <a:cs typeface="Arial" pitchFamily="34" charset="0"/>
            </a:endParaRPr>
          </a:p>
          <a:p>
            <a:pPr>
              <a:defRPr/>
            </a:pPr>
            <a:r>
              <a:rPr lang="en-US" sz="2800" dirty="0" smtClean="0">
                <a:latin typeface="Arial" pitchFamily="34" charset="0"/>
                <a:cs typeface="Arial" pitchFamily="34" charset="0"/>
              </a:rPr>
              <a:t>Focus on the task at hand and the goal ahead.</a:t>
            </a:r>
          </a:p>
          <a:p>
            <a:pPr>
              <a:defRPr/>
            </a:pPr>
            <a:r>
              <a:rPr lang="en-US" sz="2800" smtClean="0">
                <a:latin typeface="Arial" pitchFamily="34" charset="0"/>
                <a:cs typeface="Arial" pitchFamily="34" charset="0"/>
              </a:rPr>
              <a:t>Complete   one   task </a:t>
            </a:r>
            <a:r>
              <a:rPr lang="en-US" sz="2800" dirty="0" smtClean="0">
                <a:latin typeface="Arial" pitchFamily="34" charset="0"/>
                <a:cs typeface="Arial" pitchFamily="34" charset="0"/>
              </a:rPr>
              <a:t>at  </a:t>
            </a:r>
            <a:r>
              <a:rPr lang="en-US" sz="2800" smtClean="0">
                <a:latin typeface="Arial" pitchFamily="34" charset="0"/>
                <a:cs typeface="Arial" pitchFamily="34" charset="0"/>
              </a:rPr>
              <a:t>a   time,   then  </a:t>
            </a:r>
            <a:r>
              <a:rPr lang="en-US" sz="2800" dirty="0" smtClean="0">
                <a:latin typeface="Arial" pitchFamily="34" charset="0"/>
                <a:cs typeface="Arial" pitchFamily="34" charset="0"/>
              </a:rPr>
              <a:t>go to other,  </a:t>
            </a:r>
            <a:r>
              <a:rPr lang="en-US" sz="2800" smtClean="0">
                <a:latin typeface="Arial" pitchFamily="34" charset="0"/>
                <a:cs typeface="Arial" pitchFamily="34" charset="0"/>
              </a:rPr>
              <a:t>Avoid  multi -</a:t>
            </a:r>
            <a:r>
              <a:rPr lang="en-US" sz="2800" dirty="0" smtClean="0">
                <a:latin typeface="Arial" pitchFamily="34" charset="0"/>
                <a:cs typeface="Arial" pitchFamily="34" charset="0"/>
              </a:rPr>
              <a:t>tasking  in your work wherever possible.</a:t>
            </a:r>
          </a:p>
          <a:p>
            <a:pPr>
              <a:defRPr/>
            </a:pPr>
            <a:r>
              <a:rPr lang="en-US" sz="2800" dirty="0" smtClean="0">
                <a:latin typeface="Arial" pitchFamily="34" charset="0"/>
                <a:cs typeface="Arial" pitchFamily="34" charset="0"/>
              </a:rPr>
              <a:t>Even the difficult periods of time don’t deteriorate.</a:t>
            </a:r>
          </a:p>
          <a:p>
            <a:pPr>
              <a:buFont typeface="Wingdings" pitchFamily="2" charset="2"/>
              <a:buChar char="q"/>
            </a:pPr>
            <a:r>
              <a:rPr lang="en-US" altLang="en-US" sz="2800" b="1" dirty="0" smtClean="0">
                <a:solidFill>
                  <a:srgbClr val="C00000"/>
                </a:solidFill>
                <a:latin typeface="Arial" pitchFamily="34" charset="0"/>
                <a:cs typeface="Arial" pitchFamily="34" charset="0"/>
              </a:rPr>
              <a:t>Property # 10  </a:t>
            </a:r>
            <a:r>
              <a:rPr lang="en-US" altLang="en-US" sz="2800" b="1" dirty="0" smtClean="0">
                <a:solidFill>
                  <a:srgbClr val="0070C0"/>
                </a:solidFill>
                <a:latin typeface="Arial" pitchFamily="34" charset="0"/>
                <a:cs typeface="Arial" pitchFamily="34" charset="0"/>
              </a:rPr>
              <a:t>of  a  professional :  Don’t be trend Follower, try to be trend setter, try to lead from front.</a:t>
            </a:r>
          </a:p>
          <a:p>
            <a:pPr>
              <a:defRPr/>
            </a:pPr>
            <a:r>
              <a:rPr lang="en-US" sz="2800" dirty="0" smtClean="0">
                <a:latin typeface="Arial" pitchFamily="34" charset="0"/>
                <a:cs typeface="Arial" pitchFamily="34" charset="0"/>
              </a:rPr>
              <a:t>Analyze  the  situation  and  willing  to  take  new paths and try new solutions.</a:t>
            </a:r>
          </a:p>
          <a:p>
            <a:pPr>
              <a:defRPr/>
            </a:pPr>
            <a:r>
              <a:rPr lang="en-US" sz="2800" dirty="0" smtClean="0">
                <a:latin typeface="Arial" pitchFamily="34" charset="0"/>
                <a:cs typeface="Arial" pitchFamily="34" charset="0"/>
              </a:rPr>
              <a:t>That’s why the people who lead are called “leaders”.</a:t>
            </a:r>
          </a:p>
          <a:p>
            <a:pPr>
              <a:buNone/>
            </a:pPr>
            <a:endParaRPr lang="en-US" sz="2800" b="1" dirty="0">
              <a:solidFill>
                <a:srgbClr val="0070C0"/>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000" b="1" dirty="0" smtClean="0">
                <a:solidFill>
                  <a:srgbClr val="0070C0"/>
                </a:solidFill>
                <a:latin typeface="Arial" pitchFamily="34" charset="0"/>
                <a:cs typeface="Arial" pitchFamily="34" charset="0"/>
              </a:rPr>
              <a:t>Applying Professionalism in Real Life</a:t>
            </a:r>
            <a:endParaRPr lang="en-US" sz="4000" b="1" dirty="0">
              <a:solidFill>
                <a:srgbClr val="0070C0"/>
              </a:solidFill>
              <a:latin typeface="Arial" pitchFamily="34" charset="0"/>
              <a:cs typeface="Arial" pitchFamily="34" charset="0"/>
            </a:endParaRPr>
          </a:p>
        </p:txBody>
      </p:sp>
      <p:sp>
        <p:nvSpPr>
          <p:cNvPr id="3" name="Content Placeholder 2"/>
          <p:cNvSpPr>
            <a:spLocks noGrp="1"/>
          </p:cNvSpPr>
          <p:nvPr>
            <p:ph sz="quarter" idx="1"/>
          </p:nvPr>
        </p:nvSpPr>
        <p:spPr>
          <a:xfrm>
            <a:off x="304800" y="1527048"/>
            <a:ext cx="11353799" cy="4572000"/>
          </a:xfrm>
        </p:spPr>
        <p:txBody>
          <a:bodyPr>
            <a:normAutofit/>
          </a:bodyPr>
          <a:lstStyle/>
          <a:p>
            <a:pPr marL="0" indent="0">
              <a:buFont typeface="Wingdings" panose="05000000000000000000" pitchFamily="2" charset="2"/>
              <a:buNone/>
              <a:defRPr/>
            </a:pPr>
            <a:r>
              <a:rPr lang="en-US" sz="2800" dirty="0" smtClean="0"/>
              <a:t> </a:t>
            </a:r>
            <a:r>
              <a:rPr lang="en-US" sz="2800" dirty="0" smtClean="0">
                <a:latin typeface="Arial" pitchFamily="34" charset="0"/>
                <a:cs typeface="Arial" pitchFamily="34" charset="0"/>
              </a:rPr>
              <a:t>Consider the following Cases:- </a:t>
            </a:r>
            <a:br>
              <a:rPr lang="en-US" sz="2800" dirty="0" smtClean="0">
                <a:latin typeface="Arial" pitchFamily="34" charset="0"/>
                <a:cs typeface="Arial" pitchFamily="34" charset="0"/>
              </a:rPr>
            </a:br>
            <a:r>
              <a:rPr lang="en-US" sz="2800" dirty="0" smtClean="0">
                <a:latin typeface="Arial" pitchFamily="34" charset="0"/>
                <a:cs typeface="Arial" pitchFamily="34" charset="0"/>
              </a:rPr>
              <a:t> </a:t>
            </a:r>
            <a:r>
              <a:rPr lang="en-US" sz="2800" u="sng" dirty="0" smtClean="0">
                <a:solidFill>
                  <a:srgbClr val="C00000"/>
                </a:solidFill>
                <a:latin typeface="Arial" pitchFamily="34" charset="0"/>
                <a:cs typeface="Arial" pitchFamily="34" charset="0"/>
              </a:rPr>
              <a:t>Case #1</a:t>
            </a:r>
          </a:p>
          <a:p>
            <a:pPr>
              <a:defRPr/>
            </a:pPr>
            <a:r>
              <a:rPr lang="en-US" sz="2800" dirty="0" smtClean="0">
                <a:latin typeface="Arial" pitchFamily="34" charset="0"/>
                <a:cs typeface="Arial" pitchFamily="34" charset="0"/>
              </a:rPr>
              <a:t>You  are a IT director of a company. Developers, software engineers,   programmers and other staff working under </a:t>
            </a:r>
            <a:r>
              <a:rPr lang="en-US" sz="2800" dirty="0" err="1" smtClean="0">
                <a:latin typeface="Arial" pitchFamily="34" charset="0"/>
                <a:cs typeface="Arial" pitchFamily="34" charset="0"/>
              </a:rPr>
              <a:t>you,want</a:t>
            </a:r>
            <a:r>
              <a:rPr lang="en-US" sz="2800" dirty="0" smtClean="0">
                <a:latin typeface="Arial" pitchFamily="34" charset="0"/>
                <a:cs typeface="Arial" pitchFamily="34" charset="0"/>
              </a:rPr>
              <a:t> you to arrange relevant training and certifications for them.</a:t>
            </a:r>
            <a:br>
              <a:rPr lang="en-US" sz="2800" dirty="0" smtClean="0">
                <a:latin typeface="Arial" pitchFamily="34" charset="0"/>
                <a:cs typeface="Arial" pitchFamily="34" charset="0"/>
              </a:rPr>
            </a:br>
            <a:endParaRPr lang="en-US" sz="2800" dirty="0" smtClean="0">
              <a:latin typeface="Arial" pitchFamily="34" charset="0"/>
              <a:cs typeface="Arial" pitchFamily="34" charset="0"/>
            </a:endParaRPr>
          </a:p>
          <a:p>
            <a:pPr>
              <a:defRPr/>
            </a:pPr>
            <a:r>
              <a:rPr lang="en-US" sz="2800" dirty="0" smtClean="0">
                <a:latin typeface="Arial" pitchFamily="34" charset="0"/>
                <a:cs typeface="Arial" pitchFamily="34" charset="0"/>
              </a:rPr>
              <a:t>How would you react / reply/  respond in a way that is legal,  moral, and ethical?</a:t>
            </a:r>
          </a:p>
          <a:p>
            <a:pPr>
              <a:buFont typeface="Wingdings" pitchFamily="2" charset="2"/>
              <a:buChar char="q"/>
            </a:pPr>
            <a:endParaRPr lang="en-US" sz="28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277" y="152400"/>
            <a:ext cx="11094720" cy="1219200"/>
          </a:xfrm>
        </p:spPr>
        <p:txBody>
          <a:bodyPr>
            <a:noAutofit/>
          </a:bodyPr>
          <a:lstStyle/>
          <a:p>
            <a:r>
              <a:rPr lang="en-US" altLang="en-US" sz="4000" b="1" dirty="0" smtClean="0">
                <a:solidFill>
                  <a:srgbClr val="0070C0"/>
                </a:solidFill>
                <a:latin typeface="Arial" pitchFamily="34" charset="0"/>
                <a:cs typeface="Arial" pitchFamily="34" charset="0"/>
              </a:rPr>
              <a:t>Applying Professionalism in Real Life</a:t>
            </a:r>
            <a:br>
              <a:rPr lang="en-US" altLang="en-US" sz="4000" b="1" dirty="0" smtClean="0">
                <a:solidFill>
                  <a:srgbClr val="0070C0"/>
                </a:solidFill>
                <a:latin typeface="Arial" pitchFamily="34" charset="0"/>
                <a:cs typeface="Arial" pitchFamily="34" charset="0"/>
              </a:rPr>
            </a:br>
            <a:r>
              <a:rPr lang="en-US" altLang="en-US" sz="4000" b="1" dirty="0" smtClean="0">
                <a:solidFill>
                  <a:srgbClr val="0070C0"/>
                </a:solidFill>
                <a:latin typeface="Arial" pitchFamily="34" charset="0"/>
                <a:cs typeface="Arial" pitchFamily="34" charset="0"/>
              </a:rPr>
              <a:t>(Continues)</a:t>
            </a:r>
            <a:endParaRPr lang="en-US" sz="4000" dirty="0"/>
          </a:p>
        </p:txBody>
      </p:sp>
      <p:sp>
        <p:nvSpPr>
          <p:cNvPr id="3" name="Content Placeholder 2"/>
          <p:cNvSpPr>
            <a:spLocks noGrp="1"/>
          </p:cNvSpPr>
          <p:nvPr>
            <p:ph sz="quarter" idx="1"/>
          </p:nvPr>
        </p:nvSpPr>
        <p:spPr>
          <a:xfrm>
            <a:off x="228600" y="1527048"/>
            <a:ext cx="11430000" cy="4572000"/>
          </a:xfrm>
        </p:spPr>
        <p:txBody>
          <a:bodyPr/>
          <a:lstStyle/>
          <a:p>
            <a:pPr>
              <a:buNone/>
            </a:pPr>
            <a:r>
              <a:rPr lang="en-US" sz="2800" u="sng" dirty="0" smtClean="0">
                <a:solidFill>
                  <a:srgbClr val="C00000"/>
                </a:solidFill>
                <a:latin typeface="Arial" pitchFamily="34" charset="0"/>
                <a:cs typeface="Arial" pitchFamily="34" charset="0"/>
              </a:rPr>
              <a:t>Case #2</a:t>
            </a:r>
          </a:p>
          <a:p>
            <a:endParaRPr lang="en-US" sz="2400" u="sng" dirty="0" smtClean="0">
              <a:solidFill>
                <a:srgbClr val="C00000"/>
              </a:solidFill>
              <a:latin typeface="Arial" pitchFamily="34" charset="0"/>
              <a:cs typeface="Arial" pitchFamily="34" charset="0"/>
            </a:endParaRPr>
          </a:p>
          <a:p>
            <a:pPr>
              <a:defRPr/>
            </a:pPr>
            <a:r>
              <a:rPr lang="en-US" sz="2800" dirty="0" smtClean="0">
                <a:latin typeface="Arial" pitchFamily="34" charset="0"/>
                <a:cs typeface="Arial" pitchFamily="34" charset="0"/>
              </a:rPr>
              <a:t>Being an owner of a company or a software house your subordinates or  developers  want  to  work  for  a  non-profit organization (NGO) in company’s time.</a:t>
            </a:r>
            <a:br>
              <a:rPr lang="en-US" sz="2800" dirty="0" smtClean="0">
                <a:latin typeface="Arial" pitchFamily="34" charset="0"/>
                <a:cs typeface="Arial" pitchFamily="34" charset="0"/>
              </a:rPr>
            </a:br>
            <a:endParaRPr lang="en-US" sz="2800" dirty="0" smtClean="0">
              <a:latin typeface="Arial" pitchFamily="34" charset="0"/>
              <a:cs typeface="Arial" pitchFamily="34" charset="0"/>
            </a:endParaRPr>
          </a:p>
          <a:p>
            <a:pPr algn="just">
              <a:defRPr/>
            </a:pPr>
            <a:r>
              <a:rPr lang="en-US" sz="2800" dirty="0" smtClean="0">
                <a:latin typeface="Arial" pitchFamily="34" charset="0"/>
                <a:cs typeface="Arial" pitchFamily="34" charset="0"/>
              </a:rPr>
              <a:t>How would you react / reply/  respond in a way that is legal,  moral, and ethical?</a:t>
            </a:r>
          </a:p>
          <a:p>
            <a:pPr algn="just">
              <a:buNone/>
              <a:defRPr/>
            </a:pPr>
            <a:endParaRPr lang="en-US" sz="2800" dirty="0" smtClean="0">
              <a:latin typeface="Arial" pitchFamily="34" charset="0"/>
              <a:cs typeface="Arial" pitchFamily="34" charset="0"/>
            </a:endParaRP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277" y="0"/>
            <a:ext cx="11094720" cy="1295400"/>
          </a:xfrm>
        </p:spPr>
        <p:txBody>
          <a:bodyPr>
            <a:noAutofit/>
          </a:bodyPr>
          <a:lstStyle/>
          <a:p>
            <a:r>
              <a:rPr lang="en-US" altLang="en-US" sz="4000" b="1" dirty="0" smtClean="0">
                <a:solidFill>
                  <a:srgbClr val="0070C0"/>
                </a:solidFill>
                <a:latin typeface="Arial" pitchFamily="34" charset="0"/>
                <a:cs typeface="Arial" pitchFamily="34" charset="0"/>
              </a:rPr>
              <a:t>Applying Professionalism in Real Life</a:t>
            </a:r>
            <a:br>
              <a:rPr lang="en-US" altLang="en-US" sz="4000" b="1" dirty="0" smtClean="0">
                <a:solidFill>
                  <a:srgbClr val="0070C0"/>
                </a:solidFill>
                <a:latin typeface="Arial" pitchFamily="34" charset="0"/>
                <a:cs typeface="Arial" pitchFamily="34" charset="0"/>
              </a:rPr>
            </a:br>
            <a:r>
              <a:rPr lang="en-US" altLang="en-US" sz="4000" b="1" dirty="0" smtClean="0">
                <a:solidFill>
                  <a:srgbClr val="0070C0"/>
                </a:solidFill>
                <a:latin typeface="Arial" pitchFamily="34" charset="0"/>
                <a:cs typeface="Arial" pitchFamily="34" charset="0"/>
              </a:rPr>
              <a:t>(Continues)</a:t>
            </a:r>
            <a:endParaRPr lang="en-US" sz="4000" dirty="0"/>
          </a:p>
        </p:txBody>
      </p:sp>
      <p:sp>
        <p:nvSpPr>
          <p:cNvPr id="3" name="Content Placeholder 2"/>
          <p:cNvSpPr>
            <a:spLocks noGrp="1"/>
          </p:cNvSpPr>
          <p:nvPr>
            <p:ph sz="quarter" idx="1"/>
          </p:nvPr>
        </p:nvSpPr>
        <p:spPr/>
        <p:txBody>
          <a:bodyPr/>
          <a:lstStyle/>
          <a:p>
            <a:pPr algn="just">
              <a:buNone/>
              <a:defRPr/>
            </a:pPr>
            <a:r>
              <a:rPr lang="en-US" sz="2800" u="sng" dirty="0" smtClean="0">
                <a:solidFill>
                  <a:srgbClr val="C00000"/>
                </a:solidFill>
                <a:latin typeface="Arial" pitchFamily="34" charset="0"/>
                <a:cs typeface="Arial" pitchFamily="34" charset="0"/>
              </a:rPr>
              <a:t>Case #3</a:t>
            </a:r>
          </a:p>
          <a:p>
            <a:pPr algn="just">
              <a:buNone/>
              <a:defRPr/>
            </a:pPr>
            <a:endParaRPr lang="en-US" dirty="0" smtClean="0"/>
          </a:p>
          <a:p>
            <a:pPr algn="just">
              <a:defRPr/>
            </a:pPr>
            <a:r>
              <a:rPr lang="en-US" sz="2800" dirty="0" smtClean="0">
                <a:latin typeface="Arial" pitchFamily="34" charset="0"/>
                <a:cs typeface="Arial" pitchFamily="34" charset="0"/>
              </a:rPr>
              <a:t>You are a Android developer at a company where management daily encourages you to work extra 2 hours in a company.</a:t>
            </a:r>
            <a:br>
              <a:rPr lang="en-US" sz="2800" dirty="0" smtClean="0">
                <a:latin typeface="Arial" pitchFamily="34" charset="0"/>
                <a:cs typeface="Arial" pitchFamily="34" charset="0"/>
              </a:rPr>
            </a:br>
            <a:endParaRPr lang="en-US" sz="2800" dirty="0" smtClean="0">
              <a:latin typeface="Arial" pitchFamily="34" charset="0"/>
              <a:cs typeface="Arial" pitchFamily="34" charset="0"/>
            </a:endParaRPr>
          </a:p>
          <a:p>
            <a:pPr algn="just">
              <a:defRPr/>
            </a:pPr>
            <a:r>
              <a:rPr lang="en-US" sz="2800" dirty="0" smtClean="0">
                <a:latin typeface="Arial" pitchFamily="34" charset="0"/>
                <a:cs typeface="Arial" pitchFamily="34" charset="0"/>
              </a:rPr>
              <a:t>How  would  you  respond  in  a  way  that is legal, moral, and ethical ?</a:t>
            </a:r>
          </a:p>
          <a:p>
            <a:pPr>
              <a:buNone/>
            </a:pPr>
            <a:endParaRPr lang="en-US" sz="2800" dirty="0">
              <a:latin typeface="Arial" pitchFamily="34" charset="0"/>
              <a:cs typeface="Arial"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endParaRPr lang="en-US" dirty="0" smtClean="0"/>
          </a:p>
          <a:p>
            <a:endParaRPr lang="en-US" dirty="0" smtClean="0"/>
          </a:p>
          <a:p>
            <a:pPr>
              <a:buNone/>
            </a:pPr>
            <a:r>
              <a:rPr lang="en-US" sz="6000" dirty="0" smtClean="0">
                <a:latin typeface="Arial" pitchFamily="34" charset="0"/>
                <a:cs typeface="Arial" pitchFamily="34" charset="0"/>
              </a:rPr>
              <a:t>                   </a:t>
            </a:r>
            <a:r>
              <a:rPr lang="en-US" sz="9600" dirty="0" smtClean="0">
                <a:solidFill>
                  <a:srgbClr val="0070C0"/>
                </a:solidFill>
                <a:latin typeface="Arial" pitchFamily="34" charset="0"/>
                <a:cs typeface="Arial" pitchFamily="34" charset="0"/>
              </a:rPr>
              <a:t>END</a:t>
            </a:r>
            <a:endParaRPr lang="en-US" sz="9600" dirty="0">
              <a:solidFill>
                <a:srgbClr val="0070C0"/>
              </a:solidFill>
              <a:latin typeface="Arial" pitchFamily="34" charset="0"/>
              <a:cs typeface="Arial" pitchFamily="34" charset="0"/>
            </a:endParaRP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737</TotalTime>
  <Words>705</Words>
  <Application>Microsoft Office PowerPoint</Application>
  <PresentationFormat>Custom</PresentationFormat>
  <Paragraphs>106</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Civic</vt:lpstr>
      <vt:lpstr>              </vt:lpstr>
      <vt:lpstr>Professional Practices Week 1- Profession</vt:lpstr>
      <vt:lpstr>Introduction</vt:lpstr>
      <vt:lpstr>Professional Responsibilities</vt:lpstr>
      <vt:lpstr>According to Engineering Council an Engineer must know</vt:lpstr>
      <vt:lpstr>The Professionalism</vt:lpstr>
      <vt:lpstr>Characteristics of a Profession</vt:lpstr>
      <vt:lpstr>Traits of a Profession (Continues)</vt:lpstr>
      <vt:lpstr>Traits of a Profession (Continues)</vt:lpstr>
      <vt:lpstr>Ethics</vt:lpstr>
      <vt:lpstr>Law</vt:lpstr>
      <vt:lpstr>Difference between Law &amp; Ethics</vt:lpstr>
      <vt:lpstr>Properties / Characteristics of a professional</vt:lpstr>
      <vt:lpstr>Properties / Characteristics of a professional (Continues)</vt:lpstr>
      <vt:lpstr>Properties / Characteristics of a professional (Continues)</vt:lpstr>
      <vt:lpstr>Properties / Characteristics of a professional (Continues)</vt:lpstr>
      <vt:lpstr>Properties / Characteristics of a professional (Continues)</vt:lpstr>
      <vt:lpstr>Applying Professionalism in Real Life</vt:lpstr>
      <vt:lpstr>Applying Professionalism in Real Life (Continues)</vt:lpstr>
      <vt:lpstr>Applying Professionalism in Real Life (Continues)</vt:lpstr>
      <vt:lpstr>Slide 21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Practices Week 1- Profession</dc:title>
  <dc:creator>Faraz Khan</dc:creator>
  <cp:lastModifiedBy>Faraz Khan</cp:lastModifiedBy>
  <cp:revision>76</cp:revision>
  <dcterms:created xsi:type="dcterms:W3CDTF">2023-10-12T07:59:10Z</dcterms:created>
  <dcterms:modified xsi:type="dcterms:W3CDTF">2023-10-19T13:20:13Z</dcterms:modified>
</cp:coreProperties>
</file>