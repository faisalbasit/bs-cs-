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0" r:id="rId5"/>
    <p:sldId id="261" r:id="rId6"/>
    <p:sldId id="262"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p:scale>
          <a:sx n="53" d="100"/>
          <a:sy n="53" d="100"/>
        </p:scale>
        <p:origin x="703" y="3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5C2FED7-5EEE-4967-8716-47CCE902BF23}" type="datetimeFigureOut">
              <a:rPr lang="en-US" smtClean="0"/>
              <a:t>3/20/2023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EAAF92-5E91-4BBC-9117-5896CAEF9000}" type="slidenum">
              <a:rPr lang="en-US" smtClean="0"/>
              <a:t>‹#›</a:t>
            </a:fld>
            <a:endParaRPr lang="en-US"/>
          </a:p>
        </p:txBody>
      </p:sp>
    </p:spTree>
    <p:extLst>
      <p:ext uri="{BB962C8B-B14F-4D97-AF65-F5344CB8AC3E}">
        <p14:creationId xmlns:p14="http://schemas.microsoft.com/office/powerpoint/2010/main" val="1831411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C2FED7-5EEE-4967-8716-47CCE902BF23}" type="datetimeFigureOut">
              <a:rPr lang="en-US" smtClean="0"/>
              <a:t>3/20/2023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EAAF92-5E91-4BBC-9117-5896CAEF9000}" type="slidenum">
              <a:rPr lang="en-US" smtClean="0"/>
              <a:t>‹#›</a:t>
            </a:fld>
            <a:endParaRPr lang="en-US"/>
          </a:p>
        </p:txBody>
      </p:sp>
    </p:spTree>
    <p:extLst>
      <p:ext uri="{BB962C8B-B14F-4D97-AF65-F5344CB8AC3E}">
        <p14:creationId xmlns:p14="http://schemas.microsoft.com/office/powerpoint/2010/main" val="361131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C2FED7-5EEE-4967-8716-47CCE902BF23}" type="datetimeFigureOut">
              <a:rPr lang="en-US" smtClean="0"/>
              <a:t>3/20/2023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EAAF92-5E91-4BBC-9117-5896CAEF9000}" type="slidenum">
              <a:rPr lang="en-US" smtClean="0"/>
              <a:t>‹#›</a:t>
            </a:fld>
            <a:endParaRPr lang="en-US"/>
          </a:p>
        </p:txBody>
      </p:sp>
    </p:spTree>
    <p:extLst>
      <p:ext uri="{BB962C8B-B14F-4D97-AF65-F5344CB8AC3E}">
        <p14:creationId xmlns:p14="http://schemas.microsoft.com/office/powerpoint/2010/main" val="3875185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C2FED7-5EEE-4967-8716-47CCE902BF23}" type="datetimeFigureOut">
              <a:rPr lang="en-US" smtClean="0"/>
              <a:t>3/20/2023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EAAF92-5E91-4BBC-9117-5896CAEF9000}" type="slidenum">
              <a:rPr lang="en-US" smtClean="0"/>
              <a:t>‹#›</a:t>
            </a:fld>
            <a:endParaRPr lang="en-US"/>
          </a:p>
        </p:txBody>
      </p:sp>
    </p:spTree>
    <p:extLst>
      <p:ext uri="{BB962C8B-B14F-4D97-AF65-F5344CB8AC3E}">
        <p14:creationId xmlns:p14="http://schemas.microsoft.com/office/powerpoint/2010/main" val="3554954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C2FED7-5EEE-4967-8716-47CCE902BF23}" type="datetimeFigureOut">
              <a:rPr lang="en-US" smtClean="0"/>
              <a:t>3/20/2023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1EAAF92-5E91-4BBC-9117-5896CAEF9000}" type="slidenum">
              <a:rPr lang="en-US" smtClean="0"/>
              <a:t>‹#›</a:t>
            </a:fld>
            <a:endParaRPr lang="en-US"/>
          </a:p>
        </p:txBody>
      </p:sp>
    </p:spTree>
    <p:extLst>
      <p:ext uri="{BB962C8B-B14F-4D97-AF65-F5344CB8AC3E}">
        <p14:creationId xmlns:p14="http://schemas.microsoft.com/office/powerpoint/2010/main" val="578369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C2FED7-5EEE-4967-8716-47CCE902BF23}" type="datetimeFigureOut">
              <a:rPr lang="en-US" smtClean="0"/>
              <a:t>3/20/2023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1EAAF92-5E91-4BBC-9117-5896CAEF9000}" type="slidenum">
              <a:rPr lang="en-US" smtClean="0"/>
              <a:t>‹#›</a:t>
            </a:fld>
            <a:endParaRPr lang="en-US"/>
          </a:p>
        </p:txBody>
      </p:sp>
    </p:spTree>
    <p:extLst>
      <p:ext uri="{BB962C8B-B14F-4D97-AF65-F5344CB8AC3E}">
        <p14:creationId xmlns:p14="http://schemas.microsoft.com/office/powerpoint/2010/main" val="1810235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5C2FED7-5EEE-4967-8716-47CCE902BF23}" type="datetimeFigureOut">
              <a:rPr lang="en-US" smtClean="0"/>
              <a:t>3/20/2023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1EAAF92-5E91-4BBC-9117-5896CAEF9000}" type="slidenum">
              <a:rPr lang="en-US" smtClean="0"/>
              <a:t>‹#›</a:t>
            </a:fld>
            <a:endParaRPr lang="en-US"/>
          </a:p>
        </p:txBody>
      </p:sp>
    </p:spTree>
    <p:extLst>
      <p:ext uri="{BB962C8B-B14F-4D97-AF65-F5344CB8AC3E}">
        <p14:creationId xmlns:p14="http://schemas.microsoft.com/office/powerpoint/2010/main" val="2001073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C2FED7-5EEE-4967-8716-47CCE902BF23}" type="datetimeFigureOut">
              <a:rPr lang="en-US" smtClean="0"/>
              <a:t>3/20/2023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EAAF92-5E91-4BBC-9117-5896CAEF9000}" type="slidenum">
              <a:rPr lang="en-US" smtClean="0"/>
              <a:t>‹#›</a:t>
            </a:fld>
            <a:endParaRPr lang="en-US"/>
          </a:p>
        </p:txBody>
      </p:sp>
    </p:spTree>
    <p:extLst>
      <p:ext uri="{BB962C8B-B14F-4D97-AF65-F5344CB8AC3E}">
        <p14:creationId xmlns:p14="http://schemas.microsoft.com/office/powerpoint/2010/main" val="1584465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C2FED7-5EEE-4967-8716-47CCE902BF23}" type="datetimeFigureOut">
              <a:rPr lang="en-US" smtClean="0"/>
              <a:t>3/20/2023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EAAF92-5E91-4BBC-9117-5896CAEF9000}" type="slidenum">
              <a:rPr lang="en-US" smtClean="0"/>
              <a:t>‹#›</a:t>
            </a:fld>
            <a:endParaRPr lang="en-US"/>
          </a:p>
        </p:txBody>
      </p:sp>
    </p:spTree>
    <p:extLst>
      <p:ext uri="{BB962C8B-B14F-4D97-AF65-F5344CB8AC3E}">
        <p14:creationId xmlns:p14="http://schemas.microsoft.com/office/powerpoint/2010/main" val="3489233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C2FED7-5EEE-4967-8716-47CCE902BF23}" type="datetimeFigureOut">
              <a:rPr lang="en-US" smtClean="0"/>
              <a:t>3/20/2023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EAAF92-5E91-4BBC-9117-5896CAEF9000}" type="slidenum">
              <a:rPr lang="en-US" smtClean="0"/>
              <a:t>‹#›</a:t>
            </a:fld>
            <a:endParaRPr lang="en-US"/>
          </a:p>
        </p:txBody>
      </p:sp>
    </p:spTree>
    <p:extLst>
      <p:ext uri="{BB962C8B-B14F-4D97-AF65-F5344CB8AC3E}">
        <p14:creationId xmlns:p14="http://schemas.microsoft.com/office/powerpoint/2010/main" val="4146460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C2FED7-5EEE-4967-8716-47CCE902BF23}" type="datetimeFigureOut">
              <a:rPr lang="en-US" smtClean="0"/>
              <a:t>3/20/2023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EAAF92-5E91-4BBC-9117-5896CAEF9000}" type="slidenum">
              <a:rPr lang="en-US" smtClean="0"/>
              <a:t>‹#›</a:t>
            </a:fld>
            <a:endParaRPr lang="en-US"/>
          </a:p>
        </p:txBody>
      </p:sp>
    </p:spTree>
    <p:extLst>
      <p:ext uri="{BB962C8B-B14F-4D97-AF65-F5344CB8AC3E}">
        <p14:creationId xmlns:p14="http://schemas.microsoft.com/office/powerpoint/2010/main" val="4280889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C2FED7-5EEE-4967-8716-47CCE902BF23}" type="datetimeFigureOut">
              <a:rPr lang="en-US" smtClean="0"/>
              <a:t>3/20/2023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EAAF92-5E91-4BBC-9117-5896CAEF9000}"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0591770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C2FED7-5EEE-4967-8716-47CCE902BF23}" type="datetimeFigureOut">
              <a:rPr lang="en-US" smtClean="0"/>
              <a:t>3/20/2023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EAAF92-5E91-4BBC-9117-5896CAEF9000}" type="slidenum">
              <a:rPr lang="en-US" smtClean="0"/>
              <a:t>‹#›</a:t>
            </a:fld>
            <a:endParaRPr lang="en-US"/>
          </a:p>
        </p:txBody>
      </p:sp>
    </p:spTree>
    <p:extLst>
      <p:ext uri="{BB962C8B-B14F-4D97-AF65-F5344CB8AC3E}">
        <p14:creationId xmlns:p14="http://schemas.microsoft.com/office/powerpoint/2010/main" val="41771198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C2FED7-5EEE-4967-8716-47CCE902BF23}" type="datetimeFigureOut">
              <a:rPr lang="en-US" smtClean="0"/>
              <a:t>3/20/2023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1EAAF92-5E91-4BBC-9117-5896CAEF9000}" type="slidenum">
              <a:rPr lang="en-US" smtClean="0"/>
              <a:t>‹#›</a:t>
            </a:fld>
            <a:endParaRPr lang="en-US"/>
          </a:p>
        </p:txBody>
      </p:sp>
    </p:spTree>
    <p:extLst>
      <p:ext uri="{BB962C8B-B14F-4D97-AF65-F5344CB8AC3E}">
        <p14:creationId xmlns:p14="http://schemas.microsoft.com/office/powerpoint/2010/main" val="5393656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C2FED7-5EEE-4967-8716-47CCE902BF23}" type="datetimeFigureOut">
              <a:rPr lang="en-US" smtClean="0"/>
              <a:t>3/20/2023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1EAAF92-5E91-4BBC-9117-5896CAEF9000}" type="slidenum">
              <a:rPr lang="en-US" smtClean="0"/>
              <a:t>‹#›</a:t>
            </a:fld>
            <a:endParaRPr lang="en-US"/>
          </a:p>
        </p:txBody>
      </p:sp>
    </p:spTree>
    <p:extLst>
      <p:ext uri="{BB962C8B-B14F-4D97-AF65-F5344CB8AC3E}">
        <p14:creationId xmlns:p14="http://schemas.microsoft.com/office/powerpoint/2010/main" val="39601123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C2FED7-5EEE-4967-8716-47CCE902BF23}" type="datetimeFigureOut">
              <a:rPr lang="en-US" smtClean="0"/>
              <a:t>3/20/2023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EAAF92-5E91-4BBC-9117-5896CAEF9000}" type="slidenum">
              <a:rPr lang="en-US" smtClean="0"/>
              <a:t>‹#›</a:t>
            </a:fld>
            <a:endParaRPr lang="en-US"/>
          </a:p>
        </p:txBody>
      </p:sp>
    </p:spTree>
    <p:extLst>
      <p:ext uri="{BB962C8B-B14F-4D97-AF65-F5344CB8AC3E}">
        <p14:creationId xmlns:p14="http://schemas.microsoft.com/office/powerpoint/2010/main" val="25620349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C2FED7-5EEE-4967-8716-47CCE902BF23}" type="datetimeFigureOut">
              <a:rPr lang="en-US" smtClean="0"/>
              <a:t>3/20/2023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EAAF92-5E91-4BBC-9117-5896CAEF9000}" type="slidenum">
              <a:rPr lang="en-US" smtClean="0"/>
              <a:t>‹#›</a:t>
            </a:fld>
            <a:endParaRPr lang="en-US"/>
          </a:p>
        </p:txBody>
      </p:sp>
    </p:spTree>
    <p:extLst>
      <p:ext uri="{BB962C8B-B14F-4D97-AF65-F5344CB8AC3E}">
        <p14:creationId xmlns:p14="http://schemas.microsoft.com/office/powerpoint/2010/main" val="1317804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5C2FED7-5EEE-4967-8716-47CCE902BF23}" type="datetimeFigureOut">
              <a:rPr lang="en-US" smtClean="0"/>
              <a:t>3/20/2023</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01EAAF92-5E91-4BBC-9117-5896CAEF9000}" type="slidenum">
              <a:rPr lang="en-US" smtClean="0"/>
              <a:t>‹#›</a:t>
            </a:fld>
            <a:endParaRPr lang="en-US"/>
          </a:p>
        </p:txBody>
      </p:sp>
    </p:spTree>
    <p:extLst>
      <p:ext uri="{BB962C8B-B14F-4D97-AF65-F5344CB8AC3E}">
        <p14:creationId xmlns:p14="http://schemas.microsoft.com/office/powerpoint/2010/main" val="36800449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50EC-0FAE-FE95-3E80-7D5B3045902D}"/>
              </a:ext>
            </a:extLst>
          </p:cNvPr>
          <p:cNvSpPr>
            <a:spLocks noGrp="1"/>
          </p:cNvSpPr>
          <p:nvPr>
            <p:ph type="ctrTitle"/>
          </p:nvPr>
        </p:nvSpPr>
        <p:spPr>
          <a:xfrm>
            <a:off x="803097" y="-1596132"/>
            <a:ext cx="9599488" cy="3192264"/>
          </a:xfrm>
        </p:spPr>
        <p:txBody>
          <a:bodyPr>
            <a:normAutofit/>
          </a:bodyPr>
          <a:lstStyle/>
          <a:p>
            <a:pPr marL="1143000" indent="-1143000" algn="l">
              <a:buFont typeface="Wingdings" panose="05000000000000000000" pitchFamily="2" charset="2"/>
              <a:buChar char="Ø"/>
            </a:pPr>
            <a:r>
              <a:rPr lang="en-US" sz="7200" b="1" i="1" u="sng">
                <a:solidFill>
                  <a:srgbClr val="0000FF"/>
                </a:solidFill>
                <a:latin typeface="Algerian" panose="04020705040A02060702" pitchFamily="82" charset="0"/>
              </a:rPr>
              <a:t>Third week Topic </a:t>
            </a:r>
            <a:endParaRPr lang="en-US" sz="7200" b="1" i="1" u="sng" dirty="0">
              <a:solidFill>
                <a:srgbClr val="0000FF"/>
              </a:solidFill>
              <a:latin typeface="Algerian" panose="04020705040A02060702" pitchFamily="82" charset="0"/>
            </a:endParaRPr>
          </a:p>
        </p:txBody>
      </p:sp>
      <p:sp>
        <p:nvSpPr>
          <p:cNvPr id="3" name="Subtitle 2">
            <a:extLst>
              <a:ext uri="{FF2B5EF4-FFF2-40B4-BE49-F238E27FC236}">
                <a16:creationId xmlns:a16="http://schemas.microsoft.com/office/drawing/2014/main" id="{C7FD9C0E-B6B7-3747-97CD-990DF8D62C13}"/>
              </a:ext>
            </a:extLst>
          </p:cNvPr>
          <p:cNvSpPr>
            <a:spLocks noGrp="1"/>
          </p:cNvSpPr>
          <p:nvPr>
            <p:ph type="subTitle" idx="1"/>
          </p:nvPr>
        </p:nvSpPr>
        <p:spPr>
          <a:xfrm>
            <a:off x="42808" y="1975207"/>
            <a:ext cx="11864939" cy="1371599"/>
          </a:xfrm>
        </p:spPr>
        <p:txBody>
          <a:bodyPr>
            <a:noAutofit/>
          </a:bodyPr>
          <a:lstStyle/>
          <a:p>
            <a:r>
              <a:rPr lang="en-US" sz="7700" b="1" i="1" u="sng" dirty="0">
                <a:solidFill>
                  <a:srgbClr val="FF0000"/>
                </a:solidFill>
                <a:latin typeface="Algerian" panose="04020705040A02060702" pitchFamily="82" charset="0"/>
              </a:rPr>
              <a:t>market structure</a:t>
            </a:r>
            <a:endParaRPr lang="en-US" sz="7700" dirty="0"/>
          </a:p>
          <a:p>
            <a:r>
              <a:rPr lang="en-US" sz="7700" b="1" i="1" u="sng" dirty="0">
                <a:solidFill>
                  <a:srgbClr val="FF0000"/>
                </a:solidFill>
                <a:latin typeface="Algerian" panose="04020705040A02060702" pitchFamily="82" charset="0"/>
              </a:rPr>
              <a:t>And</a:t>
            </a:r>
          </a:p>
          <a:p>
            <a:r>
              <a:rPr lang="en-US" sz="7400" b="1" i="1" u="sng" dirty="0">
                <a:solidFill>
                  <a:srgbClr val="FF0000"/>
                </a:solidFill>
                <a:latin typeface="Algerian" panose="04020705040A02060702" pitchFamily="82" charset="0"/>
              </a:rPr>
              <a:t>Forms of market</a:t>
            </a:r>
          </a:p>
        </p:txBody>
      </p:sp>
    </p:spTree>
    <p:extLst>
      <p:ext uri="{BB962C8B-B14F-4D97-AF65-F5344CB8AC3E}">
        <p14:creationId xmlns:p14="http://schemas.microsoft.com/office/powerpoint/2010/main" val="1930868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B589C-CC6A-83A7-E8A1-E748D9D7F58C}"/>
              </a:ext>
            </a:extLst>
          </p:cNvPr>
          <p:cNvSpPr>
            <a:spLocks noGrp="1"/>
          </p:cNvSpPr>
          <p:nvPr>
            <p:ph type="title"/>
          </p:nvPr>
        </p:nvSpPr>
        <p:spPr>
          <a:xfrm>
            <a:off x="0" y="0"/>
            <a:ext cx="10610406" cy="1126734"/>
          </a:xfrm>
        </p:spPr>
        <p:txBody>
          <a:bodyPr>
            <a:normAutofit/>
          </a:bodyPr>
          <a:lstStyle/>
          <a:p>
            <a:pPr marL="857250" indent="-857250">
              <a:buFont typeface="Wingdings" panose="05000000000000000000" pitchFamily="2" charset="2"/>
              <a:buChar char="§"/>
            </a:pPr>
            <a:r>
              <a:rPr lang="en-US" sz="7200" b="1" i="1" u="sng" dirty="0">
                <a:solidFill>
                  <a:srgbClr val="0000FF"/>
                </a:solidFill>
                <a:latin typeface="Algerian" panose="04020705040A02060702" pitchFamily="82" charset="0"/>
              </a:rPr>
              <a:t>Market structure</a:t>
            </a:r>
          </a:p>
        </p:txBody>
      </p:sp>
      <p:sp>
        <p:nvSpPr>
          <p:cNvPr id="3" name="Text Placeholder 2">
            <a:extLst>
              <a:ext uri="{FF2B5EF4-FFF2-40B4-BE49-F238E27FC236}">
                <a16:creationId xmlns:a16="http://schemas.microsoft.com/office/drawing/2014/main" id="{2361DE17-050E-8E78-6D87-E377E2C13EDA}"/>
              </a:ext>
            </a:extLst>
          </p:cNvPr>
          <p:cNvSpPr>
            <a:spLocks noGrp="1"/>
          </p:cNvSpPr>
          <p:nvPr>
            <p:ph type="body" sz="half" idx="2"/>
          </p:nvPr>
        </p:nvSpPr>
        <p:spPr>
          <a:xfrm>
            <a:off x="657232" y="1887019"/>
            <a:ext cx="10877535" cy="4161035"/>
          </a:xfrm>
        </p:spPr>
        <p:txBody>
          <a:bodyPr>
            <a:noAutofit/>
          </a:bodyPr>
          <a:lstStyle/>
          <a:p>
            <a:pPr algn="l"/>
            <a:r>
              <a:rPr lang="en-US" sz="2600" b="1" i="1" dirty="0">
                <a:latin typeface="Times New Roman" panose="02020603050405020304" pitchFamily="18" charset="0"/>
                <a:cs typeface="Times New Roman" panose="02020603050405020304" pitchFamily="18" charset="0"/>
              </a:rPr>
              <a:t>A market refers to the interaction between buyers and sellers who engage in the exchange of goods, services, or resources. In a market, buyers seek to acquire goods or services at a price they are willing to pay, while sellers seek to sell their goods or services at a price they are willing to accept. Markets can take many forms, such as physical marketplaces, online marketplaces, or financial markets, and they can operate at various levels, from local to global. The forces of supply and demand play a significant role in determining the prices of goods and services in a market.</a:t>
            </a:r>
            <a:endParaRPr lang="en-US" sz="2600" dirty="0"/>
          </a:p>
        </p:txBody>
      </p:sp>
    </p:spTree>
    <p:extLst>
      <p:ext uri="{BB962C8B-B14F-4D97-AF65-F5344CB8AC3E}">
        <p14:creationId xmlns:p14="http://schemas.microsoft.com/office/powerpoint/2010/main" val="33462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75F89-658C-F2EA-3417-7B1CB7C2EC45}"/>
              </a:ext>
            </a:extLst>
          </p:cNvPr>
          <p:cNvSpPr>
            <a:spLocks noGrp="1"/>
          </p:cNvSpPr>
          <p:nvPr>
            <p:ph type="title"/>
          </p:nvPr>
        </p:nvSpPr>
        <p:spPr>
          <a:xfrm>
            <a:off x="215757" y="-315075"/>
            <a:ext cx="10364452" cy="3427245"/>
          </a:xfrm>
        </p:spPr>
        <p:txBody>
          <a:bodyPr>
            <a:normAutofit/>
          </a:bodyPr>
          <a:lstStyle/>
          <a:p>
            <a:r>
              <a:rPr lang="en-US" sz="7200" i="1" u="sng" dirty="0">
                <a:solidFill>
                  <a:srgbClr val="0000FF"/>
                </a:solidFill>
                <a:latin typeface="Algerian" panose="04020705040A02060702" pitchFamily="82" charset="0"/>
              </a:rPr>
              <a:t>Forms of market structure</a:t>
            </a:r>
          </a:p>
        </p:txBody>
      </p:sp>
      <p:sp>
        <p:nvSpPr>
          <p:cNvPr id="3" name="Text Placeholder 2">
            <a:extLst>
              <a:ext uri="{FF2B5EF4-FFF2-40B4-BE49-F238E27FC236}">
                <a16:creationId xmlns:a16="http://schemas.microsoft.com/office/drawing/2014/main" id="{BD3D508F-8C69-A0AC-9372-D753C6F3CC95}"/>
              </a:ext>
            </a:extLst>
          </p:cNvPr>
          <p:cNvSpPr>
            <a:spLocks noGrp="1"/>
          </p:cNvSpPr>
          <p:nvPr>
            <p:ph type="body" sz="half" idx="2"/>
          </p:nvPr>
        </p:nvSpPr>
        <p:spPr>
          <a:xfrm>
            <a:off x="913773" y="2587374"/>
            <a:ext cx="11062470" cy="4270626"/>
          </a:xfrm>
        </p:spPr>
        <p:txBody>
          <a:bodyPr>
            <a:noAutofit/>
          </a:bodyPr>
          <a:lstStyle/>
          <a:p>
            <a:pPr algn="l"/>
            <a:r>
              <a:rPr lang="en-US" sz="4400" dirty="0">
                <a:latin typeface="Times New Roman" panose="02020603050405020304" pitchFamily="18" charset="0"/>
                <a:cs typeface="Times New Roman" panose="02020603050405020304" pitchFamily="18" charset="0"/>
              </a:rPr>
              <a:t>  </a:t>
            </a:r>
            <a:r>
              <a:rPr lang="en-US" sz="4400" b="1" i="1" u="sng" dirty="0">
                <a:latin typeface="Times New Roman" panose="02020603050405020304" pitchFamily="18" charset="0"/>
                <a:cs typeface="Times New Roman" panose="02020603050405020304" pitchFamily="18" charset="0"/>
              </a:rPr>
              <a:t>1   Perfect Competition </a:t>
            </a:r>
          </a:p>
          <a:p>
            <a:pPr algn="l"/>
            <a:r>
              <a:rPr lang="en-US" sz="4400" b="1" i="1" u="sng" dirty="0">
                <a:latin typeface="Times New Roman" panose="02020603050405020304" pitchFamily="18" charset="0"/>
                <a:cs typeface="Times New Roman" panose="02020603050405020304" pitchFamily="18" charset="0"/>
              </a:rPr>
              <a:t>  2   Monopolistic Competition1</a:t>
            </a:r>
          </a:p>
          <a:p>
            <a:pPr algn="l"/>
            <a:r>
              <a:rPr lang="en-US" sz="4400" b="1" i="1" u="sng" dirty="0">
                <a:latin typeface="Times New Roman" panose="02020603050405020304" pitchFamily="18" charset="0"/>
                <a:cs typeface="Times New Roman" panose="02020603050405020304" pitchFamily="18" charset="0"/>
              </a:rPr>
              <a:t>  3   Oligopoly </a:t>
            </a:r>
          </a:p>
          <a:p>
            <a:pPr algn="l"/>
            <a:r>
              <a:rPr lang="en-US" sz="4400" b="1" i="1" u="sng" dirty="0">
                <a:latin typeface="Times New Roman" panose="02020603050405020304" pitchFamily="18" charset="0"/>
                <a:cs typeface="Times New Roman" panose="02020603050405020304" pitchFamily="18" charset="0"/>
              </a:rPr>
              <a:t>  4   </a:t>
            </a:r>
            <a:r>
              <a:rPr lang="en-US" sz="4400" b="1" i="1" u="sng" dirty="0" err="1">
                <a:latin typeface="Times New Roman" panose="02020603050405020304" pitchFamily="18" charset="0"/>
                <a:cs typeface="Times New Roman" panose="02020603050405020304" pitchFamily="18" charset="0"/>
              </a:rPr>
              <a:t>Monopol</a:t>
            </a:r>
            <a:endParaRPr lang="en-US" sz="4400" b="1" i="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073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97409-56E4-F8B9-C1ED-0AD3C53BDF80}"/>
              </a:ext>
            </a:extLst>
          </p:cNvPr>
          <p:cNvSpPr>
            <a:spLocks noGrp="1"/>
          </p:cNvSpPr>
          <p:nvPr>
            <p:ph type="title"/>
          </p:nvPr>
        </p:nvSpPr>
        <p:spPr>
          <a:xfrm>
            <a:off x="193982" y="263703"/>
            <a:ext cx="11278226" cy="1167830"/>
          </a:xfrm>
        </p:spPr>
        <p:txBody>
          <a:bodyPr>
            <a:normAutofit/>
          </a:bodyPr>
          <a:lstStyle/>
          <a:p>
            <a:pPr marL="685800" indent="-685800">
              <a:buFont typeface="Wingdings" panose="05000000000000000000" pitchFamily="2" charset="2"/>
              <a:buChar char="Ø"/>
            </a:pPr>
            <a:r>
              <a:rPr lang="en-US" sz="4800" b="1" i="1" u="sng" dirty="0">
                <a:solidFill>
                  <a:srgbClr val="0000FF"/>
                </a:solidFill>
                <a:latin typeface="Algerian" panose="04020705040A02060702" pitchFamily="82" charset="0"/>
              </a:rPr>
              <a:t>Perfect competition market</a:t>
            </a:r>
          </a:p>
        </p:txBody>
      </p:sp>
      <p:sp>
        <p:nvSpPr>
          <p:cNvPr id="3" name="Text Placeholder 2">
            <a:extLst>
              <a:ext uri="{FF2B5EF4-FFF2-40B4-BE49-F238E27FC236}">
                <a16:creationId xmlns:a16="http://schemas.microsoft.com/office/drawing/2014/main" id="{5C921733-1CD6-3789-6534-4F41125C6260}"/>
              </a:ext>
            </a:extLst>
          </p:cNvPr>
          <p:cNvSpPr>
            <a:spLocks noGrp="1"/>
          </p:cNvSpPr>
          <p:nvPr>
            <p:ph type="body" sz="half" idx="2"/>
          </p:nvPr>
        </p:nvSpPr>
        <p:spPr>
          <a:xfrm>
            <a:off x="1067886" y="1513727"/>
            <a:ext cx="8247976" cy="5080570"/>
          </a:xfrm>
        </p:spPr>
        <p:txBody>
          <a:bodyPr>
            <a:normAutofit fontScale="85000" lnSpcReduction="20000"/>
          </a:bodyPr>
          <a:lstStyle/>
          <a:p>
            <a:pPr marL="457200" indent="-457200" algn="l">
              <a:buFont typeface="Arial" panose="020B0604020202020204" pitchFamily="34" charset="0"/>
              <a:buChar char="•"/>
            </a:pPr>
            <a:r>
              <a:rPr lang="en-US" sz="3200" b="1" i="1" dirty="0">
                <a:latin typeface="Times New Roman" panose="02020603050405020304" pitchFamily="18" charset="0"/>
                <a:cs typeface="Times New Roman" panose="02020603050405020304" pitchFamily="18" charset="0"/>
              </a:rPr>
              <a:t>A large number of buyers and sellers</a:t>
            </a:r>
          </a:p>
          <a:p>
            <a:pPr marL="457200" indent="-457200" algn="l">
              <a:buFont typeface="Arial" panose="020B0604020202020204" pitchFamily="34" charset="0"/>
              <a:buChar char="•"/>
            </a:pPr>
            <a:r>
              <a:rPr lang="en-US" sz="3200" b="1" i="1" dirty="0">
                <a:latin typeface="Times New Roman" panose="02020603050405020304" pitchFamily="18" charset="0"/>
                <a:cs typeface="Times New Roman" panose="02020603050405020304" pitchFamily="18" charset="0"/>
              </a:rPr>
              <a:t>Homogeneous products</a:t>
            </a:r>
          </a:p>
          <a:p>
            <a:pPr marL="457200" indent="-457200" algn="l">
              <a:buFont typeface="Arial" panose="020B0604020202020204" pitchFamily="34" charset="0"/>
              <a:buChar char="•"/>
            </a:pPr>
            <a:r>
              <a:rPr lang="en-US" sz="3200" b="1" i="1" dirty="0">
                <a:latin typeface="Times New Roman" panose="02020603050405020304" pitchFamily="18" charset="0"/>
                <a:cs typeface="Times New Roman" panose="02020603050405020304" pitchFamily="18" charset="0"/>
              </a:rPr>
              <a:t>Perfect information</a:t>
            </a:r>
          </a:p>
          <a:p>
            <a:pPr marL="457200" indent="-457200" algn="l">
              <a:buFont typeface="Arial" panose="020B0604020202020204" pitchFamily="34" charset="0"/>
              <a:buChar char="•"/>
            </a:pPr>
            <a:r>
              <a:rPr lang="en-US" sz="3200" b="1" i="1" dirty="0">
                <a:latin typeface="Times New Roman" panose="02020603050405020304" pitchFamily="18" charset="0"/>
                <a:cs typeface="Times New Roman" panose="02020603050405020304" pitchFamily="18" charset="0"/>
              </a:rPr>
              <a:t>Low barriers to entry and exit</a:t>
            </a:r>
          </a:p>
          <a:p>
            <a:pPr marL="457200" indent="-457200" algn="l">
              <a:buFont typeface="Arial" panose="020B0604020202020204" pitchFamily="34" charset="0"/>
              <a:buChar char="•"/>
            </a:pPr>
            <a:r>
              <a:rPr lang="en-US" sz="3200" b="1" i="1" dirty="0">
                <a:latin typeface="Times New Roman" panose="02020603050405020304" pitchFamily="18" charset="0"/>
                <a:cs typeface="Times New Roman" panose="02020603050405020304" pitchFamily="18" charset="0"/>
              </a:rPr>
              <a:t>No single buyer or seller has significant control over the market price</a:t>
            </a:r>
          </a:p>
          <a:p>
            <a:pPr marL="457200" indent="-457200" algn="l">
              <a:buFont typeface="Arial" panose="020B0604020202020204" pitchFamily="34" charset="0"/>
              <a:buChar char="•"/>
            </a:pPr>
            <a:r>
              <a:rPr lang="en-US" sz="3200" b="1" i="1" dirty="0">
                <a:latin typeface="Times New Roman" panose="02020603050405020304" pitchFamily="18" charset="0"/>
                <a:cs typeface="Times New Roman" panose="02020603050405020304" pitchFamily="18" charset="0"/>
              </a:rPr>
              <a:t>Examples: Agricultural products, stock markets, foreign exchange markets</a:t>
            </a:r>
            <a:r>
              <a:rPr lang="en-US" sz="3200" i="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85739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6EE9B-EF89-C806-4B30-EFB48A8DF788}"/>
              </a:ext>
            </a:extLst>
          </p:cNvPr>
          <p:cNvSpPr>
            <a:spLocks noGrp="1"/>
          </p:cNvSpPr>
          <p:nvPr>
            <p:ph type="title"/>
          </p:nvPr>
        </p:nvSpPr>
        <p:spPr>
          <a:xfrm>
            <a:off x="-213764" y="287421"/>
            <a:ext cx="10805615" cy="1054814"/>
          </a:xfrm>
        </p:spPr>
        <p:txBody>
          <a:bodyPr>
            <a:normAutofit fontScale="90000"/>
          </a:bodyPr>
          <a:lstStyle/>
          <a:p>
            <a:pPr marL="685800" indent="-685800">
              <a:buFont typeface="Wingdings" panose="05000000000000000000" pitchFamily="2" charset="2"/>
              <a:buChar char="Ø"/>
            </a:pPr>
            <a:r>
              <a:rPr lang="en-US" sz="4800" b="1" i="1" u="sng" dirty="0">
                <a:solidFill>
                  <a:srgbClr val="0000FF"/>
                </a:solidFill>
                <a:latin typeface="Algerian" panose="04020705040A02060702" pitchFamily="82" charset="0"/>
              </a:rPr>
              <a:t>Monopolistic competition market</a:t>
            </a:r>
          </a:p>
        </p:txBody>
      </p:sp>
      <p:sp>
        <p:nvSpPr>
          <p:cNvPr id="3" name="Text Placeholder 2">
            <a:extLst>
              <a:ext uri="{FF2B5EF4-FFF2-40B4-BE49-F238E27FC236}">
                <a16:creationId xmlns:a16="http://schemas.microsoft.com/office/drawing/2014/main" id="{052332E4-F378-F4E8-9377-0C584E83AF89}"/>
              </a:ext>
            </a:extLst>
          </p:cNvPr>
          <p:cNvSpPr>
            <a:spLocks noGrp="1"/>
          </p:cNvSpPr>
          <p:nvPr>
            <p:ph type="body" sz="half" idx="2"/>
          </p:nvPr>
        </p:nvSpPr>
        <p:spPr>
          <a:xfrm>
            <a:off x="0" y="-1330504"/>
            <a:ext cx="13918059" cy="9519007"/>
          </a:xfrm>
        </p:spPr>
        <p:txBody>
          <a:bodyPr>
            <a:normAutofit/>
          </a:bodyPr>
          <a:lstStyle/>
          <a:p>
            <a:pPr marL="457200" indent="-457200" algn="l">
              <a:buFont typeface="Wingdings" panose="05000000000000000000" pitchFamily="2" charset="2"/>
              <a:buChar char="§"/>
            </a:pPr>
            <a:r>
              <a:rPr lang="en-US" sz="3200" b="1" i="1" dirty="0">
                <a:latin typeface="Times New Roman" panose="02020603050405020304" pitchFamily="18" charset="0"/>
                <a:cs typeface="Times New Roman" panose="02020603050405020304" pitchFamily="18" charset="0"/>
              </a:rPr>
              <a:t>A large number of buyers and sellers</a:t>
            </a:r>
          </a:p>
          <a:p>
            <a:pPr marL="457200" indent="-457200" algn="l">
              <a:buFont typeface="Wingdings" panose="05000000000000000000" pitchFamily="2" charset="2"/>
              <a:buChar char="§"/>
            </a:pPr>
            <a:r>
              <a:rPr lang="en-US" sz="3200" b="1" i="1" dirty="0">
                <a:latin typeface="Times New Roman" panose="02020603050405020304" pitchFamily="18" charset="0"/>
                <a:cs typeface="Times New Roman" panose="02020603050405020304" pitchFamily="18" charset="0"/>
              </a:rPr>
              <a:t>Differentiated products</a:t>
            </a:r>
          </a:p>
          <a:p>
            <a:pPr marL="457200" indent="-457200" algn="l">
              <a:buFont typeface="Wingdings" panose="05000000000000000000" pitchFamily="2" charset="2"/>
              <a:buChar char="§"/>
            </a:pPr>
            <a:r>
              <a:rPr lang="en-US" sz="3200" b="1" i="1" dirty="0">
                <a:latin typeface="Times New Roman" panose="02020603050405020304" pitchFamily="18" charset="0"/>
                <a:cs typeface="Times New Roman" panose="02020603050405020304" pitchFamily="18" charset="0"/>
              </a:rPr>
              <a:t>Firms can differentiate their products through advertising, packaging, and branding</a:t>
            </a:r>
          </a:p>
          <a:p>
            <a:pPr marL="457200" indent="-457200" algn="l">
              <a:buFont typeface="Wingdings" panose="05000000000000000000" pitchFamily="2" charset="2"/>
              <a:buChar char="§"/>
            </a:pPr>
            <a:r>
              <a:rPr lang="en-US" sz="3200" b="1" i="1" dirty="0">
                <a:latin typeface="Times New Roman" panose="02020603050405020304" pitchFamily="18" charset="0"/>
                <a:cs typeface="Times New Roman" panose="02020603050405020304" pitchFamily="18" charset="0"/>
              </a:rPr>
              <a:t>Examples: Fast food restaurants, clothing retailers, toothpaste brands.</a:t>
            </a:r>
          </a:p>
        </p:txBody>
      </p:sp>
    </p:spTree>
    <p:extLst>
      <p:ext uri="{BB962C8B-B14F-4D97-AF65-F5344CB8AC3E}">
        <p14:creationId xmlns:p14="http://schemas.microsoft.com/office/powerpoint/2010/main" val="658918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38DC4-D10C-73EA-63E8-2AB92788574F}"/>
              </a:ext>
            </a:extLst>
          </p:cNvPr>
          <p:cNvSpPr>
            <a:spLocks noGrp="1"/>
          </p:cNvSpPr>
          <p:nvPr>
            <p:ph type="title"/>
          </p:nvPr>
        </p:nvSpPr>
        <p:spPr>
          <a:xfrm>
            <a:off x="-534256" y="-159250"/>
            <a:ext cx="11062470" cy="1373312"/>
          </a:xfrm>
        </p:spPr>
        <p:txBody>
          <a:bodyPr>
            <a:normAutofit/>
          </a:bodyPr>
          <a:lstStyle/>
          <a:p>
            <a:pPr marL="857250" indent="-857250">
              <a:buFont typeface="Wingdings" panose="05000000000000000000" pitchFamily="2" charset="2"/>
              <a:buChar char="Ø"/>
            </a:pPr>
            <a:r>
              <a:rPr lang="en-US" sz="6600" b="1" i="1" u="sng" dirty="0">
                <a:solidFill>
                  <a:srgbClr val="0000FF"/>
                </a:solidFill>
                <a:latin typeface="Algerian" panose="04020705040A02060702" pitchFamily="82" charset="0"/>
              </a:rPr>
              <a:t>Oligopoly  market</a:t>
            </a:r>
          </a:p>
        </p:txBody>
      </p:sp>
      <p:sp>
        <p:nvSpPr>
          <p:cNvPr id="3" name="Text Placeholder 2">
            <a:extLst>
              <a:ext uri="{FF2B5EF4-FFF2-40B4-BE49-F238E27FC236}">
                <a16:creationId xmlns:a16="http://schemas.microsoft.com/office/drawing/2014/main" id="{837B5AD5-ECA6-B565-4669-2B27C8A92E83}"/>
              </a:ext>
            </a:extLst>
          </p:cNvPr>
          <p:cNvSpPr>
            <a:spLocks noGrp="1"/>
          </p:cNvSpPr>
          <p:nvPr>
            <p:ph type="body" sz="half" idx="2"/>
          </p:nvPr>
        </p:nvSpPr>
        <p:spPr>
          <a:xfrm>
            <a:off x="472297" y="1520576"/>
            <a:ext cx="10898083" cy="4655905"/>
          </a:xfrm>
        </p:spPr>
        <p:txBody>
          <a:bodyPr>
            <a:noAutofit/>
          </a:bodyPr>
          <a:lstStyle/>
          <a:p>
            <a:pPr marL="457200" indent="-457200" algn="l">
              <a:buFont typeface="Wingdings" panose="05000000000000000000" pitchFamily="2" charset="2"/>
              <a:buChar char="§"/>
            </a:pPr>
            <a:r>
              <a:rPr lang="en-US" sz="3000" b="1" i="1" dirty="0">
                <a:latin typeface="Times New Roman" panose="02020603050405020304" pitchFamily="18" charset="0"/>
                <a:cs typeface="Times New Roman" panose="02020603050405020304" pitchFamily="18" charset="0"/>
              </a:rPr>
              <a:t>A small number of large firms dominate the market</a:t>
            </a:r>
          </a:p>
          <a:p>
            <a:pPr marL="457200" indent="-457200" algn="l">
              <a:buFont typeface="Wingdings" panose="05000000000000000000" pitchFamily="2" charset="2"/>
              <a:buChar char="§"/>
            </a:pPr>
            <a:r>
              <a:rPr lang="en-US" sz="3000" b="1" i="1" dirty="0">
                <a:latin typeface="Times New Roman" panose="02020603050405020304" pitchFamily="18" charset="0"/>
                <a:cs typeface="Times New Roman" panose="02020603050405020304" pitchFamily="18" charset="0"/>
              </a:rPr>
              <a:t>High barriers to entry </a:t>
            </a:r>
          </a:p>
          <a:p>
            <a:pPr marL="457200" indent="-457200" algn="l">
              <a:buFont typeface="Wingdings" panose="05000000000000000000" pitchFamily="2" charset="2"/>
              <a:buChar char="§"/>
            </a:pPr>
            <a:r>
              <a:rPr lang="en-US" sz="3000" b="1" i="1" dirty="0">
                <a:latin typeface="Times New Roman" panose="02020603050405020304" pitchFamily="18" charset="0"/>
                <a:cs typeface="Times New Roman" panose="02020603050405020304" pitchFamily="18" charset="0"/>
              </a:rPr>
              <a:t>Firms tend to engage in strategic </a:t>
            </a:r>
            <a:r>
              <a:rPr lang="en-US" sz="3000" b="1" i="1" dirty="0" err="1">
                <a:latin typeface="Times New Roman" panose="02020603050405020304" pitchFamily="18" charset="0"/>
                <a:cs typeface="Times New Roman" panose="02020603050405020304" pitchFamily="18" charset="0"/>
              </a:rPr>
              <a:t>behaviour</a:t>
            </a:r>
            <a:r>
              <a:rPr lang="en-US" sz="3000" b="1" i="1" dirty="0">
                <a:latin typeface="Times New Roman" panose="02020603050405020304" pitchFamily="18" charset="0"/>
                <a:cs typeface="Times New Roman" panose="02020603050405020304" pitchFamily="18" charset="0"/>
              </a:rPr>
              <a:t> such as price fixing and collusion </a:t>
            </a:r>
          </a:p>
          <a:p>
            <a:pPr marL="457200" indent="-457200" algn="l">
              <a:buFont typeface="Wingdings" panose="05000000000000000000" pitchFamily="2" charset="2"/>
              <a:buChar char="§"/>
            </a:pPr>
            <a:r>
              <a:rPr lang="en-US" sz="3000" b="1" i="1" dirty="0">
                <a:latin typeface="Times New Roman" panose="02020603050405020304" pitchFamily="18" charset="0"/>
                <a:cs typeface="Times New Roman" panose="02020603050405020304" pitchFamily="18" charset="0"/>
              </a:rPr>
              <a:t>The high degree of interdependence between firms</a:t>
            </a:r>
          </a:p>
          <a:p>
            <a:pPr marL="457200" indent="-457200" algn="l">
              <a:buFont typeface="Wingdings" panose="05000000000000000000" pitchFamily="2" charset="2"/>
              <a:buChar char="§"/>
            </a:pPr>
            <a:r>
              <a:rPr lang="en-US" sz="3000" b="1" i="1" dirty="0">
                <a:latin typeface="Times New Roman" panose="02020603050405020304" pitchFamily="18" charset="0"/>
                <a:cs typeface="Times New Roman" panose="02020603050405020304" pitchFamily="18" charset="0"/>
              </a:rPr>
              <a:t>Examples: Automobile manufacturing, telecommunications, airlin</a:t>
            </a:r>
            <a:r>
              <a:rPr lang="en-US" sz="3200" b="1" i="1" dirty="0">
                <a:latin typeface="Times New Roman" panose="02020603050405020304" pitchFamily="18" charset="0"/>
                <a:cs typeface="Times New Roman" panose="02020603050405020304" pitchFamily="18" charset="0"/>
              </a:rPr>
              <a:t>es.</a:t>
            </a:r>
          </a:p>
        </p:txBody>
      </p:sp>
    </p:spTree>
    <p:extLst>
      <p:ext uri="{BB962C8B-B14F-4D97-AF65-F5344CB8AC3E}">
        <p14:creationId xmlns:p14="http://schemas.microsoft.com/office/powerpoint/2010/main" val="1826685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0DD79-DF19-DEDF-5F04-640032F1CA0F}"/>
              </a:ext>
            </a:extLst>
          </p:cNvPr>
          <p:cNvSpPr>
            <a:spLocks noGrp="1"/>
          </p:cNvSpPr>
          <p:nvPr>
            <p:ph type="title"/>
          </p:nvPr>
        </p:nvSpPr>
        <p:spPr>
          <a:xfrm>
            <a:off x="136479" y="520456"/>
            <a:ext cx="9321420" cy="675240"/>
          </a:xfrm>
        </p:spPr>
        <p:txBody>
          <a:bodyPr>
            <a:noAutofit/>
          </a:bodyPr>
          <a:lstStyle/>
          <a:p>
            <a:pPr marL="685800" indent="-685800">
              <a:buFont typeface="Wingdings" panose="05000000000000000000" pitchFamily="2" charset="2"/>
              <a:buChar char="Ø"/>
            </a:pPr>
            <a:r>
              <a:rPr lang="en-US" sz="6000" b="1" i="1" u="sng" dirty="0">
                <a:solidFill>
                  <a:srgbClr val="0000FF"/>
                </a:solidFill>
                <a:latin typeface="Algerian" panose="04020705040A02060702" pitchFamily="82" charset="0"/>
              </a:rPr>
              <a:t>monopoly  market</a:t>
            </a:r>
            <a:endParaRPr lang="en-US" sz="6000" dirty="0">
              <a:solidFill>
                <a:srgbClr val="0000FF"/>
              </a:solidFill>
            </a:endParaRPr>
          </a:p>
        </p:txBody>
      </p:sp>
      <p:sp>
        <p:nvSpPr>
          <p:cNvPr id="3" name="Text Placeholder 2">
            <a:extLst>
              <a:ext uri="{FF2B5EF4-FFF2-40B4-BE49-F238E27FC236}">
                <a16:creationId xmlns:a16="http://schemas.microsoft.com/office/drawing/2014/main" id="{394377A6-4601-8AF6-777F-B3F162BBEEF5}"/>
              </a:ext>
            </a:extLst>
          </p:cNvPr>
          <p:cNvSpPr>
            <a:spLocks noGrp="1"/>
          </p:cNvSpPr>
          <p:nvPr>
            <p:ph type="body" sz="half" idx="2"/>
          </p:nvPr>
        </p:nvSpPr>
        <p:spPr>
          <a:xfrm>
            <a:off x="819744" y="2297925"/>
            <a:ext cx="10552512" cy="3364379"/>
          </a:xfrm>
        </p:spPr>
        <p:txBody>
          <a:bodyPr>
            <a:noAutofit/>
          </a:bodyPr>
          <a:lstStyle/>
          <a:p>
            <a:pPr marL="342900" indent="-342900" algn="l">
              <a:buFont typeface="Wingdings" panose="05000000000000000000" pitchFamily="2" charset="2"/>
              <a:buChar char="§"/>
            </a:pPr>
            <a:r>
              <a:rPr lang="en-US" sz="2800" b="1" i="1" dirty="0"/>
              <a:t>Only one seller or producer of a particular good or service </a:t>
            </a:r>
          </a:p>
          <a:p>
            <a:pPr marL="342900" indent="-342900" algn="l">
              <a:buFont typeface="Wingdings" panose="05000000000000000000" pitchFamily="2" charset="2"/>
              <a:buChar char="§"/>
            </a:pPr>
            <a:r>
              <a:rPr lang="en-US" sz="2800" b="1" i="1" dirty="0" err="1"/>
              <a:t>extemely</a:t>
            </a:r>
            <a:r>
              <a:rPr lang="en-US" sz="2800" b="1" i="1" dirty="0"/>
              <a:t> barriers to entry </a:t>
            </a:r>
          </a:p>
          <a:p>
            <a:pPr marL="342900" indent="-342900" algn="l">
              <a:buFont typeface="Wingdings" panose="05000000000000000000" pitchFamily="2" charset="2"/>
              <a:buChar char="§"/>
            </a:pPr>
            <a:r>
              <a:rPr lang="en-US" sz="2800" b="1" i="1" dirty="0"/>
              <a:t>Monopolist has complete control over the market price</a:t>
            </a:r>
          </a:p>
          <a:p>
            <a:pPr marL="342900" indent="-342900" algn="l">
              <a:buFont typeface="Wingdings" panose="05000000000000000000" pitchFamily="2" charset="2"/>
              <a:buChar char="§"/>
            </a:pPr>
            <a:r>
              <a:rPr lang="en-US" sz="2800" b="1" i="1" dirty="0"/>
              <a:t>Monopolies can arise due to government regulation, patents, or economies of scale. </a:t>
            </a:r>
          </a:p>
          <a:p>
            <a:pPr marL="342900" indent="-342900" algn="l">
              <a:buFont typeface="Wingdings" panose="05000000000000000000" pitchFamily="2" charset="2"/>
              <a:buChar char="§"/>
            </a:pPr>
            <a:r>
              <a:rPr lang="en-US" sz="2800" b="1" i="1" dirty="0"/>
              <a:t>Examples: Water and electricity utilities, certain pharmaceutical companies, internet service providers in some regions.</a:t>
            </a:r>
          </a:p>
        </p:txBody>
      </p:sp>
    </p:spTree>
    <p:extLst>
      <p:ext uri="{BB962C8B-B14F-4D97-AF65-F5344CB8AC3E}">
        <p14:creationId xmlns:p14="http://schemas.microsoft.com/office/powerpoint/2010/main" val="258752900"/>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Droplet</Template>
  <TotalTime>106</TotalTime>
  <Words>325</Words>
  <Application>Microsoft Office PowerPoint</Application>
  <PresentationFormat>Widescreen</PresentationFormat>
  <Paragraphs>35</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Algerian</vt:lpstr>
      <vt:lpstr>Arial</vt:lpstr>
      <vt:lpstr>Times New Roman</vt:lpstr>
      <vt:lpstr>Tw Cen MT</vt:lpstr>
      <vt:lpstr>Wingdings</vt:lpstr>
      <vt:lpstr>Droplet</vt:lpstr>
      <vt:lpstr>Third week Topic </vt:lpstr>
      <vt:lpstr>Market structure</vt:lpstr>
      <vt:lpstr>Forms of market structure</vt:lpstr>
      <vt:lpstr>Perfect competition market</vt:lpstr>
      <vt:lpstr>Monopolistic competition market</vt:lpstr>
      <vt:lpstr>Oligopoly  market</vt:lpstr>
      <vt:lpstr>monopoly  market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Third week Topic </dc:title>
  <dc:creator>Syeda Uzma Shoaib</dc:creator>
  <cp:lastModifiedBy>Syeda Uzma Shoaib</cp:lastModifiedBy>
  <cp:revision>1</cp:revision>
  <dcterms:created xsi:type="dcterms:W3CDTF">2023-03-19T22:33:38Z</dcterms:created>
  <dcterms:modified xsi:type="dcterms:W3CDTF">2023-03-20T00:20:06Z</dcterms:modified>
</cp:coreProperties>
</file>