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872C-FAE9-45E5-9608-CDFD9A770361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DEBC-BF34-40CC-A7A4-0F71E5758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49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872C-FAE9-45E5-9608-CDFD9A770361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DEBC-BF34-40CC-A7A4-0F71E5758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02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872C-FAE9-45E5-9608-CDFD9A770361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DEBC-BF34-40CC-A7A4-0F71E5758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17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872C-FAE9-45E5-9608-CDFD9A770361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DEBC-BF34-40CC-A7A4-0F71E5758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46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872C-FAE9-45E5-9608-CDFD9A770361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DEBC-BF34-40CC-A7A4-0F71E5758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22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872C-FAE9-45E5-9608-CDFD9A770361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DEBC-BF34-40CC-A7A4-0F71E5758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110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872C-FAE9-45E5-9608-CDFD9A770361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DEBC-BF34-40CC-A7A4-0F71E5758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896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872C-FAE9-45E5-9608-CDFD9A770361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DEBC-BF34-40CC-A7A4-0F71E5758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89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872C-FAE9-45E5-9608-CDFD9A770361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DEBC-BF34-40CC-A7A4-0F71E5758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46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872C-FAE9-45E5-9608-CDFD9A770361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DEBC-BF34-40CC-A7A4-0F71E5758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24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872C-FAE9-45E5-9608-CDFD9A770361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DEBC-BF34-40CC-A7A4-0F71E5758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23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9872C-FAE9-45E5-9608-CDFD9A770361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4DEBC-BF34-40CC-A7A4-0F71E5758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33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948906" y="331392"/>
            <a:ext cx="9719094" cy="543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1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138687" y="365124"/>
            <a:ext cx="9842739" cy="506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0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966157" y="1492924"/>
            <a:ext cx="9411419" cy="5028646"/>
          </a:xfrm>
          <a:prstGeom prst="rect">
            <a:avLst/>
          </a:prstGeom>
        </p:spPr>
      </p:pic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966157" y="101732"/>
            <a:ext cx="9609827" cy="1513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2696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Storing Passwords Securely</a:t>
            </a: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charset="-128"/>
                <a:cs typeface="Times New Roman" panose="02020603050405020304" pitchFamily="18" charset="0"/>
              </a:rPr>
              <a:t>Hash Passwords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charset="-128"/>
                <a:cs typeface="Times New Roman" panose="02020603050405020304" pitchFamily="18" charset="0"/>
              </a:rPr>
              <a:t>: Store hashed versions of passwords using a strong hashing algorithm like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MS Mincho" charset="-128"/>
                <a:cs typeface="Courier New" panose="02070309020205020404" pitchFamily="49" charset="0"/>
              </a:rPr>
              <a:t>bcrypt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MS Mincho" charset="-128"/>
                <a:cs typeface="Courier New" panose="02070309020205020404" pitchFamily="49" charset="0"/>
              </a:rPr>
              <a:t>argon2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charset="-128"/>
                <a:cs typeface="Times New Roman" panose="02020603050405020304" pitchFamily="18" charset="0"/>
              </a:rPr>
              <a:t>, or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MS Mincho" charset="-128"/>
                <a:cs typeface="Courier New" panose="02070309020205020404" pitchFamily="49" charset="0"/>
              </a:rPr>
              <a:t>PBKDF2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charset="-128"/>
                <a:cs typeface="Times New Roman" panose="02020603050405020304" pitchFamily="18" charset="0"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493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1487" y="264370"/>
            <a:ext cx="9980762" cy="3285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b="0" dirty="0" smtClean="0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3. </a:t>
            </a:r>
            <a:r>
              <a:rPr lang="en-US" sz="2400" b="0" dirty="0" smtClean="0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Implementing Login Attempt Limits to Prevent Brute Force Attacks</a:t>
            </a:r>
            <a:endParaRPr lang="en-US" sz="2400" b="1" dirty="0" smtClean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 smtClean="0">
                <a:effectLst/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Track Failed Attempts</a:t>
            </a:r>
            <a:r>
              <a:rPr lang="en-US" sz="2400" dirty="0" smtClean="0">
                <a:effectLst/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: Store the number of failed login attempts in the database or in-memory cache (e.g., </a:t>
            </a:r>
            <a:r>
              <a:rPr lang="en-US" sz="2400" dirty="0" err="1" smtClean="0">
                <a:effectLst/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Redis</a:t>
            </a:r>
            <a:r>
              <a:rPr lang="en-US" sz="2400" dirty="0" smtClean="0">
                <a:effectLst/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).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 smtClean="0">
                <a:effectLst/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Lock Accounts Temporarily</a:t>
            </a:r>
            <a:r>
              <a:rPr lang="en-US" sz="2400" dirty="0" smtClean="0">
                <a:effectLst/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: After a threshold of failed attempts (e.g., 5), lock the account for a duration (e.g., 15 minutes).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 smtClean="0">
                <a:effectLst/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Implement IP Blocking</a:t>
            </a:r>
            <a:r>
              <a:rPr lang="en-US" sz="2400" dirty="0" smtClean="0">
                <a:effectLst/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: Block requests from suspicious IP addresses after a certain number of failed attempts.</a:t>
            </a:r>
            <a:endParaRPr lang="en-US" sz="2400" dirty="0">
              <a:effectLst/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504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769189" y="25648"/>
            <a:ext cx="9720532" cy="3599953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748342" y="3760538"/>
            <a:ext cx="9603356" cy="283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7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4684" y="1133501"/>
            <a:ext cx="9064924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 smtClean="0">
                <a:effectLst/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Use CAPTCHAs (</a:t>
            </a:r>
            <a:r>
              <a:rPr lang="en-US" sz="2400" dirty="0" smtClean="0"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Completely Automated Public Turing test to tell Computers and Humans Apart</a:t>
            </a:r>
            <a:r>
              <a:rPr lang="en-US" sz="2400" b="1" dirty="0" smtClean="0">
                <a:effectLst/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)</a:t>
            </a:r>
            <a:r>
              <a:rPr lang="en-US" sz="2400" dirty="0" smtClean="0">
                <a:effectLst/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:  Add CAPTCHAs after repeated failed login attempts to prevent automated attacks.</a:t>
            </a:r>
            <a:endParaRPr lang="en-US" sz="2400" dirty="0">
              <a:effectLst/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542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0048" y="175054"/>
            <a:ext cx="9813985" cy="2768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400" b="0" dirty="0" smtClean="0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4. Handling User Input to Prevent Vulnerabilities</a:t>
            </a:r>
            <a:endParaRPr lang="en-US" sz="2400" b="1" dirty="0" smtClean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 smtClean="0">
                <a:effectLst/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Sanitize Input</a:t>
            </a:r>
            <a:r>
              <a:rPr lang="en-US" sz="2400" dirty="0" smtClean="0">
                <a:effectLst/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: Use input validation to ensure only acceptable data is processed. For example, validate usernames and passwords for length and allowed characters.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 smtClean="0"/>
              <a:t>Avoid </a:t>
            </a:r>
            <a:r>
              <a:rPr lang="en-US" sz="2400" b="1" dirty="0"/>
              <a:t>SQL Injection</a:t>
            </a:r>
            <a:r>
              <a:rPr lang="en-US" sz="2400" dirty="0"/>
              <a:t>: Use parameterized queries </a:t>
            </a:r>
            <a:r>
              <a:rPr lang="en-US" sz="2400"/>
              <a:t>or </a:t>
            </a:r>
            <a:r>
              <a:rPr lang="en-US" sz="2400" smtClean="0"/>
              <a:t>ORM (</a:t>
            </a:r>
            <a:r>
              <a:rPr lang="en-US" sz="2400"/>
              <a:t>Object-Relational Mapping</a:t>
            </a:r>
            <a:r>
              <a:rPr lang="en-US" sz="2400" smtClean="0"/>
              <a:t>) </a:t>
            </a:r>
            <a:r>
              <a:rPr lang="en-US" sz="2400" dirty="0"/>
              <a:t>tools like </a:t>
            </a:r>
            <a:r>
              <a:rPr lang="en-US" sz="2400" dirty="0" err="1"/>
              <a:t>SQLAlchemy</a:t>
            </a:r>
            <a:r>
              <a:rPr lang="en-US" sz="2400" dirty="0"/>
              <a:t> for database interactions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920151" y="3201119"/>
            <a:ext cx="9573882" cy="342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27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184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Arial Unicode MS</vt:lpstr>
      <vt:lpstr>MS Gothic</vt:lpstr>
      <vt:lpstr>Arial</vt:lpstr>
      <vt:lpstr>Calibri</vt:lpstr>
      <vt:lpstr>Calibri Light</vt:lpstr>
      <vt:lpstr>Cambria</vt:lpstr>
      <vt:lpstr>Courier New</vt:lpstr>
      <vt:lpstr>MS Mincho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7</cp:revision>
  <dcterms:created xsi:type="dcterms:W3CDTF">2024-12-03T09:32:12Z</dcterms:created>
  <dcterms:modified xsi:type="dcterms:W3CDTF">2024-12-03T09:45:14Z</dcterms:modified>
</cp:coreProperties>
</file>