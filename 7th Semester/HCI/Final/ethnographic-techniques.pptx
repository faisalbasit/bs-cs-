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4" r:id="rId2"/>
    <p:sldId id="275" r:id="rId3"/>
    <p:sldId id="276" r:id="rId4"/>
    <p:sldId id="277" r:id="rId5"/>
    <p:sldId id="278" r:id="rId6"/>
    <p:sldId id="279" r:id="rId7"/>
    <p:sldId id="280" r:id="rId8"/>
    <p:sldId id="281" r:id="rId9"/>
    <p:sldId id="282" r:id="rId10"/>
    <p:sldId id="283" r:id="rId11"/>
    <p:sldId id="284" r:id="rId12"/>
    <p:sldId id="285" r:id="rId13"/>
    <p:sldId id="286" r:id="rId14"/>
    <p:sldId id="287" r:id="rId15"/>
    <p:sldId id="288" r:id="rId16"/>
    <p:sldId id="289" r:id="rId17"/>
    <p:sldId id="290" r:id="rId18"/>
    <p:sldId id="296" r:id="rId19"/>
    <p:sldId id="291" r:id="rId20"/>
    <p:sldId id="292" r:id="rId21"/>
    <p:sldId id="295" r:id="rId22"/>
    <p:sldId id="293" r:id="rId23"/>
    <p:sldId id="294"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4" autoAdjust="0"/>
    <p:restoredTop sz="94662" autoAdjust="0"/>
  </p:normalViewPr>
  <p:slideViewPr>
    <p:cSldViewPr>
      <p:cViewPr varScale="1">
        <p:scale>
          <a:sx n="69" d="100"/>
          <a:sy n="69" d="100"/>
        </p:scale>
        <p:origin x="-1404" y="-102"/>
      </p:cViewPr>
      <p:guideLst>
        <p:guide orient="horz" pos="2160"/>
        <p:guide pos="2880"/>
      </p:guideLst>
    </p:cSldViewPr>
  </p:slideViewPr>
  <p:outlineViewPr>
    <p:cViewPr>
      <p:scale>
        <a:sx n="33" d="100"/>
        <a:sy n="33" d="100"/>
      </p:scale>
      <p:origin x="48" y="192"/>
    </p:cViewPr>
  </p:outlin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9E78462-CCA5-4CFA-A196-17550FE0A9E1}" type="datetimeFigureOut">
              <a:rPr lang="en-US" smtClean="0"/>
              <a:pPr/>
              <a:t>6/13/2022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xmlns="" val="24669785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9E78462-CCA5-4CFA-A196-17550FE0A9E1}" type="datetimeFigureOut">
              <a:rPr lang="en-US" smtClean="0"/>
              <a:pPr/>
              <a:t>6/13/2022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xmlns="" val="1722550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9E78462-CCA5-4CFA-A196-17550FE0A9E1}" type="datetimeFigureOut">
              <a:rPr lang="en-US" smtClean="0"/>
              <a:pPr/>
              <a:t>6/13/2022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xmlns="" val="1129572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9E78462-CCA5-4CFA-A196-17550FE0A9E1}" type="datetimeFigureOut">
              <a:rPr lang="en-US" smtClean="0"/>
              <a:pPr/>
              <a:t>6/13/2022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xmlns="" val="85915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9E78462-CCA5-4CFA-A196-17550FE0A9E1}" type="datetimeFigureOut">
              <a:rPr lang="en-US" smtClean="0"/>
              <a:pPr/>
              <a:t>6/13/2022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xmlns="" val="4095085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9E78462-CCA5-4CFA-A196-17550FE0A9E1}" type="datetimeFigureOut">
              <a:rPr lang="en-US" smtClean="0"/>
              <a:pPr/>
              <a:t>6/13/2022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xmlns="" val="34553100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E78462-CCA5-4CFA-A196-17550FE0A9E1}" type="datetimeFigureOut">
              <a:rPr lang="en-US" smtClean="0"/>
              <a:pPr/>
              <a:t>6/13/2022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xmlns="" val="2643368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9E78462-CCA5-4CFA-A196-17550FE0A9E1}" type="datetimeFigureOut">
              <a:rPr lang="en-US" smtClean="0"/>
              <a:pPr/>
              <a:t>6/13/2022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xmlns="" val="1100210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9E78462-CCA5-4CFA-A196-17550FE0A9E1}" type="datetimeFigureOut">
              <a:rPr lang="en-US" smtClean="0"/>
              <a:pPr/>
              <a:t>6/13/2022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xmlns="" val="4283448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9E78462-CCA5-4CFA-A196-17550FE0A9E1}" type="datetimeFigureOut">
              <a:rPr lang="en-US" smtClean="0"/>
              <a:pPr/>
              <a:t>6/13/2022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xmlns="" val="21209799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9E78462-CCA5-4CFA-A196-17550FE0A9E1}" type="datetimeFigureOut">
              <a:rPr lang="en-US" smtClean="0"/>
              <a:pPr/>
              <a:t>6/13/2022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xmlns="" val="1938564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9E78462-CCA5-4CFA-A196-17550FE0A9E1}" type="datetimeFigureOut">
              <a:rPr lang="en-US" smtClean="0"/>
              <a:pPr/>
              <a:t>6/13/2022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3F0035-4B67-4B88-B2A0-536AE2AEED21}" type="slidenum">
              <a:rPr lang="en-US" smtClean="0"/>
              <a:pPr/>
              <a:t>‹#›</a:t>
            </a:fld>
            <a:endParaRPr lang="en-US"/>
          </a:p>
        </p:txBody>
      </p:sp>
    </p:spTree>
    <p:extLst>
      <p:ext uri="{BB962C8B-B14F-4D97-AF65-F5344CB8AC3E}">
        <p14:creationId xmlns:p14="http://schemas.microsoft.com/office/powerpoint/2010/main" xmlns="" val="1255663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pPr fontAlgn="base"/>
            <a:r>
              <a:rPr lang="en-US" sz="4000" dirty="0" smtClean="0"/>
              <a:t>Ethnography</a:t>
            </a:r>
            <a:endParaRPr lang="en-US" sz="4000" b="1" dirty="0"/>
          </a:p>
        </p:txBody>
      </p:sp>
      <p:sp>
        <p:nvSpPr>
          <p:cNvPr id="7" name="Content Placeholder 2"/>
          <p:cNvSpPr>
            <a:spLocks noGrp="1"/>
          </p:cNvSpPr>
          <p:nvPr>
            <p:ph idx="1"/>
          </p:nvPr>
        </p:nvSpPr>
        <p:spPr>
          <a:xfrm>
            <a:off x="0" y="685800"/>
            <a:ext cx="9144000" cy="6172200"/>
          </a:xfrm>
        </p:spPr>
        <p:txBody>
          <a:bodyPr>
            <a:normAutofit/>
          </a:bodyPr>
          <a:lstStyle/>
          <a:p>
            <a:endParaRPr lang="en-US" sz="2800" dirty="0"/>
          </a:p>
          <a:p>
            <a:r>
              <a:rPr lang="en-US" sz="2400" dirty="0" smtClean="0"/>
              <a:t>Ethnography is a </a:t>
            </a:r>
            <a:r>
              <a:rPr lang="en-US" sz="2400" dirty="0" smtClean="0"/>
              <a:t>method </a:t>
            </a:r>
            <a:r>
              <a:rPr lang="en-US" sz="2400" dirty="0" smtClean="0"/>
              <a:t>for studying users in their natural surroundings. </a:t>
            </a:r>
            <a:endParaRPr lang="en-US" sz="2400" dirty="0" smtClean="0"/>
          </a:p>
          <a:p>
            <a:r>
              <a:rPr lang="en-US" sz="2400" dirty="0" smtClean="0"/>
              <a:t>Representing the information gleaned from an ethnographic study so that it can be used in design has been problematic. </a:t>
            </a:r>
            <a:endParaRPr lang="en-US" sz="2400" dirty="0" smtClean="0"/>
          </a:p>
          <a:p>
            <a:r>
              <a:rPr lang="en-US" sz="2400" dirty="0" smtClean="0"/>
              <a:t>The </a:t>
            </a:r>
            <a:r>
              <a:rPr lang="en-US" sz="2400" dirty="0" smtClean="0"/>
              <a:t>goals of ethnography are to study the details, while the goals of system design are to produce abstractions; hence they are not immediately compatible. </a:t>
            </a:r>
            <a:endParaRPr lang="en-US" sz="2400" dirty="0" smtClean="0"/>
          </a:p>
          <a:p>
            <a:endParaRPr lang="en-US" sz="2400" dirty="0" smtClean="0"/>
          </a:p>
        </p:txBody>
      </p:sp>
    </p:spTree>
    <p:extLst>
      <p:ext uri="{BB962C8B-B14F-4D97-AF65-F5344CB8AC3E}">
        <p14:creationId xmlns:p14="http://schemas.microsoft.com/office/powerpoint/2010/main" xmlns="" val="86775244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pPr fontAlgn="base"/>
            <a:r>
              <a:rPr lang="en-US" sz="4000" dirty="0" smtClean="0"/>
              <a:t>Ethnographic Techniques</a:t>
            </a:r>
            <a:endParaRPr lang="en-US" sz="4000" b="1" dirty="0"/>
          </a:p>
        </p:txBody>
      </p:sp>
      <p:sp>
        <p:nvSpPr>
          <p:cNvPr id="7" name="Content Placeholder 2"/>
          <p:cNvSpPr>
            <a:spLocks noGrp="1"/>
          </p:cNvSpPr>
          <p:nvPr>
            <p:ph idx="1"/>
          </p:nvPr>
        </p:nvSpPr>
        <p:spPr>
          <a:xfrm>
            <a:off x="0" y="685800"/>
            <a:ext cx="9144000" cy="6172200"/>
          </a:xfrm>
        </p:spPr>
        <p:txBody>
          <a:bodyPr>
            <a:normAutofit/>
          </a:bodyPr>
          <a:lstStyle/>
          <a:p>
            <a:endParaRPr lang="en-US" sz="2800" dirty="0"/>
          </a:p>
          <a:p>
            <a:r>
              <a:rPr lang="en-US" sz="2400" dirty="0" smtClean="0"/>
              <a:t>Ethnographic techniques are various techniques and methods  adopted to gather data while studying people.</a:t>
            </a:r>
          </a:p>
          <a:p>
            <a:pPr lvl="1"/>
            <a:r>
              <a:rPr lang="en-US" sz="2000" dirty="0" smtClean="0"/>
              <a:t>Observing Users</a:t>
            </a:r>
          </a:p>
          <a:p>
            <a:pPr lvl="1"/>
            <a:r>
              <a:rPr lang="en-US" sz="2000" dirty="0" smtClean="0"/>
              <a:t>Asking Users</a:t>
            </a:r>
          </a:p>
          <a:p>
            <a:pPr lvl="2"/>
            <a:r>
              <a:rPr lang="en-US" sz="1600" dirty="0" smtClean="0"/>
              <a:t>Interviews</a:t>
            </a:r>
          </a:p>
          <a:p>
            <a:pPr lvl="2"/>
            <a:r>
              <a:rPr lang="en-US" sz="1600" dirty="0" smtClean="0"/>
              <a:t>Questionnaires </a:t>
            </a:r>
          </a:p>
          <a:p>
            <a:pPr lvl="1"/>
            <a:r>
              <a:rPr lang="en-US" sz="2000" dirty="0" smtClean="0"/>
              <a:t>Asking Experts</a:t>
            </a:r>
          </a:p>
          <a:p>
            <a:pPr lvl="2"/>
            <a:r>
              <a:rPr lang="en-US" sz="1600" dirty="0" smtClean="0"/>
              <a:t>Inspections</a:t>
            </a:r>
          </a:p>
          <a:p>
            <a:pPr lvl="2"/>
            <a:r>
              <a:rPr lang="en-US" sz="1600" dirty="0" smtClean="0"/>
              <a:t>Walkthroughs</a:t>
            </a:r>
          </a:p>
          <a:p>
            <a:endParaRPr lang="en-US" sz="2400" dirty="0" smtClean="0"/>
          </a:p>
          <a:p>
            <a:endParaRPr lang="en-US" sz="2400" dirty="0" smtClean="0"/>
          </a:p>
          <a:p>
            <a:pPr>
              <a:buNone/>
            </a:pPr>
            <a:endParaRPr lang="en-US" sz="2400" dirty="0" smtClean="0"/>
          </a:p>
        </p:txBody>
      </p:sp>
    </p:spTree>
    <p:extLst>
      <p:ext uri="{BB962C8B-B14F-4D97-AF65-F5344CB8AC3E}">
        <p14:creationId xmlns:p14="http://schemas.microsoft.com/office/powerpoint/2010/main" xmlns="" val="86775244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pPr fontAlgn="base"/>
            <a:r>
              <a:rPr lang="en-US" sz="4000" dirty="0" smtClean="0"/>
              <a:t>Observing Users …</a:t>
            </a:r>
            <a:endParaRPr lang="en-US" sz="4000" b="1" dirty="0"/>
          </a:p>
        </p:txBody>
      </p:sp>
      <p:sp>
        <p:nvSpPr>
          <p:cNvPr id="7" name="Content Placeholder 2"/>
          <p:cNvSpPr>
            <a:spLocks noGrp="1"/>
          </p:cNvSpPr>
          <p:nvPr>
            <p:ph idx="1"/>
          </p:nvPr>
        </p:nvSpPr>
        <p:spPr>
          <a:xfrm>
            <a:off x="0" y="685800"/>
            <a:ext cx="9144000" cy="6172200"/>
          </a:xfrm>
        </p:spPr>
        <p:txBody>
          <a:bodyPr>
            <a:normAutofit fontScale="92500" lnSpcReduction="10000"/>
          </a:bodyPr>
          <a:lstStyle/>
          <a:p>
            <a:r>
              <a:rPr lang="en-US" sz="2800" dirty="0" smtClean="0"/>
              <a:t>Observation involves watching and listening to users</a:t>
            </a:r>
            <a:r>
              <a:rPr lang="en-US" sz="2800" dirty="0" smtClean="0"/>
              <a:t>.</a:t>
            </a:r>
          </a:p>
          <a:p>
            <a:r>
              <a:rPr lang="en-US" sz="2800" dirty="0" smtClean="0"/>
              <a:t>Observing </a:t>
            </a:r>
            <a:r>
              <a:rPr lang="en-US" sz="2800" dirty="0" smtClean="0"/>
              <a:t>users interacting with software, even casual observing, can tell you an enormous amount about what they do, the context in which they do it, how well technology supports them, and what other support is needed. </a:t>
            </a:r>
            <a:endParaRPr lang="en-US" sz="2800" dirty="0" smtClean="0"/>
          </a:p>
          <a:p>
            <a:r>
              <a:rPr lang="en-US" sz="2800" dirty="0" smtClean="0"/>
              <a:t>Users </a:t>
            </a:r>
            <a:r>
              <a:rPr lang="en-US" sz="2800" dirty="0" smtClean="0"/>
              <a:t>can be observed in controlled laboratory-like conditions, as in usability testing, or in the natural environments in which the products are used-i.e., the field. </a:t>
            </a:r>
            <a:endParaRPr lang="en-US" sz="2800" dirty="0" smtClean="0"/>
          </a:p>
          <a:p>
            <a:r>
              <a:rPr lang="en-US" sz="2800" dirty="0" smtClean="0"/>
              <a:t>How </a:t>
            </a:r>
            <a:r>
              <a:rPr lang="en-US" sz="2800" dirty="0" smtClean="0"/>
              <a:t>the observation is done depends on why it is being done and the </a:t>
            </a:r>
            <a:r>
              <a:rPr lang="en-US" sz="2800" dirty="0" smtClean="0"/>
              <a:t>approach </a:t>
            </a:r>
            <a:r>
              <a:rPr lang="en-US" sz="2800" dirty="0" smtClean="0"/>
              <a:t>adopted. </a:t>
            </a:r>
            <a:endParaRPr lang="en-US" sz="2800" dirty="0" smtClean="0"/>
          </a:p>
          <a:p>
            <a:r>
              <a:rPr lang="en-US" sz="2800" dirty="0" smtClean="0"/>
              <a:t>There </a:t>
            </a:r>
            <a:r>
              <a:rPr lang="en-US" sz="2800" dirty="0" smtClean="0"/>
              <a:t>is a variety of structured, less structured, and descriptive observation techniques for evaluators to choose from. </a:t>
            </a:r>
            <a:endParaRPr lang="en-US" sz="2800" dirty="0" smtClean="0"/>
          </a:p>
          <a:p>
            <a:r>
              <a:rPr lang="en-US" sz="2800" dirty="0" smtClean="0"/>
              <a:t>Which </a:t>
            </a:r>
            <a:r>
              <a:rPr lang="en-US" sz="2800" dirty="0" smtClean="0"/>
              <a:t>they select and how their findings are interpreted will depend upon the evaluation goals, the specific questions being addressed, and practical constraints.</a:t>
            </a:r>
            <a:endParaRPr lang="en-US" sz="2400" dirty="0" smtClean="0"/>
          </a:p>
        </p:txBody>
      </p:sp>
    </p:spTree>
    <p:extLst>
      <p:ext uri="{BB962C8B-B14F-4D97-AF65-F5344CB8AC3E}">
        <p14:creationId xmlns:p14="http://schemas.microsoft.com/office/powerpoint/2010/main" xmlns="" val="86775244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pPr fontAlgn="base"/>
            <a:r>
              <a:rPr lang="en-US" sz="4000" dirty="0" smtClean="0"/>
              <a:t>What and when to </a:t>
            </a:r>
            <a:r>
              <a:rPr lang="en-US" sz="4000" dirty="0" smtClean="0"/>
              <a:t>observe</a:t>
            </a:r>
            <a:endParaRPr lang="en-US" sz="4000" dirty="0" smtClean="0"/>
          </a:p>
        </p:txBody>
      </p:sp>
      <p:pic>
        <p:nvPicPr>
          <p:cNvPr id="1026" name="Picture 2"/>
          <p:cNvPicPr>
            <a:picLocks noChangeAspect="1" noChangeArrowheads="1"/>
          </p:cNvPicPr>
          <p:nvPr/>
        </p:nvPicPr>
        <p:blipFill>
          <a:blip r:embed="rId2" cstate="print"/>
          <a:srcRect l="35139" t="6250" r="27965" b="73958"/>
          <a:stretch>
            <a:fillRect/>
          </a:stretch>
        </p:blipFill>
        <p:spPr bwMode="auto">
          <a:xfrm>
            <a:off x="405064" y="1447800"/>
            <a:ext cx="8434136" cy="2543628"/>
          </a:xfrm>
          <a:prstGeom prst="rect">
            <a:avLst/>
          </a:prstGeom>
          <a:noFill/>
          <a:ln w="9525">
            <a:noFill/>
            <a:miter lim="800000"/>
            <a:headEnd/>
            <a:tailEnd/>
          </a:ln>
        </p:spPr>
      </p:pic>
    </p:spTree>
    <p:extLst>
      <p:ext uri="{BB962C8B-B14F-4D97-AF65-F5344CB8AC3E}">
        <p14:creationId xmlns:p14="http://schemas.microsoft.com/office/powerpoint/2010/main" xmlns="" val="86775244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pPr fontAlgn="base"/>
            <a:r>
              <a:rPr lang="en-US" sz="4000" dirty="0" smtClean="0"/>
              <a:t>Approaches to observation</a:t>
            </a:r>
          </a:p>
        </p:txBody>
      </p:sp>
      <p:sp>
        <p:nvSpPr>
          <p:cNvPr id="7" name="Content Placeholder 2"/>
          <p:cNvSpPr>
            <a:spLocks noGrp="1"/>
          </p:cNvSpPr>
          <p:nvPr>
            <p:ph idx="1"/>
          </p:nvPr>
        </p:nvSpPr>
        <p:spPr>
          <a:xfrm>
            <a:off x="0" y="685800"/>
            <a:ext cx="9144000" cy="6172200"/>
          </a:xfrm>
        </p:spPr>
        <p:txBody>
          <a:bodyPr>
            <a:normAutofit/>
          </a:bodyPr>
          <a:lstStyle/>
          <a:p>
            <a:r>
              <a:rPr lang="en-US" sz="2800" dirty="0" smtClean="0"/>
              <a:t>Observers can be outsiders in the field and in the controlled environments, but they can't be insiders in a controlled environment. </a:t>
            </a:r>
            <a:endParaRPr lang="en-US" sz="2800" dirty="0" smtClean="0"/>
          </a:p>
          <a:p>
            <a:r>
              <a:rPr lang="en-US" sz="2800" dirty="0" smtClean="0"/>
              <a:t>In </a:t>
            </a:r>
            <a:r>
              <a:rPr lang="en-US" sz="2800" dirty="0" smtClean="0"/>
              <a:t>the field it is possible to have </a:t>
            </a:r>
            <a:r>
              <a:rPr lang="en-US" sz="2800" dirty="0" smtClean="0"/>
              <a:t>varying </a:t>
            </a:r>
            <a:r>
              <a:rPr lang="en-US" sz="2800" dirty="0" smtClean="0"/>
              <a:t>degrees of "</a:t>
            </a:r>
            <a:r>
              <a:rPr lang="en-US" sz="2800" dirty="0" smtClean="0"/>
              <a:t>insider outsider </a:t>
            </a:r>
            <a:r>
              <a:rPr lang="en-US" sz="2800" dirty="0" err="1" smtClean="0"/>
              <a:t>ness</a:t>
            </a:r>
            <a:r>
              <a:rPr lang="en-US" sz="2800" dirty="0" smtClean="0"/>
              <a:t>." In practice these distinctions are more </a:t>
            </a:r>
            <a:r>
              <a:rPr lang="en-US" sz="2800" dirty="0" smtClean="0"/>
              <a:t>difficult </a:t>
            </a:r>
            <a:r>
              <a:rPr lang="en-US" sz="2800" dirty="0" smtClean="0"/>
              <a:t>to describe than to experience!</a:t>
            </a:r>
            <a:endParaRPr lang="en-US" sz="2400" dirty="0" smtClean="0"/>
          </a:p>
        </p:txBody>
      </p:sp>
    </p:spTree>
    <p:extLst>
      <p:ext uri="{BB962C8B-B14F-4D97-AF65-F5344CB8AC3E}">
        <p14:creationId xmlns:p14="http://schemas.microsoft.com/office/powerpoint/2010/main" xmlns="" val="86775244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pPr fontAlgn="base"/>
            <a:r>
              <a:rPr lang="en-US" sz="4000" dirty="0" smtClean="0"/>
              <a:t>"Quick and dirty" observation</a:t>
            </a:r>
          </a:p>
        </p:txBody>
      </p:sp>
      <p:sp>
        <p:nvSpPr>
          <p:cNvPr id="7" name="Content Placeholder 2"/>
          <p:cNvSpPr>
            <a:spLocks noGrp="1"/>
          </p:cNvSpPr>
          <p:nvPr>
            <p:ph idx="1"/>
          </p:nvPr>
        </p:nvSpPr>
        <p:spPr>
          <a:xfrm>
            <a:off x="0" y="685800"/>
            <a:ext cx="9144000" cy="6172200"/>
          </a:xfrm>
        </p:spPr>
        <p:txBody>
          <a:bodyPr>
            <a:normAutofit fontScale="92500"/>
          </a:bodyPr>
          <a:lstStyle/>
          <a:p>
            <a:r>
              <a:rPr lang="en-US" sz="2800" dirty="0" smtClean="0"/>
              <a:t>Observers can be outsiders in the field and in the controlled environments, but they can't be insiders in a controlled environment. </a:t>
            </a:r>
            <a:endParaRPr lang="en-US" sz="2800" dirty="0" smtClean="0"/>
          </a:p>
          <a:p>
            <a:r>
              <a:rPr lang="en-US" sz="2800" dirty="0" smtClean="0"/>
              <a:t>In </a:t>
            </a:r>
            <a:r>
              <a:rPr lang="en-US" sz="2800" dirty="0" smtClean="0"/>
              <a:t>the field it is possible to have </a:t>
            </a:r>
            <a:r>
              <a:rPr lang="en-US" sz="2800" dirty="0" smtClean="0"/>
              <a:t>varying </a:t>
            </a:r>
            <a:r>
              <a:rPr lang="en-US" sz="2800" dirty="0" smtClean="0"/>
              <a:t>degrees of "</a:t>
            </a:r>
            <a:r>
              <a:rPr lang="en-US" sz="2800" dirty="0" smtClean="0"/>
              <a:t>insider outsider </a:t>
            </a:r>
            <a:r>
              <a:rPr lang="en-US" sz="2800" dirty="0" err="1" smtClean="0"/>
              <a:t>ness</a:t>
            </a:r>
            <a:r>
              <a:rPr lang="en-US" sz="2800" dirty="0" smtClean="0"/>
              <a:t>." In practice these distinctions are more </a:t>
            </a:r>
            <a:r>
              <a:rPr lang="en-US" sz="2800" dirty="0" smtClean="0"/>
              <a:t>difficult </a:t>
            </a:r>
            <a:r>
              <a:rPr lang="en-US" sz="2800" dirty="0" smtClean="0"/>
              <a:t>to describe than to experience</a:t>
            </a:r>
            <a:r>
              <a:rPr lang="en-US" sz="2800" dirty="0" smtClean="0"/>
              <a:t>!</a:t>
            </a:r>
          </a:p>
          <a:p>
            <a:r>
              <a:rPr lang="en-US" sz="2800" dirty="0" smtClean="0"/>
              <a:t>"Quick and dirty" observations can occur anywhere, anytime. </a:t>
            </a:r>
            <a:endParaRPr lang="en-US" sz="2800" dirty="0" smtClean="0"/>
          </a:p>
          <a:p>
            <a:r>
              <a:rPr lang="en-US" sz="2800" dirty="0" smtClean="0"/>
              <a:t>For </a:t>
            </a:r>
            <a:r>
              <a:rPr lang="en-US" sz="2800" dirty="0" smtClean="0"/>
              <a:t>example, </a:t>
            </a:r>
            <a:r>
              <a:rPr lang="en-US" sz="2800" dirty="0" smtClean="0"/>
              <a:t>evaluators </a:t>
            </a:r>
            <a:r>
              <a:rPr lang="en-US" sz="2800" dirty="0" smtClean="0"/>
              <a:t>often go into a school, home, or office to watch and talk to users in a casual way to get immediate feedback about a prototype or product</a:t>
            </a:r>
            <a:r>
              <a:rPr lang="en-US" sz="2800" dirty="0" smtClean="0"/>
              <a:t>.</a:t>
            </a:r>
          </a:p>
          <a:p>
            <a:r>
              <a:rPr lang="en-US" sz="2800" dirty="0" smtClean="0"/>
              <a:t> </a:t>
            </a:r>
            <a:r>
              <a:rPr lang="en-US" sz="2800" dirty="0" smtClean="0"/>
              <a:t>Evaluators can also join a group for a short time, which gives them a slightly more insider role. </a:t>
            </a:r>
            <a:endParaRPr lang="en-US" sz="2800" dirty="0" smtClean="0"/>
          </a:p>
          <a:p>
            <a:r>
              <a:rPr lang="en-US" sz="2800" dirty="0" smtClean="0"/>
              <a:t>Quick </a:t>
            </a:r>
            <a:r>
              <a:rPr lang="en-US" sz="2800" dirty="0" smtClean="0"/>
              <a:t>and dirty observations are just that, ways of finding out what is happening quickly and with little formality.</a:t>
            </a:r>
            <a:endParaRPr lang="en-US" sz="2800" dirty="0" smtClean="0"/>
          </a:p>
          <a:p>
            <a:endParaRPr lang="en-US" sz="2800" dirty="0" smtClean="0"/>
          </a:p>
          <a:p>
            <a:pPr>
              <a:buNone/>
            </a:pPr>
            <a:endParaRPr lang="en-US" sz="2400" dirty="0" smtClean="0"/>
          </a:p>
        </p:txBody>
      </p:sp>
    </p:spTree>
    <p:extLst>
      <p:ext uri="{BB962C8B-B14F-4D97-AF65-F5344CB8AC3E}">
        <p14:creationId xmlns:p14="http://schemas.microsoft.com/office/powerpoint/2010/main" xmlns="" val="86775244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pPr fontAlgn="base"/>
            <a:r>
              <a:rPr lang="en-US" sz="4000" dirty="0" smtClean="0"/>
              <a:t>Observation in usability testing</a:t>
            </a:r>
          </a:p>
        </p:txBody>
      </p:sp>
      <p:sp>
        <p:nvSpPr>
          <p:cNvPr id="7" name="Content Placeholder 2"/>
          <p:cNvSpPr>
            <a:spLocks noGrp="1"/>
          </p:cNvSpPr>
          <p:nvPr>
            <p:ph idx="1"/>
          </p:nvPr>
        </p:nvSpPr>
        <p:spPr>
          <a:xfrm>
            <a:off x="0" y="685800"/>
            <a:ext cx="9144000" cy="6172200"/>
          </a:xfrm>
        </p:spPr>
        <p:txBody>
          <a:bodyPr>
            <a:normAutofit fontScale="92500"/>
          </a:bodyPr>
          <a:lstStyle/>
          <a:p>
            <a:r>
              <a:rPr lang="en-US" sz="2800" dirty="0" smtClean="0"/>
              <a:t>Video and interaction logs capture everything that the user does during a usability test including keystrokes, mouse clicks, and their conversations. </a:t>
            </a:r>
            <a:endParaRPr lang="en-US" sz="2800" dirty="0" smtClean="0"/>
          </a:p>
          <a:p>
            <a:r>
              <a:rPr lang="en-US" sz="2800" dirty="0" smtClean="0"/>
              <a:t>In </a:t>
            </a:r>
            <a:r>
              <a:rPr lang="en-US" sz="2800" dirty="0" smtClean="0"/>
              <a:t>addition, </a:t>
            </a:r>
            <a:r>
              <a:rPr lang="en-US" sz="2800" dirty="0" smtClean="0"/>
              <a:t>observers </a:t>
            </a:r>
            <a:r>
              <a:rPr lang="en-US" sz="2800" dirty="0" smtClean="0"/>
              <a:t>can watch through a one-way mirror or via a remote TV screen. </a:t>
            </a:r>
            <a:endParaRPr lang="en-US" sz="2800" dirty="0" smtClean="0"/>
          </a:p>
          <a:p>
            <a:r>
              <a:rPr lang="en-US" sz="2800" dirty="0" smtClean="0"/>
              <a:t>The observational </a:t>
            </a:r>
            <a:r>
              <a:rPr lang="en-US" sz="2800" dirty="0" smtClean="0"/>
              <a:t>data is used to see and analyze what users do and how long they spend on different aspects of the task</a:t>
            </a:r>
            <a:r>
              <a:rPr lang="en-US" sz="2800" dirty="0" smtClean="0"/>
              <a:t>.</a:t>
            </a:r>
          </a:p>
          <a:p>
            <a:r>
              <a:rPr lang="en-US" sz="2800" dirty="0" smtClean="0"/>
              <a:t> </a:t>
            </a:r>
            <a:r>
              <a:rPr lang="en-US" sz="2800" dirty="0" smtClean="0"/>
              <a:t>It also provides insights into users' affective reactions. For example, sighs, tense shoulders, frowns, and scowls speak of users' </a:t>
            </a:r>
            <a:r>
              <a:rPr lang="en-US" sz="2800" dirty="0" smtClean="0"/>
              <a:t>dissatisfaction </a:t>
            </a:r>
            <a:r>
              <a:rPr lang="en-US" sz="2800" dirty="0" smtClean="0"/>
              <a:t>and frustrations. </a:t>
            </a:r>
            <a:endParaRPr lang="en-US" sz="2800" dirty="0" smtClean="0"/>
          </a:p>
          <a:p>
            <a:r>
              <a:rPr lang="en-US" sz="2800" dirty="0" smtClean="0"/>
              <a:t>The </a:t>
            </a:r>
            <a:r>
              <a:rPr lang="en-US" sz="2800" dirty="0" smtClean="0"/>
              <a:t>environment is controlled but users often forget that they are being observed. </a:t>
            </a:r>
            <a:endParaRPr lang="en-US" sz="2800" dirty="0" smtClean="0"/>
          </a:p>
          <a:p>
            <a:r>
              <a:rPr lang="en-US" sz="2800" dirty="0" smtClean="0"/>
              <a:t>In </a:t>
            </a:r>
            <a:r>
              <a:rPr lang="en-US" sz="2800" dirty="0" smtClean="0"/>
              <a:t>addition, many evaluators also supplement findings from the laboratory with observations in the field.</a:t>
            </a:r>
            <a:endParaRPr lang="en-US" sz="2400" dirty="0" smtClean="0"/>
          </a:p>
        </p:txBody>
      </p:sp>
    </p:spTree>
    <p:extLst>
      <p:ext uri="{BB962C8B-B14F-4D97-AF65-F5344CB8AC3E}">
        <p14:creationId xmlns:p14="http://schemas.microsoft.com/office/powerpoint/2010/main" xmlns="" val="86775244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pPr fontAlgn="base"/>
            <a:r>
              <a:rPr lang="en-US" sz="4000" dirty="0" smtClean="0"/>
              <a:t>Observation in field </a:t>
            </a:r>
            <a:r>
              <a:rPr lang="en-US" sz="4000" dirty="0" smtClean="0"/>
              <a:t>studies…</a:t>
            </a:r>
            <a:endParaRPr lang="en-US" sz="4000" dirty="0" smtClean="0"/>
          </a:p>
        </p:txBody>
      </p:sp>
      <p:sp>
        <p:nvSpPr>
          <p:cNvPr id="7" name="Content Placeholder 2"/>
          <p:cNvSpPr>
            <a:spLocks noGrp="1"/>
          </p:cNvSpPr>
          <p:nvPr>
            <p:ph idx="1"/>
          </p:nvPr>
        </p:nvSpPr>
        <p:spPr>
          <a:xfrm>
            <a:off x="0" y="685800"/>
            <a:ext cx="9144000" cy="6172200"/>
          </a:xfrm>
        </p:spPr>
        <p:txBody>
          <a:bodyPr>
            <a:normAutofit fontScale="92500" lnSpcReduction="10000"/>
          </a:bodyPr>
          <a:lstStyle/>
          <a:p>
            <a:r>
              <a:rPr lang="en-US" sz="2800" dirty="0" smtClean="0"/>
              <a:t>In field studies, as we have said, observers may be anywhere along the outsider- insider spectrum. </a:t>
            </a:r>
            <a:endParaRPr lang="en-US" sz="2800" dirty="0" smtClean="0"/>
          </a:p>
          <a:p>
            <a:r>
              <a:rPr lang="en-US" sz="2800" dirty="0" smtClean="0"/>
              <a:t>Looking </a:t>
            </a:r>
            <a:r>
              <a:rPr lang="en-US" sz="2800" dirty="0" smtClean="0"/>
              <a:t>on as an outsider, being a participant observer, or being an ethnographer brings a philosophy and practices that influence what data is </a:t>
            </a:r>
            <a:r>
              <a:rPr lang="en-US" sz="2800" dirty="0" smtClean="0"/>
              <a:t>collected</a:t>
            </a:r>
            <a:r>
              <a:rPr lang="en-US" sz="2800" dirty="0" smtClean="0"/>
              <a:t>, how data collection is done, and how the data is analyzed and reported. </a:t>
            </a:r>
            <a:endParaRPr lang="en-US" sz="2800" dirty="0" smtClean="0"/>
          </a:p>
          <a:p>
            <a:r>
              <a:rPr lang="en-US" sz="2800" dirty="0" smtClean="0"/>
              <a:t>Colin </a:t>
            </a:r>
            <a:r>
              <a:rPr lang="en-US" sz="2800" dirty="0" smtClean="0"/>
              <a:t>Robson (1993) summarizes the possible levels of participation as: complete participants, more marginal participants, observers who also participate, and </a:t>
            </a:r>
            <a:r>
              <a:rPr lang="en-US" sz="2800" dirty="0" smtClean="0"/>
              <a:t>people </a:t>
            </a:r>
            <a:r>
              <a:rPr lang="en-US" sz="2800" dirty="0" smtClean="0"/>
              <a:t>who observe from the outside and do not participate</a:t>
            </a:r>
            <a:r>
              <a:rPr lang="en-US" sz="2800" dirty="0" smtClean="0"/>
              <a:t>.</a:t>
            </a:r>
          </a:p>
          <a:p>
            <a:r>
              <a:rPr lang="en-US" sz="2800" dirty="0" smtClean="0"/>
              <a:t> </a:t>
            </a:r>
            <a:r>
              <a:rPr lang="en-US" sz="2800" dirty="0" smtClean="0"/>
              <a:t>Whether and in what ways observers influence those being observed depends on the type of observation and the observer's skills. </a:t>
            </a:r>
            <a:endParaRPr lang="en-US" sz="2800" dirty="0" smtClean="0"/>
          </a:p>
          <a:p>
            <a:r>
              <a:rPr lang="en-US" sz="2800" dirty="0" smtClean="0"/>
              <a:t>The </a:t>
            </a:r>
            <a:r>
              <a:rPr lang="en-US" sz="2800" dirty="0" smtClean="0"/>
              <a:t>goal is to cause as little </a:t>
            </a:r>
            <a:r>
              <a:rPr lang="en-US" sz="2800" dirty="0" smtClean="0"/>
              <a:t>disruption </a:t>
            </a:r>
            <a:r>
              <a:rPr lang="en-US" sz="2800" dirty="0" smtClean="0"/>
              <a:t>as possible. An example of outsider observation is when an observer is </a:t>
            </a:r>
            <a:r>
              <a:rPr lang="en-US" sz="2800" dirty="0" smtClean="0"/>
              <a:t>interested </a:t>
            </a:r>
            <a:r>
              <a:rPr lang="en-US" sz="2800" dirty="0" smtClean="0"/>
              <a:t>only in the presence of certain types of behavior. </a:t>
            </a:r>
          </a:p>
        </p:txBody>
      </p:sp>
    </p:spTree>
    <p:extLst>
      <p:ext uri="{BB962C8B-B14F-4D97-AF65-F5344CB8AC3E}">
        <p14:creationId xmlns:p14="http://schemas.microsoft.com/office/powerpoint/2010/main" xmlns="" val="86775244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pPr fontAlgn="base"/>
            <a:r>
              <a:rPr lang="en-US" sz="4000" dirty="0" smtClean="0"/>
              <a:t>…Observation </a:t>
            </a:r>
            <a:r>
              <a:rPr lang="en-US" sz="4000" dirty="0" smtClean="0"/>
              <a:t>in field </a:t>
            </a:r>
            <a:r>
              <a:rPr lang="en-US" sz="4000" dirty="0" smtClean="0"/>
              <a:t>studies</a:t>
            </a:r>
            <a:endParaRPr lang="en-US" sz="4000" dirty="0" smtClean="0"/>
          </a:p>
        </p:txBody>
      </p:sp>
      <p:sp>
        <p:nvSpPr>
          <p:cNvPr id="7" name="Content Placeholder 2"/>
          <p:cNvSpPr>
            <a:spLocks noGrp="1"/>
          </p:cNvSpPr>
          <p:nvPr>
            <p:ph idx="1"/>
          </p:nvPr>
        </p:nvSpPr>
        <p:spPr>
          <a:xfrm>
            <a:off x="0" y="685800"/>
            <a:ext cx="9144000" cy="6172200"/>
          </a:xfrm>
        </p:spPr>
        <p:txBody>
          <a:bodyPr>
            <a:normAutofit lnSpcReduction="10000"/>
          </a:bodyPr>
          <a:lstStyle/>
          <a:p>
            <a:r>
              <a:rPr lang="en-US" sz="2800" dirty="0" smtClean="0"/>
              <a:t>Inside observers may be participant observers or ethnographers. </a:t>
            </a:r>
            <a:endParaRPr lang="en-US" sz="2800" dirty="0" smtClean="0"/>
          </a:p>
          <a:p>
            <a:r>
              <a:rPr lang="en-US" sz="2800" dirty="0" smtClean="0"/>
              <a:t>In </a:t>
            </a:r>
            <a:r>
              <a:rPr lang="en-US" sz="2800" dirty="0" smtClean="0"/>
              <a:t>participant observation evaluators participate with users in order to learn what they do and how and why they do it. </a:t>
            </a:r>
            <a:endParaRPr lang="en-US" sz="2800" dirty="0" smtClean="0"/>
          </a:p>
          <a:p>
            <a:r>
              <a:rPr lang="en-US" sz="2800" dirty="0" smtClean="0"/>
              <a:t>A </a:t>
            </a:r>
            <a:r>
              <a:rPr lang="en-US" sz="2800" dirty="0" smtClean="0"/>
              <a:t>fully participant observer observes from the inside as a member of the group, which means she must not only be present to share </a:t>
            </a:r>
            <a:r>
              <a:rPr lang="en-US" sz="2800" dirty="0" smtClean="0"/>
              <a:t>experiences</a:t>
            </a:r>
            <a:r>
              <a:rPr lang="en-US" sz="2800" dirty="0" smtClean="0"/>
              <a:t>, but also learn the social conventions of the group, including beliefs and </a:t>
            </a:r>
            <a:r>
              <a:rPr lang="en-US" sz="2800" dirty="0" smtClean="0"/>
              <a:t>protocols</a:t>
            </a:r>
            <a:r>
              <a:rPr lang="en-US" sz="2800" dirty="0" smtClean="0"/>
              <a:t>, dress codes, communication conventions, use of language, and non-verbal communication. </a:t>
            </a:r>
            <a:endParaRPr lang="en-US" sz="2800" dirty="0" smtClean="0"/>
          </a:p>
          <a:p>
            <a:r>
              <a:rPr lang="en-US" sz="2800" dirty="0" smtClean="0"/>
              <a:t>"</a:t>
            </a:r>
            <a:r>
              <a:rPr lang="en-US" sz="2800" dirty="0" smtClean="0"/>
              <a:t>Participant observation combines participation in the lives of the people under study with maintenance of a professional distance that allows </a:t>
            </a:r>
            <a:r>
              <a:rPr lang="en-US" sz="2800" dirty="0" smtClean="0"/>
              <a:t>adequate </a:t>
            </a:r>
            <a:r>
              <a:rPr lang="en-US" sz="2800" dirty="0" smtClean="0"/>
              <a:t>observation and recording of data" (</a:t>
            </a:r>
            <a:r>
              <a:rPr lang="en-US" sz="2800" dirty="0" err="1" smtClean="0"/>
              <a:t>Fetterman</a:t>
            </a:r>
            <a:r>
              <a:rPr lang="en-US" sz="2800" dirty="0" smtClean="0"/>
              <a:t>, 1998, p. 34-35).</a:t>
            </a:r>
            <a:endParaRPr lang="en-US" sz="2400" dirty="0" smtClean="0"/>
          </a:p>
        </p:txBody>
      </p:sp>
    </p:spTree>
    <p:extLst>
      <p:ext uri="{BB962C8B-B14F-4D97-AF65-F5344CB8AC3E}">
        <p14:creationId xmlns:p14="http://schemas.microsoft.com/office/powerpoint/2010/main" xmlns="" val="86775244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pPr fontAlgn="base"/>
            <a:r>
              <a:rPr lang="en-US" sz="4000" dirty="0" smtClean="0"/>
              <a:t>Asking Users – Interviews…</a:t>
            </a:r>
            <a:endParaRPr lang="en-US" sz="4000" dirty="0" smtClean="0"/>
          </a:p>
        </p:txBody>
      </p:sp>
      <p:sp>
        <p:nvSpPr>
          <p:cNvPr id="7" name="Content Placeholder 2"/>
          <p:cNvSpPr>
            <a:spLocks noGrp="1"/>
          </p:cNvSpPr>
          <p:nvPr>
            <p:ph idx="1"/>
          </p:nvPr>
        </p:nvSpPr>
        <p:spPr>
          <a:xfrm>
            <a:off x="0" y="685800"/>
            <a:ext cx="9144000" cy="6172200"/>
          </a:xfrm>
        </p:spPr>
        <p:txBody>
          <a:bodyPr>
            <a:normAutofit fontScale="77500" lnSpcReduction="20000"/>
          </a:bodyPr>
          <a:lstStyle/>
          <a:p>
            <a:r>
              <a:rPr lang="en-US" sz="2800" dirty="0" smtClean="0"/>
              <a:t>Interviews are used in "quick and dirty" evaluation, in usability testing, and in field studies to ask about facts, behavior, </a:t>
            </a:r>
            <a:r>
              <a:rPr lang="en-US" sz="2800" dirty="0" smtClean="0"/>
              <a:t>beliefs</a:t>
            </a:r>
            <a:r>
              <a:rPr lang="en-US" sz="2800" dirty="0" smtClean="0"/>
              <a:t>, and attitudes</a:t>
            </a:r>
            <a:r>
              <a:rPr lang="en-US" sz="2800" dirty="0" smtClean="0"/>
              <a:t>.</a:t>
            </a:r>
            <a:endParaRPr lang="en-US" sz="2800" dirty="0" smtClean="0"/>
          </a:p>
          <a:p>
            <a:r>
              <a:rPr lang="en-US" sz="2800" dirty="0" smtClean="0"/>
              <a:t>Interviews can be thought of as a "conversation with a purpose" (Kahn and Can- </a:t>
            </a:r>
            <a:r>
              <a:rPr lang="en-US" sz="2800" dirty="0" err="1" smtClean="0"/>
              <a:t>nell</a:t>
            </a:r>
            <a:r>
              <a:rPr lang="en-US" sz="2800" dirty="0" smtClean="0"/>
              <a:t>, 1957). </a:t>
            </a:r>
            <a:endParaRPr lang="en-US" sz="2800" dirty="0" smtClean="0"/>
          </a:p>
          <a:p>
            <a:r>
              <a:rPr lang="en-US" sz="2800" dirty="0" smtClean="0"/>
              <a:t>How </a:t>
            </a:r>
            <a:r>
              <a:rPr lang="en-US" sz="2800" dirty="0" smtClean="0"/>
              <a:t>like an ordinary conversation the interview is depends on the questions to be answered and the type of interview method used. </a:t>
            </a:r>
            <a:endParaRPr lang="en-US" sz="2800" dirty="0" smtClean="0"/>
          </a:p>
          <a:p>
            <a:r>
              <a:rPr lang="en-US" sz="2800" dirty="0" smtClean="0"/>
              <a:t>There </a:t>
            </a:r>
            <a:r>
              <a:rPr lang="en-US" sz="2800" dirty="0" smtClean="0"/>
              <a:t>are four main types of interviews: </a:t>
            </a:r>
            <a:endParaRPr lang="en-US" sz="2800" dirty="0" smtClean="0"/>
          </a:p>
          <a:p>
            <a:pPr lvl="1"/>
            <a:r>
              <a:rPr lang="en-US" sz="2400" dirty="0" smtClean="0"/>
              <a:t>open-ended </a:t>
            </a:r>
            <a:r>
              <a:rPr lang="en-US" sz="2400" dirty="0" smtClean="0"/>
              <a:t>or unstructured, </a:t>
            </a:r>
            <a:endParaRPr lang="en-US" sz="2400" dirty="0" smtClean="0"/>
          </a:p>
          <a:p>
            <a:pPr lvl="1"/>
            <a:r>
              <a:rPr lang="en-US" sz="2400" dirty="0" smtClean="0"/>
              <a:t>structured</a:t>
            </a:r>
            <a:r>
              <a:rPr lang="en-US" sz="2400" dirty="0" smtClean="0"/>
              <a:t>, </a:t>
            </a:r>
            <a:endParaRPr lang="en-US" sz="2400" dirty="0" smtClean="0"/>
          </a:p>
          <a:p>
            <a:pPr lvl="1"/>
            <a:r>
              <a:rPr lang="en-US" sz="2400" dirty="0" smtClean="0"/>
              <a:t>semi-structured</a:t>
            </a:r>
            <a:r>
              <a:rPr lang="en-US" sz="2400" dirty="0" smtClean="0"/>
              <a:t>, </a:t>
            </a:r>
            <a:endParaRPr lang="en-US" sz="2400" dirty="0" smtClean="0"/>
          </a:p>
          <a:p>
            <a:pPr lvl="1"/>
            <a:r>
              <a:rPr lang="en-US" sz="2400" dirty="0" smtClean="0"/>
              <a:t>and </a:t>
            </a:r>
            <a:r>
              <a:rPr lang="en-US" sz="2400" dirty="0" smtClean="0"/>
              <a:t>group </a:t>
            </a:r>
            <a:r>
              <a:rPr lang="en-US" sz="2400" dirty="0" smtClean="0"/>
              <a:t>interviews</a:t>
            </a:r>
          </a:p>
          <a:p>
            <a:r>
              <a:rPr lang="en-US" sz="2800" dirty="0" smtClean="0"/>
              <a:t>The first three types are named according to how much control the interviewer imposes on the conversation by following a predetermined set of questions. </a:t>
            </a:r>
            <a:endParaRPr lang="en-US" sz="2800" dirty="0" smtClean="0"/>
          </a:p>
          <a:p>
            <a:r>
              <a:rPr lang="en-US" sz="2800" dirty="0" smtClean="0"/>
              <a:t>The </a:t>
            </a:r>
            <a:r>
              <a:rPr lang="en-US" sz="2800" dirty="0" smtClean="0"/>
              <a:t>fourth involves a small group guided by an interviewer who facilitates discussion of a specified set of topics. </a:t>
            </a:r>
            <a:endParaRPr lang="en-US" sz="2800" dirty="0" smtClean="0"/>
          </a:p>
          <a:p>
            <a:r>
              <a:rPr lang="en-US" sz="2800" dirty="0" smtClean="0"/>
              <a:t>The </a:t>
            </a:r>
            <a:r>
              <a:rPr lang="en-US" sz="2800" dirty="0" smtClean="0"/>
              <a:t>most appropriate approach to interviewing depends on the evaluation goals, the questions to be addressed, and the paradigm adopted. </a:t>
            </a:r>
          </a:p>
          <a:p>
            <a:endParaRPr lang="en-US" sz="2400" dirty="0" smtClean="0"/>
          </a:p>
        </p:txBody>
      </p:sp>
    </p:spTree>
    <p:extLst>
      <p:ext uri="{BB962C8B-B14F-4D97-AF65-F5344CB8AC3E}">
        <p14:creationId xmlns:p14="http://schemas.microsoft.com/office/powerpoint/2010/main" xmlns="" val="86775244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pPr fontAlgn="base"/>
            <a:r>
              <a:rPr lang="en-US" sz="4000" dirty="0" smtClean="0"/>
              <a:t>…Asking Users – Interviews…</a:t>
            </a:r>
            <a:endParaRPr lang="en-US" sz="4000" dirty="0" smtClean="0"/>
          </a:p>
        </p:txBody>
      </p:sp>
      <p:sp>
        <p:nvSpPr>
          <p:cNvPr id="7" name="Content Placeholder 2"/>
          <p:cNvSpPr>
            <a:spLocks noGrp="1"/>
          </p:cNvSpPr>
          <p:nvPr>
            <p:ph idx="1"/>
          </p:nvPr>
        </p:nvSpPr>
        <p:spPr>
          <a:xfrm>
            <a:off x="0" y="685800"/>
            <a:ext cx="9144000" cy="6172200"/>
          </a:xfrm>
        </p:spPr>
        <p:txBody>
          <a:bodyPr>
            <a:normAutofit fontScale="70000" lnSpcReduction="20000"/>
          </a:bodyPr>
          <a:lstStyle/>
          <a:p>
            <a:pPr>
              <a:buNone/>
            </a:pPr>
            <a:r>
              <a:rPr lang="en-US" sz="2800" b="1" dirty="0" smtClean="0"/>
              <a:t>Unstructured interviews</a:t>
            </a:r>
            <a:r>
              <a:rPr lang="en-US" sz="2800" dirty="0" smtClean="0"/>
              <a:t> </a:t>
            </a:r>
          </a:p>
          <a:p>
            <a:r>
              <a:rPr lang="en-US" sz="2800" dirty="0" smtClean="0"/>
              <a:t>Open-ended or unstructured interviews are at one end of a spectrum of how much control the interviewer has on the process. </a:t>
            </a:r>
            <a:endParaRPr lang="en-US" sz="2800" dirty="0" smtClean="0"/>
          </a:p>
          <a:p>
            <a:r>
              <a:rPr lang="en-US" sz="2800" dirty="0" smtClean="0"/>
              <a:t>They </a:t>
            </a:r>
            <a:r>
              <a:rPr lang="en-US" sz="2800" dirty="0" smtClean="0"/>
              <a:t>are more like conversations that focus on a particular topic and may often go into considerable depth. </a:t>
            </a:r>
            <a:endParaRPr lang="en-US" sz="2800" dirty="0" smtClean="0"/>
          </a:p>
          <a:p>
            <a:r>
              <a:rPr lang="en-US" sz="2800" dirty="0" smtClean="0"/>
              <a:t>Questions </a:t>
            </a:r>
            <a:r>
              <a:rPr lang="en-US" sz="2800" dirty="0" smtClean="0"/>
              <a:t>posed by the interviewer are open, meaning that the format and content of answers is not predetermined. </a:t>
            </a:r>
            <a:endParaRPr lang="en-US" sz="2800" dirty="0" smtClean="0"/>
          </a:p>
          <a:p>
            <a:r>
              <a:rPr lang="en-US" sz="2800" dirty="0" smtClean="0"/>
              <a:t>The </a:t>
            </a:r>
            <a:r>
              <a:rPr lang="en-US" sz="2800" dirty="0" smtClean="0"/>
              <a:t>interviewee is free to answer as fully or as briefly as she wishes. Both interviewer and interviewee can steer the interview. </a:t>
            </a:r>
            <a:endParaRPr lang="en-US" sz="2800" dirty="0" smtClean="0"/>
          </a:p>
          <a:p>
            <a:r>
              <a:rPr lang="en-US" sz="2800" dirty="0" smtClean="0"/>
              <a:t>Thus </a:t>
            </a:r>
            <a:r>
              <a:rPr lang="en-US" sz="2800" dirty="0" smtClean="0"/>
              <a:t>one of the skills necessary for this type of interviewing is to make sure that answers to </a:t>
            </a:r>
            <a:r>
              <a:rPr lang="en-US" sz="2800" dirty="0" smtClean="0"/>
              <a:t>relevant </a:t>
            </a:r>
            <a:r>
              <a:rPr lang="en-US" sz="2800" dirty="0" smtClean="0"/>
              <a:t>questions are obtained. It is therefore advisable to be organized and have a plan of the main things to be covered. </a:t>
            </a:r>
            <a:endParaRPr lang="en-US" sz="2800" dirty="0" smtClean="0"/>
          </a:p>
          <a:p>
            <a:r>
              <a:rPr lang="en-US" sz="2800" dirty="0" smtClean="0"/>
              <a:t>Going </a:t>
            </a:r>
            <a:r>
              <a:rPr lang="en-US" sz="2800" dirty="0" smtClean="0"/>
              <a:t>in without an agenda to accomplish a goal is not advisable, and should not to be confused with being open to new </a:t>
            </a:r>
            <a:r>
              <a:rPr lang="en-US" sz="2800" dirty="0" smtClean="0"/>
              <a:t>information </a:t>
            </a:r>
            <a:r>
              <a:rPr lang="en-US" sz="2800" dirty="0" smtClean="0"/>
              <a:t>and ideas. </a:t>
            </a:r>
            <a:endParaRPr lang="en-US" sz="2800" dirty="0" smtClean="0"/>
          </a:p>
          <a:p>
            <a:r>
              <a:rPr lang="en-US" sz="2800" dirty="0" smtClean="0"/>
              <a:t>A </a:t>
            </a:r>
            <a:r>
              <a:rPr lang="en-US" sz="2800" dirty="0" smtClean="0"/>
              <a:t>benefit of unstructured interviews is that they generate rich data. </a:t>
            </a:r>
            <a:r>
              <a:rPr lang="en-US" sz="2800" dirty="0" smtClean="0"/>
              <a:t>Interviewees </a:t>
            </a:r>
            <a:r>
              <a:rPr lang="en-US" sz="2800" dirty="0" smtClean="0"/>
              <a:t>often mention things that the interviewer may not have considered and can be further explored. </a:t>
            </a:r>
            <a:endParaRPr lang="en-US" sz="2800" dirty="0" smtClean="0"/>
          </a:p>
          <a:p>
            <a:r>
              <a:rPr lang="en-US" sz="2800" dirty="0" smtClean="0"/>
              <a:t>But </a:t>
            </a:r>
            <a:r>
              <a:rPr lang="en-US" sz="2800" dirty="0" smtClean="0"/>
              <a:t>this benefit often comes at a cost. A lot of unstructured data is generated, which can be very time-consuming and difficult to analyze. </a:t>
            </a:r>
            <a:endParaRPr lang="en-US" sz="2800" dirty="0" smtClean="0"/>
          </a:p>
          <a:p>
            <a:r>
              <a:rPr lang="en-US" sz="2800" dirty="0" smtClean="0"/>
              <a:t>It </a:t>
            </a:r>
            <a:r>
              <a:rPr lang="en-US" sz="2800" dirty="0" smtClean="0"/>
              <a:t>is also impossible to replicate the process, since each interview takes on its own format. </a:t>
            </a:r>
            <a:endParaRPr lang="en-US" sz="2000" dirty="0" smtClean="0"/>
          </a:p>
        </p:txBody>
      </p:sp>
    </p:spTree>
    <p:extLst>
      <p:ext uri="{BB962C8B-B14F-4D97-AF65-F5344CB8AC3E}">
        <p14:creationId xmlns:p14="http://schemas.microsoft.com/office/powerpoint/2010/main" xmlns="" val="86775244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pPr fontAlgn="base"/>
            <a:r>
              <a:rPr lang="en-US" sz="4000" dirty="0" smtClean="0"/>
              <a:t>…Asking Users – Interviews…</a:t>
            </a:r>
            <a:endParaRPr lang="en-US" sz="4000" dirty="0" smtClean="0"/>
          </a:p>
        </p:txBody>
      </p:sp>
      <p:sp>
        <p:nvSpPr>
          <p:cNvPr id="7" name="Content Placeholder 2"/>
          <p:cNvSpPr>
            <a:spLocks noGrp="1"/>
          </p:cNvSpPr>
          <p:nvPr>
            <p:ph idx="1"/>
          </p:nvPr>
        </p:nvSpPr>
        <p:spPr>
          <a:xfrm>
            <a:off x="0" y="685800"/>
            <a:ext cx="9144000" cy="6172200"/>
          </a:xfrm>
        </p:spPr>
        <p:txBody>
          <a:bodyPr>
            <a:normAutofit fontScale="92500"/>
          </a:bodyPr>
          <a:lstStyle/>
          <a:p>
            <a:pPr>
              <a:buNone/>
            </a:pPr>
            <a:r>
              <a:rPr lang="en-US" sz="2800" b="1" dirty="0" smtClean="0"/>
              <a:t>S</a:t>
            </a:r>
            <a:r>
              <a:rPr lang="en-US" sz="2800" b="1" dirty="0" smtClean="0"/>
              <a:t>tructured </a:t>
            </a:r>
            <a:r>
              <a:rPr lang="en-US" sz="2800" b="1" dirty="0" smtClean="0"/>
              <a:t>interviews</a:t>
            </a:r>
            <a:r>
              <a:rPr lang="en-US" sz="2800" dirty="0" smtClean="0"/>
              <a:t> </a:t>
            </a:r>
          </a:p>
          <a:p>
            <a:r>
              <a:rPr lang="en-US" sz="2800" dirty="0" smtClean="0"/>
              <a:t>Structured </a:t>
            </a:r>
            <a:r>
              <a:rPr lang="en-US" sz="2800" dirty="0" smtClean="0"/>
              <a:t>interviews pose predetermined questions similar to those in a </a:t>
            </a:r>
            <a:r>
              <a:rPr lang="en-US" sz="2800" dirty="0" smtClean="0"/>
              <a:t>questionnaire </a:t>
            </a:r>
          </a:p>
          <a:p>
            <a:r>
              <a:rPr lang="en-US" sz="2800" dirty="0" smtClean="0"/>
              <a:t>Structured </a:t>
            </a:r>
            <a:r>
              <a:rPr lang="en-US" sz="2800" dirty="0" smtClean="0"/>
              <a:t>interviews are useful when the study's goals are clearly understood and specific questions can be identified. </a:t>
            </a:r>
            <a:endParaRPr lang="en-US" sz="2800" dirty="0" smtClean="0"/>
          </a:p>
          <a:p>
            <a:r>
              <a:rPr lang="en-US" sz="2800" dirty="0" smtClean="0"/>
              <a:t>To </a:t>
            </a:r>
            <a:r>
              <a:rPr lang="en-US" sz="2800" dirty="0" smtClean="0"/>
              <a:t>work best, the </a:t>
            </a:r>
            <a:r>
              <a:rPr lang="en-US" sz="2800" dirty="0" smtClean="0"/>
              <a:t>questions </a:t>
            </a:r>
            <a:r>
              <a:rPr lang="en-US" sz="2800" dirty="0" smtClean="0"/>
              <a:t>need to be short and clearly worded., Responses may involve selecting from a set of options that are read aloud or presented on paper. </a:t>
            </a:r>
            <a:endParaRPr lang="en-US" sz="2800" dirty="0" smtClean="0"/>
          </a:p>
          <a:p>
            <a:r>
              <a:rPr lang="en-US" sz="2800" dirty="0" smtClean="0"/>
              <a:t>The </a:t>
            </a:r>
            <a:r>
              <a:rPr lang="en-US" sz="2800" dirty="0" smtClean="0"/>
              <a:t>questions should be </a:t>
            </a:r>
            <a:r>
              <a:rPr lang="en-US" sz="2800" dirty="0" smtClean="0"/>
              <a:t>refined </a:t>
            </a:r>
            <a:r>
              <a:rPr lang="en-US" sz="2800" dirty="0" smtClean="0"/>
              <a:t>by asking another evaluator to review them and by running a small pilot study. </a:t>
            </a:r>
            <a:endParaRPr lang="en-US" sz="2800" dirty="0" smtClean="0"/>
          </a:p>
          <a:p>
            <a:r>
              <a:rPr lang="en-US" sz="2800" dirty="0" smtClean="0"/>
              <a:t>Typically </a:t>
            </a:r>
            <a:r>
              <a:rPr lang="en-US" sz="2800" dirty="0" smtClean="0"/>
              <a:t>the questions are closed, which means that they require a precise answer. </a:t>
            </a:r>
            <a:endParaRPr lang="en-US" sz="2800" dirty="0" smtClean="0"/>
          </a:p>
          <a:p>
            <a:r>
              <a:rPr lang="en-US" sz="2800" dirty="0" smtClean="0"/>
              <a:t>The </a:t>
            </a:r>
            <a:r>
              <a:rPr lang="en-US" sz="2800" dirty="0" smtClean="0"/>
              <a:t>same questions are used with each participant so the study is standardized. </a:t>
            </a:r>
            <a:endParaRPr lang="en-US" sz="2000" dirty="0" smtClean="0"/>
          </a:p>
        </p:txBody>
      </p:sp>
    </p:spTree>
    <p:extLst>
      <p:ext uri="{BB962C8B-B14F-4D97-AF65-F5344CB8AC3E}">
        <p14:creationId xmlns:p14="http://schemas.microsoft.com/office/powerpoint/2010/main" xmlns="" val="86775244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pPr fontAlgn="base"/>
            <a:r>
              <a:rPr lang="en-US" sz="4000" dirty="0" smtClean="0"/>
              <a:t>…Asking Users – Interviews…</a:t>
            </a:r>
            <a:endParaRPr lang="en-US" sz="4000" dirty="0" smtClean="0"/>
          </a:p>
        </p:txBody>
      </p:sp>
      <p:sp>
        <p:nvSpPr>
          <p:cNvPr id="7" name="Content Placeholder 2"/>
          <p:cNvSpPr>
            <a:spLocks noGrp="1"/>
          </p:cNvSpPr>
          <p:nvPr>
            <p:ph idx="1"/>
          </p:nvPr>
        </p:nvSpPr>
        <p:spPr>
          <a:xfrm>
            <a:off x="0" y="685800"/>
            <a:ext cx="9144000" cy="6172200"/>
          </a:xfrm>
        </p:spPr>
        <p:txBody>
          <a:bodyPr>
            <a:normAutofit/>
          </a:bodyPr>
          <a:lstStyle/>
          <a:p>
            <a:pPr>
              <a:buNone/>
            </a:pPr>
            <a:r>
              <a:rPr lang="en-US" sz="2800" b="1" dirty="0" smtClean="0"/>
              <a:t>Semi-Structured </a:t>
            </a:r>
            <a:r>
              <a:rPr lang="en-US" sz="2800" b="1" dirty="0" smtClean="0"/>
              <a:t>interviews</a:t>
            </a:r>
            <a:r>
              <a:rPr lang="en-US" sz="2800" dirty="0" smtClean="0"/>
              <a:t> </a:t>
            </a:r>
          </a:p>
          <a:p>
            <a:r>
              <a:rPr lang="en-US" sz="2800" dirty="0" smtClean="0"/>
              <a:t>Semi-structured </a:t>
            </a:r>
            <a:r>
              <a:rPr lang="en-US" sz="2800" dirty="0" smtClean="0"/>
              <a:t>interviews combine features of structured and unstructured </a:t>
            </a:r>
            <a:r>
              <a:rPr lang="en-US" sz="2800" dirty="0" smtClean="0"/>
              <a:t>interviews </a:t>
            </a:r>
            <a:r>
              <a:rPr lang="en-US" sz="2800" dirty="0" smtClean="0"/>
              <a:t>and use both closed and open questions. </a:t>
            </a:r>
            <a:endParaRPr lang="en-US" sz="2800" dirty="0" smtClean="0"/>
          </a:p>
          <a:p>
            <a:r>
              <a:rPr lang="en-US" sz="2800" dirty="0" smtClean="0"/>
              <a:t>For </a:t>
            </a:r>
            <a:r>
              <a:rPr lang="en-US" sz="2800" dirty="0" smtClean="0"/>
              <a:t>consistency the interviewer has a basic script for guidance, so that the same topics are covered with each </a:t>
            </a:r>
            <a:r>
              <a:rPr lang="en-US" sz="2800" dirty="0" smtClean="0"/>
              <a:t>interviewee</a:t>
            </a:r>
            <a:r>
              <a:rPr lang="en-US" sz="2800" dirty="0" smtClean="0"/>
              <a:t>. </a:t>
            </a:r>
            <a:endParaRPr lang="en-US" sz="2800" dirty="0" smtClean="0"/>
          </a:p>
          <a:p>
            <a:r>
              <a:rPr lang="en-US" sz="2800" dirty="0" smtClean="0"/>
              <a:t>The </a:t>
            </a:r>
            <a:r>
              <a:rPr lang="en-US" sz="2800" dirty="0" smtClean="0"/>
              <a:t>interviewer starts with preplanned questions and then probes the </a:t>
            </a:r>
            <a:r>
              <a:rPr lang="en-US" sz="2800" dirty="0" smtClean="0"/>
              <a:t>interviewee </a:t>
            </a:r>
            <a:r>
              <a:rPr lang="en-US" sz="2800" dirty="0" smtClean="0"/>
              <a:t>to say more until no new relevant information is forthcoming. </a:t>
            </a:r>
          </a:p>
        </p:txBody>
      </p:sp>
    </p:spTree>
    <p:extLst>
      <p:ext uri="{BB962C8B-B14F-4D97-AF65-F5344CB8AC3E}">
        <p14:creationId xmlns:p14="http://schemas.microsoft.com/office/powerpoint/2010/main" xmlns="" val="86775244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pPr fontAlgn="base"/>
            <a:r>
              <a:rPr lang="en-US" sz="4000" dirty="0" smtClean="0"/>
              <a:t>…Asking Users – Interviews</a:t>
            </a:r>
            <a:endParaRPr lang="en-US" sz="4000" dirty="0" smtClean="0"/>
          </a:p>
        </p:txBody>
      </p:sp>
      <p:sp>
        <p:nvSpPr>
          <p:cNvPr id="7" name="Content Placeholder 2"/>
          <p:cNvSpPr>
            <a:spLocks noGrp="1"/>
          </p:cNvSpPr>
          <p:nvPr>
            <p:ph idx="1"/>
          </p:nvPr>
        </p:nvSpPr>
        <p:spPr>
          <a:xfrm>
            <a:off x="0" y="685800"/>
            <a:ext cx="9144000" cy="6172200"/>
          </a:xfrm>
        </p:spPr>
        <p:txBody>
          <a:bodyPr>
            <a:normAutofit fontScale="70000" lnSpcReduction="20000"/>
          </a:bodyPr>
          <a:lstStyle/>
          <a:p>
            <a:pPr>
              <a:buNone/>
            </a:pPr>
            <a:r>
              <a:rPr lang="en-US" sz="2800" b="1" dirty="0" smtClean="0"/>
              <a:t>Group interviews</a:t>
            </a:r>
            <a:r>
              <a:rPr lang="en-US" sz="2800" dirty="0" smtClean="0"/>
              <a:t> </a:t>
            </a:r>
          </a:p>
          <a:p>
            <a:r>
              <a:rPr lang="en-US" sz="2800" dirty="0" smtClean="0"/>
              <a:t>One </a:t>
            </a:r>
            <a:r>
              <a:rPr lang="en-US" sz="2800" dirty="0" smtClean="0"/>
              <a:t>form of group interview is the focus group that is frequently used in marketing, political campaigning, and social sciences research. </a:t>
            </a:r>
            <a:endParaRPr lang="en-US" sz="2800" dirty="0" smtClean="0"/>
          </a:p>
          <a:p>
            <a:r>
              <a:rPr lang="en-US" sz="2800" dirty="0" smtClean="0"/>
              <a:t>Normally </a:t>
            </a:r>
            <a:r>
              <a:rPr lang="en-US" sz="2800" dirty="0" smtClean="0"/>
              <a:t>three to 10 people are involved. Participants are selected to provide a representative sample of typical users; they normally share certain characteristics. </a:t>
            </a:r>
            <a:endParaRPr lang="en-US" sz="2800" dirty="0" smtClean="0"/>
          </a:p>
          <a:p>
            <a:r>
              <a:rPr lang="en-US" sz="2800" dirty="0" smtClean="0"/>
              <a:t>For </a:t>
            </a:r>
            <a:r>
              <a:rPr lang="en-US" sz="2800" dirty="0" smtClean="0"/>
              <a:t>example, in an evaluation of a university website, a group of administrators, faculty, and students may be called to form three separate focus groups because they use the web for different purposes. </a:t>
            </a:r>
            <a:endParaRPr lang="en-US" sz="2800" dirty="0" smtClean="0"/>
          </a:p>
          <a:p>
            <a:r>
              <a:rPr lang="en-US" sz="2800" dirty="0" smtClean="0"/>
              <a:t>The </a:t>
            </a:r>
            <a:r>
              <a:rPr lang="en-US" sz="2800" dirty="0" smtClean="0"/>
              <a:t>benefit of a focus group is that it allows diverse or sensitive issues to be raised that would otherwise be missed. </a:t>
            </a:r>
            <a:endParaRPr lang="en-US" sz="2800" dirty="0" smtClean="0"/>
          </a:p>
          <a:p>
            <a:r>
              <a:rPr lang="en-US" sz="2800" dirty="0" smtClean="0"/>
              <a:t>The </a:t>
            </a:r>
            <a:r>
              <a:rPr lang="en-US" sz="2800" dirty="0" smtClean="0"/>
              <a:t>method assumes that individuals </a:t>
            </a:r>
            <a:r>
              <a:rPr lang="en-US" sz="2800" dirty="0" smtClean="0"/>
              <a:t>develop </a:t>
            </a:r>
            <a:r>
              <a:rPr lang="en-US" sz="2800" dirty="0" smtClean="0"/>
              <a:t>opinions within a social context by talking with others. </a:t>
            </a:r>
            <a:endParaRPr lang="en-US" sz="2800" dirty="0" smtClean="0"/>
          </a:p>
          <a:p>
            <a:r>
              <a:rPr lang="en-US" sz="2800" dirty="0" smtClean="0"/>
              <a:t>Often </a:t>
            </a:r>
            <a:r>
              <a:rPr lang="en-US" sz="2800" dirty="0" smtClean="0"/>
              <a:t>questions posed to focus groups seem deceptively simple but the idea is to enable people to put </a:t>
            </a:r>
            <a:r>
              <a:rPr lang="en-US" sz="2800" dirty="0" smtClean="0"/>
              <a:t>forward </a:t>
            </a:r>
            <a:r>
              <a:rPr lang="en-US" sz="2800" dirty="0" smtClean="0"/>
              <a:t>their own opinions in a supportive environment. </a:t>
            </a:r>
            <a:endParaRPr lang="en-US" sz="2800" dirty="0" smtClean="0"/>
          </a:p>
          <a:p>
            <a:r>
              <a:rPr lang="en-US" sz="2800" dirty="0" smtClean="0"/>
              <a:t>A </a:t>
            </a:r>
            <a:r>
              <a:rPr lang="en-US" sz="2800" dirty="0" smtClean="0"/>
              <a:t>preset agenda is </a:t>
            </a:r>
            <a:r>
              <a:rPr lang="en-US" sz="2800" dirty="0" smtClean="0"/>
              <a:t>developed </a:t>
            </a:r>
            <a:r>
              <a:rPr lang="en-US" sz="2800" dirty="0" smtClean="0"/>
              <a:t>to guide the discussion but there is sufficient flexibility for a facilitator to </a:t>
            </a:r>
            <a:r>
              <a:rPr lang="en-US" sz="2800" dirty="0" smtClean="0"/>
              <a:t>follow </a:t>
            </a:r>
            <a:r>
              <a:rPr lang="en-US" sz="2800" dirty="0" smtClean="0"/>
              <a:t>unanticipated issues as they are raised. </a:t>
            </a:r>
            <a:endParaRPr lang="en-US" sz="2800" dirty="0" smtClean="0"/>
          </a:p>
          <a:p>
            <a:r>
              <a:rPr lang="en-US" sz="2800" dirty="0" smtClean="0"/>
              <a:t>The </a:t>
            </a:r>
            <a:r>
              <a:rPr lang="en-US" sz="2800" dirty="0" smtClean="0"/>
              <a:t>facilitator guides and prompts discussion and skillfully encourages quiet people to participate and stops verbose ones from dominating the discussion. </a:t>
            </a:r>
            <a:endParaRPr lang="en-US" sz="2800" dirty="0" smtClean="0"/>
          </a:p>
          <a:p>
            <a:r>
              <a:rPr lang="en-US" sz="2800" dirty="0" smtClean="0"/>
              <a:t>The </a:t>
            </a:r>
            <a:r>
              <a:rPr lang="en-US" sz="2800" dirty="0" smtClean="0"/>
              <a:t>discussion is usually recorded for later analysis in which participants my be invited to explain their comments more fully. </a:t>
            </a:r>
          </a:p>
        </p:txBody>
      </p:sp>
    </p:spTree>
    <p:extLst>
      <p:ext uri="{BB962C8B-B14F-4D97-AF65-F5344CB8AC3E}">
        <p14:creationId xmlns:p14="http://schemas.microsoft.com/office/powerpoint/2010/main" xmlns="" val="86775244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pPr fontAlgn="base"/>
            <a:r>
              <a:rPr lang="en-US" sz="4000" dirty="0" smtClean="0"/>
              <a:t> Asking users - Questionnaires </a:t>
            </a:r>
            <a:endParaRPr lang="en-US" sz="4000" dirty="0" smtClean="0"/>
          </a:p>
        </p:txBody>
      </p:sp>
      <p:sp>
        <p:nvSpPr>
          <p:cNvPr id="7" name="Content Placeholder 2"/>
          <p:cNvSpPr>
            <a:spLocks noGrp="1"/>
          </p:cNvSpPr>
          <p:nvPr>
            <p:ph idx="1"/>
          </p:nvPr>
        </p:nvSpPr>
        <p:spPr>
          <a:xfrm>
            <a:off x="0" y="685800"/>
            <a:ext cx="9144000" cy="6172200"/>
          </a:xfrm>
        </p:spPr>
        <p:txBody>
          <a:bodyPr>
            <a:normAutofit fontScale="85000" lnSpcReduction="20000"/>
          </a:bodyPr>
          <a:lstStyle/>
          <a:p>
            <a:r>
              <a:rPr lang="en-US" sz="2800" dirty="0" smtClean="0"/>
              <a:t>Questionnaires are a well-established technique for collecting demographic data and users' opinions. </a:t>
            </a:r>
            <a:endParaRPr lang="en-US" sz="2800" dirty="0" smtClean="0"/>
          </a:p>
          <a:p>
            <a:r>
              <a:rPr lang="en-US" sz="2800" dirty="0" smtClean="0"/>
              <a:t>They </a:t>
            </a:r>
            <a:r>
              <a:rPr lang="en-US" sz="2800" dirty="0" smtClean="0"/>
              <a:t>are similar to interviews and can have closed or open questions</a:t>
            </a:r>
            <a:r>
              <a:rPr lang="en-US" sz="2800" dirty="0" smtClean="0"/>
              <a:t>.</a:t>
            </a:r>
          </a:p>
          <a:p>
            <a:r>
              <a:rPr lang="en-US" sz="2800" dirty="0" smtClean="0"/>
              <a:t>Effort </a:t>
            </a:r>
            <a:r>
              <a:rPr lang="en-US" sz="2800" dirty="0" smtClean="0"/>
              <a:t>and skill are needed to ensure that questions are clearly worded and the data collected can be analyzed efficiently. </a:t>
            </a:r>
            <a:endParaRPr lang="en-US" sz="2800" dirty="0" smtClean="0"/>
          </a:p>
          <a:p>
            <a:r>
              <a:rPr lang="en-US" sz="2800" dirty="0" smtClean="0"/>
              <a:t>Questionnaires </a:t>
            </a:r>
            <a:r>
              <a:rPr lang="en-US" sz="2800" dirty="0" smtClean="0"/>
              <a:t>can be used on their own or in conjunction with other methods to clarify or deepen understanding. </a:t>
            </a:r>
            <a:endParaRPr lang="en-US" sz="2800" dirty="0" smtClean="0"/>
          </a:p>
          <a:p>
            <a:r>
              <a:rPr lang="en-US" sz="2800" dirty="0" smtClean="0"/>
              <a:t>The </a:t>
            </a:r>
            <a:r>
              <a:rPr lang="en-US" sz="2800" dirty="0" smtClean="0"/>
              <a:t>methods and questions used depends on the context, interviewees and so on. </a:t>
            </a:r>
            <a:endParaRPr lang="en-US" sz="2800" dirty="0" smtClean="0"/>
          </a:p>
          <a:p>
            <a:r>
              <a:rPr lang="en-US" sz="2800" dirty="0" smtClean="0"/>
              <a:t>The </a:t>
            </a:r>
            <a:r>
              <a:rPr lang="en-US" sz="2800" dirty="0" smtClean="0"/>
              <a:t>questions asked in a questionnaire, and those used in a structured inter- view are similar, so how do you know when to use which technique? </a:t>
            </a:r>
            <a:endParaRPr lang="en-US" sz="2800" dirty="0" smtClean="0"/>
          </a:p>
          <a:p>
            <a:r>
              <a:rPr lang="en-US" sz="2800" dirty="0" smtClean="0"/>
              <a:t>One advantage </a:t>
            </a:r>
            <a:r>
              <a:rPr lang="en-US" sz="2800" dirty="0" smtClean="0"/>
              <a:t>of questionnaires is that they can be distributed to a large number of people. Used in this way, they provide evidence of wide general opinion. </a:t>
            </a:r>
            <a:endParaRPr lang="en-US" sz="2800" dirty="0" smtClean="0"/>
          </a:p>
          <a:p>
            <a:r>
              <a:rPr lang="en-US" sz="2800" dirty="0" smtClean="0"/>
              <a:t>On </a:t>
            </a:r>
            <a:r>
              <a:rPr lang="en-US" sz="2800" dirty="0" smtClean="0"/>
              <a:t>the other hand, structured interviews are easy and quick to conduct in situations in which people will not stop to complete a questionnaire. </a:t>
            </a:r>
          </a:p>
        </p:txBody>
      </p:sp>
    </p:spTree>
    <p:extLst>
      <p:ext uri="{BB962C8B-B14F-4D97-AF65-F5344CB8AC3E}">
        <p14:creationId xmlns:p14="http://schemas.microsoft.com/office/powerpoint/2010/main" xmlns="" val="86775244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pPr fontAlgn="base"/>
            <a:r>
              <a:rPr lang="en-US" sz="4000" dirty="0" smtClean="0"/>
              <a:t> Asking Experts - Inspections </a:t>
            </a:r>
            <a:endParaRPr lang="en-US" sz="4000" dirty="0" smtClean="0"/>
          </a:p>
        </p:txBody>
      </p:sp>
      <p:sp>
        <p:nvSpPr>
          <p:cNvPr id="7" name="Content Placeholder 2"/>
          <p:cNvSpPr>
            <a:spLocks noGrp="1"/>
          </p:cNvSpPr>
          <p:nvPr>
            <p:ph idx="1"/>
          </p:nvPr>
        </p:nvSpPr>
        <p:spPr>
          <a:xfrm>
            <a:off x="0" y="685800"/>
            <a:ext cx="9144000" cy="6172200"/>
          </a:xfrm>
        </p:spPr>
        <p:txBody>
          <a:bodyPr>
            <a:normAutofit fontScale="85000" lnSpcReduction="10000"/>
          </a:bodyPr>
          <a:lstStyle/>
          <a:p>
            <a:r>
              <a:rPr lang="en-US" sz="2800" dirty="0" smtClean="0"/>
              <a:t>Sometimes users are not easily accessible or involving them is too expensive or takes too long. </a:t>
            </a:r>
            <a:endParaRPr lang="en-US" sz="2800" dirty="0" smtClean="0"/>
          </a:p>
          <a:p>
            <a:r>
              <a:rPr lang="en-US" sz="2800" dirty="0" smtClean="0"/>
              <a:t>In </a:t>
            </a:r>
            <a:r>
              <a:rPr lang="en-US" sz="2800" dirty="0" smtClean="0"/>
              <a:t>such circumstances, experts or combinations of experts and users can provide feedback. </a:t>
            </a:r>
            <a:endParaRPr lang="en-US" sz="2800" dirty="0" smtClean="0"/>
          </a:p>
          <a:p>
            <a:r>
              <a:rPr lang="en-US" sz="2800" dirty="0" smtClean="0"/>
              <a:t>Various </a:t>
            </a:r>
            <a:r>
              <a:rPr lang="en-US" sz="2800" dirty="0" smtClean="0"/>
              <a:t>inspection techniques began to be developed as </a:t>
            </a:r>
            <a:r>
              <a:rPr lang="en-US" sz="2800" dirty="0" smtClean="0"/>
              <a:t>alternatives </a:t>
            </a:r>
            <a:r>
              <a:rPr lang="en-US" sz="2800" dirty="0" smtClean="0"/>
              <a:t>to usability testing in the early 1990s. </a:t>
            </a:r>
            <a:endParaRPr lang="en-US" sz="2800" dirty="0" smtClean="0"/>
          </a:p>
          <a:p>
            <a:r>
              <a:rPr lang="en-US" sz="2800" dirty="0" smtClean="0"/>
              <a:t>These </a:t>
            </a:r>
            <a:r>
              <a:rPr lang="en-US" sz="2800" dirty="0" smtClean="0"/>
              <a:t>included various kinds of expert evaluations or reviews, such as heuristic evaluations and walkthroughs, in which </a:t>
            </a:r>
            <a:r>
              <a:rPr lang="en-US" sz="2800" dirty="0" smtClean="0"/>
              <a:t>experts </a:t>
            </a:r>
            <a:r>
              <a:rPr lang="en-US" sz="2800" dirty="0" smtClean="0"/>
              <a:t>inspect the human-computer interface and predict problems users would have when interacting with it. </a:t>
            </a:r>
            <a:endParaRPr lang="en-US" sz="2800" dirty="0" smtClean="0"/>
          </a:p>
          <a:p>
            <a:r>
              <a:rPr lang="en-US" sz="2800" dirty="0" smtClean="0"/>
              <a:t>Typically </a:t>
            </a:r>
            <a:r>
              <a:rPr lang="en-US" sz="2800" dirty="0" smtClean="0"/>
              <a:t>these techniques are relatively inexpensive and easy to learn as well as being effective, which makes them appealing. </a:t>
            </a:r>
            <a:endParaRPr lang="en-US" sz="2800" dirty="0" smtClean="0"/>
          </a:p>
          <a:p>
            <a:r>
              <a:rPr lang="en-US" sz="2800" dirty="0" smtClean="0"/>
              <a:t>They </a:t>
            </a:r>
            <a:r>
              <a:rPr lang="en-US" sz="2800" dirty="0" smtClean="0"/>
              <a:t>are </a:t>
            </a:r>
            <a:r>
              <a:rPr lang="en-US" sz="2800" dirty="0" smtClean="0"/>
              <a:t>similar </a:t>
            </a:r>
            <a:r>
              <a:rPr lang="en-US" sz="2800" dirty="0" smtClean="0"/>
              <a:t>to some software engineering practices where code and other types of inspections have been conducted for years. </a:t>
            </a:r>
            <a:endParaRPr lang="en-US" sz="2800" dirty="0" smtClean="0"/>
          </a:p>
          <a:p>
            <a:r>
              <a:rPr lang="en-US" sz="2800" dirty="0" smtClean="0"/>
              <a:t>In </a:t>
            </a:r>
            <a:r>
              <a:rPr lang="en-US" sz="2800" dirty="0" smtClean="0"/>
              <a:t>addition, they can be used at any stage of a design project, including early design before well-developed prototypes are available. </a:t>
            </a:r>
            <a:endParaRPr lang="en-US" sz="2800" dirty="0" smtClean="0"/>
          </a:p>
        </p:txBody>
      </p:sp>
    </p:spTree>
    <p:extLst>
      <p:ext uri="{BB962C8B-B14F-4D97-AF65-F5344CB8AC3E}">
        <p14:creationId xmlns:p14="http://schemas.microsoft.com/office/powerpoint/2010/main" xmlns="" val="86775244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pPr fontAlgn="base"/>
            <a:r>
              <a:rPr lang="en-US" sz="4000" dirty="0" smtClean="0"/>
              <a:t> …Asking Experts - Inspections </a:t>
            </a:r>
            <a:endParaRPr lang="en-US" sz="4000" dirty="0" smtClean="0"/>
          </a:p>
        </p:txBody>
      </p:sp>
      <p:sp>
        <p:nvSpPr>
          <p:cNvPr id="7" name="Content Placeholder 2"/>
          <p:cNvSpPr>
            <a:spLocks noGrp="1"/>
          </p:cNvSpPr>
          <p:nvPr>
            <p:ph idx="1"/>
          </p:nvPr>
        </p:nvSpPr>
        <p:spPr>
          <a:xfrm>
            <a:off x="0" y="685800"/>
            <a:ext cx="9144000" cy="6172200"/>
          </a:xfrm>
        </p:spPr>
        <p:txBody>
          <a:bodyPr>
            <a:normAutofit fontScale="92500" lnSpcReduction="20000"/>
          </a:bodyPr>
          <a:lstStyle/>
          <a:p>
            <a:pPr>
              <a:buNone/>
            </a:pPr>
            <a:r>
              <a:rPr lang="en-US" sz="2800" b="1" dirty="0" smtClean="0"/>
              <a:t>Heuristic evaluation  </a:t>
            </a:r>
            <a:endParaRPr lang="en-US" sz="2800" b="1" dirty="0" smtClean="0"/>
          </a:p>
          <a:p>
            <a:r>
              <a:rPr lang="en-US" sz="2800" dirty="0" smtClean="0"/>
              <a:t>Heuristic evaluation is an informal usability inspection technique developed by </a:t>
            </a:r>
            <a:r>
              <a:rPr lang="en-US" sz="2800" dirty="0" err="1" smtClean="0"/>
              <a:t>Jakob</a:t>
            </a:r>
            <a:r>
              <a:rPr lang="en-US" sz="2800" dirty="0" smtClean="0"/>
              <a:t> Nielsen and his colleagues (Nielsen, 1994a) in which experts, guided by a set of usability principles known as heuristics, evaluate whether user-interface </a:t>
            </a:r>
            <a:r>
              <a:rPr lang="en-US" sz="2800" dirty="0" smtClean="0"/>
              <a:t>elements</a:t>
            </a:r>
            <a:r>
              <a:rPr lang="en-US" sz="2800" dirty="0" smtClean="0"/>
              <a:t>, such as dialog boxes, menus, navigation structure, online help, etc., conform to the principles. </a:t>
            </a:r>
            <a:endParaRPr lang="en-US" sz="2800" dirty="0" smtClean="0"/>
          </a:p>
          <a:p>
            <a:r>
              <a:rPr lang="en-US" sz="2800" dirty="0" smtClean="0"/>
              <a:t>These </a:t>
            </a:r>
            <a:r>
              <a:rPr lang="en-US" sz="2800" dirty="0" smtClean="0"/>
              <a:t>heuristics closely resemble the high-level design principles and guidelines discussed in Chapters 1 and 8, e.g., making designs consistent, </a:t>
            </a:r>
            <a:r>
              <a:rPr lang="en-US" sz="2800" dirty="0" smtClean="0"/>
              <a:t>reducing </a:t>
            </a:r>
            <a:r>
              <a:rPr lang="en-US" sz="2800" dirty="0" smtClean="0"/>
              <a:t>memory load, and using terms that users understand. When used in </a:t>
            </a:r>
            <a:r>
              <a:rPr lang="en-US" sz="2800" dirty="0" smtClean="0"/>
              <a:t>evaluation</a:t>
            </a:r>
            <a:r>
              <a:rPr lang="en-US" sz="2800" dirty="0" smtClean="0"/>
              <a:t>, they are called heuristics. </a:t>
            </a:r>
            <a:endParaRPr lang="en-US" sz="2800" dirty="0" smtClean="0"/>
          </a:p>
          <a:p>
            <a:r>
              <a:rPr lang="en-US" sz="2800" dirty="0" smtClean="0"/>
              <a:t>The </a:t>
            </a:r>
            <a:r>
              <a:rPr lang="en-US" sz="2800" dirty="0" smtClean="0"/>
              <a:t>original set of heuristics was derived empirically from an analysis of 249 usability problems (Nielsen, 1994b). </a:t>
            </a:r>
            <a:endParaRPr lang="en-US" sz="2800" dirty="0" smtClean="0"/>
          </a:p>
          <a:p>
            <a:r>
              <a:rPr lang="en-US" sz="2800" dirty="0" smtClean="0"/>
              <a:t>We </a:t>
            </a:r>
            <a:r>
              <a:rPr lang="en-US" sz="2800" dirty="0" smtClean="0"/>
              <a:t>list the latest here (also in Chapter I), this time expanding them to include some of the questions addressed when doing evaluation: </a:t>
            </a:r>
          </a:p>
          <a:p>
            <a:endParaRPr lang="en-US" sz="2800" dirty="0" smtClean="0"/>
          </a:p>
        </p:txBody>
      </p:sp>
    </p:spTree>
    <p:extLst>
      <p:ext uri="{BB962C8B-B14F-4D97-AF65-F5344CB8AC3E}">
        <p14:creationId xmlns:p14="http://schemas.microsoft.com/office/powerpoint/2010/main" xmlns="" val="86775244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pPr fontAlgn="base"/>
            <a:r>
              <a:rPr lang="en-US" sz="4000" dirty="0" smtClean="0"/>
              <a:t> …Asking Experts - Inspections </a:t>
            </a:r>
            <a:endParaRPr lang="en-US" sz="4000" dirty="0" smtClean="0"/>
          </a:p>
        </p:txBody>
      </p:sp>
      <p:sp>
        <p:nvSpPr>
          <p:cNvPr id="7" name="Content Placeholder 2"/>
          <p:cNvSpPr>
            <a:spLocks noGrp="1"/>
          </p:cNvSpPr>
          <p:nvPr>
            <p:ph idx="1"/>
          </p:nvPr>
        </p:nvSpPr>
        <p:spPr>
          <a:xfrm>
            <a:off x="0" y="685800"/>
            <a:ext cx="9144000" cy="6172200"/>
          </a:xfrm>
        </p:spPr>
        <p:txBody>
          <a:bodyPr>
            <a:normAutofit fontScale="70000" lnSpcReduction="20000"/>
          </a:bodyPr>
          <a:lstStyle/>
          <a:p>
            <a:pPr>
              <a:buNone/>
            </a:pPr>
            <a:r>
              <a:rPr lang="en-US" sz="2800" b="1" dirty="0" smtClean="0"/>
              <a:t>Heuristic evaluation  </a:t>
            </a:r>
            <a:endParaRPr lang="en-US" sz="2800" b="1" dirty="0" smtClean="0"/>
          </a:p>
          <a:p>
            <a:r>
              <a:rPr lang="en-US" sz="2800" dirty="0" smtClean="0"/>
              <a:t>Visibility </a:t>
            </a:r>
            <a:r>
              <a:rPr lang="en-US" sz="2800" dirty="0" smtClean="0"/>
              <a:t>of system status Are users kept informed about what is going on? Is appropriate feedback provided within reasonable time about a user's action? </a:t>
            </a:r>
            <a:endParaRPr lang="en-US" sz="2800" dirty="0" smtClean="0"/>
          </a:p>
          <a:p>
            <a:r>
              <a:rPr lang="en-US" sz="2800" dirty="0" smtClean="0"/>
              <a:t>Match </a:t>
            </a:r>
            <a:r>
              <a:rPr lang="en-US" sz="2800" dirty="0" smtClean="0"/>
              <a:t>between system and the real world Is the language used at the interface simple? Are the words, phrases and concepts used familiar to the user? </a:t>
            </a:r>
            <a:endParaRPr lang="en-US" sz="2800" dirty="0" smtClean="0"/>
          </a:p>
          <a:p>
            <a:r>
              <a:rPr lang="en-US" sz="2800" dirty="0" smtClean="0"/>
              <a:t>User </a:t>
            </a:r>
            <a:r>
              <a:rPr lang="en-US" sz="2800" dirty="0" smtClean="0"/>
              <a:t>control and freedom Are there ways of allowing users to easily escape from places they </a:t>
            </a:r>
            <a:r>
              <a:rPr lang="en-US" sz="2800" dirty="0" smtClean="0"/>
              <a:t>unexpectedly </a:t>
            </a:r>
            <a:r>
              <a:rPr lang="en-US" sz="2800" dirty="0" smtClean="0"/>
              <a:t>find themselves in? </a:t>
            </a:r>
            <a:endParaRPr lang="en-US" sz="2800" dirty="0" smtClean="0"/>
          </a:p>
          <a:p>
            <a:r>
              <a:rPr lang="en-US" sz="2800" dirty="0" smtClean="0"/>
              <a:t>Consistency </a:t>
            </a:r>
            <a:r>
              <a:rPr lang="en-US" sz="2800" dirty="0" smtClean="0"/>
              <a:t>and standards Are the ways of performing similar actions consistent? Help users recognize, diagnose, and recover from errors Are error messages helpful? Do they use plain language to describe the nature of the problem and </a:t>
            </a:r>
            <a:r>
              <a:rPr lang="en-US" sz="2800" dirty="0" smtClean="0"/>
              <a:t>suggest </a:t>
            </a:r>
            <a:r>
              <a:rPr lang="en-US" sz="2800" dirty="0" smtClean="0"/>
              <a:t>a way of solving it</a:t>
            </a:r>
            <a:r>
              <a:rPr lang="en-US" sz="2800" dirty="0" smtClean="0"/>
              <a:t>?</a:t>
            </a:r>
          </a:p>
          <a:p>
            <a:r>
              <a:rPr lang="en-US" sz="2800" dirty="0" smtClean="0"/>
              <a:t>Error </a:t>
            </a:r>
            <a:r>
              <a:rPr lang="en-US" sz="2800" dirty="0" smtClean="0"/>
              <a:t>prevention Is it easy to make errors? If so where and why? Recognition rather than recall Are objects, actions and options always visible? </a:t>
            </a:r>
          </a:p>
          <a:p>
            <a:r>
              <a:rPr lang="en-US" sz="2800" dirty="0" smtClean="0"/>
              <a:t>Flexibility </a:t>
            </a:r>
            <a:r>
              <a:rPr lang="en-US" sz="2800" dirty="0" smtClean="0"/>
              <a:t>and </a:t>
            </a:r>
            <a:r>
              <a:rPr lang="en-US" sz="2800" dirty="0" smtClean="0"/>
              <a:t>efficiency </a:t>
            </a:r>
            <a:r>
              <a:rPr lang="en-US" sz="2800" dirty="0" smtClean="0"/>
              <a:t>of use Have accelerators (i.e., shortcuts) been provided that allow more </a:t>
            </a:r>
            <a:r>
              <a:rPr lang="en-US" sz="2800" dirty="0" smtClean="0"/>
              <a:t>experienced </a:t>
            </a:r>
            <a:r>
              <a:rPr lang="en-US" sz="2800" dirty="0" smtClean="0"/>
              <a:t>users to carry out tasks more quickly? </a:t>
            </a:r>
            <a:endParaRPr lang="en-US" sz="2800" dirty="0" smtClean="0"/>
          </a:p>
          <a:p>
            <a:r>
              <a:rPr lang="en-US" sz="2800" dirty="0" smtClean="0"/>
              <a:t>Aesthetic </a:t>
            </a:r>
            <a:r>
              <a:rPr lang="en-US" sz="2800" dirty="0" smtClean="0"/>
              <a:t>and minimalist design Is any unnecessary and irrelevant information provided? </a:t>
            </a:r>
            <a:endParaRPr lang="en-US" sz="2800" dirty="0" smtClean="0"/>
          </a:p>
          <a:p>
            <a:r>
              <a:rPr lang="en-US" sz="2800" dirty="0" smtClean="0"/>
              <a:t>Help </a:t>
            </a:r>
            <a:r>
              <a:rPr lang="en-US" sz="2800" dirty="0" smtClean="0"/>
              <a:t>and documentation Is help information provided that can be easily searched and easily followed? </a:t>
            </a:r>
          </a:p>
          <a:p>
            <a:endParaRPr lang="en-US" sz="2800" dirty="0" smtClean="0"/>
          </a:p>
        </p:txBody>
      </p:sp>
    </p:spTree>
    <p:extLst>
      <p:ext uri="{BB962C8B-B14F-4D97-AF65-F5344CB8AC3E}">
        <p14:creationId xmlns:p14="http://schemas.microsoft.com/office/powerpoint/2010/main" xmlns="" val="86775244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pPr fontAlgn="base"/>
            <a:r>
              <a:rPr lang="en-US" sz="4000" dirty="0" smtClean="0"/>
              <a:t>Asking Experts - Walkthroughs</a:t>
            </a:r>
            <a:endParaRPr lang="en-US" sz="4000" dirty="0" smtClean="0"/>
          </a:p>
        </p:txBody>
      </p:sp>
      <p:sp>
        <p:nvSpPr>
          <p:cNvPr id="7" name="Content Placeholder 2"/>
          <p:cNvSpPr>
            <a:spLocks noGrp="1"/>
          </p:cNvSpPr>
          <p:nvPr>
            <p:ph idx="1"/>
          </p:nvPr>
        </p:nvSpPr>
        <p:spPr>
          <a:xfrm>
            <a:off x="0" y="685800"/>
            <a:ext cx="9144000" cy="6172200"/>
          </a:xfrm>
        </p:spPr>
        <p:txBody>
          <a:bodyPr>
            <a:normAutofit/>
          </a:bodyPr>
          <a:lstStyle/>
          <a:p>
            <a:r>
              <a:rPr lang="en-US" sz="2800" dirty="0" smtClean="0"/>
              <a:t>Walkthroughs </a:t>
            </a:r>
            <a:r>
              <a:rPr lang="en-US" sz="2800" dirty="0" smtClean="0"/>
              <a:t>are an alternative approach to heuristic evaluation for predicting users' problems without doing user testing. </a:t>
            </a:r>
            <a:endParaRPr lang="en-US" sz="2800" dirty="0" smtClean="0"/>
          </a:p>
          <a:p>
            <a:r>
              <a:rPr lang="en-US" sz="2800" dirty="0" smtClean="0"/>
              <a:t>As </a:t>
            </a:r>
            <a:r>
              <a:rPr lang="en-US" sz="2800" dirty="0" smtClean="0"/>
              <a:t>the name suggests, they involve walking through a task with the system and noting problematic usability </a:t>
            </a:r>
            <a:r>
              <a:rPr lang="en-US" sz="2800" dirty="0" smtClean="0"/>
              <a:t>features</a:t>
            </a:r>
            <a:r>
              <a:rPr lang="en-US" sz="2800" dirty="0" smtClean="0"/>
              <a:t>. </a:t>
            </a:r>
            <a:endParaRPr lang="en-US" sz="2800" dirty="0" smtClean="0"/>
          </a:p>
          <a:p>
            <a:r>
              <a:rPr lang="en-US" sz="2800" dirty="0" smtClean="0"/>
              <a:t>Most </a:t>
            </a:r>
            <a:r>
              <a:rPr lang="en-US" sz="2800" dirty="0" smtClean="0"/>
              <a:t>walkthrough techniques do not involve users. </a:t>
            </a:r>
            <a:endParaRPr lang="en-US" sz="2800" dirty="0" smtClean="0"/>
          </a:p>
          <a:p>
            <a:r>
              <a:rPr lang="en-US" sz="2800" dirty="0" smtClean="0"/>
              <a:t>Others</a:t>
            </a:r>
            <a:r>
              <a:rPr lang="en-US" sz="2800" dirty="0" smtClean="0"/>
              <a:t>, such as </a:t>
            </a:r>
            <a:r>
              <a:rPr lang="en-US" sz="2800" dirty="0" smtClean="0"/>
              <a:t>pluralistic </a:t>
            </a:r>
            <a:r>
              <a:rPr lang="en-US" sz="2800" dirty="0" smtClean="0"/>
              <a:t>walkthroughs, involve a team that includes users, developers, and usability specialists. </a:t>
            </a:r>
          </a:p>
        </p:txBody>
      </p:sp>
    </p:spTree>
    <p:extLst>
      <p:ext uri="{BB962C8B-B14F-4D97-AF65-F5344CB8AC3E}">
        <p14:creationId xmlns:p14="http://schemas.microsoft.com/office/powerpoint/2010/main" xmlns="" val="86775244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pPr fontAlgn="base"/>
            <a:r>
              <a:rPr lang="en-US" sz="4000" dirty="0" smtClean="0"/>
              <a:t>Asking Experts - Walkthroughs</a:t>
            </a:r>
            <a:endParaRPr lang="en-US" sz="4000" dirty="0" smtClean="0"/>
          </a:p>
        </p:txBody>
      </p:sp>
      <p:sp>
        <p:nvSpPr>
          <p:cNvPr id="7" name="Content Placeholder 2"/>
          <p:cNvSpPr>
            <a:spLocks noGrp="1"/>
          </p:cNvSpPr>
          <p:nvPr>
            <p:ph idx="1"/>
          </p:nvPr>
        </p:nvSpPr>
        <p:spPr>
          <a:xfrm>
            <a:off x="0" y="685800"/>
            <a:ext cx="9144000" cy="6172200"/>
          </a:xfrm>
        </p:spPr>
        <p:txBody>
          <a:bodyPr>
            <a:normAutofit/>
          </a:bodyPr>
          <a:lstStyle/>
          <a:p>
            <a:pPr>
              <a:buNone/>
            </a:pPr>
            <a:r>
              <a:rPr lang="en-US" sz="2800" b="1" dirty="0" smtClean="0"/>
              <a:t>Cognitive walkthroughs</a:t>
            </a:r>
          </a:p>
          <a:p>
            <a:r>
              <a:rPr lang="en-US" sz="2800" dirty="0" smtClean="0"/>
              <a:t>"Cognitive walkthroughs involve simulating a user's problem-solving process at each step in the human-computer dialog, checking to see if the user's goals and memory for actions can be assumed to lead to the next correct action." (Nielsen and Mack, 1994, p. 6). </a:t>
            </a:r>
            <a:endParaRPr lang="en-US" sz="2800" dirty="0" smtClean="0"/>
          </a:p>
          <a:p>
            <a:r>
              <a:rPr lang="en-US" sz="2800" dirty="0" smtClean="0"/>
              <a:t>The </a:t>
            </a:r>
            <a:r>
              <a:rPr lang="en-US" sz="2800" dirty="0" smtClean="0"/>
              <a:t>defining feature is that they focus on evaluating designs for ease of learning-a focus that is motivated by observations that users learn by </a:t>
            </a:r>
            <a:r>
              <a:rPr lang="en-US" sz="2800" dirty="0" smtClean="0"/>
              <a:t>exploration </a:t>
            </a:r>
            <a:r>
              <a:rPr lang="en-US" sz="2800" dirty="0" smtClean="0"/>
              <a:t>(Wharton et al., 1994). The steps involved in cognitive walkthroughs are: </a:t>
            </a:r>
          </a:p>
        </p:txBody>
      </p:sp>
    </p:spTree>
    <p:extLst>
      <p:ext uri="{BB962C8B-B14F-4D97-AF65-F5344CB8AC3E}">
        <p14:creationId xmlns:p14="http://schemas.microsoft.com/office/powerpoint/2010/main" xmlns="" val="86775244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pPr fontAlgn="base"/>
            <a:r>
              <a:rPr lang="en-US" sz="4000" dirty="0" smtClean="0"/>
              <a:t>Asking Experts - Walkthroughs</a:t>
            </a:r>
            <a:endParaRPr lang="en-US" sz="4000" dirty="0" smtClean="0"/>
          </a:p>
        </p:txBody>
      </p:sp>
      <p:sp>
        <p:nvSpPr>
          <p:cNvPr id="7" name="Content Placeholder 2"/>
          <p:cNvSpPr>
            <a:spLocks noGrp="1"/>
          </p:cNvSpPr>
          <p:nvPr>
            <p:ph idx="1"/>
          </p:nvPr>
        </p:nvSpPr>
        <p:spPr>
          <a:xfrm>
            <a:off x="0" y="685800"/>
            <a:ext cx="9144000" cy="6172200"/>
          </a:xfrm>
        </p:spPr>
        <p:txBody>
          <a:bodyPr>
            <a:normAutofit fontScale="62500" lnSpcReduction="20000"/>
          </a:bodyPr>
          <a:lstStyle/>
          <a:p>
            <a:pPr>
              <a:buNone/>
            </a:pPr>
            <a:r>
              <a:rPr lang="en-US" sz="2800" b="1" dirty="0" smtClean="0"/>
              <a:t>Cognitive walkthroughs</a:t>
            </a:r>
          </a:p>
          <a:p>
            <a:r>
              <a:rPr lang="en-US" sz="2800" dirty="0" smtClean="0"/>
              <a:t>The </a:t>
            </a:r>
            <a:r>
              <a:rPr lang="en-US" sz="2800" dirty="0" smtClean="0"/>
              <a:t>characteristics of typical users are identified and documented and </a:t>
            </a:r>
            <a:r>
              <a:rPr lang="en-US" sz="2800" dirty="0" smtClean="0"/>
              <a:t>sample </a:t>
            </a:r>
            <a:r>
              <a:rPr lang="en-US" sz="2800" dirty="0" smtClean="0"/>
              <a:t>tasks are developed that focus on the aspects of the design to be </a:t>
            </a:r>
            <a:r>
              <a:rPr lang="en-US" sz="2800" dirty="0" smtClean="0"/>
              <a:t>evaluated. A </a:t>
            </a:r>
            <a:r>
              <a:rPr lang="en-US" sz="2800" dirty="0" smtClean="0"/>
              <a:t>description or prototype of the interface to be developed is also produced, along with a clear sequence of the actions needed for the users to complete the task</a:t>
            </a:r>
            <a:r>
              <a:rPr lang="en-US" sz="2800" dirty="0" smtClean="0"/>
              <a:t>.</a:t>
            </a:r>
          </a:p>
          <a:p>
            <a:r>
              <a:rPr lang="en-US" sz="2800" dirty="0" smtClean="0"/>
              <a:t>A </a:t>
            </a:r>
            <a:r>
              <a:rPr lang="en-US" sz="2800" dirty="0" smtClean="0"/>
              <a:t>designer and one or more expert evaluators then come together to do the analysis. </a:t>
            </a:r>
            <a:endParaRPr lang="en-US" sz="2800" dirty="0" smtClean="0"/>
          </a:p>
          <a:p>
            <a:r>
              <a:rPr lang="en-US" sz="2800" dirty="0" smtClean="0"/>
              <a:t>The </a:t>
            </a:r>
            <a:r>
              <a:rPr lang="en-US" sz="2800" dirty="0" smtClean="0"/>
              <a:t>evaluators walk through the action sequences for each task, placing it within the context of a typical scenario, and as they do this they try to </a:t>
            </a:r>
            <a:r>
              <a:rPr lang="en-US" sz="2800" dirty="0" smtClean="0"/>
              <a:t>answer </a:t>
            </a:r>
            <a:r>
              <a:rPr lang="en-US" sz="2800" dirty="0" smtClean="0"/>
              <a:t>the following questions: Will the correct action be sufficiently evident to the user? (Will the user know what to do to achieve the task?) Will the user notice that the correct action is available? (Can users see the button or menu item that they should use for the next action? Is it </a:t>
            </a:r>
            <a:r>
              <a:rPr lang="en-US" sz="2800" dirty="0" smtClean="0"/>
              <a:t>apparent </a:t>
            </a:r>
            <a:r>
              <a:rPr lang="en-US" sz="2800" dirty="0" smtClean="0"/>
              <a:t>when it is needed?) </a:t>
            </a:r>
            <a:r>
              <a:rPr lang="en-US" sz="2800" dirty="0" smtClean="0"/>
              <a:t>Will </a:t>
            </a:r>
            <a:r>
              <a:rPr lang="en-US" sz="2800" dirty="0" smtClean="0"/>
              <a:t>the user associate and interpret the response from the action </a:t>
            </a:r>
            <a:r>
              <a:rPr lang="en-US" sz="2800" dirty="0" smtClean="0"/>
              <a:t>correctly</a:t>
            </a:r>
            <a:r>
              <a:rPr lang="en-US" sz="2800" dirty="0" smtClean="0"/>
              <a:t>? (Will users know from the feedback that they have made a correct or incorrect choice of action?) In other words: will users know what to do, see how to do it, and understand from feedback whether the action was correct or not? </a:t>
            </a:r>
            <a:endParaRPr lang="en-US" sz="2800" dirty="0" smtClean="0"/>
          </a:p>
          <a:p>
            <a:r>
              <a:rPr lang="en-US" sz="2800" dirty="0" smtClean="0"/>
              <a:t>As </a:t>
            </a:r>
            <a:r>
              <a:rPr lang="en-US" sz="2800" dirty="0" smtClean="0"/>
              <a:t>the walkthrough is being done, a record of critical information is </a:t>
            </a:r>
            <a:r>
              <a:rPr lang="en-US" sz="2800" dirty="0" smtClean="0"/>
              <a:t>compiled </a:t>
            </a:r>
            <a:r>
              <a:rPr lang="en-US" sz="2800" dirty="0" smtClean="0"/>
              <a:t>in which: The assumptions about what would cause problems and why are recorded. This involves explaining why users would face difficulties, Notes about side issues and design changes are made. A summary of the results is compiled. </a:t>
            </a:r>
            <a:endParaRPr lang="en-US" sz="2800" dirty="0" smtClean="0"/>
          </a:p>
          <a:p>
            <a:r>
              <a:rPr lang="en-US" sz="2800" dirty="0" smtClean="0"/>
              <a:t>The </a:t>
            </a:r>
            <a:r>
              <a:rPr lang="en-US" sz="2800" dirty="0" smtClean="0"/>
              <a:t>design is then revised to fix the problems presented. I It is important to document the cognitive walkthrough, keeping account of what works and what doesn't. </a:t>
            </a:r>
            <a:endParaRPr lang="en-US" sz="2800" dirty="0" smtClean="0"/>
          </a:p>
        </p:txBody>
      </p:sp>
    </p:spTree>
    <p:extLst>
      <p:ext uri="{BB962C8B-B14F-4D97-AF65-F5344CB8AC3E}">
        <p14:creationId xmlns:p14="http://schemas.microsoft.com/office/powerpoint/2010/main" xmlns="" val="86775244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pPr fontAlgn="base"/>
            <a:r>
              <a:rPr lang="en-US" sz="4000" dirty="0" smtClean="0"/>
              <a:t>Asking Experts - Walkthroughs</a:t>
            </a:r>
            <a:endParaRPr lang="en-US" sz="4000" dirty="0" smtClean="0"/>
          </a:p>
        </p:txBody>
      </p:sp>
      <p:sp>
        <p:nvSpPr>
          <p:cNvPr id="7" name="Content Placeholder 2"/>
          <p:cNvSpPr>
            <a:spLocks noGrp="1"/>
          </p:cNvSpPr>
          <p:nvPr>
            <p:ph idx="1"/>
          </p:nvPr>
        </p:nvSpPr>
        <p:spPr>
          <a:xfrm>
            <a:off x="0" y="685800"/>
            <a:ext cx="9144000" cy="6172200"/>
          </a:xfrm>
        </p:spPr>
        <p:txBody>
          <a:bodyPr>
            <a:normAutofit/>
          </a:bodyPr>
          <a:lstStyle/>
          <a:p>
            <a:pPr>
              <a:buNone/>
            </a:pPr>
            <a:r>
              <a:rPr lang="en-US" sz="2800" b="1" dirty="0" smtClean="0"/>
              <a:t>Pluralistic walkthroughs</a:t>
            </a:r>
            <a:endParaRPr lang="en-US" sz="2800" b="1" dirty="0" smtClean="0"/>
          </a:p>
          <a:p>
            <a:r>
              <a:rPr lang="en-US" sz="2800" dirty="0" smtClean="0"/>
              <a:t>"Pluralistic walkthroughs are another type of walkthrough in which users, </a:t>
            </a:r>
            <a:r>
              <a:rPr lang="en-US" sz="2800" dirty="0" smtClean="0"/>
              <a:t>developers </a:t>
            </a:r>
            <a:r>
              <a:rPr lang="en-US" sz="2800" dirty="0" smtClean="0"/>
              <a:t>and usability experts work together to step through a [task] scenario, discussing usability issues associated with dialog elements involved in the scenario steps" (Nielsen and Mack, 1994, p. 5). </a:t>
            </a:r>
            <a:endParaRPr lang="en-US" sz="2800" dirty="0" smtClean="0"/>
          </a:p>
          <a:p>
            <a:r>
              <a:rPr lang="en-US" sz="2800" dirty="0" smtClean="0"/>
              <a:t>Each </a:t>
            </a:r>
            <a:r>
              <a:rPr lang="en-US" sz="2800" dirty="0" smtClean="0"/>
              <a:t>group of experts is asked to assume the role of typical users. The walkthroughs are then done by following a sequence of steps (Bias, 1994): </a:t>
            </a:r>
          </a:p>
        </p:txBody>
      </p:sp>
    </p:spTree>
    <p:extLst>
      <p:ext uri="{BB962C8B-B14F-4D97-AF65-F5344CB8AC3E}">
        <p14:creationId xmlns:p14="http://schemas.microsoft.com/office/powerpoint/2010/main" xmlns="" val="86775244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pPr fontAlgn="base"/>
            <a:r>
              <a:rPr lang="en-US" sz="4000" dirty="0" smtClean="0"/>
              <a:t>Asking Experts - Walkthroughs</a:t>
            </a:r>
            <a:endParaRPr lang="en-US" sz="4000" dirty="0" smtClean="0"/>
          </a:p>
        </p:txBody>
      </p:sp>
      <p:sp>
        <p:nvSpPr>
          <p:cNvPr id="7" name="Content Placeholder 2"/>
          <p:cNvSpPr>
            <a:spLocks noGrp="1"/>
          </p:cNvSpPr>
          <p:nvPr>
            <p:ph idx="1"/>
          </p:nvPr>
        </p:nvSpPr>
        <p:spPr>
          <a:xfrm>
            <a:off x="0" y="685800"/>
            <a:ext cx="9144000" cy="6172200"/>
          </a:xfrm>
        </p:spPr>
        <p:txBody>
          <a:bodyPr>
            <a:normAutofit fontScale="70000" lnSpcReduction="20000"/>
          </a:bodyPr>
          <a:lstStyle/>
          <a:p>
            <a:pPr>
              <a:buNone/>
            </a:pPr>
            <a:r>
              <a:rPr lang="en-US" sz="2800" b="1" dirty="0" smtClean="0"/>
              <a:t>Pluralistic walkthroughs</a:t>
            </a:r>
            <a:endParaRPr lang="en-US" sz="2800" b="1" dirty="0" smtClean="0"/>
          </a:p>
          <a:p>
            <a:r>
              <a:rPr lang="en-US" sz="2800" dirty="0" smtClean="0"/>
              <a:t>Scenarios </a:t>
            </a:r>
            <a:r>
              <a:rPr lang="en-US" sz="2800" dirty="0" smtClean="0"/>
              <a:t>are developed in the form of a series of hard-copy screens </a:t>
            </a:r>
            <a:r>
              <a:rPr lang="en-US" sz="2800" dirty="0" smtClean="0"/>
              <a:t>representing </a:t>
            </a:r>
            <a:r>
              <a:rPr lang="en-US" sz="2800" dirty="0" smtClean="0"/>
              <a:t>a single path through the interface. Often just two or a few screens are developed. </a:t>
            </a:r>
            <a:endParaRPr lang="en-US" sz="2800" dirty="0" smtClean="0"/>
          </a:p>
          <a:p>
            <a:r>
              <a:rPr lang="en-US" sz="2800" dirty="0" smtClean="0"/>
              <a:t>The </a:t>
            </a:r>
            <a:r>
              <a:rPr lang="en-US" sz="2800" dirty="0" smtClean="0"/>
              <a:t>scenarios are presented to the panel of evaluators and the panelists are asked to write down the sequence of actions they would take to move from one screen to another. They do this individually without conferring with one another</a:t>
            </a:r>
            <a:r>
              <a:rPr lang="en-US" sz="2800" dirty="0" smtClean="0"/>
              <a:t>.</a:t>
            </a:r>
          </a:p>
          <a:p>
            <a:r>
              <a:rPr lang="en-US" sz="2800" dirty="0" smtClean="0"/>
              <a:t>When </a:t>
            </a:r>
            <a:r>
              <a:rPr lang="en-US" sz="2800" dirty="0" smtClean="0"/>
              <a:t>everyone has written down their actions, the panelists discuss the </a:t>
            </a:r>
            <a:r>
              <a:rPr lang="en-US" sz="2800" dirty="0" smtClean="0"/>
              <a:t>actions </a:t>
            </a:r>
            <a:r>
              <a:rPr lang="en-US" sz="2800" dirty="0" smtClean="0"/>
              <a:t>that they suggested for that round of the review. Usually, the </a:t>
            </a:r>
            <a:r>
              <a:rPr lang="en-US" sz="2800" dirty="0" smtClean="0"/>
              <a:t>representative </a:t>
            </a:r>
            <a:r>
              <a:rPr lang="en-US" sz="2800" dirty="0" smtClean="0"/>
              <a:t>users go first so that they are not influenced by the other panel members and are not deterred from speaking. Then the usability experts present their findings, and finally the developers offer their comments. </a:t>
            </a:r>
            <a:endParaRPr lang="en-US" sz="2800" dirty="0" smtClean="0"/>
          </a:p>
          <a:p>
            <a:r>
              <a:rPr lang="en-US" sz="2800" dirty="0" smtClean="0"/>
              <a:t>Then </a:t>
            </a:r>
            <a:r>
              <a:rPr lang="en-US" sz="2800" dirty="0" smtClean="0"/>
              <a:t>the panel moves on to the next round of screens. This process </a:t>
            </a:r>
            <a:r>
              <a:rPr lang="en-US" sz="2800" dirty="0" smtClean="0"/>
              <a:t>continues </a:t>
            </a:r>
            <a:r>
              <a:rPr lang="en-US" sz="2800" dirty="0" smtClean="0"/>
              <a:t>until all the scenarios have been evaluated. </a:t>
            </a:r>
          </a:p>
          <a:p>
            <a:r>
              <a:rPr lang="en-US" sz="2800" dirty="0" smtClean="0"/>
              <a:t>The benefits of pluralistic walkthroughs include a strong focus on users' tasks. </a:t>
            </a:r>
            <a:r>
              <a:rPr lang="en-US" sz="2800" dirty="0" smtClean="0"/>
              <a:t>Performance </a:t>
            </a:r>
            <a:r>
              <a:rPr lang="en-US" sz="2800" dirty="0" smtClean="0"/>
              <a:t>data is produced and many designers like the apparent clarity of </a:t>
            </a:r>
            <a:r>
              <a:rPr lang="en-US" sz="2800" dirty="0" smtClean="0"/>
              <a:t>work-</a:t>
            </a:r>
            <a:r>
              <a:rPr lang="en-US" sz="2800" dirty="0" err="1" smtClean="0"/>
              <a:t>ing</a:t>
            </a:r>
            <a:r>
              <a:rPr lang="en-US" sz="2800" dirty="0" smtClean="0"/>
              <a:t> </a:t>
            </a:r>
            <a:r>
              <a:rPr lang="en-US" sz="2800" dirty="0" smtClean="0"/>
              <a:t>with quantitative data. </a:t>
            </a:r>
            <a:endParaRPr lang="en-US" sz="2800" dirty="0" smtClean="0"/>
          </a:p>
          <a:p>
            <a:r>
              <a:rPr lang="en-US" sz="2800" dirty="0" smtClean="0"/>
              <a:t>The </a:t>
            </a:r>
            <a:r>
              <a:rPr lang="en-US" sz="2800" dirty="0" smtClean="0"/>
              <a:t>approach also lends itself well to participatory design practices by involving a multidisciplinary team in which users play a key role. </a:t>
            </a:r>
            <a:endParaRPr lang="en-US" sz="2800" dirty="0" smtClean="0"/>
          </a:p>
          <a:p>
            <a:r>
              <a:rPr lang="en-US" sz="2800" dirty="0" smtClean="0"/>
              <a:t>Limitations </a:t>
            </a:r>
            <a:r>
              <a:rPr lang="en-US" sz="2800" dirty="0" smtClean="0"/>
              <a:t>include having to get all the experts together at once and then proceed at the rate of the slowest. Furthermore, only a limited number of </a:t>
            </a:r>
            <a:r>
              <a:rPr lang="en-US" sz="2800" dirty="0" smtClean="0"/>
              <a:t>scenarios</a:t>
            </a:r>
            <a:r>
              <a:rPr lang="en-US" sz="2800" dirty="0" smtClean="0"/>
              <a:t>, and hence paths through the interface, can usually be explored because of time constraints. . </a:t>
            </a:r>
          </a:p>
        </p:txBody>
      </p:sp>
    </p:spTree>
    <p:extLst>
      <p:ext uri="{BB962C8B-B14F-4D97-AF65-F5344CB8AC3E}">
        <p14:creationId xmlns:p14="http://schemas.microsoft.com/office/powerpoint/2010/main" xmlns="" val="86775244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3814</TotalTime>
  <Words>3215</Words>
  <Application>Microsoft Office PowerPoint</Application>
  <PresentationFormat>On-screen Show (4:3)</PresentationFormat>
  <Paragraphs>161</Paragraphs>
  <Slides>23</Slides>
  <Notes>0</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Office Theme</vt:lpstr>
      <vt:lpstr>Ethnography</vt:lpstr>
      <vt:lpstr>Ethnographic Techniques</vt:lpstr>
      <vt:lpstr>Observing Users …</vt:lpstr>
      <vt:lpstr>What and when to observe</vt:lpstr>
      <vt:lpstr>Approaches to observation</vt:lpstr>
      <vt:lpstr>"Quick and dirty" observation</vt:lpstr>
      <vt:lpstr>Observation in usability testing</vt:lpstr>
      <vt:lpstr>Observation in field studies…</vt:lpstr>
      <vt:lpstr>…Observation in field studies</vt:lpstr>
      <vt:lpstr>Asking Users – Interviews…</vt:lpstr>
      <vt:lpstr>…Asking Users – Interviews…</vt:lpstr>
      <vt:lpstr>…Asking Users – Interviews…</vt:lpstr>
      <vt:lpstr>…Asking Users – Interviews…</vt:lpstr>
      <vt:lpstr>…Asking Users – Interviews</vt:lpstr>
      <vt:lpstr> Asking users - Questionnaires </vt:lpstr>
      <vt:lpstr> Asking Experts - Inspections </vt:lpstr>
      <vt:lpstr> …Asking Experts - Inspections </vt:lpstr>
      <vt:lpstr> …Asking Experts - Inspections </vt:lpstr>
      <vt:lpstr>Asking Experts - Walkthroughs</vt:lpstr>
      <vt:lpstr>Asking Experts - Walkthroughs</vt:lpstr>
      <vt:lpstr>Asking Experts - Walkthroughs</vt:lpstr>
      <vt:lpstr>Asking Experts - Walkthroughs</vt:lpstr>
      <vt:lpstr>Asking Experts - Walkthroughs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 Analysis</dc:title>
  <dc:creator>gulraiz</dc:creator>
  <cp:lastModifiedBy>Farhana Ashraf</cp:lastModifiedBy>
  <cp:revision>300</cp:revision>
  <dcterms:created xsi:type="dcterms:W3CDTF">2014-08-12T16:29:38Z</dcterms:created>
  <dcterms:modified xsi:type="dcterms:W3CDTF">2022-06-15T08:33:48Z</dcterms:modified>
</cp:coreProperties>
</file>