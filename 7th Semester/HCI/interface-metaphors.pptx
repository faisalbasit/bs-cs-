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84" r:id="rId20"/>
    <p:sldId id="285" r:id="rId21"/>
    <p:sldId id="286" r:id="rId22"/>
    <p:sldId id="287" r:id="rId23"/>
    <p:sldId id="283" r:id="rId24"/>
    <p:sldId id="277" r:id="rId25"/>
    <p:sldId id="278" r:id="rId26"/>
    <p:sldId id="279" r:id="rId27"/>
    <p:sldId id="282" r:id="rId28"/>
    <p:sldId id="280" r:id="rId29"/>
    <p:sldId id="281"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04"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3/24/2017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466978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3/24/2017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722550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9E78462-CCA5-4CFA-A196-17550FE0A9E1}" type="datetimeFigureOut">
              <a:rPr lang="en-US" smtClean="0"/>
              <a:t>3/24/2017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12957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9E78462-CCA5-4CFA-A196-17550FE0A9E1}" type="datetimeFigureOut">
              <a:rPr lang="en-US" smtClean="0"/>
              <a:t>3/24/2017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85915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9E78462-CCA5-4CFA-A196-17550FE0A9E1}" type="datetimeFigureOut">
              <a:rPr lang="en-US" smtClean="0"/>
              <a:t>3/24/2017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4095085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9E78462-CCA5-4CFA-A196-17550FE0A9E1}" type="datetimeFigureOut">
              <a:rPr lang="en-US" smtClean="0"/>
              <a:t>3/24/2017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345531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E78462-CCA5-4CFA-A196-17550FE0A9E1}" type="datetimeFigureOut">
              <a:rPr lang="en-US" smtClean="0"/>
              <a:t>3/24/2017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64336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E78462-CCA5-4CFA-A196-17550FE0A9E1}" type="datetimeFigureOut">
              <a:rPr lang="en-US" smtClean="0"/>
              <a:t>3/24/2017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1002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E78462-CCA5-4CFA-A196-17550FE0A9E1}" type="datetimeFigureOut">
              <a:rPr lang="en-US" smtClean="0"/>
              <a:t>3/24/2017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428344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3/24/2017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120979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3/24/2017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93856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E78462-CCA5-4CFA-A196-17550FE0A9E1}" type="datetimeFigureOut">
              <a:rPr lang="en-US" smtClean="0"/>
              <a:t>3/24/2017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F0035-4B67-4B88-B2A0-536AE2AEED21}" type="slidenum">
              <a:rPr lang="en-US" smtClean="0"/>
              <a:t>‹#›</a:t>
            </a:fld>
            <a:endParaRPr lang="en-US"/>
          </a:p>
        </p:txBody>
      </p:sp>
    </p:spTree>
    <p:extLst>
      <p:ext uri="{BB962C8B-B14F-4D97-AF65-F5344CB8AC3E}">
        <p14:creationId xmlns:p14="http://schemas.microsoft.com/office/powerpoint/2010/main" val="1255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sz="4000" dirty="0" smtClean="0"/>
              <a:t>Metaphors</a:t>
            </a:r>
            <a:endParaRPr lang="en-US" sz="4000" dirty="0"/>
          </a:p>
        </p:txBody>
      </p:sp>
      <p:sp>
        <p:nvSpPr>
          <p:cNvPr id="7" name="Content Placeholder 2"/>
          <p:cNvSpPr>
            <a:spLocks noGrp="1"/>
          </p:cNvSpPr>
          <p:nvPr>
            <p:ph idx="1"/>
          </p:nvPr>
        </p:nvSpPr>
        <p:spPr>
          <a:xfrm>
            <a:off x="0" y="685800"/>
            <a:ext cx="9144000" cy="6172200"/>
          </a:xfrm>
        </p:spPr>
        <p:txBody>
          <a:bodyPr>
            <a:normAutofit lnSpcReduction="10000"/>
          </a:bodyPr>
          <a:lstStyle/>
          <a:p>
            <a:endParaRPr lang="en-US" sz="2400" dirty="0"/>
          </a:p>
          <a:p>
            <a:r>
              <a:rPr lang="en-US" sz="2400" dirty="0"/>
              <a:t>[Metaphor is a] thing considered as representative of some other (usually </a:t>
            </a:r>
            <a:r>
              <a:rPr lang="en-US" sz="2400" dirty="0" smtClean="0"/>
              <a:t>abstract) thing</a:t>
            </a:r>
          </a:p>
          <a:p>
            <a:r>
              <a:rPr lang="en-US" sz="2400" dirty="0" smtClean="0"/>
              <a:t>Metaphors </a:t>
            </a:r>
            <a:r>
              <a:rPr lang="en-US" sz="2400" dirty="0"/>
              <a:t>create relationships between things that are not directly equivalent</a:t>
            </a:r>
            <a:r>
              <a:rPr lang="en-US" sz="2400" dirty="0" smtClean="0"/>
              <a:t>.</a:t>
            </a:r>
          </a:p>
          <a:p>
            <a:r>
              <a:rPr lang="en-US" sz="2400" dirty="0"/>
              <a:t>[Metaphor is a] ﬁgure of speech in which a name or descriptive word or phrase is transferred to an object or action diﬀerent from, but analogous to, that to which it is literally applicable</a:t>
            </a:r>
            <a:r>
              <a:rPr lang="en-US" sz="2400" dirty="0" smtClean="0"/>
              <a:t>.</a:t>
            </a:r>
          </a:p>
          <a:p>
            <a:r>
              <a:rPr lang="en-US" sz="2400" dirty="0"/>
              <a:t>This identiﬁes two important qualities of metaphor: diﬀerence and analogy</a:t>
            </a:r>
            <a:r>
              <a:rPr lang="en-US" sz="2400" dirty="0" smtClean="0"/>
              <a:t>.</a:t>
            </a:r>
          </a:p>
          <a:p>
            <a:r>
              <a:rPr lang="en-US" sz="2400" dirty="0"/>
              <a:t>The quality of diﬀerence is important because if there were no diﬀerence involved, </a:t>
            </a:r>
            <a:r>
              <a:rPr lang="en-US" sz="2400" dirty="0" smtClean="0"/>
              <a:t>the metaphor </a:t>
            </a:r>
            <a:r>
              <a:rPr lang="en-US" sz="2400" dirty="0"/>
              <a:t>would just be a statement of identity. </a:t>
            </a:r>
            <a:endParaRPr lang="en-US" sz="2400" dirty="0" smtClean="0"/>
          </a:p>
          <a:p>
            <a:r>
              <a:rPr lang="en-US" sz="2400" dirty="0" smtClean="0"/>
              <a:t>The essential </a:t>
            </a:r>
            <a:r>
              <a:rPr lang="en-US" sz="2400" dirty="0"/>
              <a:t>diﬀerence is what distinguishes the two concepts, the analogy </a:t>
            </a:r>
            <a:r>
              <a:rPr lang="en-US" sz="2400" dirty="0" smtClean="0"/>
              <a:t>draws them </a:t>
            </a:r>
            <a:r>
              <a:rPr lang="en-US" sz="2400" dirty="0"/>
              <a:t>together and allows thinking of one in terms of the other. In this way, interesting </a:t>
            </a:r>
            <a:r>
              <a:rPr lang="en-US" sz="2400" dirty="0" smtClean="0"/>
              <a:t>unions can </a:t>
            </a:r>
            <a:r>
              <a:rPr lang="en-US" sz="2400" dirty="0"/>
              <a:t>be formed which allow us to understand concepts in unique and often useful ways.</a:t>
            </a:r>
          </a:p>
          <a:p>
            <a:endParaRPr lang="en-US" sz="2400" dirty="0"/>
          </a:p>
          <a:p>
            <a:endParaRPr lang="en-US" sz="2400" dirty="0"/>
          </a:p>
          <a:p>
            <a:endParaRPr lang="en-US" sz="2400" dirty="0"/>
          </a:p>
          <a:p>
            <a:endParaRPr lang="en-US" sz="2400" dirty="0"/>
          </a:p>
          <a:p>
            <a:endParaRPr lang="en-US" sz="2400" dirty="0"/>
          </a:p>
          <a:p>
            <a:endParaRPr lang="en-US" sz="2400" dirty="0" smtClean="0"/>
          </a:p>
        </p:txBody>
      </p:sp>
    </p:spTree>
    <p:extLst>
      <p:ext uri="{BB962C8B-B14F-4D97-AF65-F5344CB8AC3E}">
        <p14:creationId xmlns:p14="http://schemas.microsoft.com/office/powerpoint/2010/main" val="41880852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sz="4000" dirty="0" smtClean="0"/>
              <a:t>Metaphors (Contd.)</a:t>
            </a:r>
            <a:endParaRPr lang="en-US" sz="4000" dirty="0"/>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r>
              <a:rPr lang="en-US" sz="2800" i="1" u="sng" dirty="0" smtClean="0"/>
              <a:t>A </a:t>
            </a:r>
            <a:r>
              <a:rPr lang="en-US" sz="2800" i="1" u="sng" dirty="0"/>
              <a:t>device for explaining some concept or thing by asserting its </a:t>
            </a:r>
            <a:r>
              <a:rPr lang="en-US" sz="2800" i="1" u="sng" dirty="0" smtClean="0"/>
              <a:t>similarity </a:t>
            </a:r>
            <a:r>
              <a:rPr lang="en-US" sz="2800" i="1" u="sng" dirty="0"/>
              <a:t>to another concept or thing.</a:t>
            </a:r>
          </a:p>
          <a:p>
            <a:r>
              <a:rPr lang="en-US" sz="2400" dirty="0"/>
              <a:t>Additionally:</a:t>
            </a:r>
          </a:p>
          <a:p>
            <a:pPr lvl="1"/>
            <a:r>
              <a:rPr lang="en-US" sz="2400" dirty="0" smtClean="0"/>
              <a:t>Metaphor </a:t>
            </a:r>
            <a:r>
              <a:rPr lang="en-US" sz="2400" dirty="0"/>
              <a:t>is, by deﬁnition, inexact.</a:t>
            </a:r>
          </a:p>
          <a:p>
            <a:pPr lvl="1"/>
            <a:r>
              <a:rPr lang="en-US" sz="2400" dirty="0" smtClean="0"/>
              <a:t>Metaphor </a:t>
            </a:r>
            <a:r>
              <a:rPr lang="en-US" sz="2400" dirty="0"/>
              <a:t>is interpreted contextually at many levels, from single individuals to </a:t>
            </a:r>
            <a:r>
              <a:rPr lang="en-US" sz="2400" dirty="0" smtClean="0"/>
              <a:t>large scale </a:t>
            </a:r>
            <a:r>
              <a:rPr lang="en-US" sz="2400" dirty="0"/>
              <a:t>culture, and everything in-between.</a:t>
            </a:r>
          </a:p>
          <a:p>
            <a:pPr lvl="1"/>
            <a:r>
              <a:rPr lang="en-US" sz="2400" dirty="0" smtClean="0"/>
              <a:t>Metaphor </a:t>
            </a:r>
            <a:r>
              <a:rPr lang="en-US" sz="2400" dirty="0"/>
              <a:t>functions within a system of thought, not in isolation.</a:t>
            </a:r>
          </a:p>
          <a:p>
            <a:pPr lvl="1"/>
            <a:r>
              <a:rPr lang="en-US" sz="2400" dirty="0" smtClean="0"/>
              <a:t>Metaphor </a:t>
            </a:r>
            <a:r>
              <a:rPr lang="en-US" sz="2400" dirty="0"/>
              <a:t>may be one of the key methods humans have for understanding new concepts</a:t>
            </a:r>
            <a:r>
              <a:rPr lang="en-US" sz="2000" dirty="0"/>
              <a:t>.</a:t>
            </a:r>
          </a:p>
          <a:p>
            <a:pPr marL="0" indent="0">
              <a:buNone/>
            </a:pPr>
            <a:endParaRPr lang="en-US" sz="2400" dirty="0"/>
          </a:p>
          <a:p>
            <a:endParaRPr lang="en-US" sz="2400" dirty="0"/>
          </a:p>
          <a:p>
            <a:endParaRPr lang="en-US" sz="2400" dirty="0" smtClean="0"/>
          </a:p>
        </p:txBody>
      </p:sp>
    </p:spTree>
    <p:extLst>
      <p:ext uri="{BB962C8B-B14F-4D97-AF65-F5344CB8AC3E}">
        <p14:creationId xmlns:p14="http://schemas.microsoft.com/office/powerpoint/2010/main" val="13724311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rmAutofit fontScale="90000"/>
          </a:bodyPr>
          <a:lstStyle/>
          <a:p>
            <a:r>
              <a:rPr lang="en-US" sz="3200" dirty="0" smtClean="0"/>
              <a:t>Metaphors and Computing</a:t>
            </a:r>
            <a:endParaRPr lang="en-US" sz="3200" dirty="0"/>
          </a:p>
        </p:txBody>
      </p:sp>
      <p:sp>
        <p:nvSpPr>
          <p:cNvPr id="7" name="Content Placeholder 2"/>
          <p:cNvSpPr>
            <a:spLocks noGrp="1"/>
          </p:cNvSpPr>
          <p:nvPr>
            <p:ph idx="1"/>
          </p:nvPr>
        </p:nvSpPr>
        <p:spPr>
          <a:xfrm>
            <a:off x="0" y="457200"/>
            <a:ext cx="9144000" cy="6400800"/>
          </a:xfrm>
        </p:spPr>
        <p:txBody>
          <a:bodyPr>
            <a:normAutofit fontScale="92500"/>
          </a:bodyPr>
          <a:lstStyle/>
          <a:p>
            <a:r>
              <a:rPr lang="en-US" sz="2400" dirty="0" smtClean="0"/>
              <a:t>Computers </a:t>
            </a:r>
            <a:r>
              <a:rPr lang="en-US" sz="2400" dirty="0"/>
              <a:t>are not the only devices made more accessible through metaphor. </a:t>
            </a:r>
            <a:endParaRPr lang="en-US" sz="2400" dirty="0" smtClean="0"/>
          </a:p>
          <a:p>
            <a:r>
              <a:rPr lang="en-US" sz="2400" dirty="0" smtClean="0"/>
              <a:t>Metaphors are </a:t>
            </a:r>
            <a:r>
              <a:rPr lang="en-US" sz="2400" dirty="0"/>
              <a:t>used to help coping with the complexities of any new </a:t>
            </a:r>
            <a:r>
              <a:rPr lang="en-US" sz="2400" dirty="0" smtClean="0"/>
              <a:t>technology.</a:t>
            </a:r>
          </a:p>
          <a:p>
            <a:r>
              <a:rPr lang="en-US" sz="2400" dirty="0" smtClean="0"/>
              <a:t>The transition from </a:t>
            </a:r>
            <a:r>
              <a:rPr lang="en-US" sz="2400" dirty="0"/>
              <a:t>old technology to new is eased by </a:t>
            </a:r>
            <a:r>
              <a:rPr lang="en-US" sz="2400" dirty="0" smtClean="0"/>
              <a:t>metaphor.</a:t>
            </a:r>
          </a:p>
          <a:p>
            <a:r>
              <a:rPr lang="en-US" sz="2400" dirty="0"/>
              <a:t>When new </a:t>
            </a:r>
            <a:r>
              <a:rPr lang="en-US" sz="2400" dirty="0" smtClean="0"/>
              <a:t>technologies arrive </a:t>
            </a:r>
            <a:r>
              <a:rPr lang="en-US" sz="2400" dirty="0"/>
              <a:t>new metaphors are found to apply to them. </a:t>
            </a:r>
            <a:endParaRPr lang="en-US" sz="2400" dirty="0" smtClean="0"/>
          </a:p>
          <a:p>
            <a:r>
              <a:rPr lang="en-US" sz="2400" dirty="0"/>
              <a:t>T</a:t>
            </a:r>
            <a:r>
              <a:rPr lang="en-US" sz="2400" dirty="0" smtClean="0"/>
              <a:t>here </a:t>
            </a:r>
            <a:r>
              <a:rPr lang="en-US" sz="2400" dirty="0"/>
              <a:t>are diﬀerent levels at which one can understand computers. </a:t>
            </a:r>
            <a:endParaRPr lang="en-US" sz="2400" dirty="0" smtClean="0"/>
          </a:p>
          <a:p>
            <a:r>
              <a:rPr lang="en-US" sz="2400" dirty="0" smtClean="0"/>
              <a:t>People who </a:t>
            </a:r>
            <a:r>
              <a:rPr lang="en-US" sz="2400" dirty="0"/>
              <a:t>must deal with each of these levels tend to use metaphor in some way to make </a:t>
            </a:r>
            <a:r>
              <a:rPr lang="en-US" sz="2400" dirty="0" smtClean="0"/>
              <a:t>the complexity </a:t>
            </a:r>
            <a:r>
              <a:rPr lang="en-US" sz="2400" dirty="0"/>
              <a:t>more bearable, from chip-designers through to ordinary users. </a:t>
            </a:r>
            <a:endParaRPr lang="en-US" sz="2400" dirty="0" smtClean="0"/>
          </a:p>
          <a:p>
            <a:r>
              <a:rPr lang="en-US" sz="2400" b="1" dirty="0" smtClean="0"/>
              <a:t>The user-interface, however</a:t>
            </a:r>
            <a:r>
              <a:rPr lang="en-US" sz="2400" b="1" dirty="0"/>
              <a:t>, is probably the richest source of metaphors in computers. </a:t>
            </a:r>
            <a:endParaRPr lang="en-US" sz="2400" b="1" dirty="0" smtClean="0"/>
          </a:p>
          <a:p>
            <a:r>
              <a:rPr lang="en-US" sz="2400" dirty="0" smtClean="0"/>
              <a:t>This </a:t>
            </a:r>
            <a:r>
              <a:rPr lang="en-US" sz="2400" dirty="0"/>
              <a:t>is because </a:t>
            </a:r>
            <a:r>
              <a:rPr lang="en-US" sz="2400" b="1" dirty="0"/>
              <a:t>the </a:t>
            </a:r>
            <a:r>
              <a:rPr lang="en-US" sz="2400" b="1" dirty="0" smtClean="0"/>
              <a:t>average user </a:t>
            </a:r>
            <a:r>
              <a:rPr lang="en-US" sz="2400" b="1" dirty="0"/>
              <a:t>of a computer is the least likely of any kind of computer-user to have an </a:t>
            </a:r>
            <a:r>
              <a:rPr lang="en-US" sz="2400" b="1" dirty="0" smtClean="0"/>
              <a:t>understanding of </a:t>
            </a:r>
            <a:r>
              <a:rPr lang="en-US" sz="2400" b="1" dirty="0"/>
              <a:t>how their computer really functions. </a:t>
            </a:r>
            <a:endParaRPr lang="en-US" sz="2400" b="1" dirty="0" smtClean="0"/>
          </a:p>
          <a:p>
            <a:r>
              <a:rPr lang="en-US" sz="2400" dirty="0" smtClean="0"/>
              <a:t>In </a:t>
            </a:r>
            <a:r>
              <a:rPr lang="en-US" sz="2400" dirty="0"/>
              <a:t>fact, </a:t>
            </a:r>
            <a:r>
              <a:rPr lang="en-US" sz="2400" b="1" dirty="0"/>
              <a:t>user understanding may be based </a:t>
            </a:r>
            <a:r>
              <a:rPr lang="en-US" sz="2400" b="1" dirty="0" smtClean="0"/>
              <a:t>almost entirely </a:t>
            </a:r>
            <a:r>
              <a:rPr lang="en-US" sz="2400" b="1" dirty="0"/>
              <a:t>on metaphors</a:t>
            </a:r>
            <a:r>
              <a:rPr lang="en-US" sz="2400" dirty="0"/>
              <a:t>.</a:t>
            </a:r>
          </a:p>
          <a:p>
            <a:pPr marL="0" indent="0">
              <a:buNone/>
            </a:pPr>
            <a:endParaRPr lang="en-US" sz="2400" dirty="0" smtClean="0"/>
          </a:p>
        </p:txBody>
      </p:sp>
    </p:spTree>
    <p:extLst>
      <p:ext uri="{BB962C8B-B14F-4D97-AF65-F5344CB8AC3E}">
        <p14:creationId xmlns:p14="http://schemas.microsoft.com/office/powerpoint/2010/main" val="18389718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rmAutofit fontScale="90000"/>
          </a:bodyPr>
          <a:lstStyle/>
          <a:p>
            <a:r>
              <a:rPr lang="en-US" sz="3200" dirty="0"/>
              <a:t>User-Interface Metaphor</a:t>
            </a:r>
          </a:p>
        </p:txBody>
      </p:sp>
      <p:sp>
        <p:nvSpPr>
          <p:cNvPr id="7" name="Content Placeholder 2"/>
          <p:cNvSpPr>
            <a:spLocks noGrp="1"/>
          </p:cNvSpPr>
          <p:nvPr>
            <p:ph idx="1"/>
          </p:nvPr>
        </p:nvSpPr>
        <p:spPr>
          <a:xfrm>
            <a:off x="0" y="457200"/>
            <a:ext cx="9144000" cy="6400800"/>
          </a:xfrm>
        </p:spPr>
        <p:txBody>
          <a:bodyPr>
            <a:normAutofit/>
          </a:bodyPr>
          <a:lstStyle/>
          <a:p>
            <a:r>
              <a:rPr lang="en-US" sz="2400" dirty="0"/>
              <a:t>Metaphor is a device for explaining one concept by identifying it with another. </a:t>
            </a:r>
            <a:endParaRPr lang="en-US" sz="2400" dirty="0" smtClean="0"/>
          </a:p>
          <a:p>
            <a:r>
              <a:rPr lang="en-US" sz="2400" dirty="0" smtClean="0"/>
              <a:t>It is safe </a:t>
            </a:r>
            <a:r>
              <a:rPr lang="en-US" sz="2400" dirty="0"/>
              <a:t>to say that, with user-interface metaphors, what is being explained is the </a:t>
            </a:r>
            <a:r>
              <a:rPr lang="en-US" sz="2400" dirty="0" smtClean="0"/>
              <a:t>underlying functionality </a:t>
            </a:r>
            <a:r>
              <a:rPr lang="en-US" sz="2400" dirty="0"/>
              <a:t>and characteristics of the software which the interface gives access to. </a:t>
            </a:r>
            <a:endParaRPr lang="en-US" sz="2400" dirty="0" smtClean="0"/>
          </a:p>
          <a:p>
            <a:r>
              <a:rPr lang="en-US" sz="2400" i="1" dirty="0"/>
              <a:t>A device for explaining some system </a:t>
            </a:r>
            <a:r>
              <a:rPr lang="en-US" sz="2400" i="1" dirty="0" smtClean="0"/>
              <a:t>functionality or </a:t>
            </a:r>
            <a:r>
              <a:rPr lang="en-US" sz="2400" i="1" dirty="0"/>
              <a:t>structure by asserting its similarity to another concept or thing already </a:t>
            </a:r>
            <a:r>
              <a:rPr lang="en-US" sz="2400" i="1" dirty="0" smtClean="0"/>
              <a:t>familiar to </a:t>
            </a:r>
            <a:r>
              <a:rPr lang="en-US" sz="2400" i="1" dirty="0"/>
              <a:t>the user</a:t>
            </a:r>
            <a:r>
              <a:rPr lang="en-US" sz="2400" i="1" dirty="0" smtClean="0"/>
              <a:t>.</a:t>
            </a:r>
          </a:p>
          <a:p>
            <a:pPr lvl="1"/>
            <a:r>
              <a:rPr lang="en-US" sz="2000" b="1" dirty="0" smtClean="0"/>
              <a:t>Example 1: </a:t>
            </a:r>
            <a:r>
              <a:rPr lang="en-US" sz="2000" dirty="0" smtClean="0"/>
              <a:t>Consider </a:t>
            </a:r>
            <a:r>
              <a:rPr lang="en-US" sz="2000" dirty="0"/>
              <a:t>a familiar example of a user-interface metaphor: the “trashcan” . It would perhaps be something like “ﬁle </a:t>
            </a:r>
            <a:r>
              <a:rPr lang="en-US" sz="2000" dirty="0" smtClean="0"/>
              <a:t>deletion is </a:t>
            </a:r>
            <a:r>
              <a:rPr lang="en-US" sz="2000" dirty="0"/>
              <a:t>using a trashcan”. Clearly, this is metaphoric because it uses something familiar to the user (a trash-can) to represent an aspect of the system that might otherwise be confusing (ﬁle deletion and management). The trash-can explains certain features of ﬁle-deletion in the system. You can place unwanted items into the trash-can to get rid of them, and you can get them back if you are in time. </a:t>
            </a:r>
            <a:r>
              <a:rPr lang="en-US" sz="2000" dirty="0" smtClean="0"/>
              <a:t>Additionally, the </a:t>
            </a:r>
            <a:r>
              <a:rPr lang="en-US" sz="2000" dirty="0"/>
              <a:t>trashcan is a perceivable aspect of the system, using the user’s visual sense to convey the metaphor as well as the </a:t>
            </a:r>
            <a:r>
              <a:rPr lang="en-US" sz="2000" dirty="0" smtClean="0"/>
              <a:t>kinesthetic </a:t>
            </a:r>
            <a:r>
              <a:rPr lang="en-US" sz="2000" dirty="0"/>
              <a:t>sense of “putting” items into it.</a:t>
            </a:r>
            <a:endParaRPr lang="en-US" sz="2000" dirty="0" smtClean="0"/>
          </a:p>
        </p:txBody>
      </p:sp>
    </p:spTree>
    <p:extLst>
      <p:ext uri="{BB962C8B-B14F-4D97-AF65-F5344CB8AC3E}">
        <p14:creationId xmlns:p14="http://schemas.microsoft.com/office/powerpoint/2010/main" val="14279167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rmAutofit fontScale="90000"/>
          </a:bodyPr>
          <a:lstStyle/>
          <a:p>
            <a:r>
              <a:rPr lang="en-US" sz="3200" dirty="0"/>
              <a:t>User-Interface </a:t>
            </a:r>
            <a:r>
              <a:rPr lang="en-US" sz="3200" dirty="0" smtClean="0"/>
              <a:t>Metaphor (Contd.)</a:t>
            </a:r>
            <a:endParaRPr lang="en-US" sz="3200" dirty="0"/>
          </a:p>
        </p:txBody>
      </p:sp>
      <p:sp>
        <p:nvSpPr>
          <p:cNvPr id="7" name="Content Placeholder 2"/>
          <p:cNvSpPr>
            <a:spLocks noGrp="1"/>
          </p:cNvSpPr>
          <p:nvPr>
            <p:ph idx="1"/>
          </p:nvPr>
        </p:nvSpPr>
        <p:spPr>
          <a:xfrm>
            <a:off x="0" y="457200"/>
            <a:ext cx="9144000" cy="6400800"/>
          </a:xfrm>
        </p:spPr>
        <p:txBody>
          <a:bodyPr>
            <a:normAutofit/>
          </a:bodyPr>
          <a:lstStyle/>
          <a:p>
            <a:pPr lvl="1"/>
            <a:r>
              <a:rPr lang="en-US" sz="2000" b="1" dirty="0" smtClean="0"/>
              <a:t>Example 2: </a:t>
            </a:r>
            <a:r>
              <a:rPr lang="en-US" sz="2000" dirty="0"/>
              <a:t>Probably the best known user-interface metaphor is the “desktop metaphor”. This metaphor is present in the graphical interfaces of many modern operating systems. It is perceived through a collection of </a:t>
            </a:r>
            <a:r>
              <a:rPr lang="en-US" sz="2000" dirty="0" smtClean="0"/>
              <a:t>sub metaphors </a:t>
            </a:r>
            <a:r>
              <a:rPr lang="en-US" sz="2000" dirty="0"/>
              <a:t>such as the trash-can, documents and the actual “desktop” surface. The desktop metaphor may be more appropriately called the “oﬃce metaphor”, in fact, as the collection of sub-metaphors more accurately </a:t>
            </a:r>
            <a:r>
              <a:rPr lang="en-US" sz="2000" dirty="0" smtClean="0"/>
              <a:t>characterizes </a:t>
            </a:r>
            <a:r>
              <a:rPr lang="en-US" sz="2000" dirty="0"/>
              <a:t>an oﬃce working environment. The metaphor exists to help the user understand the function of their computer system as the working of an oﬃce, particularly as relates to data management. </a:t>
            </a:r>
            <a:endParaRPr lang="en-US" sz="2000" dirty="0" smtClean="0"/>
          </a:p>
          <a:p>
            <a:r>
              <a:rPr lang="en-US" sz="2400" dirty="0"/>
              <a:t>The user encounters “ﬁles” and “folders” as ways of representing the more complex data structures that the computer really uses. </a:t>
            </a:r>
            <a:r>
              <a:rPr lang="en-US" sz="2400" dirty="0" smtClean="0"/>
              <a:t> </a:t>
            </a:r>
            <a:r>
              <a:rPr lang="en-US" sz="2400" b="1" dirty="0" smtClean="0"/>
              <a:t>This </a:t>
            </a:r>
            <a:r>
              <a:rPr lang="en-US" sz="2400" b="1" dirty="0"/>
              <a:t>raises the interesting point that metaphors can be applied at diﬀerent levels. They can be more overarching, </a:t>
            </a:r>
            <a:r>
              <a:rPr lang="en-US" sz="2400" b="1" dirty="0" smtClean="0"/>
              <a:t>organization </a:t>
            </a:r>
            <a:r>
              <a:rPr lang="en-US" sz="2400" b="1" dirty="0"/>
              <a:t>metaphors, such as the desktop; more speciﬁc, like the trash-can metaphor; or even quite subtle and unnoticed, such as the traﬃc light metaphor.</a:t>
            </a:r>
          </a:p>
        </p:txBody>
      </p:sp>
    </p:spTree>
    <p:extLst>
      <p:ext uri="{BB962C8B-B14F-4D97-AF65-F5344CB8AC3E}">
        <p14:creationId xmlns:p14="http://schemas.microsoft.com/office/powerpoint/2010/main" val="2227541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rmAutofit fontScale="90000"/>
          </a:bodyPr>
          <a:lstStyle/>
          <a:p>
            <a:r>
              <a:rPr lang="en-US" altLang="en-US" sz="3200" b="1" dirty="0" smtClean="0"/>
              <a:t>Styles </a:t>
            </a:r>
            <a:r>
              <a:rPr lang="en-US" altLang="en-US" sz="3200" b="1" dirty="0"/>
              <a:t>of </a:t>
            </a:r>
            <a:r>
              <a:rPr lang="en-US" altLang="en-US" sz="3200" b="1" dirty="0" smtClean="0"/>
              <a:t>Interaction</a:t>
            </a:r>
            <a:endParaRPr lang="en-US" sz="3200" b="1" dirty="0"/>
          </a:p>
        </p:txBody>
      </p:sp>
      <p:sp>
        <p:nvSpPr>
          <p:cNvPr id="7" name="Content Placeholder 2"/>
          <p:cNvSpPr>
            <a:spLocks noGrp="1"/>
          </p:cNvSpPr>
          <p:nvPr>
            <p:ph idx="1"/>
          </p:nvPr>
        </p:nvSpPr>
        <p:spPr>
          <a:xfrm>
            <a:off x="0" y="457200"/>
            <a:ext cx="9144000" cy="6400800"/>
          </a:xfrm>
        </p:spPr>
        <p:txBody>
          <a:bodyPr>
            <a:normAutofit/>
          </a:bodyPr>
          <a:lstStyle/>
          <a:p>
            <a:r>
              <a:rPr lang="en-US" altLang="en-US" sz="2400" dirty="0"/>
              <a:t>Commands (&amp; queries, keyboard shortcuts)</a:t>
            </a:r>
          </a:p>
          <a:p>
            <a:r>
              <a:rPr lang="en-US" altLang="en-US" sz="2400" dirty="0"/>
              <a:t>Menus (and W.I.M.P. interfaces)</a:t>
            </a:r>
          </a:p>
          <a:p>
            <a:r>
              <a:rPr lang="en-US" altLang="en-US" sz="2400" dirty="0"/>
              <a:t>Direct manipulation</a:t>
            </a:r>
          </a:p>
          <a:p>
            <a:r>
              <a:rPr lang="en-US" altLang="en-US" sz="2400" dirty="0"/>
              <a:t>Conversation (often w/ speech or natural language)</a:t>
            </a:r>
          </a:p>
          <a:p>
            <a:r>
              <a:rPr lang="en-US" altLang="en-US" sz="2400" dirty="0"/>
              <a:t>Browsing</a:t>
            </a:r>
          </a:p>
          <a:p>
            <a:r>
              <a:rPr lang="en-US" altLang="en-US" sz="2400" dirty="0"/>
              <a:t>Forms and spreadsheets</a:t>
            </a:r>
          </a:p>
          <a:p>
            <a:r>
              <a:rPr lang="en-US" altLang="en-US" sz="2400" dirty="0"/>
              <a:t>Immersive environments</a:t>
            </a:r>
          </a:p>
        </p:txBody>
      </p:sp>
    </p:spTree>
    <p:extLst>
      <p:ext uri="{BB962C8B-B14F-4D97-AF65-F5344CB8AC3E}">
        <p14:creationId xmlns:p14="http://schemas.microsoft.com/office/powerpoint/2010/main" val="13188589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rmAutofit fontScale="90000"/>
          </a:bodyPr>
          <a:lstStyle/>
          <a:p>
            <a:r>
              <a:rPr lang="en-GB" altLang="en-US" sz="3200" b="1" dirty="0"/>
              <a:t>Command interface</a:t>
            </a:r>
            <a:endParaRPr lang="en-US" sz="3200" b="1" dirty="0"/>
          </a:p>
        </p:txBody>
      </p:sp>
      <p:sp>
        <p:nvSpPr>
          <p:cNvPr id="7" name="Content Placeholder 2"/>
          <p:cNvSpPr>
            <a:spLocks noGrp="1"/>
          </p:cNvSpPr>
          <p:nvPr>
            <p:ph idx="1"/>
          </p:nvPr>
        </p:nvSpPr>
        <p:spPr>
          <a:xfrm>
            <a:off x="0" y="457200"/>
            <a:ext cx="9144000" cy="6400800"/>
          </a:xfrm>
        </p:spPr>
        <p:txBody>
          <a:bodyPr>
            <a:normAutofit/>
          </a:bodyPr>
          <a:lstStyle/>
          <a:p>
            <a:pPr>
              <a:lnSpc>
                <a:spcPct val="90000"/>
              </a:lnSpc>
            </a:pPr>
            <a:r>
              <a:rPr lang="en-GB" altLang="en-US" sz="2400" b="1" u="sng" dirty="0" smtClean="0"/>
              <a:t>Advantages:</a:t>
            </a:r>
          </a:p>
          <a:p>
            <a:pPr lvl="1">
              <a:lnSpc>
                <a:spcPct val="90000"/>
              </a:lnSpc>
            </a:pPr>
            <a:r>
              <a:rPr lang="en-GB" altLang="en-US" sz="2400" dirty="0" smtClean="0"/>
              <a:t>Domain-specific </a:t>
            </a:r>
            <a:r>
              <a:rPr lang="en-GB" altLang="en-US" sz="2400" dirty="0"/>
              <a:t>language</a:t>
            </a:r>
          </a:p>
          <a:p>
            <a:pPr lvl="2">
              <a:lnSpc>
                <a:spcPct val="90000"/>
              </a:lnSpc>
            </a:pPr>
            <a:r>
              <a:rPr lang="en-GB" altLang="en-US" sz="1800" dirty="0"/>
              <a:t>Similar to scripting language</a:t>
            </a:r>
          </a:p>
          <a:p>
            <a:pPr lvl="1">
              <a:lnSpc>
                <a:spcPct val="90000"/>
              </a:lnSpc>
            </a:pPr>
            <a:r>
              <a:rPr lang="en-GB" altLang="en-US" sz="2400" dirty="0"/>
              <a:t>The user tells the system what to do</a:t>
            </a:r>
          </a:p>
          <a:p>
            <a:pPr lvl="2">
              <a:lnSpc>
                <a:spcPct val="90000"/>
              </a:lnSpc>
            </a:pPr>
            <a:r>
              <a:rPr lang="en-GB" altLang="en-US" sz="1800" dirty="0"/>
              <a:t>e.g. tell the time, copy a file, save a file</a:t>
            </a:r>
          </a:p>
          <a:p>
            <a:pPr lvl="1">
              <a:lnSpc>
                <a:spcPct val="90000"/>
              </a:lnSpc>
            </a:pPr>
            <a:r>
              <a:rPr lang="en-GB" altLang="en-US" sz="2400" dirty="0"/>
              <a:t>The user is in control (takes the initiative)</a:t>
            </a:r>
          </a:p>
          <a:p>
            <a:pPr lvl="1">
              <a:lnSpc>
                <a:spcPct val="90000"/>
              </a:lnSpc>
            </a:pPr>
            <a:r>
              <a:rPr lang="en-GB" altLang="en-US" sz="2400" dirty="0"/>
              <a:t>Very common conceptual model for operating a device (little or no intelligence in the device)</a:t>
            </a:r>
          </a:p>
          <a:p>
            <a:pPr lvl="1">
              <a:lnSpc>
                <a:spcPct val="90000"/>
              </a:lnSpc>
            </a:pPr>
            <a:r>
              <a:rPr lang="en-GB" altLang="en-US" sz="2400" dirty="0"/>
              <a:t>Main benefits: </a:t>
            </a:r>
          </a:p>
          <a:p>
            <a:pPr lvl="2">
              <a:lnSpc>
                <a:spcPct val="90000"/>
              </a:lnSpc>
            </a:pPr>
            <a:r>
              <a:rPr lang="en-GB" altLang="en-US" sz="1800" dirty="0"/>
              <a:t>Powerful (especially for experts and frequent users)</a:t>
            </a:r>
          </a:p>
          <a:p>
            <a:pPr lvl="2">
              <a:lnSpc>
                <a:spcPct val="90000"/>
              </a:lnSpc>
            </a:pPr>
            <a:r>
              <a:rPr lang="en-GB" altLang="en-US" sz="1800" dirty="0"/>
              <a:t>Supports fast and efficient interaction</a:t>
            </a:r>
          </a:p>
          <a:p>
            <a:pPr lvl="2">
              <a:lnSpc>
                <a:spcPct val="90000"/>
              </a:lnSpc>
            </a:pPr>
            <a:r>
              <a:rPr lang="en-GB" altLang="en-US" sz="1800" dirty="0"/>
              <a:t>Good for repetitive kinds of actions</a:t>
            </a:r>
          </a:p>
        </p:txBody>
      </p:sp>
    </p:spTree>
    <p:extLst>
      <p:ext uri="{BB962C8B-B14F-4D97-AF65-F5344CB8AC3E}">
        <p14:creationId xmlns:p14="http://schemas.microsoft.com/office/powerpoint/2010/main" val="7423970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rmAutofit fontScale="90000"/>
          </a:bodyPr>
          <a:lstStyle/>
          <a:p>
            <a:r>
              <a:rPr lang="en-GB" altLang="en-US" sz="3200" b="1" dirty="0"/>
              <a:t>Command </a:t>
            </a:r>
            <a:r>
              <a:rPr lang="en-GB" altLang="en-US" sz="3200" b="1" dirty="0" smtClean="0"/>
              <a:t>interface (Contd.)</a:t>
            </a:r>
            <a:endParaRPr lang="en-US" sz="3200" b="1" dirty="0"/>
          </a:p>
        </p:txBody>
      </p:sp>
      <p:sp>
        <p:nvSpPr>
          <p:cNvPr id="7" name="Content Placeholder 2"/>
          <p:cNvSpPr>
            <a:spLocks noGrp="1"/>
          </p:cNvSpPr>
          <p:nvPr>
            <p:ph idx="1"/>
          </p:nvPr>
        </p:nvSpPr>
        <p:spPr>
          <a:xfrm>
            <a:off x="0" y="457200"/>
            <a:ext cx="9144000" cy="6400800"/>
          </a:xfrm>
        </p:spPr>
        <p:txBody>
          <a:bodyPr>
            <a:normAutofit/>
          </a:bodyPr>
          <a:lstStyle/>
          <a:p>
            <a:pPr>
              <a:lnSpc>
                <a:spcPct val="90000"/>
              </a:lnSpc>
            </a:pPr>
            <a:r>
              <a:rPr lang="en-GB" altLang="en-US" sz="2400" b="1" u="sng" dirty="0"/>
              <a:t>Example: Copy command (DOS</a:t>
            </a:r>
            <a:r>
              <a:rPr lang="en-GB" altLang="en-US" sz="2400" b="1" u="sng" dirty="0" smtClean="0"/>
              <a:t>)</a:t>
            </a:r>
          </a:p>
          <a:p>
            <a:pPr lvl="1">
              <a:lnSpc>
                <a:spcPct val="90000"/>
              </a:lnSpc>
            </a:pPr>
            <a:r>
              <a:rPr lang="en-US" altLang="en-US" sz="1800" dirty="0" smtClean="0">
                <a:latin typeface="Helvetica" pitchFamily="84" charset="0"/>
              </a:rPr>
              <a:t>Copies </a:t>
            </a:r>
            <a:r>
              <a:rPr lang="en-US" altLang="en-US" sz="1800" dirty="0">
                <a:latin typeface="Helvetica" pitchFamily="84" charset="0"/>
              </a:rPr>
              <a:t>files from one location to another. The destination defaults to the current directory. </a:t>
            </a:r>
            <a:r>
              <a:rPr lang="en-US" altLang="en-US" sz="1800" dirty="0">
                <a:latin typeface="Courier" pitchFamily="84" charset="0"/>
              </a:rPr>
              <a:t>	</a:t>
            </a:r>
          </a:p>
          <a:p>
            <a:pPr lvl="1">
              <a:buFont typeface="Monotype Sorts" pitchFamily="84" charset="2"/>
              <a:buNone/>
            </a:pPr>
            <a:r>
              <a:rPr lang="en-US" altLang="en-US" sz="1800" dirty="0">
                <a:solidFill>
                  <a:schemeClr val="tx2"/>
                </a:solidFill>
                <a:latin typeface="Courier" pitchFamily="84" charset="0"/>
              </a:rPr>
              <a:t>			&gt; copy </a:t>
            </a:r>
            <a:r>
              <a:rPr lang="en-US" altLang="en-US" sz="1800" i="1" dirty="0">
                <a:solidFill>
                  <a:schemeClr val="tx2"/>
                </a:solidFill>
              </a:rPr>
              <a:t>file1</a:t>
            </a:r>
            <a:r>
              <a:rPr lang="en-US" altLang="en-US" sz="1800" dirty="0">
                <a:solidFill>
                  <a:schemeClr val="tx2"/>
                </a:solidFill>
                <a:latin typeface="Courier" pitchFamily="84" charset="0"/>
              </a:rPr>
              <a:t> [</a:t>
            </a:r>
            <a:r>
              <a:rPr lang="en-US" altLang="en-US" sz="1800" i="1" dirty="0">
                <a:solidFill>
                  <a:schemeClr val="tx2"/>
                </a:solidFill>
              </a:rPr>
              <a:t>destination</a:t>
            </a:r>
            <a:r>
              <a:rPr lang="en-US" altLang="en-US" sz="1800" dirty="0">
                <a:solidFill>
                  <a:schemeClr val="tx2"/>
                </a:solidFill>
                <a:latin typeface="Courier" pitchFamily="84" charset="0"/>
              </a:rPr>
              <a:t>]</a:t>
            </a:r>
          </a:p>
          <a:p>
            <a:pPr lvl="1"/>
            <a:r>
              <a:rPr lang="en-US" altLang="en-US" sz="1800" dirty="0">
                <a:latin typeface="Helvetica" pitchFamily="84" charset="0"/>
              </a:rPr>
              <a:t>If multiple files are to be copied, the destination must be a directory, or an error will result.</a:t>
            </a:r>
          </a:p>
          <a:p>
            <a:pPr lvl="1">
              <a:buFont typeface="Monotype Sorts" pitchFamily="84" charset="2"/>
              <a:buNone/>
            </a:pPr>
            <a:r>
              <a:rPr lang="en-US" altLang="en-US" sz="1800" dirty="0">
                <a:solidFill>
                  <a:schemeClr val="tx2"/>
                </a:solidFill>
                <a:latin typeface="Courier" pitchFamily="84" charset="0"/>
              </a:rPr>
              <a:t>			&gt; copy </a:t>
            </a:r>
            <a:r>
              <a:rPr lang="en-US" altLang="en-US" sz="1800" i="1" dirty="0">
                <a:solidFill>
                  <a:schemeClr val="tx2"/>
                </a:solidFill>
              </a:rPr>
              <a:t>file1 file2 file3</a:t>
            </a:r>
            <a:r>
              <a:rPr lang="en-US" altLang="en-US" sz="1800" dirty="0">
                <a:solidFill>
                  <a:schemeClr val="tx2"/>
                </a:solidFill>
                <a:latin typeface="Courier" pitchFamily="84" charset="0"/>
              </a:rPr>
              <a:t> [</a:t>
            </a:r>
            <a:r>
              <a:rPr lang="en-US" altLang="en-US" sz="1800" i="1" dirty="0">
                <a:solidFill>
                  <a:schemeClr val="tx2"/>
                </a:solidFill>
              </a:rPr>
              <a:t>destination</a:t>
            </a:r>
            <a:r>
              <a:rPr lang="en-US" altLang="en-US" sz="1800" dirty="0">
                <a:solidFill>
                  <a:schemeClr val="tx2"/>
                </a:solidFill>
                <a:latin typeface="Courier" pitchFamily="84" charset="0"/>
              </a:rPr>
              <a:t>]</a:t>
            </a:r>
          </a:p>
          <a:p>
            <a:pPr lvl="1"/>
            <a:r>
              <a:rPr lang="en-US" altLang="en-US" sz="1800" dirty="0">
                <a:latin typeface="Helvetica" pitchFamily="84" charset="0"/>
              </a:rPr>
              <a:t>Files may be copied to devices. To send file to printer:</a:t>
            </a:r>
          </a:p>
          <a:p>
            <a:pPr lvl="1">
              <a:buFont typeface="Monotype Sorts" pitchFamily="84" charset="2"/>
              <a:buNone/>
            </a:pPr>
            <a:r>
              <a:rPr lang="en-US" altLang="en-US" sz="1800" dirty="0">
                <a:solidFill>
                  <a:schemeClr val="tx2"/>
                </a:solidFill>
                <a:latin typeface="Courier" pitchFamily="84" charset="0"/>
              </a:rPr>
              <a:t>			&gt; copy </a:t>
            </a:r>
            <a:r>
              <a:rPr lang="en-US" altLang="en-US" sz="1800" i="1" dirty="0">
                <a:solidFill>
                  <a:schemeClr val="tx2"/>
                </a:solidFill>
              </a:rPr>
              <a:t>file</a:t>
            </a:r>
            <a:r>
              <a:rPr lang="en-US" altLang="en-US" sz="1800" dirty="0">
                <a:solidFill>
                  <a:schemeClr val="tx2"/>
                </a:solidFill>
                <a:latin typeface="Courier" pitchFamily="84" charset="0"/>
              </a:rPr>
              <a:t> lpt1</a:t>
            </a:r>
            <a:endParaRPr lang="en-US" altLang="en-US" sz="1800" dirty="0">
              <a:solidFill>
                <a:schemeClr val="tx2"/>
              </a:solidFill>
              <a:latin typeface="Helvetica" pitchFamily="84" charset="0"/>
            </a:endParaRPr>
          </a:p>
          <a:p>
            <a:pPr lvl="1">
              <a:buFont typeface="Monotype Sorts" pitchFamily="84" charset="2"/>
              <a:buNone/>
            </a:pPr>
            <a:r>
              <a:rPr lang="en-US" altLang="en-US" sz="1800" dirty="0">
                <a:latin typeface="Helvetica" pitchFamily="84" charset="0"/>
              </a:rPr>
              <a:t>	To display file on screen ("console"):	(alternatively: type </a:t>
            </a:r>
            <a:r>
              <a:rPr lang="en-US" altLang="en-US" sz="1800" i="1" dirty="0"/>
              <a:t>file)</a:t>
            </a:r>
            <a:endParaRPr lang="en-US" altLang="en-US" sz="1800" dirty="0">
              <a:latin typeface="Helvetica" pitchFamily="84" charset="0"/>
            </a:endParaRPr>
          </a:p>
          <a:p>
            <a:pPr lvl="1">
              <a:buFont typeface="Monotype Sorts" pitchFamily="84" charset="2"/>
              <a:buNone/>
            </a:pPr>
            <a:r>
              <a:rPr lang="en-US" altLang="en-US" sz="1800" dirty="0">
                <a:solidFill>
                  <a:schemeClr val="tx2"/>
                </a:solidFill>
                <a:latin typeface="Helvetica" pitchFamily="84" charset="0"/>
              </a:rPr>
              <a:t>			&gt;  </a:t>
            </a:r>
            <a:r>
              <a:rPr lang="en-US" altLang="en-US" sz="1800" dirty="0">
                <a:solidFill>
                  <a:schemeClr val="tx2"/>
                </a:solidFill>
                <a:latin typeface="Courier" pitchFamily="84" charset="0"/>
              </a:rPr>
              <a:t>copy </a:t>
            </a:r>
            <a:r>
              <a:rPr lang="en-US" altLang="en-US" sz="1800" i="1" dirty="0">
                <a:solidFill>
                  <a:schemeClr val="tx2"/>
                </a:solidFill>
              </a:rPr>
              <a:t>file</a:t>
            </a:r>
            <a:r>
              <a:rPr lang="en-US" altLang="en-US" sz="1800" dirty="0">
                <a:solidFill>
                  <a:schemeClr val="tx2"/>
                </a:solidFill>
                <a:latin typeface="Courier" pitchFamily="84" charset="0"/>
              </a:rPr>
              <a:t> con</a:t>
            </a:r>
          </a:p>
          <a:p>
            <a:pPr lvl="1">
              <a:buFont typeface="Monotype Sorts" pitchFamily="84" charset="2"/>
              <a:buNone/>
            </a:pPr>
            <a:r>
              <a:rPr lang="en-US" altLang="en-US" sz="1800" dirty="0">
                <a:solidFill>
                  <a:schemeClr val="tx2"/>
                </a:solidFill>
                <a:latin typeface="Helvetica" pitchFamily="84" charset="0"/>
              </a:rPr>
              <a:t>			&gt; </a:t>
            </a:r>
          </a:p>
          <a:p>
            <a:pPr lvl="1">
              <a:buFont typeface="Monotype Sorts" pitchFamily="84" charset="2"/>
              <a:buNone/>
            </a:pPr>
            <a:r>
              <a:rPr lang="en-US" altLang="en-US" sz="1800" dirty="0">
                <a:latin typeface="Helvetica" pitchFamily="84" charset="0"/>
              </a:rPr>
              <a:t>No feedback given after one of these commands; just a prompt &gt;</a:t>
            </a:r>
          </a:p>
          <a:p>
            <a:pPr lvl="1">
              <a:buFont typeface="Monotype Sorts" pitchFamily="84" charset="2"/>
              <a:buNone/>
            </a:pPr>
            <a:r>
              <a:rPr lang="en-US" altLang="en-US" sz="1800" dirty="0">
                <a:latin typeface="Helvetica" pitchFamily="84" charset="0"/>
              </a:rPr>
              <a:t>Equivalent Unix command: </a:t>
            </a:r>
            <a:r>
              <a:rPr lang="en-US" altLang="en-US" sz="1800" dirty="0" err="1">
                <a:solidFill>
                  <a:schemeClr val="tx2"/>
                </a:solidFill>
                <a:latin typeface="Helvetica" pitchFamily="84" charset="0"/>
              </a:rPr>
              <a:t>cp</a:t>
            </a:r>
            <a:endParaRPr lang="en-GB" altLang="en-US" sz="1600" dirty="0"/>
          </a:p>
        </p:txBody>
      </p:sp>
    </p:spTree>
    <p:extLst>
      <p:ext uri="{BB962C8B-B14F-4D97-AF65-F5344CB8AC3E}">
        <p14:creationId xmlns:p14="http://schemas.microsoft.com/office/powerpoint/2010/main" val="4538373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rmAutofit fontScale="90000"/>
          </a:bodyPr>
          <a:lstStyle/>
          <a:p>
            <a:r>
              <a:rPr lang="en-GB" altLang="en-US" sz="3200" b="1" dirty="0"/>
              <a:t>Command </a:t>
            </a:r>
            <a:r>
              <a:rPr lang="en-GB" altLang="en-US" sz="3200" b="1" dirty="0" smtClean="0"/>
              <a:t>interface (Contd.)</a:t>
            </a:r>
            <a:endParaRPr lang="en-US" sz="3200" b="1" dirty="0"/>
          </a:p>
        </p:txBody>
      </p:sp>
      <p:sp>
        <p:nvSpPr>
          <p:cNvPr id="7" name="Content Placeholder 2"/>
          <p:cNvSpPr>
            <a:spLocks noGrp="1"/>
          </p:cNvSpPr>
          <p:nvPr>
            <p:ph idx="1"/>
          </p:nvPr>
        </p:nvSpPr>
        <p:spPr>
          <a:xfrm>
            <a:off x="0" y="457200"/>
            <a:ext cx="9144000" cy="6400800"/>
          </a:xfrm>
        </p:spPr>
        <p:txBody>
          <a:bodyPr>
            <a:normAutofit/>
          </a:bodyPr>
          <a:lstStyle/>
          <a:p>
            <a:pPr>
              <a:lnSpc>
                <a:spcPct val="90000"/>
              </a:lnSpc>
            </a:pPr>
            <a:r>
              <a:rPr lang="en-GB" altLang="en-US" sz="2400" b="1" u="sng" dirty="0" smtClean="0"/>
              <a:t>Disadvantages:</a:t>
            </a:r>
          </a:p>
          <a:p>
            <a:pPr lvl="1"/>
            <a:r>
              <a:rPr lang="en-US" altLang="en-US" sz="2400" dirty="0"/>
              <a:t>The user needs to know exactly where the information is and how it’s organized</a:t>
            </a:r>
          </a:p>
          <a:p>
            <a:pPr lvl="1"/>
            <a:r>
              <a:rPr lang="en-US" altLang="en-US" sz="2400" dirty="0"/>
              <a:t>The user needs to know command syntax</a:t>
            </a:r>
          </a:p>
          <a:p>
            <a:pPr lvl="1"/>
            <a:r>
              <a:rPr lang="en-US" altLang="en-US" sz="2400" dirty="0"/>
              <a:t>No tolerance whatsoever for errors</a:t>
            </a:r>
          </a:p>
          <a:p>
            <a:pPr lvl="1"/>
            <a:r>
              <a:rPr lang="en-US" altLang="en-US" sz="2400" dirty="0"/>
              <a:t>Can be cryptic, especially if little feedback is given</a:t>
            </a:r>
          </a:p>
        </p:txBody>
      </p:sp>
    </p:spTree>
    <p:extLst>
      <p:ext uri="{BB962C8B-B14F-4D97-AF65-F5344CB8AC3E}">
        <p14:creationId xmlns:p14="http://schemas.microsoft.com/office/powerpoint/2010/main" val="22783033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rmAutofit fontScale="90000"/>
          </a:bodyPr>
          <a:lstStyle/>
          <a:p>
            <a:r>
              <a:rPr lang="en-GB" altLang="en-US" sz="3200" b="1" dirty="0"/>
              <a:t>Command </a:t>
            </a:r>
            <a:r>
              <a:rPr lang="en-GB" altLang="en-US" sz="3200" b="1" dirty="0" smtClean="0"/>
              <a:t>interface (Contd.)</a:t>
            </a:r>
            <a:endParaRPr lang="en-US" sz="3200" b="1" dirty="0"/>
          </a:p>
        </p:txBody>
      </p:sp>
      <p:sp>
        <p:nvSpPr>
          <p:cNvPr id="7" name="Content Placeholder 2"/>
          <p:cNvSpPr>
            <a:spLocks noGrp="1"/>
          </p:cNvSpPr>
          <p:nvPr>
            <p:ph idx="1"/>
          </p:nvPr>
        </p:nvSpPr>
        <p:spPr>
          <a:xfrm>
            <a:off x="0" y="457200"/>
            <a:ext cx="9144000" cy="6400800"/>
          </a:xfrm>
        </p:spPr>
        <p:txBody>
          <a:bodyPr>
            <a:normAutofit/>
          </a:bodyPr>
          <a:lstStyle/>
          <a:p>
            <a:pPr>
              <a:lnSpc>
                <a:spcPct val="90000"/>
              </a:lnSpc>
            </a:pPr>
            <a:r>
              <a:rPr lang="en-US" altLang="en-US" sz="2400" b="1" i="1" u="sng" dirty="0" err="1" smtClean="0"/>
              <a:t>Schneiderman</a:t>
            </a:r>
            <a:r>
              <a:rPr lang="en-US" altLang="en-US" sz="2400" b="1" i="1" u="sng" dirty="0"/>
              <a:t>, </a:t>
            </a:r>
            <a:r>
              <a:rPr lang="en-US" altLang="en-US" sz="2400" b="1" i="1" u="sng" dirty="0" smtClean="0"/>
              <a:t>1986</a:t>
            </a:r>
            <a:r>
              <a:rPr lang="en-US" altLang="en-US" sz="2400" b="1" i="1" u="sng" dirty="0"/>
              <a:t>:</a:t>
            </a:r>
            <a:endParaRPr lang="en-US" altLang="en-US" sz="2400" b="1" i="1" u="sng" dirty="0" smtClean="0"/>
          </a:p>
          <a:p>
            <a:pPr lvl="1" algn="ctr">
              <a:buFont typeface="Monotype Sorts" pitchFamily="84" charset="2"/>
              <a:buNone/>
            </a:pPr>
            <a:r>
              <a:rPr lang="en-US" altLang="en-US" sz="2400" dirty="0"/>
              <a:t>“Since computers can display information 1000 times faster than people can enter commands, it seems advantageous to use the computer to display large amounts of information and allow novice and intermittent users simply to choose among the items.”</a:t>
            </a:r>
          </a:p>
          <a:p>
            <a:pPr lvl="1"/>
            <a:endParaRPr lang="en-US" altLang="en-US" sz="2000" dirty="0"/>
          </a:p>
        </p:txBody>
      </p:sp>
    </p:spTree>
    <p:extLst>
      <p:ext uri="{BB962C8B-B14F-4D97-AF65-F5344CB8AC3E}">
        <p14:creationId xmlns:p14="http://schemas.microsoft.com/office/powerpoint/2010/main" val="18778085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rmAutofit fontScale="90000"/>
          </a:bodyPr>
          <a:lstStyle/>
          <a:p>
            <a:r>
              <a:rPr lang="en-US" altLang="en-US" sz="3200" b="1" dirty="0"/>
              <a:t>Menus </a:t>
            </a:r>
            <a:r>
              <a:rPr lang="en-US" altLang="en-US" sz="3200" b="1" dirty="0" smtClean="0"/>
              <a:t>and </a:t>
            </a:r>
            <a:r>
              <a:rPr lang="en-US" altLang="en-US" sz="3200" b="1" dirty="0"/>
              <a:t>W.I.M.P. </a:t>
            </a:r>
            <a:r>
              <a:rPr lang="en-US" altLang="en-US" sz="3200" b="1" dirty="0" smtClean="0"/>
              <a:t>interfaces</a:t>
            </a:r>
            <a:endParaRPr lang="en-US" altLang="en-US" sz="3200" b="1" dirty="0"/>
          </a:p>
        </p:txBody>
      </p:sp>
      <p:sp>
        <p:nvSpPr>
          <p:cNvPr id="7" name="Content Placeholder 2"/>
          <p:cNvSpPr>
            <a:spLocks noGrp="1"/>
          </p:cNvSpPr>
          <p:nvPr>
            <p:ph idx="1"/>
          </p:nvPr>
        </p:nvSpPr>
        <p:spPr>
          <a:xfrm>
            <a:off x="0" y="457200"/>
            <a:ext cx="9144000" cy="6400800"/>
          </a:xfrm>
        </p:spPr>
        <p:txBody>
          <a:bodyPr>
            <a:normAutofit/>
          </a:bodyPr>
          <a:lstStyle/>
          <a:p>
            <a:r>
              <a:rPr lang="en-US" altLang="en-US" sz="2800" dirty="0"/>
              <a:t>Users are given predetermined choices</a:t>
            </a:r>
          </a:p>
          <a:p>
            <a:r>
              <a:rPr lang="en-US" altLang="en-US" sz="2800" dirty="0"/>
              <a:t>Are often part of </a:t>
            </a:r>
            <a:r>
              <a:rPr lang="en-US" altLang="en-US" sz="2800" dirty="0" smtClean="0"/>
              <a:t>a </a:t>
            </a:r>
            <a:r>
              <a:rPr lang="en-US" altLang="en-US" dirty="0" smtClean="0">
                <a:solidFill>
                  <a:schemeClr val="tx2"/>
                </a:solidFill>
              </a:rPr>
              <a:t>WIMP</a:t>
            </a:r>
            <a:r>
              <a:rPr lang="en-US" altLang="en-US" dirty="0" smtClean="0"/>
              <a:t> </a:t>
            </a:r>
            <a:r>
              <a:rPr lang="en-US" altLang="en-US" dirty="0"/>
              <a:t>interface (point &amp; click) </a:t>
            </a:r>
          </a:p>
          <a:p>
            <a:pPr lvl="2"/>
            <a:r>
              <a:rPr lang="en-US" altLang="en-US" sz="2800" dirty="0">
                <a:solidFill>
                  <a:schemeClr val="tx2"/>
                </a:solidFill>
              </a:rPr>
              <a:t>W</a:t>
            </a:r>
            <a:r>
              <a:rPr lang="en-US" altLang="en-US" sz="2800" dirty="0"/>
              <a:t>indows and window managers</a:t>
            </a:r>
          </a:p>
          <a:p>
            <a:pPr lvl="2"/>
            <a:r>
              <a:rPr lang="en-US" altLang="en-US" sz="2800" dirty="0">
                <a:solidFill>
                  <a:schemeClr val="tx2"/>
                </a:solidFill>
              </a:rPr>
              <a:t>I</a:t>
            </a:r>
            <a:r>
              <a:rPr lang="en-US" altLang="en-US" sz="2800" dirty="0"/>
              <a:t>cons</a:t>
            </a:r>
          </a:p>
          <a:p>
            <a:pPr lvl="2"/>
            <a:r>
              <a:rPr lang="en-US" altLang="en-US" sz="2800" dirty="0">
                <a:solidFill>
                  <a:schemeClr val="tx2"/>
                </a:solidFill>
              </a:rPr>
              <a:t>M</a:t>
            </a:r>
            <a:r>
              <a:rPr lang="en-US" altLang="en-US" sz="2800" dirty="0"/>
              <a:t>enus</a:t>
            </a:r>
          </a:p>
          <a:p>
            <a:pPr lvl="2"/>
            <a:r>
              <a:rPr lang="en-US" altLang="en-US" sz="2800" dirty="0">
                <a:solidFill>
                  <a:schemeClr val="tx2"/>
                </a:solidFill>
              </a:rPr>
              <a:t>P</a:t>
            </a:r>
            <a:r>
              <a:rPr lang="en-US" altLang="en-US" sz="2800" dirty="0"/>
              <a:t>ointing </a:t>
            </a:r>
            <a:r>
              <a:rPr lang="en-US" altLang="en-US" sz="2800" dirty="0" smtClean="0"/>
              <a:t>devices</a:t>
            </a:r>
          </a:p>
          <a:p>
            <a:r>
              <a:rPr lang="en-US" altLang="en-US" sz="2800" dirty="0"/>
              <a:t>enforce a hierarchy on the user’s goals</a:t>
            </a:r>
          </a:p>
          <a:p>
            <a:r>
              <a:rPr lang="en-US" altLang="en-US" sz="2800" dirty="0"/>
              <a:t>represent well-trodden paths - you can do only what the designer envisioned</a:t>
            </a:r>
          </a:p>
          <a:p>
            <a:r>
              <a:rPr lang="en-US" altLang="en-US" sz="2800" dirty="0"/>
              <a:t>You cannot filter and combine the world in novel ways</a:t>
            </a:r>
          </a:p>
          <a:p>
            <a:endParaRPr lang="en-US" altLang="en-US" sz="3600" dirty="0"/>
          </a:p>
        </p:txBody>
      </p:sp>
    </p:spTree>
    <p:extLst>
      <p:ext uri="{BB962C8B-B14F-4D97-AF65-F5344CB8AC3E}">
        <p14:creationId xmlns:p14="http://schemas.microsoft.com/office/powerpoint/2010/main" val="36048352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rmAutofit fontScale="90000"/>
          </a:bodyPr>
          <a:lstStyle/>
          <a:p>
            <a:r>
              <a:rPr lang="en-US" altLang="en-US" sz="3200" b="1" dirty="0"/>
              <a:t>Menus </a:t>
            </a:r>
            <a:r>
              <a:rPr lang="en-US" altLang="en-US" sz="3200" b="1" dirty="0" smtClean="0"/>
              <a:t>and </a:t>
            </a:r>
            <a:r>
              <a:rPr lang="en-US" altLang="en-US" sz="3200" b="1" dirty="0"/>
              <a:t>W.I.M.P. </a:t>
            </a:r>
            <a:r>
              <a:rPr lang="en-US" altLang="en-US" sz="3200" b="1" dirty="0" smtClean="0"/>
              <a:t>interfaces (Contd.)</a:t>
            </a:r>
            <a:endParaRPr lang="en-US" altLang="en-US" sz="3200" b="1" dirty="0"/>
          </a:p>
        </p:txBody>
      </p:sp>
      <p:sp>
        <p:nvSpPr>
          <p:cNvPr id="7" name="Content Placeholder 2"/>
          <p:cNvSpPr>
            <a:spLocks noGrp="1"/>
          </p:cNvSpPr>
          <p:nvPr>
            <p:ph idx="1"/>
          </p:nvPr>
        </p:nvSpPr>
        <p:spPr>
          <a:xfrm>
            <a:off x="0" y="457200"/>
            <a:ext cx="9144000" cy="6400800"/>
          </a:xfrm>
        </p:spPr>
        <p:txBody>
          <a:bodyPr>
            <a:normAutofit/>
          </a:bodyPr>
          <a:lstStyle/>
          <a:p>
            <a:r>
              <a:rPr lang="en-US" altLang="en-US" sz="2800" b="1" u="sng" dirty="0"/>
              <a:t>Decisions in menu </a:t>
            </a:r>
            <a:r>
              <a:rPr lang="en-US" altLang="en-US" sz="2800" b="1" u="sng" dirty="0" smtClean="0"/>
              <a:t>design</a:t>
            </a:r>
          </a:p>
          <a:p>
            <a:pPr lvl="1"/>
            <a:r>
              <a:rPr lang="en-US" altLang="en-US" dirty="0"/>
              <a:t>What is the task hierarchy?</a:t>
            </a:r>
          </a:p>
          <a:p>
            <a:pPr lvl="1"/>
            <a:r>
              <a:rPr lang="en-US" altLang="en-US" dirty="0"/>
              <a:t>How to order or group items?</a:t>
            </a:r>
          </a:p>
          <a:p>
            <a:pPr lvl="1"/>
            <a:r>
              <a:rPr lang="en-US" altLang="en-US" dirty="0"/>
              <a:t>How to trade off depth vs. breadth?</a:t>
            </a:r>
          </a:p>
          <a:p>
            <a:pPr lvl="1"/>
            <a:r>
              <a:rPr lang="en-US" altLang="en-US" dirty="0"/>
              <a:t>What labels to choose?</a:t>
            </a:r>
          </a:p>
          <a:p>
            <a:pPr lvl="1"/>
            <a:r>
              <a:rPr lang="en-US" altLang="en-US" dirty="0"/>
              <a:t>Whether to include shortcuts?</a:t>
            </a:r>
          </a:p>
          <a:p>
            <a:pPr marL="0" indent="0">
              <a:buNone/>
            </a:pPr>
            <a:endParaRPr lang="en-US" altLang="en-US" sz="3600" dirty="0"/>
          </a:p>
        </p:txBody>
      </p:sp>
    </p:spTree>
    <p:extLst>
      <p:ext uri="{BB962C8B-B14F-4D97-AF65-F5344CB8AC3E}">
        <p14:creationId xmlns:p14="http://schemas.microsoft.com/office/powerpoint/2010/main" val="2780783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rmAutofit fontScale="90000"/>
          </a:bodyPr>
          <a:lstStyle/>
          <a:p>
            <a:r>
              <a:rPr lang="en-US" altLang="en-US" sz="3200" b="1" dirty="0"/>
              <a:t>Menus </a:t>
            </a:r>
            <a:r>
              <a:rPr lang="en-US" altLang="en-US" sz="3200" b="1" dirty="0" smtClean="0"/>
              <a:t>and </a:t>
            </a:r>
            <a:r>
              <a:rPr lang="en-US" altLang="en-US" sz="3200" b="1" dirty="0"/>
              <a:t>W.I.M.P. </a:t>
            </a:r>
            <a:r>
              <a:rPr lang="en-US" altLang="en-US" sz="3200" b="1" dirty="0" smtClean="0"/>
              <a:t>interfaces (Contd.)</a:t>
            </a:r>
            <a:endParaRPr lang="en-US" altLang="en-US" sz="3200" b="1" dirty="0"/>
          </a:p>
        </p:txBody>
      </p:sp>
      <p:sp>
        <p:nvSpPr>
          <p:cNvPr id="7" name="Content Placeholder 2"/>
          <p:cNvSpPr>
            <a:spLocks noGrp="1"/>
          </p:cNvSpPr>
          <p:nvPr>
            <p:ph idx="1"/>
          </p:nvPr>
        </p:nvSpPr>
        <p:spPr>
          <a:xfrm>
            <a:off x="0" y="457200"/>
            <a:ext cx="9144000" cy="6400800"/>
          </a:xfrm>
        </p:spPr>
        <p:txBody>
          <a:bodyPr>
            <a:normAutofit/>
          </a:bodyPr>
          <a:lstStyle/>
          <a:p>
            <a:r>
              <a:rPr lang="en-US" altLang="en-US" sz="2800" b="1" u="sng" dirty="0" smtClean="0"/>
              <a:t>Menu Types</a:t>
            </a:r>
          </a:p>
          <a:p>
            <a:pPr lvl="1"/>
            <a:r>
              <a:rPr lang="en-US" altLang="en-US" dirty="0"/>
              <a:t>Permanent</a:t>
            </a:r>
          </a:p>
          <a:p>
            <a:pPr lvl="1"/>
            <a:r>
              <a:rPr lang="en-US" altLang="en-US" dirty="0" smtClean="0"/>
              <a:t>Pull-down</a:t>
            </a:r>
            <a:endParaRPr lang="en-US" altLang="en-US" dirty="0"/>
          </a:p>
          <a:p>
            <a:pPr lvl="1"/>
            <a:r>
              <a:rPr lang="en-US" altLang="en-US" dirty="0" smtClean="0"/>
              <a:t>Pop-up</a:t>
            </a:r>
          </a:p>
          <a:p>
            <a:pPr lvl="1"/>
            <a:r>
              <a:rPr lang="en-US" altLang="en-US" dirty="0"/>
              <a:t>Binary </a:t>
            </a:r>
          </a:p>
          <a:p>
            <a:pPr lvl="1"/>
            <a:r>
              <a:rPr lang="en-US" altLang="en-US" dirty="0"/>
              <a:t>Extended</a:t>
            </a:r>
          </a:p>
          <a:p>
            <a:pPr lvl="1"/>
            <a:r>
              <a:rPr lang="en-US" altLang="en-US" dirty="0"/>
              <a:t>Multiple selection</a:t>
            </a:r>
          </a:p>
          <a:p>
            <a:pPr lvl="1"/>
            <a:r>
              <a:rPr lang="en-US" altLang="en-US" dirty="0"/>
              <a:t>Radio buttons</a:t>
            </a:r>
          </a:p>
          <a:p>
            <a:pPr marL="457200" lvl="1" indent="0">
              <a:buNone/>
            </a:pPr>
            <a:endParaRPr lang="en-US" altLang="en-US" dirty="0"/>
          </a:p>
          <a:p>
            <a:endParaRPr lang="en-US" altLang="en-US" dirty="0"/>
          </a:p>
          <a:p>
            <a:endParaRPr lang="en-US" altLang="en-US" dirty="0"/>
          </a:p>
          <a:p>
            <a:pPr>
              <a:buFont typeface="Monotype Sorts" pitchFamily="84" charset="2"/>
              <a:buNone/>
            </a:pPr>
            <a:endParaRPr lang="en-US" altLang="en-US" dirty="0"/>
          </a:p>
          <a:p>
            <a:endParaRPr lang="en-US" altLang="en-US" dirty="0"/>
          </a:p>
          <a:p>
            <a:pPr marL="0" indent="0">
              <a:buNone/>
            </a:pPr>
            <a:endParaRPr lang="en-US" altLang="en-US" sz="3600" dirty="0"/>
          </a:p>
        </p:txBody>
      </p:sp>
    </p:spTree>
    <p:extLst>
      <p:ext uri="{BB962C8B-B14F-4D97-AF65-F5344CB8AC3E}">
        <p14:creationId xmlns:p14="http://schemas.microsoft.com/office/powerpoint/2010/main" val="19593672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rmAutofit fontScale="90000"/>
          </a:bodyPr>
          <a:lstStyle/>
          <a:p>
            <a:r>
              <a:rPr lang="en-US" altLang="en-US" sz="3200" b="1" dirty="0" smtClean="0"/>
              <a:t>Direct Manipulation Interfaces</a:t>
            </a:r>
            <a:endParaRPr lang="en-US" altLang="en-US" sz="3200" b="1" dirty="0"/>
          </a:p>
        </p:txBody>
      </p:sp>
      <p:sp>
        <p:nvSpPr>
          <p:cNvPr id="7" name="Content Placeholder 2"/>
          <p:cNvSpPr>
            <a:spLocks noGrp="1"/>
          </p:cNvSpPr>
          <p:nvPr>
            <p:ph idx="1"/>
          </p:nvPr>
        </p:nvSpPr>
        <p:spPr>
          <a:xfrm>
            <a:off x="0" y="457200"/>
            <a:ext cx="9144000" cy="6400800"/>
          </a:xfrm>
        </p:spPr>
        <p:txBody>
          <a:bodyPr>
            <a:normAutofit fontScale="92500" lnSpcReduction="10000"/>
          </a:bodyPr>
          <a:lstStyle/>
          <a:p>
            <a:r>
              <a:rPr lang="en-US" altLang="en-US" sz="2800" dirty="0"/>
              <a:t>Representations behave as if they were the objects they represent.</a:t>
            </a:r>
          </a:p>
          <a:p>
            <a:r>
              <a:rPr lang="en-US" altLang="en-US" sz="2800" dirty="0"/>
              <a:t>This reduces the distance between users and their goals.  </a:t>
            </a:r>
            <a:endParaRPr lang="en-US" altLang="en-US" sz="2800" dirty="0" smtClean="0"/>
          </a:p>
          <a:p>
            <a:pPr>
              <a:lnSpc>
                <a:spcPct val="90000"/>
              </a:lnSpc>
            </a:pPr>
            <a:r>
              <a:rPr lang="en-GB" altLang="en-US" sz="2800" dirty="0"/>
              <a:t>Involves dragging, selecting, opening, closing and zooming actions on virtual objects </a:t>
            </a:r>
          </a:p>
          <a:p>
            <a:pPr>
              <a:lnSpc>
                <a:spcPct val="90000"/>
              </a:lnSpc>
            </a:pPr>
            <a:r>
              <a:rPr lang="en-GB" altLang="en-US" sz="2800" dirty="0"/>
              <a:t>Exploit’s users’ knowledge of how objects behave in the physical world (various metaphors)</a:t>
            </a:r>
          </a:p>
          <a:p>
            <a:pPr>
              <a:lnSpc>
                <a:spcPct val="90000"/>
              </a:lnSpc>
            </a:pPr>
            <a:r>
              <a:rPr lang="en-GB" altLang="en-US" sz="2800" dirty="0"/>
              <a:t>Consistent with “what you see is what you get” (WYSIWYG)</a:t>
            </a:r>
            <a:endParaRPr lang="en-US" altLang="en-US" sz="2800" dirty="0"/>
          </a:p>
          <a:p>
            <a:r>
              <a:rPr lang="en-US" altLang="en-US" sz="2800" dirty="0"/>
              <a:t>continuous representation of the objects of interest</a:t>
            </a:r>
          </a:p>
          <a:p>
            <a:r>
              <a:rPr lang="en-US" altLang="en-US" sz="2800" dirty="0" smtClean="0"/>
              <a:t>Example: </a:t>
            </a:r>
            <a:r>
              <a:rPr lang="en-US" altLang="en-US" sz="2800" b="1" dirty="0"/>
              <a:t>physical actions, not complex syntax</a:t>
            </a:r>
          </a:p>
          <a:p>
            <a:pPr>
              <a:buFont typeface="Monotype Sorts" pitchFamily="84" charset="2"/>
              <a:buNone/>
            </a:pPr>
            <a:r>
              <a:rPr lang="en-US" altLang="en-US" sz="2800" i="1" dirty="0"/>
              <a:t>	Example: </a:t>
            </a:r>
            <a:r>
              <a:rPr lang="en-US" altLang="en-US" sz="2800" i="1" dirty="0" smtClean="0"/>
              <a:t>copying a file to a diskette:</a:t>
            </a:r>
          </a:p>
          <a:p>
            <a:pPr>
              <a:buFont typeface="Monotype Sorts" pitchFamily="84" charset="2"/>
              <a:buNone/>
            </a:pPr>
            <a:r>
              <a:rPr lang="en-US" altLang="en-US" sz="2800" dirty="0" smtClean="0"/>
              <a:t>			&gt; copy file.txt to b:\file.txt </a:t>
            </a:r>
          </a:p>
          <a:p>
            <a:pPr>
              <a:buFont typeface="Monotype Sorts" pitchFamily="84" charset="2"/>
              <a:buNone/>
            </a:pPr>
            <a:r>
              <a:rPr lang="en-US" altLang="en-US" sz="2800" dirty="0" smtClean="0"/>
              <a:t>				</a:t>
            </a:r>
            <a:r>
              <a:rPr lang="en-US" altLang="en-US" sz="2800" i="1" dirty="0" smtClean="0"/>
              <a:t>versus</a:t>
            </a:r>
          </a:p>
          <a:p>
            <a:pPr>
              <a:buFont typeface="Monotype Sorts" pitchFamily="84" charset="2"/>
              <a:buNone/>
            </a:pPr>
            <a:r>
              <a:rPr lang="en-US" altLang="en-US" sz="2800" i="1" dirty="0" smtClean="0"/>
              <a:t>			dragging a file icon to a diskette icon</a:t>
            </a:r>
          </a:p>
          <a:p>
            <a:pPr>
              <a:buFont typeface="Monotype Sorts" pitchFamily="84" charset="2"/>
              <a:buNone/>
            </a:pPr>
            <a:r>
              <a:rPr lang="en-US" altLang="en-US" sz="2800" i="1" dirty="0"/>
              <a:t>				(move vs. copy confusion)</a:t>
            </a:r>
            <a:endParaRPr lang="en-US" altLang="en-US" sz="2800" dirty="0"/>
          </a:p>
          <a:p>
            <a:endParaRPr lang="en-US" altLang="en-US" sz="2800" dirty="0"/>
          </a:p>
          <a:p>
            <a:endParaRPr lang="en-US" altLang="en-US" dirty="0"/>
          </a:p>
          <a:p>
            <a:endParaRPr lang="en-US" altLang="en-US" dirty="0"/>
          </a:p>
          <a:p>
            <a:pPr>
              <a:buFont typeface="Monotype Sorts" pitchFamily="84" charset="2"/>
              <a:buNone/>
            </a:pPr>
            <a:endParaRPr lang="en-US" altLang="en-US" dirty="0"/>
          </a:p>
          <a:p>
            <a:endParaRPr lang="en-US" altLang="en-US" dirty="0"/>
          </a:p>
          <a:p>
            <a:pPr marL="0" indent="0">
              <a:buNone/>
            </a:pPr>
            <a:endParaRPr lang="en-US" altLang="en-US" sz="3600" dirty="0"/>
          </a:p>
        </p:txBody>
      </p:sp>
    </p:spTree>
    <p:extLst>
      <p:ext uri="{BB962C8B-B14F-4D97-AF65-F5344CB8AC3E}">
        <p14:creationId xmlns:p14="http://schemas.microsoft.com/office/powerpoint/2010/main" val="8454171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rmAutofit fontScale="90000"/>
          </a:bodyPr>
          <a:lstStyle/>
          <a:p>
            <a:r>
              <a:rPr lang="en-US" altLang="en-US" sz="3200" b="1" dirty="0" smtClean="0"/>
              <a:t>Direct Manipulation Interfaces (Contd.)</a:t>
            </a:r>
            <a:endParaRPr lang="en-US" altLang="en-US" sz="3200" b="1" dirty="0"/>
          </a:p>
        </p:txBody>
      </p:sp>
      <p:sp>
        <p:nvSpPr>
          <p:cNvPr id="7" name="Content Placeholder 2"/>
          <p:cNvSpPr>
            <a:spLocks noGrp="1"/>
          </p:cNvSpPr>
          <p:nvPr>
            <p:ph idx="1"/>
          </p:nvPr>
        </p:nvSpPr>
        <p:spPr>
          <a:xfrm>
            <a:off x="0" y="457200"/>
            <a:ext cx="9144000" cy="6400800"/>
          </a:xfrm>
        </p:spPr>
        <p:txBody>
          <a:bodyPr>
            <a:normAutofit/>
          </a:bodyPr>
          <a:lstStyle/>
          <a:p>
            <a:r>
              <a:rPr lang="en-US" altLang="en-US" dirty="0"/>
              <a:t>continuous representation of the objects of interest</a:t>
            </a:r>
          </a:p>
          <a:p>
            <a:r>
              <a:rPr lang="en-US" altLang="en-US" dirty="0"/>
              <a:t>physical actions, not complex syntax</a:t>
            </a:r>
          </a:p>
          <a:p>
            <a:r>
              <a:rPr lang="en-US" altLang="en-US" dirty="0"/>
              <a:t>rapid, incremental, reversible operations with immediate visual feedback</a:t>
            </a:r>
          </a:p>
          <a:p>
            <a:r>
              <a:rPr lang="en-US" altLang="en-US" dirty="0"/>
              <a:t>easy to learn, easy to remember</a:t>
            </a:r>
          </a:p>
          <a:p>
            <a:r>
              <a:rPr lang="en-US" altLang="en-US" dirty="0"/>
              <a:t>can operate upon output representation and use it as input back to the system</a:t>
            </a:r>
          </a:p>
          <a:p>
            <a:endParaRPr lang="en-US" altLang="en-US" dirty="0"/>
          </a:p>
          <a:p>
            <a:endParaRPr lang="en-US" altLang="en-US" dirty="0"/>
          </a:p>
          <a:p>
            <a:pPr>
              <a:buFont typeface="Monotype Sorts" pitchFamily="84" charset="2"/>
              <a:buNone/>
            </a:pPr>
            <a:endParaRPr lang="en-US" altLang="en-US" dirty="0"/>
          </a:p>
          <a:p>
            <a:endParaRPr lang="en-US" altLang="en-US" dirty="0"/>
          </a:p>
          <a:p>
            <a:pPr marL="0" indent="0">
              <a:buNone/>
            </a:pPr>
            <a:endParaRPr lang="en-US" altLang="en-US" sz="3600" dirty="0"/>
          </a:p>
        </p:txBody>
      </p:sp>
    </p:spTree>
    <p:extLst>
      <p:ext uri="{BB962C8B-B14F-4D97-AF65-F5344CB8AC3E}">
        <p14:creationId xmlns:p14="http://schemas.microsoft.com/office/powerpoint/2010/main" val="4567798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rmAutofit fontScale="90000"/>
          </a:bodyPr>
          <a:lstStyle/>
          <a:p>
            <a:r>
              <a:rPr lang="en-US" altLang="en-US" sz="3200" b="1" dirty="0" smtClean="0"/>
              <a:t>Direct Manipulation Interfaces (Contd.)</a:t>
            </a:r>
            <a:endParaRPr lang="en-US" altLang="en-US" sz="3200" b="1" dirty="0"/>
          </a:p>
        </p:txBody>
      </p:sp>
      <p:sp>
        <p:nvSpPr>
          <p:cNvPr id="7" name="Content Placeholder 2"/>
          <p:cNvSpPr>
            <a:spLocks noGrp="1"/>
          </p:cNvSpPr>
          <p:nvPr>
            <p:ph idx="1"/>
          </p:nvPr>
        </p:nvSpPr>
        <p:spPr>
          <a:xfrm>
            <a:off x="0" y="457200"/>
            <a:ext cx="9144000" cy="6400800"/>
          </a:xfrm>
        </p:spPr>
        <p:txBody>
          <a:bodyPr>
            <a:normAutofit/>
          </a:bodyPr>
          <a:lstStyle/>
          <a:p>
            <a:r>
              <a:rPr lang="en-US" altLang="en-US" sz="2400" b="1" u="sng" dirty="0" smtClean="0"/>
              <a:t>Advantages:</a:t>
            </a:r>
          </a:p>
          <a:p>
            <a:pPr lvl="1"/>
            <a:r>
              <a:rPr lang="en-GB" altLang="en-US" sz="2400" dirty="0"/>
              <a:t>Novices can learn the basic functionality quickly</a:t>
            </a:r>
          </a:p>
          <a:p>
            <a:pPr lvl="1"/>
            <a:r>
              <a:rPr lang="en-GB" altLang="en-US" sz="2400" dirty="0"/>
              <a:t>Experienced users can work extremely rapidly to carry out a wide range of tasks, even defining new functions </a:t>
            </a:r>
          </a:p>
          <a:p>
            <a:pPr lvl="1"/>
            <a:r>
              <a:rPr lang="en-GB" altLang="en-US" sz="2400" dirty="0"/>
              <a:t>Intermittent users can retain operational concepts over time</a:t>
            </a:r>
          </a:p>
          <a:p>
            <a:pPr lvl="1"/>
            <a:r>
              <a:rPr lang="en-GB" altLang="en-US" sz="2400" dirty="0"/>
              <a:t>Error messages are rarely encountered</a:t>
            </a:r>
          </a:p>
          <a:p>
            <a:pPr lvl="1"/>
            <a:r>
              <a:rPr lang="en-GB" altLang="en-US" sz="2400" dirty="0">
                <a:solidFill>
                  <a:schemeClr val="tx2"/>
                </a:solidFill>
              </a:rPr>
              <a:t>Users can immediately see if their actions are furthering their goals and if not, do something else</a:t>
            </a:r>
            <a:endParaRPr lang="en-GB" altLang="en-US" sz="2400" dirty="0"/>
          </a:p>
          <a:p>
            <a:pPr lvl="1"/>
            <a:r>
              <a:rPr lang="en-GB" altLang="en-US" sz="2400" dirty="0"/>
              <a:t>Users experience less anxiety</a:t>
            </a:r>
          </a:p>
          <a:p>
            <a:pPr lvl="1"/>
            <a:r>
              <a:rPr lang="en-GB" altLang="en-US" sz="2400" dirty="0"/>
              <a:t>Users gain confidence and mastery and feel in control</a:t>
            </a:r>
            <a:endParaRPr lang="en-US" altLang="en-US" sz="2400" dirty="0"/>
          </a:p>
          <a:p>
            <a:pPr lvl="1"/>
            <a:endParaRPr lang="en-US" altLang="en-US" sz="3200" dirty="0"/>
          </a:p>
          <a:p>
            <a:endParaRPr lang="en-US" altLang="en-US" dirty="0"/>
          </a:p>
          <a:p>
            <a:pPr>
              <a:buFont typeface="Monotype Sorts" pitchFamily="84" charset="2"/>
              <a:buNone/>
            </a:pPr>
            <a:endParaRPr lang="en-US" altLang="en-US" dirty="0"/>
          </a:p>
          <a:p>
            <a:endParaRPr lang="en-US" altLang="en-US" dirty="0"/>
          </a:p>
          <a:p>
            <a:pPr marL="0" indent="0">
              <a:buNone/>
            </a:pPr>
            <a:endParaRPr lang="en-US" altLang="en-US" sz="3600" dirty="0"/>
          </a:p>
        </p:txBody>
      </p:sp>
    </p:spTree>
    <p:extLst>
      <p:ext uri="{BB962C8B-B14F-4D97-AF65-F5344CB8AC3E}">
        <p14:creationId xmlns:p14="http://schemas.microsoft.com/office/powerpoint/2010/main" val="95405799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rmAutofit fontScale="90000"/>
          </a:bodyPr>
          <a:lstStyle/>
          <a:p>
            <a:r>
              <a:rPr lang="en-US" altLang="en-US" sz="3200" b="1" dirty="0" smtClean="0"/>
              <a:t>Direct Manipulation Interfaces (Contd.)</a:t>
            </a:r>
            <a:endParaRPr lang="en-US" altLang="en-US" sz="3200" b="1" dirty="0"/>
          </a:p>
        </p:txBody>
      </p:sp>
      <p:sp>
        <p:nvSpPr>
          <p:cNvPr id="7" name="Content Placeholder 2"/>
          <p:cNvSpPr>
            <a:spLocks noGrp="1"/>
          </p:cNvSpPr>
          <p:nvPr>
            <p:ph idx="1"/>
          </p:nvPr>
        </p:nvSpPr>
        <p:spPr>
          <a:xfrm>
            <a:off x="0" y="457200"/>
            <a:ext cx="9144000" cy="6400800"/>
          </a:xfrm>
        </p:spPr>
        <p:txBody>
          <a:bodyPr>
            <a:normAutofit/>
          </a:bodyPr>
          <a:lstStyle/>
          <a:p>
            <a:r>
              <a:rPr lang="en-US" altLang="en-US" sz="2400" b="1" u="sng" dirty="0" smtClean="0"/>
              <a:t>Disadvantages:</a:t>
            </a:r>
          </a:p>
          <a:p>
            <a:pPr lvl="1"/>
            <a:r>
              <a:rPr lang="en-US" altLang="en-US" sz="2400" dirty="0"/>
              <a:t>Sometimes: information overload or screen clutter</a:t>
            </a:r>
          </a:p>
          <a:p>
            <a:pPr lvl="1"/>
            <a:r>
              <a:rPr lang="en-GB" altLang="en-US" sz="2400" dirty="0"/>
              <a:t>Not all tasks can be represented by objects</a:t>
            </a:r>
          </a:p>
          <a:p>
            <a:pPr lvl="2"/>
            <a:r>
              <a:rPr lang="en-US" altLang="en-US" sz="1800" dirty="0"/>
              <a:t>it’s hard to represent abstract things</a:t>
            </a:r>
          </a:p>
          <a:p>
            <a:pPr lvl="2"/>
            <a:r>
              <a:rPr lang="en-US" altLang="en-US" sz="1800" dirty="0"/>
              <a:t>DM must function in the “here” and “now”</a:t>
            </a:r>
          </a:p>
          <a:p>
            <a:pPr lvl="2"/>
            <a:r>
              <a:rPr lang="en-US" altLang="en-US" sz="1800" dirty="0"/>
              <a:t>icons can be just as cryptic as words </a:t>
            </a:r>
            <a:r>
              <a:rPr lang="en-US" altLang="en-US" sz="1800" i="1" dirty="0"/>
              <a:t>(the Vocabulary Problem: stay tuned)</a:t>
            </a:r>
            <a:endParaRPr lang="en-GB" altLang="en-US" sz="1800" dirty="0"/>
          </a:p>
          <a:p>
            <a:pPr lvl="1"/>
            <a:r>
              <a:rPr lang="en-US" altLang="en-US" sz="2400" dirty="0"/>
              <a:t>With DM, user is responsible for doing everything; but s</a:t>
            </a:r>
            <a:r>
              <a:rPr lang="en-GB" altLang="en-US" sz="2400" dirty="0" err="1"/>
              <a:t>ome</a:t>
            </a:r>
            <a:r>
              <a:rPr lang="en-GB" altLang="en-US" sz="2400" dirty="0"/>
              <a:t> tasks are better achieved by delegating!</a:t>
            </a:r>
          </a:p>
          <a:p>
            <a:pPr lvl="2"/>
            <a:r>
              <a:rPr lang="en-GB" altLang="en-US" sz="1800" dirty="0"/>
              <a:t>e.g. spell checking</a:t>
            </a:r>
            <a:endParaRPr lang="en-US" altLang="en-US" sz="1800" dirty="0"/>
          </a:p>
          <a:p>
            <a:pPr lvl="2"/>
            <a:r>
              <a:rPr lang="en-US" altLang="en-US" sz="1800" dirty="0"/>
              <a:t>repetitive actions are tedious!</a:t>
            </a:r>
          </a:p>
          <a:p>
            <a:pPr lvl="2"/>
            <a:r>
              <a:rPr lang="en-GB" altLang="en-US" sz="1800" dirty="0"/>
              <a:t>Moving a mouse around the screen can be slower than pressing function keys to do same actions</a:t>
            </a:r>
          </a:p>
          <a:p>
            <a:pPr lvl="1"/>
            <a:r>
              <a:rPr lang="en-GB" altLang="en-US" sz="2400" dirty="0"/>
              <a:t>Some DM metaphors are taken too literally</a:t>
            </a:r>
            <a:endParaRPr lang="en-US" altLang="en-US" sz="2400" dirty="0"/>
          </a:p>
          <a:p>
            <a:pPr lvl="1"/>
            <a:endParaRPr lang="en-US" altLang="en-US" sz="3200" dirty="0"/>
          </a:p>
          <a:p>
            <a:endParaRPr lang="en-US" altLang="en-US" dirty="0"/>
          </a:p>
          <a:p>
            <a:pPr>
              <a:buFont typeface="Monotype Sorts" pitchFamily="84" charset="2"/>
              <a:buNone/>
            </a:pPr>
            <a:endParaRPr lang="en-US" altLang="en-US" dirty="0"/>
          </a:p>
          <a:p>
            <a:endParaRPr lang="en-US" altLang="en-US" dirty="0"/>
          </a:p>
          <a:p>
            <a:pPr marL="0" indent="0">
              <a:buNone/>
            </a:pPr>
            <a:endParaRPr lang="en-US" altLang="en-US" sz="3600" dirty="0"/>
          </a:p>
        </p:txBody>
      </p:sp>
    </p:spTree>
    <p:extLst>
      <p:ext uri="{BB962C8B-B14F-4D97-AF65-F5344CB8AC3E}">
        <p14:creationId xmlns:p14="http://schemas.microsoft.com/office/powerpoint/2010/main" val="10000634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rmAutofit fontScale="90000"/>
          </a:bodyPr>
          <a:lstStyle/>
          <a:p>
            <a:r>
              <a:rPr lang="en-US" altLang="en-US" sz="3200" b="1" dirty="0" smtClean="0"/>
              <a:t>Conversation</a:t>
            </a:r>
            <a:endParaRPr lang="en-US" altLang="en-US" sz="3200" b="1" dirty="0"/>
          </a:p>
        </p:txBody>
      </p:sp>
      <p:sp>
        <p:nvSpPr>
          <p:cNvPr id="7" name="Content Placeholder 2"/>
          <p:cNvSpPr>
            <a:spLocks noGrp="1"/>
          </p:cNvSpPr>
          <p:nvPr>
            <p:ph idx="1"/>
          </p:nvPr>
        </p:nvSpPr>
        <p:spPr>
          <a:xfrm>
            <a:off x="0" y="457200"/>
            <a:ext cx="9144000" cy="6400800"/>
          </a:xfrm>
        </p:spPr>
        <p:txBody>
          <a:bodyPr>
            <a:normAutofit/>
          </a:bodyPr>
          <a:lstStyle/>
          <a:p>
            <a:r>
              <a:rPr lang="en-GB" altLang="en-US" sz="2400" b="1" dirty="0"/>
              <a:t>Dialogue </a:t>
            </a:r>
            <a:r>
              <a:rPr lang="en-GB" altLang="en-US" sz="2400" b="1" dirty="0" smtClean="0"/>
              <a:t>systems:</a:t>
            </a:r>
          </a:p>
          <a:p>
            <a:pPr lvl="1">
              <a:lnSpc>
                <a:spcPct val="90000"/>
              </a:lnSpc>
            </a:pPr>
            <a:r>
              <a:rPr lang="en-GB" altLang="en-US" sz="2400" dirty="0"/>
              <a:t>May take initiative</a:t>
            </a:r>
          </a:p>
          <a:p>
            <a:pPr lvl="1">
              <a:lnSpc>
                <a:spcPct val="90000"/>
              </a:lnSpc>
            </a:pPr>
            <a:r>
              <a:rPr lang="en-GB" altLang="en-US" sz="2400" dirty="0"/>
              <a:t>Underlying metaphor is having a conversation with another person</a:t>
            </a:r>
          </a:p>
          <a:p>
            <a:pPr lvl="1">
              <a:lnSpc>
                <a:spcPct val="90000"/>
              </a:lnSpc>
            </a:pPr>
            <a:r>
              <a:rPr lang="en-GB" altLang="en-US" sz="2400" dirty="0"/>
              <a:t>Ranges from simple voice recognition systems to more complex ‘natural language’ dialogues</a:t>
            </a:r>
          </a:p>
          <a:p>
            <a:pPr lvl="1">
              <a:lnSpc>
                <a:spcPct val="90000"/>
              </a:lnSpc>
            </a:pPr>
            <a:r>
              <a:rPr lang="en-GB" altLang="en-US" sz="2400" dirty="0"/>
              <a:t>Examples include dialogs about timetables, search engines, advice-giving systems, help systems</a:t>
            </a:r>
          </a:p>
          <a:p>
            <a:pPr lvl="1">
              <a:lnSpc>
                <a:spcPct val="90000"/>
              </a:lnSpc>
            </a:pPr>
            <a:r>
              <a:rPr lang="en-GB" altLang="en-US" sz="2400" dirty="0"/>
              <a:t>May (or may not) consist of anthropomorphic agents who converse with you or are part of an interface, e.g. Microsoft’s Bob and </a:t>
            </a:r>
            <a:r>
              <a:rPr lang="en-GB" altLang="en-US" sz="2400" dirty="0" err="1"/>
              <a:t>Clippy</a:t>
            </a:r>
            <a:endParaRPr lang="en-GB" altLang="en-US" sz="2400" dirty="0"/>
          </a:p>
          <a:p>
            <a:pPr lvl="1"/>
            <a:endParaRPr lang="en-US" altLang="en-US" sz="2400" b="1" u="sng" dirty="0" smtClean="0"/>
          </a:p>
          <a:p>
            <a:pPr lvl="1"/>
            <a:endParaRPr lang="en-US" altLang="en-US" sz="3200" dirty="0"/>
          </a:p>
          <a:p>
            <a:endParaRPr lang="en-US" altLang="en-US" dirty="0"/>
          </a:p>
          <a:p>
            <a:pPr>
              <a:buFont typeface="Monotype Sorts" pitchFamily="84" charset="2"/>
              <a:buNone/>
            </a:pPr>
            <a:endParaRPr lang="en-US" altLang="en-US" dirty="0"/>
          </a:p>
          <a:p>
            <a:endParaRPr lang="en-US" altLang="en-US" dirty="0"/>
          </a:p>
          <a:p>
            <a:pPr marL="0" indent="0">
              <a:buNone/>
            </a:pPr>
            <a:endParaRPr lang="en-US" altLang="en-US" sz="3600" dirty="0"/>
          </a:p>
        </p:txBody>
      </p:sp>
    </p:spTree>
    <p:extLst>
      <p:ext uri="{BB962C8B-B14F-4D97-AF65-F5344CB8AC3E}">
        <p14:creationId xmlns:p14="http://schemas.microsoft.com/office/powerpoint/2010/main" val="27045012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rmAutofit fontScale="90000"/>
          </a:bodyPr>
          <a:lstStyle/>
          <a:p>
            <a:r>
              <a:rPr lang="en-US" altLang="en-US" sz="3200" b="1" dirty="0" smtClean="0"/>
              <a:t>Conversation (Contd.)</a:t>
            </a:r>
            <a:endParaRPr lang="en-US" altLang="en-US" sz="3200" b="1" dirty="0"/>
          </a:p>
        </p:txBody>
      </p:sp>
      <p:sp>
        <p:nvSpPr>
          <p:cNvPr id="7" name="Content Placeholder 2"/>
          <p:cNvSpPr>
            <a:spLocks noGrp="1"/>
          </p:cNvSpPr>
          <p:nvPr>
            <p:ph idx="1"/>
          </p:nvPr>
        </p:nvSpPr>
        <p:spPr>
          <a:xfrm>
            <a:off x="0" y="457200"/>
            <a:ext cx="9144000" cy="6400800"/>
          </a:xfrm>
        </p:spPr>
        <p:txBody>
          <a:bodyPr>
            <a:normAutofit lnSpcReduction="10000"/>
          </a:bodyPr>
          <a:lstStyle/>
          <a:p>
            <a:r>
              <a:rPr lang="en-GB" altLang="en-US" sz="2400" b="1" dirty="0" smtClean="0"/>
              <a:t>Agents:</a:t>
            </a:r>
          </a:p>
          <a:p>
            <a:pPr lvl="1"/>
            <a:r>
              <a:rPr lang="en-US" altLang="en-US" sz="2400" dirty="0"/>
              <a:t>A metaphor for an “intelligent” process that takes some initiative and perform tasks on the user’s behalf</a:t>
            </a:r>
          </a:p>
          <a:p>
            <a:pPr lvl="1"/>
            <a:r>
              <a:rPr lang="en-US" altLang="en-US" sz="2400" dirty="0"/>
              <a:t>The user </a:t>
            </a:r>
            <a:r>
              <a:rPr lang="en-US" altLang="en-US" sz="2400" b="1" dirty="0"/>
              <a:t>delegates</a:t>
            </a:r>
            <a:r>
              <a:rPr lang="en-US" altLang="en-US" sz="2400" dirty="0"/>
              <a:t> responsibility to the agent.</a:t>
            </a:r>
          </a:p>
          <a:p>
            <a:pPr lvl="1"/>
            <a:r>
              <a:rPr lang="en-US" altLang="en-US" sz="2400" dirty="0"/>
              <a:t>This feels very different from direct manipulation</a:t>
            </a:r>
            <a:r>
              <a:rPr lang="en-US" altLang="en-US" sz="2400" dirty="0" smtClean="0"/>
              <a:t>!</a:t>
            </a:r>
          </a:p>
          <a:p>
            <a:pPr lvl="1"/>
            <a:r>
              <a:rPr lang="en-US" altLang="en-US" sz="2400" b="1" u="sng" dirty="0" smtClean="0"/>
              <a:t>Tasks for Agents:</a:t>
            </a:r>
          </a:p>
          <a:p>
            <a:pPr lvl="2"/>
            <a:r>
              <a:rPr lang="en-US" altLang="en-US" dirty="0"/>
              <a:t>Delegation</a:t>
            </a:r>
          </a:p>
          <a:p>
            <a:pPr lvl="2"/>
            <a:r>
              <a:rPr lang="en-US" altLang="en-US" dirty="0"/>
              <a:t>Information retrieval - Web “bots”</a:t>
            </a:r>
          </a:p>
          <a:p>
            <a:pPr lvl="2"/>
            <a:r>
              <a:rPr lang="en-US" altLang="en-US" dirty="0"/>
              <a:t>Sorting, organizing, filtering</a:t>
            </a:r>
          </a:p>
          <a:p>
            <a:pPr lvl="2"/>
            <a:r>
              <a:rPr lang="en-US" altLang="en-US" dirty="0"/>
              <a:t>Coaching, tutoring, providing help</a:t>
            </a:r>
          </a:p>
          <a:p>
            <a:pPr lvl="2"/>
            <a:r>
              <a:rPr lang="en-US" altLang="en-US" dirty="0"/>
              <a:t>Reminding</a:t>
            </a:r>
          </a:p>
          <a:p>
            <a:pPr lvl="2"/>
            <a:r>
              <a:rPr lang="en-US" altLang="en-US" dirty="0"/>
              <a:t>Programming, doing repetitive things</a:t>
            </a:r>
          </a:p>
          <a:p>
            <a:pPr lvl="2"/>
            <a:r>
              <a:rPr lang="en-US" altLang="en-US" dirty="0"/>
              <a:t>Advising</a:t>
            </a:r>
          </a:p>
          <a:p>
            <a:pPr lvl="2"/>
            <a:r>
              <a:rPr lang="en-US" altLang="en-US" dirty="0"/>
              <a:t>Entertaining</a:t>
            </a:r>
          </a:p>
          <a:p>
            <a:pPr lvl="2"/>
            <a:r>
              <a:rPr lang="en-US" altLang="en-US" dirty="0"/>
              <a:t>Navigation</a:t>
            </a:r>
          </a:p>
          <a:p>
            <a:pPr lvl="2"/>
            <a:endParaRPr lang="en-US" altLang="en-US" sz="2000" dirty="0"/>
          </a:p>
          <a:p>
            <a:pPr lvl="1"/>
            <a:endParaRPr lang="en-US" altLang="en-US" sz="2400" b="1" u="sng" dirty="0" smtClean="0"/>
          </a:p>
          <a:p>
            <a:pPr lvl="1"/>
            <a:endParaRPr lang="en-US" altLang="en-US" sz="3200" dirty="0"/>
          </a:p>
          <a:p>
            <a:endParaRPr lang="en-US" altLang="en-US" dirty="0"/>
          </a:p>
          <a:p>
            <a:pPr>
              <a:buFont typeface="Monotype Sorts" pitchFamily="84" charset="2"/>
              <a:buNone/>
            </a:pPr>
            <a:endParaRPr lang="en-US" altLang="en-US" dirty="0"/>
          </a:p>
          <a:p>
            <a:endParaRPr lang="en-US" altLang="en-US" dirty="0"/>
          </a:p>
          <a:p>
            <a:pPr marL="0" indent="0">
              <a:buNone/>
            </a:pPr>
            <a:endParaRPr lang="en-US" altLang="en-US" sz="3600" dirty="0"/>
          </a:p>
        </p:txBody>
      </p:sp>
    </p:spTree>
    <p:extLst>
      <p:ext uri="{BB962C8B-B14F-4D97-AF65-F5344CB8AC3E}">
        <p14:creationId xmlns:p14="http://schemas.microsoft.com/office/powerpoint/2010/main" val="245152483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rmAutofit fontScale="90000"/>
          </a:bodyPr>
          <a:lstStyle/>
          <a:p>
            <a:r>
              <a:rPr lang="en-US" altLang="en-US" sz="3200" b="1" dirty="0" smtClean="0"/>
              <a:t>Conversation (Contd.)</a:t>
            </a:r>
            <a:endParaRPr lang="en-US" altLang="en-US" sz="3200" b="1" dirty="0"/>
          </a:p>
        </p:txBody>
      </p:sp>
      <p:sp>
        <p:nvSpPr>
          <p:cNvPr id="7" name="Content Placeholder 2"/>
          <p:cNvSpPr>
            <a:spLocks noGrp="1"/>
          </p:cNvSpPr>
          <p:nvPr>
            <p:ph idx="1"/>
          </p:nvPr>
        </p:nvSpPr>
        <p:spPr>
          <a:xfrm>
            <a:off x="0" y="457200"/>
            <a:ext cx="9144000" cy="6400800"/>
          </a:xfrm>
        </p:spPr>
        <p:txBody>
          <a:bodyPr>
            <a:normAutofit/>
          </a:bodyPr>
          <a:lstStyle/>
          <a:p>
            <a:r>
              <a:rPr lang="en-GB" altLang="en-US" sz="2400" b="1" dirty="0" smtClean="0"/>
              <a:t>Agents (Contd.):</a:t>
            </a:r>
          </a:p>
          <a:p>
            <a:pPr lvl="1"/>
            <a:r>
              <a:rPr lang="en-US" altLang="en-US" sz="2400" dirty="0"/>
              <a:t>The most obvious metaphor for an interactive system that seems intelligent or takes initiative may be a human-like character. </a:t>
            </a:r>
          </a:p>
          <a:p>
            <a:pPr lvl="1"/>
            <a:r>
              <a:rPr lang="en-US" altLang="en-US" sz="2400" dirty="0"/>
              <a:t>(But note: agents can be non-anthropomorphic as well… a form can take initiative and act “intelligent” by filling in the right values automatically</a:t>
            </a:r>
            <a:r>
              <a:rPr lang="en-US" altLang="en-US" sz="2400" dirty="0" smtClean="0"/>
              <a:t>.)</a:t>
            </a:r>
          </a:p>
          <a:p>
            <a:pPr lvl="1"/>
            <a:r>
              <a:rPr lang="en-US" altLang="en-US" sz="2400" dirty="0"/>
              <a:t>“Intelligent” interfaces can be unpredictable.</a:t>
            </a:r>
          </a:p>
          <a:p>
            <a:pPr lvl="1"/>
            <a:r>
              <a:rPr lang="en-US" altLang="en-US" sz="2400" dirty="0"/>
              <a:t>How do you come to “trust” your agent?</a:t>
            </a:r>
          </a:p>
          <a:p>
            <a:pPr lvl="1"/>
            <a:r>
              <a:rPr lang="en-US" altLang="en-US" sz="2400" dirty="0"/>
              <a:t>Are anthropomorphic interfaces honest?</a:t>
            </a:r>
          </a:p>
          <a:p>
            <a:pPr lvl="1"/>
            <a:r>
              <a:rPr lang="en-US" altLang="en-US" sz="2400" dirty="0"/>
              <a:t>There may be problems with anthropomorphizing an interface</a:t>
            </a:r>
          </a:p>
          <a:p>
            <a:pPr lvl="1"/>
            <a:endParaRPr lang="en-US" altLang="en-US" sz="1600" dirty="0"/>
          </a:p>
          <a:p>
            <a:pPr lvl="2"/>
            <a:endParaRPr lang="en-US" altLang="en-US" sz="2000" dirty="0"/>
          </a:p>
          <a:p>
            <a:pPr lvl="1"/>
            <a:endParaRPr lang="en-US" altLang="en-US" sz="2400" b="1" u="sng" dirty="0" smtClean="0"/>
          </a:p>
          <a:p>
            <a:pPr lvl="1"/>
            <a:endParaRPr lang="en-US" altLang="en-US" sz="3200" dirty="0"/>
          </a:p>
          <a:p>
            <a:endParaRPr lang="en-US" altLang="en-US" dirty="0"/>
          </a:p>
          <a:p>
            <a:pPr>
              <a:buFont typeface="Monotype Sorts" pitchFamily="84" charset="2"/>
              <a:buNone/>
            </a:pPr>
            <a:endParaRPr lang="en-US" altLang="en-US" dirty="0"/>
          </a:p>
          <a:p>
            <a:endParaRPr lang="en-US" altLang="en-US" dirty="0"/>
          </a:p>
          <a:p>
            <a:pPr marL="0" indent="0">
              <a:buNone/>
            </a:pPr>
            <a:endParaRPr lang="en-US" altLang="en-US" sz="3600" dirty="0"/>
          </a:p>
        </p:txBody>
      </p:sp>
    </p:spTree>
    <p:extLst>
      <p:ext uri="{BB962C8B-B14F-4D97-AF65-F5344CB8AC3E}">
        <p14:creationId xmlns:p14="http://schemas.microsoft.com/office/powerpoint/2010/main" val="44043288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rmAutofit fontScale="90000"/>
          </a:bodyPr>
          <a:lstStyle/>
          <a:p>
            <a:r>
              <a:rPr lang="en-US" altLang="en-US" sz="3200" b="1" dirty="0" smtClean="0"/>
              <a:t>Conversation (Contd.)</a:t>
            </a:r>
            <a:endParaRPr lang="en-US" altLang="en-US" sz="3200" b="1" dirty="0"/>
          </a:p>
        </p:txBody>
      </p:sp>
      <p:sp>
        <p:nvSpPr>
          <p:cNvPr id="7" name="Content Placeholder 2"/>
          <p:cNvSpPr>
            <a:spLocks noGrp="1"/>
          </p:cNvSpPr>
          <p:nvPr>
            <p:ph idx="1"/>
          </p:nvPr>
        </p:nvSpPr>
        <p:spPr>
          <a:xfrm>
            <a:off x="0" y="457200"/>
            <a:ext cx="9144000" cy="6400800"/>
          </a:xfrm>
        </p:spPr>
        <p:txBody>
          <a:bodyPr>
            <a:normAutofit/>
          </a:bodyPr>
          <a:lstStyle/>
          <a:p>
            <a:r>
              <a:rPr lang="en-GB" altLang="en-US" sz="2400" b="1" dirty="0" smtClean="0"/>
              <a:t>Human Computer Dialog</a:t>
            </a:r>
          </a:p>
          <a:p>
            <a:pPr lvl="1"/>
            <a:r>
              <a:rPr lang="en-US" altLang="en-US" sz="2400" dirty="0"/>
              <a:t>Some kinds of human conversations are scripted - who takes the initiative is relatively fixed.</a:t>
            </a:r>
          </a:p>
          <a:p>
            <a:pPr lvl="1"/>
            <a:r>
              <a:rPr lang="en-US" altLang="en-US" sz="2400" dirty="0"/>
              <a:t>In other kinds of conversation, 	</a:t>
            </a:r>
            <a:r>
              <a:rPr lang="en-US" altLang="en-US" sz="2400" dirty="0" smtClean="0"/>
              <a:t> neither </a:t>
            </a:r>
            <a:r>
              <a:rPr lang="en-US" altLang="en-US" sz="2400" dirty="0"/>
              <a:t>person takes all the initiative.</a:t>
            </a:r>
          </a:p>
          <a:p>
            <a:pPr lvl="1"/>
            <a:r>
              <a:rPr lang="en-US" altLang="en-US" sz="2400" dirty="0"/>
              <a:t>Ideally, initiative should be flexible</a:t>
            </a:r>
            <a:r>
              <a:rPr lang="en-US" altLang="en-US" sz="2400" dirty="0" smtClean="0"/>
              <a:t>.</a:t>
            </a:r>
          </a:p>
          <a:p>
            <a:r>
              <a:rPr lang="en-US" altLang="en-US" sz="2400" dirty="0"/>
              <a:t>A dialog can be </a:t>
            </a:r>
            <a:r>
              <a:rPr lang="en-US" altLang="en-US" sz="2400" b="1" dirty="0" smtClean="0"/>
              <a:t>under-determined</a:t>
            </a:r>
            <a:r>
              <a:rPr lang="en-US" altLang="en-US" sz="2400" dirty="0" smtClean="0"/>
              <a:t>. when </a:t>
            </a:r>
            <a:r>
              <a:rPr lang="en-US" altLang="en-US" sz="2400" dirty="0"/>
              <a:t>the user is mystified </a:t>
            </a:r>
            <a:r>
              <a:rPr lang="en-US" altLang="en-US" sz="2400" dirty="0" smtClean="0"/>
              <a:t>about what </a:t>
            </a:r>
            <a:r>
              <a:rPr lang="en-US" altLang="en-US" sz="2400" dirty="0"/>
              <a:t>to do next and is </a:t>
            </a:r>
            <a:r>
              <a:rPr lang="en-US" altLang="en-US" sz="2400" dirty="0" smtClean="0"/>
              <a:t>forced </a:t>
            </a:r>
            <a:r>
              <a:rPr lang="en-US" altLang="en-US" sz="2400" dirty="0"/>
              <a:t>to take the initiative</a:t>
            </a:r>
            <a:r>
              <a:rPr lang="en-US" altLang="en-US" sz="2400" dirty="0" smtClean="0"/>
              <a:t>. </a:t>
            </a:r>
            <a:r>
              <a:rPr lang="en-US" altLang="en-US" sz="2400" i="1" dirty="0" smtClean="0"/>
              <a:t>(</a:t>
            </a:r>
            <a:r>
              <a:rPr lang="en-US" altLang="en-US" sz="2400" i="1" dirty="0"/>
              <a:t>a blank screen, cryptic commands</a:t>
            </a:r>
            <a:r>
              <a:rPr lang="en-US" altLang="en-US" sz="2400" i="1" dirty="0" smtClean="0"/>
              <a:t>)</a:t>
            </a:r>
          </a:p>
          <a:p>
            <a:r>
              <a:rPr lang="en-US" altLang="en-US" sz="2400" dirty="0"/>
              <a:t>A dialog can be </a:t>
            </a:r>
            <a:r>
              <a:rPr lang="en-US" altLang="en-US" sz="2400" b="1" dirty="0" smtClean="0"/>
              <a:t>over-determined </a:t>
            </a:r>
            <a:r>
              <a:rPr lang="en-US" altLang="en-US" sz="2400" dirty="0" smtClean="0"/>
              <a:t>when </a:t>
            </a:r>
            <a:r>
              <a:rPr lang="en-US" altLang="en-US" sz="2400" dirty="0"/>
              <a:t>a system is authoritarian </a:t>
            </a:r>
            <a:r>
              <a:rPr lang="en-US" altLang="en-US" sz="2400" dirty="0" smtClean="0"/>
              <a:t> and </a:t>
            </a:r>
            <a:r>
              <a:rPr lang="en-US" altLang="en-US" sz="2400" dirty="0"/>
              <a:t>takes too much initiative</a:t>
            </a:r>
            <a:r>
              <a:rPr lang="en-US" altLang="en-US" sz="2400" dirty="0" smtClean="0"/>
              <a:t>. </a:t>
            </a:r>
            <a:r>
              <a:rPr lang="en-US" altLang="en-US" sz="2400" i="1" dirty="0" smtClean="0"/>
              <a:t>(</a:t>
            </a:r>
            <a:r>
              <a:rPr lang="en-US" altLang="en-US" sz="2400" i="1" dirty="0"/>
              <a:t>unnatural constraints</a:t>
            </a:r>
            <a:r>
              <a:rPr lang="en-US" altLang="en-US" sz="2400" i="1" dirty="0" smtClean="0"/>
              <a:t>)</a:t>
            </a:r>
          </a:p>
          <a:p>
            <a:r>
              <a:rPr lang="en-US" altLang="en-US" sz="2400" b="1" dirty="0"/>
              <a:t>Advantages: </a:t>
            </a:r>
          </a:p>
          <a:p>
            <a:pPr lvl="1"/>
            <a:r>
              <a:rPr lang="en-US" altLang="en-US" sz="2400" dirty="0"/>
              <a:t>reduces the consequences of errors</a:t>
            </a:r>
          </a:p>
          <a:p>
            <a:pPr lvl="1"/>
            <a:r>
              <a:rPr lang="en-US" altLang="en-US" sz="2400" dirty="0"/>
              <a:t>what the user does is predictable</a:t>
            </a:r>
          </a:p>
          <a:p>
            <a:endParaRPr lang="en-US" altLang="en-US" sz="2400" i="1" dirty="0"/>
          </a:p>
          <a:p>
            <a:endParaRPr lang="en-US" altLang="en-US" sz="2400" i="1" dirty="0"/>
          </a:p>
          <a:p>
            <a:pPr lvl="1"/>
            <a:endParaRPr lang="en-US" altLang="en-US" sz="1800" dirty="0"/>
          </a:p>
          <a:p>
            <a:pPr lvl="2"/>
            <a:endParaRPr lang="en-US" altLang="en-US" sz="1100" dirty="0"/>
          </a:p>
          <a:p>
            <a:pPr lvl="2"/>
            <a:endParaRPr lang="en-US" altLang="en-US" sz="2000" dirty="0"/>
          </a:p>
          <a:p>
            <a:pPr lvl="1"/>
            <a:endParaRPr lang="en-US" altLang="en-US" sz="2400" b="1" u="sng" dirty="0" smtClean="0"/>
          </a:p>
          <a:p>
            <a:pPr lvl="1"/>
            <a:endParaRPr lang="en-US" altLang="en-US" sz="3200" dirty="0"/>
          </a:p>
          <a:p>
            <a:endParaRPr lang="en-US" altLang="en-US" dirty="0"/>
          </a:p>
          <a:p>
            <a:pPr>
              <a:buFont typeface="Monotype Sorts" pitchFamily="84" charset="2"/>
              <a:buNone/>
            </a:pPr>
            <a:endParaRPr lang="en-US" altLang="en-US" dirty="0"/>
          </a:p>
          <a:p>
            <a:endParaRPr lang="en-US" altLang="en-US" dirty="0"/>
          </a:p>
          <a:p>
            <a:pPr marL="0" indent="0">
              <a:buNone/>
            </a:pPr>
            <a:endParaRPr lang="en-US" altLang="en-US" sz="3600" dirty="0"/>
          </a:p>
        </p:txBody>
      </p:sp>
    </p:spTree>
    <p:extLst>
      <p:ext uri="{BB962C8B-B14F-4D97-AF65-F5344CB8AC3E}">
        <p14:creationId xmlns:p14="http://schemas.microsoft.com/office/powerpoint/2010/main" val="349053326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rmAutofit fontScale="90000"/>
          </a:bodyPr>
          <a:lstStyle/>
          <a:p>
            <a:r>
              <a:rPr lang="en-US" altLang="en-US" sz="3200" b="1" dirty="0" smtClean="0"/>
              <a:t>Conversation (Contd.)</a:t>
            </a:r>
            <a:endParaRPr lang="en-US" altLang="en-US" sz="3200" b="1" dirty="0"/>
          </a:p>
        </p:txBody>
      </p:sp>
      <p:sp>
        <p:nvSpPr>
          <p:cNvPr id="7" name="Content Placeholder 2"/>
          <p:cNvSpPr>
            <a:spLocks noGrp="1"/>
          </p:cNvSpPr>
          <p:nvPr>
            <p:ph idx="1"/>
          </p:nvPr>
        </p:nvSpPr>
        <p:spPr>
          <a:xfrm>
            <a:off x="0" y="457200"/>
            <a:ext cx="9144000" cy="6400800"/>
          </a:xfrm>
        </p:spPr>
        <p:txBody>
          <a:bodyPr>
            <a:normAutofit/>
          </a:bodyPr>
          <a:lstStyle/>
          <a:p>
            <a:r>
              <a:rPr lang="en-GB" altLang="en-US" sz="2400" b="1" dirty="0" smtClean="0"/>
              <a:t>Human Computer Dialog (Contd.) – Dialog Design</a:t>
            </a:r>
          </a:p>
          <a:p>
            <a:pPr lvl="1"/>
            <a:r>
              <a:rPr lang="en-US" altLang="en-US" sz="2400" b="1" dirty="0"/>
              <a:t>Avoid under-determined dialogs </a:t>
            </a:r>
            <a:r>
              <a:rPr lang="en-US" altLang="en-US" sz="2400" dirty="0"/>
              <a:t>by providing help and by reducing options.</a:t>
            </a:r>
          </a:p>
          <a:p>
            <a:pPr lvl="1"/>
            <a:r>
              <a:rPr lang="en-US" altLang="en-US" sz="2400" b="1" dirty="0"/>
              <a:t>Avoid over-determined dialogs </a:t>
            </a:r>
            <a:r>
              <a:rPr lang="en-US" altLang="en-US" sz="2400" dirty="0"/>
              <a:t>by letting users undertake tasks in flexible orders.</a:t>
            </a:r>
          </a:p>
          <a:p>
            <a:pPr lvl="1">
              <a:buFont typeface="Monotype Sorts" pitchFamily="84" charset="2"/>
              <a:buNone/>
            </a:pPr>
            <a:r>
              <a:rPr lang="en-US" altLang="en-US" sz="2400" dirty="0"/>
              <a:t>	Don’t force them to do unnecessary things.</a:t>
            </a:r>
          </a:p>
          <a:p>
            <a:pPr lvl="1"/>
            <a:r>
              <a:rPr lang="en-US" altLang="en-US" sz="2400" dirty="0"/>
              <a:t>Support alternative styles of interaction whenever possible</a:t>
            </a:r>
          </a:p>
          <a:p>
            <a:pPr lvl="1"/>
            <a:endParaRPr lang="en-US" altLang="en-US" sz="2400" i="1" dirty="0"/>
          </a:p>
          <a:p>
            <a:endParaRPr lang="en-US" altLang="en-US" sz="2400" i="1" dirty="0"/>
          </a:p>
          <a:p>
            <a:pPr lvl="1"/>
            <a:endParaRPr lang="en-US" altLang="en-US" sz="1800" dirty="0"/>
          </a:p>
          <a:p>
            <a:pPr lvl="2"/>
            <a:endParaRPr lang="en-US" altLang="en-US" sz="1100" dirty="0"/>
          </a:p>
          <a:p>
            <a:pPr lvl="2"/>
            <a:endParaRPr lang="en-US" altLang="en-US" sz="2000" dirty="0"/>
          </a:p>
          <a:p>
            <a:pPr lvl="1"/>
            <a:endParaRPr lang="en-US" altLang="en-US" sz="2400" b="1" u="sng" dirty="0" smtClean="0"/>
          </a:p>
          <a:p>
            <a:pPr lvl="1"/>
            <a:endParaRPr lang="en-US" altLang="en-US" sz="3200" dirty="0"/>
          </a:p>
          <a:p>
            <a:endParaRPr lang="en-US" altLang="en-US" dirty="0"/>
          </a:p>
          <a:p>
            <a:pPr>
              <a:buFont typeface="Monotype Sorts" pitchFamily="84" charset="2"/>
              <a:buNone/>
            </a:pPr>
            <a:endParaRPr lang="en-US" altLang="en-US" dirty="0"/>
          </a:p>
          <a:p>
            <a:endParaRPr lang="en-US" altLang="en-US" dirty="0"/>
          </a:p>
          <a:p>
            <a:pPr marL="0" indent="0">
              <a:buNone/>
            </a:pPr>
            <a:endParaRPr lang="en-US" altLang="en-US" sz="3600" dirty="0"/>
          </a:p>
        </p:txBody>
      </p:sp>
    </p:spTree>
    <p:extLst>
      <p:ext uri="{BB962C8B-B14F-4D97-AF65-F5344CB8AC3E}">
        <p14:creationId xmlns:p14="http://schemas.microsoft.com/office/powerpoint/2010/main" val="152248874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rmAutofit fontScale="90000"/>
          </a:bodyPr>
          <a:lstStyle/>
          <a:p>
            <a:r>
              <a:rPr lang="en-US" altLang="en-US" sz="3200" b="1" dirty="0" smtClean="0"/>
              <a:t>Conversation</a:t>
            </a:r>
            <a:endParaRPr lang="en-US" altLang="en-US" sz="3200" b="1" dirty="0"/>
          </a:p>
        </p:txBody>
      </p:sp>
      <p:sp>
        <p:nvSpPr>
          <p:cNvPr id="7" name="Content Placeholder 2"/>
          <p:cNvSpPr>
            <a:spLocks noGrp="1"/>
          </p:cNvSpPr>
          <p:nvPr>
            <p:ph idx="1"/>
          </p:nvPr>
        </p:nvSpPr>
        <p:spPr>
          <a:xfrm>
            <a:off x="0" y="457200"/>
            <a:ext cx="9144000" cy="6400800"/>
          </a:xfrm>
        </p:spPr>
        <p:txBody>
          <a:bodyPr>
            <a:normAutofit/>
          </a:bodyPr>
          <a:lstStyle/>
          <a:p>
            <a:r>
              <a:rPr lang="en-US" altLang="en-US" sz="2400" b="1" u="sng" dirty="0" smtClean="0"/>
              <a:t>Pros &amp; Cons:</a:t>
            </a:r>
          </a:p>
          <a:p>
            <a:pPr lvl="1">
              <a:lnSpc>
                <a:spcPct val="90000"/>
              </a:lnSpc>
            </a:pPr>
            <a:r>
              <a:rPr lang="en-GB" altLang="en-US" sz="2400" dirty="0"/>
              <a:t>Dialogue allows users, especially novices and technophobes, to interact with the system in a way that is familiar.</a:t>
            </a:r>
          </a:p>
          <a:p>
            <a:pPr lvl="2">
              <a:lnSpc>
                <a:spcPct val="90000"/>
              </a:lnSpc>
            </a:pPr>
            <a:r>
              <a:rPr lang="en-GB" altLang="en-US" dirty="0"/>
              <a:t>makes them feel comfortable, at ease, not scared</a:t>
            </a:r>
          </a:p>
          <a:p>
            <a:pPr lvl="1">
              <a:lnSpc>
                <a:spcPct val="90000"/>
              </a:lnSpc>
            </a:pPr>
            <a:r>
              <a:rPr lang="en-GB" altLang="en-US" sz="2400" dirty="0"/>
              <a:t>Misunderstandings arise when the system fails to parse what the user says.</a:t>
            </a:r>
          </a:p>
          <a:p>
            <a:pPr lvl="1">
              <a:lnSpc>
                <a:spcPct val="90000"/>
              </a:lnSpc>
            </a:pPr>
            <a:r>
              <a:rPr lang="en-GB" altLang="en-US" sz="2400" dirty="0"/>
              <a:t>Sometimes interfaces pretend to use natural language, which can lead to problems.</a:t>
            </a:r>
          </a:p>
          <a:p>
            <a:pPr lvl="2">
              <a:lnSpc>
                <a:spcPct val="90000"/>
              </a:lnSpc>
            </a:pPr>
            <a:r>
              <a:rPr lang="en-GB" altLang="en-US" dirty="0"/>
              <a:t>e.g. child types into a search engine, that uses natural language the question: </a:t>
            </a:r>
            <a:r>
              <a:rPr lang="en-GB" altLang="en-US" dirty="0">
                <a:solidFill>
                  <a:schemeClr val="accent1"/>
                </a:solidFill>
              </a:rPr>
              <a:t>“How many legs does a centipede have?”</a:t>
            </a:r>
            <a:r>
              <a:rPr lang="en-GB" altLang="en-US" dirty="0"/>
              <a:t> and the system responds:</a:t>
            </a:r>
          </a:p>
          <a:p>
            <a:endParaRPr lang="en-US" altLang="en-US" sz="2400" b="1" u="sng" dirty="0" smtClean="0"/>
          </a:p>
          <a:p>
            <a:pPr lvl="1"/>
            <a:endParaRPr lang="en-US" altLang="en-US" sz="3200" dirty="0"/>
          </a:p>
          <a:p>
            <a:endParaRPr lang="en-US" altLang="en-US" dirty="0"/>
          </a:p>
          <a:p>
            <a:pPr>
              <a:buFont typeface="Monotype Sorts" pitchFamily="84" charset="2"/>
              <a:buNone/>
            </a:pPr>
            <a:endParaRPr lang="en-US" altLang="en-US" dirty="0"/>
          </a:p>
          <a:p>
            <a:endParaRPr lang="en-US" altLang="en-US" dirty="0"/>
          </a:p>
          <a:p>
            <a:pPr marL="0" indent="0">
              <a:buNone/>
            </a:pPr>
            <a:endParaRPr lang="en-US" altLang="en-US" sz="3600" dirty="0"/>
          </a:p>
        </p:txBody>
      </p:sp>
    </p:spTree>
    <p:extLst>
      <p:ext uri="{BB962C8B-B14F-4D97-AF65-F5344CB8AC3E}">
        <p14:creationId xmlns:p14="http://schemas.microsoft.com/office/powerpoint/2010/main" val="69077988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rmAutofit fontScale="90000"/>
          </a:bodyPr>
          <a:lstStyle/>
          <a:p>
            <a:r>
              <a:rPr lang="en-US" altLang="en-US" sz="3200" b="1" dirty="0" smtClean="0"/>
              <a:t>Exploring &amp; Browsing</a:t>
            </a:r>
            <a:endParaRPr lang="en-US" altLang="en-US" sz="3200" b="1" dirty="0"/>
          </a:p>
        </p:txBody>
      </p:sp>
      <p:sp>
        <p:nvSpPr>
          <p:cNvPr id="7" name="Content Placeholder 2"/>
          <p:cNvSpPr>
            <a:spLocks noGrp="1"/>
          </p:cNvSpPr>
          <p:nvPr>
            <p:ph idx="1"/>
          </p:nvPr>
        </p:nvSpPr>
        <p:spPr>
          <a:xfrm>
            <a:off x="0" y="457200"/>
            <a:ext cx="9144000" cy="6400800"/>
          </a:xfrm>
        </p:spPr>
        <p:txBody>
          <a:bodyPr>
            <a:normAutofit/>
          </a:bodyPr>
          <a:lstStyle/>
          <a:p>
            <a:pPr>
              <a:lnSpc>
                <a:spcPct val="90000"/>
              </a:lnSpc>
            </a:pPr>
            <a:r>
              <a:rPr lang="en-GB" altLang="en-US" sz="2800" dirty="0"/>
              <a:t>Similar to how people browse information with existing media (e.g. newspapers, magazines, libraries, pamphlets)</a:t>
            </a:r>
          </a:p>
          <a:p>
            <a:pPr>
              <a:lnSpc>
                <a:spcPct val="90000"/>
              </a:lnSpc>
            </a:pPr>
            <a:r>
              <a:rPr lang="en-GB" altLang="en-US" sz="2800" dirty="0"/>
              <a:t>Information is structured to allow flexibility in way user is able to search for information</a:t>
            </a:r>
          </a:p>
          <a:p>
            <a:pPr lvl="1">
              <a:lnSpc>
                <a:spcPct val="90000"/>
              </a:lnSpc>
            </a:pPr>
            <a:r>
              <a:rPr lang="en-GB" altLang="en-US" dirty="0"/>
              <a:t>e.g. multimedia, web</a:t>
            </a:r>
          </a:p>
          <a:p>
            <a:pPr>
              <a:lnSpc>
                <a:spcPct val="90000"/>
              </a:lnSpc>
            </a:pPr>
            <a:r>
              <a:rPr lang="en-GB" altLang="en-US" sz="2800" dirty="0"/>
              <a:t>Browsers, hypertext, links </a:t>
            </a:r>
          </a:p>
          <a:p>
            <a:pPr lvl="1"/>
            <a:endParaRPr lang="en-US" altLang="en-US" sz="3200" dirty="0"/>
          </a:p>
          <a:p>
            <a:endParaRPr lang="en-US" altLang="en-US" dirty="0"/>
          </a:p>
          <a:p>
            <a:pPr>
              <a:buFont typeface="Monotype Sorts" pitchFamily="84" charset="2"/>
              <a:buNone/>
            </a:pPr>
            <a:endParaRPr lang="en-US" altLang="en-US" dirty="0"/>
          </a:p>
          <a:p>
            <a:endParaRPr lang="en-US" altLang="en-US" dirty="0"/>
          </a:p>
          <a:p>
            <a:pPr marL="0" indent="0">
              <a:buNone/>
            </a:pPr>
            <a:endParaRPr lang="en-US" altLang="en-US" sz="3600" dirty="0"/>
          </a:p>
        </p:txBody>
      </p:sp>
    </p:spTree>
    <p:extLst>
      <p:ext uri="{BB962C8B-B14F-4D97-AF65-F5344CB8AC3E}">
        <p14:creationId xmlns:p14="http://schemas.microsoft.com/office/powerpoint/2010/main" val="19645865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rmAutofit fontScale="90000"/>
          </a:bodyPr>
          <a:lstStyle/>
          <a:p>
            <a:r>
              <a:rPr lang="en-US" altLang="en-US" sz="3200" b="1" dirty="0" smtClean="0"/>
              <a:t>Forms and Spreadsheets</a:t>
            </a:r>
            <a:endParaRPr lang="en-US" altLang="en-US" sz="3200" b="1" dirty="0"/>
          </a:p>
        </p:txBody>
      </p:sp>
      <p:sp>
        <p:nvSpPr>
          <p:cNvPr id="7" name="Content Placeholder 2"/>
          <p:cNvSpPr>
            <a:spLocks noGrp="1"/>
          </p:cNvSpPr>
          <p:nvPr>
            <p:ph idx="1"/>
          </p:nvPr>
        </p:nvSpPr>
        <p:spPr>
          <a:xfrm>
            <a:off x="0" y="457200"/>
            <a:ext cx="9144000" cy="6400800"/>
          </a:xfrm>
        </p:spPr>
        <p:txBody>
          <a:bodyPr>
            <a:normAutofit/>
          </a:bodyPr>
          <a:lstStyle/>
          <a:p>
            <a:r>
              <a:rPr lang="en-US" altLang="en-US" sz="2400" dirty="0"/>
              <a:t>Forms can vary from over-determined (enforcing a fixed order) to quite flexible (allowing user initiative)</a:t>
            </a:r>
          </a:p>
          <a:p>
            <a:r>
              <a:rPr lang="en-US" altLang="en-US" sz="2400" dirty="0"/>
              <a:t>Spreadsheets are extremely flexible, allowing “user programming”.  They can sometimes be underdetermined</a:t>
            </a:r>
          </a:p>
          <a:p>
            <a:pPr lvl="1"/>
            <a:endParaRPr lang="en-US" altLang="en-US" sz="3200" dirty="0"/>
          </a:p>
          <a:p>
            <a:endParaRPr lang="en-US" altLang="en-US" dirty="0"/>
          </a:p>
          <a:p>
            <a:pPr>
              <a:buFont typeface="Monotype Sorts" pitchFamily="84" charset="2"/>
              <a:buNone/>
            </a:pPr>
            <a:endParaRPr lang="en-US" altLang="en-US" dirty="0"/>
          </a:p>
          <a:p>
            <a:endParaRPr lang="en-US" altLang="en-US" dirty="0"/>
          </a:p>
          <a:p>
            <a:pPr marL="0" indent="0">
              <a:buNone/>
            </a:pPr>
            <a:endParaRPr lang="en-US" altLang="en-US" sz="3600" dirty="0"/>
          </a:p>
        </p:txBody>
      </p:sp>
    </p:spTree>
    <p:extLst>
      <p:ext uri="{BB962C8B-B14F-4D97-AF65-F5344CB8AC3E}">
        <p14:creationId xmlns:p14="http://schemas.microsoft.com/office/powerpoint/2010/main" val="23921439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rmAutofit/>
          </a:bodyPr>
          <a:lstStyle/>
          <a:p>
            <a:r>
              <a:rPr lang="en-US" altLang="en-US" sz="2800" b="1" dirty="0"/>
              <a:t>Immersive environments</a:t>
            </a:r>
            <a:endParaRPr lang="en-US" altLang="en-US" sz="3200" b="1" dirty="0"/>
          </a:p>
        </p:txBody>
      </p:sp>
      <p:sp>
        <p:nvSpPr>
          <p:cNvPr id="7" name="Content Placeholder 2"/>
          <p:cNvSpPr>
            <a:spLocks noGrp="1"/>
          </p:cNvSpPr>
          <p:nvPr>
            <p:ph idx="1"/>
          </p:nvPr>
        </p:nvSpPr>
        <p:spPr>
          <a:xfrm>
            <a:off x="0" y="457200"/>
            <a:ext cx="9144000" cy="6400800"/>
          </a:xfrm>
        </p:spPr>
        <p:txBody>
          <a:bodyPr>
            <a:normAutofit/>
          </a:bodyPr>
          <a:lstStyle/>
          <a:p>
            <a:r>
              <a:rPr lang="en-US" altLang="en-US" sz="2400" dirty="0"/>
              <a:t>Virtual reality (stay tuned)</a:t>
            </a:r>
          </a:p>
          <a:p>
            <a:r>
              <a:rPr lang="en-US" altLang="en-US" sz="2400" dirty="0"/>
              <a:t>Often mimic real life (representations are highly literal; go well beyond metaphors)</a:t>
            </a:r>
          </a:p>
          <a:p>
            <a:pPr lvl="1"/>
            <a:endParaRPr lang="en-US" altLang="en-US" sz="3200" dirty="0"/>
          </a:p>
          <a:p>
            <a:endParaRPr lang="en-US" altLang="en-US" dirty="0"/>
          </a:p>
          <a:p>
            <a:pPr>
              <a:buFont typeface="Monotype Sorts" pitchFamily="84" charset="2"/>
              <a:buNone/>
            </a:pPr>
            <a:endParaRPr lang="en-US" altLang="en-US" dirty="0"/>
          </a:p>
          <a:p>
            <a:endParaRPr lang="en-US" altLang="en-US" dirty="0"/>
          </a:p>
          <a:p>
            <a:pPr marL="0" indent="0">
              <a:buNone/>
            </a:pPr>
            <a:endParaRPr lang="en-US" altLang="en-US" sz="3600" dirty="0"/>
          </a:p>
        </p:txBody>
      </p:sp>
    </p:spTree>
    <p:extLst>
      <p:ext uri="{BB962C8B-B14F-4D97-AF65-F5344CB8AC3E}">
        <p14:creationId xmlns:p14="http://schemas.microsoft.com/office/powerpoint/2010/main" val="259295334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rmAutofit/>
          </a:bodyPr>
          <a:lstStyle/>
          <a:p>
            <a:r>
              <a:rPr lang="en-US" altLang="en-US" sz="2800" b="1" dirty="0"/>
              <a:t>Different users are different!</a:t>
            </a:r>
            <a:endParaRPr lang="en-US" altLang="en-US" sz="3200" b="1" dirty="0"/>
          </a:p>
        </p:txBody>
      </p:sp>
      <p:sp>
        <p:nvSpPr>
          <p:cNvPr id="7" name="Content Placeholder 2"/>
          <p:cNvSpPr>
            <a:spLocks noGrp="1"/>
          </p:cNvSpPr>
          <p:nvPr>
            <p:ph idx="1"/>
          </p:nvPr>
        </p:nvSpPr>
        <p:spPr>
          <a:xfrm>
            <a:off x="0" y="457200"/>
            <a:ext cx="9144000" cy="6400800"/>
          </a:xfrm>
        </p:spPr>
        <p:txBody>
          <a:bodyPr>
            <a:normAutofit/>
          </a:bodyPr>
          <a:lstStyle/>
          <a:p>
            <a:r>
              <a:rPr lang="en-US" altLang="en-US" sz="2800" dirty="0"/>
              <a:t>Interfaces that take the initiative are better for novices.</a:t>
            </a:r>
          </a:p>
          <a:p>
            <a:r>
              <a:rPr lang="en-US" altLang="en-US" sz="2800" dirty="0"/>
              <a:t>Interfaces that let the user take the initiative are better for experts.</a:t>
            </a:r>
          </a:p>
          <a:p>
            <a:pPr>
              <a:buFont typeface="Monotype Sorts" pitchFamily="84" charset="2"/>
              <a:buNone/>
            </a:pPr>
            <a:endParaRPr lang="en-US" altLang="en-US" sz="2800" dirty="0"/>
          </a:p>
          <a:p>
            <a:pPr>
              <a:buFont typeface="Monotype Sorts" pitchFamily="84" charset="2"/>
              <a:buNone/>
            </a:pPr>
            <a:r>
              <a:rPr lang="en-US" altLang="en-US" sz="2800" i="1" dirty="0"/>
              <a:t>An interface is over- or under-determined </a:t>
            </a:r>
            <a:r>
              <a:rPr lang="en-US" altLang="en-US" sz="2800" i="1" dirty="0">
                <a:solidFill>
                  <a:schemeClr val="tx2"/>
                </a:solidFill>
              </a:rPr>
              <a:t>with respect to a particular user</a:t>
            </a:r>
            <a:r>
              <a:rPr lang="en-US" altLang="en-US" sz="2800" i="1" dirty="0"/>
              <a:t>.  </a:t>
            </a:r>
          </a:p>
          <a:p>
            <a:pPr lvl="1"/>
            <a:r>
              <a:rPr lang="en-US" altLang="en-US" dirty="0"/>
              <a:t>Direct manipulation and menu interfaces are sometimes (not always)	over-determined.</a:t>
            </a:r>
          </a:p>
          <a:p>
            <a:pPr lvl="1"/>
            <a:r>
              <a:rPr lang="en-US" altLang="en-US" dirty="0"/>
              <a:t>Command languages and natural language are sometimes (not always)	under-determined.</a:t>
            </a:r>
            <a:endParaRPr lang="en-US" altLang="en-US" sz="2800" dirty="0"/>
          </a:p>
          <a:p>
            <a:endParaRPr lang="en-US" altLang="en-US" dirty="0"/>
          </a:p>
          <a:p>
            <a:pPr>
              <a:buFont typeface="Monotype Sorts" pitchFamily="84" charset="2"/>
              <a:buNone/>
            </a:pPr>
            <a:endParaRPr lang="en-US" altLang="en-US" dirty="0"/>
          </a:p>
          <a:p>
            <a:endParaRPr lang="en-US" altLang="en-US" dirty="0"/>
          </a:p>
          <a:p>
            <a:pPr marL="0" indent="0">
              <a:buNone/>
            </a:pPr>
            <a:endParaRPr lang="en-US" altLang="en-US" sz="3600" dirty="0"/>
          </a:p>
        </p:txBody>
      </p:sp>
    </p:spTree>
    <p:extLst>
      <p:ext uri="{BB962C8B-B14F-4D97-AF65-F5344CB8AC3E}">
        <p14:creationId xmlns:p14="http://schemas.microsoft.com/office/powerpoint/2010/main" val="180781106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914400"/>
          </a:xfrm>
        </p:spPr>
        <p:txBody>
          <a:bodyPr>
            <a:normAutofit fontScale="90000"/>
          </a:bodyPr>
          <a:lstStyle/>
          <a:p>
            <a:r>
              <a:rPr lang="en-GB" altLang="en-US" sz="2800" b="1" dirty="0"/>
              <a:t>Different styles of interacting lend themselves to very different metaphors</a:t>
            </a:r>
            <a:endParaRPr lang="en-US" altLang="en-US" sz="3200" b="1" dirty="0"/>
          </a:p>
        </p:txBody>
      </p:sp>
      <p:sp>
        <p:nvSpPr>
          <p:cNvPr id="7" name="Content Placeholder 2"/>
          <p:cNvSpPr>
            <a:spLocks noGrp="1"/>
          </p:cNvSpPr>
          <p:nvPr>
            <p:ph idx="1"/>
          </p:nvPr>
        </p:nvSpPr>
        <p:spPr>
          <a:xfrm>
            <a:off x="0" y="457200"/>
            <a:ext cx="9144000" cy="6400800"/>
          </a:xfrm>
        </p:spPr>
        <p:txBody>
          <a:bodyPr>
            <a:normAutofit/>
          </a:bodyPr>
          <a:lstStyle/>
          <a:p>
            <a:pPr lvl="1"/>
            <a:endParaRPr lang="en-US" altLang="en-US" sz="3200" dirty="0"/>
          </a:p>
          <a:p>
            <a:pPr>
              <a:lnSpc>
                <a:spcPct val="90000"/>
              </a:lnSpc>
            </a:pPr>
            <a:r>
              <a:rPr lang="en-GB" altLang="en-US" sz="2800" dirty="0">
                <a:solidFill>
                  <a:schemeClr val="accent1"/>
                </a:solidFill>
              </a:rPr>
              <a:t>Commands</a:t>
            </a:r>
            <a:endParaRPr lang="en-GB" altLang="en-US" sz="2800" dirty="0"/>
          </a:p>
          <a:p>
            <a:pPr lvl="1">
              <a:lnSpc>
                <a:spcPct val="90000"/>
              </a:lnSpc>
            </a:pPr>
            <a:r>
              <a:rPr lang="en-GB" altLang="en-US" sz="2400" dirty="0"/>
              <a:t>typing commands via keyboard; function key shortcuts</a:t>
            </a:r>
          </a:p>
          <a:p>
            <a:pPr>
              <a:lnSpc>
                <a:spcPct val="90000"/>
              </a:lnSpc>
            </a:pPr>
            <a:r>
              <a:rPr lang="en-GB" altLang="en-US" sz="2800" dirty="0">
                <a:solidFill>
                  <a:schemeClr val="accent1"/>
                </a:solidFill>
              </a:rPr>
              <a:t>Menus</a:t>
            </a:r>
          </a:p>
          <a:p>
            <a:pPr lvl="1">
              <a:lnSpc>
                <a:spcPct val="90000"/>
              </a:lnSpc>
            </a:pPr>
            <a:r>
              <a:rPr lang="en-GB" altLang="en-US" sz="2400" dirty="0"/>
              <a:t>selecting from pre-determined choices</a:t>
            </a:r>
          </a:p>
          <a:p>
            <a:pPr>
              <a:lnSpc>
                <a:spcPct val="90000"/>
              </a:lnSpc>
            </a:pPr>
            <a:r>
              <a:rPr lang="en-GB" altLang="en-US" sz="2800" dirty="0">
                <a:solidFill>
                  <a:schemeClr val="accent1"/>
                </a:solidFill>
              </a:rPr>
              <a:t>Direct manipulation </a:t>
            </a:r>
            <a:endParaRPr lang="en-GB" altLang="en-US" sz="2800" dirty="0"/>
          </a:p>
          <a:p>
            <a:pPr lvl="1">
              <a:lnSpc>
                <a:spcPct val="90000"/>
              </a:lnSpc>
            </a:pPr>
            <a:r>
              <a:rPr lang="en-GB" altLang="en-US" sz="2400" dirty="0"/>
              <a:t>acting on objects and interacting with virtual objects</a:t>
            </a:r>
          </a:p>
          <a:p>
            <a:pPr>
              <a:lnSpc>
                <a:spcPct val="90000"/>
              </a:lnSpc>
            </a:pPr>
            <a:r>
              <a:rPr lang="en-GB" altLang="en-US" sz="2800" dirty="0">
                <a:solidFill>
                  <a:schemeClr val="accent1"/>
                </a:solidFill>
              </a:rPr>
              <a:t>Conversational dialogue systems</a:t>
            </a:r>
            <a:endParaRPr lang="en-GB" altLang="en-US" sz="2800" dirty="0">
              <a:solidFill>
                <a:schemeClr val="accent2"/>
              </a:solidFill>
            </a:endParaRPr>
          </a:p>
          <a:p>
            <a:pPr lvl="1">
              <a:lnSpc>
                <a:spcPct val="90000"/>
              </a:lnSpc>
            </a:pPr>
            <a:r>
              <a:rPr lang="en-GB" altLang="en-US" sz="2400" dirty="0"/>
              <a:t>interacting with the system as if having a conversation</a:t>
            </a:r>
          </a:p>
          <a:p>
            <a:pPr>
              <a:lnSpc>
                <a:spcPct val="90000"/>
              </a:lnSpc>
            </a:pPr>
            <a:r>
              <a:rPr lang="en-GB" altLang="en-US" sz="2800" dirty="0">
                <a:solidFill>
                  <a:schemeClr val="accent1"/>
                </a:solidFill>
              </a:rPr>
              <a:t>Exploring, browsing, &amp; foraging for information</a:t>
            </a:r>
            <a:endParaRPr lang="en-GB" altLang="en-US" sz="2800" dirty="0"/>
          </a:p>
          <a:p>
            <a:pPr lvl="1">
              <a:lnSpc>
                <a:spcPct val="90000"/>
              </a:lnSpc>
            </a:pPr>
            <a:r>
              <a:rPr lang="en-GB" altLang="en-US" sz="2400" dirty="0"/>
              <a:t>finding out and learning things</a:t>
            </a:r>
          </a:p>
          <a:p>
            <a:pPr lvl="1">
              <a:lnSpc>
                <a:spcPct val="90000"/>
              </a:lnSpc>
            </a:pPr>
            <a:r>
              <a:rPr lang="en-GB" altLang="en-US" sz="2400" dirty="0"/>
              <a:t>browsers (different from menus)</a:t>
            </a:r>
            <a:endParaRPr lang="en-GB" altLang="en-US" dirty="0"/>
          </a:p>
          <a:p>
            <a:pPr lvl="1">
              <a:lnSpc>
                <a:spcPct val="90000"/>
              </a:lnSpc>
              <a:buFont typeface="Monotype Sorts" pitchFamily="84" charset="2"/>
              <a:buNone/>
            </a:pPr>
            <a:endParaRPr lang="en-GB" altLang="en-US" sz="2000" dirty="0"/>
          </a:p>
          <a:p>
            <a:endParaRPr lang="en-US" altLang="en-US" dirty="0"/>
          </a:p>
          <a:p>
            <a:pPr>
              <a:buFont typeface="Monotype Sorts" pitchFamily="84" charset="2"/>
              <a:buNone/>
            </a:pPr>
            <a:endParaRPr lang="en-US" altLang="en-US" dirty="0"/>
          </a:p>
          <a:p>
            <a:endParaRPr lang="en-US" altLang="en-US" dirty="0"/>
          </a:p>
          <a:p>
            <a:pPr marL="0" indent="0">
              <a:buNone/>
            </a:pPr>
            <a:endParaRPr lang="en-US" altLang="en-US" sz="3600" dirty="0"/>
          </a:p>
        </p:txBody>
      </p:sp>
    </p:spTree>
    <p:extLst>
      <p:ext uri="{BB962C8B-B14F-4D97-AF65-F5344CB8AC3E}">
        <p14:creationId xmlns:p14="http://schemas.microsoft.com/office/powerpoint/2010/main" val="34943739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914400"/>
          </a:xfrm>
        </p:spPr>
        <p:txBody>
          <a:bodyPr>
            <a:normAutofit/>
          </a:bodyPr>
          <a:lstStyle/>
          <a:p>
            <a:r>
              <a:rPr lang="en-GB" altLang="en-US" sz="2800" b="1" dirty="0"/>
              <a:t>Problems with </a:t>
            </a:r>
            <a:r>
              <a:rPr lang="en-GB" altLang="en-US" sz="2800" b="1" dirty="0" smtClean="0"/>
              <a:t>Interface Metaphors </a:t>
            </a:r>
            <a:endParaRPr lang="en-US" altLang="en-US" sz="3200" b="1" dirty="0"/>
          </a:p>
        </p:txBody>
      </p:sp>
      <p:sp>
        <p:nvSpPr>
          <p:cNvPr id="7" name="Content Placeholder 2"/>
          <p:cNvSpPr>
            <a:spLocks noGrp="1"/>
          </p:cNvSpPr>
          <p:nvPr>
            <p:ph idx="1"/>
          </p:nvPr>
        </p:nvSpPr>
        <p:spPr>
          <a:xfrm>
            <a:off x="0" y="1143000"/>
            <a:ext cx="9144000" cy="5715000"/>
          </a:xfrm>
        </p:spPr>
        <p:txBody>
          <a:bodyPr>
            <a:normAutofit/>
          </a:bodyPr>
          <a:lstStyle/>
          <a:p>
            <a:r>
              <a:rPr lang="en-GB" altLang="en-US" sz="2800" dirty="0"/>
              <a:t>Sometimes they break conventional and cultural rules</a:t>
            </a:r>
          </a:p>
          <a:p>
            <a:pPr lvl="1"/>
            <a:r>
              <a:rPr lang="en-GB" altLang="en-US" dirty="0"/>
              <a:t>e.g. recycle bin placed on desktop</a:t>
            </a:r>
          </a:p>
          <a:p>
            <a:r>
              <a:rPr lang="en-GB" altLang="en-US" sz="2800" dirty="0"/>
              <a:t>Can overly constrain designers in the way they conceptualize a problem space</a:t>
            </a:r>
          </a:p>
          <a:p>
            <a:r>
              <a:rPr lang="en-GB" altLang="en-US" sz="2800" dirty="0"/>
              <a:t>May conflict with principles of good design</a:t>
            </a:r>
          </a:p>
          <a:p>
            <a:r>
              <a:rPr lang="en-GB" altLang="en-US" sz="2800" dirty="0"/>
              <a:t>Forces users to understand the system in terms of the metaphor</a:t>
            </a:r>
          </a:p>
          <a:p>
            <a:r>
              <a:rPr lang="en-GB" altLang="en-US" sz="2800" dirty="0"/>
              <a:t>Designers can inadvertently use bad existing designs and transfer the bad parts into the new designs</a:t>
            </a:r>
          </a:p>
          <a:p>
            <a:r>
              <a:rPr lang="en-GB" altLang="en-US" sz="2800" dirty="0"/>
              <a:t>Limits designers’ imagination in coming up with new conceptual models</a:t>
            </a:r>
            <a:endParaRPr lang="en-US" altLang="en-US" sz="4000" dirty="0"/>
          </a:p>
        </p:txBody>
      </p:sp>
    </p:spTree>
    <p:extLst>
      <p:ext uri="{BB962C8B-B14F-4D97-AF65-F5344CB8AC3E}">
        <p14:creationId xmlns:p14="http://schemas.microsoft.com/office/powerpoint/2010/main" val="177706149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458</TotalTime>
  <Words>2152</Words>
  <Application>Microsoft Office PowerPoint</Application>
  <PresentationFormat>On-screen Show (4:3)</PresentationFormat>
  <Paragraphs>307</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Metaphors</vt:lpstr>
      <vt:lpstr>Metaphors (Contd.)</vt:lpstr>
      <vt:lpstr>Metaphors and Computing</vt:lpstr>
      <vt:lpstr>User-Interface Metaphor</vt:lpstr>
      <vt:lpstr>User-Interface Metaphor (Contd.)</vt:lpstr>
      <vt:lpstr>Styles of Interaction</vt:lpstr>
      <vt:lpstr>Command interface</vt:lpstr>
      <vt:lpstr>Command interface (Contd.)</vt:lpstr>
      <vt:lpstr>Command interface (Contd.)</vt:lpstr>
      <vt:lpstr>Command interface (Contd.)</vt:lpstr>
      <vt:lpstr>Menus and W.I.M.P. interfaces</vt:lpstr>
      <vt:lpstr>Menus and W.I.M.P. interfaces (Contd.)</vt:lpstr>
      <vt:lpstr>Menus and W.I.M.P. interfaces (Contd.)</vt:lpstr>
      <vt:lpstr>Direct Manipulation Interfaces</vt:lpstr>
      <vt:lpstr>Direct Manipulation Interfaces (Contd.)</vt:lpstr>
      <vt:lpstr>Direct Manipulation Interfaces (Contd.)</vt:lpstr>
      <vt:lpstr>Direct Manipulation Interfaces (Contd.)</vt:lpstr>
      <vt:lpstr>Conversation</vt:lpstr>
      <vt:lpstr>Conversation (Contd.)</vt:lpstr>
      <vt:lpstr>Conversation (Contd.)</vt:lpstr>
      <vt:lpstr>Conversation (Contd.)</vt:lpstr>
      <vt:lpstr>Conversation (Contd.)</vt:lpstr>
      <vt:lpstr>Conversation</vt:lpstr>
      <vt:lpstr>Exploring &amp; Browsing</vt:lpstr>
      <vt:lpstr>Forms and Spreadsheets</vt:lpstr>
      <vt:lpstr>Immersive environments</vt:lpstr>
      <vt:lpstr>Different users are different!</vt:lpstr>
      <vt:lpstr>Different styles of interacting lend themselves to very different metaphors</vt:lpstr>
      <vt:lpstr>Problems with Interface Metaphors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Analysis</dc:title>
  <dc:creator>gulraiz</dc:creator>
  <cp:lastModifiedBy>gulraiz</cp:lastModifiedBy>
  <cp:revision>164</cp:revision>
  <dcterms:created xsi:type="dcterms:W3CDTF">2014-08-12T16:29:38Z</dcterms:created>
  <dcterms:modified xsi:type="dcterms:W3CDTF">2017-03-24T05:32:48Z</dcterms:modified>
</cp:coreProperties>
</file>