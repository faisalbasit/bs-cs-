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62" autoAdjust="0"/>
  </p:normalViewPr>
  <p:slideViewPr>
    <p:cSldViewPr>
      <p:cViewPr>
        <p:scale>
          <a:sx n="66" d="100"/>
          <a:sy n="66" d="100"/>
        </p:scale>
        <p:origin x="-1494" y="-180"/>
      </p:cViewPr>
      <p:guideLst>
        <p:guide orient="horz" pos="2160"/>
        <p:guide pos="2880"/>
      </p:guideLst>
    </p:cSldViewPr>
  </p:slideViewPr>
  <p:outlineViewPr>
    <p:cViewPr>
      <p:scale>
        <a:sx n="33" d="100"/>
        <a:sy n="33" d="100"/>
      </p:scale>
      <p:origin x="48" y="19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4/18/2017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4/18/2017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E78462-CCA5-4CFA-A196-17550FE0A9E1}" type="datetimeFigureOut">
              <a:rPr lang="en-US" smtClean="0"/>
              <a:t>4/18/2017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9E78462-CCA5-4CFA-A196-17550FE0A9E1}" type="datetimeFigureOut">
              <a:rPr lang="en-US" smtClean="0"/>
              <a:t>4/18/2017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9E78462-CCA5-4CFA-A196-17550FE0A9E1}" type="datetimeFigureOut">
              <a:rPr lang="en-US" smtClean="0"/>
              <a:t>4/18/2017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9E78462-CCA5-4CFA-A196-17550FE0A9E1}" type="datetimeFigureOut">
              <a:rPr lang="en-US" smtClean="0"/>
              <a:t>4/18/2017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E78462-CCA5-4CFA-A196-17550FE0A9E1}" type="datetimeFigureOut">
              <a:rPr lang="en-US" smtClean="0"/>
              <a:t>4/18/2017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4/18/2017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4/18/2017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4/18/2017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4/18/2017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E78462-CCA5-4CFA-A196-17550FE0A9E1}" type="datetimeFigureOut">
              <a:rPr lang="en-US" smtClean="0"/>
              <a:t>4/18/2017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usability.gov/what-and-why/content-strategy.html" TargetMode="External"/><Relationship Id="rId7" Type="http://schemas.openxmlformats.org/officeDocument/2006/relationships/hyperlink" Target="https://www.usability.gov/how-to-and-tools/methods/usability-testing.html" TargetMode="External"/><Relationship Id="rId2" Type="http://schemas.openxmlformats.org/officeDocument/2006/relationships/hyperlink" Target="https://www.usability.gov/how-to-and-tools/methods/requirements.html" TargetMode="External"/><Relationship Id="rId1" Type="http://schemas.openxmlformats.org/officeDocument/2006/relationships/slideLayout" Target="../slideLayouts/slideLayout2.xml"/><Relationship Id="rId6" Type="http://schemas.openxmlformats.org/officeDocument/2006/relationships/hyperlink" Target="https://www.usability.gov/how-to-and-tools/methods/prototyping.html" TargetMode="External"/><Relationship Id="rId5" Type="http://schemas.openxmlformats.org/officeDocument/2006/relationships/hyperlink" Target="https://www.usability.gov/how-to-and-tools/methods/wireframing.html" TargetMode="External"/><Relationship Id="rId4" Type="http://schemas.openxmlformats.org/officeDocument/2006/relationships/hyperlink" Target="https://www.usability.gov/what-and-why/information-architecture.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www.uxmatters.com/mt/archives/2010/02/hierarchical-task-analysis.ph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b="1" dirty="0" smtClean="0"/>
              <a:t>Task Analysis</a:t>
            </a:r>
            <a:endParaRPr lang="en-US" sz="4000" b="1" dirty="0"/>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sz="2400" dirty="0"/>
              <a:t>Task analysis is the process of learning about ordinary users by observing them in action to understand in detail how they perform their tasks and achieve their intended goals</a:t>
            </a:r>
            <a:r>
              <a:rPr lang="en-US" sz="2400" dirty="0" smtClean="0"/>
              <a:t>.</a:t>
            </a:r>
            <a:endParaRPr lang="en-US" sz="2400" dirty="0"/>
          </a:p>
          <a:p>
            <a:r>
              <a:rPr lang="en-US" sz="2400" dirty="0"/>
              <a:t>Tasks analysis helps identify the tasks that your website and applications must support and can also help you refine or re-define your site’s navigation or search by determining the appropriate content scope.</a:t>
            </a:r>
            <a:r>
              <a:rPr lang="en-US" sz="2400" dirty="0" smtClean="0"/>
              <a:t> </a:t>
            </a:r>
          </a:p>
          <a:p>
            <a:endParaRPr lang="en-US" sz="2400" dirty="0"/>
          </a:p>
          <a:p>
            <a:endParaRPr lang="en-US" sz="2400" dirty="0" smtClean="0"/>
          </a:p>
        </p:txBody>
      </p:sp>
    </p:spTree>
    <p:extLst>
      <p:ext uri="{BB962C8B-B14F-4D97-AF65-F5344CB8AC3E}">
        <p14:creationId xmlns:p14="http://schemas.microsoft.com/office/powerpoint/2010/main" val="41880852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b="1" dirty="0"/>
              <a:t>Purpose of Task Analysis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sz="2400" dirty="0"/>
              <a:t>A</a:t>
            </a:r>
            <a:r>
              <a:rPr lang="en-US" sz="2400" dirty="0" smtClean="0"/>
              <a:t> </a:t>
            </a:r>
            <a:r>
              <a:rPr lang="en-US" sz="2400" dirty="0"/>
              <a:t>task analysis helps you </a:t>
            </a:r>
            <a:r>
              <a:rPr lang="en-US" sz="2400" dirty="0" smtClean="0"/>
              <a:t>understand:</a:t>
            </a:r>
          </a:p>
          <a:p>
            <a:pPr lvl="2" fontAlgn="base"/>
            <a:r>
              <a:rPr lang="en-US" dirty="0"/>
              <a:t>What your users’ goals are; what they are trying to achieve</a:t>
            </a:r>
          </a:p>
          <a:p>
            <a:pPr lvl="2" fontAlgn="base"/>
            <a:r>
              <a:rPr lang="en-US" dirty="0"/>
              <a:t>What users actually do to achieve those goals</a:t>
            </a:r>
          </a:p>
          <a:p>
            <a:pPr lvl="2" fontAlgn="base"/>
            <a:r>
              <a:rPr lang="en-US" dirty="0"/>
              <a:t>What experiences (personal, social, and cultural) users bring to the tasks</a:t>
            </a:r>
          </a:p>
          <a:p>
            <a:pPr lvl="2" fontAlgn="base"/>
            <a:r>
              <a:rPr lang="en-US" dirty="0"/>
              <a:t>How users are influenced by their physical environment</a:t>
            </a:r>
          </a:p>
          <a:p>
            <a:pPr lvl="2" fontAlgn="base"/>
            <a:r>
              <a:rPr lang="en-US" dirty="0"/>
              <a:t>How users’ previous knowledge and experience influence:</a:t>
            </a:r>
          </a:p>
          <a:p>
            <a:pPr lvl="3" fontAlgn="base"/>
            <a:r>
              <a:rPr lang="en-US" sz="2400" dirty="0"/>
              <a:t>How they think about their work</a:t>
            </a:r>
          </a:p>
          <a:p>
            <a:pPr lvl="3" fontAlgn="base"/>
            <a:r>
              <a:rPr lang="en-US" sz="2400" dirty="0"/>
              <a:t>The workflow they follow to perform their tasks</a:t>
            </a:r>
          </a:p>
          <a:p>
            <a:endParaRPr lang="en-US" sz="2400" dirty="0"/>
          </a:p>
          <a:p>
            <a:endParaRPr lang="en-US" sz="2400" dirty="0" smtClean="0"/>
          </a:p>
        </p:txBody>
      </p:sp>
    </p:spTree>
    <p:extLst>
      <p:ext uri="{BB962C8B-B14F-4D97-AF65-F5344CB8AC3E}">
        <p14:creationId xmlns:p14="http://schemas.microsoft.com/office/powerpoint/2010/main" val="187948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b="1" dirty="0"/>
              <a:t>When to Perform a Task Analysis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sz="2400" dirty="0"/>
              <a:t>It’s important to perform a task analysis early in your process, in particular prior to design work.  Task analysis helps support several other aspects of the user-centered design process, including</a:t>
            </a:r>
            <a:r>
              <a:rPr lang="en-US" sz="2400" dirty="0" smtClean="0"/>
              <a:t>:</a:t>
            </a:r>
          </a:p>
          <a:p>
            <a:pPr lvl="1" fontAlgn="base"/>
            <a:r>
              <a:rPr lang="en-US" sz="2400" u="sng" dirty="0">
                <a:hlinkClick r:id="rId2"/>
              </a:rPr>
              <a:t>Website requirements</a:t>
            </a:r>
            <a:r>
              <a:rPr lang="en-US" sz="2400" dirty="0"/>
              <a:t> gathering</a:t>
            </a:r>
          </a:p>
          <a:p>
            <a:pPr lvl="1" fontAlgn="base"/>
            <a:r>
              <a:rPr lang="en-US" sz="2400" dirty="0"/>
              <a:t>Developing your </a:t>
            </a:r>
            <a:r>
              <a:rPr lang="en-US" sz="2400" u="sng" dirty="0">
                <a:hlinkClick r:id="rId3"/>
              </a:rPr>
              <a:t>content strategy </a:t>
            </a:r>
            <a:r>
              <a:rPr lang="en-US" sz="2400" dirty="0"/>
              <a:t>and </a:t>
            </a:r>
            <a:r>
              <a:rPr lang="en-US" sz="2400" u="sng" dirty="0">
                <a:hlinkClick r:id="rId4"/>
              </a:rPr>
              <a:t>site structure</a:t>
            </a:r>
            <a:endParaRPr lang="en-US" sz="2400" dirty="0"/>
          </a:p>
          <a:p>
            <a:pPr lvl="1" fontAlgn="base"/>
            <a:r>
              <a:rPr lang="en-US" sz="2400" u="sng" dirty="0" err="1">
                <a:hlinkClick r:id="rId5"/>
              </a:rPr>
              <a:t>Wireframing</a:t>
            </a:r>
            <a:r>
              <a:rPr lang="en-US" sz="2400" dirty="0"/>
              <a:t> and </a:t>
            </a:r>
            <a:r>
              <a:rPr lang="en-US" sz="2400" u="sng" dirty="0">
                <a:hlinkClick r:id="rId6"/>
              </a:rPr>
              <a:t>Prototyping</a:t>
            </a:r>
            <a:endParaRPr lang="en-US" sz="2400" dirty="0"/>
          </a:p>
          <a:p>
            <a:pPr lvl="1" fontAlgn="base"/>
            <a:r>
              <a:rPr lang="en-US" sz="2400" dirty="0"/>
              <a:t>Performing </a:t>
            </a:r>
            <a:r>
              <a:rPr lang="en-US" sz="2400" u="sng" dirty="0">
                <a:hlinkClick r:id="rId7"/>
              </a:rPr>
              <a:t>usability testing</a:t>
            </a:r>
            <a:endParaRPr lang="en-US" sz="2400" dirty="0"/>
          </a:p>
          <a:p>
            <a:endParaRPr lang="en-US" sz="2400" dirty="0"/>
          </a:p>
          <a:p>
            <a:endParaRPr lang="en-US" sz="2400" dirty="0" smtClean="0"/>
          </a:p>
        </p:txBody>
      </p:sp>
    </p:spTree>
    <p:extLst>
      <p:ext uri="{BB962C8B-B14F-4D97-AF65-F5344CB8AC3E}">
        <p14:creationId xmlns:p14="http://schemas.microsoft.com/office/powerpoint/2010/main" val="27322322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b="1" dirty="0"/>
              <a:t>Types of Task Analysis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fontAlgn="base"/>
            <a:r>
              <a:rPr lang="en-US" sz="2400" dirty="0"/>
              <a:t>There are several types of task analysis but among the most common techniques used are:</a:t>
            </a:r>
          </a:p>
          <a:p>
            <a:pPr lvl="1" fontAlgn="base"/>
            <a:r>
              <a:rPr lang="en-US" sz="2400" b="1" dirty="0"/>
              <a:t>Cognitive Task Analysis</a:t>
            </a:r>
            <a:r>
              <a:rPr lang="en-US" sz="2400" dirty="0"/>
              <a:t> is focused on understanding tasks that require decision-making, problem-solving, memory, attention and judgement.</a:t>
            </a:r>
          </a:p>
          <a:p>
            <a:pPr lvl="1" fontAlgn="base"/>
            <a:r>
              <a:rPr lang="en-US" sz="2400" b="1" dirty="0"/>
              <a:t>Hierarchical Task Analysis</a:t>
            </a:r>
            <a:r>
              <a:rPr lang="en-US" sz="2400" dirty="0"/>
              <a:t> is focused on decomposing a high-level task subtasks. </a:t>
            </a:r>
          </a:p>
          <a:p>
            <a:endParaRPr lang="en-US" sz="2400" dirty="0"/>
          </a:p>
          <a:p>
            <a:endParaRPr lang="en-US" sz="2400" dirty="0" smtClean="0"/>
          </a:p>
        </p:txBody>
      </p:sp>
    </p:spTree>
    <p:extLst>
      <p:ext uri="{BB962C8B-B14F-4D97-AF65-F5344CB8AC3E}">
        <p14:creationId xmlns:p14="http://schemas.microsoft.com/office/powerpoint/2010/main" val="16040756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b="1" dirty="0"/>
              <a:t>How to Conduct a Task Analysis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marL="457200" indent="-457200" fontAlgn="base">
              <a:buFont typeface="+mj-lt"/>
              <a:buAutoNum type="arabicPeriod"/>
            </a:pPr>
            <a:r>
              <a:rPr lang="en-US" sz="2400" dirty="0"/>
              <a:t>Identify the task to be analyzed.</a:t>
            </a:r>
          </a:p>
          <a:p>
            <a:pPr marL="457200" indent="-457200" fontAlgn="base">
              <a:buFont typeface="+mj-lt"/>
              <a:buAutoNum type="arabicPeriod"/>
            </a:pPr>
            <a:r>
              <a:rPr lang="en-US" sz="2400" dirty="0"/>
              <a:t>Break this high-level task down into 4 to 8 subtasks.  The subtask should be specified in terms of objectives and, between them, should cover the whole area of interest.</a:t>
            </a:r>
          </a:p>
          <a:p>
            <a:pPr marL="457200" indent="-457200" fontAlgn="base">
              <a:buFont typeface="+mj-lt"/>
              <a:buAutoNum type="arabicPeriod"/>
            </a:pPr>
            <a:r>
              <a:rPr lang="en-US" sz="2400" dirty="0"/>
              <a:t>Draw a layered task diagram of each subtasks ensuring that it is complete</a:t>
            </a:r>
          </a:p>
          <a:p>
            <a:pPr marL="457200" indent="-457200" fontAlgn="base">
              <a:buFont typeface="+mj-lt"/>
              <a:buAutoNum type="arabicPeriod"/>
            </a:pPr>
            <a:r>
              <a:rPr lang="en-US" sz="2400" dirty="0"/>
              <a:t>Produce a written account as well as the decomposition diagram.</a:t>
            </a:r>
          </a:p>
          <a:p>
            <a:pPr marL="457200" indent="-457200" fontAlgn="base">
              <a:buFont typeface="+mj-lt"/>
              <a:buAutoNum type="arabicPeriod"/>
            </a:pPr>
            <a:r>
              <a:rPr lang="en-US" sz="2400" dirty="0"/>
              <a:t>Present the analysis to someone else who has not been involved in the decomposition but who knows the tasks well enough to check for consistency</a:t>
            </a:r>
          </a:p>
          <a:p>
            <a:pPr marL="457200" indent="-457200" fontAlgn="base">
              <a:buFont typeface="+mj-lt"/>
              <a:buAutoNum type="arabicPeriod"/>
            </a:pPr>
            <a:r>
              <a:rPr lang="en-US" sz="2400" dirty="0"/>
              <a:t>It’s important to note that you need to decide to what level of detail you are going to decompose subtasks so that you can ensure that you are consistent across the board.</a:t>
            </a:r>
          </a:p>
          <a:p>
            <a:endParaRPr lang="en-US" sz="2400" dirty="0"/>
          </a:p>
          <a:p>
            <a:endParaRPr lang="en-US" sz="2400" dirty="0" smtClean="0"/>
          </a:p>
        </p:txBody>
      </p:sp>
    </p:spTree>
    <p:extLst>
      <p:ext uri="{BB962C8B-B14F-4D97-AF65-F5344CB8AC3E}">
        <p14:creationId xmlns:p14="http://schemas.microsoft.com/office/powerpoint/2010/main" val="39551715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a:t>Hierarchical Task Analysis</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fontAlgn="base"/>
            <a:r>
              <a:rPr lang="en-US" sz="2400" dirty="0"/>
              <a:t>a hierarchical task analysis provides an understanding of the tasks users need to perform to achieve certain goals. </a:t>
            </a:r>
            <a:endParaRPr lang="en-US" sz="2400" dirty="0" smtClean="0"/>
          </a:p>
          <a:p>
            <a:pPr fontAlgn="base"/>
            <a:r>
              <a:rPr lang="en-US" sz="2400" dirty="0" smtClean="0"/>
              <a:t>You </a:t>
            </a:r>
            <a:r>
              <a:rPr lang="en-US" sz="2400" dirty="0"/>
              <a:t>can break down these tasks into multiple levels of subtasks</a:t>
            </a:r>
            <a:r>
              <a:rPr lang="en-US" sz="2400" dirty="0" smtClean="0"/>
              <a:t>.</a:t>
            </a:r>
          </a:p>
          <a:p>
            <a:pPr fontAlgn="base"/>
            <a:r>
              <a:rPr lang="en-US" sz="2400" dirty="0"/>
              <a:t>In user experience, you can use hierarchical task analysis to describe the interactions between a user and a software system. </a:t>
            </a:r>
            <a:endParaRPr lang="en-US" sz="2400" dirty="0" smtClean="0"/>
          </a:p>
          <a:p>
            <a:pPr fontAlgn="base"/>
            <a:r>
              <a:rPr lang="en-US" sz="2400" dirty="0"/>
              <a:t>When designing a new system, hierarchical task analysis lets you explore various possible approaches to completing the same task. </a:t>
            </a:r>
            <a:endParaRPr lang="en-US" sz="2400" dirty="0" smtClean="0"/>
          </a:p>
          <a:p>
            <a:pPr fontAlgn="base"/>
            <a:r>
              <a:rPr lang="en-US" sz="2400" dirty="0" smtClean="0"/>
              <a:t>When </a:t>
            </a:r>
            <a:r>
              <a:rPr lang="en-US" sz="2400" dirty="0"/>
              <a:t>analyzing an existing system, it can help you to optimize particular interactions</a:t>
            </a:r>
            <a:r>
              <a:rPr lang="en-US" sz="2400" dirty="0" smtClean="0"/>
              <a:t>.</a:t>
            </a:r>
          </a:p>
          <a:p>
            <a:pPr fontAlgn="base"/>
            <a:r>
              <a:rPr lang="en-US" sz="2400" dirty="0"/>
              <a:t>When designing a new system, hierarchical task analysis lets you explore various possible approaches to completing the same task. </a:t>
            </a:r>
            <a:endParaRPr lang="en-US" sz="2400" dirty="0" smtClean="0"/>
          </a:p>
          <a:p>
            <a:pPr fontAlgn="base"/>
            <a:r>
              <a:rPr lang="en-US" sz="2400" dirty="0" smtClean="0"/>
              <a:t>When </a:t>
            </a:r>
            <a:r>
              <a:rPr lang="en-US" sz="2400" dirty="0"/>
              <a:t>analyzing an existing system, it can help you to optimize particular interactions.</a:t>
            </a:r>
          </a:p>
          <a:p>
            <a:endParaRPr lang="en-US" sz="2400" dirty="0" smtClean="0"/>
          </a:p>
        </p:txBody>
      </p:sp>
    </p:spTree>
    <p:extLst>
      <p:ext uri="{BB962C8B-B14F-4D97-AF65-F5344CB8AC3E}">
        <p14:creationId xmlns:p14="http://schemas.microsoft.com/office/powerpoint/2010/main" val="16228334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990600"/>
          </a:xfrm>
        </p:spPr>
        <p:txBody>
          <a:bodyPr>
            <a:normAutofit fontScale="90000"/>
          </a:bodyPr>
          <a:lstStyle/>
          <a:p>
            <a:r>
              <a:rPr lang="en-US" sz="4000" dirty="0"/>
              <a:t>Applying Hierarchical Task Analysis to User Experience</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sz="2400" dirty="0"/>
              <a:t>Hierarchical task analysis requires a detailed understanding of users’ tasks. You can achieve this understanding by</a:t>
            </a:r>
          </a:p>
          <a:p>
            <a:pPr lvl="1"/>
            <a:r>
              <a:rPr lang="en-US" sz="2400" dirty="0"/>
              <a:t>identifying users’ primary goals</a:t>
            </a:r>
          </a:p>
          <a:p>
            <a:pPr lvl="1"/>
            <a:r>
              <a:rPr lang="en-US" sz="2400" dirty="0"/>
              <a:t>detailing the steps users must perform to accomplish their goals</a:t>
            </a:r>
          </a:p>
          <a:p>
            <a:pPr lvl="1"/>
            <a:r>
              <a:rPr lang="en-US" sz="2400" dirty="0"/>
              <a:t>optimizing these procedures</a:t>
            </a:r>
          </a:p>
          <a:p>
            <a:pPr lvl="1"/>
            <a:endParaRPr lang="en-US" sz="2400" dirty="0" smtClean="0"/>
          </a:p>
        </p:txBody>
      </p:sp>
    </p:spTree>
    <p:extLst>
      <p:ext uri="{BB962C8B-B14F-4D97-AF65-F5344CB8AC3E}">
        <p14:creationId xmlns:p14="http://schemas.microsoft.com/office/powerpoint/2010/main" val="42095487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990600"/>
          </a:xfrm>
        </p:spPr>
        <p:txBody>
          <a:bodyPr>
            <a:normAutofit fontScale="90000"/>
          </a:bodyPr>
          <a:lstStyle/>
          <a:p>
            <a:r>
              <a:rPr lang="en-US" sz="4000" dirty="0" smtClean="0"/>
              <a:t>Example - </a:t>
            </a:r>
            <a:r>
              <a:rPr lang="en-US" sz="4000" dirty="0"/>
              <a:t>Task: ordering a book. </a:t>
            </a:r>
            <a:br>
              <a:rPr lang="en-US" sz="4000" dirty="0"/>
            </a:br>
            <a:endParaRPr lang="en-US" sz="4000" dirty="0"/>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sz="2400" dirty="0" smtClean="0"/>
              <a:t>Following figure shows </a:t>
            </a:r>
            <a:r>
              <a:rPr lang="en-US" sz="2400" dirty="0"/>
              <a:t>a high-level hierarchical task analysis for this task</a:t>
            </a:r>
            <a:r>
              <a:rPr lang="en-US" sz="2400" dirty="0" smtClean="0"/>
              <a:t>.</a:t>
            </a:r>
          </a:p>
          <a:p>
            <a:endParaRPr lang="en-US" sz="2400" b="1" dirty="0" smtClean="0"/>
          </a:p>
        </p:txBody>
      </p:sp>
      <p:pic>
        <p:nvPicPr>
          <p:cNvPr id="1026" name="Picture 2" descr="C:\Users\gulraiz\Desktop\Untitled-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200"/>
            <a:ext cx="9152313" cy="2063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46570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990600"/>
          </a:xfrm>
        </p:spPr>
        <p:txBody>
          <a:bodyPr>
            <a:normAutofit fontScale="90000"/>
          </a:bodyPr>
          <a:lstStyle/>
          <a:p>
            <a:r>
              <a:rPr lang="en-US" sz="4000" dirty="0" smtClean="0"/>
              <a:t>Example - </a:t>
            </a:r>
            <a:r>
              <a:rPr lang="en-US" sz="4000" dirty="0"/>
              <a:t>Task: ordering a book. </a:t>
            </a:r>
            <a:r>
              <a:rPr lang="en-US" sz="4000" dirty="0" smtClean="0"/>
              <a:t> (Contd.)</a:t>
            </a:r>
            <a:r>
              <a:rPr lang="en-US" sz="4000" dirty="0"/>
              <a:t/>
            </a:r>
            <a:br>
              <a:rPr lang="en-US" sz="4000" dirty="0"/>
            </a:br>
            <a:endParaRPr lang="en-US" sz="4000" dirty="0"/>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sz="2400" dirty="0"/>
              <a:t>In this hierarchical task analysis, I’ve broken this task down into subtasks, expressing the relationships between the parent task and its subtasks through a numbering scheme. </a:t>
            </a:r>
            <a:endParaRPr lang="en-US" sz="2400" dirty="0" smtClean="0"/>
          </a:p>
          <a:p>
            <a:r>
              <a:rPr lang="en-US" sz="2400" dirty="0" smtClean="0"/>
              <a:t>This </a:t>
            </a:r>
            <a:r>
              <a:rPr lang="en-US" sz="2400" dirty="0"/>
              <a:t>hierarchical task analysis is very coarse from a user experience standpoint. </a:t>
            </a:r>
            <a:endParaRPr lang="en-US" sz="2400" dirty="0" smtClean="0"/>
          </a:p>
          <a:p>
            <a:r>
              <a:rPr lang="en-US" sz="2400" dirty="0" smtClean="0"/>
              <a:t>It </a:t>
            </a:r>
            <a:r>
              <a:rPr lang="en-US" sz="2400" dirty="0"/>
              <a:t>does </a:t>
            </a:r>
            <a:r>
              <a:rPr lang="en-US" sz="2400" i="1" dirty="0"/>
              <a:t>not</a:t>
            </a:r>
            <a:r>
              <a:rPr lang="en-US" sz="2400" dirty="0"/>
              <a:t> communicate </a:t>
            </a:r>
            <a:r>
              <a:rPr lang="en-US" sz="2400" dirty="0" smtClean="0"/>
              <a:t>any thing </a:t>
            </a:r>
            <a:r>
              <a:rPr lang="en-US" sz="2400" dirty="0"/>
              <a:t>about what is happening at the level of a user’s interaction with the system. However, it </a:t>
            </a:r>
            <a:r>
              <a:rPr lang="en-US" sz="2400" i="1" dirty="0"/>
              <a:t>does</a:t>
            </a:r>
            <a:r>
              <a:rPr lang="en-US" sz="2400" dirty="0"/>
              <a:t> give a clear understanding of the task’s high-level steps. </a:t>
            </a:r>
            <a:endParaRPr lang="en-US" sz="2400" dirty="0" smtClean="0"/>
          </a:p>
          <a:p>
            <a:r>
              <a:rPr lang="en-US" sz="2400" dirty="0" smtClean="0"/>
              <a:t>A </a:t>
            </a:r>
            <a:r>
              <a:rPr lang="en-US" sz="2400" dirty="0"/>
              <a:t>more complete task analysis would ultimately get down to the level of user interactions. </a:t>
            </a:r>
            <a:endParaRPr lang="en-US" sz="2400" dirty="0" smtClean="0"/>
          </a:p>
        </p:txBody>
      </p:sp>
    </p:spTree>
    <p:extLst>
      <p:ext uri="{BB962C8B-B14F-4D97-AF65-F5344CB8AC3E}">
        <p14:creationId xmlns:p14="http://schemas.microsoft.com/office/powerpoint/2010/main" val="41721048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990600"/>
          </a:xfrm>
        </p:spPr>
        <p:txBody>
          <a:bodyPr>
            <a:normAutofit fontScale="90000"/>
          </a:bodyPr>
          <a:lstStyle/>
          <a:p>
            <a:r>
              <a:rPr lang="en-US" sz="4000" dirty="0" smtClean="0"/>
              <a:t>Example - </a:t>
            </a:r>
            <a:r>
              <a:rPr lang="en-US" sz="4000" dirty="0"/>
              <a:t>Task: ordering a book. </a:t>
            </a:r>
            <a:r>
              <a:rPr lang="en-US" sz="4000" dirty="0" smtClean="0"/>
              <a:t> (Contd.)</a:t>
            </a:r>
            <a:r>
              <a:rPr lang="en-US" sz="4000" dirty="0"/>
              <a:t/>
            </a:r>
            <a:br>
              <a:rPr lang="en-US" sz="4000" dirty="0"/>
            </a:br>
            <a:endParaRPr lang="en-US" sz="4000" dirty="0"/>
          </a:p>
        </p:txBody>
      </p:sp>
      <p:sp>
        <p:nvSpPr>
          <p:cNvPr id="7" name="Content Placeholder 2"/>
          <p:cNvSpPr>
            <a:spLocks noGrp="1"/>
          </p:cNvSpPr>
          <p:nvPr>
            <p:ph idx="1"/>
          </p:nvPr>
        </p:nvSpPr>
        <p:spPr>
          <a:xfrm>
            <a:off x="0" y="685800"/>
            <a:ext cx="9144000" cy="990600"/>
          </a:xfrm>
        </p:spPr>
        <p:txBody>
          <a:bodyPr>
            <a:normAutofit fontScale="92500" lnSpcReduction="20000"/>
          </a:bodyPr>
          <a:lstStyle/>
          <a:p>
            <a:endParaRPr lang="en-US" sz="2400" dirty="0"/>
          </a:p>
          <a:p>
            <a:r>
              <a:rPr lang="en-US" sz="2400" dirty="0"/>
              <a:t>To illustrate, Subtask 1.4, “Complete address,” would break down as follows</a:t>
            </a:r>
            <a:r>
              <a:rPr lang="en-US" sz="2400" dirty="0" smtClean="0"/>
              <a:t>:</a:t>
            </a:r>
          </a:p>
          <a:p>
            <a:endParaRPr lang="en-US" sz="2400" b="1" dirty="0"/>
          </a:p>
        </p:txBody>
      </p:sp>
      <p:sp>
        <p:nvSpPr>
          <p:cNvPr id="4" name="Content Placeholder 2"/>
          <p:cNvSpPr txBox="1">
            <a:spLocks/>
          </p:cNvSpPr>
          <p:nvPr/>
        </p:nvSpPr>
        <p:spPr>
          <a:xfrm>
            <a:off x="152400" y="1600200"/>
            <a:ext cx="3886200" cy="5029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400" dirty="0" smtClean="0"/>
          </a:p>
          <a:p>
            <a:pPr marL="457200" indent="-457200">
              <a:buFont typeface="+mj-lt"/>
              <a:buAutoNum type="arabicPeriod"/>
            </a:pPr>
            <a:r>
              <a:rPr lang="en-US" sz="2400" dirty="0"/>
              <a:t>Locate the Full Name field.</a:t>
            </a:r>
          </a:p>
          <a:p>
            <a:pPr marL="457200" indent="-457200">
              <a:buFont typeface="+mj-lt"/>
              <a:buAutoNum type="arabicPeriod"/>
            </a:pPr>
            <a:r>
              <a:rPr lang="en-US" sz="2400" dirty="0"/>
              <a:t>Move the insertion point to the field.</a:t>
            </a:r>
          </a:p>
          <a:p>
            <a:pPr marL="457200" indent="-457200">
              <a:buFont typeface="+mj-lt"/>
              <a:buAutoNum type="arabicPeriod"/>
            </a:pPr>
            <a:r>
              <a:rPr lang="en-US" sz="2400" dirty="0"/>
              <a:t>Type the full name.</a:t>
            </a:r>
          </a:p>
          <a:p>
            <a:pPr marL="457200" indent="-457200">
              <a:buFont typeface="+mj-lt"/>
              <a:buAutoNum type="arabicPeriod"/>
            </a:pPr>
            <a:r>
              <a:rPr lang="en-US" sz="2400" dirty="0"/>
              <a:t>Locate the Address Line 1 field.</a:t>
            </a:r>
          </a:p>
          <a:p>
            <a:pPr marL="457200" indent="-457200">
              <a:buFont typeface="+mj-lt"/>
              <a:buAutoNum type="arabicPeriod"/>
            </a:pPr>
            <a:r>
              <a:rPr lang="en-US" sz="2400" dirty="0"/>
              <a:t>Move the insertion point to the field.</a:t>
            </a:r>
          </a:p>
          <a:p>
            <a:pPr marL="457200" indent="-457200">
              <a:buFont typeface="+mj-lt"/>
              <a:buAutoNum type="arabicPeriod"/>
            </a:pPr>
            <a:r>
              <a:rPr lang="en-US" sz="2400" dirty="0"/>
              <a:t>Type the address.</a:t>
            </a:r>
          </a:p>
          <a:p>
            <a:pPr marL="457200" indent="-457200">
              <a:buFont typeface="+mj-lt"/>
              <a:buAutoNum type="arabicPeriod"/>
            </a:pPr>
            <a:endParaRPr lang="en-US" sz="2400" b="1" dirty="0"/>
          </a:p>
        </p:txBody>
      </p:sp>
      <p:sp>
        <p:nvSpPr>
          <p:cNvPr id="5" name="Content Placeholder 2"/>
          <p:cNvSpPr txBox="1">
            <a:spLocks/>
          </p:cNvSpPr>
          <p:nvPr/>
        </p:nvSpPr>
        <p:spPr>
          <a:xfrm>
            <a:off x="4953000" y="1600200"/>
            <a:ext cx="3886200" cy="5029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400" dirty="0" smtClean="0"/>
          </a:p>
          <a:p>
            <a:pPr marL="457200" indent="-457200">
              <a:buFont typeface="+mj-lt"/>
              <a:buAutoNum type="arabicPeriod" startAt="7"/>
            </a:pPr>
            <a:r>
              <a:rPr lang="en-US" sz="2400" dirty="0"/>
              <a:t>Optional: Locate the Address Line 2 field.</a:t>
            </a:r>
          </a:p>
          <a:p>
            <a:pPr marL="457200" indent="-457200">
              <a:buFont typeface="+mj-lt"/>
              <a:buAutoNum type="arabicPeriod" startAt="7"/>
            </a:pPr>
            <a:r>
              <a:rPr lang="en-US" sz="2400" dirty="0"/>
              <a:t>Move the insertion point to the field.</a:t>
            </a:r>
          </a:p>
          <a:p>
            <a:pPr marL="457200" indent="-457200">
              <a:buFont typeface="+mj-lt"/>
              <a:buAutoNum type="arabicPeriod" startAt="7"/>
            </a:pPr>
            <a:r>
              <a:rPr lang="en-US" sz="2400" dirty="0"/>
              <a:t>Type the address.</a:t>
            </a:r>
          </a:p>
          <a:p>
            <a:pPr marL="457200" indent="-457200">
              <a:buFont typeface="+mj-lt"/>
              <a:buAutoNum type="arabicPeriod" startAt="7"/>
            </a:pPr>
            <a:r>
              <a:rPr lang="en-US" sz="2400" dirty="0"/>
              <a:t>Locate the Town/City field.</a:t>
            </a:r>
          </a:p>
          <a:p>
            <a:pPr marL="457200" indent="-457200">
              <a:buFont typeface="+mj-lt"/>
              <a:buAutoNum type="arabicPeriod" startAt="7"/>
            </a:pPr>
            <a:r>
              <a:rPr lang="en-US" sz="2400" dirty="0"/>
              <a:t>Move the insertion point to the field.</a:t>
            </a:r>
          </a:p>
          <a:p>
            <a:pPr marL="457200" indent="-457200">
              <a:buFont typeface="+mj-lt"/>
              <a:buAutoNum type="arabicPeriod" startAt="7"/>
            </a:pPr>
            <a:r>
              <a:rPr lang="en-US" sz="2400" dirty="0"/>
              <a:t>Type the town or city.</a:t>
            </a:r>
          </a:p>
          <a:p>
            <a:pPr marL="457200" indent="-457200">
              <a:buFont typeface="+mj-lt"/>
              <a:buAutoNum type="arabicPeriod" startAt="7"/>
            </a:pPr>
            <a:r>
              <a:rPr lang="en-US" sz="2400" dirty="0"/>
              <a:t>Locate the County field.</a:t>
            </a:r>
          </a:p>
          <a:p>
            <a:pPr marL="457200" indent="-457200">
              <a:buFont typeface="+mj-lt"/>
              <a:buAutoNum type="arabicPeriod" startAt="7"/>
            </a:pPr>
            <a:endParaRPr lang="en-US" sz="2400" b="1" dirty="0"/>
          </a:p>
        </p:txBody>
      </p:sp>
    </p:spTree>
    <p:extLst>
      <p:ext uri="{BB962C8B-B14F-4D97-AF65-F5344CB8AC3E}">
        <p14:creationId xmlns:p14="http://schemas.microsoft.com/office/powerpoint/2010/main" val="37418563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990600"/>
          </a:xfrm>
        </p:spPr>
        <p:txBody>
          <a:bodyPr>
            <a:normAutofit fontScale="90000"/>
          </a:bodyPr>
          <a:lstStyle/>
          <a:p>
            <a:r>
              <a:rPr lang="en-US" sz="4000" dirty="0" smtClean="0"/>
              <a:t>Example - </a:t>
            </a:r>
            <a:r>
              <a:rPr lang="en-US" sz="4000" dirty="0"/>
              <a:t>Task: ordering a book. </a:t>
            </a:r>
            <a:r>
              <a:rPr lang="en-US" sz="4000" dirty="0" smtClean="0"/>
              <a:t> (Contd.)</a:t>
            </a:r>
            <a:r>
              <a:rPr lang="en-US" sz="4000" dirty="0"/>
              <a:t/>
            </a:r>
            <a:br>
              <a:rPr lang="en-US" sz="4000" dirty="0"/>
            </a:br>
            <a:endParaRPr lang="en-US" sz="4000" dirty="0"/>
          </a:p>
        </p:txBody>
      </p:sp>
      <p:sp>
        <p:nvSpPr>
          <p:cNvPr id="4" name="Content Placeholder 2"/>
          <p:cNvSpPr txBox="1">
            <a:spLocks/>
          </p:cNvSpPr>
          <p:nvPr/>
        </p:nvSpPr>
        <p:spPr>
          <a:xfrm>
            <a:off x="152400" y="533400"/>
            <a:ext cx="3886200" cy="4114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buFont typeface="+mj-lt"/>
              <a:buAutoNum type="arabicPeriod"/>
            </a:pPr>
            <a:endParaRPr lang="en-US" sz="2400" dirty="0" smtClean="0"/>
          </a:p>
          <a:p>
            <a:pPr marL="457200" indent="-457200">
              <a:buFont typeface="+mj-lt"/>
              <a:buAutoNum type="arabicPeriod" startAt="14"/>
            </a:pPr>
            <a:r>
              <a:rPr lang="en-US" sz="2400" dirty="0"/>
              <a:t>Move the insertion point to the field.</a:t>
            </a:r>
          </a:p>
          <a:p>
            <a:pPr marL="457200" indent="-457200">
              <a:buFont typeface="+mj-lt"/>
              <a:buAutoNum type="arabicPeriod" startAt="14"/>
            </a:pPr>
            <a:r>
              <a:rPr lang="en-US" sz="2400" dirty="0"/>
              <a:t>Type the county.</a:t>
            </a:r>
          </a:p>
          <a:p>
            <a:pPr marL="457200" indent="-457200">
              <a:buFont typeface="+mj-lt"/>
              <a:buAutoNum type="arabicPeriod" startAt="14"/>
            </a:pPr>
            <a:r>
              <a:rPr lang="en-US" sz="2400" dirty="0"/>
              <a:t>Locate the Postcode field.</a:t>
            </a:r>
          </a:p>
          <a:p>
            <a:pPr marL="457200" indent="-457200">
              <a:buFont typeface="+mj-lt"/>
              <a:buAutoNum type="arabicPeriod" startAt="14"/>
            </a:pPr>
            <a:r>
              <a:rPr lang="en-US" sz="2400" dirty="0"/>
              <a:t>Move the insertion point to the field.</a:t>
            </a:r>
          </a:p>
          <a:p>
            <a:pPr marL="457200" indent="-457200">
              <a:buFont typeface="+mj-lt"/>
              <a:buAutoNum type="arabicPeriod" startAt="14"/>
            </a:pPr>
            <a:r>
              <a:rPr lang="en-US" sz="2400" dirty="0"/>
              <a:t>Type the postal code</a:t>
            </a:r>
            <a:r>
              <a:rPr lang="en-US" sz="2400" dirty="0" smtClean="0"/>
              <a:t>.</a:t>
            </a:r>
          </a:p>
          <a:p>
            <a:pPr marL="457200" indent="-457200">
              <a:buFont typeface="+mj-lt"/>
              <a:buAutoNum type="arabicPeriod" startAt="14"/>
            </a:pPr>
            <a:r>
              <a:rPr lang="en-US" sz="2400" dirty="0"/>
              <a:t>Locate the Country field.</a:t>
            </a:r>
          </a:p>
          <a:p>
            <a:pPr marL="457200" indent="-457200">
              <a:buFont typeface="+mj-lt"/>
              <a:buAutoNum type="arabicPeriod" startAt="14"/>
            </a:pPr>
            <a:endParaRPr lang="en-US" sz="2400" dirty="0"/>
          </a:p>
          <a:p>
            <a:pPr marL="457200" indent="-457200">
              <a:buFont typeface="+mj-lt"/>
              <a:buAutoNum type="arabicPeriod" startAt="14"/>
            </a:pPr>
            <a:endParaRPr lang="en-US" sz="2400" b="1" dirty="0"/>
          </a:p>
        </p:txBody>
      </p:sp>
      <p:sp>
        <p:nvSpPr>
          <p:cNvPr id="5" name="Content Placeholder 2"/>
          <p:cNvSpPr txBox="1">
            <a:spLocks/>
          </p:cNvSpPr>
          <p:nvPr/>
        </p:nvSpPr>
        <p:spPr>
          <a:xfrm>
            <a:off x="4953000" y="533400"/>
            <a:ext cx="3886200" cy="4114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buFont typeface="+mj-lt"/>
              <a:buAutoNum type="arabicPeriod"/>
            </a:pPr>
            <a:endParaRPr lang="en-US" sz="2400" dirty="0" smtClean="0"/>
          </a:p>
          <a:p>
            <a:pPr marL="457200" indent="-457200">
              <a:buFont typeface="+mj-lt"/>
              <a:buAutoNum type="arabicPeriod" startAt="20"/>
            </a:pPr>
            <a:r>
              <a:rPr lang="en-US" sz="2400" dirty="0" smtClean="0"/>
              <a:t>Move </a:t>
            </a:r>
            <a:r>
              <a:rPr lang="en-US" sz="2400" dirty="0"/>
              <a:t>the insertion point to the field.</a:t>
            </a:r>
          </a:p>
          <a:p>
            <a:pPr marL="457200" indent="-457200">
              <a:buFont typeface="+mj-lt"/>
              <a:buAutoNum type="arabicPeriod" startAt="20"/>
            </a:pPr>
            <a:r>
              <a:rPr lang="en-US" sz="2400" dirty="0"/>
              <a:t>Select the country from the drop-down list.</a:t>
            </a:r>
          </a:p>
          <a:p>
            <a:pPr marL="457200" indent="-457200">
              <a:buFont typeface="+mj-lt"/>
              <a:buAutoNum type="arabicPeriod" startAt="20"/>
            </a:pPr>
            <a:r>
              <a:rPr lang="en-US" sz="2400" dirty="0"/>
              <a:t>Locate the Phone Number field.</a:t>
            </a:r>
          </a:p>
          <a:p>
            <a:pPr marL="457200" indent="-457200">
              <a:buFont typeface="+mj-lt"/>
              <a:buAutoNum type="arabicPeriod" startAt="20"/>
            </a:pPr>
            <a:r>
              <a:rPr lang="en-US" sz="2400" dirty="0"/>
              <a:t>Move the insertion point to the field.</a:t>
            </a:r>
          </a:p>
          <a:p>
            <a:pPr marL="457200" indent="-457200">
              <a:buFont typeface="+mj-lt"/>
              <a:buAutoNum type="arabicPeriod" startAt="20"/>
            </a:pPr>
            <a:r>
              <a:rPr lang="en-US" sz="2400" dirty="0"/>
              <a:t>Type the phone number.</a:t>
            </a:r>
          </a:p>
        </p:txBody>
      </p:sp>
    </p:spTree>
    <p:extLst>
      <p:ext uri="{BB962C8B-B14F-4D97-AF65-F5344CB8AC3E}">
        <p14:creationId xmlns:p14="http://schemas.microsoft.com/office/powerpoint/2010/main" val="27446208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990600"/>
          </a:xfrm>
        </p:spPr>
        <p:txBody>
          <a:bodyPr>
            <a:normAutofit fontScale="90000"/>
          </a:bodyPr>
          <a:lstStyle/>
          <a:p>
            <a:r>
              <a:rPr lang="en-US" sz="4000" dirty="0" smtClean="0"/>
              <a:t>Example - </a:t>
            </a:r>
            <a:r>
              <a:rPr lang="en-US" sz="4000" dirty="0"/>
              <a:t>Task: ordering a book. </a:t>
            </a:r>
            <a:r>
              <a:rPr lang="en-US" sz="4000" dirty="0" smtClean="0"/>
              <a:t> (Contd.)</a:t>
            </a:r>
            <a:r>
              <a:rPr lang="en-US" sz="4000" dirty="0"/>
              <a:t/>
            </a:r>
            <a:br>
              <a:rPr lang="en-US" sz="4000" dirty="0"/>
            </a:br>
            <a:endParaRPr lang="en-US" sz="4000" dirty="0"/>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sz="2400" dirty="0"/>
              <a:t>Optionally, you can provide an illustration of the screen on which a user performs this task, helping to put this interaction in context. </a:t>
            </a:r>
            <a:endParaRPr lang="en-US" sz="2400" dirty="0" smtClean="0"/>
          </a:p>
          <a:p>
            <a:r>
              <a:rPr lang="en-US" sz="2400" dirty="0" smtClean="0"/>
              <a:t>Following Figure shows </a:t>
            </a:r>
            <a:r>
              <a:rPr lang="en-US" sz="2400" dirty="0"/>
              <a:t>the screen for the “Complete address” task</a:t>
            </a:r>
            <a:r>
              <a:rPr lang="en-US" sz="2400" dirty="0" smtClean="0"/>
              <a:t>.</a:t>
            </a:r>
          </a:p>
          <a:p>
            <a:endParaRPr lang="en-US" sz="2400" dirty="0" smtClean="0"/>
          </a:p>
        </p:txBody>
      </p:sp>
      <p:pic>
        <p:nvPicPr>
          <p:cNvPr id="2050" name="Picture 2" descr="C:\Users\gulraiz\Desktop\Untitled-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8400" y="2286000"/>
            <a:ext cx="6807200" cy="452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41793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990600"/>
          </a:xfrm>
        </p:spPr>
        <p:txBody>
          <a:bodyPr>
            <a:normAutofit fontScale="90000"/>
          </a:bodyPr>
          <a:lstStyle/>
          <a:p>
            <a:r>
              <a:rPr lang="en-US" sz="4000" dirty="0" smtClean="0"/>
              <a:t>Example - </a:t>
            </a:r>
            <a:r>
              <a:rPr lang="en-US" sz="4000" dirty="0"/>
              <a:t>Task: ordering a book. </a:t>
            </a:r>
            <a:r>
              <a:rPr lang="en-US" sz="4000" dirty="0" smtClean="0"/>
              <a:t> (Contd.)</a:t>
            </a:r>
            <a:r>
              <a:rPr lang="en-US" sz="4000" dirty="0"/>
              <a:t/>
            </a:r>
            <a:br>
              <a:rPr lang="en-US" sz="4000" dirty="0"/>
            </a:br>
            <a:endParaRPr lang="en-US" sz="4000" dirty="0"/>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sz="2400" dirty="0"/>
              <a:t>Combining different approaches to describing user interactions provides an understanding of tasks that is both broad and deep. </a:t>
            </a:r>
            <a:endParaRPr lang="en-US" sz="2400" dirty="0" smtClean="0"/>
          </a:p>
          <a:p>
            <a:r>
              <a:rPr lang="en-US" sz="2400" dirty="0" smtClean="0"/>
              <a:t>The </a:t>
            </a:r>
            <a:r>
              <a:rPr lang="en-US" sz="2400" dirty="0"/>
              <a:t>diagram shows how the </a:t>
            </a:r>
            <a:r>
              <a:rPr lang="en-US" sz="2400" dirty="0" smtClean="0"/>
              <a:t>high level </a:t>
            </a:r>
            <a:r>
              <a:rPr lang="en-US" sz="2400" dirty="0"/>
              <a:t>steps of a task relate to one another. The structured breakdown of the task into its subtasks describes each interaction in detail. </a:t>
            </a:r>
            <a:endParaRPr lang="en-US" sz="2400" dirty="0" smtClean="0"/>
          </a:p>
          <a:p>
            <a:r>
              <a:rPr lang="en-US" sz="2400" dirty="0" smtClean="0"/>
              <a:t>The </a:t>
            </a:r>
            <a:r>
              <a:rPr lang="en-US" sz="2400" dirty="0"/>
              <a:t>screenshot puts the interaction in context</a:t>
            </a:r>
            <a:r>
              <a:rPr lang="en-US" sz="2400" dirty="0" smtClean="0"/>
              <a:t>.</a:t>
            </a:r>
            <a:endParaRPr lang="en-US" sz="2400" dirty="0"/>
          </a:p>
        </p:txBody>
      </p:sp>
    </p:spTree>
    <p:extLst>
      <p:ext uri="{BB962C8B-B14F-4D97-AF65-F5344CB8AC3E}">
        <p14:creationId xmlns:p14="http://schemas.microsoft.com/office/powerpoint/2010/main" val="3162152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990600"/>
          </a:xfrm>
        </p:spPr>
        <p:txBody>
          <a:bodyPr>
            <a:normAutofit fontScale="90000"/>
          </a:bodyPr>
          <a:lstStyle/>
          <a:p>
            <a:r>
              <a:rPr lang="en-US" sz="4000" dirty="0" smtClean="0"/>
              <a:t>Example - </a:t>
            </a:r>
            <a:r>
              <a:rPr lang="en-US" sz="4000" dirty="0"/>
              <a:t>Task: ordering a book. </a:t>
            </a:r>
            <a:r>
              <a:rPr lang="en-US" sz="4000" dirty="0" smtClean="0"/>
              <a:t> (Contd.)</a:t>
            </a:r>
            <a:r>
              <a:rPr lang="en-US" sz="4000" dirty="0"/>
              <a:t/>
            </a:r>
            <a:br>
              <a:rPr lang="en-US" sz="4000" dirty="0"/>
            </a:br>
            <a:endParaRPr lang="en-US" sz="4000" dirty="0"/>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sz="2400" dirty="0" smtClean="0"/>
              <a:t>It </a:t>
            </a:r>
            <a:r>
              <a:rPr lang="en-US" sz="2400" dirty="0"/>
              <a:t>is advisable to create a </a:t>
            </a:r>
            <a:r>
              <a:rPr lang="en-US" sz="2400" i="1" dirty="0"/>
              <a:t>plan</a:t>
            </a:r>
            <a:r>
              <a:rPr lang="en-US" sz="2400" dirty="0"/>
              <a:t> that describes the way in which a hierarchical task analysis assembles the subtasks that let users achieve a particular goal and any conditions the subtasks must fulfill. </a:t>
            </a:r>
            <a:endParaRPr lang="en-US" sz="2400" dirty="0" smtClean="0"/>
          </a:p>
          <a:p>
            <a:r>
              <a:rPr lang="en-US" sz="2400" dirty="0" smtClean="0"/>
              <a:t>In </a:t>
            </a:r>
            <a:r>
              <a:rPr lang="en-US" sz="2400" dirty="0"/>
              <a:t>many cases, users can simply work through the subtasks in a hierarchical task analysis, so keeping the plan separate from the tasks provides an additional degree of flexibility. </a:t>
            </a:r>
            <a:endParaRPr lang="en-US" sz="2400" dirty="0" smtClean="0"/>
          </a:p>
          <a:p>
            <a:r>
              <a:rPr lang="en-US" sz="2400" dirty="0" smtClean="0"/>
              <a:t>For </a:t>
            </a:r>
            <a:r>
              <a:rPr lang="en-US" sz="2400" dirty="0"/>
              <a:t>the example hierarchical task analysis, there could be two different plans, as follows:</a:t>
            </a:r>
          </a:p>
          <a:p>
            <a:pPr lvl="1"/>
            <a:r>
              <a:rPr lang="en-US" sz="2400" dirty="0"/>
              <a:t>If a user is new to the system, complete Task 1.</a:t>
            </a:r>
          </a:p>
          <a:p>
            <a:pPr lvl="1"/>
            <a:r>
              <a:rPr lang="en-US" sz="2400" dirty="0"/>
              <a:t>If a user has registered and is signed in, complete Tasks 1.1, 1.2, and 1.5.</a:t>
            </a:r>
          </a:p>
        </p:txBody>
      </p:sp>
    </p:spTree>
    <p:extLst>
      <p:ext uri="{BB962C8B-B14F-4D97-AF65-F5344CB8AC3E}">
        <p14:creationId xmlns:p14="http://schemas.microsoft.com/office/powerpoint/2010/main" val="2586980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990600"/>
          </a:xfrm>
        </p:spPr>
        <p:txBody>
          <a:bodyPr>
            <a:normAutofit/>
          </a:bodyPr>
          <a:lstStyle/>
          <a:p>
            <a:r>
              <a:rPr lang="en-US" sz="4000" dirty="0" smtClean="0"/>
              <a:t>References</a:t>
            </a:r>
            <a:endParaRPr lang="en-US" sz="4000" dirty="0"/>
          </a:p>
        </p:txBody>
      </p:sp>
      <p:sp>
        <p:nvSpPr>
          <p:cNvPr id="7" name="Content Placeholder 2"/>
          <p:cNvSpPr>
            <a:spLocks noGrp="1"/>
          </p:cNvSpPr>
          <p:nvPr>
            <p:ph idx="1"/>
          </p:nvPr>
        </p:nvSpPr>
        <p:spPr>
          <a:xfrm>
            <a:off x="0" y="685800"/>
            <a:ext cx="9144000" cy="6172200"/>
          </a:xfrm>
        </p:spPr>
        <p:txBody>
          <a:bodyPr>
            <a:normAutofit/>
          </a:bodyPr>
          <a:lstStyle/>
          <a:p>
            <a:r>
              <a:rPr lang="en-US" sz="2400" dirty="0">
                <a:hlinkClick r:id="rId2"/>
              </a:rPr>
              <a:t>https://</a:t>
            </a:r>
            <a:r>
              <a:rPr lang="en-US" sz="2400" dirty="0" smtClean="0">
                <a:hlinkClick r:id="rId2"/>
              </a:rPr>
              <a:t>www.usability.gov/how-to-and-tools/methods/task-analysis.html</a:t>
            </a:r>
          </a:p>
          <a:p>
            <a:r>
              <a:rPr lang="en-US" sz="2400" smtClean="0">
                <a:hlinkClick r:id="rId2"/>
              </a:rPr>
              <a:t>http</a:t>
            </a:r>
            <a:r>
              <a:rPr lang="en-US" sz="2400" dirty="0">
                <a:hlinkClick r:id="rId2"/>
              </a:rPr>
              <a:t>://</a:t>
            </a:r>
            <a:r>
              <a:rPr lang="en-US" sz="2400" dirty="0" smtClean="0">
                <a:hlinkClick r:id="rId2"/>
              </a:rPr>
              <a:t>www.uxmatters.com/mt/archives/2010/02/hierarchical-task-analysis.php</a:t>
            </a:r>
            <a:endParaRPr lang="en-US" sz="2400" dirty="0" smtClean="0"/>
          </a:p>
          <a:p>
            <a:endParaRPr lang="en-US" sz="2400" dirty="0"/>
          </a:p>
        </p:txBody>
      </p:sp>
    </p:spTree>
    <p:extLst>
      <p:ext uri="{BB962C8B-B14F-4D97-AF65-F5344CB8AC3E}">
        <p14:creationId xmlns:p14="http://schemas.microsoft.com/office/powerpoint/2010/main" val="410830675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720</TotalTime>
  <Words>590</Words>
  <Application>Microsoft Office PowerPoint</Application>
  <PresentationFormat>On-screen Show (4:3)</PresentationFormat>
  <Paragraphs>109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Task Analysis</vt:lpstr>
      <vt:lpstr>Purpose of Task Analysis</vt:lpstr>
      <vt:lpstr>When to Perform a Task Analysis</vt:lpstr>
      <vt:lpstr>Types of Task Analysis</vt:lpstr>
      <vt:lpstr>How to Conduct a Task Analysis</vt:lpstr>
      <vt:lpstr>Hierarchical Task Analysis</vt:lpstr>
      <vt:lpstr>Applying Hierarchical Task Analysis to User Experience</vt:lpstr>
      <vt:lpstr>Example - Task: ordering a book.  </vt:lpstr>
      <vt:lpstr>Example - Task: ordering a book.  (Contd.) </vt:lpstr>
      <vt:lpstr>Example - Task: ordering a book.  (Contd.) </vt:lpstr>
      <vt:lpstr>Example - Task: ordering a book.  (Contd.) </vt:lpstr>
      <vt:lpstr>Example - Task: ordering a book.  (Contd.) </vt:lpstr>
      <vt:lpstr>Example - Task: ordering a book.  (Contd.) </vt:lpstr>
      <vt:lpstr>Example - Task: ordering a book.  (Contd.) </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gulraiz</cp:lastModifiedBy>
  <cp:revision>221</cp:revision>
  <dcterms:created xsi:type="dcterms:W3CDTF">2014-08-12T16:29:38Z</dcterms:created>
  <dcterms:modified xsi:type="dcterms:W3CDTF">2017-04-18T07:06:26Z</dcterms:modified>
</cp:coreProperties>
</file>