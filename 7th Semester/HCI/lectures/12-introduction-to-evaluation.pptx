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58" r:id="rId3"/>
    <p:sldId id="275" r:id="rId4"/>
    <p:sldId id="273" r:id="rId5"/>
    <p:sldId id="276" r:id="rId6"/>
    <p:sldId id="277" r:id="rId7"/>
    <p:sldId id="278" r:id="rId8"/>
    <p:sldId id="279" r:id="rId9"/>
    <p:sldId id="280" r:id="rId10"/>
    <p:sldId id="272"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62" autoAdjust="0"/>
  </p:normalViewPr>
  <p:slideViewPr>
    <p:cSldViewPr>
      <p:cViewPr varScale="1">
        <p:scale>
          <a:sx n="81" d="100"/>
          <a:sy n="81" d="100"/>
        </p:scale>
        <p:origin x="1050" y="72"/>
      </p:cViewPr>
      <p:guideLst>
        <p:guide orient="horz" pos="2160"/>
        <p:guide pos="2880"/>
      </p:guideLst>
    </p:cSldViewPr>
  </p:slideViewPr>
  <p:outlineViewPr>
    <p:cViewPr>
      <p:scale>
        <a:sx n="33" d="100"/>
        <a:sy n="33" d="100"/>
      </p:scale>
      <p:origin x="48" y="19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2/19/2020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2/19/2020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2/19/2020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2/19/2020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What </a:t>
            </a:r>
            <a:r>
              <a:rPr lang="en-US" sz="4000" smtClean="0"/>
              <a:t>to Evaluate?</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endParaRPr lang="en-US" sz="2800" dirty="0"/>
          </a:p>
          <a:p>
            <a:r>
              <a:rPr lang="en-US" sz="2400" dirty="0"/>
              <a:t>iterative design and evaluation is a continuous process that examines:  early ideas for a conceptual model; early prototypes of the new system; later, more complete prototypes</a:t>
            </a:r>
          </a:p>
          <a:p>
            <a:r>
              <a:rPr lang="en-US" sz="2400" dirty="0"/>
              <a:t>Designers need to check that they understand users' </a:t>
            </a:r>
            <a:r>
              <a:rPr lang="en-US" sz="2400" dirty="0" smtClean="0"/>
              <a:t>requirements</a:t>
            </a:r>
          </a:p>
          <a:p>
            <a:r>
              <a:rPr lang="en-US" sz="2400" dirty="0" smtClean="0"/>
              <a:t>Users </a:t>
            </a:r>
            <a:r>
              <a:rPr lang="en-US" sz="2400" dirty="0"/>
              <a:t>want systems that are easy to learn and to use as well as effective, efficient, </a:t>
            </a:r>
            <a:r>
              <a:rPr lang="en-US" sz="2400" dirty="0" smtClean="0"/>
              <a:t>safe</a:t>
            </a:r>
            <a:r>
              <a:rPr lang="en-US" sz="2400" dirty="0"/>
              <a:t>, and satisfying. Being entertaining, attractive, and challenging, etc. is also </a:t>
            </a:r>
            <a:r>
              <a:rPr lang="en-US" sz="2400" dirty="0" smtClean="0"/>
              <a:t>essential </a:t>
            </a:r>
            <a:r>
              <a:rPr lang="en-US" sz="2400" dirty="0"/>
              <a:t>for some products. </a:t>
            </a:r>
            <a:endParaRPr lang="en-US" sz="2400" dirty="0" smtClean="0"/>
          </a:p>
          <a:p>
            <a:r>
              <a:rPr lang="en-US" sz="2400" dirty="0" smtClean="0"/>
              <a:t>So</a:t>
            </a:r>
            <a:r>
              <a:rPr lang="en-US" sz="2400" dirty="0"/>
              <a:t>, knowing what  to evaluate, why  it is important, and </a:t>
            </a:r>
            <a:r>
              <a:rPr lang="en-US" sz="2400" dirty="0" smtClean="0"/>
              <a:t>when </a:t>
            </a:r>
            <a:r>
              <a:rPr lang="en-US" sz="2400" dirty="0"/>
              <a:t>to evaluate are key skills for interaction designers. </a:t>
            </a:r>
            <a:endParaRPr lang="en-US" sz="2400" dirty="0" smtClean="0"/>
          </a:p>
        </p:txBody>
      </p:sp>
    </p:spTree>
    <p:extLst>
      <p:ext uri="{BB962C8B-B14F-4D97-AF65-F5344CB8AC3E}">
        <p14:creationId xmlns:p14="http://schemas.microsoft.com/office/powerpoint/2010/main" val="8677524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a:t>Why Evaluate?</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r>
              <a:rPr lang="en-US" sz="2800" dirty="0"/>
              <a:t> because user experience can be extremely important for a product's success</a:t>
            </a:r>
          </a:p>
          <a:p>
            <a:r>
              <a:rPr lang="en-US" sz="2800" dirty="0"/>
              <a:t>- because the cycle of </a:t>
            </a:r>
            <a:r>
              <a:rPr lang="en-US" sz="2800" b="1" dirty="0"/>
              <a:t>design</a:t>
            </a:r>
            <a:r>
              <a:rPr lang="en-US" sz="2800" dirty="0"/>
              <a:t> and </a:t>
            </a:r>
            <a:r>
              <a:rPr lang="en-US" sz="2800" b="1" dirty="0"/>
              <a:t>testing</a:t>
            </a:r>
            <a:r>
              <a:rPr lang="en-US" sz="2800" dirty="0"/>
              <a:t> is the only validated methodology in existence that will consistently produce successful </a:t>
            </a:r>
            <a:r>
              <a:rPr lang="en-US" sz="2800" dirty="0" smtClean="0"/>
              <a:t>results</a:t>
            </a:r>
          </a:p>
          <a:p>
            <a:r>
              <a:rPr lang="en-US" b="1" i="1" dirty="0"/>
              <a:t>Five good reasons for investing in user testing (</a:t>
            </a:r>
            <a:r>
              <a:rPr lang="en-US" b="1" i="1" dirty="0" err="1"/>
              <a:t>Tognazzini</a:t>
            </a:r>
            <a:r>
              <a:rPr lang="en-US" b="1" i="1" dirty="0" smtClean="0"/>
              <a:t>):</a:t>
            </a:r>
          </a:p>
          <a:p>
            <a:pPr marL="457200" lvl="1" indent="0">
              <a:buNone/>
            </a:pPr>
            <a:r>
              <a:rPr lang="en-US" dirty="0" smtClean="0"/>
              <a:t>- </a:t>
            </a:r>
            <a:r>
              <a:rPr lang="en-US" dirty="0"/>
              <a:t>fixed problems before the product is shipped</a:t>
            </a:r>
            <a:br>
              <a:rPr lang="en-US" dirty="0"/>
            </a:br>
            <a:r>
              <a:rPr lang="en-US" dirty="0"/>
              <a:t>- the team can concentrate on real problems</a:t>
            </a:r>
            <a:br>
              <a:rPr lang="en-US" dirty="0"/>
            </a:br>
            <a:r>
              <a:rPr lang="en-US" dirty="0"/>
              <a:t>- Engineers code instead of debating</a:t>
            </a:r>
            <a:br>
              <a:rPr lang="en-US" dirty="0"/>
            </a:br>
            <a:r>
              <a:rPr lang="en-US" dirty="0"/>
              <a:t>- Reduced time to market</a:t>
            </a:r>
            <a:br>
              <a:rPr lang="en-US" dirty="0"/>
            </a:br>
            <a:r>
              <a:rPr lang="en-US" dirty="0"/>
              <a:t>- sell without bothering to release patches</a:t>
            </a:r>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When to Evaluate</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r>
              <a:rPr lang="en-US" dirty="0"/>
              <a:t>when it's brand new:  develop markups of the product to elicit reactions from the potential </a:t>
            </a:r>
            <a:r>
              <a:rPr lang="en-US" dirty="0" smtClean="0"/>
              <a:t>users</a:t>
            </a:r>
          </a:p>
          <a:p>
            <a:r>
              <a:rPr lang="en-US" dirty="0" smtClean="0"/>
              <a:t>upgrades</a:t>
            </a:r>
            <a:r>
              <a:rPr lang="en-US" dirty="0"/>
              <a:t>:  compare user performance &amp; attitude w/ previous versions</a:t>
            </a:r>
          </a:p>
        </p:txBody>
      </p:sp>
    </p:spTree>
    <p:extLst>
      <p:ext uri="{BB962C8B-B14F-4D97-AF65-F5344CB8AC3E}">
        <p14:creationId xmlns:p14="http://schemas.microsoft.com/office/powerpoint/2010/main" val="3743324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a:t>Evaluation Methods</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endParaRPr lang="en-US" sz="2800" dirty="0"/>
          </a:p>
          <a:p>
            <a:r>
              <a:rPr lang="en-US" sz="2400" b="1" i="1" u="sng" dirty="0" smtClean="0"/>
              <a:t>Formative </a:t>
            </a:r>
            <a:r>
              <a:rPr lang="en-US" sz="2400" b="1" i="1" u="sng" dirty="0"/>
              <a:t>Evaluation:</a:t>
            </a:r>
            <a:r>
              <a:rPr lang="en-US" sz="2400" i="1" dirty="0"/>
              <a:t>  done at </a:t>
            </a:r>
            <a:r>
              <a:rPr lang="en-US" sz="2400" i="1" u="sng" dirty="0"/>
              <a:t>different stages</a:t>
            </a:r>
            <a:r>
              <a:rPr lang="en-US" sz="2400" i="1" dirty="0"/>
              <a:t> of development to check that the product meets users needs</a:t>
            </a:r>
            <a:endParaRPr lang="en-US" sz="2400" dirty="0"/>
          </a:p>
          <a:p>
            <a:r>
              <a:rPr lang="en-US" sz="2400" b="1" i="1" u="sng" dirty="0"/>
              <a:t>Summative Evaluation:</a:t>
            </a:r>
            <a:r>
              <a:rPr lang="en-US" sz="2400" i="1" dirty="0"/>
              <a:t>  assess the quality of a </a:t>
            </a:r>
            <a:r>
              <a:rPr lang="en-US" sz="2400" i="1" u="sng" dirty="0"/>
              <a:t>finished product</a:t>
            </a:r>
            <a:endParaRPr lang="en-US" sz="2400" dirty="0"/>
          </a:p>
          <a:p>
            <a:pPr lvl="1"/>
            <a:r>
              <a:rPr lang="en-US" sz="2400" dirty="0"/>
              <a:t>it is best to evaluate throughout design- from the first descriptions / sketches, all the way to the final product</a:t>
            </a:r>
          </a:p>
          <a:p>
            <a:pPr lvl="1"/>
            <a:r>
              <a:rPr lang="en-US" sz="2400" dirty="0"/>
              <a:t>Design proceeds through iterative cycles of design / test / re-design - where evaluation is a key ingredient for a successful design</a:t>
            </a:r>
          </a:p>
        </p:txBody>
      </p:sp>
    </p:spTree>
    <p:extLst>
      <p:ext uri="{BB962C8B-B14F-4D97-AF65-F5344CB8AC3E}">
        <p14:creationId xmlns:p14="http://schemas.microsoft.com/office/powerpoint/2010/main" val="13047647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381000"/>
            <a:ext cx="9144000" cy="762000"/>
          </a:xfrm>
        </p:spPr>
        <p:txBody>
          <a:bodyPr>
            <a:noAutofit/>
          </a:bodyPr>
          <a:lstStyle/>
          <a:p>
            <a:r>
              <a:rPr lang="en-US" sz="3200" dirty="0" smtClean="0"/>
              <a:t>An Evaluation Framework / </a:t>
            </a:r>
            <a:r>
              <a:rPr lang="en-US" sz="3200" dirty="0"/>
              <a:t>Evaluation </a:t>
            </a:r>
            <a:r>
              <a:rPr lang="en-US" sz="3200" dirty="0" smtClean="0"/>
              <a:t>Paradigms</a:t>
            </a:r>
            <a:r>
              <a:rPr lang="en-US" sz="3200" dirty="0"/>
              <a:t/>
            </a:r>
            <a:br>
              <a:rPr lang="en-US" sz="3200" dirty="0"/>
            </a:br>
            <a:r>
              <a:rPr lang="en-US" sz="3200" dirty="0"/>
              <a:t/>
            </a:r>
            <a:br>
              <a:rPr lang="en-US" sz="3200" dirty="0"/>
            </a:br>
            <a:endParaRPr lang="en-US" sz="3200" b="1" dirty="0"/>
          </a:p>
        </p:txBody>
      </p:sp>
      <p:sp>
        <p:nvSpPr>
          <p:cNvPr id="7" name="Content Placeholder 2"/>
          <p:cNvSpPr>
            <a:spLocks noGrp="1"/>
          </p:cNvSpPr>
          <p:nvPr>
            <p:ph idx="1"/>
          </p:nvPr>
        </p:nvSpPr>
        <p:spPr>
          <a:xfrm>
            <a:off x="0" y="685800"/>
            <a:ext cx="9144000" cy="6172200"/>
          </a:xfrm>
        </p:spPr>
        <p:txBody>
          <a:bodyPr>
            <a:noAutofit/>
          </a:bodyPr>
          <a:lstStyle/>
          <a:p>
            <a:r>
              <a:rPr lang="en-US" sz="2000" dirty="0"/>
              <a:t>User studies focus on how people behave, </a:t>
            </a:r>
            <a:r>
              <a:rPr lang="en-US" sz="2000" i="1" dirty="0"/>
              <a:t>in their natural environments</a:t>
            </a:r>
            <a:r>
              <a:rPr lang="en-US" sz="2000" dirty="0"/>
              <a:t>, or </a:t>
            </a:r>
            <a:r>
              <a:rPr lang="en-US" sz="2000" i="1" dirty="0"/>
              <a:t>in the laboratory,</a:t>
            </a:r>
            <a:r>
              <a:rPr lang="en-US" sz="2000" dirty="0"/>
              <a:t> with </a:t>
            </a:r>
            <a:r>
              <a:rPr lang="en-US" sz="2000" i="1" dirty="0"/>
              <a:t>old technologies and with new ones</a:t>
            </a:r>
            <a:r>
              <a:rPr lang="en-US" sz="2000" dirty="0"/>
              <a:t>.</a:t>
            </a:r>
          </a:p>
          <a:p>
            <a:r>
              <a:rPr lang="en-US" sz="2000" dirty="0"/>
              <a:t>any kind of evaluation is guided by a set of beliefs, implicitly or explicitly.  </a:t>
            </a:r>
            <a:endParaRPr lang="en-US" sz="2000" dirty="0" smtClean="0"/>
          </a:p>
          <a:p>
            <a:r>
              <a:rPr lang="en-US" sz="2000" dirty="0" smtClean="0"/>
              <a:t>These </a:t>
            </a:r>
            <a:r>
              <a:rPr lang="en-US" sz="2000" dirty="0"/>
              <a:t>beliefs are often supported by a theory.  The beliefs and the methods associated with them are called </a:t>
            </a:r>
            <a:r>
              <a:rPr lang="en-US" sz="2000" b="1" i="1" dirty="0"/>
              <a:t>evaluation paradigms</a:t>
            </a:r>
            <a:r>
              <a:rPr lang="en-US" sz="2000" dirty="0"/>
              <a:t>.</a:t>
            </a:r>
          </a:p>
          <a:p>
            <a:r>
              <a:rPr lang="en-US" sz="2000" dirty="0"/>
              <a:t>There are four main evaluation paradigms discussed:</a:t>
            </a:r>
          </a:p>
          <a:p>
            <a:pPr lvl="1"/>
            <a:r>
              <a:rPr lang="en-US" sz="2000" b="1" dirty="0"/>
              <a:t>Quick &amp; Dirty:</a:t>
            </a:r>
            <a:endParaRPr lang="en-US" sz="2000" dirty="0"/>
          </a:p>
          <a:p>
            <a:pPr lvl="2"/>
            <a:r>
              <a:rPr lang="en-US" sz="2000" dirty="0"/>
              <a:t>this is the common practice by which designers get feedback from users, to confirm that they are in line with users' needs and are liked.  Emphasis is on fast input to the design process rather than carefully documented findings.</a:t>
            </a:r>
          </a:p>
          <a:p>
            <a:pPr lvl="1"/>
            <a:r>
              <a:rPr lang="en-US" sz="2000" b="1" dirty="0"/>
              <a:t>Usability Testing:</a:t>
            </a:r>
            <a:endParaRPr lang="en-US" sz="2000" dirty="0"/>
          </a:p>
          <a:p>
            <a:pPr lvl="2"/>
            <a:r>
              <a:rPr lang="en-US" sz="2000" dirty="0"/>
              <a:t>records typical users' performance on typical tasks in controlled settings.  As the users perform the tasks they are watched and recorded on video, with keypresses logged.  Data is used to calculate performance times, identify errors and help explain why the users did what they did.</a:t>
            </a:r>
          </a:p>
          <a:p>
            <a:pPr lvl="2"/>
            <a:r>
              <a:rPr lang="en-US" sz="2000" dirty="0"/>
              <a:t>User satisfaction questionnaires &amp; interviews are used to gather users' opinions.</a:t>
            </a:r>
          </a:p>
          <a:p>
            <a:r>
              <a:rPr lang="en-US" sz="2000" dirty="0"/>
              <a:t/>
            </a:r>
            <a:br>
              <a:rPr lang="en-US" sz="2000" dirty="0"/>
            </a:br>
            <a:endParaRPr lang="en-US" sz="2000" dirty="0"/>
          </a:p>
        </p:txBody>
      </p:sp>
    </p:spTree>
    <p:extLst>
      <p:ext uri="{BB962C8B-B14F-4D97-AF65-F5344CB8AC3E}">
        <p14:creationId xmlns:p14="http://schemas.microsoft.com/office/powerpoint/2010/main" val="30178085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381000"/>
            <a:ext cx="9144000" cy="762000"/>
          </a:xfrm>
        </p:spPr>
        <p:txBody>
          <a:bodyPr>
            <a:noAutofit/>
          </a:bodyPr>
          <a:lstStyle/>
          <a:p>
            <a:r>
              <a:rPr lang="en-US" sz="2800" dirty="0" smtClean="0"/>
              <a:t>An Evaluation Framework / </a:t>
            </a:r>
            <a:r>
              <a:rPr lang="en-US" sz="2800" dirty="0"/>
              <a:t>Evaluation </a:t>
            </a:r>
            <a:r>
              <a:rPr lang="en-US" sz="2800" dirty="0" smtClean="0"/>
              <a:t>Paradigms (Contd.)</a:t>
            </a:r>
            <a:r>
              <a:rPr lang="en-US" sz="2800" dirty="0"/>
              <a:t/>
            </a:r>
            <a:br>
              <a:rPr lang="en-US" sz="2800" dirty="0"/>
            </a:br>
            <a:r>
              <a:rPr lang="en-US" sz="2800" dirty="0"/>
              <a:t/>
            </a:r>
            <a:br>
              <a:rPr lang="en-US" sz="2800" dirty="0"/>
            </a:br>
            <a:endParaRPr lang="en-US" sz="2800" b="1" dirty="0"/>
          </a:p>
        </p:txBody>
      </p:sp>
      <p:sp>
        <p:nvSpPr>
          <p:cNvPr id="7" name="Content Placeholder 2"/>
          <p:cNvSpPr>
            <a:spLocks noGrp="1"/>
          </p:cNvSpPr>
          <p:nvPr>
            <p:ph idx="1"/>
          </p:nvPr>
        </p:nvSpPr>
        <p:spPr>
          <a:xfrm>
            <a:off x="0" y="685800"/>
            <a:ext cx="9144000" cy="6172200"/>
          </a:xfrm>
        </p:spPr>
        <p:txBody>
          <a:bodyPr>
            <a:normAutofit/>
          </a:bodyPr>
          <a:lstStyle/>
          <a:p>
            <a:pPr lvl="1"/>
            <a:r>
              <a:rPr lang="en-US" sz="2000" b="1" dirty="0" smtClean="0"/>
              <a:t>Field </a:t>
            </a:r>
            <a:r>
              <a:rPr lang="en-US" sz="2000" b="1" dirty="0"/>
              <a:t>Studies:</a:t>
            </a:r>
            <a:endParaRPr lang="en-US" sz="2000" dirty="0"/>
          </a:p>
          <a:p>
            <a:pPr lvl="2"/>
            <a:r>
              <a:rPr lang="en-US" sz="2000" dirty="0"/>
              <a:t>done in natural settings- aims to understand what users do naturally and how technology impacts them.  This can help to:</a:t>
            </a:r>
          </a:p>
          <a:p>
            <a:pPr lvl="3"/>
            <a:r>
              <a:rPr lang="en-US" dirty="0"/>
              <a:t>identify opportunities for new technology</a:t>
            </a:r>
          </a:p>
          <a:p>
            <a:pPr lvl="3"/>
            <a:r>
              <a:rPr lang="en-US" dirty="0"/>
              <a:t>determine design requirements</a:t>
            </a:r>
          </a:p>
          <a:p>
            <a:pPr lvl="3"/>
            <a:r>
              <a:rPr lang="en-US" dirty="0"/>
              <a:t>decide how best to introduce new technology</a:t>
            </a:r>
          </a:p>
          <a:p>
            <a:pPr lvl="3"/>
            <a:r>
              <a:rPr lang="en-US" dirty="0"/>
              <a:t>evaluate technology in use</a:t>
            </a:r>
          </a:p>
          <a:p>
            <a:pPr lvl="1"/>
            <a:r>
              <a:rPr lang="en-US" sz="2000" b="1" dirty="0"/>
              <a:t>Predictive Evaluation:</a:t>
            </a:r>
            <a:endParaRPr lang="en-US" sz="2000" dirty="0"/>
          </a:p>
          <a:p>
            <a:pPr lvl="2"/>
            <a:r>
              <a:rPr lang="en-US" sz="2000" dirty="0"/>
              <a:t>experts apply their knowledge of typical users to predict usability problems</a:t>
            </a:r>
          </a:p>
          <a:p>
            <a:pPr lvl="2"/>
            <a:r>
              <a:rPr lang="en-US" sz="2000" dirty="0"/>
              <a:t>can involve heuristics, and theoretically based models</a:t>
            </a:r>
          </a:p>
          <a:p>
            <a:pPr lvl="2"/>
            <a:r>
              <a:rPr lang="en-US" sz="2000" dirty="0"/>
              <a:t>users do not need to be present, and this method is cheap and quick to do</a:t>
            </a:r>
          </a:p>
          <a:p>
            <a:pPr lvl="2"/>
            <a:r>
              <a:rPr lang="en-US" sz="2000" dirty="0"/>
              <a:t>GOMS / KLM / </a:t>
            </a:r>
            <a:r>
              <a:rPr lang="en-US" sz="2000" dirty="0" err="1"/>
              <a:t>Fitt's</a:t>
            </a:r>
            <a:r>
              <a:rPr lang="en-US" sz="2000" dirty="0"/>
              <a:t> Law</a:t>
            </a:r>
            <a:r>
              <a:rPr lang="en-US" sz="2000" dirty="0" smtClean="0"/>
              <a:t>???</a:t>
            </a:r>
            <a:r>
              <a:rPr lang="en-US" sz="2400" dirty="0"/>
              <a:t/>
            </a:r>
            <a:br>
              <a:rPr lang="en-US" sz="2400" dirty="0"/>
            </a:br>
            <a:endParaRPr lang="en-US" sz="2400" dirty="0"/>
          </a:p>
        </p:txBody>
      </p:sp>
    </p:spTree>
    <p:extLst>
      <p:ext uri="{BB962C8B-B14F-4D97-AF65-F5344CB8AC3E}">
        <p14:creationId xmlns:p14="http://schemas.microsoft.com/office/powerpoint/2010/main" val="1449207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762000"/>
          </a:xfrm>
        </p:spPr>
        <p:txBody>
          <a:bodyPr>
            <a:noAutofit/>
          </a:bodyPr>
          <a:lstStyle/>
          <a:p>
            <a:r>
              <a:rPr lang="en-US" sz="2800" dirty="0" smtClean="0"/>
              <a:t>Evaluation Techniques</a:t>
            </a:r>
            <a:endParaRPr lang="en-US" sz="2800" b="1" dirty="0"/>
          </a:p>
        </p:txBody>
      </p:sp>
      <p:sp>
        <p:nvSpPr>
          <p:cNvPr id="7" name="Content Placeholder 2"/>
          <p:cNvSpPr>
            <a:spLocks noGrp="1"/>
          </p:cNvSpPr>
          <p:nvPr>
            <p:ph idx="1"/>
          </p:nvPr>
        </p:nvSpPr>
        <p:spPr>
          <a:xfrm>
            <a:off x="0" y="685800"/>
            <a:ext cx="9144000" cy="6172200"/>
          </a:xfrm>
        </p:spPr>
        <p:txBody>
          <a:bodyPr>
            <a:normAutofit fontScale="85000" lnSpcReduction="10000"/>
          </a:bodyPr>
          <a:lstStyle/>
          <a:p>
            <a:r>
              <a:rPr lang="en-US" dirty="0"/>
              <a:t>Observing users </a:t>
            </a:r>
          </a:p>
          <a:p>
            <a:pPr lvl="1"/>
            <a:r>
              <a:rPr lang="en-US" dirty="0"/>
              <a:t>can help identify needs, which can lead to new products</a:t>
            </a:r>
          </a:p>
          <a:p>
            <a:pPr lvl="1"/>
            <a:r>
              <a:rPr lang="en-US" dirty="0"/>
              <a:t>can help evaluate prototypes</a:t>
            </a:r>
          </a:p>
          <a:p>
            <a:pPr lvl="1"/>
            <a:r>
              <a:rPr lang="en-US" dirty="0"/>
              <a:t>ways in which to record observations:  notes, audio, video, interaction logs</a:t>
            </a:r>
          </a:p>
          <a:p>
            <a:pPr lvl="1"/>
            <a:r>
              <a:rPr lang="en-US" dirty="0"/>
              <a:t>challenges:  how can we observe others without disturbing them?  how will we analyze the data gathered?</a:t>
            </a:r>
          </a:p>
          <a:p>
            <a:r>
              <a:rPr lang="en-US" dirty="0"/>
              <a:t>Asking users their opinions </a:t>
            </a:r>
            <a:endParaRPr lang="en-US" dirty="0" smtClean="0"/>
          </a:p>
          <a:p>
            <a:pPr lvl="1"/>
            <a:r>
              <a:rPr lang="en-US" dirty="0" smtClean="0"/>
              <a:t>Techniques</a:t>
            </a:r>
            <a:r>
              <a:rPr lang="en-US" dirty="0"/>
              <a:t>:  Interviews and Questionnaires</a:t>
            </a:r>
          </a:p>
          <a:p>
            <a:pPr lvl="1"/>
            <a:r>
              <a:rPr lang="en-US" dirty="0"/>
              <a:t>Asking experts their opinions is inexpensive and quick</a:t>
            </a:r>
          </a:p>
          <a:p>
            <a:r>
              <a:rPr lang="en-US" dirty="0"/>
              <a:t>Testing users' performance </a:t>
            </a:r>
            <a:endParaRPr lang="en-US" dirty="0" smtClean="0"/>
          </a:p>
          <a:p>
            <a:pPr lvl="1"/>
            <a:r>
              <a:rPr lang="en-US" dirty="0" smtClean="0"/>
              <a:t>ways </a:t>
            </a:r>
            <a:r>
              <a:rPr lang="en-US" dirty="0"/>
              <a:t>to measure user performance to compare 2 or more designs</a:t>
            </a:r>
          </a:p>
          <a:p>
            <a:pPr lvl="1"/>
            <a:r>
              <a:rPr lang="en-US" dirty="0"/>
              <a:t>modeling users' task performance to predict the efficacy and problems of a user interface</a:t>
            </a:r>
          </a:p>
          <a:p>
            <a:pPr lvl="1"/>
            <a:r>
              <a:rPr lang="en-US" dirty="0"/>
              <a:t>some of these techniques:  GOMS and the keystroke model</a:t>
            </a:r>
          </a:p>
          <a:p>
            <a:pPr lvl="1"/>
            <a:endParaRPr lang="en-US" sz="2400" dirty="0"/>
          </a:p>
        </p:txBody>
      </p:sp>
    </p:spTree>
    <p:extLst>
      <p:ext uri="{BB962C8B-B14F-4D97-AF65-F5344CB8AC3E}">
        <p14:creationId xmlns:p14="http://schemas.microsoft.com/office/powerpoint/2010/main" val="21162549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762000"/>
          </a:xfrm>
        </p:spPr>
        <p:txBody>
          <a:bodyPr>
            <a:noAutofit/>
          </a:bodyPr>
          <a:lstStyle/>
          <a:p>
            <a:r>
              <a:rPr lang="en-US" sz="2800" dirty="0"/>
              <a:t>DECIDE:  A framework to guide evaluation</a:t>
            </a:r>
            <a:endParaRPr lang="en-US" sz="2800" b="1" dirty="0"/>
          </a:p>
        </p:txBody>
      </p:sp>
      <p:sp>
        <p:nvSpPr>
          <p:cNvPr id="7" name="Content Placeholder 2"/>
          <p:cNvSpPr>
            <a:spLocks noGrp="1"/>
          </p:cNvSpPr>
          <p:nvPr>
            <p:ph idx="1"/>
          </p:nvPr>
        </p:nvSpPr>
        <p:spPr>
          <a:xfrm>
            <a:off x="0" y="685800"/>
            <a:ext cx="9144000" cy="6172200"/>
          </a:xfrm>
        </p:spPr>
        <p:txBody>
          <a:bodyPr>
            <a:normAutofit fontScale="77500" lnSpcReduction="20000"/>
          </a:bodyPr>
          <a:lstStyle/>
          <a:p>
            <a:r>
              <a:rPr lang="en-US" b="1" dirty="0"/>
              <a:t>D</a:t>
            </a:r>
            <a:r>
              <a:rPr lang="en-US" dirty="0"/>
              <a:t>etermine the goals the evaluation addresses (what, who, why...)</a:t>
            </a:r>
          </a:p>
          <a:p>
            <a:r>
              <a:rPr lang="en-US" b="1" dirty="0"/>
              <a:t>E</a:t>
            </a:r>
            <a:r>
              <a:rPr lang="en-US" dirty="0"/>
              <a:t>xplore the specific questions to be addressed (break down into </a:t>
            </a:r>
            <a:r>
              <a:rPr lang="en-US" dirty="0" smtClean="0"/>
              <a:t>sub questions- </a:t>
            </a:r>
            <a:r>
              <a:rPr lang="en-US" dirty="0"/>
              <a:t>e.g. consumers' attitudes, security, interface, reputation of system, trust, adequate access)</a:t>
            </a:r>
          </a:p>
          <a:p>
            <a:r>
              <a:rPr lang="en-US" b="1" dirty="0"/>
              <a:t>C</a:t>
            </a:r>
            <a:r>
              <a:rPr lang="en-US" dirty="0"/>
              <a:t>hoose the evaluation paradigm and techniques to answer the questions (paradigm selected determines the techniques used.  Practical issues, ethical issues, and tradeoffs must be considered)</a:t>
            </a:r>
          </a:p>
          <a:p>
            <a:r>
              <a:rPr lang="en-US" b="1" dirty="0"/>
              <a:t>I</a:t>
            </a:r>
            <a:r>
              <a:rPr lang="en-US" dirty="0"/>
              <a:t>dentify the practical issues (select users, stay on budget, stay on schedule, find evaluators, select equipment)</a:t>
            </a:r>
          </a:p>
          <a:p>
            <a:r>
              <a:rPr lang="en-US" b="1" dirty="0"/>
              <a:t>D</a:t>
            </a:r>
            <a:r>
              <a:rPr lang="en-US" dirty="0"/>
              <a:t>ecide how to deal with the ethical issues (informed consent form, privacy / confidentiality, and let the participants know the goals of the study, what will happen to the findings, privacy of information, etc..)</a:t>
            </a:r>
          </a:p>
          <a:p>
            <a:r>
              <a:rPr lang="en-US" b="1" dirty="0"/>
              <a:t>E</a:t>
            </a:r>
            <a:r>
              <a:rPr lang="en-US" dirty="0"/>
              <a:t>valuate, interpret, and present the data (what data to collect, how to analyze and present depends on the paradigm used.  Need to consider reliability, validity, biases, scope and ecological validity)</a:t>
            </a:r>
          </a:p>
          <a:p>
            <a:pPr lvl="1"/>
            <a:endParaRPr lang="en-US" sz="2400" dirty="0"/>
          </a:p>
        </p:txBody>
      </p:sp>
    </p:spTree>
    <p:extLst>
      <p:ext uri="{BB962C8B-B14F-4D97-AF65-F5344CB8AC3E}">
        <p14:creationId xmlns:p14="http://schemas.microsoft.com/office/powerpoint/2010/main" val="26549062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8782" y="533399"/>
            <a:ext cx="8746436" cy="5791202"/>
          </a:xfrm>
          <a:prstGeom prst="rect">
            <a:avLst/>
          </a:prstGeom>
        </p:spPr>
      </p:pic>
    </p:spTree>
    <p:extLst>
      <p:ext uri="{BB962C8B-B14F-4D97-AF65-F5344CB8AC3E}">
        <p14:creationId xmlns:p14="http://schemas.microsoft.com/office/powerpoint/2010/main" val="4158228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a:bodyPr>
          <a:lstStyle/>
          <a:p>
            <a:r>
              <a:rPr lang="en-US" sz="4000" dirty="0" smtClean="0"/>
              <a:t>References</a:t>
            </a: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r>
              <a:rPr lang="en-US" sz="2400" dirty="0"/>
              <a:t>http://www.sharritt.com/CISHCIExam/preece.html</a:t>
            </a:r>
          </a:p>
        </p:txBody>
      </p:sp>
    </p:spTree>
    <p:extLst>
      <p:ext uri="{BB962C8B-B14F-4D97-AF65-F5344CB8AC3E}">
        <p14:creationId xmlns:p14="http://schemas.microsoft.com/office/powerpoint/2010/main" val="41083067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865</TotalTime>
  <Words>169</Words>
  <Application>Microsoft Office PowerPoint</Application>
  <PresentationFormat>On-screen Show (4:3)</PresentationFormat>
  <Paragraphs>65</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What to Evaluate?</vt:lpstr>
      <vt:lpstr>Why Evaluate?</vt:lpstr>
      <vt:lpstr>When to Evaluate</vt:lpstr>
      <vt:lpstr>Evaluation Methods</vt:lpstr>
      <vt:lpstr>An Evaluation Framework / Evaluation Paradigms  </vt:lpstr>
      <vt:lpstr>An Evaluation Framework / Evaluation Paradigms (Contd.)  </vt:lpstr>
      <vt:lpstr>Evaluation Techniques</vt:lpstr>
      <vt:lpstr>DECIDE:  A framework to guide evaluation</vt:lpstr>
      <vt:lpstr>PowerPoint Presentation</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270</cp:revision>
  <dcterms:created xsi:type="dcterms:W3CDTF">2014-08-12T16:29:38Z</dcterms:created>
  <dcterms:modified xsi:type="dcterms:W3CDTF">2020-02-19T10:02:55Z</dcterms:modified>
</cp:coreProperties>
</file>