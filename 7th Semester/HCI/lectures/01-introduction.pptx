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4" r:id="rId3"/>
    <p:sldId id="257" r:id="rId4"/>
    <p:sldId id="275" r:id="rId5"/>
    <p:sldId id="262" r:id="rId6"/>
    <p:sldId id="263" r:id="rId7"/>
    <p:sldId id="264" r:id="rId8"/>
    <p:sldId id="265" r:id="rId9"/>
    <p:sldId id="266" r:id="rId10"/>
    <p:sldId id="269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AE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780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4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15D94-23E7-974D-8446-384B52F594E1}" type="datetimeFigureOut"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C5BF9-15BF-5842-9DDB-3AA156DAF0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93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B042FD-980B-A24C-AE22-B9FDB4F61D17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1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1451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4927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5131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2365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7584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6830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2865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3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4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02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1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81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3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5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0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1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20F4B-30D6-A64E-99F4-981C2C58D0AA}" type="datetimeFigureOut"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4C81B-C2E0-034A-BE72-F8285B5EB2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rgbClr val="31AE8D"/>
          </a:solidFill>
          <a:latin typeface="Verdana"/>
          <a:ea typeface="+mj-ea"/>
          <a:cs typeface="Verdana"/>
        </a:defRPr>
      </a:lvl1pPr>
    </p:titleStyle>
    <p:bodyStyle>
      <a:lvl1pPr marL="342900" indent="-342900" algn="l" defTabSz="457200" rtl="0" eaLnBrk="1" latinLnBrk="0" hangingPunct="1">
        <a:spcBef>
          <a:spcPts val="1200"/>
        </a:spcBef>
        <a:buFont typeface="Arial"/>
        <a:buChar char="•"/>
        <a:defRPr sz="2600" kern="1200">
          <a:solidFill>
            <a:schemeClr val="tx1"/>
          </a:solidFill>
          <a:latin typeface="Helvetica"/>
          <a:ea typeface="+mn-ea"/>
          <a:cs typeface="Helvetica"/>
        </a:defRPr>
      </a:lvl1pPr>
      <a:lvl2pPr marL="742950" indent="-285750" algn="l" defTabSz="457200" rtl="0" eaLnBrk="1" latinLnBrk="0" hangingPunct="1">
        <a:spcBef>
          <a:spcPts val="1200"/>
        </a:spcBef>
        <a:buFont typeface="Arial"/>
        <a:buChar char="–"/>
        <a:defRPr sz="2200" kern="1200">
          <a:solidFill>
            <a:schemeClr val="tx1"/>
          </a:solidFill>
          <a:latin typeface="Helvetica"/>
          <a:ea typeface="+mn-ea"/>
          <a:cs typeface="Helvetic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Helvetica"/>
          <a:ea typeface="+mn-ea"/>
          <a:cs typeface="Helvetic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/>
          <a:ea typeface="+mn-ea"/>
          <a:cs typeface="Helvetica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/>
          <a:ea typeface="+mn-ea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400" b="1">
                <a:solidFill>
                  <a:srgbClr val="33AF8C"/>
                </a:solidFill>
                <a:latin typeface="Verdana"/>
                <a:cs typeface="Verdana"/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Increasing use of automated systems</a:t>
            </a:r>
          </a:p>
          <a:p>
            <a:pPr lvl="1"/>
            <a:r>
              <a:rPr lang="en-US"/>
              <a:t>Hardware and software technology are improving rapidly</a:t>
            </a:r>
          </a:p>
          <a:p>
            <a:pPr lvl="1"/>
            <a:r>
              <a:rPr lang="en-US"/>
              <a:t>User interface technology is lagging</a:t>
            </a:r>
          </a:p>
          <a:p>
            <a:r>
              <a:rPr lang="en-US"/>
              <a:t>Critical bottleneck is now user interface, not processing</a:t>
            </a:r>
          </a:p>
          <a:p>
            <a:r>
              <a:rPr lang="en-US"/>
              <a:t>Two powerful information processors communicating via narrow-bandwidth, highly constrained interface</a:t>
            </a:r>
          </a:p>
          <a:p>
            <a:pPr lvl="1"/>
            <a:r>
              <a:rPr lang="en-US"/>
              <a:t>Goal: Increase bandwidth across channel</a:t>
            </a:r>
          </a:p>
          <a:p>
            <a:pPr lvl="1"/>
            <a:r>
              <a:rPr lang="en-US"/>
              <a:t>Start from human's perceptual abilities, processes, organs</a:t>
            </a:r>
          </a:p>
          <a:p>
            <a:pPr lvl="1"/>
            <a:r>
              <a:rPr lang="en-US"/>
              <a:t>Then work toward devices, interaction techniques, not reverse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2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 Abilities vs. Computer Abilities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67" y="1136385"/>
            <a:ext cx="7432944" cy="55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7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Computer Science and HCI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5486400"/>
          </a:xfrm>
        </p:spPr>
        <p:txBody>
          <a:bodyPr>
            <a:normAutofit/>
          </a:bodyPr>
          <a:lstStyle/>
          <a:p>
            <a:r>
              <a:rPr lang="en-US" dirty="0"/>
              <a:t>Problems and opportunities in this area increasing, not decreasing, with new technology</a:t>
            </a:r>
          </a:p>
          <a:p>
            <a:pPr lvl="1"/>
            <a:r>
              <a:rPr lang="en-US" dirty="0"/>
              <a:t>Easier to use</a:t>
            </a:r>
          </a:p>
          <a:p>
            <a:pPr lvl="1"/>
            <a:r>
              <a:rPr lang="en-US" dirty="0"/>
              <a:t>Harder to program</a:t>
            </a:r>
          </a:p>
          <a:p>
            <a:r>
              <a:rPr lang="en-US" dirty="0"/>
              <a:t>Simple engineering methods for good interfaces do not exist yet</a:t>
            </a:r>
          </a:p>
          <a:p>
            <a:pPr lvl="1"/>
            <a:r>
              <a:rPr lang="en-US" dirty="0"/>
              <a:t>Still need iterative development, prototyping, and testing</a:t>
            </a:r>
          </a:p>
          <a:p>
            <a:pPr lvl="1"/>
            <a:r>
              <a:rPr lang="en-US" dirty="0"/>
              <a:t>Hence user interface code is most changeable part of a system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6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human-conputer interface?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/>
              <a:t>Definition of all inputs from user to computer</a:t>
            </a:r>
          </a:p>
          <a:p>
            <a:r>
              <a:rPr lang="en-US"/>
              <a:t>Definition of all outputs from computer to user</a:t>
            </a:r>
          </a:p>
          <a:p>
            <a:r>
              <a:rPr lang="en-US"/>
              <a:t>Definition of sequencing of inputs and outputs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What</a:t>
            </a:r>
            <a:r>
              <a:rPr lang="en-US"/>
              <a:t> the user sees/perceives</a:t>
            </a:r>
          </a:p>
          <a:p>
            <a:r>
              <a:rPr lang="en-US" b="1"/>
              <a:t>Not how </a:t>
            </a:r>
            <a:r>
              <a:rPr lang="en-US"/>
              <a:t>it is implemented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6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229" y="1"/>
            <a:ext cx="8171058" cy="6846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300" y="1"/>
            <a:ext cx="0" cy="6847040"/>
          </a:xfrm>
          <a:custGeom>
            <a:avLst/>
            <a:gdLst/>
            <a:ahLst/>
            <a:cxnLst/>
            <a:rect l="l" t="t" r="r" b="b"/>
            <a:pathLst>
              <a:path h="2776855">
                <a:moveTo>
                  <a:pt x="0" y="0"/>
                </a:moveTo>
                <a:lnTo>
                  <a:pt x="0" y="2776449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063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229" y="11961"/>
            <a:ext cx="8171058" cy="2526523"/>
          </a:xfrm>
          <a:prstGeom prst="rect">
            <a:avLst/>
          </a:prstGeom>
          <a:blipFill>
            <a:blip r:embed="rId3" cstate="print"/>
            <a:srcRect/>
            <a:stretch>
              <a:fillRect b="-17096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4158376"/>
            <a:ext cx="9144000" cy="2687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5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229" y="1"/>
            <a:ext cx="8171058" cy="6846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706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229" y="1"/>
            <a:ext cx="8171058" cy="6846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09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229" y="1"/>
            <a:ext cx="8171058" cy="6846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013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229" y="1"/>
            <a:ext cx="8171082" cy="6846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597312" y="1"/>
            <a:ext cx="0" cy="6847040"/>
          </a:xfrm>
          <a:custGeom>
            <a:avLst/>
            <a:gdLst/>
            <a:ahLst/>
            <a:cxnLst/>
            <a:rect l="l" t="t" r="r" b="b"/>
            <a:pathLst>
              <a:path h="2776855">
                <a:moveTo>
                  <a:pt x="0" y="0"/>
                </a:moveTo>
                <a:lnTo>
                  <a:pt x="0" y="2776449"/>
                </a:lnTo>
              </a:path>
            </a:pathLst>
          </a:custGeom>
          <a:ln w="9525">
            <a:solidFill>
              <a:srgbClr val="0304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6228" y="1"/>
            <a:ext cx="0" cy="6847040"/>
          </a:xfrm>
          <a:custGeom>
            <a:avLst/>
            <a:gdLst/>
            <a:ahLst/>
            <a:cxnLst/>
            <a:rect l="l" t="t" r="r" b="b"/>
            <a:pathLst>
              <a:path h="2776855">
                <a:moveTo>
                  <a:pt x="0" y="2776449"/>
                </a:moveTo>
                <a:lnTo>
                  <a:pt x="0" y="0"/>
                </a:lnTo>
              </a:path>
            </a:pathLst>
          </a:custGeom>
          <a:ln w="9525">
            <a:solidFill>
              <a:srgbClr val="0304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54278" y="1414329"/>
            <a:ext cx="1788496" cy="14718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77864" y="3989147"/>
            <a:ext cx="2541729" cy="23136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88174" y="6320653"/>
            <a:ext cx="303792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4"/>
            <a:r>
              <a:rPr sz="1000" dirty="0">
                <a:solidFill>
                  <a:srgbClr val="231F20"/>
                </a:solidFill>
                <a:latin typeface="Verdana"/>
                <a:cs typeface="Verdana"/>
              </a:rPr>
              <a:t>Image courtesy of </a:t>
            </a:r>
            <a:r>
              <a:rPr sz="1000" dirty="0">
                <a:solidFill>
                  <a:srgbClr val="3553A4"/>
                </a:solidFill>
                <a:latin typeface="Verdana"/>
                <a:cs typeface="Verdana"/>
              </a:rPr>
              <a:t>YU-TA LEE</a:t>
            </a:r>
            <a:r>
              <a:rPr sz="1000" dirty="0">
                <a:solidFill>
                  <a:srgbClr val="231F20"/>
                </a:solidFill>
                <a:latin typeface="Verdana"/>
                <a:cs typeface="Verdana"/>
              </a:rPr>
              <a:t> on Flickr.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"/>
            <a:ext cx="463153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573040" y="1"/>
            <a:ext cx="57096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968" y="1344827"/>
            <a:ext cx="2244293" cy="17971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302" y="1342073"/>
            <a:ext cx="2193092" cy="43360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90329" y="1344827"/>
            <a:ext cx="3107612" cy="210440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593" y="1319926"/>
            <a:ext cx="2978348" cy="196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4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229" y="263921"/>
            <a:ext cx="8171058" cy="6846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35598" y="1"/>
            <a:ext cx="0" cy="6847040"/>
          </a:xfrm>
          <a:custGeom>
            <a:avLst/>
            <a:gdLst/>
            <a:ahLst/>
            <a:cxnLst/>
            <a:rect l="l" t="t" r="r" b="b"/>
            <a:pathLst>
              <a:path h="2776855">
                <a:moveTo>
                  <a:pt x="0" y="2776449"/>
                </a:moveTo>
                <a:lnTo>
                  <a:pt x="0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300" y="1"/>
            <a:ext cx="0" cy="6847040"/>
          </a:xfrm>
          <a:custGeom>
            <a:avLst/>
            <a:gdLst/>
            <a:ahLst/>
            <a:cxnLst/>
            <a:rect l="l" t="t" r="r" b="b"/>
            <a:pathLst>
              <a:path h="2776855">
                <a:moveTo>
                  <a:pt x="0" y="0"/>
                </a:moveTo>
                <a:lnTo>
                  <a:pt x="0" y="2776449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245566"/>
            <a:ext cx="9144000" cy="1612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5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170</Words>
  <Application>Microsoft Office PowerPoint</Application>
  <PresentationFormat>On-screen Show (4:3)</PresentationFormat>
  <Paragraphs>30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Helvetica</vt:lpstr>
      <vt:lpstr>Verdana</vt:lpstr>
      <vt:lpstr>Office Theme</vt:lpstr>
      <vt:lpstr>Background</vt:lpstr>
      <vt:lpstr>Human Abilities vs. Computer Abilities</vt:lpstr>
      <vt:lpstr>Computer Science and HCI</vt:lpstr>
      <vt:lpstr>What is a human-conputer interface?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Tufts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Jacob</dc:creator>
  <cp:lastModifiedBy>Windows User</cp:lastModifiedBy>
  <cp:revision>37</cp:revision>
  <dcterms:created xsi:type="dcterms:W3CDTF">2015-05-31T20:48:04Z</dcterms:created>
  <dcterms:modified xsi:type="dcterms:W3CDTF">2024-10-15T11:11:25Z</dcterms:modified>
</cp:coreProperties>
</file>