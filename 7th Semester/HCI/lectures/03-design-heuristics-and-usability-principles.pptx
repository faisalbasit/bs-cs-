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6" r:id="rId6"/>
    <p:sldId id="267" r:id="rId7"/>
    <p:sldId id="262" r:id="rId8"/>
    <p:sldId id="263" r:id="rId9"/>
    <p:sldId id="264" r:id="rId10"/>
    <p:sldId id="268" r:id="rId11"/>
    <p:sldId id="269" r:id="rId12"/>
    <p:sldId id="270" r:id="rId13"/>
    <p:sldId id="271" r:id="rId14"/>
    <p:sldId id="274" r:id="rId15"/>
    <p:sldId id="275" r:id="rId16"/>
    <p:sldId id="272"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t>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t>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t>2/9/2017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t>2/9/2017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t>2/9/2017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2/9/2017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2/9/2017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t>2/9/2017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914400"/>
          </a:xfrm>
        </p:spPr>
        <p:txBody>
          <a:bodyPr>
            <a:normAutofit/>
          </a:bodyPr>
          <a:lstStyle/>
          <a:p>
            <a:r>
              <a:rPr lang="en-US" dirty="0" smtClean="0"/>
              <a:t>Design Principles</a:t>
            </a:r>
            <a:endParaRPr lang="en-US" dirty="0"/>
          </a:p>
        </p:txBody>
      </p:sp>
      <p:sp>
        <p:nvSpPr>
          <p:cNvPr id="7" name="Content Placeholder 2"/>
          <p:cNvSpPr>
            <a:spLocks noGrp="1"/>
          </p:cNvSpPr>
          <p:nvPr>
            <p:ph idx="1"/>
          </p:nvPr>
        </p:nvSpPr>
        <p:spPr>
          <a:xfrm>
            <a:off x="457200" y="914400"/>
            <a:ext cx="8229600" cy="5715000"/>
          </a:xfrm>
        </p:spPr>
        <p:txBody>
          <a:bodyPr>
            <a:normAutofit/>
          </a:bodyPr>
          <a:lstStyle/>
          <a:p>
            <a:r>
              <a:rPr lang="en-US" sz="2400" dirty="0"/>
              <a:t>Another way of conceptualizing usability  is in terms of  design principles. </a:t>
            </a:r>
            <a:endParaRPr lang="en-US" sz="2400" dirty="0" smtClean="0"/>
          </a:p>
          <a:p>
            <a:r>
              <a:rPr lang="en-US" sz="2400" dirty="0"/>
              <a:t> These are </a:t>
            </a:r>
            <a:r>
              <a:rPr lang="en-US" sz="2400" dirty="0" smtClean="0"/>
              <a:t>generalizable </a:t>
            </a:r>
            <a:r>
              <a:rPr lang="en-US" sz="2400" dirty="0"/>
              <a:t>abstractions intended to orient designers towards thinking about </a:t>
            </a:r>
            <a:r>
              <a:rPr lang="en-US" sz="2400" dirty="0" smtClean="0"/>
              <a:t>different </a:t>
            </a:r>
            <a:r>
              <a:rPr lang="en-US" sz="2400" dirty="0"/>
              <a:t>aspects of  their designs. </a:t>
            </a:r>
            <a:endParaRPr lang="en-US" sz="2400" dirty="0" smtClean="0"/>
          </a:p>
          <a:p>
            <a:r>
              <a:rPr lang="en-US" sz="2400" dirty="0"/>
              <a:t>More specifically, they are intended to help designers explain and improve the </a:t>
            </a:r>
            <a:r>
              <a:rPr lang="en-US" sz="2400" dirty="0" smtClean="0"/>
              <a:t>design.</a:t>
            </a:r>
          </a:p>
          <a:p>
            <a:r>
              <a:rPr lang="en-US" sz="2400" dirty="0"/>
              <a:t>However, they are not intended  to specify how to design an actual </a:t>
            </a:r>
            <a:r>
              <a:rPr lang="en-US" sz="2400" dirty="0" smtClean="0"/>
              <a:t>interface</a:t>
            </a:r>
          </a:p>
          <a:p>
            <a:pPr lvl="1"/>
            <a:r>
              <a:rPr lang="en-US" sz="2000" i="1" dirty="0"/>
              <a:t>(e.g., </a:t>
            </a:r>
            <a:r>
              <a:rPr lang="en-US" sz="2000" i="1" dirty="0" smtClean="0"/>
              <a:t>telling </a:t>
            </a:r>
            <a:r>
              <a:rPr lang="en-US" sz="2000" i="1" dirty="0"/>
              <a:t>the designer how to design a particular icon or how to structure a web </a:t>
            </a:r>
            <a:r>
              <a:rPr lang="en-US" sz="2000" i="1" dirty="0" smtClean="0"/>
              <a:t>portal)</a:t>
            </a:r>
          </a:p>
          <a:p>
            <a:r>
              <a:rPr lang="en-US" sz="2400" dirty="0"/>
              <a:t>The best known design principles concerned with  how  to determine what  users should see and  do when  carrying out their tasks using an interactive product. </a:t>
            </a:r>
          </a:p>
          <a:p>
            <a:pPr lvl="1"/>
            <a:endParaRPr lang="en-US" sz="2000" i="1" dirty="0" smtClean="0"/>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a:t>Design Principles by Don Norman</a:t>
            </a:r>
          </a:p>
        </p:txBody>
      </p:sp>
      <p:sp>
        <p:nvSpPr>
          <p:cNvPr id="7" name="Content Placeholder 2"/>
          <p:cNvSpPr>
            <a:spLocks noGrp="1"/>
          </p:cNvSpPr>
          <p:nvPr>
            <p:ph idx="1"/>
          </p:nvPr>
        </p:nvSpPr>
        <p:spPr>
          <a:xfrm>
            <a:off x="457200" y="1600200"/>
            <a:ext cx="8229600" cy="4525963"/>
          </a:xfrm>
        </p:spPr>
        <p:txBody>
          <a:bodyPr>
            <a:normAutofit/>
          </a:bodyPr>
          <a:lstStyle/>
          <a:p>
            <a:r>
              <a:rPr lang="en-US" sz="2400" dirty="0"/>
              <a:t>Visibility </a:t>
            </a:r>
          </a:p>
          <a:p>
            <a:r>
              <a:rPr lang="en-US" sz="2400" dirty="0"/>
              <a:t>Feedback </a:t>
            </a:r>
          </a:p>
          <a:p>
            <a:r>
              <a:rPr lang="en-US" sz="2400" dirty="0"/>
              <a:t>Constraints</a:t>
            </a:r>
          </a:p>
          <a:p>
            <a:r>
              <a:rPr lang="en-US" sz="2400" dirty="0"/>
              <a:t>Mapping </a:t>
            </a:r>
          </a:p>
          <a:p>
            <a:r>
              <a:rPr lang="en-US" sz="2400" dirty="0"/>
              <a:t>Consistency </a:t>
            </a:r>
          </a:p>
          <a:p>
            <a:r>
              <a:rPr lang="en-US" sz="2400" dirty="0"/>
              <a:t>Affordance</a:t>
            </a:r>
            <a:endParaRPr lang="en-US" sz="2400" dirty="0" smtClean="0"/>
          </a:p>
        </p:txBody>
      </p:sp>
    </p:spTree>
    <p:extLst>
      <p:ext uri="{BB962C8B-B14F-4D97-AF65-F5344CB8AC3E}">
        <p14:creationId xmlns:p14="http://schemas.microsoft.com/office/powerpoint/2010/main" val="27025294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3600" dirty="0"/>
              <a:t>Design Principles by Don </a:t>
            </a:r>
            <a:r>
              <a:rPr lang="en-US" sz="3600" dirty="0" smtClean="0"/>
              <a:t>Norman (Contd.)</a:t>
            </a:r>
            <a:endParaRPr lang="en-US" sz="3600" dirty="0"/>
          </a:p>
        </p:txBody>
      </p:sp>
      <p:sp>
        <p:nvSpPr>
          <p:cNvPr id="7" name="Content Placeholder 2"/>
          <p:cNvSpPr>
            <a:spLocks noGrp="1"/>
          </p:cNvSpPr>
          <p:nvPr>
            <p:ph idx="1"/>
          </p:nvPr>
        </p:nvSpPr>
        <p:spPr>
          <a:xfrm>
            <a:off x="457200" y="838200"/>
            <a:ext cx="8229600" cy="6019800"/>
          </a:xfrm>
        </p:spPr>
        <p:txBody>
          <a:bodyPr>
            <a:normAutofit lnSpcReduction="10000"/>
          </a:bodyPr>
          <a:lstStyle/>
          <a:p>
            <a:r>
              <a:rPr lang="en-US" sz="2400" b="1" dirty="0" smtClean="0"/>
              <a:t>Visibility:</a:t>
            </a:r>
          </a:p>
          <a:p>
            <a:pPr lvl="1"/>
            <a:r>
              <a:rPr lang="en-US" sz="2000" dirty="0"/>
              <a:t> </a:t>
            </a:r>
            <a:r>
              <a:rPr lang="en-US" sz="2400" dirty="0"/>
              <a:t>The more visible functions are, the more likely users will be able to know what to do next. In contrast, when functions are "out of sight,"  it makes them more difficult to find and know how to use. </a:t>
            </a:r>
            <a:endParaRPr lang="en-US" sz="2400" dirty="0" smtClean="0"/>
          </a:p>
          <a:p>
            <a:r>
              <a:rPr lang="en-US" sz="2400" b="1" dirty="0" smtClean="0"/>
              <a:t>Feedback:</a:t>
            </a:r>
            <a:endParaRPr lang="en-US" sz="2400" b="1" dirty="0"/>
          </a:p>
          <a:p>
            <a:pPr lvl="1"/>
            <a:r>
              <a:rPr lang="en-US" sz="2000" dirty="0"/>
              <a:t> </a:t>
            </a:r>
            <a:r>
              <a:rPr lang="en-US" sz="2400" dirty="0"/>
              <a:t>Related  to the concept of visibility is feedback. </a:t>
            </a:r>
          </a:p>
          <a:p>
            <a:pPr lvl="1"/>
            <a:r>
              <a:rPr lang="en-US" sz="2400" dirty="0"/>
              <a:t>Feedback  is about sending back information about what action has been done and what has been accomplished, allowing the person to continue with the activity. Various kinds of  feedback are available for interaction design:</a:t>
            </a:r>
          </a:p>
          <a:p>
            <a:pPr lvl="2"/>
            <a:r>
              <a:rPr lang="en-US" sz="2200" i="1" dirty="0"/>
              <a:t>audio, tactile, verbal, visual, and combinations of  these. </a:t>
            </a:r>
            <a:r>
              <a:rPr lang="en-US" sz="2200" b="1" i="1" dirty="0"/>
              <a:t>Deciding which combinations are appropriate for different kinds of  activities and interactivities is central</a:t>
            </a:r>
            <a:r>
              <a:rPr lang="en-US" sz="2200" i="1" dirty="0"/>
              <a:t>. </a:t>
            </a:r>
          </a:p>
          <a:p>
            <a:pPr lvl="1"/>
            <a:r>
              <a:rPr lang="en-US" sz="2400" dirty="0"/>
              <a:t>Using feedback  in the right way can also provide the necessary visibility for user interaction. </a:t>
            </a:r>
          </a:p>
          <a:p>
            <a:endParaRPr lang="en-US" sz="2400" dirty="0"/>
          </a:p>
        </p:txBody>
      </p:sp>
    </p:spTree>
    <p:extLst>
      <p:ext uri="{BB962C8B-B14F-4D97-AF65-F5344CB8AC3E}">
        <p14:creationId xmlns:p14="http://schemas.microsoft.com/office/powerpoint/2010/main" val="28927540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3600" dirty="0"/>
              <a:t>Design Principles by Don </a:t>
            </a:r>
            <a:r>
              <a:rPr lang="en-US" sz="3600" dirty="0" smtClean="0"/>
              <a:t>Norman (Contd.)</a:t>
            </a:r>
            <a:endParaRPr lang="en-US" sz="3600" dirty="0"/>
          </a:p>
        </p:txBody>
      </p:sp>
      <p:sp>
        <p:nvSpPr>
          <p:cNvPr id="7" name="Content Placeholder 2"/>
          <p:cNvSpPr>
            <a:spLocks noGrp="1"/>
          </p:cNvSpPr>
          <p:nvPr>
            <p:ph idx="1"/>
          </p:nvPr>
        </p:nvSpPr>
        <p:spPr>
          <a:xfrm>
            <a:off x="457200" y="838200"/>
            <a:ext cx="8229600" cy="6019800"/>
          </a:xfrm>
        </p:spPr>
        <p:txBody>
          <a:bodyPr>
            <a:normAutofit/>
          </a:bodyPr>
          <a:lstStyle/>
          <a:p>
            <a:r>
              <a:rPr lang="en-US" sz="2400" b="1" dirty="0" smtClean="0"/>
              <a:t>Constraints:</a:t>
            </a:r>
          </a:p>
          <a:p>
            <a:pPr lvl="1"/>
            <a:r>
              <a:rPr lang="en-US" sz="2000" dirty="0"/>
              <a:t> </a:t>
            </a:r>
            <a:r>
              <a:rPr lang="en-US" sz="2400" dirty="0"/>
              <a:t>The design concept of  constraining refers  to determining ways of  restricting the kind of  user interaction  that can take place at a given moment</a:t>
            </a:r>
            <a:r>
              <a:rPr lang="en-US" sz="2400" dirty="0" smtClean="0"/>
              <a:t>.</a:t>
            </a:r>
          </a:p>
          <a:p>
            <a:pPr lvl="1"/>
            <a:r>
              <a:rPr lang="en-US" sz="2400" dirty="0"/>
              <a:t>A common design practice in graphical user interfaces is  to deactivate certain menu options by shading them, thereby  restricting the user to only actions permissible at that stage of  the </a:t>
            </a:r>
            <a:r>
              <a:rPr lang="en-US" sz="2400" dirty="0" smtClean="0"/>
              <a:t>activity.</a:t>
            </a:r>
          </a:p>
          <a:p>
            <a:pPr lvl="1"/>
            <a:r>
              <a:rPr lang="en-US" sz="2400" dirty="0"/>
              <a:t>One of  the advantages of this form of  constraining  is it prevents the user from selecting incorrect options and thereby reduces the chance of making a mistake. </a:t>
            </a:r>
            <a:endParaRPr lang="en-US" sz="2400" dirty="0" smtClean="0"/>
          </a:p>
          <a:p>
            <a:endParaRPr lang="en-US" sz="2400" dirty="0"/>
          </a:p>
        </p:txBody>
      </p:sp>
    </p:spTree>
    <p:extLst>
      <p:ext uri="{BB962C8B-B14F-4D97-AF65-F5344CB8AC3E}">
        <p14:creationId xmlns:p14="http://schemas.microsoft.com/office/powerpoint/2010/main" val="16516824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3600" dirty="0"/>
              <a:t>Design Principles by Don </a:t>
            </a:r>
            <a:r>
              <a:rPr lang="en-US" sz="3600" dirty="0" smtClean="0"/>
              <a:t>Norman (Contd.)</a:t>
            </a:r>
            <a:endParaRPr lang="en-US" sz="3600" dirty="0"/>
          </a:p>
        </p:txBody>
      </p:sp>
      <p:sp>
        <p:nvSpPr>
          <p:cNvPr id="7" name="Content Placeholder 2"/>
          <p:cNvSpPr>
            <a:spLocks noGrp="1"/>
          </p:cNvSpPr>
          <p:nvPr>
            <p:ph idx="1"/>
          </p:nvPr>
        </p:nvSpPr>
        <p:spPr>
          <a:xfrm>
            <a:off x="457200" y="838200"/>
            <a:ext cx="8229600" cy="6019800"/>
          </a:xfrm>
        </p:spPr>
        <p:txBody>
          <a:bodyPr>
            <a:normAutofit/>
          </a:bodyPr>
          <a:lstStyle/>
          <a:p>
            <a:r>
              <a:rPr lang="en-US" sz="2400" b="1" dirty="0" smtClean="0"/>
              <a:t>Constraints (Contd.):</a:t>
            </a:r>
          </a:p>
          <a:p>
            <a:pPr lvl="1"/>
            <a:r>
              <a:rPr lang="en-US" sz="2000" dirty="0"/>
              <a:t> </a:t>
            </a:r>
            <a:r>
              <a:rPr lang="en-US" sz="2400" dirty="0"/>
              <a:t>Norman (1999) classifies constraints into three </a:t>
            </a:r>
            <a:r>
              <a:rPr lang="en-US" sz="2400" dirty="0" smtClean="0"/>
              <a:t>categories:</a:t>
            </a:r>
          </a:p>
          <a:p>
            <a:pPr lvl="2"/>
            <a:r>
              <a:rPr lang="en-US" sz="2200" b="1" dirty="0" smtClean="0"/>
              <a:t>Physical</a:t>
            </a:r>
            <a:r>
              <a:rPr lang="en-US" sz="2200" b="1" dirty="0"/>
              <a:t>: </a:t>
            </a:r>
            <a:r>
              <a:rPr lang="en-US" sz="2200" dirty="0"/>
              <a:t>refer to the way  physical objects restrict  the </a:t>
            </a:r>
            <a:r>
              <a:rPr lang="en-US" sz="2200" dirty="0" smtClean="0"/>
              <a:t>movement </a:t>
            </a:r>
            <a:r>
              <a:rPr lang="en-US" sz="2200" dirty="0"/>
              <a:t>of  things. </a:t>
            </a:r>
            <a:endParaRPr lang="en-US" sz="2200" dirty="0" smtClean="0"/>
          </a:p>
          <a:p>
            <a:pPr lvl="3"/>
            <a:r>
              <a:rPr lang="en-US" i="1" dirty="0" smtClean="0"/>
              <a:t>For </a:t>
            </a:r>
            <a:r>
              <a:rPr lang="en-US" i="1" dirty="0"/>
              <a:t>example, the way  an external disk can be placed into a disk </a:t>
            </a:r>
            <a:r>
              <a:rPr lang="en-US" i="1" dirty="0" smtClean="0"/>
              <a:t>drive </a:t>
            </a:r>
            <a:r>
              <a:rPr lang="en-US" i="1" dirty="0"/>
              <a:t>is physically constrained by  its shape and size, so that it can  be  inserted  in </a:t>
            </a:r>
            <a:r>
              <a:rPr lang="en-US" i="1" dirty="0" smtClean="0"/>
              <a:t>only </a:t>
            </a:r>
            <a:r>
              <a:rPr lang="en-US" i="1" dirty="0"/>
              <a:t>one way.</a:t>
            </a:r>
            <a:endParaRPr lang="en-US" i="1" dirty="0" smtClean="0"/>
          </a:p>
          <a:p>
            <a:pPr lvl="2"/>
            <a:r>
              <a:rPr lang="en-US" sz="2200" b="1" dirty="0" smtClean="0"/>
              <a:t>Logical</a:t>
            </a:r>
            <a:r>
              <a:rPr lang="en-US" sz="2200" b="1" dirty="0"/>
              <a:t>: </a:t>
            </a:r>
            <a:r>
              <a:rPr lang="en-US" sz="2200" dirty="0"/>
              <a:t>rely on people's understanding of  the way the world works. They rely on people's </a:t>
            </a:r>
            <a:r>
              <a:rPr lang="en-US" sz="2200" dirty="0" smtClean="0"/>
              <a:t>common-sense reasoning </a:t>
            </a:r>
            <a:r>
              <a:rPr lang="en-US" sz="2200" dirty="0"/>
              <a:t>about actions and their consequences. Making actions and their effects obvious enables </a:t>
            </a:r>
            <a:r>
              <a:rPr lang="en-US" sz="2200" dirty="0" smtClean="0"/>
              <a:t>people  </a:t>
            </a:r>
            <a:r>
              <a:rPr lang="en-US" sz="2200" dirty="0"/>
              <a:t>to logically deduce what further actions are required. </a:t>
            </a:r>
            <a:endParaRPr lang="en-US" sz="2200" dirty="0" smtClean="0"/>
          </a:p>
          <a:p>
            <a:pPr lvl="3"/>
            <a:r>
              <a:rPr lang="en-US" sz="1800" i="1" dirty="0" smtClean="0"/>
              <a:t>Disabling </a:t>
            </a:r>
            <a:r>
              <a:rPr lang="en-US" sz="1800" i="1" dirty="0"/>
              <a:t>menu </a:t>
            </a:r>
            <a:r>
              <a:rPr lang="en-US" sz="1800" i="1" dirty="0" smtClean="0"/>
              <a:t>options </a:t>
            </a:r>
            <a:r>
              <a:rPr lang="en-US" sz="1800" i="1" dirty="0"/>
              <a:t>when not appropriate for the task in hand provides logical constraining. </a:t>
            </a:r>
            <a:r>
              <a:rPr lang="en-US" sz="1800" i="1" dirty="0" smtClean="0"/>
              <a:t>It allows </a:t>
            </a:r>
            <a:r>
              <a:rPr lang="en-US" sz="1800" i="1" dirty="0"/>
              <a:t>users to reason why (or why not) they have been designed this way and what </a:t>
            </a:r>
            <a:r>
              <a:rPr lang="en-US" sz="1800" i="1" dirty="0" smtClean="0"/>
              <a:t>options </a:t>
            </a:r>
            <a:r>
              <a:rPr lang="en-US" sz="1800" i="1" dirty="0"/>
              <a:t>are available. </a:t>
            </a:r>
            <a:endParaRPr lang="en-US" sz="1800" i="1" dirty="0" smtClean="0"/>
          </a:p>
          <a:p>
            <a:endParaRPr lang="en-US" sz="2400" dirty="0"/>
          </a:p>
        </p:txBody>
      </p:sp>
    </p:spTree>
    <p:extLst>
      <p:ext uri="{BB962C8B-B14F-4D97-AF65-F5344CB8AC3E}">
        <p14:creationId xmlns:p14="http://schemas.microsoft.com/office/powerpoint/2010/main" val="32632468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3600" dirty="0"/>
              <a:t>Design Principles by Don </a:t>
            </a:r>
            <a:r>
              <a:rPr lang="en-US" sz="3600" dirty="0" smtClean="0"/>
              <a:t>Norman (Contd.)</a:t>
            </a:r>
            <a:endParaRPr lang="en-US" sz="3600" dirty="0"/>
          </a:p>
        </p:txBody>
      </p:sp>
      <p:sp>
        <p:nvSpPr>
          <p:cNvPr id="7" name="Content Placeholder 2"/>
          <p:cNvSpPr>
            <a:spLocks noGrp="1"/>
          </p:cNvSpPr>
          <p:nvPr>
            <p:ph idx="1"/>
          </p:nvPr>
        </p:nvSpPr>
        <p:spPr>
          <a:xfrm>
            <a:off x="457200" y="838200"/>
            <a:ext cx="8229600" cy="6019800"/>
          </a:xfrm>
        </p:spPr>
        <p:txBody>
          <a:bodyPr>
            <a:normAutofit/>
          </a:bodyPr>
          <a:lstStyle/>
          <a:p>
            <a:r>
              <a:rPr lang="en-US" sz="2400" b="1" dirty="0" smtClean="0"/>
              <a:t>Constraints (Contd.):</a:t>
            </a:r>
          </a:p>
          <a:p>
            <a:pPr lvl="2"/>
            <a:r>
              <a:rPr lang="en-US" sz="2200" b="1" dirty="0" smtClean="0"/>
              <a:t>Cultural</a:t>
            </a:r>
            <a:r>
              <a:rPr lang="en-US" sz="2200" dirty="0"/>
              <a:t>:  Cultural constraints rely on learned conventions. </a:t>
            </a:r>
            <a:r>
              <a:rPr lang="en-US" sz="2200" dirty="0" smtClean="0"/>
              <a:t>They </a:t>
            </a:r>
            <a:r>
              <a:rPr lang="en-US" sz="2200" dirty="0"/>
              <a:t>have to be learned. Once learned and accepted by a cultural group, they become universally accepted conventions</a:t>
            </a:r>
            <a:r>
              <a:rPr lang="en-US" sz="2200" dirty="0" smtClean="0"/>
              <a:t>.</a:t>
            </a:r>
          </a:p>
          <a:p>
            <a:pPr lvl="3"/>
            <a:r>
              <a:rPr lang="en-US" sz="1800" i="1" dirty="0"/>
              <a:t>Two </a:t>
            </a:r>
            <a:r>
              <a:rPr lang="en-US" sz="1800" i="1" dirty="0" smtClean="0"/>
              <a:t>universally </a:t>
            </a:r>
            <a:r>
              <a:rPr lang="en-US" sz="1800" i="1" dirty="0"/>
              <a:t>accepted  interface conventions are the use of  windowing for </a:t>
            </a:r>
            <a:r>
              <a:rPr lang="en-US" sz="1800" i="1" dirty="0" smtClean="0"/>
              <a:t>displaying </a:t>
            </a:r>
            <a:r>
              <a:rPr lang="en-US" sz="1800" i="1" dirty="0"/>
              <a:t>information and  the use of  icons on the desktop to represent operations and </a:t>
            </a:r>
            <a:r>
              <a:rPr lang="en-US" sz="1800" i="1" dirty="0" smtClean="0"/>
              <a:t>documents</a:t>
            </a:r>
            <a:r>
              <a:rPr lang="en-US" sz="1800" i="1" dirty="0"/>
              <a:t>. </a:t>
            </a:r>
            <a:endParaRPr lang="en-US" sz="1800" i="1" dirty="0" smtClean="0"/>
          </a:p>
          <a:p>
            <a:pPr lvl="3"/>
            <a:r>
              <a:rPr lang="en-US" sz="1800" i="1" dirty="0"/>
              <a:t>like the use of  red for warning, the use of  certain kinds of  audio signals for danger, and the use of  the smiley face  to represent  happy emotions.</a:t>
            </a:r>
            <a:endParaRPr lang="en-US" sz="1800" i="1" dirty="0" smtClean="0"/>
          </a:p>
          <a:p>
            <a:endParaRPr lang="en-US" sz="2400" i="1" dirty="0"/>
          </a:p>
        </p:txBody>
      </p:sp>
    </p:spTree>
    <p:extLst>
      <p:ext uri="{BB962C8B-B14F-4D97-AF65-F5344CB8AC3E}">
        <p14:creationId xmlns:p14="http://schemas.microsoft.com/office/powerpoint/2010/main" val="7042414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3600" dirty="0"/>
              <a:t>Design Principles by Don </a:t>
            </a:r>
            <a:r>
              <a:rPr lang="en-US" sz="3600" dirty="0" smtClean="0"/>
              <a:t>Norman (Contd.)</a:t>
            </a:r>
            <a:endParaRPr lang="en-US" sz="3600" dirty="0"/>
          </a:p>
        </p:txBody>
      </p:sp>
      <p:sp>
        <p:nvSpPr>
          <p:cNvPr id="7" name="Content Placeholder 2"/>
          <p:cNvSpPr>
            <a:spLocks noGrp="1"/>
          </p:cNvSpPr>
          <p:nvPr>
            <p:ph idx="1"/>
          </p:nvPr>
        </p:nvSpPr>
        <p:spPr>
          <a:xfrm>
            <a:off x="457200" y="838200"/>
            <a:ext cx="8229600" cy="6019800"/>
          </a:xfrm>
        </p:spPr>
        <p:txBody>
          <a:bodyPr>
            <a:normAutofit/>
          </a:bodyPr>
          <a:lstStyle/>
          <a:p>
            <a:r>
              <a:rPr lang="en-US" sz="2400" b="1" dirty="0" smtClean="0"/>
              <a:t>Mapping:</a:t>
            </a:r>
          </a:p>
          <a:p>
            <a:pPr lvl="1"/>
            <a:r>
              <a:rPr lang="en-US" sz="2000" dirty="0"/>
              <a:t> </a:t>
            </a:r>
            <a:r>
              <a:rPr lang="en-US" sz="2400" dirty="0"/>
              <a:t>This refers  to the relationship between controls and their effects in  the </a:t>
            </a:r>
            <a:r>
              <a:rPr lang="en-US" sz="2400" dirty="0" smtClean="0"/>
              <a:t>world</a:t>
            </a:r>
            <a:r>
              <a:rPr lang="en-US" sz="2400" dirty="0"/>
              <a:t>. </a:t>
            </a:r>
            <a:endParaRPr lang="en-US" sz="2400" dirty="0" smtClean="0"/>
          </a:p>
          <a:p>
            <a:pPr lvl="1"/>
            <a:r>
              <a:rPr lang="en-US" sz="2400" dirty="0"/>
              <a:t>Nearly all artifacts need some kind of mapping between controls and effects, </a:t>
            </a:r>
            <a:r>
              <a:rPr lang="en-US" sz="2400" dirty="0" smtClean="0"/>
              <a:t>whether </a:t>
            </a:r>
            <a:r>
              <a:rPr lang="en-US" sz="2400" dirty="0"/>
              <a:t>it is a flashlight,  car, power plant, or cockpit</a:t>
            </a:r>
            <a:r>
              <a:rPr lang="en-US" sz="2400" dirty="0" smtClean="0"/>
              <a:t>.</a:t>
            </a:r>
          </a:p>
          <a:p>
            <a:pPr lvl="2"/>
            <a:r>
              <a:rPr lang="en-US" sz="2000" i="1" dirty="0"/>
              <a:t>An example of  a good </a:t>
            </a:r>
            <a:r>
              <a:rPr lang="en-US" sz="2000" i="1" dirty="0" smtClean="0"/>
              <a:t>mapping </a:t>
            </a:r>
            <a:r>
              <a:rPr lang="en-US" sz="2000" i="1" dirty="0"/>
              <a:t>between control and effect is the up and down arrows used to represent the </a:t>
            </a:r>
            <a:r>
              <a:rPr lang="en-US" sz="2000" i="1" dirty="0" smtClean="0"/>
              <a:t>up and  </a:t>
            </a:r>
            <a:r>
              <a:rPr lang="en-US" sz="2000" i="1" dirty="0"/>
              <a:t>down movement  of  the  cursor, respectively, on a  computer keyboard.</a:t>
            </a:r>
            <a:r>
              <a:rPr lang="en-US" sz="2000" dirty="0"/>
              <a:t> </a:t>
            </a:r>
            <a:endParaRPr lang="en-US" sz="2000" dirty="0" smtClean="0"/>
          </a:p>
          <a:p>
            <a:pPr lvl="1"/>
            <a:r>
              <a:rPr lang="en-US" sz="2400" dirty="0" smtClean="0"/>
              <a:t>Mapping </a:t>
            </a:r>
            <a:r>
              <a:rPr lang="en-US" sz="2400" dirty="0"/>
              <a:t>of  the relative position of controls and their effects is also important.</a:t>
            </a:r>
          </a:p>
        </p:txBody>
      </p:sp>
    </p:spTree>
    <p:extLst>
      <p:ext uri="{BB962C8B-B14F-4D97-AF65-F5344CB8AC3E}">
        <p14:creationId xmlns:p14="http://schemas.microsoft.com/office/powerpoint/2010/main" val="40356829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3600" dirty="0"/>
              <a:t>Design Principles by Don </a:t>
            </a:r>
            <a:r>
              <a:rPr lang="en-US" sz="3600" dirty="0" smtClean="0"/>
              <a:t>Norman (Contd.)</a:t>
            </a:r>
            <a:endParaRPr lang="en-US" sz="3600" dirty="0"/>
          </a:p>
        </p:txBody>
      </p:sp>
      <p:sp>
        <p:nvSpPr>
          <p:cNvPr id="7" name="Content Placeholder 2"/>
          <p:cNvSpPr>
            <a:spLocks noGrp="1"/>
          </p:cNvSpPr>
          <p:nvPr>
            <p:ph idx="1"/>
          </p:nvPr>
        </p:nvSpPr>
        <p:spPr>
          <a:xfrm>
            <a:off x="457200" y="838200"/>
            <a:ext cx="8229600" cy="6019800"/>
          </a:xfrm>
        </p:spPr>
        <p:txBody>
          <a:bodyPr>
            <a:normAutofit/>
          </a:bodyPr>
          <a:lstStyle/>
          <a:p>
            <a:r>
              <a:rPr lang="en-US" sz="2400" b="1" dirty="0" smtClean="0"/>
              <a:t>Consistency:</a:t>
            </a:r>
          </a:p>
          <a:p>
            <a:pPr lvl="1"/>
            <a:r>
              <a:rPr lang="en-US" sz="2000" dirty="0"/>
              <a:t> </a:t>
            </a:r>
            <a:r>
              <a:rPr lang="en-US" sz="2400" dirty="0"/>
              <a:t>This refers to designing  interfaces to have </a:t>
            </a:r>
            <a:r>
              <a:rPr lang="en-US" sz="2400" b="1" dirty="0"/>
              <a:t>similar operations and use </a:t>
            </a:r>
            <a:r>
              <a:rPr lang="en-US" sz="2400" b="1" dirty="0" smtClean="0"/>
              <a:t>similar </a:t>
            </a:r>
            <a:r>
              <a:rPr lang="en-US" sz="2400" b="1" dirty="0"/>
              <a:t>elements for achieving similar tasks. </a:t>
            </a:r>
            <a:r>
              <a:rPr lang="en-US" sz="2400" dirty="0"/>
              <a:t>In particular, a consistent interface is </a:t>
            </a:r>
            <a:r>
              <a:rPr lang="en-US" sz="2400" dirty="0" smtClean="0"/>
              <a:t>one </a:t>
            </a:r>
            <a:r>
              <a:rPr lang="en-US" sz="2400" dirty="0"/>
              <a:t>that follows rules, such as using the same operation  to select all objects</a:t>
            </a:r>
            <a:r>
              <a:rPr lang="en-US" sz="2400" dirty="0" smtClean="0"/>
              <a:t>.</a:t>
            </a:r>
          </a:p>
          <a:p>
            <a:pPr lvl="2"/>
            <a:r>
              <a:rPr lang="en-US" sz="2000" i="1" dirty="0"/>
              <a:t>For </a:t>
            </a:r>
            <a:r>
              <a:rPr lang="en-US" sz="2000" i="1" dirty="0" smtClean="0"/>
              <a:t>example</a:t>
            </a:r>
            <a:r>
              <a:rPr lang="en-US" sz="2000" i="1" dirty="0"/>
              <a:t>, a consistent operation  is  using  the same input action  to highlight any </a:t>
            </a:r>
            <a:r>
              <a:rPr lang="en-US" sz="2000" i="1" dirty="0" smtClean="0"/>
              <a:t>graphical </a:t>
            </a:r>
            <a:r>
              <a:rPr lang="en-US" sz="2000" i="1" dirty="0"/>
              <a:t>object at the interface, such as always clicking the left mouse button</a:t>
            </a:r>
            <a:r>
              <a:rPr lang="en-US" sz="2000" i="1" dirty="0" smtClean="0"/>
              <a:t>.</a:t>
            </a:r>
          </a:p>
          <a:p>
            <a:pPr lvl="1"/>
            <a:r>
              <a:rPr lang="en-US" sz="2400" dirty="0"/>
              <a:t>One of  the benefits of  consistent interfaces, therefore, is that they are easier to </a:t>
            </a:r>
            <a:r>
              <a:rPr lang="en-US" sz="2400" dirty="0" smtClean="0"/>
              <a:t>learn </a:t>
            </a:r>
            <a:r>
              <a:rPr lang="en-US" sz="2400" dirty="0"/>
              <a:t>and use.</a:t>
            </a:r>
            <a:endParaRPr lang="en-US" sz="2400" dirty="0" smtClean="0"/>
          </a:p>
          <a:p>
            <a:endParaRPr lang="en-US" sz="2400" dirty="0"/>
          </a:p>
        </p:txBody>
      </p:sp>
    </p:spTree>
    <p:extLst>
      <p:ext uri="{BB962C8B-B14F-4D97-AF65-F5344CB8AC3E}">
        <p14:creationId xmlns:p14="http://schemas.microsoft.com/office/powerpoint/2010/main" val="1672539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3600" dirty="0"/>
              <a:t>Design Principles by Don </a:t>
            </a:r>
            <a:r>
              <a:rPr lang="en-US" sz="3600" dirty="0" smtClean="0"/>
              <a:t>Norman (Contd.)</a:t>
            </a:r>
            <a:endParaRPr lang="en-US" sz="3600" dirty="0"/>
          </a:p>
        </p:txBody>
      </p:sp>
      <p:sp>
        <p:nvSpPr>
          <p:cNvPr id="7" name="Content Placeholder 2"/>
          <p:cNvSpPr>
            <a:spLocks noGrp="1"/>
          </p:cNvSpPr>
          <p:nvPr>
            <p:ph idx="1"/>
          </p:nvPr>
        </p:nvSpPr>
        <p:spPr>
          <a:xfrm>
            <a:off x="457200" y="838200"/>
            <a:ext cx="8229600" cy="6019800"/>
          </a:xfrm>
        </p:spPr>
        <p:txBody>
          <a:bodyPr>
            <a:normAutofit/>
          </a:bodyPr>
          <a:lstStyle/>
          <a:p>
            <a:r>
              <a:rPr lang="en-US" sz="2400" b="1" dirty="0" smtClean="0"/>
              <a:t>Affordance:</a:t>
            </a:r>
          </a:p>
          <a:p>
            <a:pPr lvl="1"/>
            <a:r>
              <a:rPr lang="en-US" sz="2400" dirty="0" smtClean="0"/>
              <a:t>Refer </a:t>
            </a:r>
            <a:r>
              <a:rPr lang="en-US" sz="2400" dirty="0"/>
              <a:t>to an attribute of  an object that allows people to know how to  use it</a:t>
            </a:r>
            <a:r>
              <a:rPr lang="en-US" sz="2400" dirty="0" smtClean="0"/>
              <a:t>.</a:t>
            </a:r>
          </a:p>
          <a:p>
            <a:pPr lvl="1"/>
            <a:r>
              <a:rPr lang="en-US" sz="2400" dirty="0"/>
              <a:t>At a very </a:t>
            </a:r>
            <a:r>
              <a:rPr lang="en-US" sz="2400" dirty="0" smtClean="0"/>
              <a:t>simple </a:t>
            </a:r>
            <a:r>
              <a:rPr lang="en-US" sz="2400" dirty="0"/>
              <a:t>level,  to  afford means "to give  a clue" </a:t>
            </a:r>
            <a:endParaRPr lang="en-US" sz="2400" dirty="0" smtClean="0"/>
          </a:p>
          <a:p>
            <a:pPr lvl="1"/>
            <a:r>
              <a:rPr lang="en-US" sz="2400" dirty="0" smtClean="0"/>
              <a:t>There  </a:t>
            </a:r>
            <a:r>
              <a:rPr lang="en-US" sz="2400" dirty="0"/>
              <a:t>are  two kinds of affordance: </a:t>
            </a:r>
            <a:endParaRPr lang="en-US" sz="2400" dirty="0" smtClean="0"/>
          </a:p>
          <a:p>
            <a:pPr lvl="2"/>
            <a:r>
              <a:rPr lang="en-US" sz="2000" b="1" dirty="0"/>
              <a:t>Perceived: </a:t>
            </a:r>
            <a:r>
              <a:rPr lang="en-US" sz="2000" dirty="0"/>
              <a:t>user interfaces that are screen-based are virtual and do not have these kinds of  real affordances.</a:t>
            </a:r>
            <a:endParaRPr lang="en-US" sz="2000" dirty="0" smtClean="0"/>
          </a:p>
          <a:p>
            <a:pPr lvl="2"/>
            <a:r>
              <a:rPr lang="en-US" sz="2000" b="1" dirty="0"/>
              <a:t>Real: </a:t>
            </a:r>
            <a:r>
              <a:rPr lang="en-US" sz="2000" dirty="0"/>
              <a:t>Physical objects are said  to </a:t>
            </a:r>
            <a:r>
              <a:rPr lang="en-US" sz="2000" dirty="0" smtClean="0"/>
              <a:t>have </a:t>
            </a:r>
            <a:r>
              <a:rPr lang="en-US" sz="2000" dirty="0"/>
              <a:t>real affordances,  like grasping,  that are perceptually obvious and do not have to </a:t>
            </a:r>
            <a:r>
              <a:rPr lang="en-US" sz="2000" dirty="0" smtClean="0"/>
              <a:t>be </a:t>
            </a:r>
            <a:r>
              <a:rPr lang="en-US" sz="2000" dirty="0"/>
              <a:t>learned</a:t>
            </a:r>
            <a:r>
              <a:rPr lang="en-US" sz="2000" dirty="0" smtClean="0"/>
              <a:t>.</a:t>
            </a:r>
          </a:p>
        </p:txBody>
      </p:sp>
    </p:spTree>
    <p:extLst>
      <p:ext uri="{BB962C8B-B14F-4D97-AF65-F5344CB8AC3E}">
        <p14:creationId xmlns:p14="http://schemas.microsoft.com/office/powerpoint/2010/main" val="9879827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3600" dirty="0"/>
              <a:t>Design Principles by Don </a:t>
            </a:r>
            <a:r>
              <a:rPr lang="en-US" sz="3600" dirty="0" smtClean="0"/>
              <a:t>Norman (Contd.)</a:t>
            </a:r>
            <a:endParaRPr lang="en-US" sz="3600" dirty="0"/>
          </a:p>
        </p:txBody>
      </p:sp>
      <p:sp>
        <p:nvSpPr>
          <p:cNvPr id="7" name="Content Placeholder 2"/>
          <p:cNvSpPr>
            <a:spLocks noGrp="1"/>
          </p:cNvSpPr>
          <p:nvPr>
            <p:ph idx="1"/>
          </p:nvPr>
        </p:nvSpPr>
        <p:spPr>
          <a:xfrm>
            <a:off x="457200" y="838200"/>
            <a:ext cx="8229600" cy="6019800"/>
          </a:xfrm>
        </p:spPr>
        <p:txBody>
          <a:bodyPr>
            <a:normAutofit/>
          </a:bodyPr>
          <a:lstStyle/>
          <a:p>
            <a:r>
              <a:rPr lang="en-US" sz="2400" b="1" dirty="0" smtClean="0"/>
              <a:t>Affordance (Contd.):</a:t>
            </a:r>
          </a:p>
          <a:p>
            <a:pPr lvl="1"/>
            <a:r>
              <a:rPr lang="en-US" sz="2400" dirty="0" smtClean="0"/>
              <a:t>It </a:t>
            </a:r>
            <a:r>
              <a:rPr lang="en-US" sz="2400" dirty="0"/>
              <a:t>does not </a:t>
            </a:r>
            <a:r>
              <a:rPr lang="en-US" sz="2400" dirty="0" smtClean="0"/>
              <a:t>make </a:t>
            </a:r>
            <a:r>
              <a:rPr lang="en-US" sz="2400" dirty="0"/>
              <a:t>sense to try to design for real affordances  at the </a:t>
            </a:r>
            <a:r>
              <a:rPr lang="en-US" sz="2400" dirty="0" smtClean="0"/>
              <a:t>interface except </a:t>
            </a:r>
            <a:r>
              <a:rPr lang="en-US" sz="2400" dirty="0"/>
              <a:t>when </a:t>
            </a:r>
            <a:r>
              <a:rPr lang="en-US" sz="2400" dirty="0" smtClean="0"/>
              <a:t>designing </a:t>
            </a:r>
            <a:r>
              <a:rPr lang="en-US" sz="2400" dirty="0"/>
              <a:t>physical devices, like control consoles, where affordances  like pulling and </a:t>
            </a:r>
            <a:r>
              <a:rPr lang="en-US" sz="2400" dirty="0" smtClean="0"/>
              <a:t>pressing </a:t>
            </a:r>
            <a:r>
              <a:rPr lang="en-US" sz="2400" dirty="0"/>
              <a:t>are helpful in guiding the user to know what to do. </a:t>
            </a:r>
            <a:endParaRPr lang="en-US" sz="2400" dirty="0" smtClean="0"/>
          </a:p>
          <a:p>
            <a:pPr lvl="1"/>
            <a:r>
              <a:rPr lang="en-US" sz="2400" dirty="0" smtClean="0"/>
              <a:t>Alternatively</a:t>
            </a:r>
            <a:r>
              <a:rPr lang="en-US" sz="2400" dirty="0"/>
              <a:t>, screen-based interfaces are better  conceptualized as perceived affordances, which  are essentially </a:t>
            </a:r>
            <a:r>
              <a:rPr lang="en-US" sz="2400" dirty="0" smtClean="0"/>
              <a:t>learned </a:t>
            </a:r>
            <a:r>
              <a:rPr lang="en-US" sz="2400" dirty="0"/>
              <a:t>conventions. </a:t>
            </a:r>
            <a:endParaRPr lang="en-US" sz="2400" dirty="0" smtClean="0"/>
          </a:p>
          <a:p>
            <a:pPr lvl="1"/>
            <a:r>
              <a:rPr lang="en-US" sz="2400" dirty="0" smtClean="0"/>
              <a:t>In </a:t>
            </a:r>
            <a:r>
              <a:rPr lang="en-US" sz="2400" dirty="0"/>
              <a:t>conclusion, Norman argues that other design </a:t>
            </a:r>
            <a:r>
              <a:rPr lang="en-US" sz="2400" dirty="0" smtClean="0"/>
              <a:t>concepts: conventions</a:t>
            </a:r>
            <a:r>
              <a:rPr lang="en-US" sz="2400" dirty="0"/>
              <a:t>, feedback and cultural and logical constraints-are far more useful for </a:t>
            </a:r>
            <a:r>
              <a:rPr lang="en-US" sz="2400" dirty="0" smtClean="0"/>
              <a:t>helping </a:t>
            </a:r>
            <a:r>
              <a:rPr lang="en-US" sz="2400" dirty="0"/>
              <a:t>designers develop graphical user  interfaces. </a:t>
            </a:r>
          </a:p>
          <a:p>
            <a:pPr lvl="1"/>
            <a:endParaRPr lang="en-US" dirty="0" smtClean="0"/>
          </a:p>
        </p:txBody>
      </p:sp>
    </p:spTree>
    <p:extLst>
      <p:ext uri="{BB962C8B-B14F-4D97-AF65-F5344CB8AC3E}">
        <p14:creationId xmlns:p14="http://schemas.microsoft.com/office/powerpoint/2010/main" val="21841700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3600" dirty="0"/>
              <a:t>Heuristics and usability principles</a:t>
            </a:r>
          </a:p>
        </p:txBody>
      </p:sp>
      <p:sp>
        <p:nvSpPr>
          <p:cNvPr id="7" name="Content Placeholder 2"/>
          <p:cNvSpPr>
            <a:spLocks noGrp="1"/>
          </p:cNvSpPr>
          <p:nvPr>
            <p:ph idx="1"/>
          </p:nvPr>
        </p:nvSpPr>
        <p:spPr>
          <a:xfrm>
            <a:off x="457200" y="838200"/>
            <a:ext cx="8229600" cy="6019800"/>
          </a:xfrm>
        </p:spPr>
        <p:txBody>
          <a:bodyPr>
            <a:normAutofit/>
          </a:bodyPr>
          <a:lstStyle/>
          <a:p>
            <a:r>
              <a:rPr lang="en-US" sz="2400" dirty="0"/>
              <a:t>When design principles are used in practice they are commonly referred to as </a:t>
            </a:r>
            <a:r>
              <a:rPr lang="en-US" sz="2400" dirty="0" smtClean="0"/>
              <a:t>heuristics.</a:t>
            </a:r>
          </a:p>
          <a:p>
            <a:r>
              <a:rPr lang="en-US" sz="2400" dirty="0"/>
              <a:t>This term emphasizes that something has  to be done with  them when they are applied  to a given problem. </a:t>
            </a:r>
            <a:endParaRPr lang="en-US" sz="2400" dirty="0" smtClean="0"/>
          </a:p>
          <a:p>
            <a:r>
              <a:rPr lang="en-US" sz="2400" dirty="0"/>
              <a:t>Another  form of guidance is usability </a:t>
            </a:r>
            <a:r>
              <a:rPr lang="en-US" sz="2400" dirty="0" smtClean="0"/>
              <a:t>principles. These </a:t>
            </a:r>
            <a:r>
              <a:rPr lang="en-US" sz="2400" dirty="0"/>
              <a:t>are quite similar to design principles, except that they tend  to be </a:t>
            </a:r>
            <a:r>
              <a:rPr lang="en-US" sz="2400" dirty="0" smtClean="0"/>
              <a:t>more </a:t>
            </a:r>
            <a:r>
              <a:rPr lang="en-US" sz="2400" dirty="0"/>
              <a:t>prescriptive. </a:t>
            </a:r>
            <a:endParaRPr lang="en-US" sz="2400" dirty="0" smtClean="0"/>
          </a:p>
          <a:p>
            <a:r>
              <a:rPr lang="en-US" sz="2400" dirty="0" smtClean="0"/>
              <a:t>In </a:t>
            </a:r>
            <a:r>
              <a:rPr lang="en-US" sz="2400" dirty="0"/>
              <a:t>addition, whereas design principles tend to be used mainly for </a:t>
            </a:r>
            <a:r>
              <a:rPr lang="en-US" sz="2400" dirty="0" smtClean="0"/>
              <a:t>informing </a:t>
            </a:r>
            <a:r>
              <a:rPr lang="en-US" sz="2400" dirty="0"/>
              <a:t>a design, usability principles are used mostly as the basis for evaluating </a:t>
            </a:r>
            <a:r>
              <a:rPr lang="en-US" sz="2400" dirty="0" smtClean="0"/>
              <a:t>prototypes </a:t>
            </a:r>
            <a:r>
              <a:rPr lang="en-US" sz="2400" dirty="0"/>
              <a:t>and existing systems.  </a:t>
            </a:r>
            <a:endParaRPr lang="en-US" sz="2400" dirty="0" smtClean="0"/>
          </a:p>
          <a:p>
            <a:r>
              <a:rPr lang="en-US" sz="2400" dirty="0" smtClean="0"/>
              <a:t>In </a:t>
            </a:r>
            <a:r>
              <a:rPr lang="en-US" sz="2400" dirty="0"/>
              <a:t>particular, they provide  the  framework for </a:t>
            </a:r>
            <a:r>
              <a:rPr lang="en-US" sz="2400" dirty="0" smtClean="0"/>
              <a:t>heuristic evaluation.</a:t>
            </a:r>
          </a:p>
          <a:p>
            <a:r>
              <a:rPr lang="en-US" sz="2400" dirty="0"/>
              <a:t>They, too, are called heuristics when used as part of </a:t>
            </a:r>
            <a:r>
              <a:rPr lang="en-US" sz="2400" dirty="0" smtClean="0"/>
              <a:t>evaluation.</a:t>
            </a:r>
          </a:p>
        </p:txBody>
      </p:sp>
    </p:spTree>
    <p:extLst>
      <p:ext uri="{BB962C8B-B14F-4D97-AF65-F5344CB8AC3E}">
        <p14:creationId xmlns:p14="http://schemas.microsoft.com/office/powerpoint/2010/main" val="32944372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fontScale="90000"/>
          </a:bodyPr>
          <a:lstStyle/>
          <a:p>
            <a:r>
              <a:rPr lang="en-US" sz="3600" dirty="0"/>
              <a:t>Heuristics and usability principles -  usability </a:t>
            </a:r>
            <a:r>
              <a:rPr lang="en-US" sz="3600" dirty="0" smtClean="0"/>
              <a:t>principles developed by Nielsen (2001)</a:t>
            </a:r>
            <a:endParaRPr lang="en-US" sz="3600" dirty="0"/>
          </a:p>
        </p:txBody>
      </p:sp>
      <p:sp>
        <p:nvSpPr>
          <p:cNvPr id="7" name="Content Placeholder 2"/>
          <p:cNvSpPr>
            <a:spLocks noGrp="1"/>
          </p:cNvSpPr>
          <p:nvPr>
            <p:ph idx="1"/>
          </p:nvPr>
        </p:nvSpPr>
        <p:spPr>
          <a:xfrm>
            <a:off x="457200" y="1143000"/>
            <a:ext cx="8229600" cy="5715000"/>
          </a:xfrm>
        </p:spPr>
        <p:txBody>
          <a:bodyPr>
            <a:normAutofit lnSpcReduction="10000"/>
          </a:bodyPr>
          <a:lstStyle/>
          <a:p>
            <a:pPr marL="457200" indent="-457200">
              <a:buFont typeface="+mj-lt"/>
              <a:buAutoNum type="arabicPeriod"/>
            </a:pPr>
            <a:r>
              <a:rPr lang="en-US" sz="2400" b="1" dirty="0" smtClean="0"/>
              <a:t>Visibility </a:t>
            </a:r>
            <a:r>
              <a:rPr lang="en-US" sz="2400" b="1" dirty="0"/>
              <a:t>of system </a:t>
            </a:r>
            <a:r>
              <a:rPr lang="en-US" sz="2400" b="1" dirty="0" smtClean="0"/>
              <a:t>status: </a:t>
            </a:r>
            <a:r>
              <a:rPr lang="en-US" sz="2400" dirty="0" smtClean="0"/>
              <a:t>always </a:t>
            </a:r>
            <a:r>
              <a:rPr lang="en-US" sz="2400" dirty="0"/>
              <a:t>keep users informed about what is going </a:t>
            </a:r>
            <a:r>
              <a:rPr lang="en-US" sz="2400" dirty="0" smtClean="0"/>
              <a:t>on</a:t>
            </a:r>
            <a:r>
              <a:rPr lang="en-US" sz="2400" dirty="0"/>
              <a:t>, through providing appropriate feedback within reasonable time </a:t>
            </a:r>
          </a:p>
          <a:p>
            <a:pPr marL="457200" indent="-457200">
              <a:buFont typeface="+mj-lt"/>
              <a:buAutoNum type="arabicPeriod"/>
            </a:pPr>
            <a:r>
              <a:rPr lang="en-US" sz="2400" b="1" dirty="0" smtClean="0"/>
              <a:t>Match </a:t>
            </a:r>
            <a:r>
              <a:rPr lang="en-US" sz="2400" b="1" dirty="0"/>
              <a:t>between system and the real </a:t>
            </a:r>
            <a:r>
              <a:rPr lang="en-US" sz="2400" b="1" dirty="0" smtClean="0"/>
              <a:t>world: </a:t>
            </a:r>
            <a:r>
              <a:rPr lang="en-US" sz="2400" dirty="0" smtClean="0"/>
              <a:t>speak </a:t>
            </a:r>
            <a:r>
              <a:rPr lang="en-US" sz="2400" dirty="0"/>
              <a:t>the users' language, using </a:t>
            </a:r>
            <a:r>
              <a:rPr lang="en-US" sz="2400" dirty="0" smtClean="0"/>
              <a:t>words</a:t>
            </a:r>
            <a:r>
              <a:rPr lang="en-US" sz="2400" dirty="0"/>
              <a:t>, phrases and concepts familiar  to  the  user,  rather than  </a:t>
            </a:r>
            <a:r>
              <a:rPr lang="en-US" sz="2400" dirty="0" smtClean="0"/>
              <a:t>system oriented </a:t>
            </a:r>
            <a:r>
              <a:rPr lang="en-US" sz="2400" dirty="0"/>
              <a:t>terms </a:t>
            </a:r>
          </a:p>
          <a:p>
            <a:pPr marL="457200" indent="-457200">
              <a:buFont typeface="+mj-lt"/>
              <a:buAutoNum type="arabicPeriod"/>
            </a:pPr>
            <a:r>
              <a:rPr lang="en-US" sz="2400" b="1" dirty="0" smtClean="0"/>
              <a:t>User </a:t>
            </a:r>
            <a:r>
              <a:rPr lang="en-US" sz="2400" b="1" dirty="0"/>
              <a:t>control and  </a:t>
            </a:r>
            <a:r>
              <a:rPr lang="en-US" sz="2400" b="1" dirty="0" smtClean="0"/>
              <a:t>freedom: </a:t>
            </a:r>
            <a:r>
              <a:rPr lang="en-US" sz="2400" dirty="0" smtClean="0"/>
              <a:t>provide </a:t>
            </a:r>
            <a:r>
              <a:rPr lang="en-US" sz="2400" dirty="0"/>
              <a:t>ways of  allowing users to easily escape </a:t>
            </a:r>
            <a:r>
              <a:rPr lang="en-US" sz="2400" dirty="0" smtClean="0"/>
              <a:t>from </a:t>
            </a:r>
            <a:r>
              <a:rPr lang="en-US" sz="2400" dirty="0"/>
              <a:t>places they unexpectedly find  themselves, by  using clearly marked </a:t>
            </a:r>
            <a:r>
              <a:rPr lang="en-US" sz="2400" dirty="0" smtClean="0"/>
              <a:t>'emergency </a:t>
            </a:r>
            <a:r>
              <a:rPr lang="en-US" sz="2400" dirty="0"/>
              <a:t>exits' </a:t>
            </a:r>
          </a:p>
          <a:p>
            <a:pPr marL="457200" indent="-457200">
              <a:buFont typeface="+mj-lt"/>
              <a:buAutoNum type="arabicPeriod"/>
            </a:pPr>
            <a:r>
              <a:rPr lang="en-US" sz="2400" b="1" dirty="0" smtClean="0"/>
              <a:t>Consistency </a:t>
            </a:r>
            <a:r>
              <a:rPr lang="en-US" sz="2400" b="1" dirty="0"/>
              <a:t>and </a:t>
            </a:r>
            <a:r>
              <a:rPr lang="en-US" sz="2400" b="1" dirty="0" smtClean="0"/>
              <a:t>standards: </a:t>
            </a:r>
            <a:r>
              <a:rPr lang="en-US" sz="2400" dirty="0" smtClean="0"/>
              <a:t>avoid </a:t>
            </a:r>
            <a:r>
              <a:rPr lang="en-US" sz="2400" dirty="0"/>
              <a:t>making users wonder whether different </a:t>
            </a:r>
            <a:r>
              <a:rPr lang="en-US" sz="2400" dirty="0" smtClean="0"/>
              <a:t>words</a:t>
            </a:r>
            <a:r>
              <a:rPr lang="en-US" sz="2400" dirty="0"/>
              <a:t>, situations, or actions mean the same thing </a:t>
            </a:r>
          </a:p>
          <a:p>
            <a:pPr marL="457200" indent="-457200">
              <a:buFont typeface="+mj-lt"/>
              <a:buAutoNum type="arabicPeriod"/>
            </a:pPr>
            <a:r>
              <a:rPr lang="en-US" sz="2400" b="1" dirty="0" smtClean="0"/>
              <a:t>Help  </a:t>
            </a:r>
            <a:r>
              <a:rPr lang="en-US" sz="2400" b="1" dirty="0"/>
              <a:t>users  recognize,  diagnose,  and  recover from  </a:t>
            </a:r>
            <a:r>
              <a:rPr lang="en-US" sz="2400" b="1" dirty="0" smtClean="0"/>
              <a:t>errors: </a:t>
            </a:r>
            <a:r>
              <a:rPr lang="en-US" sz="2400" dirty="0" smtClean="0"/>
              <a:t>use  </a:t>
            </a:r>
            <a:r>
              <a:rPr lang="en-US" sz="2400" dirty="0"/>
              <a:t>plain </a:t>
            </a:r>
            <a:r>
              <a:rPr lang="en-US" sz="2400" dirty="0" smtClean="0"/>
              <a:t>language  </a:t>
            </a:r>
            <a:r>
              <a:rPr lang="en-US" sz="2400" dirty="0"/>
              <a:t>to  describe the nature of  the problem and suggest a way of solving  it </a:t>
            </a:r>
          </a:p>
        </p:txBody>
      </p:sp>
    </p:spTree>
    <p:extLst>
      <p:ext uri="{BB962C8B-B14F-4D97-AF65-F5344CB8AC3E}">
        <p14:creationId xmlns:p14="http://schemas.microsoft.com/office/powerpoint/2010/main" val="3955626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fontScale="90000"/>
          </a:bodyPr>
          <a:lstStyle/>
          <a:p>
            <a:r>
              <a:rPr lang="en-US" sz="3600" dirty="0"/>
              <a:t>Heuristics and usability principles -  usability </a:t>
            </a:r>
            <a:r>
              <a:rPr lang="en-US" sz="3600" dirty="0" smtClean="0"/>
              <a:t>principles developed by Nielsen (Contd.)</a:t>
            </a:r>
            <a:endParaRPr lang="en-US" sz="3600" dirty="0"/>
          </a:p>
        </p:txBody>
      </p:sp>
      <p:sp>
        <p:nvSpPr>
          <p:cNvPr id="7" name="Content Placeholder 2"/>
          <p:cNvSpPr>
            <a:spLocks noGrp="1"/>
          </p:cNvSpPr>
          <p:nvPr>
            <p:ph idx="1"/>
          </p:nvPr>
        </p:nvSpPr>
        <p:spPr>
          <a:xfrm>
            <a:off x="457200" y="1143000"/>
            <a:ext cx="8229600" cy="5715000"/>
          </a:xfrm>
        </p:spPr>
        <p:txBody>
          <a:bodyPr>
            <a:normAutofit/>
          </a:bodyPr>
          <a:lstStyle/>
          <a:p>
            <a:pPr marL="457200" indent="-457200">
              <a:buFont typeface="+mj-lt"/>
              <a:buAutoNum type="arabicPeriod" startAt="6"/>
            </a:pPr>
            <a:r>
              <a:rPr lang="en-US" sz="2400" b="1" dirty="0"/>
              <a:t>E</a:t>
            </a:r>
            <a:r>
              <a:rPr lang="en-US" sz="2400" b="1" dirty="0" smtClean="0"/>
              <a:t>rror prevention: </a:t>
            </a:r>
            <a:r>
              <a:rPr lang="en-US" sz="2400" dirty="0" smtClean="0"/>
              <a:t>where </a:t>
            </a:r>
            <a:r>
              <a:rPr lang="en-US" sz="2400" dirty="0"/>
              <a:t>possible prevent errors occurring  in the first place </a:t>
            </a:r>
          </a:p>
          <a:p>
            <a:pPr marL="457200" indent="-457200">
              <a:buFont typeface="+mj-lt"/>
              <a:buAutoNum type="arabicPeriod" startAt="6"/>
            </a:pPr>
            <a:r>
              <a:rPr lang="en-US" sz="2400" b="1" dirty="0" smtClean="0"/>
              <a:t>Recognition </a:t>
            </a:r>
            <a:r>
              <a:rPr lang="en-US" sz="2400" b="1" dirty="0"/>
              <a:t>rather than </a:t>
            </a:r>
            <a:r>
              <a:rPr lang="en-US" sz="2400" b="1" dirty="0" smtClean="0"/>
              <a:t>recall: </a:t>
            </a:r>
            <a:r>
              <a:rPr lang="en-US" sz="2400" dirty="0" smtClean="0"/>
              <a:t>make </a:t>
            </a:r>
            <a:r>
              <a:rPr lang="en-US" sz="2400" dirty="0"/>
              <a:t>objects, actions, and options visible </a:t>
            </a:r>
          </a:p>
          <a:p>
            <a:pPr marL="457200" indent="-457200">
              <a:buFont typeface="+mj-lt"/>
              <a:buAutoNum type="arabicPeriod" startAt="6"/>
            </a:pPr>
            <a:r>
              <a:rPr lang="en-US" sz="2400" b="1" dirty="0" smtClean="0"/>
              <a:t>Flexibility </a:t>
            </a:r>
            <a:r>
              <a:rPr lang="en-US" sz="2400" b="1" dirty="0"/>
              <a:t>and efficiency of  </a:t>
            </a:r>
            <a:r>
              <a:rPr lang="en-US" sz="2400" b="1" dirty="0" smtClean="0"/>
              <a:t>use: </a:t>
            </a:r>
            <a:r>
              <a:rPr lang="en-US" sz="2400" dirty="0" smtClean="0"/>
              <a:t>provide </a:t>
            </a:r>
            <a:r>
              <a:rPr lang="en-US" sz="2400" dirty="0"/>
              <a:t>accelerators  that are invisible to </a:t>
            </a:r>
            <a:r>
              <a:rPr lang="en-US" sz="2400" dirty="0" smtClean="0"/>
              <a:t>novice  </a:t>
            </a:r>
            <a:r>
              <a:rPr lang="en-US" sz="2400" dirty="0"/>
              <a:t>users, but  allow more  experienced users  to carry out  tasks more </a:t>
            </a:r>
            <a:r>
              <a:rPr lang="en-US" sz="2400" dirty="0" smtClean="0"/>
              <a:t>quickly </a:t>
            </a:r>
            <a:endParaRPr lang="en-US" sz="2400" dirty="0"/>
          </a:p>
          <a:p>
            <a:pPr marL="457200" indent="-457200">
              <a:buFont typeface="+mj-lt"/>
              <a:buAutoNum type="arabicPeriod" startAt="6"/>
            </a:pPr>
            <a:r>
              <a:rPr lang="en-US" sz="2400" b="1" dirty="0" smtClean="0"/>
              <a:t>Aesthetic  </a:t>
            </a:r>
            <a:r>
              <a:rPr lang="en-US" sz="2400" b="1" dirty="0"/>
              <a:t>and minimalist </a:t>
            </a:r>
            <a:r>
              <a:rPr lang="en-US" sz="2400" b="1" dirty="0" smtClean="0"/>
              <a:t>design: </a:t>
            </a:r>
            <a:r>
              <a:rPr lang="en-US" sz="2400" dirty="0" smtClean="0"/>
              <a:t>avoid </a:t>
            </a:r>
            <a:r>
              <a:rPr lang="en-US" sz="2400" dirty="0"/>
              <a:t>using  information that is irrelevant </a:t>
            </a:r>
            <a:r>
              <a:rPr lang="en-US" sz="2400" dirty="0" smtClean="0"/>
              <a:t>or </a:t>
            </a:r>
            <a:r>
              <a:rPr lang="en-US" sz="2400" dirty="0"/>
              <a:t>rarely needed </a:t>
            </a:r>
          </a:p>
          <a:p>
            <a:pPr marL="457200" indent="-457200">
              <a:buFont typeface="+mj-lt"/>
              <a:buAutoNum type="arabicPeriod" startAt="6"/>
            </a:pPr>
            <a:r>
              <a:rPr lang="en-US" sz="2400" b="1" dirty="0" smtClean="0"/>
              <a:t>Help </a:t>
            </a:r>
            <a:r>
              <a:rPr lang="en-US" sz="2400" b="1" dirty="0"/>
              <a:t>and </a:t>
            </a:r>
            <a:r>
              <a:rPr lang="en-US" sz="2400" b="1" dirty="0" smtClean="0"/>
              <a:t>documentation: </a:t>
            </a:r>
            <a:r>
              <a:rPr lang="en-US" sz="2400" dirty="0" smtClean="0"/>
              <a:t>provide </a:t>
            </a:r>
            <a:r>
              <a:rPr lang="en-US" sz="2400" dirty="0"/>
              <a:t>information that can be easily searched </a:t>
            </a:r>
            <a:r>
              <a:rPr lang="en-US" sz="2400" dirty="0" smtClean="0"/>
              <a:t>and </a:t>
            </a:r>
            <a:r>
              <a:rPr lang="en-US" sz="2400" dirty="0"/>
              <a:t>provides help in a set of concrete steps that can easily be followed </a:t>
            </a:r>
            <a:endParaRPr lang="en-US" sz="2400" dirty="0" smtClean="0"/>
          </a:p>
        </p:txBody>
      </p:sp>
    </p:spTree>
    <p:extLst>
      <p:ext uri="{BB962C8B-B14F-4D97-AF65-F5344CB8AC3E}">
        <p14:creationId xmlns:p14="http://schemas.microsoft.com/office/powerpoint/2010/main" val="5118995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2800" dirty="0" err="1"/>
              <a:t>Shneiderman’s</a:t>
            </a:r>
            <a:r>
              <a:rPr lang="en-US" sz="2800" dirty="0"/>
              <a:t> Eight Golden Rules of Interface Design</a:t>
            </a:r>
            <a:endParaRPr lang="en-US" sz="2800" dirty="0"/>
          </a:p>
        </p:txBody>
      </p:sp>
      <p:sp>
        <p:nvSpPr>
          <p:cNvPr id="7" name="Content Placeholder 2"/>
          <p:cNvSpPr>
            <a:spLocks noGrp="1"/>
          </p:cNvSpPr>
          <p:nvPr>
            <p:ph idx="1"/>
          </p:nvPr>
        </p:nvSpPr>
        <p:spPr>
          <a:xfrm>
            <a:off x="457200" y="1143000"/>
            <a:ext cx="8229600" cy="5715000"/>
          </a:xfrm>
        </p:spPr>
        <p:txBody>
          <a:bodyPr>
            <a:normAutofit/>
          </a:bodyPr>
          <a:lstStyle/>
          <a:p>
            <a:pPr marL="457200" indent="-457200">
              <a:buFont typeface="+mj-lt"/>
              <a:buAutoNum type="arabicPeriod"/>
            </a:pPr>
            <a:r>
              <a:rPr lang="en-US" sz="2400" b="1" dirty="0" smtClean="0"/>
              <a:t>Strive </a:t>
            </a:r>
            <a:r>
              <a:rPr lang="en-US" sz="2400" b="1" dirty="0"/>
              <a:t>for consistency in action sequences, layout, terminology, command use and so on.</a:t>
            </a:r>
          </a:p>
          <a:p>
            <a:pPr marL="457200" indent="-457200">
              <a:buFont typeface="+mj-lt"/>
              <a:buAutoNum type="arabicPeriod"/>
            </a:pPr>
            <a:r>
              <a:rPr lang="en-US" sz="2400" b="1" dirty="0" smtClean="0"/>
              <a:t>Enable </a:t>
            </a:r>
            <a:r>
              <a:rPr lang="en-US" sz="2400" b="1" dirty="0"/>
              <a:t>frequent users to use shortcuts, such as abbreviations, special key sequences and macros, to perform regular, familiar actions more quickly.</a:t>
            </a:r>
          </a:p>
          <a:p>
            <a:pPr marL="457200" indent="-457200">
              <a:buFont typeface="+mj-lt"/>
              <a:buAutoNum type="arabicPeriod"/>
            </a:pPr>
            <a:r>
              <a:rPr lang="en-US" sz="2400" b="1" dirty="0" smtClean="0"/>
              <a:t>Offer </a:t>
            </a:r>
            <a:r>
              <a:rPr lang="en-US" sz="2400" b="1" dirty="0"/>
              <a:t>informative feedback for every user action, at a level appropriate to the magnitude of the action.</a:t>
            </a:r>
          </a:p>
          <a:p>
            <a:pPr marL="457200" indent="-457200">
              <a:buFont typeface="+mj-lt"/>
              <a:buAutoNum type="arabicPeriod"/>
            </a:pPr>
            <a:r>
              <a:rPr lang="en-US" sz="2400" b="1" dirty="0" smtClean="0"/>
              <a:t>Design </a:t>
            </a:r>
            <a:r>
              <a:rPr lang="en-US" sz="2400" b="1" dirty="0"/>
              <a:t>dialogs to yield closure so that the user knows when they have completed a task</a:t>
            </a:r>
            <a:r>
              <a:rPr lang="en-US" sz="2400" b="1" dirty="0" smtClean="0"/>
              <a:t>.</a:t>
            </a:r>
            <a:endParaRPr lang="en-US" sz="2400" b="1" dirty="0"/>
          </a:p>
        </p:txBody>
      </p:sp>
    </p:spTree>
    <p:extLst>
      <p:ext uri="{BB962C8B-B14F-4D97-AF65-F5344CB8AC3E}">
        <p14:creationId xmlns:p14="http://schemas.microsoft.com/office/powerpoint/2010/main" val="33219790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838200"/>
          </a:xfrm>
        </p:spPr>
        <p:txBody>
          <a:bodyPr>
            <a:normAutofit/>
          </a:bodyPr>
          <a:lstStyle/>
          <a:p>
            <a:r>
              <a:rPr lang="en-US" sz="2800" dirty="0" err="1"/>
              <a:t>Shneiderman’s</a:t>
            </a:r>
            <a:r>
              <a:rPr lang="en-US" sz="2800" dirty="0"/>
              <a:t> Eight Golden Rules of Interface Design</a:t>
            </a:r>
            <a:endParaRPr lang="en-US" sz="2800" dirty="0"/>
          </a:p>
        </p:txBody>
      </p:sp>
      <p:sp>
        <p:nvSpPr>
          <p:cNvPr id="7" name="Content Placeholder 2"/>
          <p:cNvSpPr>
            <a:spLocks noGrp="1"/>
          </p:cNvSpPr>
          <p:nvPr>
            <p:ph idx="1"/>
          </p:nvPr>
        </p:nvSpPr>
        <p:spPr>
          <a:xfrm>
            <a:off x="457200" y="1143000"/>
            <a:ext cx="8229600" cy="5715000"/>
          </a:xfrm>
        </p:spPr>
        <p:txBody>
          <a:bodyPr>
            <a:normAutofit/>
          </a:bodyPr>
          <a:lstStyle/>
          <a:p>
            <a:pPr marL="457200" indent="-457200">
              <a:buFont typeface="+mj-lt"/>
              <a:buAutoNum type="arabicPeriod" startAt="5"/>
            </a:pPr>
            <a:r>
              <a:rPr lang="en-US" sz="2400" b="1" dirty="0" smtClean="0"/>
              <a:t>Offer </a:t>
            </a:r>
            <a:r>
              <a:rPr lang="en-US" sz="2400" b="1" dirty="0"/>
              <a:t>error prevention and simple error handling so that, ideally, users are prevented from making mistakes and, if they do, they are offered clear and informative instructions to enable them to recover.</a:t>
            </a:r>
          </a:p>
          <a:p>
            <a:pPr marL="457200" indent="-457200">
              <a:buFont typeface="+mj-lt"/>
              <a:buAutoNum type="arabicPeriod" startAt="5"/>
            </a:pPr>
            <a:r>
              <a:rPr lang="en-US" sz="2400" b="1" dirty="0" smtClean="0"/>
              <a:t>Permit </a:t>
            </a:r>
            <a:r>
              <a:rPr lang="en-US" sz="2400" b="1" dirty="0"/>
              <a:t>easy reversal of actions in order to relieve anxiety and encourage exploration, since the user knows that he can always return to the previous state.</a:t>
            </a:r>
          </a:p>
          <a:p>
            <a:pPr marL="457200" indent="-457200">
              <a:buFont typeface="+mj-lt"/>
              <a:buAutoNum type="arabicPeriod" startAt="5"/>
            </a:pPr>
            <a:r>
              <a:rPr lang="en-US" sz="2400" b="1" dirty="0" smtClean="0"/>
              <a:t>Support </a:t>
            </a:r>
            <a:r>
              <a:rPr lang="en-US" sz="2400" b="1" dirty="0"/>
              <a:t>internal locus of control so that the user is in control of the system, which responds to his actions.</a:t>
            </a:r>
          </a:p>
          <a:p>
            <a:pPr marL="457200" indent="-457200">
              <a:buFont typeface="+mj-lt"/>
              <a:buAutoNum type="arabicPeriod" startAt="5"/>
            </a:pPr>
            <a:r>
              <a:rPr lang="en-US" sz="2400" b="1" dirty="0" smtClean="0"/>
              <a:t>Reduce </a:t>
            </a:r>
            <a:r>
              <a:rPr lang="en-US" sz="2400" b="1" dirty="0"/>
              <a:t>short-term memory load by keeping displays simple, consolidating multiple page displays and providing time for learning action sequences.</a:t>
            </a:r>
            <a:endParaRPr lang="en-US" sz="2400" dirty="0" smtClean="0"/>
          </a:p>
        </p:txBody>
      </p:sp>
    </p:spTree>
    <p:extLst>
      <p:ext uri="{BB962C8B-B14F-4D97-AF65-F5344CB8AC3E}">
        <p14:creationId xmlns:p14="http://schemas.microsoft.com/office/powerpoint/2010/main" val="27972616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20782"/>
            <a:ext cx="8367964" cy="6877779"/>
          </a:xfrm>
        </p:spPr>
      </p:pic>
    </p:spTree>
    <p:extLst>
      <p:ext uri="{BB962C8B-B14F-4D97-AF65-F5344CB8AC3E}">
        <p14:creationId xmlns:p14="http://schemas.microsoft.com/office/powerpoint/2010/main" val="2633488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399" y="381000"/>
            <a:ext cx="8859501" cy="6172200"/>
          </a:xfrm>
        </p:spPr>
      </p:pic>
    </p:spTree>
    <p:extLst>
      <p:ext uri="{BB962C8B-B14F-4D97-AF65-F5344CB8AC3E}">
        <p14:creationId xmlns:p14="http://schemas.microsoft.com/office/powerpoint/2010/main" val="19462391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TotalTime>
  <Words>1577</Words>
  <Application>Microsoft Office PowerPoint</Application>
  <PresentationFormat>On-screen Show (4:3)</PresentationFormat>
  <Paragraphs>91</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Design Principles</vt:lpstr>
      <vt:lpstr>Design Principles by Don Norman</vt:lpstr>
      <vt:lpstr>Design Principles by Don Norman (Contd.)</vt:lpstr>
      <vt:lpstr>Design Principles by Don Norman (Contd.)</vt:lpstr>
      <vt:lpstr>Design Principles by Don Norman (Contd.)</vt:lpstr>
      <vt:lpstr>Design Principles by Don Norman (Contd.)</vt:lpstr>
      <vt:lpstr>Design Principles by Don Norman (Contd.)</vt:lpstr>
      <vt:lpstr>Design Principles by Don Norman (Contd.)</vt:lpstr>
      <vt:lpstr>Design Principles by Don Norman (Contd.)</vt:lpstr>
      <vt:lpstr>Design Principles by Don Norman (Contd.)</vt:lpstr>
      <vt:lpstr>Heuristics and usability principles</vt:lpstr>
      <vt:lpstr>Heuristics and usability principles -  usability principles developed by Nielsen (2001)</vt:lpstr>
      <vt:lpstr>Heuristics and usability principles -  usability principles developed by Nielsen (Contd.)</vt:lpstr>
      <vt:lpstr>Shneiderman’s Eight Golden Rules of Interface Design</vt:lpstr>
      <vt:lpstr>Shneiderman’s Eight Golden Rules of Interface Design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gulraiz</cp:lastModifiedBy>
  <cp:revision>123</cp:revision>
  <dcterms:created xsi:type="dcterms:W3CDTF">2014-08-12T16:29:38Z</dcterms:created>
  <dcterms:modified xsi:type="dcterms:W3CDTF">2017-02-09T07:11:29Z</dcterms:modified>
</cp:coreProperties>
</file>