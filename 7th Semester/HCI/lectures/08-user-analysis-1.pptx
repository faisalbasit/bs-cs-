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4" r:id="rId16"/>
    <p:sldId id="273" r:id="rId17"/>
    <p:sldId id="275" r:id="rId18"/>
    <p:sldId id="25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4/3/2017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4/3/2017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4/3/2017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4/3/2017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smashingmagazine.com/2013/03/design-multifaceted-us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Designing For The Multifaceted User</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Designing with users in mind is a tricky thing. </a:t>
            </a:r>
            <a:endParaRPr lang="en-US" sz="2400" dirty="0" smtClean="0"/>
          </a:p>
          <a:p>
            <a:r>
              <a:rPr lang="en-US" sz="2400" dirty="0" smtClean="0"/>
              <a:t>Not </a:t>
            </a:r>
            <a:r>
              <a:rPr lang="en-US" sz="2400" dirty="0"/>
              <a:t>only does it require of us a sound understanding of who our users are, but the actual act of translating what we know about them into a well-designed product is not always an obvious or easy path</a:t>
            </a:r>
            <a:r>
              <a:rPr lang="en-US" sz="2400" dirty="0" smtClean="0"/>
              <a:t>.</a:t>
            </a:r>
          </a:p>
          <a:p>
            <a:r>
              <a:rPr lang="en-US" sz="2400" dirty="0" smtClean="0"/>
              <a:t>Being a human being, acting </a:t>
            </a:r>
            <a:r>
              <a:rPr lang="en-US" sz="2400" dirty="0"/>
              <a:t>differently according to circumstance and context is natural. </a:t>
            </a:r>
            <a:endParaRPr lang="en-US" sz="2400" dirty="0" smtClean="0"/>
          </a:p>
          <a:p>
            <a:pPr fontAlgn="base"/>
            <a:r>
              <a:rPr lang="en-US" sz="2400" dirty="0"/>
              <a:t>What does this mean for us as designers? </a:t>
            </a:r>
            <a:r>
              <a:rPr lang="en-US" sz="2400" dirty="0" smtClean="0"/>
              <a:t>It </a:t>
            </a:r>
            <a:r>
              <a:rPr lang="en-US" sz="2400" dirty="0"/>
              <a:t>means that our deliverables right now are probably too prescriptive in their details about who the user is. </a:t>
            </a:r>
            <a:endParaRPr lang="en-US" sz="2400" dirty="0" smtClean="0"/>
          </a:p>
          <a:p>
            <a:pPr fontAlgn="base"/>
            <a:r>
              <a:rPr lang="en-US" sz="2400" dirty="0" smtClean="0"/>
              <a:t>We </a:t>
            </a:r>
            <a:r>
              <a:rPr lang="en-US" sz="2400" dirty="0"/>
              <a:t>would probably do better to work towards a clearer understanding of the user’s varying contexts — contexts that would yield different behaviors and decisions.</a:t>
            </a:r>
          </a:p>
          <a:p>
            <a:pPr fontAlgn="base"/>
            <a:r>
              <a:rPr lang="en-US" sz="2400" dirty="0"/>
              <a:t>In short, </a:t>
            </a:r>
            <a:r>
              <a:rPr lang="en-US" sz="2400" b="1" dirty="0" smtClean="0"/>
              <a:t>we should focus </a:t>
            </a:r>
            <a:r>
              <a:rPr lang="en-US" sz="2400" b="1" dirty="0"/>
              <a:t>on the person</a:t>
            </a:r>
            <a:r>
              <a:rPr lang="en-US" sz="2400" dirty="0"/>
              <a:t>, not on predicting their reactions and, therefore, what we should effectively be designing for.</a:t>
            </a:r>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The </a:t>
            </a:r>
            <a:r>
              <a:rPr lang="en-US" sz="2400" b="1" dirty="0"/>
              <a:t>matrix technique</a:t>
            </a:r>
            <a:r>
              <a:rPr lang="en-US" sz="2400" dirty="0"/>
              <a:t> explores what we know and what we don’t know about our users by looking through the lens of contexts for their behaviors and motivations.</a:t>
            </a:r>
          </a:p>
          <a:p>
            <a:pPr fontAlgn="base"/>
            <a:r>
              <a:rPr lang="en-US" sz="2400" dirty="0" smtClean="0"/>
              <a:t>This </a:t>
            </a:r>
            <a:r>
              <a:rPr lang="en-US" sz="2400" dirty="0"/>
              <a:t>method </a:t>
            </a:r>
            <a:r>
              <a:rPr lang="en-US" sz="2400" dirty="0" smtClean="0"/>
              <a:t>is used to </a:t>
            </a:r>
            <a:r>
              <a:rPr lang="en-US" sz="2400" dirty="0"/>
              <a:t>do the following:</a:t>
            </a:r>
          </a:p>
          <a:p>
            <a:pPr lvl="1" fontAlgn="base"/>
            <a:r>
              <a:rPr lang="en-US" sz="2400" dirty="0"/>
              <a:t>to establish key audiences;</a:t>
            </a:r>
          </a:p>
          <a:p>
            <a:pPr lvl="1" fontAlgn="base"/>
            <a:r>
              <a:rPr lang="en-US" sz="2400" dirty="0"/>
              <a:t>to understand or validate value propositions;</a:t>
            </a:r>
          </a:p>
          <a:p>
            <a:pPr lvl="1" fontAlgn="base"/>
            <a:r>
              <a:rPr lang="en-US" sz="2400" dirty="0"/>
              <a:t>to help prioritize research areas and product features — to identify what we already know and where we lack data;</a:t>
            </a:r>
          </a:p>
          <a:p>
            <a:pPr lvl="1" fontAlgn="base"/>
            <a:r>
              <a:rPr lang="en-US" sz="2400" dirty="0"/>
              <a:t>to pinpoint which features are vital</a:t>
            </a:r>
            <a:r>
              <a:rPr lang="en-US" sz="2400" dirty="0" smtClean="0"/>
              <a:t>.</a:t>
            </a:r>
          </a:p>
          <a:p>
            <a:pPr fontAlgn="base"/>
            <a:r>
              <a:rPr lang="en-US" sz="2400" dirty="0"/>
              <a:t>It is essentially a structured brainstorming tool to make sense of user patterns. </a:t>
            </a:r>
            <a:endParaRPr lang="en-US" sz="2400" dirty="0" smtClean="0"/>
          </a:p>
          <a:p>
            <a:pPr fontAlgn="base"/>
            <a:r>
              <a:rPr lang="en-US" sz="2400" dirty="0" smtClean="0"/>
              <a:t>Best </a:t>
            </a:r>
            <a:r>
              <a:rPr lang="en-US" sz="2400" dirty="0"/>
              <a:t>of all, it can be an easy way to unpack assumptions that each stakeholder is making about their users.</a:t>
            </a:r>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2836407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1: Draw Your Matrix </a:t>
            </a:r>
            <a:r>
              <a:rPr lang="en-US" sz="2400" b="1" dirty="0" smtClean="0"/>
              <a:t>- </a:t>
            </a:r>
            <a:r>
              <a:rPr lang="en-US" sz="2400" dirty="0" smtClean="0"/>
              <a:t>Draw a </a:t>
            </a:r>
            <a:r>
              <a:rPr lang="en-US" sz="2400" dirty="0"/>
              <a:t>3 × 3 </a:t>
            </a:r>
            <a:r>
              <a:rPr lang="en-US" sz="2400" dirty="0" smtClean="0"/>
              <a:t>grid, this gives </a:t>
            </a:r>
            <a:r>
              <a:rPr lang="en-US" sz="2400" dirty="0"/>
              <a:t>enough variation without being too </a:t>
            </a:r>
            <a:r>
              <a:rPr lang="en-US" sz="2400" dirty="0" smtClean="0"/>
              <a:t>precise.</a:t>
            </a:r>
          </a:p>
          <a:p>
            <a:pPr fontAlgn="base"/>
            <a:endParaRPr lang="en-US" sz="2400" dirty="0"/>
          </a:p>
          <a:p>
            <a:endParaRPr lang="en-US" sz="2400" dirty="0"/>
          </a:p>
          <a:p>
            <a:endParaRPr lang="en-US" sz="2400" dirty="0"/>
          </a:p>
          <a:p>
            <a:endParaRPr lang="en-US" sz="2400" dirty="0" smtClean="0"/>
          </a:p>
        </p:txBody>
      </p:sp>
      <p:pic>
        <p:nvPicPr>
          <p:cNvPr id="1026"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33600"/>
            <a:ext cx="4267200" cy="424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1251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2: Identify Important Axes  </a:t>
            </a:r>
            <a:r>
              <a:rPr lang="en-US" sz="2400" b="1" dirty="0" smtClean="0"/>
              <a:t>- </a:t>
            </a:r>
            <a:r>
              <a:rPr lang="en-US" sz="2400" dirty="0"/>
              <a:t>The next step is to identify how many of these different “selves” of our users can exist in this system we are designing for</a:t>
            </a:r>
            <a:r>
              <a:rPr lang="en-US" sz="2400" dirty="0" smtClean="0"/>
              <a:t>.</a:t>
            </a:r>
            <a:endParaRPr lang="en-US" sz="2400" dirty="0"/>
          </a:p>
          <a:p>
            <a:pPr fontAlgn="base"/>
            <a:r>
              <a:rPr lang="en-US" sz="2400" dirty="0" smtClean="0"/>
              <a:t>Consider an example </a:t>
            </a:r>
            <a:r>
              <a:rPr lang="en-US" sz="2400" dirty="0"/>
              <a:t>of a potential </a:t>
            </a:r>
            <a:r>
              <a:rPr lang="en-US" sz="2400" b="1" dirty="0"/>
              <a:t>social app for runners</a:t>
            </a:r>
            <a:r>
              <a:rPr lang="en-US" sz="2400" dirty="0"/>
              <a:t>. </a:t>
            </a:r>
            <a:endParaRPr lang="en-US" sz="2400" dirty="0" smtClean="0"/>
          </a:p>
          <a:p>
            <a:pPr fontAlgn="base"/>
            <a:r>
              <a:rPr lang="en-US" sz="2400" dirty="0" smtClean="0"/>
              <a:t>It’s </a:t>
            </a:r>
            <a:r>
              <a:rPr lang="en-US" sz="2400" dirty="0"/>
              <a:t>a straightforward offering with which local runners can post routes and visiting runners can find routes. We could imagine virtual competitive elements; a runner might have previously posted a time that you are trying to beat on the same route. Or you might just want a scenic run as a way to explore a new city’s environments.</a:t>
            </a:r>
          </a:p>
          <a:p>
            <a:pPr fontAlgn="base"/>
            <a:r>
              <a:rPr lang="en-US" sz="2400" dirty="0"/>
              <a:t>What kinds of </a:t>
            </a:r>
            <a:r>
              <a:rPr lang="en-US" sz="2400" dirty="0" err="1"/>
              <a:t>behavioural</a:t>
            </a:r>
            <a:r>
              <a:rPr lang="en-US" sz="2400" dirty="0"/>
              <a:t> attributes can we come up with for runners who would likely use this app? </a:t>
            </a:r>
            <a:endParaRPr lang="en-US" sz="2400" dirty="0" smtClean="0"/>
          </a:p>
          <a:p>
            <a:pPr fontAlgn="base"/>
            <a:r>
              <a:rPr lang="en-US" sz="2400" dirty="0" smtClean="0"/>
              <a:t>I </a:t>
            </a:r>
            <a:r>
              <a:rPr lang="en-US" sz="2400" dirty="0"/>
              <a:t>tend to think in terms of “opposing” attributes. You might end up with a list looking like this and the corresponding user stories:</a:t>
            </a:r>
          </a:p>
          <a:p>
            <a:pPr fontAlgn="base"/>
            <a:endParaRPr lang="en-US" sz="2400" dirty="0" smtClean="0"/>
          </a:p>
          <a:p>
            <a:pPr fontAlgn="base"/>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31942051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2: Identify Important Axes  </a:t>
            </a:r>
            <a:r>
              <a:rPr lang="en-US" sz="2400" b="1" dirty="0" smtClean="0"/>
              <a:t>(Contd.)</a:t>
            </a:r>
            <a:endParaRPr lang="en-US" sz="2400" dirty="0" smtClean="0"/>
          </a:p>
          <a:p>
            <a:pPr lvl="1" fontAlgn="base"/>
            <a:r>
              <a:rPr lang="en-US" sz="2400" b="1" dirty="0" smtClean="0"/>
              <a:t>explorative</a:t>
            </a:r>
            <a:r>
              <a:rPr lang="en-US" sz="2400" dirty="0" smtClean="0"/>
              <a:t/>
            </a:r>
            <a:br>
              <a:rPr lang="en-US" sz="2400" dirty="0" smtClean="0"/>
            </a:br>
            <a:r>
              <a:rPr lang="en-US" sz="2400" dirty="0" smtClean="0"/>
              <a:t>“I want a new way to experience this city through running.”</a:t>
            </a:r>
          </a:p>
          <a:p>
            <a:pPr lvl="1" fontAlgn="base"/>
            <a:r>
              <a:rPr lang="en-US" sz="2400" b="1" dirty="0" smtClean="0"/>
              <a:t>competitive</a:t>
            </a:r>
            <a:r>
              <a:rPr lang="en-US" sz="2400" dirty="0"/>
              <a:t/>
            </a:r>
            <a:br>
              <a:rPr lang="en-US" sz="2400" dirty="0"/>
            </a:br>
            <a:r>
              <a:rPr lang="en-US" sz="2400" dirty="0"/>
              <a:t>“I like to race against someone else, or against myself.”</a:t>
            </a:r>
          </a:p>
          <a:p>
            <a:pPr lvl="1" fontAlgn="base"/>
            <a:r>
              <a:rPr lang="en-US" sz="2400" b="1" dirty="0"/>
              <a:t>frequent</a:t>
            </a:r>
            <a:r>
              <a:rPr lang="en-US" sz="2400" dirty="0"/>
              <a:t/>
            </a:r>
            <a:br>
              <a:rPr lang="en-US" sz="2400" dirty="0"/>
            </a:br>
            <a:r>
              <a:rPr lang="en-US" sz="2400" dirty="0"/>
              <a:t>“I run a lot, several times a week to every day.”</a:t>
            </a:r>
          </a:p>
          <a:p>
            <a:pPr lvl="1" fontAlgn="base"/>
            <a:r>
              <a:rPr lang="en-US" sz="2400" b="1" dirty="0"/>
              <a:t>occasional</a:t>
            </a:r>
            <a:r>
              <a:rPr lang="en-US" sz="2400" dirty="0"/>
              <a:t/>
            </a:r>
            <a:br>
              <a:rPr lang="en-US" sz="2400" dirty="0"/>
            </a:br>
            <a:r>
              <a:rPr lang="en-US" sz="2400" dirty="0"/>
              <a:t>“I run once a week or less.”</a:t>
            </a:r>
          </a:p>
          <a:p>
            <a:pPr fontAlgn="base"/>
            <a:endParaRPr lang="en-US" sz="2400" dirty="0" smtClean="0"/>
          </a:p>
          <a:p>
            <a:pPr fontAlgn="base"/>
            <a:endParaRPr lang="en-US" sz="2400" dirty="0" smtClean="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5851072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2: Identify Important Axes  </a:t>
            </a:r>
            <a:r>
              <a:rPr lang="en-US" sz="2400" b="1" dirty="0" smtClean="0"/>
              <a:t>(Contd.)</a:t>
            </a:r>
            <a:endParaRPr lang="en-US" sz="2400" dirty="0" smtClean="0"/>
          </a:p>
          <a:p>
            <a:pPr lvl="1" fontAlgn="base"/>
            <a:r>
              <a:rPr lang="en-US" sz="2400" dirty="0"/>
              <a:t>Your axes might then look like this:</a:t>
            </a:r>
          </a:p>
          <a:p>
            <a:pPr lvl="2" fontAlgn="base"/>
            <a:r>
              <a:rPr lang="en-US" dirty="0"/>
              <a:t>curious	↔	engaged</a:t>
            </a:r>
          </a:p>
          <a:p>
            <a:pPr lvl="2" fontAlgn="base"/>
            <a:r>
              <a:rPr lang="en-US" dirty="0"/>
              <a:t>social	↔	individual</a:t>
            </a:r>
          </a:p>
          <a:p>
            <a:pPr lvl="2" fontAlgn="base"/>
            <a:r>
              <a:rPr lang="en-US" dirty="0"/>
              <a:t>explorative	↔	competitive</a:t>
            </a:r>
          </a:p>
          <a:p>
            <a:pPr lvl="2" fontAlgn="base"/>
            <a:r>
              <a:rPr lang="en-US" dirty="0"/>
              <a:t>frequent	↔	occasional</a:t>
            </a:r>
          </a:p>
          <a:p>
            <a:pPr lvl="2" fontAlgn="base"/>
            <a:r>
              <a:rPr lang="en-US" dirty="0"/>
              <a:t>visitor	↔	local</a:t>
            </a:r>
            <a:endParaRPr lang="en-US" dirty="0" smtClean="0"/>
          </a:p>
          <a:p>
            <a:pPr fontAlgn="base"/>
            <a:endParaRPr lang="en-US" sz="2400" dirty="0" smtClean="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219242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2: Identify Important Axes  </a:t>
            </a:r>
            <a:r>
              <a:rPr lang="en-US" sz="2400" b="1" dirty="0" smtClean="0"/>
              <a:t>(Contd.)</a:t>
            </a:r>
            <a:endParaRPr lang="en-US" sz="2400" dirty="0" smtClean="0"/>
          </a:p>
          <a:p>
            <a:pPr lvl="1" fontAlgn="base"/>
            <a:r>
              <a:rPr lang="en-US" sz="2400" dirty="0"/>
              <a:t>Depending on the project you are working on, </a:t>
            </a:r>
            <a:r>
              <a:rPr lang="en-US" sz="2400" b="1" dirty="0"/>
              <a:t>you may or may not know something about the users</a:t>
            </a:r>
            <a:r>
              <a:rPr lang="en-US" sz="2400" dirty="0"/>
              <a:t> you are talking about. </a:t>
            </a:r>
            <a:endParaRPr lang="en-US" sz="2400" dirty="0" smtClean="0"/>
          </a:p>
          <a:p>
            <a:pPr lvl="1" fontAlgn="base"/>
            <a:r>
              <a:rPr lang="en-US" sz="2400" dirty="0"/>
              <a:t>As you go through this exercise, </a:t>
            </a:r>
            <a:r>
              <a:rPr lang="en-US" sz="2400" b="1" dirty="0"/>
              <a:t>keep in mind</a:t>
            </a:r>
            <a:r>
              <a:rPr lang="en-US" sz="2400" dirty="0"/>
              <a:t> what you know about your users and what you are presuming. </a:t>
            </a:r>
            <a:endParaRPr lang="en-US" sz="2400" dirty="0" smtClean="0"/>
          </a:p>
          <a:p>
            <a:pPr lvl="1" fontAlgn="base"/>
            <a:r>
              <a:rPr lang="en-US" sz="2400" dirty="0" smtClean="0"/>
              <a:t>From </a:t>
            </a:r>
            <a:r>
              <a:rPr lang="en-US" sz="2400" dirty="0"/>
              <a:t>the list above, choose two axes that most interest you or that you think are worth exploring. </a:t>
            </a:r>
            <a:endParaRPr lang="en-US" sz="2400" dirty="0" smtClean="0"/>
          </a:p>
          <a:p>
            <a:pPr lvl="1" fontAlgn="base"/>
            <a:r>
              <a:rPr lang="en-US" sz="2400" dirty="0" smtClean="0"/>
              <a:t>Choosing </a:t>
            </a:r>
            <a:r>
              <a:rPr lang="en-US" sz="2400" dirty="0"/>
              <a:t>might be difficult if you are just starting with this method; in which case, the best thing to do is to dive in and see what happens. </a:t>
            </a:r>
            <a:endParaRPr lang="en-US" sz="2400" dirty="0" smtClean="0"/>
          </a:p>
          <a:p>
            <a:pPr lvl="1" fontAlgn="base"/>
            <a:r>
              <a:rPr lang="en-US" sz="2400" dirty="0" smtClean="0"/>
              <a:t>If </a:t>
            </a:r>
            <a:r>
              <a:rPr lang="en-US" sz="2400" dirty="0"/>
              <a:t>it doesn’t work or if ideas don’t seem to flow, change your axes and keep going.</a:t>
            </a:r>
            <a:endParaRPr lang="en-US" sz="2400" dirty="0" smtClean="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167059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2: Identify Important Axes  </a:t>
            </a:r>
            <a:r>
              <a:rPr lang="en-US" sz="2400" b="1" dirty="0" smtClean="0"/>
              <a:t>(Contd.)</a:t>
            </a:r>
            <a:endParaRPr lang="en-US" sz="2400" dirty="0" smtClean="0"/>
          </a:p>
          <a:p>
            <a:endParaRPr lang="en-US" sz="2400" dirty="0"/>
          </a:p>
          <a:p>
            <a:endParaRPr lang="en-US" sz="2400" dirty="0"/>
          </a:p>
          <a:p>
            <a:endParaRPr lang="en-US" sz="2400" dirty="0" smtClean="0"/>
          </a:p>
        </p:txBody>
      </p:sp>
      <p:pic>
        <p:nvPicPr>
          <p:cNvPr id="5122"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676400"/>
            <a:ext cx="4876800" cy="459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1174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3: Identify Key </a:t>
            </a:r>
            <a:r>
              <a:rPr lang="en-US" sz="2400" b="1" dirty="0" smtClean="0"/>
              <a:t>Questions (Contd.)</a:t>
            </a:r>
          </a:p>
          <a:p>
            <a:pPr lvl="1" fontAlgn="base"/>
            <a:r>
              <a:rPr lang="en-US" sz="2400" dirty="0"/>
              <a:t>Ask a question! I generally like, “What would these users want to do?” Or, even more simply, “What do they want?” The latter question would cover what users want to know and what they would want to do. </a:t>
            </a:r>
            <a:endParaRPr lang="en-US" sz="2400" dirty="0" smtClean="0"/>
          </a:p>
          <a:p>
            <a:pPr lvl="1" fontAlgn="base"/>
            <a:r>
              <a:rPr lang="en-US" sz="2400" dirty="0" smtClean="0"/>
              <a:t>You </a:t>
            </a:r>
            <a:r>
              <a:rPr lang="en-US" sz="2400" dirty="0"/>
              <a:t>could also ask questions like, “How would they feel?” as a kind of emphatic exercise.</a:t>
            </a:r>
          </a:p>
          <a:p>
            <a:pPr lvl="1" fontAlgn="base"/>
            <a:r>
              <a:rPr lang="en-US" sz="2400" dirty="0"/>
              <a:t>As you think up questions, keep a list handy. You’ll need it later.</a:t>
            </a:r>
          </a:p>
          <a:p>
            <a:pPr lvl="1" fontAlgn="base"/>
            <a:r>
              <a:rPr lang="en-US" sz="2400" dirty="0"/>
              <a:t>In this example, let’s stick with “What can they do?” Or, from a user’s perspective, “What can I do with this app</a:t>
            </a:r>
            <a:r>
              <a:rPr lang="en-US" sz="2400" dirty="0" smtClean="0"/>
              <a:t>?”</a:t>
            </a:r>
            <a:r>
              <a:rPr lang="en-US" sz="2400" b="1" dirty="0"/>
              <a:t> </a:t>
            </a:r>
            <a:r>
              <a:rPr lang="en-US" sz="2400" dirty="0"/>
              <a:t/>
            </a:r>
            <a:br>
              <a:rPr lang="en-US" sz="2400" dirty="0"/>
            </a:br>
            <a:endParaRPr lang="en-US" sz="2400" dirty="0"/>
          </a:p>
          <a:p>
            <a:endParaRPr lang="en-US" sz="2400" dirty="0"/>
          </a:p>
          <a:p>
            <a:endParaRPr lang="en-US" sz="2400" dirty="0" smtClean="0"/>
          </a:p>
        </p:txBody>
      </p:sp>
    </p:spTree>
    <p:extLst>
      <p:ext uri="{BB962C8B-B14F-4D97-AF65-F5344CB8AC3E}">
        <p14:creationId xmlns:p14="http://schemas.microsoft.com/office/powerpoint/2010/main" val="28738802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3: Identify Key Questions </a:t>
            </a:r>
            <a:r>
              <a:rPr lang="en-US" sz="2400" dirty="0"/>
              <a:t/>
            </a:r>
            <a:br>
              <a:rPr lang="en-US" sz="2400" dirty="0"/>
            </a:br>
            <a:endParaRPr lang="en-US" sz="2400" dirty="0"/>
          </a:p>
          <a:p>
            <a:endParaRPr lang="en-US" sz="2400" dirty="0"/>
          </a:p>
          <a:p>
            <a:endParaRPr lang="en-US" sz="2400" dirty="0" smtClean="0"/>
          </a:p>
        </p:txBody>
      </p:sp>
      <p:pic>
        <p:nvPicPr>
          <p:cNvPr id="6146"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62812"/>
            <a:ext cx="4876800" cy="4918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7716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4: Fill the Matrix</a:t>
            </a:r>
            <a:r>
              <a:rPr lang="en-US" sz="2400" b="1" dirty="0"/>
              <a:t> </a:t>
            </a:r>
            <a:r>
              <a:rPr lang="en-US" sz="2400" dirty="0"/>
              <a:t/>
            </a:r>
            <a:br>
              <a:rPr lang="en-US" sz="2400" dirty="0"/>
            </a:br>
            <a:endParaRPr lang="en-US" sz="2400" dirty="0"/>
          </a:p>
          <a:p>
            <a:endParaRPr lang="en-US" sz="2400" dirty="0"/>
          </a:p>
          <a:p>
            <a:endParaRPr lang="en-US" sz="2400" dirty="0" smtClean="0"/>
          </a:p>
        </p:txBody>
      </p:sp>
      <p:pic>
        <p:nvPicPr>
          <p:cNvPr id="7170"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1480" y="1676400"/>
            <a:ext cx="570104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7345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4: Fill the Matrix (Contd.)</a:t>
            </a:r>
            <a:r>
              <a:rPr lang="en-US" sz="2400" b="1" dirty="0"/>
              <a:t> </a:t>
            </a:r>
            <a:endParaRPr lang="en-US" sz="2400" dirty="0" smtClean="0"/>
          </a:p>
          <a:p>
            <a:pPr lvl="1" fontAlgn="base"/>
            <a:r>
              <a:rPr lang="en-US" sz="2400" dirty="0" smtClean="0"/>
              <a:t>Fill </a:t>
            </a:r>
            <a:r>
              <a:rPr lang="en-US" sz="2400" dirty="0"/>
              <a:t>in the matrix as best you can. </a:t>
            </a:r>
            <a:endParaRPr lang="en-US" sz="2400" dirty="0" smtClean="0"/>
          </a:p>
          <a:p>
            <a:pPr lvl="1" fontAlgn="base"/>
            <a:r>
              <a:rPr lang="en-US" sz="2400" dirty="0" smtClean="0"/>
              <a:t>If </a:t>
            </a:r>
            <a:r>
              <a:rPr lang="en-US" sz="2400" dirty="0"/>
              <a:t>you already have some insights from research, then mark which things you know for certain, as opposed to things you believe to be true but have nothing yet to back it up.</a:t>
            </a:r>
          </a:p>
          <a:p>
            <a:pPr lvl="1" fontAlgn="base"/>
            <a:r>
              <a:rPr lang="en-US" sz="2400" dirty="0"/>
              <a:t>Generally, by the time you’ve filled the first matrix, you’ll have a fairly good idea of what information you already know about your users and what further research might be required.</a:t>
            </a:r>
          </a:p>
          <a:p>
            <a:pPr fontAlgn="base"/>
            <a:endParaRPr lang="en-US" sz="2400" dirty="0"/>
          </a:p>
          <a:p>
            <a:endParaRPr lang="en-US" sz="2400" dirty="0"/>
          </a:p>
          <a:p>
            <a:endParaRPr lang="en-US" sz="2400" dirty="0" smtClean="0"/>
          </a:p>
        </p:txBody>
      </p:sp>
    </p:spTree>
    <p:extLst>
      <p:ext uri="{BB962C8B-B14F-4D97-AF65-F5344CB8AC3E}">
        <p14:creationId xmlns:p14="http://schemas.microsoft.com/office/powerpoint/2010/main" val="2161756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5</a:t>
            </a:r>
            <a:r>
              <a:rPr lang="en-US" sz="2400" b="1" dirty="0"/>
              <a:t> </a:t>
            </a:r>
            <a:r>
              <a:rPr lang="en-US" sz="2400" b="1" dirty="0" smtClean="0"/>
              <a:t>Iterate:</a:t>
            </a:r>
            <a:endParaRPr lang="en-US" sz="2400" dirty="0" smtClean="0"/>
          </a:p>
          <a:p>
            <a:pPr lvl="1" fontAlgn="base"/>
            <a:r>
              <a:rPr lang="en-US" sz="2400" dirty="0"/>
              <a:t>Once you are done with the first matrix, set that aside, and </a:t>
            </a:r>
            <a:r>
              <a:rPr lang="en-US" sz="2400" b="1" dirty="0"/>
              <a:t>draw another blank grid</a:t>
            </a:r>
            <a:r>
              <a:rPr lang="en-US" sz="2400" dirty="0"/>
              <a:t>.</a:t>
            </a:r>
          </a:p>
          <a:p>
            <a:pPr lvl="1" fontAlgn="base"/>
            <a:r>
              <a:rPr lang="en-US" sz="2400" dirty="0"/>
              <a:t>You can do one of two things:</a:t>
            </a:r>
          </a:p>
          <a:p>
            <a:pPr lvl="1" fontAlgn="base"/>
            <a:r>
              <a:rPr lang="en-US" sz="2400" dirty="0"/>
              <a:t>Pick another question from your list, “What do these users need from us?”; or</a:t>
            </a:r>
          </a:p>
          <a:p>
            <a:pPr lvl="1" fontAlgn="base"/>
            <a:r>
              <a:rPr lang="en-US" sz="2400" dirty="0"/>
              <a:t>Switch one of your axes to something different, but stick to the same question.</a:t>
            </a:r>
          </a:p>
          <a:p>
            <a:pPr lvl="1" fontAlgn="base"/>
            <a:r>
              <a:rPr lang="en-US" sz="2400" dirty="0"/>
              <a:t>Start filling in the matrix again from the top. Remember, this is a brainstorming process. Putting down ideas that you can refine later is more important, so </a:t>
            </a:r>
            <a:r>
              <a:rPr lang="en-US" sz="2400" b="1" dirty="0"/>
              <a:t>try to move rapidly</a:t>
            </a:r>
            <a:r>
              <a:rPr lang="en-US" sz="2400" dirty="0"/>
              <a:t> through each iteration.</a:t>
            </a:r>
          </a:p>
          <a:p>
            <a:endParaRPr lang="en-US" sz="2400" dirty="0"/>
          </a:p>
          <a:p>
            <a:endParaRPr lang="en-US" sz="2400" dirty="0" smtClean="0"/>
          </a:p>
        </p:txBody>
      </p:sp>
    </p:spTree>
    <p:extLst>
      <p:ext uri="{BB962C8B-B14F-4D97-AF65-F5344CB8AC3E}">
        <p14:creationId xmlns:p14="http://schemas.microsoft.com/office/powerpoint/2010/main" val="4769300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5</a:t>
            </a:r>
            <a:r>
              <a:rPr lang="en-US" sz="2400" b="1" dirty="0"/>
              <a:t> </a:t>
            </a:r>
            <a:r>
              <a:rPr lang="en-US" sz="2400" b="1" dirty="0" smtClean="0"/>
              <a:t>Iterate (Contd.):</a:t>
            </a:r>
            <a:endParaRPr lang="en-US" sz="2400" dirty="0" smtClean="0"/>
          </a:p>
          <a:p>
            <a:pPr lvl="1" fontAlgn="base"/>
            <a:r>
              <a:rPr lang="en-US" sz="2400" dirty="0" smtClean="0"/>
              <a:t>When </a:t>
            </a:r>
            <a:r>
              <a:rPr lang="en-US" sz="2400" dirty="0"/>
              <a:t>you have done as much as you can with this iteration of the matrix, do the dance again: pick another question, or switch another axis.</a:t>
            </a:r>
          </a:p>
          <a:p>
            <a:pPr lvl="1" fontAlgn="base"/>
            <a:r>
              <a:rPr lang="en-US" sz="2400" dirty="0"/>
              <a:t>It’s best when your team collectively chooses which questions and spectrums to think about.</a:t>
            </a:r>
          </a:p>
          <a:p>
            <a:pPr lvl="1" fontAlgn="base"/>
            <a:r>
              <a:rPr lang="en-US" sz="2400" dirty="0"/>
              <a:t>Rinse and repeat. You’ll likely find that you can generate a lot of matrices in the space of just an hour, even if it may be a slow start at first.</a:t>
            </a:r>
          </a:p>
          <a:p>
            <a:pPr fontAlgn="base"/>
            <a:endParaRPr lang="en-US" sz="2400" dirty="0"/>
          </a:p>
          <a:p>
            <a:endParaRPr lang="en-US" sz="2400" dirty="0"/>
          </a:p>
          <a:p>
            <a:endParaRPr lang="en-US" sz="2400" dirty="0" smtClean="0"/>
          </a:p>
        </p:txBody>
      </p:sp>
    </p:spTree>
    <p:extLst>
      <p:ext uri="{BB962C8B-B14F-4D97-AF65-F5344CB8AC3E}">
        <p14:creationId xmlns:p14="http://schemas.microsoft.com/office/powerpoint/2010/main" val="5609516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6</a:t>
            </a:r>
            <a:r>
              <a:rPr lang="en-US" sz="2400" b="1" dirty="0"/>
              <a:t> Analysis And Key Insights </a:t>
            </a:r>
            <a:r>
              <a:rPr lang="en-US" sz="2400" b="1" dirty="0" smtClean="0"/>
              <a:t>:</a:t>
            </a:r>
            <a:endParaRPr lang="en-US" sz="2400" dirty="0" smtClean="0"/>
          </a:p>
          <a:p>
            <a:pPr lvl="1" fontAlgn="base"/>
            <a:r>
              <a:rPr lang="en-US" sz="2400" dirty="0"/>
              <a:t>Once you have done a few of these, it is time to sit back and look for patterns. Let’s look at a few things that could emerge</a:t>
            </a:r>
            <a:r>
              <a:rPr lang="en-US" sz="2400" dirty="0" smtClean="0"/>
              <a:t>.</a:t>
            </a:r>
          </a:p>
          <a:p>
            <a:pPr lvl="1" fontAlgn="base"/>
            <a:endParaRPr lang="en-US" sz="2400" dirty="0"/>
          </a:p>
          <a:p>
            <a:endParaRPr lang="en-US" sz="2400" dirty="0"/>
          </a:p>
          <a:p>
            <a:endParaRPr lang="en-US" sz="2400" dirty="0" smtClean="0"/>
          </a:p>
        </p:txBody>
      </p:sp>
    </p:spTree>
    <p:extLst>
      <p:ext uri="{BB962C8B-B14F-4D97-AF65-F5344CB8AC3E}">
        <p14:creationId xmlns:p14="http://schemas.microsoft.com/office/powerpoint/2010/main" val="5115860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7</a:t>
            </a:r>
            <a:r>
              <a:rPr lang="en-US" sz="2400" b="1" dirty="0"/>
              <a:t> Taking It Further  </a:t>
            </a:r>
            <a:r>
              <a:rPr lang="en-US" sz="2400" b="1" dirty="0" smtClean="0"/>
              <a:t>:</a:t>
            </a:r>
            <a:endParaRPr lang="en-US" sz="2400" dirty="0" smtClean="0"/>
          </a:p>
          <a:p>
            <a:pPr lvl="1" fontAlgn="base"/>
            <a:r>
              <a:rPr lang="en-US" sz="2400" dirty="0"/>
              <a:t>we have a set of matrices on our hands and some high-level analysis and insight</a:t>
            </a:r>
            <a:r>
              <a:rPr lang="en-US" sz="2400" dirty="0" smtClean="0"/>
              <a:t>.</a:t>
            </a:r>
          </a:p>
          <a:p>
            <a:pPr lvl="1" fontAlgn="base"/>
            <a:r>
              <a:rPr lang="en-US" sz="2400" dirty="0"/>
              <a:t>First, as with many workshop tools that encourage structured brainstorming, the process is as important as the result itself, possibly more so. </a:t>
            </a:r>
            <a:endParaRPr lang="en-US" sz="2400" dirty="0" smtClean="0"/>
          </a:p>
          <a:p>
            <a:pPr lvl="1" fontAlgn="base"/>
            <a:r>
              <a:rPr lang="en-US" sz="2400" dirty="0" smtClean="0"/>
              <a:t>This process </a:t>
            </a:r>
            <a:r>
              <a:rPr lang="en-US" sz="2400" dirty="0"/>
              <a:t>doesn’t generate a pretty formatted deliverable — rather, it clarifies how we really think about our users.</a:t>
            </a:r>
          </a:p>
          <a:p>
            <a:pPr lvl="1" fontAlgn="base"/>
            <a:endParaRPr lang="en-US" sz="2400" dirty="0"/>
          </a:p>
          <a:p>
            <a:endParaRPr lang="en-US" sz="2400" dirty="0"/>
          </a:p>
          <a:p>
            <a:endParaRPr lang="en-US" sz="2400" dirty="0" smtClean="0"/>
          </a:p>
        </p:txBody>
      </p:sp>
    </p:spTree>
    <p:extLst>
      <p:ext uri="{BB962C8B-B14F-4D97-AF65-F5344CB8AC3E}">
        <p14:creationId xmlns:p14="http://schemas.microsoft.com/office/powerpoint/2010/main" val="14128551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Modeling User Groups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b="1" dirty="0"/>
              <a:t>Step </a:t>
            </a:r>
            <a:r>
              <a:rPr lang="en-US" sz="2400" b="1" dirty="0" smtClean="0"/>
              <a:t>7</a:t>
            </a:r>
            <a:r>
              <a:rPr lang="en-US" sz="2400" b="1" dirty="0"/>
              <a:t> Taking It </a:t>
            </a:r>
            <a:r>
              <a:rPr lang="en-US" sz="2400" b="1" dirty="0" smtClean="0"/>
              <a:t>Further (Contd.)</a:t>
            </a:r>
            <a:r>
              <a:rPr lang="en-US" sz="2400" b="1" dirty="0"/>
              <a:t>  </a:t>
            </a:r>
            <a:r>
              <a:rPr lang="en-US" sz="2400" b="1" dirty="0" smtClean="0"/>
              <a:t>:</a:t>
            </a:r>
            <a:endParaRPr lang="en-US" sz="2400" dirty="0" smtClean="0"/>
          </a:p>
          <a:p>
            <a:pPr lvl="1" fontAlgn="base"/>
            <a:r>
              <a:rPr lang="en-US" sz="2400" dirty="0" smtClean="0"/>
              <a:t>Having gone through the process of generating these matrices and analyzing them, you should find that you can take on subsequent challenges with more clarity:</a:t>
            </a:r>
          </a:p>
          <a:p>
            <a:pPr lvl="2" fontAlgn="base"/>
            <a:r>
              <a:rPr lang="en-US" dirty="0" smtClean="0"/>
              <a:t>Decide which user groups require more research, from which you can generate personas, mental models and user journeys for more detailed tasks, if required.</a:t>
            </a:r>
          </a:p>
          <a:p>
            <a:pPr lvl="2" fontAlgn="base"/>
            <a:r>
              <a:rPr lang="en-US" dirty="0" smtClean="0"/>
              <a:t>Establish a product road map based on having identified which needs should be met across user groups, so that you can decide which features to design and build together.</a:t>
            </a:r>
          </a:p>
          <a:p>
            <a:pPr lvl="1" fontAlgn="base"/>
            <a:endParaRPr lang="en-US" sz="2400" dirty="0"/>
          </a:p>
          <a:p>
            <a:endParaRPr lang="en-US" sz="2400" dirty="0"/>
          </a:p>
          <a:p>
            <a:endParaRPr lang="en-US" sz="2400" dirty="0" smtClean="0"/>
          </a:p>
        </p:txBody>
      </p:sp>
    </p:spTree>
    <p:extLst>
      <p:ext uri="{BB962C8B-B14F-4D97-AF65-F5344CB8AC3E}">
        <p14:creationId xmlns:p14="http://schemas.microsoft.com/office/powerpoint/2010/main" val="1245864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hlinkClick r:id="rId2"/>
              </a:rPr>
              <a:t>https://www.smashingmagazine.com/2013/03/design-multifaceted-user</a:t>
            </a:r>
            <a:r>
              <a:rPr lang="en-US" sz="2400" dirty="0" smtClean="0">
                <a:hlinkClick r:id="rId2"/>
              </a:rPr>
              <a:t>/</a:t>
            </a:r>
            <a:r>
              <a:rPr lang="en-US" sz="2400" dirty="0" smtClean="0"/>
              <a:t> </a:t>
            </a:r>
            <a:endParaRPr lang="en-US" sz="2400" dirty="0"/>
          </a:p>
          <a:p>
            <a:endParaRPr lang="en-US" sz="2400" dirty="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306521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TotalTime>
  <Words>312</Words>
  <Application>Microsoft Office PowerPoint</Application>
  <PresentationFormat>On-screen Show (4:3)</PresentationFormat>
  <Paragraphs>131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Designing For The Multifaceted User</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Modeling User Groups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190</cp:revision>
  <dcterms:created xsi:type="dcterms:W3CDTF">2014-08-12T16:29:38Z</dcterms:created>
  <dcterms:modified xsi:type="dcterms:W3CDTF">2017-04-03T08:55:30Z</dcterms:modified>
</cp:coreProperties>
</file>