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3"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62" r:id="rId23"/>
    <p:sldId id="283" r:id="rId24"/>
    <p:sldId id="284" r:id="rId25"/>
    <p:sldId id="285" r:id="rId26"/>
    <p:sldId id="286" r:id="rId27"/>
    <p:sldId id="287" r:id="rId28"/>
    <p:sldId id="288" r:id="rId29"/>
    <p:sldId id="289" r:id="rId30"/>
    <p:sldId id="290" r:id="rId31"/>
    <p:sldId id="291" r:id="rId32"/>
    <p:sldId id="292" r:id="rId33"/>
    <p:sldId id="294" r:id="rId34"/>
    <p:sldId id="295" r:id="rId35"/>
    <p:sldId id="259"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E78462-CCA5-4CFA-A196-17550FE0A9E1}"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E78462-CCA5-4CFA-A196-17550FE0A9E1}"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E78462-CCA5-4CFA-A196-17550FE0A9E1}" type="datetimeFigureOut">
              <a:rPr lang="en-US" smtClean="0"/>
              <a:t>11/11/2024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E78462-CCA5-4CFA-A196-17550FE0A9E1}" type="datetimeFigureOut">
              <a:rPr lang="en-US" smtClean="0"/>
              <a:t>11/11/2024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78462-CCA5-4CFA-A196-17550FE0A9E1}" type="datetimeFigureOut">
              <a:rPr lang="en-US" smtClean="0"/>
              <a:t>11/11/2024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78462-CCA5-4CFA-A196-17550FE0A9E1}" type="datetimeFigureOut">
              <a:rPr lang="en-US" smtClean="0"/>
              <a:t>11/11/2024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en.wikipedia.org/wiki/DO-178C" TargetMode="External"/><Relationship Id="rId13" Type="http://schemas.openxmlformats.org/officeDocument/2006/relationships/hyperlink" Target="https://en.wikipedia.org/wiki/Software_safety#cite_note-iec60880-7" TargetMode="External"/><Relationship Id="rId3" Type="http://schemas.openxmlformats.org/officeDocument/2006/relationships/hyperlink" Target="https://en.wikipedia.org/wiki/IEC_61508" TargetMode="External"/><Relationship Id="rId7" Type="http://schemas.openxmlformats.org/officeDocument/2006/relationships/hyperlink" Target="https://en.wikipedia.org/wiki/Software_safety#cite_note-en50716-3" TargetMode="External"/><Relationship Id="rId12" Type="http://schemas.openxmlformats.org/officeDocument/2006/relationships/hyperlink" Target="https://en.wikipedia.org/wiki/Software_safety#cite_note-iec62304-6" TargetMode="External"/><Relationship Id="rId2" Type="http://schemas.openxmlformats.org/officeDocument/2006/relationships/hyperlink" Target="https://en.wikipedia.org/wiki/Safety-critical_system" TargetMode="External"/><Relationship Id="rId1" Type="http://schemas.openxmlformats.org/officeDocument/2006/relationships/slideLayout" Target="../slideLayouts/slideLayout2.xml"/><Relationship Id="rId6" Type="http://schemas.openxmlformats.org/officeDocument/2006/relationships/hyperlink" Target="https://en.wikipedia.org/wiki/Software_safety#cite_note-iso26262-2" TargetMode="External"/><Relationship Id="rId11" Type="http://schemas.openxmlformats.org/officeDocument/2006/relationships/hyperlink" Target="https://en.wikipedia.org/wiki/IEC_62304" TargetMode="External"/><Relationship Id="rId5" Type="http://schemas.openxmlformats.org/officeDocument/2006/relationships/hyperlink" Target="https://en.wikipedia.org/wiki/ISO_26262" TargetMode="External"/><Relationship Id="rId10" Type="http://schemas.openxmlformats.org/officeDocument/2006/relationships/hyperlink" Target="https://en.wikipedia.org/wiki/Software_safety#cite_note-do278a-5" TargetMode="External"/><Relationship Id="rId4" Type="http://schemas.openxmlformats.org/officeDocument/2006/relationships/hyperlink" Target="https://en.wikipedia.org/wiki/Software_safety#cite_note-iec61508-1" TargetMode="External"/><Relationship Id="rId9" Type="http://schemas.openxmlformats.org/officeDocument/2006/relationships/hyperlink" Target="https://en.wikipedia.org/wiki/Software_safety#cite_note-do178c-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student.cs.uwaterloo.ca/~cs492/LevesonSafety.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smtClean="0"/>
              <a:t>Software Safety</a:t>
            </a:r>
            <a:endParaRPr lang="en-US" sz="4000" dirty="0"/>
          </a:p>
        </p:txBody>
      </p:sp>
      <p:sp>
        <p:nvSpPr>
          <p:cNvPr id="7" name="Content Placeholder 2"/>
          <p:cNvSpPr>
            <a:spLocks noGrp="1"/>
          </p:cNvSpPr>
          <p:nvPr>
            <p:ph idx="1"/>
          </p:nvPr>
        </p:nvSpPr>
        <p:spPr>
          <a:xfrm>
            <a:off x="0" y="457200"/>
            <a:ext cx="9144000" cy="6400800"/>
          </a:xfrm>
        </p:spPr>
        <p:txBody>
          <a:bodyPr>
            <a:normAutofit fontScale="77500" lnSpcReduction="20000"/>
          </a:bodyPr>
          <a:lstStyle/>
          <a:p>
            <a:endParaRPr lang="en-US" sz="2400" dirty="0"/>
          </a:p>
          <a:p>
            <a:r>
              <a:rPr lang="en-US" b="1" dirty="0"/>
              <a:t>Software safety</a:t>
            </a:r>
            <a:r>
              <a:rPr lang="en-US" dirty="0"/>
              <a:t> (sometimes called software system safety) is an engineering discipline that aims to ensure that software, which is used in </a:t>
            </a:r>
            <a:r>
              <a:rPr lang="en-US" dirty="0">
                <a:hlinkClick r:id="rId2" tooltip="Safety-critical system"/>
              </a:rPr>
              <a:t>safety-related systems</a:t>
            </a:r>
            <a:r>
              <a:rPr lang="en-US" dirty="0"/>
              <a:t> (i.e. safety-related software), does not contribute to any hazards such a system might pose. </a:t>
            </a:r>
            <a:endParaRPr lang="en-US" dirty="0" smtClean="0"/>
          </a:p>
          <a:p>
            <a:r>
              <a:rPr lang="en-US" dirty="0" smtClean="0"/>
              <a:t>There </a:t>
            </a:r>
            <a:r>
              <a:rPr lang="en-US" dirty="0"/>
              <a:t>are numerous standards that govern the way how safety-related software should be developed and assured in various domains. </a:t>
            </a:r>
            <a:endParaRPr lang="en-US" dirty="0" smtClean="0"/>
          </a:p>
          <a:p>
            <a:r>
              <a:rPr lang="en-US" dirty="0" smtClean="0"/>
              <a:t>Most </a:t>
            </a:r>
            <a:r>
              <a:rPr lang="en-US" dirty="0"/>
              <a:t>of them classify software according to their criticality and propose techniques and measures that should be employed during the development and assurance:</a:t>
            </a:r>
          </a:p>
          <a:p>
            <a:pPr lvl="1"/>
            <a:r>
              <a:rPr lang="en-US" dirty="0"/>
              <a:t>Software for generic electronic safety-related systems: </a:t>
            </a:r>
            <a:r>
              <a:rPr lang="en-US" dirty="0">
                <a:hlinkClick r:id="rId3" tooltip="IEC 61508"/>
              </a:rPr>
              <a:t>IEC 61508</a:t>
            </a:r>
            <a:r>
              <a:rPr lang="en-US" baseline="30000" dirty="0">
                <a:hlinkClick r:id="rId4"/>
              </a:rPr>
              <a:t>[1]</a:t>
            </a:r>
            <a:r>
              <a:rPr lang="en-US" dirty="0"/>
              <a:t> (part 3 of the standard)</a:t>
            </a:r>
          </a:p>
          <a:p>
            <a:pPr lvl="1"/>
            <a:r>
              <a:rPr lang="en-US" dirty="0"/>
              <a:t>Automotive software: </a:t>
            </a:r>
            <a:r>
              <a:rPr lang="en-US" dirty="0">
                <a:hlinkClick r:id="rId5" tooltip="ISO 26262"/>
              </a:rPr>
              <a:t>ISO 26262</a:t>
            </a:r>
            <a:r>
              <a:rPr lang="en-US" baseline="30000" dirty="0">
                <a:hlinkClick r:id="rId6"/>
              </a:rPr>
              <a:t>[2]</a:t>
            </a:r>
            <a:r>
              <a:rPr lang="en-US" dirty="0"/>
              <a:t> (part 6 of the standard)</a:t>
            </a:r>
          </a:p>
          <a:p>
            <a:pPr lvl="1"/>
            <a:r>
              <a:rPr lang="en-US" dirty="0"/>
              <a:t>Railway software: EN 50716</a:t>
            </a:r>
            <a:r>
              <a:rPr lang="en-US" baseline="30000" dirty="0">
                <a:hlinkClick r:id="rId7"/>
              </a:rPr>
              <a:t>[3]</a:t>
            </a:r>
            <a:endParaRPr lang="en-US" dirty="0"/>
          </a:p>
          <a:p>
            <a:pPr lvl="1"/>
            <a:r>
              <a:rPr lang="en-US" dirty="0"/>
              <a:t>Airborne software: </a:t>
            </a:r>
            <a:r>
              <a:rPr lang="en-US" dirty="0">
                <a:hlinkClick r:id="rId8" tooltip="DO-178C"/>
              </a:rPr>
              <a:t>DO-178C/ED-12C</a:t>
            </a:r>
            <a:r>
              <a:rPr lang="en-US" dirty="0"/>
              <a:t>)</a:t>
            </a:r>
            <a:r>
              <a:rPr lang="en-US" baseline="30000" dirty="0">
                <a:hlinkClick r:id="rId9"/>
              </a:rPr>
              <a:t>[4]</a:t>
            </a:r>
            <a:endParaRPr lang="en-US" dirty="0"/>
          </a:p>
          <a:p>
            <a:pPr lvl="1"/>
            <a:r>
              <a:rPr lang="en-US" dirty="0"/>
              <a:t>Air traffic management software: DO-278A/ED-109A</a:t>
            </a:r>
            <a:r>
              <a:rPr lang="en-US" baseline="30000" dirty="0">
                <a:hlinkClick r:id="rId10"/>
              </a:rPr>
              <a:t>[5]</a:t>
            </a:r>
            <a:endParaRPr lang="en-US" dirty="0"/>
          </a:p>
          <a:p>
            <a:pPr lvl="1"/>
            <a:r>
              <a:rPr lang="en-US" dirty="0"/>
              <a:t>Medical devices: </a:t>
            </a:r>
            <a:r>
              <a:rPr lang="en-US" dirty="0">
                <a:hlinkClick r:id="rId11" tooltip="IEC 62304"/>
              </a:rPr>
              <a:t>IEC 62304</a:t>
            </a:r>
            <a:r>
              <a:rPr lang="en-US" baseline="30000" dirty="0">
                <a:hlinkClick r:id="rId12"/>
              </a:rPr>
              <a:t>[6]</a:t>
            </a:r>
            <a:endParaRPr lang="en-US" dirty="0"/>
          </a:p>
          <a:p>
            <a:pPr lvl="1"/>
            <a:r>
              <a:rPr lang="en-US" dirty="0"/>
              <a:t>Nuclear power plants: IEC 60880</a:t>
            </a:r>
            <a:r>
              <a:rPr lang="en-US" baseline="30000" dirty="0">
                <a:hlinkClick r:id="rId13"/>
              </a:rPr>
              <a:t>[7]</a:t>
            </a:r>
            <a:endParaRPr lang="en-US" dirty="0"/>
          </a:p>
        </p:txBody>
      </p:sp>
    </p:spTree>
    <p:extLst>
      <p:ext uri="{BB962C8B-B14F-4D97-AF65-F5344CB8AC3E}">
        <p14:creationId xmlns:p14="http://schemas.microsoft.com/office/powerpoint/2010/main" val="7087687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smtClean="0"/>
              <a:t>… Software Safety</a:t>
            </a:r>
            <a:endParaRPr lang="en-US" sz="4000" dirty="0"/>
          </a:p>
        </p:txBody>
      </p:sp>
      <p:sp>
        <p:nvSpPr>
          <p:cNvPr id="7" name="Content Placeholder 2"/>
          <p:cNvSpPr>
            <a:spLocks noGrp="1"/>
          </p:cNvSpPr>
          <p:nvPr>
            <p:ph idx="1"/>
          </p:nvPr>
        </p:nvSpPr>
        <p:spPr>
          <a:xfrm>
            <a:off x="0" y="457200"/>
            <a:ext cx="9144000" cy="6400800"/>
          </a:xfrm>
        </p:spPr>
        <p:txBody>
          <a:bodyPr>
            <a:normAutofit/>
          </a:bodyPr>
          <a:lstStyle/>
          <a:p>
            <a:endParaRPr lang="en-US" sz="2400" dirty="0"/>
          </a:p>
          <a:p>
            <a:r>
              <a:rPr lang="en-US" dirty="0"/>
              <a:t>Software safety issues become important when computers are used to control real-time, safety-critical processes. </a:t>
            </a:r>
            <a:endParaRPr lang="en-US" dirty="0" smtClean="0"/>
          </a:p>
          <a:p>
            <a:endParaRPr lang="en-US" dirty="0"/>
          </a:p>
        </p:txBody>
      </p:sp>
    </p:spTree>
    <p:extLst>
      <p:ext uri="{BB962C8B-B14F-4D97-AF65-F5344CB8AC3E}">
        <p14:creationId xmlns:p14="http://schemas.microsoft.com/office/powerpoint/2010/main" val="27235683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DESIGN FOR SAFETY</a:t>
            </a:r>
          </a:p>
        </p:txBody>
      </p:sp>
      <p:sp>
        <p:nvSpPr>
          <p:cNvPr id="7" name="Content Placeholder 2"/>
          <p:cNvSpPr>
            <a:spLocks noGrp="1"/>
          </p:cNvSpPr>
          <p:nvPr>
            <p:ph idx="1"/>
          </p:nvPr>
        </p:nvSpPr>
        <p:spPr>
          <a:xfrm>
            <a:off x="0" y="457200"/>
            <a:ext cx="9144000" cy="6400800"/>
          </a:xfrm>
        </p:spPr>
        <p:txBody>
          <a:bodyPr>
            <a:normAutofit/>
          </a:bodyPr>
          <a:lstStyle/>
          <a:p>
            <a:endParaRPr lang="en-US" sz="2400" dirty="0"/>
          </a:p>
          <a:p>
            <a:r>
              <a:rPr lang="en-US" dirty="0"/>
              <a:t>System safety has an accepted order of precedence for applying safety design techniques. </a:t>
            </a:r>
            <a:endParaRPr lang="en-US" dirty="0" smtClean="0"/>
          </a:p>
          <a:p>
            <a:r>
              <a:rPr lang="en-US" dirty="0" smtClean="0"/>
              <a:t>At </a:t>
            </a:r>
            <a:r>
              <a:rPr lang="en-US" dirty="0"/>
              <a:t>the highest level, a system is intrinsically safe if it is incapable of </a:t>
            </a:r>
            <a:r>
              <a:rPr lang="en-US" dirty="0" smtClean="0"/>
              <a:t>generating </a:t>
            </a:r>
            <a:r>
              <a:rPr lang="en-US" dirty="0"/>
              <a:t>or releasing sufficient energy or causing harmful exposures under normal or abnormal conditions (including outside forces and environmental failures) to create a hazardous occurrence, given the </a:t>
            </a:r>
            <a:r>
              <a:rPr lang="en-US" dirty="0" smtClean="0"/>
              <a:t>equipment </a:t>
            </a:r>
            <a:r>
              <a:rPr lang="en-US" dirty="0"/>
              <a:t>and personnel in their most </a:t>
            </a:r>
            <a:r>
              <a:rPr lang="en-US" dirty="0" smtClean="0"/>
              <a:t>vulnerable </a:t>
            </a:r>
            <a:r>
              <a:rPr lang="en-US" dirty="0"/>
              <a:t>condition [</a:t>
            </a:r>
            <a:r>
              <a:rPr lang="en-US" dirty="0" err="1"/>
              <a:t>Malasky</a:t>
            </a:r>
            <a:r>
              <a:rPr lang="en-US" dirty="0"/>
              <a:t> </a:t>
            </a:r>
            <a:r>
              <a:rPr lang="en-US" dirty="0" smtClean="0"/>
              <a:t>19821].</a:t>
            </a:r>
            <a:endParaRPr lang="en-US" dirty="0"/>
          </a:p>
        </p:txBody>
      </p:sp>
    </p:spTree>
    <p:extLst>
      <p:ext uri="{BB962C8B-B14F-4D97-AF65-F5344CB8AC3E}">
        <p14:creationId xmlns:p14="http://schemas.microsoft.com/office/powerpoint/2010/main" val="27637644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DESIGN FOR SAFETY</a:t>
            </a:r>
          </a:p>
        </p:txBody>
      </p:sp>
      <p:sp>
        <p:nvSpPr>
          <p:cNvPr id="7" name="Content Placeholder 2"/>
          <p:cNvSpPr>
            <a:spLocks noGrp="1"/>
          </p:cNvSpPr>
          <p:nvPr>
            <p:ph idx="1"/>
          </p:nvPr>
        </p:nvSpPr>
        <p:spPr>
          <a:xfrm>
            <a:off x="0" y="457200"/>
            <a:ext cx="9144000" cy="6400800"/>
          </a:xfrm>
        </p:spPr>
        <p:txBody>
          <a:bodyPr>
            <a:normAutofit/>
          </a:bodyPr>
          <a:lstStyle/>
          <a:p>
            <a:r>
              <a:rPr lang="en-US" dirty="0"/>
              <a:t>If an intrinsically safe design is not </a:t>
            </a:r>
            <a:r>
              <a:rPr lang="en-US" dirty="0" err="1"/>
              <a:t>possible</a:t>
            </a:r>
            <a:r>
              <a:rPr lang="en-US" dirty="0"/>
              <a:t> or practical, the preferred alternative is a design that prevents or minimizes the occurrence of hazards. </a:t>
            </a:r>
            <a:endParaRPr lang="en-US" dirty="0" smtClean="0"/>
          </a:p>
          <a:p>
            <a:r>
              <a:rPr lang="en-US" dirty="0" smtClean="0"/>
              <a:t>This </a:t>
            </a:r>
            <a:r>
              <a:rPr lang="en-US" dirty="0"/>
              <a:t>can be </a:t>
            </a:r>
            <a:r>
              <a:rPr lang="en-US" dirty="0" err="1"/>
              <a:t>accomplished</a:t>
            </a:r>
            <a:r>
              <a:rPr lang="en-US" dirty="0"/>
              <a:t> in hardware through such </a:t>
            </a:r>
            <a:r>
              <a:rPr lang="en-US" dirty="0" err="1"/>
              <a:t>techniques</a:t>
            </a:r>
            <a:r>
              <a:rPr lang="en-US" dirty="0"/>
              <a:t> as monitoring and automatic control (e.g., automatic pressure relief valves, speed governors, limit-level sensing controls), lockouts, </a:t>
            </a:r>
            <a:r>
              <a:rPr lang="en-US" dirty="0" err="1"/>
              <a:t>lockins</a:t>
            </a:r>
            <a:r>
              <a:rPr lang="en-US" dirty="0"/>
              <a:t>, and interlocks [Hammer 19721. </a:t>
            </a:r>
            <a:endParaRPr lang="en-US" dirty="0" smtClean="0"/>
          </a:p>
          <a:p>
            <a:r>
              <a:rPr lang="en-US" dirty="0" smtClean="0"/>
              <a:t>A </a:t>
            </a:r>
            <a:r>
              <a:rPr lang="en-US" dirty="0"/>
              <a:t>lockout device prevents an event from occurring or someone from entering a dangerous zone</a:t>
            </a:r>
            <a:r>
              <a:rPr lang="en-US" dirty="0" smtClean="0"/>
              <a:t>.</a:t>
            </a:r>
          </a:p>
          <a:p>
            <a:r>
              <a:rPr lang="en-US" dirty="0"/>
              <a:t>A </a:t>
            </a:r>
            <a:r>
              <a:rPr lang="en-US" dirty="0" err="1"/>
              <a:t>lockin</a:t>
            </a:r>
            <a:r>
              <a:rPr lang="en-US" dirty="0"/>
              <a:t> is provided to maintain an event or condition. </a:t>
            </a:r>
            <a:r>
              <a:rPr lang="en-US" dirty="0" smtClean="0"/>
              <a:t> </a:t>
            </a:r>
          </a:p>
        </p:txBody>
      </p:sp>
    </p:spTree>
    <p:extLst>
      <p:ext uri="{BB962C8B-B14F-4D97-AF65-F5344CB8AC3E}">
        <p14:creationId xmlns:p14="http://schemas.microsoft.com/office/powerpoint/2010/main" val="41308047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DESIGN FOR SAFETY</a:t>
            </a:r>
          </a:p>
        </p:txBody>
      </p:sp>
      <p:sp>
        <p:nvSpPr>
          <p:cNvPr id="7" name="Content Placeholder 2"/>
          <p:cNvSpPr>
            <a:spLocks noGrp="1"/>
          </p:cNvSpPr>
          <p:nvPr>
            <p:ph idx="1"/>
          </p:nvPr>
        </p:nvSpPr>
        <p:spPr>
          <a:xfrm>
            <a:off x="0" y="457200"/>
            <a:ext cx="9144000" cy="6400800"/>
          </a:xfrm>
        </p:spPr>
        <p:txBody>
          <a:bodyPr>
            <a:normAutofit/>
          </a:bodyPr>
          <a:lstStyle/>
          <a:p>
            <a:r>
              <a:rPr lang="en-US" dirty="0"/>
              <a:t>An interlock ensures that a sequence of operations occurs in the correct order; that is, it ensures that event A does not </a:t>
            </a:r>
            <a:r>
              <a:rPr lang="en-US" dirty="0" smtClean="0"/>
              <a:t>occur</a:t>
            </a:r>
          </a:p>
          <a:p>
            <a:pPr lvl="1"/>
            <a:r>
              <a:rPr lang="en-US" dirty="0" smtClean="0"/>
              <a:t> </a:t>
            </a:r>
            <a:r>
              <a:rPr lang="en-US" dirty="0"/>
              <a:t>(1) </a:t>
            </a:r>
            <a:r>
              <a:rPr lang="en-US" dirty="0" smtClean="0"/>
              <a:t>by accident </a:t>
            </a:r>
            <a:r>
              <a:rPr lang="en-US" dirty="0"/>
              <a:t>(e.g., a preliminary, intentional action B is required before A can occur), </a:t>
            </a:r>
            <a:endParaRPr lang="en-US" dirty="0" smtClean="0"/>
          </a:p>
          <a:p>
            <a:pPr lvl="1"/>
            <a:r>
              <a:rPr lang="en-US" dirty="0" smtClean="0"/>
              <a:t>(</a:t>
            </a:r>
            <a:r>
              <a:rPr lang="en-US" dirty="0"/>
              <a:t>2) while condition C exists (e.g., an access door is placed on high-voltage equipment so that when the door is opened, then the circuit is opened), </a:t>
            </a:r>
            <a:endParaRPr lang="en-US" dirty="0" smtClean="0"/>
          </a:p>
          <a:p>
            <a:pPr lvl="1"/>
            <a:r>
              <a:rPr lang="en-US" dirty="0" smtClean="0"/>
              <a:t>and </a:t>
            </a:r>
            <a:r>
              <a:rPr lang="en-US" dirty="0"/>
              <a:t>(3) before event D (e.g., the tank will fill only if the vent valve has been opened first).</a:t>
            </a:r>
            <a:endParaRPr lang="en-US" dirty="0" smtClean="0"/>
          </a:p>
        </p:txBody>
      </p:sp>
    </p:spTree>
    <p:extLst>
      <p:ext uri="{BB962C8B-B14F-4D97-AF65-F5344CB8AC3E}">
        <p14:creationId xmlns:p14="http://schemas.microsoft.com/office/powerpoint/2010/main" val="20491723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DESIGN FOR SAFETY</a:t>
            </a:r>
          </a:p>
        </p:txBody>
      </p:sp>
      <p:sp>
        <p:nvSpPr>
          <p:cNvPr id="7" name="Content Placeholder 2"/>
          <p:cNvSpPr>
            <a:spLocks noGrp="1"/>
          </p:cNvSpPr>
          <p:nvPr>
            <p:ph idx="1"/>
          </p:nvPr>
        </p:nvSpPr>
        <p:spPr>
          <a:xfrm>
            <a:off x="0" y="457200"/>
            <a:ext cx="9144000" cy="6400800"/>
          </a:xfrm>
        </p:spPr>
        <p:txBody>
          <a:bodyPr>
            <a:normAutofit/>
          </a:bodyPr>
          <a:lstStyle/>
          <a:p>
            <a:r>
              <a:rPr lang="en-US" dirty="0"/>
              <a:t>The next, less desirable choice is a design that controls the hazard, if it occurs, using automatic safety devices. </a:t>
            </a:r>
            <a:endParaRPr lang="en-US" dirty="0" smtClean="0"/>
          </a:p>
          <a:p>
            <a:r>
              <a:rPr lang="en-US" dirty="0" smtClean="0"/>
              <a:t>This </a:t>
            </a:r>
            <a:r>
              <a:rPr lang="en-US" dirty="0"/>
              <a:t>includes detection of hazards and fail-safe designs, as well as damage control, containment, and isolation of hazards. </a:t>
            </a:r>
            <a:endParaRPr lang="en-US" dirty="0" smtClean="0"/>
          </a:p>
          <a:p>
            <a:r>
              <a:rPr lang="en-US" dirty="0" smtClean="0"/>
              <a:t>The </a:t>
            </a:r>
            <a:r>
              <a:rPr lang="en-US" dirty="0"/>
              <a:t>lowest precedence design option is to provide warning devices, procedures, and training to help personnel react to the hazard.</a:t>
            </a:r>
            <a:endParaRPr lang="en-US" dirty="0" smtClean="0"/>
          </a:p>
        </p:txBody>
      </p:sp>
    </p:spTree>
    <p:extLst>
      <p:ext uri="{BB962C8B-B14F-4D97-AF65-F5344CB8AC3E}">
        <p14:creationId xmlns:p14="http://schemas.microsoft.com/office/powerpoint/2010/main" val="42040638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DESIGN FOR SAFETY</a:t>
            </a:r>
          </a:p>
        </p:txBody>
      </p:sp>
      <p:sp>
        <p:nvSpPr>
          <p:cNvPr id="7" name="Content Placeholder 2"/>
          <p:cNvSpPr>
            <a:spLocks noGrp="1"/>
          </p:cNvSpPr>
          <p:nvPr>
            <p:ph idx="1"/>
          </p:nvPr>
        </p:nvSpPr>
        <p:spPr>
          <a:xfrm>
            <a:off x="0" y="457200"/>
            <a:ext cx="9144000" cy="6400800"/>
          </a:xfrm>
        </p:spPr>
        <p:txBody>
          <a:bodyPr>
            <a:normAutofit/>
          </a:bodyPr>
          <a:lstStyle/>
          <a:p>
            <a:r>
              <a:rPr lang="en-US" dirty="0"/>
              <a:t>Many of these system safety design principles are applicable to software. </a:t>
            </a:r>
            <a:endParaRPr lang="en-US" dirty="0" smtClean="0"/>
          </a:p>
          <a:p>
            <a:r>
              <a:rPr lang="en-US" dirty="0" smtClean="0"/>
              <a:t>Note </a:t>
            </a:r>
            <a:r>
              <a:rPr lang="en-US" dirty="0"/>
              <a:t>that software safety is not an afterthought to software design; it needs to be designed in from the beginning. There are two general design principles: </a:t>
            </a:r>
            <a:endParaRPr lang="en-US" dirty="0" smtClean="0"/>
          </a:p>
          <a:p>
            <a:pPr lvl="1"/>
            <a:r>
              <a:rPr lang="en-US" dirty="0" smtClean="0"/>
              <a:t>(</a:t>
            </a:r>
            <a:r>
              <a:rPr lang="en-US" dirty="0"/>
              <a:t>1) the design should provide leverage for the certification effort by minimizing the amount of verification required and simplifying the certification procedure, </a:t>
            </a:r>
            <a:r>
              <a:rPr lang="en-US" dirty="0" smtClean="0"/>
              <a:t>and</a:t>
            </a:r>
          </a:p>
          <a:p>
            <a:pPr lvl="1"/>
            <a:r>
              <a:rPr lang="en-US" dirty="0" smtClean="0"/>
              <a:t> </a:t>
            </a:r>
            <a:r>
              <a:rPr lang="en-US" dirty="0"/>
              <a:t>(2) design features to increase safety must be carefully evaluated in terms of any complexity that might be added. An increase in complexity may have a negative effect on safety (as well as reliability). </a:t>
            </a:r>
            <a:endParaRPr lang="en-US" dirty="0" smtClean="0"/>
          </a:p>
        </p:txBody>
      </p:sp>
    </p:spTree>
    <p:extLst>
      <p:ext uri="{BB962C8B-B14F-4D97-AF65-F5344CB8AC3E}">
        <p14:creationId xmlns:p14="http://schemas.microsoft.com/office/powerpoint/2010/main" val="24550769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DESIGN FOR SAFETY</a:t>
            </a:r>
          </a:p>
        </p:txBody>
      </p:sp>
      <p:sp>
        <p:nvSpPr>
          <p:cNvPr id="7" name="Content Placeholder 2"/>
          <p:cNvSpPr>
            <a:spLocks noGrp="1"/>
          </p:cNvSpPr>
          <p:nvPr>
            <p:ph idx="1"/>
          </p:nvPr>
        </p:nvSpPr>
        <p:spPr>
          <a:xfrm>
            <a:off x="0" y="457200"/>
            <a:ext cx="9144000" cy="6400800"/>
          </a:xfrm>
        </p:spPr>
        <p:txBody>
          <a:bodyPr>
            <a:normAutofit fontScale="92500" lnSpcReduction="10000"/>
          </a:bodyPr>
          <a:lstStyle/>
          <a:p>
            <a:r>
              <a:rPr lang="en-US" dirty="0"/>
              <a:t>A safe software design includes not only standard software engineering and </a:t>
            </a:r>
            <a:r>
              <a:rPr lang="en-US" dirty="0" smtClean="0"/>
              <a:t>fault tolerance </a:t>
            </a:r>
            <a:r>
              <a:rPr lang="en-US" dirty="0"/>
              <a:t>techniques to enhance reliability, but also special safety features. </a:t>
            </a:r>
            <a:endParaRPr lang="en-US" dirty="0" smtClean="0"/>
          </a:p>
          <a:p>
            <a:r>
              <a:rPr lang="en-US" dirty="0" smtClean="0"/>
              <a:t>The </a:t>
            </a:r>
            <a:r>
              <a:rPr lang="en-US" dirty="0"/>
              <a:t>emphasis here is on those design features directly related to safety. </a:t>
            </a:r>
            <a:endParaRPr lang="en-US" dirty="0" smtClean="0"/>
          </a:p>
          <a:p>
            <a:r>
              <a:rPr lang="en-US" dirty="0" smtClean="0"/>
              <a:t>Risk </a:t>
            </a:r>
            <a:r>
              <a:rPr lang="en-US" dirty="0"/>
              <a:t>can be reduced by reducing hazard likelihood or severity, or both. </a:t>
            </a:r>
            <a:endParaRPr lang="en-US" dirty="0" smtClean="0"/>
          </a:p>
          <a:p>
            <a:r>
              <a:rPr lang="en-US" dirty="0" smtClean="0"/>
              <a:t>Two </a:t>
            </a:r>
            <a:r>
              <a:rPr lang="en-US" dirty="0"/>
              <a:t>approaches are possible: </a:t>
            </a:r>
            <a:endParaRPr lang="en-US" dirty="0" smtClean="0"/>
          </a:p>
          <a:p>
            <a:pPr lvl="1"/>
            <a:r>
              <a:rPr lang="en-US" dirty="0" smtClean="0"/>
              <a:t>Hazards can be prevented, </a:t>
            </a:r>
          </a:p>
          <a:p>
            <a:pPr lvl="1"/>
            <a:r>
              <a:rPr lang="en-US" dirty="0" smtClean="0"/>
              <a:t>or they can be detected and treated. </a:t>
            </a:r>
          </a:p>
          <a:p>
            <a:r>
              <a:rPr lang="en-US" dirty="0" smtClean="0"/>
              <a:t>Both </a:t>
            </a:r>
            <a:r>
              <a:rPr lang="en-US" dirty="0"/>
              <a:t>have drawbacks; prevention of hazards tends to involve reducing functionality or inhibiting design freedom, whereas detection of hazards is difficult and unreliable.</a:t>
            </a:r>
            <a:endParaRPr lang="en-US" dirty="0" smtClean="0"/>
          </a:p>
        </p:txBody>
      </p:sp>
    </p:spTree>
    <p:extLst>
      <p:ext uri="{BB962C8B-B14F-4D97-AF65-F5344CB8AC3E}">
        <p14:creationId xmlns:p14="http://schemas.microsoft.com/office/powerpoint/2010/main" val="8375586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Preventing Hazards through Software Design</a:t>
            </a:r>
          </a:p>
        </p:txBody>
      </p:sp>
      <p:sp>
        <p:nvSpPr>
          <p:cNvPr id="7" name="Content Placeholder 2"/>
          <p:cNvSpPr>
            <a:spLocks noGrp="1"/>
          </p:cNvSpPr>
          <p:nvPr>
            <p:ph idx="1"/>
          </p:nvPr>
        </p:nvSpPr>
        <p:spPr>
          <a:xfrm>
            <a:off x="0" y="457200"/>
            <a:ext cx="9144000" cy="6400800"/>
          </a:xfrm>
        </p:spPr>
        <p:txBody>
          <a:bodyPr>
            <a:normAutofit fontScale="92500" lnSpcReduction="20000"/>
          </a:bodyPr>
          <a:lstStyle/>
          <a:p>
            <a:r>
              <a:rPr lang="en-US" dirty="0"/>
              <a:t>Preventing hazards through design involves designing the software so that faults and failures cannot cause hazards; </a:t>
            </a:r>
            <a:endParaRPr lang="en-US" dirty="0" smtClean="0"/>
          </a:p>
          <a:p>
            <a:pPr lvl="1"/>
            <a:r>
              <a:rPr lang="en-US" dirty="0" smtClean="0"/>
              <a:t>either </a:t>
            </a:r>
            <a:r>
              <a:rPr lang="en-US" dirty="0"/>
              <a:t>the software design is made intrinsically safe </a:t>
            </a:r>
            <a:endParaRPr lang="en-US" dirty="0" smtClean="0"/>
          </a:p>
          <a:p>
            <a:pPr lvl="1"/>
            <a:r>
              <a:rPr lang="en-US" dirty="0" smtClean="0"/>
              <a:t>or </a:t>
            </a:r>
            <a:r>
              <a:rPr lang="en-US" dirty="0"/>
              <a:t>the number of software hazards is minimized. </a:t>
            </a:r>
            <a:endParaRPr lang="en-US" dirty="0" smtClean="0"/>
          </a:p>
          <a:p>
            <a:r>
              <a:rPr lang="en-US" dirty="0" smtClean="0"/>
              <a:t>Software </a:t>
            </a:r>
            <a:r>
              <a:rPr lang="en-US" dirty="0"/>
              <a:t>can create hazards through omission (failing to do something required) or commission (doing something that should not be done or doing it at the wrong time or in the wrong sequence). </a:t>
            </a:r>
            <a:endParaRPr lang="en-US" dirty="0" smtClean="0"/>
          </a:p>
          <a:p>
            <a:r>
              <a:rPr lang="en-US" dirty="0" smtClean="0"/>
              <a:t>Software </a:t>
            </a:r>
            <a:r>
              <a:rPr lang="en-US" dirty="0"/>
              <a:t>is usually tested extensively to try to ensure that it does what it is specified to do. Owing to its complexity, however, it may be able to do a lot more than the software designers specified (or intended). </a:t>
            </a:r>
            <a:endParaRPr lang="en-US" dirty="0" smtClean="0"/>
          </a:p>
          <a:p>
            <a:r>
              <a:rPr lang="en-US" b="1" dirty="0" smtClean="0"/>
              <a:t>Design </a:t>
            </a:r>
            <a:r>
              <a:rPr lang="en-US" b="1" dirty="0"/>
              <a:t>features can be used to limit the actions of the software.</a:t>
            </a:r>
            <a:endParaRPr lang="en-US" b="1" dirty="0" smtClean="0"/>
          </a:p>
        </p:txBody>
      </p:sp>
    </p:spTree>
    <p:extLst>
      <p:ext uri="{BB962C8B-B14F-4D97-AF65-F5344CB8AC3E}">
        <p14:creationId xmlns:p14="http://schemas.microsoft.com/office/powerpoint/2010/main" val="3908968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Preventing Hazards through Software Design</a:t>
            </a:r>
          </a:p>
        </p:txBody>
      </p:sp>
      <p:sp>
        <p:nvSpPr>
          <p:cNvPr id="7" name="Content Placeholder 2"/>
          <p:cNvSpPr>
            <a:spLocks noGrp="1"/>
          </p:cNvSpPr>
          <p:nvPr>
            <p:ph idx="1"/>
          </p:nvPr>
        </p:nvSpPr>
        <p:spPr>
          <a:xfrm>
            <a:off x="0" y="457200"/>
            <a:ext cx="9144000" cy="6400800"/>
          </a:xfrm>
        </p:spPr>
        <p:txBody>
          <a:bodyPr>
            <a:normAutofit/>
          </a:bodyPr>
          <a:lstStyle/>
          <a:p>
            <a:r>
              <a:rPr lang="en-US" dirty="0"/>
              <a:t>As an example, it may be possible to use modularization and data access limitation to separate noncritical functions from critical functions and to ensure that failures of noncritical modules cannot put the system into a hazardous state; that is, they cannot </a:t>
            </a:r>
            <a:r>
              <a:rPr lang="en-US" dirty="0" smtClean="0"/>
              <a:t>block </a:t>
            </a:r>
            <a:r>
              <a:rPr lang="en-US" dirty="0"/>
              <a:t>the operation of the safety-critical functions. </a:t>
            </a:r>
            <a:endParaRPr lang="en-US" dirty="0" smtClean="0"/>
          </a:p>
          <a:p>
            <a:r>
              <a:rPr lang="en-US" dirty="0" smtClean="0"/>
              <a:t>The </a:t>
            </a:r>
            <a:r>
              <a:rPr lang="en-US" dirty="0"/>
              <a:t>goal is to reduce the amount of software that affects safety (and thus reduce the verification effort involved) and to change as many potentially critical faults into noncritical faults as possible. </a:t>
            </a:r>
            <a:endParaRPr lang="en-US" dirty="0" smtClean="0"/>
          </a:p>
        </p:txBody>
      </p:sp>
    </p:spTree>
    <p:extLst>
      <p:ext uri="{BB962C8B-B14F-4D97-AF65-F5344CB8AC3E}">
        <p14:creationId xmlns:p14="http://schemas.microsoft.com/office/powerpoint/2010/main" val="15774320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HUMAN FACTORS ISSUES</a:t>
            </a:r>
          </a:p>
        </p:txBody>
      </p:sp>
      <p:sp>
        <p:nvSpPr>
          <p:cNvPr id="7" name="Content Placeholder 2"/>
          <p:cNvSpPr>
            <a:spLocks noGrp="1"/>
          </p:cNvSpPr>
          <p:nvPr>
            <p:ph idx="1"/>
          </p:nvPr>
        </p:nvSpPr>
        <p:spPr>
          <a:xfrm>
            <a:off x="0" y="457200"/>
            <a:ext cx="9144000" cy="6400800"/>
          </a:xfrm>
        </p:spPr>
        <p:txBody>
          <a:bodyPr>
            <a:normAutofit/>
          </a:bodyPr>
          <a:lstStyle/>
          <a:p>
            <a:r>
              <a:rPr lang="en-US" dirty="0"/>
              <a:t>As computers take over more and more monitoring and control functions in systems in which they are required to interact with humans, software engineers will need to consider human factors issues, especially with respect to software requirement specifications. </a:t>
            </a:r>
            <a:endParaRPr lang="en-US" dirty="0" smtClean="0"/>
          </a:p>
          <a:p>
            <a:r>
              <a:rPr lang="en-US" dirty="0" smtClean="0"/>
              <a:t>Several </a:t>
            </a:r>
            <a:r>
              <a:rPr lang="en-US" dirty="0"/>
              <a:t>issues arise with regard to safety.</a:t>
            </a:r>
            <a:endParaRPr lang="en-US" dirty="0" smtClean="0"/>
          </a:p>
        </p:txBody>
      </p:sp>
    </p:spTree>
    <p:extLst>
      <p:ext uri="{BB962C8B-B14F-4D97-AF65-F5344CB8AC3E}">
        <p14:creationId xmlns:p14="http://schemas.microsoft.com/office/powerpoint/2010/main" val="1665022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HUMAN FACTORS ISSUES</a:t>
            </a:r>
          </a:p>
        </p:txBody>
      </p:sp>
      <p:sp>
        <p:nvSpPr>
          <p:cNvPr id="7" name="Content Placeholder 2"/>
          <p:cNvSpPr>
            <a:spLocks noGrp="1"/>
          </p:cNvSpPr>
          <p:nvPr>
            <p:ph idx="1"/>
          </p:nvPr>
        </p:nvSpPr>
        <p:spPr>
          <a:xfrm>
            <a:off x="0" y="457200"/>
            <a:ext cx="9144000" cy="6400800"/>
          </a:xfrm>
        </p:spPr>
        <p:txBody>
          <a:bodyPr>
            <a:normAutofit/>
          </a:bodyPr>
          <a:lstStyle/>
          <a:p>
            <a:r>
              <a:rPr lang="en-US" dirty="0"/>
              <a:t>When designing a system that humans and computers will interact to control, one of the basic problems is the allocation of tasks between the human and computer. </a:t>
            </a:r>
            <a:endParaRPr lang="en-US" dirty="0" smtClean="0"/>
          </a:p>
          <a:p>
            <a:r>
              <a:rPr lang="en-US" dirty="0" smtClean="0"/>
              <a:t>The </a:t>
            </a:r>
            <a:r>
              <a:rPr lang="en-US" dirty="0"/>
              <a:t>goal is to optimize with respect to such criteria as speed of response, deviations of important variables, availability, and safety. </a:t>
            </a:r>
            <a:endParaRPr lang="en-US" dirty="0" smtClean="0"/>
          </a:p>
          <a:p>
            <a:r>
              <a:rPr lang="en-US" dirty="0" smtClean="0"/>
              <a:t>It </a:t>
            </a:r>
            <a:r>
              <a:rPr lang="en-US" dirty="0"/>
              <a:t>may not be possible to optimize all the variables because of conflicts, and therefore trade-offs must be considered.</a:t>
            </a:r>
            <a:endParaRPr lang="en-US" dirty="0" smtClean="0"/>
          </a:p>
        </p:txBody>
      </p:sp>
    </p:spTree>
    <p:extLst>
      <p:ext uri="{BB962C8B-B14F-4D97-AF65-F5344CB8AC3E}">
        <p14:creationId xmlns:p14="http://schemas.microsoft.com/office/powerpoint/2010/main" val="24000879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HUMAN FACTORS ISSUES</a:t>
            </a:r>
          </a:p>
        </p:txBody>
      </p:sp>
      <p:sp>
        <p:nvSpPr>
          <p:cNvPr id="7" name="Content Placeholder 2"/>
          <p:cNvSpPr>
            <a:spLocks noGrp="1"/>
          </p:cNvSpPr>
          <p:nvPr>
            <p:ph idx="1"/>
          </p:nvPr>
        </p:nvSpPr>
        <p:spPr>
          <a:xfrm>
            <a:off x="0" y="457200"/>
            <a:ext cx="9144000" cy="6400800"/>
          </a:xfrm>
        </p:spPr>
        <p:txBody>
          <a:bodyPr>
            <a:normAutofit/>
          </a:bodyPr>
          <a:lstStyle/>
          <a:p>
            <a:r>
              <a:rPr lang="en-US" dirty="0"/>
              <a:t>When designing a system that humans and computers will interact to control, one of the basic problems is the allocation of tasks between the human and computer</a:t>
            </a:r>
            <a:r>
              <a:rPr lang="en-US" dirty="0" smtClean="0"/>
              <a:t>.</a:t>
            </a:r>
          </a:p>
          <a:p>
            <a:r>
              <a:rPr lang="en-US" dirty="0" smtClean="0"/>
              <a:t> </a:t>
            </a:r>
            <a:r>
              <a:rPr lang="en-US" dirty="0"/>
              <a:t>The goal is to optimize with respect to such criteria as speed of response, deviations of important variables, availability, and safety. </a:t>
            </a:r>
            <a:endParaRPr lang="en-US" dirty="0" smtClean="0"/>
          </a:p>
          <a:p>
            <a:r>
              <a:rPr lang="en-US" dirty="0" smtClean="0"/>
              <a:t>It </a:t>
            </a:r>
            <a:r>
              <a:rPr lang="en-US" dirty="0"/>
              <a:t>may not be possible to optimize all the variables because of conflicts, and therefore trade-offs must be considered.</a:t>
            </a:r>
            <a:endParaRPr lang="en-US" dirty="0" smtClean="0"/>
          </a:p>
        </p:txBody>
      </p:sp>
    </p:spTree>
    <p:extLst>
      <p:ext uri="{BB962C8B-B14F-4D97-AF65-F5344CB8AC3E}">
        <p14:creationId xmlns:p14="http://schemas.microsoft.com/office/powerpoint/2010/main" val="13109458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HUMAN FACTORS ISSUES</a:t>
            </a:r>
          </a:p>
        </p:txBody>
      </p:sp>
      <p:sp>
        <p:nvSpPr>
          <p:cNvPr id="7" name="Content Placeholder 2"/>
          <p:cNvSpPr>
            <a:spLocks noGrp="1"/>
          </p:cNvSpPr>
          <p:nvPr>
            <p:ph idx="1"/>
          </p:nvPr>
        </p:nvSpPr>
        <p:spPr>
          <a:xfrm>
            <a:off x="0" y="457200"/>
            <a:ext cx="9144000" cy="6400800"/>
          </a:xfrm>
        </p:spPr>
        <p:txBody>
          <a:bodyPr>
            <a:normAutofit/>
          </a:bodyPr>
          <a:lstStyle/>
          <a:p>
            <a:r>
              <a:rPr lang="en-US" dirty="0"/>
              <a:t>An essential ingredient in solving the task allocation problem is knowledge of the ways in which multiple tasks may interact and subsequently degrade or enhance the performance of the human or computer. </a:t>
            </a:r>
            <a:endParaRPr lang="en-US" dirty="0" smtClean="0"/>
          </a:p>
          <a:p>
            <a:r>
              <a:rPr lang="en-US" dirty="0" smtClean="0"/>
              <a:t>Two </a:t>
            </a:r>
            <a:r>
              <a:rPr lang="en-US" dirty="0"/>
              <a:t>or more tasks may be complementary in that having responsibility for all of them leads to improved performance on each because they provide important information about each other. </a:t>
            </a:r>
            <a:endParaRPr lang="en-US" dirty="0" smtClean="0"/>
          </a:p>
          <a:p>
            <a:r>
              <a:rPr lang="en-US" dirty="0" smtClean="0"/>
              <a:t>On </a:t>
            </a:r>
            <a:r>
              <a:rPr lang="en-US" dirty="0"/>
              <a:t>the other hand, tasks can be mutually incompatible in that having responsibility for all of them degrades performance on each [Rouse </a:t>
            </a:r>
            <a:r>
              <a:rPr lang="en-US" dirty="0" smtClean="0"/>
              <a:t>1981]</a:t>
            </a:r>
            <a:endParaRPr lang="en-US" dirty="0" smtClean="0"/>
          </a:p>
        </p:txBody>
      </p:sp>
    </p:spTree>
    <p:extLst>
      <p:ext uri="{BB962C8B-B14F-4D97-AF65-F5344CB8AC3E}">
        <p14:creationId xmlns:p14="http://schemas.microsoft.com/office/powerpoint/2010/main" val="25751764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HUMAN FACTORS ISSUES</a:t>
            </a:r>
          </a:p>
        </p:txBody>
      </p:sp>
      <p:sp>
        <p:nvSpPr>
          <p:cNvPr id="7" name="Content Placeholder 2"/>
          <p:cNvSpPr>
            <a:spLocks noGrp="1"/>
          </p:cNvSpPr>
          <p:nvPr>
            <p:ph idx="1"/>
          </p:nvPr>
        </p:nvSpPr>
        <p:spPr>
          <a:xfrm>
            <a:off x="0" y="457200"/>
            <a:ext cx="9144000" cy="6400800"/>
          </a:xfrm>
        </p:spPr>
        <p:txBody>
          <a:bodyPr>
            <a:normAutofit/>
          </a:bodyPr>
          <a:lstStyle/>
          <a:p>
            <a:r>
              <a:rPr lang="en-US" dirty="0"/>
              <a:t>Rouse [1981] notes that there are two possible approaches to task allocation: </a:t>
            </a:r>
            <a:endParaRPr lang="en-US" dirty="0" smtClean="0"/>
          </a:p>
          <a:p>
            <a:pPr lvl="1"/>
            <a:r>
              <a:rPr lang="en-US" dirty="0" smtClean="0"/>
              <a:t>(</a:t>
            </a:r>
            <a:r>
              <a:rPr lang="en-US" dirty="0"/>
              <a:t>1) partition the tasks into two subsets, giving one to the computer and one to the human, </a:t>
            </a:r>
            <a:endParaRPr lang="en-US" dirty="0" smtClean="0"/>
          </a:p>
          <a:p>
            <a:pPr lvl="1"/>
            <a:r>
              <a:rPr lang="en-US" dirty="0" smtClean="0"/>
              <a:t>or </a:t>
            </a:r>
            <a:r>
              <a:rPr lang="en-US" dirty="0"/>
              <a:t>(2) dynamically allocate a particular task to the human or computer controller that has at the moment the most resources available for performing the task</a:t>
            </a:r>
            <a:r>
              <a:rPr lang="en-US" dirty="0" smtClean="0"/>
              <a:t>.</a:t>
            </a:r>
          </a:p>
          <a:p>
            <a:r>
              <a:rPr lang="en-US" dirty="0"/>
              <a:t>The question of whether the best results are achieved by automating the human operator’s tasks or by providing aids to </a:t>
            </a:r>
            <a:r>
              <a:rPr lang="en-US" dirty="0"/>
              <a:t>help the operator perform has not yet been answered. </a:t>
            </a:r>
          </a:p>
          <a:p>
            <a:endParaRPr lang="en-US" dirty="0" smtClean="0"/>
          </a:p>
        </p:txBody>
      </p:sp>
    </p:spTree>
    <p:extLst>
      <p:ext uri="{BB962C8B-B14F-4D97-AF65-F5344CB8AC3E}">
        <p14:creationId xmlns:p14="http://schemas.microsoft.com/office/powerpoint/2010/main" val="18045375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HUMAN FACTORS ISSUES</a:t>
            </a:r>
          </a:p>
        </p:txBody>
      </p:sp>
      <p:sp>
        <p:nvSpPr>
          <p:cNvPr id="7" name="Content Placeholder 2"/>
          <p:cNvSpPr>
            <a:spLocks noGrp="1"/>
          </p:cNvSpPr>
          <p:nvPr>
            <p:ph idx="1"/>
          </p:nvPr>
        </p:nvSpPr>
        <p:spPr>
          <a:xfrm>
            <a:off x="0" y="457200"/>
            <a:ext cx="9144000" cy="6400800"/>
          </a:xfrm>
        </p:spPr>
        <p:txBody>
          <a:bodyPr>
            <a:normAutofit/>
          </a:bodyPr>
          <a:lstStyle/>
          <a:p>
            <a:r>
              <a:rPr lang="en-US" dirty="0" smtClean="0"/>
              <a:t>The </a:t>
            </a:r>
            <a:r>
              <a:rPr lang="en-US" dirty="0"/>
              <a:t>current trend is to have the human become more of a monitor and supervisor, and less of a continuous controller</a:t>
            </a:r>
            <a:r>
              <a:rPr lang="en-US" dirty="0" smtClean="0"/>
              <a:t>.</a:t>
            </a:r>
          </a:p>
          <a:p>
            <a:r>
              <a:rPr lang="en-US" dirty="0" smtClean="0"/>
              <a:t> </a:t>
            </a:r>
            <a:r>
              <a:rPr lang="en-US" dirty="0"/>
              <a:t>As this happens, one of his or her primary responsibilities may be to detect system failures and diagnose their source. </a:t>
            </a:r>
            <a:endParaRPr lang="en-US" dirty="0" smtClean="0"/>
          </a:p>
          <a:p>
            <a:r>
              <a:rPr lang="en-US" dirty="0" smtClean="0"/>
              <a:t>A </a:t>
            </a:r>
            <a:r>
              <a:rPr lang="en-US" dirty="0"/>
              <a:t>particularly important issue in the area of failure detection concerns how the human’s performance is affected by simultaneously having other tasks to do in addition to failure detection. </a:t>
            </a:r>
            <a:endParaRPr lang="en-US" dirty="0" smtClean="0"/>
          </a:p>
        </p:txBody>
      </p:sp>
    </p:spTree>
    <p:extLst>
      <p:ext uri="{BB962C8B-B14F-4D97-AF65-F5344CB8AC3E}">
        <p14:creationId xmlns:p14="http://schemas.microsoft.com/office/powerpoint/2010/main" val="368610645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HUMAN FACTORS ISSUES</a:t>
            </a:r>
          </a:p>
        </p:txBody>
      </p:sp>
      <p:sp>
        <p:nvSpPr>
          <p:cNvPr id="7" name="Content Placeholder 2"/>
          <p:cNvSpPr>
            <a:spLocks noGrp="1"/>
          </p:cNvSpPr>
          <p:nvPr>
            <p:ph idx="1"/>
          </p:nvPr>
        </p:nvSpPr>
        <p:spPr>
          <a:xfrm>
            <a:off x="0" y="457200"/>
            <a:ext cx="9144000" cy="6400800"/>
          </a:xfrm>
        </p:spPr>
        <p:txBody>
          <a:bodyPr>
            <a:normAutofit/>
          </a:bodyPr>
          <a:lstStyle/>
          <a:p>
            <a:r>
              <a:rPr lang="en-US" dirty="0"/>
              <a:t>Experimental data are conflicting [</a:t>
            </a:r>
            <a:r>
              <a:rPr lang="en-US" dirty="0" err="1"/>
              <a:t>Ephrath</a:t>
            </a:r>
            <a:r>
              <a:rPr lang="en-US" dirty="0"/>
              <a:t> and Young 1981; Rouse 1981; Shirley 19821. </a:t>
            </a:r>
            <a:endParaRPr lang="en-US" dirty="0" smtClean="0"/>
          </a:p>
          <a:p>
            <a:r>
              <a:rPr lang="en-US" dirty="0" smtClean="0"/>
              <a:t>Rouse </a:t>
            </a:r>
            <a:r>
              <a:rPr lang="en-US" dirty="0"/>
              <a:t>[1981] suggests that having to control while monitoring for failures is beneficial if performing the control task provides cues that directly help to detect failures and if the work load is low enough to allow the human to utilize the cues. </a:t>
            </a:r>
            <a:endParaRPr lang="en-US" dirty="0" smtClean="0"/>
          </a:p>
          <a:p>
            <a:r>
              <a:rPr lang="en-US" dirty="0" smtClean="0"/>
              <a:t>Otherwise</a:t>
            </a:r>
            <a:r>
              <a:rPr lang="en-US" dirty="0"/>
              <a:t>, controlling simply increases the work load and decreases the amount of attention that can be devoted to failure detection.</a:t>
            </a:r>
            <a:endParaRPr lang="en-US" dirty="0" smtClean="0"/>
          </a:p>
        </p:txBody>
      </p:sp>
    </p:spTree>
    <p:extLst>
      <p:ext uri="{BB962C8B-B14F-4D97-AF65-F5344CB8AC3E}">
        <p14:creationId xmlns:p14="http://schemas.microsoft.com/office/powerpoint/2010/main" val="4245116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HUMAN FACTORS ISSUES</a:t>
            </a:r>
          </a:p>
        </p:txBody>
      </p:sp>
      <p:sp>
        <p:nvSpPr>
          <p:cNvPr id="7" name="Content Placeholder 2"/>
          <p:cNvSpPr>
            <a:spLocks noGrp="1"/>
          </p:cNvSpPr>
          <p:nvPr>
            <p:ph idx="1"/>
          </p:nvPr>
        </p:nvSpPr>
        <p:spPr>
          <a:xfrm>
            <a:off x="0" y="457200"/>
            <a:ext cx="9144000" cy="6400800"/>
          </a:xfrm>
        </p:spPr>
        <p:txBody>
          <a:bodyPr>
            <a:normAutofit fontScale="92500" lnSpcReduction="20000"/>
          </a:bodyPr>
          <a:lstStyle/>
          <a:p>
            <a:r>
              <a:rPr lang="en-US" dirty="0"/>
              <a:t>Another aspect of complacency has been noted with regard to robots</a:t>
            </a:r>
            <a:r>
              <a:rPr lang="en-US" dirty="0" smtClean="0"/>
              <a:t>.</a:t>
            </a:r>
          </a:p>
          <a:p>
            <a:r>
              <a:rPr lang="en-US" dirty="0" smtClean="0"/>
              <a:t> </a:t>
            </a:r>
            <a:r>
              <a:rPr lang="en-US" dirty="0"/>
              <a:t>For example, Park [1978] suggests that warning signals that a robot arm is moving should not be present continuously because humans quickly become insensitive to constant stimuli. </a:t>
            </a:r>
            <a:endParaRPr lang="en-US" dirty="0" smtClean="0"/>
          </a:p>
          <a:p>
            <a:r>
              <a:rPr lang="en-US" dirty="0" smtClean="0"/>
              <a:t>Humans </a:t>
            </a:r>
            <a:r>
              <a:rPr lang="en-US" dirty="0"/>
              <a:t>also commonly make mistaken assumptions about robot movements. </a:t>
            </a:r>
            <a:endParaRPr lang="en-US" dirty="0" smtClean="0"/>
          </a:p>
          <a:p>
            <a:r>
              <a:rPr lang="en-US" dirty="0" smtClean="0"/>
              <a:t>For </a:t>
            </a:r>
            <a:r>
              <a:rPr lang="en-US" dirty="0"/>
              <a:t>example, if the arm is not moving, they assume that it is not going to move; if the arm is repeating one pattern of motion, they assume that it will continue to repeat that pattern; if the arm is moving slowly, they assume that it will continue to move slowly; and if they tell the arm to move, they assume that it will move the way they want it to.</a:t>
            </a:r>
            <a:endParaRPr lang="en-US" dirty="0" smtClean="0"/>
          </a:p>
        </p:txBody>
      </p:sp>
    </p:spTree>
    <p:extLst>
      <p:ext uri="{BB962C8B-B14F-4D97-AF65-F5344CB8AC3E}">
        <p14:creationId xmlns:p14="http://schemas.microsoft.com/office/powerpoint/2010/main" val="30338528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HUMAN FACTORS ISSUES</a:t>
            </a:r>
          </a:p>
        </p:txBody>
      </p:sp>
      <p:sp>
        <p:nvSpPr>
          <p:cNvPr id="7" name="Content Placeholder 2"/>
          <p:cNvSpPr>
            <a:spLocks noGrp="1"/>
          </p:cNvSpPr>
          <p:nvPr>
            <p:ph idx="1"/>
          </p:nvPr>
        </p:nvSpPr>
        <p:spPr>
          <a:xfrm>
            <a:off x="0" y="457200"/>
            <a:ext cx="9144000" cy="6400800"/>
          </a:xfrm>
        </p:spPr>
        <p:txBody>
          <a:bodyPr>
            <a:normAutofit/>
          </a:bodyPr>
          <a:lstStyle/>
          <a:p>
            <a:r>
              <a:rPr lang="en-US" dirty="0"/>
              <a:t>There are other interesting issues with respect to safety and human factors. </a:t>
            </a:r>
            <a:endParaRPr lang="en-US" dirty="0" smtClean="0"/>
          </a:p>
          <a:p>
            <a:r>
              <a:rPr lang="en-US" dirty="0" smtClean="0"/>
              <a:t>One </a:t>
            </a:r>
            <a:r>
              <a:rPr lang="en-US" dirty="0"/>
              <a:t>is selecting the amount, type, and structure of information presented to the human under both normal and emergency conditions in order to optimize the human’s performance. </a:t>
            </a:r>
            <a:endParaRPr lang="en-US" dirty="0" smtClean="0"/>
          </a:p>
          <a:p>
            <a:r>
              <a:rPr lang="en-US" dirty="0" smtClean="0"/>
              <a:t>Another </a:t>
            </a:r>
            <a:r>
              <a:rPr lang="en-US" dirty="0"/>
              <a:t>is maintaining human confidence in the automated system. </a:t>
            </a:r>
            <a:endParaRPr lang="en-US" dirty="0" smtClean="0"/>
          </a:p>
          <a:p>
            <a:r>
              <a:rPr lang="en-US" dirty="0" smtClean="0"/>
              <a:t>For </a:t>
            </a:r>
            <a:r>
              <a:rPr lang="en-US" dirty="0"/>
              <a:t>example, unless the pilot has confidence in an aircraft </a:t>
            </a:r>
            <a:r>
              <a:rPr lang="en-US" dirty="0" err="1"/>
              <a:t>autolanding</a:t>
            </a:r>
            <a:r>
              <a:rPr lang="en-US" dirty="0"/>
              <a:t> system, he or she is likely to disconnect it instead of allowing the landing to be completed automatically [</a:t>
            </a:r>
            <a:r>
              <a:rPr lang="en-US" dirty="0" err="1"/>
              <a:t>Mineck</a:t>
            </a:r>
            <a:r>
              <a:rPr lang="en-US" dirty="0"/>
              <a:t> et al. </a:t>
            </a:r>
            <a:r>
              <a:rPr lang="en-US" dirty="0" smtClean="0"/>
              <a:t>1972]. </a:t>
            </a:r>
            <a:endParaRPr lang="en-US" dirty="0" smtClean="0"/>
          </a:p>
        </p:txBody>
      </p:sp>
    </p:spTree>
    <p:extLst>
      <p:ext uri="{BB962C8B-B14F-4D97-AF65-F5344CB8AC3E}">
        <p14:creationId xmlns:p14="http://schemas.microsoft.com/office/powerpoint/2010/main" val="29491787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HUMAN FACTORS ISSUES</a:t>
            </a:r>
          </a:p>
        </p:txBody>
      </p:sp>
      <p:sp>
        <p:nvSpPr>
          <p:cNvPr id="7" name="Content Placeholder 2"/>
          <p:cNvSpPr>
            <a:spLocks noGrp="1"/>
          </p:cNvSpPr>
          <p:nvPr>
            <p:ph idx="1"/>
          </p:nvPr>
        </p:nvSpPr>
        <p:spPr>
          <a:xfrm>
            <a:off x="0" y="457200"/>
            <a:ext cx="9144000" cy="6400800"/>
          </a:xfrm>
        </p:spPr>
        <p:txBody>
          <a:bodyPr>
            <a:normAutofit/>
          </a:bodyPr>
          <a:lstStyle/>
          <a:p>
            <a:r>
              <a:rPr lang="en-US" dirty="0"/>
              <a:t>A final issue is that of spurious shutdowns. </a:t>
            </a:r>
            <a:endParaRPr lang="en-US" dirty="0" smtClean="0"/>
          </a:p>
          <a:p>
            <a:r>
              <a:rPr lang="en-US" dirty="0" smtClean="0"/>
              <a:t>Although </a:t>
            </a:r>
            <a:r>
              <a:rPr lang="en-US" dirty="0"/>
              <a:t>it is important that the computer provide fail-safe facilities, evidence shows that, if the rate of spurious shutdowns or spurious warnings is too high, operators can be tempted to ignore them or to make unauthorized modifications in relevant devices to avoid them [</a:t>
            </a:r>
            <a:r>
              <a:rPr lang="en-US" dirty="0" err="1"/>
              <a:t>Chamoux</a:t>
            </a:r>
            <a:r>
              <a:rPr lang="en-US" dirty="0"/>
              <a:t> and </a:t>
            </a:r>
            <a:r>
              <a:rPr lang="en-US" dirty="0" err="1"/>
              <a:t>Schmid</a:t>
            </a:r>
            <a:r>
              <a:rPr lang="en-US" dirty="0"/>
              <a:t> </a:t>
            </a:r>
            <a:r>
              <a:rPr lang="en-US" dirty="0" smtClean="0"/>
              <a:t>1983].</a:t>
            </a:r>
            <a:endParaRPr lang="en-US" dirty="0" smtClean="0"/>
          </a:p>
        </p:txBody>
      </p:sp>
    </p:spTree>
    <p:extLst>
      <p:ext uri="{BB962C8B-B14F-4D97-AF65-F5344CB8AC3E}">
        <p14:creationId xmlns:p14="http://schemas.microsoft.com/office/powerpoint/2010/main" val="27531940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a:t>HUMAN FACTORS ISSUES</a:t>
            </a:r>
          </a:p>
        </p:txBody>
      </p:sp>
      <p:sp>
        <p:nvSpPr>
          <p:cNvPr id="7" name="Content Placeholder 2"/>
          <p:cNvSpPr>
            <a:spLocks noGrp="1"/>
          </p:cNvSpPr>
          <p:nvPr>
            <p:ph idx="1"/>
          </p:nvPr>
        </p:nvSpPr>
        <p:spPr>
          <a:xfrm>
            <a:off x="0" y="457200"/>
            <a:ext cx="9144000" cy="6400800"/>
          </a:xfrm>
        </p:spPr>
        <p:txBody>
          <a:bodyPr>
            <a:normAutofit fontScale="92500" lnSpcReduction="10000"/>
          </a:bodyPr>
          <a:lstStyle/>
          <a:p>
            <a:r>
              <a:rPr lang="en-US" dirty="0"/>
              <a:t>Considering the much-repeated </a:t>
            </a:r>
            <a:r>
              <a:rPr lang="en-US" dirty="0" smtClean="0"/>
              <a:t>statement </a:t>
            </a:r>
            <a:r>
              <a:rPr lang="en-US" dirty="0"/>
              <a:t>in this paper that mishaps often result from unanticipated events and </a:t>
            </a:r>
            <a:r>
              <a:rPr lang="en-US" dirty="0" smtClean="0"/>
              <a:t>conditions</a:t>
            </a:r>
            <a:r>
              <a:rPr lang="en-US" dirty="0"/>
              <a:t>, it is doubtful that computers will be able to cope with emergencies as well as humans can. </a:t>
            </a:r>
            <a:endParaRPr lang="en-US" dirty="0" smtClean="0"/>
          </a:p>
          <a:p>
            <a:r>
              <a:rPr lang="en-US" dirty="0" smtClean="0"/>
              <a:t>The </a:t>
            </a:r>
            <a:r>
              <a:rPr lang="en-US" dirty="0"/>
              <a:t>emphasis should be on providing the human operator with an operational environment and appropriate information that will allow intervention in a timely and correct manner. </a:t>
            </a:r>
            <a:endParaRPr lang="en-US" dirty="0" smtClean="0"/>
          </a:p>
          <a:p>
            <a:r>
              <a:rPr lang="en-US" dirty="0" smtClean="0"/>
              <a:t>Since </a:t>
            </a:r>
            <a:r>
              <a:rPr lang="en-US" dirty="0"/>
              <a:t>this involves software requirements and design, it is important that </a:t>
            </a:r>
            <a:endParaRPr lang="en-US" dirty="0" smtClean="0"/>
          </a:p>
          <a:p>
            <a:pPr lvl="1"/>
            <a:r>
              <a:rPr lang="en-US" dirty="0" smtClean="0"/>
              <a:t>(</a:t>
            </a:r>
            <a:r>
              <a:rPr lang="en-US" dirty="0"/>
              <a:t>1) software engineers become more familiar with human factors issues and </a:t>
            </a:r>
            <a:endParaRPr lang="en-US" dirty="0" smtClean="0"/>
          </a:p>
          <a:p>
            <a:pPr lvl="1"/>
            <a:r>
              <a:rPr lang="en-US" dirty="0" smtClean="0"/>
              <a:t>(</a:t>
            </a:r>
            <a:r>
              <a:rPr lang="en-US" dirty="0"/>
              <a:t>2) requirement specification procedures and fault-tolerance techniques consider human/computer interaction.</a:t>
            </a:r>
            <a:endParaRPr lang="en-US" dirty="0" smtClean="0"/>
          </a:p>
        </p:txBody>
      </p:sp>
    </p:spTree>
    <p:extLst>
      <p:ext uri="{BB962C8B-B14F-4D97-AF65-F5344CB8AC3E}">
        <p14:creationId xmlns:p14="http://schemas.microsoft.com/office/powerpoint/2010/main" val="7165377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smtClean="0"/>
              <a:t>Ethics in HCI</a:t>
            </a:r>
            <a:endParaRPr lang="en-US" sz="4000" dirty="0"/>
          </a:p>
        </p:txBody>
      </p:sp>
      <p:sp>
        <p:nvSpPr>
          <p:cNvPr id="7" name="Content Placeholder 2"/>
          <p:cNvSpPr>
            <a:spLocks noGrp="1"/>
          </p:cNvSpPr>
          <p:nvPr>
            <p:ph idx="1"/>
          </p:nvPr>
        </p:nvSpPr>
        <p:spPr>
          <a:xfrm>
            <a:off x="0" y="457200"/>
            <a:ext cx="9144000" cy="6400800"/>
          </a:xfrm>
        </p:spPr>
        <p:txBody>
          <a:bodyPr>
            <a:normAutofit/>
          </a:bodyPr>
          <a:lstStyle/>
          <a:p>
            <a:endParaRPr lang="en-US" sz="2400" dirty="0"/>
          </a:p>
          <a:p>
            <a:r>
              <a:rPr lang="en-US" sz="2800" dirty="0"/>
              <a:t>Users are human. </a:t>
            </a:r>
            <a:endParaRPr lang="en-US" sz="2800" dirty="0" smtClean="0"/>
          </a:p>
          <a:p>
            <a:r>
              <a:rPr lang="en-US" sz="2800" dirty="0" smtClean="0"/>
              <a:t>As </a:t>
            </a:r>
            <a:r>
              <a:rPr lang="en-US" sz="2800" dirty="0"/>
              <a:t>HCI professionals we must be sure that our fellow humans perceive their encounter with usability and design professionals as pleasant without sacrificing the accuracy of our results</a:t>
            </a:r>
            <a:r>
              <a:rPr lang="en-US" sz="2800" dirty="0" smtClean="0"/>
              <a:t>.</a:t>
            </a:r>
          </a:p>
          <a:p>
            <a:r>
              <a:rPr lang="en-US" sz="2800" dirty="0" smtClean="0"/>
              <a:t>There </a:t>
            </a:r>
            <a:r>
              <a:rPr lang="en-US" sz="2800" dirty="0"/>
              <a:t>are guidelines produced by professional organizations like the APA and the ACM about how HCI professionals should behave. </a:t>
            </a:r>
            <a:endParaRPr lang="en-US" sz="2800" dirty="0" smtClean="0"/>
          </a:p>
          <a:p>
            <a:r>
              <a:rPr lang="en-US" sz="2800" dirty="0" smtClean="0"/>
              <a:t>However</a:t>
            </a:r>
            <a:r>
              <a:rPr lang="en-US" sz="2800" dirty="0"/>
              <a:t>, there are few examples from real life about how to translate this information into everyday behavior. </a:t>
            </a:r>
            <a:endParaRPr lang="en-US" sz="2800" dirty="0" smtClean="0"/>
          </a:p>
        </p:txBody>
      </p:sp>
    </p:spTree>
    <p:extLst>
      <p:ext uri="{BB962C8B-B14F-4D97-AF65-F5344CB8AC3E}">
        <p14:creationId xmlns:p14="http://schemas.microsoft.com/office/powerpoint/2010/main" val="34110948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447800"/>
          </a:xfrm>
        </p:spPr>
        <p:txBody>
          <a:bodyPr>
            <a:normAutofit fontScale="90000"/>
          </a:bodyPr>
          <a:lstStyle/>
          <a:p>
            <a:r>
              <a:rPr lang="en-US" sz="4000" dirty="0" smtClean="0"/>
              <a:t>Ethics in HCI - </a:t>
            </a:r>
            <a:r>
              <a:rPr lang="en-US" sz="4000" dirty="0"/>
              <a:t>Ethics, HCI professional issues, social computing Informed consent and User Self-Esteem </a:t>
            </a:r>
          </a:p>
        </p:txBody>
      </p:sp>
      <p:sp>
        <p:nvSpPr>
          <p:cNvPr id="7" name="Content Placeholder 2"/>
          <p:cNvSpPr>
            <a:spLocks noGrp="1"/>
          </p:cNvSpPr>
          <p:nvPr>
            <p:ph idx="1"/>
          </p:nvPr>
        </p:nvSpPr>
        <p:spPr>
          <a:xfrm>
            <a:off x="0" y="1447800"/>
            <a:ext cx="9144000" cy="5410200"/>
          </a:xfrm>
        </p:spPr>
        <p:txBody>
          <a:bodyPr>
            <a:normAutofit fontScale="92500"/>
          </a:bodyPr>
          <a:lstStyle/>
          <a:p>
            <a:endParaRPr lang="en-US" sz="2400" dirty="0"/>
          </a:p>
          <a:p>
            <a:r>
              <a:rPr lang="en-US" sz="2400" dirty="0" smtClean="0"/>
              <a:t>However</a:t>
            </a:r>
            <a:r>
              <a:rPr lang="en-US" sz="2400" dirty="0"/>
              <a:t>, there are few examples from real life about how to translate this information into everyday behavior. </a:t>
            </a:r>
            <a:endParaRPr lang="en-US" sz="2400" dirty="0" smtClean="0"/>
          </a:p>
          <a:p>
            <a:r>
              <a:rPr lang="en-US" sz="2400" dirty="0" smtClean="0"/>
              <a:t>Consider </a:t>
            </a:r>
            <a:r>
              <a:rPr lang="en-US" sz="2400" dirty="0"/>
              <a:t>a simple example, the use of videotape in usability and field studies. </a:t>
            </a:r>
            <a:endParaRPr lang="en-US" sz="2400" dirty="0" smtClean="0"/>
          </a:p>
          <a:p>
            <a:r>
              <a:rPr lang="en-US" sz="2400" dirty="0" smtClean="0"/>
              <a:t>Wendy </a:t>
            </a:r>
            <a:r>
              <a:rPr lang="en-US" sz="2400" dirty="0"/>
              <a:t>Mackay, in one of the few papers specific to the HCI community [4], wrote of how easy it is to compromise our integrity when we employ video (or audio) to present our results and influence others. </a:t>
            </a:r>
            <a:endParaRPr lang="en-US" sz="2400" dirty="0" smtClean="0"/>
          </a:p>
          <a:p>
            <a:r>
              <a:rPr lang="en-US" sz="2400" dirty="0" smtClean="0"/>
              <a:t>For </a:t>
            </a:r>
            <a:r>
              <a:rPr lang="en-US" sz="2400" dirty="0"/>
              <a:t>example, a question that Mackay asks is “do we need to have internal participants who have already signed an employee agreement about being videotaped also sign a consent form?” Many HCI colleagues </a:t>
            </a:r>
            <a:r>
              <a:rPr lang="en-US" sz="2400" dirty="0" smtClean="0"/>
              <a:t>sacrifice </a:t>
            </a:r>
            <a:r>
              <a:rPr lang="en-US" sz="2400" dirty="0"/>
              <a:t>the consent form for internal participants, but </a:t>
            </a:r>
            <a:r>
              <a:rPr lang="en-US" sz="2400" b="1" dirty="0"/>
              <a:t>this is probably an ethical violation since a video of an internal person doing poorly on a task could affect his/her reputation at work.</a:t>
            </a:r>
            <a:endParaRPr lang="en-US" sz="2400" b="1" dirty="0" smtClean="0"/>
          </a:p>
        </p:txBody>
      </p:sp>
    </p:spTree>
    <p:extLst>
      <p:ext uri="{BB962C8B-B14F-4D97-AF65-F5344CB8AC3E}">
        <p14:creationId xmlns:p14="http://schemas.microsoft.com/office/powerpoint/2010/main" val="8701880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447800"/>
          </a:xfrm>
        </p:spPr>
        <p:txBody>
          <a:bodyPr>
            <a:normAutofit fontScale="90000"/>
          </a:bodyPr>
          <a:lstStyle/>
          <a:p>
            <a:r>
              <a:rPr lang="en-US" sz="4000" dirty="0" smtClean="0"/>
              <a:t>Ethics in HCI - </a:t>
            </a:r>
            <a:r>
              <a:rPr lang="en-US" sz="4000" dirty="0"/>
              <a:t>Ethics, HCI professional issues, social computing Informed consent and User Self-Esteem </a:t>
            </a:r>
          </a:p>
        </p:txBody>
      </p:sp>
      <p:sp>
        <p:nvSpPr>
          <p:cNvPr id="7" name="Content Placeholder 2"/>
          <p:cNvSpPr>
            <a:spLocks noGrp="1"/>
          </p:cNvSpPr>
          <p:nvPr>
            <p:ph idx="1"/>
          </p:nvPr>
        </p:nvSpPr>
        <p:spPr>
          <a:xfrm>
            <a:off x="0" y="1447800"/>
            <a:ext cx="9144000" cy="5410200"/>
          </a:xfrm>
        </p:spPr>
        <p:txBody>
          <a:bodyPr>
            <a:normAutofit/>
          </a:bodyPr>
          <a:lstStyle/>
          <a:p>
            <a:r>
              <a:rPr lang="en-US" sz="2400" b="1" dirty="0" smtClean="0"/>
              <a:t>Our </a:t>
            </a:r>
            <a:r>
              <a:rPr lang="en-US" sz="2400" b="1" dirty="0"/>
              <a:t>belief is that internal participants should be afforded equal (or perhaps greater) protection than external participants, even to the extent of promising that their tape will not be shown to anyone other than the HCI team. </a:t>
            </a:r>
            <a:endParaRPr lang="en-US" sz="2400" b="1" dirty="0" smtClean="0"/>
          </a:p>
          <a:p>
            <a:r>
              <a:rPr lang="en-US" sz="2400" b="1" dirty="0" smtClean="0"/>
              <a:t>A </a:t>
            </a:r>
            <a:r>
              <a:rPr lang="en-US" sz="2400" b="1" dirty="0"/>
              <a:t>key ethical </a:t>
            </a:r>
            <a:r>
              <a:rPr lang="en-US" sz="2400" b="1" dirty="0" smtClean="0"/>
              <a:t>principle </a:t>
            </a:r>
            <a:r>
              <a:rPr lang="en-US" sz="2400" b="1" dirty="0"/>
              <a:t>is that the participant should leave a test feeling no worse than when they arrived and ideally should feel better because they learned something, or contributed to a better design. </a:t>
            </a:r>
            <a:endParaRPr lang="en-US" sz="2400" b="1" dirty="0" smtClean="0"/>
          </a:p>
        </p:txBody>
      </p:sp>
    </p:spTree>
    <p:extLst>
      <p:ext uri="{BB962C8B-B14F-4D97-AF65-F5344CB8AC3E}">
        <p14:creationId xmlns:p14="http://schemas.microsoft.com/office/powerpoint/2010/main" val="19545547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rmAutofit/>
          </a:bodyPr>
          <a:lstStyle/>
          <a:p>
            <a:r>
              <a:rPr lang="en-US" sz="4000" dirty="0" smtClean="0"/>
              <a:t>Secrecy</a:t>
            </a:r>
            <a:endParaRPr lang="en-US" sz="4000" dirty="0"/>
          </a:p>
        </p:txBody>
      </p:sp>
      <p:sp>
        <p:nvSpPr>
          <p:cNvPr id="7" name="Content Placeholder 2"/>
          <p:cNvSpPr>
            <a:spLocks noGrp="1"/>
          </p:cNvSpPr>
          <p:nvPr>
            <p:ph idx="1"/>
          </p:nvPr>
        </p:nvSpPr>
        <p:spPr>
          <a:xfrm>
            <a:off x="0" y="990600"/>
            <a:ext cx="9144000" cy="5867400"/>
          </a:xfrm>
        </p:spPr>
        <p:txBody>
          <a:bodyPr>
            <a:normAutofit/>
          </a:bodyPr>
          <a:lstStyle/>
          <a:p>
            <a:r>
              <a:rPr lang="en-US" sz="2400" dirty="0"/>
              <a:t>Field studies often present HCI colleagues with ethical dilemmas. </a:t>
            </a:r>
            <a:endParaRPr lang="en-US" sz="2400" dirty="0" smtClean="0"/>
          </a:p>
          <a:p>
            <a:r>
              <a:rPr lang="en-US" sz="2400" dirty="0" smtClean="0"/>
              <a:t>For </a:t>
            </a:r>
            <a:r>
              <a:rPr lang="en-US" sz="2400" dirty="0"/>
              <a:t>example, </a:t>
            </a:r>
            <a:r>
              <a:rPr lang="en-US" sz="2400" b="1" dirty="0"/>
              <a:t>a HCI colleague can sometimes find it difficult to preserve anonymity (and confidentiality) while at the same time providing feedback to customers on the results of field studies. </a:t>
            </a:r>
            <a:endParaRPr lang="en-US" sz="2400" b="1" dirty="0" smtClean="0"/>
          </a:p>
          <a:p>
            <a:r>
              <a:rPr lang="en-US" sz="2400" dirty="0" smtClean="0"/>
              <a:t>Customers </a:t>
            </a:r>
            <a:r>
              <a:rPr lang="en-US" sz="2400" dirty="0"/>
              <a:t>often want to hear about the results of field studies and some may even demand to know as a condition for allowing interviews. How do you respond to a senior vice president who asks you “How did Fred do with the new product?” If your visit focuses on only a few users and you promised a report on your visit, how do you insure that the anonymity of the feedback is not </a:t>
            </a:r>
            <a:r>
              <a:rPr lang="en-US" sz="2400" dirty="0" smtClean="0"/>
              <a:t>compromised?</a:t>
            </a:r>
          </a:p>
          <a:p>
            <a:r>
              <a:rPr lang="en-US" sz="2400" dirty="0"/>
              <a:t>There are several methods to insure anonymity: </a:t>
            </a:r>
            <a:endParaRPr lang="en-US" sz="2400" dirty="0" smtClean="0"/>
          </a:p>
          <a:p>
            <a:pPr lvl="1"/>
            <a:r>
              <a:rPr lang="en-US" sz="2000" dirty="0" smtClean="0"/>
              <a:t>put </a:t>
            </a:r>
            <a:r>
              <a:rPr lang="en-US" sz="2000" dirty="0"/>
              <a:t>in writing the conditions of the visit and make sure that this is a prominent topic in preparations and planning. </a:t>
            </a:r>
            <a:endParaRPr lang="en-US" sz="2000" dirty="0" smtClean="0"/>
          </a:p>
          <a:p>
            <a:pPr lvl="1"/>
            <a:r>
              <a:rPr lang="en-US" sz="2000" dirty="0" smtClean="0"/>
              <a:t>You </a:t>
            </a:r>
            <a:r>
              <a:rPr lang="en-US" sz="2000" dirty="0"/>
              <a:t>can also say that there will be an aggregate report from several different customers, but that no individuals will be identified.</a:t>
            </a:r>
            <a:endParaRPr lang="en-US" sz="2000" dirty="0" smtClean="0"/>
          </a:p>
        </p:txBody>
      </p:sp>
    </p:spTree>
    <p:extLst>
      <p:ext uri="{BB962C8B-B14F-4D97-AF65-F5344CB8AC3E}">
        <p14:creationId xmlns:p14="http://schemas.microsoft.com/office/powerpoint/2010/main" val="32067905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rmAutofit/>
          </a:bodyPr>
          <a:lstStyle/>
          <a:p>
            <a:r>
              <a:rPr lang="en-US" sz="4000" dirty="0"/>
              <a:t>Data Integrity and Presentation</a:t>
            </a:r>
          </a:p>
        </p:txBody>
      </p:sp>
      <p:sp>
        <p:nvSpPr>
          <p:cNvPr id="7" name="Content Placeholder 2"/>
          <p:cNvSpPr>
            <a:spLocks noGrp="1"/>
          </p:cNvSpPr>
          <p:nvPr>
            <p:ph idx="1"/>
          </p:nvPr>
        </p:nvSpPr>
        <p:spPr>
          <a:xfrm>
            <a:off x="0" y="990600"/>
            <a:ext cx="9144000" cy="5867400"/>
          </a:xfrm>
        </p:spPr>
        <p:txBody>
          <a:bodyPr>
            <a:normAutofit fontScale="92500"/>
          </a:bodyPr>
          <a:lstStyle/>
          <a:p>
            <a:r>
              <a:rPr lang="en-US" sz="2400" dirty="0"/>
              <a:t>The manner in which we report the results of product evaluations presents some interesting ethical issues for HCI practitioners. </a:t>
            </a:r>
            <a:endParaRPr lang="en-US" sz="2400" dirty="0" smtClean="0"/>
          </a:p>
          <a:p>
            <a:r>
              <a:rPr lang="en-US" sz="2400" dirty="0" smtClean="0"/>
              <a:t>Since </a:t>
            </a:r>
            <a:r>
              <a:rPr lang="en-US" sz="2400" dirty="0"/>
              <a:t>we have to work with product teams, there may be a tendency to soft pedal bad results to preserve a working relationship with that team. </a:t>
            </a:r>
            <a:endParaRPr lang="en-US" sz="2400" dirty="0" smtClean="0"/>
          </a:p>
          <a:p>
            <a:r>
              <a:rPr lang="en-US" sz="2400" dirty="0" smtClean="0"/>
              <a:t>The </a:t>
            </a:r>
            <a:r>
              <a:rPr lang="en-US" sz="2400" dirty="0"/>
              <a:t>ability to simultaneously present bad results and keep good relationships is a difficult skill to learn but is important if we are to fulfill the user advocate role. </a:t>
            </a:r>
            <a:endParaRPr lang="en-US" sz="2400" dirty="0" smtClean="0"/>
          </a:p>
          <a:p>
            <a:r>
              <a:rPr lang="en-US" sz="2400" dirty="0" smtClean="0"/>
              <a:t>Mackay </a:t>
            </a:r>
            <a:r>
              <a:rPr lang="en-US" sz="2400" dirty="0"/>
              <a:t>[4] discusses how highlight tapes can be </a:t>
            </a:r>
            <a:r>
              <a:rPr lang="en-US" sz="2400" dirty="0" smtClean="0"/>
              <a:t>“treated” </a:t>
            </a:r>
            <a:r>
              <a:rPr lang="en-US" sz="2400" dirty="0"/>
              <a:t>by omitting particular segments or by making “rare events appear representative”. </a:t>
            </a:r>
            <a:endParaRPr lang="en-US" sz="2400" dirty="0" smtClean="0"/>
          </a:p>
          <a:p>
            <a:r>
              <a:rPr lang="en-US" sz="2400" b="1" dirty="0" smtClean="0"/>
              <a:t>A </a:t>
            </a:r>
            <a:r>
              <a:rPr lang="en-US" sz="2400" b="1" dirty="0"/>
              <a:t>final ethical issue in reporting is the validity and reliability of the data. </a:t>
            </a:r>
            <a:r>
              <a:rPr lang="en-US" sz="2400" dirty="0"/>
              <a:t>At the 2000 UPA conference, a group of HCI practitioners discussed how few usability reports address validity and reliability, even at the most basic level. Are we being sloppy (and perhaps unethical) in presenting usability reports that fail to address fundamental aspects of data </a:t>
            </a:r>
            <a:r>
              <a:rPr lang="en-US" sz="2400" dirty="0" smtClean="0"/>
              <a:t>integrity?</a:t>
            </a:r>
          </a:p>
        </p:txBody>
      </p:sp>
    </p:spTree>
    <p:extLst>
      <p:ext uri="{BB962C8B-B14F-4D97-AF65-F5344CB8AC3E}">
        <p14:creationId xmlns:p14="http://schemas.microsoft.com/office/powerpoint/2010/main" val="15976655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rmAutofit/>
          </a:bodyPr>
          <a:lstStyle/>
          <a:p>
            <a:r>
              <a:rPr lang="en-US" sz="4000" dirty="0"/>
              <a:t>Undue </a:t>
            </a:r>
            <a:r>
              <a:rPr lang="en-US" sz="4000" dirty="0" smtClean="0"/>
              <a:t>Persuasion (Urging)</a:t>
            </a:r>
            <a:endParaRPr lang="en-US" sz="4000" dirty="0"/>
          </a:p>
        </p:txBody>
      </p:sp>
      <p:sp>
        <p:nvSpPr>
          <p:cNvPr id="7" name="Content Placeholder 2"/>
          <p:cNvSpPr>
            <a:spLocks noGrp="1"/>
          </p:cNvSpPr>
          <p:nvPr>
            <p:ph idx="1"/>
          </p:nvPr>
        </p:nvSpPr>
        <p:spPr>
          <a:xfrm>
            <a:off x="0" y="990600"/>
            <a:ext cx="9144000" cy="5867400"/>
          </a:xfrm>
        </p:spPr>
        <p:txBody>
          <a:bodyPr>
            <a:normAutofit/>
          </a:bodyPr>
          <a:lstStyle/>
          <a:p>
            <a:r>
              <a:rPr lang="en-US" sz="2400" dirty="0"/>
              <a:t>The design of persuasive technologies presents some ethical issues for HCI designers</a:t>
            </a:r>
            <a:r>
              <a:rPr lang="en-US" sz="2400" dirty="0" smtClean="0"/>
              <a:t>.</a:t>
            </a:r>
          </a:p>
          <a:p>
            <a:r>
              <a:rPr lang="en-US" sz="2400" dirty="0" smtClean="0"/>
              <a:t> </a:t>
            </a:r>
            <a:r>
              <a:rPr lang="en-US" sz="2400" dirty="0"/>
              <a:t>[3] highlights ethical principles for the design of persuasive technologies. </a:t>
            </a:r>
            <a:endParaRPr lang="en-US" sz="2400" dirty="0" smtClean="0"/>
          </a:p>
          <a:p>
            <a:r>
              <a:rPr lang="en-US" sz="2400" dirty="0" smtClean="0"/>
              <a:t>Here </a:t>
            </a:r>
            <a:r>
              <a:rPr lang="en-US" sz="2400" dirty="0"/>
              <a:t>are two examples from their list: · </a:t>
            </a:r>
            <a:endParaRPr lang="en-US" sz="2400" dirty="0" smtClean="0"/>
          </a:p>
          <a:p>
            <a:pPr lvl="1"/>
            <a:r>
              <a:rPr lang="en-US" sz="2000" dirty="0" smtClean="0"/>
              <a:t>Rule </a:t>
            </a:r>
            <a:r>
              <a:rPr lang="en-US" sz="2000" dirty="0"/>
              <a:t>VII: “Persuasive technologies must not misinform in order to achieve their persuasive end.” · </a:t>
            </a:r>
            <a:endParaRPr lang="en-US" sz="2000" dirty="0" smtClean="0"/>
          </a:p>
          <a:p>
            <a:pPr lvl="1"/>
            <a:r>
              <a:rPr lang="en-US" sz="2000" dirty="0" smtClean="0"/>
              <a:t>Rule </a:t>
            </a:r>
            <a:r>
              <a:rPr lang="en-US" sz="2000" dirty="0"/>
              <a:t>VIII: “The creators of a persuasive technology should never seek to persuade a person or persons of something they themselves would not consent to be persuaded to do.” </a:t>
            </a:r>
            <a:endParaRPr lang="en-US" sz="2000" dirty="0" smtClean="0"/>
          </a:p>
          <a:p>
            <a:r>
              <a:rPr lang="en-US" sz="2400" dirty="0" smtClean="0"/>
              <a:t>As </a:t>
            </a:r>
            <a:r>
              <a:rPr lang="en-US" sz="2400" dirty="0"/>
              <a:t>HCI colleagues, what do we do when confronted with knowledge that a product may misinform potential users or persuade them to do something </a:t>
            </a:r>
            <a:r>
              <a:rPr lang="en-US" sz="2400" dirty="0" smtClean="0"/>
              <a:t>shameful? </a:t>
            </a:r>
            <a:r>
              <a:rPr lang="en-US" sz="2400" dirty="0"/>
              <a:t>Do we remind our managers of these ethical issues, quit the company, or write an expose that may land us in </a:t>
            </a:r>
            <a:r>
              <a:rPr lang="en-US" sz="2400" dirty="0" smtClean="0"/>
              <a:t>court?</a:t>
            </a:r>
          </a:p>
        </p:txBody>
      </p:sp>
    </p:spTree>
    <p:extLst>
      <p:ext uri="{BB962C8B-B14F-4D97-AF65-F5344CB8AC3E}">
        <p14:creationId xmlns:p14="http://schemas.microsoft.com/office/powerpoint/2010/main" val="4022235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rmAutofit/>
          </a:bodyPr>
          <a:lstStyle/>
          <a:p>
            <a:r>
              <a:rPr lang="en-US" sz="4000" dirty="0"/>
              <a:t>Life and Death</a:t>
            </a:r>
          </a:p>
        </p:txBody>
      </p:sp>
      <p:sp>
        <p:nvSpPr>
          <p:cNvPr id="7" name="Content Placeholder 2"/>
          <p:cNvSpPr>
            <a:spLocks noGrp="1"/>
          </p:cNvSpPr>
          <p:nvPr>
            <p:ph idx="1"/>
          </p:nvPr>
        </p:nvSpPr>
        <p:spPr>
          <a:xfrm>
            <a:off x="0" y="990600"/>
            <a:ext cx="9144000" cy="5867400"/>
          </a:xfrm>
        </p:spPr>
        <p:txBody>
          <a:bodyPr>
            <a:normAutofit/>
          </a:bodyPr>
          <a:lstStyle/>
          <a:p>
            <a:r>
              <a:rPr lang="en-US" sz="2400" b="1" dirty="0"/>
              <a:t>Ethical issues can become complex when people are working on systems that might have life or death consequences. </a:t>
            </a:r>
            <a:endParaRPr lang="en-US" sz="2400" b="1" dirty="0" smtClean="0"/>
          </a:p>
          <a:p>
            <a:r>
              <a:rPr lang="en-US" sz="2400" dirty="0" smtClean="0"/>
              <a:t>For </a:t>
            </a:r>
            <a:r>
              <a:rPr lang="en-US" sz="2400" dirty="0"/>
              <a:t>example, designers of medical hardware and software make decisions that may compromise the health of an individual. Is it ethical to follow the advice that 5-8 users will reveal the major problems of a product? </a:t>
            </a:r>
            <a:endParaRPr lang="en-US" sz="2400" dirty="0" smtClean="0"/>
          </a:p>
          <a:p>
            <a:r>
              <a:rPr lang="en-US" sz="2400" dirty="0" smtClean="0"/>
              <a:t>Testing </a:t>
            </a:r>
            <a:r>
              <a:rPr lang="en-US" sz="2400" dirty="0"/>
              <a:t>5-8 users is much cheaper than testing large numbers so there is a trade-off of time-to-market with possibility of death because a subtle problem did not come out in the limited testing.</a:t>
            </a:r>
            <a:endParaRPr lang="en-US" sz="2400" dirty="0" smtClean="0"/>
          </a:p>
        </p:txBody>
      </p:sp>
    </p:spTree>
    <p:extLst>
      <p:ext uri="{BB962C8B-B14F-4D97-AF65-F5344CB8AC3E}">
        <p14:creationId xmlns:p14="http://schemas.microsoft.com/office/powerpoint/2010/main" val="5871979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rmAutofit/>
          </a:bodyPr>
          <a:lstStyle/>
          <a:p>
            <a:r>
              <a:rPr lang="en-US" sz="4000" dirty="0"/>
              <a:t>Pushing Back on Management</a:t>
            </a:r>
          </a:p>
        </p:txBody>
      </p:sp>
      <p:sp>
        <p:nvSpPr>
          <p:cNvPr id="7" name="Content Placeholder 2"/>
          <p:cNvSpPr>
            <a:spLocks noGrp="1"/>
          </p:cNvSpPr>
          <p:nvPr>
            <p:ph idx="1"/>
          </p:nvPr>
        </p:nvSpPr>
        <p:spPr>
          <a:xfrm>
            <a:off x="0" y="990600"/>
            <a:ext cx="9144000" cy="5867400"/>
          </a:xfrm>
        </p:spPr>
        <p:txBody>
          <a:bodyPr>
            <a:normAutofit/>
          </a:bodyPr>
          <a:lstStyle/>
          <a:p>
            <a:r>
              <a:rPr lang="en-US" sz="2400" dirty="0"/>
              <a:t>Pushing back on management when there are ethical issues (especially the less obvious ones) is hard for experienced practitioners and almost impossible for the brand-new person in the field. </a:t>
            </a:r>
            <a:endParaRPr lang="en-US" sz="2400" dirty="0" smtClean="0"/>
          </a:p>
          <a:p>
            <a:r>
              <a:rPr lang="en-US" sz="2400" dirty="0" smtClean="0"/>
              <a:t>We </a:t>
            </a:r>
            <a:r>
              <a:rPr lang="en-US" sz="2400" dirty="0"/>
              <a:t>view this panel as the starting point for a vigorous and continuing discussion about how we can keep high levels of integrity while working in product development environments that can bend ethical boundaries.</a:t>
            </a:r>
            <a:endParaRPr lang="en-US" sz="2400" dirty="0" smtClean="0"/>
          </a:p>
        </p:txBody>
      </p:sp>
    </p:spTree>
    <p:extLst>
      <p:ext uri="{BB962C8B-B14F-4D97-AF65-F5344CB8AC3E}">
        <p14:creationId xmlns:p14="http://schemas.microsoft.com/office/powerpoint/2010/main" val="28238215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rmAutofit/>
          </a:bodyPr>
          <a:lstStyle/>
          <a:p>
            <a:r>
              <a:rPr lang="en-US" sz="4000" dirty="0" smtClean="0"/>
              <a:t>Examples</a:t>
            </a:r>
            <a:endParaRPr lang="en-US" sz="4000" dirty="0"/>
          </a:p>
        </p:txBody>
      </p:sp>
      <p:sp>
        <p:nvSpPr>
          <p:cNvPr id="7" name="Content Placeholder 2"/>
          <p:cNvSpPr>
            <a:spLocks noGrp="1"/>
          </p:cNvSpPr>
          <p:nvPr>
            <p:ph idx="1"/>
          </p:nvPr>
        </p:nvSpPr>
        <p:spPr>
          <a:xfrm>
            <a:off x="0" y="990600"/>
            <a:ext cx="9144000" cy="5867400"/>
          </a:xfrm>
        </p:spPr>
        <p:txBody>
          <a:bodyPr>
            <a:normAutofit/>
          </a:bodyPr>
          <a:lstStyle/>
          <a:p>
            <a:r>
              <a:rPr lang="en-US" sz="2400" dirty="0"/>
              <a:t>HCI professionals face ethical issues every day. Here are some examples that could form the basis for a set of </a:t>
            </a:r>
            <a:r>
              <a:rPr lang="en-US" sz="2400" b="1" dirty="0"/>
              <a:t>case studies.</a:t>
            </a:r>
            <a:endParaRPr lang="en-US" sz="2400" b="1" dirty="0" smtClean="0"/>
          </a:p>
        </p:txBody>
      </p:sp>
    </p:spTree>
    <p:extLst>
      <p:ext uri="{BB962C8B-B14F-4D97-AF65-F5344CB8AC3E}">
        <p14:creationId xmlns:p14="http://schemas.microsoft.com/office/powerpoint/2010/main" val="34360970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rmAutofit/>
          </a:bodyPr>
          <a:lstStyle/>
          <a:p>
            <a:r>
              <a:rPr lang="en-US" sz="4000" dirty="0" smtClean="0"/>
              <a:t>Examples</a:t>
            </a:r>
            <a:endParaRPr lang="en-US" sz="4000" dirty="0"/>
          </a:p>
        </p:txBody>
      </p:sp>
      <p:sp>
        <p:nvSpPr>
          <p:cNvPr id="7" name="Content Placeholder 2"/>
          <p:cNvSpPr>
            <a:spLocks noGrp="1"/>
          </p:cNvSpPr>
          <p:nvPr>
            <p:ph idx="1"/>
          </p:nvPr>
        </p:nvSpPr>
        <p:spPr>
          <a:xfrm>
            <a:off x="0" y="990600"/>
            <a:ext cx="9144000" cy="5867400"/>
          </a:xfrm>
        </p:spPr>
        <p:txBody>
          <a:bodyPr>
            <a:normAutofit/>
          </a:bodyPr>
          <a:lstStyle/>
          <a:p>
            <a:r>
              <a:rPr lang="en-US" sz="2400" dirty="0"/>
              <a:t>You go into the field. You have told your interviewees that their comments to you are private. A senior VP asks you “who did well in the study?” What do you say? </a:t>
            </a:r>
            <a:endParaRPr lang="en-US" sz="2400" dirty="0" smtClean="0"/>
          </a:p>
          <a:p>
            <a:r>
              <a:rPr lang="en-US" sz="2400" dirty="0" smtClean="0"/>
              <a:t>Answer</a:t>
            </a:r>
            <a:r>
              <a:rPr lang="en-US" sz="2400" dirty="0"/>
              <a:t>: </a:t>
            </a:r>
            <a:r>
              <a:rPr lang="en-US" sz="2400" b="1" dirty="0"/>
              <a:t>You can’t give any answer that reveals or even narrows down the identity of an interviewee, no matter who is asking - a promise is a promise.</a:t>
            </a:r>
            <a:endParaRPr lang="en-US" sz="2400" b="1" dirty="0" smtClean="0"/>
          </a:p>
        </p:txBody>
      </p:sp>
    </p:spTree>
    <p:extLst>
      <p:ext uri="{BB962C8B-B14F-4D97-AF65-F5344CB8AC3E}">
        <p14:creationId xmlns:p14="http://schemas.microsoft.com/office/powerpoint/2010/main" val="19172814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rmAutofit/>
          </a:bodyPr>
          <a:lstStyle/>
          <a:p>
            <a:r>
              <a:rPr lang="en-US" sz="4000" dirty="0" smtClean="0"/>
              <a:t>Examples</a:t>
            </a:r>
            <a:endParaRPr lang="en-US" sz="4000" dirty="0"/>
          </a:p>
        </p:txBody>
      </p:sp>
      <p:sp>
        <p:nvSpPr>
          <p:cNvPr id="7" name="Content Placeholder 2"/>
          <p:cNvSpPr>
            <a:spLocks noGrp="1"/>
          </p:cNvSpPr>
          <p:nvPr>
            <p:ph idx="1"/>
          </p:nvPr>
        </p:nvSpPr>
        <p:spPr>
          <a:xfrm>
            <a:off x="0" y="990600"/>
            <a:ext cx="9144000" cy="5867400"/>
          </a:xfrm>
        </p:spPr>
        <p:txBody>
          <a:bodyPr>
            <a:normAutofit/>
          </a:bodyPr>
          <a:lstStyle/>
          <a:p>
            <a:r>
              <a:rPr lang="en-US" sz="2400" dirty="0"/>
              <a:t>A usability test center entertains visitors by showing video clips with “funny” episodes from usability tests where test participants are picking their noses, etc.</a:t>
            </a:r>
            <a:endParaRPr lang="en-US" sz="2400" dirty="0" smtClean="0"/>
          </a:p>
        </p:txBody>
      </p:sp>
    </p:spTree>
    <p:extLst>
      <p:ext uri="{BB962C8B-B14F-4D97-AF65-F5344CB8AC3E}">
        <p14:creationId xmlns:p14="http://schemas.microsoft.com/office/powerpoint/2010/main" val="15511700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rmAutofit/>
          </a:bodyPr>
          <a:lstStyle/>
          <a:p>
            <a:r>
              <a:rPr lang="en-US" sz="4000" dirty="0" smtClean="0"/>
              <a:t>Examples</a:t>
            </a:r>
            <a:endParaRPr lang="en-US" sz="4000" dirty="0"/>
          </a:p>
        </p:txBody>
      </p:sp>
      <p:sp>
        <p:nvSpPr>
          <p:cNvPr id="7" name="Content Placeholder 2"/>
          <p:cNvSpPr>
            <a:spLocks noGrp="1"/>
          </p:cNvSpPr>
          <p:nvPr>
            <p:ph idx="1"/>
          </p:nvPr>
        </p:nvSpPr>
        <p:spPr>
          <a:xfrm>
            <a:off x="0" y="990600"/>
            <a:ext cx="9144000" cy="5867400"/>
          </a:xfrm>
        </p:spPr>
        <p:txBody>
          <a:bodyPr>
            <a:normAutofit/>
          </a:bodyPr>
          <a:lstStyle/>
          <a:p>
            <a:r>
              <a:rPr lang="en-US" sz="2400" dirty="0"/>
              <a:t>· Your usability studies show that a product is not usable. Marketing folks claim that it is really usable. Do you email the CEO and lay your job on the line? · Your usability studies show that a product is not usable. Marketing folks claim that it is really usable. Do you email the CEO and lay your job on the line</a:t>
            </a:r>
            <a:r>
              <a:rPr lang="en-US" sz="2400" dirty="0" smtClean="0"/>
              <a:t>?</a:t>
            </a:r>
          </a:p>
          <a:p>
            <a:r>
              <a:rPr lang="en-US" sz="2400" dirty="0"/>
              <a:t>You are aware that a product you are working on is using some technology that someone has </a:t>
            </a:r>
            <a:r>
              <a:rPr lang="en-US" sz="2400" b="1" dirty="0"/>
              <a:t>patented</a:t>
            </a:r>
            <a:r>
              <a:rPr lang="en-US" sz="2400" dirty="0"/>
              <a:t> (there are lots of GUI patents now). Do you make a </a:t>
            </a:r>
            <a:r>
              <a:rPr lang="en-US" sz="2400" dirty="0" smtClean="0"/>
              <a:t>stink? </a:t>
            </a:r>
            <a:r>
              <a:rPr lang="en-US" sz="2400" dirty="0"/>
              <a:t>Talk to your boss and ask him to talk to others? </a:t>
            </a:r>
            <a:endParaRPr lang="en-US" sz="2400" dirty="0" smtClean="0"/>
          </a:p>
          <a:p>
            <a:r>
              <a:rPr lang="en-US" sz="2400" dirty="0" smtClean="0"/>
              <a:t>· </a:t>
            </a:r>
            <a:r>
              <a:rPr lang="en-US" sz="2400" dirty="0"/>
              <a:t>You learn that your company wants to acquire a company for some GUI technology, but you know from reading and reviewing an evaluation copy of the product that the technology is really pretty poor and even unreliable. Do you make a stink about this or let it pass until others discover they have wasted $10,000,000 on clunky technology that they will write off in less than a year?</a:t>
            </a:r>
            <a:endParaRPr lang="en-US" sz="2400" dirty="0" smtClean="0"/>
          </a:p>
        </p:txBody>
      </p:sp>
    </p:spTree>
    <p:extLst>
      <p:ext uri="{BB962C8B-B14F-4D97-AF65-F5344CB8AC3E}">
        <p14:creationId xmlns:p14="http://schemas.microsoft.com/office/powerpoint/2010/main" val="26650112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rmAutofit/>
          </a:bodyPr>
          <a:lstStyle/>
          <a:p>
            <a:r>
              <a:rPr lang="en-US" sz="4000" dirty="0" smtClean="0"/>
              <a:t>Examples - Conclusion</a:t>
            </a:r>
            <a:endParaRPr lang="en-US" sz="4000" dirty="0"/>
          </a:p>
        </p:txBody>
      </p:sp>
      <p:sp>
        <p:nvSpPr>
          <p:cNvPr id="7" name="Content Placeholder 2"/>
          <p:cNvSpPr>
            <a:spLocks noGrp="1"/>
          </p:cNvSpPr>
          <p:nvPr>
            <p:ph idx="1"/>
          </p:nvPr>
        </p:nvSpPr>
        <p:spPr>
          <a:xfrm>
            <a:off x="0" y="990600"/>
            <a:ext cx="9144000" cy="5867400"/>
          </a:xfrm>
        </p:spPr>
        <p:txBody>
          <a:bodyPr>
            <a:normAutofit/>
          </a:bodyPr>
          <a:lstStyle/>
          <a:p>
            <a:r>
              <a:rPr lang="en-US" sz="2400" dirty="0"/>
              <a:t>As HCI professionals we cannot deny responsibility for the products of our work. </a:t>
            </a:r>
            <a:endParaRPr lang="en-US" sz="2400" dirty="0" smtClean="0"/>
          </a:p>
          <a:p>
            <a:r>
              <a:rPr lang="en-US" sz="2400" dirty="0" smtClean="0"/>
              <a:t>We </a:t>
            </a:r>
            <a:r>
              <a:rPr lang="en-US" sz="2400" dirty="0"/>
              <a:t>cannot defer responsibility to the decision makers, the managers and business sponsors that define the objectives of the system. </a:t>
            </a:r>
            <a:endParaRPr lang="en-US" sz="2400" dirty="0" smtClean="0"/>
          </a:p>
          <a:p>
            <a:r>
              <a:rPr lang="en-US" sz="2400" dirty="0" smtClean="0"/>
              <a:t>We </a:t>
            </a:r>
            <a:r>
              <a:rPr lang="en-US" sz="2400" dirty="0"/>
              <a:t>are responsible for ensuring that ethical issues in product development are discussed openly and not hidden away in bureaucratic closets.</a:t>
            </a:r>
            <a:endParaRPr lang="en-US" sz="2400" dirty="0" smtClean="0"/>
          </a:p>
        </p:txBody>
      </p:sp>
    </p:spTree>
    <p:extLst>
      <p:ext uri="{BB962C8B-B14F-4D97-AF65-F5344CB8AC3E}">
        <p14:creationId xmlns:p14="http://schemas.microsoft.com/office/powerpoint/2010/main" val="41903539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457200"/>
          </a:xfrm>
        </p:spPr>
        <p:txBody>
          <a:bodyPr>
            <a:normAutofit fontScale="90000"/>
          </a:bodyPr>
          <a:lstStyle/>
          <a:p>
            <a:r>
              <a:rPr lang="en-US" sz="4000" dirty="0" smtClean="0"/>
              <a:t>References</a:t>
            </a:r>
            <a:endParaRPr lang="en-US" sz="4000" dirty="0"/>
          </a:p>
        </p:txBody>
      </p:sp>
      <p:sp>
        <p:nvSpPr>
          <p:cNvPr id="7" name="Content Placeholder 2"/>
          <p:cNvSpPr>
            <a:spLocks noGrp="1"/>
          </p:cNvSpPr>
          <p:nvPr>
            <p:ph idx="1"/>
          </p:nvPr>
        </p:nvSpPr>
        <p:spPr>
          <a:xfrm>
            <a:off x="0" y="457200"/>
            <a:ext cx="9144000" cy="6400800"/>
          </a:xfrm>
        </p:spPr>
        <p:txBody>
          <a:bodyPr>
            <a:normAutofit/>
          </a:bodyPr>
          <a:lstStyle/>
          <a:p>
            <a:endParaRPr lang="en-US" sz="2400" dirty="0"/>
          </a:p>
          <a:p>
            <a:r>
              <a:rPr lang="en-US" sz="2400" dirty="0">
                <a:hlinkClick r:id="rId2"/>
              </a:rPr>
              <a:t>LevesonSafety.pdf</a:t>
            </a:r>
            <a:endParaRPr lang="en-US" sz="2400" dirty="0" smtClean="0"/>
          </a:p>
          <a:p>
            <a:r>
              <a:rPr lang="en-US" sz="2400" dirty="0" smtClean="0"/>
              <a:t>DOI</a:t>
            </a:r>
            <a:r>
              <a:rPr lang="en-US" sz="2400" dirty="0"/>
              <a:t>: </a:t>
            </a:r>
            <a:r>
              <a:rPr lang="en-US" sz="2400" dirty="0" smtClean="0"/>
              <a:t>10.1145/634067.634197</a:t>
            </a:r>
          </a:p>
          <a:p>
            <a:endParaRPr lang="en-US" sz="2400" dirty="0"/>
          </a:p>
          <a:p>
            <a:endParaRPr lang="en-US" sz="2400" dirty="0" smtClean="0"/>
          </a:p>
        </p:txBody>
      </p:sp>
    </p:spTree>
    <p:extLst>
      <p:ext uri="{BB962C8B-B14F-4D97-AF65-F5344CB8AC3E}">
        <p14:creationId xmlns:p14="http://schemas.microsoft.com/office/powerpoint/2010/main" val="94088079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644</TotalTime>
  <Words>3291</Words>
  <Application>Microsoft Office PowerPoint</Application>
  <PresentationFormat>On-screen Show (4:3)</PresentationFormat>
  <Paragraphs>164</Paragraphs>
  <Slides>35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Software Safety</vt:lpstr>
      <vt:lpstr>… Software Safety</vt:lpstr>
      <vt:lpstr>DESIGN FOR SAFETY</vt:lpstr>
      <vt:lpstr>DESIGN FOR SAFETY</vt:lpstr>
      <vt:lpstr>DESIGN FOR SAFETY</vt:lpstr>
      <vt:lpstr>DESIGN FOR SAFETY</vt:lpstr>
      <vt:lpstr>DESIGN FOR SAFETY</vt:lpstr>
      <vt:lpstr>DESIGN FOR SAFETY</vt:lpstr>
      <vt:lpstr>Preventing Hazards through Software Design</vt:lpstr>
      <vt:lpstr>Preventing Hazards through Software Design</vt:lpstr>
      <vt:lpstr>HUMAN FACTORS ISSUES</vt:lpstr>
      <vt:lpstr>HUMAN FACTORS ISSUES</vt:lpstr>
      <vt:lpstr>HUMAN FACTORS ISSUES</vt:lpstr>
      <vt:lpstr>HUMAN FACTORS ISSUES</vt:lpstr>
      <vt:lpstr>HUMAN FACTORS ISSUES</vt:lpstr>
      <vt:lpstr>HUMAN FACTORS ISSUES</vt:lpstr>
      <vt:lpstr>HUMAN FACTORS ISSUES</vt:lpstr>
      <vt:lpstr>HUMAN FACTORS ISSUES</vt:lpstr>
      <vt:lpstr>HUMAN FACTORS ISSUES</vt:lpstr>
      <vt:lpstr>HUMAN FACTORS ISSUES</vt:lpstr>
      <vt:lpstr>HUMAN FACTORS ISSUES</vt:lpstr>
      <vt:lpstr>Ethics in HCI</vt:lpstr>
      <vt:lpstr>Ethics in HCI - Ethics, HCI professional issues, social computing Informed consent and User Self-Esteem </vt:lpstr>
      <vt:lpstr>Ethics in HCI - Ethics, HCI professional issues, social computing Informed consent and User Self-Esteem </vt:lpstr>
      <vt:lpstr>Secrecy</vt:lpstr>
      <vt:lpstr>Data Integrity and Presentation</vt:lpstr>
      <vt:lpstr>Undue Persuasion (Urging)</vt:lpstr>
      <vt:lpstr>Life and Death</vt:lpstr>
      <vt:lpstr>Pushing Back on Management</vt:lpstr>
      <vt:lpstr>Examples</vt:lpstr>
      <vt:lpstr>Examples</vt:lpstr>
      <vt:lpstr>Examples</vt:lpstr>
      <vt:lpstr>Examples</vt:lpstr>
      <vt:lpstr>Examples - 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Farhana Ashraf</cp:lastModifiedBy>
  <cp:revision>200</cp:revision>
  <dcterms:created xsi:type="dcterms:W3CDTF">2014-08-12T16:29:38Z</dcterms:created>
  <dcterms:modified xsi:type="dcterms:W3CDTF">2024-11-12T05:08:04Z</dcterms:modified>
</cp:coreProperties>
</file>